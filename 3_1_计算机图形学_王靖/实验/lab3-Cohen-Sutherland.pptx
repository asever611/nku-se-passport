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5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C96010-7DC0-9CD5-4EA3-902D031BC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CED580-A645-111D-7DDC-55971D79C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00CE6B-3403-F45A-97DE-B866C9790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99B6-B5BB-427D-8761-774FB24C658C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ED062A-47D4-A56A-878C-033B5CC8C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D3540E-8B9F-5DA9-38E6-7A5EBAC2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9B-09A7-4C86-98BD-68EEDE66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887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C80E7-0135-DEBA-FCDE-44AD9A59D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26D6FC-3D31-D185-6F5D-B89FFD4C8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9A10A4-B3A2-9291-2FC1-6FB1B749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99B6-B5BB-427D-8761-774FB24C658C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45B024-7451-BC17-70BF-1B6B9C1F1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A6E28B-164C-5717-B972-F6CC58AA6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9B-09A7-4C86-98BD-68EEDE66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447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041C67-EEC1-0F8C-C94A-2B0473593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69C102-6971-2074-AF42-DD314CB05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2BFCB8-C153-982E-296B-9316A95E0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99B6-B5BB-427D-8761-774FB24C658C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D4C946-E7E8-5FE2-B388-40999252E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566EC6-00B1-225D-FCAE-50170C57F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9B-09A7-4C86-98BD-68EEDE66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16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A27CAB-8E7A-D320-B4BB-ADFDAD70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5D7151-CE69-B728-60C3-3FB7D1B58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C32D1A-35C8-4153-CE90-6EBD405CE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E3DDD4-5CCA-42DD-AD28-706B578CD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99B6-B5BB-427D-8761-774FB24C658C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B12E1F-5C66-4F99-2C32-8176D0A41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96B076-2C77-1257-E626-063136AA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9B-09A7-4C86-98BD-68EEDE66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840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3C448C-7AE5-B03A-28AB-FCFF0CB5C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BDB659-44F5-F9CD-8D4D-D01BA132A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394DE0-ADBE-BF9F-382A-7FEA0B4FA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1F4220-8677-5C43-F705-B2C8FC6BA3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5B8D44-DEEF-AB32-CC8C-75872992E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F153792-0282-D13B-95B7-FB48431E4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99B6-B5BB-427D-8761-774FB24C658C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836D30-D3FB-9DFA-410B-06B80C4E6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2D2343-BD67-BBBF-65DE-3B66BE676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9B-09A7-4C86-98BD-68EEDE66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25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A89815-5A68-4074-4848-E680E8B5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9D41FB-0E9F-B1FB-5E2D-919275B8D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99B6-B5BB-427D-8761-774FB24C658C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DE12EC-1384-E505-15CC-3C557346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08A3E2-59F5-B3B3-8658-FD55F46C1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9B-09A7-4C86-98BD-68EEDE66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575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A2038D-F82F-2826-9021-E0EC1E79C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99B6-B5BB-427D-8761-774FB24C658C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3C7DE30-7A24-E4BE-3E09-7418EF513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0A9E24-F053-9AEB-AAE8-2BB706BD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9B-09A7-4C86-98BD-68EEDE66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088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4D4B1E-F156-B0D2-9349-F3A0FE026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C036CB-9E13-D671-A24A-167ED3FD0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98D47A-26B0-B625-E99A-6E7CEF6CD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A775C3-11D9-C821-1D76-E92C2D1D4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99B6-B5BB-427D-8761-774FB24C658C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7C27-0120-CDDD-4636-C43B600A0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384653-F966-C8A4-B109-F72AE8567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9B-09A7-4C86-98BD-68EEDE66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116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800BE9-6D4A-BECE-0DEA-00A5584B3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A1996ED-73E1-02C3-771F-B809976DEB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00E812-3B9B-BFC1-8638-25633BFAF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37C753-DED2-AF1D-9D2A-CFAF7E7BB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99B6-B5BB-427D-8761-774FB24C658C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AF829D-1501-42AB-9B5A-0F45180B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7AC7FB-D6DE-D121-DA33-C033C5520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9B-09A7-4C86-98BD-68EEDE66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173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2D260D-2FBE-9871-D42C-105430D77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78EDBD-F2FA-B431-FC82-220DEC1A2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06FE21-D67D-0733-D070-25C7E8340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99B6-B5BB-427D-8761-774FB24C658C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F98A64-AC0A-D6BD-772F-161E6268B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E70B46-CE9C-AC43-7F05-B19280B9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9B-09A7-4C86-98BD-68EEDE66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086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335C7C3-89AE-30E4-B354-F347694CA9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DEA5EE-BBE9-8274-A45A-F6AA8CE7A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3A8BDA-BEF9-9286-A60C-D74671D6D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99B6-B5BB-427D-8761-774FB24C658C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239ED2-834D-DA81-4759-5779288F3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20CC74-883D-4384-501F-DB5457DE4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9B-09A7-4C86-98BD-68EEDE66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350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B481F24-E0EB-97C1-918D-E261612B2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F4561A-7B7D-748D-1618-848082E34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045DEA-2859-8C6D-DA08-FD3D04CF59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D99B6-B5BB-427D-8761-774FB24C658C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945F39-5CD2-9C3E-4F61-5953F46EE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D09914-C9EE-3CF9-0BE6-C369AAAC6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63909B-09A7-4C86-98BD-68EEDE66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835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68B4F4-A8D9-F78A-5FAC-7BBC06E09E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 Cohen-Sutherland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8119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C8A76B-6FC9-50F4-A416-D36E5CB9E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线段裁剪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3AC6A4-F0B1-4652-90BC-7ED48AA08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在计算机图形学中，我们经常需要只显示图形在特定“窗口”内的部分。这个过程就是裁剪。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核心任务：给定一个矩形窗口和若干线段，快速找出落在窗口内的线段部分，并舍弃窗口外的部分。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Cohen-Sutherland</a:t>
            </a:r>
            <a:r>
              <a:rPr lang="zh-CN" altLang="en-US" dirty="0"/>
              <a:t>算法就是一个高效的裁剪方法。</a:t>
            </a:r>
          </a:p>
        </p:txBody>
      </p:sp>
    </p:spTree>
    <p:extLst>
      <p:ext uri="{BB962C8B-B14F-4D97-AF65-F5344CB8AC3E}">
        <p14:creationId xmlns:p14="http://schemas.microsoft.com/office/powerpoint/2010/main" val="289832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D03B0-EFD1-351C-1A95-44B6B9CD8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第一步：空间划分与编码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BC21DE-FEFD-CD1E-1255-F73A32165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751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将窗口所在的平面划分为</a:t>
            </a:r>
            <a:r>
              <a:rPr lang="en-US" altLang="zh-CN" dirty="0"/>
              <a:t>9</a:t>
            </a:r>
            <a:r>
              <a:rPr lang="zh-CN" altLang="en-US" dirty="0"/>
              <a:t>个区域。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给每个区域分配一个唯一的</a:t>
            </a:r>
            <a:r>
              <a:rPr lang="en-US" altLang="zh-CN" dirty="0"/>
              <a:t>4</a:t>
            </a:r>
            <a:r>
              <a:rPr lang="zh-CN" altLang="en-US" dirty="0"/>
              <a:t>位二进制码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编码规则（四位从高到低）：</a:t>
            </a:r>
            <a:endParaRPr lang="en-US" altLang="zh-CN" dirty="0"/>
          </a:p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位 </a:t>
            </a:r>
            <a:r>
              <a:rPr lang="en-US" altLang="zh-CN" dirty="0"/>
              <a:t>(</a:t>
            </a:r>
            <a:r>
              <a:rPr lang="zh-CN" altLang="en-US" dirty="0"/>
              <a:t>最高位</a:t>
            </a:r>
            <a:r>
              <a:rPr lang="en-US" altLang="zh-CN" dirty="0"/>
              <a:t>)</a:t>
            </a:r>
            <a:r>
              <a:rPr lang="zh-CN" altLang="en-US" dirty="0"/>
              <a:t>：点在窗口上方？ 是则为</a:t>
            </a:r>
            <a:r>
              <a:rPr lang="en-US" altLang="zh-CN" dirty="0"/>
              <a:t>1 (y &gt; </a:t>
            </a:r>
            <a:r>
              <a:rPr lang="en-US" altLang="zh-CN" dirty="0" err="1"/>
              <a:t>y_max</a:t>
            </a:r>
            <a:r>
              <a:rPr lang="en-US" altLang="zh-CN" dirty="0"/>
              <a:t>)</a:t>
            </a:r>
            <a:r>
              <a:rPr lang="zh-CN" altLang="en-US" dirty="0"/>
              <a:t>，否则为</a:t>
            </a:r>
            <a:r>
              <a:rPr lang="en-US" altLang="zh-CN" dirty="0"/>
              <a:t>0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位：点在窗口下方？ 是则为</a:t>
            </a:r>
            <a:r>
              <a:rPr lang="en-US" altLang="zh-CN" dirty="0"/>
              <a:t>1 (y &lt; </a:t>
            </a:r>
            <a:r>
              <a:rPr lang="en-US" altLang="zh-CN" dirty="0" err="1"/>
              <a:t>y_min</a:t>
            </a:r>
            <a:r>
              <a:rPr lang="en-US" altLang="zh-CN" dirty="0"/>
              <a:t>)</a:t>
            </a:r>
            <a:r>
              <a:rPr lang="zh-CN" altLang="en-US" dirty="0"/>
              <a:t>，否则为</a:t>
            </a:r>
            <a:r>
              <a:rPr lang="en-US" altLang="zh-CN" dirty="0"/>
              <a:t>0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位：点在窗口右侧？ 是则为</a:t>
            </a:r>
            <a:r>
              <a:rPr lang="en-US" altLang="zh-CN" dirty="0"/>
              <a:t>1 (x &gt; </a:t>
            </a:r>
            <a:r>
              <a:rPr lang="en-US" altLang="zh-CN" dirty="0" err="1"/>
              <a:t>x_max</a:t>
            </a:r>
            <a:r>
              <a:rPr lang="en-US" altLang="zh-CN" dirty="0"/>
              <a:t>)</a:t>
            </a:r>
            <a:r>
              <a:rPr lang="zh-CN" altLang="en-US" dirty="0"/>
              <a:t>，否则为</a:t>
            </a:r>
            <a:r>
              <a:rPr lang="en-US" altLang="zh-CN" dirty="0"/>
              <a:t>0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位 </a:t>
            </a:r>
            <a:r>
              <a:rPr lang="en-US" altLang="zh-CN" dirty="0"/>
              <a:t>(</a:t>
            </a:r>
            <a:r>
              <a:rPr lang="zh-CN" altLang="en-US" dirty="0"/>
              <a:t>最低位</a:t>
            </a:r>
            <a:r>
              <a:rPr lang="en-US" altLang="zh-CN" dirty="0"/>
              <a:t>)</a:t>
            </a:r>
            <a:r>
              <a:rPr lang="zh-CN" altLang="en-US" dirty="0"/>
              <a:t>：点在窗口左侧？ 是则为</a:t>
            </a:r>
            <a:r>
              <a:rPr lang="en-US" altLang="zh-CN" dirty="0"/>
              <a:t>1 (x &lt; </a:t>
            </a:r>
            <a:r>
              <a:rPr lang="en-US" altLang="zh-CN" dirty="0" err="1"/>
              <a:t>x_min</a:t>
            </a:r>
            <a:r>
              <a:rPr lang="en-US" altLang="zh-CN" dirty="0"/>
              <a:t>)</a:t>
            </a:r>
            <a:r>
              <a:rPr lang="zh-CN" altLang="en-US" dirty="0"/>
              <a:t>，否则为</a:t>
            </a:r>
            <a:r>
              <a:rPr lang="en-US" altLang="zh-CN" dirty="0"/>
              <a:t>0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60FA805-16E7-EE3A-5FD5-720EF0F94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793692"/>
              </p:ext>
            </p:extLst>
          </p:nvPr>
        </p:nvGraphicFramePr>
        <p:xfrm>
          <a:off x="7639271" y="360025"/>
          <a:ext cx="3485931" cy="279604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161977">
                  <a:extLst>
                    <a:ext uri="{9D8B030D-6E8A-4147-A177-3AD203B41FA5}">
                      <a16:colId xmlns:a16="http://schemas.microsoft.com/office/drawing/2014/main" val="118572771"/>
                    </a:ext>
                  </a:extLst>
                </a:gridCol>
                <a:gridCol w="1161977">
                  <a:extLst>
                    <a:ext uri="{9D8B030D-6E8A-4147-A177-3AD203B41FA5}">
                      <a16:colId xmlns:a16="http://schemas.microsoft.com/office/drawing/2014/main" val="2739447664"/>
                    </a:ext>
                  </a:extLst>
                </a:gridCol>
                <a:gridCol w="1161977">
                  <a:extLst>
                    <a:ext uri="{9D8B030D-6E8A-4147-A177-3AD203B41FA5}">
                      <a16:colId xmlns:a16="http://schemas.microsoft.com/office/drawing/2014/main" val="217496533"/>
                    </a:ext>
                  </a:extLst>
                </a:gridCol>
              </a:tblGrid>
              <a:tr h="93201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1010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667724"/>
                  </a:ext>
                </a:extLst>
              </a:tr>
              <a:tr h="93201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0001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0000</a:t>
                      </a:r>
                    </a:p>
                    <a:p>
                      <a:pPr algn="ctr"/>
                      <a:r>
                        <a:rPr lang="zh-CN" altLang="en-US" dirty="0"/>
                        <a:t>（窗口）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0010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427686"/>
                  </a:ext>
                </a:extLst>
              </a:tr>
              <a:tr h="93201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0101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0110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0260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280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21CA83-7E80-83F1-7381-21F893BF5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F338D2-7E3C-7471-E770-0B9D1E6C9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787" y="622190"/>
            <a:ext cx="6766034" cy="4351338"/>
          </a:xfrm>
        </p:spPr>
        <p:txBody>
          <a:bodyPr/>
          <a:lstStyle/>
          <a:p>
            <a:r>
              <a:rPr lang="zh-CN" altLang="en-US" dirty="0"/>
              <a:t>空间划分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编码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8AD5243E-63DE-571E-55F1-9C3BC39EC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435" y="1222539"/>
            <a:ext cx="3233619" cy="1358664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969A7395-DB75-2850-ECCF-7E0E16B95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435" y="3290133"/>
            <a:ext cx="3649095" cy="287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450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2837F-4150-5D4E-C437-23618D2B4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第二步：判断与裁剪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BCEBFF-8D65-338E-6348-8318499D9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利用编码进行裁剪：</a:t>
            </a:r>
            <a:endParaRPr lang="en-US" altLang="zh-CN" dirty="0"/>
          </a:p>
          <a:p>
            <a:r>
              <a:rPr lang="zh-CN" altLang="en-US" dirty="0"/>
              <a:t>完全接受：计算线段两个端点</a:t>
            </a:r>
            <a:r>
              <a:rPr lang="en-US" altLang="zh-CN" dirty="0"/>
              <a:t>P1, P2</a:t>
            </a:r>
            <a:r>
              <a:rPr lang="zh-CN" altLang="en-US" dirty="0"/>
              <a:t>的区域码</a:t>
            </a:r>
            <a:r>
              <a:rPr lang="en-US" altLang="zh-CN" dirty="0"/>
              <a:t>C1, C2</a:t>
            </a:r>
            <a:r>
              <a:rPr lang="zh-CN" altLang="en-US" dirty="0"/>
              <a:t>。如果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(C1 | C2) == 0</a:t>
            </a:r>
            <a:r>
              <a:rPr lang="zh-CN" altLang="en-US" dirty="0"/>
              <a:t>，说明两个端点都在窗口内，线段完全可见，直接接受。</a:t>
            </a:r>
            <a:endParaRPr lang="en-US" altLang="zh-CN" dirty="0"/>
          </a:p>
          <a:p>
            <a:r>
              <a:rPr lang="zh-CN" altLang="en-US" dirty="0"/>
              <a:t>完全拒绝：如果 </a:t>
            </a:r>
            <a:r>
              <a:rPr lang="en-US" altLang="zh-CN" dirty="0"/>
              <a:t>(C1 &amp; C2) != 0</a:t>
            </a:r>
            <a:r>
              <a:rPr lang="zh-CN" altLang="en-US" dirty="0"/>
              <a:t>，说明两个端点位于窗口的同一侧（如上侧、左侧等），线段完全不可见，直接舍弃。</a:t>
            </a:r>
            <a:endParaRPr lang="en-US" altLang="zh-CN" dirty="0"/>
          </a:p>
          <a:p>
            <a:r>
              <a:rPr lang="zh-CN" altLang="en-US" dirty="0"/>
              <a:t>需要求交：如果以上都不满足，说明线段与窗口边界相交，需要计算交点。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42120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C5D1C-6CD3-E5DF-CA95-FAAD60EF2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第三步：如何处理需要求交点的线段？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8DBAE4-DB2A-3417-B5F1-0E1C3FE81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选择一个位于窗口外的端点（即区域码不为</a:t>
            </a:r>
            <a:r>
              <a:rPr lang="en-US" altLang="zh-CN" dirty="0"/>
              <a:t>0000</a:t>
            </a:r>
            <a:r>
              <a:rPr lang="zh-CN" altLang="en-US" dirty="0"/>
              <a:t>的点）；</a:t>
            </a:r>
            <a:endParaRPr lang="en-US" altLang="zh-CN" dirty="0"/>
          </a:p>
          <a:p>
            <a:r>
              <a:rPr lang="zh-CN" altLang="en-US" dirty="0"/>
              <a:t>根据斜率，确定这个点与哪条窗口边界相交；</a:t>
            </a:r>
            <a:endParaRPr lang="en-US" altLang="zh-CN" dirty="0"/>
          </a:p>
          <a:p>
            <a:r>
              <a:rPr lang="zh-CN" altLang="en-US" dirty="0"/>
              <a:t>计算该端点与确定边界的交点；</a:t>
            </a:r>
            <a:endParaRPr lang="en-US" altLang="zh-CN" dirty="0"/>
          </a:p>
          <a:p>
            <a:r>
              <a:rPr lang="zh-CN" altLang="en-US" dirty="0"/>
              <a:t>用交点替换原来的端点，并更新该端点的区域码；</a:t>
            </a:r>
            <a:endParaRPr lang="en-US" altLang="zh-CN" dirty="0"/>
          </a:p>
          <a:p>
            <a:r>
              <a:rPr lang="zh-CN" altLang="en-US" dirty="0"/>
              <a:t>重复上述操作，直到线段被完全接受。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15CD64-9992-E107-315D-DF98026C1A87}"/>
              </a:ext>
            </a:extLst>
          </p:cNvPr>
          <p:cNvSpPr/>
          <p:nvPr/>
        </p:nvSpPr>
        <p:spPr>
          <a:xfrm>
            <a:off x="8954814" y="4440621"/>
            <a:ext cx="2154620" cy="1676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9DCDA9D-1B10-A2CE-1242-86D3174C64F8}"/>
              </a:ext>
            </a:extLst>
          </p:cNvPr>
          <p:cNvCxnSpPr/>
          <p:nvPr/>
        </p:nvCxnSpPr>
        <p:spPr>
          <a:xfrm flipV="1">
            <a:off x="8350469" y="4041228"/>
            <a:ext cx="1718441" cy="12192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681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7BC89-758B-D307-20C0-2ACE6958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83EA6A-A7E0-521C-17BC-7FDE2598A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写一个 </a:t>
            </a:r>
            <a:r>
              <a:rPr lang="en-US" altLang="zh-CN" dirty="0"/>
              <a:t>Cohen-Sutherland</a:t>
            </a:r>
            <a:r>
              <a:rPr lang="zh-CN" altLang="en-US" dirty="0"/>
              <a:t>算法的完整实现。绘制一个矩形，以及一组随机选择的线段来测试算法，将在窗口内的部分显示为红色，窗口外的部分显示为黑色。（参考上课时的</a:t>
            </a:r>
            <a:r>
              <a:rPr lang="en-US" altLang="zh-CN" dirty="0"/>
              <a:t>ppt</a:t>
            </a:r>
            <a:r>
              <a:rPr lang="zh-CN" altLang="en-US" dirty="0"/>
              <a:t>及教材</a:t>
            </a:r>
            <a:r>
              <a:rPr lang="en-US" altLang="zh-CN" dirty="0"/>
              <a:t>p115</a:t>
            </a:r>
            <a:r>
              <a:rPr lang="zh-CN" altLang="en-US" dirty="0"/>
              <a:t>案例</a:t>
            </a:r>
            <a:r>
              <a:rPr lang="en-US" altLang="zh-CN" dirty="0"/>
              <a:t>3.2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要求绘制的线段包括以下</a:t>
            </a:r>
            <a:r>
              <a:rPr lang="en-US" altLang="zh-CN" dirty="0"/>
              <a:t>4</a:t>
            </a:r>
            <a:r>
              <a:rPr lang="zh-CN" altLang="en-US" dirty="0"/>
              <a:t>种：</a:t>
            </a:r>
            <a:endParaRPr lang="en-US" altLang="zh-CN" dirty="0"/>
          </a:p>
          <a:p>
            <a:r>
              <a:rPr lang="zh-CN" altLang="en-US" dirty="0"/>
              <a:t>完全在矩形外（全黑色）</a:t>
            </a:r>
            <a:endParaRPr lang="en-US" altLang="zh-CN" dirty="0"/>
          </a:p>
          <a:p>
            <a:r>
              <a:rPr lang="zh-CN" altLang="en-US" dirty="0"/>
              <a:t>完全在矩形内（全红色）</a:t>
            </a:r>
            <a:endParaRPr lang="en-US" altLang="zh-CN" dirty="0"/>
          </a:p>
          <a:p>
            <a:r>
              <a:rPr lang="zh-CN" altLang="en-US" dirty="0"/>
              <a:t>一个点在矩形内一个点在矩形外（黑</a:t>
            </a:r>
            <a:r>
              <a:rPr lang="en-US" altLang="zh-CN" dirty="0"/>
              <a:t>+</a:t>
            </a:r>
            <a:r>
              <a:rPr lang="zh-CN" altLang="en-US" dirty="0"/>
              <a:t>红）</a:t>
            </a:r>
            <a:endParaRPr lang="en-US" altLang="zh-CN" dirty="0"/>
          </a:p>
          <a:p>
            <a:r>
              <a:rPr lang="zh-CN" altLang="en-US" dirty="0"/>
              <a:t>两个点都在矩形外但是横穿矩形（黑</a:t>
            </a:r>
            <a:r>
              <a:rPr lang="en-US" altLang="zh-CN" dirty="0"/>
              <a:t>+</a:t>
            </a:r>
            <a:r>
              <a:rPr lang="zh-CN" altLang="en-US" dirty="0"/>
              <a:t>红</a:t>
            </a:r>
            <a:r>
              <a:rPr lang="en-US" altLang="zh-CN" dirty="0"/>
              <a:t>+</a:t>
            </a:r>
            <a:r>
              <a:rPr lang="zh-CN" altLang="en-US" dirty="0"/>
              <a:t>黑）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9098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526</Words>
  <Application>Microsoft Office PowerPoint</Application>
  <PresentationFormat>宽屏</PresentationFormat>
  <Paragraphs>51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 Cohen-Sutherland</vt:lpstr>
      <vt:lpstr>线段裁剪</vt:lpstr>
      <vt:lpstr>第一步：空间划分与编码</vt:lpstr>
      <vt:lpstr>代码实现</vt:lpstr>
      <vt:lpstr>第二步：判断与裁剪</vt:lpstr>
      <vt:lpstr>第三步：如何处理需要求交点的线段？</vt:lpstr>
      <vt:lpstr>实验要求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昊炎 刘</dc:creator>
  <cp:lastModifiedBy>昊炎 刘</cp:lastModifiedBy>
  <cp:revision>2</cp:revision>
  <dcterms:created xsi:type="dcterms:W3CDTF">2025-10-25T05:04:40Z</dcterms:created>
  <dcterms:modified xsi:type="dcterms:W3CDTF">2025-10-25T07:45:30Z</dcterms:modified>
</cp:coreProperties>
</file>