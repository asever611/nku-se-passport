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80" r:id="rId6"/>
    <p:sldId id="266" r:id="rId7"/>
    <p:sldId id="267" r:id="rId8"/>
    <p:sldId id="269" r:id="rId9"/>
    <p:sldId id="265" r:id="rId10"/>
    <p:sldId id="270" r:id="rId11"/>
    <p:sldId id="271" r:id="rId12"/>
    <p:sldId id="274" r:id="rId13"/>
    <p:sldId id="273" r:id="rId14"/>
    <p:sldId id="277" r:id="rId15"/>
    <p:sldId id="279" r:id="rId16"/>
    <p:sldId id="282" r:id="rId17"/>
    <p:sldId id="260" r:id="rId18"/>
    <p:sldId id="258" r:id="rId19"/>
    <p:sldId id="264" r:id="rId20"/>
    <p:sldId id="268" r:id="rId21"/>
    <p:sldId id="272" r:id="rId22"/>
    <p:sldId id="281" r:id="rId23"/>
    <p:sldId id="276"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0"/>
            <p14:sldId id="266"/>
            <p14:sldId id="267"/>
            <p14:sldId id="269"/>
            <p14:sldId id="265"/>
            <p14:sldId id="270"/>
            <p14:sldId id="271"/>
            <p14:sldId id="274"/>
            <p14:sldId id="273"/>
            <p14:sldId id="277"/>
            <p14:sldId id="279"/>
            <p14:sldId id="282"/>
            <p14:sldId id="260"/>
          </p14:sldIdLst>
        </p14:section>
        <p14:section name="Appendix: Image Descriptions for Unsighted Students" id="{9E859B0B-078E-463E-89A6-21C20DD280C4}">
          <p14:sldIdLst>
            <p14:sldId id="258"/>
            <p14:sldId id="264"/>
            <p14:sldId id="268"/>
            <p14:sldId id="272"/>
            <p14:sldId id="281"/>
            <p14:sldId id="276"/>
            <p14:sldId id="278"/>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3"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50" d="100"/>
        <a:sy n="50" d="100"/>
      </p:scale>
      <p:origin x="0" y="-30955"/>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3.jp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2</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Process Models</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1 - The Software Process</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2478790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Generic Process Model</a:t>
            </a:r>
          </a:p>
        </p:txBody>
      </p:sp>
      <p:pic>
        <p:nvPicPr>
          <p:cNvPr id="10" name="Picture 9" descr="An illustration displays the generic process model. ">
            <a:extLst>
              <a:ext uri="{FF2B5EF4-FFF2-40B4-BE49-F238E27FC236}">
                <a16:creationId xmlns:a16="http://schemas.microsoft.com/office/drawing/2014/main" id="{AF170965-E3DA-46AD-9C33-F4DA5EE407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0524" y="1126948"/>
            <a:ext cx="2666842" cy="504033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231943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Process Flow</a:t>
            </a:r>
          </a:p>
        </p:txBody>
      </p:sp>
      <p:pic>
        <p:nvPicPr>
          <p:cNvPr id="10" name="Picture 9" descr="The diagram displays four types of process flows. Linear, Iterative, Evolutionary and Parallel. ">
            <a:extLst>
              <a:ext uri="{FF2B5EF4-FFF2-40B4-BE49-F238E27FC236}">
                <a16:creationId xmlns:a16="http://schemas.microsoft.com/office/drawing/2014/main" id="{A6272EB5-9F79-4418-A630-63A04E3B9AD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296227" y="1039798"/>
            <a:ext cx="4551547" cy="5063631"/>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481180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Identifying a Task Set</a:t>
            </a:r>
          </a:p>
        </p:txBody>
      </p:sp>
      <p:sp>
        <p:nvSpPr>
          <p:cNvPr id="4" name="Content Placeholder 3"/>
          <p:cNvSpPr>
            <a:spLocks noGrp="1"/>
          </p:cNvSpPr>
          <p:nvPr>
            <p:ph sz="quarter" idx="11"/>
          </p:nvPr>
        </p:nvSpPr>
        <p:spPr>
          <a:xfrm>
            <a:off x="342900" y="1268320"/>
            <a:ext cx="8458200" cy="4754813"/>
          </a:xfrm>
        </p:spPr>
        <p:txBody>
          <a:bodyPr>
            <a:normAutofit/>
          </a:bodyPr>
          <a:lstStyle/>
          <a:p>
            <a:r>
              <a:rPr lang="en-US" altLang="en-US" sz="2400" noProof="0" dirty="0">
                <a:latin typeface="Times New Roman" panose="02020603050405020304" pitchFamily="18" charset="0"/>
                <a:cs typeface="Times New Roman" panose="02020603050405020304" pitchFamily="18" charset="0"/>
              </a:rPr>
              <a:t>A task set defines the actual work to be done to accomplish the objectives of a software engineering action. </a:t>
            </a:r>
          </a:p>
          <a:p>
            <a:endParaRPr lang="en-US" altLang="en-US" sz="2400" noProof="0" dirty="0">
              <a:latin typeface="Times New Roman" panose="02020603050405020304" pitchFamily="18" charset="0"/>
              <a:cs typeface="Times New Roman" panose="02020603050405020304" pitchFamily="18" charset="0"/>
            </a:endParaRPr>
          </a:p>
          <a:p>
            <a:r>
              <a:rPr lang="en-US" altLang="en-US" sz="2400" noProof="0" dirty="0">
                <a:latin typeface="Times New Roman" panose="02020603050405020304" pitchFamily="18" charset="0"/>
                <a:cs typeface="Times New Roman" panose="02020603050405020304" pitchFamily="18" charset="0"/>
              </a:rPr>
              <a:t>A task set is defined by creating several lists:</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tasks to be accomplished.</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work products to be produced.</a:t>
            </a:r>
          </a:p>
          <a:p>
            <a:pPr marL="291600" lvl="2" indent="-291600">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list of the quality assurance filters to be applied.</a:t>
            </a:r>
          </a:p>
          <a:p>
            <a:endParaRPr lang="en-US"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590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Process Assessment and Improvement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9031"/>
            <a:ext cx="8458200" cy="472320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t>The existence of a software process is no guarantee that software will be delivered on time, or meet the customer’s needs, or that it will exhibit long-term quality characteristics. </a:t>
            </a:r>
          </a:p>
          <a:p>
            <a:pPr marL="291600" indent="-291600">
              <a:spcBef>
                <a:spcPts val="1000"/>
              </a:spcBef>
              <a:spcAft>
                <a:spcPts val="0"/>
              </a:spcAft>
              <a:buFont typeface="Arial" panose="020B0604020202020204" pitchFamily="34" charset="0"/>
              <a:buChar char="•"/>
            </a:pPr>
            <a:r>
              <a:rPr lang="en-US" sz="2400" noProof="0" dirty="0"/>
              <a:t>Any software process can be assessed to ensure that it meets a set of basic process criteria that have been shown to be essential for successful software engineering.</a:t>
            </a:r>
          </a:p>
          <a:p>
            <a:pPr marL="291600" indent="-291600">
              <a:spcBef>
                <a:spcPts val="1000"/>
              </a:spcBef>
              <a:spcAft>
                <a:spcPts val="0"/>
              </a:spcAft>
              <a:buFont typeface="Arial" panose="020B0604020202020204" pitchFamily="34" charset="0"/>
              <a:buChar char="•"/>
            </a:pPr>
            <a:r>
              <a:rPr lang="en-US" sz="2400" noProof="0" dirty="0"/>
              <a:t>Software processes and activities should be assessed using numeric measures or software analytics (metrics).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96778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Prescriptive Process Models </a:t>
            </a:r>
            <a:r>
              <a:rPr lang="en-US" sz="1000" noProof="0" dirty="0"/>
              <a:t>1</a:t>
            </a:r>
          </a:p>
        </p:txBody>
      </p:sp>
      <p:sp>
        <p:nvSpPr>
          <p:cNvPr id="4" name="Content Placeholder 3"/>
          <p:cNvSpPr>
            <a:spLocks noGrp="1"/>
          </p:cNvSpPr>
          <p:nvPr>
            <p:ph sz="quarter" idx="11"/>
          </p:nvPr>
        </p:nvSpPr>
        <p:spPr>
          <a:xfrm>
            <a:off x="405044" y="1316210"/>
            <a:ext cx="8458200" cy="4183313"/>
          </a:xfrm>
        </p:spPr>
        <p:txBody>
          <a:bodyPr>
            <a:normAutofit fontScale="92500"/>
          </a:bodyPr>
          <a:lstStyle/>
          <a:p>
            <a:r>
              <a:rPr lang="en-US" altLang="en-US" sz="2600" noProof="0" dirty="0"/>
              <a:t>Prescriptive process models advocate an orderly approach to software engineering.</a:t>
            </a:r>
          </a:p>
          <a:p>
            <a:endParaRPr lang="en-US" altLang="en-US" sz="2600" noProof="0" dirty="0"/>
          </a:p>
          <a:p>
            <a:r>
              <a:rPr lang="en-US" altLang="en-US" sz="2600" i="1" noProof="0" dirty="0">
                <a:solidFill>
                  <a:schemeClr val="tx1"/>
                </a:solidFill>
              </a:rPr>
              <a:t>That leads to a two questions:</a:t>
            </a:r>
            <a:endParaRPr lang="en-US" altLang="en-US" sz="2600" noProof="0" dirty="0">
              <a:solidFill>
                <a:schemeClr val="tx1"/>
              </a:solidFill>
            </a:endParaRPr>
          </a:p>
          <a:p>
            <a:pPr marL="291600" lvl="1" indent="-291600">
              <a:spcBef>
                <a:spcPts val="1000"/>
              </a:spcBef>
              <a:spcAft>
                <a:spcPts val="0"/>
              </a:spcAft>
            </a:pPr>
            <a:r>
              <a:rPr lang="en-US" altLang="en-US" sz="2600" noProof="0" dirty="0"/>
              <a:t>If prescriptive process models strive for structure and order</a:t>
            </a:r>
            <a:r>
              <a:rPr lang="en-US" altLang="en-US" sz="2600" noProof="0" dirty="0">
                <a:solidFill>
                  <a:schemeClr val="tx1"/>
                </a:solidFill>
              </a:rPr>
              <a:t>, are they appropriate for a software world that thrives on change? </a:t>
            </a:r>
          </a:p>
          <a:p>
            <a:pPr marL="291600" lvl="1" indent="-291600">
              <a:spcBef>
                <a:spcPts val="1000"/>
              </a:spcBef>
              <a:spcAft>
                <a:spcPts val="0"/>
              </a:spcAft>
            </a:pPr>
            <a:r>
              <a:rPr lang="en-US" altLang="en-US" sz="2600" noProof="0" dirty="0">
                <a:solidFill>
                  <a:schemeClr val="tx1"/>
                </a:solidFill>
              </a:rPr>
              <a:t>If we reject traditional process models and replace them with something less structured, do we make it impossible to achieve coordination and coherence in software work?</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39934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Waterfall Process Model</a:t>
            </a:r>
          </a:p>
        </p:txBody>
      </p:sp>
      <p:pic>
        <p:nvPicPr>
          <p:cNvPr id="11" name="Picture 10" descr="The diagram displays the waterfall process model.&#10;">
            <a:extLst>
              <a:ext uri="{FF2B5EF4-FFF2-40B4-BE49-F238E27FC236}">
                <a16:creationId xmlns:a16="http://schemas.microsoft.com/office/drawing/2014/main" id="{030399CF-558C-477A-90EA-EC8CB84C31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84" y="1146731"/>
            <a:ext cx="8152654" cy="1913614"/>
          </a:xfrm>
          <a:prstGeom prst="rect">
            <a:avLst/>
          </a:prstGeom>
        </p:spPr>
      </p:pic>
      <p:sp>
        <p:nvSpPr>
          <p:cNvPr id="4" name="Content Placeholder 3"/>
          <p:cNvSpPr>
            <a:spLocks noGrp="1"/>
          </p:cNvSpPr>
          <p:nvPr>
            <p:ph sz="quarter" idx="11"/>
          </p:nvPr>
        </p:nvSpPr>
        <p:spPr>
          <a:xfrm>
            <a:off x="2418457" y="3161945"/>
            <a:ext cx="4536749" cy="1470444"/>
          </a:xfrm>
        </p:spPr>
        <p:txBody>
          <a:bodyPr>
            <a:noAutofit/>
          </a:bodyPr>
          <a:lstStyle/>
          <a:p>
            <a:r>
              <a:rPr lang="en-US" sz="1800" b="1" noProof="0" dirty="0"/>
              <a:t>Pros </a:t>
            </a:r>
          </a:p>
          <a:p>
            <a:pPr marL="291600" indent="-291600">
              <a:spcBef>
                <a:spcPts val="500"/>
              </a:spcBef>
              <a:spcAft>
                <a:spcPts val="0"/>
              </a:spcAft>
              <a:buFont typeface="Arial" panose="020B0604020202020204" pitchFamily="34" charset="0"/>
              <a:buChar char="•"/>
            </a:pPr>
            <a:r>
              <a:rPr lang="en-US" sz="1800" noProof="0" dirty="0"/>
              <a:t>It is easy to understand and plan.</a:t>
            </a:r>
          </a:p>
          <a:p>
            <a:pPr marL="291600" indent="-291600">
              <a:spcBef>
                <a:spcPts val="500"/>
              </a:spcBef>
              <a:spcAft>
                <a:spcPts val="0"/>
              </a:spcAft>
              <a:buFont typeface="Arial" panose="020B0604020202020204" pitchFamily="34" charset="0"/>
              <a:buChar char="•"/>
            </a:pPr>
            <a:r>
              <a:rPr lang="en-US" sz="1800" noProof="0" dirty="0"/>
              <a:t>It works for well-understood small projects.</a:t>
            </a:r>
          </a:p>
          <a:p>
            <a:pPr marL="291600" indent="-291600">
              <a:spcBef>
                <a:spcPts val="500"/>
              </a:spcBef>
              <a:spcAft>
                <a:spcPts val="0"/>
              </a:spcAft>
              <a:buFont typeface="Arial" panose="020B0604020202020204" pitchFamily="34" charset="0"/>
              <a:buChar char="•"/>
            </a:pPr>
            <a:r>
              <a:rPr lang="en-US" sz="1800" noProof="0" dirty="0"/>
              <a:t>Analysis and testing are straightforward.</a:t>
            </a:r>
          </a:p>
        </p:txBody>
      </p:sp>
      <p:sp>
        <p:nvSpPr>
          <p:cNvPr id="6" name="Content Placeholder 5"/>
          <p:cNvSpPr>
            <a:spLocks noGrp="1"/>
          </p:cNvSpPr>
          <p:nvPr>
            <p:ph sz="quarter" idx="14"/>
          </p:nvPr>
        </p:nvSpPr>
        <p:spPr>
          <a:xfrm>
            <a:off x="2409911" y="4708733"/>
            <a:ext cx="4536750" cy="1511578"/>
          </a:xfrm>
        </p:spPr>
        <p:txBody>
          <a:bodyPr>
            <a:normAutofit fontScale="92500" lnSpcReduction="10000"/>
          </a:bodyPr>
          <a:lstStyle/>
          <a:p>
            <a:r>
              <a:rPr lang="en-US" sz="1800" b="1" noProof="0" dirty="0"/>
              <a:t>Cons </a:t>
            </a:r>
          </a:p>
          <a:p>
            <a:pPr marL="291600" indent="-291600">
              <a:lnSpc>
                <a:spcPct val="120000"/>
              </a:lnSpc>
              <a:spcBef>
                <a:spcPts val="500"/>
              </a:spcBef>
              <a:spcAft>
                <a:spcPts val="0"/>
              </a:spcAft>
              <a:buFont typeface="Arial" panose="020B0604020202020204" pitchFamily="34" charset="0"/>
              <a:buChar char="•"/>
            </a:pPr>
            <a:r>
              <a:rPr lang="en-US" sz="1800" noProof="0" dirty="0"/>
              <a:t>It does not accommodate change well.</a:t>
            </a:r>
          </a:p>
          <a:p>
            <a:pPr marL="291600" indent="-291600">
              <a:lnSpc>
                <a:spcPct val="120000"/>
              </a:lnSpc>
              <a:spcBef>
                <a:spcPts val="500"/>
              </a:spcBef>
              <a:spcAft>
                <a:spcPts val="0"/>
              </a:spcAft>
              <a:buFont typeface="Arial" panose="020B0604020202020204" pitchFamily="34" charset="0"/>
              <a:buChar char="•"/>
            </a:pPr>
            <a:r>
              <a:rPr lang="en-US" sz="1800" noProof="0" dirty="0"/>
              <a:t>Testing occurs late in the process.</a:t>
            </a:r>
          </a:p>
          <a:p>
            <a:pPr marL="291600" indent="-291600">
              <a:lnSpc>
                <a:spcPct val="120000"/>
              </a:lnSpc>
              <a:spcBef>
                <a:spcPts val="500"/>
              </a:spcBef>
              <a:spcAft>
                <a:spcPts val="0"/>
              </a:spcAft>
              <a:buFont typeface="Arial" panose="020B0604020202020204" pitchFamily="34" charset="0"/>
              <a:buChar char="•"/>
            </a:pPr>
            <a:r>
              <a:rPr lang="en-US" sz="1800" noProof="0" dirty="0"/>
              <a:t>Customer approval is at the end.</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188661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Prototyping Process Model</a:t>
            </a:r>
          </a:p>
        </p:txBody>
      </p:sp>
      <p:pic>
        <p:nvPicPr>
          <p:cNvPr id="11" name="Picture 10" descr="An illustration displays prototyping process model. &#10;">
            <a:extLst>
              <a:ext uri="{FF2B5EF4-FFF2-40B4-BE49-F238E27FC236}">
                <a16:creationId xmlns:a16="http://schemas.microsoft.com/office/drawing/2014/main" id="{34219992-7AE7-4D0F-A6FF-37B271A92D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530" y="1474663"/>
            <a:ext cx="3589104" cy="3824784"/>
          </a:xfrm>
          <a:prstGeom prst="rect">
            <a:avLst/>
          </a:prstGeom>
        </p:spPr>
      </p:pic>
      <p:sp>
        <p:nvSpPr>
          <p:cNvPr id="4" name="Content Placeholder 3"/>
          <p:cNvSpPr>
            <a:spLocks noGrp="1"/>
          </p:cNvSpPr>
          <p:nvPr>
            <p:ph sz="quarter" idx="11"/>
          </p:nvPr>
        </p:nvSpPr>
        <p:spPr>
          <a:xfrm>
            <a:off x="4443811" y="1474663"/>
            <a:ext cx="4357287" cy="2202815"/>
          </a:xfrm>
        </p:spPr>
        <p:txBody>
          <a:bodyPr>
            <a:norm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Reduced impact of requirement changes.</a:t>
            </a:r>
          </a:p>
          <a:p>
            <a:pPr marL="291600" indent="-291600">
              <a:spcBef>
                <a:spcPts val="1000"/>
              </a:spcBef>
              <a:spcAft>
                <a:spcPts val="0"/>
              </a:spcAft>
              <a:buFont typeface="Arial" panose="020B0604020202020204" pitchFamily="34" charset="0"/>
              <a:buChar char="•"/>
            </a:pPr>
            <a:r>
              <a:rPr lang="en-US" sz="1800" noProof="0" dirty="0"/>
              <a:t>Customer is involved early and often.</a:t>
            </a:r>
          </a:p>
          <a:p>
            <a:pPr marL="291600" indent="-291600">
              <a:spcBef>
                <a:spcPts val="1000"/>
              </a:spcBef>
              <a:spcAft>
                <a:spcPts val="0"/>
              </a:spcAft>
              <a:buFont typeface="Arial" panose="020B0604020202020204" pitchFamily="34" charset="0"/>
              <a:buChar char="•"/>
            </a:pPr>
            <a:r>
              <a:rPr lang="en-US" sz="1800" noProof="0" dirty="0"/>
              <a:t>Works well for small projects.</a:t>
            </a:r>
          </a:p>
          <a:p>
            <a:pPr marL="291600" indent="-291600">
              <a:spcBef>
                <a:spcPts val="1000"/>
              </a:spcBef>
              <a:spcAft>
                <a:spcPts val="0"/>
              </a:spcAft>
              <a:buFont typeface="Arial" panose="020B0604020202020204" pitchFamily="34" charset="0"/>
              <a:buChar char="•"/>
            </a:pPr>
            <a:r>
              <a:rPr lang="en-US" sz="1800" noProof="0" dirty="0"/>
              <a:t>Reduced likelihood of product rejection.</a:t>
            </a:r>
          </a:p>
        </p:txBody>
      </p:sp>
      <p:sp>
        <p:nvSpPr>
          <p:cNvPr id="6" name="Content Placeholder 5"/>
          <p:cNvSpPr>
            <a:spLocks noGrp="1"/>
          </p:cNvSpPr>
          <p:nvPr>
            <p:ph sz="quarter" idx="14"/>
          </p:nvPr>
        </p:nvSpPr>
        <p:spPr>
          <a:xfrm>
            <a:off x="4443810" y="3747749"/>
            <a:ext cx="4357287" cy="2202815"/>
          </a:xfrm>
        </p:spPr>
        <p:txBody>
          <a:bodyPr>
            <a:noAutofit/>
          </a:bodyPr>
          <a:lstStyle/>
          <a:p>
            <a:r>
              <a:rPr lang="en-US" sz="1800" b="1" noProof="0" dirty="0"/>
              <a:t>Cons </a:t>
            </a:r>
          </a:p>
          <a:p>
            <a:pPr marL="291600" indent="-291600">
              <a:spcBef>
                <a:spcPts val="1000"/>
              </a:spcBef>
              <a:spcAft>
                <a:spcPts val="0"/>
              </a:spcAft>
              <a:buFont typeface="Arial" panose="020B0604020202020204" pitchFamily="34" charset="0"/>
              <a:buChar char="•"/>
            </a:pPr>
            <a:r>
              <a:rPr lang="en-US" sz="1800" noProof="0" dirty="0"/>
              <a:t>Customer involvement may cause delays.</a:t>
            </a:r>
          </a:p>
          <a:p>
            <a:pPr marL="291600" indent="-291600">
              <a:spcBef>
                <a:spcPts val="1000"/>
              </a:spcBef>
              <a:spcAft>
                <a:spcPts val="0"/>
              </a:spcAft>
              <a:buFont typeface="Arial" panose="020B0604020202020204" pitchFamily="34" charset="0"/>
              <a:buChar char="•"/>
            </a:pPr>
            <a:r>
              <a:rPr lang="en-US" sz="1800" noProof="0" dirty="0"/>
              <a:t>Temptation to “ship” a prototype.</a:t>
            </a:r>
          </a:p>
          <a:p>
            <a:pPr marL="291600" indent="-291600">
              <a:spcBef>
                <a:spcPts val="1000"/>
              </a:spcBef>
              <a:spcAft>
                <a:spcPts val="0"/>
              </a:spcAft>
              <a:buFont typeface="Arial" panose="020B0604020202020204" pitchFamily="34" charset="0"/>
              <a:buChar char="•"/>
            </a:pPr>
            <a:r>
              <a:rPr lang="en-US" sz="1800" noProof="0" dirty="0"/>
              <a:t>Work lost in a throwaway prototype.</a:t>
            </a:r>
          </a:p>
          <a:p>
            <a:pPr marL="291600" indent="-291600">
              <a:spcBef>
                <a:spcPts val="1000"/>
              </a:spcBef>
              <a:spcAft>
                <a:spcPts val="0"/>
              </a:spcAft>
              <a:buFont typeface="Arial" panose="020B0604020202020204" pitchFamily="34" charset="0"/>
              <a:buChar char="•"/>
            </a:pPr>
            <a:r>
              <a:rPr lang="en-US" sz="1800" noProof="0" dirty="0"/>
              <a:t>Hard to plan and manage.</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323546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Spiral Process Model</a:t>
            </a:r>
          </a:p>
        </p:txBody>
      </p:sp>
      <p:pic>
        <p:nvPicPr>
          <p:cNvPr id="10" name="Picture 9" descr="An illustration displays spiral process model. &#10;">
            <a:extLst>
              <a:ext uri="{FF2B5EF4-FFF2-40B4-BE49-F238E27FC236}">
                <a16:creationId xmlns:a16="http://schemas.microsoft.com/office/drawing/2014/main" id="{AB28AFDF-4884-4F0C-8F40-862BAFCA9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19" y="1488500"/>
            <a:ext cx="4181726" cy="3248924"/>
          </a:xfrm>
          <a:prstGeom prst="rect">
            <a:avLst/>
          </a:prstGeom>
        </p:spPr>
      </p:pic>
      <p:sp>
        <p:nvSpPr>
          <p:cNvPr id="4" name="Content Placeholder 3"/>
          <p:cNvSpPr>
            <a:spLocks noGrp="1"/>
          </p:cNvSpPr>
          <p:nvPr>
            <p:ph sz="quarter" idx="11"/>
          </p:nvPr>
        </p:nvSpPr>
        <p:spPr>
          <a:xfrm>
            <a:off x="4785644" y="1517384"/>
            <a:ext cx="4015455" cy="2198953"/>
          </a:xfrm>
        </p:spPr>
        <p:txBody>
          <a:bodyPr>
            <a:no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Continuous customer involvement.</a:t>
            </a:r>
          </a:p>
          <a:p>
            <a:pPr marL="291600" indent="-291600">
              <a:spcBef>
                <a:spcPts val="1000"/>
              </a:spcBef>
              <a:spcAft>
                <a:spcPts val="0"/>
              </a:spcAft>
              <a:buFont typeface="Arial" panose="020B0604020202020204" pitchFamily="34" charset="0"/>
              <a:buChar char="•"/>
            </a:pPr>
            <a:r>
              <a:rPr lang="en-US" sz="1800" noProof="0" dirty="0"/>
              <a:t>Development risks are managed.</a:t>
            </a:r>
          </a:p>
          <a:p>
            <a:pPr marL="291600" indent="-291600">
              <a:spcBef>
                <a:spcPts val="1000"/>
              </a:spcBef>
              <a:spcAft>
                <a:spcPts val="0"/>
              </a:spcAft>
              <a:buFont typeface="Arial" panose="020B0604020202020204" pitchFamily="34" charset="0"/>
              <a:buChar char="•"/>
            </a:pPr>
            <a:r>
              <a:rPr lang="en-US" sz="1800" noProof="0" dirty="0"/>
              <a:t>Suitable for large, complex projects.</a:t>
            </a:r>
          </a:p>
          <a:p>
            <a:pPr marL="291600" indent="-291600">
              <a:spcBef>
                <a:spcPts val="1000"/>
              </a:spcBef>
              <a:spcAft>
                <a:spcPts val="0"/>
              </a:spcAft>
              <a:buFont typeface="Arial" panose="020B0604020202020204" pitchFamily="34" charset="0"/>
              <a:buChar char="•"/>
            </a:pPr>
            <a:r>
              <a:rPr lang="en-US" sz="1800" noProof="0" dirty="0"/>
              <a:t>It works well for extensible products.</a:t>
            </a:r>
          </a:p>
        </p:txBody>
      </p:sp>
      <p:sp>
        <p:nvSpPr>
          <p:cNvPr id="6" name="Content Placeholder 5"/>
          <p:cNvSpPr>
            <a:spLocks noGrp="1"/>
          </p:cNvSpPr>
          <p:nvPr>
            <p:ph sz="quarter" idx="14"/>
          </p:nvPr>
        </p:nvSpPr>
        <p:spPr>
          <a:xfrm>
            <a:off x="4785644" y="3897420"/>
            <a:ext cx="4015455" cy="2075997"/>
          </a:xfrm>
        </p:spPr>
        <p:txBody>
          <a:bodyPr>
            <a:normAutofit/>
          </a:bodyPr>
          <a:lstStyle/>
          <a:p>
            <a:r>
              <a:rPr lang="en-US" sz="1800" b="1" noProof="0" dirty="0"/>
              <a:t>Cons </a:t>
            </a:r>
          </a:p>
          <a:p>
            <a:pPr marL="291600" indent="-291600">
              <a:spcBef>
                <a:spcPts val="1000"/>
              </a:spcBef>
              <a:spcAft>
                <a:spcPts val="0"/>
              </a:spcAft>
              <a:buFont typeface="Arial" panose="020B0604020202020204" pitchFamily="34" charset="0"/>
              <a:buChar char="•"/>
            </a:pPr>
            <a:r>
              <a:rPr lang="en-US" sz="1800" noProof="0" dirty="0"/>
              <a:t>Risk analysis failures can doom the project.</a:t>
            </a:r>
          </a:p>
          <a:p>
            <a:pPr marL="291600" indent="-291600">
              <a:spcBef>
                <a:spcPts val="1000"/>
              </a:spcBef>
              <a:spcAft>
                <a:spcPts val="0"/>
              </a:spcAft>
              <a:buFont typeface="Arial" panose="020B0604020202020204" pitchFamily="34" charset="0"/>
              <a:buChar char="•"/>
            </a:pPr>
            <a:r>
              <a:rPr lang="en-US" sz="1800" noProof="0" dirty="0"/>
              <a:t>Project may be hard to manage.</a:t>
            </a:r>
          </a:p>
          <a:p>
            <a:pPr marL="291600" indent="-291600">
              <a:spcBef>
                <a:spcPts val="1000"/>
              </a:spcBef>
              <a:spcAft>
                <a:spcPts val="0"/>
              </a:spcAft>
              <a:buFont typeface="Arial" panose="020B0604020202020204" pitchFamily="34" charset="0"/>
              <a:buChar char="•"/>
            </a:pPr>
            <a:r>
              <a:rPr lang="en-US" sz="1800" noProof="0" dirty="0"/>
              <a:t>Requires an expert development team.</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608414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Unified Process Model</a:t>
            </a:r>
          </a:p>
        </p:txBody>
      </p:sp>
      <p:pic>
        <p:nvPicPr>
          <p:cNvPr id="11" name="Picture 10" descr="An illustration displays unified process model. &#10;">
            <a:extLst>
              <a:ext uri="{FF2B5EF4-FFF2-40B4-BE49-F238E27FC236}">
                <a16:creationId xmlns:a16="http://schemas.microsoft.com/office/drawing/2014/main" id="{4EB8515D-8B5B-4011-B120-54AA244B1CA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55933" y="1496673"/>
            <a:ext cx="3736966" cy="3948545"/>
          </a:xfrm>
          <a:prstGeom prst="rect">
            <a:avLst/>
          </a:prstGeom>
        </p:spPr>
      </p:pic>
      <p:sp>
        <p:nvSpPr>
          <p:cNvPr id="4" name="Content Placeholder 3"/>
          <p:cNvSpPr>
            <a:spLocks noGrp="1"/>
          </p:cNvSpPr>
          <p:nvPr>
            <p:ph sz="quarter" idx="11"/>
          </p:nvPr>
        </p:nvSpPr>
        <p:spPr>
          <a:xfrm>
            <a:off x="4657458" y="1496673"/>
            <a:ext cx="4143642" cy="2121170"/>
          </a:xfrm>
        </p:spPr>
        <p:txBody>
          <a:bodyPr>
            <a:normAutofit/>
          </a:bodyPr>
          <a:lstStyle/>
          <a:p>
            <a:r>
              <a:rPr lang="en-US" sz="1800" b="1" noProof="0" dirty="0"/>
              <a:t>Pros </a:t>
            </a:r>
          </a:p>
          <a:p>
            <a:pPr marL="291600" indent="-291600">
              <a:spcBef>
                <a:spcPts val="1000"/>
              </a:spcBef>
              <a:spcAft>
                <a:spcPts val="0"/>
              </a:spcAft>
              <a:buFont typeface="Arial" panose="020B0604020202020204" pitchFamily="34" charset="0"/>
              <a:buChar char="•"/>
            </a:pPr>
            <a:r>
              <a:rPr lang="en-US" sz="1800" noProof="0" dirty="0"/>
              <a:t>Quality documentation emphasized.</a:t>
            </a:r>
          </a:p>
          <a:p>
            <a:pPr marL="291600" indent="-291600">
              <a:spcBef>
                <a:spcPts val="1000"/>
              </a:spcBef>
              <a:spcAft>
                <a:spcPts val="0"/>
              </a:spcAft>
              <a:buFont typeface="Arial" panose="020B0604020202020204" pitchFamily="34" charset="0"/>
              <a:buChar char="•"/>
            </a:pPr>
            <a:r>
              <a:rPr lang="en-US" sz="1800" noProof="0" dirty="0"/>
              <a:t>Continuous customer involvement.</a:t>
            </a:r>
          </a:p>
          <a:p>
            <a:pPr marL="291600" indent="-291600">
              <a:spcBef>
                <a:spcPts val="1000"/>
              </a:spcBef>
              <a:spcAft>
                <a:spcPts val="0"/>
              </a:spcAft>
              <a:buFont typeface="Arial" panose="020B0604020202020204" pitchFamily="34" charset="0"/>
              <a:buChar char="•"/>
            </a:pPr>
            <a:r>
              <a:rPr lang="en-US" sz="1800" noProof="0" dirty="0"/>
              <a:t>Accommodates requirements changes.</a:t>
            </a:r>
          </a:p>
          <a:p>
            <a:pPr marL="291600" indent="-291600">
              <a:spcBef>
                <a:spcPts val="1000"/>
              </a:spcBef>
              <a:spcAft>
                <a:spcPts val="0"/>
              </a:spcAft>
              <a:buFont typeface="Arial" panose="020B0604020202020204" pitchFamily="34" charset="0"/>
              <a:buChar char="•"/>
            </a:pPr>
            <a:r>
              <a:rPr lang="en-US" sz="1800" noProof="0" dirty="0"/>
              <a:t>Works well for maintenance projects.</a:t>
            </a:r>
          </a:p>
        </p:txBody>
      </p:sp>
      <p:sp>
        <p:nvSpPr>
          <p:cNvPr id="6" name="Content Placeholder 5"/>
          <p:cNvSpPr>
            <a:spLocks noGrp="1"/>
          </p:cNvSpPr>
          <p:nvPr>
            <p:ph sz="quarter" idx="14"/>
          </p:nvPr>
        </p:nvSpPr>
        <p:spPr>
          <a:xfrm>
            <a:off x="4657458" y="3773524"/>
            <a:ext cx="4143642" cy="2368859"/>
          </a:xfrm>
        </p:spPr>
        <p:txBody>
          <a:bodyPr>
            <a:noAutofit/>
          </a:bodyPr>
          <a:lstStyle/>
          <a:p>
            <a:r>
              <a:rPr lang="en-US" sz="1800" b="1" noProof="0" dirty="0"/>
              <a:t>Cons</a:t>
            </a:r>
          </a:p>
          <a:p>
            <a:pPr marL="291600" indent="-291600">
              <a:spcBef>
                <a:spcPts val="1000"/>
              </a:spcBef>
              <a:spcAft>
                <a:spcPts val="0"/>
              </a:spcAft>
              <a:buFont typeface="Arial" panose="020B0604020202020204" pitchFamily="34" charset="0"/>
              <a:buChar char="•"/>
            </a:pPr>
            <a:r>
              <a:rPr lang="en-US" sz="1800" noProof="0" dirty="0"/>
              <a:t>Use cases are not always precise.</a:t>
            </a:r>
          </a:p>
          <a:p>
            <a:pPr marL="291600" indent="-291600">
              <a:spcBef>
                <a:spcPts val="1000"/>
              </a:spcBef>
              <a:spcAft>
                <a:spcPts val="0"/>
              </a:spcAft>
              <a:buFont typeface="Arial" panose="020B0604020202020204" pitchFamily="34" charset="0"/>
              <a:buChar char="•"/>
            </a:pPr>
            <a:r>
              <a:rPr lang="en-US" sz="1800" noProof="0" dirty="0"/>
              <a:t>Tricky software increment integration.</a:t>
            </a:r>
          </a:p>
          <a:p>
            <a:pPr marL="291600" indent="-291600">
              <a:spcBef>
                <a:spcPts val="1000"/>
              </a:spcBef>
              <a:spcAft>
                <a:spcPts val="0"/>
              </a:spcAft>
              <a:buFont typeface="Arial" panose="020B0604020202020204" pitchFamily="34" charset="0"/>
              <a:buChar char="•"/>
            </a:pPr>
            <a:r>
              <a:rPr lang="en-US" sz="1800" noProof="0" dirty="0"/>
              <a:t>Overlapping phases can cause problems.</a:t>
            </a:r>
          </a:p>
          <a:p>
            <a:pPr marL="291600" indent="-291600">
              <a:spcBef>
                <a:spcPts val="1000"/>
              </a:spcBef>
              <a:spcAft>
                <a:spcPts val="0"/>
              </a:spcAft>
              <a:buFont typeface="Arial" panose="020B0604020202020204" pitchFamily="34" charset="0"/>
              <a:buChar char="•"/>
            </a:pPr>
            <a:r>
              <a:rPr lang="en-US" sz="1800" noProof="0" dirty="0"/>
              <a:t>Requires expert development team.</a:t>
            </a:r>
          </a:p>
        </p:txBody>
      </p:sp>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hlinkClick r:id="rId3"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748563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Prescriptive Process Models </a:t>
            </a:r>
            <a:r>
              <a:rPr lang="en-US" sz="1000" noProof="0" dirty="0"/>
              <a:t>2</a:t>
            </a:r>
          </a:p>
        </p:txBody>
      </p:sp>
      <p:sp>
        <p:nvSpPr>
          <p:cNvPr id="4" name="Content Placeholder 3"/>
          <p:cNvSpPr>
            <a:spLocks noGrp="1"/>
          </p:cNvSpPr>
          <p:nvPr>
            <p:ph sz="quarter" idx="11"/>
          </p:nvPr>
        </p:nvSpPr>
        <p:spPr>
          <a:xfrm>
            <a:off x="342900" y="1276709"/>
            <a:ext cx="8458200" cy="4183313"/>
          </a:xfrm>
        </p:spPr>
        <p:txBody>
          <a:bodyPr>
            <a:normAutofit fontScale="92500"/>
          </a:bodyPr>
          <a:lstStyle/>
          <a:p>
            <a:r>
              <a:rPr lang="en-US" altLang="en-US" sz="2600" noProof="0" dirty="0"/>
              <a:t>Prescriptive process models advocate an orderly approach to software engineering.</a:t>
            </a:r>
          </a:p>
          <a:p>
            <a:endParaRPr lang="en-US" altLang="en-US" sz="2600" noProof="0" dirty="0"/>
          </a:p>
          <a:p>
            <a:r>
              <a:rPr lang="en-US" altLang="en-US" sz="2600" i="1" noProof="0" dirty="0">
                <a:solidFill>
                  <a:schemeClr val="tx1"/>
                </a:solidFill>
              </a:rPr>
              <a:t>That leads to a two questions:</a:t>
            </a:r>
            <a:endParaRPr lang="en-US" altLang="en-US" sz="2600" noProof="0" dirty="0">
              <a:solidFill>
                <a:schemeClr val="tx1"/>
              </a:solidFill>
            </a:endParaRPr>
          </a:p>
          <a:p>
            <a:pPr marL="291600" lvl="1" indent="-291600">
              <a:spcBef>
                <a:spcPts val="1000"/>
              </a:spcBef>
              <a:spcAft>
                <a:spcPts val="0"/>
              </a:spcAft>
            </a:pPr>
            <a:r>
              <a:rPr lang="en-US" altLang="en-US" sz="2600" noProof="0" dirty="0"/>
              <a:t>If prescriptive process models strive for structure and order</a:t>
            </a:r>
            <a:r>
              <a:rPr lang="en-US" altLang="en-US" sz="2600" noProof="0" dirty="0">
                <a:solidFill>
                  <a:schemeClr val="tx1"/>
                </a:solidFill>
              </a:rPr>
              <a:t>, are they appropriate for a software world that thrives on change? </a:t>
            </a:r>
          </a:p>
          <a:p>
            <a:pPr marL="291600" lvl="1" indent="-291600">
              <a:spcBef>
                <a:spcPts val="1000"/>
              </a:spcBef>
              <a:spcAft>
                <a:spcPts val="0"/>
              </a:spcAft>
            </a:pPr>
            <a:r>
              <a:rPr lang="en-US" altLang="en-US" sz="2600" noProof="0" dirty="0">
                <a:solidFill>
                  <a:schemeClr val="tx1"/>
                </a:solidFill>
              </a:rPr>
              <a:t>If we reject traditional process models and replace them with something less structured, do we make it impossible to achieve coordination and coherence in software work?</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411916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altLang="zh-CN" noProof="0" dirty="0"/>
              <a:t>Homework</a:t>
            </a:r>
            <a:endParaRPr lang="en-US" sz="1000" noProof="0" dirty="0"/>
          </a:p>
        </p:txBody>
      </p:sp>
      <p:sp>
        <p:nvSpPr>
          <p:cNvPr id="4" name="Content Placeholder 3"/>
          <p:cNvSpPr>
            <a:spLocks noGrp="1"/>
          </p:cNvSpPr>
          <p:nvPr>
            <p:ph sz="quarter" idx="11"/>
          </p:nvPr>
        </p:nvSpPr>
        <p:spPr>
          <a:xfrm>
            <a:off x="342900" y="1276709"/>
            <a:ext cx="8458200" cy="4183313"/>
          </a:xfrm>
        </p:spPr>
        <p:txBody>
          <a:bodyPr>
            <a:normAutofit/>
          </a:bodyPr>
          <a:lstStyle/>
          <a:p>
            <a:pPr marL="514350" indent="-514350">
              <a:buAutoNum type="arabicPeriod"/>
            </a:pPr>
            <a:r>
              <a:rPr lang="en-US" altLang="zh-CN" sz="2600" noProof="0" dirty="0"/>
              <a:t>Form teams of 4 students each team and name your teams</a:t>
            </a:r>
          </a:p>
          <a:p>
            <a:pPr marL="514350" indent="-514350">
              <a:buAutoNum type="arabicPeriod"/>
            </a:pPr>
            <a:r>
              <a:rPr lang="en-US" altLang="en-US" sz="2600" dirty="0"/>
              <a:t>Select a real problem your team wants to resolve with Software</a:t>
            </a:r>
          </a:p>
          <a:p>
            <a:pPr marL="514350" indent="-514350">
              <a:buAutoNum type="arabicPeriod"/>
            </a:pPr>
            <a:r>
              <a:rPr lang="en-US" altLang="en-US" sz="2600" noProof="0" dirty="0"/>
              <a:t>Start discussing the problem within your team</a:t>
            </a:r>
          </a:p>
          <a:p>
            <a:pPr marL="514350" indent="-514350">
              <a:buAutoNum type="arabicPeriod"/>
            </a:pPr>
            <a:r>
              <a:rPr lang="en-US" altLang="en-US" sz="2600" dirty="0"/>
              <a:t>Provide the name of your team, team members and the selected problem to Teaching Assistants</a:t>
            </a:r>
          </a:p>
          <a:p>
            <a:pPr marL="514350" indent="-514350">
              <a:buAutoNum type="arabicPeriod"/>
            </a:pPr>
            <a:r>
              <a:rPr lang="en-US" altLang="en-US" sz="2600" noProof="0" dirty="0"/>
              <a:t>Send</a:t>
            </a:r>
            <a:r>
              <a:rPr lang="en-US" altLang="en-US" sz="2600" dirty="0"/>
              <a:t> your</a:t>
            </a:r>
            <a:r>
              <a:rPr lang="en-US" altLang="en-US" sz="2600" noProof="0"/>
              <a:t> </a:t>
            </a:r>
            <a:r>
              <a:rPr lang="en-US" altLang="en-US" sz="2600" noProof="0" dirty="0"/>
              <a:t>questions from </a:t>
            </a:r>
            <a:r>
              <a:rPr lang="en-US" altLang="en-US" sz="2600" noProof="0" dirty="0" err="1"/>
              <a:t>th</a:t>
            </a:r>
            <a:r>
              <a:rPr lang="en-US" altLang="en-US" sz="2600" dirty="0"/>
              <a:t>is class to Teaching Assistants</a:t>
            </a:r>
            <a:endParaRPr lang="en-US" altLang="en-US" sz="26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3885979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latin typeface="Times New Roman" panose="02020603050405020304" pitchFamily="18" charset="0"/>
                <a:cs typeface="Times New Roman" panose="02020603050405020304" pitchFamily="18" charset="0"/>
              </a:rPr>
              <a:t>© 2020 McGraw-Hill Education. All rights reserved. Authorized only for instructor use in the classroom.</a:t>
            </a:r>
          </a:p>
          <a:p>
            <a:pPr lvl="0"/>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a:xfrm>
            <a:off x="342899" y="2310981"/>
            <a:ext cx="7696919" cy="637593"/>
          </a:xfrm>
        </p:spPr>
        <p:txBody>
          <a:bodyPr>
            <a:normAutofit/>
          </a:bodyPr>
          <a:lstStyle/>
          <a:p>
            <a:r>
              <a:rPr lang="en-US" sz="2600"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424501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Generic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the generic process model. The model has three levels, software process, process framework, and umbrella activities. The umbrella activities contain framework activities numbered from 1 to n. The framework activity  1 reads, software engineering action 1. Task sets include work tasks, work products, quality assurance points, project milestones. The software engineering action 1.k has task sets as work task, work products, quality assurance points, and project milestones. The framework activity number n reads, software engineering action n.1. Task sets include work tasks, work products, quality assurance points, project milestones. The software engineering action </a:t>
            </a:r>
            <a:r>
              <a:rPr lang="en-US" noProof="0" dirty="0" err="1"/>
              <a:t>n.m</a:t>
            </a:r>
            <a:r>
              <a:rPr lang="en-US" noProof="0" dirty="0"/>
              <a:t> has task sets as work task, work products, quality assurance points, and project milestones.</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57252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noProof="0" dirty="0"/>
              <a:t>Process Flow </a:t>
            </a:r>
            <a:r>
              <a:rPr lang="en-US" dirty="0"/>
              <a:t>–</a:t>
            </a:r>
            <a:r>
              <a:rPr lang="en-US"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fontScale="92500" lnSpcReduction="10000"/>
          </a:bodyPr>
          <a:lstStyle/>
          <a:p>
            <a:r>
              <a:rPr lang="en-US" noProof="0" dirty="0"/>
              <a:t>The diagram displays four types of process flows. A) Linear process flow. In the process flow each process flow is followed by a single process. The displayed process is as follows: communication, planning, modeling, construction and deployment. B) Iterative process flow. In the process flow each process is followed by a single process, however a process can loop back to any process in the flow. The displayed process is as follows: communication, planning, modeling, construction and deployment. Planning loops back to communication, modeling loops back to modeling and construction loops back to communication. C) Evolutionary process flow. In the process flow each process is followed by a single process the last process gives a result and loops back to the first process. The displayed process is as follows: communication, planning, modeling, construction and deployment. Deployment results in increment released and loops back to communication. D) Parallel process flow. In the process flow one or more processes can lead to the next process. The displayed processes are as follows: communication, planning, modeling, construction and deployment. The process is as follows: Communication leads to planning. Communication and planning lead to modelling. Modelling leads to construction which leads to deployment.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576079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400" noProof="0" dirty="0"/>
              <a:t>Waterfall Process model </a:t>
            </a:r>
            <a:r>
              <a:rPr lang="en-US" sz="3400" dirty="0"/>
              <a:t>–</a:t>
            </a:r>
            <a:r>
              <a:rPr lang="en-US" sz="34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The diagram displays the waterfall process model. The displayed process is as follows: communication, planning, modeling, construction and deployment. Sub-processes under each process are as follow. Communication: project initiation and requirements gathering; Planning: estimating, scheduling and tracking; Modeling: analysis and design; Construction: code and test; Deployment: delivery, support and feedback.</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2690155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200" noProof="0" dirty="0"/>
              <a:t>Prototyping Process Model </a:t>
            </a:r>
            <a:r>
              <a:rPr lang="en-US" sz="3200" dirty="0"/>
              <a:t>–</a:t>
            </a:r>
            <a:r>
              <a:rPr lang="en-US" sz="32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prototyping process model. The components in the cycle are communication, quick plan, modeling quick design, construction of prototype, development delivery and feedback.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2935717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Spiral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spiral process model. The spiral model starts with communication; leads to planning which includes estimation, scheduling, and risk analysis; modeling include analysis and design; construction include code and test; and deployment which include delivery, and feedback.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1716118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p:txBody>
          <a:bodyPr/>
          <a:lstStyle/>
          <a:p>
            <a:r>
              <a:rPr lang="en-US" sz="3600" noProof="0" dirty="0"/>
              <a:t>Unified Process Model </a:t>
            </a:r>
            <a:r>
              <a:rPr lang="en-US" sz="3600" dirty="0"/>
              <a:t>–</a:t>
            </a:r>
            <a:r>
              <a:rPr lang="en-US" sz="3600" noProof="0" dirty="0"/>
              <a:t> Text Alternative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4"/>
          </p:nvPr>
        </p:nvSpPr>
        <p:spPr/>
        <p:txBody>
          <a:bodyPr/>
          <a:lstStyle/>
          <a:p>
            <a:pPr algn="ctr"/>
            <a:r>
              <a:rPr lang="en-US" noProof="0" dirty="0">
                <a:hlinkClick r:id="rId2" action="ppaction://hlinksldjump"/>
              </a:rPr>
              <a:t>Return to parent-slide containing images.</a:t>
            </a:r>
            <a:endParaRPr lang="en-US" noProof="0" dirty="0"/>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noProof="0" dirty="0"/>
              <a:t>An illustration displays unified process model. The components in the cycle are communication, planning, modeling, construction, and deployment. The communication and planning form inception; planning and modeling form elaboration; construction forms construction; and construction and deployment form transition. Deployment releases software increment and production. </a:t>
            </a:r>
          </a:p>
        </p:txBody>
      </p:sp>
      <p:sp>
        <p:nvSpPr>
          <p:cNvPr id="3" name="Text Placeholder 2"/>
          <p:cNvSpPr>
            <a:spLocks noGrp="1"/>
          </p:cNvSpPr>
          <p:nvPr>
            <p:ph type="body" sz="quarter" idx="15"/>
          </p:nvPr>
        </p:nvSpPr>
        <p:spPr/>
        <p:txBody>
          <a:bodyPr/>
          <a:lstStyle/>
          <a:p>
            <a:pPr algn="ctr"/>
            <a:r>
              <a:rPr lang="en-US" noProof="0" dirty="0">
                <a:hlinkClick r:id="rId2" action="ppaction://hlinksldjump"/>
              </a:rPr>
              <a:t>Return to parent-slide containing images.</a:t>
            </a:r>
            <a:endParaRPr lang="en-US" noProof="0" dirty="0"/>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690458579"/>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683</TotalTime>
  <Words>1392</Words>
  <Application>Microsoft Office PowerPoint</Application>
  <PresentationFormat>全屏显示(4:3)</PresentationFormat>
  <Paragraphs>129</Paragraphs>
  <Slides>20</Slides>
  <Notes>0</Notes>
  <HiddenSlides>7</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20</vt:i4>
      </vt:variant>
    </vt:vector>
  </HeadingPairs>
  <TitlesOfParts>
    <vt:vector size="27" baseType="lpstr">
      <vt:lpstr>Arial</vt:lpstr>
      <vt:lpstr>Times New Roman</vt:lpstr>
      <vt:lpstr>Title Slides Master</vt:lpstr>
      <vt:lpstr>MainContentSlideMaster</vt:lpstr>
      <vt:lpstr>ClosingMaster</vt:lpstr>
      <vt:lpstr>DividerSlideMaster</vt:lpstr>
      <vt:lpstr>ImageDescriptionAppendixSlideMaster</vt:lpstr>
      <vt:lpstr>Chapter 2</vt:lpstr>
      <vt:lpstr>Generic Process Model</vt:lpstr>
      <vt:lpstr>Process Flow</vt:lpstr>
      <vt:lpstr>Identifying a Task Set</vt:lpstr>
      <vt:lpstr>Process Assessment and Improvement</vt:lpstr>
      <vt:lpstr>Prescriptive Process Models 1</vt:lpstr>
      <vt:lpstr>Waterfall Process Model</vt:lpstr>
      <vt:lpstr>Prototyping Process Model</vt:lpstr>
      <vt:lpstr>Spiral Process Model</vt:lpstr>
      <vt:lpstr>Unified Process Model</vt:lpstr>
      <vt:lpstr>Prescriptive Process Models 2</vt:lpstr>
      <vt:lpstr>Homework</vt:lpstr>
      <vt:lpstr>End of Main Content</vt:lpstr>
      <vt:lpstr>Accessibility Content: Text Alternatives for Images</vt:lpstr>
      <vt:lpstr>Generic Process Model – Text Alternative</vt:lpstr>
      <vt:lpstr>Process Flow – Text Alternative</vt:lpstr>
      <vt:lpstr>Waterfall Process model – Text Alternative</vt:lpstr>
      <vt:lpstr>Prototyping Process Model – Text Alternative</vt:lpstr>
      <vt:lpstr>Spiral Process Model – Text Alternative</vt:lpstr>
      <vt:lpstr>Unified Process Model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张 海宁</cp:lastModifiedBy>
  <cp:revision>59</cp:revision>
  <dcterms:created xsi:type="dcterms:W3CDTF">2019-01-22T22:04:31Z</dcterms:created>
  <dcterms:modified xsi:type="dcterms:W3CDTF">2023-09-05T12:41:00Z</dcterms:modified>
</cp:coreProperties>
</file>