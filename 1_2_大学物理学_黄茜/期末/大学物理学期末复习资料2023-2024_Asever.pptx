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619" r:id="rId3"/>
    <p:sldId id="592" r:id="rId4"/>
    <p:sldId id="707" r:id="rId5"/>
    <p:sldId id="708" r:id="rId6"/>
    <p:sldId id="709" r:id="rId7"/>
    <p:sldId id="710" r:id="rId8"/>
    <p:sldId id="711" r:id="rId9"/>
    <p:sldId id="712" r:id="rId10"/>
    <p:sldId id="841" r:id="rId11"/>
    <p:sldId id="842" r:id="rId12"/>
    <p:sldId id="843" r:id="rId13"/>
    <p:sldId id="844" r:id="rId14"/>
    <p:sldId id="845" r:id="rId15"/>
    <p:sldId id="846" r:id="rId16"/>
    <p:sldId id="775" r:id="rId17"/>
    <p:sldId id="776" r:id="rId18"/>
    <p:sldId id="777" r:id="rId19"/>
    <p:sldId id="778" r:id="rId20"/>
    <p:sldId id="779" r:id="rId21"/>
    <p:sldId id="780" r:id="rId22"/>
    <p:sldId id="781" r:id="rId23"/>
    <p:sldId id="791" r:id="rId24"/>
    <p:sldId id="792" r:id="rId25"/>
    <p:sldId id="796" r:id="rId26"/>
    <p:sldId id="79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56" y="1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F9E6C-F7B6-4D14-A2D6-8CB723C618CF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71991-9224-4DD5-AE76-3F0C7D905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25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00BC0-E8E3-41DB-A00C-3FF9ECB9819A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199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iew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946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D895A-E3D1-47A6-8E0A-59412DD78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60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6635B-3828-47C7-AF94-9DBB0986B8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2883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CC7F9-DB5B-4EDE-9233-1B8D21D145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154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F3BA1-9DC8-46DC-8538-31FAE8E7FD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418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F2ABB-D7B3-483B-99F8-F9C115DAAE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595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D993C-BC0C-49B1-BB24-1F87179235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747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A563B-4F8C-46EA-BA1B-9CAF9F1699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7254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AC546-14D7-4E7A-AF18-373238F09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1289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A8687-DD1B-4E80-8CAE-E331660360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533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3E08D-96A8-4CD7-8B3E-10E384E042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552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B8910-CCA9-4560-8A7C-DA9DD79E69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824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fld id="{2BA09DD8-4154-472A-B8A3-3CB8DD3217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view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14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 descr="nklogo"/>
          <p:cNvPicPr>
            <a:picLocks noChangeAspect="1" noChangeArrowheads="1" noCrop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0261600" y="0"/>
            <a:ext cx="19304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985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3.wmf"/><Relationship Id="rId21" Type="http://schemas.openxmlformats.org/officeDocument/2006/relationships/image" Target="../media/image13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1.wmf"/><Relationship Id="rId25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4.wmf"/><Relationship Id="rId15" Type="http://schemas.openxmlformats.org/officeDocument/2006/relationships/image" Target="../media/image10.wmf"/><Relationship Id="rId23" Type="http://schemas.openxmlformats.org/officeDocument/2006/relationships/image" Target="../media/image14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6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3.bin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wmf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3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64.w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4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72.wmf"/><Relationship Id="rId3" Type="http://schemas.openxmlformats.org/officeDocument/2006/relationships/image" Target="../media/image65.wmf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56.bin"/><Relationship Id="rId2" Type="http://schemas.openxmlformats.org/officeDocument/2006/relationships/oleObject" Target="../embeddings/oleObject48.bin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57.bin"/><Relationship Id="rId4" Type="http://schemas.openxmlformats.org/officeDocument/2006/relationships/oleObject" Target="../embeddings/oleObject49.bin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2429C-F356-4D91-940D-2EC9D73EBF5C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22801" y="1443039"/>
          <a:ext cx="13255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177480" progId="Equation.DSMT4">
                  <p:embed/>
                </p:oleObj>
              </mc:Choice>
              <mc:Fallback>
                <p:oleObj name="Equation" r:id="rId2" imgW="507960" imgH="1774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2801" y="1443039"/>
                        <a:ext cx="1325563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119938" y="1428750"/>
          <a:ext cx="14287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28600" progId="Equation.DSMT4">
                  <p:embed/>
                </p:oleObj>
              </mc:Choice>
              <mc:Fallback>
                <p:oleObj name="Equation" r:id="rId4" imgW="647640" imgH="2286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19938" y="1428750"/>
                        <a:ext cx="1428750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885623" y="62068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质点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0278" y="62068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刚体（定轴转动）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95600" y="147917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运动方程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21038" y="227687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作功</a:t>
            </a:r>
          </a:p>
        </p:txBody>
      </p:sp>
      <p:sp>
        <p:nvSpPr>
          <p:cNvPr id="10" name="矩形 9"/>
          <p:cNvSpPr/>
          <p:nvPr/>
        </p:nvSpPr>
        <p:spPr>
          <a:xfrm>
            <a:off x="2561859" y="30732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动能定理</a:t>
            </a:r>
          </a:p>
        </p:txBody>
      </p:sp>
      <p:sp>
        <p:nvSpPr>
          <p:cNvPr id="11" name="矩形 10"/>
          <p:cNvSpPr/>
          <p:nvPr/>
        </p:nvSpPr>
        <p:spPr>
          <a:xfrm>
            <a:off x="2561859" y="37890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动量定理</a:t>
            </a:r>
          </a:p>
        </p:txBody>
      </p:sp>
      <p:sp>
        <p:nvSpPr>
          <p:cNvPr id="13" name="矩形 12"/>
          <p:cNvSpPr/>
          <p:nvPr/>
        </p:nvSpPr>
        <p:spPr>
          <a:xfrm>
            <a:off x="2536202" y="5225798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力矩定义：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4" name="Picture 23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483" y="5228367"/>
            <a:ext cx="1363865" cy="387996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sp>
        <p:nvSpPr>
          <p:cNvPr id="15" name="矩形 14"/>
          <p:cNvSpPr/>
          <p:nvPr/>
        </p:nvSpPr>
        <p:spPr>
          <a:xfrm>
            <a:off x="2556529" y="6063679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动量矩定义为：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6" name="Picture 23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483" y="6099929"/>
            <a:ext cx="1282239" cy="392758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454526" y="2209801"/>
          <a:ext cx="16621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03040" progId="Equation.DSMT4">
                  <p:embed/>
                </p:oleObj>
              </mc:Choice>
              <mc:Fallback>
                <p:oleObj name="Equation" r:id="rId8" imgW="685800" imgH="2030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54526" y="2209801"/>
                        <a:ext cx="1662113" cy="49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907016" y="2242369"/>
          <a:ext cx="2122684" cy="53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5920" imgH="253800" progId="Equation.DSMT4">
                  <p:embed/>
                </p:oleObj>
              </mc:Choice>
              <mc:Fallback>
                <p:oleObj name="Equation" r:id="rId10" imgW="1015920" imgH="25380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07016" y="2242369"/>
                        <a:ext cx="2122684" cy="530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832626" y="2897487"/>
          <a:ext cx="2324530" cy="719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393480" progId="Equation.DSMT4">
                  <p:embed/>
                </p:oleObj>
              </mc:Choice>
              <mc:Fallback>
                <p:oleObj name="Equation" r:id="rId12" imgW="1269720" imgH="39348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32626" y="2897487"/>
                        <a:ext cx="2324530" cy="719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398229" y="2897487"/>
          <a:ext cx="2157880" cy="73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600" imgH="393480" progId="Equation.DSMT4">
                  <p:embed/>
                </p:oleObj>
              </mc:Choice>
              <mc:Fallback>
                <p:oleObj name="Equation" r:id="rId14" imgW="1155600" imgH="39348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98229" y="2897487"/>
                        <a:ext cx="2157880" cy="735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041554" y="3815476"/>
          <a:ext cx="1286695" cy="50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20" imgH="228600" progId="Equation.DSMT4">
                  <p:embed/>
                </p:oleObj>
              </mc:Choice>
              <mc:Fallback>
                <p:oleObj name="Equation" r:id="rId16" imgW="583920" imgH="2286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41554" y="3815476"/>
                        <a:ext cx="1286695" cy="502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832351" y="3770313"/>
          <a:ext cx="12668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400" imgH="177480" progId="Equation.DSMT4">
                  <p:embed/>
                </p:oleObj>
              </mc:Choice>
              <mc:Fallback>
                <p:oleObj name="Equation" r:id="rId18" imgW="482400" imgH="17748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32351" y="3770313"/>
                        <a:ext cx="1266825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66009" y="4335403"/>
          <a:ext cx="2954338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47560" imgH="533160" progId="Equation.DSMT4">
                  <p:embed/>
                </p:oleObj>
              </mc:Choice>
              <mc:Fallback>
                <p:oleObj name="Equation" r:id="rId20" imgW="1447560" imgH="5331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66009" y="4335403"/>
                        <a:ext cx="2954338" cy="1087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32627" y="4377710"/>
          <a:ext cx="30241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50960" imgH="355320" progId="Equation.DSMT4">
                  <p:embed/>
                </p:oleObj>
              </mc:Choice>
              <mc:Fallback>
                <p:oleObj name="Equation" r:id="rId22" imgW="1650960" imgH="35532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32627" y="4377710"/>
                        <a:ext cx="3024187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329031" y="5182917"/>
          <a:ext cx="1916292" cy="433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66680" imgH="241200" progId="Equation.DSMT4">
                  <p:embed/>
                </p:oleObj>
              </mc:Choice>
              <mc:Fallback>
                <p:oleObj name="Equation" r:id="rId24" imgW="1066680" imgH="24120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329031" y="5182917"/>
                        <a:ext cx="1916292" cy="433447"/>
                      </a:xfrm>
                      <a:prstGeom prst="rect">
                        <a:avLst/>
                      </a:prstGeom>
                      <a:solidFill>
                        <a:srgbClr val="FF33CC"/>
                      </a:solidFill>
                      <a:ln>
                        <a:solidFill>
                          <a:srgbClr val="FFFF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129464" y="6015038"/>
          <a:ext cx="26431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84200" imgH="241200" progId="Equation.DSMT4">
                  <p:embed/>
                </p:oleObj>
              </mc:Choice>
              <mc:Fallback>
                <p:oleObj name="Equation" r:id="rId26" imgW="1384200" imgH="2412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29464" y="6015038"/>
                        <a:ext cx="2643187" cy="461962"/>
                      </a:xfrm>
                      <a:prstGeom prst="rect">
                        <a:avLst/>
                      </a:prstGeom>
                      <a:solidFill>
                        <a:srgbClr val="FF33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120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2429C-F356-4D91-940D-2EC9D73EBF5C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258092"/>
            <a:ext cx="5328592" cy="642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8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1340768"/>
            <a:ext cx="91440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一、内容要点：</a:t>
            </a:r>
            <a:endParaRPr lang="en-US" altLang="zh-CN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库仑定律是静电场的基本规律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由此结合电场叠加原理导出了高斯定理和环路定理。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84250" indent="-98425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）库仑定律：电荷密度，点电荷，库仑定律，静电力叠加原理。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84250" indent="-984250">
              <a:buNone/>
            </a:pPr>
            <a:r>
              <a:rPr lang="zh-CN" altLang="en-US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）高斯定理：电场矢量，电场叠加原理，电场矢量通量，高斯定理。</a:t>
            </a:r>
            <a:endParaRPr lang="en-US" altLang="zh-CN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84250" indent="-984250">
              <a:buNone/>
            </a:pPr>
            <a:r>
              <a:rPr lang="zh-CN" altLang="en-US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）环路定理：环路定理，电势，电势差，电势梯度，电势能。</a:t>
            </a:r>
            <a:endParaRPr lang="en-US" altLang="zh-CN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524000" y="481220"/>
            <a:ext cx="9144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b="1" kern="0" noProof="0" dirty="0">
                <a:latin typeface="仿宋" panose="02010609060101010101" pitchFamily="49" charset="-122"/>
                <a:ea typeface="仿宋" panose="02010609060101010101" pitchFamily="49" charset="-122"/>
              </a:rPr>
              <a:t>小结</a:t>
            </a:r>
            <a:endParaRPr lang="zh-CN" altLang="en-US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048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43572" y="764704"/>
                <a:ext cx="7740860" cy="576064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二、基础性问题：</a:t>
                </a:r>
                <a:endPara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	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主要题型是求电场矢量及电</a:t>
                </a:r>
                <a:r>
                  <a:rPr lang="zh-CN" altLang="en-US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势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（已知电荷分布）。根据电荷分布类型可分为下列几种。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、点电荷：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电场矢量：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𝑄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电位：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𝑈</m:t>
                    </m:r>
                    <m:r>
                      <a:rPr lang="en-US" altLang="zh-CN" b="0" i="1" smtClean="0">
                        <a:latin typeface="Cambria Math"/>
                      </a:rPr>
                      <m:t>=       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	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（参考点是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∞</m:t>
                    </m:r>
                    <m:r>
                      <a:rPr lang="zh-CN" altLang="en-US" b="0" i="1" smtClean="0">
                        <a:latin typeface="Cambria Math"/>
                      </a:rPr>
                      <m:t>）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3572" y="764704"/>
                <a:ext cx="7740860" cy="5760640"/>
              </a:xfrm>
              <a:blipFill>
                <a:blip r:embed="rId2"/>
                <a:stretch>
                  <a:fillRect l="-1575" t="-2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897" y="3612366"/>
            <a:ext cx="714375" cy="742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1" y="4437112"/>
            <a:ext cx="7143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8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99556" y="659405"/>
                <a:ext cx="8208912" cy="58326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、线电荷：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如图所示带电直线在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P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点产生的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电场矢量分下列两种情况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）直线无线长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      </m:t>
                        </m:r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）当直线有限长时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   </m:t>
                        </m:r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𝐸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    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𝜆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/>
                      </a:rPr>
                      <m:t>（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altLang="zh-CN" i="1">
                        <a:latin typeface="Cambria Math"/>
                      </a:rPr>
                      <m:t>−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CN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9556" y="659405"/>
                <a:ext cx="8208912" cy="5832648"/>
              </a:xfrm>
              <a:blipFill>
                <a:blip r:embed="rId2"/>
                <a:stretch>
                  <a:fillRect l="-1485" t="-2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7608168" y="980728"/>
            <a:ext cx="0" cy="41044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620148" y="1484784"/>
            <a:ext cx="0" cy="309634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614159" y="1484784"/>
            <a:ext cx="996132" cy="1585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7620148" y="3032956"/>
            <a:ext cx="984152" cy="15481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弧形 24"/>
          <p:cNvSpPr/>
          <p:nvPr/>
        </p:nvSpPr>
        <p:spPr>
          <a:xfrm>
            <a:off x="7462527" y="1448488"/>
            <a:ext cx="418058" cy="447513"/>
          </a:xfrm>
          <a:prstGeom prst="arc">
            <a:avLst>
              <a:gd name="adj1" fmla="val 14842787"/>
              <a:gd name="adj2" fmla="val 29393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弧形 28"/>
          <p:cNvSpPr/>
          <p:nvPr/>
        </p:nvSpPr>
        <p:spPr>
          <a:xfrm flipH="1" flipV="1">
            <a:off x="7600428" y="3845815"/>
            <a:ext cx="511797" cy="40147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8604300" y="3032956"/>
            <a:ext cx="10921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8604301" y="3032956"/>
            <a:ext cx="16519" cy="11881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8620820" y="3032956"/>
            <a:ext cx="1075581" cy="108554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8256240" y="3032956"/>
            <a:ext cx="3480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7624688" y="3032956"/>
            <a:ext cx="38487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701" y="2824395"/>
            <a:ext cx="714375" cy="742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9" y="4271136"/>
            <a:ext cx="714375" cy="742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3" y="5049611"/>
            <a:ext cx="7143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3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87588" y="764704"/>
                <a:ext cx="7596844" cy="576064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）、圆环（半径为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）。带电圆环在轴线上离环心为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z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处产生的电场为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𝐸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/>
                            </a:rPr>
                            <m:t>𝜆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𝑅𝑧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/>
                          <a:ea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4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）、半圆（半径为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）。线电荷密度为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𝜆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的半圆在圆心处产生的电场为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𝐸</m:t>
                      </m:r>
                      <m:r>
                        <a:rPr lang="en-US" altLang="zh-CN" i="1">
                          <a:latin typeface="Cambria Math"/>
                        </a:rPr>
                        <m:t>=2</m:t>
                      </m:r>
                      <m:r>
                        <a:rPr lang="en-US" altLang="zh-CN" i="1">
                          <a:latin typeface="Cambria Math"/>
                        </a:rPr>
                        <m:t>𝑘</m:t>
                      </m:r>
                      <m:r>
                        <a:rPr lang="zh-CN" altLang="en-US" i="1">
                          <a:latin typeface="Cambria Math"/>
                        </a:rPr>
                        <m:t>𝜆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𝑅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7588" y="764704"/>
                <a:ext cx="7596844" cy="5760640"/>
              </a:xfrm>
              <a:blipFill>
                <a:blip r:embed="rId2"/>
                <a:stretch>
                  <a:fillRect l="-1685" t="-423" r="-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82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459088" y="908720"/>
                <a:ext cx="8208912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、面电荷：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）无限大平面，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𝜎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）球面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球面内，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r&lt;R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球面外，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𝑘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𝑄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  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r&gt;R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）球面，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=2</m:t>
                    </m:r>
                    <m:r>
                      <a:rPr lang="en-US" altLang="zh-CN" i="1">
                        <a:latin typeface="Cambria Math"/>
                      </a:rPr>
                      <m:t>𝑘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 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r&gt;R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4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）圆盘，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𝜎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/>
                      </a:rPr>
                      <m:t>（</m:t>
                    </m:r>
                    <m:r>
                      <a:rPr lang="en-US" altLang="zh-CN" i="1">
                        <a:latin typeface="Cambria Math"/>
                      </a:rPr>
                      <m:t>1−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i="1">
                        <a:latin typeface="Cambria Math"/>
                      </a:rPr>
                      <m:t> </m:t>
                    </m:r>
                    <m:r>
                      <a:rPr lang="zh-CN" altLang="en-US" i="1">
                        <a:latin typeface="Cambria Math"/>
                      </a:rPr>
                      <m:t>）</m:t>
                    </m:r>
                    <m:acc>
                      <m:accPr>
                        <m:chr m:val="⃗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9088" y="908720"/>
                <a:ext cx="8208912" cy="5832648"/>
              </a:xfrm>
              <a:blipFill>
                <a:blip r:embed="rId2"/>
                <a:stretch>
                  <a:fillRect l="-1485" t="-2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98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87588" y="728700"/>
                <a:ext cx="8280412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4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、体电荷：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）球体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    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  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r&gt;R,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球体外）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</m:t>
                    </m:r>
                    <m:r>
                      <a:rPr lang="en-US" altLang="zh-CN" i="1">
                        <a:latin typeface="Cambria Math"/>
                      </a:rPr>
                      <m:t>=     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𝜌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 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r&lt;R,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球体内）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）柱体</a:t>
                </a:r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𝜌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r&lt;R,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柱体内）</a:t>
                </a:r>
                <a:endPara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𝜌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r&gt;R,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柱体外）</a:t>
                </a:r>
                <a:endParaRPr lang="zh-CN" altLang="en-US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7588" y="728700"/>
                <a:ext cx="8280412" cy="5832648"/>
              </a:xfrm>
              <a:blipFill>
                <a:blip r:embed="rId2"/>
                <a:stretch>
                  <a:fillRect l="-1546" t="-2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70" y="1816553"/>
            <a:ext cx="714375" cy="742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2535011"/>
            <a:ext cx="7143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2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99556" y="1274777"/>
                <a:ext cx="8424936" cy="54726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一、静电场中的导体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、静电平衡条件：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内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（内部电荷无定向运动）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、导体性质（静电平衡）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内</m:t>
                        </m:r>
                      </m:sub>
                    </m:sSub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en-US" altLang="zh-CN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外</m:t>
                        </m:r>
                      </m:sub>
                    </m:sSub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𝜎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，方向与表面正交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）电位：导体为等位体，其表面为等位面。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2238375" indent="-2238375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）电荷：只分布在表面上。曲率越大，电荷面密度越大。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9556" y="1274777"/>
                <a:ext cx="8424936" cy="5472608"/>
              </a:xfrm>
              <a:blipFill>
                <a:blip r:embed="rId2"/>
                <a:stretch>
                  <a:fillRect l="-1447" t="-1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1703512" y="332656"/>
            <a:ext cx="8640960" cy="93610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231705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764704"/>
            <a:ext cx="8208912" cy="5832648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、导体空腔的性质：</a:t>
            </a:r>
            <a:endParaRPr lang="en-US" altLang="zh-CN" sz="24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6987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、腔内无电荷：</a:t>
            </a:r>
            <a:endParaRPr lang="en-US" altLang="zh-CN" sz="24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）空腔的内表面不存在电荷；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）腔内无电场；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）腔内电位为常数。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6987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、腔内有电荷：</a:t>
            </a:r>
            <a:endParaRPr lang="en-US" altLang="zh-CN" sz="24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）导体空腔的内表面上的电荷与腔内的电荷等值异号；</a:t>
            </a:r>
            <a:endParaRPr lang="en-US" altLang="zh-CN" sz="24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）腔内的电场与电位分布都由腔内电荷决定；</a:t>
            </a:r>
            <a:endParaRPr lang="en-US" altLang="zh-CN" sz="24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）腔内表面电荷分布与腔外情况无关，整个空间的电场和电位分布都受腔内电荷影响；</a:t>
            </a:r>
            <a:endParaRPr lang="en-US" altLang="zh-CN" sz="24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）将</a:t>
            </a:r>
            <a:r>
              <a:rPr kumimoji="1"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空腔外壁接地，腔外电场及电位分布不受腔内电荷影响。</a:t>
            </a:r>
          </a:p>
        </p:txBody>
      </p:sp>
    </p:spTree>
    <p:extLst>
      <p:ext uri="{BB962C8B-B14F-4D97-AF65-F5344CB8AC3E}">
        <p14:creationId xmlns:p14="http://schemas.microsoft.com/office/powerpoint/2010/main" val="319391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83532" y="872717"/>
            <a:ext cx="8064896" cy="2208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二、静电场中的电介质</a:t>
            </a:r>
            <a:endParaRPr lang="en-US" altLang="zh-CN" sz="32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、极化</a:t>
            </a:r>
            <a:endParaRPr lang="en-US" altLang="zh-CN" sz="26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位移极化（无极分子，有极分子）</a:t>
            </a:r>
            <a:endParaRPr lang="en-US" altLang="zh-CN" sz="26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取向极化（有极分子）</a:t>
            </a:r>
          </a:p>
        </p:txBody>
      </p:sp>
      <p:graphicFrame>
        <p:nvGraphicFramePr>
          <p:cNvPr id="6" name="对象 5"/>
          <p:cNvGraphicFramePr>
            <a:graphicFrameLocks noGrp="1" noChangeAspect="1"/>
          </p:cNvGraphicFramePr>
          <p:nvPr/>
        </p:nvGraphicFramePr>
        <p:xfrm>
          <a:off x="2329779" y="3081013"/>
          <a:ext cx="7632848" cy="110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57200" progId="Equation.DSMT4">
                  <p:embed/>
                </p:oleObj>
              </mc:Choice>
              <mc:Fallback>
                <p:oleObj name="Equation" r:id="rId2" imgW="3200400" imgH="457200" progId="Equation.DSMT4">
                  <p:embed/>
                  <p:pic>
                    <p:nvPicPr>
                      <p:cNvPr id="6" name="对象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779" y="3081013"/>
                        <a:ext cx="7632848" cy="1105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74269" y="4329100"/>
                <a:ext cx="8208912" cy="2268252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、高斯定律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⋅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，</a:t>
                </a:r>
                <a:r>
                  <a:rPr lang="zh-CN" altLang="en-US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式中</a:t>
                </a:r>
                <a:r>
                  <a:rPr lang="en-US" altLang="zh-CN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D</a:t>
                </a:r>
                <a:r>
                  <a:rPr lang="zh-CN" altLang="en-US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为电位移矢量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。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𝑟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𝜀</m:t>
                    </m:r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zh-CN" altLang="en-US" i="1">
                        <a:solidFill>
                          <a:prstClr val="black"/>
                        </a:solidFill>
                        <a:latin typeface="Cambria Math"/>
                      </a:rPr>
                      <m:t>（各向同性线性电介质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）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7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269" y="4329100"/>
                <a:ext cx="8208912" cy="2268252"/>
              </a:xfrm>
              <a:blipFill>
                <a:blip r:embed="rId4"/>
                <a:stretch>
                  <a:fillRect l="-1485" t="-4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43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19450" y="692696"/>
                <a:ext cx="8208912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三、电容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、电容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𝐶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𝑈</m:t>
                        </m:r>
                      </m:den>
                    </m:f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（电容只与自身的形状、尺寸、相对位置、极间介质有关。）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、联接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）串联：                    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）并联：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450" y="692696"/>
                <a:ext cx="8208912" cy="5832648"/>
              </a:xfrm>
              <a:blipFill>
                <a:blip r:embed="rId2"/>
                <a:stretch>
                  <a:fillRect l="-1485" t="-1883" r="-1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058832" y="4949124"/>
          <a:ext cx="19050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34680" imgH="431640" progId="Equation.3">
                  <p:embed/>
                </p:oleObj>
              </mc:Choice>
              <mc:Fallback>
                <p:oleObj name="公式" r:id="rId3" imgW="634680" imgH="43164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8832" y="4949124"/>
                        <a:ext cx="19050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847694" y="3609021"/>
          <a:ext cx="2116138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61760" imgH="444240" progId="Equation.3">
                  <p:embed/>
                </p:oleObj>
              </mc:Choice>
              <mc:Fallback>
                <p:oleObj name="公式" r:id="rId5" imgW="761760" imgH="44424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694" y="3609021"/>
                        <a:ext cx="2116138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56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764704"/>
            <a:ext cx="8208912" cy="58326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、典型电容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）孤立导体球：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）平行板电容器：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）同心球形电容器：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）同轴柱形电容器：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087889" y="1340768"/>
          <a:ext cx="247612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0680" imgH="241200" progId="Equation.3">
                  <p:embed/>
                </p:oleObj>
              </mc:Choice>
              <mc:Fallback>
                <p:oleObj name="公式" r:id="rId2" imgW="850680" imgH="2412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9" y="1340768"/>
                        <a:ext cx="2476122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447928" y="2348880"/>
          <a:ext cx="2160240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2840" imgH="393480" progId="Equation.3">
                  <p:embed/>
                </p:oleObj>
              </mc:Choice>
              <mc:Fallback>
                <p:oleObj name="公式" r:id="rId4" imgW="672840" imgH="39348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2348880"/>
                        <a:ext cx="2160240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951984" y="3501008"/>
          <a:ext cx="2801938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28520" imgH="431640" progId="Equation.3">
                  <p:embed/>
                </p:oleObj>
              </mc:Choice>
              <mc:Fallback>
                <p:oleObj name="公式" r:id="rId6" imgW="1028520" imgH="43164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3501008"/>
                        <a:ext cx="2801938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51984" y="4653136"/>
          <a:ext cx="2249488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25480" imgH="622080" progId="Equation.3">
                  <p:embed/>
                </p:oleObj>
              </mc:Choice>
              <mc:Fallback>
                <p:oleObj name="公式" r:id="rId8" imgW="825480" imgH="62208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4653136"/>
                        <a:ext cx="2249488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909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75520" y="764704"/>
                <a:ext cx="8280920" cy="590465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四、电场能量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、电容储能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/>
                      </a:rPr>
                      <m:t>：</m:t>
                    </m:r>
                    <m:r>
                      <a:rPr lang="en-US" altLang="zh-CN" b="0" i="1" smtClean="0">
                        <a:latin typeface="Cambria Math"/>
                      </a:rPr>
                      <m:t>𝑊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𝐶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𝑈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𝑄𝑈</m:t>
                    </m:r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、电场能量密度：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𝑤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zh-CN" altLang="en-US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各向同性介质：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𝑤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𝐷𝐸</m:t>
                    </m:r>
                    <m:r>
                      <a:rPr lang="en-US" altLang="zh-CN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𝑟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zh-CN" altLang="en-US" b="0" i="1" smtClean="0">
                        <a:solidFill>
                          <a:prstClr val="black"/>
                        </a:solidFill>
                        <a:latin typeface="Cambria Math"/>
                      </a:rPr>
                      <m:t>𝜀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真空：</a:t>
                </a:r>
                <a:r>
                  <a:rPr lang="en-US" altLang="zh-CN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𝑤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0</m:t>
                            </m:r>
                          </m:sub>
                          <m:sup/>
                        </m:sSub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、电场能量计算</a:t>
                </a:r>
                <a:endParaRPr lang="en-US" altLang="zh-CN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𝑑𝑉</m:t>
                          </m:r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</m:acc>
                        </m:e>
                      </m:nary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𝑑𝑉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5520" y="764704"/>
                <a:ext cx="8280920" cy="5904656"/>
              </a:xfrm>
              <a:blipFill>
                <a:blip r:embed="rId3"/>
                <a:stretch>
                  <a:fillRect l="-1472" t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93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1504" y="332656"/>
            <a:ext cx="8856984" cy="936104"/>
          </a:xfrm>
        </p:spPr>
        <p:txBody>
          <a:bodyPr>
            <a:no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1268760"/>
            <a:ext cx="8892480" cy="532859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2"/>
              <p:cNvSpPr txBox="1">
                <a:spLocks noChangeArrowheads="1"/>
              </p:cNvSpPr>
              <p:nvPr/>
            </p:nvSpPr>
            <p:spPr bwMode="auto">
              <a:xfrm>
                <a:off x="1776028" y="1340768"/>
                <a:ext cx="8604448" cy="48320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一、稳恒磁场的基本特性</a:t>
                </a:r>
                <a:endParaRPr kumimoji="1" lang="en-US" altLang="zh-CN" sz="2800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、环路</a:t>
                </a:r>
                <a14:m>
                  <m:oMath xmlns:m="http://schemas.openxmlformats.org/officeDocument/2006/math">
                    <m:r>
                      <a:rPr kumimoji="1" lang="zh-CN" altLang="en-US" sz="2800" i="1" dirty="0">
                        <a:solidFill>
                          <a:prstClr val="black"/>
                        </a:solidFill>
                        <a:latin typeface="Cambria Math"/>
                      </a:rPr>
                      <m:t>定理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：</a:t>
                </a: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稳恒磁场不是保守场，不可能像电场那样引入位函数。</a:t>
                </a: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、高斯定理：</a:t>
                </a: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说明磁力线总是闭合的，或者说，磁荷（磁单极）是不存在的。</a:t>
                </a:r>
                <a:endParaRPr kumimoji="1" lang="en-US" altLang="zh-CN" sz="2800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6028" y="1340768"/>
                <a:ext cx="8604448" cy="4832092"/>
              </a:xfrm>
              <a:prstGeom prst="rect">
                <a:avLst/>
              </a:prstGeom>
              <a:blipFill>
                <a:blip r:embed="rId2"/>
                <a:stretch>
                  <a:fillRect l="-1416" t="-1387" r="-2762" b="-25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979877" y="2204865"/>
          <a:ext cx="29194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368280" progId="Equation.DSMT4">
                  <p:embed/>
                </p:oleObj>
              </mc:Choice>
              <mc:Fallback>
                <p:oleObj name="Equation" r:id="rId3" imgW="1066680" imgH="3682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877" y="2204865"/>
                        <a:ext cx="291941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871864" y="4062013"/>
          <a:ext cx="258445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380880" progId="Equation.DSMT4">
                  <p:embed/>
                </p:oleObj>
              </mc:Choice>
              <mc:Fallback>
                <p:oleObj name="Equation" r:id="rId5" imgW="787320" imgH="3808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4062013"/>
                        <a:ext cx="2584450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4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27548" y="728700"/>
                <a:ext cx="8208912" cy="58326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二、重要公式</a:t>
                </a:r>
                <a:endPara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、毕</a:t>
                </a: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-</a:t>
                </a:r>
                <a:r>
                  <a:rPr lang="zh-CN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萨定律：</a:t>
                </a:r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𝑘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acc>
                            <m:accPr>
                              <m:chr m:val="̂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prstClr val="black"/>
                        </a:solidFill>
                        <a:latin typeface="Cambria Math"/>
                      </a:rPr>
                      <m:t>𝑘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/>
                      </a:rPr>
                      <m:t>=4</m:t>
                    </m:r>
                    <m:r>
                      <a:rPr lang="zh-CN" altLang="en-US" i="1" dirty="0">
                        <a:solidFill>
                          <a:prstClr val="black"/>
                        </a:solidFill>
                        <a:latin typeface="Cambria Math"/>
                      </a:rPr>
                      <m:t>𝜋</m:t>
                    </m:r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−7</m:t>
                        </m:r>
                      </m:sup>
                    </m:sSup>
                    <m:r>
                      <a:rPr lang="zh-CN" altLang="en-US" i="1" dirty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亨</m:t>
                    </m:r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/</m:t>
                    </m:r>
                    <m:r>
                      <a:rPr lang="zh-CN" altLang="en-US" i="1" dirty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米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，为真空中的磁导率。</a:t>
                </a:r>
                <a:endPara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rPr>
                  <a:t>叠加原理：</a:t>
                </a:r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	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导线</a:t>
                </a:r>
                <a:r>
                  <a:rPr lang="en-US" altLang="zh-CN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L</a:t>
                </a:r>
                <a:r>
                  <a:rPr lang="zh-CN" altLang="en-US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产生的磁场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𝑙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  <a:latin typeface="宋体" charset="-122"/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27548" y="728700"/>
                <a:ext cx="8208912" cy="5832648"/>
              </a:xfrm>
              <a:blipFill>
                <a:blip r:embed="rId2"/>
                <a:stretch>
                  <a:fillRect l="-1932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602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6405" y="669785"/>
            <a:ext cx="8208912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、安培定律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784476" y="1520826"/>
          <a:ext cx="3455541" cy="2015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711000" progId="Equation.DSMT4">
                  <p:embed/>
                </p:oleObj>
              </mc:Choice>
              <mc:Fallback>
                <p:oleObj name="Equation" r:id="rId2" imgW="1218960" imgH="7110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4476" y="1520826"/>
                        <a:ext cx="3455541" cy="2015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784476" y="3789040"/>
          <a:ext cx="3701951" cy="2094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711000" progId="Equation.DSMT4">
                  <p:embed/>
                </p:oleObj>
              </mc:Choice>
              <mc:Fallback>
                <p:oleObj name="Equation" r:id="rId4" imgW="1257120" imgH="7110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6" y="3789040"/>
                        <a:ext cx="3701951" cy="2094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579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764704"/>
            <a:ext cx="8208912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、安培公式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载流直导线在均匀磁场中受力：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    安培力是洛伦兹力的宏观效应。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、磁力矩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平面线圈在均匀磁场中所受磁力矩：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      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平面载流线圈磁矩矢量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87589" y="1340768"/>
          <a:ext cx="2232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203040" progId="Equation.DSMT4">
                  <p:embed/>
                </p:oleObj>
              </mc:Choice>
              <mc:Fallback>
                <p:oleObj name="Equation" r:id="rId2" imgW="812520" imgH="2030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7589" y="1340768"/>
                        <a:ext cx="22320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198938" y="4127501"/>
          <a:ext cx="220186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241200" progId="Equation.DSMT4">
                  <p:embed/>
                </p:oleObj>
              </mc:Choice>
              <mc:Fallback>
                <p:oleObj name="Equation" r:id="rId4" imgW="73656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8938" y="4127501"/>
                        <a:ext cx="2201862" cy="72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500157" y="2024845"/>
          <a:ext cx="1882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190440" progId="Equation.DSMT4">
                  <p:embed/>
                </p:oleObj>
              </mc:Choice>
              <mc:Fallback>
                <p:oleObj name="Equation" r:id="rId6" imgW="685800" imgH="1904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157" y="2024845"/>
                        <a:ext cx="1882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52876" y="5553076"/>
          <a:ext cx="29622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241200" progId="Equation.DSMT4">
                  <p:embed/>
                </p:oleObj>
              </mc:Choice>
              <mc:Fallback>
                <p:oleObj name="Equation" r:id="rId8" imgW="990360" imgH="2412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6" y="5553076"/>
                        <a:ext cx="29622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390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03512" y="764704"/>
                <a:ext cx="8208912" cy="583264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5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、洛伦兹力</a:t>
                </a:r>
                <a:endParaRPr lang="en-US" altLang="zh-CN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</a:rPr>
                            <m:t>𝐹</m:t>
                          </m:r>
                        </m:e>
                      </m:acc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en-US" altLang="zh-CN" i="1">
                          <a:latin typeface="Cambria Math"/>
                          <a:ea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1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）只作用于运动电荷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  <a:sym typeface="Wingdings" pitchFamily="2" charset="2"/>
                </a:endParaRPr>
              </a:p>
              <a:p>
                <a:pPr marL="1077913" indent="-1077913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2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）力与速度垂直，只改变方向，不改变速   率。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（</a:t>
                </a:r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3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  <a:sym typeface="Wingdings" pitchFamily="2" charset="2"/>
                  </a:rPr>
                  <a:t>）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  <a:sym typeface="Wingdings" pitchFamily="2" charset="2"/>
                          </a:rPr>
                          <m:t>𝐹</m:t>
                        </m:r>
                      </m:e>
                    </m:acc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垂直。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764704"/>
                <a:ext cx="8208912" cy="5832648"/>
              </a:xfrm>
              <a:blipFill>
                <a:blip r:embed="rId2"/>
                <a:stretch>
                  <a:fillRect l="-1707" t="-1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496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764704"/>
            <a:ext cx="8208912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三、主要问题</a:t>
            </a:r>
            <a:endParaRPr lang="en-US" altLang="zh-CN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、已知电流分布，求磁感应强度矢量分布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 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）毕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萨定律、磁场叠加原理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）安培环路定理（有时结合磁场叠加原理）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、磁场力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   载流导线所受安培力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安培公式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   运动电荷所受磁力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洛伦兹力公式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9248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03512" y="764704"/>
                <a:ext cx="8208912" cy="58326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四、重要结论：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无限长载流直导线产生的磁场：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无限大载流平面产生的磁场：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无限长载流螺线管内部磁场：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2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长直载流螺线管中部磁场：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长直载流螺线管两端磁场：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螺绕环（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𝑅</m:t>
                    </m:r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≫</m:t>
                    </m:r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）管内磁场：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764704"/>
                <a:ext cx="8208912" cy="5832648"/>
              </a:xfrm>
              <a:blipFill>
                <a:blip r:embed="rId2"/>
                <a:stretch>
                  <a:fillRect l="-1856" t="-1358" b="-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392144" y="1157622"/>
          <a:ext cx="1795462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393480" progId="Equation.DSMT4">
                  <p:embed/>
                </p:oleObj>
              </mc:Choice>
              <mc:Fallback>
                <p:oleObj name="Equation" r:id="rId3" imgW="63468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1157622"/>
                        <a:ext cx="1795462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068108" y="2060848"/>
          <a:ext cx="164465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5760" imgH="393480" progId="Equation.DSMT4">
                  <p:embed/>
                </p:oleObj>
              </mc:Choice>
              <mc:Fallback>
                <p:oleObj name="Equation" r:id="rId5" imgW="54576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8108" y="2060848"/>
                        <a:ext cx="164465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996100" y="3324536"/>
          <a:ext cx="168433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228600" progId="Equation.DSMT4">
                  <p:embed/>
                </p:oleObj>
              </mc:Choice>
              <mc:Fallback>
                <p:oleObj name="Equation" r:id="rId7" imgW="596880" imgH="2286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100" y="3324536"/>
                        <a:ext cx="168433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00057" y="4113077"/>
          <a:ext cx="168433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900" imgH="228600" progId="Equation.DSMT4">
                  <p:embed/>
                </p:oleObj>
              </mc:Choice>
              <mc:Fallback>
                <p:oleObj name="Equation" r:id="rId9" imgW="596900" imgH="2286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7" y="4113077"/>
                        <a:ext cx="168433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546850" y="4761148"/>
          <a:ext cx="20081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393480" progId="Equation.DSMT4">
                  <p:embed/>
                </p:oleObj>
              </mc:Choice>
              <mc:Fallback>
                <p:oleObj name="Equation" r:id="rId10" imgW="711000" imgH="3934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850" y="4761148"/>
                        <a:ext cx="20081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52084" y="5952828"/>
          <a:ext cx="168433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900" imgH="228600" progId="Equation.DSMT4">
                  <p:embed/>
                </p:oleObj>
              </mc:Choice>
              <mc:Fallback>
                <p:oleObj name="Equation" r:id="rId12" imgW="596900" imgH="228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084" y="5952828"/>
                        <a:ext cx="168433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045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991544" y="764705"/>
            <a:ext cx="8172908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kern="0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三、有磁介质时的高斯定理和安培环路定理</a:t>
            </a:r>
            <a:endParaRPr lang="en-US" altLang="zh-CN" sz="3200" b="1" kern="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99556" y="1865382"/>
            <a:ext cx="820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32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高斯定理：</a:t>
            </a:r>
            <a:endParaRPr lang="en-US" altLang="zh-CN" sz="32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zh-CN" altLang="en-US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199317" y="2862139"/>
          <a:ext cx="17573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80880" progId="Equation.DSMT4">
                  <p:embed/>
                </p:oleObj>
              </mc:Choice>
              <mc:Fallback>
                <p:oleObj name="Equation" r:id="rId2" imgW="685800" imgH="3808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317" y="2862139"/>
                        <a:ext cx="175736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05540" y="4106544"/>
          <a:ext cx="8018028" cy="56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228600" progId="Equation.DSMT4">
                  <p:embed/>
                </p:oleObj>
              </mc:Choice>
              <mc:Fallback>
                <p:oleObj name="Equation" r:id="rId4" imgW="3251160" imgH="2286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540" y="4106544"/>
                        <a:ext cx="8018028" cy="562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846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3" name="TextBox 3"/>
          <p:cNvSpPr txBox="1"/>
          <p:nvPr/>
        </p:nvSpPr>
        <p:spPr>
          <a:xfrm>
            <a:off x="2135560" y="728700"/>
            <a:ext cx="820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32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安培环路定理：</a:t>
            </a:r>
            <a:endParaRPr lang="en-US" altLang="zh-CN" sz="32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en-US" altLang="zh-CN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endParaRPr lang="zh-CN" altLang="en-US" sz="32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55841" y="1462820"/>
          <a:ext cx="261461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279360" progId="Equation.DSMT4">
                  <p:embed/>
                </p:oleObj>
              </mc:Choice>
              <mc:Fallback>
                <p:oleObj name="Equation" r:id="rId2" imgW="1028520" imgH="279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5841" y="1462820"/>
                        <a:ext cx="2614613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334122" y="240833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其中</a:t>
            </a:r>
            <a:endParaRPr lang="zh-CN" altLang="en-US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10408" y="2464519"/>
          <a:ext cx="6666012" cy="567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1760" imgH="241200" progId="Equation.DSMT4">
                  <p:embed/>
                </p:oleObj>
              </mc:Choice>
              <mc:Fallback>
                <p:oleObj name="Equation" r:id="rId4" imgW="2831760" imgH="2412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408" y="2464519"/>
                        <a:ext cx="6666012" cy="567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01008" y="3076586"/>
          <a:ext cx="6825387" cy="53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20680" imgH="228600" progId="Equation.DSMT4">
                  <p:embed/>
                </p:oleObj>
              </mc:Choice>
              <mc:Fallback>
                <p:oleObj name="Equation" r:id="rId6" imgW="292068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008" y="3076586"/>
                        <a:ext cx="6825387" cy="532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58914" y="4019425"/>
          <a:ext cx="5969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87520" imgH="279360" progId="Equation.DSMT4">
                  <p:embed/>
                </p:oleObj>
              </mc:Choice>
              <mc:Fallback>
                <p:oleObj name="Equation" r:id="rId8" imgW="2387520" imgH="279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58914" y="4019425"/>
                        <a:ext cx="59690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8900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666665"/>
            <a:ext cx="8208912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027548" y="836713"/>
          <a:ext cx="2716212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79360" progId="Equation.DSMT4">
                  <p:embed/>
                </p:oleObj>
              </mc:Choice>
              <mc:Fallback>
                <p:oleObj name="Equation" r:id="rId2" imgW="1117440" imgH="2793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27548" y="836713"/>
                        <a:ext cx="2716212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97050" y="2672917"/>
          <a:ext cx="7806672" cy="1116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457200" progId="Equation.DSMT4">
                  <p:embed/>
                </p:oleObj>
              </mc:Choice>
              <mc:Fallback>
                <p:oleObj name="Equation" r:id="rId4" imgW="3200400" imgH="457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7050" y="2672917"/>
                        <a:ext cx="7806672" cy="1116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057775" y="692150"/>
          <a:ext cx="484505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680" imgH="431640" progId="Equation.DSMT4">
                  <p:embed/>
                </p:oleObj>
              </mc:Choice>
              <mc:Fallback>
                <p:oleObj name="Equation" r:id="rId6" imgW="1993680" imgH="4316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692150"/>
                        <a:ext cx="484505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49600" y="1700213"/>
          <a:ext cx="39814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457200" progId="Equation.DSMT4">
                  <p:embed/>
                </p:oleObj>
              </mc:Choice>
              <mc:Fallback>
                <p:oleObj name="Equation" r:id="rId8" imgW="1638000" imgH="4572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1700213"/>
                        <a:ext cx="39814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75521" y="4437113"/>
          <a:ext cx="8147797" cy="684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27120" imgH="279360" progId="Equation.DSMT4">
                  <p:embed/>
                </p:oleObj>
              </mc:Choice>
              <mc:Fallback>
                <p:oleObj name="Equation" r:id="rId10" imgW="3327120" imgH="2793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4437113"/>
                        <a:ext cx="8147797" cy="684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39516" y="5229200"/>
          <a:ext cx="8111328" cy="54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38200" imgH="215640" progId="Equation.DSMT4">
                  <p:embed/>
                </p:oleObj>
              </mc:Choice>
              <mc:Fallback>
                <p:oleObj name="Equation" r:id="rId12" imgW="3238200" imgH="215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516" y="5229200"/>
                        <a:ext cx="8111328" cy="540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91644" y="5733257"/>
          <a:ext cx="22399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760" imgH="419040" progId="Equation.DSMT4">
                  <p:embed/>
                </p:oleObj>
              </mc:Choice>
              <mc:Fallback>
                <p:oleObj name="Equation" r:id="rId14" imgW="977760" imgH="419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644" y="5733257"/>
                        <a:ext cx="223996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811524" y="3776650"/>
          <a:ext cx="5730662" cy="58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49360" imgH="241200" progId="Equation.DSMT4">
                  <p:embed/>
                </p:oleObj>
              </mc:Choice>
              <mc:Fallback>
                <p:oleObj name="Equation" r:id="rId16" imgW="2349360" imgH="2412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524" y="3776650"/>
                        <a:ext cx="5730662" cy="58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4572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666665"/>
            <a:ext cx="8208912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20" imgH="215640" progId="Equation.3">
                  <p:embed/>
                </p:oleObj>
              </mc:Choice>
              <mc:Fallback>
                <p:oleObj name="公式" r:id="rId2" imgW="114120" imgH="21564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120" imgH="215640" progId="Equation.3">
                  <p:embed/>
                </p:oleObj>
              </mc:Choice>
              <mc:Fallback>
                <p:oleObj name="公式" r:id="rId4" imgW="114120" imgH="215640" progId="Equation.3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39517" y="800708"/>
          <a:ext cx="28463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03040" progId="Equation.DSMT4">
                  <p:embed/>
                </p:oleObj>
              </mc:Choice>
              <mc:Fallback>
                <p:oleObj name="Equation" r:id="rId5" imgW="1155600" imgH="203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9517" y="800708"/>
                        <a:ext cx="2846387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11524" y="3663368"/>
          <a:ext cx="262731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241200" progId="Equation.DSMT4">
                  <p:embed/>
                </p:oleObj>
              </mc:Choice>
              <mc:Fallback>
                <p:oleObj name="Equation" r:id="rId7" imgW="1066680" imgH="2412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1524" y="3663368"/>
                        <a:ext cx="2627312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75521" y="1916833"/>
          <a:ext cx="43148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52480" imgH="241200" progId="Equation.DSMT4">
                  <p:embed/>
                </p:oleObj>
              </mc:Choice>
              <mc:Fallback>
                <p:oleObj name="Equation" r:id="rId9" imgW="1752480" imgH="2412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1916833"/>
                        <a:ext cx="43148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15780" y="1304765"/>
          <a:ext cx="24384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0360" imgH="241200" progId="Equation.DSMT4">
                  <p:embed/>
                </p:oleObj>
              </mc:Choice>
              <mc:Fallback>
                <p:oleObj name="Equation" r:id="rId11" imgW="990360" imgH="2412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5780" y="1304765"/>
                        <a:ext cx="24384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82218" y="2517900"/>
          <a:ext cx="7850187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87440" imgH="457200" progId="Equation.DSMT4">
                  <p:embed/>
                </p:oleObj>
              </mc:Choice>
              <mc:Fallback>
                <p:oleObj name="Equation" r:id="rId13" imgW="3187440" imgH="4572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218" y="2517900"/>
                        <a:ext cx="7850187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39517" y="4269594"/>
          <a:ext cx="62214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27200" imgH="228600" progId="Equation.DSMT4">
                  <p:embed/>
                </p:oleObj>
              </mc:Choice>
              <mc:Fallback>
                <p:oleObj name="Equation" r:id="rId15" imgW="2527200" imgH="228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517" y="4269594"/>
                        <a:ext cx="62214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631504" y="5349714"/>
          <a:ext cx="81597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14520" imgH="228600" progId="Equation.DSMT4">
                  <p:embed/>
                </p:oleObj>
              </mc:Choice>
              <mc:Fallback>
                <p:oleObj name="Equation" r:id="rId17" imgW="331452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349714"/>
                        <a:ext cx="81597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547829" y="4851500"/>
          <a:ext cx="1781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23600" imgH="241200" progId="Equation.DSMT4">
                  <p:embed/>
                </p:oleObj>
              </mc:Choice>
              <mc:Fallback>
                <p:oleObj name="Equation" r:id="rId19" imgW="723600" imgH="241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7829" y="4851500"/>
                        <a:ext cx="1781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855146" y="5999374"/>
          <a:ext cx="13128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33160" imgH="228600" progId="Equation.DSMT4">
                  <p:embed/>
                </p:oleObj>
              </mc:Choice>
              <mc:Fallback>
                <p:oleObj name="Equation" r:id="rId21" imgW="53316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5146" y="5999374"/>
                        <a:ext cx="13128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46116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ankai膜版">
  <a:themeElements>
    <a:clrScheme name="nankai膜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ankai膜版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nankai膜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nkai膜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nkai膜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nkai膜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nkai膜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nkai膜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nkai膜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1132</Words>
  <Application>Microsoft Office PowerPoint</Application>
  <PresentationFormat>宽屏</PresentationFormat>
  <Paragraphs>172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仿宋</vt:lpstr>
      <vt:lpstr>宋体</vt:lpstr>
      <vt:lpstr>Arial</vt:lpstr>
      <vt:lpstr>Calibri</vt:lpstr>
      <vt:lpstr>Cambria Math</vt:lpstr>
      <vt:lpstr>Times New Roman</vt:lpstr>
      <vt:lpstr>WPS</vt:lpstr>
      <vt:lpstr>nankai膜版</vt:lpstr>
      <vt:lpstr>Equation</vt:lpstr>
      <vt:lpstr>公式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李尔里德</dc:creator>
  <cp:lastModifiedBy>尔里德 李</cp:lastModifiedBy>
  <cp:revision>3</cp:revision>
  <dcterms:created xsi:type="dcterms:W3CDTF">2023-08-09T12:44:55Z</dcterms:created>
  <dcterms:modified xsi:type="dcterms:W3CDTF">2024-06-21T16:49:00Z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