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2"/>
    <p:sldId id="412" r:id="rId3"/>
    <p:sldId id="413" r:id="rId4"/>
    <p:sldId id="431" r:id="rId5"/>
    <p:sldId id="437" r:id="rId6"/>
    <p:sldId id="432" r:id="rId7"/>
    <p:sldId id="438" r:id="rId8"/>
    <p:sldId id="43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0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43308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08" y="164"/>
      </p:cViewPr>
      <p:guideLst>
        <p:guide orient="horz" pos="2100"/>
        <p:guide pos="379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8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6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2024/11/18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RBTree</a:t>
            </a:r>
            <a:r>
              <a:rPr lang="zh-CN" altLang="en-US"/>
              <a:t>删除旋转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单击输入您的封面副标题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右旋</a:t>
            </a:r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3687445" y="3634740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4064000" y="34220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9" idx="3"/>
            <a:endCxn id="3" idx="3"/>
          </p:cNvCxnSpPr>
          <p:nvPr/>
        </p:nvCxnSpPr>
        <p:spPr>
          <a:xfrm flipH="1">
            <a:off x="3529965" y="4036060"/>
            <a:ext cx="222250" cy="1803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剪去同侧角的矩形 12"/>
          <p:cNvSpPr/>
          <p:nvPr/>
        </p:nvSpPr>
        <p:spPr>
          <a:xfrm>
            <a:off x="4207510" y="4216400"/>
            <a:ext cx="171450" cy="173355"/>
          </a:xfrm>
          <a:prstGeom prst="snip2SameRect">
            <a:avLst>
              <a:gd name="adj1" fmla="val 32592"/>
              <a:gd name="adj2" fmla="val 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>
            <a:stCxn id="9" idx="5"/>
            <a:endCxn id="13" idx="3"/>
          </p:cNvCxnSpPr>
          <p:nvPr/>
        </p:nvCxnSpPr>
        <p:spPr>
          <a:xfrm>
            <a:off x="4064000" y="4036060"/>
            <a:ext cx="229235" cy="1803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4207510" y="3020695"/>
            <a:ext cx="770890" cy="683260"/>
            <a:chOff x="6626" y="4757"/>
            <a:chExt cx="1214" cy="1076"/>
          </a:xfrm>
        </p:grpSpPr>
        <p:sp>
          <p:nvSpPr>
            <p:cNvPr id="5" name="椭圆 4"/>
            <p:cNvSpPr/>
            <p:nvPr/>
          </p:nvSpPr>
          <p:spPr>
            <a:xfrm>
              <a:off x="6626" y="4757"/>
              <a:ext cx="695" cy="74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剪去同侧角的矩形 16"/>
            <p:cNvSpPr/>
            <p:nvPr/>
          </p:nvSpPr>
          <p:spPr>
            <a:xfrm>
              <a:off x="7570" y="5596"/>
              <a:ext cx="270" cy="237"/>
            </a:xfrm>
            <a:prstGeom prst="snip2SameRect">
              <a:avLst>
                <a:gd name="adj1" fmla="val 40740"/>
                <a:gd name="adj2" fmla="val 0"/>
              </a:avLst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" name="直接箭头连接符 17"/>
            <p:cNvCxnSpPr>
              <a:stCxn id="5" idx="5"/>
            </p:cNvCxnSpPr>
            <p:nvPr/>
          </p:nvCxnSpPr>
          <p:spPr>
            <a:xfrm>
              <a:off x="7219" y="5389"/>
              <a:ext cx="413" cy="27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剪去同侧角的矩形 2"/>
          <p:cNvSpPr/>
          <p:nvPr/>
        </p:nvSpPr>
        <p:spPr>
          <a:xfrm>
            <a:off x="3444240" y="4216400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剪去同侧角的矩形 28"/>
          <p:cNvSpPr/>
          <p:nvPr/>
        </p:nvSpPr>
        <p:spPr>
          <a:xfrm>
            <a:off x="2861310" y="5165725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357245" y="5055235"/>
            <a:ext cx="42195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子树，实心为左子树，空心为右子树。颜色为旋转前父节点颜色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20 0.000004 L 0.021895 0.000004 C 0.031695 0.000004 0.043770 0.024869 0.043770 0.045051 L 0.043770 0.090096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" y="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3 0.000043 L 0.000003 -0.044588 C 0.000003 -0.064581 0.011532 -0.089217 0.020889 -0.089217 L 0.041774 -0.089217 " pathEditMode="relative" rAng="0" ptsTypes="">
                                      <p:cBhvr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" y="-44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8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5313 -0.000556 " pathEditMode="relative" rAng="0" ptsTypes="">
                                      <p:cBhvr>
                                        <p:cTn id="1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800000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4792 0.000370 " pathEditMode="relative" rAng="0" ptsTypes="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21458 -0.000648 " pathEditMode="relative" rAng="0" ptsTypes="">
                                      <p:cBhvr>
                                        <p:cTn id="2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2292 -0.087685 " pathEditMode="relative" ptsTypes="">
                                      <p:cBhvr>
                                        <p:cTn id="2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46 -0.001296 L 0.043802 -0.088611 " pathEditMode="relative" rAng="0" ptsTypes="">
                                      <p:cBhvr>
                                        <p:cTn id="2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" y="-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3" grpId="0" bldLvl="0" animBg="1"/>
      <p:bldP spid="3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左旋</a:t>
            </a:r>
          </a:p>
        </p:txBody>
      </p:sp>
      <p:sp>
        <p:nvSpPr>
          <p:cNvPr id="16" name="内容占位符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4677410" y="3622675"/>
            <a:ext cx="770890" cy="683260"/>
            <a:chOff x="6626" y="4757"/>
            <a:chExt cx="1214" cy="1076"/>
          </a:xfrm>
        </p:grpSpPr>
        <p:sp>
          <p:nvSpPr>
            <p:cNvPr id="11" name="椭圆 10"/>
            <p:cNvSpPr/>
            <p:nvPr/>
          </p:nvSpPr>
          <p:spPr>
            <a:xfrm>
              <a:off x="6626" y="4757"/>
              <a:ext cx="695" cy="74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剪去同侧角的矩形 18"/>
            <p:cNvSpPr/>
            <p:nvPr/>
          </p:nvSpPr>
          <p:spPr>
            <a:xfrm>
              <a:off x="7570" y="5560"/>
              <a:ext cx="270" cy="273"/>
            </a:xfrm>
            <a:prstGeom prst="snip2SameRect">
              <a:avLst>
                <a:gd name="adj1" fmla="val 34444"/>
                <a:gd name="adj2" fmla="val 0"/>
              </a:avLst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7259" y="5368"/>
              <a:ext cx="311" cy="27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/>
        </p:nvGrpSpPr>
        <p:grpSpPr>
          <a:xfrm>
            <a:off x="3907155" y="3020695"/>
            <a:ext cx="741045" cy="749300"/>
            <a:chOff x="6153" y="4757"/>
            <a:chExt cx="1167" cy="1180"/>
          </a:xfrm>
        </p:grpSpPr>
        <p:sp>
          <p:nvSpPr>
            <p:cNvPr id="21" name="椭圆 20"/>
            <p:cNvSpPr/>
            <p:nvPr/>
          </p:nvSpPr>
          <p:spPr>
            <a:xfrm>
              <a:off x="6626" y="4757"/>
              <a:ext cx="695" cy="74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/>
            <p:cNvCxnSpPr>
              <a:stCxn id="21" idx="3"/>
              <a:endCxn id="24" idx="7"/>
            </p:cNvCxnSpPr>
            <p:nvPr/>
          </p:nvCxnSpPr>
          <p:spPr>
            <a:xfrm flipH="1">
              <a:off x="6383" y="5389"/>
              <a:ext cx="345" cy="316"/>
            </a:xfrm>
            <a:prstGeom prst="straightConnector1">
              <a:avLst/>
            </a:prstGeom>
            <a:ln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剪去同侧角的矩形 23"/>
            <p:cNvSpPr/>
            <p:nvPr/>
          </p:nvSpPr>
          <p:spPr>
            <a:xfrm>
              <a:off x="6153" y="5665"/>
              <a:ext cx="270" cy="273"/>
            </a:xfrm>
            <a:prstGeom prst="snip2SameRect">
              <a:avLst>
                <a:gd name="adj1" fmla="val 37777"/>
                <a:gd name="adj2" fmla="val 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9" name="直接箭头连接符 28"/>
          <p:cNvCxnSpPr>
            <a:stCxn id="21" idx="5"/>
          </p:cNvCxnSpPr>
          <p:nvPr/>
        </p:nvCxnSpPr>
        <p:spPr>
          <a:xfrm>
            <a:off x="4584065" y="3422015"/>
            <a:ext cx="191770" cy="2444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剪去同侧角的矩形 29"/>
          <p:cNvSpPr/>
          <p:nvPr/>
        </p:nvSpPr>
        <p:spPr>
          <a:xfrm>
            <a:off x="4438015" y="4185920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/>
          <p:cNvCxnSpPr>
            <a:stCxn id="11" idx="3"/>
            <a:endCxn id="30" idx="3"/>
          </p:cNvCxnSpPr>
          <p:nvPr/>
        </p:nvCxnSpPr>
        <p:spPr>
          <a:xfrm flipH="1">
            <a:off x="4523740" y="4023995"/>
            <a:ext cx="218440" cy="1619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43281 0.088148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00" y="4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37917 -0.081667 " pathEditMode="relative" rAng="0" ptsTypes="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00" y="-370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800000">
                                      <p:cBhvr>
                                        <p:cTn id="11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41302 0.000000 " pathEditMode="relative" ptsTypes="">
                                      <p:cBhvr>
                                        <p:cTn id="1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1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40990 0.000000 " pathEditMode="relative" ptsTypes="">
                                      <p:cBhvr>
                                        <p:cTn id="1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17865 -0.000648 " pathEditMode="relative" ptsTypes="">
                                      <p:cBhvr>
                                        <p:cTn id="2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节点定义</a:t>
            </a:r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3687445" y="3634740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4064000" y="34220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4207510" y="302069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P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747645" y="5588635"/>
            <a:ext cx="62172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</a:t>
            </a:r>
            <a:r>
              <a:rPr lang="zh-CN" altLang="en-US"/>
              <a:t>为需要删除的节点，</a:t>
            </a:r>
            <a:r>
              <a:rPr lang="en-US" altLang="zh-CN"/>
              <a:t>S</a:t>
            </a:r>
            <a:r>
              <a:rPr lang="zh-CN" altLang="en-US"/>
              <a:t>删除节点所在子树的兄弟节点，</a:t>
            </a:r>
            <a:r>
              <a:rPr lang="en-US" altLang="zh-CN"/>
              <a:t>S</a:t>
            </a:r>
            <a:r>
              <a:rPr lang="en-US" altLang="zh-CN" baseline="-25000"/>
              <a:t>R</a:t>
            </a:r>
            <a:r>
              <a:rPr lang="zh-CN" altLang="en-US"/>
              <a:t>，</a:t>
            </a:r>
            <a:r>
              <a:rPr lang="en-US" altLang="zh-CN"/>
              <a:t>S</a:t>
            </a:r>
            <a:r>
              <a:rPr lang="en-US" altLang="zh-CN" baseline="-25000"/>
              <a:t>L</a:t>
            </a:r>
            <a:r>
              <a:rPr lang="zh-CN" altLang="en-US">
                <a:sym typeface="+mn-ea"/>
              </a:rPr>
              <a:t>分别为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的左右孩子。</a:t>
            </a:r>
            <a:r>
              <a:rPr lang="en-US" altLang="zh-CN"/>
              <a:t>P</a:t>
            </a:r>
            <a:r>
              <a:rPr lang="zh-CN" altLang="en-US"/>
              <a:t>为</a:t>
            </a:r>
            <a:r>
              <a:rPr lang="en-US" altLang="zh-CN"/>
              <a:t>D</a:t>
            </a:r>
            <a:r>
              <a:rPr lang="zh-CN" altLang="en-US"/>
              <a:t>的父节点，</a:t>
            </a:r>
            <a:r>
              <a:rPr lang="en-US" altLang="zh-CN"/>
              <a:t>GP</a:t>
            </a:r>
            <a:r>
              <a:rPr lang="zh-CN" altLang="en-US"/>
              <a:t>为其祖父节点，</a:t>
            </a:r>
            <a:r>
              <a:rPr lang="en-US" altLang="zh-CN"/>
              <a:t>U</a:t>
            </a:r>
            <a:r>
              <a:rPr lang="zh-CN" altLang="en-US"/>
              <a:t>为</a:t>
            </a:r>
            <a:r>
              <a:rPr lang="en-US" altLang="zh-CN"/>
              <a:t>uncle</a:t>
            </a:r>
            <a:r>
              <a:rPr lang="zh-CN" altLang="en-US"/>
              <a:t>节点。</a:t>
            </a:r>
          </a:p>
        </p:txBody>
      </p:sp>
      <p:sp>
        <p:nvSpPr>
          <p:cNvPr id="2" name="椭圆 1"/>
          <p:cNvSpPr/>
          <p:nvPr/>
        </p:nvSpPr>
        <p:spPr>
          <a:xfrm>
            <a:off x="4742180" y="363474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S</a:t>
            </a:r>
          </a:p>
        </p:txBody>
      </p:sp>
      <p:cxnSp>
        <p:nvCxnSpPr>
          <p:cNvPr id="11" name="直接箭头连接符 10"/>
          <p:cNvCxnSpPr>
            <a:stCxn id="5" idx="5"/>
            <a:endCxn id="2" idx="1"/>
          </p:cNvCxnSpPr>
          <p:nvPr/>
        </p:nvCxnSpPr>
        <p:spPr>
          <a:xfrm>
            <a:off x="4584065" y="342201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5118735" y="439991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tx1"/>
                </a:solidFill>
                <a:sym typeface="+mn-ea"/>
              </a:rPr>
              <a:t>R</a:t>
            </a:r>
          </a:p>
        </p:txBody>
      </p:sp>
      <p:cxnSp>
        <p:nvCxnSpPr>
          <p:cNvPr id="20" name="直接箭头连接符 19"/>
          <p:cNvCxnSpPr>
            <a:stCxn id="2" idx="5"/>
            <a:endCxn id="19" idx="0"/>
          </p:cNvCxnSpPr>
          <p:nvPr/>
        </p:nvCxnSpPr>
        <p:spPr>
          <a:xfrm>
            <a:off x="5118735" y="4036060"/>
            <a:ext cx="220980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4365625" y="439991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tx1"/>
                </a:solidFill>
                <a:sym typeface="+mn-ea"/>
              </a:rPr>
              <a:t>L</a:t>
            </a:r>
          </a:p>
        </p:txBody>
      </p:sp>
      <p:cxnSp>
        <p:nvCxnSpPr>
          <p:cNvPr id="22" name="直接箭头连接符 21"/>
          <p:cNvCxnSpPr>
            <a:stCxn id="2" idx="3"/>
            <a:endCxn id="21" idx="0"/>
          </p:cNvCxnSpPr>
          <p:nvPr/>
        </p:nvCxnSpPr>
        <p:spPr>
          <a:xfrm flipH="1">
            <a:off x="4586605" y="4036060"/>
            <a:ext cx="220345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红－黑树的删除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首先还是类似二叉搜索树的方法</a:t>
            </a:r>
            <a:r>
              <a:rPr lang="en-US" altLang="zh-CN"/>
              <a:t>——</a:t>
            </a:r>
            <a:br>
              <a:rPr lang="en-US" altLang="zh-CN"/>
            </a:br>
            <a:r>
              <a:rPr lang="zh-CN" altLang="en-US"/>
              <a:t>转化为叶节点删除</a:t>
            </a:r>
            <a:r>
              <a:rPr lang="en-US" altLang="zh-CN"/>
              <a:t>——</a:t>
            </a:r>
            <a:br>
              <a:rPr lang="en-US" altLang="zh-CN"/>
            </a:br>
            <a:r>
              <a:rPr lang="zh-CN" altLang="en-US"/>
              <a:t>不是叶节点的，与中序遍历的后继节点交换</a:t>
            </a:r>
          </a:p>
          <a:p>
            <a:r>
              <a:rPr lang="zh-CN" altLang="en-US"/>
              <a:t>可对应</a:t>
            </a:r>
            <a:r>
              <a:rPr lang="en-US" altLang="zh-CN"/>
              <a:t>2-3-4</a:t>
            </a:r>
            <a:r>
              <a:rPr lang="zh-CN" altLang="en-US"/>
              <a:t>树自底向上删除算法设计红－黑树自底向上的删除算法</a:t>
            </a:r>
          </a:p>
          <a:p>
            <a:r>
              <a:rPr lang="zh-CN" altLang="en-US"/>
              <a:t>若删除红节点，结束</a:t>
            </a:r>
            <a:r>
              <a:rPr lang="en-US" altLang="zh-CN"/>
              <a:t>——3</a:t>
            </a:r>
            <a:r>
              <a:rPr lang="zh-CN" altLang="en-US"/>
              <a:t>节点或</a:t>
            </a:r>
            <a:r>
              <a:rPr lang="en-US" altLang="zh-CN"/>
              <a:t>4</a:t>
            </a:r>
            <a:r>
              <a:rPr lang="zh-CN" altLang="en-US"/>
              <a:t>节点的删除</a:t>
            </a:r>
          </a:p>
          <a:p>
            <a:r>
              <a:rPr lang="zh-CN" altLang="en-US"/>
              <a:t>若删除黑节点，调整，可能回溯</a:t>
            </a:r>
            <a:r>
              <a:rPr lang="en-US" altLang="zh-CN"/>
              <a:t>——2</a:t>
            </a:r>
            <a:r>
              <a:rPr lang="zh-CN" altLang="en-US"/>
              <a:t>节点的删除</a:t>
            </a:r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8F2213B-4D88-46E6-862E-F3A1B21D4ACB}" type="slidenum">
              <a:rPr lang="en-US" altLang="en-US">
                <a:solidFill>
                  <a:srgbClr val="4B4B4B"/>
                </a:solidFill>
              </a:rPr>
              <a:t>5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删除情况</a:t>
            </a:r>
            <a:r>
              <a:rPr lang="en-US" altLang="zh-CN"/>
              <a:t>1-</a:t>
            </a:r>
            <a:r>
              <a:rPr>
                <a:sym typeface="+mn-ea"/>
              </a:rPr>
              <a:t>兄弟节点为黑色，兄弟儿子节点全为黑色</a:t>
            </a:r>
          </a:p>
        </p:txBody>
      </p:sp>
      <p:sp>
        <p:nvSpPr>
          <p:cNvPr id="4" name="椭圆 3"/>
          <p:cNvSpPr/>
          <p:nvPr/>
        </p:nvSpPr>
        <p:spPr>
          <a:xfrm>
            <a:off x="2046605" y="227901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</a:p>
        </p:txBody>
      </p:sp>
      <p:sp>
        <p:nvSpPr>
          <p:cNvPr id="6" name="椭圆 5"/>
          <p:cNvSpPr/>
          <p:nvPr/>
        </p:nvSpPr>
        <p:spPr>
          <a:xfrm>
            <a:off x="2550795" y="290639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1888490" y="26803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2423160" y="26803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991870" y="3520440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1368425" y="33077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1511935" y="290639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799465" y="1373505"/>
            <a:ext cx="52685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</a:t>
            </a:r>
            <a:r>
              <a:rPr lang="zh-CN" altLang="en-US"/>
              <a:t>节点删除，导致</a:t>
            </a:r>
            <a:r>
              <a:rPr lang="en-US" altLang="zh-CN"/>
              <a:t>D</a:t>
            </a:r>
            <a:r>
              <a:rPr lang="zh-CN" altLang="en-US"/>
              <a:t>树黑边长度变少，需要调整。</a:t>
            </a:r>
          </a:p>
          <a:p>
            <a:r>
              <a:rPr lang="en-US" altLang="zh-CN"/>
              <a:t>1.P</a:t>
            </a:r>
            <a:r>
              <a:rPr lang="zh-CN" altLang="en-US"/>
              <a:t>节点为红色</a:t>
            </a:r>
            <a:r>
              <a:rPr lang="en-US" altLang="zh-CN"/>
              <a:t>-&gt;P</a:t>
            </a:r>
            <a:r>
              <a:rPr lang="zh-CN" altLang="en-US"/>
              <a:t>转黑，</a:t>
            </a:r>
            <a:r>
              <a:rPr lang="en-US" altLang="zh-CN"/>
              <a:t>S</a:t>
            </a:r>
            <a:r>
              <a:rPr lang="zh-CN" altLang="en-US"/>
              <a:t>转红，</a:t>
            </a:r>
            <a:r>
              <a:rPr lang="en-US" altLang="zh-CN"/>
              <a:t>P</a:t>
            </a:r>
            <a:r>
              <a:rPr lang="zh-CN" altLang="en-US"/>
              <a:t>子树阶不变</a:t>
            </a:r>
          </a:p>
        </p:txBody>
      </p:sp>
      <p:sp>
        <p:nvSpPr>
          <p:cNvPr id="2" name="椭圆 1"/>
          <p:cNvSpPr/>
          <p:nvPr/>
        </p:nvSpPr>
        <p:spPr>
          <a:xfrm>
            <a:off x="2046605" y="352044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</a:p>
        </p:txBody>
      </p:sp>
      <p:cxnSp>
        <p:nvCxnSpPr>
          <p:cNvPr id="11" name="直接箭头连接符 10"/>
          <p:cNvCxnSpPr>
            <a:stCxn id="5" idx="5"/>
            <a:endCxn id="2" idx="1"/>
          </p:cNvCxnSpPr>
          <p:nvPr/>
        </p:nvCxnSpPr>
        <p:spPr>
          <a:xfrm>
            <a:off x="1888490" y="330771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2423160" y="428561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</a:p>
        </p:txBody>
      </p:sp>
      <p:cxnSp>
        <p:nvCxnSpPr>
          <p:cNvPr id="20" name="直接箭头连接符 19"/>
          <p:cNvCxnSpPr>
            <a:endCxn id="19" idx="0"/>
          </p:cNvCxnSpPr>
          <p:nvPr/>
        </p:nvCxnSpPr>
        <p:spPr>
          <a:xfrm>
            <a:off x="2423160" y="3921760"/>
            <a:ext cx="220980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1670050" y="428561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L</a:t>
            </a:r>
          </a:p>
        </p:txBody>
      </p:sp>
      <p:cxnSp>
        <p:nvCxnSpPr>
          <p:cNvPr id="22" name="直接箭头连接符 21"/>
          <p:cNvCxnSpPr>
            <a:endCxn id="21" idx="0"/>
          </p:cNvCxnSpPr>
          <p:nvPr/>
        </p:nvCxnSpPr>
        <p:spPr>
          <a:xfrm flipH="1">
            <a:off x="1891030" y="3921760"/>
            <a:ext cx="220345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422390" y="1373505"/>
            <a:ext cx="54267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2.P</a:t>
            </a:r>
            <a:r>
              <a:rPr lang="zh-CN" altLang="en-US"/>
              <a:t>节点为黑色，染</a:t>
            </a:r>
            <a:r>
              <a:rPr lang="en-US" altLang="zh-CN"/>
              <a:t>S</a:t>
            </a:r>
            <a:r>
              <a:rPr lang="zh-CN" altLang="en-US"/>
              <a:t>节点，但是</a:t>
            </a:r>
            <a:r>
              <a:rPr lang="en-US" altLang="zh-CN"/>
              <a:t>P</a:t>
            </a:r>
            <a:r>
              <a:rPr lang="zh-CN" altLang="en-US"/>
              <a:t>树阶</a:t>
            </a:r>
            <a:r>
              <a:rPr lang="en-US" altLang="zh-CN"/>
              <a:t>-1</a:t>
            </a:r>
            <a:r>
              <a:rPr lang="zh-CN" altLang="en-US"/>
              <a:t>，继续向上回溯。</a:t>
            </a:r>
          </a:p>
        </p:txBody>
      </p:sp>
      <p:sp>
        <p:nvSpPr>
          <p:cNvPr id="12" name="椭圆 11"/>
          <p:cNvSpPr/>
          <p:nvPr/>
        </p:nvSpPr>
        <p:spPr>
          <a:xfrm>
            <a:off x="8812530" y="212217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</a:p>
        </p:txBody>
      </p:sp>
      <p:sp>
        <p:nvSpPr>
          <p:cNvPr id="13" name="椭圆 12"/>
          <p:cNvSpPr/>
          <p:nvPr/>
        </p:nvSpPr>
        <p:spPr>
          <a:xfrm>
            <a:off x="9316720" y="274955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</a:p>
        </p:txBody>
      </p:sp>
      <p:cxnSp>
        <p:nvCxnSpPr>
          <p:cNvPr id="14" name="直接箭头连接符 13"/>
          <p:cNvCxnSpPr>
            <a:stCxn id="12" idx="3"/>
            <a:endCxn id="23" idx="7"/>
          </p:cNvCxnSpPr>
          <p:nvPr/>
        </p:nvCxnSpPr>
        <p:spPr>
          <a:xfrm flipH="1">
            <a:off x="8654415" y="2523490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2" idx="5"/>
            <a:endCxn id="13" idx="1"/>
          </p:cNvCxnSpPr>
          <p:nvPr/>
        </p:nvCxnSpPr>
        <p:spPr>
          <a:xfrm>
            <a:off x="9189085" y="2523490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7757795" y="3363595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8" name="直接箭头连接符 17"/>
          <p:cNvCxnSpPr>
            <a:stCxn id="23" idx="3"/>
            <a:endCxn id="17" idx="7"/>
          </p:cNvCxnSpPr>
          <p:nvPr/>
        </p:nvCxnSpPr>
        <p:spPr>
          <a:xfrm flipH="1">
            <a:off x="8134350" y="3150870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8277860" y="274955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</a:p>
        </p:txBody>
      </p:sp>
      <p:sp>
        <p:nvSpPr>
          <p:cNvPr id="24" name="椭圆 23"/>
          <p:cNvSpPr/>
          <p:nvPr/>
        </p:nvSpPr>
        <p:spPr>
          <a:xfrm>
            <a:off x="8812530" y="336359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</a:p>
        </p:txBody>
      </p:sp>
      <p:cxnSp>
        <p:nvCxnSpPr>
          <p:cNvPr id="25" name="直接箭头连接符 24"/>
          <p:cNvCxnSpPr>
            <a:stCxn id="23" idx="5"/>
            <a:endCxn id="24" idx="1"/>
          </p:cNvCxnSpPr>
          <p:nvPr/>
        </p:nvCxnSpPr>
        <p:spPr>
          <a:xfrm>
            <a:off x="8654415" y="3150870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/>
        </p:nvSpPr>
        <p:spPr>
          <a:xfrm>
            <a:off x="9189085" y="412877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</a:p>
        </p:txBody>
      </p:sp>
      <p:cxnSp>
        <p:nvCxnSpPr>
          <p:cNvPr id="27" name="直接箭头连接符 26"/>
          <p:cNvCxnSpPr>
            <a:endCxn id="26" idx="0"/>
          </p:cNvCxnSpPr>
          <p:nvPr/>
        </p:nvCxnSpPr>
        <p:spPr>
          <a:xfrm>
            <a:off x="9189085" y="3764915"/>
            <a:ext cx="220980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8435975" y="412877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L</a:t>
            </a:r>
          </a:p>
        </p:txBody>
      </p:sp>
      <p:cxnSp>
        <p:nvCxnSpPr>
          <p:cNvPr id="29" name="直接箭头连接符 28"/>
          <p:cNvCxnSpPr>
            <a:endCxn id="28" idx="0"/>
          </p:cNvCxnSpPr>
          <p:nvPr/>
        </p:nvCxnSpPr>
        <p:spPr>
          <a:xfrm flipH="1">
            <a:off x="8656955" y="3764915"/>
            <a:ext cx="220345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3308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3308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删除情况</a:t>
            </a:r>
            <a:r>
              <a:rPr lang="en-US" altLang="zh-CN"/>
              <a:t>2-</a:t>
            </a:r>
            <a:r>
              <a:rPr>
                <a:sym typeface="+mn-ea"/>
              </a:rPr>
              <a:t>兄弟节点为黑，兄弟孩子节点非全黑色</a:t>
            </a:r>
          </a:p>
        </p:txBody>
      </p:sp>
      <p:sp>
        <p:nvSpPr>
          <p:cNvPr id="4" name="椭圆 3"/>
          <p:cNvSpPr/>
          <p:nvPr/>
        </p:nvSpPr>
        <p:spPr>
          <a:xfrm>
            <a:off x="1339850" y="219646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</a:p>
        </p:txBody>
      </p:sp>
      <p:sp>
        <p:nvSpPr>
          <p:cNvPr id="6" name="椭圆 5"/>
          <p:cNvSpPr/>
          <p:nvPr/>
        </p:nvSpPr>
        <p:spPr>
          <a:xfrm>
            <a:off x="1844040" y="282384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1181735" y="259778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1716405" y="259778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285115" y="3437890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661670" y="322516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805180" y="282384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P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69595" y="1313815"/>
            <a:ext cx="6217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兄弟孩子中右儿子为红节点。相当于从兄弟节点借。</a:t>
            </a:r>
          </a:p>
        </p:txBody>
      </p:sp>
      <p:sp>
        <p:nvSpPr>
          <p:cNvPr id="2" name="椭圆 1"/>
          <p:cNvSpPr/>
          <p:nvPr/>
        </p:nvSpPr>
        <p:spPr>
          <a:xfrm>
            <a:off x="1339850" y="343789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</a:p>
        </p:txBody>
      </p:sp>
      <p:cxnSp>
        <p:nvCxnSpPr>
          <p:cNvPr id="11" name="直接箭头连接符 10"/>
          <p:cNvCxnSpPr>
            <a:stCxn id="5" idx="5"/>
            <a:endCxn id="2" idx="1"/>
          </p:cNvCxnSpPr>
          <p:nvPr/>
        </p:nvCxnSpPr>
        <p:spPr>
          <a:xfrm>
            <a:off x="1181735" y="322516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1716405" y="420306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</a:p>
        </p:txBody>
      </p:sp>
      <p:cxnSp>
        <p:nvCxnSpPr>
          <p:cNvPr id="20" name="直接箭头连接符 19"/>
          <p:cNvCxnSpPr>
            <a:endCxn id="19" idx="0"/>
          </p:cNvCxnSpPr>
          <p:nvPr/>
        </p:nvCxnSpPr>
        <p:spPr>
          <a:xfrm>
            <a:off x="1716405" y="3839210"/>
            <a:ext cx="220980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963295" y="4203065"/>
            <a:ext cx="441325" cy="47053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tx1"/>
                </a:solidFill>
                <a:sym typeface="+mn-ea"/>
              </a:rPr>
              <a:t>L</a:t>
            </a:r>
          </a:p>
        </p:txBody>
      </p:sp>
      <p:cxnSp>
        <p:nvCxnSpPr>
          <p:cNvPr id="22" name="直接箭头连接符 21"/>
          <p:cNvCxnSpPr>
            <a:endCxn id="21" idx="0"/>
          </p:cNvCxnSpPr>
          <p:nvPr/>
        </p:nvCxnSpPr>
        <p:spPr>
          <a:xfrm flipH="1">
            <a:off x="1184275" y="3839210"/>
            <a:ext cx="220345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422390" y="1373505"/>
            <a:ext cx="5426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左儿子红色节点。则通过旋转变色变为前面情况</a:t>
            </a:r>
          </a:p>
        </p:txBody>
      </p:sp>
      <p:sp>
        <p:nvSpPr>
          <p:cNvPr id="12" name="椭圆 11"/>
          <p:cNvSpPr/>
          <p:nvPr/>
        </p:nvSpPr>
        <p:spPr>
          <a:xfrm>
            <a:off x="6293485" y="219646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</a:p>
        </p:txBody>
      </p:sp>
      <p:sp>
        <p:nvSpPr>
          <p:cNvPr id="13" name="椭圆 12"/>
          <p:cNvSpPr/>
          <p:nvPr/>
        </p:nvSpPr>
        <p:spPr>
          <a:xfrm>
            <a:off x="6797675" y="282384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</a:p>
        </p:txBody>
      </p:sp>
      <p:cxnSp>
        <p:nvCxnSpPr>
          <p:cNvPr id="14" name="直接箭头连接符 13"/>
          <p:cNvCxnSpPr>
            <a:stCxn id="12" idx="3"/>
            <a:endCxn id="23" idx="7"/>
          </p:cNvCxnSpPr>
          <p:nvPr/>
        </p:nvCxnSpPr>
        <p:spPr>
          <a:xfrm flipH="1">
            <a:off x="6135370" y="259778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2" idx="5"/>
            <a:endCxn id="13" idx="1"/>
          </p:cNvCxnSpPr>
          <p:nvPr/>
        </p:nvCxnSpPr>
        <p:spPr>
          <a:xfrm>
            <a:off x="6657975" y="259778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5238750" y="3437890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8" name="直接箭头连接符 17"/>
          <p:cNvCxnSpPr>
            <a:stCxn id="23" idx="3"/>
            <a:endCxn id="17" idx="7"/>
          </p:cNvCxnSpPr>
          <p:nvPr/>
        </p:nvCxnSpPr>
        <p:spPr>
          <a:xfrm flipH="1">
            <a:off x="5615305" y="322516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5758815" y="282384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</a:p>
        </p:txBody>
      </p:sp>
      <p:sp>
        <p:nvSpPr>
          <p:cNvPr id="24" name="椭圆 23"/>
          <p:cNvSpPr/>
          <p:nvPr/>
        </p:nvSpPr>
        <p:spPr>
          <a:xfrm>
            <a:off x="6293485" y="343789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</a:p>
        </p:txBody>
      </p:sp>
      <p:cxnSp>
        <p:nvCxnSpPr>
          <p:cNvPr id="25" name="直接箭头连接符 24"/>
          <p:cNvCxnSpPr>
            <a:stCxn id="23" idx="5"/>
            <a:endCxn id="24" idx="1"/>
          </p:cNvCxnSpPr>
          <p:nvPr/>
        </p:nvCxnSpPr>
        <p:spPr>
          <a:xfrm>
            <a:off x="6123305" y="322516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/>
        </p:nvSpPr>
        <p:spPr>
          <a:xfrm>
            <a:off x="6670040" y="420306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</a:p>
        </p:txBody>
      </p:sp>
      <p:cxnSp>
        <p:nvCxnSpPr>
          <p:cNvPr id="27" name="直接箭头连接符 26"/>
          <p:cNvCxnSpPr>
            <a:endCxn id="26" idx="0"/>
          </p:cNvCxnSpPr>
          <p:nvPr/>
        </p:nvCxnSpPr>
        <p:spPr>
          <a:xfrm>
            <a:off x="6657975" y="3839210"/>
            <a:ext cx="220980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5930265" y="420306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L</a:t>
            </a:r>
          </a:p>
        </p:txBody>
      </p:sp>
      <p:cxnSp>
        <p:nvCxnSpPr>
          <p:cNvPr id="29" name="直接箭头连接符 28"/>
          <p:cNvCxnSpPr>
            <a:endCxn id="28" idx="0"/>
          </p:cNvCxnSpPr>
          <p:nvPr/>
        </p:nvCxnSpPr>
        <p:spPr>
          <a:xfrm flipH="1">
            <a:off x="6151245" y="3839210"/>
            <a:ext cx="220345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4015105" y="218313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</a:p>
        </p:txBody>
      </p:sp>
      <p:sp>
        <p:nvSpPr>
          <p:cNvPr id="32" name="椭圆 31"/>
          <p:cNvSpPr/>
          <p:nvPr/>
        </p:nvSpPr>
        <p:spPr>
          <a:xfrm>
            <a:off x="4519295" y="281051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</a:p>
        </p:txBody>
      </p:sp>
      <p:cxnSp>
        <p:nvCxnSpPr>
          <p:cNvPr id="33" name="直接箭头连接符 32"/>
          <p:cNvCxnSpPr>
            <a:stCxn id="31" idx="3"/>
            <a:endCxn id="38" idx="7"/>
          </p:cNvCxnSpPr>
          <p:nvPr/>
        </p:nvCxnSpPr>
        <p:spPr>
          <a:xfrm flipH="1">
            <a:off x="3859530" y="2584450"/>
            <a:ext cx="22034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31" idx="5"/>
            <a:endCxn id="32" idx="1"/>
          </p:cNvCxnSpPr>
          <p:nvPr/>
        </p:nvCxnSpPr>
        <p:spPr>
          <a:xfrm>
            <a:off x="4391660" y="2584450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34"/>
          <p:cNvSpPr/>
          <p:nvPr/>
        </p:nvSpPr>
        <p:spPr>
          <a:xfrm>
            <a:off x="2750820" y="4203065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36" name="直接箭头连接符 35"/>
          <p:cNvCxnSpPr>
            <a:stCxn id="37" idx="3"/>
            <a:endCxn id="35" idx="0"/>
          </p:cNvCxnSpPr>
          <p:nvPr/>
        </p:nvCxnSpPr>
        <p:spPr>
          <a:xfrm flipH="1">
            <a:off x="2971800" y="3908425"/>
            <a:ext cx="199390" cy="2946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/>
        </p:nvSpPr>
        <p:spPr>
          <a:xfrm>
            <a:off x="3106420" y="350710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</a:p>
        </p:txBody>
      </p:sp>
      <p:sp>
        <p:nvSpPr>
          <p:cNvPr id="38" name="椭圆 37"/>
          <p:cNvSpPr/>
          <p:nvPr/>
        </p:nvSpPr>
        <p:spPr>
          <a:xfrm>
            <a:off x="3482975" y="281051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S</a:t>
            </a:r>
          </a:p>
        </p:txBody>
      </p:sp>
      <p:cxnSp>
        <p:nvCxnSpPr>
          <p:cNvPr id="39" name="直接箭头连接符 38"/>
          <p:cNvCxnSpPr>
            <a:stCxn id="38" idx="3"/>
            <a:endCxn id="37" idx="0"/>
          </p:cNvCxnSpPr>
          <p:nvPr/>
        </p:nvCxnSpPr>
        <p:spPr>
          <a:xfrm flipH="1">
            <a:off x="3327400" y="3211830"/>
            <a:ext cx="22034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椭圆 39"/>
          <p:cNvSpPr/>
          <p:nvPr/>
        </p:nvSpPr>
        <p:spPr>
          <a:xfrm>
            <a:off x="3859530" y="3507105"/>
            <a:ext cx="441325" cy="470535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</a:p>
        </p:txBody>
      </p:sp>
      <p:cxnSp>
        <p:nvCxnSpPr>
          <p:cNvPr id="41" name="直接箭头连接符 40"/>
          <p:cNvCxnSpPr>
            <a:stCxn id="38" idx="5"/>
            <a:endCxn id="40" idx="0"/>
          </p:cNvCxnSpPr>
          <p:nvPr/>
        </p:nvCxnSpPr>
        <p:spPr>
          <a:xfrm>
            <a:off x="3859530" y="3211830"/>
            <a:ext cx="220980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椭圆 41"/>
          <p:cNvSpPr/>
          <p:nvPr/>
        </p:nvSpPr>
        <p:spPr>
          <a:xfrm>
            <a:off x="3418205" y="4189730"/>
            <a:ext cx="441325" cy="47053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tx1"/>
                </a:solidFill>
                <a:sym typeface="+mn-ea"/>
              </a:rPr>
              <a:t>L</a:t>
            </a:r>
          </a:p>
        </p:txBody>
      </p:sp>
      <p:cxnSp>
        <p:nvCxnSpPr>
          <p:cNvPr id="43" name="直接箭头连接符 42"/>
          <p:cNvCxnSpPr>
            <a:stCxn id="37" idx="5"/>
            <a:endCxn id="42" idx="0"/>
          </p:cNvCxnSpPr>
          <p:nvPr/>
        </p:nvCxnSpPr>
        <p:spPr>
          <a:xfrm>
            <a:off x="3482975" y="3908425"/>
            <a:ext cx="156210" cy="2813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上弧形箭头 57"/>
          <p:cNvSpPr/>
          <p:nvPr/>
        </p:nvSpPr>
        <p:spPr>
          <a:xfrm rot="10800000">
            <a:off x="1437640" y="5330190"/>
            <a:ext cx="9484995" cy="103251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8512175" y="219964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</a:p>
        </p:txBody>
      </p:sp>
      <p:sp>
        <p:nvSpPr>
          <p:cNvPr id="45" name="椭圆 44"/>
          <p:cNvSpPr/>
          <p:nvPr/>
        </p:nvSpPr>
        <p:spPr>
          <a:xfrm>
            <a:off x="9016365" y="282702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</a:p>
        </p:txBody>
      </p:sp>
      <p:cxnSp>
        <p:nvCxnSpPr>
          <p:cNvPr id="46" name="直接箭头连接符 45"/>
          <p:cNvCxnSpPr>
            <a:stCxn id="44" idx="3"/>
            <a:endCxn id="50" idx="7"/>
          </p:cNvCxnSpPr>
          <p:nvPr/>
        </p:nvCxnSpPr>
        <p:spPr>
          <a:xfrm flipH="1">
            <a:off x="8354060" y="2600960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stCxn id="44" idx="5"/>
            <a:endCxn id="45" idx="1"/>
          </p:cNvCxnSpPr>
          <p:nvPr/>
        </p:nvCxnSpPr>
        <p:spPr>
          <a:xfrm>
            <a:off x="8876665" y="2600960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椭圆 47"/>
          <p:cNvSpPr/>
          <p:nvPr/>
        </p:nvSpPr>
        <p:spPr>
          <a:xfrm>
            <a:off x="7457440" y="3441065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49" name="直接箭头连接符 48"/>
          <p:cNvCxnSpPr>
            <a:stCxn id="50" idx="3"/>
            <a:endCxn id="48" idx="7"/>
          </p:cNvCxnSpPr>
          <p:nvPr/>
        </p:nvCxnSpPr>
        <p:spPr>
          <a:xfrm flipH="1">
            <a:off x="7833995" y="3228340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/>
          <p:cNvSpPr/>
          <p:nvPr/>
        </p:nvSpPr>
        <p:spPr>
          <a:xfrm>
            <a:off x="7977505" y="282702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</a:p>
        </p:txBody>
      </p:sp>
      <p:sp>
        <p:nvSpPr>
          <p:cNvPr id="51" name="椭圆 50"/>
          <p:cNvSpPr/>
          <p:nvPr/>
        </p:nvSpPr>
        <p:spPr>
          <a:xfrm>
            <a:off x="8888730" y="4015105"/>
            <a:ext cx="441325" cy="4705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8354060" y="3218815"/>
            <a:ext cx="252095" cy="3441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/>
          <p:cNvSpPr/>
          <p:nvPr/>
        </p:nvSpPr>
        <p:spPr>
          <a:xfrm>
            <a:off x="9229725" y="467677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</a:p>
        </p:txBody>
      </p:sp>
      <p:cxnSp>
        <p:nvCxnSpPr>
          <p:cNvPr id="54" name="直接箭头连接符 53"/>
          <p:cNvCxnSpPr>
            <a:stCxn id="51" idx="5"/>
            <a:endCxn id="53" idx="0"/>
          </p:cNvCxnSpPr>
          <p:nvPr/>
        </p:nvCxnSpPr>
        <p:spPr>
          <a:xfrm>
            <a:off x="9253220" y="4416425"/>
            <a:ext cx="185420" cy="2603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/>
          <p:cNvSpPr/>
          <p:nvPr/>
        </p:nvSpPr>
        <p:spPr>
          <a:xfrm>
            <a:off x="8447405" y="351028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L</a:t>
            </a:r>
          </a:p>
        </p:txBody>
      </p:sp>
      <p:cxnSp>
        <p:nvCxnSpPr>
          <p:cNvPr id="56" name="直接箭头连接符 55"/>
          <p:cNvCxnSpPr>
            <a:stCxn id="55" idx="5"/>
            <a:endCxn id="51" idx="1"/>
          </p:cNvCxnSpPr>
          <p:nvPr/>
        </p:nvCxnSpPr>
        <p:spPr>
          <a:xfrm>
            <a:off x="8811895" y="3911600"/>
            <a:ext cx="129540" cy="1727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椭圆 56"/>
          <p:cNvSpPr/>
          <p:nvPr/>
        </p:nvSpPr>
        <p:spPr>
          <a:xfrm>
            <a:off x="10734040" y="219964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</a:p>
        </p:txBody>
      </p:sp>
      <p:sp>
        <p:nvSpPr>
          <p:cNvPr id="59" name="椭圆 58"/>
          <p:cNvSpPr/>
          <p:nvPr/>
        </p:nvSpPr>
        <p:spPr>
          <a:xfrm>
            <a:off x="11238230" y="282702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</a:p>
        </p:txBody>
      </p:sp>
      <p:cxnSp>
        <p:nvCxnSpPr>
          <p:cNvPr id="60" name="直接箭头连接符 59"/>
          <p:cNvCxnSpPr>
            <a:stCxn id="57" idx="3"/>
            <a:endCxn id="69" idx="0"/>
          </p:cNvCxnSpPr>
          <p:nvPr/>
        </p:nvCxnSpPr>
        <p:spPr>
          <a:xfrm flipH="1">
            <a:off x="10513695" y="2600960"/>
            <a:ext cx="285115" cy="20955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57" idx="5"/>
            <a:endCxn id="59" idx="1"/>
          </p:cNvCxnSpPr>
          <p:nvPr/>
        </p:nvCxnSpPr>
        <p:spPr>
          <a:xfrm>
            <a:off x="11110595" y="2600960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椭圆 61"/>
          <p:cNvSpPr/>
          <p:nvPr/>
        </p:nvSpPr>
        <p:spPr>
          <a:xfrm>
            <a:off x="9474835" y="4015105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63" name="直接箭头连接符 62"/>
          <p:cNvCxnSpPr>
            <a:stCxn id="64" idx="3"/>
            <a:endCxn id="62" idx="7"/>
          </p:cNvCxnSpPr>
          <p:nvPr/>
        </p:nvCxnSpPr>
        <p:spPr>
          <a:xfrm flipH="1">
            <a:off x="9851390" y="3769995"/>
            <a:ext cx="64770" cy="31432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椭圆 63"/>
          <p:cNvSpPr/>
          <p:nvPr/>
        </p:nvSpPr>
        <p:spPr>
          <a:xfrm>
            <a:off x="9851390" y="336867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</a:p>
        </p:txBody>
      </p:sp>
      <p:sp>
        <p:nvSpPr>
          <p:cNvPr id="65" name="椭圆 64"/>
          <p:cNvSpPr/>
          <p:nvPr/>
        </p:nvSpPr>
        <p:spPr>
          <a:xfrm>
            <a:off x="10796905" y="3368675"/>
            <a:ext cx="441325" cy="470535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</a:p>
        </p:txBody>
      </p:sp>
      <p:cxnSp>
        <p:nvCxnSpPr>
          <p:cNvPr id="66" name="直接箭头连接符 65"/>
          <p:cNvCxnSpPr>
            <a:stCxn id="69" idx="3"/>
            <a:endCxn id="64" idx="7"/>
          </p:cNvCxnSpPr>
          <p:nvPr/>
        </p:nvCxnSpPr>
        <p:spPr>
          <a:xfrm flipH="1">
            <a:off x="10227945" y="3211830"/>
            <a:ext cx="129540" cy="2260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椭圆 66"/>
          <p:cNvSpPr/>
          <p:nvPr/>
        </p:nvSpPr>
        <p:spPr>
          <a:xfrm>
            <a:off x="11175365" y="408432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</a:p>
        </p:txBody>
      </p:sp>
      <p:cxnSp>
        <p:nvCxnSpPr>
          <p:cNvPr id="68" name="直接箭头连接符 67"/>
          <p:cNvCxnSpPr>
            <a:stCxn id="65" idx="5"/>
            <a:endCxn id="67" idx="0"/>
          </p:cNvCxnSpPr>
          <p:nvPr/>
        </p:nvCxnSpPr>
        <p:spPr>
          <a:xfrm>
            <a:off x="11173460" y="3769995"/>
            <a:ext cx="222885" cy="3143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椭圆 68"/>
          <p:cNvSpPr/>
          <p:nvPr/>
        </p:nvSpPr>
        <p:spPr>
          <a:xfrm>
            <a:off x="10292715" y="281051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L</a:t>
            </a:r>
          </a:p>
        </p:txBody>
      </p:sp>
      <p:cxnSp>
        <p:nvCxnSpPr>
          <p:cNvPr id="70" name="直接箭头连接符 69"/>
          <p:cNvCxnSpPr>
            <a:stCxn id="69" idx="5"/>
            <a:endCxn id="65" idx="1"/>
          </p:cNvCxnSpPr>
          <p:nvPr/>
        </p:nvCxnSpPr>
        <p:spPr>
          <a:xfrm>
            <a:off x="10669270" y="3211830"/>
            <a:ext cx="192405" cy="2260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剪去同侧角的矩形 70"/>
          <p:cNvSpPr/>
          <p:nvPr/>
        </p:nvSpPr>
        <p:spPr>
          <a:xfrm>
            <a:off x="5758815" y="4973955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剪去同侧角的矩形 71"/>
          <p:cNvSpPr/>
          <p:nvPr/>
        </p:nvSpPr>
        <p:spPr>
          <a:xfrm>
            <a:off x="6346190" y="4973955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3" name="直接箭头连接符 72"/>
          <p:cNvCxnSpPr>
            <a:stCxn id="28" idx="3"/>
            <a:endCxn id="71" idx="3"/>
          </p:cNvCxnSpPr>
          <p:nvPr/>
        </p:nvCxnSpPr>
        <p:spPr>
          <a:xfrm flipH="1">
            <a:off x="5844540" y="4604385"/>
            <a:ext cx="150495" cy="3695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>
            <a:stCxn id="28" idx="5"/>
            <a:endCxn id="72" idx="3"/>
          </p:cNvCxnSpPr>
          <p:nvPr/>
        </p:nvCxnSpPr>
        <p:spPr>
          <a:xfrm>
            <a:off x="6306820" y="4604385"/>
            <a:ext cx="125095" cy="3695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剪去同侧角的矩形 74"/>
          <p:cNvSpPr/>
          <p:nvPr/>
        </p:nvSpPr>
        <p:spPr>
          <a:xfrm>
            <a:off x="8769985" y="4825365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6" name="直接箭头连接符 75"/>
          <p:cNvCxnSpPr>
            <a:stCxn id="51" idx="3"/>
            <a:endCxn id="75" idx="3"/>
          </p:cNvCxnSpPr>
          <p:nvPr/>
        </p:nvCxnSpPr>
        <p:spPr>
          <a:xfrm flipH="1">
            <a:off x="8855710" y="4416425"/>
            <a:ext cx="97790" cy="408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剪去同侧角的矩形 76"/>
          <p:cNvSpPr/>
          <p:nvPr/>
        </p:nvSpPr>
        <p:spPr>
          <a:xfrm>
            <a:off x="8247380" y="4312285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8" name="直接箭头连接符 77"/>
          <p:cNvCxnSpPr>
            <a:endCxn id="77" idx="3"/>
          </p:cNvCxnSpPr>
          <p:nvPr/>
        </p:nvCxnSpPr>
        <p:spPr>
          <a:xfrm flipH="1">
            <a:off x="8333105" y="3942715"/>
            <a:ext cx="150495" cy="3695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剪去同侧角的矩形 78"/>
          <p:cNvSpPr/>
          <p:nvPr/>
        </p:nvSpPr>
        <p:spPr>
          <a:xfrm>
            <a:off x="10227945" y="4138930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0" name="直接箭头连接符 79"/>
          <p:cNvCxnSpPr>
            <a:stCxn id="64" idx="5"/>
            <a:endCxn id="79" idx="3"/>
          </p:cNvCxnSpPr>
          <p:nvPr/>
        </p:nvCxnSpPr>
        <p:spPr>
          <a:xfrm>
            <a:off x="10227945" y="3769995"/>
            <a:ext cx="85725" cy="3689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剪去同侧角的矩形 80"/>
          <p:cNvSpPr/>
          <p:nvPr/>
        </p:nvSpPr>
        <p:spPr>
          <a:xfrm>
            <a:off x="10734040" y="4232910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2" name="直接箭头连接符 81"/>
          <p:cNvCxnSpPr>
            <a:endCxn id="81" idx="3"/>
          </p:cNvCxnSpPr>
          <p:nvPr/>
        </p:nvCxnSpPr>
        <p:spPr>
          <a:xfrm flipH="1">
            <a:off x="10819765" y="3823970"/>
            <a:ext cx="97790" cy="408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9063 0.115278 " pathEditMode="relative" ptsTypes="">
                                      <p:cBhvr>
                                        <p:cTn id="7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9063 0.115278 " pathEditMode="relative" ptsTypes="">
                                      <p:cBhvr>
                                        <p:cTn id="7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9063 0.115278 " pathEditMode="relative" ptsTypes="">
                                      <p:cBhvr>
                                        <p:cTn id="7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28906 -0.113889 " pathEditMode="relative" ptsTypes="">
                                      <p:cBhvr>
                                        <p:cTn id="8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1406 0.001389 " pathEditMode="relative" ptsTypes="">
                                      <p:cBhvr>
                                        <p:cTn id="8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3900000">
                                      <p:cBhvr>
                                        <p:cTn id="8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0"/>
                            </p:stCondLst>
                            <p:childTnLst>
                              <p:par>
                                <p:cTn id="8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0000 -0.106667 " pathEditMode="relative" ptsTypes="">
                                      <p:cBhvr>
                                        <p:cTn id="90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3308"/>
                                      </p:to>
                                    </p:animClr>
                                    <p:set>
                                      <p:cBhvr>
                                        <p:cTn id="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0000 -0.106667 " pathEditMode="relative" ptsTypes="">
                                      <p:cBhvr>
                                        <p:cTn id="100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7000"/>
                            </p:stCondLst>
                            <p:childTnLst>
                              <p:par>
                                <p:cTn id="102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10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22083 -0.015185 " pathEditMode="relative" rAng="0" ptsTypes="">
                                      <p:cBhvr>
                                        <p:cTn id="105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0" y="-1000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10365 -0.016574 " pathEditMode="relative" ptsTypes="">
                                      <p:cBhvr>
                                        <p:cTn id="107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bldLvl="0" animBg="1"/>
      <p:bldP spid="13" grpId="0" bldLvl="0" animBg="1"/>
      <p:bldP spid="17" grpId="0" bldLvl="0" animBg="1"/>
      <p:bldP spid="23" grpId="0" bldLvl="0" animBg="1"/>
      <p:bldP spid="24" grpId="0" bldLvl="0" animBg="1"/>
      <p:bldP spid="24" grpId="1" bldLvl="0" animBg="1"/>
      <p:bldP spid="26" grpId="0" bldLvl="0" animBg="1"/>
      <p:bldP spid="26" grpId="1" bldLvl="0" animBg="1"/>
      <p:bldP spid="28" grpId="0" bldLvl="0" animBg="1"/>
      <p:bldP spid="28" grpId="1" bldLvl="0" animBg="1"/>
      <p:bldP spid="31" grpId="0" bldLvl="0" animBg="1"/>
      <p:bldP spid="32" grpId="0" bldLvl="0" animBg="1"/>
      <p:bldP spid="35" grpId="0" bldLvl="0" animBg="1"/>
      <p:bldP spid="37" grpId="0" bldLvl="0" animBg="1"/>
      <p:bldP spid="38" grpId="0" bldLvl="0" animBg="1"/>
      <p:bldP spid="40" grpId="0" bldLvl="0" animBg="1"/>
      <p:bldP spid="42" grpId="0" bldLvl="0" animBg="1"/>
      <p:bldP spid="58" grpId="0" bldLvl="0" animBg="1"/>
      <p:bldP spid="44" grpId="0" bldLvl="0" animBg="1"/>
      <p:bldP spid="45" grpId="0" bldLvl="0" animBg="1"/>
      <p:bldP spid="48" grpId="0" bldLvl="0" animBg="1"/>
      <p:bldP spid="50" grpId="0" bldLvl="0" animBg="1"/>
      <p:bldP spid="51" grpId="0" bldLvl="0" animBg="1"/>
      <p:bldP spid="53" grpId="0" bldLvl="0" animBg="1"/>
      <p:bldP spid="55" grpId="0" bldLvl="0" animBg="1"/>
      <p:bldP spid="57" grpId="0" animBg="1"/>
      <p:bldP spid="59" grpId="0" animBg="1"/>
      <p:bldP spid="62" grpId="0" animBg="1"/>
      <p:bldP spid="64" grpId="0" animBg="1"/>
      <p:bldP spid="65" grpId="0" animBg="1"/>
      <p:bldP spid="67" grpId="0" animBg="1"/>
      <p:bldP spid="69" grpId="0" animBg="1"/>
      <p:bldP spid="71" grpId="0" animBg="1"/>
      <p:bldP spid="71" grpId="1" animBg="1"/>
      <p:bldP spid="72" grpId="0" animBg="1"/>
      <p:bldP spid="72" grpId="1" animBg="1"/>
      <p:bldP spid="75" grpId="0" bldLvl="0" animBg="1"/>
      <p:bldP spid="77" grpId="0" bldLvl="0" animBg="1"/>
      <p:bldP spid="79" grpId="0" bldLvl="0" animBg="1"/>
      <p:bldP spid="79" grpId="1" animBg="1"/>
      <p:bldP spid="81" grpId="0" bldLvl="0" animBg="1"/>
      <p:bldP spid="81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删除情况</a:t>
            </a:r>
            <a:r>
              <a:rPr lang="en-US" altLang="zh-CN"/>
              <a:t>3-</a:t>
            </a:r>
            <a:r>
              <a:rPr>
                <a:sym typeface="+mn-ea"/>
              </a:rPr>
              <a:t>兄弟节点为红色</a:t>
            </a:r>
          </a:p>
        </p:txBody>
      </p:sp>
      <p:sp>
        <p:nvSpPr>
          <p:cNvPr id="4" name="椭圆 3"/>
          <p:cNvSpPr/>
          <p:nvPr/>
        </p:nvSpPr>
        <p:spPr>
          <a:xfrm>
            <a:off x="2046605" y="227901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</a:p>
        </p:txBody>
      </p:sp>
      <p:sp>
        <p:nvSpPr>
          <p:cNvPr id="6" name="椭圆 5"/>
          <p:cNvSpPr/>
          <p:nvPr/>
        </p:nvSpPr>
        <p:spPr>
          <a:xfrm>
            <a:off x="2550795" y="290639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1888490" y="26803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2423160" y="26803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991870" y="3520440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1368425" y="33077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1511935" y="290639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799465" y="1373505"/>
            <a:ext cx="6217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交换父亲节点和兄弟节点颜色，并旋转。则在不影响树阶的情况下，把兄弟节点变为黑色，成为前面的情况。</a:t>
            </a:r>
          </a:p>
        </p:txBody>
      </p:sp>
      <p:sp>
        <p:nvSpPr>
          <p:cNvPr id="2" name="椭圆 1"/>
          <p:cNvSpPr/>
          <p:nvPr/>
        </p:nvSpPr>
        <p:spPr>
          <a:xfrm>
            <a:off x="2046605" y="3520440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</a:p>
        </p:txBody>
      </p:sp>
      <p:cxnSp>
        <p:nvCxnSpPr>
          <p:cNvPr id="11" name="直接箭头连接符 10"/>
          <p:cNvCxnSpPr>
            <a:stCxn id="5" idx="5"/>
            <a:endCxn id="2" idx="1"/>
          </p:cNvCxnSpPr>
          <p:nvPr/>
        </p:nvCxnSpPr>
        <p:spPr>
          <a:xfrm>
            <a:off x="1888490" y="330771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2423160" y="428561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</a:p>
        </p:txBody>
      </p:sp>
      <p:cxnSp>
        <p:nvCxnSpPr>
          <p:cNvPr id="20" name="直接箭头连接符 19"/>
          <p:cNvCxnSpPr>
            <a:endCxn id="19" idx="0"/>
          </p:cNvCxnSpPr>
          <p:nvPr/>
        </p:nvCxnSpPr>
        <p:spPr>
          <a:xfrm>
            <a:off x="2423160" y="3921760"/>
            <a:ext cx="220980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1670050" y="428561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L</a:t>
            </a:r>
          </a:p>
        </p:txBody>
      </p:sp>
      <p:cxnSp>
        <p:nvCxnSpPr>
          <p:cNvPr id="22" name="直接箭头连接符 21"/>
          <p:cNvCxnSpPr>
            <a:endCxn id="21" idx="0"/>
          </p:cNvCxnSpPr>
          <p:nvPr/>
        </p:nvCxnSpPr>
        <p:spPr>
          <a:xfrm flipH="1">
            <a:off x="1891030" y="3921760"/>
            <a:ext cx="220345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5974080" y="227901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</a:p>
        </p:txBody>
      </p:sp>
      <p:sp>
        <p:nvSpPr>
          <p:cNvPr id="13" name="椭圆 12"/>
          <p:cNvSpPr/>
          <p:nvPr/>
        </p:nvSpPr>
        <p:spPr>
          <a:xfrm>
            <a:off x="6478270" y="290639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</a:p>
        </p:txBody>
      </p:sp>
      <p:cxnSp>
        <p:nvCxnSpPr>
          <p:cNvPr id="14" name="直接箭头连接符 13"/>
          <p:cNvCxnSpPr>
            <a:stCxn id="12" idx="3"/>
            <a:endCxn id="23" idx="7"/>
          </p:cNvCxnSpPr>
          <p:nvPr/>
        </p:nvCxnSpPr>
        <p:spPr>
          <a:xfrm flipH="1">
            <a:off x="5815965" y="26803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2" idx="5"/>
            <a:endCxn id="13" idx="1"/>
          </p:cNvCxnSpPr>
          <p:nvPr/>
        </p:nvCxnSpPr>
        <p:spPr>
          <a:xfrm>
            <a:off x="6350635" y="26803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4919345" y="3520440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8" name="直接箭头连接符 17"/>
          <p:cNvCxnSpPr>
            <a:stCxn id="23" idx="3"/>
            <a:endCxn id="17" idx="7"/>
          </p:cNvCxnSpPr>
          <p:nvPr/>
        </p:nvCxnSpPr>
        <p:spPr>
          <a:xfrm flipH="1">
            <a:off x="5295900" y="33077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5439410" y="290639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</a:p>
        </p:txBody>
      </p:sp>
      <p:sp>
        <p:nvSpPr>
          <p:cNvPr id="24" name="椭圆 23"/>
          <p:cNvSpPr/>
          <p:nvPr/>
        </p:nvSpPr>
        <p:spPr>
          <a:xfrm>
            <a:off x="5974080" y="3520440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</a:p>
        </p:txBody>
      </p:sp>
      <p:cxnSp>
        <p:nvCxnSpPr>
          <p:cNvPr id="25" name="直接箭头连接符 24"/>
          <p:cNvCxnSpPr>
            <a:stCxn id="23" idx="5"/>
            <a:endCxn id="24" idx="1"/>
          </p:cNvCxnSpPr>
          <p:nvPr/>
        </p:nvCxnSpPr>
        <p:spPr>
          <a:xfrm>
            <a:off x="5815965" y="330771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/>
        </p:nvSpPr>
        <p:spPr>
          <a:xfrm>
            <a:off x="6350635" y="428561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</a:p>
        </p:txBody>
      </p:sp>
      <p:cxnSp>
        <p:nvCxnSpPr>
          <p:cNvPr id="27" name="直接箭头连接符 26"/>
          <p:cNvCxnSpPr>
            <a:endCxn id="26" idx="0"/>
          </p:cNvCxnSpPr>
          <p:nvPr/>
        </p:nvCxnSpPr>
        <p:spPr>
          <a:xfrm>
            <a:off x="6350635" y="3921760"/>
            <a:ext cx="220980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5597525" y="428561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L</a:t>
            </a:r>
          </a:p>
        </p:txBody>
      </p:sp>
      <p:cxnSp>
        <p:nvCxnSpPr>
          <p:cNvPr id="29" name="直接箭头连接符 28"/>
          <p:cNvCxnSpPr>
            <a:endCxn id="28" idx="0"/>
          </p:cNvCxnSpPr>
          <p:nvPr/>
        </p:nvCxnSpPr>
        <p:spPr>
          <a:xfrm flipH="1">
            <a:off x="5818505" y="3921760"/>
            <a:ext cx="220345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椭圆 43"/>
          <p:cNvSpPr/>
          <p:nvPr/>
        </p:nvSpPr>
        <p:spPr>
          <a:xfrm>
            <a:off x="9914890" y="231203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</a:p>
        </p:txBody>
      </p:sp>
      <p:sp>
        <p:nvSpPr>
          <p:cNvPr id="45" name="椭圆 44"/>
          <p:cNvSpPr/>
          <p:nvPr/>
        </p:nvSpPr>
        <p:spPr>
          <a:xfrm>
            <a:off x="10419080" y="293941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</a:p>
        </p:txBody>
      </p:sp>
      <p:cxnSp>
        <p:nvCxnSpPr>
          <p:cNvPr id="46" name="直接箭头连接符 45"/>
          <p:cNvCxnSpPr>
            <a:stCxn id="44" idx="3"/>
            <a:endCxn id="51" idx="7"/>
          </p:cNvCxnSpPr>
          <p:nvPr/>
        </p:nvCxnSpPr>
        <p:spPr>
          <a:xfrm flipH="1">
            <a:off x="9775825" y="2713355"/>
            <a:ext cx="203835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stCxn id="44" idx="5"/>
            <a:endCxn id="45" idx="1"/>
          </p:cNvCxnSpPr>
          <p:nvPr/>
        </p:nvCxnSpPr>
        <p:spPr>
          <a:xfrm>
            <a:off x="10291445" y="271335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椭圆 47"/>
          <p:cNvSpPr/>
          <p:nvPr/>
        </p:nvSpPr>
        <p:spPr>
          <a:xfrm>
            <a:off x="8693150" y="4249420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49" name="直接箭头连接符 48"/>
          <p:cNvCxnSpPr>
            <a:stCxn id="50" idx="3"/>
            <a:endCxn id="48" idx="0"/>
          </p:cNvCxnSpPr>
          <p:nvPr/>
        </p:nvCxnSpPr>
        <p:spPr>
          <a:xfrm flipH="1">
            <a:off x="8914130" y="3954780"/>
            <a:ext cx="220345" cy="2946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/>
          <p:cNvSpPr/>
          <p:nvPr/>
        </p:nvSpPr>
        <p:spPr>
          <a:xfrm>
            <a:off x="9069705" y="3553460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</a:p>
        </p:txBody>
      </p:sp>
      <p:sp>
        <p:nvSpPr>
          <p:cNvPr id="51" name="椭圆 50"/>
          <p:cNvSpPr/>
          <p:nvPr/>
        </p:nvSpPr>
        <p:spPr>
          <a:xfrm>
            <a:off x="9399270" y="292608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</a:p>
        </p:txBody>
      </p:sp>
      <p:cxnSp>
        <p:nvCxnSpPr>
          <p:cNvPr id="52" name="直接箭头连接符 51"/>
          <p:cNvCxnSpPr>
            <a:stCxn id="50" idx="5"/>
            <a:endCxn id="55" idx="0"/>
          </p:cNvCxnSpPr>
          <p:nvPr/>
        </p:nvCxnSpPr>
        <p:spPr>
          <a:xfrm>
            <a:off x="9446260" y="3954780"/>
            <a:ext cx="183515" cy="2946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/>
          <p:cNvSpPr/>
          <p:nvPr/>
        </p:nvSpPr>
        <p:spPr>
          <a:xfrm>
            <a:off x="9850120" y="362204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</a:p>
        </p:txBody>
      </p:sp>
      <p:cxnSp>
        <p:nvCxnSpPr>
          <p:cNvPr id="54" name="直接箭头连接符 53"/>
          <p:cNvCxnSpPr>
            <a:stCxn id="51" idx="5"/>
            <a:endCxn id="53" idx="0"/>
          </p:cNvCxnSpPr>
          <p:nvPr/>
        </p:nvCxnSpPr>
        <p:spPr>
          <a:xfrm>
            <a:off x="9775825" y="3327400"/>
            <a:ext cx="295275" cy="2946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/>
          <p:cNvSpPr/>
          <p:nvPr/>
        </p:nvSpPr>
        <p:spPr>
          <a:xfrm>
            <a:off x="9408795" y="424942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L</a:t>
            </a:r>
          </a:p>
        </p:txBody>
      </p:sp>
      <p:cxnSp>
        <p:nvCxnSpPr>
          <p:cNvPr id="56" name="直接箭头连接符 55"/>
          <p:cNvCxnSpPr>
            <a:stCxn id="51" idx="3"/>
            <a:endCxn id="50" idx="0"/>
          </p:cNvCxnSpPr>
          <p:nvPr/>
        </p:nvCxnSpPr>
        <p:spPr>
          <a:xfrm flipH="1">
            <a:off x="9290685" y="3327400"/>
            <a:ext cx="173355" cy="2260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27812 0.109259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0" y="52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3308"/>
                                      </p:to>
                                    </p:animClr>
                                    <p:set>
                                      <p:cBhvr>
                                        <p:cTn id="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38385 0.090278 " pathEditMode="relative" rAng="0" ptsTypes="">
                                      <p:cBhvr>
                                        <p:cTn id="1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00" y="490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42969 -0.094444 " pathEditMode="relative" ptsTypes="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39375 -0.096667 " pathEditMode="relative" rAng="0" ptsTypes="">
                                      <p:cBhvr>
                                        <p:cTn id="2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00" y="-470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79948 0.003981 " pathEditMode="relative" rAng="0" ptsTypes="">
                                      <p:cBhvr>
                                        <p:cTn id="2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00" y="40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76198 0.003981 " pathEditMode="relative" rAng="0" ptsTypes="">
                                      <p:cBhvr>
                                        <p:cTn id="2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00" y="40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09792 0.000000 " pathEditMode="relative" ptsTypes="">
                                      <p:cBhvr>
                                        <p:cTn id="2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3" grpId="0" animBg="1"/>
      <p:bldP spid="24" grpId="0" animBg="1"/>
      <p:bldP spid="26" grpId="0" animBg="1"/>
      <p:bldP spid="2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Office PowerPoint</Application>
  <PresentationFormat>宽屏</PresentationFormat>
  <Paragraphs>99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Wingdings</vt:lpstr>
      <vt:lpstr>Office 主题​​</vt:lpstr>
      <vt:lpstr>RBTree删除旋转</vt:lpstr>
      <vt:lpstr>右旋</vt:lpstr>
      <vt:lpstr>左旋</vt:lpstr>
      <vt:lpstr>节点定义</vt:lpstr>
      <vt:lpstr>红－黑树的删除</vt:lpstr>
      <vt:lpstr>删除情况1-兄弟节点为黑色，兄弟儿子节点全为黑色</vt:lpstr>
      <vt:lpstr>删除情况2-兄弟节点为黑，兄弟孩子节点非全黑色</vt:lpstr>
      <vt:lpstr>删除情况3-兄弟节点为红色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李尔里德</dc:creator>
  <cp:lastModifiedBy>尔里德 李</cp:lastModifiedBy>
  <cp:revision>178</cp:revision>
  <dcterms:created xsi:type="dcterms:W3CDTF">2019-06-19T02:08:00Z</dcterms:created>
  <dcterms:modified xsi:type="dcterms:W3CDTF">2024-11-18T08:37:42Z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