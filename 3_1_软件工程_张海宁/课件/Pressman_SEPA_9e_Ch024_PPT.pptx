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26"/>
  </p:notesMasterIdLst>
  <p:sldIdLst>
    <p:sldId id="282" r:id="rId6"/>
    <p:sldId id="263" r:id="rId7"/>
    <p:sldId id="266" r:id="rId8"/>
    <p:sldId id="267" r:id="rId9"/>
    <p:sldId id="268" r:id="rId10"/>
    <p:sldId id="269" r:id="rId11"/>
    <p:sldId id="270" r:id="rId12"/>
    <p:sldId id="271" r:id="rId13"/>
    <p:sldId id="272" r:id="rId14"/>
    <p:sldId id="273" r:id="rId15"/>
    <p:sldId id="274" r:id="rId16"/>
    <p:sldId id="275" r:id="rId17"/>
    <p:sldId id="277" r:id="rId18"/>
    <p:sldId id="278" r:id="rId19"/>
    <p:sldId id="279" r:id="rId20"/>
    <p:sldId id="280" r:id="rId21"/>
    <p:sldId id="281" r:id="rId22"/>
    <p:sldId id="260" r:id="rId23"/>
    <p:sldId id="258" r:id="rId24"/>
    <p:sldId id="264"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82"/>
            <p14:sldId id="263"/>
            <p14:sldId id="266"/>
            <p14:sldId id="267"/>
            <p14:sldId id="268"/>
            <p14:sldId id="269"/>
            <p14:sldId id="270"/>
            <p14:sldId id="271"/>
            <p14:sldId id="272"/>
            <p14:sldId id="273"/>
            <p14:sldId id="274"/>
            <p14:sldId id="275"/>
            <p14:sldId id="277"/>
            <p14:sldId id="278"/>
            <p14:sldId id="279"/>
            <p14:sldId id="280"/>
            <p14:sldId id="281"/>
            <p14:sldId id="260"/>
          </p14:sldIdLst>
        </p14:section>
        <p14:section name="Appendix: Image Descriptions for Unsighted Students" id="{9E859B0B-078E-463E-89A6-21C20DD280C4}">
          <p14:sldIdLst>
            <p14:sldId id="258"/>
            <p14:sldId id="264"/>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73781" autoAdjust="0"/>
  </p:normalViewPr>
  <p:slideViewPr>
    <p:cSldViewPr snapToGrid="0" showGuides="1">
      <p:cViewPr varScale="1">
        <p:scale>
          <a:sx n="61" d="100"/>
          <a:sy n="61" d="100"/>
        </p:scale>
        <p:origin x="1436" y="56"/>
      </p:cViewPr>
      <p:guideLst>
        <p:guide pos="3264"/>
        <p:guide orient="horz" pos="2256"/>
        <p:guide pos="56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commentAuthors" Target="commentAuthors.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 Gao" userId="8b4c448f-f25d-42d5-b038-cc11c3c58695" providerId="ADAL" clId="{37FDC308-E803-4445-808E-A097693E65E3}"/>
    <pc:docChg chg="modSld">
      <pc:chgData name="Nan Gao" userId="8b4c448f-f25d-42d5-b038-cc11c3c58695" providerId="ADAL" clId="{37FDC308-E803-4445-808E-A097693E65E3}" dt="2025-12-03T08:05:22.078" v="0" actId="6549"/>
      <pc:docMkLst>
        <pc:docMk/>
      </pc:docMkLst>
      <pc:sldChg chg="modSp mod">
        <pc:chgData name="Nan Gao" userId="8b4c448f-f25d-42d5-b038-cc11c3c58695" providerId="ADAL" clId="{37FDC308-E803-4445-808E-A097693E65E3}" dt="2025-12-03T08:05:22.078" v="0" actId="6549"/>
        <pc:sldMkLst>
          <pc:docMk/>
          <pc:sldMk cId="2675223024" sldId="267"/>
        </pc:sldMkLst>
        <pc:spChg chg="mod">
          <ac:chgData name="Nan Gao" userId="8b4c448f-f25d-42d5-b038-cc11c3c58695" providerId="ADAL" clId="{37FDC308-E803-4445-808E-A097693E65E3}" dt="2025-12-03T08:05:22.078" v="0" actId="6549"/>
          <ac:spMkLst>
            <pc:docMk/>
            <pc:sldMk cId="2675223024" sldId="267"/>
            <ac:spMk id="4" creationId="{F11F9857-6496-490D-8EF4-49E16A203194}"/>
          </ac:spMkLst>
        </pc:spChg>
      </pc:sldChg>
    </pc:docChg>
  </pc:docChgLst>
  <pc:docChgLst>
    <pc:chgData name="Nan Gao" userId="8b4c448f-f25d-42d5-b038-cc11c3c58695" providerId="ADAL" clId="{DA4104BB-D33D-4E71-96AF-E93873B9ABC9}"/>
    <pc:docChg chg="modSld">
      <pc:chgData name="Nan Gao" userId="8b4c448f-f25d-42d5-b038-cc11c3c58695" providerId="ADAL" clId="{DA4104BB-D33D-4E71-96AF-E93873B9ABC9}" dt="2025-12-03T13:41:52.673" v="17"/>
      <pc:docMkLst>
        <pc:docMk/>
      </pc:docMkLst>
      <pc:sldChg chg="modNotesTx">
        <pc:chgData name="Nan Gao" userId="8b4c448f-f25d-42d5-b038-cc11c3c58695" providerId="ADAL" clId="{DA4104BB-D33D-4E71-96AF-E93873B9ABC9}" dt="2025-12-03T13:41:52.673" v="17"/>
        <pc:sldMkLst>
          <pc:docMk/>
          <pc:sldMk cId="1080484485" sldId="260"/>
        </pc:sldMkLst>
      </pc:sldChg>
      <pc:sldChg chg="modNotesTx">
        <pc:chgData name="Nan Gao" userId="8b4c448f-f25d-42d5-b038-cc11c3c58695" providerId="ADAL" clId="{DA4104BB-D33D-4E71-96AF-E93873B9ABC9}" dt="2025-12-03T13:36:03.185" v="1"/>
        <pc:sldMkLst>
          <pc:docMk/>
          <pc:sldMk cId="1503147761" sldId="263"/>
        </pc:sldMkLst>
      </pc:sldChg>
      <pc:sldChg chg="modNotesTx">
        <pc:chgData name="Nan Gao" userId="8b4c448f-f25d-42d5-b038-cc11c3c58695" providerId="ADAL" clId="{DA4104BB-D33D-4E71-96AF-E93873B9ABC9}" dt="2025-12-03T13:36:14.600" v="2"/>
        <pc:sldMkLst>
          <pc:docMk/>
          <pc:sldMk cId="4030625440" sldId="266"/>
        </pc:sldMkLst>
      </pc:sldChg>
      <pc:sldChg chg="modNotesTx">
        <pc:chgData name="Nan Gao" userId="8b4c448f-f25d-42d5-b038-cc11c3c58695" providerId="ADAL" clId="{DA4104BB-D33D-4E71-96AF-E93873B9ABC9}" dt="2025-12-03T13:36:30.831" v="3"/>
        <pc:sldMkLst>
          <pc:docMk/>
          <pc:sldMk cId="2675223024" sldId="267"/>
        </pc:sldMkLst>
      </pc:sldChg>
      <pc:sldChg chg="modNotesTx">
        <pc:chgData name="Nan Gao" userId="8b4c448f-f25d-42d5-b038-cc11c3c58695" providerId="ADAL" clId="{DA4104BB-D33D-4E71-96AF-E93873B9ABC9}" dt="2025-12-03T13:36:44.290" v="4"/>
        <pc:sldMkLst>
          <pc:docMk/>
          <pc:sldMk cId="2281669597" sldId="268"/>
        </pc:sldMkLst>
      </pc:sldChg>
      <pc:sldChg chg="modNotesTx">
        <pc:chgData name="Nan Gao" userId="8b4c448f-f25d-42d5-b038-cc11c3c58695" providerId="ADAL" clId="{DA4104BB-D33D-4E71-96AF-E93873B9ABC9}" dt="2025-12-03T13:36:55.247" v="5"/>
        <pc:sldMkLst>
          <pc:docMk/>
          <pc:sldMk cId="1089282470" sldId="269"/>
        </pc:sldMkLst>
      </pc:sldChg>
      <pc:sldChg chg="modNotesTx">
        <pc:chgData name="Nan Gao" userId="8b4c448f-f25d-42d5-b038-cc11c3c58695" providerId="ADAL" clId="{DA4104BB-D33D-4E71-96AF-E93873B9ABC9}" dt="2025-12-03T13:37:19.018" v="6"/>
        <pc:sldMkLst>
          <pc:docMk/>
          <pc:sldMk cId="4239153757" sldId="270"/>
        </pc:sldMkLst>
      </pc:sldChg>
      <pc:sldChg chg="modNotesTx">
        <pc:chgData name="Nan Gao" userId="8b4c448f-f25d-42d5-b038-cc11c3c58695" providerId="ADAL" clId="{DA4104BB-D33D-4E71-96AF-E93873B9ABC9}" dt="2025-12-03T13:38:26.497" v="7"/>
        <pc:sldMkLst>
          <pc:docMk/>
          <pc:sldMk cId="3967835634" sldId="271"/>
        </pc:sldMkLst>
      </pc:sldChg>
      <pc:sldChg chg="modNotesTx">
        <pc:chgData name="Nan Gao" userId="8b4c448f-f25d-42d5-b038-cc11c3c58695" providerId="ADAL" clId="{DA4104BB-D33D-4E71-96AF-E93873B9ABC9}" dt="2025-12-03T13:38:37.283" v="8"/>
        <pc:sldMkLst>
          <pc:docMk/>
          <pc:sldMk cId="1866757270" sldId="272"/>
        </pc:sldMkLst>
      </pc:sldChg>
      <pc:sldChg chg="modNotesTx">
        <pc:chgData name="Nan Gao" userId="8b4c448f-f25d-42d5-b038-cc11c3c58695" providerId="ADAL" clId="{DA4104BB-D33D-4E71-96AF-E93873B9ABC9}" dt="2025-12-03T13:38:45.392" v="9"/>
        <pc:sldMkLst>
          <pc:docMk/>
          <pc:sldMk cId="4257075132" sldId="273"/>
        </pc:sldMkLst>
      </pc:sldChg>
      <pc:sldChg chg="modNotesTx">
        <pc:chgData name="Nan Gao" userId="8b4c448f-f25d-42d5-b038-cc11c3c58695" providerId="ADAL" clId="{DA4104BB-D33D-4E71-96AF-E93873B9ABC9}" dt="2025-12-03T13:39:25.272" v="10"/>
        <pc:sldMkLst>
          <pc:docMk/>
          <pc:sldMk cId="3266475688" sldId="274"/>
        </pc:sldMkLst>
      </pc:sldChg>
      <pc:sldChg chg="modNotesTx">
        <pc:chgData name="Nan Gao" userId="8b4c448f-f25d-42d5-b038-cc11c3c58695" providerId="ADAL" clId="{DA4104BB-D33D-4E71-96AF-E93873B9ABC9}" dt="2025-12-03T13:39:37.912" v="11"/>
        <pc:sldMkLst>
          <pc:docMk/>
          <pc:sldMk cId="213064494" sldId="275"/>
        </pc:sldMkLst>
      </pc:sldChg>
      <pc:sldChg chg="modNotesTx">
        <pc:chgData name="Nan Gao" userId="8b4c448f-f25d-42d5-b038-cc11c3c58695" providerId="ADAL" clId="{DA4104BB-D33D-4E71-96AF-E93873B9ABC9}" dt="2025-12-03T13:39:51.860" v="12"/>
        <pc:sldMkLst>
          <pc:docMk/>
          <pc:sldMk cId="386653847" sldId="277"/>
        </pc:sldMkLst>
      </pc:sldChg>
      <pc:sldChg chg="modNotesTx">
        <pc:chgData name="Nan Gao" userId="8b4c448f-f25d-42d5-b038-cc11c3c58695" providerId="ADAL" clId="{DA4104BB-D33D-4E71-96AF-E93873B9ABC9}" dt="2025-12-03T13:40:43.610" v="13"/>
        <pc:sldMkLst>
          <pc:docMk/>
          <pc:sldMk cId="1462465237" sldId="278"/>
        </pc:sldMkLst>
      </pc:sldChg>
      <pc:sldChg chg="modNotesTx">
        <pc:chgData name="Nan Gao" userId="8b4c448f-f25d-42d5-b038-cc11c3c58695" providerId="ADAL" clId="{DA4104BB-D33D-4E71-96AF-E93873B9ABC9}" dt="2025-12-03T13:40:52.168" v="14"/>
        <pc:sldMkLst>
          <pc:docMk/>
          <pc:sldMk cId="2644205914" sldId="279"/>
        </pc:sldMkLst>
      </pc:sldChg>
      <pc:sldChg chg="modNotesTx">
        <pc:chgData name="Nan Gao" userId="8b4c448f-f25d-42d5-b038-cc11c3c58695" providerId="ADAL" clId="{DA4104BB-D33D-4E71-96AF-E93873B9ABC9}" dt="2025-12-03T13:41:02.724" v="15"/>
        <pc:sldMkLst>
          <pc:docMk/>
          <pc:sldMk cId="3375505386" sldId="280"/>
        </pc:sldMkLst>
      </pc:sldChg>
      <pc:sldChg chg="modNotesTx">
        <pc:chgData name="Nan Gao" userId="8b4c448f-f25d-42d5-b038-cc11c3c58695" providerId="ADAL" clId="{DA4104BB-D33D-4E71-96AF-E93873B9ABC9}" dt="2025-12-03T13:41:43.042" v="16"/>
        <pc:sldMkLst>
          <pc:docMk/>
          <pc:sldMk cId="2965036380" sldId="2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FDA5BA-5E4A-401C-9907-E4C07141796D}" type="datetimeFigureOut">
              <a:rPr lang="zh-CN" altLang="en-US" smtClean="0"/>
              <a:t>2025/12/3</a:t>
            </a:fld>
            <a:endParaRPr lang="zh-CN" alt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EF802-B16A-46F4-B044-51989B4CBA42}" type="slidenum">
              <a:rPr lang="zh-CN" altLang="en-US" smtClean="0"/>
              <a:t>‹#›</a:t>
            </a:fld>
            <a:endParaRPr lang="zh-CN" altLang="en-US"/>
          </a:p>
        </p:txBody>
      </p:sp>
    </p:spTree>
    <p:extLst>
      <p:ext uri="{BB962C8B-B14F-4D97-AF65-F5344CB8AC3E}">
        <p14:creationId xmlns:p14="http://schemas.microsoft.com/office/powerpoint/2010/main" val="2617838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在开始讲解软件项目管理之前，我们首先要理解其核心框架。今天我们先从“管理光谱”中的“四</a:t>
            </a:r>
            <a:r>
              <a:rPr lang="en-US" altLang="zh-CN" b="0" i="0" dirty="0">
                <a:solidFill>
                  <a:srgbClr val="0F1115"/>
                </a:solidFill>
                <a:effectLst/>
                <a:latin typeface="quote-cjk-patch"/>
              </a:rPr>
              <a:t>P”</a:t>
            </a:r>
            <a:r>
              <a:rPr lang="zh-CN" altLang="en-US" b="0" i="0" dirty="0">
                <a:solidFill>
                  <a:srgbClr val="0F1115"/>
                </a:solidFill>
                <a:effectLst/>
                <a:latin typeface="quote-cjk-patch"/>
              </a:rPr>
              <a:t>入手，这是项目管理的基础模型。</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这一页介绍了项目管理的四个核心要素，统称为“四</a:t>
            </a:r>
            <a:r>
              <a:rPr lang="en-US" altLang="zh-CN" b="0" i="0" dirty="0">
                <a:solidFill>
                  <a:srgbClr val="0F1115"/>
                </a:solidFill>
                <a:effectLst/>
                <a:latin typeface="quote-cjk-patch"/>
              </a:rPr>
              <a:t>P”</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人员（</a:t>
            </a:r>
            <a:r>
              <a:rPr lang="en-US" altLang="zh-CN" b="1" i="0" dirty="0">
                <a:solidFill>
                  <a:srgbClr val="0F1115"/>
                </a:solidFill>
                <a:effectLst/>
                <a:latin typeface="quote-cjk-patch"/>
              </a:rPr>
              <a:t>People</a:t>
            </a:r>
            <a:r>
              <a:rPr lang="zh-CN" altLang="en-US" b="1" i="0" dirty="0">
                <a:solidFill>
                  <a:srgbClr val="0F1115"/>
                </a:solidFill>
                <a:effectLst/>
                <a:latin typeface="quote-cjk-patch"/>
              </a:rPr>
              <a:t>）</a:t>
            </a:r>
            <a:r>
              <a:rPr lang="zh-CN" altLang="en-US" b="0" i="0" dirty="0">
                <a:solidFill>
                  <a:srgbClr val="0F1115"/>
                </a:solidFill>
                <a:effectLst/>
                <a:latin typeface="quote-cjk-patch"/>
              </a:rPr>
              <a:t>：这是项目成功最关键的因素。无论技术多先进，流程多完善，最终都需要人来执行和协作。</a:t>
            </a:r>
          </a:p>
          <a:p>
            <a:pPr algn="l">
              <a:buFont typeface="Arial" panose="020B0604020202020204" pitchFamily="34" charset="0"/>
              <a:buChar char="•"/>
            </a:pPr>
            <a:r>
              <a:rPr lang="zh-CN" altLang="en-US" b="1" i="0" dirty="0">
                <a:solidFill>
                  <a:srgbClr val="0F1115"/>
                </a:solidFill>
                <a:effectLst/>
                <a:latin typeface="quote-cjk-patch"/>
              </a:rPr>
              <a:t>产品（</a:t>
            </a:r>
            <a:r>
              <a:rPr lang="en-US" altLang="zh-CN" b="1" i="0" dirty="0">
                <a:solidFill>
                  <a:srgbClr val="0F1115"/>
                </a:solidFill>
                <a:effectLst/>
                <a:latin typeface="quote-cjk-patch"/>
              </a:rPr>
              <a:t>Product</a:t>
            </a:r>
            <a:r>
              <a:rPr lang="zh-CN" altLang="en-US" b="1" i="0" dirty="0">
                <a:solidFill>
                  <a:srgbClr val="0F1115"/>
                </a:solidFill>
                <a:effectLst/>
                <a:latin typeface="quote-cjk-patch"/>
              </a:rPr>
              <a:t>）</a:t>
            </a:r>
            <a:r>
              <a:rPr lang="zh-CN" altLang="en-US" b="0" i="0" dirty="0">
                <a:solidFill>
                  <a:srgbClr val="0F1115"/>
                </a:solidFill>
                <a:effectLst/>
                <a:latin typeface="quote-cjk-patch"/>
              </a:rPr>
              <a:t>：指的是我们要构建的软件本身，它是项目的目标和交付物。</a:t>
            </a:r>
          </a:p>
          <a:p>
            <a:pPr algn="l">
              <a:buFont typeface="Arial" panose="020B0604020202020204" pitchFamily="34" charset="0"/>
              <a:buChar char="•"/>
            </a:pPr>
            <a:r>
              <a:rPr lang="zh-CN" altLang="en-US" b="1" i="0" dirty="0">
                <a:solidFill>
                  <a:srgbClr val="0F1115"/>
                </a:solidFill>
                <a:effectLst/>
                <a:latin typeface="quote-cjk-patch"/>
              </a:rPr>
              <a:t>过程（</a:t>
            </a:r>
            <a:r>
              <a:rPr lang="en-US" altLang="zh-CN" b="1" i="0" dirty="0">
                <a:solidFill>
                  <a:srgbClr val="0F1115"/>
                </a:solidFill>
                <a:effectLst/>
                <a:latin typeface="quote-cjk-patch"/>
              </a:rPr>
              <a:t>Process</a:t>
            </a:r>
            <a:r>
              <a:rPr lang="zh-CN" altLang="en-US" b="1" i="0" dirty="0">
                <a:solidFill>
                  <a:srgbClr val="0F1115"/>
                </a:solidFill>
                <a:effectLst/>
                <a:latin typeface="quote-cjk-patch"/>
              </a:rPr>
              <a:t>）</a:t>
            </a:r>
            <a:r>
              <a:rPr lang="zh-CN" altLang="en-US" b="0" i="0" dirty="0">
                <a:solidFill>
                  <a:srgbClr val="0F1115"/>
                </a:solidFill>
                <a:effectLst/>
                <a:latin typeface="quote-cjk-patch"/>
              </a:rPr>
              <a:t>：指为了完成项目所采用的一系列活动和任务，比如需求分析、设计、编码、测试等。</a:t>
            </a:r>
          </a:p>
          <a:p>
            <a:pPr algn="l">
              <a:buFont typeface="Arial" panose="020B0604020202020204" pitchFamily="34" charset="0"/>
              <a:buChar char="•"/>
            </a:pPr>
            <a:r>
              <a:rPr lang="zh-CN" altLang="en-US" b="1" i="0" dirty="0">
                <a:solidFill>
                  <a:srgbClr val="0F1115"/>
                </a:solidFill>
                <a:effectLst/>
                <a:latin typeface="quote-cjk-patch"/>
              </a:rPr>
              <a:t>项目（</a:t>
            </a:r>
            <a:r>
              <a:rPr lang="en-US" altLang="zh-CN" b="1" i="0" dirty="0">
                <a:solidFill>
                  <a:srgbClr val="0F1115"/>
                </a:solidFill>
                <a:effectLst/>
                <a:latin typeface="quote-cjk-patch"/>
              </a:rPr>
              <a:t>Project</a:t>
            </a:r>
            <a:r>
              <a:rPr lang="zh-CN" altLang="en-US" b="1" i="0" dirty="0">
                <a:solidFill>
                  <a:srgbClr val="0F1115"/>
                </a:solidFill>
                <a:effectLst/>
                <a:latin typeface="quote-cjk-patch"/>
              </a:rPr>
              <a:t>）</a:t>
            </a:r>
            <a:r>
              <a:rPr lang="zh-CN" altLang="en-US" b="0" i="0" dirty="0">
                <a:solidFill>
                  <a:srgbClr val="0F1115"/>
                </a:solidFill>
                <a:effectLst/>
                <a:latin typeface="quote-cjk-patch"/>
              </a:rPr>
              <a:t>：指的是为完成产品所需进行的所有工作，包括计划、执行、监控和收尾。</a:t>
            </a:r>
          </a:p>
          <a:p>
            <a:pPr algn="l"/>
            <a:r>
              <a:rPr lang="zh-CN" altLang="en-US" b="0" i="0" dirty="0">
                <a:solidFill>
                  <a:srgbClr val="0F1115"/>
                </a:solidFill>
                <a:effectLst/>
                <a:latin typeface="quote-cjk-patch"/>
              </a:rPr>
              <a:t>这四者相互关联，缺一不可。比如，即使过程很规范，如果人员不配合，项目也很难成功。</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2</a:t>
            </a:fld>
            <a:endParaRPr lang="zh-CN" altLang="en-US"/>
          </a:p>
        </p:txBody>
      </p:sp>
    </p:spTree>
    <p:extLst>
      <p:ext uri="{BB962C8B-B14F-4D97-AF65-F5344CB8AC3E}">
        <p14:creationId xmlns:p14="http://schemas.microsoft.com/office/powerpoint/2010/main" val="2136865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明确了项目管理的四个维度后，我们接下来看看项目中涉及哪些关键角色，也就是“利益相关者”。理解他们各自的职责和期望，对项目协调至关重要。</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利益相关者是指在项目中具有利益或影响的个人或群体，主要包括以下几类：</a:t>
            </a:r>
          </a:p>
          <a:p>
            <a:pPr algn="l">
              <a:buFont typeface="Arial" panose="020B0604020202020204" pitchFamily="34" charset="0"/>
              <a:buChar char="•"/>
            </a:pPr>
            <a:r>
              <a:rPr lang="zh-CN" altLang="en-US" b="1" i="0" dirty="0">
                <a:solidFill>
                  <a:srgbClr val="0F1115"/>
                </a:solidFill>
                <a:effectLst/>
                <a:latin typeface="quote-cjk-patch"/>
              </a:rPr>
              <a:t>高层管理者</a:t>
            </a:r>
            <a:r>
              <a:rPr lang="zh-CN" altLang="en-US" b="0" i="0" dirty="0">
                <a:solidFill>
                  <a:srgbClr val="0F1115"/>
                </a:solidFill>
                <a:effectLst/>
                <a:latin typeface="quote-cjk-patch"/>
              </a:rPr>
              <a:t>：他们定义项目的商业目标和战略方向，对项目资源和支持有重要影响。</a:t>
            </a:r>
          </a:p>
          <a:p>
            <a:pPr algn="l">
              <a:buFont typeface="Arial" panose="020B0604020202020204" pitchFamily="34" charset="0"/>
              <a:buChar char="•"/>
            </a:pPr>
            <a:r>
              <a:rPr lang="zh-CN" altLang="en-US" b="1" i="0" dirty="0">
                <a:solidFill>
                  <a:srgbClr val="0F1115"/>
                </a:solidFill>
                <a:effectLst/>
                <a:latin typeface="quote-cjk-patch"/>
              </a:rPr>
              <a:t>项目经理</a:t>
            </a:r>
            <a:r>
              <a:rPr lang="zh-CN" altLang="en-US" b="0" i="0" dirty="0">
                <a:solidFill>
                  <a:srgbClr val="0F1115"/>
                </a:solidFill>
                <a:effectLst/>
                <a:latin typeface="quote-cjk-patch"/>
              </a:rPr>
              <a:t>：负责项目的具体规划、组织、激励和控制，是团队与高层之间的桥梁。</a:t>
            </a:r>
          </a:p>
          <a:p>
            <a:pPr algn="l">
              <a:buFont typeface="Arial" panose="020B0604020202020204" pitchFamily="34" charset="0"/>
              <a:buChar char="•"/>
            </a:pPr>
            <a:r>
              <a:rPr lang="zh-CN" altLang="en-US" b="1" i="0" dirty="0">
                <a:solidFill>
                  <a:srgbClr val="0F1115"/>
                </a:solidFill>
                <a:effectLst/>
                <a:latin typeface="quote-cjk-patch"/>
              </a:rPr>
              <a:t>执行人员</a:t>
            </a:r>
            <a:r>
              <a:rPr lang="zh-CN" altLang="en-US" b="0" i="0" dirty="0">
                <a:solidFill>
                  <a:srgbClr val="0F1115"/>
                </a:solidFill>
                <a:effectLst/>
                <a:latin typeface="quote-cjk-patch"/>
              </a:rPr>
              <a:t>：即开发人员、测试人员等，他们提供技术能力，实际构建产品。</a:t>
            </a:r>
          </a:p>
          <a:p>
            <a:pPr algn="l">
              <a:buFont typeface="Arial" panose="020B0604020202020204" pitchFamily="34" charset="0"/>
              <a:buChar char="•"/>
            </a:pPr>
            <a:r>
              <a:rPr lang="zh-CN" altLang="en-US" b="1" i="0" dirty="0">
                <a:solidFill>
                  <a:srgbClr val="0F1115"/>
                </a:solidFill>
                <a:effectLst/>
                <a:latin typeface="quote-cjk-patch"/>
              </a:rPr>
              <a:t>客户</a:t>
            </a:r>
            <a:r>
              <a:rPr lang="zh-CN" altLang="en-US" b="0" i="0" dirty="0">
                <a:solidFill>
                  <a:srgbClr val="0F1115"/>
                </a:solidFill>
                <a:effectLst/>
                <a:latin typeface="quote-cjk-patch"/>
              </a:rPr>
              <a:t>：提出软件需求，是产品的最终购买者或发起方。</a:t>
            </a:r>
          </a:p>
          <a:p>
            <a:pPr algn="l">
              <a:buFont typeface="Arial" panose="020B0604020202020204" pitchFamily="34" charset="0"/>
              <a:buChar char="•"/>
            </a:pPr>
            <a:r>
              <a:rPr lang="zh-CN" altLang="en-US" b="1" i="0" dirty="0">
                <a:solidFill>
                  <a:srgbClr val="0F1115"/>
                </a:solidFill>
                <a:effectLst/>
                <a:latin typeface="quote-cjk-patch"/>
              </a:rPr>
              <a:t>最终用户</a:t>
            </a:r>
            <a:r>
              <a:rPr lang="zh-CN" altLang="en-US" b="0" i="0" dirty="0">
                <a:solidFill>
                  <a:srgbClr val="0F1115"/>
                </a:solidFill>
                <a:effectLst/>
                <a:latin typeface="quote-cjk-patch"/>
              </a:rPr>
              <a:t>：实际使用软件的人，他们的体验直接决定产品是否成功。</a:t>
            </a:r>
          </a:p>
          <a:p>
            <a:pPr algn="l">
              <a:buFont typeface="Arial" panose="020B0604020202020204" pitchFamily="34" charset="0"/>
              <a:buChar char="•"/>
            </a:pPr>
            <a:r>
              <a:rPr lang="zh-CN" altLang="en-US" b="1" i="0" dirty="0">
                <a:solidFill>
                  <a:srgbClr val="0F1115"/>
                </a:solidFill>
                <a:effectLst/>
                <a:latin typeface="quote-cjk-patch"/>
              </a:rPr>
              <a:t>团队领导</a:t>
            </a:r>
            <a:r>
              <a:rPr lang="zh-CN" altLang="en-US" b="0" i="0" dirty="0">
                <a:solidFill>
                  <a:srgbClr val="0F1115"/>
                </a:solidFill>
                <a:effectLst/>
                <a:latin typeface="quote-cjk-patch"/>
              </a:rPr>
              <a:t>：在技术团队中起到带领和协调作用，通常也具备一定的管理职能。</a:t>
            </a:r>
          </a:p>
          <a:p>
            <a:pPr algn="l"/>
            <a:r>
              <a:rPr lang="zh-CN" altLang="en-US" b="0" i="0" dirty="0">
                <a:solidFill>
                  <a:srgbClr val="0F1115"/>
                </a:solidFill>
                <a:effectLst/>
                <a:latin typeface="quote-cjk-patch"/>
              </a:rPr>
              <a:t>理解这些角色的不同视角，有助于在项目中更好地沟通和管理期望。</a:t>
            </a:r>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3</a:t>
            </a:fld>
            <a:endParaRPr lang="zh-CN" altLang="en-US"/>
          </a:p>
        </p:txBody>
      </p:sp>
    </p:spTree>
    <p:extLst>
      <p:ext uri="{BB962C8B-B14F-4D97-AF65-F5344CB8AC3E}">
        <p14:creationId xmlns:p14="http://schemas.microsoft.com/office/powerpoint/2010/main" val="3599000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在众多利益相关者中，团队领导扮演着特别关键的角色。他们不仅是管理者，更是团队的引领者。接下来我们看看优秀的技术团队领导应具备哪些行为模式。</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这一页引用了</a:t>
            </a:r>
            <a:r>
              <a:rPr lang="en-US" altLang="zh-CN" b="0" i="0" dirty="0">
                <a:solidFill>
                  <a:srgbClr val="0F1115"/>
                </a:solidFill>
                <a:effectLst/>
                <a:latin typeface="quote-cjk-patch"/>
              </a:rPr>
              <a:t>Kouzes</a:t>
            </a:r>
            <a:r>
              <a:rPr lang="zh-CN" altLang="en-US" b="0" i="0" dirty="0">
                <a:solidFill>
                  <a:srgbClr val="0F1115"/>
                </a:solidFill>
                <a:effectLst/>
                <a:latin typeface="quote-cjk-patch"/>
              </a:rPr>
              <a:t>提出的技术领导五大实践，非常适合指导软件项目中的团队领导：</a:t>
            </a:r>
          </a:p>
          <a:p>
            <a:pPr algn="l">
              <a:buFont typeface="+mj-lt"/>
              <a:buAutoNum type="arabicPeriod"/>
            </a:pPr>
            <a:r>
              <a:rPr lang="zh-CN" altLang="en-US" b="1" i="0" dirty="0">
                <a:solidFill>
                  <a:srgbClr val="0F1115"/>
                </a:solidFill>
                <a:effectLst/>
                <a:latin typeface="quote-cjk-patch"/>
              </a:rPr>
              <a:t>以身作则</a:t>
            </a:r>
            <a:r>
              <a:rPr lang="zh-CN" altLang="en-US" b="0" i="0" dirty="0">
                <a:solidFill>
                  <a:srgbClr val="0F1115"/>
                </a:solidFill>
                <a:effectLst/>
                <a:latin typeface="quote-cjk-patch"/>
              </a:rPr>
              <a:t>：领导要以行动示范承诺，与团队同甘共苦。</a:t>
            </a:r>
          </a:p>
          <a:p>
            <a:pPr algn="l">
              <a:buFont typeface="+mj-lt"/>
              <a:buAutoNum type="arabicPeriod"/>
            </a:pPr>
            <a:r>
              <a:rPr lang="zh-CN" altLang="en-US" b="1" i="0" dirty="0">
                <a:solidFill>
                  <a:srgbClr val="0F1115"/>
                </a:solidFill>
                <a:effectLst/>
                <a:latin typeface="quote-cjk-patch"/>
              </a:rPr>
              <a:t>激发共同愿景</a:t>
            </a:r>
            <a:r>
              <a:rPr lang="zh-CN" altLang="en-US" b="0" i="0" dirty="0">
                <a:solidFill>
                  <a:srgbClr val="0F1115"/>
                </a:solidFill>
                <a:effectLst/>
                <a:latin typeface="quote-cjk-patch"/>
              </a:rPr>
              <a:t>：帮助团队成员将个人目标与团队目标结合，让大家都为同一个愿景努力。</a:t>
            </a:r>
          </a:p>
          <a:p>
            <a:pPr algn="l">
              <a:buFont typeface="+mj-lt"/>
              <a:buAutoNum type="arabicPeriod"/>
            </a:pPr>
            <a:r>
              <a:rPr lang="zh-CN" altLang="en-US" b="1" i="0" dirty="0">
                <a:solidFill>
                  <a:srgbClr val="0F1115"/>
                </a:solidFill>
                <a:effectLst/>
                <a:latin typeface="quote-cjk-patch"/>
              </a:rPr>
              <a:t>挑战现状</a:t>
            </a:r>
            <a:r>
              <a:rPr lang="zh-CN" altLang="en-US" b="0" i="0" dirty="0">
                <a:solidFill>
                  <a:srgbClr val="0F1115"/>
                </a:solidFill>
                <a:effectLst/>
                <a:latin typeface="quote-cjk-patch"/>
              </a:rPr>
              <a:t>：鼓励团队尝试新方法、接受风险，从小成功中学习，从失败中成长。</a:t>
            </a:r>
          </a:p>
          <a:p>
            <a:pPr algn="l">
              <a:buFont typeface="+mj-lt"/>
              <a:buAutoNum type="arabicPeriod"/>
            </a:pPr>
            <a:r>
              <a:rPr lang="zh-CN" altLang="en-US" b="1" i="0" dirty="0">
                <a:solidFill>
                  <a:srgbClr val="0F1115"/>
                </a:solidFill>
                <a:effectLst/>
                <a:latin typeface="quote-cjk-patch"/>
              </a:rPr>
              <a:t>赋能他人</a:t>
            </a:r>
            <a:r>
              <a:rPr lang="zh-CN" altLang="en-US" b="0" i="0" dirty="0">
                <a:solidFill>
                  <a:srgbClr val="0F1115"/>
                </a:solidFill>
                <a:effectLst/>
                <a:latin typeface="quote-cjk-patch"/>
              </a:rPr>
              <a:t>：通过共享决策和目标设定，提升团队的能力和自主性。</a:t>
            </a:r>
          </a:p>
          <a:p>
            <a:pPr algn="l">
              <a:buFont typeface="+mj-lt"/>
              <a:buAutoNum type="arabicPeriod"/>
            </a:pPr>
            <a:r>
              <a:rPr lang="zh-CN" altLang="en-US" b="1" i="0" dirty="0">
                <a:solidFill>
                  <a:srgbClr val="0F1115"/>
                </a:solidFill>
                <a:effectLst/>
                <a:latin typeface="quote-cjk-patch"/>
              </a:rPr>
              <a:t>鼓舞人心</a:t>
            </a:r>
            <a:r>
              <a:rPr lang="zh-CN" altLang="en-US" b="0" i="0" dirty="0">
                <a:solidFill>
                  <a:srgbClr val="0F1115"/>
                </a:solidFill>
                <a:effectLst/>
                <a:latin typeface="quote-cjk-patch"/>
              </a:rPr>
              <a:t>：通过庆祝团队和个人的成功，增强凝聚力和归属感。</a:t>
            </a:r>
          </a:p>
          <a:p>
            <a:pPr algn="l"/>
            <a:r>
              <a:rPr lang="zh-CN" altLang="en-US" b="0" i="0" dirty="0">
                <a:solidFill>
                  <a:srgbClr val="0F1115"/>
                </a:solidFill>
                <a:effectLst/>
                <a:latin typeface="quote-cjk-patch"/>
              </a:rPr>
              <a:t>这些实践不仅适用于领导，也适用于每个希望在团队中发挥积极作用的成员。一个良好的领导力文化能显著提升团队的士气与效率。</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4</a:t>
            </a:fld>
            <a:endParaRPr lang="zh-CN" altLang="en-US"/>
          </a:p>
        </p:txBody>
      </p:sp>
    </p:spTree>
    <p:extLst>
      <p:ext uri="{BB962C8B-B14F-4D97-AF65-F5344CB8AC3E}">
        <p14:creationId xmlns:p14="http://schemas.microsoft.com/office/powerpoint/2010/main" val="2545523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了解了团队领导的重要性后，我们自然会问：一个团队应该如何组建？团队的结构并不是随意决定的，而是受到多种因素影响。这一页我们就来分析这些关键因素。</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软件团队的构建需要考虑多个维度，主要包括：</a:t>
            </a:r>
          </a:p>
          <a:p>
            <a:pPr algn="l">
              <a:buFont typeface="Arial" panose="020B0604020202020204" pitchFamily="34" charset="0"/>
              <a:buChar char="•"/>
            </a:pPr>
            <a:r>
              <a:rPr lang="zh-CN" altLang="en-US" b="1" i="0" dirty="0">
                <a:solidFill>
                  <a:srgbClr val="0F1115"/>
                </a:solidFill>
                <a:effectLst/>
                <a:latin typeface="quote-cjk-patch"/>
              </a:rPr>
              <a:t>问题难度</a:t>
            </a:r>
            <a:r>
              <a:rPr lang="zh-CN" altLang="en-US" b="0" i="0" dirty="0">
                <a:solidFill>
                  <a:srgbClr val="0F1115"/>
                </a:solidFill>
                <a:effectLst/>
                <a:latin typeface="quote-cjk-patch"/>
              </a:rPr>
              <a:t>：技术挑战越大，可能需要更多资深专家或更专业的角色分工。</a:t>
            </a:r>
          </a:p>
          <a:p>
            <a:pPr algn="l">
              <a:buFont typeface="Arial" panose="020B0604020202020204" pitchFamily="34" charset="0"/>
              <a:buChar char="•"/>
            </a:pPr>
            <a:r>
              <a:rPr lang="zh-CN" altLang="en-US" b="1" i="0" dirty="0">
                <a:solidFill>
                  <a:srgbClr val="0F1115"/>
                </a:solidFill>
                <a:effectLst/>
                <a:latin typeface="quote-cjk-patch"/>
              </a:rPr>
              <a:t>项目规模</a:t>
            </a:r>
            <a:r>
              <a:rPr lang="zh-CN" altLang="en-US" b="0" i="0" dirty="0">
                <a:solidFill>
                  <a:srgbClr val="0F1115"/>
                </a:solidFill>
                <a:effectLst/>
                <a:latin typeface="quote-cjk-patch"/>
              </a:rPr>
              <a:t>：通常用代码行数或功能点来衡量。规模越大，团队可能需要更细的分工和更多的沟通机制。</a:t>
            </a:r>
          </a:p>
          <a:p>
            <a:pPr algn="l">
              <a:buFont typeface="Arial" panose="020B0604020202020204" pitchFamily="34" charset="0"/>
              <a:buChar char="•"/>
            </a:pPr>
            <a:r>
              <a:rPr lang="zh-CN" altLang="en-US" b="1" i="0" dirty="0">
                <a:solidFill>
                  <a:srgbClr val="0F1115"/>
                </a:solidFill>
                <a:effectLst/>
                <a:latin typeface="quote-cjk-patch"/>
              </a:rPr>
              <a:t>团队存续时间</a:t>
            </a:r>
            <a:r>
              <a:rPr lang="zh-CN" altLang="en-US" b="0" i="0" dirty="0">
                <a:solidFill>
                  <a:srgbClr val="0F1115"/>
                </a:solidFill>
                <a:effectLst/>
                <a:latin typeface="quote-cjk-patch"/>
              </a:rPr>
              <a:t>：短期项目可能强调快速协作，长期团队则更注重结构稳定性和知识积累。</a:t>
            </a:r>
          </a:p>
          <a:p>
            <a:pPr algn="l">
              <a:buFont typeface="Arial" panose="020B0604020202020204" pitchFamily="34" charset="0"/>
              <a:buChar char="•"/>
            </a:pPr>
            <a:r>
              <a:rPr lang="zh-CN" altLang="en-US" b="1" i="0" dirty="0">
                <a:solidFill>
                  <a:srgbClr val="0F1115"/>
                </a:solidFill>
                <a:effectLst/>
                <a:latin typeface="quote-cjk-patch"/>
              </a:rPr>
              <a:t>问题模块化程度</a:t>
            </a:r>
            <a:r>
              <a:rPr lang="zh-CN" altLang="en-US" b="0" i="0" dirty="0">
                <a:solidFill>
                  <a:srgbClr val="0F1115"/>
                </a:solidFill>
                <a:effectLst/>
                <a:latin typeface="quote-cjk-patch"/>
              </a:rPr>
              <a:t>：如果系统能高度模块化，团队可以按模块分工，并行开发。</a:t>
            </a:r>
          </a:p>
          <a:p>
            <a:pPr algn="l">
              <a:buFont typeface="Arial" panose="020B0604020202020204" pitchFamily="34" charset="0"/>
              <a:buChar char="•"/>
            </a:pPr>
            <a:r>
              <a:rPr lang="zh-CN" altLang="en-US" b="1" i="0" dirty="0">
                <a:solidFill>
                  <a:srgbClr val="0F1115"/>
                </a:solidFill>
                <a:effectLst/>
                <a:latin typeface="quote-cjk-patch"/>
              </a:rPr>
              <a:t>质量与可靠性要求</a:t>
            </a:r>
            <a:r>
              <a:rPr lang="zh-CN" altLang="en-US" b="0" i="0" dirty="0">
                <a:solidFill>
                  <a:srgbClr val="0F1115"/>
                </a:solidFill>
                <a:effectLst/>
                <a:latin typeface="quote-cjk-patch"/>
              </a:rPr>
              <a:t>：对安全性、稳定性要求高的系统，可能需要更严格的流程和更多的测试人员。</a:t>
            </a:r>
          </a:p>
          <a:p>
            <a:pPr algn="l">
              <a:buFont typeface="Arial" panose="020B0604020202020204" pitchFamily="34" charset="0"/>
              <a:buChar char="•"/>
            </a:pPr>
            <a:r>
              <a:rPr lang="zh-CN" altLang="en-US" b="1" i="0" dirty="0">
                <a:solidFill>
                  <a:srgbClr val="0F1115"/>
                </a:solidFill>
                <a:effectLst/>
                <a:latin typeface="quote-cjk-patch"/>
              </a:rPr>
              <a:t>交付期限的严格程度</a:t>
            </a:r>
            <a:r>
              <a:rPr lang="zh-CN" altLang="en-US" b="0" i="0" dirty="0">
                <a:solidFill>
                  <a:srgbClr val="0F1115"/>
                </a:solidFill>
                <a:effectLst/>
                <a:latin typeface="quote-cjk-patch"/>
              </a:rPr>
              <a:t>：时间越紧，团队可能需要更敏捷的结构和更集中的决策机制。</a:t>
            </a:r>
          </a:p>
          <a:p>
            <a:pPr algn="l">
              <a:buFont typeface="Arial" panose="020B0604020202020204" pitchFamily="34" charset="0"/>
              <a:buChar char="•"/>
            </a:pPr>
            <a:r>
              <a:rPr lang="zh-CN" altLang="en-US" b="1" i="0" dirty="0">
                <a:solidFill>
                  <a:srgbClr val="0F1115"/>
                </a:solidFill>
                <a:effectLst/>
                <a:latin typeface="quote-cjk-patch"/>
              </a:rPr>
              <a:t>沟通需求</a:t>
            </a:r>
            <a:r>
              <a:rPr lang="zh-CN" altLang="en-US" b="0" i="0" dirty="0">
                <a:solidFill>
                  <a:srgbClr val="0F1115"/>
                </a:solidFill>
                <a:effectLst/>
                <a:latin typeface="quote-cjk-patch"/>
              </a:rPr>
              <a:t>：团队是否需要高频率、高互动的沟通，也会影响是否采用集中办公或远程协作工具。</a:t>
            </a:r>
          </a:p>
          <a:p>
            <a:pPr algn="l"/>
            <a:r>
              <a:rPr lang="zh-CN" altLang="en-US" b="0" i="0" dirty="0">
                <a:solidFill>
                  <a:srgbClr val="0F1115"/>
                </a:solidFill>
                <a:effectLst/>
                <a:latin typeface="quote-cjk-patch"/>
              </a:rPr>
              <a:t>例如，一个开发高可靠性医疗软件的团队，往往会比一个开发内部工具的小团队更强调流程和角色分工。</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5</a:t>
            </a:fld>
            <a:endParaRPr lang="zh-CN" altLang="en-US"/>
          </a:p>
        </p:txBody>
      </p:sp>
    </p:spTree>
    <p:extLst>
      <p:ext uri="{BB962C8B-B14F-4D97-AF65-F5344CB8AC3E}">
        <p14:creationId xmlns:p14="http://schemas.microsoft.com/office/powerpoint/2010/main" val="2444303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组建了团队，并不意味着就能顺利工作。在项目过程中，一些负面因素可能悄悄侵蚀团队的效率和士气。识别这些“毒性因素”是防患于未然的关键。</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这一页列出了几种对团队健康极为有害的因素：</a:t>
            </a:r>
          </a:p>
          <a:p>
            <a:pPr algn="l">
              <a:buFont typeface="Arial" panose="020B0604020202020204" pitchFamily="34" charset="0"/>
              <a:buChar char="•"/>
            </a:pPr>
            <a:r>
              <a:rPr lang="zh-CN" altLang="en-US" b="1" i="0" dirty="0">
                <a:solidFill>
                  <a:srgbClr val="0F1115"/>
                </a:solidFill>
                <a:effectLst/>
                <a:latin typeface="quote-cjk-patch"/>
              </a:rPr>
              <a:t>狂热的工作氛围</a:t>
            </a:r>
            <a:r>
              <a:rPr lang="zh-CN" altLang="en-US" b="0" i="0" dirty="0">
                <a:solidFill>
                  <a:srgbClr val="0F1115"/>
                </a:solidFill>
                <a:effectLst/>
                <a:latin typeface="quote-cjk-patch"/>
              </a:rPr>
              <a:t>：看似大家都很忙，但实际上可能忙于救火或重复劳动，失去了对核心目标的专注。</a:t>
            </a:r>
          </a:p>
          <a:p>
            <a:pPr algn="l">
              <a:buFont typeface="Arial" panose="020B0604020202020204" pitchFamily="34" charset="0"/>
              <a:buChar char="•"/>
            </a:pPr>
            <a:r>
              <a:rPr lang="zh-CN" altLang="en-US" b="1" i="0" dirty="0">
                <a:solidFill>
                  <a:srgbClr val="0F1115"/>
                </a:solidFill>
                <a:effectLst/>
                <a:latin typeface="quote-cjk-patch"/>
              </a:rPr>
              <a:t>高度挫折感</a:t>
            </a:r>
            <a:r>
              <a:rPr lang="zh-CN" altLang="en-US" b="0" i="0" dirty="0">
                <a:solidFill>
                  <a:srgbClr val="0F1115"/>
                </a:solidFill>
                <a:effectLst/>
                <a:latin typeface="quote-cjk-patch"/>
              </a:rPr>
              <a:t>：可能源于技术瓶颈、资源不足或人际冲突，导致成员相互埋怨、协作破裂。</a:t>
            </a:r>
          </a:p>
          <a:p>
            <a:pPr algn="l">
              <a:buFont typeface="Arial" panose="020B0604020202020204" pitchFamily="34" charset="0"/>
              <a:buChar char="•"/>
            </a:pPr>
            <a:r>
              <a:rPr lang="zh-CN" altLang="en-US" b="1" i="0" dirty="0">
                <a:solidFill>
                  <a:srgbClr val="0F1115"/>
                </a:solidFill>
                <a:effectLst/>
                <a:latin typeface="quote-cjk-patch"/>
              </a:rPr>
              <a:t>零散或协调不佳的流程</a:t>
            </a:r>
            <a:r>
              <a:rPr lang="zh-CN" altLang="en-US" b="0" i="0" dirty="0">
                <a:solidFill>
                  <a:srgbClr val="0F1115"/>
                </a:solidFill>
                <a:effectLst/>
                <a:latin typeface="quote-cjk-patch"/>
              </a:rPr>
              <a:t>：如果流程选择不当或定义不清，团队成员会无所适从，效率低下。</a:t>
            </a:r>
          </a:p>
          <a:p>
            <a:pPr algn="l">
              <a:buFont typeface="Arial" panose="020B0604020202020204" pitchFamily="34" charset="0"/>
              <a:buChar char="•"/>
            </a:pPr>
            <a:r>
              <a:rPr lang="zh-CN" altLang="en-US" b="1" i="0" dirty="0">
                <a:solidFill>
                  <a:srgbClr val="0F1115"/>
                </a:solidFill>
                <a:effectLst/>
                <a:latin typeface="quote-cjk-patch"/>
              </a:rPr>
              <a:t>角色定义模糊</a:t>
            </a:r>
            <a:r>
              <a:rPr lang="zh-CN" altLang="en-US" b="0" i="0" dirty="0">
                <a:solidFill>
                  <a:srgbClr val="0F1115"/>
                </a:solidFill>
                <a:effectLst/>
                <a:latin typeface="quote-cjk-patch"/>
              </a:rPr>
              <a:t>：谁该负责什么不清晰，导致出了问题互相推诿，无人负责。</a:t>
            </a:r>
          </a:p>
          <a:p>
            <a:pPr algn="l">
              <a:buFont typeface="Arial" panose="020B0604020202020204" pitchFamily="34" charset="0"/>
              <a:buChar char="•"/>
            </a:pPr>
            <a:r>
              <a:rPr lang="zh-CN" altLang="en-US" b="1" i="0" dirty="0">
                <a:solidFill>
                  <a:srgbClr val="0F1115"/>
                </a:solidFill>
                <a:effectLst/>
                <a:latin typeface="quote-cjk-patch"/>
              </a:rPr>
              <a:t>持续遭遇失败</a:t>
            </a:r>
            <a:r>
              <a:rPr lang="zh-CN" altLang="en-US" b="0" i="0" dirty="0">
                <a:solidFill>
                  <a:srgbClr val="0F1115"/>
                </a:solidFill>
                <a:effectLst/>
                <a:latin typeface="quote-cjk-patch"/>
              </a:rPr>
              <a:t>：如果项目接连受挫，团队会丧失信心，士气低迷，形成恶性循环。</a:t>
            </a:r>
          </a:p>
          <a:p>
            <a:pPr algn="l"/>
            <a:r>
              <a:rPr lang="zh-CN" altLang="en-US" b="0" i="0" dirty="0">
                <a:solidFill>
                  <a:srgbClr val="0F1115"/>
                </a:solidFill>
                <a:effectLst/>
                <a:latin typeface="quote-cjk-patch"/>
              </a:rPr>
              <a:t>例如，一个项目如果频繁变更需求且没有妥善管理，就很容易导致“持续遭遇失败”和“高度挫折感”，进而引发团队毒性。</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6</a:t>
            </a:fld>
            <a:endParaRPr lang="zh-CN" altLang="en-US"/>
          </a:p>
        </p:txBody>
      </p:sp>
    </p:spTree>
    <p:extLst>
      <p:ext uri="{BB962C8B-B14F-4D97-AF65-F5344CB8AC3E}">
        <p14:creationId xmlns:p14="http://schemas.microsoft.com/office/powerpoint/2010/main" val="2173684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为了避免传统团队容易出现的僵化和毒性问题，许多现代软件项目转向了敏捷开发模式。那么，一个敏捷团队的核心特征是什么？它与传统团队有何不同？</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敏捷团队强调适应性、协作和快速响应变化，其核心特征包括：</a:t>
            </a:r>
          </a:p>
          <a:p>
            <a:pPr algn="l">
              <a:buFont typeface="Arial" panose="020B0604020202020204" pitchFamily="34" charset="0"/>
              <a:buChar char="•"/>
            </a:pPr>
            <a:r>
              <a:rPr lang="zh-CN" altLang="en-US" b="1" i="0" dirty="0">
                <a:solidFill>
                  <a:srgbClr val="0F1115"/>
                </a:solidFill>
                <a:effectLst/>
                <a:latin typeface="quote-cjk-patch"/>
              </a:rPr>
              <a:t>成员间高度信任</a:t>
            </a:r>
            <a:r>
              <a:rPr lang="zh-CN" altLang="en-US" b="0" i="0" dirty="0">
                <a:solidFill>
                  <a:srgbClr val="0F1115"/>
                </a:solidFill>
                <a:effectLst/>
                <a:latin typeface="quote-cjk-patch"/>
              </a:rPr>
              <a:t>：这是协作的基础，信任能促进知识共享和风险共担。</a:t>
            </a:r>
          </a:p>
          <a:p>
            <a:pPr algn="l">
              <a:buFont typeface="Arial" panose="020B0604020202020204" pitchFamily="34" charset="0"/>
              <a:buChar char="•"/>
            </a:pPr>
            <a:r>
              <a:rPr lang="zh-CN" altLang="en-US" b="1" i="0" dirty="0">
                <a:solidFill>
                  <a:srgbClr val="0F1115"/>
                </a:solidFill>
                <a:effectLst/>
                <a:latin typeface="quote-cjk-patch"/>
              </a:rPr>
              <a:t>技能分布合理</a:t>
            </a:r>
            <a:r>
              <a:rPr lang="zh-CN" altLang="en-US" b="0" i="0" dirty="0">
                <a:solidFill>
                  <a:srgbClr val="0F1115"/>
                </a:solidFill>
                <a:effectLst/>
                <a:latin typeface="quote-cjk-patch"/>
              </a:rPr>
              <a:t>：团队成员技能互补，能够共同应对问题，而不是依赖个别“英雄”。</a:t>
            </a:r>
          </a:p>
          <a:p>
            <a:pPr algn="l">
              <a:buFont typeface="Arial" panose="020B0604020202020204" pitchFamily="34" charset="0"/>
              <a:buChar char="•"/>
            </a:pPr>
            <a:r>
              <a:rPr lang="zh-CN" altLang="en-US" b="1" i="0" dirty="0">
                <a:solidFill>
                  <a:srgbClr val="0F1115"/>
                </a:solidFill>
                <a:effectLst/>
                <a:latin typeface="quote-cjk-patch"/>
              </a:rPr>
              <a:t>排除不合群的成员</a:t>
            </a:r>
            <a:r>
              <a:rPr lang="zh-CN" altLang="en-US" b="0" i="0" dirty="0">
                <a:solidFill>
                  <a:srgbClr val="0F1115"/>
                </a:solidFill>
                <a:effectLst/>
                <a:latin typeface="quote-cjk-patch"/>
              </a:rPr>
              <a:t>：为了保持团队凝聚力和协作效率，有时不得不让难以协作的“独行者”离开。</a:t>
            </a:r>
          </a:p>
          <a:p>
            <a:pPr algn="l">
              <a:buFont typeface="Arial" panose="020B0604020202020204" pitchFamily="34" charset="0"/>
              <a:buChar char="•"/>
            </a:pPr>
            <a:r>
              <a:rPr lang="zh-CN" altLang="en-US" b="1" i="0" dirty="0">
                <a:solidFill>
                  <a:srgbClr val="0F1115"/>
                </a:solidFill>
                <a:effectLst/>
                <a:latin typeface="quote-cjk-patch"/>
              </a:rPr>
              <a:t>自组织性</a:t>
            </a:r>
            <a:r>
              <a:rPr lang="zh-CN" altLang="en-US" b="0" i="0" dirty="0">
                <a:solidFill>
                  <a:srgbClr val="0F1115"/>
                </a:solidFill>
                <a:effectLst/>
                <a:latin typeface="quote-cjk-patch"/>
              </a:rPr>
              <a:t>：团队不是被动接受指令，而是主动规划任务、解决问题，具有很高的自主权。</a:t>
            </a:r>
          </a:p>
          <a:p>
            <a:pPr algn="l">
              <a:buFont typeface="Arial" panose="020B0604020202020204" pitchFamily="34" charset="0"/>
              <a:buChar char="•"/>
            </a:pPr>
            <a:r>
              <a:rPr lang="zh-CN" altLang="en-US" b="1" i="0" dirty="0">
                <a:solidFill>
                  <a:srgbClr val="0F1115"/>
                </a:solidFill>
                <a:effectLst/>
                <a:latin typeface="quote-cjk-patch"/>
              </a:rPr>
              <a:t>适应性结构</a:t>
            </a:r>
            <a:r>
              <a:rPr lang="zh-CN" altLang="en-US" b="0" i="0" dirty="0">
                <a:solidFill>
                  <a:srgbClr val="0F1115"/>
                </a:solidFill>
                <a:effectLst/>
                <a:latin typeface="quote-cjk-patch"/>
              </a:rPr>
              <a:t>：团队结构能随项目需求灵活调整，而非一成不变。</a:t>
            </a:r>
          </a:p>
          <a:p>
            <a:pPr algn="l">
              <a:buFont typeface="Arial" panose="020B0604020202020204" pitchFamily="34" charset="0"/>
              <a:buChar char="•"/>
            </a:pPr>
            <a:r>
              <a:rPr lang="zh-CN" altLang="en-US" b="1" i="0" dirty="0">
                <a:solidFill>
                  <a:srgbClr val="0F1115"/>
                </a:solidFill>
                <a:effectLst/>
                <a:latin typeface="quote-cjk-patch"/>
              </a:rPr>
              <a:t>最小化计划</a:t>
            </a:r>
            <a:r>
              <a:rPr lang="zh-CN" altLang="en-US" b="0" i="0" dirty="0">
                <a:solidFill>
                  <a:srgbClr val="0F1115"/>
                </a:solidFill>
                <a:effectLst/>
                <a:latin typeface="quote-cjk-patch"/>
              </a:rPr>
              <a:t>：不做冗长的前期计划，而是通过短周期迭代来逐步明确方向。</a:t>
            </a:r>
          </a:p>
          <a:p>
            <a:pPr algn="l">
              <a:buFont typeface="Arial" panose="020B0604020202020204" pitchFamily="34" charset="0"/>
              <a:buChar char="•"/>
            </a:pPr>
            <a:r>
              <a:rPr lang="zh-CN" altLang="en-US" b="1" i="0" dirty="0">
                <a:solidFill>
                  <a:srgbClr val="0F1115"/>
                </a:solidFill>
                <a:effectLst/>
                <a:latin typeface="quote-cjk-patch"/>
              </a:rPr>
              <a:t>自主选择工作方式</a:t>
            </a:r>
            <a:r>
              <a:rPr lang="zh-CN" altLang="en-US" b="0" i="0" dirty="0">
                <a:solidFill>
                  <a:srgbClr val="0F1115"/>
                </a:solidFill>
                <a:effectLst/>
                <a:latin typeface="quote-cjk-patch"/>
              </a:rPr>
              <a:t>：在业务要求和组织标准的大框架下，团队可以选择最适合自己的具体方法和工具。</a:t>
            </a:r>
          </a:p>
          <a:p>
            <a:pPr algn="l"/>
            <a:r>
              <a:rPr lang="zh-CN" altLang="en-US" b="0" i="0" dirty="0">
                <a:solidFill>
                  <a:srgbClr val="0F1115"/>
                </a:solidFill>
                <a:effectLst/>
                <a:latin typeface="quote-cjk-patch"/>
              </a:rPr>
              <a:t>例如，在一个敏捷团队中，可能会每天进行站会同步进度和问题，并根据每轮迭代的回顾来调整下一个周期的工作方式。</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7</a:t>
            </a:fld>
            <a:endParaRPr lang="zh-CN" altLang="en-US"/>
          </a:p>
        </p:txBody>
      </p:sp>
    </p:spTree>
    <p:extLst>
      <p:ext uri="{BB962C8B-B14F-4D97-AF65-F5344CB8AC3E}">
        <p14:creationId xmlns:p14="http://schemas.microsoft.com/office/powerpoint/2010/main" val="2803384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敏捷团队虽然灵活，但随着项目规模和复杂度的增加，团队内外的协调与沟通依然会面临巨大挑战。这一页我们来看看软件项目中常见的协作难题。</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软件项目中的协调与沟通困难主要来自三个方面：</a:t>
            </a:r>
          </a:p>
          <a:p>
            <a:pPr algn="l">
              <a:buFont typeface="Arial" panose="020B0604020202020204" pitchFamily="34" charset="0"/>
              <a:buChar char="•"/>
            </a:pPr>
            <a:r>
              <a:rPr lang="zh-CN" altLang="en-US" b="1" i="0" dirty="0">
                <a:solidFill>
                  <a:srgbClr val="0F1115"/>
                </a:solidFill>
                <a:effectLst/>
                <a:latin typeface="quote-cjk-patch"/>
              </a:rPr>
              <a:t>规模庞大</a:t>
            </a:r>
            <a:r>
              <a:rPr lang="zh-CN" altLang="en-US" b="0" i="0" dirty="0">
                <a:solidFill>
                  <a:srgbClr val="0F1115"/>
                </a:solidFill>
                <a:effectLst/>
                <a:latin typeface="quote-cjk-patch"/>
              </a:rPr>
              <a:t>：很多软件开发涉及大量人员、模块或子系统，规模越大，信息传递链路越长，越容易产生误解、遗漏或重复工作，协调成本显著上升。</a:t>
            </a:r>
          </a:p>
          <a:p>
            <a:pPr algn="l">
              <a:buFont typeface="Arial" panose="020B0604020202020204" pitchFamily="34" charset="0"/>
              <a:buChar char="•"/>
            </a:pPr>
            <a:r>
              <a:rPr lang="zh-CN" altLang="en-US" b="1" i="0" dirty="0">
                <a:solidFill>
                  <a:srgbClr val="0F1115"/>
                </a:solidFill>
                <a:effectLst/>
                <a:latin typeface="quote-cjk-patch"/>
              </a:rPr>
              <a:t>持续的不确定性</a:t>
            </a:r>
            <a:r>
              <a:rPr lang="zh-CN" altLang="en-US" b="0" i="0" dirty="0">
                <a:solidFill>
                  <a:srgbClr val="0F1115"/>
                </a:solidFill>
                <a:effectLst/>
                <a:latin typeface="quote-cjk-patch"/>
              </a:rPr>
              <a:t>：软件开发本质上是探索性的，需求、技术或环境可能随时变化，这种不确定性会导致计划频繁调整，团队需要不断重新对齐目标。</a:t>
            </a:r>
          </a:p>
          <a:p>
            <a:pPr algn="l">
              <a:buFont typeface="Arial" panose="020B0604020202020204" pitchFamily="34" charset="0"/>
              <a:buChar char="•"/>
            </a:pPr>
            <a:r>
              <a:rPr lang="zh-CN" altLang="en-US" b="1" i="0" dirty="0">
                <a:solidFill>
                  <a:srgbClr val="0F1115"/>
                </a:solidFill>
                <a:effectLst/>
                <a:latin typeface="quote-cjk-patch"/>
              </a:rPr>
              <a:t>系统互操作性要求</a:t>
            </a:r>
            <a:r>
              <a:rPr lang="zh-CN" altLang="en-US" b="0" i="0" dirty="0">
                <a:solidFill>
                  <a:srgbClr val="0F1115"/>
                </a:solidFill>
                <a:effectLst/>
                <a:latin typeface="quote-cjk-patch"/>
              </a:rPr>
              <a:t>：新开发的软件往往不是孤立运行的，它需要与已有的系统、平台或服务进行集成和通信，这增加了技术接口协调和约束管理的复杂度。</a:t>
            </a:r>
          </a:p>
          <a:p>
            <a:pPr algn="l"/>
            <a:r>
              <a:rPr lang="zh-CN" altLang="en-US" b="0" i="0" dirty="0">
                <a:solidFill>
                  <a:srgbClr val="0F1115"/>
                </a:solidFill>
                <a:effectLst/>
                <a:latin typeface="quote-cjk-patch"/>
              </a:rPr>
              <a:t>例如，在一个涉及多个子系统的大型企业软件项目中，如果某个团队的接口变更没有及时通知其他团队，就可能导致集成失败和项目延误。</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8</a:t>
            </a:fld>
            <a:endParaRPr lang="zh-CN" altLang="en-US"/>
          </a:p>
        </p:txBody>
      </p:sp>
    </p:spTree>
    <p:extLst>
      <p:ext uri="{BB962C8B-B14F-4D97-AF65-F5344CB8AC3E}">
        <p14:creationId xmlns:p14="http://schemas.microsoft.com/office/powerpoint/2010/main" val="2822591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面对这些协调难题，我们不能束手无策。建立有效的沟通机制是确保团队顺畅协作的基石。这一页我们来区分两种主要的沟通方式及其作用。</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为了应对协调挑战，项目必须建立正式和非正式的沟通渠道：</a:t>
            </a:r>
          </a:p>
          <a:p>
            <a:pPr algn="l">
              <a:buFont typeface="Arial" panose="020B0604020202020204" pitchFamily="34" charset="0"/>
              <a:buChar char="•"/>
            </a:pPr>
            <a:r>
              <a:rPr lang="zh-CN" altLang="en-US" b="1" i="0" dirty="0">
                <a:solidFill>
                  <a:srgbClr val="0F1115"/>
                </a:solidFill>
                <a:effectLst/>
                <a:latin typeface="quote-cjk-patch"/>
              </a:rPr>
              <a:t>正式沟通</a:t>
            </a:r>
            <a:r>
              <a:rPr lang="zh-CN" altLang="en-US" b="0" i="0" dirty="0">
                <a:solidFill>
                  <a:srgbClr val="0F1115"/>
                </a:solidFill>
                <a:effectLst/>
                <a:latin typeface="quote-cjk-patch"/>
              </a:rPr>
              <a:t>：通过文档、报告、计划会议、评审会等结构化方式进行。这类沟通优点是信息准确、可追溯，适合传递重要决策、变更和规范。但缺点是不够灵活，反馈可能较慢。</a:t>
            </a:r>
          </a:p>
          <a:p>
            <a:pPr algn="l">
              <a:buFont typeface="Arial" panose="020B0604020202020204" pitchFamily="34" charset="0"/>
              <a:buChar char="•"/>
            </a:pPr>
            <a:r>
              <a:rPr lang="zh-CN" altLang="en-US" b="1" i="0" dirty="0">
                <a:solidFill>
                  <a:srgbClr val="0F1115"/>
                </a:solidFill>
                <a:effectLst/>
                <a:latin typeface="quote-cjk-patch"/>
              </a:rPr>
              <a:t>非正式沟通</a:t>
            </a:r>
            <a:r>
              <a:rPr lang="zh-CN" altLang="en-US" b="0" i="0" dirty="0">
                <a:solidFill>
                  <a:srgbClr val="0F1115"/>
                </a:solidFill>
                <a:effectLst/>
                <a:latin typeface="quote-cjk-patch"/>
              </a:rPr>
              <a:t>：通过日常交谈、即时消息、站立会议、咖啡间交流等非结构化方式进行。这类沟通快速、灵活，有助于及时解决问题、激发创意和增强团队凝聚力，但信息可能不完整或容易失真。</a:t>
            </a:r>
          </a:p>
          <a:p>
            <a:pPr algn="l"/>
            <a:r>
              <a:rPr lang="zh-CN" altLang="en-US" b="0" i="0" dirty="0">
                <a:solidFill>
                  <a:srgbClr val="0F1115"/>
                </a:solidFill>
                <a:effectLst/>
                <a:latin typeface="quote-cjk-patch"/>
              </a:rPr>
              <a:t>成功的项目通常两者结合：用正式沟通确保关键信息一致，用非正式沟通保持团队活力与应变能力。例如，除了每周的计划会（正式），团队还可以有每日的站会（较非正式）来快速同步进展。</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9</a:t>
            </a:fld>
            <a:endParaRPr lang="zh-CN" altLang="en-US"/>
          </a:p>
        </p:txBody>
      </p:sp>
    </p:spTree>
    <p:extLst>
      <p:ext uri="{BB962C8B-B14F-4D97-AF65-F5344CB8AC3E}">
        <p14:creationId xmlns:p14="http://schemas.microsoft.com/office/powerpoint/2010/main" val="485390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良好的沟通是为了确保所有人对项目目标有一致的理解，而这个目标的核心就是“软件范围”。如果范围不清，项目注定会陷入混乱。那么，我们应该如何明确地定义软件范围呢？</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软件范围定义了项目的边界和具体内容，必须在管理层和技术层都清晰无误。定义范围主要从三个维度展开：</a:t>
            </a:r>
          </a:p>
          <a:p>
            <a:pPr algn="l">
              <a:buFont typeface="Arial" panose="020B0604020202020204" pitchFamily="34" charset="0"/>
              <a:buChar char="•"/>
            </a:pPr>
            <a:r>
              <a:rPr lang="zh-CN" altLang="en-US" b="1" i="0" dirty="0">
                <a:solidFill>
                  <a:srgbClr val="0F1115"/>
                </a:solidFill>
                <a:effectLst/>
                <a:latin typeface="quote-cjk-patch"/>
              </a:rPr>
              <a:t>上下文</a:t>
            </a:r>
            <a:r>
              <a:rPr lang="zh-CN" altLang="en-US" b="0" i="0" dirty="0">
                <a:solidFill>
                  <a:srgbClr val="0F1115"/>
                </a:solidFill>
                <a:effectLst/>
                <a:latin typeface="quote-cjk-patch"/>
              </a:rPr>
              <a:t>：说明软件在更大的系统、产品或业务环境中的位置和作用，识别由此带来的限制。例如，一个手机</a:t>
            </a:r>
            <a:r>
              <a:rPr lang="en-US" altLang="zh-CN" b="0" i="0" dirty="0">
                <a:solidFill>
                  <a:srgbClr val="0F1115"/>
                </a:solidFill>
                <a:effectLst/>
                <a:latin typeface="quote-cjk-patch"/>
              </a:rPr>
              <a:t>APP</a:t>
            </a:r>
            <a:r>
              <a:rPr lang="zh-CN" altLang="en-US" b="0" i="0" dirty="0">
                <a:solidFill>
                  <a:srgbClr val="0F1115"/>
                </a:solidFill>
                <a:effectLst/>
                <a:latin typeface="quote-cjk-patch"/>
              </a:rPr>
              <a:t>可能受限于操作系统版本或硬件性能。</a:t>
            </a:r>
          </a:p>
          <a:p>
            <a:pPr algn="l">
              <a:buFont typeface="Arial" panose="020B0604020202020204" pitchFamily="34" charset="0"/>
              <a:buChar char="•"/>
            </a:pPr>
            <a:r>
              <a:rPr lang="zh-CN" altLang="en-US" b="1" i="0" dirty="0">
                <a:solidFill>
                  <a:srgbClr val="0F1115"/>
                </a:solidFill>
                <a:effectLst/>
                <a:latin typeface="quote-cjk-patch"/>
              </a:rPr>
              <a:t>信息目标</a:t>
            </a:r>
            <a:r>
              <a:rPr lang="zh-CN" altLang="en-US" b="0" i="0" dirty="0">
                <a:solidFill>
                  <a:srgbClr val="0F1115"/>
                </a:solidFill>
                <a:effectLst/>
                <a:latin typeface="quote-cjk-patch"/>
              </a:rPr>
              <a:t>：明确软件需要处理哪些输入数据，以及最终会产生哪些输出数据对象。这是从数据视角界定范围。</a:t>
            </a:r>
          </a:p>
          <a:p>
            <a:pPr algn="l">
              <a:buFont typeface="Arial" panose="020B0604020202020204" pitchFamily="34" charset="0"/>
              <a:buChar char="•"/>
            </a:pPr>
            <a:r>
              <a:rPr lang="zh-CN" altLang="en-US" b="1" i="0" dirty="0">
                <a:solidFill>
                  <a:srgbClr val="0F1115"/>
                </a:solidFill>
                <a:effectLst/>
                <a:latin typeface="quote-cjk-patch"/>
              </a:rPr>
              <a:t>功能与性能</a:t>
            </a:r>
            <a:r>
              <a:rPr lang="zh-CN" altLang="en-US" b="0" i="0" dirty="0">
                <a:solidFill>
                  <a:srgbClr val="0F1115"/>
                </a:solidFill>
                <a:effectLst/>
                <a:latin typeface="quote-cjk-patch"/>
              </a:rPr>
              <a:t>：描述软件如何将输入数据转换为输出，即它具体要做什么，并明确任何特殊的性能要求，如响应时间、并发用户数等。</a:t>
            </a:r>
          </a:p>
          <a:p>
            <a:pPr algn="l"/>
            <a:r>
              <a:rPr lang="zh-CN" altLang="en-US" b="0" i="0" dirty="0">
                <a:solidFill>
                  <a:srgbClr val="0F1115"/>
                </a:solidFill>
                <a:effectLst/>
                <a:latin typeface="quote-cjk-patch"/>
              </a:rPr>
              <a:t>举例来说，如果我们要开发一个在线支付系统，就需要明确：它是否要与银行的旧系统对接（上下文）、它要处理哪些交易数据（信息目标）、它每秒需要处理多少笔交易（性能）。</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10</a:t>
            </a:fld>
            <a:endParaRPr lang="zh-CN" altLang="en-US"/>
          </a:p>
        </p:txBody>
      </p:sp>
    </p:spTree>
    <p:extLst>
      <p:ext uri="{BB962C8B-B14F-4D97-AF65-F5344CB8AC3E}">
        <p14:creationId xmlns:p14="http://schemas.microsoft.com/office/powerpoint/2010/main" val="765425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明确了软件的整体范围后，我们面对的可能依然是一个庞大而复杂的问题。直接着手解决往往无从下手。这时就需要运用“问题分解”这一关键技术，将大问题化整为零。</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问题分解，有时也称为“划分”或“问题细化”，是指在软件范围确定后，将其逐步拆分为更小、更易管理的组成部分的过程。分解主要有三个维度：</a:t>
            </a:r>
          </a:p>
          <a:p>
            <a:pPr algn="l">
              <a:buFont typeface="Arial" panose="020B0604020202020204" pitchFamily="34" charset="0"/>
              <a:buChar char="•"/>
            </a:pPr>
            <a:r>
              <a:rPr lang="zh-CN" altLang="en-US" b="1" i="0" dirty="0">
                <a:solidFill>
                  <a:srgbClr val="0F1115"/>
                </a:solidFill>
                <a:effectLst/>
                <a:latin typeface="quote-cjk-patch"/>
              </a:rPr>
              <a:t>按功能分解</a:t>
            </a:r>
            <a:r>
              <a:rPr lang="zh-CN" altLang="en-US" b="0" i="0" dirty="0">
                <a:solidFill>
                  <a:srgbClr val="0F1115"/>
                </a:solidFill>
                <a:effectLst/>
                <a:latin typeface="quote-cjk-patch"/>
              </a:rPr>
              <a:t>：将系统划分为一系列具体的、可执行的功能模块。例如，一个电商系统可分解为用户管理、商品浏览、购物车、支付等功能模块。</a:t>
            </a:r>
          </a:p>
          <a:p>
            <a:pPr algn="l">
              <a:buFont typeface="Arial" panose="020B0604020202020204" pitchFamily="34" charset="0"/>
              <a:buChar char="•"/>
            </a:pPr>
            <a:r>
              <a:rPr lang="zh-CN" altLang="en-US" b="1" i="0" dirty="0">
                <a:solidFill>
                  <a:srgbClr val="0F1115"/>
                </a:solidFill>
                <a:effectLst/>
                <a:latin typeface="quote-cjk-patch"/>
              </a:rPr>
              <a:t>按数据对象分解</a:t>
            </a:r>
            <a:r>
              <a:rPr lang="zh-CN" altLang="en-US" b="0" i="0" dirty="0">
                <a:solidFill>
                  <a:srgbClr val="0F1115"/>
                </a:solidFill>
                <a:effectLst/>
                <a:latin typeface="quote-cjk-patch"/>
              </a:rPr>
              <a:t>：识别系统涉及的核心数据实体，并围绕它们进行设计。例如，学生管理系统可围绕“学生”、“课程”、“成绩”等数据对象展开。</a:t>
            </a:r>
          </a:p>
          <a:p>
            <a:pPr algn="l">
              <a:buFont typeface="Arial" panose="020B0604020202020204" pitchFamily="34" charset="0"/>
              <a:buChar char="•"/>
            </a:pPr>
            <a:r>
              <a:rPr lang="zh-CN" altLang="en-US" b="1" i="0" dirty="0">
                <a:solidFill>
                  <a:srgbClr val="0F1115"/>
                </a:solidFill>
                <a:effectLst/>
                <a:latin typeface="quote-cjk-patch"/>
              </a:rPr>
              <a:t>按问题类别分解</a:t>
            </a:r>
            <a:r>
              <a:rPr lang="zh-CN" altLang="en-US" b="0" i="0" dirty="0">
                <a:solidFill>
                  <a:srgbClr val="0F1115"/>
                </a:solidFill>
                <a:effectLst/>
                <a:latin typeface="quote-cjk-patch"/>
              </a:rPr>
              <a:t>：从问题域出发，识别不同的业务领域或问题类型。例如，一个金融软件可能涉及交易处理、风险控制、报表生成等不同类别。</a:t>
            </a:r>
          </a:p>
          <a:p>
            <a:pPr algn="l"/>
            <a:r>
              <a:rPr lang="zh-CN" altLang="en-US" b="0" i="0" dirty="0">
                <a:solidFill>
                  <a:srgbClr val="0F1115"/>
                </a:solidFill>
                <a:effectLst/>
                <a:latin typeface="quote-cjk-patch"/>
              </a:rPr>
              <a:t>分解过程需要持续进行，直到每个部分都足够清晰、明确，能够被单独理解、设计和实现。这是进行后续设计、任务分配和进度估算的基础。</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11</a:t>
            </a:fld>
            <a:endParaRPr lang="zh-CN" altLang="en-US"/>
          </a:p>
        </p:txBody>
      </p:sp>
    </p:spTree>
    <p:extLst>
      <p:ext uri="{BB962C8B-B14F-4D97-AF65-F5344CB8AC3E}">
        <p14:creationId xmlns:p14="http://schemas.microsoft.com/office/powerpoint/2010/main" val="22603085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将产品（要构建的软件）分解清楚之后，我们接下来需要确定“过程”，也就是我们用什么样的方法、步骤和规则来构建它。没有合适的过程，再好的产品蓝图也难以高效实现。</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选择适合的软件过程模型是项目成功的关键一步，这个选择需要综合考虑多个因素：</a:t>
            </a:r>
          </a:p>
          <a:p>
            <a:pPr algn="l">
              <a:buFont typeface="Arial" panose="020B0604020202020204" pitchFamily="34" charset="0"/>
              <a:buChar char="•"/>
            </a:pPr>
            <a:r>
              <a:rPr lang="zh-CN" altLang="en-US" b="1" i="0" dirty="0">
                <a:solidFill>
                  <a:srgbClr val="0F1115"/>
                </a:solidFill>
                <a:effectLst/>
                <a:latin typeface="quote-cjk-patch"/>
              </a:rPr>
              <a:t>客户特点</a:t>
            </a:r>
            <a:r>
              <a:rPr lang="zh-CN" altLang="en-US" b="0" i="0" dirty="0">
                <a:solidFill>
                  <a:srgbClr val="0F1115"/>
                </a:solidFill>
                <a:effectLst/>
                <a:latin typeface="quote-cjk-patch"/>
              </a:rPr>
              <a:t>：客户是否愿意深度参与？需求是否稳定？</a:t>
            </a:r>
          </a:p>
          <a:p>
            <a:pPr algn="l">
              <a:buFont typeface="Arial" panose="020B0604020202020204" pitchFamily="34" charset="0"/>
              <a:buChar char="•"/>
            </a:pPr>
            <a:r>
              <a:rPr lang="zh-CN" altLang="en-US" b="1" i="0" dirty="0">
                <a:solidFill>
                  <a:srgbClr val="0F1115"/>
                </a:solidFill>
                <a:effectLst/>
                <a:latin typeface="quote-cjk-patch"/>
              </a:rPr>
              <a:t>团队能力</a:t>
            </a:r>
            <a:r>
              <a:rPr lang="zh-CN" altLang="en-US" b="0" i="0" dirty="0">
                <a:solidFill>
                  <a:srgbClr val="0F1115"/>
                </a:solidFill>
                <a:effectLst/>
                <a:latin typeface="quote-cjk-patch"/>
              </a:rPr>
              <a:t>：团队成员的经验、技能和偏好如何？</a:t>
            </a:r>
          </a:p>
          <a:p>
            <a:pPr algn="l">
              <a:buFont typeface="Arial" panose="020B0604020202020204" pitchFamily="34" charset="0"/>
              <a:buChar char="•"/>
            </a:pPr>
            <a:r>
              <a:rPr lang="zh-CN" altLang="en-US" b="1" i="0" dirty="0">
                <a:solidFill>
                  <a:srgbClr val="0F1115"/>
                </a:solidFill>
                <a:effectLst/>
                <a:latin typeface="quote-cjk-patch"/>
              </a:rPr>
              <a:t>产品特征</a:t>
            </a:r>
            <a:r>
              <a:rPr lang="zh-CN" altLang="en-US" b="0" i="0" dirty="0">
                <a:solidFill>
                  <a:srgbClr val="0F1115"/>
                </a:solidFill>
                <a:effectLst/>
                <a:latin typeface="quote-cjk-patch"/>
              </a:rPr>
              <a:t>：产品是创新型的还是常规型的？对可靠性要求有多高？</a:t>
            </a:r>
          </a:p>
          <a:p>
            <a:pPr algn="l">
              <a:buFont typeface="Arial" panose="020B0604020202020204" pitchFamily="34" charset="0"/>
              <a:buChar char="•"/>
            </a:pPr>
            <a:r>
              <a:rPr lang="zh-CN" altLang="en-US" b="1" i="0" dirty="0">
                <a:solidFill>
                  <a:srgbClr val="0F1115"/>
                </a:solidFill>
                <a:effectLst/>
                <a:latin typeface="quote-cjk-patch"/>
              </a:rPr>
              <a:t>项目环境</a:t>
            </a:r>
            <a:r>
              <a:rPr lang="zh-CN" altLang="en-US" b="0" i="0" dirty="0">
                <a:solidFill>
                  <a:srgbClr val="0F1115"/>
                </a:solidFill>
                <a:effectLst/>
                <a:latin typeface="quote-cjk-patch"/>
              </a:rPr>
              <a:t>：组织文化、可用工具、时间压力如何？</a:t>
            </a:r>
          </a:p>
          <a:p>
            <a:pPr algn="l"/>
            <a:r>
              <a:rPr lang="zh-CN" altLang="en-US" b="0" i="0" dirty="0">
                <a:solidFill>
                  <a:srgbClr val="0F1115"/>
                </a:solidFill>
                <a:effectLst/>
                <a:latin typeface="quote-cjk-patch"/>
              </a:rPr>
              <a:t>基于这些考虑，团队需要选择一个初始的过程模型（如瀑布模型、增量模型、敏捷模型等），并制定一个初步的项目计划，该计划围绕所选模型的框架活动展开。计划确定后，紧接着就需要对过程本身进行“分解”，即定义更具体的工作任务、交付物和检查点。</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12</a:t>
            </a:fld>
            <a:endParaRPr lang="zh-CN" altLang="en-US"/>
          </a:p>
        </p:txBody>
      </p:sp>
    </p:spTree>
    <p:extLst>
      <p:ext uri="{BB962C8B-B14F-4D97-AF65-F5344CB8AC3E}">
        <p14:creationId xmlns:p14="http://schemas.microsoft.com/office/powerpoint/2010/main" val="4166028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现在，我们左手有了分解后的“产品”部件，右手有了规划好的“过程”步骤。项目管理的关键艺术就在于将这两者巧妙地融合起来，让过程有效地驱动产品的构建。</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这一页的图表直观展示了如何将具体的产品功能映射到软件开发的标准过程活动中。我们可以这样理解：</a:t>
            </a:r>
          </a:p>
          <a:p>
            <a:pPr algn="l">
              <a:buFont typeface="Arial" panose="020B0604020202020204" pitchFamily="34" charset="0"/>
              <a:buChar char="•"/>
            </a:pPr>
            <a:r>
              <a:rPr lang="zh-CN" altLang="en-US" b="1" i="0" dirty="0">
                <a:solidFill>
                  <a:srgbClr val="0F1115"/>
                </a:solidFill>
                <a:effectLst/>
                <a:latin typeface="quote-cjk-patch"/>
              </a:rPr>
              <a:t>表格的列</a:t>
            </a:r>
            <a:r>
              <a:rPr lang="zh-CN" altLang="en-US" b="0" i="0" dirty="0">
                <a:solidFill>
                  <a:srgbClr val="0F1115"/>
                </a:solidFill>
                <a:effectLst/>
                <a:latin typeface="quote-cjk-patch"/>
              </a:rPr>
              <a:t>代表了软件工程过程的常见框架活动：沟通、计划、建模、构建、部署。</a:t>
            </a:r>
          </a:p>
          <a:p>
            <a:pPr algn="l">
              <a:buFont typeface="Arial" panose="020B0604020202020204" pitchFamily="34" charset="0"/>
              <a:buChar char="•"/>
            </a:pPr>
            <a:r>
              <a:rPr lang="zh-CN" altLang="en-US" b="1" i="0" dirty="0">
                <a:solidFill>
                  <a:srgbClr val="0F1115"/>
                </a:solidFill>
                <a:effectLst/>
                <a:latin typeface="quote-cjk-patch"/>
              </a:rPr>
              <a:t>表格的行</a:t>
            </a:r>
            <a:r>
              <a:rPr lang="zh-CN" altLang="en-US" b="0" i="0" dirty="0">
                <a:solidFill>
                  <a:srgbClr val="0F1115"/>
                </a:solidFill>
                <a:effectLst/>
                <a:latin typeface="quote-cjk-patch"/>
              </a:rPr>
              <a:t>列出了具体的产品功能（例如：“同步手机与设备”、“在手机界面显示数据”等）。</a:t>
            </a:r>
          </a:p>
          <a:p>
            <a:pPr algn="l">
              <a:buFont typeface="Arial" panose="020B0604020202020204" pitchFamily="34" charset="0"/>
              <a:buChar char="•"/>
            </a:pPr>
            <a:r>
              <a:rPr lang="zh-CN" altLang="en-US" b="1" i="0" dirty="0">
                <a:solidFill>
                  <a:srgbClr val="0F1115"/>
                </a:solidFill>
                <a:effectLst/>
                <a:latin typeface="quote-cjk-patch"/>
              </a:rPr>
              <a:t>表格中的内容</a:t>
            </a:r>
            <a:r>
              <a:rPr lang="zh-CN" altLang="en-US" b="0" i="0" dirty="0">
                <a:solidFill>
                  <a:srgbClr val="0F1115"/>
                </a:solidFill>
                <a:effectLst/>
                <a:latin typeface="quote-cjk-patch"/>
              </a:rPr>
              <a:t>（虽然原文未具体填写）示意了每个产品功能在哪个过程阶段需要完成哪些任务。例如，“设置个人目标”这个功能，在“建模”阶段可能需要绘制用例图，在“构建”阶段则需要编写具体代码。</a:t>
            </a:r>
          </a:p>
          <a:p>
            <a:pPr algn="l"/>
            <a:r>
              <a:rPr lang="zh-CN" altLang="en-US" b="0" i="0" dirty="0">
                <a:solidFill>
                  <a:srgbClr val="0F1115"/>
                </a:solidFill>
                <a:effectLst/>
                <a:latin typeface="quote-cjk-patch"/>
              </a:rPr>
              <a:t>这个过程确保了每个产品需求都经过完整的工程化生命周期，避免了遗漏，也使项目计划更加具体和可追踪。</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13</a:t>
            </a:fld>
            <a:endParaRPr lang="zh-CN" altLang="en-US"/>
          </a:p>
        </p:txBody>
      </p:sp>
    </p:spTree>
    <p:extLst>
      <p:ext uri="{BB962C8B-B14F-4D97-AF65-F5344CB8AC3E}">
        <p14:creationId xmlns:p14="http://schemas.microsoft.com/office/powerpoint/2010/main" val="8989565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当我们融合了清晰的产品定义和适配的开发过程，项目就具备了成功的基础。但除此之外，还有哪些关键因素能真正决定一个项目的成败呢？这一页和下一页将总结那些被反复验证的成功项目共同特征。</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成功软件项目的第一个关键特征，主要集中在“人”、“目标”和“计划”的清晰性与一致性上：</a:t>
            </a:r>
          </a:p>
          <a:p>
            <a:pPr algn="l">
              <a:buFont typeface="+mj-lt"/>
              <a:buAutoNum type="arabicPeriod"/>
            </a:pPr>
            <a:r>
              <a:rPr lang="zh-CN" altLang="en-US" b="1" i="0" dirty="0">
                <a:solidFill>
                  <a:srgbClr val="0F1115"/>
                </a:solidFill>
                <a:effectLst/>
                <a:latin typeface="quote-cjk-patch"/>
              </a:rPr>
              <a:t>清晰且被充分理解的需求</a:t>
            </a:r>
            <a:r>
              <a:rPr lang="zh-CN" altLang="en-US" b="0" i="0" dirty="0">
                <a:solidFill>
                  <a:srgbClr val="0F1115"/>
                </a:solidFill>
                <a:effectLst/>
                <a:latin typeface="quote-cjk-patch"/>
              </a:rPr>
              <a:t>：所有利益相关者，尤其是客户、用户和开发团队，必须对软件要做什么有一致的、明确的理解。这是避免后期返工和范围蔓延的基石。</a:t>
            </a:r>
          </a:p>
          <a:p>
            <a:pPr algn="l">
              <a:buFont typeface="+mj-lt"/>
              <a:buAutoNum type="arabicPeriod"/>
            </a:pPr>
            <a:r>
              <a:rPr lang="zh-CN" altLang="en-US" b="1" i="0" dirty="0">
                <a:solidFill>
                  <a:srgbClr val="0F1115"/>
                </a:solidFill>
                <a:effectLst/>
                <a:latin typeface="quote-cjk-patch"/>
              </a:rPr>
              <a:t>用户的主动持续参与</a:t>
            </a:r>
            <a:r>
              <a:rPr lang="zh-CN" altLang="en-US" b="0" i="0" dirty="0">
                <a:solidFill>
                  <a:srgbClr val="0F1115"/>
                </a:solidFill>
                <a:effectLst/>
                <a:latin typeface="quote-cjk-patch"/>
              </a:rPr>
              <a:t>：用户不应只在项目开始时提供需求，而应贯穿于设计、原型评审、测试等各个环节。他们的持续反馈能确保产品始终对准真实业务需求。例如，在开发一个财务软件时，会计人员的定期参与能及时纠正流程设计上的偏差。</a:t>
            </a:r>
          </a:p>
          <a:p>
            <a:pPr algn="l">
              <a:buFont typeface="+mj-lt"/>
              <a:buAutoNum type="arabicPeriod"/>
            </a:pPr>
            <a:r>
              <a:rPr lang="zh-CN" altLang="en-US" b="1" i="0" dirty="0">
                <a:solidFill>
                  <a:srgbClr val="0F1115"/>
                </a:solidFill>
                <a:effectLst/>
                <a:latin typeface="quote-cjk-patch"/>
              </a:rPr>
              <a:t>具备领导力的项目经理</a:t>
            </a:r>
            <a:r>
              <a:rPr lang="zh-CN" altLang="en-US" b="0" i="0" dirty="0">
                <a:solidFill>
                  <a:srgbClr val="0F1115"/>
                </a:solidFill>
                <a:effectLst/>
                <a:latin typeface="quote-cjk-patch"/>
              </a:rPr>
              <a:t>：项目经理不仅要做计划和管理，更要能清晰地传达项目愿景，激励团队，并协调各方。一个有领导力的项目经理能将团队凝聚在共同目标下。</a:t>
            </a:r>
          </a:p>
          <a:p>
            <a:pPr algn="l">
              <a:buFont typeface="+mj-lt"/>
              <a:buAutoNum type="arabicPeriod"/>
            </a:pPr>
            <a:r>
              <a:rPr lang="zh-CN" altLang="en-US" b="1" i="0" dirty="0">
                <a:solidFill>
                  <a:srgbClr val="0F1115"/>
                </a:solidFill>
                <a:effectLst/>
                <a:latin typeface="quote-cjk-patch"/>
              </a:rPr>
              <a:t>利益相关者参与制定的项目计划与进度表</a:t>
            </a:r>
            <a:r>
              <a:rPr lang="zh-CN" altLang="en-US" b="0" i="0" dirty="0">
                <a:solidFill>
                  <a:srgbClr val="0F1115"/>
                </a:solidFill>
                <a:effectLst/>
                <a:latin typeface="quote-cjk-patch"/>
              </a:rPr>
              <a:t>：当客户、用户和团队共同参与制定计划时，计划会更贴合实际，大家也会对目标工期更有认同感和责任感。</a:t>
            </a:r>
          </a:p>
          <a:p>
            <a:pPr algn="l">
              <a:buFont typeface="+mj-lt"/>
              <a:buAutoNum type="arabicPeriod"/>
            </a:pPr>
            <a:r>
              <a:rPr lang="zh-CN" altLang="en-US" b="1" i="0" dirty="0">
                <a:solidFill>
                  <a:srgbClr val="0F1115"/>
                </a:solidFill>
                <a:effectLst/>
                <a:latin typeface="quote-cjk-patch"/>
              </a:rPr>
              <a:t>技能扎实且投入的团队成员</a:t>
            </a:r>
            <a:r>
              <a:rPr lang="zh-CN" altLang="en-US" b="0" i="0" dirty="0">
                <a:solidFill>
                  <a:srgbClr val="0F1115"/>
                </a:solidFill>
                <a:effectLst/>
                <a:latin typeface="quote-cjk-patch"/>
              </a:rPr>
              <a:t>：最终完成工作的是团队成员。他们不仅需要具备必要的技术能力，更需要有积极投入的态度和主人翁精神。</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14</a:t>
            </a:fld>
            <a:endParaRPr lang="zh-CN" altLang="en-US"/>
          </a:p>
        </p:txBody>
      </p:sp>
    </p:spTree>
    <p:extLst>
      <p:ext uri="{BB962C8B-B14F-4D97-AF65-F5344CB8AC3E}">
        <p14:creationId xmlns:p14="http://schemas.microsoft.com/office/powerpoint/2010/main" val="2152245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除了清晰的目标和计划，项目执行过程中的团队健康度、控制能力和最终交付质量，同样是衡量成功不可或缺的维度。</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成功的项目在团队协作、过程控制和结果满意度上往往表现出以下特征：</a:t>
            </a:r>
          </a:p>
          <a:p>
            <a:pPr algn="l">
              <a:buFont typeface="+mj-lt"/>
              <a:buAutoNum type="arabicPeriod" startAt="6"/>
            </a:pPr>
            <a:r>
              <a:rPr lang="zh-CN" altLang="en-US" b="1" i="0" dirty="0">
                <a:solidFill>
                  <a:srgbClr val="0F1115"/>
                </a:solidFill>
                <a:effectLst/>
                <a:latin typeface="quote-cjk-patch"/>
              </a:rPr>
              <a:t>成员性格兼容、乐于协作的团队</a:t>
            </a:r>
            <a:r>
              <a:rPr lang="zh-CN" altLang="en-US" b="0" i="0" dirty="0">
                <a:solidFill>
                  <a:srgbClr val="0F1115"/>
                </a:solidFill>
                <a:effectLst/>
                <a:latin typeface="quote-cjk-patch"/>
              </a:rPr>
              <a:t>：软件工程是团队活动。如果成员能愉快合作、优势互补，会极大提升创造力和问题解决效率。</a:t>
            </a:r>
          </a:p>
          <a:p>
            <a:pPr algn="l">
              <a:buFont typeface="+mj-lt"/>
              <a:buAutoNum type="arabicPeriod" startAt="6"/>
            </a:pPr>
            <a:r>
              <a:rPr lang="zh-CN" altLang="en-US" b="1" i="0" dirty="0">
                <a:solidFill>
                  <a:srgbClr val="0F1115"/>
                </a:solidFill>
                <a:effectLst/>
                <a:latin typeface="quote-cjk-patch"/>
              </a:rPr>
              <a:t>现实且受监控的预算与进度</a:t>
            </a:r>
            <a:r>
              <a:rPr lang="zh-CN" altLang="en-US" b="0" i="0" dirty="0">
                <a:solidFill>
                  <a:srgbClr val="0F1115"/>
                </a:solidFill>
                <a:effectLst/>
                <a:latin typeface="quote-cjk-patch"/>
              </a:rPr>
              <a:t>：初始估算应基于实际情况，而非主观愿望。更重要的是，在项目执行中要持续跟踪进度和成本（如使用挣值管理），及时发现偏差并调整。</a:t>
            </a:r>
          </a:p>
          <a:p>
            <a:pPr algn="l">
              <a:buFont typeface="+mj-lt"/>
              <a:buAutoNum type="arabicPeriod" startAt="6"/>
            </a:pPr>
            <a:r>
              <a:rPr lang="zh-CN" altLang="en-US" b="1" i="0" dirty="0">
                <a:solidFill>
                  <a:srgbClr val="0F1115"/>
                </a:solidFill>
                <a:effectLst/>
                <a:latin typeface="quote-cjk-patch"/>
              </a:rPr>
              <a:t>客户需求被理解并得到满足</a:t>
            </a:r>
            <a:r>
              <a:rPr lang="zh-CN" altLang="en-US" b="0" i="0" dirty="0">
                <a:solidFill>
                  <a:srgbClr val="0F1115"/>
                </a:solidFill>
                <a:effectLst/>
                <a:latin typeface="quote-cjk-patch"/>
              </a:rPr>
              <a:t>：项目的最终成功，在于交付的软件真正解决了客户的问题，满足了他们的核心需要，而不仅仅是完成了合同上的功能列表。</a:t>
            </a:r>
          </a:p>
          <a:p>
            <a:pPr algn="l">
              <a:buFont typeface="+mj-lt"/>
              <a:buAutoNum type="arabicPeriod" startAt="6"/>
            </a:pPr>
            <a:r>
              <a:rPr lang="zh-CN" altLang="en-US" b="1" i="0" dirty="0">
                <a:solidFill>
                  <a:srgbClr val="0F1115"/>
                </a:solidFill>
                <a:effectLst/>
                <a:latin typeface="quote-cjk-patch"/>
              </a:rPr>
              <a:t>高工作满意度的团队成员</a:t>
            </a:r>
            <a:r>
              <a:rPr lang="zh-CN" altLang="en-US" b="0" i="0" dirty="0">
                <a:solidFill>
                  <a:srgbClr val="0F1115"/>
                </a:solidFill>
                <a:effectLst/>
                <a:latin typeface="quote-cjk-patch"/>
              </a:rPr>
              <a:t>：当团队成员在项目中感到被尊重、能成长、有成就时，他们会更投入，产出质量也更高。低满意度的团队往往伴随着高离职率和隐性懈怠。</a:t>
            </a:r>
          </a:p>
          <a:p>
            <a:pPr algn="l">
              <a:buFont typeface="+mj-lt"/>
              <a:buAutoNum type="arabicPeriod" startAt="6"/>
            </a:pPr>
            <a:r>
              <a:rPr lang="zh-CN" altLang="en-US" b="1" i="0" dirty="0">
                <a:solidFill>
                  <a:srgbClr val="0F1115"/>
                </a:solidFill>
                <a:effectLst/>
                <a:latin typeface="quote-cjk-patch"/>
              </a:rPr>
              <a:t>反映预期范围与质量的可运行产品</a:t>
            </a:r>
            <a:r>
              <a:rPr lang="zh-CN" altLang="en-US" b="0" i="0" dirty="0">
                <a:solidFill>
                  <a:srgbClr val="0F1115"/>
                </a:solidFill>
                <a:effectLst/>
                <a:latin typeface="quote-cjk-patch"/>
              </a:rPr>
              <a:t>：成功最终要体现在可交付的产品上。这个产品应该完整实现了约定的功能（范围），并达到了要求的性能、可靠性等质量标准。</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15</a:t>
            </a:fld>
            <a:endParaRPr lang="zh-CN" altLang="en-US"/>
          </a:p>
        </p:txBody>
      </p:sp>
    </p:spTree>
    <p:extLst>
      <p:ext uri="{BB962C8B-B14F-4D97-AF65-F5344CB8AC3E}">
        <p14:creationId xmlns:p14="http://schemas.microsoft.com/office/powerpoint/2010/main" val="1070977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了解了成功项目的特征后，我们如何在实际项目启动时，就系统性地审视这些关键方面呢？“</a:t>
            </a:r>
            <a:r>
              <a:rPr lang="en-US" altLang="zh-CN" b="0" i="0" dirty="0">
                <a:solidFill>
                  <a:srgbClr val="0F1115"/>
                </a:solidFill>
                <a:effectLst/>
                <a:latin typeface="quote-cjk-patch"/>
              </a:rPr>
              <a:t>W5HH</a:t>
            </a:r>
            <a:r>
              <a:rPr lang="zh-CN" altLang="en-US" b="0" i="0" dirty="0">
                <a:solidFill>
                  <a:srgbClr val="0F1115"/>
                </a:solidFill>
                <a:effectLst/>
                <a:latin typeface="quote-cjk-patch"/>
              </a:rPr>
              <a:t>原则”提供了一个简洁而强大的提问框架，帮助项目经理和团队在项目初期理清思路。</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en-US" altLang="zh-CN" b="0" i="0" dirty="0">
                <a:solidFill>
                  <a:srgbClr val="0F1115"/>
                </a:solidFill>
                <a:effectLst/>
                <a:latin typeface="quote-cjk-patch"/>
              </a:rPr>
              <a:t>W5HH</a:t>
            </a:r>
            <a:r>
              <a:rPr lang="zh-CN" altLang="en-US" b="0" i="0" dirty="0">
                <a:solidFill>
                  <a:srgbClr val="0F1115"/>
                </a:solidFill>
                <a:effectLst/>
                <a:latin typeface="quote-cjk-patch"/>
              </a:rPr>
              <a:t>原则由</a:t>
            </a:r>
            <a:r>
              <a:rPr lang="en-US" altLang="zh-CN" b="0" i="0" dirty="0">
                <a:solidFill>
                  <a:srgbClr val="0F1115"/>
                </a:solidFill>
                <a:effectLst/>
                <a:latin typeface="quote-cjk-patch"/>
              </a:rPr>
              <a:t>Barry Boehm</a:t>
            </a:r>
            <a:r>
              <a:rPr lang="zh-CN" altLang="en-US" b="0" i="0" dirty="0">
                <a:solidFill>
                  <a:srgbClr val="0F1115"/>
                </a:solidFill>
                <a:effectLst/>
                <a:latin typeface="quote-cjk-patch"/>
              </a:rPr>
              <a:t>提出，它通过回答七个基本问题来定义项目框架：</a:t>
            </a:r>
          </a:p>
          <a:p>
            <a:pPr algn="l">
              <a:buFont typeface="Arial" panose="020B0604020202020204" pitchFamily="34" charset="0"/>
              <a:buChar char="•"/>
            </a:pPr>
            <a:r>
              <a:rPr lang="en-US" altLang="zh-CN" b="1" i="0" dirty="0">
                <a:solidFill>
                  <a:srgbClr val="0F1115"/>
                </a:solidFill>
                <a:effectLst/>
                <a:latin typeface="quote-cjk-patch"/>
              </a:rPr>
              <a:t>Why?</a:t>
            </a:r>
            <a:r>
              <a:rPr lang="zh-CN" altLang="en-US" b="1" i="0" dirty="0">
                <a:solidFill>
                  <a:srgbClr val="0F1115"/>
                </a:solidFill>
                <a:effectLst/>
                <a:latin typeface="quote-cjk-patch"/>
              </a:rPr>
              <a:t>（为什么）</a:t>
            </a:r>
            <a:r>
              <a:rPr lang="zh-CN" altLang="en-US" b="0" i="0" dirty="0">
                <a:solidFill>
                  <a:srgbClr val="0F1115"/>
                </a:solidFill>
                <a:effectLst/>
                <a:latin typeface="quote-cjk-patch"/>
              </a:rPr>
              <a:t>：系统为何而建？要解决什么根本业务问题或抓住什么机会？这确保了项目存在的价值。</a:t>
            </a:r>
          </a:p>
          <a:p>
            <a:pPr algn="l">
              <a:buFont typeface="Arial" panose="020B0604020202020204" pitchFamily="34" charset="0"/>
              <a:buChar char="•"/>
            </a:pPr>
            <a:r>
              <a:rPr lang="en-US" altLang="zh-CN" b="1" i="0" dirty="0">
                <a:solidFill>
                  <a:srgbClr val="0F1115"/>
                </a:solidFill>
                <a:effectLst/>
                <a:latin typeface="quote-cjk-patch"/>
              </a:rPr>
              <a:t>What?</a:t>
            </a:r>
            <a:r>
              <a:rPr lang="zh-CN" altLang="en-US" b="1" i="0" dirty="0">
                <a:solidFill>
                  <a:srgbClr val="0F1115"/>
                </a:solidFill>
                <a:effectLst/>
                <a:latin typeface="quote-cjk-patch"/>
              </a:rPr>
              <a:t>（做什么）</a:t>
            </a:r>
            <a:r>
              <a:rPr lang="zh-CN" altLang="en-US" b="0" i="0" dirty="0">
                <a:solidFill>
                  <a:srgbClr val="0F1115"/>
                </a:solidFill>
                <a:effectLst/>
                <a:latin typeface="quote-cjk-patch"/>
              </a:rPr>
              <a:t>：将要完成哪些具体工作？交付哪些功能和数据？这定义了工作范围。</a:t>
            </a:r>
          </a:p>
          <a:p>
            <a:pPr algn="l">
              <a:buFont typeface="Arial" panose="020B0604020202020204" pitchFamily="34" charset="0"/>
              <a:buChar char="•"/>
            </a:pPr>
            <a:r>
              <a:rPr lang="en-US" altLang="zh-CN" b="1" i="0" dirty="0">
                <a:solidFill>
                  <a:srgbClr val="0F1115"/>
                </a:solidFill>
                <a:effectLst/>
                <a:latin typeface="quote-cjk-patch"/>
              </a:rPr>
              <a:t>When?</a:t>
            </a:r>
            <a:r>
              <a:rPr lang="zh-CN" altLang="en-US" b="1" i="0" dirty="0">
                <a:solidFill>
                  <a:srgbClr val="0F1115"/>
                </a:solidFill>
                <a:effectLst/>
                <a:latin typeface="quote-cjk-patch"/>
              </a:rPr>
              <a:t>（何时完成）</a:t>
            </a:r>
            <a:r>
              <a:rPr lang="zh-CN" altLang="en-US" b="0" i="0" dirty="0">
                <a:solidFill>
                  <a:srgbClr val="0F1115"/>
                </a:solidFill>
                <a:effectLst/>
                <a:latin typeface="quote-cjk-patch"/>
              </a:rPr>
              <a:t>：各项任务什么时候完成？主要里程碑是什么？这建立了时间线。</a:t>
            </a:r>
          </a:p>
          <a:p>
            <a:pPr algn="l">
              <a:buFont typeface="Arial" panose="020B0604020202020204" pitchFamily="34" charset="0"/>
              <a:buChar char="•"/>
            </a:pPr>
            <a:r>
              <a:rPr lang="en-US" altLang="zh-CN" b="1" i="0" dirty="0">
                <a:solidFill>
                  <a:srgbClr val="0F1115"/>
                </a:solidFill>
                <a:effectLst/>
                <a:latin typeface="quote-cjk-patch"/>
              </a:rPr>
              <a:t>Who?</a:t>
            </a:r>
            <a:r>
              <a:rPr lang="zh-CN" altLang="en-US" b="1" i="0" dirty="0">
                <a:solidFill>
                  <a:srgbClr val="0F1115"/>
                </a:solidFill>
                <a:effectLst/>
                <a:latin typeface="quote-cjk-patch"/>
              </a:rPr>
              <a:t>（责任人）</a:t>
            </a:r>
            <a:r>
              <a:rPr lang="zh-CN" altLang="en-US" b="0" i="0" dirty="0">
                <a:solidFill>
                  <a:srgbClr val="0F1115"/>
                </a:solidFill>
                <a:effectLst/>
                <a:latin typeface="quote-cjk-patch"/>
              </a:rPr>
              <a:t>：谁对某项功能或任务负责？这明确了角色与职责。</a:t>
            </a:r>
          </a:p>
          <a:p>
            <a:pPr algn="l">
              <a:buFont typeface="Arial" panose="020B0604020202020204" pitchFamily="34" charset="0"/>
              <a:buChar char="•"/>
            </a:pPr>
            <a:r>
              <a:rPr lang="en-US" altLang="zh-CN" b="1" i="0" dirty="0">
                <a:solidFill>
                  <a:srgbClr val="0F1115"/>
                </a:solidFill>
                <a:effectLst/>
                <a:latin typeface="quote-cjk-patch"/>
              </a:rPr>
              <a:t>Where?</a:t>
            </a:r>
            <a:r>
              <a:rPr lang="zh-CN" altLang="en-US" b="1" i="0" dirty="0">
                <a:solidFill>
                  <a:srgbClr val="0F1115"/>
                </a:solidFill>
                <a:effectLst/>
                <a:latin typeface="quote-cjk-patch"/>
              </a:rPr>
              <a:t>（组织位置）</a:t>
            </a:r>
            <a:r>
              <a:rPr lang="zh-CN" altLang="en-US" b="0" i="0" dirty="0">
                <a:solidFill>
                  <a:srgbClr val="0F1115"/>
                </a:solidFill>
                <a:effectLst/>
                <a:latin typeface="quote-cjk-patch"/>
              </a:rPr>
              <a:t>：相关人员位于组织架构的何处？是内部团队、外包还是跨部门协作？这理清了组织接口。</a:t>
            </a:r>
          </a:p>
          <a:p>
            <a:pPr algn="l">
              <a:buFont typeface="Arial" panose="020B0604020202020204" pitchFamily="34" charset="0"/>
              <a:buChar char="•"/>
            </a:pPr>
            <a:r>
              <a:rPr lang="en-US" altLang="zh-CN" b="1" i="0" dirty="0">
                <a:solidFill>
                  <a:srgbClr val="0F1115"/>
                </a:solidFill>
                <a:effectLst/>
                <a:latin typeface="quote-cjk-patch"/>
              </a:rPr>
              <a:t>How?</a:t>
            </a:r>
            <a:r>
              <a:rPr lang="zh-CN" altLang="en-US" b="1" i="0" dirty="0">
                <a:solidFill>
                  <a:srgbClr val="0F1115"/>
                </a:solidFill>
                <a:effectLst/>
                <a:latin typeface="quote-cjk-patch"/>
              </a:rPr>
              <a:t>（如何做）</a:t>
            </a:r>
            <a:r>
              <a:rPr lang="zh-CN" altLang="en-US" b="0" i="0" dirty="0">
                <a:solidFill>
                  <a:srgbClr val="0F1115"/>
                </a:solidFill>
                <a:effectLst/>
                <a:latin typeface="quote-cjk-patch"/>
              </a:rPr>
              <a:t>：从技术和管理两个角度，工作将如何开展？采用什么技术栈和开发模型？如何进行管理和沟通？</a:t>
            </a:r>
          </a:p>
          <a:p>
            <a:pPr algn="l">
              <a:buFont typeface="Arial" panose="020B0604020202020204" pitchFamily="34" charset="0"/>
              <a:buChar char="•"/>
            </a:pPr>
            <a:r>
              <a:rPr lang="en-US" altLang="zh-CN" b="1" i="0" dirty="0">
                <a:solidFill>
                  <a:srgbClr val="0F1115"/>
                </a:solidFill>
                <a:effectLst/>
                <a:latin typeface="quote-cjk-patch"/>
              </a:rPr>
              <a:t>How much?</a:t>
            </a:r>
            <a:r>
              <a:rPr lang="zh-CN" altLang="en-US" b="1" i="0" dirty="0">
                <a:solidFill>
                  <a:srgbClr val="0F1115"/>
                </a:solidFill>
                <a:effectLst/>
                <a:latin typeface="quote-cjk-patch"/>
              </a:rPr>
              <a:t>（需要多少资源）</a:t>
            </a:r>
            <a:r>
              <a:rPr lang="zh-CN" altLang="en-US" b="0" i="0" dirty="0">
                <a:solidFill>
                  <a:srgbClr val="0F1115"/>
                </a:solidFill>
                <a:effectLst/>
                <a:latin typeface="quote-cjk-patch"/>
              </a:rPr>
              <a:t>：需要多少人力、软件、硬件、经费等资源？这构成了预算基础。</a:t>
            </a:r>
          </a:p>
          <a:p>
            <a:pPr algn="l"/>
            <a:r>
              <a:rPr lang="zh-CN" altLang="en-US" b="0" i="0" dirty="0">
                <a:solidFill>
                  <a:srgbClr val="0F1115"/>
                </a:solidFill>
                <a:effectLst/>
                <a:latin typeface="quote-cjk-patch"/>
              </a:rPr>
              <a:t>在项目启动会议或规划阶段，系统地回答这七个问题，能快速勾勒出项目的全景图，确保关键信息不遗漏，为后续详细计划打下坚实基础。</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16</a:t>
            </a:fld>
            <a:endParaRPr lang="zh-CN" altLang="en-US"/>
          </a:p>
        </p:txBody>
      </p:sp>
    </p:spTree>
    <p:extLst>
      <p:ext uri="{BB962C8B-B14F-4D97-AF65-F5344CB8AC3E}">
        <p14:creationId xmlns:p14="http://schemas.microsoft.com/office/powerpoint/2010/main" val="95411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掌握了</a:t>
            </a:r>
            <a:r>
              <a:rPr lang="en-US" altLang="zh-CN" b="0" i="0" dirty="0">
                <a:solidFill>
                  <a:srgbClr val="0F1115"/>
                </a:solidFill>
                <a:effectLst/>
                <a:latin typeface="quote-cjk-patch"/>
              </a:rPr>
              <a:t>W5HH</a:t>
            </a:r>
            <a:r>
              <a:rPr lang="zh-CN" altLang="en-US" b="0" i="0" dirty="0">
                <a:solidFill>
                  <a:srgbClr val="0F1115"/>
                </a:solidFill>
                <a:effectLst/>
                <a:latin typeface="quote-cjk-patch"/>
              </a:rPr>
              <a:t>这样的规划框架后，我们需要将其落地为具体的、可执行的行动。软件工程领域在多年的实践中，总结出了一系列被广泛验证的“关键实践”。将这些实践融入日常管理，能显著提升项目的可控性与成功率。</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本页列出的六大关键实践，是成熟项目管理的核心支柱：</a:t>
            </a:r>
          </a:p>
          <a:p>
            <a:pPr algn="l">
              <a:buFont typeface="+mj-lt"/>
              <a:buAutoNum type="arabicPeriod"/>
            </a:pPr>
            <a:r>
              <a:rPr lang="zh-CN" altLang="en-US" b="1" i="0" dirty="0">
                <a:solidFill>
                  <a:srgbClr val="0F1115"/>
                </a:solidFill>
                <a:effectLst/>
                <a:latin typeface="quote-cjk-patch"/>
              </a:rPr>
              <a:t>形式化风险管理</a:t>
            </a:r>
            <a:r>
              <a:rPr lang="zh-CN" altLang="en-US" b="0" i="0" dirty="0">
                <a:solidFill>
                  <a:srgbClr val="0F1115"/>
                </a:solidFill>
                <a:effectLst/>
                <a:latin typeface="quote-cjk-patch"/>
              </a:rPr>
              <a:t>：主动识别、分析并应对项目可能遇到的技术、人员、进度等方面的风险，而不是被动应对。例如，在项目初期就识别出“依赖的关键第三方库可能延迟发布”的风险，并制定备用方案。</a:t>
            </a:r>
          </a:p>
          <a:p>
            <a:pPr algn="l">
              <a:buFont typeface="+mj-lt"/>
              <a:buAutoNum type="arabicPeriod"/>
            </a:pPr>
            <a:r>
              <a:rPr lang="zh-CN" altLang="en-US" b="1" i="0" dirty="0">
                <a:solidFill>
                  <a:srgbClr val="0F1115"/>
                </a:solidFill>
                <a:effectLst/>
                <a:latin typeface="quote-cjk-patch"/>
              </a:rPr>
              <a:t>基于经验数据的成本与进度估算</a:t>
            </a:r>
            <a:r>
              <a:rPr lang="zh-CN" altLang="en-US" b="0" i="0" dirty="0">
                <a:solidFill>
                  <a:srgbClr val="0F1115"/>
                </a:solidFill>
                <a:effectLst/>
                <a:latin typeface="quote-cjk-patch"/>
              </a:rPr>
              <a:t>：避免纯粹的猜测或乐观估计。应基于历史项目数据、行业模型（如功能点分析）和团队的实际生产率进行估算，使计划更贴近现实。</a:t>
            </a:r>
          </a:p>
          <a:p>
            <a:pPr algn="l">
              <a:buFont typeface="+mj-lt"/>
              <a:buAutoNum type="arabicPeriod"/>
            </a:pPr>
            <a:r>
              <a:rPr lang="zh-CN" altLang="en-US" b="1" i="0" dirty="0">
                <a:solidFill>
                  <a:srgbClr val="0F1115"/>
                </a:solidFill>
                <a:effectLst/>
                <a:latin typeface="quote-cjk-patch"/>
              </a:rPr>
              <a:t>基于度量的项目管理</a:t>
            </a:r>
            <a:r>
              <a:rPr lang="zh-CN" altLang="en-US" b="0" i="0" dirty="0">
                <a:solidFill>
                  <a:srgbClr val="0F1115"/>
                </a:solidFill>
                <a:effectLst/>
                <a:latin typeface="quote-cjk-patch"/>
              </a:rPr>
              <a:t>：用数据而非感觉来管理项目。这包括追踪代码生产率、测试覆盖率、缺陷密度等指标，让项目状态透明化，为决策提供客观依据。</a:t>
            </a:r>
          </a:p>
          <a:p>
            <a:pPr algn="l">
              <a:buFont typeface="+mj-lt"/>
              <a:buAutoNum type="arabicPeriod"/>
            </a:pPr>
            <a:r>
              <a:rPr lang="zh-CN" altLang="en-US" b="1" i="0" dirty="0">
                <a:solidFill>
                  <a:srgbClr val="0F1115"/>
                </a:solidFill>
                <a:effectLst/>
                <a:latin typeface="quote-cjk-patch"/>
              </a:rPr>
              <a:t>挣值跟踪</a:t>
            </a:r>
            <a:r>
              <a:rPr lang="zh-CN" altLang="en-US" b="0" i="0" dirty="0">
                <a:solidFill>
                  <a:srgbClr val="0F1115"/>
                </a:solidFill>
                <a:effectLst/>
                <a:latin typeface="quote-cjk-patch"/>
              </a:rPr>
              <a:t>：这是一种将项目范围、进度和成本综合测量的高级技术。通过计算“计划工作的预算成本”（</a:t>
            </a:r>
            <a:r>
              <a:rPr lang="en-US" altLang="zh-CN" b="0" i="0" dirty="0">
                <a:solidFill>
                  <a:srgbClr val="0F1115"/>
                </a:solidFill>
                <a:effectLst/>
                <a:latin typeface="quote-cjk-patch"/>
              </a:rPr>
              <a:t>PV</a:t>
            </a:r>
            <a:r>
              <a:rPr lang="zh-CN" altLang="en-US" b="0" i="0" dirty="0">
                <a:solidFill>
                  <a:srgbClr val="0F1115"/>
                </a:solidFill>
                <a:effectLst/>
                <a:latin typeface="quote-cjk-patch"/>
              </a:rPr>
              <a:t>）、“已完成工作的实际成本”（</a:t>
            </a:r>
            <a:r>
              <a:rPr lang="en-US" altLang="zh-CN" b="0" i="0" dirty="0">
                <a:solidFill>
                  <a:srgbClr val="0F1115"/>
                </a:solidFill>
                <a:effectLst/>
                <a:latin typeface="quote-cjk-patch"/>
              </a:rPr>
              <a:t>AC</a:t>
            </a:r>
            <a:r>
              <a:rPr lang="zh-CN" altLang="en-US" b="0" i="0" dirty="0">
                <a:solidFill>
                  <a:srgbClr val="0F1115"/>
                </a:solidFill>
                <a:effectLst/>
                <a:latin typeface="quote-cjk-patch"/>
              </a:rPr>
              <a:t>）和“已完成工作的预算成本”（</a:t>
            </a:r>
            <a:r>
              <a:rPr lang="en-US" altLang="zh-CN" b="0" i="0" dirty="0">
                <a:solidFill>
                  <a:srgbClr val="0F1115"/>
                </a:solidFill>
                <a:effectLst/>
                <a:latin typeface="quote-cjk-patch"/>
              </a:rPr>
              <a:t>EV</a:t>
            </a:r>
            <a:r>
              <a:rPr lang="zh-CN" altLang="en-US" b="0" i="0" dirty="0">
                <a:solidFill>
                  <a:srgbClr val="0F1115"/>
                </a:solidFill>
                <a:effectLst/>
                <a:latin typeface="quote-cjk-patch"/>
              </a:rPr>
              <a:t>），可以精确判断项目是超前还是落后，是超支还是节省。</a:t>
            </a:r>
          </a:p>
          <a:p>
            <a:pPr algn="l">
              <a:buFont typeface="+mj-lt"/>
              <a:buAutoNum type="arabicPeriod"/>
            </a:pPr>
            <a:r>
              <a:rPr lang="zh-CN" altLang="en-US" b="1" i="0" dirty="0">
                <a:solidFill>
                  <a:srgbClr val="0F1115"/>
                </a:solidFill>
                <a:effectLst/>
                <a:latin typeface="quote-cjk-patch"/>
              </a:rPr>
              <a:t>针对质量目标的缺陷跟踪</a:t>
            </a:r>
            <a:r>
              <a:rPr lang="zh-CN" altLang="en-US" b="0" i="0" dirty="0">
                <a:solidFill>
                  <a:srgbClr val="0F1115"/>
                </a:solidFill>
                <a:effectLst/>
                <a:latin typeface="quote-cjk-patch"/>
              </a:rPr>
              <a:t>：不仅仅记录缺陷，更要分析缺陷的分布、趋势和根本原因，并将其与预先设定的质量目标（如“每千行代码缺陷数”）进行比较，以驱动持续的流程改进。</a:t>
            </a:r>
          </a:p>
          <a:p>
            <a:pPr algn="l">
              <a:buFont typeface="+mj-lt"/>
              <a:buAutoNum type="arabicPeriod"/>
            </a:pPr>
            <a:r>
              <a:rPr lang="zh-CN" altLang="en-US" b="1" i="0" dirty="0">
                <a:solidFill>
                  <a:srgbClr val="0F1115"/>
                </a:solidFill>
                <a:effectLst/>
                <a:latin typeface="quote-cjk-patch"/>
              </a:rPr>
              <a:t>人员意识项目管理</a:t>
            </a:r>
            <a:r>
              <a:rPr lang="zh-CN" altLang="en-US" b="0" i="0" dirty="0">
                <a:solidFill>
                  <a:srgbClr val="0F1115"/>
                </a:solidFill>
                <a:effectLst/>
                <a:latin typeface="quote-cjk-patch"/>
              </a:rPr>
              <a:t>：认识到项目管理最终是关于“人”的管理。关注团队士气、个人成长、沟通效率和工作满意度，运用我们前面讲过的领导力实践，营造积极健康的团队环境。</a:t>
            </a:r>
          </a:p>
          <a:p>
            <a:pPr algn="l"/>
            <a:r>
              <a:rPr lang="zh-CN" altLang="en-US" b="0" i="0" dirty="0">
                <a:solidFill>
                  <a:srgbClr val="0F1115"/>
                </a:solidFill>
                <a:effectLst/>
                <a:latin typeface="quote-cjk-patch"/>
              </a:rPr>
              <a:t>这些实践相互关联，共同构成了一个专业、系统的项目管理体系。</a:t>
            </a:r>
          </a:p>
          <a:p>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17</a:t>
            </a:fld>
            <a:endParaRPr lang="zh-CN" altLang="en-US"/>
          </a:p>
        </p:txBody>
      </p:sp>
    </p:spTree>
    <p:extLst>
      <p:ext uri="{BB962C8B-B14F-4D97-AF65-F5344CB8AC3E}">
        <p14:creationId xmlns:p14="http://schemas.microsoft.com/office/powerpoint/2010/main" val="30928188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至此，我们已经系统地学习了软件项目管理的基本概念、核心要素、团队构建、范围定义、过程选择以及一系列保证成功的框架与实践。现在，让我们对这些内容做一个简要的回顾与总结。</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本章“项目管理概念”为我们构建了一个坚实的认知基础。我们从最核心的</a:t>
            </a:r>
            <a:r>
              <a:rPr lang="zh-CN" altLang="en-US" b="1" i="0" dirty="0">
                <a:solidFill>
                  <a:srgbClr val="0F1115"/>
                </a:solidFill>
                <a:effectLst/>
                <a:latin typeface="quote-cjk-patch"/>
              </a:rPr>
              <a:t>管理光谱（四</a:t>
            </a:r>
            <a:r>
              <a:rPr lang="en-US" altLang="zh-CN" b="1" i="0" dirty="0">
                <a:solidFill>
                  <a:srgbClr val="0F1115"/>
                </a:solidFill>
                <a:effectLst/>
                <a:latin typeface="quote-cjk-patch"/>
              </a:rPr>
              <a:t>P</a:t>
            </a:r>
            <a:r>
              <a:rPr lang="zh-CN" altLang="en-US" b="1" i="0" dirty="0">
                <a:solidFill>
                  <a:srgbClr val="0F1115"/>
                </a:solidFill>
                <a:effectLst/>
                <a:latin typeface="quote-cjk-patch"/>
              </a:rPr>
              <a:t>）</a:t>
            </a:r>
            <a:r>
              <a:rPr lang="zh-CN" altLang="en-US" b="0" i="0" dirty="0">
                <a:solidFill>
                  <a:srgbClr val="0F1115"/>
                </a:solidFill>
                <a:effectLst/>
                <a:latin typeface="quote-cjk-patch"/>
              </a:rPr>
              <a:t> 出发，理解了任何项目都离不开人、产品、过程和项目本身这四大维度。</a:t>
            </a:r>
            <a:br>
              <a:rPr lang="zh-CN" altLang="en-US" b="0" i="0" dirty="0">
                <a:solidFill>
                  <a:srgbClr val="0F1115"/>
                </a:solidFill>
                <a:effectLst/>
                <a:latin typeface="quote-cjk-patch"/>
              </a:rPr>
            </a:br>
            <a:r>
              <a:rPr lang="zh-CN" altLang="en-US" b="0" i="0" dirty="0">
                <a:solidFill>
                  <a:srgbClr val="0F1115"/>
                </a:solidFill>
                <a:effectLst/>
                <a:latin typeface="quote-cjk-patch"/>
              </a:rPr>
              <a:t>接着，我们深入探讨了项目中的</a:t>
            </a:r>
            <a:r>
              <a:rPr lang="zh-CN" altLang="en-US" b="1" i="0" dirty="0">
                <a:solidFill>
                  <a:srgbClr val="0F1115"/>
                </a:solidFill>
                <a:effectLst/>
                <a:latin typeface="quote-cjk-patch"/>
              </a:rPr>
              <a:t>利益相关者</a:t>
            </a:r>
            <a:r>
              <a:rPr lang="zh-CN" altLang="en-US" b="0" i="0" dirty="0">
                <a:solidFill>
                  <a:srgbClr val="0F1115"/>
                </a:solidFill>
                <a:effectLst/>
                <a:latin typeface="quote-cjk-patch"/>
              </a:rPr>
              <a:t>和</a:t>
            </a:r>
            <a:r>
              <a:rPr lang="zh-CN" altLang="en-US" b="1" i="0" dirty="0">
                <a:solidFill>
                  <a:srgbClr val="0F1115"/>
                </a:solidFill>
                <a:effectLst/>
                <a:latin typeface="quote-cjk-patch"/>
              </a:rPr>
              <a:t>团队</a:t>
            </a:r>
            <a:r>
              <a:rPr lang="zh-CN" altLang="en-US" b="0" i="0" dirty="0">
                <a:solidFill>
                  <a:srgbClr val="0F1115"/>
                </a:solidFill>
                <a:effectLst/>
                <a:latin typeface="quote-cjk-patch"/>
              </a:rPr>
              <a:t>，分析了如何构建团队、避免毒性因素，以及敏捷团队的特点。</a:t>
            </a:r>
            <a:br>
              <a:rPr lang="zh-CN" altLang="en-US" b="0" i="0" dirty="0">
                <a:solidFill>
                  <a:srgbClr val="0F1115"/>
                </a:solidFill>
                <a:effectLst/>
                <a:latin typeface="quote-cjk-patch"/>
              </a:rPr>
            </a:br>
            <a:r>
              <a:rPr lang="zh-CN" altLang="en-US" b="0" i="0" dirty="0">
                <a:solidFill>
                  <a:srgbClr val="0F1115"/>
                </a:solidFill>
                <a:effectLst/>
                <a:latin typeface="quote-cjk-patch"/>
              </a:rPr>
              <a:t>然后，我们聚焦于项目管理的两大基石：</a:t>
            </a:r>
            <a:r>
              <a:rPr lang="zh-CN" altLang="en-US" b="1" i="0" dirty="0">
                <a:solidFill>
                  <a:srgbClr val="0F1115"/>
                </a:solidFill>
                <a:effectLst/>
                <a:latin typeface="quote-cjk-patch"/>
              </a:rPr>
              <a:t>定义清晰的软件范围</a:t>
            </a:r>
            <a:r>
              <a:rPr lang="zh-CN" altLang="en-US" b="0" i="0" dirty="0">
                <a:solidFill>
                  <a:srgbClr val="0F1115"/>
                </a:solidFill>
                <a:effectLst/>
                <a:latin typeface="quote-cjk-patch"/>
              </a:rPr>
              <a:t>，并通过</a:t>
            </a:r>
            <a:r>
              <a:rPr lang="zh-CN" altLang="en-US" b="1" i="0" dirty="0">
                <a:solidFill>
                  <a:srgbClr val="0F1115"/>
                </a:solidFill>
                <a:effectLst/>
                <a:latin typeface="quote-cjk-patch"/>
              </a:rPr>
              <a:t>问题分解</a:t>
            </a:r>
            <a:r>
              <a:rPr lang="zh-CN" altLang="en-US" b="0" i="0" dirty="0">
                <a:solidFill>
                  <a:srgbClr val="0F1115"/>
                </a:solidFill>
                <a:effectLst/>
                <a:latin typeface="quote-cjk-patch"/>
              </a:rPr>
              <a:t>将其细化；以及</a:t>
            </a:r>
            <a:r>
              <a:rPr lang="zh-CN" altLang="en-US" b="1" i="0" dirty="0">
                <a:solidFill>
                  <a:srgbClr val="0F1115"/>
                </a:solidFill>
                <a:effectLst/>
                <a:latin typeface="quote-cjk-patch"/>
              </a:rPr>
              <a:t>选择与定义合适的软件过程</a:t>
            </a:r>
            <a:r>
              <a:rPr lang="zh-CN" altLang="en-US" b="0" i="0" dirty="0">
                <a:solidFill>
                  <a:srgbClr val="0F1115"/>
                </a:solidFill>
                <a:effectLst/>
                <a:latin typeface="quote-cjk-patch"/>
              </a:rPr>
              <a:t>，并将产品功能与过程活动相融合。</a:t>
            </a:r>
            <a:br>
              <a:rPr lang="zh-CN" altLang="en-US" b="0" i="0" dirty="0">
                <a:solidFill>
                  <a:srgbClr val="0F1115"/>
                </a:solidFill>
                <a:effectLst/>
                <a:latin typeface="quote-cjk-patch"/>
              </a:rPr>
            </a:br>
            <a:r>
              <a:rPr lang="zh-CN" altLang="en-US" b="0" i="0" dirty="0">
                <a:solidFill>
                  <a:srgbClr val="0F1115"/>
                </a:solidFill>
                <a:effectLst/>
                <a:latin typeface="quote-cjk-patch"/>
              </a:rPr>
              <a:t>最后，我们总结了</a:t>
            </a:r>
            <a:r>
              <a:rPr lang="zh-CN" altLang="en-US" b="1" i="0" dirty="0">
                <a:solidFill>
                  <a:srgbClr val="0F1115"/>
                </a:solidFill>
                <a:effectLst/>
                <a:latin typeface="quote-cjk-patch"/>
              </a:rPr>
              <a:t>成功项目的特征</a:t>
            </a:r>
            <a:r>
              <a:rPr lang="zh-CN" altLang="en-US" b="0" i="0" dirty="0">
                <a:solidFill>
                  <a:srgbClr val="0F1115"/>
                </a:solidFill>
                <a:effectLst/>
                <a:latin typeface="quote-cjk-patch"/>
              </a:rPr>
              <a:t>，学习了用于项目规划的</a:t>
            </a:r>
            <a:r>
              <a:rPr lang="en-US" altLang="zh-CN" b="1" i="0" dirty="0">
                <a:solidFill>
                  <a:srgbClr val="0F1115"/>
                </a:solidFill>
                <a:effectLst/>
                <a:latin typeface="quote-cjk-patch"/>
              </a:rPr>
              <a:t>W5HH</a:t>
            </a:r>
            <a:r>
              <a:rPr lang="zh-CN" altLang="en-US" b="1" i="0" dirty="0">
                <a:solidFill>
                  <a:srgbClr val="0F1115"/>
                </a:solidFill>
                <a:effectLst/>
                <a:latin typeface="quote-cjk-patch"/>
              </a:rPr>
              <a:t>原则</a:t>
            </a:r>
            <a:r>
              <a:rPr lang="zh-CN" altLang="en-US" b="0" i="0" dirty="0">
                <a:solidFill>
                  <a:srgbClr val="0F1115"/>
                </a:solidFill>
                <a:effectLst/>
                <a:latin typeface="quote-cjk-patch"/>
              </a:rPr>
              <a:t>，并介绍了一系列确保项目受控的</a:t>
            </a:r>
            <a:r>
              <a:rPr lang="zh-CN" altLang="en-US" b="1" i="0" dirty="0">
                <a:solidFill>
                  <a:srgbClr val="0F1115"/>
                </a:solidFill>
                <a:effectLst/>
                <a:latin typeface="quote-cjk-patch"/>
              </a:rPr>
              <a:t>关键实践</a:t>
            </a:r>
            <a:r>
              <a:rPr lang="zh-CN" altLang="en-US" b="0"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记住，项目管理既是科学，也是艺术。它需要系统性的方法、工具和实践，同时也需要领导力、沟通和同理心。希望本章内容能为大家未来的项目实践提供一个有价值的起点。</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F2AEF802-B16A-46F4-B044-51989B4CBA42}" type="slidenum">
              <a:rPr lang="zh-CN" altLang="en-US" smtClean="0"/>
              <a:t>18</a:t>
            </a:fld>
            <a:endParaRPr lang="zh-CN" altLang="en-US"/>
          </a:p>
        </p:txBody>
      </p:sp>
    </p:spTree>
    <p:extLst>
      <p:ext uri="{BB962C8B-B14F-4D97-AF65-F5344CB8AC3E}">
        <p14:creationId xmlns:p14="http://schemas.microsoft.com/office/powerpoint/2010/main" val="2216687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D19C7504-4635-4B52-8371-4EA698579762}"/>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
        <p:nvSpPr>
          <p:cNvPr id="14" name="Short Copyright">
            <a:extLst>
              <a:ext uri="{FF2B5EF4-FFF2-40B4-BE49-F238E27FC236}">
                <a16:creationId xmlns:a16="http://schemas.microsoft.com/office/drawing/2014/main" id="{AA00C9CA-1364-4B30-980F-7F8A8E32AB2E}"/>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00C37CF4-7376-4570-B145-FE7C92E83765}"/>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slide" Target="slide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latin typeface="Times New Roman" panose="02020603050405020304" pitchFamily="18" charset="0"/>
                <a:cs typeface="Times New Roman" panose="02020603050405020304" pitchFamily="18" charset="0"/>
              </a:rPr>
              <a:t>Chapter 24</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Project Management Concepts</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p:txBody>
          <a:bodyPr/>
          <a:lstStyle/>
          <a:p>
            <a:r>
              <a:rPr lang="en-US" dirty="0">
                <a:latin typeface="Times New Roman" panose="02020603050405020304" pitchFamily="18" charset="0"/>
                <a:cs typeface="Times New Roman" panose="02020603050405020304" pitchFamily="18" charset="0"/>
              </a:rPr>
              <a:t>Part Four – Managing Software Projects</a:t>
            </a:r>
          </a:p>
        </p:txBody>
      </p:sp>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pic>
        <p:nvPicPr>
          <p:cNvPr id="4" name="Picture Placeholder 3" descr="Software Engineering-A Practitioner's Approach, 9e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Tree>
    <p:extLst>
      <p:ext uri="{BB962C8B-B14F-4D97-AF65-F5344CB8AC3E}">
        <p14:creationId xmlns:p14="http://schemas.microsoft.com/office/powerpoint/2010/main" val="3800636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Management Spectrum – Four P’s</a:t>
            </a:r>
            <a:endParaRPr lang="en-US" sz="1000" b="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261480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People — the most important element of a successful project.</a:t>
            </a:r>
          </a:p>
          <a:p>
            <a:pPr marL="291600" indent="-291600">
              <a:spcBef>
                <a:spcPts val="1000"/>
              </a:spcBef>
              <a:spcAft>
                <a:spcPts val="0"/>
              </a:spcAft>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Product — the software to be built.</a:t>
            </a:r>
          </a:p>
          <a:p>
            <a:pPr marL="291600" indent="-291600">
              <a:spcBef>
                <a:spcPts val="1000"/>
              </a:spcBef>
              <a:spcAft>
                <a:spcPts val="0"/>
              </a:spcAft>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Process — the set of framework activities and software engineering tasks to get the job done.</a:t>
            </a:r>
          </a:p>
          <a:p>
            <a:pPr marL="291600" indent="-291600">
              <a:spcBef>
                <a:spcPts val="1000"/>
              </a:spcBef>
              <a:spcAft>
                <a:spcPts val="0"/>
              </a:spcAft>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Project — all work required to make the product a reality.</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3147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Stakeholders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43160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b="1" i="1" dirty="0">
                <a:solidFill>
                  <a:srgbClr val="000000"/>
                </a:solidFill>
                <a:latin typeface="Times New Roman" panose="02020603050405020304" pitchFamily="18" charset="0"/>
                <a:cs typeface="Times New Roman" panose="02020603050405020304" pitchFamily="18" charset="0"/>
              </a:rPr>
              <a:t>Senior managers</a:t>
            </a:r>
            <a:r>
              <a:rPr lang="en-US" altLang="en-US" sz="2400" b="1" dirty="0">
                <a:solidFill>
                  <a:srgbClr val="000000"/>
                </a:solidFill>
                <a:latin typeface="Times New Roman" panose="02020603050405020304" pitchFamily="18" charset="0"/>
                <a:cs typeface="Times New Roman" panose="02020603050405020304" pitchFamily="18" charset="0"/>
              </a:rPr>
              <a:t> - </a:t>
            </a:r>
            <a:r>
              <a:rPr lang="en-US" altLang="en-US" sz="2400" dirty="0">
                <a:solidFill>
                  <a:srgbClr val="000000"/>
                </a:solidFill>
                <a:latin typeface="Times New Roman" panose="02020603050405020304" pitchFamily="18" charset="0"/>
                <a:cs typeface="Times New Roman" panose="02020603050405020304" pitchFamily="18" charset="0"/>
              </a:rPr>
              <a:t>define the business issues that often have significant influence on the project.</a:t>
            </a:r>
          </a:p>
          <a:p>
            <a:pPr marL="291600" indent="-291600">
              <a:spcBef>
                <a:spcPts val="1000"/>
              </a:spcBef>
              <a:spcAft>
                <a:spcPts val="0"/>
              </a:spcAft>
              <a:buFont typeface="Arial" panose="020B0604020202020204" pitchFamily="34" charset="0"/>
              <a:buChar char="•"/>
            </a:pPr>
            <a:r>
              <a:rPr lang="en-US" altLang="en-US" sz="2400" b="1" i="1" dirty="0">
                <a:solidFill>
                  <a:srgbClr val="000000"/>
                </a:solidFill>
                <a:latin typeface="Times New Roman" panose="02020603050405020304" pitchFamily="18" charset="0"/>
                <a:cs typeface="Times New Roman" panose="02020603050405020304" pitchFamily="18" charset="0"/>
              </a:rPr>
              <a:t>Project (technical) managers </a:t>
            </a:r>
            <a:r>
              <a:rPr lang="en-US" altLang="en-US" sz="2400" dirty="0">
                <a:solidFill>
                  <a:srgbClr val="000000"/>
                </a:solidFill>
                <a:latin typeface="Times New Roman" panose="02020603050405020304" pitchFamily="18" charset="0"/>
                <a:cs typeface="Times New Roman" panose="02020603050405020304" pitchFamily="18" charset="0"/>
              </a:rPr>
              <a:t>- who must plan, motivate, organize, and control the practitioner.</a:t>
            </a:r>
          </a:p>
          <a:p>
            <a:pPr marL="291600" indent="-291600">
              <a:spcBef>
                <a:spcPts val="1000"/>
              </a:spcBef>
              <a:spcAft>
                <a:spcPts val="0"/>
              </a:spcAft>
              <a:buFont typeface="Arial" panose="020B0604020202020204" pitchFamily="34" charset="0"/>
              <a:buChar char="•"/>
            </a:pPr>
            <a:r>
              <a:rPr lang="en-US" altLang="en-US" sz="2400" b="1" i="1" dirty="0">
                <a:solidFill>
                  <a:srgbClr val="000000"/>
                </a:solidFill>
                <a:latin typeface="Times New Roman" panose="02020603050405020304" pitchFamily="18" charset="0"/>
                <a:cs typeface="Times New Roman" panose="02020603050405020304" pitchFamily="18" charset="0"/>
              </a:rPr>
              <a:t>Practitioners</a:t>
            </a:r>
            <a:r>
              <a:rPr lang="en-US" altLang="en-US" sz="2400" dirty="0">
                <a:solidFill>
                  <a:srgbClr val="000000"/>
                </a:solidFill>
                <a:latin typeface="Times New Roman" panose="02020603050405020304" pitchFamily="18" charset="0"/>
                <a:cs typeface="Times New Roman" panose="02020603050405020304" pitchFamily="18" charset="0"/>
              </a:rPr>
              <a:t> - who deliver the technical skills that are necessary to engineer a product or application.</a:t>
            </a:r>
          </a:p>
          <a:p>
            <a:pPr marL="291600" indent="-291600">
              <a:spcBef>
                <a:spcPts val="1000"/>
              </a:spcBef>
              <a:spcAft>
                <a:spcPts val="0"/>
              </a:spcAft>
              <a:buFont typeface="Arial" panose="020B0604020202020204" pitchFamily="34" charset="0"/>
              <a:buChar char="•"/>
            </a:pPr>
            <a:r>
              <a:rPr lang="en-US" altLang="en-US" sz="2400" b="1" i="1" dirty="0">
                <a:solidFill>
                  <a:srgbClr val="000000"/>
                </a:solidFill>
                <a:latin typeface="Times New Roman" panose="02020603050405020304" pitchFamily="18" charset="0"/>
                <a:cs typeface="Times New Roman" panose="02020603050405020304" pitchFamily="18" charset="0"/>
              </a:rPr>
              <a:t>Customers</a:t>
            </a:r>
            <a:r>
              <a:rPr lang="en-US" altLang="en-US" sz="2400" dirty="0">
                <a:solidFill>
                  <a:srgbClr val="000000"/>
                </a:solidFill>
                <a:latin typeface="Times New Roman" panose="02020603050405020304" pitchFamily="18" charset="0"/>
                <a:cs typeface="Times New Roman" panose="02020603050405020304" pitchFamily="18" charset="0"/>
              </a:rPr>
              <a:t> - specify requirements for the software to be engineered and other interested product stakeholders.</a:t>
            </a:r>
          </a:p>
          <a:p>
            <a:pPr marL="291600" indent="-291600">
              <a:spcBef>
                <a:spcPts val="1000"/>
              </a:spcBef>
              <a:spcAft>
                <a:spcPts val="0"/>
              </a:spcAft>
              <a:buFont typeface="Arial" panose="020B0604020202020204" pitchFamily="34" charset="0"/>
              <a:buChar char="•"/>
            </a:pPr>
            <a:r>
              <a:rPr lang="en-US" altLang="en-US" sz="2400" b="1" i="1" dirty="0">
                <a:solidFill>
                  <a:srgbClr val="000000"/>
                </a:solidFill>
                <a:latin typeface="Times New Roman" panose="02020603050405020304" pitchFamily="18" charset="0"/>
                <a:cs typeface="Times New Roman" panose="02020603050405020304" pitchFamily="18" charset="0"/>
              </a:rPr>
              <a:t>End-users</a:t>
            </a:r>
            <a:r>
              <a:rPr lang="en-US" altLang="en-US" sz="2400" dirty="0">
                <a:solidFill>
                  <a:srgbClr val="000000"/>
                </a:solidFill>
                <a:latin typeface="Times New Roman" panose="02020603050405020304" pitchFamily="18" charset="0"/>
                <a:cs typeface="Times New Roman" panose="02020603050405020304" pitchFamily="18" charset="0"/>
              </a:rPr>
              <a:t> - interact with the software once it is released for production use.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3</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0625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Team Leaders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4581831"/>
          </a:xfrm>
        </p:spPr>
        <p:txBody>
          <a:bodyPr vert="horz" lIns="91440" tIns="45720" rIns="91440" bIns="45720" rtlCol="0">
            <a:noAutofit/>
          </a:bodyPr>
          <a:lstStyle/>
          <a:p>
            <a:pPr>
              <a:spcBef>
                <a:spcPts val="1000"/>
              </a:spcBef>
              <a:spcAft>
                <a:spcPts val="0"/>
              </a:spcAft>
            </a:pPr>
            <a:r>
              <a:rPr lang="en-US" sz="2400" dirty="0">
                <a:latin typeface="Times New Roman" panose="02020603050405020304" pitchFamily="18" charset="0"/>
                <a:cs typeface="Times New Roman" panose="02020603050405020304" pitchFamily="18" charset="0"/>
              </a:rPr>
              <a:t>Kouzes exemplary practices for technology leaders:</a:t>
            </a:r>
          </a:p>
          <a:p>
            <a:pPr marL="291600" indent="-291600">
              <a:spcBef>
                <a:spcPts val="1000"/>
              </a:spcBef>
              <a:spcAft>
                <a:spcPts val="0"/>
              </a:spcAf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Model the way. </a:t>
            </a:r>
            <a:r>
              <a:rPr lang="en-US" dirty="0">
                <a:latin typeface="Times New Roman" panose="02020603050405020304" pitchFamily="18" charset="0"/>
                <a:cs typeface="Times New Roman" panose="02020603050405020304" pitchFamily="18" charset="0"/>
              </a:rPr>
              <a:t>Leaders must practice what they preach. They demonstrate commitment to team and project by shared sacrifice.</a:t>
            </a:r>
          </a:p>
          <a:p>
            <a:pPr marL="291600" indent="-291600">
              <a:spcBef>
                <a:spcPts val="1000"/>
              </a:spcBef>
              <a:spcAft>
                <a:spcPts val="0"/>
              </a:spcAf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Inspire </a:t>
            </a:r>
            <a:r>
              <a:rPr lang="en-US" b="1">
                <a:latin typeface="Times New Roman" panose="02020603050405020304" pitchFamily="18" charset="0"/>
                <a:cs typeface="Times New Roman" panose="02020603050405020304" pitchFamily="18" charset="0"/>
              </a:rPr>
              <a:t>and share </a:t>
            </a:r>
            <a:r>
              <a:rPr lang="en-US" b="1" dirty="0">
                <a:latin typeface="Times New Roman" panose="02020603050405020304" pitchFamily="18" charset="0"/>
                <a:cs typeface="Times New Roman" panose="02020603050405020304" pitchFamily="18" charset="0"/>
              </a:rPr>
              <a:t>vision. </a:t>
            </a:r>
            <a:r>
              <a:rPr lang="en-US" dirty="0">
                <a:latin typeface="Times New Roman" panose="02020603050405020304" pitchFamily="18" charset="0"/>
                <a:cs typeface="Times New Roman" panose="02020603050405020304" pitchFamily="18" charset="0"/>
              </a:rPr>
              <a:t>Motivate team members to tie their personal aspirations to team goals. Involve stakeholders early.</a:t>
            </a:r>
          </a:p>
          <a:p>
            <a:pPr marL="291600" indent="-291600">
              <a:spcBef>
                <a:spcPts val="1000"/>
              </a:spcBef>
              <a:spcAft>
                <a:spcPts val="0"/>
              </a:spcAf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Challenge the process. </a:t>
            </a:r>
            <a:r>
              <a:rPr lang="en-US" dirty="0">
                <a:latin typeface="Times New Roman" panose="02020603050405020304" pitchFamily="18" charset="0"/>
                <a:cs typeface="Times New Roman" panose="02020603050405020304" pitchFamily="18" charset="0"/>
              </a:rPr>
              <a:t>Encourage team members to experiment and take risks by helping them generate frequent small successes while learning from their failures.</a:t>
            </a:r>
          </a:p>
          <a:p>
            <a:pPr marL="291600" indent="-291600">
              <a:spcBef>
                <a:spcPts val="1000"/>
              </a:spcBef>
              <a:spcAft>
                <a:spcPts val="0"/>
              </a:spcAf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Enable others to act. </a:t>
            </a:r>
            <a:r>
              <a:rPr lang="en-US" dirty="0">
                <a:latin typeface="Times New Roman" panose="02020603050405020304" pitchFamily="18" charset="0"/>
                <a:cs typeface="Times New Roman" panose="02020603050405020304" pitchFamily="18" charset="0"/>
              </a:rPr>
              <a:t>Increase the team’s sense of competence through sharing decision making and goal setting.</a:t>
            </a:r>
          </a:p>
          <a:p>
            <a:pPr marL="291600" indent="-291600">
              <a:spcBef>
                <a:spcPts val="1000"/>
              </a:spcBef>
              <a:spcAft>
                <a:spcPts val="0"/>
              </a:spcAf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Encourage the heart. </a:t>
            </a:r>
            <a:r>
              <a:rPr lang="en-US" dirty="0">
                <a:latin typeface="Times New Roman" panose="02020603050405020304" pitchFamily="18" charset="0"/>
                <a:cs typeface="Times New Roman" panose="02020603050405020304" pitchFamily="18" charset="0"/>
              </a:rPr>
              <a:t>Build community (team) spirit by celebrating shared goals and victories (individual and team).</a:t>
            </a:r>
            <a:endParaRPr lang="en-US" sz="4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4</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5223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639352" cy="678611"/>
          </a:xfrm>
        </p:spPr>
        <p:txBody>
          <a:bodyPr>
            <a:noAutofit/>
          </a:bodyPr>
          <a:lstStyle/>
          <a:p>
            <a:r>
              <a:rPr lang="en-US" sz="3600" dirty="0">
                <a:solidFill>
                  <a:srgbClr val="000000"/>
                </a:solidFill>
                <a:latin typeface="Times New Roman" panose="02020603050405020304" pitchFamily="18" charset="0"/>
                <a:cs typeface="Times New Roman" panose="02020603050405020304" pitchFamily="18" charset="0"/>
              </a:rPr>
              <a:t>Factors Affecting Software Team Structure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99703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Difficulty</a:t>
            </a:r>
            <a:r>
              <a:rPr lang="en-US" altLang="en-US" sz="2400" dirty="0">
                <a:solidFill>
                  <a:srgbClr val="000000"/>
                </a:solidFill>
                <a:latin typeface="Times New Roman" panose="02020603050405020304" pitchFamily="18" charset="0"/>
                <a:cs typeface="Times New Roman" panose="02020603050405020304" pitchFamily="18" charset="0"/>
              </a:rPr>
              <a:t> of the problem to be solved.</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Size</a:t>
            </a:r>
            <a:r>
              <a:rPr lang="en-US" altLang="en-US" sz="2400" dirty="0">
                <a:solidFill>
                  <a:srgbClr val="000000"/>
                </a:solidFill>
                <a:latin typeface="Times New Roman" panose="02020603050405020304" pitchFamily="18" charset="0"/>
                <a:cs typeface="Times New Roman" panose="02020603050405020304" pitchFamily="18" charset="0"/>
              </a:rPr>
              <a:t> of the resultant program(s) in lines of code or function points.</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Team lifetimes </a:t>
            </a:r>
            <a:r>
              <a:rPr lang="en-US" altLang="en-US" sz="2400" dirty="0">
                <a:solidFill>
                  <a:srgbClr val="000000"/>
                </a:solidFill>
                <a:latin typeface="Times New Roman" panose="02020603050405020304" pitchFamily="18" charset="0"/>
                <a:cs typeface="Times New Roman" panose="02020603050405020304" pitchFamily="18" charset="0"/>
              </a:rPr>
              <a:t>- time that the team will stay together.</a:t>
            </a:r>
          </a:p>
          <a:p>
            <a:pPr marL="291600" indent="-291600">
              <a:spcBef>
                <a:spcPts val="1000"/>
              </a:spcBef>
              <a:spcAft>
                <a:spcPts val="0"/>
              </a:spcAft>
              <a:buFont typeface="Arial" panose="020B0604020202020204" pitchFamily="34" charset="0"/>
              <a:buChar char="•"/>
            </a:pPr>
            <a:r>
              <a:rPr lang="en-US" altLang="en-US" sz="2400" dirty="0">
                <a:solidFill>
                  <a:srgbClr val="000000"/>
                </a:solidFill>
                <a:latin typeface="Times New Roman" panose="02020603050405020304" pitchFamily="18" charset="0"/>
                <a:cs typeface="Times New Roman" panose="02020603050405020304" pitchFamily="18" charset="0"/>
              </a:rPr>
              <a:t>Degree to which the problem can be </a:t>
            </a:r>
            <a:r>
              <a:rPr lang="en-US" altLang="en-US" sz="2400" b="1" dirty="0">
                <a:solidFill>
                  <a:srgbClr val="000000"/>
                </a:solidFill>
                <a:latin typeface="Times New Roman" panose="02020603050405020304" pitchFamily="18" charset="0"/>
                <a:cs typeface="Times New Roman" panose="02020603050405020304" pitchFamily="18" charset="0"/>
              </a:rPr>
              <a:t>modularized.</a:t>
            </a:r>
          </a:p>
          <a:p>
            <a:pPr marL="291600" indent="-291600">
              <a:spcBef>
                <a:spcPts val="1000"/>
              </a:spcBef>
              <a:spcAft>
                <a:spcPts val="0"/>
              </a:spcAft>
              <a:buFont typeface="Arial" panose="020B0604020202020204" pitchFamily="34" charset="0"/>
              <a:buChar char="•"/>
            </a:pPr>
            <a:r>
              <a:rPr lang="en-US" altLang="en-US" sz="2400" dirty="0">
                <a:solidFill>
                  <a:srgbClr val="000000"/>
                </a:solidFill>
                <a:latin typeface="Times New Roman" panose="02020603050405020304" pitchFamily="18" charset="0"/>
                <a:cs typeface="Times New Roman" panose="02020603050405020304" pitchFamily="18" charset="0"/>
              </a:rPr>
              <a:t>Required </a:t>
            </a:r>
            <a:r>
              <a:rPr lang="en-US" altLang="en-US" sz="2400" b="1" dirty="0">
                <a:solidFill>
                  <a:srgbClr val="000000"/>
                </a:solidFill>
                <a:latin typeface="Times New Roman" panose="02020603050405020304" pitchFamily="18" charset="0"/>
                <a:cs typeface="Times New Roman" panose="02020603050405020304" pitchFamily="18" charset="0"/>
              </a:rPr>
              <a:t>quality</a:t>
            </a:r>
            <a:r>
              <a:rPr lang="en-US" altLang="en-US" sz="2400" dirty="0">
                <a:solidFill>
                  <a:srgbClr val="000000"/>
                </a:solidFill>
                <a:latin typeface="Times New Roman" panose="02020603050405020304" pitchFamily="18" charset="0"/>
                <a:cs typeface="Times New Roman" panose="02020603050405020304" pitchFamily="18" charset="0"/>
              </a:rPr>
              <a:t> and </a:t>
            </a:r>
            <a:r>
              <a:rPr lang="en-US" altLang="en-US" sz="2400" b="1" dirty="0">
                <a:solidFill>
                  <a:srgbClr val="000000"/>
                </a:solidFill>
                <a:latin typeface="Times New Roman" panose="02020603050405020304" pitchFamily="18" charset="0"/>
                <a:cs typeface="Times New Roman" panose="02020603050405020304" pitchFamily="18" charset="0"/>
              </a:rPr>
              <a:t>reliability</a:t>
            </a:r>
            <a:r>
              <a:rPr lang="en-US" altLang="en-US" sz="2400" dirty="0">
                <a:solidFill>
                  <a:srgbClr val="000000"/>
                </a:solidFill>
                <a:latin typeface="Times New Roman" panose="02020603050405020304" pitchFamily="18" charset="0"/>
                <a:cs typeface="Times New Roman" panose="02020603050405020304" pitchFamily="18" charset="0"/>
              </a:rPr>
              <a:t> of the system to be built.</a:t>
            </a:r>
          </a:p>
          <a:p>
            <a:pPr marL="291600" indent="-291600">
              <a:spcBef>
                <a:spcPts val="1000"/>
              </a:spcBef>
              <a:spcAft>
                <a:spcPts val="0"/>
              </a:spcAft>
              <a:buFont typeface="Arial" panose="020B0604020202020204" pitchFamily="34" charset="0"/>
              <a:buChar char="•"/>
            </a:pPr>
            <a:r>
              <a:rPr lang="en-US" altLang="en-US" sz="2400" dirty="0">
                <a:solidFill>
                  <a:srgbClr val="000000"/>
                </a:solidFill>
                <a:latin typeface="Times New Roman" panose="02020603050405020304" pitchFamily="18" charset="0"/>
                <a:cs typeface="Times New Roman" panose="02020603050405020304" pitchFamily="18" charset="0"/>
              </a:rPr>
              <a:t>Rigidity of the </a:t>
            </a:r>
            <a:r>
              <a:rPr lang="en-US" altLang="en-US" sz="2400" b="1" dirty="0">
                <a:solidFill>
                  <a:srgbClr val="000000"/>
                </a:solidFill>
                <a:latin typeface="Times New Roman" panose="02020603050405020304" pitchFamily="18" charset="0"/>
                <a:cs typeface="Times New Roman" panose="02020603050405020304" pitchFamily="18" charset="0"/>
              </a:rPr>
              <a:t>delivery date.</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Communication</a:t>
            </a:r>
            <a:r>
              <a:rPr lang="en-US" altLang="en-US" sz="2400" dirty="0">
                <a:solidFill>
                  <a:srgbClr val="000000"/>
                </a:solidFill>
                <a:latin typeface="Times New Roman" panose="02020603050405020304" pitchFamily="18" charset="0"/>
                <a:cs typeface="Times New Roman" panose="02020603050405020304" pitchFamily="18" charset="0"/>
              </a:rPr>
              <a:t> (degree of sociability) required.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solidFill>
                  <a:srgbClr val="000000"/>
                </a:solidFill>
                <a:latin typeface="Times New Roman" panose="02020603050405020304" pitchFamily="18" charset="0"/>
                <a:cs typeface="Times New Roman" panose="02020603050405020304" pitchFamily="18" charset="0"/>
              </a:rPr>
              <a:pPr/>
              <a:t>5</a:t>
            </a:fld>
            <a:endParaRPr lang="en-US">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1669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solidFill>
                  <a:srgbClr val="000000"/>
                </a:solidFill>
                <a:latin typeface="Times New Roman" panose="02020603050405020304" pitchFamily="18" charset="0"/>
                <a:cs typeface="Times New Roman" panose="02020603050405020304" pitchFamily="18" charset="0"/>
              </a:rPr>
              <a:t>Team Toxicity Factors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4507402"/>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Frenzied work atmosphere </a:t>
            </a:r>
            <a:r>
              <a:rPr lang="en-US" altLang="en-US" sz="2400" dirty="0">
                <a:solidFill>
                  <a:srgbClr val="000000"/>
                </a:solidFill>
                <a:latin typeface="Times New Roman" panose="02020603050405020304" pitchFamily="18" charset="0"/>
                <a:cs typeface="Times New Roman" panose="02020603050405020304" pitchFamily="18" charset="0"/>
              </a:rPr>
              <a:t>team members waste energy and lose focus on work objectives.</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High frustration </a:t>
            </a:r>
            <a:r>
              <a:rPr lang="en-US" altLang="en-US" sz="2400" dirty="0">
                <a:solidFill>
                  <a:srgbClr val="000000"/>
                </a:solidFill>
                <a:latin typeface="Times New Roman" panose="02020603050405020304" pitchFamily="18" charset="0"/>
                <a:cs typeface="Times New Roman" panose="02020603050405020304" pitchFamily="18" charset="0"/>
              </a:rPr>
              <a:t>caused by personal, business, or technological factors causing team member friction.</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Fragmented or poorly coordinated procedures </a:t>
            </a:r>
            <a:r>
              <a:rPr lang="en-US" altLang="en-US" sz="2400" dirty="0">
                <a:solidFill>
                  <a:srgbClr val="000000"/>
                </a:solidFill>
                <a:latin typeface="Times New Roman" panose="02020603050405020304" pitchFamily="18" charset="0"/>
                <a:cs typeface="Times New Roman" panose="02020603050405020304" pitchFamily="18" charset="0"/>
              </a:rPr>
              <a:t>poorly defined or improperly chosen process model.</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Unclear definition of roles</a:t>
            </a:r>
            <a:r>
              <a:rPr lang="en-US" altLang="en-US" sz="2400" dirty="0">
                <a:solidFill>
                  <a:srgbClr val="000000"/>
                </a:solidFill>
                <a:latin typeface="Times New Roman" panose="02020603050405020304" pitchFamily="18" charset="0"/>
                <a:cs typeface="Times New Roman" panose="02020603050405020304" pitchFamily="18" charset="0"/>
              </a:rPr>
              <a:t> resulting in lack of accountability and resultant finger-pointing.</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Continuous and repeated exposure to failure</a:t>
            </a:r>
            <a:r>
              <a:rPr lang="en-US" altLang="en-US" sz="2400" dirty="0">
                <a:solidFill>
                  <a:srgbClr val="000000"/>
                </a:solidFill>
                <a:latin typeface="Times New Roman" panose="02020603050405020304" pitchFamily="18" charset="0"/>
                <a:cs typeface="Times New Roman" panose="02020603050405020304" pitchFamily="18" charset="0"/>
              </a:rPr>
              <a:t> leads to a loss of confidence and a lowering of morale.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solidFill>
                  <a:srgbClr val="000000"/>
                </a:solidFill>
                <a:latin typeface="Times New Roman" panose="02020603050405020304" pitchFamily="18" charset="0"/>
                <a:cs typeface="Times New Roman" panose="02020603050405020304" pitchFamily="18" charset="0"/>
              </a:rPr>
              <a:pPr/>
              <a:t>6</a:t>
            </a:fld>
            <a:endParaRPr lang="en-US">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9282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Agile Teams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4507403"/>
          </a:xfrm>
        </p:spPr>
        <p:txBody>
          <a:bodyPr vert="horz" lIns="91440" tIns="45720" rIns="91440" bIns="45720" rtlCol="0">
            <a:noAutofit/>
          </a:bodyPr>
          <a:lstStyle/>
          <a:p>
            <a:pPr>
              <a:spcBef>
                <a:spcPts val="1000"/>
              </a:spcBef>
            </a:pPr>
            <a:r>
              <a:rPr lang="en-US" altLang="en-US" sz="2400" dirty="0">
                <a:latin typeface="Times New Roman" panose="02020603050405020304" pitchFamily="18" charset="0"/>
                <a:cs typeface="Times New Roman" panose="02020603050405020304" pitchFamily="18" charset="0"/>
              </a:rPr>
              <a:t>Team members must have trust in one another.</a:t>
            </a:r>
          </a:p>
          <a:p>
            <a:pPr>
              <a:spcBef>
                <a:spcPts val="1000"/>
              </a:spcBef>
            </a:pPr>
            <a:r>
              <a:rPr lang="en-US" altLang="en-US" sz="2400" dirty="0">
                <a:latin typeface="Times New Roman" panose="02020603050405020304" pitchFamily="18" charset="0"/>
                <a:cs typeface="Times New Roman" panose="02020603050405020304" pitchFamily="18" charset="0"/>
              </a:rPr>
              <a:t>The distribution of skills must be appropriate to the problem.</a:t>
            </a:r>
          </a:p>
          <a:p>
            <a:pPr>
              <a:spcBef>
                <a:spcPts val="1000"/>
              </a:spcBef>
            </a:pPr>
            <a:r>
              <a:rPr lang="en-US" altLang="en-US" sz="2400" dirty="0">
                <a:latin typeface="Times New Roman" panose="02020603050405020304" pitchFamily="18" charset="0"/>
                <a:cs typeface="Times New Roman" panose="02020603050405020304" pitchFamily="18" charset="0"/>
              </a:rPr>
              <a:t>Mavericks may have to be excluded from the team, if team cohesiveness is to be maintained.</a:t>
            </a:r>
          </a:p>
          <a:p>
            <a:pPr>
              <a:spcBef>
                <a:spcPts val="1000"/>
              </a:spcBef>
            </a:pPr>
            <a:r>
              <a:rPr lang="en-US" altLang="en-US" sz="2400" dirty="0">
                <a:latin typeface="Times New Roman" panose="02020603050405020304" pitchFamily="18" charset="0"/>
                <a:cs typeface="Times New Roman" panose="02020603050405020304" pitchFamily="18" charset="0"/>
              </a:rPr>
              <a:t>Team is “self-organizing.”</a:t>
            </a:r>
          </a:p>
          <a:p>
            <a:pPr marL="291600" lvl="4" indent="-291600">
              <a:spcBef>
                <a:spcPts val="1000"/>
              </a:spcBef>
            </a:pPr>
            <a:r>
              <a:rPr lang="en-US" altLang="en-US" sz="2000" dirty="0">
                <a:latin typeface="Times New Roman" panose="02020603050405020304" pitchFamily="18" charset="0"/>
                <a:cs typeface="Times New Roman" panose="02020603050405020304" pitchFamily="18" charset="0"/>
              </a:rPr>
              <a:t>An adaptive team structure.</a:t>
            </a:r>
          </a:p>
          <a:p>
            <a:pPr marL="291600" lvl="4" indent="-291600">
              <a:spcBef>
                <a:spcPts val="1000"/>
              </a:spcBef>
            </a:pPr>
            <a:r>
              <a:rPr lang="en-US" sz="2000" dirty="0">
                <a:latin typeface="Times New Roman" panose="02020603050405020304" pitchFamily="18" charset="0"/>
                <a:cs typeface="Times New Roman" panose="02020603050405020304" pitchFamily="18" charset="0"/>
              </a:rPr>
              <a:t>Planning is kept to a minimum.</a:t>
            </a:r>
          </a:p>
          <a:p>
            <a:pPr marL="291600" lvl="4" indent="-291600">
              <a:spcBef>
                <a:spcPts val="1000"/>
              </a:spcBef>
            </a:pPr>
            <a:r>
              <a:rPr lang="en-US" sz="2000" dirty="0">
                <a:latin typeface="Times New Roman" panose="02020603050405020304" pitchFamily="18" charset="0"/>
                <a:cs typeface="Times New Roman" panose="02020603050405020304" pitchFamily="18" charset="0"/>
              </a:rPr>
              <a:t>Team select its own approach constrained by business requirements and organizational standards.</a:t>
            </a:r>
            <a:endParaRPr lang="en-US" altLang="en-US" sz="2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9153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147328"/>
            <a:ext cx="8458200" cy="993554"/>
          </a:xfrm>
        </p:spPr>
        <p:txBody>
          <a:bodyPr>
            <a:noAutofit/>
          </a:bodyPr>
          <a:lstStyle/>
          <a:p>
            <a:r>
              <a:rPr lang="en-US" sz="3600" dirty="0">
                <a:latin typeface="Times New Roman" panose="02020603050405020304" pitchFamily="18" charset="0"/>
                <a:cs typeface="Times New Roman" panose="02020603050405020304" pitchFamily="18" charset="0"/>
              </a:rPr>
              <a:t>Team Coordination and Communication Issues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699327"/>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Scale</a:t>
            </a:r>
            <a:r>
              <a:rPr lang="en-US" sz="2400" dirty="0">
                <a:latin typeface="Times New Roman" panose="02020603050405020304" pitchFamily="18" charset="0"/>
                <a:cs typeface="Times New Roman" panose="02020603050405020304" pitchFamily="18" charset="0"/>
              </a:rPr>
              <a:t> of many development efforts is large, leading to complexity, confusion, and significant difficulties in coordinating team members. </a:t>
            </a:r>
          </a:p>
          <a:p>
            <a:pPr marL="291600" indent="-291600">
              <a:spcBef>
                <a:spcPts val="1000"/>
              </a:spcBef>
              <a:spcAft>
                <a:spcPts val="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Uncertainty</a:t>
            </a:r>
            <a:r>
              <a:rPr lang="en-US" sz="2400" dirty="0">
                <a:latin typeface="Times New Roman" panose="02020603050405020304" pitchFamily="18" charset="0"/>
                <a:cs typeface="Times New Roman" panose="02020603050405020304" pitchFamily="18" charset="0"/>
              </a:rPr>
              <a:t> is common, resulting in a continuing stream of changes that ratchets the project team. </a:t>
            </a:r>
          </a:p>
          <a:p>
            <a:pPr marL="291600" indent="-291600">
              <a:spcBef>
                <a:spcPts val="1000"/>
              </a:spcBef>
              <a:spcAft>
                <a:spcPts val="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Interoperability</a:t>
            </a:r>
            <a:r>
              <a:rPr lang="en-US" sz="2400" dirty="0">
                <a:latin typeface="Times New Roman" panose="02020603050405020304" pitchFamily="18" charset="0"/>
                <a:cs typeface="Times New Roman" panose="02020603050405020304" pitchFamily="18" charset="0"/>
              </a:rPr>
              <a:t> - new software must communicate with existing software and conform to constraints imposed by existing systems or products.</a:t>
            </a:r>
            <a:endParaRPr lang="en-US" altLang="en-US" sz="24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7835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3600" dirty="0">
                <a:latin typeface="Times New Roman" panose="02020603050405020304" pitchFamily="18" charset="0"/>
                <a:cs typeface="Times New Roman" panose="02020603050405020304" pitchFamily="18" charset="0"/>
              </a:rPr>
              <a:t>Team Coordination and Communication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763123"/>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accomplish this, mechanisms for formal and informal communication among team members and between multiple teams must be established. </a:t>
            </a:r>
          </a:p>
          <a:p>
            <a:pPr marL="291600" indent="-291600">
              <a:spcBef>
                <a:spcPts val="1000"/>
              </a:spcBef>
              <a:spcAft>
                <a:spcPts val="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Formal communication </a:t>
            </a:r>
            <a:r>
              <a:rPr lang="en-US" sz="2400" dirty="0">
                <a:latin typeface="Times New Roman" panose="02020603050405020304" pitchFamily="18" charset="0"/>
                <a:cs typeface="Times New Roman" panose="02020603050405020304" pitchFamily="18" charset="0"/>
              </a:rPr>
              <a:t>is accomplished through writing, structured meetings, and other relatively non-interactive and impersonal communication channels. </a:t>
            </a:r>
          </a:p>
          <a:p>
            <a:pPr marL="291600" indent="-291600">
              <a:spcBef>
                <a:spcPts val="1000"/>
              </a:spcBef>
              <a:spcAft>
                <a:spcPts val="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Informal communication </a:t>
            </a:r>
            <a:r>
              <a:rPr lang="en-US" sz="2400" dirty="0">
                <a:latin typeface="Times New Roman" panose="02020603050405020304" pitchFamily="18" charset="0"/>
                <a:cs typeface="Times New Roman" panose="02020603050405020304" pitchFamily="18" charset="0"/>
              </a:rPr>
              <a:t>is more personal and allow team members to interact with one another on a daily basis - share ideas on an ad hoc basis and ask for help as problems arise.</a:t>
            </a:r>
            <a:endParaRPr lang="en-US" altLang="en-US" sz="24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6757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Software Scope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4603096"/>
          </a:xfrm>
        </p:spPr>
        <p:txBody>
          <a:bodyPr vert="horz" lIns="91440" tIns="45720" rIns="91440" bIns="45720" rtlCol="0">
            <a:noAutofit/>
          </a:bodyPr>
          <a:lstStyle/>
          <a:p>
            <a:pPr marL="291600" lvl="2" indent="-291600">
              <a:spcBef>
                <a:spcPts val="1000"/>
              </a:spcBef>
              <a:spcAft>
                <a:spcPts val="0"/>
              </a:spcAft>
            </a:pPr>
            <a:r>
              <a:rPr lang="en-US" altLang="en-US" sz="2400" dirty="0">
                <a:solidFill>
                  <a:srgbClr val="000000"/>
                </a:solidFill>
                <a:latin typeface="Times New Roman" panose="02020603050405020304" pitchFamily="18" charset="0"/>
                <a:cs typeface="Times New Roman" panose="02020603050405020304" pitchFamily="18" charset="0"/>
              </a:rPr>
              <a:t>Software project scope must be unambiguous and understandable at management and technical levels.</a:t>
            </a:r>
            <a:endParaRPr lang="en-US" altLang="en-US" sz="2400" b="1" dirty="0">
              <a:solidFill>
                <a:srgbClr val="000000"/>
              </a:solidFill>
              <a:latin typeface="Times New Roman" panose="02020603050405020304" pitchFamily="18" charset="0"/>
              <a:cs typeface="Times New Roman" panose="02020603050405020304" pitchFamily="18" charset="0"/>
            </a:endParaRPr>
          </a:p>
          <a:p>
            <a:pPr marL="291600" lvl="2" indent="-291600">
              <a:spcBef>
                <a:spcPts val="1000"/>
              </a:spcBef>
              <a:spcAft>
                <a:spcPts val="0"/>
              </a:spcAft>
            </a:pPr>
            <a:r>
              <a:rPr lang="en-US" altLang="en-US" sz="2400" b="1" dirty="0">
                <a:solidFill>
                  <a:srgbClr val="000000"/>
                </a:solidFill>
                <a:latin typeface="Times New Roman" panose="02020603050405020304" pitchFamily="18" charset="0"/>
                <a:cs typeface="Times New Roman" panose="02020603050405020304" pitchFamily="18" charset="0"/>
              </a:rPr>
              <a:t>Context.</a:t>
            </a:r>
            <a:r>
              <a:rPr lang="en-US" altLang="en-US" sz="2400" dirty="0">
                <a:solidFill>
                  <a:srgbClr val="000000"/>
                </a:solidFill>
                <a:latin typeface="Times New Roman" panose="02020603050405020304" pitchFamily="18" charset="0"/>
                <a:cs typeface="Times New Roman" panose="02020603050405020304" pitchFamily="18" charset="0"/>
              </a:rPr>
              <a:t> How does the software to be built fit into a larger system, product, or business context and what constraints are imposed as a result of the context?</a:t>
            </a:r>
          </a:p>
          <a:p>
            <a:pPr marL="291600" lvl="2" indent="-291600">
              <a:spcBef>
                <a:spcPts val="1000"/>
              </a:spcBef>
              <a:spcAft>
                <a:spcPts val="0"/>
              </a:spcAft>
            </a:pPr>
            <a:r>
              <a:rPr lang="en-US" altLang="en-US" sz="2400" b="1" dirty="0">
                <a:solidFill>
                  <a:srgbClr val="000000"/>
                </a:solidFill>
                <a:latin typeface="Times New Roman" panose="02020603050405020304" pitchFamily="18" charset="0"/>
                <a:cs typeface="Times New Roman" panose="02020603050405020304" pitchFamily="18" charset="0"/>
              </a:rPr>
              <a:t>Information objectives.</a:t>
            </a:r>
            <a:r>
              <a:rPr lang="en-US" altLang="en-US" sz="2400" dirty="0">
                <a:solidFill>
                  <a:srgbClr val="000000"/>
                </a:solidFill>
                <a:latin typeface="Times New Roman" panose="02020603050405020304" pitchFamily="18" charset="0"/>
                <a:cs typeface="Times New Roman" panose="02020603050405020304" pitchFamily="18" charset="0"/>
              </a:rPr>
              <a:t> What customer-visible data objects are produced as output from the software? What data objects are required for input?</a:t>
            </a:r>
          </a:p>
          <a:p>
            <a:pPr marL="291600" lvl="2" indent="-291600">
              <a:spcBef>
                <a:spcPts val="1000"/>
              </a:spcBef>
              <a:spcAft>
                <a:spcPts val="0"/>
              </a:spcAft>
            </a:pPr>
            <a:r>
              <a:rPr lang="en-US" altLang="en-US" sz="2400" b="1" dirty="0">
                <a:solidFill>
                  <a:srgbClr val="000000"/>
                </a:solidFill>
                <a:latin typeface="Times New Roman" panose="02020603050405020304" pitchFamily="18" charset="0"/>
                <a:cs typeface="Times New Roman" panose="02020603050405020304" pitchFamily="18" charset="0"/>
              </a:rPr>
              <a:t>Function and performance.</a:t>
            </a:r>
            <a:r>
              <a:rPr lang="en-US" altLang="en-US" sz="2400" dirty="0">
                <a:solidFill>
                  <a:srgbClr val="000000"/>
                </a:solidFill>
                <a:latin typeface="Times New Roman" panose="02020603050405020304" pitchFamily="18" charset="0"/>
                <a:cs typeface="Times New Roman" panose="02020603050405020304" pitchFamily="18" charset="0"/>
              </a:rPr>
              <a:t> What function does the software perform to transform input data into output? Are any special performance characteristics to be addressed?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10</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7075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Problem Decomposition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003"/>
            <a:ext cx="8458200" cy="1982625"/>
          </a:xfrm>
        </p:spPr>
        <p:txBody>
          <a:bodyPr vert="horz" lIns="91440" tIns="45720" rIns="91440" bIns="45720" rtlCol="0">
            <a:noAutofit/>
          </a:bodyPr>
          <a:lstStyle/>
          <a:p>
            <a:r>
              <a:rPr lang="en-US" altLang="en-US" sz="2400" dirty="0">
                <a:solidFill>
                  <a:schemeClr val="tx1"/>
                </a:solidFill>
                <a:latin typeface="Times New Roman" panose="02020603050405020304" pitchFamily="18" charset="0"/>
                <a:cs typeface="Times New Roman" panose="02020603050405020304" pitchFamily="18" charset="0"/>
              </a:rPr>
              <a:t>Sometimes called </a:t>
            </a:r>
            <a:r>
              <a:rPr lang="en-US" altLang="en-US" sz="2400" i="1" dirty="0">
                <a:solidFill>
                  <a:schemeClr val="tx1"/>
                </a:solidFill>
                <a:latin typeface="Times New Roman" panose="02020603050405020304" pitchFamily="18" charset="0"/>
                <a:cs typeface="Times New Roman" panose="02020603050405020304" pitchFamily="18" charset="0"/>
              </a:rPr>
              <a:t>partitioning</a:t>
            </a:r>
            <a:r>
              <a:rPr lang="en-US" altLang="en-US" sz="2400" dirty="0">
                <a:solidFill>
                  <a:schemeClr val="tx1"/>
                </a:solidFill>
                <a:latin typeface="Times New Roman" panose="02020603050405020304" pitchFamily="18" charset="0"/>
                <a:cs typeface="Times New Roman" panose="02020603050405020304" pitchFamily="18" charset="0"/>
              </a:rPr>
              <a:t> or </a:t>
            </a:r>
            <a:r>
              <a:rPr lang="en-US" altLang="en-US" sz="2400" i="1" dirty="0">
                <a:solidFill>
                  <a:schemeClr val="tx1"/>
                </a:solidFill>
                <a:latin typeface="Times New Roman" panose="02020603050405020304" pitchFamily="18" charset="0"/>
                <a:cs typeface="Times New Roman" panose="02020603050405020304" pitchFamily="18" charset="0"/>
              </a:rPr>
              <a:t>problem elaboration.</a:t>
            </a:r>
          </a:p>
          <a:p>
            <a:r>
              <a:rPr lang="en-US" altLang="en-US" sz="2400" dirty="0">
                <a:solidFill>
                  <a:schemeClr val="tx1"/>
                </a:solidFill>
                <a:latin typeface="Times New Roman" panose="02020603050405020304" pitchFamily="18" charset="0"/>
                <a:cs typeface="Times New Roman" panose="02020603050405020304" pitchFamily="18" charset="0"/>
              </a:rPr>
              <a:t>Once scope is defined …</a:t>
            </a:r>
          </a:p>
          <a:p>
            <a:pPr marL="291600" lvl="3" indent="-291600"/>
            <a:r>
              <a:rPr lang="en-US" altLang="en-US" sz="2000" dirty="0">
                <a:latin typeface="Times New Roman" panose="02020603050405020304" pitchFamily="18" charset="0"/>
                <a:cs typeface="Times New Roman" panose="02020603050405020304" pitchFamily="18" charset="0"/>
              </a:rPr>
              <a:t>It is decomposed into constituent functions.</a:t>
            </a:r>
          </a:p>
          <a:p>
            <a:pPr marL="291600" lvl="3" indent="-291600"/>
            <a:r>
              <a:rPr lang="en-US" altLang="en-US" sz="2000" dirty="0">
                <a:latin typeface="Times New Roman" panose="02020603050405020304" pitchFamily="18" charset="0"/>
                <a:cs typeface="Times New Roman" panose="02020603050405020304" pitchFamily="18" charset="0"/>
              </a:rPr>
              <a:t>It can be decomposed into user-visible data objects.</a:t>
            </a:r>
          </a:p>
        </p:txBody>
      </p:sp>
      <p:sp>
        <p:nvSpPr>
          <p:cNvPr id="9" name="Content Placeholder 8"/>
          <p:cNvSpPr>
            <a:spLocks noGrp="1"/>
          </p:cNvSpPr>
          <p:nvPr>
            <p:ph sz="quarter" idx="14"/>
          </p:nvPr>
        </p:nvSpPr>
        <p:spPr>
          <a:xfrm>
            <a:off x="342900" y="3257771"/>
            <a:ext cx="793691" cy="382146"/>
          </a:xfrm>
        </p:spPr>
        <p:txBody>
          <a:bodyPr>
            <a:normAutofit lnSpcReduction="10000"/>
          </a:bodyPr>
          <a:lstStyle/>
          <a:p>
            <a:pPr marL="265113" lvl="3" indent="0">
              <a:spcBef>
                <a:spcPts val="0"/>
              </a:spcBef>
              <a:buNone/>
            </a:pPr>
            <a:r>
              <a:rPr lang="en-US" altLang="en-US" sz="2000" i="1" dirty="0">
                <a:latin typeface="Times New Roman" panose="02020603050405020304" pitchFamily="18" charset="0"/>
                <a:cs typeface="Times New Roman" panose="02020603050405020304" pitchFamily="18" charset="0"/>
              </a:rPr>
              <a:t>or</a:t>
            </a:r>
            <a:endParaRPr lang="en-US" altLang="en-US" sz="2000" dirty="0">
              <a:latin typeface="Times New Roman" panose="02020603050405020304" pitchFamily="18" charset="0"/>
              <a:cs typeface="Times New Roman" panose="02020603050405020304" pitchFamily="18" charset="0"/>
            </a:endParaRPr>
          </a:p>
        </p:txBody>
      </p:sp>
      <p:sp>
        <p:nvSpPr>
          <p:cNvPr id="10" name="Content Placeholder 9"/>
          <p:cNvSpPr>
            <a:spLocks noGrp="1"/>
          </p:cNvSpPr>
          <p:nvPr>
            <p:ph sz="quarter" idx="15"/>
          </p:nvPr>
        </p:nvSpPr>
        <p:spPr>
          <a:xfrm>
            <a:off x="342900" y="3686568"/>
            <a:ext cx="8458200" cy="414822"/>
          </a:xfrm>
        </p:spPr>
        <p:txBody>
          <a:bodyPr>
            <a:normAutofit/>
          </a:bodyPr>
          <a:lstStyle/>
          <a:p>
            <a:pPr marL="291600" lvl="3" indent="-291600">
              <a:spcBef>
                <a:spcPts val="0"/>
              </a:spcBef>
            </a:pPr>
            <a:r>
              <a:rPr lang="en-US" altLang="en-US" sz="2000" dirty="0">
                <a:latin typeface="Times New Roman" panose="02020603050405020304" pitchFamily="18" charset="0"/>
                <a:cs typeface="Times New Roman" panose="02020603050405020304" pitchFamily="18" charset="0"/>
              </a:rPr>
              <a:t>It can be decomposed into a set of problem classes.</a:t>
            </a:r>
          </a:p>
        </p:txBody>
      </p:sp>
      <p:sp>
        <p:nvSpPr>
          <p:cNvPr id="11" name="Content Placeholder 10"/>
          <p:cNvSpPr>
            <a:spLocks noGrp="1"/>
          </p:cNvSpPr>
          <p:nvPr>
            <p:ph sz="quarter" idx="16"/>
          </p:nvPr>
        </p:nvSpPr>
        <p:spPr>
          <a:xfrm>
            <a:off x="342900" y="4144113"/>
            <a:ext cx="8458200" cy="846033"/>
          </a:xfrm>
        </p:spPr>
        <p:txBody>
          <a:bodyPr>
            <a:normAutofit/>
          </a:bodyPr>
          <a:lstStyle/>
          <a:p>
            <a:r>
              <a:rPr lang="en-US" altLang="en-US" sz="2400" dirty="0">
                <a:latin typeface="Times New Roman" panose="02020603050405020304" pitchFamily="18" charset="0"/>
                <a:cs typeface="Times New Roman" panose="02020603050405020304" pitchFamily="18" charset="0"/>
              </a:rPr>
              <a:t>Decomposition process continues until all functions or problem classes have been defined.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11</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6475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Process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283512" cy="892332"/>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Your team must decide which process model is most appropriate for.</a:t>
            </a:r>
          </a:p>
        </p:txBody>
      </p:sp>
      <p:sp>
        <p:nvSpPr>
          <p:cNvPr id="9" name="Content Placeholder 8"/>
          <p:cNvSpPr>
            <a:spLocks noGrp="1"/>
          </p:cNvSpPr>
          <p:nvPr>
            <p:ph sz="quarter" idx="14"/>
          </p:nvPr>
        </p:nvSpPr>
        <p:spPr>
          <a:xfrm>
            <a:off x="342900" y="2286000"/>
            <a:ext cx="8458200" cy="1998921"/>
          </a:xfrm>
        </p:spPr>
        <p:txBody>
          <a:bodyPr>
            <a:normAutofit/>
          </a:bodyPr>
          <a:lstStyle/>
          <a:p>
            <a:pPr marL="622800" lvl="1" indent="-320400">
              <a:buFont typeface="+mj-lt"/>
              <a:buAutoNum type="arabicPeriod"/>
            </a:pPr>
            <a:r>
              <a:rPr lang="en-US" dirty="0">
                <a:latin typeface="Times New Roman" panose="02020603050405020304" pitchFamily="18" charset="0"/>
                <a:cs typeface="Times New Roman" panose="02020603050405020304" pitchFamily="18" charset="0"/>
              </a:rPr>
              <a:t>the customers who have requested the product.</a:t>
            </a:r>
          </a:p>
          <a:p>
            <a:pPr marL="622800" lvl="1" indent="-320400">
              <a:buFont typeface="+mj-lt"/>
              <a:buAutoNum type="arabicPeriod"/>
            </a:pPr>
            <a:r>
              <a:rPr lang="en-US" dirty="0">
                <a:latin typeface="Times New Roman" panose="02020603050405020304" pitchFamily="18" charset="0"/>
                <a:cs typeface="Times New Roman" panose="02020603050405020304" pitchFamily="18" charset="0"/>
              </a:rPr>
              <a:t>the people who will do the work.</a:t>
            </a:r>
          </a:p>
          <a:p>
            <a:pPr marL="622800" lvl="1" indent="-320400">
              <a:buFont typeface="+mj-lt"/>
              <a:buAutoNum type="arabicPeriod"/>
            </a:pPr>
            <a:r>
              <a:rPr lang="en-US" dirty="0">
                <a:latin typeface="Times New Roman" panose="02020603050405020304" pitchFamily="18" charset="0"/>
                <a:cs typeface="Times New Roman" panose="02020603050405020304" pitchFamily="18" charset="0"/>
              </a:rPr>
              <a:t>the characteristics of the product itself.</a:t>
            </a:r>
          </a:p>
          <a:p>
            <a:pPr marL="622800" lvl="1" indent="-320400">
              <a:buFont typeface="+mj-lt"/>
              <a:buAutoNum type="arabicPeriod"/>
            </a:pPr>
            <a:r>
              <a:rPr lang="en-US" dirty="0">
                <a:latin typeface="Times New Roman" panose="02020603050405020304" pitchFamily="18" charset="0"/>
                <a:cs typeface="Times New Roman" panose="02020603050405020304" pitchFamily="18" charset="0"/>
              </a:rPr>
              <a:t>the project environment in which the software team works.</a:t>
            </a:r>
          </a:p>
        </p:txBody>
      </p:sp>
      <p:sp>
        <p:nvSpPr>
          <p:cNvPr id="14" name="Content Placeholder 13">
            <a:extLst>
              <a:ext uri="{FF2B5EF4-FFF2-40B4-BE49-F238E27FC236}">
                <a16:creationId xmlns:a16="http://schemas.microsoft.com/office/drawing/2014/main" id="{1723D6E5-9FEC-4D5D-B993-DA97028B7623}"/>
              </a:ext>
            </a:extLst>
          </p:cNvPr>
          <p:cNvSpPr>
            <a:spLocks noGrp="1"/>
          </p:cNvSpPr>
          <p:nvPr>
            <p:ph sz="quarter" idx="15"/>
          </p:nvPr>
        </p:nvSpPr>
        <p:spPr>
          <a:xfrm>
            <a:off x="342900" y="4416231"/>
            <a:ext cx="8458200" cy="1835712"/>
          </a:xfrm>
        </p:spPr>
        <p:txBody>
          <a:bodyPr>
            <a:noAutofit/>
          </a:bodyPr>
          <a:lstStyle/>
          <a:p>
            <a:pPr marL="291600" indent="-291600">
              <a:lnSpc>
                <a:spcPct val="110000"/>
              </a:lnSpc>
              <a:spcBef>
                <a:spcPts val="1000"/>
              </a:spcBef>
              <a:spcAft>
                <a:spcPts val="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Team selects process model and defines a preliminary project plan (based set of process framework activities).</a:t>
            </a:r>
          </a:p>
          <a:p>
            <a:pPr marL="291600" indent="-291600">
              <a:lnSpc>
                <a:spcPct val="110000"/>
              </a:lnSpc>
              <a:spcBef>
                <a:spcPts val="1000"/>
              </a:spcBef>
              <a:spcAft>
                <a:spcPts val="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Once the preliminary plan is established, process decomposition begins.</a:t>
            </a:r>
            <a:endParaRPr lang="en-US" altLang="en-US" sz="2400" dirty="0">
              <a:latin typeface="Times New Roman" panose="02020603050405020304" pitchFamily="18" charset="0"/>
              <a:cs typeface="Times New Roman" panose="02020603050405020304" pitchFamily="18" charset="0"/>
            </a:endParaRPr>
          </a:p>
          <a:p>
            <a:pPr>
              <a:lnSpc>
                <a:spcPct val="110000"/>
              </a:lnSpc>
              <a:spcBef>
                <a:spcPts val="1000"/>
              </a:spcBef>
              <a:spcAft>
                <a:spcPts val="0"/>
              </a:spcAft>
            </a:pPr>
            <a:endParaRPr lang="en-IN" sz="240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064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Melding Product and Process</a:t>
            </a:r>
          </a:p>
        </p:txBody>
      </p:sp>
      <p:pic>
        <p:nvPicPr>
          <p:cNvPr id="4" name="Picture 3" descr="The figure shows a table for melding product and process.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0102" y="1229231"/>
            <a:ext cx="7488861" cy="4839354"/>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2971558" y="6315075"/>
            <a:ext cx="3200885" cy="209550"/>
          </a:xfrm>
        </p:spPr>
        <p:txBody>
          <a:bodyPr/>
          <a:lstStyle/>
          <a:p>
            <a:r>
              <a:rPr lang="en-US" sz="1200" dirty="0">
                <a:solidFill>
                  <a:schemeClr val="tx1"/>
                </a:solidFill>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val="tx"/>
                    </a:ext>
                  </a:extLst>
                </a:hlinkClick>
              </a:rPr>
              <a:t>Access the text alternative for slide images.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13</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653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Successful Project Characteristics 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3986406"/>
          </a:xfrm>
        </p:spPr>
        <p:txBody>
          <a:bodyPr vert="horz" lIns="91440" tIns="45720" rIns="91440" bIns="45720" rtlCol="0">
            <a:noAutofit/>
          </a:bodyPr>
          <a:lstStyle/>
          <a:p>
            <a:pPr marL="403200" indent="-403200">
              <a:spcBef>
                <a:spcPts val="1000"/>
              </a:spcBef>
              <a:spcAft>
                <a:spcPts val="0"/>
              </a:spcAft>
              <a:buFont typeface="+mj-lt"/>
              <a:buAutoNum type="arabicPeriod"/>
            </a:pPr>
            <a:r>
              <a:rPr lang="en-US" sz="2400" dirty="0">
                <a:latin typeface="Times New Roman" panose="02020603050405020304" pitchFamily="18" charset="0"/>
                <a:cs typeface="Times New Roman" panose="02020603050405020304" pitchFamily="18" charset="0"/>
              </a:rPr>
              <a:t>Clear and well-understood requirements accepted by all stakeholders.</a:t>
            </a:r>
          </a:p>
          <a:p>
            <a:pPr marL="403200" indent="-403200">
              <a:spcBef>
                <a:spcPts val="1000"/>
              </a:spcBef>
              <a:spcAft>
                <a:spcPts val="0"/>
              </a:spcAft>
              <a:buFont typeface="+mj-lt"/>
              <a:buAutoNum type="arabicPeriod"/>
            </a:pPr>
            <a:r>
              <a:rPr lang="en-US" sz="2400" dirty="0">
                <a:latin typeface="Times New Roman" panose="02020603050405020304" pitchFamily="18" charset="0"/>
                <a:cs typeface="Times New Roman" panose="02020603050405020304" pitchFamily="18" charset="0"/>
              </a:rPr>
              <a:t>Active and continuous participation of users throughout the development process.</a:t>
            </a:r>
          </a:p>
          <a:p>
            <a:pPr marL="403200" indent="-403200">
              <a:spcBef>
                <a:spcPts val="1000"/>
              </a:spcBef>
              <a:spcAft>
                <a:spcPts val="0"/>
              </a:spcAft>
              <a:buFont typeface="+mj-lt"/>
              <a:buAutoNum type="arabicPeriod"/>
            </a:pPr>
            <a:r>
              <a:rPr lang="en-US" sz="2400" dirty="0">
                <a:latin typeface="Times New Roman" panose="02020603050405020304" pitchFamily="18" charset="0"/>
                <a:cs typeface="Times New Roman" panose="02020603050405020304" pitchFamily="18" charset="0"/>
              </a:rPr>
              <a:t>A project manager with required leadership skills who is able to share project vision with the team.</a:t>
            </a:r>
          </a:p>
          <a:p>
            <a:pPr marL="403200" indent="-403200">
              <a:spcBef>
                <a:spcPts val="1000"/>
              </a:spcBef>
              <a:spcAft>
                <a:spcPts val="0"/>
              </a:spcAft>
              <a:buFont typeface="+mj-lt"/>
              <a:buAutoNum type="arabicPeriod"/>
            </a:pPr>
            <a:r>
              <a:rPr lang="en-US" sz="2400" dirty="0">
                <a:latin typeface="Times New Roman" panose="02020603050405020304" pitchFamily="18" charset="0"/>
                <a:cs typeface="Times New Roman" panose="02020603050405020304" pitchFamily="18" charset="0"/>
              </a:rPr>
              <a:t>A project plan and schedule developed with stakeholder participation to achieve user goals.</a:t>
            </a:r>
          </a:p>
          <a:p>
            <a:pPr marL="403200" indent="-403200">
              <a:spcBef>
                <a:spcPts val="1000"/>
              </a:spcBef>
              <a:spcAft>
                <a:spcPts val="0"/>
              </a:spcAft>
              <a:buFont typeface="+mj-lt"/>
              <a:buAutoNum type="arabicPeriod"/>
            </a:pPr>
            <a:r>
              <a:rPr lang="en-US" sz="2400" dirty="0">
                <a:latin typeface="Times New Roman" panose="02020603050405020304" pitchFamily="18" charset="0"/>
                <a:cs typeface="Times New Roman" panose="02020603050405020304" pitchFamily="18" charset="0"/>
              </a:rPr>
              <a:t>Skilled and engaged team members.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14</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2465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Successful Project Characteristics 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4071467"/>
          </a:xfrm>
        </p:spPr>
        <p:txBody>
          <a:bodyPr vert="horz" lIns="91440" tIns="45720" rIns="91440" bIns="45720" rtlCol="0">
            <a:noAutofit/>
          </a:bodyPr>
          <a:lstStyle/>
          <a:p>
            <a:pPr marL="403200" indent="-403200">
              <a:spcBef>
                <a:spcPts val="1000"/>
              </a:spcBef>
              <a:spcAft>
                <a:spcPts val="0"/>
              </a:spcAft>
              <a:buFont typeface="+mj-lt"/>
              <a:buAutoNum type="arabicPeriod" startAt="6"/>
            </a:pPr>
            <a:r>
              <a:rPr lang="en-US" sz="2400" dirty="0">
                <a:latin typeface="Times New Roman" panose="02020603050405020304" pitchFamily="18" charset="0"/>
                <a:cs typeface="Times New Roman" panose="02020603050405020304" pitchFamily="18" charset="0"/>
              </a:rPr>
              <a:t>Development team members with compatible personalities who enjoy working in a collaborative environment.</a:t>
            </a:r>
          </a:p>
          <a:p>
            <a:pPr marL="403200" indent="-403200">
              <a:spcBef>
                <a:spcPts val="1000"/>
              </a:spcBef>
              <a:spcAft>
                <a:spcPts val="0"/>
              </a:spcAft>
              <a:buFont typeface="+mj-lt"/>
              <a:buAutoNum type="arabicPeriod" startAt="6"/>
            </a:pPr>
            <a:r>
              <a:rPr lang="en-US" sz="2400" dirty="0">
                <a:latin typeface="Times New Roman" panose="02020603050405020304" pitchFamily="18" charset="0"/>
                <a:cs typeface="Times New Roman" panose="02020603050405020304" pitchFamily="18" charset="0"/>
              </a:rPr>
              <a:t>Realistic schedule and budget estimates which are monitored and maintained.</a:t>
            </a:r>
          </a:p>
          <a:p>
            <a:pPr marL="403200" indent="-403200">
              <a:spcBef>
                <a:spcPts val="1000"/>
              </a:spcBef>
              <a:spcAft>
                <a:spcPts val="0"/>
              </a:spcAft>
              <a:buFont typeface="+mj-lt"/>
              <a:buAutoNum type="arabicPeriod" startAt="6"/>
            </a:pPr>
            <a:r>
              <a:rPr lang="en-US" sz="2400" dirty="0">
                <a:latin typeface="Times New Roman" panose="02020603050405020304" pitchFamily="18" charset="0"/>
                <a:cs typeface="Times New Roman" panose="02020603050405020304" pitchFamily="18" charset="0"/>
              </a:rPr>
              <a:t>Customer needs that are understood and satisfied.</a:t>
            </a:r>
          </a:p>
          <a:p>
            <a:pPr marL="403200" indent="-403200">
              <a:spcBef>
                <a:spcPts val="1000"/>
              </a:spcBef>
              <a:spcAft>
                <a:spcPts val="0"/>
              </a:spcAft>
              <a:buFont typeface="+mj-lt"/>
              <a:buAutoNum type="arabicPeriod" startAt="6"/>
            </a:pPr>
            <a:r>
              <a:rPr lang="en-US" sz="2400" dirty="0">
                <a:latin typeface="Times New Roman" panose="02020603050405020304" pitchFamily="18" charset="0"/>
                <a:cs typeface="Times New Roman" panose="02020603050405020304" pitchFamily="18" charset="0"/>
              </a:rPr>
              <a:t>Team members who experience a high degree of job satisfaction.</a:t>
            </a:r>
          </a:p>
          <a:p>
            <a:pPr marL="542925" indent="-542925">
              <a:spcBef>
                <a:spcPts val="1000"/>
              </a:spcBef>
              <a:spcAft>
                <a:spcPts val="0"/>
              </a:spcAft>
              <a:buFont typeface="+mj-lt"/>
              <a:buAutoNum type="arabicPeriod" startAt="6"/>
            </a:pPr>
            <a:r>
              <a:rPr lang="en-US" sz="2400" dirty="0">
                <a:latin typeface="Times New Roman" panose="02020603050405020304" pitchFamily="18" charset="0"/>
                <a:cs typeface="Times New Roman" panose="02020603050405020304" pitchFamily="18" charset="0"/>
              </a:rPr>
              <a:t>A working product that reflects desired scope and quality.</a:t>
            </a:r>
            <a:endParaRPr lang="en-US" altLang="en-US" sz="24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15</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4205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W</a:t>
            </a:r>
            <a:r>
              <a:rPr lang="en-US" sz="4000" baseline="30000" dirty="0">
                <a:latin typeface="Times New Roman" panose="02020603050405020304" pitchFamily="18" charset="0"/>
                <a:cs typeface="Times New Roman" panose="02020603050405020304" pitchFamily="18" charset="0"/>
              </a:rPr>
              <a:t>5</a:t>
            </a:r>
            <a:r>
              <a:rPr lang="en-US" sz="4000" dirty="0">
                <a:latin typeface="Times New Roman" panose="02020603050405020304" pitchFamily="18" charset="0"/>
                <a:cs typeface="Times New Roman" panose="02020603050405020304" pitchFamily="18" charset="0"/>
              </a:rPr>
              <a:t>HH Principle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4028938"/>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W</a:t>
            </a:r>
            <a:r>
              <a:rPr lang="en-US" altLang="en-US" sz="2400" dirty="0">
                <a:solidFill>
                  <a:srgbClr val="000000"/>
                </a:solidFill>
                <a:latin typeface="Times New Roman" panose="02020603050405020304" pitchFamily="18" charset="0"/>
                <a:cs typeface="Times New Roman" panose="02020603050405020304" pitchFamily="18" charset="0"/>
              </a:rPr>
              <a:t>hy is the system being developed?</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W</a:t>
            </a:r>
            <a:r>
              <a:rPr lang="en-US" altLang="en-US" sz="2400" dirty="0">
                <a:solidFill>
                  <a:srgbClr val="000000"/>
                </a:solidFill>
                <a:latin typeface="Times New Roman" panose="02020603050405020304" pitchFamily="18" charset="0"/>
                <a:cs typeface="Times New Roman" panose="02020603050405020304" pitchFamily="18" charset="0"/>
              </a:rPr>
              <a:t>hat will be done? </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W</a:t>
            </a:r>
            <a:r>
              <a:rPr lang="en-US" altLang="en-US" sz="2400" dirty="0">
                <a:solidFill>
                  <a:srgbClr val="000000"/>
                </a:solidFill>
                <a:latin typeface="Times New Roman" panose="02020603050405020304" pitchFamily="18" charset="0"/>
                <a:cs typeface="Times New Roman" panose="02020603050405020304" pitchFamily="18" charset="0"/>
              </a:rPr>
              <a:t>hen will it be accomplished?</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W</a:t>
            </a:r>
            <a:r>
              <a:rPr lang="en-US" altLang="en-US" sz="2400" dirty="0">
                <a:solidFill>
                  <a:srgbClr val="000000"/>
                </a:solidFill>
                <a:latin typeface="Times New Roman" panose="02020603050405020304" pitchFamily="18" charset="0"/>
                <a:cs typeface="Times New Roman" panose="02020603050405020304" pitchFamily="18" charset="0"/>
              </a:rPr>
              <a:t>ho is responsible?</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W</a:t>
            </a:r>
            <a:r>
              <a:rPr lang="en-US" altLang="en-US" sz="2400" dirty="0">
                <a:solidFill>
                  <a:srgbClr val="000000"/>
                </a:solidFill>
                <a:latin typeface="Times New Roman" panose="02020603050405020304" pitchFamily="18" charset="0"/>
                <a:cs typeface="Times New Roman" panose="02020603050405020304" pitchFamily="18" charset="0"/>
              </a:rPr>
              <a:t>here are they organizationally located?</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H</a:t>
            </a:r>
            <a:r>
              <a:rPr lang="en-US" altLang="en-US" sz="2400" dirty="0">
                <a:solidFill>
                  <a:srgbClr val="000000"/>
                </a:solidFill>
                <a:latin typeface="Times New Roman" panose="02020603050405020304" pitchFamily="18" charset="0"/>
                <a:cs typeface="Times New Roman" panose="02020603050405020304" pitchFamily="18" charset="0"/>
              </a:rPr>
              <a:t>ow will the job be done technically and managerially?</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H</a:t>
            </a:r>
            <a:r>
              <a:rPr lang="en-US" altLang="en-US" sz="2400" dirty="0">
                <a:solidFill>
                  <a:srgbClr val="000000"/>
                </a:solidFill>
                <a:latin typeface="Times New Roman" panose="02020603050405020304" pitchFamily="18" charset="0"/>
                <a:cs typeface="Times New Roman" panose="02020603050405020304" pitchFamily="18" charset="0"/>
              </a:rPr>
              <a:t>ow much of each resource (for example, people, software, tools, database) will be needed?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16</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5505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Critical Practices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3327188"/>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Formal risk management.</a:t>
            </a:r>
          </a:p>
          <a:p>
            <a:pPr marL="291600" indent="-291600">
              <a:spcBef>
                <a:spcPts val="1000"/>
              </a:spcBef>
              <a:spcAft>
                <a:spcPts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Empirical cost and schedule estimation.</a:t>
            </a:r>
          </a:p>
          <a:p>
            <a:pPr marL="291600" indent="-291600">
              <a:spcBef>
                <a:spcPts val="1000"/>
              </a:spcBef>
              <a:spcAft>
                <a:spcPts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Metrics-based project management.</a:t>
            </a:r>
          </a:p>
          <a:p>
            <a:pPr marL="291600" indent="-291600">
              <a:spcBef>
                <a:spcPts val="1000"/>
              </a:spcBef>
              <a:spcAft>
                <a:spcPts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Earned value tracking.</a:t>
            </a:r>
          </a:p>
          <a:p>
            <a:pPr marL="291600" indent="-291600">
              <a:spcBef>
                <a:spcPts val="1000"/>
              </a:spcBef>
              <a:spcAft>
                <a:spcPts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Defect tracking against quality targets.</a:t>
            </a:r>
          </a:p>
          <a:p>
            <a:pPr marL="291600" indent="-291600">
              <a:spcBef>
                <a:spcPts val="1000"/>
              </a:spcBef>
              <a:spcAft>
                <a:spcPts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People aware project management.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5036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a:t>End of Main Content</a:t>
            </a:r>
            <a:endParaRPr lang="en-US" dirty="0"/>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lvl="0"/>
            <a:r>
              <a:rPr lang="en-US" dirty="0">
                <a:latin typeface="Times New Roman" panose="02020603050405020304" pitchFamily="18" charset="0"/>
                <a:cs typeface="Times New Roman" panose="02020603050405020304" pitchFamily="18" charset="0"/>
              </a:rPr>
              <a:t>© 2020 McGraw-Hill Education. All rights reserved. Authorized only for instructor use in the classroom.</a:t>
            </a:r>
          </a:p>
          <a:p>
            <a:pPr lvl="0"/>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McGraw-Hill Education.</a:t>
            </a:r>
          </a:p>
        </p:txBody>
      </p:sp>
    </p:spTree>
    <p:extLst>
      <p:ext uri="{BB962C8B-B14F-4D97-AF65-F5344CB8AC3E}">
        <p14:creationId xmlns:p14="http://schemas.microsoft.com/office/powerpoint/2010/main" val="1080484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5016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37343"/>
            <a:ext cx="8458200" cy="1013525"/>
          </a:xfrm>
        </p:spPr>
        <p:txBody>
          <a:bodyPr>
            <a:noAutofit/>
          </a:bodyPr>
          <a:lstStyle/>
          <a:p>
            <a:r>
              <a:rPr lang="en-US" sz="3600" dirty="0">
                <a:latin typeface="Times New Roman" panose="02020603050405020304" pitchFamily="18" charset="0"/>
                <a:cs typeface="Times New Roman" panose="02020603050405020304" pitchFamily="18" charset="0"/>
              </a:rPr>
              <a:t>Melding Product and Process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a:xfrm>
            <a:off x="3081587" y="1312785"/>
            <a:ext cx="2980826" cy="225425"/>
          </a:xfrm>
        </p:spPr>
        <p:txBody>
          <a:bodyPr/>
          <a:lstStyle/>
          <a:p>
            <a:r>
              <a:rPr lang="en-US" dirty="0">
                <a:latin typeface="Times New Roman" panose="02020603050405020304" pitchFamily="18" charset="0"/>
                <a:cs typeface="Times New Roman" panose="02020603050405020304" pitchFamily="18" charset="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711839"/>
            <a:ext cx="8458200" cy="4014129"/>
          </a:xfrm>
        </p:spPr>
        <p:txBody>
          <a:bodyPr>
            <a:normAutofit lnSpcReduction="10000"/>
          </a:bodyPr>
          <a:lstStyle/>
          <a:p>
            <a:r>
              <a:rPr lang="en-US" sz="2800" dirty="0">
                <a:latin typeface="Times New Roman" panose="02020603050405020304" pitchFamily="18" charset="0"/>
                <a:cs typeface="Times New Roman" panose="02020603050405020304" pitchFamily="18" charset="0"/>
              </a:rPr>
              <a:t>The figure shows a table for melding product and process. The table has 6 columns. The first column labeled common process framework activities lists the various activities. The other columns are labeled: communication, planning, modelling, construction and deployment. </a:t>
            </a:r>
            <a:r>
              <a:rPr lang="en-US" sz="2800">
                <a:latin typeface="Times New Roman" panose="02020603050405020304" pitchFamily="18" charset="0"/>
                <a:cs typeface="Times New Roman" panose="02020603050405020304" pitchFamily="18" charset="0"/>
              </a:rPr>
              <a:t>The listed activities are: software engineering tasks; product functions like: sync phone to device; display data on phone U S; set personal goals; store data on cloud; allow user to modify phone U I; integrate social media and set goals with friends.</a:t>
            </a:r>
            <a:endParaRPr lang="en-US" sz="28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dirty="0">
                <a:latin typeface="Times New Roman" panose="02020603050405020304" pitchFamily="18" charset="0"/>
                <a:cs typeface="Times New Roman" panose="02020603050405020304" pitchFamily="18" charset="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20</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252996"/>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Custom 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225</TotalTime>
  <Words>8145</Words>
  <Application>Microsoft Office PowerPoint</Application>
  <PresentationFormat>On-screen Show (4:3)</PresentationFormat>
  <Paragraphs>270</Paragraphs>
  <Slides>20</Slides>
  <Notes>17</Notes>
  <HiddenSlides>2</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20</vt:i4>
      </vt:variant>
    </vt:vector>
  </HeadingPairs>
  <TitlesOfParts>
    <vt:vector size="29" baseType="lpstr">
      <vt:lpstr>quote-cjk-patch</vt:lpstr>
      <vt:lpstr>等线</vt:lpstr>
      <vt:lpstr>Arial</vt:lpstr>
      <vt:lpstr>Times New Roman</vt:lpstr>
      <vt:lpstr>Title Slides Master</vt:lpstr>
      <vt:lpstr>MainContentSlideMaster</vt:lpstr>
      <vt:lpstr>ClosingMaster</vt:lpstr>
      <vt:lpstr>DividerSlideMaster</vt:lpstr>
      <vt:lpstr>ImageDescriptionAppendixSlideMaster</vt:lpstr>
      <vt:lpstr>Chapter 24</vt:lpstr>
      <vt:lpstr>Management Spectrum – Four P’s</vt:lpstr>
      <vt:lpstr>Stakeholders</vt:lpstr>
      <vt:lpstr>Team Leaders</vt:lpstr>
      <vt:lpstr>Factors Affecting Software Team Structure</vt:lpstr>
      <vt:lpstr>Team Toxicity Factors</vt:lpstr>
      <vt:lpstr>Agile Teams</vt:lpstr>
      <vt:lpstr>Team Coordination and Communication Issues</vt:lpstr>
      <vt:lpstr>Team Coordination and Communication</vt:lpstr>
      <vt:lpstr>Software Scope</vt:lpstr>
      <vt:lpstr>Problem Decomposition</vt:lpstr>
      <vt:lpstr>Process</vt:lpstr>
      <vt:lpstr>Melding Product and Process</vt:lpstr>
      <vt:lpstr>Successful Project Characteristics 1</vt:lpstr>
      <vt:lpstr>Successful Project Characteristics 2</vt:lpstr>
      <vt:lpstr>W5HH Principle</vt:lpstr>
      <vt:lpstr>Critical Practices</vt:lpstr>
      <vt:lpstr>End of Main Content</vt:lpstr>
      <vt:lpstr>Accessibility Content: Text Alternatives for Images</vt:lpstr>
      <vt:lpstr>Melding Product and Process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Nan Gao</cp:lastModifiedBy>
  <cp:revision>48</cp:revision>
  <dcterms:created xsi:type="dcterms:W3CDTF">2019-01-22T22:04:31Z</dcterms:created>
  <dcterms:modified xsi:type="dcterms:W3CDTF">2025-12-03T13:41:55Z</dcterms:modified>
</cp:coreProperties>
</file>