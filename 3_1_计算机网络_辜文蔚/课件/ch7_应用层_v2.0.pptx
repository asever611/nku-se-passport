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5.xml" ContentType="application/vnd.openxmlformats-officedocument.presentationml.tags+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2"/>
  </p:notesMasterIdLst>
  <p:sldIdLst>
    <p:sldId id="1061" r:id="rId2"/>
    <p:sldId id="1015" r:id="rId3"/>
    <p:sldId id="1096" r:id="rId4"/>
    <p:sldId id="1364" r:id="rId5"/>
    <p:sldId id="1365" r:id="rId6"/>
    <p:sldId id="1366" r:id="rId7"/>
    <p:sldId id="1367" r:id="rId8"/>
    <p:sldId id="1368" r:id="rId9"/>
    <p:sldId id="1369" r:id="rId10"/>
    <p:sldId id="1370" r:id="rId11"/>
    <p:sldId id="1371" r:id="rId12"/>
    <p:sldId id="1372" r:id="rId13"/>
    <p:sldId id="1373" r:id="rId14"/>
    <p:sldId id="1374" r:id="rId15"/>
    <p:sldId id="1375" r:id="rId16"/>
    <p:sldId id="1376" r:id="rId17"/>
    <p:sldId id="1377" r:id="rId18"/>
    <p:sldId id="1378" r:id="rId19"/>
    <p:sldId id="1379" r:id="rId20"/>
    <p:sldId id="1381" r:id="rId21"/>
    <p:sldId id="1382" r:id="rId22"/>
    <p:sldId id="1383" r:id="rId23"/>
    <p:sldId id="1384" r:id="rId24"/>
    <p:sldId id="1385" r:id="rId25"/>
    <p:sldId id="1386" r:id="rId26"/>
    <p:sldId id="1387" r:id="rId27"/>
    <p:sldId id="1392" r:id="rId28"/>
    <p:sldId id="1393" r:id="rId29"/>
    <p:sldId id="1394" r:id="rId30"/>
    <p:sldId id="1395" r:id="rId31"/>
    <p:sldId id="1396" r:id="rId32"/>
    <p:sldId id="1397" r:id="rId33"/>
    <p:sldId id="1398" r:id="rId34"/>
    <p:sldId id="1399" r:id="rId35"/>
    <p:sldId id="1400" r:id="rId36"/>
    <p:sldId id="1401" r:id="rId37"/>
    <p:sldId id="1402" r:id="rId38"/>
    <p:sldId id="1403" r:id="rId39"/>
    <p:sldId id="1404" r:id="rId40"/>
    <p:sldId id="1405" r:id="rId41"/>
    <p:sldId id="1406" r:id="rId42"/>
    <p:sldId id="1359" r:id="rId43"/>
    <p:sldId id="1360" r:id="rId44"/>
    <p:sldId id="1329" r:id="rId45"/>
    <p:sldId id="1330" r:id="rId46"/>
    <p:sldId id="1331" r:id="rId47"/>
    <p:sldId id="1334" r:id="rId48"/>
    <p:sldId id="1335" r:id="rId49"/>
    <p:sldId id="1349" r:id="rId50"/>
    <p:sldId id="1353" r:id="rId51"/>
    <p:sldId id="1354" r:id="rId52"/>
    <p:sldId id="1220" r:id="rId53"/>
    <p:sldId id="1361" r:id="rId54"/>
    <p:sldId id="1209" r:id="rId55"/>
    <p:sldId id="1211" r:id="rId56"/>
    <p:sldId id="1299" r:id="rId57"/>
    <p:sldId id="1300" r:id="rId58"/>
    <p:sldId id="1312" r:id="rId59"/>
    <p:sldId id="1432" r:id="rId60"/>
    <p:sldId id="1474" r:id="rId6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F00FF"/>
    <a:srgbClr val="FDCB0B"/>
    <a:srgbClr val="FFD700"/>
    <a:srgbClr val="F9BC12"/>
    <a:srgbClr val="FFD801"/>
    <a:srgbClr val="EFB914"/>
    <a:srgbClr val="F5BD15"/>
    <a:srgbClr val="F8BF15"/>
    <a:srgbClr val="FEC6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46" autoAdjust="0"/>
    <p:restoredTop sz="59917" autoAdjust="0"/>
  </p:normalViewPr>
  <p:slideViewPr>
    <p:cSldViewPr snapToGrid="0" snapToObjects="1">
      <p:cViewPr varScale="1">
        <p:scale>
          <a:sx n="97" d="100"/>
          <a:sy n="97" d="100"/>
        </p:scale>
        <p:origin x="2004" y="78"/>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2025/11/17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dirty="0">
              <a:sym typeface="+mn-ea"/>
            </a:endParaRPr>
          </a:p>
        </p:txBody>
      </p:sp>
    </p:spTree>
    <p:extLst>
      <p:ext uri="{BB962C8B-B14F-4D97-AF65-F5344CB8AC3E}">
        <p14:creationId xmlns:p14="http://schemas.microsoft.com/office/powerpoint/2010/main" val="4176212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4137158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2777202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1350669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4041431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1388821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3467164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1716877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3523705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3882341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612667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1216061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078812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2138216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929323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429725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3295156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3703658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405496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extLst>
      <p:ext uri="{BB962C8B-B14F-4D97-AF65-F5344CB8AC3E}">
        <p14:creationId xmlns:p14="http://schemas.microsoft.com/office/powerpoint/2010/main" val="26283303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35734230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28355104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25811491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25006214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17629247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21234790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18237373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2165138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6182566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extLst>
      <p:ext uri="{BB962C8B-B14F-4D97-AF65-F5344CB8AC3E}">
        <p14:creationId xmlns:p14="http://schemas.microsoft.com/office/powerpoint/2010/main" val="19731108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extLst>
      <p:ext uri="{BB962C8B-B14F-4D97-AF65-F5344CB8AC3E}">
        <p14:creationId xmlns:p14="http://schemas.microsoft.com/office/powerpoint/2010/main" val="264780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21887284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23734785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10183245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8008679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28150699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41</a:t>
            </a:fld>
            <a:endParaRPr kumimoji="1" lang="zh-CN" altLang="en-US"/>
          </a:p>
        </p:txBody>
      </p:sp>
    </p:spTree>
    <p:extLst>
      <p:ext uri="{BB962C8B-B14F-4D97-AF65-F5344CB8AC3E}">
        <p14:creationId xmlns:p14="http://schemas.microsoft.com/office/powerpoint/2010/main" val="14298460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45</a:t>
            </a:fld>
            <a:endParaRPr kumimoji="1" lang="zh-CN" altLang="en-US"/>
          </a:p>
        </p:txBody>
      </p:sp>
    </p:spTree>
    <p:extLst>
      <p:ext uri="{BB962C8B-B14F-4D97-AF65-F5344CB8AC3E}">
        <p14:creationId xmlns:p14="http://schemas.microsoft.com/office/powerpoint/2010/main" val="2604354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47</a:t>
            </a:fld>
            <a:endParaRPr kumimoji="1" lang="zh-CN" altLang="en-US"/>
          </a:p>
        </p:txBody>
      </p:sp>
    </p:spTree>
    <p:extLst>
      <p:ext uri="{BB962C8B-B14F-4D97-AF65-F5344CB8AC3E}">
        <p14:creationId xmlns:p14="http://schemas.microsoft.com/office/powerpoint/2010/main" val="19500198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53</a:t>
            </a:fld>
            <a:endParaRPr kumimoji="1" lang="zh-CN" altLang="en-US"/>
          </a:p>
        </p:txBody>
      </p:sp>
    </p:spTree>
    <p:extLst>
      <p:ext uri="{BB962C8B-B14F-4D97-AF65-F5344CB8AC3E}">
        <p14:creationId xmlns:p14="http://schemas.microsoft.com/office/powerpoint/2010/main" val="2832085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9307502" cy="567811"/>
          </a:xfrm>
          <a:prstGeom prst="rect">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等线" panose="02010600030101010101" pitchFamily="2" charset="-122"/>
                <a:ea typeface="等线" panose="02010600030101010101" pitchFamily="2" charset="-122"/>
              </a:rPr>
              <a:t>计算机网络</a:t>
            </a:r>
          </a:p>
        </p:txBody>
      </p:sp>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41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a:xfrm>
            <a:off x="197335" y="6489303"/>
            <a:ext cx="2743200" cy="365125"/>
          </a:xfrm>
          <a:prstGeom prst="rect">
            <a:avLst/>
          </a:prstGeom>
        </p:spPr>
        <p:txBody>
          <a:bodyPr/>
          <a:lstStyle/>
          <a:p>
            <a:r>
              <a:rPr kumimoji="1" lang="en-US" altLang="zh-CN" dirty="0">
                <a:latin typeface="等线" panose="02010600030101010101" pitchFamily="2" charset="-122"/>
                <a:ea typeface="等线" panose="02010600030101010101" pitchFamily="2" charset="-122"/>
              </a:rPr>
              <a:t>1.1 </a:t>
            </a:r>
            <a:r>
              <a:rPr kumimoji="1" lang="zh-CN" altLang="en-US" dirty="0">
                <a:latin typeface="等线" panose="02010600030101010101" pitchFamily="2" charset="-122"/>
                <a:ea typeface="等线" panose="02010600030101010101" pitchFamily="2" charset="-122"/>
              </a:rPr>
              <a:t>模板使用说明</a:t>
            </a:r>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a:xfrm>
            <a:off x="4038600" y="6489303"/>
            <a:ext cx="4114800" cy="365125"/>
          </a:xfrm>
          <a:prstGeom prst="rect">
            <a:avLst/>
          </a:prstGeom>
        </p:spPr>
        <p:txBody>
          <a:bodyPr/>
          <a:lstStyle/>
          <a:p>
            <a:r>
              <a:rPr kumimoji="1" lang="zh-CN" altLang="en-US" dirty="0">
                <a:latin typeface="等线" panose="02010600030101010101" pitchFamily="2" charset="-122"/>
                <a:ea typeface="等线" panose="02010600030101010101" pitchFamily="2" charset="-122"/>
              </a:rPr>
              <a:t>引自：</a:t>
            </a:r>
            <a:r>
              <a:rPr kumimoji="1" lang="en-US" altLang="zh-CN" dirty="0">
                <a:latin typeface="等线" panose="02010600030101010101" pitchFamily="2" charset="-122"/>
                <a:ea typeface="等线" panose="02010600030101010101" pitchFamily="2" charset="-122"/>
              </a:rPr>
              <a:t>XXXXX</a:t>
            </a:r>
            <a:r>
              <a:rPr kumimoji="1" lang="zh-CN" altLang="en-US" dirty="0">
                <a:latin typeface="等线" panose="02010600030101010101" pitchFamily="2" charset="-122"/>
                <a:ea typeface="等线" panose="02010600030101010101" pitchFamily="2" charset="-122"/>
              </a:rPr>
              <a:t>（如果需要）</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a:xfrm>
            <a:off x="8686810" y="6489303"/>
            <a:ext cx="3319670" cy="365125"/>
          </a:xfrm>
          <a:prstGeom prst="rect">
            <a:avLst/>
          </a:prstGeom>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a:xfrm>
            <a:off x="158699" y="6498018"/>
            <a:ext cx="2743200" cy="365125"/>
          </a:xfrm>
          <a:prstGeom prst="rect">
            <a:avLst/>
          </a:prstGeom>
        </p:spPr>
        <p:txBody>
          <a:bodyPr/>
          <a:lstStyle/>
          <a:p>
            <a:r>
              <a:rPr kumimoji="1" lang="en-US" altLang="zh-CN" dirty="0">
                <a:latin typeface="等线" panose="02010600030101010101" pitchFamily="2" charset="-122"/>
                <a:ea typeface="等线" panose="02010600030101010101" pitchFamily="2" charset="-122"/>
              </a:rPr>
              <a:t>1.1 </a:t>
            </a:r>
            <a:r>
              <a:rPr kumimoji="1" lang="zh-CN" altLang="en-US" dirty="0">
                <a:latin typeface="等线" panose="02010600030101010101" pitchFamily="2" charset="-122"/>
                <a:ea typeface="等线" panose="02010600030101010101" pitchFamily="2" charset="-122"/>
              </a:rPr>
              <a:t>模板使用说明</a:t>
            </a:r>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a:xfrm>
            <a:off x="4038600" y="6498019"/>
            <a:ext cx="4114800" cy="365125"/>
          </a:xfrm>
          <a:prstGeom prst="rect">
            <a:avLst/>
          </a:prstGeom>
        </p:spPr>
        <p:txBody>
          <a:bodyPr/>
          <a:lstStyle/>
          <a:p>
            <a:r>
              <a:rPr kumimoji="1" lang="zh-CN" altLang="en-US" dirty="0">
                <a:latin typeface="等线" panose="02010600030101010101" pitchFamily="2" charset="-122"/>
                <a:ea typeface="等线" panose="02010600030101010101" pitchFamily="2" charset="-122"/>
              </a:rPr>
              <a:t>引自：</a:t>
            </a:r>
            <a:r>
              <a:rPr kumimoji="1" lang="en-US" altLang="zh-CN" dirty="0">
                <a:latin typeface="等线" panose="02010600030101010101" pitchFamily="2" charset="-122"/>
                <a:ea typeface="等线" panose="02010600030101010101" pitchFamily="2" charset="-122"/>
              </a:rPr>
              <a:t>XXXXX</a:t>
            </a:r>
            <a:r>
              <a:rPr kumimoji="1" lang="zh-CN" altLang="en-US" dirty="0">
                <a:latin typeface="等线" panose="02010600030101010101" pitchFamily="2" charset="-122"/>
                <a:ea typeface="等线" panose="02010600030101010101" pitchFamily="2" charset="-122"/>
              </a:rPr>
              <a:t>（如果需要）</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a:xfrm>
            <a:off x="8610600" y="6498019"/>
            <a:ext cx="3319670" cy="365125"/>
          </a:xfrm>
          <a:prstGeom prst="rect">
            <a:avLst/>
          </a:prstGeom>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553426"/>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46397"/>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872756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日期占位符 3">
            <a:extLst>
              <a:ext uri="{FF2B5EF4-FFF2-40B4-BE49-F238E27FC236}">
                <a16:creationId xmlns:a16="http://schemas.microsoft.com/office/drawing/2014/main" id="{EB21E25C-9464-224B-A47F-E3D24E9CD74A}"/>
              </a:ext>
            </a:extLst>
          </p:cNvPr>
          <p:cNvSpPr>
            <a:spLocks noGrp="1"/>
          </p:cNvSpPr>
          <p:nvPr>
            <p:ph type="dt" sz="half" idx="2"/>
          </p:nvPr>
        </p:nvSpPr>
        <p:spPr>
          <a:xfrm>
            <a:off x="158698" y="6476424"/>
            <a:ext cx="2743200" cy="365125"/>
          </a:xfrm>
          <a:prstGeom prst="rect">
            <a:avLst/>
          </a:prstGeom>
        </p:spPr>
        <p:txBody>
          <a:bodyPr/>
          <a:lstStyle>
            <a:lvl1pPr>
              <a:defRPr sz="1600">
                <a:solidFill>
                  <a:schemeClr val="bg1">
                    <a:lumMod val="65000"/>
                  </a:schemeClr>
                </a:solidFill>
                <a:latin typeface="Microsoft YaHei" panose="020B0503020204020204" pitchFamily="34" charset="-122"/>
                <a:ea typeface="Microsoft YaHei" panose="020B0503020204020204" pitchFamily="34" charset="-122"/>
              </a:defRPr>
            </a:lvl1pPr>
          </a:lstStyle>
          <a:p>
            <a:r>
              <a:rPr kumimoji="1" lang="en-US" altLang="zh-CN" dirty="0">
                <a:latin typeface="等线" panose="02010600030101010101" pitchFamily="2" charset="-122"/>
                <a:ea typeface="等线" panose="02010600030101010101" pitchFamily="2" charset="-122"/>
              </a:rPr>
              <a:t>1.1 </a:t>
            </a:r>
            <a:r>
              <a:rPr kumimoji="1" lang="zh-CN" altLang="en-US" dirty="0">
                <a:latin typeface="等线" panose="02010600030101010101" pitchFamily="2" charset="-122"/>
                <a:ea typeface="等线" panose="02010600030101010101" pitchFamily="2" charset="-122"/>
              </a:rPr>
              <a:t>模板使用说明</a:t>
            </a:r>
          </a:p>
        </p:txBody>
      </p:sp>
      <p:sp>
        <p:nvSpPr>
          <p:cNvPr id="8" name="页脚占位符 4">
            <a:extLst>
              <a:ext uri="{FF2B5EF4-FFF2-40B4-BE49-F238E27FC236}">
                <a16:creationId xmlns:a16="http://schemas.microsoft.com/office/drawing/2014/main" id="{A9B84893-18EE-FF43-9533-BF8DF0782CA4}"/>
              </a:ext>
            </a:extLst>
          </p:cNvPr>
          <p:cNvSpPr>
            <a:spLocks noGrp="1"/>
          </p:cNvSpPr>
          <p:nvPr>
            <p:ph type="ftr" sz="quarter" idx="3"/>
          </p:nvPr>
        </p:nvSpPr>
        <p:spPr>
          <a:xfrm>
            <a:off x="4038600" y="6476424"/>
            <a:ext cx="4114800" cy="365125"/>
          </a:xfrm>
          <a:prstGeom prst="rect">
            <a:avLst/>
          </a:prstGeom>
        </p:spPr>
        <p:txBody>
          <a:bodyPr/>
          <a:lstStyle>
            <a:lvl1pPr algn="ctr">
              <a:defRPr sz="1600">
                <a:solidFill>
                  <a:schemeClr val="bg1">
                    <a:lumMod val="65000"/>
                  </a:schemeClr>
                </a:solidFill>
                <a:latin typeface="Microsoft YaHei" panose="020B0503020204020204" pitchFamily="34" charset="-122"/>
                <a:ea typeface="Microsoft YaHei" panose="020B0503020204020204" pitchFamily="34" charset="-122"/>
              </a:defRPr>
            </a:lvl1pPr>
          </a:lstStyle>
          <a:p>
            <a:r>
              <a:rPr kumimoji="1" lang="zh-CN" altLang="en-US" dirty="0">
                <a:latin typeface="等线" panose="02010600030101010101" pitchFamily="2" charset="-122"/>
                <a:ea typeface="等线" panose="02010600030101010101" pitchFamily="2" charset="-122"/>
              </a:rPr>
              <a:t>引自：</a:t>
            </a:r>
            <a:r>
              <a:rPr kumimoji="1" lang="en-US" altLang="zh-CN" dirty="0">
                <a:latin typeface="等线" panose="02010600030101010101" pitchFamily="2" charset="-122"/>
                <a:ea typeface="等线" panose="02010600030101010101" pitchFamily="2" charset="-122"/>
              </a:rPr>
              <a:t>XXXXX</a:t>
            </a:r>
            <a:r>
              <a:rPr kumimoji="1" lang="zh-CN" altLang="en-US" dirty="0">
                <a:latin typeface="等线" panose="02010600030101010101" pitchFamily="2" charset="-122"/>
                <a:ea typeface="等线" panose="02010600030101010101" pitchFamily="2" charset="-122"/>
              </a:rPr>
              <a:t>（如果需要）</a:t>
            </a:r>
          </a:p>
        </p:txBody>
      </p:sp>
      <p:sp>
        <p:nvSpPr>
          <p:cNvPr id="9" name="灯片编号占位符 5">
            <a:extLst>
              <a:ext uri="{FF2B5EF4-FFF2-40B4-BE49-F238E27FC236}">
                <a16:creationId xmlns:a16="http://schemas.microsoft.com/office/drawing/2014/main" id="{A375705C-8722-064B-8FCF-B9180D154A69}"/>
              </a:ext>
            </a:extLst>
          </p:cNvPr>
          <p:cNvSpPr>
            <a:spLocks noGrp="1"/>
          </p:cNvSpPr>
          <p:nvPr>
            <p:ph type="sldNum" sz="quarter" idx="4"/>
          </p:nvPr>
        </p:nvSpPr>
        <p:spPr>
          <a:xfrm>
            <a:off x="8686810" y="6476424"/>
            <a:ext cx="3319670" cy="365125"/>
          </a:xfrm>
          <a:prstGeom prst="rect">
            <a:avLst/>
          </a:prstGeom>
        </p:spPr>
        <p:txBody>
          <a:bodyPr/>
          <a:lstStyle>
            <a:lvl1pPr algn="r">
              <a:defRPr sz="1600">
                <a:solidFill>
                  <a:schemeClr val="bg1">
                    <a:lumMod val="65000"/>
                  </a:schemeClr>
                </a:solidFill>
                <a:latin typeface="等线" panose="02010600030101010101" pitchFamily="2" charset="-122"/>
                <a:ea typeface="等线" panose="02010600030101010101" pitchFamily="2" charset="-122"/>
              </a:defRPr>
            </a:lvl1pPr>
          </a:lstStyle>
          <a:p>
            <a:fld id="{8D4D1E41-7A09-AB4A-A4E1-09765ADA2698}" type="slidenum">
              <a:rPr kumimoji="1" lang="zh-CN" altLang="en-US" smtClean="0"/>
              <a:pPr/>
              <a:t>‹#›</a:t>
            </a:fld>
            <a:endParaRPr kumimoji="1" lang="zh-CN" altLang="en-US" dirty="0"/>
          </a:p>
        </p:txBody>
      </p:sp>
      <p:pic>
        <p:nvPicPr>
          <p:cNvPr id="10" name="图片 9">
            <a:extLst>
              <a:ext uri="{FF2B5EF4-FFF2-40B4-BE49-F238E27FC236}">
                <a16:creationId xmlns:a16="http://schemas.microsoft.com/office/drawing/2014/main" id="{6BCF39E9-3EE4-425C-A4BE-22B1047FEC8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142610" y="16451"/>
            <a:ext cx="1036530" cy="1029540"/>
          </a:xfrm>
          <a:prstGeom prst="rect">
            <a:avLst/>
          </a:prstGeom>
        </p:spPr>
      </p:pic>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hdr="0"/>
  <p:txStyles>
    <p:titleStyle>
      <a:lvl1pPr algn="l" defTabSz="914400" rtl="0" eaLnBrk="1" latinLnBrk="0" hangingPunct="1">
        <a:lnSpc>
          <a:spcPct val="90000"/>
        </a:lnSpc>
        <a:spcBef>
          <a:spcPct val="0"/>
        </a:spcBef>
        <a:buNone/>
        <a:defRPr sz="4400" b="1" kern="1200">
          <a:solidFill>
            <a:schemeClr val="tx1"/>
          </a:solidFill>
          <a:latin typeface="SimHei" panose="02010609060101010101" pitchFamily="49" charset="-122"/>
          <a:ea typeface="SimHei" panose="02010609060101010101" pitchFamily="49"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等线" panose="02010600030101010101" pitchFamily="2" charset="-122"/>
          <a:ea typeface="等线" panose="02010600030101010101" pitchFamily="2"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等线" panose="02010600030101010101" pitchFamily="2" charset="-122"/>
          <a:ea typeface="等线" panose="02010600030101010101" pitchFamily="2"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等线" panose="02010600030101010101" pitchFamily="2" charset="-122"/>
          <a:ea typeface="等线" panose="02010600030101010101" pitchFamily="2"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等线" panose="02010600030101010101" pitchFamily="2" charset="-122"/>
          <a:ea typeface="等线" panose="02010600030101010101" pitchFamily="2"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等线" panose="02010600030101010101" pitchFamily="2" charset="-122"/>
          <a:ea typeface="等线"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4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第七章 应用层</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dirty="0"/>
              <a:t>授课教师：辜文蔚</a:t>
            </a:r>
            <a:endParaRPr kumimoji="1" lang="en-US" altLang="zh-CN" sz="3200" dirty="0"/>
          </a:p>
          <a:p>
            <a:pPr>
              <a:lnSpc>
                <a:spcPct val="150000"/>
              </a:lnSpc>
            </a:pPr>
            <a:r>
              <a:rPr kumimoji="1" lang="zh-CN" altLang="en-US" sz="3200" dirty="0"/>
              <a:t>南开大学</a:t>
            </a:r>
            <a:endParaRPr kumimoji="1" lang="en-US" altLang="zh-CN" sz="3200" dirty="0"/>
          </a:p>
        </p:txBody>
      </p:sp>
    </p:spTree>
    <p:extLst>
      <p:ext uri="{BB962C8B-B14F-4D97-AF65-F5344CB8AC3E}">
        <p14:creationId xmlns:p14="http://schemas.microsoft.com/office/powerpoint/2010/main" val="3942724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本章目标</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514350" indent="-514350" algn="just">
              <a:lnSpc>
                <a:spcPct val="120000"/>
              </a:lnSpc>
              <a:buFont typeface="+mj-lt"/>
              <a:buAutoNum type="arabicPeriod"/>
            </a:pPr>
            <a:r>
              <a:rPr kumimoji="1" lang="zh-CN" altLang="en-US" dirty="0"/>
              <a:t>掌握应用进程通信方式以及服务进程工作模式</a:t>
            </a:r>
          </a:p>
          <a:p>
            <a:pPr marL="514350" indent="-514350" algn="just">
              <a:lnSpc>
                <a:spcPct val="120000"/>
              </a:lnSpc>
              <a:buFont typeface="+mj-lt"/>
              <a:buAutoNum type="arabicPeriod"/>
            </a:pPr>
            <a:r>
              <a:rPr kumimoji="1" lang="zh-CN" altLang="en-US" dirty="0"/>
              <a:t>掌握域名系统基本原理和工作机制</a:t>
            </a:r>
            <a:endParaRPr kumimoji="1" lang="en-US" altLang="zh-CN" dirty="0"/>
          </a:p>
          <a:p>
            <a:pPr marL="514350" indent="-514350" algn="just">
              <a:lnSpc>
                <a:spcPct val="120000"/>
              </a:lnSpc>
              <a:buFont typeface="+mj-lt"/>
              <a:buAutoNum type="arabicPeriod"/>
            </a:pPr>
            <a:r>
              <a:rPr kumimoji="1" lang="zh-CN" altLang="en-US" dirty="0"/>
              <a:t>掌握电子邮件系统体系结构及基本工作原理</a:t>
            </a:r>
          </a:p>
          <a:p>
            <a:pPr marL="514350" indent="-514350" algn="just">
              <a:lnSpc>
                <a:spcPct val="120000"/>
              </a:lnSpc>
              <a:buFont typeface="+mj-lt"/>
              <a:buAutoNum type="arabicPeriod"/>
            </a:pPr>
            <a:r>
              <a:rPr kumimoji="1" lang="zh-CN" altLang="en-US" dirty="0"/>
              <a:t>掌握</a:t>
            </a:r>
            <a:r>
              <a:rPr kumimoji="1" lang="en-US" altLang="zh-CN" dirty="0"/>
              <a:t>Telnet</a:t>
            </a:r>
            <a:r>
              <a:rPr kumimoji="1" lang="zh-CN" altLang="en-US" dirty="0"/>
              <a:t>、</a:t>
            </a:r>
            <a:r>
              <a:rPr kumimoji="1" lang="en-US" altLang="zh-CN" dirty="0"/>
              <a:t>FTP</a:t>
            </a:r>
            <a:r>
              <a:rPr kumimoji="1" lang="zh-CN" altLang="en-US" dirty="0"/>
              <a:t>、</a:t>
            </a:r>
            <a:r>
              <a:rPr kumimoji="1" lang="en-US" altLang="zh-CN" dirty="0"/>
              <a:t>SNMP</a:t>
            </a:r>
            <a:r>
              <a:rPr kumimoji="1" lang="zh-CN" altLang="en-US" dirty="0"/>
              <a:t>等应用层协议的工作原理</a:t>
            </a:r>
          </a:p>
        </p:txBody>
      </p:sp>
      <p:sp>
        <p:nvSpPr>
          <p:cNvPr id="10" name="灯片编号占位符 9">
            <a:extLst>
              <a:ext uri="{FF2B5EF4-FFF2-40B4-BE49-F238E27FC236}">
                <a16:creationId xmlns:a16="http://schemas.microsoft.com/office/drawing/2014/main" id="{E4DA8857-A0B9-004B-97F3-80764C9D31C3}"/>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134262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510758"/>
            <a:ext cx="10046292" cy="4845592"/>
          </a:xfrm>
        </p:spPr>
        <p:txBody>
          <a:bodyPr>
            <a:normAutofit/>
          </a:bodyPr>
          <a:lstStyle/>
          <a:p>
            <a:pPr>
              <a:lnSpc>
                <a:spcPct val="130000"/>
              </a:lnSpc>
            </a:pPr>
            <a:r>
              <a:rPr kumimoji="1" lang="en-US" altLang="zh-CN" dirty="0">
                <a:solidFill>
                  <a:srgbClr val="C00000"/>
                </a:solidFill>
              </a:rPr>
              <a:t>7.1 </a:t>
            </a:r>
            <a:r>
              <a:rPr kumimoji="1" lang="zh-CN" altLang="en-US" dirty="0">
                <a:solidFill>
                  <a:srgbClr val="C00000"/>
                </a:solidFill>
              </a:rPr>
              <a:t>应用层概述（</a:t>
            </a:r>
            <a:r>
              <a:rPr kumimoji="1" lang="en-US" altLang="zh-CN" dirty="0">
                <a:solidFill>
                  <a:srgbClr val="C00000"/>
                </a:solidFill>
              </a:rPr>
              <a:t>P3</a:t>
            </a:r>
            <a:r>
              <a:rPr kumimoji="1" lang="zh-CN" altLang="en-US" dirty="0">
                <a:solidFill>
                  <a:srgbClr val="C00000"/>
                </a:solidFill>
              </a:rPr>
              <a:t>）</a:t>
            </a:r>
          </a:p>
          <a:p>
            <a:pPr>
              <a:lnSpc>
                <a:spcPct val="130000"/>
              </a:lnSpc>
            </a:pPr>
            <a:r>
              <a:rPr kumimoji="1" lang="en-US" altLang="zh-CN" dirty="0"/>
              <a:t>7.2 </a:t>
            </a:r>
            <a:r>
              <a:rPr kumimoji="1" lang="zh-CN" altLang="en-US" dirty="0"/>
              <a:t>域名系统（</a:t>
            </a:r>
            <a:r>
              <a:rPr kumimoji="1" lang="en-US" altLang="zh-CN" dirty="0"/>
              <a:t>P20</a:t>
            </a:r>
            <a:r>
              <a:rPr kumimoji="1" lang="zh-CN" altLang="en-US" dirty="0"/>
              <a:t>）</a:t>
            </a:r>
          </a:p>
          <a:p>
            <a:pPr>
              <a:lnSpc>
                <a:spcPct val="130000"/>
              </a:lnSpc>
            </a:pPr>
            <a:r>
              <a:rPr kumimoji="1" lang="en-US" altLang="zh-CN" dirty="0"/>
              <a:t>7.3 </a:t>
            </a:r>
            <a:r>
              <a:rPr kumimoji="1" lang="zh-CN" altLang="en-US" dirty="0"/>
              <a:t>电子邮件（</a:t>
            </a:r>
            <a:r>
              <a:rPr kumimoji="1" lang="en-US" altLang="zh-CN" dirty="0"/>
              <a:t>P42</a:t>
            </a:r>
            <a:r>
              <a:rPr kumimoji="1" lang="zh-CN" altLang="en-US" dirty="0"/>
              <a:t>）</a:t>
            </a:r>
          </a:p>
          <a:p>
            <a:pPr>
              <a:lnSpc>
                <a:spcPct val="130000"/>
              </a:lnSpc>
            </a:pPr>
            <a:r>
              <a:rPr kumimoji="1" lang="en-US" altLang="zh-CN" dirty="0"/>
              <a:t>7.4 </a:t>
            </a:r>
            <a:r>
              <a:rPr kumimoji="1" lang="zh-CN" altLang="en-US" dirty="0"/>
              <a:t>其它应用层协议（</a:t>
            </a:r>
            <a:r>
              <a:rPr kumimoji="1" lang="en-US" altLang="zh-CN" dirty="0"/>
              <a:t>P52</a:t>
            </a:r>
            <a:r>
              <a:rPr kumimoji="1" lang="zh-CN" altLang="en-US" dirty="0"/>
              <a:t>）</a:t>
            </a:r>
          </a:p>
        </p:txBody>
      </p:sp>
      <p:sp>
        <p:nvSpPr>
          <p:cNvPr id="10" name="灯片编号占位符 9">
            <a:extLst>
              <a:ext uri="{FF2B5EF4-FFF2-40B4-BE49-F238E27FC236}">
                <a16:creationId xmlns:a16="http://schemas.microsoft.com/office/drawing/2014/main" id="{81955D56-458B-2941-A60C-A60B6824D7F3}"/>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
        <p:nvSpPr>
          <p:cNvPr id="6" name="矩形标注 5">
            <a:extLst>
              <a:ext uri="{FF2B5EF4-FFF2-40B4-BE49-F238E27FC236}">
                <a16:creationId xmlns:a16="http://schemas.microsoft.com/office/drawing/2014/main" id="{981187B3-3584-BA4E-A14C-4B26773516C6}"/>
              </a:ext>
            </a:extLst>
          </p:cNvPr>
          <p:cNvSpPr/>
          <p:nvPr/>
        </p:nvSpPr>
        <p:spPr>
          <a:xfrm>
            <a:off x="6501333" y="1663158"/>
            <a:ext cx="3845312" cy="1284693"/>
          </a:xfrm>
          <a:prstGeom prst="wedgeRectCallout">
            <a:avLst>
              <a:gd name="adj1" fmla="val -79833"/>
              <a:gd name="adj2" fmla="val -3476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应用进程通信方式</a:t>
            </a:r>
          </a:p>
          <a:p>
            <a:pPr marL="587375"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服务器进程工作方式</a:t>
            </a:r>
          </a:p>
        </p:txBody>
      </p:sp>
    </p:spTree>
    <p:extLst>
      <p:ext uri="{BB962C8B-B14F-4D97-AF65-F5344CB8AC3E}">
        <p14:creationId xmlns:p14="http://schemas.microsoft.com/office/powerpoint/2010/main" val="2319106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dirty="0"/>
              <a:t>应用进程通信方式</a:t>
            </a:r>
          </a:p>
        </p:txBody>
      </p:sp>
      <p:sp>
        <p:nvSpPr>
          <p:cNvPr id="3" name="内容占位符 2"/>
          <p:cNvSpPr>
            <a:spLocks noGrp="1"/>
          </p:cNvSpPr>
          <p:nvPr>
            <p:ph idx="1"/>
          </p:nvPr>
        </p:nvSpPr>
        <p:spPr>
          <a:xfrm>
            <a:off x="838200" y="1510665"/>
            <a:ext cx="10535285" cy="4586605"/>
          </a:xfrm>
        </p:spPr>
        <p:txBody>
          <a:bodyPr>
            <a:normAutofit/>
          </a:bodyPr>
          <a:lstStyle/>
          <a:p>
            <a:pPr marL="360680" indent="-360680" algn="just" fontAlgn="auto">
              <a:lnSpc>
                <a:spcPct val="120000"/>
              </a:lnSpc>
              <a:spcAft>
                <a:spcPts val="0"/>
              </a:spcAft>
            </a:pPr>
            <a:r>
              <a:rPr kumimoji="1" lang="zh-CN" altLang="en-US" dirty="0">
                <a:solidFill>
                  <a:srgbClr val="C00000"/>
                </a:solidFill>
                <a:sym typeface="+mn-ea"/>
              </a:rPr>
              <a:t>每个应用层协议都是为了解决某一应用问题</a:t>
            </a:r>
            <a:r>
              <a:rPr lang="zh-CN" altLang="en-US" dirty="0">
                <a:solidFill>
                  <a:schemeClr val="tx1"/>
                </a:solidFill>
                <a:cs typeface="微软雅黑" panose="020B0503020204020204" pitchFamily="34" charset="-122"/>
                <a:sym typeface="+mn-ea"/>
              </a:rPr>
              <a:t>，通过位于不同主机中的多个应用进程之间的通信和协同工作来完成</a:t>
            </a:r>
            <a:r>
              <a:rPr kumimoji="1" lang="zh-CN" altLang="en-US" dirty="0">
                <a:solidFill>
                  <a:schemeClr val="tx1"/>
                </a:solidFill>
                <a:cs typeface="微软雅黑" panose="020B0503020204020204" pitchFamily="34" charset="-122"/>
              </a:rPr>
              <a:t> </a:t>
            </a:r>
            <a:endParaRPr kumimoji="1" lang="en-US" altLang="zh-CN" dirty="0">
              <a:solidFill>
                <a:schemeClr val="tx1"/>
              </a:solidFill>
              <a:cs typeface="微软雅黑" panose="020B0503020204020204" pitchFamily="34" charset="-122"/>
            </a:endParaRPr>
          </a:p>
          <a:p>
            <a:pPr lvl="1" algn="just" fontAlgn="base">
              <a:lnSpc>
                <a:spcPct val="120000"/>
              </a:lnSpc>
              <a:spcAft>
                <a:spcPts val="0"/>
              </a:spcAft>
              <a:buClrTx/>
              <a:buSzTx/>
            </a:pPr>
            <a:r>
              <a:rPr lang="zh-CN" altLang="en-US" dirty="0">
                <a:sym typeface="+mn-ea"/>
              </a:rPr>
              <a:t>两台主机通信实际是其上对应的两个应用进程(process)在通信</a:t>
            </a:r>
            <a:endParaRPr lang="zh-CN" altLang="en-US" dirty="0"/>
          </a:p>
          <a:p>
            <a:pPr lvl="1" algn="just">
              <a:lnSpc>
                <a:spcPct val="120000"/>
              </a:lnSpc>
              <a:spcAft>
                <a:spcPts val="0"/>
              </a:spcAft>
            </a:pPr>
            <a:r>
              <a:rPr kumimoji="1" lang="zh-CN" altLang="en-US" noProof="0" dirty="0">
                <a:ln>
                  <a:noFill/>
                </a:ln>
                <a:solidFill>
                  <a:srgbClr val="C00000"/>
                </a:solidFill>
                <a:effectLst/>
                <a:uLnTx/>
                <a:uFillTx/>
                <a:cs typeface="微软雅黑" panose="020B0503020204020204" pitchFamily="34" charset="-122"/>
                <a:sym typeface="+mn-ea"/>
              </a:rPr>
              <a:t>应用进程</a:t>
            </a:r>
            <a:r>
              <a:rPr lang="zh-CN" altLang="en-US" dirty="0">
                <a:sym typeface="+mn-ea"/>
              </a:rPr>
              <a:t>: 为解决具体应用问题而彼此通信的进程</a:t>
            </a:r>
            <a:endParaRPr kumimoji="1" lang="zh-CN" altLang="en-US" dirty="0"/>
          </a:p>
          <a:p>
            <a:pPr marL="360680" indent="-360680" algn="just" fontAlgn="auto">
              <a:lnSpc>
                <a:spcPct val="120000"/>
              </a:lnSpc>
              <a:spcAft>
                <a:spcPts val="0"/>
              </a:spcAft>
              <a:buClrTx/>
              <a:buSzTx/>
            </a:pPr>
            <a:r>
              <a:rPr lang="zh-CN" altLang="en-US" dirty="0">
                <a:cs typeface="微软雅黑" panose="020B0503020204020204" pitchFamily="34" charset="-122"/>
                <a:sym typeface="+mn-ea"/>
              </a:rPr>
              <a:t>应用层的具体内容就是规定应用进程在通信时所遵循的协议</a:t>
            </a:r>
            <a:endParaRPr lang="zh-CN" altLang="en-US" dirty="0">
              <a:cs typeface="微软雅黑" panose="020B0503020204020204" pitchFamily="34" charset="-122"/>
            </a:endParaRPr>
          </a:p>
          <a:p>
            <a:pPr lvl="1" algn="just" fontAlgn="auto">
              <a:lnSpc>
                <a:spcPct val="120000"/>
              </a:lnSpc>
              <a:spcAft>
                <a:spcPts val="0"/>
              </a:spcAft>
            </a:pPr>
            <a:endParaRPr kumimoji="1" lang="en-US" altLang="zh-CN" dirty="0"/>
          </a:p>
        </p:txBody>
      </p:sp>
      <p:sp>
        <p:nvSpPr>
          <p:cNvPr id="9" name="日期占位符 8"/>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
        <p:nvSpPr>
          <p:cNvPr id="11" name="灯片编号占位符 10"/>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6" name="内容占位符 2"/>
          <p:cNvSpPr>
            <a:spLocks noGrp="1"/>
          </p:cNvSpPr>
          <p:nvPr/>
        </p:nvSpPr>
        <p:spPr>
          <a:xfrm>
            <a:off x="1307509" y="4408624"/>
            <a:ext cx="9273406" cy="2080679"/>
          </a:xfrm>
          <a:prstGeom prst="rect">
            <a:avLst/>
          </a:prstGeom>
          <a:ln>
            <a:solidFill>
              <a:srgbClr val="C00000"/>
            </a:solidFill>
          </a:ln>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客户</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服务器（</a:t>
            </a:r>
            <a:r>
              <a:rPr lang="en-US" altLang="zh-CN" dirty="0">
                <a:solidFill>
                  <a:srgbClr val="C00000"/>
                </a:solidFill>
                <a:latin typeface="等线" panose="02010600030101010101" pitchFamily="2" charset="-122"/>
                <a:ea typeface="等线" panose="02010600030101010101" pitchFamily="2" charset="-122"/>
                <a:cs typeface="微软雅黑" panose="020B0503020204020204" pitchFamily="34" charset="-122"/>
                <a:sym typeface="+mn-ea"/>
              </a:rPr>
              <a:t>C/S</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 Client/Server</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）方式</a:t>
            </a: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marL="0" indent="0" algn="just">
              <a:lnSpc>
                <a:spcPct val="130000"/>
              </a:lnSpc>
              <a:buNone/>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浏览器</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服务器（</a:t>
            </a:r>
            <a:r>
              <a:rPr lang="en-US" altLang="zh-CN" dirty="0">
                <a:solidFill>
                  <a:srgbClr val="C00000"/>
                </a:solidFill>
                <a:latin typeface="等线" panose="02010600030101010101" pitchFamily="2" charset="-122"/>
                <a:ea typeface="等线" panose="02010600030101010101" pitchFamily="2" charset="-122"/>
                <a:cs typeface="微软雅黑" panose="020B0503020204020204" pitchFamily="34" charset="-122"/>
                <a:sym typeface="+mn-ea"/>
              </a:rPr>
              <a:t>B</a:t>
            </a:r>
            <a:r>
              <a:rPr lang="zh-CN" altLang="en-US" dirty="0">
                <a:solidFill>
                  <a:srgbClr val="C00000"/>
                </a:solidFill>
                <a:latin typeface="等线" panose="02010600030101010101" pitchFamily="2" charset="-122"/>
                <a:ea typeface="等线" panose="02010600030101010101" pitchFamily="2" charset="-122"/>
                <a:cs typeface="微软雅黑" panose="020B0503020204020204" pitchFamily="34" charset="-122"/>
                <a:sym typeface="+mn-ea"/>
              </a:rPr>
              <a:t>/S</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Browser/Server</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 方式</a:t>
            </a:r>
          </a:p>
          <a:p>
            <a:pPr marL="0" indent="0" algn="just">
              <a:lnSpc>
                <a:spcPct val="130000"/>
              </a:lnSpc>
              <a:buNone/>
            </a:pPr>
            <a:r>
              <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rPr>
              <a:t>对等（</a:t>
            </a:r>
            <a:r>
              <a:rPr kumimoji="1" lang="en-US" altLang="zh-CN" dirty="0">
                <a:solidFill>
                  <a:srgbClr val="C00000"/>
                </a:solidFill>
                <a:latin typeface="等线" panose="02010600030101010101" pitchFamily="2" charset="-122"/>
                <a:ea typeface="等线" panose="02010600030101010101" pitchFamily="2" charset="-122"/>
                <a:cs typeface="微软雅黑" panose="020B0503020204020204" pitchFamily="34" charset="-122"/>
                <a:sym typeface="+mn-ea"/>
              </a:rPr>
              <a:t>P2P</a:t>
            </a:r>
            <a:r>
              <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rPr>
              <a:t>，</a:t>
            </a:r>
            <a:r>
              <a:rPr kumimoji="1" lang="en-US" altLang="zh-CN"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rPr>
              <a:t>Peer to Peer</a:t>
            </a:r>
            <a:r>
              <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rPr>
              <a:t>）方式</a:t>
            </a:r>
          </a:p>
        </p:txBody>
      </p:sp>
    </p:spTree>
    <p:custDataLst>
      <p:tags r:id="rId1"/>
    </p:custDataLst>
    <p:extLst>
      <p:ext uri="{BB962C8B-B14F-4D97-AF65-F5344CB8AC3E}">
        <p14:creationId xmlns:p14="http://schemas.microsoft.com/office/powerpoint/2010/main" val="411628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2014220"/>
            <a:ext cx="10529570" cy="4355465"/>
          </a:xfrm>
        </p:spPr>
        <p:txBody>
          <a:bodyPr>
            <a:noAutofit/>
          </a:bodyPr>
          <a:lstStyle/>
          <a:p>
            <a:pPr algn="just">
              <a:lnSpc>
                <a:spcPct val="110000"/>
              </a:lnSpc>
            </a:pPr>
            <a:r>
              <a:rPr lang="zh-CN" altLang="en-US" dirty="0">
                <a:solidFill>
                  <a:schemeClr val="tx1"/>
                </a:solidFill>
                <a:cs typeface="微软雅黑" panose="020B0503020204020204" pitchFamily="34" charset="-122"/>
                <a:sym typeface="+mn-ea"/>
              </a:rPr>
              <a:t>应用层的许多协议是</a:t>
            </a:r>
            <a:r>
              <a:rPr lang="zh-CN" altLang="en-US" dirty="0">
                <a:cs typeface="微软雅黑" panose="020B0503020204020204" pitchFamily="34" charset="-122"/>
                <a:sym typeface="+mn-ea"/>
              </a:rPr>
              <a:t>基于C/S方式</a:t>
            </a:r>
            <a:r>
              <a:rPr lang="zh-CN" altLang="en-US" dirty="0">
                <a:solidFill>
                  <a:schemeClr val="tx1"/>
                </a:solidFill>
                <a:cs typeface="微软雅黑" panose="020B0503020204020204" pitchFamily="34" charset="-122"/>
                <a:sym typeface="+mn-ea"/>
              </a:rPr>
              <a:t>，例如，在移动互联网环境下，每个应用</a:t>
            </a:r>
            <a:r>
              <a:rPr lang="en-US" altLang="zh-CN" dirty="0">
                <a:solidFill>
                  <a:schemeClr val="tx1"/>
                </a:solidFill>
                <a:cs typeface="微软雅黑" panose="020B0503020204020204" pitchFamily="34" charset="-122"/>
                <a:sym typeface="+mn-ea"/>
              </a:rPr>
              <a:t>APP</a:t>
            </a:r>
            <a:r>
              <a:rPr lang="zh-CN" altLang="en-US" dirty="0">
                <a:solidFill>
                  <a:schemeClr val="tx1"/>
                </a:solidFill>
                <a:cs typeface="微软雅黑" panose="020B0503020204020204" pitchFamily="34" charset="-122"/>
                <a:sym typeface="+mn-ea"/>
              </a:rPr>
              <a:t>都是一个客户端</a:t>
            </a:r>
          </a:p>
          <a:p>
            <a:pPr lvl="1" algn="just">
              <a:lnSpc>
                <a:spcPct val="110000"/>
              </a:lnSpc>
            </a:pPr>
            <a:r>
              <a:rPr lang="zh-CN" altLang="en-US" dirty="0">
                <a:solidFill>
                  <a:schemeClr val="tx1"/>
                </a:solidFill>
                <a:cs typeface="微软雅黑" panose="020B0503020204020204" pitchFamily="34" charset="-122"/>
                <a:sym typeface="+mn-ea"/>
              </a:rPr>
              <a:t>客户(client)和服务器(server)是指通信中所涉及的2个</a:t>
            </a:r>
            <a:r>
              <a:rPr kumimoji="1" lang="zh-CN" altLang="en-US" noProof="0" dirty="0">
                <a:ln>
                  <a:noFill/>
                </a:ln>
                <a:solidFill>
                  <a:srgbClr val="C00000"/>
                </a:solidFill>
                <a:effectLst/>
                <a:uLnTx/>
                <a:uFillTx/>
                <a:cs typeface="微软雅黑" panose="020B0503020204020204" pitchFamily="34" charset="-122"/>
                <a:sym typeface="+mn-ea"/>
              </a:rPr>
              <a:t>应用进程</a:t>
            </a:r>
          </a:p>
          <a:p>
            <a:pPr lvl="1" algn="just">
              <a:lnSpc>
                <a:spcPct val="110000"/>
              </a:lnSpc>
            </a:pPr>
            <a:r>
              <a:rPr lang="zh-CN" altLang="en-US" dirty="0">
                <a:solidFill>
                  <a:srgbClr val="7030A0"/>
                </a:solidFill>
                <a:sym typeface="+mn-ea"/>
              </a:rPr>
              <a:t>客户/服务器</a:t>
            </a:r>
            <a:r>
              <a:rPr lang="zh-CN" altLang="en-US" dirty="0">
                <a:cs typeface="微软雅黑" panose="020B0503020204020204" pitchFamily="34" charset="-122"/>
                <a:sym typeface="+mn-ea"/>
              </a:rPr>
              <a:t>方式描述的是</a:t>
            </a:r>
            <a:r>
              <a:rPr lang="zh-CN" altLang="en-US" dirty="0">
                <a:solidFill>
                  <a:srgbClr val="7030A0"/>
                </a:solidFill>
                <a:sym typeface="+mn-ea"/>
              </a:rPr>
              <a:t>应用进程之间</a:t>
            </a:r>
            <a:r>
              <a:rPr kumimoji="1" lang="zh-CN" altLang="en-US" noProof="0" dirty="0">
                <a:ln>
                  <a:noFill/>
                </a:ln>
                <a:solidFill>
                  <a:srgbClr val="C00000"/>
                </a:solidFill>
                <a:effectLst/>
                <a:uLnTx/>
                <a:uFillTx/>
                <a:cs typeface="微软雅黑" panose="020B0503020204020204" pitchFamily="34" charset="-122"/>
                <a:sym typeface="+mn-ea"/>
              </a:rPr>
              <a:t>服务和被服务</a:t>
            </a:r>
            <a:r>
              <a:rPr lang="zh-CN" altLang="en-US" dirty="0">
                <a:cs typeface="微软雅黑" panose="020B0503020204020204" pitchFamily="34" charset="-122"/>
                <a:sym typeface="+mn-ea"/>
              </a:rPr>
              <a:t>的关系</a:t>
            </a:r>
          </a:p>
          <a:p>
            <a:pPr lvl="1" algn="just">
              <a:lnSpc>
                <a:spcPct val="110000"/>
              </a:lnSpc>
            </a:pPr>
            <a:r>
              <a:rPr kumimoji="1" lang="zh-CN" altLang="en-US" noProof="0" dirty="0">
                <a:ln>
                  <a:noFill/>
                </a:ln>
                <a:solidFill>
                  <a:srgbClr val="C00000"/>
                </a:solidFill>
                <a:effectLst/>
                <a:uLnTx/>
                <a:uFillTx/>
                <a:cs typeface="微软雅黑" panose="020B0503020204020204" pitchFamily="34" charset="-122"/>
                <a:sym typeface="+mn-ea"/>
              </a:rPr>
              <a:t>客户</a:t>
            </a:r>
            <a:r>
              <a:rPr lang="zh-CN" altLang="en-US" dirty="0">
                <a:cs typeface="微软雅黑" panose="020B0503020204020204" pitchFamily="34" charset="-122"/>
                <a:sym typeface="+mn-ea"/>
              </a:rPr>
              <a:t>是服务请求方（</a:t>
            </a:r>
            <a:r>
              <a:rPr kumimoji="1" lang="zh-CN" altLang="en-US" noProof="0" dirty="0">
                <a:ln>
                  <a:noFill/>
                </a:ln>
                <a:solidFill>
                  <a:srgbClr val="C00000"/>
                </a:solidFill>
                <a:effectLst/>
                <a:uLnTx/>
                <a:uFillTx/>
                <a:cs typeface="微软雅黑" panose="020B0503020204020204" pitchFamily="34" charset="-122"/>
                <a:sym typeface="+mn-ea"/>
              </a:rPr>
              <a:t>主动</a:t>
            </a:r>
            <a:r>
              <a:rPr lang="zh-CN" altLang="en-US" dirty="0">
                <a:cs typeface="微软雅黑" panose="020B0503020204020204" pitchFamily="34" charset="-122"/>
                <a:sym typeface="+mn-ea"/>
              </a:rPr>
              <a:t>请求服务，被服务）</a:t>
            </a:r>
            <a:endParaRPr lang="en-US" altLang="zh-CN" dirty="0">
              <a:cs typeface="微软雅黑" panose="020B0503020204020204" pitchFamily="34" charset="-122"/>
              <a:sym typeface="+mn-ea"/>
            </a:endParaRPr>
          </a:p>
          <a:p>
            <a:pPr lvl="1" algn="just">
              <a:lnSpc>
                <a:spcPct val="110000"/>
              </a:lnSpc>
            </a:pPr>
            <a:r>
              <a:rPr kumimoji="1" lang="zh-CN" altLang="en-US" noProof="0" dirty="0">
                <a:ln>
                  <a:noFill/>
                </a:ln>
                <a:solidFill>
                  <a:srgbClr val="C00000"/>
                </a:solidFill>
                <a:effectLst/>
                <a:uLnTx/>
                <a:uFillTx/>
                <a:cs typeface="微软雅黑" panose="020B0503020204020204" pitchFamily="34" charset="-122"/>
                <a:sym typeface="+mn-ea"/>
              </a:rPr>
              <a:t>服务器</a:t>
            </a:r>
            <a:r>
              <a:rPr lang="zh-CN" altLang="en-US" dirty="0">
                <a:cs typeface="微软雅黑" panose="020B0503020204020204" pitchFamily="34" charset="-122"/>
                <a:sym typeface="+mn-ea"/>
              </a:rPr>
              <a:t>是服务提供方（</a:t>
            </a:r>
            <a:r>
              <a:rPr kumimoji="1" lang="zh-CN" altLang="en-US" noProof="0" dirty="0">
                <a:ln>
                  <a:noFill/>
                </a:ln>
                <a:solidFill>
                  <a:srgbClr val="C00000"/>
                </a:solidFill>
                <a:effectLst/>
                <a:uLnTx/>
                <a:uFillTx/>
                <a:cs typeface="微软雅黑" panose="020B0503020204020204" pitchFamily="34" charset="-122"/>
                <a:sym typeface="+mn-ea"/>
              </a:rPr>
              <a:t>被动</a:t>
            </a:r>
            <a:r>
              <a:rPr lang="zh-CN" altLang="en-US" dirty="0">
                <a:cs typeface="微软雅黑" panose="020B0503020204020204" pitchFamily="34" charset="-122"/>
                <a:sym typeface="+mn-ea"/>
              </a:rPr>
              <a:t>接受服务请求，提供服务）</a:t>
            </a:r>
            <a:endParaRPr lang="en-US" altLang="zh-CN" dirty="0">
              <a:cs typeface="微软雅黑" panose="020B0503020204020204" pitchFamily="34" charset="-122"/>
            </a:endParaRPr>
          </a:p>
          <a:p>
            <a:pPr algn="just">
              <a:lnSpc>
                <a:spcPct val="110000"/>
              </a:lnSpc>
              <a:buClrTx/>
              <a:buSzTx/>
            </a:pPr>
            <a:r>
              <a:rPr lang="zh-CN" altLang="en-US" dirty="0">
                <a:sym typeface="+mn-ea"/>
              </a:rPr>
              <a:t>C/S方式可以是面向连接的，也可以是无连接的</a:t>
            </a:r>
          </a:p>
          <a:p>
            <a:pPr algn="just">
              <a:lnSpc>
                <a:spcPct val="110000"/>
              </a:lnSpc>
              <a:buClrTx/>
              <a:buSzTx/>
            </a:pPr>
            <a:r>
              <a:rPr kumimoji="1" lang="zh-CN" altLang="en-US" noProof="0" dirty="0">
                <a:ln>
                  <a:noFill/>
                </a:ln>
                <a:solidFill>
                  <a:srgbClr val="C00000"/>
                </a:solidFill>
                <a:effectLst/>
                <a:uLnTx/>
                <a:uFillTx/>
                <a:sym typeface="+mn-ea"/>
              </a:rPr>
              <a:t>面向连接时，C/S通信关系一旦建立，通信就是双向的</a:t>
            </a:r>
            <a:r>
              <a:rPr lang="zh-CN" altLang="en-US" dirty="0">
                <a:latin typeface="Times New Roman" panose="02020603050405020304" charset="0"/>
                <a:sym typeface="+mn-ea"/>
              </a:rPr>
              <a:t>，双方地位平等，都可发送和接收数据</a:t>
            </a: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
        <p:nvSpPr>
          <p:cNvPr id="4" name="内容占位符 2"/>
          <p:cNvSpPr>
            <a:spLocks noGrp="1"/>
          </p:cNvSpPr>
          <p:nvPr/>
        </p:nvSpPr>
        <p:spPr>
          <a:xfrm>
            <a:off x="838200" y="1351915"/>
            <a:ext cx="10330815" cy="662940"/>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altLang="zh-CN"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rPr>
              <a:t>(1)</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客户</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服务器（</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C/S, Client/Server</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）方式</a:t>
            </a:r>
            <a:endPar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Tree>
    <p:extLst>
      <p:ext uri="{BB962C8B-B14F-4D97-AF65-F5344CB8AC3E}">
        <p14:creationId xmlns:p14="http://schemas.microsoft.com/office/powerpoint/2010/main" val="1774333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532751"/>
            <a:ext cx="10529570" cy="4848621"/>
          </a:xfrm>
        </p:spPr>
        <p:txBody>
          <a:bodyPr lIns="108000">
            <a:noAutofit/>
          </a:bodyPr>
          <a:lstStyle/>
          <a:p>
            <a:pPr algn="just">
              <a:lnSpc>
                <a:spcPct val="120000"/>
              </a:lnSpc>
            </a:pPr>
            <a:r>
              <a:rPr lang="zh-CN" altLang="en-US" dirty="0">
                <a:solidFill>
                  <a:schemeClr val="tx1"/>
                </a:solidFill>
                <a:sym typeface="+mn-ea"/>
              </a:rPr>
              <a:t>功能较强的计算机可同时运行多个服务器进程</a:t>
            </a:r>
            <a:endParaRPr lang="zh-CN" altLang="en-US" dirty="0">
              <a:solidFill>
                <a:schemeClr val="tx1"/>
              </a:solidFill>
              <a:cs typeface="微软雅黑" panose="020B0503020204020204" pitchFamily="34" charset="-122"/>
              <a:sym typeface="+mn-ea"/>
            </a:endParaRPr>
          </a:p>
          <a:p>
            <a:pPr lvl="1" algn="just">
              <a:lnSpc>
                <a:spcPct val="120000"/>
              </a:lnSpc>
            </a:pPr>
            <a:endParaRPr lang="en-US" altLang="zh-CN" dirty="0">
              <a:cs typeface="微软雅黑" panose="020B0503020204020204" pitchFamily="34" charset="-122"/>
            </a:endParaRPr>
          </a:p>
          <a:p>
            <a:pPr algn="just">
              <a:lnSpc>
                <a:spcPct val="120000"/>
              </a:lnSpc>
            </a:pPr>
            <a:endParaRPr lang="en-US" altLang="zh-CN" dirty="0">
              <a:cs typeface="微软雅黑" panose="020B0503020204020204" pitchFamily="34" charset="-122"/>
            </a:endParaRPr>
          </a:p>
        </p:txBody>
      </p:sp>
      <p:sp>
        <p:nvSpPr>
          <p:cNvPr id="9" name="页脚占位符 8"/>
          <p:cNvSpPr>
            <a:spLocks noGrp="1"/>
          </p:cNvSpPr>
          <p:nvPr>
            <p:ph type="ftr" sz="quarter" idx="11"/>
          </p:nvPr>
        </p:nvSpPr>
        <p:spPr/>
        <p:txBody>
          <a:bodyPr/>
          <a:lstStyle/>
          <a:p>
            <a:r>
              <a:rPr kumimoji="1" lang="zh-CN" altLang="en-US" dirty="0">
                <a:latin typeface="等线" panose="02010600030101010101" pitchFamily="2" charset="-122"/>
                <a:ea typeface="等线" panose="02010600030101010101" pitchFamily="2" charset="-122"/>
              </a:rPr>
              <a:t>引自：计算机网络，谢希仁</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grpSp>
        <p:nvGrpSpPr>
          <p:cNvPr id="65" name="组合 64"/>
          <p:cNvGrpSpPr/>
          <p:nvPr/>
        </p:nvGrpSpPr>
        <p:grpSpPr>
          <a:xfrm>
            <a:off x="2209079" y="2377735"/>
            <a:ext cx="7923431" cy="3796896"/>
            <a:chOff x="2209079" y="2377735"/>
            <a:chExt cx="7923431" cy="3796896"/>
          </a:xfrm>
        </p:grpSpPr>
        <p:sp>
          <p:nvSpPr>
            <p:cNvPr id="70" name="直接连接符 146434"/>
            <p:cNvSpPr>
              <a:spLocks noChangeShapeType="1"/>
            </p:cNvSpPr>
            <p:nvPr/>
          </p:nvSpPr>
          <p:spPr bwMode="auto">
            <a:xfrm>
              <a:off x="6165129" y="5497409"/>
              <a:ext cx="0" cy="324477"/>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 name="矩形 146435"/>
            <p:cNvSpPr>
              <a:spLocks noChangeArrowheads="1"/>
            </p:cNvSpPr>
            <p:nvPr/>
          </p:nvSpPr>
          <p:spPr bwMode="auto">
            <a:xfrm>
              <a:off x="4756699" y="2803174"/>
              <a:ext cx="2898775" cy="2694235"/>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dirty="0">
                <a:latin typeface="等线" panose="02010600030101010101" pitchFamily="2" charset="-122"/>
                <a:ea typeface="等线" panose="02010600030101010101" pitchFamily="2" charset="-122"/>
              </a:endParaRPr>
            </a:p>
          </p:txBody>
        </p:sp>
        <p:sp>
          <p:nvSpPr>
            <p:cNvPr id="72" name="文本框 146436"/>
            <p:cNvSpPr txBox="1">
              <a:spLocks noChangeArrowheads="1"/>
            </p:cNvSpPr>
            <p:nvPr/>
          </p:nvSpPr>
          <p:spPr bwMode="auto">
            <a:xfrm>
              <a:off x="5480599" y="4655421"/>
              <a:ext cx="1452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数据链路层</a:t>
              </a:r>
            </a:p>
          </p:txBody>
        </p:sp>
        <p:sp>
          <p:nvSpPr>
            <p:cNvPr id="73" name="直接连接符 146437"/>
            <p:cNvSpPr>
              <a:spLocks noChangeShapeType="1"/>
            </p:cNvSpPr>
            <p:nvPr/>
          </p:nvSpPr>
          <p:spPr bwMode="auto">
            <a:xfrm>
              <a:off x="4756699" y="5089114"/>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 name="直接连接符 146438"/>
            <p:cNvSpPr>
              <a:spLocks noChangeShapeType="1"/>
            </p:cNvSpPr>
            <p:nvPr/>
          </p:nvSpPr>
          <p:spPr bwMode="auto">
            <a:xfrm>
              <a:off x="4756699" y="4679550"/>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 name="直接连接符 146439"/>
            <p:cNvSpPr>
              <a:spLocks noChangeShapeType="1"/>
            </p:cNvSpPr>
            <p:nvPr/>
          </p:nvSpPr>
          <p:spPr bwMode="auto">
            <a:xfrm>
              <a:off x="4756699" y="4271256"/>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 name="直接连接符 146440"/>
            <p:cNvSpPr>
              <a:spLocks noChangeShapeType="1"/>
            </p:cNvSpPr>
            <p:nvPr/>
          </p:nvSpPr>
          <p:spPr bwMode="auto">
            <a:xfrm>
              <a:off x="4756699" y="3863596"/>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 name="文本框 146441"/>
            <p:cNvSpPr txBox="1">
              <a:spLocks noChangeArrowheads="1"/>
            </p:cNvSpPr>
            <p:nvPr/>
          </p:nvSpPr>
          <p:spPr bwMode="auto">
            <a:xfrm>
              <a:off x="5715549" y="5063715"/>
              <a:ext cx="944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物理层</a:t>
              </a:r>
            </a:p>
          </p:txBody>
        </p:sp>
        <p:sp>
          <p:nvSpPr>
            <p:cNvPr id="78" name="文本框 146442"/>
            <p:cNvSpPr txBox="1">
              <a:spLocks noChangeArrowheads="1"/>
            </p:cNvSpPr>
            <p:nvPr/>
          </p:nvSpPr>
          <p:spPr bwMode="auto">
            <a:xfrm>
              <a:off x="5715549" y="3852167"/>
              <a:ext cx="944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传输层</a:t>
              </a:r>
            </a:p>
          </p:txBody>
        </p:sp>
        <p:sp>
          <p:nvSpPr>
            <p:cNvPr id="79" name="文本框 146443"/>
            <p:cNvSpPr txBox="1">
              <a:spLocks noChangeArrowheads="1"/>
            </p:cNvSpPr>
            <p:nvPr/>
          </p:nvSpPr>
          <p:spPr bwMode="auto">
            <a:xfrm>
              <a:off x="5715549" y="4260461"/>
              <a:ext cx="944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网络层</a:t>
              </a:r>
            </a:p>
          </p:txBody>
        </p:sp>
        <p:sp>
          <p:nvSpPr>
            <p:cNvPr id="80" name="文本框 146444"/>
            <p:cNvSpPr txBox="1">
              <a:spLocks noChangeArrowheads="1"/>
            </p:cNvSpPr>
            <p:nvPr/>
          </p:nvSpPr>
          <p:spPr bwMode="auto">
            <a:xfrm>
              <a:off x="5685704" y="2763170"/>
              <a:ext cx="944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应用层</a:t>
              </a:r>
            </a:p>
          </p:txBody>
        </p:sp>
        <p:sp>
          <p:nvSpPr>
            <p:cNvPr id="81" name="文本框 146445"/>
            <p:cNvSpPr txBox="1">
              <a:spLocks noChangeArrowheads="1"/>
            </p:cNvSpPr>
            <p:nvPr/>
          </p:nvSpPr>
          <p:spPr bwMode="auto">
            <a:xfrm>
              <a:off x="5606329" y="2377735"/>
              <a:ext cx="1198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计算机 </a:t>
              </a:r>
              <a:r>
                <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3</a:t>
              </a:r>
            </a:p>
          </p:txBody>
        </p:sp>
        <p:sp>
          <p:nvSpPr>
            <p:cNvPr id="82" name="直接连接符 146447"/>
            <p:cNvSpPr>
              <a:spLocks noChangeShapeType="1"/>
            </p:cNvSpPr>
            <p:nvPr/>
          </p:nvSpPr>
          <p:spPr bwMode="auto">
            <a:xfrm flipH="1">
              <a:off x="5502973" y="3691833"/>
              <a:ext cx="0" cy="171763"/>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 name="椭圆 146448"/>
            <p:cNvSpPr>
              <a:spLocks noChangeArrowheads="1"/>
            </p:cNvSpPr>
            <p:nvPr/>
          </p:nvSpPr>
          <p:spPr bwMode="auto">
            <a:xfrm>
              <a:off x="4931345" y="3227025"/>
              <a:ext cx="1143258" cy="438139"/>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600" dirty="0">
                <a:latin typeface="等线" panose="02010600030101010101" pitchFamily="2" charset="-122"/>
                <a:ea typeface="等线" panose="02010600030101010101" pitchFamily="2" charset="-122"/>
              </a:endParaRPr>
            </a:p>
          </p:txBody>
        </p:sp>
        <p:sp>
          <p:nvSpPr>
            <p:cNvPr id="84" name="文本框 146449"/>
            <p:cNvSpPr txBox="1">
              <a:spLocks noChangeArrowheads="1"/>
            </p:cNvSpPr>
            <p:nvPr/>
          </p:nvSpPr>
          <p:spPr bwMode="auto">
            <a:xfrm>
              <a:off x="4839249" y="3294616"/>
              <a:ext cx="140525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algn="ctr">
                <a:lnSpc>
                  <a:spcPct val="90000"/>
                </a:lnSpc>
              </a:pPr>
              <a:r>
                <a:rPr lang="zh-CN" altLang="en-US" sz="2000" dirty="0">
                  <a:solidFill>
                    <a:srgbClr val="FFFF66"/>
                  </a:solidFill>
                  <a:latin typeface="等线" panose="02010600030101010101" pitchFamily="2" charset="-122"/>
                  <a:ea typeface="等线" panose="02010600030101010101" pitchFamily="2" charset="-122"/>
                  <a:cs typeface="微软雅黑" panose="020B0503020204020204" pitchFamily="34" charset="-122"/>
                </a:rPr>
                <a:t>服务器</a:t>
              </a:r>
              <a:r>
                <a:rPr lang="en-US" altLang="zh-CN" sz="2000" dirty="0">
                  <a:solidFill>
                    <a:srgbClr val="FFFF66"/>
                  </a:solidFill>
                  <a:latin typeface="等线" panose="02010600030101010101" pitchFamily="2" charset="-122"/>
                  <a:ea typeface="等线" panose="02010600030101010101" pitchFamily="2" charset="-122"/>
                  <a:cs typeface="微软雅黑" panose="020B0503020204020204" pitchFamily="34" charset="-122"/>
                </a:rPr>
                <a:t>1</a:t>
              </a:r>
              <a:endParaRPr lang="en-US" altLang="zh-CN" sz="3200" dirty="0">
                <a:solidFill>
                  <a:srgbClr val="FFFF66"/>
                </a:solidFill>
                <a:latin typeface="等线" panose="02010600030101010101" pitchFamily="2" charset="-122"/>
                <a:ea typeface="等线" panose="02010600030101010101" pitchFamily="2" charset="-122"/>
                <a:cs typeface="微软雅黑" panose="020B0503020204020204" pitchFamily="34" charset="-122"/>
              </a:endParaRPr>
            </a:p>
          </p:txBody>
        </p:sp>
        <p:sp>
          <p:nvSpPr>
            <p:cNvPr id="85" name="直接连接符 146451"/>
            <p:cNvSpPr>
              <a:spLocks noChangeShapeType="1"/>
            </p:cNvSpPr>
            <p:nvPr/>
          </p:nvSpPr>
          <p:spPr bwMode="auto">
            <a:xfrm flipH="1">
              <a:off x="6939829" y="3672246"/>
              <a:ext cx="0" cy="18023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椭圆 146452"/>
            <p:cNvSpPr>
              <a:spLocks noChangeArrowheads="1"/>
            </p:cNvSpPr>
            <p:nvPr/>
          </p:nvSpPr>
          <p:spPr bwMode="auto">
            <a:xfrm>
              <a:off x="6337849" y="3227025"/>
              <a:ext cx="1141730" cy="438139"/>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600" dirty="0">
                <a:latin typeface="等线" panose="02010600030101010101" pitchFamily="2" charset="-122"/>
                <a:ea typeface="等线" panose="02010600030101010101" pitchFamily="2" charset="-122"/>
              </a:endParaRPr>
            </a:p>
          </p:txBody>
        </p:sp>
        <p:sp>
          <p:nvSpPr>
            <p:cNvPr id="87" name="文本框 146453"/>
            <p:cNvSpPr txBox="1">
              <a:spLocks noChangeArrowheads="1"/>
            </p:cNvSpPr>
            <p:nvPr/>
          </p:nvSpPr>
          <p:spPr bwMode="auto">
            <a:xfrm>
              <a:off x="6372784" y="3267921"/>
              <a:ext cx="1105207" cy="3697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dirty="0">
                  <a:solidFill>
                    <a:srgbClr val="FFFF66"/>
                  </a:solidFill>
                  <a:latin typeface="等线" panose="02010600030101010101" pitchFamily="2" charset="-122"/>
                  <a:ea typeface="等线" panose="02010600030101010101" pitchFamily="2" charset="-122"/>
                  <a:cs typeface="微软雅黑" panose="020B0503020204020204" pitchFamily="34" charset="-122"/>
                </a:rPr>
                <a:t>服务器</a:t>
              </a:r>
              <a:r>
                <a:rPr lang="en-US" altLang="zh-CN" sz="2000" dirty="0">
                  <a:solidFill>
                    <a:srgbClr val="FFFF66"/>
                  </a:solidFill>
                  <a:latin typeface="等线" panose="02010600030101010101" pitchFamily="2" charset="-122"/>
                  <a:ea typeface="等线" panose="02010600030101010101" pitchFamily="2" charset="-122"/>
                  <a:cs typeface="微软雅黑" panose="020B0503020204020204" pitchFamily="34" charset="-122"/>
                </a:rPr>
                <a:t>2</a:t>
              </a:r>
              <a:endParaRPr lang="en-US" altLang="zh-CN" sz="3200" dirty="0">
                <a:solidFill>
                  <a:srgbClr val="FFFF66"/>
                </a:solidFill>
                <a:latin typeface="等线" panose="02010600030101010101" pitchFamily="2" charset="-122"/>
                <a:ea typeface="等线" panose="02010600030101010101" pitchFamily="2" charset="-122"/>
                <a:cs typeface="微软雅黑" panose="020B0503020204020204" pitchFamily="34" charset="-122"/>
              </a:endParaRPr>
            </a:p>
          </p:txBody>
        </p:sp>
        <p:sp>
          <p:nvSpPr>
            <p:cNvPr id="88" name="任意多边形 146455"/>
            <p:cNvSpPr>
              <a:spLocks noChangeArrowheads="1"/>
            </p:cNvSpPr>
            <p:nvPr/>
          </p:nvSpPr>
          <p:spPr bwMode="auto">
            <a:xfrm>
              <a:off x="2940917" y="5497091"/>
              <a:ext cx="6454775" cy="652446"/>
            </a:xfrm>
            <a:custGeom>
              <a:avLst/>
              <a:gdLst>
                <a:gd name="T0" fmla="*/ 0 w 3527"/>
                <a:gd name="T1" fmla="*/ 0 h 333"/>
                <a:gd name="T2" fmla="*/ 0 w 3527"/>
                <a:gd name="T3" fmla="*/ 129 h 333"/>
                <a:gd name="T4" fmla="*/ 14 w 3527"/>
                <a:gd name="T5" fmla="*/ 192 h 333"/>
                <a:gd name="T6" fmla="*/ 50 w 3527"/>
                <a:gd name="T7" fmla="*/ 270 h 333"/>
                <a:gd name="T8" fmla="*/ 122 w 3527"/>
                <a:gd name="T9" fmla="*/ 318 h 333"/>
                <a:gd name="T10" fmla="*/ 177 w 3527"/>
                <a:gd name="T11" fmla="*/ 330 h 333"/>
                <a:gd name="T12" fmla="*/ 3360 w 3527"/>
                <a:gd name="T13" fmla="*/ 333 h 333"/>
                <a:gd name="T14" fmla="*/ 3422 w 3527"/>
                <a:gd name="T15" fmla="*/ 318 h 333"/>
                <a:gd name="T16" fmla="*/ 3482 w 3527"/>
                <a:gd name="T17" fmla="*/ 282 h 333"/>
                <a:gd name="T18" fmla="*/ 3512 w 3527"/>
                <a:gd name="T19" fmla="*/ 234 h 333"/>
                <a:gd name="T20" fmla="*/ 3524 w 3527"/>
                <a:gd name="T21" fmla="*/ 162 h 333"/>
                <a:gd name="T22" fmla="*/ 3527 w 3527"/>
                <a:gd name="T2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nvGrpSpPr>
            <p:cNvPr id="89" name="组合 146456"/>
            <p:cNvGrpSpPr/>
            <p:nvPr/>
          </p:nvGrpSpPr>
          <p:grpSpPr bwMode="auto">
            <a:xfrm>
              <a:off x="2209079" y="2377735"/>
              <a:ext cx="1511301" cy="3119356"/>
              <a:chOff x="0" y="0"/>
              <a:chExt cx="952" cy="1965"/>
            </a:xfrm>
          </p:grpSpPr>
          <p:sp>
            <p:nvSpPr>
              <p:cNvPr id="109" name="矩形 146457"/>
              <p:cNvSpPr>
                <a:spLocks noChangeArrowheads="1"/>
              </p:cNvSpPr>
              <p:nvPr/>
            </p:nvSpPr>
            <p:spPr bwMode="auto">
              <a:xfrm>
                <a:off x="0" y="268"/>
                <a:ext cx="941" cy="1697"/>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dirty="0">
                  <a:latin typeface="等线" panose="02010600030101010101" pitchFamily="2" charset="-122"/>
                  <a:ea typeface="等线" panose="02010600030101010101" pitchFamily="2" charset="-122"/>
                </a:endParaRPr>
              </a:p>
            </p:txBody>
          </p:sp>
          <p:sp>
            <p:nvSpPr>
              <p:cNvPr id="110" name="文本框 146458"/>
              <p:cNvSpPr txBox="1">
                <a:spLocks noChangeArrowheads="1"/>
              </p:cNvSpPr>
              <p:nvPr/>
            </p:nvSpPr>
            <p:spPr bwMode="auto">
              <a:xfrm>
                <a:off x="28" y="1435"/>
                <a:ext cx="9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数据链路层</a:t>
                </a:r>
              </a:p>
            </p:txBody>
          </p:sp>
          <p:sp>
            <p:nvSpPr>
              <p:cNvPr id="111" name="直接连接符 146459"/>
              <p:cNvSpPr>
                <a:spLocks noChangeShapeType="1"/>
              </p:cNvSpPr>
              <p:nvPr/>
            </p:nvSpPr>
            <p:spPr bwMode="auto">
              <a:xfrm>
                <a:off x="0" y="1708"/>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 name="直接连接符 146460"/>
              <p:cNvSpPr>
                <a:spLocks noChangeShapeType="1"/>
              </p:cNvSpPr>
              <p:nvPr/>
            </p:nvSpPr>
            <p:spPr bwMode="auto">
              <a:xfrm>
                <a:off x="0" y="1450"/>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 name="直接连接符 146461"/>
              <p:cNvSpPr>
                <a:spLocks noChangeShapeType="1"/>
              </p:cNvSpPr>
              <p:nvPr/>
            </p:nvSpPr>
            <p:spPr bwMode="auto">
              <a:xfrm>
                <a:off x="0" y="1193"/>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 name="直接连接符 146462"/>
              <p:cNvSpPr>
                <a:spLocks noChangeShapeType="1"/>
              </p:cNvSpPr>
              <p:nvPr/>
            </p:nvSpPr>
            <p:spPr bwMode="auto">
              <a:xfrm>
                <a:off x="0" y="936"/>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5" name="文本框 146463"/>
              <p:cNvSpPr txBox="1">
                <a:spLocks noChangeArrowheads="1"/>
              </p:cNvSpPr>
              <p:nvPr/>
            </p:nvSpPr>
            <p:spPr bwMode="auto">
              <a:xfrm>
                <a:off x="175" y="1692"/>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物理层</a:t>
                </a:r>
              </a:p>
            </p:txBody>
          </p:sp>
          <p:sp>
            <p:nvSpPr>
              <p:cNvPr id="116" name="文本框 146464"/>
              <p:cNvSpPr txBox="1">
                <a:spLocks noChangeArrowheads="1"/>
              </p:cNvSpPr>
              <p:nvPr/>
            </p:nvSpPr>
            <p:spPr bwMode="auto">
              <a:xfrm>
                <a:off x="175" y="929"/>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传输层</a:t>
                </a:r>
              </a:p>
            </p:txBody>
          </p:sp>
          <p:sp>
            <p:nvSpPr>
              <p:cNvPr id="117" name="文本框 146465"/>
              <p:cNvSpPr txBox="1">
                <a:spLocks noChangeArrowheads="1"/>
              </p:cNvSpPr>
              <p:nvPr/>
            </p:nvSpPr>
            <p:spPr bwMode="auto">
              <a:xfrm>
                <a:off x="175" y="1186"/>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网络层</a:t>
                </a:r>
              </a:p>
            </p:txBody>
          </p:sp>
          <p:sp>
            <p:nvSpPr>
              <p:cNvPr id="118" name="直接连接符 146466"/>
              <p:cNvSpPr>
                <a:spLocks noChangeShapeType="1"/>
              </p:cNvSpPr>
              <p:nvPr/>
            </p:nvSpPr>
            <p:spPr bwMode="auto">
              <a:xfrm>
                <a:off x="460" y="782"/>
                <a:ext cx="0" cy="141"/>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 name="椭圆 146467"/>
              <p:cNvSpPr>
                <a:spLocks noChangeArrowheads="1"/>
              </p:cNvSpPr>
              <p:nvPr/>
            </p:nvSpPr>
            <p:spPr bwMode="auto">
              <a:xfrm>
                <a:off x="83" y="525"/>
                <a:ext cx="775" cy="269"/>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600" dirty="0">
                  <a:latin typeface="等线" panose="02010600030101010101" pitchFamily="2" charset="-122"/>
                  <a:ea typeface="等线" panose="02010600030101010101" pitchFamily="2" charset="-122"/>
                </a:endParaRPr>
              </a:p>
            </p:txBody>
          </p:sp>
          <p:sp>
            <p:nvSpPr>
              <p:cNvPr id="120" name="文本框 146468"/>
              <p:cNvSpPr txBox="1">
                <a:spLocks noChangeArrowheads="1"/>
              </p:cNvSpPr>
              <p:nvPr/>
            </p:nvSpPr>
            <p:spPr bwMode="auto">
              <a:xfrm>
                <a:off x="180" y="252"/>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应用层</a:t>
                </a:r>
              </a:p>
            </p:txBody>
          </p:sp>
          <p:sp>
            <p:nvSpPr>
              <p:cNvPr id="121" name="文本框 146469"/>
              <p:cNvSpPr txBox="1">
                <a:spLocks noChangeArrowheads="1"/>
              </p:cNvSpPr>
              <p:nvPr/>
            </p:nvSpPr>
            <p:spPr bwMode="auto">
              <a:xfrm>
                <a:off x="137" y="0"/>
                <a:ext cx="75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计算机 </a:t>
                </a:r>
                <a:r>
                  <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1</a:t>
                </a:r>
              </a:p>
            </p:txBody>
          </p:sp>
          <p:sp>
            <p:nvSpPr>
              <p:cNvPr id="122" name="文本框 146470"/>
              <p:cNvSpPr txBox="1">
                <a:spLocks noChangeArrowheads="1"/>
              </p:cNvSpPr>
              <p:nvPr/>
            </p:nvSpPr>
            <p:spPr bwMode="auto">
              <a:xfrm>
                <a:off x="182" y="535"/>
                <a:ext cx="56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客户 </a:t>
                </a:r>
                <a:r>
                  <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1</a:t>
                </a:r>
                <a:endParaRPr lang="en-US" altLang="zh-CN" sz="3200" dirty="0">
                  <a:solidFill>
                    <a:srgbClr val="333399"/>
                  </a:solidFill>
                  <a:latin typeface="等线" panose="02010600030101010101" pitchFamily="2" charset="-122"/>
                  <a:ea typeface="等线" panose="02010600030101010101" pitchFamily="2" charset="-122"/>
                  <a:cs typeface="微软雅黑" panose="020B0503020204020204" pitchFamily="34" charset="-122"/>
                </a:endParaRPr>
              </a:p>
            </p:txBody>
          </p:sp>
        </p:grpSp>
        <p:sp>
          <p:nvSpPr>
            <p:cNvPr id="90" name="矩形 146472"/>
            <p:cNvSpPr>
              <a:spLocks noChangeArrowheads="1"/>
            </p:cNvSpPr>
            <p:nvPr/>
          </p:nvSpPr>
          <p:spPr bwMode="auto">
            <a:xfrm>
              <a:off x="8620992" y="2803174"/>
              <a:ext cx="1493838" cy="2693917"/>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dirty="0">
                <a:latin typeface="等线" panose="02010600030101010101" pitchFamily="2" charset="-122"/>
                <a:ea typeface="等线" panose="02010600030101010101" pitchFamily="2" charset="-122"/>
              </a:endParaRPr>
            </a:p>
          </p:txBody>
        </p:sp>
        <p:sp>
          <p:nvSpPr>
            <p:cNvPr id="91" name="文本框 146473"/>
            <p:cNvSpPr txBox="1">
              <a:spLocks noChangeArrowheads="1"/>
            </p:cNvSpPr>
            <p:nvPr/>
          </p:nvSpPr>
          <p:spPr bwMode="auto">
            <a:xfrm>
              <a:off x="8665442" y="4655738"/>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数据链路层</a:t>
              </a:r>
            </a:p>
          </p:txBody>
        </p:sp>
        <p:sp>
          <p:nvSpPr>
            <p:cNvPr id="92" name="直接连接符 146474"/>
            <p:cNvSpPr>
              <a:spLocks noChangeShapeType="1"/>
            </p:cNvSpPr>
            <p:nvPr/>
          </p:nvSpPr>
          <p:spPr bwMode="auto">
            <a:xfrm>
              <a:off x="8620992" y="5089114"/>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 name="直接连接符 146475"/>
            <p:cNvSpPr>
              <a:spLocks noChangeShapeType="1"/>
            </p:cNvSpPr>
            <p:nvPr/>
          </p:nvSpPr>
          <p:spPr bwMode="auto">
            <a:xfrm>
              <a:off x="8620992" y="4679550"/>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 name="直接连接符 146476"/>
            <p:cNvSpPr>
              <a:spLocks noChangeShapeType="1"/>
            </p:cNvSpPr>
            <p:nvPr/>
          </p:nvSpPr>
          <p:spPr bwMode="auto">
            <a:xfrm>
              <a:off x="8620992" y="4271573"/>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直接连接符 146477"/>
            <p:cNvSpPr>
              <a:spLocks noChangeShapeType="1"/>
            </p:cNvSpPr>
            <p:nvPr/>
          </p:nvSpPr>
          <p:spPr bwMode="auto">
            <a:xfrm>
              <a:off x="8620992" y="3863596"/>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6" name="文本框 146478"/>
            <p:cNvSpPr txBox="1">
              <a:spLocks noChangeArrowheads="1"/>
            </p:cNvSpPr>
            <p:nvPr/>
          </p:nvSpPr>
          <p:spPr bwMode="auto">
            <a:xfrm>
              <a:off x="8900392" y="5063715"/>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物理层</a:t>
              </a:r>
            </a:p>
          </p:txBody>
        </p:sp>
        <p:sp>
          <p:nvSpPr>
            <p:cNvPr id="97" name="文本框 146479"/>
            <p:cNvSpPr txBox="1">
              <a:spLocks noChangeArrowheads="1"/>
            </p:cNvSpPr>
            <p:nvPr/>
          </p:nvSpPr>
          <p:spPr bwMode="auto">
            <a:xfrm>
              <a:off x="8900392" y="3852484"/>
              <a:ext cx="954088" cy="40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传输层</a:t>
              </a:r>
            </a:p>
          </p:txBody>
        </p:sp>
        <p:sp>
          <p:nvSpPr>
            <p:cNvPr id="98" name="文本框 146480"/>
            <p:cNvSpPr txBox="1">
              <a:spLocks noChangeArrowheads="1"/>
            </p:cNvSpPr>
            <p:nvPr/>
          </p:nvSpPr>
          <p:spPr bwMode="auto">
            <a:xfrm>
              <a:off x="8900392" y="426046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网络层</a:t>
              </a:r>
            </a:p>
          </p:txBody>
        </p:sp>
        <p:sp>
          <p:nvSpPr>
            <p:cNvPr id="99" name="直接连接符 146481"/>
            <p:cNvSpPr>
              <a:spLocks noChangeShapeType="1"/>
            </p:cNvSpPr>
            <p:nvPr/>
          </p:nvSpPr>
          <p:spPr bwMode="auto">
            <a:xfrm>
              <a:off x="9394106" y="3665164"/>
              <a:ext cx="0" cy="22065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0" name="椭圆 146482"/>
            <p:cNvSpPr>
              <a:spLocks noChangeArrowheads="1"/>
            </p:cNvSpPr>
            <p:nvPr/>
          </p:nvSpPr>
          <p:spPr bwMode="auto">
            <a:xfrm>
              <a:off x="8752755" y="3227025"/>
              <a:ext cx="1230313" cy="445221"/>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600" dirty="0">
                <a:latin typeface="等线" panose="02010600030101010101" pitchFamily="2" charset="-122"/>
                <a:ea typeface="等线" panose="02010600030101010101" pitchFamily="2" charset="-122"/>
              </a:endParaRPr>
            </a:p>
          </p:txBody>
        </p:sp>
        <p:sp>
          <p:nvSpPr>
            <p:cNvPr id="101" name="文本框 146483"/>
            <p:cNvSpPr txBox="1">
              <a:spLocks noChangeArrowheads="1"/>
            </p:cNvSpPr>
            <p:nvPr/>
          </p:nvSpPr>
          <p:spPr bwMode="auto">
            <a:xfrm>
              <a:off x="8892455" y="2790474"/>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应用层</a:t>
              </a:r>
            </a:p>
          </p:txBody>
        </p:sp>
        <p:sp>
          <p:nvSpPr>
            <p:cNvPr id="102" name="文本框 146484"/>
            <p:cNvSpPr txBox="1">
              <a:spLocks noChangeArrowheads="1"/>
            </p:cNvSpPr>
            <p:nvPr/>
          </p:nvSpPr>
          <p:spPr bwMode="auto">
            <a:xfrm>
              <a:off x="8848005" y="2377735"/>
              <a:ext cx="1198563" cy="398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计算机 </a:t>
              </a:r>
              <a:r>
                <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2</a:t>
              </a:r>
            </a:p>
          </p:txBody>
        </p:sp>
        <p:sp>
          <p:nvSpPr>
            <p:cNvPr id="103" name="文本框 146485"/>
            <p:cNvSpPr txBox="1">
              <a:spLocks noChangeArrowheads="1"/>
            </p:cNvSpPr>
            <p:nvPr/>
          </p:nvSpPr>
          <p:spPr bwMode="auto">
            <a:xfrm>
              <a:off x="8940080" y="3227025"/>
              <a:ext cx="9028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客户 </a:t>
              </a:r>
              <a:r>
                <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2</a:t>
              </a:r>
              <a:endParaRPr lang="en-US" altLang="zh-CN" sz="3200" dirty="0">
                <a:solidFill>
                  <a:srgbClr val="333399"/>
                </a:solidFill>
                <a:latin typeface="等线" panose="02010600030101010101" pitchFamily="2" charset="-122"/>
                <a:ea typeface="等线" panose="02010600030101010101" pitchFamily="2" charset="-122"/>
                <a:cs typeface="微软雅黑" panose="020B0503020204020204" pitchFamily="34" charset="-122"/>
              </a:endParaRPr>
            </a:p>
          </p:txBody>
        </p:sp>
        <p:grpSp>
          <p:nvGrpSpPr>
            <p:cNvPr id="104" name="组合 146486"/>
            <p:cNvGrpSpPr/>
            <p:nvPr/>
          </p:nvGrpSpPr>
          <p:grpSpPr bwMode="auto">
            <a:xfrm>
              <a:off x="5606329" y="5774262"/>
              <a:ext cx="1327149" cy="400369"/>
              <a:chOff x="317" y="208"/>
              <a:chExt cx="596" cy="767"/>
            </a:xfrm>
          </p:grpSpPr>
          <p:sp>
            <p:nvSpPr>
              <p:cNvPr id="108" name="文本框 146488"/>
              <p:cNvSpPr txBox="1">
                <a:spLocks noChangeArrowheads="1"/>
              </p:cNvSpPr>
              <p:nvPr/>
            </p:nvSpPr>
            <p:spPr bwMode="auto">
              <a:xfrm>
                <a:off x="317" y="208"/>
                <a:ext cx="596" cy="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Internet</a:t>
                </a:r>
                <a:endParaRPr lang="zh-CN" altLang="en-US" sz="2000" dirty="0">
                  <a:solidFill>
                    <a:srgbClr val="333399"/>
                  </a:solidFill>
                  <a:latin typeface="等线" panose="02010600030101010101" pitchFamily="2" charset="-122"/>
                  <a:ea typeface="等线" panose="02010600030101010101" pitchFamily="2" charset="-122"/>
                </a:endParaRPr>
              </a:p>
            </p:txBody>
          </p:sp>
        </p:grpSp>
        <p:grpSp>
          <p:nvGrpSpPr>
            <p:cNvPr id="105" name="组合 104"/>
            <p:cNvGrpSpPr/>
            <p:nvPr/>
          </p:nvGrpSpPr>
          <p:grpSpPr bwMode="auto">
            <a:xfrm>
              <a:off x="3613699" y="3455302"/>
              <a:ext cx="5183505" cy="0"/>
              <a:chOff x="0" y="0"/>
              <a:chExt cx="3265" cy="0"/>
            </a:xfrm>
          </p:grpSpPr>
          <p:sp>
            <p:nvSpPr>
              <p:cNvPr id="106" name="直接连接符 146490"/>
              <p:cNvSpPr>
                <a:spLocks noChangeShapeType="1"/>
              </p:cNvSpPr>
              <p:nvPr/>
            </p:nvSpPr>
            <p:spPr bwMode="auto">
              <a:xfrm>
                <a:off x="2435" y="0"/>
                <a:ext cx="830" cy="0"/>
              </a:xfrm>
              <a:prstGeom prst="line">
                <a:avLst/>
              </a:prstGeom>
              <a:noFill/>
              <a:ln w="38100">
                <a:solidFill>
                  <a:srgbClr val="33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7" name="直接连接符 146491"/>
              <p:cNvSpPr>
                <a:spLocks noChangeShapeType="1"/>
              </p:cNvSpPr>
              <p:nvPr/>
            </p:nvSpPr>
            <p:spPr bwMode="auto">
              <a:xfrm>
                <a:off x="0" y="0"/>
                <a:ext cx="830" cy="0"/>
              </a:xfrm>
              <a:prstGeom prst="line">
                <a:avLst/>
              </a:prstGeom>
              <a:noFill/>
              <a:ln w="38100">
                <a:solidFill>
                  <a:srgbClr val="33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3961370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436914"/>
            <a:ext cx="10529570" cy="4932771"/>
          </a:xfrm>
        </p:spPr>
        <p:txBody>
          <a:bodyPr>
            <a:noAutofit/>
          </a:bodyPr>
          <a:lstStyle/>
          <a:p>
            <a:pPr algn="just">
              <a:lnSpc>
                <a:spcPct val="120000"/>
              </a:lnSpc>
            </a:pPr>
            <a:r>
              <a:rPr lang="zh-CN" altLang="zh-CN" dirty="0">
                <a:cs typeface="微软雅黑" panose="020B0503020204020204" pitchFamily="34" charset="-122"/>
                <a:sym typeface="+mn-ea"/>
              </a:rPr>
              <a:t>客户进程的特点</a:t>
            </a:r>
            <a:endParaRPr kumimoji="1" lang="zh-CN" altLang="zh-CN" dirty="0">
              <a:cs typeface="微软雅黑" panose="020B0503020204020204" pitchFamily="34" charset="-122"/>
              <a:sym typeface="+mn-ea"/>
            </a:endParaRPr>
          </a:p>
          <a:p>
            <a:pPr lvl="1" algn="just">
              <a:lnSpc>
                <a:spcPct val="120000"/>
              </a:lnSpc>
            </a:pPr>
            <a:r>
              <a:rPr lang="zh-CN" altLang="en-US" dirty="0">
                <a:solidFill>
                  <a:schemeClr val="tx1"/>
                </a:solidFill>
                <a:sym typeface="+mn-ea"/>
              </a:rPr>
              <a:t>在进行通信时临时成为客户，它也可在本地进行其它的计算</a:t>
            </a:r>
            <a:endParaRPr lang="zh-CN" altLang="en-US" dirty="0">
              <a:solidFill>
                <a:schemeClr val="tx1"/>
              </a:solidFill>
              <a:cs typeface="微软雅黑" panose="020B0503020204020204" pitchFamily="34" charset="-122"/>
              <a:sym typeface="+mn-ea"/>
            </a:endParaRPr>
          </a:p>
          <a:p>
            <a:pPr lvl="1" algn="just">
              <a:lnSpc>
                <a:spcPct val="120000"/>
              </a:lnSpc>
            </a:pPr>
            <a:r>
              <a:rPr lang="zh-CN" altLang="en-US" dirty="0">
                <a:sym typeface="+mn-ea"/>
              </a:rPr>
              <a:t>在用户计算机上运行，在打算通信时</a:t>
            </a:r>
            <a:r>
              <a:rPr kumimoji="1" lang="zh-CN" altLang="en-US" noProof="0" dirty="0">
                <a:ln>
                  <a:noFill/>
                </a:ln>
                <a:solidFill>
                  <a:srgbClr val="C00000"/>
                </a:solidFill>
                <a:effectLst/>
                <a:uLnTx/>
                <a:uFillTx/>
                <a:sym typeface="+mn-ea"/>
              </a:rPr>
              <a:t>主动</a:t>
            </a:r>
            <a:r>
              <a:rPr lang="zh-CN" altLang="en-US" dirty="0">
                <a:sym typeface="+mn-ea"/>
              </a:rPr>
              <a:t>向远端服务器</a:t>
            </a:r>
            <a:r>
              <a:rPr kumimoji="1" lang="zh-CN" altLang="en-US" noProof="0" dirty="0">
                <a:ln>
                  <a:noFill/>
                </a:ln>
                <a:solidFill>
                  <a:srgbClr val="C00000"/>
                </a:solidFill>
                <a:effectLst/>
                <a:uLnTx/>
                <a:uFillTx/>
                <a:sym typeface="+mn-ea"/>
              </a:rPr>
              <a:t>发起通信</a:t>
            </a:r>
            <a:endParaRPr lang="zh-CN" altLang="en-US" b="1" dirty="0">
              <a:solidFill>
                <a:srgbClr val="FF0000"/>
              </a:solidFill>
              <a:latin typeface="宋体" panose="02010600030101010101" pitchFamily="2" charset="-122"/>
              <a:ea typeface="宋体" panose="02010600030101010101" pitchFamily="2" charset="-122"/>
              <a:sym typeface="+mn-ea"/>
            </a:endParaRPr>
          </a:p>
          <a:p>
            <a:pPr lvl="1" algn="just">
              <a:lnSpc>
                <a:spcPct val="120000"/>
              </a:lnSpc>
            </a:pPr>
            <a:r>
              <a:rPr kumimoji="1" lang="zh-CN" altLang="en-US" noProof="0" dirty="0">
                <a:ln>
                  <a:noFill/>
                </a:ln>
                <a:solidFill>
                  <a:srgbClr val="C00000"/>
                </a:solidFill>
                <a:effectLst/>
                <a:uLnTx/>
                <a:uFillTx/>
                <a:sym typeface="Arial" panose="020B0604020202020204" pitchFamily="34" charset="0"/>
              </a:rPr>
              <a:t>客户方必须知道服务器进程所在主机的</a:t>
            </a:r>
            <a:r>
              <a:rPr kumimoji="1" lang="en-US" altLang="zh-CN" noProof="0" dirty="0">
                <a:ln>
                  <a:noFill/>
                </a:ln>
                <a:solidFill>
                  <a:srgbClr val="C00000"/>
                </a:solidFill>
                <a:effectLst/>
                <a:uLnTx/>
                <a:uFillTx/>
                <a:sym typeface="Arial" panose="020B0604020202020204" pitchFamily="34" charset="0"/>
              </a:rPr>
              <a:t>IP</a:t>
            </a:r>
            <a:r>
              <a:rPr kumimoji="1" lang="zh-CN" altLang="en-US" noProof="0" dirty="0">
                <a:ln>
                  <a:noFill/>
                </a:ln>
                <a:solidFill>
                  <a:srgbClr val="C00000"/>
                </a:solidFill>
                <a:effectLst/>
                <a:uLnTx/>
                <a:uFillTx/>
                <a:sym typeface="Arial" panose="020B0604020202020204" pitchFamily="34" charset="0"/>
              </a:rPr>
              <a:t>地址才能发出服务请求</a:t>
            </a:r>
          </a:p>
          <a:p>
            <a:pPr lvl="1" algn="just">
              <a:lnSpc>
                <a:spcPct val="120000"/>
              </a:lnSpc>
            </a:pPr>
            <a:r>
              <a:rPr lang="zh-CN" altLang="en-US" dirty="0">
                <a:sym typeface="+mn-ea"/>
              </a:rPr>
              <a:t>需要时可以与多个服务器进行通信</a:t>
            </a:r>
          </a:p>
          <a:p>
            <a:pPr lvl="1" algn="just">
              <a:lnSpc>
                <a:spcPct val="120000"/>
              </a:lnSpc>
            </a:pP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Tree>
    <p:extLst>
      <p:ext uri="{BB962C8B-B14F-4D97-AF65-F5344CB8AC3E}">
        <p14:creationId xmlns:p14="http://schemas.microsoft.com/office/powerpoint/2010/main" val="1052518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449978"/>
            <a:ext cx="10720754" cy="4919708"/>
          </a:xfrm>
        </p:spPr>
        <p:txBody>
          <a:bodyPr>
            <a:noAutofit/>
          </a:bodyPr>
          <a:lstStyle/>
          <a:p>
            <a:pPr algn="just">
              <a:lnSpc>
                <a:spcPct val="120000"/>
              </a:lnSpc>
            </a:pPr>
            <a:r>
              <a:rPr lang="zh-CN" altLang="zh-CN" dirty="0">
                <a:cs typeface="微软雅黑" panose="020B0503020204020204" pitchFamily="34" charset="-122"/>
                <a:sym typeface="+mn-ea"/>
              </a:rPr>
              <a:t>服务器进程的特点</a:t>
            </a:r>
            <a:endParaRPr kumimoji="1" lang="zh-CN" altLang="zh-CN" dirty="0">
              <a:cs typeface="微软雅黑" panose="020B0503020204020204" pitchFamily="34" charset="-122"/>
              <a:sym typeface="+mn-ea"/>
            </a:endParaRPr>
          </a:p>
          <a:p>
            <a:pPr lvl="1" algn="just">
              <a:lnSpc>
                <a:spcPct val="120000"/>
              </a:lnSpc>
            </a:pPr>
            <a:r>
              <a:rPr lang="zh-CN" altLang="en-US" dirty="0">
                <a:sym typeface="+mn-ea"/>
              </a:rPr>
              <a:t>专门用来提供某种服务的程序，可“同时”处理多个远地或本地客户的请求</a:t>
            </a:r>
            <a:endParaRPr lang="zh-CN" altLang="en-US" dirty="0">
              <a:solidFill>
                <a:schemeClr val="tx1"/>
              </a:solidFill>
              <a:sym typeface="+mn-ea"/>
            </a:endParaRPr>
          </a:p>
          <a:p>
            <a:pPr lvl="1" algn="just">
              <a:lnSpc>
                <a:spcPct val="120000"/>
              </a:lnSpc>
            </a:pPr>
            <a:r>
              <a:rPr kumimoji="1" lang="zh-CN" altLang="en-US" noProof="0" dirty="0">
                <a:ln>
                  <a:noFill/>
                </a:ln>
                <a:solidFill>
                  <a:srgbClr val="C00000"/>
                </a:solidFill>
                <a:effectLst/>
                <a:uLnTx/>
                <a:uFillTx/>
                <a:sym typeface="+mn-ea"/>
              </a:rPr>
              <a:t>必须始终处于运行状态才有可能提供服务</a:t>
            </a:r>
          </a:p>
          <a:p>
            <a:pPr lvl="1" algn="just">
              <a:lnSpc>
                <a:spcPct val="120000"/>
              </a:lnSpc>
            </a:pPr>
            <a:r>
              <a:rPr lang="zh-CN" altLang="en-US" dirty="0">
                <a:sym typeface="+mn-ea"/>
              </a:rPr>
              <a:t>通信开始之前服务器进程不需要知道客户进程所在主机的</a:t>
            </a:r>
            <a:r>
              <a:rPr lang="en-US" altLang="zh-CN" dirty="0">
                <a:sym typeface="+mn-ea"/>
              </a:rPr>
              <a:t>IP</a:t>
            </a:r>
            <a:r>
              <a:rPr lang="zh-CN" altLang="en-US" dirty="0">
                <a:sym typeface="+mn-ea"/>
              </a:rPr>
              <a:t>地址，无论客户请求来自哪里，服务器进程被动等待服务请求的到来即可</a:t>
            </a:r>
          </a:p>
          <a:p>
            <a:pPr lvl="1" algn="just">
              <a:lnSpc>
                <a:spcPct val="120000"/>
              </a:lnSpc>
            </a:pPr>
            <a:r>
              <a:rPr lang="zh-CN" altLang="en-US" dirty="0">
                <a:sym typeface="+mn-ea"/>
              </a:rPr>
              <a:t>通常是当系统启动时即自动调用并</a:t>
            </a:r>
            <a:r>
              <a:rPr kumimoji="1" lang="zh-CN" altLang="en-US" noProof="0" dirty="0">
                <a:ln>
                  <a:noFill/>
                </a:ln>
                <a:solidFill>
                  <a:srgbClr val="C00000"/>
                </a:solidFill>
                <a:effectLst/>
                <a:uLnTx/>
                <a:uFillTx/>
                <a:sym typeface="+mn-ea"/>
              </a:rPr>
              <a:t>一直运行着</a:t>
            </a:r>
            <a:endParaRPr kumimoji="1" lang="en-US" altLang="zh-CN" noProof="0" dirty="0">
              <a:ln>
                <a:noFill/>
              </a:ln>
              <a:solidFill>
                <a:srgbClr val="C00000"/>
              </a:solidFill>
              <a:effectLst/>
              <a:uLnTx/>
              <a:uFillTx/>
              <a:sym typeface="+mn-ea"/>
            </a:endParaRPr>
          </a:p>
          <a:p>
            <a:pPr lvl="1" algn="just">
              <a:lnSpc>
                <a:spcPct val="120000"/>
              </a:lnSpc>
            </a:pPr>
            <a:r>
              <a:rPr lang="zh-CN" altLang="en-US" dirty="0">
                <a:sym typeface="+mn-ea"/>
              </a:rPr>
              <a:t>某些服务器程序也可以由用户或其它进程在通信前启动</a:t>
            </a:r>
            <a:endParaRPr lang="zh-CN" altLang="en-US" dirty="0">
              <a:sym typeface="Arial" panose="020B0604020202020204" pitchFamily="34" charset="0"/>
            </a:endParaRPr>
          </a:p>
          <a:p>
            <a:pPr lvl="1" algn="just">
              <a:lnSpc>
                <a:spcPct val="120000"/>
              </a:lnSpc>
            </a:pPr>
            <a:r>
              <a:rPr kumimoji="1" lang="zh-CN" altLang="en-US" noProof="0" dirty="0">
                <a:ln>
                  <a:noFill/>
                </a:ln>
                <a:solidFill>
                  <a:srgbClr val="C00000"/>
                </a:solidFill>
                <a:effectLst/>
                <a:uLnTx/>
                <a:uFillTx/>
                <a:sym typeface="+mn-ea"/>
              </a:rPr>
              <a:t>被动等待</a:t>
            </a:r>
            <a:r>
              <a:rPr lang="zh-CN" altLang="en-US" dirty="0">
                <a:sym typeface="+mn-ea"/>
              </a:rPr>
              <a:t>并接受来自多个客户的通信请求</a:t>
            </a:r>
          </a:p>
          <a:p>
            <a:pPr lvl="1" algn="just">
              <a:lnSpc>
                <a:spcPct val="120000"/>
              </a:lnSpc>
            </a:pPr>
            <a:endParaRPr lang="zh-CN" altLang="en-US" dirty="0">
              <a:sym typeface="+mn-ea"/>
            </a:endParaRPr>
          </a:p>
          <a:p>
            <a:pPr lvl="1" algn="just">
              <a:lnSpc>
                <a:spcPct val="120000"/>
              </a:lnSpc>
            </a:pP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Tree>
    <p:extLst>
      <p:ext uri="{BB962C8B-B14F-4D97-AF65-F5344CB8AC3E}">
        <p14:creationId xmlns:p14="http://schemas.microsoft.com/office/powerpoint/2010/main" val="1203496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968500"/>
            <a:ext cx="10529570" cy="4355465"/>
          </a:xfrm>
        </p:spPr>
        <p:txBody>
          <a:bodyPr>
            <a:noAutofit/>
          </a:bodyPr>
          <a:lstStyle/>
          <a:p>
            <a:pPr algn="just">
              <a:lnSpc>
                <a:spcPct val="120000"/>
              </a:lnSpc>
            </a:pPr>
            <a:r>
              <a:rPr lang="zh-CN" altLang="en-US" dirty="0">
                <a:sym typeface="+mn-ea"/>
              </a:rPr>
              <a:t>B/S方式可以看做</a:t>
            </a:r>
            <a:r>
              <a:rPr kumimoji="1" lang="en-US" altLang="zh-CN" noProof="0" dirty="0">
                <a:ln>
                  <a:noFill/>
                </a:ln>
                <a:solidFill>
                  <a:srgbClr val="C00000"/>
                </a:solidFill>
                <a:effectLst/>
                <a:uLnTx/>
                <a:uFillTx/>
                <a:sym typeface="+mn-ea"/>
              </a:rPr>
              <a:t>C/S</a:t>
            </a:r>
            <a:r>
              <a:rPr kumimoji="1" lang="zh-CN" altLang="en-US" noProof="0" dirty="0">
                <a:ln>
                  <a:noFill/>
                </a:ln>
                <a:solidFill>
                  <a:srgbClr val="C00000"/>
                </a:solidFill>
                <a:effectLst/>
                <a:uLnTx/>
                <a:uFillTx/>
                <a:sym typeface="+mn-ea"/>
              </a:rPr>
              <a:t>方式</a:t>
            </a:r>
            <a:r>
              <a:rPr lang="zh-CN" altLang="en-US" dirty="0">
                <a:sym typeface="+mn-ea"/>
              </a:rPr>
              <a:t>的特例，即客户软件改为浏览器了</a:t>
            </a:r>
            <a:endParaRPr lang="zh-CN" altLang="en-US" dirty="0">
              <a:solidFill>
                <a:schemeClr val="tx1"/>
              </a:solidFill>
              <a:cs typeface="微软雅黑" panose="020B0503020204020204" pitchFamily="34" charset="-122"/>
              <a:sym typeface="+mn-ea"/>
            </a:endParaRPr>
          </a:p>
          <a:p>
            <a:pPr algn="just">
              <a:lnSpc>
                <a:spcPct val="120000"/>
              </a:lnSpc>
            </a:pPr>
            <a:r>
              <a:rPr lang="zh-CN" altLang="en-US" dirty="0">
                <a:sym typeface="+mn-ea"/>
              </a:rPr>
              <a:t>B/S方式采取</a:t>
            </a:r>
            <a:r>
              <a:rPr kumimoji="1" lang="en-US" altLang="zh-CN" noProof="0" dirty="0">
                <a:ln>
                  <a:noFill/>
                </a:ln>
                <a:solidFill>
                  <a:srgbClr val="C00000"/>
                </a:solidFill>
                <a:effectLst/>
                <a:uLnTx/>
                <a:uFillTx/>
                <a:sym typeface="+mn-ea"/>
              </a:rPr>
              <a:t>浏览器请求、服务器响应</a:t>
            </a:r>
            <a:r>
              <a:rPr lang="zh-CN" altLang="en-US" dirty="0">
                <a:sym typeface="+mn-ea"/>
              </a:rPr>
              <a:t>的工作模式</a:t>
            </a:r>
          </a:p>
          <a:p>
            <a:pPr algn="just">
              <a:lnSpc>
                <a:spcPct val="120000"/>
              </a:lnSpc>
            </a:pPr>
            <a:r>
              <a:rPr lang="zh-CN" altLang="en-US" dirty="0">
                <a:sym typeface="+mn-ea"/>
              </a:rPr>
              <a:t>在B/S方式下，</a:t>
            </a:r>
            <a:r>
              <a:rPr kumimoji="1" lang="en-US" altLang="zh-CN" noProof="0" dirty="0">
                <a:ln>
                  <a:noFill/>
                </a:ln>
                <a:solidFill>
                  <a:srgbClr val="C00000"/>
                </a:solidFill>
                <a:effectLst/>
                <a:uLnTx/>
                <a:uFillTx/>
                <a:sym typeface="+mn-ea"/>
              </a:rPr>
              <a:t>用户界面</a:t>
            </a:r>
            <a:r>
              <a:rPr lang="zh-CN" altLang="en-US" dirty="0">
                <a:sym typeface="+mn-ea"/>
              </a:rPr>
              <a:t>完全通过</a:t>
            </a:r>
            <a:r>
              <a:rPr kumimoji="1" lang="en-US" altLang="zh-CN" noProof="0" dirty="0" err="1">
                <a:ln>
                  <a:noFill/>
                </a:ln>
                <a:solidFill>
                  <a:srgbClr val="C00000"/>
                </a:solidFill>
                <a:effectLst/>
                <a:uLnTx/>
                <a:uFillTx/>
                <a:sym typeface="+mn-ea"/>
              </a:rPr>
              <a:t>Web浏览器</a:t>
            </a:r>
            <a:r>
              <a:rPr lang="zh-CN" altLang="en-US" dirty="0">
                <a:sym typeface="+mn-ea"/>
              </a:rPr>
              <a:t>实现，一部分事务逻辑在前端实现，但主要的事务逻辑在</a:t>
            </a:r>
            <a:r>
              <a:rPr kumimoji="1" lang="en-US" altLang="zh-CN" noProof="0" dirty="0">
                <a:ln>
                  <a:noFill/>
                </a:ln>
                <a:solidFill>
                  <a:srgbClr val="C00000"/>
                </a:solidFill>
                <a:effectLst/>
                <a:uLnTx/>
                <a:uFillTx/>
                <a:sym typeface="+mn-ea"/>
              </a:rPr>
              <a:t>服务器端</a:t>
            </a:r>
            <a:r>
              <a:rPr lang="zh-CN" altLang="en-US" dirty="0">
                <a:sym typeface="+mn-ea"/>
              </a:rPr>
              <a:t>实现</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
        <p:nvSpPr>
          <p:cNvPr id="4" name="内容占位符 2"/>
          <p:cNvSpPr>
            <a:spLocks noGrp="1"/>
          </p:cNvSpPr>
          <p:nvPr/>
        </p:nvSpPr>
        <p:spPr>
          <a:xfrm>
            <a:off x="838200" y="1351915"/>
            <a:ext cx="10696303" cy="785495"/>
          </a:xfrm>
          <a:prstGeom prst="rect">
            <a:avLst/>
          </a:prstGeom>
        </p:spPr>
        <p:txBody>
          <a:bodyPr vert="horz" lIns="91440" tIns="45720" rIns="91440" bIns="45720" rtlCol="0">
            <a:no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altLang="zh-CN" sz="2700"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rPr>
              <a:t>(2)</a:t>
            </a:r>
            <a:r>
              <a:rPr lang="zh-CN" altLang="en-US" sz="2700" dirty="0">
                <a:latin typeface="等线" panose="02010600030101010101" pitchFamily="2" charset="-122"/>
                <a:ea typeface="等线" panose="02010600030101010101" pitchFamily="2" charset="-122"/>
                <a:cs typeface="微软雅黑" panose="020B0503020204020204" pitchFamily="34" charset="-122"/>
                <a:sym typeface="+mn-ea"/>
              </a:rPr>
              <a:t>浏览器</a:t>
            </a:r>
            <a:r>
              <a:rPr lang="en-US" altLang="zh-CN" sz="2700" dirty="0">
                <a:latin typeface="等线" panose="02010600030101010101" pitchFamily="2" charset="-122"/>
                <a:ea typeface="等线" panose="02010600030101010101" pitchFamily="2" charset="-122"/>
                <a:cs typeface="微软雅黑" panose="020B0503020204020204" pitchFamily="34" charset="-122"/>
                <a:sym typeface="+mn-ea"/>
              </a:rPr>
              <a:t>/</a:t>
            </a:r>
            <a:r>
              <a:rPr lang="zh-CN" altLang="en-US" sz="2700" dirty="0">
                <a:latin typeface="等线" panose="02010600030101010101" pitchFamily="2" charset="-122"/>
                <a:ea typeface="等线" panose="02010600030101010101" pitchFamily="2" charset="-122"/>
                <a:cs typeface="微软雅黑" panose="020B0503020204020204" pitchFamily="34" charset="-122"/>
                <a:sym typeface="+mn-ea"/>
              </a:rPr>
              <a:t>服务器</a:t>
            </a:r>
            <a:r>
              <a:rPr lang="en-US" altLang="zh-CN" sz="2700" dirty="0">
                <a:latin typeface="等线" panose="02010600030101010101" pitchFamily="2" charset="-122"/>
                <a:ea typeface="等线" panose="02010600030101010101" pitchFamily="2" charset="-122"/>
                <a:cs typeface="微软雅黑" panose="020B0503020204020204" pitchFamily="34" charset="-122"/>
                <a:sym typeface="+mn-ea"/>
              </a:rPr>
              <a:t>(B</a:t>
            </a:r>
            <a:r>
              <a:rPr lang="zh-CN" altLang="en-US" sz="2700" dirty="0">
                <a:latin typeface="等线" panose="02010600030101010101" pitchFamily="2" charset="-122"/>
                <a:ea typeface="等线" panose="02010600030101010101" pitchFamily="2" charset="-122"/>
                <a:cs typeface="微软雅黑" panose="020B0503020204020204" pitchFamily="34" charset="-122"/>
                <a:sym typeface="+mn-ea"/>
              </a:rPr>
              <a:t>/S，</a:t>
            </a:r>
            <a:r>
              <a:rPr lang="en-US" altLang="zh-CN" sz="2700" dirty="0">
                <a:latin typeface="等线" panose="02010600030101010101" pitchFamily="2" charset="-122"/>
                <a:ea typeface="等线" panose="02010600030101010101" pitchFamily="2" charset="-122"/>
                <a:cs typeface="微软雅黑" panose="020B0503020204020204" pitchFamily="34" charset="-122"/>
                <a:sym typeface="+mn-ea"/>
              </a:rPr>
              <a:t>Browser/Server)</a:t>
            </a:r>
            <a:r>
              <a:rPr lang="zh-CN" altLang="en-US" sz="2700" dirty="0">
                <a:latin typeface="等线" panose="02010600030101010101" pitchFamily="2" charset="-122"/>
                <a:ea typeface="等线" panose="02010600030101010101" pitchFamily="2" charset="-122"/>
                <a:cs typeface="微软雅黑" panose="020B0503020204020204" pitchFamily="34" charset="-122"/>
                <a:sym typeface="+mn-ea"/>
              </a:rPr>
              <a:t> 方式</a:t>
            </a:r>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
        <p:nvSpPr>
          <p:cNvPr id="7" name="矩形: 圆角 6"/>
          <p:cNvSpPr/>
          <p:nvPr/>
        </p:nvSpPr>
        <p:spPr>
          <a:xfrm>
            <a:off x="2525336" y="4665356"/>
            <a:ext cx="1191280" cy="929509"/>
          </a:xfrm>
          <a:prstGeom prst="round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等线" panose="02010600030101010101" pitchFamily="2" charset="-122"/>
              <a:ea typeface="等线" panose="02010600030101010101" pitchFamily="2" charset="-122"/>
              <a:cs typeface="Times New Roman" panose="02020603050405020304" charset="0"/>
            </a:endParaRPr>
          </a:p>
        </p:txBody>
      </p:sp>
      <p:sp>
        <p:nvSpPr>
          <p:cNvPr id="8" name="文本框 7"/>
          <p:cNvSpPr txBox="1"/>
          <p:nvPr/>
        </p:nvSpPr>
        <p:spPr>
          <a:xfrm>
            <a:off x="2645353" y="4853840"/>
            <a:ext cx="951246" cy="591916"/>
          </a:xfrm>
          <a:prstGeom prst="rect">
            <a:avLst/>
          </a:prstGeom>
          <a:noFill/>
        </p:spPr>
        <p:txBody>
          <a:bodyPr wrap="square" rtlCol="0">
            <a:spAutoFit/>
          </a:bodyPr>
          <a:lstStyle/>
          <a:p>
            <a:pPr algn="ctr">
              <a:lnSpc>
                <a:spcPct val="80000"/>
              </a:lnSpc>
            </a:pPr>
            <a:r>
              <a:rPr lang="zh-CN" altLang="en-US" sz="2000" dirty="0">
                <a:solidFill>
                  <a:schemeClr val="tx1"/>
                </a:solidFill>
                <a:latin typeface="等线" panose="02010600030101010101" pitchFamily="2" charset="-122"/>
                <a:ea typeface="等线" panose="02010600030101010101" pitchFamily="2" charset="-122"/>
              </a:rPr>
              <a:t>客户</a:t>
            </a:r>
          </a:p>
          <a:p>
            <a:pPr algn="ctr">
              <a:lnSpc>
                <a:spcPct val="80000"/>
              </a:lnSpc>
            </a:pPr>
            <a:r>
              <a:rPr lang="zh-CN" altLang="en-US" sz="2000" dirty="0">
                <a:solidFill>
                  <a:schemeClr val="tx1"/>
                </a:solidFill>
                <a:latin typeface="等线" panose="02010600030101010101" pitchFamily="2" charset="-122"/>
                <a:ea typeface="等线" panose="02010600030101010101" pitchFamily="2" charset="-122"/>
              </a:rPr>
              <a:t>浏览器</a:t>
            </a:r>
          </a:p>
        </p:txBody>
      </p:sp>
      <p:sp>
        <p:nvSpPr>
          <p:cNvPr id="12" name="矩形: 圆角 11"/>
          <p:cNvSpPr/>
          <p:nvPr/>
        </p:nvSpPr>
        <p:spPr>
          <a:xfrm>
            <a:off x="5429875" y="4665356"/>
            <a:ext cx="1191280" cy="929509"/>
          </a:xfrm>
          <a:prstGeom prst="round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等线" panose="02010600030101010101" pitchFamily="2" charset="-122"/>
              <a:ea typeface="等线" panose="02010600030101010101" pitchFamily="2" charset="-122"/>
              <a:cs typeface="Times New Roman" panose="02020603050405020304" charset="0"/>
            </a:endParaRPr>
          </a:p>
        </p:txBody>
      </p:sp>
      <p:sp>
        <p:nvSpPr>
          <p:cNvPr id="13" name="文本框 12"/>
          <p:cNvSpPr txBox="1"/>
          <p:nvPr/>
        </p:nvSpPr>
        <p:spPr>
          <a:xfrm>
            <a:off x="5502266" y="4868686"/>
            <a:ext cx="1071898" cy="591916"/>
          </a:xfrm>
          <a:prstGeom prst="rect">
            <a:avLst/>
          </a:prstGeom>
          <a:noFill/>
        </p:spPr>
        <p:txBody>
          <a:bodyPr wrap="square" rtlCol="0">
            <a:spAutoFit/>
          </a:bodyPr>
          <a:lstStyle/>
          <a:p>
            <a:pPr algn="ctr">
              <a:lnSpc>
                <a:spcPct val="80000"/>
              </a:lnSpc>
            </a:pPr>
            <a:r>
              <a:rPr lang="en-US" altLang="zh-CN"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WEB</a:t>
            </a:r>
          </a:p>
          <a:p>
            <a:pPr algn="ctr">
              <a:lnSpc>
                <a:spcPct val="80000"/>
              </a:lnSpc>
            </a:pPr>
            <a:r>
              <a:rPr lang="zh-CN" altLang="en-US"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服务器</a:t>
            </a:r>
          </a:p>
        </p:txBody>
      </p:sp>
      <p:sp>
        <p:nvSpPr>
          <p:cNvPr id="14" name="矩形: 圆角 13"/>
          <p:cNvSpPr/>
          <p:nvPr/>
        </p:nvSpPr>
        <p:spPr>
          <a:xfrm>
            <a:off x="8178202" y="4665356"/>
            <a:ext cx="1191280" cy="929509"/>
          </a:xfrm>
          <a:prstGeom prst="round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等线" panose="02010600030101010101" pitchFamily="2" charset="-122"/>
              <a:ea typeface="等线" panose="02010600030101010101" pitchFamily="2" charset="-122"/>
              <a:cs typeface="Times New Roman" panose="02020603050405020304" charset="0"/>
            </a:endParaRPr>
          </a:p>
        </p:txBody>
      </p:sp>
      <p:sp>
        <p:nvSpPr>
          <p:cNvPr id="15" name="文本框 14"/>
          <p:cNvSpPr txBox="1"/>
          <p:nvPr/>
        </p:nvSpPr>
        <p:spPr>
          <a:xfrm>
            <a:off x="8282979" y="4868686"/>
            <a:ext cx="951246" cy="591916"/>
          </a:xfrm>
          <a:prstGeom prst="rect">
            <a:avLst/>
          </a:prstGeom>
          <a:noFill/>
        </p:spPr>
        <p:txBody>
          <a:bodyPr wrap="square" rtlCol="0">
            <a:spAutoFit/>
          </a:bodyPr>
          <a:lstStyle/>
          <a:p>
            <a:pPr>
              <a:lnSpc>
                <a:spcPct val="80000"/>
              </a:lnSpc>
            </a:pPr>
            <a:r>
              <a:rPr lang="zh-CN" altLang="en-US" sz="2000" dirty="0">
                <a:solidFill>
                  <a:schemeClr val="tx1"/>
                </a:solidFill>
                <a:latin typeface="等线" panose="02010600030101010101" pitchFamily="2" charset="-122"/>
                <a:ea typeface="等线" panose="02010600030101010101" pitchFamily="2" charset="-122"/>
              </a:rPr>
              <a:t>数据库服务器</a:t>
            </a:r>
          </a:p>
        </p:txBody>
      </p:sp>
      <p:cxnSp>
        <p:nvCxnSpPr>
          <p:cNvPr id="17" name="直接箭头连接符 16"/>
          <p:cNvCxnSpPr/>
          <p:nvPr/>
        </p:nvCxnSpPr>
        <p:spPr>
          <a:xfrm>
            <a:off x="3901404" y="4948082"/>
            <a:ext cx="12008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6806579" y="4948082"/>
            <a:ext cx="12008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3901404" y="5229516"/>
            <a:ext cx="11455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flipV="1">
            <a:off x="6806579" y="5229516"/>
            <a:ext cx="12008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3764877" y="4609198"/>
            <a:ext cx="1737389" cy="344047"/>
          </a:xfrm>
          <a:prstGeom prst="rect">
            <a:avLst/>
          </a:prstGeom>
          <a:noFill/>
        </p:spPr>
        <p:txBody>
          <a:bodyPr wrap="square" rtlCol="0">
            <a:spAutoFit/>
          </a:bodyPr>
          <a:lstStyle/>
          <a:p>
            <a:pPr>
              <a:lnSpc>
                <a:spcPct val="80000"/>
              </a:lnSpc>
            </a:pPr>
            <a:r>
              <a:rPr lang="en-US" altLang="zh-CN"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1.HTTP</a:t>
            </a:r>
            <a:r>
              <a:rPr lang="zh-CN" altLang="en-US"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请求</a:t>
            </a:r>
          </a:p>
        </p:txBody>
      </p:sp>
      <p:sp>
        <p:nvSpPr>
          <p:cNvPr id="24" name="文本框 23"/>
          <p:cNvSpPr txBox="1"/>
          <p:nvPr/>
        </p:nvSpPr>
        <p:spPr>
          <a:xfrm>
            <a:off x="3801073" y="5248881"/>
            <a:ext cx="1701829" cy="344047"/>
          </a:xfrm>
          <a:prstGeom prst="rect">
            <a:avLst/>
          </a:prstGeom>
          <a:noFill/>
        </p:spPr>
        <p:txBody>
          <a:bodyPr wrap="square" rtlCol="0">
            <a:spAutoFit/>
          </a:bodyPr>
          <a:lstStyle/>
          <a:p>
            <a:pPr>
              <a:lnSpc>
                <a:spcPct val="80000"/>
              </a:lnSpc>
            </a:pPr>
            <a:r>
              <a:rPr lang="en-US" altLang="zh-CN"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4.HTTP</a:t>
            </a:r>
            <a:r>
              <a:rPr lang="zh-CN" altLang="en-US"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响应</a:t>
            </a:r>
          </a:p>
        </p:txBody>
      </p:sp>
      <p:sp>
        <p:nvSpPr>
          <p:cNvPr id="25" name="文本框 24"/>
          <p:cNvSpPr txBox="1"/>
          <p:nvPr/>
        </p:nvSpPr>
        <p:spPr>
          <a:xfrm>
            <a:off x="6915165" y="4569823"/>
            <a:ext cx="987442" cy="344047"/>
          </a:xfrm>
          <a:prstGeom prst="rect">
            <a:avLst/>
          </a:prstGeom>
          <a:noFill/>
        </p:spPr>
        <p:txBody>
          <a:bodyPr wrap="square" rtlCol="0">
            <a:spAutoFit/>
          </a:bodyPr>
          <a:lstStyle/>
          <a:p>
            <a:pPr>
              <a:lnSpc>
                <a:spcPct val="80000"/>
              </a:lnSpc>
            </a:pPr>
            <a:r>
              <a:rPr lang="en-US" altLang="zh-CN"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2.</a:t>
            </a:r>
            <a:r>
              <a:rPr lang="zh-CN" altLang="en-US"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查询</a:t>
            </a:r>
          </a:p>
        </p:txBody>
      </p:sp>
      <p:sp>
        <p:nvSpPr>
          <p:cNvPr id="26" name="文本框 25"/>
          <p:cNvSpPr txBox="1"/>
          <p:nvPr/>
        </p:nvSpPr>
        <p:spPr>
          <a:xfrm>
            <a:off x="6928501" y="5278574"/>
            <a:ext cx="993157" cy="344047"/>
          </a:xfrm>
          <a:prstGeom prst="rect">
            <a:avLst/>
          </a:prstGeom>
          <a:noFill/>
        </p:spPr>
        <p:txBody>
          <a:bodyPr wrap="square" rtlCol="0">
            <a:spAutoFit/>
          </a:bodyPr>
          <a:lstStyle/>
          <a:p>
            <a:pPr>
              <a:lnSpc>
                <a:spcPct val="80000"/>
              </a:lnSpc>
            </a:pPr>
            <a:r>
              <a:rPr lang="en-US" altLang="zh-CN"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3.</a:t>
            </a:r>
            <a:r>
              <a:rPr lang="zh-CN" altLang="en-US" sz="2000" dirty="0">
                <a:solidFill>
                  <a:schemeClr val="tx1"/>
                </a:solidFill>
                <a:latin typeface="等线" panose="02010600030101010101" pitchFamily="2" charset="-122"/>
                <a:ea typeface="等线" panose="02010600030101010101" pitchFamily="2" charset="-122"/>
                <a:cs typeface="微软雅黑" panose="020B0503020204020204" pitchFamily="34" charset="-122"/>
              </a:rPr>
              <a:t>结果</a:t>
            </a:r>
          </a:p>
        </p:txBody>
      </p:sp>
    </p:spTree>
    <p:extLst>
      <p:ext uri="{BB962C8B-B14F-4D97-AF65-F5344CB8AC3E}">
        <p14:creationId xmlns:p14="http://schemas.microsoft.com/office/powerpoint/2010/main" val="2425480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11317" y="349251"/>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464234" y="1358538"/>
            <a:ext cx="7318326" cy="4965428"/>
          </a:xfrm>
        </p:spPr>
        <p:txBody>
          <a:bodyPr>
            <a:noAutofit/>
          </a:bodyPr>
          <a:lstStyle/>
          <a:p>
            <a:pPr algn="just"/>
            <a:r>
              <a:rPr lang="zh-CN" altLang="en-US" dirty="0">
                <a:sym typeface="+mn-ea"/>
              </a:rPr>
              <a:t>B/S方式通常采取</a:t>
            </a:r>
            <a:r>
              <a:rPr kumimoji="1" lang="en-US" altLang="zh-CN" noProof="0" dirty="0">
                <a:ln>
                  <a:noFill/>
                </a:ln>
                <a:solidFill>
                  <a:srgbClr val="C00000"/>
                </a:solidFill>
                <a:effectLst/>
                <a:uLnTx/>
                <a:uFillTx/>
                <a:sym typeface="+mn-ea"/>
              </a:rPr>
              <a:t>3层</a:t>
            </a:r>
            <a:r>
              <a:rPr kumimoji="1" lang="zh-CN" altLang="en-US" noProof="0" dirty="0">
                <a:ln>
                  <a:noFill/>
                </a:ln>
                <a:solidFill>
                  <a:srgbClr val="C00000"/>
                </a:solidFill>
                <a:effectLst/>
                <a:uLnTx/>
                <a:uFillTx/>
                <a:sym typeface="+mn-ea"/>
              </a:rPr>
              <a:t>架</a:t>
            </a:r>
            <a:r>
              <a:rPr kumimoji="1" lang="en-US" altLang="zh-CN" noProof="0" dirty="0">
                <a:ln>
                  <a:noFill/>
                </a:ln>
                <a:solidFill>
                  <a:srgbClr val="C00000"/>
                </a:solidFill>
                <a:effectLst/>
                <a:uLnTx/>
                <a:uFillTx/>
                <a:sym typeface="+mn-ea"/>
              </a:rPr>
              <a:t>构</a:t>
            </a:r>
            <a:r>
              <a:rPr lang="zh-CN" altLang="en-US" noProof="0" dirty="0">
                <a:sym typeface="+mn-ea"/>
              </a:rPr>
              <a:t>实现</a:t>
            </a:r>
            <a:endParaRPr lang="zh-CN" altLang="en-US" dirty="0">
              <a:solidFill>
                <a:schemeClr val="tx1"/>
              </a:solidFill>
              <a:cs typeface="微软雅黑" panose="020B0503020204020204" pitchFamily="34" charset="-122"/>
              <a:sym typeface="+mn-ea"/>
            </a:endParaRPr>
          </a:p>
          <a:p>
            <a:pPr lvl="1" algn="just"/>
            <a:r>
              <a:rPr lang="zh-CN" altLang="en-US" dirty="0">
                <a:latin typeface="+mn-ea"/>
                <a:ea typeface="+mn-ea"/>
                <a:sym typeface="+mn-ea"/>
              </a:rPr>
              <a:t>数据层：由</a:t>
            </a:r>
            <a:r>
              <a:rPr lang="zh-CN" altLang="en-US" dirty="0">
                <a:solidFill>
                  <a:srgbClr val="C00000"/>
                </a:solidFill>
                <a:latin typeface="+mn-ea"/>
                <a:ea typeface="+mn-ea"/>
                <a:sym typeface="+mn-ea"/>
              </a:rPr>
              <a:t>数据库服务器</a:t>
            </a:r>
            <a:r>
              <a:rPr lang="zh-CN" altLang="en-US" dirty="0">
                <a:latin typeface="+mn-ea"/>
                <a:ea typeface="+mn-ea"/>
                <a:sym typeface="+mn-ea"/>
              </a:rPr>
              <a:t>承担</a:t>
            </a:r>
            <a:r>
              <a:rPr lang="zh-CN" altLang="en-US" dirty="0">
                <a:solidFill>
                  <a:srgbClr val="C00000"/>
                </a:solidFill>
                <a:latin typeface="+mn-ea"/>
                <a:ea typeface="+mn-ea"/>
                <a:sym typeface="+mn-ea"/>
              </a:rPr>
              <a:t>数据处理逻辑</a:t>
            </a:r>
            <a:r>
              <a:rPr lang="zh-CN" altLang="en-US" dirty="0">
                <a:latin typeface="+mn-ea"/>
                <a:ea typeface="+mn-ea"/>
                <a:cs typeface="Times New Roman" panose="02020603050405020304" charset="0"/>
                <a:sym typeface="+mn-ea"/>
              </a:rPr>
              <a:t>，</a:t>
            </a:r>
            <a:r>
              <a:rPr lang="zh-CN" altLang="en-US" dirty="0">
                <a:latin typeface="+mn-ea"/>
                <a:ea typeface="+mn-ea"/>
                <a:sym typeface="+mn-ea"/>
              </a:rPr>
              <a:t>其任务是接受</a:t>
            </a:r>
            <a:r>
              <a:rPr lang="en-US" altLang="zh-CN" dirty="0">
                <a:latin typeface="+mn-ea"/>
                <a:ea typeface="+mn-ea"/>
                <a:sym typeface="+mn-ea"/>
              </a:rPr>
              <a:t>Web</a:t>
            </a:r>
            <a:r>
              <a:rPr lang="zh-CN" altLang="en-US" dirty="0">
                <a:latin typeface="+mn-ea"/>
                <a:ea typeface="+mn-ea"/>
                <a:sym typeface="+mn-ea"/>
              </a:rPr>
              <a:t>服务器对数据库服务器提出的数据操作请求，然后由数据库服务器进行数据处理并把处理结果返回给</a:t>
            </a:r>
            <a:r>
              <a:rPr lang="en-US" altLang="zh-CN" dirty="0">
                <a:latin typeface="+mn-ea"/>
                <a:ea typeface="+mn-ea"/>
                <a:sym typeface="+mn-ea"/>
              </a:rPr>
              <a:t>W</a:t>
            </a:r>
            <a:r>
              <a:rPr lang="zh-CN" altLang="en-US" dirty="0">
                <a:latin typeface="+mn-ea"/>
                <a:ea typeface="+mn-ea"/>
                <a:sym typeface="+mn-ea"/>
              </a:rPr>
              <a:t>eb服务器</a:t>
            </a:r>
          </a:p>
          <a:p>
            <a:pPr lvl="1" algn="just"/>
            <a:r>
              <a:rPr lang="zh-CN" altLang="en-US" dirty="0">
                <a:latin typeface="+mn-ea"/>
                <a:ea typeface="+mn-ea"/>
                <a:sym typeface="+mn-ea"/>
              </a:rPr>
              <a:t>处理层：由</a:t>
            </a:r>
            <a:r>
              <a:rPr lang="zh-CN" altLang="en-US" dirty="0">
                <a:solidFill>
                  <a:srgbClr val="C00000"/>
                </a:solidFill>
                <a:latin typeface="+mn-ea"/>
                <a:ea typeface="+mn-ea"/>
                <a:sym typeface="+mn-ea"/>
              </a:rPr>
              <a:t>W</a:t>
            </a:r>
            <a:r>
              <a:rPr lang="en-US" altLang="zh-CN" dirty="0" err="1">
                <a:solidFill>
                  <a:srgbClr val="C00000"/>
                </a:solidFill>
                <a:latin typeface="+mn-ea"/>
                <a:ea typeface="+mn-ea"/>
                <a:sym typeface="+mn-ea"/>
              </a:rPr>
              <a:t>eb</a:t>
            </a:r>
            <a:r>
              <a:rPr lang="zh-CN" altLang="en-US" dirty="0">
                <a:solidFill>
                  <a:srgbClr val="C00000"/>
                </a:solidFill>
                <a:latin typeface="+mn-ea"/>
                <a:ea typeface="+mn-ea"/>
                <a:sym typeface="+mn-ea"/>
              </a:rPr>
              <a:t>服务器</a:t>
            </a:r>
            <a:r>
              <a:rPr lang="zh-CN" altLang="en-US" dirty="0">
                <a:latin typeface="+mn-ea"/>
                <a:ea typeface="+mn-ea"/>
                <a:sym typeface="+mn-ea"/>
              </a:rPr>
              <a:t>承担</a:t>
            </a:r>
            <a:r>
              <a:rPr lang="zh-CN" altLang="en-US" dirty="0">
                <a:solidFill>
                  <a:srgbClr val="C00000"/>
                </a:solidFill>
                <a:latin typeface="+mn-ea"/>
                <a:ea typeface="+mn-ea"/>
                <a:sym typeface="+mn-ea"/>
              </a:rPr>
              <a:t>业务处理逻辑</a:t>
            </a:r>
            <a:r>
              <a:rPr lang="zh-CN" altLang="en-US" dirty="0">
                <a:latin typeface="+mn-ea"/>
                <a:ea typeface="+mn-ea"/>
                <a:sym typeface="+mn-ea"/>
              </a:rPr>
              <a:t>和</a:t>
            </a:r>
            <a:r>
              <a:rPr lang="zh-CN" altLang="en-US" dirty="0">
                <a:solidFill>
                  <a:srgbClr val="C00000"/>
                </a:solidFill>
                <a:latin typeface="+mn-ea"/>
                <a:ea typeface="+mn-ea"/>
                <a:sym typeface="+mn-ea"/>
              </a:rPr>
              <a:t>页面存储管理</a:t>
            </a:r>
            <a:r>
              <a:rPr lang="zh-CN" altLang="en-US" dirty="0">
                <a:latin typeface="+mn-ea"/>
                <a:ea typeface="+mn-ea"/>
                <a:sym typeface="+mn-ea"/>
              </a:rPr>
              <a:t>，接受客户浏览器的任务请求，执行相应的事务处理</a:t>
            </a:r>
          </a:p>
          <a:p>
            <a:pPr lvl="1" algn="just"/>
            <a:r>
              <a:rPr lang="zh-CN" altLang="en-US" dirty="0">
                <a:latin typeface="+mn-ea"/>
                <a:ea typeface="+mn-ea"/>
                <a:sym typeface="+mn-ea"/>
              </a:rPr>
              <a:t>表现层：</a:t>
            </a:r>
            <a:r>
              <a:rPr lang="zh-CN" altLang="en-US" dirty="0">
                <a:solidFill>
                  <a:srgbClr val="C00000"/>
                </a:solidFill>
                <a:latin typeface="+mn-ea"/>
                <a:ea typeface="+mn-ea"/>
                <a:sym typeface="+mn-ea"/>
              </a:rPr>
              <a:t>浏览器</a:t>
            </a:r>
            <a:r>
              <a:rPr lang="zh-CN" altLang="en-US" dirty="0">
                <a:latin typeface="+mn-ea"/>
                <a:ea typeface="+mn-ea"/>
                <a:sym typeface="+mn-ea"/>
              </a:rPr>
              <a:t>仅承担网页信息的浏览功能,</a:t>
            </a:r>
            <a:r>
              <a:rPr lang="en-US" altLang="zh-CN" b="1" dirty="0">
                <a:solidFill>
                  <a:srgbClr val="0070C0"/>
                </a:solidFill>
                <a:latin typeface="+mn-ea"/>
                <a:ea typeface="+mn-ea"/>
                <a:cs typeface="Times New Roman" panose="02020603050405020304" charset="0"/>
                <a:sym typeface="+mn-ea"/>
              </a:rPr>
              <a:t> </a:t>
            </a:r>
            <a:r>
              <a:rPr lang="zh-CN" altLang="en-US" dirty="0">
                <a:latin typeface="+mn-ea"/>
                <a:ea typeface="+mn-ea"/>
                <a:sym typeface="+mn-ea"/>
              </a:rPr>
              <a:t>以</a:t>
            </a:r>
            <a:r>
              <a:rPr lang="zh-CN" altLang="en-US" dirty="0">
                <a:solidFill>
                  <a:srgbClr val="C00000"/>
                </a:solidFill>
                <a:latin typeface="+mn-ea"/>
                <a:ea typeface="+mn-ea"/>
                <a:sym typeface="+mn-ea"/>
              </a:rPr>
              <a:t>超文本格式</a:t>
            </a:r>
            <a:r>
              <a:rPr lang="zh-CN" altLang="en-US" dirty="0">
                <a:latin typeface="+mn-ea"/>
                <a:ea typeface="+mn-ea"/>
                <a:sym typeface="+mn-ea"/>
              </a:rPr>
              <a:t>实现信息的输入和浏览</a:t>
            </a:r>
          </a:p>
          <a:p>
            <a:pPr lvl="0" algn="just"/>
            <a:r>
              <a:rPr lang="zh-CN" altLang="en-US" dirty="0">
                <a:sym typeface="+mn-ea"/>
              </a:rPr>
              <a:t>实际部署时也可以把数据库服务器和</a:t>
            </a:r>
            <a:r>
              <a:rPr lang="en-US" altLang="zh-CN" dirty="0">
                <a:sym typeface="+mn-ea"/>
              </a:rPr>
              <a:t>Web</a:t>
            </a:r>
            <a:r>
              <a:rPr lang="zh-CN" altLang="en-US" dirty="0">
                <a:sym typeface="+mn-ea"/>
              </a:rPr>
              <a:t>服务器部署在同一台设备上</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grpSp>
        <p:nvGrpSpPr>
          <p:cNvPr id="35" name="组合 34"/>
          <p:cNvGrpSpPr/>
          <p:nvPr/>
        </p:nvGrpSpPr>
        <p:grpSpPr>
          <a:xfrm>
            <a:off x="7841615" y="1544320"/>
            <a:ext cx="3714750" cy="4794885"/>
            <a:chOff x="12349" y="2432"/>
            <a:chExt cx="5850" cy="7551"/>
          </a:xfrm>
        </p:grpSpPr>
        <p:pic>
          <p:nvPicPr>
            <p:cNvPr id="16" name="图片 327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2822" y="8452"/>
              <a:ext cx="770" cy="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327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4479" y="4837"/>
              <a:ext cx="1093" cy="1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327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4249" y="2432"/>
              <a:ext cx="1093" cy="1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图片 327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6742" y="8440"/>
              <a:ext cx="770" cy="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文本框 28"/>
            <p:cNvSpPr txBox="1"/>
            <p:nvPr/>
          </p:nvSpPr>
          <p:spPr>
            <a:xfrm>
              <a:off x="12349" y="9439"/>
              <a:ext cx="1715" cy="544"/>
            </a:xfrm>
            <a:prstGeom prst="rect">
              <a:avLst/>
            </a:prstGeom>
            <a:noFill/>
          </p:spPr>
          <p:txBody>
            <a:bodyPr wrap="none" rtlCol="0">
              <a:spAutoFit/>
            </a:bodyPr>
            <a:lstStyle/>
            <a:p>
              <a:pPr algn="l">
                <a:lnSpc>
                  <a:spcPct val="80000"/>
                </a:lnSpc>
                <a:buClrTx/>
                <a:buSzTx/>
                <a:buFontTx/>
              </a:pPr>
              <a:r>
                <a:rPr lang="zh-CN" altLang="en-US" sz="2000" dirty="0">
                  <a:latin typeface="等线" panose="02010600030101010101" pitchFamily="2" charset="-122"/>
                  <a:ea typeface="等线" panose="02010600030101010101" pitchFamily="2" charset="-122"/>
                </a:rPr>
                <a:t>浏览器1</a:t>
              </a:r>
            </a:p>
          </p:txBody>
        </p:sp>
        <p:sp>
          <p:nvSpPr>
            <p:cNvPr id="30" name="文本框 29"/>
            <p:cNvSpPr txBox="1"/>
            <p:nvPr/>
          </p:nvSpPr>
          <p:spPr>
            <a:xfrm>
              <a:off x="16447" y="9439"/>
              <a:ext cx="1752" cy="542"/>
            </a:xfrm>
            <a:prstGeom prst="rect">
              <a:avLst/>
            </a:prstGeom>
            <a:noFill/>
          </p:spPr>
          <p:txBody>
            <a:bodyPr wrap="none" rtlCol="0">
              <a:spAutoFit/>
            </a:bodyPr>
            <a:lstStyle/>
            <a:p>
              <a:pPr>
                <a:lnSpc>
                  <a:spcPct val="80000"/>
                </a:lnSpc>
              </a:pPr>
              <a:r>
                <a:rPr lang="zh-CN" altLang="en-US" sz="2000" dirty="0">
                  <a:latin typeface="等线" panose="02010600030101010101" pitchFamily="2" charset="-122"/>
                  <a:ea typeface="等线" panose="02010600030101010101" pitchFamily="2" charset="-122"/>
                </a:rPr>
                <a:t>浏览器</a:t>
              </a:r>
              <a:r>
                <a:rPr lang="en-US" altLang="zh-CN" sz="2000" dirty="0">
                  <a:latin typeface="等线" panose="02010600030101010101" pitchFamily="2" charset="-122"/>
                  <a:ea typeface="等线" panose="02010600030101010101" pitchFamily="2" charset="-122"/>
                </a:rPr>
                <a:t>n</a:t>
              </a:r>
              <a:endParaRPr lang="zh-CN" altLang="en-US" sz="2000" dirty="0">
                <a:solidFill>
                  <a:schemeClr val="folHlink"/>
                </a:solidFill>
                <a:ea typeface="黑体" panose="02010609060101010101" pitchFamily="49" charset="-122"/>
              </a:endParaRPr>
            </a:p>
          </p:txBody>
        </p:sp>
        <p:cxnSp>
          <p:nvCxnSpPr>
            <p:cNvPr id="31" name="直接连接符 30"/>
            <p:cNvCxnSpPr>
              <a:stCxn id="16" idx="0"/>
              <a:endCxn id="20" idx="2"/>
            </p:cNvCxnSpPr>
            <p:nvPr/>
          </p:nvCxnSpPr>
          <p:spPr>
            <a:xfrm flipV="1">
              <a:off x="13207" y="6834"/>
              <a:ext cx="1818" cy="16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8" idx="0"/>
              <a:endCxn id="20" idx="2"/>
            </p:cNvCxnSpPr>
            <p:nvPr/>
          </p:nvCxnSpPr>
          <p:spPr>
            <a:xfrm flipH="1" flipV="1">
              <a:off x="15025" y="6834"/>
              <a:ext cx="2102" cy="160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0" idx="0"/>
            </p:cNvCxnSpPr>
            <p:nvPr/>
          </p:nvCxnSpPr>
          <p:spPr>
            <a:xfrm flipH="1" flipV="1">
              <a:off x="15025" y="4155"/>
              <a:ext cx="0" cy="682"/>
            </a:xfrm>
            <a:prstGeom prst="line">
              <a:avLst/>
            </a:prstGeom>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15572" y="5754"/>
              <a:ext cx="2589" cy="544"/>
            </a:xfrm>
            <a:prstGeom prst="rect">
              <a:avLst/>
            </a:prstGeom>
            <a:noFill/>
          </p:spPr>
          <p:txBody>
            <a:bodyPr wrap="square" rtlCol="0">
              <a:spAutoFit/>
            </a:bodyPr>
            <a:lstStyle/>
            <a:p>
              <a:pPr algn="l">
                <a:lnSpc>
                  <a:spcPct val="80000"/>
                </a:lnSpc>
                <a:buClrTx/>
                <a:buSzTx/>
                <a:buFontTx/>
              </a:pPr>
              <a:r>
                <a:rPr lang="zh-CN" altLang="en-US" sz="2000" dirty="0">
                  <a:solidFill>
                    <a:schemeClr val="tx1"/>
                  </a:solidFill>
                  <a:latin typeface="等线" panose="02010600030101010101" pitchFamily="2" charset="-122"/>
                  <a:ea typeface="等线" panose="02010600030101010101" pitchFamily="2" charset="-122"/>
                </a:rPr>
                <a:t>WEB服务器</a:t>
              </a:r>
            </a:p>
          </p:txBody>
        </p:sp>
        <p:sp>
          <p:nvSpPr>
            <p:cNvPr id="40" name="文本框 39"/>
            <p:cNvSpPr txBox="1"/>
            <p:nvPr/>
          </p:nvSpPr>
          <p:spPr>
            <a:xfrm>
              <a:off x="15321" y="3069"/>
              <a:ext cx="2714" cy="544"/>
            </a:xfrm>
            <a:prstGeom prst="rect">
              <a:avLst/>
            </a:prstGeom>
            <a:noFill/>
          </p:spPr>
          <p:txBody>
            <a:bodyPr wrap="none" rtlCol="0">
              <a:spAutoFit/>
            </a:bodyPr>
            <a:lstStyle/>
            <a:p>
              <a:pPr algn="l">
                <a:lnSpc>
                  <a:spcPct val="80000"/>
                </a:lnSpc>
                <a:buClrTx/>
                <a:buSzTx/>
                <a:buFontTx/>
              </a:pPr>
              <a:r>
                <a:rPr lang="zh-CN" altLang="en-US" sz="2000" dirty="0">
                  <a:solidFill>
                    <a:schemeClr val="tx1"/>
                  </a:solidFill>
                  <a:latin typeface="等线" panose="02010600030101010101" pitchFamily="2" charset="-122"/>
                  <a:ea typeface="等线" panose="02010600030101010101" pitchFamily="2" charset="-122"/>
                </a:rPr>
                <a:t>数据库服务器</a:t>
              </a:r>
            </a:p>
          </p:txBody>
        </p:sp>
        <p:sp>
          <p:nvSpPr>
            <p:cNvPr id="37" name="文本框 36"/>
            <p:cNvSpPr txBox="1"/>
            <p:nvPr/>
          </p:nvSpPr>
          <p:spPr>
            <a:xfrm>
              <a:off x="14795" y="9325"/>
              <a:ext cx="856" cy="542"/>
            </a:xfrm>
            <a:prstGeom prst="rect">
              <a:avLst/>
            </a:prstGeom>
            <a:noFill/>
          </p:spPr>
          <p:txBody>
            <a:bodyPr wrap="none" rtlCol="0">
              <a:spAutoFit/>
            </a:bodyPr>
            <a:lstStyle/>
            <a:p>
              <a:pPr algn="l">
                <a:lnSpc>
                  <a:spcPct val="80000"/>
                </a:lnSpc>
                <a:buClrTx/>
                <a:buSzTx/>
                <a:buFontTx/>
              </a:pPr>
              <a:r>
                <a:rPr lang="en-US" altLang="zh-CN" sz="2000" dirty="0">
                  <a:latin typeface="等线" panose="02010600030101010101" pitchFamily="2" charset="-122"/>
                  <a:ea typeface="等线" panose="02010600030101010101" pitchFamily="2" charset="-122"/>
                </a:rPr>
                <a:t>……</a:t>
              </a:r>
              <a:endParaRPr lang="zh-CN" altLang="en-US" sz="2000" dirty="0">
                <a:latin typeface="等线" panose="02010600030101010101" pitchFamily="2" charset="-122"/>
                <a:ea typeface="等线" panose="02010600030101010101" pitchFamily="2" charset="-122"/>
              </a:endParaRPr>
            </a:p>
          </p:txBody>
        </p:sp>
      </p:grpSp>
    </p:spTree>
    <p:extLst>
      <p:ext uri="{BB962C8B-B14F-4D97-AF65-F5344CB8AC3E}">
        <p14:creationId xmlns:p14="http://schemas.microsoft.com/office/powerpoint/2010/main" val="4226447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
        <p:nvSpPr>
          <p:cNvPr id="3" name="矩形 2"/>
          <p:cNvSpPr/>
          <p:nvPr/>
        </p:nvSpPr>
        <p:spPr>
          <a:xfrm>
            <a:off x="4534138" y="5843587"/>
            <a:ext cx="2741456" cy="413190"/>
          </a:xfrm>
          <a:prstGeom prst="rect">
            <a:avLst/>
          </a:prstGeom>
        </p:spPr>
        <p:txBody>
          <a:bodyPr wrap="none">
            <a:spAutoFit/>
          </a:bodyPr>
          <a:lstStyle/>
          <a:p>
            <a:pPr algn="just">
              <a:lnSpc>
                <a:spcPct val="110000"/>
              </a:lnSpc>
            </a:pPr>
            <a:r>
              <a:rPr lang="zh-CN" altLang="en-US" sz="2000" dirty="0">
                <a:latin typeface="等线" panose="02010600030101010101" pitchFamily="2" charset="-122"/>
                <a:ea typeface="等线" panose="02010600030101010101" pitchFamily="2" charset="-122"/>
                <a:sym typeface="+mn-ea"/>
              </a:rPr>
              <a:t>B/S方式的3层架构示意</a:t>
            </a:r>
            <a:endParaRPr lang="zh-CN" altLang="en-US" sz="2000" dirty="0">
              <a:latin typeface="等线" panose="02010600030101010101" pitchFamily="2" charset="-122"/>
              <a:ea typeface="等线" panose="02010600030101010101" pitchFamily="2" charset="-122"/>
              <a:cs typeface="微软雅黑" panose="020B0503020204020204" pitchFamily="34" charset="-122"/>
              <a:sym typeface="+mn-ea"/>
            </a:endParaRPr>
          </a:p>
        </p:txBody>
      </p:sp>
      <p:grpSp>
        <p:nvGrpSpPr>
          <p:cNvPr id="58" name="组合 57"/>
          <p:cNvGrpSpPr/>
          <p:nvPr/>
        </p:nvGrpSpPr>
        <p:grpSpPr>
          <a:xfrm>
            <a:off x="1510348" y="1709737"/>
            <a:ext cx="8686800" cy="3827462"/>
            <a:chOff x="1510348" y="1709737"/>
            <a:chExt cx="8686800" cy="3827462"/>
          </a:xfrm>
        </p:grpSpPr>
        <p:sp>
          <p:nvSpPr>
            <p:cNvPr id="59" name="直接连接符 151554"/>
            <p:cNvSpPr>
              <a:spLocks noChangeShapeType="1"/>
            </p:cNvSpPr>
            <p:nvPr/>
          </p:nvSpPr>
          <p:spPr bwMode="auto">
            <a:xfrm>
              <a:off x="5848986" y="4836679"/>
              <a:ext cx="0" cy="317933"/>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 name="矩形 151555"/>
            <p:cNvSpPr>
              <a:spLocks noChangeArrowheads="1"/>
            </p:cNvSpPr>
            <p:nvPr/>
          </p:nvSpPr>
          <p:spPr bwMode="auto">
            <a:xfrm>
              <a:off x="4440873" y="2135187"/>
              <a:ext cx="2898775"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dirty="0">
                <a:latin typeface="等线" panose="02010600030101010101" pitchFamily="2" charset="-122"/>
                <a:ea typeface="等线" panose="02010600030101010101" pitchFamily="2" charset="-122"/>
              </a:endParaRPr>
            </a:p>
          </p:txBody>
        </p:sp>
        <p:sp>
          <p:nvSpPr>
            <p:cNvPr id="62" name="文本框 151556"/>
            <p:cNvSpPr txBox="1">
              <a:spLocks noChangeArrowheads="1"/>
            </p:cNvSpPr>
            <p:nvPr/>
          </p:nvSpPr>
          <p:spPr bwMode="auto">
            <a:xfrm>
              <a:off x="5164773" y="3987800"/>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数据链路层</a:t>
              </a:r>
            </a:p>
          </p:txBody>
        </p:sp>
        <p:sp>
          <p:nvSpPr>
            <p:cNvPr id="64" name="直接连接符 151557"/>
            <p:cNvSpPr>
              <a:spLocks noChangeShapeType="1"/>
            </p:cNvSpPr>
            <p:nvPr/>
          </p:nvSpPr>
          <p:spPr bwMode="auto">
            <a:xfrm>
              <a:off x="4440873" y="4421187"/>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 name="直接连接符 151558"/>
            <p:cNvSpPr>
              <a:spLocks noChangeShapeType="1"/>
            </p:cNvSpPr>
            <p:nvPr/>
          </p:nvSpPr>
          <p:spPr bwMode="auto">
            <a:xfrm>
              <a:off x="4440873" y="4011612"/>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 name="直接连接符 151559"/>
            <p:cNvSpPr>
              <a:spLocks noChangeShapeType="1"/>
            </p:cNvSpPr>
            <p:nvPr/>
          </p:nvSpPr>
          <p:spPr bwMode="auto">
            <a:xfrm>
              <a:off x="4440873" y="3603625"/>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直接连接符 151560"/>
            <p:cNvSpPr>
              <a:spLocks noChangeShapeType="1"/>
            </p:cNvSpPr>
            <p:nvPr/>
          </p:nvSpPr>
          <p:spPr bwMode="auto">
            <a:xfrm>
              <a:off x="4440873" y="3195637"/>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文本框 151561"/>
            <p:cNvSpPr txBox="1">
              <a:spLocks noChangeArrowheads="1"/>
            </p:cNvSpPr>
            <p:nvPr/>
          </p:nvSpPr>
          <p:spPr bwMode="auto">
            <a:xfrm>
              <a:off x="5399723" y="43957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物理层</a:t>
              </a:r>
            </a:p>
          </p:txBody>
        </p:sp>
        <p:sp>
          <p:nvSpPr>
            <p:cNvPr id="69" name="文本框 151562"/>
            <p:cNvSpPr txBox="1">
              <a:spLocks noChangeArrowheads="1"/>
            </p:cNvSpPr>
            <p:nvPr/>
          </p:nvSpPr>
          <p:spPr bwMode="auto">
            <a:xfrm>
              <a:off x="5399723" y="3184525"/>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传输层</a:t>
              </a:r>
            </a:p>
          </p:txBody>
        </p:sp>
        <p:sp>
          <p:nvSpPr>
            <p:cNvPr id="70" name="文本框 151563"/>
            <p:cNvSpPr txBox="1">
              <a:spLocks noChangeArrowheads="1"/>
            </p:cNvSpPr>
            <p:nvPr/>
          </p:nvSpPr>
          <p:spPr bwMode="auto">
            <a:xfrm>
              <a:off x="5399723" y="3592512"/>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网络层</a:t>
              </a:r>
            </a:p>
          </p:txBody>
        </p:sp>
        <p:sp>
          <p:nvSpPr>
            <p:cNvPr id="71" name="文本框 151564"/>
            <p:cNvSpPr txBox="1">
              <a:spLocks noChangeArrowheads="1"/>
            </p:cNvSpPr>
            <p:nvPr/>
          </p:nvSpPr>
          <p:spPr bwMode="auto">
            <a:xfrm>
              <a:off x="5369561" y="2095500"/>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应用层</a:t>
              </a:r>
            </a:p>
          </p:txBody>
        </p:sp>
        <p:sp>
          <p:nvSpPr>
            <p:cNvPr id="72" name="文本框 151565"/>
            <p:cNvSpPr txBox="1">
              <a:spLocks noChangeArrowheads="1"/>
            </p:cNvSpPr>
            <p:nvPr/>
          </p:nvSpPr>
          <p:spPr bwMode="auto">
            <a:xfrm>
              <a:off x="5290186" y="1709737"/>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计算机 </a:t>
              </a:r>
              <a:r>
                <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2</a:t>
              </a:r>
            </a:p>
          </p:txBody>
        </p:sp>
        <p:sp>
          <p:nvSpPr>
            <p:cNvPr id="73" name="直接连接符 151566"/>
            <p:cNvSpPr>
              <a:spLocks noChangeShapeType="1"/>
            </p:cNvSpPr>
            <p:nvPr/>
          </p:nvSpPr>
          <p:spPr bwMode="auto">
            <a:xfrm>
              <a:off x="5823585" y="2986521"/>
              <a:ext cx="0" cy="19641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 name="椭圆 151567"/>
            <p:cNvSpPr>
              <a:spLocks noChangeArrowheads="1"/>
            </p:cNvSpPr>
            <p:nvPr/>
          </p:nvSpPr>
          <p:spPr bwMode="auto">
            <a:xfrm>
              <a:off x="5173503" y="2508567"/>
              <a:ext cx="1444149" cy="548164"/>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lnSpc>
                  <a:spcPct val="90000"/>
                </a:lnSpc>
              </a:pPr>
              <a:r>
                <a:rPr lang="en-US" altLang="zh-CN" sz="2000" dirty="0">
                  <a:solidFill>
                    <a:srgbClr val="FFFF66"/>
                  </a:solidFill>
                  <a:latin typeface="等线" panose="02010600030101010101" pitchFamily="2" charset="-122"/>
                  <a:ea typeface="等线" panose="02010600030101010101" pitchFamily="2" charset="-122"/>
                  <a:cs typeface="微软雅黑" panose="020B0503020204020204" pitchFamily="34" charset="-122"/>
                </a:rPr>
                <a:t>WEB</a:t>
              </a:r>
              <a:r>
                <a:rPr lang="zh-CN" altLang="en-US" sz="2000" dirty="0">
                  <a:solidFill>
                    <a:srgbClr val="FFFF66"/>
                  </a:solidFill>
                  <a:latin typeface="等线" panose="02010600030101010101" pitchFamily="2" charset="-122"/>
                  <a:ea typeface="等线" panose="02010600030101010101" pitchFamily="2" charset="-122"/>
                  <a:cs typeface="微软雅黑" panose="020B0503020204020204" pitchFamily="34" charset="-122"/>
                </a:rPr>
                <a:t>服务器</a:t>
              </a:r>
              <a:endParaRPr lang="en-US" altLang="zh-CN" sz="1600" dirty="0">
                <a:latin typeface="等线" panose="02010600030101010101" pitchFamily="2" charset="-122"/>
                <a:ea typeface="等线" panose="02010600030101010101" pitchFamily="2" charset="-122"/>
                <a:cs typeface="微软雅黑" panose="020B0503020204020204" pitchFamily="34" charset="-122"/>
              </a:endParaRPr>
            </a:p>
          </p:txBody>
        </p:sp>
        <p:sp>
          <p:nvSpPr>
            <p:cNvPr id="75" name="任意多边形 151569"/>
            <p:cNvSpPr>
              <a:spLocks noChangeArrowheads="1"/>
            </p:cNvSpPr>
            <p:nvPr/>
          </p:nvSpPr>
          <p:spPr bwMode="auto">
            <a:xfrm>
              <a:off x="2631758" y="4829492"/>
              <a:ext cx="6442710" cy="652145"/>
            </a:xfrm>
            <a:custGeom>
              <a:avLst/>
              <a:gdLst>
                <a:gd name="T0" fmla="*/ 0 w 3527"/>
                <a:gd name="T1" fmla="*/ 0 h 333"/>
                <a:gd name="T2" fmla="*/ 0 w 3527"/>
                <a:gd name="T3" fmla="*/ 129 h 333"/>
                <a:gd name="T4" fmla="*/ 14 w 3527"/>
                <a:gd name="T5" fmla="*/ 192 h 333"/>
                <a:gd name="T6" fmla="*/ 50 w 3527"/>
                <a:gd name="T7" fmla="*/ 270 h 333"/>
                <a:gd name="T8" fmla="*/ 122 w 3527"/>
                <a:gd name="T9" fmla="*/ 318 h 333"/>
                <a:gd name="T10" fmla="*/ 177 w 3527"/>
                <a:gd name="T11" fmla="*/ 330 h 333"/>
                <a:gd name="T12" fmla="*/ 3360 w 3527"/>
                <a:gd name="T13" fmla="*/ 333 h 333"/>
                <a:gd name="T14" fmla="*/ 3422 w 3527"/>
                <a:gd name="T15" fmla="*/ 318 h 333"/>
                <a:gd name="T16" fmla="*/ 3482 w 3527"/>
                <a:gd name="T17" fmla="*/ 282 h 333"/>
                <a:gd name="T18" fmla="*/ 3512 w 3527"/>
                <a:gd name="T19" fmla="*/ 234 h 333"/>
                <a:gd name="T20" fmla="*/ 3524 w 3527"/>
                <a:gd name="T21" fmla="*/ 162 h 333"/>
                <a:gd name="T22" fmla="*/ 3527 w 3527"/>
                <a:gd name="T2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76" name="矩形 151570"/>
            <p:cNvSpPr>
              <a:spLocks noChangeArrowheads="1"/>
            </p:cNvSpPr>
            <p:nvPr/>
          </p:nvSpPr>
          <p:spPr bwMode="auto">
            <a:xfrm>
              <a:off x="1510348" y="2135187"/>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dirty="0">
                <a:latin typeface="等线" panose="02010600030101010101" pitchFamily="2" charset="-122"/>
                <a:ea typeface="等线" panose="02010600030101010101" pitchFamily="2" charset="-122"/>
              </a:endParaRPr>
            </a:p>
          </p:txBody>
        </p:sp>
        <p:sp>
          <p:nvSpPr>
            <p:cNvPr id="77" name="文本框 151571"/>
            <p:cNvSpPr txBox="1">
              <a:spLocks noChangeArrowheads="1"/>
            </p:cNvSpPr>
            <p:nvPr/>
          </p:nvSpPr>
          <p:spPr bwMode="auto">
            <a:xfrm>
              <a:off x="1937386" y="3987800"/>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数据链路层</a:t>
              </a:r>
            </a:p>
          </p:txBody>
        </p:sp>
        <p:sp>
          <p:nvSpPr>
            <p:cNvPr id="78" name="直接连接符 151572"/>
            <p:cNvSpPr>
              <a:spLocks noChangeShapeType="1"/>
            </p:cNvSpPr>
            <p:nvPr/>
          </p:nvSpPr>
          <p:spPr bwMode="auto">
            <a:xfrm>
              <a:off x="1892936" y="4421187"/>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 name="直接连接符 151573"/>
            <p:cNvSpPr>
              <a:spLocks noChangeShapeType="1"/>
            </p:cNvSpPr>
            <p:nvPr/>
          </p:nvSpPr>
          <p:spPr bwMode="auto">
            <a:xfrm>
              <a:off x="1892936" y="4011612"/>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0" name="直接连接符 151574"/>
            <p:cNvSpPr>
              <a:spLocks noChangeShapeType="1"/>
            </p:cNvSpPr>
            <p:nvPr/>
          </p:nvSpPr>
          <p:spPr bwMode="auto">
            <a:xfrm>
              <a:off x="1892936" y="3603625"/>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 name="直接连接符 151575"/>
            <p:cNvSpPr>
              <a:spLocks noChangeShapeType="1"/>
            </p:cNvSpPr>
            <p:nvPr/>
          </p:nvSpPr>
          <p:spPr bwMode="auto">
            <a:xfrm>
              <a:off x="1892936" y="3195637"/>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 name="文本框 151576"/>
            <p:cNvSpPr txBox="1">
              <a:spLocks noChangeArrowheads="1"/>
            </p:cNvSpPr>
            <p:nvPr/>
          </p:nvSpPr>
          <p:spPr bwMode="auto">
            <a:xfrm>
              <a:off x="2170748" y="43957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物理层</a:t>
              </a:r>
            </a:p>
          </p:txBody>
        </p:sp>
        <p:sp>
          <p:nvSpPr>
            <p:cNvPr id="83" name="文本框 151577"/>
            <p:cNvSpPr txBox="1">
              <a:spLocks noChangeArrowheads="1"/>
            </p:cNvSpPr>
            <p:nvPr/>
          </p:nvSpPr>
          <p:spPr bwMode="auto">
            <a:xfrm>
              <a:off x="2170748" y="3184525"/>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传输层</a:t>
              </a:r>
            </a:p>
          </p:txBody>
        </p:sp>
        <p:sp>
          <p:nvSpPr>
            <p:cNvPr id="84" name="文本框 151578"/>
            <p:cNvSpPr txBox="1">
              <a:spLocks noChangeArrowheads="1"/>
            </p:cNvSpPr>
            <p:nvPr/>
          </p:nvSpPr>
          <p:spPr bwMode="auto">
            <a:xfrm>
              <a:off x="2170748" y="3592512"/>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网络层</a:t>
              </a:r>
            </a:p>
          </p:txBody>
        </p:sp>
        <p:sp>
          <p:nvSpPr>
            <p:cNvPr id="85" name="直接连接符 151579"/>
            <p:cNvSpPr>
              <a:spLocks noChangeShapeType="1"/>
            </p:cNvSpPr>
            <p:nvPr/>
          </p:nvSpPr>
          <p:spPr bwMode="auto">
            <a:xfrm>
              <a:off x="2632235" y="2997200"/>
              <a:ext cx="0" cy="196851"/>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椭圆 151580"/>
            <p:cNvSpPr>
              <a:spLocks noChangeArrowheads="1"/>
            </p:cNvSpPr>
            <p:nvPr/>
          </p:nvSpPr>
          <p:spPr bwMode="auto">
            <a:xfrm>
              <a:off x="2112011" y="2535237"/>
              <a:ext cx="1089603" cy="488950"/>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浏览器</a:t>
              </a:r>
              <a:endPar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endParaRPr>
            </a:p>
          </p:txBody>
        </p:sp>
        <p:sp>
          <p:nvSpPr>
            <p:cNvPr id="87" name="文本框 151581"/>
            <p:cNvSpPr txBox="1">
              <a:spLocks noChangeArrowheads="1"/>
            </p:cNvSpPr>
            <p:nvPr/>
          </p:nvSpPr>
          <p:spPr bwMode="auto">
            <a:xfrm>
              <a:off x="2178686" y="21097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应用层</a:t>
              </a:r>
            </a:p>
          </p:txBody>
        </p:sp>
        <p:sp>
          <p:nvSpPr>
            <p:cNvPr id="88" name="文本框 151582"/>
            <p:cNvSpPr txBox="1">
              <a:spLocks noChangeArrowheads="1"/>
            </p:cNvSpPr>
            <p:nvPr/>
          </p:nvSpPr>
          <p:spPr bwMode="auto">
            <a:xfrm>
              <a:off x="2112011" y="1709737"/>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计算机 </a:t>
              </a:r>
              <a:r>
                <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1</a:t>
              </a:r>
            </a:p>
          </p:txBody>
        </p:sp>
        <p:sp>
          <p:nvSpPr>
            <p:cNvPr id="89" name="矩形 151583"/>
            <p:cNvSpPr>
              <a:spLocks noChangeArrowheads="1"/>
            </p:cNvSpPr>
            <p:nvPr/>
          </p:nvSpPr>
          <p:spPr bwMode="auto">
            <a:xfrm>
              <a:off x="7758748" y="2135187"/>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dirty="0">
                <a:latin typeface="等线" panose="02010600030101010101" pitchFamily="2" charset="-122"/>
                <a:ea typeface="等线" panose="02010600030101010101" pitchFamily="2" charset="-122"/>
              </a:endParaRPr>
            </a:p>
          </p:txBody>
        </p:sp>
        <p:sp>
          <p:nvSpPr>
            <p:cNvPr id="90" name="文本框 151584"/>
            <p:cNvSpPr txBox="1">
              <a:spLocks noChangeArrowheads="1"/>
            </p:cNvSpPr>
            <p:nvPr/>
          </p:nvSpPr>
          <p:spPr bwMode="auto">
            <a:xfrm>
              <a:off x="8349298" y="3987800"/>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数据链路层</a:t>
              </a:r>
            </a:p>
          </p:txBody>
        </p:sp>
        <p:sp>
          <p:nvSpPr>
            <p:cNvPr id="91" name="直接连接符 151585"/>
            <p:cNvSpPr>
              <a:spLocks noChangeShapeType="1"/>
            </p:cNvSpPr>
            <p:nvPr/>
          </p:nvSpPr>
          <p:spPr bwMode="auto">
            <a:xfrm>
              <a:off x="8304848" y="4421187"/>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 name="直接连接符 151586"/>
            <p:cNvSpPr>
              <a:spLocks noChangeShapeType="1"/>
            </p:cNvSpPr>
            <p:nvPr/>
          </p:nvSpPr>
          <p:spPr bwMode="auto">
            <a:xfrm>
              <a:off x="8304848" y="4011612"/>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 name="直接连接符 151587"/>
            <p:cNvSpPr>
              <a:spLocks noChangeShapeType="1"/>
            </p:cNvSpPr>
            <p:nvPr/>
          </p:nvSpPr>
          <p:spPr bwMode="auto">
            <a:xfrm>
              <a:off x="8304848" y="3603625"/>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 name="直接连接符 151588"/>
            <p:cNvSpPr>
              <a:spLocks noChangeShapeType="1"/>
            </p:cNvSpPr>
            <p:nvPr/>
          </p:nvSpPr>
          <p:spPr bwMode="auto">
            <a:xfrm>
              <a:off x="8304848" y="3195637"/>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文本框 151589"/>
            <p:cNvSpPr txBox="1">
              <a:spLocks noChangeArrowheads="1"/>
            </p:cNvSpPr>
            <p:nvPr/>
          </p:nvSpPr>
          <p:spPr bwMode="auto">
            <a:xfrm>
              <a:off x="8584248" y="43957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物理层</a:t>
              </a:r>
            </a:p>
          </p:txBody>
        </p:sp>
        <p:sp>
          <p:nvSpPr>
            <p:cNvPr id="96" name="文本框 151590"/>
            <p:cNvSpPr txBox="1">
              <a:spLocks noChangeArrowheads="1"/>
            </p:cNvSpPr>
            <p:nvPr/>
          </p:nvSpPr>
          <p:spPr bwMode="auto">
            <a:xfrm>
              <a:off x="8584248" y="3184525"/>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传输层</a:t>
              </a:r>
            </a:p>
          </p:txBody>
        </p:sp>
        <p:sp>
          <p:nvSpPr>
            <p:cNvPr id="97" name="文本框 151591"/>
            <p:cNvSpPr txBox="1">
              <a:spLocks noChangeArrowheads="1"/>
            </p:cNvSpPr>
            <p:nvPr/>
          </p:nvSpPr>
          <p:spPr bwMode="auto">
            <a:xfrm>
              <a:off x="8584248" y="3592512"/>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网络层</a:t>
              </a:r>
            </a:p>
          </p:txBody>
        </p:sp>
        <p:sp>
          <p:nvSpPr>
            <p:cNvPr id="98" name="文本框 151594"/>
            <p:cNvSpPr txBox="1">
              <a:spLocks noChangeArrowheads="1"/>
            </p:cNvSpPr>
            <p:nvPr/>
          </p:nvSpPr>
          <p:spPr bwMode="auto">
            <a:xfrm>
              <a:off x="8576311" y="21224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应用层</a:t>
              </a:r>
            </a:p>
          </p:txBody>
        </p:sp>
        <p:sp>
          <p:nvSpPr>
            <p:cNvPr id="99" name="文本框 151595"/>
            <p:cNvSpPr txBox="1">
              <a:spLocks noChangeArrowheads="1"/>
            </p:cNvSpPr>
            <p:nvPr/>
          </p:nvSpPr>
          <p:spPr bwMode="auto">
            <a:xfrm>
              <a:off x="8531861" y="1709737"/>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计算机 </a:t>
              </a:r>
              <a:r>
                <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3</a:t>
              </a:r>
            </a:p>
          </p:txBody>
        </p:sp>
        <p:grpSp>
          <p:nvGrpSpPr>
            <p:cNvPr id="100" name="组合 151596"/>
            <p:cNvGrpSpPr/>
            <p:nvPr/>
          </p:nvGrpSpPr>
          <p:grpSpPr bwMode="auto">
            <a:xfrm>
              <a:off x="5348924" y="5137150"/>
              <a:ext cx="1044575" cy="400049"/>
              <a:chOff x="317" y="100"/>
              <a:chExt cx="658" cy="252"/>
            </a:xfrm>
          </p:grpSpPr>
          <p:sp>
            <p:nvSpPr>
              <p:cNvPr id="105" name="文本框 151598"/>
              <p:cNvSpPr txBox="1">
                <a:spLocks noChangeArrowheads="1"/>
              </p:cNvSpPr>
              <p:nvPr/>
            </p:nvSpPr>
            <p:spPr bwMode="auto">
              <a:xfrm>
                <a:off x="317" y="100"/>
                <a:ext cx="6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333399"/>
                    </a:solidFill>
                    <a:latin typeface="等线" panose="02010600030101010101" pitchFamily="2" charset="-122"/>
                    <a:ea typeface="等线" panose="02010600030101010101" pitchFamily="2" charset="-122"/>
                  </a:rPr>
                  <a:t>Internet</a:t>
                </a:r>
                <a:endParaRPr lang="zh-CN" altLang="en-US" sz="2000" dirty="0">
                  <a:solidFill>
                    <a:srgbClr val="333399"/>
                  </a:solidFill>
                  <a:latin typeface="等线" panose="02010600030101010101" pitchFamily="2" charset="-122"/>
                  <a:ea typeface="等线" panose="02010600030101010101" pitchFamily="2" charset="-122"/>
                </a:endParaRPr>
              </a:p>
            </p:txBody>
          </p:sp>
        </p:grpSp>
        <p:sp>
          <p:nvSpPr>
            <p:cNvPr id="101" name="直接连接符 151599"/>
            <p:cNvSpPr>
              <a:spLocks noChangeShapeType="1"/>
            </p:cNvSpPr>
            <p:nvPr/>
          </p:nvSpPr>
          <p:spPr bwMode="auto">
            <a:xfrm flipV="1">
              <a:off x="6618922" y="2738477"/>
              <a:ext cx="1453355" cy="9485"/>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2" name="直接连接符 151600"/>
            <p:cNvSpPr>
              <a:spLocks noChangeShapeType="1"/>
            </p:cNvSpPr>
            <p:nvPr/>
          </p:nvSpPr>
          <p:spPr bwMode="auto">
            <a:xfrm>
              <a:off x="3201613" y="2738477"/>
              <a:ext cx="1971891" cy="13519"/>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3" name="椭圆 151601"/>
            <p:cNvSpPr>
              <a:spLocks noChangeArrowheads="1"/>
            </p:cNvSpPr>
            <p:nvPr/>
          </p:nvSpPr>
          <p:spPr bwMode="auto">
            <a:xfrm>
              <a:off x="8072280" y="2530040"/>
              <a:ext cx="1953418" cy="456479"/>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lnSpc>
                  <a:spcPct val="90000"/>
                </a:lnSpc>
              </a:pPr>
              <a:r>
                <a:rPr lang="zh-CN" altLang="en-US" sz="2000" dirty="0">
                  <a:solidFill>
                    <a:srgbClr val="FFFF66"/>
                  </a:solidFill>
                  <a:latin typeface="等线" panose="02010600030101010101" pitchFamily="2" charset="-122"/>
                  <a:ea typeface="等线" panose="02010600030101010101" pitchFamily="2" charset="-122"/>
                </a:rPr>
                <a:t>数据库服务器</a:t>
              </a:r>
            </a:p>
          </p:txBody>
        </p:sp>
        <p:sp>
          <p:nvSpPr>
            <p:cNvPr id="104" name="直接连接符 151604"/>
            <p:cNvSpPr>
              <a:spLocks noChangeShapeType="1"/>
            </p:cNvSpPr>
            <p:nvPr/>
          </p:nvSpPr>
          <p:spPr bwMode="auto">
            <a:xfrm flipH="1">
              <a:off x="9064251" y="2986519"/>
              <a:ext cx="0" cy="198439"/>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163256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492369" y="1423852"/>
            <a:ext cx="11071274" cy="4900114"/>
          </a:xfrm>
        </p:spPr>
        <p:txBody>
          <a:bodyPr>
            <a:noAutofit/>
          </a:bodyPr>
          <a:lstStyle/>
          <a:p>
            <a:pPr algn="just">
              <a:lnSpc>
                <a:spcPct val="130000"/>
              </a:lnSpc>
            </a:pPr>
            <a:r>
              <a:rPr kumimoji="1" lang="en-US" altLang="zh-CN" dirty="0">
                <a:sym typeface="+mn-ea"/>
              </a:rPr>
              <a:t>B</a:t>
            </a:r>
            <a:r>
              <a:rPr kumimoji="1" lang="zh-CN" altLang="en-US" dirty="0">
                <a:sym typeface="+mn-ea"/>
              </a:rPr>
              <a:t>/S方式的特点</a:t>
            </a:r>
            <a:endParaRPr kumimoji="1" lang="zh-CN" altLang="en-US" dirty="0">
              <a:cs typeface="微软雅黑" panose="020B0503020204020204" pitchFamily="34" charset="-122"/>
              <a:sym typeface="+mn-ea"/>
            </a:endParaRPr>
          </a:p>
          <a:p>
            <a:pPr lvl="1" algn="just">
              <a:lnSpc>
                <a:spcPct val="130000"/>
              </a:lnSpc>
            </a:pPr>
            <a:r>
              <a:rPr kumimoji="1" lang="en-US" altLang="zh-CN" noProof="0" dirty="0" err="1">
                <a:ln>
                  <a:noFill/>
                </a:ln>
                <a:solidFill>
                  <a:srgbClr val="C00000"/>
                </a:solidFill>
                <a:effectLst/>
                <a:uLnTx/>
                <a:uFillTx/>
                <a:sym typeface="+mn-ea"/>
              </a:rPr>
              <a:t>界面统一，使用简单</a:t>
            </a:r>
            <a:r>
              <a:rPr lang="zh-CN" altLang="en-US" dirty="0">
                <a:sym typeface="+mn-ea"/>
              </a:rPr>
              <a:t>。客户端只需要安装</a:t>
            </a:r>
            <a:r>
              <a:rPr kumimoji="1" lang="en-US" altLang="zh-CN" noProof="0" dirty="0" err="1">
                <a:ln>
                  <a:noFill/>
                </a:ln>
                <a:solidFill>
                  <a:srgbClr val="C00000"/>
                </a:solidFill>
                <a:effectLst/>
                <a:uLnTx/>
                <a:uFillTx/>
                <a:sym typeface="+mn-ea"/>
              </a:rPr>
              <a:t>浏览器</a:t>
            </a:r>
            <a:r>
              <a:rPr lang="zh-CN" altLang="en-US" dirty="0">
                <a:sym typeface="+mn-ea"/>
              </a:rPr>
              <a:t>软件</a:t>
            </a:r>
            <a:endParaRPr lang="en-US" altLang="zh-CN" dirty="0">
              <a:sym typeface="+mn-ea"/>
            </a:endParaRPr>
          </a:p>
          <a:p>
            <a:pPr lvl="1" algn="just">
              <a:lnSpc>
                <a:spcPct val="130000"/>
              </a:lnSpc>
            </a:pPr>
            <a:r>
              <a:rPr kumimoji="1" lang="en-US" altLang="zh-CN" noProof="0" dirty="0" err="1">
                <a:ln>
                  <a:noFill/>
                </a:ln>
                <a:solidFill>
                  <a:srgbClr val="C00000"/>
                </a:solidFill>
                <a:effectLst/>
                <a:uLnTx/>
                <a:uFillTx/>
                <a:sym typeface="+mn-ea"/>
              </a:rPr>
              <a:t>易于维护</a:t>
            </a:r>
            <a:r>
              <a:rPr lang="zh-CN" altLang="en-US" dirty="0">
                <a:sym typeface="+mn-ea"/>
              </a:rPr>
              <a:t>。对应用系统升级时，只需更新服务器端的软件，减轻了系统维护和升级的成本</a:t>
            </a:r>
          </a:p>
          <a:p>
            <a:pPr lvl="1" algn="just">
              <a:lnSpc>
                <a:spcPct val="130000"/>
              </a:lnSpc>
            </a:pPr>
            <a:r>
              <a:rPr kumimoji="1" lang="en-US" altLang="zh-CN" noProof="0" dirty="0" err="1">
                <a:ln>
                  <a:noFill/>
                </a:ln>
                <a:solidFill>
                  <a:srgbClr val="C00000"/>
                </a:solidFill>
                <a:effectLst/>
                <a:uLnTx/>
                <a:uFillTx/>
                <a:sym typeface="+mn-ea"/>
              </a:rPr>
              <a:t>可扩展性好</a:t>
            </a:r>
            <a:r>
              <a:rPr lang="zh-CN" altLang="en-US" dirty="0">
                <a:sym typeface="+mn-ea"/>
              </a:rPr>
              <a:t>。采用标准的</a:t>
            </a:r>
            <a:r>
              <a:rPr kumimoji="1" lang="en-US" altLang="zh-CN" noProof="0" dirty="0">
                <a:ln>
                  <a:noFill/>
                </a:ln>
                <a:solidFill>
                  <a:srgbClr val="C00000"/>
                </a:solidFill>
                <a:effectLst/>
                <a:uLnTx/>
                <a:uFillTx/>
                <a:sym typeface="+mn-ea"/>
              </a:rPr>
              <a:t>TCP/IP</a:t>
            </a:r>
            <a:r>
              <a:rPr kumimoji="1" lang="zh-CN" altLang="en-US" noProof="0" dirty="0">
                <a:ln>
                  <a:noFill/>
                </a:ln>
                <a:solidFill>
                  <a:srgbClr val="C00000"/>
                </a:solidFill>
                <a:effectLst/>
                <a:uLnTx/>
                <a:uFillTx/>
                <a:sym typeface="+mn-ea"/>
              </a:rPr>
              <a:t>和</a:t>
            </a:r>
            <a:r>
              <a:rPr kumimoji="1" lang="en-US" altLang="zh-CN" noProof="0" dirty="0" err="1">
                <a:ln>
                  <a:noFill/>
                </a:ln>
                <a:solidFill>
                  <a:srgbClr val="C00000"/>
                </a:solidFill>
                <a:effectLst/>
                <a:uLnTx/>
                <a:uFillTx/>
                <a:sym typeface="+mn-ea"/>
              </a:rPr>
              <a:t>HTTP协议</a:t>
            </a:r>
            <a:r>
              <a:rPr lang="zh-CN" altLang="en-US" dirty="0">
                <a:sym typeface="+mn-ea"/>
              </a:rPr>
              <a:t>，具有良好的扩展性</a:t>
            </a:r>
            <a:endParaRPr lang="zh-CN" altLang="en-US" b="1" dirty="0">
              <a:solidFill>
                <a:srgbClr val="0070C0"/>
              </a:solidFill>
              <a:cs typeface="Times New Roman" panose="02020603050405020304" charset="0"/>
              <a:sym typeface="+mn-ea"/>
            </a:endParaRPr>
          </a:p>
          <a:p>
            <a:pPr lvl="1" algn="just">
              <a:lnSpc>
                <a:spcPct val="130000"/>
              </a:lnSpc>
            </a:pPr>
            <a:r>
              <a:rPr kumimoji="1" lang="en-US" altLang="zh-CN" noProof="0" dirty="0">
                <a:ln>
                  <a:noFill/>
                </a:ln>
                <a:solidFill>
                  <a:srgbClr val="C00000"/>
                </a:solidFill>
                <a:effectLst/>
                <a:uLnTx/>
                <a:uFillTx/>
                <a:sym typeface="+mn-ea"/>
              </a:rPr>
              <a:t>信息共享度高</a:t>
            </a:r>
            <a:r>
              <a:rPr lang="zh-CN" altLang="en-US" dirty="0">
                <a:sym typeface="+mn-ea"/>
              </a:rPr>
              <a:t>。HTML是数据格式的一个</a:t>
            </a:r>
            <a:r>
              <a:rPr kumimoji="1" lang="en-US" altLang="zh-CN" noProof="0" dirty="0">
                <a:ln>
                  <a:noFill/>
                </a:ln>
                <a:solidFill>
                  <a:srgbClr val="C00000"/>
                </a:solidFill>
                <a:effectLst/>
                <a:uLnTx/>
                <a:uFillTx/>
                <a:sym typeface="+mn-ea"/>
              </a:rPr>
              <a:t>开放标准</a:t>
            </a:r>
            <a:r>
              <a:rPr lang="zh-CN" altLang="en-US" dirty="0">
                <a:sym typeface="+mn-ea"/>
              </a:rPr>
              <a:t>，目前大多数流行的软件</a:t>
            </a:r>
            <a:r>
              <a:rPr kumimoji="1" lang="en-US" altLang="zh-CN" noProof="0" dirty="0">
                <a:ln>
                  <a:noFill/>
                </a:ln>
                <a:solidFill>
                  <a:srgbClr val="C00000"/>
                </a:solidFill>
                <a:effectLst/>
                <a:uLnTx/>
                <a:uFillTx/>
                <a:sym typeface="+mn-ea"/>
              </a:rPr>
              <a:t>均支持</a:t>
            </a:r>
            <a:r>
              <a:rPr lang="zh-CN" altLang="en-US" dirty="0">
                <a:sym typeface="+mn-ea"/>
              </a:rPr>
              <a:t>HTML</a:t>
            </a:r>
          </a:p>
          <a:p>
            <a:pPr lvl="1" algn="just">
              <a:lnSpc>
                <a:spcPct val="130000"/>
              </a:lnSpc>
            </a:pPr>
            <a:r>
              <a:rPr lang="zh-CN" altLang="en-US" dirty="0"/>
              <a:t>需要注意的是，在一种浏览器</a:t>
            </a:r>
            <a:r>
              <a:rPr lang="zh-CN" altLang="en-US" dirty="0">
                <a:sym typeface="+mn-ea"/>
              </a:rPr>
              <a:t>环境下</a:t>
            </a:r>
            <a:r>
              <a:rPr lang="zh-CN" altLang="en-US" dirty="0"/>
              <a:t>开发的界面在另一种浏览器环境下可能有不完全适配的情况，这时需要安装对应的浏览器</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Tree>
    <p:extLst>
      <p:ext uri="{BB962C8B-B14F-4D97-AF65-F5344CB8AC3E}">
        <p14:creationId xmlns:p14="http://schemas.microsoft.com/office/powerpoint/2010/main" val="4289035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2014220"/>
            <a:ext cx="10529570" cy="4355465"/>
          </a:xfrm>
        </p:spPr>
        <p:txBody>
          <a:bodyPr>
            <a:noAutofit/>
          </a:bodyPr>
          <a:lstStyle/>
          <a:p>
            <a:pPr algn="just">
              <a:lnSpc>
                <a:spcPct val="120000"/>
              </a:lnSpc>
            </a:pPr>
            <a:r>
              <a:rPr kumimoji="1" lang="en-US" altLang="zh-CN" noProof="0" dirty="0" err="1">
                <a:ln>
                  <a:noFill/>
                </a:ln>
                <a:solidFill>
                  <a:srgbClr val="C00000"/>
                </a:solidFill>
                <a:effectLst/>
                <a:uLnTx/>
                <a:uFillTx/>
                <a:sym typeface="+mn-ea"/>
              </a:rPr>
              <a:t>对等方式</a:t>
            </a:r>
            <a:r>
              <a:rPr lang="zh-CN" altLang="en-US" dirty="0">
                <a:sym typeface="+mn-ea"/>
              </a:rPr>
              <a:t>是指两个</a:t>
            </a:r>
            <a:r>
              <a:rPr kumimoji="1" lang="en-US" altLang="zh-CN" noProof="0" dirty="0">
                <a:ln>
                  <a:noFill/>
                </a:ln>
                <a:solidFill>
                  <a:srgbClr val="C00000"/>
                </a:solidFill>
                <a:effectLst/>
                <a:uLnTx/>
                <a:uFillTx/>
                <a:sym typeface="+mn-ea"/>
              </a:rPr>
              <a:t>进程</a:t>
            </a:r>
            <a:r>
              <a:rPr lang="zh-CN" altLang="en-US" dirty="0">
                <a:sym typeface="+mn-ea"/>
              </a:rPr>
              <a:t>在通信时并不区分服务的请求方和服务的提供方</a:t>
            </a:r>
            <a:endParaRPr lang="zh-CN" altLang="en-US" dirty="0">
              <a:solidFill>
                <a:schemeClr val="tx1"/>
              </a:solidFill>
              <a:cs typeface="微软雅黑" panose="020B0503020204020204" pitchFamily="34" charset="-122"/>
              <a:sym typeface="+mn-ea"/>
            </a:endParaRPr>
          </a:p>
          <a:p>
            <a:pPr lvl="1" algn="just">
              <a:lnSpc>
                <a:spcPct val="120000"/>
              </a:lnSpc>
            </a:pPr>
            <a:r>
              <a:rPr lang="zh-CN" altLang="en-US" dirty="0">
                <a:sym typeface="+mn-ea"/>
              </a:rPr>
              <a:t>只要两个主机都运行P2P软件，它们就可以进行</a:t>
            </a:r>
            <a:r>
              <a:rPr lang="zh-CN" altLang="en-US" dirty="0">
                <a:solidFill>
                  <a:srgbClr val="C00000"/>
                </a:solidFill>
                <a:sym typeface="+mn-ea"/>
              </a:rPr>
              <a:t>平等、对等的通信</a:t>
            </a:r>
            <a:endParaRPr kumimoji="1" lang="zh-CN" altLang="en-US" noProof="0" dirty="0">
              <a:ln>
                <a:noFill/>
              </a:ln>
              <a:solidFill>
                <a:srgbClr val="C00000"/>
              </a:solidFill>
              <a:effectLst/>
              <a:uLnTx/>
              <a:uFillTx/>
              <a:cs typeface="微软雅黑" panose="020B0503020204020204" pitchFamily="34" charset="-122"/>
              <a:sym typeface="+mn-ea"/>
            </a:endParaRPr>
          </a:p>
          <a:p>
            <a:pPr lvl="1" algn="just">
              <a:lnSpc>
                <a:spcPct val="120000"/>
              </a:lnSpc>
            </a:pPr>
            <a:r>
              <a:rPr lang="zh-CN" altLang="en-US" dirty="0">
                <a:sym typeface="+mn-ea"/>
              </a:rPr>
              <a:t>双方都可以下载对方存储在硬盘中的共享文档</a:t>
            </a:r>
            <a:endParaRPr lang="en-US" altLang="zh-CN" dirty="0">
              <a:cs typeface="微软雅黑" panose="020B0503020204020204" pitchFamily="34" charset="-122"/>
            </a:endParaRPr>
          </a:p>
          <a:p>
            <a:pPr algn="just">
              <a:lnSpc>
                <a:spcPct val="120000"/>
              </a:lnSpc>
            </a:pPr>
            <a:r>
              <a:rPr lang="zh-CN" altLang="en-US" dirty="0">
                <a:sym typeface="+mn-ea"/>
              </a:rPr>
              <a:t>音频/视频应用推动了P2P对等通信方式的发展</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sym typeface="+mn-ea"/>
            </a:endParaRPr>
          </a:p>
          <a:p>
            <a:pPr algn="just">
              <a:lnSpc>
                <a:spcPct val="120000"/>
              </a:lnSpc>
            </a:pPr>
            <a:r>
              <a:rPr lang="zh-CN" altLang="en-US" dirty="0">
                <a:sym typeface="+mn-ea"/>
              </a:rPr>
              <a:t>音频/视频流量已占主要比例</a:t>
            </a: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
        <p:nvSpPr>
          <p:cNvPr id="4" name="内容占位符 2"/>
          <p:cNvSpPr>
            <a:spLocks noGrp="1"/>
          </p:cNvSpPr>
          <p:nvPr/>
        </p:nvSpPr>
        <p:spPr>
          <a:xfrm>
            <a:off x="838200" y="1351915"/>
            <a:ext cx="1040892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(3) </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对等（</a:t>
            </a:r>
            <a:r>
              <a:rPr kumimoji="1" lang="en-US" altLang="zh-CN" noProof="0" dirty="0">
                <a:ln>
                  <a:noFill/>
                </a:ln>
                <a:effectLst/>
                <a:uLnTx/>
                <a:uFillTx/>
                <a:latin typeface="等线" panose="02010600030101010101" pitchFamily="2" charset="-122"/>
                <a:ea typeface="等线" panose="02010600030101010101" pitchFamily="2" charset="-122"/>
                <a:sym typeface="+mn-ea"/>
              </a:rPr>
              <a:t>P2P</a:t>
            </a:r>
            <a:r>
              <a:rPr kumimoji="1" lang="zh-CN" altLang="en-US" noProof="0" dirty="0">
                <a:ln>
                  <a:noFill/>
                </a:ln>
                <a:effectLst/>
                <a:uLnTx/>
                <a:uFillTx/>
                <a:latin typeface="等线" panose="02010600030101010101" pitchFamily="2" charset="-122"/>
                <a:ea typeface="等线" panose="02010600030101010101" pitchFamily="2" charset="-122"/>
                <a:sym typeface="+mn-ea"/>
              </a:rPr>
              <a:t>，</a:t>
            </a:r>
            <a:r>
              <a:rPr kumimoji="1" lang="en-US" altLang="zh-CN" noProof="0" dirty="0">
                <a:ln>
                  <a:noFill/>
                </a:ln>
                <a:effectLst/>
                <a:uLnTx/>
                <a:uFillTx/>
                <a:latin typeface="等线" panose="02010600030101010101" pitchFamily="2" charset="-122"/>
                <a:ea typeface="等线" panose="02010600030101010101" pitchFamily="2" charset="-122"/>
                <a:sym typeface="+mn-ea"/>
              </a:rPr>
              <a:t>Peer to Peer</a:t>
            </a:r>
            <a:r>
              <a:rPr kumimoji="1" lang="zh-CN" altLang="en-US" noProof="0" dirty="0">
                <a:ln>
                  <a:noFill/>
                </a:ln>
                <a:effectLst/>
                <a:uLnTx/>
                <a:uFillTx/>
                <a:latin typeface="等线" panose="02010600030101010101" pitchFamily="2" charset="-122"/>
                <a:ea typeface="等线" panose="02010600030101010101" pitchFamily="2" charset="-122"/>
                <a:sym typeface="+mn-ea"/>
              </a:rPr>
              <a:t>）方式</a:t>
            </a:r>
            <a:endParaRPr kumimoji="1" lang="zh-CN" altLang="en-US"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Tree>
    <p:extLst>
      <p:ext uri="{BB962C8B-B14F-4D97-AF65-F5344CB8AC3E}">
        <p14:creationId xmlns:p14="http://schemas.microsoft.com/office/powerpoint/2010/main" val="4221873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514087"/>
            <a:ext cx="10529570" cy="4838453"/>
          </a:xfrm>
        </p:spPr>
        <p:txBody>
          <a:bodyPr>
            <a:noAutofit/>
          </a:bodyPr>
          <a:lstStyle/>
          <a:p>
            <a:pPr algn="just">
              <a:lnSpc>
                <a:spcPct val="120000"/>
              </a:lnSpc>
            </a:pPr>
            <a:r>
              <a:rPr lang="zh-CN" altLang="en-US" dirty="0">
                <a:sym typeface="+mn-ea"/>
              </a:rPr>
              <a:t>P2P方式从本质上看仍然是使用了C/S方式，但强调的是通信过程中的对等，这时每一个</a:t>
            </a:r>
            <a:r>
              <a:rPr kumimoji="1" lang="en-US" altLang="zh-CN" noProof="0" dirty="0">
                <a:ln>
                  <a:noFill/>
                </a:ln>
                <a:solidFill>
                  <a:srgbClr val="C00000"/>
                </a:solidFill>
                <a:effectLst/>
                <a:uLnTx/>
                <a:uFillTx/>
                <a:sym typeface="+mn-ea"/>
              </a:rPr>
              <a:t>P2P进程既是客户同时也是服务器</a:t>
            </a:r>
            <a:endParaRPr lang="zh-CN" altLang="en-US" dirty="0">
              <a:solidFill>
                <a:schemeClr val="tx1"/>
              </a:solidFill>
              <a:cs typeface="微软雅黑" panose="020B0503020204020204" pitchFamily="34" charset="-122"/>
              <a:sym typeface="+mn-ea"/>
            </a:endParaRPr>
          </a:p>
          <a:p>
            <a:pPr algn="just">
              <a:lnSpc>
                <a:spcPct val="120000"/>
              </a:lnSpc>
            </a:pP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grpSp>
        <p:nvGrpSpPr>
          <p:cNvPr id="4" name="组合 3"/>
          <p:cNvGrpSpPr/>
          <p:nvPr/>
        </p:nvGrpSpPr>
        <p:grpSpPr>
          <a:xfrm>
            <a:off x="1946593" y="2704688"/>
            <a:ext cx="8686800" cy="3663134"/>
            <a:chOff x="1946593" y="2704688"/>
            <a:chExt cx="8686800" cy="3805237"/>
          </a:xfrm>
        </p:grpSpPr>
        <p:sp>
          <p:nvSpPr>
            <p:cNvPr id="7" name="直接连接符 151554"/>
            <p:cNvSpPr>
              <a:spLocks noChangeShapeType="1"/>
            </p:cNvSpPr>
            <p:nvPr/>
          </p:nvSpPr>
          <p:spPr bwMode="auto">
            <a:xfrm>
              <a:off x="6280469" y="5824126"/>
              <a:ext cx="0" cy="325437"/>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8" name="矩形 151555"/>
            <p:cNvSpPr>
              <a:spLocks noChangeArrowheads="1"/>
            </p:cNvSpPr>
            <p:nvPr/>
          </p:nvSpPr>
          <p:spPr bwMode="auto">
            <a:xfrm>
              <a:off x="4877118" y="3130138"/>
              <a:ext cx="2898775"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dirty="0">
                <a:latin typeface="等线" panose="02010600030101010101" pitchFamily="2" charset="-122"/>
                <a:ea typeface="等线" panose="02010600030101010101" pitchFamily="2" charset="-122"/>
              </a:endParaRPr>
            </a:p>
          </p:txBody>
        </p:sp>
        <p:sp>
          <p:nvSpPr>
            <p:cNvPr id="12" name="文本框 151556"/>
            <p:cNvSpPr txBox="1">
              <a:spLocks noChangeArrowheads="1"/>
            </p:cNvSpPr>
            <p:nvPr/>
          </p:nvSpPr>
          <p:spPr bwMode="auto">
            <a:xfrm>
              <a:off x="5601018" y="4982751"/>
              <a:ext cx="1467068"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数据链路层</a:t>
              </a:r>
            </a:p>
          </p:txBody>
        </p:sp>
        <p:sp>
          <p:nvSpPr>
            <p:cNvPr id="13" name="直接连接符 151557"/>
            <p:cNvSpPr>
              <a:spLocks noChangeShapeType="1"/>
            </p:cNvSpPr>
            <p:nvPr/>
          </p:nvSpPr>
          <p:spPr bwMode="auto">
            <a:xfrm>
              <a:off x="4877118" y="5416138"/>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4" name="直接连接符 151558"/>
            <p:cNvSpPr>
              <a:spLocks noChangeShapeType="1"/>
            </p:cNvSpPr>
            <p:nvPr/>
          </p:nvSpPr>
          <p:spPr bwMode="auto">
            <a:xfrm>
              <a:off x="4877118" y="5006563"/>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5" name="直接连接符 151559"/>
            <p:cNvSpPr>
              <a:spLocks noChangeShapeType="1"/>
            </p:cNvSpPr>
            <p:nvPr/>
          </p:nvSpPr>
          <p:spPr bwMode="auto">
            <a:xfrm>
              <a:off x="4877118" y="4598576"/>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6" name="直接连接符 151560"/>
            <p:cNvSpPr>
              <a:spLocks noChangeShapeType="1"/>
            </p:cNvSpPr>
            <p:nvPr/>
          </p:nvSpPr>
          <p:spPr bwMode="auto">
            <a:xfrm>
              <a:off x="4877118" y="4190588"/>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7" name="文本框 151561"/>
            <p:cNvSpPr txBox="1">
              <a:spLocks noChangeArrowheads="1"/>
            </p:cNvSpPr>
            <p:nvPr/>
          </p:nvSpPr>
          <p:spPr bwMode="auto">
            <a:xfrm>
              <a:off x="5835968" y="5390738"/>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物理层</a:t>
              </a:r>
            </a:p>
          </p:txBody>
        </p:sp>
        <p:sp>
          <p:nvSpPr>
            <p:cNvPr id="18" name="文本框 151562"/>
            <p:cNvSpPr txBox="1">
              <a:spLocks noChangeArrowheads="1"/>
            </p:cNvSpPr>
            <p:nvPr/>
          </p:nvSpPr>
          <p:spPr bwMode="auto">
            <a:xfrm>
              <a:off x="5835968" y="4179475"/>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传输层</a:t>
              </a:r>
            </a:p>
          </p:txBody>
        </p:sp>
        <p:sp>
          <p:nvSpPr>
            <p:cNvPr id="19" name="文本框 151563"/>
            <p:cNvSpPr txBox="1">
              <a:spLocks noChangeArrowheads="1"/>
            </p:cNvSpPr>
            <p:nvPr/>
          </p:nvSpPr>
          <p:spPr bwMode="auto">
            <a:xfrm>
              <a:off x="5835968" y="4587463"/>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网络层</a:t>
              </a:r>
            </a:p>
          </p:txBody>
        </p:sp>
        <p:sp>
          <p:nvSpPr>
            <p:cNvPr id="20" name="文本框 151564"/>
            <p:cNvSpPr txBox="1">
              <a:spLocks noChangeArrowheads="1"/>
            </p:cNvSpPr>
            <p:nvPr/>
          </p:nvSpPr>
          <p:spPr bwMode="auto">
            <a:xfrm>
              <a:off x="5805806" y="3090451"/>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应用层</a:t>
              </a:r>
            </a:p>
          </p:txBody>
        </p:sp>
        <p:sp>
          <p:nvSpPr>
            <p:cNvPr id="21" name="文本框 151565"/>
            <p:cNvSpPr txBox="1">
              <a:spLocks noChangeArrowheads="1"/>
            </p:cNvSpPr>
            <p:nvPr/>
          </p:nvSpPr>
          <p:spPr bwMode="auto">
            <a:xfrm>
              <a:off x="5726431" y="2704688"/>
              <a:ext cx="1175322"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计算机 </a:t>
              </a:r>
              <a:r>
                <a:rPr lang="en-US" altLang="zh-CN" sz="2000" dirty="0">
                  <a:solidFill>
                    <a:srgbClr val="333399"/>
                  </a:solidFill>
                  <a:latin typeface="等线" panose="02010600030101010101" pitchFamily="2" charset="-122"/>
                  <a:ea typeface="等线" panose="02010600030101010101" pitchFamily="2" charset="-122"/>
                </a:rPr>
                <a:t>2</a:t>
              </a:r>
            </a:p>
          </p:txBody>
        </p:sp>
        <p:sp>
          <p:nvSpPr>
            <p:cNvPr id="25" name="任意多边形 151569"/>
            <p:cNvSpPr>
              <a:spLocks noChangeArrowheads="1"/>
            </p:cNvSpPr>
            <p:nvPr/>
          </p:nvSpPr>
          <p:spPr bwMode="auto">
            <a:xfrm>
              <a:off x="3096578" y="5824443"/>
              <a:ext cx="6371590" cy="652145"/>
            </a:xfrm>
            <a:custGeom>
              <a:avLst/>
              <a:gdLst>
                <a:gd name="T0" fmla="*/ 0 w 3527"/>
                <a:gd name="T1" fmla="*/ 0 h 333"/>
                <a:gd name="T2" fmla="*/ 0 w 3527"/>
                <a:gd name="T3" fmla="*/ 129 h 333"/>
                <a:gd name="T4" fmla="*/ 14 w 3527"/>
                <a:gd name="T5" fmla="*/ 192 h 333"/>
                <a:gd name="T6" fmla="*/ 50 w 3527"/>
                <a:gd name="T7" fmla="*/ 270 h 333"/>
                <a:gd name="T8" fmla="*/ 122 w 3527"/>
                <a:gd name="T9" fmla="*/ 318 h 333"/>
                <a:gd name="T10" fmla="*/ 177 w 3527"/>
                <a:gd name="T11" fmla="*/ 330 h 333"/>
                <a:gd name="T12" fmla="*/ 3360 w 3527"/>
                <a:gd name="T13" fmla="*/ 333 h 333"/>
                <a:gd name="T14" fmla="*/ 3422 w 3527"/>
                <a:gd name="T15" fmla="*/ 318 h 333"/>
                <a:gd name="T16" fmla="*/ 3482 w 3527"/>
                <a:gd name="T17" fmla="*/ 282 h 333"/>
                <a:gd name="T18" fmla="*/ 3512 w 3527"/>
                <a:gd name="T19" fmla="*/ 234 h 333"/>
                <a:gd name="T20" fmla="*/ 3524 w 3527"/>
                <a:gd name="T21" fmla="*/ 162 h 333"/>
                <a:gd name="T22" fmla="*/ 3527 w 3527"/>
                <a:gd name="T2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26" name="矩形 151570"/>
            <p:cNvSpPr>
              <a:spLocks noChangeArrowheads="1"/>
            </p:cNvSpPr>
            <p:nvPr/>
          </p:nvSpPr>
          <p:spPr bwMode="auto">
            <a:xfrm>
              <a:off x="1946593" y="3130138"/>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dirty="0">
                <a:latin typeface="等线" panose="02010600030101010101" pitchFamily="2" charset="-122"/>
                <a:ea typeface="等线" panose="02010600030101010101" pitchFamily="2" charset="-122"/>
              </a:endParaRPr>
            </a:p>
          </p:txBody>
        </p:sp>
        <p:sp>
          <p:nvSpPr>
            <p:cNvPr id="27" name="文本框 151571"/>
            <p:cNvSpPr txBox="1">
              <a:spLocks noChangeArrowheads="1"/>
            </p:cNvSpPr>
            <p:nvPr/>
          </p:nvSpPr>
          <p:spPr bwMode="auto">
            <a:xfrm>
              <a:off x="2373631" y="4982751"/>
              <a:ext cx="1467068"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数据链路层</a:t>
              </a:r>
            </a:p>
          </p:txBody>
        </p:sp>
        <p:sp>
          <p:nvSpPr>
            <p:cNvPr id="28" name="直接连接符 151572"/>
            <p:cNvSpPr>
              <a:spLocks noChangeShapeType="1"/>
            </p:cNvSpPr>
            <p:nvPr/>
          </p:nvSpPr>
          <p:spPr bwMode="auto">
            <a:xfrm>
              <a:off x="2329181" y="5416138"/>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29" name="直接连接符 151573"/>
            <p:cNvSpPr>
              <a:spLocks noChangeShapeType="1"/>
            </p:cNvSpPr>
            <p:nvPr/>
          </p:nvSpPr>
          <p:spPr bwMode="auto">
            <a:xfrm>
              <a:off x="2329181" y="5006563"/>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0" name="直接连接符 151574"/>
            <p:cNvSpPr>
              <a:spLocks noChangeShapeType="1"/>
            </p:cNvSpPr>
            <p:nvPr/>
          </p:nvSpPr>
          <p:spPr bwMode="auto">
            <a:xfrm>
              <a:off x="2329181" y="4598576"/>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1" name="直接连接符 151575"/>
            <p:cNvSpPr>
              <a:spLocks noChangeShapeType="1"/>
            </p:cNvSpPr>
            <p:nvPr/>
          </p:nvSpPr>
          <p:spPr bwMode="auto">
            <a:xfrm>
              <a:off x="2329181" y="4190588"/>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2" name="文本框 151576"/>
            <p:cNvSpPr txBox="1">
              <a:spLocks noChangeArrowheads="1"/>
            </p:cNvSpPr>
            <p:nvPr/>
          </p:nvSpPr>
          <p:spPr bwMode="auto">
            <a:xfrm>
              <a:off x="2606993" y="5390738"/>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物理层</a:t>
              </a:r>
            </a:p>
          </p:txBody>
        </p:sp>
        <p:sp>
          <p:nvSpPr>
            <p:cNvPr id="33" name="文本框 151577"/>
            <p:cNvSpPr txBox="1">
              <a:spLocks noChangeArrowheads="1"/>
            </p:cNvSpPr>
            <p:nvPr/>
          </p:nvSpPr>
          <p:spPr bwMode="auto">
            <a:xfrm>
              <a:off x="2606993" y="4179475"/>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传输层</a:t>
              </a:r>
            </a:p>
          </p:txBody>
        </p:sp>
        <p:sp>
          <p:nvSpPr>
            <p:cNvPr id="34" name="文本框 151578"/>
            <p:cNvSpPr txBox="1">
              <a:spLocks noChangeArrowheads="1"/>
            </p:cNvSpPr>
            <p:nvPr/>
          </p:nvSpPr>
          <p:spPr bwMode="auto">
            <a:xfrm>
              <a:off x="2606993" y="4587463"/>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网络层</a:t>
              </a:r>
            </a:p>
          </p:txBody>
        </p:sp>
        <p:sp>
          <p:nvSpPr>
            <p:cNvPr id="35" name="直接连接符 151579"/>
            <p:cNvSpPr>
              <a:spLocks noChangeShapeType="1"/>
            </p:cNvSpPr>
            <p:nvPr/>
          </p:nvSpPr>
          <p:spPr bwMode="auto">
            <a:xfrm>
              <a:off x="3099118" y="3946113"/>
              <a:ext cx="0" cy="2444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6" name="椭圆 151580"/>
            <p:cNvSpPr>
              <a:spLocks noChangeArrowheads="1"/>
            </p:cNvSpPr>
            <p:nvPr/>
          </p:nvSpPr>
          <p:spPr bwMode="auto">
            <a:xfrm>
              <a:off x="2174558" y="3542888"/>
              <a:ext cx="1983105" cy="488950"/>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r>
                <a:rPr lang="zh-CN" altLang="en-US" sz="2000" dirty="0">
                  <a:solidFill>
                    <a:srgbClr val="333399"/>
                  </a:solidFill>
                  <a:latin typeface="等线" panose="02010600030101010101" pitchFamily="2" charset="-122"/>
                  <a:ea typeface="等线" panose="02010600030101010101" pitchFamily="2" charset="-122"/>
                </a:rPr>
                <a:t>服务器</a:t>
              </a:r>
              <a:r>
                <a:rPr lang="en-US" altLang="zh-CN" sz="2000" dirty="0">
                  <a:solidFill>
                    <a:srgbClr val="333399"/>
                  </a:solidFill>
                  <a:latin typeface="等线" panose="02010600030101010101" pitchFamily="2" charset="-122"/>
                  <a:ea typeface="等线" panose="02010600030101010101" pitchFamily="2" charset="-122"/>
                </a:rPr>
                <a:t>/</a:t>
              </a:r>
              <a:r>
                <a:rPr lang="zh-CN" altLang="en-US" sz="2000" dirty="0">
                  <a:solidFill>
                    <a:srgbClr val="333399"/>
                  </a:solidFill>
                  <a:latin typeface="等线" panose="02010600030101010101" pitchFamily="2" charset="-122"/>
                  <a:ea typeface="等线" panose="02010600030101010101" pitchFamily="2" charset="-122"/>
                </a:rPr>
                <a:t>客户 </a:t>
              </a:r>
              <a:r>
                <a:rPr lang="en-US" altLang="zh-CN" sz="2000" dirty="0">
                  <a:solidFill>
                    <a:srgbClr val="333399"/>
                  </a:solidFill>
                  <a:latin typeface="等线" panose="02010600030101010101" pitchFamily="2" charset="-122"/>
                  <a:ea typeface="等线" panose="02010600030101010101" pitchFamily="2" charset="-122"/>
                </a:rPr>
                <a:t>1</a:t>
              </a:r>
            </a:p>
          </p:txBody>
        </p:sp>
        <p:sp>
          <p:nvSpPr>
            <p:cNvPr id="37" name="文本框 151581"/>
            <p:cNvSpPr txBox="1">
              <a:spLocks noChangeArrowheads="1"/>
            </p:cNvSpPr>
            <p:nvPr/>
          </p:nvSpPr>
          <p:spPr bwMode="auto">
            <a:xfrm>
              <a:off x="2614931" y="3104738"/>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应用层</a:t>
              </a:r>
            </a:p>
          </p:txBody>
        </p:sp>
        <p:sp>
          <p:nvSpPr>
            <p:cNvPr id="38" name="文本框 151582"/>
            <p:cNvSpPr txBox="1">
              <a:spLocks noChangeArrowheads="1"/>
            </p:cNvSpPr>
            <p:nvPr/>
          </p:nvSpPr>
          <p:spPr bwMode="auto">
            <a:xfrm>
              <a:off x="2548256" y="2704688"/>
              <a:ext cx="1175322"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计算机 </a:t>
              </a:r>
              <a:r>
                <a:rPr lang="en-US" altLang="zh-CN" sz="2000" dirty="0">
                  <a:solidFill>
                    <a:srgbClr val="333399"/>
                  </a:solidFill>
                  <a:latin typeface="等线" panose="02010600030101010101" pitchFamily="2" charset="-122"/>
                  <a:ea typeface="等线" panose="02010600030101010101" pitchFamily="2" charset="-122"/>
                </a:rPr>
                <a:t>1</a:t>
              </a:r>
            </a:p>
          </p:txBody>
        </p:sp>
        <p:sp>
          <p:nvSpPr>
            <p:cNvPr id="39" name="矩形 151583"/>
            <p:cNvSpPr>
              <a:spLocks noChangeArrowheads="1"/>
            </p:cNvSpPr>
            <p:nvPr/>
          </p:nvSpPr>
          <p:spPr bwMode="auto">
            <a:xfrm>
              <a:off x="8194993" y="3130138"/>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dirty="0">
                <a:latin typeface="等线" panose="02010600030101010101" pitchFamily="2" charset="-122"/>
                <a:ea typeface="等线" panose="02010600030101010101" pitchFamily="2" charset="-122"/>
              </a:endParaRPr>
            </a:p>
          </p:txBody>
        </p:sp>
        <p:sp>
          <p:nvSpPr>
            <p:cNvPr id="40" name="文本框 151584"/>
            <p:cNvSpPr txBox="1">
              <a:spLocks noChangeArrowheads="1"/>
            </p:cNvSpPr>
            <p:nvPr/>
          </p:nvSpPr>
          <p:spPr bwMode="auto">
            <a:xfrm>
              <a:off x="8785543" y="4982751"/>
              <a:ext cx="1467068"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数据链路层</a:t>
              </a:r>
            </a:p>
          </p:txBody>
        </p:sp>
        <p:sp>
          <p:nvSpPr>
            <p:cNvPr id="41" name="直接连接符 151585"/>
            <p:cNvSpPr>
              <a:spLocks noChangeShapeType="1"/>
            </p:cNvSpPr>
            <p:nvPr/>
          </p:nvSpPr>
          <p:spPr bwMode="auto">
            <a:xfrm>
              <a:off x="8741093" y="5416138"/>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42" name="直接连接符 151586"/>
            <p:cNvSpPr>
              <a:spLocks noChangeShapeType="1"/>
            </p:cNvSpPr>
            <p:nvPr/>
          </p:nvSpPr>
          <p:spPr bwMode="auto">
            <a:xfrm>
              <a:off x="8741093" y="5006563"/>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43" name="直接连接符 151587"/>
            <p:cNvSpPr>
              <a:spLocks noChangeShapeType="1"/>
            </p:cNvSpPr>
            <p:nvPr/>
          </p:nvSpPr>
          <p:spPr bwMode="auto">
            <a:xfrm>
              <a:off x="8741093" y="4598576"/>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44" name="直接连接符 151588"/>
            <p:cNvSpPr>
              <a:spLocks noChangeShapeType="1"/>
            </p:cNvSpPr>
            <p:nvPr/>
          </p:nvSpPr>
          <p:spPr bwMode="auto">
            <a:xfrm>
              <a:off x="8741093" y="4190588"/>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45" name="文本框 151589"/>
            <p:cNvSpPr txBox="1">
              <a:spLocks noChangeArrowheads="1"/>
            </p:cNvSpPr>
            <p:nvPr/>
          </p:nvSpPr>
          <p:spPr bwMode="auto">
            <a:xfrm>
              <a:off x="9020493" y="5390738"/>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物理层</a:t>
              </a:r>
            </a:p>
          </p:txBody>
        </p:sp>
        <p:sp>
          <p:nvSpPr>
            <p:cNvPr id="46" name="文本框 151590"/>
            <p:cNvSpPr txBox="1">
              <a:spLocks noChangeArrowheads="1"/>
            </p:cNvSpPr>
            <p:nvPr/>
          </p:nvSpPr>
          <p:spPr bwMode="auto">
            <a:xfrm>
              <a:off x="9020493" y="4179475"/>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传输层</a:t>
              </a:r>
            </a:p>
          </p:txBody>
        </p:sp>
        <p:sp>
          <p:nvSpPr>
            <p:cNvPr id="47" name="文本框 151591"/>
            <p:cNvSpPr txBox="1">
              <a:spLocks noChangeArrowheads="1"/>
            </p:cNvSpPr>
            <p:nvPr/>
          </p:nvSpPr>
          <p:spPr bwMode="auto">
            <a:xfrm>
              <a:off x="9020493" y="4587463"/>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网络层</a:t>
              </a:r>
            </a:p>
          </p:txBody>
        </p:sp>
        <p:sp>
          <p:nvSpPr>
            <p:cNvPr id="50" name="文本框 151594"/>
            <p:cNvSpPr txBox="1">
              <a:spLocks noChangeArrowheads="1"/>
            </p:cNvSpPr>
            <p:nvPr/>
          </p:nvSpPr>
          <p:spPr bwMode="auto">
            <a:xfrm>
              <a:off x="9012556" y="3117438"/>
              <a:ext cx="954107"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应用层</a:t>
              </a:r>
            </a:p>
          </p:txBody>
        </p:sp>
        <p:sp>
          <p:nvSpPr>
            <p:cNvPr id="51" name="文本框 151595"/>
            <p:cNvSpPr txBox="1">
              <a:spLocks noChangeArrowheads="1"/>
            </p:cNvSpPr>
            <p:nvPr/>
          </p:nvSpPr>
          <p:spPr bwMode="auto">
            <a:xfrm>
              <a:off x="8968106" y="2704688"/>
              <a:ext cx="1175322" cy="41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计算机 </a:t>
              </a:r>
              <a:r>
                <a:rPr lang="en-US" altLang="zh-CN" sz="2000" dirty="0">
                  <a:solidFill>
                    <a:srgbClr val="333399"/>
                  </a:solidFill>
                  <a:latin typeface="等线" panose="02010600030101010101" pitchFamily="2" charset="-122"/>
                  <a:ea typeface="等线" panose="02010600030101010101" pitchFamily="2" charset="-122"/>
                </a:rPr>
                <a:t>3</a:t>
              </a:r>
            </a:p>
          </p:txBody>
        </p:sp>
        <p:grpSp>
          <p:nvGrpSpPr>
            <p:cNvPr id="52" name="组合 151596"/>
            <p:cNvGrpSpPr/>
            <p:nvPr/>
          </p:nvGrpSpPr>
          <p:grpSpPr bwMode="auto">
            <a:xfrm>
              <a:off x="5802632" y="6094001"/>
              <a:ext cx="1044575" cy="415924"/>
              <a:chOff x="328" y="76"/>
              <a:chExt cx="658" cy="262"/>
            </a:xfrm>
          </p:grpSpPr>
          <p:sp>
            <p:nvSpPr>
              <p:cNvPr id="54" name="文本框 151598"/>
              <p:cNvSpPr txBox="1">
                <a:spLocks noChangeArrowheads="1"/>
              </p:cNvSpPr>
              <p:nvPr/>
            </p:nvSpPr>
            <p:spPr bwMode="auto">
              <a:xfrm>
                <a:off x="328" y="76"/>
                <a:ext cx="658"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333399"/>
                    </a:solidFill>
                    <a:latin typeface="等线" panose="02010600030101010101" pitchFamily="2" charset="-122"/>
                    <a:ea typeface="等线" panose="02010600030101010101" pitchFamily="2" charset="-122"/>
                  </a:rPr>
                  <a:t>Internet</a:t>
                </a:r>
                <a:endParaRPr lang="zh-CN" altLang="en-US" sz="2000" dirty="0">
                  <a:solidFill>
                    <a:srgbClr val="333399"/>
                  </a:solidFill>
                  <a:latin typeface="等线" panose="02010600030101010101" pitchFamily="2" charset="-122"/>
                  <a:ea typeface="等线" panose="02010600030101010101" pitchFamily="2" charset="-122"/>
                </a:endParaRPr>
              </a:p>
            </p:txBody>
          </p:sp>
        </p:grpSp>
        <p:sp>
          <p:nvSpPr>
            <p:cNvPr id="55" name="直接连接符 151599"/>
            <p:cNvSpPr>
              <a:spLocks noChangeShapeType="1"/>
            </p:cNvSpPr>
            <p:nvPr/>
          </p:nvSpPr>
          <p:spPr bwMode="auto">
            <a:xfrm flipV="1">
              <a:off x="7563168" y="3794348"/>
              <a:ext cx="784225" cy="0"/>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56" name="直接连接符 151600"/>
            <p:cNvSpPr>
              <a:spLocks noChangeShapeType="1"/>
            </p:cNvSpPr>
            <p:nvPr/>
          </p:nvSpPr>
          <p:spPr bwMode="auto">
            <a:xfrm>
              <a:off x="4156393" y="3771488"/>
              <a:ext cx="895350" cy="11113"/>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58" name="椭圆 151602"/>
            <p:cNvSpPr>
              <a:spLocks noChangeArrowheads="1"/>
            </p:cNvSpPr>
            <p:nvPr/>
          </p:nvSpPr>
          <p:spPr bwMode="auto">
            <a:xfrm>
              <a:off x="8346758" y="3542888"/>
              <a:ext cx="2210435" cy="488950"/>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r>
                <a:rPr lang="zh-CN" altLang="en-US" sz="2000" dirty="0">
                  <a:solidFill>
                    <a:srgbClr val="333399"/>
                  </a:solidFill>
                  <a:latin typeface="等线" panose="02010600030101010101" pitchFamily="2" charset="-122"/>
                  <a:ea typeface="等线" panose="02010600030101010101" pitchFamily="2" charset="-122"/>
                </a:rPr>
                <a:t>服务器</a:t>
              </a:r>
              <a:r>
                <a:rPr lang="en-US" altLang="zh-CN" sz="2000" dirty="0">
                  <a:solidFill>
                    <a:srgbClr val="333399"/>
                  </a:solidFill>
                  <a:latin typeface="等线" panose="02010600030101010101" pitchFamily="2" charset="-122"/>
                  <a:ea typeface="等线" panose="02010600030101010101" pitchFamily="2" charset="-122"/>
                </a:rPr>
                <a:t>/</a:t>
              </a:r>
              <a:r>
                <a:rPr lang="zh-CN" altLang="en-US" sz="2000" dirty="0">
                  <a:solidFill>
                    <a:srgbClr val="333399"/>
                  </a:solidFill>
                  <a:latin typeface="等线" panose="02010600030101010101" pitchFamily="2" charset="-122"/>
                  <a:ea typeface="等线" panose="02010600030101010101" pitchFamily="2" charset="-122"/>
                </a:rPr>
                <a:t>客户</a:t>
              </a:r>
              <a:r>
                <a:rPr lang="en-US" altLang="zh-CN" sz="2000" dirty="0">
                  <a:solidFill>
                    <a:srgbClr val="333399"/>
                  </a:solidFill>
                  <a:latin typeface="等线" panose="02010600030101010101" pitchFamily="2" charset="-122"/>
                  <a:ea typeface="等线" panose="02010600030101010101" pitchFamily="2" charset="-122"/>
                </a:rPr>
                <a:t>3</a:t>
              </a:r>
            </a:p>
          </p:txBody>
        </p:sp>
        <p:sp>
          <p:nvSpPr>
            <p:cNvPr id="60" name="直接连接符 151604"/>
            <p:cNvSpPr>
              <a:spLocks noChangeShapeType="1"/>
            </p:cNvSpPr>
            <p:nvPr/>
          </p:nvSpPr>
          <p:spPr bwMode="auto">
            <a:xfrm>
              <a:off x="9471343" y="4000088"/>
              <a:ext cx="0" cy="19843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1" name="直接连接符 151604"/>
            <p:cNvSpPr>
              <a:spLocks noChangeShapeType="1"/>
            </p:cNvSpPr>
            <p:nvPr/>
          </p:nvSpPr>
          <p:spPr bwMode="auto">
            <a:xfrm flipH="1">
              <a:off x="6261904" y="4000088"/>
              <a:ext cx="0" cy="189946"/>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53" name="椭圆 151580"/>
            <p:cNvSpPr>
              <a:spLocks noChangeArrowheads="1"/>
            </p:cNvSpPr>
            <p:nvPr/>
          </p:nvSpPr>
          <p:spPr bwMode="auto">
            <a:xfrm>
              <a:off x="5051425" y="3549561"/>
              <a:ext cx="2511425" cy="488950"/>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r>
                <a:rPr lang="zh-CN" altLang="en-US" sz="2000" dirty="0">
                  <a:solidFill>
                    <a:srgbClr val="333399"/>
                  </a:solidFill>
                  <a:latin typeface="等线" panose="02010600030101010101" pitchFamily="2" charset="-122"/>
                  <a:ea typeface="等线" panose="02010600030101010101" pitchFamily="2" charset="-122"/>
                </a:rPr>
                <a:t>服务器</a:t>
              </a:r>
              <a:r>
                <a:rPr lang="en-US" altLang="zh-CN" sz="2000" dirty="0">
                  <a:solidFill>
                    <a:srgbClr val="333399"/>
                  </a:solidFill>
                  <a:latin typeface="等线" panose="02010600030101010101" pitchFamily="2" charset="-122"/>
                  <a:ea typeface="等线" panose="02010600030101010101" pitchFamily="2" charset="-122"/>
                </a:rPr>
                <a:t>/</a:t>
              </a:r>
              <a:r>
                <a:rPr lang="zh-CN" altLang="en-US" sz="2000" dirty="0">
                  <a:solidFill>
                    <a:srgbClr val="333399"/>
                  </a:solidFill>
                  <a:latin typeface="等线" panose="02010600030101010101" pitchFamily="2" charset="-122"/>
                  <a:ea typeface="等线" panose="02010600030101010101" pitchFamily="2" charset="-122"/>
                </a:rPr>
                <a:t>客户 </a:t>
              </a:r>
              <a:r>
                <a:rPr lang="en-US" altLang="zh-CN" sz="2000" dirty="0">
                  <a:solidFill>
                    <a:srgbClr val="333399"/>
                  </a:solidFill>
                  <a:latin typeface="等线" panose="02010600030101010101" pitchFamily="2" charset="-122"/>
                  <a:ea typeface="等线" panose="02010600030101010101" pitchFamily="2" charset="-122"/>
                </a:rPr>
                <a:t>2</a:t>
              </a:r>
            </a:p>
          </p:txBody>
        </p:sp>
      </p:grpSp>
    </p:spTree>
    <p:extLst>
      <p:ext uri="{BB962C8B-B14F-4D97-AF65-F5344CB8AC3E}">
        <p14:creationId xmlns:p14="http://schemas.microsoft.com/office/powerpoint/2010/main" val="1104628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838200" y="1436914"/>
            <a:ext cx="10529570" cy="4932771"/>
          </a:xfrm>
        </p:spPr>
        <p:txBody>
          <a:bodyPr>
            <a:noAutofit/>
          </a:bodyPr>
          <a:lstStyle/>
          <a:p>
            <a:pPr algn="just">
              <a:lnSpc>
                <a:spcPct val="120000"/>
              </a:lnSpc>
            </a:pPr>
            <a:r>
              <a:rPr kumimoji="1" lang="en-US" altLang="zh-CN" noProof="0" dirty="0" err="1">
                <a:ln>
                  <a:noFill/>
                </a:ln>
                <a:solidFill>
                  <a:srgbClr val="C00000"/>
                </a:solidFill>
                <a:effectLst/>
                <a:uLnTx/>
                <a:uFillTx/>
                <a:sym typeface="+mn-ea"/>
              </a:rPr>
              <a:t>循环方式</a:t>
            </a:r>
            <a:r>
              <a:rPr lang="zh-CN" altLang="en-US" dirty="0">
                <a:sym typeface="+mn-ea"/>
              </a:rPr>
              <a:t>(iterative mode)</a:t>
            </a:r>
            <a:endParaRPr lang="en-US" altLang="zh-CN" dirty="0">
              <a:sym typeface="+mn-ea"/>
            </a:endParaRPr>
          </a:p>
          <a:p>
            <a:pPr lvl="1" algn="just">
              <a:lnSpc>
                <a:spcPct val="120000"/>
              </a:lnSpc>
            </a:pPr>
            <a:r>
              <a:rPr lang="zh-CN" altLang="en-US" dirty="0">
                <a:sym typeface="+mn-ea"/>
              </a:rPr>
              <a:t>一次只运行</a:t>
            </a:r>
            <a:r>
              <a:rPr kumimoji="1" lang="en-US" altLang="zh-CN" noProof="0" dirty="0" err="1">
                <a:ln>
                  <a:noFill/>
                </a:ln>
                <a:solidFill>
                  <a:srgbClr val="C00000"/>
                </a:solidFill>
                <a:effectLst/>
                <a:uLnTx/>
                <a:uFillTx/>
                <a:sym typeface="+mn-ea"/>
              </a:rPr>
              <a:t>一个服务进程</a:t>
            </a:r>
            <a:endParaRPr lang="en-US" altLang="zh-CN" dirty="0">
              <a:sym typeface="+mn-ea"/>
            </a:endParaRPr>
          </a:p>
          <a:p>
            <a:pPr lvl="1" algn="just">
              <a:lnSpc>
                <a:spcPct val="120000"/>
              </a:lnSpc>
            </a:pPr>
            <a:r>
              <a:rPr lang="zh-CN" altLang="en-US" dirty="0">
                <a:sym typeface="+mn-ea"/>
              </a:rPr>
              <a:t>当有多个客户进程请求服务时，服务进程就按</a:t>
            </a:r>
            <a:r>
              <a:rPr kumimoji="1" lang="en-US" altLang="zh-CN" noProof="0" dirty="0">
                <a:ln>
                  <a:noFill/>
                </a:ln>
                <a:solidFill>
                  <a:srgbClr val="C00000"/>
                </a:solidFill>
                <a:effectLst/>
                <a:uLnTx/>
                <a:uFillTx/>
                <a:sym typeface="+mn-ea"/>
              </a:rPr>
              <a:t>请求的先后顺序</a:t>
            </a:r>
            <a:r>
              <a:rPr lang="zh-CN" altLang="en-US" dirty="0">
                <a:sym typeface="+mn-ea"/>
              </a:rPr>
              <a:t>依次做出响应 (</a:t>
            </a:r>
            <a:r>
              <a:rPr kumimoji="1" lang="zh-CN" altLang="en-US" dirty="0">
                <a:solidFill>
                  <a:srgbClr val="7030A0"/>
                </a:solidFill>
                <a:sym typeface="+mn-ea"/>
              </a:rPr>
              <a:t>阻塞方式</a:t>
            </a:r>
            <a:r>
              <a:rPr lang="zh-CN" altLang="en-US" dirty="0">
                <a:sym typeface="+mn-ea"/>
              </a:rPr>
              <a:t>)</a:t>
            </a:r>
            <a:endParaRPr lang="zh-CN" altLang="en-US" dirty="0">
              <a:solidFill>
                <a:schemeClr val="tx1"/>
              </a:solidFill>
              <a:cs typeface="微软雅黑" panose="020B0503020204020204" pitchFamily="34" charset="-122"/>
              <a:sym typeface="+mn-ea"/>
            </a:endParaRPr>
          </a:p>
          <a:p>
            <a:pPr algn="just">
              <a:lnSpc>
                <a:spcPct val="120000"/>
              </a:lnSpc>
            </a:pPr>
            <a:r>
              <a:rPr kumimoji="1" lang="en-US" altLang="zh-CN" noProof="0" dirty="0">
                <a:ln>
                  <a:noFill/>
                </a:ln>
                <a:solidFill>
                  <a:srgbClr val="C00000"/>
                </a:solidFill>
                <a:effectLst/>
                <a:uLnTx/>
                <a:uFillTx/>
                <a:sym typeface="+mn-ea"/>
              </a:rPr>
              <a:t>并发方式</a:t>
            </a:r>
            <a:r>
              <a:rPr lang="zh-CN" altLang="en-US" dirty="0">
                <a:sym typeface="+mn-ea"/>
              </a:rPr>
              <a:t>(concurrent </a:t>
            </a:r>
            <a:r>
              <a:rPr lang="en-US" altLang="zh-CN" dirty="0">
                <a:sym typeface="+mn-ea"/>
              </a:rPr>
              <a:t>mode</a:t>
            </a:r>
            <a:r>
              <a:rPr lang="zh-CN" altLang="en-US" dirty="0">
                <a:sym typeface="+mn-ea"/>
              </a:rPr>
              <a:t>)</a:t>
            </a:r>
            <a:endParaRPr lang="en-US" altLang="zh-CN" dirty="0">
              <a:sym typeface="+mn-ea"/>
            </a:endParaRPr>
          </a:p>
          <a:p>
            <a:pPr lvl="1" algn="just">
              <a:lnSpc>
                <a:spcPct val="120000"/>
              </a:lnSpc>
            </a:pPr>
            <a:r>
              <a:rPr lang="zh-CN" altLang="en-US" dirty="0">
                <a:sym typeface="+mn-ea"/>
              </a:rPr>
              <a:t>可以同时运行</a:t>
            </a:r>
            <a:r>
              <a:rPr kumimoji="1" lang="en-US" altLang="zh-CN" noProof="0" dirty="0" err="1">
                <a:ln>
                  <a:noFill/>
                </a:ln>
                <a:solidFill>
                  <a:srgbClr val="C00000"/>
                </a:solidFill>
                <a:effectLst/>
                <a:uLnTx/>
                <a:uFillTx/>
                <a:sym typeface="+mn-ea"/>
              </a:rPr>
              <a:t>多个服务进程</a:t>
            </a:r>
            <a:endParaRPr lang="en-US" altLang="zh-CN" dirty="0">
              <a:sym typeface="+mn-ea"/>
            </a:endParaRPr>
          </a:p>
          <a:p>
            <a:pPr lvl="1" algn="just">
              <a:lnSpc>
                <a:spcPct val="120000"/>
              </a:lnSpc>
            </a:pPr>
            <a:r>
              <a:rPr lang="zh-CN" altLang="en-US" dirty="0">
                <a:sym typeface="+mn-ea"/>
              </a:rPr>
              <a:t>每一个服务进程都对某个特定的客户进程做出响应 (</a:t>
            </a:r>
            <a:r>
              <a:rPr kumimoji="1" lang="zh-CN" altLang="en-US" dirty="0">
                <a:solidFill>
                  <a:srgbClr val="7030A0"/>
                </a:solidFill>
                <a:sym typeface="+mn-ea"/>
              </a:rPr>
              <a:t>非阻塞方式</a:t>
            </a:r>
            <a:r>
              <a:rPr lang="zh-CN" altLang="en-US" dirty="0">
                <a:sym typeface="+mn-ea"/>
              </a:rPr>
              <a:t>)</a:t>
            </a: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Tree>
    <p:extLst>
      <p:ext uri="{BB962C8B-B14F-4D97-AF65-F5344CB8AC3E}">
        <p14:creationId xmlns:p14="http://schemas.microsoft.com/office/powerpoint/2010/main" val="4042626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838200" y="1477108"/>
            <a:ext cx="10529570" cy="4892577"/>
          </a:xfrm>
        </p:spPr>
        <p:txBody>
          <a:bodyPr>
            <a:noAutofit/>
          </a:bodyPr>
          <a:lstStyle/>
          <a:p>
            <a:pPr algn="just">
              <a:lnSpc>
                <a:spcPct val="120000"/>
              </a:lnSpc>
            </a:pPr>
            <a:r>
              <a:rPr lang="zh-CN" altLang="en-US" dirty="0">
                <a:sym typeface="+mn-ea"/>
              </a:rPr>
              <a:t>无连接</a:t>
            </a:r>
            <a:r>
              <a:rPr kumimoji="1" lang="zh-CN" altLang="en-US" dirty="0">
                <a:solidFill>
                  <a:srgbClr val="C00000"/>
                </a:solidFill>
                <a:sym typeface="+mn-ea"/>
              </a:rPr>
              <a:t>循环方式</a:t>
            </a:r>
            <a:r>
              <a:rPr lang="zh-CN" altLang="en-US" dirty="0">
                <a:sym typeface="+mn-ea"/>
              </a:rPr>
              <a:t>服务</a:t>
            </a:r>
            <a:endParaRPr kumimoji="1" lang="zh-CN" altLang="en-US" dirty="0">
              <a:cs typeface="微软雅黑" panose="020B0503020204020204" pitchFamily="34" charset="-122"/>
              <a:sym typeface="+mn-ea"/>
            </a:endParaRPr>
          </a:p>
          <a:p>
            <a:pPr lvl="1" algn="just">
              <a:lnSpc>
                <a:spcPct val="120000"/>
              </a:lnSpc>
            </a:pPr>
            <a:r>
              <a:rPr lang="zh-CN" altLang="en-US" dirty="0">
                <a:sym typeface="+mn-ea"/>
              </a:rPr>
              <a:t>使用</a:t>
            </a:r>
            <a:r>
              <a:rPr kumimoji="1" lang="en-US" altLang="zh-CN" noProof="0" dirty="0">
                <a:ln>
                  <a:noFill/>
                </a:ln>
                <a:solidFill>
                  <a:srgbClr val="C00000"/>
                </a:solidFill>
                <a:effectLst/>
                <a:uLnTx/>
                <a:uFillTx/>
                <a:sym typeface="+mn-ea"/>
              </a:rPr>
              <a:t>无连接的UDP服务</a:t>
            </a:r>
            <a:r>
              <a:rPr lang="zh-CN" altLang="en-US" dirty="0">
                <a:sym typeface="+mn-ea"/>
              </a:rPr>
              <a:t>进程通常都工作在</a:t>
            </a:r>
            <a:r>
              <a:rPr kumimoji="1" lang="en-US" altLang="zh-CN" noProof="0" dirty="0">
                <a:ln>
                  <a:noFill/>
                </a:ln>
                <a:solidFill>
                  <a:srgbClr val="C00000"/>
                </a:solidFill>
                <a:effectLst/>
                <a:uLnTx/>
                <a:uFillTx/>
                <a:sym typeface="+mn-ea"/>
              </a:rPr>
              <a:t>循环方式</a:t>
            </a:r>
            <a:r>
              <a:rPr lang="zh-CN" altLang="en-US" dirty="0">
                <a:sym typeface="+mn-ea"/>
              </a:rPr>
              <a:t>，即一个服务进程在</a:t>
            </a:r>
            <a:r>
              <a:rPr kumimoji="1" lang="en-US" altLang="zh-CN" noProof="0" dirty="0">
                <a:ln>
                  <a:noFill/>
                </a:ln>
                <a:solidFill>
                  <a:srgbClr val="C00000"/>
                </a:solidFill>
                <a:effectLst/>
                <a:uLnTx/>
                <a:uFillTx/>
                <a:sym typeface="+mn-ea"/>
              </a:rPr>
              <a:t>同一时间</a:t>
            </a:r>
            <a:r>
              <a:rPr lang="zh-CN" altLang="en-US" dirty="0">
                <a:sym typeface="+mn-ea"/>
              </a:rPr>
              <a:t>只能向</a:t>
            </a:r>
            <a:r>
              <a:rPr kumimoji="1" lang="en-US" altLang="zh-CN" noProof="0" dirty="0">
                <a:ln>
                  <a:noFill/>
                </a:ln>
                <a:solidFill>
                  <a:srgbClr val="C00000"/>
                </a:solidFill>
                <a:effectLst/>
                <a:uLnTx/>
                <a:uFillTx/>
                <a:sym typeface="+mn-ea"/>
              </a:rPr>
              <a:t>一个客户进程</a:t>
            </a:r>
            <a:r>
              <a:rPr lang="zh-CN" altLang="en-US" dirty="0">
                <a:sym typeface="+mn-ea"/>
              </a:rPr>
              <a:t>提供服务。(</a:t>
            </a:r>
            <a:r>
              <a:rPr kumimoji="1" lang="en-US" altLang="zh-CN" noProof="0" dirty="0">
                <a:ln>
                  <a:noFill/>
                </a:ln>
                <a:solidFill>
                  <a:srgbClr val="C00000"/>
                </a:solidFill>
                <a:effectLst/>
                <a:uLnTx/>
                <a:uFillTx/>
                <a:sym typeface="+mn-ea"/>
              </a:rPr>
              <a:t>顺序服务</a:t>
            </a:r>
            <a:r>
              <a:rPr lang="zh-CN" altLang="en-US" dirty="0">
                <a:sym typeface="+mn-ea"/>
              </a:rPr>
              <a:t>)</a:t>
            </a:r>
            <a:endParaRPr lang="zh-CN" altLang="en-US" dirty="0">
              <a:solidFill>
                <a:schemeClr val="tx1"/>
              </a:solidFill>
              <a:cs typeface="微软雅黑" panose="020B0503020204020204" pitchFamily="34" charset="-122"/>
              <a:sym typeface="+mn-ea"/>
            </a:endParaRPr>
          </a:p>
          <a:p>
            <a:pPr lvl="2" algn="just">
              <a:lnSpc>
                <a:spcPct val="120000"/>
              </a:lnSpc>
            </a:pPr>
            <a:r>
              <a:rPr lang="zh-CN" altLang="en-US" dirty="0">
                <a:sym typeface="+mn-ea"/>
              </a:rPr>
              <a:t>服务进程收到客户进程的请求后，就发送</a:t>
            </a:r>
            <a:r>
              <a:rPr lang="zh-CN" altLang="en-US" dirty="0">
                <a:solidFill>
                  <a:srgbClr val="C00000"/>
                </a:solidFill>
                <a:sym typeface="+mn-ea"/>
              </a:rPr>
              <a:t>UDP用户数据报</a:t>
            </a:r>
            <a:r>
              <a:rPr lang="zh-CN" altLang="en-US" dirty="0">
                <a:sym typeface="+mn-ea"/>
              </a:rPr>
              <a:t>响应该客户</a:t>
            </a:r>
          </a:p>
          <a:p>
            <a:pPr lvl="2" algn="just">
              <a:lnSpc>
                <a:spcPct val="120000"/>
              </a:lnSpc>
            </a:pPr>
            <a:r>
              <a:rPr lang="zh-CN" altLang="en-US" dirty="0">
                <a:sym typeface="+mn-ea"/>
              </a:rPr>
              <a:t>对其他客户进程发来的请求则</a:t>
            </a:r>
            <a:r>
              <a:rPr kumimoji="1" lang="en-US" altLang="zh-CN" noProof="0" dirty="0">
                <a:ln>
                  <a:noFill/>
                </a:ln>
                <a:solidFill>
                  <a:srgbClr val="C00000"/>
                </a:solidFill>
                <a:effectLst/>
                <a:uLnTx/>
                <a:uFillTx/>
                <a:sym typeface="+mn-ea"/>
              </a:rPr>
              <a:t>暂时</a:t>
            </a:r>
            <a:r>
              <a:rPr lang="zh-CN" altLang="en-US" dirty="0">
                <a:sym typeface="+mn-ea"/>
              </a:rPr>
              <a:t>不予理睬，这些请求都在服务端的队列中</a:t>
            </a:r>
            <a:r>
              <a:rPr kumimoji="1" lang="en-US" altLang="zh-CN" noProof="0" dirty="0">
                <a:ln>
                  <a:noFill/>
                </a:ln>
                <a:solidFill>
                  <a:srgbClr val="C00000"/>
                </a:solidFill>
                <a:effectLst/>
                <a:uLnTx/>
                <a:uFillTx/>
                <a:sym typeface="+mn-ea"/>
              </a:rPr>
              <a:t>排队</a:t>
            </a:r>
            <a:r>
              <a:rPr lang="zh-CN" altLang="en-US" dirty="0">
                <a:sym typeface="+mn-ea"/>
              </a:rPr>
              <a:t>等候服务进程的处理</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sym typeface="+mn-ea"/>
            </a:endParaRPr>
          </a:p>
          <a:p>
            <a:pPr lvl="2" algn="just">
              <a:lnSpc>
                <a:spcPct val="120000"/>
              </a:lnSpc>
            </a:pPr>
            <a:r>
              <a:rPr lang="zh-CN" altLang="en-US" dirty="0">
                <a:sym typeface="+mn-ea"/>
              </a:rPr>
              <a:t>当服务进程处理完毕一个请求时，就从队列中读取来自下一个客户进程的请求，然后继续处理</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sym typeface="+mn-ea"/>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Tree>
    <p:extLst>
      <p:ext uri="{BB962C8B-B14F-4D97-AF65-F5344CB8AC3E}">
        <p14:creationId xmlns:p14="http://schemas.microsoft.com/office/powerpoint/2010/main" val="2649421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838200" y="2014220"/>
            <a:ext cx="10529570" cy="4355465"/>
          </a:xfrm>
        </p:spPr>
        <p:txBody>
          <a:bodyPr>
            <a:noAutofit/>
          </a:bodyPr>
          <a:lstStyle/>
          <a:p>
            <a:pPr algn="just">
              <a:lnSpc>
                <a:spcPct val="120000"/>
              </a:lnSpc>
            </a:pPr>
            <a:endParaRPr lang="zh-CN" altLang="en-US" dirty="0">
              <a:solidFill>
                <a:schemeClr val="tx1"/>
              </a:solidFill>
              <a:cs typeface="微软雅黑" panose="020B0503020204020204" pitchFamily="34" charset="-122"/>
              <a:sym typeface="+mn-ea"/>
            </a:endParaRPr>
          </a:p>
          <a:p>
            <a:pPr algn="just">
              <a:lnSpc>
                <a:spcPct val="120000"/>
              </a:lnSpc>
            </a:pP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
        <p:nvSpPr>
          <p:cNvPr id="4"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latin typeface="等线" panose="02010600030101010101" pitchFamily="2" charset="-122"/>
                <a:ea typeface="等线" panose="02010600030101010101" pitchFamily="2" charset="-122"/>
                <a:sym typeface="+mn-ea"/>
              </a:rPr>
              <a:t>无连接</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循环方式</a:t>
            </a:r>
            <a:r>
              <a:rPr lang="zh-CN" altLang="en-US" dirty="0">
                <a:latin typeface="等线" panose="02010600030101010101" pitchFamily="2" charset="-122"/>
                <a:ea typeface="等线" panose="02010600030101010101" pitchFamily="2" charset="-122"/>
                <a:sym typeface="+mn-ea"/>
              </a:rPr>
              <a:t>服务</a:t>
            </a:r>
            <a:endPar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grpSp>
        <p:nvGrpSpPr>
          <p:cNvPr id="45" name="组合 44"/>
          <p:cNvGrpSpPr/>
          <p:nvPr/>
        </p:nvGrpSpPr>
        <p:grpSpPr>
          <a:xfrm>
            <a:off x="1535972" y="1744663"/>
            <a:ext cx="5410518" cy="3191193"/>
            <a:chOff x="1535972" y="1744663"/>
            <a:chExt cx="5410518" cy="3191193"/>
          </a:xfrm>
        </p:grpSpPr>
        <p:sp>
          <p:nvSpPr>
            <p:cNvPr id="17" name="文本框 167945"/>
            <p:cNvSpPr txBox="1">
              <a:spLocks noChangeArrowheads="1"/>
            </p:cNvSpPr>
            <p:nvPr/>
          </p:nvSpPr>
          <p:spPr bwMode="auto">
            <a:xfrm>
              <a:off x="5747610" y="1744663"/>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等线" panose="02010600030101010101" pitchFamily="2" charset="-122"/>
                  <a:ea typeface="等线" panose="02010600030101010101" pitchFamily="2" charset="-122"/>
                </a:rPr>
                <a:t>客户进程</a:t>
              </a:r>
            </a:p>
          </p:txBody>
        </p:sp>
        <p:sp>
          <p:nvSpPr>
            <p:cNvPr id="32" name="文本框 167960"/>
            <p:cNvSpPr txBox="1">
              <a:spLocks noChangeArrowheads="1"/>
            </p:cNvSpPr>
            <p:nvPr/>
          </p:nvSpPr>
          <p:spPr bwMode="auto">
            <a:xfrm>
              <a:off x="1535972" y="4537076"/>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等线" panose="02010600030101010101" pitchFamily="2" charset="-122"/>
                  <a:ea typeface="等线" panose="02010600030101010101" pitchFamily="2" charset="-122"/>
                </a:rPr>
                <a:t>客户套接字</a:t>
              </a:r>
            </a:p>
          </p:txBody>
        </p:sp>
      </p:grpSp>
      <p:grpSp>
        <p:nvGrpSpPr>
          <p:cNvPr id="44" name="组合 43"/>
          <p:cNvGrpSpPr/>
          <p:nvPr/>
        </p:nvGrpSpPr>
        <p:grpSpPr>
          <a:xfrm>
            <a:off x="1916972" y="1908176"/>
            <a:ext cx="8610600" cy="4237216"/>
            <a:chOff x="1916972" y="1908176"/>
            <a:chExt cx="8610600" cy="4237216"/>
          </a:xfrm>
        </p:grpSpPr>
        <p:sp>
          <p:nvSpPr>
            <p:cNvPr id="8" name="矩形 167938"/>
            <p:cNvSpPr>
              <a:spLocks noChangeArrowheads="1"/>
            </p:cNvSpPr>
            <p:nvPr/>
          </p:nvSpPr>
          <p:spPr bwMode="auto">
            <a:xfrm>
              <a:off x="8463822" y="3321051"/>
              <a:ext cx="1752600" cy="990600"/>
            </a:xfrm>
            <a:prstGeom prst="rect">
              <a:avLst/>
            </a:prstGeom>
            <a:solidFill>
              <a:srgbClr val="CCECFF"/>
            </a:solidFill>
            <a:ln w="9525">
              <a:solidFill>
                <a:srgbClr val="333399"/>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9" name="文本框 167939"/>
            <p:cNvSpPr txBox="1">
              <a:spLocks noChangeArrowheads="1"/>
            </p:cNvSpPr>
            <p:nvPr/>
          </p:nvSpPr>
          <p:spPr bwMode="auto">
            <a:xfrm>
              <a:off x="8463822" y="3924301"/>
              <a:ext cx="6735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tx1"/>
                  </a:solidFill>
                  <a:latin typeface="等线" panose="02010600030101010101" pitchFamily="2" charset="-122"/>
                  <a:ea typeface="等线" panose="02010600030101010101" pitchFamily="2" charset="-122"/>
                </a:rPr>
                <a:t>UDP</a:t>
              </a:r>
            </a:p>
          </p:txBody>
        </p:sp>
        <p:sp>
          <p:nvSpPr>
            <p:cNvPr id="12" name="文本框 167940"/>
            <p:cNvSpPr txBox="1">
              <a:spLocks noChangeArrowheads="1"/>
            </p:cNvSpPr>
            <p:nvPr/>
          </p:nvSpPr>
          <p:spPr bwMode="auto">
            <a:xfrm>
              <a:off x="8976585" y="2185988"/>
              <a:ext cx="7150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chemeClr val="tx1"/>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3" name="文本框 167941"/>
            <p:cNvSpPr txBox="1">
              <a:spLocks noChangeArrowheads="1"/>
            </p:cNvSpPr>
            <p:nvPr/>
          </p:nvSpPr>
          <p:spPr bwMode="auto">
            <a:xfrm>
              <a:off x="8555897" y="2033588"/>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等线" panose="02010600030101010101" pitchFamily="2" charset="-122"/>
                  <a:ea typeface="等线" panose="02010600030101010101" pitchFamily="2" charset="-122"/>
                </a:rPr>
                <a:t>服务进程</a:t>
              </a:r>
            </a:p>
          </p:txBody>
        </p:sp>
        <p:sp>
          <p:nvSpPr>
            <p:cNvPr id="14" name="矩形 167942"/>
            <p:cNvSpPr>
              <a:spLocks noChangeArrowheads="1"/>
            </p:cNvSpPr>
            <p:nvPr/>
          </p:nvSpPr>
          <p:spPr bwMode="auto">
            <a:xfrm>
              <a:off x="5574572" y="2992438"/>
              <a:ext cx="1524000" cy="709613"/>
            </a:xfrm>
            <a:prstGeom prst="rect">
              <a:avLst/>
            </a:prstGeom>
            <a:solidFill>
              <a:srgbClr val="CCECFF"/>
            </a:solidFill>
            <a:ln w="9525">
              <a:solidFill>
                <a:srgbClr val="333399"/>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15" name="文本框 167943"/>
            <p:cNvSpPr txBox="1">
              <a:spLocks noChangeArrowheads="1"/>
            </p:cNvSpPr>
            <p:nvPr/>
          </p:nvSpPr>
          <p:spPr bwMode="auto">
            <a:xfrm>
              <a:off x="5574572" y="3328988"/>
              <a:ext cx="6735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tx1"/>
                  </a:solidFill>
                  <a:latin typeface="等线" panose="02010600030101010101" pitchFamily="2" charset="-122"/>
                  <a:ea typeface="等线" panose="02010600030101010101" pitchFamily="2" charset="-122"/>
                </a:rPr>
                <a:t>UDP</a:t>
              </a:r>
            </a:p>
          </p:txBody>
        </p:sp>
        <p:sp>
          <p:nvSpPr>
            <p:cNvPr id="16" name="文本框 167944"/>
            <p:cNvSpPr txBox="1">
              <a:spLocks noChangeArrowheads="1"/>
            </p:cNvSpPr>
            <p:nvPr/>
          </p:nvSpPr>
          <p:spPr bwMode="auto">
            <a:xfrm>
              <a:off x="5984147" y="1908176"/>
              <a:ext cx="7150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chemeClr val="tx1"/>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8" name="直接连接符 167946"/>
            <p:cNvSpPr>
              <a:spLocks noChangeShapeType="1"/>
            </p:cNvSpPr>
            <p:nvPr/>
          </p:nvSpPr>
          <p:spPr bwMode="auto">
            <a:xfrm>
              <a:off x="6331352" y="2708476"/>
              <a:ext cx="0" cy="16920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文本框 167947"/>
            <p:cNvSpPr txBox="1">
              <a:spLocks noChangeArrowheads="1"/>
            </p:cNvSpPr>
            <p:nvPr/>
          </p:nvSpPr>
          <p:spPr bwMode="auto">
            <a:xfrm>
              <a:off x="4812572" y="2609851"/>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等线" panose="02010600030101010101" pitchFamily="2" charset="-122"/>
                  <a:ea typeface="等线" panose="02010600030101010101" pitchFamily="2" charset="-122"/>
                </a:rPr>
                <a:t>客户套接字</a:t>
              </a:r>
            </a:p>
          </p:txBody>
        </p:sp>
        <p:sp>
          <p:nvSpPr>
            <p:cNvPr id="20" name="文本框 167948"/>
            <p:cNvSpPr txBox="1">
              <a:spLocks noChangeArrowheads="1"/>
            </p:cNvSpPr>
            <p:nvPr/>
          </p:nvSpPr>
          <p:spPr bwMode="auto">
            <a:xfrm>
              <a:off x="9462509" y="2679930"/>
              <a:ext cx="9541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tx1"/>
                  </a:solidFill>
                  <a:latin typeface="等线" panose="02010600030101010101" pitchFamily="2" charset="-122"/>
                  <a:ea typeface="等线" panose="02010600030101010101" pitchFamily="2" charset="-122"/>
                </a:rPr>
                <a:t>服务</a:t>
              </a:r>
            </a:p>
            <a:p>
              <a:r>
                <a:rPr lang="zh-CN" altLang="en-US" sz="2000" dirty="0">
                  <a:solidFill>
                    <a:schemeClr val="tx1"/>
                  </a:solidFill>
                  <a:latin typeface="等线" panose="02010600030101010101" pitchFamily="2" charset="-122"/>
                  <a:ea typeface="等线" panose="02010600030101010101" pitchFamily="2" charset="-122"/>
                </a:rPr>
                <a:t>套接字</a:t>
              </a:r>
            </a:p>
          </p:txBody>
        </p:sp>
        <p:sp>
          <p:nvSpPr>
            <p:cNvPr id="21" name="矩形 167949"/>
            <p:cNvSpPr>
              <a:spLocks noChangeArrowheads="1"/>
            </p:cNvSpPr>
            <p:nvPr/>
          </p:nvSpPr>
          <p:spPr bwMode="auto">
            <a:xfrm>
              <a:off x="4007710" y="3987801"/>
              <a:ext cx="1524000" cy="709612"/>
            </a:xfrm>
            <a:prstGeom prst="rect">
              <a:avLst/>
            </a:prstGeom>
            <a:solidFill>
              <a:srgbClr val="CCECFF"/>
            </a:solidFill>
            <a:ln w="9525">
              <a:solidFill>
                <a:srgbClr val="333399"/>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22" name="文本框 167950"/>
            <p:cNvSpPr txBox="1">
              <a:spLocks noChangeArrowheads="1"/>
            </p:cNvSpPr>
            <p:nvPr/>
          </p:nvSpPr>
          <p:spPr bwMode="auto">
            <a:xfrm>
              <a:off x="4017235" y="4337051"/>
              <a:ext cx="6735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tx1"/>
                  </a:solidFill>
                  <a:latin typeface="等线" panose="02010600030101010101" pitchFamily="2" charset="-122"/>
                  <a:ea typeface="等线" panose="02010600030101010101" pitchFamily="2" charset="-122"/>
                </a:rPr>
                <a:t>UDP</a:t>
              </a:r>
            </a:p>
          </p:txBody>
        </p:sp>
        <p:sp>
          <p:nvSpPr>
            <p:cNvPr id="23" name="文本框 167951"/>
            <p:cNvSpPr txBox="1">
              <a:spLocks noChangeArrowheads="1"/>
            </p:cNvSpPr>
            <p:nvPr/>
          </p:nvSpPr>
          <p:spPr bwMode="auto">
            <a:xfrm>
              <a:off x="4417285" y="2913063"/>
              <a:ext cx="7150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chemeClr val="tx1"/>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24" name="文本框 167952"/>
            <p:cNvSpPr txBox="1">
              <a:spLocks noChangeArrowheads="1"/>
            </p:cNvSpPr>
            <p:nvPr/>
          </p:nvSpPr>
          <p:spPr bwMode="auto">
            <a:xfrm>
              <a:off x="3440972" y="2752726"/>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等线" panose="02010600030101010101" pitchFamily="2" charset="-122"/>
                  <a:ea typeface="等线" panose="02010600030101010101" pitchFamily="2" charset="-122"/>
                </a:rPr>
                <a:t>客户进程</a:t>
              </a:r>
            </a:p>
          </p:txBody>
        </p:sp>
        <p:sp>
          <p:nvSpPr>
            <p:cNvPr id="25" name="直接连接符 167953"/>
            <p:cNvSpPr>
              <a:spLocks noChangeShapeType="1"/>
            </p:cNvSpPr>
            <p:nvPr/>
          </p:nvSpPr>
          <p:spPr bwMode="auto">
            <a:xfrm flipH="1">
              <a:off x="4768770" y="3692324"/>
              <a:ext cx="0" cy="19705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文本框 167954"/>
            <p:cNvSpPr txBox="1">
              <a:spLocks noChangeArrowheads="1"/>
            </p:cNvSpPr>
            <p:nvPr/>
          </p:nvSpPr>
          <p:spPr bwMode="auto">
            <a:xfrm>
              <a:off x="3311557" y="3594618"/>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等线" panose="02010600030101010101" pitchFamily="2" charset="-122"/>
                  <a:ea typeface="等线" panose="02010600030101010101" pitchFamily="2" charset="-122"/>
                </a:rPr>
                <a:t>客户套接字</a:t>
              </a:r>
            </a:p>
          </p:txBody>
        </p:sp>
        <p:sp>
          <p:nvSpPr>
            <p:cNvPr id="27" name="矩形 167955"/>
            <p:cNvSpPr>
              <a:spLocks noChangeArrowheads="1"/>
            </p:cNvSpPr>
            <p:nvPr/>
          </p:nvSpPr>
          <p:spPr bwMode="auto">
            <a:xfrm>
              <a:off x="2207485" y="4924426"/>
              <a:ext cx="1524000" cy="709612"/>
            </a:xfrm>
            <a:prstGeom prst="rect">
              <a:avLst/>
            </a:prstGeom>
            <a:solidFill>
              <a:srgbClr val="CCECFF"/>
            </a:solidFill>
            <a:ln w="9525">
              <a:solidFill>
                <a:srgbClr val="333399"/>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28" name="文本框 167956"/>
            <p:cNvSpPr txBox="1">
              <a:spLocks noChangeArrowheads="1"/>
            </p:cNvSpPr>
            <p:nvPr/>
          </p:nvSpPr>
          <p:spPr bwMode="auto">
            <a:xfrm>
              <a:off x="2207485" y="5237163"/>
              <a:ext cx="6735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tx1"/>
                  </a:solidFill>
                  <a:latin typeface="等线" panose="02010600030101010101" pitchFamily="2" charset="-122"/>
                  <a:ea typeface="等线" panose="02010600030101010101" pitchFamily="2" charset="-122"/>
                </a:rPr>
                <a:t>UDP</a:t>
              </a:r>
            </a:p>
          </p:txBody>
        </p:sp>
        <p:sp>
          <p:nvSpPr>
            <p:cNvPr id="29" name="文本框 167957"/>
            <p:cNvSpPr txBox="1">
              <a:spLocks noChangeArrowheads="1"/>
            </p:cNvSpPr>
            <p:nvPr/>
          </p:nvSpPr>
          <p:spPr bwMode="auto">
            <a:xfrm>
              <a:off x="2617060" y="3840163"/>
              <a:ext cx="7150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chemeClr val="tx1"/>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30" name="文本框 167958"/>
            <p:cNvSpPr txBox="1">
              <a:spLocks noChangeArrowheads="1"/>
            </p:cNvSpPr>
            <p:nvPr/>
          </p:nvSpPr>
          <p:spPr bwMode="auto">
            <a:xfrm>
              <a:off x="1916972" y="3689351"/>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等线" panose="02010600030101010101" pitchFamily="2" charset="-122"/>
                  <a:ea typeface="等线" panose="02010600030101010101" pitchFamily="2" charset="-122"/>
                </a:rPr>
                <a:t>客户进程</a:t>
              </a:r>
            </a:p>
          </p:txBody>
        </p:sp>
        <p:sp>
          <p:nvSpPr>
            <p:cNvPr id="31" name="直接连接符 167959"/>
            <p:cNvSpPr>
              <a:spLocks noChangeShapeType="1"/>
            </p:cNvSpPr>
            <p:nvPr/>
          </p:nvSpPr>
          <p:spPr bwMode="auto">
            <a:xfrm flipH="1">
              <a:off x="2966310" y="4627563"/>
              <a:ext cx="0" cy="19843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任意多边形 167961"/>
            <p:cNvSpPr>
              <a:spLocks noChangeArrowheads="1"/>
            </p:cNvSpPr>
            <p:nvPr/>
          </p:nvSpPr>
          <p:spPr bwMode="auto">
            <a:xfrm>
              <a:off x="6336572" y="3101976"/>
              <a:ext cx="2566988" cy="512762"/>
            </a:xfrm>
            <a:custGeom>
              <a:avLst/>
              <a:gdLst>
                <a:gd name="T0" fmla="*/ 0 w 1617"/>
                <a:gd name="T1" fmla="*/ 0 h 323"/>
                <a:gd name="T2" fmla="*/ 0 w 1617"/>
                <a:gd name="T3" fmla="*/ 120 h 323"/>
                <a:gd name="T4" fmla="*/ 1617 w 1617"/>
                <a:gd name="T5" fmla="*/ 323 h 323"/>
              </a:gdLst>
              <a:ahLst/>
              <a:cxnLst>
                <a:cxn ang="0">
                  <a:pos x="T0" y="T1"/>
                </a:cxn>
                <a:cxn ang="0">
                  <a:pos x="T2" y="T3"/>
                </a:cxn>
                <a:cxn ang="0">
                  <a:pos x="T4" y="T5"/>
                </a:cxn>
              </a:cxnLst>
              <a:rect l="0" t="0" r="r" b="b"/>
              <a:pathLst>
                <a:path w="1617" h="323">
                  <a:moveTo>
                    <a:pt x="0" y="0"/>
                  </a:moveTo>
                  <a:lnTo>
                    <a:pt x="0" y="120"/>
                  </a:lnTo>
                  <a:lnTo>
                    <a:pt x="1617" y="323"/>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34" name="任意多边形 167962"/>
            <p:cNvSpPr>
              <a:spLocks noChangeArrowheads="1"/>
            </p:cNvSpPr>
            <p:nvPr/>
          </p:nvSpPr>
          <p:spPr bwMode="auto">
            <a:xfrm>
              <a:off x="4764947" y="3624263"/>
              <a:ext cx="4138613" cy="782638"/>
            </a:xfrm>
            <a:custGeom>
              <a:avLst/>
              <a:gdLst>
                <a:gd name="T0" fmla="*/ 0 w 2607"/>
                <a:gd name="T1" fmla="*/ 301 h 493"/>
                <a:gd name="T2" fmla="*/ 6 w 2607"/>
                <a:gd name="T3" fmla="*/ 493 h 493"/>
                <a:gd name="T4" fmla="*/ 2607 w 2607"/>
                <a:gd name="T5" fmla="*/ 0 h 493"/>
              </a:gdLst>
              <a:ahLst/>
              <a:cxnLst>
                <a:cxn ang="0">
                  <a:pos x="T0" y="T1"/>
                </a:cxn>
                <a:cxn ang="0">
                  <a:pos x="T2" y="T3"/>
                </a:cxn>
                <a:cxn ang="0">
                  <a:pos x="T4" y="T5"/>
                </a:cxn>
              </a:cxnLst>
              <a:rect l="0" t="0" r="r" b="b"/>
              <a:pathLst>
                <a:path w="2607" h="493">
                  <a:moveTo>
                    <a:pt x="0" y="301"/>
                  </a:moveTo>
                  <a:lnTo>
                    <a:pt x="6" y="493"/>
                  </a:lnTo>
                  <a:lnTo>
                    <a:pt x="2607"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35" name="任意多边形 167963"/>
            <p:cNvSpPr>
              <a:spLocks noChangeArrowheads="1"/>
            </p:cNvSpPr>
            <p:nvPr/>
          </p:nvSpPr>
          <p:spPr bwMode="auto">
            <a:xfrm>
              <a:off x="2955197" y="3638551"/>
              <a:ext cx="5962650" cy="1673225"/>
            </a:xfrm>
            <a:custGeom>
              <a:avLst/>
              <a:gdLst>
                <a:gd name="T0" fmla="*/ 6 w 3756"/>
                <a:gd name="T1" fmla="*/ 880 h 1054"/>
                <a:gd name="T2" fmla="*/ 0 w 3756"/>
                <a:gd name="T3" fmla="*/ 1054 h 1054"/>
                <a:gd name="T4" fmla="*/ 3756 w 3756"/>
                <a:gd name="T5" fmla="*/ 0 h 1054"/>
              </a:gdLst>
              <a:ahLst/>
              <a:cxnLst>
                <a:cxn ang="0">
                  <a:pos x="T0" y="T1"/>
                </a:cxn>
                <a:cxn ang="0">
                  <a:pos x="T2" y="T3"/>
                </a:cxn>
                <a:cxn ang="0">
                  <a:pos x="T4" y="T5"/>
                </a:cxn>
              </a:cxnLst>
              <a:rect l="0" t="0" r="r" b="b"/>
              <a:pathLst>
                <a:path w="3756" h="1054">
                  <a:moveTo>
                    <a:pt x="6" y="880"/>
                  </a:moveTo>
                  <a:lnTo>
                    <a:pt x="0" y="1054"/>
                  </a:lnTo>
                  <a:lnTo>
                    <a:pt x="3756"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36" name="任意多边形 167964"/>
            <p:cNvSpPr>
              <a:spLocks noChangeArrowheads="1"/>
            </p:cNvSpPr>
            <p:nvPr/>
          </p:nvSpPr>
          <p:spPr bwMode="auto">
            <a:xfrm>
              <a:off x="8927372" y="2959101"/>
              <a:ext cx="409575" cy="666750"/>
            </a:xfrm>
            <a:custGeom>
              <a:avLst/>
              <a:gdLst>
                <a:gd name="T0" fmla="*/ 0 w 258"/>
                <a:gd name="T1" fmla="*/ 420 h 420"/>
                <a:gd name="T2" fmla="*/ 252 w 258"/>
                <a:gd name="T3" fmla="*/ 420 h 420"/>
                <a:gd name="T4" fmla="*/ 258 w 258"/>
                <a:gd name="T5" fmla="*/ 0 h 420"/>
              </a:gdLst>
              <a:ahLst/>
              <a:cxnLst>
                <a:cxn ang="0">
                  <a:pos x="T0" y="T1"/>
                </a:cxn>
                <a:cxn ang="0">
                  <a:pos x="T2" y="T3"/>
                </a:cxn>
                <a:cxn ang="0">
                  <a:pos x="T4" y="T5"/>
                </a:cxn>
              </a:cxnLst>
              <a:rect l="0" t="0" r="r" b="b"/>
              <a:pathLst>
                <a:path w="258" h="420">
                  <a:moveTo>
                    <a:pt x="0" y="420"/>
                  </a:moveTo>
                  <a:lnTo>
                    <a:pt x="252" y="420"/>
                  </a:lnTo>
                  <a:lnTo>
                    <a:pt x="258" y="0"/>
                  </a:lnTo>
                </a:path>
              </a:pathLst>
            </a:cu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37" name="圆角矩形标注 167965"/>
            <p:cNvSpPr>
              <a:spLocks noChangeArrowheads="1"/>
            </p:cNvSpPr>
            <p:nvPr/>
          </p:nvSpPr>
          <p:spPr bwMode="auto">
            <a:xfrm>
              <a:off x="7476397" y="2393951"/>
              <a:ext cx="1222375" cy="698500"/>
            </a:xfrm>
            <a:prstGeom prst="wedgeRoundRectCallout">
              <a:avLst>
                <a:gd name="adj1" fmla="val 67273"/>
                <a:gd name="adj2" fmla="val 123634"/>
                <a:gd name="adj3" fmla="val 16667"/>
              </a:avLst>
            </a:prstGeom>
            <a:solidFill>
              <a:srgbClr val="FFFF99"/>
            </a:solidFill>
            <a:ln w="9525">
              <a:solidFill>
                <a:srgbClr val="333399"/>
              </a:solidFill>
              <a:miter lim="800000"/>
            </a:ln>
            <a:effectLst>
              <a:outerShdw dist="35921" dir="2700000" algn="ctr" rotWithShape="0">
                <a:schemeClr val="bg2"/>
              </a:outerShdw>
            </a:effectLst>
          </p:spPr>
          <p:txBody>
            <a:bodyPr/>
            <a:lstStyle/>
            <a:p>
              <a:pPr algn="ctr"/>
              <a:endParaRPr lang="zh-CN" altLang="en-US" sz="3200" dirty="0">
                <a:solidFill>
                  <a:schemeClr val="tx1"/>
                </a:solidFill>
                <a:latin typeface="等线" panose="02010600030101010101" pitchFamily="2" charset="-122"/>
                <a:ea typeface="等线" panose="02010600030101010101" pitchFamily="2" charset="-122"/>
              </a:endParaRPr>
            </a:p>
          </p:txBody>
        </p:sp>
        <p:sp>
          <p:nvSpPr>
            <p:cNvPr id="38" name="文本框 167966"/>
            <p:cNvSpPr txBox="1">
              <a:spLocks noChangeArrowheads="1"/>
            </p:cNvSpPr>
            <p:nvPr/>
          </p:nvSpPr>
          <p:spPr bwMode="auto">
            <a:xfrm>
              <a:off x="7472270" y="2379663"/>
              <a:ext cx="1198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tx1"/>
                  </a:solidFill>
                  <a:latin typeface="等线" panose="02010600030101010101" pitchFamily="2" charset="-122"/>
                  <a:ea typeface="等线" panose="02010600030101010101" pitchFamily="2" charset="-122"/>
                </a:rPr>
                <a:t>一次一个</a:t>
              </a:r>
            </a:p>
            <a:p>
              <a:pPr algn="ctr"/>
              <a:r>
                <a:rPr lang="zh-CN" altLang="en-US" sz="2000" dirty="0">
                  <a:solidFill>
                    <a:schemeClr val="tx1"/>
                  </a:solidFill>
                  <a:latin typeface="等线" panose="02010600030101010101" pitchFamily="2" charset="-122"/>
                  <a:ea typeface="等线" panose="02010600030101010101" pitchFamily="2" charset="-122"/>
                </a:rPr>
                <a:t>客户进程</a:t>
              </a:r>
            </a:p>
          </p:txBody>
        </p:sp>
        <p:sp>
          <p:nvSpPr>
            <p:cNvPr id="39" name="矩形 167967"/>
            <p:cNvSpPr>
              <a:spLocks noChangeArrowheads="1"/>
            </p:cNvSpPr>
            <p:nvPr/>
          </p:nvSpPr>
          <p:spPr bwMode="auto">
            <a:xfrm>
              <a:off x="9228997" y="3168651"/>
              <a:ext cx="250825" cy="246062"/>
            </a:xfrm>
            <a:prstGeom prst="rect">
              <a:avLst/>
            </a:prstGeom>
            <a:solidFill>
              <a:schemeClr val="bg1"/>
            </a:solidFill>
            <a:ln w="28575">
              <a:solidFill>
                <a:srgbClr val="333399"/>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40" name="矩形 167968"/>
            <p:cNvSpPr>
              <a:spLocks noChangeArrowheads="1"/>
            </p:cNvSpPr>
            <p:nvPr/>
          </p:nvSpPr>
          <p:spPr bwMode="auto">
            <a:xfrm>
              <a:off x="4656997" y="3878263"/>
              <a:ext cx="238125" cy="231775"/>
            </a:xfrm>
            <a:prstGeom prst="rect">
              <a:avLst/>
            </a:prstGeom>
            <a:solidFill>
              <a:schemeClr val="bg1"/>
            </a:solidFill>
            <a:ln w="19050">
              <a:solidFill>
                <a:srgbClr val="333399"/>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41" name="矩形 167969"/>
            <p:cNvSpPr>
              <a:spLocks noChangeArrowheads="1"/>
            </p:cNvSpPr>
            <p:nvPr/>
          </p:nvSpPr>
          <p:spPr bwMode="auto">
            <a:xfrm>
              <a:off x="6211160" y="2857501"/>
              <a:ext cx="263525" cy="244475"/>
            </a:xfrm>
            <a:prstGeom prst="rect">
              <a:avLst/>
            </a:prstGeom>
            <a:solidFill>
              <a:schemeClr val="bg1"/>
            </a:solidFill>
            <a:ln w="19050">
              <a:solidFill>
                <a:srgbClr val="333399"/>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42" name="矩形 167970"/>
            <p:cNvSpPr>
              <a:spLocks noChangeArrowheads="1"/>
            </p:cNvSpPr>
            <p:nvPr/>
          </p:nvSpPr>
          <p:spPr bwMode="auto">
            <a:xfrm>
              <a:off x="2844072" y="4814888"/>
              <a:ext cx="225425" cy="219075"/>
            </a:xfrm>
            <a:prstGeom prst="rect">
              <a:avLst/>
            </a:prstGeom>
            <a:solidFill>
              <a:schemeClr val="bg1"/>
            </a:solidFill>
            <a:ln w="19050">
              <a:solidFill>
                <a:srgbClr val="333399"/>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43" name="文本框 167971"/>
            <p:cNvSpPr txBox="1">
              <a:spLocks noChangeArrowheads="1"/>
            </p:cNvSpPr>
            <p:nvPr/>
          </p:nvSpPr>
          <p:spPr bwMode="auto">
            <a:xfrm>
              <a:off x="5650772" y="4945063"/>
              <a:ext cx="4876800" cy="1200329"/>
            </a:xfrm>
            <a:prstGeom prst="rect">
              <a:avLst/>
            </a:prstGeom>
            <a:noFill/>
            <a:ln w="9525">
              <a:solidFill>
                <a:srgbClr val="C00000"/>
              </a:solidFill>
              <a:miter lim="800000"/>
            </a:ln>
          </p:spPr>
          <p:txBody>
            <a:bodyPr>
              <a:spAutoFit/>
            </a:bodyPr>
            <a:lstStyle/>
            <a:p>
              <a:pPr algn="just"/>
              <a:r>
                <a:rPr lang="zh-CN" altLang="en-US" sz="2400" dirty="0">
                  <a:solidFill>
                    <a:schemeClr val="tx1"/>
                  </a:solidFill>
                  <a:latin typeface="等线" panose="02010600030101010101" pitchFamily="2" charset="-122"/>
                  <a:ea typeface="等线" panose="02010600030101010101" pitchFamily="2" charset="-122"/>
                  <a:cs typeface="微软雅黑" panose="020B0503020204020204" pitchFamily="34" charset="-122"/>
                </a:rPr>
                <a:t>服务进程只使用一个服务套接字。每个客户则使用自己设定端口号的客户套接字。 </a:t>
              </a:r>
            </a:p>
          </p:txBody>
        </p:sp>
      </p:grpSp>
      <p:sp>
        <p:nvSpPr>
          <p:cNvPr id="11" name="页脚占位符 10"/>
          <p:cNvSpPr>
            <a:spLocks noGrp="1"/>
          </p:cNvSpPr>
          <p:nvPr>
            <p:ph type="ftr" sz="quarter" idx="11"/>
          </p:nvPr>
        </p:nvSpPr>
        <p:spPr/>
        <p:txBody>
          <a:bodyPr/>
          <a:lstStyle/>
          <a:p>
            <a:r>
              <a:rPr kumimoji="1" lang="zh-CN" altLang="en-US" dirty="0">
                <a:latin typeface="等线" panose="02010600030101010101" pitchFamily="2" charset="-122"/>
                <a:ea typeface="等线" panose="02010600030101010101" pitchFamily="2" charset="-122"/>
              </a:rPr>
              <a:t>引自：计算机网络，谢希仁</a:t>
            </a:r>
          </a:p>
        </p:txBody>
      </p:sp>
    </p:spTree>
    <p:extLst>
      <p:ext uri="{BB962C8B-B14F-4D97-AF65-F5344CB8AC3E}">
        <p14:creationId xmlns:p14="http://schemas.microsoft.com/office/powerpoint/2010/main" val="2234841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604911" y="1435261"/>
            <a:ext cx="10762859" cy="4872941"/>
          </a:xfrm>
        </p:spPr>
        <p:txBody>
          <a:bodyPr>
            <a:noAutofit/>
          </a:bodyPr>
          <a:lstStyle/>
          <a:p>
            <a:pPr algn="just">
              <a:lnSpc>
                <a:spcPct val="120000"/>
              </a:lnSpc>
            </a:pPr>
            <a:r>
              <a:rPr lang="zh-CN" altLang="en-US" dirty="0">
                <a:sym typeface="+mn-ea"/>
              </a:rPr>
              <a:t>面向连接的</a:t>
            </a:r>
            <a:r>
              <a:rPr kumimoji="1" lang="zh-CN" altLang="en-US" dirty="0">
                <a:solidFill>
                  <a:srgbClr val="C00000"/>
                </a:solidFill>
                <a:sym typeface="+mn-ea"/>
              </a:rPr>
              <a:t>并发方式</a:t>
            </a:r>
            <a:r>
              <a:rPr lang="zh-CN" altLang="en-US" dirty="0">
                <a:sym typeface="+mn-ea"/>
              </a:rPr>
              <a:t>服务</a:t>
            </a:r>
            <a:endParaRPr kumimoji="1" lang="zh-CN" altLang="en-US" dirty="0">
              <a:cs typeface="微软雅黑" panose="020B0503020204020204" pitchFamily="34" charset="-122"/>
              <a:sym typeface="+mn-ea"/>
            </a:endParaRPr>
          </a:p>
          <a:p>
            <a:pPr lvl="1" algn="just">
              <a:lnSpc>
                <a:spcPct val="120000"/>
              </a:lnSpc>
            </a:pPr>
            <a:r>
              <a:rPr kumimoji="1" lang="zh-CN" altLang="en-US" noProof="0" dirty="0">
                <a:ln>
                  <a:noFill/>
                </a:ln>
                <a:solidFill>
                  <a:srgbClr val="C00000"/>
                </a:solidFill>
                <a:effectLst/>
                <a:uLnTx/>
                <a:uFillTx/>
                <a:sym typeface="+mn-ea"/>
              </a:rPr>
              <a:t>面向连接的TCP服务</a:t>
            </a:r>
            <a:r>
              <a:rPr lang="zh-CN" altLang="en-US" dirty="0">
                <a:sym typeface="+mn-ea"/>
              </a:rPr>
              <a:t>进程通常都工作在</a:t>
            </a:r>
            <a:r>
              <a:rPr kumimoji="1" lang="zh-CN" altLang="en-US" noProof="0" dirty="0">
                <a:ln>
                  <a:noFill/>
                </a:ln>
                <a:solidFill>
                  <a:srgbClr val="C00000"/>
                </a:solidFill>
                <a:effectLst/>
                <a:uLnTx/>
                <a:uFillTx/>
                <a:sym typeface="+mn-ea"/>
              </a:rPr>
              <a:t>并发服务</a:t>
            </a:r>
            <a:r>
              <a:rPr lang="zh-CN" altLang="en-US" dirty="0">
                <a:sym typeface="+mn-ea"/>
              </a:rPr>
              <a:t>方式，服务进程在同一时间可同时向</a:t>
            </a:r>
            <a:r>
              <a:rPr kumimoji="1" lang="zh-CN" altLang="en-US" noProof="0" dirty="0">
                <a:ln>
                  <a:noFill/>
                </a:ln>
                <a:solidFill>
                  <a:srgbClr val="C00000"/>
                </a:solidFill>
                <a:effectLst/>
                <a:uLnTx/>
                <a:uFillTx/>
                <a:sym typeface="+mn-ea"/>
              </a:rPr>
              <a:t>多个客户进程</a:t>
            </a:r>
            <a:r>
              <a:rPr lang="zh-CN" altLang="en-US" dirty="0">
                <a:sym typeface="+mn-ea"/>
              </a:rPr>
              <a:t>提供服务。(</a:t>
            </a:r>
            <a:r>
              <a:rPr kumimoji="1" lang="zh-CN" altLang="en-US" noProof="0" dirty="0">
                <a:ln>
                  <a:noFill/>
                </a:ln>
                <a:solidFill>
                  <a:srgbClr val="C00000"/>
                </a:solidFill>
                <a:effectLst/>
                <a:uLnTx/>
                <a:uFillTx/>
                <a:sym typeface="+mn-ea"/>
              </a:rPr>
              <a:t>并发服务</a:t>
            </a:r>
            <a:r>
              <a:rPr lang="zh-CN" altLang="en-US" dirty="0">
                <a:sym typeface="+mn-ea"/>
              </a:rPr>
              <a:t>)</a:t>
            </a:r>
            <a:endParaRPr lang="zh-CN" altLang="en-US" dirty="0">
              <a:solidFill>
                <a:schemeClr val="tx1"/>
              </a:solidFill>
              <a:cs typeface="微软雅黑" panose="020B0503020204020204" pitchFamily="34" charset="-122"/>
              <a:sym typeface="+mn-ea"/>
            </a:endParaRPr>
          </a:p>
          <a:p>
            <a:pPr lvl="1" algn="just">
              <a:lnSpc>
                <a:spcPct val="120000"/>
              </a:lnSpc>
            </a:pPr>
            <a:r>
              <a:rPr lang="zh-CN" altLang="en-US" dirty="0">
                <a:sym typeface="+mn-ea"/>
              </a:rPr>
              <a:t>在TCP服务进程与多个客户进程之间必须建立多条TCP连接，每条TCP连接在其数据传送完毕后释放</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sym typeface="+mn-ea"/>
            </a:endParaRPr>
          </a:p>
          <a:p>
            <a:pPr lvl="1" algn="just">
              <a:lnSpc>
                <a:spcPct val="120000"/>
              </a:lnSpc>
            </a:pPr>
            <a:r>
              <a:rPr kumimoji="1" lang="zh-CN" altLang="en-US" noProof="0" dirty="0">
                <a:ln>
                  <a:noFill/>
                </a:ln>
                <a:solidFill>
                  <a:srgbClr val="C00000"/>
                </a:solidFill>
                <a:effectLst/>
                <a:uLnTx/>
                <a:uFillTx/>
                <a:sym typeface="+mn-ea"/>
              </a:rPr>
              <a:t>一个TCP连接对应一个（熟知）服务端口</a:t>
            </a:r>
            <a:endParaRPr lang="en-US" altLang="zh-CN" dirty="0">
              <a:cs typeface="微软雅黑" panose="020B0503020204020204" pitchFamily="34" charset="-122"/>
            </a:endParaRPr>
          </a:p>
          <a:p>
            <a:pPr lvl="1" algn="just">
              <a:lnSpc>
                <a:spcPct val="120000"/>
              </a:lnSpc>
            </a:pPr>
            <a:r>
              <a:rPr lang="zh-CN" altLang="en-US" dirty="0">
                <a:sym typeface="+mn-ea"/>
              </a:rPr>
              <a:t>主服务进程在</a:t>
            </a:r>
            <a:r>
              <a:rPr kumimoji="1" lang="zh-CN" altLang="en-US" noProof="0" dirty="0">
                <a:ln>
                  <a:noFill/>
                </a:ln>
                <a:solidFill>
                  <a:srgbClr val="C00000"/>
                </a:solidFill>
                <a:effectLst/>
                <a:uLnTx/>
                <a:uFillTx/>
                <a:sym typeface="+mn-ea"/>
              </a:rPr>
              <a:t>熟知端口</a:t>
            </a:r>
            <a:r>
              <a:rPr lang="zh-CN" altLang="en-US" dirty="0">
                <a:sym typeface="+mn-ea"/>
              </a:rPr>
              <a:t>等待客户进程发出的请求。一旦收到客户的请求，就创建一个</a:t>
            </a:r>
            <a:r>
              <a:rPr kumimoji="1" lang="zh-CN" altLang="en-US" noProof="0" dirty="0">
                <a:ln>
                  <a:noFill/>
                </a:ln>
                <a:solidFill>
                  <a:srgbClr val="C00000"/>
                </a:solidFill>
                <a:effectLst/>
                <a:uLnTx/>
                <a:uFillTx/>
                <a:sym typeface="+mn-ea"/>
              </a:rPr>
              <a:t>从属服务进程</a:t>
            </a:r>
            <a:r>
              <a:rPr lang="zh-CN" altLang="en-US" dirty="0">
                <a:sym typeface="+mn-ea"/>
              </a:rPr>
              <a:t>，并指明从属服务进程使用</a:t>
            </a:r>
            <a:r>
              <a:rPr kumimoji="1" lang="zh-CN" altLang="en-US" noProof="0" dirty="0">
                <a:ln>
                  <a:noFill/>
                </a:ln>
                <a:solidFill>
                  <a:srgbClr val="C00000"/>
                </a:solidFill>
                <a:effectLst/>
                <a:uLnTx/>
                <a:uFillTx/>
                <a:sym typeface="+mn-ea"/>
              </a:rPr>
              <a:t>临时套接字</a:t>
            </a:r>
            <a:r>
              <a:rPr lang="zh-CN" altLang="en-US" dirty="0">
                <a:sym typeface="+mn-ea"/>
              </a:rPr>
              <a:t>与该客户建立TCP连接，然后主服务进程继续在原来的熟知端口等待向其他客户提供服务</a:t>
            </a: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Tree>
    <p:extLst>
      <p:ext uri="{BB962C8B-B14F-4D97-AF65-F5344CB8AC3E}">
        <p14:creationId xmlns:p14="http://schemas.microsoft.com/office/powerpoint/2010/main" val="3081414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838200" y="2014220"/>
            <a:ext cx="10529570" cy="4355465"/>
          </a:xfrm>
        </p:spPr>
        <p:txBody>
          <a:bodyPr>
            <a:noAutofit/>
          </a:bodyPr>
          <a:lstStyle/>
          <a:p>
            <a:pPr algn="just">
              <a:lnSpc>
                <a:spcPct val="120000"/>
              </a:lnSpc>
            </a:pPr>
            <a:endParaRPr lang="zh-CN" altLang="en-US" dirty="0">
              <a:solidFill>
                <a:schemeClr val="tx1"/>
              </a:solidFill>
              <a:cs typeface="微软雅黑" panose="020B0503020204020204" pitchFamily="34" charset="-122"/>
              <a:sym typeface="+mn-ea"/>
            </a:endParaRPr>
          </a:p>
          <a:p>
            <a:pPr algn="just">
              <a:lnSpc>
                <a:spcPct val="120000"/>
              </a:lnSpc>
            </a:pP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
        <p:nvSpPr>
          <p:cNvPr id="4"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latin typeface="等线" panose="02010600030101010101" pitchFamily="2" charset="-122"/>
                <a:ea typeface="等线" panose="02010600030101010101" pitchFamily="2" charset="-122"/>
                <a:sym typeface="+mn-ea"/>
              </a:rPr>
              <a:t>面向连接</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并发方式</a:t>
            </a:r>
            <a:r>
              <a:rPr lang="zh-CN" altLang="en-US" dirty="0">
                <a:latin typeface="等线" panose="02010600030101010101" pitchFamily="2" charset="-122"/>
                <a:ea typeface="等线" panose="02010600030101010101" pitchFamily="2" charset="-122"/>
                <a:sym typeface="+mn-ea"/>
              </a:rPr>
              <a:t>服务</a:t>
            </a:r>
            <a:endPar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5" name="日期占位符 4"/>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7.1 </a:t>
            </a:r>
            <a:r>
              <a:rPr lang="zh-CN" altLang="en-US" dirty="0">
                <a:latin typeface="等线" panose="02010600030101010101" pitchFamily="2" charset="-122"/>
                <a:ea typeface="等线" panose="02010600030101010101" pitchFamily="2" charset="-122"/>
              </a:rPr>
              <a:t>应用层概述</a:t>
            </a:r>
          </a:p>
        </p:txBody>
      </p:sp>
      <p:sp>
        <p:nvSpPr>
          <p:cNvPr id="11" name="页脚占位符 10"/>
          <p:cNvSpPr>
            <a:spLocks noGrp="1"/>
          </p:cNvSpPr>
          <p:nvPr>
            <p:ph type="ftr" sz="quarter" idx="11"/>
          </p:nvPr>
        </p:nvSpPr>
        <p:spPr/>
        <p:txBody>
          <a:bodyPr/>
          <a:lstStyle/>
          <a:p>
            <a:r>
              <a:rPr kumimoji="1" lang="zh-CN" altLang="en-US" dirty="0">
                <a:latin typeface="等线" panose="02010600030101010101" pitchFamily="2" charset="-122"/>
                <a:ea typeface="等线" panose="02010600030101010101" pitchFamily="2" charset="-122"/>
              </a:rPr>
              <a:t>引自：计算机网络，谢希仁</a:t>
            </a:r>
          </a:p>
        </p:txBody>
      </p:sp>
      <p:sp>
        <p:nvSpPr>
          <p:cNvPr id="147" name="文本框 170008"/>
          <p:cNvSpPr txBox="1">
            <a:spLocks noChangeArrowheads="1"/>
          </p:cNvSpPr>
          <p:nvPr/>
        </p:nvSpPr>
        <p:spPr bwMode="auto">
          <a:xfrm>
            <a:off x="3441454" y="6015038"/>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333399"/>
                </a:solidFill>
                <a:latin typeface="等线" panose="02010600030101010101" pitchFamily="2" charset="-122"/>
                <a:ea typeface="等线" panose="02010600030101010101" pitchFamily="2" charset="-122"/>
              </a:rPr>
              <a:t>TCP</a:t>
            </a:r>
          </a:p>
        </p:txBody>
      </p:sp>
      <p:sp>
        <p:nvSpPr>
          <p:cNvPr id="175" name="文本框 170036"/>
          <p:cNvSpPr txBox="1">
            <a:spLocks noChangeArrowheads="1"/>
          </p:cNvSpPr>
          <p:nvPr/>
        </p:nvSpPr>
        <p:spPr bwMode="auto">
          <a:xfrm>
            <a:off x="10378408" y="1955483"/>
            <a:ext cx="1482771" cy="1939290"/>
          </a:xfrm>
          <a:prstGeom prst="rect">
            <a:avLst/>
          </a:prstGeom>
          <a:noFill/>
          <a:ln w="9525">
            <a:solidFill>
              <a:srgbClr val="C00000"/>
            </a:solidFill>
            <a:miter lim="800000"/>
          </a:ln>
        </p:spPr>
        <p:txBody>
          <a:bodyPr wrap="square">
            <a:spAutoFit/>
          </a:bodyPr>
          <a:lstStyle/>
          <a:p>
            <a:pPr algn="just"/>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主服务进程也称为父服务进程，而从属服务进程又称为子服务进程。 </a:t>
            </a:r>
          </a:p>
        </p:txBody>
      </p:sp>
      <p:grpSp>
        <p:nvGrpSpPr>
          <p:cNvPr id="6" name="组合 5"/>
          <p:cNvGrpSpPr/>
          <p:nvPr/>
        </p:nvGrpSpPr>
        <p:grpSpPr>
          <a:xfrm>
            <a:off x="1049335" y="1658938"/>
            <a:ext cx="9236360" cy="4751705"/>
            <a:chOff x="1049335" y="1658938"/>
            <a:chExt cx="9236360" cy="4751705"/>
          </a:xfrm>
        </p:grpSpPr>
        <p:sp>
          <p:nvSpPr>
            <p:cNvPr id="125" name="直接连接符 169985"/>
            <p:cNvSpPr>
              <a:spLocks noChangeShapeType="1"/>
            </p:cNvSpPr>
            <p:nvPr/>
          </p:nvSpPr>
          <p:spPr bwMode="auto">
            <a:xfrm>
              <a:off x="4215225" y="5148263"/>
              <a:ext cx="0" cy="22034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6" name="直接连接符 169987"/>
            <p:cNvSpPr>
              <a:spLocks noChangeShapeType="1"/>
            </p:cNvSpPr>
            <p:nvPr/>
          </p:nvSpPr>
          <p:spPr bwMode="auto">
            <a:xfrm>
              <a:off x="8420008" y="3400108"/>
              <a:ext cx="0" cy="257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7" name="直接连接符 169988"/>
            <p:cNvSpPr>
              <a:spLocks noChangeShapeType="1"/>
            </p:cNvSpPr>
            <p:nvPr/>
          </p:nvSpPr>
          <p:spPr bwMode="auto">
            <a:xfrm>
              <a:off x="8901353" y="3400108"/>
              <a:ext cx="0" cy="3460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 name="直接连接符 169989"/>
            <p:cNvSpPr>
              <a:spLocks noChangeShapeType="1"/>
            </p:cNvSpPr>
            <p:nvPr/>
          </p:nvSpPr>
          <p:spPr bwMode="auto">
            <a:xfrm>
              <a:off x="9391588" y="3400108"/>
              <a:ext cx="0" cy="33464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9" name="文本框 169990"/>
            <p:cNvSpPr txBox="1">
              <a:spLocks noChangeArrowheads="1"/>
            </p:cNvSpPr>
            <p:nvPr/>
          </p:nvSpPr>
          <p:spPr bwMode="auto">
            <a:xfrm>
              <a:off x="6926442" y="1942783"/>
              <a:ext cx="104547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600" dirty="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30" name="直接连接符 169991"/>
            <p:cNvSpPr>
              <a:spLocks noChangeShapeType="1"/>
            </p:cNvSpPr>
            <p:nvPr/>
          </p:nvSpPr>
          <p:spPr bwMode="auto">
            <a:xfrm>
              <a:off x="7420487" y="3125153"/>
              <a:ext cx="0" cy="4413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 name="矩形 169992"/>
            <p:cNvSpPr>
              <a:spLocks noChangeArrowheads="1"/>
            </p:cNvSpPr>
            <p:nvPr/>
          </p:nvSpPr>
          <p:spPr bwMode="auto">
            <a:xfrm>
              <a:off x="6651478" y="3736658"/>
              <a:ext cx="3178273" cy="1336675"/>
            </a:xfrm>
            <a:prstGeom prst="rect">
              <a:avLst/>
            </a:prstGeom>
            <a:solidFill>
              <a:srgbClr val="CCECFF"/>
            </a:solidFill>
            <a:ln w="9525">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132" name="文本框 169993"/>
            <p:cNvSpPr txBox="1">
              <a:spLocks noChangeArrowheads="1"/>
            </p:cNvSpPr>
            <p:nvPr/>
          </p:nvSpPr>
          <p:spPr bwMode="auto">
            <a:xfrm>
              <a:off x="9098209" y="4681538"/>
              <a:ext cx="944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333399"/>
                  </a:solidFill>
                  <a:latin typeface="等线" panose="02010600030101010101" pitchFamily="2" charset="-122"/>
                  <a:ea typeface="等线" panose="02010600030101010101" pitchFamily="2" charset="-122"/>
                </a:rPr>
                <a:t>TCP</a:t>
              </a:r>
            </a:p>
          </p:txBody>
        </p:sp>
        <p:sp>
          <p:nvSpPr>
            <p:cNvPr id="133" name="矩形 169994"/>
            <p:cNvSpPr>
              <a:spLocks noChangeArrowheads="1"/>
            </p:cNvSpPr>
            <p:nvPr/>
          </p:nvSpPr>
          <p:spPr bwMode="auto">
            <a:xfrm>
              <a:off x="3465585" y="3195638"/>
              <a:ext cx="1481501" cy="957580"/>
            </a:xfrm>
            <a:prstGeom prst="rect">
              <a:avLst/>
            </a:prstGeom>
            <a:solidFill>
              <a:srgbClr val="CCECFF"/>
            </a:solidFill>
            <a:ln w="9525">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134" name="文本框 169995"/>
            <p:cNvSpPr txBox="1">
              <a:spLocks noChangeArrowheads="1"/>
            </p:cNvSpPr>
            <p:nvPr/>
          </p:nvSpPr>
          <p:spPr bwMode="auto">
            <a:xfrm>
              <a:off x="3435104" y="3746183"/>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333399"/>
                  </a:solidFill>
                  <a:latin typeface="等线" panose="02010600030101010101" pitchFamily="2" charset="-122"/>
                  <a:ea typeface="等线" panose="02010600030101010101" pitchFamily="2" charset="-122"/>
                </a:rPr>
                <a:t>TCP</a:t>
              </a:r>
            </a:p>
          </p:txBody>
        </p:sp>
        <p:sp>
          <p:nvSpPr>
            <p:cNvPr id="135" name="文本框 169996"/>
            <p:cNvSpPr txBox="1">
              <a:spLocks noChangeArrowheads="1"/>
            </p:cNvSpPr>
            <p:nvPr/>
          </p:nvSpPr>
          <p:spPr bwMode="auto">
            <a:xfrm>
              <a:off x="3863742" y="2053908"/>
              <a:ext cx="71566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36" name="文本框 169997"/>
            <p:cNvSpPr txBox="1">
              <a:spLocks noChangeArrowheads="1"/>
            </p:cNvSpPr>
            <p:nvPr/>
          </p:nvSpPr>
          <p:spPr bwMode="auto">
            <a:xfrm>
              <a:off x="3370332" y="1887538"/>
              <a:ext cx="74297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rgbClr val="333399"/>
                  </a:solidFill>
                  <a:latin typeface="等线" panose="02010600030101010101" pitchFamily="2" charset="-122"/>
                  <a:ea typeface="等线" panose="02010600030101010101" pitchFamily="2" charset="-122"/>
                </a:rPr>
                <a:t>客户进程</a:t>
              </a:r>
            </a:p>
          </p:txBody>
        </p:sp>
        <p:sp>
          <p:nvSpPr>
            <p:cNvPr id="137" name="直接连接符 169998"/>
            <p:cNvSpPr>
              <a:spLocks noChangeShapeType="1"/>
            </p:cNvSpPr>
            <p:nvPr/>
          </p:nvSpPr>
          <p:spPr bwMode="auto">
            <a:xfrm flipH="1">
              <a:off x="4203477" y="2846388"/>
              <a:ext cx="0" cy="25019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8" name="文本框 169999"/>
            <p:cNvSpPr txBox="1">
              <a:spLocks noChangeArrowheads="1"/>
            </p:cNvSpPr>
            <p:nvPr/>
          </p:nvSpPr>
          <p:spPr bwMode="auto">
            <a:xfrm>
              <a:off x="2755633" y="2798763"/>
              <a:ext cx="145419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客户套接字</a:t>
              </a:r>
            </a:p>
          </p:txBody>
        </p:sp>
        <p:sp>
          <p:nvSpPr>
            <p:cNvPr id="139" name="文本框 170000"/>
            <p:cNvSpPr txBox="1">
              <a:spLocks noChangeArrowheads="1"/>
            </p:cNvSpPr>
            <p:nvPr/>
          </p:nvSpPr>
          <p:spPr bwMode="auto">
            <a:xfrm>
              <a:off x="9745929" y="2306638"/>
              <a:ext cx="438164" cy="1465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zh-CN" altLang="en-US" sz="2000" dirty="0">
                  <a:solidFill>
                    <a:srgbClr val="333399"/>
                  </a:solidFill>
                  <a:latin typeface="等线" panose="02010600030101010101" pitchFamily="2" charset="-122"/>
                  <a:ea typeface="等线" panose="02010600030101010101" pitchFamily="2" charset="-122"/>
                </a:rPr>
                <a:t>临</a:t>
              </a:r>
            </a:p>
            <a:p>
              <a:pPr>
                <a:lnSpc>
                  <a:spcPct val="90000"/>
                </a:lnSpc>
              </a:pPr>
              <a:r>
                <a:rPr lang="zh-CN" altLang="en-US" sz="2000" dirty="0">
                  <a:solidFill>
                    <a:srgbClr val="333399"/>
                  </a:solidFill>
                  <a:latin typeface="等线" panose="02010600030101010101" pitchFamily="2" charset="-122"/>
                  <a:ea typeface="等线" panose="02010600030101010101" pitchFamily="2" charset="-122"/>
                </a:rPr>
                <a:t>时</a:t>
              </a:r>
            </a:p>
            <a:p>
              <a:pPr>
                <a:lnSpc>
                  <a:spcPct val="90000"/>
                </a:lnSpc>
              </a:pPr>
              <a:r>
                <a:rPr lang="zh-CN" altLang="en-US" sz="2000" dirty="0">
                  <a:solidFill>
                    <a:srgbClr val="333399"/>
                  </a:solidFill>
                  <a:latin typeface="等线" panose="02010600030101010101" pitchFamily="2" charset="-122"/>
                  <a:ea typeface="等线" panose="02010600030101010101" pitchFamily="2" charset="-122"/>
                </a:rPr>
                <a:t>套</a:t>
              </a:r>
            </a:p>
            <a:p>
              <a:pPr>
                <a:lnSpc>
                  <a:spcPct val="90000"/>
                </a:lnSpc>
              </a:pPr>
              <a:r>
                <a:rPr lang="zh-CN" altLang="en-US" sz="2000" dirty="0">
                  <a:solidFill>
                    <a:srgbClr val="333399"/>
                  </a:solidFill>
                  <a:latin typeface="等线" panose="02010600030101010101" pitchFamily="2" charset="-122"/>
                  <a:ea typeface="等线" panose="02010600030101010101" pitchFamily="2" charset="-122"/>
                </a:rPr>
                <a:t>接</a:t>
              </a:r>
            </a:p>
            <a:p>
              <a:pPr>
                <a:lnSpc>
                  <a:spcPct val="90000"/>
                </a:lnSpc>
              </a:pPr>
              <a:r>
                <a:rPr lang="zh-CN" altLang="en-US" sz="2000" dirty="0">
                  <a:solidFill>
                    <a:srgbClr val="333399"/>
                  </a:solidFill>
                  <a:latin typeface="等线" panose="02010600030101010101" pitchFamily="2" charset="-122"/>
                  <a:ea typeface="等线" panose="02010600030101010101" pitchFamily="2" charset="-122"/>
                </a:rPr>
                <a:t>字</a:t>
              </a:r>
            </a:p>
          </p:txBody>
        </p:sp>
        <p:sp>
          <p:nvSpPr>
            <p:cNvPr id="140" name="矩形 170001"/>
            <p:cNvSpPr>
              <a:spLocks noChangeArrowheads="1"/>
            </p:cNvSpPr>
            <p:nvPr/>
          </p:nvSpPr>
          <p:spPr bwMode="auto">
            <a:xfrm>
              <a:off x="1774527" y="4012883"/>
              <a:ext cx="1480866" cy="956945"/>
            </a:xfrm>
            <a:prstGeom prst="rect">
              <a:avLst/>
            </a:prstGeom>
            <a:solidFill>
              <a:srgbClr val="CCECFF"/>
            </a:solidFill>
            <a:ln w="9525">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141" name="文本框 170002"/>
            <p:cNvSpPr txBox="1">
              <a:spLocks noChangeArrowheads="1"/>
            </p:cNvSpPr>
            <p:nvPr/>
          </p:nvSpPr>
          <p:spPr bwMode="auto">
            <a:xfrm>
              <a:off x="1774527" y="4573588"/>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333399"/>
                  </a:solidFill>
                  <a:latin typeface="等线" panose="02010600030101010101" pitchFamily="2" charset="-122"/>
                  <a:ea typeface="等线" panose="02010600030101010101" pitchFamily="2" charset="-122"/>
                </a:rPr>
                <a:t>TCP</a:t>
              </a:r>
            </a:p>
          </p:txBody>
        </p:sp>
        <p:sp>
          <p:nvSpPr>
            <p:cNvPr id="142" name="文本框 170003"/>
            <p:cNvSpPr txBox="1">
              <a:spLocks noChangeArrowheads="1"/>
            </p:cNvSpPr>
            <p:nvPr/>
          </p:nvSpPr>
          <p:spPr bwMode="auto">
            <a:xfrm>
              <a:off x="2173320" y="2846388"/>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43" name="文本框 170004"/>
            <p:cNvSpPr txBox="1">
              <a:spLocks noChangeArrowheads="1"/>
            </p:cNvSpPr>
            <p:nvPr/>
          </p:nvSpPr>
          <p:spPr bwMode="auto">
            <a:xfrm>
              <a:off x="1674829" y="2725738"/>
              <a:ext cx="72709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rgbClr val="333399"/>
                  </a:solidFill>
                  <a:latin typeface="等线" panose="02010600030101010101" pitchFamily="2" charset="-122"/>
                  <a:ea typeface="等线" panose="02010600030101010101" pitchFamily="2" charset="-122"/>
                </a:rPr>
                <a:t>客户进程</a:t>
              </a:r>
            </a:p>
          </p:txBody>
        </p:sp>
        <p:sp>
          <p:nvSpPr>
            <p:cNvPr id="144" name="直接连接符 170005"/>
            <p:cNvSpPr>
              <a:spLocks noChangeShapeType="1"/>
            </p:cNvSpPr>
            <p:nvPr/>
          </p:nvSpPr>
          <p:spPr bwMode="auto">
            <a:xfrm flipH="1">
              <a:off x="2497180" y="3625533"/>
              <a:ext cx="0" cy="26289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 name="文本框 170006"/>
            <p:cNvSpPr txBox="1">
              <a:spLocks noChangeArrowheads="1"/>
            </p:cNvSpPr>
            <p:nvPr/>
          </p:nvSpPr>
          <p:spPr bwMode="auto">
            <a:xfrm>
              <a:off x="1049335" y="3615373"/>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客户套接字</a:t>
              </a:r>
            </a:p>
          </p:txBody>
        </p:sp>
        <p:sp>
          <p:nvSpPr>
            <p:cNvPr id="146" name="矩形 170007"/>
            <p:cNvSpPr>
              <a:spLocks noChangeArrowheads="1"/>
            </p:cNvSpPr>
            <p:nvPr/>
          </p:nvSpPr>
          <p:spPr bwMode="auto">
            <a:xfrm>
              <a:off x="3465585" y="5453063"/>
              <a:ext cx="1481501" cy="957580"/>
            </a:xfrm>
            <a:prstGeom prst="rect">
              <a:avLst/>
            </a:prstGeom>
            <a:solidFill>
              <a:srgbClr val="CCECFF"/>
            </a:solidFill>
            <a:ln w="9525">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148" name="文本框 170009"/>
            <p:cNvSpPr txBox="1">
              <a:spLocks noChangeArrowheads="1"/>
            </p:cNvSpPr>
            <p:nvPr/>
          </p:nvSpPr>
          <p:spPr bwMode="auto">
            <a:xfrm>
              <a:off x="3863742" y="4373732"/>
              <a:ext cx="71757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49" name="文本框 170010"/>
            <p:cNvSpPr txBox="1">
              <a:spLocks noChangeArrowheads="1"/>
            </p:cNvSpPr>
            <p:nvPr/>
          </p:nvSpPr>
          <p:spPr bwMode="auto">
            <a:xfrm>
              <a:off x="3404333" y="4325938"/>
              <a:ext cx="75122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rgbClr val="333399"/>
                  </a:solidFill>
                  <a:latin typeface="等线" panose="02010600030101010101" pitchFamily="2" charset="-122"/>
                  <a:ea typeface="等线" panose="02010600030101010101" pitchFamily="2" charset="-122"/>
                </a:rPr>
                <a:t>客户进程</a:t>
              </a:r>
            </a:p>
          </p:txBody>
        </p:sp>
        <p:grpSp>
          <p:nvGrpSpPr>
            <p:cNvPr id="150" name="组合 170011"/>
            <p:cNvGrpSpPr/>
            <p:nvPr/>
          </p:nvGrpSpPr>
          <p:grpSpPr bwMode="auto">
            <a:xfrm>
              <a:off x="2377796" y="3098483"/>
              <a:ext cx="1966656" cy="2489200"/>
              <a:chOff x="0" y="0"/>
              <a:chExt cx="1239" cy="1568"/>
            </a:xfrm>
          </p:grpSpPr>
          <p:sp>
            <p:nvSpPr>
              <p:cNvPr id="151" name="矩形 170012"/>
              <p:cNvSpPr>
                <a:spLocks noChangeArrowheads="1"/>
              </p:cNvSpPr>
              <p:nvPr/>
            </p:nvSpPr>
            <p:spPr bwMode="auto">
              <a:xfrm>
                <a:off x="1091" y="0"/>
                <a:ext cx="122" cy="130"/>
              </a:xfrm>
              <a:prstGeom prst="rect">
                <a:avLst/>
              </a:prstGeom>
              <a:solidFill>
                <a:schemeClr val="bg1"/>
              </a:solidFill>
              <a:ln w="19050">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152" name="矩形 170013"/>
              <p:cNvSpPr>
                <a:spLocks noChangeArrowheads="1"/>
              </p:cNvSpPr>
              <p:nvPr/>
            </p:nvSpPr>
            <p:spPr bwMode="auto">
              <a:xfrm>
                <a:off x="0" y="515"/>
                <a:ext cx="147" cy="132"/>
              </a:xfrm>
              <a:prstGeom prst="rect">
                <a:avLst/>
              </a:prstGeom>
              <a:solidFill>
                <a:schemeClr val="bg1"/>
              </a:solidFill>
              <a:ln w="19050">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153" name="矩形 170014"/>
              <p:cNvSpPr>
                <a:spLocks noChangeArrowheads="1"/>
              </p:cNvSpPr>
              <p:nvPr/>
            </p:nvSpPr>
            <p:spPr bwMode="auto">
              <a:xfrm>
                <a:off x="1091" y="1422"/>
                <a:ext cx="148" cy="146"/>
              </a:xfrm>
              <a:prstGeom prst="rect">
                <a:avLst/>
              </a:prstGeom>
              <a:solidFill>
                <a:schemeClr val="bg1"/>
              </a:solidFill>
              <a:ln w="19050">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grpSp>
        <p:sp>
          <p:nvSpPr>
            <p:cNvPr id="154" name="文本框 170015"/>
            <p:cNvSpPr txBox="1">
              <a:spLocks noChangeArrowheads="1"/>
            </p:cNvSpPr>
            <p:nvPr/>
          </p:nvSpPr>
          <p:spPr bwMode="auto">
            <a:xfrm>
              <a:off x="2743566" y="5070314"/>
              <a:ext cx="145419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客户套接字</a:t>
              </a:r>
            </a:p>
          </p:txBody>
        </p:sp>
        <p:sp>
          <p:nvSpPr>
            <p:cNvPr id="155" name="文本框 170016"/>
            <p:cNvSpPr txBox="1">
              <a:spLocks noChangeArrowheads="1"/>
            </p:cNvSpPr>
            <p:nvPr/>
          </p:nvSpPr>
          <p:spPr bwMode="auto">
            <a:xfrm>
              <a:off x="9047407" y="2625408"/>
              <a:ext cx="71757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56" name="任意多边形 170017"/>
            <p:cNvSpPr>
              <a:spLocks noChangeArrowheads="1"/>
            </p:cNvSpPr>
            <p:nvPr/>
          </p:nvSpPr>
          <p:spPr bwMode="auto">
            <a:xfrm>
              <a:off x="4205382" y="3673158"/>
              <a:ext cx="5178585" cy="2131695"/>
            </a:xfrm>
            <a:custGeom>
              <a:avLst/>
              <a:gdLst>
                <a:gd name="T0" fmla="*/ 0 w 3354"/>
                <a:gd name="T1" fmla="*/ 900 h 996"/>
                <a:gd name="T2" fmla="*/ 0 w 3354"/>
                <a:gd name="T3" fmla="*/ 996 h 996"/>
                <a:gd name="T4" fmla="*/ 1350 w 3354"/>
                <a:gd name="T5" fmla="*/ 354 h 996"/>
                <a:gd name="T6" fmla="*/ 3348 w 3354"/>
                <a:gd name="T7" fmla="*/ 354 h 996"/>
                <a:gd name="T8" fmla="*/ 3354 w 3354"/>
                <a:gd name="T9" fmla="*/ 0 h 996"/>
              </a:gdLst>
              <a:ahLst/>
              <a:cxnLst>
                <a:cxn ang="0">
                  <a:pos x="T0" y="T1"/>
                </a:cxn>
                <a:cxn ang="0">
                  <a:pos x="T2" y="T3"/>
                </a:cxn>
                <a:cxn ang="0">
                  <a:pos x="T4" y="T5"/>
                </a:cxn>
                <a:cxn ang="0">
                  <a:pos x="T6" y="T7"/>
                </a:cxn>
                <a:cxn ang="0">
                  <a:pos x="T8" y="T9"/>
                </a:cxn>
              </a:cxnLst>
              <a:rect l="0" t="0" r="r" b="b"/>
              <a:pathLst>
                <a:path w="3354" h="996">
                  <a:moveTo>
                    <a:pt x="0" y="900"/>
                  </a:moveTo>
                  <a:lnTo>
                    <a:pt x="0" y="996"/>
                  </a:lnTo>
                  <a:lnTo>
                    <a:pt x="1350" y="354"/>
                  </a:lnTo>
                  <a:lnTo>
                    <a:pt x="3348" y="354"/>
                  </a:lnTo>
                  <a:lnTo>
                    <a:pt x="3354"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57" name="文本框 170018"/>
            <p:cNvSpPr txBox="1">
              <a:spLocks noChangeArrowheads="1"/>
            </p:cNvSpPr>
            <p:nvPr/>
          </p:nvSpPr>
          <p:spPr bwMode="auto">
            <a:xfrm>
              <a:off x="8533041" y="2619058"/>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58" name="任意多边形 170019"/>
            <p:cNvSpPr>
              <a:spLocks noChangeArrowheads="1"/>
            </p:cNvSpPr>
            <p:nvPr/>
          </p:nvSpPr>
          <p:spPr bwMode="auto">
            <a:xfrm>
              <a:off x="2511150" y="3685858"/>
              <a:ext cx="6389567" cy="628650"/>
            </a:xfrm>
            <a:custGeom>
              <a:avLst/>
              <a:gdLst>
                <a:gd name="T0" fmla="*/ 0 w 4140"/>
                <a:gd name="T1" fmla="*/ 228 h 294"/>
                <a:gd name="T2" fmla="*/ 0 w 4140"/>
                <a:gd name="T3" fmla="*/ 294 h 294"/>
                <a:gd name="T4" fmla="*/ 4140 w 4140"/>
                <a:gd name="T5" fmla="*/ 294 h 294"/>
                <a:gd name="T6" fmla="*/ 4140 w 4140"/>
                <a:gd name="T7" fmla="*/ 0 h 294"/>
              </a:gdLst>
              <a:ahLst/>
              <a:cxnLst>
                <a:cxn ang="0">
                  <a:pos x="T0" y="T1"/>
                </a:cxn>
                <a:cxn ang="0">
                  <a:pos x="T2" y="T3"/>
                </a:cxn>
                <a:cxn ang="0">
                  <a:pos x="T4" y="T5"/>
                </a:cxn>
                <a:cxn ang="0">
                  <a:pos x="T6" y="T7"/>
                </a:cxn>
              </a:cxnLst>
              <a:rect l="0" t="0" r="r" b="b"/>
              <a:pathLst>
                <a:path w="4140" h="294">
                  <a:moveTo>
                    <a:pt x="0" y="228"/>
                  </a:moveTo>
                  <a:lnTo>
                    <a:pt x="0" y="294"/>
                  </a:lnTo>
                  <a:lnTo>
                    <a:pt x="4140" y="294"/>
                  </a:lnTo>
                  <a:lnTo>
                    <a:pt x="4140"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59" name="文本框 170020"/>
            <p:cNvSpPr txBox="1">
              <a:spLocks noChangeArrowheads="1"/>
            </p:cNvSpPr>
            <p:nvPr/>
          </p:nvSpPr>
          <p:spPr bwMode="auto">
            <a:xfrm>
              <a:off x="8064397" y="2625408"/>
              <a:ext cx="71566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60" name="任意多边形 170021"/>
            <p:cNvSpPr>
              <a:spLocks noChangeArrowheads="1"/>
            </p:cNvSpPr>
            <p:nvPr/>
          </p:nvSpPr>
          <p:spPr bwMode="auto">
            <a:xfrm>
              <a:off x="4205382" y="3325813"/>
              <a:ext cx="4224786" cy="873125"/>
            </a:xfrm>
            <a:custGeom>
              <a:avLst/>
              <a:gdLst>
                <a:gd name="T0" fmla="*/ 0 w 2736"/>
                <a:gd name="T1" fmla="*/ 0 h 408"/>
                <a:gd name="T2" fmla="*/ 0 w 2736"/>
                <a:gd name="T3" fmla="*/ 84 h 408"/>
                <a:gd name="T4" fmla="*/ 1362 w 2736"/>
                <a:gd name="T5" fmla="*/ 408 h 408"/>
                <a:gd name="T6" fmla="*/ 2724 w 2736"/>
                <a:gd name="T7" fmla="*/ 408 h 408"/>
                <a:gd name="T8" fmla="*/ 2736 w 2736"/>
                <a:gd name="T9" fmla="*/ 210 h 408"/>
              </a:gdLst>
              <a:ahLst/>
              <a:cxnLst>
                <a:cxn ang="0">
                  <a:pos x="T0" y="T1"/>
                </a:cxn>
                <a:cxn ang="0">
                  <a:pos x="T2" y="T3"/>
                </a:cxn>
                <a:cxn ang="0">
                  <a:pos x="T4" y="T5"/>
                </a:cxn>
                <a:cxn ang="0">
                  <a:pos x="T6" y="T7"/>
                </a:cxn>
                <a:cxn ang="0">
                  <a:pos x="T8" y="T9"/>
                </a:cxn>
              </a:cxnLst>
              <a:rect l="0" t="0" r="r" b="b"/>
              <a:pathLst>
                <a:path w="2736" h="408">
                  <a:moveTo>
                    <a:pt x="0" y="0"/>
                  </a:moveTo>
                  <a:lnTo>
                    <a:pt x="0" y="84"/>
                  </a:lnTo>
                  <a:lnTo>
                    <a:pt x="1362" y="408"/>
                  </a:lnTo>
                  <a:lnTo>
                    <a:pt x="2724" y="408"/>
                  </a:lnTo>
                  <a:lnTo>
                    <a:pt x="2736" y="21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61" name="文本框 170022"/>
            <p:cNvSpPr txBox="1">
              <a:spLocks noChangeArrowheads="1"/>
            </p:cNvSpPr>
            <p:nvPr/>
          </p:nvSpPr>
          <p:spPr bwMode="auto">
            <a:xfrm>
              <a:off x="6580356" y="1801813"/>
              <a:ext cx="145292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主服务进程</a:t>
              </a:r>
            </a:p>
          </p:txBody>
        </p:sp>
        <p:sp>
          <p:nvSpPr>
            <p:cNvPr id="162" name="矩形 170023"/>
            <p:cNvSpPr>
              <a:spLocks noChangeArrowheads="1"/>
            </p:cNvSpPr>
            <p:nvPr/>
          </p:nvSpPr>
          <p:spPr bwMode="auto">
            <a:xfrm>
              <a:off x="7243951" y="3530283"/>
              <a:ext cx="363866" cy="374650"/>
            </a:xfrm>
            <a:prstGeom prst="rect">
              <a:avLst/>
            </a:prstGeom>
            <a:solidFill>
              <a:schemeClr val="bg1"/>
            </a:solidFill>
            <a:ln w="28575">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163" name="直接连接符 170024"/>
            <p:cNvSpPr>
              <a:spLocks noChangeShapeType="1"/>
            </p:cNvSpPr>
            <p:nvPr/>
          </p:nvSpPr>
          <p:spPr bwMode="auto">
            <a:xfrm flipH="1">
              <a:off x="8542566" y="3332163"/>
              <a:ext cx="1329096" cy="250825"/>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4" name="文本框 170025"/>
            <p:cNvSpPr txBox="1">
              <a:spLocks noChangeArrowheads="1"/>
            </p:cNvSpPr>
            <p:nvPr/>
          </p:nvSpPr>
          <p:spPr bwMode="auto">
            <a:xfrm>
              <a:off x="4489236" y="4284663"/>
              <a:ext cx="12009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TCP </a:t>
              </a:r>
              <a:r>
                <a:rPr lang="zh-CN" altLang="en-US" sz="2000" dirty="0">
                  <a:solidFill>
                    <a:srgbClr val="333399"/>
                  </a:solidFill>
                  <a:latin typeface="等线" panose="02010600030101010101" pitchFamily="2" charset="-122"/>
                  <a:ea typeface="等线" panose="02010600030101010101" pitchFamily="2" charset="-122"/>
                  <a:cs typeface="微软雅黑" panose="020B0503020204020204" pitchFamily="34" charset="-122"/>
                </a:rPr>
                <a:t>连接</a:t>
              </a:r>
            </a:p>
          </p:txBody>
        </p:sp>
        <p:sp>
          <p:nvSpPr>
            <p:cNvPr id="165" name="文本框 170026"/>
            <p:cNvSpPr txBox="1">
              <a:spLocks noChangeArrowheads="1"/>
            </p:cNvSpPr>
            <p:nvPr/>
          </p:nvSpPr>
          <p:spPr bwMode="auto">
            <a:xfrm>
              <a:off x="4830877" y="2552383"/>
              <a:ext cx="221621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dirty="0">
                  <a:solidFill>
                    <a:srgbClr val="333399"/>
                  </a:solidFill>
                  <a:latin typeface="等线" panose="02010600030101010101" pitchFamily="2" charset="-122"/>
                  <a:ea typeface="等线" panose="02010600030101010101" pitchFamily="2" charset="-122"/>
                </a:rPr>
                <a:t>仅用于接受</a:t>
              </a:r>
            </a:p>
            <a:p>
              <a:pPr algn="ctr">
                <a:lnSpc>
                  <a:spcPct val="90000"/>
                </a:lnSpc>
              </a:pPr>
              <a:r>
                <a:rPr lang="zh-CN" altLang="en-US" sz="2000" dirty="0">
                  <a:solidFill>
                    <a:srgbClr val="333399"/>
                  </a:solidFill>
                  <a:latin typeface="等线" panose="02010600030101010101" pitchFamily="2" charset="-122"/>
                  <a:ea typeface="等线" panose="02010600030101010101" pitchFamily="2" charset="-122"/>
                </a:rPr>
                <a:t>服务请求的套接字</a:t>
              </a:r>
            </a:p>
          </p:txBody>
        </p:sp>
        <p:sp>
          <p:nvSpPr>
            <p:cNvPr id="166" name="椭圆 170027"/>
            <p:cNvSpPr>
              <a:spLocks noChangeArrowheads="1"/>
            </p:cNvSpPr>
            <p:nvPr/>
          </p:nvSpPr>
          <p:spPr bwMode="auto">
            <a:xfrm>
              <a:off x="5762451" y="3736658"/>
              <a:ext cx="147325" cy="1233170"/>
            </a:xfrm>
            <a:prstGeom prst="ellipse">
              <a:avLst/>
            </a:prstGeom>
            <a:noFill/>
            <a:ln w="28575">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nvGrpSpPr>
            <p:cNvPr id="167" name="组合 170028"/>
            <p:cNvGrpSpPr/>
            <p:nvPr/>
          </p:nvGrpSpPr>
          <p:grpSpPr bwMode="auto">
            <a:xfrm>
              <a:off x="8308879" y="3603308"/>
              <a:ext cx="1179231" cy="223520"/>
              <a:chOff x="0" y="0"/>
              <a:chExt cx="743" cy="141"/>
            </a:xfrm>
          </p:grpSpPr>
          <p:sp>
            <p:nvSpPr>
              <p:cNvPr id="168" name="矩形 170029"/>
              <p:cNvSpPr>
                <a:spLocks noChangeArrowheads="1"/>
              </p:cNvSpPr>
              <p:nvPr/>
            </p:nvSpPr>
            <p:spPr bwMode="auto">
              <a:xfrm>
                <a:off x="610" y="0"/>
                <a:ext cx="133" cy="140"/>
              </a:xfrm>
              <a:prstGeom prst="rect">
                <a:avLst/>
              </a:prstGeom>
              <a:solidFill>
                <a:schemeClr val="bg1"/>
              </a:solidFill>
              <a:ln w="28575">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169" name="矩形 170030"/>
              <p:cNvSpPr>
                <a:spLocks noChangeArrowheads="1"/>
              </p:cNvSpPr>
              <p:nvPr/>
            </p:nvSpPr>
            <p:spPr bwMode="auto">
              <a:xfrm>
                <a:off x="313" y="1"/>
                <a:ext cx="132" cy="139"/>
              </a:xfrm>
              <a:prstGeom prst="rect">
                <a:avLst/>
              </a:prstGeom>
              <a:solidFill>
                <a:schemeClr val="bg1"/>
              </a:solidFill>
              <a:ln w="28575">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170" name="矩形 170031"/>
              <p:cNvSpPr>
                <a:spLocks noChangeArrowheads="1"/>
              </p:cNvSpPr>
              <p:nvPr/>
            </p:nvSpPr>
            <p:spPr bwMode="auto">
              <a:xfrm>
                <a:off x="0" y="1"/>
                <a:ext cx="140" cy="140"/>
              </a:xfrm>
              <a:prstGeom prst="rect">
                <a:avLst/>
              </a:prstGeom>
              <a:solidFill>
                <a:schemeClr val="bg1"/>
              </a:solidFill>
              <a:ln w="28575">
                <a:solidFill>
                  <a:srgbClr val="333399"/>
                </a:solidFill>
                <a:miter lim="800000"/>
              </a:ln>
            </p:spPr>
            <p:txBody>
              <a:bodyPr/>
              <a:lstStyle/>
              <a:p>
                <a:endParaRPr lang="zh-CN" altLang="en-US" dirty="0">
                  <a:latin typeface="等线" panose="02010600030101010101" pitchFamily="2" charset="-122"/>
                  <a:ea typeface="等线" panose="02010600030101010101" pitchFamily="2" charset="-122"/>
                </a:endParaRPr>
              </a:p>
            </p:txBody>
          </p:sp>
        </p:grpSp>
        <p:sp>
          <p:nvSpPr>
            <p:cNvPr id="171" name="任意多边形 170032"/>
            <p:cNvSpPr>
              <a:spLocks noChangeArrowheads="1"/>
            </p:cNvSpPr>
            <p:nvPr/>
          </p:nvSpPr>
          <p:spPr bwMode="auto">
            <a:xfrm>
              <a:off x="8089797" y="2031683"/>
              <a:ext cx="810920" cy="337820"/>
            </a:xfrm>
            <a:custGeom>
              <a:avLst/>
              <a:gdLst>
                <a:gd name="T0" fmla="*/ 0 w 592"/>
                <a:gd name="T1" fmla="*/ 0 h 240"/>
                <a:gd name="T2" fmla="*/ 592 w 592"/>
                <a:gd name="T3" fmla="*/ 0 h 240"/>
                <a:gd name="T4" fmla="*/ 584 w 592"/>
                <a:gd name="T5" fmla="*/ 240 h 240"/>
              </a:gdLst>
              <a:ahLst/>
              <a:cxnLst>
                <a:cxn ang="0">
                  <a:pos x="T0" y="T1"/>
                </a:cxn>
                <a:cxn ang="0">
                  <a:pos x="T2" y="T3"/>
                </a:cxn>
                <a:cxn ang="0">
                  <a:pos x="T4" y="T5"/>
                </a:cxn>
              </a:cxnLst>
              <a:rect l="0" t="0" r="r" b="b"/>
              <a:pathLst>
                <a:path w="592" h="240">
                  <a:moveTo>
                    <a:pt x="0" y="0"/>
                  </a:moveTo>
                  <a:lnTo>
                    <a:pt x="592" y="0"/>
                  </a:lnTo>
                  <a:lnTo>
                    <a:pt x="584" y="240"/>
                  </a:lnTo>
                </a:path>
              </a:pathLst>
            </a:custGeom>
            <a:noFill/>
            <a:ln w="38100">
              <a:solidFill>
                <a:schemeClr val="hlink"/>
              </a:solidFill>
              <a:rou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72" name="左大括号 170033"/>
            <p:cNvSpPr/>
            <p:nvPr/>
          </p:nvSpPr>
          <p:spPr bwMode="auto">
            <a:xfrm rot="5400000">
              <a:off x="8772447" y="2050711"/>
              <a:ext cx="215900" cy="1441495"/>
            </a:xfrm>
            <a:prstGeom prst="leftBrace">
              <a:avLst>
                <a:gd name="adj1" fmla="val 55514"/>
                <a:gd name="adj2" fmla="val 50000"/>
              </a:avLst>
            </a:pr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73" name="文本框 170034"/>
            <p:cNvSpPr txBox="1">
              <a:spLocks noChangeArrowheads="1"/>
            </p:cNvSpPr>
            <p:nvPr/>
          </p:nvSpPr>
          <p:spPr bwMode="auto">
            <a:xfrm>
              <a:off x="8234582" y="1658938"/>
              <a:ext cx="692171"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等线" panose="02010600030101010101" pitchFamily="2" charset="-122"/>
                  <a:ea typeface="等线" panose="02010600030101010101" pitchFamily="2" charset="-122"/>
                </a:rPr>
                <a:t>创建</a:t>
              </a:r>
            </a:p>
          </p:txBody>
        </p:sp>
        <p:sp>
          <p:nvSpPr>
            <p:cNvPr id="174" name="文本框 170035"/>
            <p:cNvSpPr txBox="1">
              <a:spLocks noChangeArrowheads="1"/>
            </p:cNvSpPr>
            <p:nvPr/>
          </p:nvSpPr>
          <p:spPr bwMode="auto">
            <a:xfrm>
              <a:off x="8120913" y="2306638"/>
              <a:ext cx="155452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dirty="0">
                  <a:solidFill>
                    <a:srgbClr val="333399"/>
                  </a:solidFill>
                  <a:latin typeface="等线" panose="02010600030101010101" pitchFamily="2" charset="-122"/>
                  <a:ea typeface="等线" panose="02010600030101010101" pitchFamily="2" charset="-122"/>
                </a:rPr>
                <a:t>从属服务进程</a:t>
              </a:r>
            </a:p>
          </p:txBody>
        </p:sp>
        <p:sp>
          <p:nvSpPr>
            <p:cNvPr id="176" name="直接连接符 170037"/>
            <p:cNvSpPr>
              <a:spLocks noChangeShapeType="1"/>
            </p:cNvSpPr>
            <p:nvPr/>
          </p:nvSpPr>
          <p:spPr bwMode="auto">
            <a:xfrm flipH="1">
              <a:off x="9510971" y="3473133"/>
              <a:ext cx="387362" cy="165100"/>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7" name="直接连接符 170038"/>
            <p:cNvSpPr>
              <a:spLocks noChangeShapeType="1"/>
            </p:cNvSpPr>
            <p:nvPr/>
          </p:nvSpPr>
          <p:spPr bwMode="auto">
            <a:xfrm flipH="1">
              <a:off x="9025181" y="3384233"/>
              <a:ext cx="841401" cy="242570"/>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8" name="直接连接符 170039"/>
            <p:cNvSpPr>
              <a:spLocks noChangeShapeType="1"/>
            </p:cNvSpPr>
            <p:nvPr/>
          </p:nvSpPr>
          <p:spPr bwMode="auto">
            <a:xfrm>
              <a:off x="6676879" y="3170238"/>
              <a:ext cx="549292" cy="431800"/>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9" name="圆角矩形 170040"/>
            <p:cNvSpPr>
              <a:spLocks noChangeArrowheads="1"/>
            </p:cNvSpPr>
            <p:nvPr/>
          </p:nvSpPr>
          <p:spPr bwMode="auto">
            <a:xfrm>
              <a:off x="6937237" y="3457258"/>
              <a:ext cx="2736935" cy="575945"/>
            </a:xfrm>
            <a:prstGeom prst="roundRect">
              <a:avLst>
                <a:gd name="adj" fmla="val 47657"/>
              </a:avLst>
            </a:prstGeom>
            <a:noFill/>
            <a:ln w="25400">
              <a:solidFill>
                <a:srgbClr val="FF00FF"/>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80" name="文本框 170041"/>
            <p:cNvSpPr txBox="1">
              <a:spLocks noChangeArrowheads="1"/>
            </p:cNvSpPr>
            <p:nvPr/>
          </p:nvSpPr>
          <p:spPr bwMode="auto">
            <a:xfrm>
              <a:off x="5256340" y="5546408"/>
              <a:ext cx="502935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000" dirty="0">
                  <a:solidFill>
                    <a:srgbClr val="333399"/>
                  </a:solidFill>
                  <a:latin typeface="等线" panose="02010600030101010101" pitchFamily="2" charset="-122"/>
                  <a:ea typeface="等线" panose="02010600030101010101" pitchFamily="2" charset="-122"/>
                </a:rPr>
                <a:t>所有这些套接字都使用服务器的熟知端口号</a:t>
              </a:r>
            </a:p>
          </p:txBody>
        </p:sp>
        <p:sp>
          <p:nvSpPr>
            <p:cNvPr id="181" name="直接连接符 170042"/>
            <p:cNvSpPr>
              <a:spLocks noChangeShapeType="1"/>
            </p:cNvSpPr>
            <p:nvPr/>
          </p:nvSpPr>
          <p:spPr bwMode="auto">
            <a:xfrm flipV="1">
              <a:off x="7008994" y="4033838"/>
              <a:ext cx="433718" cy="1513205"/>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948015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510758"/>
            <a:ext cx="10046292" cy="4845592"/>
          </a:xfrm>
        </p:spPr>
        <p:txBody>
          <a:bodyPr>
            <a:normAutofit/>
          </a:bodyPr>
          <a:lstStyle/>
          <a:p>
            <a:pPr marL="0" indent="0">
              <a:lnSpc>
                <a:spcPct val="130000"/>
              </a:lnSpc>
              <a:buNone/>
            </a:pPr>
            <a:r>
              <a:rPr kumimoji="1" lang="en-US" altLang="zh-CN" dirty="0"/>
              <a:t>7.1 </a:t>
            </a:r>
            <a:r>
              <a:rPr kumimoji="1" lang="zh-CN" altLang="en-US" dirty="0"/>
              <a:t>应用层概述（</a:t>
            </a:r>
            <a:r>
              <a:rPr kumimoji="1" lang="en-US" altLang="zh-CN" dirty="0"/>
              <a:t>P3</a:t>
            </a:r>
            <a:r>
              <a:rPr kumimoji="1" lang="zh-CN" altLang="en-US" dirty="0"/>
              <a:t>）</a:t>
            </a:r>
          </a:p>
          <a:p>
            <a:pPr marL="0" indent="0">
              <a:lnSpc>
                <a:spcPct val="130000"/>
              </a:lnSpc>
              <a:buNone/>
            </a:pPr>
            <a:r>
              <a:rPr kumimoji="1" lang="en-US" altLang="zh-CN" dirty="0">
                <a:solidFill>
                  <a:srgbClr val="C00000"/>
                </a:solidFill>
              </a:rPr>
              <a:t>7.2 </a:t>
            </a:r>
            <a:r>
              <a:rPr kumimoji="1" lang="zh-CN" altLang="en-US" dirty="0">
                <a:solidFill>
                  <a:srgbClr val="C00000"/>
                </a:solidFill>
              </a:rPr>
              <a:t>域名系统（</a:t>
            </a:r>
            <a:r>
              <a:rPr kumimoji="1" lang="en-US" altLang="zh-CN" dirty="0">
                <a:solidFill>
                  <a:srgbClr val="C00000"/>
                </a:solidFill>
              </a:rPr>
              <a:t>P20</a:t>
            </a:r>
            <a:r>
              <a:rPr kumimoji="1" lang="zh-CN" altLang="en-US" dirty="0">
                <a:solidFill>
                  <a:srgbClr val="C00000"/>
                </a:solidFill>
              </a:rPr>
              <a:t>）</a:t>
            </a:r>
          </a:p>
          <a:p>
            <a:pPr marL="0" indent="0">
              <a:lnSpc>
                <a:spcPct val="130000"/>
              </a:lnSpc>
              <a:buNone/>
            </a:pPr>
            <a:r>
              <a:rPr kumimoji="1" lang="en-US" altLang="zh-CN" dirty="0"/>
              <a:t>7.3 </a:t>
            </a:r>
            <a:r>
              <a:rPr kumimoji="1" lang="zh-CN" altLang="en-US" dirty="0"/>
              <a:t>电子邮件（</a:t>
            </a:r>
            <a:r>
              <a:rPr kumimoji="1" lang="en-US" altLang="zh-CN" dirty="0"/>
              <a:t>P42</a:t>
            </a:r>
            <a:r>
              <a:rPr kumimoji="1" lang="zh-CN" altLang="en-US" dirty="0"/>
              <a:t>）</a:t>
            </a:r>
          </a:p>
          <a:p>
            <a:pPr marL="0" indent="0">
              <a:lnSpc>
                <a:spcPct val="130000"/>
              </a:lnSpc>
              <a:buNone/>
            </a:pPr>
            <a:r>
              <a:rPr kumimoji="1" lang="en-US" altLang="zh-CN" dirty="0"/>
              <a:t>7.4 </a:t>
            </a:r>
            <a:r>
              <a:rPr kumimoji="1" lang="zh-CN" altLang="en-US" dirty="0"/>
              <a:t>其它应用层协议（</a:t>
            </a:r>
            <a:r>
              <a:rPr kumimoji="1" lang="en-US" altLang="zh-CN" dirty="0"/>
              <a:t>P52</a:t>
            </a:r>
            <a:r>
              <a:rPr kumimoji="1" lang="zh-CN" altLang="en-US" dirty="0"/>
              <a:t>）</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6" name="矩形标注 5"/>
          <p:cNvSpPr/>
          <p:nvPr/>
        </p:nvSpPr>
        <p:spPr>
          <a:xfrm>
            <a:off x="6061633" y="2013034"/>
            <a:ext cx="4871977" cy="2247467"/>
          </a:xfrm>
          <a:prstGeom prst="wedgeRectCallout">
            <a:avLst>
              <a:gd name="adj1" fmla="val -76360"/>
              <a:gd name="adj2" fmla="val -3898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schemeClr val="tx1"/>
                </a:solidFill>
                <a:latin typeface="等线" panose="02010600030101010101" pitchFamily="2" charset="-122"/>
                <a:ea typeface="等线" panose="02010600030101010101" pitchFamily="2" charset="-122"/>
              </a:rPr>
              <a:t>历史和概述</a:t>
            </a:r>
          </a:p>
          <a:p>
            <a:pPr marL="587375"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域名系统名字空间和层次结构</a:t>
            </a:r>
          </a:p>
          <a:p>
            <a:pPr marL="587375"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域名服务器</a:t>
            </a:r>
          </a:p>
          <a:p>
            <a:pPr marL="587375"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域名解析过程</a:t>
            </a:r>
          </a:p>
        </p:txBody>
      </p:sp>
    </p:spTree>
    <p:extLst>
      <p:ext uri="{BB962C8B-B14F-4D97-AF65-F5344CB8AC3E}">
        <p14:creationId xmlns:p14="http://schemas.microsoft.com/office/powerpoint/2010/main" val="739733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t>历史与概述</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Tx/>
              <a:buSzTx/>
            </a:pPr>
            <a:r>
              <a:rPr lang="zh-CN" altLang="en-US" dirty="0">
                <a:latin typeface="等线" panose="02010600030101010101" pitchFamily="2" charset="-122"/>
                <a:ea typeface="等线" panose="02010600030101010101" pitchFamily="2" charset="-122"/>
                <a:sym typeface="+mn-ea"/>
              </a:rPr>
              <a:t>ARPANET时期</a:t>
            </a:r>
          </a:p>
          <a:p>
            <a:pPr lvl="1" algn="just">
              <a:lnSpc>
                <a:spcPct val="100000"/>
              </a:lnSpc>
              <a:buClrTx/>
              <a:buSzTx/>
            </a:pP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Hosts.txt文件</a:t>
            </a:r>
            <a:r>
              <a:rPr lang="zh-CN" altLang="en-US" dirty="0">
                <a:latin typeface="等线" panose="02010600030101010101" pitchFamily="2" charset="-122"/>
                <a:ea typeface="等线" panose="02010600030101010101" pitchFamily="2" charset="-122"/>
                <a:sym typeface="+mn-ea"/>
              </a:rPr>
              <a:t>列出了所有计算机名称和它们的IP地址</a:t>
            </a:r>
            <a:endParaRPr lang="zh-CN" altLang="en-US" b="1" dirty="0">
              <a:solidFill>
                <a:srgbClr val="0070C0"/>
              </a:solidFill>
              <a:latin typeface="Times New Roman" panose="02020603050405020304" charset="0"/>
              <a:ea typeface="+mn-ea"/>
              <a:sym typeface="+mn-ea"/>
            </a:endParaRPr>
          </a:p>
          <a:p>
            <a:pPr lvl="1" algn="just">
              <a:lnSpc>
                <a:spcPct val="100000"/>
              </a:lnSpc>
              <a:buClrTx/>
              <a:buSzTx/>
            </a:pPr>
            <a:r>
              <a:rPr lang="zh-CN" altLang="en-US" dirty="0">
                <a:latin typeface="等线" panose="02010600030101010101" pitchFamily="2" charset="-122"/>
                <a:ea typeface="等线" panose="02010600030101010101" pitchFamily="2" charset="-122"/>
                <a:sym typeface="+mn-ea"/>
              </a:rPr>
              <a:t>所有主机从指定站点上获取Hosts.txt文件</a:t>
            </a:r>
            <a:endParaRPr lang="zh-CN" altLang="en-US" b="1" dirty="0">
              <a:solidFill>
                <a:srgbClr val="0070C0"/>
              </a:solidFill>
              <a:latin typeface="Times New Roman" panose="02020603050405020304" charset="0"/>
              <a:ea typeface="+mn-ea"/>
              <a:sym typeface="+mn-ea"/>
            </a:endParaRPr>
          </a:p>
          <a:p>
            <a:pPr lvl="1" algn="just">
              <a:lnSpc>
                <a:spcPct val="100000"/>
              </a:lnSpc>
              <a:buClrTx/>
              <a:buSzTx/>
            </a:pPr>
            <a:r>
              <a:rPr lang="zh-CN" altLang="en-US" dirty="0">
                <a:latin typeface="等线" panose="02010600030101010101" pitchFamily="2" charset="-122"/>
                <a:ea typeface="等线" panose="02010600030101010101" pitchFamily="2" charset="-122"/>
                <a:sym typeface="+mn-ea"/>
              </a:rPr>
              <a:t>Hosts.txt文件的使用在当时表现不错</a:t>
            </a:r>
            <a:endParaRPr lang="zh-CN" altLang="en-US" dirty="0">
              <a:solidFill>
                <a:schemeClr val="tx1"/>
              </a:solidFill>
              <a:latin typeface="等线" panose="02010600030101010101" pitchFamily="2" charset="-122"/>
              <a:ea typeface="等线" panose="02010600030101010101" pitchFamily="2" charset="-122"/>
              <a:sym typeface="+mn-ea"/>
            </a:endParaRPr>
          </a:p>
          <a:p>
            <a:pPr algn="just">
              <a:lnSpc>
                <a:spcPct val="100000"/>
              </a:lnSpc>
              <a:buClrTx/>
              <a:buSzTx/>
            </a:pPr>
            <a:r>
              <a:rPr lang="zh-CN" altLang="en-US" dirty="0">
                <a:latin typeface="等线" panose="02010600030101010101" pitchFamily="2" charset="-122"/>
                <a:ea typeface="等线" panose="02010600030101010101" pitchFamily="2" charset="-122"/>
                <a:sym typeface="+mn-ea"/>
              </a:rPr>
              <a:t>互联网发展</a:t>
            </a:r>
          </a:p>
          <a:p>
            <a:pPr lvl="1" algn="just">
              <a:lnSpc>
                <a:spcPct val="100000"/>
              </a:lnSpc>
              <a:buClrTx/>
              <a:buSzTx/>
            </a:pPr>
            <a:r>
              <a:rPr lang="zh-CN" altLang="en-US" dirty="0">
                <a:latin typeface="等线" panose="02010600030101010101" pitchFamily="2" charset="-122"/>
                <a:ea typeface="等线" panose="02010600030101010101" pitchFamily="2" charset="-122"/>
                <a:sym typeface="+mn-ea"/>
              </a:rPr>
              <a:t>Hosts.txt文件变得</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越来越大</a:t>
            </a:r>
            <a:endParaRPr lang="zh-CN" altLang="en-US" b="1" dirty="0">
              <a:solidFill>
                <a:srgbClr val="FF0000"/>
              </a:solidFill>
              <a:latin typeface="Times New Roman" panose="02020603050405020304" charset="0"/>
              <a:ea typeface="+mn-ea"/>
              <a:sym typeface="+mn-ea"/>
            </a:endParaRPr>
          </a:p>
          <a:p>
            <a:pPr lvl="1" algn="just">
              <a:lnSpc>
                <a:spcPct val="100000"/>
              </a:lnSpc>
              <a:buClrTx/>
              <a:buSzTx/>
            </a:pPr>
            <a:r>
              <a:rPr lang="zh-CN" altLang="en-US" dirty="0">
                <a:latin typeface="等线" panose="02010600030101010101" pitchFamily="2" charset="-122"/>
                <a:ea typeface="等线" panose="02010600030101010101" pitchFamily="2" charset="-122"/>
                <a:sym typeface="+mn-ea"/>
              </a:rPr>
              <a:t>需要</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集中管理</a:t>
            </a:r>
            <a:r>
              <a:rPr lang="zh-CN" altLang="en-US" dirty="0">
                <a:latin typeface="等线" panose="02010600030101010101" pitchFamily="2" charset="-122"/>
                <a:ea typeface="等线" panose="02010600030101010101" pitchFamily="2" charset="-122"/>
                <a:sym typeface="+mn-ea"/>
              </a:rPr>
              <a:t>来防止主机名冲突</a:t>
            </a:r>
          </a:p>
          <a:p>
            <a:pPr algn="just">
              <a:lnSpc>
                <a:spcPct val="100000"/>
              </a:lnSpc>
              <a:buClrTx/>
              <a:buSzTx/>
            </a:pPr>
            <a:r>
              <a:rPr lang="zh-CN" altLang="en-US" dirty="0">
                <a:latin typeface="等线" panose="02010600030101010101" pitchFamily="2" charset="-122"/>
                <a:ea typeface="等线" panose="02010600030101010101" pitchFamily="2" charset="-122"/>
                <a:sym typeface="+mn-ea"/>
              </a:rPr>
              <a:t>1987年发布了域名系统的RFC文档（RFC1034、RFC1035）</a:t>
            </a:r>
            <a:endParaRPr lang="zh-CN" altLang="en-US" dirty="0">
              <a:latin typeface="等线" panose="02010600030101010101" pitchFamily="2" charset="-122"/>
              <a:ea typeface="等线" panose="02010600030101010101" pitchFamily="2" charset="-122"/>
            </a:endParaRPr>
          </a:p>
          <a:p>
            <a:pPr lvl="1" algn="just">
              <a:lnSpc>
                <a:spcPct val="100000"/>
              </a:lnSpc>
              <a:buClrTx/>
              <a:buSzTx/>
            </a:pPr>
            <a:r>
              <a:rPr lang="zh-CN" altLang="en-US" dirty="0">
                <a:latin typeface="等线" panose="02010600030101010101" pitchFamily="2" charset="-122"/>
                <a:ea typeface="等线" panose="02010600030101010101" pitchFamily="2" charset="-122"/>
                <a:sym typeface="+mn-ea"/>
              </a:rPr>
              <a:t>采用了一种</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层次的、基于域</a:t>
            </a:r>
            <a:r>
              <a:rPr lang="zh-CN" altLang="en-US" dirty="0">
                <a:latin typeface="等线" panose="02010600030101010101" pitchFamily="2" charset="-122"/>
                <a:ea typeface="等线" panose="02010600030101010101" pitchFamily="2" charset="-122"/>
                <a:sym typeface="+mn-ea"/>
              </a:rPr>
              <a:t>的命名模式，并使用</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分布式数据库系统</a:t>
            </a:r>
            <a:r>
              <a:rPr lang="zh-CN" altLang="en-US" dirty="0">
                <a:latin typeface="等线" panose="02010600030101010101" pitchFamily="2" charset="-122"/>
                <a:ea typeface="等线" panose="02010600030101010101" pitchFamily="2" charset="-122"/>
                <a:sym typeface="+mn-ea"/>
              </a:rPr>
              <a:t>实现</a:t>
            </a:r>
          </a:p>
          <a:p>
            <a:pPr lvl="1" algn="just">
              <a:lnSpc>
                <a:spcPct val="100000"/>
              </a:lnSpc>
              <a:buClrTx/>
              <a:buSzTx/>
            </a:pPr>
            <a:r>
              <a:rPr lang="zh-CN" altLang="en-US" dirty="0">
                <a:latin typeface="等线" panose="02010600030101010101" pitchFamily="2" charset="-122"/>
                <a:ea typeface="等线" panose="02010600030101010101" pitchFamily="2" charset="-122"/>
                <a:sym typeface="+mn-ea"/>
              </a:rPr>
              <a:t>主要用途是将</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主机名映射成IP地址</a:t>
            </a:r>
            <a:endParaRPr lang="zh-CN" altLang="en-US" dirty="0">
              <a:latin typeface="等线" panose="02010600030101010101" pitchFamily="2" charset="-122"/>
              <a:ea typeface="等线" panose="02010600030101010101" pitchFamily="2" charset="-122"/>
            </a:endParaRPr>
          </a:p>
        </p:txBody>
      </p:sp>
      <p:sp>
        <p:nvSpPr>
          <p:cNvPr id="6"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latin typeface="等线" panose="02010600030101010101" pitchFamily="2" charset="-122"/>
                <a:ea typeface="等线" panose="02010600030101010101" pitchFamily="2" charset="-122"/>
                <a:sym typeface="+mn-ea"/>
              </a:rPr>
              <a:t>域名系统历史</a:t>
            </a:r>
            <a:endPar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endParaRPr>
          </a:p>
        </p:txBody>
      </p:sp>
      <p:pic>
        <p:nvPicPr>
          <p:cNvPr id="12" name="图片 11"/>
          <p:cNvPicPr>
            <a:picLocks noChangeAspect="1"/>
          </p:cNvPicPr>
          <p:nvPr>
            <p:custDataLst>
              <p:tags r:id="rId1"/>
            </p:custDataLst>
          </p:nvPr>
        </p:nvPicPr>
        <p:blipFill>
          <a:blip r:embed="rId4"/>
          <a:stretch>
            <a:fillRect/>
          </a:stretch>
        </p:blipFill>
        <p:spPr>
          <a:xfrm>
            <a:off x="9992756" y="2760431"/>
            <a:ext cx="2013535" cy="1800034"/>
          </a:xfrm>
          <a:prstGeom prst="rect">
            <a:avLst/>
          </a:prstGeom>
        </p:spPr>
      </p:pic>
      <p:sp>
        <p:nvSpPr>
          <p:cNvPr id="13" name="箭头: 右 7"/>
          <p:cNvSpPr/>
          <p:nvPr/>
        </p:nvSpPr>
        <p:spPr>
          <a:xfrm rot="10800000" flipV="1">
            <a:off x="8586829" y="3255452"/>
            <a:ext cx="1297408" cy="808835"/>
          </a:xfrm>
          <a:prstGeom prst="right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accent2">
                    <a:lumMod val="75000"/>
                  </a:schemeClr>
                </a:solidFill>
                <a:latin typeface="Times New Roman" panose="02020603050405020304" charset="0"/>
              </a:rPr>
              <a:t>历史</a:t>
            </a:r>
          </a:p>
        </p:txBody>
      </p:sp>
    </p:spTree>
    <p:extLst>
      <p:ext uri="{BB962C8B-B14F-4D97-AF65-F5344CB8AC3E}">
        <p14:creationId xmlns:p14="http://schemas.microsoft.com/office/powerpoint/2010/main" val="3970242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t>历史与概述</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589650"/>
            <a:ext cx="10529570" cy="4762256"/>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dirty="0">
                <a:latin typeface="等线" panose="02010600030101010101" pitchFamily="2" charset="-122"/>
                <a:ea typeface="等线" panose="02010600030101010101" pitchFamily="2" charset="-122"/>
                <a:sym typeface="+mn-ea"/>
              </a:rPr>
              <a:t>域名系统概述</a:t>
            </a:r>
            <a:endParaRPr kumimoji="1" lang="zh-CN" altLang="en-US" dirty="0">
              <a:latin typeface="等线" panose="02010600030101010101" pitchFamily="2" charset="-122"/>
              <a:ea typeface="等线" panose="02010600030101010101" pitchFamily="2" charset="-122"/>
              <a:cs typeface="微软雅黑" panose="020B0503020204020204" pitchFamily="34" charset="-122"/>
              <a:sym typeface="+mn-ea"/>
            </a:endParaRPr>
          </a:p>
          <a:p>
            <a:pPr lvl="1" algn="just"/>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域名系统</a:t>
            </a:r>
            <a:r>
              <a:rPr lang="zh-CN" altLang="en-US" dirty="0">
                <a:latin typeface="等线" panose="02010600030101010101" pitchFamily="2" charset="-122"/>
                <a:ea typeface="等线" panose="02010600030101010101" pitchFamily="2" charset="-122"/>
                <a:sym typeface="+mn-ea"/>
              </a:rPr>
              <a:t>（DNS，</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D</a:t>
            </a:r>
            <a:r>
              <a:rPr lang="zh-CN" altLang="en-US" dirty="0">
                <a:latin typeface="等线" panose="02010600030101010101" pitchFamily="2" charset="-122"/>
                <a:ea typeface="等线" panose="02010600030101010101" pitchFamily="2" charset="-122"/>
                <a:sym typeface="+mn-ea"/>
              </a:rPr>
              <a:t>omain </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N</a:t>
            </a:r>
            <a:r>
              <a:rPr lang="zh-CN" altLang="en-US" dirty="0">
                <a:latin typeface="等线" panose="02010600030101010101" pitchFamily="2" charset="-122"/>
                <a:ea typeface="等线" panose="02010600030101010101" pitchFamily="2" charset="-122"/>
                <a:sym typeface="+mn-ea"/>
              </a:rPr>
              <a:t>ame </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S</a:t>
            </a:r>
            <a:r>
              <a:rPr lang="zh-CN" altLang="en-US" dirty="0">
                <a:latin typeface="等线" panose="02010600030101010101" pitchFamily="2" charset="-122"/>
                <a:ea typeface="等线" panose="02010600030101010101" pitchFamily="2" charset="-122"/>
                <a:sym typeface="+mn-ea"/>
              </a:rPr>
              <a:t>ystem）是互联网重要的基础设施之一，向所有需要域名解析的应用提供服务，主要负责将可读性好的</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域名映射成IP地址</a:t>
            </a:r>
            <a:endParaRPr lang="zh-CN" altLang="en-US" dirty="0">
              <a:latin typeface="等线" panose="02010600030101010101" pitchFamily="2" charset="-122"/>
              <a:ea typeface="等线" panose="02010600030101010101" pitchFamily="2" charset="-122"/>
              <a:sym typeface="+mn-ea"/>
            </a:endParaRPr>
          </a:p>
          <a:p>
            <a:pPr lvl="1" algn="just"/>
            <a:r>
              <a:rPr lang="en-US" altLang="zh-CN" dirty="0">
                <a:latin typeface="等线" panose="02010600030101010101" pitchFamily="2" charset="-122"/>
                <a:ea typeface="等线" panose="02010600030101010101" pitchFamily="2" charset="-122"/>
                <a:sym typeface="+mn-ea"/>
              </a:rPr>
              <a:t>Internet</a:t>
            </a:r>
            <a:r>
              <a:rPr lang="zh-CN" altLang="en-US" dirty="0">
                <a:latin typeface="等线" panose="02010600030101010101" pitchFamily="2" charset="-122"/>
                <a:ea typeface="等线" panose="02010600030101010101" pitchFamily="2" charset="-122"/>
                <a:sym typeface="+mn-ea"/>
              </a:rPr>
              <a:t>采用</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层次结构的命名树</a:t>
            </a:r>
            <a:r>
              <a:rPr lang="zh-CN" altLang="en-US" dirty="0">
                <a:latin typeface="等线" panose="02010600030101010101" pitchFamily="2" charset="-122"/>
                <a:ea typeface="等线" panose="02010600030101010101" pitchFamily="2" charset="-122"/>
                <a:sym typeface="+mn-ea"/>
              </a:rPr>
              <a:t>作为主机的名字，并使用</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分布式</a:t>
            </a:r>
            <a:r>
              <a:rPr lang="zh-CN" altLang="en-US" dirty="0">
                <a:latin typeface="等线" panose="02010600030101010101" pitchFamily="2" charset="-122"/>
                <a:ea typeface="等线" panose="02010600030101010101" pitchFamily="2" charset="-122"/>
                <a:sym typeface="+mn-ea"/>
              </a:rPr>
              <a:t>的域名系统 DNS</a:t>
            </a:r>
            <a:endParaRPr lang="en-US" altLang="zh-CN" dirty="0">
              <a:latin typeface="等线" panose="02010600030101010101" pitchFamily="2" charset="-122"/>
              <a:ea typeface="等线" panose="02010600030101010101" pitchFamily="2" charset="-122"/>
              <a:sym typeface="+mn-ea"/>
            </a:endParaRPr>
          </a:p>
          <a:p>
            <a:pPr lvl="1" algn="just"/>
            <a:r>
              <a:rPr lang="en-US" altLang="zh-CN" dirty="0">
                <a:latin typeface="等线" panose="02010600030101010101" pitchFamily="2" charset="-122"/>
                <a:ea typeface="等线" panose="02010600030101010101" pitchFamily="2" charset="-122"/>
                <a:sym typeface="+mn-ea"/>
              </a:rPr>
              <a:t>Internet</a:t>
            </a:r>
            <a:r>
              <a:rPr lang="zh-CN" altLang="en-US" dirty="0">
                <a:latin typeface="等线" panose="02010600030101010101" pitchFamily="2" charset="-122"/>
                <a:ea typeface="等线" panose="02010600030101010101" pitchFamily="2" charset="-122"/>
                <a:sym typeface="+mn-ea"/>
              </a:rPr>
              <a:t>的DNS是一个</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联机分布式数据库系统</a:t>
            </a:r>
            <a:endParaRPr lang="zh-CN" altLang="en-US" dirty="0">
              <a:latin typeface="等线" panose="02010600030101010101" pitchFamily="2" charset="-122"/>
              <a:ea typeface="等线" panose="02010600030101010101" pitchFamily="2" charset="-122"/>
              <a:sym typeface="+mn-ea"/>
            </a:endParaRPr>
          </a:p>
          <a:p>
            <a:pPr lvl="1" algn="just"/>
            <a:r>
              <a:rPr lang="zh-CN" altLang="en-US" dirty="0">
                <a:latin typeface="等线" panose="02010600030101010101" pitchFamily="2" charset="-122"/>
                <a:ea typeface="等线" panose="02010600030101010101" pitchFamily="2" charset="-122"/>
                <a:sym typeface="+mn-ea"/>
              </a:rPr>
              <a:t>名字到域名的解析是由</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若干个</a:t>
            </a:r>
            <a:r>
              <a:rPr lang="zh-CN" altLang="en-US" dirty="0">
                <a:latin typeface="等线" panose="02010600030101010101" pitchFamily="2" charset="-122"/>
                <a:ea typeface="等线" panose="02010600030101010101" pitchFamily="2" charset="-122"/>
                <a:sym typeface="+mn-ea"/>
              </a:rPr>
              <a:t>域名服务器程序完成的。域名服务器程序在专设的节点上运行，相应的节点也称为</a:t>
            </a:r>
            <a:r>
              <a:rPr kumimoji="1" lang="zh-CN" altLang="en-US" dirty="0">
                <a:solidFill>
                  <a:srgbClr val="C00000"/>
                </a:solidFill>
                <a:latin typeface="等线" panose="02010600030101010101" pitchFamily="2" charset="-122"/>
                <a:ea typeface="等线" panose="02010600030101010101" pitchFamily="2" charset="-122"/>
                <a:sym typeface="+mn-ea"/>
              </a:rPr>
              <a:t>名字</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服务器</a:t>
            </a:r>
            <a:r>
              <a:rPr lang="zh-CN" altLang="en-US" dirty="0">
                <a:latin typeface="等线" panose="02010600030101010101" pitchFamily="2" charset="-122"/>
                <a:ea typeface="等线" panose="02010600030101010101" pitchFamily="2" charset="-122"/>
                <a:sym typeface="+mn-ea"/>
              </a:rPr>
              <a:t>(</a:t>
            </a:r>
            <a:r>
              <a:rPr lang="en-US" altLang="zh-CN" dirty="0">
                <a:latin typeface="等线" panose="02010600030101010101" pitchFamily="2" charset="-122"/>
                <a:ea typeface="等线" panose="02010600030101010101" pitchFamily="2" charset="-122"/>
                <a:sym typeface="+mn-ea"/>
              </a:rPr>
              <a:t>N</a:t>
            </a:r>
            <a:r>
              <a:rPr lang="zh-CN" altLang="en-US" dirty="0">
                <a:latin typeface="等线" panose="02010600030101010101" pitchFamily="2" charset="-122"/>
                <a:ea typeface="等线" panose="02010600030101010101" pitchFamily="2" charset="-122"/>
                <a:sym typeface="+mn-ea"/>
              </a:rPr>
              <a:t>ame </a:t>
            </a:r>
            <a:r>
              <a:rPr lang="en-US" altLang="zh-CN" dirty="0">
                <a:latin typeface="等线" panose="02010600030101010101" pitchFamily="2" charset="-122"/>
                <a:ea typeface="等线" panose="02010600030101010101" pitchFamily="2" charset="-122"/>
                <a:sym typeface="+mn-ea"/>
              </a:rPr>
              <a:t>S</a:t>
            </a:r>
            <a:r>
              <a:rPr lang="zh-CN" altLang="en-US" dirty="0">
                <a:latin typeface="等线" panose="02010600030101010101" pitchFamily="2" charset="-122"/>
                <a:ea typeface="等线" panose="02010600030101010101" pitchFamily="2" charset="-122"/>
                <a:sym typeface="+mn-ea"/>
              </a:rPr>
              <a:t>erver)或</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域名服务器</a:t>
            </a:r>
            <a:r>
              <a:rPr lang="zh-CN" altLang="en-US" dirty="0">
                <a:latin typeface="等线" panose="02010600030101010101" pitchFamily="2" charset="-122"/>
                <a:ea typeface="等线" panose="02010600030101010101" pitchFamily="2" charset="-122"/>
                <a:sym typeface="+mn-ea"/>
              </a:rPr>
              <a:t>(Domain Name Server)</a:t>
            </a:r>
            <a:endParaRPr lang="zh-CN" altLang="en-US" dirty="0">
              <a:latin typeface="等线" panose="02010600030101010101" pitchFamily="2" charset="-122"/>
              <a:ea typeface="等线" panose="02010600030101010101" pitchFamily="2" charset="-122"/>
            </a:endParaRPr>
          </a:p>
          <a:p>
            <a:pPr lvl="2" algn="just"/>
            <a:endParaRPr lang="zh-CN" altLang="en-US" dirty="0">
              <a:latin typeface="等线" panose="02010600030101010101" pitchFamily="2" charset="-122"/>
              <a:ea typeface="等线" panose="02010600030101010101" pitchFamily="2" charset="-122"/>
            </a:endParaRPr>
          </a:p>
        </p:txBody>
      </p:sp>
      <p:sp>
        <p:nvSpPr>
          <p:cNvPr id="6"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endPar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endParaRPr>
          </a:p>
        </p:txBody>
      </p:sp>
      <p:grpSp>
        <p:nvGrpSpPr>
          <p:cNvPr id="14" name="组合 13"/>
          <p:cNvGrpSpPr/>
          <p:nvPr/>
        </p:nvGrpSpPr>
        <p:grpSpPr bwMode="auto">
          <a:xfrm>
            <a:off x="2940535" y="5857267"/>
            <a:ext cx="6524625" cy="631825"/>
            <a:chOff x="0" y="0"/>
            <a:chExt cx="4110" cy="398"/>
          </a:xfrm>
        </p:grpSpPr>
        <p:sp>
          <p:nvSpPr>
            <p:cNvPr id="15" name="文本框 20484"/>
            <p:cNvSpPr txBox="1">
              <a:spLocks noChangeArrowheads="1"/>
            </p:cNvSpPr>
            <p:nvPr/>
          </p:nvSpPr>
          <p:spPr bwMode="auto">
            <a:xfrm>
              <a:off x="0" y="19"/>
              <a:ext cx="5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dirty="0">
                  <a:solidFill>
                    <a:schemeClr val="tx1"/>
                  </a:solidFill>
                  <a:latin typeface="等线" panose="02010600030101010101" pitchFamily="2" charset="-122"/>
                  <a:ea typeface="等线" panose="02010600030101010101" pitchFamily="2" charset="-122"/>
                </a:rPr>
                <a:t>域名</a:t>
              </a:r>
            </a:p>
          </p:txBody>
        </p:sp>
        <p:sp>
          <p:nvSpPr>
            <p:cNvPr id="16" name="文本框 20485"/>
            <p:cNvSpPr txBox="1">
              <a:spLocks noChangeArrowheads="1"/>
            </p:cNvSpPr>
            <p:nvPr/>
          </p:nvSpPr>
          <p:spPr bwMode="auto">
            <a:xfrm>
              <a:off x="3344" y="0"/>
              <a:ext cx="76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dirty="0">
                  <a:solidFill>
                    <a:schemeClr val="tx1"/>
                  </a:solidFill>
                  <a:latin typeface="等线" panose="02010600030101010101" pitchFamily="2" charset="-122"/>
                  <a:ea typeface="等线" panose="02010600030101010101" pitchFamily="2" charset="-122"/>
                  <a:cs typeface="微软雅黑" panose="020B0503020204020204" pitchFamily="34" charset="-122"/>
                </a:rPr>
                <a:t>IP</a:t>
              </a:r>
              <a:r>
                <a:rPr lang="zh-CN" altLang="en-US" sz="2800" dirty="0">
                  <a:solidFill>
                    <a:schemeClr val="tx1"/>
                  </a:solidFill>
                  <a:latin typeface="等线" panose="02010600030101010101" pitchFamily="2" charset="-122"/>
                  <a:ea typeface="等线" panose="02010600030101010101" pitchFamily="2" charset="-122"/>
                  <a:cs typeface="微软雅黑" panose="020B0503020204020204" pitchFamily="34" charset="-122"/>
                </a:rPr>
                <a:t>地址</a:t>
              </a:r>
            </a:p>
          </p:txBody>
        </p:sp>
        <p:sp>
          <p:nvSpPr>
            <p:cNvPr id="17" name="矩形 20486"/>
            <p:cNvSpPr>
              <a:spLocks noChangeArrowheads="1"/>
            </p:cNvSpPr>
            <p:nvPr/>
          </p:nvSpPr>
          <p:spPr bwMode="auto">
            <a:xfrm>
              <a:off x="1244" y="14"/>
              <a:ext cx="1364" cy="384"/>
            </a:xfrm>
            <a:prstGeom prst="rect">
              <a:avLst/>
            </a:prstGeom>
            <a:solidFill>
              <a:srgbClr val="CCECFF"/>
            </a:solidFill>
            <a:ln w="9525">
              <a:solidFill>
                <a:schemeClr val="tx1"/>
              </a:solidFill>
              <a:miter lim="800000"/>
            </a:ln>
            <a:effectLst>
              <a:outerShdw dist="35921" dir="2700000" algn="ctr" rotWithShape="0">
                <a:schemeClr val="bg2"/>
              </a:outerShdw>
            </a:effectLst>
          </p:spPr>
          <p:txBody>
            <a:bodyPr wrap="none" anchor="ctr"/>
            <a:lstStyle/>
            <a:p>
              <a:pPr algn="ctr" eaLnBrk="0" hangingPunct="0"/>
              <a:r>
                <a:rPr lang="en-US" altLang="zh-CN" sz="2800" dirty="0">
                  <a:solidFill>
                    <a:schemeClr val="tx1"/>
                  </a:solidFill>
                  <a:latin typeface="等线" panose="02010600030101010101" pitchFamily="2" charset="-122"/>
                  <a:ea typeface="等线" panose="02010600030101010101" pitchFamily="2" charset="-122"/>
                </a:rPr>
                <a:t>DNS</a:t>
              </a:r>
            </a:p>
          </p:txBody>
        </p:sp>
        <p:sp>
          <p:nvSpPr>
            <p:cNvPr id="18" name="右箭头 20487"/>
            <p:cNvSpPr>
              <a:spLocks noChangeArrowheads="1"/>
            </p:cNvSpPr>
            <p:nvPr/>
          </p:nvSpPr>
          <p:spPr bwMode="auto">
            <a:xfrm>
              <a:off x="540" y="79"/>
              <a:ext cx="702" cy="208"/>
            </a:xfrm>
            <a:prstGeom prst="rightArrow">
              <a:avLst>
                <a:gd name="adj1" fmla="val 50000"/>
                <a:gd name="adj2" fmla="val 86835"/>
              </a:avLst>
            </a:prstGeom>
            <a:solidFill>
              <a:schemeClr val="hlink"/>
            </a:solidFill>
            <a:ln w="9525">
              <a:solidFill>
                <a:schemeClr val="tx1"/>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sp>
          <p:nvSpPr>
            <p:cNvPr id="19" name="右箭头 20488"/>
            <p:cNvSpPr>
              <a:spLocks noChangeArrowheads="1"/>
            </p:cNvSpPr>
            <p:nvPr/>
          </p:nvSpPr>
          <p:spPr bwMode="auto">
            <a:xfrm>
              <a:off x="2610" y="79"/>
              <a:ext cx="721" cy="208"/>
            </a:xfrm>
            <a:prstGeom prst="rightArrow">
              <a:avLst>
                <a:gd name="adj1" fmla="val 50000"/>
                <a:gd name="adj2" fmla="val 86594"/>
              </a:avLst>
            </a:prstGeom>
            <a:solidFill>
              <a:schemeClr val="hlink"/>
            </a:solidFill>
            <a:ln w="9525">
              <a:solidFill>
                <a:schemeClr val="tx1"/>
              </a:solidFill>
              <a:miter lim="800000"/>
            </a:ln>
          </p:spPr>
          <p:txBody>
            <a:bodyPr/>
            <a:lstStyle/>
            <a:p>
              <a:endParaRPr lang="zh-CN" altLang="en-US" dirty="0">
                <a:solidFill>
                  <a:schemeClr val="tx1"/>
                </a:solidFill>
                <a:latin typeface="等线" panose="02010600030101010101" pitchFamily="2" charset="-122"/>
                <a:ea typeface="等线" panose="02010600030101010101" pitchFamily="2" charset="-122"/>
              </a:endParaRPr>
            </a:p>
          </p:txBody>
        </p:sp>
      </p:grpSp>
    </p:spTree>
    <p:extLst>
      <p:ext uri="{BB962C8B-B14F-4D97-AF65-F5344CB8AC3E}">
        <p14:creationId xmlns:p14="http://schemas.microsoft.com/office/powerpoint/2010/main" val="1796729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域名系统名字空间和层次结构</a:t>
            </a:r>
            <a:endParaRPr lang="zh-CN" altLang="en-US"/>
          </a:p>
        </p:txBody>
      </p:sp>
      <p:sp>
        <p:nvSpPr>
          <p:cNvPr id="5" name="页脚占位符 4"/>
          <p:cNvSpPr>
            <a:spLocks noGrp="1"/>
          </p:cNvSpPr>
          <p:nvPr>
            <p:ph type="ftr" sz="quarter" idx="11"/>
          </p:nvPr>
        </p:nvSpPr>
        <p:spPr/>
        <p:txBody>
          <a:bodyPr/>
          <a:lstStyle/>
          <a:p>
            <a:r>
              <a:rPr kumimoji="1" lang="zh-CN" altLang="en-US" dirty="0">
                <a:latin typeface="等线" panose="02010600030101010101" pitchFamily="2" charset="-122"/>
                <a:ea typeface="等线" panose="02010600030101010101" pitchFamily="2" charset="-122"/>
              </a:rPr>
              <a:t>引自：计算机网络，谢希仁</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grpSp>
        <p:nvGrpSpPr>
          <p:cNvPr id="3" name="组合 2"/>
          <p:cNvGrpSpPr/>
          <p:nvPr/>
        </p:nvGrpSpPr>
        <p:grpSpPr>
          <a:xfrm>
            <a:off x="1381125" y="1223645"/>
            <a:ext cx="9238852" cy="5265420"/>
            <a:chOff x="1381125" y="1223645"/>
            <a:chExt cx="9238852" cy="5265420"/>
          </a:xfrm>
        </p:grpSpPr>
        <p:sp>
          <p:nvSpPr>
            <p:cNvPr id="215" name="矩形 11266"/>
            <p:cNvSpPr>
              <a:spLocks noChangeArrowheads="1"/>
            </p:cNvSpPr>
            <p:nvPr/>
          </p:nvSpPr>
          <p:spPr bwMode="auto">
            <a:xfrm>
              <a:off x="1389138" y="4837877"/>
              <a:ext cx="9212251" cy="84367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216" name="矩形 11267"/>
            <p:cNvSpPr>
              <a:spLocks noChangeArrowheads="1"/>
            </p:cNvSpPr>
            <p:nvPr/>
          </p:nvSpPr>
          <p:spPr bwMode="auto">
            <a:xfrm>
              <a:off x="1398752" y="5681550"/>
              <a:ext cx="9194625" cy="807515"/>
            </a:xfrm>
            <a:prstGeom prst="rect">
              <a:avLst/>
            </a:prstGeom>
            <a:solidFill>
              <a:srgbClr val="CC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217" name="矩形 11268"/>
            <p:cNvSpPr>
              <a:spLocks noChangeArrowheads="1"/>
            </p:cNvSpPr>
            <p:nvPr/>
          </p:nvSpPr>
          <p:spPr bwMode="auto">
            <a:xfrm>
              <a:off x="1381125" y="3061646"/>
              <a:ext cx="9212252" cy="1803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218" name="矩形 11269"/>
            <p:cNvSpPr>
              <a:spLocks noChangeArrowheads="1"/>
            </p:cNvSpPr>
            <p:nvPr/>
          </p:nvSpPr>
          <p:spPr bwMode="auto">
            <a:xfrm>
              <a:off x="1381126" y="1832294"/>
              <a:ext cx="9212252" cy="129564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219" name="直接连接符 11271"/>
            <p:cNvSpPr>
              <a:spLocks noChangeShapeType="1"/>
            </p:cNvSpPr>
            <p:nvPr/>
          </p:nvSpPr>
          <p:spPr bwMode="auto">
            <a:xfrm flipV="1">
              <a:off x="1560595" y="2294807"/>
              <a:ext cx="8904589"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0" name="直接连接符 11272"/>
            <p:cNvSpPr>
              <a:spLocks noChangeShapeType="1"/>
            </p:cNvSpPr>
            <p:nvPr/>
          </p:nvSpPr>
          <p:spPr bwMode="auto">
            <a:xfrm rot="16200000">
              <a:off x="2760565" y="2471829"/>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1" name="直接连接符 11273"/>
            <p:cNvSpPr>
              <a:spLocks noChangeShapeType="1"/>
            </p:cNvSpPr>
            <p:nvPr/>
          </p:nvSpPr>
          <p:spPr bwMode="auto">
            <a:xfrm rot="16200000">
              <a:off x="3339884" y="2471075"/>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2" name="直接连接符 11274"/>
            <p:cNvSpPr>
              <a:spLocks noChangeShapeType="1"/>
            </p:cNvSpPr>
            <p:nvPr/>
          </p:nvSpPr>
          <p:spPr bwMode="auto">
            <a:xfrm rot="16200000">
              <a:off x="3923914" y="2447724"/>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3" name="直接连接符 11275"/>
            <p:cNvSpPr>
              <a:spLocks noChangeShapeType="1"/>
            </p:cNvSpPr>
            <p:nvPr/>
          </p:nvSpPr>
          <p:spPr bwMode="auto">
            <a:xfrm rot="16200000">
              <a:off x="4507191"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4" name="直接连接符 11276"/>
            <p:cNvSpPr>
              <a:spLocks noChangeShapeType="1"/>
            </p:cNvSpPr>
            <p:nvPr/>
          </p:nvSpPr>
          <p:spPr bwMode="auto">
            <a:xfrm rot="16200000">
              <a:off x="5090468"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 name="直接连接符 11277"/>
            <p:cNvSpPr>
              <a:spLocks noChangeShapeType="1"/>
            </p:cNvSpPr>
            <p:nvPr/>
          </p:nvSpPr>
          <p:spPr bwMode="auto">
            <a:xfrm rot="16200000">
              <a:off x="5669788" y="2443957"/>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6" name="直接连接符 11278"/>
            <p:cNvSpPr>
              <a:spLocks noChangeShapeType="1"/>
            </p:cNvSpPr>
            <p:nvPr/>
          </p:nvSpPr>
          <p:spPr bwMode="auto">
            <a:xfrm rot="16200000">
              <a:off x="6253817"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7" name="直接连接符 11279"/>
            <p:cNvSpPr>
              <a:spLocks noChangeShapeType="1"/>
            </p:cNvSpPr>
            <p:nvPr/>
          </p:nvSpPr>
          <p:spPr bwMode="auto">
            <a:xfrm rot="16200000">
              <a:off x="6837094"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8" name="直接连接符 11280"/>
            <p:cNvSpPr>
              <a:spLocks noChangeShapeType="1"/>
            </p:cNvSpPr>
            <p:nvPr/>
          </p:nvSpPr>
          <p:spPr bwMode="auto">
            <a:xfrm rot="16200000">
              <a:off x="7416414" y="2443957"/>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9" name="直接连接符 11281"/>
            <p:cNvSpPr>
              <a:spLocks noChangeShapeType="1"/>
            </p:cNvSpPr>
            <p:nvPr/>
          </p:nvSpPr>
          <p:spPr bwMode="auto">
            <a:xfrm rot="16200000">
              <a:off x="7999691" y="2443957"/>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0" name="直接连接符 11282"/>
            <p:cNvSpPr>
              <a:spLocks noChangeShapeType="1"/>
            </p:cNvSpPr>
            <p:nvPr/>
          </p:nvSpPr>
          <p:spPr bwMode="auto">
            <a:xfrm rot="16200000">
              <a:off x="8583720"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1" name="直接连接符 11283"/>
            <p:cNvSpPr>
              <a:spLocks noChangeShapeType="1"/>
            </p:cNvSpPr>
            <p:nvPr/>
          </p:nvSpPr>
          <p:spPr bwMode="auto">
            <a:xfrm rot="16200000">
              <a:off x="9129485" y="2446970"/>
              <a:ext cx="27419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2" name="直接连接符 11284"/>
            <p:cNvSpPr>
              <a:spLocks noChangeShapeType="1"/>
            </p:cNvSpPr>
            <p:nvPr/>
          </p:nvSpPr>
          <p:spPr bwMode="auto">
            <a:xfrm rot="5400000" flipH="1">
              <a:off x="9711159" y="2446970"/>
              <a:ext cx="27419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3" name="文本框 11285"/>
            <p:cNvSpPr txBox="1">
              <a:spLocks noChangeArrowheads="1"/>
            </p:cNvSpPr>
            <p:nvPr/>
          </p:nvSpPr>
          <p:spPr bwMode="auto">
            <a:xfrm>
              <a:off x="4949691" y="2493673"/>
              <a:ext cx="71659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CC00CC"/>
                  </a:solidFill>
                  <a:latin typeface="等线" panose="02010600030101010101" pitchFamily="2" charset="-122"/>
                  <a:ea typeface="等线" panose="02010600030101010101" pitchFamily="2" charset="-122"/>
                </a:rPr>
                <a:t>com</a:t>
              </a:r>
            </a:p>
          </p:txBody>
        </p:sp>
        <p:sp>
          <p:nvSpPr>
            <p:cNvPr id="234" name="文本框 11286"/>
            <p:cNvSpPr txBox="1">
              <a:spLocks noChangeArrowheads="1"/>
            </p:cNvSpPr>
            <p:nvPr/>
          </p:nvSpPr>
          <p:spPr bwMode="auto">
            <a:xfrm>
              <a:off x="5529763" y="2493673"/>
              <a:ext cx="58327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net</a:t>
              </a:r>
            </a:p>
          </p:txBody>
        </p:sp>
        <p:sp>
          <p:nvSpPr>
            <p:cNvPr id="235" name="文本框 11287"/>
            <p:cNvSpPr txBox="1">
              <a:spLocks noChangeArrowheads="1"/>
            </p:cNvSpPr>
            <p:nvPr/>
          </p:nvSpPr>
          <p:spPr bwMode="auto">
            <a:xfrm>
              <a:off x="6093811" y="2493673"/>
              <a:ext cx="60571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org</a:t>
              </a:r>
            </a:p>
          </p:txBody>
        </p:sp>
        <p:sp>
          <p:nvSpPr>
            <p:cNvPr id="236" name="文本框 11288"/>
            <p:cNvSpPr txBox="1">
              <a:spLocks noChangeArrowheads="1"/>
            </p:cNvSpPr>
            <p:nvPr/>
          </p:nvSpPr>
          <p:spPr bwMode="auto">
            <a:xfrm>
              <a:off x="6675486" y="2493673"/>
              <a:ext cx="6518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edu</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37" name="文本框 11289"/>
            <p:cNvSpPr txBox="1">
              <a:spLocks noChangeArrowheads="1"/>
            </p:cNvSpPr>
            <p:nvPr/>
          </p:nvSpPr>
          <p:spPr bwMode="auto">
            <a:xfrm>
              <a:off x="7257161" y="2493673"/>
              <a:ext cx="64609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gov</a:t>
              </a:r>
            </a:p>
          </p:txBody>
        </p:sp>
        <p:sp>
          <p:nvSpPr>
            <p:cNvPr id="238" name="文本框 11290"/>
            <p:cNvSpPr txBox="1">
              <a:spLocks noChangeArrowheads="1"/>
            </p:cNvSpPr>
            <p:nvPr/>
          </p:nvSpPr>
          <p:spPr bwMode="auto">
            <a:xfrm>
              <a:off x="7859667" y="2493673"/>
              <a:ext cx="56084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mil</a:t>
              </a:r>
            </a:p>
          </p:txBody>
        </p:sp>
        <p:sp>
          <p:nvSpPr>
            <p:cNvPr id="239" name="文本框 11291"/>
            <p:cNvSpPr txBox="1">
              <a:spLocks noChangeArrowheads="1"/>
            </p:cNvSpPr>
            <p:nvPr/>
          </p:nvSpPr>
          <p:spPr bwMode="auto">
            <a:xfrm>
              <a:off x="2289692" y="2493673"/>
              <a:ext cx="80248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coop</a:t>
              </a:r>
            </a:p>
          </p:txBody>
        </p:sp>
        <p:sp>
          <p:nvSpPr>
            <p:cNvPr id="240" name="文本框 11292"/>
            <p:cNvSpPr txBox="1">
              <a:spLocks noChangeArrowheads="1"/>
            </p:cNvSpPr>
            <p:nvPr/>
          </p:nvSpPr>
          <p:spPr bwMode="auto">
            <a:xfrm>
              <a:off x="3735065" y="2493673"/>
              <a:ext cx="54225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biz</a:t>
              </a:r>
            </a:p>
          </p:txBody>
        </p:sp>
        <p:sp>
          <p:nvSpPr>
            <p:cNvPr id="241" name="文本框 11293"/>
            <p:cNvSpPr txBox="1">
              <a:spLocks noChangeArrowheads="1"/>
            </p:cNvSpPr>
            <p:nvPr/>
          </p:nvSpPr>
          <p:spPr bwMode="auto">
            <a:xfrm>
              <a:off x="3054040" y="2493673"/>
              <a:ext cx="66211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info</a:t>
              </a:r>
            </a:p>
          </p:txBody>
        </p:sp>
        <p:sp>
          <p:nvSpPr>
            <p:cNvPr id="242" name="文本框 11294"/>
            <p:cNvSpPr txBox="1">
              <a:spLocks noChangeArrowheads="1"/>
            </p:cNvSpPr>
            <p:nvPr/>
          </p:nvSpPr>
          <p:spPr bwMode="auto">
            <a:xfrm>
              <a:off x="4227004" y="2493673"/>
              <a:ext cx="72877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aero</a:t>
              </a:r>
            </a:p>
          </p:txBody>
        </p:sp>
        <p:sp>
          <p:nvSpPr>
            <p:cNvPr id="243" name="文本框 11295"/>
            <p:cNvSpPr txBox="1">
              <a:spLocks noChangeArrowheads="1"/>
            </p:cNvSpPr>
            <p:nvPr/>
          </p:nvSpPr>
          <p:spPr bwMode="auto">
            <a:xfrm>
              <a:off x="8450955" y="2493673"/>
              <a:ext cx="50572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int</a:t>
              </a:r>
            </a:p>
          </p:txBody>
        </p:sp>
        <p:sp>
          <p:nvSpPr>
            <p:cNvPr id="244" name="文本框 11296"/>
            <p:cNvSpPr txBox="1">
              <a:spLocks noChangeArrowheads="1"/>
            </p:cNvSpPr>
            <p:nvPr/>
          </p:nvSpPr>
          <p:spPr bwMode="auto">
            <a:xfrm>
              <a:off x="9082304" y="2493673"/>
              <a:ext cx="471108"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CC00CC"/>
                  </a:solidFill>
                  <a:latin typeface="等线" panose="02010600030101010101" pitchFamily="2" charset="-122"/>
                  <a:ea typeface="等线" panose="02010600030101010101" pitchFamily="2" charset="-122"/>
                </a:rPr>
                <a:t>cn</a:t>
              </a:r>
              <a:endParaRPr lang="en-US" altLang="zh-CN" sz="2000" dirty="0">
                <a:solidFill>
                  <a:srgbClr val="CC00CC"/>
                </a:solidFill>
                <a:latin typeface="等线" panose="02010600030101010101" pitchFamily="2" charset="-122"/>
                <a:ea typeface="等线" panose="02010600030101010101" pitchFamily="2" charset="-122"/>
              </a:endParaRPr>
            </a:p>
          </p:txBody>
        </p:sp>
        <p:sp>
          <p:nvSpPr>
            <p:cNvPr id="245" name="文本框 11297"/>
            <p:cNvSpPr txBox="1">
              <a:spLocks noChangeArrowheads="1"/>
            </p:cNvSpPr>
            <p:nvPr/>
          </p:nvSpPr>
          <p:spPr bwMode="auto">
            <a:xfrm>
              <a:off x="9633533" y="2493673"/>
              <a:ext cx="48200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uk</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46" name="文本框 11298"/>
            <p:cNvSpPr txBox="1">
              <a:spLocks noChangeArrowheads="1"/>
            </p:cNvSpPr>
            <p:nvPr/>
          </p:nvSpPr>
          <p:spPr bwMode="auto">
            <a:xfrm>
              <a:off x="9976449" y="2127580"/>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dirty="0">
                  <a:latin typeface="等线" panose="02010600030101010101" pitchFamily="2" charset="-122"/>
                  <a:ea typeface="等线" panose="02010600030101010101" pitchFamily="2" charset="-122"/>
                </a:rPr>
                <a:t>…</a:t>
              </a:r>
            </a:p>
          </p:txBody>
        </p:sp>
        <p:sp>
          <p:nvSpPr>
            <p:cNvPr id="247" name="直接连接符 11299"/>
            <p:cNvSpPr>
              <a:spLocks noChangeShapeType="1"/>
            </p:cNvSpPr>
            <p:nvPr/>
          </p:nvSpPr>
          <p:spPr bwMode="auto">
            <a:xfrm rot="16200000">
              <a:off x="8758529" y="3414934"/>
              <a:ext cx="1080202"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8" name="直接连接符 11300"/>
            <p:cNvSpPr>
              <a:spLocks noChangeShapeType="1"/>
            </p:cNvSpPr>
            <p:nvPr/>
          </p:nvSpPr>
          <p:spPr bwMode="auto">
            <a:xfrm rot="16200000">
              <a:off x="9413768"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9" name="直接连接符 11301"/>
            <p:cNvSpPr>
              <a:spLocks noChangeShapeType="1"/>
            </p:cNvSpPr>
            <p:nvPr/>
          </p:nvSpPr>
          <p:spPr bwMode="auto">
            <a:xfrm rot="16200000">
              <a:off x="8834450"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0" name="直接连接符 11302"/>
            <p:cNvSpPr>
              <a:spLocks noChangeShapeType="1"/>
            </p:cNvSpPr>
            <p:nvPr/>
          </p:nvSpPr>
          <p:spPr bwMode="auto">
            <a:xfrm rot="16200000">
              <a:off x="8251173"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1" name="直接连接符 11303"/>
            <p:cNvSpPr>
              <a:spLocks noChangeShapeType="1"/>
            </p:cNvSpPr>
            <p:nvPr/>
          </p:nvSpPr>
          <p:spPr bwMode="auto">
            <a:xfrm rot="16200000">
              <a:off x="7667142"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2" name="直接连接符 11304"/>
            <p:cNvSpPr>
              <a:spLocks noChangeShapeType="1"/>
            </p:cNvSpPr>
            <p:nvPr/>
          </p:nvSpPr>
          <p:spPr bwMode="auto">
            <a:xfrm rot="16200000">
              <a:off x="7087823"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3" name="直接连接符 11305"/>
            <p:cNvSpPr>
              <a:spLocks noChangeShapeType="1"/>
            </p:cNvSpPr>
            <p:nvPr/>
          </p:nvSpPr>
          <p:spPr bwMode="auto">
            <a:xfrm rot="16200000">
              <a:off x="6504546"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4" name="直接连接符 11306"/>
            <p:cNvSpPr>
              <a:spLocks noChangeShapeType="1"/>
            </p:cNvSpPr>
            <p:nvPr/>
          </p:nvSpPr>
          <p:spPr bwMode="auto">
            <a:xfrm rot="16200000">
              <a:off x="5920516"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5" name="直接连接符 11307"/>
            <p:cNvSpPr>
              <a:spLocks noChangeShapeType="1"/>
            </p:cNvSpPr>
            <p:nvPr/>
          </p:nvSpPr>
          <p:spPr bwMode="auto">
            <a:xfrm rot="16200000">
              <a:off x="5337239"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 name="直接连接符 11308"/>
            <p:cNvSpPr>
              <a:spLocks noChangeShapeType="1"/>
            </p:cNvSpPr>
            <p:nvPr/>
          </p:nvSpPr>
          <p:spPr bwMode="auto">
            <a:xfrm rot="16200000">
              <a:off x="4757920"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 name="直接连接符 11309"/>
            <p:cNvSpPr>
              <a:spLocks noChangeShapeType="1"/>
            </p:cNvSpPr>
            <p:nvPr/>
          </p:nvSpPr>
          <p:spPr bwMode="auto">
            <a:xfrm rot="16200000">
              <a:off x="9997045"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8" name="文本框 11310"/>
            <p:cNvSpPr txBox="1">
              <a:spLocks noChangeArrowheads="1"/>
            </p:cNvSpPr>
            <p:nvPr/>
          </p:nvSpPr>
          <p:spPr bwMode="auto">
            <a:xfrm>
              <a:off x="4642029" y="4095145"/>
              <a:ext cx="48200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hk</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59" name="文本框 11311"/>
            <p:cNvSpPr txBox="1">
              <a:spLocks noChangeArrowheads="1"/>
            </p:cNvSpPr>
            <p:nvPr/>
          </p:nvSpPr>
          <p:spPr bwMode="auto">
            <a:xfrm>
              <a:off x="5225306" y="4095145"/>
              <a:ext cx="371759"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js</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60" name="文本框 11312"/>
            <p:cNvSpPr txBox="1">
              <a:spLocks noChangeArrowheads="1"/>
            </p:cNvSpPr>
            <p:nvPr/>
          </p:nvSpPr>
          <p:spPr bwMode="auto">
            <a:xfrm>
              <a:off x="5806980" y="4095145"/>
              <a:ext cx="46085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sh</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61" name="文本框 11313"/>
            <p:cNvSpPr txBox="1">
              <a:spLocks noChangeArrowheads="1"/>
            </p:cNvSpPr>
            <p:nvPr/>
          </p:nvSpPr>
          <p:spPr bwMode="auto">
            <a:xfrm>
              <a:off x="6390257" y="4095145"/>
              <a:ext cx="41662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bj</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62" name="文本框 11314"/>
            <p:cNvSpPr txBox="1">
              <a:spLocks noChangeArrowheads="1"/>
            </p:cNvSpPr>
            <p:nvPr/>
          </p:nvSpPr>
          <p:spPr bwMode="auto">
            <a:xfrm>
              <a:off x="6930269" y="4110210"/>
              <a:ext cx="60571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org</a:t>
              </a:r>
            </a:p>
          </p:txBody>
        </p:sp>
        <p:sp>
          <p:nvSpPr>
            <p:cNvPr id="263" name="文本框 11315"/>
            <p:cNvSpPr txBox="1">
              <a:spLocks noChangeArrowheads="1"/>
            </p:cNvSpPr>
            <p:nvPr/>
          </p:nvSpPr>
          <p:spPr bwMode="auto">
            <a:xfrm>
              <a:off x="7499124" y="4095145"/>
              <a:ext cx="58327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net</a:t>
              </a:r>
            </a:p>
          </p:txBody>
        </p:sp>
        <p:sp>
          <p:nvSpPr>
            <p:cNvPr id="264" name="文本框 11316"/>
            <p:cNvSpPr txBox="1">
              <a:spLocks noChangeArrowheads="1"/>
            </p:cNvSpPr>
            <p:nvPr/>
          </p:nvSpPr>
          <p:spPr bwMode="auto">
            <a:xfrm>
              <a:off x="8136883" y="4095145"/>
              <a:ext cx="64609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gov</a:t>
              </a:r>
            </a:p>
          </p:txBody>
        </p:sp>
        <p:sp>
          <p:nvSpPr>
            <p:cNvPr id="265" name="文本框 11317"/>
            <p:cNvSpPr txBox="1">
              <a:spLocks noChangeArrowheads="1"/>
            </p:cNvSpPr>
            <p:nvPr/>
          </p:nvSpPr>
          <p:spPr bwMode="auto">
            <a:xfrm>
              <a:off x="8720160" y="4095145"/>
              <a:ext cx="6518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CC00CC"/>
                  </a:solidFill>
                  <a:latin typeface="等线" panose="02010600030101010101" pitchFamily="2" charset="-122"/>
                  <a:ea typeface="等线" panose="02010600030101010101" pitchFamily="2" charset="-122"/>
                </a:rPr>
                <a:t>edu</a:t>
              </a:r>
              <a:endParaRPr lang="en-US" altLang="zh-CN" sz="2000" dirty="0">
                <a:solidFill>
                  <a:srgbClr val="CC00CC"/>
                </a:solidFill>
                <a:latin typeface="等线" panose="02010600030101010101" pitchFamily="2" charset="-122"/>
                <a:ea typeface="等线" panose="02010600030101010101" pitchFamily="2" charset="-122"/>
              </a:endParaRPr>
            </a:p>
          </p:txBody>
        </p:sp>
        <p:sp>
          <p:nvSpPr>
            <p:cNvPr id="266" name="文本框 11318"/>
            <p:cNvSpPr txBox="1">
              <a:spLocks noChangeArrowheads="1"/>
            </p:cNvSpPr>
            <p:nvPr/>
          </p:nvSpPr>
          <p:spPr bwMode="auto">
            <a:xfrm>
              <a:off x="9303437" y="4095145"/>
              <a:ext cx="71659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com</a:t>
              </a:r>
            </a:p>
          </p:txBody>
        </p:sp>
        <p:sp>
          <p:nvSpPr>
            <p:cNvPr id="267" name="文本框 11319"/>
            <p:cNvSpPr txBox="1">
              <a:spLocks noChangeArrowheads="1"/>
            </p:cNvSpPr>
            <p:nvPr/>
          </p:nvSpPr>
          <p:spPr bwMode="auto">
            <a:xfrm>
              <a:off x="9885112" y="4095145"/>
              <a:ext cx="455084"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ac</a:t>
              </a:r>
            </a:p>
          </p:txBody>
        </p:sp>
        <p:sp>
          <p:nvSpPr>
            <p:cNvPr id="268" name="文本框 11320"/>
            <p:cNvSpPr txBox="1">
              <a:spLocks noChangeArrowheads="1"/>
            </p:cNvSpPr>
            <p:nvPr/>
          </p:nvSpPr>
          <p:spPr bwMode="auto">
            <a:xfrm>
              <a:off x="4164511" y="3726037"/>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dirty="0">
                  <a:solidFill>
                    <a:srgbClr val="333399"/>
                  </a:solidFill>
                  <a:latin typeface="等线" panose="02010600030101010101" pitchFamily="2" charset="-122"/>
                  <a:ea typeface="等线" panose="02010600030101010101" pitchFamily="2" charset="-122"/>
                </a:rPr>
                <a:t>…</a:t>
              </a:r>
            </a:p>
          </p:txBody>
        </p:sp>
        <p:sp>
          <p:nvSpPr>
            <p:cNvPr id="269" name="直接连接符 11321"/>
            <p:cNvSpPr>
              <a:spLocks noChangeShapeType="1"/>
            </p:cNvSpPr>
            <p:nvPr/>
          </p:nvSpPr>
          <p:spPr bwMode="auto">
            <a:xfrm rot="16200000">
              <a:off x="8789253" y="4675170"/>
              <a:ext cx="358561"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0" name="文本框 11322"/>
            <p:cNvSpPr txBox="1">
              <a:spLocks noChangeArrowheads="1"/>
            </p:cNvSpPr>
            <p:nvPr/>
          </p:nvSpPr>
          <p:spPr bwMode="auto">
            <a:xfrm>
              <a:off x="7020004" y="5026198"/>
              <a:ext cx="6454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pku</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71" name="文本框 11323"/>
            <p:cNvSpPr txBox="1">
              <a:spLocks noChangeArrowheads="1"/>
            </p:cNvSpPr>
            <p:nvPr/>
          </p:nvSpPr>
          <p:spPr bwMode="auto">
            <a:xfrm>
              <a:off x="7656160" y="5024691"/>
              <a:ext cx="89478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fudan</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72" name="文本框 11324"/>
            <p:cNvSpPr txBox="1">
              <a:spLocks noChangeArrowheads="1"/>
            </p:cNvSpPr>
            <p:nvPr/>
          </p:nvSpPr>
          <p:spPr bwMode="auto">
            <a:xfrm>
              <a:off x="8339108" y="5038426"/>
              <a:ext cx="11736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2000" dirty="0" err="1">
                  <a:solidFill>
                    <a:srgbClr val="333399"/>
                  </a:solidFill>
                  <a:latin typeface="等线" panose="02010600030101010101" pitchFamily="2" charset="-122"/>
                  <a:ea typeface="等线" panose="02010600030101010101" pitchFamily="2" charset="-122"/>
                </a:rPr>
                <a:t>tju</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73" name="文本框 11325"/>
            <p:cNvSpPr txBox="1">
              <a:spLocks noChangeArrowheads="1"/>
            </p:cNvSpPr>
            <p:nvPr/>
          </p:nvSpPr>
          <p:spPr bwMode="auto">
            <a:xfrm>
              <a:off x="5550594" y="5024691"/>
              <a:ext cx="124539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2000" dirty="0" err="1">
                  <a:solidFill>
                    <a:srgbClr val="333399"/>
                  </a:solidFill>
                  <a:latin typeface="等线" panose="02010600030101010101" pitchFamily="2" charset="-122"/>
                  <a:ea typeface="等线" panose="02010600030101010101" pitchFamily="2" charset="-122"/>
                </a:rPr>
                <a:t>nankai</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74" name="文本框 11326"/>
            <p:cNvSpPr txBox="1">
              <a:spLocks noChangeArrowheads="1"/>
            </p:cNvSpPr>
            <p:nvPr/>
          </p:nvSpPr>
          <p:spPr bwMode="auto">
            <a:xfrm>
              <a:off x="4393655" y="4625453"/>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dirty="0">
                  <a:latin typeface="等线" panose="02010600030101010101" pitchFamily="2" charset="-122"/>
                  <a:ea typeface="等线" panose="02010600030101010101" pitchFamily="2" charset="-122"/>
                </a:rPr>
                <a:t>…</a:t>
              </a:r>
            </a:p>
          </p:txBody>
        </p:sp>
        <p:sp>
          <p:nvSpPr>
            <p:cNvPr id="275" name="矩形 11327"/>
            <p:cNvSpPr>
              <a:spLocks noChangeArrowheads="1"/>
            </p:cNvSpPr>
            <p:nvPr/>
          </p:nvSpPr>
          <p:spPr bwMode="auto">
            <a:xfrm>
              <a:off x="5651546" y="1353209"/>
              <a:ext cx="708265" cy="351028"/>
            </a:xfrm>
            <a:prstGeom prst="rect">
              <a:avLst/>
            </a:prstGeom>
            <a:solidFill>
              <a:srgbClr val="99FFCC"/>
            </a:solidFill>
            <a:ln w="19050">
              <a:solidFill>
                <a:schemeClr val="tx1"/>
              </a:solidFill>
              <a:miter lim="800000"/>
            </a:ln>
          </p:spPr>
          <p:txBody>
            <a:bodyPr wrap="none" anchor="ctr"/>
            <a:lstStyle/>
            <a:p>
              <a:pPr algn="ctr"/>
              <a:r>
                <a:rPr lang="zh-CN" altLang="en-US" sz="2400" dirty="0">
                  <a:latin typeface="等线" panose="02010600030101010101" pitchFamily="2" charset="-122"/>
                  <a:ea typeface="等线" panose="02010600030101010101" pitchFamily="2" charset="-122"/>
                </a:rPr>
                <a:t>树根</a:t>
              </a:r>
            </a:p>
          </p:txBody>
        </p:sp>
        <p:sp>
          <p:nvSpPr>
            <p:cNvPr id="276" name="直接连接符 11328"/>
            <p:cNvSpPr>
              <a:spLocks noChangeShapeType="1"/>
            </p:cNvSpPr>
            <p:nvPr/>
          </p:nvSpPr>
          <p:spPr bwMode="auto">
            <a:xfrm rot="5400000" flipH="1">
              <a:off x="5688726" y="2002535"/>
              <a:ext cx="614676"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 name="直接连接符 11329"/>
            <p:cNvSpPr>
              <a:spLocks noChangeShapeType="1"/>
            </p:cNvSpPr>
            <p:nvPr/>
          </p:nvSpPr>
          <p:spPr bwMode="auto">
            <a:xfrm rot="16200000">
              <a:off x="6586366"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8" name="直接连接符 11330"/>
            <p:cNvSpPr>
              <a:spLocks noChangeShapeType="1"/>
            </p:cNvSpPr>
            <p:nvPr/>
          </p:nvSpPr>
          <p:spPr bwMode="auto">
            <a:xfrm rot="16200000">
              <a:off x="5671389"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9" name="直接连接符 11331"/>
            <p:cNvSpPr>
              <a:spLocks noChangeShapeType="1"/>
            </p:cNvSpPr>
            <p:nvPr/>
          </p:nvSpPr>
          <p:spPr bwMode="auto">
            <a:xfrm rot="16200000">
              <a:off x="4923065"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0" name="直接连接符 11332"/>
            <p:cNvSpPr>
              <a:spLocks noChangeShapeType="1"/>
            </p:cNvSpPr>
            <p:nvPr/>
          </p:nvSpPr>
          <p:spPr bwMode="auto">
            <a:xfrm rot="16200000">
              <a:off x="3718053"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1" name="直接连接符 11333"/>
            <p:cNvSpPr>
              <a:spLocks noChangeShapeType="1"/>
            </p:cNvSpPr>
            <p:nvPr/>
          </p:nvSpPr>
          <p:spPr bwMode="auto">
            <a:xfrm rot="16200000">
              <a:off x="5090468" y="3011176"/>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2" name="文本框 11334"/>
            <p:cNvSpPr txBox="1">
              <a:spLocks noChangeArrowheads="1"/>
            </p:cNvSpPr>
            <p:nvPr/>
          </p:nvSpPr>
          <p:spPr bwMode="auto">
            <a:xfrm>
              <a:off x="3521944" y="3284616"/>
              <a:ext cx="67237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cctv</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283" name="文本框 11335"/>
            <p:cNvSpPr txBox="1">
              <a:spLocks noChangeArrowheads="1"/>
            </p:cNvSpPr>
            <p:nvPr/>
          </p:nvSpPr>
          <p:spPr bwMode="auto">
            <a:xfrm>
              <a:off x="4808679" y="3299682"/>
              <a:ext cx="65634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ibm</a:t>
              </a:r>
            </a:p>
          </p:txBody>
        </p:sp>
        <p:sp>
          <p:nvSpPr>
            <p:cNvPr id="284" name="文本框 11336"/>
            <p:cNvSpPr txBox="1">
              <a:spLocks noChangeArrowheads="1"/>
            </p:cNvSpPr>
            <p:nvPr/>
          </p:nvSpPr>
          <p:spPr bwMode="auto">
            <a:xfrm>
              <a:off x="5589052" y="3284616"/>
              <a:ext cx="50572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hp</a:t>
              </a:r>
            </a:p>
          </p:txBody>
        </p:sp>
        <p:sp>
          <p:nvSpPr>
            <p:cNvPr id="285" name="文本框 11337"/>
            <p:cNvSpPr txBox="1">
              <a:spLocks noChangeArrowheads="1"/>
            </p:cNvSpPr>
            <p:nvPr/>
          </p:nvSpPr>
          <p:spPr bwMode="auto">
            <a:xfrm>
              <a:off x="6473582" y="3284616"/>
              <a:ext cx="68326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mot</a:t>
              </a:r>
            </a:p>
          </p:txBody>
        </p:sp>
        <p:sp>
          <p:nvSpPr>
            <p:cNvPr id="286" name="文本框 11338"/>
            <p:cNvSpPr txBox="1">
              <a:spLocks noChangeArrowheads="1"/>
            </p:cNvSpPr>
            <p:nvPr/>
          </p:nvSpPr>
          <p:spPr bwMode="auto">
            <a:xfrm>
              <a:off x="4129258" y="2968239"/>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dirty="0">
                  <a:solidFill>
                    <a:srgbClr val="333399"/>
                  </a:solidFill>
                  <a:latin typeface="等线" panose="02010600030101010101" pitchFamily="2" charset="-122"/>
                  <a:ea typeface="等线" panose="02010600030101010101" pitchFamily="2" charset="-122"/>
                </a:rPr>
                <a:t>…</a:t>
              </a:r>
            </a:p>
          </p:txBody>
        </p:sp>
        <p:sp>
          <p:nvSpPr>
            <p:cNvPr id="287" name="任意多边形 11339"/>
            <p:cNvSpPr>
              <a:spLocks noChangeArrowheads="1"/>
            </p:cNvSpPr>
            <p:nvPr/>
          </p:nvSpPr>
          <p:spPr bwMode="auto">
            <a:xfrm>
              <a:off x="3310426" y="3138480"/>
              <a:ext cx="3430759" cy="7533"/>
            </a:xfrm>
            <a:custGeom>
              <a:avLst/>
              <a:gdLst>
                <a:gd name="T0" fmla="*/ 0 w 1979"/>
                <a:gd name="T1" fmla="*/ 4 h 4"/>
                <a:gd name="T2" fmla="*/ 1979 w 1979"/>
                <a:gd name="T3" fmla="*/ 0 h 4"/>
              </a:gdLst>
              <a:ahLst/>
              <a:cxnLst>
                <a:cxn ang="0">
                  <a:pos x="T0" y="T1"/>
                </a:cxn>
                <a:cxn ang="0">
                  <a:pos x="T2" y="T3"/>
                </a:cxn>
              </a:cxnLst>
              <a:rect l="0" t="0" r="r" b="b"/>
              <a:pathLst>
                <a:path w="1979" h="4">
                  <a:moveTo>
                    <a:pt x="0" y="4"/>
                  </a:moveTo>
                  <a:lnTo>
                    <a:pt x="1979" y="0"/>
                  </a:lnTo>
                </a:path>
              </a:pathLst>
            </a:cu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288" name="矩形 11340"/>
            <p:cNvSpPr>
              <a:spLocks noChangeArrowheads="1"/>
            </p:cNvSpPr>
            <p:nvPr/>
          </p:nvSpPr>
          <p:spPr bwMode="auto">
            <a:xfrm>
              <a:off x="1727245" y="1853386"/>
              <a:ext cx="1412684" cy="457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eaLnBrk="0" hangingPunct="0"/>
              <a:r>
                <a:rPr lang="zh-CN" altLang="en-US" sz="2400" dirty="0">
                  <a:solidFill>
                    <a:srgbClr val="333399"/>
                  </a:solidFill>
                  <a:latin typeface="等线" panose="02010600030101010101" pitchFamily="2" charset="-122"/>
                  <a:ea typeface="等线" panose="02010600030101010101" pitchFamily="2" charset="-122"/>
                </a:rPr>
                <a:t>顶级域名</a:t>
              </a:r>
            </a:p>
          </p:txBody>
        </p:sp>
        <p:sp>
          <p:nvSpPr>
            <p:cNvPr id="289" name="直接连接符 11341"/>
            <p:cNvSpPr>
              <a:spLocks noChangeShapeType="1"/>
            </p:cNvSpPr>
            <p:nvPr/>
          </p:nvSpPr>
          <p:spPr bwMode="auto">
            <a:xfrm>
              <a:off x="4227004" y="3956541"/>
              <a:ext cx="5906481"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0" name="矩形 11342"/>
            <p:cNvSpPr>
              <a:spLocks noChangeArrowheads="1"/>
            </p:cNvSpPr>
            <p:nvPr/>
          </p:nvSpPr>
          <p:spPr bwMode="auto">
            <a:xfrm>
              <a:off x="1727245" y="3596473"/>
              <a:ext cx="1412684" cy="457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eaLnBrk="0" hangingPunct="0"/>
              <a:r>
                <a:rPr lang="zh-CN" altLang="en-US" sz="2400" dirty="0">
                  <a:solidFill>
                    <a:srgbClr val="333399"/>
                  </a:solidFill>
                  <a:latin typeface="等线" panose="02010600030101010101" pitchFamily="2" charset="-122"/>
                  <a:ea typeface="等线" panose="02010600030101010101" pitchFamily="2" charset="-122"/>
                </a:rPr>
                <a:t>二级域名</a:t>
              </a:r>
            </a:p>
          </p:txBody>
        </p:sp>
        <p:sp>
          <p:nvSpPr>
            <p:cNvPr id="291" name="直接连接符 11343"/>
            <p:cNvSpPr>
              <a:spLocks noChangeShapeType="1"/>
            </p:cNvSpPr>
            <p:nvPr/>
          </p:nvSpPr>
          <p:spPr bwMode="auto">
            <a:xfrm rot="16200000">
              <a:off x="954007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2" name="直接连接符 11344"/>
            <p:cNvSpPr>
              <a:spLocks noChangeShapeType="1"/>
            </p:cNvSpPr>
            <p:nvPr/>
          </p:nvSpPr>
          <p:spPr bwMode="auto">
            <a:xfrm rot="16200000">
              <a:off x="882219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3" name="直接连接符 11345"/>
            <p:cNvSpPr>
              <a:spLocks noChangeShapeType="1"/>
            </p:cNvSpPr>
            <p:nvPr/>
          </p:nvSpPr>
          <p:spPr bwMode="auto">
            <a:xfrm rot="16200000">
              <a:off x="7995349"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4" name="直接连接符 11346"/>
            <p:cNvSpPr>
              <a:spLocks noChangeShapeType="1"/>
            </p:cNvSpPr>
            <p:nvPr/>
          </p:nvSpPr>
          <p:spPr bwMode="auto">
            <a:xfrm rot="16200000">
              <a:off x="723260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5" name="直接连接符 11347"/>
            <p:cNvSpPr>
              <a:spLocks noChangeShapeType="1"/>
            </p:cNvSpPr>
            <p:nvPr/>
          </p:nvSpPr>
          <p:spPr bwMode="auto">
            <a:xfrm rot="16200000">
              <a:off x="608207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6" name="任意多边形 11348"/>
            <p:cNvSpPr>
              <a:spLocks noChangeArrowheads="1"/>
            </p:cNvSpPr>
            <p:nvPr/>
          </p:nvSpPr>
          <p:spPr bwMode="auto">
            <a:xfrm>
              <a:off x="5454450" y="4858969"/>
              <a:ext cx="4794409" cy="6026"/>
            </a:xfrm>
            <a:custGeom>
              <a:avLst/>
              <a:gdLst>
                <a:gd name="T0" fmla="*/ 0 w 2253"/>
                <a:gd name="T1" fmla="*/ 3 h 3"/>
                <a:gd name="T2" fmla="*/ 2253 w 2253"/>
                <a:gd name="T3" fmla="*/ 0 h 3"/>
              </a:gdLst>
              <a:ahLst/>
              <a:cxnLst>
                <a:cxn ang="0">
                  <a:pos x="T0" y="T1"/>
                </a:cxn>
                <a:cxn ang="0">
                  <a:pos x="T2" y="T3"/>
                </a:cxn>
              </a:cxnLst>
              <a:rect l="0" t="0" r="r" b="b"/>
              <a:pathLst>
                <a:path w="2253" h="3">
                  <a:moveTo>
                    <a:pt x="0" y="3"/>
                  </a:moveTo>
                  <a:lnTo>
                    <a:pt x="2253" y="0"/>
                  </a:lnTo>
                </a:path>
              </a:pathLst>
            </a:cu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297" name="矩形 11349"/>
            <p:cNvSpPr>
              <a:spLocks noChangeArrowheads="1"/>
            </p:cNvSpPr>
            <p:nvPr/>
          </p:nvSpPr>
          <p:spPr bwMode="auto">
            <a:xfrm>
              <a:off x="1727245" y="5023184"/>
              <a:ext cx="1412684" cy="457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eaLnBrk="0" hangingPunct="0"/>
              <a:r>
                <a:rPr lang="zh-CN" altLang="en-US" sz="2400" dirty="0">
                  <a:solidFill>
                    <a:srgbClr val="333399"/>
                  </a:solidFill>
                  <a:latin typeface="等线" panose="02010600030101010101" pitchFamily="2" charset="-122"/>
                  <a:ea typeface="等线" panose="02010600030101010101" pitchFamily="2" charset="-122"/>
                </a:rPr>
                <a:t>三级域名</a:t>
              </a:r>
            </a:p>
          </p:txBody>
        </p:sp>
        <p:sp>
          <p:nvSpPr>
            <p:cNvPr id="298" name="文本框 11350"/>
            <p:cNvSpPr txBox="1">
              <a:spLocks noChangeArrowheads="1"/>
            </p:cNvSpPr>
            <p:nvPr/>
          </p:nvSpPr>
          <p:spPr bwMode="auto">
            <a:xfrm>
              <a:off x="3521944" y="4996066"/>
              <a:ext cx="70249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mail</a:t>
              </a:r>
            </a:p>
          </p:txBody>
        </p:sp>
        <p:sp>
          <p:nvSpPr>
            <p:cNvPr id="299" name="文本框 11351"/>
            <p:cNvSpPr txBox="1">
              <a:spLocks noChangeArrowheads="1"/>
            </p:cNvSpPr>
            <p:nvPr/>
          </p:nvSpPr>
          <p:spPr bwMode="auto">
            <a:xfrm>
              <a:off x="6380642" y="5805088"/>
              <a:ext cx="79223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www</a:t>
              </a:r>
            </a:p>
          </p:txBody>
        </p:sp>
        <p:sp>
          <p:nvSpPr>
            <p:cNvPr id="300" name="直接连接符 11352"/>
            <p:cNvSpPr>
              <a:spLocks noChangeShapeType="1"/>
            </p:cNvSpPr>
            <p:nvPr/>
          </p:nvSpPr>
          <p:spPr bwMode="auto">
            <a:xfrm rot="16200000">
              <a:off x="6062377" y="5530894"/>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1" name="直接连接符 11353"/>
            <p:cNvSpPr>
              <a:spLocks noChangeShapeType="1"/>
            </p:cNvSpPr>
            <p:nvPr/>
          </p:nvSpPr>
          <p:spPr bwMode="auto">
            <a:xfrm rot="16200000">
              <a:off x="3178705" y="4361805"/>
              <a:ext cx="1349876"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2" name="矩形 11354"/>
            <p:cNvSpPr>
              <a:spLocks noChangeArrowheads="1"/>
            </p:cNvSpPr>
            <p:nvPr/>
          </p:nvSpPr>
          <p:spPr bwMode="auto">
            <a:xfrm>
              <a:off x="1727245" y="5830700"/>
              <a:ext cx="1412684" cy="457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eaLnBrk="0" hangingPunct="0"/>
              <a:r>
                <a:rPr lang="zh-CN" altLang="en-US" sz="2400" dirty="0">
                  <a:solidFill>
                    <a:srgbClr val="333399"/>
                  </a:solidFill>
                  <a:latin typeface="等线" panose="02010600030101010101" pitchFamily="2" charset="-122"/>
                  <a:ea typeface="等线" panose="02010600030101010101" pitchFamily="2" charset="-122"/>
                </a:rPr>
                <a:t>四级域名</a:t>
              </a:r>
            </a:p>
          </p:txBody>
        </p:sp>
        <p:sp>
          <p:nvSpPr>
            <p:cNvPr id="303" name="直接连接符 11355"/>
            <p:cNvSpPr>
              <a:spLocks noChangeShapeType="1"/>
            </p:cNvSpPr>
            <p:nvPr/>
          </p:nvSpPr>
          <p:spPr bwMode="auto">
            <a:xfrm>
              <a:off x="4867968" y="5666484"/>
              <a:ext cx="2509373"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4" name="直接连接符 11356"/>
            <p:cNvSpPr>
              <a:spLocks noChangeShapeType="1"/>
            </p:cNvSpPr>
            <p:nvPr/>
          </p:nvSpPr>
          <p:spPr bwMode="auto">
            <a:xfrm rot="16200000">
              <a:off x="5564781" y="580132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5" name="直接连接符 11357"/>
            <p:cNvSpPr>
              <a:spLocks noChangeShapeType="1"/>
            </p:cNvSpPr>
            <p:nvPr/>
          </p:nvSpPr>
          <p:spPr bwMode="auto">
            <a:xfrm rot="16200000">
              <a:off x="6528679" y="5800568"/>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6" name="文本框 11358"/>
            <p:cNvSpPr txBox="1">
              <a:spLocks noChangeArrowheads="1"/>
            </p:cNvSpPr>
            <p:nvPr/>
          </p:nvSpPr>
          <p:spPr bwMode="auto">
            <a:xfrm>
              <a:off x="4549089" y="5805088"/>
              <a:ext cx="70249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mail</a:t>
              </a:r>
            </a:p>
          </p:txBody>
        </p:sp>
        <p:sp>
          <p:nvSpPr>
            <p:cNvPr id="307" name="文本框 11359"/>
            <p:cNvSpPr txBox="1">
              <a:spLocks noChangeArrowheads="1"/>
            </p:cNvSpPr>
            <p:nvPr/>
          </p:nvSpPr>
          <p:spPr bwMode="auto">
            <a:xfrm>
              <a:off x="5457654" y="5805088"/>
              <a:ext cx="43201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等线" panose="02010600030101010101" pitchFamily="2" charset="-122"/>
                  <a:ea typeface="等线" panose="02010600030101010101" pitchFamily="2" charset="-122"/>
                </a:rPr>
                <a:t>cs</a:t>
              </a:r>
            </a:p>
          </p:txBody>
        </p:sp>
        <p:sp>
          <p:nvSpPr>
            <p:cNvPr id="308" name="直接连接符 11360"/>
            <p:cNvSpPr>
              <a:spLocks noChangeShapeType="1"/>
            </p:cNvSpPr>
            <p:nvPr/>
          </p:nvSpPr>
          <p:spPr bwMode="auto">
            <a:xfrm rot="16200000">
              <a:off x="4730776" y="5800568"/>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9" name="文本框 11361"/>
            <p:cNvSpPr txBox="1">
              <a:spLocks noChangeArrowheads="1"/>
            </p:cNvSpPr>
            <p:nvPr/>
          </p:nvSpPr>
          <p:spPr bwMode="auto">
            <a:xfrm>
              <a:off x="7181846" y="5459703"/>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dirty="0">
                  <a:solidFill>
                    <a:srgbClr val="333399"/>
                  </a:solidFill>
                  <a:latin typeface="等线" panose="02010600030101010101" pitchFamily="2" charset="-122"/>
                  <a:ea typeface="等线" panose="02010600030101010101" pitchFamily="2" charset="-122"/>
                </a:rPr>
                <a:t>…</a:t>
              </a:r>
            </a:p>
          </p:txBody>
        </p:sp>
        <p:sp>
          <p:nvSpPr>
            <p:cNvPr id="310" name="文本框 11362"/>
            <p:cNvSpPr txBox="1">
              <a:spLocks noChangeArrowheads="1"/>
            </p:cNvSpPr>
            <p:nvPr/>
          </p:nvSpPr>
          <p:spPr bwMode="auto">
            <a:xfrm>
              <a:off x="1805764" y="2175790"/>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dirty="0">
                  <a:latin typeface="等线" panose="02010600030101010101" pitchFamily="2" charset="-122"/>
                  <a:ea typeface="等线" panose="02010600030101010101" pitchFamily="2" charset="-122"/>
                </a:rPr>
                <a:t>…</a:t>
              </a:r>
            </a:p>
          </p:txBody>
        </p:sp>
        <p:sp>
          <p:nvSpPr>
            <p:cNvPr id="311" name="文本框 11363"/>
            <p:cNvSpPr txBox="1">
              <a:spLocks noChangeArrowheads="1"/>
            </p:cNvSpPr>
            <p:nvPr/>
          </p:nvSpPr>
          <p:spPr bwMode="auto">
            <a:xfrm>
              <a:off x="9918762" y="5026198"/>
              <a:ext cx="60635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seu</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312" name="矩形 11364"/>
            <p:cNvSpPr>
              <a:spLocks noChangeArrowheads="1"/>
            </p:cNvSpPr>
            <p:nvPr/>
          </p:nvSpPr>
          <p:spPr bwMode="auto">
            <a:xfrm>
              <a:off x="9363681" y="5027704"/>
              <a:ext cx="6249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等线" panose="02010600030101010101" pitchFamily="2" charset="-122"/>
                  <a:ea typeface="等线" panose="02010600030101010101" pitchFamily="2" charset="-122"/>
                </a:rPr>
                <a:t>sjtu</a:t>
              </a:r>
              <a:endParaRPr lang="en-US" altLang="zh-CN" sz="2000" dirty="0">
                <a:solidFill>
                  <a:srgbClr val="333399"/>
                </a:solidFill>
                <a:latin typeface="等线" panose="02010600030101010101" pitchFamily="2" charset="-122"/>
                <a:ea typeface="等线" panose="02010600030101010101" pitchFamily="2" charset="-122"/>
              </a:endParaRPr>
            </a:p>
          </p:txBody>
        </p:sp>
        <p:sp>
          <p:nvSpPr>
            <p:cNvPr id="313" name="直接连接符 11365"/>
            <p:cNvSpPr>
              <a:spLocks noChangeShapeType="1"/>
            </p:cNvSpPr>
            <p:nvPr/>
          </p:nvSpPr>
          <p:spPr bwMode="auto">
            <a:xfrm rot="16200000">
              <a:off x="10091300" y="498476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4" name="矩形 11366"/>
            <p:cNvSpPr>
              <a:spLocks noChangeArrowheads="1"/>
            </p:cNvSpPr>
            <p:nvPr/>
          </p:nvSpPr>
          <p:spPr bwMode="auto">
            <a:xfrm>
              <a:off x="8108040" y="1234190"/>
              <a:ext cx="2338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dirty="0">
                  <a:solidFill>
                    <a:srgbClr val="CC0000"/>
                  </a:solidFill>
                  <a:latin typeface="等线" panose="02010600030101010101" pitchFamily="2" charset="-122"/>
                  <a:ea typeface="等线" panose="02010600030101010101" pitchFamily="2" charset="-122"/>
                </a:rPr>
                <a:t>层次树状结构</a:t>
              </a:r>
            </a:p>
          </p:txBody>
        </p:sp>
        <p:sp>
          <p:nvSpPr>
            <p:cNvPr id="315" name="矩形 11367"/>
            <p:cNvSpPr>
              <a:spLocks noChangeArrowheads="1"/>
            </p:cNvSpPr>
            <p:nvPr/>
          </p:nvSpPr>
          <p:spPr bwMode="auto">
            <a:xfrm>
              <a:off x="1611872" y="1223645"/>
              <a:ext cx="162035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dirty="0">
                  <a:solidFill>
                    <a:srgbClr val="CC0000"/>
                  </a:solidFill>
                  <a:latin typeface="等线" panose="02010600030101010101" pitchFamily="2" charset="-122"/>
                  <a:ea typeface="等线" panose="02010600030101010101" pitchFamily="2" charset="-122"/>
                </a:rPr>
                <a:t>按级划分</a:t>
              </a:r>
            </a:p>
          </p:txBody>
        </p:sp>
      </p:grpSp>
      <p:sp>
        <p:nvSpPr>
          <p:cNvPr id="7" name="日期占位符 6"/>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4" name="矩形 11367"/>
          <p:cNvSpPr>
            <a:spLocks noChangeArrowheads="1"/>
          </p:cNvSpPr>
          <p:nvPr/>
        </p:nvSpPr>
        <p:spPr bwMode="auto">
          <a:xfrm>
            <a:off x="441325" y="3416935"/>
            <a:ext cx="66611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dirty="0">
                <a:solidFill>
                  <a:srgbClr val="CC0000"/>
                </a:solidFill>
                <a:latin typeface="等线" panose="02010600030101010101" pitchFamily="2" charset="-122"/>
                <a:ea typeface="等线" panose="02010600030101010101" pitchFamily="2" charset="-122"/>
              </a:rPr>
              <a:t>域</a:t>
            </a:r>
          </a:p>
          <a:p>
            <a:r>
              <a:rPr lang="zh-CN" altLang="en-US" sz="2800" dirty="0">
                <a:solidFill>
                  <a:srgbClr val="CC0000"/>
                </a:solidFill>
                <a:latin typeface="等线" panose="02010600030101010101" pitchFamily="2" charset="-122"/>
                <a:ea typeface="等线" panose="02010600030101010101" pitchFamily="2" charset="-122"/>
              </a:rPr>
              <a:t>树</a:t>
            </a:r>
          </a:p>
        </p:txBody>
      </p:sp>
    </p:spTree>
    <p:extLst>
      <p:ext uri="{BB962C8B-B14F-4D97-AF65-F5344CB8AC3E}">
        <p14:creationId xmlns:p14="http://schemas.microsoft.com/office/powerpoint/2010/main" val="3767545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Tx/>
              <a:buSzTx/>
            </a:pPr>
            <a:r>
              <a:rPr lang="en-US" altLang="zh-CN" dirty="0">
                <a:latin typeface="等线" panose="02010600030101010101" pitchFamily="2" charset="-122"/>
                <a:ea typeface="等线" panose="02010600030101010101" pitchFamily="2" charset="-122"/>
                <a:sym typeface="+mn-ea"/>
              </a:rPr>
              <a:t>Internet</a:t>
            </a:r>
            <a:r>
              <a:rPr lang="zh-CN" altLang="en-US" dirty="0">
                <a:latin typeface="等线" panose="02010600030101010101" pitchFamily="2" charset="-122"/>
                <a:ea typeface="等线" panose="02010600030101010101" pitchFamily="2" charset="-122"/>
                <a:sym typeface="+mn-ea"/>
              </a:rPr>
              <a:t>的域名结构采用了</a:t>
            </a:r>
            <a:r>
              <a:rPr kumimoji="1" lang="zh-CN" altLang="en-US" dirty="0">
                <a:solidFill>
                  <a:srgbClr val="C00000"/>
                </a:solidFill>
                <a:latin typeface="等线" panose="02010600030101010101" pitchFamily="2" charset="-122"/>
                <a:ea typeface="等线" panose="02010600030101010101" pitchFamily="2" charset="-122"/>
                <a:sym typeface="+mn-ea"/>
              </a:rPr>
              <a:t>层次树状结构的命名方法</a:t>
            </a:r>
            <a:endParaRPr lang="zh-CN" altLang="en-US" dirty="0">
              <a:latin typeface="等线" panose="02010600030101010101" pitchFamily="2" charset="-122"/>
              <a:ea typeface="等线" panose="02010600030101010101" pitchFamily="2" charset="-122"/>
              <a:sym typeface="+mn-ea"/>
            </a:endParaRPr>
          </a:p>
          <a:p>
            <a:pPr algn="just">
              <a:lnSpc>
                <a:spcPct val="100000"/>
              </a:lnSpc>
              <a:buClrTx/>
              <a:buSzTx/>
            </a:pPr>
            <a:r>
              <a:rPr lang="zh-CN" altLang="en-US" dirty="0">
                <a:latin typeface="等线" panose="02010600030101010101" pitchFamily="2" charset="-122"/>
                <a:ea typeface="等线" panose="02010600030101010101" pitchFamily="2" charset="-122"/>
                <a:sym typeface="+mn-ea"/>
              </a:rPr>
              <a:t>域名的结构由若干个分量组成，各分量之间用</a:t>
            </a:r>
            <a:r>
              <a:rPr kumimoji="1" lang="zh-CN" altLang="en-US" dirty="0">
                <a:solidFill>
                  <a:srgbClr val="C00000"/>
                </a:solidFill>
                <a:latin typeface="等线" panose="02010600030101010101" pitchFamily="2" charset="-122"/>
                <a:ea typeface="等线" panose="02010600030101010101" pitchFamily="2" charset="-122"/>
                <a:sym typeface="+mn-ea"/>
              </a:rPr>
              <a:t>小数点</a:t>
            </a:r>
            <a:r>
              <a:rPr lang="zh-CN" altLang="en-US" dirty="0">
                <a:latin typeface="等线" panose="02010600030101010101" pitchFamily="2" charset="-122"/>
                <a:ea typeface="等线" panose="02010600030101010101" pitchFamily="2" charset="-122"/>
                <a:sym typeface="+mn-ea"/>
              </a:rPr>
              <a:t>(</a:t>
            </a:r>
            <a:r>
              <a:rPr kumimoji="1" lang="zh-CN" altLang="en-US" dirty="0">
                <a:solidFill>
                  <a:srgbClr val="C00000"/>
                </a:solidFill>
                <a:latin typeface="等线" panose="02010600030101010101" pitchFamily="2" charset="-122"/>
                <a:ea typeface="等线" panose="02010600030101010101" pitchFamily="2" charset="-122"/>
                <a:sym typeface="+mn-ea"/>
              </a:rPr>
              <a:t>.</a:t>
            </a:r>
            <a:r>
              <a:rPr lang="zh-CN" altLang="en-US" dirty="0">
                <a:latin typeface="等线" panose="02010600030101010101" pitchFamily="2" charset="-122"/>
                <a:ea typeface="等线" panose="02010600030101010101" pitchFamily="2" charset="-122"/>
                <a:sym typeface="+mn-ea"/>
              </a:rPr>
              <a:t>)隔开，总长不超过255个字符</a:t>
            </a:r>
            <a:endParaRPr lang="zh-CN" altLang="en-US" b="1" dirty="0">
              <a:solidFill>
                <a:srgbClr val="0070C0"/>
              </a:solidFill>
              <a:latin typeface="Times New Roman" panose="02020603050405020304" charset="0"/>
              <a:ea typeface="等线" panose="02010600030101010101" pitchFamily="2" charset="-122"/>
              <a:sym typeface="+mn-ea"/>
            </a:endParaRPr>
          </a:p>
          <a:p>
            <a:pPr algn="just">
              <a:lnSpc>
                <a:spcPct val="100000"/>
              </a:lnSpc>
              <a:buClrTx/>
              <a:buSzTx/>
            </a:pPr>
            <a:r>
              <a:rPr lang="zh-CN" altLang="en-US" dirty="0">
                <a:latin typeface="等线" panose="02010600030101010101" pitchFamily="2" charset="-122"/>
                <a:ea typeface="等线" panose="02010600030101010101" pitchFamily="2" charset="-122"/>
                <a:sym typeface="+mn-ea"/>
              </a:rPr>
              <a:t>各分量分别代表不同级别的域名。(≤63字符)</a:t>
            </a:r>
          </a:p>
          <a:p>
            <a:pPr algn="just">
              <a:lnSpc>
                <a:spcPct val="100000"/>
              </a:lnSpc>
              <a:buClrTx/>
              <a:buSzTx/>
            </a:pPr>
            <a:r>
              <a:rPr lang="zh-CN" altLang="en-US" dirty="0">
                <a:latin typeface="等线" panose="02010600030101010101" pitchFamily="2" charset="-122"/>
                <a:ea typeface="等线" panose="02010600030101010101" pitchFamily="2" charset="-122"/>
                <a:sym typeface="+mn-ea"/>
              </a:rPr>
              <a:t>合法域名中，点</a:t>
            </a:r>
            <a:r>
              <a:rPr kumimoji="1" lang="zh-CN" altLang="en-US" dirty="0">
                <a:solidFill>
                  <a:srgbClr val="C00000"/>
                </a:solidFill>
                <a:latin typeface="等线" panose="02010600030101010101" pitchFamily="2" charset="-122"/>
                <a:ea typeface="等线" panose="02010600030101010101" pitchFamily="2" charset="-122"/>
                <a:sym typeface="+mn-ea"/>
              </a:rPr>
              <a:t>“.”的个数至少为一个</a:t>
            </a:r>
            <a:endParaRPr lang="zh-CN" altLang="en-US" b="1" dirty="0">
              <a:solidFill>
                <a:srgbClr val="FF0000"/>
              </a:solidFill>
              <a:latin typeface="Times New Roman" panose="02020603050405020304" charset="0"/>
              <a:ea typeface="等线" panose="02010600030101010101" pitchFamily="2" charset="-122"/>
              <a:sym typeface="+mn-ea"/>
            </a:endParaRPr>
          </a:p>
          <a:p>
            <a:pPr algn="just">
              <a:lnSpc>
                <a:spcPct val="100000"/>
              </a:lnSpc>
              <a:buClrTx/>
              <a:buSzTx/>
            </a:pPr>
            <a:r>
              <a:rPr lang="zh-CN" altLang="en-US" dirty="0">
                <a:latin typeface="等线" panose="02010600030101010101" pitchFamily="2" charset="-122"/>
                <a:ea typeface="等线" panose="02010600030101010101" pitchFamily="2" charset="-122"/>
                <a:sym typeface="+mn-ea"/>
              </a:rPr>
              <a:t>通常，点</a:t>
            </a:r>
            <a:r>
              <a:rPr kumimoji="1" lang="zh-CN" altLang="en-US" dirty="0">
                <a:solidFill>
                  <a:srgbClr val="C00000"/>
                </a:solidFill>
                <a:latin typeface="等线" panose="02010600030101010101" pitchFamily="2" charset="-122"/>
                <a:ea typeface="等线" panose="02010600030101010101" pitchFamily="2" charset="-122"/>
                <a:sym typeface="+mn-ea"/>
              </a:rPr>
              <a:t>“.”</a:t>
            </a:r>
            <a:r>
              <a:rPr lang="zh-CN" altLang="en-US" dirty="0">
                <a:latin typeface="等线" panose="02010600030101010101" pitchFamily="2" charset="-122"/>
                <a:ea typeface="等线" panose="02010600030101010101" pitchFamily="2" charset="-122"/>
                <a:sym typeface="+mn-ea"/>
              </a:rPr>
              <a:t>对应的英文单词为dot，也可以读为point</a:t>
            </a:r>
            <a:endParaRPr lang="zh-CN" altLang="en-US" sz="2800" dirty="0">
              <a:latin typeface="等线" panose="02010600030101010101" pitchFamily="2" charset="-122"/>
              <a:ea typeface="等线" panose="02010600030101010101" pitchFamily="2" charset="-122"/>
            </a:endParaRPr>
          </a:p>
        </p:txBody>
      </p:sp>
      <p:sp>
        <p:nvSpPr>
          <p:cNvPr id="6"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altLang="zh-CN" dirty="0">
                <a:latin typeface="等线" panose="02010600030101010101" pitchFamily="2" charset="-122"/>
                <a:ea typeface="等线" panose="02010600030101010101" pitchFamily="2" charset="-122"/>
                <a:sym typeface="+mn-ea"/>
              </a:rPr>
              <a:t>Internet</a:t>
            </a:r>
            <a:r>
              <a:rPr lang="zh-CN" altLang="en-US" dirty="0">
                <a:latin typeface="等线" panose="02010600030101010101" pitchFamily="2" charset="-122"/>
                <a:ea typeface="等线" panose="02010600030101010101" pitchFamily="2" charset="-122"/>
                <a:sym typeface="+mn-ea"/>
              </a:rPr>
              <a:t>的域名结构</a:t>
            </a:r>
            <a:endPar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115" name="矩形 9218"/>
          <p:cNvSpPr>
            <a:spLocks noChangeArrowheads="1"/>
          </p:cNvSpPr>
          <p:nvPr/>
        </p:nvSpPr>
        <p:spPr bwMode="auto">
          <a:xfrm>
            <a:off x="2109089" y="5399789"/>
            <a:ext cx="7146925" cy="763587"/>
          </a:xfrm>
          <a:prstGeom prst="rect">
            <a:avLst/>
          </a:prstGeom>
          <a:solidFill>
            <a:srgbClr val="CCECFF"/>
          </a:solidFill>
          <a:ln w="28575">
            <a:solidFill>
              <a:srgbClr val="333399"/>
            </a:solidFill>
            <a:miter lim="800000"/>
          </a:ln>
        </p:spPr>
        <p:txBody>
          <a:bodyPr wrap="none" anchor="ctr"/>
          <a:lstStyle/>
          <a:p>
            <a:pPr algn="ctr"/>
            <a:r>
              <a:rPr lang="en-US" altLang="zh-CN" sz="2800" dirty="0">
                <a:solidFill>
                  <a:srgbClr val="0000CC"/>
                </a:solidFill>
                <a:latin typeface="等线" panose="02010600030101010101" pitchFamily="2" charset="-122"/>
                <a:ea typeface="等线" panose="02010600030101010101" pitchFamily="2" charset="-122"/>
                <a:cs typeface="微软雅黑" panose="020B0503020204020204" pitchFamily="34" charset="-122"/>
              </a:rPr>
              <a:t>…</a:t>
            </a:r>
            <a:r>
              <a:rPr lang="en-US" altLang="zh-CN" sz="2800" dirty="0">
                <a:solidFill>
                  <a:schemeClr val="hlink"/>
                </a:solidFill>
                <a:latin typeface="等线" panose="02010600030101010101" pitchFamily="2" charset="-122"/>
                <a:ea typeface="等线" panose="02010600030101010101" pitchFamily="2" charset="-122"/>
                <a:cs typeface="微软雅黑" panose="020B0503020204020204" pitchFamily="34" charset="-122"/>
              </a:rPr>
              <a:t> </a:t>
            </a:r>
            <a:r>
              <a:rPr lang="en-US" altLang="zh-CN" sz="2800" dirty="0">
                <a:solidFill>
                  <a:srgbClr val="FF0000"/>
                </a:solidFill>
                <a:latin typeface="等线" panose="02010600030101010101" pitchFamily="2" charset="-122"/>
                <a:ea typeface="等线" panose="02010600030101010101" pitchFamily="2" charset="-122"/>
                <a:cs typeface="微软雅黑" panose="020B0503020204020204" pitchFamily="34" charset="-122"/>
              </a:rPr>
              <a:t>.</a:t>
            </a:r>
            <a:r>
              <a:rPr lang="zh-CN" altLang="en-US" sz="2800" dirty="0">
                <a:solidFill>
                  <a:srgbClr val="0000CC"/>
                </a:solidFill>
                <a:latin typeface="等线" panose="02010600030101010101" pitchFamily="2" charset="-122"/>
                <a:ea typeface="等线" panose="02010600030101010101" pitchFamily="2" charset="-122"/>
                <a:cs typeface="微软雅黑" panose="020B0503020204020204" pitchFamily="34" charset="-122"/>
              </a:rPr>
              <a:t>三级域名</a:t>
            </a:r>
            <a:r>
              <a:rPr lang="en-US" altLang="zh-CN" sz="2800" dirty="0">
                <a:solidFill>
                  <a:srgbClr val="FF0000"/>
                </a:solidFill>
                <a:latin typeface="等线" panose="02010600030101010101" pitchFamily="2" charset="-122"/>
                <a:ea typeface="等线" panose="02010600030101010101" pitchFamily="2" charset="-122"/>
                <a:cs typeface="微软雅黑" panose="020B0503020204020204" pitchFamily="34" charset="-122"/>
              </a:rPr>
              <a:t>.</a:t>
            </a:r>
            <a:r>
              <a:rPr lang="zh-CN" altLang="en-US" sz="2800" dirty="0">
                <a:solidFill>
                  <a:srgbClr val="0000CC"/>
                </a:solidFill>
                <a:latin typeface="等线" panose="02010600030101010101" pitchFamily="2" charset="-122"/>
                <a:ea typeface="等线" panose="02010600030101010101" pitchFamily="2" charset="-122"/>
                <a:cs typeface="微软雅黑" panose="020B0503020204020204" pitchFamily="34" charset="-122"/>
              </a:rPr>
              <a:t>二级域名</a:t>
            </a:r>
            <a:r>
              <a:rPr lang="en-US" altLang="zh-CN" sz="2800" dirty="0">
                <a:solidFill>
                  <a:srgbClr val="FF0000"/>
                </a:solidFill>
                <a:latin typeface="等线" panose="02010600030101010101" pitchFamily="2" charset="-122"/>
                <a:ea typeface="等线" panose="02010600030101010101" pitchFamily="2" charset="-122"/>
                <a:cs typeface="微软雅黑" panose="020B0503020204020204" pitchFamily="34" charset="-122"/>
              </a:rPr>
              <a:t>.</a:t>
            </a:r>
            <a:r>
              <a:rPr lang="zh-CN" altLang="en-US" sz="2800" dirty="0">
                <a:solidFill>
                  <a:srgbClr val="0000CC"/>
                </a:solidFill>
                <a:latin typeface="等线" panose="02010600030101010101" pitchFamily="2" charset="-122"/>
                <a:ea typeface="等线" panose="02010600030101010101" pitchFamily="2" charset="-122"/>
                <a:cs typeface="微软雅黑" panose="020B0503020204020204" pitchFamily="34" charset="-122"/>
              </a:rPr>
              <a:t>顶级域名</a:t>
            </a:r>
          </a:p>
        </p:txBody>
      </p:sp>
    </p:spTree>
    <p:extLst>
      <p:ext uri="{BB962C8B-B14F-4D97-AF65-F5344CB8AC3E}">
        <p14:creationId xmlns:p14="http://schemas.microsoft.com/office/powerpoint/2010/main" val="1620218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Tx/>
              <a:buSzTx/>
            </a:pP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sym typeface="+mn-ea"/>
              </a:rPr>
              <a:t>国家</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或地区</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sym typeface="+mn-ea"/>
              </a:rPr>
              <a:t>顶级域TLD</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，也记为</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ccTLD</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 (</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cc</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 </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c</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ountry </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c</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ode)</a:t>
            </a: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lvl="1" algn="just"/>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例如.cn 表示中国，.us 表示美国，.uk 表示英国。目前有</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300多</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个</a:t>
            </a:r>
          </a:p>
          <a:p>
            <a:pPr algn="just">
              <a:lnSpc>
                <a:spcPct val="100000"/>
              </a:lnSpc>
              <a:buClrTx/>
              <a:buSzTx/>
            </a:pP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sym typeface="+mn-ea"/>
              </a:rPr>
              <a:t>基础设施域.arpa</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 (Address and Routing Parameter Area)</a:t>
            </a: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lvl="1" algn="just"/>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专用于Internet基础设施目的</a:t>
            </a: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lvl="1" algn="just"/>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目前有二级域ip6.arpa；iris.arpa；in-addr.arpa；uri.arpa；urn.arpa；home.arpa；as112.arpa；in-addr-servers.arpa；ipv4only.arpa等</a:t>
            </a:r>
          </a:p>
          <a:p>
            <a:pPr algn="just">
              <a:lnSpc>
                <a:spcPct val="100000"/>
              </a:lnSpc>
              <a:buClrTx/>
              <a:buSzTx/>
            </a:pP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sym typeface="+mn-ea"/>
              </a:rPr>
              <a:t>通用顶级域gTLD</a:t>
            </a: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lvl="1" algn="just"/>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早期规定了</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20个</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通用顶级域名，2011年批准</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新通用顶级域名</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(New Generic Top-level Domain，</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New </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sym typeface="+mn-ea"/>
              </a:rPr>
              <a:t>gTLD</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a:t>
            </a: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lvl="1" algn="just"/>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截至2020年，已注册有</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1200多个</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通用顶级域名</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latin typeface="等线" panose="02010600030101010101" pitchFamily="2" charset="-122"/>
                <a:ea typeface="等线" panose="02010600030101010101" pitchFamily="2" charset="-122"/>
                <a:sym typeface="+mn-ea"/>
              </a:rPr>
              <a:t>顶级域名TLD（Top Level Domain）一般有三类</a:t>
            </a:r>
            <a:endPar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endParaRPr>
          </a:p>
        </p:txBody>
      </p:sp>
    </p:spTree>
    <p:extLst>
      <p:ext uri="{BB962C8B-B14F-4D97-AF65-F5344CB8AC3E}">
        <p14:creationId xmlns:p14="http://schemas.microsoft.com/office/powerpoint/2010/main" val="1706357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.com 表示公司企业                    (</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com</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merce)</a:t>
            </a:r>
            <a:endParaRPr lang="zh-CN" altLang="en-US" sz="2800" dirty="0">
              <a:latin typeface="等线" panose="02010600030101010101" pitchFamily="2" charset="-122"/>
              <a:ea typeface="等线" panose="02010600030101010101" pitchFamily="2" charset="-122"/>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.net 表示网络服务机构 </a:t>
            </a:r>
            <a:r>
              <a:rPr lang="en-US" altLang="zh-CN" sz="2800" dirty="0">
                <a:latin typeface="等线" panose="02010600030101010101" pitchFamily="2" charset="-122"/>
                <a:ea typeface="等线" panose="02010600030101010101" pitchFamily="2" charset="-122"/>
                <a:cs typeface="微软雅黑" panose="020B0503020204020204" pitchFamily="34" charset="-122"/>
                <a:sym typeface="+mn-ea"/>
              </a:rPr>
              <a:t>	</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       (</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net</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work)</a:t>
            </a:r>
            <a:endParaRPr lang="zh-CN" altLang="en-US" sz="2800" dirty="0">
              <a:latin typeface="等线" panose="02010600030101010101" pitchFamily="2" charset="-122"/>
              <a:ea typeface="等线" panose="02010600030101010101" pitchFamily="2" charset="-122"/>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.org 表示非赢利性组织              (</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org</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anization)</a:t>
            </a:r>
            <a:endParaRPr lang="zh-CN" altLang="en-US" sz="2800" dirty="0">
              <a:latin typeface="等线" panose="02010600030101010101" pitchFamily="2" charset="-122"/>
              <a:ea typeface="等线" panose="02010600030101010101" pitchFamily="2" charset="-122"/>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.edu 表示教育机构(美国专用)    (</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edu</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cation)</a:t>
            </a:r>
            <a:endParaRPr lang="zh-CN" altLang="en-US" sz="2800" dirty="0">
              <a:latin typeface="等线" panose="02010600030101010101" pitchFamily="2" charset="-122"/>
              <a:ea typeface="等线" panose="02010600030101010101" pitchFamily="2" charset="-122"/>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.gov 表示政府部门(美国专用)    (</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gov</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ernment)</a:t>
            </a:r>
            <a:endParaRPr lang="zh-CN" altLang="en-US" sz="2800" dirty="0">
              <a:latin typeface="等线" panose="02010600030101010101" pitchFamily="2" charset="-122"/>
              <a:ea typeface="等线" panose="02010600030101010101" pitchFamily="2" charset="-122"/>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.mil 表示军事部门(美国专用)     (</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mil</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itary)</a:t>
            </a:r>
            <a:endParaRPr lang="zh-CN" altLang="en-US" sz="2800" dirty="0">
              <a:latin typeface="等线" panose="02010600030101010101" pitchFamily="2" charset="-122"/>
              <a:ea typeface="等线" panose="02010600030101010101" pitchFamily="2" charset="-122"/>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.int表示政府间国际合约建立的国际性组织 (</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int</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ernational)</a:t>
            </a:r>
            <a:endParaRPr lang="zh-CN" altLang="en-US" sz="2800" dirty="0">
              <a:latin typeface="等线" panose="02010600030101010101" pitchFamily="2" charset="-122"/>
              <a:ea typeface="等线" panose="02010600030101010101" pitchFamily="2" charset="-122"/>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.mobi 用于提供移动产品和服务的用户和供应商 </a:t>
            </a:r>
            <a:r>
              <a:rPr lang="en-US" altLang="zh-CN" sz="2800" dirty="0">
                <a:latin typeface="等线" panose="02010600030101010101" pitchFamily="2" charset="-122"/>
                <a:ea typeface="等线" panose="02010600030101010101" pitchFamily="2" charset="-122"/>
                <a:cs typeface="微软雅黑" panose="020B0503020204020204" pitchFamily="34" charset="-122"/>
                <a:sym typeface="+mn-ea"/>
              </a:rPr>
              <a:t>(</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mobi</a:t>
            </a:r>
            <a:r>
              <a:rPr lang="en-US" altLang="zh-CN" sz="2800" dirty="0">
                <a:latin typeface="等线" panose="02010600030101010101" pitchFamily="2" charset="-122"/>
                <a:ea typeface="等线" panose="02010600030101010101" pitchFamily="2" charset="-122"/>
                <a:cs typeface="微软雅黑" panose="020B0503020204020204" pitchFamily="34" charset="-122"/>
                <a:sym typeface="+mn-ea"/>
              </a:rPr>
              <a:t>le)</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latin typeface="等线" panose="02010600030101010101" pitchFamily="2" charset="-122"/>
                <a:ea typeface="等线" panose="02010600030101010101" pitchFamily="2" charset="-122"/>
                <a:sym typeface="+mn-ea"/>
              </a:rPr>
              <a:t>早期的通用顶级域名</a:t>
            </a:r>
            <a:endParaRPr kumimoji="1" lang="zh-CN" altLang="en-US" dirty="0">
              <a:solidFill>
                <a:schemeClr val="tx1"/>
              </a:solidFill>
              <a:latin typeface="等线" panose="02010600030101010101" pitchFamily="2" charset="-122"/>
              <a:ea typeface="等线" panose="02010600030101010101" pitchFamily="2" charset="-122"/>
              <a:cs typeface="微软雅黑" panose="020B0503020204020204" pitchFamily="34" charset="-122"/>
              <a:sym typeface="+mn-ea"/>
            </a:endParaRPr>
          </a:p>
        </p:txBody>
      </p:sp>
    </p:spTree>
    <p:extLst>
      <p:ext uri="{BB962C8B-B14F-4D97-AF65-F5344CB8AC3E}">
        <p14:creationId xmlns:p14="http://schemas.microsoft.com/office/powerpoint/2010/main" val="237710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1215" y="144907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保存关于</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域树</a:t>
            </a:r>
            <a:r>
              <a:rPr lang="en-US" altLang="zh-CN" sz="2800" dirty="0">
                <a:latin typeface="等线" panose="02010600030101010101" pitchFamily="2" charset="-122"/>
                <a:ea typeface="等线" panose="02010600030101010101" pitchFamily="2" charset="-122"/>
                <a:cs typeface="微软雅黑" panose="020B0503020204020204" pitchFamily="34" charset="-122"/>
                <a:sym typeface="+mn-ea"/>
              </a:rPr>
              <a:t>(domain tree)</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的结构和设置信息的服务器程序称为</a:t>
            </a:r>
            <a:r>
              <a:rPr kumimoji="1" lang="zh-CN" altLang="en-US" sz="2800" dirty="0">
                <a:solidFill>
                  <a:srgbClr val="C00000"/>
                </a:solidFill>
                <a:latin typeface="等线" panose="02010600030101010101" pitchFamily="2" charset="-122"/>
                <a:ea typeface="等线" panose="02010600030101010101" pitchFamily="2" charset="-122"/>
                <a:cs typeface="微软雅黑" panose="020B0503020204020204" pitchFamily="34" charset="-122"/>
                <a:sym typeface="+mn-ea"/>
              </a:rPr>
              <a:t>名字</a:t>
            </a:r>
            <a:r>
              <a:rPr kumimoji="1" lang="zh-CN" altLang="en-US" sz="2800" noProof="0" dirty="0">
                <a:ln>
                  <a:noFill/>
                </a:ln>
                <a:solidFill>
                  <a:srgbClr val="C00000"/>
                </a:solidFill>
                <a:effectLst/>
                <a:uLnTx/>
                <a:uFillTx/>
                <a:latin typeface="等线" panose="02010600030101010101" pitchFamily="2" charset="-122"/>
                <a:ea typeface="等线" panose="02010600030101010101" pitchFamily="2" charset="-122"/>
                <a:sym typeface="+mn-ea"/>
              </a:rPr>
              <a:t>服务器</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(name server)或</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域名服务器</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，负责域名解析工作</a:t>
            </a:r>
          </a:p>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每个域名服务器具有连向其它有关域名服务器的信息，当需要查询其它域的信息时，能够知道或使其它域名服务器知道到哪里去找别的域名服务器，使域名解析过程能够完成</a:t>
            </a:r>
          </a:p>
          <a:p>
            <a:pPr marL="360680" lvl="1" indent="-360680" algn="just">
              <a:lnSpc>
                <a:spcPct val="100000"/>
              </a:lnSpc>
              <a:spcBef>
                <a:spcPts val="600"/>
              </a:spcBef>
              <a:buClrTx/>
              <a:buSzTx/>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域名与IP地址可以是一对一、一对多或者多对一的关系</a:t>
            </a:r>
            <a:endParaRPr lang="zh-CN" altLang="en-US" sz="2800" dirty="0">
              <a:latin typeface="等线" panose="02010600030101010101" pitchFamily="2" charset="-122"/>
              <a:ea typeface="等线" panose="02010600030101010101" pitchFamily="2" charset="-122"/>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kumimoji="1" lang="zh-CN" altLang="en-US" sz="2800" noProof="0" dirty="0">
                <a:ln>
                  <a:noFill/>
                </a:ln>
                <a:solidFill>
                  <a:srgbClr val="C00000"/>
                </a:solidFill>
                <a:effectLst/>
                <a:uLnTx/>
                <a:uFillTx/>
                <a:latin typeface="等线" panose="02010600030101010101" pitchFamily="2" charset="-122"/>
                <a:ea typeface="等线" panose="02010600030101010101" pitchFamily="2" charset="-122"/>
                <a:sym typeface="+mn-ea"/>
              </a:rPr>
              <a:t>域名</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解析过程对用户透明</a:t>
            </a:r>
            <a:endParaRPr lang="zh-CN" altLang="en-US" sz="2800" dirty="0">
              <a:latin typeface="等线" panose="02010600030101010101" pitchFamily="2" charset="-122"/>
              <a:ea typeface="等线" panose="02010600030101010101" pitchFamily="2" charset="-122"/>
              <a:cs typeface="微软雅黑" panose="020B0503020204020204" pitchFamily="34" charset="-122"/>
              <a:sym typeface="+mn-ea"/>
            </a:endParaRPr>
          </a:p>
        </p:txBody>
      </p:sp>
      <p:grpSp>
        <p:nvGrpSpPr>
          <p:cNvPr id="17" name="组合 16"/>
          <p:cNvGrpSpPr/>
          <p:nvPr/>
        </p:nvGrpSpPr>
        <p:grpSpPr bwMode="auto">
          <a:xfrm>
            <a:off x="3158808" y="4820791"/>
            <a:ext cx="6524625" cy="631825"/>
            <a:chOff x="0" y="0"/>
            <a:chExt cx="4110" cy="398"/>
          </a:xfrm>
        </p:grpSpPr>
        <p:sp>
          <p:nvSpPr>
            <p:cNvPr id="18" name="文本框 20484"/>
            <p:cNvSpPr txBox="1">
              <a:spLocks noChangeArrowheads="1"/>
            </p:cNvSpPr>
            <p:nvPr/>
          </p:nvSpPr>
          <p:spPr bwMode="auto">
            <a:xfrm>
              <a:off x="0" y="19"/>
              <a:ext cx="5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dirty="0">
                  <a:solidFill>
                    <a:srgbClr val="003366"/>
                  </a:solidFill>
                  <a:latin typeface="等线" panose="02010600030101010101" pitchFamily="2" charset="-122"/>
                  <a:ea typeface="等线" panose="02010600030101010101" pitchFamily="2" charset="-122"/>
                </a:rPr>
                <a:t>域名</a:t>
              </a:r>
            </a:p>
          </p:txBody>
        </p:sp>
        <p:sp>
          <p:nvSpPr>
            <p:cNvPr id="19" name="文本框 20485"/>
            <p:cNvSpPr txBox="1">
              <a:spLocks noChangeArrowheads="1"/>
            </p:cNvSpPr>
            <p:nvPr/>
          </p:nvSpPr>
          <p:spPr bwMode="auto">
            <a:xfrm>
              <a:off x="3344" y="0"/>
              <a:ext cx="76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dirty="0">
                  <a:solidFill>
                    <a:srgbClr val="003366"/>
                  </a:solidFill>
                  <a:latin typeface="等线" panose="02010600030101010101" pitchFamily="2" charset="-122"/>
                  <a:ea typeface="等线" panose="02010600030101010101" pitchFamily="2" charset="-122"/>
                  <a:cs typeface="微软雅黑" panose="020B0503020204020204" pitchFamily="34" charset="-122"/>
                </a:rPr>
                <a:t>IP</a:t>
              </a:r>
              <a:r>
                <a:rPr lang="zh-CN" altLang="en-US" sz="2800" dirty="0">
                  <a:solidFill>
                    <a:srgbClr val="003366"/>
                  </a:solidFill>
                  <a:latin typeface="等线" panose="02010600030101010101" pitchFamily="2" charset="-122"/>
                  <a:ea typeface="等线" panose="02010600030101010101" pitchFamily="2" charset="-122"/>
                  <a:cs typeface="微软雅黑" panose="020B0503020204020204" pitchFamily="34" charset="-122"/>
                </a:rPr>
                <a:t>地址</a:t>
              </a:r>
            </a:p>
          </p:txBody>
        </p:sp>
        <p:sp>
          <p:nvSpPr>
            <p:cNvPr id="20" name="矩形 20486"/>
            <p:cNvSpPr>
              <a:spLocks noChangeArrowheads="1"/>
            </p:cNvSpPr>
            <p:nvPr/>
          </p:nvSpPr>
          <p:spPr bwMode="auto">
            <a:xfrm>
              <a:off x="1244" y="14"/>
              <a:ext cx="1364" cy="384"/>
            </a:xfrm>
            <a:prstGeom prst="rect">
              <a:avLst/>
            </a:prstGeom>
            <a:solidFill>
              <a:srgbClr val="CCECFF"/>
            </a:solidFill>
            <a:ln w="9525">
              <a:solidFill>
                <a:schemeClr val="tx1"/>
              </a:solidFill>
              <a:miter lim="800000"/>
            </a:ln>
            <a:effectLst>
              <a:outerShdw dist="35921" dir="2700000" algn="ctr" rotWithShape="0">
                <a:schemeClr val="bg2"/>
              </a:outerShdw>
            </a:effectLst>
          </p:spPr>
          <p:txBody>
            <a:bodyPr wrap="none" anchor="ctr"/>
            <a:lstStyle/>
            <a:p>
              <a:pPr algn="ctr" eaLnBrk="0" hangingPunct="0"/>
              <a:r>
                <a:rPr lang="zh-CN" altLang="en-US" sz="2800" dirty="0">
                  <a:solidFill>
                    <a:srgbClr val="003366"/>
                  </a:solidFill>
                  <a:latin typeface="等线" panose="02010600030101010101" pitchFamily="2" charset="-122"/>
                  <a:ea typeface="等线" panose="02010600030101010101" pitchFamily="2" charset="-122"/>
                </a:rPr>
                <a:t>域名解析</a:t>
              </a:r>
            </a:p>
          </p:txBody>
        </p:sp>
        <p:sp>
          <p:nvSpPr>
            <p:cNvPr id="21" name="右箭头 20487"/>
            <p:cNvSpPr>
              <a:spLocks noChangeArrowheads="1"/>
            </p:cNvSpPr>
            <p:nvPr/>
          </p:nvSpPr>
          <p:spPr bwMode="auto">
            <a:xfrm>
              <a:off x="540" y="79"/>
              <a:ext cx="723" cy="208"/>
            </a:xfrm>
            <a:prstGeom prst="rightArrow">
              <a:avLst>
                <a:gd name="adj1" fmla="val 50000"/>
                <a:gd name="adj2" fmla="val 86835"/>
              </a:avLst>
            </a:prstGeom>
            <a:solidFill>
              <a:schemeClr val="hlink"/>
            </a:solidFill>
            <a:ln w="9525">
              <a:solidFill>
                <a:schemeClr val="tx1"/>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22" name="右箭头 20488"/>
            <p:cNvSpPr>
              <a:spLocks noChangeArrowheads="1"/>
            </p:cNvSpPr>
            <p:nvPr/>
          </p:nvSpPr>
          <p:spPr bwMode="auto">
            <a:xfrm>
              <a:off x="2610" y="79"/>
              <a:ext cx="721" cy="208"/>
            </a:xfrm>
            <a:prstGeom prst="rightArrow">
              <a:avLst>
                <a:gd name="adj1" fmla="val 50000"/>
                <a:gd name="adj2" fmla="val 86594"/>
              </a:avLst>
            </a:prstGeom>
            <a:solidFill>
              <a:schemeClr val="hlink"/>
            </a:solidFill>
            <a:ln w="9525">
              <a:solidFill>
                <a:schemeClr val="tx1"/>
              </a:solidFill>
              <a:miter lim="800000"/>
            </a:ln>
          </p:spPr>
          <p:txBody>
            <a:bodyPr/>
            <a:lstStyle/>
            <a:p>
              <a:endParaRPr lang="zh-CN" altLang="en-US" dirty="0">
                <a:latin typeface="等线" panose="02010600030101010101" pitchFamily="2" charset="-122"/>
                <a:ea typeface="等线" panose="02010600030101010101" pitchFamily="2" charset="-122"/>
              </a:endParaRPr>
            </a:p>
          </p:txBody>
        </p:sp>
      </p:grpSp>
      <p:grpSp>
        <p:nvGrpSpPr>
          <p:cNvPr id="23" name="组合 22"/>
          <p:cNvGrpSpPr/>
          <p:nvPr/>
        </p:nvGrpSpPr>
        <p:grpSpPr bwMode="auto">
          <a:xfrm>
            <a:off x="2859041" y="5621236"/>
            <a:ext cx="6567488" cy="609600"/>
            <a:chOff x="0" y="0"/>
            <a:chExt cx="4137" cy="384"/>
          </a:xfrm>
        </p:grpSpPr>
        <p:sp>
          <p:nvSpPr>
            <p:cNvPr id="24" name="文本框 20490"/>
            <p:cNvSpPr txBox="1">
              <a:spLocks noChangeArrowheads="1"/>
            </p:cNvSpPr>
            <p:nvPr/>
          </p:nvSpPr>
          <p:spPr bwMode="auto">
            <a:xfrm>
              <a:off x="0" y="48"/>
              <a:ext cx="76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dirty="0">
                  <a:solidFill>
                    <a:srgbClr val="003366"/>
                  </a:solidFill>
                  <a:latin typeface="等线" panose="02010600030101010101" pitchFamily="2" charset="-122"/>
                  <a:ea typeface="等线" panose="02010600030101010101" pitchFamily="2" charset="-122"/>
                  <a:cs typeface="微软雅黑" panose="020B0503020204020204" pitchFamily="34" charset="-122"/>
                </a:rPr>
                <a:t>IP</a:t>
              </a:r>
              <a:r>
                <a:rPr lang="zh-CN" altLang="en-US" sz="2800" dirty="0">
                  <a:solidFill>
                    <a:srgbClr val="003366"/>
                  </a:solidFill>
                  <a:latin typeface="等线" panose="02010600030101010101" pitchFamily="2" charset="-122"/>
                  <a:ea typeface="等线" panose="02010600030101010101" pitchFamily="2" charset="-122"/>
                  <a:cs typeface="微软雅黑" panose="020B0503020204020204" pitchFamily="34" charset="-122"/>
                </a:rPr>
                <a:t>地址</a:t>
              </a:r>
            </a:p>
          </p:txBody>
        </p:sp>
        <p:sp>
          <p:nvSpPr>
            <p:cNvPr id="25" name="文本框 20491"/>
            <p:cNvSpPr txBox="1">
              <a:spLocks noChangeArrowheads="1"/>
            </p:cNvSpPr>
            <p:nvPr/>
          </p:nvSpPr>
          <p:spPr bwMode="auto">
            <a:xfrm>
              <a:off x="3568" y="31"/>
              <a:ext cx="5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dirty="0">
                  <a:solidFill>
                    <a:srgbClr val="003366"/>
                  </a:solidFill>
                  <a:latin typeface="等线" panose="02010600030101010101" pitchFamily="2" charset="-122"/>
                  <a:ea typeface="等线" panose="02010600030101010101" pitchFamily="2" charset="-122"/>
                </a:rPr>
                <a:t>域名</a:t>
              </a:r>
            </a:p>
          </p:txBody>
        </p:sp>
        <p:sp>
          <p:nvSpPr>
            <p:cNvPr id="26" name="矩形 20492"/>
            <p:cNvSpPr>
              <a:spLocks noChangeArrowheads="1"/>
            </p:cNvSpPr>
            <p:nvPr/>
          </p:nvSpPr>
          <p:spPr bwMode="auto">
            <a:xfrm>
              <a:off x="1467" y="0"/>
              <a:ext cx="1364" cy="384"/>
            </a:xfrm>
            <a:prstGeom prst="rect">
              <a:avLst/>
            </a:prstGeom>
            <a:solidFill>
              <a:srgbClr val="FFFF99"/>
            </a:solidFill>
            <a:ln w="9525">
              <a:solidFill>
                <a:schemeClr val="tx1"/>
              </a:solidFill>
              <a:miter lim="800000"/>
            </a:ln>
            <a:effectLst>
              <a:outerShdw dist="35921" dir="2700000" algn="ctr" rotWithShape="0">
                <a:schemeClr val="bg2"/>
              </a:outerShdw>
            </a:effectLst>
          </p:spPr>
          <p:txBody>
            <a:bodyPr wrap="none" anchor="ctr"/>
            <a:lstStyle/>
            <a:p>
              <a:pPr algn="ctr" eaLnBrk="0" hangingPunct="0"/>
              <a:r>
                <a:rPr lang="zh-CN" altLang="en-US" sz="2800" dirty="0">
                  <a:solidFill>
                    <a:srgbClr val="003366"/>
                  </a:solidFill>
                  <a:latin typeface="等线" panose="02010600030101010101" pitchFamily="2" charset="-122"/>
                  <a:ea typeface="等线" panose="02010600030101010101" pitchFamily="2" charset="-122"/>
                </a:rPr>
                <a:t>域名反解析</a:t>
              </a:r>
            </a:p>
          </p:txBody>
        </p:sp>
        <p:sp>
          <p:nvSpPr>
            <p:cNvPr id="27" name="右箭头 20493"/>
            <p:cNvSpPr>
              <a:spLocks noChangeArrowheads="1"/>
            </p:cNvSpPr>
            <p:nvPr/>
          </p:nvSpPr>
          <p:spPr bwMode="auto">
            <a:xfrm>
              <a:off x="755" y="113"/>
              <a:ext cx="722" cy="208"/>
            </a:xfrm>
            <a:prstGeom prst="rightArrow">
              <a:avLst>
                <a:gd name="adj1" fmla="val 50000"/>
                <a:gd name="adj2" fmla="val 86715"/>
              </a:avLst>
            </a:prstGeom>
            <a:solidFill>
              <a:schemeClr val="hlink"/>
            </a:solidFill>
            <a:ln w="9525">
              <a:solidFill>
                <a:schemeClr val="tx1"/>
              </a:solidFill>
              <a:miter lim="800000"/>
            </a:ln>
          </p:spPr>
          <p:txBody>
            <a:bodyPr/>
            <a:lstStyle/>
            <a:p>
              <a:endParaRPr lang="zh-CN" altLang="en-US" dirty="0">
                <a:latin typeface="等线" panose="02010600030101010101" pitchFamily="2" charset="-122"/>
                <a:ea typeface="等线" panose="02010600030101010101" pitchFamily="2" charset="-122"/>
              </a:endParaRPr>
            </a:p>
          </p:txBody>
        </p:sp>
        <p:sp>
          <p:nvSpPr>
            <p:cNvPr id="28" name="右箭头 20494"/>
            <p:cNvSpPr>
              <a:spLocks noChangeArrowheads="1"/>
            </p:cNvSpPr>
            <p:nvPr/>
          </p:nvSpPr>
          <p:spPr bwMode="auto">
            <a:xfrm>
              <a:off x="2833" y="113"/>
              <a:ext cx="722" cy="208"/>
            </a:xfrm>
            <a:prstGeom prst="rightArrow">
              <a:avLst>
                <a:gd name="adj1" fmla="val 50000"/>
                <a:gd name="adj2" fmla="val 86715"/>
              </a:avLst>
            </a:prstGeom>
            <a:solidFill>
              <a:schemeClr val="hlink"/>
            </a:solidFill>
            <a:ln w="9525">
              <a:solidFill>
                <a:schemeClr val="tx1"/>
              </a:solidFill>
              <a:miter lim="800000"/>
            </a:ln>
          </p:spPr>
          <p:txBody>
            <a:bodyPr/>
            <a:lstStyle/>
            <a:p>
              <a:endParaRPr lang="zh-CN" altLang="en-US" dirty="0">
                <a:latin typeface="等线" panose="02010600030101010101" pitchFamily="2" charset="-122"/>
                <a:ea typeface="等线" panose="02010600030101010101" pitchFamily="2" charset="-122"/>
              </a:endParaRPr>
            </a:p>
          </p:txBody>
        </p:sp>
      </p:grpSp>
    </p:spTree>
    <p:extLst>
      <p:ext uri="{BB962C8B-B14F-4D97-AF65-F5344CB8AC3E}">
        <p14:creationId xmlns:p14="http://schemas.microsoft.com/office/powerpoint/2010/main" val="384398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1215" y="1950720"/>
            <a:ext cx="1117600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10000"/>
              </a:lnSpc>
              <a:buClrTx/>
              <a:buSzTx/>
              <a:buFont typeface="Wingdings" panose="05000000000000000000" pitchFamily="2" charset="2"/>
              <a:buChar char="Ø"/>
            </a:pP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Internet</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上域名服务器系统</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sym typeface="+mn-ea"/>
              </a:rPr>
              <a:t>按域名层次</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树状</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sym typeface="+mn-ea"/>
              </a:rPr>
              <a:t>安排</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sym typeface="+mn-ea"/>
              </a:rPr>
              <a:t>，</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每个域名服务器管辖一部分域</a:t>
            </a:r>
          </a:p>
          <a:p>
            <a:pPr marL="285750" indent="-285750" algn="just">
              <a:lnSpc>
                <a:spcPct val="110000"/>
              </a:lnSpc>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一个域名服务器所负责或管辖（有权限的）范围称为</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管辖区</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zone</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 </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a:t>
            </a:r>
            <a:r>
              <a:rPr kumimoji="1" lang="en-US" altLang="zh-CN" noProof="0" dirty="0" err="1">
                <a:ln>
                  <a:noFill/>
                </a:ln>
                <a:effectLst/>
                <a:uLnTx/>
                <a:uFillTx/>
                <a:latin typeface="等线" panose="02010600030101010101" pitchFamily="2" charset="-122"/>
                <a:ea typeface="等线" panose="02010600030101010101" pitchFamily="2" charset="-122"/>
                <a:cs typeface="微软雅黑" panose="020B0503020204020204" pitchFamily="34" charset="-122"/>
                <a:sym typeface="+mn-ea"/>
              </a:rPr>
              <a:t>简称为</a:t>
            </a:r>
            <a:r>
              <a:rPr kumimoji="1" lang="en-US" altLang="zh-CN" dirty="0" err="1">
                <a:solidFill>
                  <a:srgbClr val="C00000"/>
                </a:solidFill>
                <a:latin typeface="等线" panose="02010600030101010101" pitchFamily="2" charset="-122"/>
                <a:ea typeface="等线" panose="02010600030101010101" pitchFamily="2" charset="-122"/>
                <a:cs typeface="微软雅黑" panose="020B0503020204020204" pitchFamily="34" charset="-122"/>
                <a:sym typeface="+mn-ea"/>
              </a:rPr>
              <a:t>区</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 </a:t>
            </a:r>
            <a:endPar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10000"/>
              </a:lnSpc>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各单位根据具体情况来划分自己管辖区，在一个区中的所有节点必须是能够连通的</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285750" indent="-285750" algn="just">
              <a:lnSpc>
                <a:spcPct val="110000"/>
              </a:lnSpc>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域名服务器的</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管辖范围以“区”为单位</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，而不是以“域”为单位</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10000"/>
              </a:lnSpc>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管辖区是域名“域”的子集，</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管辖区可以小于或等于域，但不可能大于域</a:t>
            </a:r>
            <a:endParaRPr lang="zh-CN" altLang="en-US" sz="2800"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dirty="0">
                <a:latin typeface="等线" panose="02010600030101010101" pitchFamily="2" charset="-122"/>
                <a:ea typeface="等线" panose="02010600030101010101" pitchFamily="2" charset="-122"/>
                <a:sym typeface="+mn-ea"/>
              </a:rPr>
              <a:t>域名系统的区域</a:t>
            </a:r>
            <a:endParaRPr lang="zh-CN" altLang="en-US"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3715374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6" name="内容占位符 2"/>
          <p:cNvSpPr>
            <a:spLocks noGrp="1"/>
          </p:cNvSpPr>
          <p:nvPr/>
        </p:nvSpPr>
        <p:spPr>
          <a:xfrm>
            <a:off x="838200" y="1351915"/>
            <a:ext cx="10748554"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a:lnSpc>
                <a:spcPct val="130000"/>
              </a:lnSpc>
              <a:buClrTx/>
              <a:buSzTx/>
              <a:buNone/>
            </a:pPr>
            <a:r>
              <a:rPr lang="zh-CN" dirty="0">
                <a:latin typeface="等线" panose="02010600030101010101" pitchFamily="2" charset="-122"/>
                <a:ea typeface="等线" panose="02010600030101010101" pitchFamily="2" charset="-122"/>
                <a:sym typeface="+mn-ea"/>
              </a:rPr>
              <a:t>管辖区的不同划分方法</a:t>
            </a:r>
            <a:endParaRPr lang="zh-CN" dirty="0">
              <a:solidFill>
                <a:schemeClr val="tx1"/>
              </a:solidFill>
              <a:latin typeface="等线" panose="02010600030101010101" pitchFamily="2" charset="-122"/>
              <a:ea typeface="等线" panose="02010600030101010101" pitchFamily="2" charset="-122"/>
              <a:sym typeface="+mn-ea"/>
            </a:endParaRPr>
          </a:p>
        </p:txBody>
      </p:sp>
      <p:grpSp>
        <p:nvGrpSpPr>
          <p:cNvPr id="3" name="组合 2"/>
          <p:cNvGrpSpPr/>
          <p:nvPr/>
        </p:nvGrpSpPr>
        <p:grpSpPr>
          <a:xfrm>
            <a:off x="1657034" y="1647897"/>
            <a:ext cx="9381494" cy="4854576"/>
            <a:chOff x="1466362" y="1859099"/>
            <a:chExt cx="9381494" cy="4854576"/>
          </a:xfrm>
        </p:grpSpPr>
        <p:sp>
          <p:nvSpPr>
            <p:cNvPr id="12" name="直接连接符 19459"/>
            <p:cNvSpPr>
              <a:spLocks noChangeShapeType="1"/>
            </p:cNvSpPr>
            <p:nvPr/>
          </p:nvSpPr>
          <p:spPr bwMode="auto">
            <a:xfrm>
              <a:off x="3721563" y="3135449"/>
              <a:ext cx="9525" cy="8001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文本框 19460"/>
            <p:cNvSpPr txBox="1">
              <a:spLocks noChangeArrowheads="1"/>
            </p:cNvSpPr>
            <p:nvPr/>
          </p:nvSpPr>
          <p:spPr bwMode="auto">
            <a:xfrm>
              <a:off x="1643525" y="3522799"/>
              <a:ext cx="16898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solidFill>
                    <a:srgbClr val="002060"/>
                  </a:solidFill>
                  <a:latin typeface="等线" panose="02010600030101010101" pitchFamily="2" charset="-122"/>
                  <a:ea typeface="等线" panose="02010600030101010101" pitchFamily="2" charset="-122"/>
                  <a:cs typeface="微软雅黑" panose="020B0503020204020204" pitchFamily="34" charset="-122"/>
                </a:rPr>
                <a:t>域 </a:t>
              </a:r>
              <a:r>
                <a:rPr lang="en-US" altLang="zh-CN" sz="2400" dirty="0">
                  <a:solidFill>
                    <a:srgbClr val="002060"/>
                  </a:solidFill>
                  <a:latin typeface="等线" panose="02010600030101010101" pitchFamily="2" charset="-122"/>
                  <a:ea typeface="等线" panose="02010600030101010101" pitchFamily="2" charset="-122"/>
                  <a:cs typeface="微软雅黑" panose="020B0503020204020204" pitchFamily="34" charset="-122"/>
                </a:rPr>
                <a:t>abc.com</a:t>
              </a:r>
            </a:p>
          </p:txBody>
        </p:sp>
        <p:sp>
          <p:nvSpPr>
            <p:cNvPr id="14" name="任意多边形 19461"/>
            <p:cNvSpPr>
              <a:spLocks noChangeArrowheads="1"/>
            </p:cNvSpPr>
            <p:nvPr/>
          </p:nvSpPr>
          <p:spPr bwMode="auto">
            <a:xfrm>
              <a:off x="1945150" y="3713299"/>
              <a:ext cx="3433763" cy="2295525"/>
            </a:xfrm>
            <a:custGeom>
              <a:avLst/>
              <a:gdLst>
                <a:gd name="T0" fmla="*/ 1097 w 1917"/>
                <a:gd name="T1" fmla="*/ 32 h 1143"/>
                <a:gd name="T2" fmla="*/ 882 w 1917"/>
                <a:gd name="T3" fmla="*/ 43 h 1143"/>
                <a:gd name="T4" fmla="*/ 603 w 1917"/>
                <a:gd name="T5" fmla="*/ 287 h 1143"/>
                <a:gd name="T6" fmla="*/ 120 w 1917"/>
                <a:gd name="T7" fmla="*/ 830 h 1143"/>
                <a:gd name="T8" fmla="*/ 13 w 1917"/>
                <a:gd name="T9" fmla="*/ 1050 h 1143"/>
                <a:gd name="T10" fmla="*/ 195 w 1917"/>
                <a:gd name="T11" fmla="*/ 1126 h 1143"/>
                <a:gd name="T12" fmla="*/ 612 w 1917"/>
                <a:gd name="T13" fmla="*/ 1128 h 1143"/>
                <a:gd name="T14" fmla="*/ 1121 w 1917"/>
                <a:gd name="T15" fmla="*/ 1136 h 1143"/>
                <a:gd name="T16" fmla="*/ 1451 w 1917"/>
                <a:gd name="T17" fmla="*/ 1139 h 1143"/>
                <a:gd name="T18" fmla="*/ 1811 w 1917"/>
                <a:gd name="T19" fmla="*/ 1109 h 1143"/>
                <a:gd name="T20" fmla="*/ 1907 w 1917"/>
                <a:gd name="T21" fmla="*/ 1001 h 1143"/>
                <a:gd name="T22" fmla="*/ 1751 w 1917"/>
                <a:gd name="T23" fmla="*/ 743 h 1143"/>
                <a:gd name="T24" fmla="*/ 1571 w 1917"/>
                <a:gd name="T25" fmla="*/ 521 h 1143"/>
                <a:gd name="T26" fmla="*/ 1427 w 1917"/>
                <a:gd name="T27" fmla="*/ 353 h 1143"/>
                <a:gd name="T28" fmla="*/ 1277 w 1917"/>
                <a:gd name="T29" fmla="*/ 191 h 1143"/>
                <a:gd name="T30" fmla="*/ 1097 w 1917"/>
                <a:gd name="T31" fmla="*/ 32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15" name="圆角矩形 19462"/>
            <p:cNvSpPr>
              <a:spLocks noChangeArrowheads="1"/>
            </p:cNvSpPr>
            <p:nvPr/>
          </p:nvSpPr>
          <p:spPr bwMode="auto">
            <a:xfrm>
              <a:off x="1521288" y="3591062"/>
              <a:ext cx="4227512" cy="2641600"/>
            </a:xfrm>
            <a:prstGeom prst="roundRect">
              <a:avLst>
                <a:gd name="adj" fmla="val 9319"/>
              </a:avLst>
            </a:prstGeom>
            <a:noFill/>
            <a:ln w="28575">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16" name="文本框 19463"/>
            <p:cNvSpPr txBox="1">
              <a:spLocks noChangeArrowheads="1"/>
            </p:cNvSpPr>
            <p:nvPr/>
          </p:nvSpPr>
          <p:spPr bwMode="auto">
            <a:xfrm>
              <a:off x="1466362" y="4280880"/>
              <a:ext cx="1847214" cy="36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70000"/>
                </a:lnSpc>
              </a:pPr>
              <a:r>
                <a:rPr lang="zh-CN" altLang="en-US"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 区abc.com</a:t>
              </a:r>
            </a:p>
          </p:txBody>
        </p:sp>
        <p:sp>
          <p:nvSpPr>
            <p:cNvPr id="17" name="任意多边形 19464"/>
            <p:cNvSpPr>
              <a:spLocks noChangeArrowheads="1"/>
            </p:cNvSpPr>
            <p:nvPr/>
          </p:nvSpPr>
          <p:spPr bwMode="auto">
            <a:xfrm>
              <a:off x="2145175" y="4646749"/>
              <a:ext cx="131763" cy="582613"/>
            </a:xfrm>
            <a:custGeom>
              <a:avLst/>
              <a:gdLst>
                <a:gd name="T0" fmla="*/ 0 w 172"/>
                <a:gd name="T1" fmla="*/ 0 h 244"/>
                <a:gd name="T2" fmla="*/ 172 w 172"/>
                <a:gd name="T3" fmla="*/ 244 h 244"/>
              </a:gdLst>
              <a:ahLst/>
              <a:cxnLst>
                <a:cxn ang="0">
                  <a:pos x="T0" y="T1"/>
                </a:cxn>
                <a:cxn ang="0">
                  <a:pos x="T2" y="T3"/>
                </a:cxn>
              </a:cxnLst>
              <a:rect l="0" t="0" r="r" b="b"/>
              <a:pathLst>
                <a:path w="172" h="244">
                  <a:moveTo>
                    <a:pt x="0" y="0"/>
                  </a:moveTo>
                  <a:lnTo>
                    <a:pt x="172" y="244"/>
                  </a:lnTo>
                </a:path>
              </a:pathLst>
            </a:custGeom>
            <a:noFill/>
            <a:ln w="9525">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18" name="直接连接符 19465"/>
            <p:cNvSpPr>
              <a:spLocks noChangeShapeType="1"/>
            </p:cNvSpPr>
            <p:nvPr/>
          </p:nvSpPr>
          <p:spPr bwMode="auto">
            <a:xfrm flipH="1">
              <a:off x="3275475" y="4105412"/>
              <a:ext cx="360363" cy="66198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直接连接符 19466"/>
            <p:cNvSpPr>
              <a:spLocks noChangeShapeType="1"/>
            </p:cNvSpPr>
            <p:nvPr/>
          </p:nvSpPr>
          <p:spPr bwMode="auto">
            <a:xfrm>
              <a:off x="3835863" y="4135574"/>
              <a:ext cx="471487" cy="61753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直接连接符 19467"/>
            <p:cNvSpPr>
              <a:spLocks noChangeShapeType="1"/>
            </p:cNvSpPr>
            <p:nvPr/>
          </p:nvSpPr>
          <p:spPr bwMode="auto">
            <a:xfrm>
              <a:off x="4388313" y="4876937"/>
              <a:ext cx="504825" cy="79216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直接连接符 19468"/>
            <p:cNvSpPr>
              <a:spLocks noChangeShapeType="1"/>
            </p:cNvSpPr>
            <p:nvPr/>
          </p:nvSpPr>
          <p:spPr bwMode="auto">
            <a:xfrm>
              <a:off x="3299288" y="4895987"/>
              <a:ext cx="615950" cy="70485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直接连接符 19469"/>
            <p:cNvSpPr>
              <a:spLocks noChangeShapeType="1"/>
            </p:cNvSpPr>
            <p:nvPr/>
          </p:nvSpPr>
          <p:spPr bwMode="auto">
            <a:xfrm flipH="1">
              <a:off x="3192925" y="4907099"/>
              <a:ext cx="17463" cy="60325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直接连接符 19470"/>
            <p:cNvSpPr>
              <a:spLocks noChangeShapeType="1"/>
            </p:cNvSpPr>
            <p:nvPr/>
          </p:nvSpPr>
          <p:spPr bwMode="auto">
            <a:xfrm flipH="1">
              <a:off x="2440450" y="4826137"/>
              <a:ext cx="747713" cy="77470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椭圆 19471"/>
            <p:cNvSpPr>
              <a:spLocks noChangeArrowheads="1"/>
            </p:cNvSpPr>
            <p:nvPr/>
          </p:nvSpPr>
          <p:spPr bwMode="auto">
            <a:xfrm>
              <a:off x="3383425" y="3879987"/>
              <a:ext cx="649288" cy="384175"/>
            </a:xfrm>
            <a:prstGeom prst="ellipse">
              <a:avLst/>
            </a:prstGeom>
            <a:solidFill>
              <a:schemeClr val="bg1"/>
            </a:solidFill>
            <a:ln w="9525">
              <a:solidFill>
                <a:schemeClr val="tx1"/>
              </a:solidFill>
              <a:round/>
            </a:ln>
          </p:spPr>
          <p:txBody>
            <a:bodyPr wrap="none" anchor="ctr"/>
            <a:lstStyle/>
            <a:p>
              <a:pPr algn="ctr"/>
              <a:r>
                <a:rPr lang="en-US" altLang="zh-CN" sz="2400" dirty="0" err="1">
                  <a:solidFill>
                    <a:schemeClr val="folHlink"/>
                  </a:solidFill>
                  <a:latin typeface="等线" panose="02010600030101010101" pitchFamily="2" charset="-122"/>
                  <a:ea typeface="等线" panose="02010600030101010101" pitchFamily="2" charset="-122"/>
                  <a:cs typeface="Times New Roman" panose="02020603050405020304" charset="0"/>
                </a:rPr>
                <a:t>abc</a:t>
              </a:r>
              <a:endPar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endParaRPr>
            </a:p>
          </p:txBody>
        </p:sp>
        <p:sp>
          <p:nvSpPr>
            <p:cNvPr id="25" name="椭圆 19472"/>
            <p:cNvSpPr>
              <a:spLocks noChangeArrowheads="1"/>
            </p:cNvSpPr>
            <p:nvPr/>
          </p:nvSpPr>
          <p:spPr bwMode="auto">
            <a:xfrm>
              <a:off x="2942100" y="4672149"/>
              <a:ext cx="569913" cy="306388"/>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x</a:t>
              </a:r>
            </a:p>
          </p:txBody>
        </p:sp>
        <p:sp>
          <p:nvSpPr>
            <p:cNvPr id="26" name="椭圆 19473"/>
            <p:cNvSpPr>
              <a:spLocks noChangeArrowheads="1"/>
            </p:cNvSpPr>
            <p:nvPr/>
          </p:nvSpPr>
          <p:spPr bwMode="auto">
            <a:xfrm>
              <a:off x="2130888" y="5515112"/>
              <a:ext cx="569912" cy="307975"/>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u</a:t>
              </a:r>
            </a:p>
          </p:txBody>
        </p:sp>
        <p:sp>
          <p:nvSpPr>
            <p:cNvPr id="27" name="椭圆 19474"/>
            <p:cNvSpPr>
              <a:spLocks noChangeArrowheads="1"/>
            </p:cNvSpPr>
            <p:nvPr/>
          </p:nvSpPr>
          <p:spPr bwMode="auto">
            <a:xfrm>
              <a:off x="2888125" y="5515112"/>
              <a:ext cx="569913" cy="307975"/>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v</a:t>
              </a:r>
            </a:p>
          </p:txBody>
        </p:sp>
        <p:sp>
          <p:nvSpPr>
            <p:cNvPr id="28" name="椭圆 19475"/>
            <p:cNvSpPr>
              <a:spLocks noChangeArrowheads="1"/>
            </p:cNvSpPr>
            <p:nvPr/>
          </p:nvSpPr>
          <p:spPr bwMode="auto">
            <a:xfrm>
              <a:off x="3646950" y="5515112"/>
              <a:ext cx="569913" cy="307975"/>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w</a:t>
              </a:r>
            </a:p>
          </p:txBody>
        </p:sp>
        <p:sp>
          <p:nvSpPr>
            <p:cNvPr id="29" name="椭圆 19476"/>
            <p:cNvSpPr>
              <a:spLocks noChangeArrowheads="1"/>
            </p:cNvSpPr>
            <p:nvPr/>
          </p:nvSpPr>
          <p:spPr bwMode="auto">
            <a:xfrm>
              <a:off x="4567700" y="5515112"/>
              <a:ext cx="569913" cy="307975"/>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t</a:t>
              </a:r>
            </a:p>
          </p:txBody>
        </p:sp>
        <p:sp>
          <p:nvSpPr>
            <p:cNvPr id="30" name="椭圆 19477"/>
            <p:cNvSpPr>
              <a:spLocks noChangeArrowheads="1"/>
            </p:cNvSpPr>
            <p:nvPr/>
          </p:nvSpPr>
          <p:spPr bwMode="auto">
            <a:xfrm>
              <a:off x="4080338" y="4672149"/>
              <a:ext cx="569912" cy="306388"/>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y</a:t>
              </a:r>
            </a:p>
          </p:txBody>
        </p:sp>
        <p:sp>
          <p:nvSpPr>
            <p:cNvPr id="31" name="文本框 30"/>
            <p:cNvSpPr txBox="1">
              <a:spLocks noChangeArrowheads="1"/>
            </p:cNvSpPr>
            <p:nvPr/>
          </p:nvSpPr>
          <p:spPr bwMode="auto">
            <a:xfrm>
              <a:off x="2796050" y="6251712"/>
              <a:ext cx="15937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(a) </a:t>
              </a:r>
              <a:r>
                <a:rPr lang="zh-CN" altLang="en-US"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区 </a:t>
              </a:r>
              <a:r>
                <a:rPr lang="en-US" altLang="zh-CN"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 </a:t>
              </a:r>
              <a:r>
                <a:rPr lang="zh-CN" altLang="en-US"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域</a:t>
              </a:r>
            </a:p>
          </p:txBody>
        </p:sp>
        <p:grpSp>
          <p:nvGrpSpPr>
            <p:cNvPr id="32" name="组合 31"/>
            <p:cNvGrpSpPr/>
            <p:nvPr/>
          </p:nvGrpSpPr>
          <p:grpSpPr bwMode="auto">
            <a:xfrm>
              <a:off x="6010738" y="1859099"/>
              <a:ext cx="4837118" cy="4854576"/>
              <a:chOff x="-62" y="0"/>
              <a:chExt cx="3047" cy="3058"/>
            </a:xfrm>
          </p:grpSpPr>
          <p:grpSp>
            <p:nvGrpSpPr>
              <p:cNvPr id="33" name="组合 19480"/>
              <p:cNvGrpSpPr/>
              <p:nvPr/>
            </p:nvGrpSpPr>
            <p:grpSpPr bwMode="auto">
              <a:xfrm>
                <a:off x="1225" y="821"/>
                <a:ext cx="256" cy="98"/>
                <a:chOff x="0" y="0"/>
                <a:chExt cx="227" cy="77"/>
              </a:xfrm>
            </p:grpSpPr>
            <p:sp>
              <p:nvSpPr>
                <p:cNvPr id="74" name="直接连接符 19481"/>
                <p:cNvSpPr>
                  <a:spLocks noChangeShapeType="1"/>
                </p:cNvSpPr>
                <p:nvPr/>
              </p:nvSpPr>
              <p:spPr bwMode="auto">
                <a:xfrm>
                  <a:off x="128" y="0"/>
                  <a:ext cx="99" cy="7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 name="直接连接符 19482"/>
                <p:cNvSpPr>
                  <a:spLocks noChangeShapeType="1"/>
                </p:cNvSpPr>
                <p:nvPr/>
              </p:nvSpPr>
              <p:spPr bwMode="auto">
                <a:xfrm flipH="1">
                  <a:off x="0" y="0"/>
                  <a:ext cx="99" cy="7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 name="文本框 19483"/>
              <p:cNvSpPr txBox="1">
                <a:spLocks noChangeArrowheads="1"/>
              </p:cNvSpPr>
              <p:nvPr/>
            </p:nvSpPr>
            <p:spPr bwMode="auto">
              <a:xfrm>
                <a:off x="771" y="2767"/>
                <a:ext cx="101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(b) </a:t>
                </a:r>
                <a:r>
                  <a:rPr lang="zh-CN" altLang="en-US"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区 </a:t>
                </a:r>
                <a:r>
                  <a:rPr lang="en-US" altLang="zh-CN"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&lt; </a:t>
                </a:r>
                <a:r>
                  <a:rPr lang="zh-CN" altLang="en-US"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域</a:t>
                </a:r>
              </a:p>
            </p:txBody>
          </p:sp>
          <p:sp>
            <p:nvSpPr>
              <p:cNvPr id="35" name="直接连接符 19484"/>
              <p:cNvSpPr>
                <a:spLocks noChangeShapeType="1"/>
              </p:cNvSpPr>
              <p:nvPr/>
            </p:nvSpPr>
            <p:spPr bwMode="auto">
              <a:xfrm>
                <a:off x="1357" y="814"/>
                <a:ext cx="5" cy="505"/>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 name="文本框 19485"/>
              <p:cNvSpPr txBox="1">
                <a:spLocks noChangeArrowheads="1"/>
              </p:cNvSpPr>
              <p:nvPr/>
            </p:nvSpPr>
            <p:spPr bwMode="auto">
              <a:xfrm>
                <a:off x="90" y="1048"/>
                <a:ext cx="10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solidFill>
                      <a:srgbClr val="002060"/>
                    </a:solidFill>
                    <a:latin typeface="等线" panose="02010600030101010101" pitchFamily="2" charset="-122"/>
                    <a:ea typeface="等线" panose="02010600030101010101" pitchFamily="2" charset="-122"/>
                    <a:cs typeface="微软雅黑" panose="020B0503020204020204" pitchFamily="34" charset="-122"/>
                  </a:rPr>
                  <a:t>域 </a:t>
                </a:r>
                <a:r>
                  <a:rPr lang="en-US" altLang="zh-CN" sz="2400" dirty="0">
                    <a:solidFill>
                      <a:srgbClr val="002060"/>
                    </a:solidFill>
                    <a:latin typeface="等线" panose="02010600030101010101" pitchFamily="2" charset="-122"/>
                    <a:ea typeface="等线" panose="02010600030101010101" pitchFamily="2" charset="-122"/>
                    <a:cs typeface="微软雅黑" panose="020B0503020204020204" pitchFamily="34" charset="-122"/>
                  </a:rPr>
                  <a:t>abc.com</a:t>
                </a:r>
              </a:p>
            </p:txBody>
          </p:sp>
          <p:sp>
            <p:nvSpPr>
              <p:cNvPr id="37" name="任意多边形 19486"/>
              <p:cNvSpPr>
                <a:spLocks noChangeArrowheads="1"/>
              </p:cNvSpPr>
              <p:nvPr/>
            </p:nvSpPr>
            <p:spPr bwMode="auto">
              <a:xfrm>
                <a:off x="1487" y="1632"/>
                <a:ext cx="849" cy="958"/>
              </a:xfrm>
              <a:custGeom>
                <a:avLst/>
                <a:gdLst>
                  <a:gd name="T0" fmla="*/ 305 w 753"/>
                  <a:gd name="T1" fmla="*/ 30 h 900"/>
                  <a:gd name="T2" fmla="*/ 73 w 753"/>
                  <a:gd name="T3" fmla="*/ 62 h 900"/>
                  <a:gd name="T4" fmla="*/ 1 w 753"/>
                  <a:gd name="T5" fmla="*/ 238 h 900"/>
                  <a:gd name="T6" fmla="*/ 81 w 753"/>
                  <a:gd name="T7" fmla="*/ 366 h 900"/>
                  <a:gd name="T8" fmla="*/ 231 w 753"/>
                  <a:gd name="T9" fmla="*/ 586 h 900"/>
                  <a:gd name="T10" fmla="*/ 363 w 753"/>
                  <a:gd name="T11" fmla="*/ 820 h 900"/>
                  <a:gd name="T12" fmla="*/ 537 w 753"/>
                  <a:gd name="T13" fmla="*/ 894 h 900"/>
                  <a:gd name="T14" fmla="*/ 689 w 753"/>
                  <a:gd name="T15" fmla="*/ 854 h 900"/>
                  <a:gd name="T16" fmla="*/ 753 w 753"/>
                  <a:gd name="T17" fmla="*/ 766 h 900"/>
                  <a:gd name="T18" fmla="*/ 687 w 753"/>
                  <a:gd name="T19" fmla="*/ 580 h 900"/>
                  <a:gd name="T20" fmla="*/ 601 w 753"/>
                  <a:gd name="T21" fmla="*/ 430 h 900"/>
                  <a:gd name="T22" fmla="*/ 483 w 753"/>
                  <a:gd name="T23" fmla="*/ 244 h 900"/>
                  <a:gd name="T24" fmla="*/ 305 w 753"/>
                  <a:gd name="T25" fmla="*/ 30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38" name="任意多边形 19487"/>
              <p:cNvSpPr>
                <a:spLocks noChangeArrowheads="1"/>
              </p:cNvSpPr>
              <p:nvPr/>
            </p:nvSpPr>
            <p:spPr bwMode="auto">
              <a:xfrm>
                <a:off x="244" y="1173"/>
                <a:ext cx="1535" cy="1436"/>
              </a:xfrm>
              <a:custGeom>
                <a:avLst/>
                <a:gdLst>
                  <a:gd name="T0" fmla="*/ 1200 w 1360"/>
                  <a:gd name="T1" fmla="*/ 58 h 1349"/>
                  <a:gd name="T2" fmla="*/ 882 w 1360"/>
                  <a:gd name="T3" fmla="*/ 46 h 1349"/>
                  <a:gd name="T4" fmla="*/ 603 w 1360"/>
                  <a:gd name="T5" fmla="*/ 336 h 1349"/>
                  <a:gd name="T6" fmla="*/ 120 w 1360"/>
                  <a:gd name="T7" fmla="*/ 982 h 1349"/>
                  <a:gd name="T8" fmla="*/ 13 w 1360"/>
                  <a:gd name="T9" fmla="*/ 1243 h 1349"/>
                  <a:gd name="T10" fmla="*/ 195 w 1360"/>
                  <a:gd name="T11" fmla="*/ 1334 h 1349"/>
                  <a:gd name="T12" fmla="*/ 612 w 1360"/>
                  <a:gd name="T13" fmla="*/ 1336 h 1349"/>
                  <a:gd name="T14" fmla="*/ 1152 w 1360"/>
                  <a:gd name="T15" fmla="*/ 1330 h 1349"/>
                  <a:gd name="T16" fmla="*/ 1338 w 1360"/>
                  <a:gd name="T17" fmla="*/ 1234 h 1349"/>
                  <a:gd name="T18" fmla="*/ 1283 w 1360"/>
                  <a:gd name="T19" fmla="*/ 1062 h 1349"/>
                  <a:gd name="T20" fmla="*/ 1050 w 1360"/>
                  <a:gd name="T21" fmla="*/ 772 h 1349"/>
                  <a:gd name="T22" fmla="*/ 1011 w 1360"/>
                  <a:gd name="T23" fmla="*/ 608 h 1349"/>
                  <a:gd name="T24" fmla="*/ 1146 w 1360"/>
                  <a:gd name="T25" fmla="*/ 382 h 1349"/>
                  <a:gd name="T26" fmla="*/ 1266 w 1360"/>
                  <a:gd name="T27" fmla="*/ 262 h 1349"/>
                  <a:gd name="T28" fmla="*/ 1284 w 1360"/>
                  <a:gd name="T29" fmla="*/ 166 h 1349"/>
                  <a:gd name="T30" fmla="*/ 1200 w 1360"/>
                  <a:gd name="T31" fmla="*/ 58 h 1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39" name="圆角矩形 19488"/>
              <p:cNvSpPr>
                <a:spLocks noChangeArrowheads="1"/>
              </p:cNvSpPr>
              <p:nvPr/>
            </p:nvSpPr>
            <p:spPr bwMode="auto">
              <a:xfrm>
                <a:off x="0" y="1091"/>
                <a:ext cx="2665" cy="1664"/>
              </a:xfrm>
              <a:prstGeom prst="roundRect">
                <a:avLst>
                  <a:gd name="adj" fmla="val 9319"/>
                </a:avLst>
              </a:prstGeom>
              <a:noFill/>
              <a:ln w="28575">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40" name="文本框 19489"/>
              <p:cNvSpPr txBox="1">
                <a:spLocks noChangeArrowheads="1"/>
              </p:cNvSpPr>
              <p:nvPr/>
            </p:nvSpPr>
            <p:spPr bwMode="auto">
              <a:xfrm>
                <a:off x="-62" y="1546"/>
                <a:ext cx="1064"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70000"/>
                  </a:lnSpc>
                </a:pPr>
                <a:r>
                  <a:rPr lang="zh-CN" altLang="en-US"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 区abc.com</a:t>
                </a:r>
              </a:p>
            </p:txBody>
          </p:sp>
          <p:sp>
            <p:nvSpPr>
              <p:cNvPr id="41" name="文本框 19490"/>
              <p:cNvSpPr txBox="1">
                <a:spLocks noChangeArrowheads="1"/>
              </p:cNvSpPr>
              <p:nvPr/>
            </p:nvSpPr>
            <p:spPr bwMode="auto">
              <a:xfrm>
                <a:off x="1713" y="1362"/>
                <a:ext cx="127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75000"/>
                  </a:lnSpc>
                </a:pPr>
                <a:r>
                  <a:rPr lang="zh-CN" altLang="en-US"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区</a:t>
                </a:r>
                <a:r>
                  <a:rPr lang="en-US" altLang="zh-CN" sz="24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y.abc.com</a:t>
                </a:r>
              </a:p>
            </p:txBody>
          </p:sp>
          <p:sp>
            <p:nvSpPr>
              <p:cNvPr id="42" name="直接连接符 19491"/>
              <p:cNvSpPr>
                <a:spLocks noChangeShapeType="1"/>
              </p:cNvSpPr>
              <p:nvPr/>
            </p:nvSpPr>
            <p:spPr bwMode="auto">
              <a:xfrm>
                <a:off x="411" y="1782"/>
                <a:ext cx="156" cy="227"/>
              </a:xfrm>
              <a:prstGeom prst="line">
                <a:avLst/>
              </a:prstGeom>
              <a:noFill/>
              <a:ln w="9525">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3" name="直接连接符 19492"/>
              <p:cNvSpPr>
                <a:spLocks noChangeShapeType="1"/>
              </p:cNvSpPr>
              <p:nvPr/>
            </p:nvSpPr>
            <p:spPr bwMode="auto">
              <a:xfrm rot="10800000" flipV="1">
                <a:off x="2132" y="1607"/>
                <a:ext cx="124" cy="426"/>
              </a:xfrm>
              <a:prstGeom prst="line">
                <a:avLst/>
              </a:prstGeom>
              <a:noFill/>
              <a:ln w="9525">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4" name="直接连接符 19493"/>
              <p:cNvSpPr>
                <a:spLocks noChangeShapeType="1"/>
              </p:cNvSpPr>
              <p:nvPr/>
            </p:nvSpPr>
            <p:spPr bwMode="auto">
              <a:xfrm flipH="1">
                <a:off x="1083" y="1415"/>
                <a:ext cx="226" cy="41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直接连接符 19494"/>
              <p:cNvSpPr>
                <a:spLocks noChangeShapeType="1"/>
              </p:cNvSpPr>
              <p:nvPr/>
            </p:nvSpPr>
            <p:spPr bwMode="auto">
              <a:xfrm>
                <a:off x="1436" y="1434"/>
                <a:ext cx="297" cy="38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直接连接符 19495"/>
              <p:cNvSpPr>
                <a:spLocks noChangeShapeType="1"/>
              </p:cNvSpPr>
              <p:nvPr/>
            </p:nvSpPr>
            <p:spPr bwMode="auto">
              <a:xfrm>
                <a:off x="1783" y="1901"/>
                <a:ext cx="319" cy="49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直接连接符 19496"/>
              <p:cNvSpPr>
                <a:spLocks noChangeShapeType="1"/>
              </p:cNvSpPr>
              <p:nvPr/>
            </p:nvSpPr>
            <p:spPr bwMode="auto">
              <a:xfrm>
                <a:off x="1097" y="1913"/>
                <a:ext cx="388" cy="444"/>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直接连接符 19497"/>
              <p:cNvSpPr>
                <a:spLocks noChangeShapeType="1"/>
              </p:cNvSpPr>
              <p:nvPr/>
            </p:nvSpPr>
            <p:spPr bwMode="auto">
              <a:xfrm flipH="1">
                <a:off x="1031" y="1920"/>
                <a:ext cx="11" cy="38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直接连接符 19498"/>
              <p:cNvSpPr>
                <a:spLocks noChangeShapeType="1"/>
              </p:cNvSpPr>
              <p:nvPr/>
            </p:nvSpPr>
            <p:spPr bwMode="auto">
              <a:xfrm flipH="1">
                <a:off x="557" y="1869"/>
                <a:ext cx="470" cy="48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椭圆 19499"/>
              <p:cNvSpPr>
                <a:spLocks noChangeArrowheads="1"/>
              </p:cNvSpPr>
              <p:nvPr/>
            </p:nvSpPr>
            <p:spPr bwMode="auto">
              <a:xfrm>
                <a:off x="1150" y="1273"/>
                <a:ext cx="410" cy="242"/>
              </a:xfrm>
              <a:prstGeom prst="ellipse">
                <a:avLst/>
              </a:prstGeom>
              <a:solidFill>
                <a:schemeClr val="bg1"/>
              </a:solidFill>
              <a:ln w="9525">
                <a:solidFill>
                  <a:schemeClr val="tx1"/>
                </a:solidFill>
                <a:round/>
              </a:ln>
            </p:spPr>
            <p:txBody>
              <a:bodyPr wrap="none" anchor="ctr"/>
              <a:lstStyle/>
              <a:p>
                <a:pPr algn="ctr"/>
                <a:r>
                  <a:rPr lang="en-US" altLang="zh-CN" sz="2400" dirty="0" err="1">
                    <a:solidFill>
                      <a:schemeClr val="folHlink"/>
                    </a:solidFill>
                    <a:latin typeface="等线" panose="02010600030101010101" pitchFamily="2" charset="-122"/>
                    <a:ea typeface="等线" panose="02010600030101010101" pitchFamily="2" charset="-122"/>
                    <a:cs typeface="Times New Roman" panose="02020603050405020304" charset="0"/>
                  </a:rPr>
                  <a:t>abc</a:t>
                </a:r>
                <a:endPar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endParaRPr>
              </a:p>
            </p:txBody>
          </p:sp>
          <p:sp>
            <p:nvSpPr>
              <p:cNvPr id="51" name="椭圆 19500"/>
              <p:cNvSpPr>
                <a:spLocks noChangeArrowheads="1"/>
              </p:cNvSpPr>
              <p:nvPr/>
            </p:nvSpPr>
            <p:spPr bwMode="auto">
              <a:xfrm>
                <a:off x="873" y="1772"/>
                <a:ext cx="359" cy="193"/>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x</a:t>
                </a:r>
              </a:p>
            </p:txBody>
          </p:sp>
          <p:sp>
            <p:nvSpPr>
              <p:cNvPr id="52" name="椭圆 19501"/>
              <p:cNvSpPr>
                <a:spLocks noChangeArrowheads="1"/>
              </p:cNvSpPr>
              <p:nvPr/>
            </p:nvSpPr>
            <p:spPr bwMode="auto">
              <a:xfrm>
                <a:off x="361" y="2303"/>
                <a:ext cx="359" cy="194"/>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u</a:t>
                </a:r>
              </a:p>
            </p:txBody>
          </p:sp>
          <p:sp>
            <p:nvSpPr>
              <p:cNvPr id="53" name="椭圆 19502"/>
              <p:cNvSpPr>
                <a:spLocks noChangeArrowheads="1"/>
              </p:cNvSpPr>
              <p:nvPr/>
            </p:nvSpPr>
            <p:spPr bwMode="auto">
              <a:xfrm>
                <a:off x="839" y="2303"/>
                <a:ext cx="359" cy="194"/>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v</a:t>
                </a:r>
              </a:p>
            </p:txBody>
          </p:sp>
          <p:sp>
            <p:nvSpPr>
              <p:cNvPr id="54" name="椭圆 19503"/>
              <p:cNvSpPr>
                <a:spLocks noChangeArrowheads="1"/>
              </p:cNvSpPr>
              <p:nvPr/>
            </p:nvSpPr>
            <p:spPr bwMode="auto">
              <a:xfrm>
                <a:off x="1316" y="2303"/>
                <a:ext cx="359" cy="194"/>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w</a:t>
                </a:r>
              </a:p>
            </p:txBody>
          </p:sp>
          <p:sp>
            <p:nvSpPr>
              <p:cNvPr id="55" name="椭圆 19504"/>
              <p:cNvSpPr>
                <a:spLocks noChangeArrowheads="1"/>
              </p:cNvSpPr>
              <p:nvPr/>
            </p:nvSpPr>
            <p:spPr bwMode="auto">
              <a:xfrm>
                <a:off x="1896" y="2303"/>
                <a:ext cx="359" cy="194"/>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t</a:t>
                </a:r>
              </a:p>
            </p:txBody>
          </p:sp>
          <p:sp>
            <p:nvSpPr>
              <p:cNvPr id="56" name="椭圆 19505"/>
              <p:cNvSpPr>
                <a:spLocks noChangeArrowheads="1"/>
              </p:cNvSpPr>
              <p:nvPr/>
            </p:nvSpPr>
            <p:spPr bwMode="auto">
              <a:xfrm>
                <a:off x="1589" y="1772"/>
                <a:ext cx="359" cy="193"/>
              </a:xfrm>
              <a:prstGeom prst="ellipse">
                <a:avLst/>
              </a:prstGeom>
              <a:solidFill>
                <a:schemeClr val="bg1"/>
              </a:solidFill>
              <a:ln w="9525">
                <a:solidFill>
                  <a:schemeClr val="tx1"/>
                </a:solidFill>
                <a:round/>
              </a:ln>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y</a:t>
                </a:r>
              </a:p>
            </p:txBody>
          </p:sp>
          <p:sp>
            <p:nvSpPr>
              <p:cNvPr id="57" name="圆角矩形 19506"/>
              <p:cNvSpPr>
                <a:spLocks noChangeArrowheads="1"/>
              </p:cNvSpPr>
              <p:nvPr/>
            </p:nvSpPr>
            <p:spPr bwMode="auto">
              <a:xfrm>
                <a:off x="1092" y="523"/>
                <a:ext cx="522" cy="303"/>
              </a:xfrm>
              <a:prstGeom prst="roundRect">
                <a:avLst>
                  <a:gd name="adj" fmla="val 34167"/>
                </a:avLst>
              </a:prstGeom>
              <a:solidFill>
                <a:srgbClr val="CCEC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com</a:t>
                </a:r>
              </a:p>
            </p:txBody>
          </p:sp>
          <p:sp>
            <p:nvSpPr>
              <p:cNvPr id="58" name="圆角矩形 19507"/>
              <p:cNvSpPr>
                <a:spLocks noChangeArrowheads="1"/>
              </p:cNvSpPr>
              <p:nvPr/>
            </p:nvSpPr>
            <p:spPr bwMode="auto">
              <a:xfrm>
                <a:off x="1938" y="516"/>
                <a:ext cx="522" cy="304"/>
              </a:xfrm>
              <a:prstGeom prst="roundRect">
                <a:avLst>
                  <a:gd name="adj" fmla="val 34167"/>
                </a:avLst>
              </a:pr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dirty="0" err="1">
                    <a:solidFill>
                      <a:schemeClr val="folHlink"/>
                    </a:solidFill>
                    <a:latin typeface="等线" panose="02010600030101010101" pitchFamily="2" charset="-122"/>
                    <a:ea typeface="等线" panose="02010600030101010101" pitchFamily="2" charset="-122"/>
                    <a:cs typeface="Times New Roman" panose="02020603050405020304" charset="0"/>
                  </a:rPr>
                  <a:t>edu</a:t>
                </a:r>
                <a:endPar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endParaRPr>
              </a:p>
            </p:txBody>
          </p:sp>
          <p:sp>
            <p:nvSpPr>
              <p:cNvPr id="59" name="圆角矩形 19508"/>
              <p:cNvSpPr>
                <a:spLocks noChangeArrowheads="1"/>
              </p:cNvSpPr>
              <p:nvPr/>
            </p:nvSpPr>
            <p:spPr bwMode="auto">
              <a:xfrm>
                <a:off x="249" y="516"/>
                <a:ext cx="522" cy="304"/>
              </a:xfrm>
              <a:prstGeom prst="roundRect">
                <a:avLst>
                  <a:gd name="adj" fmla="val 34167"/>
                </a:avLst>
              </a:prstGeom>
              <a:solidFill>
                <a:srgbClr val="FFFF99"/>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org</a:t>
                </a:r>
              </a:p>
            </p:txBody>
          </p:sp>
          <p:grpSp>
            <p:nvGrpSpPr>
              <p:cNvPr id="60" name="组合 19509"/>
              <p:cNvGrpSpPr/>
              <p:nvPr/>
            </p:nvGrpSpPr>
            <p:grpSpPr bwMode="auto">
              <a:xfrm>
                <a:off x="2071" y="821"/>
                <a:ext cx="256" cy="98"/>
                <a:chOff x="0" y="0"/>
                <a:chExt cx="330" cy="132"/>
              </a:xfrm>
            </p:grpSpPr>
            <p:sp>
              <p:nvSpPr>
                <p:cNvPr id="70" name="直接连接符 19510"/>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 name="直接连接符 19511"/>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 name="直接连接符 19512"/>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 name="直接连接符 19513"/>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1" name="组合 19514"/>
              <p:cNvGrpSpPr/>
              <p:nvPr/>
            </p:nvGrpSpPr>
            <p:grpSpPr bwMode="auto">
              <a:xfrm>
                <a:off x="382" y="821"/>
                <a:ext cx="256" cy="98"/>
                <a:chOff x="0" y="0"/>
                <a:chExt cx="330" cy="132"/>
              </a:xfrm>
            </p:grpSpPr>
            <p:sp>
              <p:nvSpPr>
                <p:cNvPr id="66" name="直接连接符 19515"/>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直接连接符 19516"/>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直接连接符 19517"/>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直接连接符 19518"/>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2" name="圆角矩形 19519"/>
              <p:cNvSpPr>
                <a:spLocks noChangeArrowheads="1"/>
              </p:cNvSpPr>
              <p:nvPr/>
            </p:nvSpPr>
            <p:spPr bwMode="auto">
              <a:xfrm>
                <a:off x="1078" y="0"/>
                <a:ext cx="523" cy="304"/>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zh-CN" altLang="en-US" sz="2400" dirty="0">
                    <a:solidFill>
                      <a:schemeClr val="folHlink"/>
                    </a:solidFill>
                    <a:latin typeface="等线" panose="02010600030101010101" pitchFamily="2" charset="-122"/>
                    <a:ea typeface="等线" panose="02010600030101010101" pitchFamily="2" charset="-122"/>
                  </a:rPr>
                  <a:t>根</a:t>
                </a:r>
              </a:p>
            </p:txBody>
          </p:sp>
          <p:sp>
            <p:nvSpPr>
              <p:cNvPr id="63" name="直接连接符 19520"/>
              <p:cNvSpPr>
                <a:spLocks noChangeShapeType="1"/>
              </p:cNvSpPr>
              <p:nvPr/>
            </p:nvSpPr>
            <p:spPr bwMode="auto">
              <a:xfrm>
                <a:off x="1404" y="301"/>
                <a:ext cx="792" cy="213"/>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 name="直接连接符 19521"/>
              <p:cNvSpPr>
                <a:spLocks noChangeShapeType="1"/>
              </p:cNvSpPr>
              <p:nvPr/>
            </p:nvSpPr>
            <p:spPr bwMode="auto">
              <a:xfrm flipV="1">
                <a:off x="510" y="301"/>
                <a:ext cx="779" cy="213"/>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 name="直接连接符 19522"/>
              <p:cNvSpPr>
                <a:spLocks noChangeShapeType="1"/>
              </p:cNvSpPr>
              <p:nvPr/>
            </p:nvSpPr>
            <p:spPr bwMode="auto">
              <a:xfrm>
                <a:off x="1350" y="301"/>
                <a:ext cx="0" cy="213"/>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6" name="圆角矩形 19523"/>
            <p:cNvSpPr>
              <a:spLocks noChangeArrowheads="1"/>
            </p:cNvSpPr>
            <p:nvPr/>
          </p:nvSpPr>
          <p:spPr bwMode="auto">
            <a:xfrm>
              <a:off x="3307225" y="2689362"/>
              <a:ext cx="830263" cy="481012"/>
            </a:xfrm>
            <a:prstGeom prst="roundRect">
              <a:avLst>
                <a:gd name="adj" fmla="val 34167"/>
              </a:avLst>
            </a:prstGeom>
            <a:solidFill>
              <a:srgbClr val="CCEC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com</a:t>
              </a:r>
            </a:p>
          </p:txBody>
        </p:sp>
        <p:sp>
          <p:nvSpPr>
            <p:cNvPr id="77" name="圆角矩形 19524"/>
            <p:cNvSpPr>
              <a:spLocks noChangeArrowheads="1"/>
            </p:cNvSpPr>
            <p:nvPr/>
          </p:nvSpPr>
          <p:spPr bwMode="auto">
            <a:xfrm>
              <a:off x="4651838" y="2678249"/>
              <a:ext cx="828675" cy="482600"/>
            </a:xfrm>
            <a:prstGeom prst="roundRect">
              <a:avLst>
                <a:gd name="adj" fmla="val 34167"/>
              </a:avLst>
            </a:pr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dirty="0" err="1">
                  <a:solidFill>
                    <a:schemeClr val="folHlink"/>
                  </a:solidFill>
                  <a:latin typeface="等线" panose="02010600030101010101" pitchFamily="2" charset="-122"/>
                  <a:ea typeface="等线" panose="02010600030101010101" pitchFamily="2" charset="-122"/>
                  <a:cs typeface="Times New Roman" panose="02020603050405020304" charset="0"/>
                </a:rPr>
                <a:t>edu</a:t>
              </a:r>
              <a:endPar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endParaRPr>
            </a:p>
          </p:txBody>
        </p:sp>
        <p:sp>
          <p:nvSpPr>
            <p:cNvPr id="78" name="圆角矩形 19525"/>
            <p:cNvSpPr>
              <a:spLocks noChangeArrowheads="1"/>
            </p:cNvSpPr>
            <p:nvPr/>
          </p:nvSpPr>
          <p:spPr bwMode="auto">
            <a:xfrm>
              <a:off x="1968963" y="2678249"/>
              <a:ext cx="830262" cy="482600"/>
            </a:xfrm>
            <a:prstGeom prst="roundRect">
              <a:avLst>
                <a:gd name="adj" fmla="val 34167"/>
              </a:avLst>
            </a:prstGeom>
            <a:solidFill>
              <a:srgbClr val="FFFF99"/>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dirty="0">
                  <a:solidFill>
                    <a:schemeClr val="folHlink"/>
                  </a:solidFill>
                  <a:latin typeface="等线" panose="02010600030101010101" pitchFamily="2" charset="-122"/>
                  <a:ea typeface="等线" panose="02010600030101010101" pitchFamily="2" charset="-122"/>
                  <a:cs typeface="Times New Roman" panose="02020603050405020304" charset="0"/>
                </a:rPr>
                <a:t>org</a:t>
              </a:r>
            </a:p>
          </p:txBody>
        </p:sp>
        <p:grpSp>
          <p:nvGrpSpPr>
            <p:cNvPr id="79" name="组合 19526"/>
            <p:cNvGrpSpPr/>
            <p:nvPr/>
          </p:nvGrpSpPr>
          <p:grpSpPr bwMode="auto">
            <a:xfrm>
              <a:off x="4862975" y="3162437"/>
              <a:ext cx="406400" cy="155575"/>
              <a:chOff x="0" y="0"/>
              <a:chExt cx="330" cy="132"/>
            </a:xfrm>
          </p:grpSpPr>
          <p:sp>
            <p:nvSpPr>
              <p:cNvPr id="80" name="直接连接符 19527"/>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 name="直接连接符 19528"/>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 name="直接连接符 19529"/>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 name="直接连接符 19530"/>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4" name="组合 19531"/>
            <p:cNvGrpSpPr/>
            <p:nvPr/>
          </p:nvGrpSpPr>
          <p:grpSpPr bwMode="auto">
            <a:xfrm>
              <a:off x="2181688" y="3162437"/>
              <a:ext cx="406400" cy="155575"/>
              <a:chOff x="0" y="0"/>
              <a:chExt cx="330" cy="132"/>
            </a:xfrm>
          </p:grpSpPr>
          <p:sp>
            <p:nvSpPr>
              <p:cNvPr id="85" name="直接连接符 19532"/>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直接连接符 19533"/>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 name="直接连接符 19534"/>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 name="直接连接符 19535"/>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9" name="圆角矩形 19536"/>
            <p:cNvSpPr>
              <a:spLocks noChangeArrowheads="1"/>
            </p:cNvSpPr>
            <p:nvPr/>
          </p:nvSpPr>
          <p:spPr bwMode="auto">
            <a:xfrm>
              <a:off x="3286588" y="1859099"/>
              <a:ext cx="828675" cy="482600"/>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zh-CN" altLang="en-US" sz="2400" dirty="0">
                  <a:solidFill>
                    <a:schemeClr val="folHlink"/>
                  </a:solidFill>
                  <a:latin typeface="等线" panose="02010600030101010101" pitchFamily="2" charset="-122"/>
                  <a:ea typeface="等线" panose="02010600030101010101" pitchFamily="2" charset="-122"/>
                </a:rPr>
                <a:t>根</a:t>
              </a:r>
            </a:p>
          </p:txBody>
        </p:sp>
        <p:sp>
          <p:nvSpPr>
            <p:cNvPr id="90" name="直接连接符 19537"/>
            <p:cNvSpPr>
              <a:spLocks noChangeShapeType="1"/>
            </p:cNvSpPr>
            <p:nvPr/>
          </p:nvSpPr>
          <p:spPr bwMode="auto">
            <a:xfrm>
              <a:off x="3804113" y="2336937"/>
              <a:ext cx="1257300" cy="33813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 name="直接连接符 19538"/>
            <p:cNvSpPr>
              <a:spLocks noChangeShapeType="1"/>
            </p:cNvSpPr>
            <p:nvPr/>
          </p:nvSpPr>
          <p:spPr bwMode="auto">
            <a:xfrm flipV="1">
              <a:off x="2384888" y="2336937"/>
              <a:ext cx="1236662" cy="33813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 name="直接连接符 19539"/>
            <p:cNvSpPr>
              <a:spLocks noChangeShapeType="1"/>
            </p:cNvSpPr>
            <p:nvPr/>
          </p:nvSpPr>
          <p:spPr bwMode="auto">
            <a:xfrm>
              <a:off x="3718388" y="2336937"/>
              <a:ext cx="0" cy="33813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3" name="组合 19540"/>
            <p:cNvGrpSpPr/>
            <p:nvPr/>
          </p:nvGrpSpPr>
          <p:grpSpPr bwMode="auto">
            <a:xfrm>
              <a:off x="3513600" y="3162437"/>
              <a:ext cx="406400" cy="155575"/>
              <a:chOff x="0" y="0"/>
              <a:chExt cx="227" cy="77"/>
            </a:xfrm>
          </p:grpSpPr>
          <p:sp>
            <p:nvSpPr>
              <p:cNvPr id="94" name="直接连接符 19541"/>
              <p:cNvSpPr>
                <a:spLocks noChangeShapeType="1"/>
              </p:cNvSpPr>
              <p:nvPr/>
            </p:nvSpPr>
            <p:spPr bwMode="auto">
              <a:xfrm>
                <a:off x="128" y="0"/>
                <a:ext cx="99" cy="7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直接连接符 19542"/>
              <p:cNvSpPr>
                <a:spLocks noChangeShapeType="1"/>
              </p:cNvSpPr>
              <p:nvPr/>
            </p:nvSpPr>
            <p:spPr bwMode="auto">
              <a:xfrm flipH="1">
                <a:off x="0" y="0"/>
                <a:ext cx="99" cy="7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7" name="页脚占位符 6"/>
          <p:cNvSpPr>
            <a:spLocks noGrp="1"/>
          </p:cNvSpPr>
          <p:nvPr>
            <p:ph type="ftr" sz="quarter" idx="11"/>
          </p:nvPr>
        </p:nvSpPr>
        <p:spPr/>
        <p:txBody>
          <a:bodyPr/>
          <a:lstStyle/>
          <a:p>
            <a:r>
              <a:rPr kumimoji="1" lang="zh-CN" altLang="en-US" dirty="0">
                <a:latin typeface="等线" panose="02010600030101010101" pitchFamily="2" charset="-122"/>
                <a:ea typeface="等线" panose="02010600030101010101" pitchFamily="2" charset="-122"/>
              </a:rPr>
              <a:t>引自：计算机网络，谢希仁</a:t>
            </a:r>
          </a:p>
        </p:txBody>
      </p:sp>
    </p:spTree>
    <p:extLst>
      <p:ext uri="{BB962C8B-B14F-4D97-AF65-F5344CB8AC3E}">
        <p14:creationId xmlns:p14="http://schemas.microsoft.com/office/powerpoint/2010/main" val="2243779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91374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总体上，域名系统的域名服务器分为两大类</a:t>
            </a:r>
            <a:endParaRPr lang="en-US" altLang="zh-CN" sz="2800" dirty="0">
              <a:latin typeface="等线" panose="02010600030101010101" pitchFamily="2" charset="-122"/>
              <a:ea typeface="等线" panose="02010600030101010101" pitchFamily="2" charset="-122"/>
              <a:cs typeface="微软雅黑" panose="020B0503020204020204" pitchFamily="34" charset="-122"/>
              <a:sym typeface="+mn-ea"/>
            </a:endParaRPr>
          </a:p>
          <a:p>
            <a:pPr lvl="1" algn="just">
              <a:lnSpc>
                <a:spcPct val="120000"/>
              </a:lnSpc>
            </a:pPr>
            <a:r>
              <a:rPr kumimoji="1" lang="en-US" altLang="zh-CN" sz="2800" noProof="0" dirty="0" err="1">
                <a:ln>
                  <a:noFill/>
                </a:ln>
                <a:solidFill>
                  <a:srgbClr val="C00000"/>
                </a:solidFill>
                <a:effectLst/>
                <a:uLnTx/>
                <a:uFillTx/>
                <a:latin typeface="等线" panose="02010600030101010101" pitchFamily="2" charset="-122"/>
                <a:ea typeface="等线" panose="02010600030101010101" pitchFamily="2" charset="-122"/>
                <a:sym typeface="+mn-ea"/>
              </a:rPr>
              <a:t>权威</a:t>
            </a:r>
            <a:r>
              <a:rPr kumimoji="1" lang="zh-CN" altLang="en-US" sz="2800" noProof="0" dirty="0">
                <a:ln>
                  <a:noFill/>
                </a:ln>
                <a:solidFill>
                  <a:srgbClr val="C00000"/>
                </a:solidFill>
                <a:effectLst/>
                <a:uLnTx/>
                <a:uFillTx/>
                <a:latin typeface="等线" panose="02010600030101010101" pitchFamily="2" charset="-122"/>
                <a:ea typeface="等线" panose="02010600030101010101" pitchFamily="2" charset="-122"/>
                <a:sym typeface="+mn-ea"/>
              </a:rPr>
              <a:t>域名服务器</a:t>
            </a:r>
            <a:r>
              <a:rPr lang="en-US" altLang="zh-CN" sz="2800" dirty="0">
                <a:latin typeface="等线" panose="02010600030101010101" pitchFamily="2" charset="-122"/>
                <a:ea typeface="等线" panose="02010600030101010101" pitchFamily="2" charset="-122"/>
                <a:sym typeface="+mn-ea"/>
              </a:rPr>
              <a:t>(authoritative name server)</a:t>
            </a:r>
          </a:p>
          <a:p>
            <a:pPr lvl="2" algn="just">
              <a:lnSpc>
                <a:spcPct val="120000"/>
              </a:lnSpc>
            </a:pPr>
            <a:r>
              <a:rPr lang="zh-CN" altLang="en-US" sz="2400" dirty="0">
                <a:latin typeface="等线" panose="02010600030101010101" pitchFamily="2" charset="-122"/>
                <a:ea typeface="等线" panose="02010600030101010101" pitchFamily="2" charset="-122"/>
                <a:sym typeface="+mn-ea"/>
              </a:rPr>
              <a:t>一种</a:t>
            </a:r>
            <a:r>
              <a:rPr lang="en-US" altLang="zh-CN" sz="2400" dirty="0">
                <a:latin typeface="等线" panose="02010600030101010101" pitchFamily="2" charset="-122"/>
                <a:ea typeface="等线" panose="02010600030101010101" pitchFamily="2" charset="-122"/>
                <a:sym typeface="+mn-ea"/>
              </a:rPr>
              <a:t>根据本地知识知道</a:t>
            </a:r>
            <a:r>
              <a:rPr lang="zh-CN" altLang="en-US" sz="2400" dirty="0">
                <a:latin typeface="等线" panose="02010600030101010101" pitchFamily="2" charset="-122"/>
                <a:ea typeface="等线" panose="02010600030101010101" pitchFamily="2" charset="-122"/>
                <a:sym typeface="+mn-ea"/>
              </a:rPr>
              <a:t>一个</a:t>
            </a:r>
            <a:r>
              <a:rPr lang="en-US" altLang="zh-CN" sz="2400" dirty="0">
                <a:latin typeface="等线" panose="02010600030101010101" pitchFamily="2" charset="-122"/>
                <a:ea typeface="等线" panose="02010600030101010101" pitchFamily="2" charset="-122"/>
                <a:sym typeface="+mn-ea"/>
              </a:rPr>
              <a:t>DNS区(zone)</a:t>
            </a:r>
            <a:r>
              <a:rPr lang="en-US" altLang="zh-CN" sz="2400" dirty="0" err="1">
                <a:latin typeface="等线" panose="02010600030101010101" pitchFamily="2" charset="-122"/>
                <a:ea typeface="等线" panose="02010600030101010101" pitchFamily="2" charset="-122"/>
                <a:sym typeface="+mn-ea"/>
              </a:rPr>
              <a:t>内容</a:t>
            </a:r>
            <a:r>
              <a:rPr lang="zh-CN" altLang="en-US" sz="2400" dirty="0">
                <a:latin typeface="等线" panose="02010600030101010101" pitchFamily="2" charset="-122"/>
                <a:ea typeface="等线" panose="02010600030101010101" pitchFamily="2" charset="-122"/>
                <a:sym typeface="+mn-ea"/>
              </a:rPr>
              <a:t>的服务器</a:t>
            </a:r>
            <a:r>
              <a:rPr lang="zh-CN" sz="2400" dirty="0">
                <a:latin typeface="等线" panose="02010600030101010101" pitchFamily="2" charset="-122"/>
                <a:ea typeface="等线" panose="02010600030101010101" pitchFamily="2" charset="-122"/>
                <a:sym typeface="+mn-ea"/>
              </a:rPr>
              <a:t>，它</a:t>
            </a:r>
            <a:r>
              <a:rPr lang="en-US" altLang="zh-CN" sz="2400" dirty="0">
                <a:latin typeface="等线" panose="02010600030101010101" pitchFamily="2" charset="-122"/>
                <a:ea typeface="等线" panose="02010600030101010101" pitchFamily="2" charset="-122"/>
                <a:sym typeface="+mn-ea"/>
              </a:rPr>
              <a:t>可以回答有关该DNS区的查询而无需查询其他服务器</a:t>
            </a:r>
          </a:p>
          <a:p>
            <a:pPr lvl="2" algn="just">
              <a:lnSpc>
                <a:spcPct val="120000"/>
              </a:lnSpc>
            </a:pPr>
            <a:r>
              <a:rPr lang="en-US" altLang="zh-CN" sz="2400" dirty="0">
                <a:latin typeface="等线" panose="02010600030101010101" pitchFamily="2" charset="-122"/>
                <a:ea typeface="等线" panose="02010600030101010101" pitchFamily="2" charset="-122"/>
                <a:sym typeface="+mn-ea"/>
              </a:rPr>
              <a:t>每个DNS区至少应有一个IPv4可访问的权威</a:t>
            </a:r>
            <a:r>
              <a:rPr lang="zh-CN" altLang="en-US" sz="2400" dirty="0">
                <a:latin typeface="等线" panose="02010600030101010101" pitchFamily="2" charset="-122"/>
                <a:ea typeface="等线" panose="02010600030101010101" pitchFamily="2" charset="-122"/>
                <a:sym typeface="+mn-ea"/>
              </a:rPr>
              <a:t>域名服务器</a:t>
            </a:r>
            <a:r>
              <a:rPr lang="en-US" altLang="zh-CN" sz="2400" dirty="0" err="1">
                <a:latin typeface="等线" panose="02010600030101010101" pitchFamily="2" charset="-122"/>
                <a:ea typeface="等线" panose="02010600030101010101" pitchFamily="2" charset="-122"/>
                <a:sym typeface="+mn-ea"/>
              </a:rPr>
              <a:t>提供服务</a:t>
            </a:r>
            <a:endParaRPr lang="en-US" altLang="zh-CN" sz="2400" dirty="0">
              <a:latin typeface="等线" panose="02010600030101010101" pitchFamily="2" charset="-122"/>
              <a:ea typeface="等线" panose="02010600030101010101" pitchFamily="2" charset="-122"/>
              <a:sym typeface="+mn-ea"/>
            </a:endParaRPr>
          </a:p>
          <a:p>
            <a:pPr lvl="1" algn="just">
              <a:lnSpc>
                <a:spcPct val="120000"/>
              </a:lnSpc>
              <a:buClrTx/>
              <a:buSzTx/>
            </a:pP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sym typeface="+mn-ea"/>
              </a:rPr>
              <a:t>递归解析器</a:t>
            </a:r>
            <a:r>
              <a:rPr lang="zh-CN" altLang="en-US" sz="2800" dirty="0">
                <a:latin typeface="等线" panose="02010600030101010101" pitchFamily="2" charset="-122"/>
                <a:ea typeface="等线" panose="02010600030101010101" pitchFamily="2" charset="-122"/>
                <a:sym typeface="+mn-ea"/>
              </a:rPr>
              <a:t>(recursive resolver)</a:t>
            </a:r>
            <a:r>
              <a:rPr lang="en-US" altLang="zh-CN" sz="2800" dirty="0">
                <a:latin typeface="等线" panose="02010600030101010101" pitchFamily="2" charset="-122"/>
                <a:ea typeface="等线" panose="02010600030101010101" pitchFamily="2" charset="-122"/>
                <a:sym typeface="+mn-ea"/>
              </a:rPr>
              <a:t>/递归服务器</a:t>
            </a:r>
            <a:endParaRPr lang="zh-CN" altLang="en-US" sz="2800" dirty="0">
              <a:latin typeface="等线" panose="02010600030101010101" pitchFamily="2" charset="-122"/>
              <a:ea typeface="等线" panose="02010600030101010101" pitchFamily="2" charset="-122"/>
              <a:sym typeface="+mn-ea"/>
            </a:endParaRPr>
          </a:p>
          <a:p>
            <a:pPr lvl="2" algn="just">
              <a:lnSpc>
                <a:spcPct val="120000"/>
              </a:lnSpc>
            </a:pPr>
            <a:r>
              <a:rPr lang="zh-CN" altLang="en-US" sz="2400" dirty="0">
                <a:latin typeface="等线" panose="02010600030101010101" pitchFamily="2" charset="-122"/>
                <a:ea typeface="等线" panose="02010600030101010101" pitchFamily="2" charset="-122"/>
                <a:sym typeface="+mn-ea"/>
              </a:rPr>
              <a:t>以递归方式运行的、使用户程序联系域</a:t>
            </a:r>
            <a:r>
              <a:rPr lang="en-US" altLang="zh-CN" sz="2400" dirty="0">
                <a:latin typeface="等线" panose="02010600030101010101" pitchFamily="2" charset="-122"/>
                <a:ea typeface="等线" panose="02010600030101010101" pitchFamily="2" charset="-122"/>
                <a:sym typeface="+mn-ea"/>
              </a:rPr>
              <a:t>(domain)</a:t>
            </a:r>
            <a:r>
              <a:rPr lang="zh-CN" altLang="en-US" sz="2400" dirty="0">
                <a:latin typeface="等线" panose="02010600030101010101" pitchFamily="2" charset="-122"/>
                <a:ea typeface="等线" panose="02010600030101010101" pitchFamily="2" charset="-122"/>
                <a:sym typeface="+mn-ea"/>
              </a:rPr>
              <a:t>名字服务器的程序。</a:t>
            </a:r>
          </a:p>
          <a:p>
            <a:pPr marL="342900" indent="-342900" algn="just">
              <a:lnSpc>
                <a:spcPct val="120000"/>
              </a:lnSpc>
              <a:buFont typeface="Wingdings" panose="05000000000000000000" pitchFamily="2" charset="2"/>
              <a:buChar char="Ø"/>
            </a:pP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marL="342900" indent="-342900" algn="just">
              <a:lnSpc>
                <a:spcPct val="120000"/>
              </a:lnSpc>
              <a:buFont typeface="Wingdings" panose="05000000000000000000" pitchFamily="2" charset="2"/>
              <a:buChar char="Ø"/>
            </a:pPr>
            <a:endParaRPr lang="zh-CN" altLang="en-US" sz="2400" dirty="0">
              <a:latin typeface="等线" panose="02010600030101010101" pitchFamily="2" charset="-122"/>
              <a:ea typeface="等线" panose="02010600030101010101" pitchFamily="2"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altLang="en-US" dirty="0">
                <a:latin typeface="等线" panose="02010600030101010101" pitchFamily="2" charset="-122"/>
                <a:ea typeface="等线" panose="02010600030101010101" pitchFamily="2" charset="-122"/>
                <a:sym typeface="+mn-ea"/>
              </a:rPr>
              <a:t>域名服务器类别</a:t>
            </a:r>
            <a:endParaRPr lang="zh-CN" altLang="en-US"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2090964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82294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根据对应域的层次，权威域名服务器又进一步分为以下类别</a:t>
            </a: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lvl="1" algn="just">
              <a:lnSpc>
                <a:spcPct val="120000"/>
              </a:lnSpc>
            </a:pPr>
            <a:r>
              <a:rPr lang="en-US" altLang="zh-CN" sz="2600" dirty="0" err="1">
                <a:latin typeface="等线" panose="02010600030101010101" pitchFamily="2" charset="-122"/>
                <a:ea typeface="等线" panose="02010600030101010101" pitchFamily="2" charset="-122"/>
                <a:sym typeface="+mn-ea"/>
              </a:rPr>
              <a:t>根</a:t>
            </a:r>
            <a:r>
              <a:rPr lang="zh-CN" altLang="en-US" sz="2600" dirty="0">
                <a:latin typeface="等线" panose="02010600030101010101" pitchFamily="2" charset="-122"/>
                <a:ea typeface="等线" panose="02010600030101010101" pitchFamily="2" charset="-122"/>
                <a:sym typeface="+mn-ea"/>
              </a:rPr>
              <a:t>域名服务器(root name server) /根服务器(root server)</a:t>
            </a:r>
            <a:endParaRPr lang="zh-CN" altLang="en-US" sz="2400" dirty="0">
              <a:latin typeface="等线" panose="02010600030101010101" pitchFamily="2" charset="-122"/>
              <a:ea typeface="等线" panose="02010600030101010101" pitchFamily="2" charset="-122"/>
              <a:sym typeface="+mn-ea"/>
            </a:endParaRPr>
          </a:p>
          <a:p>
            <a:pPr lvl="1" algn="just">
              <a:lnSpc>
                <a:spcPct val="120000"/>
              </a:lnSpc>
            </a:pPr>
            <a:r>
              <a:rPr lang="en-US" altLang="zh-CN" sz="2600" dirty="0" err="1">
                <a:latin typeface="等线" panose="02010600030101010101" pitchFamily="2" charset="-122"/>
                <a:ea typeface="等线" panose="02010600030101010101" pitchFamily="2" charset="-122"/>
                <a:sym typeface="+mn-ea"/>
              </a:rPr>
              <a:t>顶级域</a:t>
            </a:r>
            <a:r>
              <a:rPr lang="zh-CN" altLang="en-US" sz="2600" dirty="0">
                <a:latin typeface="等线" panose="02010600030101010101" pitchFamily="2" charset="-122"/>
                <a:ea typeface="等线" panose="02010600030101010101" pitchFamily="2" charset="-122"/>
                <a:sym typeface="+mn-ea"/>
              </a:rPr>
              <a:t>域名服务器(</a:t>
            </a:r>
            <a:r>
              <a:rPr lang="en-US" altLang="zh-CN" sz="2600" dirty="0">
                <a:latin typeface="等线" panose="02010600030101010101" pitchFamily="2" charset="-122"/>
                <a:ea typeface="等线" panose="02010600030101010101" pitchFamily="2" charset="-122"/>
                <a:sym typeface="+mn-ea"/>
              </a:rPr>
              <a:t>top-level domain</a:t>
            </a:r>
            <a:r>
              <a:rPr lang="zh-CN" altLang="en-US" sz="2600" dirty="0">
                <a:latin typeface="等线" panose="02010600030101010101" pitchFamily="2" charset="-122"/>
                <a:ea typeface="等线" panose="02010600030101010101" pitchFamily="2" charset="-122"/>
                <a:sym typeface="+mn-ea"/>
              </a:rPr>
              <a:t> name server)</a:t>
            </a:r>
          </a:p>
          <a:p>
            <a:pPr lvl="1" algn="just">
              <a:lnSpc>
                <a:spcPct val="120000"/>
              </a:lnSpc>
            </a:pPr>
            <a:r>
              <a:rPr lang="zh-CN" altLang="en-US" sz="2600" dirty="0">
                <a:latin typeface="等线" panose="02010600030101010101" pitchFamily="2" charset="-122"/>
                <a:ea typeface="等线" panose="02010600030101010101" pitchFamily="2" charset="-122"/>
                <a:sym typeface="+mn-ea"/>
              </a:rPr>
              <a:t>二级</a:t>
            </a:r>
            <a:r>
              <a:rPr lang="en-US" altLang="zh-CN" sz="2600" dirty="0" err="1">
                <a:latin typeface="等线" panose="02010600030101010101" pitchFamily="2" charset="-122"/>
                <a:ea typeface="等线" panose="02010600030101010101" pitchFamily="2" charset="-122"/>
                <a:sym typeface="+mn-ea"/>
              </a:rPr>
              <a:t>域</a:t>
            </a:r>
            <a:r>
              <a:rPr lang="zh-CN" altLang="en-US" sz="2600" dirty="0">
                <a:latin typeface="等线" panose="02010600030101010101" pitchFamily="2" charset="-122"/>
                <a:ea typeface="等线" panose="02010600030101010101" pitchFamily="2" charset="-122"/>
                <a:sym typeface="+mn-ea"/>
              </a:rPr>
              <a:t>域名服务器(</a:t>
            </a:r>
            <a:r>
              <a:rPr lang="en-US" altLang="zh-CN" sz="2600" dirty="0">
                <a:latin typeface="等线" panose="02010600030101010101" pitchFamily="2" charset="-122"/>
                <a:ea typeface="等线" panose="02010600030101010101" pitchFamily="2" charset="-122"/>
                <a:sym typeface="+mn-ea"/>
              </a:rPr>
              <a:t>second level domain</a:t>
            </a:r>
            <a:r>
              <a:rPr lang="zh-CN" altLang="en-US" sz="2600" dirty="0">
                <a:latin typeface="等线" panose="02010600030101010101" pitchFamily="2" charset="-122"/>
                <a:ea typeface="等线" panose="02010600030101010101" pitchFamily="2" charset="-122"/>
                <a:sym typeface="+mn-ea"/>
              </a:rPr>
              <a:t> name server)</a:t>
            </a:r>
          </a:p>
          <a:p>
            <a:pPr lvl="1" algn="just">
              <a:lnSpc>
                <a:spcPct val="120000"/>
              </a:lnSpc>
            </a:pPr>
            <a:r>
              <a:rPr lang="zh-CN" altLang="en-US" sz="2600" dirty="0">
                <a:latin typeface="等线" panose="02010600030101010101" pitchFamily="2" charset="-122"/>
                <a:ea typeface="等线" panose="02010600030101010101" pitchFamily="2" charset="-122"/>
                <a:sym typeface="+mn-ea"/>
              </a:rPr>
              <a:t>三级</a:t>
            </a:r>
            <a:r>
              <a:rPr lang="en-US" altLang="zh-CN" sz="2600" dirty="0" err="1">
                <a:latin typeface="等线" panose="02010600030101010101" pitchFamily="2" charset="-122"/>
                <a:ea typeface="等线" panose="02010600030101010101" pitchFamily="2" charset="-122"/>
                <a:sym typeface="+mn-ea"/>
              </a:rPr>
              <a:t>域</a:t>
            </a:r>
            <a:r>
              <a:rPr lang="zh-CN" altLang="en-US" sz="2600" dirty="0">
                <a:latin typeface="等线" panose="02010600030101010101" pitchFamily="2" charset="-122"/>
                <a:ea typeface="等线" panose="02010600030101010101" pitchFamily="2" charset="-122"/>
                <a:sym typeface="+mn-ea"/>
              </a:rPr>
              <a:t>域名服务器(</a:t>
            </a:r>
            <a:r>
              <a:rPr lang="en-US" altLang="zh-CN" sz="2600" dirty="0">
                <a:latin typeface="等线" panose="02010600030101010101" pitchFamily="2" charset="-122"/>
                <a:ea typeface="等线" panose="02010600030101010101" pitchFamily="2" charset="-122"/>
                <a:sym typeface="+mn-ea"/>
              </a:rPr>
              <a:t>third level domain</a:t>
            </a:r>
            <a:r>
              <a:rPr lang="zh-CN" altLang="en-US" sz="2600" dirty="0">
                <a:latin typeface="等线" panose="02010600030101010101" pitchFamily="2" charset="-122"/>
                <a:ea typeface="等线" panose="02010600030101010101" pitchFamily="2" charset="-122"/>
                <a:sym typeface="+mn-ea"/>
              </a:rPr>
              <a:t> name server)</a:t>
            </a:r>
          </a:p>
          <a:p>
            <a:pPr lvl="1" algn="just">
              <a:lnSpc>
                <a:spcPct val="120000"/>
              </a:lnSpc>
            </a:pPr>
            <a:r>
              <a:rPr lang="en-US" altLang="zh-CN" sz="2600" dirty="0">
                <a:latin typeface="等线" panose="02010600030101010101" pitchFamily="2" charset="-122"/>
                <a:ea typeface="等线" panose="02010600030101010101" pitchFamily="2" charset="-122"/>
                <a:sym typeface="+mn-ea"/>
              </a:rPr>
              <a:t>......</a:t>
            </a:r>
          </a:p>
          <a:p>
            <a:pPr lvl="0" algn="just">
              <a:lnSpc>
                <a:spcPct val="110000"/>
              </a:lnSpc>
            </a:pPr>
            <a:r>
              <a:rPr lang="zh-CN" altLang="en-US" sz="2800" dirty="0">
                <a:latin typeface="等线" panose="02010600030101010101" pitchFamily="2" charset="-122"/>
                <a:ea typeface="等线" panose="02010600030101010101" pitchFamily="2" charset="-122"/>
                <a:sym typeface="+mn-ea"/>
              </a:rPr>
              <a:t>三级域及以下的域名服务器</a:t>
            </a:r>
            <a:r>
              <a:rPr lang="en-US" altLang="zh-CN" sz="2800" dirty="0">
                <a:latin typeface="等线" panose="02010600030101010101" pitchFamily="2" charset="-122"/>
                <a:ea typeface="等线" panose="02010600030101010101" pitchFamily="2" charset="-122"/>
                <a:sym typeface="+mn-ea"/>
              </a:rPr>
              <a:t>(</a:t>
            </a:r>
            <a:r>
              <a:rPr lang="zh-CN" altLang="en-US" sz="2800" dirty="0">
                <a:latin typeface="等线" panose="02010600030101010101" pitchFamily="2" charset="-122"/>
                <a:ea typeface="等线" panose="02010600030101010101" pitchFamily="2" charset="-122"/>
                <a:sym typeface="+mn-ea"/>
              </a:rPr>
              <a:t>例如</a:t>
            </a:r>
            <a:r>
              <a:rPr lang="en-US" altLang="zh-CN" dirty="0" err="1">
                <a:latin typeface="等线" panose="02010600030101010101" pitchFamily="2" charset="-122"/>
                <a:ea typeface="等线" panose="02010600030101010101" pitchFamily="2" charset="-122"/>
                <a:sym typeface="+mn-ea"/>
              </a:rPr>
              <a:t>nankai</a:t>
            </a:r>
            <a:r>
              <a:rPr lang="en-US" altLang="zh-CN" sz="2800" dirty="0" err="1">
                <a:latin typeface="等线" panose="02010600030101010101" pitchFamily="2" charset="-122"/>
                <a:ea typeface="等线" panose="02010600030101010101" pitchFamily="2" charset="-122"/>
                <a:sym typeface="+mn-ea"/>
              </a:rPr>
              <a:t>.edu.cn</a:t>
            </a:r>
            <a:r>
              <a:rPr lang="en-US" altLang="zh-CN" sz="2800" dirty="0">
                <a:latin typeface="等线" panose="02010600030101010101" pitchFamily="2" charset="-122"/>
                <a:ea typeface="等线" panose="02010600030101010101" pitchFamily="2" charset="-122"/>
                <a:sym typeface="+mn-ea"/>
              </a:rPr>
              <a:t>)</a:t>
            </a:r>
            <a:r>
              <a:rPr lang="zh-CN" altLang="en-US" dirty="0">
                <a:latin typeface="等线" panose="02010600030101010101" pitchFamily="2" charset="-122"/>
                <a:ea typeface="等线" panose="02010600030101010101" pitchFamily="2" charset="-122"/>
                <a:sym typeface="+mn-ea"/>
              </a:rPr>
              <a:t>通常</a:t>
            </a:r>
            <a:r>
              <a:rPr lang="zh-CN" altLang="en-US" sz="2800" dirty="0">
                <a:latin typeface="等线" panose="02010600030101010101" pitchFamily="2" charset="-122"/>
                <a:ea typeface="等线" panose="02010600030101010101" pitchFamily="2" charset="-122"/>
                <a:sym typeface="+mn-ea"/>
              </a:rPr>
              <a:t>在用户本地区域，因此</a:t>
            </a:r>
            <a:r>
              <a:rPr lang="zh-CN" altLang="en-US" dirty="0">
                <a:latin typeface="等线" panose="02010600030101010101" pitchFamily="2" charset="-122"/>
                <a:ea typeface="等线" panose="02010600030101010101" pitchFamily="2" charset="-122"/>
                <a:sym typeface="+mn-ea"/>
              </a:rPr>
              <a:t>三级域及以下的域名服务器也统称为</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sym typeface="+mn-ea"/>
              </a:rPr>
              <a:t>本地域名服务器</a:t>
            </a:r>
            <a:endParaRPr lang="zh-CN" altLang="en-US" sz="2800" dirty="0">
              <a:latin typeface="等线" panose="02010600030101010101" pitchFamily="2" charset="-122"/>
              <a:ea typeface="等线" panose="02010600030101010101" pitchFamily="2"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altLang="en-US" dirty="0">
                <a:latin typeface="等线" panose="02010600030101010101" pitchFamily="2" charset="-122"/>
                <a:ea typeface="等线" panose="02010600030101010101" pitchFamily="2" charset="-122"/>
                <a:sym typeface="+mn-ea"/>
              </a:rPr>
              <a:t>权威域名服务器类别</a:t>
            </a:r>
            <a:endParaRPr lang="zh-CN" altLang="en-US"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3229915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altLang="en-US" dirty="0">
                <a:latin typeface="等线" panose="02010600030101010101" pitchFamily="2" charset="-122"/>
                <a:ea typeface="等线" panose="02010600030101010101" pitchFamily="2" charset="-122"/>
                <a:sym typeface="+mn-ea"/>
              </a:rPr>
              <a:t>层次树状结构的权威域名服务器</a:t>
            </a:r>
            <a:endParaRPr lang="zh-CN" altLang="en-US" dirty="0">
              <a:solidFill>
                <a:schemeClr val="tx1"/>
              </a:solidFill>
              <a:latin typeface="等线" panose="02010600030101010101" pitchFamily="2" charset="-122"/>
              <a:ea typeface="等线" panose="02010600030101010101" pitchFamily="2" charset="-122"/>
              <a:sym typeface="+mn-ea"/>
            </a:endParaRPr>
          </a:p>
        </p:txBody>
      </p:sp>
      <p:grpSp>
        <p:nvGrpSpPr>
          <p:cNvPr id="3" name="组合 23555"/>
          <p:cNvGrpSpPr/>
          <p:nvPr/>
        </p:nvGrpSpPr>
        <p:grpSpPr bwMode="auto">
          <a:xfrm>
            <a:off x="900093" y="2178778"/>
            <a:ext cx="9113838" cy="3983038"/>
            <a:chOff x="0" y="0"/>
            <a:chExt cx="5741" cy="2509"/>
          </a:xfrm>
        </p:grpSpPr>
        <p:sp>
          <p:nvSpPr>
            <p:cNvPr id="7" name="圆角矩形 23556"/>
            <p:cNvSpPr>
              <a:spLocks noChangeArrowheads="1"/>
            </p:cNvSpPr>
            <p:nvPr/>
          </p:nvSpPr>
          <p:spPr bwMode="auto">
            <a:xfrm>
              <a:off x="2421" y="1196"/>
              <a:ext cx="1662" cy="1313"/>
            </a:xfrm>
            <a:prstGeom prst="roundRect">
              <a:avLst>
                <a:gd name="adj" fmla="val 16667"/>
              </a:avLst>
            </a:prstGeom>
            <a:solidFill>
              <a:srgbClr val="33CCFF"/>
            </a:solidFill>
            <a:ln w="9525">
              <a:solidFill>
                <a:schemeClr val="tx1"/>
              </a:solidFill>
              <a:prstDash val="dash"/>
              <a:round/>
            </a:ln>
          </p:spPr>
          <p:txBody>
            <a:bodyPr/>
            <a:lstStyle/>
            <a:p>
              <a:endParaRPr lang="zh-CN" altLang="en-US" dirty="0">
                <a:latin typeface="等线" panose="02010600030101010101" pitchFamily="2" charset="-122"/>
                <a:ea typeface="等线" panose="02010600030101010101" pitchFamily="2" charset="-122"/>
              </a:endParaRPr>
            </a:p>
          </p:txBody>
        </p:sp>
        <p:grpSp>
          <p:nvGrpSpPr>
            <p:cNvPr id="8" name="组合 23557"/>
            <p:cNvGrpSpPr/>
            <p:nvPr/>
          </p:nvGrpSpPr>
          <p:grpSpPr bwMode="auto">
            <a:xfrm>
              <a:off x="2064" y="380"/>
              <a:ext cx="2720" cy="247"/>
              <a:chOff x="0" y="0"/>
              <a:chExt cx="2450" cy="318"/>
            </a:xfrm>
          </p:grpSpPr>
          <p:sp>
            <p:nvSpPr>
              <p:cNvPr id="40" name="直接连接符 23558"/>
              <p:cNvSpPr>
                <a:spLocks noChangeShapeType="1"/>
              </p:cNvSpPr>
              <p:nvPr/>
            </p:nvSpPr>
            <p:spPr bwMode="auto">
              <a:xfrm flipV="1">
                <a:off x="0" y="0"/>
                <a:ext cx="1089" cy="31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23559"/>
              <p:cNvSpPr>
                <a:spLocks noChangeShapeType="1"/>
              </p:cNvSpPr>
              <p:nvPr/>
            </p:nvSpPr>
            <p:spPr bwMode="auto">
              <a:xfrm>
                <a:off x="1180" y="0"/>
                <a:ext cx="0" cy="31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 name="直接连接符 23560"/>
              <p:cNvSpPr>
                <a:spLocks noChangeShapeType="1"/>
              </p:cNvSpPr>
              <p:nvPr/>
            </p:nvSpPr>
            <p:spPr bwMode="auto">
              <a:xfrm flipH="1" flipV="1">
                <a:off x="1271" y="0"/>
                <a:ext cx="1179" cy="31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 name="矩形 23561"/>
            <p:cNvSpPr>
              <a:spLocks noChangeArrowheads="1"/>
            </p:cNvSpPr>
            <p:nvPr/>
          </p:nvSpPr>
          <p:spPr bwMode="auto">
            <a:xfrm>
              <a:off x="2824" y="52"/>
              <a:ext cx="1108" cy="313"/>
            </a:xfrm>
            <a:prstGeom prst="rect">
              <a:avLst/>
            </a:prstGeom>
            <a:solidFill>
              <a:srgbClr val="FF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dirty="0">
                  <a:solidFill>
                    <a:schemeClr val="folHlink"/>
                  </a:solidFill>
                  <a:latin typeface="等线" panose="02010600030101010101" pitchFamily="2" charset="-122"/>
                  <a:ea typeface="等线" panose="02010600030101010101" pitchFamily="2" charset="-122"/>
                </a:rPr>
                <a:t>根域名服务器</a:t>
              </a:r>
            </a:p>
          </p:txBody>
        </p:sp>
        <p:sp>
          <p:nvSpPr>
            <p:cNvPr id="11" name="矩形 23562"/>
            <p:cNvSpPr>
              <a:spLocks noChangeArrowheads="1"/>
            </p:cNvSpPr>
            <p:nvPr/>
          </p:nvSpPr>
          <p:spPr bwMode="auto">
            <a:xfrm>
              <a:off x="1464" y="627"/>
              <a:ext cx="1108" cy="313"/>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org</a:t>
              </a: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域名服务器</a:t>
              </a:r>
            </a:p>
          </p:txBody>
        </p:sp>
        <p:sp>
          <p:nvSpPr>
            <p:cNvPr id="12" name="矩形 23563"/>
            <p:cNvSpPr>
              <a:spLocks noChangeArrowheads="1"/>
            </p:cNvSpPr>
            <p:nvPr/>
          </p:nvSpPr>
          <p:spPr bwMode="auto">
            <a:xfrm>
              <a:off x="2824" y="627"/>
              <a:ext cx="1108" cy="313"/>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com</a:t>
              </a: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域名服务器</a:t>
              </a:r>
            </a:p>
          </p:txBody>
        </p:sp>
        <p:sp>
          <p:nvSpPr>
            <p:cNvPr id="13" name="矩形 23564"/>
            <p:cNvSpPr>
              <a:spLocks noChangeArrowheads="1"/>
            </p:cNvSpPr>
            <p:nvPr/>
          </p:nvSpPr>
          <p:spPr bwMode="auto">
            <a:xfrm>
              <a:off x="4185" y="627"/>
              <a:ext cx="1108" cy="313"/>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err="1">
                  <a:solidFill>
                    <a:schemeClr val="folHlink"/>
                  </a:solidFill>
                  <a:latin typeface="等线" panose="02010600030101010101" pitchFamily="2" charset="-122"/>
                  <a:ea typeface="等线" panose="02010600030101010101" pitchFamily="2" charset="-122"/>
                  <a:cs typeface="微软雅黑" panose="020B0503020204020204" pitchFamily="34" charset="-122"/>
                </a:rPr>
                <a:t>edu</a:t>
              </a: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域名服务器</a:t>
              </a:r>
            </a:p>
          </p:txBody>
        </p:sp>
        <p:grpSp>
          <p:nvGrpSpPr>
            <p:cNvPr id="14" name="组合 23565"/>
            <p:cNvGrpSpPr/>
            <p:nvPr/>
          </p:nvGrpSpPr>
          <p:grpSpPr bwMode="auto">
            <a:xfrm>
              <a:off x="4485" y="940"/>
              <a:ext cx="504" cy="157"/>
              <a:chOff x="0" y="0"/>
              <a:chExt cx="330" cy="132"/>
            </a:xfrm>
          </p:grpSpPr>
          <p:sp>
            <p:nvSpPr>
              <p:cNvPr id="36" name="直接连接符 23566"/>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直接连接符 23567"/>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直接连接符 23568"/>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直接连接符 23569"/>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5" name="文本框 23570"/>
            <p:cNvSpPr txBox="1">
              <a:spLocks noChangeArrowheads="1"/>
            </p:cNvSpPr>
            <p:nvPr/>
          </p:nvSpPr>
          <p:spPr bwMode="auto">
            <a:xfrm>
              <a:off x="5392" y="599"/>
              <a:ext cx="22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folHlink"/>
                  </a:solidFill>
                  <a:latin typeface="等线" panose="02010600030101010101" pitchFamily="2" charset="-122"/>
                  <a:ea typeface="等线" panose="02010600030101010101" pitchFamily="2" charset="-122"/>
                </a:rPr>
                <a:t>…</a:t>
              </a:r>
            </a:p>
          </p:txBody>
        </p:sp>
        <p:grpSp>
          <p:nvGrpSpPr>
            <p:cNvPr id="16" name="组合 23571"/>
            <p:cNvGrpSpPr/>
            <p:nvPr/>
          </p:nvGrpSpPr>
          <p:grpSpPr bwMode="auto">
            <a:xfrm>
              <a:off x="1766" y="940"/>
              <a:ext cx="504" cy="157"/>
              <a:chOff x="0" y="0"/>
              <a:chExt cx="330" cy="132"/>
            </a:xfrm>
          </p:grpSpPr>
          <p:sp>
            <p:nvSpPr>
              <p:cNvPr id="32" name="直接连接符 23572"/>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直接连接符 23573"/>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直接连接符 23574"/>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直接连接符 23575"/>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 name="直接连接符 23576"/>
            <p:cNvSpPr>
              <a:spLocks noChangeShapeType="1"/>
            </p:cNvSpPr>
            <p:nvPr/>
          </p:nvSpPr>
          <p:spPr bwMode="auto">
            <a:xfrm>
              <a:off x="3461" y="940"/>
              <a:ext cx="219" cy="15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直接连接符 23577"/>
            <p:cNvSpPr>
              <a:spLocks noChangeShapeType="1"/>
            </p:cNvSpPr>
            <p:nvPr/>
          </p:nvSpPr>
          <p:spPr bwMode="auto">
            <a:xfrm>
              <a:off x="3444" y="940"/>
              <a:ext cx="57" cy="154"/>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直接连接符 23578"/>
            <p:cNvSpPr>
              <a:spLocks noChangeShapeType="1"/>
            </p:cNvSpPr>
            <p:nvPr/>
          </p:nvSpPr>
          <p:spPr bwMode="auto">
            <a:xfrm flipH="1">
              <a:off x="3176" y="940"/>
              <a:ext cx="220" cy="15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直接连接符 23579"/>
            <p:cNvSpPr>
              <a:spLocks noChangeShapeType="1"/>
            </p:cNvSpPr>
            <p:nvPr/>
          </p:nvSpPr>
          <p:spPr bwMode="auto">
            <a:xfrm flipH="1">
              <a:off x="3256" y="940"/>
              <a:ext cx="164" cy="421"/>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矩形 23580"/>
            <p:cNvSpPr>
              <a:spLocks noChangeArrowheads="1"/>
            </p:cNvSpPr>
            <p:nvPr/>
          </p:nvSpPr>
          <p:spPr bwMode="auto">
            <a:xfrm>
              <a:off x="2673" y="1987"/>
              <a:ext cx="1109" cy="365"/>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y.abc.com</a:t>
              </a:r>
            </a:p>
            <a:p>
              <a:pPr algn="ct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域名服务器</a:t>
              </a:r>
            </a:p>
          </p:txBody>
        </p:sp>
        <p:sp>
          <p:nvSpPr>
            <p:cNvPr id="22" name="直接连接符 23581"/>
            <p:cNvSpPr>
              <a:spLocks noChangeShapeType="1"/>
            </p:cNvSpPr>
            <p:nvPr/>
          </p:nvSpPr>
          <p:spPr bwMode="auto">
            <a:xfrm>
              <a:off x="3226" y="1672"/>
              <a:ext cx="0" cy="314"/>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直接连接符 23582"/>
            <p:cNvSpPr>
              <a:spLocks noChangeShapeType="1"/>
            </p:cNvSpPr>
            <p:nvPr/>
          </p:nvSpPr>
          <p:spPr bwMode="auto">
            <a:xfrm flipH="1" flipV="1">
              <a:off x="3818" y="1488"/>
              <a:ext cx="811" cy="114"/>
            </a:xfrm>
            <a:prstGeom prst="line">
              <a:avLst/>
            </a:prstGeom>
            <a:noFill/>
            <a:ln w="28575">
              <a:solidFill>
                <a:schemeClr val="fo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4" name="组合 23583"/>
            <p:cNvGrpSpPr/>
            <p:nvPr/>
          </p:nvGrpSpPr>
          <p:grpSpPr bwMode="auto">
            <a:xfrm>
              <a:off x="0" y="522"/>
              <a:ext cx="5741" cy="523"/>
              <a:chOff x="0" y="0"/>
              <a:chExt cx="5444" cy="454"/>
            </a:xfrm>
          </p:grpSpPr>
          <p:sp>
            <p:nvSpPr>
              <p:cNvPr id="30" name="直接连接符 23584"/>
              <p:cNvSpPr>
                <a:spLocks noChangeShapeType="1"/>
              </p:cNvSpPr>
              <p:nvPr/>
            </p:nvSpPr>
            <p:spPr bwMode="auto">
              <a:xfrm>
                <a:off x="0" y="0"/>
                <a:ext cx="5444" cy="0"/>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1" name="直接连接符 23585"/>
              <p:cNvSpPr>
                <a:spLocks noChangeShapeType="1"/>
              </p:cNvSpPr>
              <p:nvPr/>
            </p:nvSpPr>
            <p:spPr bwMode="auto">
              <a:xfrm>
                <a:off x="0" y="454"/>
                <a:ext cx="5444" cy="0"/>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25" name="文本框 23586"/>
            <p:cNvSpPr txBox="1">
              <a:spLocks noChangeArrowheads="1"/>
            </p:cNvSpPr>
            <p:nvPr/>
          </p:nvSpPr>
          <p:spPr bwMode="auto">
            <a:xfrm>
              <a:off x="72" y="1579"/>
              <a:ext cx="124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folHlink"/>
                  </a:solidFill>
                  <a:latin typeface="等线" panose="02010600030101010101" pitchFamily="2" charset="-122"/>
                  <a:ea typeface="等线" panose="02010600030101010101" pitchFamily="2" charset="-122"/>
                </a:rPr>
                <a:t>二级域名服务器</a:t>
              </a:r>
            </a:p>
          </p:txBody>
        </p:sp>
        <p:sp>
          <p:nvSpPr>
            <p:cNvPr id="26" name="文本框 23587"/>
            <p:cNvSpPr txBox="1">
              <a:spLocks noChangeArrowheads="1"/>
            </p:cNvSpPr>
            <p:nvPr/>
          </p:nvSpPr>
          <p:spPr bwMode="auto">
            <a:xfrm>
              <a:off x="146" y="88"/>
              <a:ext cx="10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folHlink"/>
                  </a:solidFill>
                  <a:latin typeface="等线" panose="02010600030101010101" pitchFamily="2" charset="-122"/>
                  <a:ea typeface="等线" panose="02010600030101010101" pitchFamily="2" charset="-122"/>
                </a:rPr>
                <a:t>根域名服务器</a:t>
              </a:r>
            </a:p>
          </p:txBody>
        </p:sp>
        <p:sp>
          <p:nvSpPr>
            <p:cNvPr id="27" name="文本框 23588"/>
            <p:cNvSpPr txBox="1">
              <a:spLocks noChangeArrowheads="1"/>
            </p:cNvSpPr>
            <p:nvPr/>
          </p:nvSpPr>
          <p:spPr bwMode="auto">
            <a:xfrm>
              <a:off x="73" y="647"/>
              <a:ext cx="124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folHlink"/>
                  </a:solidFill>
                  <a:latin typeface="等线" panose="02010600030101010101" pitchFamily="2" charset="-122"/>
                  <a:ea typeface="等线" panose="02010600030101010101" pitchFamily="2" charset="-122"/>
                </a:rPr>
                <a:t>顶级域名服务器</a:t>
              </a:r>
            </a:p>
          </p:txBody>
        </p:sp>
        <p:sp>
          <p:nvSpPr>
            <p:cNvPr id="28" name="直接连接符 23589"/>
            <p:cNvSpPr>
              <a:spLocks noChangeShapeType="1"/>
            </p:cNvSpPr>
            <p:nvPr/>
          </p:nvSpPr>
          <p:spPr bwMode="auto">
            <a:xfrm>
              <a:off x="1309" y="0"/>
              <a:ext cx="0" cy="2457"/>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 name="直接连接符 23590"/>
            <p:cNvSpPr>
              <a:spLocks noChangeShapeType="1"/>
            </p:cNvSpPr>
            <p:nvPr/>
          </p:nvSpPr>
          <p:spPr bwMode="auto">
            <a:xfrm flipH="1">
              <a:off x="3803" y="1777"/>
              <a:ext cx="830" cy="415"/>
            </a:xfrm>
            <a:prstGeom prst="line">
              <a:avLst/>
            </a:prstGeom>
            <a:noFill/>
            <a:ln w="28575">
              <a:solidFill>
                <a:schemeClr val="fo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3" name="矩形 23591"/>
            <p:cNvSpPr>
              <a:spLocks noChangeArrowheads="1"/>
            </p:cNvSpPr>
            <p:nvPr/>
          </p:nvSpPr>
          <p:spPr bwMode="auto">
            <a:xfrm>
              <a:off x="2666" y="1359"/>
              <a:ext cx="1109" cy="365"/>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abc.com</a:t>
              </a:r>
            </a:p>
            <a:p>
              <a:pPr algn="ct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域名服务器</a:t>
              </a:r>
            </a:p>
          </p:txBody>
        </p:sp>
        <p:sp>
          <p:nvSpPr>
            <p:cNvPr id="44" name="文本框 23592"/>
            <p:cNvSpPr txBox="1">
              <a:spLocks noChangeArrowheads="1"/>
            </p:cNvSpPr>
            <p:nvPr/>
          </p:nvSpPr>
          <p:spPr bwMode="auto">
            <a:xfrm>
              <a:off x="4471" y="1435"/>
              <a:ext cx="1247" cy="44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dirty="0" err="1">
                  <a:solidFill>
                    <a:schemeClr val="folHlink"/>
                  </a:solidFill>
                  <a:latin typeface="等线" panose="02010600030101010101" pitchFamily="2" charset="-122"/>
                  <a:ea typeface="等线" panose="02010600030101010101" pitchFamily="2" charset="-122"/>
                  <a:cs typeface="微软雅黑" panose="020B0503020204020204" pitchFamily="34" charset="-122"/>
                </a:rPr>
                <a:t>abc</a:t>
              </a: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 </a:t>
              </a: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公司有两个</a:t>
              </a:r>
            </a:p>
            <a:p>
              <a:pPr algn="ct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权威域名服务器</a:t>
              </a:r>
            </a:p>
          </p:txBody>
        </p:sp>
      </p:grpSp>
      <p:sp>
        <p:nvSpPr>
          <p:cNvPr id="45" name="页脚占位符 44"/>
          <p:cNvSpPr>
            <a:spLocks noGrp="1"/>
          </p:cNvSpPr>
          <p:nvPr>
            <p:ph type="ftr" sz="quarter" idx="11"/>
          </p:nvPr>
        </p:nvSpPr>
        <p:spPr/>
        <p:txBody>
          <a:bodyPr/>
          <a:lstStyle/>
          <a:p>
            <a:r>
              <a:rPr kumimoji="1" lang="zh-CN" altLang="en-US" dirty="0">
                <a:latin typeface="等线" panose="02010600030101010101" pitchFamily="2" charset="-122"/>
                <a:ea typeface="等线" panose="02010600030101010101" pitchFamily="2" charset="-122"/>
              </a:rPr>
              <a:t>引自：计算机网络，谢希仁</a:t>
            </a:r>
          </a:p>
        </p:txBody>
      </p:sp>
    </p:spTree>
    <p:extLst>
      <p:ext uri="{BB962C8B-B14F-4D97-AF65-F5344CB8AC3E}">
        <p14:creationId xmlns:p14="http://schemas.microsoft.com/office/powerpoint/2010/main" val="3922436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83754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spcBef>
                <a:spcPts val="540"/>
              </a:spcBef>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根服务器是最高层次的域名服务器，</a:t>
            </a:r>
            <a:r>
              <a:rPr lang="zh-CN" altLang="en-US" dirty="0">
                <a:latin typeface="等线" panose="02010600030101010101" pitchFamily="2" charset="-122"/>
                <a:ea typeface="等线" panose="02010600030101010101" pitchFamily="2" charset="-122"/>
                <a:sym typeface="+mn-ea"/>
              </a:rPr>
              <a:t>是根服务器系统云的入口点</a:t>
            </a:r>
            <a:r>
              <a:rPr lang="en-US" altLang="zh-CN" dirty="0">
                <a:latin typeface="等线" panose="02010600030101010101" pitchFamily="2" charset="-122"/>
                <a:ea typeface="等线" panose="02010600030101010101" pitchFamily="2" charset="-122"/>
                <a:sym typeface="+mn-ea"/>
              </a:rPr>
              <a:t>(</a:t>
            </a:r>
            <a:r>
              <a:rPr lang="zh-CN" altLang="en-US" dirty="0">
                <a:latin typeface="等线" panose="02010600030101010101" pitchFamily="2" charset="-122"/>
                <a:ea typeface="等线" panose="02010600030101010101" pitchFamily="2" charset="-122"/>
                <a:sym typeface="+mn-ea"/>
              </a:rPr>
              <a:t>实例</a:t>
            </a:r>
            <a:r>
              <a:rPr lang="en-US" altLang="zh-CN" dirty="0">
                <a:latin typeface="等线" panose="02010600030101010101" pitchFamily="2" charset="-122"/>
                <a:ea typeface="等线" panose="02010600030101010101" pitchFamily="2" charset="-122"/>
                <a:sym typeface="+mn-ea"/>
              </a:rPr>
              <a:t>)</a:t>
            </a:r>
            <a:r>
              <a:rPr lang="zh-CN" altLang="en-US" dirty="0">
                <a:latin typeface="等线" panose="02010600030101010101" pitchFamily="2" charset="-122"/>
                <a:ea typeface="等线" panose="02010600030101010101" pitchFamily="2" charset="-122"/>
                <a:sym typeface="+mn-ea"/>
              </a:rPr>
              <a:t>的名称。根服务器是特定的任意播</a:t>
            </a:r>
            <a:r>
              <a:rPr lang="en-US" altLang="zh-CN" dirty="0">
                <a:latin typeface="等线" panose="02010600030101010101" pitchFamily="2" charset="-122"/>
                <a:ea typeface="等线" panose="02010600030101010101" pitchFamily="2" charset="-122"/>
                <a:sym typeface="+mn-ea"/>
              </a:rPr>
              <a:t>(anycast)</a:t>
            </a:r>
            <a:r>
              <a:rPr lang="zh-CN" altLang="en-US" dirty="0">
                <a:latin typeface="等线" panose="02010600030101010101" pitchFamily="2" charset="-122"/>
                <a:ea typeface="等线" panose="02010600030101010101" pitchFamily="2" charset="-122"/>
                <a:sym typeface="+mn-ea"/>
              </a:rPr>
              <a:t>实例，即回答关于根区域内容查询的权威域名服务器</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nSpc>
                <a:spcPct val="120000"/>
              </a:lnSpc>
              <a:spcBef>
                <a:spcPts val="540"/>
              </a:spcBef>
              <a:buFont typeface="Wingdings" panose="05000000000000000000" pitchFamily="2" charset="2"/>
              <a:buChar char="Ø"/>
            </a:pP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每个根服务器都知道所有的顶级域名服务器的域名及其IP地址</a:t>
            </a:r>
            <a:endParaRPr lang="zh-CN" altLang="en-US" dirty="0">
              <a:solidFill>
                <a:schemeClr val="accent2">
                  <a:lumMod val="75000"/>
                </a:schemeClr>
              </a:solidFill>
              <a:latin typeface="等线" panose="02010600030101010101" pitchFamily="2" charset="-122"/>
              <a:ea typeface="等线" panose="02010600030101010101" pitchFamily="2" charset="-122"/>
              <a:cs typeface="微软雅黑" panose="020B0503020204020204" pitchFamily="34" charset="-122"/>
            </a:endParaRPr>
          </a:p>
          <a:p>
            <a:pPr marL="342900" indent="-342900">
              <a:lnSpc>
                <a:spcPct val="120000"/>
              </a:lnSpc>
              <a:spcBef>
                <a:spcPts val="540"/>
              </a:spcBef>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路由器把查询转发到距离递归服务器最近的一个根服务器(采用了任意播技术)，提高了查询效率</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nSpc>
                <a:spcPct val="120000"/>
              </a:lnSpc>
              <a:spcBef>
                <a:spcPts val="540"/>
              </a:spcBef>
              <a:buFont typeface="Wingdings" panose="05000000000000000000" pitchFamily="2" charset="2"/>
              <a:buChar char="Ø"/>
            </a:pP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根服务器并不直接把主机用户所查的域名转换成IP地址</a:t>
            </a:r>
            <a:endParaRPr lang="zh-CN" altLang="en-US" sz="2200"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latin typeface="等线" panose="02010600030101010101" pitchFamily="2" charset="-122"/>
                <a:ea typeface="等线" panose="02010600030101010101" pitchFamily="2" charset="-122"/>
                <a:sym typeface="+mn-ea"/>
              </a:rPr>
              <a:t>(1)</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根</a:t>
            </a:r>
            <a:r>
              <a:rPr lang="zh-CN" altLang="en-US" dirty="0">
                <a:latin typeface="等线" panose="02010600030101010101" pitchFamily="2" charset="-122"/>
                <a:ea typeface="等线" panose="02010600030101010101" pitchFamily="2" charset="-122"/>
                <a:sym typeface="+mn-ea"/>
              </a:rPr>
              <a:t>服务器</a:t>
            </a:r>
            <a:endParaRPr lang="en-US" altLang="zh-CN"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1638117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27225"/>
            <a:ext cx="1086802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540"/>
              </a:spcBef>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根服务器共有</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13套</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(不是13台机器)，这些根服务器相应的域名分别是： a.rootservers.net － m.rootservers.net</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00000"/>
              </a:lnSpc>
              <a:spcBef>
                <a:spcPts val="540"/>
              </a:spcBef>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更改根服务器数据只在a.rootservers.net上进行，然后同步到另外</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12</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套中，这样既能保证数据一致性，也提高了域名服务可靠性</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00000"/>
              </a:lnSpc>
              <a:spcBef>
                <a:spcPts val="540"/>
              </a:spcBef>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每套都可以有多个镜像(mirrored)根服务器，其内容定期与上述对应的根服务器同步。注意，</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同步需要一定的时间才能完成</a:t>
            </a:r>
            <a:endParaRPr lang="zh-CN" altLang="en-US" dirty="0">
              <a:latin typeface="等线" panose="02010600030101010101" pitchFamily="2" charset="-122"/>
              <a:ea typeface="等线" panose="02010600030101010101" pitchFamily="2" charset="-122"/>
              <a:cs typeface="微软雅黑" panose="020B0503020204020204" pitchFamily="34" charset="-122"/>
              <a:sym typeface="+mn-ea"/>
            </a:endParaRPr>
          </a:p>
          <a:p>
            <a:pPr marL="342900" indent="-342900" algn="just">
              <a:lnSpc>
                <a:spcPct val="100000"/>
              </a:lnSpc>
              <a:spcBef>
                <a:spcPts val="540"/>
              </a:spcBef>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根服务器之间采用任意播(anycast)技术互联。目前全球已设置了</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1000多台镜像根服务器</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，用户域名解析请求时延进一步降低。这样可以方便用户，使世界上大部分DNS域名服务器都能</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就近</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找到一个根服务器</a:t>
            </a:r>
            <a:endParaRPr lang="zh-CN" altLang="en-US" sz="2200"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latin typeface="等线" panose="02010600030101010101" pitchFamily="2" charset="-122"/>
                <a:ea typeface="等线" panose="02010600030101010101" pitchFamily="2" charset="-122"/>
                <a:sym typeface="+mn-ea"/>
              </a:rPr>
              <a:t>(1)</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根</a:t>
            </a:r>
            <a:r>
              <a:rPr lang="zh-CN" altLang="en-US" dirty="0">
                <a:latin typeface="等线" panose="02010600030101010101" pitchFamily="2" charset="-122"/>
                <a:ea typeface="等线" panose="02010600030101010101" pitchFamily="2" charset="-122"/>
                <a:sym typeface="+mn-ea"/>
              </a:rPr>
              <a:t>服务器</a:t>
            </a:r>
            <a:endParaRPr lang="zh-CN" altLang="en-US"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136011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69848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spcBef>
                <a:spcPts val="540"/>
              </a:spcBef>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顶级域(TLD)域名服务器负责管理在该顶级域名服务器注册的所有二级域名</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20000"/>
              </a:lnSpc>
              <a:spcBef>
                <a:spcPts val="540"/>
              </a:spcBef>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当收到DNS查询请求时就给出相应的回答（可能是最后的结果，也可能是下一步应当找的二级域域名服务器的 IP 地址）</a:t>
            </a:r>
            <a:endParaRPr lang="zh-CN" altLang="en-US" sz="2800"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latin typeface="等线" panose="02010600030101010101" pitchFamily="2" charset="-122"/>
                <a:ea typeface="等线" panose="02010600030101010101" pitchFamily="2" charset="-122"/>
                <a:sym typeface="+mn-ea"/>
              </a:rPr>
              <a:t>(2)</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顶级域</a:t>
            </a:r>
            <a:r>
              <a:rPr lang="zh-CN" altLang="en-US" dirty="0">
                <a:latin typeface="等线" panose="02010600030101010101" pitchFamily="2" charset="-122"/>
                <a:ea typeface="等线" panose="02010600030101010101" pitchFamily="2" charset="-122"/>
                <a:sym typeface="+mn-ea"/>
              </a:rPr>
              <a:t>域名服务器</a:t>
            </a:r>
            <a:endParaRPr lang="zh-CN" altLang="en-US"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4093424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86866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10000"/>
              </a:lnSpc>
              <a:buFont typeface="Wingdings" panose="05000000000000000000" pitchFamily="2" charset="2"/>
              <a:buChar char="Ø"/>
            </a:pP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每一个主机都必须在某个二级域域名服务器处注册登记。因此二级域域名服务器知道其管辖的主机名应当转换成什么IP地址</a:t>
            </a:r>
            <a:endParaRPr lang="en-US" altLang="zh-CN" sz="2800" dirty="0">
              <a:latin typeface="等线" panose="02010600030101010101" pitchFamily="2" charset="-122"/>
              <a:ea typeface="等线" panose="02010600030101010101" pitchFamily="2" charset="-122"/>
              <a:cs typeface="微软雅黑" panose="020B0503020204020204" pitchFamily="34" charset="-122"/>
              <a:sym typeface="+mn-ea"/>
            </a:endParaRPr>
          </a:p>
          <a:p>
            <a:pPr marL="800100" lvl="2" indent="-342900" algn="just">
              <a:lnSpc>
                <a:spcPct val="110000"/>
              </a:lnSpc>
              <a:spcBef>
                <a:spcPts val="540"/>
              </a:spcBef>
              <a:buClrTx/>
              <a:buSzTx/>
            </a:pPr>
            <a:r>
              <a:rPr lang="zh-CN" altLang="en-US" sz="2600" dirty="0">
                <a:latin typeface="等线" panose="02010600030101010101" pitchFamily="2" charset="-122"/>
                <a:ea typeface="等线" panose="02010600030101010101" pitchFamily="2" charset="-122"/>
                <a:cs typeface="微软雅黑" panose="020B0503020204020204" pitchFamily="34" charset="-122"/>
                <a:sym typeface="+mn-ea"/>
              </a:rPr>
              <a:t>各个单位根据自己的具体情况把本单位的域名划为若干个域名</a:t>
            </a:r>
            <a:r>
              <a:rPr kumimoji="1" lang="en-US" altLang="zh-CN" sz="26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管辖区</a:t>
            </a:r>
            <a:r>
              <a:rPr lang="zh-CN" altLang="en-US" sz="2600" dirty="0">
                <a:latin typeface="等线" panose="02010600030101010101" pitchFamily="2" charset="-122"/>
                <a:ea typeface="等线" panose="02010600030101010101" pitchFamily="2" charset="-122"/>
                <a:cs typeface="微软雅黑" panose="020B0503020204020204" pitchFamily="34" charset="-122"/>
                <a:sym typeface="+mn-ea"/>
              </a:rPr>
              <a:t>(</a:t>
            </a:r>
            <a:r>
              <a:rPr kumimoji="1" lang="en-US" altLang="zh-CN" sz="26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zone</a:t>
            </a:r>
            <a:r>
              <a:rPr lang="zh-CN" altLang="en-US" sz="2600" dirty="0">
                <a:latin typeface="等线" panose="02010600030101010101" pitchFamily="2" charset="-122"/>
                <a:ea typeface="等线" panose="02010600030101010101" pitchFamily="2" charset="-122"/>
                <a:cs typeface="微软雅黑" panose="020B0503020204020204" pitchFamily="34" charset="-122"/>
                <a:sym typeface="+mn-ea"/>
              </a:rPr>
              <a:t>)，也可简称为</a:t>
            </a:r>
            <a:r>
              <a:rPr kumimoji="1" lang="en-US" altLang="zh-CN" sz="26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区</a:t>
            </a:r>
            <a:endParaRPr lang="zh-CN" altLang="en-US" sz="2600" dirty="0">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10000"/>
              </a:lnSpc>
              <a:spcBef>
                <a:spcPts val="540"/>
              </a:spcBef>
              <a:buClrTx/>
              <a:buSzTx/>
              <a:buFont typeface="Wingdings" panose="05000000000000000000" pitchFamily="2" charset="2"/>
              <a:buChar char="Ø"/>
            </a:pP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每个区</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设置相应的</a:t>
            </a:r>
            <a:r>
              <a:rPr kumimoji="1" lang="en-US" altLang="zh-CN" sz="2800"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权威</a:t>
            </a:r>
            <a:r>
              <a:rPr kumimoji="1" lang="zh-CN" altLang="en-US" sz="28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域名服务器</a:t>
            </a:r>
            <a:r>
              <a:rPr lang="zh-CN" altLang="en-US" sz="2800" dirty="0">
                <a:latin typeface="等线" panose="02010600030101010101" pitchFamily="2" charset="-122"/>
                <a:ea typeface="等线" panose="02010600030101010101" pitchFamily="2" charset="-122"/>
                <a:cs typeface="微软雅黑" panose="020B0503020204020204" pitchFamily="34" charset="-122"/>
                <a:sym typeface="+mn-ea"/>
              </a:rPr>
              <a:t>，用来保存该区中的所有主机的域名到IP地址的映射</a:t>
            </a:r>
            <a:endParaRPr lang="zh-CN" altLang="en-US" sz="2800" dirty="0">
              <a:latin typeface="等线" panose="02010600030101010101" pitchFamily="2" charset="-122"/>
              <a:ea typeface="等线" panose="02010600030101010101" pitchFamily="2" charset="-122"/>
              <a:cs typeface="微软雅黑" panose="020B0503020204020204" pitchFamily="34" charset="-122"/>
            </a:endParaRPr>
          </a:p>
          <a:p>
            <a:pPr marL="342900" indent="-342900">
              <a:lnSpc>
                <a:spcPct val="110000"/>
              </a:lnSpc>
              <a:buFont typeface="Wingdings" panose="05000000000000000000" pitchFamily="2" charset="2"/>
              <a:buChar char="Ø"/>
            </a:pPr>
            <a:r>
              <a:rPr kumimoji="1" lang="zh-CN" altLang="en-US" sz="28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一般来说，每个域名服务器</a:t>
            </a:r>
            <a:r>
              <a:rPr kumimoji="1" lang="en-US" altLang="zh-CN" sz="2800"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只</a:t>
            </a:r>
            <a:r>
              <a:rPr kumimoji="1" lang="zh-CN" altLang="en-US" sz="28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负责</a:t>
            </a:r>
            <a:r>
              <a:rPr kumimoji="1" lang="en-US" altLang="zh-CN" sz="28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解析本辖域的域名</a:t>
            </a:r>
            <a:endParaRPr lang="zh-CN" altLang="en-US" sz="2800"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latin typeface="等线" panose="02010600030101010101" pitchFamily="2" charset="-122"/>
                <a:ea typeface="等线" panose="02010600030101010101" pitchFamily="2" charset="-122"/>
                <a:sym typeface="+mn-ea"/>
              </a:rPr>
              <a:t>(3)</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二级</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域</a:t>
            </a:r>
            <a:r>
              <a:rPr lang="zh-CN" altLang="en-US" dirty="0">
                <a:latin typeface="等线" panose="02010600030101010101" pitchFamily="2" charset="-122"/>
                <a:ea typeface="等线" panose="02010600030101010101" pitchFamily="2" charset="-122"/>
                <a:sym typeface="+mn-ea"/>
              </a:rPr>
              <a:t>域名服务器</a:t>
            </a:r>
            <a:endParaRPr lang="zh-CN" altLang="en-US"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11852150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1215" y="1996440"/>
            <a:ext cx="1089850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00000"/>
              </a:lnSpc>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每一个</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Internet</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服务提供者</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ISP(Internet Service Provider)</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 都至少有一个</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递归</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服务器</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，距离用户主机较近</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00000"/>
              </a:lnSpc>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当用户主机发出DNS查询报文时，这个查询报文就首先被送往该主机所在区域的递归服务器</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00000"/>
              </a:lnSpc>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如果所要查询的主机也处在本地ISP的管辖范围，则本地域名服务器就能进行域名解析，否则就需要再询问其他的域名服务器</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00000"/>
              </a:lnSpc>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不同网络中的递归服务器、本地域名服务器的部署层次可能不同</a:t>
            </a:r>
          </a:p>
          <a:p>
            <a:pPr marL="342900" indent="-342900" algn="just">
              <a:lnSpc>
                <a:spcPct val="100000"/>
              </a:lnSpc>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最简单的部署层次是只有一层本地域域名服务器，即三级域域名服务器，且同时也作为递归服务器</a:t>
            </a:r>
          </a:p>
          <a:p>
            <a:pPr marL="342900" indent="-342900" algn="just">
              <a:lnSpc>
                <a:spcPct val="100000"/>
              </a:lnSpc>
              <a:buClrTx/>
              <a:buSzTx/>
              <a:buFont typeface="Wingdings" panose="05000000000000000000" pitchFamily="2" charset="2"/>
              <a:buChar char="Ø"/>
            </a:pPr>
            <a:endParaRPr lang="zh-CN" altLang="en-US" sz="2800"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latin typeface="等线" panose="02010600030101010101" pitchFamily="2" charset="-122"/>
                <a:ea typeface="等线" panose="02010600030101010101" pitchFamily="2" charset="-122"/>
                <a:sym typeface="+mn-ea"/>
              </a:rPr>
              <a:t>(4)</a:t>
            </a:r>
            <a:r>
              <a:rPr lang="zh-CN" altLang="en-US" dirty="0">
                <a:latin typeface="等线" panose="02010600030101010101" pitchFamily="2" charset="-122"/>
                <a:ea typeface="等线" panose="02010600030101010101" pitchFamily="2" charset="-122"/>
                <a:sym typeface="+mn-ea"/>
              </a:rPr>
              <a:t>递归解析器/递归服务器</a:t>
            </a:r>
            <a:endParaRPr lang="zh-CN" altLang="en-US"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143743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1215" y="1996440"/>
            <a:ext cx="1089850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实际部署中，解析请求路径上的递归服务器</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本地域名服务器可能有多层</a:t>
            </a:r>
          </a:p>
          <a:p>
            <a:pPr marL="342900" indent="-342900" algn="just">
              <a:lnSpc>
                <a:spcPct val="100000"/>
              </a:lnSpc>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在递归服务器</a:t>
            </a:r>
            <a:r>
              <a:rPr lang="en-US" altLang="zh-CN" dirty="0">
                <a:latin typeface="等线" panose="02010600030101010101" pitchFamily="2" charset="-122"/>
                <a:ea typeface="等线" panose="02010600030101010101" pitchFamily="2" charset="-122"/>
                <a:cs typeface="微软雅黑" panose="020B0503020204020204" pitchFamily="34" charset="-122"/>
                <a:sym typeface="+mn-ea"/>
              </a:rPr>
              <a:t>/</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本地域名服务器的多层结构中，当本层服务器没有解析结果时，通常是逐级向上递归进行查询</a:t>
            </a:r>
          </a:p>
          <a:p>
            <a:pPr marL="342900" indent="-342900" algn="just">
              <a:lnSpc>
                <a:spcPct val="100000"/>
              </a:lnSpc>
              <a:buClrTx/>
              <a:buSzTx/>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当查询请求到达</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本地域</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最上一层域名服务器时，</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该层</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服务器</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对自己无法解析的任何一个域名，</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首先求助于根服务器</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（而不是二级域域名服务器），开始逐步迭代查询</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latin typeface="等线" panose="02010600030101010101" pitchFamily="2" charset="-122"/>
                <a:ea typeface="等线" panose="02010600030101010101" pitchFamily="2" charset="-122"/>
                <a:sym typeface="+mn-ea"/>
              </a:rPr>
              <a:t>(4)</a:t>
            </a:r>
            <a:r>
              <a:rPr lang="zh-CN" altLang="en-US" dirty="0">
                <a:latin typeface="等线" panose="02010600030101010101" pitchFamily="2" charset="-122"/>
                <a:ea typeface="等线" panose="02010600030101010101" pitchFamily="2" charset="-122"/>
                <a:sym typeface="+mn-ea"/>
              </a:rPr>
              <a:t>递归解析器/递归服务器</a:t>
            </a:r>
            <a:endParaRPr lang="zh-CN" altLang="en-US"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2246309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域名解析过程</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996440"/>
            <a:ext cx="1082103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spcBef>
                <a:spcPct val="10000"/>
              </a:spcBef>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当某一应用进程需要进行域名解析时，该应用进程将域名放在DNS请求报文（</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UDP数据报, 端口号为53</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）发给递归服务器（使用UDP是为了减少开销）。递归服务器得到查询结果后, 将对应IP地址放在应答报文中返回给应用进程</a:t>
            </a:r>
            <a:endParaRPr lang="zh-CN" altLang="en-US" b="1" dirty="0">
              <a:solidFill>
                <a:schemeClr val="accent5">
                  <a:lumMod val="75000"/>
                </a:schemeClr>
              </a:solidFill>
              <a:latin typeface="等线" panose="02010600030101010101" pitchFamily="2" charset="-122"/>
              <a:ea typeface="等线" panose="02010600030101010101" pitchFamily="2" charset="-122"/>
              <a:cs typeface="微软雅黑" panose="020B0503020204020204" pitchFamily="34" charset="-122"/>
            </a:endParaRPr>
          </a:p>
          <a:p>
            <a:pPr marL="342900" indent="-342900" algn="just">
              <a:lnSpc>
                <a:spcPct val="120000"/>
              </a:lnSpc>
              <a:spcBef>
                <a:spcPct val="10000"/>
              </a:spcBef>
              <a:buFont typeface="Wingdings" panose="05000000000000000000" pitchFamily="2" charset="2"/>
              <a:buChar char="Ø"/>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域名查询有</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递归查询</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(recursive query)和</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迭代查询</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(或循环查询，iterative query)两种方式</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lvl="1" algn="just">
              <a:lnSpc>
                <a:spcPct val="120000"/>
              </a:lnSpc>
            </a:pP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主机向递归解析器/</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本地域</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域名服务器</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的查询一般采用递归查询</a:t>
            </a:r>
            <a:endParaRPr lang="zh-CN" altLang="en-US" b="1" dirty="0">
              <a:solidFill>
                <a:schemeClr val="tx2">
                  <a:lumMod val="75000"/>
                </a:schemeClr>
              </a:solidFill>
              <a:latin typeface="等线" panose="02010600030101010101" pitchFamily="2" charset="-122"/>
              <a:ea typeface="等线" panose="02010600030101010101" pitchFamily="2" charset="-122"/>
              <a:cs typeface="微软雅黑" panose="020B0503020204020204" pitchFamily="34" charset="-122"/>
              <a:sym typeface="+mn-ea"/>
            </a:endParaRPr>
          </a:p>
          <a:p>
            <a:pPr lvl="1" algn="just">
              <a:lnSpc>
                <a:spcPct val="120000"/>
              </a:lnSpc>
            </a:pP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递归解析器/</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本地域</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域名服务器</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向根服务器</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可以采用递归查询，但一般</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优先采用迭代查询</a:t>
            </a:r>
            <a:endParaRPr lang="zh-CN" altLang="en-US"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dirty="0">
                <a:latin typeface="等线" panose="02010600030101010101" pitchFamily="2" charset="-122"/>
                <a:ea typeface="等线" panose="02010600030101010101" pitchFamily="2" charset="-122"/>
                <a:sym typeface="+mn-ea"/>
              </a:rPr>
              <a:t>域名解析过程概述</a:t>
            </a:r>
            <a:endParaRPr lang="zh-CN" altLang="en-US" dirty="0">
              <a:solidFill>
                <a:schemeClr val="tx1"/>
              </a:solidFill>
              <a:latin typeface="等线" panose="02010600030101010101" pitchFamily="2" charset="-122"/>
              <a:ea typeface="等线" panose="02010600030101010101" pitchFamily="2" charset="-122"/>
              <a:sym typeface="+mn-ea"/>
            </a:endParaRPr>
          </a:p>
        </p:txBody>
      </p:sp>
    </p:spTree>
    <p:extLst>
      <p:ext uri="{BB962C8B-B14F-4D97-AF65-F5344CB8AC3E}">
        <p14:creationId xmlns:p14="http://schemas.microsoft.com/office/powerpoint/2010/main" val="28467569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域名解析过程</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502006"/>
            <a:ext cx="4201160" cy="4849899"/>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递归查询</a:t>
            </a:r>
            <a:endParaRPr lang="en-US" altLang="zh-CN" noProof="0" dirty="0">
              <a:latin typeface="等线" panose="02010600030101010101" pitchFamily="2" charset="-122"/>
              <a:ea typeface="等线" panose="02010600030101010101" pitchFamily="2" charset="-122"/>
              <a:cs typeface="微软雅黑" panose="020B0503020204020204" pitchFamily="34" charset="-122"/>
              <a:sym typeface="+mn-ea"/>
            </a:endParaRPr>
          </a:p>
          <a:p>
            <a:pPr marL="668020" lvl="1" indent="-342900" algn="just">
              <a:lnSpc>
                <a:spcPct val="120000"/>
              </a:lnSpc>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当收到查询请求报文的域名服务器不知被查询域名的IP地址时，该域名服务器就以DNS客户的身份向下一步应查询的域名服务器发出查询请求，即</a:t>
            </a:r>
            <a:r>
              <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替</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递归服务器继续</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查询</a:t>
            </a:r>
            <a:endParaRPr kumimoji="1" lang="en-US" altLang="zh-CN"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endParaRPr>
          </a:p>
          <a:p>
            <a:pPr marL="668020" lvl="1" indent="-342900" algn="just">
              <a:lnSpc>
                <a:spcPct val="120000"/>
              </a:lnSpc>
            </a:pPr>
            <a:r>
              <a:rPr kumimoji="1" lang="zh-CN" altLang="en-US" dirty="0">
                <a:solidFill>
                  <a:srgbClr val="C00000"/>
                </a:solidFill>
                <a:latin typeface="等线" panose="02010600030101010101" pitchFamily="2" charset="-122"/>
                <a:ea typeface="等线" panose="02010600030101010101" pitchFamily="2" charset="-122"/>
                <a:cs typeface="微软雅黑" panose="020B0503020204020204" pitchFamily="34" charset="-122"/>
                <a:sym typeface="+mn-ea"/>
              </a:rPr>
              <a:t>较少使用</a:t>
            </a:r>
            <a:endParaRPr lang="zh-CN" altLang="en-US" dirty="0">
              <a:latin typeface="等线" panose="02010600030101010101" pitchFamily="2" charset="-122"/>
              <a:ea typeface="等线" panose="02010600030101010101" pitchFamily="2" charset="-122"/>
              <a:cs typeface="微软雅黑" panose="020B0503020204020204" pitchFamily="34" charset="-122"/>
              <a:sym typeface="+mn-ea"/>
            </a:endParaRPr>
          </a:p>
        </p:txBody>
      </p:sp>
      <p:grpSp>
        <p:nvGrpSpPr>
          <p:cNvPr id="7" name="组合 6"/>
          <p:cNvGrpSpPr/>
          <p:nvPr/>
        </p:nvGrpSpPr>
        <p:grpSpPr>
          <a:xfrm>
            <a:off x="5735956" y="1550305"/>
            <a:ext cx="6456710" cy="4951178"/>
            <a:chOff x="6036691" y="1283467"/>
            <a:chExt cx="6155886" cy="4950898"/>
          </a:xfrm>
        </p:grpSpPr>
        <p:sp>
          <p:nvSpPr>
            <p:cNvPr id="8" name="矩形 32771"/>
            <p:cNvSpPr>
              <a:spLocks noChangeArrowheads="1"/>
            </p:cNvSpPr>
            <p:nvPr/>
          </p:nvSpPr>
          <p:spPr bwMode="auto">
            <a:xfrm flipH="1">
              <a:off x="7260996" y="1318392"/>
              <a:ext cx="3140075" cy="3065463"/>
            </a:xfrm>
            <a:prstGeom prst="rect">
              <a:avLst/>
            </a:prstGeom>
            <a:solidFill>
              <a:srgbClr val="EAEAEA"/>
            </a:solidFill>
            <a:ln w="9525">
              <a:solidFill>
                <a:schemeClr val="tx1"/>
              </a:solidFill>
              <a:prstDash val="dash"/>
              <a:miter lim="800000"/>
            </a:ln>
          </p:spPr>
          <p:txBody>
            <a:bodyPr/>
            <a:lstStyle/>
            <a:p>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11" name="文本框 32772"/>
            <p:cNvSpPr txBox="1">
              <a:spLocks noChangeArrowheads="1"/>
            </p:cNvSpPr>
            <p:nvPr/>
          </p:nvSpPr>
          <p:spPr bwMode="auto">
            <a:xfrm flipH="1">
              <a:off x="10168197" y="1483492"/>
              <a:ext cx="2023745" cy="706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000" dirty="0">
                  <a:solidFill>
                    <a:schemeClr val="folHlink"/>
                  </a:solidFill>
                  <a:latin typeface="等线" panose="02010600030101010101" pitchFamily="2" charset="-122"/>
                  <a:ea typeface="等线" panose="02010600030101010101" pitchFamily="2" charset="-122"/>
                  <a:cs typeface="Times New Roman" panose="02020603050405020304" charset="0"/>
                </a:rPr>
                <a:t>顶级域名服务器</a:t>
              </a:r>
            </a:p>
            <a:p>
              <a:pPr algn="ctr"/>
              <a:r>
                <a:rPr lang="en-US" altLang="zh-CN" sz="2000" dirty="0">
                  <a:solidFill>
                    <a:schemeClr val="folHlink"/>
                  </a:solidFill>
                  <a:latin typeface="等线" panose="02010600030101010101" pitchFamily="2" charset="-122"/>
                  <a:ea typeface="等线" panose="02010600030101010101" pitchFamily="2" charset="-122"/>
                  <a:cs typeface="Times New Roman" panose="02020603050405020304" charset="0"/>
                </a:rPr>
                <a:t>dns.com</a:t>
              </a:r>
            </a:p>
          </p:txBody>
        </p:sp>
        <p:sp>
          <p:nvSpPr>
            <p:cNvPr id="12" name="文本框 32773"/>
            <p:cNvSpPr txBox="1">
              <a:spLocks noChangeArrowheads="1"/>
            </p:cNvSpPr>
            <p:nvPr/>
          </p:nvSpPr>
          <p:spPr bwMode="auto">
            <a:xfrm flipH="1">
              <a:off x="10322451" y="3800464"/>
              <a:ext cx="1870126" cy="59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80000"/>
                </a:lnSpc>
              </a:pPr>
              <a:r>
                <a:rPr lang="zh-CN" altLang="en-US" sz="2000" dirty="0">
                  <a:solidFill>
                    <a:schemeClr val="folHlink"/>
                  </a:solidFill>
                  <a:latin typeface="等线" panose="02010600030101010101" pitchFamily="2" charset="-122"/>
                  <a:ea typeface="等线" panose="02010600030101010101" pitchFamily="2" charset="-122"/>
                  <a:cs typeface="Times New Roman" panose="02020603050405020304" charset="0"/>
                </a:rPr>
                <a:t>二级域名服务dns.abc.com</a:t>
              </a:r>
            </a:p>
          </p:txBody>
        </p:sp>
        <p:pic>
          <p:nvPicPr>
            <p:cNvPr id="18" name="图片 327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431032" y="5410368"/>
              <a:ext cx="4889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文本框 32776"/>
            <p:cNvSpPr txBox="1">
              <a:spLocks noChangeArrowheads="1"/>
            </p:cNvSpPr>
            <p:nvPr/>
          </p:nvSpPr>
          <p:spPr bwMode="auto">
            <a:xfrm flipH="1">
              <a:off x="7065776" y="5888841"/>
              <a:ext cx="1465262" cy="345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0000"/>
                </a:lnSpc>
              </a:pPr>
              <a:r>
                <a:rPr lang="en-US" altLang="zh-CN" sz="2000" dirty="0">
                  <a:solidFill>
                    <a:schemeClr val="folHlink"/>
                  </a:solidFill>
                  <a:latin typeface="等线" panose="02010600030101010101" pitchFamily="2" charset="-122"/>
                  <a:ea typeface="等线" panose="02010600030101010101" pitchFamily="2" charset="-122"/>
                  <a:cs typeface="Times New Roman" panose="02020603050405020304" charset="0"/>
                </a:rPr>
                <a:t>m.xyz.com </a:t>
              </a:r>
            </a:p>
          </p:txBody>
        </p:sp>
        <p:sp>
          <p:nvSpPr>
            <p:cNvPr id="20" name="文本框 32777"/>
            <p:cNvSpPr txBox="1">
              <a:spLocks noChangeArrowheads="1"/>
            </p:cNvSpPr>
            <p:nvPr/>
          </p:nvSpPr>
          <p:spPr bwMode="auto">
            <a:xfrm flipH="1">
              <a:off x="6036691" y="1499355"/>
              <a:ext cx="1187218" cy="398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000" dirty="0">
                  <a:solidFill>
                    <a:schemeClr val="folHlink"/>
                  </a:solidFill>
                  <a:latin typeface="等线" panose="02010600030101010101" pitchFamily="2" charset="-122"/>
                  <a:ea typeface="等线" panose="02010600030101010101" pitchFamily="2" charset="-122"/>
                </a:rPr>
                <a:t>根服务器</a:t>
              </a:r>
            </a:p>
          </p:txBody>
        </p:sp>
        <p:pic>
          <p:nvPicPr>
            <p:cNvPr id="21" name="图片 3277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7328477" y="1283467"/>
              <a:ext cx="693738"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277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538277" y="1283467"/>
              <a:ext cx="696913"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bwMode="auto">
            <a:xfrm>
              <a:off x="7777740" y="2459805"/>
              <a:ext cx="436562" cy="914400"/>
              <a:chOff x="0" y="0"/>
              <a:chExt cx="275" cy="576"/>
            </a:xfrm>
          </p:grpSpPr>
          <p:sp>
            <p:nvSpPr>
              <p:cNvPr id="24" name="文本框 32781"/>
              <p:cNvSpPr txBox="1">
                <a:spLocks noChangeArrowheads="1"/>
              </p:cNvSpPr>
              <p:nvPr/>
            </p:nvSpPr>
            <p:spPr bwMode="auto">
              <a:xfrm flipH="1">
                <a:off x="0" y="46"/>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folHlink"/>
                    </a:solidFill>
                    <a:latin typeface="等线" panose="02010600030101010101" pitchFamily="2" charset="-122"/>
                    <a:ea typeface="等线" panose="02010600030101010101" pitchFamily="2" charset="-122"/>
                  </a:rPr>
                  <a:t>⑦</a:t>
                </a:r>
              </a:p>
            </p:txBody>
          </p:sp>
          <p:sp>
            <p:nvSpPr>
              <p:cNvPr id="25" name="直接连接符 32782"/>
              <p:cNvSpPr>
                <a:spLocks noChangeShapeType="1"/>
              </p:cNvSpPr>
              <p:nvPr/>
            </p:nvSpPr>
            <p:spPr bwMode="auto">
              <a:xfrm rot="10800000" flipH="1" flipV="1">
                <a:off x="13" y="0"/>
                <a:ext cx="0" cy="576"/>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grpSp>
          <p:nvGrpSpPr>
            <p:cNvPr id="26" name="组合 25"/>
            <p:cNvGrpSpPr/>
            <p:nvPr/>
          </p:nvGrpSpPr>
          <p:grpSpPr bwMode="auto">
            <a:xfrm>
              <a:off x="8034915" y="1693042"/>
              <a:ext cx="1592262" cy="398463"/>
              <a:chOff x="0" y="0"/>
              <a:chExt cx="1003" cy="251"/>
            </a:xfrm>
          </p:grpSpPr>
          <p:sp>
            <p:nvSpPr>
              <p:cNvPr id="27" name="文本框 32784"/>
              <p:cNvSpPr txBox="1">
                <a:spLocks noChangeArrowheads="1"/>
              </p:cNvSpPr>
              <p:nvPr/>
            </p:nvSpPr>
            <p:spPr bwMode="auto">
              <a:xfrm flipH="1">
                <a:off x="391" y="0"/>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folHlink"/>
                    </a:solidFill>
                    <a:latin typeface="等线" panose="02010600030101010101" pitchFamily="2" charset="-122"/>
                    <a:ea typeface="等线" panose="02010600030101010101" pitchFamily="2" charset="-122"/>
                  </a:rPr>
                  <a:t>③</a:t>
                </a:r>
              </a:p>
            </p:txBody>
          </p:sp>
          <p:sp>
            <p:nvSpPr>
              <p:cNvPr id="28" name="直接连接符 32785"/>
              <p:cNvSpPr>
                <a:spLocks noChangeShapeType="1"/>
              </p:cNvSpPr>
              <p:nvPr/>
            </p:nvSpPr>
            <p:spPr bwMode="auto">
              <a:xfrm rot="10800000" flipH="1">
                <a:off x="0" y="251"/>
                <a:ext cx="1003" cy="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pic>
          <p:nvPicPr>
            <p:cNvPr id="29" name="图片 3278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627177" y="3221805"/>
              <a:ext cx="695325"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图片 327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7328477" y="3221805"/>
              <a:ext cx="693738"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 name="组合 30"/>
            <p:cNvGrpSpPr/>
            <p:nvPr/>
          </p:nvGrpSpPr>
          <p:grpSpPr bwMode="auto">
            <a:xfrm>
              <a:off x="7282440" y="1297755"/>
              <a:ext cx="2233613" cy="2076450"/>
              <a:chOff x="0" y="0"/>
              <a:chExt cx="1407" cy="1308"/>
            </a:xfrm>
          </p:grpSpPr>
          <p:sp>
            <p:nvSpPr>
              <p:cNvPr id="32" name="文本框 32789"/>
              <p:cNvSpPr txBox="1">
                <a:spLocks noChangeArrowheads="1"/>
              </p:cNvSpPr>
              <p:nvPr/>
            </p:nvSpPr>
            <p:spPr bwMode="auto">
              <a:xfrm flipH="1">
                <a:off x="0" y="795"/>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folHlink"/>
                    </a:solidFill>
                    <a:latin typeface="等线" panose="02010600030101010101" pitchFamily="2" charset="-122"/>
                    <a:ea typeface="等线" panose="02010600030101010101" pitchFamily="2" charset="-122"/>
                  </a:rPr>
                  <a:t>②</a:t>
                </a:r>
              </a:p>
            </p:txBody>
          </p:sp>
          <p:sp>
            <p:nvSpPr>
              <p:cNvPr id="33" name="直接连接符 32790"/>
              <p:cNvSpPr>
                <a:spLocks noChangeShapeType="1"/>
              </p:cNvSpPr>
              <p:nvPr/>
            </p:nvSpPr>
            <p:spPr bwMode="auto">
              <a:xfrm rot="10800000" flipH="1">
                <a:off x="231" y="732"/>
                <a:ext cx="0" cy="576"/>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 name="文本框 32791"/>
              <p:cNvSpPr txBox="1">
                <a:spLocks noChangeArrowheads="1"/>
              </p:cNvSpPr>
              <p:nvPr/>
            </p:nvSpPr>
            <p:spPr bwMode="auto">
              <a:xfrm flipH="1">
                <a:off x="494" y="0"/>
                <a:ext cx="91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kumimoji="1" lang="en-US" altLang="zh-CN" sz="24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rPr>
                  <a:t>递归查询</a:t>
                </a:r>
              </a:p>
            </p:txBody>
          </p:sp>
        </p:grpSp>
        <p:grpSp>
          <p:nvGrpSpPr>
            <p:cNvPr id="35" name="组合 34"/>
            <p:cNvGrpSpPr/>
            <p:nvPr/>
          </p:nvGrpSpPr>
          <p:grpSpPr bwMode="auto">
            <a:xfrm>
              <a:off x="6545840" y="4423543"/>
              <a:ext cx="1103312" cy="914400"/>
              <a:chOff x="-102" y="-393"/>
              <a:chExt cx="695" cy="576"/>
            </a:xfrm>
          </p:grpSpPr>
          <p:sp>
            <p:nvSpPr>
              <p:cNvPr id="36" name="文本框 32793"/>
              <p:cNvSpPr txBox="1">
                <a:spLocks noChangeArrowheads="1"/>
              </p:cNvSpPr>
              <p:nvPr/>
            </p:nvSpPr>
            <p:spPr bwMode="auto">
              <a:xfrm flipH="1">
                <a:off x="-102" y="-334"/>
                <a:ext cx="436"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000" dirty="0">
                    <a:solidFill>
                      <a:schemeClr val="folHlink"/>
                    </a:solidFill>
                    <a:latin typeface="等线" panose="02010600030101010101" pitchFamily="2" charset="-122"/>
                    <a:ea typeface="等线" panose="02010600030101010101" pitchFamily="2" charset="-122"/>
                  </a:rPr>
                  <a:t>递归</a:t>
                </a:r>
              </a:p>
              <a:p>
                <a:pPr algn="ctr">
                  <a:lnSpc>
                    <a:spcPct val="90000"/>
                  </a:lnSpc>
                </a:pPr>
                <a:r>
                  <a:rPr lang="zh-CN" altLang="en-US" sz="2000" dirty="0">
                    <a:solidFill>
                      <a:schemeClr val="folHlink"/>
                    </a:solidFill>
                    <a:latin typeface="等线" panose="02010600030101010101" pitchFamily="2" charset="-122"/>
                    <a:ea typeface="等线" panose="02010600030101010101" pitchFamily="2" charset="-122"/>
                  </a:rPr>
                  <a:t>查询</a:t>
                </a:r>
              </a:p>
            </p:txBody>
          </p:sp>
          <p:sp>
            <p:nvSpPr>
              <p:cNvPr id="37" name="文本框 32794"/>
              <p:cNvSpPr txBox="1">
                <a:spLocks noChangeArrowheads="1"/>
              </p:cNvSpPr>
              <p:nvPr/>
            </p:nvSpPr>
            <p:spPr bwMode="auto">
              <a:xfrm flipH="1">
                <a:off x="317" y="-246"/>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folHlink"/>
                    </a:solidFill>
                    <a:latin typeface="等线" panose="02010600030101010101" pitchFamily="2" charset="-122"/>
                    <a:ea typeface="等线" panose="02010600030101010101" pitchFamily="2" charset="-122"/>
                  </a:rPr>
                  <a:t>①</a:t>
                </a:r>
              </a:p>
            </p:txBody>
          </p:sp>
          <p:sp>
            <p:nvSpPr>
              <p:cNvPr id="38" name="直接连接符 32795"/>
              <p:cNvSpPr>
                <a:spLocks noChangeShapeType="1"/>
              </p:cNvSpPr>
              <p:nvPr/>
            </p:nvSpPr>
            <p:spPr bwMode="auto">
              <a:xfrm rot="10800000" flipH="1">
                <a:off x="593" y="-393"/>
                <a:ext cx="0" cy="576"/>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grpSp>
          <p:nvGrpSpPr>
            <p:cNvPr id="39" name="组合 38"/>
            <p:cNvGrpSpPr/>
            <p:nvPr/>
          </p:nvGrpSpPr>
          <p:grpSpPr bwMode="auto">
            <a:xfrm>
              <a:off x="7738052" y="4490218"/>
              <a:ext cx="2744788" cy="914400"/>
              <a:chOff x="2" y="-351"/>
              <a:chExt cx="1729" cy="576"/>
            </a:xfrm>
          </p:grpSpPr>
          <p:sp>
            <p:nvSpPr>
              <p:cNvPr id="40" name="矩形 32797"/>
              <p:cNvSpPr>
                <a:spLocks noChangeArrowheads="1"/>
              </p:cNvSpPr>
              <p:nvPr/>
            </p:nvSpPr>
            <p:spPr bwMode="auto">
              <a:xfrm>
                <a:off x="255" y="-262"/>
                <a:ext cx="1476" cy="267"/>
              </a:xfrm>
              <a:prstGeom prst="rect">
                <a:avLst/>
              </a:prstGeom>
              <a:solidFill>
                <a:srgbClr val="FFFF66"/>
              </a:solidFill>
              <a:ln w="9525">
                <a:solidFill>
                  <a:schemeClr val="tx1"/>
                </a:solidFill>
                <a:miter lim="800000"/>
              </a:ln>
            </p:spPr>
            <p:txBody>
              <a:bodyPr/>
              <a:lstStyle/>
              <a:p>
                <a:pPr algn="ctr"/>
                <a:r>
                  <a:rPr lang="en-US" altLang="zh-CN" dirty="0">
                    <a:solidFill>
                      <a:schemeClr val="folHlink"/>
                    </a:solidFill>
                    <a:latin typeface="等线" panose="02010600030101010101" pitchFamily="2" charset="-122"/>
                    <a:ea typeface="等线" panose="02010600030101010101" pitchFamily="2" charset="-122"/>
                    <a:cs typeface="Times New Roman" panose="02020603050405020304" charset="0"/>
                    <a:sym typeface="+mn-ea"/>
                  </a:rPr>
                  <a:t>y.abc.com </a:t>
                </a:r>
                <a:r>
                  <a:rPr lang="zh-CN" altLang="en-US" dirty="0">
                    <a:solidFill>
                      <a:schemeClr val="folHlink"/>
                    </a:solidFill>
                    <a:latin typeface="等线" panose="02010600030101010101" pitchFamily="2" charset="-122"/>
                    <a:ea typeface="等线" panose="02010600030101010101" pitchFamily="2" charset="-122"/>
                    <a:cs typeface="Times New Roman" panose="02020603050405020304" charset="0"/>
                    <a:sym typeface="+mn-ea"/>
                  </a:rPr>
                  <a:t>的 </a:t>
                </a:r>
                <a:r>
                  <a:rPr lang="en-US" altLang="zh-CN" dirty="0">
                    <a:solidFill>
                      <a:schemeClr val="folHlink"/>
                    </a:solidFill>
                    <a:latin typeface="等线" panose="02010600030101010101" pitchFamily="2" charset="-122"/>
                    <a:ea typeface="等线" panose="02010600030101010101" pitchFamily="2" charset="-122"/>
                    <a:cs typeface="Times New Roman" panose="02020603050405020304" charset="0"/>
                    <a:sym typeface="+mn-ea"/>
                  </a:rPr>
                  <a:t>IP </a:t>
                </a:r>
                <a:r>
                  <a:rPr lang="zh-CN" altLang="en-US" dirty="0">
                    <a:solidFill>
                      <a:schemeClr val="folHlink"/>
                    </a:solidFill>
                    <a:latin typeface="等线" panose="02010600030101010101" pitchFamily="2" charset="-122"/>
                    <a:ea typeface="等线" panose="02010600030101010101" pitchFamily="2" charset="-122"/>
                    <a:cs typeface="Times New Roman" panose="02020603050405020304" charset="0"/>
                    <a:sym typeface="+mn-ea"/>
                  </a:rPr>
                  <a:t>地址</a:t>
                </a:r>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42" name="文本框 32799"/>
              <p:cNvSpPr txBox="1">
                <a:spLocks noChangeArrowheads="1"/>
              </p:cNvSpPr>
              <p:nvPr/>
            </p:nvSpPr>
            <p:spPr bwMode="auto">
              <a:xfrm flipH="1">
                <a:off x="2" y="-247"/>
                <a:ext cx="27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folHlink"/>
                    </a:solidFill>
                    <a:latin typeface="等线" panose="02010600030101010101" pitchFamily="2" charset="-122"/>
                    <a:ea typeface="等线" panose="02010600030101010101" pitchFamily="2" charset="-122"/>
                  </a:rPr>
                  <a:t>⑧</a:t>
                </a:r>
              </a:p>
            </p:txBody>
          </p:sp>
          <p:sp>
            <p:nvSpPr>
              <p:cNvPr id="43" name="直接连接符 32800"/>
              <p:cNvSpPr>
                <a:spLocks noChangeShapeType="1"/>
              </p:cNvSpPr>
              <p:nvPr/>
            </p:nvSpPr>
            <p:spPr bwMode="auto">
              <a:xfrm rot="10800000" flipH="1" flipV="1">
                <a:off x="40" y="-351"/>
                <a:ext cx="0" cy="576"/>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grpSp>
          <p:nvGrpSpPr>
            <p:cNvPr id="44" name="组合 43"/>
            <p:cNvGrpSpPr/>
            <p:nvPr/>
          </p:nvGrpSpPr>
          <p:grpSpPr bwMode="auto">
            <a:xfrm>
              <a:off x="8034915" y="2199455"/>
              <a:ext cx="1592262" cy="398463"/>
              <a:chOff x="0" y="0"/>
              <a:chExt cx="1003" cy="251"/>
            </a:xfrm>
          </p:grpSpPr>
          <p:sp>
            <p:nvSpPr>
              <p:cNvPr id="45" name="文本框 32802"/>
              <p:cNvSpPr txBox="1">
                <a:spLocks noChangeArrowheads="1"/>
              </p:cNvSpPr>
              <p:nvPr/>
            </p:nvSpPr>
            <p:spPr bwMode="auto">
              <a:xfrm flipH="1">
                <a:off x="335" y="0"/>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folHlink"/>
                    </a:solidFill>
                    <a:latin typeface="等线" panose="02010600030101010101" pitchFamily="2" charset="-122"/>
                    <a:ea typeface="等线" panose="02010600030101010101" pitchFamily="2" charset="-122"/>
                  </a:rPr>
                  <a:t>⑥</a:t>
                </a:r>
              </a:p>
            </p:txBody>
          </p:sp>
          <p:sp>
            <p:nvSpPr>
              <p:cNvPr id="46" name="直接连接符 32803"/>
              <p:cNvSpPr>
                <a:spLocks noChangeShapeType="1"/>
              </p:cNvSpPr>
              <p:nvPr/>
            </p:nvSpPr>
            <p:spPr bwMode="auto">
              <a:xfrm rot="10800000">
                <a:off x="0" y="49"/>
                <a:ext cx="1003" cy="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grpSp>
          <p:nvGrpSpPr>
            <p:cNvPr id="47" name="组合 46"/>
            <p:cNvGrpSpPr/>
            <p:nvPr/>
          </p:nvGrpSpPr>
          <p:grpSpPr bwMode="auto">
            <a:xfrm>
              <a:off x="9539865" y="2377255"/>
              <a:ext cx="438150" cy="912812"/>
              <a:chOff x="0" y="0"/>
              <a:chExt cx="276" cy="575"/>
            </a:xfrm>
          </p:grpSpPr>
          <p:sp>
            <p:nvSpPr>
              <p:cNvPr id="48" name="文本框 32805"/>
              <p:cNvSpPr txBox="1">
                <a:spLocks noChangeArrowheads="1"/>
              </p:cNvSpPr>
              <p:nvPr/>
            </p:nvSpPr>
            <p:spPr bwMode="auto">
              <a:xfrm flipH="1">
                <a:off x="0" y="135"/>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folHlink"/>
                    </a:solidFill>
                    <a:latin typeface="等线" panose="02010600030101010101" pitchFamily="2" charset="-122"/>
                    <a:ea typeface="等线" panose="02010600030101010101" pitchFamily="2" charset="-122"/>
                  </a:rPr>
                  <a:t>⑤</a:t>
                </a:r>
              </a:p>
            </p:txBody>
          </p:sp>
          <p:sp>
            <p:nvSpPr>
              <p:cNvPr id="49" name="直接连接符 32806"/>
              <p:cNvSpPr>
                <a:spLocks noChangeShapeType="1"/>
              </p:cNvSpPr>
              <p:nvPr/>
            </p:nvSpPr>
            <p:spPr bwMode="auto">
              <a:xfrm rot="10800000" flipH="1">
                <a:off x="233" y="0"/>
                <a:ext cx="0" cy="575"/>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grpSp>
          <p:nvGrpSpPr>
            <p:cNvPr id="50" name="组合 49"/>
            <p:cNvGrpSpPr/>
            <p:nvPr/>
          </p:nvGrpSpPr>
          <p:grpSpPr bwMode="auto">
            <a:xfrm>
              <a:off x="10046277" y="2377255"/>
              <a:ext cx="436563" cy="912812"/>
              <a:chOff x="0" y="0"/>
              <a:chExt cx="275" cy="575"/>
            </a:xfrm>
          </p:grpSpPr>
          <p:sp>
            <p:nvSpPr>
              <p:cNvPr id="51" name="文本框 32808"/>
              <p:cNvSpPr txBox="1">
                <a:spLocks noChangeArrowheads="1"/>
              </p:cNvSpPr>
              <p:nvPr/>
            </p:nvSpPr>
            <p:spPr bwMode="auto">
              <a:xfrm flipH="1">
                <a:off x="0" y="68"/>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folHlink"/>
                    </a:solidFill>
                    <a:latin typeface="等线" panose="02010600030101010101" pitchFamily="2" charset="-122"/>
                    <a:ea typeface="等线" panose="02010600030101010101" pitchFamily="2" charset="-122"/>
                  </a:rPr>
                  <a:t>④</a:t>
                </a:r>
              </a:p>
            </p:txBody>
          </p:sp>
          <p:sp>
            <p:nvSpPr>
              <p:cNvPr id="52" name="直接连接符 32809"/>
              <p:cNvSpPr>
                <a:spLocks noChangeShapeType="1"/>
              </p:cNvSpPr>
              <p:nvPr/>
            </p:nvSpPr>
            <p:spPr bwMode="auto">
              <a:xfrm rot="10800000" flipH="1" flipV="1">
                <a:off x="8" y="0"/>
                <a:ext cx="0" cy="575"/>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grpSp>
      <p:sp>
        <p:nvSpPr>
          <p:cNvPr id="13" name="页脚占位符 12"/>
          <p:cNvSpPr>
            <a:spLocks noGrp="1"/>
          </p:cNvSpPr>
          <p:nvPr>
            <p:ph type="ftr" sz="quarter" idx="11"/>
          </p:nvPr>
        </p:nvSpPr>
        <p:spPr/>
        <p:txBody>
          <a:bodyPr/>
          <a:lstStyle/>
          <a:p>
            <a:r>
              <a:rPr kumimoji="1" lang="zh-CN" altLang="en-US" dirty="0">
                <a:latin typeface="等线" panose="02010600030101010101" pitchFamily="2" charset="-122"/>
                <a:ea typeface="等线" panose="02010600030101010101" pitchFamily="2" charset="-122"/>
              </a:rPr>
              <a:t>引自：计算机网络，谢希仁</a:t>
            </a:r>
          </a:p>
        </p:txBody>
      </p:sp>
      <p:sp>
        <p:nvSpPr>
          <p:cNvPr id="60" name="文本框 34827"/>
          <p:cNvSpPr txBox="1">
            <a:spLocks noChangeArrowheads="1"/>
          </p:cNvSpPr>
          <p:nvPr/>
        </p:nvSpPr>
        <p:spPr bwMode="auto">
          <a:xfrm flipH="1">
            <a:off x="5338908" y="3759201"/>
            <a:ext cx="1675924"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360680" algn="ctr">
              <a:lnSpc>
                <a:spcPct val="100000"/>
              </a:lnSpc>
              <a:spcBef>
                <a:spcPts val="0"/>
              </a:spcBef>
              <a:spcAft>
                <a:spcPts val="0"/>
              </a:spcAft>
              <a:buClrTx/>
              <a:buSzTx/>
              <a:buFont typeface="Wingdings" panose="05000000000000000000" pitchFamily="2" charset="2"/>
            </a:pPr>
            <a:r>
              <a:rPr kumimoji="1" lang="en-US" altLang="zh-CN" sz="20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rPr>
              <a:t>本地域</a:t>
            </a:r>
          </a:p>
          <a:p>
            <a:pPr indent="-360680" algn="ctr">
              <a:lnSpc>
                <a:spcPct val="100000"/>
              </a:lnSpc>
              <a:spcBef>
                <a:spcPts val="0"/>
              </a:spcBef>
              <a:spcAft>
                <a:spcPts val="0"/>
              </a:spcAft>
              <a:buClrTx/>
              <a:buSzTx/>
              <a:buFont typeface="Wingdings" panose="05000000000000000000" pitchFamily="2" charset="2"/>
            </a:pPr>
            <a:r>
              <a:rPr kumimoji="1" lang="zh-CN" altLang="en-US" sz="20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rPr>
              <a:t>域名服务器</a:t>
            </a:r>
            <a:endParaRPr lang="zh-CN" altLang="en-US" sz="2000" dirty="0">
              <a:solidFill>
                <a:srgbClr val="FF00FF"/>
              </a:solidFill>
              <a:latin typeface="等线" panose="02010600030101010101" pitchFamily="2" charset="-122"/>
              <a:ea typeface="等线" panose="02010600030101010101" pitchFamily="2" charset="-122"/>
              <a:cs typeface="微软雅黑" panose="020B0503020204020204" pitchFamily="34" charset="-122"/>
            </a:endParaRPr>
          </a:p>
          <a:p>
            <a:pPr algn="ctr">
              <a:lnSpc>
                <a:spcPct val="80000"/>
              </a:lnSpc>
            </a:pP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dns.xyz.com</a:t>
            </a:r>
          </a:p>
        </p:txBody>
      </p:sp>
    </p:spTree>
    <p:extLst>
      <p:ext uri="{BB962C8B-B14F-4D97-AF65-F5344CB8AC3E}">
        <p14:creationId xmlns:p14="http://schemas.microsoft.com/office/powerpoint/2010/main" val="3684683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域名解析过程</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等线" panose="02010600030101010101" pitchFamily="2" charset="-122"/>
                <a:ea typeface="等线" panose="02010600030101010101" pitchFamily="2" charset="-122"/>
              </a:rPr>
              <a:t>7.2 </a:t>
            </a:r>
            <a:r>
              <a:rPr lang="zh-CN" altLang="en-US" dirty="0">
                <a:latin typeface="等线" panose="02010600030101010101" pitchFamily="2" charset="-122"/>
                <a:ea typeface="等线" panose="02010600030101010101" pitchFamily="2" charset="-122"/>
              </a:rPr>
              <a:t>域名系统</a:t>
            </a:r>
          </a:p>
        </p:txBody>
      </p:sp>
      <p:sp>
        <p:nvSpPr>
          <p:cNvPr id="5" name="内容占位符 2"/>
          <p:cNvSpPr>
            <a:spLocks noGrp="1"/>
          </p:cNvSpPr>
          <p:nvPr/>
        </p:nvSpPr>
        <p:spPr>
          <a:xfrm>
            <a:off x="838200" y="1489166"/>
            <a:ext cx="4230370" cy="4862739"/>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l">
              <a:spcBef>
                <a:spcPct val="10000"/>
              </a:spcBef>
              <a:buFont typeface="Wingdings" panose="05000000000000000000" pitchFamily="2" charset="2"/>
              <a:buChar char="Ø"/>
            </a:pP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迭代查询</a:t>
            </a: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marL="668020" lvl="1" indent="-342900">
              <a:spcBef>
                <a:spcPct val="10000"/>
              </a:spcBef>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当收到查询请求报文的域名服务器不知道被查询域名的IP地址时，就把自己知道的下一步应查询的域名服务器IP地址告诉</a:t>
            </a:r>
            <a:r>
              <a:rPr kumimoji="1" lang="en-US" altLang="zh-CN" noProof="0" dirty="0" err="1">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本地域</a:t>
            </a:r>
            <a:r>
              <a:rPr kumimoji="1" lang="zh-CN" altLang="en-US"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sym typeface="+mn-ea"/>
              </a:rPr>
              <a:t>域名服务器</a:t>
            </a: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，由本地域域名服务器继续向该域名服务器查询，直到得到所要解析的域名的IP地址，或者查询不到所要解析的域名的IP地址</a:t>
            </a:r>
            <a:endParaRPr lang="en-US" altLang="zh-CN" dirty="0">
              <a:latin typeface="等线" panose="02010600030101010101" pitchFamily="2" charset="-122"/>
              <a:ea typeface="等线" panose="02010600030101010101" pitchFamily="2" charset="-122"/>
              <a:cs typeface="微软雅黑" panose="020B0503020204020204" pitchFamily="34" charset="-122"/>
              <a:sym typeface="+mn-ea"/>
            </a:endParaRPr>
          </a:p>
          <a:p>
            <a:pPr marL="668020" lvl="1" indent="-342900">
              <a:spcBef>
                <a:spcPct val="10000"/>
              </a:spcBef>
            </a:pPr>
            <a:r>
              <a:rPr lang="zh-CN" altLang="en-US" dirty="0">
                <a:latin typeface="等线" panose="02010600030101010101" pitchFamily="2" charset="-122"/>
                <a:ea typeface="等线" panose="02010600030101010101" pitchFamily="2" charset="-122"/>
                <a:cs typeface="微软雅黑" panose="020B0503020204020204" pitchFamily="34" charset="-122"/>
                <a:sym typeface="+mn-ea"/>
              </a:rPr>
              <a:t>通常使用</a:t>
            </a:r>
            <a:endParaRPr lang="zh-CN" altLang="en-US" dirty="0">
              <a:latin typeface="等线" panose="02010600030101010101" pitchFamily="2" charset="-122"/>
              <a:ea typeface="等线" panose="02010600030101010101" pitchFamily="2" charset="-122"/>
              <a:cs typeface="微软雅黑" panose="020B0503020204020204" pitchFamily="34" charset="-122"/>
            </a:endParaRPr>
          </a:p>
          <a:p>
            <a:pPr marL="342900" indent="-342900" algn="l">
              <a:spcBef>
                <a:spcPct val="10000"/>
              </a:spcBef>
              <a:buFont typeface="Wingdings" panose="05000000000000000000" pitchFamily="2" charset="2"/>
              <a:buChar char="Ø"/>
            </a:pPr>
            <a:endParaRPr lang="zh-CN" altLang="en-US"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13" name="页脚占位符 12"/>
          <p:cNvSpPr>
            <a:spLocks noGrp="1"/>
          </p:cNvSpPr>
          <p:nvPr>
            <p:ph type="ftr" sz="quarter" idx="11"/>
          </p:nvPr>
        </p:nvSpPr>
        <p:spPr/>
        <p:txBody>
          <a:bodyPr/>
          <a:lstStyle/>
          <a:p>
            <a:r>
              <a:rPr kumimoji="1" lang="zh-CN" altLang="en-US" dirty="0">
                <a:latin typeface="等线" panose="02010600030101010101" pitchFamily="2" charset="-122"/>
                <a:ea typeface="等线" panose="02010600030101010101" pitchFamily="2" charset="-122"/>
              </a:rPr>
              <a:t>引自：计算机网络，谢希仁</a:t>
            </a:r>
          </a:p>
        </p:txBody>
      </p:sp>
      <p:grpSp>
        <p:nvGrpSpPr>
          <p:cNvPr id="14" name="组合 13"/>
          <p:cNvGrpSpPr/>
          <p:nvPr/>
        </p:nvGrpSpPr>
        <p:grpSpPr>
          <a:xfrm>
            <a:off x="5034108" y="1673226"/>
            <a:ext cx="7157244" cy="4809594"/>
            <a:chOff x="4948383" y="1673226"/>
            <a:chExt cx="7157244" cy="4809594"/>
          </a:xfrm>
        </p:grpSpPr>
        <p:grpSp>
          <p:nvGrpSpPr>
            <p:cNvPr id="15" name="组合 14"/>
            <p:cNvGrpSpPr/>
            <p:nvPr/>
          </p:nvGrpSpPr>
          <p:grpSpPr bwMode="auto">
            <a:xfrm>
              <a:off x="7097858" y="4703764"/>
              <a:ext cx="3217862" cy="876300"/>
              <a:chOff x="0" y="0"/>
              <a:chExt cx="2027" cy="552"/>
            </a:xfrm>
          </p:grpSpPr>
          <p:sp>
            <p:nvSpPr>
              <p:cNvPr id="16" name="矩形 34820"/>
              <p:cNvSpPr>
                <a:spLocks noChangeArrowheads="1"/>
              </p:cNvSpPr>
              <p:nvPr/>
            </p:nvSpPr>
            <p:spPr bwMode="auto">
              <a:xfrm>
                <a:off x="221" y="105"/>
                <a:ext cx="1806" cy="217"/>
              </a:xfrm>
              <a:prstGeom prst="rect">
                <a:avLst/>
              </a:prstGeom>
              <a:solidFill>
                <a:srgbClr val="FFFF66"/>
              </a:solidFill>
              <a:ln w="9525">
                <a:solidFill>
                  <a:schemeClr val="tx1"/>
                </a:solidFill>
                <a:miter lim="800000"/>
              </a:ln>
            </p:spPr>
            <p:txBody>
              <a:bodyPr/>
              <a:lstStyle/>
              <a:p>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54" name="文本框 34821"/>
              <p:cNvSpPr txBox="1">
                <a:spLocks noChangeArrowheads="1"/>
              </p:cNvSpPr>
              <p:nvPr/>
            </p:nvSpPr>
            <p:spPr bwMode="auto">
              <a:xfrm flipH="1">
                <a:off x="141" y="120"/>
                <a:ext cx="1724"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   y.abc.com</a:t>
                </a:r>
                <a:r>
                  <a:rPr lang="en-US" altLang="zh-CN" sz="1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 </a:t>
                </a: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的</a:t>
                </a:r>
                <a:r>
                  <a:rPr lang="zh-CN" altLang="en-US" sz="16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 </a:t>
                </a: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IP</a:t>
                </a:r>
                <a:r>
                  <a:rPr lang="en-US" altLang="zh-CN" sz="16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 </a:t>
                </a: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地址 </a:t>
                </a:r>
              </a:p>
            </p:txBody>
          </p:sp>
          <p:sp>
            <p:nvSpPr>
              <p:cNvPr id="55" name="文本框 34822"/>
              <p:cNvSpPr txBox="1">
                <a:spLocks noChangeArrowheads="1"/>
              </p:cNvSpPr>
              <p:nvPr/>
            </p:nvSpPr>
            <p:spPr bwMode="auto">
              <a:xfrm flipH="1">
                <a:off x="0" y="82"/>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folHlink"/>
                    </a:solidFill>
                    <a:latin typeface="等线" panose="02010600030101010101" pitchFamily="2" charset="-122"/>
                    <a:ea typeface="等线" panose="02010600030101010101" pitchFamily="2" charset="-122"/>
                  </a:rPr>
                  <a:t>⑧</a:t>
                </a:r>
              </a:p>
            </p:txBody>
          </p:sp>
          <p:sp>
            <p:nvSpPr>
              <p:cNvPr id="56" name="直接连接符 34823"/>
              <p:cNvSpPr>
                <a:spLocks noChangeShapeType="1"/>
              </p:cNvSpPr>
              <p:nvPr/>
            </p:nvSpPr>
            <p:spPr bwMode="auto">
              <a:xfrm rot="10800000" flipH="1" flipV="1">
                <a:off x="43" y="0"/>
                <a:ext cx="0" cy="552"/>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57" name="矩形 34824"/>
            <p:cNvSpPr>
              <a:spLocks noChangeArrowheads="1"/>
            </p:cNvSpPr>
            <p:nvPr/>
          </p:nvSpPr>
          <p:spPr bwMode="auto">
            <a:xfrm flipH="1">
              <a:off x="6594620" y="1706564"/>
              <a:ext cx="3411538" cy="2938462"/>
            </a:xfrm>
            <a:prstGeom prst="rect">
              <a:avLst/>
            </a:prstGeom>
            <a:solidFill>
              <a:srgbClr val="EAEAEA"/>
            </a:solidFill>
            <a:ln w="9525">
              <a:solidFill>
                <a:schemeClr val="tx1"/>
              </a:solidFill>
              <a:prstDash val="dash"/>
              <a:miter lim="800000"/>
            </a:ln>
          </p:spPr>
          <p:txBody>
            <a:bodyPr/>
            <a:lstStyle/>
            <a:p>
              <a:endParaRPr lang="zh-CN" altLang="en-US" dirty="0">
                <a:latin typeface="等线" panose="02010600030101010101" pitchFamily="2" charset="-122"/>
                <a:ea typeface="等线" panose="02010600030101010101" pitchFamily="2" charset="-122"/>
                <a:cs typeface="Times New Roman" panose="02020603050405020304" charset="0"/>
              </a:endParaRPr>
            </a:p>
          </p:txBody>
        </p:sp>
        <p:sp>
          <p:nvSpPr>
            <p:cNvPr id="58" name="文本框 34825"/>
            <p:cNvSpPr txBox="1">
              <a:spLocks noChangeArrowheads="1"/>
            </p:cNvSpPr>
            <p:nvPr/>
          </p:nvSpPr>
          <p:spPr bwMode="auto">
            <a:xfrm flipH="1">
              <a:off x="10011555" y="1808164"/>
              <a:ext cx="1960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顶级域名服务器</a:t>
              </a:r>
            </a:p>
            <a:p>
              <a:pPr algn="ct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dns.com</a:t>
              </a:r>
            </a:p>
          </p:txBody>
        </p:sp>
        <p:sp>
          <p:nvSpPr>
            <p:cNvPr id="59" name="文本框 34826"/>
            <p:cNvSpPr txBox="1">
              <a:spLocks noChangeArrowheads="1"/>
            </p:cNvSpPr>
            <p:nvPr/>
          </p:nvSpPr>
          <p:spPr bwMode="auto">
            <a:xfrm flipH="1">
              <a:off x="10010762" y="3865881"/>
              <a:ext cx="2094865" cy="591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80000"/>
                </a:lnSpc>
              </a:pPr>
              <a:r>
                <a:rPr lang="zh-CN" altLang="en-US"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二级域名服务器dns.abc.com</a:t>
              </a:r>
            </a:p>
          </p:txBody>
        </p:sp>
        <p:sp>
          <p:nvSpPr>
            <p:cNvPr id="60" name="文本框 34827"/>
            <p:cNvSpPr txBox="1">
              <a:spLocks noChangeArrowheads="1"/>
            </p:cNvSpPr>
            <p:nvPr/>
          </p:nvSpPr>
          <p:spPr bwMode="auto">
            <a:xfrm flipH="1">
              <a:off x="4948383" y="3865881"/>
              <a:ext cx="1675924"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360680" algn="ctr">
                <a:lnSpc>
                  <a:spcPct val="100000"/>
                </a:lnSpc>
                <a:spcBef>
                  <a:spcPts val="0"/>
                </a:spcBef>
                <a:spcAft>
                  <a:spcPts val="0"/>
                </a:spcAft>
                <a:buClrTx/>
                <a:buSzTx/>
                <a:buFont typeface="Wingdings" panose="05000000000000000000" pitchFamily="2" charset="2"/>
              </a:pPr>
              <a:r>
                <a:rPr kumimoji="1" lang="en-US" altLang="zh-CN" sz="20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rPr>
                <a:t>本地域</a:t>
              </a:r>
            </a:p>
            <a:p>
              <a:pPr indent="-360680" algn="ctr">
                <a:lnSpc>
                  <a:spcPct val="100000"/>
                </a:lnSpc>
                <a:spcBef>
                  <a:spcPts val="0"/>
                </a:spcBef>
                <a:spcAft>
                  <a:spcPts val="0"/>
                </a:spcAft>
                <a:buClrTx/>
                <a:buSzTx/>
                <a:buFont typeface="Wingdings" panose="05000000000000000000" pitchFamily="2" charset="2"/>
              </a:pPr>
              <a:r>
                <a:rPr kumimoji="1" lang="zh-CN" altLang="en-US" sz="20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rPr>
                <a:t>域名服务器</a:t>
              </a:r>
              <a:endParaRPr lang="zh-CN" altLang="en-US" sz="2000" dirty="0">
                <a:solidFill>
                  <a:srgbClr val="FF00FF"/>
                </a:solidFill>
                <a:latin typeface="等线" panose="02010600030101010101" pitchFamily="2" charset="-122"/>
                <a:ea typeface="等线" panose="02010600030101010101" pitchFamily="2" charset="-122"/>
                <a:cs typeface="微软雅黑" panose="020B0503020204020204" pitchFamily="34" charset="-122"/>
              </a:endParaRPr>
            </a:p>
            <a:p>
              <a:pPr algn="ctr">
                <a:lnSpc>
                  <a:spcPct val="80000"/>
                </a:lnSpc>
              </a:pPr>
              <a:r>
                <a:rPr lang="en-US" altLang="zh-CN" sz="2000" dirty="0">
                  <a:solidFill>
                    <a:schemeClr val="folHlink"/>
                  </a:solidFill>
                  <a:latin typeface="等线" panose="02010600030101010101" pitchFamily="2" charset="-122"/>
                  <a:ea typeface="等线" panose="02010600030101010101" pitchFamily="2" charset="-122"/>
                  <a:cs typeface="微软雅黑" panose="020B0503020204020204" pitchFamily="34" charset="-122"/>
                </a:rPr>
                <a:t>dns.xyz.com</a:t>
              </a:r>
            </a:p>
          </p:txBody>
        </p:sp>
        <p:pic>
          <p:nvPicPr>
            <p:cNvPr id="61" name="图片 3482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793058" y="5667376"/>
              <a:ext cx="531812"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文本框 34829"/>
            <p:cNvSpPr txBox="1">
              <a:spLocks noChangeArrowheads="1"/>
            </p:cNvSpPr>
            <p:nvPr/>
          </p:nvSpPr>
          <p:spPr bwMode="auto">
            <a:xfrm flipH="1">
              <a:off x="6224733" y="6137276"/>
              <a:ext cx="1412566" cy="345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sz="2000" dirty="0">
                  <a:solidFill>
                    <a:schemeClr val="folHlink"/>
                  </a:solidFill>
                  <a:latin typeface="等线" panose="02010600030101010101" pitchFamily="2" charset="-122"/>
                  <a:ea typeface="等线" panose="02010600030101010101" pitchFamily="2" charset="-122"/>
                  <a:cs typeface="Times New Roman" panose="02020603050405020304" charset="0"/>
                </a:rPr>
                <a:t>m.xyz.com </a:t>
              </a:r>
            </a:p>
          </p:txBody>
        </p:sp>
        <p:sp>
          <p:nvSpPr>
            <p:cNvPr id="63" name="文本框 34830"/>
            <p:cNvSpPr txBox="1">
              <a:spLocks noChangeArrowheads="1"/>
            </p:cNvSpPr>
            <p:nvPr/>
          </p:nvSpPr>
          <p:spPr bwMode="auto">
            <a:xfrm flipH="1">
              <a:off x="5304935" y="2036764"/>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folHlink"/>
                  </a:solidFill>
                  <a:latin typeface="等线" panose="02010600030101010101" pitchFamily="2" charset="-122"/>
                  <a:ea typeface="等线" panose="02010600030101010101" pitchFamily="2" charset="-122"/>
                </a:rPr>
                <a:t>根服务器</a:t>
              </a:r>
            </a:p>
          </p:txBody>
        </p:sp>
        <p:pic>
          <p:nvPicPr>
            <p:cNvPr id="64" name="图片 348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693045" y="3530601"/>
              <a:ext cx="754063"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图片 3483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693045" y="1673226"/>
              <a:ext cx="754063"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图片 348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094933" y="1673226"/>
              <a:ext cx="757237"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7" name="组合 66"/>
            <p:cNvGrpSpPr/>
            <p:nvPr/>
          </p:nvGrpSpPr>
          <p:grpSpPr bwMode="auto">
            <a:xfrm>
              <a:off x="7364558" y="2589214"/>
              <a:ext cx="1827212" cy="1117600"/>
              <a:chOff x="0" y="0"/>
              <a:chExt cx="1151" cy="704"/>
            </a:xfrm>
          </p:grpSpPr>
          <p:sp>
            <p:nvSpPr>
              <p:cNvPr id="68" name="文本框 34835"/>
              <p:cNvSpPr txBox="1">
                <a:spLocks noChangeArrowheads="1"/>
              </p:cNvSpPr>
              <p:nvPr/>
            </p:nvSpPr>
            <p:spPr bwMode="auto">
              <a:xfrm flipH="1">
                <a:off x="546" y="0"/>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folHlink"/>
                    </a:solidFill>
                    <a:latin typeface="等线" panose="02010600030101010101" pitchFamily="2" charset="-122"/>
                    <a:ea typeface="等线" panose="02010600030101010101" pitchFamily="2" charset="-122"/>
                  </a:rPr>
                  <a:t>④</a:t>
                </a:r>
              </a:p>
            </p:txBody>
          </p:sp>
          <p:sp>
            <p:nvSpPr>
              <p:cNvPr id="69" name="直接连接符 34836"/>
              <p:cNvSpPr>
                <a:spLocks noChangeShapeType="1"/>
              </p:cNvSpPr>
              <p:nvPr/>
            </p:nvSpPr>
            <p:spPr bwMode="auto">
              <a:xfrm rot="10800000" flipH="1">
                <a:off x="0" y="23"/>
                <a:ext cx="1151" cy="681"/>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0" name="组合 69"/>
            <p:cNvGrpSpPr/>
            <p:nvPr/>
          </p:nvGrpSpPr>
          <p:grpSpPr bwMode="auto">
            <a:xfrm>
              <a:off x="7461395" y="2713039"/>
              <a:ext cx="1941513" cy="1171575"/>
              <a:chOff x="0" y="0"/>
              <a:chExt cx="1223" cy="738"/>
            </a:xfrm>
          </p:grpSpPr>
          <p:sp>
            <p:nvSpPr>
              <p:cNvPr id="71" name="文本框 34838"/>
              <p:cNvSpPr txBox="1">
                <a:spLocks noChangeArrowheads="1"/>
              </p:cNvSpPr>
              <p:nvPr/>
            </p:nvSpPr>
            <p:spPr bwMode="auto">
              <a:xfrm flipH="1">
                <a:off x="788" y="183"/>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folHlink"/>
                    </a:solidFill>
                    <a:latin typeface="等线" panose="02010600030101010101" pitchFamily="2" charset="-122"/>
                    <a:ea typeface="等线" panose="02010600030101010101" pitchFamily="2" charset="-122"/>
                  </a:rPr>
                  <a:t>⑤</a:t>
                </a:r>
              </a:p>
            </p:txBody>
          </p:sp>
          <p:sp>
            <p:nvSpPr>
              <p:cNvPr id="72" name="直接连接符 34839"/>
              <p:cNvSpPr>
                <a:spLocks noChangeShapeType="1"/>
              </p:cNvSpPr>
              <p:nvPr/>
            </p:nvSpPr>
            <p:spPr bwMode="auto">
              <a:xfrm flipH="1">
                <a:off x="0" y="0"/>
                <a:ext cx="1223" cy="738"/>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pic>
          <p:nvPicPr>
            <p:cNvPr id="73" name="图片 3484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191770" y="3530601"/>
              <a:ext cx="755650"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4" name="组合 73"/>
            <p:cNvGrpSpPr/>
            <p:nvPr/>
          </p:nvGrpSpPr>
          <p:grpSpPr bwMode="auto">
            <a:xfrm>
              <a:off x="7461395" y="3741739"/>
              <a:ext cx="1778000" cy="400051"/>
              <a:chOff x="0" y="0"/>
              <a:chExt cx="1120" cy="252"/>
            </a:xfrm>
          </p:grpSpPr>
          <p:sp>
            <p:nvSpPr>
              <p:cNvPr id="75" name="文本框 34842"/>
              <p:cNvSpPr txBox="1">
                <a:spLocks noChangeArrowheads="1"/>
              </p:cNvSpPr>
              <p:nvPr/>
            </p:nvSpPr>
            <p:spPr bwMode="auto">
              <a:xfrm flipH="1">
                <a:off x="524" y="0"/>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folHlink"/>
                    </a:solidFill>
                    <a:latin typeface="等线" panose="02010600030101010101" pitchFamily="2" charset="-122"/>
                    <a:ea typeface="等线" panose="02010600030101010101" pitchFamily="2" charset="-122"/>
                  </a:rPr>
                  <a:t>⑥</a:t>
                </a:r>
              </a:p>
            </p:txBody>
          </p:sp>
          <p:sp>
            <p:nvSpPr>
              <p:cNvPr id="76" name="直接连接符 34843"/>
              <p:cNvSpPr>
                <a:spLocks noChangeShapeType="1"/>
              </p:cNvSpPr>
              <p:nvPr/>
            </p:nvSpPr>
            <p:spPr bwMode="auto">
              <a:xfrm rot="16200000" flipH="1">
                <a:off x="560" y="-318"/>
                <a:ext cx="0" cy="112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7" name="组合 76"/>
            <p:cNvGrpSpPr/>
            <p:nvPr/>
          </p:nvGrpSpPr>
          <p:grpSpPr bwMode="auto">
            <a:xfrm>
              <a:off x="7461395" y="4179889"/>
              <a:ext cx="1778000" cy="400051"/>
              <a:chOff x="0" y="0"/>
              <a:chExt cx="1120" cy="252"/>
            </a:xfrm>
          </p:grpSpPr>
          <p:sp>
            <p:nvSpPr>
              <p:cNvPr id="78" name="直接连接符 34845"/>
              <p:cNvSpPr>
                <a:spLocks noChangeShapeType="1"/>
              </p:cNvSpPr>
              <p:nvPr/>
            </p:nvSpPr>
            <p:spPr bwMode="auto">
              <a:xfrm rot="5400000">
                <a:off x="560" y="-500"/>
                <a:ext cx="0" cy="112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9" name="文本框 34846"/>
              <p:cNvSpPr txBox="1">
                <a:spLocks noChangeArrowheads="1"/>
              </p:cNvSpPr>
              <p:nvPr/>
            </p:nvSpPr>
            <p:spPr bwMode="auto">
              <a:xfrm flipH="1">
                <a:off x="524" y="0"/>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folHlink"/>
                    </a:solidFill>
                    <a:latin typeface="等线" panose="02010600030101010101" pitchFamily="2" charset="-122"/>
                    <a:ea typeface="等线" panose="02010600030101010101" pitchFamily="2" charset="-122"/>
                  </a:rPr>
                  <a:t>⑦</a:t>
                </a:r>
              </a:p>
            </p:txBody>
          </p:sp>
        </p:grpSp>
        <p:grpSp>
          <p:nvGrpSpPr>
            <p:cNvPr id="80" name="组合 79"/>
            <p:cNvGrpSpPr/>
            <p:nvPr/>
          </p:nvGrpSpPr>
          <p:grpSpPr bwMode="auto">
            <a:xfrm>
              <a:off x="6643833" y="2792414"/>
              <a:ext cx="441326" cy="884237"/>
              <a:chOff x="0" y="0"/>
              <a:chExt cx="278" cy="557"/>
            </a:xfrm>
          </p:grpSpPr>
          <p:sp>
            <p:nvSpPr>
              <p:cNvPr id="81" name="文本框 34848"/>
              <p:cNvSpPr txBox="1">
                <a:spLocks noChangeArrowheads="1"/>
              </p:cNvSpPr>
              <p:nvPr/>
            </p:nvSpPr>
            <p:spPr bwMode="auto">
              <a:xfrm flipH="1">
                <a:off x="0" y="140"/>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folHlink"/>
                    </a:solidFill>
                    <a:latin typeface="等线" panose="02010600030101010101" pitchFamily="2" charset="-122"/>
                    <a:ea typeface="等线" panose="02010600030101010101" pitchFamily="2" charset="-122"/>
                  </a:rPr>
                  <a:t>②</a:t>
                </a:r>
              </a:p>
            </p:txBody>
          </p:sp>
          <p:sp>
            <p:nvSpPr>
              <p:cNvPr id="82" name="直接连接符 34849"/>
              <p:cNvSpPr>
                <a:spLocks noChangeShapeType="1"/>
              </p:cNvSpPr>
              <p:nvPr/>
            </p:nvSpPr>
            <p:spPr bwMode="auto">
              <a:xfrm rot="10800000" flipH="1">
                <a:off x="251" y="0"/>
                <a:ext cx="0" cy="557"/>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3" name="组合 82"/>
            <p:cNvGrpSpPr/>
            <p:nvPr/>
          </p:nvGrpSpPr>
          <p:grpSpPr bwMode="auto">
            <a:xfrm>
              <a:off x="7185170" y="1708151"/>
              <a:ext cx="1857375" cy="1968500"/>
              <a:chOff x="0" y="0"/>
              <a:chExt cx="1170" cy="1240"/>
            </a:xfrm>
          </p:grpSpPr>
          <p:grpSp>
            <p:nvGrpSpPr>
              <p:cNvPr id="84" name="组合 34851"/>
              <p:cNvGrpSpPr/>
              <p:nvPr/>
            </p:nvGrpSpPr>
            <p:grpSpPr bwMode="auto">
              <a:xfrm>
                <a:off x="0" y="688"/>
                <a:ext cx="278" cy="552"/>
                <a:chOff x="0" y="0"/>
                <a:chExt cx="278" cy="552"/>
              </a:xfrm>
            </p:grpSpPr>
            <p:sp>
              <p:nvSpPr>
                <p:cNvPr id="85" name="文本框 34852"/>
                <p:cNvSpPr txBox="1">
                  <a:spLocks noChangeArrowheads="1"/>
                </p:cNvSpPr>
                <p:nvPr/>
              </p:nvSpPr>
              <p:spPr bwMode="auto">
                <a:xfrm flipH="1">
                  <a:off x="0" y="50"/>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folHlink"/>
                      </a:solidFill>
                      <a:latin typeface="等线" panose="02010600030101010101" pitchFamily="2" charset="-122"/>
                      <a:ea typeface="等线" panose="02010600030101010101" pitchFamily="2" charset="-122"/>
                    </a:rPr>
                    <a:t>③</a:t>
                  </a:r>
                </a:p>
              </p:txBody>
            </p:sp>
            <p:sp>
              <p:nvSpPr>
                <p:cNvPr id="86" name="直接连接符 34853"/>
                <p:cNvSpPr>
                  <a:spLocks noChangeShapeType="1"/>
                </p:cNvSpPr>
                <p:nvPr/>
              </p:nvSpPr>
              <p:spPr bwMode="auto">
                <a:xfrm rot="10800000" flipH="1" flipV="1">
                  <a:off x="13" y="0"/>
                  <a:ext cx="0" cy="552"/>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87" name="文本框 34854"/>
              <p:cNvSpPr txBox="1">
                <a:spLocks noChangeArrowheads="1"/>
              </p:cNvSpPr>
              <p:nvPr/>
            </p:nvSpPr>
            <p:spPr bwMode="auto">
              <a:xfrm flipH="1">
                <a:off x="278" y="0"/>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kumimoji="1" lang="en-US" altLang="zh-CN" sz="2400" noProof="0" dirty="0">
                    <a:ln>
                      <a:noFill/>
                    </a:ln>
                    <a:solidFill>
                      <a:srgbClr val="C00000"/>
                    </a:solidFill>
                    <a:effectLst/>
                    <a:uLnTx/>
                    <a:uFillTx/>
                    <a:latin typeface="等线" panose="02010600030101010101" pitchFamily="2" charset="-122"/>
                    <a:ea typeface="等线" panose="02010600030101010101" pitchFamily="2" charset="-122"/>
                    <a:cs typeface="微软雅黑" panose="020B0503020204020204" pitchFamily="34" charset="-122"/>
                  </a:rPr>
                  <a:t>迭代查询</a:t>
                </a:r>
              </a:p>
            </p:txBody>
          </p:sp>
        </p:grpSp>
        <p:grpSp>
          <p:nvGrpSpPr>
            <p:cNvPr id="88" name="组合 87"/>
            <p:cNvGrpSpPr/>
            <p:nvPr/>
          </p:nvGrpSpPr>
          <p:grpSpPr bwMode="auto">
            <a:xfrm>
              <a:off x="6005658" y="4703764"/>
              <a:ext cx="1041399" cy="876300"/>
              <a:chOff x="-2" y="0"/>
              <a:chExt cx="656" cy="552"/>
            </a:xfrm>
          </p:grpSpPr>
          <p:sp>
            <p:nvSpPr>
              <p:cNvPr id="89" name="文本框 34856"/>
              <p:cNvSpPr txBox="1">
                <a:spLocks noChangeArrowheads="1"/>
              </p:cNvSpPr>
              <p:nvPr/>
            </p:nvSpPr>
            <p:spPr bwMode="auto">
              <a:xfrm flipH="1">
                <a:off x="-2" y="11"/>
                <a:ext cx="43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folHlink"/>
                    </a:solidFill>
                    <a:latin typeface="等线" panose="02010600030101010101" pitchFamily="2" charset="-122"/>
                    <a:ea typeface="等线" panose="02010600030101010101" pitchFamily="2" charset="-122"/>
                  </a:rPr>
                  <a:t>递归</a:t>
                </a:r>
              </a:p>
              <a:p>
                <a:pPr algn="ctr">
                  <a:lnSpc>
                    <a:spcPct val="90000"/>
                  </a:lnSpc>
                </a:pPr>
                <a:r>
                  <a:rPr lang="zh-CN" altLang="en-US" sz="2000" dirty="0">
                    <a:solidFill>
                      <a:schemeClr val="folHlink"/>
                    </a:solidFill>
                    <a:latin typeface="等线" panose="02010600030101010101" pitchFamily="2" charset="-122"/>
                    <a:ea typeface="等线" panose="02010600030101010101" pitchFamily="2" charset="-122"/>
                  </a:rPr>
                  <a:t>查询</a:t>
                </a:r>
              </a:p>
            </p:txBody>
          </p:sp>
          <p:sp>
            <p:nvSpPr>
              <p:cNvPr id="90" name="文本框 34857"/>
              <p:cNvSpPr txBox="1">
                <a:spLocks noChangeArrowheads="1"/>
              </p:cNvSpPr>
              <p:nvPr/>
            </p:nvSpPr>
            <p:spPr bwMode="auto">
              <a:xfrm flipH="1">
                <a:off x="376" y="118"/>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folHlink"/>
                    </a:solidFill>
                    <a:latin typeface="等线" panose="02010600030101010101" pitchFamily="2" charset="-122"/>
                    <a:ea typeface="等线" panose="02010600030101010101" pitchFamily="2" charset="-122"/>
                  </a:rPr>
                  <a:t>①</a:t>
                </a:r>
              </a:p>
            </p:txBody>
          </p:sp>
          <p:sp>
            <p:nvSpPr>
              <p:cNvPr id="91" name="直接连接符 34858"/>
              <p:cNvSpPr>
                <a:spLocks noChangeShapeType="1"/>
              </p:cNvSpPr>
              <p:nvPr/>
            </p:nvSpPr>
            <p:spPr bwMode="auto">
              <a:xfrm rot="10800000" flipH="1">
                <a:off x="626" y="0"/>
                <a:ext cx="0" cy="552"/>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1839326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510758"/>
            <a:ext cx="10046292" cy="4845592"/>
          </a:xfrm>
        </p:spPr>
        <p:txBody>
          <a:bodyPr>
            <a:normAutofit/>
          </a:bodyPr>
          <a:lstStyle/>
          <a:p>
            <a:pPr>
              <a:lnSpc>
                <a:spcPct val="130000"/>
              </a:lnSpc>
            </a:pPr>
            <a:r>
              <a:rPr kumimoji="1" lang="en-US" altLang="zh-CN" dirty="0"/>
              <a:t>7.1 </a:t>
            </a:r>
            <a:r>
              <a:rPr kumimoji="1" lang="zh-CN" altLang="en-US" dirty="0"/>
              <a:t>应用层概述（</a:t>
            </a:r>
            <a:r>
              <a:rPr kumimoji="1" lang="en-US" altLang="zh-CN" dirty="0"/>
              <a:t>P3</a:t>
            </a:r>
            <a:r>
              <a:rPr kumimoji="1" lang="zh-CN" altLang="en-US" dirty="0"/>
              <a:t>）</a:t>
            </a:r>
          </a:p>
          <a:p>
            <a:pPr>
              <a:lnSpc>
                <a:spcPct val="130000"/>
              </a:lnSpc>
            </a:pPr>
            <a:r>
              <a:rPr kumimoji="1" lang="en-US" altLang="zh-CN" dirty="0"/>
              <a:t>7.2 </a:t>
            </a:r>
            <a:r>
              <a:rPr kumimoji="1" lang="zh-CN" altLang="en-US" dirty="0"/>
              <a:t>域名系统（</a:t>
            </a:r>
            <a:r>
              <a:rPr kumimoji="1" lang="en-US" altLang="zh-CN" dirty="0"/>
              <a:t>P20</a:t>
            </a:r>
            <a:r>
              <a:rPr kumimoji="1" lang="zh-CN" altLang="en-US" dirty="0"/>
              <a:t>）</a:t>
            </a:r>
          </a:p>
          <a:p>
            <a:pPr>
              <a:lnSpc>
                <a:spcPct val="130000"/>
              </a:lnSpc>
            </a:pPr>
            <a:r>
              <a:rPr kumimoji="1" lang="en-US" altLang="zh-CN" dirty="0">
                <a:solidFill>
                  <a:srgbClr val="C00000"/>
                </a:solidFill>
              </a:rPr>
              <a:t>7.3 </a:t>
            </a:r>
            <a:r>
              <a:rPr kumimoji="1" lang="zh-CN" altLang="en-US" dirty="0">
                <a:solidFill>
                  <a:srgbClr val="C00000"/>
                </a:solidFill>
              </a:rPr>
              <a:t>电子邮件（</a:t>
            </a:r>
            <a:r>
              <a:rPr kumimoji="1" lang="en-US" altLang="zh-CN" dirty="0">
                <a:solidFill>
                  <a:srgbClr val="C00000"/>
                </a:solidFill>
              </a:rPr>
              <a:t>P42</a:t>
            </a:r>
            <a:r>
              <a:rPr kumimoji="1" lang="zh-CN" altLang="en-US" dirty="0">
                <a:solidFill>
                  <a:srgbClr val="C00000"/>
                </a:solidFill>
              </a:rPr>
              <a:t>）</a:t>
            </a:r>
          </a:p>
          <a:p>
            <a:pPr>
              <a:lnSpc>
                <a:spcPct val="130000"/>
              </a:lnSpc>
            </a:pPr>
            <a:r>
              <a:rPr kumimoji="1" lang="en-US" altLang="zh-CN" dirty="0"/>
              <a:t>7.4 </a:t>
            </a:r>
            <a:r>
              <a:rPr kumimoji="1" lang="zh-CN" altLang="en-US" dirty="0"/>
              <a:t>其它应用层协议（</a:t>
            </a:r>
            <a:r>
              <a:rPr kumimoji="1" lang="en-US" altLang="zh-CN" dirty="0"/>
              <a:t>P52</a:t>
            </a:r>
            <a:r>
              <a:rPr kumimoji="1" lang="zh-CN" altLang="en-US" dirty="0"/>
              <a:t>）</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
        <p:nvSpPr>
          <p:cNvPr id="7" name="矩形标注 6"/>
          <p:cNvSpPr/>
          <p:nvPr/>
        </p:nvSpPr>
        <p:spPr>
          <a:xfrm>
            <a:off x="6730143" y="2814194"/>
            <a:ext cx="3466465" cy="2701290"/>
          </a:xfrm>
          <a:prstGeom prst="wedgeRectCallout">
            <a:avLst>
              <a:gd name="adj1" fmla="val -95670"/>
              <a:gd name="adj2" fmla="val -3760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体系结构和服务</a:t>
            </a:r>
          </a:p>
          <a:p>
            <a:pPr marL="587375" lvl="0"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用户代理</a:t>
            </a:r>
          </a:p>
          <a:p>
            <a:pPr marL="587375" lvl="0"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邮件格式</a:t>
            </a:r>
          </a:p>
          <a:p>
            <a:pPr marL="587375" lvl="0"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邮件传送</a:t>
            </a:r>
          </a:p>
          <a:p>
            <a:pPr marL="587375" lvl="0" indent="-438150">
              <a:lnSpc>
                <a:spcPct val="13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最后传递</a:t>
            </a:r>
          </a:p>
        </p:txBody>
      </p:sp>
    </p:spTree>
    <p:extLst>
      <p:ext uri="{BB962C8B-B14F-4D97-AF65-F5344CB8AC3E}">
        <p14:creationId xmlns:p14="http://schemas.microsoft.com/office/powerpoint/2010/main" val="3195912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电子邮件概述</a:t>
            </a:r>
          </a:p>
        </p:txBody>
      </p:sp>
      <p:sp>
        <p:nvSpPr>
          <p:cNvPr id="3" name="内容占位符 2"/>
          <p:cNvSpPr>
            <a:spLocks noGrp="1"/>
          </p:cNvSpPr>
          <p:nvPr>
            <p:ph idx="1"/>
          </p:nvPr>
        </p:nvSpPr>
        <p:spPr/>
        <p:txBody>
          <a:bodyPr/>
          <a:lstStyle/>
          <a:p>
            <a:pPr>
              <a:lnSpc>
                <a:spcPct val="130000"/>
              </a:lnSpc>
              <a:spcAft>
                <a:spcPts val="0"/>
              </a:spcAft>
            </a:pPr>
            <a:r>
              <a:rPr lang="zh-CN" altLang="en-US" dirty="0"/>
              <a:t>电子邮件（</a:t>
            </a:r>
            <a:r>
              <a:rPr lang="en-US" altLang="zh-CN" dirty="0"/>
              <a:t>E-mail</a:t>
            </a:r>
            <a:r>
              <a:rPr lang="zh-CN" altLang="en-US" dirty="0"/>
              <a:t>）是自早期</a:t>
            </a:r>
            <a:r>
              <a:rPr lang="en-US" altLang="zh-CN" dirty="0"/>
              <a:t>Internet</a:t>
            </a:r>
            <a:r>
              <a:rPr lang="zh-CN" altLang="en-US" dirty="0"/>
              <a:t>出现以来最广泛的应用，是一种异步通讯媒介</a:t>
            </a:r>
          </a:p>
          <a:p>
            <a:pPr>
              <a:lnSpc>
                <a:spcPct val="130000"/>
              </a:lnSpc>
              <a:spcAft>
                <a:spcPts val="0"/>
              </a:spcAft>
            </a:pPr>
            <a:r>
              <a:rPr lang="zh-CN" altLang="en-US" dirty="0"/>
              <a:t>优越性</a:t>
            </a:r>
          </a:p>
          <a:p>
            <a:pPr lvl="1">
              <a:lnSpc>
                <a:spcPct val="130000"/>
              </a:lnSpc>
              <a:spcAft>
                <a:spcPts val="0"/>
              </a:spcAft>
            </a:pPr>
            <a:r>
              <a:rPr lang="zh-CN" altLang="en-US" dirty="0"/>
              <a:t>比纸质信件更快更便宜</a:t>
            </a:r>
          </a:p>
          <a:p>
            <a:pPr lvl="1">
              <a:lnSpc>
                <a:spcPct val="130000"/>
              </a:lnSpc>
              <a:spcAft>
                <a:spcPts val="0"/>
              </a:spcAft>
            </a:pPr>
            <a:r>
              <a:rPr lang="zh-CN" altLang="en-US" dirty="0"/>
              <a:t>使用门槛低</a:t>
            </a:r>
          </a:p>
          <a:p>
            <a:pPr lvl="1">
              <a:lnSpc>
                <a:spcPct val="130000"/>
              </a:lnSpc>
              <a:spcAft>
                <a:spcPts val="0"/>
              </a:spcAft>
            </a:pPr>
            <a:r>
              <a:rPr lang="zh-CN" altLang="en-US" dirty="0"/>
              <a:t>收件人可随时上网到自己邮箱读取邮件</a:t>
            </a:r>
          </a:p>
          <a:p>
            <a:pPr lvl="1">
              <a:lnSpc>
                <a:spcPct val="130000"/>
              </a:lnSpc>
              <a:spcAft>
                <a:spcPts val="0"/>
              </a:spcAft>
            </a:pPr>
            <a:r>
              <a:rPr lang="zh-CN" altLang="en-US" dirty="0"/>
              <a:t>电子邮件不仅可传送文字信息，而且还可附上声音和图像等</a:t>
            </a:r>
          </a:p>
        </p:txBody>
      </p:sp>
      <p:sp>
        <p:nvSpPr>
          <p:cNvPr id="4" name="日期占位符 3"/>
          <p:cNvSpPr>
            <a:spLocks noGrp="1"/>
          </p:cNvSpPr>
          <p:nvPr>
            <p:ph type="dt" sz="half" idx="10"/>
          </p:nvPr>
        </p:nvSpPr>
        <p:spPr/>
        <p:txBody>
          <a:bodyPr/>
          <a:lstStyle/>
          <a:p>
            <a:r>
              <a:rPr kumimoji="1" lang="en-US" altLang="zh-CN" dirty="0">
                <a:latin typeface="等线" panose="02010600030101010101" pitchFamily="2" charset="-122"/>
                <a:ea typeface="等线" panose="02010600030101010101" pitchFamily="2" charset="-122"/>
              </a:rPr>
              <a:t>7.3 </a:t>
            </a:r>
            <a:r>
              <a:rPr kumimoji="1" lang="zh-CN" altLang="en-US" dirty="0">
                <a:latin typeface="等线" panose="02010600030101010101" pitchFamily="2" charset="-122"/>
                <a:ea typeface="等线" panose="02010600030101010101" pitchFamily="2" charset="-122"/>
              </a:rPr>
              <a:t>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Tree>
    <p:extLst>
      <p:ext uri="{BB962C8B-B14F-4D97-AF65-F5344CB8AC3E}">
        <p14:creationId xmlns:p14="http://schemas.microsoft.com/office/powerpoint/2010/main" val="35400242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电子邮件系统体系结构</a:t>
            </a:r>
          </a:p>
        </p:txBody>
      </p:sp>
      <p:sp>
        <p:nvSpPr>
          <p:cNvPr id="3" name="内容占位符 2"/>
          <p:cNvSpPr>
            <a:spLocks noGrp="1"/>
          </p:cNvSpPr>
          <p:nvPr>
            <p:ph idx="1"/>
          </p:nvPr>
        </p:nvSpPr>
        <p:spPr>
          <a:xfrm>
            <a:off x="838200" y="1376625"/>
            <a:ext cx="10515600" cy="4980573"/>
          </a:xfrm>
        </p:spPr>
        <p:txBody>
          <a:bodyPr>
            <a:normAutofit/>
          </a:bodyPr>
          <a:lstStyle/>
          <a:p>
            <a:pPr fontAlgn="base">
              <a:lnSpc>
                <a:spcPct val="120000"/>
              </a:lnSpc>
            </a:pPr>
            <a:r>
              <a:rPr sz="2400" dirty="0" err="1"/>
              <a:t>用户代理</a:t>
            </a:r>
            <a:r>
              <a:rPr lang="zh-CN" altLang="en-US" sz="2400" dirty="0"/>
              <a:t>（</a:t>
            </a:r>
            <a:r>
              <a:rPr sz="2400" dirty="0"/>
              <a:t>user agent</a:t>
            </a:r>
            <a:r>
              <a:rPr lang="zh-CN" altLang="en-US" sz="2400" dirty="0"/>
              <a:t>）</a:t>
            </a:r>
            <a:r>
              <a:rPr kumimoji="1" lang="zh-CN" altLang="en-US" sz="2400" dirty="0">
                <a:solidFill>
                  <a:srgbClr val="C00000"/>
                </a:solidFill>
              </a:rPr>
              <a:t>——邮件客户端</a:t>
            </a:r>
            <a:endParaRPr lang="en-US" altLang="zh-CN" sz="2400" dirty="0"/>
          </a:p>
          <a:p>
            <a:pPr fontAlgn="base">
              <a:lnSpc>
                <a:spcPct val="120000"/>
              </a:lnSpc>
            </a:pPr>
            <a:r>
              <a:rPr lang="zh-CN" altLang="en-US" sz="2400" dirty="0"/>
              <a:t>传输代理（message transfer agent）</a:t>
            </a:r>
            <a:r>
              <a:rPr kumimoji="1" lang="zh-CN" altLang="en-US" sz="2400" dirty="0">
                <a:solidFill>
                  <a:srgbClr val="C00000"/>
                </a:solidFill>
              </a:rPr>
              <a:t>——邮件服务器</a:t>
            </a:r>
            <a:endParaRPr lang="zh-CN" altLang="en-US" sz="2400" dirty="0"/>
          </a:p>
          <a:p>
            <a:pPr lvl="0" fontAlgn="base">
              <a:lnSpc>
                <a:spcPct val="120000"/>
              </a:lnSpc>
            </a:pPr>
            <a:r>
              <a:rPr kumimoji="1" lang="zh-CN" altLang="en-US" sz="2395" dirty="0"/>
              <a:t>简单邮件传输协议SMTP（Simple Mail Transfer  Protocol）</a:t>
            </a:r>
            <a:r>
              <a:rPr kumimoji="1" lang="zh-CN" altLang="en-US" sz="2395" dirty="0">
                <a:solidFill>
                  <a:srgbClr val="C00000"/>
                </a:solidFill>
                <a:sym typeface="+mn-ea"/>
              </a:rPr>
              <a:t>——</a:t>
            </a:r>
            <a:r>
              <a:rPr kumimoji="1" lang="zh-CN" sz="2395" dirty="0">
                <a:solidFill>
                  <a:srgbClr val="C00000"/>
                </a:solidFill>
                <a:sym typeface="+mn-ea"/>
              </a:rPr>
              <a:t>邮件服务器之间传递邮件使用的协议</a:t>
            </a:r>
            <a:endParaRPr kumimoji="1" lang="zh-CN" altLang="en-US" sz="2395" dirty="0">
              <a:solidFill>
                <a:srgbClr val="C00000"/>
              </a:solidFill>
              <a:sym typeface="+mn-ea"/>
            </a:endParaRPr>
          </a:p>
        </p:txBody>
      </p:sp>
      <p:sp>
        <p:nvSpPr>
          <p:cNvPr id="9" name="日期占位符 8"/>
          <p:cNvSpPr>
            <a:spLocks noGrp="1"/>
          </p:cNvSpPr>
          <p:nvPr>
            <p:ph type="dt" sz="half" idx="10"/>
          </p:nvPr>
        </p:nvSpPr>
        <p:spPr/>
        <p:txBody>
          <a:bodyPr/>
          <a:lstStyle/>
          <a:p>
            <a:r>
              <a:rPr kumimoji="1" lang="en-US" altLang="zh-CN" dirty="0">
                <a:latin typeface="等线" panose="02010600030101010101" pitchFamily="2" charset="-122"/>
                <a:ea typeface="等线" panose="02010600030101010101" pitchFamily="2" charset="-122"/>
              </a:rPr>
              <a:t>7.3 </a:t>
            </a:r>
            <a:r>
              <a:rPr kumimoji="1" lang="zh-CN" altLang="en-US" dirty="0">
                <a:latin typeface="等线" panose="02010600030101010101" pitchFamily="2" charset="-122"/>
                <a:ea typeface="等线" panose="02010600030101010101" pitchFamily="2" charset="-122"/>
              </a:rPr>
              <a:t>电子邮件</a:t>
            </a:r>
          </a:p>
        </p:txBody>
      </p:sp>
      <p:sp>
        <p:nvSpPr>
          <p:cNvPr id="11" name="灯片编号占位符 10"/>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sp>
        <p:nvSpPr>
          <p:cNvPr id="8" name="文本框 7"/>
          <p:cNvSpPr txBox="1"/>
          <p:nvPr/>
        </p:nvSpPr>
        <p:spPr>
          <a:xfrm>
            <a:off x="4590415" y="5988050"/>
            <a:ext cx="2262158" cy="369332"/>
          </a:xfrm>
          <a:prstGeom prst="rect">
            <a:avLst/>
          </a:prstGeom>
          <a:noFill/>
        </p:spPr>
        <p:txBody>
          <a:bodyPr wrap="none" rtlCol="0" anchor="t">
            <a:spAutoFit/>
          </a:bodyPr>
          <a:lstStyle/>
          <a:p>
            <a:pPr lvl="0" algn="l">
              <a:buClrTx/>
              <a:buSzTx/>
              <a:buFontTx/>
            </a:pPr>
            <a:r>
              <a:rPr lang="zh-CN" dirty="0">
                <a:latin typeface="等线" panose="02010600030101010101" pitchFamily="2" charset="-122"/>
                <a:ea typeface="等线" panose="02010600030101010101" pitchFamily="2" charset="-122"/>
                <a:cs typeface="微软雅黑" panose="020B0503020204020204" pitchFamily="34" charset="-122"/>
                <a:sym typeface="+mn-ea"/>
              </a:rPr>
              <a:t>电子邮件系统</a:t>
            </a:r>
            <a:r>
              <a:rPr dirty="0" err="1">
                <a:latin typeface="等线" panose="02010600030101010101" pitchFamily="2" charset="-122"/>
                <a:ea typeface="等线" panose="02010600030101010101" pitchFamily="2" charset="-122"/>
                <a:cs typeface="微软雅黑" panose="020B0503020204020204" pitchFamily="34" charset="-122"/>
                <a:sym typeface="+mn-ea"/>
              </a:rPr>
              <a:t>的构成</a:t>
            </a:r>
            <a:endParaRPr dirty="0">
              <a:latin typeface="等线" panose="02010600030101010101" pitchFamily="2" charset="-122"/>
              <a:ea typeface="等线" panose="02010600030101010101" pitchFamily="2" charset="-122"/>
              <a:cs typeface="微软雅黑" panose="020B0503020204020204" pitchFamily="34" charset="-122"/>
              <a:sym typeface="+mn-ea"/>
            </a:endParaRPr>
          </a:p>
        </p:txBody>
      </p:sp>
      <p:pic>
        <p:nvPicPr>
          <p:cNvPr id="5" name="图片 4" descr="电子邮件系统的体系结构"/>
          <p:cNvPicPr>
            <a:picLocks noChangeAspect="1"/>
          </p:cNvPicPr>
          <p:nvPr/>
        </p:nvPicPr>
        <p:blipFill>
          <a:blip r:embed="rId3"/>
          <a:stretch>
            <a:fillRect/>
          </a:stretch>
        </p:blipFill>
        <p:spPr>
          <a:xfrm>
            <a:off x="1654175" y="3298190"/>
            <a:ext cx="8179223" cy="2540000"/>
          </a:xfrm>
          <a:prstGeom prst="rect">
            <a:avLst/>
          </a:prstGeom>
        </p:spPr>
      </p:pic>
      <p:sp>
        <p:nvSpPr>
          <p:cNvPr id="6" name="矩形 5"/>
          <p:cNvSpPr/>
          <p:nvPr/>
        </p:nvSpPr>
        <p:spPr>
          <a:xfrm>
            <a:off x="8686810" y="5622111"/>
            <a:ext cx="3319670" cy="830997"/>
          </a:xfrm>
          <a:prstGeom prst="rect">
            <a:avLst/>
          </a:prstGeom>
          <a:ln>
            <a:solidFill>
              <a:srgbClr val="C00000"/>
            </a:solidFill>
          </a:ln>
        </p:spPr>
        <p:txBody>
          <a:bodyPr wrap="square">
            <a:spAutoFit/>
          </a:bodyPr>
          <a:lstStyle/>
          <a:p>
            <a:pPr algn="l"/>
            <a:r>
              <a:rPr lang="zh-CN" sz="2400" dirty="0">
                <a:solidFill>
                  <a:prstClr val="black"/>
                </a:solidFill>
                <a:latin typeface="等线" panose="02010600030101010101" pitchFamily="2" charset="-122"/>
                <a:ea typeface="等线" panose="02010600030101010101" pitchFamily="2" charset="-122"/>
              </a:rPr>
              <a:t>电子邮件系统采用</a:t>
            </a:r>
            <a:r>
              <a:rPr lang="en-US" altLang="zh-CN" sz="2400" dirty="0">
                <a:solidFill>
                  <a:srgbClr val="7030A0"/>
                </a:solidFill>
                <a:latin typeface="等线" panose="02010600030101010101" pitchFamily="2" charset="-122"/>
                <a:ea typeface="等线" panose="02010600030101010101" pitchFamily="2" charset="-122"/>
              </a:rPr>
              <a:t>C/S</a:t>
            </a:r>
            <a:r>
              <a:rPr lang="zh-CN" sz="2400" dirty="0">
                <a:solidFill>
                  <a:prstClr val="black"/>
                </a:solidFill>
                <a:latin typeface="等线" panose="02010600030101010101" pitchFamily="2" charset="-122"/>
                <a:ea typeface="等线" panose="02010600030101010101" pitchFamily="2" charset="-122"/>
              </a:rPr>
              <a:t>工作模式</a:t>
            </a:r>
          </a:p>
        </p:txBody>
      </p:sp>
    </p:spTree>
    <p:custDataLst>
      <p:tags r:id="rId1"/>
    </p:custDataLst>
    <p:extLst>
      <p:ext uri="{BB962C8B-B14F-4D97-AF65-F5344CB8AC3E}">
        <p14:creationId xmlns:p14="http://schemas.microsoft.com/office/powerpoint/2010/main" val="424155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ym typeface="+mn-ea"/>
              </a:rPr>
              <a:t>电子邮件系统</a:t>
            </a:r>
            <a:r>
              <a:rPr lang="zh-CN" altLang="en-US"/>
              <a:t>体系结构</a:t>
            </a:r>
          </a:p>
        </p:txBody>
      </p:sp>
      <p:sp>
        <p:nvSpPr>
          <p:cNvPr id="4" name="日期占位符 3"/>
          <p:cNvSpPr>
            <a:spLocks noGrp="1"/>
          </p:cNvSpPr>
          <p:nvPr>
            <p:ph type="dt" sz="half" idx="10"/>
          </p:nvPr>
        </p:nvSpPr>
        <p:spPr/>
        <p:txBody>
          <a:bodyPr/>
          <a:lstStyle/>
          <a:p>
            <a:r>
              <a:rPr kumimoji="1" lang="en-US" altLang="zh-CN" dirty="0">
                <a:latin typeface="等线" panose="02010600030101010101" pitchFamily="2" charset="-122"/>
                <a:ea typeface="等线" panose="02010600030101010101" pitchFamily="2" charset="-122"/>
              </a:rPr>
              <a:t>7.3 </a:t>
            </a:r>
            <a:r>
              <a:rPr kumimoji="1" lang="zh-CN" altLang="en-US" dirty="0">
                <a:latin typeface="等线" panose="02010600030101010101" pitchFamily="2" charset="-122"/>
                <a:ea typeface="等线" panose="02010600030101010101" pitchFamily="2" charset="-122"/>
              </a:rPr>
              <a:t>电子邮件</a:t>
            </a:r>
          </a:p>
        </p:txBody>
      </p:sp>
      <p:sp>
        <p:nvSpPr>
          <p:cNvPr id="5" name="页脚占位符 4"/>
          <p:cNvSpPr>
            <a:spLocks noGrp="1"/>
          </p:cNvSpPr>
          <p:nvPr>
            <p:ph type="ftr" sz="quarter" idx="11"/>
          </p:nvPr>
        </p:nvSpPr>
        <p:spPr/>
        <p:txBody>
          <a:bodyPr/>
          <a:lstStyle/>
          <a:p>
            <a:r>
              <a:rPr kumimoji="1" lang="zh-CN" altLang="en-US" dirty="0">
                <a:latin typeface="等线" panose="02010600030101010101" pitchFamily="2" charset="-122"/>
                <a:ea typeface="等线" panose="02010600030101010101" pitchFamily="2" charset="-122"/>
              </a:rPr>
              <a:t>引自：</a:t>
            </a:r>
            <a:r>
              <a:rPr kumimoji="1" lang="zh-CN" dirty="0">
                <a:latin typeface="等线" panose="02010600030101010101" pitchFamily="2" charset="-122"/>
                <a:ea typeface="等线" panose="02010600030101010101" pitchFamily="2" charset="-122"/>
              </a:rPr>
              <a:t>计算机网络 徐敬东等</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
        <p:nvSpPr>
          <p:cNvPr id="7" name="内容占位符 6"/>
          <p:cNvSpPr>
            <a:spLocks noGrp="1"/>
          </p:cNvSpPr>
          <p:nvPr>
            <p:ph idx="1"/>
          </p:nvPr>
        </p:nvSpPr>
        <p:spPr>
          <a:ln w="6350" cmpd="sng">
            <a:noFill/>
            <a:prstDash val="solid"/>
          </a:ln>
        </p:spPr>
        <p:txBody>
          <a:bodyPr>
            <a:normAutofit fontScale="90000" lnSpcReduction="20000"/>
          </a:bodyPr>
          <a:lstStyle/>
          <a:p>
            <a:pPr marL="311150" indent="-311150">
              <a:lnSpc>
                <a:spcPct val="110000"/>
              </a:lnSpc>
            </a:pPr>
            <a:r>
              <a:rPr lang="zh-CN" dirty="0"/>
              <a:t>用户代理（邮件客户端）</a:t>
            </a:r>
          </a:p>
          <a:p>
            <a:pPr marL="768350" lvl="1" indent="-311150" fontAlgn="auto">
              <a:lnSpc>
                <a:spcPct val="100000"/>
              </a:lnSpc>
            </a:pPr>
            <a:r>
              <a:rPr lang="zh-CN" dirty="0"/>
              <a:t>编辑和发送邮件</a:t>
            </a:r>
          </a:p>
          <a:p>
            <a:pPr marL="768350" lvl="1" indent="-311150" fontAlgn="auto">
              <a:lnSpc>
                <a:spcPct val="100000"/>
              </a:lnSpc>
            </a:pPr>
            <a:r>
              <a:rPr lang="zh-CN" dirty="0"/>
              <a:t>接收、读取和管理邮件</a:t>
            </a:r>
          </a:p>
          <a:p>
            <a:pPr marL="768350" lvl="1" indent="-311150" fontAlgn="auto">
              <a:lnSpc>
                <a:spcPct val="100000"/>
              </a:lnSpc>
            </a:pPr>
            <a:r>
              <a:rPr lang="zh-CN" dirty="0"/>
              <a:t>管理地址簿</a:t>
            </a:r>
          </a:p>
          <a:p>
            <a:pPr marL="768350" lvl="1" indent="-311150" fontAlgn="auto">
              <a:lnSpc>
                <a:spcPct val="100000"/>
              </a:lnSpc>
            </a:pPr>
            <a:r>
              <a:rPr lang="zh-CN" dirty="0">
                <a:solidFill>
                  <a:srgbClr val="7030A0"/>
                </a:solidFill>
              </a:rPr>
              <a:t>无统一标准</a:t>
            </a:r>
          </a:p>
          <a:p>
            <a:pPr marL="311150" indent="-311150">
              <a:lnSpc>
                <a:spcPct val="110000"/>
              </a:lnSpc>
            </a:pPr>
            <a:r>
              <a:rPr lang="zh-CN" altLang="en-US" sz="2800" dirty="0">
                <a:sym typeface="+mn-ea"/>
              </a:rPr>
              <a:t>传输代理</a:t>
            </a:r>
            <a:r>
              <a:rPr lang="zh-CN" sz="2800" dirty="0">
                <a:sym typeface="+mn-ea"/>
              </a:rPr>
              <a:t>（邮件服务器）</a:t>
            </a:r>
            <a:endParaRPr lang="zh-CN" sz="2800" dirty="0"/>
          </a:p>
          <a:p>
            <a:pPr marL="768350" lvl="1" indent="-311150" algn="l" fontAlgn="auto">
              <a:lnSpc>
                <a:spcPct val="100000"/>
              </a:lnSpc>
              <a:buClrTx/>
              <a:buSzTx/>
            </a:pPr>
            <a:r>
              <a:rPr lang="zh-CN" sz="2400" dirty="0">
                <a:solidFill>
                  <a:srgbClr val="7030A0"/>
                </a:solidFill>
                <a:sym typeface="+mn-ea"/>
              </a:rPr>
              <a:t>邮箱</a:t>
            </a:r>
            <a:r>
              <a:rPr lang="zh-CN" sz="2400" dirty="0">
                <a:sym typeface="+mn-ea"/>
              </a:rPr>
              <a:t>：保存用户收到的邮件</a:t>
            </a:r>
          </a:p>
          <a:p>
            <a:pPr marL="768350" lvl="1" indent="-311150" algn="l" fontAlgn="auto">
              <a:lnSpc>
                <a:spcPct val="100000"/>
              </a:lnSpc>
              <a:buClrTx/>
              <a:buSzTx/>
            </a:pPr>
            <a:r>
              <a:rPr lang="zh-CN" sz="2400" dirty="0">
                <a:sym typeface="+mn-ea"/>
              </a:rPr>
              <a:t>邮件输出队列：存储等待发送的邮件</a:t>
            </a:r>
          </a:p>
          <a:p>
            <a:pPr marL="768350" lvl="1" indent="-311150" algn="l" fontAlgn="auto">
              <a:lnSpc>
                <a:spcPct val="100000"/>
              </a:lnSpc>
              <a:buClrTx/>
              <a:buSzTx/>
            </a:pPr>
            <a:r>
              <a:rPr lang="zh-CN" sz="2400" dirty="0">
                <a:sym typeface="+mn-ea"/>
              </a:rPr>
              <a:t>运行电子邮件协议</a:t>
            </a:r>
          </a:p>
          <a:p>
            <a:pPr marL="311150" indent="-311150">
              <a:lnSpc>
                <a:spcPct val="110000"/>
              </a:lnSpc>
            </a:pPr>
            <a:r>
              <a:rPr lang="zh-CN" sz="2800" dirty="0">
                <a:sym typeface="+mn-ea"/>
              </a:rPr>
              <a:t>SMTP协议</a:t>
            </a:r>
            <a:endParaRPr lang="zh-CN" sz="2800" dirty="0"/>
          </a:p>
          <a:p>
            <a:pPr marL="768350" lvl="1" indent="-311150">
              <a:lnSpc>
                <a:spcPct val="110000"/>
              </a:lnSpc>
            </a:pPr>
            <a:r>
              <a:rPr lang="zh-CN" sz="2400" dirty="0">
                <a:sym typeface="+mn-ea"/>
              </a:rPr>
              <a:t>smtp客户: 发送邮件端</a:t>
            </a:r>
            <a:endParaRPr lang="zh-CN" sz="2400" dirty="0"/>
          </a:p>
          <a:p>
            <a:pPr marL="768350" lvl="1" indent="-311150">
              <a:lnSpc>
                <a:spcPct val="110000"/>
              </a:lnSpc>
            </a:pPr>
            <a:r>
              <a:rPr lang="zh-CN" sz="2400" dirty="0">
                <a:sym typeface="+mn-ea"/>
              </a:rPr>
              <a:t>smtp服务器: 接收邮件端</a:t>
            </a:r>
            <a:endParaRPr lang="zh-CN" dirty="0"/>
          </a:p>
        </p:txBody>
      </p:sp>
      <p:sp>
        <p:nvSpPr>
          <p:cNvPr id="11" name="内容占位符 2"/>
          <p:cNvSpPr>
            <a:spLocks noGrp="1"/>
          </p:cNvSpPr>
          <p:nvPr/>
        </p:nvSpPr>
        <p:spPr>
          <a:xfrm>
            <a:off x="6316345" y="1949450"/>
            <a:ext cx="5357495" cy="4148002"/>
          </a:xfrm>
          <a:prstGeom prst="rect">
            <a:avLst/>
          </a:prstGeom>
          <a:ln w="6350" cmpd="sng">
            <a:solidFill>
              <a:srgbClr val="C00000"/>
            </a:solidFill>
            <a:prstDash val="solid"/>
          </a:ln>
        </p:spPr>
        <p:txBody>
          <a:bodyPr vert="horz" lIns="91440" tIns="45720" rIns="91440" bIns="45720" rtlCol="0">
            <a:normAutofit fontScale="97500" lnSpcReduction="10000"/>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30000"/>
              </a:lnSpc>
              <a:spcBef>
                <a:spcPts val="600"/>
              </a:spcBef>
              <a:spcAft>
                <a:spcPts val="0"/>
              </a:spcAft>
              <a:buClrTx/>
              <a:buSzTx/>
              <a:defRPr/>
            </a:pPr>
            <a:r>
              <a:rPr kumimoji="1" lang="zh-CN" sz="2400" b="0" i="0" u="none" strike="noStrike" kern="1200" cap="none" spc="0" normalizeH="0" baseline="0" noProof="0" dirty="0">
                <a:ln>
                  <a:noFill/>
                </a:ln>
                <a:solidFill>
                  <a:srgbClr val="7030A0"/>
                </a:solidFill>
                <a:effectLst/>
                <a:uLnTx/>
                <a:uFillTx/>
                <a:latin typeface="等线" panose="02010600030101010101" pitchFamily="2" charset="-122"/>
                <a:ea typeface="等线" panose="02010600030101010101" pitchFamily="2" charset="-122"/>
                <a:cs typeface="+mn-cs"/>
              </a:rPr>
              <a:t>邮箱</a:t>
            </a:r>
            <a:r>
              <a:rPr kumimoji="1" lang="zh-CN" sz="24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是</a:t>
            </a:r>
            <a:r>
              <a:rPr kumimoji="1" sz="2400" b="0" i="0" u="none" strike="noStrike" kern="12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mn-cs"/>
              </a:rPr>
              <a:t>邮件服务器中的一块内存区域，其标识即为</a:t>
            </a:r>
            <a:r>
              <a:rPr kumimoji="1" sz="2400" b="0" i="0" u="none" strike="noStrike" kern="1200" cap="none" spc="0" normalizeH="0" baseline="0" noProof="0" dirty="0" err="1">
                <a:ln>
                  <a:noFill/>
                </a:ln>
                <a:solidFill>
                  <a:srgbClr val="7030A0"/>
                </a:solidFill>
                <a:effectLst/>
                <a:uLnTx/>
                <a:uFillTx/>
                <a:latin typeface="等线" panose="02010600030101010101" pitchFamily="2" charset="-122"/>
                <a:ea typeface="等线" panose="02010600030101010101" pitchFamily="2" charset="-122"/>
                <a:cs typeface="+mn-cs"/>
              </a:rPr>
              <a:t>电子邮件地址</a:t>
            </a:r>
            <a:r>
              <a:rPr lang="zh-CN" altLang="en-US" sz="2400" dirty="0">
                <a:latin typeface="等线" panose="02010600030101010101" pitchFamily="2" charset="-122"/>
                <a:ea typeface="等线" panose="02010600030101010101" pitchFamily="2" charset="-122"/>
                <a:sym typeface="+mn-ea"/>
              </a:rPr>
              <a:t>（邮箱名）</a:t>
            </a:r>
          </a:p>
          <a:p>
            <a:pPr marR="0" lvl="0" algn="l" defTabSz="914400" rtl="0" eaLnBrk="1" fontAlgn="auto" latinLnBrk="0" hangingPunct="1">
              <a:lnSpc>
                <a:spcPct val="130000"/>
              </a:lnSpc>
              <a:spcBef>
                <a:spcPts val="600"/>
              </a:spcBef>
              <a:spcAft>
                <a:spcPts val="0"/>
              </a:spcAft>
              <a:buClrTx/>
              <a:buSzTx/>
              <a:defRPr/>
            </a:pPr>
            <a:r>
              <a:rPr lang="zh-CN" altLang="en-US" sz="2400" dirty="0">
                <a:latin typeface="等线" panose="02010600030101010101" pitchFamily="2" charset="-122"/>
                <a:ea typeface="等线" panose="02010600030101010101" pitchFamily="2" charset="-122"/>
                <a:sym typeface="+mn-ea"/>
              </a:rPr>
              <a:t>电子邮件地址是</a:t>
            </a:r>
            <a:r>
              <a:rPr kumimoji="1" lang="zh-CN" sz="24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一个字符串，用于指定邮件接收者</a:t>
            </a:r>
          </a:p>
          <a:p>
            <a:pPr marL="457200" marR="0" lvl="1" indent="0" algn="l" defTabSz="914400" rtl="0" eaLnBrk="1" fontAlgn="auto" latinLnBrk="0" hangingPunct="1">
              <a:lnSpc>
                <a:spcPct val="130000"/>
              </a:lnSpc>
              <a:spcBef>
                <a:spcPts val="600"/>
              </a:spcBef>
              <a:spcAft>
                <a:spcPts val="0"/>
              </a:spcAft>
              <a:buClrTx/>
              <a:buSzTx/>
              <a:buNone/>
              <a:defRPr/>
            </a:pPr>
            <a:r>
              <a:rPr kumimoji="1" sz="2055" b="0" i="0" u="none" strike="noStrike" kern="12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mn-cs"/>
              </a:rPr>
              <a:t>local-part@domain-name</a:t>
            </a:r>
            <a:endParaRPr kumimoji="1" sz="2055"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a:p>
            <a:pPr marR="0" lvl="1" algn="l" defTabSz="914400" rtl="0" eaLnBrk="1" fontAlgn="auto" latinLnBrk="0" hangingPunct="1">
              <a:lnSpc>
                <a:spcPct val="130000"/>
              </a:lnSpc>
              <a:spcBef>
                <a:spcPts val="600"/>
              </a:spcBef>
              <a:spcAft>
                <a:spcPts val="0"/>
              </a:spcAft>
              <a:buClrTx/>
              <a:buSzTx/>
              <a:buFont typeface="Arial" panose="020B0604020202020204" pitchFamily="34" charset="0"/>
              <a:buChar char="•"/>
              <a:defRPr/>
            </a:pPr>
            <a:r>
              <a:rPr kumimoji="1" sz="2055"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domain-name: </a:t>
            </a:r>
            <a:r>
              <a:rPr kumimoji="1" sz="2055" b="0" i="0" u="none" strike="noStrike" kern="12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mn-cs"/>
              </a:rPr>
              <a:t>域名</a:t>
            </a:r>
            <a:endParaRPr kumimoji="1" sz="2055"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a:p>
            <a:pPr marR="0" lvl="1" algn="l" defTabSz="914400" rtl="0" eaLnBrk="1" fontAlgn="auto" latinLnBrk="0" hangingPunct="1">
              <a:lnSpc>
                <a:spcPct val="130000"/>
              </a:lnSpc>
              <a:spcBef>
                <a:spcPts val="600"/>
              </a:spcBef>
              <a:spcAft>
                <a:spcPts val="0"/>
              </a:spcAft>
              <a:buClrTx/>
              <a:buSzTx/>
              <a:buFont typeface="Arial" panose="020B0604020202020204" pitchFamily="34" charset="0"/>
              <a:buChar char="•"/>
              <a:defRPr/>
            </a:pPr>
            <a:r>
              <a:rPr kumimoji="1" sz="2055"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local-part: </a:t>
            </a:r>
            <a:r>
              <a:rPr kumimoji="1" sz="2055" b="0" i="0" u="none" strike="noStrike" kern="1200" cap="none" spc="0" normalizeH="0" baseline="0" noProof="0" dirty="0" err="1">
                <a:ln>
                  <a:noFill/>
                </a:ln>
                <a:solidFill>
                  <a:prstClr val="black"/>
                </a:solidFill>
                <a:effectLst/>
                <a:uLnTx/>
                <a:uFillTx/>
                <a:latin typeface="等线" panose="02010600030101010101" pitchFamily="2" charset="-122"/>
                <a:ea typeface="等线" panose="02010600030101010101" pitchFamily="2" charset="-122"/>
                <a:cs typeface="+mn-cs"/>
              </a:rPr>
              <a:t>域名中的邮箱名</a:t>
            </a:r>
            <a:r>
              <a:rPr kumimoji="1" lang="en-US" altLang="zh-CN" sz="2055"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 </a:t>
            </a:r>
          </a:p>
          <a:p>
            <a:pPr marL="457200" marR="0" lvl="1" indent="0" algn="l" defTabSz="914400" rtl="0" eaLnBrk="1" fontAlgn="auto" latinLnBrk="0" hangingPunct="1">
              <a:lnSpc>
                <a:spcPct val="130000"/>
              </a:lnSpc>
              <a:spcBef>
                <a:spcPts val="600"/>
              </a:spcBef>
              <a:spcAft>
                <a:spcPts val="0"/>
              </a:spcAft>
              <a:buClrTx/>
              <a:buSzTx/>
              <a:buNone/>
              <a:defRPr/>
            </a:pPr>
            <a:r>
              <a:rPr kumimoji="1" lang="zh-CN" altLang="en-US" sz="2055"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例：aaa@hotmail.com、david@</a:t>
            </a:r>
            <a:r>
              <a:rPr kumimoji="1" lang="en-US" altLang="zh-CN" sz="2055" noProof="0" dirty="0">
                <a:solidFill>
                  <a:prstClr val="black"/>
                </a:solidFill>
                <a:latin typeface="等线" panose="02010600030101010101" pitchFamily="2" charset="-122"/>
                <a:ea typeface="等线" panose="02010600030101010101" pitchFamily="2" charset="-122"/>
              </a:rPr>
              <a:t>n</a:t>
            </a:r>
            <a:r>
              <a:rPr kumimoji="1" lang="en-US" altLang="zh-CN" sz="2055" dirty="0" err="1">
                <a:solidFill>
                  <a:prstClr val="black"/>
                </a:solidFill>
                <a:latin typeface="等线" panose="02010600030101010101" pitchFamily="2" charset="-122"/>
                <a:ea typeface="等线" panose="02010600030101010101" pitchFamily="2" charset="-122"/>
              </a:rPr>
              <a:t>ankai.edu.cn</a:t>
            </a:r>
            <a:r>
              <a:rPr kumimoji="1" lang="zh-CN" altLang="en-US" sz="2055"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 </a:t>
            </a:r>
          </a:p>
        </p:txBody>
      </p:sp>
    </p:spTree>
    <p:custDataLst>
      <p:tags r:id="rId1"/>
    </p:custDataLst>
    <p:extLst>
      <p:ext uri="{BB962C8B-B14F-4D97-AF65-F5344CB8AC3E}">
        <p14:creationId xmlns:p14="http://schemas.microsoft.com/office/powerpoint/2010/main" val="46752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用户代理</a:t>
            </a:r>
          </a:p>
        </p:txBody>
      </p:sp>
      <p:sp>
        <p:nvSpPr>
          <p:cNvPr id="9" name="日期占位符 8"/>
          <p:cNvSpPr>
            <a:spLocks noGrp="1"/>
          </p:cNvSpPr>
          <p:nvPr>
            <p:ph type="dt" sz="half" idx="10"/>
          </p:nvPr>
        </p:nvSpPr>
        <p:spPr/>
        <p:txBody>
          <a:bodyPr/>
          <a:lstStyle/>
          <a:p>
            <a:r>
              <a:rPr kumimoji="1" lang="en-US" altLang="zh-CN" dirty="0">
                <a:latin typeface="等线" panose="02010600030101010101" pitchFamily="2" charset="-122"/>
                <a:ea typeface="等线" panose="02010600030101010101" pitchFamily="2" charset="-122"/>
              </a:rPr>
              <a:t>7.3 </a:t>
            </a:r>
            <a:r>
              <a:rPr kumimoji="1" lang="zh-CN" altLang="en-US" dirty="0">
                <a:latin typeface="等线" panose="02010600030101010101" pitchFamily="2" charset="-122"/>
                <a:ea typeface="等线" panose="02010600030101010101" pitchFamily="2" charset="-122"/>
              </a:rPr>
              <a:t>电子邮件</a:t>
            </a:r>
          </a:p>
        </p:txBody>
      </p:sp>
      <p:sp>
        <p:nvSpPr>
          <p:cNvPr id="11" name="灯片编号占位符 10"/>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6" name="文本框 5"/>
          <p:cNvSpPr txBox="1"/>
          <p:nvPr/>
        </p:nvSpPr>
        <p:spPr>
          <a:xfrm>
            <a:off x="7299325" y="5561965"/>
            <a:ext cx="2697480" cy="368300"/>
          </a:xfrm>
          <a:prstGeom prst="rect">
            <a:avLst/>
          </a:prstGeom>
          <a:noFill/>
        </p:spPr>
        <p:txBody>
          <a:bodyPr wrap="none" rtlCol="0" anchor="t">
            <a:spAutoFit/>
          </a:bodyPr>
          <a:lstStyle/>
          <a:p>
            <a:pPr lvl="0" algn="l">
              <a:buClrTx/>
              <a:buSzTx/>
              <a:buFontTx/>
            </a:pPr>
            <a:r>
              <a:rPr dirty="0" err="1">
                <a:latin typeface="等线" panose="02010600030101010101" pitchFamily="2" charset="-122"/>
                <a:ea typeface="等线" panose="02010600030101010101" pitchFamily="2" charset="-122"/>
                <a:cs typeface="微软雅黑" panose="020B0503020204020204" pitchFamily="34" charset="-122"/>
                <a:sym typeface="+mn-ea"/>
              </a:rPr>
              <a:t>用户代理接口的典型元素</a:t>
            </a:r>
            <a:endParaRPr dirty="0">
              <a:latin typeface="等线" panose="02010600030101010101" pitchFamily="2" charset="-122"/>
              <a:ea typeface="等线" panose="02010600030101010101" pitchFamily="2" charset="-122"/>
              <a:cs typeface="微软雅黑" panose="020B0503020204020204" pitchFamily="34" charset="-122"/>
              <a:sym typeface="+mn-ea"/>
            </a:endParaRPr>
          </a:p>
        </p:txBody>
      </p:sp>
      <p:pic>
        <p:nvPicPr>
          <p:cNvPr id="10" name="图片 9" descr="用户代理接口的典型元素"/>
          <p:cNvPicPr>
            <a:picLocks noChangeAspect="1"/>
          </p:cNvPicPr>
          <p:nvPr/>
        </p:nvPicPr>
        <p:blipFill>
          <a:blip r:embed="rId2"/>
          <a:stretch>
            <a:fillRect/>
          </a:stretch>
        </p:blipFill>
        <p:spPr>
          <a:xfrm>
            <a:off x="4955540" y="1584960"/>
            <a:ext cx="6762750" cy="3687445"/>
          </a:xfrm>
          <a:prstGeom prst="rect">
            <a:avLst/>
          </a:prstGeom>
        </p:spPr>
      </p:pic>
      <p:sp>
        <p:nvSpPr>
          <p:cNvPr id="3" name="内容占位符 2"/>
          <p:cNvSpPr>
            <a:spLocks noGrp="1"/>
          </p:cNvSpPr>
          <p:nvPr>
            <p:ph idx="1"/>
          </p:nvPr>
        </p:nvSpPr>
        <p:spPr>
          <a:xfrm>
            <a:off x="845184" y="1376680"/>
            <a:ext cx="4458335" cy="4980305"/>
          </a:xfrm>
        </p:spPr>
        <p:txBody>
          <a:bodyPr>
            <a:normAutofit fontScale="97500" lnSpcReduction="10000"/>
          </a:bodyPr>
          <a:lstStyle/>
          <a:p>
            <a:pPr algn="just" fontAlgn="base">
              <a:lnSpc>
                <a:spcPct val="120000"/>
              </a:lnSpc>
              <a:spcAft>
                <a:spcPts val="0"/>
              </a:spcAft>
            </a:pPr>
            <a:r>
              <a:rPr lang="zh-CN" dirty="0"/>
              <a:t>用户代理是一个程序，用户通过它和电子邮件系统交互</a:t>
            </a:r>
          </a:p>
          <a:p>
            <a:pPr algn="just" fontAlgn="base">
              <a:lnSpc>
                <a:spcPct val="120000"/>
              </a:lnSpc>
              <a:spcAft>
                <a:spcPts val="0"/>
              </a:spcAft>
            </a:pPr>
            <a:r>
              <a:rPr lang="zh-CN" dirty="0"/>
              <a:t>让用户能够阅读和发送电子邮件（</a:t>
            </a:r>
            <a:r>
              <a:rPr lang="en-US" altLang="zh-CN" dirty="0"/>
              <a:t>email message</a:t>
            </a:r>
            <a:r>
              <a:rPr lang="zh-CN" dirty="0"/>
              <a:t>）</a:t>
            </a:r>
          </a:p>
          <a:p>
            <a:pPr algn="just" fontAlgn="base">
              <a:lnSpc>
                <a:spcPct val="120000"/>
              </a:lnSpc>
              <a:spcAft>
                <a:spcPts val="0"/>
              </a:spcAft>
            </a:pPr>
            <a:r>
              <a:rPr dirty="0" err="1"/>
              <a:t>与邮件服务器交互</a:t>
            </a:r>
            <a:r>
              <a:rPr dirty="0"/>
              <a:t>，</a:t>
            </a:r>
            <a:r>
              <a:rPr lang="zh-CN" altLang="en-US" dirty="0"/>
              <a:t>接</a:t>
            </a:r>
            <a:r>
              <a:rPr dirty="0" err="1"/>
              <a:t>收、发</a:t>
            </a:r>
            <a:r>
              <a:rPr lang="zh-CN" altLang="en-US" dirty="0"/>
              <a:t>送</a:t>
            </a:r>
            <a:r>
              <a:rPr lang="zh-CN" dirty="0"/>
              <a:t>电子邮件</a:t>
            </a:r>
          </a:p>
          <a:p>
            <a:pPr algn="just" fontAlgn="base">
              <a:lnSpc>
                <a:spcPct val="120000"/>
              </a:lnSpc>
              <a:spcAft>
                <a:spcPts val="0"/>
              </a:spcAft>
            </a:pPr>
            <a:r>
              <a:rPr dirty="0" err="1"/>
              <a:t>常用的用户代理：Outlook</a:t>
            </a:r>
            <a:r>
              <a:rPr dirty="0"/>
              <a:t>, Thunderbird</a:t>
            </a:r>
            <a:r>
              <a:rPr lang="zh-CN" altLang="en-US" dirty="0"/>
              <a:t>，</a:t>
            </a:r>
            <a:r>
              <a:rPr lang="en-CN" dirty="0"/>
              <a:t>邮箱大师</a:t>
            </a:r>
            <a:r>
              <a:rPr lang="zh-CN" dirty="0"/>
              <a:t>，</a:t>
            </a:r>
            <a:r>
              <a:rPr dirty="0" err="1"/>
              <a:t>Web客户端</a:t>
            </a:r>
            <a:r>
              <a:rPr lang="zh-CN" dirty="0"/>
              <a:t>等</a:t>
            </a:r>
          </a:p>
        </p:txBody>
      </p:sp>
    </p:spTree>
    <p:extLst>
      <p:ext uri="{BB962C8B-B14F-4D97-AF65-F5344CB8AC3E}">
        <p14:creationId xmlns:p14="http://schemas.microsoft.com/office/powerpoint/2010/main" val="9577839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邮件传输</a:t>
            </a:r>
          </a:p>
        </p:txBody>
      </p:sp>
      <p:sp>
        <p:nvSpPr>
          <p:cNvPr id="3" name="内容占位符 2"/>
          <p:cNvSpPr>
            <a:spLocks noGrp="1"/>
          </p:cNvSpPr>
          <p:nvPr>
            <p:ph idx="1"/>
          </p:nvPr>
        </p:nvSpPr>
        <p:spPr>
          <a:xfrm>
            <a:off x="838200" y="1510758"/>
            <a:ext cx="10304417" cy="4586694"/>
          </a:xfrm>
        </p:spPr>
        <p:txBody>
          <a:bodyPr/>
          <a:lstStyle/>
          <a:p>
            <a:r>
              <a:rPr lang="zh-CN" altLang="en-US" dirty="0"/>
              <a:t>邮件传输代理将邮件从发件人中继给收件人</a:t>
            </a:r>
          </a:p>
          <a:p>
            <a:r>
              <a:rPr lang="zh-CN" altLang="en-US" dirty="0"/>
              <a:t>邮件传输采用的协议是</a:t>
            </a:r>
            <a:r>
              <a:rPr lang="en-US" altLang="zh-CN" dirty="0"/>
              <a:t>SMTP</a:t>
            </a:r>
          </a:p>
          <a:p>
            <a:pPr lvl="1">
              <a:lnSpc>
                <a:spcPct val="120000"/>
              </a:lnSpc>
              <a:spcAft>
                <a:spcPts val="0"/>
              </a:spcAft>
            </a:pPr>
            <a:r>
              <a:rPr lang="en-US" altLang="zh-CN" dirty="0" err="1"/>
              <a:t>SMTP利用TCP可靠地从客户向服务器传递邮件</a:t>
            </a:r>
            <a:r>
              <a:rPr lang="zh-CN" altLang="en-US" dirty="0"/>
              <a:t>，使用</a:t>
            </a:r>
            <a:r>
              <a:rPr lang="zh-CN" altLang="en-US" dirty="0">
                <a:solidFill>
                  <a:srgbClr val="7030A0"/>
                </a:solidFill>
              </a:rPr>
              <a:t>端口</a:t>
            </a:r>
            <a:r>
              <a:rPr lang="en-US" altLang="zh-CN" dirty="0">
                <a:solidFill>
                  <a:srgbClr val="7030A0"/>
                </a:solidFill>
              </a:rPr>
              <a:t>25</a:t>
            </a:r>
            <a:endParaRPr lang="en-US" altLang="zh-CN" dirty="0"/>
          </a:p>
          <a:p>
            <a:pPr lvl="1">
              <a:lnSpc>
                <a:spcPct val="120000"/>
              </a:lnSpc>
              <a:spcAft>
                <a:spcPts val="0"/>
              </a:spcAft>
            </a:pPr>
            <a:r>
              <a:rPr lang="en-US" altLang="zh-CN" dirty="0" err="1">
                <a:solidFill>
                  <a:srgbClr val="7030A0"/>
                </a:solidFill>
              </a:rPr>
              <a:t>直接投递</a:t>
            </a:r>
            <a:r>
              <a:rPr lang="en-US" altLang="zh-CN" dirty="0"/>
              <a:t>: </a:t>
            </a:r>
            <a:r>
              <a:rPr lang="en-US" altLang="zh-CN" dirty="0" err="1"/>
              <a:t>发送端直接到接收端</a:t>
            </a:r>
            <a:endParaRPr lang="en-US" altLang="zh-CN" dirty="0"/>
          </a:p>
          <a:p>
            <a:pPr lvl="1">
              <a:lnSpc>
                <a:spcPct val="120000"/>
              </a:lnSpc>
              <a:spcAft>
                <a:spcPts val="0"/>
              </a:spcAft>
            </a:pPr>
            <a:r>
              <a:rPr lang="en-US" altLang="zh-CN" dirty="0"/>
              <a:t>SMTP的3个阶段：连接建立、邮件传送、连接关闭</a:t>
            </a:r>
          </a:p>
        </p:txBody>
      </p:sp>
      <p:sp>
        <p:nvSpPr>
          <p:cNvPr id="4" name="日期占位符 3"/>
          <p:cNvSpPr>
            <a:spLocks noGrp="1"/>
          </p:cNvSpPr>
          <p:nvPr>
            <p:ph type="dt" sz="half" idx="10"/>
          </p:nvPr>
        </p:nvSpPr>
        <p:spPr/>
        <p:txBody>
          <a:bodyPr/>
          <a:lstStyle/>
          <a:p>
            <a:r>
              <a:rPr kumimoji="1" lang="en-US" altLang="zh-CN" dirty="0">
                <a:latin typeface="等线" panose="02010600030101010101" pitchFamily="2" charset="-122"/>
                <a:ea typeface="等线" panose="02010600030101010101" pitchFamily="2" charset="-122"/>
              </a:rPr>
              <a:t>7.3 </a:t>
            </a:r>
            <a:r>
              <a:rPr kumimoji="1" lang="zh-CN" altLang="en-US" dirty="0">
                <a:latin typeface="等线" panose="02010600030101010101" pitchFamily="2" charset="-122"/>
                <a:ea typeface="等线" panose="02010600030101010101" pitchFamily="2" charset="-122"/>
              </a:rPr>
              <a:t>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Tree>
    <p:extLst>
      <p:ext uri="{BB962C8B-B14F-4D97-AF65-F5344CB8AC3E}">
        <p14:creationId xmlns:p14="http://schemas.microsoft.com/office/powerpoint/2010/main" val="18857621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场景: </a:t>
            </a:r>
            <a:r>
              <a:rPr lang="en-US" altLang="zh-CN" dirty="0">
                <a:latin typeface="Gill Sans MT" panose="020B0502020104020203" charset="0"/>
                <a:ea typeface="MS PGothic" panose="020B0600070205080204" charset="-128"/>
                <a:cs typeface="MS PGothic" panose="020B0600070205080204" charset="-128"/>
                <a:sym typeface="+mn-ea"/>
              </a:rPr>
              <a:t>Alice</a:t>
            </a:r>
            <a:r>
              <a:rPr lang="zh-CN" altLang="en-US"/>
              <a:t>发送邮件给B</a:t>
            </a:r>
            <a:r>
              <a:rPr lang="en-US" altLang="zh-CN"/>
              <a:t>ob</a:t>
            </a:r>
            <a:r>
              <a:rPr lang="zh-CN" altLang="en-US"/>
              <a:t> </a:t>
            </a:r>
          </a:p>
        </p:txBody>
      </p:sp>
      <p:sp>
        <p:nvSpPr>
          <p:cNvPr id="3" name="内容占位符 2"/>
          <p:cNvSpPr>
            <a:spLocks noGrp="1"/>
          </p:cNvSpPr>
          <p:nvPr>
            <p:ph idx="1"/>
          </p:nvPr>
        </p:nvSpPr>
        <p:spPr/>
        <p:txBody>
          <a:bodyPr/>
          <a:lstStyle/>
          <a:p>
            <a:pPr marL="457200" indent="-457200">
              <a:lnSpc>
                <a:spcPct val="130000"/>
              </a:lnSpc>
              <a:spcAft>
                <a:spcPts val="0"/>
              </a:spcAft>
              <a:buFont typeface="+mj-ea"/>
              <a:buAutoNum type="circleNumDbPlain"/>
            </a:pPr>
            <a:r>
              <a:rPr lang="en-US" altLang="zh-CN" sz="2400" dirty="0">
                <a:latin typeface="Gill Sans MT" panose="020B0502020104020203" charset="0"/>
                <a:ea typeface="MS PGothic" panose="020B0600070205080204" charset="-128"/>
                <a:cs typeface="MS PGothic" panose="020B0600070205080204" charset="-128"/>
                <a:sym typeface="+mn-ea"/>
              </a:rPr>
              <a:t>Alice</a:t>
            </a:r>
            <a:r>
              <a:rPr lang="zh-CN" altLang="en-US" sz="2400" dirty="0"/>
              <a:t>使用用户代理撰写发送给 </a:t>
            </a:r>
            <a:r>
              <a:rPr lang="zh-CN" altLang="en-US" sz="2400" dirty="0">
                <a:sym typeface="+mn-ea"/>
              </a:rPr>
              <a:t>B</a:t>
            </a:r>
            <a:r>
              <a:rPr lang="en-US" altLang="zh-CN" sz="2400" dirty="0" err="1">
                <a:sym typeface="+mn-ea"/>
              </a:rPr>
              <a:t>ob</a:t>
            </a:r>
            <a:r>
              <a:rPr lang="zh-CN" altLang="en-US" sz="2400" dirty="0"/>
              <a:t>@someschool.edu的邮件</a:t>
            </a:r>
          </a:p>
          <a:p>
            <a:pPr marL="457200" indent="-457200">
              <a:lnSpc>
                <a:spcPct val="130000"/>
              </a:lnSpc>
              <a:spcAft>
                <a:spcPts val="0"/>
              </a:spcAft>
              <a:buFont typeface="+mj-ea"/>
              <a:buAutoNum type="circleNumDbPlain"/>
            </a:pPr>
            <a:r>
              <a:rPr lang="en-US" altLang="zh-CN" sz="2400" dirty="0">
                <a:latin typeface="Gill Sans MT" panose="020B0502020104020203" charset="0"/>
                <a:ea typeface="MS PGothic" panose="020B0600070205080204" charset="-128"/>
                <a:cs typeface="MS PGothic" panose="020B0600070205080204" charset="-128"/>
                <a:sym typeface="+mn-ea"/>
              </a:rPr>
              <a:t>Alice</a:t>
            </a:r>
            <a:r>
              <a:rPr lang="zh-CN" altLang="en-US" sz="2400" dirty="0"/>
              <a:t>的用户代理 发送邮件到她的邮件服务器；邮件存放在邮件队列</a:t>
            </a:r>
          </a:p>
          <a:p>
            <a:pPr marL="457200" indent="-457200">
              <a:lnSpc>
                <a:spcPct val="130000"/>
              </a:lnSpc>
              <a:spcAft>
                <a:spcPts val="0"/>
              </a:spcAft>
              <a:buFont typeface="+mj-ea"/>
              <a:buAutoNum type="circleNumDbPlain"/>
            </a:pPr>
            <a:r>
              <a:rPr lang="zh-CN" altLang="en-US" sz="2400" dirty="0"/>
              <a:t>SMTP客户端打开与</a:t>
            </a:r>
            <a:r>
              <a:rPr lang="zh-CN" altLang="en-US" sz="2400" dirty="0">
                <a:sym typeface="+mn-ea"/>
              </a:rPr>
              <a:t>B</a:t>
            </a:r>
            <a:r>
              <a:rPr lang="en-US" altLang="zh-CN" sz="2400" dirty="0" err="1">
                <a:sym typeface="+mn-ea"/>
              </a:rPr>
              <a:t>ob</a:t>
            </a:r>
            <a:r>
              <a:rPr lang="zh-CN" altLang="en-US" sz="2400" dirty="0"/>
              <a:t>的邮件服务器的TCP连接</a:t>
            </a:r>
          </a:p>
          <a:p>
            <a:pPr marL="457200" lvl="0" indent="-457200" algn="l">
              <a:lnSpc>
                <a:spcPct val="130000"/>
              </a:lnSpc>
              <a:spcAft>
                <a:spcPts val="0"/>
              </a:spcAft>
              <a:buSzTx/>
              <a:buFont typeface="+mj-ea"/>
              <a:buAutoNum type="circleNumDbPlain"/>
            </a:pPr>
            <a:r>
              <a:rPr lang="en-US" altLang="zh-CN" sz="2400" dirty="0" err="1">
                <a:cs typeface="微软雅黑" panose="020B0503020204020204" pitchFamily="34" charset="-122"/>
                <a:sym typeface="+mn-ea"/>
              </a:rPr>
              <a:t>SMTP客户端通过TCP连接发送</a:t>
            </a:r>
            <a:r>
              <a:rPr lang="en-US" altLang="zh-CN" sz="2400" dirty="0" err="1">
                <a:latin typeface="Gill Sans MT" panose="020B0502020104020203" charset="0"/>
                <a:ea typeface="MS PGothic" panose="020B0600070205080204" charset="-128"/>
                <a:cs typeface="MS PGothic" panose="020B0600070205080204" charset="-128"/>
                <a:sym typeface="+mn-ea"/>
              </a:rPr>
              <a:t>Alice</a:t>
            </a:r>
            <a:r>
              <a:rPr lang="en-US" altLang="zh-CN" sz="2400" dirty="0" err="1">
                <a:cs typeface="微软雅黑" panose="020B0503020204020204" pitchFamily="34" charset="-122"/>
                <a:sym typeface="+mn-ea"/>
              </a:rPr>
              <a:t>的</a:t>
            </a:r>
            <a:r>
              <a:rPr lang="zh-CN" altLang="en-US" sz="2400" dirty="0">
                <a:cs typeface="微软雅黑" panose="020B0503020204020204" pitchFamily="34" charset="-122"/>
                <a:sym typeface="+mn-ea"/>
              </a:rPr>
              <a:t>邮件</a:t>
            </a:r>
            <a:endParaRPr lang="en-US" altLang="zh-CN" sz="2400" dirty="0">
              <a:cs typeface="微软雅黑" panose="020B0503020204020204" pitchFamily="34" charset="-122"/>
              <a:sym typeface="+mn-ea"/>
            </a:endParaRPr>
          </a:p>
          <a:p>
            <a:pPr marL="457200" lvl="0" indent="-457200" algn="l">
              <a:lnSpc>
                <a:spcPct val="130000"/>
              </a:lnSpc>
              <a:spcAft>
                <a:spcPts val="0"/>
              </a:spcAft>
              <a:buSzTx/>
              <a:buFont typeface="+mj-ea"/>
              <a:buAutoNum type="circleNumDbPlain"/>
            </a:pPr>
            <a:r>
              <a:rPr lang="zh-CN" altLang="en-US" sz="2400" dirty="0">
                <a:sym typeface="+mn-ea"/>
              </a:rPr>
              <a:t>B</a:t>
            </a:r>
            <a:r>
              <a:rPr lang="en-US" altLang="zh-CN" sz="2400" dirty="0" err="1">
                <a:sym typeface="+mn-ea"/>
              </a:rPr>
              <a:t>ob</a:t>
            </a:r>
            <a:r>
              <a:rPr lang="zh-CN" altLang="en-US" sz="2400" dirty="0">
                <a:cs typeface="微软雅黑" panose="020B0503020204020204" pitchFamily="34" charset="-122"/>
                <a:sym typeface="+mn-ea"/>
              </a:rPr>
              <a:t>的邮件服务器把邮件存放在</a:t>
            </a:r>
            <a:r>
              <a:rPr lang="zh-CN" altLang="en-US" sz="2400" dirty="0">
                <a:sym typeface="+mn-ea"/>
              </a:rPr>
              <a:t>B</a:t>
            </a:r>
            <a:r>
              <a:rPr lang="en-US" altLang="zh-CN" sz="2400" dirty="0" err="1">
                <a:sym typeface="+mn-ea"/>
              </a:rPr>
              <a:t>ob</a:t>
            </a:r>
            <a:r>
              <a:rPr lang="zh-CN" altLang="en-US" sz="2400" dirty="0">
                <a:cs typeface="微软雅黑" panose="020B0503020204020204" pitchFamily="34" charset="-122"/>
                <a:sym typeface="+mn-ea"/>
              </a:rPr>
              <a:t>的邮箱</a:t>
            </a:r>
          </a:p>
          <a:p>
            <a:pPr marL="457200" lvl="0" indent="-457200" algn="l">
              <a:lnSpc>
                <a:spcPct val="130000"/>
              </a:lnSpc>
              <a:spcAft>
                <a:spcPts val="0"/>
              </a:spcAft>
              <a:buSzTx/>
              <a:buFont typeface="+mj-ea"/>
              <a:buAutoNum type="circleNumDbPlain"/>
            </a:pPr>
            <a:r>
              <a:rPr lang="zh-CN" altLang="en-US" sz="2400" dirty="0">
                <a:sym typeface="+mn-ea"/>
              </a:rPr>
              <a:t>B</a:t>
            </a:r>
            <a:r>
              <a:rPr lang="en-US" altLang="zh-CN" sz="2400" dirty="0" err="1">
                <a:sym typeface="+mn-ea"/>
              </a:rPr>
              <a:t>ob</a:t>
            </a:r>
            <a:r>
              <a:rPr lang="en-US" altLang="zh-CN" sz="2400" dirty="0" err="1">
                <a:cs typeface="微软雅黑" panose="020B0503020204020204" pitchFamily="34" charset="-122"/>
                <a:sym typeface="+mn-ea"/>
              </a:rPr>
              <a:t>调用他的用户代理来读取</a:t>
            </a:r>
            <a:r>
              <a:rPr lang="zh-CN" altLang="en-US" sz="2400" dirty="0">
                <a:cs typeface="微软雅黑" panose="020B0503020204020204" pitchFamily="34" charset="-122"/>
                <a:sym typeface="+mn-ea"/>
              </a:rPr>
              <a:t>邮件</a:t>
            </a:r>
          </a:p>
          <a:p>
            <a:pPr marL="457200" indent="-457200">
              <a:buNone/>
            </a:pPr>
            <a:endParaRPr lang="zh-CN" altLang="en-US" sz="2400" dirty="0"/>
          </a:p>
        </p:txBody>
      </p:sp>
      <p:sp>
        <p:nvSpPr>
          <p:cNvPr id="4" name="日期占位符 3"/>
          <p:cNvSpPr>
            <a:spLocks noGrp="1"/>
          </p:cNvSpPr>
          <p:nvPr>
            <p:ph type="dt" sz="half" idx="10"/>
          </p:nvPr>
        </p:nvSpPr>
        <p:spPr/>
        <p:txBody>
          <a:bodyPr/>
          <a:lstStyle/>
          <a:p>
            <a:r>
              <a:rPr kumimoji="1" lang="en-US" altLang="zh-CN" dirty="0">
                <a:latin typeface="等线" panose="02010600030101010101" pitchFamily="2" charset="-122"/>
                <a:ea typeface="等线" panose="02010600030101010101" pitchFamily="2" charset="-122"/>
              </a:rPr>
              <a:t>7.3 </a:t>
            </a:r>
            <a:r>
              <a:rPr kumimoji="1" lang="zh-CN" altLang="en-US" dirty="0">
                <a:latin typeface="等线" panose="02010600030101010101" pitchFamily="2" charset="-122"/>
                <a:ea typeface="等线" panose="02010600030101010101" pitchFamily="2" charset="-122"/>
              </a:rPr>
              <a:t>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grpSp>
        <p:nvGrpSpPr>
          <p:cNvPr id="147459" name="Group 163"/>
          <p:cNvGrpSpPr/>
          <p:nvPr/>
        </p:nvGrpSpPr>
        <p:grpSpPr>
          <a:xfrm>
            <a:off x="2919730" y="5023803"/>
            <a:ext cx="890588" cy="1054100"/>
            <a:chOff x="3588" y="550"/>
            <a:chExt cx="561" cy="664"/>
          </a:xfrm>
        </p:grpSpPr>
        <p:grpSp>
          <p:nvGrpSpPr>
            <p:cNvPr id="147581" name="Group 164"/>
            <p:cNvGrpSpPr/>
            <p:nvPr/>
          </p:nvGrpSpPr>
          <p:grpSpPr>
            <a:xfrm>
              <a:off x="3588" y="692"/>
              <a:ext cx="561" cy="522"/>
              <a:chOff x="-44" y="1473"/>
              <a:chExt cx="981" cy="1105"/>
            </a:xfrm>
          </p:grpSpPr>
          <p:pic>
            <p:nvPicPr>
              <p:cNvPr id="147584" name="Picture 165"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47585" name="Freeform 166"/>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47582"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83"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grpSp>
        <p:nvGrpSpPr>
          <p:cNvPr id="147460" name="Group 130"/>
          <p:cNvGrpSpPr/>
          <p:nvPr/>
        </p:nvGrpSpPr>
        <p:grpSpPr>
          <a:xfrm>
            <a:off x="6607493" y="4755515"/>
            <a:ext cx="511175" cy="693738"/>
            <a:chOff x="4140" y="429"/>
            <a:chExt cx="1425" cy="2396"/>
          </a:xfrm>
        </p:grpSpPr>
        <p:sp>
          <p:nvSpPr>
            <p:cNvPr id="147549" name="Freeform 131"/>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147550" name="Rectangle 132"/>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51" name="Freeform 133"/>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147552" name="Freeform 134"/>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53" name="Rectangle 135"/>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4" name="Group 136"/>
            <p:cNvGrpSpPr/>
            <p:nvPr/>
          </p:nvGrpSpPr>
          <p:grpSpPr>
            <a:xfrm>
              <a:off x="4749" y="668"/>
              <a:ext cx="581" cy="145"/>
              <a:chOff x="614" y="2568"/>
              <a:chExt cx="725" cy="139"/>
            </a:xfrm>
          </p:grpSpPr>
          <p:sp>
            <p:nvSpPr>
              <p:cNvPr id="147579" name="AutoShape 137"/>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80" name="AutoShape 138"/>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55" name="Rectangle 139"/>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6" name="Group 140"/>
            <p:cNvGrpSpPr/>
            <p:nvPr/>
          </p:nvGrpSpPr>
          <p:grpSpPr>
            <a:xfrm>
              <a:off x="4747" y="994"/>
              <a:ext cx="581" cy="134"/>
              <a:chOff x="614" y="2568"/>
              <a:chExt cx="725" cy="139"/>
            </a:xfrm>
          </p:grpSpPr>
          <p:sp>
            <p:nvSpPr>
              <p:cNvPr id="147577" name="AutoShape 141"/>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8" name="AutoShape 142"/>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57" name="Rectangle 143"/>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58" name="Rectangle 144"/>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9" name="Group 145"/>
            <p:cNvGrpSpPr/>
            <p:nvPr/>
          </p:nvGrpSpPr>
          <p:grpSpPr>
            <a:xfrm>
              <a:off x="4735" y="1627"/>
              <a:ext cx="582" cy="151"/>
              <a:chOff x="614" y="2568"/>
              <a:chExt cx="725" cy="139"/>
            </a:xfrm>
          </p:grpSpPr>
          <p:sp>
            <p:nvSpPr>
              <p:cNvPr id="147575" name="AutoShape 146"/>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6" name="AutoShape 147"/>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60" name="Freeform 148"/>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147561" name="Group 149"/>
            <p:cNvGrpSpPr/>
            <p:nvPr/>
          </p:nvGrpSpPr>
          <p:grpSpPr>
            <a:xfrm>
              <a:off x="4739" y="1327"/>
              <a:ext cx="582" cy="139"/>
              <a:chOff x="614" y="2568"/>
              <a:chExt cx="725" cy="139"/>
            </a:xfrm>
          </p:grpSpPr>
          <p:sp>
            <p:nvSpPr>
              <p:cNvPr id="147573" name="AutoShape 150"/>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4" name="AutoShape 151"/>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62" name="Rectangle 152"/>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3" name="Freeform 153"/>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64" name="Freeform 154"/>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65" name="Oval 155"/>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6" name="Freeform 156"/>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147567" name="AutoShape 157"/>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8" name="AutoShape 158"/>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9" name="Oval 159"/>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0" name="Oval 160"/>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147571" name="Oval 161"/>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2" name="Rectangle 162"/>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147461" name="Group 97"/>
          <p:cNvGrpSpPr/>
          <p:nvPr/>
        </p:nvGrpSpPr>
        <p:grpSpPr>
          <a:xfrm>
            <a:off x="4429443" y="4811078"/>
            <a:ext cx="511175" cy="693737"/>
            <a:chOff x="4140" y="429"/>
            <a:chExt cx="1425" cy="2396"/>
          </a:xfrm>
        </p:grpSpPr>
        <p:sp>
          <p:nvSpPr>
            <p:cNvPr id="147517" name="Freeform 98"/>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147518" name="Rectangle 99"/>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19" name="Freeform 100"/>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147520" name="Freeform 101"/>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21" name="Rectangle 102"/>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2" name="Group 103"/>
            <p:cNvGrpSpPr/>
            <p:nvPr/>
          </p:nvGrpSpPr>
          <p:grpSpPr>
            <a:xfrm>
              <a:off x="4749" y="668"/>
              <a:ext cx="581" cy="145"/>
              <a:chOff x="614" y="2568"/>
              <a:chExt cx="725" cy="139"/>
            </a:xfrm>
          </p:grpSpPr>
          <p:sp>
            <p:nvSpPr>
              <p:cNvPr id="147547" name="AutoShape 104"/>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8" name="AutoShape 105"/>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3" name="Rectangle 106"/>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4" name="Group 107"/>
            <p:cNvGrpSpPr/>
            <p:nvPr/>
          </p:nvGrpSpPr>
          <p:grpSpPr>
            <a:xfrm>
              <a:off x="4747" y="994"/>
              <a:ext cx="581" cy="134"/>
              <a:chOff x="614" y="2568"/>
              <a:chExt cx="725" cy="139"/>
            </a:xfrm>
          </p:grpSpPr>
          <p:sp>
            <p:nvSpPr>
              <p:cNvPr id="147545" name="AutoShape 108"/>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6" name="AutoShape 109"/>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5" name="Rectangle 110"/>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26" name="Rectangle 111"/>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7" name="Group 112"/>
            <p:cNvGrpSpPr/>
            <p:nvPr/>
          </p:nvGrpSpPr>
          <p:grpSpPr>
            <a:xfrm>
              <a:off x="4735" y="1627"/>
              <a:ext cx="582" cy="151"/>
              <a:chOff x="614" y="2568"/>
              <a:chExt cx="725" cy="139"/>
            </a:xfrm>
          </p:grpSpPr>
          <p:sp>
            <p:nvSpPr>
              <p:cNvPr id="147543" name="AutoShape 113"/>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4" name="AutoShape 114"/>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8" name="Freeform 115"/>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147529" name="Group 116"/>
            <p:cNvGrpSpPr/>
            <p:nvPr/>
          </p:nvGrpSpPr>
          <p:grpSpPr>
            <a:xfrm>
              <a:off x="4739" y="1327"/>
              <a:ext cx="582" cy="139"/>
              <a:chOff x="614" y="2568"/>
              <a:chExt cx="725" cy="139"/>
            </a:xfrm>
          </p:grpSpPr>
          <p:sp>
            <p:nvSpPr>
              <p:cNvPr id="147541" name="AutoShape 117"/>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2" name="AutoShape 118"/>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30" name="Rectangle 119"/>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1" name="Freeform 120"/>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32" name="Freeform 121"/>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33" name="Oval 122"/>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4" name="Freeform 123"/>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147535" name="AutoShape 124"/>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6" name="AutoShape 125"/>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7" name="Oval 126"/>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8" name="Oval 127"/>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147539" name="Oval 128"/>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0" name="Rectangle 129"/>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147466" name="Group 20"/>
          <p:cNvGrpSpPr/>
          <p:nvPr/>
        </p:nvGrpSpPr>
        <p:grpSpPr>
          <a:xfrm>
            <a:off x="4562793" y="5098415"/>
            <a:ext cx="809625" cy="1049338"/>
            <a:chOff x="4296" y="2627"/>
            <a:chExt cx="510" cy="661"/>
          </a:xfrm>
        </p:grpSpPr>
        <p:sp>
          <p:nvSpPr>
            <p:cNvPr id="147502" name="Rectangle 21"/>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3" name="Text Box 22"/>
            <p:cNvSpPr txBox="1"/>
            <p:nvPr/>
          </p:nvSpPr>
          <p:spPr>
            <a:xfrm>
              <a:off x="4354" y="2627"/>
              <a:ext cx="371" cy="368"/>
            </a:xfrm>
            <a:prstGeom prst="rect">
              <a:avLst/>
            </a:prstGeom>
            <a:noFill/>
            <a:ln w="9525">
              <a:noFill/>
            </a:ln>
          </p:spPr>
          <p:txBody>
            <a:bodyPr wrap="none">
              <a:spAutoFit/>
            </a:bodyPr>
            <a:lstStyle/>
            <a:p>
              <a:pPr algn="ctr"/>
              <a:r>
                <a:rPr lang="zh-CN" altLang="en-US" sz="1600" dirty="0">
                  <a:latin typeface="Arial" panose="020B0604020202020204" pitchFamily="34" charset="0"/>
                </a:rPr>
                <a:t>传送</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147504" name="Rectangle 23"/>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5" name="Line 24"/>
            <p:cNvSpPr/>
            <p:nvPr/>
          </p:nvSpPr>
          <p:spPr>
            <a:xfrm>
              <a:off x="4369" y="3034"/>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506" name="Line 25"/>
            <p:cNvSpPr/>
            <p:nvPr/>
          </p:nvSpPr>
          <p:spPr>
            <a:xfrm>
              <a:off x="4478" y="3033"/>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507" name="Line 26"/>
            <p:cNvSpPr/>
            <p:nvPr/>
          </p:nvSpPr>
          <p:spPr>
            <a:xfrm>
              <a:off x="4533" y="3035"/>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508" name="Line 27"/>
            <p:cNvSpPr/>
            <p:nvPr/>
          </p:nvSpPr>
          <p:spPr>
            <a:xfrm>
              <a:off x="4590" y="3033"/>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509" name="Line 28"/>
            <p:cNvSpPr/>
            <p:nvPr/>
          </p:nvSpPr>
          <p:spPr>
            <a:xfrm>
              <a:off x="4651" y="3033"/>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510" name="Line 29"/>
            <p:cNvSpPr/>
            <p:nvPr/>
          </p:nvSpPr>
          <p:spPr>
            <a:xfrm>
              <a:off x="4707" y="3033"/>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511" name="Line 30"/>
            <p:cNvSpPr/>
            <p:nvPr/>
          </p:nvSpPr>
          <p:spPr>
            <a:xfrm>
              <a:off x="4422" y="3034"/>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512" name="Rectangle 31"/>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3" name="Rectangle 32"/>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4" name="Rectangle 33"/>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5" name="Rectangle 34"/>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6" name="Rectangle 35"/>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pic>
        <p:nvPicPr>
          <p:cNvPr id="147467" name="Picture 36" descr="Alice"/>
          <p:cNvPicPr>
            <a:picLocks noChangeAspect="1"/>
          </p:cNvPicPr>
          <p:nvPr/>
        </p:nvPicPr>
        <p:blipFill>
          <a:blip r:embed="rId3"/>
          <a:stretch>
            <a:fillRect/>
          </a:stretch>
        </p:blipFill>
        <p:spPr>
          <a:xfrm>
            <a:off x="2157730" y="5263515"/>
            <a:ext cx="561975" cy="693738"/>
          </a:xfrm>
          <a:prstGeom prst="rect">
            <a:avLst/>
          </a:prstGeom>
          <a:noFill/>
          <a:ln w="9525">
            <a:noFill/>
          </a:ln>
        </p:spPr>
      </p:pic>
      <p:pic>
        <p:nvPicPr>
          <p:cNvPr id="147468" name="Picture 37" descr="Bob"/>
          <p:cNvPicPr>
            <a:picLocks noChangeAspect="1"/>
          </p:cNvPicPr>
          <p:nvPr/>
        </p:nvPicPr>
        <p:blipFill>
          <a:blip r:embed="rId4"/>
          <a:stretch>
            <a:fillRect/>
          </a:stretch>
        </p:blipFill>
        <p:spPr>
          <a:xfrm>
            <a:off x="9547543" y="5168265"/>
            <a:ext cx="676275" cy="690563"/>
          </a:xfrm>
          <a:prstGeom prst="rect">
            <a:avLst/>
          </a:prstGeom>
          <a:noFill/>
          <a:ln w="9525">
            <a:noFill/>
          </a:ln>
        </p:spPr>
      </p:pic>
      <p:grpSp>
        <p:nvGrpSpPr>
          <p:cNvPr id="147469" name="Group 48"/>
          <p:cNvGrpSpPr/>
          <p:nvPr/>
        </p:nvGrpSpPr>
        <p:grpSpPr>
          <a:xfrm>
            <a:off x="6753543" y="5044440"/>
            <a:ext cx="809625" cy="1049338"/>
            <a:chOff x="4296" y="2627"/>
            <a:chExt cx="510" cy="661"/>
          </a:xfrm>
        </p:grpSpPr>
        <p:sp>
          <p:nvSpPr>
            <p:cNvPr id="147487" name="Rectangle 49"/>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88" name="Text Box 50"/>
            <p:cNvSpPr txBox="1"/>
            <p:nvPr/>
          </p:nvSpPr>
          <p:spPr>
            <a:xfrm>
              <a:off x="4354" y="2627"/>
              <a:ext cx="371" cy="368"/>
            </a:xfrm>
            <a:prstGeom prst="rect">
              <a:avLst/>
            </a:prstGeom>
            <a:noFill/>
            <a:ln w="9525">
              <a:noFill/>
            </a:ln>
          </p:spPr>
          <p:txBody>
            <a:bodyPr wrap="none">
              <a:spAutoFit/>
            </a:bodyPr>
            <a:lstStyle/>
            <a:p>
              <a:pPr algn="ctr"/>
              <a:r>
                <a:rPr lang="zh-CN" altLang="en-US" sz="1600" dirty="0">
                  <a:latin typeface="Arial" panose="020B0604020202020204" pitchFamily="34" charset="0"/>
                </a:rPr>
                <a:t>传送</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147489" name="Rectangle 51"/>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0" name="Line 52"/>
            <p:cNvSpPr/>
            <p:nvPr/>
          </p:nvSpPr>
          <p:spPr>
            <a:xfrm>
              <a:off x="4369" y="3034"/>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491" name="Line 53"/>
            <p:cNvSpPr/>
            <p:nvPr/>
          </p:nvSpPr>
          <p:spPr>
            <a:xfrm>
              <a:off x="4478" y="3033"/>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492" name="Line 54"/>
            <p:cNvSpPr/>
            <p:nvPr/>
          </p:nvSpPr>
          <p:spPr>
            <a:xfrm>
              <a:off x="4533" y="3035"/>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493" name="Line 55"/>
            <p:cNvSpPr/>
            <p:nvPr/>
          </p:nvSpPr>
          <p:spPr>
            <a:xfrm>
              <a:off x="4590" y="3033"/>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494" name="Line 56"/>
            <p:cNvSpPr/>
            <p:nvPr/>
          </p:nvSpPr>
          <p:spPr>
            <a:xfrm>
              <a:off x="4651" y="3033"/>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495" name="Line 57"/>
            <p:cNvSpPr/>
            <p:nvPr/>
          </p:nvSpPr>
          <p:spPr>
            <a:xfrm>
              <a:off x="4707" y="3033"/>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496" name="Line 58"/>
            <p:cNvSpPr/>
            <p:nvPr/>
          </p:nvSpPr>
          <p:spPr>
            <a:xfrm>
              <a:off x="4422" y="3034"/>
              <a:ext cx="0" cy="72"/>
            </a:xfrm>
            <a:prstGeom prst="line">
              <a:avLst/>
            </a:prstGeom>
            <a:ln w="19050" cap="flat" cmpd="sng">
              <a:solidFill>
                <a:schemeClr val="tx1"/>
              </a:solidFill>
              <a:prstDash val="solid"/>
              <a:headEnd type="none" w="med" len="med"/>
              <a:tailEnd type="none" w="med" len="med"/>
            </a:ln>
          </p:spPr>
          <p:txBody>
            <a:bodyPr/>
            <a:lstStyle/>
            <a:p>
              <a:endParaRPr lang="en-CN"/>
            </a:p>
          </p:txBody>
        </p:sp>
        <p:sp>
          <p:nvSpPr>
            <p:cNvPr id="147497" name="Rectangle 59"/>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8" name="Rectangle 60"/>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9" name="Rectangle 61"/>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0" name="Rectangle 62"/>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1" name="Rectangle 63"/>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sp>
        <p:nvSpPr>
          <p:cNvPr id="147470" name="Line 69"/>
          <p:cNvSpPr/>
          <p:nvPr/>
        </p:nvSpPr>
        <p:spPr>
          <a:xfrm>
            <a:off x="3683318" y="5636578"/>
            <a:ext cx="892175" cy="146050"/>
          </a:xfrm>
          <a:prstGeom prst="line">
            <a:avLst/>
          </a:prstGeom>
          <a:ln w="12700" cap="flat" cmpd="sng">
            <a:solidFill>
              <a:schemeClr val="accent2"/>
            </a:solidFill>
            <a:prstDash val="solid"/>
            <a:headEnd type="none" w="med" len="med"/>
            <a:tailEnd type="triangle" w="med" len="med"/>
          </a:ln>
        </p:spPr>
        <p:txBody>
          <a:bodyPr/>
          <a:lstStyle/>
          <a:p>
            <a:endParaRPr lang="en-CN"/>
          </a:p>
        </p:txBody>
      </p:sp>
      <p:sp>
        <p:nvSpPr>
          <p:cNvPr id="147471" name="Line 70"/>
          <p:cNvSpPr/>
          <p:nvPr/>
        </p:nvSpPr>
        <p:spPr>
          <a:xfrm>
            <a:off x="5369243" y="5771515"/>
            <a:ext cx="1379537" cy="219075"/>
          </a:xfrm>
          <a:prstGeom prst="line">
            <a:avLst/>
          </a:prstGeom>
          <a:ln w="12700" cap="flat" cmpd="sng">
            <a:solidFill>
              <a:schemeClr val="accent2"/>
            </a:solidFill>
            <a:prstDash val="solid"/>
            <a:headEnd type="none" w="med" len="med"/>
            <a:tailEnd type="triangle" w="med" len="med"/>
          </a:ln>
        </p:spPr>
        <p:txBody>
          <a:bodyPr/>
          <a:lstStyle/>
          <a:p>
            <a:endParaRPr lang="en-CN"/>
          </a:p>
        </p:txBody>
      </p:sp>
      <p:sp>
        <p:nvSpPr>
          <p:cNvPr id="147472" name="Line 71"/>
          <p:cNvSpPr/>
          <p:nvPr/>
        </p:nvSpPr>
        <p:spPr>
          <a:xfrm flipV="1">
            <a:off x="7599680" y="5550853"/>
            <a:ext cx="1027113" cy="427037"/>
          </a:xfrm>
          <a:prstGeom prst="line">
            <a:avLst/>
          </a:prstGeom>
          <a:ln w="12700" cap="flat" cmpd="sng">
            <a:solidFill>
              <a:schemeClr val="accent2"/>
            </a:solidFill>
            <a:prstDash val="solid"/>
            <a:headEnd type="none" w="med" len="med"/>
            <a:tailEnd type="triangle" w="med" len="med"/>
          </a:ln>
        </p:spPr>
        <p:txBody>
          <a:bodyPr/>
          <a:lstStyle/>
          <a:p>
            <a:endParaRPr lang="en-CN"/>
          </a:p>
        </p:txBody>
      </p:sp>
      <p:sp>
        <p:nvSpPr>
          <p:cNvPr id="147473" name="Oval 72"/>
          <p:cNvSpPr/>
          <p:nvPr/>
        </p:nvSpPr>
        <p:spPr>
          <a:xfrm>
            <a:off x="2813368" y="5085715"/>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1</a:t>
            </a:r>
            <a:endParaRPr lang="en-US" altLang="zh-CN" sz="2400" dirty="0">
              <a:latin typeface="Arial" panose="020B0604020202020204" pitchFamily="34" charset="0"/>
            </a:endParaRPr>
          </a:p>
        </p:txBody>
      </p:sp>
      <p:sp>
        <p:nvSpPr>
          <p:cNvPr id="147474" name="Oval 74"/>
          <p:cNvSpPr/>
          <p:nvPr/>
        </p:nvSpPr>
        <p:spPr>
          <a:xfrm>
            <a:off x="3923030" y="5581015"/>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2</a:t>
            </a:r>
            <a:endParaRPr lang="en-US" altLang="zh-CN" sz="2400" dirty="0">
              <a:latin typeface="Arial" panose="020B0604020202020204" pitchFamily="34" charset="0"/>
            </a:endParaRPr>
          </a:p>
        </p:txBody>
      </p:sp>
      <p:sp>
        <p:nvSpPr>
          <p:cNvPr id="147475" name="Oval 75"/>
          <p:cNvSpPr/>
          <p:nvPr/>
        </p:nvSpPr>
        <p:spPr>
          <a:xfrm>
            <a:off x="4794568" y="5660390"/>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3</a:t>
            </a:r>
            <a:endParaRPr lang="en-US" altLang="zh-CN" sz="2400" dirty="0">
              <a:latin typeface="Arial" panose="020B0604020202020204" pitchFamily="34" charset="0"/>
            </a:endParaRPr>
          </a:p>
        </p:txBody>
      </p:sp>
      <p:sp>
        <p:nvSpPr>
          <p:cNvPr id="147476" name="Oval 76"/>
          <p:cNvSpPr/>
          <p:nvPr/>
        </p:nvSpPr>
        <p:spPr>
          <a:xfrm>
            <a:off x="5905818" y="5746115"/>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4</a:t>
            </a:r>
            <a:endParaRPr lang="en-US" altLang="zh-CN" sz="2400" dirty="0">
              <a:latin typeface="Arial" panose="020B0604020202020204" pitchFamily="34" charset="0"/>
            </a:endParaRPr>
          </a:p>
        </p:txBody>
      </p:sp>
      <p:sp>
        <p:nvSpPr>
          <p:cNvPr id="147477" name="Oval 77"/>
          <p:cNvSpPr/>
          <p:nvPr/>
        </p:nvSpPr>
        <p:spPr>
          <a:xfrm>
            <a:off x="7010718" y="6077903"/>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5</a:t>
            </a:r>
            <a:endParaRPr lang="en-US" altLang="zh-CN" sz="2400" dirty="0">
              <a:latin typeface="Arial" panose="020B0604020202020204" pitchFamily="34" charset="0"/>
            </a:endParaRPr>
          </a:p>
        </p:txBody>
      </p:sp>
      <p:sp>
        <p:nvSpPr>
          <p:cNvPr id="147478" name="Oval 78"/>
          <p:cNvSpPr/>
          <p:nvPr/>
        </p:nvSpPr>
        <p:spPr>
          <a:xfrm>
            <a:off x="7933055" y="5647690"/>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6</a:t>
            </a:r>
            <a:endParaRPr lang="en-US" altLang="zh-CN" sz="2400" dirty="0">
              <a:latin typeface="Arial" panose="020B0604020202020204" pitchFamily="34" charset="0"/>
            </a:endParaRPr>
          </a:p>
        </p:txBody>
      </p:sp>
      <p:sp>
        <p:nvSpPr>
          <p:cNvPr id="147479" name="Text Box 95"/>
          <p:cNvSpPr txBox="1"/>
          <p:nvPr/>
        </p:nvSpPr>
        <p:spPr>
          <a:xfrm>
            <a:off x="4078605" y="6211253"/>
            <a:ext cx="2042547" cy="369332"/>
          </a:xfrm>
          <a:prstGeom prst="rect">
            <a:avLst/>
          </a:prstGeom>
          <a:noFill/>
        </p:spPr>
        <p:txBody>
          <a:bodyPr wrap="none" rtlCol="0" anchor="t">
            <a:spAutoFit/>
          </a:bodyPr>
          <a:lstStyle/>
          <a:p>
            <a:pPr lvl="0" algn="l">
              <a:buClrTx/>
              <a:buSzTx/>
              <a:buFontTx/>
            </a:pPr>
            <a:r>
              <a:rPr dirty="0" err="1">
                <a:latin typeface="等线" panose="02010600030101010101" pitchFamily="2" charset="-122"/>
                <a:ea typeface="等线" panose="02010600030101010101" pitchFamily="2" charset="-122"/>
                <a:cs typeface="微软雅黑" panose="020B0503020204020204" pitchFamily="34" charset="-122"/>
                <a:sym typeface="+mn-ea"/>
              </a:rPr>
              <a:t>Alice的邮件服务器</a:t>
            </a:r>
            <a:endParaRPr dirty="0">
              <a:latin typeface="等线" panose="02010600030101010101" pitchFamily="2" charset="-122"/>
              <a:ea typeface="等线" panose="02010600030101010101" pitchFamily="2" charset="-122"/>
              <a:cs typeface="微软雅黑" panose="020B0503020204020204" pitchFamily="34" charset="-122"/>
              <a:sym typeface="+mn-ea"/>
            </a:endParaRPr>
          </a:p>
        </p:txBody>
      </p:sp>
      <p:grpSp>
        <p:nvGrpSpPr>
          <p:cNvPr id="147481" name="Group 169"/>
          <p:cNvGrpSpPr/>
          <p:nvPr/>
        </p:nvGrpSpPr>
        <p:grpSpPr>
          <a:xfrm>
            <a:off x="8448993" y="4950778"/>
            <a:ext cx="890587" cy="1054100"/>
            <a:chOff x="3588" y="550"/>
            <a:chExt cx="561" cy="664"/>
          </a:xfrm>
        </p:grpSpPr>
        <p:grpSp>
          <p:nvGrpSpPr>
            <p:cNvPr id="147482" name="Group 170"/>
            <p:cNvGrpSpPr/>
            <p:nvPr/>
          </p:nvGrpSpPr>
          <p:grpSpPr>
            <a:xfrm>
              <a:off x="3588" y="692"/>
              <a:ext cx="561" cy="522"/>
              <a:chOff x="-44" y="1473"/>
              <a:chExt cx="981" cy="1105"/>
            </a:xfrm>
          </p:grpSpPr>
          <p:pic>
            <p:nvPicPr>
              <p:cNvPr id="147485" name="Picture 171"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47486" name="Freeform 172"/>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47483"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84"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sp>
        <p:nvSpPr>
          <p:cNvPr id="147480" name="Text Box 96"/>
          <p:cNvSpPr txBox="1"/>
          <p:nvPr/>
        </p:nvSpPr>
        <p:spPr>
          <a:xfrm>
            <a:off x="6239193" y="6266498"/>
            <a:ext cx="1963999" cy="369332"/>
          </a:xfrm>
          <a:prstGeom prst="rect">
            <a:avLst/>
          </a:prstGeom>
          <a:noFill/>
        </p:spPr>
        <p:txBody>
          <a:bodyPr wrap="none" rtlCol="0" anchor="t">
            <a:spAutoFit/>
          </a:bodyPr>
          <a:lstStyle/>
          <a:p>
            <a:pPr lvl="0" algn="l">
              <a:buClrTx/>
              <a:buSzTx/>
              <a:buFontTx/>
            </a:pPr>
            <a:r>
              <a:rPr dirty="0" err="1">
                <a:latin typeface="等线" panose="02010600030101010101" pitchFamily="2" charset="-122"/>
                <a:ea typeface="等线" panose="02010600030101010101" pitchFamily="2" charset="-122"/>
                <a:cs typeface="微软雅黑" panose="020B0503020204020204" pitchFamily="34" charset="-122"/>
                <a:sym typeface="+mn-ea"/>
              </a:rPr>
              <a:t>Bob的邮件服务器</a:t>
            </a:r>
            <a:endParaRPr dirty="0">
              <a:latin typeface="等线" panose="02010600030101010101" pitchFamily="2" charset="-122"/>
              <a:ea typeface="等线" panose="02010600030101010101" pitchFamily="2" charset="-122"/>
              <a:cs typeface="微软雅黑" panose="020B0503020204020204" pitchFamily="34" charset="-122"/>
              <a:sym typeface="+mn-ea"/>
            </a:endParaRPr>
          </a:p>
        </p:txBody>
      </p:sp>
      <p:sp>
        <p:nvSpPr>
          <p:cNvPr id="9" name="页脚占位符 8"/>
          <p:cNvSpPr>
            <a:spLocks noGrp="1"/>
          </p:cNvSpPr>
          <p:nvPr>
            <p:ph type="ftr" sz="quarter" idx="11"/>
          </p:nvPr>
        </p:nvSpPr>
        <p:spPr>
          <a:xfrm>
            <a:off x="4038600" y="6489065"/>
            <a:ext cx="4588510" cy="365125"/>
          </a:xfrm>
        </p:spPr>
        <p:txBody>
          <a:bodyPr/>
          <a:lstStyle/>
          <a:p>
            <a:r>
              <a:rPr kumimoji="1" lang="zh-CN" altLang="en-US" dirty="0">
                <a:latin typeface="等线" panose="02010600030101010101" pitchFamily="2" charset="-122"/>
                <a:ea typeface="等线" panose="02010600030101010101" pitchFamily="2" charset="-122"/>
              </a:rPr>
              <a:t>引自：</a:t>
            </a:r>
            <a:r>
              <a:rPr kumimoji="1" lang="zh-CN" dirty="0">
                <a:latin typeface="等线" panose="02010600030101010101" pitchFamily="2" charset="-122"/>
                <a:ea typeface="等线" panose="02010600030101010101" pitchFamily="2" charset="-122"/>
              </a:rPr>
              <a:t>计算机网络：自顶向下方法</a:t>
            </a:r>
            <a:r>
              <a:rPr kumimoji="1" lang="zh-CN" altLang="en-US" dirty="0">
                <a:latin typeface="等线" panose="02010600030101010101" pitchFamily="2" charset="-122"/>
                <a:ea typeface="等线" panose="02010600030101010101" pitchFamily="2" charset="-122"/>
              </a:rPr>
              <a:t>，陈鸣 译</a:t>
            </a:r>
            <a:endParaRPr kumimoji="1" lang="zh-CN"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970437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POP3协议</a:t>
            </a:r>
          </a:p>
        </p:txBody>
      </p:sp>
      <p:sp>
        <p:nvSpPr>
          <p:cNvPr id="3" name="内容占位符 2"/>
          <p:cNvSpPr>
            <a:spLocks noGrp="1"/>
          </p:cNvSpPr>
          <p:nvPr>
            <p:ph idx="1"/>
          </p:nvPr>
        </p:nvSpPr>
        <p:spPr/>
        <p:txBody>
          <a:bodyPr>
            <a:normAutofit/>
          </a:bodyPr>
          <a:lstStyle/>
          <a:p>
            <a:pPr>
              <a:lnSpc>
                <a:spcPct val="120000"/>
              </a:lnSpc>
              <a:spcAft>
                <a:spcPts val="0"/>
              </a:spcAft>
            </a:pPr>
            <a:r>
              <a:rPr lang="en-US" dirty="0"/>
              <a:t>POP3</a:t>
            </a:r>
            <a:r>
              <a:rPr lang="zh-CN" altLang="en-US" dirty="0"/>
              <a:t>由</a:t>
            </a:r>
            <a:r>
              <a:rPr lang="en-US" altLang="zh-CN" dirty="0"/>
              <a:t>RFC1939</a:t>
            </a:r>
            <a:r>
              <a:rPr lang="zh-CN" altLang="en-US" dirty="0"/>
              <a:t>定义，是一个非常简单的最终交付协议</a:t>
            </a:r>
          </a:p>
          <a:p>
            <a:pPr>
              <a:lnSpc>
                <a:spcPct val="120000"/>
              </a:lnSpc>
              <a:spcAft>
                <a:spcPts val="0"/>
              </a:spcAft>
            </a:pPr>
            <a:r>
              <a:rPr dirty="0" err="1"/>
              <a:t>当用户</a:t>
            </a:r>
            <a:r>
              <a:rPr lang="zh-CN" dirty="0"/>
              <a:t>代理打开一个到端口</a:t>
            </a:r>
            <a:r>
              <a:rPr lang="en-US" altLang="zh-CN" dirty="0"/>
              <a:t>110</a:t>
            </a:r>
            <a:r>
              <a:rPr lang="zh-CN" altLang="en-US" dirty="0"/>
              <a:t>上的</a:t>
            </a:r>
            <a:r>
              <a:rPr lang="en-US" altLang="zh-CN" dirty="0"/>
              <a:t>TCP</a:t>
            </a:r>
            <a:r>
              <a:rPr lang="zh-CN" altLang="en-US" dirty="0"/>
              <a:t>连接后，客户</a:t>
            </a:r>
            <a:r>
              <a:rPr lang="en-US" altLang="zh-CN" dirty="0"/>
              <a:t>/</a:t>
            </a:r>
            <a:r>
              <a:rPr lang="zh-CN" altLang="en-US" dirty="0"/>
              <a:t>服务器开始工作</a:t>
            </a:r>
            <a:endParaRPr lang="en-US" altLang="zh-CN" dirty="0"/>
          </a:p>
          <a:p>
            <a:pPr>
              <a:lnSpc>
                <a:spcPct val="120000"/>
              </a:lnSpc>
              <a:spcAft>
                <a:spcPts val="0"/>
              </a:spcAft>
            </a:pPr>
            <a:r>
              <a:rPr lang="zh-CN" altLang="en-US" dirty="0"/>
              <a:t>POP</a:t>
            </a:r>
            <a:r>
              <a:rPr lang="en-US" altLang="zh-CN" dirty="0"/>
              <a:t>3</a:t>
            </a:r>
            <a:r>
              <a:rPr lang="zh-CN" altLang="en-US" dirty="0"/>
              <a:t>的三个阶段：</a:t>
            </a:r>
          </a:p>
          <a:p>
            <a:pPr lvl="1">
              <a:lnSpc>
                <a:spcPct val="120000"/>
              </a:lnSpc>
              <a:spcAft>
                <a:spcPts val="0"/>
              </a:spcAft>
            </a:pPr>
            <a:r>
              <a:rPr lang="zh-CN" altLang="en-US" dirty="0">
                <a:cs typeface="微软雅黑" panose="020B0503020204020204" pitchFamily="34" charset="-122"/>
              </a:rPr>
              <a:t>认证</a:t>
            </a:r>
            <a:r>
              <a:rPr lang="en-US" altLang="zh-CN" dirty="0">
                <a:cs typeface="微软雅黑" panose="020B0503020204020204" pitchFamily="34" charset="-122"/>
              </a:rPr>
              <a:t>(</a:t>
            </a:r>
            <a:r>
              <a:rPr spc="-5" dirty="0">
                <a:cs typeface="微软雅黑" panose="020B0503020204020204" pitchFamily="34" charset="-122"/>
                <a:sym typeface="+mn-ea"/>
              </a:rPr>
              <a:t>Authorization</a:t>
            </a:r>
            <a:r>
              <a:rPr lang="en-US" altLang="zh-CN" dirty="0">
                <a:cs typeface="微软雅黑" panose="020B0503020204020204" pitchFamily="34" charset="-122"/>
              </a:rPr>
              <a:t>)</a:t>
            </a:r>
            <a:r>
              <a:rPr lang="zh-CN" altLang="en-US" dirty="0">
                <a:cs typeface="微软雅黑" panose="020B0503020204020204" pitchFamily="34" charset="-122"/>
              </a:rPr>
              <a:t>：</a:t>
            </a:r>
            <a:r>
              <a:rPr lang="en-US" altLang="zh-CN" dirty="0" err="1">
                <a:cs typeface="微软雅黑" panose="020B0503020204020204" pitchFamily="34" charset="-122"/>
              </a:rPr>
              <a:t>处理用户登录的过程</a:t>
            </a:r>
            <a:endParaRPr lang="en-US" altLang="zh-CN" dirty="0">
              <a:cs typeface="微软雅黑" panose="020B0503020204020204" pitchFamily="34" charset="-122"/>
            </a:endParaRPr>
          </a:p>
          <a:p>
            <a:pPr lvl="1">
              <a:lnSpc>
                <a:spcPct val="120000"/>
              </a:lnSpc>
              <a:spcAft>
                <a:spcPts val="0"/>
              </a:spcAft>
            </a:pPr>
            <a:r>
              <a:rPr lang="zh-CN" altLang="en-US" dirty="0">
                <a:cs typeface="微软雅黑" panose="020B0503020204020204" pitchFamily="34" charset="-122"/>
              </a:rPr>
              <a:t>事务处理</a:t>
            </a:r>
            <a:r>
              <a:rPr lang="en-US" altLang="zh-CN" dirty="0">
                <a:cs typeface="微软雅黑" panose="020B0503020204020204" pitchFamily="34" charset="-122"/>
              </a:rPr>
              <a:t>(</a:t>
            </a:r>
            <a:r>
              <a:rPr spc="-10" dirty="0">
                <a:cs typeface="微软雅黑" panose="020B0503020204020204" pitchFamily="34" charset="-122"/>
                <a:sym typeface="+mn-ea"/>
              </a:rPr>
              <a:t>Tr</a:t>
            </a:r>
            <a:r>
              <a:rPr lang="en-US" altLang="zh-CN" spc="-10" dirty="0">
                <a:cs typeface="微软雅黑" panose="020B0503020204020204" pitchFamily="34" charset="-122"/>
                <a:sym typeface="+mn-ea"/>
              </a:rPr>
              <a:t>a</a:t>
            </a:r>
            <a:r>
              <a:rPr spc="-10" dirty="0">
                <a:cs typeface="微软雅黑" panose="020B0503020204020204" pitchFamily="34" charset="-122"/>
                <a:sym typeface="+mn-ea"/>
              </a:rPr>
              <a:t>nsactions</a:t>
            </a:r>
            <a:r>
              <a:rPr lang="en-US" altLang="zh-CN" dirty="0">
                <a:cs typeface="微软雅黑" panose="020B0503020204020204" pitchFamily="34" charset="-122"/>
              </a:rPr>
              <a:t>)</a:t>
            </a:r>
            <a:r>
              <a:rPr lang="zh-CN" altLang="en-US" dirty="0">
                <a:cs typeface="微软雅黑" panose="020B0503020204020204" pitchFamily="34" charset="-122"/>
              </a:rPr>
              <a:t>：用户收取电子邮件，并将邮件标记为删除</a:t>
            </a:r>
          </a:p>
          <a:p>
            <a:pPr lvl="1">
              <a:lnSpc>
                <a:spcPct val="120000"/>
              </a:lnSpc>
              <a:spcAft>
                <a:spcPts val="0"/>
              </a:spcAft>
            </a:pPr>
            <a:r>
              <a:rPr lang="zh-CN" altLang="en-US" dirty="0">
                <a:cs typeface="微软雅黑" panose="020B0503020204020204" pitchFamily="34" charset="-122"/>
              </a:rPr>
              <a:t>更新</a:t>
            </a:r>
            <a:r>
              <a:rPr lang="en-US" altLang="zh-CN" dirty="0">
                <a:cs typeface="微软雅黑" panose="020B0503020204020204" pitchFamily="34" charset="-122"/>
              </a:rPr>
              <a:t>(</a:t>
            </a:r>
            <a:r>
              <a:rPr spc="-5" dirty="0">
                <a:cs typeface="微软雅黑" panose="020B0503020204020204" pitchFamily="34" charset="-122"/>
                <a:sym typeface="+mn-ea"/>
              </a:rPr>
              <a:t>Update</a:t>
            </a:r>
            <a:r>
              <a:rPr lang="en-US" altLang="zh-CN" dirty="0">
                <a:cs typeface="微软雅黑" panose="020B0503020204020204" pitchFamily="34" charset="-122"/>
              </a:rPr>
              <a:t>)</a:t>
            </a:r>
            <a:r>
              <a:rPr lang="zh-CN" altLang="en-US" dirty="0">
                <a:cs typeface="微软雅黑" panose="020B0503020204020204" pitchFamily="34" charset="-122"/>
              </a:rPr>
              <a:t>：将标为删除的电子邮件删除</a:t>
            </a:r>
          </a:p>
        </p:txBody>
      </p:sp>
      <p:sp>
        <p:nvSpPr>
          <p:cNvPr id="4" name="日期占位符 3"/>
          <p:cNvSpPr>
            <a:spLocks noGrp="1"/>
          </p:cNvSpPr>
          <p:nvPr>
            <p:ph type="dt" sz="half" idx="10"/>
          </p:nvPr>
        </p:nvSpPr>
        <p:spPr/>
        <p:txBody>
          <a:bodyPr/>
          <a:lstStyle/>
          <a:p>
            <a:r>
              <a:rPr kumimoji="1" lang="zh-CN" altLang="en-US" dirty="0">
                <a:latin typeface="等线" panose="02010600030101010101" pitchFamily="2" charset="-122"/>
                <a:ea typeface="等线" panose="02010600030101010101" pitchFamily="2" charset="-122"/>
              </a:rPr>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sp>
        <p:nvSpPr>
          <p:cNvPr id="32" name="文本框 31"/>
          <p:cNvSpPr txBox="1"/>
          <p:nvPr/>
        </p:nvSpPr>
        <p:spPr>
          <a:xfrm>
            <a:off x="642425" y="5523936"/>
            <a:ext cx="10711375" cy="769441"/>
          </a:xfrm>
          <a:prstGeom prst="rect">
            <a:avLst/>
          </a:prstGeom>
          <a:noFill/>
          <a:ln>
            <a:solidFill>
              <a:srgbClr val="FF0000"/>
            </a:solidFill>
          </a:ln>
        </p:spPr>
        <p:txBody>
          <a:bodyPr wrap="square" rtlCol="0" anchor="t">
            <a:spAutoFit/>
          </a:bodyPr>
          <a:lstStyle/>
          <a:p>
            <a:pPr algn="just"/>
            <a:r>
              <a:rPr lang="en-US" altLang="zh-CN" sz="2200" dirty="0">
                <a:latin typeface="等线" panose="02010600030101010101" pitchFamily="2" charset="-122"/>
                <a:ea typeface="等线" panose="02010600030101010101" pitchFamily="2" charset="-122"/>
                <a:cs typeface="微软雅黑" panose="020B0503020204020204" pitchFamily="34" charset="-122"/>
                <a:sym typeface="+mn-ea"/>
              </a:rPr>
              <a:t>POP3</a:t>
            </a:r>
            <a:r>
              <a:rPr lang="zh-CN" altLang="en-US" sz="2200" dirty="0">
                <a:latin typeface="等线" panose="02010600030101010101" pitchFamily="2" charset="-122"/>
                <a:ea typeface="等线" panose="02010600030101010101" pitchFamily="2" charset="-122"/>
                <a:cs typeface="微软雅黑" panose="020B0503020204020204" pitchFamily="34" charset="-122"/>
                <a:sym typeface="+mn-ea"/>
              </a:rPr>
              <a:t>使用</a:t>
            </a:r>
            <a:r>
              <a:rPr lang="zh-CN" altLang="en-US" sz="2200" dirty="0">
                <a:solidFill>
                  <a:srgbClr val="FF0000"/>
                </a:solidFill>
                <a:latin typeface="等线" panose="02010600030101010101" pitchFamily="2" charset="-122"/>
                <a:ea typeface="等线" panose="02010600030101010101" pitchFamily="2" charset="-122"/>
                <a:cs typeface="微软雅黑" panose="020B0503020204020204" pitchFamily="34" charset="-122"/>
                <a:sym typeface="+mn-ea"/>
              </a:rPr>
              <a:t>客户</a:t>
            </a:r>
            <a:r>
              <a:rPr lang="en-US" altLang="zh-CN" sz="2200" dirty="0">
                <a:solidFill>
                  <a:srgbClr val="FF0000"/>
                </a:solidFill>
                <a:latin typeface="等线" panose="02010600030101010101" pitchFamily="2" charset="-122"/>
                <a:ea typeface="等线" panose="02010600030101010101" pitchFamily="2" charset="-122"/>
                <a:cs typeface="微软雅黑" panose="020B0503020204020204" pitchFamily="34" charset="-122"/>
                <a:sym typeface="+mn-ea"/>
              </a:rPr>
              <a:t>/</a:t>
            </a:r>
            <a:r>
              <a:rPr lang="zh-CN" altLang="en-US" sz="2200" dirty="0">
                <a:solidFill>
                  <a:srgbClr val="FF0000"/>
                </a:solidFill>
                <a:latin typeface="等线" panose="02010600030101010101" pitchFamily="2" charset="-122"/>
                <a:ea typeface="等线" panose="02010600030101010101" pitchFamily="2" charset="-122"/>
                <a:cs typeface="微软雅黑" panose="020B0503020204020204" pitchFamily="34" charset="-122"/>
                <a:sym typeface="+mn-ea"/>
              </a:rPr>
              <a:t>服务器</a:t>
            </a:r>
            <a:r>
              <a:rPr lang="zh-CN" altLang="en-US" sz="2200" dirty="0">
                <a:latin typeface="等线" panose="02010600030101010101" pitchFamily="2" charset="-122"/>
                <a:ea typeface="等线" panose="02010600030101010101" pitchFamily="2" charset="-122"/>
                <a:cs typeface="微软雅黑" panose="020B0503020204020204" pitchFamily="34" charset="-122"/>
                <a:sym typeface="+mn-ea"/>
              </a:rPr>
              <a:t>工作方式，在接收邮件的用户PC机中必须运行POP客户程序，而在用户所连接的邮件服务器中则运行POP服务器程序</a:t>
            </a:r>
          </a:p>
        </p:txBody>
      </p:sp>
    </p:spTree>
    <p:custDataLst>
      <p:tags r:id="rId1"/>
    </p:custDataLst>
    <p:extLst>
      <p:ext uri="{BB962C8B-B14F-4D97-AF65-F5344CB8AC3E}">
        <p14:creationId xmlns:p14="http://schemas.microsoft.com/office/powerpoint/2010/main" val="174909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IMAP</a:t>
            </a:r>
          </a:p>
        </p:txBody>
      </p:sp>
      <p:sp>
        <p:nvSpPr>
          <p:cNvPr id="3" name="内容占位符 2"/>
          <p:cNvSpPr>
            <a:spLocks noGrp="1"/>
          </p:cNvSpPr>
          <p:nvPr>
            <p:ph idx="1"/>
          </p:nvPr>
        </p:nvSpPr>
        <p:spPr/>
        <p:txBody>
          <a:bodyPr/>
          <a:lstStyle/>
          <a:p>
            <a:pPr>
              <a:lnSpc>
                <a:spcPct val="120000"/>
              </a:lnSpc>
              <a:spcAft>
                <a:spcPts val="0"/>
              </a:spcAft>
            </a:pPr>
            <a:r>
              <a:rPr lang="zh-CN" altLang="en-US" dirty="0"/>
              <a:t>IMAP—Internet邮件访问协议</a:t>
            </a:r>
            <a:r>
              <a:rPr lang="en-US" altLang="zh-CN" dirty="0"/>
              <a:t>[RFC 2060]</a:t>
            </a:r>
            <a:endParaRPr lang="zh-CN" altLang="en-US" dirty="0"/>
          </a:p>
          <a:p>
            <a:pPr lvl="1">
              <a:lnSpc>
                <a:spcPct val="120000"/>
              </a:lnSpc>
              <a:spcAft>
                <a:spcPts val="0"/>
              </a:spcAft>
            </a:pPr>
            <a:r>
              <a:rPr lang="zh-CN" altLang="en-US" dirty="0"/>
              <a:t>用于最终交付的主要协议</a:t>
            </a:r>
          </a:p>
          <a:p>
            <a:pPr lvl="1">
              <a:lnSpc>
                <a:spcPct val="120000"/>
              </a:lnSpc>
              <a:spcAft>
                <a:spcPts val="0"/>
              </a:spcAft>
            </a:pPr>
            <a:r>
              <a:rPr lang="zh-CN" altLang="en-US" dirty="0"/>
              <a:t>IMAP是POP3的改进版</a:t>
            </a:r>
          </a:p>
          <a:p>
            <a:pPr lvl="1">
              <a:lnSpc>
                <a:spcPct val="120000"/>
              </a:lnSpc>
              <a:spcAft>
                <a:spcPts val="0"/>
              </a:spcAft>
            </a:pPr>
            <a:r>
              <a:rPr lang="zh-CN" altLang="en-US" dirty="0"/>
              <a:t>邮件服务器运行侦听端口为143的IMAP服务</a:t>
            </a:r>
          </a:p>
          <a:p>
            <a:pPr lvl="1">
              <a:lnSpc>
                <a:spcPct val="120000"/>
              </a:lnSpc>
              <a:spcAft>
                <a:spcPts val="0"/>
              </a:spcAft>
            </a:pPr>
            <a:r>
              <a:rPr lang="zh-CN" altLang="en-US" dirty="0"/>
              <a:t>用户代理运行一个IMAP客户端</a:t>
            </a:r>
          </a:p>
          <a:p>
            <a:pPr lvl="1">
              <a:lnSpc>
                <a:spcPct val="120000"/>
              </a:lnSpc>
              <a:spcAft>
                <a:spcPts val="0"/>
              </a:spcAft>
            </a:pPr>
            <a:r>
              <a:rPr lang="zh-CN" altLang="en-US" dirty="0"/>
              <a:t>客户端连接到服务器并开始发出命令</a:t>
            </a:r>
          </a:p>
        </p:txBody>
      </p:sp>
      <p:sp>
        <p:nvSpPr>
          <p:cNvPr id="4" name="日期占位符 3"/>
          <p:cNvSpPr>
            <a:spLocks noGrp="1"/>
          </p:cNvSpPr>
          <p:nvPr>
            <p:ph type="dt" sz="half" idx="10"/>
          </p:nvPr>
        </p:nvSpPr>
        <p:spPr/>
        <p:txBody>
          <a:bodyPr/>
          <a:lstStyle/>
          <a:p>
            <a:r>
              <a:rPr kumimoji="1" lang="zh-CN" altLang="en-US" dirty="0">
                <a:latin typeface="等线" panose="02010600030101010101" pitchFamily="2" charset="-122"/>
                <a:ea typeface="等线" panose="02010600030101010101" pitchFamily="2" charset="-122"/>
              </a:rPr>
              <a:t>7.3 电子邮件</a:t>
            </a:r>
          </a:p>
        </p:txBody>
      </p:sp>
      <p:sp>
        <p:nvSpPr>
          <p:cNvPr id="5" name="页脚占位符 4"/>
          <p:cNvSpPr>
            <a:spLocks noGrp="1"/>
          </p:cNvSpPr>
          <p:nvPr>
            <p:ph type="ftr" sz="quarter" idx="11"/>
          </p:nvPr>
        </p:nvSpPr>
        <p:spPr>
          <a:xfrm>
            <a:off x="4038600" y="6489065"/>
            <a:ext cx="4575810" cy="365125"/>
          </a:xfrm>
        </p:spPr>
        <p:txBody>
          <a:bodyPr/>
          <a:lstStyle/>
          <a:p>
            <a:r>
              <a:rPr kumimoji="1" lang="zh-CN" altLang="en-US" dirty="0">
                <a:latin typeface="等线" panose="02010600030101010101" pitchFamily="2" charset="-122"/>
                <a:ea typeface="等线" panose="02010600030101010101" pitchFamily="2" charset="-122"/>
              </a:rPr>
              <a:t>引自：计算机网络：自顶向下方法，陈鸣 译</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Tree>
    <p:extLst>
      <p:ext uri="{BB962C8B-B14F-4D97-AF65-F5344CB8AC3E}">
        <p14:creationId xmlns:p14="http://schemas.microsoft.com/office/powerpoint/2010/main" val="14486863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IMAP特性</a:t>
            </a:r>
          </a:p>
        </p:txBody>
      </p:sp>
      <p:sp>
        <p:nvSpPr>
          <p:cNvPr id="3" name="内容占位符 2"/>
          <p:cNvSpPr>
            <a:spLocks noGrp="1"/>
          </p:cNvSpPr>
          <p:nvPr>
            <p:ph idx="1"/>
          </p:nvPr>
        </p:nvSpPr>
        <p:spPr>
          <a:xfrm>
            <a:off x="838200" y="1510758"/>
            <a:ext cx="10343606" cy="4586694"/>
          </a:xfrm>
        </p:spPr>
        <p:txBody>
          <a:bodyPr>
            <a:normAutofit fontScale="97500" lnSpcReduction="10000"/>
          </a:bodyPr>
          <a:lstStyle/>
          <a:p>
            <a:pPr algn="just">
              <a:lnSpc>
                <a:spcPct val="120000"/>
              </a:lnSpc>
              <a:spcAft>
                <a:spcPts val="0"/>
              </a:spcAft>
            </a:pPr>
            <a:r>
              <a:rPr dirty="0" err="1"/>
              <a:t>IMAP</a:t>
            </a:r>
            <a:r>
              <a:rPr lang="en-US" dirty="0" err="1"/>
              <a:t>允许</a:t>
            </a:r>
            <a:r>
              <a:rPr dirty="0" err="1"/>
              <a:t>用户在不同的地方使用不同的计算机随时上网阅读和处理自己的邮件</a:t>
            </a:r>
            <a:endParaRPr dirty="0"/>
          </a:p>
          <a:p>
            <a:pPr algn="just">
              <a:lnSpc>
                <a:spcPct val="120000"/>
              </a:lnSpc>
              <a:spcAft>
                <a:spcPts val="0"/>
              </a:spcAft>
            </a:pPr>
            <a:r>
              <a:rPr dirty="0" err="1"/>
              <a:t>IMAP服务器把</a:t>
            </a:r>
            <a:r>
              <a:rPr dirty="0" err="1">
                <a:solidFill>
                  <a:srgbClr val="7030A0"/>
                </a:solidFill>
              </a:rPr>
              <a:t>每个</a:t>
            </a:r>
            <a:r>
              <a:rPr lang="zh-CN" dirty="0">
                <a:solidFill>
                  <a:srgbClr val="7030A0"/>
                </a:solidFill>
              </a:rPr>
              <a:t>邮件</a:t>
            </a:r>
            <a:r>
              <a:rPr dirty="0" err="1">
                <a:solidFill>
                  <a:srgbClr val="7030A0"/>
                </a:solidFill>
              </a:rPr>
              <a:t>与一个文件夹联系起来</a:t>
            </a:r>
            <a:endParaRPr lang="en-US" dirty="0">
              <a:solidFill>
                <a:srgbClr val="7030A0"/>
              </a:solidFill>
            </a:endParaRPr>
          </a:p>
          <a:p>
            <a:pPr lvl="1" algn="just">
              <a:lnSpc>
                <a:spcPct val="120000"/>
              </a:lnSpc>
            </a:pPr>
            <a:r>
              <a:rPr dirty="0" err="1"/>
              <a:t>当邮件第一次到达服务器时，它与收件人的INBOX文件夹相关联</a:t>
            </a:r>
            <a:endParaRPr lang="en-US" dirty="0"/>
          </a:p>
          <a:p>
            <a:pPr lvl="1" algn="just">
              <a:lnSpc>
                <a:spcPct val="120000"/>
              </a:lnSpc>
            </a:pPr>
            <a:r>
              <a:rPr dirty="0" err="1"/>
              <a:t>收件人能够把邮件移到一个新的文件夹中，阅读邮件，删除邮件等</a:t>
            </a:r>
            <a:endParaRPr dirty="0"/>
          </a:p>
          <a:p>
            <a:pPr algn="just">
              <a:lnSpc>
                <a:spcPct val="120000"/>
              </a:lnSpc>
              <a:spcAft>
                <a:spcPts val="0"/>
              </a:spcAft>
            </a:pPr>
            <a:r>
              <a:rPr dirty="0" err="1"/>
              <a:t>IMAP还为用户提供了在远程文件夹中查询邮件的命令，按指定条件去查询匹配的邮件</a:t>
            </a:r>
            <a:endParaRPr dirty="0"/>
          </a:p>
          <a:p>
            <a:pPr algn="just">
              <a:lnSpc>
                <a:spcPct val="120000"/>
              </a:lnSpc>
              <a:spcAft>
                <a:spcPts val="0"/>
              </a:spcAft>
            </a:pPr>
            <a:r>
              <a:rPr dirty="0"/>
              <a:t>与POP3不同，IMAP服务器维护了IMAP会话的用户状态信</a:t>
            </a:r>
            <a:r>
              <a:rPr lang="zh-CN" altLang="en-US" dirty="0"/>
              <a:t>息</a:t>
            </a:r>
            <a:endParaRPr lang="en-US" altLang="zh-CN" dirty="0"/>
          </a:p>
          <a:p>
            <a:pPr lvl="1" algn="just">
              <a:lnSpc>
                <a:spcPct val="120000"/>
              </a:lnSpc>
            </a:pPr>
            <a:r>
              <a:rPr dirty="0" err="1"/>
              <a:t>例如，文件夹的名字</a:t>
            </a:r>
            <a:r>
              <a:rPr lang="zh-CN" altLang="en-US" dirty="0"/>
              <a:t>、</a:t>
            </a:r>
            <a:r>
              <a:rPr dirty="0" err="1"/>
              <a:t>哪些</a:t>
            </a:r>
            <a:r>
              <a:rPr lang="zh-CN" dirty="0"/>
              <a:t>邮件</a:t>
            </a:r>
            <a:r>
              <a:rPr dirty="0" err="1"/>
              <a:t>与哪些文件夹相关联</a:t>
            </a:r>
            <a:endParaRPr dirty="0"/>
          </a:p>
        </p:txBody>
      </p:sp>
      <p:sp>
        <p:nvSpPr>
          <p:cNvPr id="4" name="日期占位符 3"/>
          <p:cNvSpPr>
            <a:spLocks noGrp="1"/>
          </p:cNvSpPr>
          <p:nvPr>
            <p:ph type="dt" sz="half" idx="10"/>
          </p:nvPr>
        </p:nvSpPr>
        <p:spPr/>
        <p:txBody>
          <a:bodyPr/>
          <a:lstStyle/>
          <a:p>
            <a:r>
              <a:rPr kumimoji="1" lang="zh-CN" altLang="en-US" dirty="0">
                <a:latin typeface="等线" panose="02010600030101010101" pitchFamily="2" charset="-122"/>
                <a:ea typeface="等线" panose="02010600030101010101" pitchFamily="2" charset="-122"/>
              </a:rPr>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
        <p:nvSpPr>
          <p:cNvPr id="7" name="页脚占位符 6"/>
          <p:cNvSpPr>
            <a:spLocks noGrp="1"/>
          </p:cNvSpPr>
          <p:nvPr>
            <p:ph type="ftr" sz="quarter" idx="11"/>
          </p:nvPr>
        </p:nvSpPr>
        <p:spPr>
          <a:xfrm>
            <a:off x="4038600" y="6489065"/>
            <a:ext cx="4575810" cy="365125"/>
          </a:xfrm>
        </p:spPr>
        <p:txBody>
          <a:bodyPr/>
          <a:lstStyle/>
          <a:p>
            <a:r>
              <a:rPr kumimoji="1" lang="zh-CN" altLang="en-US" dirty="0">
                <a:latin typeface="等线" panose="02010600030101010101" pitchFamily="2" charset="-122"/>
                <a:ea typeface="等线" panose="02010600030101010101" pitchFamily="2" charset="-122"/>
              </a:rPr>
              <a:t>引自：计算机网络：自顶向下方法，陈鸣 译</a:t>
            </a:r>
          </a:p>
        </p:txBody>
      </p:sp>
    </p:spTree>
    <p:extLst>
      <p:ext uri="{BB962C8B-B14F-4D97-AF65-F5344CB8AC3E}">
        <p14:creationId xmlns:p14="http://schemas.microsoft.com/office/powerpoint/2010/main" val="28763847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目  录</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838200" y="1510758"/>
            <a:ext cx="5356538" cy="4586694"/>
          </a:xfrm>
        </p:spPr>
        <p:txBody>
          <a:bodyPr>
            <a:normAutofit/>
          </a:bodyPr>
          <a:lstStyle/>
          <a:p>
            <a:pPr>
              <a:lnSpc>
                <a:spcPct val="130000"/>
              </a:lnSpc>
            </a:pPr>
            <a:r>
              <a:rPr kumimoji="1" lang="en-US" altLang="zh-CN" dirty="0"/>
              <a:t>7.1 </a:t>
            </a:r>
            <a:r>
              <a:rPr kumimoji="1" lang="zh-CN" altLang="en-US" dirty="0"/>
              <a:t>应用层概述（</a:t>
            </a:r>
            <a:r>
              <a:rPr kumimoji="1" lang="en-US" altLang="zh-CN" dirty="0"/>
              <a:t>P3</a:t>
            </a:r>
            <a:r>
              <a:rPr kumimoji="1" lang="zh-CN" altLang="en-US" dirty="0"/>
              <a:t>）</a:t>
            </a:r>
            <a:endParaRPr kumimoji="1" lang="en-US" altLang="zh-CN" dirty="0"/>
          </a:p>
          <a:p>
            <a:pPr>
              <a:lnSpc>
                <a:spcPct val="130000"/>
              </a:lnSpc>
            </a:pPr>
            <a:r>
              <a:rPr kumimoji="1" lang="en-US" altLang="zh-CN" dirty="0"/>
              <a:t>7.2 </a:t>
            </a:r>
            <a:r>
              <a:rPr kumimoji="1" lang="zh-CN" altLang="en-US" dirty="0"/>
              <a:t>域名系统（</a:t>
            </a:r>
            <a:r>
              <a:rPr kumimoji="1" lang="en-US" altLang="zh-CN" dirty="0"/>
              <a:t>P20</a:t>
            </a:r>
            <a:r>
              <a:rPr kumimoji="1" lang="zh-CN" altLang="en-US" dirty="0"/>
              <a:t>）</a:t>
            </a:r>
            <a:endParaRPr kumimoji="1" lang="en-US" altLang="zh-CN" dirty="0"/>
          </a:p>
          <a:p>
            <a:pPr>
              <a:lnSpc>
                <a:spcPct val="130000"/>
              </a:lnSpc>
            </a:pPr>
            <a:r>
              <a:rPr kumimoji="1" lang="en-US" altLang="zh-CN" dirty="0"/>
              <a:t>7.3 </a:t>
            </a:r>
            <a:r>
              <a:rPr kumimoji="1" lang="zh-CN" altLang="en-US" dirty="0"/>
              <a:t>电子邮件（</a:t>
            </a:r>
            <a:r>
              <a:rPr kumimoji="1" lang="en-US" altLang="zh-CN" dirty="0"/>
              <a:t>P42</a:t>
            </a:r>
            <a:r>
              <a:rPr kumimoji="1" lang="zh-CN" altLang="en-US" dirty="0"/>
              <a:t>）</a:t>
            </a:r>
            <a:endParaRPr kumimoji="1" lang="en-US" altLang="zh-CN" dirty="0"/>
          </a:p>
          <a:p>
            <a:pPr>
              <a:lnSpc>
                <a:spcPct val="130000"/>
              </a:lnSpc>
            </a:pPr>
            <a:r>
              <a:rPr kumimoji="1" lang="en-US" altLang="zh-CN" dirty="0">
                <a:solidFill>
                  <a:srgbClr val="C00000"/>
                </a:solidFill>
              </a:rPr>
              <a:t>7.4 </a:t>
            </a:r>
            <a:r>
              <a:rPr kumimoji="1" lang="zh-CN" altLang="en-US" dirty="0">
                <a:solidFill>
                  <a:srgbClr val="C00000"/>
                </a:solidFill>
              </a:rPr>
              <a:t>其它应用层协议（</a:t>
            </a:r>
            <a:r>
              <a:rPr kumimoji="1" lang="en-US" altLang="zh-CN" dirty="0">
                <a:solidFill>
                  <a:srgbClr val="C00000"/>
                </a:solidFill>
              </a:rPr>
              <a:t>P52</a:t>
            </a:r>
            <a:r>
              <a:rPr kumimoji="1" lang="zh-CN" altLang="en-US" dirty="0">
                <a:solidFill>
                  <a:srgbClr val="C00000"/>
                </a:solidFill>
              </a:rPr>
              <a:t>）</a:t>
            </a:r>
            <a:endParaRPr kumimoji="1" lang="en-US" altLang="zh-CN" dirty="0">
              <a:solidFill>
                <a:srgbClr val="C00000"/>
              </a:solidFill>
            </a:endParaRPr>
          </a:p>
          <a:p>
            <a:pPr>
              <a:lnSpc>
                <a:spcPct val="130000"/>
              </a:lnSpc>
            </a:pPr>
            <a:endParaRPr kumimoji="1" lang="en-US" altLang="zh-CN" dirty="0">
              <a:solidFill>
                <a:srgbClr val="FF0000"/>
              </a:solidFill>
            </a:endParaRP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7331155" y="4235182"/>
            <a:ext cx="2711309" cy="1726872"/>
          </a:xfrm>
          <a:prstGeom prst="wedgeRectCallout">
            <a:avLst>
              <a:gd name="adj1" fmla="val -100217"/>
              <a:gd name="adj2" fmla="val 3448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en-US" altLang="zh-CN" sz="2400" dirty="0">
                <a:solidFill>
                  <a:prstClr val="black"/>
                </a:solidFill>
                <a:latin typeface="等线" panose="02010600030101010101" pitchFamily="2" charset="-122"/>
                <a:ea typeface="等线" panose="02010600030101010101" pitchFamily="2" charset="-122"/>
              </a:rPr>
              <a:t>Telnet</a:t>
            </a:r>
          </a:p>
          <a:p>
            <a:pPr marL="587375" indent="-438150">
              <a:lnSpc>
                <a:spcPct val="130000"/>
              </a:lnSpc>
              <a:spcBef>
                <a:spcPts val="600"/>
              </a:spcBef>
              <a:buFont typeface="+mj-lt"/>
              <a:buAutoNum type="arabicPeriod"/>
            </a:pPr>
            <a:r>
              <a:rPr kumimoji="1" lang="en-US" altLang="zh-CN" sz="2400" dirty="0">
                <a:solidFill>
                  <a:prstClr val="black"/>
                </a:solidFill>
                <a:latin typeface="等线" panose="02010600030101010101" pitchFamily="2" charset="-122"/>
                <a:ea typeface="等线" panose="02010600030101010101" pitchFamily="2" charset="-122"/>
              </a:rPr>
              <a:t>FTP</a:t>
            </a:r>
          </a:p>
          <a:p>
            <a:pPr marL="587375" indent="-438150">
              <a:lnSpc>
                <a:spcPct val="130000"/>
              </a:lnSpc>
              <a:spcBef>
                <a:spcPts val="600"/>
              </a:spcBef>
              <a:buFont typeface="+mj-lt"/>
              <a:buAutoNum type="arabicPeriod"/>
            </a:pPr>
            <a:r>
              <a:rPr kumimoji="1" lang="en-US" altLang="zh-CN" sz="2400" dirty="0">
                <a:solidFill>
                  <a:prstClr val="black"/>
                </a:solidFill>
                <a:latin typeface="等线" panose="02010600030101010101" pitchFamily="2" charset="-122"/>
                <a:ea typeface="等线" panose="02010600030101010101" pitchFamily="2" charset="-122"/>
              </a:rPr>
              <a:t>SNMP</a:t>
            </a:r>
            <a:endParaRPr kumimoji="1" lang="zh-CN" altLang="en-US" sz="2400" dirty="0">
              <a:solidFill>
                <a:prstClr val="black"/>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2072772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p:txBody>
          <a:bodyPr/>
          <a:lstStyle/>
          <a:p>
            <a:fld id="{567CB1C6-4057-41E0-8FC1-B367ABD1202B}" type="slidenum">
              <a:rPr kumimoji="1" lang="en-US" altLang="zh-CN"/>
              <a:pPr/>
              <a:t>53</a:t>
            </a:fld>
            <a:endParaRPr kumimoji="1" lang="en-US" altLang="zh-CN" dirty="0"/>
          </a:p>
        </p:txBody>
      </p:sp>
      <p:sp>
        <p:nvSpPr>
          <p:cNvPr id="36867" name="Rectangle 2"/>
          <p:cNvSpPr>
            <a:spLocks noGrp="1" noChangeArrowheads="1"/>
          </p:cNvSpPr>
          <p:nvPr>
            <p:ph type="title"/>
          </p:nvPr>
        </p:nvSpPr>
        <p:spPr/>
        <p:txBody>
          <a:bodyPr/>
          <a:lstStyle/>
          <a:p>
            <a:pPr eaLnBrk="1" hangingPunct="1"/>
            <a:r>
              <a:rPr lang="en-US" altLang="zh-CN" dirty="0"/>
              <a:t>Telnet</a:t>
            </a:r>
          </a:p>
        </p:txBody>
      </p:sp>
      <p:sp>
        <p:nvSpPr>
          <p:cNvPr id="619523" name="Rectangle 3"/>
          <p:cNvSpPr>
            <a:spLocks noGrp="1" noChangeArrowheads="1"/>
          </p:cNvSpPr>
          <p:nvPr>
            <p:ph type="body" idx="1"/>
          </p:nvPr>
        </p:nvSpPr>
        <p:spPr>
          <a:xfrm>
            <a:off x="622300" y="1465295"/>
            <a:ext cx="10883900" cy="4648200"/>
          </a:xfrm>
        </p:spPr>
        <p:txBody>
          <a:bodyPr>
            <a:noAutofit/>
          </a:bodyPr>
          <a:lstStyle/>
          <a:p>
            <a:pPr algn="just" eaLnBrk="1" hangingPunct="1">
              <a:lnSpc>
                <a:spcPct val="120000"/>
              </a:lnSpc>
              <a:defRPr/>
            </a:pPr>
            <a:r>
              <a:rPr lang="zh-CN" altLang="en-US" sz="2000" dirty="0">
                <a:solidFill>
                  <a:srgbClr val="FF0000"/>
                </a:solidFill>
              </a:rPr>
              <a:t>远程登录</a:t>
            </a:r>
            <a:r>
              <a:rPr lang="zh-CN" altLang="en-US" sz="2000" dirty="0"/>
              <a:t>是网络最早提供的基本服务之一</a:t>
            </a:r>
            <a:endParaRPr lang="en-US" altLang="zh-CN" sz="2000" dirty="0"/>
          </a:p>
          <a:p>
            <a:pPr lvl="1" algn="just">
              <a:lnSpc>
                <a:spcPct val="120000"/>
              </a:lnSpc>
              <a:defRPr/>
            </a:pPr>
            <a:r>
              <a:rPr lang="zh-CN" altLang="en-US" sz="1800" dirty="0"/>
              <a:t>通过终端仿真协议实现对远程计算机系统的访问，就像访问本地资源一样</a:t>
            </a:r>
            <a:endParaRPr lang="en-US" altLang="zh-CN" sz="1800" dirty="0"/>
          </a:p>
          <a:p>
            <a:pPr lvl="1" algn="just">
              <a:lnSpc>
                <a:spcPct val="120000"/>
              </a:lnSpc>
              <a:defRPr/>
            </a:pPr>
            <a:r>
              <a:rPr lang="zh-CN" altLang="en-US" sz="1800" dirty="0"/>
              <a:t>这个过程对用户是透明的</a:t>
            </a:r>
            <a:endParaRPr lang="en-US" altLang="zh-CN" sz="1800" dirty="0"/>
          </a:p>
          <a:p>
            <a:pPr algn="just" eaLnBrk="1" hangingPunct="1">
              <a:lnSpc>
                <a:spcPct val="120000"/>
              </a:lnSpc>
              <a:defRPr/>
            </a:pPr>
            <a:r>
              <a:rPr lang="zh-CN" altLang="en-US" sz="2000" dirty="0"/>
              <a:t>远程登录需要解决异构计算机系统的差异性问题</a:t>
            </a:r>
            <a:endParaRPr lang="en-US" altLang="zh-CN" sz="2000" dirty="0"/>
          </a:p>
          <a:p>
            <a:pPr lvl="1" algn="just">
              <a:lnSpc>
                <a:spcPct val="120000"/>
              </a:lnSpc>
              <a:defRPr/>
            </a:pPr>
            <a:r>
              <a:rPr lang="zh-CN" altLang="en-US" sz="1800" dirty="0"/>
              <a:t>主要体现在对</a:t>
            </a:r>
            <a:r>
              <a:rPr lang="zh-CN" altLang="en-US" sz="1800" dirty="0">
                <a:solidFill>
                  <a:srgbClr val="FF0000"/>
                </a:solidFill>
              </a:rPr>
              <a:t>终端键盘输入命令的解释</a:t>
            </a:r>
            <a:r>
              <a:rPr lang="zh-CN" altLang="en-US" sz="1800" dirty="0"/>
              <a:t>上</a:t>
            </a:r>
            <a:endParaRPr lang="en-US" altLang="zh-CN" sz="1800" dirty="0"/>
          </a:p>
          <a:p>
            <a:pPr algn="just" eaLnBrk="1" hangingPunct="1">
              <a:lnSpc>
                <a:spcPct val="120000"/>
              </a:lnSpc>
              <a:defRPr/>
            </a:pPr>
            <a:r>
              <a:rPr lang="en-US" altLang="zh-CN" sz="2000" dirty="0"/>
              <a:t>Telnet</a:t>
            </a:r>
            <a:r>
              <a:rPr lang="zh-CN" altLang="en-US" sz="2000" dirty="0"/>
              <a:t>协议最早出现在</a:t>
            </a:r>
            <a:r>
              <a:rPr lang="en-US" altLang="zh-CN" sz="2000" dirty="0"/>
              <a:t>20</a:t>
            </a:r>
            <a:r>
              <a:rPr lang="zh-CN" altLang="en-US" sz="2000" dirty="0"/>
              <a:t>世纪</a:t>
            </a:r>
            <a:r>
              <a:rPr lang="en-US" altLang="zh-CN" sz="2000" dirty="0"/>
              <a:t>60</a:t>
            </a:r>
            <a:r>
              <a:rPr lang="zh-CN" altLang="en-US" sz="2000" dirty="0"/>
              <a:t>年代后期</a:t>
            </a:r>
            <a:endParaRPr lang="en-US" altLang="zh-CN" sz="2000" dirty="0"/>
          </a:p>
          <a:p>
            <a:pPr algn="just" eaLnBrk="1" hangingPunct="1">
              <a:lnSpc>
                <a:spcPct val="120000"/>
              </a:lnSpc>
              <a:defRPr/>
            </a:pPr>
            <a:r>
              <a:rPr lang="en-US" altLang="zh-CN" sz="2000" dirty="0"/>
              <a:t>1983</a:t>
            </a:r>
            <a:r>
              <a:rPr lang="zh-CN" altLang="en-US" sz="2000" dirty="0"/>
              <a:t>年由</a:t>
            </a:r>
            <a:r>
              <a:rPr lang="en-US" altLang="zh-CN" sz="2000" dirty="0">
                <a:solidFill>
                  <a:srgbClr val="FF0000"/>
                </a:solidFill>
              </a:rPr>
              <a:t>RFC 854</a:t>
            </a:r>
            <a:r>
              <a:rPr lang="zh-CN" altLang="en-US" sz="2000" dirty="0"/>
              <a:t>确定为</a:t>
            </a:r>
            <a:r>
              <a:rPr lang="en-US" altLang="zh-CN" sz="2000" dirty="0"/>
              <a:t>Internet</a:t>
            </a:r>
            <a:r>
              <a:rPr lang="zh-CN" altLang="en-US" sz="2000" dirty="0"/>
              <a:t>标准</a:t>
            </a:r>
            <a:endParaRPr lang="en-US" altLang="zh-CN" sz="2000" dirty="0"/>
          </a:p>
          <a:p>
            <a:pPr algn="just">
              <a:lnSpc>
                <a:spcPct val="120000"/>
              </a:lnSpc>
              <a:defRPr/>
            </a:pPr>
            <a:r>
              <a:rPr lang="en-US" altLang="zh-CN" sz="2000" dirty="0"/>
              <a:t>Telnet</a:t>
            </a:r>
            <a:r>
              <a:rPr lang="zh-CN" altLang="en-US" sz="2000" dirty="0"/>
              <a:t>协议使用</a:t>
            </a:r>
            <a:r>
              <a:rPr lang="en-US" altLang="zh-CN" sz="2000" dirty="0">
                <a:solidFill>
                  <a:srgbClr val="FF0000"/>
                </a:solidFill>
              </a:rPr>
              <a:t>C/S</a:t>
            </a:r>
            <a:r>
              <a:rPr lang="zh-CN" altLang="en-US" sz="2000" dirty="0">
                <a:solidFill>
                  <a:srgbClr val="FF0000"/>
                </a:solidFill>
              </a:rPr>
              <a:t>方式</a:t>
            </a:r>
            <a:r>
              <a:rPr lang="zh-CN" altLang="en-US" sz="2000" dirty="0"/>
              <a:t>实现</a:t>
            </a:r>
            <a:endParaRPr lang="en-US" altLang="zh-CN" sz="2000" dirty="0"/>
          </a:p>
          <a:p>
            <a:pPr lvl="1" algn="just">
              <a:lnSpc>
                <a:spcPct val="120000"/>
              </a:lnSpc>
              <a:defRPr/>
            </a:pPr>
            <a:r>
              <a:rPr lang="zh-CN" altLang="en-US" sz="1800" dirty="0"/>
              <a:t>在本地系统运行</a:t>
            </a:r>
            <a:r>
              <a:rPr lang="en-US" altLang="zh-CN" sz="1800" dirty="0"/>
              <a:t>Telnet</a:t>
            </a:r>
            <a:r>
              <a:rPr lang="zh-CN" altLang="en-US" sz="1800" dirty="0"/>
              <a:t>客户进程，在远程主机运行</a:t>
            </a:r>
            <a:r>
              <a:rPr lang="en-US" altLang="zh-CN" sz="1800" dirty="0"/>
              <a:t>Telnet</a:t>
            </a:r>
            <a:r>
              <a:rPr lang="zh-CN" altLang="en-US" sz="1800" dirty="0"/>
              <a:t>服务器进程</a:t>
            </a:r>
          </a:p>
          <a:p>
            <a:pPr algn="just">
              <a:lnSpc>
                <a:spcPct val="120000"/>
              </a:lnSpc>
              <a:defRPr/>
            </a:pPr>
            <a:r>
              <a:rPr lang="en-US" altLang="zh-CN" sz="2000" dirty="0"/>
              <a:t>Telnet</a:t>
            </a:r>
            <a:r>
              <a:rPr lang="zh-CN" altLang="en-US" sz="2000" dirty="0"/>
              <a:t>协议使用</a:t>
            </a:r>
            <a:r>
              <a:rPr lang="en-US" altLang="zh-CN" sz="2000" dirty="0"/>
              <a:t>TCP</a:t>
            </a:r>
            <a:r>
              <a:rPr lang="zh-CN" altLang="en-US" sz="2000" dirty="0"/>
              <a:t>连接通信</a:t>
            </a:r>
            <a:endParaRPr lang="en-US" altLang="zh-CN" sz="2000" dirty="0"/>
          </a:p>
          <a:p>
            <a:pPr lvl="1" algn="just">
              <a:lnSpc>
                <a:spcPct val="120000"/>
              </a:lnSpc>
              <a:defRPr/>
            </a:pPr>
            <a:r>
              <a:rPr lang="zh-CN" altLang="en-US" sz="1800" dirty="0"/>
              <a:t>服务器进程默认监听</a:t>
            </a:r>
            <a:r>
              <a:rPr lang="en-US" altLang="zh-CN" sz="1800" dirty="0">
                <a:solidFill>
                  <a:srgbClr val="FF0000"/>
                </a:solidFill>
              </a:rPr>
              <a:t>TCP</a:t>
            </a:r>
            <a:r>
              <a:rPr lang="zh-CN" altLang="en-US" sz="1800" dirty="0">
                <a:solidFill>
                  <a:srgbClr val="FF0000"/>
                </a:solidFill>
              </a:rPr>
              <a:t> </a:t>
            </a:r>
            <a:r>
              <a:rPr lang="en-US" altLang="zh-CN" sz="1800" dirty="0">
                <a:solidFill>
                  <a:srgbClr val="FF0000"/>
                </a:solidFill>
              </a:rPr>
              <a:t>23</a:t>
            </a:r>
            <a:r>
              <a:rPr lang="zh-CN" altLang="en-US" sz="1800" dirty="0">
                <a:solidFill>
                  <a:srgbClr val="FF0000"/>
                </a:solidFill>
              </a:rPr>
              <a:t>端口</a:t>
            </a:r>
            <a:r>
              <a:rPr lang="zh-CN" altLang="en-US" sz="1800" dirty="0"/>
              <a:t>，使用主进程等待新的请求，并产生从属进程来处理每一个连接</a:t>
            </a:r>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其它应用层协议</a:t>
            </a:r>
          </a:p>
        </p:txBody>
      </p:sp>
    </p:spTree>
    <p:extLst>
      <p:ext uri="{BB962C8B-B14F-4D97-AF65-F5344CB8AC3E}">
        <p14:creationId xmlns:p14="http://schemas.microsoft.com/office/powerpoint/2010/main" val="4010975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灯片编号占位符 5"/>
          <p:cNvSpPr>
            <a:spLocks noGrp="1"/>
          </p:cNvSpPr>
          <p:nvPr>
            <p:ph type="sldNum" sz="quarter" idx="12"/>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990575" indent="-380990" eaLnBrk="0" hangingPunct="0">
              <a:defRPr>
                <a:solidFill>
                  <a:schemeClr val="tx1"/>
                </a:solidFill>
                <a:latin typeface="Verdana" panose="020B0604030504040204" pitchFamily="34" charset="0"/>
                <a:ea typeface="宋体" panose="02010600030101010101" pitchFamily="2" charset="-122"/>
              </a:defRPr>
            </a:lvl2pPr>
            <a:lvl3pPr marL="1523962" indent="-304792" eaLnBrk="0" hangingPunct="0">
              <a:defRPr>
                <a:solidFill>
                  <a:schemeClr val="tx1"/>
                </a:solidFill>
                <a:latin typeface="Verdana" panose="020B0604030504040204" pitchFamily="34" charset="0"/>
                <a:ea typeface="宋体" panose="02010600030101010101" pitchFamily="2" charset="-122"/>
              </a:defRPr>
            </a:lvl3pPr>
            <a:lvl4pPr marL="2133547" indent="-304792" eaLnBrk="0" hangingPunct="0">
              <a:defRPr>
                <a:solidFill>
                  <a:schemeClr val="tx1"/>
                </a:solidFill>
                <a:latin typeface="Verdana" panose="020B0604030504040204" pitchFamily="34" charset="0"/>
                <a:ea typeface="宋体" panose="02010600030101010101" pitchFamily="2" charset="-122"/>
              </a:defRPr>
            </a:lvl4pPr>
            <a:lvl5pPr marL="2743131" indent="-304792" eaLnBrk="0" hangingPunct="0">
              <a:defRPr>
                <a:solidFill>
                  <a:schemeClr val="tx1"/>
                </a:solidFill>
                <a:latin typeface="Verdana" panose="020B0604030504040204" pitchFamily="34" charset="0"/>
                <a:ea typeface="宋体" panose="02010600030101010101" pitchFamily="2" charset="-122"/>
              </a:defRPr>
            </a:lvl5pPr>
            <a:lvl6pPr marL="335271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962301"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57188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5181470"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052DD812-8057-4BC1-B3BC-C7B26040DC32}" type="slidenum">
              <a:rPr lang="en-US" altLang="zh-CN">
                <a:solidFill>
                  <a:prstClr val="white">
                    <a:lumMod val="65000"/>
                  </a:prstClr>
                </a:solidFill>
                <a:latin typeface="等线" panose="02010600030101010101" pitchFamily="2" charset="-122"/>
                <a:ea typeface="等线" panose="02010600030101010101" pitchFamily="2" charset="-122"/>
              </a:rPr>
              <a:pPr eaLnBrk="1" hangingPunct="1"/>
              <a:t>54</a:t>
            </a:fld>
            <a:endParaRPr lang="en-US" altLang="zh-CN" dirty="0">
              <a:solidFill>
                <a:prstClr val="white">
                  <a:lumMod val="65000"/>
                </a:prstClr>
              </a:solidFill>
              <a:latin typeface="等线" panose="02010600030101010101" pitchFamily="2" charset="-122"/>
              <a:ea typeface="等线" panose="02010600030101010101" pitchFamily="2" charset="-122"/>
            </a:endParaRPr>
          </a:p>
        </p:txBody>
      </p:sp>
      <p:sp>
        <p:nvSpPr>
          <p:cNvPr id="21508" name="Rectangle 2"/>
          <p:cNvSpPr>
            <a:spLocks noGrp="1" noChangeArrowheads="1"/>
          </p:cNvSpPr>
          <p:nvPr>
            <p:ph type="title"/>
          </p:nvPr>
        </p:nvSpPr>
        <p:spPr/>
        <p:txBody>
          <a:bodyPr/>
          <a:lstStyle/>
          <a:p>
            <a:pPr eaLnBrk="1" hangingPunct="1"/>
            <a:r>
              <a:rPr lang="en-US" altLang="zh-CN" dirty="0"/>
              <a:t>FTP</a:t>
            </a:r>
          </a:p>
        </p:txBody>
      </p:sp>
      <p:sp>
        <p:nvSpPr>
          <p:cNvPr id="21509" name="Rectangle 3"/>
          <p:cNvSpPr>
            <a:spLocks noGrp="1" noChangeArrowheads="1"/>
          </p:cNvSpPr>
          <p:nvPr>
            <p:ph type="body" idx="1"/>
          </p:nvPr>
        </p:nvSpPr>
        <p:spPr>
          <a:xfrm>
            <a:off x="666206" y="1498599"/>
            <a:ext cx="11340274" cy="4990703"/>
          </a:xfrm>
        </p:spPr>
        <p:txBody>
          <a:bodyPr>
            <a:normAutofit fontScale="92500"/>
          </a:bodyPr>
          <a:lstStyle/>
          <a:p>
            <a:pPr>
              <a:lnSpc>
                <a:spcPct val="130000"/>
              </a:lnSpc>
              <a:spcBef>
                <a:spcPts val="0"/>
              </a:spcBef>
            </a:pPr>
            <a:r>
              <a:rPr lang="zh-CN" altLang="en-US" dirty="0"/>
              <a:t>网络环境下复制文件的复杂性</a:t>
            </a:r>
          </a:p>
          <a:p>
            <a:pPr lvl="1">
              <a:lnSpc>
                <a:spcPct val="130000"/>
              </a:lnSpc>
              <a:spcBef>
                <a:spcPts val="0"/>
              </a:spcBef>
            </a:pPr>
            <a:r>
              <a:rPr lang="zh-CN" altLang="en-US" dirty="0"/>
              <a:t>计算机存储数据的格式不同</a:t>
            </a:r>
          </a:p>
          <a:p>
            <a:pPr lvl="1">
              <a:lnSpc>
                <a:spcPct val="130000"/>
              </a:lnSpc>
              <a:spcBef>
                <a:spcPts val="0"/>
              </a:spcBef>
            </a:pPr>
            <a:r>
              <a:rPr lang="zh-CN" altLang="en-US" dirty="0"/>
              <a:t>文件目录结构和文件命名规则不同</a:t>
            </a:r>
          </a:p>
          <a:p>
            <a:pPr lvl="1">
              <a:lnSpc>
                <a:spcPct val="130000"/>
              </a:lnSpc>
              <a:spcBef>
                <a:spcPts val="0"/>
              </a:spcBef>
            </a:pPr>
            <a:r>
              <a:rPr lang="zh-CN" altLang="en-US" dirty="0"/>
              <a:t>对于相同的文件存取功能，操作系统使用的命令不同</a:t>
            </a:r>
          </a:p>
          <a:p>
            <a:pPr lvl="1">
              <a:lnSpc>
                <a:spcPct val="130000"/>
              </a:lnSpc>
              <a:spcBef>
                <a:spcPts val="0"/>
              </a:spcBef>
            </a:pPr>
            <a:r>
              <a:rPr lang="zh-CN" altLang="en-US" dirty="0"/>
              <a:t>访问控制方法不同</a:t>
            </a:r>
            <a:endParaRPr lang="en-US" altLang="zh-CN" dirty="0"/>
          </a:p>
          <a:p>
            <a:pPr algn="just" eaLnBrk="1" hangingPunct="1">
              <a:lnSpc>
                <a:spcPct val="130000"/>
              </a:lnSpc>
              <a:spcBef>
                <a:spcPts val="0"/>
              </a:spcBef>
            </a:pPr>
            <a:r>
              <a:rPr lang="zh-CN" altLang="en-US" dirty="0">
                <a:solidFill>
                  <a:srgbClr val="FF0000"/>
                </a:solidFill>
              </a:rPr>
              <a:t>文件传输协议</a:t>
            </a:r>
            <a:r>
              <a:rPr lang="en-US" altLang="zh-CN" dirty="0"/>
              <a:t>FTP(File Transfer Protocol)</a:t>
            </a:r>
            <a:r>
              <a:rPr lang="zh-CN" altLang="en-US" dirty="0"/>
              <a:t>是</a:t>
            </a:r>
            <a:r>
              <a:rPr lang="en-US" altLang="zh-CN" dirty="0"/>
              <a:t>Internet</a:t>
            </a:r>
            <a:r>
              <a:rPr lang="zh-CN" altLang="en-US" dirty="0"/>
              <a:t>上使用最广泛的应用层协议之一</a:t>
            </a:r>
          </a:p>
          <a:p>
            <a:pPr lvl="1" algn="just">
              <a:lnSpc>
                <a:spcPct val="130000"/>
              </a:lnSpc>
              <a:spcBef>
                <a:spcPts val="0"/>
              </a:spcBef>
            </a:pPr>
            <a:r>
              <a:rPr lang="en-US" altLang="zh-CN" dirty="0"/>
              <a:t>FTP</a:t>
            </a:r>
            <a:r>
              <a:rPr lang="zh-CN" altLang="en-US" dirty="0"/>
              <a:t>提供交互式的访问，允许用户指明文件的类型与格式，并允许文件具有存取权限</a:t>
            </a:r>
          </a:p>
          <a:p>
            <a:pPr lvl="1" algn="just">
              <a:lnSpc>
                <a:spcPct val="130000"/>
              </a:lnSpc>
              <a:spcBef>
                <a:spcPts val="0"/>
              </a:spcBef>
            </a:pPr>
            <a:r>
              <a:rPr lang="en-US" altLang="zh-CN" dirty="0"/>
              <a:t>FTP</a:t>
            </a:r>
            <a:r>
              <a:rPr lang="zh-CN" altLang="en-US" dirty="0"/>
              <a:t>屏蔽了各计算机系统的细节，适用于在异构网络中任意计算机之间传送文件</a:t>
            </a:r>
          </a:p>
          <a:p>
            <a:pPr lvl="1" algn="just">
              <a:lnSpc>
                <a:spcPct val="130000"/>
              </a:lnSpc>
              <a:spcBef>
                <a:spcPts val="0"/>
              </a:spcBef>
            </a:pPr>
            <a:r>
              <a:rPr lang="en-US" altLang="zh-CN" dirty="0">
                <a:solidFill>
                  <a:srgbClr val="FF0000"/>
                </a:solidFill>
              </a:rPr>
              <a:t>RFC 959</a:t>
            </a:r>
            <a:r>
              <a:rPr lang="zh-CN" altLang="en-US" dirty="0"/>
              <a:t>早在</a:t>
            </a:r>
            <a:r>
              <a:rPr lang="en-US" altLang="zh-CN" dirty="0"/>
              <a:t>1985</a:t>
            </a:r>
            <a:r>
              <a:rPr lang="zh-CN" altLang="en-US" dirty="0"/>
              <a:t>年就已经成为</a:t>
            </a:r>
            <a:r>
              <a:rPr lang="en-US" altLang="zh-CN" dirty="0"/>
              <a:t>Internet</a:t>
            </a:r>
            <a:r>
              <a:rPr lang="zh-CN" altLang="en-US" dirty="0"/>
              <a:t>的正式标准</a:t>
            </a:r>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其它应用层协议</a:t>
            </a:r>
          </a:p>
        </p:txBody>
      </p:sp>
    </p:spTree>
    <p:extLst>
      <p:ext uri="{BB962C8B-B14F-4D97-AF65-F5344CB8AC3E}">
        <p14:creationId xmlns:p14="http://schemas.microsoft.com/office/powerpoint/2010/main" val="35573783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灯片编号占位符 5"/>
          <p:cNvSpPr>
            <a:spLocks noGrp="1"/>
          </p:cNvSpPr>
          <p:nvPr>
            <p:ph type="sldNum" sz="quarter" idx="12"/>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990575" indent="-380990" eaLnBrk="0" hangingPunct="0">
              <a:defRPr>
                <a:solidFill>
                  <a:schemeClr val="tx1"/>
                </a:solidFill>
                <a:latin typeface="Verdana" panose="020B0604030504040204" pitchFamily="34" charset="0"/>
                <a:ea typeface="宋体" panose="02010600030101010101" pitchFamily="2" charset="-122"/>
              </a:defRPr>
            </a:lvl2pPr>
            <a:lvl3pPr marL="1523962" indent="-304792" eaLnBrk="0" hangingPunct="0">
              <a:defRPr>
                <a:solidFill>
                  <a:schemeClr val="tx1"/>
                </a:solidFill>
                <a:latin typeface="Verdana" panose="020B0604030504040204" pitchFamily="34" charset="0"/>
                <a:ea typeface="宋体" panose="02010600030101010101" pitchFamily="2" charset="-122"/>
              </a:defRPr>
            </a:lvl3pPr>
            <a:lvl4pPr marL="2133547" indent="-304792" eaLnBrk="0" hangingPunct="0">
              <a:defRPr>
                <a:solidFill>
                  <a:schemeClr val="tx1"/>
                </a:solidFill>
                <a:latin typeface="Verdana" panose="020B0604030504040204" pitchFamily="34" charset="0"/>
                <a:ea typeface="宋体" panose="02010600030101010101" pitchFamily="2" charset="-122"/>
              </a:defRPr>
            </a:lvl4pPr>
            <a:lvl5pPr marL="2743131" indent="-304792" eaLnBrk="0" hangingPunct="0">
              <a:defRPr>
                <a:solidFill>
                  <a:schemeClr val="tx1"/>
                </a:solidFill>
                <a:latin typeface="Verdana" panose="020B0604030504040204" pitchFamily="34" charset="0"/>
                <a:ea typeface="宋体" panose="02010600030101010101" pitchFamily="2" charset="-122"/>
              </a:defRPr>
            </a:lvl5pPr>
            <a:lvl6pPr marL="335271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962301"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57188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5181470"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5AE52175-9E22-43B5-B9DC-FF312000541C}" type="slidenum">
              <a:rPr lang="en-US" altLang="zh-CN">
                <a:solidFill>
                  <a:prstClr val="white">
                    <a:lumMod val="65000"/>
                  </a:prstClr>
                </a:solidFill>
                <a:latin typeface="等线" panose="02010600030101010101" pitchFamily="2" charset="-122"/>
                <a:ea typeface="等线" panose="02010600030101010101" pitchFamily="2" charset="-122"/>
              </a:rPr>
              <a:pPr eaLnBrk="1" hangingPunct="1"/>
              <a:t>55</a:t>
            </a:fld>
            <a:endParaRPr lang="en-US" altLang="zh-CN" dirty="0">
              <a:solidFill>
                <a:prstClr val="white">
                  <a:lumMod val="65000"/>
                </a:prstClr>
              </a:solidFill>
              <a:latin typeface="等线" panose="02010600030101010101" pitchFamily="2" charset="-122"/>
              <a:ea typeface="等线" panose="02010600030101010101" pitchFamily="2" charset="-122"/>
            </a:endParaRPr>
          </a:p>
        </p:txBody>
      </p:sp>
      <p:sp>
        <p:nvSpPr>
          <p:cNvPr id="23556" name="Rectangle 2"/>
          <p:cNvSpPr>
            <a:spLocks noGrp="1" noChangeArrowheads="1"/>
          </p:cNvSpPr>
          <p:nvPr>
            <p:ph type="title"/>
          </p:nvPr>
        </p:nvSpPr>
        <p:spPr/>
        <p:txBody>
          <a:bodyPr/>
          <a:lstStyle/>
          <a:p>
            <a:pPr eaLnBrk="1" hangingPunct="1"/>
            <a:r>
              <a:rPr lang="en-US" altLang="zh-CN" dirty="0"/>
              <a:t>FTP</a:t>
            </a:r>
            <a:endParaRPr lang="zh-CN" altLang="en-US" dirty="0"/>
          </a:p>
        </p:txBody>
      </p:sp>
      <p:sp>
        <p:nvSpPr>
          <p:cNvPr id="23557" name="Rectangle 3"/>
          <p:cNvSpPr>
            <a:spLocks noGrp="1" noChangeArrowheads="1"/>
          </p:cNvSpPr>
          <p:nvPr>
            <p:ph type="body" idx="1"/>
          </p:nvPr>
        </p:nvSpPr>
        <p:spPr>
          <a:xfrm>
            <a:off x="640080" y="1498600"/>
            <a:ext cx="10789920" cy="4724400"/>
          </a:xfrm>
        </p:spPr>
        <p:txBody>
          <a:bodyPr>
            <a:normAutofit/>
          </a:bodyPr>
          <a:lstStyle/>
          <a:p>
            <a:pPr algn="just">
              <a:lnSpc>
                <a:spcPct val="130000"/>
              </a:lnSpc>
            </a:pPr>
            <a:r>
              <a:rPr lang="en-US" altLang="zh-CN" sz="2400" dirty="0"/>
              <a:t>FTP</a:t>
            </a:r>
            <a:r>
              <a:rPr lang="zh-CN" altLang="en-US" sz="2400" dirty="0"/>
              <a:t>使用</a:t>
            </a:r>
            <a:r>
              <a:rPr lang="en-US" altLang="zh-CN" sz="2400" dirty="0">
                <a:solidFill>
                  <a:srgbClr val="FF0000"/>
                </a:solidFill>
              </a:rPr>
              <a:t>C/S</a:t>
            </a:r>
            <a:r>
              <a:rPr lang="zh-CN" altLang="en-US" sz="2400" dirty="0">
                <a:solidFill>
                  <a:srgbClr val="FF0000"/>
                </a:solidFill>
              </a:rPr>
              <a:t>方式</a:t>
            </a:r>
            <a:r>
              <a:rPr lang="zh-CN" altLang="en-US" sz="2400" dirty="0"/>
              <a:t>实现</a:t>
            </a:r>
            <a:endParaRPr lang="en-US" altLang="zh-CN" sz="2400" dirty="0"/>
          </a:p>
          <a:p>
            <a:pPr algn="just">
              <a:lnSpc>
                <a:spcPct val="130000"/>
              </a:lnSpc>
            </a:pPr>
            <a:r>
              <a:rPr lang="en-US" altLang="zh-CN" sz="2400" dirty="0"/>
              <a:t>FTP</a:t>
            </a:r>
            <a:r>
              <a:rPr lang="zh-CN" altLang="en-US" sz="2400" dirty="0"/>
              <a:t>工作过程</a:t>
            </a:r>
            <a:endParaRPr lang="en-US" altLang="zh-CN" sz="2400" dirty="0"/>
          </a:p>
          <a:p>
            <a:pPr lvl="1" algn="just">
              <a:lnSpc>
                <a:spcPct val="130000"/>
              </a:lnSpc>
            </a:pPr>
            <a:r>
              <a:rPr lang="zh-CN" altLang="en-US" sz="2000" dirty="0">
                <a:solidFill>
                  <a:srgbClr val="FF0000"/>
                </a:solidFill>
              </a:rPr>
              <a:t>服务器主进程</a:t>
            </a:r>
            <a:r>
              <a:rPr lang="zh-CN" altLang="en-US" sz="2000" dirty="0"/>
              <a:t>打开</a:t>
            </a:r>
            <a:r>
              <a:rPr lang="en-US" altLang="zh-CN" sz="2000" dirty="0">
                <a:solidFill>
                  <a:srgbClr val="FF0000"/>
                </a:solidFill>
              </a:rPr>
              <a:t>TCP 21</a:t>
            </a:r>
            <a:r>
              <a:rPr lang="zh-CN" altLang="en-US" sz="2000" dirty="0">
                <a:solidFill>
                  <a:srgbClr val="FF0000"/>
                </a:solidFill>
              </a:rPr>
              <a:t>端口</a:t>
            </a:r>
            <a:r>
              <a:rPr lang="zh-CN" altLang="en-US" sz="2000" dirty="0"/>
              <a:t>，等待客户进程发出的连接请求</a:t>
            </a:r>
            <a:endParaRPr lang="en-US" altLang="zh-CN" sz="2000" dirty="0"/>
          </a:p>
          <a:p>
            <a:pPr lvl="1" algn="just">
              <a:lnSpc>
                <a:spcPct val="130000"/>
              </a:lnSpc>
            </a:pPr>
            <a:r>
              <a:rPr lang="zh-CN" altLang="en-US" sz="2000" dirty="0"/>
              <a:t>客户可以用分配的任意一个本地端口号与服务器进程的</a:t>
            </a:r>
            <a:r>
              <a:rPr lang="en-US" altLang="zh-CN" sz="2000" dirty="0"/>
              <a:t>TCP 21</a:t>
            </a:r>
            <a:r>
              <a:rPr lang="zh-CN" altLang="en-US" sz="2000" dirty="0"/>
              <a:t>端口进行连接 </a:t>
            </a:r>
          </a:p>
          <a:p>
            <a:pPr lvl="1" algn="just">
              <a:lnSpc>
                <a:spcPct val="130000"/>
              </a:lnSpc>
            </a:pPr>
            <a:r>
              <a:rPr lang="zh-CN" altLang="en-US" sz="2000" dirty="0"/>
              <a:t>客户请求到来时，服务器主进程启动</a:t>
            </a:r>
            <a:r>
              <a:rPr lang="zh-CN" altLang="en-US" sz="2000" dirty="0">
                <a:solidFill>
                  <a:srgbClr val="FF0000"/>
                </a:solidFill>
              </a:rPr>
              <a:t>从属进程</a:t>
            </a:r>
            <a:r>
              <a:rPr lang="zh-CN" altLang="en-US" sz="2000" dirty="0"/>
              <a:t>来处理客户进程发来的请求</a:t>
            </a:r>
            <a:endParaRPr lang="en-US" altLang="zh-CN" sz="2000" dirty="0"/>
          </a:p>
          <a:p>
            <a:pPr lvl="1" algn="just">
              <a:lnSpc>
                <a:spcPct val="130000"/>
              </a:lnSpc>
            </a:pPr>
            <a:r>
              <a:rPr lang="zh-CN" altLang="en-US" sz="2000" dirty="0"/>
              <a:t>服务器从属进程对客户进程的请求处理完毕后即终止，但从属进程在运行期间根据需要还可能创建其他子进程</a:t>
            </a:r>
          </a:p>
          <a:p>
            <a:pPr lvl="1" algn="just">
              <a:lnSpc>
                <a:spcPct val="130000"/>
              </a:lnSpc>
            </a:pPr>
            <a:r>
              <a:rPr lang="zh-CN" altLang="en-US" sz="2000" dirty="0"/>
              <a:t>服务器主进程返回，继续等待接收其他客户进程发来的连接请求，服务器主进程与从属进程并行工作</a:t>
            </a:r>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其它应用层协议</a:t>
            </a:r>
          </a:p>
        </p:txBody>
      </p:sp>
    </p:spTree>
    <p:extLst>
      <p:ext uri="{BB962C8B-B14F-4D97-AF65-F5344CB8AC3E}">
        <p14:creationId xmlns:p14="http://schemas.microsoft.com/office/powerpoint/2010/main" val="21863789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2800" dirty="0"/>
              <a:t>SNMP</a:t>
            </a:r>
            <a:r>
              <a:rPr lang="zh-CN" altLang="en-US" sz="2800" dirty="0"/>
              <a:t>（</a:t>
            </a:r>
            <a:r>
              <a:rPr lang="en-US" altLang="zh-CN" sz="2800" dirty="0"/>
              <a:t>Simple</a:t>
            </a:r>
            <a:r>
              <a:rPr lang="zh-CN" altLang="en-US" sz="2800" dirty="0"/>
              <a:t> </a:t>
            </a:r>
            <a:r>
              <a:rPr lang="en-US" altLang="zh-CN" sz="2800" dirty="0"/>
              <a:t>Network</a:t>
            </a:r>
            <a:r>
              <a:rPr lang="zh-CN" altLang="en-US" sz="2800" dirty="0"/>
              <a:t> </a:t>
            </a:r>
            <a:r>
              <a:rPr lang="en-US" altLang="zh-CN" sz="2800" dirty="0"/>
              <a:t>Management</a:t>
            </a:r>
            <a:r>
              <a:rPr lang="zh-CN" altLang="en-US" sz="2800" dirty="0"/>
              <a:t> </a:t>
            </a:r>
            <a:r>
              <a:rPr lang="en-US" altLang="zh-CN" sz="2800" dirty="0"/>
              <a:t>Protocol</a:t>
            </a:r>
            <a:r>
              <a:rPr lang="zh-CN" altLang="en-US" sz="2800" dirty="0"/>
              <a:t>）</a:t>
            </a:r>
          </a:p>
        </p:txBody>
      </p:sp>
      <p:sp>
        <p:nvSpPr>
          <p:cNvPr id="3" name="内容占位符 2"/>
          <p:cNvSpPr>
            <a:spLocks noGrp="1"/>
          </p:cNvSpPr>
          <p:nvPr>
            <p:ph idx="1"/>
          </p:nvPr>
        </p:nvSpPr>
        <p:spPr>
          <a:xfrm>
            <a:off x="838200" y="1510758"/>
            <a:ext cx="10515600" cy="4982116"/>
          </a:xfrm>
        </p:spPr>
        <p:txBody>
          <a:bodyPr>
            <a:normAutofit/>
          </a:bodyPr>
          <a:lstStyle/>
          <a:p>
            <a:pPr>
              <a:lnSpc>
                <a:spcPct val="110000"/>
              </a:lnSpc>
            </a:pPr>
            <a:r>
              <a:rPr lang="zh-CN" altLang="en-US" dirty="0"/>
              <a:t>网络管理的目的</a:t>
            </a:r>
            <a:endParaRPr lang="en-US" altLang="zh-CN" dirty="0"/>
          </a:p>
          <a:p>
            <a:pPr lvl="1">
              <a:lnSpc>
                <a:spcPct val="110000"/>
              </a:lnSpc>
            </a:pPr>
            <a:r>
              <a:rPr lang="zh-CN" altLang="en-US" dirty="0"/>
              <a:t>有效利用网络资源</a:t>
            </a:r>
            <a:endParaRPr lang="en-US" altLang="zh-CN" dirty="0"/>
          </a:p>
          <a:p>
            <a:pPr lvl="1">
              <a:lnSpc>
                <a:spcPct val="110000"/>
              </a:lnSpc>
            </a:pPr>
            <a:r>
              <a:rPr lang="zh-CN" altLang="en-US" dirty="0"/>
              <a:t>及时报告和处理网络故障</a:t>
            </a:r>
            <a:endParaRPr lang="en-US" altLang="zh-CN" dirty="0"/>
          </a:p>
          <a:p>
            <a:pPr lvl="1">
              <a:lnSpc>
                <a:spcPct val="110000"/>
              </a:lnSpc>
            </a:pPr>
            <a:r>
              <a:rPr lang="zh-CN" altLang="en-US" dirty="0"/>
              <a:t>保障网络正常、高效运行</a:t>
            </a:r>
            <a:endParaRPr lang="en-US" altLang="zh-CN" dirty="0"/>
          </a:p>
          <a:p>
            <a:pPr>
              <a:lnSpc>
                <a:spcPct val="110000"/>
              </a:lnSpc>
            </a:pPr>
            <a:r>
              <a:rPr lang="zh-CN" altLang="en-US" dirty="0"/>
              <a:t>网络管理的功能</a:t>
            </a:r>
            <a:endParaRPr lang="en-US" altLang="zh-CN" dirty="0"/>
          </a:p>
          <a:p>
            <a:pPr lvl="1">
              <a:lnSpc>
                <a:spcPct val="110000"/>
              </a:lnSpc>
            </a:pPr>
            <a:r>
              <a:rPr lang="zh-CN" altLang="en-US" dirty="0"/>
              <a:t>配置管理（</a:t>
            </a:r>
            <a:r>
              <a:rPr lang="en-US" altLang="zh-CN" dirty="0"/>
              <a:t>Configuration Management</a:t>
            </a:r>
            <a:r>
              <a:rPr lang="zh-CN" altLang="en-US" dirty="0"/>
              <a:t>）</a:t>
            </a:r>
            <a:endParaRPr lang="en-US" altLang="zh-CN" dirty="0"/>
          </a:p>
          <a:p>
            <a:pPr lvl="1">
              <a:lnSpc>
                <a:spcPct val="110000"/>
              </a:lnSpc>
            </a:pPr>
            <a:r>
              <a:rPr lang="zh-CN" altLang="en-US" dirty="0"/>
              <a:t>故障管理（</a:t>
            </a:r>
            <a:r>
              <a:rPr lang="en-US" altLang="zh-CN" dirty="0"/>
              <a:t>Fault Management</a:t>
            </a:r>
            <a:r>
              <a:rPr lang="zh-CN" altLang="en-US" dirty="0"/>
              <a:t>）</a:t>
            </a:r>
            <a:endParaRPr lang="en-US" altLang="zh-CN" dirty="0"/>
          </a:p>
          <a:p>
            <a:pPr lvl="1">
              <a:lnSpc>
                <a:spcPct val="110000"/>
              </a:lnSpc>
            </a:pPr>
            <a:r>
              <a:rPr lang="zh-CN" altLang="en-US" dirty="0"/>
              <a:t>性能管理（</a:t>
            </a:r>
            <a:r>
              <a:rPr lang="en-US" altLang="zh-CN" dirty="0"/>
              <a:t>Performance Management</a:t>
            </a:r>
            <a:r>
              <a:rPr lang="zh-CN" altLang="en-US" dirty="0"/>
              <a:t>）</a:t>
            </a:r>
            <a:endParaRPr lang="en-US" altLang="zh-CN" dirty="0"/>
          </a:p>
          <a:p>
            <a:pPr lvl="1">
              <a:lnSpc>
                <a:spcPct val="110000"/>
              </a:lnSpc>
            </a:pPr>
            <a:r>
              <a:rPr lang="zh-CN" altLang="en-US" dirty="0"/>
              <a:t>计费管理（</a:t>
            </a:r>
            <a:r>
              <a:rPr lang="en-US" altLang="zh-CN" dirty="0"/>
              <a:t>Accounting Management</a:t>
            </a:r>
            <a:r>
              <a:rPr lang="zh-CN" altLang="en-US" dirty="0"/>
              <a:t>）</a:t>
            </a:r>
            <a:endParaRPr lang="en-US" altLang="zh-CN" dirty="0"/>
          </a:p>
          <a:p>
            <a:pPr lvl="1">
              <a:lnSpc>
                <a:spcPct val="110000"/>
              </a:lnSpc>
            </a:pPr>
            <a:r>
              <a:rPr lang="zh-CN" altLang="en-US" dirty="0"/>
              <a:t>安全管理（</a:t>
            </a:r>
            <a:r>
              <a:rPr lang="en-US" altLang="zh-CN" dirty="0"/>
              <a:t>Security Management</a:t>
            </a:r>
            <a:r>
              <a:rPr lang="zh-CN" altLang="en-US" dirty="0"/>
              <a:t>）</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其它应用层协议</a:t>
            </a:r>
          </a:p>
        </p:txBody>
      </p:sp>
      <p:pic>
        <p:nvPicPr>
          <p:cNvPr id="4" name="图片 3"/>
          <p:cNvPicPr>
            <a:picLocks noChangeAspect="1"/>
          </p:cNvPicPr>
          <p:nvPr/>
        </p:nvPicPr>
        <p:blipFill>
          <a:blip r:embed="rId2"/>
          <a:stretch>
            <a:fillRect/>
          </a:stretch>
        </p:blipFill>
        <p:spPr>
          <a:xfrm>
            <a:off x="7637173" y="2186033"/>
            <a:ext cx="4042968" cy="3318926"/>
          </a:xfrm>
          <a:prstGeom prst="rect">
            <a:avLst/>
          </a:prstGeom>
        </p:spPr>
      </p:pic>
    </p:spTree>
    <p:extLst>
      <p:ext uri="{BB962C8B-B14F-4D97-AF65-F5344CB8AC3E}">
        <p14:creationId xmlns:p14="http://schemas.microsoft.com/office/powerpoint/2010/main" val="11182585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838200" y="1510758"/>
            <a:ext cx="10515600" cy="4982116"/>
          </a:xfrm>
        </p:spPr>
        <p:txBody>
          <a:bodyPr>
            <a:normAutofit fontScale="92500" lnSpcReduction="10000"/>
          </a:bodyPr>
          <a:lstStyle/>
          <a:p>
            <a:pPr>
              <a:lnSpc>
                <a:spcPct val="130000"/>
              </a:lnSpc>
            </a:pPr>
            <a:r>
              <a:rPr lang="en-US" altLang="zh-CN" dirty="0"/>
              <a:t>SNMP</a:t>
            </a:r>
            <a:r>
              <a:rPr lang="zh-CN" altLang="en-US" dirty="0"/>
              <a:t>概述</a:t>
            </a:r>
            <a:endParaRPr lang="en-US" altLang="zh-CN" dirty="0"/>
          </a:p>
          <a:p>
            <a:pPr lvl="1">
              <a:lnSpc>
                <a:spcPct val="130000"/>
              </a:lnSpc>
            </a:pPr>
            <a:r>
              <a:rPr lang="zh-CN" altLang="en-US" dirty="0"/>
              <a:t>指导思想</a:t>
            </a:r>
            <a:endParaRPr lang="en-US" altLang="zh-CN" dirty="0"/>
          </a:p>
          <a:p>
            <a:pPr lvl="2">
              <a:lnSpc>
                <a:spcPct val="130000"/>
              </a:lnSpc>
            </a:pPr>
            <a:r>
              <a:rPr lang="zh-CN" altLang="en-US" dirty="0">
                <a:solidFill>
                  <a:srgbClr val="FF0000"/>
                </a:solidFill>
              </a:rPr>
              <a:t>尽可能简单</a:t>
            </a:r>
            <a:r>
              <a:rPr lang="zh-CN" altLang="en-US" dirty="0"/>
              <a:t>：用简单的系统结构和协议来解决复杂的网络管理问题</a:t>
            </a:r>
            <a:endParaRPr lang="en-US" altLang="zh-CN" dirty="0"/>
          </a:p>
          <a:p>
            <a:pPr lvl="3">
              <a:lnSpc>
                <a:spcPct val="130000"/>
              </a:lnSpc>
            </a:pPr>
            <a:r>
              <a:rPr lang="zh-CN" altLang="en-US" dirty="0"/>
              <a:t>协议交互过程简单，仅有</a:t>
            </a:r>
            <a:r>
              <a:rPr lang="en-US" altLang="zh-CN" dirty="0"/>
              <a:t>4</a:t>
            </a:r>
            <a:r>
              <a:rPr lang="zh-CN" altLang="en-US" dirty="0"/>
              <a:t>类操作对网络进行管理</a:t>
            </a:r>
            <a:endParaRPr lang="en-US" altLang="zh-CN" dirty="0"/>
          </a:p>
          <a:p>
            <a:pPr lvl="3">
              <a:lnSpc>
                <a:spcPct val="130000"/>
              </a:lnSpc>
            </a:pPr>
            <a:r>
              <a:rPr lang="zh-CN" altLang="en-US" dirty="0"/>
              <a:t>使用</a:t>
            </a:r>
            <a:r>
              <a:rPr lang="en-US" altLang="zh-CN" dirty="0">
                <a:solidFill>
                  <a:srgbClr val="FF0000"/>
                </a:solidFill>
              </a:rPr>
              <a:t>UDP</a:t>
            </a:r>
            <a:r>
              <a:rPr lang="zh-CN" altLang="en-US" dirty="0">
                <a:solidFill>
                  <a:srgbClr val="FF0000"/>
                </a:solidFill>
              </a:rPr>
              <a:t>协议</a:t>
            </a:r>
            <a:r>
              <a:rPr lang="zh-CN" altLang="en-US" dirty="0"/>
              <a:t>，以简化设计和降低通信开销</a:t>
            </a:r>
            <a:endParaRPr lang="en-US" altLang="zh-CN" dirty="0"/>
          </a:p>
          <a:p>
            <a:pPr lvl="2">
              <a:lnSpc>
                <a:spcPct val="130000"/>
              </a:lnSpc>
            </a:pPr>
            <a:r>
              <a:rPr lang="zh-CN" altLang="en-US" dirty="0">
                <a:solidFill>
                  <a:srgbClr val="FF0000"/>
                </a:solidFill>
              </a:rPr>
              <a:t>影响尽量小</a:t>
            </a:r>
            <a:r>
              <a:rPr lang="zh-CN" altLang="en-US" dirty="0"/>
              <a:t>：网络中任何软硬件的增减对原有管理对象的影响尽量小</a:t>
            </a:r>
            <a:endParaRPr lang="en-US" altLang="zh-CN" dirty="0"/>
          </a:p>
          <a:p>
            <a:pPr lvl="1">
              <a:lnSpc>
                <a:spcPct val="130000"/>
              </a:lnSpc>
            </a:pPr>
            <a:r>
              <a:rPr lang="zh-CN" altLang="en-US" dirty="0"/>
              <a:t>版本变迁</a:t>
            </a:r>
            <a:endParaRPr lang="en-US" altLang="zh-CN" dirty="0"/>
          </a:p>
          <a:p>
            <a:pPr lvl="2">
              <a:lnSpc>
                <a:spcPct val="130000"/>
              </a:lnSpc>
            </a:pPr>
            <a:r>
              <a:rPr lang="en-US" altLang="zh-CN" dirty="0"/>
              <a:t>SNMPv1</a:t>
            </a:r>
            <a:r>
              <a:rPr lang="zh-CN" altLang="en-US" dirty="0"/>
              <a:t>：</a:t>
            </a:r>
            <a:r>
              <a:rPr lang="en-US" altLang="zh-CN" dirty="0"/>
              <a:t>RFC 1067(1988)</a:t>
            </a:r>
            <a:r>
              <a:rPr lang="zh-CN" altLang="en-US" dirty="0"/>
              <a:t>、</a:t>
            </a:r>
            <a:r>
              <a:rPr lang="en-US" altLang="zh-CN" dirty="0"/>
              <a:t>RFC 1098(1989)</a:t>
            </a:r>
            <a:r>
              <a:rPr lang="zh-CN" altLang="en-US" dirty="0"/>
              <a:t>、</a:t>
            </a:r>
            <a:r>
              <a:rPr lang="en-US" altLang="zh-CN" dirty="0"/>
              <a:t>RFC 1155~1157(1990)</a:t>
            </a:r>
          </a:p>
          <a:p>
            <a:pPr lvl="2">
              <a:lnSpc>
                <a:spcPct val="130000"/>
              </a:lnSpc>
            </a:pPr>
            <a:r>
              <a:rPr lang="en-US" altLang="zh-CN" dirty="0" err="1"/>
              <a:t>SNMPsec</a:t>
            </a:r>
            <a:r>
              <a:rPr lang="zh-CN" altLang="en-US" dirty="0"/>
              <a:t>：</a:t>
            </a:r>
            <a:r>
              <a:rPr lang="en-US" altLang="zh-CN" dirty="0"/>
              <a:t>RFC 1351~1353(1992)</a:t>
            </a:r>
          </a:p>
          <a:p>
            <a:pPr lvl="2">
              <a:lnSpc>
                <a:spcPct val="130000"/>
              </a:lnSpc>
            </a:pPr>
            <a:r>
              <a:rPr lang="en-US" altLang="zh-CN" dirty="0"/>
              <a:t>SNMPv2</a:t>
            </a:r>
            <a:r>
              <a:rPr lang="zh-CN" altLang="en-US" dirty="0"/>
              <a:t>：</a:t>
            </a:r>
            <a:r>
              <a:rPr lang="en-US" altLang="zh-CN" dirty="0"/>
              <a:t>RFC 1441~1445(1993)</a:t>
            </a:r>
          </a:p>
          <a:p>
            <a:pPr lvl="2">
              <a:lnSpc>
                <a:spcPct val="130000"/>
              </a:lnSpc>
            </a:pPr>
            <a:r>
              <a:rPr lang="en-US" altLang="zh-CN" dirty="0">
                <a:solidFill>
                  <a:srgbClr val="FF0000"/>
                </a:solidFill>
              </a:rPr>
              <a:t>SNMPv3</a:t>
            </a:r>
            <a:r>
              <a:rPr lang="zh-CN" altLang="en-US" dirty="0"/>
              <a:t>：</a:t>
            </a:r>
            <a:r>
              <a:rPr lang="en-US" altLang="zh-CN" dirty="0"/>
              <a:t>RFC 3410~3418(2002)</a:t>
            </a:r>
            <a:r>
              <a:rPr lang="zh-CN" altLang="en-US" dirty="0"/>
              <a:t>，安全性和可管理性大为提高</a:t>
            </a:r>
            <a:endParaRPr lang="en-US" altLang="zh-CN" dirty="0"/>
          </a:p>
          <a:p>
            <a:pPr lvl="1">
              <a:lnSpc>
                <a:spcPct val="130000"/>
              </a:lnSpc>
            </a:pP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57</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其它应用层协议</a:t>
            </a:r>
          </a:p>
        </p:txBody>
      </p:sp>
    </p:spTree>
    <p:extLst>
      <p:ext uri="{BB962C8B-B14F-4D97-AF65-F5344CB8AC3E}">
        <p14:creationId xmlns:p14="http://schemas.microsoft.com/office/powerpoint/2010/main" val="11945975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838200" y="1510758"/>
            <a:ext cx="10515600" cy="4982116"/>
          </a:xfrm>
        </p:spPr>
        <p:txBody>
          <a:bodyPr>
            <a:noAutofit/>
          </a:bodyPr>
          <a:lstStyle/>
          <a:p>
            <a:pPr algn="just">
              <a:lnSpc>
                <a:spcPct val="120000"/>
              </a:lnSpc>
            </a:pPr>
            <a:r>
              <a:rPr lang="en-US" altLang="zh-CN" dirty="0"/>
              <a:t>SNMP</a:t>
            </a:r>
            <a:r>
              <a:rPr lang="zh-CN" altLang="en-US" dirty="0"/>
              <a:t>协议实现</a:t>
            </a:r>
            <a:endParaRPr lang="en-US" altLang="zh-CN" dirty="0"/>
          </a:p>
          <a:p>
            <a:pPr lvl="1" algn="just">
              <a:lnSpc>
                <a:spcPct val="120000"/>
              </a:lnSpc>
            </a:pPr>
            <a:r>
              <a:rPr lang="en-US" altLang="zh-CN" dirty="0"/>
              <a:t>SNMP</a:t>
            </a:r>
            <a:r>
              <a:rPr lang="zh-CN" altLang="en-US" dirty="0"/>
              <a:t>使用无连接的</a:t>
            </a:r>
            <a:r>
              <a:rPr lang="en-US" altLang="zh-CN" dirty="0">
                <a:solidFill>
                  <a:srgbClr val="FF0000"/>
                </a:solidFill>
              </a:rPr>
              <a:t>UDP</a:t>
            </a:r>
            <a:r>
              <a:rPr lang="zh-CN" altLang="en-US" dirty="0">
                <a:solidFill>
                  <a:srgbClr val="FF0000"/>
                </a:solidFill>
              </a:rPr>
              <a:t>协议</a:t>
            </a:r>
            <a:r>
              <a:rPr lang="zh-CN" altLang="en-US" dirty="0"/>
              <a:t>实现</a:t>
            </a:r>
          </a:p>
          <a:p>
            <a:pPr lvl="1" algn="just">
              <a:lnSpc>
                <a:spcPct val="120000"/>
              </a:lnSpc>
            </a:pPr>
            <a:r>
              <a:rPr lang="en-US" altLang="zh-CN" dirty="0"/>
              <a:t>SNMP</a:t>
            </a:r>
            <a:r>
              <a:rPr lang="zh-CN" altLang="en-US" dirty="0"/>
              <a:t>使用</a:t>
            </a:r>
            <a:r>
              <a:rPr lang="en-US" altLang="zh-CN" dirty="0">
                <a:solidFill>
                  <a:srgbClr val="FF0000"/>
                </a:solidFill>
              </a:rPr>
              <a:t>C/S</a:t>
            </a:r>
            <a:r>
              <a:rPr lang="zh-CN" altLang="en-US" dirty="0">
                <a:solidFill>
                  <a:srgbClr val="FF0000"/>
                </a:solidFill>
              </a:rPr>
              <a:t>方式</a:t>
            </a:r>
            <a:r>
              <a:rPr lang="zh-CN" altLang="en-US" dirty="0"/>
              <a:t>实现</a:t>
            </a:r>
            <a:endParaRPr lang="en-US" altLang="zh-CN" dirty="0"/>
          </a:p>
          <a:p>
            <a:pPr algn="just">
              <a:lnSpc>
                <a:spcPct val="120000"/>
              </a:lnSpc>
            </a:pPr>
            <a:r>
              <a:rPr lang="en-US" altLang="zh-CN" dirty="0"/>
              <a:t>SNMP</a:t>
            </a:r>
            <a:r>
              <a:rPr lang="zh-CN" altLang="en-US" dirty="0"/>
              <a:t>是有效的网络管理协议</a:t>
            </a:r>
            <a:endParaRPr lang="en-US" altLang="zh-CN" dirty="0"/>
          </a:p>
          <a:p>
            <a:pPr lvl="1" algn="just">
              <a:lnSpc>
                <a:spcPct val="120000"/>
              </a:lnSpc>
            </a:pPr>
            <a:r>
              <a:rPr lang="zh-CN" altLang="en-US" dirty="0"/>
              <a:t>使用周期性轮询方式实现对网络资源的实时监控与管理</a:t>
            </a:r>
            <a:endParaRPr lang="en-US" altLang="zh-CN"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等线" panose="02010600030101010101" pitchFamily="2" charset="-122"/>
                <a:ea typeface="等线" panose="02010600030101010101" pitchFamily="2" charset="-122"/>
                <a:cs typeface="+mn-cs"/>
              </a:rPr>
              <a:t>其它应用层协议</a:t>
            </a:r>
          </a:p>
        </p:txBody>
      </p:sp>
    </p:spTree>
    <p:extLst>
      <p:ext uri="{BB962C8B-B14F-4D97-AF65-F5344CB8AC3E}">
        <p14:creationId xmlns:p14="http://schemas.microsoft.com/office/powerpoint/2010/main" val="16952233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本章目标</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514350" indent="-514350" algn="just">
              <a:lnSpc>
                <a:spcPct val="120000"/>
              </a:lnSpc>
              <a:buFont typeface="+mj-lt"/>
              <a:buAutoNum type="arabicPeriod"/>
            </a:pPr>
            <a:r>
              <a:rPr kumimoji="1" lang="zh-CN" altLang="en-US" dirty="0"/>
              <a:t>掌握应用进程通信方式以及服务进程工作模式</a:t>
            </a:r>
          </a:p>
          <a:p>
            <a:pPr marL="514350" indent="-514350" algn="just">
              <a:lnSpc>
                <a:spcPct val="120000"/>
              </a:lnSpc>
              <a:buFont typeface="+mj-lt"/>
              <a:buAutoNum type="arabicPeriod"/>
            </a:pPr>
            <a:r>
              <a:rPr kumimoji="1" lang="zh-CN" altLang="en-US" dirty="0"/>
              <a:t>掌握域名系统基本原理和工作机制</a:t>
            </a:r>
            <a:endParaRPr kumimoji="1" lang="en-US" altLang="zh-CN" dirty="0"/>
          </a:p>
          <a:p>
            <a:pPr marL="514350" indent="-514350" algn="just">
              <a:lnSpc>
                <a:spcPct val="120000"/>
              </a:lnSpc>
              <a:buFont typeface="+mj-lt"/>
              <a:buAutoNum type="arabicPeriod"/>
            </a:pPr>
            <a:r>
              <a:rPr kumimoji="1" lang="zh-CN" altLang="en-US" dirty="0"/>
              <a:t>掌握电子邮件系统体系结构及基本工作原理</a:t>
            </a:r>
          </a:p>
          <a:p>
            <a:pPr marL="514350" indent="-514350" algn="just">
              <a:lnSpc>
                <a:spcPct val="120000"/>
              </a:lnSpc>
              <a:buFont typeface="+mj-lt"/>
              <a:buAutoNum type="arabicPeriod"/>
            </a:pPr>
            <a:r>
              <a:rPr kumimoji="1" lang="zh-CN" altLang="en-US" dirty="0"/>
              <a:t>掌握</a:t>
            </a:r>
            <a:r>
              <a:rPr kumimoji="1" lang="en-US" altLang="zh-CN" dirty="0"/>
              <a:t>Telnet</a:t>
            </a:r>
            <a:r>
              <a:rPr kumimoji="1" lang="zh-CN" altLang="en-US" dirty="0"/>
              <a:t>、</a:t>
            </a:r>
            <a:r>
              <a:rPr kumimoji="1" lang="en-US" altLang="zh-CN" dirty="0"/>
              <a:t>FTP</a:t>
            </a:r>
            <a:r>
              <a:rPr kumimoji="1" lang="zh-CN" altLang="en-US" dirty="0"/>
              <a:t>、</a:t>
            </a:r>
            <a:r>
              <a:rPr kumimoji="1" lang="en-US" altLang="zh-CN" dirty="0"/>
              <a:t>SNMP</a:t>
            </a:r>
            <a:r>
              <a:rPr kumimoji="1" lang="zh-CN" altLang="en-US" dirty="0"/>
              <a:t>等应用层协议的工作原理</a:t>
            </a:r>
          </a:p>
        </p:txBody>
      </p:sp>
      <p:sp>
        <p:nvSpPr>
          <p:cNvPr id="10" name="灯片编号占位符 9">
            <a:extLst>
              <a:ext uri="{FF2B5EF4-FFF2-40B4-BE49-F238E27FC236}">
                <a16:creationId xmlns:a16="http://schemas.microsoft.com/office/drawing/2014/main" id="{E4DA8857-A0B9-004B-97F3-80764C9D31C3}"/>
              </a:ext>
            </a:extLst>
          </p:cNvPr>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Tree>
    <p:extLst>
      <p:ext uri="{BB962C8B-B14F-4D97-AF65-F5344CB8AC3E}">
        <p14:creationId xmlns:p14="http://schemas.microsoft.com/office/powerpoint/2010/main" val="33894171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93A9B2-BFF3-304A-8C09-119AC662E237}"/>
              </a:ext>
            </a:extLst>
          </p:cNvPr>
          <p:cNvSpPr>
            <a:spLocks noGrp="1"/>
          </p:cNvSpPr>
          <p:nvPr>
            <p:ph type="ctrTitle"/>
          </p:nvPr>
        </p:nvSpPr>
        <p:spPr/>
        <p:txBody>
          <a:bodyPr/>
          <a:lstStyle/>
          <a:p>
            <a:r>
              <a:rPr lang="en-US" dirty="0">
                <a:latin typeface="DengXian" panose="02010600030101010101" pitchFamily="2" charset="-122"/>
                <a:ea typeface="DengXian" panose="02010600030101010101" pitchFamily="2" charset="-122"/>
              </a:rPr>
              <a:t>谢谢</a:t>
            </a:r>
            <a:r>
              <a:rPr lang="zh-CN" altLang="en-US" dirty="0">
                <a:latin typeface="DengXian" panose="02010600030101010101" pitchFamily="2" charset="-122"/>
                <a:ea typeface="DengXian" panose="02010600030101010101" pitchFamily="2" charset="-122"/>
              </a:rPr>
              <a:t>！</a:t>
            </a:r>
            <a:endParaRPr lang="en-CN" dirty="0">
              <a:latin typeface="DengXian" panose="02010600030101010101" pitchFamily="2" charset="-122"/>
              <a:ea typeface="DengXian" panose="02010600030101010101" pitchFamily="2" charset="-122"/>
            </a:endParaRPr>
          </a:p>
        </p:txBody>
      </p:sp>
      <p:sp>
        <p:nvSpPr>
          <p:cNvPr id="6" name="Slide Number Placeholder 5">
            <a:extLst>
              <a:ext uri="{FF2B5EF4-FFF2-40B4-BE49-F238E27FC236}">
                <a16:creationId xmlns:a16="http://schemas.microsoft.com/office/drawing/2014/main" id="{6626BC40-8DEE-954E-8114-C66F0900E908}"/>
              </a:ext>
            </a:extLst>
          </p:cNvPr>
          <p:cNvSpPr>
            <a:spLocks noGrp="1"/>
          </p:cNvSpPr>
          <p:nvPr>
            <p:ph type="sldNum" sz="quarter" idx="4294967295"/>
          </p:nvPr>
        </p:nvSpPr>
        <p:spPr>
          <a:xfrm>
            <a:off x="8872538" y="6489700"/>
            <a:ext cx="3319462" cy="365125"/>
          </a:xfrm>
        </p:spPr>
        <p:txBody>
          <a:bodyPr/>
          <a:lstStyle/>
          <a:p>
            <a:fld id="{8D4D1E41-7A09-AB4A-A4E1-09765ADA2698}" type="slidenum">
              <a:rPr kumimoji="1" lang="zh-CN" altLang="en-US" smtClean="0"/>
              <a:t>60</a:t>
            </a:fld>
            <a:endParaRPr kumimoji="1" lang="zh-CN" altLang="en-US" dirty="0"/>
          </a:p>
        </p:txBody>
      </p:sp>
    </p:spTree>
    <p:extLst>
      <p:ext uri="{BB962C8B-B14F-4D97-AF65-F5344CB8AC3E}">
        <p14:creationId xmlns:p14="http://schemas.microsoft.com/office/powerpoint/2010/main" val="40442804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2"/>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834.6992125984252,&quot;width&quot;:3170.9212598425197}"/>
</p:tagLst>
</file>

<file path=ppt/tags/tag3.xml><?xml version="1.0" encoding="utf-8"?>
<p:tagLst xmlns:a="http://schemas.openxmlformats.org/drawingml/2006/main" xmlns:r="http://schemas.openxmlformats.org/officeDocument/2006/relationships" xmlns:p="http://schemas.openxmlformats.org/presentationml/2006/main">
  <p:tag name="TIMING" val="|101.5"/>
</p:tagLst>
</file>

<file path=ppt/tags/tag4.xml><?xml version="1.0" encoding="utf-8"?>
<p:tagLst xmlns:a="http://schemas.openxmlformats.org/drawingml/2006/main" xmlns:r="http://schemas.openxmlformats.org/officeDocument/2006/relationships" xmlns:p="http://schemas.openxmlformats.org/presentationml/2006/main">
  <p:tag name="TIMING" val="|70.1"/>
</p:tagLst>
</file>

<file path=ppt/tags/tag5.xml><?xml version="1.0" encoding="utf-8"?>
<p:tagLst xmlns:a="http://schemas.openxmlformats.org/drawingml/2006/main" xmlns:r="http://schemas.openxmlformats.org/officeDocument/2006/relationships" xmlns:p="http://schemas.openxmlformats.org/presentationml/2006/main">
  <p:tag name="TIMING" val="|46.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16588</TotalTime>
  <Words>5336</Words>
  <Application>Microsoft Office PowerPoint</Application>
  <PresentationFormat>宽屏</PresentationFormat>
  <Paragraphs>847</Paragraphs>
  <Slides>60</Slides>
  <Notes>40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60</vt:i4>
      </vt:variant>
    </vt:vector>
  </HeadingPairs>
  <TitlesOfParts>
    <vt:vector size="72" baseType="lpstr">
      <vt:lpstr>ZapfDingbats</vt:lpstr>
      <vt:lpstr>等线</vt:lpstr>
      <vt:lpstr>等线</vt:lpstr>
      <vt:lpstr>黑体</vt:lpstr>
      <vt:lpstr>黑体</vt:lpstr>
      <vt:lpstr>宋体</vt:lpstr>
      <vt:lpstr>微软雅黑</vt:lpstr>
      <vt:lpstr>Arial</vt:lpstr>
      <vt:lpstr>Gill Sans MT</vt:lpstr>
      <vt:lpstr>Times New Roman</vt:lpstr>
      <vt:lpstr>Wingdings</vt:lpstr>
      <vt:lpstr>Office 主题​​</vt:lpstr>
      <vt:lpstr>第七章 应用层</vt:lpstr>
      <vt:lpstr>本章目标</vt:lpstr>
      <vt:lpstr>本章内容</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服务器进程工作方式</vt:lpstr>
      <vt:lpstr>服务器进程工作方式</vt:lpstr>
      <vt:lpstr>服务器进程工作方式</vt:lpstr>
      <vt:lpstr>服务器进程工作方式</vt:lpstr>
      <vt:lpstr>服务器进程工作方式</vt:lpstr>
      <vt:lpstr>本章内容</vt:lpstr>
      <vt:lpstr>历史与概述</vt:lpstr>
      <vt:lpstr>历史与概述</vt:lpstr>
      <vt:lpstr>域名系统名字空间和层次结构</vt:lpstr>
      <vt:lpstr>域名系统名字空间和层次结构</vt:lpstr>
      <vt:lpstr>域名系统名字空间和层次结构</vt:lpstr>
      <vt:lpstr>域名系统名字空间和层次结构</vt:lpstr>
      <vt:lpstr>域名服务器</vt:lpstr>
      <vt:lpstr>域名服务器</vt:lpstr>
      <vt:lpstr>域名服务器</vt:lpstr>
      <vt:lpstr>域名服务器</vt:lpstr>
      <vt:lpstr>域名服务器</vt:lpstr>
      <vt:lpstr>域名服务器</vt:lpstr>
      <vt:lpstr>域名服务器</vt:lpstr>
      <vt:lpstr>域名服务器</vt:lpstr>
      <vt:lpstr>域名服务器</vt:lpstr>
      <vt:lpstr>域名服务器</vt:lpstr>
      <vt:lpstr>域名服务器</vt:lpstr>
      <vt:lpstr>域名服务器</vt:lpstr>
      <vt:lpstr>域名解析过程</vt:lpstr>
      <vt:lpstr>域名解析过程</vt:lpstr>
      <vt:lpstr>域名解析过程</vt:lpstr>
      <vt:lpstr>本章内容</vt:lpstr>
      <vt:lpstr>电子邮件概述</vt:lpstr>
      <vt:lpstr>电子邮件系统体系结构</vt:lpstr>
      <vt:lpstr>电子邮件系统体系结构</vt:lpstr>
      <vt:lpstr>用户代理</vt:lpstr>
      <vt:lpstr>邮件传输</vt:lpstr>
      <vt:lpstr>场景: Alice发送邮件给Bob </vt:lpstr>
      <vt:lpstr>POP3协议</vt:lpstr>
      <vt:lpstr>IMAP</vt:lpstr>
      <vt:lpstr>IMAP特性</vt:lpstr>
      <vt:lpstr>目  录</vt:lpstr>
      <vt:lpstr>Telnet</vt:lpstr>
      <vt:lpstr>FTP</vt:lpstr>
      <vt:lpstr>FTP</vt:lpstr>
      <vt:lpstr>SNMP（Simple Network Management Protocol）</vt:lpstr>
      <vt:lpstr>SNMP</vt:lpstr>
      <vt:lpstr>SNMP</vt:lpstr>
      <vt:lpstr>本章目标</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文蔚 辜</cp:lastModifiedBy>
  <cp:revision>977</cp:revision>
  <dcterms:created xsi:type="dcterms:W3CDTF">2021-01-06T05:35:51Z</dcterms:created>
  <dcterms:modified xsi:type="dcterms:W3CDTF">2025-11-16T16:59:07Z</dcterms:modified>
</cp:coreProperties>
</file>