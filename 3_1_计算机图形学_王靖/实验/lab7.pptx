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64" r:id="rId6"/>
    <p:sldId id="262" r:id="rId7"/>
    <p:sldId id="260" r:id="rId8"/>
    <p:sldId id="261" r:id="rId9"/>
    <p:sldId id="259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51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C9BD03-27C0-1482-F972-8F36E0C063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281421D-2DE0-1767-1D3B-1CDC4914C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129A73-5DDC-479F-CD68-63646141F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165CF-E651-42F2-A5B6-D3BDC3EAA8A5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398C05-B9CC-BA2A-7FFD-ECA51CD50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D2FD80-72FA-A103-5C93-D6183AED5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6FD07-25C8-44AB-98D5-5136C64ACC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0732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5DB87B-4ABB-B412-A09D-1F0C6063A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EDADC0-8F24-397E-9260-79EC54CA74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3E84CF-B28F-7BCE-1A77-ABA37A5E9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165CF-E651-42F2-A5B6-D3BDC3EAA8A5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3094C6-2B1F-D52B-994B-8C7DA8796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745476-5638-79B5-DD93-879D336B2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6FD07-25C8-44AB-98D5-5136C64ACC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3390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8B9056-261E-92F5-63A2-E972E5DE8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BFE1850-87F9-6DF1-85E2-99C27BEDC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C0E0B8-38A5-0211-8EB2-7FF6275BC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165CF-E651-42F2-A5B6-D3BDC3EAA8A5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DC1089-7251-54F8-16BB-422400DA9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450A62-8576-9C6A-B74E-6F3FCEEFF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6FD07-25C8-44AB-98D5-5136C64ACC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8896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63FE2D-D514-2D29-4496-D7249D12B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A467E9-FC43-158B-5577-4192486068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F15160B-4ACB-7D26-3635-1E8D7FA8BB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D2BBBBB-B456-8ED9-78B4-C28A8A603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165CF-E651-42F2-A5B6-D3BDC3EAA8A5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099C266-63F9-C5DB-300B-13DA359B5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D8383D8-F728-2451-65F6-D16D5D06C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6FD07-25C8-44AB-98D5-5136C64ACC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14395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DC6D7C-76CF-3CB4-7057-84828B29C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E43512A-2CF8-36F3-12FC-4489EB5523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7C11970-A90C-DBF5-76D7-DB077ED85E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D7F13E3-96AE-0A0F-51E1-3516AC7709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B17107D-F2B8-7A88-BD31-8463080A14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1A9346E-A811-6612-EFCE-DF299B939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165CF-E651-42F2-A5B6-D3BDC3EAA8A5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9DF1450-5FDA-33B0-729C-16427A0EC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D7D7D99-5B8C-2C27-41A0-2D2BE0055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6FD07-25C8-44AB-98D5-5136C64ACC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8227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059213-C688-D64A-7C00-9CE39E190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788B980-1539-A5BD-4F6B-C0ED66819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165CF-E651-42F2-A5B6-D3BDC3EAA8A5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8BFBD4E-D8BB-E52D-9F74-A2D47D5D4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F9899D6-5259-2AD7-D6FE-9EBFE35A8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6FD07-25C8-44AB-98D5-5136C64ACC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6798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3AE18D8-6854-8419-79AC-8571B36EB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165CF-E651-42F2-A5B6-D3BDC3EAA8A5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1A2BE31-31A1-904A-897A-C672CB7EE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EDAB80-6A1E-3B0E-81AA-AE22A0662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6FD07-25C8-44AB-98D5-5136C64ACC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2126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FC88D0-D602-1BD7-492E-944E29BE6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AA83F1-04EC-F6AE-1E19-9FA31D324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041BDCB-C926-F972-F8FA-4CBCEC6AE8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16D81FC-B6B4-6C21-E5C0-CBC0A6202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165CF-E651-42F2-A5B6-D3BDC3EAA8A5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571800D-0CF1-9665-DBE9-545EA06DE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EF6005B-97A6-5350-CDF8-A73ED62CE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6FD07-25C8-44AB-98D5-5136C64ACC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3088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E99B5C-48EE-0082-8919-C22B00825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8C063E3-480A-78C4-3C3B-96E43C0B3C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907DB2A-EBCD-464A-C740-AA71945B93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A65EFD3-0C97-9DC4-F9EF-4C720F4CD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165CF-E651-42F2-A5B6-D3BDC3EAA8A5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2AF40CC-CA85-EE25-6FDC-CC417AF6BB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9424602-2457-0EB8-861C-713109B06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6FD07-25C8-44AB-98D5-5136C64ACC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1989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55D00C-FA29-0D63-4E9C-0AA779CED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E6FDA6C-4DA8-CF57-CAFD-8323417576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9D1B00-1D0C-E739-B305-D293385BD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165CF-E651-42F2-A5B6-D3BDC3EAA8A5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381038-D446-AA52-0D2C-C076DD8AD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F5F904-5244-A61D-2B8A-67491CD5A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6FD07-25C8-44AB-98D5-5136C64ACC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195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75705B6-C6E5-5135-E975-333BA2B136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09EAA96-C1EC-2C70-E601-13B85743E3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F74500-D4EE-AC1A-5577-461FE748E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165CF-E651-42F2-A5B6-D3BDC3EAA8A5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A08AD7-3975-29A2-A7EE-155C105C7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B7ACC2-3E04-23FF-26D5-6402B2442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6FD07-25C8-44AB-98D5-5136C64ACC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2482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854CA78-93B4-7F6F-BAE8-42D5B4B3D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5D14ADB-34CB-52DE-E3E2-DD65F3DC5E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523A37-8818-1E13-1962-035885730E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6165CF-E651-42F2-A5B6-D3BDC3EAA8A5}" type="datetimeFigureOut">
              <a:rPr lang="zh-CN" altLang="en-US" smtClean="0"/>
              <a:t>2025/11/29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A8D027-2597-9248-7268-5AE127D356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F24621-B7BE-FA10-A08F-308C864064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76FD07-25C8-44AB-98D5-5136C64ACC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72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A720ED-9977-D60B-2EE3-085DDA9914D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使相机在场景中游走</a:t>
            </a:r>
          </a:p>
        </p:txBody>
      </p:sp>
    </p:spTree>
    <p:extLst>
      <p:ext uri="{BB962C8B-B14F-4D97-AF65-F5344CB8AC3E}">
        <p14:creationId xmlns:p14="http://schemas.microsoft.com/office/powerpoint/2010/main" val="3707382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D158EE-9F23-A3AE-34A9-8915A3775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676" y="1048297"/>
            <a:ext cx="10515600" cy="1325563"/>
          </a:xfrm>
        </p:spPr>
        <p:txBody>
          <a:bodyPr/>
          <a:lstStyle/>
          <a:p>
            <a:r>
              <a:rPr lang="zh-CN" altLang="en-US" dirty="0"/>
              <a:t>案例 </a:t>
            </a:r>
            <a:r>
              <a:rPr lang="en-US" altLang="zh-CN" dirty="0"/>
              <a:t>7.1   Page 335</a:t>
            </a:r>
            <a:endParaRPr lang="zh-CN" altLang="en-US" dirty="0"/>
          </a:p>
        </p:txBody>
      </p:sp>
      <p:pic>
        <p:nvPicPr>
          <p:cNvPr id="5" name="图片 4" descr="文本, 信件&#10;&#10;AI 生成的内容可能不正确。">
            <a:extLst>
              <a:ext uri="{FF2B5EF4-FFF2-40B4-BE49-F238E27FC236}">
                <a16:creationId xmlns:a16="http://schemas.microsoft.com/office/drawing/2014/main" id="{41DB8420-D926-2C9D-9E29-A06358DBC3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6595" y="0"/>
            <a:ext cx="64454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956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473DA3-21D0-121C-0F27-0D3616373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/>
              <a:t>定义相机和 </a:t>
            </a:r>
            <a:r>
              <a:rPr lang="en-US" altLang="zh-CN" sz="3600" dirty="0"/>
              <a:t>3 </a:t>
            </a:r>
            <a:r>
              <a:rPr lang="zh-CN" altLang="en-US" sz="3600" dirty="0"/>
              <a:t>个物体的位置坐标和 </a:t>
            </a:r>
            <a:r>
              <a:rPr lang="en-US" altLang="zh-CN" sz="3600" dirty="0"/>
              <a:t>x</a:t>
            </a:r>
            <a:r>
              <a:rPr lang="zh-CN" altLang="en-US" sz="3600" dirty="0"/>
              <a:t>、</a:t>
            </a:r>
            <a:r>
              <a:rPr lang="en-US" altLang="zh-CN" sz="3600" dirty="0"/>
              <a:t>y</a:t>
            </a:r>
            <a:r>
              <a:rPr lang="zh-CN" altLang="en-US" sz="3600" dirty="0"/>
              <a:t>、</a:t>
            </a:r>
            <a:r>
              <a:rPr lang="en-US" altLang="zh-CN" sz="3600" dirty="0"/>
              <a:t>z </a:t>
            </a:r>
            <a:r>
              <a:rPr lang="zh-CN" altLang="en-US" sz="3600" dirty="0"/>
              <a:t>坐标轴。</a:t>
            </a:r>
          </a:p>
        </p:txBody>
      </p:sp>
      <p:pic>
        <p:nvPicPr>
          <p:cNvPr id="5" name="内容占位符 4" descr="图形用户界面, 文本&#10;&#10;AI 生成的内容可能不正确。">
            <a:extLst>
              <a:ext uri="{FF2B5EF4-FFF2-40B4-BE49-F238E27FC236}">
                <a16:creationId xmlns:a16="http://schemas.microsoft.com/office/drawing/2014/main" id="{162EEB8D-9FDF-6304-EE1E-900C46EB52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16509"/>
            <a:ext cx="5049479" cy="1193249"/>
          </a:xfrm>
        </p:spPr>
      </p:pic>
      <p:pic>
        <p:nvPicPr>
          <p:cNvPr id="7" name="图片 6" descr="图片包含 文本&#10;&#10;AI 生成的内容可能不正确。">
            <a:extLst>
              <a:ext uri="{FF2B5EF4-FFF2-40B4-BE49-F238E27FC236}">
                <a16:creationId xmlns:a16="http://schemas.microsoft.com/office/drawing/2014/main" id="{5088903F-2FC1-F635-D4B7-9680565782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396265"/>
            <a:ext cx="8833945" cy="1278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792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37B55D-630F-FC0F-FC91-B0ECFDF3E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生成模型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04FDE3-14D4-4047-49AC-D529DF5236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dirty="0"/>
              <a:t>直接调用 </a:t>
            </a:r>
            <a:r>
              <a:rPr lang="en-US" altLang="zh-CN" dirty="0"/>
              <a:t>GLUT </a:t>
            </a:r>
            <a:r>
              <a:rPr lang="zh-CN" altLang="en-US" dirty="0"/>
              <a:t>内置的几何体函数生成：</a:t>
            </a:r>
          </a:p>
          <a:p>
            <a:pPr>
              <a:lnSpc>
                <a:spcPct val="100000"/>
              </a:lnSpc>
            </a:pPr>
            <a:endParaRPr lang="zh-CN" altLang="en-US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dirty="0"/>
              <a:t>茶壶：</a:t>
            </a:r>
            <a:r>
              <a:rPr lang="en-US" altLang="zh-CN" dirty="0" err="1"/>
              <a:t>glutSolidTeapot</a:t>
            </a:r>
            <a:r>
              <a:rPr lang="en-US" altLang="zh-CN" dirty="0"/>
              <a:t>(1.0)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dirty="0"/>
              <a:t>立方体：</a:t>
            </a:r>
            <a:r>
              <a:rPr lang="en-US" altLang="zh-CN" dirty="0" err="1"/>
              <a:t>glutSolidCube</a:t>
            </a:r>
            <a:r>
              <a:rPr lang="en-US" altLang="zh-CN" dirty="0"/>
              <a:t>(1.0)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dirty="0"/>
              <a:t>球体：</a:t>
            </a:r>
            <a:r>
              <a:rPr lang="en-US" altLang="zh-CN" dirty="0" err="1"/>
              <a:t>glutSolidSphere</a:t>
            </a:r>
            <a:r>
              <a:rPr lang="en-US" altLang="zh-CN" dirty="0"/>
              <a:t>(0.5, 16, 16)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75106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33B6AE-E2D4-68B6-E502-AAB5A71D4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初始化模型位置与朝向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F6469B-59BD-B388-A71F-F7C773FADB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使用 </a:t>
            </a:r>
            <a:r>
              <a:rPr lang="en-US" altLang="zh-CN" dirty="0" err="1"/>
              <a:t>glTranslatef</a:t>
            </a:r>
            <a:r>
              <a:rPr lang="zh-CN" altLang="en-US" dirty="0"/>
              <a:t>：把模型矩阵移动到之前定义的物体位置。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以物体的 </a:t>
            </a:r>
            <a:r>
              <a:rPr lang="en-US" altLang="zh-CN" dirty="0"/>
              <a:t>x</a:t>
            </a:r>
            <a:r>
              <a:rPr lang="zh-CN" altLang="en-US" dirty="0"/>
              <a:t>、</a:t>
            </a:r>
            <a:r>
              <a:rPr lang="en-US" altLang="zh-CN" dirty="0"/>
              <a:t>y</a:t>
            </a:r>
            <a:r>
              <a:rPr lang="zh-CN" altLang="en-US" dirty="0"/>
              <a:t>、</a:t>
            </a:r>
            <a:r>
              <a:rPr lang="en-US" altLang="zh-CN" dirty="0"/>
              <a:t>z </a:t>
            </a:r>
            <a:r>
              <a:rPr lang="zh-CN" altLang="en-US" dirty="0"/>
              <a:t>轴构建 </a:t>
            </a:r>
            <a:r>
              <a:rPr lang="en-US" altLang="zh-CN" dirty="0"/>
              <a:t>3x3 </a:t>
            </a:r>
            <a:r>
              <a:rPr lang="zh-CN" altLang="en-US" dirty="0"/>
              <a:t>姿态矩阵并扩展为 </a:t>
            </a:r>
            <a:r>
              <a:rPr lang="en-US" altLang="zh-CN" dirty="0"/>
              <a:t>4x4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使用 </a:t>
            </a:r>
            <a:r>
              <a:rPr lang="en-US" altLang="zh-CN" dirty="0" err="1"/>
              <a:t>glMultMatrixf</a:t>
            </a:r>
            <a:r>
              <a:rPr lang="en-US" altLang="zh-CN" dirty="0"/>
              <a:t> </a:t>
            </a:r>
            <a:r>
              <a:rPr lang="zh-CN" altLang="en-US" dirty="0"/>
              <a:t>应用到当前模型矩阵，实现对象自身朝向。</a:t>
            </a:r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C44C6EFB-E2CC-55C1-757E-D876D0AAA7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452564"/>
            <a:ext cx="5893210" cy="1097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5481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1E2D6A-E0F7-8D17-0A5A-721336521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相机设置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B7BDCF-5458-0A68-D4A6-1F60FE858D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使用 </a:t>
            </a:r>
            <a:r>
              <a:rPr lang="en-US" altLang="zh-CN" dirty="0" err="1"/>
              <a:t>gluLookAt</a:t>
            </a:r>
            <a:r>
              <a:rPr lang="en-US" altLang="zh-CN" dirty="0"/>
              <a:t> </a:t>
            </a:r>
            <a:r>
              <a:rPr lang="zh-CN" altLang="en-US" dirty="0"/>
              <a:t>以相机位置与朝向（</a:t>
            </a:r>
            <a:r>
              <a:rPr lang="en-US" altLang="zh-CN" dirty="0"/>
              <a:t>pos</a:t>
            </a:r>
            <a:r>
              <a:rPr lang="zh-CN" altLang="en-US" dirty="0"/>
              <a:t>作为位置，</a:t>
            </a:r>
            <a:r>
              <a:rPr lang="en-US" altLang="zh-CN" dirty="0"/>
              <a:t>pos + forward </a:t>
            </a:r>
            <a:r>
              <a:rPr lang="zh-CN" altLang="en-US" dirty="0"/>
              <a:t>作为目标点，</a:t>
            </a:r>
            <a:r>
              <a:rPr lang="en-US" altLang="zh-CN" dirty="0"/>
              <a:t>up </a:t>
            </a:r>
            <a:r>
              <a:rPr lang="zh-CN" altLang="en-US" dirty="0"/>
              <a:t>作为上方向）设置视图矩阵。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87E24B5-B304-5A15-FF5A-DC8D0D1EED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098744"/>
            <a:ext cx="8605345" cy="90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408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EFB546-9B08-0A26-E336-8ECDCDD3B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光照与材质（可选）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752981-B0E0-B63D-CEAA-EA1CE71B2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zh-CN" altLang="en-US" dirty="0"/>
              <a:t>启用光照系统：</a:t>
            </a:r>
            <a:endParaRPr lang="en-US" altLang="zh-CN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 err="1"/>
              <a:t>glEnable</a:t>
            </a:r>
            <a:r>
              <a:rPr lang="en-US" altLang="zh-CN" dirty="0"/>
              <a:t>(GL_LIGHTING)</a:t>
            </a:r>
            <a:r>
              <a:rPr lang="zh-CN" altLang="en-US" dirty="0"/>
              <a:t>、</a:t>
            </a:r>
            <a:r>
              <a:rPr lang="en-US" altLang="zh-CN" dirty="0" err="1"/>
              <a:t>glEnable</a:t>
            </a:r>
            <a:r>
              <a:rPr lang="en-US" altLang="zh-CN" dirty="0"/>
              <a:t>(GL_LIGHT0)</a:t>
            </a:r>
          </a:p>
          <a:p>
            <a:pPr>
              <a:lnSpc>
                <a:spcPct val="120000"/>
              </a:lnSpc>
            </a:pPr>
            <a:r>
              <a:rPr lang="zh-CN" altLang="en-US" dirty="0"/>
              <a:t>设置光源属性：</a:t>
            </a:r>
            <a:endParaRPr lang="en-US" altLang="zh-CN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 err="1"/>
              <a:t>glLightfv</a:t>
            </a:r>
            <a:r>
              <a:rPr lang="en-US" altLang="zh-CN" dirty="0"/>
              <a:t>(GL_LIGHT0, GL_POSITION, </a:t>
            </a:r>
            <a:r>
              <a:rPr lang="en-US" altLang="zh-CN" dirty="0" err="1"/>
              <a:t>lightPos</a:t>
            </a:r>
            <a:r>
              <a:rPr lang="en-US" altLang="zh-CN" dirty="0"/>
              <a:t>)</a:t>
            </a:r>
            <a:r>
              <a:rPr lang="zh-CN" altLang="en-US" dirty="0"/>
              <a:t>、</a:t>
            </a:r>
            <a:r>
              <a:rPr lang="en-US" altLang="zh-CN" dirty="0" err="1"/>
              <a:t>glLightfv</a:t>
            </a:r>
            <a:r>
              <a:rPr lang="en-US" altLang="zh-CN" dirty="0"/>
              <a:t>(GL_LIGHT0, GL_AMBIENT, </a:t>
            </a:r>
            <a:r>
              <a:rPr lang="en-US" altLang="zh-CN" dirty="0" err="1"/>
              <a:t>ambientLight</a:t>
            </a:r>
            <a:r>
              <a:rPr lang="en-US" altLang="zh-CN" dirty="0"/>
              <a:t>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 err="1"/>
              <a:t>glLightfv</a:t>
            </a:r>
            <a:r>
              <a:rPr lang="en-US" altLang="zh-CN" dirty="0"/>
              <a:t>(GL_LIGHT0, GL_DIFFUSE, </a:t>
            </a:r>
            <a:r>
              <a:rPr lang="en-US" altLang="zh-CN" dirty="0" err="1"/>
              <a:t>diffuseLight</a:t>
            </a:r>
            <a:r>
              <a:rPr lang="en-US" altLang="zh-CN" dirty="0"/>
              <a:t>)</a:t>
            </a:r>
          </a:p>
          <a:p>
            <a:pPr>
              <a:lnSpc>
                <a:spcPct val="120000"/>
              </a:lnSpc>
            </a:pPr>
            <a:r>
              <a:rPr lang="zh-CN" altLang="en-US" dirty="0"/>
              <a:t>启用“颜色材质”：</a:t>
            </a:r>
            <a:endParaRPr lang="en-US" altLang="zh-CN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 err="1"/>
              <a:t>glEnable</a:t>
            </a:r>
            <a:r>
              <a:rPr lang="en-US" altLang="zh-CN" dirty="0"/>
              <a:t>(GL_COLOR_MATERIAL)</a:t>
            </a:r>
            <a:r>
              <a:rPr lang="zh-CN" altLang="en-US" dirty="0"/>
              <a:t>、</a:t>
            </a:r>
            <a:r>
              <a:rPr lang="en-US" altLang="zh-CN" dirty="0" err="1"/>
              <a:t>glColorMaterial</a:t>
            </a:r>
            <a:r>
              <a:rPr lang="en-US" altLang="zh-CN" dirty="0"/>
              <a:t>(GL_FRONT, GL_AMBIENT_AND_DIFFUSE)</a:t>
            </a:r>
          </a:p>
          <a:p>
            <a:pPr>
              <a:lnSpc>
                <a:spcPct val="120000"/>
              </a:lnSpc>
            </a:pPr>
            <a:r>
              <a:rPr lang="zh-CN" altLang="en-US" dirty="0"/>
              <a:t>设置物体材质属性：</a:t>
            </a:r>
            <a:endParaRPr lang="en-US" altLang="zh-CN" dirty="0"/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 err="1"/>
              <a:t>glMaterialfv</a:t>
            </a:r>
            <a:r>
              <a:rPr lang="en-US" altLang="zh-CN" dirty="0"/>
              <a:t>(GL_FRONT, GL_AMBIENT, </a:t>
            </a:r>
            <a:r>
              <a:rPr lang="en-US" altLang="zh-CN" dirty="0" err="1"/>
              <a:t>matAmbient</a:t>
            </a:r>
            <a:r>
              <a:rPr lang="en-US" altLang="zh-CN" dirty="0"/>
              <a:t>)</a:t>
            </a:r>
            <a:r>
              <a:rPr lang="zh-CN" altLang="en-US" dirty="0"/>
              <a:t>、</a:t>
            </a:r>
            <a:r>
              <a:rPr lang="en-US" altLang="zh-CN" dirty="0" err="1"/>
              <a:t>glMaterialfv</a:t>
            </a:r>
            <a:r>
              <a:rPr lang="en-US" altLang="zh-CN" dirty="0"/>
              <a:t>(GL_FRONT, GL_DIFFUSE, </a:t>
            </a:r>
            <a:r>
              <a:rPr lang="en-US" altLang="zh-CN" dirty="0" err="1"/>
              <a:t>matDiffuse</a:t>
            </a:r>
            <a:r>
              <a:rPr lang="en-US" altLang="zh-CN" dirty="0"/>
              <a:t>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altLang="zh-CN" dirty="0" err="1"/>
              <a:t>glMaterialfv</a:t>
            </a:r>
            <a:r>
              <a:rPr lang="en-US" altLang="zh-CN" dirty="0"/>
              <a:t>(GL_FRONT, GL_SPECULAR, </a:t>
            </a:r>
            <a:r>
              <a:rPr lang="en-US" altLang="zh-CN" dirty="0" err="1"/>
              <a:t>matSpecular</a:t>
            </a:r>
            <a:r>
              <a:rPr lang="en-US" altLang="zh-CN" dirty="0"/>
              <a:t>)</a:t>
            </a:r>
            <a:r>
              <a:rPr lang="zh-CN" altLang="en-US" dirty="0"/>
              <a:t>、</a:t>
            </a:r>
            <a:r>
              <a:rPr lang="en-US" altLang="zh-CN" dirty="0" err="1"/>
              <a:t>glMaterialfv</a:t>
            </a:r>
            <a:r>
              <a:rPr lang="en-US" altLang="zh-CN" dirty="0"/>
              <a:t>(GL_FRONT, GL_SHININESS, </a:t>
            </a:r>
            <a:r>
              <a:rPr lang="en-US" altLang="zh-CN" dirty="0" err="1"/>
              <a:t>matShininess</a:t>
            </a:r>
            <a:r>
              <a:rPr lang="en-US" altLang="zh-CN" dirty="0"/>
              <a:t>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878907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9915E8-10E8-A541-FEDF-B106DACDE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地网绘制（可选）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0803E7-5E90-D8DC-C55E-7945A414B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绘制 </a:t>
            </a:r>
            <a:r>
              <a:rPr lang="en-US" altLang="zh-CN" dirty="0"/>
              <a:t>XZ </a:t>
            </a:r>
            <a:r>
              <a:rPr lang="zh-CN" altLang="en-US" dirty="0"/>
              <a:t>平面上的参考网格（线段），通过键盘控制显示。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void </a:t>
            </a:r>
            <a:r>
              <a:rPr lang="en-US" altLang="zh-CN" dirty="0" err="1"/>
              <a:t>drawGrid</a:t>
            </a:r>
            <a:r>
              <a:rPr lang="en-US" altLang="zh-CN" dirty="0"/>
              <a:t>()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87384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DBBB8-FE43-91AB-D897-CA7360614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实现一个旋转函数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61B337-80FB-4C79-2441-49A932BA6B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void </a:t>
            </a:r>
            <a:r>
              <a:rPr lang="en-US" altLang="zh-CN" dirty="0" err="1"/>
              <a:t>rotateVector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chemeClr val="accent4"/>
                </a:solidFill>
              </a:rPr>
              <a:t>Vector3 &amp;</a:t>
            </a:r>
            <a:r>
              <a:rPr lang="en-US" altLang="zh-CN" dirty="0">
                <a:solidFill>
                  <a:schemeClr val="accent2"/>
                </a:solidFill>
              </a:rPr>
              <a:t>v</a:t>
            </a:r>
            <a:r>
              <a:rPr lang="en-US" altLang="zh-CN" dirty="0"/>
              <a:t>, </a:t>
            </a:r>
            <a:r>
              <a:rPr lang="en-US" altLang="zh-CN" dirty="0">
                <a:solidFill>
                  <a:schemeClr val="accent4"/>
                </a:solidFill>
              </a:rPr>
              <a:t>const Vector3 &amp;</a:t>
            </a:r>
            <a:r>
              <a:rPr lang="en-US" altLang="zh-CN" dirty="0">
                <a:solidFill>
                  <a:schemeClr val="accent2"/>
                </a:solidFill>
              </a:rPr>
              <a:t>axis</a:t>
            </a:r>
            <a:r>
              <a:rPr lang="en-US" altLang="zh-CN" dirty="0"/>
              <a:t>, </a:t>
            </a:r>
            <a:r>
              <a:rPr lang="en-US" altLang="zh-CN" dirty="0">
                <a:solidFill>
                  <a:schemeClr val="accent4"/>
                </a:solidFill>
              </a:rPr>
              <a:t>float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chemeClr val="accent2"/>
                </a:solidFill>
              </a:rPr>
              <a:t>angle</a:t>
            </a:r>
            <a:r>
              <a:rPr lang="en-US" altLang="zh-CN" dirty="0"/>
              <a:t>)</a:t>
            </a:r>
          </a:p>
          <a:p>
            <a:pPr marL="0" indent="0">
              <a:buNone/>
            </a:pPr>
            <a:endParaRPr lang="en-US" altLang="zh-CN" dirty="0"/>
          </a:p>
          <a:p>
            <a:r>
              <a:rPr lang="zh-CN" altLang="en-US" dirty="0"/>
              <a:t>使用罗德里格旋转公式，围绕给定单位轴 </a:t>
            </a:r>
            <a:r>
              <a:rPr lang="en-US" altLang="zh-CN" dirty="0">
                <a:solidFill>
                  <a:schemeClr val="accent2"/>
                </a:solidFill>
              </a:rPr>
              <a:t>axis</a:t>
            </a:r>
            <a:r>
              <a:rPr lang="en-US" altLang="zh-CN" dirty="0"/>
              <a:t> </a:t>
            </a:r>
            <a:r>
              <a:rPr lang="zh-CN" altLang="en-US" dirty="0"/>
              <a:t>旋转向量 </a:t>
            </a:r>
            <a:r>
              <a:rPr lang="en-US" altLang="zh-CN" dirty="0">
                <a:solidFill>
                  <a:schemeClr val="accent2"/>
                </a:solidFill>
              </a:rPr>
              <a:t>v</a:t>
            </a:r>
            <a:r>
              <a:rPr lang="zh-CN" altLang="en-US" dirty="0"/>
              <a:t>，角度 </a:t>
            </a:r>
            <a:r>
              <a:rPr lang="en-US" altLang="zh-CN" dirty="0">
                <a:solidFill>
                  <a:schemeClr val="accent2"/>
                </a:solidFill>
              </a:rPr>
              <a:t>angle</a:t>
            </a:r>
            <a:r>
              <a:rPr lang="zh-CN" altLang="en-US" dirty="0"/>
              <a:t>。实现绕任意轴的局部旋转。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>
                <a:solidFill>
                  <a:srgbClr val="FF0000"/>
                </a:solidFill>
              </a:rPr>
              <a:t>不能直接调用 </a:t>
            </a:r>
            <a:r>
              <a:rPr lang="en-US" altLang="zh-CN" dirty="0" err="1">
                <a:solidFill>
                  <a:srgbClr val="FF0000"/>
                </a:solidFill>
              </a:rPr>
              <a:t>glRotatef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zh-CN" altLang="en-US" dirty="0">
                <a:solidFill>
                  <a:srgbClr val="FF0000"/>
                </a:solidFill>
              </a:rPr>
              <a:t>函数</a:t>
            </a:r>
          </a:p>
        </p:txBody>
      </p:sp>
    </p:spTree>
    <p:extLst>
      <p:ext uri="{BB962C8B-B14F-4D97-AF65-F5344CB8AC3E}">
        <p14:creationId xmlns:p14="http://schemas.microsoft.com/office/powerpoint/2010/main" val="8097883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FC8EE5-EA8D-CC9A-B56C-A02A759B1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移动与旋转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E9BC5B-0462-2302-581C-E8D11EE07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</a:pPr>
            <a:r>
              <a:rPr lang="zh-CN" altLang="en-US" dirty="0"/>
              <a:t>小写 </a:t>
            </a:r>
            <a:r>
              <a:rPr lang="en-US" altLang="zh-CN" dirty="0"/>
              <a:t>w</a:t>
            </a:r>
            <a:r>
              <a:rPr lang="zh-CN" altLang="en-US" dirty="0"/>
              <a:t>、</a:t>
            </a:r>
            <a:r>
              <a:rPr lang="en-US" altLang="zh-CN" dirty="0"/>
              <a:t>s</a:t>
            </a:r>
            <a:r>
              <a:rPr lang="zh-CN" altLang="en-US" dirty="0"/>
              <a:t>、</a:t>
            </a:r>
            <a:r>
              <a:rPr lang="en-US" altLang="zh-CN" dirty="0"/>
              <a:t>a</a:t>
            </a:r>
            <a:r>
              <a:rPr lang="zh-CN" altLang="en-US" dirty="0"/>
              <a:t>、</a:t>
            </a:r>
            <a:r>
              <a:rPr lang="en-US" altLang="zh-CN" dirty="0"/>
              <a:t>d</a:t>
            </a:r>
            <a:r>
              <a:rPr lang="zh-CN" altLang="en-US" dirty="0"/>
              <a:t>、</a:t>
            </a:r>
            <a:r>
              <a:rPr lang="en-US" altLang="zh-CN" dirty="0"/>
              <a:t>q</a:t>
            </a:r>
            <a:r>
              <a:rPr lang="zh-CN" altLang="en-US" dirty="0"/>
              <a:t>、</a:t>
            </a:r>
            <a:r>
              <a:rPr lang="en-US" altLang="zh-CN" dirty="0"/>
              <a:t>e</a:t>
            </a:r>
            <a:r>
              <a:rPr lang="zh-CN" altLang="en-US" dirty="0"/>
              <a:t>：移动相机（沿之前定义的相机 </a:t>
            </a:r>
            <a:r>
              <a:rPr lang="en-US" altLang="zh-CN" dirty="0"/>
              <a:t>x</a:t>
            </a:r>
            <a:r>
              <a:rPr lang="zh-CN" altLang="en-US" dirty="0"/>
              <a:t>、</a:t>
            </a:r>
            <a:r>
              <a:rPr lang="en-US" altLang="zh-CN" dirty="0"/>
              <a:t>y</a:t>
            </a:r>
            <a:r>
              <a:rPr lang="zh-CN" altLang="en-US" dirty="0"/>
              <a:t>、</a:t>
            </a:r>
            <a:r>
              <a:rPr lang="en-US" altLang="zh-CN" dirty="0"/>
              <a:t>z </a:t>
            </a:r>
            <a:r>
              <a:rPr lang="zh-CN" altLang="en-US" dirty="0"/>
              <a:t>方向矢量的正负方向平移）。移动后注意需要更新相机自己的坐标轴。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zh-CN" altLang="en-US" dirty="0"/>
              <a:t>小写 </a:t>
            </a:r>
            <a:r>
              <a:rPr lang="en-US" altLang="zh-CN" dirty="0" err="1"/>
              <a:t>i</a:t>
            </a:r>
            <a:r>
              <a:rPr lang="zh-CN" altLang="en-US" dirty="0"/>
              <a:t>、</a:t>
            </a:r>
            <a:r>
              <a:rPr lang="en-US" altLang="zh-CN" dirty="0"/>
              <a:t>j</a:t>
            </a:r>
            <a:r>
              <a:rPr lang="zh-CN" altLang="en-US" dirty="0"/>
              <a:t>、</a:t>
            </a:r>
            <a:r>
              <a:rPr lang="en-US" altLang="zh-CN" dirty="0"/>
              <a:t>k</a:t>
            </a:r>
            <a:r>
              <a:rPr lang="zh-CN" altLang="en-US" dirty="0"/>
              <a:t>、</a:t>
            </a:r>
            <a:r>
              <a:rPr lang="en-US" altLang="zh-CN" dirty="0"/>
              <a:t>l</a:t>
            </a:r>
            <a:r>
              <a:rPr lang="zh-CN" altLang="en-US" dirty="0"/>
              <a:t>、</a:t>
            </a:r>
            <a:r>
              <a:rPr lang="en-US" altLang="zh-CN" dirty="0"/>
              <a:t>u</a:t>
            </a:r>
            <a:r>
              <a:rPr lang="zh-CN" altLang="en-US" dirty="0"/>
              <a:t>、</a:t>
            </a:r>
            <a:r>
              <a:rPr lang="en-US" altLang="zh-CN" dirty="0"/>
              <a:t>o</a:t>
            </a:r>
            <a:r>
              <a:rPr lang="zh-CN" altLang="en-US" dirty="0"/>
              <a:t>：绕相机自己的 </a:t>
            </a:r>
            <a:r>
              <a:rPr lang="en-US" altLang="zh-CN" dirty="0"/>
              <a:t>x</a:t>
            </a:r>
            <a:r>
              <a:rPr lang="zh-CN" altLang="en-US" dirty="0"/>
              <a:t>、</a:t>
            </a:r>
            <a:r>
              <a:rPr lang="en-US" altLang="zh-CN" dirty="0"/>
              <a:t>y</a:t>
            </a:r>
            <a:r>
              <a:rPr lang="zh-CN" altLang="en-US" dirty="0"/>
              <a:t>、</a:t>
            </a:r>
            <a:r>
              <a:rPr lang="en-US" altLang="zh-CN" dirty="0"/>
              <a:t>z </a:t>
            </a:r>
            <a:r>
              <a:rPr lang="zh-CN" altLang="en-US" dirty="0"/>
              <a:t>轴旋转相机。旋转后注意需要更新相机自己的坐标轴。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zh-CN" altLang="en-US" dirty="0"/>
              <a:t>大写 </a:t>
            </a:r>
            <a:r>
              <a:rPr lang="en-US" altLang="zh-CN" dirty="0"/>
              <a:t>W</a:t>
            </a:r>
            <a:r>
              <a:rPr lang="zh-CN" altLang="en-US" dirty="0"/>
              <a:t>、</a:t>
            </a:r>
            <a:r>
              <a:rPr lang="en-US" altLang="zh-CN" dirty="0"/>
              <a:t>S</a:t>
            </a:r>
            <a:r>
              <a:rPr lang="zh-CN" altLang="en-US" dirty="0"/>
              <a:t>、</a:t>
            </a:r>
            <a:r>
              <a:rPr lang="en-US" altLang="zh-CN" dirty="0"/>
              <a:t>A</a:t>
            </a:r>
            <a:r>
              <a:rPr lang="zh-CN" altLang="en-US" dirty="0"/>
              <a:t>、</a:t>
            </a:r>
            <a:r>
              <a:rPr lang="en-US" altLang="zh-CN" dirty="0"/>
              <a:t>D</a:t>
            </a:r>
            <a:r>
              <a:rPr lang="zh-CN" altLang="en-US" dirty="0"/>
              <a:t>、</a:t>
            </a:r>
            <a:r>
              <a:rPr lang="en-US" altLang="zh-CN" dirty="0"/>
              <a:t>Q</a:t>
            </a:r>
            <a:r>
              <a:rPr lang="zh-CN" altLang="en-US" dirty="0"/>
              <a:t>、</a:t>
            </a:r>
            <a:r>
              <a:rPr lang="en-US" altLang="zh-CN" dirty="0"/>
              <a:t>E</a:t>
            </a:r>
            <a:r>
              <a:rPr lang="zh-CN" altLang="en-US" dirty="0"/>
              <a:t>：移动选中物体，同样是使用物体自己的坐标系。（与相机逻辑相同）</a:t>
            </a:r>
          </a:p>
          <a:p>
            <a:pPr>
              <a:lnSpc>
                <a:spcPct val="110000"/>
              </a:lnSpc>
            </a:pPr>
            <a:r>
              <a:rPr lang="zh-CN" altLang="en-US" dirty="0"/>
              <a:t>大写 </a:t>
            </a:r>
            <a:r>
              <a:rPr lang="en-US" altLang="zh-CN" dirty="0"/>
              <a:t>I</a:t>
            </a:r>
            <a:r>
              <a:rPr lang="zh-CN" altLang="en-US" dirty="0"/>
              <a:t>、</a:t>
            </a:r>
            <a:r>
              <a:rPr lang="en-US" altLang="zh-CN" dirty="0"/>
              <a:t>J</a:t>
            </a:r>
            <a:r>
              <a:rPr lang="zh-CN" altLang="en-US" dirty="0"/>
              <a:t>、</a:t>
            </a:r>
            <a:r>
              <a:rPr lang="en-US" altLang="zh-CN" dirty="0"/>
              <a:t>K</a:t>
            </a:r>
            <a:r>
              <a:rPr lang="zh-CN" altLang="en-US" dirty="0"/>
              <a:t>、</a:t>
            </a:r>
            <a:r>
              <a:rPr lang="en-US" altLang="zh-CN" dirty="0"/>
              <a:t>L</a:t>
            </a:r>
            <a:r>
              <a:rPr lang="zh-CN" altLang="en-US" dirty="0"/>
              <a:t>、</a:t>
            </a:r>
            <a:r>
              <a:rPr lang="en-US" altLang="zh-CN" dirty="0"/>
              <a:t>U</a:t>
            </a:r>
            <a:r>
              <a:rPr lang="zh-CN" altLang="en-US" dirty="0"/>
              <a:t>、</a:t>
            </a:r>
            <a:r>
              <a:rPr lang="en-US" altLang="zh-CN" dirty="0"/>
              <a:t>O</a:t>
            </a:r>
            <a:r>
              <a:rPr lang="zh-CN" altLang="en-US" dirty="0"/>
              <a:t>：旋转选中对象，同样是绕物体自己的坐标轴。（与相机逻辑相同）</a:t>
            </a:r>
          </a:p>
          <a:p>
            <a:pPr>
              <a:lnSpc>
                <a:spcPct val="110000"/>
              </a:lnSpc>
            </a:pPr>
            <a:r>
              <a:rPr lang="zh-CN" altLang="en-US" dirty="0"/>
              <a:t>空格：切换所选的物体。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en-US" altLang="zh-CN" dirty="0"/>
              <a:t>g</a:t>
            </a:r>
            <a:r>
              <a:rPr lang="zh-CN" altLang="en-US" dirty="0"/>
              <a:t>：地网开关。（可选）      </a:t>
            </a:r>
            <a:r>
              <a:rPr lang="en-US" altLang="zh-CN" dirty="0"/>
              <a:t>Esc</a:t>
            </a:r>
            <a:r>
              <a:rPr lang="zh-CN" altLang="en-US" dirty="0"/>
              <a:t>：退出进程。</a:t>
            </a:r>
          </a:p>
        </p:txBody>
      </p:sp>
    </p:spTree>
    <p:extLst>
      <p:ext uri="{BB962C8B-B14F-4D97-AF65-F5344CB8AC3E}">
        <p14:creationId xmlns:p14="http://schemas.microsoft.com/office/powerpoint/2010/main" val="41581313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354C55-6E0B-C655-9510-68EBA7845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注意事项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00BBE1-BAE9-8A2B-A29D-044AFD8E3C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zh-CN" altLang="en-US" dirty="0"/>
              <a:t>对于物体和相机的平移和旋转，均是相对于它们自己的坐标系。在进行平移和旋转变换后，不要忘记更新坐标系。</a:t>
            </a: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>
              <a:lnSpc>
                <a:spcPct val="100000"/>
              </a:lnSpc>
            </a:pPr>
            <a:r>
              <a:rPr lang="zh-CN" altLang="en-US" dirty="0"/>
              <a:t>在控制旋转过程中使用自己实现的旋转函数，不要直接调用 </a:t>
            </a:r>
            <a:r>
              <a:rPr lang="en-US" altLang="zh-CN" dirty="0"/>
              <a:t>glut </a:t>
            </a:r>
            <a:r>
              <a:rPr lang="zh-CN" altLang="en-US" dirty="0"/>
              <a:t>包的相关函数。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688921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包含 游戏机, 电脑, 灯光&#10;&#10;AI 生成的内容可能不正确。">
            <a:extLst>
              <a:ext uri="{FF2B5EF4-FFF2-40B4-BE49-F238E27FC236}">
                <a16:creationId xmlns:a16="http://schemas.microsoft.com/office/drawing/2014/main" id="{8235F440-87A7-6C0A-8C80-885C81D565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767" y="0"/>
            <a:ext cx="118944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474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片包含 游戏机, 电脑, 笔记本&#10;&#10;AI 生成的内容可能不正确。">
            <a:extLst>
              <a:ext uri="{FF2B5EF4-FFF2-40B4-BE49-F238E27FC236}">
                <a16:creationId xmlns:a16="http://schemas.microsoft.com/office/drawing/2014/main" id="{97F26F26-CC2C-6765-86D4-324393E1FB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05" y="0"/>
            <a:ext cx="1196819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5992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576</Words>
  <Application>Microsoft Office PowerPoint</Application>
  <PresentationFormat>宽屏</PresentationFormat>
  <Paragraphs>51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等线</vt:lpstr>
      <vt:lpstr>等线 Light</vt:lpstr>
      <vt:lpstr>Arial</vt:lpstr>
      <vt:lpstr>Office 主题​​</vt:lpstr>
      <vt:lpstr>使相机在场景中游走</vt:lpstr>
      <vt:lpstr>案例 7.1   Page 335</vt:lpstr>
      <vt:lpstr>定义相机和 3 个物体的位置坐标和 x、y、z 坐标轴。</vt:lpstr>
      <vt:lpstr>生成模型</vt:lpstr>
      <vt:lpstr>初始化模型位置与朝向</vt:lpstr>
      <vt:lpstr>相机设置</vt:lpstr>
      <vt:lpstr>光照与材质（可选）</vt:lpstr>
      <vt:lpstr>地网绘制（可选）</vt:lpstr>
      <vt:lpstr>实现一个旋转函数</vt:lpstr>
      <vt:lpstr>移动与旋转</vt:lpstr>
      <vt:lpstr>注意事项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昊炎 刘</dc:creator>
  <cp:lastModifiedBy>昊炎 刘</cp:lastModifiedBy>
  <cp:revision>1</cp:revision>
  <dcterms:created xsi:type="dcterms:W3CDTF">2025-11-29T08:10:54Z</dcterms:created>
  <dcterms:modified xsi:type="dcterms:W3CDTF">2025-11-29T09:37:48Z</dcterms:modified>
</cp:coreProperties>
</file>