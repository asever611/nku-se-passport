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45"/>
  </p:notesMasterIdLst>
  <p:sldIdLst>
    <p:sldId id="256" r:id="rId6"/>
    <p:sldId id="263" r:id="rId7"/>
    <p:sldId id="268" r:id="rId8"/>
    <p:sldId id="269" r:id="rId9"/>
    <p:sldId id="270" r:id="rId10"/>
    <p:sldId id="271" r:id="rId11"/>
    <p:sldId id="273" r:id="rId12"/>
    <p:sldId id="266" r:id="rId13"/>
    <p:sldId id="274" r:id="rId14"/>
    <p:sldId id="275" r:id="rId15"/>
    <p:sldId id="276" r:id="rId16"/>
    <p:sldId id="277" r:id="rId17"/>
    <p:sldId id="278" r:id="rId18"/>
    <p:sldId id="272" r:id="rId19"/>
    <p:sldId id="279" r:id="rId20"/>
    <p:sldId id="280" r:id="rId21"/>
    <p:sldId id="281" r:id="rId22"/>
    <p:sldId id="282" r:id="rId23"/>
    <p:sldId id="283" r:id="rId24"/>
    <p:sldId id="284" r:id="rId25"/>
    <p:sldId id="285" r:id="rId26"/>
    <p:sldId id="286" r:id="rId27"/>
    <p:sldId id="300" r:id="rId28"/>
    <p:sldId id="289" r:id="rId29"/>
    <p:sldId id="291" r:id="rId30"/>
    <p:sldId id="265" r:id="rId31"/>
    <p:sldId id="292" r:id="rId32"/>
    <p:sldId id="294" r:id="rId33"/>
    <p:sldId id="298" r:id="rId34"/>
    <p:sldId id="296" r:id="rId35"/>
    <p:sldId id="267" r:id="rId36"/>
    <p:sldId id="297" r:id="rId37"/>
    <p:sldId id="295" r:id="rId38"/>
    <p:sldId id="299" r:id="rId39"/>
    <p:sldId id="260" r:id="rId40"/>
    <p:sldId id="258" r:id="rId41"/>
    <p:sldId id="264" r:id="rId42"/>
    <p:sldId id="301" r:id="rId43"/>
    <p:sldId id="302"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56"/>
            <p14:sldId id="263"/>
            <p14:sldId id="268"/>
            <p14:sldId id="269"/>
            <p14:sldId id="270"/>
            <p14:sldId id="271"/>
            <p14:sldId id="273"/>
            <p14:sldId id="266"/>
            <p14:sldId id="274"/>
            <p14:sldId id="275"/>
            <p14:sldId id="276"/>
            <p14:sldId id="277"/>
            <p14:sldId id="278"/>
            <p14:sldId id="272"/>
            <p14:sldId id="279"/>
            <p14:sldId id="280"/>
            <p14:sldId id="281"/>
            <p14:sldId id="282"/>
            <p14:sldId id="283"/>
            <p14:sldId id="284"/>
            <p14:sldId id="285"/>
            <p14:sldId id="286"/>
            <p14:sldId id="300"/>
            <p14:sldId id="289"/>
            <p14:sldId id="291"/>
            <p14:sldId id="265"/>
            <p14:sldId id="292"/>
            <p14:sldId id="294"/>
            <p14:sldId id="298"/>
            <p14:sldId id="296"/>
            <p14:sldId id="267"/>
            <p14:sldId id="297"/>
            <p14:sldId id="295"/>
            <p14:sldId id="299"/>
            <p14:sldId id="260"/>
          </p14:sldIdLst>
        </p14:section>
        <p14:section name="Appendix: Image Descriptions for Unsighted Students" id="{9E859B0B-078E-463E-89A6-21C20DD280C4}">
          <p14:sldIdLst>
            <p14:sldId id="258"/>
            <p14:sldId id="264"/>
            <p14:sldId id="301"/>
            <p14:sldId id="302"/>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09" autoAdjust="0"/>
    <p:restoredTop sz="78115" autoAdjust="0"/>
  </p:normalViewPr>
  <p:slideViewPr>
    <p:cSldViewPr snapToGrid="0" showGuides="1">
      <p:cViewPr varScale="1">
        <p:scale>
          <a:sx n="65" d="100"/>
          <a:sy n="65" d="100"/>
        </p:scale>
        <p:origin x="1196" y="48"/>
      </p:cViewPr>
      <p:guideLst>
        <p:guide pos="3264"/>
        <p:guide orient="horz" pos="2256"/>
        <p:guide pos="5640"/>
      </p:guideLst>
    </p:cSldViewPr>
  </p:slideViewPr>
  <p:outlineViewPr>
    <p:cViewPr>
      <p:scale>
        <a:sx n="50" d="100"/>
        <a:sy n="50" d="100"/>
      </p:scale>
      <p:origin x="0" y="-83358"/>
    </p:cViewPr>
  </p:outlineViewPr>
  <p:notesTextViewPr>
    <p:cViewPr>
      <p:scale>
        <a:sx n="100" d="100"/>
        <a:sy n="100" d="100"/>
      </p:scale>
      <p:origin x="0" y="-38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viewProps" Target="viewProps.xml"/><Relationship Id="rId8" Type="http://schemas.openxmlformats.org/officeDocument/2006/relationships/slide" Target="slides/slide3.xml"/><Relationship Id="rId51" Type="http://schemas.microsoft.com/office/2016/11/relationships/changesInfo" Target="changesInfos/changesInfo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commentAuthors" Target="commentAuthor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 Gao" userId="8b4c448f-f25d-42d5-b038-cc11c3c58695" providerId="ADAL" clId="{F7144DA8-6E92-4353-81D8-B3AEBD75029B}"/>
    <pc:docChg chg="modSld">
      <pc:chgData name="Nan Gao" userId="8b4c448f-f25d-42d5-b038-cc11c3c58695" providerId="ADAL" clId="{F7144DA8-6E92-4353-81D8-B3AEBD75029B}" dt="2025-11-26T13:34:43.611" v="33"/>
      <pc:docMkLst>
        <pc:docMk/>
      </pc:docMkLst>
      <pc:sldChg chg="modNotesTx">
        <pc:chgData name="Nan Gao" userId="8b4c448f-f25d-42d5-b038-cc11c3c58695" providerId="ADAL" clId="{F7144DA8-6E92-4353-81D8-B3AEBD75029B}" dt="2025-11-26T13:18:42.337" v="0"/>
        <pc:sldMkLst>
          <pc:docMk/>
          <pc:sldMk cId="3028515047" sldId="256"/>
        </pc:sldMkLst>
      </pc:sldChg>
      <pc:sldChg chg="modNotesTx">
        <pc:chgData name="Nan Gao" userId="8b4c448f-f25d-42d5-b038-cc11c3c58695" providerId="ADAL" clId="{F7144DA8-6E92-4353-81D8-B3AEBD75029B}" dt="2025-11-26T13:18:51.155" v="1"/>
        <pc:sldMkLst>
          <pc:docMk/>
          <pc:sldMk cId="1503147761" sldId="263"/>
        </pc:sldMkLst>
      </pc:sldChg>
      <pc:sldChg chg="modNotesTx">
        <pc:chgData name="Nan Gao" userId="8b4c448f-f25d-42d5-b038-cc11c3c58695" providerId="ADAL" clId="{F7144DA8-6E92-4353-81D8-B3AEBD75029B}" dt="2025-11-26T13:27:53.703" v="25"/>
        <pc:sldMkLst>
          <pc:docMk/>
          <pc:sldMk cId="2155700961" sldId="265"/>
        </pc:sldMkLst>
      </pc:sldChg>
      <pc:sldChg chg="modNotesTx">
        <pc:chgData name="Nan Gao" userId="8b4c448f-f25d-42d5-b038-cc11c3c58695" providerId="ADAL" clId="{F7144DA8-6E92-4353-81D8-B3AEBD75029B}" dt="2025-11-26T13:19:41.366" v="7"/>
        <pc:sldMkLst>
          <pc:docMk/>
          <pc:sldMk cId="3768590218" sldId="266"/>
        </pc:sldMkLst>
      </pc:sldChg>
      <pc:sldChg chg="modNotesTx">
        <pc:chgData name="Nan Gao" userId="8b4c448f-f25d-42d5-b038-cc11c3c58695" providerId="ADAL" clId="{F7144DA8-6E92-4353-81D8-B3AEBD75029B}" dt="2025-11-26T13:34:23.390" v="30"/>
        <pc:sldMkLst>
          <pc:docMk/>
          <pc:sldMk cId="3288868813" sldId="267"/>
        </pc:sldMkLst>
      </pc:sldChg>
      <pc:sldChg chg="modNotesTx">
        <pc:chgData name="Nan Gao" userId="8b4c448f-f25d-42d5-b038-cc11c3c58695" providerId="ADAL" clId="{F7144DA8-6E92-4353-81D8-B3AEBD75029B}" dt="2025-11-26T13:18:57.254" v="2"/>
        <pc:sldMkLst>
          <pc:docMk/>
          <pc:sldMk cId="1815822263" sldId="268"/>
        </pc:sldMkLst>
      </pc:sldChg>
      <pc:sldChg chg="modNotesTx">
        <pc:chgData name="Nan Gao" userId="8b4c448f-f25d-42d5-b038-cc11c3c58695" providerId="ADAL" clId="{F7144DA8-6E92-4353-81D8-B3AEBD75029B}" dt="2025-11-26T13:19:05.894" v="3"/>
        <pc:sldMkLst>
          <pc:docMk/>
          <pc:sldMk cId="1290875559" sldId="269"/>
        </pc:sldMkLst>
      </pc:sldChg>
      <pc:sldChg chg="modNotesTx">
        <pc:chgData name="Nan Gao" userId="8b4c448f-f25d-42d5-b038-cc11c3c58695" providerId="ADAL" clId="{F7144DA8-6E92-4353-81D8-B3AEBD75029B}" dt="2025-11-26T13:19:15.636" v="4"/>
        <pc:sldMkLst>
          <pc:docMk/>
          <pc:sldMk cId="1092497658" sldId="270"/>
        </pc:sldMkLst>
      </pc:sldChg>
      <pc:sldChg chg="modNotesTx">
        <pc:chgData name="Nan Gao" userId="8b4c448f-f25d-42d5-b038-cc11c3c58695" providerId="ADAL" clId="{F7144DA8-6E92-4353-81D8-B3AEBD75029B}" dt="2025-11-26T13:19:26.305" v="5"/>
        <pc:sldMkLst>
          <pc:docMk/>
          <pc:sldMk cId="771840600" sldId="271"/>
        </pc:sldMkLst>
      </pc:sldChg>
      <pc:sldChg chg="modNotesTx">
        <pc:chgData name="Nan Gao" userId="8b4c448f-f25d-42d5-b038-cc11c3c58695" providerId="ADAL" clId="{F7144DA8-6E92-4353-81D8-B3AEBD75029B}" dt="2025-11-26T13:19:32.531" v="6"/>
        <pc:sldMkLst>
          <pc:docMk/>
          <pc:sldMk cId="713735207" sldId="273"/>
        </pc:sldMkLst>
      </pc:sldChg>
      <pc:sldChg chg="modNotesTx">
        <pc:chgData name="Nan Gao" userId="8b4c448f-f25d-42d5-b038-cc11c3c58695" providerId="ADAL" clId="{F7144DA8-6E92-4353-81D8-B3AEBD75029B}" dt="2025-11-26T13:20:38.077" v="9"/>
        <pc:sldMkLst>
          <pc:docMk/>
          <pc:sldMk cId="1774126774" sldId="274"/>
        </pc:sldMkLst>
      </pc:sldChg>
      <pc:sldChg chg="modNotesTx">
        <pc:chgData name="Nan Gao" userId="8b4c448f-f25d-42d5-b038-cc11c3c58695" providerId="ADAL" clId="{F7144DA8-6E92-4353-81D8-B3AEBD75029B}" dt="2025-11-26T13:20:50.180" v="10"/>
        <pc:sldMkLst>
          <pc:docMk/>
          <pc:sldMk cId="517039908" sldId="275"/>
        </pc:sldMkLst>
      </pc:sldChg>
      <pc:sldChg chg="modNotesTx">
        <pc:chgData name="Nan Gao" userId="8b4c448f-f25d-42d5-b038-cc11c3c58695" providerId="ADAL" clId="{F7144DA8-6E92-4353-81D8-B3AEBD75029B}" dt="2025-11-26T13:20:56.523" v="11"/>
        <pc:sldMkLst>
          <pc:docMk/>
          <pc:sldMk cId="1999462302" sldId="276"/>
        </pc:sldMkLst>
      </pc:sldChg>
      <pc:sldChg chg="modNotesTx">
        <pc:chgData name="Nan Gao" userId="8b4c448f-f25d-42d5-b038-cc11c3c58695" providerId="ADAL" clId="{F7144DA8-6E92-4353-81D8-B3AEBD75029B}" dt="2025-11-26T13:23:11.281" v="12"/>
        <pc:sldMkLst>
          <pc:docMk/>
          <pc:sldMk cId="3927446777" sldId="277"/>
        </pc:sldMkLst>
      </pc:sldChg>
      <pc:sldChg chg="modNotesTx">
        <pc:chgData name="Nan Gao" userId="8b4c448f-f25d-42d5-b038-cc11c3c58695" providerId="ADAL" clId="{F7144DA8-6E92-4353-81D8-B3AEBD75029B}" dt="2025-11-26T13:23:21.559" v="13"/>
        <pc:sldMkLst>
          <pc:docMk/>
          <pc:sldMk cId="2743422304" sldId="278"/>
        </pc:sldMkLst>
      </pc:sldChg>
      <pc:sldChg chg="modNotesTx">
        <pc:chgData name="Nan Gao" userId="8b4c448f-f25d-42d5-b038-cc11c3c58695" providerId="ADAL" clId="{F7144DA8-6E92-4353-81D8-B3AEBD75029B}" dt="2025-11-26T13:23:34.318" v="14"/>
        <pc:sldMkLst>
          <pc:docMk/>
          <pc:sldMk cId="336039302" sldId="279"/>
        </pc:sldMkLst>
      </pc:sldChg>
      <pc:sldChg chg="modNotesTx">
        <pc:chgData name="Nan Gao" userId="8b4c448f-f25d-42d5-b038-cc11c3c58695" providerId="ADAL" clId="{F7144DA8-6E92-4353-81D8-B3AEBD75029B}" dt="2025-11-26T13:23:40.668" v="15"/>
        <pc:sldMkLst>
          <pc:docMk/>
          <pc:sldMk cId="1255932770" sldId="280"/>
        </pc:sldMkLst>
      </pc:sldChg>
      <pc:sldChg chg="modNotesTx">
        <pc:chgData name="Nan Gao" userId="8b4c448f-f25d-42d5-b038-cc11c3c58695" providerId="ADAL" clId="{F7144DA8-6E92-4353-81D8-B3AEBD75029B}" dt="2025-11-26T13:23:46.332" v="16"/>
        <pc:sldMkLst>
          <pc:docMk/>
          <pc:sldMk cId="3613784324" sldId="281"/>
        </pc:sldMkLst>
      </pc:sldChg>
      <pc:sldChg chg="modNotesTx">
        <pc:chgData name="Nan Gao" userId="8b4c448f-f25d-42d5-b038-cc11c3c58695" providerId="ADAL" clId="{F7144DA8-6E92-4353-81D8-B3AEBD75029B}" dt="2025-11-26T13:23:51.693" v="17"/>
        <pc:sldMkLst>
          <pc:docMk/>
          <pc:sldMk cId="2189504978" sldId="282"/>
        </pc:sldMkLst>
      </pc:sldChg>
      <pc:sldChg chg="modNotesTx">
        <pc:chgData name="Nan Gao" userId="8b4c448f-f25d-42d5-b038-cc11c3c58695" providerId="ADAL" clId="{F7144DA8-6E92-4353-81D8-B3AEBD75029B}" dt="2025-11-26T13:26:21.861" v="18"/>
        <pc:sldMkLst>
          <pc:docMk/>
          <pc:sldMk cId="1464842902" sldId="283"/>
        </pc:sldMkLst>
      </pc:sldChg>
      <pc:sldChg chg="modNotesTx">
        <pc:chgData name="Nan Gao" userId="8b4c448f-f25d-42d5-b038-cc11c3c58695" providerId="ADAL" clId="{F7144DA8-6E92-4353-81D8-B3AEBD75029B}" dt="2025-11-26T13:26:27.708" v="19"/>
        <pc:sldMkLst>
          <pc:docMk/>
          <pc:sldMk cId="3152190657" sldId="284"/>
        </pc:sldMkLst>
      </pc:sldChg>
      <pc:sldChg chg="modNotesTx">
        <pc:chgData name="Nan Gao" userId="8b4c448f-f25d-42d5-b038-cc11c3c58695" providerId="ADAL" clId="{F7144DA8-6E92-4353-81D8-B3AEBD75029B}" dt="2025-11-26T13:26:33.031" v="20"/>
        <pc:sldMkLst>
          <pc:docMk/>
          <pc:sldMk cId="1759814056" sldId="285"/>
        </pc:sldMkLst>
      </pc:sldChg>
      <pc:sldChg chg="modNotesTx">
        <pc:chgData name="Nan Gao" userId="8b4c448f-f25d-42d5-b038-cc11c3c58695" providerId="ADAL" clId="{F7144DA8-6E92-4353-81D8-B3AEBD75029B}" dt="2025-11-26T13:26:42.124" v="21"/>
        <pc:sldMkLst>
          <pc:docMk/>
          <pc:sldMk cId="1454284851" sldId="286"/>
        </pc:sldMkLst>
      </pc:sldChg>
      <pc:sldChg chg="modNotesTx">
        <pc:chgData name="Nan Gao" userId="8b4c448f-f25d-42d5-b038-cc11c3c58695" providerId="ADAL" clId="{F7144DA8-6E92-4353-81D8-B3AEBD75029B}" dt="2025-11-26T13:27:44.557" v="23"/>
        <pc:sldMkLst>
          <pc:docMk/>
          <pc:sldMk cId="305351092" sldId="289"/>
        </pc:sldMkLst>
      </pc:sldChg>
      <pc:sldChg chg="modNotesTx">
        <pc:chgData name="Nan Gao" userId="8b4c448f-f25d-42d5-b038-cc11c3c58695" providerId="ADAL" clId="{F7144DA8-6E92-4353-81D8-B3AEBD75029B}" dt="2025-11-26T13:27:49.227" v="24"/>
        <pc:sldMkLst>
          <pc:docMk/>
          <pc:sldMk cId="3500789278" sldId="291"/>
        </pc:sldMkLst>
      </pc:sldChg>
      <pc:sldChg chg="modNotesTx">
        <pc:chgData name="Nan Gao" userId="8b4c448f-f25d-42d5-b038-cc11c3c58695" providerId="ADAL" clId="{F7144DA8-6E92-4353-81D8-B3AEBD75029B}" dt="2025-11-26T13:33:57.930" v="26"/>
        <pc:sldMkLst>
          <pc:docMk/>
          <pc:sldMk cId="1378506806" sldId="292"/>
        </pc:sldMkLst>
      </pc:sldChg>
      <pc:sldChg chg="modNotesTx">
        <pc:chgData name="Nan Gao" userId="8b4c448f-f25d-42d5-b038-cc11c3c58695" providerId="ADAL" clId="{F7144DA8-6E92-4353-81D8-B3AEBD75029B}" dt="2025-11-26T13:34:04.420" v="27"/>
        <pc:sldMkLst>
          <pc:docMk/>
          <pc:sldMk cId="1072617879" sldId="294"/>
        </pc:sldMkLst>
      </pc:sldChg>
      <pc:sldChg chg="modNotesTx">
        <pc:chgData name="Nan Gao" userId="8b4c448f-f25d-42d5-b038-cc11c3c58695" providerId="ADAL" clId="{F7144DA8-6E92-4353-81D8-B3AEBD75029B}" dt="2025-11-26T13:34:38.438" v="32"/>
        <pc:sldMkLst>
          <pc:docMk/>
          <pc:sldMk cId="3822504687" sldId="295"/>
        </pc:sldMkLst>
      </pc:sldChg>
      <pc:sldChg chg="modNotesTx">
        <pc:chgData name="Nan Gao" userId="8b4c448f-f25d-42d5-b038-cc11c3c58695" providerId="ADAL" clId="{F7144DA8-6E92-4353-81D8-B3AEBD75029B}" dt="2025-11-26T13:34:15.695" v="29"/>
        <pc:sldMkLst>
          <pc:docMk/>
          <pc:sldMk cId="1949192475" sldId="296"/>
        </pc:sldMkLst>
      </pc:sldChg>
      <pc:sldChg chg="modNotesTx">
        <pc:chgData name="Nan Gao" userId="8b4c448f-f25d-42d5-b038-cc11c3c58695" providerId="ADAL" clId="{F7144DA8-6E92-4353-81D8-B3AEBD75029B}" dt="2025-11-26T13:34:33.138" v="31"/>
        <pc:sldMkLst>
          <pc:docMk/>
          <pc:sldMk cId="2088496069" sldId="297"/>
        </pc:sldMkLst>
      </pc:sldChg>
      <pc:sldChg chg="modNotesTx">
        <pc:chgData name="Nan Gao" userId="8b4c448f-f25d-42d5-b038-cc11c3c58695" providerId="ADAL" clId="{F7144DA8-6E92-4353-81D8-B3AEBD75029B}" dt="2025-11-26T13:34:10.481" v="28"/>
        <pc:sldMkLst>
          <pc:docMk/>
          <pc:sldMk cId="2279593239" sldId="298"/>
        </pc:sldMkLst>
      </pc:sldChg>
      <pc:sldChg chg="modNotesTx">
        <pc:chgData name="Nan Gao" userId="8b4c448f-f25d-42d5-b038-cc11c3c58695" providerId="ADAL" clId="{F7144DA8-6E92-4353-81D8-B3AEBD75029B}" dt="2025-11-26T13:34:43.611" v="33"/>
        <pc:sldMkLst>
          <pc:docMk/>
          <pc:sldMk cId="3268727272" sldId="299"/>
        </pc:sldMkLst>
      </pc:sldChg>
      <pc:sldChg chg="modNotesTx">
        <pc:chgData name="Nan Gao" userId="8b4c448f-f25d-42d5-b038-cc11c3c58695" providerId="ADAL" clId="{F7144DA8-6E92-4353-81D8-B3AEBD75029B}" dt="2025-11-26T13:27:39.333" v="22"/>
        <pc:sldMkLst>
          <pc:docMk/>
          <pc:sldMk cId="4209610761" sldId="30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A7EEA2-D254-4AEA-A9FE-0F6E100BB541}" type="datetimeFigureOut">
              <a:rPr lang="en-US" smtClean="0"/>
              <a:t>11/26/2025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A895BC-35B0-4696-94D7-3753B8292ADE}" type="slidenum">
              <a:rPr lang="en-US" smtClean="0"/>
              <a:t>‹#›</a:t>
            </a:fld>
            <a:endParaRPr lang="en-US"/>
          </a:p>
        </p:txBody>
      </p:sp>
    </p:spTree>
    <p:extLst>
      <p:ext uri="{BB962C8B-B14F-4D97-AF65-F5344CB8AC3E}">
        <p14:creationId xmlns:p14="http://schemas.microsoft.com/office/powerpoint/2010/main" val="3373885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同学们，在掌握了通用的集成测试方法后，我们今天进入第</a:t>
            </a:r>
            <a:r>
              <a:rPr lang="en-US" altLang="zh-CN" b="0" i="0" dirty="0">
                <a:solidFill>
                  <a:srgbClr val="0F1115"/>
                </a:solidFill>
                <a:effectLst/>
                <a:latin typeface="quote-cjk-patch"/>
              </a:rPr>
              <a:t>21</a:t>
            </a:r>
            <a:r>
              <a:rPr lang="zh-CN" altLang="en-US" b="0" i="0" dirty="0">
                <a:solidFill>
                  <a:srgbClr val="0F1115"/>
                </a:solidFill>
                <a:effectLst/>
                <a:latin typeface="quote-cjk-patch"/>
              </a:rPr>
              <a:t>章，学习一个在现代软件开发中至关重要的专题：</a:t>
            </a:r>
            <a:r>
              <a:rPr lang="zh-CN" altLang="en-US" b="1" i="0" dirty="0">
                <a:solidFill>
                  <a:srgbClr val="0F1115"/>
                </a:solidFill>
                <a:effectLst/>
                <a:latin typeface="quote-cjk-patch"/>
              </a:rPr>
              <a:t>移动应用（</a:t>
            </a:r>
            <a:r>
              <a:rPr lang="en-US" altLang="zh-CN" b="1" i="0" dirty="0">
                <a:solidFill>
                  <a:srgbClr val="0F1115"/>
                </a:solidFill>
                <a:effectLst/>
                <a:latin typeface="quote-cjk-patch"/>
              </a:rPr>
              <a:t>Mobility</a:t>
            </a:r>
            <a:r>
              <a:rPr lang="zh-CN" altLang="en-US" b="1" i="0" dirty="0">
                <a:solidFill>
                  <a:srgbClr val="0F1115"/>
                </a:solidFill>
                <a:effectLst/>
                <a:latin typeface="quote-cjk-patch"/>
              </a:rPr>
              <a:t>）的专项测试</a:t>
            </a:r>
            <a:r>
              <a:rPr lang="zh-CN" altLang="en-US" b="0" i="0" dirty="0">
                <a:solidFill>
                  <a:srgbClr val="0F1115"/>
                </a:solidFill>
                <a:effectLst/>
                <a:latin typeface="quote-cjk-patch"/>
              </a:rPr>
              <a:t>。移动设备及其应用环境的独特性，为我们带来了许多新的测试挑战和方法。</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这一页是本章的标题页。它明确了我们本章的学习焦点：</a:t>
            </a:r>
            <a:r>
              <a:rPr lang="zh-CN" altLang="en-US" b="1" i="0" dirty="0">
                <a:solidFill>
                  <a:srgbClr val="0F1115"/>
                </a:solidFill>
                <a:effectLst/>
                <a:latin typeface="quote-cjk-patch"/>
              </a:rPr>
              <a:t>针对移动应用的专门化测试</a:t>
            </a:r>
            <a:r>
              <a:rPr lang="zh-CN" altLang="en-US" b="0" i="0" dirty="0">
                <a:solidFill>
                  <a:srgbClr val="0F1115"/>
                </a:solidFill>
                <a:effectLst/>
                <a:latin typeface="quote-cjk-patch"/>
              </a:rPr>
              <a:t>。这不仅仅是普通的软件测试，而是需要考虑移动设备特性（如触摸屏、各种传感器、不稳定的网络等）的特殊测试。本章同样是“质量与安全”系列的一部分，强调了在移动环境下如何保障软件的质量与安全。</a:t>
            </a:r>
          </a:p>
          <a:p>
            <a:endParaRPr 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1</a:t>
            </a:fld>
            <a:endParaRPr lang="en-US"/>
          </a:p>
        </p:txBody>
      </p:sp>
    </p:spTree>
    <p:extLst>
      <p:ext uri="{BB962C8B-B14F-4D97-AF65-F5344CB8AC3E}">
        <p14:creationId xmlns:p14="http://schemas.microsoft.com/office/powerpoint/2010/main" val="3709338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在开始具体的移动测试之前，我们必须先有一个周密的计划。这一页提出了在制定移动测试计划时，我们必须首先回答的几个关键战略问题。</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这一页通过一系列关键问题，引导我们思考如何制定一个有效的移动测试计划：</a:t>
            </a:r>
          </a:p>
          <a:p>
            <a:pPr algn="l">
              <a:buFont typeface="+mj-lt"/>
              <a:buAutoNum type="arabicPeriod"/>
            </a:pPr>
            <a:r>
              <a:rPr lang="zh-CN" altLang="en-US" b="1" i="0" dirty="0">
                <a:solidFill>
                  <a:srgbClr val="0F1115"/>
                </a:solidFill>
                <a:effectLst/>
                <a:latin typeface="quote-cjk-patch"/>
              </a:rPr>
              <a:t>原型与测试的权衡</a:t>
            </a:r>
            <a:r>
              <a:rPr lang="zh-CN" altLang="en-US" b="0" i="0" dirty="0">
                <a:solidFill>
                  <a:srgbClr val="0F1115"/>
                </a:solidFill>
                <a:effectLst/>
                <a:latin typeface="quote-cjk-patch"/>
              </a:rPr>
              <a:t>：我们是否必须构建一个功能完整的原型才能进行用户测试？还是可以用更早期的版本来收集反馈？</a:t>
            </a:r>
          </a:p>
          <a:p>
            <a:pPr algn="l">
              <a:buFont typeface="+mj-lt"/>
              <a:buAutoNum type="arabicPeriod"/>
            </a:pPr>
            <a:r>
              <a:rPr lang="zh-CN" altLang="en-US" b="1" i="0" dirty="0">
                <a:solidFill>
                  <a:srgbClr val="0F1115"/>
                </a:solidFill>
                <a:effectLst/>
                <a:latin typeface="quote-cjk-patch"/>
              </a:rPr>
              <a:t>测试设备的选择</a:t>
            </a:r>
            <a:r>
              <a:rPr lang="zh-CN" altLang="en-US" b="0" i="0" dirty="0">
                <a:solidFill>
                  <a:srgbClr val="0F1115"/>
                </a:solidFill>
                <a:effectLst/>
                <a:latin typeface="quote-cjk-patch"/>
              </a:rPr>
              <a:t>：测试时应该使用用户自己的设备，还是由我们提供统一的测试设备？这关系到测试环境的多样性。</a:t>
            </a:r>
          </a:p>
          <a:p>
            <a:pPr algn="l">
              <a:buFont typeface="+mj-lt"/>
              <a:buAutoNum type="arabicPeriod"/>
            </a:pPr>
            <a:r>
              <a:rPr lang="zh-CN" altLang="en-US" b="1" i="0" dirty="0">
                <a:solidFill>
                  <a:srgbClr val="0F1115"/>
                </a:solidFill>
                <a:effectLst/>
                <a:latin typeface="quote-cjk-patch"/>
              </a:rPr>
              <a:t>测试范围的确定</a:t>
            </a:r>
            <a:r>
              <a:rPr lang="zh-CN" altLang="en-US" b="0" i="0" dirty="0">
                <a:solidFill>
                  <a:srgbClr val="0F1115"/>
                </a:solidFill>
                <a:effectLst/>
                <a:latin typeface="quote-cjk-patch"/>
              </a:rPr>
              <a:t>：我们应该选择哪些型号的设备、覆盖哪些用户群体来进行测试？不可能测试所有设备，需要做出明智的选择。</a:t>
            </a:r>
          </a:p>
          <a:p>
            <a:pPr algn="l">
              <a:buFont typeface="+mj-lt"/>
              <a:buAutoNum type="arabicPeriod"/>
            </a:pPr>
            <a:r>
              <a:rPr lang="zh-CN" altLang="en-US" b="1" i="0" dirty="0">
                <a:solidFill>
                  <a:srgbClr val="0F1115"/>
                </a:solidFill>
                <a:effectLst/>
                <a:latin typeface="quote-cjk-patch"/>
              </a:rPr>
              <a:t>测试地点的选择</a:t>
            </a:r>
            <a:r>
              <a:rPr lang="zh-CN" altLang="en-US" b="0" i="0" dirty="0">
                <a:solidFill>
                  <a:srgbClr val="0F1115"/>
                </a:solidFill>
                <a:effectLst/>
                <a:latin typeface="quote-cjk-patch"/>
              </a:rPr>
              <a:t>：什么时候应该在可控的实验室环境中测试，什么时候又需要进行远程的、真实环境下的测试？</a:t>
            </a:r>
            <a:br>
              <a:rPr lang="zh-CN" altLang="en-US" b="0" i="0" dirty="0">
                <a:solidFill>
                  <a:srgbClr val="0F1115"/>
                </a:solidFill>
                <a:effectLst/>
                <a:latin typeface="quote-cjk-patch"/>
              </a:rPr>
            </a:br>
            <a:r>
              <a:rPr lang="zh-CN" altLang="en-US" b="0" i="0" dirty="0">
                <a:solidFill>
                  <a:srgbClr val="0F1115"/>
                </a:solidFill>
                <a:effectLst/>
                <a:latin typeface="quote-cjk-patch"/>
              </a:rPr>
              <a:t>回答这些问题，是建立一个高效、有针对性的移动测试策略的基础。</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2</a:t>
            </a:fld>
            <a:endParaRPr lang="en-US"/>
          </a:p>
        </p:txBody>
      </p:sp>
    </p:spTree>
    <p:extLst>
      <p:ext uri="{BB962C8B-B14F-4D97-AF65-F5344CB8AC3E}">
        <p14:creationId xmlns:p14="http://schemas.microsoft.com/office/powerpoint/2010/main" val="2043543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有了测试计划的大方向后，我们需要一些具体的指导原则来执行。这一页和下一页列出了一些被业界广泛认可的移动测试指南。</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这一页列出了前四条重要的</a:t>
            </a:r>
            <a:r>
              <a:rPr lang="zh-CN" altLang="en-US" b="1" i="0" dirty="0">
                <a:solidFill>
                  <a:srgbClr val="0F1115"/>
                </a:solidFill>
                <a:effectLst/>
                <a:latin typeface="quote-cjk-patch"/>
              </a:rPr>
              <a:t>移动测试指南</a:t>
            </a:r>
            <a:r>
              <a:rPr lang="zh-CN" altLang="en-US" b="0" i="0" dirty="0">
                <a:solidFill>
                  <a:srgbClr val="0F1115"/>
                </a:solidFill>
                <a:effectLst/>
                <a:latin typeface="quote-cjk-patch"/>
              </a:rPr>
              <a:t>：</a:t>
            </a:r>
          </a:p>
          <a:p>
            <a:pPr algn="l">
              <a:buFont typeface="+mj-lt"/>
              <a:buAutoNum type="arabicPeriod"/>
            </a:pPr>
            <a:r>
              <a:rPr lang="zh-CN" altLang="en-US" b="1" i="0" dirty="0">
                <a:solidFill>
                  <a:srgbClr val="0F1115"/>
                </a:solidFill>
                <a:effectLst/>
                <a:latin typeface="quote-cjk-patch"/>
              </a:rPr>
              <a:t>理解网络与设备生态</a:t>
            </a:r>
            <a:r>
              <a:rPr lang="zh-CN" altLang="en-US" b="0" i="0" dirty="0">
                <a:solidFill>
                  <a:srgbClr val="0F1115"/>
                </a:solidFill>
                <a:effectLst/>
                <a:latin typeface="quote-cjk-patch"/>
              </a:rPr>
              <a:t>：不仅要了解不同的网络类型（如</a:t>
            </a:r>
            <a:r>
              <a:rPr lang="en-US" altLang="zh-CN" b="0" i="0" dirty="0">
                <a:solidFill>
                  <a:srgbClr val="0F1115"/>
                </a:solidFill>
                <a:effectLst/>
                <a:latin typeface="quote-cjk-patch"/>
              </a:rPr>
              <a:t>4G, 5G, Wi-Fi</a:t>
            </a:r>
            <a:r>
              <a:rPr lang="zh-CN" altLang="en-US" b="0" i="0" dirty="0">
                <a:solidFill>
                  <a:srgbClr val="0F1115"/>
                </a:solidFill>
                <a:effectLst/>
                <a:latin typeface="quote-cjk-patch"/>
              </a:rPr>
              <a:t>），还要清楚市场上主流设备的碎片化现状（不同品牌、型号、屏幕尺寸、操作系统版本）。</a:t>
            </a:r>
          </a:p>
          <a:p>
            <a:pPr algn="l">
              <a:buFont typeface="+mj-lt"/>
              <a:buAutoNum type="arabicPeriod"/>
            </a:pPr>
            <a:r>
              <a:rPr lang="zh-CN" altLang="en-US" b="1" i="0" dirty="0">
                <a:solidFill>
                  <a:srgbClr val="0F1115"/>
                </a:solidFill>
                <a:effectLst/>
                <a:latin typeface="quote-cjk-patch"/>
              </a:rPr>
              <a:t>在非受控的真实世界条件下测试</a:t>
            </a:r>
            <a:r>
              <a:rPr lang="zh-CN" altLang="en-US" b="0" i="0" dirty="0">
                <a:solidFill>
                  <a:srgbClr val="0F1115"/>
                </a:solidFill>
                <a:effectLst/>
                <a:latin typeface="quote-cjk-patch"/>
              </a:rPr>
              <a:t>：实验室里的完美网络无法模拟现实中的地铁、电梯等信号弱区。测试必须在真实、多变的场景下进行。</a:t>
            </a:r>
          </a:p>
          <a:p>
            <a:pPr algn="l">
              <a:buFont typeface="+mj-lt"/>
              <a:buAutoNum type="arabicPeriod"/>
            </a:pPr>
            <a:r>
              <a:rPr lang="zh-CN" altLang="en-US" b="1" i="0" dirty="0">
                <a:solidFill>
                  <a:srgbClr val="0F1115"/>
                </a:solidFill>
                <a:effectLst/>
                <a:latin typeface="quote-cjk-patch"/>
              </a:rPr>
              <a:t>选择正确的自动化测试工具</a:t>
            </a:r>
            <a:r>
              <a:rPr lang="zh-CN" altLang="en-US" b="0" i="0" dirty="0">
                <a:solidFill>
                  <a:srgbClr val="0F1115"/>
                </a:solidFill>
                <a:effectLst/>
                <a:latin typeface="quote-cjk-patch"/>
              </a:rPr>
              <a:t>：移动平台多样，需要选择能够支持目标平台（如</a:t>
            </a:r>
            <a:r>
              <a:rPr lang="en-US" altLang="zh-CN" b="0" i="0" dirty="0">
                <a:solidFill>
                  <a:srgbClr val="0F1115"/>
                </a:solidFill>
                <a:effectLst/>
                <a:latin typeface="quote-cjk-patch"/>
              </a:rPr>
              <a:t>iOS, Android</a:t>
            </a:r>
            <a:r>
              <a:rPr lang="zh-CN" altLang="en-US" b="0" i="0" dirty="0">
                <a:solidFill>
                  <a:srgbClr val="0F1115"/>
                </a:solidFill>
                <a:effectLst/>
                <a:latin typeface="quote-cjk-patch"/>
              </a:rPr>
              <a:t>）和测试类型的自动化工具，以提高测试效率。</a:t>
            </a:r>
          </a:p>
          <a:p>
            <a:pPr algn="l">
              <a:buFont typeface="+mj-lt"/>
              <a:buAutoNum type="arabicPeriod"/>
            </a:pPr>
            <a:r>
              <a:rPr lang="zh-CN" altLang="en-US" b="1" i="0" dirty="0">
                <a:solidFill>
                  <a:srgbClr val="0F1115"/>
                </a:solidFill>
                <a:effectLst/>
                <a:latin typeface="quote-cjk-patch"/>
              </a:rPr>
              <a:t>识别最关键的硬件</a:t>
            </a:r>
            <a:r>
              <a:rPr lang="en-US" altLang="zh-CN" b="1" i="0" dirty="0">
                <a:solidFill>
                  <a:srgbClr val="0F1115"/>
                </a:solidFill>
                <a:effectLst/>
                <a:latin typeface="quote-cjk-patch"/>
              </a:rPr>
              <a:t>/</a:t>
            </a:r>
            <a:r>
              <a:rPr lang="zh-CN" altLang="en-US" b="1" i="0" dirty="0">
                <a:solidFill>
                  <a:srgbClr val="0F1115"/>
                </a:solidFill>
                <a:effectLst/>
                <a:latin typeface="quote-cjk-patch"/>
              </a:rPr>
              <a:t>平台组合进行测试</a:t>
            </a:r>
            <a:r>
              <a:rPr lang="zh-CN" altLang="en-US" b="0" i="0" dirty="0">
                <a:solidFill>
                  <a:srgbClr val="0F1115"/>
                </a:solidFill>
                <a:effectLst/>
                <a:latin typeface="quote-cjk-patch"/>
              </a:rPr>
              <a:t>：基于我们的用户数据，优先测试那些用户量最大或最关键的设备与操作系统组合，合理分配有限的测试资源。</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3</a:t>
            </a:fld>
            <a:endParaRPr lang="en-US"/>
          </a:p>
        </p:txBody>
      </p:sp>
    </p:spTree>
    <p:extLst>
      <p:ext uri="{BB962C8B-B14F-4D97-AF65-F5344CB8AC3E}">
        <p14:creationId xmlns:p14="http://schemas.microsoft.com/office/powerpoint/2010/main" val="340375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我们继续来看另外几条同样至关重要的移动测试指南。</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这一页继续列出了更多的</a:t>
            </a:r>
            <a:r>
              <a:rPr lang="zh-CN" altLang="en-US" b="1" i="0" dirty="0">
                <a:solidFill>
                  <a:srgbClr val="0F1115"/>
                </a:solidFill>
                <a:effectLst/>
                <a:latin typeface="quote-cjk-patch"/>
              </a:rPr>
              <a:t>移动测试指南</a:t>
            </a:r>
            <a:r>
              <a:rPr lang="zh-CN" altLang="en-US" b="0" i="0" dirty="0">
                <a:solidFill>
                  <a:srgbClr val="0F1115"/>
                </a:solidFill>
                <a:effectLst/>
                <a:latin typeface="quote-cjk-patch"/>
              </a:rPr>
              <a:t>：</a:t>
            </a:r>
            <a:br>
              <a:rPr lang="zh-CN" altLang="en-US" b="0" i="0" dirty="0">
                <a:solidFill>
                  <a:srgbClr val="0F1115"/>
                </a:solidFill>
                <a:effectLst/>
                <a:latin typeface="quote-cjk-patch"/>
              </a:rPr>
            </a:br>
            <a:r>
              <a:rPr lang="en-US" altLang="zh-CN" b="0" i="0" dirty="0">
                <a:solidFill>
                  <a:srgbClr val="0F1115"/>
                </a:solidFill>
                <a:effectLst/>
                <a:latin typeface="quote-cjk-patch"/>
              </a:rPr>
              <a:t>5. </a:t>
            </a:r>
            <a:r>
              <a:rPr lang="zh-CN" altLang="en-US" b="1" i="0" dirty="0">
                <a:solidFill>
                  <a:srgbClr val="0F1115"/>
                </a:solidFill>
                <a:effectLst/>
                <a:latin typeface="quote-cjk-patch"/>
              </a:rPr>
              <a:t>在所有可能平台上进行端到端功能流检查</a:t>
            </a:r>
            <a:r>
              <a:rPr lang="zh-CN" altLang="en-US" b="0" i="0" dirty="0">
                <a:solidFill>
                  <a:srgbClr val="0F1115"/>
                </a:solidFill>
                <a:effectLst/>
                <a:latin typeface="quote-cjk-patch"/>
              </a:rPr>
              <a:t>：至少要在每一种主要平台（如</a:t>
            </a:r>
            <a:r>
              <a:rPr lang="en-US" altLang="zh-CN" b="0" i="0" dirty="0">
                <a:solidFill>
                  <a:srgbClr val="0F1115"/>
                </a:solidFill>
                <a:effectLst/>
                <a:latin typeface="quote-cjk-patch"/>
              </a:rPr>
              <a:t>iOS, Android</a:t>
            </a:r>
            <a:r>
              <a:rPr lang="zh-CN" altLang="en-US" b="0" i="0" dirty="0">
                <a:solidFill>
                  <a:srgbClr val="0F1115"/>
                </a:solidFill>
                <a:effectLst/>
                <a:latin typeface="quote-cjk-patch"/>
              </a:rPr>
              <a:t>）上完整地走通核心业务流程，确保基本功能无误。</a:t>
            </a:r>
            <a:br>
              <a:rPr lang="zh-CN" altLang="en-US" b="0" i="0" dirty="0">
                <a:solidFill>
                  <a:srgbClr val="0F1115"/>
                </a:solidFill>
                <a:effectLst/>
                <a:latin typeface="quote-cjk-patch"/>
              </a:rPr>
            </a:br>
            <a:r>
              <a:rPr lang="en-US" altLang="zh-CN" b="0" i="0" dirty="0">
                <a:solidFill>
                  <a:srgbClr val="0F1115"/>
                </a:solidFill>
                <a:effectLst/>
                <a:latin typeface="quote-cjk-patch"/>
              </a:rPr>
              <a:t>6. </a:t>
            </a:r>
            <a:r>
              <a:rPr lang="zh-CN" altLang="en-US" b="1" i="0" dirty="0">
                <a:solidFill>
                  <a:srgbClr val="0F1115"/>
                </a:solidFill>
                <a:effectLst/>
                <a:latin typeface="quote-cjk-patch"/>
              </a:rPr>
              <a:t>使用真机进行性能、</a:t>
            </a:r>
            <a:r>
              <a:rPr lang="en-US" altLang="zh-CN" b="1" i="0" dirty="0">
                <a:solidFill>
                  <a:srgbClr val="0F1115"/>
                </a:solidFill>
                <a:effectLst/>
                <a:latin typeface="quote-cjk-patch"/>
              </a:rPr>
              <a:t>GUI</a:t>
            </a:r>
            <a:r>
              <a:rPr lang="zh-CN" altLang="en-US" b="1" i="0" dirty="0">
                <a:solidFill>
                  <a:srgbClr val="0F1115"/>
                </a:solidFill>
                <a:effectLst/>
                <a:latin typeface="quote-cjk-patch"/>
              </a:rPr>
              <a:t>和兼容性测试</a:t>
            </a:r>
            <a:r>
              <a:rPr lang="zh-CN" altLang="en-US" b="0" i="0" dirty="0">
                <a:solidFill>
                  <a:srgbClr val="0F1115"/>
                </a:solidFill>
                <a:effectLst/>
                <a:latin typeface="quote-cjk-patch"/>
              </a:rPr>
              <a:t>：模拟器无法完全替代真机。必须在真实设备上测试应用的性能（如响应速度）、图形用户界面（</a:t>
            </a:r>
            <a:r>
              <a:rPr lang="en-US" altLang="zh-CN" b="0" i="0" dirty="0">
                <a:solidFill>
                  <a:srgbClr val="0F1115"/>
                </a:solidFill>
                <a:effectLst/>
                <a:latin typeface="quote-cjk-patch"/>
              </a:rPr>
              <a:t>GUI</a:t>
            </a:r>
            <a:r>
              <a:rPr lang="zh-CN" altLang="en-US" b="0" i="0" dirty="0">
                <a:solidFill>
                  <a:srgbClr val="0F1115"/>
                </a:solidFill>
                <a:effectLst/>
                <a:latin typeface="quote-cjk-patch"/>
              </a:rPr>
              <a:t>）的显示效果以及与其他应用的兼容性。</a:t>
            </a:r>
            <a:br>
              <a:rPr lang="zh-CN" altLang="en-US" b="0" i="0" dirty="0">
                <a:solidFill>
                  <a:srgbClr val="0F1115"/>
                </a:solidFill>
                <a:effectLst/>
                <a:latin typeface="quote-cjk-patch"/>
              </a:rPr>
            </a:br>
            <a:r>
              <a:rPr lang="en-US" altLang="zh-CN" b="0" i="0" dirty="0">
                <a:solidFill>
                  <a:srgbClr val="0F1115"/>
                </a:solidFill>
                <a:effectLst/>
                <a:latin typeface="quote-cjk-patch"/>
              </a:rPr>
              <a:t>7. </a:t>
            </a:r>
            <a:r>
              <a:rPr lang="zh-CN" altLang="en-US" b="1" i="0" dirty="0">
                <a:solidFill>
                  <a:srgbClr val="0F1115"/>
                </a:solidFill>
                <a:effectLst/>
                <a:latin typeface="quote-cjk-patch"/>
              </a:rPr>
              <a:t>在现实的网络负载条件下测量性能</a:t>
            </a:r>
            <a:r>
              <a:rPr lang="zh-CN" altLang="en-US" b="0" i="0" dirty="0">
                <a:solidFill>
                  <a:srgbClr val="0F1115"/>
                </a:solidFill>
                <a:effectLst/>
                <a:latin typeface="quote-cjk-patch"/>
              </a:rPr>
              <a:t>：测试应用在高峰时段、网络拥堵情况下的表现，如下载速度、响应时间等，这直接关系到用户体验。</a:t>
            </a:r>
            <a:br>
              <a:rPr lang="zh-CN" altLang="en-US" b="0" i="0" dirty="0">
                <a:solidFill>
                  <a:srgbClr val="0F1115"/>
                </a:solidFill>
                <a:effectLst/>
                <a:latin typeface="quote-cjk-patch"/>
              </a:rPr>
            </a:br>
            <a:r>
              <a:rPr lang="zh-CN" altLang="en-US" b="0" i="0" dirty="0">
                <a:solidFill>
                  <a:srgbClr val="0F1115"/>
                </a:solidFill>
                <a:effectLst/>
                <a:latin typeface="quote-cjk-patch"/>
              </a:rPr>
              <a:t>这些指南共同构成了一个全面、务实的移动测试方法框架。</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4</a:t>
            </a:fld>
            <a:endParaRPr lang="en-US"/>
          </a:p>
        </p:txBody>
      </p:sp>
    </p:spTree>
    <p:extLst>
      <p:ext uri="{BB962C8B-B14F-4D97-AF65-F5344CB8AC3E}">
        <p14:creationId xmlns:p14="http://schemas.microsoft.com/office/powerpoint/2010/main" val="2392698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了解了测试指南后，我们需要将这些原则转化为具体的、可执行的测试策略。这一页介绍了三种关键的移动应用测试策略。</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本页详细阐述了三种核心的移动测试策略：</a:t>
            </a:r>
          </a:p>
          <a:p>
            <a:pPr algn="l">
              <a:buFont typeface="+mj-lt"/>
              <a:buAutoNum type="arabicPeriod"/>
            </a:pPr>
            <a:r>
              <a:rPr lang="zh-CN" altLang="en-US" b="1" i="0" dirty="0">
                <a:solidFill>
                  <a:srgbClr val="0F1115"/>
                </a:solidFill>
                <a:effectLst/>
                <a:latin typeface="quote-cjk-patch"/>
              </a:rPr>
              <a:t>用户体验测试</a:t>
            </a:r>
            <a:r>
              <a:rPr lang="zh-CN" altLang="en-US" b="0" i="0" dirty="0">
                <a:solidFill>
                  <a:srgbClr val="0F1115"/>
                </a:solidFill>
                <a:effectLst/>
                <a:latin typeface="quote-cjk-patch"/>
              </a:rPr>
              <a:t>：核心思想是让</a:t>
            </a:r>
            <a:r>
              <a:rPr lang="zh-CN" altLang="en-US" b="1" i="0" dirty="0">
                <a:solidFill>
                  <a:srgbClr val="0F1115"/>
                </a:solidFill>
                <a:effectLst/>
                <a:latin typeface="quote-cjk-patch"/>
              </a:rPr>
              <a:t>用户尽早参与到开发过程中</a:t>
            </a:r>
            <a:r>
              <a:rPr lang="zh-CN" altLang="en-US" b="0" i="0" dirty="0">
                <a:solidFill>
                  <a:srgbClr val="0F1115"/>
                </a:solidFill>
                <a:effectLst/>
                <a:latin typeface="quote-cjk-patch"/>
              </a:rPr>
              <a:t>。目的是确保移动应用在所有支持的设备上，其</a:t>
            </a:r>
            <a:r>
              <a:rPr lang="zh-CN" altLang="en-US" b="1" i="0" dirty="0">
                <a:solidFill>
                  <a:srgbClr val="0F1115"/>
                </a:solidFill>
                <a:effectLst/>
                <a:latin typeface="quote-cjk-patch"/>
              </a:rPr>
              <a:t>可用性</a:t>
            </a:r>
            <a:r>
              <a:rPr lang="zh-CN" altLang="en-US" b="0" i="0" dirty="0">
                <a:solidFill>
                  <a:srgbClr val="0F1115"/>
                </a:solidFill>
                <a:effectLst/>
                <a:latin typeface="quote-cjk-patch"/>
              </a:rPr>
              <a:t>和</a:t>
            </a:r>
            <a:r>
              <a:rPr lang="zh-CN" altLang="en-US" b="1" i="0" dirty="0">
                <a:solidFill>
                  <a:srgbClr val="0F1115"/>
                </a:solidFill>
                <a:effectLst/>
                <a:latin typeface="quote-cjk-patch"/>
              </a:rPr>
              <a:t>可访问性</a:t>
            </a:r>
            <a:r>
              <a:rPr lang="zh-CN" altLang="en-US" b="0" i="0" dirty="0">
                <a:solidFill>
                  <a:srgbClr val="0F1115"/>
                </a:solidFill>
                <a:effectLst/>
                <a:latin typeface="quote-cjk-patch"/>
              </a:rPr>
              <a:t>都能达到利益相关者（特别是最终用户）的期望。这不仅仅是测试功能，更是测试用户的感受。</a:t>
            </a:r>
          </a:p>
          <a:p>
            <a:pPr algn="l">
              <a:buFont typeface="+mj-lt"/>
              <a:buAutoNum type="arabicPeriod"/>
            </a:pPr>
            <a:r>
              <a:rPr lang="zh-CN" altLang="en-US" b="1" i="0" dirty="0">
                <a:solidFill>
                  <a:srgbClr val="0F1115"/>
                </a:solidFill>
                <a:effectLst/>
                <a:latin typeface="quote-cjk-patch"/>
              </a:rPr>
              <a:t>设备兼容性测试</a:t>
            </a:r>
            <a:r>
              <a:rPr lang="zh-CN" altLang="en-US" b="0" i="0" dirty="0">
                <a:solidFill>
                  <a:srgbClr val="0F1115"/>
                </a:solidFill>
                <a:effectLst/>
                <a:latin typeface="quote-cjk-patch"/>
              </a:rPr>
              <a:t>：测试人员需要验证应用在</a:t>
            </a:r>
            <a:r>
              <a:rPr lang="zh-CN" altLang="en-US" b="1" i="0" dirty="0">
                <a:solidFill>
                  <a:srgbClr val="0F1115"/>
                </a:solidFill>
                <a:effectLst/>
                <a:latin typeface="quote-cjk-patch"/>
              </a:rPr>
              <a:t>所有要求的硬件和软件组合</a:t>
            </a:r>
            <a:r>
              <a:rPr lang="zh-CN" altLang="en-US" b="0" i="0" dirty="0">
                <a:solidFill>
                  <a:srgbClr val="0F1115"/>
                </a:solidFill>
                <a:effectLst/>
                <a:latin typeface="quote-cjk-patch"/>
              </a:rPr>
              <a:t>上都能正确工作。这是由于移动设备市场高度碎片化（各种品牌、型号、屏幕尺寸、操作系统版本），必须确保应用在目标设备上表现一致。</a:t>
            </a:r>
          </a:p>
          <a:p>
            <a:pPr algn="l">
              <a:buFont typeface="+mj-lt"/>
              <a:buAutoNum type="arabicPeriod"/>
            </a:pPr>
            <a:r>
              <a:rPr lang="zh-CN" altLang="en-US" b="1" i="0" dirty="0">
                <a:solidFill>
                  <a:srgbClr val="0F1115"/>
                </a:solidFill>
                <a:effectLst/>
                <a:latin typeface="quote-cjk-patch"/>
              </a:rPr>
              <a:t>性能测试</a:t>
            </a:r>
            <a:r>
              <a:rPr lang="zh-CN" altLang="en-US" b="0" i="0" dirty="0">
                <a:solidFill>
                  <a:srgbClr val="0F1115"/>
                </a:solidFill>
                <a:effectLst/>
                <a:latin typeface="quote-cjk-patch"/>
              </a:rPr>
              <a:t>：测试人员需要检查那些</a:t>
            </a:r>
            <a:r>
              <a:rPr lang="zh-CN" altLang="en-US" b="1" i="0" dirty="0">
                <a:solidFill>
                  <a:srgbClr val="0F1115"/>
                </a:solidFill>
                <a:effectLst/>
                <a:latin typeface="quote-cjk-patch"/>
              </a:rPr>
              <a:t>移动设备特有的非功能性需求</a:t>
            </a:r>
            <a:r>
              <a:rPr lang="zh-CN" altLang="en-US" b="0" i="0" dirty="0">
                <a:solidFill>
                  <a:srgbClr val="0F1115"/>
                </a:solidFill>
                <a:effectLst/>
                <a:latin typeface="quote-cjk-patch"/>
              </a:rPr>
              <a:t>。例如：应用的</a:t>
            </a:r>
            <a:r>
              <a:rPr lang="zh-CN" altLang="en-US" b="1" i="0" dirty="0">
                <a:solidFill>
                  <a:srgbClr val="0F1115"/>
                </a:solidFill>
                <a:effectLst/>
                <a:latin typeface="quote-cjk-patch"/>
              </a:rPr>
              <a:t>下载时间</a:t>
            </a:r>
            <a:r>
              <a:rPr lang="zh-CN" altLang="en-US" b="0" i="0" dirty="0">
                <a:solidFill>
                  <a:srgbClr val="0F1115"/>
                </a:solidFill>
                <a:effectLst/>
                <a:latin typeface="quote-cjk-patch"/>
              </a:rPr>
              <a:t>、在不同</a:t>
            </a:r>
            <a:r>
              <a:rPr lang="zh-CN" altLang="en-US" b="1" i="0" dirty="0">
                <a:solidFill>
                  <a:srgbClr val="0F1115"/>
                </a:solidFill>
                <a:effectLst/>
                <a:latin typeface="quote-cjk-patch"/>
              </a:rPr>
              <a:t>处理器速度</a:t>
            </a:r>
            <a:r>
              <a:rPr lang="zh-CN" altLang="en-US" b="0" i="0" dirty="0">
                <a:solidFill>
                  <a:srgbClr val="0F1115"/>
                </a:solidFill>
                <a:effectLst/>
                <a:latin typeface="quote-cjk-patch"/>
              </a:rPr>
              <a:t>下的表现、对设备</a:t>
            </a:r>
            <a:r>
              <a:rPr lang="zh-CN" altLang="en-US" b="1" i="0" dirty="0">
                <a:solidFill>
                  <a:srgbClr val="0F1115"/>
                </a:solidFill>
                <a:effectLst/>
                <a:latin typeface="quote-cjk-patch"/>
              </a:rPr>
              <a:t>存储容量</a:t>
            </a:r>
            <a:r>
              <a:rPr lang="zh-CN" altLang="en-US" b="0" i="0" dirty="0">
                <a:solidFill>
                  <a:srgbClr val="0F1115"/>
                </a:solidFill>
                <a:effectLst/>
                <a:latin typeface="quote-cjk-patch"/>
              </a:rPr>
              <a:t>的占用情况，以及最重要的</a:t>
            </a:r>
            <a:r>
              <a:rPr lang="en-US" altLang="zh-CN" b="0" i="0" dirty="0">
                <a:solidFill>
                  <a:srgbClr val="0F1115"/>
                </a:solidFill>
                <a:effectLst/>
                <a:latin typeface="quote-cjk-patch"/>
              </a:rPr>
              <a:t>——</a:t>
            </a:r>
            <a:r>
              <a:rPr lang="zh-CN" altLang="en-US" b="0" i="0" dirty="0">
                <a:solidFill>
                  <a:srgbClr val="0F1115"/>
                </a:solidFill>
                <a:effectLst/>
                <a:latin typeface="quote-cjk-patch"/>
              </a:rPr>
              <a:t>在不同</a:t>
            </a:r>
            <a:r>
              <a:rPr lang="zh-CN" altLang="en-US" b="1" i="0" dirty="0">
                <a:solidFill>
                  <a:srgbClr val="0F1115"/>
                </a:solidFill>
                <a:effectLst/>
                <a:latin typeface="quote-cjk-patch"/>
              </a:rPr>
              <a:t>电量水平</a:t>
            </a:r>
            <a:r>
              <a:rPr lang="zh-CN" altLang="en-US" b="0" i="0" dirty="0">
                <a:solidFill>
                  <a:srgbClr val="0F1115"/>
                </a:solidFill>
                <a:effectLst/>
                <a:latin typeface="quote-cjk-patch"/>
              </a:rPr>
              <a:t>下的功耗表现。</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5</a:t>
            </a:fld>
            <a:endParaRPr lang="en-US"/>
          </a:p>
        </p:txBody>
      </p:sp>
    </p:spTree>
    <p:extLst>
      <p:ext uri="{BB962C8B-B14F-4D97-AF65-F5344CB8AC3E}">
        <p14:creationId xmlns:p14="http://schemas.microsoft.com/office/powerpoint/2010/main" val="494152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我们继续来看另外四种至关重要的移动应用测试策略。</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这一页继续介绍了另外四种重要的测试策略：</a:t>
            </a:r>
            <a:br>
              <a:rPr lang="zh-CN" altLang="en-US" b="0" i="0" dirty="0">
                <a:solidFill>
                  <a:srgbClr val="0F1115"/>
                </a:solidFill>
                <a:effectLst/>
                <a:latin typeface="quote-cjk-patch"/>
              </a:rPr>
            </a:br>
            <a:r>
              <a:rPr lang="en-US" altLang="zh-CN" b="0" i="0" dirty="0">
                <a:solidFill>
                  <a:srgbClr val="0F1115"/>
                </a:solidFill>
                <a:effectLst/>
                <a:latin typeface="quote-cjk-patch"/>
              </a:rPr>
              <a:t>4. </a:t>
            </a:r>
            <a:r>
              <a:rPr lang="zh-CN" altLang="en-US" b="1" i="0" dirty="0">
                <a:solidFill>
                  <a:srgbClr val="0F1115"/>
                </a:solidFill>
                <a:effectLst/>
                <a:latin typeface="quote-cjk-patch"/>
              </a:rPr>
              <a:t>连接性测试</a:t>
            </a:r>
            <a:r>
              <a:rPr lang="zh-CN" altLang="en-US" b="0" i="0" dirty="0">
                <a:solidFill>
                  <a:srgbClr val="0F1115"/>
                </a:solidFill>
                <a:effectLst/>
                <a:latin typeface="quote-cjk-patch"/>
              </a:rPr>
              <a:t>：测试人员需要确保应用能够访问所需的网络（如</a:t>
            </a:r>
            <a:r>
              <a:rPr lang="en-US" altLang="zh-CN" b="0" i="0" dirty="0">
                <a:solidFill>
                  <a:srgbClr val="0F1115"/>
                </a:solidFill>
                <a:effectLst/>
                <a:latin typeface="quote-cjk-patch"/>
              </a:rPr>
              <a:t>4G/5G/Wi-Fi</a:t>
            </a:r>
            <a:r>
              <a:rPr lang="zh-CN" altLang="en-US" b="0" i="0" dirty="0">
                <a:solidFill>
                  <a:srgbClr val="0F1115"/>
                </a:solidFill>
                <a:effectLst/>
                <a:latin typeface="quote-cjk-patch"/>
              </a:rPr>
              <a:t>）或</a:t>
            </a:r>
            <a:r>
              <a:rPr lang="en-US" altLang="zh-CN" b="0" i="0" dirty="0">
                <a:solidFill>
                  <a:srgbClr val="0F1115"/>
                </a:solidFill>
                <a:effectLst/>
                <a:latin typeface="quote-cjk-patch"/>
              </a:rPr>
              <a:t>Web</a:t>
            </a:r>
            <a:r>
              <a:rPr lang="zh-CN" altLang="en-US" b="0" i="0" dirty="0">
                <a:solidFill>
                  <a:srgbClr val="0F1115"/>
                </a:solidFill>
                <a:effectLst/>
                <a:latin typeface="quote-cjk-patch"/>
              </a:rPr>
              <a:t>服务，并且</a:t>
            </a:r>
            <a:r>
              <a:rPr lang="zh-CN" altLang="en-US" b="1" i="0" dirty="0">
                <a:solidFill>
                  <a:srgbClr val="0F1115"/>
                </a:solidFill>
                <a:effectLst/>
                <a:latin typeface="quote-cjk-patch"/>
              </a:rPr>
              <a:t>能够容忍微弱或中断的网络连接</a:t>
            </a:r>
            <a:r>
              <a:rPr lang="zh-CN" altLang="en-US" b="0" i="0" dirty="0">
                <a:solidFill>
                  <a:srgbClr val="0F1115"/>
                </a:solidFill>
                <a:effectLst/>
                <a:latin typeface="quote-cjk-patch"/>
              </a:rPr>
              <a:t>而不会崩溃，具备一定的离线或降级处理能力。</a:t>
            </a:r>
            <a:br>
              <a:rPr lang="zh-CN" altLang="en-US" b="0" i="0" dirty="0">
                <a:solidFill>
                  <a:srgbClr val="0F1115"/>
                </a:solidFill>
                <a:effectLst/>
                <a:latin typeface="quote-cjk-patch"/>
              </a:rPr>
            </a:br>
            <a:r>
              <a:rPr lang="en-US" altLang="zh-CN" b="0" i="0" dirty="0">
                <a:solidFill>
                  <a:srgbClr val="0F1115"/>
                </a:solidFill>
                <a:effectLst/>
                <a:latin typeface="quote-cjk-patch"/>
              </a:rPr>
              <a:t>5. </a:t>
            </a:r>
            <a:r>
              <a:rPr lang="zh-CN" altLang="en-US" b="1" i="0" dirty="0">
                <a:solidFill>
                  <a:srgbClr val="0F1115"/>
                </a:solidFill>
                <a:effectLst/>
                <a:latin typeface="quote-cjk-patch"/>
              </a:rPr>
              <a:t>安全性测试</a:t>
            </a:r>
            <a:r>
              <a:rPr lang="zh-CN" altLang="en-US" b="0" i="0" dirty="0">
                <a:solidFill>
                  <a:srgbClr val="0F1115"/>
                </a:solidFill>
                <a:effectLst/>
                <a:latin typeface="quote-cjk-patch"/>
              </a:rPr>
              <a:t>：确保应用不会泄露用户隐私或违反其安全要求。移动设备存储大量个人数据，且常在公共网络下使用，因此安全测试至关重要。</a:t>
            </a:r>
            <a:br>
              <a:rPr lang="zh-CN" altLang="en-US" b="0" i="0" dirty="0">
                <a:solidFill>
                  <a:srgbClr val="0F1115"/>
                </a:solidFill>
                <a:effectLst/>
                <a:latin typeface="quote-cjk-patch"/>
              </a:rPr>
            </a:br>
            <a:r>
              <a:rPr lang="en-US" altLang="zh-CN" b="0" i="0" dirty="0">
                <a:solidFill>
                  <a:srgbClr val="0F1115"/>
                </a:solidFill>
                <a:effectLst/>
                <a:latin typeface="quote-cjk-patch"/>
              </a:rPr>
              <a:t>6. </a:t>
            </a:r>
            <a:r>
              <a:rPr lang="zh-CN" altLang="en-US" b="1" i="0" dirty="0">
                <a:solidFill>
                  <a:srgbClr val="0F1115"/>
                </a:solidFill>
                <a:effectLst/>
                <a:latin typeface="quote-cjk-patch"/>
              </a:rPr>
              <a:t>野外测试</a:t>
            </a:r>
            <a:r>
              <a:rPr lang="zh-CN" altLang="en-US" b="0" i="0" dirty="0">
                <a:solidFill>
                  <a:srgbClr val="0F1115"/>
                </a:solidFill>
                <a:effectLst/>
                <a:latin typeface="quote-cjk-patch"/>
              </a:rPr>
              <a:t>：这是对“在真实条件下测试”指南的具体实践。指应用在</a:t>
            </a:r>
            <a:r>
              <a:rPr lang="zh-CN" altLang="en-US" b="1" i="0" dirty="0">
                <a:solidFill>
                  <a:srgbClr val="0F1115"/>
                </a:solidFill>
                <a:effectLst/>
                <a:latin typeface="quote-cjk-patch"/>
              </a:rPr>
              <a:t>真实用户设备</a:t>
            </a:r>
            <a:r>
              <a:rPr lang="zh-CN" altLang="en-US" b="0" i="0" dirty="0">
                <a:solidFill>
                  <a:srgbClr val="0F1115"/>
                </a:solidFill>
                <a:effectLst/>
                <a:latin typeface="quote-cjk-patch"/>
              </a:rPr>
              <a:t>上，于</a:t>
            </a:r>
            <a:r>
              <a:rPr lang="zh-CN" altLang="en-US" b="1" i="0" dirty="0">
                <a:solidFill>
                  <a:srgbClr val="0F1115"/>
                </a:solidFill>
                <a:effectLst/>
                <a:latin typeface="quote-cjk-patch"/>
              </a:rPr>
              <a:t>全球各种网络环境</a:t>
            </a:r>
            <a:r>
              <a:rPr lang="zh-CN" altLang="en-US" b="0" i="0" dirty="0">
                <a:solidFill>
                  <a:srgbClr val="0F1115"/>
                </a:solidFill>
                <a:effectLst/>
                <a:latin typeface="quote-cjk-patch"/>
              </a:rPr>
              <a:t>中进行测试，以发现实验室中无法复现的问题。</a:t>
            </a:r>
            <a:br>
              <a:rPr lang="zh-CN" altLang="en-US" b="0" i="0" dirty="0">
                <a:solidFill>
                  <a:srgbClr val="0F1115"/>
                </a:solidFill>
                <a:effectLst/>
                <a:latin typeface="quote-cjk-patch"/>
              </a:rPr>
            </a:br>
            <a:r>
              <a:rPr lang="en-US" altLang="zh-CN" b="0" i="0" dirty="0">
                <a:solidFill>
                  <a:srgbClr val="0F1115"/>
                </a:solidFill>
                <a:effectLst/>
                <a:latin typeface="quote-cjk-patch"/>
              </a:rPr>
              <a:t>7. </a:t>
            </a:r>
            <a:r>
              <a:rPr lang="zh-CN" altLang="en-US" b="1" i="0" dirty="0">
                <a:solidFill>
                  <a:srgbClr val="0F1115"/>
                </a:solidFill>
                <a:effectLst/>
                <a:latin typeface="quote-cjk-patch"/>
              </a:rPr>
              <a:t>认证测试</a:t>
            </a:r>
            <a:r>
              <a:rPr lang="zh-CN" altLang="en-US" b="0" i="0" dirty="0">
                <a:solidFill>
                  <a:srgbClr val="0F1115"/>
                </a:solidFill>
                <a:effectLst/>
                <a:latin typeface="quote-cjk-patch"/>
              </a:rPr>
              <a:t>：确保应用满足那些将要分发它的</a:t>
            </a:r>
            <a:r>
              <a:rPr lang="zh-CN" altLang="en-US" b="1" i="0" dirty="0">
                <a:solidFill>
                  <a:srgbClr val="0F1115"/>
                </a:solidFill>
                <a:effectLst/>
                <a:latin typeface="quote-cjk-patch"/>
              </a:rPr>
              <a:t>应用商店（如</a:t>
            </a:r>
            <a:r>
              <a:rPr lang="en-US" altLang="zh-CN" b="1" i="0" dirty="0">
                <a:solidFill>
                  <a:srgbClr val="0F1115"/>
                </a:solidFill>
                <a:effectLst/>
                <a:latin typeface="quote-cjk-patch"/>
              </a:rPr>
              <a:t>Apple App Store, Google Play</a:t>
            </a:r>
            <a:r>
              <a:rPr lang="zh-CN" altLang="en-US" b="1" i="0" dirty="0">
                <a:solidFill>
                  <a:srgbClr val="0F1115"/>
                </a:solidFill>
                <a:effectLst/>
                <a:latin typeface="quote-cjk-patch"/>
              </a:rPr>
              <a:t>）所建立的标准</a:t>
            </a:r>
            <a:r>
              <a:rPr lang="zh-CN" altLang="en-US" b="0" i="0" dirty="0">
                <a:solidFill>
                  <a:srgbClr val="0F1115"/>
                </a:solidFill>
                <a:effectLst/>
                <a:latin typeface="quote-cjk-patch"/>
              </a:rPr>
              <a:t>。不通过这些认证，应用就无法上架。</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6</a:t>
            </a:fld>
            <a:endParaRPr lang="en-US"/>
          </a:p>
        </p:txBody>
      </p:sp>
    </p:spTree>
    <p:extLst>
      <p:ext uri="{BB962C8B-B14F-4D97-AF65-F5344CB8AC3E}">
        <p14:creationId xmlns:p14="http://schemas.microsoft.com/office/powerpoint/2010/main" val="9045485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在移动应用的用户体验测试中，有一个特别具有挑战性的领域</a:t>
            </a:r>
            <a:r>
              <a:rPr lang="en-US" altLang="zh-CN" b="0" i="0" dirty="0">
                <a:solidFill>
                  <a:srgbClr val="0F1115"/>
                </a:solidFill>
                <a:effectLst/>
                <a:latin typeface="quote-cjk-patch"/>
              </a:rPr>
              <a:t>——</a:t>
            </a:r>
            <a:r>
              <a:rPr lang="zh-CN" altLang="en-US" b="0" i="0" dirty="0">
                <a:solidFill>
                  <a:srgbClr val="0F1115"/>
                </a:solidFill>
                <a:effectLst/>
                <a:latin typeface="quote-cjk-patch"/>
              </a:rPr>
              <a:t>手势测试。由于触摸屏是移动设备的主要交互方式，我们必须理解测试手势时所面临的独特困难。</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这一页重点说明了测试</a:t>
            </a:r>
            <a:r>
              <a:rPr lang="zh-CN" altLang="en-US" b="1" i="0" dirty="0">
                <a:solidFill>
                  <a:srgbClr val="0F1115"/>
                </a:solidFill>
                <a:effectLst/>
                <a:latin typeface="quote-cjk-patch"/>
              </a:rPr>
              <a:t>多触点手势</a:t>
            </a:r>
            <a:r>
              <a:rPr lang="zh-CN" altLang="en-US" b="0" i="0" dirty="0">
                <a:solidFill>
                  <a:srgbClr val="0F1115"/>
                </a:solidFill>
                <a:effectLst/>
                <a:latin typeface="quote-cjk-patch"/>
              </a:rPr>
              <a:t>时遇到的几个主要难题：</a:t>
            </a:r>
          </a:p>
          <a:p>
            <a:pPr algn="l">
              <a:buFont typeface="Arial" panose="020B0604020202020204" pitchFamily="34" charset="0"/>
              <a:buChar char="•"/>
            </a:pPr>
            <a:r>
              <a:rPr lang="zh-CN" altLang="en-US" b="1" i="0" dirty="0">
                <a:solidFill>
                  <a:srgbClr val="0F1115"/>
                </a:solidFill>
                <a:effectLst/>
                <a:latin typeface="quote-cjk-patch"/>
              </a:rPr>
              <a:t>原型限制</a:t>
            </a:r>
            <a:r>
              <a:rPr lang="zh-CN" altLang="en-US" b="0" i="0" dirty="0">
                <a:solidFill>
                  <a:srgbClr val="0F1115"/>
                </a:solidFill>
                <a:effectLst/>
                <a:latin typeface="quote-cjk-patch"/>
              </a:rPr>
              <a:t>：传统的</a:t>
            </a:r>
            <a:r>
              <a:rPr lang="zh-CN" altLang="en-US" b="1" i="0" dirty="0">
                <a:solidFill>
                  <a:srgbClr val="0F1115"/>
                </a:solidFill>
                <a:effectLst/>
                <a:latin typeface="quote-cjk-patch"/>
              </a:rPr>
              <a:t>纸面原型</a:t>
            </a:r>
            <a:r>
              <a:rPr lang="zh-CN" altLang="en-US" b="0" i="0" dirty="0">
                <a:solidFill>
                  <a:srgbClr val="0F1115"/>
                </a:solidFill>
                <a:effectLst/>
                <a:latin typeface="quote-cjk-patch"/>
              </a:rPr>
              <a:t>无法充分评估手势的充分性和有效性。</a:t>
            </a:r>
          </a:p>
          <a:p>
            <a:pPr algn="l">
              <a:buFont typeface="Arial" panose="020B0604020202020204" pitchFamily="34" charset="0"/>
              <a:buChar char="•"/>
            </a:pPr>
            <a:r>
              <a:rPr lang="zh-CN" altLang="en-US" b="1" i="0" dirty="0">
                <a:solidFill>
                  <a:srgbClr val="0F1115"/>
                </a:solidFill>
                <a:effectLst/>
                <a:latin typeface="quote-cjk-patch"/>
              </a:rPr>
              <a:t>自动化困难</a:t>
            </a:r>
            <a:r>
              <a:rPr lang="zh-CN" altLang="en-US" b="0" i="0" dirty="0">
                <a:solidFill>
                  <a:srgbClr val="0F1115"/>
                </a:solidFill>
                <a:effectLst/>
                <a:latin typeface="quote-cjk-patch"/>
              </a:rPr>
              <a:t>：很难使用自动化工具来模拟和测试复杂的手势界面动作。</a:t>
            </a:r>
          </a:p>
          <a:p>
            <a:pPr algn="l">
              <a:buFont typeface="Arial" panose="020B0604020202020204" pitchFamily="34" charset="0"/>
              <a:buChar char="•"/>
            </a:pPr>
            <a:r>
              <a:rPr lang="zh-CN" altLang="en-US" b="1" i="0" dirty="0">
                <a:solidFill>
                  <a:srgbClr val="0F1115"/>
                </a:solidFill>
                <a:effectLst/>
                <a:latin typeface="quote-cjk-patch"/>
              </a:rPr>
              <a:t>屏幕差异</a:t>
            </a:r>
            <a:r>
              <a:rPr lang="zh-CN" altLang="en-US" b="0" i="0" dirty="0">
                <a:solidFill>
                  <a:srgbClr val="0F1115"/>
                </a:solidFill>
                <a:effectLst/>
                <a:latin typeface="quote-cjk-patch"/>
              </a:rPr>
              <a:t>：不同设备的屏幕尺寸和分辨率会影响屏幕对象的位置，使得</a:t>
            </a:r>
            <a:r>
              <a:rPr lang="zh-CN" altLang="en-US" b="1" i="0" dirty="0">
                <a:solidFill>
                  <a:srgbClr val="0F1115"/>
                </a:solidFill>
                <a:effectLst/>
                <a:latin typeface="quote-cjk-patch"/>
              </a:rPr>
              <a:t>手势的准确性难以统一测试</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日志记录挑战</a:t>
            </a:r>
            <a:r>
              <a:rPr lang="zh-CN" altLang="en-US" b="0" i="0" dirty="0">
                <a:solidFill>
                  <a:srgbClr val="0F1115"/>
                </a:solidFill>
                <a:effectLst/>
                <a:latin typeface="quote-cjk-patch"/>
              </a:rPr>
              <a:t>：手势动作很难被精确地记录下来，以便后续重放和分析。</a:t>
            </a:r>
          </a:p>
          <a:p>
            <a:pPr algn="l">
              <a:buFont typeface="Arial" panose="020B0604020202020204" pitchFamily="34" charset="0"/>
              <a:buChar char="•"/>
            </a:pPr>
            <a:r>
              <a:rPr lang="zh-CN" altLang="en-US" b="1" i="0" dirty="0">
                <a:solidFill>
                  <a:srgbClr val="0F1115"/>
                </a:solidFill>
                <a:effectLst/>
                <a:latin typeface="quote-cjk-patch"/>
              </a:rPr>
              <a:t>可访问性挑战</a:t>
            </a:r>
            <a:r>
              <a:rPr lang="zh-CN" altLang="en-US" b="0" i="0" dirty="0">
                <a:solidFill>
                  <a:srgbClr val="0F1115"/>
                </a:solidFill>
                <a:effectLst/>
                <a:latin typeface="quote-cjk-patch"/>
              </a:rPr>
              <a:t>：对于视障用户，手势界面通常不提供触觉或听觉反馈，这使得针对他们的</a:t>
            </a:r>
            <a:r>
              <a:rPr lang="zh-CN" altLang="en-US" b="1" i="0" dirty="0">
                <a:solidFill>
                  <a:srgbClr val="0F1115"/>
                </a:solidFill>
                <a:effectLst/>
                <a:latin typeface="quote-cjk-patch"/>
              </a:rPr>
              <a:t>可访问性测试</a:t>
            </a:r>
            <a:r>
              <a:rPr lang="zh-CN" altLang="en-US" b="0" i="0" dirty="0">
                <a:solidFill>
                  <a:srgbClr val="0F1115"/>
                </a:solidFill>
                <a:effectLst/>
                <a:latin typeface="quote-cjk-patch"/>
              </a:rPr>
              <a:t>变得异常困难。</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7</a:t>
            </a:fld>
            <a:endParaRPr lang="en-US"/>
          </a:p>
        </p:txBody>
      </p:sp>
    </p:spTree>
    <p:extLst>
      <p:ext uri="{BB962C8B-B14F-4D97-AF65-F5344CB8AC3E}">
        <p14:creationId xmlns:p14="http://schemas.microsoft.com/office/powerpoint/2010/main" val="147331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除了手势，虚拟键盘是另一个主要的输入方式，它也带来了一系列独特的测试挑战。</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这一页详细说明了测试</a:t>
            </a:r>
            <a:r>
              <a:rPr lang="zh-CN" altLang="en-US" b="1" i="0" dirty="0">
                <a:solidFill>
                  <a:srgbClr val="0F1115"/>
                </a:solidFill>
                <a:effectLst/>
                <a:latin typeface="quote-cjk-patch"/>
              </a:rPr>
              <a:t>虚拟键盘</a:t>
            </a:r>
            <a:r>
              <a:rPr lang="zh-CN" altLang="en-US" b="0" i="0" dirty="0">
                <a:solidFill>
                  <a:srgbClr val="0F1115"/>
                </a:solidFill>
                <a:effectLst/>
                <a:latin typeface="quote-cjk-patch"/>
              </a:rPr>
              <a:t>时需要关注的几个关键点：</a:t>
            </a:r>
          </a:p>
          <a:p>
            <a:pPr algn="l">
              <a:buFont typeface="Arial" panose="020B0604020202020204" pitchFamily="34" charset="0"/>
              <a:buChar char="•"/>
            </a:pPr>
            <a:r>
              <a:rPr lang="zh-CN" altLang="en-US" b="1" i="0" dirty="0">
                <a:solidFill>
                  <a:srgbClr val="0F1115"/>
                </a:solidFill>
                <a:effectLst/>
                <a:latin typeface="quote-cjk-patch"/>
              </a:rPr>
              <a:t>屏幕遮挡</a:t>
            </a:r>
            <a:r>
              <a:rPr lang="zh-CN" altLang="en-US" b="0" i="0" dirty="0">
                <a:solidFill>
                  <a:srgbClr val="0F1115"/>
                </a:solidFill>
                <a:effectLst/>
                <a:latin typeface="quote-cjk-patch"/>
              </a:rPr>
              <a:t>：虚拟键盘弹出时可能会</a:t>
            </a:r>
            <a:r>
              <a:rPr lang="zh-CN" altLang="en-US" b="1" i="0" dirty="0">
                <a:solidFill>
                  <a:srgbClr val="0F1115"/>
                </a:solidFill>
                <a:effectLst/>
                <a:latin typeface="quote-cjk-patch"/>
              </a:rPr>
              <a:t>遮挡部分显示屏幕</a:t>
            </a:r>
            <a:r>
              <a:rPr lang="zh-CN" altLang="en-US" b="0" i="0" dirty="0">
                <a:solidFill>
                  <a:srgbClr val="0F1115"/>
                </a:solidFill>
                <a:effectLst/>
                <a:latin typeface="quote-cjk-patch"/>
              </a:rPr>
              <a:t>。测试必须确保重要的屏幕信息（如表单的提交按钮）在输入时不会被隐藏。</a:t>
            </a:r>
          </a:p>
          <a:p>
            <a:pPr algn="l">
              <a:buFont typeface="Arial" panose="020B0604020202020204" pitchFamily="34" charset="0"/>
              <a:buChar char="•"/>
            </a:pPr>
            <a:r>
              <a:rPr lang="zh-CN" altLang="en-US" b="1" i="0" dirty="0">
                <a:solidFill>
                  <a:srgbClr val="0F1115"/>
                </a:solidFill>
                <a:effectLst/>
                <a:latin typeface="quote-cjk-patch"/>
              </a:rPr>
              <a:t>输入体验</a:t>
            </a:r>
            <a:r>
              <a:rPr lang="zh-CN" altLang="en-US" b="0" i="0" dirty="0">
                <a:solidFill>
                  <a:srgbClr val="0F1115"/>
                </a:solidFill>
                <a:effectLst/>
                <a:latin typeface="quote-cjk-patch"/>
              </a:rPr>
              <a:t>：虚拟键盘比</a:t>
            </a:r>
            <a:r>
              <a:rPr lang="en-US" altLang="zh-CN" b="0" i="0" dirty="0">
                <a:solidFill>
                  <a:srgbClr val="0F1115"/>
                </a:solidFill>
                <a:effectLst/>
                <a:latin typeface="quote-cjk-patch"/>
              </a:rPr>
              <a:t>PC</a:t>
            </a:r>
            <a:r>
              <a:rPr lang="zh-CN" altLang="en-US" b="0" i="0" dirty="0">
                <a:solidFill>
                  <a:srgbClr val="0F1115"/>
                </a:solidFill>
                <a:effectLst/>
                <a:latin typeface="quote-cjk-patch"/>
              </a:rPr>
              <a:t>键盘小，难以十指打字，且</a:t>
            </a:r>
            <a:r>
              <a:rPr lang="zh-CN" altLang="en-US" b="1" i="0" dirty="0">
                <a:solidFill>
                  <a:srgbClr val="0F1115"/>
                </a:solidFill>
                <a:effectLst/>
                <a:latin typeface="quote-cjk-patch"/>
              </a:rPr>
              <a:t>没有触觉反馈</a:t>
            </a:r>
            <a:r>
              <a:rPr lang="zh-CN" altLang="en-US" b="0" i="0" dirty="0">
                <a:solidFill>
                  <a:srgbClr val="0F1115"/>
                </a:solidFill>
                <a:effectLst/>
                <a:latin typeface="quote-cjk-patch"/>
              </a:rPr>
              <a:t>，容易打错。测试需要关注应用的</a:t>
            </a:r>
            <a:r>
              <a:rPr lang="zh-CN" altLang="en-US" b="1" i="0" dirty="0">
                <a:solidFill>
                  <a:srgbClr val="0F1115"/>
                </a:solidFill>
                <a:effectLst/>
                <a:latin typeface="quote-cjk-patch"/>
              </a:rPr>
              <a:t>容错能力</a:t>
            </a:r>
            <a:r>
              <a:rPr lang="zh-CN" altLang="en-US" b="0" i="0" dirty="0">
                <a:solidFill>
                  <a:srgbClr val="0F1115"/>
                </a:solidFill>
                <a:effectLst/>
                <a:latin typeface="quote-cjk-patch"/>
              </a:rPr>
              <a:t>，确保它能轻松地允许错误修正，并能处理误输入而不崩溃。</a:t>
            </a:r>
          </a:p>
          <a:p>
            <a:pPr algn="l">
              <a:buFont typeface="Arial" panose="020B0604020202020204" pitchFamily="34" charset="0"/>
              <a:buChar char="•"/>
            </a:pPr>
            <a:r>
              <a:rPr lang="zh-CN" altLang="en-US" b="1" i="0" dirty="0">
                <a:solidFill>
                  <a:srgbClr val="0F1115"/>
                </a:solidFill>
                <a:effectLst/>
                <a:latin typeface="quote-cjk-patch"/>
              </a:rPr>
              <a:t>预测技术</a:t>
            </a:r>
            <a:r>
              <a:rPr lang="zh-CN" altLang="en-US" b="0" i="0" dirty="0">
                <a:solidFill>
                  <a:srgbClr val="0F1115"/>
                </a:solidFill>
                <a:effectLst/>
                <a:latin typeface="quote-cjk-patch"/>
              </a:rPr>
              <a:t>：许多应用使用</a:t>
            </a:r>
            <a:r>
              <a:rPr lang="zh-CN" altLang="en-US" b="1" i="0" dirty="0">
                <a:solidFill>
                  <a:srgbClr val="0F1115"/>
                </a:solidFill>
                <a:effectLst/>
                <a:latin typeface="quote-cjk-patch"/>
              </a:rPr>
              <a:t>预测性技术</a:t>
            </a:r>
            <a:r>
              <a:rPr lang="zh-CN" altLang="en-US" b="0" i="0" dirty="0">
                <a:solidFill>
                  <a:srgbClr val="0F1115"/>
                </a:solidFill>
                <a:effectLst/>
                <a:latin typeface="quote-cjk-patch"/>
              </a:rPr>
              <a:t>（如自动补全）来加速用户输入。测试必须验证这些</a:t>
            </a:r>
            <a:r>
              <a:rPr lang="zh-CN" altLang="en-US" b="1" i="0" dirty="0">
                <a:solidFill>
                  <a:srgbClr val="0F1115"/>
                </a:solidFill>
                <a:effectLst/>
                <a:latin typeface="quote-cjk-patch"/>
              </a:rPr>
              <a:t>自动补全的词语对于用户选择的自然语言是否正确和恰当</a:t>
            </a:r>
            <a:r>
              <a:rPr lang="zh-CN" altLang="en-US" b="0" i="0" dirty="0">
                <a:solidFill>
                  <a:srgbClr val="0F1115"/>
                </a:solidFill>
                <a:effectLst/>
                <a:latin typeface="quote-cjk-patch"/>
              </a:rPr>
              <a:t>，避免出现尴尬或错误的补全建议。</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8</a:t>
            </a:fld>
            <a:endParaRPr lang="en-US"/>
          </a:p>
        </p:txBody>
      </p:sp>
    </p:spTree>
    <p:extLst>
      <p:ext uri="{BB962C8B-B14F-4D97-AF65-F5344CB8AC3E}">
        <p14:creationId xmlns:p14="http://schemas.microsoft.com/office/powerpoint/2010/main" val="593460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除了手势，虚拟键盘是另一个主要的输入方式，它也带来了一系列独特的测试挑战。</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这一页详细说明了测试</a:t>
            </a:r>
            <a:r>
              <a:rPr lang="zh-CN" altLang="en-US" b="1" i="0" dirty="0">
                <a:solidFill>
                  <a:srgbClr val="0F1115"/>
                </a:solidFill>
                <a:effectLst/>
                <a:latin typeface="quote-cjk-patch"/>
              </a:rPr>
              <a:t>虚拟键盘</a:t>
            </a:r>
            <a:r>
              <a:rPr lang="zh-CN" altLang="en-US" b="0" i="0" dirty="0">
                <a:solidFill>
                  <a:srgbClr val="0F1115"/>
                </a:solidFill>
                <a:effectLst/>
                <a:latin typeface="quote-cjk-patch"/>
              </a:rPr>
              <a:t>时需要关注的几个关键点：</a:t>
            </a:r>
          </a:p>
          <a:p>
            <a:pPr algn="l">
              <a:buFont typeface="Arial" panose="020B0604020202020204" pitchFamily="34" charset="0"/>
              <a:buChar char="•"/>
            </a:pPr>
            <a:r>
              <a:rPr lang="zh-CN" altLang="en-US" b="1" i="0" dirty="0">
                <a:solidFill>
                  <a:srgbClr val="0F1115"/>
                </a:solidFill>
                <a:effectLst/>
                <a:latin typeface="quote-cjk-patch"/>
              </a:rPr>
              <a:t>屏幕遮挡</a:t>
            </a:r>
            <a:r>
              <a:rPr lang="zh-CN" altLang="en-US" b="0" i="0" dirty="0">
                <a:solidFill>
                  <a:srgbClr val="0F1115"/>
                </a:solidFill>
                <a:effectLst/>
                <a:latin typeface="quote-cjk-patch"/>
              </a:rPr>
              <a:t>：虚拟键盘弹出时可能会</a:t>
            </a:r>
            <a:r>
              <a:rPr lang="zh-CN" altLang="en-US" b="1" i="0" dirty="0">
                <a:solidFill>
                  <a:srgbClr val="0F1115"/>
                </a:solidFill>
                <a:effectLst/>
                <a:latin typeface="quote-cjk-patch"/>
              </a:rPr>
              <a:t>遮挡部分显示屏幕</a:t>
            </a:r>
            <a:r>
              <a:rPr lang="zh-CN" altLang="en-US" b="0" i="0" dirty="0">
                <a:solidFill>
                  <a:srgbClr val="0F1115"/>
                </a:solidFill>
                <a:effectLst/>
                <a:latin typeface="quote-cjk-patch"/>
              </a:rPr>
              <a:t>。测试必须确保重要的屏幕信息（如表单的提交按钮）在输入时不会被隐藏。</a:t>
            </a:r>
          </a:p>
          <a:p>
            <a:pPr algn="l">
              <a:buFont typeface="Arial" panose="020B0604020202020204" pitchFamily="34" charset="0"/>
              <a:buChar char="•"/>
            </a:pPr>
            <a:r>
              <a:rPr lang="zh-CN" altLang="en-US" b="1" i="0" dirty="0">
                <a:solidFill>
                  <a:srgbClr val="0F1115"/>
                </a:solidFill>
                <a:effectLst/>
                <a:latin typeface="quote-cjk-patch"/>
              </a:rPr>
              <a:t>输入体验</a:t>
            </a:r>
            <a:r>
              <a:rPr lang="zh-CN" altLang="en-US" b="0" i="0" dirty="0">
                <a:solidFill>
                  <a:srgbClr val="0F1115"/>
                </a:solidFill>
                <a:effectLst/>
                <a:latin typeface="quote-cjk-patch"/>
              </a:rPr>
              <a:t>：虚拟键盘比</a:t>
            </a:r>
            <a:r>
              <a:rPr lang="en-US" altLang="zh-CN" b="0" i="0" dirty="0">
                <a:solidFill>
                  <a:srgbClr val="0F1115"/>
                </a:solidFill>
                <a:effectLst/>
                <a:latin typeface="quote-cjk-patch"/>
              </a:rPr>
              <a:t>PC</a:t>
            </a:r>
            <a:r>
              <a:rPr lang="zh-CN" altLang="en-US" b="0" i="0" dirty="0">
                <a:solidFill>
                  <a:srgbClr val="0F1115"/>
                </a:solidFill>
                <a:effectLst/>
                <a:latin typeface="quote-cjk-patch"/>
              </a:rPr>
              <a:t>键盘小，难以十指打字，且</a:t>
            </a:r>
            <a:r>
              <a:rPr lang="zh-CN" altLang="en-US" b="1" i="0" dirty="0">
                <a:solidFill>
                  <a:srgbClr val="0F1115"/>
                </a:solidFill>
                <a:effectLst/>
                <a:latin typeface="quote-cjk-patch"/>
              </a:rPr>
              <a:t>没有触觉反馈</a:t>
            </a:r>
            <a:r>
              <a:rPr lang="zh-CN" altLang="en-US" b="0" i="0" dirty="0">
                <a:solidFill>
                  <a:srgbClr val="0F1115"/>
                </a:solidFill>
                <a:effectLst/>
                <a:latin typeface="quote-cjk-patch"/>
              </a:rPr>
              <a:t>，容易打错。测试需要关注应用的</a:t>
            </a:r>
            <a:r>
              <a:rPr lang="zh-CN" altLang="en-US" b="1" i="0" dirty="0">
                <a:solidFill>
                  <a:srgbClr val="0F1115"/>
                </a:solidFill>
                <a:effectLst/>
                <a:latin typeface="quote-cjk-patch"/>
              </a:rPr>
              <a:t>容错能力</a:t>
            </a:r>
            <a:r>
              <a:rPr lang="zh-CN" altLang="en-US" b="0" i="0" dirty="0">
                <a:solidFill>
                  <a:srgbClr val="0F1115"/>
                </a:solidFill>
                <a:effectLst/>
                <a:latin typeface="quote-cjk-patch"/>
              </a:rPr>
              <a:t>，确保它能轻松地允许错误修正，并能处理误输入而不崩溃。</a:t>
            </a:r>
          </a:p>
          <a:p>
            <a:pPr algn="l">
              <a:buFont typeface="Arial" panose="020B0604020202020204" pitchFamily="34" charset="0"/>
              <a:buChar char="•"/>
            </a:pPr>
            <a:r>
              <a:rPr lang="zh-CN" altLang="en-US" b="1" i="0" dirty="0">
                <a:solidFill>
                  <a:srgbClr val="0F1115"/>
                </a:solidFill>
                <a:effectLst/>
                <a:latin typeface="quote-cjk-patch"/>
              </a:rPr>
              <a:t>预测技术</a:t>
            </a:r>
            <a:r>
              <a:rPr lang="zh-CN" altLang="en-US" b="0" i="0" dirty="0">
                <a:solidFill>
                  <a:srgbClr val="0F1115"/>
                </a:solidFill>
                <a:effectLst/>
                <a:latin typeface="quote-cjk-patch"/>
              </a:rPr>
              <a:t>：许多应用使用</a:t>
            </a:r>
            <a:r>
              <a:rPr lang="zh-CN" altLang="en-US" b="1" i="0" dirty="0">
                <a:solidFill>
                  <a:srgbClr val="0F1115"/>
                </a:solidFill>
                <a:effectLst/>
                <a:latin typeface="quote-cjk-patch"/>
              </a:rPr>
              <a:t>预测性技术</a:t>
            </a:r>
            <a:r>
              <a:rPr lang="zh-CN" altLang="en-US" b="0" i="0" dirty="0">
                <a:solidFill>
                  <a:srgbClr val="0F1115"/>
                </a:solidFill>
                <a:effectLst/>
                <a:latin typeface="quote-cjk-patch"/>
              </a:rPr>
              <a:t>（如自动补全）来加速用户输入。测试必须验证这些</a:t>
            </a:r>
            <a:r>
              <a:rPr lang="zh-CN" altLang="en-US" b="1" i="0" dirty="0">
                <a:solidFill>
                  <a:srgbClr val="0F1115"/>
                </a:solidFill>
                <a:effectLst/>
                <a:latin typeface="quote-cjk-patch"/>
              </a:rPr>
              <a:t>自动补全的词语对于用户选择的自然语言是否正确和恰当</a:t>
            </a:r>
            <a:r>
              <a:rPr lang="zh-CN" altLang="en-US" b="0" i="0" dirty="0">
                <a:solidFill>
                  <a:srgbClr val="0F1115"/>
                </a:solidFill>
                <a:effectLst/>
                <a:latin typeface="quote-cjk-patch"/>
              </a:rPr>
              <a:t>，避免出现尴尬或错误的补全建议。</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9</a:t>
            </a:fld>
            <a:endParaRPr lang="en-US"/>
          </a:p>
        </p:txBody>
      </p:sp>
    </p:spTree>
    <p:extLst>
      <p:ext uri="{BB962C8B-B14F-4D97-AF65-F5344CB8AC3E}">
        <p14:creationId xmlns:p14="http://schemas.microsoft.com/office/powerpoint/2010/main" val="3635569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这一页阐述了测试</a:t>
            </a:r>
            <a:r>
              <a:rPr lang="zh-CN" altLang="en-US" b="1" i="0" dirty="0">
                <a:solidFill>
                  <a:srgbClr val="0F1115"/>
                </a:solidFill>
                <a:effectLst/>
                <a:latin typeface="quote-cjk-patch"/>
              </a:rPr>
              <a:t>语音输入</a:t>
            </a:r>
            <a:r>
              <a:rPr lang="zh-CN" altLang="en-US" b="0" i="0" dirty="0">
                <a:solidFill>
                  <a:srgbClr val="0F1115"/>
                </a:solidFill>
                <a:effectLst/>
                <a:latin typeface="quote-cjk-patch"/>
              </a:rPr>
              <a:t>时需要关注的核心要点：</a:t>
            </a:r>
          </a:p>
          <a:p>
            <a:pPr algn="l">
              <a:buFont typeface="Arial" panose="020B0604020202020204" pitchFamily="34" charset="0"/>
              <a:buChar char="•"/>
            </a:pPr>
            <a:r>
              <a:rPr lang="zh-CN" altLang="en-US" b="1" i="0" dirty="0">
                <a:solidFill>
                  <a:srgbClr val="0F1115"/>
                </a:solidFill>
                <a:effectLst/>
                <a:latin typeface="quote-cjk-patch"/>
              </a:rPr>
              <a:t>应用场景</a:t>
            </a:r>
            <a:r>
              <a:rPr lang="zh-CN" altLang="en-US" b="0" i="0" dirty="0">
                <a:solidFill>
                  <a:srgbClr val="0F1115"/>
                </a:solidFill>
                <a:effectLst/>
                <a:latin typeface="quote-cjk-patch"/>
              </a:rPr>
              <a:t>：语音输入在“手忙眼忙”的情况下尤为有用，但这也带来了新的测试维度。</a:t>
            </a:r>
          </a:p>
          <a:p>
            <a:pPr algn="l">
              <a:buFont typeface="Arial" panose="020B0604020202020204" pitchFamily="34" charset="0"/>
              <a:buChar char="•"/>
            </a:pPr>
            <a:r>
              <a:rPr lang="zh-CN" altLang="en-US" b="1" i="0" dirty="0">
                <a:solidFill>
                  <a:srgbClr val="0F1115"/>
                </a:solidFill>
                <a:effectLst/>
                <a:latin typeface="quote-cjk-patch"/>
              </a:rPr>
              <a:t>认知负荷</a:t>
            </a:r>
            <a:r>
              <a:rPr lang="zh-CN" altLang="en-US" b="0" i="0" dirty="0">
                <a:solidFill>
                  <a:srgbClr val="0F1115"/>
                </a:solidFill>
                <a:effectLst/>
                <a:latin typeface="quote-cjk-patch"/>
              </a:rPr>
              <a:t>：使用语音命令控制设备比点击屏幕或按键会</a:t>
            </a:r>
            <a:r>
              <a:rPr lang="zh-CN" altLang="en-US" b="1" i="0" dirty="0">
                <a:solidFill>
                  <a:srgbClr val="0F1115"/>
                </a:solidFill>
                <a:effectLst/>
                <a:latin typeface="quote-cjk-patch"/>
              </a:rPr>
              <a:t>给用户带来更大的认知负担</a:t>
            </a:r>
            <a:r>
              <a:rPr lang="zh-CN" altLang="en-US" b="0" i="0" dirty="0">
                <a:solidFill>
                  <a:srgbClr val="0F1115"/>
                </a:solidFill>
                <a:effectLst/>
                <a:latin typeface="quote-cjk-patch"/>
              </a:rPr>
              <a:t>。测试需要评估这种交互方式是否直观、易用。</a:t>
            </a:r>
          </a:p>
          <a:p>
            <a:pPr algn="l">
              <a:buFont typeface="Arial" panose="020B0604020202020204" pitchFamily="34" charset="0"/>
              <a:buChar char="•"/>
            </a:pPr>
            <a:r>
              <a:rPr lang="zh-CN" altLang="en-US" b="1" i="0" dirty="0">
                <a:solidFill>
                  <a:srgbClr val="0F1115"/>
                </a:solidFill>
                <a:effectLst/>
                <a:latin typeface="quote-cjk-patch"/>
              </a:rPr>
              <a:t>测试环境的复杂性</a:t>
            </a:r>
            <a:r>
              <a:rPr lang="zh-CN" altLang="en-US" b="0" i="0" dirty="0">
                <a:solidFill>
                  <a:srgbClr val="0F1115"/>
                </a:solidFill>
                <a:effectLst/>
                <a:latin typeface="quote-cjk-patch"/>
              </a:rPr>
              <a:t>：测试语音识别质量和可靠性时，必须考虑</a:t>
            </a:r>
            <a:r>
              <a:rPr lang="zh-CN" altLang="en-US" b="1" i="0" dirty="0">
                <a:solidFill>
                  <a:srgbClr val="0F1115"/>
                </a:solidFill>
                <a:effectLst/>
                <a:latin typeface="quote-cjk-patch"/>
              </a:rPr>
              <a:t>环境条件</a:t>
            </a:r>
            <a:r>
              <a:rPr lang="zh-CN" altLang="en-US" b="0" i="0" dirty="0">
                <a:solidFill>
                  <a:srgbClr val="0F1115"/>
                </a:solidFill>
                <a:effectLst/>
                <a:latin typeface="quote-cjk-patch"/>
              </a:rPr>
              <a:t>（如背景噪音）和</a:t>
            </a:r>
            <a:r>
              <a:rPr lang="zh-CN" altLang="en-US" b="1" i="0" dirty="0">
                <a:solidFill>
                  <a:srgbClr val="0F1115"/>
                </a:solidFill>
                <a:effectLst/>
                <a:latin typeface="quote-cjk-patch"/>
              </a:rPr>
              <a:t>个体声音差异</a:t>
            </a:r>
            <a:r>
              <a:rPr lang="zh-CN" altLang="en-US" b="0" i="0" dirty="0">
                <a:solidFill>
                  <a:srgbClr val="0F1115"/>
                </a:solidFill>
                <a:effectLst/>
                <a:latin typeface="quote-cjk-patch"/>
              </a:rPr>
              <a:t>（如口音、语速、音调）。不能在安静的实验室里完成所有测试。</a:t>
            </a:r>
          </a:p>
          <a:p>
            <a:pPr algn="l">
              <a:buFont typeface="Arial" panose="020B0604020202020204" pitchFamily="34" charset="0"/>
              <a:buChar char="•"/>
            </a:pPr>
            <a:r>
              <a:rPr lang="zh-CN" altLang="en-US" b="1" i="0" dirty="0">
                <a:solidFill>
                  <a:srgbClr val="0F1115"/>
                </a:solidFill>
                <a:effectLst/>
                <a:latin typeface="quote-cjk-patch"/>
              </a:rPr>
              <a:t>鲁棒性测试</a:t>
            </a:r>
            <a:r>
              <a:rPr lang="zh-CN" altLang="en-US" b="0" i="0" dirty="0">
                <a:solidFill>
                  <a:srgbClr val="0F1115"/>
                </a:solidFill>
                <a:effectLst/>
                <a:latin typeface="quote-cjk-patch"/>
              </a:rPr>
              <a:t>：必须测试应用在接收到</a:t>
            </a:r>
            <a:r>
              <a:rPr lang="zh-CN" altLang="en-US" b="1" i="0" dirty="0">
                <a:solidFill>
                  <a:srgbClr val="0F1115"/>
                </a:solidFill>
                <a:effectLst/>
                <a:latin typeface="quote-cjk-patch"/>
              </a:rPr>
              <a:t>错误或模糊的语音输入</a:t>
            </a:r>
            <a:r>
              <a:rPr lang="zh-CN" altLang="en-US" b="0" i="0" dirty="0">
                <a:solidFill>
                  <a:srgbClr val="0F1115"/>
                </a:solidFill>
                <a:effectLst/>
                <a:latin typeface="quote-cjk-patch"/>
              </a:rPr>
              <a:t>时，不会崩溃或导致设备出现故障。</a:t>
            </a:r>
          </a:p>
          <a:p>
            <a:pPr algn="l">
              <a:buFont typeface="Arial" panose="020B0604020202020204" pitchFamily="34" charset="0"/>
              <a:buChar char="•"/>
            </a:pPr>
            <a:r>
              <a:rPr lang="zh-CN" altLang="en-US" b="1" i="0" dirty="0">
                <a:solidFill>
                  <a:srgbClr val="0F1115"/>
                </a:solidFill>
                <a:effectLst/>
                <a:latin typeface="quote-cjk-patch"/>
              </a:rPr>
              <a:t>错误日志</a:t>
            </a:r>
            <a:r>
              <a:rPr lang="zh-CN" altLang="en-US" b="0" i="0" dirty="0">
                <a:solidFill>
                  <a:srgbClr val="0F1115"/>
                </a:solidFill>
                <a:effectLst/>
                <a:latin typeface="quote-cjk-patch"/>
              </a:rPr>
              <a:t>：记录语音处理过程中的错误至关重要，这些日志能帮助开发人员</a:t>
            </a:r>
            <a:r>
              <a:rPr lang="zh-CN" altLang="en-US" b="1" i="0" dirty="0">
                <a:solidFill>
                  <a:srgbClr val="0F1115"/>
                </a:solidFill>
                <a:effectLst/>
                <a:latin typeface="quote-cjk-patch"/>
              </a:rPr>
              <a:t>改进应用的语音识别能力</a:t>
            </a:r>
            <a:r>
              <a:rPr lang="zh-CN" altLang="en-US" b="0" i="0" dirty="0">
                <a:solidFill>
                  <a:srgbClr val="0F1115"/>
                </a:solidFill>
                <a:effectLst/>
                <a:latin typeface="quote-cjk-patch"/>
              </a:rPr>
              <a:t>。</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10</a:t>
            </a:fld>
            <a:endParaRPr lang="en-US"/>
          </a:p>
        </p:txBody>
      </p:sp>
    </p:spTree>
    <p:extLst>
      <p:ext uri="{BB962C8B-B14F-4D97-AF65-F5344CB8AC3E}">
        <p14:creationId xmlns:p14="http://schemas.microsoft.com/office/powerpoint/2010/main" val="2948412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一个健壮的应用不仅要处理正常的用户流程，还要优雅地处理各种异常情况和系统中断。这部分测试关乎用户体验的稳定性和信任度。</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这一页说明了针对</a:t>
            </a:r>
            <a:r>
              <a:rPr lang="zh-CN" altLang="en-US" b="1" i="0" dirty="0">
                <a:solidFill>
                  <a:srgbClr val="0F1115"/>
                </a:solidFill>
                <a:effectLst/>
                <a:latin typeface="quote-cjk-patch"/>
              </a:rPr>
              <a:t>警报和异常条件</a:t>
            </a:r>
            <a:r>
              <a:rPr lang="zh-CN" altLang="en-US" b="0" i="0" dirty="0">
                <a:solidFill>
                  <a:srgbClr val="0F1115"/>
                </a:solidFill>
                <a:effectLst/>
                <a:latin typeface="quote-cjk-patch"/>
              </a:rPr>
              <a:t>的测试重点：</a:t>
            </a:r>
          </a:p>
          <a:p>
            <a:pPr algn="l">
              <a:buFont typeface="Arial" panose="020B0604020202020204" pitchFamily="34" charset="0"/>
              <a:buChar char="•"/>
            </a:pPr>
            <a:r>
              <a:rPr lang="zh-CN" altLang="en-US" b="1" i="0" dirty="0">
                <a:solidFill>
                  <a:srgbClr val="0F1115"/>
                </a:solidFill>
                <a:effectLst/>
                <a:latin typeface="quote-cjk-patch"/>
              </a:rPr>
              <a:t>警报测试</a:t>
            </a:r>
            <a:r>
              <a:rPr lang="zh-CN" altLang="en-US" b="0" i="0" dirty="0">
                <a:solidFill>
                  <a:srgbClr val="0F1115"/>
                </a:solidFill>
                <a:effectLst/>
                <a:latin typeface="quote-cjk-patch"/>
              </a:rPr>
              <a:t>：测试应检查警报和弹出消息的</a:t>
            </a:r>
            <a:r>
              <a:rPr lang="zh-CN" altLang="en-US" b="1" i="0" dirty="0">
                <a:solidFill>
                  <a:srgbClr val="0F1115"/>
                </a:solidFill>
                <a:effectLst/>
                <a:latin typeface="quote-cjk-patch"/>
              </a:rPr>
              <a:t>清晰度</a:t>
            </a:r>
            <a:r>
              <a:rPr lang="zh-CN" altLang="en-US" b="0" i="0" dirty="0">
                <a:solidFill>
                  <a:srgbClr val="0F1115"/>
                </a:solidFill>
                <a:effectLst/>
                <a:latin typeface="quote-cjk-patch"/>
              </a:rPr>
              <a:t>、</a:t>
            </a:r>
            <a:r>
              <a:rPr lang="zh-CN" altLang="en-US" b="1" i="0" dirty="0">
                <a:solidFill>
                  <a:srgbClr val="0F1115"/>
                </a:solidFill>
                <a:effectLst/>
                <a:latin typeface="quote-cjk-patch"/>
              </a:rPr>
              <a:t>上下文相关性</a:t>
            </a:r>
            <a:r>
              <a:rPr lang="zh-CN" altLang="en-US" b="0" i="0" dirty="0">
                <a:solidFill>
                  <a:srgbClr val="0F1115"/>
                </a:solidFill>
                <a:effectLst/>
                <a:latin typeface="quote-cjk-patch"/>
              </a:rPr>
              <a:t>以及在设备屏幕上的</a:t>
            </a:r>
            <a:r>
              <a:rPr lang="zh-CN" altLang="en-US" b="1" i="0" dirty="0">
                <a:solidFill>
                  <a:srgbClr val="0F1115"/>
                </a:solidFill>
                <a:effectLst/>
                <a:latin typeface="quote-cjk-patch"/>
              </a:rPr>
              <a:t>显示位置是否合适</a:t>
            </a:r>
            <a:r>
              <a:rPr lang="zh-CN" altLang="en-US" b="0" i="0" dirty="0">
                <a:solidFill>
                  <a:srgbClr val="0F1115"/>
                </a:solidFill>
                <a:effectLst/>
                <a:latin typeface="quote-cjk-patch"/>
              </a:rPr>
              <a:t>。对于多语言应用，还需验证</a:t>
            </a:r>
            <a:r>
              <a:rPr lang="zh-CN" altLang="en-US" b="1" i="0" dirty="0">
                <a:solidFill>
                  <a:srgbClr val="0F1115"/>
                </a:solidFill>
                <a:effectLst/>
                <a:latin typeface="quote-cjk-patch"/>
              </a:rPr>
              <a:t>翻译的准确性</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真实环境测试</a:t>
            </a:r>
            <a:r>
              <a:rPr lang="zh-CN" altLang="en-US" b="0" i="0" dirty="0">
                <a:solidFill>
                  <a:srgbClr val="0F1115"/>
                </a:solidFill>
                <a:effectLst/>
                <a:latin typeface="quote-cjk-patch"/>
              </a:rPr>
              <a:t>：不能仅仅依赖开发环境进行测试，必须在</a:t>
            </a:r>
            <a:r>
              <a:rPr lang="zh-CN" altLang="en-US" b="1" i="0" dirty="0">
                <a:solidFill>
                  <a:srgbClr val="0F1115"/>
                </a:solidFill>
                <a:effectLst/>
                <a:latin typeface="quote-cjk-patch"/>
              </a:rPr>
              <a:t>真实设备上进行“野外”测试</a:t>
            </a:r>
            <a:r>
              <a:rPr lang="zh-CN" altLang="en-US" b="0" i="0" dirty="0">
                <a:solidFill>
                  <a:srgbClr val="0F1115"/>
                </a:solidFill>
                <a:effectLst/>
                <a:latin typeface="quote-cjk-patch"/>
              </a:rPr>
              <a:t>，以发现实验室中无法预见的问题。</a:t>
            </a:r>
          </a:p>
          <a:p>
            <a:pPr algn="l">
              <a:buFont typeface="Arial" panose="020B0604020202020204" pitchFamily="34" charset="0"/>
              <a:buChar char="•"/>
            </a:pPr>
            <a:r>
              <a:rPr lang="zh-CN" altLang="en-US" b="1" i="0" dirty="0">
                <a:solidFill>
                  <a:srgbClr val="0F1115"/>
                </a:solidFill>
                <a:effectLst/>
                <a:latin typeface="quote-cjk-patch"/>
              </a:rPr>
              <a:t>恢复测试与容错性</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1" i="0" dirty="0">
                <a:solidFill>
                  <a:srgbClr val="0F1115"/>
                </a:solidFill>
                <a:effectLst/>
                <a:latin typeface="quote-cjk-patch"/>
              </a:rPr>
              <a:t>恢复测试</a:t>
            </a:r>
            <a:r>
              <a:rPr lang="zh-CN" altLang="en-US" b="0" i="0" dirty="0">
                <a:solidFill>
                  <a:srgbClr val="0F1115"/>
                </a:solidFill>
                <a:effectLst/>
                <a:latin typeface="quote-cjk-patch"/>
              </a:rPr>
              <a:t> 是一种系统测试，它</a:t>
            </a:r>
            <a:r>
              <a:rPr lang="zh-CN" altLang="en-US" b="1" i="0" dirty="0">
                <a:solidFill>
                  <a:srgbClr val="0F1115"/>
                </a:solidFill>
                <a:effectLst/>
                <a:latin typeface="quote-cjk-patch"/>
              </a:rPr>
              <a:t>故意以多种方式让软件失败</a:t>
            </a:r>
            <a:r>
              <a:rPr lang="zh-CN" altLang="en-US" b="0" i="0" dirty="0">
                <a:solidFill>
                  <a:srgbClr val="0F1115"/>
                </a:solidFill>
                <a:effectLst/>
                <a:latin typeface="quote-cjk-patch"/>
              </a:rPr>
              <a:t>，然后验证其恢复过程是否正确执行。例如，在来电、电量耗尽或网络中断后，应用是否能恢复状态。</a:t>
            </a:r>
          </a:p>
          <a:p>
            <a:pPr marL="742950" lvl="1" indent="-285750" algn="l">
              <a:buFont typeface="Arial" panose="020B0604020202020204" pitchFamily="34" charset="0"/>
              <a:buChar char="•"/>
            </a:pPr>
            <a:r>
              <a:rPr lang="zh-CN" altLang="en-US" b="0" i="0" dirty="0">
                <a:solidFill>
                  <a:srgbClr val="0F1115"/>
                </a:solidFill>
                <a:effectLst/>
                <a:latin typeface="quote-cjk-patch"/>
              </a:rPr>
              <a:t>在某些关键场景下，系统甚至需要具备</a:t>
            </a:r>
            <a:r>
              <a:rPr lang="zh-CN" altLang="en-US" b="1" i="0" dirty="0">
                <a:solidFill>
                  <a:srgbClr val="0F1115"/>
                </a:solidFill>
                <a:effectLst/>
                <a:latin typeface="quote-cjk-patch"/>
              </a:rPr>
              <a:t>容错</a:t>
            </a:r>
            <a:r>
              <a:rPr lang="zh-CN" altLang="en-US" b="0" i="0" dirty="0">
                <a:solidFill>
                  <a:srgbClr val="0F1115"/>
                </a:solidFill>
                <a:effectLst/>
                <a:latin typeface="quote-cjk-patch"/>
              </a:rPr>
              <a:t>能力，即即使某个部分发生故障，也能继续运行或提供降级服务。</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11</a:t>
            </a:fld>
            <a:endParaRPr lang="en-US"/>
          </a:p>
        </p:txBody>
      </p:sp>
    </p:spTree>
    <p:extLst>
      <p:ext uri="{BB962C8B-B14F-4D97-AF65-F5344CB8AC3E}">
        <p14:creationId xmlns:p14="http://schemas.microsoft.com/office/powerpoint/2010/main" val="1961608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虽然本章重点在移动应用，但许多移动应用本质上是</a:t>
            </a:r>
            <a:r>
              <a:rPr lang="en-US" altLang="zh-CN" b="0" i="0" dirty="0">
                <a:solidFill>
                  <a:srgbClr val="0F1115"/>
                </a:solidFill>
                <a:effectLst/>
                <a:latin typeface="quote-cjk-patch"/>
              </a:rPr>
              <a:t>Web</a:t>
            </a:r>
            <a:r>
              <a:rPr lang="zh-CN" altLang="en-US" b="0" i="0" dirty="0">
                <a:solidFill>
                  <a:srgbClr val="0F1115"/>
                </a:solidFill>
                <a:effectLst/>
                <a:latin typeface="quote-cjk-patch"/>
              </a:rPr>
              <a:t>应用或混合应用。因此，我们有必要回顾一下针对</a:t>
            </a:r>
            <a:r>
              <a:rPr lang="en-US" altLang="zh-CN" b="0" i="0" dirty="0">
                <a:solidFill>
                  <a:srgbClr val="0F1115"/>
                </a:solidFill>
                <a:effectLst/>
                <a:latin typeface="quote-cjk-patch"/>
              </a:rPr>
              <a:t>Web</a:t>
            </a:r>
            <a:r>
              <a:rPr lang="zh-CN" altLang="en-US" b="0" i="0" dirty="0">
                <a:solidFill>
                  <a:srgbClr val="0F1115"/>
                </a:solidFill>
                <a:effectLst/>
                <a:latin typeface="quote-cjk-patch"/>
              </a:rPr>
              <a:t>应用的系统化测试步骤。这是测试步骤的第一部分。</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这一页列出了</a:t>
            </a:r>
            <a:r>
              <a:rPr lang="en-US" altLang="zh-CN" b="0" i="0" dirty="0">
                <a:solidFill>
                  <a:srgbClr val="0F1115"/>
                </a:solidFill>
                <a:effectLst/>
                <a:latin typeface="quote-cjk-patch"/>
              </a:rPr>
              <a:t>Web</a:t>
            </a:r>
            <a:r>
              <a:rPr lang="zh-CN" altLang="en-US" b="0" i="0" dirty="0">
                <a:solidFill>
                  <a:srgbClr val="0F1115"/>
                </a:solidFill>
                <a:effectLst/>
                <a:latin typeface="quote-cjk-patch"/>
              </a:rPr>
              <a:t>应用测试的前五个系统性步骤：</a:t>
            </a:r>
          </a:p>
          <a:p>
            <a:pPr algn="l">
              <a:buFont typeface="+mj-lt"/>
              <a:buAutoNum type="arabicPeriod"/>
            </a:pPr>
            <a:r>
              <a:rPr lang="zh-CN" altLang="en-US" b="1" i="0" dirty="0">
                <a:solidFill>
                  <a:srgbClr val="0F1115"/>
                </a:solidFill>
                <a:effectLst/>
                <a:latin typeface="quote-cjk-patch"/>
              </a:rPr>
              <a:t>内容模型评审</a:t>
            </a:r>
            <a:r>
              <a:rPr lang="zh-CN" altLang="en-US" b="0" i="0" dirty="0">
                <a:solidFill>
                  <a:srgbClr val="0F1115"/>
                </a:solidFill>
                <a:effectLst/>
                <a:latin typeface="quote-cjk-patch"/>
              </a:rPr>
              <a:t>：审查</a:t>
            </a:r>
            <a:r>
              <a:rPr lang="en-US" altLang="zh-CN" b="0" i="0" dirty="0">
                <a:solidFill>
                  <a:srgbClr val="0F1115"/>
                </a:solidFill>
                <a:effectLst/>
                <a:latin typeface="quote-cjk-patch"/>
              </a:rPr>
              <a:t>Web</a:t>
            </a:r>
            <a:r>
              <a:rPr lang="zh-CN" altLang="en-US" b="0" i="0" dirty="0">
                <a:solidFill>
                  <a:srgbClr val="0F1115"/>
                </a:solidFill>
                <a:effectLst/>
                <a:latin typeface="quote-cjk-patch"/>
              </a:rPr>
              <a:t>应用的内容模型，以发现内容组织或结构上的错误。</a:t>
            </a:r>
          </a:p>
          <a:p>
            <a:pPr algn="l">
              <a:buFont typeface="+mj-lt"/>
              <a:buAutoNum type="arabicPeriod"/>
            </a:pPr>
            <a:r>
              <a:rPr lang="zh-CN" altLang="en-US" b="1" i="0" dirty="0">
                <a:solidFill>
                  <a:srgbClr val="0F1115"/>
                </a:solidFill>
                <a:effectLst/>
                <a:latin typeface="quote-cjk-patch"/>
              </a:rPr>
              <a:t>接口模型评审</a:t>
            </a:r>
            <a:r>
              <a:rPr lang="zh-CN" altLang="en-US" b="0" i="0" dirty="0">
                <a:solidFill>
                  <a:srgbClr val="0F1115"/>
                </a:solidFill>
                <a:effectLst/>
                <a:latin typeface="quote-cjk-patch"/>
              </a:rPr>
              <a:t>：确保所有</a:t>
            </a:r>
            <a:r>
              <a:rPr lang="zh-CN" altLang="en-US" b="1" i="0" dirty="0">
                <a:solidFill>
                  <a:srgbClr val="0F1115"/>
                </a:solidFill>
                <a:effectLst/>
                <a:latin typeface="quote-cjk-patch"/>
              </a:rPr>
              <a:t>用例</a:t>
            </a:r>
            <a:r>
              <a:rPr lang="zh-CN" altLang="en-US" b="0" i="0" dirty="0">
                <a:solidFill>
                  <a:srgbClr val="0F1115"/>
                </a:solidFill>
                <a:effectLst/>
                <a:latin typeface="quote-cjk-patch"/>
              </a:rPr>
              <a:t>都能通过设计的用户界面得到支持。</a:t>
            </a:r>
          </a:p>
          <a:p>
            <a:pPr algn="l">
              <a:buFont typeface="+mj-lt"/>
              <a:buAutoNum type="arabicPeriod"/>
            </a:pPr>
            <a:r>
              <a:rPr lang="zh-CN" altLang="en-US" b="1" i="0" dirty="0">
                <a:solidFill>
                  <a:srgbClr val="0F1115"/>
                </a:solidFill>
                <a:effectLst/>
                <a:latin typeface="quote-cjk-patch"/>
              </a:rPr>
              <a:t>设计模型评审</a:t>
            </a:r>
            <a:r>
              <a:rPr lang="zh-CN" altLang="en-US" b="0" i="0" dirty="0">
                <a:solidFill>
                  <a:srgbClr val="0F1115"/>
                </a:solidFill>
                <a:effectLst/>
                <a:latin typeface="quote-cjk-patch"/>
              </a:rPr>
              <a:t>：审查设计模型，以发现</a:t>
            </a:r>
            <a:r>
              <a:rPr lang="zh-CN" altLang="en-US" b="1" i="0" dirty="0">
                <a:solidFill>
                  <a:srgbClr val="0F1115"/>
                </a:solidFill>
                <a:effectLst/>
                <a:latin typeface="quote-cjk-patch"/>
              </a:rPr>
              <a:t>导航设计</a:t>
            </a:r>
            <a:r>
              <a:rPr lang="zh-CN" altLang="en-US" b="0" i="0" dirty="0">
                <a:solidFill>
                  <a:srgbClr val="0F1115"/>
                </a:solidFill>
                <a:effectLst/>
                <a:latin typeface="quote-cjk-patch"/>
              </a:rPr>
              <a:t>中的错误，确保链接和流程正确。</a:t>
            </a:r>
          </a:p>
          <a:p>
            <a:pPr algn="l">
              <a:buFont typeface="+mj-lt"/>
              <a:buAutoNum type="arabicPeriod"/>
            </a:pPr>
            <a:r>
              <a:rPr lang="zh-CN" altLang="en-US" b="1" i="0" dirty="0">
                <a:solidFill>
                  <a:srgbClr val="0F1115"/>
                </a:solidFill>
                <a:effectLst/>
                <a:latin typeface="quote-cjk-patch"/>
              </a:rPr>
              <a:t>用户界面测试</a:t>
            </a:r>
            <a:r>
              <a:rPr lang="zh-CN" altLang="en-US" b="0" i="0" dirty="0">
                <a:solidFill>
                  <a:srgbClr val="0F1115"/>
                </a:solidFill>
                <a:effectLst/>
                <a:latin typeface="quote-cjk-patch"/>
              </a:rPr>
              <a:t>：测试用户界面本身，以发现</a:t>
            </a:r>
            <a:r>
              <a:rPr lang="zh-CN" altLang="en-US" b="1" i="0" dirty="0">
                <a:solidFill>
                  <a:srgbClr val="0F1115"/>
                </a:solidFill>
                <a:effectLst/>
                <a:latin typeface="quote-cjk-patch"/>
              </a:rPr>
              <a:t>呈现方式</a:t>
            </a:r>
            <a:r>
              <a:rPr lang="zh-CN" altLang="en-US" b="0" i="0" dirty="0">
                <a:solidFill>
                  <a:srgbClr val="0F1115"/>
                </a:solidFill>
                <a:effectLst/>
                <a:latin typeface="quote-cjk-patch"/>
              </a:rPr>
              <a:t>和</a:t>
            </a:r>
            <a:r>
              <a:rPr lang="zh-CN" altLang="en-US" b="1" i="0" dirty="0">
                <a:solidFill>
                  <a:srgbClr val="0F1115"/>
                </a:solidFill>
                <a:effectLst/>
                <a:latin typeface="quote-cjk-patch"/>
              </a:rPr>
              <a:t>导航机制</a:t>
            </a:r>
            <a:r>
              <a:rPr lang="zh-CN" altLang="en-US" b="0" i="0" dirty="0">
                <a:solidFill>
                  <a:srgbClr val="0F1115"/>
                </a:solidFill>
                <a:effectLst/>
                <a:latin typeface="quote-cjk-patch"/>
              </a:rPr>
              <a:t>中的错误。</a:t>
            </a:r>
          </a:p>
          <a:p>
            <a:pPr algn="l">
              <a:buFont typeface="+mj-lt"/>
              <a:buAutoNum type="arabicPeriod"/>
            </a:pPr>
            <a:r>
              <a:rPr lang="zh-CN" altLang="en-US" b="1" i="0" dirty="0">
                <a:solidFill>
                  <a:srgbClr val="0F1115"/>
                </a:solidFill>
                <a:effectLst/>
                <a:latin typeface="quote-cjk-patch"/>
              </a:rPr>
              <a:t>功能组件单元测试</a:t>
            </a:r>
            <a:r>
              <a:rPr lang="zh-CN" altLang="en-US" b="0" i="0" dirty="0">
                <a:solidFill>
                  <a:srgbClr val="0F1115"/>
                </a:solidFill>
                <a:effectLst/>
                <a:latin typeface="quote-cjk-patch"/>
              </a:rPr>
              <a:t>：对每个</a:t>
            </a:r>
            <a:r>
              <a:rPr lang="zh-CN" altLang="en-US" b="1" i="0" dirty="0">
                <a:solidFill>
                  <a:srgbClr val="0F1115"/>
                </a:solidFill>
                <a:effectLst/>
                <a:latin typeface="quote-cjk-patch"/>
              </a:rPr>
              <a:t>功能组件</a:t>
            </a:r>
            <a:r>
              <a:rPr lang="zh-CN" altLang="en-US" b="0" i="0" dirty="0">
                <a:solidFill>
                  <a:srgbClr val="0F1115"/>
                </a:solidFill>
                <a:effectLst/>
                <a:latin typeface="quote-cjk-patch"/>
              </a:rPr>
              <a:t>（如脚本、服务）进行独立的单元测试，确保其逻辑正确。</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12</a:t>
            </a:fld>
            <a:endParaRPr lang="en-US"/>
          </a:p>
        </p:txBody>
      </p:sp>
    </p:spTree>
    <p:extLst>
      <p:ext uri="{BB962C8B-B14F-4D97-AF65-F5344CB8AC3E}">
        <p14:creationId xmlns:p14="http://schemas.microsoft.com/office/powerpoint/2010/main" val="2309062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我们继续来看</a:t>
            </a:r>
            <a:r>
              <a:rPr lang="en-US" altLang="zh-CN" b="0" i="0" dirty="0">
                <a:solidFill>
                  <a:srgbClr val="0F1115"/>
                </a:solidFill>
                <a:effectLst/>
                <a:latin typeface="quote-cjk-patch"/>
              </a:rPr>
              <a:t>Web</a:t>
            </a:r>
            <a:r>
              <a:rPr lang="zh-CN" altLang="en-US" b="0" i="0" dirty="0">
                <a:solidFill>
                  <a:srgbClr val="0F1115"/>
                </a:solidFill>
                <a:effectLst/>
                <a:latin typeface="quote-cjk-patch"/>
              </a:rPr>
              <a:t>应用测试的后续五个步骤，这些步骤更侧重于系统整体的表现。</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这一页列出了</a:t>
            </a:r>
            <a:r>
              <a:rPr lang="en-US" altLang="zh-CN" b="0" i="0" dirty="0">
                <a:solidFill>
                  <a:srgbClr val="0F1115"/>
                </a:solidFill>
                <a:effectLst/>
                <a:latin typeface="quote-cjk-patch"/>
              </a:rPr>
              <a:t>Web</a:t>
            </a:r>
            <a:r>
              <a:rPr lang="zh-CN" altLang="en-US" b="0" i="0" dirty="0">
                <a:solidFill>
                  <a:srgbClr val="0F1115"/>
                </a:solidFill>
                <a:effectLst/>
                <a:latin typeface="quote-cjk-patch"/>
              </a:rPr>
              <a:t>应用测试的后五个步骤：</a:t>
            </a:r>
            <a:br>
              <a:rPr lang="zh-CN" altLang="en-US" b="0" i="0" dirty="0">
                <a:solidFill>
                  <a:srgbClr val="0F1115"/>
                </a:solidFill>
                <a:effectLst/>
                <a:latin typeface="quote-cjk-patch"/>
              </a:rPr>
            </a:br>
            <a:r>
              <a:rPr lang="en-US" altLang="zh-CN" b="0" i="0" dirty="0">
                <a:solidFill>
                  <a:srgbClr val="0F1115"/>
                </a:solidFill>
                <a:effectLst/>
                <a:latin typeface="quote-cjk-patch"/>
              </a:rPr>
              <a:t>6. </a:t>
            </a:r>
            <a:r>
              <a:rPr lang="zh-CN" altLang="en-US" b="1" i="0" dirty="0">
                <a:solidFill>
                  <a:srgbClr val="0F1115"/>
                </a:solidFill>
                <a:effectLst/>
                <a:latin typeface="quote-cjk-patch"/>
              </a:rPr>
              <a:t>导航测试</a:t>
            </a:r>
            <a:r>
              <a:rPr lang="zh-CN" altLang="en-US" b="0" i="0" dirty="0">
                <a:solidFill>
                  <a:srgbClr val="0F1115"/>
                </a:solidFill>
                <a:effectLst/>
                <a:latin typeface="quote-cjk-patch"/>
              </a:rPr>
              <a:t>：测试在整个</a:t>
            </a:r>
            <a:r>
              <a:rPr lang="zh-CN" altLang="en-US" b="1" i="0" dirty="0">
                <a:solidFill>
                  <a:srgbClr val="0F1115"/>
                </a:solidFill>
                <a:effectLst/>
                <a:latin typeface="quote-cjk-patch"/>
              </a:rPr>
              <a:t>架构中导航</a:t>
            </a:r>
            <a:r>
              <a:rPr lang="zh-CN" altLang="en-US" b="0" i="0" dirty="0">
                <a:solidFill>
                  <a:srgbClr val="0F1115"/>
                </a:solidFill>
                <a:effectLst/>
                <a:latin typeface="quote-cjk-patch"/>
              </a:rPr>
              <a:t>的完整性和正确性。</a:t>
            </a:r>
            <a:br>
              <a:rPr lang="zh-CN" altLang="en-US" b="0" i="0" dirty="0">
                <a:solidFill>
                  <a:srgbClr val="0F1115"/>
                </a:solidFill>
                <a:effectLst/>
                <a:latin typeface="quote-cjk-patch"/>
              </a:rPr>
            </a:br>
            <a:r>
              <a:rPr lang="en-US" altLang="zh-CN" b="0" i="0" dirty="0">
                <a:solidFill>
                  <a:srgbClr val="0F1115"/>
                </a:solidFill>
                <a:effectLst/>
                <a:latin typeface="quote-cjk-patch"/>
              </a:rPr>
              <a:t>7. </a:t>
            </a:r>
            <a:r>
              <a:rPr lang="zh-CN" altLang="en-US" b="1" i="0" dirty="0">
                <a:solidFill>
                  <a:srgbClr val="0F1115"/>
                </a:solidFill>
                <a:effectLst/>
                <a:latin typeface="quote-cjk-patch"/>
              </a:rPr>
              <a:t>配置兼容性测试</a:t>
            </a:r>
            <a:r>
              <a:rPr lang="zh-CN" altLang="en-US" b="0" i="0" dirty="0">
                <a:solidFill>
                  <a:srgbClr val="0F1115"/>
                </a:solidFill>
                <a:effectLst/>
                <a:latin typeface="quote-cjk-patch"/>
              </a:rPr>
              <a:t>：将</a:t>
            </a:r>
            <a:r>
              <a:rPr lang="en-US" altLang="zh-CN" b="0" i="0" dirty="0">
                <a:solidFill>
                  <a:srgbClr val="0F1115"/>
                </a:solidFill>
                <a:effectLst/>
                <a:latin typeface="quote-cjk-patch"/>
              </a:rPr>
              <a:t>Web</a:t>
            </a:r>
            <a:r>
              <a:rPr lang="zh-CN" altLang="en-US" b="0" i="0" dirty="0">
                <a:solidFill>
                  <a:srgbClr val="0F1115"/>
                </a:solidFill>
                <a:effectLst/>
                <a:latin typeface="quote-cjk-patch"/>
              </a:rPr>
              <a:t>应用部署在</a:t>
            </a:r>
            <a:r>
              <a:rPr lang="zh-CN" altLang="en-US" b="1" i="0" dirty="0">
                <a:solidFill>
                  <a:srgbClr val="0F1115"/>
                </a:solidFill>
                <a:effectLst/>
                <a:latin typeface="quote-cjk-patch"/>
              </a:rPr>
              <a:t>多种不同的环境配置</a:t>
            </a:r>
            <a:r>
              <a:rPr lang="zh-CN" altLang="en-US" b="0" i="0" dirty="0">
                <a:solidFill>
                  <a:srgbClr val="0F1115"/>
                </a:solidFill>
                <a:effectLst/>
                <a:latin typeface="quote-cjk-patch"/>
              </a:rPr>
              <a:t>（如不同浏览器、操作系统、设备）中，测试其与每种配置的兼容性。</a:t>
            </a:r>
            <a:br>
              <a:rPr lang="zh-CN" altLang="en-US" b="0" i="0" dirty="0">
                <a:solidFill>
                  <a:srgbClr val="0F1115"/>
                </a:solidFill>
                <a:effectLst/>
                <a:latin typeface="quote-cjk-patch"/>
              </a:rPr>
            </a:br>
            <a:r>
              <a:rPr lang="en-US" altLang="zh-CN" b="0" i="0" dirty="0">
                <a:solidFill>
                  <a:srgbClr val="0F1115"/>
                </a:solidFill>
                <a:effectLst/>
                <a:latin typeface="quote-cjk-patch"/>
              </a:rPr>
              <a:t>8. </a:t>
            </a:r>
            <a:r>
              <a:rPr lang="zh-CN" altLang="en-US" b="1" i="0" dirty="0">
                <a:solidFill>
                  <a:srgbClr val="0F1115"/>
                </a:solidFill>
                <a:effectLst/>
                <a:latin typeface="quote-cjk-patch"/>
              </a:rPr>
              <a:t>安全测试</a:t>
            </a:r>
            <a:r>
              <a:rPr lang="zh-CN" altLang="en-US" b="0" i="0" dirty="0">
                <a:solidFill>
                  <a:srgbClr val="0F1115"/>
                </a:solidFill>
                <a:effectLst/>
                <a:latin typeface="quote-cjk-patch"/>
              </a:rPr>
              <a:t>：主动尝试</a:t>
            </a:r>
            <a:r>
              <a:rPr lang="zh-CN" altLang="en-US" b="1" i="0" dirty="0">
                <a:solidFill>
                  <a:srgbClr val="0F1115"/>
                </a:solidFill>
                <a:effectLst/>
                <a:latin typeface="quote-cjk-patch"/>
              </a:rPr>
              <a:t>利用</a:t>
            </a:r>
            <a:r>
              <a:rPr lang="en-US" altLang="zh-CN" b="1" i="0" dirty="0">
                <a:solidFill>
                  <a:srgbClr val="0F1115"/>
                </a:solidFill>
                <a:effectLst/>
                <a:latin typeface="quote-cjk-patch"/>
              </a:rPr>
              <a:t>Web</a:t>
            </a:r>
            <a:r>
              <a:rPr lang="zh-CN" altLang="en-US" b="1" i="0" dirty="0">
                <a:solidFill>
                  <a:srgbClr val="0F1115"/>
                </a:solidFill>
                <a:effectLst/>
                <a:latin typeface="quote-cjk-patch"/>
              </a:rPr>
              <a:t>应用或其环境中的漏洞</a:t>
            </a:r>
            <a:r>
              <a:rPr lang="zh-CN" altLang="en-US" b="0" i="0" dirty="0">
                <a:solidFill>
                  <a:srgbClr val="0F1115"/>
                </a:solidFill>
                <a:effectLst/>
                <a:latin typeface="quote-cjk-patch"/>
              </a:rPr>
              <a:t>，以评估其安全性。</a:t>
            </a:r>
            <a:br>
              <a:rPr lang="zh-CN" altLang="en-US" b="0" i="0" dirty="0">
                <a:solidFill>
                  <a:srgbClr val="0F1115"/>
                </a:solidFill>
                <a:effectLst/>
                <a:latin typeface="quote-cjk-patch"/>
              </a:rPr>
            </a:br>
            <a:r>
              <a:rPr lang="en-US" altLang="zh-CN" b="0" i="0" dirty="0">
                <a:solidFill>
                  <a:srgbClr val="0F1115"/>
                </a:solidFill>
                <a:effectLst/>
                <a:latin typeface="quote-cjk-patch"/>
              </a:rPr>
              <a:t>9. </a:t>
            </a:r>
            <a:r>
              <a:rPr lang="zh-CN" altLang="en-US" b="1" i="0" dirty="0">
                <a:solidFill>
                  <a:srgbClr val="0F1115"/>
                </a:solidFill>
                <a:effectLst/>
                <a:latin typeface="quote-cjk-patch"/>
              </a:rPr>
              <a:t>性能测试</a:t>
            </a:r>
            <a:r>
              <a:rPr lang="zh-CN" altLang="en-US" b="0" i="0" dirty="0">
                <a:solidFill>
                  <a:srgbClr val="0F1115"/>
                </a:solidFill>
                <a:effectLst/>
                <a:latin typeface="quote-cjk-patch"/>
              </a:rPr>
              <a:t>：进行压力、负载等性能测试，评估系统的响应能力和稳定性。</a:t>
            </a:r>
            <a:br>
              <a:rPr lang="zh-CN" altLang="en-US" b="0" i="0" dirty="0">
                <a:solidFill>
                  <a:srgbClr val="0F1115"/>
                </a:solidFill>
                <a:effectLst/>
                <a:latin typeface="quote-cjk-patch"/>
              </a:rPr>
            </a:br>
            <a:r>
              <a:rPr lang="en-US" altLang="zh-CN" b="0" i="0" dirty="0">
                <a:solidFill>
                  <a:srgbClr val="0F1115"/>
                </a:solidFill>
                <a:effectLst/>
                <a:latin typeface="quote-cjk-patch"/>
              </a:rPr>
              <a:t>10. </a:t>
            </a:r>
            <a:r>
              <a:rPr lang="zh-CN" altLang="en-US" b="1" i="0" dirty="0">
                <a:solidFill>
                  <a:srgbClr val="0F1115"/>
                </a:solidFill>
                <a:effectLst/>
                <a:latin typeface="quote-cjk-patch"/>
              </a:rPr>
              <a:t>最终用户测试</a:t>
            </a:r>
            <a:r>
              <a:rPr lang="zh-CN" altLang="en-US" b="0" i="0" dirty="0">
                <a:solidFill>
                  <a:srgbClr val="0F1115"/>
                </a:solidFill>
                <a:effectLst/>
                <a:latin typeface="quote-cjk-patch"/>
              </a:rPr>
              <a:t>：由</a:t>
            </a:r>
            <a:r>
              <a:rPr lang="zh-CN" altLang="en-US" b="1" i="0" dirty="0">
                <a:solidFill>
                  <a:srgbClr val="0F1115"/>
                </a:solidFill>
                <a:effectLst/>
                <a:latin typeface="quote-cjk-patch"/>
              </a:rPr>
              <a:t>受控且被监控的最终用户群体</a:t>
            </a:r>
            <a:r>
              <a:rPr lang="zh-CN" altLang="en-US" b="0" i="0" dirty="0">
                <a:solidFill>
                  <a:srgbClr val="0F1115"/>
                </a:solidFill>
                <a:effectLst/>
                <a:latin typeface="quote-cjk-patch"/>
              </a:rPr>
              <a:t>对</a:t>
            </a:r>
            <a:r>
              <a:rPr lang="en-US" altLang="zh-CN" b="0" i="0" dirty="0">
                <a:solidFill>
                  <a:srgbClr val="0F1115"/>
                </a:solidFill>
                <a:effectLst/>
                <a:latin typeface="quote-cjk-patch"/>
              </a:rPr>
              <a:t>Web</a:t>
            </a:r>
            <a:r>
              <a:rPr lang="zh-CN" altLang="en-US" b="0" i="0" dirty="0">
                <a:solidFill>
                  <a:srgbClr val="0F1115"/>
                </a:solidFill>
                <a:effectLst/>
                <a:latin typeface="quote-cjk-patch"/>
              </a:rPr>
              <a:t>应用进行测试。评估他们与系统交互的结果，以发现潜在的可用性和功能性问题。这是一种非常有效的真实世界验证。</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13</a:t>
            </a:fld>
            <a:endParaRPr lang="en-US"/>
          </a:p>
        </p:txBody>
      </p:sp>
    </p:spTree>
    <p:extLst>
      <p:ext uri="{BB962C8B-B14F-4D97-AF65-F5344CB8AC3E}">
        <p14:creationId xmlns:p14="http://schemas.microsoft.com/office/powerpoint/2010/main" val="3860535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在</a:t>
            </a:r>
            <a:r>
              <a:rPr lang="en-US" altLang="zh-CN" b="0" i="0" dirty="0">
                <a:solidFill>
                  <a:srgbClr val="0F1115"/>
                </a:solidFill>
                <a:effectLst/>
                <a:latin typeface="quote-cjk-patch"/>
              </a:rPr>
              <a:t>Web</a:t>
            </a:r>
            <a:r>
              <a:rPr lang="zh-CN" altLang="en-US" b="0" i="0" dirty="0">
                <a:solidFill>
                  <a:srgbClr val="0F1115"/>
                </a:solidFill>
                <a:effectLst/>
                <a:latin typeface="quote-cjk-patch"/>
              </a:rPr>
              <a:t>应用的测试步骤中，第一步就是内容测试。内容是</a:t>
            </a:r>
            <a:r>
              <a:rPr lang="en-US" altLang="zh-CN" b="0" i="0" dirty="0">
                <a:solidFill>
                  <a:srgbClr val="0F1115"/>
                </a:solidFill>
                <a:effectLst/>
                <a:latin typeface="quote-cjk-patch"/>
              </a:rPr>
              <a:t>Web</a:t>
            </a:r>
            <a:r>
              <a:rPr lang="zh-CN" altLang="en-US" b="0" i="0" dirty="0">
                <a:solidFill>
                  <a:srgbClr val="0F1115"/>
                </a:solidFill>
                <a:effectLst/>
                <a:latin typeface="quote-cjk-patch"/>
              </a:rPr>
              <a:t>应用的核心，直接关系到用户体验和信息的有效性。我们来详细看看内容测试的具体目标。</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这一页明确了</a:t>
            </a:r>
            <a:r>
              <a:rPr lang="zh-CN" altLang="en-US" b="1" i="0" dirty="0">
                <a:solidFill>
                  <a:srgbClr val="0F1115"/>
                </a:solidFill>
                <a:effectLst/>
                <a:latin typeface="quote-cjk-patch"/>
              </a:rPr>
              <a:t>内容测试</a:t>
            </a:r>
            <a:r>
              <a:rPr lang="zh-CN" altLang="en-US" b="0" i="0" dirty="0">
                <a:solidFill>
                  <a:srgbClr val="0F1115"/>
                </a:solidFill>
                <a:effectLst/>
                <a:latin typeface="quote-cjk-patch"/>
              </a:rPr>
              <a:t>的三个主要目标：</a:t>
            </a:r>
          </a:p>
          <a:p>
            <a:pPr algn="l">
              <a:buFont typeface="+mj-lt"/>
              <a:buAutoNum type="arabicPeriod"/>
            </a:pPr>
            <a:r>
              <a:rPr lang="zh-CN" altLang="en-US" b="1" i="0" dirty="0">
                <a:solidFill>
                  <a:srgbClr val="0F1115"/>
                </a:solidFill>
                <a:effectLst/>
                <a:latin typeface="quote-cjk-patch"/>
              </a:rPr>
              <a:t>发现语法错误</a:t>
            </a:r>
            <a:r>
              <a:rPr lang="zh-CN" altLang="en-US" b="0" i="0" dirty="0">
                <a:solidFill>
                  <a:srgbClr val="0F1115"/>
                </a:solidFill>
                <a:effectLst/>
                <a:latin typeface="quote-cjk-patch"/>
              </a:rPr>
              <a:t>：这指的是文本、图形及其他媒体中的表面错误，例如</a:t>
            </a:r>
            <a:r>
              <a:rPr lang="zh-CN" altLang="en-US" b="1" i="0" dirty="0">
                <a:solidFill>
                  <a:srgbClr val="0F1115"/>
                </a:solidFill>
                <a:effectLst/>
                <a:latin typeface="quote-cjk-patch"/>
              </a:rPr>
              <a:t>拼写错误（</a:t>
            </a:r>
            <a:r>
              <a:rPr lang="en-US" altLang="zh-CN" b="1" i="0" dirty="0">
                <a:solidFill>
                  <a:srgbClr val="0F1115"/>
                </a:solidFill>
                <a:effectLst/>
                <a:latin typeface="quote-cjk-patch"/>
              </a:rPr>
              <a:t>typos</a:t>
            </a:r>
            <a:r>
              <a:rPr lang="zh-CN" altLang="en-US" b="1" i="0" dirty="0">
                <a:solidFill>
                  <a:srgbClr val="0F1115"/>
                </a:solidFill>
                <a:effectLst/>
                <a:latin typeface="quote-cjk-patch"/>
              </a:rPr>
              <a:t>）</a:t>
            </a:r>
            <a:r>
              <a:rPr lang="zh-CN" altLang="en-US" b="0" i="0" dirty="0">
                <a:solidFill>
                  <a:srgbClr val="0F1115"/>
                </a:solidFill>
                <a:effectLst/>
                <a:latin typeface="quote-cjk-patch"/>
              </a:rPr>
              <a:t> 和</a:t>
            </a:r>
            <a:r>
              <a:rPr lang="zh-CN" altLang="en-US" b="1" i="0" dirty="0">
                <a:solidFill>
                  <a:srgbClr val="0F1115"/>
                </a:solidFill>
                <a:effectLst/>
                <a:latin typeface="quote-cjk-patch"/>
              </a:rPr>
              <a:t>语法错误</a:t>
            </a:r>
            <a:r>
              <a:rPr lang="zh-CN" altLang="en-US" b="0" i="0" dirty="0">
                <a:solidFill>
                  <a:srgbClr val="0F1115"/>
                </a:solidFill>
                <a:effectLst/>
                <a:latin typeface="quote-cjk-patch"/>
              </a:rPr>
              <a:t>。这类错误虽然基础，但会严重影响应用的专业性。</a:t>
            </a:r>
          </a:p>
          <a:p>
            <a:pPr algn="l">
              <a:buFont typeface="+mj-lt"/>
              <a:buAutoNum type="arabicPeriod"/>
            </a:pPr>
            <a:r>
              <a:rPr lang="zh-CN" altLang="en-US" b="1" i="0" dirty="0">
                <a:solidFill>
                  <a:srgbClr val="0F1115"/>
                </a:solidFill>
                <a:effectLst/>
                <a:latin typeface="quote-cjk-patch"/>
              </a:rPr>
              <a:t>发现语义错误</a:t>
            </a:r>
            <a:r>
              <a:rPr lang="zh-CN" altLang="en-US" b="0" i="0" dirty="0">
                <a:solidFill>
                  <a:srgbClr val="0F1115"/>
                </a:solidFill>
                <a:effectLst/>
                <a:latin typeface="quote-cjk-patch"/>
              </a:rPr>
              <a:t>：这是更深层次的错误，指的是内容对象在信息传递上的</a:t>
            </a:r>
            <a:r>
              <a:rPr lang="zh-CN" altLang="en-US" b="1" i="0" dirty="0">
                <a:solidFill>
                  <a:srgbClr val="0F1115"/>
                </a:solidFill>
                <a:effectLst/>
                <a:latin typeface="quote-cjk-patch"/>
              </a:rPr>
              <a:t>准确性</a:t>
            </a:r>
            <a:r>
              <a:rPr lang="zh-CN" altLang="en-US" b="0" i="0" dirty="0">
                <a:solidFill>
                  <a:srgbClr val="0F1115"/>
                </a:solidFill>
                <a:effectLst/>
                <a:latin typeface="quote-cjk-patch"/>
              </a:rPr>
              <a:t>或</a:t>
            </a:r>
            <a:r>
              <a:rPr lang="zh-CN" altLang="en-US" b="1" i="0" dirty="0">
                <a:solidFill>
                  <a:srgbClr val="0F1115"/>
                </a:solidFill>
                <a:effectLst/>
                <a:latin typeface="quote-cjk-patch"/>
              </a:rPr>
              <a:t>完整性</a:t>
            </a:r>
            <a:r>
              <a:rPr lang="zh-CN" altLang="en-US" b="0" i="0" dirty="0">
                <a:solidFill>
                  <a:srgbClr val="0F1115"/>
                </a:solidFill>
                <a:effectLst/>
                <a:latin typeface="quote-cjk-patch"/>
              </a:rPr>
              <a:t>问题。例如，信息过时、描述错误或关键信息缺失。</a:t>
            </a:r>
          </a:p>
          <a:p>
            <a:pPr algn="l">
              <a:buFont typeface="+mj-lt"/>
              <a:buAutoNum type="arabicPeriod"/>
            </a:pPr>
            <a:r>
              <a:rPr lang="zh-CN" altLang="en-US" b="1" i="0" dirty="0">
                <a:solidFill>
                  <a:srgbClr val="0F1115"/>
                </a:solidFill>
                <a:effectLst/>
                <a:latin typeface="quote-cjk-patch"/>
              </a:rPr>
              <a:t>发现组织或结构错误</a:t>
            </a:r>
            <a:r>
              <a:rPr lang="zh-CN" altLang="en-US" b="0" i="0" dirty="0">
                <a:solidFill>
                  <a:srgbClr val="0F1115"/>
                </a:solidFill>
                <a:effectLst/>
                <a:latin typeface="quote-cjk-patch"/>
              </a:rPr>
              <a:t>：测试呈现给最终用户的内容其</a:t>
            </a:r>
            <a:r>
              <a:rPr lang="zh-CN" altLang="en-US" b="1" i="0" dirty="0">
                <a:solidFill>
                  <a:srgbClr val="0F1115"/>
                </a:solidFill>
                <a:effectLst/>
                <a:latin typeface="quote-cjk-patch"/>
              </a:rPr>
              <a:t>组织方式或结构</a:t>
            </a:r>
            <a:r>
              <a:rPr lang="zh-CN" altLang="en-US" b="0" i="0" dirty="0">
                <a:solidFill>
                  <a:srgbClr val="0F1115"/>
                </a:solidFill>
                <a:effectLst/>
                <a:latin typeface="quote-cjk-patch"/>
              </a:rPr>
              <a:t>是否合理。例如，信息是否按逻辑分组、导航是否清晰、内容布局是否便于阅读和理解。</a:t>
            </a:r>
            <a:br>
              <a:rPr lang="zh-CN" altLang="en-US" b="0" i="0" dirty="0">
                <a:solidFill>
                  <a:srgbClr val="0F1115"/>
                </a:solidFill>
                <a:effectLst/>
                <a:latin typeface="quote-cjk-patch"/>
              </a:rPr>
            </a:br>
            <a:r>
              <a:rPr lang="zh-CN" altLang="en-US" b="0" i="0" dirty="0">
                <a:solidFill>
                  <a:srgbClr val="0F1115"/>
                </a:solidFill>
                <a:effectLst/>
                <a:latin typeface="quote-cjk-patch"/>
              </a:rPr>
              <a:t>内容测试确保用户获得的信息是正确、有用且易于获取的。</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15</a:t>
            </a:fld>
            <a:endParaRPr lang="en-US"/>
          </a:p>
        </p:txBody>
      </p:sp>
    </p:spTree>
    <p:extLst>
      <p:ext uri="{BB962C8B-B14F-4D97-AF65-F5344CB8AC3E}">
        <p14:creationId xmlns:p14="http://schemas.microsoft.com/office/powerpoint/2010/main" val="2797708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如何系统地评估内容的语义质量呢？这一页提供了一份详尽的检查清单，帮助我们全面地审视内容的质量。</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这一页通过一系列关键问题，为我们提供了评估</a:t>
            </a:r>
            <a:r>
              <a:rPr lang="zh-CN" altLang="en-US" b="1" i="0" dirty="0">
                <a:solidFill>
                  <a:srgbClr val="0F1115"/>
                </a:solidFill>
                <a:effectLst/>
                <a:latin typeface="quote-cjk-patch"/>
              </a:rPr>
              <a:t>内容语义质量</a:t>
            </a:r>
            <a:r>
              <a:rPr lang="zh-CN" altLang="en-US" b="0" i="0" dirty="0">
                <a:solidFill>
                  <a:srgbClr val="0F1115"/>
                </a:solidFill>
                <a:effectLst/>
                <a:latin typeface="quote-cjk-patch"/>
              </a:rPr>
              <a:t>的实用框架：</a:t>
            </a:r>
          </a:p>
          <a:p>
            <a:pPr algn="l">
              <a:buFont typeface="Arial" panose="020B0604020202020204" pitchFamily="34" charset="0"/>
              <a:buChar char="•"/>
            </a:pPr>
            <a:r>
              <a:rPr lang="zh-CN" altLang="en-US" b="1" i="0" dirty="0">
                <a:solidFill>
                  <a:srgbClr val="0F1115"/>
                </a:solidFill>
                <a:effectLst/>
                <a:latin typeface="quote-cjk-patch"/>
              </a:rPr>
              <a:t>准确性与简洁性</a:t>
            </a:r>
            <a:r>
              <a:rPr lang="zh-CN" altLang="en-US" b="0" i="0" dirty="0">
                <a:solidFill>
                  <a:srgbClr val="0F1115"/>
                </a:solidFill>
                <a:effectLst/>
                <a:latin typeface="quote-cjk-patch"/>
              </a:rPr>
              <a:t>：信息是否</a:t>
            </a:r>
            <a:r>
              <a:rPr lang="zh-CN" altLang="en-US" b="1" i="0" dirty="0">
                <a:solidFill>
                  <a:srgbClr val="0F1115"/>
                </a:solidFill>
                <a:effectLst/>
                <a:latin typeface="quote-cjk-patch"/>
              </a:rPr>
              <a:t>事实准确</a:t>
            </a:r>
            <a:r>
              <a:rPr lang="zh-CN" altLang="en-US" b="0" i="0" dirty="0">
                <a:solidFill>
                  <a:srgbClr val="0F1115"/>
                </a:solidFill>
                <a:effectLst/>
                <a:latin typeface="quote-cjk-patch"/>
              </a:rPr>
              <a:t>、</a:t>
            </a:r>
            <a:r>
              <a:rPr lang="zh-CN" altLang="en-US" b="1" i="0" dirty="0">
                <a:solidFill>
                  <a:srgbClr val="0F1115"/>
                </a:solidFill>
                <a:effectLst/>
                <a:latin typeface="quote-cjk-patch"/>
              </a:rPr>
              <a:t>简明扼要</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可理解性与可查找性</a:t>
            </a:r>
            <a:r>
              <a:rPr lang="zh-CN" altLang="en-US" b="0" i="0" dirty="0">
                <a:solidFill>
                  <a:srgbClr val="0F1115"/>
                </a:solidFill>
                <a:effectLst/>
                <a:latin typeface="quote-cjk-patch"/>
              </a:rPr>
              <a:t>：内容布局是否易于理解？嵌入在内容对象中的信息是否</a:t>
            </a:r>
            <a:r>
              <a:rPr lang="zh-CN" altLang="en-US" b="1" i="0" dirty="0">
                <a:solidFill>
                  <a:srgbClr val="0F1115"/>
                </a:solidFill>
                <a:effectLst/>
                <a:latin typeface="quote-cjk-patch"/>
              </a:rPr>
              <a:t>易于查找</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规范性与一致性</a:t>
            </a:r>
            <a:r>
              <a:rPr lang="zh-CN" altLang="en-US" b="0" i="0" dirty="0">
                <a:solidFill>
                  <a:srgbClr val="0F1115"/>
                </a:solidFill>
                <a:effectLst/>
                <a:latin typeface="quote-cjk-patch"/>
              </a:rPr>
              <a:t>：是否为引用的信息提供了</a:t>
            </a:r>
            <a:r>
              <a:rPr lang="zh-CN" altLang="en-US" b="1" i="0" dirty="0">
                <a:solidFill>
                  <a:srgbClr val="0F1115"/>
                </a:solidFill>
                <a:effectLst/>
                <a:latin typeface="quote-cjk-patch"/>
              </a:rPr>
              <a:t>恰当的来源</a:t>
            </a:r>
            <a:r>
              <a:rPr lang="zh-CN" altLang="en-US" b="0" i="0" dirty="0">
                <a:solidFill>
                  <a:srgbClr val="0F1115"/>
                </a:solidFill>
                <a:effectLst/>
                <a:latin typeface="quote-cjk-patch"/>
              </a:rPr>
              <a:t>？内容内部以及不同内容对象之间的信息是否</a:t>
            </a:r>
            <a:r>
              <a:rPr lang="zh-CN" altLang="en-US" b="1" i="0" dirty="0">
                <a:solidFill>
                  <a:srgbClr val="0F1115"/>
                </a:solidFill>
                <a:effectLst/>
                <a:latin typeface="quote-cjk-patch"/>
              </a:rPr>
              <a:t>一致</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合规性与风险</a:t>
            </a:r>
            <a:r>
              <a:rPr lang="zh-CN" altLang="en-US" b="0" i="0" dirty="0">
                <a:solidFill>
                  <a:srgbClr val="0F1115"/>
                </a:solidFill>
                <a:effectLst/>
                <a:latin typeface="quote-cjk-patch"/>
              </a:rPr>
              <a:t>：内容是否</a:t>
            </a:r>
            <a:r>
              <a:rPr lang="zh-CN" altLang="en-US" b="1" i="0" dirty="0">
                <a:solidFill>
                  <a:srgbClr val="0F1115"/>
                </a:solidFill>
                <a:effectLst/>
                <a:latin typeface="quote-cjk-patch"/>
              </a:rPr>
              <a:t>具有冒犯性、误导性</a:t>
            </a:r>
            <a:r>
              <a:rPr lang="zh-CN" altLang="en-US" b="0" i="0" dirty="0">
                <a:solidFill>
                  <a:srgbClr val="0F1115"/>
                </a:solidFill>
                <a:effectLst/>
                <a:latin typeface="quote-cjk-patch"/>
              </a:rPr>
              <a:t>或存在</a:t>
            </a:r>
            <a:r>
              <a:rPr lang="zh-CN" altLang="en-US" b="1" i="0" dirty="0">
                <a:solidFill>
                  <a:srgbClr val="0F1115"/>
                </a:solidFill>
                <a:effectLst/>
                <a:latin typeface="quote-cjk-patch"/>
              </a:rPr>
              <a:t>法律风险</a:t>
            </a:r>
            <a:r>
              <a:rPr lang="zh-CN" altLang="en-US" b="0" i="0" dirty="0">
                <a:solidFill>
                  <a:srgbClr val="0F1115"/>
                </a:solidFill>
                <a:effectLst/>
                <a:latin typeface="quote-cjk-patch"/>
              </a:rPr>
              <a:t>？是否侵犯了现有的</a:t>
            </a:r>
            <a:r>
              <a:rPr lang="zh-CN" altLang="en-US" b="1" i="0" dirty="0">
                <a:solidFill>
                  <a:srgbClr val="0F1115"/>
                </a:solidFill>
                <a:effectLst/>
                <a:latin typeface="quote-cjk-patch"/>
              </a:rPr>
              <a:t>版权或商标</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链接与风格</a:t>
            </a:r>
            <a:r>
              <a:rPr lang="zh-CN" altLang="en-US" b="0" i="0" dirty="0">
                <a:solidFill>
                  <a:srgbClr val="0F1115"/>
                </a:solidFill>
                <a:effectLst/>
                <a:latin typeface="quote-cjk-patch"/>
              </a:rPr>
              <a:t>：内容中的</a:t>
            </a:r>
            <a:r>
              <a:rPr lang="zh-CN" altLang="en-US" b="1" i="0" dirty="0">
                <a:solidFill>
                  <a:srgbClr val="0F1115"/>
                </a:solidFill>
                <a:effectLst/>
                <a:latin typeface="quote-cjk-patch"/>
              </a:rPr>
              <a:t>内部链接</a:t>
            </a:r>
            <a:r>
              <a:rPr lang="zh-CN" altLang="en-US" b="0" i="0" dirty="0">
                <a:solidFill>
                  <a:srgbClr val="0F1115"/>
                </a:solidFill>
                <a:effectLst/>
                <a:latin typeface="quote-cjk-patch"/>
              </a:rPr>
              <a:t>是否正确且能补充现有内容？内容的</a:t>
            </a:r>
            <a:r>
              <a:rPr lang="zh-CN" altLang="en-US" b="1" i="0" dirty="0">
                <a:solidFill>
                  <a:srgbClr val="0F1115"/>
                </a:solidFill>
                <a:effectLst/>
                <a:latin typeface="quote-cjk-patch"/>
              </a:rPr>
              <a:t>美学风格</a:t>
            </a:r>
            <a:r>
              <a:rPr lang="zh-CN" altLang="en-US" b="0" i="0" dirty="0">
                <a:solidFill>
                  <a:srgbClr val="0F1115"/>
                </a:solidFill>
                <a:effectLst/>
                <a:latin typeface="quote-cjk-patch"/>
              </a:rPr>
              <a:t>是否与界面风格冲突？</a:t>
            </a:r>
            <a:br>
              <a:rPr lang="zh-CN" altLang="en-US" b="0" i="0" dirty="0">
                <a:solidFill>
                  <a:srgbClr val="0F1115"/>
                </a:solidFill>
                <a:effectLst/>
                <a:latin typeface="quote-cjk-patch"/>
              </a:rPr>
            </a:br>
            <a:r>
              <a:rPr lang="zh-CN" altLang="en-US" b="0" i="0" dirty="0">
                <a:solidFill>
                  <a:srgbClr val="0F1115"/>
                </a:solidFill>
                <a:effectLst/>
                <a:latin typeface="quote-cjk-patch"/>
              </a:rPr>
              <a:t>这些问题共同构成了一个评估内容质量和有效性的完整体系。</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16</a:t>
            </a:fld>
            <a:endParaRPr lang="en-US"/>
          </a:p>
        </p:txBody>
      </p:sp>
    </p:spTree>
    <p:extLst>
      <p:ext uri="{BB962C8B-B14F-4D97-AF65-F5344CB8AC3E}">
        <p14:creationId xmlns:p14="http://schemas.microsoft.com/office/powerpoint/2010/main" val="35993886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用户通过接口与</a:t>
            </a:r>
            <a:r>
              <a:rPr lang="en-US" altLang="zh-CN" b="0" i="0" dirty="0">
                <a:solidFill>
                  <a:srgbClr val="0F1115"/>
                </a:solidFill>
                <a:effectLst/>
                <a:latin typeface="quote-cjk-patch"/>
              </a:rPr>
              <a:t>Web</a:t>
            </a:r>
            <a:r>
              <a:rPr lang="zh-CN" altLang="en-US" b="0" i="0" dirty="0">
                <a:solidFill>
                  <a:srgbClr val="0F1115"/>
                </a:solidFill>
                <a:effectLst/>
                <a:latin typeface="quote-cjk-patch"/>
              </a:rPr>
              <a:t>应用交互，因此接口测试至关重要。它确保用户能够顺畅、无误地使用应用提供的所有功能。</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这一页说明了</a:t>
            </a:r>
            <a:r>
              <a:rPr lang="zh-CN" altLang="en-US" b="1" i="0" dirty="0">
                <a:solidFill>
                  <a:srgbClr val="0F1115"/>
                </a:solidFill>
                <a:effectLst/>
                <a:latin typeface="quote-cjk-patch"/>
              </a:rPr>
              <a:t>接口测试</a:t>
            </a:r>
            <a:r>
              <a:rPr lang="zh-CN" altLang="en-US" b="0" i="0" dirty="0">
                <a:solidFill>
                  <a:srgbClr val="0F1115"/>
                </a:solidFill>
                <a:effectLst/>
                <a:latin typeface="quote-cjk-patch"/>
              </a:rPr>
              <a:t>的层次化方法：</a:t>
            </a:r>
          </a:p>
          <a:p>
            <a:pPr algn="l">
              <a:buFont typeface="Arial" panose="020B0604020202020204" pitchFamily="34" charset="0"/>
              <a:buChar char="•"/>
            </a:pPr>
            <a:r>
              <a:rPr lang="zh-CN" altLang="en-US" b="1" i="0" dirty="0">
                <a:solidFill>
                  <a:srgbClr val="0F1115"/>
                </a:solidFill>
                <a:effectLst/>
                <a:latin typeface="quote-cjk-patch"/>
              </a:rPr>
              <a:t>测试接口机制</a:t>
            </a:r>
            <a:r>
              <a:rPr lang="zh-CN" altLang="en-US" b="0" i="0" dirty="0">
                <a:solidFill>
                  <a:srgbClr val="0F1115"/>
                </a:solidFill>
                <a:effectLst/>
                <a:latin typeface="quote-cjk-patch"/>
              </a:rPr>
              <a:t>：首先，对每个单独的接口机制（如表单、按钮、下拉菜单）进行测试，这类似于</a:t>
            </a:r>
            <a:r>
              <a:rPr lang="zh-CN" altLang="en-US" b="1" i="0" dirty="0">
                <a:solidFill>
                  <a:srgbClr val="0F1115"/>
                </a:solidFill>
                <a:effectLst/>
                <a:latin typeface="quote-cjk-patch"/>
              </a:rPr>
              <a:t>单元测试</a:t>
            </a:r>
            <a:r>
              <a:rPr lang="zh-CN" altLang="en-US" b="0" i="0" dirty="0">
                <a:solidFill>
                  <a:srgbClr val="0F1115"/>
                </a:solidFill>
                <a:effectLst/>
                <a:latin typeface="quote-cjk-patch"/>
              </a:rPr>
              <a:t>，确保每个“零件”本身工作正常。</a:t>
            </a:r>
          </a:p>
          <a:p>
            <a:pPr algn="l">
              <a:buFont typeface="Arial" panose="020B0604020202020204" pitchFamily="34" charset="0"/>
              <a:buChar char="•"/>
            </a:pPr>
            <a:r>
              <a:rPr lang="zh-CN" altLang="en-US" b="1" i="0" dirty="0">
                <a:solidFill>
                  <a:srgbClr val="0F1115"/>
                </a:solidFill>
                <a:effectLst/>
                <a:latin typeface="quote-cjk-patch"/>
              </a:rPr>
              <a:t>在用例上下文中测试</a:t>
            </a:r>
            <a:r>
              <a:rPr lang="zh-CN" altLang="en-US" b="0" i="0" dirty="0">
                <a:solidFill>
                  <a:srgbClr val="0F1115"/>
                </a:solidFill>
                <a:effectLst/>
                <a:latin typeface="quote-cjk-patch"/>
              </a:rPr>
              <a:t>：然后，将每个接口机制放在具体的</a:t>
            </a:r>
            <a:r>
              <a:rPr lang="zh-CN" altLang="en-US" b="1" i="0" dirty="0">
                <a:solidFill>
                  <a:srgbClr val="0F1115"/>
                </a:solidFill>
                <a:effectLst/>
                <a:latin typeface="quote-cjk-patch"/>
              </a:rPr>
              <a:t>用例（</a:t>
            </a:r>
            <a:r>
              <a:rPr lang="en-US" altLang="zh-CN" b="1" i="0" dirty="0">
                <a:solidFill>
                  <a:srgbClr val="0F1115"/>
                </a:solidFill>
                <a:effectLst/>
                <a:latin typeface="quote-cjk-patch"/>
              </a:rPr>
              <a:t>use-case</a:t>
            </a:r>
            <a:r>
              <a:rPr lang="zh-CN" altLang="en-US" b="1" i="0" dirty="0">
                <a:solidFill>
                  <a:srgbClr val="0F1115"/>
                </a:solidFill>
                <a:effectLst/>
                <a:latin typeface="quote-cjk-patch"/>
              </a:rPr>
              <a:t>）</a:t>
            </a:r>
            <a:r>
              <a:rPr lang="zh-CN" altLang="en-US" b="0" i="0" dirty="0">
                <a:solidFill>
                  <a:srgbClr val="0F1115"/>
                </a:solidFill>
                <a:effectLst/>
                <a:latin typeface="quote-cjk-patch"/>
              </a:rPr>
              <a:t> 或</a:t>
            </a:r>
            <a:r>
              <a:rPr lang="zh-CN" altLang="en-US" b="1" i="0" dirty="0">
                <a:solidFill>
                  <a:srgbClr val="0F1115"/>
                </a:solidFill>
                <a:effectLst/>
                <a:latin typeface="quote-cjk-patch"/>
              </a:rPr>
              <a:t>导航语义单元（</a:t>
            </a:r>
            <a:r>
              <a:rPr lang="en-US" altLang="zh-CN" b="1" i="0" dirty="0">
                <a:solidFill>
                  <a:srgbClr val="0F1115"/>
                </a:solidFill>
                <a:effectLst/>
                <a:latin typeface="quote-cjk-patch"/>
              </a:rPr>
              <a:t>NSU</a:t>
            </a:r>
            <a:r>
              <a:rPr lang="zh-CN" altLang="en-US" b="1" i="0" dirty="0">
                <a:solidFill>
                  <a:srgbClr val="0F1115"/>
                </a:solidFill>
                <a:effectLst/>
                <a:latin typeface="quote-cjk-patch"/>
              </a:rPr>
              <a:t>）</a:t>
            </a:r>
            <a:r>
              <a:rPr lang="zh-CN" altLang="en-US" b="0" i="0" dirty="0">
                <a:solidFill>
                  <a:srgbClr val="0F1115"/>
                </a:solidFill>
                <a:effectLst/>
                <a:latin typeface="quote-cjk-patch"/>
              </a:rPr>
              <a:t> 的上下文中进行测试，确保它们能协同工作以支持完整的用户任务。</a:t>
            </a:r>
          </a:p>
          <a:p>
            <a:pPr algn="l">
              <a:buFont typeface="Arial" panose="020B0604020202020204" pitchFamily="34" charset="0"/>
              <a:buChar char="•"/>
            </a:pPr>
            <a:r>
              <a:rPr lang="zh-CN" altLang="en-US" b="1" i="0" dirty="0">
                <a:solidFill>
                  <a:srgbClr val="0F1115"/>
                </a:solidFill>
                <a:effectLst/>
                <a:latin typeface="quote-cjk-patch"/>
              </a:rPr>
              <a:t>测试接口语义</a:t>
            </a:r>
            <a:r>
              <a:rPr lang="zh-CN" altLang="en-US" b="0" i="0" dirty="0">
                <a:solidFill>
                  <a:srgbClr val="0F1115"/>
                </a:solidFill>
                <a:effectLst/>
                <a:latin typeface="quote-cjk-patch"/>
              </a:rPr>
              <a:t>：接着，对整个接口针对选定的用例和</a:t>
            </a:r>
            <a:r>
              <a:rPr lang="en-US" altLang="zh-CN" b="0" i="0" dirty="0">
                <a:solidFill>
                  <a:srgbClr val="0F1115"/>
                </a:solidFill>
                <a:effectLst/>
                <a:latin typeface="quote-cjk-patch"/>
              </a:rPr>
              <a:t>NSU</a:t>
            </a:r>
            <a:r>
              <a:rPr lang="zh-CN" altLang="en-US" b="0" i="0" dirty="0">
                <a:solidFill>
                  <a:srgbClr val="0F1115"/>
                </a:solidFill>
                <a:effectLst/>
                <a:latin typeface="quote-cjk-patch"/>
              </a:rPr>
              <a:t>进行测试，以发现</a:t>
            </a:r>
            <a:r>
              <a:rPr lang="zh-CN" altLang="en-US" b="1" i="0" dirty="0">
                <a:solidFill>
                  <a:srgbClr val="0F1115"/>
                </a:solidFill>
                <a:effectLst/>
                <a:latin typeface="quote-cjk-patch"/>
              </a:rPr>
              <a:t>接口语义</a:t>
            </a:r>
            <a:r>
              <a:rPr lang="zh-CN" altLang="en-US" b="0" i="0" dirty="0">
                <a:solidFill>
                  <a:srgbClr val="0F1115"/>
                </a:solidFill>
                <a:effectLst/>
                <a:latin typeface="quote-cjk-patch"/>
              </a:rPr>
              <a:t>上的错误，即交互流程和反馈是否符合用户预期。</a:t>
            </a:r>
          </a:p>
          <a:p>
            <a:pPr algn="l">
              <a:buFont typeface="Arial" panose="020B0604020202020204" pitchFamily="34" charset="0"/>
              <a:buChar char="•"/>
            </a:pPr>
            <a:r>
              <a:rPr lang="zh-CN" altLang="en-US" b="1" i="0" dirty="0">
                <a:solidFill>
                  <a:srgbClr val="0F1115"/>
                </a:solidFill>
                <a:effectLst/>
                <a:latin typeface="quote-cjk-patch"/>
              </a:rPr>
              <a:t>环境兼容性测试</a:t>
            </a:r>
            <a:r>
              <a:rPr lang="zh-CN" altLang="en-US" b="0" i="0" dirty="0">
                <a:solidFill>
                  <a:srgbClr val="0F1115"/>
                </a:solidFill>
                <a:effectLst/>
                <a:latin typeface="quote-cjk-patch"/>
              </a:rPr>
              <a:t>：最后，将接口在</a:t>
            </a:r>
            <a:r>
              <a:rPr lang="zh-CN" altLang="en-US" b="1" i="0" dirty="0">
                <a:solidFill>
                  <a:srgbClr val="0F1115"/>
                </a:solidFill>
                <a:effectLst/>
                <a:latin typeface="quote-cjk-patch"/>
              </a:rPr>
              <a:t>各种环境</a:t>
            </a:r>
            <a:r>
              <a:rPr lang="zh-CN" altLang="en-US" b="0" i="0" dirty="0">
                <a:solidFill>
                  <a:srgbClr val="0F1115"/>
                </a:solidFill>
                <a:effectLst/>
                <a:latin typeface="quote-cjk-patch"/>
              </a:rPr>
              <a:t>（特别是不同浏览器）中进行测试，以确保其兼容性，避免因浏览器差异导致显示或功能问题。</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17</a:t>
            </a:fld>
            <a:endParaRPr lang="en-US"/>
          </a:p>
        </p:txBody>
      </p:sp>
    </p:spTree>
    <p:extLst>
      <p:ext uri="{BB962C8B-B14F-4D97-AF65-F5344CB8AC3E}">
        <p14:creationId xmlns:p14="http://schemas.microsoft.com/office/powerpoint/2010/main" val="2936050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导航是</a:t>
            </a:r>
            <a:r>
              <a:rPr lang="en-US" altLang="zh-CN" b="0" i="0" dirty="0">
                <a:solidFill>
                  <a:srgbClr val="0F1115"/>
                </a:solidFill>
                <a:effectLst/>
                <a:latin typeface="quote-cjk-patch"/>
              </a:rPr>
              <a:t>Web</a:t>
            </a:r>
            <a:r>
              <a:rPr lang="zh-CN" altLang="en-US" b="0" i="0" dirty="0">
                <a:solidFill>
                  <a:srgbClr val="0F1115"/>
                </a:solidFill>
                <a:effectLst/>
                <a:latin typeface="quote-cjk-patch"/>
              </a:rPr>
              <a:t>应用的骨架，它引导用户完成任务。导航测试就是要确保这个骨架是坚固且通达的。这一页提出了在测试每个导航语义单元（</a:t>
            </a:r>
            <a:r>
              <a:rPr lang="en-US" altLang="zh-CN" b="0" i="0" dirty="0">
                <a:solidFill>
                  <a:srgbClr val="0F1115"/>
                </a:solidFill>
                <a:effectLst/>
                <a:latin typeface="quote-cjk-patch"/>
              </a:rPr>
              <a:t>NSU</a:t>
            </a:r>
            <a:r>
              <a:rPr lang="zh-CN" altLang="en-US" b="0" i="0" dirty="0">
                <a:solidFill>
                  <a:srgbClr val="0F1115"/>
                </a:solidFill>
                <a:effectLst/>
                <a:latin typeface="quote-cjk-patch"/>
              </a:rPr>
              <a:t>）或用例时需要回答的第一组关键问题。</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在测试每个</a:t>
            </a:r>
            <a:r>
              <a:rPr lang="en-US" altLang="zh-CN" b="0" i="0" dirty="0">
                <a:solidFill>
                  <a:srgbClr val="0F1115"/>
                </a:solidFill>
                <a:effectLst/>
                <a:latin typeface="quote-cjk-patch"/>
              </a:rPr>
              <a:t>NSU</a:t>
            </a:r>
            <a:r>
              <a:rPr lang="zh-CN" altLang="en-US" b="0" i="0" dirty="0">
                <a:solidFill>
                  <a:srgbClr val="0F1115"/>
                </a:solidFill>
                <a:effectLst/>
                <a:latin typeface="quote-cjk-patch"/>
              </a:rPr>
              <a:t>或用例时，我们应关注以下导航问题：</a:t>
            </a:r>
          </a:p>
          <a:p>
            <a:pPr algn="l">
              <a:buFont typeface="Arial" panose="020B0604020202020204" pitchFamily="34" charset="0"/>
              <a:buChar char="•"/>
            </a:pPr>
            <a:r>
              <a:rPr lang="zh-CN" altLang="en-US" b="1" i="0" dirty="0">
                <a:solidFill>
                  <a:srgbClr val="0F1115"/>
                </a:solidFill>
                <a:effectLst/>
                <a:latin typeface="quote-cjk-patch"/>
              </a:rPr>
              <a:t>完整性与可达性</a:t>
            </a:r>
            <a:r>
              <a:rPr lang="zh-CN" altLang="en-US" b="0" i="0" dirty="0">
                <a:solidFill>
                  <a:srgbClr val="0F1115"/>
                </a:solidFill>
                <a:effectLst/>
                <a:latin typeface="quote-cjk-patch"/>
              </a:rPr>
              <a:t>：</a:t>
            </a:r>
            <a:r>
              <a:rPr lang="en-US" altLang="zh-CN" b="0" i="0" dirty="0">
                <a:solidFill>
                  <a:srgbClr val="0F1115"/>
                </a:solidFill>
                <a:effectLst/>
                <a:latin typeface="quote-cjk-patch"/>
              </a:rPr>
              <a:t>NSU</a:t>
            </a:r>
            <a:r>
              <a:rPr lang="zh-CN" altLang="en-US" b="0" i="0" dirty="0">
                <a:solidFill>
                  <a:srgbClr val="0F1115"/>
                </a:solidFill>
                <a:effectLst/>
                <a:latin typeface="quote-cjk-patch"/>
              </a:rPr>
              <a:t>能否</a:t>
            </a:r>
            <a:r>
              <a:rPr lang="zh-CN" altLang="en-US" b="1" i="0" dirty="0">
                <a:solidFill>
                  <a:srgbClr val="0F1115"/>
                </a:solidFill>
                <a:effectLst/>
                <a:latin typeface="quote-cjk-patch"/>
              </a:rPr>
              <a:t>完整无误</a:t>
            </a:r>
            <a:r>
              <a:rPr lang="zh-CN" altLang="en-US" b="0" i="0" dirty="0">
                <a:solidFill>
                  <a:srgbClr val="0F1115"/>
                </a:solidFill>
                <a:effectLst/>
                <a:latin typeface="quote-cjk-patch"/>
              </a:rPr>
              <a:t>地完成？</a:t>
            </a:r>
            <a:r>
              <a:rPr lang="en-US" altLang="zh-CN" b="0" i="0" dirty="0">
                <a:solidFill>
                  <a:srgbClr val="0F1115"/>
                </a:solidFill>
                <a:effectLst/>
                <a:latin typeface="quote-cjk-patch"/>
              </a:rPr>
              <a:t>NSU</a:t>
            </a:r>
            <a:r>
              <a:rPr lang="zh-CN" altLang="en-US" b="0" i="0" dirty="0">
                <a:solidFill>
                  <a:srgbClr val="0F1115"/>
                </a:solidFill>
                <a:effectLst/>
                <a:latin typeface="quote-cjk-patch"/>
              </a:rPr>
              <a:t>中定义的每个</a:t>
            </a:r>
            <a:r>
              <a:rPr lang="zh-CN" altLang="en-US" b="1" i="0" dirty="0">
                <a:solidFill>
                  <a:srgbClr val="0F1115"/>
                </a:solidFill>
                <a:effectLst/>
                <a:latin typeface="quote-cjk-patch"/>
              </a:rPr>
              <a:t>导航节点</a:t>
            </a:r>
            <a:r>
              <a:rPr lang="zh-CN" altLang="en-US" b="0" i="0" dirty="0">
                <a:solidFill>
                  <a:srgbClr val="0F1115"/>
                </a:solidFill>
                <a:effectLst/>
                <a:latin typeface="quote-cjk-patch"/>
              </a:rPr>
              <a:t>是否都能在既定路径下被访问到？</a:t>
            </a:r>
          </a:p>
          <a:p>
            <a:pPr algn="l">
              <a:buFont typeface="Arial" panose="020B0604020202020204" pitchFamily="34" charset="0"/>
              <a:buChar char="•"/>
            </a:pPr>
            <a:r>
              <a:rPr lang="zh-CN" altLang="en-US" b="1" i="0" dirty="0">
                <a:solidFill>
                  <a:srgbClr val="0F1115"/>
                </a:solidFill>
                <a:effectLst/>
                <a:latin typeface="quote-cjk-patch"/>
              </a:rPr>
              <a:t>路径覆盖</a:t>
            </a:r>
            <a:r>
              <a:rPr lang="zh-CN" altLang="en-US" b="0" i="0" dirty="0">
                <a:solidFill>
                  <a:srgbClr val="0F1115"/>
                </a:solidFill>
                <a:effectLst/>
                <a:latin typeface="quote-cjk-patch"/>
              </a:rPr>
              <a:t>：如果完成一个</a:t>
            </a:r>
            <a:r>
              <a:rPr lang="en-US" altLang="zh-CN" b="0" i="0" dirty="0">
                <a:solidFill>
                  <a:srgbClr val="0F1115"/>
                </a:solidFill>
                <a:effectLst/>
                <a:latin typeface="quote-cjk-patch"/>
              </a:rPr>
              <a:t>NSU</a:t>
            </a:r>
            <a:r>
              <a:rPr lang="zh-CN" altLang="en-US" b="0" i="0" dirty="0">
                <a:solidFill>
                  <a:srgbClr val="0F1115"/>
                </a:solidFill>
                <a:effectLst/>
                <a:latin typeface="quote-cjk-patch"/>
              </a:rPr>
              <a:t>有</a:t>
            </a:r>
            <a:r>
              <a:rPr lang="zh-CN" altLang="en-US" b="1" i="0" dirty="0">
                <a:solidFill>
                  <a:srgbClr val="0F1115"/>
                </a:solidFill>
                <a:effectLst/>
                <a:latin typeface="quote-cjk-patch"/>
              </a:rPr>
              <a:t>多条导航路径</a:t>
            </a:r>
            <a:r>
              <a:rPr lang="zh-CN" altLang="en-US" b="0" i="0" dirty="0">
                <a:solidFill>
                  <a:srgbClr val="0F1115"/>
                </a:solidFill>
                <a:effectLst/>
                <a:latin typeface="quote-cjk-patch"/>
              </a:rPr>
              <a:t>，是否每条相关路径都经过了测试？</a:t>
            </a:r>
          </a:p>
          <a:p>
            <a:pPr algn="l">
              <a:buFont typeface="Arial" panose="020B0604020202020204" pitchFamily="34" charset="0"/>
              <a:buChar char="•"/>
            </a:pPr>
            <a:r>
              <a:rPr lang="zh-CN" altLang="en-US" b="1" i="0" dirty="0">
                <a:solidFill>
                  <a:srgbClr val="0F1115"/>
                </a:solidFill>
                <a:effectLst/>
                <a:latin typeface="quote-cjk-patch"/>
              </a:rPr>
              <a:t>导航指引</a:t>
            </a:r>
            <a:r>
              <a:rPr lang="zh-CN" altLang="en-US" b="0" i="0" dirty="0">
                <a:solidFill>
                  <a:srgbClr val="0F1115"/>
                </a:solidFill>
                <a:effectLst/>
                <a:latin typeface="quote-cjk-patch"/>
              </a:rPr>
              <a:t>：界面提供的导航指引（如面包屑、提示文字）在导航过程中是否</a:t>
            </a:r>
            <a:r>
              <a:rPr lang="zh-CN" altLang="en-US" b="1" i="0" dirty="0">
                <a:solidFill>
                  <a:srgbClr val="0F1115"/>
                </a:solidFill>
                <a:effectLst/>
                <a:latin typeface="quote-cjk-patch"/>
              </a:rPr>
              <a:t>正确且易于理解</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返回机制</a:t>
            </a:r>
            <a:r>
              <a:rPr lang="zh-CN" altLang="en-US" b="0" i="0" dirty="0">
                <a:solidFill>
                  <a:srgbClr val="0F1115"/>
                </a:solidFill>
                <a:effectLst/>
                <a:latin typeface="quote-cjk-patch"/>
              </a:rPr>
              <a:t>：除了浏览器的“后退”按钮，应用是否提供了其他机制让用户</a:t>
            </a:r>
            <a:r>
              <a:rPr lang="zh-CN" altLang="en-US" b="1" i="0" dirty="0">
                <a:solidFill>
                  <a:srgbClr val="0F1115"/>
                </a:solidFill>
                <a:effectLst/>
                <a:latin typeface="quote-cjk-patch"/>
              </a:rPr>
              <a:t>返回上一个节点或导航路径的起点</a:t>
            </a:r>
            <a:r>
              <a:rPr lang="zh-CN" altLang="en-US" b="0" i="0" dirty="0">
                <a:solidFill>
                  <a:srgbClr val="0F1115"/>
                </a:solidFill>
                <a:effectLst/>
                <a:latin typeface="quote-cjk-patch"/>
              </a:rPr>
              <a:t>？这是确保应用内导航自主性的关键。</a:t>
            </a:r>
          </a:p>
          <a:p>
            <a:pPr algn="l">
              <a:buFont typeface="Arial" panose="020B0604020202020204" pitchFamily="34" charset="0"/>
              <a:buChar char="•"/>
            </a:pPr>
            <a:r>
              <a:rPr lang="zh-CN" altLang="en-US" b="1" i="0" dirty="0">
                <a:solidFill>
                  <a:srgbClr val="0F1115"/>
                </a:solidFill>
                <a:effectLst/>
                <a:latin typeface="quote-cjk-patch"/>
              </a:rPr>
              <a:t>页面内导航</a:t>
            </a:r>
            <a:r>
              <a:rPr lang="zh-CN" altLang="en-US" b="0" i="0" dirty="0">
                <a:solidFill>
                  <a:srgbClr val="0F1115"/>
                </a:solidFill>
                <a:effectLst/>
                <a:latin typeface="quote-cjk-patch"/>
              </a:rPr>
              <a:t>：在一个大的导航节点（即一个</a:t>
            </a:r>
            <a:r>
              <a:rPr lang="zh-CN" altLang="en-US" b="1" i="0" dirty="0">
                <a:solidFill>
                  <a:srgbClr val="0F1115"/>
                </a:solidFill>
                <a:effectLst/>
                <a:latin typeface="quote-cjk-patch"/>
              </a:rPr>
              <a:t>长页面</a:t>
            </a:r>
            <a:r>
              <a:rPr lang="zh-CN" altLang="en-US" b="0" i="0" dirty="0">
                <a:solidFill>
                  <a:srgbClr val="0F1115"/>
                </a:solidFill>
                <a:effectLst/>
                <a:latin typeface="quote-cjk-patch"/>
              </a:rPr>
              <a:t>）内部，锚链接等导航机制是否工作正常？</a:t>
            </a:r>
            <a:br>
              <a:rPr lang="zh-CN" altLang="en-US" b="0" i="0" dirty="0">
                <a:solidFill>
                  <a:srgbClr val="0F1115"/>
                </a:solidFill>
                <a:effectLst/>
                <a:latin typeface="quote-cjk-patch"/>
              </a:rPr>
            </a:br>
            <a:r>
              <a:rPr lang="zh-CN" altLang="en-US" b="0" i="0" dirty="0">
                <a:solidFill>
                  <a:srgbClr val="0F1115"/>
                </a:solidFill>
                <a:effectLst/>
                <a:latin typeface="quote-cjk-patch"/>
              </a:rPr>
              <a:t>这些问题帮助我们发现导航设计中的断裂点和迷惑之处。</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18</a:t>
            </a:fld>
            <a:endParaRPr lang="en-US"/>
          </a:p>
        </p:txBody>
      </p:sp>
    </p:spTree>
    <p:extLst>
      <p:ext uri="{BB962C8B-B14F-4D97-AF65-F5344CB8AC3E}">
        <p14:creationId xmlns:p14="http://schemas.microsoft.com/office/powerpoint/2010/main" val="2300714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我们继续来看导航测试中需要关注的另外一组重要问题，这些问题更侧重于测试系统的容错能力和用户的控制感。</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这一页继续列出了在测试每个导航语义单元（</a:t>
            </a:r>
            <a:r>
              <a:rPr lang="en-US" altLang="zh-CN" b="0" i="0" dirty="0">
                <a:solidFill>
                  <a:srgbClr val="0F1115"/>
                </a:solidFill>
                <a:effectLst/>
                <a:latin typeface="quote-cjk-patch"/>
              </a:rPr>
              <a:t>NSU</a:t>
            </a:r>
            <a:r>
              <a:rPr lang="zh-CN" altLang="en-US" b="0" i="0" dirty="0">
                <a:solidFill>
                  <a:srgbClr val="0F1115"/>
                </a:solidFill>
                <a:effectLst/>
                <a:latin typeface="quote-cjk-patch"/>
              </a:rPr>
              <a:t>）或用例时需要回答的关键问题：</a:t>
            </a:r>
          </a:p>
          <a:p>
            <a:pPr algn="l">
              <a:buFont typeface="Arial" panose="020B0604020202020204" pitchFamily="34" charset="0"/>
              <a:buChar char="•"/>
            </a:pPr>
            <a:r>
              <a:rPr lang="zh-CN" altLang="en-US" b="1" i="0" dirty="0">
                <a:solidFill>
                  <a:srgbClr val="0F1115"/>
                </a:solidFill>
                <a:effectLst/>
                <a:latin typeface="quote-cjk-patch"/>
              </a:rPr>
              <a:t>可选输入的处理</a:t>
            </a:r>
            <a:r>
              <a:rPr lang="zh-CN" altLang="en-US" b="0" i="0" dirty="0">
                <a:solidFill>
                  <a:srgbClr val="0F1115"/>
                </a:solidFill>
                <a:effectLst/>
                <a:latin typeface="quote-cjk-patch"/>
              </a:rPr>
              <a:t>：如果在某个节点需要用户输入（如填写表单），而用户选择</a:t>
            </a:r>
            <a:r>
              <a:rPr lang="zh-CN" altLang="en-US" b="1" i="0" dirty="0">
                <a:solidFill>
                  <a:srgbClr val="0F1115"/>
                </a:solidFill>
                <a:effectLst/>
                <a:latin typeface="quote-cjk-patch"/>
              </a:rPr>
              <a:t>跳过或不提供输入</a:t>
            </a:r>
            <a:r>
              <a:rPr lang="zh-CN" altLang="en-US" b="0" i="0" dirty="0">
                <a:solidFill>
                  <a:srgbClr val="0F1115"/>
                </a:solidFill>
                <a:effectLst/>
                <a:latin typeface="quote-cjk-patch"/>
              </a:rPr>
              <a:t>，</a:t>
            </a:r>
            <a:r>
              <a:rPr lang="en-US" altLang="zh-CN" b="0" i="0" dirty="0">
                <a:solidFill>
                  <a:srgbClr val="0F1115"/>
                </a:solidFill>
                <a:effectLst/>
                <a:latin typeface="quote-cjk-patch"/>
              </a:rPr>
              <a:t>NSU</a:t>
            </a:r>
            <a:r>
              <a:rPr lang="zh-CN" altLang="en-US" b="0" i="0" dirty="0">
                <a:solidFill>
                  <a:srgbClr val="0F1115"/>
                </a:solidFill>
                <a:effectLst/>
                <a:latin typeface="quote-cjk-patch"/>
              </a:rPr>
              <a:t>的其余部分是否仍然能够完成？系统是否有合理的默认行为或清晰的错误提示？</a:t>
            </a:r>
          </a:p>
          <a:p>
            <a:pPr algn="l">
              <a:buFont typeface="Arial" panose="020B0604020202020204" pitchFamily="34" charset="0"/>
              <a:buChar char="•"/>
            </a:pPr>
            <a:r>
              <a:rPr lang="zh-CN" altLang="en-US" b="1" i="0" dirty="0">
                <a:solidFill>
                  <a:srgbClr val="0F1115"/>
                </a:solidFill>
                <a:effectLst/>
                <a:latin typeface="quote-cjk-patch"/>
              </a:rPr>
              <a:t>错误处理</a:t>
            </a:r>
            <a:r>
              <a:rPr lang="zh-CN" altLang="en-US" b="0" i="0" dirty="0">
                <a:solidFill>
                  <a:srgbClr val="0F1115"/>
                </a:solidFill>
                <a:effectLst/>
                <a:latin typeface="quote-cjk-patch"/>
              </a:rPr>
              <a:t>：如果在节点执行功能时</a:t>
            </a:r>
            <a:r>
              <a:rPr lang="zh-CN" altLang="en-US" b="1" i="0" dirty="0">
                <a:solidFill>
                  <a:srgbClr val="0F1115"/>
                </a:solidFill>
                <a:effectLst/>
                <a:latin typeface="quote-cjk-patch"/>
              </a:rPr>
              <a:t>出现处理错误</a:t>
            </a:r>
            <a:r>
              <a:rPr lang="zh-CN" altLang="en-US" b="0" i="0" dirty="0">
                <a:solidFill>
                  <a:srgbClr val="0F1115"/>
                </a:solidFill>
                <a:effectLst/>
                <a:latin typeface="quote-cjk-patch"/>
              </a:rPr>
              <a:t>，</a:t>
            </a:r>
            <a:r>
              <a:rPr lang="en-US" altLang="zh-CN" b="0" i="0" dirty="0">
                <a:solidFill>
                  <a:srgbClr val="0F1115"/>
                </a:solidFill>
                <a:effectLst/>
                <a:latin typeface="quote-cjk-patch"/>
              </a:rPr>
              <a:t>NSU</a:t>
            </a:r>
            <a:r>
              <a:rPr lang="zh-CN" altLang="en-US" b="0" i="0" dirty="0">
                <a:solidFill>
                  <a:srgbClr val="0F1115"/>
                </a:solidFill>
                <a:effectLst/>
                <a:latin typeface="quote-cjk-patch"/>
              </a:rPr>
              <a:t>是否仍然能够以一种可控的方式完成？或者系统是否能提供清晰的错误信息并允许用户恢复？</a:t>
            </a:r>
          </a:p>
          <a:p>
            <a:pPr algn="l">
              <a:buFont typeface="Arial" panose="020B0604020202020204" pitchFamily="34" charset="0"/>
              <a:buChar char="•"/>
            </a:pPr>
            <a:r>
              <a:rPr lang="zh-CN" altLang="en-US" b="1" i="0" dirty="0">
                <a:solidFill>
                  <a:srgbClr val="0F1115"/>
                </a:solidFill>
                <a:effectLst/>
                <a:latin typeface="quote-cjk-patch"/>
              </a:rPr>
              <a:t>中断与恢复</a:t>
            </a:r>
            <a:r>
              <a:rPr lang="zh-CN" altLang="en-US" b="0" i="0" dirty="0">
                <a:solidFill>
                  <a:srgbClr val="0F1115"/>
                </a:solidFill>
                <a:effectLst/>
                <a:latin typeface="quote-cjk-patch"/>
              </a:rPr>
              <a:t>：用户是否可以在完成所有节点之前</a:t>
            </a:r>
            <a:r>
              <a:rPr lang="zh-CN" altLang="en-US" b="1" i="0" dirty="0">
                <a:solidFill>
                  <a:srgbClr val="0F1115"/>
                </a:solidFill>
                <a:effectLst/>
                <a:latin typeface="quote-cjk-patch"/>
              </a:rPr>
              <a:t>中止导航</a:t>
            </a:r>
            <a:r>
              <a:rPr lang="zh-CN" altLang="en-US" b="0" i="0" dirty="0">
                <a:solidFill>
                  <a:srgbClr val="0F1115"/>
                </a:solidFill>
                <a:effectLst/>
                <a:latin typeface="quote-cjk-patch"/>
              </a:rPr>
              <a:t>，并且之后能够</a:t>
            </a:r>
            <a:r>
              <a:rPr lang="zh-CN" altLang="en-US" b="1" i="0" dirty="0">
                <a:solidFill>
                  <a:srgbClr val="0F1115"/>
                </a:solidFill>
                <a:effectLst/>
                <a:latin typeface="quote-cjk-patch"/>
              </a:rPr>
              <a:t>返回到中止的地方并继续</a:t>
            </a:r>
            <a:r>
              <a:rPr lang="zh-CN" altLang="en-US" b="0" i="0" dirty="0">
                <a:solidFill>
                  <a:srgbClr val="0F1115"/>
                </a:solidFill>
                <a:effectLst/>
                <a:latin typeface="quote-cjk-patch"/>
              </a:rPr>
              <a:t>？这测试了应用的状态保持能力。</a:t>
            </a:r>
          </a:p>
          <a:p>
            <a:pPr algn="l">
              <a:buFont typeface="Arial" panose="020B0604020202020204" pitchFamily="34" charset="0"/>
              <a:buChar char="•"/>
            </a:pPr>
            <a:r>
              <a:rPr lang="zh-CN" altLang="en-US" b="1" i="0" dirty="0">
                <a:solidFill>
                  <a:srgbClr val="0F1115"/>
                </a:solidFill>
                <a:effectLst/>
                <a:latin typeface="quote-cjk-patch"/>
              </a:rPr>
              <a:t>站点地图与节点名称</a:t>
            </a:r>
            <a:r>
              <a:rPr lang="zh-CN" altLang="en-US" b="0" i="0" dirty="0">
                <a:solidFill>
                  <a:srgbClr val="0F1115"/>
                </a:solidFill>
                <a:effectLst/>
                <a:latin typeface="quote-cjk-patch"/>
              </a:rPr>
              <a:t>：每个节点是否都能从</a:t>
            </a:r>
            <a:r>
              <a:rPr lang="zh-CN" altLang="en-US" b="1" i="0" dirty="0">
                <a:solidFill>
                  <a:srgbClr val="0F1115"/>
                </a:solidFill>
                <a:effectLst/>
                <a:latin typeface="quote-cjk-patch"/>
              </a:rPr>
              <a:t>站点地图访问</a:t>
            </a:r>
            <a:r>
              <a:rPr lang="zh-CN" altLang="en-US" b="0" i="0" dirty="0">
                <a:solidFill>
                  <a:srgbClr val="0F1115"/>
                </a:solidFill>
                <a:effectLst/>
                <a:latin typeface="quote-cjk-patch"/>
              </a:rPr>
              <a:t>？节点名称对最终用户来说是否</a:t>
            </a:r>
            <a:r>
              <a:rPr lang="zh-CN" altLang="en-US" b="1" i="0" dirty="0">
                <a:solidFill>
                  <a:srgbClr val="0F1115"/>
                </a:solidFill>
                <a:effectLst/>
                <a:latin typeface="quote-cjk-patch"/>
              </a:rPr>
              <a:t>有意义且易于理解</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外部入口</a:t>
            </a:r>
            <a:r>
              <a:rPr lang="zh-CN" altLang="en-US" b="0" i="0" dirty="0">
                <a:solidFill>
                  <a:srgbClr val="0F1115"/>
                </a:solidFill>
                <a:effectLst/>
                <a:latin typeface="quote-cjk-patch"/>
              </a:rPr>
              <a:t>：如果用户从</a:t>
            </a:r>
            <a:r>
              <a:rPr lang="zh-CN" altLang="en-US" b="1" i="0" dirty="0">
                <a:solidFill>
                  <a:srgbClr val="0F1115"/>
                </a:solidFill>
                <a:effectLst/>
                <a:latin typeface="quote-cjk-patch"/>
              </a:rPr>
              <a:t>外部来源</a:t>
            </a:r>
            <a:r>
              <a:rPr lang="zh-CN" altLang="en-US" b="0" i="0" dirty="0">
                <a:solidFill>
                  <a:srgbClr val="0F1115"/>
                </a:solidFill>
                <a:effectLst/>
                <a:latin typeface="quote-cjk-patch"/>
              </a:rPr>
              <a:t>（如搜索引擎链接）直接进入某个</a:t>
            </a:r>
            <a:r>
              <a:rPr lang="en-US" altLang="zh-CN" b="0" i="0" dirty="0">
                <a:solidFill>
                  <a:srgbClr val="0F1115"/>
                </a:solidFill>
                <a:effectLst/>
                <a:latin typeface="quote-cjk-patch"/>
              </a:rPr>
              <a:t>NSU</a:t>
            </a:r>
            <a:r>
              <a:rPr lang="zh-CN" altLang="en-US" b="0" i="0" dirty="0">
                <a:solidFill>
                  <a:srgbClr val="0F1115"/>
                </a:solidFill>
                <a:effectLst/>
                <a:latin typeface="quote-cjk-patch"/>
              </a:rPr>
              <a:t>内部的节点，是否能够顺利导航到下一个节点？是否能够返回到上一个节点？这测试了应用的深度链接兼容性。</a:t>
            </a:r>
          </a:p>
          <a:p>
            <a:pPr algn="l">
              <a:buFont typeface="Arial" panose="020B0604020202020204" pitchFamily="34" charset="0"/>
              <a:buChar char="•"/>
            </a:pPr>
            <a:r>
              <a:rPr lang="zh-CN" altLang="en-US" b="1" i="0" dirty="0">
                <a:solidFill>
                  <a:srgbClr val="0F1115"/>
                </a:solidFill>
                <a:effectLst/>
                <a:latin typeface="quote-cjk-patch"/>
              </a:rPr>
              <a:t>位置感知</a:t>
            </a:r>
            <a:r>
              <a:rPr lang="zh-CN" altLang="en-US" b="0" i="0" dirty="0">
                <a:solidFill>
                  <a:srgbClr val="0F1115"/>
                </a:solidFill>
                <a:effectLst/>
                <a:latin typeface="quote-cjk-patch"/>
              </a:rPr>
              <a:t>：在执行</a:t>
            </a:r>
            <a:r>
              <a:rPr lang="en-US" altLang="zh-CN" b="0" i="0" dirty="0">
                <a:solidFill>
                  <a:srgbClr val="0F1115"/>
                </a:solidFill>
                <a:effectLst/>
                <a:latin typeface="quote-cjk-patch"/>
              </a:rPr>
              <a:t>NSU</a:t>
            </a:r>
            <a:r>
              <a:rPr lang="zh-CN" altLang="en-US" b="0" i="0" dirty="0">
                <a:solidFill>
                  <a:srgbClr val="0F1115"/>
                </a:solidFill>
                <a:effectLst/>
                <a:latin typeface="quote-cjk-patch"/>
              </a:rPr>
              <a:t>时，用户是否清楚</a:t>
            </a:r>
            <a:r>
              <a:rPr lang="zh-CN" altLang="en-US" b="1" i="0" dirty="0">
                <a:solidFill>
                  <a:srgbClr val="0F1115"/>
                </a:solidFill>
                <a:effectLst/>
                <a:latin typeface="quote-cjk-patch"/>
              </a:rPr>
              <a:t>自己在整个内容架构中的当前位置</a:t>
            </a:r>
            <a:r>
              <a:rPr lang="zh-CN" altLang="en-US" b="0" i="0" dirty="0">
                <a:solidFill>
                  <a:srgbClr val="0F1115"/>
                </a:solidFill>
                <a:effectLst/>
                <a:latin typeface="quote-cjk-patch"/>
              </a:rPr>
              <a:t>？（例如，通过面包屑导航、高亮当前菜单项等方式）</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19</a:t>
            </a:fld>
            <a:endParaRPr lang="en-US"/>
          </a:p>
        </p:txBody>
      </p:sp>
    </p:spTree>
    <p:extLst>
      <p:ext uri="{BB962C8B-B14F-4D97-AF65-F5344CB8AC3E}">
        <p14:creationId xmlns:p14="http://schemas.microsoft.com/office/powerpoint/2010/main" val="31172866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对于面向全球用户的应用，国际化与本地化测试至关重要。这确保了应用能够适应不同地区、语言和文化用户的需要。</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这一页定义了三个关键概念：</a:t>
            </a:r>
          </a:p>
          <a:p>
            <a:pPr algn="l">
              <a:buFont typeface="+mj-lt"/>
              <a:buAutoNum type="arabicPeriod"/>
            </a:pPr>
            <a:r>
              <a:rPr lang="zh-CN" altLang="en-US" b="1" i="0" dirty="0">
                <a:solidFill>
                  <a:srgbClr val="0F1115"/>
                </a:solidFill>
                <a:effectLst/>
                <a:latin typeface="quote-cjk-patch"/>
              </a:rPr>
              <a:t>国际化</a:t>
            </a:r>
            <a:r>
              <a:rPr lang="zh-CN" altLang="en-US" b="0" i="0" dirty="0">
                <a:solidFill>
                  <a:srgbClr val="0F1115"/>
                </a:solidFill>
                <a:effectLst/>
                <a:latin typeface="quote-cjk-patch"/>
              </a:rPr>
              <a:t>：这是</a:t>
            </a:r>
            <a:r>
              <a:rPr lang="zh-CN" altLang="en-US" b="1" i="0" dirty="0">
                <a:solidFill>
                  <a:srgbClr val="0F1115"/>
                </a:solidFill>
                <a:effectLst/>
                <a:latin typeface="quote-cjk-patch"/>
              </a:rPr>
              <a:t>第一步</a:t>
            </a:r>
            <a:r>
              <a:rPr lang="zh-CN" altLang="en-US" b="0" i="0" dirty="0">
                <a:solidFill>
                  <a:srgbClr val="0F1115"/>
                </a:solidFill>
                <a:effectLst/>
                <a:latin typeface="quote-cjk-patch"/>
              </a:rPr>
              <a:t>，指在软件设计阶段就使其架构和代码能够</a:t>
            </a:r>
            <a:r>
              <a:rPr lang="zh-CN" altLang="en-US" b="1" i="0" dirty="0">
                <a:solidFill>
                  <a:srgbClr val="0F1115"/>
                </a:solidFill>
                <a:effectLst/>
                <a:latin typeface="quote-cjk-patch"/>
              </a:rPr>
              <a:t>支持多种国家和语言</a:t>
            </a:r>
            <a:r>
              <a:rPr lang="zh-CN" altLang="en-US" b="0" i="0" dirty="0">
                <a:solidFill>
                  <a:srgbClr val="0F1115"/>
                </a:solidFill>
                <a:effectLst/>
                <a:latin typeface="quote-cjk-patch"/>
              </a:rPr>
              <a:t>，而无需进行工程上的重大改动。这包括使用</a:t>
            </a:r>
            <a:r>
              <a:rPr lang="en-US" altLang="zh-CN" b="0" i="0" dirty="0">
                <a:solidFill>
                  <a:srgbClr val="0F1115"/>
                </a:solidFill>
                <a:effectLst/>
                <a:latin typeface="quote-cjk-patch"/>
              </a:rPr>
              <a:t>Unicode</a:t>
            </a:r>
            <a:r>
              <a:rPr lang="zh-CN" altLang="en-US" b="0" i="0" dirty="0">
                <a:solidFill>
                  <a:srgbClr val="0F1115"/>
                </a:solidFill>
                <a:effectLst/>
                <a:latin typeface="quote-cjk-patch"/>
              </a:rPr>
              <a:t>字符集、将文本与代码分离、设计可适应不同文本长度的界面布局等。</a:t>
            </a:r>
          </a:p>
          <a:p>
            <a:pPr algn="l">
              <a:buFont typeface="+mj-lt"/>
              <a:buAutoNum type="arabicPeriod"/>
            </a:pPr>
            <a:r>
              <a:rPr lang="zh-CN" altLang="en-US" b="1" i="0" dirty="0">
                <a:solidFill>
                  <a:srgbClr val="0F1115"/>
                </a:solidFill>
                <a:effectLst/>
                <a:latin typeface="quote-cjk-patch"/>
              </a:rPr>
              <a:t>本地化</a:t>
            </a:r>
            <a:r>
              <a:rPr lang="zh-CN" altLang="en-US" b="0" i="0" dirty="0">
                <a:solidFill>
                  <a:srgbClr val="0F1115"/>
                </a:solidFill>
                <a:effectLst/>
                <a:latin typeface="quote-cjk-patch"/>
              </a:rPr>
              <a:t>：这是在国际化的基础上，为</a:t>
            </a:r>
            <a:r>
              <a:rPr lang="zh-CN" altLang="en-US" b="1" i="0" dirty="0">
                <a:solidFill>
                  <a:srgbClr val="0F1115"/>
                </a:solidFill>
                <a:effectLst/>
                <a:latin typeface="quote-cjk-patch"/>
              </a:rPr>
              <a:t>特定的目标区域</a:t>
            </a:r>
            <a:r>
              <a:rPr lang="zh-CN" altLang="en-US" b="0" i="0" dirty="0">
                <a:solidFill>
                  <a:srgbClr val="0F1115"/>
                </a:solidFill>
                <a:effectLst/>
                <a:latin typeface="quote-cjk-patch"/>
              </a:rPr>
              <a:t>适配软件的过程。它包括添加区域特定的要求（如日期格式、货币、法律法规、文化习俗）以及将文本元素翻译成适当的语言。</a:t>
            </a:r>
          </a:p>
          <a:p>
            <a:pPr algn="l">
              <a:buFont typeface="+mj-lt"/>
              <a:buAutoNum type="arabicPeriod"/>
            </a:pPr>
            <a:r>
              <a:rPr lang="zh-CN" altLang="en-US" b="1" i="0" dirty="0">
                <a:solidFill>
                  <a:srgbClr val="0F1115"/>
                </a:solidFill>
                <a:effectLst/>
                <a:latin typeface="quote-cjk-patch"/>
              </a:rPr>
              <a:t>众包</a:t>
            </a:r>
            <a:r>
              <a:rPr lang="zh-CN" altLang="en-US" b="0" i="0" dirty="0">
                <a:solidFill>
                  <a:srgbClr val="0F1115"/>
                </a:solidFill>
                <a:effectLst/>
                <a:latin typeface="quote-cjk-patch"/>
              </a:rPr>
              <a:t>：这是一种分布式问题解决模型，通过让</a:t>
            </a:r>
            <a:r>
              <a:rPr lang="zh-CN" altLang="en-US" b="1" i="0" dirty="0">
                <a:solidFill>
                  <a:srgbClr val="0F1115"/>
                </a:solidFill>
                <a:effectLst/>
                <a:latin typeface="quote-cjk-patch"/>
              </a:rPr>
              <a:t>社区成员</a:t>
            </a:r>
            <a:r>
              <a:rPr lang="zh-CN" altLang="en-US" b="0" i="0" dirty="0">
                <a:solidFill>
                  <a:srgbClr val="0F1115"/>
                </a:solidFill>
                <a:effectLst/>
                <a:latin typeface="quote-cjk-patch"/>
              </a:rPr>
              <a:t>（通常来自全球各地）参与解决发布到群体中的问题。在本地化测试中，可以利用众包来吸引开发环境之外的、分布在全球的测试人员，他们可以帮助验证本地化的准确性和文化适宜性，这是一种高效且贴近真实用户的方法。</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20</a:t>
            </a:fld>
            <a:endParaRPr lang="en-US"/>
          </a:p>
        </p:txBody>
      </p:sp>
    </p:spTree>
    <p:extLst>
      <p:ext uri="{BB962C8B-B14F-4D97-AF65-F5344CB8AC3E}">
        <p14:creationId xmlns:p14="http://schemas.microsoft.com/office/powerpoint/2010/main" val="34364255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安全是任何软件产品，尤其是</a:t>
            </a:r>
            <a:r>
              <a:rPr lang="en-US" altLang="zh-CN" b="0" i="0" dirty="0">
                <a:solidFill>
                  <a:srgbClr val="0F1115"/>
                </a:solidFill>
                <a:effectLst/>
                <a:latin typeface="quote-cjk-patch"/>
              </a:rPr>
              <a:t>Web</a:t>
            </a:r>
            <a:r>
              <a:rPr lang="zh-CN" altLang="en-US" b="0" i="0" dirty="0">
                <a:solidFill>
                  <a:srgbClr val="0F1115"/>
                </a:solidFill>
                <a:effectLst/>
                <a:latin typeface="quote-cjk-patch"/>
              </a:rPr>
              <a:t>和移动应用的重中之重。安全测试旨在主动发现系统中的漏洞，防止恶意攻击和数据泄露。</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这一页从三个层面阐述了安全测试的范围：</a:t>
            </a:r>
          </a:p>
          <a:p>
            <a:pPr algn="l">
              <a:buFont typeface="Arial" panose="020B0604020202020204" pitchFamily="34" charset="0"/>
              <a:buChar char="•"/>
            </a:pPr>
            <a:r>
              <a:rPr lang="zh-CN" altLang="en-US" b="1" i="0" dirty="0">
                <a:solidFill>
                  <a:srgbClr val="0F1115"/>
                </a:solidFill>
                <a:effectLst/>
                <a:latin typeface="quote-cjk-patch"/>
              </a:rPr>
              <a:t>客户端环境</a:t>
            </a:r>
            <a:r>
              <a:rPr lang="zh-CN" altLang="en-US" b="0" i="0" dirty="0">
                <a:solidFill>
                  <a:srgbClr val="0F1115"/>
                </a:solidFill>
                <a:effectLst/>
                <a:latin typeface="quote-cjk-patch"/>
              </a:rPr>
              <a:t>：漏洞可能源于浏览器、电子邮件程序或通信软件中</a:t>
            </a:r>
            <a:r>
              <a:rPr lang="zh-CN" altLang="en-US" b="1" i="0" dirty="0">
                <a:solidFill>
                  <a:srgbClr val="0F1115"/>
                </a:solidFill>
                <a:effectLst/>
                <a:latin typeface="quote-cjk-patch"/>
              </a:rPr>
              <a:t>已存在的</a:t>
            </a:r>
            <a:r>
              <a:rPr lang="en-US" altLang="zh-CN" b="1" i="0" dirty="0">
                <a:solidFill>
                  <a:srgbClr val="0F1115"/>
                </a:solidFill>
                <a:effectLst/>
                <a:latin typeface="quote-cjk-patch"/>
              </a:rPr>
              <a:t>bug</a:t>
            </a:r>
            <a:r>
              <a:rPr lang="zh-CN" altLang="en-US" b="0" i="0" dirty="0">
                <a:solidFill>
                  <a:srgbClr val="0F1115"/>
                </a:solidFill>
                <a:effectLst/>
                <a:latin typeface="quote-cjk-patch"/>
              </a:rPr>
              <a:t>。测试需要检查客户端代码（如</a:t>
            </a:r>
            <a:r>
              <a:rPr lang="en-US" altLang="zh-CN" b="0" i="0" dirty="0">
                <a:solidFill>
                  <a:srgbClr val="0F1115"/>
                </a:solidFill>
                <a:effectLst/>
                <a:latin typeface="quote-cjk-patch"/>
              </a:rPr>
              <a:t>HTML</a:t>
            </a:r>
            <a:r>
              <a:rPr lang="zh-CN" altLang="en-US" b="0" i="0" dirty="0">
                <a:solidFill>
                  <a:srgbClr val="0F1115"/>
                </a:solidFill>
                <a:effectLst/>
                <a:latin typeface="quote-cjk-patch"/>
              </a:rPr>
              <a:t>、</a:t>
            </a:r>
            <a:r>
              <a:rPr lang="en-US" altLang="zh-CN" b="0" i="0" dirty="0">
                <a:solidFill>
                  <a:srgbClr val="0F1115"/>
                </a:solidFill>
                <a:effectLst/>
                <a:latin typeface="quote-cjk-patch"/>
              </a:rPr>
              <a:t>JavaScript</a:t>
            </a:r>
            <a:r>
              <a:rPr lang="zh-CN" altLang="en-US" b="0" i="0" dirty="0">
                <a:solidFill>
                  <a:srgbClr val="0F1115"/>
                </a:solidFill>
                <a:effectLst/>
                <a:latin typeface="quote-cjk-patch"/>
              </a:rPr>
              <a:t>）是否存在安全漏洞，例如跨站脚本（</a:t>
            </a:r>
            <a:r>
              <a:rPr lang="en-US" altLang="zh-CN" b="0" i="0" dirty="0">
                <a:solidFill>
                  <a:srgbClr val="0F1115"/>
                </a:solidFill>
                <a:effectLst/>
                <a:latin typeface="quote-cjk-patch"/>
              </a:rPr>
              <a:t>XSS</a:t>
            </a:r>
            <a:r>
              <a:rPr lang="zh-CN" altLang="en-US" b="0" i="0" dirty="0">
                <a:solidFill>
                  <a:srgbClr val="0F1115"/>
                </a:solidFill>
                <a:effectLst/>
                <a:latin typeface="quote-cjk-patch"/>
              </a:rPr>
              <a:t>）漏洞。</a:t>
            </a:r>
          </a:p>
          <a:p>
            <a:pPr algn="l">
              <a:buFont typeface="Arial" panose="020B0604020202020204" pitchFamily="34" charset="0"/>
              <a:buChar char="•"/>
            </a:pPr>
            <a:r>
              <a:rPr lang="zh-CN" altLang="en-US" b="1" i="0" dirty="0">
                <a:solidFill>
                  <a:srgbClr val="0F1115"/>
                </a:solidFill>
                <a:effectLst/>
                <a:latin typeface="quote-cjk-patch"/>
              </a:rPr>
              <a:t>网络通信</a:t>
            </a:r>
            <a:r>
              <a:rPr lang="zh-CN" altLang="en-US" b="0" i="0" dirty="0">
                <a:solidFill>
                  <a:srgbClr val="0F1115"/>
                </a:solidFill>
                <a:effectLst/>
                <a:latin typeface="quote-cjk-patch"/>
              </a:rPr>
              <a:t>：测试数据在客户端和服务器之间传递过程中的安全性，确保数据</a:t>
            </a:r>
            <a:r>
              <a:rPr lang="zh-CN" altLang="en-US" b="1" i="0" dirty="0">
                <a:solidFill>
                  <a:srgbClr val="0F1115"/>
                </a:solidFill>
                <a:effectLst/>
                <a:latin typeface="quote-cjk-patch"/>
              </a:rPr>
              <a:t>加密</a:t>
            </a:r>
            <a:r>
              <a:rPr lang="zh-CN" altLang="en-US" b="0" i="0" dirty="0">
                <a:solidFill>
                  <a:srgbClr val="0F1115"/>
                </a:solidFill>
                <a:effectLst/>
                <a:latin typeface="quote-cjk-patch"/>
              </a:rPr>
              <a:t>（如使用</a:t>
            </a:r>
            <a:r>
              <a:rPr lang="en-US" altLang="zh-CN" b="0" i="0" dirty="0">
                <a:solidFill>
                  <a:srgbClr val="0F1115"/>
                </a:solidFill>
                <a:effectLst/>
                <a:latin typeface="quote-cjk-patch"/>
              </a:rPr>
              <a:t>HTTPS</a:t>
            </a:r>
            <a:r>
              <a:rPr lang="zh-CN" altLang="en-US" b="0" i="0" dirty="0">
                <a:solidFill>
                  <a:srgbClr val="0F1115"/>
                </a:solidFill>
                <a:effectLst/>
                <a:latin typeface="quote-cjk-patch"/>
              </a:rPr>
              <a:t>）且不会被窃听或篡改。</a:t>
            </a:r>
          </a:p>
          <a:p>
            <a:pPr algn="l">
              <a:buFont typeface="Arial" panose="020B0604020202020204" pitchFamily="34" charset="0"/>
              <a:buChar char="•"/>
            </a:pPr>
            <a:r>
              <a:rPr lang="zh-CN" altLang="en-US" b="1" i="0" dirty="0">
                <a:solidFill>
                  <a:srgbClr val="0F1115"/>
                </a:solidFill>
                <a:effectLst/>
                <a:latin typeface="quote-cjk-patch"/>
              </a:rPr>
              <a:t>服务器端环境</a:t>
            </a:r>
            <a:r>
              <a:rPr lang="zh-CN" altLang="en-US" b="0" i="0" dirty="0">
                <a:solidFill>
                  <a:srgbClr val="0F1115"/>
                </a:solidFill>
                <a:effectLst/>
                <a:latin typeface="quote-cjk-patch"/>
              </a:rPr>
              <a:t>：服务器端面临的威胁包括</a:t>
            </a:r>
            <a:r>
              <a:rPr lang="zh-CN" altLang="en-US" b="1" i="0" dirty="0">
                <a:solidFill>
                  <a:srgbClr val="0F1115"/>
                </a:solidFill>
                <a:effectLst/>
                <a:latin typeface="quote-cjk-patch"/>
              </a:rPr>
              <a:t>拒绝服务攻击</a:t>
            </a:r>
            <a:r>
              <a:rPr lang="zh-CN" altLang="en-US" b="0" i="0" dirty="0">
                <a:solidFill>
                  <a:srgbClr val="0F1115"/>
                </a:solidFill>
                <a:effectLst/>
                <a:latin typeface="quote-cjk-patch"/>
              </a:rPr>
              <a:t>（使服务器资源耗尽无法提供服务）和</a:t>
            </a:r>
            <a:r>
              <a:rPr lang="zh-CN" altLang="en-US" b="1" i="0" dirty="0">
                <a:solidFill>
                  <a:srgbClr val="0F1115"/>
                </a:solidFill>
                <a:effectLst/>
                <a:latin typeface="quote-cjk-patch"/>
              </a:rPr>
              <a:t>恶意脚本</a:t>
            </a:r>
            <a:r>
              <a:rPr lang="zh-CN" altLang="en-US" b="0" i="0" dirty="0">
                <a:solidFill>
                  <a:srgbClr val="0F1115"/>
                </a:solidFill>
                <a:effectLst/>
                <a:latin typeface="quote-cjk-patch"/>
              </a:rPr>
              <a:t>（如</a:t>
            </a:r>
            <a:r>
              <a:rPr lang="en-US" altLang="zh-CN" b="0" i="0" dirty="0">
                <a:solidFill>
                  <a:srgbClr val="0F1115"/>
                </a:solidFill>
                <a:effectLst/>
                <a:latin typeface="quote-cjk-patch"/>
              </a:rPr>
              <a:t>SQL</a:t>
            </a:r>
            <a:r>
              <a:rPr lang="zh-CN" altLang="en-US" b="0" i="0" dirty="0">
                <a:solidFill>
                  <a:srgbClr val="0F1115"/>
                </a:solidFill>
                <a:effectLst/>
                <a:latin typeface="quote-cjk-patch"/>
              </a:rPr>
              <a:t>注入），这些恶意脚本可能被传递给客户端或用于破坏服务器操作。</a:t>
            </a:r>
            <a:br>
              <a:rPr lang="zh-CN" altLang="en-US" b="0" i="0" dirty="0">
                <a:solidFill>
                  <a:srgbClr val="0F1115"/>
                </a:solidFill>
                <a:effectLst/>
                <a:latin typeface="quote-cjk-patch"/>
              </a:rPr>
            </a:br>
            <a:r>
              <a:rPr lang="zh-CN" altLang="en-US" b="0" i="0" dirty="0">
                <a:solidFill>
                  <a:srgbClr val="0F1115"/>
                </a:solidFill>
                <a:effectLst/>
                <a:latin typeface="quote-cjk-patch"/>
              </a:rPr>
              <a:t>安全测试需要全面覆盖这三个层面，以构建一个纵深防御的安全体系。</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21</a:t>
            </a:fld>
            <a:endParaRPr lang="en-US"/>
          </a:p>
        </p:txBody>
      </p:sp>
    </p:spTree>
    <p:extLst>
      <p:ext uri="{BB962C8B-B14F-4D97-AF65-F5344CB8AC3E}">
        <p14:creationId xmlns:p14="http://schemas.microsoft.com/office/powerpoint/2010/main" val="31539189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性能测试关注软件在各种条件下的表现，尤其是响应时间、稳定性和可扩展性。对于</a:t>
            </a:r>
            <a:r>
              <a:rPr lang="en-US" altLang="zh-CN" b="0" i="0" dirty="0">
                <a:solidFill>
                  <a:srgbClr val="0F1115"/>
                </a:solidFill>
                <a:effectLst/>
                <a:latin typeface="quote-cjk-patch"/>
              </a:rPr>
              <a:t>Web</a:t>
            </a:r>
            <a:r>
              <a:rPr lang="zh-CN" altLang="en-US" b="0" i="0" dirty="0">
                <a:solidFill>
                  <a:srgbClr val="0F1115"/>
                </a:solidFill>
                <a:effectLst/>
                <a:latin typeface="quote-cjk-patch"/>
              </a:rPr>
              <a:t>和移动应用，性能直接影响用户体验和业务转化率。</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这一页通过一系列关键问题来定义性能测试的目标：</a:t>
            </a:r>
          </a:p>
          <a:p>
            <a:pPr algn="l">
              <a:buFont typeface="Arial" panose="020B0604020202020204" pitchFamily="34" charset="0"/>
              <a:buChar char="•"/>
            </a:pPr>
            <a:r>
              <a:rPr lang="zh-CN" altLang="en-US" b="1" i="0" dirty="0">
                <a:solidFill>
                  <a:srgbClr val="0F1115"/>
                </a:solidFill>
                <a:effectLst/>
                <a:latin typeface="quote-cjk-patch"/>
              </a:rPr>
              <a:t>响应时间</a:t>
            </a:r>
            <a:r>
              <a:rPr lang="zh-CN" altLang="en-US" b="0" i="0" dirty="0">
                <a:solidFill>
                  <a:srgbClr val="0F1115"/>
                </a:solidFill>
                <a:effectLst/>
                <a:latin typeface="quote-cjk-patch"/>
              </a:rPr>
              <a:t>：服务器响应时间是否会下降到</a:t>
            </a:r>
            <a:r>
              <a:rPr lang="zh-CN" altLang="en-US" b="1" i="0" dirty="0">
                <a:solidFill>
                  <a:srgbClr val="0F1115"/>
                </a:solidFill>
                <a:effectLst/>
                <a:latin typeface="quote-cjk-patch"/>
              </a:rPr>
              <a:t>明显不可接受</a:t>
            </a:r>
            <a:r>
              <a:rPr lang="zh-CN" altLang="en-US" b="0" i="0" dirty="0">
                <a:solidFill>
                  <a:srgbClr val="0F1115"/>
                </a:solidFill>
                <a:effectLst/>
                <a:latin typeface="quote-cjk-patch"/>
              </a:rPr>
              <a:t>的程度？性能在什么具体阈值下变得不可接受？</a:t>
            </a:r>
          </a:p>
          <a:p>
            <a:pPr algn="l">
              <a:buFont typeface="Arial" panose="020B0604020202020204" pitchFamily="34" charset="0"/>
              <a:buChar char="•"/>
            </a:pPr>
            <a:r>
              <a:rPr lang="zh-CN" altLang="en-US" b="1" i="0" dirty="0">
                <a:solidFill>
                  <a:srgbClr val="0F1115"/>
                </a:solidFill>
                <a:effectLst/>
                <a:latin typeface="quote-cjk-patch"/>
              </a:rPr>
              <a:t>瓶颈定位</a:t>
            </a:r>
            <a:r>
              <a:rPr lang="zh-CN" altLang="en-US" b="0" i="0" dirty="0">
                <a:solidFill>
                  <a:srgbClr val="0F1115"/>
                </a:solidFill>
                <a:effectLst/>
                <a:latin typeface="quote-cjk-patch"/>
              </a:rPr>
              <a:t>：哪些系统组件（如数据库、应用服务器、网络带宽）应对性能下降负责？</a:t>
            </a:r>
          </a:p>
          <a:p>
            <a:pPr algn="l">
              <a:buFont typeface="Arial" panose="020B0604020202020204" pitchFamily="34" charset="0"/>
              <a:buChar char="•"/>
            </a:pPr>
            <a:r>
              <a:rPr lang="zh-CN" altLang="en-US" b="1" i="0" dirty="0">
                <a:solidFill>
                  <a:srgbClr val="0F1115"/>
                </a:solidFill>
                <a:effectLst/>
                <a:latin typeface="quote-cjk-patch"/>
              </a:rPr>
              <a:t>平均响应时间</a:t>
            </a:r>
            <a:r>
              <a:rPr lang="zh-CN" altLang="en-US" b="0" i="0" dirty="0">
                <a:solidFill>
                  <a:srgbClr val="0F1115"/>
                </a:solidFill>
                <a:effectLst/>
                <a:latin typeface="quote-cjk-patch"/>
              </a:rPr>
              <a:t>：在各种负载条件下，用户的</a:t>
            </a:r>
            <a:r>
              <a:rPr lang="zh-CN" altLang="en-US" b="1" i="0" dirty="0">
                <a:solidFill>
                  <a:srgbClr val="0F1115"/>
                </a:solidFill>
                <a:effectLst/>
                <a:latin typeface="quote-cjk-patch"/>
              </a:rPr>
              <a:t>平均响应时间</a:t>
            </a:r>
            <a:r>
              <a:rPr lang="zh-CN" altLang="en-US" b="0" i="0" dirty="0">
                <a:solidFill>
                  <a:srgbClr val="0F1115"/>
                </a:solidFill>
                <a:effectLst/>
                <a:latin typeface="quote-cjk-patch"/>
              </a:rPr>
              <a:t>是多少？</a:t>
            </a:r>
          </a:p>
          <a:p>
            <a:pPr algn="l">
              <a:buFont typeface="Arial" panose="020B0604020202020204" pitchFamily="34" charset="0"/>
              <a:buChar char="•"/>
            </a:pPr>
            <a:r>
              <a:rPr lang="zh-CN" altLang="en-US" b="1" i="0" dirty="0">
                <a:solidFill>
                  <a:srgbClr val="0F1115"/>
                </a:solidFill>
                <a:effectLst/>
                <a:latin typeface="quote-cjk-patch"/>
              </a:rPr>
              <a:t>对安全性的影响</a:t>
            </a:r>
            <a:r>
              <a:rPr lang="zh-CN" altLang="en-US" b="0" i="0" dirty="0">
                <a:solidFill>
                  <a:srgbClr val="0F1115"/>
                </a:solidFill>
                <a:effectLst/>
                <a:latin typeface="quote-cjk-patch"/>
              </a:rPr>
              <a:t>：性能下降是否会影响系统安全性？（例如，在高压下系统是否会出现认证或授权漏洞？）</a:t>
            </a:r>
          </a:p>
          <a:p>
            <a:pPr algn="l">
              <a:buFont typeface="Arial" panose="020B0604020202020204" pitchFamily="34" charset="0"/>
              <a:buChar char="•"/>
            </a:pPr>
            <a:r>
              <a:rPr lang="zh-CN" altLang="en-US" b="1" i="0" dirty="0">
                <a:solidFill>
                  <a:srgbClr val="0F1115"/>
                </a:solidFill>
                <a:effectLst/>
                <a:latin typeface="quote-cjk-patch"/>
              </a:rPr>
              <a:t>可靠性影响</a:t>
            </a:r>
            <a:r>
              <a:rPr lang="zh-CN" altLang="en-US" b="0" i="0" dirty="0">
                <a:solidFill>
                  <a:srgbClr val="0F1115"/>
                </a:solidFill>
                <a:effectLst/>
                <a:latin typeface="quote-cjk-patch"/>
              </a:rPr>
              <a:t>：随着系统负载增加，</a:t>
            </a:r>
            <a:r>
              <a:rPr lang="en-US" altLang="zh-CN" b="0" i="0" dirty="0">
                <a:solidFill>
                  <a:srgbClr val="0F1115"/>
                </a:solidFill>
                <a:effectLst/>
                <a:latin typeface="quote-cjk-patch"/>
              </a:rPr>
              <a:t>Web</a:t>
            </a:r>
            <a:r>
              <a:rPr lang="zh-CN" altLang="en-US" b="0" i="0" dirty="0">
                <a:solidFill>
                  <a:srgbClr val="0F1115"/>
                </a:solidFill>
                <a:effectLst/>
                <a:latin typeface="quote-cjk-patch"/>
              </a:rPr>
              <a:t>应用的</a:t>
            </a:r>
            <a:r>
              <a:rPr lang="zh-CN" altLang="en-US" b="1" i="0" dirty="0">
                <a:solidFill>
                  <a:srgbClr val="0F1115"/>
                </a:solidFill>
                <a:effectLst/>
                <a:latin typeface="quote-cjk-patch"/>
              </a:rPr>
              <a:t>可靠性或准确性</a:t>
            </a:r>
            <a:r>
              <a:rPr lang="zh-CN" altLang="en-US" b="0" i="0" dirty="0">
                <a:solidFill>
                  <a:srgbClr val="0F1115"/>
                </a:solidFill>
                <a:effectLst/>
                <a:latin typeface="quote-cjk-patch"/>
              </a:rPr>
              <a:t>是否会受到影响？（例如，是否会出现更多的事务失败？）</a:t>
            </a:r>
          </a:p>
          <a:p>
            <a:pPr algn="l">
              <a:buFont typeface="Arial" panose="020B0604020202020204" pitchFamily="34" charset="0"/>
              <a:buChar char="•"/>
            </a:pPr>
            <a:r>
              <a:rPr lang="zh-CN" altLang="en-US" b="1" i="0" dirty="0">
                <a:solidFill>
                  <a:srgbClr val="0F1115"/>
                </a:solidFill>
                <a:effectLst/>
                <a:latin typeface="quote-cjk-patch"/>
              </a:rPr>
              <a:t>超载测试</a:t>
            </a:r>
            <a:r>
              <a:rPr lang="zh-CN" altLang="en-US" b="0" i="0" dirty="0">
                <a:solidFill>
                  <a:srgbClr val="0F1115"/>
                </a:solidFill>
                <a:effectLst/>
                <a:latin typeface="quote-cjk-patch"/>
              </a:rPr>
              <a:t>：当施加</a:t>
            </a:r>
            <a:r>
              <a:rPr lang="zh-CN" altLang="en-US" b="1" i="0" dirty="0">
                <a:solidFill>
                  <a:srgbClr val="0F1115"/>
                </a:solidFill>
                <a:effectLst/>
                <a:latin typeface="quote-cjk-patch"/>
              </a:rPr>
              <a:t>超过服务器最大容量</a:t>
            </a:r>
            <a:r>
              <a:rPr lang="zh-CN" altLang="en-US" b="0" i="0" dirty="0">
                <a:solidFill>
                  <a:srgbClr val="0F1115"/>
                </a:solidFill>
                <a:effectLst/>
                <a:latin typeface="quote-cjk-patch"/>
              </a:rPr>
              <a:t>的负载时，系统会发生什么？（例如，是优雅降级还是彻底崩溃？）</a:t>
            </a:r>
            <a:br>
              <a:rPr lang="zh-CN" altLang="en-US" b="0" i="0" dirty="0">
                <a:solidFill>
                  <a:srgbClr val="0F1115"/>
                </a:solidFill>
                <a:effectLst/>
                <a:latin typeface="quote-cjk-patch"/>
              </a:rPr>
            </a:br>
            <a:r>
              <a:rPr lang="zh-CN" altLang="en-US" b="0" i="0" dirty="0">
                <a:solidFill>
                  <a:srgbClr val="0F1115"/>
                </a:solidFill>
                <a:effectLst/>
                <a:latin typeface="quote-cjk-patch"/>
              </a:rPr>
              <a:t>性能测试帮助我们了解系统的极限，并确保在预期负载下系统能够稳定、高效地运行。</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22</a:t>
            </a:fld>
            <a:endParaRPr lang="en-US"/>
          </a:p>
        </p:txBody>
      </p:sp>
    </p:spTree>
    <p:extLst>
      <p:ext uri="{BB962C8B-B14F-4D97-AF65-F5344CB8AC3E}">
        <p14:creationId xmlns:p14="http://schemas.microsoft.com/office/powerpoint/2010/main" val="40667951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性能测试的一个关键部分是负载测试，它帮助我们理解系统在特定负载条件下的表现。这对于规划系统容量和确保用户体验至关重要。</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这一页解释了</a:t>
            </a:r>
            <a:r>
              <a:rPr lang="zh-CN" altLang="en-US" b="1" i="0" dirty="0">
                <a:solidFill>
                  <a:srgbClr val="0F1115"/>
                </a:solidFill>
                <a:effectLst/>
                <a:latin typeface="quote-cjk-patch"/>
              </a:rPr>
              <a:t>负载测试</a:t>
            </a:r>
            <a:r>
              <a:rPr lang="zh-CN" altLang="en-US" b="0" i="0" dirty="0">
                <a:solidFill>
                  <a:srgbClr val="0F1115"/>
                </a:solidFill>
                <a:effectLst/>
                <a:latin typeface="quote-cjk-patch"/>
              </a:rPr>
              <a:t>的核心概念和计算方法：</a:t>
            </a:r>
          </a:p>
          <a:p>
            <a:pPr algn="l">
              <a:buFont typeface="Arial" panose="020B0604020202020204" pitchFamily="34" charset="0"/>
              <a:buChar char="•"/>
            </a:pPr>
            <a:r>
              <a:rPr lang="zh-CN" altLang="en-US" b="1" i="0" dirty="0">
                <a:solidFill>
                  <a:srgbClr val="0F1115"/>
                </a:solidFill>
                <a:effectLst/>
                <a:latin typeface="quote-cjk-patch"/>
              </a:rPr>
              <a:t>目的</a:t>
            </a:r>
            <a:r>
              <a:rPr lang="zh-CN" altLang="en-US" b="0" i="0" dirty="0">
                <a:solidFill>
                  <a:srgbClr val="0F1115"/>
                </a:solidFill>
                <a:effectLst/>
                <a:latin typeface="quote-cjk-patch"/>
              </a:rPr>
              <a:t>：负载测试旨在确定</a:t>
            </a:r>
            <a:r>
              <a:rPr lang="en-US" altLang="zh-CN" b="0" i="0" dirty="0">
                <a:solidFill>
                  <a:srgbClr val="0F1115"/>
                </a:solidFill>
                <a:effectLst/>
                <a:latin typeface="quote-cjk-patch"/>
              </a:rPr>
              <a:t>Web</a:t>
            </a:r>
            <a:r>
              <a:rPr lang="zh-CN" altLang="en-US" b="0" i="0" dirty="0">
                <a:solidFill>
                  <a:srgbClr val="0F1115"/>
                </a:solidFill>
                <a:effectLst/>
                <a:latin typeface="quote-cjk-patch"/>
              </a:rPr>
              <a:t>应用及其服务器端环境如何响应</a:t>
            </a:r>
            <a:r>
              <a:rPr lang="zh-CN" altLang="en-US" b="1" i="0" dirty="0">
                <a:solidFill>
                  <a:srgbClr val="0F1115"/>
                </a:solidFill>
                <a:effectLst/>
                <a:latin typeface="quote-cjk-patch"/>
              </a:rPr>
              <a:t>各种负载条件</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关键变量</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en-US" altLang="zh-CN" b="1" i="0" dirty="0">
                <a:solidFill>
                  <a:srgbClr val="0F1115"/>
                </a:solidFill>
                <a:effectLst/>
                <a:latin typeface="quote-cjk-patch"/>
              </a:rPr>
              <a:t>N</a:t>
            </a:r>
            <a:r>
              <a:rPr lang="zh-CN" altLang="en-US" b="0" i="0" dirty="0">
                <a:solidFill>
                  <a:srgbClr val="0F1115"/>
                </a:solidFill>
                <a:effectLst/>
                <a:latin typeface="quote-cjk-patch"/>
              </a:rPr>
              <a:t>：并发用户数</a:t>
            </a:r>
          </a:p>
          <a:p>
            <a:pPr marL="742950" lvl="1" indent="-285750" algn="l">
              <a:buFont typeface="Arial" panose="020B0604020202020204" pitchFamily="34" charset="0"/>
              <a:buChar char="•"/>
            </a:pPr>
            <a:r>
              <a:rPr lang="en-US" altLang="zh-CN" b="1" i="0" dirty="0">
                <a:solidFill>
                  <a:srgbClr val="0F1115"/>
                </a:solidFill>
                <a:effectLst/>
                <a:latin typeface="quote-cjk-patch"/>
              </a:rPr>
              <a:t>T</a:t>
            </a:r>
            <a:r>
              <a:rPr lang="zh-CN" altLang="en-US" b="0" i="0" dirty="0">
                <a:solidFill>
                  <a:srgbClr val="0F1115"/>
                </a:solidFill>
                <a:effectLst/>
                <a:latin typeface="quote-cjk-patch"/>
              </a:rPr>
              <a:t>：单位时间内的在线事务数</a:t>
            </a:r>
          </a:p>
          <a:p>
            <a:pPr marL="742950" lvl="1" indent="-285750" algn="l">
              <a:buFont typeface="Arial" panose="020B0604020202020204" pitchFamily="34" charset="0"/>
              <a:buChar char="•"/>
            </a:pPr>
            <a:r>
              <a:rPr lang="en-US" altLang="zh-CN" b="1" i="0" dirty="0">
                <a:solidFill>
                  <a:srgbClr val="0F1115"/>
                </a:solidFill>
                <a:effectLst/>
                <a:latin typeface="quote-cjk-patch"/>
              </a:rPr>
              <a:t>D</a:t>
            </a:r>
            <a:r>
              <a:rPr lang="zh-CN" altLang="en-US" b="0" i="0" dirty="0">
                <a:solidFill>
                  <a:srgbClr val="0F1115"/>
                </a:solidFill>
                <a:effectLst/>
                <a:latin typeface="quote-cjk-patch"/>
              </a:rPr>
              <a:t>：每个事务处理的数据负载</a:t>
            </a:r>
          </a:p>
          <a:p>
            <a:pPr algn="l">
              <a:buFont typeface="Arial" panose="020B0604020202020204" pitchFamily="34" charset="0"/>
              <a:buChar char="•"/>
            </a:pPr>
            <a:r>
              <a:rPr lang="zh-CN" altLang="en-US" b="1" i="0" dirty="0">
                <a:solidFill>
                  <a:srgbClr val="0F1115"/>
                </a:solidFill>
                <a:effectLst/>
                <a:latin typeface="quote-cjk-patch"/>
              </a:rPr>
              <a:t>吞吐量计算</a:t>
            </a:r>
            <a:r>
              <a:rPr lang="zh-CN" altLang="en-US" b="0" i="0" dirty="0">
                <a:solidFill>
                  <a:srgbClr val="0F1115"/>
                </a:solidFill>
                <a:effectLst/>
                <a:latin typeface="quote-cjk-patch"/>
              </a:rPr>
              <a:t>：系统的</a:t>
            </a:r>
            <a:r>
              <a:rPr lang="zh-CN" altLang="en-US" b="1" i="0" dirty="0">
                <a:solidFill>
                  <a:srgbClr val="0F1115"/>
                </a:solidFill>
                <a:effectLst/>
                <a:latin typeface="quote-cjk-patch"/>
              </a:rPr>
              <a:t>总吞吐量 </a:t>
            </a:r>
            <a:r>
              <a:rPr lang="en-US" altLang="zh-CN" b="1" i="0" dirty="0">
                <a:solidFill>
                  <a:srgbClr val="0F1115"/>
                </a:solidFill>
                <a:effectLst/>
                <a:latin typeface="quote-cjk-patch"/>
              </a:rPr>
              <a:t>P</a:t>
            </a:r>
            <a:r>
              <a:rPr lang="zh-CN" altLang="en-US" b="0" i="0" dirty="0">
                <a:solidFill>
                  <a:srgbClr val="0F1115"/>
                </a:solidFill>
                <a:effectLst/>
                <a:latin typeface="quote-cjk-patch"/>
              </a:rPr>
              <a:t> 可以通过一个简单的公式计算：</a:t>
            </a:r>
            <a:r>
              <a:rPr lang="en-US" altLang="zh-CN" b="1" i="0" dirty="0">
                <a:solidFill>
                  <a:srgbClr val="0F1115"/>
                </a:solidFill>
                <a:effectLst/>
                <a:latin typeface="quote-cjk-patch"/>
              </a:rPr>
              <a:t>P = N × T × D</a:t>
            </a:r>
            <a:r>
              <a:rPr lang="zh-CN" altLang="en-US" b="0"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这个公式帮助我们量化系统在不同负载水平下的处理能力，是容量规划和性能基准测试的基础。</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23</a:t>
            </a:fld>
            <a:endParaRPr lang="en-US"/>
          </a:p>
        </p:txBody>
      </p:sp>
    </p:spTree>
    <p:extLst>
      <p:ext uri="{BB962C8B-B14F-4D97-AF65-F5344CB8AC3E}">
        <p14:creationId xmlns:p14="http://schemas.microsoft.com/office/powerpoint/2010/main" val="3020291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除了测试正常负载，我们还需要测试系统在极端条件下的表现，这就是压力测试。对于移动应用，压力测试的场景尤为独特。</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这一页说明了</a:t>
            </a:r>
            <a:r>
              <a:rPr lang="zh-CN" altLang="en-US" b="1" i="0" dirty="0">
                <a:solidFill>
                  <a:srgbClr val="0F1115"/>
                </a:solidFill>
                <a:effectLst/>
                <a:latin typeface="quote-cjk-patch"/>
              </a:rPr>
              <a:t>移动应用压力测试</a:t>
            </a:r>
            <a:r>
              <a:rPr lang="zh-CN" altLang="en-US" b="0" i="0" dirty="0">
                <a:solidFill>
                  <a:srgbClr val="0F1115"/>
                </a:solidFill>
                <a:effectLst/>
                <a:latin typeface="quote-cjk-patch"/>
              </a:rPr>
              <a:t>的目标，即寻找在</a:t>
            </a:r>
            <a:r>
              <a:rPr lang="zh-CN" altLang="en-US" b="1" i="0" dirty="0">
                <a:solidFill>
                  <a:srgbClr val="0F1115"/>
                </a:solidFill>
                <a:effectLst/>
                <a:latin typeface="quote-cjk-patch"/>
              </a:rPr>
              <a:t>极端操作条件</a:t>
            </a:r>
            <a:r>
              <a:rPr lang="zh-CN" altLang="en-US" b="0" i="0" dirty="0">
                <a:solidFill>
                  <a:srgbClr val="0F1115"/>
                </a:solidFill>
                <a:effectLst/>
                <a:latin typeface="quote-cjk-patch"/>
              </a:rPr>
              <a:t>下发生的错误，例如：</a:t>
            </a:r>
          </a:p>
          <a:p>
            <a:pPr algn="l">
              <a:buFont typeface="Arial" panose="020B0604020202020204" pitchFamily="34" charset="0"/>
              <a:buChar char="•"/>
            </a:pPr>
            <a:r>
              <a:rPr lang="zh-CN" altLang="en-US" b="1" i="0" dirty="0">
                <a:solidFill>
                  <a:srgbClr val="0F1115"/>
                </a:solidFill>
                <a:effectLst/>
                <a:latin typeface="quote-cjk-patch"/>
              </a:rPr>
              <a:t>多任务处理</a:t>
            </a:r>
            <a:r>
              <a:rPr lang="zh-CN" altLang="en-US" b="0" i="0" dirty="0">
                <a:solidFill>
                  <a:srgbClr val="0F1115"/>
                </a:solidFill>
                <a:effectLst/>
                <a:latin typeface="quote-cjk-patch"/>
              </a:rPr>
              <a:t>：在同一设备上</a:t>
            </a:r>
            <a:r>
              <a:rPr lang="zh-CN" altLang="en-US" b="1" i="0" dirty="0">
                <a:solidFill>
                  <a:srgbClr val="0F1115"/>
                </a:solidFill>
                <a:effectLst/>
                <a:latin typeface="quote-cjk-patch"/>
              </a:rPr>
              <a:t>同时运行多个移动应用</a:t>
            </a:r>
            <a:r>
              <a:rPr lang="zh-CN" altLang="en-US" b="0" i="0" dirty="0">
                <a:solidFill>
                  <a:srgbClr val="0F1115"/>
                </a:solidFill>
                <a:effectLst/>
                <a:latin typeface="quote-cjk-patch"/>
              </a:rPr>
              <a:t>，测试目标应用的表现。</a:t>
            </a:r>
          </a:p>
          <a:p>
            <a:pPr algn="l">
              <a:buFont typeface="Arial" panose="020B0604020202020204" pitchFamily="34" charset="0"/>
              <a:buChar char="•"/>
            </a:pPr>
            <a:r>
              <a:rPr lang="zh-CN" altLang="en-US" b="1" i="0" dirty="0">
                <a:solidFill>
                  <a:srgbClr val="0F1115"/>
                </a:solidFill>
                <a:effectLst/>
                <a:latin typeface="quote-cjk-patch"/>
              </a:rPr>
              <a:t>恶意软件干扰</a:t>
            </a:r>
            <a:r>
              <a:rPr lang="zh-CN" altLang="en-US" b="0" i="0" dirty="0">
                <a:solidFill>
                  <a:srgbClr val="0F1115"/>
                </a:solidFill>
                <a:effectLst/>
                <a:latin typeface="quote-cjk-patch"/>
              </a:rPr>
              <a:t>：在系统软件</a:t>
            </a:r>
            <a:r>
              <a:rPr lang="zh-CN" altLang="en-US" b="1" i="0" dirty="0">
                <a:solidFill>
                  <a:srgbClr val="0F1115"/>
                </a:solidFill>
                <a:effectLst/>
                <a:latin typeface="quote-cjk-patch"/>
              </a:rPr>
              <a:t>感染病毒或恶意软件</a:t>
            </a:r>
            <a:r>
              <a:rPr lang="zh-CN" altLang="en-US" b="0" i="0" dirty="0">
                <a:solidFill>
                  <a:srgbClr val="0F1115"/>
                </a:solidFill>
                <a:effectLst/>
                <a:latin typeface="quote-cjk-patch"/>
              </a:rPr>
              <a:t>的情况下，测试应用的稳定性和安全性。</a:t>
            </a:r>
          </a:p>
          <a:p>
            <a:pPr algn="l">
              <a:buFont typeface="Arial" panose="020B0604020202020204" pitchFamily="34" charset="0"/>
              <a:buChar char="•"/>
            </a:pPr>
            <a:r>
              <a:rPr lang="zh-CN" altLang="en-US" b="1" i="0" dirty="0">
                <a:solidFill>
                  <a:srgbClr val="0F1115"/>
                </a:solidFill>
                <a:effectLst/>
                <a:latin typeface="quote-cjk-patch"/>
              </a:rPr>
              <a:t>设备劫持</a:t>
            </a:r>
            <a:r>
              <a:rPr lang="zh-CN" altLang="en-US" b="0" i="0" dirty="0">
                <a:solidFill>
                  <a:srgbClr val="0F1115"/>
                </a:solidFill>
                <a:effectLst/>
                <a:latin typeface="quote-cjk-patch"/>
              </a:rPr>
              <a:t>：模拟尝试</a:t>
            </a:r>
            <a:r>
              <a:rPr lang="zh-CN" altLang="en-US" b="1" i="0" dirty="0">
                <a:solidFill>
                  <a:srgbClr val="0F1115"/>
                </a:solidFill>
                <a:effectLst/>
                <a:latin typeface="quote-cjk-patch"/>
              </a:rPr>
              <a:t>接管设备</a:t>
            </a:r>
            <a:r>
              <a:rPr lang="zh-CN" altLang="en-US" b="0" i="0" dirty="0">
                <a:solidFill>
                  <a:srgbClr val="0F1115"/>
                </a:solidFill>
                <a:effectLst/>
                <a:latin typeface="quote-cjk-patch"/>
              </a:rPr>
              <a:t>并利用其传播垃圾邮件等恶意行为。</a:t>
            </a:r>
          </a:p>
          <a:p>
            <a:pPr algn="l">
              <a:buFont typeface="Arial" panose="020B0604020202020204" pitchFamily="34" charset="0"/>
              <a:buChar char="•"/>
            </a:pPr>
            <a:r>
              <a:rPr lang="zh-CN" altLang="en-US" b="1" i="0" dirty="0">
                <a:solidFill>
                  <a:srgbClr val="0F1115"/>
                </a:solidFill>
                <a:effectLst/>
                <a:latin typeface="quote-cjk-patch"/>
              </a:rPr>
              <a:t>处理极限事务</a:t>
            </a:r>
            <a:r>
              <a:rPr lang="zh-CN" altLang="en-US" b="0" i="0" dirty="0">
                <a:solidFill>
                  <a:srgbClr val="0F1115"/>
                </a:solidFill>
                <a:effectLst/>
                <a:latin typeface="quote-cjk-patch"/>
              </a:rPr>
              <a:t>：强制移动应用处理</a:t>
            </a:r>
            <a:r>
              <a:rPr lang="zh-CN" altLang="en-US" b="1" i="0" dirty="0">
                <a:solidFill>
                  <a:srgbClr val="0F1115"/>
                </a:solidFill>
                <a:effectLst/>
                <a:latin typeface="quote-cjk-patch"/>
              </a:rPr>
              <a:t>异常大量的事务</a:t>
            </a:r>
            <a:r>
              <a:rPr lang="zh-CN" altLang="en-US" b="0" i="0" dirty="0">
                <a:solidFill>
                  <a:srgbClr val="0F1115"/>
                </a:solidFill>
                <a:effectLst/>
                <a:latin typeface="quote-cjk-patch"/>
              </a:rPr>
              <a:t>，测试其处理能力和资源管理。</a:t>
            </a:r>
          </a:p>
          <a:p>
            <a:pPr algn="l">
              <a:buFont typeface="Arial" panose="020B0604020202020204" pitchFamily="34" charset="0"/>
              <a:buChar char="•"/>
            </a:pPr>
            <a:r>
              <a:rPr lang="zh-CN" altLang="en-US" b="1" i="0" dirty="0">
                <a:solidFill>
                  <a:srgbClr val="0F1115"/>
                </a:solidFill>
                <a:effectLst/>
                <a:latin typeface="quote-cjk-patch"/>
              </a:rPr>
              <a:t>存储极限数据</a:t>
            </a:r>
            <a:r>
              <a:rPr lang="zh-CN" altLang="en-US" b="0" i="0" dirty="0">
                <a:solidFill>
                  <a:srgbClr val="0F1115"/>
                </a:solidFill>
                <a:effectLst/>
                <a:latin typeface="quote-cjk-patch"/>
              </a:rPr>
              <a:t>：测试应用在设备上存储</a:t>
            </a:r>
            <a:r>
              <a:rPr lang="zh-CN" altLang="en-US" b="1" i="0" dirty="0">
                <a:solidFill>
                  <a:srgbClr val="0F1115"/>
                </a:solidFill>
                <a:effectLst/>
                <a:latin typeface="quote-cjk-patch"/>
              </a:rPr>
              <a:t>异常大量数据</a:t>
            </a:r>
            <a:r>
              <a:rPr lang="zh-CN" altLang="en-US" b="0" i="0" dirty="0">
                <a:solidFill>
                  <a:srgbClr val="0F1115"/>
                </a:solidFill>
                <a:effectLst/>
                <a:latin typeface="quote-cjk-patch"/>
              </a:rPr>
              <a:t>时的表现，检查是否会导致崩溃或数据损坏。</a:t>
            </a:r>
            <a:br>
              <a:rPr lang="zh-CN" altLang="en-US" b="0" i="0" dirty="0">
                <a:solidFill>
                  <a:srgbClr val="0F1115"/>
                </a:solidFill>
                <a:effectLst/>
                <a:latin typeface="quote-cjk-patch"/>
              </a:rPr>
            </a:br>
            <a:r>
              <a:rPr lang="zh-CN" altLang="en-US" b="0" i="0" dirty="0">
                <a:solidFill>
                  <a:srgbClr val="0F1115"/>
                </a:solidFill>
                <a:effectLst/>
                <a:latin typeface="quote-cjk-patch"/>
              </a:rPr>
              <a:t>压力测试帮助我们发现系统在极端情况下的薄弱环节。</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24</a:t>
            </a:fld>
            <a:endParaRPr lang="en-US"/>
          </a:p>
        </p:txBody>
      </p:sp>
    </p:spTree>
    <p:extLst>
      <p:ext uri="{BB962C8B-B14F-4D97-AF65-F5344CB8AC3E}">
        <p14:creationId xmlns:p14="http://schemas.microsoft.com/office/powerpoint/2010/main" val="4268580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由于移动设备的多样性，我们需要一种系统化的方法来优先分配测试资源。加权设备平台矩阵（</a:t>
            </a:r>
            <a:r>
              <a:rPr lang="en-US" altLang="zh-CN" b="0" i="0" dirty="0">
                <a:solidFill>
                  <a:srgbClr val="0F1115"/>
                </a:solidFill>
                <a:effectLst/>
                <a:latin typeface="quote-cjk-patch"/>
              </a:rPr>
              <a:t>WDPM</a:t>
            </a:r>
            <a:r>
              <a:rPr lang="zh-CN" altLang="en-US" b="0" i="0" dirty="0">
                <a:solidFill>
                  <a:srgbClr val="0F1115"/>
                </a:solidFill>
                <a:effectLst/>
                <a:latin typeface="quote-cjk-patch"/>
              </a:rPr>
              <a:t>）就是这个问题的解决方案。</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这一页详细说明了创建</a:t>
            </a:r>
            <a:r>
              <a:rPr lang="zh-CN" altLang="en-US" b="1" i="0" dirty="0">
                <a:solidFill>
                  <a:srgbClr val="0F1115"/>
                </a:solidFill>
                <a:effectLst/>
                <a:latin typeface="quote-cjk-patch"/>
              </a:rPr>
              <a:t>加权设备平台矩阵（</a:t>
            </a:r>
            <a:r>
              <a:rPr lang="en-US" altLang="zh-CN" b="1" i="0" dirty="0">
                <a:solidFill>
                  <a:srgbClr val="0F1115"/>
                </a:solidFill>
                <a:effectLst/>
                <a:latin typeface="quote-cjk-patch"/>
              </a:rPr>
              <a:t>WDPM</a:t>
            </a:r>
            <a:r>
              <a:rPr lang="zh-CN" altLang="en-US" b="1" i="0" dirty="0">
                <a:solidFill>
                  <a:srgbClr val="0F1115"/>
                </a:solidFill>
                <a:effectLst/>
                <a:latin typeface="quote-cjk-patch"/>
              </a:rPr>
              <a:t>）</a:t>
            </a:r>
            <a:r>
              <a:rPr lang="zh-CN" altLang="en-US" b="0" i="0" dirty="0">
                <a:solidFill>
                  <a:srgbClr val="0F1115"/>
                </a:solidFill>
                <a:effectLst/>
                <a:latin typeface="quote-cjk-patch"/>
              </a:rPr>
              <a:t> 的步骤：</a:t>
            </a:r>
          </a:p>
          <a:p>
            <a:pPr algn="l">
              <a:buFont typeface="+mj-lt"/>
              <a:buAutoNum type="arabicPeriod"/>
            </a:pPr>
            <a:r>
              <a:rPr lang="zh-CN" altLang="en-US" b="1" i="0" dirty="0">
                <a:solidFill>
                  <a:srgbClr val="0F1115"/>
                </a:solidFill>
                <a:effectLst/>
                <a:latin typeface="quote-cjk-patch"/>
              </a:rPr>
              <a:t>列标题</a:t>
            </a:r>
            <a:r>
              <a:rPr lang="zh-CN" altLang="en-US" b="0" i="0" dirty="0">
                <a:solidFill>
                  <a:srgbClr val="0F1115"/>
                </a:solidFill>
                <a:effectLst/>
                <a:latin typeface="quote-cjk-patch"/>
              </a:rPr>
              <a:t>：列出重要的</a:t>
            </a:r>
            <a:r>
              <a:rPr lang="zh-CN" altLang="en-US" b="1" i="0" dirty="0">
                <a:solidFill>
                  <a:srgbClr val="0F1115"/>
                </a:solidFill>
                <a:effectLst/>
                <a:latin typeface="quote-cjk-patch"/>
              </a:rPr>
              <a:t>操作系统变体</a:t>
            </a:r>
            <a:r>
              <a:rPr lang="zh-CN" altLang="en-US" b="0" i="0" dirty="0">
                <a:solidFill>
                  <a:srgbClr val="0F1115"/>
                </a:solidFill>
                <a:effectLst/>
                <a:latin typeface="quote-cjk-patch"/>
              </a:rPr>
              <a:t>作为矩阵的列标签。</a:t>
            </a:r>
          </a:p>
          <a:p>
            <a:pPr algn="l">
              <a:buFont typeface="+mj-lt"/>
              <a:buAutoNum type="arabicPeriod"/>
            </a:pPr>
            <a:r>
              <a:rPr lang="zh-CN" altLang="en-US" b="1" i="0" dirty="0">
                <a:solidFill>
                  <a:srgbClr val="0F1115"/>
                </a:solidFill>
                <a:effectLst/>
                <a:latin typeface="quote-cjk-patch"/>
              </a:rPr>
              <a:t>行标题</a:t>
            </a:r>
            <a:r>
              <a:rPr lang="zh-CN" altLang="en-US" b="0" i="0" dirty="0">
                <a:solidFill>
                  <a:srgbClr val="0F1115"/>
                </a:solidFill>
                <a:effectLst/>
                <a:latin typeface="quote-cjk-patch"/>
              </a:rPr>
              <a:t>：列出</a:t>
            </a:r>
            <a:r>
              <a:rPr lang="zh-CN" altLang="en-US" b="1" i="0" dirty="0">
                <a:solidFill>
                  <a:srgbClr val="0F1115"/>
                </a:solidFill>
                <a:effectLst/>
                <a:latin typeface="quote-cjk-patch"/>
              </a:rPr>
              <a:t>目标设备</a:t>
            </a:r>
            <a:r>
              <a:rPr lang="zh-CN" altLang="en-US" b="0" i="0" dirty="0">
                <a:solidFill>
                  <a:srgbClr val="0F1115"/>
                </a:solidFill>
                <a:effectLst/>
                <a:latin typeface="quote-cjk-patch"/>
              </a:rPr>
              <a:t>作为矩阵的行标签。</a:t>
            </a:r>
          </a:p>
          <a:p>
            <a:pPr algn="l">
              <a:buFont typeface="+mj-lt"/>
              <a:buAutoNum type="arabicPeriod"/>
            </a:pPr>
            <a:r>
              <a:rPr lang="zh-CN" altLang="en-US" b="1" i="0" dirty="0">
                <a:solidFill>
                  <a:srgbClr val="0F1115"/>
                </a:solidFill>
                <a:effectLst/>
                <a:latin typeface="quote-cjk-patch"/>
              </a:rPr>
              <a:t>分配权重</a:t>
            </a:r>
            <a:r>
              <a:rPr lang="zh-CN" altLang="en-US" b="0" i="0" dirty="0">
                <a:solidFill>
                  <a:srgbClr val="0F1115"/>
                </a:solidFill>
                <a:effectLst/>
                <a:latin typeface="quote-cjk-patch"/>
              </a:rPr>
              <a:t>：为每个操作系统和每个设备分配一个</a:t>
            </a:r>
            <a:r>
              <a:rPr lang="zh-CN" altLang="en-US" b="1" i="0" dirty="0">
                <a:solidFill>
                  <a:srgbClr val="0F1115"/>
                </a:solidFill>
                <a:effectLst/>
                <a:latin typeface="quote-cjk-patch"/>
              </a:rPr>
              <a:t>排名（例如</a:t>
            </a:r>
            <a:r>
              <a:rPr lang="en-US" altLang="zh-CN" b="1" i="0" dirty="0">
                <a:solidFill>
                  <a:srgbClr val="0F1115"/>
                </a:solidFill>
                <a:effectLst/>
                <a:latin typeface="quote-cjk-patch"/>
              </a:rPr>
              <a:t>0-10</a:t>
            </a:r>
            <a:r>
              <a:rPr lang="zh-CN" altLang="en-US" b="1" i="0" dirty="0">
                <a:solidFill>
                  <a:srgbClr val="0F1115"/>
                </a:solidFill>
                <a:effectLst/>
                <a:latin typeface="quote-cjk-patch"/>
              </a:rPr>
              <a:t>）</a:t>
            </a:r>
            <a:r>
              <a:rPr lang="zh-CN" altLang="en-US" b="0" i="0" dirty="0">
                <a:solidFill>
                  <a:srgbClr val="0F1115"/>
                </a:solidFill>
                <a:effectLst/>
                <a:latin typeface="quote-cjk-patch"/>
              </a:rPr>
              <a:t>，以指示其相对重要性。重要性可以基于市场份额、目标用户群体等因素。</a:t>
            </a:r>
          </a:p>
          <a:p>
            <a:pPr algn="l">
              <a:buFont typeface="+mj-lt"/>
              <a:buAutoNum type="arabicPeriod"/>
            </a:pPr>
            <a:r>
              <a:rPr lang="zh-CN" altLang="en-US" b="1" i="0" dirty="0">
                <a:solidFill>
                  <a:srgbClr val="0F1115"/>
                </a:solidFill>
                <a:effectLst/>
                <a:latin typeface="quote-cjk-patch"/>
              </a:rPr>
              <a:t>计算乘积</a:t>
            </a:r>
            <a:r>
              <a:rPr lang="zh-CN" altLang="en-US" b="0" i="0" dirty="0">
                <a:solidFill>
                  <a:srgbClr val="0F1115"/>
                </a:solidFill>
                <a:effectLst/>
                <a:latin typeface="quote-cjk-patch"/>
              </a:rPr>
              <a:t>：计算每对（设备，操作系统）排名的</a:t>
            </a:r>
            <a:r>
              <a:rPr lang="zh-CN" altLang="en-US" b="1" i="0" dirty="0">
                <a:solidFill>
                  <a:srgbClr val="0F1115"/>
                </a:solidFill>
                <a:effectLst/>
                <a:latin typeface="quote-cjk-patch"/>
              </a:rPr>
              <a:t>乘积</a:t>
            </a:r>
            <a:r>
              <a:rPr lang="zh-CN" altLang="en-US" b="0" i="0" dirty="0">
                <a:solidFill>
                  <a:srgbClr val="0F1115"/>
                </a:solidFill>
                <a:effectLst/>
                <a:latin typeface="quote-cjk-patch"/>
              </a:rPr>
              <a:t>，并将结果作为矩阵中的单元格值。</a:t>
            </a:r>
            <a:br>
              <a:rPr lang="zh-CN" altLang="en-US" b="0" i="0" dirty="0">
                <a:solidFill>
                  <a:srgbClr val="0F1115"/>
                </a:solidFill>
                <a:effectLst/>
                <a:latin typeface="quote-cjk-patch"/>
              </a:rPr>
            </a:br>
            <a:r>
              <a:rPr lang="zh-CN" altLang="en-US" b="0" i="0" dirty="0">
                <a:solidFill>
                  <a:srgbClr val="0F1115"/>
                </a:solidFill>
                <a:effectLst/>
                <a:latin typeface="quote-cjk-patch"/>
              </a:rPr>
              <a:t>这个矩阵帮助我们客观地确定哪些设备</a:t>
            </a:r>
            <a:r>
              <a:rPr lang="en-US" altLang="zh-CN" b="0" i="0" dirty="0">
                <a:solidFill>
                  <a:srgbClr val="0F1115"/>
                </a:solidFill>
                <a:effectLst/>
                <a:latin typeface="quote-cjk-patch"/>
              </a:rPr>
              <a:t>-</a:t>
            </a:r>
            <a:r>
              <a:rPr lang="zh-CN" altLang="en-US" b="0" i="0" dirty="0">
                <a:solidFill>
                  <a:srgbClr val="0F1115"/>
                </a:solidFill>
                <a:effectLst/>
                <a:latin typeface="quote-cjk-patch"/>
              </a:rPr>
              <a:t>操作系统组合最需要测试覆盖，从而优化测试资源的分配。</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25</a:t>
            </a:fld>
            <a:endParaRPr lang="en-US"/>
          </a:p>
        </p:txBody>
      </p:sp>
    </p:spTree>
    <p:extLst>
      <p:ext uri="{BB962C8B-B14F-4D97-AF65-F5344CB8AC3E}">
        <p14:creationId xmlns:p14="http://schemas.microsoft.com/office/powerpoint/2010/main" val="34193665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让我们通过一个具体的表格示例来直观理解加权设备平台矩阵的应用。</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这一页展示了一个</a:t>
            </a:r>
            <a:r>
              <a:rPr lang="zh-CN" altLang="en-US" b="1" i="0" dirty="0">
                <a:solidFill>
                  <a:srgbClr val="0F1115"/>
                </a:solidFill>
                <a:effectLst/>
                <a:latin typeface="quote-cjk-patch"/>
              </a:rPr>
              <a:t>加权设备平台矩阵的示例表格</a:t>
            </a:r>
            <a:r>
              <a:rPr lang="zh-CN" altLang="en-US" b="0" i="0" dirty="0">
                <a:solidFill>
                  <a:srgbClr val="0F1115"/>
                </a:solidFill>
                <a:effectLst/>
                <a:latin typeface="quote-cjk-patch"/>
              </a:rPr>
              <a:t>（表</a:t>
            </a:r>
            <a:r>
              <a:rPr lang="en-US" altLang="zh-CN" b="0" i="0" dirty="0">
                <a:solidFill>
                  <a:srgbClr val="0F1115"/>
                </a:solidFill>
                <a:effectLst/>
                <a:latin typeface="quote-cjk-patch"/>
              </a:rPr>
              <a:t>21.1</a:t>
            </a:r>
            <a:r>
              <a:rPr lang="zh-CN" altLang="en-US" b="0" i="0" dirty="0">
                <a:solidFill>
                  <a:srgbClr val="0F1115"/>
                </a:solidFill>
                <a:effectLst/>
                <a:latin typeface="quote-cjk-patch"/>
              </a:rPr>
              <a:t>）：</a:t>
            </a:r>
          </a:p>
          <a:p>
            <a:pPr algn="l">
              <a:buFont typeface="Arial" panose="020B0604020202020204" pitchFamily="34" charset="0"/>
              <a:buChar char="•"/>
            </a:pPr>
            <a:r>
              <a:rPr lang="zh-CN" altLang="en-US" b="0" i="0" dirty="0">
                <a:solidFill>
                  <a:srgbClr val="0F1115"/>
                </a:solidFill>
                <a:effectLst/>
                <a:latin typeface="quote-cjk-patch"/>
              </a:rPr>
              <a:t>行代表不同的</a:t>
            </a:r>
            <a:r>
              <a:rPr lang="zh-CN" altLang="en-US" b="1" i="0" dirty="0">
                <a:solidFill>
                  <a:srgbClr val="0F1115"/>
                </a:solidFill>
                <a:effectLst/>
                <a:latin typeface="quote-cjk-patch"/>
              </a:rPr>
              <a:t>设备型号</a:t>
            </a:r>
            <a:r>
              <a:rPr lang="zh-CN" altLang="en-US" b="0" i="0" dirty="0">
                <a:solidFill>
                  <a:srgbClr val="0F1115"/>
                </a:solidFill>
                <a:effectLst/>
                <a:latin typeface="quote-cjk-patch"/>
              </a:rPr>
              <a:t>（如</a:t>
            </a:r>
            <a:r>
              <a:rPr lang="en-US" altLang="zh-CN" b="0" i="0" dirty="0">
                <a:solidFill>
                  <a:srgbClr val="0F1115"/>
                </a:solidFill>
                <a:effectLst/>
                <a:latin typeface="quote-cjk-patch"/>
              </a:rPr>
              <a:t>Device A, B, C</a:t>
            </a:r>
            <a:r>
              <a:rPr lang="zh-CN" altLang="en-US" b="0" i="0" dirty="0">
                <a:solidFill>
                  <a:srgbClr val="0F1115"/>
                </a:solidFill>
                <a:effectLst/>
                <a:latin typeface="quote-cjk-patch"/>
              </a:rPr>
              <a:t>）。</a:t>
            </a:r>
          </a:p>
          <a:p>
            <a:pPr algn="l">
              <a:buFont typeface="Arial" panose="020B0604020202020204" pitchFamily="34" charset="0"/>
              <a:buChar char="•"/>
            </a:pPr>
            <a:r>
              <a:rPr lang="zh-CN" altLang="en-US" b="0" i="0" dirty="0">
                <a:solidFill>
                  <a:srgbClr val="0F1115"/>
                </a:solidFill>
                <a:effectLst/>
                <a:latin typeface="quote-cjk-patch"/>
              </a:rPr>
              <a:t>列代表不同的</a:t>
            </a:r>
            <a:r>
              <a:rPr lang="zh-CN" altLang="en-US" b="1" i="0" dirty="0">
                <a:solidFill>
                  <a:srgbClr val="0F1115"/>
                </a:solidFill>
                <a:effectLst/>
                <a:latin typeface="quote-cjk-patch"/>
              </a:rPr>
              <a:t>操作系统版本</a:t>
            </a:r>
            <a:r>
              <a:rPr lang="zh-CN" altLang="en-US" b="0" i="0" dirty="0">
                <a:solidFill>
                  <a:srgbClr val="0F1115"/>
                </a:solidFill>
                <a:effectLst/>
                <a:latin typeface="quote-cjk-patch"/>
              </a:rPr>
              <a:t>（如</a:t>
            </a:r>
            <a:r>
              <a:rPr lang="en-US" altLang="zh-CN" b="0" i="0" dirty="0">
                <a:solidFill>
                  <a:srgbClr val="0F1115"/>
                </a:solidFill>
                <a:effectLst/>
                <a:latin typeface="quote-cjk-patch"/>
              </a:rPr>
              <a:t>OS v1, v2, v3</a:t>
            </a:r>
            <a:r>
              <a:rPr lang="zh-CN" altLang="en-US" b="0" i="0" dirty="0">
                <a:solidFill>
                  <a:srgbClr val="0F1115"/>
                </a:solidFill>
                <a:effectLst/>
                <a:latin typeface="quote-cjk-patch"/>
              </a:rPr>
              <a:t>）。</a:t>
            </a:r>
          </a:p>
          <a:p>
            <a:pPr algn="l">
              <a:buFont typeface="Arial" panose="020B0604020202020204" pitchFamily="34" charset="0"/>
              <a:buChar char="•"/>
            </a:pPr>
            <a:r>
              <a:rPr lang="zh-CN" altLang="en-US" b="0" i="0" dirty="0">
                <a:solidFill>
                  <a:srgbClr val="0F1115"/>
                </a:solidFill>
                <a:effectLst/>
                <a:latin typeface="quote-cjk-patch"/>
              </a:rPr>
              <a:t>每个单元格内的数字是</a:t>
            </a:r>
            <a:r>
              <a:rPr lang="zh-CN" altLang="en-US" b="1" i="0" dirty="0">
                <a:solidFill>
                  <a:srgbClr val="0F1115"/>
                </a:solidFill>
                <a:effectLst/>
                <a:latin typeface="quote-cjk-patch"/>
              </a:rPr>
              <a:t>设备权重</a:t>
            </a:r>
            <a:r>
              <a:rPr lang="zh-CN" altLang="en-US" b="0" i="0" dirty="0">
                <a:solidFill>
                  <a:srgbClr val="0F1115"/>
                </a:solidFill>
                <a:effectLst/>
                <a:latin typeface="quote-cjk-patch"/>
              </a:rPr>
              <a:t>和</a:t>
            </a:r>
            <a:r>
              <a:rPr lang="zh-CN" altLang="en-US" b="1" i="0" dirty="0">
                <a:solidFill>
                  <a:srgbClr val="0F1115"/>
                </a:solidFill>
                <a:effectLst/>
                <a:latin typeface="quote-cjk-patch"/>
              </a:rPr>
              <a:t>操作系统权重</a:t>
            </a:r>
            <a:r>
              <a:rPr lang="zh-CN" altLang="en-US" b="0" i="0" dirty="0">
                <a:solidFill>
                  <a:srgbClr val="0F1115"/>
                </a:solidFill>
                <a:effectLst/>
                <a:latin typeface="quote-cjk-patch"/>
              </a:rPr>
              <a:t>的</a:t>
            </a:r>
            <a:r>
              <a:rPr lang="zh-CN" altLang="en-US" b="1" i="0" dirty="0">
                <a:solidFill>
                  <a:srgbClr val="0F1115"/>
                </a:solidFill>
                <a:effectLst/>
                <a:latin typeface="quote-cjk-patch"/>
              </a:rPr>
              <a:t>乘积</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应用方法</a:t>
            </a:r>
            <a:r>
              <a:rPr lang="zh-CN" altLang="en-US" b="0" i="0" dirty="0">
                <a:solidFill>
                  <a:srgbClr val="0F1115"/>
                </a:solidFill>
                <a:effectLst/>
                <a:latin typeface="quote-cjk-patch"/>
              </a:rPr>
              <a:t>：数字越高的单元格，代表该设备与操作系统的组合</a:t>
            </a:r>
            <a:r>
              <a:rPr lang="zh-CN" altLang="en-US" b="1" i="0" dirty="0">
                <a:solidFill>
                  <a:srgbClr val="0F1115"/>
                </a:solidFill>
                <a:effectLst/>
                <a:latin typeface="quote-cjk-patch"/>
              </a:rPr>
              <a:t>越重要</a:t>
            </a:r>
            <a:r>
              <a:rPr lang="zh-CN" altLang="en-US" b="0" i="0" dirty="0">
                <a:solidFill>
                  <a:srgbClr val="0F1115"/>
                </a:solidFill>
                <a:effectLst/>
                <a:latin typeface="quote-cjk-patch"/>
              </a:rPr>
              <a:t>，应该在测试中获得更高的优先级和更全面的覆盖。</a:t>
            </a:r>
            <a:br>
              <a:rPr lang="zh-CN" altLang="en-US" b="0" i="0" dirty="0">
                <a:solidFill>
                  <a:srgbClr val="0F1115"/>
                </a:solidFill>
                <a:effectLst/>
                <a:latin typeface="quote-cjk-patch"/>
              </a:rPr>
            </a:br>
            <a:r>
              <a:rPr lang="zh-CN" altLang="en-US" b="0" i="0" dirty="0">
                <a:solidFill>
                  <a:srgbClr val="0F1115"/>
                </a:solidFill>
                <a:effectLst/>
                <a:latin typeface="quote-cjk-patch"/>
              </a:rPr>
              <a:t>这个工具使测试计划从主观判断转向基于数据的客观决策，确保测试工作聚焦于对用户和业务最重要的领域。</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26</a:t>
            </a:fld>
            <a:endParaRPr lang="en-US"/>
          </a:p>
        </p:txBody>
      </p:sp>
    </p:spTree>
    <p:extLst>
      <p:ext uri="{BB962C8B-B14F-4D97-AF65-F5344CB8AC3E}">
        <p14:creationId xmlns:p14="http://schemas.microsoft.com/office/powerpoint/2010/main" val="16083795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随着人工智能技术在应用中的普及，测试</a:t>
            </a:r>
            <a:r>
              <a:rPr lang="en-US" altLang="zh-CN" b="0" i="0" dirty="0">
                <a:solidFill>
                  <a:srgbClr val="0F1115"/>
                </a:solidFill>
                <a:effectLst/>
                <a:latin typeface="quote-cjk-patch"/>
              </a:rPr>
              <a:t>AI</a:t>
            </a:r>
            <a:r>
              <a:rPr lang="zh-CN" altLang="en-US" b="0" i="0" dirty="0">
                <a:solidFill>
                  <a:srgbClr val="0F1115"/>
                </a:solidFill>
                <a:effectLst/>
                <a:latin typeface="quote-cjk-patch"/>
              </a:rPr>
              <a:t>系统成为了一个新的重要领域。</a:t>
            </a:r>
            <a:r>
              <a:rPr lang="en-US" altLang="zh-CN" b="0" i="0" dirty="0">
                <a:solidFill>
                  <a:srgbClr val="0F1115"/>
                </a:solidFill>
                <a:effectLst/>
                <a:latin typeface="quote-cjk-patch"/>
              </a:rPr>
              <a:t>AI</a:t>
            </a:r>
            <a:r>
              <a:rPr lang="zh-CN" altLang="en-US" b="0" i="0" dirty="0">
                <a:solidFill>
                  <a:srgbClr val="0F1115"/>
                </a:solidFill>
                <a:effectLst/>
                <a:latin typeface="quote-cjk-patch"/>
              </a:rPr>
              <a:t>系统的测试方法与传统软件有所不同，需要特别关注其独特特性。</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这一页介绍了测试人工智能系统的三种主要方法：</a:t>
            </a:r>
          </a:p>
          <a:p>
            <a:pPr algn="l">
              <a:buFont typeface="+mj-lt"/>
              <a:buAutoNum type="arabicPeriod"/>
            </a:pPr>
            <a:r>
              <a:rPr lang="zh-CN" altLang="en-US" b="1" i="0" dirty="0">
                <a:solidFill>
                  <a:srgbClr val="0F1115"/>
                </a:solidFill>
                <a:effectLst/>
                <a:latin typeface="quote-cjk-patch"/>
              </a:rPr>
              <a:t>静态测试</a:t>
            </a:r>
            <a:r>
              <a:rPr lang="zh-CN" altLang="en-US" b="0" i="0" dirty="0">
                <a:solidFill>
                  <a:srgbClr val="0F1115"/>
                </a:solidFill>
                <a:effectLst/>
                <a:latin typeface="quote-cjk-patch"/>
              </a:rPr>
              <a:t>：这是一种软件验证技术，侧重于</a:t>
            </a:r>
            <a:r>
              <a:rPr lang="zh-CN" altLang="en-US" b="1" i="0" dirty="0">
                <a:solidFill>
                  <a:srgbClr val="0F1115"/>
                </a:solidFill>
                <a:effectLst/>
                <a:latin typeface="quote-cjk-patch"/>
              </a:rPr>
              <a:t>评审</a:t>
            </a:r>
            <a:r>
              <a:rPr lang="zh-CN" altLang="en-US" b="0" i="0" dirty="0">
                <a:solidFill>
                  <a:srgbClr val="0F1115"/>
                </a:solidFill>
                <a:effectLst/>
                <a:latin typeface="quote-cjk-patch"/>
              </a:rPr>
              <a:t>而非可执行测试。对于</a:t>
            </a:r>
            <a:r>
              <a:rPr lang="en-US" altLang="zh-CN" b="0" i="0" dirty="0">
                <a:solidFill>
                  <a:srgbClr val="0F1115"/>
                </a:solidFill>
                <a:effectLst/>
                <a:latin typeface="quote-cjk-patch"/>
              </a:rPr>
              <a:t>AI</a:t>
            </a:r>
            <a:r>
              <a:rPr lang="zh-CN" altLang="en-US" b="0" i="0" dirty="0">
                <a:solidFill>
                  <a:srgbClr val="0F1115"/>
                </a:solidFill>
                <a:effectLst/>
                <a:latin typeface="quote-cjk-patch"/>
              </a:rPr>
              <a:t>系统，确保</a:t>
            </a:r>
            <a:r>
              <a:rPr lang="zh-CN" altLang="en-US" b="1" i="0" dirty="0">
                <a:solidFill>
                  <a:srgbClr val="0F1115"/>
                </a:solidFill>
                <a:effectLst/>
                <a:latin typeface="quote-cjk-patch"/>
              </a:rPr>
              <a:t>人类专家</a:t>
            </a:r>
            <a:r>
              <a:rPr lang="zh-CN" altLang="en-US" b="0" i="0" dirty="0">
                <a:solidFill>
                  <a:srgbClr val="0F1115"/>
                </a:solidFill>
                <a:effectLst/>
                <a:latin typeface="quote-cjk-patch"/>
              </a:rPr>
              <a:t>同意开发人员表示信息的方式以及其在</a:t>
            </a:r>
            <a:r>
              <a:rPr lang="en-US" altLang="zh-CN" b="0" i="0" dirty="0">
                <a:solidFill>
                  <a:srgbClr val="0F1115"/>
                </a:solidFill>
                <a:effectLst/>
                <a:latin typeface="quote-cjk-patch"/>
              </a:rPr>
              <a:t>AI</a:t>
            </a:r>
            <a:r>
              <a:rPr lang="zh-CN" altLang="en-US" b="0" i="0" dirty="0">
                <a:solidFill>
                  <a:srgbClr val="0F1115"/>
                </a:solidFill>
                <a:effectLst/>
                <a:latin typeface="quote-cjk-patch"/>
              </a:rPr>
              <a:t>系统中的使用至关重要。这包括对知识表示、推理逻辑、数据模型等的评审。</a:t>
            </a:r>
          </a:p>
          <a:p>
            <a:pPr algn="l">
              <a:buFont typeface="+mj-lt"/>
              <a:buAutoNum type="arabicPeriod"/>
            </a:pPr>
            <a:r>
              <a:rPr lang="zh-CN" altLang="en-US" b="1" i="0" dirty="0">
                <a:solidFill>
                  <a:srgbClr val="0F1115"/>
                </a:solidFill>
                <a:effectLst/>
                <a:latin typeface="quote-cjk-patch"/>
              </a:rPr>
              <a:t>动态测试</a:t>
            </a:r>
            <a:r>
              <a:rPr lang="zh-CN" altLang="en-US" b="0" i="0" dirty="0">
                <a:solidFill>
                  <a:srgbClr val="0F1115"/>
                </a:solidFill>
                <a:effectLst/>
                <a:latin typeface="quote-cjk-patch"/>
              </a:rPr>
              <a:t>：对于</a:t>
            </a:r>
            <a:r>
              <a:rPr lang="en-US" altLang="zh-CN" b="0" i="0" dirty="0">
                <a:solidFill>
                  <a:srgbClr val="0F1115"/>
                </a:solidFill>
                <a:effectLst/>
                <a:latin typeface="quote-cjk-patch"/>
              </a:rPr>
              <a:t>AI</a:t>
            </a:r>
            <a:r>
              <a:rPr lang="zh-CN" altLang="en-US" b="0" i="0" dirty="0">
                <a:solidFill>
                  <a:srgbClr val="0F1115"/>
                </a:solidFill>
                <a:effectLst/>
                <a:latin typeface="quote-cjk-patch"/>
              </a:rPr>
              <a:t>系统，动态测试是一种</a:t>
            </a:r>
            <a:r>
              <a:rPr lang="zh-CN" altLang="en-US" b="1" i="0" dirty="0">
                <a:solidFill>
                  <a:srgbClr val="0F1115"/>
                </a:solidFill>
                <a:effectLst/>
                <a:latin typeface="quote-cjk-patch"/>
              </a:rPr>
              <a:t>验证</a:t>
            </a:r>
            <a:r>
              <a:rPr lang="zh-CN" altLang="en-US" b="0" i="0" dirty="0">
                <a:solidFill>
                  <a:srgbClr val="0F1115"/>
                </a:solidFill>
                <a:effectLst/>
                <a:latin typeface="quote-cjk-patch"/>
              </a:rPr>
              <a:t>技术，它用测试用例来</a:t>
            </a:r>
            <a:r>
              <a:rPr lang="zh-CN" altLang="en-US" b="1" i="0" dirty="0">
                <a:solidFill>
                  <a:srgbClr val="0F1115"/>
                </a:solidFill>
                <a:effectLst/>
                <a:latin typeface="quote-cjk-patch"/>
              </a:rPr>
              <a:t>执行源代码</a:t>
            </a:r>
            <a:r>
              <a:rPr lang="zh-CN" altLang="en-US" b="0" i="0" dirty="0">
                <a:solidFill>
                  <a:srgbClr val="0F1115"/>
                </a:solidFill>
                <a:effectLst/>
                <a:latin typeface="quote-cjk-patch"/>
              </a:rPr>
              <a:t>。目的是证明</a:t>
            </a:r>
            <a:r>
              <a:rPr lang="en-US" altLang="zh-CN" b="0" i="0" dirty="0">
                <a:solidFill>
                  <a:srgbClr val="0F1115"/>
                </a:solidFill>
                <a:effectLst/>
                <a:latin typeface="quote-cjk-patch"/>
              </a:rPr>
              <a:t>AI</a:t>
            </a:r>
            <a:r>
              <a:rPr lang="zh-CN" altLang="en-US" b="0" i="0" dirty="0">
                <a:solidFill>
                  <a:srgbClr val="0F1115"/>
                </a:solidFill>
                <a:effectLst/>
                <a:latin typeface="quote-cjk-patch"/>
              </a:rPr>
              <a:t>系统的行为符合</a:t>
            </a:r>
            <a:r>
              <a:rPr lang="zh-CN" altLang="en-US" b="1" i="0" dirty="0">
                <a:solidFill>
                  <a:srgbClr val="0F1115"/>
                </a:solidFill>
                <a:effectLst/>
                <a:latin typeface="quote-cjk-patch"/>
              </a:rPr>
              <a:t>人类专家指定的行为</a:t>
            </a:r>
            <a:r>
              <a:rPr lang="zh-CN" altLang="en-US" b="0" i="0" dirty="0">
                <a:solidFill>
                  <a:srgbClr val="0F1115"/>
                </a:solidFill>
                <a:effectLst/>
                <a:latin typeface="quote-cjk-patch"/>
              </a:rPr>
              <a:t>。由于</a:t>
            </a:r>
            <a:r>
              <a:rPr lang="en-US" altLang="zh-CN" b="0" i="0" dirty="0">
                <a:solidFill>
                  <a:srgbClr val="0F1115"/>
                </a:solidFill>
                <a:effectLst/>
                <a:latin typeface="quote-cjk-patch"/>
              </a:rPr>
              <a:t>AI</a:t>
            </a:r>
            <a:r>
              <a:rPr lang="zh-CN" altLang="en-US" b="0" i="0" dirty="0">
                <a:solidFill>
                  <a:srgbClr val="0F1115"/>
                </a:solidFill>
                <a:effectLst/>
                <a:latin typeface="quote-cjk-patch"/>
              </a:rPr>
              <a:t>系统可能具有学习能力和不确定性，测试需要覆盖各种可能的输入和场景。</a:t>
            </a:r>
          </a:p>
          <a:p>
            <a:pPr algn="l">
              <a:buFont typeface="+mj-lt"/>
              <a:buAutoNum type="arabicPeriod"/>
            </a:pPr>
            <a:r>
              <a:rPr lang="zh-CN" altLang="en-US" b="1" i="0" dirty="0">
                <a:solidFill>
                  <a:srgbClr val="0F1115"/>
                </a:solidFill>
                <a:effectLst/>
                <a:latin typeface="quote-cjk-patch"/>
              </a:rPr>
              <a:t>基于模型的测试</a:t>
            </a:r>
            <a:r>
              <a:rPr lang="zh-CN" altLang="en-US" b="0" i="0" dirty="0">
                <a:solidFill>
                  <a:srgbClr val="0F1115"/>
                </a:solidFill>
                <a:effectLst/>
                <a:latin typeface="quote-cjk-patch"/>
              </a:rPr>
              <a:t>：这是一种</a:t>
            </a:r>
            <a:r>
              <a:rPr lang="zh-CN" altLang="en-US" b="1" i="0" dirty="0">
                <a:solidFill>
                  <a:srgbClr val="0F1115"/>
                </a:solidFill>
                <a:effectLst/>
                <a:latin typeface="quote-cjk-patch"/>
              </a:rPr>
              <a:t>黑盒测试</a:t>
            </a:r>
            <a:r>
              <a:rPr lang="zh-CN" altLang="en-US" b="0" i="0" dirty="0">
                <a:solidFill>
                  <a:srgbClr val="0F1115"/>
                </a:solidFill>
                <a:effectLst/>
                <a:latin typeface="quote-cjk-patch"/>
              </a:rPr>
              <a:t>技术，它使用</a:t>
            </a:r>
            <a:r>
              <a:rPr lang="zh-CN" altLang="en-US" b="1" i="0" dirty="0">
                <a:solidFill>
                  <a:srgbClr val="0F1115"/>
                </a:solidFill>
                <a:effectLst/>
                <a:latin typeface="quote-cjk-patch"/>
              </a:rPr>
              <a:t>需求模型（如用户故事）</a:t>
            </a:r>
            <a:r>
              <a:rPr lang="zh-CN" altLang="en-US" b="0" i="0" dirty="0">
                <a:solidFill>
                  <a:srgbClr val="0F1115"/>
                </a:solidFill>
                <a:effectLst/>
                <a:latin typeface="quote-cjk-patch"/>
              </a:rPr>
              <a:t> 作为从行为模型生成测试用例的基础。这种方法特别适合</a:t>
            </a:r>
            <a:r>
              <a:rPr lang="en-US" altLang="zh-CN" b="0" i="0" dirty="0">
                <a:solidFill>
                  <a:srgbClr val="0F1115"/>
                </a:solidFill>
                <a:effectLst/>
                <a:latin typeface="quote-cjk-patch"/>
              </a:rPr>
              <a:t>AI</a:t>
            </a:r>
            <a:r>
              <a:rPr lang="zh-CN" altLang="en-US" b="0" i="0" dirty="0">
                <a:solidFill>
                  <a:srgbClr val="0F1115"/>
                </a:solidFill>
                <a:effectLst/>
                <a:latin typeface="quote-cjk-patch"/>
              </a:rPr>
              <a:t>系统，因为它关注的是系统的外部行为是否符合预期，而不必深入了解其复杂的内部逻辑。</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27</a:t>
            </a:fld>
            <a:endParaRPr lang="en-US"/>
          </a:p>
        </p:txBody>
      </p:sp>
    </p:spTree>
    <p:extLst>
      <p:ext uri="{BB962C8B-B14F-4D97-AF65-F5344CB8AC3E}">
        <p14:creationId xmlns:p14="http://schemas.microsoft.com/office/powerpoint/2010/main" val="2713478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虚拟环境（如</a:t>
            </a:r>
            <a:r>
              <a:rPr lang="en-US" altLang="zh-CN" b="0" i="0" dirty="0">
                <a:solidFill>
                  <a:srgbClr val="0F1115"/>
                </a:solidFill>
                <a:effectLst/>
                <a:latin typeface="quote-cjk-patch"/>
              </a:rPr>
              <a:t>VR/AR</a:t>
            </a:r>
            <a:r>
              <a:rPr lang="zh-CN" altLang="en-US" b="0" i="0" dirty="0">
                <a:solidFill>
                  <a:srgbClr val="0F1115"/>
                </a:solidFill>
                <a:effectLst/>
                <a:latin typeface="quote-cjk-patch"/>
              </a:rPr>
              <a:t>应用、复杂的图形界面）和游戏等交互式系统需要特殊的测试方法。这里介绍几种常见的验收测试策略。</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这一页介绍了三种常用于虚拟环境和交互式系统的测试类型：</a:t>
            </a:r>
          </a:p>
          <a:p>
            <a:pPr algn="l">
              <a:buFont typeface="+mj-lt"/>
              <a:buAutoNum type="arabicPeriod"/>
            </a:pPr>
            <a:r>
              <a:rPr lang="zh-CN" altLang="en-US" b="1" i="0" dirty="0">
                <a:solidFill>
                  <a:srgbClr val="0F1115"/>
                </a:solidFill>
                <a:effectLst/>
                <a:latin typeface="quote-cjk-patch"/>
              </a:rPr>
              <a:t>验收测试</a:t>
            </a:r>
            <a:r>
              <a:rPr lang="zh-CN" altLang="en-US" b="0" i="0" dirty="0">
                <a:solidFill>
                  <a:srgbClr val="0F1115"/>
                </a:solidFill>
                <a:effectLst/>
                <a:latin typeface="quote-cjk-patch"/>
              </a:rPr>
              <a:t>：由</a:t>
            </a:r>
            <a:r>
              <a:rPr lang="zh-CN" altLang="en-US" b="1" i="0" dirty="0">
                <a:solidFill>
                  <a:srgbClr val="0F1115"/>
                </a:solidFill>
                <a:effectLst/>
                <a:latin typeface="quote-cjk-patch"/>
              </a:rPr>
              <a:t>客户</a:t>
            </a:r>
            <a:r>
              <a:rPr lang="zh-CN" altLang="en-US" b="0" i="0" dirty="0">
                <a:solidFill>
                  <a:srgbClr val="0F1115"/>
                </a:solidFill>
                <a:effectLst/>
                <a:latin typeface="quote-cjk-patch"/>
              </a:rPr>
              <a:t>进行的一系列特定测试，目的是在从开发人员处接受软件之前发现产品错误。这是确认软件是否满足约定要求的最终检查。</a:t>
            </a:r>
          </a:p>
          <a:p>
            <a:pPr algn="l">
              <a:buFont typeface="+mj-lt"/>
              <a:buAutoNum type="arabicPeriod"/>
            </a:pPr>
            <a:r>
              <a:rPr lang="en-US" altLang="zh-CN" b="1" i="0" dirty="0">
                <a:solidFill>
                  <a:srgbClr val="0F1115"/>
                </a:solidFill>
                <a:effectLst/>
                <a:latin typeface="quote-cjk-patch"/>
              </a:rPr>
              <a:t>Alpha</a:t>
            </a:r>
            <a:r>
              <a:rPr lang="zh-CN" altLang="en-US" b="1" i="0" dirty="0">
                <a:solidFill>
                  <a:srgbClr val="0F1115"/>
                </a:solidFill>
                <a:effectLst/>
                <a:latin typeface="quote-cjk-patch"/>
              </a:rPr>
              <a:t>测试</a:t>
            </a:r>
            <a:r>
              <a:rPr lang="zh-CN" altLang="en-US" b="0" i="0" dirty="0">
                <a:solidFill>
                  <a:srgbClr val="0F1115"/>
                </a:solidFill>
                <a:effectLst/>
                <a:latin typeface="quote-cjk-patch"/>
              </a:rPr>
              <a:t>：在</a:t>
            </a:r>
            <a:r>
              <a:rPr lang="zh-CN" altLang="en-US" b="1" i="0" dirty="0">
                <a:solidFill>
                  <a:srgbClr val="0F1115"/>
                </a:solidFill>
                <a:effectLst/>
                <a:latin typeface="quote-cjk-patch"/>
              </a:rPr>
              <a:t>开发地点</a:t>
            </a:r>
            <a:r>
              <a:rPr lang="zh-CN" altLang="en-US" b="0" i="0" dirty="0">
                <a:solidFill>
                  <a:srgbClr val="0F1115"/>
                </a:solidFill>
                <a:effectLst/>
                <a:latin typeface="quote-cjk-patch"/>
              </a:rPr>
              <a:t>由一组代表性的终端用户进行。软件在相对自然的环境中使用，但开发人员会在旁观察，记录错误和使用问题。这允许开发人员获得第一手的直接反馈。</a:t>
            </a:r>
          </a:p>
          <a:p>
            <a:pPr algn="l">
              <a:buFont typeface="+mj-lt"/>
              <a:buAutoNum type="arabicPeriod"/>
            </a:pPr>
            <a:r>
              <a:rPr lang="en-US" altLang="zh-CN" b="1" i="0" dirty="0">
                <a:solidFill>
                  <a:srgbClr val="0F1115"/>
                </a:solidFill>
                <a:effectLst/>
                <a:latin typeface="quote-cjk-patch"/>
              </a:rPr>
              <a:t>Beta</a:t>
            </a:r>
            <a:r>
              <a:rPr lang="zh-CN" altLang="en-US" b="1" i="0" dirty="0">
                <a:solidFill>
                  <a:srgbClr val="0F1115"/>
                </a:solidFill>
                <a:effectLst/>
                <a:latin typeface="quote-cjk-patch"/>
              </a:rPr>
              <a:t>测试</a:t>
            </a:r>
            <a:r>
              <a:rPr lang="zh-CN" altLang="en-US" b="0" i="0" dirty="0">
                <a:solidFill>
                  <a:srgbClr val="0F1115"/>
                </a:solidFill>
                <a:effectLst/>
                <a:latin typeface="quote-cjk-patch"/>
              </a:rPr>
              <a:t>：在</a:t>
            </a:r>
            <a:r>
              <a:rPr lang="zh-CN" altLang="en-US" b="1" i="0" dirty="0">
                <a:solidFill>
                  <a:srgbClr val="0F1115"/>
                </a:solidFill>
                <a:effectLst/>
                <a:latin typeface="quote-cjk-patch"/>
              </a:rPr>
              <a:t>一个或多个终端用户的实际地点</a:t>
            </a:r>
            <a:r>
              <a:rPr lang="zh-CN" altLang="en-US" b="0" i="0" dirty="0">
                <a:solidFill>
                  <a:srgbClr val="0F1115"/>
                </a:solidFill>
                <a:effectLst/>
                <a:latin typeface="quote-cjk-patch"/>
              </a:rPr>
              <a:t>进行。与</a:t>
            </a:r>
            <a:r>
              <a:rPr lang="en-US" altLang="zh-CN" b="0" i="0" dirty="0">
                <a:solidFill>
                  <a:srgbClr val="0F1115"/>
                </a:solidFill>
                <a:effectLst/>
                <a:latin typeface="quote-cjk-patch"/>
              </a:rPr>
              <a:t>Alpha</a:t>
            </a:r>
            <a:r>
              <a:rPr lang="zh-CN" altLang="en-US" b="0" i="0" dirty="0">
                <a:solidFill>
                  <a:srgbClr val="0F1115"/>
                </a:solidFill>
                <a:effectLst/>
                <a:latin typeface="quote-cjk-patch"/>
              </a:rPr>
              <a:t>测试不同，开发人员通常不在场。由客户记录所有遇到的问题，并定期向开发方报告。</a:t>
            </a:r>
            <a:r>
              <a:rPr lang="en-US" altLang="zh-CN" b="0" i="0" dirty="0">
                <a:solidFill>
                  <a:srgbClr val="0F1115"/>
                </a:solidFill>
                <a:effectLst/>
                <a:latin typeface="quote-cjk-patch"/>
              </a:rPr>
              <a:t>Beta</a:t>
            </a:r>
            <a:r>
              <a:rPr lang="zh-CN" altLang="en-US" b="0" i="0" dirty="0">
                <a:solidFill>
                  <a:srgbClr val="0F1115"/>
                </a:solidFill>
                <a:effectLst/>
                <a:latin typeface="quote-cjk-patch"/>
              </a:rPr>
              <a:t>测试能发现更多在受控环境中难以复现的真实世界问题。</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28</a:t>
            </a:fld>
            <a:endParaRPr lang="en-US"/>
          </a:p>
        </p:txBody>
      </p:sp>
    </p:spTree>
    <p:extLst>
      <p:ext uri="{BB962C8B-B14F-4D97-AF65-F5344CB8AC3E}">
        <p14:creationId xmlns:p14="http://schemas.microsoft.com/office/powerpoint/2010/main" val="14908612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可用性测试是评估软件是否易于使用、直观且令人满意的系统化方法。我们可以将可用性分解为多个具体的类别进行评估。</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这一页列出了可用性测试的前六个关键类别：</a:t>
            </a:r>
          </a:p>
          <a:p>
            <a:pPr algn="l">
              <a:buFont typeface="+mj-lt"/>
              <a:buAutoNum type="arabicPeriod"/>
            </a:pPr>
            <a:r>
              <a:rPr lang="zh-CN" altLang="en-US" b="1" i="0" dirty="0">
                <a:solidFill>
                  <a:srgbClr val="0F1115"/>
                </a:solidFill>
                <a:effectLst/>
                <a:latin typeface="quote-cjk-patch"/>
              </a:rPr>
              <a:t>交互性</a:t>
            </a:r>
            <a:r>
              <a:rPr lang="zh-CN" altLang="en-US" b="0" i="0" dirty="0">
                <a:solidFill>
                  <a:srgbClr val="0F1115"/>
                </a:solidFill>
                <a:effectLst/>
                <a:latin typeface="quote-cjk-patch"/>
              </a:rPr>
              <a:t>：交互机制（如下拉菜单、按钮、控件、输入框）是否</a:t>
            </a:r>
            <a:r>
              <a:rPr lang="zh-CN" altLang="en-US" b="1" i="0" dirty="0">
                <a:solidFill>
                  <a:srgbClr val="0F1115"/>
                </a:solidFill>
                <a:effectLst/>
                <a:latin typeface="quote-cjk-patch"/>
              </a:rPr>
              <a:t>易于理解和操作</a:t>
            </a:r>
            <a:r>
              <a:rPr lang="zh-CN" altLang="en-US" b="0" i="0" dirty="0">
                <a:solidFill>
                  <a:srgbClr val="0F1115"/>
                </a:solidFill>
                <a:effectLst/>
                <a:latin typeface="quote-cjk-patch"/>
              </a:rPr>
              <a:t>？</a:t>
            </a:r>
          </a:p>
          <a:p>
            <a:pPr algn="l">
              <a:buFont typeface="+mj-lt"/>
              <a:buAutoNum type="arabicPeriod"/>
            </a:pPr>
            <a:r>
              <a:rPr lang="zh-CN" altLang="en-US" b="1" i="0" dirty="0">
                <a:solidFill>
                  <a:srgbClr val="0F1115"/>
                </a:solidFill>
                <a:effectLst/>
                <a:latin typeface="quote-cjk-patch"/>
              </a:rPr>
              <a:t>布局</a:t>
            </a:r>
            <a:r>
              <a:rPr lang="zh-CN" altLang="en-US" b="0" i="0" dirty="0">
                <a:solidFill>
                  <a:srgbClr val="0F1115"/>
                </a:solidFill>
                <a:effectLst/>
                <a:latin typeface="quote-cjk-patch"/>
              </a:rPr>
              <a:t>：导航机制、内容和功能是否被放置在允许用户</a:t>
            </a:r>
            <a:r>
              <a:rPr lang="zh-CN" altLang="en-US" b="1" i="0" dirty="0">
                <a:solidFill>
                  <a:srgbClr val="0F1115"/>
                </a:solidFill>
                <a:effectLst/>
                <a:latin typeface="quote-cjk-patch"/>
              </a:rPr>
              <a:t>快速找到</a:t>
            </a:r>
            <a:r>
              <a:rPr lang="zh-CN" altLang="en-US" b="0" i="0" dirty="0">
                <a:solidFill>
                  <a:srgbClr val="0F1115"/>
                </a:solidFill>
                <a:effectLst/>
                <a:latin typeface="quote-cjk-patch"/>
              </a:rPr>
              <a:t>它们的位置？布局是否符合用户的视觉动线和操作习惯？</a:t>
            </a:r>
          </a:p>
          <a:p>
            <a:pPr algn="l">
              <a:buFont typeface="+mj-lt"/>
              <a:buAutoNum type="arabicPeriod"/>
            </a:pPr>
            <a:r>
              <a:rPr lang="zh-CN" altLang="en-US" b="1" i="0" dirty="0">
                <a:solidFill>
                  <a:srgbClr val="0F1115"/>
                </a:solidFill>
                <a:effectLst/>
                <a:latin typeface="quote-cjk-patch"/>
              </a:rPr>
              <a:t>可读性</a:t>
            </a:r>
            <a:r>
              <a:rPr lang="zh-CN" altLang="en-US" b="0" i="0" dirty="0">
                <a:solidFill>
                  <a:srgbClr val="0F1115"/>
                </a:solidFill>
                <a:effectLst/>
                <a:latin typeface="quote-cjk-patch"/>
              </a:rPr>
              <a:t>：文本是否</a:t>
            </a:r>
            <a:r>
              <a:rPr lang="zh-CN" altLang="en-US" b="1" i="0" dirty="0">
                <a:solidFill>
                  <a:srgbClr val="0F1115"/>
                </a:solidFill>
                <a:effectLst/>
                <a:latin typeface="quote-cjk-patch"/>
              </a:rPr>
              <a:t>书写良好且易于理解</a:t>
            </a:r>
            <a:r>
              <a:rPr lang="zh-CN" altLang="en-US" b="0" i="0" dirty="0">
                <a:solidFill>
                  <a:srgbClr val="0F1115"/>
                </a:solidFill>
                <a:effectLst/>
                <a:latin typeface="quote-cjk-patch"/>
              </a:rPr>
              <a:t>？图形表示（如图标、图表）是否直观易懂？</a:t>
            </a:r>
          </a:p>
          <a:p>
            <a:pPr algn="l">
              <a:buFont typeface="+mj-lt"/>
              <a:buAutoNum type="arabicPeriod"/>
            </a:pPr>
            <a:r>
              <a:rPr lang="zh-CN" altLang="en-US" b="1" i="0" dirty="0">
                <a:solidFill>
                  <a:srgbClr val="0F1115"/>
                </a:solidFill>
                <a:effectLst/>
                <a:latin typeface="quote-cjk-patch"/>
              </a:rPr>
              <a:t>美学</a:t>
            </a:r>
            <a:r>
              <a:rPr lang="zh-CN" altLang="en-US" b="0" i="0" dirty="0">
                <a:solidFill>
                  <a:srgbClr val="0F1115"/>
                </a:solidFill>
                <a:effectLst/>
                <a:latin typeface="quote-cjk-patch"/>
              </a:rPr>
              <a:t>：布局、颜色、字体及相关特性是否共同营造了</a:t>
            </a:r>
            <a:r>
              <a:rPr lang="zh-CN" altLang="en-US" b="1" i="0" dirty="0">
                <a:solidFill>
                  <a:srgbClr val="0F1115"/>
                </a:solidFill>
                <a:effectLst/>
                <a:latin typeface="quote-cjk-patch"/>
              </a:rPr>
              <a:t>积极的用户体验</a:t>
            </a:r>
            <a:r>
              <a:rPr lang="zh-CN" altLang="en-US" b="0" i="0" dirty="0">
                <a:solidFill>
                  <a:srgbClr val="0F1115"/>
                </a:solidFill>
                <a:effectLst/>
                <a:latin typeface="quote-cjk-patch"/>
              </a:rPr>
              <a:t>？用户是否对应用的“外观和感觉”感到舒适和愉悦？</a:t>
            </a:r>
          </a:p>
          <a:p>
            <a:pPr algn="l">
              <a:buFont typeface="+mj-lt"/>
              <a:buAutoNum type="arabicPeriod"/>
            </a:pPr>
            <a:r>
              <a:rPr lang="zh-CN" altLang="en-US" b="1" i="0" dirty="0">
                <a:solidFill>
                  <a:srgbClr val="0F1115"/>
                </a:solidFill>
                <a:effectLst/>
                <a:latin typeface="quote-cjk-patch"/>
              </a:rPr>
              <a:t>显示特性</a:t>
            </a:r>
            <a:r>
              <a:rPr lang="zh-CN" altLang="en-US" b="0" i="0" dirty="0">
                <a:solidFill>
                  <a:srgbClr val="0F1115"/>
                </a:solidFill>
                <a:effectLst/>
                <a:latin typeface="quote-cjk-patch"/>
              </a:rPr>
              <a:t>：应用是否</a:t>
            </a:r>
            <a:r>
              <a:rPr lang="zh-CN" altLang="en-US" b="1" i="0" dirty="0">
                <a:solidFill>
                  <a:srgbClr val="0F1115"/>
                </a:solidFill>
                <a:effectLst/>
                <a:latin typeface="quote-cjk-patch"/>
              </a:rPr>
              <a:t>优化利用了屏幕尺寸和分辨率</a:t>
            </a:r>
            <a:r>
              <a:rPr lang="zh-CN" altLang="en-US" b="0" i="0" dirty="0">
                <a:solidFill>
                  <a:srgbClr val="0F1115"/>
                </a:solidFill>
                <a:effectLst/>
                <a:latin typeface="quote-cjk-patch"/>
              </a:rPr>
              <a:t>？在不同设备上是否能正确、清晰地显示？</a:t>
            </a:r>
          </a:p>
          <a:p>
            <a:pPr algn="l">
              <a:buFont typeface="+mj-lt"/>
              <a:buAutoNum type="arabicPeriod"/>
            </a:pPr>
            <a:r>
              <a:rPr lang="zh-CN" altLang="en-US" b="1" i="0" dirty="0">
                <a:solidFill>
                  <a:srgbClr val="0F1115"/>
                </a:solidFill>
                <a:effectLst/>
                <a:latin typeface="quote-cjk-patch"/>
              </a:rPr>
              <a:t>时间敏感性</a:t>
            </a:r>
            <a:r>
              <a:rPr lang="zh-CN" altLang="en-US" b="0" i="0" dirty="0">
                <a:solidFill>
                  <a:srgbClr val="0F1115"/>
                </a:solidFill>
                <a:effectLst/>
                <a:latin typeface="quote-cjk-patch"/>
              </a:rPr>
              <a:t>：重要的特性、功能和内容能否被</a:t>
            </a:r>
            <a:r>
              <a:rPr lang="zh-CN" altLang="en-US" b="1" i="0" dirty="0">
                <a:solidFill>
                  <a:srgbClr val="0F1115"/>
                </a:solidFill>
                <a:effectLst/>
                <a:latin typeface="quote-cjk-patch"/>
              </a:rPr>
              <a:t>及时地使用或获取</a:t>
            </a:r>
            <a:r>
              <a:rPr lang="zh-CN" altLang="en-US" b="0" i="0" dirty="0">
                <a:solidFill>
                  <a:srgbClr val="0F1115"/>
                </a:solidFill>
                <a:effectLst/>
                <a:latin typeface="quote-cjk-patch"/>
              </a:rPr>
              <a:t>？用户是否需要等待过长的时间？</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29</a:t>
            </a:fld>
            <a:endParaRPr lang="en-US"/>
          </a:p>
        </p:txBody>
      </p:sp>
    </p:spTree>
    <p:extLst>
      <p:ext uri="{BB962C8B-B14F-4D97-AF65-F5344CB8AC3E}">
        <p14:creationId xmlns:p14="http://schemas.microsoft.com/office/powerpoint/2010/main" val="37847448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我们继续来看可用性测试的其他六个重要类别，这些类别更侧重于系统的反馈机制、个性化支持和可信度等方面。</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这一页列出了可用性测试的另外六个类别：</a:t>
            </a:r>
            <a:br>
              <a:rPr lang="zh-CN" altLang="en-US" b="0" i="0" dirty="0">
                <a:solidFill>
                  <a:srgbClr val="0F1115"/>
                </a:solidFill>
                <a:effectLst/>
                <a:latin typeface="quote-cjk-patch"/>
              </a:rPr>
            </a:br>
            <a:r>
              <a:rPr lang="en-US" altLang="zh-CN" b="0" i="0" dirty="0">
                <a:solidFill>
                  <a:srgbClr val="0F1115"/>
                </a:solidFill>
                <a:effectLst/>
                <a:latin typeface="quote-cjk-patch"/>
              </a:rPr>
              <a:t>7. </a:t>
            </a:r>
            <a:r>
              <a:rPr lang="zh-CN" altLang="en-US" b="1" i="0" dirty="0">
                <a:solidFill>
                  <a:srgbClr val="0F1115"/>
                </a:solidFill>
                <a:effectLst/>
                <a:latin typeface="quote-cjk-patch"/>
              </a:rPr>
              <a:t>反馈</a:t>
            </a:r>
            <a:r>
              <a:rPr lang="zh-CN" altLang="en-US" b="0" i="0" dirty="0">
                <a:solidFill>
                  <a:srgbClr val="0F1115"/>
                </a:solidFill>
                <a:effectLst/>
                <a:latin typeface="quote-cjk-patch"/>
              </a:rPr>
              <a:t>：用户在执行操作后，是否能收到</a:t>
            </a:r>
            <a:r>
              <a:rPr lang="zh-CN" altLang="en-US" b="1" i="0" dirty="0">
                <a:solidFill>
                  <a:srgbClr val="0F1115"/>
                </a:solidFill>
                <a:effectLst/>
                <a:latin typeface="quote-cjk-patch"/>
              </a:rPr>
              <a:t>有意义的反馈</a:t>
            </a:r>
            <a:r>
              <a:rPr lang="zh-CN" altLang="en-US" b="0" i="0" dirty="0">
                <a:solidFill>
                  <a:srgbClr val="0F1115"/>
                </a:solidFill>
                <a:effectLst/>
                <a:latin typeface="quote-cjk-patch"/>
              </a:rPr>
              <a:t>（如成功提示、进度条、错误信息）？当系统需要显示消息时，用户的当前工作是否可以被</a:t>
            </a:r>
            <a:r>
              <a:rPr lang="zh-CN" altLang="en-US" b="1" i="0" dirty="0">
                <a:solidFill>
                  <a:srgbClr val="0F1115"/>
                </a:solidFill>
                <a:effectLst/>
                <a:latin typeface="quote-cjk-patch"/>
              </a:rPr>
              <a:t>中断并能顺利恢复</a:t>
            </a:r>
            <a:r>
              <a:rPr lang="zh-CN" altLang="en-US" b="0" i="0" dirty="0">
                <a:solidFill>
                  <a:srgbClr val="0F1115"/>
                </a:solidFill>
                <a:effectLst/>
                <a:latin typeface="quote-cjk-patch"/>
              </a:rPr>
              <a:t>？</a:t>
            </a:r>
            <a:br>
              <a:rPr lang="zh-CN" altLang="en-US" b="0" i="0" dirty="0">
                <a:solidFill>
                  <a:srgbClr val="0F1115"/>
                </a:solidFill>
                <a:effectLst/>
                <a:latin typeface="quote-cjk-patch"/>
              </a:rPr>
            </a:br>
            <a:r>
              <a:rPr lang="en-US" altLang="zh-CN" b="0" i="0" dirty="0">
                <a:solidFill>
                  <a:srgbClr val="0F1115"/>
                </a:solidFill>
                <a:effectLst/>
                <a:latin typeface="quote-cjk-patch"/>
              </a:rPr>
              <a:t>8. </a:t>
            </a:r>
            <a:r>
              <a:rPr lang="zh-CN" altLang="en-US" b="1" i="0" dirty="0">
                <a:solidFill>
                  <a:srgbClr val="0F1115"/>
                </a:solidFill>
                <a:effectLst/>
                <a:latin typeface="quote-cjk-patch"/>
              </a:rPr>
              <a:t>个性化</a:t>
            </a:r>
            <a:r>
              <a:rPr lang="zh-CN" altLang="en-US" b="0" i="0" dirty="0">
                <a:solidFill>
                  <a:srgbClr val="0F1115"/>
                </a:solidFill>
                <a:effectLst/>
                <a:latin typeface="quote-cjk-patch"/>
              </a:rPr>
              <a:t>：应用是否能</a:t>
            </a:r>
            <a:r>
              <a:rPr lang="zh-CN" altLang="en-US" b="1" i="0" dirty="0">
                <a:solidFill>
                  <a:srgbClr val="0F1115"/>
                </a:solidFill>
                <a:effectLst/>
                <a:latin typeface="quote-cjk-patch"/>
              </a:rPr>
              <a:t>针对不同用户类别或个体用户</a:t>
            </a:r>
            <a:r>
              <a:rPr lang="zh-CN" altLang="en-US" b="0" i="0" dirty="0">
                <a:solidFill>
                  <a:srgbClr val="0F1115"/>
                </a:solidFill>
                <a:effectLst/>
                <a:latin typeface="quote-cjk-patch"/>
              </a:rPr>
              <a:t>的特定需求进行定制和调整？这能极大地提升用户体验。</a:t>
            </a:r>
            <a:br>
              <a:rPr lang="zh-CN" altLang="en-US" b="0" i="0" dirty="0">
                <a:solidFill>
                  <a:srgbClr val="0F1115"/>
                </a:solidFill>
                <a:effectLst/>
                <a:latin typeface="quote-cjk-patch"/>
              </a:rPr>
            </a:br>
            <a:r>
              <a:rPr lang="en-US" altLang="zh-CN" b="0" i="0" dirty="0">
                <a:solidFill>
                  <a:srgbClr val="0F1115"/>
                </a:solidFill>
                <a:effectLst/>
                <a:latin typeface="quote-cjk-patch"/>
              </a:rPr>
              <a:t>9. </a:t>
            </a:r>
            <a:r>
              <a:rPr lang="zh-CN" altLang="en-US" b="1" i="0" dirty="0">
                <a:solidFill>
                  <a:srgbClr val="0F1115"/>
                </a:solidFill>
                <a:effectLst/>
                <a:latin typeface="quote-cjk-patch"/>
              </a:rPr>
              <a:t>帮助</a:t>
            </a:r>
            <a:r>
              <a:rPr lang="zh-CN" altLang="en-US" b="0" i="0" dirty="0">
                <a:solidFill>
                  <a:srgbClr val="0F1115"/>
                </a:solidFill>
                <a:effectLst/>
                <a:latin typeface="quote-cjk-patch"/>
              </a:rPr>
              <a:t>：用户是否能够</a:t>
            </a:r>
            <a:r>
              <a:rPr lang="zh-CN" altLang="en-US" b="1" i="0" dirty="0">
                <a:solidFill>
                  <a:srgbClr val="0F1115"/>
                </a:solidFill>
                <a:effectLst/>
                <a:latin typeface="quote-cjk-patch"/>
              </a:rPr>
              <a:t>轻松地访问帮助文档、常见问题解答（</a:t>
            </a:r>
            <a:r>
              <a:rPr lang="en-US" altLang="zh-CN" b="1" i="0" dirty="0">
                <a:solidFill>
                  <a:srgbClr val="0F1115"/>
                </a:solidFill>
                <a:effectLst/>
                <a:latin typeface="quote-cjk-patch"/>
              </a:rPr>
              <a:t>FAQ</a:t>
            </a:r>
            <a:r>
              <a:rPr lang="zh-CN" altLang="en-US" b="1" i="0" dirty="0">
                <a:solidFill>
                  <a:srgbClr val="0F1115"/>
                </a:solidFill>
                <a:effectLst/>
                <a:latin typeface="quote-cjk-patch"/>
              </a:rPr>
              <a:t>）或其他支持选项</a:t>
            </a:r>
            <a:r>
              <a:rPr lang="zh-CN" altLang="en-US" b="0" i="0" dirty="0">
                <a:solidFill>
                  <a:srgbClr val="0F1115"/>
                </a:solidFill>
                <a:effectLst/>
                <a:latin typeface="quote-cjk-patch"/>
              </a:rPr>
              <a:t>？</a:t>
            </a:r>
            <a:br>
              <a:rPr lang="zh-CN" altLang="en-US" b="0" i="0" dirty="0">
                <a:solidFill>
                  <a:srgbClr val="0F1115"/>
                </a:solidFill>
                <a:effectLst/>
                <a:latin typeface="quote-cjk-patch"/>
              </a:rPr>
            </a:br>
            <a:r>
              <a:rPr lang="en-US" altLang="zh-CN" b="0" i="0" dirty="0">
                <a:solidFill>
                  <a:srgbClr val="0F1115"/>
                </a:solidFill>
                <a:effectLst/>
                <a:latin typeface="quote-cjk-patch"/>
              </a:rPr>
              <a:t>10. </a:t>
            </a:r>
            <a:r>
              <a:rPr lang="zh-CN" altLang="en-US" b="1" i="0" dirty="0">
                <a:solidFill>
                  <a:srgbClr val="0F1115"/>
                </a:solidFill>
                <a:effectLst/>
                <a:latin typeface="quote-cjk-patch"/>
              </a:rPr>
              <a:t>可访问性</a:t>
            </a:r>
            <a:r>
              <a:rPr lang="zh-CN" altLang="en-US" b="0" i="0" dirty="0">
                <a:solidFill>
                  <a:srgbClr val="0F1115"/>
                </a:solidFill>
                <a:effectLst/>
                <a:latin typeface="quote-cjk-patch"/>
              </a:rPr>
              <a:t>：应用是否对</a:t>
            </a:r>
            <a:r>
              <a:rPr lang="zh-CN" altLang="en-US" b="1" i="0" dirty="0">
                <a:solidFill>
                  <a:srgbClr val="0F1115"/>
                </a:solidFill>
                <a:effectLst/>
                <a:latin typeface="quote-cjk-patch"/>
              </a:rPr>
              <a:t>有残疾（如视觉、听觉、运动障碍）的人士可访问</a:t>
            </a:r>
            <a:r>
              <a:rPr lang="zh-CN" altLang="en-US" b="0" i="0" dirty="0">
                <a:solidFill>
                  <a:srgbClr val="0F1115"/>
                </a:solidFill>
                <a:effectLst/>
                <a:latin typeface="quote-cjk-patch"/>
              </a:rPr>
              <a:t>？这是法律要求和道德责任。</a:t>
            </a:r>
            <a:br>
              <a:rPr lang="zh-CN" altLang="en-US" b="0" i="0" dirty="0">
                <a:solidFill>
                  <a:srgbClr val="0F1115"/>
                </a:solidFill>
                <a:effectLst/>
                <a:latin typeface="quote-cjk-patch"/>
              </a:rPr>
            </a:br>
            <a:r>
              <a:rPr lang="en-US" altLang="zh-CN" b="0" i="0" dirty="0">
                <a:solidFill>
                  <a:srgbClr val="0F1115"/>
                </a:solidFill>
                <a:effectLst/>
                <a:latin typeface="quote-cjk-patch"/>
              </a:rPr>
              <a:t>11. </a:t>
            </a:r>
            <a:r>
              <a:rPr lang="zh-CN" altLang="en-US" b="1" i="0" dirty="0">
                <a:solidFill>
                  <a:srgbClr val="0F1115"/>
                </a:solidFill>
                <a:effectLst/>
                <a:latin typeface="quote-cjk-patch"/>
              </a:rPr>
              <a:t>可信度</a:t>
            </a:r>
            <a:r>
              <a:rPr lang="zh-CN" altLang="en-US" b="0" i="0" dirty="0">
                <a:solidFill>
                  <a:srgbClr val="0F1115"/>
                </a:solidFill>
                <a:effectLst/>
                <a:latin typeface="quote-cjk-patch"/>
              </a:rPr>
              <a:t>：用户是否能</a:t>
            </a:r>
            <a:r>
              <a:rPr lang="zh-CN" altLang="en-US" b="1" i="0" dirty="0">
                <a:solidFill>
                  <a:srgbClr val="0F1115"/>
                </a:solidFill>
                <a:effectLst/>
                <a:latin typeface="quote-cjk-patch"/>
              </a:rPr>
              <a:t>控制其个人信息如何被共享</a:t>
            </a:r>
            <a:r>
              <a:rPr lang="zh-CN" altLang="en-US" b="0" i="0" dirty="0">
                <a:solidFill>
                  <a:srgbClr val="0F1115"/>
                </a:solidFill>
                <a:effectLst/>
                <a:latin typeface="quote-cjk-patch"/>
              </a:rPr>
              <a:t>？应用是否会在</a:t>
            </a:r>
            <a:r>
              <a:rPr lang="zh-CN" altLang="en-US" b="1" i="0" dirty="0">
                <a:solidFill>
                  <a:srgbClr val="0F1115"/>
                </a:solidFill>
                <a:effectLst/>
                <a:latin typeface="quote-cjk-patch"/>
              </a:rPr>
              <a:t>未经用户明确许可</a:t>
            </a:r>
            <a:r>
              <a:rPr lang="zh-CN" altLang="en-US" b="0" i="0" dirty="0">
                <a:solidFill>
                  <a:srgbClr val="0F1115"/>
                </a:solidFill>
                <a:effectLst/>
                <a:latin typeface="quote-cjk-patch"/>
              </a:rPr>
              <a:t>的情况下使用个人信息？这直接关系到用户对应用的信任。</a:t>
            </a:r>
            <a:br>
              <a:rPr lang="zh-CN" altLang="en-US" b="0" i="0" dirty="0">
                <a:solidFill>
                  <a:srgbClr val="0F1115"/>
                </a:solidFill>
                <a:effectLst/>
                <a:latin typeface="quote-cjk-patch"/>
              </a:rPr>
            </a:br>
            <a:r>
              <a:rPr lang="zh-CN" altLang="en-US" b="0" i="0" dirty="0">
                <a:solidFill>
                  <a:srgbClr val="0F1115"/>
                </a:solidFill>
                <a:effectLst/>
                <a:latin typeface="quote-cjk-patch"/>
              </a:rPr>
              <a:t>这些类别共同构成了一个全面的可用性评估框架。</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30</a:t>
            </a:fld>
            <a:endParaRPr lang="en-US"/>
          </a:p>
        </p:txBody>
      </p:sp>
    </p:spTree>
    <p:extLst>
      <p:ext uri="{BB962C8B-B14F-4D97-AF65-F5344CB8AC3E}">
        <p14:creationId xmlns:p14="http://schemas.microsoft.com/office/powerpoint/2010/main" val="41238099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除了分门别类地进行可用性测试，我们还可以采用一种更综合、更直观的图形化方法来评估用户体验的整体质量。这就是定性可用性评估。</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这一页（结合文本替代描述）展示了一个用于</a:t>
            </a:r>
            <a:r>
              <a:rPr lang="zh-CN" altLang="en-US" b="1" i="0" dirty="0">
                <a:solidFill>
                  <a:srgbClr val="0F1115"/>
                </a:solidFill>
                <a:effectLst/>
                <a:latin typeface="quote-cjk-patch"/>
              </a:rPr>
              <a:t>定性可用性评估的三轴雷达图</a:t>
            </a:r>
            <a:r>
              <a:rPr lang="zh-CN" altLang="en-US" b="0" i="0" dirty="0">
                <a:solidFill>
                  <a:srgbClr val="0F1115"/>
                </a:solidFill>
                <a:effectLst/>
                <a:latin typeface="quote-cjk-patch"/>
              </a:rPr>
              <a:t>。这三个轴代表了用户体验的三个核心维度：</a:t>
            </a:r>
          </a:p>
          <a:p>
            <a:pPr algn="l">
              <a:buFont typeface="+mj-lt"/>
              <a:buAutoNum type="arabicPeriod"/>
            </a:pPr>
            <a:r>
              <a:rPr lang="zh-CN" altLang="en-US" b="1" i="0" dirty="0">
                <a:solidFill>
                  <a:srgbClr val="0F1115"/>
                </a:solidFill>
                <a:effectLst/>
                <a:latin typeface="quote-cjk-patch"/>
              </a:rPr>
              <a:t>易用性</a:t>
            </a:r>
            <a:r>
              <a:rPr lang="zh-CN" altLang="en-US" b="0" i="0" dirty="0">
                <a:solidFill>
                  <a:srgbClr val="0F1115"/>
                </a:solidFill>
                <a:effectLst/>
                <a:latin typeface="quote-cjk-patch"/>
              </a:rPr>
              <a:t>：从“误导性的”到“有效的、易学的”，评估用户完成任务的顺畅程度。</a:t>
            </a:r>
          </a:p>
          <a:p>
            <a:pPr algn="l">
              <a:buFont typeface="+mj-lt"/>
              <a:buAutoNum type="arabicPeriod"/>
            </a:pPr>
            <a:r>
              <a:rPr lang="zh-CN" altLang="en-US" b="1" i="0" dirty="0">
                <a:solidFill>
                  <a:srgbClr val="0F1115"/>
                </a:solidFill>
                <a:effectLst/>
                <a:latin typeface="quote-cjk-patch"/>
              </a:rPr>
              <a:t>易理解性</a:t>
            </a:r>
            <a:r>
              <a:rPr lang="zh-CN" altLang="en-US" b="0" i="0" dirty="0">
                <a:solidFill>
                  <a:srgbClr val="0F1115"/>
                </a:solidFill>
                <a:effectLst/>
                <a:latin typeface="quote-cjk-patch"/>
              </a:rPr>
              <a:t>：从“混乱的”到“清晰的”，评估用户理解界面信息和操作方式的容易程度。</a:t>
            </a:r>
          </a:p>
          <a:p>
            <a:pPr algn="l">
              <a:buFont typeface="+mj-lt"/>
              <a:buAutoNum type="arabicPeriod"/>
            </a:pPr>
            <a:r>
              <a:rPr lang="zh-CN" altLang="en-US" b="1" i="0" dirty="0">
                <a:solidFill>
                  <a:srgbClr val="0F1115"/>
                </a:solidFill>
                <a:effectLst/>
                <a:latin typeface="quote-cjk-patch"/>
              </a:rPr>
              <a:t>可预测性</a:t>
            </a:r>
            <a:r>
              <a:rPr lang="zh-CN" altLang="en-US" b="0" i="0" dirty="0">
                <a:solidFill>
                  <a:srgbClr val="0F1115"/>
                </a:solidFill>
                <a:effectLst/>
                <a:latin typeface="quote-cjk-patch"/>
              </a:rPr>
              <a:t>：从“不一致的”到“可预测的”，评估用户对操作结果预判的准确程度。</a:t>
            </a:r>
            <a:br>
              <a:rPr lang="zh-CN" altLang="en-US" b="0" i="0" dirty="0">
                <a:solidFill>
                  <a:srgbClr val="0F1115"/>
                </a:solidFill>
                <a:effectLst/>
                <a:latin typeface="quote-cjk-patch"/>
              </a:rPr>
            </a:br>
            <a:r>
              <a:rPr lang="zh-CN" altLang="en-US" b="0" i="0" dirty="0">
                <a:solidFill>
                  <a:srgbClr val="0F1115"/>
                </a:solidFill>
                <a:effectLst/>
                <a:latin typeface="quote-cjk-patch"/>
              </a:rPr>
              <a:t>通过将某个功能或整个应用在这个三维坐标系中进行定位，我们可以直观地看到其用户体验的优势和短板。例如，一个理想的应用应该位于“有效”、“清晰”和“可预测”构成的远端区域。这种方法帮助团队从宏观上把握用户体验的质量。</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31</a:t>
            </a:fld>
            <a:endParaRPr lang="en-US"/>
          </a:p>
        </p:txBody>
      </p:sp>
    </p:spTree>
    <p:extLst>
      <p:ext uri="{BB962C8B-B14F-4D97-AF65-F5344CB8AC3E}">
        <p14:creationId xmlns:p14="http://schemas.microsoft.com/office/powerpoint/2010/main" val="15210951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在可用性测试中，有一个专门且至关重要的分支</a:t>
            </a:r>
            <a:r>
              <a:rPr lang="en-US" altLang="zh-CN" b="0" i="0" dirty="0">
                <a:solidFill>
                  <a:srgbClr val="0F1115"/>
                </a:solidFill>
                <a:effectLst/>
                <a:latin typeface="quote-cjk-patch"/>
              </a:rPr>
              <a:t>——</a:t>
            </a:r>
            <a:r>
              <a:rPr lang="zh-CN" altLang="en-US" b="0" i="0" dirty="0">
                <a:solidFill>
                  <a:srgbClr val="0F1115"/>
                </a:solidFill>
                <a:effectLst/>
                <a:latin typeface="quote-cjk-patch"/>
              </a:rPr>
              <a:t>可访问性测试。它的目标是确保我们的软件能够被所有用户，包括那些有各种残疾的用户，平等地使用。</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这一页列出了</a:t>
            </a:r>
            <a:r>
              <a:rPr lang="zh-CN" altLang="en-US" b="1" i="0" dirty="0">
                <a:solidFill>
                  <a:srgbClr val="0F1115"/>
                </a:solidFill>
                <a:effectLst/>
                <a:latin typeface="quote-cjk-patch"/>
              </a:rPr>
              <a:t>可访问性测试</a:t>
            </a:r>
            <a:r>
              <a:rPr lang="zh-CN" altLang="en-US" b="0" i="0" dirty="0">
                <a:solidFill>
                  <a:srgbClr val="0F1115"/>
                </a:solidFill>
                <a:effectLst/>
                <a:latin typeface="quote-cjk-patch"/>
              </a:rPr>
              <a:t>的一些关键检查点：</a:t>
            </a:r>
          </a:p>
          <a:p>
            <a:pPr algn="l">
              <a:buFont typeface="Arial" panose="020B0604020202020204" pitchFamily="34" charset="0"/>
              <a:buChar char="•"/>
            </a:pPr>
            <a:r>
              <a:rPr lang="zh-CN" altLang="en-US" b="1" i="0" dirty="0">
                <a:solidFill>
                  <a:srgbClr val="0F1115"/>
                </a:solidFill>
                <a:effectLst/>
                <a:latin typeface="quote-cjk-patch"/>
              </a:rPr>
              <a:t>非文本对象的文本描述</a:t>
            </a:r>
            <a:r>
              <a:rPr lang="zh-CN" altLang="en-US" b="0" i="0" dirty="0">
                <a:solidFill>
                  <a:srgbClr val="0F1115"/>
                </a:solidFill>
                <a:effectLst/>
                <a:latin typeface="quote-cjk-patch"/>
              </a:rPr>
              <a:t>：确保所有图片、图标等非文本对象都有准确的</a:t>
            </a:r>
            <a:r>
              <a:rPr lang="zh-CN" altLang="en-US" b="1" i="0" dirty="0">
                <a:solidFill>
                  <a:srgbClr val="0F1115"/>
                </a:solidFill>
                <a:effectLst/>
                <a:latin typeface="quote-cjk-patch"/>
              </a:rPr>
              <a:t>替代文本（</a:t>
            </a:r>
            <a:r>
              <a:rPr lang="en-US" altLang="zh-CN" b="1" i="0" dirty="0">
                <a:solidFill>
                  <a:srgbClr val="0F1115"/>
                </a:solidFill>
                <a:effectLst/>
                <a:latin typeface="quote-cjk-patch"/>
              </a:rPr>
              <a:t>alt text</a:t>
            </a:r>
            <a:r>
              <a:rPr lang="zh-CN" altLang="en-US" b="1" i="0" dirty="0">
                <a:solidFill>
                  <a:srgbClr val="0F1115"/>
                </a:solidFill>
                <a:effectLst/>
                <a:latin typeface="quote-cjk-patch"/>
              </a:rPr>
              <a:t>）</a:t>
            </a:r>
            <a:r>
              <a:rPr lang="zh-CN" altLang="en-US" b="0" i="0" dirty="0">
                <a:solidFill>
                  <a:srgbClr val="0F1115"/>
                </a:solidFill>
                <a:effectLst/>
                <a:latin typeface="quote-cjk-patch"/>
              </a:rPr>
              <a:t>，以便屏幕阅读器为视障用户朗读。</a:t>
            </a:r>
          </a:p>
          <a:p>
            <a:pPr algn="l">
              <a:buFont typeface="Arial" panose="020B0604020202020204" pitchFamily="34" charset="0"/>
              <a:buChar char="•"/>
            </a:pPr>
            <a:r>
              <a:rPr lang="zh-CN" altLang="en-US" b="1" i="0" dirty="0">
                <a:solidFill>
                  <a:srgbClr val="0F1115"/>
                </a:solidFill>
                <a:effectLst/>
                <a:latin typeface="quote-cjk-patch"/>
              </a:rPr>
              <a:t>不单独依赖颜色传递信息</a:t>
            </a:r>
            <a:r>
              <a:rPr lang="zh-CN" altLang="en-US" b="0" i="0" dirty="0">
                <a:solidFill>
                  <a:srgbClr val="0F1115"/>
                </a:solidFill>
                <a:effectLst/>
                <a:latin typeface="quote-cjk-patch"/>
              </a:rPr>
              <a:t>：例如，不能仅用红色来标记错误，还需要结合文字或图标说明，因为有色盲的用户可能无法分辨。</a:t>
            </a:r>
          </a:p>
          <a:p>
            <a:pPr algn="l">
              <a:buFont typeface="Arial" panose="020B0604020202020204" pitchFamily="34" charset="0"/>
              <a:buChar char="•"/>
            </a:pPr>
            <a:r>
              <a:rPr lang="zh-CN" altLang="en-US" b="1" i="0" dirty="0">
                <a:solidFill>
                  <a:srgbClr val="0F1115"/>
                </a:solidFill>
                <a:effectLst/>
                <a:latin typeface="quote-cjk-patch"/>
              </a:rPr>
              <a:t>支持高对比度和放大</a:t>
            </a:r>
            <a:r>
              <a:rPr lang="zh-CN" altLang="en-US" b="0" i="0" dirty="0">
                <a:solidFill>
                  <a:srgbClr val="0F1115"/>
                </a:solidFill>
                <a:effectLst/>
                <a:latin typeface="quote-cjk-patch"/>
              </a:rPr>
              <a:t>：为视力不佳的用户提供高对比度模式和屏幕放大功能。</a:t>
            </a:r>
          </a:p>
          <a:p>
            <a:pPr algn="l">
              <a:buFont typeface="Arial" panose="020B0604020202020204" pitchFamily="34" charset="0"/>
              <a:buChar char="•"/>
            </a:pPr>
            <a:r>
              <a:rPr lang="zh-CN" altLang="en-US" b="1" i="0" dirty="0">
                <a:solidFill>
                  <a:srgbClr val="0F1115"/>
                </a:solidFill>
                <a:effectLst/>
                <a:latin typeface="quote-cjk-patch"/>
              </a:rPr>
              <a:t>提供语音输入替代方案</a:t>
            </a:r>
            <a:r>
              <a:rPr lang="zh-CN" altLang="en-US" b="0" i="0" dirty="0">
                <a:solidFill>
                  <a:srgbClr val="0F1115"/>
                </a:solidFill>
                <a:effectLst/>
                <a:latin typeface="quote-cjk-patch"/>
              </a:rPr>
              <a:t>：为无法操作键盘、按键或鼠标的用户（如肢体障碍者）提供语音输入等替代交互方式。</a:t>
            </a:r>
          </a:p>
          <a:p>
            <a:pPr algn="l">
              <a:buFont typeface="Arial" panose="020B0604020202020204" pitchFamily="34" charset="0"/>
              <a:buChar char="•"/>
            </a:pPr>
            <a:r>
              <a:rPr lang="zh-CN" altLang="en-US" b="1" i="0" dirty="0">
                <a:solidFill>
                  <a:srgbClr val="0F1115"/>
                </a:solidFill>
                <a:effectLst/>
                <a:latin typeface="quote-cjk-patch"/>
              </a:rPr>
              <a:t>避免闪烁或自动滚动内容</a:t>
            </a:r>
            <a:r>
              <a:rPr lang="zh-CN" altLang="en-US" b="0" i="0" dirty="0">
                <a:solidFill>
                  <a:srgbClr val="0F1115"/>
                </a:solidFill>
                <a:effectLst/>
                <a:latin typeface="quote-cjk-patch"/>
              </a:rPr>
              <a:t>：这可能会干扰有阅读障碍的用户，甚至对某些光敏性癫痫患者造成危险。</a:t>
            </a:r>
            <a:br>
              <a:rPr lang="zh-CN" altLang="en-US" b="0" i="0" dirty="0">
                <a:solidFill>
                  <a:srgbClr val="0F1115"/>
                </a:solidFill>
                <a:effectLst/>
                <a:latin typeface="quote-cjk-patch"/>
              </a:rPr>
            </a:br>
            <a:r>
              <a:rPr lang="zh-CN" altLang="en-US" b="0" i="0" dirty="0">
                <a:solidFill>
                  <a:srgbClr val="0F1115"/>
                </a:solidFill>
                <a:effectLst/>
                <a:latin typeface="quote-cjk-patch"/>
              </a:rPr>
              <a:t>这些测试点是确保软件包容性、符合法律法规（如</a:t>
            </a:r>
            <a:r>
              <a:rPr lang="en-US" altLang="zh-CN" b="0" i="0" dirty="0">
                <a:solidFill>
                  <a:srgbClr val="0F1115"/>
                </a:solidFill>
                <a:effectLst/>
                <a:latin typeface="quote-cjk-patch"/>
              </a:rPr>
              <a:t>《</a:t>
            </a:r>
            <a:r>
              <a:rPr lang="zh-CN" altLang="en-US" b="0" i="0" dirty="0">
                <a:solidFill>
                  <a:srgbClr val="0F1115"/>
                </a:solidFill>
                <a:effectLst/>
                <a:latin typeface="quote-cjk-patch"/>
              </a:rPr>
              <a:t>无障碍设计法案</a:t>
            </a:r>
            <a:r>
              <a:rPr lang="en-US" altLang="zh-CN" b="0" i="0" dirty="0">
                <a:solidFill>
                  <a:srgbClr val="0F1115"/>
                </a:solidFill>
                <a:effectLst/>
                <a:latin typeface="quote-cjk-patch"/>
              </a:rPr>
              <a:t>》</a:t>
            </a:r>
            <a:r>
              <a:rPr lang="zh-CN" altLang="en-US" b="0" i="0" dirty="0">
                <a:solidFill>
                  <a:srgbClr val="0F1115"/>
                </a:solidFill>
                <a:effectLst/>
                <a:latin typeface="quote-cjk-patch"/>
              </a:rPr>
              <a:t>）的基础。</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32</a:t>
            </a:fld>
            <a:endParaRPr lang="en-US"/>
          </a:p>
        </p:txBody>
      </p:sp>
    </p:spTree>
    <p:extLst>
      <p:ext uri="{BB962C8B-B14F-4D97-AF65-F5344CB8AC3E}">
        <p14:creationId xmlns:p14="http://schemas.microsoft.com/office/powerpoint/2010/main" val="29563242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对于游戏或模拟类应用，传统的可用性测试还不够。我们还需要评估一个更主观但至关重要的属性</a:t>
            </a:r>
            <a:r>
              <a:rPr lang="en-US" altLang="zh-CN" b="0" i="0" dirty="0">
                <a:solidFill>
                  <a:srgbClr val="0F1115"/>
                </a:solidFill>
                <a:effectLst/>
                <a:latin typeface="quote-cjk-patch"/>
              </a:rPr>
              <a:t>——</a:t>
            </a:r>
            <a:r>
              <a:rPr lang="zh-CN" altLang="en-US" b="0" i="0" dirty="0">
                <a:solidFill>
                  <a:srgbClr val="0F1115"/>
                </a:solidFill>
                <a:effectLst/>
                <a:latin typeface="quote-cjk-patch"/>
              </a:rPr>
              <a:t>可玩性，即它是否“好玩”。</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这一页定义了</a:t>
            </a:r>
            <a:r>
              <a:rPr lang="zh-CN" altLang="en-US" b="1" i="0" dirty="0">
                <a:solidFill>
                  <a:srgbClr val="0F1115"/>
                </a:solidFill>
                <a:effectLst/>
                <a:latin typeface="quote-cjk-patch"/>
              </a:rPr>
              <a:t>可玩性测试</a:t>
            </a:r>
            <a:r>
              <a:rPr lang="zh-CN" altLang="en-US" b="0" i="0" dirty="0">
                <a:solidFill>
                  <a:srgbClr val="0F1115"/>
                </a:solidFill>
                <a:effectLst/>
                <a:latin typeface="quote-cjk-patch"/>
              </a:rPr>
              <a:t>及其执行方法：</a:t>
            </a:r>
          </a:p>
          <a:p>
            <a:pPr algn="l">
              <a:buFont typeface="Arial" panose="020B0604020202020204" pitchFamily="34" charset="0"/>
              <a:buChar char="•"/>
            </a:pPr>
            <a:r>
              <a:rPr lang="zh-CN" altLang="en-US" b="1" i="0" dirty="0">
                <a:solidFill>
                  <a:srgbClr val="0F1115"/>
                </a:solidFill>
                <a:effectLst/>
                <a:latin typeface="quote-cjk-patch"/>
              </a:rPr>
              <a:t>什么是可玩性</a:t>
            </a:r>
            <a:r>
              <a:rPr lang="zh-CN" altLang="en-US" b="0" i="0" dirty="0">
                <a:solidFill>
                  <a:srgbClr val="0F1115"/>
                </a:solidFill>
                <a:effectLst/>
                <a:latin typeface="quote-cjk-patch"/>
              </a:rPr>
              <a:t>：指一个游戏或模拟</a:t>
            </a:r>
            <a:r>
              <a:rPr lang="zh-CN" altLang="en-US" b="1" i="0" dirty="0">
                <a:solidFill>
                  <a:srgbClr val="0F1115"/>
                </a:solidFill>
                <a:effectLst/>
                <a:latin typeface="quote-cjk-patch"/>
              </a:rPr>
              <a:t>好玩的程度</a:t>
            </a:r>
            <a:r>
              <a:rPr lang="zh-CN" altLang="en-US" b="0" i="0" dirty="0">
                <a:solidFill>
                  <a:srgbClr val="0F1115"/>
                </a:solidFill>
                <a:effectLst/>
                <a:latin typeface="quote-cjk-patch"/>
              </a:rPr>
              <a:t>以及被用户</a:t>
            </a:r>
            <a:r>
              <a:rPr lang="en-US" altLang="zh-CN" b="0" i="0" dirty="0">
                <a:solidFill>
                  <a:srgbClr val="0F1115"/>
                </a:solidFill>
                <a:effectLst/>
                <a:latin typeface="quote-cjk-patch"/>
              </a:rPr>
              <a:t>/</a:t>
            </a:r>
            <a:r>
              <a:rPr lang="zh-CN" altLang="en-US" b="0" i="0" dirty="0">
                <a:solidFill>
                  <a:srgbClr val="0F1115"/>
                </a:solidFill>
                <a:effectLst/>
                <a:latin typeface="quote-cjk-patch"/>
              </a:rPr>
              <a:t>玩家使用的难易程度。</a:t>
            </a:r>
          </a:p>
          <a:p>
            <a:pPr algn="l">
              <a:buFont typeface="Arial" panose="020B0604020202020204" pitchFamily="34" charset="0"/>
              <a:buChar char="•"/>
            </a:pPr>
            <a:r>
              <a:rPr lang="zh-CN" altLang="en-US" b="1" i="0" dirty="0">
                <a:solidFill>
                  <a:srgbClr val="0F1115"/>
                </a:solidFill>
                <a:effectLst/>
                <a:latin typeface="quote-cjk-patch"/>
              </a:rPr>
              <a:t>与可用性测试的关系</a:t>
            </a:r>
            <a:r>
              <a:rPr lang="zh-CN" altLang="en-US" b="0" i="0" dirty="0">
                <a:solidFill>
                  <a:srgbClr val="0F1115"/>
                </a:solidFill>
                <a:effectLst/>
                <a:latin typeface="quote-cjk-patch"/>
              </a:rPr>
              <a:t>：可玩性测试应是此类移动应用</a:t>
            </a:r>
            <a:r>
              <a:rPr lang="zh-CN" altLang="en-US" b="1" i="0" dirty="0">
                <a:solidFill>
                  <a:srgbClr val="0F1115"/>
                </a:solidFill>
                <a:effectLst/>
                <a:latin typeface="quote-cjk-patch"/>
              </a:rPr>
              <a:t>可用性测试的一部分</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测试方法</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1" i="0" dirty="0">
                <a:solidFill>
                  <a:srgbClr val="0F1115"/>
                </a:solidFill>
                <a:effectLst/>
                <a:latin typeface="quote-cjk-patch"/>
              </a:rPr>
              <a:t>专家评审</a:t>
            </a:r>
            <a:r>
              <a:rPr lang="zh-CN" altLang="en-US" b="0" i="0" dirty="0">
                <a:solidFill>
                  <a:srgbClr val="0F1115"/>
                </a:solidFill>
                <a:effectLst/>
                <a:latin typeface="quote-cjk-patch"/>
              </a:rPr>
              <a:t>是基础，但必须由</a:t>
            </a:r>
            <a:r>
              <a:rPr lang="zh-CN" altLang="en-US" b="1" i="0" dirty="0">
                <a:solidFill>
                  <a:srgbClr val="0F1115"/>
                </a:solidFill>
                <a:effectLst/>
                <a:latin typeface="quote-cjk-patch"/>
              </a:rPr>
              <a:t>代表性终端用户</a:t>
            </a:r>
            <a:r>
              <a:rPr lang="zh-CN" altLang="en-US" b="0" i="0" dirty="0">
                <a:solidFill>
                  <a:srgbClr val="0F1115"/>
                </a:solidFill>
                <a:effectLst/>
                <a:latin typeface="quote-cjk-patch"/>
              </a:rPr>
              <a:t>进行的测试来补充，类似于</a:t>
            </a:r>
            <a:r>
              <a:rPr lang="en-US" altLang="zh-CN" b="0" i="0" dirty="0">
                <a:solidFill>
                  <a:srgbClr val="0F1115"/>
                </a:solidFill>
                <a:effectLst/>
                <a:latin typeface="quote-cjk-patch"/>
              </a:rPr>
              <a:t>Beta</a:t>
            </a:r>
            <a:r>
              <a:rPr lang="zh-CN" altLang="en-US" b="0" i="0" dirty="0">
                <a:solidFill>
                  <a:srgbClr val="0F1115"/>
                </a:solidFill>
                <a:effectLst/>
                <a:latin typeface="quote-cjk-patch"/>
              </a:rPr>
              <a:t>测试或验收测试。</a:t>
            </a:r>
          </a:p>
          <a:p>
            <a:pPr marL="742950" lvl="1" indent="-285750" algn="l">
              <a:buFont typeface="Arial" panose="020B0604020202020204" pitchFamily="34" charset="0"/>
              <a:buChar char="•"/>
            </a:pPr>
            <a:r>
              <a:rPr lang="zh-CN" altLang="en-US" b="0" i="0" dirty="0">
                <a:solidFill>
                  <a:srgbClr val="0F1115"/>
                </a:solidFill>
                <a:effectLst/>
                <a:latin typeface="quote-cjk-patch"/>
              </a:rPr>
              <a:t>在一个典型的游戏测试中，用户会得到基本操作指引，然后开发者</a:t>
            </a:r>
            <a:r>
              <a:rPr lang="zh-CN" altLang="en-US" b="1" i="0" dirty="0">
                <a:solidFill>
                  <a:srgbClr val="0F1115"/>
                </a:solidFill>
                <a:effectLst/>
                <a:latin typeface="quote-cjk-patch"/>
              </a:rPr>
              <a:t>退后观察玩家在没有干预的情况下如何游戏</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1" i="0" dirty="0">
                <a:solidFill>
                  <a:srgbClr val="0F1115"/>
                </a:solidFill>
                <a:effectLst/>
                <a:latin typeface="quote-cjk-patch"/>
              </a:rPr>
              <a:t>观察重点</a:t>
            </a:r>
            <a:r>
              <a:rPr lang="zh-CN" altLang="en-US" b="0" i="0" dirty="0">
                <a:solidFill>
                  <a:srgbClr val="0F1115"/>
                </a:solidFill>
                <a:effectLst/>
                <a:latin typeface="quote-cjk-patch"/>
              </a:rPr>
              <a:t>：开发者需要寻找玩家</a:t>
            </a:r>
            <a:r>
              <a:rPr lang="zh-CN" altLang="en-US" b="1" i="0" dirty="0">
                <a:solidFill>
                  <a:srgbClr val="0F1115"/>
                </a:solidFill>
                <a:effectLst/>
                <a:latin typeface="quote-cjk-patch"/>
              </a:rPr>
              <a:t>不知道下一步该做什么</a:t>
            </a:r>
            <a:r>
              <a:rPr lang="zh-CN" altLang="en-US" b="0" i="0" dirty="0">
                <a:solidFill>
                  <a:srgbClr val="0F1115"/>
                </a:solidFill>
                <a:effectLst/>
                <a:latin typeface="quote-cjk-patch"/>
              </a:rPr>
              <a:t>的“卡点”。</a:t>
            </a:r>
          </a:p>
          <a:p>
            <a:pPr marL="742950" lvl="1" indent="-285750" algn="l">
              <a:buFont typeface="Arial" panose="020B0604020202020204" pitchFamily="34" charset="0"/>
              <a:buChar char="•"/>
            </a:pPr>
            <a:r>
              <a:rPr lang="zh-CN" altLang="en-US" b="1" i="0" dirty="0">
                <a:solidFill>
                  <a:srgbClr val="0F1115"/>
                </a:solidFill>
                <a:effectLst/>
                <a:latin typeface="quote-cjk-patch"/>
              </a:rPr>
              <a:t>后续反馈</a:t>
            </a:r>
            <a:r>
              <a:rPr lang="zh-CN" altLang="en-US" b="0" i="0" dirty="0">
                <a:solidFill>
                  <a:srgbClr val="0F1115"/>
                </a:solidFill>
                <a:effectLst/>
                <a:latin typeface="quote-cjk-patch"/>
              </a:rPr>
              <a:t>：测试结束后，可以请玩家填写一份关于其体验的</a:t>
            </a:r>
            <a:r>
              <a:rPr lang="zh-CN" altLang="en-US" b="1" i="0" dirty="0">
                <a:solidFill>
                  <a:srgbClr val="0F1115"/>
                </a:solidFill>
                <a:effectLst/>
                <a:latin typeface="quote-cjk-patch"/>
              </a:rPr>
              <a:t>调查问卷</a:t>
            </a:r>
            <a:r>
              <a:rPr lang="zh-CN" altLang="en-US" b="0" i="0" dirty="0">
                <a:solidFill>
                  <a:srgbClr val="0F1115"/>
                </a:solidFill>
                <a:effectLst/>
                <a:latin typeface="quote-cjk-patch"/>
              </a:rPr>
              <a:t>，收集主观感受。</a:t>
            </a:r>
            <a:br>
              <a:rPr lang="zh-CN" altLang="en-US" b="0" i="0" dirty="0">
                <a:solidFill>
                  <a:srgbClr val="0F1115"/>
                </a:solidFill>
                <a:effectLst/>
                <a:latin typeface="quote-cjk-patch"/>
              </a:rPr>
            </a:br>
            <a:r>
              <a:rPr lang="zh-CN" altLang="en-US" b="0" i="0" dirty="0">
                <a:solidFill>
                  <a:srgbClr val="0F1115"/>
                </a:solidFill>
                <a:effectLst/>
                <a:latin typeface="quote-cjk-patch"/>
              </a:rPr>
              <a:t>可玩性测试直接关系到游戏产品的核心价值与用户留存。</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33</a:t>
            </a:fld>
            <a:endParaRPr lang="en-US"/>
          </a:p>
        </p:txBody>
      </p:sp>
    </p:spTree>
    <p:extLst>
      <p:ext uri="{BB962C8B-B14F-4D97-AF65-F5344CB8AC3E}">
        <p14:creationId xmlns:p14="http://schemas.microsoft.com/office/powerpoint/2010/main" val="30596914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最后，我们千万不能忽视一个同样重要的测试对象</a:t>
            </a:r>
            <a:r>
              <a:rPr lang="en-US" altLang="zh-CN" b="0" i="0" dirty="0">
                <a:solidFill>
                  <a:srgbClr val="0F1115"/>
                </a:solidFill>
                <a:effectLst/>
                <a:latin typeface="quote-cjk-patch"/>
              </a:rPr>
              <a:t>——</a:t>
            </a:r>
            <a:r>
              <a:rPr lang="zh-CN" altLang="en-US" b="0" i="0" dirty="0">
                <a:solidFill>
                  <a:srgbClr val="0F1115"/>
                </a:solidFill>
                <a:effectLst/>
                <a:latin typeface="quote-cjk-patch"/>
              </a:rPr>
              <a:t>软件的帮助设施和文档。糟糕的文档会严重影响用户对程序本身的接受度。</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这一页强调了</a:t>
            </a:r>
            <a:r>
              <a:rPr lang="zh-CN" altLang="en-US" b="1" i="0" dirty="0">
                <a:solidFill>
                  <a:srgbClr val="0F1115"/>
                </a:solidFill>
                <a:effectLst/>
                <a:latin typeface="quote-cjk-patch"/>
              </a:rPr>
              <a:t>文档测试</a:t>
            </a:r>
            <a:r>
              <a:rPr lang="zh-CN" altLang="en-US" b="0" i="0" dirty="0">
                <a:solidFill>
                  <a:srgbClr val="0F1115"/>
                </a:solidFill>
                <a:effectLst/>
                <a:latin typeface="quote-cjk-patch"/>
              </a:rPr>
              <a:t>的重要性并说明了其两个阶段：</a:t>
            </a:r>
          </a:p>
          <a:p>
            <a:pPr algn="l">
              <a:buFont typeface="Arial" panose="020B0604020202020204" pitchFamily="34" charset="0"/>
              <a:buChar char="•"/>
            </a:pPr>
            <a:r>
              <a:rPr lang="zh-CN" altLang="en-US" b="1" i="0" dirty="0">
                <a:solidFill>
                  <a:srgbClr val="0F1115"/>
                </a:solidFill>
                <a:effectLst/>
                <a:latin typeface="quote-cjk-patch"/>
              </a:rPr>
              <a:t>重要性</a:t>
            </a:r>
            <a:r>
              <a:rPr lang="zh-CN" altLang="en-US" b="0" i="0" dirty="0">
                <a:solidFill>
                  <a:srgbClr val="0F1115"/>
                </a:solidFill>
                <a:effectLst/>
                <a:latin typeface="quote-cjk-patch"/>
              </a:rPr>
              <a:t>：帮助功能或在线程序文档中的错误，可能会让用户无法正确使用软件，从而</a:t>
            </a:r>
            <a:r>
              <a:rPr lang="zh-CN" altLang="en-US" b="1" i="0" dirty="0">
                <a:solidFill>
                  <a:srgbClr val="0F1115"/>
                </a:solidFill>
                <a:effectLst/>
                <a:latin typeface="quote-cjk-patch"/>
              </a:rPr>
              <a:t>严重影响他们对整个程序的接受和信任</a:t>
            </a:r>
            <a:r>
              <a:rPr lang="zh-CN" altLang="en-US" b="0" i="0" dirty="0">
                <a:solidFill>
                  <a:srgbClr val="0F1115"/>
                </a:solidFill>
                <a:effectLst/>
                <a:latin typeface="quote-cjk-patch"/>
              </a:rPr>
              <a:t>。因此，文档测试应是每个软件测试计划的重要组成部分。</a:t>
            </a:r>
          </a:p>
          <a:p>
            <a:pPr algn="l">
              <a:buFont typeface="Arial" panose="020B0604020202020204" pitchFamily="34" charset="0"/>
              <a:buChar char="•"/>
            </a:pPr>
            <a:r>
              <a:rPr lang="zh-CN" altLang="en-US" b="1" i="0" dirty="0">
                <a:solidFill>
                  <a:srgbClr val="0F1115"/>
                </a:solidFill>
                <a:effectLst/>
                <a:latin typeface="quote-cjk-patch"/>
              </a:rPr>
              <a:t>第一阶段：技术评审</a:t>
            </a:r>
            <a:r>
              <a:rPr lang="zh-CN" altLang="en-US" b="0" i="0" dirty="0">
                <a:solidFill>
                  <a:srgbClr val="0F1115"/>
                </a:solidFill>
                <a:effectLst/>
                <a:latin typeface="quote-cjk-patch"/>
              </a:rPr>
              <a:t>：由他人（非作者）仔细检查文档，评估其</a:t>
            </a:r>
            <a:r>
              <a:rPr lang="zh-CN" altLang="en-US" b="1" i="0" dirty="0">
                <a:solidFill>
                  <a:srgbClr val="0F1115"/>
                </a:solidFill>
                <a:effectLst/>
                <a:latin typeface="quote-cjk-patch"/>
              </a:rPr>
              <a:t>编辑清晰度</a:t>
            </a:r>
            <a:r>
              <a:rPr lang="zh-CN" altLang="en-US" b="0" i="0" dirty="0">
                <a:solidFill>
                  <a:srgbClr val="0F1115"/>
                </a:solidFill>
                <a:effectLst/>
                <a:latin typeface="quote-cjk-patch"/>
              </a:rPr>
              <a:t>，包括准确性、完整性、条理性和可读性。</a:t>
            </a:r>
          </a:p>
          <a:p>
            <a:pPr algn="l">
              <a:buFont typeface="Arial" panose="020B0604020202020204" pitchFamily="34" charset="0"/>
              <a:buChar char="•"/>
            </a:pPr>
            <a:r>
              <a:rPr lang="zh-CN" altLang="en-US" b="1" i="0" dirty="0">
                <a:solidFill>
                  <a:srgbClr val="0F1115"/>
                </a:solidFill>
                <a:effectLst/>
                <a:latin typeface="quote-cjk-patch"/>
              </a:rPr>
              <a:t>第二阶段：现场测试</a:t>
            </a:r>
            <a:r>
              <a:rPr lang="zh-CN" altLang="en-US" b="0" i="0" dirty="0">
                <a:solidFill>
                  <a:srgbClr val="0F1115"/>
                </a:solidFill>
                <a:effectLst/>
                <a:latin typeface="quote-cjk-patch"/>
              </a:rPr>
              <a:t>：这是最关键的一步。测试人员（或真实用户）</a:t>
            </a:r>
            <a:r>
              <a:rPr lang="zh-CN" altLang="en-US" b="1" i="0" dirty="0">
                <a:solidFill>
                  <a:srgbClr val="0F1115"/>
                </a:solidFill>
                <a:effectLst/>
                <a:latin typeface="quote-cjk-patch"/>
              </a:rPr>
              <a:t>严格地按照文档的说明来操作实际的程序</a:t>
            </a:r>
            <a:r>
              <a:rPr lang="zh-CN" altLang="en-US" b="0" i="0" dirty="0">
                <a:solidFill>
                  <a:srgbClr val="0F1115"/>
                </a:solidFill>
                <a:effectLst/>
                <a:latin typeface="quote-cjk-patch"/>
              </a:rPr>
              <a:t>。目标是验证文档中的每一个步骤、每一句描述是否与程序的实际行为完全一致。任何歧义或错误都会在此阶段暴露出来。</a:t>
            </a:r>
            <a:br>
              <a:rPr lang="zh-CN" altLang="en-US" b="0" i="0" dirty="0">
                <a:solidFill>
                  <a:srgbClr val="0F1115"/>
                </a:solidFill>
                <a:effectLst/>
                <a:latin typeface="quote-cjk-patch"/>
              </a:rPr>
            </a:br>
            <a:r>
              <a:rPr lang="zh-CN" altLang="en-US" b="0" i="0" dirty="0">
                <a:solidFill>
                  <a:srgbClr val="0F1115"/>
                </a:solidFill>
                <a:effectLst/>
                <a:latin typeface="quote-cjk-patch"/>
              </a:rPr>
              <a:t>通过这两个阶段的测试，我们才能确保文档成为用户得力的助手，而非误导的来源。</a:t>
            </a:r>
          </a:p>
          <a:p>
            <a:endParaRPr lang="zh-CN" altLang="en-US" dirty="0"/>
          </a:p>
        </p:txBody>
      </p:sp>
      <p:sp>
        <p:nvSpPr>
          <p:cNvPr id="4" name="Slide Number Placeholder 3"/>
          <p:cNvSpPr>
            <a:spLocks noGrp="1"/>
          </p:cNvSpPr>
          <p:nvPr>
            <p:ph type="sldNum" sz="quarter" idx="5"/>
          </p:nvPr>
        </p:nvSpPr>
        <p:spPr/>
        <p:txBody>
          <a:bodyPr/>
          <a:lstStyle/>
          <a:p>
            <a:fld id="{6AA895BC-35B0-4696-94D7-3753B8292ADE}" type="slidenum">
              <a:rPr lang="en-US" smtClean="0"/>
              <a:t>34</a:t>
            </a:fld>
            <a:endParaRPr lang="en-US"/>
          </a:p>
        </p:txBody>
      </p:sp>
    </p:spTree>
    <p:extLst>
      <p:ext uri="{BB962C8B-B14F-4D97-AF65-F5344CB8AC3E}">
        <p14:creationId xmlns:p14="http://schemas.microsoft.com/office/powerpoint/2010/main" val="2521192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94890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
        <p:nvSpPr>
          <p:cNvPr id="14" name="Short Copyright">
            <a:extLst>
              <a:ext uri="{FF2B5EF4-FFF2-40B4-BE49-F238E27FC236}">
                <a16:creationId xmlns:a16="http://schemas.microsoft.com/office/drawing/2014/main" id="{3F8E4BAC-5EA6-439C-A657-7791330BA4F2}"/>
              </a:ext>
            </a:extLst>
          </p:cNvPr>
          <p:cNvSpPr txBox="1"/>
          <p:nvPr userDrawn="1"/>
        </p:nvSpPr>
        <p:spPr>
          <a:xfrm>
            <a:off x="215658" y="6664280"/>
            <a:ext cx="94890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A9E3D366-C30F-4008-9A8C-050A574699DB}"/>
              </a:ext>
            </a:extLst>
          </p:cNvPr>
          <p:cNvSpPr txBox="1"/>
          <p:nvPr userDrawn="1"/>
        </p:nvSpPr>
        <p:spPr>
          <a:xfrm>
            <a:off x="215658" y="6664280"/>
            <a:ext cx="94890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slide" Target="slide3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0.xml"/><Relationship Id="rId1" Type="http://schemas.openxmlformats.org/officeDocument/2006/relationships/slideLayout" Target="../slideLayouts/slideLayout10.xml"/><Relationship Id="rId4" Type="http://schemas.openxmlformats.org/officeDocument/2006/relationships/slide" Target="slide3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latin typeface="Times New Roman" panose="02020603050405020304" pitchFamily="18" charset="0"/>
                <a:cs typeface="Times New Roman" panose="02020603050405020304" pitchFamily="18" charset="0"/>
              </a:rPr>
              <a:t>Chapter 21</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noProof="0" dirty="0">
                <a:latin typeface="Times New Roman" panose="02020603050405020304" pitchFamily="18" charset="0"/>
                <a:cs typeface="Times New Roman" panose="02020603050405020304" pitchFamily="18" charset="0"/>
              </a:rPr>
              <a:t>Software Testing – </a:t>
            </a:r>
            <a:r>
              <a:rPr lang="en-US" noProof="0" dirty="0" err="1">
                <a:latin typeface="Times New Roman" panose="02020603050405020304" pitchFamily="18" charset="0"/>
                <a:cs typeface="Times New Roman" panose="02020603050405020304" pitchFamily="18" charset="0"/>
              </a:rPr>
              <a:t>Specilzed</a:t>
            </a:r>
            <a:r>
              <a:rPr lang="en-US" noProof="0" dirty="0">
                <a:latin typeface="Times New Roman" panose="02020603050405020304" pitchFamily="18" charset="0"/>
                <a:cs typeface="Times New Roman" panose="02020603050405020304" pitchFamily="18" charset="0"/>
              </a:rPr>
              <a:t> Testing for Mobility</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p:txBody>
          <a:bodyPr/>
          <a:lstStyle/>
          <a:p>
            <a:r>
              <a:rPr lang="en-US" noProof="0" dirty="0">
                <a:latin typeface="Times New Roman" panose="02020603050405020304" pitchFamily="18" charset="0"/>
                <a:cs typeface="Times New Roman" panose="02020603050405020304" pitchFamily="18" charset="0"/>
              </a:rPr>
              <a:t>Part 3 – Quality and Security</a:t>
            </a:r>
          </a:p>
        </p:txBody>
      </p:sp>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pic>
        <p:nvPicPr>
          <p:cNvPr id="4" name="Picture Placeholder 3" descr="Software Engineering-A Practitioner's Approach, Ninth edition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Tree>
    <p:extLst>
      <p:ext uri="{BB962C8B-B14F-4D97-AF65-F5344CB8AC3E}">
        <p14:creationId xmlns:p14="http://schemas.microsoft.com/office/powerpoint/2010/main" val="3028515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Creating a Mobile Test Plan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2734430"/>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Do you have to build a fully functional prototype before you test with users?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Should you test with the user’s device or provide a device for testing?</a:t>
            </a:r>
            <a:endParaRPr lang="en-US" altLang="en-US" sz="2400" b="1" noProof="0" dirty="0">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What devices and user groups should you include in testing?</a:t>
            </a:r>
            <a:endParaRPr lang="en-US" altLang="en-US" sz="2400" b="1" noProof="0" dirty="0">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When is lab testing versus remote testing appropriate.</a:t>
            </a:r>
            <a:endParaRPr 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a:t>
            </a:fld>
            <a:endParaRPr lang="en-US"/>
          </a:p>
        </p:txBody>
      </p:sp>
    </p:spTree>
    <p:extLst>
      <p:ext uri="{BB962C8B-B14F-4D97-AF65-F5344CB8AC3E}">
        <p14:creationId xmlns:p14="http://schemas.microsoft.com/office/powerpoint/2010/main" val="1503147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Mobile Testing Guidelines 1 </a:t>
            </a:r>
            <a:r>
              <a:rPr lang="en-US" sz="1000" b="0" noProof="0" dirty="0">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Understand the network landscape and device landscape. </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Conduct testing in uncontrolled real-world test conditions.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Select the right automation test tool. </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Identify the most critical hardware/ platform combinations to test.</a:t>
            </a:r>
            <a:endParaRPr lang="en-US" altLang="en-US" sz="2400" b="1"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a:t>
            </a:fld>
            <a:endParaRPr lang="en-US"/>
          </a:p>
        </p:txBody>
      </p:sp>
    </p:spTree>
    <p:extLst>
      <p:ext uri="{BB962C8B-B14F-4D97-AF65-F5344CB8AC3E}">
        <p14:creationId xmlns:p14="http://schemas.microsoft.com/office/powerpoint/2010/main" val="1815822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Mobile Testing Guidelines 1 </a:t>
            </a:r>
            <a:r>
              <a:rPr lang="en-US" sz="1000" b="0" noProof="0" dirty="0">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Check the end-to-end functional flow in all possible platforms at least once.</a:t>
            </a:r>
            <a:endParaRPr lang="en-US" altLang="en-US" sz="2400" b="1" noProof="0" dirty="0">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Conduct performance, G</a:t>
            </a:r>
            <a:r>
              <a:rPr lang="en-US" altLang="en-US" sz="100" noProof="0" dirty="0">
                <a:latin typeface="Times New Roman" panose="02020603050405020304" pitchFamily="18" charset="0"/>
                <a:cs typeface="Times New Roman" panose="02020603050405020304" pitchFamily="18" charset="0"/>
              </a:rPr>
              <a:t> </a:t>
            </a:r>
            <a:r>
              <a:rPr lang="en-US" altLang="en-US" sz="2400" noProof="0" dirty="0">
                <a:latin typeface="Times New Roman" panose="02020603050405020304" pitchFamily="18" charset="0"/>
                <a:cs typeface="Times New Roman" panose="02020603050405020304" pitchFamily="18" charset="0"/>
              </a:rPr>
              <a:t>U</a:t>
            </a:r>
            <a:r>
              <a:rPr lang="en-US" altLang="en-US" sz="100" noProof="0" dirty="0">
                <a:latin typeface="Times New Roman" panose="02020603050405020304" pitchFamily="18" charset="0"/>
                <a:cs typeface="Times New Roman" panose="02020603050405020304" pitchFamily="18" charset="0"/>
              </a:rPr>
              <a:t> </a:t>
            </a:r>
            <a:r>
              <a:rPr lang="en-US" altLang="en-US" sz="2400" noProof="0" dirty="0">
                <a:latin typeface="Times New Roman" panose="02020603050405020304" pitchFamily="18" charset="0"/>
                <a:cs typeface="Times New Roman" panose="02020603050405020304" pitchFamily="18" charset="0"/>
              </a:rPr>
              <a:t>I, and compatibility testing using actual devices. </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Measure Mobile performance under realistic network load conditions.</a:t>
            </a:r>
            <a:endParaRPr lang="en-US" altLang="en-US" sz="2400" b="1"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4</a:t>
            </a:fld>
            <a:endParaRPr lang="en-US"/>
          </a:p>
        </p:txBody>
      </p:sp>
    </p:spTree>
    <p:extLst>
      <p:ext uri="{BB962C8B-B14F-4D97-AF65-F5344CB8AC3E}">
        <p14:creationId xmlns:p14="http://schemas.microsoft.com/office/powerpoint/2010/main" val="1290875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Mobile Testing Strategies 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b="1" noProof="0" dirty="0">
                <a:latin typeface="Times New Roman" panose="02020603050405020304" pitchFamily="18" charset="0"/>
                <a:cs typeface="Times New Roman" panose="02020603050405020304" pitchFamily="18" charset="0"/>
              </a:rPr>
              <a:t>User-experience testing. </a:t>
            </a:r>
            <a:r>
              <a:rPr lang="en-US" noProof="0" dirty="0">
                <a:latin typeface="Times New Roman" panose="02020603050405020304" pitchFamily="18" charset="0"/>
                <a:cs typeface="Times New Roman" panose="02020603050405020304" pitchFamily="18" charset="0"/>
              </a:rPr>
              <a:t>Users are involved early in the development process to ensure that the MobileApp lives up to the usability and accessibility expectations of the stakeholders on all supported devices.</a:t>
            </a:r>
          </a:p>
          <a:p>
            <a:pPr marL="291600" indent="-291600">
              <a:spcBef>
                <a:spcPts val="1000"/>
              </a:spcBef>
              <a:spcAft>
                <a:spcPts val="0"/>
              </a:spcAft>
              <a:buFont typeface="Arial" panose="020B0604020202020204" pitchFamily="34" charset="0"/>
              <a:buChar char="•"/>
            </a:pPr>
            <a:r>
              <a:rPr lang="en-US" b="1" noProof="0" dirty="0">
                <a:latin typeface="Times New Roman" panose="02020603050405020304" pitchFamily="18" charset="0"/>
                <a:cs typeface="Times New Roman" panose="02020603050405020304" pitchFamily="18" charset="0"/>
              </a:rPr>
              <a:t>Device compatibility testing. </a:t>
            </a:r>
            <a:r>
              <a:rPr lang="en-US" noProof="0" dirty="0">
                <a:latin typeface="Times New Roman" panose="02020603050405020304" pitchFamily="18" charset="0"/>
                <a:cs typeface="Times New Roman" panose="02020603050405020304" pitchFamily="18" charset="0"/>
              </a:rPr>
              <a:t>Testers verify that the MobileApp works correctly on all required hardware and software combinations.</a:t>
            </a:r>
            <a:endParaRPr lang="en-US" b="1" noProof="0" dirty="0">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b="1" noProof="0" dirty="0">
                <a:latin typeface="Times New Roman" panose="02020603050405020304" pitchFamily="18" charset="0"/>
                <a:cs typeface="Times New Roman" panose="02020603050405020304" pitchFamily="18" charset="0"/>
              </a:rPr>
              <a:t>Performance testing. </a:t>
            </a:r>
            <a:r>
              <a:rPr lang="en-US" noProof="0" dirty="0">
                <a:latin typeface="Times New Roman" panose="02020603050405020304" pitchFamily="18" charset="0"/>
                <a:cs typeface="Times New Roman" panose="02020603050405020304" pitchFamily="18" charset="0"/>
              </a:rPr>
              <a:t>Testers check nonfunctional requirements unique to mobile devices (for example, download times, processor speed, storage capacity, power availability).</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5</a:t>
            </a:fld>
            <a:endParaRPr lang="en-US"/>
          </a:p>
        </p:txBody>
      </p:sp>
    </p:spTree>
    <p:extLst>
      <p:ext uri="{BB962C8B-B14F-4D97-AF65-F5344CB8AC3E}">
        <p14:creationId xmlns:p14="http://schemas.microsoft.com/office/powerpoint/2010/main" val="1092497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Mobile Testing Strategies 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b="1" noProof="0" dirty="0">
                <a:latin typeface="Times New Roman" panose="02020603050405020304" pitchFamily="18" charset="0"/>
                <a:cs typeface="Times New Roman" panose="02020603050405020304" pitchFamily="18" charset="0"/>
              </a:rPr>
              <a:t>Connectivity testing. </a:t>
            </a:r>
            <a:r>
              <a:rPr lang="en-US" noProof="0" dirty="0">
                <a:latin typeface="Times New Roman" panose="02020603050405020304" pitchFamily="18" charset="0"/>
                <a:cs typeface="Times New Roman" panose="02020603050405020304" pitchFamily="18" charset="0"/>
              </a:rPr>
              <a:t>Testers ensure that the MobileApp can access any needed networks or Web services and can tolerate weak or interrupted network access.</a:t>
            </a:r>
            <a:endParaRPr lang="en-US" b="1" noProof="0" dirty="0">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b="1" noProof="0" dirty="0">
                <a:latin typeface="Times New Roman" panose="02020603050405020304" pitchFamily="18" charset="0"/>
                <a:cs typeface="Times New Roman" panose="02020603050405020304" pitchFamily="18" charset="0"/>
              </a:rPr>
              <a:t>Security testing. </a:t>
            </a:r>
            <a:r>
              <a:rPr lang="en-US" noProof="0" dirty="0">
                <a:latin typeface="Times New Roman" panose="02020603050405020304" pitchFamily="18" charset="0"/>
                <a:cs typeface="Times New Roman" panose="02020603050405020304" pitchFamily="18" charset="0"/>
              </a:rPr>
              <a:t>Testers ensure that the MobileApp does not compromise the privacy or security requirements of its users.</a:t>
            </a:r>
            <a:endParaRPr lang="en-US" b="1" noProof="0" dirty="0">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b="1" noProof="0" dirty="0">
                <a:latin typeface="Times New Roman" panose="02020603050405020304" pitchFamily="18" charset="0"/>
                <a:cs typeface="Times New Roman" panose="02020603050405020304" pitchFamily="18" charset="0"/>
              </a:rPr>
              <a:t>Testing in the wild. </a:t>
            </a:r>
            <a:r>
              <a:rPr lang="en-US" noProof="0" dirty="0">
                <a:latin typeface="Times New Roman" panose="02020603050405020304" pitchFamily="18" charset="0"/>
                <a:cs typeface="Times New Roman" panose="02020603050405020304" pitchFamily="18" charset="0"/>
              </a:rPr>
              <a:t>The app is tested under realistic conditions on actual user devices in a variety of networking environments around the globe.</a:t>
            </a:r>
            <a:endParaRPr lang="en-US" b="1" noProof="0" dirty="0">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b="1" noProof="0" dirty="0">
                <a:latin typeface="Times New Roman" panose="02020603050405020304" pitchFamily="18" charset="0"/>
                <a:cs typeface="Times New Roman" panose="02020603050405020304" pitchFamily="18" charset="0"/>
              </a:rPr>
              <a:t>Certification testing. </a:t>
            </a:r>
            <a:r>
              <a:rPr lang="en-US" noProof="0" dirty="0">
                <a:latin typeface="Times New Roman" panose="02020603050405020304" pitchFamily="18" charset="0"/>
                <a:cs typeface="Times New Roman" panose="02020603050405020304" pitchFamily="18" charset="0"/>
              </a:rPr>
              <a:t>Testers ensure that the MobileApp meets the standards established by the app stores that will distribute it.</a:t>
            </a:r>
            <a:endParaRPr lang="en-US" altLang="en-US" sz="2400" b="1"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6</a:t>
            </a:fld>
            <a:endParaRPr lang="en-US"/>
          </a:p>
        </p:txBody>
      </p:sp>
    </p:spTree>
    <p:extLst>
      <p:ext uri="{BB962C8B-B14F-4D97-AF65-F5344CB8AC3E}">
        <p14:creationId xmlns:p14="http://schemas.microsoft.com/office/powerpoint/2010/main" val="771840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UX – Gesture Testing Issues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Touch screens are ubiquitous on mobile devices and developers have added multitouch gestures as a means of augmenting the user interaction possibilities without losing screen real estate.</a:t>
            </a:r>
            <a:endParaRPr lang="en-US" b="1" noProof="0" dirty="0">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Paper prototypes cannot be used to adequately review the adequacy or efficacy of gestures.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It’s difficult to use automated tools to test gesture interface actions.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Location of screen objects is affected by screen size and resolution making accurate gesture testing difficult.</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Gestures are hard to log accurately for replay.</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Accessibility testing for visually impaired users is challenging because gesture interfaces typically do not provide either tactile or auditory feedback.</a:t>
            </a:r>
            <a:endParaRPr lang="en-US" altLang="en-US" sz="2400" b="1"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7</a:t>
            </a:fld>
            <a:endParaRPr lang="en-US"/>
          </a:p>
        </p:txBody>
      </p:sp>
    </p:spTree>
    <p:extLst>
      <p:ext uri="{BB962C8B-B14F-4D97-AF65-F5344CB8AC3E}">
        <p14:creationId xmlns:p14="http://schemas.microsoft.com/office/powerpoint/2010/main" val="713735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97651"/>
            <a:ext cx="8458200" cy="1092909"/>
          </a:xfrm>
        </p:spPr>
        <p:txBody>
          <a:bodyPr>
            <a:noAutofit/>
          </a:bodyPr>
          <a:lstStyle/>
          <a:p>
            <a:r>
              <a:rPr lang="en-US" sz="4000" noProof="0" dirty="0">
                <a:latin typeface="Times New Roman" panose="02020603050405020304" pitchFamily="18" charset="0"/>
                <a:cs typeface="Times New Roman" panose="02020603050405020304" pitchFamily="18" charset="0"/>
              </a:rPr>
              <a:t>Add Body Slides in this Portion Presentation </a:t>
            </a:r>
            <a:r>
              <a:rPr lang="en-US" sz="1000" b="0" noProof="0" dirty="0">
                <a:latin typeface="Times New Roman" panose="02020603050405020304" pitchFamily="18" charset="0"/>
                <a:cs typeface="Times New Roman" panose="02020603050405020304" pitchFamily="18" charset="0"/>
              </a:rPr>
              <a:t>1</a:t>
            </a:r>
          </a:p>
        </p:txBody>
      </p:sp>
      <p:pic>
        <p:nvPicPr>
          <p:cNvPr id="4" name="Picture 3" descr="An illustration displays body slides actions by an image of a hand performing the following actions:&#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856" y="1633689"/>
            <a:ext cx="8064289" cy="4043285"/>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2811513" y="6324600"/>
            <a:ext cx="3520974" cy="190500"/>
          </a:xfrm>
        </p:spPr>
        <p:txBody>
          <a:bodyPr/>
          <a:lstStyle/>
          <a:p>
            <a:r>
              <a:rPr lang="en-US" sz="1200" noProof="0" dirty="0">
                <a:latin typeface="Times New Roman" panose="02020603050405020304" pitchFamily="18" charset="0"/>
                <a:cs typeface="Times New Roman" panose="02020603050405020304" pitchFamily="18" charset="0"/>
                <a:hlinkClick r:id="rId4"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8</a:t>
            </a:fld>
            <a:endParaRPr lang="en-US"/>
          </a:p>
        </p:txBody>
      </p:sp>
    </p:spTree>
    <p:extLst>
      <p:ext uri="{BB962C8B-B14F-4D97-AF65-F5344CB8AC3E}">
        <p14:creationId xmlns:p14="http://schemas.microsoft.com/office/powerpoint/2010/main" val="3768590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UX – Virtual Keyboards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Virtual keyboard may obscure part of the display screen when activated, it is important to ensure that important screen information is not hidden from the user while typing.</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Virtual keyboards are smaller than personal computer keyboards, it is hard to type with 10 fingers and they provide no tactile feedback.</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The MobileApp must be tested to ensure that it allows easy error correction and can manage mistyped words without crashing.</a:t>
            </a:r>
          </a:p>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Predictive technologies </a:t>
            </a:r>
            <a:r>
              <a:rPr lang="en-US" noProof="0" dirty="0">
                <a:latin typeface="Times New Roman" panose="02020603050405020304" pitchFamily="18" charset="0"/>
                <a:cs typeface="Times New Roman" panose="02020603050405020304" pitchFamily="18" charset="0"/>
              </a:rPr>
              <a:t>(that is, autocompletion of partially typed words) are often used with to help expedite user input. </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It is important to test the correctness of the word completions for the natural language chosen by the user.</a:t>
            </a:r>
            <a:endParaRPr lang="en-US" altLang="en-US" sz="2400" b="1"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9</a:t>
            </a:fld>
            <a:endParaRPr lang="en-US"/>
          </a:p>
        </p:txBody>
      </p:sp>
    </p:spTree>
    <p:extLst>
      <p:ext uri="{BB962C8B-B14F-4D97-AF65-F5344CB8AC3E}">
        <p14:creationId xmlns:p14="http://schemas.microsoft.com/office/powerpoint/2010/main" val="1774126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UX – Voice Input</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Voice input has become an increasingly common method for providing input and commands in hands-busy, eyes-busy situations.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Using voice commands to control a device impresses a greater cognitive load on the user, than pointing to a screen object or pressing a key.</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Testing the quality and reliability of voice input and recognition needs to take environmental conditions and individual voice variation into account.</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The MobileApp should be tested to ensure that bad input does not crash the MobileApp or the device.</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It is important to log errors to help developers improve the ability of the MobileApp to process speech input. </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10</a:t>
            </a:fld>
            <a:endParaRPr lang="en-US"/>
          </a:p>
        </p:txBody>
      </p:sp>
    </p:spTree>
    <p:extLst>
      <p:ext uri="{BB962C8B-B14F-4D97-AF65-F5344CB8AC3E}">
        <p14:creationId xmlns:p14="http://schemas.microsoft.com/office/powerpoint/2010/main" val="517039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229440"/>
            <a:ext cx="8639352" cy="829331"/>
          </a:xfrm>
        </p:spPr>
        <p:txBody>
          <a:bodyPr>
            <a:noAutofit/>
          </a:bodyPr>
          <a:lstStyle/>
          <a:p>
            <a:r>
              <a:rPr lang="en-US" sz="3600" noProof="0" dirty="0">
                <a:latin typeface="Times New Roman" panose="02020603050405020304" pitchFamily="18" charset="0"/>
                <a:cs typeface="Times New Roman" panose="02020603050405020304" pitchFamily="18" charset="0"/>
              </a:rPr>
              <a:t>UX – Alerts and Extraordinary Conditions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Part of MobileApp testing should focus on the usability issues relating to alerts and pop-up messages.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Testing should examine the clarity and context of alerts, the appropriateness of their location on the device display screen,</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When foreign languages are involved, verification that the translation from one language to another is correct.</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You should not rely solely on testing in a development environment and you must test MobileApp in the wild on actual devices.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Apps must recover from faults and resume processing with little or no downtime and in some cases the system must be fault tolerant. </a:t>
            </a:r>
          </a:p>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Recovery testing </a:t>
            </a:r>
            <a:r>
              <a:rPr lang="en-US" noProof="0" dirty="0">
                <a:latin typeface="Times New Roman" panose="02020603050405020304" pitchFamily="18" charset="0"/>
                <a:cs typeface="Times New Roman" panose="02020603050405020304" pitchFamily="18" charset="0"/>
              </a:rPr>
              <a:t>is a system test that forces the software to fail in a variety of ways and verifies that recovery is properly performed. </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11</a:t>
            </a:fld>
            <a:endParaRPr lang="en-US"/>
          </a:p>
        </p:txBody>
      </p:sp>
    </p:spTree>
    <p:extLst>
      <p:ext uri="{BB962C8B-B14F-4D97-AF65-F5344CB8AC3E}">
        <p14:creationId xmlns:p14="http://schemas.microsoft.com/office/powerpoint/2010/main" val="1999462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Web App Testing Steps 1 </a:t>
            </a:r>
            <a:r>
              <a:rPr lang="en-US" sz="1000" b="0" noProof="0" dirty="0">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630316"/>
          </a:xfrm>
        </p:spPr>
        <p:txBody>
          <a:bodyPr vert="horz" lIns="91440" tIns="45720" rIns="91440" bIns="45720" rtlCol="0">
            <a:noAutofit/>
          </a:bodyPr>
          <a:lstStyle/>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The content model for the WebApp is reviewed to uncover errors.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The interface model is reviewed to ensure that all use cases can be accommodated.</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The design model for the WebApp is reviewed to uncover navigation errors.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The user interface is tested to uncover errors in presentation and/or navigation mechanics.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Each functional component is unit tested.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12</a:t>
            </a:fld>
            <a:endParaRPr lang="en-US"/>
          </a:p>
        </p:txBody>
      </p:sp>
    </p:spTree>
    <p:extLst>
      <p:ext uri="{BB962C8B-B14F-4D97-AF65-F5344CB8AC3E}">
        <p14:creationId xmlns:p14="http://schemas.microsoft.com/office/powerpoint/2010/main" val="3927446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Web App Testing Steps 1 </a:t>
            </a:r>
            <a:r>
              <a:rPr lang="en-US" sz="1000" b="0" noProof="0" dirty="0">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630316"/>
          </a:xfrm>
        </p:spPr>
        <p:txBody>
          <a:bodyPr vert="horz" lIns="91440" tIns="45720" rIns="91440" bIns="45720" rtlCol="0">
            <a:noAutofit/>
          </a:bodyPr>
          <a:lstStyle/>
          <a:p>
            <a:pPr marL="403200" indent="-403200">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Navigation throughout the architecture is tested.</a:t>
            </a:r>
          </a:p>
          <a:p>
            <a:pPr marL="403200" indent="-403200">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The WebApp is implemented in a variety of different environmental configurations and is tested for compatibility with each configuration.</a:t>
            </a:r>
          </a:p>
          <a:p>
            <a:pPr marL="403200" indent="-403200">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Security tests are conducted in an attempt to exploit vulnerabilities in the WebApp or within its environment.</a:t>
            </a:r>
          </a:p>
          <a:p>
            <a:pPr marL="403200" indent="-403200">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Performance tests are conducted.</a:t>
            </a:r>
          </a:p>
          <a:p>
            <a:pPr marL="533400" indent="-533400">
              <a:spcBef>
                <a:spcPts val="1000"/>
              </a:spcBef>
              <a:spcAft>
                <a:spcPts val="0"/>
              </a:spcAft>
              <a:buFont typeface="+mj-lt"/>
              <a:buAutoNum type="arabicPeriod" startAt="6"/>
            </a:pPr>
            <a:r>
              <a:rPr lang="en-US" sz="2400" noProof="0" dirty="0">
                <a:latin typeface="Times New Roman" panose="02020603050405020304" pitchFamily="18" charset="0"/>
                <a:cs typeface="Times New Roman" panose="02020603050405020304" pitchFamily="18" charset="0"/>
              </a:rPr>
              <a:t>The WebApp is tested by a controlled and monitored population of end users. The results of their interaction with the system are evaluated for errors.</a:t>
            </a:r>
            <a:endParaRPr lang="en-US" altLang="en-US" sz="2400" b="1"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13</a:t>
            </a:fld>
            <a:endParaRPr lang="en-US"/>
          </a:p>
        </p:txBody>
      </p:sp>
    </p:spTree>
    <p:extLst>
      <p:ext uri="{BB962C8B-B14F-4D97-AF65-F5344CB8AC3E}">
        <p14:creationId xmlns:p14="http://schemas.microsoft.com/office/powerpoint/2010/main" val="2743422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97651"/>
            <a:ext cx="8458200" cy="1092909"/>
          </a:xfrm>
        </p:spPr>
        <p:txBody>
          <a:bodyPr>
            <a:noAutofit/>
          </a:bodyPr>
          <a:lstStyle/>
          <a:p>
            <a:r>
              <a:rPr lang="en-US" sz="4000" noProof="0" dirty="0">
                <a:latin typeface="Times New Roman" panose="02020603050405020304" pitchFamily="18" charset="0"/>
                <a:cs typeface="Times New Roman" panose="02020603050405020304" pitchFamily="18" charset="0"/>
              </a:rPr>
              <a:t>Add Body Slides in this Portion Presentation </a:t>
            </a:r>
            <a:r>
              <a:rPr lang="en-US" sz="1000" b="0" noProof="0" dirty="0">
                <a:latin typeface="Times New Roman" panose="02020603050405020304" pitchFamily="18" charset="0"/>
                <a:cs typeface="Times New Roman" panose="02020603050405020304" pitchFamily="18" charset="0"/>
              </a:rPr>
              <a:t>2</a:t>
            </a:r>
          </a:p>
        </p:txBody>
      </p:sp>
      <p:pic>
        <p:nvPicPr>
          <p:cNvPr id="5" name="Picture 4" descr="An illustration shows a pyramid which is labeled technology at the bottom and user on the top.&#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07507" y="1434088"/>
            <a:ext cx="6128987" cy="4749115"/>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2971558" y="6324600"/>
            <a:ext cx="3200885" cy="190500"/>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14</a:t>
            </a:fld>
            <a:endParaRPr lang="en-US"/>
          </a:p>
        </p:txBody>
      </p:sp>
    </p:spTree>
    <p:extLst>
      <p:ext uri="{BB962C8B-B14F-4D97-AF65-F5344CB8AC3E}">
        <p14:creationId xmlns:p14="http://schemas.microsoft.com/office/powerpoint/2010/main" val="2637959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Web App – Content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630316"/>
          </a:xfrm>
        </p:spPr>
        <p:txBody>
          <a:bodyPr vert="horz" lIns="91440" tIns="45720" rIns="91440" bIns="45720" rtlCol="0">
            <a:noAutofit/>
          </a:bodyPr>
          <a:lstStyle/>
          <a:p>
            <a:r>
              <a:rPr lang="en-US" altLang="en-US" sz="2400" noProof="0" dirty="0">
                <a:latin typeface="Times New Roman" panose="02020603050405020304" pitchFamily="18" charset="0"/>
                <a:cs typeface="Times New Roman" panose="02020603050405020304" pitchFamily="18" charset="0"/>
              </a:rPr>
              <a:t>Content testing has three important objectives: </a:t>
            </a:r>
          </a:p>
          <a:p>
            <a:pPr marL="403200" lvl="1" indent="-403200">
              <a:spcBef>
                <a:spcPts val="1000"/>
              </a:spcBef>
              <a:spcAft>
                <a:spcPts val="0"/>
              </a:spcAft>
              <a:buFont typeface="+mj-lt"/>
              <a:buAutoNum type="arabicPeriod"/>
            </a:pPr>
            <a:r>
              <a:rPr lang="en-US" altLang="en-US" sz="2400" noProof="0" dirty="0">
                <a:latin typeface="Times New Roman" panose="02020603050405020304" pitchFamily="18" charset="0"/>
                <a:cs typeface="Times New Roman" panose="02020603050405020304" pitchFamily="18" charset="0"/>
              </a:rPr>
              <a:t>to uncover syntactic errors (for example, typos, grammar mistakes) in text-based documents, graphical representations, and other media.</a:t>
            </a:r>
          </a:p>
          <a:p>
            <a:pPr marL="403200" lvl="1" indent="-403200">
              <a:spcBef>
                <a:spcPts val="1000"/>
              </a:spcBef>
              <a:spcAft>
                <a:spcPts val="0"/>
              </a:spcAft>
              <a:buFont typeface="+mj-lt"/>
              <a:buAutoNum type="arabicPeriod"/>
            </a:pPr>
            <a:r>
              <a:rPr lang="en-US" altLang="en-US" sz="2400" noProof="0" dirty="0">
                <a:latin typeface="Times New Roman" panose="02020603050405020304" pitchFamily="18" charset="0"/>
                <a:cs typeface="Times New Roman" panose="02020603050405020304" pitchFamily="18" charset="0"/>
              </a:rPr>
              <a:t>to uncover semantic errors (that is, errors in the accuracy or completeness of information) in any content object presented as navigation occurs, and.</a:t>
            </a:r>
          </a:p>
          <a:p>
            <a:pPr marL="403200" lvl="1" indent="-403200">
              <a:spcBef>
                <a:spcPts val="1000"/>
              </a:spcBef>
              <a:spcAft>
                <a:spcPts val="0"/>
              </a:spcAft>
              <a:buFont typeface="+mj-lt"/>
              <a:buAutoNum type="arabicPeriod"/>
            </a:pPr>
            <a:r>
              <a:rPr lang="en-US" altLang="en-US" sz="2400" noProof="0" dirty="0">
                <a:latin typeface="Times New Roman" panose="02020603050405020304" pitchFamily="18" charset="0"/>
                <a:cs typeface="Times New Roman" panose="02020603050405020304" pitchFamily="18" charset="0"/>
              </a:rPr>
              <a:t>to find errors in the organization or structure of content that is presented to the end-user.</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15</a:t>
            </a:fld>
            <a:endParaRPr lang="en-US"/>
          </a:p>
        </p:txBody>
      </p:sp>
    </p:spTree>
    <p:extLst>
      <p:ext uri="{BB962C8B-B14F-4D97-AF65-F5344CB8AC3E}">
        <p14:creationId xmlns:p14="http://schemas.microsoft.com/office/powerpoint/2010/main" val="336039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Assessing Content Sematics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7"/>
            <a:ext cx="8191500" cy="4943476"/>
          </a:xfrm>
        </p:spPr>
        <p:txBody>
          <a:bodyPr vert="horz" lIns="91440" tIns="45720" rIns="91440" bIns="45720" rtlCol="0">
            <a:noAutofit/>
          </a:bodyPr>
          <a:lstStyle/>
          <a:p>
            <a:pPr marL="291600" indent="-291600">
              <a:lnSpc>
                <a:spcPct val="90000"/>
              </a:lnSpc>
              <a:spcBef>
                <a:spcPts val="600"/>
              </a:spcBef>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Is the information factually accurate?</a:t>
            </a:r>
          </a:p>
          <a:p>
            <a:pPr marL="291600" indent="-291600">
              <a:lnSpc>
                <a:spcPct val="90000"/>
              </a:lnSpc>
              <a:spcBef>
                <a:spcPts val="300"/>
              </a:spcBef>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Is the information concise and to the point?</a:t>
            </a:r>
          </a:p>
          <a:p>
            <a:pPr marL="291600" indent="-291600">
              <a:lnSpc>
                <a:spcPct val="90000"/>
              </a:lnSpc>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Is the layout of the content object easy for the user to understand?</a:t>
            </a:r>
          </a:p>
          <a:p>
            <a:pPr marL="291600" indent="-291600">
              <a:lnSpc>
                <a:spcPct val="90000"/>
              </a:lnSpc>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Can information embedded within a content object be found easily?</a:t>
            </a:r>
          </a:p>
          <a:p>
            <a:pPr marL="291600" indent="-291600">
              <a:lnSpc>
                <a:spcPct val="90000"/>
              </a:lnSpc>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Have proper references been provided for all information derived from other sources?</a:t>
            </a:r>
          </a:p>
          <a:p>
            <a:pPr marL="291600" indent="-291600">
              <a:lnSpc>
                <a:spcPct val="90000"/>
              </a:lnSpc>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Is the information presented consistent internally and consistent with information presented in other content objects?</a:t>
            </a:r>
          </a:p>
          <a:p>
            <a:pPr marL="291600" indent="-291600">
              <a:lnSpc>
                <a:spcPct val="90000"/>
              </a:lnSpc>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Is content offensive, misleading, or an open door to litigation?</a:t>
            </a:r>
          </a:p>
          <a:p>
            <a:pPr marL="291600" indent="-291600">
              <a:lnSpc>
                <a:spcPct val="90000"/>
              </a:lnSpc>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Does the content infringe on existing copyrights or trademarks?</a:t>
            </a:r>
          </a:p>
          <a:p>
            <a:pPr marL="291600" indent="-291600">
              <a:lnSpc>
                <a:spcPct val="90000"/>
              </a:lnSpc>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Does the content contain internal links that supplement existing content? Are the links correct?</a:t>
            </a:r>
          </a:p>
          <a:p>
            <a:pPr marL="291600" indent="-291600">
              <a:lnSpc>
                <a:spcPct val="90000"/>
              </a:lnSpc>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Does the aesthetic style of the content conflict with the aesthetic style of the interface?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16</a:t>
            </a:fld>
            <a:endParaRPr lang="en-US"/>
          </a:p>
        </p:txBody>
      </p:sp>
    </p:spTree>
    <p:extLst>
      <p:ext uri="{BB962C8B-B14F-4D97-AF65-F5344CB8AC3E}">
        <p14:creationId xmlns:p14="http://schemas.microsoft.com/office/powerpoint/2010/main" val="1255932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Web App – Interface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7894819"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Interface features tested to ensure design rules, aesthetics, and content is available to user without error.</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Individual interface mechanisms are tested in a manner that is analogous to unit testing.</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Each interface mechanism is tested within the context of a use-case or N</a:t>
            </a:r>
            <a:r>
              <a:rPr lang="en-US" altLang="en-US" sz="100" noProof="0" dirty="0">
                <a:latin typeface="Times New Roman" panose="02020603050405020304" pitchFamily="18" charset="0"/>
                <a:cs typeface="Times New Roman" panose="02020603050405020304" pitchFamily="18" charset="0"/>
              </a:rPr>
              <a:t> </a:t>
            </a:r>
            <a:r>
              <a:rPr lang="en-US" altLang="en-US" sz="2400" noProof="0" dirty="0">
                <a:latin typeface="Times New Roman" panose="02020603050405020304" pitchFamily="18" charset="0"/>
                <a:cs typeface="Times New Roman" panose="02020603050405020304" pitchFamily="18" charset="0"/>
              </a:rPr>
              <a:t>S</a:t>
            </a:r>
            <a:r>
              <a:rPr lang="en-US" altLang="en-US" sz="100" noProof="0" dirty="0">
                <a:latin typeface="Times New Roman" panose="02020603050405020304" pitchFamily="18" charset="0"/>
                <a:cs typeface="Times New Roman" panose="02020603050405020304" pitchFamily="18" charset="0"/>
              </a:rPr>
              <a:t> </a:t>
            </a:r>
            <a:r>
              <a:rPr lang="en-US" altLang="en-US" sz="2400" noProof="0" dirty="0">
                <a:latin typeface="Times New Roman" panose="02020603050405020304" pitchFamily="18" charset="0"/>
                <a:cs typeface="Times New Roman" panose="02020603050405020304" pitchFamily="18" charset="0"/>
              </a:rPr>
              <a:t>U for a specific user category.</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Complete interface is tested against selected use-cases and N</a:t>
            </a:r>
            <a:r>
              <a:rPr lang="en-US" altLang="en-US" sz="100" noProof="0" dirty="0">
                <a:latin typeface="Times New Roman" panose="02020603050405020304" pitchFamily="18" charset="0"/>
                <a:cs typeface="Times New Roman" panose="02020603050405020304" pitchFamily="18" charset="0"/>
              </a:rPr>
              <a:t> </a:t>
            </a:r>
            <a:r>
              <a:rPr lang="en-US" altLang="en-US" sz="2400" noProof="0" dirty="0">
                <a:latin typeface="Times New Roman" panose="02020603050405020304" pitchFamily="18" charset="0"/>
                <a:cs typeface="Times New Roman" panose="02020603050405020304" pitchFamily="18" charset="0"/>
              </a:rPr>
              <a:t>S</a:t>
            </a:r>
            <a:r>
              <a:rPr lang="en-US" altLang="en-US" sz="100" noProof="0" dirty="0">
                <a:latin typeface="Times New Roman" panose="02020603050405020304" pitchFamily="18" charset="0"/>
                <a:cs typeface="Times New Roman" panose="02020603050405020304" pitchFamily="18" charset="0"/>
              </a:rPr>
              <a:t> </a:t>
            </a:r>
            <a:r>
              <a:rPr lang="en-US" altLang="en-US" sz="2400" noProof="0" dirty="0">
                <a:latin typeface="Times New Roman" panose="02020603050405020304" pitchFamily="18" charset="0"/>
                <a:cs typeface="Times New Roman" panose="02020603050405020304" pitchFamily="18" charset="0"/>
              </a:rPr>
              <a:t>Us to uncover errors in interface semantics.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The interface is tested within a variety of environments (for example, browsers) to ensure that it will be compatible.</a:t>
            </a:r>
            <a:r>
              <a:rPr lang="en-US" altLang="en-US" sz="2400" i="1" noProof="0" dirty="0">
                <a:latin typeface="Times New Roman" panose="02020603050405020304" pitchFamily="18" charset="0"/>
                <a:cs typeface="Times New Roman" panose="02020603050405020304" pitchFamily="18" charset="0"/>
              </a:rPr>
              <a:t> </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17</a:t>
            </a:fld>
            <a:endParaRPr lang="en-US"/>
          </a:p>
        </p:txBody>
      </p:sp>
    </p:spTree>
    <p:extLst>
      <p:ext uri="{BB962C8B-B14F-4D97-AF65-F5344CB8AC3E}">
        <p14:creationId xmlns:p14="http://schemas.microsoft.com/office/powerpoint/2010/main" val="3613784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Web App – Navigation Testing 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825780"/>
          </a:xfrm>
        </p:spPr>
        <p:txBody>
          <a:bodyPr vert="horz" lIns="91440" tIns="45720" rIns="91440" bIns="45720" rtlCol="0">
            <a:noAutofit/>
          </a:bodyPr>
          <a:lstStyle/>
          <a:p>
            <a:pPr>
              <a:spcAft>
                <a:spcPts val="0"/>
              </a:spcAft>
            </a:pPr>
            <a:r>
              <a:rPr lang="en-US" noProof="0" dirty="0">
                <a:latin typeface="Times New Roman" panose="02020603050405020304" pitchFamily="18" charset="0"/>
                <a:cs typeface="Times New Roman" panose="02020603050405020304" pitchFamily="18" charset="0"/>
              </a:rPr>
              <a:t>Answer these questions as each N</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S</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U or use case is tested:</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Is the N</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S</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U achieved in its entirety without error?</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Is every navigation node (defined for an N</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S</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U) reachable within the context of the navigation paths defined for the N</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S</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U?</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If the N</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S</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U can be achieved using more than one navigation path, has every relevant path been tested?</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If guidance is provided by the user interface to assist in navigation, are directions correct and understandable as navigation proceeds?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Is there a mechanism (other than the browser “back” arrow) for returning to the preceding navigation node and to the beginning of the navigation path?</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Do mechanisms for navigation within a large navigation node (that is, a long Web page) work properly?</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18</a:t>
            </a:fld>
            <a:endParaRPr lang="en-US"/>
          </a:p>
        </p:txBody>
      </p:sp>
    </p:spTree>
    <p:extLst>
      <p:ext uri="{BB962C8B-B14F-4D97-AF65-F5344CB8AC3E}">
        <p14:creationId xmlns:p14="http://schemas.microsoft.com/office/powerpoint/2010/main" val="2189504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Web App – Navigation Testing 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7"/>
            <a:ext cx="8191500" cy="5079378"/>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If a function is to be executed at a node and the user chooses not to provide input, can the remainder of the N</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S</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U be completed?</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If a function is executed at a node and an error in function processing occurs, can the N</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S</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U be completed?</a:t>
            </a:r>
            <a:endParaRPr lang="en-US" sz="4000" noProof="0" dirty="0">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Is there a way to discontinue the navigation before all nodes have been reached, but then return to where the navigation was discontinued and proceed from there?</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Is every node reachable from the site map? Are node names meaningful to end users?</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If a node within an N</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S</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U is reached from some external source, is it possible to process to the next node on the navigation path? Is it possible to return to the previous node on the navigation path?</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Does the user understand his location within the content architecture as the N</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S</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U is executed?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19</a:t>
            </a:fld>
            <a:endParaRPr lang="en-US"/>
          </a:p>
        </p:txBody>
      </p:sp>
    </p:spTree>
    <p:extLst>
      <p:ext uri="{BB962C8B-B14F-4D97-AF65-F5344CB8AC3E}">
        <p14:creationId xmlns:p14="http://schemas.microsoft.com/office/powerpoint/2010/main" val="1464842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Internationalization and Localization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7"/>
            <a:ext cx="8191500" cy="4814705"/>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Internationalization</a:t>
            </a:r>
            <a:r>
              <a:rPr lang="en-US" i="1"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is the process of creating a software product so that it can be used in several countries and with various languages without requiring any engineering changes. </a:t>
            </a:r>
          </a:p>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Localization</a:t>
            </a:r>
            <a:r>
              <a:rPr lang="en-US" i="1"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is the process of adapting a software application for use in targeted global regions by adding locale-specific requirements and translating text elements to appropriate languages.</a:t>
            </a:r>
          </a:p>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Crowdsourcing</a:t>
            </a:r>
            <a:r>
              <a:rPr lang="en-US" i="1"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is a distributed problem-solving model where community members work on solutions to problems posted to the group. </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Crowdsourcing can be used to engage localization testers dispersed around the globe outside of the development environment. </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20</a:t>
            </a:fld>
            <a:endParaRPr lang="en-US"/>
          </a:p>
        </p:txBody>
      </p:sp>
    </p:spTree>
    <p:extLst>
      <p:ext uri="{BB962C8B-B14F-4D97-AF65-F5344CB8AC3E}">
        <p14:creationId xmlns:p14="http://schemas.microsoft.com/office/powerpoint/2010/main" val="3152190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Security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7"/>
            <a:ext cx="8191500" cy="4814705"/>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Designed to probe vulnerabilities of the client-side environment, the network communications that occur as data are passed from client to server and back again, and the server-side environment.</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On the client-side, vulnerabilities can often be traced to pre-existing bugs in browsers, e-mail programs, or communication software.</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On the server-side, vulnerabilities include denial-of-service attacks and malicious scripts that can be passed along to the client-side or used to disable server operations.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21</a:t>
            </a:fld>
            <a:endParaRPr lang="en-US"/>
          </a:p>
        </p:txBody>
      </p:sp>
    </p:spTree>
    <p:extLst>
      <p:ext uri="{BB962C8B-B14F-4D97-AF65-F5344CB8AC3E}">
        <p14:creationId xmlns:p14="http://schemas.microsoft.com/office/powerpoint/2010/main" val="1759814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Performance Testing</a:t>
            </a:r>
            <a:endParaRPr lang="en-US" sz="1000" b="0"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5155988"/>
          </a:xfrm>
        </p:spPr>
        <p:txBody>
          <a:bodyPr vert="horz" lIns="91440" tIns="45720" rIns="91440" bIns="45720" rtlCol="0">
            <a:noAutofit/>
          </a:bodyPr>
          <a:lstStyle/>
          <a:p>
            <a:pPr>
              <a:spcBef>
                <a:spcPts val="800"/>
              </a:spcBef>
              <a:spcAft>
                <a:spcPts val="0"/>
              </a:spcAft>
            </a:pPr>
            <a:r>
              <a:rPr lang="en-US" altLang="en-US" sz="2400" noProof="0" dirty="0">
                <a:latin typeface="Times New Roman" panose="02020603050405020304" pitchFamily="18" charset="0"/>
                <a:cs typeface="Times New Roman" panose="02020603050405020304" pitchFamily="18" charset="0"/>
              </a:rPr>
              <a:t>Does the server response time degrade to a point where it is noticeable and unacceptable?</a:t>
            </a:r>
          </a:p>
          <a:p>
            <a:pPr>
              <a:spcBef>
                <a:spcPts val="800"/>
              </a:spcBef>
              <a:spcAft>
                <a:spcPts val="0"/>
              </a:spcAft>
            </a:pPr>
            <a:r>
              <a:rPr lang="en-US" altLang="en-US" sz="2400" noProof="0" dirty="0">
                <a:latin typeface="Times New Roman" panose="02020603050405020304" pitchFamily="18" charset="0"/>
                <a:cs typeface="Times New Roman" panose="02020603050405020304" pitchFamily="18" charset="0"/>
              </a:rPr>
              <a:t>At what point does performance become unacceptable?</a:t>
            </a:r>
          </a:p>
          <a:p>
            <a:pPr>
              <a:spcBef>
                <a:spcPts val="800"/>
              </a:spcBef>
              <a:spcAft>
                <a:spcPts val="0"/>
              </a:spcAft>
            </a:pPr>
            <a:r>
              <a:rPr lang="en-US" altLang="en-US" sz="2400" noProof="0" dirty="0">
                <a:latin typeface="Times New Roman" panose="02020603050405020304" pitchFamily="18" charset="0"/>
                <a:cs typeface="Times New Roman" panose="02020603050405020304" pitchFamily="18" charset="0"/>
              </a:rPr>
              <a:t>What system components are responsible for performance degradation?</a:t>
            </a:r>
          </a:p>
          <a:p>
            <a:pPr>
              <a:spcBef>
                <a:spcPts val="800"/>
              </a:spcBef>
              <a:spcAft>
                <a:spcPts val="0"/>
              </a:spcAft>
            </a:pPr>
            <a:r>
              <a:rPr lang="en-US" altLang="en-US" sz="2400" noProof="0" dirty="0">
                <a:latin typeface="Times New Roman" panose="02020603050405020304" pitchFamily="18" charset="0"/>
                <a:cs typeface="Times New Roman" panose="02020603050405020304" pitchFamily="18" charset="0"/>
              </a:rPr>
              <a:t>What is the average response time for users under a variety of loading conditions?</a:t>
            </a:r>
          </a:p>
          <a:p>
            <a:pPr>
              <a:spcBef>
                <a:spcPts val="800"/>
              </a:spcBef>
              <a:spcAft>
                <a:spcPts val="0"/>
              </a:spcAft>
            </a:pPr>
            <a:r>
              <a:rPr lang="en-US" altLang="en-US" sz="2400" noProof="0" dirty="0">
                <a:latin typeface="Times New Roman" panose="02020603050405020304" pitchFamily="18" charset="0"/>
                <a:cs typeface="Times New Roman" panose="02020603050405020304" pitchFamily="18" charset="0"/>
              </a:rPr>
              <a:t>Does performance degradation have an impact on system security?</a:t>
            </a:r>
          </a:p>
          <a:p>
            <a:pPr>
              <a:spcBef>
                <a:spcPts val="800"/>
              </a:spcBef>
              <a:spcAft>
                <a:spcPts val="0"/>
              </a:spcAft>
            </a:pPr>
            <a:r>
              <a:rPr lang="en-US" altLang="en-US" sz="2400" noProof="0" dirty="0">
                <a:latin typeface="Times New Roman" panose="02020603050405020304" pitchFamily="18" charset="0"/>
                <a:cs typeface="Times New Roman" panose="02020603050405020304" pitchFamily="18" charset="0"/>
              </a:rPr>
              <a:t>Is WebApp reliability or accuracy affected as the load on the system grows?</a:t>
            </a:r>
          </a:p>
          <a:p>
            <a:pPr>
              <a:spcBef>
                <a:spcPts val="800"/>
              </a:spcBef>
              <a:spcAft>
                <a:spcPts val="0"/>
              </a:spcAft>
            </a:pPr>
            <a:r>
              <a:rPr lang="en-US" altLang="en-US" sz="2400" noProof="0" dirty="0">
                <a:latin typeface="Times New Roman" panose="02020603050405020304" pitchFamily="18" charset="0"/>
                <a:cs typeface="Times New Roman" panose="02020603050405020304" pitchFamily="18" charset="0"/>
              </a:rPr>
              <a:t>What happens when loads that are greater than maximum server capacity are applied?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22</a:t>
            </a:fld>
            <a:endParaRPr lang="en-US"/>
          </a:p>
        </p:txBody>
      </p:sp>
    </p:spTree>
    <p:extLst>
      <p:ext uri="{BB962C8B-B14F-4D97-AF65-F5344CB8AC3E}">
        <p14:creationId xmlns:p14="http://schemas.microsoft.com/office/powerpoint/2010/main" val="1454284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C6549-6A7C-413D-B490-56834A59A20C}"/>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Load Testing</a:t>
            </a:r>
            <a:endParaRPr lang="en-US" sz="4000" noProof="0" dirty="0"/>
          </a:p>
        </p:txBody>
      </p:sp>
      <p:sp>
        <p:nvSpPr>
          <p:cNvPr id="3" name="Content Placeholder 2">
            <a:extLst>
              <a:ext uri="{FF2B5EF4-FFF2-40B4-BE49-F238E27FC236}">
                <a16:creationId xmlns:a16="http://schemas.microsoft.com/office/drawing/2014/main" id="{F0DF5935-2A2E-41B8-8E00-115416E6D09A}"/>
              </a:ext>
            </a:extLst>
          </p:cNvPr>
          <p:cNvSpPr>
            <a:spLocks noGrp="1"/>
          </p:cNvSpPr>
          <p:nvPr>
            <p:ph sz="quarter" idx="11"/>
          </p:nvPr>
        </p:nvSpPr>
        <p:spPr>
          <a:xfrm>
            <a:off x="342900" y="1276709"/>
            <a:ext cx="8458200" cy="855951"/>
          </a:xfrm>
        </p:spPr>
        <p:txBody>
          <a:bodyPr>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The intent is to determine how the WebApp and its server-side environment will respond to various loading conditions.</a:t>
            </a:r>
            <a:endParaRPr lang="en-US" sz="2400" noProof="0" dirty="0"/>
          </a:p>
        </p:txBody>
      </p:sp>
      <p:sp>
        <p:nvSpPr>
          <p:cNvPr id="4" name="Content Placeholder 3">
            <a:extLst>
              <a:ext uri="{FF2B5EF4-FFF2-40B4-BE49-F238E27FC236}">
                <a16:creationId xmlns:a16="http://schemas.microsoft.com/office/drawing/2014/main" id="{B3A83E9C-90AC-45CD-BC77-1D7EC781AD8B}"/>
              </a:ext>
            </a:extLst>
          </p:cNvPr>
          <p:cNvSpPr>
            <a:spLocks noGrp="1"/>
          </p:cNvSpPr>
          <p:nvPr>
            <p:ph sz="quarter" idx="14"/>
          </p:nvPr>
        </p:nvSpPr>
        <p:spPr>
          <a:xfrm>
            <a:off x="1276538" y="2233450"/>
            <a:ext cx="7524561" cy="1659534"/>
          </a:xfrm>
        </p:spPr>
        <p:txBody>
          <a:bodyPr>
            <a:noAutofit/>
          </a:bodyPr>
          <a:lstStyle/>
          <a:p>
            <a:pPr marL="1588" lvl="1" indent="0">
              <a:spcBef>
                <a:spcPts val="600"/>
              </a:spcBef>
              <a:buNone/>
            </a:pPr>
            <a:r>
              <a:rPr lang="en-US" altLang="en-US" sz="2400" i="1" noProof="0" dirty="0">
                <a:latin typeface="Times New Roman" panose="02020603050405020304" pitchFamily="18" charset="0"/>
                <a:cs typeface="Times New Roman" panose="02020603050405020304" pitchFamily="18" charset="0"/>
              </a:rPr>
              <a:t>N,</a:t>
            </a:r>
            <a:r>
              <a:rPr lang="en-US" altLang="en-US" sz="2400" noProof="0" dirty="0">
                <a:latin typeface="Times New Roman" panose="02020603050405020304" pitchFamily="18" charset="0"/>
                <a:cs typeface="Times New Roman" panose="02020603050405020304" pitchFamily="18" charset="0"/>
              </a:rPr>
              <a:t> number of concurrent users</a:t>
            </a:r>
          </a:p>
          <a:p>
            <a:pPr marL="1588" lvl="1" indent="0">
              <a:spcBef>
                <a:spcPts val="300"/>
              </a:spcBef>
              <a:buNone/>
            </a:pPr>
            <a:r>
              <a:rPr lang="en-US" altLang="en-US" sz="2400" i="1" noProof="0" dirty="0">
                <a:latin typeface="Times New Roman" panose="02020603050405020304" pitchFamily="18" charset="0"/>
                <a:cs typeface="Times New Roman" panose="02020603050405020304" pitchFamily="18" charset="0"/>
              </a:rPr>
              <a:t>T,</a:t>
            </a:r>
            <a:r>
              <a:rPr lang="en-US" altLang="en-US" sz="2400" noProof="0" dirty="0">
                <a:latin typeface="Times New Roman" panose="02020603050405020304" pitchFamily="18" charset="0"/>
                <a:cs typeface="Times New Roman" panose="02020603050405020304" pitchFamily="18" charset="0"/>
              </a:rPr>
              <a:t> number of on-line transactions per unit of time</a:t>
            </a:r>
          </a:p>
          <a:p>
            <a:pPr marL="1588" lvl="1" indent="0">
              <a:buNone/>
            </a:pPr>
            <a:r>
              <a:rPr lang="en-US" altLang="en-US" sz="2400" i="1" noProof="0" dirty="0">
                <a:latin typeface="Times New Roman" panose="02020603050405020304" pitchFamily="18" charset="0"/>
                <a:cs typeface="Times New Roman" panose="02020603050405020304" pitchFamily="18" charset="0"/>
              </a:rPr>
              <a:t>D,</a:t>
            </a:r>
            <a:r>
              <a:rPr lang="en-US" altLang="en-US" sz="2400" noProof="0" dirty="0">
                <a:latin typeface="Times New Roman" panose="02020603050405020304" pitchFamily="18" charset="0"/>
                <a:cs typeface="Times New Roman" panose="02020603050405020304" pitchFamily="18" charset="0"/>
              </a:rPr>
              <a:t> data load processed by server per transaction</a:t>
            </a:r>
            <a:endParaRPr lang="en-US" sz="2400" noProof="0" dirty="0"/>
          </a:p>
        </p:txBody>
      </p:sp>
      <p:sp>
        <p:nvSpPr>
          <p:cNvPr id="5" name="Content Placeholder 4">
            <a:extLst>
              <a:ext uri="{FF2B5EF4-FFF2-40B4-BE49-F238E27FC236}">
                <a16:creationId xmlns:a16="http://schemas.microsoft.com/office/drawing/2014/main" id="{48E63403-65CA-4F0C-B453-A351A662E47F}"/>
              </a:ext>
            </a:extLst>
          </p:cNvPr>
          <p:cNvSpPr>
            <a:spLocks noGrp="1"/>
          </p:cNvSpPr>
          <p:nvPr>
            <p:ph sz="quarter" idx="15"/>
          </p:nvPr>
        </p:nvSpPr>
        <p:spPr>
          <a:xfrm>
            <a:off x="342900" y="4068838"/>
            <a:ext cx="8458200" cy="530324"/>
          </a:xfrm>
        </p:spPr>
        <p:txBody>
          <a:bodyPr>
            <a:norm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Overall throughput, </a:t>
            </a:r>
            <a:r>
              <a:rPr lang="en-US" altLang="en-US" sz="2400" i="1" noProof="0" dirty="0">
                <a:latin typeface="Times New Roman" panose="02020603050405020304" pitchFamily="18" charset="0"/>
                <a:cs typeface="Times New Roman" panose="02020603050405020304" pitchFamily="18" charset="0"/>
              </a:rPr>
              <a:t>P,</a:t>
            </a:r>
            <a:r>
              <a:rPr lang="en-US" altLang="en-US" sz="2400" noProof="0" dirty="0">
                <a:latin typeface="Times New Roman" panose="02020603050405020304" pitchFamily="18" charset="0"/>
                <a:cs typeface="Times New Roman" panose="02020603050405020304" pitchFamily="18" charset="0"/>
              </a:rPr>
              <a:t> is computed in the following manner:</a:t>
            </a:r>
            <a:endParaRPr lang="en-US" sz="2400" noProof="0" dirty="0"/>
          </a:p>
        </p:txBody>
      </p:sp>
      <p:sp>
        <p:nvSpPr>
          <p:cNvPr id="6" name="Content Placeholder 5">
            <a:extLst>
              <a:ext uri="{FF2B5EF4-FFF2-40B4-BE49-F238E27FC236}">
                <a16:creationId xmlns:a16="http://schemas.microsoft.com/office/drawing/2014/main" id="{7B8469BA-61BB-49B5-BC9A-CB63986FD2CE}"/>
              </a:ext>
            </a:extLst>
          </p:cNvPr>
          <p:cNvSpPr>
            <a:spLocks noGrp="1"/>
          </p:cNvSpPr>
          <p:nvPr>
            <p:ph sz="quarter" idx="16"/>
          </p:nvPr>
        </p:nvSpPr>
        <p:spPr>
          <a:xfrm>
            <a:off x="1276538" y="4699951"/>
            <a:ext cx="2210177" cy="460434"/>
          </a:xfrm>
        </p:spPr>
        <p:txBody>
          <a:bodyPr>
            <a:normAutofit/>
          </a:bodyPr>
          <a:lstStyle/>
          <a:p>
            <a:r>
              <a:rPr lang="en-US" altLang="en-US" sz="2400" i="1" noProof="0" dirty="0">
                <a:latin typeface="Times New Roman" panose="02020603050405020304" pitchFamily="18" charset="0"/>
                <a:cs typeface="Times New Roman" panose="02020603050405020304" pitchFamily="18" charset="0"/>
              </a:rPr>
              <a:t>P = N</a:t>
            </a:r>
            <a:r>
              <a:rPr lang="en-US" altLang="en-US" sz="2400" noProof="0" dirty="0">
                <a:latin typeface="Times New Roman" panose="02020603050405020304" pitchFamily="18" charset="0"/>
                <a:cs typeface="Times New Roman" panose="02020603050405020304" pitchFamily="18" charset="0"/>
              </a:rPr>
              <a:t> ×</a:t>
            </a:r>
            <a:r>
              <a:rPr lang="en-US" altLang="en-US" sz="2400" i="1" noProof="0" dirty="0">
                <a:latin typeface="Times New Roman" panose="02020603050405020304" pitchFamily="18" charset="0"/>
                <a:cs typeface="Times New Roman" panose="02020603050405020304" pitchFamily="18" charset="0"/>
              </a:rPr>
              <a:t> T</a:t>
            </a:r>
            <a:r>
              <a:rPr lang="en-US" altLang="en-US" sz="2400" noProof="0" dirty="0">
                <a:latin typeface="Times New Roman" panose="02020603050405020304" pitchFamily="18" charset="0"/>
                <a:cs typeface="Times New Roman" panose="02020603050405020304" pitchFamily="18" charset="0"/>
              </a:rPr>
              <a:t> ×</a:t>
            </a:r>
            <a:r>
              <a:rPr lang="en-US" altLang="en-US" sz="2400" i="1" noProof="0" dirty="0">
                <a:latin typeface="Times New Roman" panose="02020603050405020304" pitchFamily="18" charset="0"/>
                <a:cs typeface="Times New Roman" panose="02020603050405020304" pitchFamily="18" charset="0"/>
              </a:rPr>
              <a:t> D</a:t>
            </a:r>
            <a:endParaRPr lang="en-US" sz="2400" noProof="0" dirty="0"/>
          </a:p>
        </p:txBody>
      </p:sp>
      <p:sp>
        <p:nvSpPr>
          <p:cNvPr id="11" name="Slide Number Placeholder 10">
            <a:extLst>
              <a:ext uri="{FF2B5EF4-FFF2-40B4-BE49-F238E27FC236}">
                <a16:creationId xmlns:a16="http://schemas.microsoft.com/office/drawing/2014/main" id="{10D04902-5070-4D3A-B83E-C4BC3C4B3CBC}"/>
              </a:ext>
            </a:extLst>
          </p:cNvPr>
          <p:cNvSpPr>
            <a:spLocks noGrp="1"/>
          </p:cNvSpPr>
          <p:nvPr>
            <p:ph type="sldNum" sz="quarter" idx="10"/>
          </p:nvPr>
        </p:nvSpPr>
        <p:spPr/>
        <p:txBody>
          <a:bodyPr/>
          <a:lstStyle/>
          <a:p>
            <a:fld id="{68151E55-6873-49E2-B8D5-2F265E6F1973}" type="slidenum">
              <a:rPr lang="en-US" smtClean="0"/>
              <a:t>23</a:t>
            </a:fld>
            <a:endParaRPr lang="en-US"/>
          </a:p>
        </p:txBody>
      </p:sp>
    </p:spTree>
    <p:extLst>
      <p:ext uri="{BB962C8B-B14F-4D97-AF65-F5344CB8AC3E}">
        <p14:creationId xmlns:p14="http://schemas.microsoft.com/office/powerpoint/2010/main" val="4209610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678611"/>
          </a:xfrm>
        </p:spPr>
        <p:txBody>
          <a:bodyPr>
            <a:noAutofit/>
          </a:bodyPr>
          <a:lstStyle/>
          <a:p>
            <a:r>
              <a:rPr lang="en-US" sz="4000" noProof="0" dirty="0">
                <a:latin typeface="Times New Roman" panose="02020603050405020304" pitchFamily="18" charset="0"/>
                <a:cs typeface="Times New Roman" panose="02020603050405020304" pitchFamily="18" charset="0"/>
              </a:rPr>
              <a:t>Stress Testing</a:t>
            </a:r>
            <a:endParaRPr lang="en-US" sz="1000" b="0"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7"/>
            <a:ext cx="8228648" cy="4127822"/>
          </a:xfrm>
        </p:spPr>
        <p:txBody>
          <a:bodyPr vert="horz" lIns="91440" tIns="45720" rIns="91440" bIns="45720" rtlCol="0">
            <a:noAutofit/>
          </a:bodyPr>
          <a:lstStyle/>
          <a:p>
            <a:r>
              <a:rPr lang="en-US" sz="2400" b="1" i="1" noProof="0" dirty="0">
                <a:latin typeface="Times New Roman" panose="02020603050405020304" pitchFamily="18" charset="0"/>
                <a:cs typeface="Times New Roman" panose="02020603050405020304" pitchFamily="18" charset="0"/>
              </a:rPr>
              <a:t>Stress testing </a:t>
            </a:r>
            <a:r>
              <a:rPr lang="en-US" sz="2400" noProof="0" dirty="0">
                <a:latin typeface="Times New Roman" panose="02020603050405020304" pitchFamily="18" charset="0"/>
                <a:cs typeface="Times New Roman" panose="02020603050405020304" pitchFamily="18" charset="0"/>
              </a:rPr>
              <a:t>for mobile apps attempts to find errors that occur under extreme operating conditions such as: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running several mobile apps on the same device.</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infecting system software with viruses or malware.</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attempting to take over a device and use it to spread spam.</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forcing the mobile app to process inordinately large numbers of transactions.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storing inordinately large quantities of data on the device</a:t>
            </a:r>
            <a:r>
              <a:rPr lang="en-US" noProof="0" dirty="0">
                <a:latin typeface="Times New Roman" panose="02020603050405020304" pitchFamily="18" charset="0"/>
                <a:cs typeface="Times New Roman" panose="02020603050405020304" pitchFamily="18" charset="0"/>
              </a:rPr>
              <a:t>.</a:t>
            </a:r>
            <a:endParaRPr lang="en-US" alt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24</a:t>
            </a:fld>
            <a:endParaRPr lang="en-US"/>
          </a:p>
        </p:txBody>
      </p:sp>
    </p:spTree>
    <p:extLst>
      <p:ext uri="{BB962C8B-B14F-4D97-AF65-F5344CB8AC3E}">
        <p14:creationId xmlns:p14="http://schemas.microsoft.com/office/powerpoint/2010/main" val="305351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639352" cy="678611"/>
          </a:xfrm>
        </p:spPr>
        <p:txBody>
          <a:bodyPr>
            <a:noAutofit/>
          </a:bodyPr>
          <a:lstStyle/>
          <a:p>
            <a:r>
              <a:rPr lang="en-US" sz="3600" noProof="0" dirty="0">
                <a:latin typeface="Times New Roman" panose="02020603050405020304" pitchFamily="18" charset="0"/>
                <a:cs typeface="Times New Roman" panose="02020603050405020304" pitchFamily="18" charset="0"/>
              </a:rPr>
              <a:t>Creating Weighted Device Platform Matrix</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2444685"/>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To mirror real-world conditions, the demographic characteristics of testers should match those of targeted users, as well as those of their devices.</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 </a:t>
            </a:r>
            <a:r>
              <a:rPr lang="en-US" sz="2400" b="1" i="1" noProof="0" dirty="0">
                <a:latin typeface="Times New Roman" panose="02020603050405020304" pitchFamily="18" charset="0"/>
                <a:cs typeface="Times New Roman" panose="02020603050405020304" pitchFamily="18" charset="0"/>
              </a:rPr>
              <a:t>weighted device platform matrix </a:t>
            </a:r>
            <a:r>
              <a:rPr lang="en-US" sz="2400" noProof="0" dirty="0">
                <a:latin typeface="Times New Roman" panose="02020603050405020304" pitchFamily="18" charset="0"/>
                <a:cs typeface="Times New Roman" panose="02020603050405020304" pitchFamily="18" charset="0"/>
              </a:rPr>
              <a:t>(W</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D</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P</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M) helps ensure that test coverage includes each combination of mobile device and context variables.</a:t>
            </a:r>
          </a:p>
        </p:txBody>
      </p:sp>
      <p:sp>
        <p:nvSpPr>
          <p:cNvPr id="7" name="Content Placeholder 6">
            <a:extLst>
              <a:ext uri="{FF2B5EF4-FFF2-40B4-BE49-F238E27FC236}">
                <a16:creationId xmlns:a16="http://schemas.microsoft.com/office/drawing/2014/main" id="{4B13B5DB-3E10-46BF-8B36-1201E1367B1A}"/>
              </a:ext>
            </a:extLst>
          </p:cNvPr>
          <p:cNvSpPr>
            <a:spLocks noGrp="1"/>
          </p:cNvSpPr>
          <p:nvPr>
            <p:ph sz="quarter" idx="14"/>
          </p:nvPr>
        </p:nvSpPr>
        <p:spPr>
          <a:xfrm>
            <a:off x="342900" y="3870253"/>
            <a:ext cx="8115300" cy="2307266"/>
          </a:xfrm>
        </p:spPr>
        <p:txBody>
          <a:bodyPr>
            <a:noAutofit/>
          </a:bodyPr>
          <a:lstStyle/>
          <a:p>
            <a:pPr marL="403200" indent="-403200">
              <a:spcBef>
                <a:spcPts val="1000"/>
              </a:spcBef>
              <a:spcAft>
                <a:spcPts val="0"/>
              </a:spcAft>
              <a:buFont typeface="+mj-lt"/>
              <a:buAutoNum type="arabicPeriod"/>
            </a:pPr>
            <a:r>
              <a:rPr lang="en-US" dirty="0">
                <a:latin typeface="Times New Roman" panose="02020603050405020304" pitchFamily="18" charset="0"/>
                <a:cs typeface="Times New Roman" panose="02020603050405020304" pitchFamily="18" charset="0"/>
              </a:rPr>
              <a:t>list the important operating system variants as the matrix column labels.</a:t>
            </a:r>
          </a:p>
          <a:p>
            <a:pPr marL="403200" indent="-403200">
              <a:spcBef>
                <a:spcPts val="1000"/>
              </a:spcBef>
              <a:spcAft>
                <a:spcPts val="0"/>
              </a:spcAft>
              <a:buFont typeface="+mj-lt"/>
              <a:buAutoNum type="arabicPeriod"/>
            </a:pPr>
            <a:r>
              <a:rPr lang="en-US" dirty="0">
                <a:latin typeface="Times New Roman" panose="02020603050405020304" pitchFamily="18" charset="0"/>
                <a:cs typeface="Times New Roman" panose="02020603050405020304" pitchFamily="18" charset="0"/>
              </a:rPr>
              <a:t>list the targeted devices as the matrix row labels.</a:t>
            </a:r>
          </a:p>
          <a:p>
            <a:pPr marL="403200" indent="-403200">
              <a:spcBef>
                <a:spcPts val="1000"/>
              </a:spcBef>
              <a:spcAft>
                <a:spcPts val="0"/>
              </a:spcAft>
              <a:buFont typeface="+mj-lt"/>
              <a:buAutoNum type="arabicPeriod"/>
            </a:pPr>
            <a:r>
              <a:rPr lang="en-US" dirty="0">
                <a:latin typeface="Times New Roman" panose="02020603050405020304" pitchFamily="18" charset="0"/>
                <a:cs typeface="Times New Roman" panose="02020603050405020304" pitchFamily="18" charset="0"/>
              </a:rPr>
              <a:t>assign a ranking (for example, 0 to 10) to indicate the relative importance of each operating system and each device.</a:t>
            </a:r>
          </a:p>
          <a:p>
            <a:pPr marL="403200" indent="-403200">
              <a:spcBef>
                <a:spcPts val="1000"/>
              </a:spcBef>
              <a:spcAft>
                <a:spcPts val="0"/>
              </a:spcAft>
              <a:buFont typeface="+mj-lt"/>
              <a:buAutoNum type="arabicPeriod"/>
            </a:pPr>
            <a:r>
              <a:rPr lang="en-US" dirty="0">
                <a:latin typeface="Times New Roman" panose="02020603050405020304" pitchFamily="18" charset="0"/>
                <a:cs typeface="Times New Roman" panose="02020603050405020304" pitchFamily="18" charset="0"/>
              </a:rPr>
              <a:t>compute the product of each pair of rankings and enter each product as the cell entry in the matrix.</a:t>
            </a:r>
            <a:endParaRPr lang="en-US" altLang="en-US"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25</a:t>
            </a:fld>
            <a:endParaRPr lang="en-US"/>
          </a:p>
        </p:txBody>
      </p:sp>
    </p:spTree>
    <p:extLst>
      <p:ext uri="{BB962C8B-B14F-4D97-AF65-F5344CB8AC3E}">
        <p14:creationId xmlns:p14="http://schemas.microsoft.com/office/powerpoint/2010/main" val="35007892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Weighted Device Platform Matrix</a:t>
            </a:r>
          </a:p>
        </p:txBody>
      </p:sp>
      <p:sp>
        <p:nvSpPr>
          <p:cNvPr id="4" name="Content Placeholder 3">
            <a:extLst>
              <a:ext uri="{FF2B5EF4-FFF2-40B4-BE49-F238E27FC236}">
                <a16:creationId xmlns:a16="http://schemas.microsoft.com/office/drawing/2014/main" id="{72EC1F87-A02E-4DDA-B65A-DACE058383A5}"/>
              </a:ext>
            </a:extLst>
          </p:cNvPr>
          <p:cNvSpPr>
            <a:spLocks noGrp="1"/>
          </p:cNvSpPr>
          <p:nvPr>
            <p:ph sz="quarter" idx="11"/>
          </p:nvPr>
        </p:nvSpPr>
        <p:spPr>
          <a:xfrm>
            <a:off x="342900" y="1276710"/>
            <a:ext cx="8458200" cy="533040"/>
          </a:xfrm>
        </p:spPr>
        <p:txBody>
          <a:bodyPr>
            <a:normAutofit/>
          </a:bodyPr>
          <a:lstStyle/>
          <a:p>
            <a:pPr algn="ctr"/>
            <a:r>
              <a:rPr lang="en-US" sz="1200" noProof="0" dirty="0">
                <a:latin typeface="Times New Roman" panose="02020603050405020304" pitchFamily="18" charset="0"/>
                <a:cs typeface="Times New Roman" panose="02020603050405020304" pitchFamily="18" charset="0"/>
              </a:rPr>
              <a:t>Copyright © McGraw-Hill Education. All rights reserved. No reproduction or distribution without the prior written consent of McGraw-Hill Education. </a:t>
            </a:r>
          </a:p>
        </p:txBody>
      </p:sp>
      <p:sp>
        <p:nvSpPr>
          <p:cNvPr id="9" name="Content Placeholder 8">
            <a:extLst>
              <a:ext uri="{FF2B5EF4-FFF2-40B4-BE49-F238E27FC236}">
                <a16:creationId xmlns:a16="http://schemas.microsoft.com/office/drawing/2014/main" id="{677049C6-35B6-4D14-BFB4-E35DA92379E2}"/>
              </a:ext>
            </a:extLst>
          </p:cNvPr>
          <p:cNvSpPr>
            <a:spLocks noGrp="1"/>
          </p:cNvSpPr>
          <p:nvPr>
            <p:ph sz="quarter" idx="14"/>
          </p:nvPr>
        </p:nvSpPr>
        <p:spPr>
          <a:xfrm>
            <a:off x="342900" y="2021865"/>
            <a:ext cx="8458200" cy="454635"/>
          </a:xfrm>
        </p:spPr>
        <p:txBody>
          <a:bodyPr>
            <a:noAutofit/>
          </a:bodyPr>
          <a:lstStyle/>
          <a:p>
            <a:r>
              <a:rPr lang="en-US" sz="2400" b="1" noProof="0" dirty="0">
                <a:solidFill>
                  <a:srgbClr val="002060"/>
                </a:solidFill>
                <a:latin typeface="Times New Roman" panose="02020603050405020304" pitchFamily="18" charset="0"/>
                <a:cs typeface="Times New Roman" panose="02020603050405020304" pitchFamily="18" charset="0"/>
              </a:rPr>
              <a:t>TABLE 21.1</a:t>
            </a:r>
            <a:r>
              <a:rPr lang="en-US" sz="2400" b="1" noProof="0" dirty="0">
                <a:latin typeface="Times New Roman" panose="02020603050405020304" pitchFamily="18" charset="0"/>
                <a:cs typeface="Times New Roman" panose="02020603050405020304" pitchFamily="18" charset="0"/>
              </a:rPr>
              <a:t> Weighted Device Platform Matrix</a:t>
            </a:r>
          </a:p>
        </p:txBody>
      </p:sp>
      <p:graphicFrame>
        <p:nvGraphicFramePr>
          <p:cNvPr id="15" name="Table 14">
            <a:extLst>
              <a:ext uri="{FF2B5EF4-FFF2-40B4-BE49-F238E27FC236}">
                <a16:creationId xmlns:a16="http://schemas.microsoft.com/office/drawing/2014/main" id="{EAB2713C-4851-43D5-9895-B90E1356471D}"/>
              </a:ext>
            </a:extLst>
          </p:cNvPr>
          <p:cNvGraphicFramePr>
            <a:graphicFrameLocks noGrp="1"/>
          </p:cNvGraphicFramePr>
          <p:nvPr>
            <p:extLst>
              <p:ext uri="{D42A27DB-BD31-4B8C-83A1-F6EECF244321}">
                <p14:modId xmlns:p14="http://schemas.microsoft.com/office/powerpoint/2010/main" val="2577562798"/>
              </p:ext>
            </p:extLst>
          </p:nvPr>
        </p:nvGraphicFramePr>
        <p:xfrm>
          <a:off x="438150" y="2662130"/>
          <a:ext cx="6096000" cy="23774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111005195"/>
                    </a:ext>
                  </a:extLst>
                </a:gridCol>
                <a:gridCol w="1219200">
                  <a:extLst>
                    <a:ext uri="{9D8B030D-6E8A-4147-A177-3AD203B41FA5}">
                      <a16:colId xmlns:a16="http://schemas.microsoft.com/office/drawing/2014/main" val="3269580770"/>
                    </a:ext>
                  </a:extLst>
                </a:gridCol>
                <a:gridCol w="1219200">
                  <a:extLst>
                    <a:ext uri="{9D8B030D-6E8A-4147-A177-3AD203B41FA5}">
                      <a16:colId xmlns:a16="http://schemas.microsoft.com/office/drawing/2014/main" val="2560454783"/>
                    </a:ext>
                  </a:extLst>
                </a:gridCol>
                <a:gridCol w="1219200">
                  <a:extLst>
                    <a:ext uri="{9D8B030D-6E8A-4147-A177-3AD203B41FA5}">
                      <a16:colId xmlns:a16="http://schemas.microsoft.com/office/drawing/2014/main" val="1781305952"/>
                    </a:ext>
                  </a:extLst>
                </a:gridCol>
                <a:gridCol w="1219200">
                  <a:extLst>
                    <a:ext uri="{9D8B030D-6E8A-4147-A177-3AD203B41FA5}">
                      <a16:colId xmlns:a16="http://schemas.microsoft.com/office/drawing/2014/main" val="4260769557"/>
                    </a:ext>
                  </a:extLst>
                </a:gridCol>
              </a:tblGrid>
              <a:tr h="370840">
                <a:tc>
                  <a:txBody>
                    <a:bodyPr/>
                    <a:lstStyle/>
                    <a:p>
                      <a:endParaRPr lang="en-IN" sz="2000" dirty="0">
                        <a:latin typeface="Times New Roman" panose="02020603050405020304" pitchFamily="18" charset="0"/>
                        <a:cs typeface="Times New Roman" panose="02020603050405020304" pitchFamily="18" charset="0"/>
                      </a:endParaRPr>
                    </a:p>
                  </a:txBody>
                  <a:tcPr/>
                </a:tc>
                <a:tc>
                  <a:txBody>
                    <a:bodyPr/>
                    <a:lstStyle/>
                    <a:p>
                      <a:pPr algn="ct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IN" sz="2000" dirty="0">
                          <a:latin typeface="Times New Roman" panose="02020603050405020304" pitchFamily="18" charset="0"/>
                          <a:cs typeface="Times New Roman" panose="02020603050405020304" pitchFamily="18" charset="0"/>
                        </a:rPr>
                        <a:t>OS1</a:t>
                      </a:r>
                    </a:p>
                  </a:txBody>
                  <a:tcPr/>
                </a:tc>
                <a:tc>
                  <a:txBody>
                    <a:bodyPr/>
                    <a:lstStyle/>
                    <a:p>
                      <a:pPr algn="ctr"/>
                      <a:r>
                        <a:rPr lang="en-IN" sz="2000" dirty="0">
                          <a:latin typeface="Times New Roman" panose="02020603050405020304" pitchFamily="18" charset="0"/>
                          <a:cs typeface="Times New Roman" panose="02020603050405020304" pitchFamily="18" charset="0"/>
                        </a:rPr>
                        <a:t>OS2</a:t>
                      </a:r>
                    </a:p>
                  </a:txBody>
                  <a:tcPr/>
                </a:tc>
                <a:tc>
                  <a:txBody>
                    <a:bodyPr/>
                    <a:lstStyle/>
                    <a:p>
                      <a:pPr algn="ctr"/>
                      <a:r>
                        <a:rPr lang="en-IN" sz="2000" dirty="0">
                          <a:latin typeface="Times New Roman" panose="02020603050405020304" pitchFamily="18" charset="0"/>
                          <a:cs typeface="Times New Roman" panose="02020603050405020304" pitchFamily="18" charset="0"/>
                        </a:rPr>
                        <a:t>OS3</a:t>
                      </a:r>
                    </a:p>
                  </a:txBody>
                  <a:tcPr/>
                </a:tc>
                <a:extLst>
                  <a:ext uri="{0D108BD9-81ED-4DB2-BD59-A6C34878D82A}">
                    <a16:rowId xmlns:a16="http://schemas.microsoft.com/office/drawing/2014/main" val="440573349"/>
                  </a:ext>
                </a:extLst>
              </a:tr>
              <a:tr h="370840">
                <a:tc>
                  <a:txBody>
                    <a:bodyPr/>
                    <a:lstStyle/>
                    <a:p>
                      <a:endParaRPr lang="en-IN" sz="2000">
                        <a:latin typeface="Times New Roman" panose="02020603050405020304" pitchFamily="18" charset="0"/>
                        <a:cs typeface="Times New Roman" panose="02020603050405020304" pitchFamily="18" charset="0"/>
                      </a:endParaRPr>
                    </a:p>
                  </a:txBody>
                  <a:tcPr/>
                </a:tc>
                <a:tc>
                  <a:txBody>
                    <a:bodyPr/>
                    <a:lstStyle/>
                    <a:p>
                      <a:pPr algn="ctr"/>
                      <a:r>
                        <a:rPr lang="en-IN" sz="2000" dirty="0">
                          <a:latin typeface="Times New Roman" panose="02020603050405020304" pitchFamily="18" charset="0"/>
                          <a:cs typeface="Times New Roman" panose="02020603050405020304" pitchFamily="18" charset="0"/>
                        </a:rPr>
                        <a:t>Ranking</a:t>
                      </a:r>
                    </a:p>
                  </a:txBody>
                  <a:tcPr/>
                </a:tc>
                <a:tc>
                  <a:txBody>
                    <a:bodyPr/>
                    <a:lstStyle/>
                    <a:p>
                      <a:pPr algn="ctr"/>
                      <a:r>
                        <a:rPr lang="en-IN" sz="2000" dirty="0">
                          <a:latin typeface="Times New Roman" panose="02020603050405020304" pitchFamily="18" charset="0"/>
                          <a:cs typeface="Times New Roman" panose="02020603050405020304" pitchFamily="18" charset="0"/>
                        </a:rPr>
                        <a:t>3</a:t>
                      </a:r>
                    </a:p>
                  </a:txBody>
                  <a:tcPr/>
                </a:tc>
                <a:tc>
                  <a:txBody>
                    <a:bodyPr/>
                    <a:lstStyle/>
                    <a:p>
                      <a:pPr algn="ctr"/>
                      <a:r>
                        <a:rPr lang="en-IN" sz="2000" dirty="0">
                          <a:latin typeface="Times New Roman" panose="02020603050405020304" pitchFamily="18" charset="0"/>
                          <a:cs typeface="Times New Roman" panose="02020603050405020304" pitchFamily="18" charset="0"/>
                        </a:rPr>
                        <a:t>4</a:t>
                      </a:r>
                    </a:p>
                  </a:txBody>
                  <a:tcPr/>
                </a:tc>
                <a:tc>
                  <a:txBody>
                    <a:bodyPr/>
                    <a:lstStyle/>
                    <a:p>
                      <a:pPr algn="ctr"/>
                      <a:r>
                        <a:rPr lang="en-IN" sz="2000" dirty="0">
                          <a:latin typeface="Times New Roman" panose="02020603050405020304" pitchFamily="18" charset="0"/>
                          <a:cs typeface="Times New Roman" panose="02020603050405020304" pitchFamily="18" charset="0"/>
                        </a:rPr>
                        <a:t>7</a:t>
                      </a:r>
                    </a:p>
                  </a:txBody>
                  <a:tcPr/>
                </a:tc>
                <a:extLst>
                  <a:ext uri="{0D108BD9-81ED-4DB2-BD59-A6C34878D82A}">
                    <a16:rowId xmlns:a16="http://schemas.microsoft.com/office/drawing/2014/main" val="3902609367"/>
                  </a:ext>
                </a:extLst>
              </a:tr>
              <a:tr h="370840">
                <a:tc>
                  <a:txBody>
                    <a:bodyPr/>
                    <a:lstStyle/>
                    <a:p>
                      <a:r>
                        <a:rPr lang="en-IN" sz="2000" dirty="0">
                          <a:latin typeface="Times New Roman" panose="02020603050405020304" pitchFamily="18" charset="0"/>
                          <a:cs typeface="Times New Roman" panose="02020603050405020304" pitchFamily="18" charset="0"/>
                        </a:rPr>
                        <a:t>Device1</a:t>
                      </a:r>
                    </a:p>
                  </a:txBody>
                  <a:tcPr/>
                </a:tc>
                <a:tc>
                  <a:txBody>
                    <a:bodyPr/>
                    <a:lstStyle/>
                    <a:p>
                      <a:pPr algn="ctr"/>
                      <a:r>
                        <a:rPr lang="en-IN" sz="2000" dirty="0">
                          <a:latin typeface="Times New Roman" panose="02020603050405020304" pitchFamily="18" charset="0"/>
                          <a:cs typeface="Times New Roman" panose="02020603050405020304" pitchFamily="18" charset="0"/>
                        </a:rPr>
                        <a:t>7</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N/A</a:t>
                      </a:r>
                    </a:p>
                  </a:txBody>
                  <a:tcPr/>
                </a:tc>
                <a:tc>
                  <a:txBody>
                    <a:bodyPr/>
                    <a:lstStyle/>
                    <a:p>
                      <a:pPr algn="ctr"/>
                      <a:r>
                        <a:rPr lang="en-IN" sz="2000" dirty="0">
                          <a:latin typeface="Times New Roman" panose="02020603050405020304" pitchFamily="18" charset="0"/>
                          <a:cs typeface="Times New Roman" panose="02020603050405020304" pitchFamily="18" charset="0"/>
                        </a:rPr>
                        <a:t>28</a:t>
                      </a:r>
                    </a:p>
                  </a:txBody>
                  <a:tcPr/>
                </a:tc>
                <a:tc>
                  <a:txBody>
                    <a:bodyPr/>
                    <a:lstStyle/>
                    <a:p>
                      <a:pPr algn="ctr"/>
                      <a:r>
                        <a:rPr lang="en-IN" sz="2000" dirty="0">
                          <a:latin typeface="Times New Roman" panose="02020603050405020304" pitchFamily="18" charset="0"/>
                          <a:cs typeface="Times New Roman" panose="02020603050405020304" pitchFamily="18" charset="0"/>
                        </a:rPr>
                        <a:t>49</a:t>
                      </a:r>
                    </a:p>
                  </a:txBody>
                  <a:tcPr/>
                </a:tc>
                <a:extLst>
                  <a:ext uri="{0D108BD9-81ED-4DB2-BD59-A6C34878D82A}">
                    <a16:rowId xmlns:a16="http://schemas.microsoft.com/office/drawing/2014/main" val="3927742406"/>
                  </a:ext>
                </a:extLst>
              </a:tr>
              <a:tr h="370840">
                <a:tc>
                  <a:txBody>
                    <a:bodyPr/>
                    <a:lstStyle/>
                    <a:p>
                      <a:r>
                        <a:rPr lang="en-IN" sz="2000" dirty="0">
                          <a:latin typeface="Times New Roman" panose="02020603050405020304" pitchFamily="18" charset="0"/>
                          <a:cs typeface="Times New Roman" panose="02020603050405020304" pitchFamily="18" charset="0"/>
                        </a:rPr>
                        <a:t>Device2</a:t>
                      </a:r>
                    </a:p>
                  </a:txBody>
                  <a:tcPr/>
                </a:tc>
                <a:tc>
                  <a:txBody>
                    <a:bodyPr/>
                    <a:lstStyle/>
                    <a:p>
                      <a:pPr algn="ctr"/>
                      <a:r>
                        <a:rPr lang="en-IN" sz="2000" dirty="0">
                          <a:latin typeface="Times New Roman" panose="02020603050405020304" pitchFamily="18" charset="0"/>
                          <a:cs typeface="Times New Roman" panose="02020603050405020304" pitchFamily="18" charset="0"/>
                        </a:rPr>
                        <a:t>3</a:t>
                      </a:r>
                    </a:p>
                  </a:txBody>
                  <a:tcPr/>
                </a:tc>
                <a:tc>
                  <a:txBody>
                    <a:bodyPr/>
                    <a:lstStyle/>
                    <a:p>
                      <a:pPr algn="ctr"/>
                      <a:r>
                        <a:rPr lang="en-IN" sz="2000" dirty="0">
                          <a:latin typeface="Times New Roman" panose="02020603050405020304" pitchFamily="18" charset="0"/>
                          <a:cs typeface="Times New Roman" panose="02020603050405020304" pitchFamily="18" charset="0"/>
                        </a:rPr>
                        <a:t>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N/A</a:t>
                      </a:r>
                    </a:p>
                  </a:txBody>
                  <a:tcPr/>
                </a:tc>
                <a:tc>
                  <a:txBody>
                    <a:bodyPr/>
                    <a:lstStyle/>
                    <a:p>
                      <a:pPr algn="ctr"/>
                      <a:r>
                        <a:rPr lang="en-IN" sz="2000" dirty="0">
                          <a:latin typeface="Times New Roman" panose="02020603050405020304" pitchFamily="18" charset="0"/>
                          <a:cs typeface="Times New Roman" panose="02020603050405020304" pitchFamily="18" charset="0"/>
                        </a:rPr>
                        <a:t>N/A</a:t>
                      </a:r>
                    </a:p>
                  </a:txBody>
                  <a:tcPr/>
                </a:tc>
                <a:extLst>
                  <a:ext uri="{0D108BD9-81ED-4DB2-BD59-A6C34878D82A}">
                    <a16:rowId xmlns:a16="http://schemas.microsoft.com/office/drawing/2014/main" val="2202586428"/>
                  </a:ext>
                </a:extLst>
              </a:tr>
              <a:tr h="370840">
                <a:tc>
                  <a:txBody>
                    <a:bodyPr/>
                    <a:lstStyle/>
                    <a:p>
                      <a:r>
                        <a:rPr lang="en-IN" sz="2000" dirty="0">
                          <a:latin typeface="Times New Roman" panose="02020603050405020304" pitchFamily="18" charset="0"/>
                          <a:cs typeface="Times New Roman" panose="02020603050405020304" pitchFamily="18" charset="0"/>
                        </a:rPr>
                        <a:t>Device3</a:t>
                      </a:r>
                    </a:p>
                  </a:txBody>
                  <a:tcPr/>
                </a:tc>
                <a:tc>
                  <a:txBody>
                    <a:bodyPr/>
                    <a:lstStyle/>
                    <a:p>
                      <a:pPr algn="ctr"/>
                      <a:r>
                        <a:rPr lang="en-IN" sz="2000" dirty="0">
                          <a:latin typeface="Times New Roman" panose="02020603050405020304" pitchFamily="18" charset="0"/>
                          <a:cs typeface="Times New Roman" panose="02020603050405020304" pitchFamily="18" charset="0"/>
                        </a:rPr>
                        <a:t>4</a:t>
                      </a:r>
                    </a:p>
                  </a:txBody>
                  <a:tcPr/>
                </a:tc>
                <a:tc>
                  <a:txBody>
                    <a:bodyPr/>
                    <a:lstStyle/>
                    <a:p>
                      <a:pPr algn="ctr"/>
                      <a:r>
                        <a:rPr lang="en-IN" sz="2000" dirty="0">
                          <a:latin typeface="Times New Roman" panose="02020603050405020304" pitchFamily="18" charset="0"/>
                          <a:cs typeface="Times New Roman" panose="02020603050405020304" pitchFamily="18" charset="0"/>
                        </a:rPr>
                        <a:t>12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N/A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N/A</a:t>
                      </a:r>
                    </a:p>
                  </a:txBody>
                  <a:tcPr/>
                </a:tc>
                <a:extLst>
                  <a:ext uri="{0D108BD9-81ED-4DB2-BD59-A6C34878D82A}">
                    <a16:rowId xmlns:a16="http://schemas.microsoft.com/office/drawing/2014/main" val="322755713"/>
                  </a:ext>
                </a:extLst>
              </a:tr>
              <a:tr h="370840">
                <a:tc>
                  <a:txBody>
                    <a:bodyPr/>
                    <a:lstStyle/>
                    <a:p>
                      <a:r>
                        <a:rPr lang="en-IN" sz="2000" dirty="0">
                          <a:latin typeface="Times New Roman" panose="02020603050405020304" pitchFamily="18" charset="0"/>
                          <a:cs typeface="Times New Roman" panose="02020603050405020304" pitchFamily="18" charset="0"/>
                        </a:rPr>
                        <a:t>Device4</a:t>
                      </a:r>
                    </a:p>
                  </a:txBody>
                  <a:tcPr/>
                </a:tc>
                <a:tc>
                  <a:txBody>
                    <a:bodyPr/>
                    <a:lstStyle/>
                    <a:p>
                      <a:pPr algn="ctr"/>
                      <a:r>
                        <a:rPr lang="en-IN" sz="2000" dirty="0">
                          <a:latin typeface="Times New Roman" panose="02020603050405020304" pitchFamily="18" charset="0"/>
                          <a:cs typeface="Times New Roman" panose="02020603050405020304" pitchFamily="18" charset="0"/>
                        </a:rPr>
                        <a:t>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N/A</a:t>
                      </a:r>
                    </a:p>
                  </a:txBody>
                  <a:tcPr/>
                </a:tc>
                <a:tc>
                  <a:txBody>
                    <a:bodyPr/>
                    <a:lstStyle/>
                    <a:p>
                      <a:pPr algn="ctr"/>
                      <a:r>
                        <a:rPr lang="en-IN" sz="2000" dirty="0">
                          <a:latin typeface="Times New Roman" panose="02020603050405020304" pitchFamily="18" charset="0"/>
                          <a:cs typeface="Times New Roman" panose="02020603050405020304" pitchFamily="18" charset="0"/>
                        </a:rPr>
                        <a:t>36</a:t>
                      </a:r>
                    </a:p>
                  </a:txBody>
                  <a:tcPr/>
                </a:tc>
                <a:tc>
                  <a:txBody>
                    <a:bodyPr/>
                    <a:lstStyle/>
                    <a:p>
                      <a:pPr algn="ctr"/>
                      <a:r>
                        <a:rPr lang="en-IN" sz="2000" dirty="0">
                          <a:latin typeface="Times New Roman" panose="02020603050405020304" pitchFamily="18" charset="0"/>
                          <a:cs typeface="Times New Roman" panose="02020603050405020304" pitchFamily="18" charset="0"/>
                        </a:rPr>
                        <a:t>63</a:t>
                      </a:r>
                    </a:p>
                  </a:txBody>
                  <a:tcPr/>
                </a:tc>
                <a:extLst>
                  <a:ext uri="{0D108BD9-81ED-4DB2-BD59-A6C34878D82A}">
                    <a16:rowId xmlns:a16="http://schemas.microsoft.com/office/drawing/2014/main" val="3088931836"/>
                  </a:ext>
                </a:extLst>
              </a:tr>
            </a:tbl>
          </a:graphicData>
        </a:graphic>
      </p:graphicFrame>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26</a:t>
            </a:fld>
            <a:endParaRPr lang="en-US"/>
          </a:p>
        </p:txBody>
      </p:sp>
    </p:spTree>
    <p:extLst>
      <p:ext uri="{BB962C8B-B14F-4D97-AF65-F5344CB8AC3E}">
        <p14:creationId xmlns:p14="http://schemas.microsoft.com/office/powerpoint/2010/main" val="2155700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Testing AI Systems</a:t>
            </a:r>
            <a:endParaRPr lang="en-US" sz="1000" b="0"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153274"/>
            <a:ext cx="8191500" cy="4832855"/>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Static testing </a:t>
            </a:r>
            <a:r>
              <a:rPr lang="en-US" sz="2400" noProof="0" dirty="0">
                <a:latin typeface="Times New Roman" panose="02020603050405020304" pitchFamily="18" charset="0"/>
                <a:cs typeface="Times New Roman" panose="02020603050405020304" pitchFamily="18" charset="0"/>
              </a:rPr>
              <a:t>is a software verification technique that focuses on review rather than executable testing. It is important to ensure that human experts agree with the ways in which the developers have represented the information and its use in the AI system. </a:t>
            </a:r>
          </a:p>
          <a:p>
            <a:pPr marL="2916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Dynamic testing </a:t>
            </a:r>
            <a:r>
              <a:rPr lang="en-US" sz="2400" noProof="0" dirty="0">
                <a:latin typeface="Times New Roman" panose="02020603050405020304" pitchFamily="18" charset="0"/>
                <a:cs typeface="Times New Roman" panose="02020603050405020304" pitchFamily="18" charset="0"/>
              </a:rPr>
              <a:t>for A</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I systems is a validation technique that exercises the source code with test cases. The intent is to show that the A</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I system conforms to the behaviors specified by the human experts. </a:t>
            </a:r>
          </a:p>
          <a:p>
            <a:pPr marL="2916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Model-based testing </a:t>
            </a:r>
            <a:r>
              <a:rPr lang="en-US" sz="2400" noProof="0" dirty="0">
                <a:latin typeface="Times New Roman" panose="02020603050405020304" pitchFamily="18" charset="0"/>
                <a:cs typeface="Times New Roman" panose="02020603050405020304" pitchFamily="18" charset="0"/>
              </a:rPr>
              <a:t>(M</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B</a:t>
            </a:r>
            <a:r>
              <a:rPr lang="en-US" sz="100"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T) a black-box testing technique that uses the requirements model (user stories) as the basis for the generation of test cases from the behavioral model.</a:t>
            </a:r>
            <a:endParaRPr lang="en-US" alt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27</a:t>
            </a:fld>
            <a:endParaRPr lang="en-US"/>
          </a:p>
        </p:txBody>
      </p:sp>
    </p:spTree>
    <p:extLst>
      <p:ext uri="{BB962C8B-B14F-4D97-AF65-F5344CB8AC3E}">
        <p14:creationId xmlns:p14="http://schemas.microsoft.com/office/powerpoint/2010/main" val="1378506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Testing Virtual Environments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153274"/>
            <a:ext cx="8191500" cy="5001463"/>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Acceptance tests </a:t>
            </a:r>
            <a:r>
              <a:rPr lang="en-US" sz="2400" noProof="0" dirty="0">
                <a:latin typeface="Times New Roman" panose="02020603050405020304" pitchFamily="18" charset="0"/>
                <a:cs typeface="Times New Roman" panose="02020603050405020304" pitchFamily="18" charset="0"/>
              </a:rPr>
              <a:t>are a series of specific tests conducted by the customer to uncover product errors before accepting the software from the developer.</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An </a:t>
            </a:r>
            <a:r>
              <a:rPr lang="en-US" sz="2400" b="1" i="1" noProof="0" dirty="0">
                <a:latin typeface="Times New Roman" panose="02020603050405020304" pitchFamily="18" charset="0"/>
                <a:cs typeface="Times New Roman" panose="02020603050405020304" pitchFamily="18" charset="0"/>
              </a:rPr>
              <a:t>alpha test </a:t>
            </a:r>
            <a:r>
              <a:rPr lang="en-US" sz="2400" noProof="0" dirty="0">
                <a:latin typeface="Times New Roman" panose="02020603050405020304" pitchFamily="18" charset="0"/>
                <a:cs typeface="Times New Roman" panose="02020603050405020304" pitchFamily="18" charset="0"/>
              </a:rPr>
              <a:t>is conducted at the developer’s site by a representative group of end users. The software is used in a natural setting with the developer “looking over the shoulder” of the users and recording errors and usage problems.</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 </a:t>
            </a:r>
            <a:r>
              <a:rPr lang="en-US" sz="2400" b="1" i="1" noProof="0" dirty="0">
                <a:latin typeface="Times New Roman" panose="02020603050405020304" pitchFamily="18" charset="0"/>
                <a:cs typeface="Times New Roman" panose="02020603050405020304" pitchFamily="18" charset="0"/>
              </a:rPr>
              <a:t>beta test </a:t>
            </a:r>
            <a:r>
              <a:rPr lang="en-US" sz="2400" noProof="0" dirty="0">
                <a:latin typeface="Times New Roman" panose="02020603050405020304" pitchFamily="18" charset="0"/>
                <a:cs typeface="Times New Roman" panose="02020603050405020304" pitchFamily="18" charset="0"/>
              </a:rPr>
              <a:t>is conducted at one or more end-user sites. Unlike alpha testing, the developer generally is not present. The customer records all problems that are encountered and reports these at regular intervals. </a:t>
            </a:r>
            <a:endParaRPr lang="en-US" alt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28</a:t>
            </a:fld>
            <a:endParaRPr lang="en-US"/>
          </a:p>
        </p:txBody>
      </p:sp>
    </p:spTree>
    <p:extLst>
      <p:ext uri="{BB962C8B-B14F-4D97-AF65-F5344CB8AC3E}">
        <p14:creationId xmlns:p14="http://schemas.microsoft.com/office/powerpoint/2010/main" val="10726178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Usability Test Categories 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153274"/>
            <a:ext cx="8191500" cy="3890999"/>
          </a:xfrm>
        </p:spPr>
        <p:txBody>
          <a:bodyPr vert="horz" lIns="91440" tIns="45720" rIns="91440" bIns="45720" rtlCol="0">
            <a:noAutofit/>
          </a:bodyPr>
          <a:lstStyle/>
          <a:p>
            <a:r>
              <a:rPr lang="en-US" b="1" noProof="0" dirty="0">
                <a:latin typeface="Times New Roman" panose="02020603050405020304" pitchFamily="18" charset="0"/>
                <a:cs typeface="Times New Roman" panose="02020603050405020304" pitchFamily="18" charset="0"/>
              </a:rPr>
              <a:t>Interactivity. </a:t>
            </a:r>
            <a:r>
              <a:rPr lang="en-US" noProof="0" dirty="0">
                <a:latin typeface="Times New Roman" panose="02020603050405020304" pitchFamily="18" charset="0"/>
                <a:cs typeface="Times New Roman" panose="02020603050405020304" pitchFamily="18" charset="0"/>
              </a:rPr>
              <a:t>Are interaction mechanisms (for example, pull-down menus, buttons, widgets, inputs) easy to understand and use?</a:t>
            </a:r>
          </a:p>
          <a:p>
            <a:r>
              <a:rPr lang="en-US" b="1" noProof="0" dirty="0">
                <a:latin typeface="Times New Roman" panose="02020603050405020304" pitchFamily="18" charset="0"/>
                <a:cs typeface="Times New Roman" panose="02020603050405020304" pitchFamily="18" charset="0"/>
              </a:rPr>
              <a:t>Layout. </a:t>
            </a:r>
            <a:r>
              <a:rPr lang="en-US" noProof="0" dirty="0">
                <a:latin typeface="Times New Roman" panose="02020603050405020304" pitchFamily="18" charset="0"/>
                <a:cs typeface="Times New Roman" panose="02020603050405020304" pitchFamily="18" charset="0"/>
              </a:rPr>
              <a:t>Are navigation mechanisms, content, and functions placed in a manner that allows the user to find them quickly?</a:t>
            </a:r>
          </a:p>
          <a:p>
            <a:r>
              <a:rPr lang="en-US" b="1" noProof="0" dirty="0">
                <a:latin typeface="Times New Roman" panose="02020603050405020304" pitchFamily="18" charset="0"/>
                <a:cs typeface="Times New Roman" panose="02020603050405020304" pitchFamily="18" charset="0"/>
              </a:rPr>
              <a:t>Readability. </a:t>
            </a:r>
            <a:r>
              <a:rPr lang="en-US" noProof="0" dirty="0">
                <a:latin typeface="Times New Roman" panose="02020603050405020304" pitchFamily="18" charset="0"/>
                <a:cs typeface="Times New Roman" panose="02020603050405020304" pitchFamily="18" charset="0"/>
              </a:rPr>
              <a:t>Is text well written and understandable?9 Are graphic representations easy to understand?</a:t>
            </a:r>
          </a:p>
          <a:p>
            <a:r>
              <a:rPr lang="en-US" b="1" noProof="0" dirty="0">
                <a:latin typeface="Times New Roman" panose="02020603050405020304" pitchFamily="18" charset="0"/>
                <a:cs typeface="Times New Roman" panose="02020603050405020304" pitchFamily="18" charset="0"/>
              </a:rPr>
              <a:t>Aesthetics. </a:t>
            </a:r>
            <a:r>
              <a:rPr lang="en-US" noProof="0" dirty="0">
                <a:latin typeface="Times New Roman" panose="02020603050405020304" pitchFamily="18" charset="0"/>
                <a:cs typeface="Times New Roman" panose="02020603050405020304" pitchFamily="18" charset="0"/>
              </a:rPr>
              <a:t>Do layout, color, typeface, and related characteristics lead to ease of use? Do users “feel comfortable” with the look and feel of the app?</a:t>
            </a:r>
          </a:p>
          <a:p>
            <a:r>
              <a:rPr lang="en-US" b="1" noProof="0" dirty="0">
                <a:latin typeface="Times New Roman" panose="02020603050405020304" pitchFamily="18" charset="0"/>
                <a:cs typeface="Times New Roman" panose="02020603050405020304" pitchFamily="18" charset="0"/>
              </a:rPr>
              <a:t>Display characteristics. </a:t>
            </a:r>
            <a:r>
              <a:rPr lang="en-US" noProof="0" dirty="0">
                <a:latin typeface="Times New Roman" panose="02020603050405020304" pitchFamily="18" charset="0"/>
                <a:cs typeface="Times New Roman" panose="02020603050405020304" pitchFamily="18" charset="0"/>
              </a:rPr>
              <a:t>Does the app make optimal use of screen size and resolution?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29</a:t>
            </a:fld>
            <a:endParaRPr lang="en-US"/>
          </a:p>
        </p:txBody>
      </p:sp>
    </p:spTree>
    <p:extLst>
      <p:ext uri="{BB962C8B-B14F-4D97-AF65-F5344CB8AC3E}">
        <p14:creationId xmlns:p14="http://schemas.microsoft.com/office/powerpoint/2010/main" val="22795932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Usability Test Categories 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153274"/>
            <a:ext cx="8191500" cy="5001463"/>
          </a:xfrm>
        </p:spPr>
        <p:txBody>
          <a:bodyPr vert="horz" lIns="91440" tIns="45720" rIns="91440" bIns="45720" rtlCol="0">
            <a:noAutofit/>
          </a:bodyPr>
          <a:lstStyle/>
          <a:p>
            <a:r>
              <a:rPr lang="en-US" b="1" noProof="0" dirty="0">
                <a:latin typeface="Times New Roman" panose="02020603050405020304" pitchFamily="18" charset="0"/>
                <a:cs typeface="Times New Roman" panose="02020603050405020304" pitchFamily="18" charset="0"/>
              </a:rPr>
              <a:t>Time sensitivity. </a:t>
            </a:r>
            <a:r>
              <a:rPr lang="en-US" noProof="0" dirty="0">
                <a:latin typeface="Times New Roman" panose="02020603050405020304" pitchFamily="18" charset="0"/>
                <a:cs typeface="Times New Roman" panose="02020603050405020304" pitchFamily="18" charset="0"/>
              </a:rPr>
              <a:t>Can important features, functions, and content be used or acquired in a timely manner?</a:t>
            </a:r>
            <a:endParaRPr lang="en-US" b="1" noProof="0" dirty="0">
              <a:latin typeface="Times New Roman" panose="02020603050405020304" pitchFamily="18" charset="0"/>
              <a:cs typeface="Times New Roman" panose="02020603050405020304" pitchFamily="18" charset="0"/>
            </a:endParaRPr>
          </a:p>
          <a:p>
            <a:r>
              <a:rPr lang="en-US" b="1" noProof="0" dirty="0">
                <a:latin typeface="Times New Roman" panose="02020603050405020304" pitchFamily="18" charset="0"/>
                <a:cs typeface="Times New Roman" panose="02020603050405020304" pitchFamily="18" charset="0"/>
              </a:rPr>
              <a:t>Feedback. </a:t>
            </a:r>
            <a:r>
              <a:rPr lang="en-US" noProof="0" dirty="0">
                <a:latin typeface="Times New Roman" panose="02020603050405020304" pitchFamily="18" charset="0"/>
                <a:cs typeface="Times New Roman" panose="02020603050405020304" pitchFamily="18" charset="0"/>
              </a:rPr>
              <a:t>Do users receive meaningful feedback to their actions? Is the user’s work interruptible and recoverable when a system message is displayed?</a:t>
            </a:r>
          </a:p>
          <a:p>
            <a:r>
              <a:rPr lang="en-US" b="1" noProof="0" dirty="0">
                <a:latin typeface="Times New Roman" panose="02020603050405020304" pitchFamily="18" charset="0"/>
                <a:cs typeface="Times New Roman" panose="02020603050405020304" pitchFamily="18" charset="0"/>
              </a:rPr>
              <a:t>Personalization. </a:t>
            </a:r>
            <a:r>
              <a:rPr lang="en-US" noProof="0" dirty="0">
                <a:latin typeface="Times New Roman" panose="02020603050405020304" pitchFamily="18" charset="0"/>
                <a:cs typeface="Times New Roman" panose="02020603050405020304" pitchFamily="18" charset="0"/>
              </a:rPr>
              <a:t>Does the app tailor itself to the specific needs of different user categories or individual users?</a:t>
            </a:r>
          </a:p>
          <a:p>
            <a:r>
              <a:rPr lang="en-US" b="1" noProof="0" dirty="0">
                <a:latin typeface="Times New Roman" panose="02020603050405020304" pitchFamily="18" charset="0"/>
                <a:cs typeface="Times New Roman" panose="02020603050405020304" pitchFamily="18" charset="0"/>
              </a:rPr>
              <a:t>Help. </a:t>
            </a:r>
            <a:r>
              <a:rPr lang="en-US" noProof="0" dirty="0">
                <a:latin typeface="Times New Roman" panose="02020603050405020304" pitchFamily="18" charset="0"/>
                <a:cs typeface="Times New Roman" panose="02020603050405020304" pitchFamily="18" charset="0"/>
              </a:rPr>
              <a:t>Is it easy for users to access help and other support options?</a:t>
            </a:r>
          </a:p>
          <a:p>
            <a:r>
              <a:rPr lang="en-US" b="1" noProof="0" dirty="0">
                <a:latin typeface="Times New Roman" panose="02020603050405020304" pitchFamily="18" charset="0"/>
                <a:cs typeface="Times New Roman" panose="02020603050405020304" pitchFamily="18" charset="0"/>
              </a:rPr>
              <a:t>Accessibility. </a:t>
            </a:r>
            <a:r>
              <a:rPr lang="en-US" noProof="0" dirty="0">
                <a:latin typeface="Times New Roman" panose="02020603050405020304" pitchFamily="18" charset="0"/>
                <a:cs typeface="Times New Roman" panose="02020603050405020304" pitchFamily="18" charset="0"/>
              </a:rPr>
              <a:t>Is the app accessible to people who have disabilities?</a:t>
            </a:r>
          </a:p>
          <a:p>
            <a:r>
              <a:rPr lang="en-US" b="1" noProof="0" dirty="0">
                <a:latin typeface="Times New Roman" panose="02020603050405020304" pitchFamily="18" charset="0"/>
                <a:cs typeface="Times New Roman" panose="02020603050405020304" pitchFamily="18" charset="0"/>
              </a:rPr>
              <a:t>Trustworthiness. </a:t>
            </a:r>
            <a:r>
              <a:rPr lang="en-US" noProof="0" dirty="0">
                <a:latin typeface="Times New Roman" panose="02020603050405020304" pitchFamily="18" charset="0"/>
                <a:cs typeface="Times New Roman" panose="02020603050405020304" pitchFamily="18" charset="0"/>
              </a:rPr>
              <a:t>Are users able to control how personal information is shared? Does the app make use of personal information without user permission?</a:t>
            </a:r>
            <a:endParaRPr lang="en-US" alt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30</a:t>
            </a:fld>
            <a:endParaRPr lang="en-US"/>
          </a:p>
        </p:txBody>
      </p:sp>
    </p:spTree>
    <p:extLst>
      <p:ext uri="{BB962C8B-B14F-4D97-AF65-F5344CB8AC3E}">
        <p14:creationId xmlns:p14="http://schemas.microsoft.com/office/powerpoint/2010/main" val="19491924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Qualitative Usability Assessment</a:t>
            </a:r>
          </a:p>
        </p:txBody>
      </p:sp>
      <p:pic>
        <p:nvPicPr>
          <p:cNvPr id="5" name="Picture 4" descr="A diagram shows qualitative usability assessment criteria plotted on three axes for ease of use ease of understanding and predictability.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3829" y="1279709"/>
            <a:ext cx="5116342" cy="4849297"/>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2811513" y="6324600"/>
            <a:ext cx="3520974" cy="190500"/>
          </a:xfrm>
        </p:spPr>
        <p:txBody>
          <a:bodyPr/>
          <a:lstStyle/>
          <a:p>
            <a:r>
              <a:rPr lang="en-US" sz="1200" noProof="0" dirty="0">
                <a:latin typeface="Times New Roman" panose="02020603050405020304" pitchFamily="18" charset="0"/>
                <a:cs typeface="Times New Roman" panose="02020603050405020304" pitchFamily="18" charset="0"/>
                <a:hlinkClick r:id="rId4"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31</a:t>
            </a:fld>
            <a:endParaRPr lang="en-US"/>
          </a:p>
        </p:txBody>
      </p:sp>
    </p:spTree>
    <p:extLst>
      <p:ext uri="{BB962C8B-B14F-4D97-AF65-F5344CB8AC3E}">
        <p14:creationId xmlns:p14="http://schemas.microsoft.com/office/powerpoint/2010/main" val="32888688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Accessibility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153274"/>
            <a:ext cx="8191500" cy="5001463"/>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Ensure that non-text screen objects are also represented by a text-based description.</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Verify that color is not used exclusively to convey information to the user.</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Demonstrate that high contrast and magnification options are available for visually challenged users.</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Ensure that speech input alternatives have been implemented to accommodate users that may not be able to manipulate a keyboard, keypad, or mouse.</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Demonstrate that blinking, scrolling, or auto content updating is avoided to accommodate users with reading difficulties.</a:t>
            </a:r>
            <a:endParaRPr lang="en-US" alt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32</a:t>
            </a:fld>
            <a:endParaRPr lang="en-US"/>
          </a:p>
        </p:txBody>
      </p:sp>
    </p:spTree>
    <p:extLst>
      <p:ext uri="{BB962C8B-B14F-4D97-AF65-F5344CB8AC3E}">
        <p14:creationId xmlns:p14="http://schemas.microsoft.com/office/powerpoint/2010/main" val="20884960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Playability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153274"/>
            <a:ext cx="8191500" cy="5001463"/>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b="1" i="1" noProof="0" dirty="0">
                <a:latin typeface="Times New Roman" panose="02020603050405020304" pitchFamily="18" charset="0"/>
                <a:cs typeface="Times New Roman" panose="02020603050405020304" pitchFamily="18" charset="0"/>
              </a:rPr>
              <a:t>Playability</a:t>
            </a:r>
            <a:r>
              <a:rPr lang="en-US" i="1"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is the degree to which a game or simulation is fun to play and usable by the user/player.</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Playability testing should be part of the usability testing for the virtual environment created by a MobileApp.</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Expert review should be supplemented by playability tests conducted by representative end users, as you might do for a beta or acceptance test.</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In a typical play test, the user might be given general instructions on using the app and the developers would then step back and observe players use of the game without interruption.</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The developers are looking for places in the where the player does not know what to do next.</a:t>
            </a:r>
          </a:p>
          <a:p>
            <a:pPr marL="291600" indent="-291600">
              <a:spcBef>
                <a:spcPts val="1000"/>
              </a:spcBef>
              <a:spcAft>
                <a:spcPts val="0"/>
              </a:spcAft>
              <a:buFont typeface="Arial" panose="020B0604020202020204" pitchFamily="34" charset="0"/>
              <a:buChar char="•"/>
            </a:pPr>
            <a:r>
              <a:rPr lang="en-US" noProof="0" dirty="0">
                <a:latin typeface="Times New Roman" panose="02020603050405020304" pitchFamily="18" charset="0"/>
                <a:cs typeface="Times New Roman" panose="02020603050405020304" pitchFamily="18" charset="0"/>
              </a:rPr>
              <a:t>The players may be asked to complete a survey on their experience once they are done with the play test.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33</a:t>
            </a:fld>
            <a:endParaRPr lang="en-US"/>
          </a:p>
        </p:txBody>
      </p:sp>
    </p:spTree>
    <p:extLst>
      <p:ext uri="{BB962C8B-B14F-4D97-AF65-F5344CB8AC3E}">
        <p14:creationId xmlns:p14="http://schemas.microsoft.com/office/powerpoint/2010/main" val="38225046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Documentation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1742937"/>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Errors in help facilities or online program documentation can devastating to the acceptance of the program.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Documentation testing should be an important part of every software test plan.</a:t>
            </a:r>
          </a:p>
        </p:txBody>
      </p:sp>
      <p:sp>
        <p:nvSpPr>
          <p:cNvPr id="7" name="Content Placeholder 6">
            <a:extLst>
              <a:ext uri="{FF2B5EF4-FFF2-40B4-BE49-F238E27FC236}">
                <a16:creationId xmlns:a16="http://schemas.microsoft.com/office/drawing/2014/main" id="{F00089BA-A9EA-48AB-988E-F99446A591F3}"/>
              </a:ext>
            </a:extLst>
          </p:cNvPr>
          <p:cNvSpPr>
            <a:spLocks noGrp="1"/>
          </p:cNvSpPr>
          <p:nvPr>
            <p:ph sz="quarter" idx="14"/>
          </p:nvPr>
        </p:nvSpPr>
        <p:spPr>
          <a:xfrm>
            <a:off x="342900" y="3242930"/>
            <a:ext cx="8458200" cy="1945758"/>
          </a:xfrm>
        </p:spPr>
        <p:txBody>
          <a:bodyPr/>
          <a:lstStyle/>
          <a:p>
            <a:pPr marL="622800" lvl="1" indent="-320400">
              <a:spcBef>
                <a:spcPts val="1000"/>
              </a:spcBef>
              <a:spcAft>
                <a:spcPts val="0"/>
              </a:spcAft>
              <a:buFont typeface="+mj-lt"/>
              <a:buAutoNum type="arabicPeriod"/>
            </a:pPr>
            <a:r>
              <a:rPr lang="en-US" sz="2400" dirty="0">
                <a:latin typeface="Times New Roman" panose="02020603050405020304" pitchFamily="18" charset="0"/>
                <a:cs typeface="Times New Roman" panose="02020603050405020304" pitchFamily="18" charset="0"/>
              </a:rPr>
              <a:t>The first phase, technical review examines the document for editorial clarity.</a:t>
            </a:r>
          </a:p>
          <a:p>
            <a:pPr marL="622800" lvl="1" indent="-320400">
              <a:spcBef>
                <a:spcPts val="1000"/>
              </a:spcBef>
              <a:spcAft>
                <a:spcPts val="0"/>
              </a:spcAft>
              <a:buFont typeface="+mj-lt"/>
              <a:buAutoNum type="arabicPeriod"/>
            </a:pPr>
            <a:r>
              <a:rPr lang="en-US" sz="2400" dirty="0">
                <a:latin typeface="Times New Roman" panose="02020603050405020304" pitchFamily="18" charset="0"/>
                <a:cs typeface="Times New Roman" panose="02020603050405020304" pitchFamily="18" charset="0"/>
              </a:rPr>
              <a:t>The second phase, a live test, uses the documentation in conjunction with the actual program.</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34</a:t>
            </a:fld>
            <a:endParaRPr lang="en-US"/>
          </a:p>
        </p:txBody>
      </p:sp>
    </p:spTree>
    <p:extLst>
      <p:ext uri="{BB962C8B-B14F-4D97-AF65-F5344CB8AC3E}">
        <p14:creationId xmlns:p14="http://schemas.microsoft.com/office/powerpoint/2010/main" val="32687272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latin typeface="Times New Roman" panose="02020603050405020304" pitchFamily="18" charset="0"/>
                <a:cs typeface="Times New Roman" panose="02020603050405020304" pitchFamily="18" charset="0"/>
              </a:rPr>
              <a:t>End of Main Content</a:t>
            </a:r>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spTree>
    <p:extLst>
      <p:ext uri="{BB962C8B-B14F-4D97-AF65-F5344CB8AC3E}">
        <p14:creationId xmlns:p14="http://schemas.microsoft.com/office/powerpoint/2010/main" val="10804844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latin typeface="Times New Roman" panose="02020603050405020304" pitchFamily="18" charset="0"/>
                <a:cs typeface="Times New Roman" panose="02020603050405020304" pitchFamily="18" charset="0"/>
              </a:rPr>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pPr/>
              <a:t>36</a:t>
            </a:fld>
            <a:endParaRPr lang="en-US"/>
          </a:p>
        </p:txBody>
      </p:sp>
    </p:spTree>
    <p:extLst>
      <p:ext uri="{BB962C8B-B14F-4D97-AF65-F5344CB8AC3E}">
        <p14:creationId xmlns:p14="http://schemas.microsoft.com/office/powerpoint/2010/main" val="42450165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66712"/>
            <a:ext cx="8458200" cy="954786"/>
          </a:xfrm>
        </p:spPr>
        <p:txBody>
          <a:bodyPr>
            <a:normAutofit fontScale="90000"/>
          </a:bodyPr>
          <a:lstStyle/>
          <a:p>
            <a:r>
              <a:rPr lang="en-US" sz="3600" noProof="0" dirty="0">
                <a:latin typeface="Times New Roman" panose="02020603050405020304" pitchFamily="18" charset="0"/>
                <a:cs typeface="Times New Roman" panose="02020603050405020304" pitchFamily="18" charset="0"/>
              </a:rPr>
              <a:t>Add Body Slides in this Portion Presentation </a:t>
            </a:r>
            <a:r>
              <a:rPr lang="en-US" sz="1100" b="0" noProof="0" dirty="0">
                <a:latin typeface="Times New Roman" panose="02020603050405020304" pitchFamily="18" charset="0"/>
                <a:cs typeface="Times New Roman" panose="02020603050405020304" pitchFamily="18" charset="0"/>
              </a:rPr>
              <a:t>1</a:t>
            </a:r>
            <a:r>
              <a:rPr lang="en-US" sz="3600" noProof="0" dirty="0">
                <a:latin typeface="Times New Roman" panose="02020603050405020304" pitchFamily="18" charset="0"/>
                <a:cs typeface="Times New Roman" panose="02020603050405020304" pitchFamily="18" charset="0"/>
              </a:rPr>
              <a:t>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a:xfrm>
            <a:off x="3081587" y="1220634"/>
            <a:ext cx="2980826" cy="225425"/>
          </a:xfrm>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717039"/>
            <a:ext cx="8458200" cy="4531361"/>
          </a:xfrm>
        </p:spPr>
        <p:txBody>
          <a:bodyPr>
            <a:normAutofit/>
          </a:bodyPr>
          <a:lstStyle/>
          <a:p>
            <a:r>
              <a:rPr lang="en-US" sz="2800" noProof="0" dirty="0">
                <a:latin typeface="Times New Roman" panose="02020603050405020304" pitchFamily="18" charset="0"/>
                <a:cs typeface="Times New Roman" panose="02020603050405020304" pitchFamily="18" charset="0"/>
              </a:rPr>
              <a:t>An illustration displays body slides actions by an image of a hand performing the following actions: tap, double tap, drag, flick, pinch, spread, press, and press + tap. </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a:xfrm>
            <a:off x="3092111" y="6350211"/>
            <a:ext cx="2959779" cy="228600"/>
          </a:xfrm>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latin typeface="Times New Roman" panose="02020603050405020304" pitchFamily="18" charset="0"/>
                <a:cs typeface="Times New Roman" panose="02020603050405020304" pitchFamily="18" charset="0"/>
              </a:rPr>
              <a:t>37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2529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18973"/>
            <a:ext cx="8458200" cy="1050265"/>
          </a:xfrm>
        </p:spPr>
        <p:txBody>
          <a:bodyPr>
            <a:normAutofit fontScale="90000"/>
          </a:bodyPr>
          <a:lstStyle/>
          <a:p>
            <a:r>
              <a:rPr lang="en-US" sz="3600" dirty="0">
                <a:latin typeface="Times New Roman" panose="02020603050405020304" pitchFamily="18" charset="0"/>
                <a:cs typeface="Times New Roman" panose="02020603050405020304" pitchFamily="18" charset="0"/>
              </a:rPr>
              <a:t>Add Body Slides in this Portion Presentation </a:t>
            </a:r>
            <a:r>
              <a:rPr lang="en-US" sz="1100" b="0" dirty="0">
                <a:latin typeface="Times New Roman" panose="02020603050405020304" pitchFamily="18" charset="0"/>
                <a:cs typeface="Times New Roman" panose="02020603050405020304" pitchFamily="18" charset="0"/>
              </a:rPr>
              <a:t>2</a:t>
            </a:r>
            <a:r>
              <a:rPr lang="en-US" sz="3600" dirty="0">
                <a:latin typeface="Times New Roman" panose="02020603050405020304" pitchFamily="18" charset="0"/>
                <a:cs typeface="Times New Roman" panose="02020603050405020304" pitchFamily="18" charset="0"/>
              </a:rPr>
              <a:t> – Text Alternative</a:t>
            </a:r>
            <a:endParaRPr lang="en-US" sz="3600" noProof="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a:xfrm>
            <a:off x="3081587" y="1220634"/>
            <a:ext cx="2980826" cy="225425"/>
          </a:xfrm>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717039"/>
            <a:ext cx="8458200" cy="4531361"/>
          </a:xfrm>
        </p:spPr>
        <p:txBody>
          <a:bodyPr>
            <a:noAutofit/>
          </a:bodyPr>
          <a:lstStyle/>
          <a:p>
            <a:r>
              <a:rPr lang="en-US" noProof="0" dirty="0">
                <a:latin typeface="Times New Roman" panose="02020603050405020304" pitchFamily="18" charset="0"/>
                <a:cs typeface="Times New Roman" panose="02020603050405020304" pitchFamily="18" charset="0"/>
              </a:rPr>
              <a:t>An illustration shows a pyramid which is labeled technology at the bottom and user on the top. The pyramid is divided into component design, architecture design, navigation design, content design, aesthetic design, and interface design from bottom to top. The content design is connected to the configuration testing which leads to the interface testing. The interface testing is connected to the interface design, and aesthetic design. The interface testing leads to the navigation testing, which is further leading to the component testing. The navigation testing is connected to architecture design, navigation design, and a combination of configuration testing, performance testing, and security testing. The component testing is connected to component design, and a combination of configuration testing, performance testing, and security testing. The combination of configuration testing, performance testing, and security testing is connected to technology as well.</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a:xfrm>
            <a:off x="3092111" y="6350211"/>
            <a:ext cx="2959779" cy="228600"/>
          </a:xfrm>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latin typeface="Times New Roman" panose="02020603050405020304" pitchFamily="18" charset="0"/>
                <a:cs typeface="Times New Roman" panose="02020603050405020304" pitchFamily="18" charset="0"/>
              </a:rPr>
              <a:t>38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88139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66712"/>
            <a:ext cx="8458200" cy="954786"/>
          </a:xfrm>
        </p:spPr>
        <p:txBody>
          <a:bodyPr>
            <a:normAutofit fontScale="90000"/>
          </a:bodyPr>
          <a:lstStyle/>
          <a:p>
            <a:r>
              <a:rPr lang="en-US" sz="3600" noProof="0" dirty="0">
                <a:latin typeface="Times New Roman" panose="02020603050405020304" pitchFamily="18" charset="0"/>
                <a:cs typeface="Times New Roman" panose="02020603050405020304" pitchFamily="18" charset="0"/>
              </a:rPr>
              <a:t>Qualitative Usability Assessment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a:xfrm>
            <a:off x="3081587" y="1220634"/>
            <a:ext cx="2980826" cy="225425"/>
          </a:xfrm>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717040"/>
            <a:ext cx="8458200" cy="4236086"/>
          </a:xfrm>
        </p:spPr>
        <p:txBody>
          <a:bodyPr>
            <a:normAutofit/>
          </a:bodyPr>
          <a:lstStyle/>
          <a:p>
            <a:r>
              <a:rPr lang="en-US" sz="2400" noProof="0" dirty="0">
                <a:latin typeface="Times New Roman" panose="02020603050405020304" pitchFamily="18" charset="0"/>
                <a:cs typeface="Times New Roman" panose="02020603050405020304" pitchFamily="18" charset="0"/>
              </a:rPr>
              <a:t>A diagram shows qualitative usability assessment criteria plotted on three axes for ease of use ease of understanding and predictability. The axis labeled ease of use shows the following components from the origin outward: misleading, difficult to learn, awkward, simple, effective, easy to learn. The axis labeled ease of understanding shows the following components from the origin outward: confusing, somewhat ambiguous, informative, clear. The axis labeled predictability shows the following components from the origin outward: inconsistent, lacking uniformity, generally uniform, predictable.</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a:xfrm>
            <a:off x="3092111" y="6350211"/>
            <a:ext cx="2959779" cy="228600"/>
          </a:xfrm>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a:xfrm>
            <a:off x="8626412" y="6673531"/>
            <a:ext cx="355840" cy="161396"/>
          </a:xfrm>
        </p:spPr>
        <p:txBody>
          <a:bodyPr/>
          <a:lstStyle/>
          <a:p>
            <a:fld id="{68151E55-6873-49E2-B8D5-2F265E6F1973}" type="slidenum">
              <a:rPr lang="en-US" smtClean="0">
                <a:latin typeface="Times New Roman" panose="02020603050405020304" pitchFamily="18" charset="0"/>
                <a:cs typeface="Times New Roman" panose="02020603050405020304" pitchFamily="18" charset="0"/>
              </a:rPr>
              <a:t>39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5425874"/>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Custom 5">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Custom 6">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465</TotalTime>
  <Words>14278</Words>
  <Application>Microsoft Office PowerPoint</Application>
  <PresentationFormat>On-screen Show (4:3)</PresentationFormat>
  <Paragraphs>495</Paragraphs>
  <Slides>39</Slides>
  <Notes>33</Notes>
  <HiddenSlides>4</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39</vt:i4>
      </vt:variant>
    </vt:vector>
  </HeadingPairs>
  <TitlesOfParts>
    <vt:vector size="48" baseType="lpstr">
      <vt:lpstr>quote-cjk-patch</vt:lpstr>
      <vt:lpstr>Arial</vt:lpstr>
      <vt:lpstr>Calibri</vt:lpstr>
      <vt:lpstr>Times New Roman</vt:lpstr>
      <vt:lpstr>Title Slides Master</vt:lpstr>
      <vt:lpstr>MainContentSlideMaster</vt:lpstr>
      <vt:lpstr>ClosingMaster</vt:lpstr>
      <vt:lpstr>DividerSlideMaster</vt:lpstr>
      <vt:lpstr>ImageDescriptionAppendixSlideMaster</vt:lpstr>
      <vt:lpstr>Chapter 21</vt:lpstr>
      <vt:lpstr>Creating a Mobile Test Plan</vt:lpstr>
      <vt:lpstr>Mobile Testing Guidelines 1 1</vt:lpstr>
      <vt:lpstr>Mobile Testing Guidelines 1 2</vt:lpstr>
      <vt:lpstr>Mobile Testing Strategies 1</vt:lpstr>
      <vt:lpstr>Mobile Testing Strategies 2</vt:lpstr>
      <vt:lpstr>UX – Gesture Testing Issues</vt:lpstr>
      <vt:lpstr>Add Body Slides in this Portion Presentation 1</vt:lpstr>
      <vt:lpstr>UX – Virtual Keyboards</vt:lpstr>
      <vt:lpstr>UX – Voice Input</vt:lpstr>
      <vt:lpstr>UX – Alerts and Extraordinary Conditions</vt:lpstr>
      <vt:lpstr>Web App Testing Steps 1 1</vt:lpstr>
      <vt:lpstr>Web App Testing Steps 1 2</vt:lpstr>
      <vt:lpstr>Add Body Slides in this Portion Presentation 2</vt:lpstr>
      <vt:lpstr>Web App – Content Testing</vt:lpstr>
      <vt:lpstr>Assessing Content Sematics</vt:lpstr>
      <vt:lpstr>Web App – Interface Testing</vt:lpstr>
      <vt:lpstr>Web App – Navigation Testing 1</vt:lpstr>
      <vt:lpstr>Web App – Navigation Testing 2</vt:lpstr>
      <vt:lpstr>Internationalization and Localization</vt:lpstr>
      <vt:lpstr>Security Testing</vt:lpstr>
      <vt:lpstr>Performance Testing</vt:lpstr>
      <vt:lpstr>Load Testing</vt:lpstr>
      <vt:lpstr>Stress Testing</vt:lpstr>
      <vt:lpstr>Creating Weighted Device Platform Matrix</vt:lpstr>
      <vt:lpstr>Weighted Device Platform Matrix</vt:lpstr>
      <vt:lpstr>Testing AI Systems</vt:lpstr>
      <vt:lpstr>Testing Virtual Environments</vt:lpstr>
      <vt:lpstr>Usability Test Categories 1</vt:lpstr>
      <vt:lpstr>Usability Test Categories 2</vt:lpstr>
      <vt:lpstr>Qualitative Usability Assessment</vt:lpstr>
      <vt:lpstr>Accessibility Testing</vt:lpstr>
      <vt:lpstr>Playability Testing</vt:lpstr>
      <vt:lpstr>Documentation Testing</vt:lpstr>
      <vt:lpstr>End of Main Content</vt:lpstr>
      <vt:lpstr>Accessibility Content: Text Alternatives for Images</vt:lpstr>
      <vt:lpstr>Add Body Slides in this Portion Presentation 1 – Text Alternative</vt:lpstr>
      <vt:lpstr>Add Body Slides in this Portion Presentation 2 – Text Alternative</vt:lpstr>
      <vt:lpstr>Qualitative Usability Assessment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Nan Gao</cp:lastModifiedBy>
  <cp:revision>64</cp:revision>
  <dcterms:created xsi:type="dcterms:W3CDTF">2019-01-22T22:04:31Z</dcterms:created>
  <dcterms:modified xsi:type="dcterms:W3CDTF">2025-11-26T13:34:45Z</dcterms:modified>
</cp:coreProperties>
</file>