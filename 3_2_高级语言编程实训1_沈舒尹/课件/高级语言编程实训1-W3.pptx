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2" r:id="rId3"/>
  </p:sldMasterIdLst>
  <p:notesMasterIdLst>
    <p:notesMasterId r:id="rId24"/>
  </p:notesMasterIdLst>
  <p:handoutMasterIdLst>
    <p:handoutMasterId r:id="rId35"/>
  </p:handoutMasterIdLst>
  <p:sldIdLst>
    <p:sldId id="393" r:id="rId4"/>
    <p:sldId id="364" r:id="rId5"/>
    <p:sldId id="394" r:id="rId6"/>
    <p:sldId id="337" r:id="rId7"/>
    <p:sldId id="336" r:id="rId8"/>
    <p:sldId id="344" r:id="rId9"/>
    <p:sldId id="395" r:id="rId10"/>
    <p:sldId id="345" r:id="rId11"/>
    <p:sldId id="347" r:id="rId12"/>
    <p:sldId id="346" r:id="rId13"/>
    <p:sldId id="348" r:id="rId14"/>
    <p:sldId id="349" r:id="rId15"/>
    <p:sldId id="350" r:id="rId16"/>
    <p:sldId id="351" r:id="rId17"/>
    <p:sldId id="398" r:id="rId18"/>
    <p:sldId id="352" r:id="rId19"/>
    <p:sldId id="353" r:id="rId20"/>
    <p:sldId id="400" r:id="rId21"/>
    <p:sldId id="401" r:id="rId22"/>
    <p:sldId id="354" r:id="rId23"/>
    <p:sldId id="399" r:id="rId25"/>
    <p:sldId id="355" r:id="rId26"/>
    <p:sldId id="356" r:id="rId27"/>
    <p:sldId id="357" r:id="rId28"/>
    <p:sldId id="360" r:id="rId29"/>
    <p:sldId id="402" r:id="rId30"/>
    <p:sldId id="403" r:id="rId31"/>
    <p:sldId id="361" r:id="rId32"/>
    <p:sldId id="362" r:id="rId33"/>
    <p:sldId id="363" r:id="rId34"/>
  </p:sldIdLst>
  <p:sldSz cx="12192000" cy="6858000"/>
  <p:notesSz cx="6858000" cy="9144000"/>
  <p:embeddedFontLst>
    <p:embeddedFont>
      <p:font typeface="微软雅黑" panose="020B0503020204020204" charset="-122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74"/>
    <a:srgbClr val="0000FF"/>
    <a:srgbClr val="FFFFFF"/>
    <a:srgbClr val="68174B"/>
    <a:srgbClr val="97216D"/>
    <a:srgbClr val="CC99FF"/>
    <a:srgbClr val="AFABAB"/>
    <a:srgbClr val="7F7F7F"/>
    <a:srgbClr val="767171"/>
    <a:srgbClr val="4F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0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42.xml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slide" Target="slides/slide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D8E420-9D67-4E04-AAC0-CD197AFC47C8}" type="datetimeFigureOut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82D08-7386-4E2F-A9E1-10702E2F33D5}" type="slidenum">
              <a:rPr lang="zh-CN" altLang="en-US" smtClean="0">
                <a:latin typeface="Noto Sans S Chinese Black" panose="020B0A00000000000000" pitchFamily="34" charset="-122"/>
                <a:ea typeface="Noto Sans S Chinese Black" panose="020B0A00000000000000" pitchFamily="34" charset="-122"/>
              </a:rPr>
            </a:fld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9" descr="南开大学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>
              <a:defRPr/>
            </a:pPr>
            <a:endParaRPr lang="en-US" alt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38D99A82-D64C-4D65-9369-2187D866FEA7}" type="slidenum">
              <a:rPr lang="zh-CN" altLang="en-US" smtClean="0"/>
            </a:fld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0" y="298174"/>
            <a:ext cx="3468757" cy="496956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3075" name="图片 6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>
                <a:solidFill>
                  <a:schemeClr val="lt1"/>
                </a:solidFill>
              </a:endParaRPr>
            </a:p>
          </p:txBody>
        </p:sp>
        <p:pic>
          <p:nvPicPr>
            <p:cNvPr id="3077" name="图片 7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86890" y="257810"/>
            <a:ext cx="10401935" cy="548640"/>
          </a:xfrm>
          <a:ln>
            <a:noFill/>
          </a:ln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4099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4101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1340" y="200025"/>
            <a:ext cx="787654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smtClean="0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auto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auto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auto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auto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组合 12"/>
          <p:cNvGrpSpPr/>
          <p:nvPr/>
        </p:nvGrpSpPr>
        <p:grpSpPr>
          <a:xfrm>
            <a:off x="-3175" y="138113"/>
            <a:ext cx="12195175" cy="779462"/>
            <a:chOff x="-5" y="217"/>
            <a:chExt cx="19204" cy="1228"/>
          </a:xfrm>
        </p:grpSpPr>
        <p:pic>
          <p:nvPicPr>
            <p:cNvPr id="5123" name="图片 7" descr="素材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5" y="217"/>
              <a:ext cx="19200" cy="1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椭圆 11"/>
            <p:cNvSpPr/>
            <p:nvPr userDrawn="1"/>
          </p:nvSpPr>
          <p:spPr>
            <a:xfrm>
              <a:off x="15510" y="243"/>
              <a:ext cx="1191" cy="119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auto"/>
              <a:endParaRPr lang="zh-CN" altLang="en-US" strike="noStrike" noProof="1"/>
            </a:p>
          </p:txBody>
        </p:sp>
        <p:pic>
          <p:nvPicPr>
            <p:cNvPr id="5125" name="图片 8" descr="学院logo2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81" y="315"/>
              <a:ext cx="3519" cy="103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13560" y="212090"/>
            <a:ext cx="7919720" cy="705485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0" b="25920"/>
          <a:stretch>
            <a:fillRect/>
          </a:stretch>
        </p:blipFill>
        <p:spPr>
          <a:xfrm>
            <a:off x="9843180" y="203719"/>
            <a:ext cx="2019301" cy="762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A1C96D6-D75D-4657-9902-6BA7C06401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9DF575B-2F74-41A5-94FC-C655C1CED71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 rot="5400000">
            <a:off x="5134769" y="-3017044"/>
            <a:ext cx="1922463" cy="12192000"/>
          </a:xfrm>
          <a:prstGeom prst="rect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350" strike="noStrike" noProof="1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  <p:pic>
        <p:nvPicPr>
          <p:cNvPr id="7171" name="图片 9" descr="南开大学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28188" y="66675"/>
            <a:ext cx="2463800" cy="760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0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lvl="0" fontAlgn="auto"/>
            <a:r>
              <a:rPr lang="zh-CN" altLang="en-US" strike="noStrike" noProof="1" smtClean="0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192735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400" spc="2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C96D6-D75D-4657-9902-6BA7C064019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F575B-2F74-41A5-94FC-C655C1CED71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ransition spd="med">
    <p:fade/>
  </p:transition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711A5F"/>
          </a:solidFill>
          <a:uFillTx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Clr>
          <a:srgbClr val="BB66AA"/>
        </a:buClr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tabLst>
          <a:tab pos="1609725" algn="l"/>
          <a:tab pos="1609725" algn="l"/>
          <a:tab pos="1609725" algn="l"/>
          <a:tab pos="1609725" algn="l"/>
        </a:tabLst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BB66AA"/>
        </a:buClr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24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Clr>
          <a:srgbClr val="BB66AA"/>
        </a:buClr>
        <a:buFont typeface="Arial" panose="020B0604020202020204" pitchFamily="34" charset="0"/>
        <a:buChar char="•"/>
        <a:defRPr sz="18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7.png"/><Relationship Id="rId3" Type="http://schemas.openxmlformats.org/officeDocument/2006/relationships/tags" Target="../tags/tag17.xml"/><Relationship Id="rId2" Type="http://schemas.openxmlformats.org/officeDocument/2006/relationships/image" Target="../media/image6.png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9.png"/><Relationship Id="rId3" Type="http://schemas.openxmlformats.org/officeDocument/2006/relationships/tags" Target="../tags/tag19.xml"/><Relationship Id="rId2" Type="http://schemas.openxmlformats.org/officeDocument/2006/relationships/image" Target="../media/image8.png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1.png"/><Relationship Id="rId3" Type="http://schemas.openxmlformats.org/officeDocument/2006/relationships/tags" Target="../tags/tag21.xml"/><Relationship Id="rId2" Type="http://schemas.openxmlformats.org/officeDocument/2006/relationships/image" Target="../media/image10.png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5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hyperlink" Target="https://blog.csdn.net/nry011015/article/details/135385734?utm_medium=distribute.pc_feed_404.none-task-blog-2~default~BlogCommendFromBaidu~Rate-1-135385734-blog-null.262^v1^pc_404_mixedpudn&amp;depth_1-utm_source=distribute.pc_feed_404.none-task-blog-2~default~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33.xml"/><Relationship Id="rId2" Type="http://schemas.openxmlformats.org/officeDocument/2006/relationships/image" Target="../media/image12.png"/><Relationship Id="rId1" Type="http://schemas.openxmlformats.org/officeDocument/2006/relationships/tags" Target="../tags/tag3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tags" Target="../tags/tag35.xml"/><Relationship Id="rId3" Type="http://schemas.openxmlformats.org/officeDocument/2006/relationships/image" Target="../media/image12.png"/><Relationship Id="rId2" Type="http://schemas.openxmlformats.org/officeDocument/2006/relationships/tags" Target="../tags/tag34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8.png"/><Relationship Id="rId3" Type="http://schemas.openxmlformats.org/officeDocument/2006/relationships/tags" Target="../tags/tag37.xml"/><Relationship Id="rId2" Type="http://schemas.openxmlformats.org/officeDocument/2006/relationships/image" Target="../media/image17.png"/><Relationship Id="rId1" Type="http://schemas.openxmlformats.org/officeDocument/2006/relationships/tags" Target="../tags/tag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tags" Target="../tags/tag3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tags" Target="../tags/tag4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tags" Target="../tags/tag4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noProof="0" dirty="0">
                <a:solidFill>
                  <a:schemeClr val="bg1"/>
                </a:solidFill>
                <a:ea typeface="Noto Sans S Chinese Bold" panose="020B0800000000000000" pitchFamily="34" charset="-122"/>
                <a:cs typeface="Arial" panose="020B0604020202020204" pitchFamily="34" charset="0"/>
                <a:sym typeface="+mn-ea"/>
              </a:rPr>
              <a:t>Week3:Retro Snake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 spc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ea typeface="Noto Sans S Chinese Black" panose="020B0A00000000000000" pitchFamily="34" charset="-122"/>
                <a:cs typeface="Times New Roman" panose="02020603050405020304" pitchFamily="18" charset="0"/>
                <a:sym typeface="+mn-ea"/>
              </a:rPr>
              <a:t>——Practice of Programming Language 1——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Noto Sans S Chinese Black" panose="020B0A00000000000000" pitchFamily="34" charset="-122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197475" y="4705350"/>
            <a:ext cx="1802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 Shuyin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b="1">
                <a:solidFill>
                  <a:srgbClr val="6817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</a:t>
            </a:r>
            <a:endParaRPr lang="en-US" altLang="zh-CN" b="1">
              <a:solidFill>
                <a:srgbClr val="6817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Review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57294"/>
          <a:stretch>
            <a:fillRect/>
          </a:stretch>
        </p:blipFill>
        <p:spPr>
          <a:xfrm>
            <a:off x="608330" y="1536700"/>
            <a:ext cx="4960620" cy="28181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rcRect t="42648"/>
          <a:stretch>
            <a:fillRect/>
          </a:stretch>
        </p:blipFill>
        <p:spPr>
          <a:xfrm>
            <a:off x="6519545" y="1536700"/>
            <a:ext cx="4960620" cy="3784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内容占位符 6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7230" y="1897380"/>
            <a:ext cx="4998720" cy="3954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Review</a:t>
            </a:r>
            <a:endParaRPr lang="en-US" altLang="zh-CN"/>
          </a:p>
        </p:txBody>
      </p:sp>
      <p:pic>
        <p:nvPicPr>
          <p:cNvPr id="10" name="内容占位符 7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11595" y="1827530"/>
            <a:ext cx="5176520" cy="40951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en-US" altLang="zh-C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Array Declaration and Initialization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5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en-US" altLang="zh-CN" sz="355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Which one is correct?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A.int a[2][]={{0,1,2},{3,4,5}};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B.int a[][3]={{0,1,2},{3,4,5}};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C.int a[2][4]={{0,1,2},{3,4},{5}};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D.int a[][3]={{0,2},{},{3,4,5}};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</a:t>
            </a:r>
            <a:r>
              <a:rPr lang="en-US" altLang="zh-CN"/>
              <a:t>view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6425" y="1813560"/>
            <a:ext cx="3930015" cy="4078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899025" y="1813560"/>
            <a:ext cx="7018655" cy="4008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Review</a:t>
            </a:r>
            <a:endParaRPr lang="en-US" altLang="zh-CN"/>
          </a:p>
        </p:txBody>
      </p:sp>
      <p:pic>
        <p:nvPicPr>
          <p:cNvPr id="7" name="内容占位符 6"/>
          <p:cNvPicPr>
            <a:picLocks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1779270"/>
            <a:ext cx="5177155" cy="4191635"/>
          </a:xfrm>
          <a:prstGeom prst="rect">
            <a:avLst/>
          </a:prstGeom>
        </p:spPr>
      </p:pic>
      <p:pic>
        <p:nvPicPr>
          <p:cNvPr id="8" name="内容占位符 7"/>
          <p:cNvPicPr>
            <a:picLocks noChangeAspect="1"/>
          </p:cNvPicPr>
          <p:nvPr>
            <p:ph sz="half" idx="2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45885" y="1501140"/>
            <a:ext cx="5107305" cy="4748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 function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drawUnitBlock()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drawSnake()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drawBackground()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sz="2800" dirty="0">
                <a:cs typeface="Arial" panose="020B0604020202020204" pitchFamily="34" charset="0"/>
                <a:sym typeface="+mn-ea"/>
              </a:rPr>
              <a:t>Use setbkcolor or loadimage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800" dirty="0">
                <a:solidFill>
                  <a:schemeClr val="tx1"/>
                </a:solidFill>
                <a:effectLst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RGB(r, g, b);</a:t>
            </a:r>
            <a:endParaRPr lang="en-US" altLang="zh-CN" sz="2800" b="0" i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en-US" altLang="zh-CN" sz="2800" b="0" i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 &amp; View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: Visualization or presentation of the information user required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Storage of the information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Logic (Programmer’s Perspective)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Operations of information, which can handle the information according to the user’s requirement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defRPr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Separation of the logic and presentation is one of the most important ability of programming.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 </a:t>
            </a:r>
            <a:r>
              <a:rPr lang="en-US" altLang="zh-CN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Games</a:t>
            </a:r>
            <a:endParaRPr lang="en-US" altLang="zh-CN" sz="2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Drawing a snake (2-D Array)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Interacted with users by using the keyboard.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Updating the positions of snake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Snake auto move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How?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Clr>
                <a:srgbClr val="97216D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Model: 2-D Array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4 directions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4023360" y="2288857"/>
            <a:ext cx="2257425" cy="42338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int snake[12][2] = {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{14, 11},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{13, 11},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{13, 10},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{12, 10},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{11, 10},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{11, 9},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{11, 8},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{11, 7},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{10, 7},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{9, 7},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{8, 7},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{7, 7}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}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>
            <p:ph sz="half" idx="2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095" y="1712595"/>
            <a:ext cx="504825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Coordinate</a:t>
            </a:r>
            <a:endParaRPr lang="en-US" altLang="zh-CN"/>
          </a:p>
        </p:txBody>
      </p:sp>
      <p:grpSp>
        <p:nvGrpSpPr>
          <p:cNvPr id="14" name="Group 3"/>
          <p:cNvGrpSpPr/>
          <p:nvPr/>
        </p:nvGrpSpPr>
        <p:grpSpPr>
          <a:xfrm>
            <a:off x="2154873" y="1828800"/>
            <a:ext cx="8143875" cy="4162425"/>
            <a:chOff x="214313" y="1785938"/>
            <a:chExt cx="8143875" cy="4162425"/>
          </a:xfrm>
        </p:grpSpPr>
        <p:pic>
          <p:nvPicPr>
            <p:cNvPr id="15" name="Picture 3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1813" y="2500313"/>
              <a:ext cx="4838700" cy="3448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" name="组合 11"/>
            <p:cNvGrpSpPr/>
            <p:nvPr/>
          </p:nvGrpSpPr>
          <p:grpSpPr bwMode="auto">
            <a:xfrm>
              <a:off x="2143125" y="1785938"/>
              <a:ext cx="6215063" cy="3716337"/>
              <a:chOff x="1214414" y="1785926"/>
              <a:chExt cx="6215106" cy="3715570"/>
            </a:xfrm>
          </p:grpSpPr>
          <p:cxnSp>
            <p:nvCxnSpPr>
              <p:cNvPr id="17" name="直接箭头连接符 4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1714480" y="2214463"/>
                <a:ext cx="5286412" cy="158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6"/>
              <p:cNvCxnSpPr/>
              <p:nvPr>
                <p:custDataLst>
                  <p:tags r:id="rId4"/>
                </p:custDataLst>
              </p:nvPr>
            </p:nvCxnSpPr>
            <p:spPr>
              <a:xfrm rot="5400000">
                <a:off x="71757" y="3857185"/>
                <a:ext cx="3285447" cy="3175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7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143768" y="1785926"/>
                <a:ext cx="285752" cy="368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zh-CN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8"/>
              <p:cNvSpPr txBox="1"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214414" y="5072074"/>
                <a:ext cx="285752" cy="368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zh-CN" altLang="en-US" sz="1800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Box 9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357290" y="1857365"/>
                <a:ext cx="857256" cy="368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0,0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sz="1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线形标注 1 12"/>
            <p:cNvSpPr/>
            <p:nvPr>
              <p:custDataLst>
                <p:tags r:id="rId8"/>
              </p:custDataLst>
            </p:nvPr>
          </p:nvSpPr>
          <p:spPr>
            <a:xfrm>
              <a:off x="214313" y="1857375"/>
              <a:ext cx="1857375" cy="785813"/>
            </a:xfrm>
            <a:prstGeom prst="borderCallout1">
              <a:avLst>
                <a:gd name="adj1" fmla="val 43002"/>
                <a:gd name="adj2" fmla="val 101380"/>
                <a:gd name="adj3" fmla="val 326785"/>
                <a:gd name="adj4" fmla="val 33228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(</a:t>
              </a:r>
              <a:r>
                <a:rPr lang="en-US" altLang="zh-CN" sz="2400" dirty="0">
                  <a:solidFill>
                    <a:schemeClr val="tx1"/>
                  </a:solidFill>
                </a:rPr>
                <a:t>x, </a:t>
              </a:r>
              <a:r>
                <a:rPr lang="en-US" altLang="zh-CN" sz="2400" dirty="0">
                  <a:solidFill>
                    <a:schemeClr val="tx1"/>
                  </a:solidFill>
                </a:rPr>
                <a:t>y)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16"/>
            <p:cNvSpPr/>
            <p:nvPr>
              <p:custDataLst>
                <p:tags r:id="rId9"/>
              </p:custDataLst>
            </p:nvPr>
          </p:nvSpPr>
          <p:spPr>
            <a:xfrm>
              <a:off x="6391275" y="4429125"/>
              <a:ext cx="285750" cy="28575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Keyboard Control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lr>
                <a:srgbClr val="97216D"/>
              </a:buClr>
            </a:pPr>
            <a:r>
              <a:rPr lang="en-US" altLang="zh-CN" dirty="0">
                <a:cs typeface="Arial" panose="020B0604020202020204" pitchFamily="34" charset="0"/>
                <a:sym typeface="+mn-ea"/>
              </a:rPr>
              <a:t>Q: Which keys are most commonly used to control the player’s movement in computer games</a:t>
            </a:r>
            <a:r>
              <a:rPr lang="zh-CN" altLang="en-US" dirty="0">
                <a:cs typeface="Arial" panose="020B0604020202020204" pitchFamily="34" charset="0"/>
                <a:sym typeface="+mn-ea"/>
              </a:rPr>
              <a:t>?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1240" y="3047365"/>
            <a:ext cx="6096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14400" lvl="1" indent="-457200">
              <a:buClr>
                <a:srgbClr val="97216D"/>
              </a:buClr>
              <a:buFont typeface="Arial" panose="020B0604020202020204" pitchFamily="34" charset="0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WASD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97216D"/>
              </a:buClr>
              <a:buFont typeface="Arial" panose="020B0604020202020204" pitchFamily="34" charset="0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QWER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97216D"/>
              </a:buClr>
              <a:buFont typeface="Arial" panose="020B0604020202020204" pitchFamily="34" charset="0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ZXCV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Clr>
                <a:srgbClr val="97216D"/>
              </a:buClr>
              <a:buFont typeface="Arial" panose="020B0604020202020204" pitchFamily="34" charset="0"/>
              <a:buAutoNum type="arabicPeriod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1234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KeyBoard Control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>
              <a:buClr>
                <a:srgbClr val="97216D"/>
              </a:buClr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int _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getch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(void);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The function reads one character from the keyboard and returns its ASCII value.</a:t>
            </a:r>
            <a:endParaRPr lang="en-US" altLang="zh-CN" b="0" i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In order to work, the user must click in the graphics window (i.e., the Windows focus must be in the graphics window).</a:t>
            </a:r>
            <a:endParaRPr lang="en-US" altLang="zh-CN" b="0" i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_kbhit()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ch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eck if there is an input from the keyboard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  <a:hlinkClick r:id="rId1" action="ppaction://hlinkfile"/>
              </a:rPr>
              <a:t>_getch（）与_kbhit()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5020" y="108394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Which function to get the input?</a:t>
            </a:r>
            <a:endParaRPr lang="en-US" altLang="zh-CN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Basic Game </a:t>
            </a:r>
            <a:r>
              <a:rPr lang="en-US" altLang="zh-CN"/>
              <a:t>Loop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zh-CN"/>
              <a:t>while(1) or while(flag)</a:t>
            </a:r>
            <a:endParaRPr lang="en-US" altLang="zh-CN"/>
          </a:p>
          <a:p>
            <a:endParaRPr lang="en-US" altLang="zh-CN"/>
          </a:p>
          <a:p>
            <a:r>
              <a:rPr lang="en-US" altLang="zh-CN" dirty="0">
                <a:cs typeface="Arial" panose="020B0604020202020204" pitchFamily="34" charset="0"/>
                <a:sym typeface="+mn-ea"/>
              </a:rPr>
              <a:t>char input = _</a:t>
            </a:r>
            <a:r>
              <a:rPr lang="en-US" altLang="zh-CN" dirty="0" err="1">
                <a:cs typeface="Arial" panose="020B0604020202020204" pitchFamily="34" charset="0"/>
                <a:sym typeface="+mn-ea"/>
              </a:rPr>
              <a:t>getch</a:t>
            </a:r>
            <a:r>
              <a:rPr lang="en-US" altLang="zh-CN" dirty="0">
                <a:cs typeface="Arial" panose="020B0604020202020204" pitchFamily="34" charset="0"/>
                <a:sym typeface="+mn-ea"/>
              </a:rPr>
              <a:t>(); </a:t>
            </a:r>
            <a:r>
              <a:rPr lang="en-US" altLang="zh-CN" sz="3200">
                <a:solidFill>
                  <a:srgbClr val="00B050"/>
                </a:solidFill>
                <a:sym typeface="+mn-ea"/>
              </a:rPr>
              <a:t>//Get keyboard input</a:t>
            </a:r>
            <a:endParaRPr lang="en-US" altLang="zh-CN" sz="3200"/>
          </a:p>
          <a:p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while(true)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{</a:t>
            </a:r>
            <a:endParaRPr lang="en-US" altLang="zh-CN"/>
          </a:p>
          <a:p>
            <a:pPr marL="457200" lvl="1" indent="0">
              <a:buNone/>
            </a:pPr>
            <a:r>
              <a:rPr lang="en-US" altLang="zh-CN">
                <a:solidFill>
                  <a:srgbClr val="00B050"/>
                </a:solidFill>
              </a:rPr>
              <a:t>//Get data();</a:t>
            </a:r>
            <a:endParaRPr lang="en-US" altLang="zh-CN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rgbClr val="00B050"/>
                </a:solidFill>
              </a:rPr>
              <a:t>//Control data();</a:t>
            </a:r>
            <a:endParaRPr lang="en-US" altLang="zh-CN">
              <a:solidFill>
                <a:srgbClr val="00B050"/>
              </a:solidFill>
            </a:endParaRPr>
          </a:p>
          <a:p>
            <a:pPr marL="457200" lvl="1" indent="0">
              <a:buNone/>
            </a:pPr>
            <a:r>
              <a:rPr lang="en-US" altLang="zh-CN">
                <a:solidFill>
                  <a:srgbClr val="00B050"/>
                </a:solidFill>
              </a:rPr>
              <a:t>//Draw view();</a:t>
            </a:r>
            <a:endParaRPr lang="en-US" altLang="zh-CN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/>
              <a:t>}</a:t>
            </a:r>
            <a:endParaRPr lang="en-US" altLang="zh-CN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315970" y="3408045"/>
            <a:ext cx="3335655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loops control</a:t>
            </a:r>
            <a:endParaRPr lang="en-US" altLang="zh-CN" sz="3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内容占位符 2"/>
          <p:cNvSpPr>
            <a:spLocks noGrp="1"/>
          </p:cNvSpPr>
          <p:nvPr>
            <p:ph sz="half" idx="1"/>
          </p:nvPr>
        </p:nvSpPr>
        <p:spPr>
          <a:xfrm>
            <a:off x="608330" y="1139825"/>
            <a:ext cx="5868035" cy="5605145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while (1)</a:t>
            </a:r>
            <a:endParaRPr kumimoji="0" lang="en-US" altLang="zh-CN" sz="16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{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char input = _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getch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();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//Get data;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if ( input == ‘a’ 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{            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change snake array go "LEFT"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	          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//draw new snake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else if ( input == ‘s’ 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{                   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altLang="zh-CN" sz="1600" dirty="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change snake array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"DOWN"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        //draw new snake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else if ( input == ‘q’ 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Quit the loop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	break;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3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56095" y="1139825"/>
            <a:ext cx="4714875" cy="5222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Practice1</a:t>
            </a:r>
            <a:endParaRPr lang="en-US" altLang="zh-CN" sz="32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Complete the code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Make one directions change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Move Right 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Clr>
                <a:srgbClr val="97216D"/>
              </a:buClr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Hit key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‘d’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snake move to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6600" y="4090035"/>
            <a:ext cx="5967095" cy="193802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if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(input </a:t>
            </a:r>
            <a:r>
              <a:rPr lang="en-US" altLang="zh-CN" sz="2000" dirty="0">
                <a:solidFill>
                  <a:srgbClr val="000074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==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‘d’</a:t>
            </a:r>
            <a:r>
              <a:rPr lang="en-US" altLang="zh-CN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{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snake[][]=...  </a:t>
            </a: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//How to change snake array? </a:t>
            </a:r>
            <a:endParaRPr lang="en-US" altLang="zh-CN"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               //How to </a:t>
            </a:r>
            <a:r>
              <a:rPr lang="en-US" altLang="zh-CN" sz="2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draw snake</a:t>
            </a:r>
            <a:r>
              <a:rPr lang="en-US" altLang="zh-CN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?</a:t>
            </a:r>
            <a:endParaRPr lang="en-US" altLang="zh-CN"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}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>
            <p:ph sz="half" idx="2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895" y="1266825"/>
            <a:ext cx="504825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7458710" y="2012950"/>
            <a:ext cx="253365" cy="255270"/>
          </a:xfrm>
          <a:prstGeom prst="rect">
            <a:avLst/>
          </a:prstGeom>
          <a:solidFill>
            <a:srgbClr val="FFFFFF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0086975" y="3602990"/>
            <a:ext cx="86931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Change Snake Array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Copy the data from the tail to the head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228600" lvl="1" algn="l" defTabSz="914400">
              <a:lnSpc>
                <a:spcPct val="130000"/>
              </a:lnSpc>
              <a:spcAft>
                <a:spcPts val="1000"/>
              </a:spcAft>
              <a:buSzTx/>
              <a:buChar char="●"/>
            </a:pPr>
            <a:endParaRPr lang="en-US" altLang="zh-CN" sz="3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5" y="2200275"/>
            <a:ext cx="5353685" cy="1482090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 noChangeArrowheads="1"/>
          </p:cNvPicPr>
          <p:nvPr>
            <p:ph sz="half" idx="2"/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920" y="2533650"/>
            <a:ext cx="504825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8191500" y="4110355"/>
            <a:ext cx="1878330" cy="1063625"/>
            <a:chOff x="12900" y="6473"/>
            <a:chExt cx="2958" cy="1675"/>
          </a:xfrm>
        </p:grpSpPr>
        <p:grpSp>
          <p:nvGrpSpPr>
            <p:cNvPr id="8" name="组合 7"/>
            <p:cNvGrpSpPr/>
            <p:nvPr/>
          </p:nvGrpSpPr>
          <p:grpSpPr>
            <a:xfrm>
              <a:off x="12900" y="6473"/>
              <a:ext cx="2958" cy="1675"/>
              <a:chOff x="12900" y="6473"/>
              <a:chExt cx="2958" cy="1675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5517" y="7823"/>
                <a:ext cx="341" cy="325"/>
              </a:xfrm>
              <a:prstGeom prst="rect">
                <a:avLst/>
              </a:prstGeom>
              <a:pattFill prst="pct40">
                <a:fgClr>
                  <a:srgbClr val="FF0000"/>
                </a:fgClr>
                <a:bgClr>
                  <a:srgbClr val="FFFFFF"/>
                </a:bgClr>
              </a:pattFill>
              <a:ln w="12700" cmpd="sng">
                <a:solidFill>
                  <a:srgbClr val="FF0000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2900" y="6473"/>
                <a:ext cx="342" cy="325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15226" y="7823"/>
              <a:ext cx="291" cy="3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 cmpd="sng">
              <a:solidFill>
                <a:schemeClr val="tx1">
                  <a:lumMod val="50000"/>
                </a:schemeClr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矩形 10"/>
          <p:cNvSpPr/>
          <p:nvPr/>
        </p:nvSpPr>
        <p:spPr>
          <a:xfrm>
            <a:off x="7151370" y="3284855"/>
            <a:ext cx="211455" cy="201930"/>
          </a:xfrm>
          <a:prstGeom prst="rect">
            <a:avLst/>
          </a:prstGeom>
          <a:solidFill>
            <a:srgbClr val="FFFFFF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080" y="5252085"/>
            <a:ext cx="2832735" cy="5137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08330" y="41103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l"/>
            </a:pPr>
            <a:r>
              <a:rPr lang="en-US" altLang="zh-CN" sz="3200">
                <a:sym typeface="+mn-ea"/>
              </a:rPr>
              <a:t>Change the head data</a:t>
            </a:r>
            <a:endParaRPr lang="en-US" altLang="zh-CN" sz="32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3" grpId="0" build="p"/>
      <p:bldP spid="3" grpI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Question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u="sng">
                <a:solidFill>
                  <a:srgbClr val="FF0000"/>
                </a:solidFill>
              </a:rPr>
              <a:t>Thinking</a:t>
            </a:r>
            <a:r>
              <a:rPr lang="zh-CN" altLang="en-US" u="sng">
                <a:solidFill>
                  <a:srgbClr val="FF0000"/>
                </a:solidFill>
              </a:rPr>
              <a:t>: How to draw </a:t>
            </a:r>
            <a:r>
              <a:rPr lang="en-US" altLang="zh-CN" u="sng">
                <a:solidFill>
                  <a:srgbClr val="FF0000"/>
                </a:solidFill>
              </a:rPr>
              <a:t>new </a:t>
            </a:r>
            <a:r>
              <a:rPr lang="zh-CN" altLang="en-US" u="sng">
                <a:solidFill>
                  <a:srgbClr val="FF0000"/>
                </a:solidFill>
              </a:rPr>
              <a:t>snake?</a:t>
            </a:r>
            <a:endParaRPr lang="zh-CN" altLang="en-US" u="sng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Erase the snake</a:t>
            </a:r>
            <a:endParaRPr lang="en-US" altLang="zh-CN" sz="3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Clr>
                <a:srgbClr val="97216D"/>
              </a:buClr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Draw with the background color or reload the background image.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drawBackground()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Use background image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rgbClr val="97216D"/>
              </a:buClr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Implement the loading of the image "D:test.jpg" to the graphics window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10335" y="3364865"/>
            <a:ext cx="8759825" cy="1238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31820" y="5616575"/>
            <a:ext cx="4924425" cy="933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Multi-Byte character set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05075" y="2212975"/>
            <a:ext cx="6541135" cy="45269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26210" y="1198245"/>
            <a:ext cx="917003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 error C2665: “loadimage”： 2 个重载中没有一个可以转换所有参数类型</a:t>
            </a:r>
            <a:endParaRPr lang="zh-CN" altLang="en-US" sz="200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项目-〉属性-〉高级-〉字符集-〉使用多字节字符集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 while loops control</a:t>
            </a:r>
            <a:endParaRPr lang="en-US" altLang="zh-CN" sz="28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6411595" y="1294130"/>
            <a:ext cx="5309870" cy="4748530"/>
          </a:xfrm>
        </p:spPr>
        <p:txBody>
          <a:bodyPr>
            <a:normAutofit fontScale="25000"/>
          </a:bodyPr>
          <a:p>
            <a:pPr marL="0" indent="0">
              <a:lnSpc>
                <a:spcPct val="100000"/>
              </a:lnSpc>
              <a:buNone/>
            </a:pPr>
            <a:r>
              <a:rPr lang="zh-CN" altLang="en-US" sz="6400"/>
              <a:t>while(1)</a:t>
            </a:r>
            <a:endParaRPr lang="zh-CN" altLang="en-US" sz="6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400"/>
              <a:t>{</a:t>
            </a:r>
            <a:endParaRPr lang="zh-CN" altLang="en-US" sz="6400"/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6400"/>
              <a:t>if (_kbhit())</a:t>
            </a:r>
            <a:endParaRPr lang="zh-CN" altLang="en-US" sz="6400"/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6400"/>
              <a:t>{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char input = getch();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if ( input == ‘a’ )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{ </a:t>
            </a:r>
            <a:r>
              <a:rPr lang="zh-CN" altLang="en-US" sz="6400">
                <a:solidFill>
                  <a:srgbClr val="00B050"/>
                </a:solidFill>
              </a:rPr>
              <a:t> // change snake data go "LEFT"</a:t>
            </a:r>
            <a:r>
              <a:rPr lang="zh-CN" altLang="en-US" sz="6400"/>
              <a:t>｝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else if ( input == ‘s’ )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{</a:t>
            </a:r>
            <a:r>
              <a:rPr lang="zh-CN" altLang="en-US" sz="6400">
                <a:solidFill>
                  <a:srgbClr val="00B050"/>
                </a:solidFill>
              </a:rPr>
              <a:t>  // change snake data go "DOWN"</a:t>
            </a:r>
            <a:r>
              <a:rPr lang="zh-CN" altLang="en-US" sz="6400"/>
              <a:t>｝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else if.....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....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drawBackground();</a:t>
            </a:r>
            <a:endParaRPr lang="zh-CN" altLang="en-US" sz="6400"/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6400"/>
              <a:t>drawSnake();</a:t>
            </a:r>
            <a:endParaRPr lang="zh-CN" altLang="en-US" sz="6400"/>
          </a:p>
          <a:p>
            <a:pPr marL="0" indent="457200">
              <a:lnSpc>
                <a:spcPct val="100000"/>
              </a:lnSpc>
              <a:buNone/>
            </a:pPr>
            <a:r>
              <a:rPr lang="zh-CN" altLang="en-US" sz="6400"/>
              <a:t>}</a:t>
            </a:r>
            <a:endParaRPr lang="zh-CN" altLang="en-US" sz="640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400"/>
              <a:t>}</a:t>
            </a:r>
            <a:endParaRPr lang="zh-CN" altLang="en-US" sz="6400"/>
          </a:p>
        </p:txBody>
      </p:sp>
      <p:sp>
        <p:nvSpPr>
          <p:cNvPr id="37892" name="内容占位符 2"/>
          <p:cNvSpPr>
            <a:spLocks noGrp="1"/>
          </p:cNvSpPr>
          <p:nvPr>
            <p:ph sz="half" idx="1"/>
          </p:nvPr>
        </p:nvSpPr>
        <p:spPr>
          <a:xfrm>
            <a:off x="609035" y="1294190"/>
            <a:ext cx="5176800" cy="4748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while(1)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char input =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getch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if ( input == ‘a’ 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// change snake data go "LEFT"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drawBackground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();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Erase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	 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drawSnake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(color);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Update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else if ( input == ‘s’ 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{                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en-US" altLang="zh-CN" sz="1600" dirty="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change snake data go </a:t>
            </a:r>
            <a:r>
              <a:rPr lang="en-US" altLang="zh-CN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"DOWN"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 err="1">
                <a:cs typeface="Arial" panose="020B0604020202020204" pitchFamily="34" charset="0"/>
                <a:sym typeface="+mn-ea"/>
              </a:rPr>
              <a:t>     drawBackground</a:t>
            </a:r>
            <a:r>
              <a:rPr lang="en-US" altLang="zh-CN" sz="1600" dirty="0">
                <a:cs typeface="Arial" panose="020B0604020202020204" pitchFamily="34" charset="0"/>
                <a:sym typeface="+mn-ea"/>
              </a:rPr>
              <a:t>(); </a:t>
            </a:r>
            <a:r>
              <a:rPr lang="en-US" altLang="zh-CN" sz="1600" dirty="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// Erase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cs typeface="Arial" panose="020B0604020202020204" pitchFamily="34" charset="0"/>
                <a:sym typeface="+mn-ea"/>
              </a:rPr>
              <a:t>	  </a:t>
            </a:r>
            <a:r>
              <a:rPr lang="en-US" altLang="zh-CN" sz="1600" dirty="0" err="1">
                <a:cs typeface="Arial" panose="020B0604020202020204" pitchFamily="34" charset="0"/>
                <a:sym typeface="+mn-ea"/>
              </a:rPr>
              <a:t>drawSnake</a:t>
            </a:r>
            <a:r>
              <a:rPr lang="en-US" altLang="zh-CN" sz="1600" dirty="0">
                <a:cs typeface="Arial" panose="020B0604020202020204" pitchFamily="34" charset="0"/>
                <a:sym typeface="+mn-ea"/>
              </a:rPr>
              <a:t>(color); </a:t>
            </a:r>
            <a:r>
              <a:rPr lang="en-US" altLang="zh-CN" sz="1600" dirty="0">
                <a:solidFill>
                  <a:srgbClr val="00B050"/>
                </a:solidFill>
                <a:cs typeface="Arial" panose="020B0604020202020204" pitchFamily="34" charset="0"/>
                <a:sym typeface="+mn-ea"/>
              </a:rPr>
              <a:t>// Update</a:t>
            </a:r>
            <a:endParaRPr lang="en-US" altLang="zh-CN" sz="16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else if.....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zh-CN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48435" y="3189605"/>
            <a:ext cx="3455035" cy="7416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48435" y="5111115"/>
            <a:ext cx="3455035" cy="7416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37892" idx="3"/>
            <a:endCxn id="5" idx="1"/>
          </p:cNvCxnSpPr>
          <p:nvPr/>
        </p:nvCxnSpPr>
        <p:spPr>
          <a:xfrm>
            <a:off x="5785485" y="3668395"/>
            <a:ext cx="62611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indent="-457200" algn="l">
              <a:buClr>
                <a:srgbClr val="97216D"/>
              </a:buClr>
              <a:buSzTx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Use function to encapsulate the code.</a:t>
            </a:r>
            <a:endParaRPr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>
                <a:srgbClr val="97216D"/>
              </a:buClr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move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Snake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buClr>
                <a:srgbClr val="97216D"/>
              </a:buClr>
              <a:buNone/>
            </a:pPr>
            <a:r>
              <a:rPr lang="en-US" altLang="zh-CN" sz="3200">
                <a:solidFill>
                  <a:srgbClr val="00B050"/>
                </a:solidFill>
                <a:sym typeface="+mn-ea"/>
              </a:rPr>
              <a:t>  //Control data;</a:t>
            </a:r>
            <a:endParaRPr lang="en-US" altLang="zh-CN" sz="3200">
              <a:solidFill>
                <a:srgbClr val="00B050"/>
              </a:solidFill>
            </a:endParaRPr>
          </a:p>
          <a:p>
            <a:pPr marL="0" lvl="0" indent="0">
              <a:buClr>
                <a:srgbClr val="97216D"/>
              </a:buClr>
              <a:buNone/>
            </a:pP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56095" y="1501140"/>
            <a:ext cx="4286885" cy="474853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12940" y="1919605"/>
            <a:ext cx="4034155" cy="384873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4606290" y="3170555"/>
            <a:ext cx="2375535" cy="1016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818755" y="2592070"/>
            <a:ext cx="2220595" cy="2273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 to store snake’s positions</a:t>
            </a:r>
            <a:endParaRPr lang="en-US" altLang="zh-CN" sz="2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7216D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zh-CN" sz="2800" kern="0" spc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Separate logic and view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7216D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zh-CN" sz="2800" kern="0" spc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The key of moving snake is the positions of snake body.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7216D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zh-CN" sz="2800" kern="0" spc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A two dimensional array is used to record the positions of snake body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内容占位符 2"/>
          <p:cNvSpPr txBox="1"/>
          <p:nvPr/>
        </p:nvSpPr>
        <p:spPr bwMode="auto">
          <a:xfrm>
            <a:off x="2238375" y="1714500"/>
            <a:ext cx="5286375" cy="4948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7216D"/>
              </a:buClr>
              <a:buSzPct val="75000"/>
              <a:buFont typeface="Arial" panose="020B0604020202020204" pitchFamily="34" charset="0"/>
              <a:buChar char="•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array of snake body</a:t>
            </a:r>
            <a:endParaRPr lang="en-US" altLang="zh-CN" sz="28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7216D"/>
              </a:buClr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function “void </a:t>
            </a:r>
            <a:r>
              <a:rPr lang="en-US" altLang="zh-CN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zh-CN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oveSnake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()”, and make main function outputs like follows to check move correction.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97216D"/>
              </a:buClr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 of </a:t>
            </a:r>
            <a:r>
              <a:rPr lang="en-US" altLang="zh-CN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↓→↑→↓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5663" r="28666" b="66014"/>
          <a:stretch>
            <a:fillRect/>
          </a:stretch>
        </p:blipFill>
        <p:spPr>
          <a:xfrm>
            <a:off x="1734185" y="3571240"/>
            <a:ext cx="8724265" cy="1809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Auto Move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The snake auto moves to the current </a:t>
            </a:r>
            <a:r>
              <a:rPr lang="en-US" altLang="zh-CN">
                <a:solidFill>
                  <a:srgbClr val="FF0000"/>
                </a:solidFill>
              </a:rPr>
              <a:t>direction</a:t>
            </a:r>
            <a:r>
              <a:rPr lang="en-US" altLang="zh-CN"/>
              <a:t>.</a:t>
            </a:r>
            <a:endParaRPr lang="en-US" altLang="zh-CN"/>
          </a:p>
          <a:p>
            <a:r>
              <a:rPr lang="en-US" altLang="zh-CN">
                <a:solidFill>
                  <a:srgbClr val="FF0000"/>
                </a:solidFill>
              </a:rPr>
              <a:t>Need a variable to store the direction</a:t>
            </a:r>
            <a:endParaRPr lang="en-US" altLang="zh-CN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/>
              <a:t>if(toDirction == ‘LEFT’)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{......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}</a:t>
            </a:r>
            <a:endParaRPr lang="en-US" altLang="zh-CN"/>
          </a:p>
        </p:txBody>
      </p:sp>
      <p:pic>
        <p:nvPicPr>
          <p:cNvPr id="4" name="Picture 3"/>
          <p:cNvPicPr>
            <a:picLocks noChangeAspect="1"/>
          </p:cNvPicPr>
          <p:nvPr>
            <p:ph sz="half" idx="2"/>
            <p:custDataLst>
              <p:tags r:id="rId1"/>
            </p:custDataLst>
          </p:nvPr>
        </p:nvPicPr>
        <p:blipFill>
          <a:blip r:embed="rId2"/>
          <a:srcRect t="8398" b="24178"/>
          <a:stretch>
            <a:fillRect/>
          </a:stretch>
        </p:blipFill>
        <p:spPr>
          <a:xfrm>
            <a:off x="7165975" y="2963545"/>
            <a:ext cx="4286885" cy="320167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067675" y="3635375"/>
            <a:ext cx="2251710" cy="309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Fuction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void autoMove(int toDirection);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olidFill>
                  <a:srgbClr val="00B050"/>
                </a:solidFill>
              </a:rPr>
              <a:t>// 1,2,3,4 to represent up,down,left,right</a:t>
            </a:r>
            <a:endParaRPr lang="en-US" altLang="zh-CN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</a:t>
            </a:r>
            <a:endParaRPr lang="en-US" altLang="zh-CN" sz="32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97216D"/>
              </a:buClr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Review is the necessary step of software development.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Clr>
                <a:srgbClr val="97216D"/>
              </a:buClr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Review your experience.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Clr>
                <a:srgbClr val="97216D"/>
              </a:buClr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Review your work.</a:t>
            </a:r>
            <a:endParaRPr lang="en-US" altLang="zh-C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Clr>
                <a:srgbClr val="97216D"/>
              </a:buClr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Writing is the best way to review.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0" indent="0">
              <a:buClr>
                <a:srgbClr val="97216D"/>
              </a:buClr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Retro Snake2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 the keyboard to control the snake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Complete function moveSnake()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Clr>
                <a:srgbClr val="97216D"/>
              </a:buClr>
              <a:buAutoNum type="arabicPeriod"/>
            </a:pPr>
            <a:r>
              <a:rPr lang="en-US" altLang="zh-CN" dirty="0">
                <a:cs typeface="Arial" panose="020B0604020202020204" pitchFamily="34" charset="0"/>
                <a:sym typeface="+mn-ea"/>
              </a:rPr>
              <a:t>Print the arrays on the console for each keyboard movement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Complete function autoMove()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Clr>
                <a:srgbClr val="97216D"/>
              </a:buClr>
              <a:buAutoNum type="arabicPeriod"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Complete the main function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rgbClr val="97216D"/>
              </a:buClr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</a:t>
            </a:r>
            <a:endParaRPr lang="en-US" altLang="zh-CN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68174B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Create food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68174B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View Design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68174B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Length increas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68174B"/>
              </a:buClr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fucntions?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  <p:tag name="KSO_WM_UNIT_PLACING_PICTURE_USER_VIEWPORT" val="{&quot;height&quot;:7495,&quot;width&quot;:10830}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PP_MARK_KEY" val="4009fc62-181b-4858-b937-28414374710c"/>
  <p:tag name="COMMONDATA" val="eyJoZGlkIjoiOTk5YjBiZTExNzdkZTMzZGJkYjE3NzExMTJjOGEwMDIifQ=="/>
  <p:tag name="commondata" val="eyJoZGlkIjoiNTU0ZmIwYTQ3NzlmZGUxZmU3Zjk0M2IyZTNmM2IxNjAifQ=="/>
</p:tagLst>
</file>

<file path=ppt/theme/theme1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3">
      <a:dk1>
        <a:srgbClr val="711A5F"/>
      </a:dk1>
      <a:lt1>
        <a:srgbClr val="FFFFFF"/>
      </a:lt1>
      <a:dk2>
        <a:srgbClr val="711A5F"/>
      </a:dk2>
      <a:lt2>
        <a:srgbClr val="FFFFFF"/>
      </a:lt2>
      <a:accent1>
        <a:srgbClr val="D8929B"/>
      </a:accent1>
      <a:accent2>
        <a:srgbClr val="C7C3E3"/>
      </a:accent2>
      <a:accent3>
        <a:srgbClr val="A07DA0"/>
      </a:accent3>
      <a:accent4>
        <a:srgbClr val="48005F"/>
      </a:accent4>
      <a:accent5>
        <a:srgbClr val="E1A08B"/>
      </a:accent5>
      <a:accent6>
        <a:srgbClr val="AD9CC2"/>
      </a:accent6>
      <a:hlink>
        <a:srgbClr val="C7C3E3"/>
      </a:hlink>
      <a:folHlink>
        <a:srgbClr val="48005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4121</Words>
  <Application>WPS 演示</Application>
  <PresentationFormat>全屏显示(4:3)</PresentationFormat>
  <Paragraphs>277</Paragraphs>
  <Slides>30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Noto Sans S Chinese Black</vt:lpstr>
      <vt:lpstr>微软雅黑</vt:lpstr>
      <vt:lpstr>Times New Roman</vt:lpstr>
      <vt:lpstr>Noto Sans S Chinese Bold</vt:lpstr>
      <vt:lpstr>Arial Unicode MS</vt:lpstr>
      <vt:lpstr>Calibri</vt:lpstr>
      <vt:lpstr>Arial</vt:lpstr>
      <vt:lpstr>Wingdings</vt:lpstr>
      <vt:lpstr>1_OfficePLUS</vt:lpstr>
      <vt:lpstr>2_Office 主题​​</vt:lpstr>
      <vt:lpstr>Week3:Retro Snake</vt:lpstr>
      <vt:lpstr>Review</vt:lpstr>
      <vt:lpstr>Review</vt:lpstr>
      <vt:lpstr>Review</vt:lpstr>
      <vt:lpstr>Review</vt:lpstr>
      <vt:lpstr>Review</vt:lpstr>
      <vt:lpstr>Review</vt:lpstr>
      <vt:lpstr>Tips</vt:lpstr>
      <vt:lpstr>Review</vt:lpstr>
      <vt:lpstr>Play Games</vt:lpstr>
      <vt:lpstr>How?</vt:lpstr>
      <vt:lpstr>Coordinate</vt:lpstr>
      <vt:lpstr>Keyboard Control</vt:lpstr>
      <vt:lpstr>KeyBoard Control</vt:lpstr>
      <vt:lpstr>Basic Game Loop</vt:lpstr>
      <vt:lpstr>While loops control</vt:lpstr>
      <vt:lpstr>Practice1</vt:lpstr>
      <vt:lpstr>Change Snake Array</vt:lpstr>
      <vt:lpstr>Question</vt:lpstr>
      <vt:lpstr>Erase the snake</vt:lpstr>
      <vt:lpstr>Multi-Byte character set</vt:lpstr>
      <vt:lpstr>Further while loops control</vt:lpstr>
      <vt:lpstr>Function</vt:lpstr>
      <vt:lpstr>Array to store snake’s positions</vt:lpstr>
      <vt:lpstr>Update array of snake body</vt:lpstr>
      <vt:lpstr>Auto Move</vt:lpstr>
      <vt:lpstr>Fuction</vt:lpstr>
      <vt:lpstr>Tips</vt:lpstr>
      <vt:lpstr>Homework</vt:lpstr>
      <vt:lpstr>Question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zhhang918</dc:creator>
  <cp:lastModifiedBy>沈舒尹</cp:lastModifiedBy>
  <cp:revision>190</cp:revision>
  <dcterms:created xsi:type="dcterms:W3CDTF">2020-04-18T12:57:00Z</dcterms:created>
  <dcterms:modified xsi:type="dcterms:W3CDTF">2026-03-17T07:46:06Z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007A52AF19C5419087ADE05BD9574941</vt:lpwstr>
  </property>
  <property fmtid="{D5CDD505-2E9C-101B-9397-08002B2CF9AE}" pid="3" name="KSOProductBuildVer">
    <vt:lpwstr>2052-12.1.0.21915</vt:lpwstr>
  </property>
</Properties>
</file>