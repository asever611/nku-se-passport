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.xml" ContentType="application/vnd.openxmlformats-officedocument.presentationml.notesSlide+xml"/>
  <Override PartName="/ppt/tags/tag67.xml" ContentType="application/vnd.openxmlformats-officedocument.presentationml.tags+xml"/>
  <Override PartName="/ppt/notesSlides/notesSlide2.xml" ContentType="application/vnd.openxmlformats-officedocument.presentationml.notesSlide+xml"/>
  <Override PartName="/ppt/tags/tag68.xml" ContentType="application/vnd.openxmlformats-officedocument.presentationml.tags+xml"/>
  <Override PartName="/ppt/notesSlides/notesSlide3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4.xml" ContentType="application/vnd.openxmlformats-officedocument.presentationml.notesSlide+xml"/>
  <Override PartName="/ppt/tags/tag71.xml" ContentType="application/vnd.openxmlformats-officedocument.presentationml.tags+xml"/>
  <Override PartName="/ppt/notesSlides/notesSlide5.xml" ContentType="application/vnd.openxmlformats-officedocument.presentationml.notesSlide+xml"/>
  <Override PartName="/ppt/tags/tag72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409" r:id="rId2"/>
    <p:sldId id="415" r:id="rId3"/>
    <p:sldId id="416" r:id="rId4"/>
    <p:sldId id="417" r:id="rId5"/>
    <p:sldId id="418" r:id="rId6"/>
    <p:sldId id="414" r:id="rId7"/>
    <p:sldId id="411" r:id="rId8"/>
    <p:sldId id="412" r:id="rId9"/>
    <p:sldId id="41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5">
          <p15:clr>
            <a:srgbClr val="A4A3A4"/>
          </p15:clr>
        </p15:guide>
        <p15:guide id="2" pos="38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08" y="164"/>
      </p:cViewPr>
      <p:guideLst>
        <p:guide orient="horz" pos="2245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dirty="0"/>
              <a:t>南开大学软件学院</a:t>
            </a: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2024/10/15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dirty="0"/>
              <a:t>南开大学软件学院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南开大学软件学院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KMP</a:t>
            </a:r>
            <a:r>
              <a:rPr lang="zh-CN" altLang="en-US"/>
              <a:t>算法的</a:t>
            </a:r>
            <a:r>
              <a:rPr lang="en-US" altLang="zh-CN"/>
              <a:t>next</a:t>
            </a:r>
            <a:r>
              <a:rPr lang="zh-CN" altLang="en-US"/>
              <a:t>推导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南开大学软件学院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字符串存储从下标</a:t>
            </a:r>
            <a:r>
              <a:rPr lang="en-US" altLang="zh-CN"/>
              <a:t>1</a:t>
            </a:r>
            <a:r>
              <a:rPr lang="zh-CN" altLang="en-US"/>
              <a:t>开始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标题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由</a:t>
            </a:r>
            <a:r>
              <a:rPr lang="en-US" altLang="zh-CN"/>
              <a:t>next[1,j]</a:t>
            </a:r>
            <a:r>
              <a:t>推导</a:t>
            </a:r>
            <a:r>
              <a:rPr lang="en-US" altLang="zh-CN"/>
              <a:t>next[j+1]</a:t>
            </a:r>
          </a:p>
        </p:txBody>
      </p:sp>
      <p:sp>
        <p:nvSpPr>
          <p:cNvPr id="1128451" name="AutoShape 3"/>
          <p:cNvSpPr/>
          <p:nvPr/>
        </p:nvSpPr>
        <p:spPr>
          <a:xfrm>
            <a:off x="3254137" y="35599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2" name="AutoShape 4"/>
          <p:cNvSpPr/>
          <p:nvPr/>
        </p:nvSpPr>
        <p:spPr>
          <a:xfrm>
            <a:off x="3632756" y="35599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3" name="AutoShape 5"/>
          <p:cNvSpPr/>
          <p:nvPr/>
        </p:nvSpPr>
        <p:spPr>
          <a:xfrm>
            <a:off x="4011375" y="35599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4" name="AutoShape 6"/>
          <p:cNvSpPr/>
          <p:nvPr/>
        </p:nvSpPr>
        <p:spPr>
          <a:xfrm>
            <a:off x="4388803" y="35599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5" name="AutoShape 7"/>
          <p:cNvSpPr/>
          <p:nvPr/>
        </p:nvSpPr>
        <p:spPr>
          <a:xfrm>
            <a:off x="4767421" y="35599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6" name="AutoShape 8"/>
          <p:cNvSpPr/>
          <p:nvPr/>
        </p:nvSpPr>
        <p:spPr>
          <a:xfrm>
            <a:off x="5146040" y="35599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7" name="AutoShape 9"/>
          <p:cNvSpPr/>
          <p:nvPr/>
        </p:nvSpPr>
        <p:spPr>
          <a:xfrm>
            <a:off x="5522278" y="35599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62" name="AutoShape 14"/>
          <p:cNvSpPr/>
          <p:nvPr/>
        </p:nvSpPr>
        <p:spPr>
          <a:xfrm>
            <a:off x="2871391" y="35599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8" name="AutoShape 3"/>
          <p:cNvSpPr/>
          <p:nvPr>
            <p:custDataLst>
              <p:tags r:id="rId1"/>
            </p:custDataLst>
          </p:nvPr>
        </p:nvSpPr>
        <p:spPr>
          <a:xfrm>
            <a:off x="3254137" y="44032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9" name="AutoShape 4"/>
          <p:cNvSpPr/>
          <p:nvPr/>
        </p:nvSpPr>
        <p:spPr>
          <a:xfrm>
            <a:off x="3632756" y="44032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0" name="AutoShape 5"/>
          <p:cNvSpPr/>
          <p:nvPr/>
        </p:nvSpPr>
        <p:spPr>
          <a:xfrm>
            <a:off x="4011375" y="44032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11" name="AutoShape 6"/>
          <p:cNvSpPr/>
          <p:nvPr/>
        </p:nvSpPr>
        <p:spPr>
          <a:xfrm>
            <a:off x="4388803" y="44032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12" name="AutoShape 7"/>
          <p:cNvSpPr/>
          <p:nvPr/>
        </p:nvSpPr>
        <p:spPr>
          <a:xfrm>
            <a:off x="4767421" y="44032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13" name="AutoShape 8"/>
          <p:cNvSpPr/>
          <p:nvPr/>
        </p:nvSpPr>
        <p:spPr>
          <a:xfrm>
            <a:off x="5146040" y="44032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14" name="AutoShape 9"/>
          <p:cNvSpPr/>
          <p:nvPr/>
        </p:nvSpPr>
        <p:spPr>
          <a:xfrm>
            <a:off x="5522278" y="44032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30" name="AutoShape 14"/>
          <p:cNvSpPr/>
          <p:nvPr/>
        </p:nvSpPr>
        <p:spPr>
          <a:xfrm>
            <a:off x="2833291" y="44032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35" name="上箭头 34"/>
          <p:cNvSpPr/>
          <p:nvPr/>
        </p:nvSpPr>
        <p:spPr>
          <a:xfrm>
            <a:off x="2896870" y="3954780"/>
            <a:ext cx="196850" cy="36766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j</a:t>
            </a:r>
          </a:p>
        </p:txBody>
      </p:sp>
      <p:sp>
        <p:nvSpPr>
          <p:cNvPr id="36" name="下箭头 35"/>
          <p:cNvSpPr/>
          <p:nvPr/>
        </p:nvSpPr>
        <p:spPr>
          <a:xfrm>
            <a:off x="2503170" y="3129915"/>
            <a:ext cx="196215" cy="4254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37" name="文本框 36"/>
          <p:cNvSpPr txBox="1"/>
          <p:nvPr/>
        </p:nvSpPr>
        <p:spPr>
          <a:xfrm>
            <a:off x="769620" y="3596640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t=next[j]</a:t>
            </a:r>
          </a:p>
        </p:txBody>
      </p:sp>
      <p:sp>
        <p:nvSpPr>
          <p:cNvPr id="40" name="AutoShape 9"/>
          <p:cNvSpPr/>
          <p:nvPr/>
        </p:nvSpPr>
        <p:spPr>
          <a:xfrm>
            <a:off x="5930583" y="356441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2241550" y="2430780"/>
            <a:ext cx="718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solidFill>
                  <a:srgbClr val="FF0000"/>
                </a:solidFill>
              </a:rPr>
              <a:t>t=0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3582670" y="2456180"/>
            <a:ext cx="1071880" cy="36830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p[j]==p[t]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587750" y="2795270"/>
            <a:ext cx="10020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p[j]!=p[t]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4691380" y="2799080"/>
            <a:ext cx="1133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t=next[t]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4774565" y="2473960"/>
            <a:ext cx="989330" cy="36830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next[j]=t</a:t>
            </a:r>
          </a:p>
        </p:txBody>
      </p:sp>
      <p:sp>
        <p:nvSpPr>
          <p:cNvPr id="48" name="AutoShape 9"/>
          <p:cNvSpPr/>
          <p:nvPr/>
        </p:nvSpPr>
        <p:spPr>
          <a:xfrm>
            <a:off x="5930583" y="44032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715645" y="1468755"/>
            <a:ext cx="13087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/>
              <a:t>j=1;</a:t>
            </a:r>
          </a:p>
          <a:p>
            <a:pPr algn="l"/>
            <a:r>
              <a:rPr lang="en-US" altLang="zh-CN"/>
              <a:t>next[j]=0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416165" y="1012825"/>
            <a:ext cx="4546600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>
                <a:solidFill>
                  <a:srgbClr val="FF0000"/>
                </a:solidFill>
              </a:rPr>
              <a:t>t=0</a:t>
            </a:r>
            <a:r>
              <a:rPr lang="zh-CN" altLang="en-US">
                <a:solidFill>
                  <a:srgbClr val="FF0000"/>
                </a:solidFill>
              </a:rPr>
              <a:t>，含义为回溯到模式串头</a:t>
            </a:r>
            <a:r>
              <a:rPr lang="zh-CN" altLang="en-US">
                <a:solidFill>
                  <a:schemeClr val="tx1"/>
                </a:solidFill>
              </a:rPr>
              <a:t>（只有</a:t>
            </a:r>
            <a:r>
              <a:rPr lang="en-US" altLang="zh-CN">
                <a:solidFill>
                  <a:schemeClr val="tx1"/>
                </a:solidFill>
              </a:rPr>
              <a:t>next[1]</a:t>
            </a:r>
            <a:r>
              <a:rPr lang="zh-CN" altLang="en-US">
                <a:solidFill>
                  <a:schemeClr val="tx1"/>
                </a:solidFill>
              </a:rPr>
              <a:t>为</a:t>
            </a:r>
            <a:r>
              <a:rPr lang="en-US" altLang="zh-CN">
                <a:solidFill>
                  <a:schemeClr val="tx1"/>
                </a:solidFill>
              </a:rPr>
              <a:t>0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r>
              <a:rPr lang="zh-CN" altLang="en-US">
                <a:solidFill>
                  <a:srgbClr val="FF0000"/>
                </a:solidFill>
              </a:rPr>
              <a:t>，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++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j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，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++t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，即next[++j]=++t。</a:t>
            </a:r>
            <a:r>
              <a:rPr lang="zh-CN" altLang="en-US">
                <a:solidFill>
                  <a:srgbClr val="FF0000"/>
                </a:solidFill>
              </a:rPr>
              <a:t>含义为当前</a:t>
            </a:r>
            <a:r>
              <a:rPr lang="en-US" altLang="zh-CN">
                <a:solidFill>
                  <a:srgbClr val="FF0000"/>
                </a:solidFill>
              </a:rPr>
              <a:t>j</a:t>
            </a:r>
            <a:r>
              <a:rPr lang="zh-CN" altLang="en-US">
                <a:solidFill>
                  <a:srgbClr val="FF0000"/>
                </a:solidFill>
              </a:rPr>
              <a:t>所指向的前面字符串中，前缀和后缀无可重叠子串。</a:t>
            </a:r>
            <a:endParaRPr lang="en-US" altLang="zh-CN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t&gt;0,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且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p[j]==p[t],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则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next[</a:t>
            </a:r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</a:rPr>
              <a:t>++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j]=</a:t>
            </a:r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</a:rPr>
              <a:t>++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t;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即原有已匹配子串增长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个长度。比较的是前一个字符，但是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j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先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+1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再设置值，含义为当前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j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的前部串，前缀和后缀的可重叠长度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+1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。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>
                <a:sym typeface="+mn-ea"/>
              </a:rPr>
              <a:t>t&gt;0</a:t>
            </a:r>
            <a:r>
              <a:rPr lang="zh-CN" altLang="en-US">
                <a:sym typeface="+mn-ea"/>
              </a:rPr>
              <a:t>，且</a:t>
            </a:r>
            <a:r>
              <a:rPr lang="en-US" altLang="zh-CN">
                <a:sym typeface="+mn-ea"/>
              </a:rPr>
              <a:t>p[j]!=p[t]</a:t>
            </a:r>
            <a:r>
              <a:rPr lang="zh-CN" altLang="en-US">
                <a:sym typeface="+mn-ea"/>
              </a:rPr>
              <a:t>则回溯</a:t>
            </a:r>
            <a:r>
              <a:rPr lang="en-US" altLang="zh-CN">
                <a:sym typeface="+mn-ea"/>
              </a:rPr>
              <a:t>t=next[t]</a:t>
            </a:r>
            <a:r>
              <a:rPr lang="zh-CN" altLang="en-US">
                <a:sym typeface="+mn-ea"/>
              </a:rPr>
              <a:t>，直到以下两种情况</a:t>
            </a:r>
            <a:endParaRPr lang="zh-CN" altLang="en-US">
              <a:solidFill>
                <a:schemeClr val="tx1"/>
              </a:solidFill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p[j]==p[t]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，即回溯到第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种情况。到可以匹配的后缀，则在原有匹配后缀长度加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。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回溯到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t=0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，即未有符合重叠子串，则为第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种情况。</a:t>
            </a:r>
            <a:endParaRPr lang="en-US" altLang="zh-CN"/>
          </a:p>
          <a:p>
            <a:pPr marL="342900" indent="-342900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5" name="AutoShape 9"/>
          <p:cNvSpPr/>
          <p:nvPr/>
        </p:nvSpPr>
        <p:spPr>
          <a:xfrm>
            <a:off x="2412048" y="4403249"/>
            <a:ext cx="323850" cy="32385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AutoShape 9"/>
          <p:cNvSpPr/>
          <p:nvPr/>
        </p:nvSpPr>
        <p:spPr>
          <a:xfrm>
            <a:off x="2438718" y="3555524"/>
            <a:ext cx="323850" cy="32385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18260" y="5695315"/>
            <a:ext cx="796798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sym typeface="+mn-ea"/>
              </a:rPr>
              <a:t>Next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数组中数据的含义为，如果当前位置失配，模式字符串需要回溯的位置。</a:t>
            </a:r>
          </a:p>
          <a:p>
            <a:r>
              <a:rPr lang="zh-CN" altLang="en-US" b="1">
                <a:solidFill>
                  <a:srgbClr val="FF0000"/>
                </a:solidFill>
                <a:sym typeface="+mn-ea"/>
              </a:rPr>
              <a:t>主串指针无需回溯。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-0.002964 L 0.032187 -0.002964 " pathEditMode="relative" rAng="0" ptsTypes="">
                                      <p:cBhvr>
                                        <p:cTn id="2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32292 -0.000648 " pathEditMode="relative" rAng="0" ptsTypes="">
                                      <p:cBhvr>
                                        <p:cTn id="3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1860 0.000000 L -0.003036 0.000000 " pathEditMode="relative" rAng="0" ptsTypes="">
                                      <p:cBhvr>
                                        <p:cTn id="4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5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9479 -0.003426 L 0.064323 -0.003426 " pathEditMode="relative" ptsTypes="">
                                      <p:cBhvr>
                                        <p:cTn id="54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29531 0.000000 " pathEditMode="relative" ptsTypes="">
                                      <p:cBhvr>
                                        <p:cTn id="5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0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927 -0.000648 L 0.064479 -0.000648 " pathEditMode="relative" ptsTypes="">
                                      <p:cBhvr>
                                        <p:cTn id="83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1667 -0.003426 L 0.099219 -0.003426 " pathEditMode="relative" rAng="0" ptsTypes="">
                                      <p:cBhvr>
                                        <p:cTn id="85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4167 -0.002222 L 0.026615 -0.002222 " pathEditMode="relative" ptsTypes="">
                                      <p:cBhvr>
                                        <p:cTn id="107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3542 -0.005000 L 0.125781 -0.005000 " pathEditMode="relative" ptsTypes="">
                                      <p:cBhvr>
                                        <p:cTn id="123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9323 -0.002222 L 0.061510 -0.002222 " pathEditMode="relative" ptsTypes="">
                                      <p:cBhvr>
                                        <p:cTn id="125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7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250" autoRev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4" dur="250" autoRev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" dur="250" autoRev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" dur="250" autoRev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27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250" autoRev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9" dur="250" autoRev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0" dur="250" autoRev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" dur="250" autoRev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0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3073 -0.005000 L 0.157969 -0.005000 " pathEditMode="relative" ptsTypes="">
                                      <p:cBhvr>
                                        <p:cTn id="145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2031 0.001759 L 0.096771 0.000000 " pathEditMode="relative" ptsTypes="">
                                      <p:cBhvr>
                                        <p:cTn id="147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155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10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157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0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9946 -0.002222 L 0.129425 -0.002222 " pathEditMode="relative" rAng="0" ptsTypes="">
                                      <p:cBhvr>
                                        <p:cTn id="161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" y="0"/>
                                    </p:animMotion>
                                  </p:childTnLst>
                                </p:cTn>
                              </p:par>
                              <p:par>
                                <p:cTn id="162" presetID="0" presetClass="pat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5260 -0.005000 L 0.187500 -0.005000 " pathEditMode="relative" ptsTypes="">
                                      <p:cBhvr>
                                        <p:cTn id="163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3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4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5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6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0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8594 -0.006944 L 0.061510 -0.006944 " pathEditMode="relative" ptsTypes="">
                                      <p:cBhvr>
                                        <p:cTn id="19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0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4167 -0.006944 L 0.099063 -0.002222 " pathEditMode="relative" ptsTypes="">
                                      <p:cBhvr>
                                        <p:cTn id="20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7" presetID="0" presetClass="path" presetSubtype="0" accel="50000" decel="5000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7711 -0.005276 L 0.219898 -0.005276 " pathEditMode="relative" rAng="0" ptsTypes="">
                                      <p:cBhvr>
                                        <p:cTn id="20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8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9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0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0" presetClass="path" presetSubtype="0" accel="50000" decel="5000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6406 -0.006944 L 0.031979 -0.006944 " pathEditMode="relative" ptsTypes="">
                                      <p:cBhvr>
                                        <p:cTn id="235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0" presetClass="emph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239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0" presetClass="path" presetSubtype="0" accel="50000" decel="5000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823 0.000000 L 0.000000 0.000000 " pathEditMode="relative" ptsTypes="">
                                      <p:cBhvr>
                                        <p:cTn id="243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0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9744 -0.005276 L 0.257296 -0.005276 " pathEditMode="relative" rAng="0" ptsTypes="">
                                      <p:cBhvr>
                                        <p:cTn id="251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bldLvl="0" animBg="1"/>
      <p:bldP spid="9" grpId="0" bldLvl="0" animBg="1"/>
      <p:bldP spid="9" grpId="1" bldLvl="0" animBg="1"/>
      <p:bldP spid="10" grpId="0" bldLvl="0" animBg="1"/>
      <p:bldP spid="10" grpId="1" bldLvl="0" animBg="1"/>
      <p:bldP spid="11" grpId="0" bldLvl="0" animBg="1"/>
      <p:bldP spid="12" grpId="0" bldLvl="0" animBg="1"/>
      <p:bldP spid="13" grpId="0" bldLvl="0" animBg="1"/>
      <p:bldP spid="14" grpId="0" bldLvl="0" animBg="1"/>
      <p:bldP spid="35" grpId="0" bldLvl="0" animBg="1"/>
      <p:bldP spid="35" grpId="1" animBg="1"/>
      <p:bldP spid="35" grpId="2" bldLvl="0" animBg="1"/>
      <p:bldP spid="35" grpId="3" bldLvl="0" animBg="1"/>
      <p:bldP spid="35" grpId="4" bldLvl="0" animBg="1"/>
      <p:bldP spid="35" grpId="5" bldLvl="0" animBg="1"/>
      <p:bldP spid="35" grpId="6" bldLvl="0" animBg="1"/>
      <p:bldP spid="35" grpId="7" bldLvl="0" animBg="1"/>
      <p:bldP spid="35" grpId="8" bldLvl="0" animBg="1"/>
      <p:bldP spid="35" grpId="9" bldLvl="0" animBg="1"/>
      <p:bldP spid="36" grpId="0" bldLvl="0" animBg="1"/>
      <p:bldP spid="36" grpId="1" bldLvl="0" animBg="1"/>
      <p:bldP spid="36" grpId="2" bldLvl="0" animBg="1"/>
      <p:bldP spid="36" grpId="3" bldLvl="0" animBg="1"/>
      <p:bldP spid="36" grpId="4" bldLvl="0" animBg="1"/>
      <p:bldP spid="36" grpId="5" bldLvl="0" animBg="1"/>
      <p:bldP spid="36" grpId="6" bldLvl="0" animBg="1"/>
      <p:bldP spid="36" grpId="7" bldLvl="0" animBg="1"/>
      <p:bldP spid="36" grpId="8" bldLvl="0" animBg="1"/>
      <p:bldP spid="36" grpId="9" bldLvl="0" animBg="1"/>
      <p:bldP spid="36" grpId="10" bldLvl="0" animBg="1"/>
      <p:bldP spid="36" grpId="11" bldLvl="0" animBg="1"/>
      <p:bldP spid="37" grpId="0"/>
      <p:bldP spid="37" grpId="1"/>
      <p:bldP spid="41" grpId="0"/>
      <p:bldP spid="41" grpId="1"/>
      <p:bldP spid="41" grpId="2"/>
      <p:bldP spid="41" grpId="3"/>
      <p:bldP spid="43" grpId="0"/>
      <p:bldP spid="43" grpId="1"/>
      <p:bldP spid="43" grpId="2"/>
      <p:bldP spid="43" grpId="3"/>
      <p:bldP spid="43" grpId="4"/>
      <p:bldP spid="43" grpId="5"/>
      <p:bldP spid="43" grpId="6"/>
      <p:bldP spid="43" grpId="7"/>
      <p:bldP spid="44" grpId="0"/>
      <p:bldP spid="44" grpId="1"/>
      <p:bldP spid="44" grpId="2"/>
      <p:bldP spid="44" grpId="3"/>
      <p:bldP spid="44" grpId="4"/>
      <p:bldP spid="44" grpId="5"/>
      <p:bldP spid="44" grpId="6"/>
      <p:bldP spid="44" grpId="7"/>
      <p:bldP spid="45" grpId="0"/>
      <p:bldP spid="45" grpId="1"/>
      <p:bldP spid="45" grpId="2"/>
      <p:bldP spid="45" grpId="3"/>
      <p:bldP spid="45" grpId="4"/>
      <p:bldP spid="45" grpId="5"/>
      <p:bldP spid="45" grpId="6"/>
      <p:bldP spid="45" grpId="7"/>
      <p:bldP spid="46" grpId="0"/>
      <p:bldP spid="46" grpId="1"/>
      <p:bldP spid="46" grpId="2"/>
      <p:bldP spid="46" grpId="3"/>
      <p:bldP spid="46" grpId="4"/>
      <p:bldP spid="46" grpId="5"/>
      <p:bldP spid="46" grpId="6"/>
      <p:bldP spid="46" grpId="7"/>
      <p:bldP spid="48" grpId="0" bldLvl="0" animBg="1"/>
      <p:bldP spid="4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标题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由</a:t>
            </a:r>
            <a:r>
              <a:rPr lang="en-US" altLang="zh-CN"/>
              <a:t>next[1,j]</a:t>
            </a:r>
            <a:r>
              <a:t>推导</a:t>
            </a:r>
            <a:r>
              <a:rPr lang="en-US" altLang="zh-CN"/>
              <a:t>next[j+1]</a:t>
            </a:r>
          </a:p>
        </p:txBody>
      </p:sp>
      <p:sp>
        <p:nvSpPr>
          <p:cNvPr id="1128451" name="AutoShape 3"/>
          <p:cNvSpPr/>
          <p:nvPr/>
        </p:nvSpPr>
        <p:spPr>
          <a:xfrm>
            <a:off x="2865517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2" name="AutoShape 4"/>
          <p:cNvSpPr/>
          <p:nvPr/>
        </p:nvSpPr>
        <p:spPr>
          <a:xfrm>
            <a:off x="3244136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3" name="AutoShape 5"/>
          <p:cNvSpPr/>
          <p:nvPr/>
        </p:nvSpPr>
        <p:spPr>
          <a:xfrm>
            <a:off x="3622755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4" name="AutoShape 6"/>
          <p:cNvSpPr/>
          <p:nvPr/>
        </p:nvSpPr>
        <p:spPr>
          <a:xfrm>
            <a:off x="4000183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5" name="AutoShape 7"/>
          <p:cNvSpPr/>
          <p:nvPr/>
        </p:nvSpPr>
        <p:spPr>
          <a:xfrm>
            <a:off x="4378801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6" name="AutoShape 8"/>
          <p:cNvSpPr/>
          <p:nvPr/>
        </p:nvSpPr>
        <p:spPr>
          <a:xfrm>
            <a:off x="4757420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7" name="AutoShape 9"/>
          <p:cNvSpPr/>
          <p:nvPr/>
        </p:nvSpPr>
        <p:spPr>
          <a:xfrm>
            <a:off x="5133658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62" name="AutoShape 14"/>
          <p:cNvSpPr/>
          <p:nvPr/>
        </p:nvSpPr>
        <p:spPr>
          <a:xfrm>
            <a:off x="2444671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8" name="AutoShape 3"/>
          <p:cNvSpPr/>
          <p:nvPr>
            <p:custDataLst>
              <p:tags r:id="rId1"/>
            </p:custDataLst>
          </p:nvPr>
        </p:nvSpPr>
        <p:spPr>
          <a:xfrm>
            <a:off x="2865517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9" name="AutoShape 4"/>
          <p:cNvSpPr/>
          <p:nvPr/>
        </p:nvSpPr>
        <p:spPr>
          <a:xfrm>
            <a:off x="3244136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0" name="AutoShape 5"/>
          <p:cNvSpPr/>
          <p:nvPr/>
        </p:nvSpPr>
        <p:spPr>
          <a:xfrm>
            <a:off x="3622755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11" name="AutoShape 6"/>
          <p:cNvSpPr/>
          <p:nvPr/>
        </p:nvSpPr>
        <p:spPr>
          <a:xfrm>
            <a:off x="4000183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12" name="AutoShape 7"/>
          <p:cNvSpPr/>
          <p:nvPr/>
        </p:nvSpPr>
        <p:spPr>
          <a:xfrm>
            <a:off x="4378801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13" name="AutoShape 8"/>
          <p:cNvSpPr/>
          <p:nvPr/>
        </p:nvSpPr>
        <p:spPr>
          <a:xfrm>
            <a:off x="4757420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30" name="AutoShape 14"/>
          <p:cNvSpPr/>
          <p:nvPr/>
        </p:nvSpPr>
        <p:spPr>
          <a:xfrm>
            <a:off x="2444671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35" name="上箭头 34"/>
          <p:cNvSpPr/>
          <p:nvPr/>
        </p:nvSpPr>
        <p:spPr>
          <a:xfrm>
            <a:off x="2508250" y="4310380"/>
            <a:ext cx="196850" cy="36766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j</a:t>
            </a:r>
          </a:p>
        </p:txBody>
      </p:sp>
      <p:sp>
        <p:nvSpPr>
          <p:cNvPr id="36" name="下箭头 35"/>
          <p:cNvSpPr/>
          <p:nvPr/>
        </p:nvSpPr>
        <p:spPr>
          <a:xfrm>
            <a:off x="2508250" y="3035300"/>
            <a:ext cx="196215" cy="4254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t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675640" y="3860800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t=next[j]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7416165" y="1012825"/>
            <a:ext cx="4546600" cy="4554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>
                <a:solidFill>
                  <a:srgbClr val="FF0000"/>
                </a:solidFill>
                <a:sym typeface="+mn-ea"/>
              </a:rPr>
              <a:t>t=-1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，含义为回溯到模式串头前</a:t>
            </a:r>
            <a:r>
              <a:rPr lang="zh-CN" altLang="en-US">
                <a:sym typeface="+mn-ea"/>
              </a:rPr>
              <a:t>（只有</a:t>
            </a:r>
            <a:r>
              <a:rPr lang="en-US" altLang="zh-CN">
                <a:sym typeface="+mn-ea"/>
              </a:rPr>
              <a:t>next[0]</a:t>
            </a:r>
            <a:r>
              <a:rPr lang="zh-CN" altLang="en-US">
                <a:sym typeface="+mn-ea"/>
              </a:rPr>
              <a:t>为</a:t>
            </a:r>
            <a:r>
              <a:rPr lang="en-US" altLang="zh-CN">
                <a:sym typeface="+mn-ea"/>
              </a:rPr>
              <a:t>-1</a:t>
            </a:r>
            <a:r>
              <a:rPr lang="zh-CN" altLang="en-US">
                <a:sym typeface="+mn-ea"/>
              </a:rPr>
              <a:t>）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，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++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j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，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++t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，即next[++j]=++t。含义为当前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j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所指向的前面字符串中，前缀和后缀无可重叠子串</a:t>
            </a:r>
            <a:r>
              <a:rPr lang="zh-CN" altLang="en-US">
                <a:solidFill>
                  <a:srgbClr val="FF0000"/>
                </a:solidFill>
              </a:rPr>
              <a:t>。</a:t>
            </a:r>
            <a:endParaRPr lang="en-US" altLang="zh-CN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t&gt;=0,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且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p[j]==p[t],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则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next[</a:t>
            </a:r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</a:rPr>
              <a:t>++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j]=</a:t>
            </a:r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</a:rPr>
              <a:t>++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t;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即原有匹配串增长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个长度。比较的是前一个字符，但是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j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先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+1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再设置值，含义为当前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j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的前部串，前缀和后缀的可重叠长度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+1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。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>
                <a:sym typeface="+mn-ea"/>
              </a:rPr>
              <a:t>t&gt;=0</a:t>
            </a:r>
            <a:r>
              <a:rPr lang="zh-CN" altLang="en-US">
                <a:sym typeface="+mn-ea"/>
              </a:rPr>
              <a:t>，且</a:t>
            </a:r>
            <a:r>
              <a:rPr lang="en-US" altLang="zh-CN">
                <a:sym typeface="+mn-ea"/>
              </a:rPr>
              <a:t>p[j]!=p[t]</a:t>
            </a:r>
            <a:r>
              <a:rPr lang="zh-CN" altLang="en-US">
                <a:sym typeface="+mn-ea"/>
              </a:rPr>
              <a:t>则回溯</a:t>
            </a:r>
            <a:r>
              <a:rPr lang="en-US" altLang="zh-CN">
                <a:sym typeface="+mn-ea"/>
              </a:rPr>
              <a:t>t=next[t]</a:t>
            </a:r>
            <a:r>
              <a:rPr lang="zh-CN" altLang="en-US">
                <a:sym typeface="+mn-ea"/>
              </a:rPr>
              <a:t>，直到以下两种情况</a:t>
            </a:r>
            <a:endParaRPr lang="zh-CN" altLang="en-US">
              <a:solidFill>
                <a:schemeClr val="tx1"/>
              </a:solidFill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p[j]==p[t]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，即回溯到第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种情况。到可以匹配的后缀，则在原有匹配后缀长度加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。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回溯到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t=-1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，即未有符合重叠子串，则为第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种情况。</a:t>
            </a:r>
            <a:endParaRPr lang="en-US" altLang="zh-CN"/>
          </a:p>
          <a:p>
            <a:pPr marL="342900" indent="-342900"/>
            <a:endParaRPr lang="zh-CN" altLang="en-US"/>
          </a:p>
        </p:txBody>
      </p:sp>
      <p:sp>
        <p:nvSpPr>
          <p:cNvPr id="40" name="AutoShape 9"/>
          <p:cNvSpPr/>
          <p:nvPr/>
        </p:nvSpPr>
        <p:spPr>
          <a:xfrm>
            <a:off x="5541963" y="39098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1789430" y="2529840"/>
            <a:ext cx="718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solidFill>
                  <a:srgbClr val="FF0000"/>
                </a:solidFill>
              </a:rPr>
              <a:t>t=0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3194050" y="2391410"/>
            <a:ext cx="1071880" cy="36830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p[j]==p[t]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220720" y="2687320"/>
            <a:ext cx="10020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p[j]!=p[t]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4324350" y="2691130"/>
            <a:ext cx="1133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t=next[t]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4385945" y="2409190"/>
            <a:ext cx="989330" cy="36830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next[j]=t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876550" y="3460750"/>
            <a:ext cx="1836420" cy="323850"/>
            <a:chOff x="4564" y="5450"/>
            <a:chExt cx="2892" cy="510"/>
          </a:xfrm>
        </p:grpSpPr>
        <p:sp>
          <p:nvSpPr>
            <p:cNvPr id="2" name="AutoShape 3"/>
            <p:cNvSpPr/>
            <p:nvPr/>
          </p:nvSpPr>
          <p:spPr>
            <a:xfrm>
              <a:off x="5159" y="54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3" name="AutoShape 4"/>
            <p:cNvSpPr/>
            <p:nvPr/>
          </p:nvSpPr>
          <p:spPr>
            <a:xfrm>
              <a:off x="5755" y="54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4" name="AutoShape 5"/>
            <p:cNvSpPr/>
            <p:nvPr/>
          </p:nvSpPr>
          <p:spPr>
            <a:xfrm>
              <a:off x="6351" y="54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" name="AutoShape 6"/>
            <p:cNvSpPr/>
            <p:nvPr/>
          </p:nvSpPr>
          <p:spPr>
            <a:xfrm>
              <a:off x="6946" y="54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微软雅黑" panose="020B0503020204020204" pitchFamily="34" charset="-122"/>
                </a:rPr>
                <a:t>...</a:t>
              </a:r>
            </a:p>
          </p:txBody>
        </p:sp>
        <p:sp>
          <p:nvSpPr>
            <p:cNvPr id="16" name="AutoShape 14"/>
            <p:cNvSpPr/>
            <p:nvPr/>
          </p:nvSpPr>
          <p:spPr>
            <a:xfrm>
              <a:off x="4564" y="54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14" name="AutoShape 9"/>
          <p:cNvSpPr/>
          <p:nvPr/>
        </p:nvSpPr>
        <p:spPr>
          <a:xfrm>
            <a:off x="1996758" y="4757579"/>
            <a:ext cx="323850" cy="32385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AutoShape 9"/>
          <p:cNvSpPr/>
          <p:nvPr/>
        </p:nvSpPr>
        <p:spPr>
          <a:xfrm>
            <a:off x="2023428" y="3909854"/>
            <a:ext cx="323850" cy="32385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22" dur="2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32187 0.000000 " pathEditMode="relative" ptsTypes="">
                                      <p:cBhvr>
                                        <p:cTn id="2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34948 -0.001389 " pathEditMode="relative" rAng="0" ptsTypes="">
                                      <p:cBhvr>
                                        <p:cTn id="3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7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2187 0.000000 L 0.000000 0.000000 " pathEditMode="relative" ptsTypes="">
                                      <p:cBhvr>
                                        <p:cTn id="53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5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0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37 0.000185 L 0.034791 0.000000 " pathEditMode="relative" rAng="0" ptsTypes="">
                                      <p:cBhvr>
                                        <p:cTn id="61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9479 -0.003426 L 0.064323 -0.003426 " pathEditMode="relative" ptsTypes="">
                                      <p:cBhvr>
                                        <p:cTn id="65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6" presetID="0" presetClass="path" presetSubtype="0" accel="50000" decel="50000" fill="hold" grpId="3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33630 0.000000 L 0.065817 0.000000 " pathEditMode="relative" rAng="0" ptsTypes="">
                                      <p:cBhvr>
                                        <p:cTn id="67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" y="0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29479 0.000000 " pathEditMode="relative" ptsTypes="">
                                      <p:cBhvr>
                                        <p:cTn id="6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3542 -0.001389 L 0.095729 -0.001389 " pathEditMode="relative" ptsTypes="">
                                      <p:cBhvr>
                                        <p:cTn id="94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1667 -0.003426 L 0.099219 -0.003426 " pathEditMode="relative" rAng="0" ptsTypes="">
                                      <p:cBhvr>
                                        <p:cTn id="9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7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7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0052 0.000000 L 0.061510 0.001204 " pathEditMode="relative" rAng="0" ptsTypes="">
                                      <p:cBhvr>
                                        <p:cTn id="12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3542 -0.005000 L 0.125781 -0.005000 " pathEditMode="relative" ptsTypes="">
                                      <p:cBhvr>
                                        <p:cTn id="139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0365 -0.001389 L 0.125260 -0.001389 " pathEditMode="relative" ptsTypes="">
                                      <p:cBhvr>
                                        <p:cTn id="141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7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9" dur="250" autoRev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0" dur="250" autoRev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250" autoRev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250" autoRev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27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" dur="250" autoRev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5" dur="250" autoRev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6" dur="250" autoRev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250" autoRev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0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5260 -0.001389 L 0.154792 -0.001389 " pathEditMode="relative" ptsTypes="">
                                      <p:cBhvr>
                                        <p:cTn id="161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2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3073 -0.005000 L 0.157969 -0.005000 " pathEditMode="relative" ptsTypes="">
                                      <p:cBhvr>
                                        <p:cTn id="163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171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10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173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0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5260 -0.005000 L 0.187500 -0.005000 " pathEditMode="relative" ptsTypes="">
                                      <p:cBhvr>
                                        <p:cTn id="177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8" presetID="0" presetClass="path" presetSubtype="0" accel="50000" decel="5000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4792 -0.001389 L 0.186979 -0.001389 " pathEditMode="relative" ptsTypes="">
                                      <p:cBhvr>
                                        <p:cTn id="179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bldLvl="0" animBg="1"/>
      <p:bldP spid="8" grpId="2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30" grpId="0" bldLvl="0" animBg="1"/>
      <p:bldP spid="35" grpId="0" bldLvl="0" animBg="1"/>
      <p:bldP spid="35" grpId="1" animBg="1"/>
      <p:bldP spid="35" grpId="2" bldLvl="0" animBg="1"/>
      <p:bldP spid="35" grpId="3" bldLvl="0" animBg="1"/>
      <p:bldP spid="35" grpId="4" bldLvl="0" animBg="1"/>
      <p:bldP spid="35" grpId="5" bldLvl="0" animBg="1"/>
      <p:bldP spid="35" grpId="6" bldLvl="0" animBg="1"/>
      <p:bldP spid="35" grpId="7" bldLvl="0" animBg="1"/>
      <p:bldP spid="36" grpId="0" bldLvl="0" animBg="1"/>
      <p:bldP spid="36" grpId="1" bldLvl="0" animBg="1"/>
      <p:bldP spid="36" grpId="2" bldLvl="0" animBg="1"/>
      <p:bldP spid="36" grpId="3" bldLvl="0" animBg="1"/>
      <p:bldP spid="36" grpId="5" bldLvl="0" animBg="1"/>
      <p:bldP spid="36" grpId="6" bldLvl="0" animBg="1"/>
      <p:bldP spid="36" grpId="7" bldLvl="0" animBg="1"/>
      <p:bldP spid="36" grpId="8" bldLvl="0" animBg="1"/>
      <p:bldP spid="36" grpId="9" bldLvl="0" animBg="1"/>
      <p:bldP spid="37" grpId="0"/>
      <p:bldP spid="37" grpId="1"/>
      <p:bldP spid="41" grpId="0"/>
      <p:bldP spid="41" grpId="1"/>
      <p:bldP spid="41" grpId="2"/>
      <p:bldP spid="43" grpId="0"/>
      <p:bldP spid="43" grpId="1"/>
      <p:bldP spid="43" grpId="2"/>
      <p:bldP spid="43" grpId="3"/>
      <p:bldP spid="43" grpId="4"/>
      <p:bldP spid="44" grpId="0"/>
      <p:bldP spid="44" grpId="1"/>
      <p:bldP spid="44" grpId="2"/>
      <p:bldP spid="44" grpId="3"/>
      <p:bldP spid="45" grpId="0"/>
      <p:bldP spid="45" grpId="1"/>
      <p:bldP spid="45" grpId="2"/>
      <p:bldP spid="45" grpId="3"/>
      <p:bldP spid="45" grpId="4"/>
      <p:bldP spid="46" grpId="0"/>
      <p:bldP spid="46" grpId="1"/>
      <p:bldP spid="46" grpId="2"/>
      <p:bldP spid="46" grpId="3"/>
      <p:bldP spid="46" grpId="4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标题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由</a:t>
            </a:r>
            <a:r>
              <a:rPr lang="en-US" altLang="zh-CN"/>
              <a:t>next[1,j]</a:t>
            </a:r>
            <a:r>
              <a:t>推导</a:t>
            </a:r>
            <a:r>
              <a:rPr lang="en-US" altLang="zh-CN"/>
              <a:t>next[j+1]</a:t>
            </a:r>
          </a:p>
        </p:txBody>
      </p:sp>
      <p:sp>
        <p:nvSpPr>
          <p:cNvPr id="1128451" name="AutoShape 3"/>
          <p:cNvSpPr/>
          <p:nvPr/>
        </p:nvSpPr>
        <p:spPr>
          <a:xfrm>
            <a:off x="2865517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2" name="AutoShape 4"/>
          <p:cNvSpPr/>
          <p:nvPr/>
        </p:nvSpPr>
        <p:spPr>
          <a:xfrm>
            <a:off x="3244136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3" name="AutoShape 5"/>
          <p:cNvSpPr/>
          <p:nvPr/>
        </p:nvSpPr>
        <p:spPr>
          <a:xfrm>
            <a:off x="3622755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4" name="AutoShape 6"/>
          <p:cNvSpPr/>
          <p:nvPr/>
        </p:nvSpPr>
        <p:spPr>
          <a:xfrm>
            <a:off x="4000183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5" name="AutoShape 7"/>
          <p:cNvSpPr/>
          <p:nvPr/>
        </p:nvSpPr>
        <p:spPr>
          <a:xfrm>
            <a:off x="4378801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6" name="AutoShape 8"/>
          <p:cNvSpPr/>
          <p:nvPr/>
        </p:nvSpPr>
        <p:spPr>
          <a:xfrm>
            <a:off x="4757420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7" name="AutoShape 9"/>
          <p:cNvSpPr/>
          <p:nvPr/>
        </p:nvSpPr>
        <p:spPr>
          <a:xfrm>
            <a:off x="5133658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62" name="AutoShape 14"/>
          <p:cNvSpPr/>
          <p:nvPr/>
        </p:nvSpPr>
        <p:spPr>
          <a:xfrm>
            <a:off x="2444671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8" name="AutoShape 3"/>
          <p:cNvSpPr/>
          <p:nvPr>
            <p:custDataLst>
              <p:tags r:id="rId1"/>
            </p:custDataLst>
          </p:nvPr>
        </p:nvSpPr>
        <p:spPr>
          <a:xfrm>
            <a:off x="2865517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9" name="AutoShape 4"/>
          <p:cNvSpPr/>
          <p:nvPr/>
        </p:nvSpPr>
        <p:spPr>
          <a:xfrm>
            <a:off x="3244136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0" name="AutoShape 5"/>
          <p:cNvSpPr/>
          <p:nvPr/>
        </p:nvSpPr>
        <p:spPr>
          <a:xfrm>
            <a:off x="3622755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11" name="AutoShape 6"/>
          <p:cNvSpPr/>
          <p:nvPr/>
        </p:nvSpPr>
        <p:spPr>
          <a:xfrm>
            <a:off x="4000183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12" name="AutoShape 7"/>
          <p:cNvSpPr/>
          <p:nvPr/>
        </p:nvSpPr>
        <p:spPr>
          <a:xfrm>
            <a:off x="4378801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13" name="AutoShape 8"/>
          <p:cNvSpPr/>
          <p:nvPr/>
        </p:nvSpPr>
        <p:spPr>
          <a:xfrm>
            <a:off x="4757420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14" name="AutoShape 9"/>
          <p:cNvSpPr/>
          <p:nvPr/>
        </p:nvSpPr>
        <p:spPr>
          <a:xfrm>
            <a:off x="5133658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30" name="AutoShape 14"/>
          <p:cNvSpPr/>
          <p:nvPr/>
        </p:nvSpPr>
        <p:spPr>
          <a:xfrm>
            <a:off x="2444671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35" name="上箭头 34"/>
          <p:cNvSpPr/>
          <p:nvPr/>
        </p:nvSpPr>
        <p:spPr>
          <a:xfrm>
            <a:off x="4792980" y="4305300"/>
            <a:ext cx="196850" cy="36766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j</a:t>
            </a:r>
          </a:p>
        </p:txBody>
      </p:sp>
      <p:sp>
        <p:nvSpPr>
          <p:cNvPr id="36" name="下箭头 35"/>
          <p:cNvSpPr/>
          <p:nvPr/>
        </p:nvSpPr>
        <p:spPr>
          <a:xfrm>
            <a:off x="4821555" y="3035300"/>
            <a:ext cx="196215" cy="4254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t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7447915" y="1012825"/>
            <a:ext cx="4514850" cy="4554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>
                <a:solidFill>
                  <a:srgbClr val="FF0000"/>
                </a:solidFill>
                <a:sym typeface="+mn-ea"/>
              </a:rPr>
              <a:t>t=0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，含义为回溯到模式串头前</a:t>
            </a:r>
            <a:r>
              <a:rPr lang="zh-CN" altLang="en-US">
                <a:sym typeface="+mn-ea"/>
              </a:rPr>
              <a:t>（只有</a:t>
            </a:r>
            <a:r>
              <a:rPr lang="en-US" altLang="zh-CN">
                <a:sym typeface="+mn-ea"/>
              </a:rPr>
              <a:t>next[1]</a:t>
            </a:r>
            <a:r>
              <a:rPr lang="zh-CN" altLang="en-US">
                <a:sym typeface="+mn-ea"/>
              </a:rPr>
              <a:t>为</a:t>
            </a:r>
            <a:r>
              <a:rPr lang="en-US" altLang="zh-CN">
                <a:sym typeface="+mn-ea"/>
              </a:rPr>
              <a:t>0</a:t>
            </a:r>
            <a:r>
              <a:rPr lang="zh-CN" altLang="en-US">
                <a:sym typeface="+mn-ea"/>
              </a:rPr>
              <a:t>）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，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++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j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，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++t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，即next[++j]=++t。含义为当前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j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所指向的前面字符串中，前缀和后缀无可重叠子串</a:t>
            </a:r>
            <a:r>
              <a:rPr lang="zh-CN" altLang="en-US">
                <a:solidFill>
                  <a:srgbClr val="FF0000"/>
                </a:solidFill>
              </a:rPr>
              <a:t>。</a:t>
            </a:r>
            <a:endParaRPr lang="en-US" altLang="zh-CN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t&gt;0,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且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p[j]==p[t],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则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next[</a:t>
            </a:r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</a:rPr>
              <a:t>++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j]=</a:t>
            </a:r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</a:rPr>
              <a:t>++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t;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即原有匹配串增长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个长度。比较的是前一个字符，但是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j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先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+1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再设置值，含义为当前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j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的前部串，前缀和后缀的可重叠长度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+1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。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>
                <a:solidFill>
                  <a:schemeClr val="tx1"/>
                </a:solidFill>
              </a:rPr>
              <a:t>t&gt;0</a:t>
            </a:r>
            <a:r>
              <a:rPr lang="zh-CN" altLang="en-US">
                <a:solidFill>
                  <a:schemeClr val="tx1"/>
                </a:solidFill>
              </a:rPr>
              <a:t>，且</a:t>
            </a:r>
            <a:r>
              <a:rPr lang="en-US" altLang="zh-CN">
                <a:solidFill>
                  <a:schemeClr val="tx1"/>
                </a:solidFill>
              </a:rPr>
              <a:t>p[j]!=p[t]</a:t>
            </a:r>
            <a:r>
              <a:rPr lang="zh-CN" altLang="en-US">
                <a:solidFill>
                  <a:schemeClr val="tx1"/>
                </a:solidFill>
              </a:rPr>
              <a:t>则回溯</a:t>
            </a:r>
            <a:r>
              <a:rPr lang="en-US" altLang="zh-CN">
                <a:solidFill>
                  <a:schemeClr val="tx1"/>
                </a:solidFill>
              </a:rPr>
              <a:t>t=next[t]</a:t>
            </a:r>
            <a:r>
              <a:rPr lang="zh-CN" altLang="en-US">
                <a:solidFill>
                  <a:schemeClr val="tx1"/>
                </a:solidFill>
              </a:rPr>
              <a:t>，直到以下两种情况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p[j]==p[t]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，即回溯到第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种情况。到可以匹配的后缀，则在原有匹配后缀长度加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。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回溯到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t=0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，即未有符合重叠子串，则为第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种情况。</a:t>
            </a:r>
            <a:endParaRPr lang="en-US" altLang="zh-CN"/>
          </a:p>
          <a:p>
            <a:pPr marL="342900" indent="-342900"/>
            <a:endParaRPr lang="zh-CN" altLang="en-US"/>
          </a:p>
        </p:txBody>
      </p:sp>
      <p:sp>
        <p:nvSpPr>
          <p:cNvPr id="40" name="AutoShape 9"/>
          <p:cNvSpPr/>
          <p:nvPr/>
        </p:nvSpPr>
        <p:spPr>
          <a:xfrm>
            <a:off x="5541963" y="39098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3943350" y="3035300"/>
            <a:ext cx="718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solidFill>
                  <a:srgbClr val="FF0000"/>
                </a:solidFill>
              </a:rPr>
              <a:t>t=0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3194050" y="2391410"/>
            <a:ext cx="1071880" cy="36830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p[j]==p[t]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220720" y="2687320"/>
            <a:ext cx="10020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/>
              <a:t>p[j]!=p[t]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4324350" y="2691130"/>
            <a:ext cx="1133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t=next[t]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4385945" y="2409190"/>
            <a:ext cx="989330" cy="36830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next[j]=t</a:t>
            </a:r>
          </a:p>
        </p:txBody>
      </p:sp>
      <p:sp>
        <p:nvSpPr>
          <p:cNvPr id="48" name="AutoShape 9"/>
          <p:cNvSpPr/>
          <p:nvPr/>
        </p:nvSpPr>
        <p:spPr>
          <a:xfrm>
            <a:off x="5541963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3619500" y="3460750"/>
            <a:ext cx="1836420" cy="323850"/>
            <a:chOff x="5700" y="5450"/>
            <a:chExt cx="2892" cy="510"/>
          </a:xfrm>
        </p:grpSpPr>
        <p:sp>
          <p:nvSpPr>
            <p:cNvPr id="2" name="AutoShape 3"/>
            <p:cNvSpPr/>
            <p:nvPr/>
          </p:nvSpPr>
          <p:spPr>
            <a:xfrm>
              <a:off x="6295" y="54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3" name="AutoShape 4"/>
            <p:cNvSpPr/>
            <p:nvPr/>
          </p:nvSpPr>
          <p:spPr>
            <a:xfrm>
              <a:off x="6891" y="54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4" name="AutoShape 5"/>
            <p:cNvSpPr/>
            <p:nvPr/>
          </p:nvSpPr>
          <p:spPr>
            <a:xfrm>
              <a:off x="7487" y="54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" name="AutoShape 6"/>
            <p:cNvSpPr/>
            <p:nvPr/>
          </p:nvSpPr>
          <p:spPr>
            <a:xfrm>
              <a:off x="8082" y="54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微软雅黑" panose="020B0503020204020204" pitchFamily="34" charset="-122"/>
                </a:rPr>
                <a:t>...</a:t>
              </a:r>
            </a:p>
          </p:txBody>
        </p:sp>
        <p:sp>
          <p:nvSpPr>
            <p:cNvPr id="16" name="AutoShape 14"/>
            <p:cNvSpPr/>
            <p:nvPr/>
          </p:nvSpPr>
          <p:spPr>
            <a:xfrm>
              <a:off x="5700" y="54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15" name="页脚占位符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17" name="AutoShape 9"/>
          <p:cNvSpPr/>
          <p:nvPr/>
        </p:nvSpPr>
        <p:spPr>
          <a:xfrm>
            <a:off x="1996758" y="4753134"/>
            <a:ext cx="323850" cy="32385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AutoShape 9"/>
          <p:cNvSpPr/>
          <p:nvPr/>
        </p:nvSpPr>
        <p:spPr>
          <a:xfrm>
            <a:off x="2023428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60729 0.001204 " pathEditMode="relative" rAng="0" ptsTypes="">
                                      <p:cBhvr>
                                        <p:cTn id="1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23" dur="2000" fill="hold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32135 -0.001389 " pathEditMode="relative" rAng="0" ptsTypes="">
                                      <p:cBhvr>
                                        <p:cTn id="39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32187 0.000000 " pathEditMode="relative" ptsTypes="">
                                      <p:cBhvr>
                                        <p:cTn id="43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7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4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295 0.001574 L 0.126378 0.001574 " pathEditMode="relative" rAng="0" ptsTypes="">
                                      <p:cBhvr>
                                        <p:cTn id="7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74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76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5104 0.001204 L 0.157344 0.001204 " pathEditMode="relative" rAng="0" ptsTypes="">
                                      <p:cBhvr>
                                        <p:cTn id="8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84" dur="2000" fill="hold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92" dur="2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1719 -0.001019 L 0.061250 -0.001019 " pathEditMode="relative" ptsTypes="">
                                      <p:cBhvr>
                                        <p:cTn id="9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1979 -0.001481 L 0.061667 -0.001389 " pathEditMode="relative" rAng="0" ptsTypes="">
                                      <p:cBhvr>
                                        <p:cTn id="10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0" grpId="0" bldLvl="0" animBg="1"/>
      <p:bldP spid="14" grpId="0" bldLvl="0" animBg="1"/>
      <p:bldP spid="35" grpId="1" animBg="1"/>
      <p:bldP spid="35" grpId="2" bldLvl="0" animBg="1"/>
      <p:bldP spid="35" grpId="3" bldLvl="0" animBg="1"/>
      <p:bldP spid="36" grpId="0" bldLvl="0" animBg="1"/>
      <p:bldP spid="36" grpId="1" bldLvl="0" animBg="1"/>
      <p:bldP spid="41" grpId="0"/>
      <p:bldP spid="43" grpId="0"/>
      <p:bldP spid="43" grpId="1"/>
      <p:bldP spid="44" grpId="0"/>
      <p:bldP spid="44" grpId="1"/>
      <p:bldP spid="44" grpId="2"/>
      <p:bldP spid="44" grpId="3"/>
      <p:bldP spid="45" grpId="1"/>
      <p:bldP spid="45" grpId="2"/>
      <p:bldP spid="45" grpId="3"/>
      <p:bldP spid="45" grpId="4"/>
      <p:bldP spid="45" grpId="5"/>
      <p:bldP spid="46" grpId="0"/>
      <p:bldP spid="46" grpId="1"/>
      <p:bldP spid="48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字符串存储从下标</a:t>
            </a:r>
            <a:r>
              <a:rPr lang="en-US" altLang="zh-CN"/>
              <a:t>0</a:t>
            </a:r>
            <a:r>
              <a:rPr lang="zh-CN" altLang="en-US"/>
              <a:t>开始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标题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由</a:t>
            </a:r>
            <a:r>
              <a:rPr lang="en-US" altLang="zh-CN"/>
              <a:t>next[0,j]</a:t>
            </a:r>
            <a:r>
              <a:t>推导</a:t>
            </a:r>
            <a:r>
              <a:rPr lang="en-US" altLang="zh-CN"/>
              <a:t>next[j+1]</a:t>
            </a:r>
          </a:p>
        </p:txBody>
      </p:sp>
      <p:sp>
        <p:nvSpPr>
          <p:cNvPr id="1128451" name="AutoShape 3"/>
          <p:cNvSpPr/>
          <p:nvPr/>
        </p:nvSpPr>
        <p:spPr>
          <a:xfrm>
            <a:off x="3254137" y="35599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2" name="AutoShape 4"/>
          <p:cNvSpPr/>
          <p:nvPr/>
        </p:nvSpPr>
        <p:spPr>
          <a:xfrm>
            <a:off x="3632756" y="35599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3" name="AutoShape 5"/>
          <p:cNvSpPr/>
          <p:nvPr/>
        </p:nvSpPr>
        <p:spPr>
          <a:xfrm>
            <a:off x="4011375" y="35599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4" name="AutoShape 6"/>
          <p:cNvSpPr/>
          <p:nvPr/>
        </p:nvSpPr>
        <p:spPr>
          <a:xfrm>
            <a:off x="4388803" y="35599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5" name="AutoShape 7"/>
          <p:cNvSpPr/>
          <p:nvPr/>
        </p:nvSpPr>
        <p:spPr>
          <a:xfrm>
            <a:off x="4767421" y="35599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6" name="AutoShape 8"/>
          <p:cNvSpPr/>
          <p:nvPr/>
        </p:nvSpPr>
        <p:spPr>
          <a:xfrm>
            <a:off x="5146040" y="35599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7" name="AutoShape 9"/>
          <p:cNvSpPr/>
          <p:nvPr/>
        </p:nvSpPr>
        <p:spPr>
          <a:xfrm>
            <a:off x="5522278" y="35599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62" name="AutoShape 14"/>
          <p:cNvSpPr/>
          <p:nvPr/>
        </p:nvSpPr>
        <p:spPr>
          <a:xfrm>
            <a:off x="2871391" y="35599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8" name="AutoShape 3"/>
          <p:cNvSpPr/>
          <p:nvPr>
            <p:custDataLst>
              <p:tags r:id="rId1"/>
            </p:custDataLst>
          </p:nvPr>
        </p:nvSpPr>
        <p:spPr>
          <a:xfrm>
            <a:off x="3254137" y="44032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9" name="AutoShape 4"/>
          <p:cNvSpPr/>
          <p:nvPr/>
        </p:nvSpPr>
        <p:spPr>
          <a:xfrm>
            <a:off x="3632756" y="44032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0" name="AutoShape 5"/>
          <p:cNvSpPr/>
          <p:nvPr/>
        </p:nvSpPr>
        <p:spPr>
          <a:xfrm>
            <a:off x="4011375" y="44032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" name="AutoShape 6"/>
          <p:cNvSpPr/>
          <p:nvPr/>
        </p:nvSpPr>
        <p:spPr>
          <a:xfrm>
            <a:off x="4388803" y="44032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2" name="AutoShape 7"/>
          <p:cNvSpPr/>
          <p:nvPr/>
        </p:nvSpPr>
        <p:spPr>
          <a:xfrm>
            <a:off x="4767421" y="44032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13" name="AutoShape 8"/>
          <p:cNvSpPr/>
          <p:nvPr/>
        </p:nvSpPr>
        <p:spPr>
          <a:xfrm>
            <a:off x="5146040" y="44032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14" name="AutoShape 9"/>
          <p:cNvSpPr/>
          <p:nvPr/>
        </p:nvSpPr>
        <p:spPr>
          <a:xfrm>
            <a:off x="5522278" y="44032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30" name="AutoShape 14"/>
          <p:cNvSpPr/>
          <p:nvPr/>
        </p:nvSpPr>
        <p:spPr>
          <a:xfrm>
            <a:off x="2833291" y="44032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-1</a:t>
            </a:r>
          </a:p>
        </p:txBody>
      </p:sp>
      <p:sp>
        <p:nvSpPr>
          <p:cNvPr id="35" name="上箭头 34"/>
          <p:cNvSpPr/>
          <p:nvPr/>
        </p:nvSpPr>
        <p:spPr>
          <a:xfrm>
            <a:off x="2896870" y="3954780"/>
            <a:ext cx="196850" cy="36766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j</a:t>
            </a:r>
          </a:p>
        </p:txBody>
      </p:sp>
      <p:sp>
        <p:nvSpPr>
          <p:cNvPr id="36" name="下箭头 35"/>
          <p:cNvSpPr/>
          <p:nvPr/>
        </p:nvSpPr>
        <p:spPr>
          <a:xfrm>
            <a:off x="2503170" y="3129915"/>
            <a:ext cx="196215" cy="4254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37" name="文本框 36"/>
          <p:cNvSpPr txBox="1"/>
          <p:nvPr/>
        </p:nvSpPr>
        <p:spPr>
          <a:xfrm>
            <a:off x="769620" y="3596640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t=next[j]</a:t>
            </a:r>
          </a:p>
        </p:txBody>
      </p:sp>
      <p:sp>
        <p:nvSpPr>
          <p:cNvPr id="40" name="AutoShape 9"/>
          <p:cNvSpPr/>
          <p:nvPr/>
        </p:nvSpPr>
        <p:spPr>
          <a:xfrm>
            <a:off x="5930583" y="356441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2241550" y="2430780"/>
            <a:ext cx="718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solidFill>
                  <a:srgbClr val="FF0000"/>
                </a:solidFill>
              </a:rPr>
              <a:t>t&lt;0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3582670" y="2456180"/>
            <a:ext cx="1071880" cy="36830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p[j]==p[t]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587750" y="2795270"/>
            <a:ext cx="10020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p[j]!=p[t]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4691380" y="2799080"/>
            <a:ext cx="1133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t=next[t]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4774565" y="2473960"/>
            <a:ext cx="989330" cy="36830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next[j]=t</a:t>
            </a:r>
          </a:p>
        </p:txBody>
      </p:sp>
      <p:sp>
        <p:nvSpPr>
          <p:cNvPr id="48" name="AutoShape 9"/>
          <p:cNvSpPr/>
          <p:nvPr/>
        </p:nvSpPr>
        <p:spPr>
          <a:xfrm>
            <a:off x="5930583" y="44032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715645" y="1468755"/>
            <a:ext cx="13087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/>
              <a:t>j=0;</a:t>
            </a:r>
          </a:p>
          <a:p>
            <a:pPr algn="l"/>
            <a:r>
              <a:rPr lang="en-US" altLang="zh-CN"/>
              <a:t>next[j]=-1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416165" y="1012825"/>
            <a:ext cx="4546600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>
                <a:solidFill>
                  <a:srgbClr val="FF0000"/>
                </a:solidFill>
              </a:rPr>
              <a:t>t=-1</a:t>
            </a:r>
            <a:r>
              <a:rPr lang="zh-CN" altLang="en-US">
                <a:solidFill>
                  <a:srgbClr val="FF0000"/>
                </a:solidFill>
              </a:rPr>
              <a:t>，含义为回溯到模式串头前</a:t>
            </a:r>
            <a:r>
              <a:rPr lang="zh-CN" altLang="en-US">
                <a:solidFill>
                  <a:schemeClr val="tx1"/>
                </a:solidFill>
              </a:rPr>
              <a:t>（只有</a:t>
            </a:r>
            <a:r>
              <a:rPr lang="en-US" altLang="zh-CN">
                <a:solidFill>
                  <a:schemeClr val="tx1"/>
                </a:solidFill>
              </a:rPr>
              <a:t>next[0]</a:t>
            </a:r>
            <a:r>
              <a:rPr lang="zh-CN" altLang="en-US">
                <a:solidFill>
                  <a:schemeClr val="tx1"/>
                </a:solidFill>
              </a:rPr>
              <a:t>为</a:t>
            </a:r>
            <a:r>
              <a:rPr lang="en-US" altLang="zh-CN">
                <a:solidFill>
                  <a:schemeClr val="tx1"/>
                </a:solidFill>
              </a:rPr>
              <a:t>-1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r>
              <a:rPr lang="zh-CN" altLang="en-US">
                <a:solidFill>
                  <a:srgbClr val="FF0000"/>
                </a:solidFill>
              </a:rPr>
              <a:t>，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++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j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，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++t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，即next[++j]=++t。</a:t>
            </a:r>
            <a:r>
              <a:rPr lang="zh-CN" altLang="en-US">
                <a:solidFill>
                  <a:srgbClr val="FF0000"/>
                </a:solidFill>
              </a:rPr>
              <a:t>含义为当前</a:t>
            </a:r>
            <a:r>
              <a:rPr lang="en-US" altLang="zh-CN">
                <a:solidFill>
                  <a:srgbClr val="FF0000"/>
                </a:solidFill>
              </a:rPr>
              <a:t>j</a:t>
            </a:r>
            <a:r>
              <a:rPr lang="zh-CN" altLang="en-US">
                <a:solidFill>
                  <a:srgbClr val="FF0000"/>
                </a:solidFill>
              </a:rPr>
              <a:t>所指向的前面字符串中，前缀和后缀无可重叠子串。</a:t>
            </a:r>
            <a:endParaRPr lang="en-US" altLang="zh-CN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t&gt;=0,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且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p[j]==p[t],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则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next[</a:t>
            </a:r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</a:rPr>
              <a:t>++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j]=</a:t>
            </a:r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</a:rPr>
              <a:t>++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t;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即原有已匹配子串增长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个长度。比较的是前一个字符，但是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j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先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+1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再设置值，含义为当前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j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的前部串，前缀和后缀的可重叠长度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+1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。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>
                <a:sym typeface="+mn-ea"/>
              </a:rPr>
              <a:t>t&gt;=0</a:t>
            </a:r>
            <a:r>
              <a:rPr lang="zh-CN" altLang="en-US">
                <a:sym typeface="+mn-ea"/>
              </a:rPr>
              <a:t>，且</a:t>
            </a:r>
            <a:r>
              <a:rPr lang="en-US" altLang="zh-CN">
                <a:sym typeface="+mn-ea"/>
              </a:rPr>
              <a:t>p[j]!=p[t]</a:t>
            </a:r>
            <a:r>
              <a:rPr lang="zh-CN" altLang="en-US">
                <a:sym typeface="+mn-ea"/>
              </a:rPr>
              <a:t>则回溯</a:t>
            </a:r>
            <a:r>
              <a:rPr lang="en-US" altLang="zh-CN">
                <a:sym typeface="+mn-ea"/>
              </a:rPr>
              <a:t>t=next[t]</a:t>
            </a:r>
            <a:r>
              <a:rPr lang="zh-CN" altLang="en-US">
                <a:sym typeface="+mn-ea"/>
              </a:rPr>
              <a:t>，直到以下两种情况</a:t>
            </a:r>
            <a:endParaRPr lang="zh-CN" altLang="en-US">
              <a:solidFill>
                <a:schemeClr val="tx1"/>
              </a:solidFill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p[j]==p[t]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，即回溯到第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种情况。到可以匹配的后缀，则在原有匹配后缀长度加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。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回溯到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t=-1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，即未有符合重叠子串，则为第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种情况。</a:t>
            </a:r>
            <a:endParaRPr lang="en-US" altLang="zh-CN"/>
          </a:p>
          <a:p>
            <a:pPr marL="342900" indent="-342900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22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-0.002964 L 0.032187 -0.002964 " pathEditMode="relative" rAng="0" ptsTypes="">
                                      <p:cBhvr>
                                        <p:cTn id="2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32292 -0.000648 " pathEditMode="relative" rAng="0" ptsTypes="">
                                      <p:cBhvr>
                                        <p:cTn id="3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1860 0.000000 L -0.003036 0.000000 " pathEditMode="relative" rAng="0" ptsTypes="">
                                      <p:cBhvr>
                                        <p:cTn id="4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5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9479 -0.003426 L 0.064323 -0.003426 " pathEditMode="relative" ptsTypes="">
                                      <p:cBhvr>
                                        <p:cTn id="54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29531 0.000000 " pathEditMode="relative" ptsTypes="">
                                      <p:cBhvr>
                                        <p:cTn id="5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0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927 -0.000648 L 0.064479 -0.000648 " pathEditMode="relative" ptsTypes="">
                                      <p:cBhvr>
                                        <p:cTn id="83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1667 -0.003426 L 0.099219 -0.003426 " pathEditMode="relative" rAng="0" ptsTypes="">
                                      <p:cBhvr>
                                        <p:cTn id="85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4167 -0.002222 L 0.026615 -0.002222 " pathEditMode="relative" ptsTypes="">
                                      <p:cBhvr>
                                        <p:cTn id="107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3542 -0.005000 L 0.125781 -0.005000 " pathEditMode="relative" ptsTypes="">
                                      <p:cBhvr>
                                        <p:cTn id="123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9323 -0.002222 L 0.061510 -0.002222 " pathEditMode="relative" ptsTypes="">
                                      <p:cBhvr>
                                        <p:cTn id="125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7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250" autoRev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4" dur="250" autoRev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" dur="250" autoRev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" dur="250" autoRev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27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250" autoRev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9" dur="250" autoRev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0" dur="250" autoRev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" dur="250" autoRev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0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3073 -0.005000 L 0.157969 -0.005000 " pathEditMode="relative" ptsTypes="">
                                      <p:cBhvr>
                                        <p:cTn id="145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2031 0.001759 L 0.096771 0.000000 " pathEditMode="relative" ptsTypes="">
                                      <p:cBhvr>
                                        <p:cTn id="147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155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10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157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0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9946 -0.002222 L 0.129425 -0.002222 " pathEditMode="relative" rAng="0" ptsTypes="">
                                      <p:cBhvr>
                                        <p:cTn id="161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" y="0"/>
                                    </p:animMotion>
                                  </p:childTnLst>
                                </p:cTn>
                              </p:par>
                              <p:par>
                                <p:cTn id="162" presetID="0" presetClass="pat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5260 -0.005000 L 0.187500 -0.005000 " pathEditMode="relative" ptsTypes="">
                                      <p:cBhvr>
                                        <p:cTn id="163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3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4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5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6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0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8594 -0.006944 L 0.061510 -0.006944 " pathEditMode="relative" ptsTypes="">
                                      <p:cBhvr>
                                        <p:cTn id="19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0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4167 -0.006944 L 0.099063 -0.002222 " pathEditMode="relative" ptsTypes="">
                                      <p:cBhvr>
                                        <p:cTn id="20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7" presetID="0" presetClass="path" presetSubtype="0" accel="50000" decel="5000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7711 -0.005276 L 0.219898 -0.005276 " pathEditMode="relative" rAng="0" ptsTypes="">
                                      <p:cBhvr>
                                        <p:cTn id="20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8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9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0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0" presetClass="path" presetSubtype="0" accel="50000" decel="5000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6406 -0.006944 L 0.031979 -0.006944 " pathEditMode="relative" ptsTypes="">
                                      <p:cBhvr>
                                        <p:cTn id="235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0" presetClass="emph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239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0" presetClass="path" presetSubtype="0" accel="50000" decel="5000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823 0.000000 L 0.000000 0.000000 " pathEditMode="relative" ptsTypes="">
                                      <p:cBhvr>
                                        <p:cTn id="243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0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9744 -0.005276 L 0.257296 -0.005276 " pathEditMode="relative" rAng="0" ptsTypes="">
                                      <p:cBhvr>
                                        <p:cTn id="251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bldLvl="0" animBg="1"/>
      <p:bldP spid="9" grpId="0" bldLvl="0" animBg="1"/>
      <p:bldP spid="9" grpId="1" bldLvl="0" animBg="1"/>
      <p:bldP spid="10" grpId="0" bldLvl="0" animBg="1"/>
      <p:bldP spid="10" grpId="1" bldLvl="0" animBg="1"/>
      <p:bldP spid="11" grpId="0" bldLvl="0" animBg="1"/>
      <p:bldP spid="12" grpId="0" bldLvl="0" animBg="1"/>
      <p:bldP spid="13" grpId="0" bldLvl="0" animBg="1"/>
      <p:bldP spid="14" grpId="0" bldLvl="0" animBg="1"/>
      <p:bldP spid="35" grpId="0" bldLvl="0" animBg="1"/>
      <p:bldP spid="35" grpId="1" animBg="1"/>
      <p:bldP spid="35" grpId="2" bldLvl="0" animBg="1"/>
      <p:bldP spid="35" grpId="3" bldLvl="0" animBg="1"/>
      <p:bldP spid="35" grpId="4" bldLvl="0" animBg="1"/>
      <p:bldP spid="35" grpId="5" bldLvl="0" animBg="1"/>
      <p:bldP spid="35" grpId="6" bldLvl="0" animBg="1"/>
      <p:bldP spid="35" grpId="7" bldLvl="0" animBg="1"/>
      <p:bldP spid="35" grpId="8" bldLvl="0" animBg="1"/>
      <p:bldP spid="35" grpId="9" bldLvl="0" animBg="1"/>
      <p:bldP spid="36" grpId="0" bldLvl="0" animBg="1"/>
      <p:bldP spid="36" grpId="1" bldLvl="0" animBg="1"/>
      <p:bldP spid="36" grpId="2" bldLvl="0" animBg="1"/>
      <p:bldP spid="36" grpId="3" bldLvl="0" animBg="1"/>
      <p:bldP spid="36" grpId="4" bldLvl="0" animBg="1"/>
      <p:bldP spid="36" grpId="5" bldLvl="0" animBg="1"/>
      <p:bldP spid="36" grpId="6" bldLvl="0" animBg="1"/>
      <p:bldP spid="36" grpId="7" bldLvl="0" animBg="1"/>
      <p:bldP spid="36" grpId="8" bldLvl="0" animBg="1"/>
      <p:bldP spid="36" grpId="9" bldLvl="0" animBg="1"/>
      <p:bldP spid="36" grpId="10" bldLvl="0" animBg="1"/>
      <p:bldP spid="36" grpId="11" bldLvl="0" animBg="1"/>
      <p:bldP spid="37" grpId="0"/>
      <p:bldP spid="37" grpId="1"/>
      <p:bldP spid="41" grpId="0"/>
      <p:bldP spid="41" grpId="1"/>
      <p:bldP spid="41" grpId="2"/>
      <p:bldP spid="41" grpId="3"/>
      <p:bldP spid="43" grpId="0"/>
      <p:bldP spid="43" grpId="1"/>
      <p:bldP spid="43" grpId="2"/>
      <p:bldP spid="43" grpId="3"/>
      <p:bldP spid="43" grpId="4"/>
      <p:bldP spid="43" grpId="5"/>
      <p:bldP spid="43" grpId="6"/>
      <p:bldP spid="43" grpId="7"/>
      <p:bldP spid="44" grpId="0"/>
      <p:bldP spid="44" grpId="1"/>
      <p:bldP spid="44" grpId="2"/>
      <p:bldP spid="44" grpId="3"/>
      <p:bldP spid="44" grpId="4"/>
      <p:bldP spid="44" grpId="5"/>
      <p:bldP spid="44" grpId="6"/>
      <p:bldP spid="44" grpId="7"/>
      <p:bldP spid="45" grpId="0"/>
      <p:bldP spid="45" grpId="1"/>
      <p:bldP spid="45" grpId="2"/>
      <p:bldP spid="45" grpId="3"/>
      <p:bldP spid="45" grpId="4"/>
      <p:bldP spid="45" grpId="5"/>
      <p:bldP spid="45" grpId="6"/>
      <p:bldP spid="45" grpId="7"/>
      <p:bldP spid="46" grpId="0"/>
      <p:bldP spid="46" grpId="1"/>
      <p:bldP spid="46" grpId="2"/>
      <p:bldP spid="46" grpId="3"/>
      <p:bldP spid="46" grpId="4"/>
      <p:bldP spid="46" grpId="5"/>
      <p:bldP spid="46" grpId="6"/>
      <p:bldP spid="46" grpId="7"/>
      <p:bldP spid="48" grpId="0" bldLvl="0" animBg="1"/>
      <p:bldP spid="49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标题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由</a:t>
            </a:r>
            <a:r>
              <a:rPr lang="en-US" altLang="zh-CN"/>
              <a:t>next[0,j]</a:t>
            </a:r>
            <a:r>
              <a:t>推导</a:t>
            </a:r>
            <a:r>
              <a:rPr lang="en-US" altLang="zh-CN"/>
              <a:t>next[j+1]</a:t>
            </a:r>
          </a:p>
        </p:txBody>
      </p:sp>
      <p:sp>
        <p:nvSpPr>
          <p:cNvPr id="1128451" name="AutoShape 3"/>
          <p:cNvSpPr/>
          <p:nvPr/>
        </p:nvSpPr>
        <p:spPr>
          <a:xfrm>
            <a:off x="2865517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2" name="AutoShape 4"/>
          <p:cNvSpPr/>
          <p:nvPr/>
        </p:nvSpPr>
        <p:spPr>
          <a:xfrm>
            <a:off x="3244136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3" name="AutoShape 5"/>
          <p:cNvSpPr/>
          <p:nvPr/>
        </p:nvSpPr>
        <p:spPr>
          <a:xfrm>
            <a:off x="3622755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4" name="AutoShape 6"/>
          <p:cNvSpPr/>
          <p:nvPr/>
        </p:nvSpPr>
        <p:spPr>
          <a:xfrm>
            <a:off x="4000183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5" name="AutoShape 7"/>
          <p:cNvSpPr/>
          <p:nvPr/>
        </p:nvSpPr>
        <p:spPr>
          <a:xfrm>
            <a:off x="4378801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6" name="AutoShape 8"/>
          <p:cNvSpPr/>
          <p:nvPr/>
        </p:nvSpPr>
        <p:spPr>
          <a:xfrm>
            <a:off x="4757420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7" name="AutoShape 9"/>
          <p:cNvSpPr/>
          <p:nvPr/>
        </p:nvSpPr>
        <p:spPr>
          <a:xfrm>
            <a:off x="5133658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62" name="AutoShape 14"/>
          <p:cNvSpPr/>
          <p:nvPr/>
        </p:nvSpPr>
        <p:spPr>
          <a:xfrm>
            <a:off x="2444671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8" name="AutoShape 3"/>
          <p:cNvSpPr/>
          <p:nvPr>
            <p:custDataLst>
              <p:tags r:id="rId1"/>
            </p:custDataLst>
          </p:nvPr>
        </p:nvSpPr>
        <p:spPr>
          <a:xfrm>
            <a:off x="2865517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9" name="AutoShape 4"/>
          <p:cNvSpPr/>
          <p:nvPr/>
        </p:nvSpPr>
        <p:spPr>
          <a:xfrm>
            <a:off x="3244136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0" name="AutoShape 5"/>
          <p:cNvSpPr/>
          <p:nvPr/>
        </p:nvSpPr>
        <p:spPr>
          <a:xfrm>
            <a:off x="3622755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" name="AutoShape 6"/>
          <p:cNvSpPr/>
          <p:nvPr/>
        </p:nvSpPr>
        <p:spPr>
          <a:xfrm>
            <a:off x="4000183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2" name="AutoShape 7"/>
          <p:cNvSpPr/>
          <p:nvPr/>
        </p:nvSpPr>
        <p:spPr>
          <a:xfrm>
            <a:off x="4378801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13" name="AutoShape 8"/>
          <p:cNvSpPr/>
          <p:nvPr/>
        </p:nvSpPr>
        <p:spPr>
          <a:xfrm>
            <a:off x="4757420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30" name="AutoShape 14"/>
          <p:cNvSpPr/>
          <p:nvPr/>
        </p:nvSpPr>
        <p:spPr>
          <a:xfrm>
            <a:off x="2444671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-1</a:t>
            </a:r>
          </a:p>
        </p:txBody>
      </p:sp>
      <p:sp>
        <p:nvSpPr>
          <p:cNvPr id="35" name="上箭头 34"/>
          <p:cNvSpPr/>
          <p:nvPr/>
        </p:nvSpPr>
        <p:spPr>
          <a:xfrm>
            <a:off x="2508250" y="4310380"/>
            <a:ext cx="196850" cy="36766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j</a:t>
            </a:r>
          </a:p>
        </p:txBody>
      </p:sp>
      <p:sp>
        <p:nvSpPr>
          <p:cNvPr id="36" name="下箭头 35"/>
          <p:cNvSpPr/>
          <p:nvPr/>
        </p:nvSpPr>
        <p:spPr>
          <a:xfrm>
            <a:off x="2508250" y="3035300"/>
            <a:ext cx="196215" cy="4254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t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675640" y="3860800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t=next[j]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7416165" y="1012825"/>
            <a:ext cx="4546600" cy="4554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>
                <a:solidFill>
                  <a:srgbClr val="FF0000"/>
                </a:solidFill>
                <a:sym typeface="+mn-ea"/>
              </a:rPr>
              <a:t>t=-1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，含义为回溯到模式串头前</a:t>
            </a:r>
            <a:r>
              <a:rPr lang="zh-CN" altLang="en-US">
                <a:sym typeface="+mn-ea"/>
              </a:rPr>
              <a:t>（只有</a:t>
            </a:r>
            <a:r>
              <a:rPr lang="en-US" altLang="zh-CN">
                <a:sym typeface="+mn-ea"/>
              </a:rPr>
              <a:t>next[0]</a:t>
            </a:r>
            <a:r>
              <a:rPr lang="zh-CN" altLang="en-US">
                <a:sym typeface="+mn-ea"/>
              </a:rPr>
              <a:t>为</a:t>
            </a:r>
            <a:r>
              <a:rPr lang="en-US" altLang="zh-CN">
                <a:sym typeface="+mn-ea"/>
              </a:rPr>
              <a:t>-1</a:t>
            </a:r>
            <a:r>
              <a:rPr lang="zh-CN" altLang="en-US">
                <a:sym typeface="+mn-ea"/>
              </a:rPr>
              <a:t>）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，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++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j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，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++t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，即next[++j]=++t。含义为当前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j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所指向的前面字符串中，前缀和后缀无可重叠子串</a:t>
            </a:r>
            <a:r>
              <a:rPr lang="zh-CN" altLang="en-US">
                <a:solidFill>
                  <a:srgbClr val="FF0000"/>
                </a:solidFill>
              </a:rPr>
              <a:t>。</a:t>
            </a:r>
            <a:endParaRPr lang="en-US" altLang="zh-CN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t&gt;=0,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且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p[j]==p[t],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则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next[</a:t>
            </a:r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</a:rPr>
              <a:t>++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j]=</a:t>
            </a:r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</a:rPr>
              <a:t>++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t;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即原有匹配串增长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个长度。比较的是前一个字符，但是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j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先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+1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再设置值，含义为当前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j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的前部串，前缀和后缀的可重叠长度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+1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。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>
                <a:sym typeface="+mn-ea"/>
              </a:rPr>
              <a:t>t&gt;=0</a:t>
            </a:r>
            <a:r>
              <a:rPr lang="zh-CN" altLang="en-US">
                <a:sym typeface="+mn-ea"/>
              </a:rPr>
              <a:t>，且</a:t>
            </a:r>
            <a:r>
              <a:rPr lang="en-US" altLang="zh-CN">
                <a:sym typeface="+mn-ea"/>
              </a:rPr>
              <a:t>p[j]!=p[t]</a:t>
            </a:r>
            <a:r>
              <a:rPr lang="zh-CN" altLang="en-US">
                <a:sym typeface="+mn-ea"/>
              </a:rPr>
              <a:t>则回溯</a:t>
            </a:r>
            <a:r>
              <a:rPr lang="en-US" altLang="zh-CN">
                <a:sym typeface="+mn-ea"/>
              </a:rPr>
              <a:t>t=next[t]</a:t>
            </a:r>
            <a:r>
              <a:rPr lang="zh-CN" altLang="en-US">
                <a:sym typeface="+mn-ea"/>
              </a:rPr>
              <a:t>，直到以下两种情况</a:t>
            </a:r>
            <a:endParaRPr lang="zh-CN" altLang="en-US">
              <a:solidFill>
                <a:schemeClr val="tx1"/>
              </a:solidFill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p[j]==p[t]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，即回溯到第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种情况。到可以匹配的后缀，则在原有匹配后缀长度加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。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回溯到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t=-1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，即未有符合重叠子串，则为第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种情况。</a:t>
            </a:r>
            <a:endParaRPr lang="en-US" altLang="zh-CN"/>
          </a:p>
          <a:p>
            <a:pPr marL="342900" indent="-342900"/>
            <a:endParaRPr lang="zh-CN" altLang="en-US"/>
          </a:p>
        </p:txBody>
      </p:sp>
      <p:sp>
        <p:nvSpPr>
          <p:cNvPr id="40" name="AutoShape 9"/>
          <p:cNvSpPr/>
          <p:nvPr/>
        </p:nvSpPr>
        <p:spPr>
          <a:xfrm>
            <a:off x="5541963" y="39098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1789430" y="2529840"/>
            <a:ext cx="718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solidFill>
                  <a:srgbClr val="FF0000"/>
                </a:solidFill>
              </a:rPr>
              <a:t>t&lt;0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3194050" y="2391410"/>
            <a:ext cx="1071880" cy="36830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p[j]==p[t]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220720" y="2687320"/>
            <a:ext cx="10020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p[j]!=p[t]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4324350" y="2691130"/>
            <a:ext cx="1133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t=next[t]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4385945" y="2409190"/>
            <a:ext cx="989330" cy="36830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next[j]=t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876550" y="3460750"/>
            <a:ext cx="1836420" cy="323850"/>
            <a:chOff x="4564" y="5450"/>
            <a:chExt cx="2892" cy="510"/>
          </a:xfrm>
        </p:grpSpPr>
        <p:sp>
          <p:nvSpPr>
            <p:cNvPr id="2" name="AutoShape 3"/>
            <p:cNvSpPr/>
            <p:nvPr/>
          </p:nvSpPr>
          <p:spPr>
            <a:xfrm>
              <a:off x="5159" y="54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3" name="AutoShape 4"/>
            <p:cNvSpPr/>
            <p:nvPr/>
          </p:nvSpPr>
          <p:spPr>
            <a:xfrm>
              <a:off x="5755" y="54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4" name="AutoShape 5"/>
            <p:cNvSpPr/>
            <p:nvPr/>
          </p:nvSpPr>
          <p:spPr>
            <a:xfrm>
              <a:off x="6351" y="54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" name="AutoShape 6"/>
            <p:cNvSpPr/>
            <p:nvPr/>
          </p:nvSpPr>
          <p:spPr>
            <a:xfrm>
              <a:off x="6946" y="54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微软雅黑" panose="020B0503020204020204" pitchFamily="34" charset="-122"/>
                </a:rPr>
                <a:t>...</a:t>
              </a:r>
            </a:p>
          </p:txBody>
        </p:sp>
        <p:sp>
          <p:nvSpPr>
            <p:cNvPr id="16" name="AutoShape 14"/>
            <p:cNvSpPr/>
            <p:nvPr/>
          </p:nvSpPr>
          <p:spPr>
            <a:xfrm>
              <a:off x="4564" y="54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22" dur="2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32187 0.000000 " pathEditMode="relative" ptsTypes="">
                                      <p:cBhvr>
                                        <p:cTn id="2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34948 -0.001389 " pathEditMode="relative" rAng="0" ptsTypes="">
                                      <p:cBhvr>
                                        <p:cTn id="3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7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2187 0.000000 L 0.000000 0.000000 " pathEditMode="relative" ptsTypes="">
                                      <p:cBhvr>
                                        <p:cTn id="53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5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0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37 0.000185 L 0.034791 0.000000 " pathEditMode="relative" rAng="0" ptsTypes="">
                                      <p:cBhvr>
                                        <p:cTn id="61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9479 -0.003426 L 0.064323 -0.003426 " pathEditMode="relative" ptsTypes="">
                                      <p:cBhvr>
                                        <p:cTn id="65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6" presetID="0" presetClass="path" presetSubtype="0" accel="50000" decel="50000" fill="hold" grpId="3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33630 0.000000 L 0.065817 0.000000 " pathEditMode="relative" rAng="0" ptsTypes="">
                                      <p:cBhvr>
                                        <p:cTn id="67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" y="0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29479 0.000000 " pathEditMode="relative" ptsTypes="">
                                      <p:cBhvr>
                                        <p:cTn id="6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3542 -0.001389 L 0.095729 -0.001389 " pathEditMode="relative" ptsTypes="">
                                      <p:cBhvr>
                                        <p:cTn id="94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1667 -0.003426 L 0.099219 -0.003426 " pathEditMode="relative" rAng="0" ptsTypes="">
                                      <p:cBhvr>
                                        <p:cTn id="9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7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7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0052 0.000000 L 0.061510 0.001204 " pathEditMode="relative" rAng="0" ptsTypes="">
                                      <p:cBhvr>
                                        <p:cTn id="12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3542 -0.005000 L 0.125781 -0.005000 " pathEditMode="relative" ptsTypes="">
                                      <p:cBhvr>
                                        <p:cTn id="139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0365 -0.001389 L 0.125260 -0.001389 " pathEditMode="relative" ptsTypes="">
                                      <p:cBhvr>
                                        <p:cTn id="141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7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9" dur="250" autoRev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0" dur="250" autoRev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250" autoRev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250" autoRev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27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" dur="250" autoRev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5" dur="250" autoRev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6" dur="250" autoRev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250" autoRev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0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5260 -0.001389 L 0.154792 -0.001389 " pathEditMode="relative" ptsTypes="">
                                      <p:cBhvr>
                                        <p:cTn id="161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2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3073 -0.005000 L 0.157969 -0.005000 " pathEditMode="relative" ptsTypes="">
                                      <p:cBhvr>
                                        <p:cTn id="163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171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10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173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0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5260 -0.005000 L 0.187500 -0.005000 " pathEditMode="relative" ptsTypes="">
                                      <p:cBhvr>
                                        <p:cTn id="177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8" presetID="0" presetClass="path" presetSubtype="0" accel="50000" decel="5000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4792 -0.001389 L 0.186979 -0.001389 " pathEditMode="relative" ptsTypes="">
                                      <p:cBhvr>
                                        <p:cTn id="179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bldLvl="0" animBg="1"/>
      <p:bldP spid="8" grpId="2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30" grpId="0" animBg="1"/>
      <p:bldP spid="35" grpId="0" bldLvl="0" animBg="1"/>
      <p:bldP spid="35" grpId="1" animBg="1"/>
      <p:bldP spid="35" grpId="2" bldLvl="0" animBg="1"/>
      <p:bldP spid="35" grpId="3" bldLvl="0" animBg="1"/>
      <p:bldP spid="35" grpId="4" bldLvl="0" animBg="1"/>
      <p:bldP spid="35" grpId="5" bldLvl="0" animBg="1"/>
      <p:bldP spid="35" grpId="6" bldLvl="0" animBg="1"/>
      <p:bldP spid="35" grpId="7" bldLvl="0" animBg="1"/>
      <p:bldP spid="36" grpId="0" bldLvl="0" animBg="1"/>
      <p:bldP spid="36" grpId="1" animBg="1"/>
      <p:bldP spid="36" grpId="2" animBg="1"/>
      <p:bldP spid="36" grpId="3" animBg="1"/>
      <p:bldP spid="36" grpId="5" animBg="1"/>
      <p:bldP spid="36" grpId="6" animBg="1"/>
      <p:bldP spid="36" grpId="7" animBg="1"/>
      <p:bldP spid="36" grpId="8" animBg="1"/>
      <p:bldP spid="36" grpId="9" animBg="1"/>
      <p:bldP spid="37" grpId="0"/>
      <p:bldP spid="37" grpId="1"/>
      <p:bldP spid="41" grpId="0"/>
      <p:bldP spid="41" grpId="1"/>
      <p:bldP spid="41" grpId="2"/>
      <p:bldP spid="43" grpId="0"/>
      <p:bldP spid="43" grpId="1"/>
      <p:bldP spid="43" grpId="2"/>
      <p:bldP spid="43" grpId="3"/>
      <p:bldP spid="43" grpId="4"/>
      <p:bldP spid="44" grpId="0"/>
      <p:bldP spid="44" grpId="1"/>
      <p:bldP spid="44" grpId="2"/>
      <p:bldP spid="44" grpId="3"/>
      <p:bldP spid="45" grpId="0"/>
      <p:bldP spid="45" grpId="1"/>
      <p:bldP spid="45" grpId="2"/>
      <p:bldP spid="45" grpId="3"/>
      <p:bldP spid="45" grpId="4"/>
      <p:bldP spid="46" grpId="0"/>
      <p:bldP spid="46" grpId="1"/>
      <p:bldP spid="46" grpId="2"/>
      <p:bldP spid="46" grpId="3"/>
      <p:bldP spid="46" grpId="4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标题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由</a:t>
            </a:r>
            <a:r>
              <a:rPr lang="en-US" altLang="zh-CN"/>
              <a:t>next[0,j]</a:t>
            </a:r>
            <a:r>
              <a:t>推导</a:t>
            </a:r>
            <a:r>
              <a:rPr lang="en-US" altLang="zh-CN"/>
              <a:t>next[j+1]</a:t>
            </a:r>
          </a:p>
        </p:txBody>
      </p:sp>
      <p:sp>
        <p:nvSpPr>
          <p:cNvPr id="1128451" name="AutoShape 3"/>
          <p:cNvSpPr/>
          <p:nvPr/>
        </p:nvSpPr>
        <p:spPr>
          <a:xfrm>
            <a:off x="2865517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2" name="AutoShape 4"/>
          <p:cNvSpPr/>
          <p:nvPr/>
        </p:nvSpPr>
        <p:spPr>
          <a:xfrm>
            <a:off x="3244136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3" name="AutoShape 5"/>
          <p:cNvSpPr/>
          <p:nvPr/>
        </p:nvSpPr>
        <p:spPr>
          <a:xfrm>
            <a:off x="3622755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4" name="AutoShape 6"/>
          <p:cNvSpPr/>
          <p:nvPr/>
        </p:nvSpPr>
        <p:spPr>
          <a:xfrm>
            <a:off x="4000183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5" name="AutoShape 7"/>
          <p:cNvSpPr/>
          <p:nvPr/>
        </p:nvSpPr>
        <p:spPr>
          <a:xfrm>
            <a:off x="4378801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6" name="AutoShape 8"/>
          <p:cNvSpPr/>
          <p:nvPr/>
        </p:nvSpPr>
        <p:spPr>
          <a:xfrm>
            <a:off x="4757420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7" name="AutoShape 9"/>
          <p:cNvSpPr/>
          <p:nvPr/>
        </p:nvSpPr>
        <p:spPr>
          <a:xfrm>
            <a:off x="5133658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62" name="AutoShape 14"/>
          <p:cNvSpPr/>
          <p:nvPr/>
        </p:nvSpPr>
        <p:spPr>
          <a:xfrm>
            <a:off x="2444671" y="390540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8" name="AutoShape 3"/>
          <p:cNvSpPr/>
          <p:nvPr>
            <p:custDataLst>
              <p:tags r:id="rId1"/>
            </p:custDataLst>
          </p:nvPr>
        </p:nvSpPr>
        <p:spPr>
          <a:xfrm>
            <a:off x="2865517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9" name="AutoShape 4"/>
          <p:cNvSpPr/>
          <p:nvPr/>
        </p:nvSpPr>
        <p:spPr>
          <a:xfrm>
            <a:off x="3244136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0" name="AutoShape 5"/>
          <p:cNvSpPr/>
          <p:nvPr/>
        </p:nvSpPr>
        <p:spPr>
          <a:xfrm>
            <a:off x="3622755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" name="AutoShape 6"/>
          <p:cNvSpPr/>
          <p:nvPr/>
        </p:nvSpPr>
        <p:spPr>
          <a:xfrm>
            <a:off x="4000183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2" name="AutoShape 7"/>
          <p:cNvSpPr/>
          <p:nvPr/>
        </p:nvSpPr>
        <p:spPr>
          <a:xfrm>
            <a:off x="4378801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13" name="AutoShape 8"/>
          <p:cNvSpPr/>
          <p:nvPr/>
        </p:nvSpPr>
        <p:spPr>
          <a:xfrm>
            <a:off x="4757420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14" name="AutoShape 9"/>
          <p:cNvSpPr/>
          <p:nvPr/>
        </p:nvSpPr>
        <p:spPr>
          <a:xfrm>
            <a:off x="5133658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30" name="AutoShape 14"/>
          <p:cNvSpPr/>
          <p:nvPr/>
        </p:nvSpPr>
        <p:spPr>
          <a:xfrm>
            <a:off x="2444671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-1</a:t>
            </a:r>
          </a:p>
        </p:txBody>
      </p:sp>
      <p:sp>
        <p:nvSpPr>
          <p:cNvPr id="35" name="上箭头 34"/>
          <p:cNvSpPr/>
          <p:nvPr/>
        </p:nvSpPr>
        <p:spPr>
          <a:xfrm>
            <a:off x="4792980" y="4305300"/>
            <a:ext cx="196850" cy="36766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j</a:t>
            </a:r>
          </a:p>
        </p:txBody>
      </p:sp>
      <p:sp>
        <p:nvSpPr>
          <p:cNvPr id="36" name="下箭头 35"/>
          <p:cNvSpPr/>
          <p:nvPr/>
        </p:nvSpPr>
        <p:spPr>
          <a:xfrm>
            <a:off x="4821555" y="3035300"/>
            <a:ext cx="196215" cy="4254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t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7447915" y="1012825"/>
            <a:ext cx="4514850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>
                <a:solidFill>
                  <a:srgbClr val="FF0000"/>
                </a:solidFill>
                <a:sym typeface="+mn-ea"/>
              </a:rPr>
              <a:t>t=-1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，含义为回溯到模式串头前</a:t>
            </a:r>
            <a:r>
              <a:rPr lang="zh-CN" altLang="en-US">
                <a:sym typeface="+mn-ea"/>
              </a:rPr>
              <a:t>（只有</a:t>
            </a:r>
            <a:r>
              <a:rPr lang="en-US" altLang="zh-CN">
                <a:sym typeface="+mn-ea"/>
              </a:rPr>
              <a:t>next[0]</a:t>
            </a:r>
            <a:r>
              <a:rPr lang="zh-CN" altLang="en-US">
                <a:sym typeface="+mn-ea"/>
              </a:rPr>
              <a:t>为</a:t>
            </a:r>
            <a:r>
              <a:rPr lang="en-US" altLang="zh-CN">
                <a:sym typeface="+mn-ea"/>
              </a:rPr>
              <a:t>-1</a:t>
            </a:r>
            <a:r>
              <a:rPr lang="zh-CN" altLang="en-US">
                <a:sym typeface="+mn-ea"/>
              </a:rPr>
              <a:t>）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，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++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j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，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++t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，即next[++j]=++t。含义为当前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j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所指向的前面字符串中，前缀和后缀无可重叠子串</a:t>
            </a:r>
            <a:r>
              <a:rPr lang="zh-CN" altLang="en-US">
                <a:solidFill>
                  <a:srgbClr val="FF0000"/>
                </a:solidFill>
              </a:rPr>
              <a:t>。</a:t>
            </a:r>
            <a:endParaRPr lang="en-US" altLang="zh-CN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t&gt;=0,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且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p[j]==p[t],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则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next[</a:t>
            </a:r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</a:rPr>
              <a:t>++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j]=</a:t>
            </a:r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</a:rPr>
              <a:t>++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t;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即原有匹配串增长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个长度。比较的是前一个字符，但是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j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先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+1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再设置值，含义为当前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j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的前部串，前缀和后缀的可重叠长度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+1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。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>
                <a:solidFill>
                  <a:schemeClr val="tx1"/>
                </a:solidFill>
              </a:rPr>
              <a:t>t&gt;=0</a:t>
            </a:r>
            <a:r>
              <a:rPr lang="zh-CN" altLang="en-US">
                <a:solidFill>
                  <a:schemeClr val="tx1"/>
                </a:solidFill>
              </a:rPr>
              <a:t>，且</a:t>
            </a:r>
            <a:r>
              <a:rPr lang="en-US" altLang="zh-CN">
                <a:solidFill>
                  <a:schemeClr val="tx1"/>
                </a:solidFill>
              </a:rPr>
              <a:t>p[j]!=p[t]</a:t>
            </a:r>
            <a:r>
              <a:rPr lang="zh-CN" altLang="en-US">
                <a:solidFill>
                  <a:schemeClr val="tx1"/>
                </a:solidFill>
              </a:rPr>
              <a:t>则回溯</a:t>
            </a:r>
            <a:r>
              <a:rPr lang="en-US" altLang="zh-CN">
                <a:solidFill>
                  <a:schemeClr val="tx1"/>
                </a:solidFill>
              </a:rPr>
              <a:t>t=next[t]</a:t>
            </a:r>
            <a:r>
              <a:rPr lang="zh-CN" altLang="en-US">
                <a:solidFill>
                  <a:schemeClr val="tx1"/>
                </a:solidFill>
              </a:rPr>
              <a:t>，直到以下两种情况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p[j]==p[t]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，即回溯到第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种情况。到可以匹配的后缀，则在原有匹配后缀长度加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。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回溯到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t=-1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，即未有符合重叠子串，则为第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种情况。</a:t>
            </a:r>
            <a:endParaRPr lang="en-US" altLang="zh-CN"/>
          </a:p>
          <a:p>
            <a:pPr marL="342900" indent="-342900"/>
            <a:endParaRPr lang="zh-CN" altLang="en-US"/>
          </a:p>
        </p:txBody>
      </p:sp>
      <p:sp>
        <p:nvSpPr>
          <p:cNvPr id="40" name="AutoShape 9"/>
          <p:cNvSpPr/>
          <p:nvPr/>
        </p:nvSpPr>
        <p:spPr>
          <a:xfrm>
            <a:off x="5541963" y="39098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3943350" y="3035300"/>
            <a:ext cx="718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solidFill>
                  <a:srgbClr val="FF0000"/>
                </a:solidFill>
              </a:rPr>
              <a:t>t&lt;0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3194050" y="2391410"/>
            <a:ext cx="1071880" cy="36830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p[j]==p[t]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220720" y="2687320"/>
            <a:ext cx="10020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/>
              <a:t>p[j]!=p[t]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4324350" y="2691130"/>
            <a:ext cx="1133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t=next[t]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4385945" y="2409190"/>
            <a:ext cx="989330" cy="36830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next[j]=t</a:t>
            </a:r>
          </a:p>
        </p:txBody>
      </p:sp>
      <p:sp>
        <p:nvSpPr>
          <p:cNvPr id="48" name="AutoShape 9"/>
          <p:cNvSpPr/>
          <p:nvPr/>
        </p:nvSpPr>
        <p:spPr>
          <a:xfrm>
            <a:off x="5541963" y="47486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3619500" y="3460750"/>
            <a:ext cx="1836420" cy="323850"/>
            <a:chOff x="5700" y="5450"/>
            <a:chExt cx="2892" cy="510"/>
          </a:xfrm>
        </p:grpSpPr>
        <p:sp>
          <p:nvSpPr>
            <p:cNvPr id="2" name="AutoShape 3"/>
            <p:cNvSpPr/>
            <p:nvPr/>
          </p:nvSpPr>
          <p:spPr>
            <a:xfrm>
              <a:off x="6295" y="54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3" name="AutoShape 4"/>
            <p:cNvSpPr/>
            <p:nvPr/>
          </p:nvSpPr>
          <p:spPr>
            <a:xfrm>
              <a:off x="6891" y="54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4" name="AutoShape 5"/>
            <p:cNvSpPr/>
            <p:nvPr/>
          </p:nvSpPr>
          <p:spPr>
            <a:xfrm>
              <a:off x="7487" y="54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" name="AutoShape 6"/>
            <p:cNvSpPr/>
            <p:nvPr/>
          </p:nvSpPr>
          <p:spPr>
            <a:xfrm>
              <a:off x="8082" y="54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微软雅黑" panose="020B0503020204020204" pitchFamily="34" charset="-122"/>
                </a:rPr>
                <a:t>...</a:t>
              </a:r>
            </a:p>
          </p:txBody>
        </p:sp>
        <p:sp>
          <p:nvSpPr>
            <p:cNvPr id="16" name="AutoShape 14"/>
            <p:cNvSpPr/>
            <p:nvPr/>
          </p:nvSpPr>
          <p:spPr>
            <a:xfrm>
              <a:off x="5700" y="54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15" name="页脚占位符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60729 0.001204 " pathEditMode="relative" rAng="0" ptsTypes="">
                                      <p:cBhvr>
                                        <p:cTn id="1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23" dur="2000" fill="hold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32135 -0.001389 " pathEditMode="relative" rAng="0" ptsTypes="">
                                      <p:cBhvr>
                                        <p:cTn id="39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32187 0.000000 " pathEditMode="relative" ptsTypes="">
                                      <p:cBhvr>
                                        <p:cTn id="43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7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4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295 0.001574 L 0.126378 0.001574 " pathEditMode="relative" rAng="0" ptsTypes="">
                                      <p:cBhvr>
                                        <p:cTn id="7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74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76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5104 0.001204 L 0.157344 0.001204 " pathEditMode="relative" rAng="0" ptsTypes="">
                                      <p:cBhvr>
                                        <p:cTn id="8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84" dur="2000" fill="hold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92" dur="2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1719 -0.001019 L 0.061250 -0.001019 " pathEditMode="relative" ptsTypes="">
                                      <p:cBhvr>
                                        <p:cTn id="9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1979 -0.001481 L 0.061667 -0.001389 " pathEditMode="relative" rAng="0" ptsTypes="">
                                      <p:cBhvr>
                                        <p:cTn id="10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4" grpId="0" animBg="1"/>
      <p:bldP spid="35" grpId="1" animBg="1"/>
      <p:bldP spid="35" grpId="2" animBg="1"/>
      <p:bldP spid="35" grpId="3" animBg="1"/>
      <p:bldP spid="36" grpId="0" animBg="1"/>
      <p:bldP spid="36" grpId="1" animBg="1"/>
      <p:bldP spid="41" grpId="0"/>
      <p:bldP spid="43" grpId="0"/>
      <p:bldP spid="43" grpId="1"/>
      <p:bldP spid="44" grpId="0"/>
      <p:bldP spid="44" grpId="1"/>
      <p:bldP spid="44" grpId="2"/>
      <p:bldP spid="44" grpId="3"/>
      <p:bldP spid="45" grpId="1"/>
      <p:bldP spid="45" grpId="2"/>
      <p:bldP spid="45" grpId="3"/>
      <p:bldP spid="45" grpId="4"/>
      <p:bldP spid="45" grpId="5"/>
      <p:bldP spid="46" grpId="0"/>
      <p:bldP spid="46" grpId="1"/>
      <p:bldP spid="48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1694</Words>
  <Application>Microsoft Office PowerPoint</Application>
  <PresentationFormat>宽屏</PresentationFormat>
  <Paragraphs>237</Paragraphs>
  <Slides>9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微软雅黑</vt:lpstr>
      <vt:lpstr>Arial</vt:lpstr>
      <vt:lpstr>Calibri</vt:lpstr>
      <vt:lpstr>Consolas</vt:lpstr>
      <vt:lpstr>Times New Roman</vt:lpstr>
      <vt:lpstr>Wingdings</vt:lpstr>
      <vt:lpstr>Office 主题​​</vt:lpstr>
      <vt:lpstr>KMP算法的next推导</vt:lpstr>
      <vt:lpstr>字符串存储从下标1开始</vt:lpstr>
      <vt:lpstr>由next[1,j]推导next[j+1]</vt:lpstr>
      <vt:lpstr>由next[1,j]推导next[j+1]</vt:lpstr>
      <vt:lpstr>由next[1,j]推导next[j+1]</vt:lpstr>
      <vt:lpstr>字符串存储从下标0开始</vt:lpstr>
      <vt:lpstr>由next[0,j]推导next[j+1]</vt:lpstr>
      <vt:lpstr>由next[0,j]推导next[j+1]</vt:lpstr>
      <vt:lpstr>由next[0,j]推导next[j+1]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李尔里德</dc:creator>
  <cp:lastModifiedBy>尔里德 李</cp:lastModifiedBy>
  <cp:revision>191</cp:revision>
  <dcterms:created xsi:type="dcterms:W3CDTF">2019-06-19T02:08:00Z</dcterms:created>
  <dcterms:modified xsi:type="dcterms:W3CDTF">2024-10-15T05:20:58Z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2052-11.1.0.10938</vt:lpwstr>
  </property>
  <property fmtid="{D5CDD505-2E9C-101B-9397-08002B2CF9AE}" pid="3" name="ICV">
    <vt:lpwstr>1190F855DF904BD4962841FDB37D4618</vt:lpwstr>
  </property>
</Properties>
</file>