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2" r:id="rId3"/>
  </p:sldMasterIdLst>
  <p:sldIdLst>
    <p:sldId id="602" r:id="rId4"/>
    <p:sldId id="583" r:id="rId5"/>
    <p:sldId id="584" r:id="rId6"/>
    <p:sldId id="585" r:id="rId7"/>
    <p:sldId id="586" r:id="rId8"/>
    <p:sldId id="587" r:id="rId9"/>
    <p:sldId id="588" r:id="rId10"/>
    <p:sldId id="589" r:id="rId11"/>
    <p:sldId id="590" r:id="rId12"/>
    <p:sldId id="591" r:id="rId13"/>
    <p:sldId id="592" r:id="rId14"/>
    <p:sldId id="593" r:id="rId15"/>
    <p:sldId id="594" r:id="rId16"/>
    <p:sldId id="595" r:id="rId17"/>
    <p:sldId id="598" r:id="rId18"/>
    <p:sldId id="597" r:id="rId19"/>
    <p:sldId id="596" r:id="rId20"/>
    <p:sldId id="622" r:id="rId21"/>
    <p:sldId id="599" r:id="rId22"/>
    <p:sldId id="621" r:id="rId23"/>
    <p:sldId id="623" r:id="rId24"/>
  </p:sldIdLst>
  <p:sldSz cx="12192000" cy="6858000"/>
  <p:notesSz cx="6858000" cy="9144000"/>
  <p:custDataLst>
    <p:tags r:id="rId29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9" userDrawn="1">
          <p15:clr>
            <a:srgbClr val="A4A3A4"/>
          </p15:clr>
        </p15:guide>
        <p15:guide id="2" pos="3838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dmin" initials="a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59"/>
        <p:guide pos="3838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9" Type="http://schemas.openxmlformats.org/officeDocument/2006/relationships/tags" Target="tags/tag46.xml"/><Relationship Id="rId28" Type="http://schemas.openxmlformats.org/officeDocument/2006/relationships/commentAuthors" Target="commentAuthors.xml"/><Relationship Id="rId27" Type="http://schemas.openxmlformats.org/officeDocument/2006/relationships/tableStyles" Target="tableStyles.xml"/><Relationship Id="rId26" Type="http://schemas.openxmlformats.org/officeDocument/2006/relationships/viewProps" Target="viewProps.xml"/><Relationship Id="rId25" Type="http://schemas.openxmlformats.org/officeDocument/2006/relationships/presProps" Target="presProps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6" Type="http://schemas.openxmlformats.org/officeDocument/2006/relationships/tags" Target="../tags/tag3.xml"/><Relationship Id="rId5" Type="http://schemas.openxmlformats.org/officeDocument/2006/relationships/tags" Target="../tags/tag2.xml"/><Relationship Id="rId4" Type="http://schemas.openxmlformats.org/officeDocument/2006/relationships/tags" Target="../tags/tag1.xml"/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4" Type="http://schemas.openxmlformats.org/officeDocument/2006/relationships/image" Target="../media/image1.png"/><Relationship Id="rId3" Type="http://schemas.openxmlformats.org/officeDocument/2006/relationships/tags" Target="../tags/tag8.xml"/><Relationship Id="rId2" Type="http://schemas.openxmlformats.org/officeDocument/2006/relationships/tags" Target="../tags/tag7.xml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6" Type="http://schemas.openxmlformats.org/officeDocument/2006/relationships/tags" Target="../tags/tag16.xml"/><Relationship Id="rId5" Type="http://schemas.openxmlformats.org/officeDocument/2006/relationships/tags" Target="../tags/tag15.xml"/><Relationship Id="rId4" Type="http://schemas.openxmlformats.org/officeDocument/2006/relationships/tags" Target="../tags/tag14.xml"/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6" Type="http://schemas.openxmlformats.org/officeDocument/2006/relationships/tags" Target="../tags/tag19.xml"/><Relationship Id="rId5" Type="http://schemas.openxmlformats.org/officeDocument/2006/relationships/tags" Target="../tags/tag18.xml"/><Relationship Id="rId4" Type="http://schemas.openxmlformats.org/officeDocument/2006/relationships/tags" Target="../tags/tag17.xml"/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4" Type="http://schemas.openxmlformats.org/officeDocument/2006/relationships/image" Target="../media/image1.png"/><Relationship Id="rId3" Type="http://schemas.openxmlformats.org/officeDocument/2006/relationships/tags" Target="../tags/tag21.xml"/><Relationship Id="rId2" Type="http://schemas.openxmlformats.org/officeDocument/2006/relationships/tags" Target="../tags/tag20.xml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图片 9" descr="南开大学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28188" y="66675"/>
            <a:ext cx="2463800" cy="76041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fontAlgn="auto">
              <a:defRPr/>
            </a:pPr>
            <a:endParaRPr lang="en-US" altLang="zh-CN" strike="noStrike" noProof="1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fontAlgn="auto">
              <a:defRPr/>
            </a:pPr>
            <a:endParaRPr lang="en-US" altLang="zh-CN" strike="noStrike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fontAlgn="auto">
              <a:defRPr/>
            </a:pPr>
            <a:fld id="{5E361EEE-5AE9-483C-B206-8F8027C2A6D9}" type="slidenum">
              <a:rPr lang="zh-CN" altLang="en-US" strike="noStrike" noProof="1">
                <a:latin typeface="+mn-lt"/>
                <a:ea typeface="+mn-ea"/>
                <a:cs typeface="+mn-cs"/>
              </a:rPr>
            </a:fld>
            <a:endParaRPr lang="en-US" altLang="zh-CN" strike="noStrike" noProof="1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74" name="组合 12"/>
          <p:cNvGrpSpPr/>
          <p:nvPr/>
        </p:nvGrpSpPr>
        <p:grpSpPr>
          <a:xfrm>
            <a:off x="-3175" y="138113"/>
            <a:ext cx="12195175" cy="779462"/>
            <a:chOff x="-5" y="217"/>
            <a:chExt cx="19204" cy="1228"/>
          </a:xfrm>
        </p:grpSpPr>
        <p:pic>
          <p:nvPicPr>
            <p:cNvPr id="3075" name="图片 6" descr="素材1"/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-5" y="217"/>
              <a:ext cx="19200" cy="1228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2" name="椭圆 11"/>
            <p:cNvSpPr/>
            <p:nvPr userDrawn="1"/>
          </p:nvSpPr>
          <p:spPr>
            <a:xfrm>
              <a:off x="15510" y="243"/>
              <a:ext cx="1191" cy="119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 fontAlgn="auto"/>
              <a:endParaRPr lang="zh-CN" altLang="en-US" strike="noStrike" noProof="1">
                <a:solidFill>
                  <a:schemeClr val="lt1"/>
                </a:solidFill>
              </a:endParaRPr>
            </a:p>
          </p:txBody>
        </p:sp>
        <p:pic>
          <p:nvPicPr>
            <p:cNvPr id="3077" name="图片 7" descr="学院logo2"/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15681" y="315"/>
              <a:ext cx="3519" cy="1032"/>
            </a:xfrm>
            <a:prstGeom prst="rect">
              <a:avLst/>
            </a:prstGeom>
            <a:noFill/>
            <a:ln w="9525">
              <a:noFill/>
            </a:ln>
          </p:spPr>
        </p:pic>
      </p:grp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86890" y="257810"/>
            <a:ext cx="10401935" cy="548640"/>
          </a:xfrm>
          <a:ln>
            <a:noFill/>
          </a:ln>
        </p:spPr>
        <p:txBody>
          <a:bodyPr/>
          <a:lstStyle>
            <a:lvl1pPr>
              <a:defRPr sz="320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pPr fontAlgn="auto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10" name="内容占位符 9"/>
          <p:cNvSpPr>
            <a:spLocks noGrp="1"/>
          </p:cNvSpPr>
          <p:nvPr>
            <p:ph idx="1"/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>
            <a:lvl1pPr>
              <a:defRPr>
                <a:latin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 fontAlgn="auto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auto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auto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auto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auto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612775" y="6315075"/>
            <a:ext cx="2698750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fontAlgn="auto"/>
            <a:fld id="{760FBDFE-C587-4B4C-A407-44438C67B59E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116388" y="6315075"/>
            <a:ext cx="3959225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fontAlgn="auto"/>
            <a:endParaRPr lang="zh-CN" altLang="en-US" strike="noStrike" noProof="1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877300" y="6315075"/>
            <a:ext cx="2700338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fontAlgn="auto"/>
            <a:fld id="{49AE70B2-8BF9-45C0-BB95-33D1B9D3A854}" type="slidenum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 fontAlgn="auto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 fontAlgn="auto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auto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auto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auto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auto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pPr fontAlgn="auto"/>
            <a:r>
              <a:rPr lang="zh-CN" altLang="en-US" strike="noStrike" noProof="1" dirty="0"/>
              <a:t>单击此处编辑标题</a:t>
            </a:r>
            <a:endParaRPr lang="zh-CN" altLang="en-US" strike="noStrike" noProof="1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bg2">
                    <a:lumMod val="50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auto"/>
            <a:r>
              <a:rPr lang="zh-CN" altLang="en-US" strike="noStrike" noProof="1" dirty="0"/>
              <a:t>单击此处编辑文本</a:t>
            </a:r>
            <a:endParaRPr lang="zh-CN" altLang="en-US" strike="noStrike" noProof="1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98" name="组合 12"/>
          <p:cNvGrpSpPr/>
          <p:nvPr/>
        </p:nvGrpSpPr>
        <p:grpSpPr>
          <a:xfrm>
            <a:off x="-3175" y="138113"/>
            <a:ext cx="12195175" cy="779462"/>
            <a:chOff x="-5" y="217"/>
            <a:chExt cx="19204" cy="1228"/>
          </a:xfrm>
        </p:grpSpPr>
        <p:pic>
          <p:nvPicPr>
            <p:cNvPr id="4099" name="图片 7" descr="素材1"/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-5" y="217"/>
              <a:ext cx="19200" cy="1228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2" name="椭圆 11"/>
            <p:cNvSpPr/>
            <p:nvPr userDrawn="1"/>
          </p:nvSpPr>
          <p:spPr>
            <a:xfrm>
              <a:off x="15510" y="243"/>
              <a:ext cx="1191" cy="119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 fontAlgn="auto"/>
              <a:endParaRPr lang="zh-CN" altLang="en-US" strike="noStrike" noProof="1"/>
            </a:p>
          </p:txBody>
        </p:sp>
        <p:pic>
          <p:nvPicPr>
            <p:cNvPr id="4101" name="图片 8" descr="学院logo2"/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15681" y="315"/>
              <a:ext cx="3519" cy="1032"/>
            </a:xfrm>
            <a:prstGeom prst="rect">
              <a:avLst/>
            </a:prstGeom>
            <a:noFill/>
            <a:ln w="9525">
              <a:noFill/>
            </a:ln>
          </p:spPr>
        </p:pic>
      </p:grp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 fontAlgn="auto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auto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auto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auto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auto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 fontAlgn="auto"/>
            <a:r>
              <a:rPr lang="zh-CN" altLang="en-US" strike="noStrike" noProof="1" dirty="0"/>
              <a:t>单击此处编辑母版文本样式</a:t>
            </a:r>
            <a:endParaRPr lang="zh-CN" altLang="en-US" strike="noStrike" noProof="1" dirty="0"/>
          </a:p>
          <a:p>
            <a:pPr lvl="1" fontAlgn="auto"/>
            <a:r>
              <a:rPr lang="zh-CN" altLang="en-US" strike="noStrike" noProof="1" dirty="0"/>
              <a:t>第二级</a:t>
            </a:r>
            <a:endParaRPr lang="zh-CN" altLang="en-US" strike="noStrike" noProof="1" dirty="0"/>
          </a:p>
          <a:p>
            <a:pPr lvl="2" fontAlgn="auto"/>
            <a:r>
              <a:rPr lang="zh-CN" altLang="en-US" strike="noStrike" noProof="1" dirty="0"/>
              <a:t>第三级</a:t>
            </a:r>
            <a:endParaRPr lang="zh-CN" altLang="en-US" strike="noStrike" noProof="1" dirty="0"/>
          </a:p>
          <a:p>
            <a:pPr lvl="3" fontAlgn="auto"/>
            <a:r>
              <a:rPr lang="zh-CN" altLang="en-US" strike="noStrike" noProof="1" dirty="0"/>
              <a:t>第四级</a:t>
            </a:r>
            <a:endParaRPr lang="zh-CN" altLang="en-US" strike="noStrike" noProof="1" dirty="0"/>
          </a:p>
          <a:p>
            <a:pPr lvl="4" fontAlgn="auto"/>
            <a:r>
              <a:rPr lang="zh-CN" altLang="en-US" strike="noStrike" noProof="1" dirty="0"/>
              <a:t>第五级</a:t>
            </a:r>
            <a:endParaRPr lang="zh-CN" altLang="en-US" strike="noStrike" noProof="1" dirty="0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831340" y="200025"/>
            <a:ext cx="7876540" cy="705485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>
              <a:defRPr sz="3200">
                <a:solidFill>
                  <a:schemeClr val="bg1"/>
                </a:solidFill>
              </a:defRPr>
            </a:lvl1pPr>
          </a:lstStyle>
          <a:p>
            <a:pPr lvl="0" fontAlgn="auto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12775" y="6315075"/>
            <a:ext cx="2698750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388" y="6315075"/>
            <a:ext cx="3959225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877300" y="6315075"/>
            <a:ext cx="2700338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 fontAlgn="auto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auto"/>
            <a:r>
              <a:rPr lang="zh-CN" altLang="en-US" strike="noStrike" noProof="1" dirty="0"/>
              <a:t>单击此处编辑文本</a:t>
            </a:r>
            <a:endParaRPr lang="zh-CN" altLang="en-US" strike="noStrike" noProof="1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 fontAlgn="auto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auto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auto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auto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auto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auto"/>
            <a:r>
              <a:rPr lang="zh-CN" altLang="en-US" strike="noStrike" noProof="1" smtClean="0"/>
              <a:t>单击此处编辑文本</a:t>
            </a:r>
            <a:endParaRPr lang="zh-CN" altLang="en-US" strike="noStrike" noProof="1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 fontAlgn="auto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auto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auto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auto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auto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22" name="组合 12"/>
          <p:cNvGrpSpPr/>
          <p:nvPr/>
        </p:nvGrpSpPr>
        <p:grpSpPr>
          <a:xfrm>
            <a:off x="-3175" y="138113"/>
            <a:ext cx="12195175" cy="779462"/>
            <a:chOff x="-5" y="217"/>
            <a:chExt cx="19204" cy="1228"/>
          </a:xfrm>
        </p:grpSpPr>
        <p:pic>
          <p:nvPicPr>
            <p:cNvPr id="5123" name="图片 7" descr="素材1"/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-5" y="217"/>
              <a:ext cx="19200" cy="1228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2" name="椭圆 11"/>
            <p:cNvSpPr/>
            <p:nvPr userDrawn="1"/>
          </p:nvSpPr>
          <p:spPr>
            <a:xfrm>
              <a:off x="15510" y="243"/>
              <a:ext cx="1191" cy="119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 fontAlgn="auto"/>
              <a:endParaRPr lang="zh-CN" altLang="en-US" strike="noStrike" noProof="1"/>
            </a:p>
          </p:txBody>
        </p:sp>
        <p:pic>
          <p:nvPicPr>
            <p:cNvPr id="5125" name="图片 8" descr="学院logo2"/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15681" y="315"/>
              <a:ext cx="3519" cy="1032"/>
            </a:xfrm>
            <a:prstGeom prst="rect">
              <a:avLst/>
            </a:prstGeom>
            <a:noFill/>
            <a:ln w="9525">
              <a:noFill/>
            </a:ln>
          </p:spPr>
        </p:pic>
      </p:grp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813560" y="212090"/>
            <a:ext cx="7919720" cy="705485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>
              <a:defRPr sz="3200">
                <a:solidFill>
                  <a:schemeClr val="bg1"/>
                </a:solidFill>
              </a:defRPr>
            </a:lvl1pPr>
          </a:lstStyle>
          <a:p>
            <a:pPr lvl="0" fontAlgn="auto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12775" y="6315075"/>
            <a:ext cx="2698750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388" y="6315075"/>
            <a:ext cx="3959225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877300" y="6315075"/>
            <a:ext cx="2700338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 fontAlgn="auto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 fontAlgn="auto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/>
          </a:p>
        </p:txBody>
      </p:sp>
      <p:sp>
        <p:nvSpPr>
          <p:cNvPr id="9" name="标题 8"/>
          <p:cNvSpPr>
            <a:spLocks noGrp="1"/>
          </p:cNvSpPr>
          <p:nvPr>
            <p:ph type="title"/>
          </p:nvPr>
        </p:nvSpPr>
        <p:spPr/>
        <p:txBody>
          <a:bodyPr/>
          <a:p>
            <a:pPr fontAlgn="auto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 fontAlgn="auto"/>
            <a:r>
              <a:rPr lang="zh-CN" altLang="en-US" strike="noStrike" noProof="1" smtClean="0"/>
              <a:t>单击此处编辑标题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 fontAlgn="auto"/>
            <a:r>
              <a:rPr lang="zh-CN" altLang="en-US" strike="noStrike" noProof="1" dirty="0"/>
              <a:t>单击此处编辑母版文本样式</a:t>
            </a:r>
            <a:endParaRPr lang="zh-CN" altLang="en-US" strike="noStrike" noProof="1" dirty="0"/>
          </a:p>
          <a:p>
            <a:pPr lvl="1" fontAlgn="auto"/>
            <a:r>
              <a:rPr lang="zh-CN" altLang="en-US" strike="noStrike" noProof="1" dirty="0"/>
              <a:t>第二级</a:t>
            </a:r>
            <a:endParaRPr lang="zh-CN" altLang="en-US" strike="noStrike" noProof="1" dirty="0"/>
          </a:p>
          <a:p>
            <a:pPr lvl="2" fontAlgn="auto"/>
            <a:r>
              <a:rPr lang="zh-CN" altLang="en-US" strike="noStrike" noProof="1" dirty="0"/>
              <a:t>第三级</a:t>
            </a:r>
            <a:endParaRPr lang="zh-CN" altLang="en-US" strike="noStrike" noProof="1" dirty="0"/>
          </a:p>
          <a:p>
            <a:pPr lvl="3" fontAlgn="auto"/>
            <a:r>
              <a:rPr lang="zh-CN" altLang="en-US" strike="noStrike" noProof="1" dirty="0"/>
              <a:t>第四级</a:t>
            </a:r>
            <a:endParaRPr lang="zh-CN" altLang="en-US" strike="noStrike" noProof="1" dirty="0"/>
          </a:p>
          <a:p>
            <a:pPr lvl="4" fontAlgn="auto"/>
            <a:r>
              <a:rPr lang="zh-CN" altLang="en-US" strike="noStrike" noProof="1" dirty="0"/>
              <a:t>第五级</a:t>
            </a:r>
            <a:endParaRPr lang="zh-CN" altLang="en-US" strike="noStrike" noProof="1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 fontAlgn="auto"/>
            <a:r>
              <a:rPr lang="zh-CN" altLang="en-US" strike="noStrike" noProof="1" dirty="0"/>
              <a:t>单击此处编辑母版文本样式</a:t>
            </a:r>
            <a:endParaRPr lang="zh-CN" altLang="en-US" strike="noStrike" noProof="1" dirty="0"/>
          </a:p>
          <a:p>
            <a:pPr lvl="1" fontAlgn="auto"/>
            <a:r>
              <a:rPr lang="zh-CN" altLang="en-US" strike="noStrike" noProof="1" dirty="0"/>
              <a:t>第二级</a:t>
            </a:r>
            <a:endParaRPr lang="zh-CN" altLang="en-US" strike="noStrike" noProof="1" dirty="0"/>
          </a:p>
          <a:p>
            <a:pPr lvl="2" fontAlgn="auto"/>
            <a:r>
              <a:rPr lang="zh-CN" altLang="en-US" strike="noStrike" noProof="1" dirty="0"/>
              <a:t>第三级</a:t>
            </a:r>
            <a:endParaRPr lang="zh-CN" altLang="en-US" strike="noStrike" noProof="1" dirty="0"/>
          </a:p>
          <a:p>
            <a:pPr lvl="3" fontAlgn="auto"/>
            <a:r>
              <a:rPr lang="zh-CN" altLang="en-US" strike="noStrike" noProof="1" dirty="0"/>
              <a:t>第四级</a:t>
            </a:r>
            <a:endParaRPr lang="zh-CN" altLang="en-US" strike="noStrike" noProof="1" dirty="0"/>
          </a:p>
          <a:p>
            <a:pPr lvl="4" fontAlgn="auto"/>
            <a:r>
              <a:rPr lang="zh-CN" altLang="en-US" strike="noStrike" noProof="1" dirty="0"/>
              <a:t>第五级</a:t>
            </a:r>
            <a:endParaRPr lang="zh-CN" altLang="en-US" strike="noStrike" noProof="1" dirty="0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4"/>
          </p:nvPr>
        </p:nvSpPr>
        <p:spPr>
          <a:xfrm>
            <a:off x="612775" y="6315075"/>
            <a:ext cx="2698750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5"/>
          </p:nvPr>
        </p:nvSpPr>
        <p:spPr>
          <a:xfrm>
            <a:off x="4116388" y="6315075"/>
            <a:ext cx="3959225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6"/>
          </p:nvPr>
        </p:nvSpPr>
        <p:spPr>
          <a:xfrm>
            <a:off x="8877300" y="6315075"/>
            <a:ext cx="2700338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矩形 24"/>
          <p:cNvSpPr/>
          <p:nvPr>
            <p:custDataLst>
              <p:tags r:id="rId2"/>
            </p:custDataLst>
          </p:nvPr>
        </p:nvSpPr>
        <p:spPr>
          <a:xfrm rot="5400000">
            <a:off x="5134769" y="-3017044"/>
            <a:ext cx="1922463" cy="12192000"/>
          </a:xfrm>
          <a:prstGeom prst="rect">
            <a:avLst/>
          </a:prstGeom>
          <a:solidFill>
            <a:srgbClr val="68174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 fontAlgn="auto"/>
            <a:endParaRPr lang="zh-CN" altLang="en-US" sz="1350" strike="noStrike" noProof="1" dirty="0">
              <a:latin typeface="Noto Sans S Chinese Black" pitchFamily="34" charset="-122"/>
              <a:ea typeface="Noto Sans S Chinese Black" pitchFamily="34" charset="-122"/>
            </a:endParaRPr>
          </a:p>
        </p:txBody>
      </p:sp>
      <p:pic>
        <p:nvPicPr>
          <p:cNvPr id="7171" name="图片 9" descr="南开大学logo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9628188" y="66675"/>
            <a:ext cx="2463800" cy="76041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4000">
                <a:solidFill>
                  <a:schemeClr val="bg2"/>
                </a:solidFill>
                <a:latin typeface="Arial" panose="020B0604020202020204" pitchFamily="34" charset="0"/>
              </a:defRPr>
            </a:lvl1pPr>
          </a:lstStyle>
          <a:p>
            <a:pPr lvl="0" fontAlgn="auto"/>
            <a:r>
              <a:rPr lang="zh-CN" altLang="en-US" strike="noStrike" noProof="1" smtClean="0"/>
              <a:t>单击此处编辑标题</a:t>
            </a:r>
            <a:endParaRPr lang="zh-CN" altLang="en-US" strike="noStrike" noProof="1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</p:nvPr>
        </p:nvSpPr>
        <p:spPr>
          <a:xfrm>
            <a:off x="1198800" y="3192735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1400" spc="200">
                <a:solidFill>
                  <a:schemeClr val="bg2"/>
                </a:solidFill>
                <a:latin typeface="Times New Roman" panose="02020603050405020304" pitchFamily="18" charset="0"/>
              </a:defRPr>
            </a:lvl1pPr>
          </a:lstStyle>
          <a:p>
            <a:pPr lvl="0" fontAlgn="auto"/>
            <a:r>
              <a:rPr lang="zh-CN" altLang="en-US" strike="noStrike" noProof="1" dirty="0"/>
              <a:t>单击此处编辑母版文本样式</a:t>
            </a:r>
            <a:endParaRPr lang="zh-CN" altLang="en-US" strike="noStrike" noProof="1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4"/>
          </p:nvPr>
        </p:nvSpPr>
        <p:spPr>
          <a:xfrm>
            <a:off x="612775" y="6315075"/>
            <a:ext cx="2698750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5"/>
          </p:nvPr>
        </p:nvSpPr>
        <p:spPr>
          <a:xfrm>
            <a:off x="4116388" y="6315075"/>
            <a:ext cx="3959225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6"/>
          </p:nvPr>
        </p:nvSpPr>
        <p:spPr>
          <a:xfrm>
            <a:off x="8877300" y="6315075"/>
            <a:ext cx="2700338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1B7B3F-A56B-4310-A966-BD55D80449F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127340-2293-49D2-96F1-6E7BF0C8FD9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med">
    <p:fade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 descr="南开大学logo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627870" y="66675"/>
            <a:ext cx="2464435" cy="76073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50" name="组合 12"/>
          <p:cNvGrpSpPr/>
          <p:nvPr/>
        </p:nvGrpSpPr>
        <p:grpSpPr>
          <a:xfrm>
            <a:off x="-3175" y="138113"/>
            <a:ext cx="12195175" cy="779462"/>
            <a:chOff x="-5" y="217"/>
            <a:chExt cx="19204" cy="1228"/>
          </a:xfrm>
        </p:grpSpPr>
        <p:pic>
          <p:nvPicPr>
            <p:cNvPr id="2051" name="图片 6" descr="素材1"/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-5" y="217"/>
              <a:ext cx="19200" cy="1228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2" name="椭圆 11"/>
            <p:cNvSpPr/>
            <p:nvPr userDrawn="1"/>
          </p:nvSpPr>
          <p:spPr>
            <a:xfrm>
              <a:off x="15510" y="243"/>
              <a:ext cx="1191" cy="119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 fontAlgn="auto"/>
              <a:endParaRPr lang="zh-CN" altLang="en-US" strike="noStrike" noProof="1">
                <a:solidFill>
                  <a:schemeClr val="lt1"/>
                </a:solidFill>
              </a:endParaRPr>
            </a:p>
          </p:txBody>
        </p:sp>
        <p:pic>
          <p:nvPicPr>
            <p:cNvPr id="2053" name="图片 7" descr="学院logo2"/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15681" y="315"/>
              <a:ext cx="3519" cy="1032"/>
            </a:xfrm>
            <a:prstGeom prst="rect">
              <a:avLst/>
            </a:prstGeom>
            <a:noFill/>
            <a:ln w="9525">
              <a:noFill/>
            </a:ln>
          </p:spPr>
        </p:pic>
      </p:grp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86890" y="257810"/>
            <a:ext cx="10401935" cy="548640"/>
          </a:xfrm>
          <a:ln>
            <a:noFill/>
          </a:ln>
        </p:spPr>
        <p:txBody>
          <a:bodyPr/>
          <a:lstStyle>
            <a:lvl1pPr>
              <a:defRPr sz="320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pPr fontAlgn="auto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10" name="内容占位符 9"/>
          <p:cNvSpPr>
            <a:spLocks noGrp="1"/>
          </p:cNvSpPr>
          <p:nvPr>
            <p:ph idx="1"/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>
            <a:lvl1pPr>
              <a:defRPr>
                <a:latin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 fontAlgn="auto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auto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auto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auto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auto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612775" y="6315075"/>
            <a:ext cx="2698750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fontAlgn="auto"/>
            <a:fld id="{760FBDFE-C587-4B4C-A407-44438C67B59E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116388" y="6315075"/>
            <a:ext cx="3959225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fontAlgn="auto"/>
            <a:endParaRPr lang="zh-CN" altLang="en-US" strike="noStrike" noProof="1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877300" y="6315075"/>
            <a:ext cx="2700338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fontAlgn="auto"/>
            <a:fld id="{49AE70B2-8BF9-45C0-BB95-33D1B9D3A854}" type="slidenum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 fontAlgn="auto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 fontAlgn="auto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auto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auto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auto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auto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>
              <a:defRPr/>
            </a:pPr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>
              <a:defRPr/>
            </a:pPr>
            <a:fld id="{19164467-E18B-4E10-AF26-69A662D9F061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pPr fontAlgn="auto"/>
            <a:r>
              <a:rPr lang="zh-CN" altLang="en-US" strike="noStrike" noProof="1" dirty="0"/>
              <a:t>单击此处编辑标题</a:t>
            </a:r>
            <a:endParaRPr lang="zh-CN" altLang="en-US" strike="noStrike" noProof="1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bg2">
                    <a:lumMod val="50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auto"/>
            <a:r>
              <a:rPr lang="zh-CN" altLang="en-US" strike="noStrike" noProof="1" dirty="0"/>
              <a:t>单击此处编辑文本</a:t>
            </a:r>
            <a:endParaRPr lang="zh-CN" altLang="en-US" strike="noStrike" noProof="1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>
              <a:defRPr/>
            </a:pPr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>
              <a:defRPr/>
            </a:pPr>
            <a:fld id="{EDBCE86D-D555-458D-8E19-AD1E5A7355C3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  <p:hf sldNum="0"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74" name="组合 12"/>
          <p:cNvGrpSpPr/>
          <p:nvPr/>
        </p:nvGrpSpPr>
        <p:grpSpPr>
          <a:xfrm>
            <a:off x="-3175" y="138113"/>
            <a:ext cx="12195175" cy="779462"/>
            <a:chOff x="-5" y="217"/>
            <a:chExt cx="19204" cy="1228"/>
          </a:xfrm>
        </p:grpSpPr>
        <p:pic>
          <p:nvPicPr>
            <p:cNvPr id="3075" name="图片 7" descr="素材1"/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-5" y="217"/>
              <a:ext cx="19200" cy="1228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2" name="椭圆 11"/>
            <p:cNvSpPr/>
            <p:nvPr userDrawn="1"/>
          </p:nvSpPr>
          <p:spPr>
            <a:xfrm>
              <a:off x="15510" y="243"/>
              <a:ext cx="1191" cy="119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 fontAlgn="auto"/>
              <a:endParaRPr lang="zh-CN" altLang="en-US" strike="noStrike" noProof="1"/>
            </a:p>
          </p:txBody>
        </p:sp>
        <p:pic>
          <p:nvPicPr>
            <p:cNvPr id="3077" name="图片 8" descr="学院logo2"/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15681" y="315"/>
              <a:ext cx="3519" cy="1032"/>
            </a:xfrm>
            <a:prstGeom prst="rect">
              <a:avLst/>
            </a:prstGeom>
            <a:noFill/>
            <a:ln w="9525">
              <a:noFill/>
            </a:ln>
          </p:spPr>
        </p:pic>
      </p:grp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 fontAlgn="auto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auto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auto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auto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auto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 fontAlgn="auto"/>
            <a:r>
              <a:rPr lang="zh-CN" altLang="en-US" strike="noStrike" noProof="1" dirty="0"/>
              <a:t>单击此处编辑母版文本样式</a:t>
            </a:r>
            <a:endParaRPr lang="zh-CN" altLang="en-US" strike="noStrike" noProof="1" dirty="0"/>
          </a:p>
          <a:p>
            <a:pPr lvl="1" fontAlgn="auto"/>
            <a:r>
              <a:rPr lang="zh-CN" altLang="en-US" strike="noStrike" noProof="1" dirty="0"/>
              <a:t>第二级</a:t>
            </a:r>
            <a:endParaRPr lang="zh-CN" altLang="en-US" strike="noStrike" noProof="1" dirty="0"/>
          </a:p>
          <a:p>
            <a:pPr lvl="2" fontAlgn="auto"/>
            <a:r>
              <a:rPr lang="zh-CN" altLang="en-US" strike="noStrike" noProof="1" dirty="0"/>
              <a:t>第三级</a:t>
            </a:r>
            <a:endParaRPr lang="zh-CN" altLang="en-US" strike="noStrike" noProof="1" dirty="0"/>
          </a:p>
          <a:p>
            <a:pPr lvl="3" fontAlgn="auto"/>
            <a:r>
              <a:rPr lang="zh-CN" altLang="en-US" strike="noStrike" noProof="1" dirty="0"/>
              <a:t>第四级</a:t>
            </a:r>
            <a:endParaRPr lang="zh-CN" altLang="en-US" strike="noStrike" noProof="1" dirty="0"/>
          </a:p>
          <a:p>
            <a:pPr lvl="4" fontAlgn="auto"/>
            <a:r>
              <a:rPr lang="zh-CN" altLang="en-US" strike="noStrike" noProof="1" dirty="0"/>
              <a:t>第五级</a:t>
            </a:r>
            <a:endParaRPr lang="zh-CN" altLang="en-US" strike="noStrike" noProof="1" dirty="0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831340" y="200025"/>
            <a:ext cx="7876540" cy="705485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>
              <a:defRPr sz="3200">
                <a:solidFill>
                  <a:schemeClr val="bg1"/>
                </a:solidFill>
              </a:defRPr>
            </a:lvl1pPr>
          </a:lstStyle>
          <a:p>
            <a:pPr lvl="0" fontAlgn="auto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12775" y="6315075"/>
            <a:ext cx="2698750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388" y="6315075"/>
            <a:ext cx="3959225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877300" y="6315075"/>
            <a:ext cx="2700338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fld id="{C5208D80-BB41-4963-897C-903E2157F65A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  <p:hf sldNum="0" hdr="0" ft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 fontAlgn="auto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auto"/>
            <a:r>
              <a:rPr lang="zh-CN" altLang="en-US" strike="noStrike" noProof="1" dirty="0"/>
              <a:t>单击此处编辑文本</a:t>
            </a:r>
            <a:endParaRPr lang="zh-CN" altLang="en-US" strike="noStrike" noProof="1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 fontAlgn="auto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auto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auto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auto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auto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auto"/>
            <a:r>
              <a:rPr lang="zh-CN" altLang="en-US" strike="noStrike" noProof="1" smtClean="0"/>
              <a:t>单击此处编辑文本</a:t>
            </a:r>
            <a:endParaRPr lang="zh-CN" altLang="en-US" strike="noStrike" noProof="1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 fontAlgn="auto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auto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auto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auto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auto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>
              <a:defRPr/>
            </a:pPr>
            <a:endParaRPr lang="en-US" altLang="zh-CN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>
              <a:defRPr/>
            </a:pPr>
            <a:endParaRPr lang="en-US" altLang="zh-CN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>
              <a:defRPr/>
            </a:pPr>
            <a:fld id="{D8B5C8A5-EA66-4EED-A0A5-4437DA5CC716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  <p:hf sldNum="0" hdr="0" ft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98" name="组合 12"/>
          <p:cNvGrpSpPr/>
          <p:nvPr/>
        </p:nvGrpSpPr>
        <p:grpSpPr>
          <a:xfrm>
            <a:off x="-3175" y="138113"/>
            <a:ext cx="12195175" cy="779462"/>
            <a:chOff x="-5" y="217"/>
            <a:chExt cx="19204" cy="1228"/>
          </a:xfrm>
        </p:grpSpPr>
        <p:pic>
          <p:nvPicPr>
            <p:cNvPr id="4099" name="图片 7" descr="素材1"/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-5" y="217"/>
              <a:ext cx="19200" cy="1228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2" name="椭圆 11"/>
            <p:cNvSpPr/>
            <p:nvPr userDrawn="1"/>
          </p:nvSpPr>
          <p:spPr>
            <a:xfrm>
              <a:off x="15510" y="243"/>
              <a:ext cx="1191" cy="119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 fontAlgn="auto"/>
              <a:endParaRPr lang="zh-CN" altLang="en-US" strike="noStrike" noProof="1"/>
            </a:p>
          </p:txBody>
        </p:sp>
        <p:pic>
          <p:nvPicPr>
            <p:cNvPr id="4101" name="图片 8" descr="学院logo2"/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15681" y="315"/>
              <a:ext cx="3519" cy="1032"/>
            </a:xfrm>
            <a:prstGeom prst="rect">
              <a:avLst/>
            </a:prstGeom>
            <a:noFill/>
            <a:ln w="9525">
              <a:noFill/>
            </a:ln>
          </p:spPr>
        </p:pic>
      </p:grp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813560" y="212090"/>
            <a:ext cx="7919720" cy="705485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>
              <a:defRPr sz="3200">
                <a:solidFill>
                  <a:schemeClr val="bg1"/>
                </a:solidFill>
              </a:defRPr>
            </a:lvl1pPr>
          </a:lstStyle>
          <a:p>
            <a:pPr lvl="0" fontAlgn="auto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12775" y="6315075"/>
            <a:ext cx="2698750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endParaRPr lang="en-US" altLang="zh-CN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388" y="6315075"/>
            <a:ext cx="3959225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877300" y="6315075"/>
            <a:ext cx="2700338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fld id="{5D733C2C-26CA-4414-88C7-8048C355B51E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  <p:hf sldNum="0" hdr="0" ft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>
              <a:defRPr/>
            </a:pPr>
            <a:endParaRPr lang="en-US" altLang="zh-CN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>
              <a:defRPr/>
            </a:pPr>
            <a:endParaRPr lang="en-US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>
              <a:defRPr/>
            </a:pPr>
            <a:fld id="{019CCD14-D20B-4297-ACB4-FB1C41CAD249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  <p:hf sldNum="0" hdr="0" ftr="0" dt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 fontAlgn="auto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 fontAlgn="auto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/>
          </a:p>
        </p:txBody>
      </p:sp>
      <p:sp>
        <p:nvSpPr>
          <p:cNvPr id="9" name="标题 8"/>
          <p:cNvSpPr>
            <a:spLocks noGrp="1"/>
          </p:cNvSpPr>
          <p:nvPr>
            <p:ph type="title"/>
          </p:nvPr>
        </p:nvSpPr>
        <p:spPr/>
        <p:txBody>
          <a:bodyPr/>
          <a:p>
            <a:pPr fontAlgn="auto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>
              <a:defRPr/>
            </a:pPr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>
              <a:defRPr/>
            </a:pPr>
            <a:fld id="{3967C905-DB3B-4C36-9AB3-F4211851594A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  <p:hf sldNum="0" hdr="0" ftr="0" dt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 fontAlgn="auto"/>
            <a:r>
              <a:rPr lang="zh-CN" altLang="en-US" strike="noStrike" noProof="1" smtClean="0"/>
              <a:t>单击此处编辑标题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 fontAlgn="auto"/>
            <a:r>
              <a:rPr lang="zh-CN" altLang="en-US" strike="noStrike" noProof="1" dirty="0"/>
              <a:t>单击此处编辑母版文本样式</a:t>
            </a:r>
            <a:endParaRPr lang="zh-CN" altLang="en-US" strike="noStrike" noProof="1" dirty="0"/>
          </a:p>
          <a:p>
            <a:pPr lvl="1" fontAlgn="auto"/>
            <a:r>
              <a:rPr lang="zh-CN" altLang="en-US" strike="noStrike" noProof="1" dirty="0"/>
              <a:t>第二级</a:t>
            </a:r>
            <a:endParaRPr lang="zh-CN" altLang="en-US" strike="noStrike" noProof="1" dirty="0"/>
          </a:p>
          <a:p>
            <a:pPr lvl="2" fontAlgn="auto"/>
            <a:r>
              <a:rPr lang="zh-CN" altLang="en-US" strike="noStrike" noProof="1" dirty="0"/>
              <a:t>第三级</a:t>
            </a:r>
            <a:endParaRPr lang="zh-CN" altLang="en-US" strike="noStrike" noProof="1" dirty="0"/>
          </a:p>
          <a:p>
            <a:pPr lvl="3" fontAlgn="auto"/>
            <a:r>
              <a:rPr lang="zh-CN" altLang="en-US" strike="noStrike" noProof="1" dirty="0"/>
              <a:t>第四级</a:t>
            </a:r>
            <a:endParaRPr lang="zh-CN" altLang="en-US" strike="noStrike" noProof="1" dirty="0"/>
          </a:p>
          <a:p>
            <a:pPr lvl="4" fontAlgn="auto"/>
            <a:r>
              <a:rPr lang="zh-CN" altLang="en-US" strike="noStrike" noProof="1" dirty="0"/>
              <a:t>第五级</a:t>
            </a:r>
            <a:endParaRPr lang="zh-CN" altLang="en-US" strike="noStrike" noProof="1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>
              <a:defRPr/>
            </a:pPr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>
              <a:defRPr/>
            </a:pPr>
            <a:fld id="{B5DC0057-683C-4F3C-B282-708055F8EAD3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  <p:hf sldNum="0" hdr="0" ftr="0" dt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 fontAlgn="auto"/>
            <a:r>
              <a:rPr lang="zh-CN" altLang="en-US" strike="noStrike" noProof="1" dirty="0"/>
              <a:t>单击此处编辑母版文本样式</a:t>
            </a:r>
            <a:endParaRPr lang="zh-CN" altLang="en-US" strike="noStrike" noProof="1" dirty="0"/>
          </a:p>
          <a:p>
            <a:pPr lvl="1" fontAlgn="auto"/>
            <a:r>
              <a:rPr lang="zh-CN" altLang="en-US" strike="noStrike" noProof="1" dirty="0"/>
              <a:t>第二级</a:t>
            </a:r>
            <a:endParaRPr lang="zh-CN" altLang="en-US" strike="noStrike" noProof="1" dirty="0"/>
          </a:p>
          <a:p>
            <a:pPr lvl="2" fontAlgn="auto"/>
            <a:r>
              <a:rPr lang="zh-CN" altLang="en-US" strike="noStrike" noProof="1" dirty="0"/>
              <a:t>第三级</a:t>
            </a:r>
            <a:endParaRPr lang="zh-CN" altLang="en-US" strike="noStrike" noProof="1" dirty="0"/>
          </a:p>
          <a:p>
            <a:pPr lvl="3" fontAlgn="auto"/>
            <a:r>
              <a:rPr lang="zh-CN" altLang="en-US" strike="noStrike" noProof="1" dirty="0"/>
              <a:t>第四级</a:t>
            </a:r>
            <a:endParaRPr lang="zh-CN" altLang="en-US" strike="noStrike" noProof="1" dirty="0"/>
          </a:p>
          <a:p>
            <a:pPr lvl="4" fontAlgn="auto"/>
            <a:r>
              <a:rPr lang="zh-CN" altLang="en-US" strike="noStrike" noProof="1" dirty="0"/>
              <a:t>第五级</a:t>
            </a:r>
            <a:endParaRPr lang="zh-CN" altLang="en-US" strike="noStrike" noProof="1" dirty="0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4"/>
          </p:nvPr>
        </p:nvSpPr>
        <p:spPr/>
        <p:txBody>
          <a:bodyPr/>
          <a:p>
            <a:pPr fontAlgn="auto"/>
            <a:fld id="{760FBDFE-C587-4B4C-A407-44438C67B59E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5"/>
          </p:nvPr>
        </p:nvSpPr>
        <p:spPr/>
        <p:txBody>
          <a:bodyPr/>
          <a:p>
            <a:pPr fontAlgn="auto"/>
            <a:endParaRPr lang="zh-CN" altLang="en-US" strike="noStrike" noProof="1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6"/>
          </p:nvPr>
        </p:nvSpPr>
        <p:spPr/>
        <p:txBody>
          <a:bodyPr/>
          <a:p>
            <a:pPr fontAlgn="auto"/>
            <a:fld id="{49AE70B2-8BF9-45C0-BB95-33D1B9D3A854}" type="slidenum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  <p:hf sldNum="0" hdr="0" ftr="0" dt="0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矩形 24"/>
          <p:cNvSpPr/>
          <p:nvPr userDrawn="1">
            <p:custDataLst>
              <p:tags r:id="rId2"/>
            </p:custDataLst>
          </p:nvPr>
        </p:nvSpPr>
        <p:spPr>
          <a:xfrm rot="5400000">
            <a:off x="5135245" y="-3017520"/>
            <a:ext cx="1922145" cy="12192000"/>
          </a:xfrm>
          <a:prstGeom prst="rect">
            <a:avLst/>
          </a:prstGeom>
          <a:solidFill>
            <a:srgbClr val="68174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350" dirty="0">
              <a:latin typeface="Noto Sans S Chinese Black" pitchFamily="34" charset="-122"/>
              <a:ea typeface="Noto Sans S Chinese Black" pitchFamily="34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4000">
                <a:solidFill>
                  <a:schemeClr val="bg2"/>
                </a:solidFill>
                <a:latin typeface="Arial" panose="020B0604020202020204" pitchFamily="34" charset="0"/>
              </a:defRPr>
            </a:lvl1pPr>
          </a:lstStyle>
          <a:p>
            <a:pPr lvl="0" fontAlgn="auto"/>
            <a:r>
              <a:rPr lang="zh-CN" altLang="en-US" strike="noStrike" noProof="1" smtClean="0"/>
              <a:t>单击此处编辑标题</a:t>
            </a:r>
            <a:endParaRPr lang="zh-CN" altLang="en-US" strike="noStrike" noProof="1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</p:nvPr>
        </p:nvSpPr>
        <p:spPr>
          <a:xfrm>
            <a:off x="1198800" y="3192735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1400" spc="200">
                <a:solidFill>
                  <a:schemeClr val="bg2"/>
                </a:solidFill>
                <a:latin typeface="Times New Roman" panose="02020603050405020304" pitchFamily="18" charset="0"/>
              </a:defRPr>
            </a:lvl1pPr>
          </a:lstStyle>
          <a:p>
            <a:pPr lvl="0" fontAlgn="auto"/>
            <a:r>
              <a:rPr lang="zh-CN" altLang="en-US" strike="noStrike" noProof="1" dirty="0"/>
              <a:t>单击此处编辑母版文本样式</a:t>
            </a:r>
            <a:endParaRPr lang="zh-CN" altLang="en-US" strike="noStrike" noProof="1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4"/>
          </p:nvPr>
        </p:nvSpPr>
        <p:spPr/>
        <p:txBody>
          <a:bodyPr/>
          <a:p>
            <a:pPr fontAlgn="auto"/>
            <a:fld id="{760FBDFE-C587-4B4C-A407-44438C67B59E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5"/>
          </p:nvPr>
        </p:nvSpPr>
        <p:spPr/>
        <p:txBody>
          <a:bodyPr/>
          <a:p>
            <a:pPr fontAlgn="auto"/>
            <a:endParaRPr lang="zh-CN" altLang="en-US" strike="noStrike" noProof="1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6"/>
          </p:nvPr>
        </p:nvSpPr>
        <p:spPr/>
        <p:txBody>
          <a:bodyPr/>
          <a:p>
            <a:pPr fontAlgn="auto"/>
            <a:fld id="{49AE70B2-8BF9-45C0-BB95-33D1B9D3A854}" type="slidenum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 dirty="0"/>
          </a:p>
        </p:txBody>
      </p:sp>
      <p:pic>
        <p:nvPicPr>
          <p:cNvPr id="10" name="图片 9" descr="南开大学logo"/>
          <p:cNvPicPr>
            <a:picLocks noChangeAspect="1"/>
          </p:cNvPicPr>
          <p:nvPr userDrawn="1"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9627870" y="66675"/>
            <a:ext cx="2464435" cy="76073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9" Type="http://schemas.openxmlformats.org/officeDocument/2006/relationships/theme" Target="../theme/theme1.xml"/><Relationship Id="rId18" Type="http://schemas.openxmlformats.org/officeDocument/2006/relationships/tags" Target="../tags/tag13.xml"/><Relationship Id="rId17" Type="http://schemas.openxmlformats.org/officeDocument/2006/relationships/tags" Target="../tags/tag12.xml"/><Relationship Id="rId16" Type="http://schemas.openxmlformats.org/officeDocument/2006/relationships/tags" Target="../tags/tag11.xml"/><Relationship Id="rId15" Type="http://schemas.openxmlformats.org/officeDocument/2006/relationships/tags" Target="../tags/tag10.xml"/><Relationship Id="rId14" Type="http://schemas.openxmlformats.org/officeDocument/2006/relationships/tags" Target="../tags/tag9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2.xml"/><Relationship Id="rId8" Type="http://schemas.openxmlformats.org/officeDocument/2006/relationships/slideLayout" Target="../slideLayouts/slideLayout21.xml"/><Relationship Id="rId7" Type="http://schemas.openxmlformats.org/officeDocument/2006/relationships/slideLayout" Target="../slideLayouts/slideLayout20.xml"/><Relationship Id="rId6" Type="http://schemas.openxmlformats.org/officeDocument/2006/relationships/slideLayout" Target="../slideLayouts/slideLayout19.xml"/><Relationship Id="rId5" Type="http://schemas.openxmlformats.org/officeDocument/2006/relationships/slideLayout" Target="../slideLayouts/slideLayout18.xml"/><Relationship Id="rId4" Type="http://schemas.openxmlformats.org/officeDocument/2006/relationships/slideLayout" Target="../slideLayouts/slideLayout17.xml"/><Relationship Id="rId3" Type="http://schemas.openxmlformats.org/officeDocument/2006/relationships/slideLayout" Target="../slideLayouts/slideLayout16.xml"/><Relationship Id="rId2" Type="http://schemas.openxmlformats.org/officeDocument/2006/relationships/slideLayout" Target="../slideLayouts/slideLayout15.xml"/><Relationship Id="rId18" Type="http://schemas.openxmlformats.org/officeDocument/2006/relationships/theme" Target="../theme/theme2.xml"/><Relationship Id="rId17" Type="http://schemas.openxmlformats.org/officeDocument/2006/relationships/tags" Target="../tags/tag26.xml"/><Relationship Id="rId16" Type="http://schemas.openxmlformats.org/officeDocument/2006/relationships/tags" Target="../tags/tag25.xml"/><Relationship Id="rId15" Type="http://schemas.openxmlformats.org/officeDocument/2006/relationships/tags" Target="../tags/tag24.xml"/><Relationship Id="rId14" Type="http://schemas.openxmlformats.org/officeDocument/2006/relationships/tags" Target="../tags/tag23.xml"/><Relationship Id="rId13" Type="http://schemas.openxmlformats.org/officeDocument/2006/relationships/tags" Target="../tags/tag22.xml"/><Relationship Id="rId12" Type="http://schemas.openxmlformats.org/officeDocument/2006/relationships/slideLayout" Target="../slideLayouts/slideLayout25.xml"/><Relationship Id="rId11" Type="http://schemas.openxmlformats.org/officeDocument/2006/relationships/slideLayout" Target="../slideLayouts/slideLayout24.xml"/><Relationship Id="rId10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标题占位符 1"/>
          <p:cNvSpPr>
            <a:spLocks noGrp="1"/>
          </p:cNvSpPr>
          <p:nvPr>
            <p:ph type="title"/>
            <p:custDataLst>
              <p:tags r:id="rId14"/>
            </p:custDataLst>
          </p:nvPr>
        </p:nvSpPr>
        <p:spPr>
          <a:xfrm>
            <a:off x="608013" y="608013"/>
            <a:ext cx="10969625" cy="706437"/>
          </a:xfrm>
          <a:prstGeom prst="rect">
            <a:avLst/>
          </a:prstGeom>
          <a:noFill/>
          <a:ln w="9525">
            <a:noFill/>
          </a:ln>
        </p:spPr>
        <p:txBody>
          <a:bodyPr vert="horz" lIns="90170" tIns="46990" rIns="90170" bIns="46990" anchor="ctr" anchorCtr="0"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1027" name="文本占位符 2"/>
          <p:cNvSpPr>
            <a:spLocks noGrp="1"/>
          </p:cNvSpPr>
          <p:nvPr>
            <p:ph type="body"/>
            <p:custDataLst>
              <p:tags r:id="rId15"/>
            </p:custDataLst>
          </p:nvPr>
        </p:nvSpPr>
        <p:spPr>
          <a:xfrm>
            <a:off x="608013" y="1490663"/>
            <a:ext cx="10969625" cy="4759325"/>
          </a:xfrm>
          <a:prstGeom prst="rect">
            <a:avLst/>
          </a:prstGeom>
          <a:noFill/>
          <a:ln w="9525">
            <a:noFill/>
          </a:ln>
        </p:spPr>
        <p:txBody>
          <a:bodyPr vert="horz" lIns="90000" tIns="46800" rIns="90000" bIns="46800" anchor="t" anchorCtr="0"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6"/>
            </p:custDataLst>
          </p:nvPr>
        </p:nvSpPr>
        <p:spPr>
          <a:xfrm>
            <a:off x="612775" y="6315075"/>
            <a:ext cx="2698750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7"/>
            </p:custDataLst>
          </p:nvPr>
        </p:nvSpPr>
        <p:spPr>
          <a:xfrm>
            <a:off x="4116388" y="6315075"/>
            <a:ext cx="3959225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8"/>
            </p:custDataLst>
          </p:nvPr>
        </p:nvSpPr>
        <p:spPr>
          <a:xfrm>
            <a:off x="8877300" y="6315075"/>
            <a:ext cx="2700338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ransition spd="med">
    <p:fade/>
  </p:transition>
  <p:hf sldNum="0" hdr="0" ftr="0" dt="0"/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rgbClr val="711A5F"/>
          </a:solidFill>
          <a:uFillTx/>
          <a:latin typeface="Arial" panose="020B0604020202020204" pitchFamily="34" charset="0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Clr>
          <a:srgbClr val="BB66AA"/>
        </a:buClr>
        <a:buFont typeface="Arial" panose="020B0604020202020204" pitchFamily="34" charset="0"/>
        <a:buChar char="●"/>
        <a:defRPr sz="3200" u="none" strike="noStrike" kern="1200" cap="none" spc="150" normalizeH="0" baseline="0">
          <a:solidFill>
            <a:schemeClr val="tx1"/>
          </a:solidFill>
          <a:uFillTx/>
          <a:latin typeface="Arial" panose="020B0604020202020204" pitchFamily="34" charset="0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Clr>
          <a:srgbClr val="BB66AA"/>
        </a:buClr>
        <a:buFont typeface="Arial" panose="020B0604020202020204" pitchFamily="34" charset="0"/>
        <a:buChar char="•"/>
        <a:tabLst>
          <a:tab pos="1609725" algn="l"/>
          <a:tab pos="1609725" algn="l"/>
          <a:tab pos="1609725" algn="l"/>
          <a:tab pos="1609725" algn="l"/>
        </a:tabLst>
        <a:defRPr sz="2800" u="none" strike="noStrike" kern="1200" cap="none" spc="150" normalizeH="0" baseline="0">
          <a:solidFill>
            <a:schemeClr val="tx1"/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Clr>
          <a:srgbClr val="BB66AA"/>
        </a:buClr>
        <a:buFont typeface="Arial" panose="020B0604020202020204" pitchFamily="34" charset="0"/>
        <a:buChar char="•"/>
        <a:defRPr sz="2800" u="none" strike="noStrike" kern="1200" cap="none" spc="150" normalizeH="0" baseline="0">
          <a:solidFill>
            <a:schemeClr val="tx1"/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Clr>
          <a:srgbClr val="BB66AA"/>
        </a:buClr>
        <a:buFont typeface="Arial" panose="020B0604020202020204" pitchFamily="34" charset="0"/>
        <a:buChar char="•"/>
        <a:defRPr sz="2400" u="none" strike="noStrike" kern="1200" cap="none" spc="150" normalizeH="0" baseline="0">
          <a:solidFill>
            <a:schemeClr val="tx1"/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Clr>
          <a:srgbClr val="BB66AA"/>
        </a:buClr>
        <a:buFont typeface="Arial" panose="020B0604020202020204" pitchFamily="34" charset="0"/>
        <a:buChar char="•"/>
        <a:defRPr sz="1800" u="none" strike="noStrike" kern="1200" cap="none" spc="150" normalizeH="0" baseline="0">
          <a:solidFill>
            <a:schemeClr val="tx1"/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标题占位符 1"/>
          <p:cNvSpPr>
            <a:spLocks noGrp="1"/>
          </p:cNvSpPr>
          <p:nvPr>
            <p:ph type="title"/>
            <p:custDataLst>
              <p:tags r:id="rId13"/>
            </p:custDataLst>
          </p:nvPr>
        </p:nvSpPr>
        <p:spPr>
          <a:xfrm>
            <a:off x="608013" y="608013"/>
            <a:ext cx="10969625" cy="706437"/>
          </a:xfrm>
          <a:prstGeom prst="rect">
            <a:avLst/>
          </a:prstGeom>
          <a:noFill/>
          <a:ln w="9525">
            <a:noFill/>
          </a:ln>
        </p:spPr>
        <p:txBody>
          <a:bodyPr vert="horz" lIns="90170" tIns="46990" rIns="90170" bIns="46990" anchor="ctr" anchorCtr="0"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1027" name="文本占位符 2"/>
          <p:cNvSpPr>
            <a:spLocks noGrp="1"/>
          </p:cNvSpPr>
          <p:nvPr>
            <p:ph type="body"/>
            <p:custDataLst>
              <p:tags r:id="rId14"/>
            </p:custDataLst>
          </p:nvPr>
        </p:nvSpPr>
        <p:spPr>
          <a:xfrm>
            <a:off x="608013" y="1490663"/>
            <a:ext cx="10969625" cy="4759325"/>
          </a:xfrm>
          <a:prstGeom prst="rect">
            <a:avLst/>
          </a:prstGeom>
          <a:noFill/>
          <a:ln w="9525">
            <a:noFill/>
          </a:ln>
        </p:spPr>
        <p:txBody>
          <a:bodyPr vert="horz" lIns="90000" tIns="46800" rIns="90000" bIns="46800" anchor="t" anchorCtr="0"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5"/>
            </p:custDataLst>
          </p:nvPr>
        </p:nvSpPr>
        <p:spPr>
          <a:xfrm>
            <a:off x="612775" y="6315075"/>
            <a:ext cx="2698750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6"/>
            </p:custDataLst>
          </p:nvPr>
        </p:nvSpPr>
        <p:spPr>
          <a:xfrm>
            <a:off x="4116388" y="6315075"/>
            <a:ext cx="3959225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7"/>
            </p:custDataLst>
          </p:nvPr>
        </p:nvSpPr>
        <p:spPr>
          <a:xfrm>
            <a:off x="8877300" y="6315075"/>
            <a:ext cx="2700338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5E361EEE-5AE9-483C-B206-8F8027C2A6D9}" type="slidenum">
              <a:rPr lang="zh-CN" altLang="en-US"/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  <p:sldLayoutId id="2147483674" r:id="rId12"/>
  </p:sldLayoutIdLst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  <p:hf sldNum="0" hdr="0" ftr="0" dt="0"/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rgbClr val="711A5F"/>
          </a:solidFill>
          <a:uFillTx/>
          <a:latin typeface="Arial" panose="020B0604020202020204" pitchFamily="34" charset="0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Clr>
          <a:srgbClr val="BB66AA"/>
        </a:buClr>
        <a:buFont typeface="Arial" panose="020B0604020202020204" pitchFamily="34" charset="0"/>
        <a:buChar char="●"/>
        <a:defRPr sz="3200" u="none" strike="noStrike" kern="1200" cap="none" spc="150" normalizeH="0" baseline="0">
          <a:solidFill>
            <a:schemeClr val="tx1"/>
          </a:solidFill>
          <a:uFillTx/>
          <a:latin typeface="Arial" panose="020B0604020202020204" pitchFamily="34" charset="0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Clr>
          <a:srgbClr val="BB66AA"/>
        </a:buClr>
        <a:buFont typeface="Arial" panose="020B0604020202020204" pitchFamily="34" charset="0"/>
        <a:buChar char="•"/>
        <a:tabLst>
          <a:tab pos="1609725" algn="l"/>
          <a:tab pos="1609725" algn="l"/>
          <a:tab pos="1609725" algn="l"/>
          <a:tab pos="1609725" algn="l"/>
        </a:tabLst>
        <a:defRPr sz="2800" u="none" strike="noStrike" kern="1200" cap="none" spc="150" normalizeH="0" baseline="0">
          <a:solidFill>
            <a:schemeClr val="tx1"/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Clr>
          <a:srgbClr val="BB66AA"/>
        </a:buClr>
        <a:buFont typeface="Arial" panose="020B0604020202020204" pitchFamily="34" charset="0"/>
        <a:buChar char="•"/>
        <a:defRPr sz="2800" u="none" strike="noStrike" kern="1200" cap="none" spc="150" normalizeH="0" baseline="0">
          <a:solidFill>
            <a:schemeClr val="tx1"/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Clr>
          <a:srgbClr val="BB66AA"/>
        </a:buClr>
        <a:buFont typeface="Arial" panose="020B0604020202020204" pitchFamily="34" charset="0"/>
        <a:buChar char="•"/>
        <a:defRPr sz="2400" u="none" strike="noStrike" kern="1200" cap="none" spc="150" normalizeH="0" baseline="0">
          <a:solidFill>
            <a:schemeClr val="tx1"/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Clr>
          <a:srgbClr val="BB66AA"/>
        </a:buClr>
        <a:buFont typeface="Arial" panose="020B0604020202020204" pitchFamily="34" charset="0"/>
        <a:buChar char="•"/>
        <a:defRPr sz="1800" u="none" strike="noStrike" kern="1200" cap="none" spc="150" normalizeH="0" baseline="0">
          <a:solidFill>
            <a:schemeClr val="tx1"/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5.xml"/><Relationship Id="rId1" Type="http://schemas.openxmlformats.org/officeDocument/2006/relationships/tags" Target="../tags/tag2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9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tags" Target="../tags/tag30.xml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3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32.xml"/><Relationship Id="rId1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3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3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35.xml"/><Relationship Id="rId1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36.xml"/><Relationship Id="rId1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37.xml"/><Relationship Id="rId1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3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39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40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4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4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4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4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45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标题 6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 noProof="0" dirty="0">
                <a:solidFill>
                  <a:schemeClr val="bg1"/>
                </a:solidFill>
                <a:ea typeface="Noto Sans S Chinese Bold" panose="020B0800000000000000" pitchFamily="34" charset="-122"/>
                <a:cs typeface="Arial" panose="020B0604020202020204" pitchFamily="34" charset="0"/>
                <a:sym typeface="+mn-ea"/>
              </a:rPr>
              <a:t>Week12:AIGobang2</a:t>
            </a:r>
            <a:endParaRPr lang="zh-CN" altLang="en-US"/>
          </a:p>
        </p:txBody>
      </p:sp>
      <p:sp>
        <p:nvSpPr>
          <p:cNvPr id="8" name="文本占位符 7"/>
          <p:cNvSpPr>
            <a:spLocks noGrp="1"/>
          </p:cNvSpPr>
          <p:nvPr>
            <p:ph type="body" sz="quarter" idx="13"/>
          </p:nvPr>
        </p:nvSpPr>
        <p:spPr/>
        <p:txBody>
          <a:bodyPr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pc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ea typeface="Noto Sans S Chinese Black" pitchFamily="34" charset="-122"/>
                <a:cs typeface="Times New Roman" panose="02020603050405020304" pitchFamily="18" charset="0"/>
                <a:sym typeface="+mn-ea"/>
              </a:rPr>
              <a:t>—— Practice of Programming </a:t>
            </a:r>
            <a:r>
              <a:rPr lang="en-US" altLang="zh-CN" spc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ea typeface="Noto Sans S Chinese Black" pitchFamily="34" charset="-122"/>
                <a:cs typeface="Times New Roman" panose="02020603050405020304" pitchFamily="18" charset="0"/>
                <a:sym typeface="+mn-ea"/>
              </a:rPr>
              <a:t>Language 1——</a:t>
            </a:r>
            <a:endParaRPr lang="zh-CN" altLang="en-US"/>
          </a:p>
        </p:txBody>
      </p:sp>
      <p:sp>
        <p:nvSpPr>
          <p:cNvPr id="11" name="文本框 10"/>
          <p:cNvSpPr txBox="1"/>
          <p:nvPr>
            <p:custDataLst>
              <p:tags r:id="rId1"/>
            </p:custDataLst>
          </p:nvPr>
        </p:nvSpPr>
        <p:spPr>
          <a:xfrm>
            <a:off x="5174615" y="4705350"/>
            <a:ext cx="180276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b="1">
                <a:solidFill>
                  <a:srgbClr val="6817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Shen </a:t>
            </a:r>
            <a:r>
              <a:rPr lang="en-US" altLang="zh-CN" b="1">
                <a:solidFill>
                  <a:srgbClr val="6817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Shuyin</a:t>
            </a:r>
            <a:endParaRPr lang="en-US" altLang="zh-CN" b="1">
              <a:solidFill>
                <a:srgbClr val="68174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US" altLang="zh-CN" b="1">
                <a:solidFill>
                  <a:srgbClr val="6817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Spring</a:t>
            </a:r>
            <a:endParaRPr lang="en-US" altLang="zh-CN" b="1">
              <a:solidFill>
                <a:srgbClr val="68174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Review</a:t>
            </a:r>
            <a:endParaRPr lang="zh-CN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28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计算评估值的函数：</a:t>
            </a:r>
            <a:r>
              <a:rPr lang="en-US" altLang="zh-CN" sz="28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evaluate(), </a:t>
            </a:r>
            <a:r>
              <a:rPr lang="en-US" altLang="zh-CN" sz="2800" dirty="0" err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calculateScore</a:t>
            </a:r>
            <a:r>
              <a:rPr lang="en-US" altLang="zh-CN" sz="28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()</a:t>
            </a:r>
            <a:endParaRPr lang="en-US" altLang="zh-CN" sz="28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en-US" sz="28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针对棋盘上的每一个点都有一个玩家评估值和一个</a:t>
            </a:r>
            <a:r>
              <a:rPr lang="en-US" altLang="zh-CN" sz="28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</a:t>
            </a:r>
            <a:r>
              <a:rPr lang="zh-CN" altLang="en-US" sz="28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评估值，这些评估值组成了两个评估值矩阵：</a:t>
            </a:r>
            <a:endParaRPr lang="en-US" altLang="zh-CN" sz="28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lvl="1"/>
            <a:r>
              <a:rPr lang="en-US" altLang="zh-CN" sz="2800" dirty="0" err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humanScore</a:t>
            </a:r>
            <a:r>
              <a:rPr lang="en-US" altLang="zh-CN" sz="28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[N][N]</a:t>
            </a:r>
            <a:r>
              <a:rPr lang="zh-CN" altLang="en-US" sz="28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en-US" altLang="zh-CN" sz="28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=&gt;</a:t>
            </a:r>
            <a:r>
              <a:rPr lang="en-US" altLang="zh-CN" sz="2800" dirty="0" err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humanMaxScore</a:t>
            </a:r>
            <a:endParaRPr lang="en-US" altLang="zh-CN" sz="28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lvl="1"/>
            <a:r>
              <a:rPr lang="en-US" altLang="zh-CN" sz="2800" dirty="0" err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aiScore</a:t>
            </a:r>
            <a:r>
              <a:rPr lang="en-US" altLang="zh-CN" sz="28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[N][N] =&gt;</a:t>
            </a:r>
            <a:r>
              <a:rPr lang="en-US" altLang="zh-CN" sz="2800" dirty="0" err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aiMaxScore</a:t>
            </a:r>
            <a:endParaRPr lang="en-US" altLang="zh-CN" sz="28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en-US" sz="28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比较 </a:t>
            </a:r>
            <a:r>
              <a:rPr lang="en-US" altLang="zh-CN" sz="2800" dirty="0" err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humanMaxScore</a:t>
            </a:r>
            <a:r>
              <a:rPr lang="en-US" altLang="zh-CN" sz="28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28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</a:t>
            </a:r>
            <a:r>
              <a:rPr lang="en-US" altLang="zh-CN" sz="2800" dirty="0" err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aiMaxScore</a:t>
            </a:r>
            <a:endParaRPr lang="en-US" altLang="zh-CN" sz="28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lvl="1"/>
            <a:r>
              <a:rPr lang="zh-CN" altLang="en-US" sz="28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只判断当前的一步棋是攻击还是防守</a:t>
            </a:r>
            <a:endParaRPr lang="zh-CN" altLang="en-US" sz="28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zh-CN" altLang="en-US" sz="2800" b="0" i="0" dirty="0">
                <a:solidFill>
                  <a:schemeClr val="tx1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如果</a:t>
            </a:r>
            <a:r>
              <a:rPr lang="en-US" altLang="zh-CN" sz="2800" b="0" i="0" dirty="0" err="1">
                <a:solidFill>
                  <a:schemeClr val="tx1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aiMaxScore</a:t>
            </a:r>
            <a:r>
              <a:rPr lang="en-US" altLang="zh-CN" sz="2800" b="0" i="0" dirty="0">
                <a:solidFill>
                  <a:schemeClr val="tx1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&gt;=</a:t>
            </a:r>
            <a:r>
              <a:rPr lang="en-US" altLang="zh-CN" sz="2800" b="0" i="0" dirty="0" err="1">
                <a:solidFill>
                  <a:schemeClr val="tx1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humanMaxScore</a:t>
            </a:r>
            <a:r>
              <a:rPr lang="zh-CN" altLang="en-US" sz="2800" b="0" i="0" dirty="0">
                <a:solidFill>
                  <a:schemeClr val="tx1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，则</a:t>
            </a:r>
            <a:r>
              <a:rPr lang="en-US" altLang="zh-CN" sz="2800" b="0" i="0" dirty="0">
                <a:solidFill>
                  <a:schemeClr val="tx1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</a:t>
            </a:r>
            <a:r>
              <a:rPr lang="zh-CN" altLang="en-US" sz="2800" b="0" i="0" dirty="0">
                <a:solidFill>
                  <a:schemeClr val="tx1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进攻，下在</a:t>
            </a:r>
            <a:r>
              <a:rPr lang="en-US" altLang="zh-CN" sz="2800" b="0" i="0" dirty="0">
                <a:solidFill>
                  <a:schemeClr val="tx1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</a:t>
            </a:r>
            <a:r>
              <a:rPr lang="zh-CN" altLang="en-US" sz="2800" b="0" i="0" dirty="0">
                <a:solidFill>
                  <a:schemeClr val="tx1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最大值对应的位置；如果有多个</a:t>
            </a:r>
            <a:r>
              <a:rPr lang="en-US" altLang="zh-CN" sz="2800" b="0" i="0" dirty="0" err="1">
                <a:solidFill>
                  <a:schemeClr val="tx1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aiMaxScore</a:t>
            </a:r>
            <a:r>
              <a:rPr lang="zh-CN" altLang="en-US" sz="2800" b="0" i="0" dirty="0">
                <a:solidFill>
                  <a:schemeClr val="tx1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相等，则下在这几个对应位置上</a:t>
            </a:r>
            <a:r>
              <a:rPr lang="en-US" altLang="zh-CN" sz="2800" b="0" i="0" dirty="0" err="1">
                <a:solidFill>
                  <a:schemeClr val="tx1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humanScore</a:t>
            </a:r>
            <a:r>
              <a:rPr lang="zh-CN" altLang="en-US" sz="2800" b="0" i="0" dirty="0">
                <a:solidFill>
                  <a:schemeClr val="tx1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最大的位置。</a:t>
            </a:r>
            <a:endParaRPr lang="zh-CN" altLang="en-US" sz="2800" b="0" i="0" dirty="0">
              <a:solidFill>
                <a:schemeClr val="tx1"/>
              </a:solidFill>
              <a:effectLst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just"/>
            <a:endParaRPr lang="zh-CN" altLang="en-US" sz="2800" b="0" i="0" dirty="0">
              <a:solidFill>
                <a:schemeClr val="tx1"/>
              </a:solidFill>
              <a:effectLst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just"/>
            <a:r>
              <a:rPr lang="zh-CN" altLang="en-US" sz="2800" b="0" i="0" dirty="0">
                <a:solidFill>
                  <a:schemeClr val="tx1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否则，</a:t>
            </a:r>
            <a:r>
              <a:rPr lang="en-US" altLang="zh-CN" sz="2800" b="0" i="0" dirty="0">
                <a:solidFill>
                  <a:schemeClr val="tx1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</a:t>
            </a:r>
            <a:r>
              <a:rPr lang="zh-CN" altLang="en-US" sz="2800" b="0" i="0" dirty="0">
                <a:solidFill>
                  <a:schemeClr val="tx1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防守，下在玩家形势最大值对应的位置。如果有多个</a:t>
            </a:r>
            <a:r>
              <a:rPr lang="en-US" altLang="zh-CN" sz="2800" b="0" i="0" dirty="0" err="1">
                <a:solidFill>
                  <a:schemeClr val="tx1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humanMaxScore</a:t>
            </a:r>
            <a:r>
              <a:rPr lang="zh-CN" altLang="en-US" sz="2800" b="0" i="0" dirty="0">
                <a:solidFill>
                  <a:schemeClr val="tx1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相等，则下在这几个对应位置上</a:t>
            </a:r>
            <a:r>
              <a:rPr lang="en-US" altLang="zh-CN" sz="2800" b="0" i="0" dirty="0" err="1">
                <a:solidFill>
                  <a:schemeClr val="tx1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aiScore</a:t>
            </a:r>
            <a:r>
              <a:rPr lang="zh-CN" altLang="en-US" sz="2800" b="0" i="0" dirty="0">
                <a:solidFill>
                  <a:schemeClr val="tx1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最大的位置。</a:t>
            </a:r>
            <a:endParaRPr lang="zh-CN" altLang="en-US" sz="2800" b="0" i="0" dirty="0">
              <a:solidFill>
                <a:schemeClr val="tx1"/>
              </a:solidFill>
              <a:effectLst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lang="zh-CN" altLang="en-US" sz="2800" b="0" i="0" dirty="0">
              <a:solidFill>
                <a:schemeClr val="tx1"/>
              </a:solidFill>
              <a:effectLst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Review</a:t>
            </a:r>
            <a:endParaRPr lang="zh-CN" altLang="en-US" dirty="0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内容占位符 5"/>
          <p:cNvSpPr>
            <a:spLocks noGrp="1"/>
          </p:cNvSpPr>
          <p:nvPr>
            <p:ph sz="half" idx="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half" idx="2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Review</a:t>
            </a:r>
            <a:endParaRPr lang="zh-CN" altLang="en-US" dirty="0"/>
          </a:p>
        </p:txBody>
      </p:sp>
      <p:grpSp>
        <p:nvGrpSpPr>
          <p:cNvPr id="8" name="Group 7"/>
          <p:cNvGrpSpPr/>
          <p:nvPr/>
        </p:nvGrpSpPr>
        <p:grpSpPr>
          <a:xfrm>
            <a:off x="976630" y="2178685"/>
            <a:ext cx="3958590" cy="2973070"/>
            <a:chOff x="583767" y="419244"/>
            <a:chExt cx="4448175" cy="3038418"/>
          </a:xfrm>
        </p:grpSpPr>
        <p:pic>
          <p:nvPicPr>
            <p:cNvPr id="10" name="Picture 4"/>
            <p:cNvPicPr>
              <a:picLocks noChangeAspect="1"/>
            </p:cNvPicPr>
            <p:nvPr/>
          </p:nvPicPr>
          <p:blipFill>
            <a:blip r:embed="rId1"/>
            <a:srcRect b="51886"/>
            <a:stretch>
              <a:fillRect/>
            </a:stretch>
          </p:blipFill>
          <p:spPr>
            <a:xfrm>
              <a:off x="583767" y="419244"/>
              <a:ext cx="4448175" cy="3038418"/>
            </a:xfrm>
            <a:prstGeom prst="rect">
              <a:avLst/>
            </a:prstGeom>
          </p:spPr>
        </p:pic>
        <p:sp>
          <p:nvSpPr>
            <p:cNvPr id="14" name="Rectangle 5"/>
            <p:cNvSpPr/>
            <p:nvPr/>
          </p:nvSpPr>
          <p:spPr>
            <a:xfrm>
              <a:off x="1514763" y="2272145"/>
              <a:ext cx="692728" cy="166255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dirty="0"/>
            </a:p>
          </p:txBody>
        </p:sp>
      </p:grpSp>
      <p:grpSp>
        <p:nvGrpSpPr>
          <p:cNvPr id="15" name="Group 7"/>
          <p:cNvGrpSpPr/>
          <p:nvPr/>
        </p:nvGrpSpPr>
        <p:grpSpPr>
          <a:xfrm>
            <a:off x="7533005" y="2178685"/>
            <a:ext cx="3792220" cy="2972435"/>
            <a:chOff x="583767" y="3425143"/>
            <a:chExt cx="4448175" cy="3309176"/>
          </a:xfrm>
        </p:grpSpPr>
        <p:pic>
          <p:nvPicPr>
            <p:cNvPr id="16" name="Picture 4"/>
            <p:cNvPicPr>
              <a:picLocks noChangeAspect="1"/>
            </p:cNvPicPr>
            <p:nvPr/>
          </p:nvPicPr>
          <p:blipFill>
            <a:blip r:embed="rId1"/>
            <a:srcRect t="47599"/>
            <a:stretch>
              <a:fillRect/>
            </a:stretch>
          </p:blipFill>
          <p:spPr>
            <a:xfrm>
              <a:off x="583767" y="3425143"/>
              <a:ext cx="4448175" cy="3309176"/>
            </a:xfrm>
            <a:prstGeom prst="rect">
              <a:avLst/>
            </a:prstGeom>
          </p:spPr>
        </p:pic>
        <p:sp>
          <p:nvSpPr>
            <p:cNvPr id="17" name="Rectangle 6"/>
            <p:cNvSpPr/>
            <p:nvPr/>
          </p:nvSpPr>
          <p:spPr>
            <a:xfrm>
              <a:off x="2955635" y="4752109"/>
              <a:ext cx="632691" cy="166255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</p:spTree>
    <p:custDataLst>
      <p:tags r:id="rId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博弈树</a:t>
            </a:r>
            <a:endParaRPr lang="zh-CN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0000"/>
          </a:bodyPr>
          <a:lstStyle/>
          <a:p>
            <a:r>
              <a:rPr lang="zh-CN" altLang="en-US" sz="2800" dirty="0">
                <a:latin typeface="微软雅黑" panose="020B0503020204020204" charset="-122"/>
                <a:ea typeface="微软雅黑" panose="020B0503020204020204" charset="-122"/>
              </a:rPr>
              <a:t>双方是轮流下子，每一步棋做决策之前，需要对当前棋局的局面状态做出判断并作出相应的选择。某步棋对</a:t>
            </a:r>
            <a:r>
              <a:rPr lang="zh-CN" altLang="en-US" sz="28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当前</a:t>
            </a:r>
            <a:r>
              <a:rPr lang="zh-CN" altLang="en-US" sz="2800" dirty="0">
                <a:latin typeface="微软雅黑" panose="020B0503020204020204" charset="-122"/>
                <a:ea typeface="微软雅黑" panose="020B0503020204020204" charset="-122"/>
              </a:rPr>
              <a:t>玩家产生了</a:t>
            </a:r>
            <a:r>
              <a:rPr lang="zh-CN" altLang="en-US" sz="28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正价值</a:t>
            </a:r>
            <a:r>
              <a:rPr lang="zh-CN" altLang="en-US" sz="2800" dirty="0">
                <a:latin typeface="微软雅黑" panose="020B0503020204020204" charset="-122"/>
                <a:ea typeface="微软雅黑" panose="020B0503020204020204" charset="-122"/>
              </a:rPr>
              <a:t>，则一定对他的</a:t>
            </a:r>
            <a:r>
              <a:rPr lang="zh-CN" altLang="en-US" sz="28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对手</a:t>
            </a:r>
            <a:r>
              <a:rPr lang="zh-CN" altLang="en-US" sz="2800" dirty="0">
                <a:latin typeface="微软雅黑" panose="020B0503020204020204" charset="-122"/>
                <a:ea typeface="微软雅黑" panose="020B0503020204020204" charset="-122"/>
              </a:rPr>
              <a:t>产生了等量的</a:t>
            </a:r>
            <a:r>
              <a:rPr lang="zh-CN" altLang="en-US" sz="28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负价值</a:t>
            </a:r>
            <a:r>
              <a:rPr lang="zh-CN" altLang="en-US" sz="2800" dirty="0">
                <a:latin typeface="微软雅黑" panose="020B0503020204020204" charset="-122"/>
                <a:ea typeface="微软雅黑" panose="020B0503020204020204" charset="-122"/>
              </a:rPr>
              <a:t>。</a:t>
            </a:r>
            <a:endParaRPr lang="en-US" altLang="zh-CN" sz="2800" dirty="0"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zh-CN" altLang="en-US" sz="2800" dirty="0">
                <a:latin typeface="微软雅黑" panose="020B0503020204020204" charset="-122"/>
                <a:ea typeface="微软雅黑" panose="020B0503020204020204" charset="-122"/>
              </a:rPr>
              <a:t>上次课的策略是只考虑一步棋进行决策，如果多考虑几步棋的形式，则需要把每步棋进行展开，这样就形成一棵博弈树。以当前棋局为树的根节点。</a:t>
            </a:r>
            <a:endParaRPr lang="zh-CN" altLang="en-US" sz="2800" dirty="0"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en-US" altLang="zh-CN" sz="2800" dirty="0">
                <a:latin typeface="微软雅黑" panose="020B0503020204020204" charset="-122"/>
                <a:ea typeface="微软雅黑" panose="020B0503020204020204" charset="-122"/>
              </a:rPr>
              <a:t>eg.如果 AI 执黑子先下，那么第一步 AI 共有 225 种落子方式，AI 落子到一个点后，表示 AI 回合结束，换到对手（白子）落子，这时对手共有 224 种落子方式。将 AI 和对手交替落子形成的所有情况穷举出来，这样就形成了一棵树，叫做</a:t>
            </a:r>
            <a:r>
              <a:rPr lang="en-US" altLang="zh-CN" sz="28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博弈树</a:t>
            </a:r>
            <a:r>
              <a:rPr lang="en-US" altLang="zh-CN" sz="2800" dirty="0">
                <a:latin typeface="微软雅黑" panose="020B0503020204020204" charset="-122"/>
                <a:ea typeface="微软雅黑" panose="020B0503020204020204" charset="-122"/>
              </a:rPr>
              <a:t>。</a:t>
            </a:r>
            <a:endParaRPr lang="en-US" altLang="zh-CN" sz="2800" dirty="0">
              <a:latin typeface="微软雅黑" panose="020B0503020204020204" charset="-122"/>
              <a:ea typeface="微软雅黑" panose="020B0503020204020204" charset="-122"/>
            </a:endParaRPr>
          </a:p>
          <a:p>
            <a:endParaRPr lang="en-US" altLang="zh-CN" sz="28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kern="0">
                <a:sym typeface="+mn-ea"/>
              </a:rPr>
              <a:t>博弈树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6" name="Title 1"/>
          <p:cNvSpPr txBox="1"/>
          <p:nvPr/>
        </p:nvSpPr>
        <p:spPr bwMode="auto">
          <a:xfrm>
            <a:off x="2133600" y="609600"/>
            <a:ext cx="8229600" cy="137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defTabSz="914400"/>
            <a:endParaRPr lang="zh-CN" altLang="en-US" kern="0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92130" y="0"/>
            <a:ext cx="3975379" cy="68580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13891" y="6248400"/>
            <a:ext cx="1191491" cy="3683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dirty="0"/>
              <a:t>叶子节点</a:t>
            </a:r>
            <a:endParaRPr lang="zh-CN" alt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5934365" y="249504"/>
            <a:ext cx="928254" cy="3683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dirty="0"/>
              <a:t>根节点 </a:t>
            </a:r>
            <a:endParaRPr lang="zh-CN" altLang="en-US" dirty="0"/>
          </a:p>
        </p:txBody>
      </p:sp>
    </p:spTree>
    <p:custDataLst>
      <p:tags r:id="rId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博弈树</a:t>
            </a:r>
            <a:endParaRPr lang="zh-CN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28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对于五子棋来说，就是</a:t>
            </a:r>
            <a:r>
              <a:rPr lang="en-US" altLang="zh-CN" sz="28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</a:t>
            </a:r>
            <a:r>
              <a:rPr lang="zh-CN" altLang="en-US" sz="28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在准备下当前这步棋时，</a:t>
            </a:r>
            <a:r>
              <a:rPr lang="en-US" altLang="zh-CN" sz="2800" b="1" u="sng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</a:t>
            </a:r>
            <a:r>
              <a:rPr lang="zh-CN" altLang="en-US" sz="2800" b="1" u="sng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会</a:t>
            </a:r>
            <a:r>
              <a:rPr lang="zh-CN" altLang="en-US" sz="2800" b="1" u="sng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假设</a:t>
            </a:r>
            <a:r>
              <a:rPr lang="zh-CN" altLang="en-US" sz="2800" b="1" u="sng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玩家足够聪明，当玩家下棋时，玩家会最大程度地减弱</a:t>
            </a:r>
            <a:r>
              <a:rPr lang="en-US" altLang="zh-CN" sz="2800" b="1" u="sng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</a:t>
            </a:r>
            <a:r>
              <a:rPr lang="zh-CN" altLang="en-US" sz="2800" b="1" u="sng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这步棋所产生的优势</a:t>
            </a:r>
            <a:r>
              <a:rPr lang="zh-CN" altLang="en-US" sz="28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，而</a:t>
            </a:r>
            <a:r>
              <a:rPr lang="en-US" altLang="zh-CN" sz="28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</a:t>
            </a:r>
            <a:r>
              <a:rPr lang="zh-CN" altLang="en-US" sz="28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需要做的，就是使得玩家所下的棋能够</a:t>
            </a:r>
            <a:r>
              <a:rPr lang="zh-CN" altLang="en-US" sz="28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削减</a:t>
            </a:r>
            <a:r>
              <a:rPr lang="en-US" altLang="zh-CN" sz="28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</a:t>
            </a:r>
            <a:r>
              <a:rPr lang="zh-CN" altLang="en-US" sz="28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优势的程度</a:t>
            </a:r>
            <a:r>
              <a:rPr lang="zh-CN" altLang="en-US" sz="28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越小越好，这样</a:t>
            </a:r>
            <a:r>
              <a:rPr lang="en-US" altLang="zh-CN" sz="28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</a:t>
            </a:r>
            <a:r>
              <a:rPr lang="zh-CN" altLang="en-US" sz="28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才能够保持住局面优势。</a:t>
            </a:r>
            <a:endParaRPr lang="zh-CN" altLang="en-US" sz="28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在博弈树中，当前棋局为根节点</a:t>
            </a:r>
            <a:r>
              <a:rPr lang="en-US" altLang="zh-CN" sz="2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root</a:t>
            </a: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，奇数层表示</a:t>
            </a:r>
            <a:r>
              <a:rPr lang="en-US" altLang="zh-CN" sz="2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</a:t>
            </a: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可能的走法，偶数层表示玩家可能的走法。</a:t>
            </a:r>
            <a:endParaRPr lang="zh-CN" altLang="en-US" sz="2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en-US" sz="2400" b="0" i="0" dirty="0"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极大极小值搜索算法，搜索整个博弈树：它假设人和电脑都是极其聪明的，他们都会选择出最优的一步。</a:t>
            </a:r>
            <a:endParaRPr lang="en-US" altLang="zh-CN" sz="2400" b="0" i="0" dirty="0">
              <a:effectLst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lvl="1"/>
            <a:r>
              <a:rPr lang="en-US" altLang="zh-CN" sz="2400" b="0" i="0" dirty="0"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</a:t>
            </a:r>
            <a:r>
              <a:rPr lang="zh-CN" altLang="en-US" sz="2400" b="0" i="0" dirty="0"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走棋的层我们称为 </a:t>
            </a:r>
            <a:r>
              <a:rPr lang="en-US" altLang="zh-CN" sz="2400" b="0" i="0" dirty="0"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MAX</a:t>
            </a:r>
            <a:r>
              <a:rPr lang="zh-CN" altLang="en-US" sz="2400" b="0" i="0" dirty="0"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层，这一层</a:t>
            </a:r>
            <a:r>
              <a:rPr lang="en-US" altLang="zh-CN" sz="2400" b="0" i="0" dirty="0"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</a:t>
            </a:r>
            <a:r>
              <a:rPr lang="zh-CN" altLang="en-US" sz="2400" b="0" i="0" dirty="0"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要保证自己利益最大化，那么就需要选</a:t>
            </a:r>
            <a:r>
              <a:rPr lang="zh-CN" altLang="en-US" sz="2400" b="0" i="0" dirty="0">
                <a:solidFill>
                  <a:srgbClr val="FF0000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分最高</a:t>
            </a:r>
            <a:r>
              <a:rPr lang="zh-CN" altLang="en-US" sz="2400" b="0" i="0" dirty="0"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的节点。</a:t>
            </a:r>
            <a:endParaRPr lang="zh-CN" altLang="en-US" sz="2400" b="0" i="0" dirty="0">
              <a:effectLst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lvl="1"/>
            <a:r>
              <a:rPr lang="zh-CN" altLang="en-US" sz="2400" b="0" i="0" dirty="0"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玩家走棋的层我们称为</a:t>
            </a:r>
            <a:r>
              <a:rPr lang="en-US" altLang="zh-CN" sz="2400" b="0" i="0" dirty="0"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MIN</a:t>
            </a:r>
            <a:r>
              <a:rPr lang="zh-CN" altLang="en-US" sz="2400" b="0" i="0" dirty="0"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层，这⼀层玩家要保证自己的利益最大化，那么就会选</a:t>
            </a:r>
            <a:r>
              <a:rPr lang="zh-CN" altLang="en-US" sz="2400" b="0" i="0" dirty="0">
                <a:solidFill>
                  <a:srgbClr val="FF0000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对于</a:t>
            </a:r>
            <a:r>
              <a:rPr lang="en-US" altLang="zh-CN" sz="2400" b="0" i="0" dirty="0">
                <a:solidFill>
                  <a:srgbClr val="FF0000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</a:t>
            </a:r>
            <a:r>
              <a:rPr lang="zh-CN" altLang="en-US" sz="2400" b="0" i="0" dirty="0">
                <a:solidFill>
                  <a:srgbClr val="FF0000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分最低</a:t>
            </a:r>
            <a:r>
              <a:rPr lang="zh-CN" altLang="en-US" sz="2400" b="0" i="0" dirty="0"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的节点。</a:t>
            </a:r>
            <a:endParaRPr lang="en-US" altLang="zh-CN" sz="2400" b="0" i="0" dirty="0">
              <a:effectLst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节点估值</a:t>
            </a: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：当前落子点的</a:t>
            </a:r>
            <a:r>
              <a:rPr lang="en-US" altLang="zh-CN" sz="2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</a:t>
            </a:r>
            <a:r>
              <a:rPr lang="en-US" altLang="zh-CN" sz="2400" dirty="0" err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AIScore-HumanScore</a:t>
            </a:r>
            <a:r>
              <a:rPr lang="en-US" altLang="zh-CN" sz="2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)</a:t>
            </a: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作为当前节点的估值。</a:t>
            </a:r>
            <a:endParaRPr lang="zh-CN" altLang="en-US" sz="2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lang="zh-CN" altLang="en-US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博弈树</a:t>
            </a:r>
            <a:endParaRPr lang="zh-CN" altLang="en-US" dirty="0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TextBox 185"/>
          <p:cNvSpPr txBox="1"/>
          <p:nvPr/>
        </p:nvSpPr>
        <p:spPr>
          <a:xfrm>
            <a:off x="7746178" y="3997318"/>
            <a:ext cx="1197443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</a:rPr>
              <a:t>Value=5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185" name="TextBox 184"/>
          <p:cNvSpPr txBox="1"/>
          <p:nvPr/>
        </p:nvSpPr>
        <p:spPr>
          <a:xfrm>
            <a:off x="7746178" y="1490980"/>
            <a:ext cx="1197443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</a:rPr>
              <a:t>Value=1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博弈树</a:t>
            </a:r>
            <a:endParaRPr lang="zh-CN" altLang="en-US" dirty="0"/>
          </a:p>
        </p:txBody>
      </p:sp>
      <p:sp>
        <p:nvSpPr>
          <p:cNvPr id="114" name="Rectangle 113"/>
          <p:cNvSpPr/>
          <p:nvPr/>
        </p:nvSpPr>
        <p:spPr>
          <a:xfrm>
            <a:off x="7390579" y="2438103"/>
            <a:ext cx="581891" cy="41563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15" name="Oval 114"/>
          <p:cNvSpPr/>
          <p:nvPr/>
        </p:nvSpPr>
        <p:spPr>
          <a:xfrm>
            <a:off x="7746178" y="3188557"/>
            <a:ext cx="452583" cy="415636"/>
          </a:xfrm>
          <a:prstGeom prst="ellipse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3" name="Rectangle 172"/>
          <p:cNvSpPr/>
          <p:nvPr/>
        </p:nvSpPr>
        <p:spPr>
          <a:xfrm>
            <a:off x="5587263" y="4952481"/>
            <a:ext cx="581891" cy="41563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74" name="Oval 173"/>
          <p:cNvSpPr/>
          <p:nvPr/>
        </p:nvSpPr>
        <p:spPr>
          <a:xfrm>
            <a:off x="5886110" y="5639018"/>
            <a:ext cx="452583" cy="415636"/>
          </a:xfrm>
          <a:prstGeom prst="ellipse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文本框 24"/>
          <p:cNvSpPr txBox="1"/>
          <p:nvPr/>
        </p:nvSpPr>
        <p:spPr>
          <a:xfrm>
            <a:off x="687070" y="1534795"/>
            <a:ext cx="323278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从上往下沿着博弈树进行搜索</a:t>
            </a:r>
            <a:endParaRPr lang="zh-CN" altLang="en-US"/>
          </a:p>
        </p:txBody>
      </p:sp>
      <p:sp>
        <p:nvSpPr>
          <p:cNvPr id="26" name="文本框 25"/>
          <p:cNvSpPr txBox="1"/>
          <p:nvPr/>
        </p:nvSpPr>
        <p:spPr>
          <a:xfrm>
            <a:off x="687070" y="4039870"/>
            <a:ext cx="323278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从下往上沿着博弈树进行搜索</a:t>
            </a:r>
            <a:endParaRPr lang="zh-CN" altLang="en-US"/>
          </a:p>
        </p:txBody>
      </p:sp>
      <p:grpSp>
        <p:nvGrpSpPr>
          <p:cNvPr id="28" name="组合 27"/>
          <p:cNvGrpSpPr/>
          <p:nvPr/>
        </p:nvGrpSpPr>
        <p:grpSpPr>
          <a:xfrm>
            <a:off x="4570095" y="1534795"/>
            <a:ext cx="6644640" cy="2071370"/>
            <a:chOff x="7197" y="2417"/>
            <a:chExt cx="10464" cy="3262"/>
          </a:xfrm>
        </p:grpSpPr>
        <p:grpSp>
          <p:nvGrpSpPr>
            <p:cNvPr id="192" name="Group 191"/>
            <p:cNvGrpSpPr/>
            <p:nvPr/>
          </p:nvGrpSpPr>
          <p:grpSpPr>
            <a:xfrm>
              <a:off x="7197" y="2417"/>
              <a:ext cx="10465" cy="3263"/>
              <a:chOff x="536683" y="1872544"/>
              <a:chExt cx="6645564" cy="2071778"/>
            </a:xfrm>
          </p:grpSpPr>
          <p:pic>
            <p:nvPicPr>
              <p:cNvPr id="168" name="Picture 167"/>
              <p:cNvPicPr>
                <a:picLocks noChangeAspect="1"/>
              </p:cNvPicPr>
              <p:nvPr/>
            </p:nvPicPr>
            <p:blipFill>
              <a:blip r:embed="rId1"/>
              <a:stretch>
                <a:fillRect/>
              </a:stretch>
            </p:blipFill>
            <p:spPr>
              <a:xfrm>
                <a:off x="1334824" y="1872544"/>
                <a:ext cx="5488008" cy="2071778"/>
              </a:xfrm>
              <a:prstGeom prst="rect">
                <a:avLst/>
              </a:prstGeom>
            </p:spPr>
          </p:pic>
          <p:cxnSp>
            <p:nvCxnSpPr>
              <p:cNvPr id="176" name="Straight Arrow Connector 175"/>
              <p:cNvCxnSpPr/>
              <p:nvPr/>
            </p:nvCxnSpPr>
            <p:spPr>
              <a:xfrm>
                <a:off x="7182247" y="2599908"/>
                <a:ext cx="0" cy="1342105"/>
              </a:xfrm>
              <a:prstGeom prst="straightConnector1">
                <a:avLst/>
              </a:prstGeom>
              <a:ln w="57150"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81" name="TextBox 180"/>
              <p:cNvSpPr txBox="1"/>
              <p:nvPr/>
            </p:nvSpPr>
            <p:spPr>
              <a:xfrm>
                <a:off x="536683" y="2741780"/>
                <a:ext cx="798141" cy="368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dirty="0"/>
                  <a:t>Max</a:t>
                </a:r>
                <a:endParaRPr lang="zh-CN" altLang="en-US" dirty="0"/>
              </a:p>
            </p:txBody>
          </p:sp>
          <p:sp>
            <p:nvSpPr>
              <p:cNvPr id="182" name="TextBox 181"/>
              <p:cNvSpPr txBox="1"/>
              <p:nvPr/>
            </p:nvSpPr>
            <p:spPr>
              <a:xfrm>
                <a:off x="536683" y="3572681"/>
                <a:ext cx="798141" cy="368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dirty="0"/>
                  <a:t>Min</a:t>
                </a:r>
                <a:endParaRPr lang="zh-CN" altLang="en-US" dirty="0"/>
              </a:p>
            </p:txBody>
          </p:sp>
        </p:grpSp>
        <p:sp>
          <p:nvSpPr>
            <p:cNvPr id="27" name="文本框 26"/>
            <p:cNvSpPr txBox="1"/>
            <p:nvPr/>
          </p:nvSpPr>
          <p:spPr>
            <a:xfrm>
              <a:off x="9864" y="2417"/>
              <a:ext cx="1171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/>
                <a:t>root</a:t>
              </a:r>
              <a:endParaRPr lang="en-US" altLang="zh-CN"/>
            </a:p>
          </p:txBody>
        </p:sp>
      </p:grpSp>
      <p:grpSp>
        <p:nvGrpSpPr>
          <p:cNvPr id="30" name="组合 29"/>
          <p:cNvGrpSpPr/>
          <p:nvPr/>
        </p:nvGrpSpPr>
        <p:grpSpPr>
          <a:xfrm>
            <a:off x="4570095" y="4039870"/>
            <a:ext cx="6764020" cy="2071370"/>
            <a:chOff x="7197" y="6362"/>
            <a:chExt cx="10652" cy="3262"/>
          </a:xfrm>
        </p:grpSpPr>
        <p:grpSp>
          <p:nvGrpSpPr>
            <p:cNvPr id="193" name="Group 192"/>
            <p:cNvGrpSpPr/>
            <p:nvPr/>
          </p:nvGrpSpPr>
          <p:grpSpPr>
            <a:xfrm>
              <a:off x="7197" y="6362"/>
              <a:ext cx="10653" cy="3263"/>
              <a:chOff x="536683" y="4377686"/>
              <a:chExt cx="6764744" cy="2071778"/>
            </a:xfrm>
          </p:grpSpPr>
          <p:pic>
            <p:nvPicPr>
              <p:cNvPr id="171" name="Picture 170"/>
              <p:cNvPicPr>
                <a:picLocks noChangeAspect="1"/>
              </p:cNvPicPr>
              <p:nvPr/>
            </p:nvPicPr>
            <p:blipFill>
              <a:blip r:embed="rId1"/>
              <a:stretch>
                <a:fillRect/>
              </a:stretch>
            </p:blipFill>
            <p:spPr>
              <a:xfrm>
                <a:off x="1295653" y="4377686"/>
                <a:ext cx="5488008" cy="2071778"/>
              </a:xfrm>
              <a:prstGeom prst="rect">
                <a:avLst/>
              </a:prstGeom>
            </p:spPr>
          </p:pic>
          <p:cxnSp>
            <p:nvCxnSpPr>
              <p:cNvPr id="180" name="Straight Arrow Connector 179"/>
              <p:cNvCxnSpPr/>
              <p:nvPr/>
            </p:nvCxnSpPr>
            <p:spPr>
              <a:xfrm flipV="1">
                <a:off x="7301427" y="5016256"/>
                <a:ext cx="0" cy="1433208"/>
              </a:xfrm>
              <a:prstGeom prst="straightConnector1">
                <a:avLst/>
              </a:prstGeom>
              <a:ln w="57150"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83" name="TextBox 182"/>
              <p:cNvSpPr txBox="1"/>
              <p:nvPr/>
            </p:nvSpPr>
            <p:spPr>
              <a:xfrm>
                <a:off x="536683" y="5245755"/>
                <a:ext cx="798141" cy="368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dirty="0"/>
                  <a:t>Max</a:t>
                </a:r>
                <a:endParaRPr lang="zh-CN" altLang="en-US" dirty="0"/>
              </a:p>
            </p:txBody>
          </p:sp>
          <p:sp>
            <p:nvSpPr>
              <p:cNvPr id="184" name="TextBox 183"/>
              <p:cNvSpPr txBox="1"/>
              <p:nvPr/>
            </p:nvSpPr>
            <p:spPr>
              <a:xfrm>
                <a:off x="536683" y="6076656"/>
                <a:ext cx="798141" cy="368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dirty="0"/>
                  <a:t>Min</a:t>
                </a:r>
                <a:endParaRPr lang="zh-CN" altLang="en-US" dirty="0"/>
              </a:p>
            </p:txBody>
          </p:sp>
        </p:grpSp>
        <p:sp>
          <p:nvSpPr>
            <p:cNvPr id="29" name="文本框 28"/>
            <p:cNvSpPr txBox="1"/>
            <p:nvPr/>
          </p:nvSpPr>
          <p:spPr>
            <a:xfrm>
              <a:off x="9715" y="6362"/>
              <a:ext cx="1171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/>
                <a:t>root</a:t>
              </a:r>
              <a:endParaRPr lang="en-US" altLang="zh-CN"/>
            </a:p>
          </p:txBody>
        </p:sp>
      </p:grpSp>
    </p:spTree>
    <p:custDataLst>
      <p:tags r:id="rId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6" grpId="0"/>
      <p:bldP spid="185" grpId="0"/>
      <p:bldP spid="114" grpId="0" bldLvl="0" animBg="1"/>
      <p:bldP spid="115" grpId="0" bldLvl="0" animBg="1"/>
      <p:bldP spid="173" grpId="0" bldLvl="0" animBg="1"/>
      <p:bldP spid="174" grpId="0" bldLvl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" name="Group 25"/>
          <p:cNvGrpSpPr/>
          <p:nvPr/>
        </p:nvGrpSpPr>
        <p:grpSpPr>
          <a:xfrm>
            <a:off x="2084263" y="4098113"/>
            <a:ext cx="7110619" cy="2071778"/>
            <a:chOff x="560263" y="4098113"/>
            <a:chExt cx="7110619" cy="2071778"/>
          </a:xfrm>
        </p:grpSpPr>
        <p:grpSp>
          <p:nvGrpSpPr>
            <p:cNvPr id="23" name="Group 22"/>
            <p:cNvGrpSpPr/>
            <p:nvPr/>
          </p:nvGrpSpPr>
          <p:grpSpPr>
            <a:xfrm>
              <a:off x="1744869" y="4098113"/>
              <a:ext cx="5926013" cy="2071778"/>
              <a:chOff x="1744869" y="4098113"/>
              <a:chExt cx="5926013" cy="2071778"/>
            </a:xfrm>
          </p:grpSpPr>
          <p:pic>
            <p:nvPicPr>
              <p:cNvPr id="5" name="Picture 4"/>
              <p:cNvPicPr>
                <a:picLocks noChangeAspect="1"/>
              </p:cNvPicPr>
              <p:nvPr/>
            </p:nvPicPr>
            <p:blipFill>
              <a:blip r:embed="rId1"/>
              <a:stretch>
                <a:fillRect/>
              </a:stretch>
            </p:blipFill>
            <p:spPr>
              <a:xfrm>
                <a:off x="1744869" y="4098113"/>
                <a:ext cx="5488008" cy="2071778"/>
              </a:xfrm>
              <a:prstGeom prst="rect">
                <a:avLst/>
              </a:prstGeom>
            </p:spPr>
          </p:pic>
          <p:cxnSp>
            <p:nvCxnSpPr>
              <p:cNvPr id="14" name="Straight Arrow Connector 13"/>
              <p:cNvCxnSpPr/>
              <p:nvPr/>
            </p:nvCxnSpPr>
            <p:spPr>
              <a:xfrm flipV="1">
                <a:off x="7670882" y="4591384"/>
                <a:ext cx="0" cy="1433208"/>
              </a:xfrm>
              <a:prstGeom prst="straightConnector1">
                <a:avLst/>
              </a:prstGeom>
              <a:ln w="57150"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4" name="TextBox 23"/>
            <p:cNvSpPr txBox="1"/>
            <p:nvPr/>
          </p:nvSpPr>
          <p:spPr>
            <a:xfrm>
              <a:off x="560263" y="4969168"/>
              <a:ext cx="798141" cy="3683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Max</a:t>
              </a:r>
              <a:endParaRPr lang="zh-CN" altLang="en-US" dirty="0"/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560263" y="5800069"/>
              <a:ext cx="798141" cy="3683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Min</a:t>
              </a:r>
              <a:endParaRPr lang="zh-CN" altLang="en-US" dirty="0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600" dirty="0" err="1"/>
              <a:t>MinMax</a:t>
            </a:r>
            <a:r>
              <a:rPr lang="en-US" altLang="zh-CN" sz="3600" dirty="0"/>
              <a:t> Algorithm</a:t>
            </a:r>
            <a:r>
              <a:rPr lang="zh-CN" altLang="en-US" sz="3600" dirty="0"/>
              <a:t>（极小极大值）</a:t>
            </a:r>
            <a:endParaRPr lang="zh-CN" alt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2800" b="0" i="0" dirty="0">
                <a:effectLst/>
                <a:latin typeface="+mj-ea"/>
                <a:ea typeface="+mj-ea"/>
                <a:cs typeface="+mj-ea"/>
              </a:rPr>
              <a:t>如果</a:t>
            </a:r>
            <a:r>
              <a:rPr lang="en-US" altLang="zh-CN" sz="2800" b="0" i="0" dirty="0">
                <a:effectLst/>
                <a:latin typeface="+mj-ea"/>
                <a:ea typeface="+mj-ea"/>
                <a:cs typeface="+mj-ea"/>
              </a:rPr>
              <a:t>AI</a:t>
            </a:r>
            <a:r>
              <a:rPr lang="zh-CN" altLang="en-US" sz="2800" b="0" i="0" dirty="0">
                <a:effectLst/>
                <a:latin typeface="+mj-ea"/>
                <a:ea typeface="+mj-ea"/>
                <a:cs typeface="+mj-ea"/>
              </a:rPr>
              <a:t>思考两步棋，那么第一步棋的得分是没有用的。</a:t>
            </a:r>
            <a:r>
              <a:rPr lang="en-US" altLang="zh-CN" sz="2800" b="0" i="0" dirty="0">
                <a:effectLst/>
                <a:latin typeface="+mj-ea"/>
                <a:ea typeface="+mj-ea"/>
                <a:cs typeface="+mj-ea"/>
              </a:rPr>
              <a:t>AI</a:t>
            </a:r>
            <a:r>
              <a:rPr lang="zh-CN" altLang="en-US" sz="2800" b="0" i="0" dirty="0">
                <a:effectLst/>
                <a:latin typeface="+mj-ea"/>
                <a:ea typeface="+mj-ea"/>
                <a:cs typeface="+mj-ea"/>
              </a:rPr>
              <a:t>的实际求解过程是：先通过当前棋盘的第一步棋，求得对应的第二步棋的最小得分，再从这些最小得分中，找到那个最大得分。</a:t>
            </a:r>
            <a:endParaRPr lang="zh-CN" altLang="en-US" sz="2800" dirty="0">
              <a:latin typeface="+mj-ea"/>
              <a:ea typeface="+mj-ea"/>
              <a:cs typeface="+mj-ea"/>
            </a:endParaRPr>
          </a:p>
        </p:txBody>
      </p:sp>
      <p:grpSp>
        <p:nvGrpSpPr>
          <p:cNvPr id="22" name="Group 21"/>
          <p:cNvGrpSpPr/>
          <p:nvPr/>
        </p:nvGrpSpPr>
        <p:grpSpPr>
          <a:xfrm>
            <a:off x="3830801" y="5722592"/>
            <a:ext cx="3202581" cy="446809"/>
            <a:chOff x="2301806" y="5697265"/>
            <a:chExt cx="3202581" cy="446809"/>
          </a:xfrm>
        </p:grpSpPr>
        <p:grpSp>
          <p:nvGrpSpPr>
            <p:cNvPr id="21" name="Group 20"/>
            <p:cNvGrpSpPr/>
            <p:nvPr/>
          </p:nvGrpSpPr>
          <p:grpSpPr>
            <a:xfrm>
              <a:off x="2301806" y="5697265"/>
              <a:ext cx="2239244" cy="446809"/>
              <a:chOff x="2301806" y="5697265"/>
              <a:chExt cx="2239244" cy="446809"/>
            </a:xfrm>
          </p:grpSpPr>
          <p:sp>
            <p:nvSpPr>
              <p:cNvPr id="8" name="Oval 7"/>
              <p:cNvSpPr/>
              <p:nvPr/>
            </p:nvSpPr>
            <p:spPr>
              <a:xfrm>
                <a:off x="2301806" y="5697265"/>
                <a:ext cx="452583" cy="415636"/>
              </a:xfrm>
              <a:prstGeom prst="ellipse">
                <a:avLst/>
              </a:prstGeom>
              <a:noFill/>
              <a:ln>
                <a:solidFill>
                  <a:srgbClr val="FF0000"/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9" name="Oval 8"/>
              <p:cNvSpPr/>
              <p:nvPr/>
            </p:nvSpPr>
            <p:spPr>
              <a:xfrm>
                <a:off x="2754389" y="5697265"/>
                <a:ext cx="452583" cy="415636"/>
              </a:xfrm>
              <a:prstGeom prst="ellipse">
                <a:avLst/>
              </a:prstGeom>
              <a:noFill/>
              <a:ln>
                <a:solidFill>
                  <a:srgbClr val="00B0F0"/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0" name="Oval 9"/>
              <p:cNvSpPr/>
              <p:nvPr/>
            </p:nvSpPr>
            <p:spPr>
              <a:xfrm>
                <a:off x="4088467" y="5728438"/>
                <a:ext cx="452583" cy="415636"/>
              </a:xfrm>
              <a:prstGeom prst="ellipse">
                <a:avLst/>
              </a:prstGeom>
              <a:noFill/>
              <a:ln>
                <a:solidFill>
                  <a:srgbClr val="00B0F0"/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11" name="Oval 10"/>
            <p:cNvSpPr/>
            <p:nvPr/>
          </p:nvSpPr>
          <p:spPr>
            <a:xfrm>
              <a:off x="5051804" y="5728438"/>
              <a:ext cx="452583" cy="415636"/>
            </a:xfrm>
            <a:prstGeom prst="ellipse">
              <a:avLst/>
            </a:prstGeom>
            <a:noFill/>
            <a:ln>
              <a:solidFill>
                <a:srgbClr val="00B0F0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20" name="Group 19"/>
          <p:cNvGrpSpPr/>
          <p:nvPr/>
        </p:nvGrpSpPr>
        <p:grpSpPr>
          <a:xfrm>
            <a:off x="3562440" y="5050769"/>
            <a:ext cx="3156529" cy="368300"/>
            <a:chOff x="2032000" y="5023919"/>
            <a:chExt cx="3156529" cy="368300"/>
          </a:xfrm>
        </p:grpSpPr>
        <p:grpSp>
          <p:nvGrpSpPr>
            <p:cNvPr id="19" name="Group 18"/>
            <p:cNvGrpSpPr/>
            <p:nvPr/>
          </p:nvGrpSpPr>
          <p:grpSpPr>
            <a:xfrm>
              <a:off x="2032000" y="5023919"/>
              <a:ext cx="2285290" cy="368300"/>
              <a:chOff x="2032000" y="5023919"/>
              <a:chExt cx="2285290" cy="368300"/>
            </a:xfrm>
          </p:grpSpPr>
          <p:sp>
            <p:nvSpPr>
              <p:cNvPr id="15" name="TextBox 14"/>
              <p:cNvSpPr txBox="1"/>
              <p:nvPr/>
            </p:nvSpPr>
            <p:spPr>
              <a:xfrm>
                <a:off x="2032000" y="5023919"/>
                <a:ext cx="544947" cy="3683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altLang="zh-CN" dirty="0"/>
                  <a:t>5</a:t>
                </a:r>
                <a:endParaRPr lang="zh-CN" altLang="en-US" dirty="0"/>
              </a:p>
            </p:txBody>
          </p:sp>
          <p:sp>
            <p:nvSpPr>
              <p:cNvPr id="16" name="TextBox 15"/>
              <p:cNvSpPr txBox="1"/>
              <p:nvPr/>
            </p:nvSpPr>
            <p:spPr>
              <a:xfrm>
                <a:off x="2934498" y="5023919"/>
                <a:ext cx="544947" cy="3683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altLang="zh-CN" dirty="0"/>
                  <a:t>2</a:t>
                </a:r>
                <a:endParaRPr lang="zh-CN" altLang="en-US" dirty="0"/>
              </a:p>
            </p:txBody>
          </p:sp>
          <p:sp>
            <p:nvSpPr>
              <p:cNvPr id="17" name="TextBox 16"/>
              <p:cNvSpPr txBox="1"/>
              <p:nvPr/>
            </p:nvSpPr>
            <p:spPr>
              <a:xfrm>
                <a:off x="3772343" y="5023919"/>
                <a:ext cx="544947" cy="3683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altLang="zh-CN" dirty="0"/>
                  <a:t>1</a:t>
                </a:r>
                <a:endParaRPr lang="zh-CN" altLang="en-US" dirty="0"/>
              </a:p>
            </p:txBody>
          </p:sp>
        </p:grpSp>
        <p:sp>
          <p:nvSpPr>
            <p:cNvPr id="18" name="TextBox 17"/>
            <p:cNvSpPr txBox="1"/>
            <p:nvPr/>
          </p:nvSpPr>
          <p:spPr>
            <a:xfrm>
              <a:off x="4643582" y="5023919"/>
              <a:ext cx="544947" cy="3683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1</a:t>
              </a:r>
              <a:endParaRPr lang="zh-CN" altLang="en-US" dirty="0"/>
            </a:p>
          </p:txBody>
        </p:sp>
      </p:grpSp>
      <p:sp>
        <p:nvSpPr>
          <p:cNvPr id="27" name="Rectangle 26"/>
          <p:cNvSpPr/>
          <p:nvPr/>
        </p:nvSpPr>
        <p:spPr>
          <a:xfrm>
            <a:off x="3562440" y="5050769"/>
            <a:ext cx="544947" cy="3693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TextBox 27"/>
          <p:cNvSpPr txBox="1"/>
          <p:nvPr/>
        </p:nvSpPr>
        <p:spPr>
          <a:xfrm>
            <a:off x="5532581" y="4098113"/>
            <a:ext cx="1186387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</a:rPr>
              <a:t>Value=5</a:t>
            </a:r>
            <a:endParaRPr lang="zh-CN" altLang="en-US" dirty="0">
              <a:solidFill>
                <a:srgbClr val="FF0000"/>
              </a:solidFill>
            </a:endParaRPr>
          </a:p>
        </p:txBody>
      </p:sp>
      <p:grpSp>
        <p:nvGrpSpPr>
          <p:cNvPr id="36" name="Group 35"/>
          <p:cNvGrpSpPr/>
          <p:nvPr/>
        </p:nvGrpSpPr>
        <p:grpSpPr>
          <a:xfrm>
            <a:off x="3830801" y="4553532"/>
            <a:ext cx="1179084" cy="1169060"/>
            <a:chOff x="2306801" y="4553532"/>
            <a:chExt cx="1179084" cy="1169060"/>
          </a:xfrm>
        </p:grpSpPr>
        <p:cxnSp>
          <p:nvCxnSpPr>
            <p:cNvPr id="30" name="Straight Connector 29"/>
            <p:cNvCxnSpPr/>
            <p:nvPr/>
          </p:nvCxnSpPr>
          <p:spPr>
            <a:xfrm flipH="1">
              <a:off x="2306801" y="4553532"/>
              <a:ext cx="1179084" cy="497237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/>
          </p:nvCxnSpPr>
          <p:spPr>
            <a:xfrm>
              <a:off x="2369967" y="5430737"/>
              <a:ext cx="213420" cy="291855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custDataLst>
      <p:tags r:id="rId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 bldLvl="0" animBg="1"/>
      <p:bldP spid="28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roup 41"/>
          <p:cNvGrpSpPr/>
          <p:nvPr/>
        </p:nvGrpSpPr>
        <p:grpSpPr>
          <a:xfrm>
            <a:off x="2387242" y="2001746"/>
            <a:ext cx="7222980" cy="4105020"/>
            <a:chOff x="880414" y="2059853"/>
            <a:chExt cx="7222980" cy="4105020"/>
          </a:xfrm>
        </p:grpSpPr>
        <p:pic>
          <p:nvPicPr>
            <p:cNvPr id="1026" name="Picture 2"/>
            <p:cNvPicPr>
              <a:picLocks noChangeAspect="1" noChangeArrowheads="1"/>
            </p:cNvPicPr>
            <p:nvPr/>
          </p:nvPicPr>
          <p:blipFill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80414" y="2179781"/>
              <a:ext cx="7222980" cy="398509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53" name="TextBox 52"/>
            <p:cNvSpPr txBox="1"/>
            <p:nvPr/>
          </p:nvSpPr>
          <p:spPr>
            <a:xfrm>
              <a:off x="5361100" y="2059853"/>
              <a:ext cx="1197443" cy="3683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>
                  <a:solidFill>
                    <a:srgbClr val="FF0000"/>
                  </a:solidFill>
                </a:rPr>
                <a:t>Value=</a:t>
              </a:r>
              <a:r>
                <a:rPr lang="zh-CN" altLang="en-US" dirty="0">
                  <a:solidFill>
                    <a:srgbClr val="FF0000"/>
                  </a:solidFill>
                </a:rPr>
                <a:t>？</a:t>
              </a:r>
              <a:endParaRPr lang="zh-CN" altLang="en-US" dirty="0">
                <a:solidFill>
                  <a:srgbClr val="FF0000"/>
                </a:solidFill>
              </a:endParaRPr>
            </a:p>
          </p:txBody>
        </p:sp>
      </p:grp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MinMax</a:t>
            </a:r>
            <a:r>
              <a:rPr lang="en-US" altLang="zh-CN" dirty="0"/>
              <a:t> Algorithm</a:t>
            </a:r>
            <a:r>
              <a:rPr lang="zh-CN" altLang="en-US" dirty="0"/>
              <a:t>（极小极大值）</a:t>
            </a:r>
            <a:endParaRPr lang="zh-CN" altLang="en-US" dirty="0"/>
          </a:p>
        </p:txBody>
      </p:sp>
      <p:grpSp>
        <p:nvGrpSpPr>
          <p:cNvPr id="5" name="Group 4"/>
          <p:cNvGrpSpPr/>
          <p:nvPr/>
        </p:nvGrpSpPr>
        <p:grpSpPr>
          <a:xfrm>
            <a:off x="2984058" y="5410139"/>
            <a:ext cx="6169890" cy="415637"/>
            <a:chOff x="1487055" y="5458691"/>
            <a:chExt cx="6169890" cy="415637"/>
          </a:xfrm>
        </p:grpSpPr>
        <p:sp>
          <p:nvSpPr>
            <p:cNvPr id="4" name="Rectangle 3"/>
            <p:cNvSpPr/>
            <p:nvPr/>
          </p:nvSpPr>
          <p:spPr>
            <a:xfrm>
              <a:off x="1487055" y="5458691"/>
              <a:ext cx="360218" cy="397164"/>
            </a:xfrm>
            <a:prstGeom prst="rect">
              <a:avLst/>
            </a:prstGeom>
            <a:noFill/>
            <a:ln>
              <a:solidFill>
                <a:srgbClr val="FF0000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Rectangle 5"/>
            <p:cNvSpPr/>
            <p:nvPr/>
          </p:nvSpPr>
          <p:spPr>
            <a:xfrm>
              <a:off x="2780290" y="5472546"/>
              <a:ext cx="360218" cy="397164"/>
            </a:xfrm>
            <a:prstGeom prst="rect">
              <a:avLst/>
            </a:prstGeom>
            <a:noFill/>
            <a:ln>
              <a:solidFill>
                <a:srgbClr val="FF0000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Rectangle 6"/>
            <p:cNvSpPr/>
            <p:nvPr/>
          </p:nvSpPr>
          <p:spPr>
            <a:xfrm>
              <a:off x="3212595" y="5472546"/>
              <a:ext cx="360218" cy="397164"/>
            </a:xfrm>
            <a:prstGeom prst="rect">
              <a:avLst/>
            </a:prstGeom>
            <a:noFill/>
            <a:ln>
              <a:solidFill>
                <a:srgbClr val="FF0000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" name="Rectangle 7"/>
            <p:cNvSpPr/>
            <p:nvPr/>
          </p:nvSpPr>
          <p:spPr>
            <a:xfrm>
              <a:off x="3629605" y="5472546"/>
              <a:ext cx="360218" cy="397164"/>
            </a:xfrm>
            <a:prstGeom prst="rect">
              <a:avLst/>
            </a:prstGeom>
            <a:noFill/>
            <a:ln>
              <a:solidFill>
                <a:srgbClr val="FF0000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Rectangle 8"/>
            <p:cNvSpPr/>
            <p:nvPr/>
          </p:nvSpPr>
          <p:spPr>
            <a:xfrm>
              <a:off x="4418447" y="5472546"/>
              <a:ext cx="360218" cy="397164"/>
            </a:xfrm>
            <a:prstGeom prst="rect">
              <a:avLst/>
            </a:prstGeom>
            <a:noFill/>
            <a:ln>
              <a:solidFill>
                <a:srgbClr val="FF0000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5661028" y="5472546"/>
              <a:ext cx="360218" cy="397164"/>
            </a:xfrm>
            <a:prstGeom prst="rect">
              <a:avLst/>
            </a:prstGeom>
            <a:noFill/>
            <a:ln>
              <a:solidFill>
                <a:srgbClr val="FF0000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6175520" y="5477164"/>
              <a:ext cx="360218" cy="397164"/>
            </a:xfrm>
            <a:prstGeom prst="rect">
              <a:avLst/>
            </a:prstGeom>
            <a:noFill/>
            <a:ln>
              <a:solidFill>
                <a:srgbClr val="FF0000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6690012" y="5477164"/>
              <a:ext cx="360218" cy="397164"/>
            </a:xfrm>
            <a:prstGeom prst="rect">
              <a:avLst/>
            </a:prstGeom>
            <a:noFill/>
            <a:ln>
              <a:solidFill>
                <a:srgbClr val="FF0000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7296727" y="5472546"/>
              <a:ext cx="360218" cy="397164"/>
            </a:xfrm>
            <a:prstGeom prst="rect">
              <a:avLst/>
            </a:prstGeom>
            <a:noFill/>
            <a:ln>
              <a:solidFill>
                <a:srgbClr val="FF0000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028" name="Group 1027"/>
          <p:cNvGrpSpPr/>
          <p:nvPr/>
        </p:nvGrpSpPr>
        <p:grpSpPr>
          <a:xfrm>
            <a:off x="2623127" y="4494573"/>
            <a:ext cx="6773275" cy="1001063"/>
            <a:chOff x="1099127" y="4494573"/>
            <a:chExt cx="6773275" cy="1001063"/>
          </a:xfrm>
        </p:grpSpPr>
        <p:cxnSp>
          <p:nvCxnSpPr>
            <p:cNvPr id="59" name="Straight Arrow Connector 58"/>
            <p:cNvCxnSpPr/>
            <p:nvPr/>
          </p:nvCxnSpPr>
          <p:spPr>
            <a:xfrm flipV="1">
              <a:off x="1099127" y="4900710"/>
              <a:ext cx="0" cy="594926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5" name="Group 54"/>
            <p:cNvGrpSpPr/>
            <p:nvPr/>
          </p:nvGrpSpPr>
          <p:grpSpPr>
            <a:xfrm>
              <a:off x="1640167" y="4494573"/>
              <a:ext cx="6232235" cy="428332"/>
              <a:chOff x="1667164" y="4550903"/>
              <a:chExt cx="6232235" cy="428332"/>
            </a:xfrm>
          </p:grpSpPr>
          <p:grpSp>
            <p:nvGrpSpPr>
              <p:cNvPr id="16" name="Group 15"/>
              <p:cNvGrpSpPr/>
              <p:nvPr/>
            </p:nvGrpSpPr>
            <p:grpSpPr>
              <a:xfrm>
                <a:off x="1667164" y="4550903"/>
                <a:ext cx="484909" cy="397164"/>
                <a:chOff x="1676400" y="4620292"/>
                <a:chExt cx="447964" cy="397164"/>
              </a:xfrm>
            </p:grpSpPr>
            <p:sp>
              <p:nvSpPr>
                <p:cNvPr id="14" name="Oval 13"/>
                <p:cNvSpPr/>
                <p:nvPr/>
              </p:nvSpPr>
              <p:spPr>
                <a:xfrm>
                  <a:off x="1676400" y="4620292"/>
                  <a:ext cx="360219" cy="397164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solidFill>
                    <a:srgbClr val="00B0F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5" name="TextBox 14"/>
                <p:cNvSpPr txBox="1"/>
                <p:nvPr/>
              </p:nvSpPr>
              <p:spPr>
                <a:xfrm>
                  <a:off x="1676400" y="4634208"/>
                  <a:ext cx="447964" cy="36830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dirty="0"/>
                    <a:t>-1</a:t>
                  </a:r>
                  <a:endParaRPr lang="zh-CN" altLang="en-US" dirty="0"/>
                </a:p>
              </p:txBody>
            </p:sp>
          </p:grpSp>
          <p:grpSp>
            <p:nvGrpSpPr>
              <p:cNvPr id="18" name="Group 17"/>
              <p:cNvGrpSpPr/>
              <p:nvPr/>
            </p:nvGrpSpPr>
            <p:grpSpPr>
              <a:xfrm>
                <a:off x="2303514" y="4564819"/>
                <a:ext cx="484909" cy="397164"/>
                <a:chOff x="1676400" y="4620292"/>
                <a:chExt cx="447964" cy="397164"/>
              </a:xfrm>
            </p:grpSpPr>
            <p:sp>
              <p:nvSpPr>
                <p:cNvPr id="19" name="Oval 18"/>
                <p:cNvSpPr/>
                <p:nvPr/>
              </p:nvSpPr>
              <p:spPr>
                <a:xfrm>
                  <a:off x="1676400" y="4620292"/>
                  <a:ext cx="360219" cy="397164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solidFill>
                    <a:srgbClr val="00B0F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0" name="TextBox 19"/>
                <p:cNvSpPr txBox="1"/>
                <p:nvPr/>
              </p:nvSpPr>
              <p:spPr>
                <a:xfrm>
                  <a:off x="1676400" y="4634208"/>
                  <a:ext cx="447964" cy="36830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dirty="0"/>
                    <a:t>-5</a:t>
                  </a:r>
                  <a:endParaRPr lang="zh-CN" altLang="en-US" dirty="0"/>
                </a:p>
              </p:txBody>
            </p:sp>
          </p:grpSp>
          <p:grpSp>
            <p:nvGrpSpPr>
              <p:cNvPr id="21" name="Group 20"/>
              <p:cNvGrpSpPr/>
              <p:nvPr/>
            </p:nvGrpSpPr>
            <p:grpSpPr>
              <a:xfrm>
                <a:off x="3324804" y="4564819"/>
                <a:ext cx="484909" cy="397164"/>
                <a:chOff x="1676399" y="4620292"/>
                <a:chExt cx="447964" cy="397164"/>
              </a:xfrm>
            </p:grpSpPr>
            <p:sp>
              <p:nvSpPr>
                <p:cNvPr id="22" name="Oval 21"/>
                <p:cNvSpPr/>
                <p:nvPr/>
              </p:nvSpPr>
              <p:spPr>
                <a:xfrm>
                  <a:off x="1676400" y="4620292"/>
                  <a:ext cx="360219" cy="397164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solidFill>
                    <a:srgbClr val="00B0F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3" name="TextBox 22"/>
                <p:cNvSpPr txBox="1"/>
                <p:nvPr/>
              </p:nvSpPr>
              <p:spPr>
                <a:xfrm>
                  <a:off x="1676399" y="4634208"/>
                  <a:ext cx="447964" cy="36830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dirty="0"/>
                    <a:t>0</a:t>
                  </a:r>
                  <a:endParaRPr lang="zh-CN" altLang="en-US" dirty="0"/>
                </a:p>
              </p:txBody>
            </p:sp>
          </p:grpSp>
          <p:grpSp>
            <p:nvGrpSpPr>
              <p:cNvPr id="24" name="Group 23"/>
              <p:cNvGrpSpPr/>
              <p:nvPr/>
            </p:nvGrpSpPr>
            <p:grpSpPr>
              <a:xfrm>
                <a:off x="3989823" y="4582071"/>
                <a:ext cx="484909" cy="397164"/>
                <a:chOff x="1676400" y="4620292"/>
                <a:chExt cx="447964" cy="397164"/>
              </a:xfrm>
            </p:grpSpPr>
            <p:sp>
              <p:nvSpPr>
                <p:cNvPr id="25" name="Oval 24"/>
                <p:cNvSpPr/>
                <p:nvPr/>
              </p:nvSpPr>
              <p:spPr>
                <a:xfrm>
                  <a:off x="1676400" y="4620292"/>
                  <a:ext cx="360219" cy="397164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solidFill>
                    <a:srgbClr val="00B0F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6" name="TextBox 25"/>
                <p:cNvSpPr txBox="1"/>
                <p:nvPr/>
              </p:nvSpPr>
              <p:spPr>
                <a:xfrm>
                  <a:off x="1676400" y="4634208"/>
                  <a:ext cx="447964" cy="36830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dirty="0"/>
                    <a:t>4</a:t>
                  </a:r>
                  <a:endParaRPr lang="zh-CN" altLang="en-US" dirty="0"/>
                </a:p>
              </p:txBody>
            </p:sp>
          </p:grpSp>
          <p:grpSp>
            <p:nvGrpSpPr>
              <p:cNvPr id="27" name="Group 26"/>
              <p:cNvGrpSpPr/>
              <p:nvPr/>
            </p:nvGrpSpPr>
            <p:grpSpPr>
              <a:xfrm>
                <a:off x="4595333" y="4582071"/>
                <a:ext cx="484909" cy="397164"/>
                <a:chOff x="1676400" y="4620292"/>
                <a:chExt cx="447964" cy="397164"/>
              </a:xfrm>
            </p:grpSpPr>
            <p:sp>
              <p:nvSpPr>
                <p:cNvPr id="28" name="Oval 27"/>
                <p:cNvSpPr/>
                <p:nvPr/>
              </p:nvSpPr>
              <p:spPr>
                <a:xfrm>
                  <a:off x="1676400" y="4620292"/>
                  <a:ext cx="360219" cy="397164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solidFill>
                    <a:srgbClr val="00B0F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9" name="TextBox 28"/>
                <p:cNvSpPr txBox="1"/>
                <p:nvPr/>
              </p:nvSpPr>
              <p:spPr>
                <a:xfrm>
                  <a:off x="1676400" y="4634208"/>
                  <a:ext cx="447964" cy="36830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dirty="0"/>
                    <a:t>2</a:t>
                  </a:r>
                  <a:endParaRPr lang="zh-CN" altLang="en-US" dirty="0"/>
                </a:p>
              </p:txBody>
            </p:sp>
          </p:grpSp>
          <p:grpSp>
            <p:nvGrpSpPr>
              <p:cNvPr id="30" name="Group 29"/>
              <p:cNvGrpSpPr/>
              <p:nvPr/>
            </p:nvGrpSpPr>
            <p:grpSpPr>
              <a:xfrm>
                <a:off x="5258944" y="4582071"/>
                <a:ext cx="484909" cy="397164"/>
                <a:chOff x="1676400" y="4620292"/>
                <a:chExt cx="447964" cy="397164"/>
              </a:xfrm>
            </p:grpSpPr>
            <p:sp>
              <p:nvSpPr>
                <p:cNvPr id="31" name="Oval 30"/>
                <p:cNvSpPr/>
                <p:nvPr/>
              </p:nvSpPr>
              <p:spPr>
                <a:xfrm>
                  <a:off x="1676400" y="4620292"/>
                  <a:ext cx="360219" cy="397164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solidFill>
                    <a:srgbClr val="00B0F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2" name="TextBox 31"/>
                <p:cNvSpPr txBox="1"/>
                <p:nvPr/>
              </p:nvSpPr>
              <p:spPr>
                <a:xfrm>
                  <a:off x="1676400" y="4634208"/>
                  <a:ext cx="447964" cy="36830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dirty="0"/>
                    <a:t>8</a:t>
                  </a:r>
                  <a:endParaRPr lang="zh-CN" altLang="en-US" dirty="0"/>
                </a:p>
              </p:txBody>
            </p:sp>
          </p:grpSp>
          <p:grpSp>
            <p:nvGrpSpPr>
              <p:cNvPr id="33" name="Group 32"/>
              <p:cNvGrpSpPr/>
              <p:nvPr/>
            </p:nvGrpSpPr>
            <p:grpSpPr>
              <a:xfrm>
                <a:off x="5871984" y="4564819"/>
                <a:ext cx="484909" cy="397164"/>
                <a:chOff x="1676400" y="4620292"/>
                <a:chExt cx="447964" cy="397164"/>
              </a:xfrm>
            </p:grpSpPr>
            <p:sp>
              <p:nvSpPr>
                <p:cNvPr id="34" name="Oval 33"/>
                <p:cNvSpPr/>
                <p:nvPr/>
              </p:nvSpPr>
              <p:spPr>
                <a:xfrm>
                  <a:off x="1676400" y="4620292"/>
                  <a:ext cx="360219" cy="397164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solidFill>
                    <a:srgbClr val="00B0F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5" name="TextBox 34"/>
                <p:cNvSpPr txBox="1"/>
                <p:nvPr/>
              </p:nvSpPr>
              <p:spPr>
                <a:xfrm>
                  <a:off x="1676400" y="4634208"/>
                  <a:ext cx="447964" cy="36830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dirty="0"/>
                    <a:t>1</a:t>
                  </a:r>
                  <a:endParaRPr lang="zh-CN" altLang="en-US" dirty="0"/>
                </a:p>
              </p:txBody>
            </p:sp>
          </p:grpSp>
          <p:grpSp>
            <p:nvGrpSpPr>
              <p:cNvPr id="36" name="Group 35"/>
              <p:cNvGrpSpPr/>
              <p:nvPr/>
            </p:nvGrpSpPr>
            <p:grpSpPr>
              <a:xfrm>
                <a:off x="6697743" y="4556540"/>
                <a:ext cx="484909" cy="397164"/>
                <a:chOff x="1676400" y="4620292"/>
                <a:chExt cx="447964" cy="397164"/>
              </a:xfrm>
            </p:grpSpPr>
            <p:sp>
              <p:nvSpPr>
                <p:cNvPr id="37" name="Oval 36"/>
                <p:cNvSpPr/>
                <p:nvPr/>
              </p:nvSpPr>
              <p:spPr>
                <a:xfrm>
                  <a:off x="1676400" y="4620292"/>
                  <a:ext cx="360219" cy="397164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solidFill>
                    <a:srgbClr val="00B0F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8" name="TextBox 37"/>
                <p:cNvSpPr txBox="1"/>
                <p:nvPr/>
              </p:nvSpPr>
              <p:spPr>
                <a:xfrm>
                  <a:off x="1676400" y="4634208"/>
                  <a:ext cx="447964" cy="36830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dirty="0"/>
                    <a:t>4</a:t>
                  </a:r>
                  <a:endParaRPr lang="zh-CN" altLang="en-US" dirty="0"/>
                </a:p>
              </p:txBody>
            </p:sp>
          </p:grpSp>
          <p:grpSp>
            <p:nvGrpSpPr>
              <p:cNvPr id="39" name="Group 38"/>
              <p:cNvGrpSpPr/>
              <p:nvPr/>
            </p:nvGrpSpPr>
            <p:grpSpPr>
              <a:xfrm>
                <a:off x="7414490" y="4573792"/>
                <a:ext cx="484909" cy="397164"/>
                <a:chOff x="1676400" y="4620292"/>
                <a:chExt cx="447964" cy="397164"/>
              </a:xfrm>
            </p:grpSpPr>
            <p:sp>
              <p:nvSpPr>
                <p:cNvPr id="40" name="Oval 39"/>
                <p:cNvSpPr/>
                <p:nvPr/>
              </p:nvSpPr>
              <p:spPr>
                <a:xfrm>
                  <a:off x="1676400" y="4620292"/>
                  <a:ext cx="360219" cy="397164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solidFill>
                    <a:srgbClr val="00B0F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41" name="TextBox 40"/>
                <p:cNvSpPr txBox="1"/>
                <p:nvPr/>
              </p:nvSpPr>
              <p:spPr>
                <a:xfrm>
                  <a:off x="1676400" y="4634208"/>
                  <a:ext cx="447964" cy="36830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dirty="0"/>
                    <a:t>0</a:t>
                  </a:r>
                  <a:endParaRPr lang="zh-CN" altLang="en-US" dirty="0"/>
                </a:p>
              </p:txBody>
            </p:sp>
          </p:grpSp>
        </p:grpSp>
      </p:grpSp>
      <p:grpSp>
        <p:nvGrpSpPr>
          <p:cNvPr id="1029" name="Group 1028"/>
          <p:cNvGrpSpPr/>
          <p:nvPr/>
        </p:nvGrpSpPr>
        <p:grpSpPr>
          <a:xfrm>
            <a:off x="2623127" y="3572600"/>
            <a:ext cx="5988543" cy="1012475"/>
            <a:chOff x="1099127" y="3572600"/>
            <a:chExt cx="5988543" cy="1012475"/>
          </a:xfrm>
        </p:grpSpPr>
        <p:cxnSp>
          <p:nvCxnSpPr>
            <p:cNvPr id="61" name="Straight Arrow Connector 60"/>
            <p:cNvCxnSpPr/>
            <p:nvPr/>
          </p:nvCxnSpPr>
          <p:spPr>
            <a:xfrm flipV="1">
              <a:off x="1099127" y="3990149"/>
              <a:ext cx="0" cy="594926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6" name="Group 55"/>
            <p:cNvGrpSpPr/>
            <p:nvPr/>
          </p:nvGrpSpPr>
          <p:grpSpPr>
            <a:xfrm>
              <a:off x="2766194" y="3572600"/>
              <a:ext cx="4321476" cy="420885"/>
              <a:chOff x="2780290" y="3636707"/>
              <a:chExt cx="4321476" cy="420885"/>
            </a:xfrm>
          </p:grpSpPr>
          <p:sp>
            <p:nvSpPr>
              <p:cNvPr id="17" name="Rectangle 16"/>
              <p:cNvSpPr/>
              <p:nvPr/>
            </p:nvSpPr>
            <p:spPr>
              <a:xfrm>
                <a:off x="2780290" y="3657092"/>
                <a:ext cx="360218" cy="39716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>
                    <a:solidFill>
                      <a:schemeClr val="tx2"/>
                    </a:solidFill>
                  </a:rPr>
                  <a:t>0</a:t>
                </a:r>
                <a:endParaRPr lang="zh-CN" altLang="en-US" dirty="0">
                  <a:solidFill>
                    <a:schemeClr val="tx2"/>
                  </a:solidFill>
                </a:endParaRPr>
              </a:p>
            </p:txBody>
          </p:sp>
          <p:sp>
            <p:nvSpPr>
              <p:cNvPr id="43" name="Rectangle 42"/>
              <p:cNvSpPr/>
              <p:nvPr/>
            </p:nvSpPr>
            <p:spPr>
              <a:xfrm>
                <a:off x="4211783" y="3636707"/>
                <a:ext cx="360218" cy="39716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>
                    <a:solidFill>
                      <a:schemeClr val="tx2"/>
                    </a:solidFill>
                  </a:rPr>
                  <a:t>4</a:t>
                </a:r>
                <a:endParaRPr lang="zh-CN" altLang="en-US" dirty="0">
                  <a:solidFill>
                    <a:schemeClr val="tx2"/>
                  </a:solidFill>
                </a:endParaRPr>
              </a:p>
            </p:txBody>
          </p:sp>
          <p:sp>
            <p:nvSpPr>
              <p:cNvPr id="44" name="Rectangle 43"/>
              <p:cNvSpPr/>
              <p:nvPr/>
            </p:nvSpPr>
            <p:spPr>
              <a:xfrm>
                <a:off x="5643276" y="3660428"/>
                <a:ext cx="360218" cy="39716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>
                    <a:solidFill>
                      <a:schemeClr val="tx2"/>
                    </a:solidFill>
                  </a:rPr>
                  <a:t>8</a:t>
                </a:r>
                <a:endParaRPr lang="zh-CN" altLang="en-US" dirty="0">
                  <a:solidFill>
                    <a:schemeClr val="tx2"/>
                  </a:solidFill>
                </a:endParaRPr>
              </a:p>
            </p:txBody>
          </p:sp>
          <p:sp>
            <p:nvSpPr>
              <p:cNvPr id="45" name="Rectangle 44"/>
              <p:cNvSpPr/>
              <p:nvPr/>
            </p:nvSpPr>
            <p:spPr>
              <a:xfrm>
                <a:off x="6741548" y="3636707"/>
                <a:ext cx="360218" cy="39716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>
                    <a:solidFill>
                      <a:schemeClr val="tx2"/>
                    </a:solidFill>
                  </a:rPr>
                  <a:t>4</a:t>
                </a:r>
                <a:endParaRPr lang="zh-CN" altLang="en-US" dirty="0">
                  <a:solidFill>
                    <a:schemeClr val="tx2"/>
                  </a:solidFill>
                </a:endParaRPr>
              </a:p>
            </p:txBody>
          </p:sp>
        </p:grpSp>
      </p:grpSp>
      <p:grpSp>
        <p:nvGrpSpPr>
          <p:cNvPr id="1030" name="Group 1029"/>
          <p:cNvGrpSpPr/>
          <p:nvPr/>
        </p:nvGrpSpPr>
        <p:grpSpPr>
          <a:xfrm>
            <a:off x="2623127" y="2750307"/>
            <a:ext cx="5061385" cy="842678"/>
            <a:chOff x="1099127" y="2750307"/>
            <a:chExt cx="5061385" cy="842678"/>
          </a:xfrm>
        </p:grpSpPr>
        <p:cxnSp>
          <p:nvCxnSpPr>
            <p:cNvPr id="62" name="Straight Arrow Connector 61"/>
            <p:cNvCxnSpPr/>
            <p:nvPr/>
          </p:nvCxnSpPr>
          <p:spPr>
            <a:xfrm flipV="1">
              <a:off x="1099127" y="2998059"/>
              <a:ext cx="0" cy="594926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7" name="Group 56"/>
            <p:cNvGrpSpPr/>
            <p:nvPr/>
          </p:nvGrpSpPr>
          <p:grpSpPr>
            <a:xfrm>
              <a:off x="3815483" y="2750307"/>
              <a:ext cx="2345029" cy="415371"/>
              <a:chOff x="3809714" y="2805922"/>
              <a:chExt cx="2345029" cy="415371"/>
            </a:xfrm>
          </p:grpSpPr>
          <p:grpSp>
            <p:nvGrpSpPr>
              <p:cNvPr id="46" name="Group 45"/>
              <p:cNvGrpSpPr/>
              <p:nvPr/>
            </p:nvGrpSpPr>
            <p:grpSpPr>
              <a:xfrm>
                <a:off x="3809714" y="2824129"/>
                <a:ext cx="484909" cy="397164"/>
                <a:chOff x="1676400" y="4620292"/>
                <a:chExt cx="447964" cy="397164"/>
              </a:xfrm>
            </p:grpSpPr>
            <p:sp>
              <p:nvSpPr>
                <p:cNvPr id="47" name="Oval 46"/>
                <p:cNvSpPr/>
                <p:nvPr/>
              </p:nvSpPr>
              <p:spPr>
                <a:xfrm>
                  <a:off x="1676400" y="4620292"/>
                  <a:ext cx="360219" cy="397164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solidFill>
                    <a:srgbClr val="00B0F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48" name="TextBox 47"/>
                <p:cNvSpPr txBox="1"/>
                <p:nvPr/>
              </p:nvSpPr>
              <p:spPr>
                <a:xfrm>
                  <a:off x="1676400" y="4634208"/>
                  <a:ext cx="447964" cy="36830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dirty="0"/>
                    <a:t>0</a:t>
                  </a:r>
                  <a:endParaRPr lang="zh-CN" altLang="en-US" dirty="0"/>
                </a:p>
              </p:txBody>
            </p:sp>
          </p:grpSp>
          <p:grpSp>
            <p:nvGrpSpPr>
              <p:cNvPr id="49" name="Group 48"/>
              <p:cNvGrpSpPr/>
              <p:nvPr/>
            </p:nvGrpSpPr>
            <p:grpSpPr>
              <a:xfrm>
                <a:off x="5669834" y="2805922"/>
                <a:ext cx="484909" cy="397164"/>
                <a:chOff x="1676400" y="4620292"/>
                <a:chExt cx="447964" cy="397164"/>
              </a:xfrm>
            </p:grpSpPr>
            <p:sp>
              <p:nvSpPr>
                <p:cNvPr id="50" name="Oval 49"/>
                <p:cNvSpPr/>
                <p:nvPr/>
              </p:nvSpPr>
              <p:spPr>
                <a:xfrm>
                  <a:off x="1676400" y="4620292"/>
                  <a:ext cx="360219" cy="397164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solidFill>
                    <a:srgbClr val="00B0F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51" name="TextBox 50"/>
                <p:cNvSpPr txBox="1"/>
                <p:nvPr/>
              </p:nvSpPr>
              <p:spPr>
                <a:xfrm>
                  <a:off x="1676400" y="4634208"/>
                  <a:ext cx="447964" cy="36830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dirty="0"/>
                    <a:t>4</a:t>
                  </a:r>
                  <a:endParaRPr lang="zh-CN" altLang="en-US" dirty="0"/>
                </a:p>
              </p:txBody>
            </p:sp>
          </p:grpSp>
        </p:grpSp>
      </p:grpSp>
      <p:grpSp>
        <p:nvGrpSpPr>
          <p:cNvPr id="1043" name="Group 1042"/>
          <p:cNvGrpSpPr/>
          <p:nvPr/>
        </p:nvGrpSpPr>
        <p:grpSpPr>
          <a:xfrm>
            <a:off x="2623127" y="1993908"/>
            <a:ext cx="5777485" cy="3434704"/>
            <a:chOff x="1099127" y="1993908"/>
            <a:chExt cx="5777485" cy="3434704"/>
          </a:xfrm>
        </p:grpSpPr>
        <p:grpSp>
          <p:nvGrpSpPr>
            <p:cNvPr id="1031" name="Group 1030"/>
            <p:cNvGrpSpPr/>
            <p:nvPr/>
          </p:nvGrpSpPr>
          <p:grpSpPr>
            <a:xfrm>
              <a:off x="1099127" y="1993908"/>
              <a:ext cx="5417651" cy="788522"/>
              <a:chOff x="1099127" y="1993908"/>
              <a:chExt cx="5417651" cy="788522"/>
            </a:xfrm>
          </p:grpSpPr>
          <p:cxnSp>
            <p:nvCxnSpPr>
              <p:cNvPr id="63" name="Straight Arrow Connector 62"/>
              <p:cNvCxnSpPr/>
              <p:nvPr/>
            </p:nvCxnSpPr>
            <p:spPr>
              <a:xfrm flipV="1">
                <a:off x="1099127" y="2187504"/>
                <a:ext cx="0" cy="594926"/>
              </a:xfrm>
              <a:prstGeom prst="straightConnector1">
                <a:avLst/>
              </a:prstGeom>
              <a:ln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4" name="TextBox 53"/>
              <p:cNvSpPr txBox="1"/>
              <p:nvPr/>
            </p:nvSpPr>
            <p:spPr>
              <a:xfrm>
                <a:off x="5319335" y="1993908"/>
                <a:ext cx="1197443" cy="368300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US" altLang="zh-CN" dirty="0">
                    <a:solidFill>
                      <a:srgbClr val="FF0000"/>
                    </a:solidFill>
                  </a:rPr>
                  <a:t>Value=4</a:t>
                </a:r>
                <a:endParaRPr lang="zh-CN" altLang="en-US" dirty="0">
                  <a:solidFill>
                    <a:srgbClr val="FF0000"/>
                  </a:solidFill>
                </a:endParaRPr>
              </a:p>
            </p:txBody>
          </p:sp>
        </p:grpSp>
        <p:grpSp>
          <p:nvGrpSpPr>
            <p:cNvPr id="1039" name="Group 1038"/>
            <p:cNvGrpSpPr/>
            <p:nvPr/>
          </p:nvGrpSpPr>
          <p:grpSpPr>
            <a:xfrm>
              <a:off x="5126182" y="2397280"/>
              <a:ext cx="1750430" cy="3031332"/>
              <a:chOff x="5126182" y="2397280"/>
              <a:chExt cx="1750430" cy="3031332"/>
            </a:xfrm>
          </p:grpSpPr>
          <p:cxnSp>
            <p:nvCxnSpPr>
              <p:cNvPr id="1033" name="Straight Connector 1032"/>
              <p:cNvCxnSpPr/>
              <p:nvPr/>
            </p:nvCxnSpPr>
            <p:spPr>
              <a:xfrm>
                <a:off x="5126182" y="2397280"/>
                <a:ext cx="590674" cy="414810"/>
              </a:xfrm>
              <a:prstGeom prst="line">
                <a:avLst/>
              </a:prstGeom>
              <a:ln w="381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4" name="Straight Connector 73"/>
              <p:cNvCxnSpPr/>
              <p:nvPr/>
            </p:nvCxnSpPr>
            <p:spPr>
              <a:xfrm>
                <a:off x="6048388" y="3055645"/>
                <a:ext cx="734482" cy="497804"/>
              </a:xfrm>
              <a:prstGeom prst="line">
                <a:avLst/>
              </a:prstGeom>
              <a:ln w="381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6" name="Straight Connector 75"/>
              <p:cNvCxnSpPr/>
              <p:nvPr/>
            </p:nvCxnSpPr>
            <p:spPr>
              <a:xfrm>
                <a:off x="6782870" y="3959989"/>
                <a:ext cx="41112" cy="519143"/>
              </a:xfrm>
              <a:prstGeom prst="line">
                <a:avLst/>
              </a:prstGeom>
              <a:ln w="381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9" name="Straight Connector 78"/>
              <p:cNvCxnSpPr>
                <a:endCxn id="12" idx="0"/>
              </p:cNvCxnSpPr>
              <p:nvPr/>
            </p:nvCxnSpPr>
            <p:spPr>
              <a:xfrm flipH="1">
                <a:off x="6843124" y="4900710"/>
                <a:ext cx="33488" cy="527902"/>
              </a:xfrm>
              <a:prstGeom prst="line">
                <a:avLst/>
              </a:prstGeom>
              <a:ln w="381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custDataLst>
      <p:tags r:id="rId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zh-CN" altLang="en-US" sz="2800" b="0" i="0" dirty="0">
                <a:effectLst/>
                <a:latin typeface="+mn-ea"/>
                <a:cs typeface="+mn-ea"/>
              </a:rPr>
              <a:t>极小极大算法是考虑双方对弈若干步之后，从可能的步中选一步相对好的步法来走，即在有限的搜索</a:t>
            </a:r>
            <a:r>
              <a:rPr lang="zh-CN" altLang="en-US" sz="2800" b="0" i="0" u="none" strike="noStrike" dirty="0">
                <a:effectLst/>
                <a:latin typeface="+mn-ea"/>
                <a:cs typeface="+mn-ea"/>
              </a:rPr>
              <a:t>深度</a:t>
            </a:r>
            <a:r>
              <a:rPr lang="zh-CN" altLang="en-US" sz="2800" b="0" i="0" dirty="0">
                <a:effectLst/>
                <a:latin typeface="+mn-ea"/>
                <a:cs typeface="+mn-ea"/>
              </a:rPr>
              <a:t>范围内进行求解。</a:t>
            </a:r>
            <a:endParaRPr lang="en-US" altLang="zh-CN" sz="2800" b="0" i="0" dirty="0">
              <a:effectLst/>
              <a:latin typeface="+mn-ea"/>
              <a:cs typeface="+mn-ea"/>
            </a:endParaRPr>
          </a:p>
          <a:p>
            <a:pPr lvl="1"/>
            <a:r>
              <a:rPr lang="zh-CN" altLang="en-US" sz="2400" b="0" i="0" dirty="0">
                <a:effectLst/>
                <a:latin typeface="+mn-ea"/>
                <a:cs typeface="+mn-ea"/>
              </a:rPr>
              <a:t>当轮到玩家走步时，</a:t>
            </a:r>
            <a:r>
              <a:rPr lang="en-US" altLang="zh-CN" sz="2400" b="0" i="0" dirty="0">
                <a:effectLst/>
                <a:latin typeface="+mn-ea"/>
                <a:cs typeface="+mn-ea"/>
              </a:rPr>
              <a:t>AI</a:t>
            </a:r>
            <a:r>
              <a:rPr lang="zh-CN" altLang="en-US" sz="2400" b="0" i="0" dirty="0">
                <a:effectLst/>
                <a:latin typeface="+mn-ea"/>
                <a:cs typeface="+mn-ea"/>
              </a:rPr>
              <a:t>应该考虑最坏的情况（即</a:t>
            </a:r>
            <a:r>
              <a:rPr lang="zh-CN" altLang="en-US" sz="2400" b="0" i="0" u="sng" dirty="0">
                <a:solidFill>
                  <a:srgbClr val="FF0000"/>
                </a:solidFill>
                <a:effectLst/>
                <a:latin typeface="+mn-ea"/>
                <a:cs typeface="+mn-ea"/>
              </a:rPr>
              <a:t>评估值</a:t>
            </a:r>
            <a:r>
              <a:rPr lang="zh-CN" altLang="en-US" sz="2400" b="0" i="0" dirty="0">
                <a:effectLst/>
                <a:latin typeface="+mn-ea"/>
                <a:cs typeface="+mn-ea"/>
              </a:rPr>
              <a:t>取极小值）</a:t>
            </a:r>
            <a:endParaRPr lang="zh-CN" altLang="en-US" sz="2400" b="0" i="0" dirty="0">
              <a:effectLst/>
              <a:latin typeface="+mn-ea"/>
              <a:cs typeface="+mn-ea"/>
            </a:endParaRPr>
          </a:p>
          <a:p>
            <a:pPr lvl="1"/>
            <a:r>
              <a:rPr lang="zh-CN" altLang="en-US" sz="2400" b="0" i="0" dirty="0">
                <a:effectLst/>
                <a:latin typeface="+mn-ea"/>
                <a:cs typeface="+mn-ea"/>
              </a:rPr>
              <a:t>当轮到</a:t>
            </a:r>
            <a:r>
              <a:rPr lang="en-US" altLang="zh-CN" sz="2400" b="0" i="0" dirty="0">
                <a:effectLst/>
                <a:latin typeface="+mn-ea"/>
                <a:cs typeface="+mn-ea"/>
              </a:rPr>
              <a:t>AI</a:t>
            </a:r>
            <a:r>
              <a:rPr lang="zh-CN" altLang="en-US" sz="2400" b="0" i="0" dirty="0">
                <a:effectLst/>
                <a:latin typeface="+mn-ea"/>
                <a:cs typeface="+mn-ea"/>
              </a:rPr>
              <a:t>走步时，</a:t>
            </a:r>
            <a:r>
              <a:rPr lang="en-US" altLang="zh-CN" sz="2400" b="0" i="0" dirty="0">
                <a:effectLst/>
                <a:latin typeface="+mn-ea"/>
                <a:cs typeface="+mn-ea"/>
              </a:rPr>
              <a:t>AI</a:t>
            </a:r>
            <a:r>
              <a:rPr lang="zh-CN" altLang="en-US" sz="2400" b="0" i="0" dirty="0">
                <a:effectLst/>
                <a:latin typeface="+mn-ea"/>
                <a:cs typeface="+mn-ea"/>
              </a:rPr>
              <a:t>应该考虑最好的情况（即</a:t>
            </a:r>
            <a:r>
              <a:rPr lang="zh-CN" altLang="en-US" sz="2400" b="0" i="0" u="sng" dirty="0">
                <a:solidFill>
                  <a:srgbClr val="FF0000"/>
                </a:solidFill>
                <a:effectLst/>
                <a:latin typeface="+mn-ea"/>
                <a:cs typeface="+mn-ea"/>
              </a:rPr>
              <a:t>评估值</a:t>
            </a:r>
            <a:r>
              <a:rPr lang="zh-CN" altLang="en-US" sz="2400" b="0" i="0" dirty="0">
                <a:effectLst/>
                <a:latin typeface="+mn-ea"/>
                <a:cs typeface="+mn-ea"/>
              </a:rPr>
              <a:t>取极大值）</a:t>
            </a:r>
            <a:endParaRPr lang="zh-CN" altLang="en-US" sz="2400" b="0" i="0" dirty="0">
              <a:effectLst/>
              <a:latin typeface="+mn-ea"/>
              <a:cs typeface="+mn-ea"/>
            </a:endParaRPr>
          </a:p>
          <a:p>
            <a:pPr lvl="1"/>
            <a:r>
              <a:rPr lang="zh-CN" altLang="en-US" sz="2400" b="0" i="0" dirty="0">
                <a:effectLst/>
                <a:latin typeface="+mn-ea"/>
                <a:cs typeface="+mn-ea"/>
              </a:rPr>
              <a:t>对于两位棋手的对抗策略，交替使用上面两种方法传递倒推评估值。</a:t>
            </a:r>
            <a:endParaRPr lang="zh-CN" altLang="en-US" sz="2400" b="0" i="0" dirty="0">
              <a:effectLst/>
              <a:latin typeface="+mn-ea"/>
              <a:cs typeface="+mn-ea"/>
            </a:endParaRPr>
          </a:p>
          <a:p>
            <a:endParaRPr lang="zh-CN" altLang="en-US" sz="2800" dirty="0">
              <a:latin typeface="+mn-ea"/>
              <a:cs typeface="+mn-ea"/>
            </a:endParaRPr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4000" dirty="0" err="1"/>
              <a:t>MinMax</a:t>
            </a:r>
            <a:r>
              <a:rPr lang="en-US" altLang="zh-CN" sz="4000" dirty="0"/>
              <a:t> Algorithm</a:t>
            </a:r>
            <a:endParaRPr lang="zh-CN" altLang="en-US" sz="4000" dirty="0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sz="4400" dirty="0" err="1"/>
              <a:t>MinMax</a:t>
            </a:r>
            <a:r>
              <a:rPr lang="en-US" altLang="zh-CN" sz="4400" dirty="0"/>
              <a:t> Algorithm</a:t>
            </a:r>
            <a:endParaRPr lang="zh-CN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zh-CN" altLang="en-US" sz="2800" b="0" i="0" dirty="0">
                <a:solidFill>
                  <a:schemeClr val="tx2"/>
                </a:solidFill>
                <a:effectLst/>
                <a:latin typeface="+mn-ea"/>
                <a:cs typeface="+mn-ea"/>
              </a:rPr>
              <a:t>但是，搜索整棵树是不现实的！数据是指数级增长的，所以只能回溯</a:t>
            </a:r>
            <a:r>
              <a:rPr lang="en-US" altLang="zh-CN" sz="2800" b="0" i="0" dirty="0">
                <a:solidFill>
                  <a:schemeClr val="tx2"/>
                </a:solidFill>
                <a:effectLst/>
                <a:latin typeface="+mn-ea"/>
                <a:cs typeface="+mn-ea"/>
              </a:rPr>
              <a:t>n</a:t>
            </a:r>
            <a:r>
              <a:rPr lang="zh-CN" altLang="en-US" sz="2800" b="0" i="0" dirty="0">
                <a:solidFill>
                  <a:schemeClr val="tx2"/>
                </a:solidFill>
                <a:effectLst/>
                <a:latin typeface="+mn-ea"/>
                <a:cs typeface="+mn-ea"/>
              </a:rPr>
              <a:t>步，</a:t>
            </a:r>
            <a:r>
              <a:rPr lang="zh-CN" altLang="en-US" sz="2800" b="1" i="0" u="sng" dirty="0">
                <a:solidFill>
                  <a:schemeClr val="tx2"/>
                </a:solidFill>
                <a:effectLst/>
                <a:latin typeface="+mn-ea"/>
                <a:cs typeface="+mn-ea"/>
              </a:rPr>
              <a:t>即这个</a:t>
            </a:r>
            <a:r>
              <a:rPr lang="en-US" altLang="zh-CN" sz="2800" b="1" i="0" u="sng" dirty="0">
                <a:solidFill>
                  <a:schemeClr val="tx2"/>
                </a:solidFill>
                <a:effectLst/>
                <a:latin typeface="+mn-ea"/>
                <a:cs typeface="+mn-ea"/>
              </a:rPr>
              <a:t>AI</a:t>
            </a:r>
            <a:r>
              <a:rPr lang="zh-CN" altLang="en-US" sz="2800" b="1" i="0" u="sng" dirty="0">
                <a:solidFill>
                  <a:schemeClr val="tx2"/>
                </a:solidFill>
                <a:effectLst/>
                <a:latin typeface="+mn-ea"/>
                <a:cs typeface="+mn-ea"/>
              </a:rPr>
              <a:t>考虑的是</a:t>
            </a:r>
            <a:r>
              <a:rPr lang="en-US" altLang="zh-CN" sz="2800" b="1" i="0" u="sng" dirty="0">
                <a:solidFill>
                  <a:schemeClr val="tx2"/>
                </a:solidFill>
                <a:effectLst/>
                <a:latin typeface="+mn-ea"/>
                <a:cs typeface="+mn-ea"/>
              </a:rPr>
              <a:t>N</a:t>
            </a:r>
            <a:r>
              <a:rPr lang="zh-CN" altLang="en-US" sz="2800" b="1" i="0" u="sng" dirty="0">
                <a:solidFill>
                  <a:schemeClr val="tx2"/>
                </a:solidFill>
                <a:effectLst/>
                <a:latin typeface="+mn-ea"/>
                <a:cs typeface="+mn-ea"/>
              </a:rPr>
              <a:t>步之内的最优解。</a:t>
            </a:r>
            <a:endParaRPr lang="zh-CN" altLang="en-US" sz="2800" b="1" i="0" u="sng" dirty="0">
              <a:solidFill>
                <a:schemeClr val="tx2"/>
              </a:solidFill>
              <a:effectLst/>
              <a:latin typeface="+mn-ea"/>
              <a:cs typeface="+mn-ea"/>
            </a:endParaRPr>
          </a:p>
          <a:p>
            <a:endParaRPr lang="zh-CN" altLang="en-US" sz="2800" u="sng" dirty="0">
              <a:solidFill>
                <a:schemeClr val="tx2"/>
              </a:solidFill>
              <a:latin typeface="+mn-ea"/>
              <a:cs typeface="+mn-ea"/>
            </a:endParaRPr>
          </a:p>
          <a:p>
            <a:r>
              <a:rPr lang="zh-CN" altLang="en-US" sz="2800" dirty="0">
                <a:solidFill>
                  <a:schemeClr val="tx2"/>
                </a:solidFill>
                <a:latin typeface="+mn-ea"/>
                <a:cs typeface="+mn-ea"/>
              </a:rPr>
              <a:t>搜索深度为偶数：即</a:t>
            </a:r>
            <a:r>
              <a:rPr lang="en-US" altLang="zh-CN" sz="2800" dirty="0">
                <a:solidFill>
                  <a:schemeClr val="tx2"/>
                </a:solidFill>
                <a:latin typeface="+mn-ea"/>
                <a:cs typeface="+mn-ea"/>
              </a:rPr>
              <a:t>depth=2</a:t>
            </a:r>
            <a:r>
              <a:rPr lang="zh-CN" altLang="en-US" sz="2800" dirty="0">
                <a:solidFill>
                  <a:schemeClr val="tx2"/>
                </a:solidFill>
                <a:latin typeface="+mn-ea"/>
                <a:cs typeface="+mn-ea"/>
              </a:rPr>
              <a:t>，</a:t>
            </a:r>
            <a:r>
              <a:rPr lang="en-US" altLang="zh-CN" sz="2800" dirty="0">
                <a:solidFill>
                  <a:schemeClr val="tx2"/>
                </a:solidFill>
                <a:latin typeface="+mn-ea"/>
                <a:cs typeface="+mn-ea"/>
              </a:rPr>
              <a:t>4</a:t>
            </a:r>
            <a:r>
              <a:rPr lang="zh-CN" altLang="en-US" sz="2800" dirty="0">
                <a:solidFill>
                  <a:schemeClr val="tx2"/>
                </a:solidFill>
                <a:latin typeface="+mn-ea"/>
                <a:cs typeface="+mn-ea"/>
              </a:rPr>
              <a:t>，</a:t>
            </a:r>
            <a:r>
              <a:rPr lang="en-US" altLang="zh-CN" sz="2800" dirty="0">
                <a:solidFill>
                  <a:schemeClr val="tx2"/>
                </a:solidFill>
                <a:latin typeface="+mn-ea"/>
                <a:cs typeface="+mn-ea"/>
              </a:rPr>
              <a:t>6...</a:t>
            </a:r>
            <a:endParaRPr lang="en-US" altLang="zh-CN" sz="2800" dirty="0">
              <a:solidFill>
                <a:schemeClr val="tx2"/>
              </a:solidFill>
              <a:latin typeface="+mn-ea"/>
              <a:cs typeface="+mn-ea"/>
            </a:endParaRPr>
          </a:p>
          <a:p>
            <a:r>
              <a:rPr lang="en-US" altLang="zh-CN" sz="2800" dirty="0">
                <a:solidFill>
                  <a:schemeClr val="tx2"/>
                </a:solidFill>
                <a:latin typeface="+mn-ea"/>
                <a:cs typeface="+mn-ea"/>
              </a:rPr>
              <a:t>depth=2时，表示从AI开始走两步棋之后的局势评估，AI(走第一步) -&gt; 玩家(走第二步)，然后对局势进行评估</a:t>
            </a:r>
            <a:endParaRPr lang="en-US" altLang="zh-CN" sz="2800" dirty="0">
              <a:solidFill>
                <a:schemeClr val="tx2"/>
              </a:solidFill>
              <a:latin typeface="+mn-ea"/>
              <a:cs typeface="+mn-ea"/>
            </a:endParaRPr>
          </a:p>
          <a:p>
            <a:r>
              <a:rPr lang="en-US" altLang="zh-CN" sz="2800" dirty="0">
                <a:solidFill>
                  <a:schemeClr val="tx2"/>
                </a:solidFill>
                <a:latin typeface="+mn-ea"/>
                <a:cs typeface="+mn-ea"/>
              </a:rPr>
              <a:t>局势评估是以AI角度进行的，分值越大对AI越有利，对玩家越不利</a:t>
            </a:r>
            <a:endParaRPr lang="en-US" altLang="zh-CN" sz="2800" dirty="0">
              <a:solidFill>
                <a:schemeClr val="tx2"/>
              </a:solidFill>
              <a:latin typeface="+mn-ea"/>
              <a:cs typeface="+mn-ea"/>
            </a:endParaRP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评估函数</a:t>
            </a:r>
            <a:endParaRPr lang="zh-CN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改写</a:t>
            </a:r>
            <a:r>
              <a:rPr lang="en-US" altLang="zh-CN" dirty="0" err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calculateScore</a:t>
            </a: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()</a:t>
            </a:r>
            <a:endParaRPr lang="en-US" altLang="zh-CN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lvl="1"/>
            <a:r>
              <a:rPr lang="en-US" altLang="zh-CN" dirty="0" err="1">
                <a:ea typeface="微软雅黑" panose="020B0503020204020204" charset="-122"/>
                <a:cs typeface="Arial" panose="020B0604020202020204" pitchFamily="34" charset="0"/>
                <a:sym typeface="+mn-ea"/>
              </a:rPr>
              <a:t>MaxValue(</a:t>
            </a:r>
            <a:r>
              <a:rPr lang="zh-CN" altLang="en-US" dirty="0" err="1">
                <a:ea typeface="微软雅黑" panose="020B0503020204020204" charset="-122"/>
                <a:cs typeface="Arial" panose="020B0604020202020204" pitchFamily="34" charset="0"/>
                <a:sym typeface="+mn-ea"/>
              </a:rPr>
              <a:t>）</a:t>
            </a:r>
            <a:endParaRPr lang="zh-CN" altLang="en-US" dirty="0" err="1">
              <a:ea typeface="微软雅黑" panose="020B0503020204020204" charset="-122"/>
              <a:cs typeface="Arial" panose="020B0604020202020204" pitchFamily="34" charset="0"/>
              <a:sym typeface="+mn-ea"/>
            </a:endParaRPr>
          </a:p>
          <a:p>
            <a:pPr lvl="1"/>
            <a:r>
              <a:rPr lang="en-US" altLang="zh-CN" dirty="0" err="1"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  <a:sym typeface="+mn-ea"/>
              </a:rPr>
              <a:t>MinValue()</a:t>
            </a:r>
            <a:endParaRPr lang="en-US" altLang="zh-CN" dirty="0" err="1"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0"/>
              <a:sym typeface="+mn-ea"/>
            </a:endParaRPr>
          </a:p>
          <a:p>
            <a:pPr lvl="1"/>
            <a:r>
              <a:rPr lang="en-US" altLang="zh-CN" dirty="0" err="1"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  <a:sym typeface="+mn-ea"/>
              </a:rPr>
              <a:t>getMinMaxValue()</a:t>
            </a:r>
            <a:endParaRPr lang="en-US" altLang="zh-CN" dirty="0" err="1"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0"/>
              <a:sym typeface="+mn-ea"/>
            </a:endParaRP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AI</a:t>
            </a:r>
            <a:r>
              <a:rPr lang="zh-CN" altLang="en-US" dirty="0"/>
              <a:t>下棋层（</a:t>
            </a:r>
            <a:r>
              <a:rPr lang="en-US" altLang="zh-CN" dirty="0"/>
              <a:t>Max</a:t>
            </a:r>
            <a:r>
              <a:rPr lang="zh-CN" altLang="en-US" dirty="0"/>
              <a:t>）</a:t>
            </a:r>
            <a:endParaRPr lang="zh-CN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kumimoji="0" lang="en-US" altLang="zh-CN" sz="1800" b="0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新宋体" panose="02010609030101010101" pitchFamily="49" charset="-122"/>
                <a:ea typeface="新宋体" panose="02010609030101010101" pitchFamily="49" charset="-122"/>
                <a:cs typeface="+mn-cs"/>
              </a:rPr>
              <a:t>int</a:t>
            </a:r>
            <a:r>
              <a:rPr kumimoji="0" lang="en-US" altLang="zh-CN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新宋体" panose="02010609030101010101" pitchFamily="49" charset="-122"/>
                <a:ea typeface="新宋体" panose="02010609030101010101" pitchFamily="49" charset="-122"/>
                <a:cs typeface="+mn-cs"/>
              </a:rPr>
              <a:t> MaxValue(</a:t>
            </a:r>
            <a:r>
              <a:rPr kumimoji="0" lang="en-US" altLang="zh-CN" sz="1800" b="0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新宋体" panose="02010609030101010101" pitchFamily="49" charset="-122"/>
                <a:ea typeface="新宋体" panose="02010609030101010101" pitchFamily="49" charset="-122"/>
                <a:cs typeface="+mn-cs"/>
              </a:rPr>
              <a:t>int</a:t>
            </a:r>
            <a:r>
              <a:rPr kumimoji="0" lang="en-US" altLang="zh-CN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新宋体" panose="02010609030101010101" pitchFamily="49" charset="-122"/>
                <a:ea typeface="新宋体" panose="02010609030101010101" pitchFamily="49" charset="-122"/>
                <a:cs typeface="+mn-cs"/>
              </a:rPr>
              <a:t> </a:t>
            </a:r>
            <a:r>
              <a:rPr kumimoji="0" lang="en-US" altLang="zh-CN" sz="1800" b="0" i="0" u="none" strike="noStrike" kern="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新宋体" panose="02010609030101010101" pitchFamily="49" charset="-122"/>
                <a:ea typeface="新宋体" panose="02010609030101010101" pitchFamily="49" charset="-122"/>
                <a:cs typeface="+mn-cs"/>
              </a:rPr>
              <a:t>row</a:t>
            </a:r>
            <a:r>
              <a:rPr kumimoji="0" lang="en-US" altLang="zh-CN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新宋体" panose="02010609030101010101" pitchFamily="49" charset="-122"/>
                <a:ea typeface="新宋体" panose="02010609030101010101" pitchFamily="49" charset="-122"/>
                <a:cs typeface="+mn-cs"/>
              </a:rPr>
              <a:t>, </a:t>
            </a:r>
            <a:r>
              <a:rPr kumimoji="0" lang="en-US" altLang="zh-CN" sz="1800" b="0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新宋体" panose="02010609030101010101" pitchFamily="49" charset="-122"/>
                <a:ea typeface="新宋体" panose="02010609030101010101" pitchFamily="49" charset="-122"/>
                <a:cs typeface="+mn-cs"/>
              </a:rPr>
              <a:t>int</a:t>
            </a:r>
            <a:r>
              <a:rPr kumimoji="0" lang="en-US" altLang="zh-CN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新宋体" panose="02010609030101010101" pitchFamily="49" charset="-122"/>
                <a:ea typeface="新宋体" panose="02010609030101010101" pitchFamily="49" charset="-122"/>
                <a:cs typeface="+mn-cs"/>
              </a:rPr>
              <a:t> </a:t>
            </a:r>
            <a:r>
              <a:rPr kumimoji="0" lang="en-US" altLang="zh-CN" sz="1800" b="0" i="0" u="none" strike="noStrike" kern="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新宋体" panose="02010609030101010101" pitchFamily="49" charset="-122"/>
                <a:ea typeface="新宋体" panose="02010609030101010101" pitchFamily="49" charset="-122"/>
                <a:cs typeface="+mn-cs"/>
              </a:rPr>
              <a:t>col</a:t>
            </a:r>
            <a:r>
              <a:rPr kumimoji="0" lang="en-US" altLang="zh-CN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新宋体" panose="02010609030101010101" pitchFamily="49" charset="-122"/>
                <a:ea typeface="新宋体" panose="02010609030101010101" pitchFamily="49" charset="-122"/>
                <a:cs typeface="+mn-cs"/>
              </a:rPr>
              <a:t>, </a:t>
            </a:r>
            <a:r>
              <a:rPr kumimoji="0" lang="en-US" altLang="zh-CN" sz="1800" b="0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新宋体" panose="02010609030101010101" pitchFamily="49" charset="-122"/>
                <a:ea typeface="新宋体" panose="02010609030101010101" pitchFamily="49" charset="-122"/>
                <a:cs typeface="+mn-cs"/>
              </a:rPr>
              <a:t>int</a:t>
            </a:r>
            <a:r>
              <a:rPr kumimoji="0" lang="en-US" altLang="zh-CN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新宋体" panose="02010609030101010101" pitchFamily="49" charset="-122"/>
                <a:ea typeface="新宋体" panose="02010609030101010101" pitchFamily="49" charset="-122"/>
                <a:cs typeface="+mn-cs"/>
              </a:rPr>
              <a:t> </a:t>
            </a:r>
            <a:r>
              <a:rPr kumimoji="0" lang="en-US" altLang="zh-CN" sz="1800" b="0" i="0" u="none" strike="noStrike" kern="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新宋体" panose="02010609030101010101" pitchFamily="49" charset="-122"/>
                <a:ea typeface="新宋体" panose="02010609030101010101" pitchFamily="49" charset="-122"/>
                <a:cs typeface="+mn-cs"/>
              </a:rPr>
              <a:t>depth</a:t>
            </a:r>
            <a:r>
              <a:rPr kumimoji="0" lang="en-US" altLang="zh-CN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新宋体" panose="02010609030101010101" pitchFamily="49" charset="-122"/>
                <a:ea typeface="新宋体" panose="02010609030101010101" pitchFamily="49" charset="-122"/>
                <a:cs typeface="+mn-cs"/>
              </a:rPr>
              <a:t>){</a:t>
            </a:r>
            <a:endParaRPr kumimoji="0" lang="en-US" altLang="zh-CN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新宋体" panose="02010609030101010101" pitchFamily="49" charset="-122"/>
              <a:ea typeface="新宋体" panose="02010609030101010101" pitchFamily="49" charset="-122"/>
              <a:cs typeface="+mn-cs"/>
            </a:endParaRPr>
          </a:p>
          <a:p>
            <a:pPr marL="0" lvl="1" indent="457200">
              <a:buNone/>
            </a:pPr>
            <a:r>
              <a:rPr lang="en-US" altLang="zh-CN" sz="1800" dirty="0">
                <a:solidFill>
                  <a:schemeClr val="tx2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if (depth &lt;= 0) {</a:t>
            </a:r>
            <a:r>
              <a:rPr lang="en-US" altLang="zh-CN" sz="1800" dirty="0">
                <a:solidFill>
                  <a:srgbClr val="00B050"/>
                </a:solidFill>
                <a:latin typeface="新宋体" panose="02010609030101010101" pitchFamily="49" charset="-122"/>
                <a:ea typeface="新宋体" panose="02010609030101010101" pitchFamily="49" charset="-122"/>
                <a:sym typeface="+mn-ea"/>
              </a:rPr>
              <a:t>//</a:t>
            </a:r>
            <a:r>
              <a:rPr lang="zh-CN" altLang="en-US" sz="1800" dirty="0">
                <a:solidFill>
                  <a:srgbClr val="00B050"/>
                </a:solidFill>
                <a:latin typeface="新宋体" panose="02010609030101010101" pitchFamily="49" charset="-122"/>
                <a:ea typeface="新宋体" panose="02010609030101010101" pitchFamily="49" charset="-122"/>
                <a:sym typeface="+mn-ea"/>
              </a:rPr>
              <a:t>如果深度已经是</a:t>
            </a:r>
            <a:r>
              <a:rPr lang="en-US" altLang="zh-CN" sz="1800" dirty="0">
                <a:solidFill>
                  <a:srgbClr val="00B050"/>
                </a:solidFill>
                <a:latin typeface="新宋体" panose="02010609030101010101" pitchFamily="49" charset="-122"/>
                <a:ea typeface="新宋体" panose="02010609030101010101" pitchFamily="49" charset="-122"/>
                <a:sym typeface="+mn-ea"/>
              </a:rPr>
              <a:t>0</a:t>
            </a:r>
            <a:r>
              <a:rPr lang="zh-CN" altLang="en-US" sz="1800" dirty="0">
                <a:solidFill>
                  <a:srgbClr val="00B050"/>
                </a:solidFill>
                <a:latin typeface="新宋体" panose="02010609030101010101" pitchFamily="49" charset="-122"/>
                <a:ea typeface="新宋体" panose="02010609030101010101" pitchFamily="49" charset="-122"/>
                <a:sym typeface="+mn-ea"/>
              </a:rPr>
              <a:t>了，直接返回</a:t>
            </a:r>
            <a:r>
              <a:rPr lang="en-US" altLang="zh-CN" sz="1800" dirty="0">
                <a:solidFill>
                  <a:srgbClr val="00B050"/>
                </a:solidFill>
                <a:latin typeface="新宋体" panose="02010609030101010101" pitchFamily="49" charset="-122"/>
                <a:ea typeface="新宋体" panose="02010609030101010101" pitchFamily="49" charset="-122"/>
                <a:sym typeface="+mn-ea"/>
              </a:rPr>
              <a:t>value</a:t>
            </a:r>
            <a:endParaRPr lang="en-US" altLang="zh-CN" sz="1800" dirty="0">
              <a:solidFill>
                <a:schemeClr val="tx2"/>
              </a:solidFill>
              <a:latin typeface="新宋体" panose="02010609030101010101" pitchFamily="49" charset="-122"/>
              <a:ea typeface="新宋体" panose="02010609030101010101" pitchFamily="49" charset="-122"/>
            </a:endParaRPr>
          </a:p>
          <a:p>
            <a:pPr marL="857250" lvl="2" indent="0">
              <a:buNone/>
            </a:pPr>
            <a:r>
              <a:rPr lang="en-US" altLang="zh-CN" sz="1800" dirty="0">
                <a:solidFill>
                  <a:schemeClr val="tx2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	return </a:t>
            </a:r>
            <a:r>
              <a:rPr lang="en-US" altLang="zh-CN" sz="1800" dirty="0">
                <a:solidFill>
                  <a:schemeClr val="tx1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evaluate(row, col, AIPlayer) - evaluate(row, col, HumanPlayer);</a:t>
            </a:r>
            <a:endParaRPr lang="en-US" altLang="zh-CN" sz="1800" dirty="0">
              <a:solidFill>
                <a:schemeClr val="tx2"/>
              </a:solidFill>
              <a:latin typeface="新宋体" panose="02010609030101010101" pitchFamily="49" charset="-122"/>
              <a:ea typeface="新宋体" panose="02010609030101010101" pitchFamily="49" charset="-122"/>
            </a:endParaRPr>
          </a:p>
          <a:p>
            <a:pPr marL="857250" lvl="2" indent="0">
              <a:buNone/>
            </a:pPr>
            <a:r>
              <a:rPr lang="en-US" altLang="zh-CN" sz="1800" dirty="0">
                <a:solidFill>
                  <a:schemeClr val="tx2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}</a:t>
            </a:r>
            <a:endParaRPr lang="en-US" altLang="zh-CN" sz="1800" dirty="0">
              <a:solidFill>
                <a:srgbClr val="00B050"/>
              </a:solidFill>
              <a:latin typeface="新宋体" panose="02010609030101010101" pitchFamily="49" charset="-122"/>
              <a:ea typeface="新宋体" panose="02010609030101010101" pitchFamily="49" charset="-122"/>
            </a:endParaRPr>
          </a:p>
          <a:p>
            <a:pPr marL="400050" lvl="1" indent="0">
              <a:buNone/>
            </a:pPr>
            <a:r>
              <a:rPr lang="en-US" altLang="zh-CN" sz="1600" dirty="0">
                <a:solidFill>
                  <a:srgbClr val="0000FF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int</a:t>
            </a:r>
            <a:r>
              <a:rPr lang="en-US" altLang="zh-CN" sz="1600" dirty="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 maxValue = </a:t>
            </a:r>
            <a:r>
              <a:rPr lang="en-US" altLang="zh-CN" sz="1600" dirty="0">
                <a:solidFill>
                  <a:srgbClr val="6F008A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INT_MIN</a:t>
            </a:r>
            <a:r>
              <a:rPr lang="en-US" altLang="zh-CN" sz="1600" dirty="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; //</a:t>
            </a:r>
            <a:r>
              <a:rPr lang="zh-CN" altLang="en-US" sz="1600" dirty="0">
                <a:solidFill>
                  <a:srgbClr val="00B05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把极大值设为无限小</a:t>
            </a:r>
            <a:endParaRPr lang="en-US" altLang="zh-CN" sz="1600" dirty="0">
              <a:solidFill>
                <a:srgbClr val="000000"/>
              </a:solidFill>
              <a:latin typeface="新宋体" panose="02010609030101010101" pitchFamily="49" charset="-122"/>
              <a:ea typeface="新宋体" panose="02010609030101010101" pitchFamily="49" charset="-122"/>
            </a:endParaRPr>
          </a:p>
          <a:p>
            <a:pPr marL="0" indent="0">
              <a:buNone/>
            </a:pPr>
            <a:r>
              <a:rPr lang="en-US" altLang="zh-CN" sz="1600" dirty="0">
                <a:solidFill>
                  <a:srgbClr val="00B05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     /*</a:t>
            </a:r>
            <a:r>
              <a:rPr lang="zh-CN" altLang="en-US" sz="1600" dirty="0">
                <a:solidFill>
                  <a:srgbClr val="00B05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扫描整个棋盘 *</a:t>
            </a:r>
            <a:r>
              <a:rPr lang="en-US" altLang="zh-CN" sz="1600" dirty="0">
                <a:solidFill>
                  <a:srgbClr val="00B05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/</a:t>
            </a:r>
            <a:endParaRPr lang="en-US" altLang="zh-CN" sz="1600" dirty="0">
              <a:solidFill>
                <a:srgbClr val="00B050"/>
              </a:solidFill>
              <a:latin typeface="新宋体" panose="02010609030101010101" pitchFamily="49" charset="-122"/>
              <a:ea typeface="新宋体" panose="02010609030101010101" pitchFamily="49" charset="-122"/>
            </a:endParaRPr>
          </a:p>
          <a:p>
            <a:pPr marL="0" indent="0">
              <a:buNone/>
            </a:pPr>
            <a:r>
              <a:rPr lang="nn-NO" altLang="zh-CN" sz="1600" dirty="0">
                <a:solidFill>
                  <a:srgbClr val="0000FF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	</a:t>
            </a:r>
            <a:r>
              <a:rPr lang="en-US" altLang="zh-CN" sz="1600" dirty="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…;</a:t>
            </a:r>
            <a:r>
              <a:rPr lang="en-US" altLang="zh-CN" sz="1600" dirty="0">
                <a:solidFill>
                  <a:srgbClr val="00B05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//</a:t>
            </a:r>
            <a:r>
              <a:rPr lang="zh-CN" altLang="en-US" sz="1600" dirty="0">
                <a:solidFill>
                  <a:srgbClr val="00B05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假设在当前空点放置了</a:t>
            </a:r>
            <a:r>
              <a:rPr lang="en-US" altLang="zh-CN" sz="1600" dirty="0">
                <a:solidFill>
                  <a:srgbClr val="00B05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AI</a:t>
            </a:r>
            <a:r>
              <a:rPr lang="zh-CN" altLang="en-US" sz="1600" dirty="0">
                <a:solidFill>
                  <a:srgbClr val="00B05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的棋子 </a:t>
            </a:r>
            <a:r>
              <a:rPr lang="en-US" altLang="zh-CN" sz="1600" dirty="0" err="1">
                <a:solidFill>
                  <a:srgbClr val="00B05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chessBox</a:t>
            </a:r>
            <a:r>
              <a:rPr lang="en-US" altLang="zh-CN" sz="1600" dirty="0">
                <a:solidFill>
                  <a:srgbClr val="00B05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[i][j]=</a:t>
            </a:r>
            <a:r>
              <a:rPr lang="en-US" altLang="zh-CN" sz="1600" dirty="0" err="1">
                <a:solidFill>
                  <a:srgbClr val="00B05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aicolor</a:t>
            </a:r>
            <a:endParaRPr lang="en-US" altLang="zh-CN" sz="1600" dirty="0">
              <a:solidFill>
                <a:srgbClr val="00B050"/>
              </a:solidFill>
              <a:latin typeface="新宋体" panose="02010609030101010101" pitchFamily="49" charset="-122"/>
              <a:ea typeface="新宋体" panose="02010609030101010101" pitchFamily="49" charset="-122"/>
            </a:endParaRPr>
          </a:p>
          <a:p>
            <a:pPr marL="0" indent="0">
              <a:buNone/>
            </a:pPr>
            <a:r>
              <a:rPr lang="en-US" altLang="zh-CN" sz="1600" dirty="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	</a:t>
            </a:r>
            <a:r>
              <a:rPr lang="sv-SE" altLang="zh-CN" sz="1600" dirty="0">
                <a:solidFill>
                  <a:srgbClr val="0000FF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int</a:t>
            </a:r>
            <a:r>
              <a:rPr lang="sv-SE" altLang="zh-CN" sz="1600" dirty="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 </a:t>
            </a:r>
            <a:r>
              <a:rPr lang="en-US" altLang="sv-SE" sz="1600" dirty="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score</a:t>
            </a:r>
            <a:r>
              <a:rPr lang="sv-SE" altLang="zh-CN" sz="1600" dirty="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 = M</a:t>
            </a:r>
            <a:r>
              <a:rPr lang="en-US" altLang="zh-CN" sz="1600" dirty="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in</a:t>
            </a:r>
            <a:r>
              <a:rPr lang="sv-SE" altLang="zh-CN" sz="1600" dirty="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Value(</a:t>
            </a:r>
            <a:r>
              <a:rPr lang="en-US" altLang="sv-SE" sz="1600" dirty="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i</a:t>
            </a:r>
            <a:r>
              <a:rPr lang="sv-SE" altLang="zh-CN" sz="1600" dirty="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, </a:t>
            </a:r>
            <a:r>
              <a:rPr lang="en-US" altLang="sv-SE" sz="1600" dirty="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j</a:t>
            </a:r>
            <a:r>
              <a:rPr lang="sv-SE" altLang="zh-CN" sz="1600" dirty="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, </a:t>
            </a:r>
            <a:r>
              <a:rPr lang="sv-SE" altLang="zh-CN" sz="1600" dirty="0">
                <a:solidFill>
                  <a:srgbClr val="80808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depth</a:t>
            </a:r>
            <a:r>
              <a:rPr lang="sv-SE" altLang="zh-CN" sz="1600" dirty="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-1); </a:t>
            </a:r>
            <a:r>
              <a:rPr lang="sv-SE" altLang="zh-CN" sz="1600" dirty="0">
                <a:solidFill>
                  <a:srgbClr val="00B05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//</a:t>
            </a:r>
            <a:r>
              <a:rPr lang="en-US" altLang="sv-SE" sz="1600" dirty="0">
                <a:solidFill>
                  <a:srgbClr val="00B05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score</a:t>
            </a:r>
            <a:r>
              <a:rPr lang="sv-SE" altLang="zh-CN" sz="1600" dirty="0">
                <a:solidFill>
                  <a:srgbClr val="00B05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 </a:t>
            </a:r>
            <a:r>
              <a:rPr lang="zh-CN" altLang="en-US" sz="1600" dirty="0">
                <a:solidFill>
                  <a:srgbClr val="00B05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记录评估值，</a:t>
            </a:r>
            <a:r>
              <a:rPr lang="zh-CN" altLang="en-US" sz="1600" dirty="0">
                <a:solidFill>
                  <a:srgbClr val="00B050"/>
                </a:solidFill>
                <a:latin typeface="新宋体" panose="02010609030101010101" pitchFamily="49" charset="-122"/>
                <a:ea typeface="新宋体" panose="02010609030101010101" pitchFamily="49" charset="-122"/>
                <a:sym typeface="+mn-ea"/>
              </a:rPr>
              <a:t>调用计算极小值的函数</a:t>
            </a:r>
            <a:endParaRPr lang="en-US" altLang="zh-CN" sz="1600" dirty="0">
              <a:solidFill>
                <a:srgbClr val="00B050"/>
              </a:solidFill>
              <a:latin typeface="新宋体" panose="02010609030101010101" pitchFamily="49" charset="-122"/>
              <a:ea typeface="新宋体" panose="02010609030101010101" pitchFamily="49" charset="-122"/>
            </a:endParaRPr>
          </a:p>
          <a:p>
            <a:pPr marL="0" indent="0">
              <a:buNone/>
            </a:pPr>
            <a:r>
              <a:rPr lang="en-US" altLang="zh-CN" sz="1600" dirty="0">
                <a:solidFill>
                  <a:schemeClr val="accent5">
                    <a:lumMod val="90000"/>
                  </a:schemeClr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	</a:t>
            </a:r>
            <a:r>
              <a:rPr lang="en-US" altLang="zh-CN" sz="1600" dirty="0">
                <a:solidFill>
                  <a:srgbClr val="00B05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/* </a:t>
            </a:r>
            <a:r>
              <a:rPr lang="zh-CN" altLang="en-US" sz="1600" dirty="0">
                <a:solidFill>
                  <a:srgbClr val="00B05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比较 </a:t>
            </a:r>
            <a:r>
              <a:rPr lang="en-US" altLang="zh-CN" sz="1600" dirty="0">
                <a:solidFill>
                  <a:srgbClr val="00B05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score</a:t>
            </a:r>
            <a:r>
              <a:rPr lang="zh-CN" altLang="en-US" sz="1600" dirty="0">
                <a:solidFill>
                  <a:srgbClr val="00B05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值</a:t>
            </a:r>
            <a:r>
              <a:rPr lang="en-US" altLang="zh-CN" sz="1600" dirty="0">
                <a:solidFill>
                  <a:srgbClr val="00B05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,</a:t>
            </a:r>
            <a:r>
              <a:rPr lang="zh-CN" altLang="en-US" sz="1600" dirty="0">
                <a:solidFill>
                  <a:srgbClr val="00B05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更新</a:t>
            </a:r>
            <a:r>
              <a:rPr lang="en-US" altLang="zh-CN" sz="1600" dirty="0">
                <a:solidFill>
                  <a:srgbClr val="00B05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maxValue</a:t>
            </a:r>
            <a:r>
              <a:rPr lang="zh-CN" altLang="en-US" sz="1600" dirty="0">
                <a:solidFill>
                  <a:srgbClr val="00B05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*</a:t>
            </a:r>
            <a:r>
              <a:rPr lang="en-US" altLang="zh-CN" sz="1600" dirty="0">
                <a:solidFill>
                  <a:srgbClr val="00B05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/</a:t>
            </a:r>
            <a:endParaRPr lang="en-US" altLang="zh-CN" sz="1600" dirty="0">
              <a:solidFill>
                <a:srgbClr val="00B050"/>
              </a:solidFill>
              <a:latin typeface="新宋体" panose="02010609030101010101" pitchFamily="49" charset="-122"/>
              <a:ea typeface="新宋体" panose="02010609030101010101" pitchFamily="49" charset="-122"/>
            </a:endParaRPr>
          </a:p>
          <a:p>
            <a:pPr marL="0" indent="0">
              <a:buNone/>
            </a:pPr>
            <a:r>
              <a:rPr lang="en-US" altLang="zh-CN" sz="1600" dirty="0">
                <a:solidFill>
                  <a:srgbClr val="00B05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	</a:t>
            </a:r>
            <a:r>
              <a:rPr lang="en-US" altLang="zh-CN" sz="1600" dirty="0">
                <a:gradFill>
                  <a:gsLst>
                    <a:gs pos="50410">
                      <a:srgbClr val="1F1F1F"/>
                    </a:gs>
                    <a:gs pos="0">
                      <a:srgbClr val="020202"/>
                    </a:gs>
                    <a:gs pos="100000">
                      <a:srgbClr val="424242"/>
                    </a:gs>
                  </a:gsLst>
                  <a:lin ang="5400000" scaled="1"/>
                </a:gradFill>
                <a:latin typeface="新宋体" panose="02010609030101010101" pitchFamily="49" charset="-122"/>
                <a:ea typeface="新宋体" panose="02010609030101010101" pitchFamily="49" charset="-122"/>
              </a:rPr>
              <a:t>maxValue = max(maxValue, score);	    </a:t>
            </a:r>
            <a:r>
              <a:rPr lang="en-US" altLang="zh-CN" sz="1600" dirty="0">
                <a:solidFill>
                  <a:schemeClr val="accent4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  </a:t>
            </a:r>
            <a:endParaRPr lang="en-US" altLang="zh-CN" sz="1600" dirty="0">
              <a:solidFill>
                <a:schemeClr val="accent4"/>
              </a:solidFill>
              <a:latin typeface="新宋体" panose="02010609030101010101" pitchFamily="49" charset="-122"/>
              <a:ea typeface="新宋体" panose="02010609030101010101" pitchFamily="49" charset="-122"/>
            </a:endParaRPr>
          </a:p>
          <a:p>
            <a:pPr marL="0" indent="0">
              <a:buNone/>
            </a:pPr>
            <a:r>
              <a:rPr lang="en-US" altLang="zh-CN" sz="1600" dirty="0">
                <a:solidFill>
                  <a:schemeClr val="accent4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         …;</a:t>
            </a:r>
            <a:r>
              <a:rPr lang="en-US" altLang="zh-CN" sz="1600" dirty="0">
                <a:solidFill>
                  <a:srgbClr val="00B05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//</a:t>
            </a:r>
            <a:r>
              <a:rPr lang="zh-CN" altLang="en-US" sz="1600" dirty="0">
                <a:solidFill>
                  <a:srgbClr val="00B05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把棋盘恢复到当前状态 </a:t>
            </a:r>
            <a:r>
              <a:rPr lang="en-US" altLang="zh-CN" sz="1600" dirty="0">
                <a:solidFill>
                  <a:srgbClr val="00B05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//</a:t>
            </a:r>
            <a:r>
              <a:rPr lang="zh-CN" altLang="en-US" sz="1600" dirty="0">
                <a:solidFill>
                  <a:srgbClr val="00B05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返回</a:t>
            </a:r>
            <a:r>
              <a:rPr lang="en-US" altLang="zh-CN" sz="1600" dirty="0">
                <a:solidFill>
                  <a:srgbClr val="00B05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maxValue</a:t>
            </a:r>
            <a:endParaRPr kumimoji="0" lang="en-US" altLang="zh-CN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新宋体" panose="02010609030101010101" pitchFamily="49" charset="-122"/>
              <a:ea typeface="新宋体" panose="02010609030101010101" pitchFamily="49" charset="-122"/>
              <a:cs typeface="+mn-cs"/>
            </a:endParaRPr>
          </a:p>
          <a:p>
            <a:pPr marL="0" indent="0">
              <a:buNone/>
            </a:pPr>
            <a:r>
              <a: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新宋体" panose="02010609030101010101" pitchFamily="49" charset="-122"/>
                <a:ea typeface="新宋体" panose="02010609030101010101" pitchFamily="49" charset="-122"/>
                <a:cs typeface="+mn-cs"/>
              </a:rPr>
              <a:t>｝</a:t>
            </a: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新宋体" panose="02010609030101010101" pitchFamily="49" charset="-122"/>
              <a:ea typeface="新宋体" panose="02010609030101010101" pitchFamily="49" charset="-122"/>
              <a:cs typeface="+mn-cs"/>
            </a:endParaRP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玩家下棋层</a:t>
            </a:r>
            <a:r>
              <a:rPr lang="en-US" altLang="zh-CN" dirty="0"/>
              <a:t>(Min)</a:t>
            </a:r>
            <a:endParaRPr lang="zh-CN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8400" y="868100"/>
            <a:ext cx="10969200" cy="4759200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altLang="zh-CN" sz="1600" dirty="0">
                <a:solidFill>
                  <a:srgbClr val="0000FF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int</a:t>
            </a:r>
            <a:r>
              <a:rPr lang="en-US" altLang="zh-CN" sz="1600" dirty="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 MinValue(</a:t>
            </a:r>
            <a:r>
              <a:rPr lang="en-US" altLang="zh-CN" sz="1600" dirty="0">
                <a:solidFill>
                  <a:srgbClr val="0000FF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int</a:t>
            </a:r>
            <a:r>
              <a:rPr lang="en-US" altLang="zh-CN" sz="1600" dirty="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 </a:t>
            </a:r>
            <a:r>
              <a:rPr lang="en-US" altLang="zh-CN" sz="1600" dirty="0">
                <a:solidFill>
                  <a:srgbClr val="80808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row</a:t>
            </a:r>
            <a:r>
              <a:rPr lang="en-US" altLang="zh-CN" sz="1600" dirty="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, </a:t>
            </a:r>
            <a:r>
              <a:rPr lang="en-US" altLang="zh-CN" sz="1600" dirty="0">
                <a:solidFill>
                  <a:srgbClr val="0000FF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int</a:t>
            </a:r>
            <a:r>
              <a:rPr lang="en-US" altLang="zh-CN" sz="1600" dirty="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 </a:t>
            </a:r>
            <a:r>
              <a:rPr lang="en-US" altLang="zh-CN" sz="1600" dirty="0">
                <a:solidFill>
                  <a:srgbClr val="80808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col</a:t>
            </a:r>
            <a:r>
              <a:rPr lang="en-US" altLang="zh-CN" sz="1600" dirty="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, </a:t>
            </a:r>
            <a:r>
              <a:rPr lang="en-US" altLang="zh-CN" sz="1600" dirty="0">
                <a:solidFill>
                  <a:srgbClr val="0000FF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int</a:t>
            </a:r>
            <a:r>
              <a:rPr lang="en-US" altLang="zh-CN" sz="1600" dirty="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 </a:t>
            </a:r>
            <a:r>
              <a:rPr lang="en-US" altLang="zh-CN" sz="1600" dirty="0">
                <a:solidFill>
                  <a:srgbClr val="80808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depth</a:t>
            </a:r>
            <a:r>
              <a:rPr lang="en-US" altLang="zh-CN" sz="1600" dirty="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) { </a:t>
            </a:r>
            <a:r>
              <a:rPr lang="zh-CN" altLang="en-US" sz="1600" dirty="0">
                <a:solidFill>
                  <a:srgbClr val="00B05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//玩家下棋层</a:t>
            </a:r>
            <a:endParaRPr lang="en-US" altLang="zh-CN" sz="1600" dirty="0">
              <a:solidFill>
                <a:srgbClr val="000000"/>
              </a:solidFill>
              <a:latin typeface="新宋体" panose="02010609030101010101" pitchFamily="49" charset="-122"/>
              <a:ea typeface="新宋体" panose="02010609030101010101" pitchFamily="49" charset="-122"/>
            </a:endParaRPr>
          </a:p>
          <a:p>
            <a:pPr marL="400050" lvl="1" indent="0">
              <a:lnSpc>
                <a:spcPct val="100000"/>
              </a:lnSpc>
              <a:buNone/>
            </a:pPr>
            <a:r>
              <a:rPr lang="en-US" altLang="zh-CN" sz="1600">
                <a:latin typeface="新宋体" panose="02010609030101010101" pitchFamily="49" charset="-122"/>
                <a:ea typeface="新宋体" panose="02010609030101010101" pitchFamily="49" charset="-122"/>
              </a:rPr>
              <a:t>if (depth &lt;= 0) { </a:t>
            </a:r>
            <a:r>
              <a:rPr lang="en-US" altLang="zh-CN" sz="1600" dirty="0">
                <a:solidFill>
                  <a:srgbClr val="00B050"/>
                </a:solidFill>
                <a:latin typeface="新宋体" panose="02010609030101010101" pitchFamily="49" charset="-122"/>
                <a:ea typeface="新宋体" panose="02010609030101010101" pitchFamily="49" charset="-122"/>
                <a:sym typeface="+mn-ea"/>
              </a:rPr>
              <a:t>//</a:t>
            </a:r>
            <a:r>
              <a:rPr lang="zh-CN" altLang="en-US" sz="1600" dirty="0">
                <a:solidFill>
                  <a:srgbClr val="00B050"/>
                </a:solidFill>
                <a:latin typeface="新宋体" panose="02010609030101010101" pitchFamily="49" charset="-122"/>
                <a:ea typeface="新宋体" panose="02010609030101010101" pitchFamily="49" charset="-122"/>
                <a:sym typeface="+mn-ea"/>
              </a:rPr>
              <a:t>如果深度已经是</a:t>
            </a:r>
            <a:r>
              <a:rPr lang="en-US" altLang="zh-CN" sz="1600" dirty="0">
                <a:solidFill>
                  <a:srgbClr val="00B050"/>
                </a:solidFill>
                <a:latin typeface="新宋体" panose="02010609030101010101" pitchFamily="49" charset="-122"/>
                <a:ea typeface="新宋体" panose="02010609030101010101" pitchFamily="49" charset="-122"/>
                <a:sym typeface="+mn-ea"/>
              </a:rPr>
              <a:t>0</a:t>
            </a:r>
            <a:r>
              <a:rPr lang="zh-CN" altLang="en-US" sz="1600" dirty="0">
                <a:solidFill>
                  <a:srgbClr val="00B050"/>
                </a:solidFill>
                <a:latin typeface="新宋体" panose="02010609030101010101" pitchFamily="49" charset="-122"/>
                <a:ea typeface="新宋体" panose="02010609030101010101" pitchFamily="49" charset="-122"/>
                <a:sym typeface="+mn-ea"/>
              </a:rPr>
              <a:t>了，直接返回评估值</a:t>
            </a:r>
            <a:endParaRPr lang="en-US" altLang="zh-CN" sz="1600">
              <a:latin typeface="新宋体" panose="02010609030101010101" pitchFamily="49" charset="-122"/>
              <a:ea typeface="新宋体" panose="02010609030101010101" pitchFamily="49" charset="-122"/>
            </a:endParaRPr>
          </a:p>
          <a:p>
            <a:pPr marL="400050" lvl="1" indent="457200">
              <a:lnSpc>
                <a:spcPct val="100000"/>
              </a:lnSpc>
              <a:buNone/>
            </a:pPr>
            <a:r>
              <a:rPr lang="en-US" altLang="zh-CN" sz="1600">
                <a:latin typeface="新宋体" panose="02010609030101010101" pitchFamily="49" charset="-122"/>
                <a:ea typeface="新宋体" panose="02010609030101010101" pitchFamily="49" charset="-122"/>
              </a:rPr>
              <a:t>return </a:t>
            </a:r>
            <a:r>
              <a:rPr lang="en-US" altLang="zh-CN" sz="1600">
                <a:solidFill>
                  <a:schemeClr val="tx1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evaluate(row, col, AIPlayer) - evaluate(row, col, HumanPlayer);</a:t>
            </a:r>
            <a:endParaRPr lang="en-US" altLang="zh-CN" sz="1600">
              <a:latin typeface="新宋体" panose="02010609030101010101" pitchFamily="49" charset="-122"/>
              <a:ea typeface="新宋体" panose="02010609030101010101" pitchFamily="49" charset="-122"/>
            </a:endParaRPr>
          </a:p>
          <a:p>
            <a:pPr marL="400050" lvl="1" indent="0">
              <a:lnSpc>
                <a:spcPct val="100000"/>
              </a:lnSpc>
              <a:buNone/>
            </a:pPr>
            <a:r>
              <a:rPr lang="en-US" altLang="zh-CN" sz="1600">
                <a:latin typeface="新宋体" panose="02010609030101010101" pitchFamily="49" charset="-122"/>
                <a:ea typeface="新宋体" panose="02010609030101010101" pitchFamily="49" charset="-122"/>
              </a:rPr>
              <a:t>}</a:t>
            </a:r>
            <a:r>
              <a:rPr lang="en-US" altLang="zh-CN" sz="1600" dirty="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 </a:t>
            </a:r>
            <a:r>
              <a:rPr lang="en-US" altLang="zh-CN" sz="1600" dirty="0">
                <a:solidFill>
                  <a:srgbClr val="00B05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//</a:t>
            </a:r>
            <a:r>
              <a:rPr lang="zh-CN" altLang="en-US" sz="1600" dirty="0">
                <a:solidFill>
                  <a:srgbClr val="00B05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针对当前棋盘获得评估函数的值，如果玩家下在这个地方，会对</a:t>
            </a:r>
            <a:r>
              <a:rPr lang="en-US" altLang="zh-CN" sz="1600" dirty="0">
                <a:solidFill>
                  <a:srgbClr val="00B05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AI</a:t>
            </a:r>
            <a:r>
              <a:rPr lang="zh-CN" altLang="en-US" sz="1600" dirty="0">
                <a:solidFill>
                  <a:srgbClr val="00B05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产生负价值</a:t>
            </a:r>
            <a:endParaRPr lang="en-US" altLang="zh-CN" sz="1600" dirty="0">
              <a:solidFill>
                <a:srgbClr val="00B050"/>
              </a:solidFill>
              <a:latin typeface="新宋体" panose="02010609030101010101" pitchFamily="49" charset="-122"/>
              <a:ea typeface="新宋体" panose="02010609030101010101" pitchFamily="49" charset="-122"/>
            </a:endParaRPr>
          </a:p>
          <a:p>
            <a:pPr marL="400050" lvl="1" indent="0">
              <a:lnSpc>
                <a:spcPct val="100000"/>
              </a:lnSpc>
              <a:buNone/>
            </a:pPr>
            <a:r>
              <a:rPr lang="en-US" altLang="zh-CN" sz="1600" dirty="0">
                <a:solidFill>
                  <a:schemeClr val="tx2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…;</a:t>
            </a:r>
            <a:endParaRPr lang="en-US" altLang="zh-CN" sz="1600" dirty="0">
              <a:solidFill>
                <a:srgbClr val="000000"/>
              </a:solidFill>
              <a:latin typeface="新宋体" panose="02010609030101010101" pitchFamily="49" charset="-122"/>
              <a:ea typeface="新宋体" panose="02010609030101010101" pitchFamily="49" charset="-122"/>
            </a:endParaRPr>
          </a:p>
          <a:p>
            <a:pPr marL="400050" lvl="1" indent="0">
              <a:lnSpc>
                <a:spcPct val="100000"/>
              </a:lnSpc>
              <a:buNone/>
            </a:pPr>
            <a:r>
              <a:rPr lang="en-US" altLang="zh-CN" sz="1600" dirty="0">
                <a:solidFill>
                  <a:srgbClr val="0000FF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int</a:t>
            </a:r>
            <a:r>
              <a:rPr lang="en-US" altLang="zh-CN" sz="1600" dirty="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 </a:t>
            </a:r>
            <a:r>
              <a:rPr lang="en-US" altLang="zh-CN" sz="1600" dirty="0" err="1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minValue</a:t>
            </a:r>
            <a:r>
              <a:rPr lang="en-US" altLang="zh-CN" sz="1600" dirty="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 = </a:t>
            </a:r>
            <a:r>
              <a:rPr lang="en-US" altLang="zh-CN" sz="1600" dirty="0">
                <a:solidFill>
                  <a:srgbClr val="6F008A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INT_MAX</a:t>
            </a:r>
            <a:r>
              <a:rPr lang="en-US" altLang="zh-CN" sz="1600" dirty="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; //</a:t>
            </a:r>
            <a:r>
              <a:rPr lang="zh-CN" altLang="en-US" sz="1600" dirty="0">
                <a:solidFill>
                  <a:srgbClr val="00B05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把极小值</a:t>
            </a:r>
            <a:r>
              <a:rPr lang="zh-CN" altLang="en-US" sz="1600" dirty="0">
                <a:solidFill>
                  <a:srgbClr val="00B050"/>
                </a:solidFill>
                <a:latin typeface="新宋体" panose="02010609030101010101" pitchFamily="49" charset="-122"/>
                <a:ea typeface="新宋体" panose="02010609030101010101" pitchFamily="49" charset="-122"/>
                <a:sym typeface="+mn-ea"/>
              </a:rPr>
              <a:t>设为无限大</a:t>
            </a:r>
            <a:endParaRPr lang="en-US" altLang="zh-CN" sz="1600" dirty="0">
              <a:solidFill>
                <a:srgbClr val="00B050"/>
              </a:solidFill>
              <a:latin typeface="新宋体" panose="02010609030101010101" pitchFamily="49" charset="-122"/>
              <a:ea typeface="新宋体" panose="02010609030101010101" pitchFamily="49" charset="-122"/>
            </a:endParaRPr>
          </a:p>
          <a:p>
            <a:pPr marL="400050" lvl="1" indent="0">
              <a:lnSpc>
                <a:spcPct val="100000"/>
              </a:lnSpc>
              <a:buNone/>
            </a:pPr>
            <a:endParaRPr lang="en-US" altLang="zh-CN" sz="1600" dirty="0">
              <a:solidFill>
                <a:srgbClr val="000000"/>
              </a:solidFill>
              <a:latin typeface="新宋体" panose="02010609030101010101" pitchFamily="49" charset="-122"/>
              <a:ea typeface="新宋体" panose="02010609030101010101" pitchFamily="49" charset="-122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1600" dirty="0">
                <a:solidFill>
                  <a:srgbClr val="00B05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       /*</a:t>
            </a:r>
            <a:r>
              <a:rPr lang="zh-CN" altLang="en-US" sz="1600" dirty="0">
                <a:solidFill>
                  <a:srgbClr val="00B05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扫描整个棋盘 *</a:t>
            </a:r>
            <a:r>
              <a:rPr lang="en-US" altLang="zh-CN" sz="1600" dirty="0">
                <a:solidFill>
                  <a:srgbClr val="00B05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/</a:t>
            </a:r>
            <a:endParaRPr lang="en-US" altLang="zh-CN" sz="1600" dirty="0">
              <a:solidFill>
                <a:srgbClr val="00B050"/>
              </a:solidFill>
              <a:latin typeface="新宋体" panose="02010609030101010101" pitchFamily="49" charset="-122"/>
              <a:ea typeface="新宋体" panose="02010609030101010101" pitchFamily="49" charset="-122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nn-NO" altLang="zh-CN" sz="1600" dirty="0">
                <a:solidFill>
                  <a:srgbClr val="0000FF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	for</a:t>
            </a:r>
            <a:r>
              <a:rPr lang="nn-NO" altLang="zh-CN" sz="1600" dirty="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 (</a:t>
            </a:r>
            <a:r>
              <a:rPr lang="en-US" altLang="zh-CN" sz="1600" dirty="0">
                <a:solidFill>
                  <a:srgbClr val="0000FF"/>
                </a:solidFill>
                <a:latin typeface="新宋体" panose="02010609030101010101" pitchFamily="49" charset="-122"/>
                <a:ea typeface="新宋体" panose="02010609030101010101" pitchFamily="49" charset="-122"/>
                <a:sym typeface="+mn-ea"/>
              </a:rPr>
              <a:t>int</a:t>
            </a:r>
            <a:r>
              <a:rPr lang="en-US" altLang="zh-CN" sz="1600" dirty="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 i…) {</a:t>
            </a:r>
            <a:endParaRPr lang="nn-NO" altLang="zh-CN" sz="1600" dirty="0">
              <a:solidFill>
                <a:srgbClr val="000000"/>
              </a:solidFill>
              <a:latin typeface="新宋体" panose="02010609030101010101" pitchFamily="49" charset="-122"/>
              <a:ea typeface="新宋体" panose="02010609030101010101" pitchFamily="49" charset="-122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1600" dirty="0">
                <a:solidFill>
                  <a:srgbClr val="0000FF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	   for</a:t>
            </a:r>
            <a:r>
              <a:rPr lang="en-US" altLang="zh-CN" sz="1600" dirty="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 (</a:t>
            </a:r>
            <a:r>
              <a:rPr lang="en-US" altLang="zh-CN" sz="1600" dirty="0">
                <a:solidFill>
                  <a:srgbClr val="0000FF"/>
                </a:solidFill>
                <a:latin typeface="新宋体" panose="02010609030101010101" pitchFamily="49" charset="-122"/>
                <a:ea typeface="新宋体" panose="02010609030101010101" pitchFamily="49" charset="-122"/>
                <a:sym typeface="+mn-ea"/>
              </a:rPr>
              <a:t>int</a:t>
            </a:r>
            <a:r>
              <a:rPr lang="en-US" altLang="zh-CN" sz="1600" dirty="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 j…) {</a:t>
            </a:r>
            <a:endParaRPr lang="en-US" altLang="zh-CN" sz="1600" dirty="0">
              <a:latin typeface="新宋体" panose="02010609030101010101" pitchFamily="49" charset="-122"/>
              <a:ea typeface="新宋体" panose="02010609030101010101" pitchFamily="49" charset="-122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1600" dirty="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              …;   </a:t>
            </a:r>
            <a:r>
              <a:rPr lang="en-US" altLang="zh-CN" sz="1600" dirty="0">
                <a:solidFill>
                  <a:srgbClr val="00B05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//</a:t>
            </a:r>
            <a:r>
              <a:rPr lang="zh-CN" altLang="en-US" sz="1600" dirty="0">
                <a:solidFill>
                  <a:srgbClr val="00B05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假设在当前空点放置了玩家的棋 </a:t>
            </a:r>
            <a:r>
              <a:rPr lang="en-US" altLang="zh-CN" sz="1600" dirty="0" err="1">
                <a:solidFill>
                  <a:srgbClr val="00B05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chessBox</a:t>
            </a:r>
            <a:r>
              <a:rPr lang="en-US" altLang="zh-CN" sz="1600" dirty="0">
                <a:solidFill>
                  <a:srgbClr val="00B05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[i][i]=</a:t>
            </a:r>
            <a:r>
              <a:rPr lang="en-US" altLang="zh-CN" sz="1600" dirty="0" err="1">
                <a:solidFill>
                  <a:srgbClr val="00B05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humanPlayer</a:t>
            </a:r>
            <a:endParaRPr lang="en-US" altLang="zh-CN" sz="1600" dirty="0">
              <a:solidFill>
                <a:srgbClr val="00B050"/>
              </a:solidFill>
              <a:latin typeface="新宋体" panose="02010609030101010101" pitchFamily="49" charset="-122"/>
              <a:ea typeface="新宋体" panose="02010609030101010101" pitchFamily="49" charset="-122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1600" dirty="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	</a:t>
            </a:r>
            <a:r>
              <a:rPr lang="sv-SE" altLang="zh-CN" sz="1600" dirty="0">
                <a:solidFill>
                  <a:srgbClr val="0000FF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      int</a:t>
            </a:r>
            <a:r>
              <a:rPr lang="sv-SE" altLang="zh-CN" sz="1600" dirty="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 </a:t>
            </a:r>
            <a:r>
              <a:rPr lang="en-US" altLang="sv-SE" sz="1600" dirty="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score</a:t>
            </a:r>
            <a:r>
              <a:rPr lang="sv-SE" altLang="zh-CN" sz="1600" dirty="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 = M</a:t>
            </a:r>
            <a:r>
              <a:rPr lang="en-US" altLang="zh-CN" sz="1600" dirty="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ax</a:t>
            </a:r>
            <a:r>
              <a:rPr lang="sv-SE" altLang="zh-CN" sz="1600" dirty="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Value(</a:t>
            </a:r>
            <a:r>
              <a:rPr lang="en-US" altLang="sv-SE" sz="1600" dirty="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i</a:t>
            </a:r>
            <a:r>
              <a:rPr lang="sv-SE" altLang="zh-CN" sz="1600" dirty="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, </a:t>
            </a:r>
            <a:r>
              <a:rPr lang="en-US" altLang="sv-SE" sz="1600" dirty="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j</a:t>
            </a:r>
            <a:r>
              <a:rPr lang="sv-SE" altLang="zh-CN" sz="1600" dirty="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, </a:t>
            </a:r>
            <a:r>
              <a:rPr lang="sv-SE" altLang="zh-CN" sz="1600" dirty="0">
                <a:solidFill>
                  <a:srgbClr val="80808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depth</a:t>
            </a:r>
            <a:r>
              <a:rPr lang="sv-SE" altLang="zh-CN" sz="1600" dirty="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-1); </a:t>
            </a:r>
            <a:r>
              <a:rPr lang="sv-SE" altLang="zh-CN" sz="1600" dirty="0">
                <a:solidFill>
                  <a:srgbClr val="00B05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//</a:t>
            </a:r>
            <a:r>
              <a:rPr lang="en-US" altLang="sv-SE" sz="1600" dirty="0">
                <a:solidFill>
                  <a:srgbClr val="00B05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score</a:t>
            </a:r>
            <a:r>
              <a:rPr lang="zh-CN" altLang="en-US" sz="1600" dirty="0">
                <a:solidFill>
                  <a:srgbClr val="00B05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记录评估值，</a:t>
            </a:r>
            <a:r>
              <a:rPr lang="zh-CN" altLang="en-US" sz="1600" dirty="0">
                <a:solidFill>
                  <a:srgbClr val="00B050"/>
                </a:solidFill>
                <a:latin typeface="新宋体" panose="02010609030101010101" pitchFamily="49" charset="-122"/>
                <a:ea typeface="新宋体" panose="02010609030101010101" pitchFamily="49" charset="-122"/>
                <a:sym typeface="+mn-ea"/>
              </a:rPr>
              <a:t>调用计算极大值的函数</a:t>
            </a:r>
            <a:endParaRPr lang="en-US" altLang="zh-CN" sz="1600" dirty="0">
              <a:solidFill>
                <a:srgbClr val="00B050"/>
              </a:solidFill>
              <a:latin typeface="新宋体" panose="02010609030101010101" pitchFamily="49" charset="-122"/>
              <a:ea typeface="新宋体" panose="02010609030101010101" pitchFamily="49" charset="-122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1600" dirty="0">
                <a:solidFill>
                  <a:schemeClr val="accent5">
                    <a:lumMod val="90000"/>
                  </a:schemeClr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	</a:t>
            </a:r>
            <a:r>
              <a:rPr lang="en-US" altLang="zh-CN" sz="1600" dirty="0">
                <a:solidFill>
                  <a:srgbClr val="00B05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/* </a:t>
            </a:r>
            <a:r>
              <a:rPr lang="zh-CN" altLang="en-US" sz="1600" dirty="0">
                <a:solidFill>
                  <a:srgbClr val="00B05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比较 </a:t>
            </a:r>
            <a:r>
              <a:rPr lang="en-US" altLang="zh-CN" sz="1600" dirty="0">
                <a:solidFill>
                  <a:srgbClr val="00B05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score</a:t>
            </a:r>
            <a:r>
              <a:rPr lang="zh-CN" altLang="en-US" sz="1600" dirty="0">
                <a:solidFill>
                  <a:srgbClr val="00B05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值与</a:t>
            </a:r>
            <a:r>
              <a:rPr lang="en-US" altLang="zh-CN" sz="1600" dirty="0" err="1">
                <a:solidFill>
                  <a:srgbClr val="00B05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minValue</a:t>
            </a:r>
            <a:r>
              <a:rPr lang="zh-CN" altLang="en-US" sz="1600" dirty="0">
                <a:solidFill>
                  <a:srgbClr val="00B05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，更新</a:t>
            </a:r>
            <a:r>
              <a:rPr lang="en-US" altLang="zh-CN" sz="1600" dirty="0" err="1">
                <a:solidFill>
                  <a:srgbClr val="00B05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minValue</a:t>
            </a:r>
            <a:r>
              <a:rPr lang="zh-CN" altLang="en-US" sz="1600" dirty="0">
                <a:solidFill>
                  <a:srgbClr val="00B05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*</a:t>
            </a:r>
            <a:r>
              <a:rPr lang="en-US" altLang="zh-CN" sz="1600" dirty="0">
                <a:solidFill>
                  <a:srgbClr val="00B05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/</a:t>
            </a:r>
            <a:endParaRPr lang="en-US" altLang="zh-CN" sz="1600" dirty="0">
              <a:solidFill>
                <a:srgbClr val="00B050"/>
              </a:solidFill>
              <a:latin typeface="新宋体" panose="02010609030101010101" pitchFamily="49" charset="-122"/>
              <a:ea typeface="新宋体" panose="02010609030101010101" pitchFamily="49" charset="-122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1600" dirty="0">
                <a:solidFill>
                  <a:srgbClr val="00B05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             </a:t>
            </a:r>
            <a:r>
              <a:rPr lang="en-US" altLang="zh-CN" sz="1600" dirty="0">
                <a:gradFill>
                  <a:gsLst>
                    <a:gs pos="50410">
                      <a:srgbClr val="1F1F1F"/>
                    </a:gs>
                    <a:gs pos="0">
                      <a:srgbClr val="020202"/>
                    </a:gs>
                    <a:gs pos="100000">
                      <a:srgbClr val="424242"/>
                    </a:gs>
                  </a:gsLst>
                  <a:lin ang="5400000" scaled="1"/>
                </a:gradFill>
                <a:latin typeface="新宋体" panose="02010609030101010101" pitchFamily="49" charset="-122"/>
                <a:ea typeface="新宋体" panose="02010609030101010101" pitchFamily="49" charset="-122"/>
              </a:rPr>
              <a:t>minValue = min(minValue, score);</a:t>
            </a:r>
            <a:endParaRPr lang="en-US" altLang="zh-CN" sz="1600" dirty="0">
              <a:solidFill>
                <a:schemeClr val="tx2"/>
              </a:solidFill>
              <a:latin typeface="新宋体" panose="02010609030101010101" pitchFamily="49" charset="-122"/>
              <a:ea typeface="新宋体" panose="02010609030101010101" pitchFamily="49" charset="-122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1600" dirty="0">
                <a:solidFill>
                  <a:schemeClr val="accent4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	      …;</a:t>
            </a:r>
            <a:r>
              <a:rPr lang="zh-CN" altLang="en-US" sz="1600" dirty="0">
                <a:solidFill>
                  <a:srgbClr val="00B05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//把棋盘恢复到当前状态 </a:t>
            </a:r>
            <a:r>
              <a:rPr lang="en-US" altLang="zh-CN" sz="1600" dirty="0" err="1">
                <a:solidFill>
                  <a:srgbClr val="00B05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chessBox</a:t>
            </a:r>
            <a:r>
              <a:rPr lang="en-US" altLang="zh-CN" sz="1600" dirty="0">
                <a:solidFill>
                  <a:srgbClr val="00B05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[i][j]=0</a:t>
            </a:r>
            <a:endParaRPr lang="en-US" altLang="zh-CN" sz="1600" dirty="0">
              <a:solidFill>
                <a:srgbClr val="00B050"/>
              </a:solidFill>
              <a:latin typeface="新宋体" panose="02010609030101010101" pitchFamily="49" charset="-122"/>
              <a:ea typeface="新宋体" panose="02010609030101010101" pitchFamily="49" charset="-122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1600" dirty="0">
                <a:solidFill>
                  <a:srgbClr val="00B05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     //</a:t>
            </a:r>
            <a:r>
              <a:rPr lang="zh-CN" altLang="en-US" sz="1600" dirty="0">
                <a:solidFill>
                  <a:srgbClr val="00B05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返回</a:t>
            </a:r>
            <a:r>
              <a:rPr lang="en-US" altLang="zh-CN" sz="1600" dirty="0" err="1">
                <a:solidFill>
                  <a:srgbClr val="00B05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minValue</a:t>
            </a:r>
            <a:endParaRPr lang="en-US" altLang="zh-CN" sz="1600" dirty="0">
              <a:solidFill>
                <a:srgbClr val="00B050"/>
              </a:solidFill>
              <a:latin typeface="新宋体" panose="02010609030101010101" pitchFamily="49" charset="-122"/>
              <a:ea typeface="新宋体" panose="02010609030101010101" pitchFamily="49" charset="-122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1600" dirty="0">
                <a:solidFill>
                  <a:schemeClr val="tx2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}</a:t>
            </a:r>
            <a:endParaRPr lang="en-US" altLang="zh-CN" sz="1600" dirty="0">
              <a:solidFill>
                <a:schemeClr val="tx2"/>
              </a:solidFill>
              <a:latin typeface="新宋体" panose="02010609030101010101" pitchFamily="49" charset="-122"/>
              <a:ea typeface="新宋体" panose="02010609030101010101" pitchFamily="49" charset="-122"/>
            </a:endParaRP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MinMax</a:t>
            </a:r>
            <a:r>
              <a:rPr lang="en-US" altLang="zh-CN" dirty="0"/>
              <a:t> Algorithm</a:t>
            </a:r>
            <a:endParaRPr lang="zh-CN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8330" y="935990"/>
            <a:ext cx="10968990" cy="5807710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altLang="zh-CN" sz="1600" dirty="0">
                <a:solidFill>
                  <a:srgbClr val="0000FF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  int</a:t>
            </a:r>
            <a:r>
              <a:rPr lang="en-US" altLang="zh-CN" sz="1600" dirty="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 MaxValue(</a:t>
            </a:r>
            <a:r>
              <a:rPr lang="en-US" altLang="zh-CN" sz="1600" dirty="0">
                <a:solidFill>
                  <a:srgbClr val="0000FF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int</a:t>
            </a:r>
            <a:r>
              <a:rPr lang="en-US" altLang="zh-CN" sz="1600" dirty="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 </a:t>
            </a:r>
            <a:r>
              <a:rPr lang="en-US" altLang="zh-CN" sz="1600" dirty="0">
                <a:solidFill>
                  <a:srgbClr val="80808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row</a:t>
            </a:r>
            <a:r>
              <a:rPr lang="en-US" altLang="zh-CN" sz="1600" dirty="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, </a:t>
            </a:r>
            <a:r>
              <a:rPr lang="en-US" altLang="zh-CN" sz="1600" dirty="0">
                <a:solidFill>
                  <a:srgbClr val="0000FF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int</a:t>
            </a:r>
            <a:r>
              <a:rPr lang="en-US" altLang="zh-CN" sz="1600" dirty="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 </a:t>
            </a:r>
            <a:r>
              <a:rPr lang="en-US" altLang="zh-CN" sz="1600" dirty="0">
                <a:solidFill>
                  <a:srgbClr val="80808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col</a:t>
            </a:r>
            <a:r>
              <a:rPr lang="en-US" altLang="zh-CN" sz="1600" dirty="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, </a:t>
            </a:r>
            <a:r>
              <a:rPr lang="en-US" altLang="zh-CN" sz="1600" dirty="0">
                <a:solidFill>
                  <a:srgbClr val="0000FF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int</a:t>
            </a:r>
            <a:r>
              <a:rPr lang="en-US" altLang="zh-CN" sz="1600" dirty="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 </a:t>
            </a:r>
            <a:r>
              <a:rPr lang="en-US" altLang="zh-CN" sz="1600" dirty="0">
                <a:solidFill>
                  <a:srgbClr val="80808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depth</a:t>
            </a:r>
            <a:r>
              <a:rPr lang="en-US" altLang="zh-CN" sz="1600" dirty="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);</a:t>
            </a:r>
            <a:endParaRPr lang="en-US" altLang="zh-CN" sz="1600" dirty="0">
              <a:solidFill>
                <a:srgbClr val="000000"/>
              </a:solidFill>
              <a:latin typeface="新宋体" panose="02010609030101010101" pitchFamily="49" charset="-122"/>
              <a:ea typeface="新宋体" panose="02010609030101010101" pitchFamily="49" charset="-122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1600" dirty="0">
                <a:solidFill>
                  <a:srgbClr val="0000FF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  int</a:t>
            </a:r>
            <a:r>
              <a:rPr lang="en-US" altLang="zh-CN" sz="1600" dirty="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 MinValue(</a:t>
            </a:r>
            <a:r>
              <a:rPr lang="en-US" altLang="zh-CN" sz="1600" dirty="0">
                <a:solidFill>
                  <a:srgbClr val="0000FF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int</a:t>
            </a:r>
            <a:r>
              <a:rPr lang="en-US" altLang="zh-CN" sz="1600" dirty="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 </a:t>
            </a:r>
            <a:r>
              <a:rPr lang="en-US" altLang="zh-CN" sz="1600" dirty="0">
                <a:solidFill>
                  <a:srgbClr val="80808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row</a:t>
            </a:r>
            <a:r>
              <a:rPr lang="en-US" altLang="zh-CN" sz="1600" dirty="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, </a:t>
            </a:r>
            <a:r>
              <a:rPr lang="en-US" altLang="zh-CN" sz="1600" dirty="0">
                <a:solidFill>
                  <a:srgbClr val="0000FF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int</a:t>
            </a:r>
            <a:r>
              <a:rPr lang="en-US" altLang="zh-CN" sz="1600" dirty="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 </a:t>
            </a:r>
            <a:r>
              <a:rPr lang="en-US" altLang="zh-CN" sz="1600" dirty="0">
                <a:solidFill>
                  <a:srgbClr val="80808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col</a:t>
            </a:r>
            <a:r>
              <a:rPr lang="en-US" altLang="zh-CN" sz="1600" dirty="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, </a:t>
            </a:r>
            <a:r>
              <a:rPr lang="en-US" altLang="zh-CN" sz="1600" dirty="0">
                <a:solidFill>
                  <a:srgbClr val="0000FF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int</a:t>
            </a:r>
            <a:r>
              <a:rPr lang="en-US" altLang="zh-CN" sz="1600" dirty="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 </a:t>
            </a:r>
            <a:r>
              <a:rPr lang="en-US" altLang="zh-CN" sz="1600" dirty="0">
                <a:solidFill>
                  <a:srgbClr val="80808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depth</a:t>
            </a:r>
            <a:r>
              <a:rPr lang="en-US" altLang="zh-CN" sz="1600" dirty="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);</a:t>
            </a:r>
            <a:endParaRPr lang="en-US" altLang="zh-CN" sz="1600" dirty="0">
              <a:solidFill>
                <a:srgbClr val="000000"/>
              </a:solidFill>
              <a:latin typeface="新宋体" panose="02010609030101010101" pitchFamily="49" charset="-122"/>
              <a:ea typeface="新宋体" panose="02010609030101010101" pitchFamily="49" charset="-122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1600" dirty="0">
                <a:solidFill>
                  <a:srgbClr val="2B91AF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  maxScorePoint</a:t>
            </a:r>
            <a:r>
              <a:rPr lang="en-US" altLang="zh-CN" sz="1600" dirty="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 getMinMaxValue(</a:t>
            </a:r>
            <a:r>
              <a:rPr lang="en-US" altLang="zh-CN" sz="1600" dirty="0">
                <a:solidFill>
                  <a:srgbClr val="0000FF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int</a:t>
            </a:r>
            <a:r>
              <a:rPr lang="en-US" altLang="zh-CN" sz="1600" dirty="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 </a:t>
            </a:r>
            <a:r>
              <a:rPr lang="en-US" altLang="zh-CN" sz="1600" dirty="0">
                <a:solidFill>
                  <a:srgbClr val="80808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depth</a:t>
            </a:r>
            <a:r>
              <a:rPr lang="en-US" altLang="zh-CN" sz="1600" dirty="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) {</a:t>
            </a:r>
            <a:endParaRPr lang="en-US" altLang="zh-CN" sz="1600" dirty="0">
              <a:solidFill>
                <a:srgbClr val="000000"/>
              </a:solidFill>
              <a:latin typeface="新宋体" panose="02010609030101010101" pitchFamily="49" charset="-122"/>
              <a:ea typeface="新宋体" panose="02010609030101010101" pitchFamily="49" charset="-122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fr-FR" altLang="zh-CN" sz="1600" dirty="0">
                <a:solidFill>
                  <a:srgbClr val="2B91AF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	maxScorePoint</a:t>
            </a:r>
            <a:r>
              <a:rPr lang="fr-FR" altLang="zh-CN" sz="1600" dirty="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 </a:t>
            </a:r>
            <a:r>
              <a:rPr lang="en-US" altLang="fr-FR" sz="1600" dirty="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best</a:t>
            </a:r>
            <a:r>
              <a:rPr lang="fr-FR" altLang="zh-CN" sz="1600" dirty="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Point[</a:t>
            </a:r>
            <a:r>
              <a:rPr lang="fr-FR" altLang="zh-CN" sz="1600" dirty="0">
                <a:solidFill>
                  <a:srgbClr val="6F008A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N</a:t>
            </a:r>
            <a:r>
              <a:rPr lang="fr-FR" altLang="zh-CN" sz="1600" dirty="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 * </a:t>
            </a:r>
            <a:r>
              <a:rPr lang="fr-FR" altLang="zh-CN" sz="1600" dirty="0">
                <a:solidFill>
                  <a:srgbClr val="6F008A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N</a:t>
            </a:r>
            <a:r>
              <a:rPr lang="fr-FR" altLang="zh-CN" sz="1600" dirty="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] = { 0 }; </a:t>
            </a:r>
            <a:r>
              <a:rPr lang="fr-FR" altLang="zh-CN" sz="1600" dirty="0">
                <a:solidFill>
                  <a:srgbClr val="00B05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//</a:t>
            </a:r>
            <a:r>
              <a:rPr lang="zh-CN" altLang="en-US" sz="1600" dirty="0">
                <a:solidFill>
                  <a:srgbClr val="00B05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存储具有相同最大估值的点的坐标</a:t>
            </a:r>
            <a:endParaRPr lang="fr-FR" altLang="zh-CN" sz="1600" dirty="0">
              <a:solidFill>
                <a:srgbClr val="00B050"/>
              </a:solidFill>
              <a:latin typeface="新宋体" panose="02010609030101010101" pitchFamily="49" charset="-122"/>
              <a:ea typeface="新宋体" panose="02010609030101010101" pitchFamily="49" charset="-122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1600" dirty="0">
                <a:solidFill>
                  <a:srgbClr val="0000FF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	int</a:t>
            </a:r>
            <a:r>
              <a:rPr lang="en-US" altLang="zh-CN" sz="1600" dirty="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 maxValue = </a:t>
            </a:r>
            <a:r>
              <a:rPr lang="en-US" altLang="zh-CN" sz="1600" dirty="0">
                <a:solidFill>
                  <a:srgbClr val="6F008A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INT_MIN</a:t>
            </a:r>
            <a:r>
              <a:rPr lang="en-US" altLang="zh-CN" sz="1600" dirty="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; </a:t>
            </a:r>
            <a:r>
              <a:rPr lang="en-US" altLang="zh-CN" sz="1600" dirty="0">
                <a:solidFill>
                  <a:srgbClr val="00B05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//</a:t>
            </a:r>
            <a:r>
              <a:rPr lang="zh-CN" altLang="en-US" sz="1600" dirty="0">
                <a:solidFill>
                  <a:srgbClr val="00B05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把极大值</a:t>
            </a:r>
            <a:r>
              <a:rPr lang="zh-CN" altLang="en-US" sz="1600" dirty="0">
                <a:solidFill>
                  <a:srgbClr val="00B050"/>
                </a:solidFill>
                <a:latin typeface="新宋体" panose="02010609030101010101" pitchFamily="49" charset="-122"/>
                <a:ea typeface="新宋体" panose="02010609030101010101" pitchFamily="49" charset="-122"/>
                <a:sym typeface="+mn-ea"/>
              </a:rPr>
              <a:t>设为无限小</a:t>
            </a:r>
            <a:endParaRPr lang="en-US" altLang="zh-CN" sz="1600" dirty="0">
              <a:solidFill>
                <a:srgbClr val="00B050"/>
              </a:solidFill>
              <a:latin typeface="新宋体" panose="02010609030101010101" pitchFamily="49" charset="-122"/>
              <a:ea typeface="新宋体" panose="02010609030101010101" pitchFamily="49" charset="-122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1600" dirty="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	</a:t>
            </a:r>
            <a:r>
              <a:rPr lang="en-US" altLang="zh-CN" sz="1600" dirty="0">
                <a:solidFill>
                  <a:srgbClr val="0000FF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int</a:t>
            </a:r>
            <a:r>
              <a:rPr lang="en-US" altLang="zh-CN" sz="1600" dirty="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 k = 0;   </a:t>
            </a:r>
            <a:r>
              <a:rPr lang="en-US" altLang="zh-CN" sz="1600" dirty="0">
                <a:solidFill>
                  <a:srgbClr val="00B05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 //</a:t>
            </a:r>
            <a:r>
              <a:rPr lang="zh-CN" altLang="en-US" sz="1600" dirty="0">
                <a:solidFill>
                  <a:srgbClr val="00B05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记录具有相同最大估值的点的个数</a:t>
            </a:r>
            <a:endParaRPr lang="en-US" altLang="zh-CN" sz="1600" dirty="0">
              <a:solidFill>
                <a:srgbClr val="00B050"/>
              </a:solidFill>
              <a:latin typeface="新宋体" panose="02010609030101010101" pitchFamily="49" charset="-122"/>
              <a:ea typeface="新宋体" panose="02010609030101010101" pitchFamily="49" charset="-122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1600" dirty="0">
                <a:solidFill>
                  <a:schemeClr val="accent5">
                    <a:lumMod val="90000"/>
                  </a:schemeClr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        </a:t>
            </a:r>
            <a:r>
              <a:rPr lang="en-US" altLang="zh-CN" sz="1600" dirty="0">
                <a:solidFill>
                  <a:srgbClr val="00B05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/*</a:t>
            </a:r>
            <a:r>
              <a:rPr lang="zh-CN" altLang="en-US" sz="1600" dirty="0">
                <a:solidFill>
                  <a:srgbClr val="00B05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扫描整个棋盘 *</a:t>
            </a:r>
            <a:r>
              <a:rPr lang="en-US" altLang="zh-CN" sz="1600" dirty="0">
                <a:solidFill>
                  <a:srgbClr val="00B05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/</a:t>
            </a:r>
            <a:endParaRPr lang="en-US" altLang="zh-CN" sz="1600" dirty="0">
              <a:solidFill>
                <a:srgbClr val="00B050"/>
              </a:solidFill>
              <a:latin typeface="新宋体" panose="02010609030101010101" pitchFamily="49" charset="-122"/>
              <a:ea typeface="新宋体" panose="02010609030101010101" pitchFamily="49" charset="-122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nn-NO" altLang="zh-CN" sz="1600" dirty="0">
                <a:solidFill>
                  <a:srgbClr val="0000FF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	for</a:t>
            </a:r>
            <a:r>
              <a:rPr lang="nn-NO" altLang="zh-CN" sz="1600" dirty="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 (</a:t>
            </a:r>
            <a:r>
              <a:rPr lang="en-US" altLang="zh-CN" sz="1600" dirty="0">
                <a:solidFill>
                  <a:srgbClr val="0000FF"/>
                </a:solidFill>
                <a:latin typeface="新宋体" panose="02010609030101010101" pitchFamily="49" charset="-122"/>
                <a:ea typeface="新宋体" panose="02010609030101010101" pitchFamily="49" charset="-122"/>
                <a:sym typeface="+mn-ea"/>
              </a:rPr>
              <a:t>int</a:t>
            </a:r>
            <a:r>
              <a:rPr lang="en-US" altLang="nn-NO" sz="1600" dirty="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i…) {</a:t>
            </a:r>
            <a:endParaRPr lang="nn-NO" altLang="zh-CN" sz="1600" dirty="0">
              <a:solidFill>
                <a:srgbClr val="000000"/>
              </a:solidFill>
              <a:latin typeface="新宋体" panose="02010609030101010101" pitchFamily="49" charset="-122"/>
              <a:ea typeface="新宋体" panose="02010609030101010101" pitchFamily="49" charset="-122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1600" dirty="0">
                <a:solidFill>
                  <a:srgbClr val="0000FF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	   for</a:t>
            </a:r>
            <a:r>
              <a:rPr lang="en-US" altLang="zh-CN" sz="1600" dirty="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 (</a:t>
            </a:r>
            <a:r>
              <a:rPr lang="en-US" altLang="zh-CN" sz="1600" dirty="0">
                <a:solidFill>
                  <a:srgbClr val="0000FF"/>
                </a:solidFill>
                <a:latin typeface="新宋体" panose="02010609030101010101" pitchFamily="49" charset="-122"/>
                <a:ea typeface="新宋体" panose="02010609030101010101" pitchFamily="49" charset="-122"/>
                <a:sym typeface="+mn-ea"/>
              </a:rPr>
              <a:t>int</a:t>
            </a:r>
            <a:r>
              <a:rPr lang="en-US" altLang="zh-CN" sz="1600" dirty="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 j…) {</a:t>
            </a:r>
            <a:endParaRPr lang="en-US" altLang="zh-CN" sz="1600" dirty="0">
              <a:latin typeface="新宋体" panose="02010609030101010101" pitchFamily="49" charset="-122"/>
              <a:ea typeface="新宋体" panose="02010609030101010101" pitchFamily="49" charset="-122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1600" dirty="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              …;   </a:t>
            </a:r>
            <a:r>
              <a:rPr lang="en-US" altLang="zh-CN" sz="1600" dirty="0">
                <a:solidFill>
                  <a:srgbClr val="00B05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//</a:t>
            </a:r>
            <a:r>
              <a:rPr lang="zh-CN" altLang="en-US" sz="1600" dirty="0">
                <a:solidFill>
                  <a:srgbClr val="00B05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假设这一点放置了</a:t>
            </a:r>
            <a:r>
              <a:rPr lang="en-US" altLang="zh-CN" sz="1600" dirty="0">
                <a:solidFill>
                  <a:srgbClr val="00B05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AI</a:t>
            </a:r>
            <a:r>
              <a:rPr lang="zh-CN" altLang="en-US" sz="1600" dirty="0">
                <a:solidFill>
                  <a:srgbClr val="00B05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棋子 </a:t>
            </a:r>
            <a:r>
              <a:rPr lang="en-US" altLang="zh-CN" sz="1600" dirty="0" err="1">
                <a:solidFill>
                  <a:srgbClr val="00B05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chessBox</a:t>
            </a:r>
            <a:r>
              <a:rPr lang="en-US" altLang="zh-CN" sz="1600" dirty="0">
                <a:solidFill>
                  <a:srgbClr val="00B05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[i][j]=AIPlayer</a:t>
            </a:r>
            <a:endParaRPr lang="en-US" altLang="zh-CN" sz="1600" dirty="0">
              <a:solidFill>
                <a:srgbClr val="00B050"/>
              </a:solidFill>
              <a:latin typeface="新宋体" panose="02010609030101010101" pitchFamily="49" charset="-122"/>
              <a:ea typeface="新宋体" panose="02010609030101010101" pitchFamily="49" charset="-122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1600" dirty="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	</a:t>
            </a:r>
            <a:r>
              <a:rPr lang="sv-SE" altLang="zh-CN" sz="1600" dirty="0">
                <a:solidFill>
                  <a:srgbClr val="0000FF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      int</a:t>
            </a:r>
            <a:r>
              <a:rPr lang="sv-SE" altLang="zh-CN" sz="1600" dirty="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 </a:t>
            </a:r>
            <a:r>
              <a:rPr lang="en-US" altLang="sv-SE" sz="1600" dirty="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score</a:t>
            </a:r>
            <a:r>
              <a:rPr lang="sv-SE" altLang="zh-CN" sz="1600" dirty="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 = MinValue(</a:t>
            </a:r>
            <a:r>
              <a:rPr lang="en-US" altLang="sv-SE" sz="1600" dirty="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i</a:t>
            </a:r>
            <a:r>
              <a:rPr lang="sv-SE" altLang="zh-CN" sz="1600" dirty="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, </a:t>
            </a:r>
            <a:r>
              <a:rPr lang="en-US" altLang="sv-SE" sz="1600" dirty="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j</a:t>
            </a:r>
            <a:r>
              <a:rPr lang="sv-SE" altLang="zh-CN" sz="1600" dirty="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, </a:t>
            </a:r>
            <a:r>
              <a:rPr lang="sv-SE" altLang="zh-CN" sz="1600" dirty="0">
                <a:solidFill>
                  <a:srgbClr val="80808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depth</a:t>
            </a:r>
            <a:r>
              <a:rPr lang="sv-SE" altLang="zh-CN" sz="1600" dirty="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-1); </a:t>
            </a:r>
            <a:r>
              <a:rPr lang="sv-SE" altLang="zh-CN" sz="1600" dirty="0">
                <a:solidFill>
                  <a:srgbClr val="00B05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//</a:t>
            </a:r>
            <a:r>
              <a:rPr lang="en-US" altLang="sv-SE" sz="1600" dirty="0">
                <a:solidFill>
                  <a:srgbClr val="00B05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score</a:t>
            </a:r>
            <a:r>
              <a:rPr lang="zh-CN" altLang="en-US" sz="1600" dirty="0">
                <a:solidFill>
                  <a:srgbClr val="00B05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记录评估值</a:t>
            </a:r>
            <a:r>
              <a:rPr lang="en-US" altLang="zh-CN" sz="1600" dirty="0">
                <a:solidFill>
                  <a:srgbClr val="00B05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,</a:t>
            </a:r>
            <a:r>
              <a:rPr lang="zh-CN" altLang="en-US" sz="1600" dirty="0">
                <a:solidFill>
                  <a:srgbClr val="00B05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调用计算极小值的函数</a:t>
            </a:r>
            <a:endParaRPr lang="en-US" altLang="zh-CN" sz="1600" dirty="0">
              <a:solidFill>
                <a:srgbClr val="00B050"/>
              </a:solidFill>
              <a:latin typeface="新宋体" panose="02010609030101010101" pitchFamily="49" charset="-122"/>
              <a:ea typeface="新宋体" panose="02010609030101010101" pitchFamily="49" charset="-122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1600" dirty="0">
                <a:solidFill>
                  <a:schemeClr val="accent5">
                    <a:lumMod val="90000"/>
                  </a:schemeClr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	</a:t>
            </a:r>
            <a:r>
              <a:rPr lang="en-US" altLang="zh-CN" sz="1600" dirty="0">
                <a:solidFill>
                  <a:srgbClr val="00B05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/* </a:t>
            </a:r>
            <a:r>
              <a:rPr lang="zh-CN" altLang="en-US" sz="1600" dirty="0">
                <a:solidFill>
                  <a:srgbClr val="00B05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比较 </a:t>
            </a:r>
            <a:r>
              <a:rPr lang="en-US" altLang="zh-CN" sz="1600" dirty="0">
                <a:solidFill>
                  <a:srgbClr val="00B05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score</a:t>
            </a:r>
            <a:r>
              <a:rPr lang="zh-CN" altLang="en-US" sz="1600" dirty="0">
                <a:solidFill>
                  <a:srgbClr val="00B05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值与</a:t>
            </a:r>
            <a:r>
              <a:rPr lang="en-US" altLang="zh-CN" sz="1600" dirty="0">
                <a:solidFill>
                  <a:srgbClr val="00B05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maxValue</a:t>
            </a:r>
            <a:r>
              <a:rPr lang="zh-CN" altLang="en-US" sz="1600" dirty="0">
                <a:solidFill>
                  <a:srgbClr val="00B05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，更新</a:t>
            </a:r>
            <a:r>
              <a:rPr lang="en-US" altLang="zh-CN" sz="1600" dirty="0">
                <a:solidFill>
                  <a:srgbClr val="00B05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maxValue</a:t>
            </a:r>
            <a:r>
              <a:rPr lang="zh-CN" altLang="en-US" sz="1600" dirty="0">
                <a:solidFill>
                  <a:srgbClr val="00B05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，更新</a:t>
            </a:r>
            <a:r>
              <a:rPr lang="en-US" altLang="zh-CN" sz="1600" dirty="0" err="1">
                <a:solidFill>
                  <a:srgbClr val="00B05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bestPoint,k</a:t>
            </a:r>
            <a:r>
              <a:rPr lang="en-US" altLang="zh-CN" sz="1600" dirty="0">
                <a:solidFill>
                  <a:srgbClr val="00B05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 </a:t>
            </a:r>
            <a:r>
              <a:rPr lang="zh-CN" altLang="en-US" sz="1600" dirty="0">
                <a:solidFill>
                  <a:srgbClr val="00B05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*</a:t>
            </a:r>
            <a:r>
              <a:rPr lang="en-US" altLang="zh-CN" sz="1600" dirty="0">
                <a:solidFill>
                  <a:srgbClr val="00B05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/</a:t>
            </a:r>
            <a:endParaRPr lang="en-US" altLang="zh-CN" sz="1600" dirty="0">
              <a:solidFill>
                <a:srgbClr val="00B050"/>
              </a:solidFill>
              <a:latin typeface="新宋体" panose="02010609030101010101" pitchFamily="49" charset="-122"/>
              <a:ea typeface="新宋体" panose="02010609030101010101" pitchFamily="49" charset="-122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1600" dirty="0">
                <a:solidFill>
                  <a:srgbClr val="00B05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             </a:t>
            </a:r>
            <a:endParaRPr lang="en-US" altLang="zh-CN" sz="1600" dirty="0">
              <a:solidFill>
                <a:schemeClr val="tx2"/>
              </a:solidFill>
              <a:latin typeface="新宋体" panose="02010609030101010101" pitchFamily="49" charset="-122"/>
              <a:ea typeface="新宋体" panose="02010609030101010101" pitchFamily="49" charset="-122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1600" dirty="0">
                <a:solidFill>
                  <a:schemeClr val="accent4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	      …;</a:t>
            </a:r>
            <a:r>
              <a:rPr lang="zh-CN" altLang="en-US" sz="1600" dirty="0">
                <a:solidFill>
                  <a:srgbClr val="00B050"/>
                </a:solidFill>
                <a:latin typeface="新宋体" panose="02010609030101010101" pitchFamily="49" charset="-122"/>
                <a:ea typeface="新宋体" panose="02010609030101010101" pitchFamily="49" charset="-122"/>
                <a:sym typeface="+mn-ea"/>
              </a:rPr>
              <a:t>//</a:t>
            </a:r>
            <a:r>
              <a:rPr lang="zh-CN" altLang="en-US" sz="1600" dirty="0">
                <a:solidFill>
                  <a:srgbClr val="00B05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把棋盘恢复到当前状态 </a:t>
            </a:r>
            <a:r>
              <a:rPr lang="en-US" altLang="zh-CN" sz="1600" dirty="0" err="1">
                <a:solidFill>
                  <a:srgbClr val="00B05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chessBox</a:t>
            </a:r>
            <a:r>
              <a:rPr lang="en-US" altLang="zh-CN" sz="1600" dirty="0">
                <a:solidFill>
                  <a:srgbClr val="00B05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[i][j]=0</a:t>
            </a:r>
            <a:endParaRPr lang="en-US" altLang="zh-CN" sz="1600" dirty="0">
              <a:solidFill>
                <a:srgbClr val="00B050"/>
              </a:solidFill>
              <a:latin typeface="新宋体" panose="02010609030101010101" pitchFamily="49" charset="-122"/>
              <a:ea typeface="新宋体" panose="02010609030101010101" pitchFamily="49" charset="-122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1600" dirty="0">
                <a:solidFill>
                  <a:srgbClr val="00B05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       //</a:t>
            </a:r>
            <a:r>
              <a:rPr lang="zh-CN" altLang="en-US" sz="1600" dirty="0">
                <a:solidFill>
                  <a:srgbClr val="00B05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返回 </a:t>
            </a:r>
            <a:r>
              <a:rPr lang="en-US" altLang="zh-CN" sz="1600" dirty="0">
                <a:solidFill>
                  <a:srgbClr val="00B05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bestPoint</a:t>
            </a:r>
            <a:r>
              <a:rPr lang="zh-CN" altLang="en-US" sz="1600" dirty="0">
                <a:solidFill>
                  <a:srgbClr val="00B05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数组中的随机一个点</a:t>
            </a:r>
            <a:endParaRPr lang="zh-CN" altLang="en-US" sz="1600" dirty="0">
              <a:solidFill>
                <a:srgbClr val="00B050"/>
              </a:solidFill>
              <a:latin typeface="新宋体" panose="02010609030101010101" pitchFamily="49" charset="-122"/>
              <a:ea typeface="新宋体" panose="02010609030101010101" pitchFamily="49" charset="-122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zh-CN" altLang="en-US" sz="1600" dirty="0">
                <a:gradFill>
                  <a:gsLst>
                    <a:gs pos="50410">
                      <a:srgbClr val="1F1F1F"/>
                    </a:gs>
                    <a:gs pos="0">
                      <a:srgbClr val="020202"/>
                    </a:gs>
                    <a:gs pos="100000">
                      <a:srgbClr val="424242"/>
                    </a:gs>
                  </a:gsLst>
                  <a:lin ang="5400000" scaled="1"/>
                </a:gradFill>
                <a:latin typeface="新宋体" panose="02010609030101010101" pitchFamily="49" charset="-122"/>
                <a:ea typeface="新宋体" panose="02010609030101010101" pitchFamily="49" charset="-122"/>
              </a:rPr>
              <a:t>｝</a:t>
            </a:r>
            <a:endParaRPr lang="en-US" altLang="zh-CN" sz="1600" dirty="0">
              <a:gradFill>
                <a:gsLst>
                  <a:gs pos="50410">
                    <a:srgbClr val="1F1F1F"/>
                  </a:gs>
                  <a:gs pos="0">
                    <a:srgbClr val="020202"/>
                  </a:gs>
                  <a:gs pos="100000">
                    <a:srgbClr val="424242"/>
                  </a:gs>
                </a:gsLst>
                <a:lin ang="5400000" scaled="1"/>
              </a:gradFill>
              <a:latin typeface="新宋体" panose="02010609030101010101" pitchFamily="49" charset="-122"/>
              <a:ea typeface="新宋体" panose="02010609030101010101" pitchFamily="49" charset="-122"/>
            </a:endParaRPr>
          </a:p>
          <a:p>
            <a:pPr marL="0" indent="0">
              <a:buNone/>
            </a:pPr>
            <a:endParaRPr lang="en-US" altLang="zh-CN" sz="1600" dirty="0">
              <a:gradFill>
                <a:gsLst>
                  <a:gs pos="50410">
                    <a:srgbClr val="1F1F1F"/>
                  </a:gs>
                  <a:gs pos="0">
                    <a:srgbClr val="020202"/>
                  </a:gs>
                  <a:gs pos="100000">
                    <a:srgbClr val="424242"/>
                  </a:gs>
                </a:gsLst>
                <a:lin ang="5400000" scaled="1"/>
              </a:gradFill>
              <a:latin typeface="新宋体" panose="02010609030101010101" pitchFamily="49" charset="-122"/>
              <a:ea typeface="新宋体" panose="02010609030101010101" pitchFamily="49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974109" y="806271"/>
            <a:ext cx="2969490" cy="1198880"/>
          </a:xfrm>
          <a:prstGeom prst="rect">
            <a:avLst/>
          </a:prstGeom>
          <a:noFill/>
          <a:ln>
            <a:gradFill>
              <a:gsLst>
                <a:gs pos="50410">
                  <a:srgbClr val="1F1F1F"/>
                </a:gs>
                <a:gs pos="0">
                  <a:srgbClr val="020202"/>
                </a:gs>
                <a:gs pos="100000">
                  <a:srgbClr val="424242"/>
                </a:gs>
              </a:gsLst>
              <a:lin ang="5400000" scaled="0"/>
            </a:gradFill>
          </a:ln>
        </p:spPr>
        <p:txBody>
          <a:bodyPr wrap="square">
            <a:spAutoFit/>
          </a:bodyPr>
          <a:lstStyle/>
          <a:p>
            <a:r>
              <a:rPr lang="en-US" altLang="zh-CN" sz="1800" dirty="0">
                <a:solidFill>
                  <a:srgbClr val="0000FF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struct</a:t>
            </a:r>
            <a:r>
              <a:rPr lang="en-US" altLang="zh-CN" sz="1800" dirty="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 </a:t>
            </a:r>
            <a:r>
              <a:rPr lang="en-US" altLang="zh-CN" sz="1800" dirty="0">
                <a:solidFill>
                  <a:srgbClr val="2B91AF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maxScorePoint</a:t>
            </a:r>
            <a:r>
              <a:rPr lang="en-US" altLang="zh-CN" sz="1800" dirty="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 {</a:t>
            </a:r>
            <a:endParaRPr lang="en-US" altLang="zh-CN" sz="1800" dirty="0">
              <a:solidFill>
                <a:srgbClr val="000000"/>
              </a:solidFill>
              <a:latin typeface="新宋体" panose="02010609030101010101" pitchFamily="49" charset="-122"/>
              <a:ea typeface="新宋体" panose="02010609030101010101" pitchFamily="49" charset="-122"/>
            </a:endParaRPr>
          </a:p>
          <a:p>
            <a:r>
              <a:rPr lang="en-US" altLang="zh-CN" sz="1800" dirty="0">
                <a:solidFill>
                  <a:srgbClr val="0000FF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	int</a:t>
            </a:r>
            <a:r>
              <a:rPr lang="en-US" altLang="zh-CN" sz="1800" dirty="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 row;</a:t>
            </a:r>
            <a:endParaRPr lang="en-US" altLang="zh-CN" sz="1800" dirty="0">
              <a:solidFill>
                <a:srgbClr val="000000"/>
              </a:solidFill>
              <a:latin typeface="新宋体" panose="02010609030101010101" pitchFamily="49" charset="-122"/>
              <a:ea typeface="新宋体" panose="02010609030101010101" pitchFamily="49" charset="-122"/>
            </a:endParaRPr>
          </a:p>
          <a:p>
            <a:r>
              <a:rPr lang="en-US" altLang="zh-CN" sz="1800" dirty="0">
                <a:solidFill>
                  <a:srgbClr val="0000FF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	int</a:t>
            </a:r>
            <a:r>
              <a:rPr lang="en-US" altLang="zh-CN" sz="1800" dirty="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 col;</a:t>
            </a:r>
            <a:endParaRPr lang="en-US" altLang="zh-CN" sz="1800" dirty="0">
              <a:solidFill>
                <a:srgbClr val="000000"/>
              </a:solidFill>
              <a:latin typeface="新宋体" panose="02010609030101010101" pitchFamily="49" charset="-122"/>
              <a:ea typeface="新宋体" panose="02010609030101010101" pitchFamily="49" charset="-122"/>
            </a:endParaRPr>
          </a:p>
          <a:p>
            <a:r>
              <a:rPr lang="en-US" altLang="zh-CN" sz="1800" dirty="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};</a:t>
            </a:r>
            <a:endParaRPr lang="zh-CN" altLang="en-US" dirty="0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AI_Play()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/>
              <a:t>改写</a:t>
            </a:r>
            <a:r>
              <a:rPr lang="en-US" altLang="zh-CN"/>
              <a:t>AI_Play()</a:t>
            </a:r>
            <a:endParaRPr lang="en-US" altLang="zh-CN"/>
          </a:p>
          <a:p>
            <a:pPr marL="514350" indent="-514350">
              <a:buAutoNum type="arabicPeriod"/>
            </a:pPr>
            <a:r>
              <a:rPr lang="en-US" altLang="zh-CN"/>
              <a:t>AI</a:t>
            </a:r>
            <a:r>
              <a:rPr lang="zh-CN" altLang="en-US"/>
              <a:t>如果是第一手黑棋，设定下棋位置</a:t>
            </a:r>
            <a:endParaRPr lang="zh-CN" altLang="en-US"/>
          </a:p>
          <a:p>
            <a:pPr marL="514350" indent="-514350">
              <a:buAutoNum type="arabicPeriod"/>
            </a:pPr>
            <a:r>
              <a:rPr lang="zh-CN" altLang="en-US"/>
              <a:t>检查 AI 是否能直接获胜</a:t>
            </a:r>
            <a:endParaRPr lang="zh-CN" altLang="en-US"/>
          </a:p>
          <a:p>
            <a:pPr marL="514350" indent="-514350">
              <a:buAutoNum type="arabicPeriod"/>
            </a:pPr>
            <a:r>
              <a:rPr lang="zh-CN" altLang="en-US"/>
              <a:t>检查是否需要拦截玩家</a:t>
            </a:r>
            <a:endParaRPr lang="zh-CN" altLang="en-US"/>
          </a:p>
          <a:p>
            <a:pPr marL="514350" indent="-514350">
              <a:buAutoNum type="arabicPeriod"/>
            </a:pPr>
            <a:r>
              <a:rPr lang="zh-CN" altLang="en-US"/>
              <a:t>其他情况，调用</a:t>
            </a:r>
            <a:r>
              <a:rPr lang="en-US" altLang="zh-CN"/>
              <a:t>getMinMaxValue()</a:t>
            </a:r>
            <a:r>
              <a:rPr lang="zh-CN" altLang="en-US"/>
              <a:t>确定下棋位置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Homework</a:t>
            </a:r>
            <a:endParaRPr lang="zh-CN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28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完成MinMax算法，并实现AI的胜利。</a:t>
            </a:r>
            <a:endParaRPr lang="zh-CN" altLang="en-US" sz="28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en-US" sz="2800" i="0" dirty="0">
                <a:solidFill>
                  <a:schemeClr val="tx1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设置不同的</a:t>
            </a:r>
            <a:r>
              <a:rPr lang="en-US" altLang="zh-CN" sz="2800" i="0" dirty="0">
                <a:solidFill>
                  <a:schemeClr val="tx1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depth </a:t>
            </a:r>
            <a:r>
              <a:rPr lang="zh-CN" altLang="en-US" sz="2800" i="0" dirty="0">
                <a:solidFill>
                  <a:schemeClr val="tx1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值，测试代码。</a:t>
            </a:r>
            <a:endParaRPr lang="en-US" altLang="zh-CN" sz="2800" i="0" dirty="0">
              <a:solidFill>
                <a:schemeClr val="tx1"/>
              </a:solidFill>
              <a:effectLst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>
              <a:buNone/>
            </a:pPr>
            <a:endParaRPr lang="en-US" altLang="zh-CN" sz="2800" i="0" dirty="0">
              <a:solidFill>
                <a:schemeClr val="tx1"/>
              </a:solidFill>
              <a:effectLst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Thinking</a:t>
            </a:r>
            <a:endParaRPr lang="zh-CN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zh-CN" altLang="en-US" sz="2400">
                <a:solidFill>
                  <a:schemeClr val="tx1"/>
                </a:solidFill>
                <a:ea typeface="微软雅黑" panose="020B0503020204020204" charset="-122"/>
                <a:cs typeface="Arial" panose="020B0604020202020204" pitchFamily="34" charset="0"/>
              </a:rPr>
              <a:t>能否把下面三个函数合成一个函数进行递归调用</a:t>
            </a:r>
            <a:r>
              <a:rPr lang="en-US" altLang="zh-CN" sz="2400">
                <a:solidFill>
                  <a:schemeClr val="tx1"/>
                </a:solidFill>
                <a:ea typeface="微软雅黑" panose="020B0503020204020204" charset="-122"/>
                <a:cs typeface="Arial" panose="020B0604020202020204" pitchFamily="34" charset="0"/>
              </a:rPr>
              <a:t>?</a:t>
            </a:r>
            <a:endParaRPr lang="zh-CN" altLang="en-US" sz="2400">
              <a:solidFill>
                <a:schemeClr val="tx1"/>
              </a:solidFill>
              <a:ea typeface="微软雅黑" panose="020B0503020204020204" charset="-122"/>
              <a:cs typeface="Arial" panose="020B0604020202020204" pitchFamily="34" charset="0"/>
            </a:endParaRPr>
          </a:p>
          <a:p>
            <a:pPr lvl="1"/>
            <a:r>
              <a:rPr lang="zh-CN" altLang="en-US" sz="2100">
                <a:solidFill>
                  <a:schemeClr val="tx1"/>
                </a:solidFill>
                <a:ea typeface="微软雅黑" panose="020B0503020204020204" charset="-122"/>
                <a:cs typeface="Arial" panose="020B0604020202020204" pitchFamily="34" charset="0"/>
              </a:rPr>
              <a:t>MaxValue();</a:t>
            </a:r>
            <a:endParaRPr lang="zh-CN" altLang="en-US" sz="2100">
              <a:solidFill>
                <a:schemeClr val="tx1"/>
              </a:solidFill>
              <a:ea typeface="微软雅黑" panose="020B0503020204020204" charset="-122"/>
              <a:cs typeface="Arial" panose="020B0604020202020204" pitchFamily="34" charset="0"/>
            </a:endParaRPr>
          </a:p>
          <a:p>
            <a:pPr lvl="1"/>
            <a:r>
              <a:rPr lang="zh-CN" altLang="en-US" sz="2100">
                <a:solidFill>
                  <a:schemeClr val="tx1"/>
                </a:solidFill>
                <a:ea typeface="微软雅黑" panose="020B0503020204020204" charset="-122"/>
                <a:cs typeface="Arial" panose="020B0604020202020204" pitchFamily="34" charset="0"/>
              </a:rPr>
              <a:t>MinValue();</a:t>
            </a:r>
            <a:endParaRPr lang="zh-CN" altLang="en-US" sz="2100">
              <a:solidFill>
                <a:schemeClr val="tx1"/>
              </a:solidFill>
              <a:ea typeface="微软雅黑" panose="020B0503020204020204" charset="-122"/>
              <a:cs typeface="Arial" panose="020B0604020202020204" pitchFamily="34" charset="0"/>
            </a:endParaRPr>
          </a:p>
          <a:p>
            <a:pPr lvl="1"/>
            <a:r>
              <a:rPr lang="zh-CN" altLang="en-US" sz="2100">
                <a:solidFill>
                  <a:schemeClr val="tx1"/>
                </a:solidFill>
                <a:ea typeface="微软雅黑" panose="020B0503020204020204" charset="-122"/>
                <a:cs typeface="Arial" panose="020B0604020202020204" pitchFamily="34" charset="0"/>
              </a:rPr>
              <a:t>getMinMaxValue();</a:t>
            </a:r>
            <a:endParaRPr lang="zh-CN" altLang="en-US" sz="2400">
              <a:solidFill>
                <a:schemeClr val="tx1"/>
              </a:solidFill>
              <a:ea typeface="微软雅黑" panose="020B0503020204020204" charset="-122"/>
              <a:cs typeface="Arial" panose="020B0604020202020204" pitchFamily="34" charset="0"/>
            </a:endParaRPr>
          </a:p>
          <a:p>
            <a:r>
              <a:rPr lang="zh-CN" altLang="en-US" sz="2400">
                <a:solidFill>
                  <a:schemeClr val="tx1"/>
                </a:solidFill>
                <a:ea typeface="微软雅黑" panose="020B0503020204020204" charset="-122"/>
                <a:cs typeface="Arial" panose="020B0604020202020204" pitchFamily="34" charset="0"/>
              </a:rPr>
              <a:t>比较一下当depth=1时，getMinMax</a:t>
            </a:r>
            <a:r>
              <a:rPr lang="en-US" altLang="zh-CN" sz="2400">
                <a:solidFill>
                  <a:schemeClr val="tx1"/>
                </a:solidFill>
                <a:ea typeface="微软雅黑" panose="020B0503020204020204" charset="-122"/>
                <a:cs typeface="Arial" panose="020B0604020202020204" pitchFamily="34" charset="0"/>
              </a:rPr>
              <a:t>V</a:t>
            </a:r>
            <a:r>
              <a:rPr lang="zh-CN" altLang="en-US" sz="2400">
                <a:solidFill>
                  <a:schemeClr val="tx1"/>
                </a:solidFill>
                <a:ea typeface="微软雅黑" panose="020B0503020204020204" charset="-122"/>
                <a:cs typeface="Arial" panose="020B0604020202020204" pitchFamily="34" charset="0"/>
              </a:rPr>
              <a:t>alue(1)与上次课的策略有什么不同吗？depth=3时，这个算法是正确的吗？</a:t>
            </a:r>
            <a:endParaRPr lang="zh-CN" altLang="en-US" sz="2400">
              <a:solidFill>
                <a:schemeClr val="tx1"/>
              </a:solidFill>
              <a:ea typeface="微软雅黑" panose="020B0503020204020204" charset="-122"/>
              <a:cs typeface="Arial" panose="020B0604020202020204" pitchFamily="34" charset="0"/>
            </a:endParaRPr>
          </a:p>
          <a:p>
            <a:r>
              <a:rPr lang="zh-CN" altLang="en-US" sz="2400">
                <a:solidFill>
                  <a:schemeClr val="tx1"/>
                </a:solidFill>
                <a:ea typeface="微软雅黑" panose="020B0503020204020204" charset="-122"/>
                <a:cs typeface="Arial" panose="020B0604020202020204" pitchFamily="34" charset="0"/>
              </a:rPr>
              <a:t>当前的算法更侧重攻击还是防守？为什么？</a:t>
            </a:r>
            <a:endParaRPr lang="zh-CN" altLang="en-US" sz="2100">
              <a:solidFill>
                <a:schemeClr val="tx1"/>
              </a:solidFill>
              <a:ea typeface="微软雅黑" panose="020B0503020204020204" charset="-122"/>
              <a:cs typeface="Arial" panose="020B0604020202020204" pitchFamily="34" charset="0"/>
            </a:endParaRPr>
          </a:p>
          <a:p>
            <a:endParaRPr lang="zh-CN" altLang="en-US" sz="2400">
              <a:solidFill>
                <a:schemeClr val="tx1"/>
              </a:solidFill>
              <a:ea typeface="微软雅黑" panose="020B0503020204020204" charset="-122"/>
              <a:cs typeface="Arial" panose="020B0604020202020204" pitchFamily="34" charset="0"/>
            </a:endParaRP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成果展示时间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zh-CN"/>
              <a:t>6</a:t>
            </a:r>
            <a:r>
              <a:rPr lang="zh-CN" altLang="en-US"/>
              <a:t>月</a:t>
            </a:r>
            <a:r>
              <a:rPr lang="en-US" altLang="zh-CN"/>
              <a:t>2</a:t>
            </a:r>
            <a:r>
              <a:rPr lang="zh-CN" altLang="en-US"/>
              <a:t>日：</a:t>
            </a:r>
            <a:endParaRPr lang="zh-CN" altLang="en-US"/>
          </a:p>
          <a:p>
            <a:r>
              <a:rPr lang="en-US" altLang="zh-CN"/>
              <a:t>6</a:t>
            </a:r>
            <a:r>
              <a:rPr lang="zh-CN" altLang="en-US"/>
              <a:t>月</a:t>
            </a:r>
            <a:r>
              <a:rPr lang="en-US" altLang="zh-CN"/>
              <a:t>9</a:t>
            </a:r>
            <a:r>
              <a:rPr lang="zh-CN" altLang="en-US"/>
              <a:t>日：</a:t>
            </a:r>
            <a:endParaRPr lang="zh-CN" altLang="en-US"/>
          </a:p>
          <a:p>
            <a:r>
              <a:rPr lang="en-US" altLang="zh-CN"/>
              <a:t>6</a:t>
            </a:r>
            <a:r>
              <a:rPr lang="zh-CN" altLang="en-US"/>
              <a:t>月</a:t>
            </a:r>
            <a:r>
              <a:rPr lang="en-US" altLang="zh-CN"/>
              <a:t>16</a:t>
            </a:r>
            <a:r>
              <a:rPr lang="zh-CN" altLang="en-US"/>
              <a:t>日：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BEAUTIFY_FLAG" val=""/>
</p:tagLst>
</file>

<file path=ppt/tags/tag8.xml><?xml version="1.0" encoding="utf-8"?>
<p:tagLst xmlns:p="http://schemas.openxmlformats.org/presentationml/2006/main">
  <p:tag name="KSO_WM_BEAUTIFY_FLAG" val="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BEAUTIFY_FLAG" val=""/>
</p:tagLst>
</file>

<file path=ppt/tags/tag21.xml><?xml version="1.0" encoding="utf-8"?>
<p:tagLst xmlns:p="http://schemas.openxmlformats.org/presentationml/2006/main">
  <p:tag name="KSO_WM_BEAUTIFY_FLAG" val="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BEAUTIFY_FLAG" val=""/>
</p:tagLst>
</file>

<file path=ppt/tags/tag28.xml><?xml version="1.0" encoding="utf-8"?>
<p:tagLst xmlns:p="http://schemas.openxmlformats.org/presentationml/2006/main">
  <p:tag name="KSO_WM_SPECIAL_SOURCE" val="bdnull"/>
</p:tagLst>
</file>

<file path=ppt/tags/tag29.xml><?xml version="1.0" encoding="utf-8"?>
<p:tagLst xmlns:p="http://schemas.openxmlformats.org/presentationml/2006/main">
  <p:tag name="KSO_WM_SPECIAL_SOURCE" val="bdnull"/>
</p:tagLst>
</file>

<file path=ppt/tags/tag30.xml><?xml version="1.0" encoding="utf-8"?>
<p:tagLst xmlns:p="http://schemas.openxmlformats.org/presentationml/2006/main">
  <p:tag name="KSO_WM_SPECIAL_SOURCE" val="bdnull"/>
</p:tagLst>
</file>

<file path=ppt/tags/tag31.xml><?xml version="1.0" encoding="utf-8"?>
<p:tagLst xmlns:p="http://schemas.openxmlformats.org/presentationml/2006/main">
  <p:tag name="KSO_WM_SPECIAL_SOURCE" val="bdnull"/>
</p:tagLst>
</file>

<file path=ppt/tags/tag32.xml><?xml version="1.0" encoding="utf-8"?>
<p:tagLst xmlns:p="http://schemas.openxmlformats.org/presentationml/2006/main">
  <p:tag name="KSO_WM_SPECIAL_SOURCE" val="bdnull"/>
</p:tagLst>
</file>

<file path=ppt/tags/tag33.xml><?xml version="1.0" encoding="utf-8"?>
<p:tagLst xmlns:p="http://schemas.openxmlformats.org/presentationml/2006/main">
  <p:tag name="KSO_WM_SPECIAL_SOURCE" val="bdnull"/>
</p:tagLst>
</file>

<file path=ppt/tags/tag34.xml><?xml version="1.0" encoding="utf-8"?>
<p:tagLst xmlns:p="http://schemas.openxmlformats.org/presentationml/2006/main">
  <p:tag name="KSO_WM_SPECIAL_SOURCE" val="bdnull"/>
</p:tagLst>
</file>

<file path=ppt/tags/tag35.xml><?xml version="1.0" encoding="utf-8"?>
<p:tagLst xmlns:p="http://schemas.openxmlformats.org/presentationml/2006/main">
  <p:tag name="KSO_WM_SPECIAL_SOURCE" val="bdnull"/>
</p:tagLst>
</file>

<file path=ppt/tags/tag36.xml><?xml version="1.0" encoding="utf-8"?>
<p:tagLst xmlns:p="http://schemas.openxmlformats.org/presentationml/2006/main">
  <p:tag name="KSO_WM_SPECIAL_SOURCE" val="bdnull"/>
</p:tagLst>
</file>

<file path=ppt/tags/tag37.xml><?xml version="1.0" encoding="utf-8"?>
<p:tagLst xmlns:p="http://schemas.openxmlformats.org/presentationml/2006/main">
  <p:tag name="KSO_WM_SPECIAL_SOURCE" val="bdnull"/>
</p:tagLst>
</file>

<file path=ppt/tags/tag38.xml><?xml version="1.0" encoding="utf-8"?>
<p:tagLst xmlns:p="http://schemas.openxmlformats.org/presentationml/2006/main">
  <p:tag name="KSO_WM_SPECIAL_SOURCE" val="bdnull"/>
</p:tagLst>
</file>

<file path=ppt/tags/tag39.xml><?xml version="1.0" encoding="utf-8"?>
<p:tagLst xmlns:p="http://schemas.openxmlformats.org/presentationml/2006/main">
  <p:tag name="KSO_WM_SPECIAL_SOURCE" val="bdnull"/>
</p:tagLst>
</file>

<file path=ppt/tags/tag40.xml><?xml version="1.0" encoding="utf-8"?>
<p:tagLst xmlns:p="http://schemas.openxmlformats.org/presentationml/2006/main">
  <p:tag name="KSO_WM_SPECIAL_SOURCE" val="bdnull"/>
</p:tagLst>
</file>

<file path=ppt/tags/tag41.xml><?xml version="1.0" encoding="utf-8"?>
<p:tagLst xmlns:p="http://schemas.openxmlformats.org/presentationml/2006/main">
  <p:tag name="KSO_WM_SPECIAL_SOURCE" val="bdnull"/>
  <p:tag name="resource_record_key" val="{&quot;13&quot;:[4364938]}"/>
</p:tagLst>
</file>

<file path=ppt/tags/tag42.xml><?xml version="1.0" encoding="utf-8"?>
<p:tagLst xmlns:p="http://schemas.openxmlformats.org/presentationml/2006/main">
  <p:tag name="KSO_WM_SPECIAL_SOURCE" val="bdnull"/>
  <p:tag name="resource_record_key" val="{&quot;13&quot;:[4364938]}"/>
</p:tagLst>
</file>

<file path=ppt/tags/tag43.xml><?xml version="1.0" encoding="utf-8"?>
<p:tagLst xmlns:p="http://schemas.openxmlformats.org/presentationml/2006/main">
  <p:tag name="KSO_WM_SPECIAL_SOURCE" val="bdnull"/>
  <p:tag name="resource_record_key" val="{&quot;13&quot;:[4364938]}"/>
</p:tagLst>
</file>

<file path=ppt/tags/tag44.xml><?xml version="1.0" encoding="utf-8"?>
<p:tagLst xmlns:p="http://schemas.openxmlformats.org/presentationml/2006/main">
  <p:tag name="KSO_WM_SPECIAL_SOURCE" val="bdnull"/>
</p:tagLst>
</file>

<file path=ppt/tags/tag45.xml><?xml version="1.0" encoding="utf-8"?>
<p:tagLst xmlns:p="http://schemas.openxmlformats.org/presentationml/2006/main">
  <p:tag name="KSO_WM_SPECIAL_SOURCE" val="bdnull"/>
</p:tagLst>
</file>

<file path=ppt/tags/tag46.xml><?xml version="1.0" encoding="utf-8"?>
<p:tagLst xmlns:p="http://schemas.openxmlformats.org/presentationml/2006/main">
  <p:tag name="COMMONDATA" val="eyJoZGlkIjoiOTk5YjBiZTExNzdkZTMzZGJkYjE3NzExMTJjOGEwMDIifQ=="/>
  <p:tag name="KSO_WPP_MARK_KEY" val="6d16b29e-c5c1-4d10-8608-1fb69fd68aa0"/>
  <p:tag name="commondata" val="eyJoZGlkIjoiNTU0ZmIwYTQ3NzlmZGUxZmU3Zjk0M2IyZTNmM2IxNjAifQ=="/>
  <p:tag name="resource_record_key" val="{&quot;13&quot;:[4364938]}"/>
</p:tagLst>
</file>

<file path=ppt/theme/theme1.xml><?xml version="1.0" encoding="utf-8"?>
<a:theme xmlns:a="http://schemas.openxmlformats.org/drawingml/2006/main" name="1_Office 主题​​">
  <a:themeElements>
    <a:clrScheme name="自定义 3">
      <a:dk1>
        <a:srgbClr val="711A5F"/>
      </a:dk1>
      <a:lt1>
        <a:srgbClr val="FFFFFF"/>
      </a:lt1>
      <a:dk2>
        <a:srgbClr val="711A5F"/>
      </a:dk2>
      <a:lt2>
        <a:srgbClr val="FFFFFF"/>
      </a:lt2>
      <a:accent1>
        <a:srgbClr val="D8929B"/>
      </a:accent1>
      <a:accent2>
        <a:srgbClr val="C7C3E3"/>
      </a:accent2>
      <a:accent3>
        <a:srgbClr val="A07DA0"/>
      </a:accent3>
      <a:accent4>
        <a:srgbClr val="48005F"/>
      </a:accent4>
      <a:accent5>
        <a:srgbClr val="E1A08B"/>
      </a:accent5>
      <a:accent6>
        <a:srgbClr val="AD9CC2"/>
      </a:accent6>
      <a:hlink>
        <a:srgbClr val="C7C3E3"/>
      </a:hlink>
      <a:folHlink>
        <a:srgbClr val="48005F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Office 主题​​">
  <a:themeElements>
    <a:clrScheme name="自定义 3">
      <a:dk1>
        <a:srgbClr val="711A5F"/>
      </a:dk1>
      <a:lt1>
        <a:srgbClr val="FFFFFF"/>
      </a:lt1>
      <a:dk2>
        <a:srgbClr val="711A5F"/>
      </a:dk2>
      <a:lt2>
        <a:srgbClr val="FFFFFF"/>
      </a:lt2>
      <a:accent1>
        <a:srgbClr val="D8929B"/>
      </a:accent1>
      <a:accent2>
        <a:srgbClr val="C7C3E3"/>
      </a:accent2>
      <a:accent3>
        <a:srgbClr val="A07DA0"/>
      </a:accent3>
      <a:accent4>
        <a:srgbClr val="48005F"/>
      </a:accent4>
      <a:accent5>
        <a:srgbClr val="E1A08B"/>
      </a:accent5>
      <a:accent6>
        <a:srgbClr val="AD9CC2"/>
      </a:accent6>
      <a:hlink>
        <a:srgbClr val="C7C3E3"/>
      </a:hlink>
      <a:folHlink>
        <a:srgbClr val="48005F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3609</Words>
  <Application>WPS 演示</Application>
  <PresentationFormat>宽屏</PresentationFormat>
  <Paragraphs>240</Paragraphs>
  <Slides>21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21</vt:i4>
      </vt:variant>
    </vt:vector>
  </HeadingPairs>
  <TitlesOfParts>
    <vt:vector size="33" baseType="lpstr">
      <vt:lpstr>Arial</vt:lpstr>
      <vt:lpstr>宋体</vt:lpstr>
      <vt:lpstr>Wingdings</vt:lpstr>
      <vt:lpstr>微软雅黑</vt:lpstr>
      <vt:lpstr>Noto Sans S Chinese Black</vt:lpstr>
      <vt:lpstr>Times New Roman</vt:lpstr>
      <vt:lpstr>Noto Sans S Chinese Bold</vt:lpstr>
      <vt:lpstr>Arial Unicode MS</vt:lpstr>
      <vt:lpstr>Calibri</vt:lpstr>
      <vt:lpstr>新宋体</vt:lpstr>
      <vt:lpstr>1_Office 主题​​</vt:lpstr>
      <vt:lpstr>2_Office 主题​​</vt:lpstr>
      <vt:lpstr>Week12:AIGobang2</vt:lpstr>
      <vt:lpstr>Review</vt:lpstr>
      <vt:lpstr>Review</vt:lpstr>
      <vt:lpstr>Review</vt:lpstr>
      <vt:lpstr>博弈树</vt:lpstr>
      <vt:lpstr>博弈树</vt:lpstr>
      <vt:lpstr>博弈树</vt:lpstr>
      <vt:lpstr>博弈树</vt:lpstr>
      <vt:lpstr>博弈树</vt:lpstr>
      <vt:lpstr>MinMax Algorithm（极小极大值）</vt:lpstr>
      <vt:lpstr>MinMax Algorithm（极小极大值）</vt:lpstr>
      <vt:lpstr>MinMax Algorithm</vt:lpstr>
      <vt:lpstr>MinMax Algorithm</vt:lpstr>
      <vt:lpstr>评估函数</vt:lpstr>
      <vt:lpstr>AI下棋层（Max）</vt:lpstr>
      <vt:lpstr>玩家下棋层(Min)</vt:lpstr>
      <vt:lpstr>MinMax Algorithm</vt:lpstr>
      <vt:lpstr>AI_Play()</vt:lpstr>
      <vt:lpstr>Homework</vt:lpstr>
      <vt:lpstr>Thinking</vt:lpstr>
      <vt:lpstr>成果展示时间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沈舒尹</cp:lastModifiedBy>
  <cp:revision>377</cp:revision>
  <dcterms:created xsi:type="dcterms:W3CDTF">2019-06-19T02:08:00Z</dcterms:created>
  <dcterms:modified xsi:type="dcterms:W3CDTF">2026-05-19T11:06:29Z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2052-12.1.0.21915</vt:lpwstr>
  </property>
  <property fmtid="{D5CDD505-2E9C-101B-9397-08002B2CF9AE}" pid="3" name="ICV">
    <vt:lpwstr>9AFBC04310564A15B3BBD0FFC6679276</vt:lpwstr>
  </property>
</Properties>
</file>