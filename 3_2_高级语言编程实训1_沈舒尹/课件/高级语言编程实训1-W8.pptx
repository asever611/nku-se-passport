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  <p:sldMasterId id="2147483666" r:id="rId4"/>
  </p:sldMasterIdLst>
  <p:notesMasterIdLst>
    <p:notesMasterId r:id="rId23"/>
  </p:notesMasterIdLst>
  <p:handoutMasterIdLst>
    <p:handoutMasterId r:id="rId24"/>
  </p:handoutMasterIdLst>
  <p:sldIdLst>
    <p:sldId id="488" r:id="rId5"/>
    <p:sldId id="505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</p:sldIdLst>
  <p:sldSz cx="12192000" cy="6858000"/>
  <p:notesSz cx="6858000" cy="9144000"/>
  <p:embeddedFontLst>
    <p:embeddedFont>
      <p:font typeface="微软雅黑" panose="020B0503020204020204" charset="-122"/>
      <p:regular r:id="rId29"/>
    </p:embeddedFont>
    <p:embeddedFont>
      <p:font typeface="新宋体" panose="02010609030101010101" pitchFamily="49" charset="-122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8174B"/>
    <a:srgbClr val="97216D"/>
    <a:srgbClr val="CC99FF"/>
    <a:srgbClr val="AFABAB"/>
    <a:srgbClr val="7F7F7F"/>
    <a:srgbClr val="767171"/>
    <a:srgbClr val="4F4B4B"/>
    <a:srgbClr val="4B113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5" Type="http://schemas.openxmlformats.org/officeDocument/2006/relationships/tags" Target="tags/tag64.xml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.fntdata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fld id="{C5208D80-BB41-4963-897C-903E2157F65A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>
              <a:defRPr/>
            </a:pPr>
            <a:fld id="{5D733C2C-26CA-4414-88C7-8048C355B51E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 descr="学院logo"/>
          <p:cNvPicPr>
            <a:picLocks noChangeAspect="1"/>
          </p:cNvPicPr>
          <p:nvPr userDrawn="1"/>
        </p:nvPicPr>
        <p:blipFill>
          <a:blip r:embed="rId3"/>
          <a:srcRect l="16426" t="16556" r="16806" b="16435"/>
          <a:stretch>
            <a:fillRect/>
          </a:stretch>
        </p:blipFill>
        <p:spPr>
          <a:xfrm>
            <a:off x="11056620" y="0"/>
            <a:ext cx="1135380" cy="85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学院logo"/>
          <p:cNvPicPr>
            <a:picLocks noChangeAspect="1"/>
          </p:cNvPicPr>
          <p:nvPr userDrawn="1"/>
        </p:nvPicPr>
        <p:blipFill>
          <a:blip r:embed="rId2"/>
          <a:srcRect l="16426" t="16556" r="16806" b="16435"/>
          <a:stretch>
            <a:fillRect/>
          </a:stretch>
        </p:blipFill>
        <p:spPr>
          <a:xfrm>
            <a:off x="11056620" y="0"/>
            <a:ext cx="1135380" cy="85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8" Type="http://schemas.openxmlformats.org/officeDocument/2006/relationships/theme" Target="../theme/theme3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5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microsoft.com/office/2007/relationships/media" Target="file:///D:\3.&#36719;&#20214;&#23398;&#38498;&#23454;&#39564;&#35838;\4.&#39640;&#32423;&#35821;&#35328;&#32534;&#31243;&#23454;&#35757;1\2023-2024-2\PPT\&#20116;&#23376;&#26827;&#35270;&#39057;.mp4" TargetMode="External"/><Relationship Id="rId1" Type="http://schemas.openxmlformats.org/officeDocument/2006/relationships/video" Target="file:///D:\3.&#36719;&#20214;&#23398;&#38498;&#23454;&#39564;&#35838;\4.&#39640;&#32423;&#35821;&#35328;&#32534;&#31243;&#23454;&#35757;1\2023-2024-2\PPT\&#20116;&#23376;&#26827;&#35270;&#39057;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8.png"/><Relationship Id="rId2" Type="http://schemas.openxmlformats.org/officeDocument/2006/relationships/tags" Target="../tags/tag29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tags" Target="../tags/tag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hyperlink" Target="https://docs.easyx.cn/zh-cn/mouse-operation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3" Type="http://schemas.openxmlformats.org/officeDocument/2006/relationships/slideLayout" Target="../slideLayouts/slideLayout18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3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Week8:Gobang1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anose="020B0A00000000000000" pitchFamily="34" charset="-122"/>
                <a:cs typeface="Times New Roman" panose="02020603050405020304" pitchFamily="18" charset="0"/>
                <a:sym typeface="+mn-ea"/>
              </a:rPr>
              <a:t>—— Practice of Programming </a:t>
            </a:r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anose="020B0A00000000000000" pitchFamily="34" charset="-122"/>
                <a:cs typeface="Times New Roman" panose="02020603050405020304" pitchFamily="18" charset="0"/>
                <a:sym typeface="+mn-ea"/>
              </a:rPr>
              <a:t>Language 1——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Noto Sans S Chinese Black" panose="020B0A00000000000000" pitchFamily="34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19747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</a:t>
            </a:r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</a:t>
            </a:r>
            <a:endParaRPr lang="en-US" altLang="zh-CN"/>
          </a:p>
        </p:txBody>
      </p:sp>
      <p:pic>
        <p:nvPicPr>
          <p:cNvPr id="4" name="五子棋视频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62600" y="1490400"/>
            <a:ext cx="8460800" cy="475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Game Board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15 or 19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658" y="2550063"/>
            <a:ext cx="3226281" cy="3226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96350" y="5987576"/>
            <a:ext cx="145786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225 points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08344" y="6249724"/>
            <a:ext cx="145786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361 points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604" t="5240" r="5000" b="7485"/>
          <a:stretch>
            <a:fillRect/>
          </a:stretch>
        </p:blipFill>
        <p:spPr>
          <a:xfrm>
            <a:off x="7000910" y="2410395"/>
            <a:ext cx="3526497" cy="3577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Game Board</a:t>
            </a:r>
            <a:endParaRPr lang="en-US" altLang="zh-CN"/>
          </a:p>
        </p:txBody>
      </p:sp>
      <p:sp>
        <p:nvSpPr>
          <p:cNvPr id="47" name="TextBox 46"/>
          <p:cNvSpPr txBox="1"/>
          <p:nvPr/>
        </p:nvSpPr>
        <p:spPr>
          <a:xfrm>
            <a:off x="2121131" y="5947185"/>
            <a:ext cx="5004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Board width =  (N-1) * block_width + margin *2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65845" y="3229610"/>
            <a:ext cx="2988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* 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Game Board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284720" y="1261745"/>
            <a:ext cx="3996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Board height =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(N-1) * block_width + margin *2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125970" y="5947410"/>
            <a:ext cx="2123440" cy="723900"/>
            <a:chOff x="13455" y="9673"/>
            <a:chExt cx="3344" cy="1140"/>
          </a:xfrm>
        </p:grpSpPr>
        <p:sp>
          <p:nvSpPr>
            <p:cNvPr id="20" name="TextBox 19"/>
            <p:cNvSpPr txBox="1"/>
            <p:nvPr/>
          </p:nvSpPr>
          <p:spPr>
            <a:xfrm>
              <a:off x="13455" y="10137"/>
              <a:ext cx="3345" cy="6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(N-1) * block_width + margin ,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(N-1) * block_width + margin )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3455" y="9673"/>
              <a:ext cx="334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Right Bottom</a:t>
              </a:r>
              <a:endParaRPr lang="en-US" altLang="zh-CN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153160" y="1110615"/>
            <a:ext cx="8530590" cy="5510530"/>
            <a:chOff x="2824" y="1651"/>
            <a:chExt cx="13976" cy="9028"/>
          </a:xfrm>
        </p:grpSpPr>
        <p:cxnSp>
          <p:nvCxnSpPr>
            <p:cNvPr id="10" name="Straight Arrow Connector 45"/>
            <p:cNvCxnSpPr/>
            <p:nvPr>
              <p:custDataLst>
                <p:tags r:id="rId1"/>
              </p:custDataLst>
            </p:nvPr>
          </p:nvCxnSpPr>
          <p:spPr>
            <a:xfrm>
              <a:off x="2824" y="9575"/>
              <a:ext cx="1397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48"/>
            <p:cNvGrpSpPr/>
            <p:nvPr/>
          </p:nvGrpSpPr>
          <p:grpSpPr>
            <a:xfrm>
              <a:off x="2824" y="1651"/>
              <a:ext cx="9525" cy="7749"/>
              <a:chOff x="173940" y="53746"/>
              <a:chExt cx="7101223" cy="5807304"/>
            </a:xfrm>
          </p:grpSpPr>
          <p:grpSp>
            <p:nvGrpSpPr>
              <p:cNvPr id="12" name="Group 43"/>
              <p:cNvGrpSpPr/>
              <p:nvPr/>
            </p:nvGrpSpPr>
            <p:grpSpPr>
              <a:xfrm>
                <a:off x="173940" y="143741"/>
                <a:ext cx="7101223" cy="5717309"/>
                <a:chOff x="347501" y="494722"/>
                <a:chExt cx="7101223" cy="5717309"/>
              </a:xfrm>
            </p:grpSpPr>
            <p:grpSp>
              <p:nvGrpSpPr>
                <p:cNvPr id="13" name="Group 38"/>
                <p:cNvGrpSpPr/>
                <p:nvPr/>
              </p:nvGrpSpPr>
              <p:grpSpPr>
                <a:xfrm>
                  <a:off x="347501" y="494722"/>
                  <a:ext cx="7101223" cy="5717309"/>
                  <a:chOff x="173940" y="341746"/>
                  <a:chExt cx="7101223" cy="5717309"/>
                </a:xfrm>
              </p:grpSpPr>
              <p:pic>
                <p:nvPicPr>
                  <p:cNvPr id="14" name="Picture 4"/>
                  <p:cNvPicPr>
                    <a:picLocks noChangeAspect="1"/>
                  </p:cNvPicPr>
                  <p:nvPr>
                    <p:custDataLst>
                      <p:tags r:id="rId2"/>
                    </p:custDataLst>
                  </p:nvPr>
                </p:nvPicPr>
                <p:blipFill rotWithShape="1">
                  <a:blip r:embed="rId3"/>
                  <a:srcRect l="1756" t="6263" r="59435" b="63703"/>
                  <a:stretch>
                    <a:fillRect/>
                  </a:stretch>
                </p:blipFill>
                <p:spPr>
                  <a:xfrm>
                    <a:off x="221673" y="341746"/>
                    <a:ext cx="7053490" cy="5717309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</p:pic>
              <p:cxnSp>
                <p:nvCxnSpPr>
                  <p:cNvPr id="15" name="Straight Arrow Connector 31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>
                    <a:off x="1413164" y="341746"/>
                    <a:ext cx="0" cy="803563"/>
                  </a:xfrm>
                  <a:prstGeom prst="straightConnector1">
                    <a:avLst/>
                  </a:prstGeom>
                  <a:ln w="57150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TextBox 33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365431" y="429613"/>
                    <a:ext cx="1551709" cy="452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margin</a:t>
                    </a:r>
                    <a:endPara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7" name="Straight Arrow Connector 34"/>
                  <p:cNvCxnSpPr/>
                  <p:nvPr>
                    <p:custDataLst>
                      <p:tags r:id="rId6"/>
                    </p:custDataLst>
                  </p:nvPr>
                </p:nvCxnSpPr>
                <p:spPr>
                  <a:xfrm>
                    <a:off x="221673" y="1745673"/>
                    <a:ext cx="831272" cy="0"/>
                  </a:xfrm>
                  <a:prstGeom prst="straightConnector1">
                    <a:avLst/>
                  </a:prstGeom>
                  <a:ln w="57150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TextBox 37"/>
                  <p:cNvSpPr txBox="1"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73940" y="1833540"/>
                    <a:ext cx="1551709" cy="4521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margin</a:t>
                    </a:r>
                    <a:endPara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19" name="Straight Arrow Connector 39"/>
                <p:cNvCxnSpPr/>
                <p:nvPr>
                  <p:custDataLst>
                    <p:tags r:id="rId8"/>
                  </p:custDataLst>
                </p:nvPr>
              </p:nvCxnSpPr>
              <p:spPr>
                <a:xfrm>
                  <a:off x="2392219" y="3006437"/>
                  <a:ext cx="1108363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42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2255947" y="3059668"/>
                  <a:ext cx="2103961" cy="452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block_width</a:t>
                  </a:r>
                  <a:endPara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2" name="Rectangle 7"/>
              <p:cNvSpPr/>
              <p:nvPr>
                <p:custDataLst>
                  <p:tags r:id="rId10"/>
                </p:custDataLst>
              </p:nvPr>
            </p:nvSpPr>
            <p:spPr>
              <a:xfrm>
                <a:off x="4186347" y="3546582"/>
                <a:ext cx="2063916" cy="812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star or </a:t>
                </a: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tianyuan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6"/>
              <p:cNvSpPr/>
              <p:nvPr>
                <p:custDataLst>
                  <p:tags r:id="rId11"/>
                </p:custDataLst>
              </p:nvPr>
            </p:nvSpPr>
            <p:spPr>
              <a:xfrm>
                <a:off x="3602955" y="53746"/>
                <a:ext cx="1985821" cy="72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Line numbers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4" name="Straight Arrow Connector 51"/>
            <p:cNvCxnSpPr/>
            <p:nvPr>
              <p:custDataLst>
                <p:tags r:id="rId12"/>
              </p:custDataLst>
            </p:nvPr>
          </p:nvCxnSpPr>
          <p:spPr>
            <a:xfrm>
              <a:off x="12609" y="1749"/>
              <a:ext cx="0" cy="893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Arial" panose="020B0604020202020204" pitchFamily="34" charset="0"/>
              </a:rPr>
              <a:t>View Design</a:t>
            </a:r>
            <a:endParaRPr lang="en-US" altLang="zh-CN" sz="3600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background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setfillcolor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(RGB(255, 205, 150));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solidrectangle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(0,0,board_width,board_height)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Line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N, block_width, margin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setbkmode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rgbClr val="6F008A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TRANSPARENT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50710" y="4363085"/>
            <a:ext cx="4178300" cy="1282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drawBoard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a blank board(yellow or other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color)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lines(N*N)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line(x1,y1,x2,y2);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stars and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Tianyuan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line numbers text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setbkmode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(TRANSPARENT);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153" y="3272444"/>
            <a:ext cx="3156847" cy="3311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Inicialize the game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44495" y="1490345"/>
            <a:ext cx="6296025" cy="4759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Model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2-D Array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chessBox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[N][N]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Initiliaze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value is 0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Value is number(1 for black, 2 for white)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015742" y="1547369"/>
            <a:ext cx="35912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chessBox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[row][col]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70865" y="3873049"/>
            <a:ext cx="2452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solidcircle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x,y,radius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Chess View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5975" y="1041400"/>
            <a:ext cx="6408420" cy="5444490"/>
            <a:chOff x="3769" y="2200"/>
            <a:chExt cx="10092" cy="8574"/>
          </a:xfrm>
        </p:grpSpPr>
        <p:grpSp>
          <p:nvGrpSpPr>
            <p:cNvPr id="3" name="组合 2"/>
            <p:cNvGrpSpPr/>
            <p:nvPr/>
          </p:nvGrpSpPr>
          <p:grpSpPr>
            <a:xfrm>
              <a:off x="3769" y="2200"/>
              <a:ext cx="9506" cy="8574"/>
              <a:chOff x="3769" y="2200"/>
              <a:chExt cx="9506" cy="8574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3769" y="2200"/>
                <a:ext cx="9507" cy="8574"/>
                <a:chOff x="1032572" y="506092"/>
                <a:chExt cx="6319573" cy="5845815"/>
              </a:xfrm>
            </p:grpSpPr>
            <p:grpSp>
              <p:nvGrpSpPr>
                <p:cNvPr id="27" name="Group 26"/>
                <p:cNvGrpSpPr/>
                <p:nvPr/>
              </p:nvGrpSpPr>
              <p:grpSpPr>
                <a:xfrm>
                  <a:off x="1032572" y="506092"/>
                  <a:ext cx="6319573" cy="5845815"/>
                  <a:chOff x="1014099" y="554985"/>
                  <a:chExt cx="6319573" cy="5845815"/>
                </a:xfrm>
              </p:grpSpPr>
              <p:grpSp>
                <p:nvGrpSpPr>
                  <p:cNvPr id="10" name="Group 9"/>
                  <p:cNvGrpSpPr/>
                  <p:nvPr/>
                </p:nvGrpSpPr>
                <p:grpSpPr>
                  <a:xfrm>
                    <a:off x="1014099" y="554985"/>
                    <a:ext cx="6319573" cy="5845815"/>
                    <a:chOff x="1014099" y="554985"/>
                    <a:chExt cx="6319573" cy="5845815"/>
                  </a:xfrm>
                </p:grpSpPr>
                <p:pic>
                  <p:nvPicPr>
                    <p:cNvPr id="5" name="Picture 4"/>
                    <p:cNvPicPr>
                      <a:picLocks noChangeAspect="1"/>
                    </p:cNvPicPr>
                    <p:nvPr/>
                  </p:nvPicPr>
                  <p:blipFill rotWithShape="1">
                    <a:blip r:embed="rId1"/>
                    <a:srcRect r="60209" b="63098"/>
                    <a:stretch>
                      <a:fillRect/>
                    </a:stretch>
                  </p:blipFill>
                  <p:spPr>
                    <a:xfrm>
                      <a:off x="1014099" y="554985"/>
                      <a:ext cx="6319573" cy="584581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" name="Oval 5"/>
                    <p:cNvSpPr/>
                    <p:nvPr/>
                  </p:nvSpPr>
                  <p:spPr>
                    <a:xfrm>
                      <a:off x="4368800" y="3879273"/>
                      <a:ext cx="1025235" cy="105294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4">
                        <a:shade val="50000"/>
                      </a:schemeClr>
                    </a:lnRef>
                    <a:fillRef idx="1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9" name="Straight Arrow Connector 8"/>
                  <p:cNvCxnSpPr/>
                  <p:nvPr/>
                </p:nvCxnSpPr>
                <p:spPr>
                  <a:xfrm>
                    <a:off x="1014099" y="1981200"/>
                    <a:ext cx="777756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1014099" y="554985"/>
                    <a:ext cx="3867319" cy="3801204"/>
                    <a:chOff x="1014099" y="554985"/>
                    <a:chExt cx="3867319" cy="3801204"/>
                  </a:xfrm>
                </p:grpSpPr>
                <p:cxnSp>
                  <p:nvCxnSpPr>
                    <p:cNvPr id="8" name="Straight Arrow Connector 7"/>
                    <p:cNvCxnSpPr/>
                    <p:nvPr/>
                  </p:nvCxnSpPr>
                  <p:spPr>
                    <a:xfrm>
                      <a:off x="2336800" y="554985"/>
                      <a:ext cx="0" cy="784288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1451060" y="655783"/>
                      <a:ext cx="1099126" cy="3954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margin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1014099" y="1981200"/>
                      <a:ext cx="1099126" cy="3954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margin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9" name="Straight Arrow Connector 18"/>
                    <p:cNvCxnSpPr/>
                    <p:nvPr/>
                  </p:nvCxnSpPr>
                  <p:spPr>
                    <a:xfrm>
                      <a:off x="4864843" y="554985"/>
                      <a:ext cx="16575" cy="3801204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triangl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" name="Straight Arrow Connector 15"/>
                <p:cNvCxnSpPr/>
                <p:nvPr/>
              </p:nvCxnSpPr>
              <p:spPr>
                <a:xfrm flipV="1">
                  <a:off x="1032572" y="4344262"/>
                  <a:ext cx="3873604" cy="12282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Oval 30"/>
              <p:cNvSpPr/>
              <p:nvPr/>
            </p:nvSpPr>
            <p:spPr>
              <a:xfrm>
                <a:off x="9587" y="7756"/>
                <a:ext cx="72" cy="7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0" name="Straight Arrow Connector 29"/>
            <p:cNvCxnSpPr>
              <a:stCxn id="31" idx="6"/>
            </p:cNvCxnSpPr>
            <p:nvPr/>
          </p:nvCxnSpPr>
          <p:spPr>
            <a:xfrm flipV="1">
              <a:off x="9659" y="6982"/>
              <a:ext cx="4203" cy="813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4556125" y="2888615"/>
            <a:ext cx="3561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 = margin + row *block_width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58620" y="5118100"/>
            <a:ext cx="40297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= margin + col * block_width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Draw Chess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Coordinate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x= margin + col * block_width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y= margin + row * block_width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circle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  <a:endParaRPr lang="en-US" altLang="zh-CN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drawChess(int row, int col,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Calculate x, 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Draw(check color)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setfillcolor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Clr>
                <a:srgbClr val="97216D"/>
              </a:buClr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solidcircle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748" y="4627620"/>
            <a:ext cx="6600825" cy="1781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Test if your drawChess function works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test() function to draw black and white chesses like the right picture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744" y="3429174"/>
            <a:ext cx="3011056" cy="315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413" y="3429174"/>
            <a:ext cx="3011056" cy="3158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Mouse Message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https://docs.easyx.cn/zh-cn/mouse-operations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5600" y="2834005"/>
            <a:ext cx="8056880" cy="2590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main() {</a:t>
            </a:r>
            <a:endParaRPr lang="en-US" altLang="zh-CN" sz="18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drawBoard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();</a:t>
            </a: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初始化游戏棋盘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1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while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(1) {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2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ExMessage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m;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2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getmessage(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EM_MOUSE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2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(m.message ==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WM_LBUTTONDOWN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&amp;&amp;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checkClick(m)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){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2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	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lvl="2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player();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cs typeface="Arial" panose="020B0604020202020204" pitchFamily="34" charset="0"/>
              </a:rPr>
              <a:t>How to check the click location?</a:t>
            </a:r>
            <a:endParaRPr lang="en-US" altLang="zh-CN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Get the row and col of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5118" r="74531" b="76233"/>
          <a:stretch>
            <a:fillRect/>
          </a:stretch>
        </p:blipFill>
        <p:spPr>
          <a:xfrm>
            <a:off x="2101273" y="3429000"/>
            <a:ext cx="3782291" cy="29048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347855" y="5606473"/>
            <a:ext cx="92363" cy="1108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15164" y="4992254"/>
            <a:ext cx="92363" cy="1108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8690" y="5477225"/>
            <a:ext cx="125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(x, y)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" name="Straight Arrow Connector 9"/>
          <p:cNvCxnSpPr>
            <a:endCxn id="6" idx="2"/>
          </p:cNvCxnSpPr>
          <p:nvPr/>
        </p:nvCxnSpPr>
        <p:spPr>
          <a:xfrm>
            <a:off x="2872509" y="5661891"/>
            <a:ext cx="2475346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28291" y="5672282"/>
            <a:ext cx="137621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- margin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394036" y="4061691"/>
            <a:ext cx="0" cy="1528741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54072" y="4343007"/>
            <a:ext cx="137621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 - margin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/>
          <p:cNvCxnSpPr>
            <a:endCxn id="35" idx="1"/>
          </p:cNvCxnSpPr>
          <p:nvPr/>
        </p:nvCxnSpPr>
        <p:spPr>
          <a:xfrm flipV="1">
            <a:off x="4761345" y="3562342"/>
            <a:ext cx="1705267" cy="12078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43126" y="2568450"/>
            <a:ext cx="4572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col = (x -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margin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 /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block_width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row = (y -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margin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 /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block_width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66840" y="3239770"/>
            <a:ext cx="48672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leftTopX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margin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+ col *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block_width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leftTopY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margin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+ row *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F008A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block_width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6096000" y="5672282"/>
            <a:ext cx="1440873" cy="45027"/>
          </a:xfrm>
          <a:prstGeom prst="straightConnector1">
            <a:avLst/>
          </a:prstGeom>
          <a:ln w="38100">
            <a:solidFill>
              <a:schemeClr val="accent5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24619" y="5487616"/>
            <a:ext cx="146858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Click here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72065" y="4605210"/>
            <a:ext cx="23183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117340" y="1088794"/>
            <a:ext cx="6585527" cy="5439064"/>
            <a:chOff x="1005797" y="1017154"/>
            <a:chExt cx="5718778" cy="461587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1"/>
            <a:srcRect l="9032" t="32862" r="51413" b="36701"/>
            <a:stretch>
              <a:fillRect/>
            </a:stretch>
          </p:blipFill>
          <p:spPr>
            <a:xfrm>
              <a:off x="1005797" y="1017154"/>
              <a:ext cx="5718778" cy="4615874"/>
            </a:xfrm>
            <a:prstGeom prst="rect">
              <a:avLst/>
            </a:prstGeom>
          </p:spPr>
        </p:pic>
        <p:grpSp>
          <p:nvGrpSpPr>
            <p:cNvPr id="23" name="Group 22"/>
            <p:cNvGrpSpPr/>
            <p:nvPr/>
          </p:nvGrpSpPr>
          <p:grpSpPr>
            <a:xfrm>
              <a:off x="3205018" y="3048000"/>
              <a:ext cx="914400" cy="923636"/>
              <a:chOff x="3205018" y="3048000"/>
              <a:chExt cx="914400" cy="92363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565236" y="3325091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8" name="Straight Arrow Connector 7"/>
              <p:cNvCxnSpPr>
                <a:stCxn id="6" idx="3"/>
              </p:cNvCxnSpPr>
              <p:nvPr/>
            </p:nvCxnSpPr>
            <p:spPr>
              <a:xfrm flipH="1" flipV="1">
                <a:off x="3205018" y="3048000"/>
                <a:ext cx="366913" cy="3161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>
                <a:off x="3223491" y="3370810"/>
                <a:ext cx="387464" cy="6008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" idx="6"/>
              </p:cNvCxnSpPr>
              <p:nvPr/>
            </p:nvCxnSpPr>
            <p:spPr>
              <a:xfrm flipV="1">
                <a:off x="3610955" y="3058968"/>
                <a:ext cx="508463" cy="2889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3611418" y="3389745"/>
                <a:ext cx="508000" cy="58189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Chess location</a:t>
            </a:r>
            <a:endParaRPr lang="en-US"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8465185" y="3360420"/>
            <a:ext cx="3724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Mouse left button click coordinate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m.x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m.y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+mn-lt"/>
              </a:rPr>
              <a:t>Calculate 4 distances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+mn-lt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063365" y="3849457"/>
            <a:ext cx="4483100" cy="456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70646" y="2765735"/>
            <a:ext cx="2228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leftTopX,leftTopY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75613" y="4257500"/>
            <a:ext cx="29473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leftTopY+block_width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99865" y="4512940"/>
            <a:ext cx="274656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leftTopX+block_width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leftTopY+block_width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21634" y="2589533"/>
            <a:ext cx="270302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leftTopX+block_width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leftTopY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bool checkClick()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if the distance is less than the boundary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 if the position is empty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0" y="5851179"/>
            <a:ext cx="7429500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21" y="3375660"/>
            <a:ext cx="4278313" cy="2018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  <a:cs typeface="Arial" panose="020B0604020202020204" pitchFamily="34" charset="0"/>
              </a:rPr>
              <a:t>Flow Chart</a:t>
            </a:r>
            <a:endParaRPr lang="en-US" altLang="zh-CN" sz="28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" name="Group 98"/>
          <p:cNvGrpSpPr/>
          <p:nvPr/>
        </p:nvGrpSpPr>
        <p:grpSpPr>
          <a:xfrm>
            <a:off x="2433671" y="2208141"/>
            <a:ext cx="7627312" cy="3389096"/>
            <a:chOff x="909671" y="2208141"/>
            <a:chExt cx="7627312" cy="3389096"/>
          </a:xfrm>
        </p:grpSpPr>
        <p:grpSp>
          <p:nvGrpSpPr>
            <p:cNvPr id="5" name="Group 95"/>
            <p:cNvGrpSpPr/>
            <p:nvPr/>
          </p:nvGrpSpPr>
          <p:grpSpPr>
            <a:xfrm>
              <a:off x="909671" y="2208141"/>
              <a:ext cx="5554808" cy="3389096"/>
              <a:chOff x="1896269" y="2171194"/>
              <a:chExt cx="5554808" cy="3389096"/>
            </a:xfrm>
          </p:grpSpPr>
          <p:grpSp>
            <p:nvGrpSpPr>
              <p:cNvPr id="7" name="Group 86"/>
              <p:cNvGrpSpPr/>
              <p:nvPr/>
            </p:nvGrpSpPr>
            <p:grpSpPr>
              <a:xfrm>
                <a:off x="1896269" y="2171194"/>
                <a:ext cx="5554808" cy="3389096"/>
                <a:chOff x="2995396" y="2134249"/>
                <a:chExt cx="5554808" cy="3389096"/>
              </a:xfrm>
            </p:grpSpPr>
            <p:sp>
              <p:nvSpPr>
                <p:cNvPr id="9" name="圆角矩形 8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3583636" y="2134249"/>
                  <a:ext cx="1000125" cy="50006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Start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矩形 9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3047855" y="2943786"/>
                  <a:ext cx="2071687" cy="5000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1. Draw a chess Board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菱形 1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25091" y="4357686"/>
                  <a:ext cx="1517217" cy="1165659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4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Left button clicked?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3" name="直接箭头连接符 12"/>
                <p:cNvCxnSpPr>
                  <a:stCxn id="9" idx="2"/>
                  <a:endCxn id="10" idx="0"/>
                </p:cNvCxnSpPr>
                <p:nvPr>
                  <p:custDataLst>
                    <p:tags r:id="rId4"/>
                  </p:custDataLst>
                </p:nvPr>
              </p:nvCxnSpPr>
              <p:spPr>
                <a:xfrm>
                  <a:off x="4083699" y="2634312"/>
                  <a:ext cx="0" cy="30947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/>
                <p:cNvCxnSpPr>
                  <a:stCxn id="10" idx="2"/>
                  <a:endCxn id="11" idx="0"/>
                </p:cNvCxnSpPr>
                <p:nvPr>
                  <p:custDataLst>
                    <p:tags r:id="rId5"/>
                  </p:custDataLst>
                </p:nvPr>
              </p:nvCxnSpPr>
              <p:spPr>
                <a:xfrm>
                  <a:off x="4083699" y="3443848"/>
                  <a:ext cx="1" cy="9138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肘形连接符 18"/>
                <p:cNvCxnSpPr>
                  <a:stCxn id="11" idx="3"/>
                  <a:endCxn id="20" idx="2"/>
                </p:cNvCxnSpPr>
                <p:nvPr>
                  <p:custDataLst>
                    <p:tags r:id="rId6"/>
                  </p:custDataLst>
                </p:nvPr>
              </p:nvCxnSpPr>
              <p:spPr>
                <a:xfrm flipV="1">
                  <a:off x="4842308" y="4670248"/>
                  <a:ext cx="2038237" cy="270268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20"/>
                <p:cNvSpPr txBox="1"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4797929" y="4575429"/>
                  <a:ext cx="500063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Y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菱形 1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902430" y="3646022"/>
                  <a:ext cx="1956229" cy="1024226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Click in right position?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TextBox 31"/>
                <p:cNvSpPr txBox="1"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7783027" y="3828842"/>
                  <a:ext cx="5000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N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2" name="直接箭头连接符 21"/>
                <p:cNvCxnSpPr>
                  <a:stCxn id="20" idx="0"/>
                  <a:endCxn id="23" idx="2"/>
                </p:cNvCxnSpPr>
                <p:nvPr>
                  <p:custDataLst>
                    <p:tags r:id="rId10"/>
                  </p:custDataLst>
                </p:nvPr>
              </p:nvCxnSpPr>
              <p:spPr>
                <a:xfrm flipV="1">
                  <a:off x="6880545" y="3250200"/>
                  <a:ext cx="11005" cy="3958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菱形 2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913436" y="2361200"/>
                  <a:ext cx="1956227" cy="88900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Is the position empty?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Box 63"/>
                <p:cNvSpPr txBox="1">
                  <a:spLocks noChangeArrowhead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7869663" y="2419162"/>
                  <a:ext cx="5000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Y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" name="直接箭头连接符 26"/>
                <p:cNvCxnSpPr>
                  <a:stCxn id="23" idx="3"/>
                </p:cNvCxnSpPr>
                <p:nvPr>
                  <p:custDataLst>
                    <p:tags r:id="rId13"/>
                  </p:custDataLst>
                </p:nvPr>
              </p:nvCxnSpPr>
              <p:spPr>
                <a:xfrm>
                  <a:off x="7869663" y="2805700"/>
                  <a:ext cx="68054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66"/>
                <p:cNvSpPr txBox="1">
                  <a:spLocks noChangeArrowheads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652399" y="2505330"/>
                  <a:ext cx="5000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N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0" name="Connector: Elbow 42"/>
                <p:cNvCxnSpPr>
                  <a:stCxn id="20" idx="3"/>
                  <a:endCxn id="11" idx="2"/>
                </p:cNvCxnSpPr>
                <p:nvPr>
                  <p:custDataLst>
                    <p:tags r:id="rId15"/>
                  </p:custDataLst>
                </p:nvPr>
              </p:nvCxnSpPr>
              <p:spPr>
                <a:xfrm flipH="1">
                  <a:off x="4083700" y="4158135"/>
                  <a:ext cx="3774959" cy="1365210"/>
                </a:xfrm>
                <a:prstGeom prst="bentConnector4">
                  <a:avLst>
                    <a:gd name="adj1" fmla="val -9237"/>
                    <a:gd name="adj2" fmla="val 116745"/>
                  </a:avLst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Connector: Elbow 48"/>
                <p:cNvCxnSpPr>
                  <a:stCxn id="11" idx="1"/>
                  <a:endCxn id="11" idx="0"/>
                </p:cNvCxnSpPr>
                <p:nvPr>
                  <p:custDataLst>
                    <p:tags r:id="rId16"/>
                  </p:custDataLst>
                </p:nvPr>
              </p:nvCxnSpPr>
              <p:spPr>
                <a:xfrm rot="10800000" flipH="1">
                  <a:off x="3325090" y="4357686"/>
                  <a:ext cx="758609" cy="582830"/>
                </a:xfrm>
                <a:prstGeom prst="bentConnector4">
                  <a:avLst>
                    <a:gd name="adj1" fmla="val -56919"/>
                    <a:gd name="adj2" fmla="val 139222"/>
                  </a:avLst>
                </a:prstGeom>
                <a:ln>
                  <a:tailEnd type="triangle" w="lg" len="lg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20"/>
                <p:cNvSpPr txBox="1"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2995396" y="4596893"/>
                  <a:ext cx="500063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N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TextBox 20"/>
                <p:cNvSpPr txBox="1">
                  <a:spLocks noChangeArrowhead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6473495" y="3468593"/>
                  <a:ext cx="500063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Arial" panose="020B0604020202020204" pitchFamily="34" charset="0"/>
                    </a:rPr>
                    <a:t>Y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4" name="Connector: Elbow 93"/>
              <p:cNvCxnSpPr>
                <a:stCxn id="23" idx="1"/>
              </p:cNvCxnSpPr>
              <p:nvPr>
                <p:custDataLst>
                  <p:tags r:id="rId19"/>
                </p:custDataLst>
              </p:nvPr>
            </p:nvCxnSpPr>
            <p:spPr>
              <a:xfrm rot="10800000" flipV="1">
                <a:off x="2984571" y="2842644"/>
                <a:ext cx="1829738" cy="1136405"/>
              </a:xfrm>
              <a:prstGeom prst="bentConnector3">
                <a:avLst>
                  <a:gd name="adj1" fmla="val 23246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5" name="矩形 5"/>
            <p:cNvSpPr/>
            <p:nvPr>
              <p:custDataLst>
                <p:tags r:id="rId20"/>
              </p:custDataLst>
            </p:nvPr>
          </p:nvSpPr>
          <p:spPr>
            <a:xfrm>
              <a:off x="6465296" y="2629560"/>
              <a:ext cx="2071687" cy="5477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2.1 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U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pdate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the chess array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" name="矩形 5"/>
            <p:cNvSpPr/>
            <p:nvPr>
              <p:custDataLst>
                <p:tags r:id="rId21"/>
              </p:custDataLst>
            </p:nvPr>
          </p:nvSpPr>
          <p:spPr>
            <a:xfrm>
              <a:off x="6465296" y="3540266"/>
              <a:ext cx="2071687" cy="5000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2.2 Draw a chess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7" name="Straight Arrow Connector 97"/>
            <p:cNvCxnSpPr>
              <a:stCxn id="35" idx="2"/>
              <a:endCxn id="36" idx="0"/>
            </p:cNvCxnSpPr>
            <p:nvPr>
              <p:custDataLst>
                <p:tags r:id="rId22"/>
              </p:custDataLst>
            </p:nvPr>
          </p:nvCxnSpPr>
          <p:spPr>
            <a:xfrm>
              <a:off x="7501140" y="3177307"/>
              <a:ext cx="0" cy="3629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</a:br>
            <a:endParaRPr lang="en-US" altLang="zh-CN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Complete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 err="1">
                <a:cs typeface="Arial" panose="020B0604020202020204" pitchFamily="34" charset="0"/>
                <a:sym typeface="+mn-ea"/>
              </a:rPr>
              <a:t>drawBoard</a:t>
            </a:r>
            <a:r>
              <a:rPr lang="en-US" altLang="zh-CN" dirty="0">
                <a:cs typeface="Arial" panose="020B0604020202020204" pitchFamily="34" charset="0"/>
                <a:sym typeface="+mn-ea"/>
              </a:rPr>
              <a:t>()</a:t>
            </a:r>
            <a:endParaRPr lang="en-US" altLang="zh-CN" dirty="0">
              <a:cs typeface="Arial" panose="020B0604020202020204" pitchFamily="34" charset="0"/>
              <a:sym typeface="+mn-ea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drawChess()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checkClick()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 some chesses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989" y="1832898"/>
            <a:ext cx="3412213" cy="3579091"/>
          </a:xfrm>
          <a:prstGeom prst="rect">
            <a:avLst/>
          </a:prstGeom>
        </p:spPr>
      </p:pic>
      <p:sp>
        <p:nvSpPr>
          <p:cNvPr id="74754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49755" y="257810"/>
            <a:ext cx="10401935" cy="548640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>
                <a:solidFill>
                  <a:schemeClr val="bg1"/>
                </a:solidFill>
                <a:cs typeface="Arial" panose="020B0604020202020204" pitchFamily="34" charset="0"/>
              </a:rPr>
              <a:t>Homework</a:t>
            </a:r>
            <a:endParaRPr lang="en-US" altLang="zh-CN" sz="24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  <p:tag name="KSO_WM_UNIT_PLACING_PICTURE_USER_VIEWPORT" val="{&quot;height&quot;:7495,&quot;width&quot;:9915}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PP_MARK_KEY" val="4009fc62-181b-4858-b937-28414374710c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2248</Words>
  <Application>WPS 演示</Application>
  <PresentationFormat>全屏显示(4:3)</PresentationFormat>
  <Paragraphs>210</Paragraphs>
  <Slides>18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Noto Sans S Chinese Black</vt:lpstr>
      <vt:lpstr>Times New Roman</vt:lpstr>
      <vt:lpstr>Noto Sans S Chinese Bold</vt:lpstr>
      <vt:lpstr>新宋体</vt:lpstr>
      <vt:lpstr>Arial Unicode MS</vt:lpstr>
      <vt:lpstr>Calibri</vt:lpstr>
      <vt:lpstr>1_OfficePLUS</vt:lpstr>
      <vt:lpstr>1_Office 主题​​</vt:lpstr>
      <vt:lpstr>2_Office 主题​​</vt:lpstr>
      <vt:lpstr>Week8:Gobang1</vt:lpstr>
      <vt:lpstr>Introduction</vt:lpstr>
      <vt:lpstr>Game Board</vt:lpstr>
      <vt:lpstr>Game Board</vt:lpstr>
      <vt:lpstr>View Design</vt:lpstr>
      <vt:lpstr>Practice</vt:lpstr>
      <vt:lpstr>Inicialize the game</vt:lpstr>
      <vt:lpstr>Model</vt:lpstr>
      <vt:lpstr>Chess View</vt:lpstr>
      <vt:lpstr>Draw Chess</vt:lpstr>
      <vt:lpstr>Practice</vt:lpstr>
      <vt:lpstr>Practice</vt:lpstr>
      <vt:lpstr>Mouse Message</vt:lpstr>
      <vt:lpstr>How to check the click location?</vt:lpstr>
      <vt:lpstr>Chess location</vt:lpstr>
      <vt:lpstr>Practice</vt:lpstr>
      <vt:lpstr>Flow Chart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296</cp:revision>
  <dcterms:created xsi:type="dcterms:W3CDTF">2020-04-18T12:57:00Z</dcterms:created>
  <dcterms:modified xsi:type="dcterms:W3CDTF">2026-03-17T07:48:01Z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007A52AF19C5419087ADE05BD9574941</vt:lpwstr>
  </property>
  <property fmtid="{D5CDD505-2E9C-101B-9397-08002B2CF9AE}" pid="3" name="KSOProductBuildVer">
    <vt:lpwstr>2052-12.1.0.21915</vt:lpwstr>
  </property>
</Properties>
</file>