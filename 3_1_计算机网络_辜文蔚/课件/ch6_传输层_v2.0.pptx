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1.xml" ContentType="application/vnd.openxmlformats-officedocument.presentationml.tags+xml"/>
  <Override PartName="/ppt/notesSlides/notesSlide35.xml" ContentType="application/vnd.openxmlformats-officedocument.presentationml.notesSlide+xml"/>
  <Override PartName="/ppt/tags/tag2.xml" ContentType="application/vnd.openxmlformats-officedocument.presentationml.tags+xml"/>
  <Override PartName="/ppt/notesSlides/notesSlide36.xml" ContentType="application/vnd.openxmlformats-officedocument.presentationml.notesSlide+xml"/>
  <Override PartName="/ppt/tags/tag3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68" r:id="rId3"/>
    <p:sldId id="269" r:id="rId4"/>
    <p:sldId id="275" r:id="rId5"/>
    <p:sldId id="325" r:id="rId6"/>
    <p:sldId id="271" r:id="rId7"/>
    <p:sldId id="272" r:id="rId8"/>
    <p:sldId id="286" r:id="rId9"/>
    <p:sldId id="537" r:id="rId10"/>
    <p:sldId id="298" r:id="rId11"/>
    <p:sldId id="308" r:id="rId12"/>
    <p:sldId id="309" r:id="rId13"/>
    <p:sldId id="310" r:id="rId14"/>
    <p:sldId id="311" r:id="rId15"/>
    <p:sldId id="312" r:id="rId16"/>
    <p:sldId id="306" r:id="rId17"/>
    <p:sldId id="314" r:id="rId18"/>
    <p:sldId id="538" r:id="rId19"/>
    <p:sldId id="395" r:id="rId20"/>
    <p:sldId id="396" r:id="rId21"/>
    <p:sldId id="397" r:id="rId22"/>
    <p:sldId id="391" r:id="rId23"/>
    <p:sldId id="398" r:id="rId24"/>
    <p:sldId id="393" r:id="rId25"/>
    <p:sldId id="399" r:id="rId26"/>
    <p:sldId id="539" r:id="rId27"/>
    <p:sldId id="364" r:id="rId28"/>
    <p:sldId id="619" r:id="rId29"/>
    <p:sldId id="620" r:id="rId30"/>
    <p:sldId id="621" r:id="rId31"/>
    <p:sldId id="622" r:id="rId32"/>
    <p:sldId id="700" r:id="rId33"/>
    <p:sldId id="623" r:id="rId34"/>
    <p:sldId id="625" r:id="rId35"/>
    <p:sldId id="626" r:id="rId36"/>
    <p:sldId id="627" r:id="rId37"/>
    <p:sldId id="628" r:id="rId38"/>
    <p:sldId id="630" r:id="rId39"/>
    <p:sldId id="636" r:id="rId40"/>
    <p:sldId id="638" r:id="rId41"/>
    <p:sldId id="639" r:id="rId42"/>
    <p:sldId id="641" r:id="rId43"/>
    <p:sldId id="645" r:id="rId44"/>
    <p:sldId id="646" r:id="rId45"/>
    <p:sldId id="647" r:id="rId46"/>
    <p:sldId id="648" r:id="rId47"/>
    <p:sldId id="649" r:id="rId48"/>
    <p:sldId id="650" r:id="rId49"/>
    <p:sldId id="651" r:id="rId50"/>
    <p:sldId id="652" r:id="rId51"/>
    <p:sldId id="653" r:id="rId52"/>
    <p:sldId id="654" r:id="rId53"/>
    <p:sldId id="656" r:id="rId54"/>
    <p:sldId id="657" r:id="rId55"/>
    <p:sldId id="658" r:id="rId56"/>
    <p:sldId id="659" r:id="rId57"/>
    <p:sldId id="609" r:id="rId58"/>
    <p:sldId id="698" r:id="rId59"/>
    <p:sldId id="660" r:id="rId60"/>
    <p:sldId id="614" r:id="rId61"/>
    <p:sldId id="665" r:id="rId62"/>
    <p:sldId id="540" r:id="rId63"/>
    <p:sldId id="292" r:id="rId64"/>
    <p:sldId id="701" r:id="rId65"/>
    <p:sldId id="566" r:id="rId66"/>
    <p:sldId id="541" r:id="rId67"/>
    <p:sldId id="293" r:id="rId68"/>
    <p:sldId id="674" r:id="rId69"/>
    <p:sldId id="675" r:id="rId70"/>
    <p:sldId id="676" r:id="rId71"/>
    <p:sldId id="677" r:id="rId72"/>
    <p:sldId id="678" r:id="rId73"/>
    <p:sldId id="704" r:id="rId74"/>
    <p:sldId id="672" r:id="rId75"/>
    <p:sldId id="691" r:id="rId76"/>
    <p:sldId id="703" r:id="rId7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7D1E7"/>
    <a:srgbClr val="F4D0FF"/>
    <a:srgbClr val="FAF4FF"/>
    <a:srgbClr val="D9A9FF"/>
    <a:srgbClr val="5B307E"/>
    <a:srgbClr val="B34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8" autoAdjust="0"/>
    <p:restoredTop sz="88607" autoAdjust="0"/>
  </p:normalViewPr>
  <p:slideViewPr>
    <p:cSldViewPr snapToGrid="0" snapToObjects="1">
      <p:cViewPr varScale="1">
        <p:scale>
          <a:sx n="75" d="100"/>
          <a:sy n="75" d="100"/>
        </p:scale>
        <p:origin x="79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6025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0886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1060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4709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1166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963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8548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7440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1735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0333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3706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3143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997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AE16ACAD-C14B-449C-BC7E-94FFD7EB3AC6}" type="slidenum">
              <a:rPr lang="en-US" altLang="zh-CN" sz="1200" smtClean="0">
                <a:latin typeface="Times New Roman" panose="02020603050405020304" pitchFamily="18" charset="0"/>
              </a:rPr>
              <a:pPr/>
              <a:t>22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5014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5038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64800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3797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52466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3725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8945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31342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70423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82991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38545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1753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18647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18808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76809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41898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40905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30944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33429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20115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64182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51298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59448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70799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08971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30014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pPr/>
              <a:t>65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02450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47870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73738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5798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8419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97C75-78EB-4043-953B-95F867F42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1C1163-5F70-9046-86B2-81951DCE1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07FD42-40C8-0740-93F0-4905CF427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C439-FD35-4547-BEF5-304266CA27AE}" type="datetime1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98E813-0309-7546-9A4F-6893C100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F9E280-F138-8142-8DB1-324EA9F38324}"/>
              </a:ext>
            </a:extLst>
          </p:cNvPr>
          <p:cNvSpPr/>
          <p:nvPr userDrawn="1"/>
        </p:nvSpPr>
        <p:spPr>
          <a:xfrm>
            <a:off x="-9939" y="-8627"/>
            <a:ext cx="9307502" cy="567811"/>
          </a:xfrm>
          <a:prstGeom prst="rect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849744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FBB5D1D6-FEDC-364E-ADD0-80C842FD6986}"/>
              </a:ext>
            </a:extLst>
          </p:cNvPr>
          <p:cNvSpPr/>
          <p:nvPr userDrawn="1"/>
        </p:nvSpPr>
        <p:spPr>
          <a:xfrm>
            <a:off x="667831" y="555195"/>
            <a:ext cx="509313" cy="498948"/>
          </a:xfrm>
          <a:prstGeom prst="rect">
            <a:avLst/>
          </a:prstGeom>
          <a:solidFill>
            <a:srgbClr val="5C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5C307E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23457C5-5D0E-4F46-9D0B-7EA2985DF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A45BE-434F-B44C-99F8-C563AC076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1C8C13-A111-E44B-BB6E-32C9AFF8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9FFD-B852-1440-BFA7-3771E624B655}" type="datetime1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B7B75-EEC1-2D4D-AB7C-5A351496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BE6BC-6A1B-1944-BBB6-30FD8C33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9E7AFED4-5702-094E-A3B8-21EB069F234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1D75728-DE08-814F-9EF0-7E9AFB999FE6}"/>
              </a:ext>
            </a:extLst>
          </p:cNvPr>
          <p:cNvGrpSpPr/>
          <p:nvPr userDrawn="1"/>
        </p:nvGrpSpPr>
        <p:grpSpPr>
          <a:xfrm>
            <a:off x="727644" y="644181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>
              <a:extLst>
                <a:ext uri="{FF2B5EF4-FFF2-40B4-BE49-F238E27FC236}">
                  <a16:creationId xmlns:a16="http://schemas.microsoft.com/office/drawing/2014/main" id="{53F1A011-1E52-3140-9C21-8911AB322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>
              <a:extLst>
                <a:ext uri="{FF2B5EF4-FFF2-40B4-BE49-F238E27FC236}">
                  <a16:creationId xmlns:a16="http://schemas.microsoft.com/office/drawing/2014/main" id="{364873AD-F7AE-3D48-84F0-C71836518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>
              <a:extLst>
                <a:ext uri="{FF2B5EF4-FFF2-40B4-BE49-F238E27FC236}">
                  <a16:creationId xmlns:a16="http://schemas.microsoft.com/office/drawing/2014/main" id="{5B03D593-4A0D-DF4E-8474-4FAD50C6B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>
              <a:extLst>
                <a:ext uri="{FF2B5EF4-FFF2-40B4-BE49-F238E27FC236}">
                  <a16:creationId xmlns:a16="http://schemas.microsoft.com/office/drawing/2014/main" id="{1A0E5E70-2235-6044-9E4C-A8D320929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9F25C08B-5CAA-1D40-B768-CF07CC909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A1A66D2D-2EC2-AA45-8DA4-4B543D6DB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BF5A2635-9D3C-B746-B7BB-00E1B5440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9A427AEE-5F0B-1D43-8127-A5A07CDC3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E60E42BA-4A46-4D41-AA72-E2F725048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5B1734EF-4E6E-164F-849F-5F0125656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8623BE8B-4483-AE4A-A6EA-432CBE50B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0253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882D0-572E-624F-BEDB-F00CBE6A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A87903-353F-4B4A-B3FB-4066EDD98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4B3FA-B4F5-5C42-B890-F4076B7A4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FD2C-6821-D14F-9B68-59272353C12E}" type="datetime1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101AF8-66A2-9540-852A-299D3631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EE700E-C900-6342-B705-37A4EAE2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2629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CA6BC-3A36-834A-8A46-510CF743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F4A777-4880-8640-83A6-327323A56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2510C-46FB-B140-83A3-4B9EF1B4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59310F-E4CA-E54F-B1B1-7656B1F4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8BEE-C117-B242-AE80-6684D8ECFAC3}" type="datetime1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A41358-8B3C-CE4B-B391-06B0FF85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B6C4E-D29D-9647-82C6-2B183C58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A401A9-3F89-014C-9A94-02FD1A5217FC}"/>
              </a:ext>
            </a:extLst>
          </p:cNvPr>
          <p:cNvSpPr/>
          <p:nvPr userDrawn="1"/>
        </p:nvSpPr>
        <p:spPr>
          <a:xfrm>
            <a:off x="667831" y="636554"/>
            <a:ext cx="509313" cy="498948"/>
          </a:xfrm>
          <a:prstGeom prst="rect">
            <a:avLst/>
          </a:prstGeom>
          <a:solidFill>
            <a:srgbClr val="5C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5C307E"/>
              </a:solidFill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2D64F221-C9B8-444F-9076-736EED2DA56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BC00378-4A1A-AF4A-9DA5-0E40AABBEE09}"/>
              </a:ext>
            </a:extLst>
          </p:cNvPr>
          <p:cNvGrpSpPr/>
          <p:nvPr userDrawn="1"/>
        </p:nvGrpSpPr>
        <p:grpSpPr>
          <a:xfrm>
            <a:off x="715452" y="729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41" name="Freeform 1">
              <a:extLst>
                <a:ext uri="{FF2B5EF4-FFF2-40B4-BE49-F238E27FC236}">
                  <a16:creationId xmlns:a16="http://schemas.microsoft.com/office/drawing/2014/main" id="{219E963A-769E-B14C-9175-00DF37C8C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Freeform 2">
              <a:extLst>
                <a:ext uri="{FF2B5EF4-FFF2-40B4-BE49-F238E27FC236}">
                  <a16:creationId xmlns:a16="http://schemas.microsoft.com/office/drawing/2014/main" id="{935EF8B9-88D2-6C42-BF9B-2AD28DBBD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Freeform 3">
              <a:extLst>
                <a:ext uri="{FF2B5EF4-FFF2-40B4-BE49-F238E27FC236}">
                  <a16:creationId xmlns:a16="http://schemas.microsoft.com/office/drawing/2014/main" id="{10E28FF9-5CED-394E-AF38-30164953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Freeform 4">
              <a:extLst>
                <a:ext uri="{FF2B5EF4-FFF2-40B4-BE49-F238E27FC236}">
                  <a16:creationId xmlns:a16="http://schemas.microsoft.com/office/drawing/2014/main" id="{6E5EA531-DEFC-144D-8545-1DECEBA97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F39A9FAC-3BBF-CD45-BC62-06EF846D7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4A2E4B78-1C39-A943-B2AE-B76B55EBA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E34B0E8F-7C29-3241-8B05-8DB5DF4ED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08D4B6E4-213B-E84A-9B55-3121DC89C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3073A429-8658-EC43-92EE-0AD58A539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7B9CB57C-5EF1-7045-A70B-14CD6B5A9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9187B6AA-F9BB-264E-BDCA-C7E0AC3A6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7275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13DFC-2B9E-1046-8B5B-5FDA89B5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184" y="365126"/>
            <a:ext cx="10031204" cy="879086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D48E2-7007-2C43-9E31-DD2985676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ED6729-C3F3-7049-A57C-58FE3C205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2B1297-DB16-374F-BBBD-21C64C292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E6E70B-400A-F546-AF7B-C36FDD0858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ADACC0-37EC-9149-9D6D-CB966DF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34E1-A7B1-194A-A03F-68AF0754181E}" type="datetime1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F2C5F8-DD20-7E4C-9FB0-CD51C54A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D7EE40-2B94-6D4D-928E-DECF5D808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C5A3E3-16BE-4348-82D2-7C344E6E1F54}"/>
              </a:ext>
            </a:extLst>
          </p:cNvPr>
          <p:cNvSpPr/>
          <p:nvPr userDrawn="1"/>
        </p:nvSpPr>
        <p:spPr>
          <a:xfrm>
            <a:off x="667831" y="636554"/>
            <a:ext cx="509313" cy="498948"/>
          </a:xfrm>
          <a:prstGeom prst="rect">
            <a:avLst/>
          </a:prstGeom>
          <a:solidFill>
            <a:srgbClr val="5C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5C307E"/>
              </a:solidFill>
            </a:endParaRP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EE152040-1510-FD47-8927-D0B20C5D7C27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DBA8066-7719-6E44-BBFA-1BD16F8D020F}"/>
              </a:ext>
            </a:extLst>
          </p:cNvPr>
          <p:cNvGrpSpPr/>
          <p:nvPr userDrawn="1"/>
        </p:nvGrpSpPr>
        <p:grpSpPr>
          <a:xfrm>
            <a:off x="715452" y="729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43" name="Freeform 1">
              <a:extLst>
                <a:ext uri="{FF2B5EF4-FFF2-40B4-BE49-F238E27FC236}">
                  <a16:creationId xmlns:a16="http://schemas.microsoft.com/office/drawing/2014/main" id="{212F6771-1D3A-7341-902D-DA18419FA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34F083C1-A1BA-0E4E-8E89-BB4E5F340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809B51FD-2ED5-BC4E-B2F3-2008069DD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6A84B375-DC03-B642-9B1F-09A720046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7D23448C-7F6F-DE48-AC3F-39BBE47F8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10E8DE67-4EF3-CC43-BF30-665F02B2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0E842195-989D-0F4A-AEAD-8665C2E71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2CCE1E61-E678-A04A-9F48-AD28EE159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5A553C8E-044C-554F-8CA4-756B8A1F3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B864F7F5-8239-2843-8E2F-F5D0C9E76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2B6C79DB-0F26-A549-AD80-3197BB3F2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9946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AAA80D-F069-DE49-8F34-B637A12C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AAAE3F-F071-E445-8B18-8EAF39793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E21652-6A28-F54F-98C2-D24C55AD3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E00C8306-BE8F-E24C-B25D-A6E484FA7A8C}" type="datetime1">
              <a:rPr kumimoji="1" lang="zh-CN" altLang="en-US" smtClean="0"/>
              <a:pPr/>
              <a:t>2025/11/3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B9D617-AB6E-774C-A385-AAFEFB927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17F525-3365-224F-AAA7-E3B9B3011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C3D196E-0976-4AFE-B616-6F0538D98A1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8640" y="413466"/>
            <a:ext cx="1036530" cy="102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34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SimHei" panose="02010609060101010101" pitchFamily="49" charset="-122"/>
          <a:ea typeface="SimHei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image" Target="../media/image2.wmf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wmf"/><Relationship Id="rId11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15" Type="http://schemas.openxmlformats.org/officeDocument/2006/relationships/image" Target="../media/image7.png"/><Relationship Id="rId10" Type="http://schemas.openxmlformats.org/officeDocument/2006/relationships/oleObject" Target="../embeddings/oleObject4.bin"/><Relationship Id="rId4" Type="http://schemas.openxmlformats.org/officeDocument/2006/relationships/image" Target="../media/image3.png"/><Relationship Id="rId9" Type="http://schemas.openxmlformats.org/officeDocument/2006/relationships/oleObject" Target="../embeddings/oleObject3.bin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13.bin"/><Relationship Id="rId18" Type="http://schemas.openxmlformats.org/officeDocument/2006/relationships/oleObject" Target="../embeddings/oleObject18.bin"/><Relationship Id="rId3" Type="http://schemas.openxmlformats.org/officeDocument/2006/relationships/image" Target="../media/image2.wmf"/><Relationship Id="rId21" Type="http://schemas.openxmlformats.org/officeDocument/2006/relationships/image" Target="../media/image7.png"/><Relationship Id="rId7" Type="http://schemas.openxmlformats.org/officeDocument/2006/relationships/oleObject" Target="../embeddings/oleObject9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17.bin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5.bin"/><Relationship Id="rId10" Type="http://schemas.openxmlformats.org/officeDocument/2006/relationships/oleObject" Target="../embeddings/oleObject11.bin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3.png"/><Relationship Id="rId9" Type="http://schemas.openxmlformats.org/officeDocument/2006/relationships/oleObject" Target="../embeddings/oleObject10.bin"/><Relationship Id="rId14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8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F4557-9C48-9D4D-A8AC-E1BCC4493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125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第六章 传输层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AADDAC-3DB3-ED4C-BCFE-CFA683990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27942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授课教师：辜文蔚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 dirty="0"/>
              <a:t>南开大学</a:t>
            </a:r>
            <a:endParaRPr kumimoji="1"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736057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600" dirty="0"/>
              <a:t>掌握传输层服务原理</a:t>
            </a:r>
            <a:endParaRPr lang="en-US" altLang="zh-CN" sz="2600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传输层复用和分用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可靠数据传输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流量控制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拥塞控制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sz="2600" dirty="0"/>
              <a:t>掌握因特网传输层协议：</a:t>
            </a:r>
            <a:endParaRPr lang="en-US" altLang="zh-CN" sz="2600" dirty="0"/>
          </a:p>
          <a:p>
            <a:pPr lvl="1">
              <a:lnSpc>
                <a:spcPct val="130000"/>
              </a:lnSpc>
            </a:pPr>
            <a:r>
              <a:rPr lang="en-US" altLang="zh-CN" dirty="0"/>
              <a:t>UDP</a:t>
            </a:r>
            <a:r>
              <a:rPr lang="zh-CN" altLang="en-US" dirty="0"/>
              <a:t>协议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/>
              <a:t>TCP</a:t>
            </a:r>
            <a:r>
              <a:rPr lang="zh-CN" altLang="en-US" dirty="0"/>
              <a:t>协议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0489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50" y="1510758"/>
            <a:ext cx="5501457" cy="4845592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6.1 </a:t>
            </a:r>
            <a:r>
              <a:rPr kumimoji="1" lang="zh-CN" altLang="en-US" dirty="0">
                <a:solidFill>
                  <a:srgbClr val="C00000"/>
                </a:solidFill>
              </a:rPr>
              <a:t>概述和传输层服务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6.2 </a:t>
            </a:r>
            <a:r>
              <a:rPr kumimoji="1" lang="zh-CN" altLang="en-US" dirty="0"/>
              <a:t>传输层复用和分用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6.3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6.4 </a:t>
            </a:r>
            <a:r>
              <a:rPr kumimoji="1" lang="zh-CN" altLang="en-US" dirty="0"/>
              <a:t>面向连接的传输：</a:t>
            </a:r>
            <a:r>
              <a:rPr kumimoji="1" lang="en-US" altLang="zh-CN" dirty="0"/>
              <a:t>TCP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6.5 </a:t>
            </a:r>
            <a:r>
              <a:rPr kumimoji="1" lang="zh-CN" altLang="en-US" dirty="0"/>
              <a:t>理解网络拥塞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6.6 TCP拥塞控制</a:t>
            </a:r>
            <a:endParaRPr kumimoji="1" lang="en-US" altLang="zh-CN" dirty="0">
              <a:solidFill>
                <a:schemeClr val="accent3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5934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Freeform 573"/>
          <p:cNvSpPr>
            <a:spLocks/>
          </p:cNvSpPr>
          <p:nvPr/>
        </p:nvSpPr>
        <p:spPr bwMode="auto">
          <a:xfrm>
            <a:off x="9233857" y="4039681"/>
            <a:ext cx="1314450" cy="674687"/>
          </a:xfrm>
          <a:custGeom>
            <a:avLst/>
            <a:gdLst>
              <a:gd name="T0" fmla="*/ 2147483646 w 828"/>
              <a:gd name="T1" fmla="*/ 2147483646 h 425"/>
              <a:gd name="T2" fmla="*/ 2147483646 w 828"/>
              <a:gd name="T3" fmla="*/ 2147483646 h 425"/>
              <a:gd name="T4" fmla="*/ 2147483646 w 828"/>
              <a:gd name="T5" fmla="*/ 2147483646 h 425"/>
              <a:gd name="T6" fmla="*/ 2147483646 w 828"/>
              <a:gd name="T7" fmla="*/ 2147483646 h 425"/>
              <a:gd name="T8" fmla="*/ 2147483646 w 828"/>
              <a:gd name="T9" fmla="*/ 2147483646 h 425"/>
              <a:gd name="T10" fmla="*/ 2147483646 w 828"/>
              <a:gd name="T11" fmla="*/ 2147483646 h 425"/>
              <a:gd name="T12" fmla="*/ 2147483646 w 828"/>
              <a:gd name="T13" fmla="*/ 2147483646 h 425"/>
              <a:gd name="T14" fmla="*/ 2147483646 w 828"/>
              <a:gd name="T15" fmla="*/ 2147483646 h 425"/>
              <a:gd name="T16" fmla="*/ 2147483646 w 828"/>
              <a:gd name="T17" fmla="*/ 2147483646 h 425"/>
              <a:gd name="T18" fmla="*/ 2147483646 w 828"/>
              <a:gd name="T19" fmla="*/ 2147483646 h 425"/>
              <a:gd name="T20" fmla="*/ 2147483646 w 828"/>
              <a:gd name="T21" fmla="*/ 2147483646 h 425"/>
              <a:gd name="T22" fmla="*/ 2147483646 w 828"/>
              <a:gd name="T23" fmla="*/ 2147483646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Freeform 574"/>
          <p:cNvSpPr>
            <a:spLocks/>
          </p:cNvSpPr>
          <p:nvPr/>
        </p:nvSpPr>
        <p:spPr bwMode="auto">
          <a:xfrm>
            <a:off x="9252908" y="2514093"/>
            <a:ext cx="1730375" cy="1044575"/>
          </a:xfrm>
          <a:custGeom>
            <a:avLst/>
            <a:gdLst>
              <a:gd name="T0" fmla="*/ 2147483646 w 765"/>
              <a:gd name="T1" fmla="*/ 2147483646 h 459"/>
              <a:gd name="T2" fmla="*/ 2147483646 w 765"/>
              <a:gd name="T3" fmla="*/ 2147483646 h 459"/>
              <a:gd name="T4" fmla="*/ 2147483646 w 765"/>
              <a:gd name="T5" fmla="*/ 2147483646 h 459"/>
              <a:gd name="T6" fmla="*/ 2147483646 w 765"/>
              <a:gd name="T7" fmla="*/ 2147483646 h 459"/>
              <a:gd name="T8" fmla="*/ 2147483646 w 765"/>
              <a:gd name="T9" fmla="*/ 2147483646 h 459"/>
              <a:gd name="T10" fmla="*/ 2147483646 w 765"/>
              <a:gd name="T11" fmla="*/ 2147483646 h 459"/>
              <a:gd name="T12" fmla="*/ 2147483646 w 765"/>
              <a:gd name="T13" fmla="*/ 2147483646 h 459"/>
              <a:gd name="T14" fmla="*/ 2147483646 w 765"/>
              <a:gd name="T15" fmla="*/ 2147483646 h 459"/>
              <a:gd name="T16" fmla="*/ 2147483646 w 765"/>
              <a:gd name="T17" fmla="*/ 2147483646 h 459"/>
              <a:gd name="T18" fmla="*/ 2147483646 w 765"/>
              <a:gd name="T19" fmla="*/ 2147483646 h 459"/>
              <a:gd name="T20" fmla="*/ 2147483646 w 765"/>
              <a:gd name="T21" fmla="*/ 2147483646 h 459"/>
              <a:gd name="T22" fmla="*/ 2147483646 w 765"/>
              <a:gd name="T23" fmla="*/ 2147483646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Freeform 575"/>
          <p:cNvSpPr>
            <a:spLocks/>
          </p:cNvSpPr>
          <p:nvPr/>
        </p:nvSpPr>
        <p:spPr bwMode="auto">
          <a:xfrm>
            <a:off x="7513007" y="2221993"/>
            <a:ext cx="1644650" cy="1071563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199" name="Group 576"/>
          <p:cNvGrpSpPr>
            <a:grpSpLocks/>
          </p:cNvGrpSpPr>
          <p:nvPr/>
        </p:nvGrpSpPr>
        <p:grpSpPr bwMode="auto">
          <a:xfrm>
            <a:off x="7600320" y="3557080"/>
            <a:ext cx="1458912" cy="933450"/>
            <a:chOff x="2889" y="1631"/>
            <a:chExt cx="980" cy="743"/>
          </a:xfrm>
        </p:grpSpPr>
        <p:sp>
          <p:nvSpPr>
            <p:cNvPr id="8565" name="Rectangle 577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en-US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566" name="AutoShape 578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CC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200" name="Group 579"/>
          <p:cNvGrpSpPr>
            <a:grpSpLocks/>
          </p:cNvGrpSpPr>
          <p:nvPr/>
        </p:nvGrpSpPr>
        <p:grpSpPr bwMode="auto">
          <a:xfrm>
            <a:off x="8301995" y="2414080"/>
            <a:ext cx="336550" cy="531812"/>
            <a:chOff x="3796" y="1043"/>
            <a:chExt cx="865" cy="1237"/>
          </a:xfrm>
        </p:grpSpPr>
        <p:sp>
          <p:nvSpPr>
            <p:cNvPr id="8535" name="Line 580"/>
            <p:cNvSpPr>
              <a:spLocks noChangeShapeType="1"/>
            </p:cNvSpPr>
            <p:nvPr/>
          </p:nvSpPr>
          <p:spPr bwMode="auto">
            <a:xfrm flipH="1">
              <a:off x="3992" y="1481"/>
              <a:ext cx="235" cy="7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36" name="Line 581"/>
            <p:cNvSpPr>
              <a:spLocks noChangeShapeType="1"/>
            </p:cNvSpPr>
            <p:nvPr/>
          </p:nvSpPr>
          <p:spPr bwMode="auto">
            <a:xfrm>
              <a:off x="4227" y="1481"/>
              <a:ext cx="236" cy="72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37" name="Line 582"/>
            <p:cNvSpPr>
              <a:spLocks noChangeShapeType="1"/>
            </p:cNvSpPr>
            <p:nvPr/>
          </p:nvSpPr>
          <p:spPr bwMode="auto">
            <a:xfrm>
              <a:off x="3992" y="2201"/>
              <a:ext cx="235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38" name="Line 583"/>
            <p:cNvSpPr>
              <a:spLocks noChangeShapeType="1"/>
            </p:cNvSpPr>
            <p:nvPr/>
          </p:nvSpPr>
          <p:spPr bwMode="auto">
            <a:xfrm flipH="1">
              <a:off x="4227" y="2201"/>
              <a:ext cx="236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39" name="Line 584"/>
            <p:cNvSpPr>
              <a:spLocks noChangeShapeType="1"/>
            </p:cNvSpPr>
            <p:nvPr/>
          </p:nvSpPr>
          <p:spPr bwMode="auto">
            <a:xfrm>
              <a:off x="4227" y="1497"/>
              <a:ext cx="0" cy="78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40" name="Line 585"/>
            <p:cNvSpPr>
              <a:spLocks noChangeShapeType="1"/>
            </p:cNvSpPr>
            <p:nvPr/>
          </p:nvSpPr>
          <p:spPr bwMode="auto">
            <a:xfrm flipV="1">
              <a:off x="3992" y="2127"/>
              <a:ext cx="235" cy="7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41" name="Line 586"/>
            <p:cNvSpPr>
              <a:spLocks noChangeShapeType="1"/>
            </p:cNvSpPr>
            <p:nvPr/>
          </p:nvSpPr>
          <p:spPr bwMode="auto">
            <a:xfrm flipH="1" flipV="1">
              <a:off x="4227" y="2127"/>
              <a:ext cx="236" cy="7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42" name="Line 587"/>
            <p:cNvSpPr>
              <a:spLocks noChangeShapeType="1"/>
            </p:cNvSpPr>
            <p:nvPr/>
          </p:nvSpPr>
          <p:spPr bwMode="auto">
            <a:xfrm>
              <a:off x="4092" y="1890"/>
              <a:ext cx="135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43" name="Line 588"/>
            <p:cNvSpPr>
              <a:spLocks noChangeShapeType="1"/>
            </p:cNvSpPr>
            <p:nvPr/>
          </p:nvSpPr>
          <p:spPr bwMode="auto">
            <a:xfrm flipV="1">
              <a:off x="4227" y="1890"/>
              <a:ext cx="143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44" name="Line 589"/>
            <p:cNvSpPr>
              <a:spLocks noChangeShapeType="1"/>
            </p:cNvSpPr>
            <p:nvPr/>
          </p:nvSpPr>
          <p:spPr bwMode="auto">
            <a:xfrm>
              <a:off x="4047" y="1996"/>
              <a:ext cx="175" cy="8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45" name="Line 590"/>
            <p:cNvSpPr>
              <a:spLocks noChangeShapeType="1"/>
            </p:cNvSpPr>
            <p:nvPr/>
          </p:nvSpPr>
          <p:spPr bwMode="auto">
            <a:xfrm flipV="1">
              <a:off x="4227" y="2012"/>
              <a:ext cx="176" cy="7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46" name="Line 591"/>
            <p:cNvSpPr>
              <a:spLocks noChangeShapeType="1"/>
            </p:cNvSpPr>
            <p:nvPr/>
          </p:nvSpPr>
          <p:spPr bwMode="auto">
            <a:xfrm flipV="1">
              <a:off x="4227" y="1782"/>
              <a:ext cx="90" cy="2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47" name="Line 592"/>
            <p:cNvSpPr>
              <a:spLocks noChangeShapeType="1"/>
            </p:cNvSpPr>
            <p:nvPr/>
          </p:nvSpPr>
          <p:spPr bwMode="auto">
            <a:xfrm flipV="1">
              <a:off x="4227" y="1632"/>
              <a:ext cx="57" cy="2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48" name="Line 593"/>
            <p:cNvSpPr>
              <a:spLocks noChangeShapeType="1"/>
            </p:cNvSpPr>
            <p:nvPr/>
          </p:nvSpPr>
          <p:spPr bwMode="auto">
            <a:xfrm>
              <a:off x="4126" y="1772"/>
              <a:ext cx="109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49" name="Line 594"/>
            <p:cNvSpPr>
              <a:spLocks noChangeShapeType="1"/>
            </p:cNvSpPr>
            <p:nvPr/>
          </p:nvSpPr>
          <p:spPr bwMode="auto">
            <a:xfrm>
              <a:off x="4175" y="1625"/>
              <a:ext cx="63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8550" name="Group 595"/>
            <p:cNvGrpSpPr>
              <a:grpSpLocks/>
            </p:cNvGrpSpPr>
            <p:nvPr/>
          </p:nvGrpSpPr>
          <p:grpSpPr bwMode="auto">
            <a:xfrm>
              <a:off x="4269" y="1415"/>
              <a:ext cx="392" cy="137"/>
              <a:chOff x="4227" y="1360"/>
              <a:chExt cx="863" cy="270"/>
            </a:xfrm>
          </p:grpSpPr>
          <p:sp>
            <p:nvSpPr>
              <p:cNvPr id="8561" name="Line 596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62" name="Line 597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63" name="Line 598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64" name="Line 599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551" name="Group 600"/>
            <p:cNvGrpSpPr>
              <a:grpSpLocks/>
            </p:cNvGrpSpPr>
            <p:nvPr/>
          </p:nvGrpSpPr>
          <p:grpSpPr bwMode="auto">
            <a:xfrm rot="5700496">
              <a:off x="4053" y="1170"/>
              <a:ext cx="392" cy="137"/>
              <a:chOff x="4227" y="1360"/>
              <a:chExt cx="863" cy="270"/>
            </a:xfrm>
          </p:grpSpPr>
          <p:sp>
            <p:nvSpPr>
              <p:cNvPr id="8557" name="Line 601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58" name="Line 602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59" name="Line 603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60" name="Line 604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552" name="Group 605"/>
            <p:cNvGrpSpPr>
              <a:grpSpLocks/>
            </p:cNvGrpSpPr>
            <p:nvPr/>
          </p:nvGrpSpPr>
          <p:grpSpPr bwMode="auto">
            <a:xfrm rot="10800000">
              <a:off x="3796" y="1402"/>
              <a:ext cx="392" cy="137"/>
              <a:chOff x="4227" y="1360"/>
              <a:chExt cx="863" cy="270"/>
            </a:xfrm>
          </p:grpSpPr>
          <p:sp>
            <p:nvSpPr>
              <p:cNvPr id="8553" name="Line 606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54" name="Line 607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55" name="Line 608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56" name="Line 609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8201" name="Oval 610"/>
          <p:cNvSpPr>
            <a:spLocks noChangeArrowheads="1"/>
          </p:cNvSpPr>
          <p:nvPr/>
        </p:nvSpPr>
        <p:spPr bwMode="auto">
          <a:xfrm>
            <a:off x="9359271" y="4234942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02" name="Line 611"/>
          <p:cNvSpPr>
            <a:spLocks noChangeShapeType="1"/>
          </p:cNvSpPr>
          <p:nvPr/>
        </p:nvSpPr>
        <p:spPr bwMode="auto">
          <a:xfrm>
            <a:off x="9359270" y="4227006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3" name="Line 612"/>
          <p:cNvSpPr>
            <a:spLocks noChangeShapeType="1"/>
          </p:cNvSpPr>
          <p:nvPr/>
        </p:nvSpPr>
        <p:spPr bwMode="auto">
          <a:xfrm>
            <a:off x="9718045" y="4227006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4" name="Rectangle 613"/>
          <p:cNvSpPr>
            <a:spLocks noChangeArrowheads="1"/>
          </p:cNvSpPr>
          <p:nvPr/>
        </p:nvSpPr>
        <p:spPr bwMode="auto">
          <a:xfrm>
            <a:off x="9359270" y="4227006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05" name="Oval 614"/>
          <p:cNvSpPr>
            <a:spLocks noChangeArrowheads="1"/>
          </p:cNvSpPr>
          <p:nvPr/>
        </p:nvSpPr>
        <p:spPr bwMode="auto">
          <a:xfrm>
            <a:off x="9356096" y="4158743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206" name="Group 615"/>
          <p:cNvGrpSpPr>
            <a:grpSpLocks/>
          </p:cNvGrpSpPr>
          <p:nvPr/>
        </p:nvGrpSpPr>
        <p:grpSpPr bwMode="auto">
          <a:xfrm>
            <a:off x="9441821" y="4182556"/>
            <a:ext cx="179387" cy="65087"/>
            <a:chOff x="2848" y="848"/>
            <a:chExt cx="140" cy="98"/>
          </a:xfrm>
        </p:grpSpPr>
        <p:sp>
          <p:nvSpPr>
            <p:cNvPr id="8532" name="Line 61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33" name="Line 61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34" name="Line 61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07" name="Group 619"/>
          <p:cNvGrpSpPr>
            <a:grpSpLocks/>
          </p:cNvGrpSpPr>
          <p:nvPr/>
        </p:nvGrpSpPr>
        <p:grpSpPr bwMode="auto">
          <a:xfrm flipV="1">
            <a:off x="9441821" y="4182556"/>
            <a:ext cx="179387" cy="65087"/>
            <a:chOff x="2848" y="848"/>
            <a:chExt cx="140" cy="98"/>
          </a:xfrm>
        </p:grpSpPr>
        <p:sp>
          <p:nvSpPr>
            <p:cNvPr id="8529" name="Line 62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30" name="Line 62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31" name="Line 62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08" name="Oval 623"/>
          <p:cNvSpPr>
            <a:spLocks noChangeArrowheads="1"/>
          </p:cNvSpPr>
          <p:nvPr/>
        </p:nvSpPr>
        <p:spPr bwMode="auto">
          <a:xfrm>
            <a:off x="9714871" y="4514342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09" name="Line 624"/>
          <p:cNvSpPr>
            <a:spLocks noChangeShapeType="1"/>
          </p:cNvSpPr>
          <p:nvPr/>
        </p:nvSpPr>
        <p:spPr bwMode="auto">
          <a:xfrm>
            <a:off x="9714870" y="4506406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0" name="Line 625"/>
          <p:cNvSpPr>
            <a:spLocks noChangeShapeType="1"/>
          </p:cNvSpPr>
          <p:nvPr/>
        </p:nvSpPr>
        <p:spPr bwMode="auto">
          <a:xfrm>
            <a:off x="10073645" y="4506406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1" name="Rectangle 626"/>
          <p:cNvSpPr>
            <a:spLocks noChangeArrowheads="1"/>
          </p:cNvSpPr>
          <p:nvPr/>
        </p:nvSpPr>
        <p:spPr bwMode="auto">
          <a:xfrm>
            <a:off x="9714870" y="4506406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12" name="Oval 627"/>
          <p:cNvSpPr>
            <a:spLocks noChangeArrowheads="1"/>
          </p:cNvSpPr>
          <p:nvPr/>
        </p:nvSpPr>
        <p:spPr bwMode="auto">
          <a:xfrm>
            <a:off x="9711696" y="4438143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213" name="Group 628"/>
          <p:cNvGrpSpPr>
            <a:grpSpLocks/>
          </p:cNvGrpSpPr>
          <p:nvPr/>
        </p:nvGrpSpPr>
        <p:grpSpPr bwMode="auto">
          <a:xfrm>
            <a:off x="9797421" y="4461956"/>
            <a:ext cx="179387" cy="65087"/>
            <a:chOff x="2848" y="848"/>
            <a:chExt cx="140" cy="98"/>
          </a:xfrm>
        </p:grpSpPr>
        <p:sp>
          <p:nvSpPr>
            <p:cNvPr id="8526" name="Line 62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27" name="Line 63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28" name="Line 63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14" name="Group 632"/>
          <p:cNvGrpSpPr>
            <a:grpSpLocks/>
          </p:cNvGrpSpPr>
          <p:nvPr/>
        </p:nvGrpSpPr>
        <p:grpSpPr bwMode="auto">
          <a:xfrm flipV="1">
            <a:off x="9797421" y="4461956"/>
            <a:ext cx="179387" cy="65087"/>
            <a:chOff x="2848" y="848"/>
            <a:chExt cx="140" cy="98"/>
          </a:xfrm>
        </p:grpSpPr>
        <p:sp>
          <p:nvSpPr>
            <p:cNvPr id="8523" name="Line 63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24" name="Line 63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25" name="Line 63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15" name="Oval 636"/>
          <p:cNvSpPr>
            <a:spLocks noChangeArrowheads="1"/>
          </p:cNvSpPr>
          <p:nvPr/>
        </p:nvSpPr>
        <p:spPr bwMode="auto">
          <a:xfrm>
            <a:off x="9994271" y="4247642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16" name="Line 637"/>
          <p:cNvSpPr>
            <a:spLocks noChangeShapeType="1"/>
          </p:cNvSpPr>
          <p:nvPr/>
        </p:nvSpPr>
        <p:spPr bwMode="auto">
          <a:xfrm>
            <a:off x="9994270" y="4239706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7" name="Line 638"/>
          <p:cNvSpPr>
            <a:spLocks noChangeShapeType="1"/>
          </p:cNvSpPr>
          <p:nvPr/>
        </p:nvSpPr>
        <p:spPr bwMode="auto">
          <a:xfrm>
            <a:off x="10353045" y="4239706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8" name="Rectangle 639"/>
          <p:cNvSpPr>
            <a:spLocks noChangeArrowheads="1"/>
          </p:cNvSpPr>
          <p:nvPr/>
        </p:nvSpPr>
        <p:spPr bwMode="auto">
          <a:xfrm>
            <a:off x="9994270" y="4239706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19" name="Oval 640"/>
          <p:cNvSpPr>
            <a:spLocks noChangeArrowheads="1"/>
          </p:cNvSpPr>
          <p:nvPr/>
        </p:nvSpPr>
        <p:spPr bwMode="auto">
          <a:xfrm>
            <a:off x="9991096" y="4171443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220" name="Group 641"/>
          <p:cNvGrpSpPr>
            <a:grpSpLocks/>
          </p:cNvGrpSpPr>
          <p:nvPr/>
        </p:nvGrpSpPr>
        <p:grpSpPr bwMode="auto">
          <a:xfrm>
            <a:off x="10076821" y="4195256"/>
            <a:ext cx="179387" cy="65087"/>
            <a:chOff x="2848" y="848"/>
            <a:chExt cx="140" cy="98"/>
          </a:xfrm>
        </p:grpSpPr>
        <p:sp>
          <p:nvSpPr>
            <p:cNvPr id="8520" name="Line 64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21" name="Line 64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22" name="Line 64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21" name="Group 645"/>
          <p:cNvGrpSpPr>
            <a:grpSpLocks/>
          </p:cNvGrpSpPr>
          <p:nvPr/>
        </p:nvGrpSpPr>
        <p:grpSpPr bwMode="auto">
          <a:xfrm flipV="1">
            <a:off x="10076821" y="4195256"/>
            <a:ext cx="179387" cy="65087"/>
            <a:chOff x="2848" y="848"/>
            <a:chExt cx="140" cy="98"/>
          </a:xfrm>
        </p:grpSpPr>
        <p:sp>
          <p:nvSpPr>
            <p:cNvPr id="8517" name="Line 64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18" name="Line 64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19" name="Line 64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22" name="Oval 649"/>
          <p:cNvSpPr>
            <a:spLocks noChangeArrowheads="1"/>
          </p:cNvSpPr>
          <p:nvPr/>
        </p:nvSpPr>
        <p:spPr bwMode="auto">
          <a:xfrm>
            <a:off x="9459283" y="3085592"/>
            <a:ext cx="347663" cy="8890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23" name="Line 650"/>
          <p:cNvSpPr>
            <a:spLocks noChangeShapeType="1"/>
          </p:cNvSpPr>
          <p:nvPr/>
        </p:nvSpPr>
        <p:spPr bwMode="auto">
          <a:xfrm>
            <a:off x="9459282" y="3077655"/>
            <a:ext cx="0" cy="55562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4" name="Line 651"/>
          <p:cNvSpPr>
            <a:spLocks noChangeShapeType="1"/>
          </p:cNvSpPr>
          <p:nvPr/>
        </p:nvSpPr>
        <p:spPr bwMode="auto">
          <a:xfrm>
            <a:off x="9806945" y="3077655"/>
            <a:ext cx="0" cy="55562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5" name="Rectangle 652"/>
          <p:cNvSpPr>
            <a:spLocks noChangeArrowheads="1"/>
          </p:cNvSpPr>
          <p:nvPr/>
        </p:nvSpPr>
        <p:spPr bwMode="auto">
          <a:xfrm>
            <a:off x="9459282" y="3077656"/>
            <a:ext cx="344488" cy="53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26" name="Oval 653"/>
          <p:cNvSpPr>
            <a:spLocks noChangeArrowheads="1"/>
          </p:cNvSpPr>
          <p:nvPr/>
        </p:nvSpPr>
        <p:spPr bwMode="auto">
          <a:xfrm>
            <a:off x="9456108" y="3014156"/>
            <a:ext cx="347663" cy="103187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227" name="Group 654"/>
          <p:cNvGrpSpPr>
            <a:grpSpLocks/>
          </p:cNvGrpSpPr>
          <p:nvPr/>
        </p:nvGrpSpPr>
        <p:grpSpPr bwMode="auto">
          <a:xfrm>
            <a:off x="9540245" y="3036380"/>
            <a:ext cx="171450" cy="61912"/>
            <a:chOff x="2848" y="848"/>
            <a:chExt cx="140" cy="98"/>
          </a:xfrm>
        </p:grpSpPr>
        <p:sp>
          <p:nvSpPr>
            <p:cNvPr id="8514" name="Line 65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15" name="Line 65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16" name="Line 65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28" name="Group 658"/>
          <p:cNvGrpSpPr>
            <a:grpSpLocks/>
          </p:cNvGrpSpPr>
          <p:nvPr/>
        </p:nvGrpSpPr>
        <p:grpSpPr bwMode="auto">
          <a:xfrm flipV="1">
            <a:off x="9540245" y="3036381"/>
            <a:ext cx="171450" cy="60325"/>
            <a:chOff x="2848" y="848"/>
            <a:chExt cx="140" cy="98"/>
          </a:xfrm>
        </p:grpSpPr>
        <p:sp>
          <p:nvSpPr>
            <p:cNvPr id="8511" name="Line 65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12" name="Line 66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13" name="Line 66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29" name="Oval 662"/>
          <p:cNvSpPr>
            <a:spLocks noChangeArrowheads="1"/>
          </p:cNvSpPr>
          <p:nvPr/>
        </p:nvSpPr>
        <p:spPr bwMode="auto">
          <a:xfrm>
            <a:off x="9457696" y="3345942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30" name="Line 663"/>
          <p:cNvSpPr>
            <a:spLocks noChangeShapeType="1"/>
          </p:cNvSpPr>
          <p:nvPr/>
        </p:nvSpPr>
        <p:spPr bwMode="auto">
          <a:xfrm>
            <a:off x="9457695" y="3338006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1" name="Line 664"/>
          <p:cNvSpPr>
            <a:spLocks noChangeShapeType="1"/>
          </p:cNvSpPr>
          <p:nvPr/>
        </p:nvSpPr>
        <p:spPr bwMode="auto">
          <a:xfrm>
            <a:off x="9816470" y="3338006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2" name="Rectangle 665"/>
          <p:cNvSpPr>
            <a:spLocks noChangeArrowheads="1"/>
          </p:cNvSpPr>
          <p:nvPr/>
        </p:nvSpPr>
        <p:spPr bwMode="auto">
          <a:xfrm>
            <a:off x="9457695" y="3338006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" name="Oval 666"/>
          <p:cNvSpPr>
            <a:spLocks noChangeArrowheads="1"/>
          </p:cNvSpPr>
          <p:nvPr/>
        </p:nvSpPr>
        <p:spPr bwMode="auto">
          <a:xfrm>
            <a:off x="9454521" y="3269743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234" name="Group 667"/>
          <p:cNvGrpSpPr>
            <a:grpSpLocks/>
          </p:cNvGrpSpPr>
          <p:nvPr/>
        </p:nvGrpSpPr>
        <p:grpSpPr bwMode="auto">
          <a:xfrm>
            <a:off x="9540246" y="3293556"/>
            <a:ext cx="179387" cy="65087"/>
            <a:chOff x="2848" y="848"/>
            <a:chExt cx="140" cy="98"/>
          </a:xfrm>
        </p:grpSpPr>
        <p:sp>
          <p:nvSpPr>
            <p:cNvPr id="8508" name="Line 66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9" name="Line 66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10" name="Line 67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35" name="Group 671"/>
          <p:cNvGrpSpPr>
            <a:grpSpLocks/>
          </p:cNvGrpSpPr>
          <p:nvPr/>
        </p:nvGrpSpPr>
        <p:grpSpPr bwMode="auto">
          <a:xfrm flipV="1">
            <a:off x="9540246" y="3293556"/>
            <a:ext cx="179387" cy="65087"/>
            <a:chOff x="2848" y="848"/>
            <a:chExt cx="140" cy="98"/>
          </a:xfrm>
        </p:grpSpPr>
        <p:sp>
          <p:nvSpPr>
            <p:cNvPr id="8505" name="Line 67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6" name="Line 67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7" name="Line 67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36" name="Oval 675"/>
          <p:cNvSpPr>
            <a:spLocks noChangeArrowheads="1"/>
          </p:cNvSpPr>
          <p:nvPr/>
        </p:nvSpPr>
        <p:spPr bwMode="auto">
          <a:xfrm>
            <a:off x="9933945" y="2987168"/>
            <a:ext cx="330200" cy="857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37" name="Line 676"/>
          <p:cNvSpPr>
            <a:spLocks noChangeShapeType="1"/>
          </p:cNvSpPr>
          <p:nvPr/>
        </p:nvSpPr>
        <p:spPr bwMode="auto">
          <a:xfrm>
            <a:off x="9933945" y="2980817"/>
            <a:ext cx="0" cy="5238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8" name="Line 677"/>
          <p:cNvSpPr>
            <a:spLocks noChangeShapeType="1"/>
          </p:cNvSpPr>
          <p:nvPr/>
        </p:nvSpPr>
        <p:spPr bwMode="auto">
          <a:xfrm>
            <a:off x="10264145" y="2980817"/>
            <a:ext cx="0" cy="5238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9" name="Rectangle 678"/>
          <p:cNvSpPr>
            <a:spLocks noChangeArrowheads="1"/>
          </p:cNvSpPr>
          <p:nvPr/>
        </p:nvSpPr>
        <p:spPr bwMode="auto">
          <a:xfrm>
            <a:off x="9933946" y="2980817"/>
            <a:ext cx="327025" cy="5238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40" name="Oval 679"/>
          <p:cNvSpPr>
            <a:spLocks noChangeArrowheads="1"/>
          </p:cNvSpPr>
          <p:nvPr/>
        </p:nvSpPr>
        <p:spPr bwMode="auto">
          <a:xfrm>
            <a:off x="9930770" y="2918905"/>
            <a:ext cx="330200" cy="100012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241" name="Group 680"/>
          <p:cNvGrpSpPr>
            <a:grpSpLocks/>
          </p:cNvGrpSpPr>
          <p:nvPr/>
        </p:nvGrpSpPr>
        <p:grpSpPr bwMode="auto">
          <a:xfrm>
            <a:off x="10010145" y="2941130"/>
            <a:ext cx="163512" cy="57150"/>
            <a:chOff x="2848" y="848"/>
            <a:chExt cx="140" cy="98"/>
          </a:xfrm>
        </p:grpSpPr>
        <p:sp>
          <p:nvSpPr>
            <p:cNvPr id="8502" name="Line 68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3" name="Line 68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4" name="Line 68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42" name="Group 684"/>
          <p:cNvGrpSpPr>
            <a:grpSpLocks/>
          </p:cNvGrpSpPr>
          <p:nvPr/>
        </p:nvGrpSpPr>
        <p:grpSpPr bwMode="auto">
          <a:xfrm flipV="1">
            <a:off x="10010145" y="2939542"/>
            <a:ext cx="163512" cy="58738"/>
            <a:chOff x="2848" y="848"/>
            <a:chExt cx="140" cy="98"/>
          </a:xfrm>
        </p:grpSpPr>
        <p:sp>
          <p:nvSpPr>
            <p:cNvPr id="8499" name="Line 68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0" name="Line 68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" name="Line 68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43" name="Oval 688"/>
          <p:cNvSpPr>
            <a:spLocks noChangeArrowheads="1"/>
          </p:cNvSpPr>
          <p:nvPr/>
        </p:nvSpPr>
        <p:spPr bwMode="auto">
          <a:xfrm>
            <a:off x="10019671" y="3345942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44" name="Line 689"/>
          <p:cNvSpPr>
            <a:spLocks noChangeShapeType="1"/>
          </p:cNvSpPr>
          <p:nvPr/>
        </p:nvSpPr>
        <p:spPr bwMode="auto">
          <a:xfrm>
            <a:off x="10019670" y="3338006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45" name="Line 690"/>
          <p:cNvSpPr>
            <a:spLocks noChangeShapeType="1"/>
          </p:cNvSpPr>
          <p:nvPr/>
        </p:nvSpPr>
        <p:spPr bwMode="auto">
          <a:xfrm>
            <a:off x="10378445" y="3338006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46" name="Rectangle 691"/>
          <p:cNvSpPr>
            <a:spLocks noChangeArrowheads="1"/>
          </p:cNvSpPr>
          <p:nvPr/>
        </p:nvSpPr>
        <p:spPr bwMode="auto">
          <a:xfrm>
            <a:off x="10019670" y="3338006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47" name="Oval 692"/>
          <p:cNvSpPr>
            <a:spLocks noChangeArrowheads="1"/>
          </p:cNvSpPr>
          <p:nvPr/>
        </p:nvSpPr>
        <p:spPr bwMode="auto">
          <a:xfrm>
            <a:off x="10016496" y="3269743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248" name="Group 693"/>
          <p:cNvGrpSpPr>
            <a:grpSpLocks/>
          </p:cNvGrpSpPr>
          <p:nvPr/>
        </p:nvGrpSpPr>
        <p:grpSpPr bwMode="auto">
          <a:xfrm>
            <a:off x="10102221" y="3293556"/>
            <a:ext cx="179387" cy="65087"/>
            <a:chOff x="2848" y="848"/>
            <a:chExt cx="140" cy="98"/>
          </a:xfrm>
        </p:grpSpPr>
        <p:sp>
          <p:nvSpPr>
            <p:cNvPr id="8496" name="Line 69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97" name="Line 69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98" name="Line 69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49" name="Group 697"/>
          <p:cNvGrpSpPr>
            <a:grpSpLocks/>
          </p:cNvGrpSpPr>
          <p:nvPr/>
        </p:nvGrpSpPr>
        <p:grpSpPr bwMode="auto">
          <a:xfrm flipV="1">
            <a:off x="10102221" y="3293556"/>
            <a:ext cx="179387" cy="65087"/>
            <a:chOff x="2848" y="848"/>
            <a:chExt cx="140" cy="98"/>
          </a:xfrm>
        </p:grpSpPr>
        <p:sp>
          <p:nvSpPr>
            <p:cNvPr id="8493" name="Line 69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94" name="Line 69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95" name="Line 70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50" name="Oval 701"/>
          <p:cNvSpPr>
            <a:spLocks noChangeArrowheads="1"/>
          </p:cNvSpPr>
          <p:nvPr/>
        </p:nvSpPr>
        <p:spPr bwMode="auto">
          <a:xfrm>
            <a:off x="8609971" y="3080830"/>
            <a:ext cx="346075" cy="87312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51" name="Line 702"/>
          <p:cNvSpPr>
            <a:spLocks noChangeShapeType="1"/>
          </p:cNvSpPr>
          <p:nvPr/>
        </p:nvSpPr>
        <p:spPr bwMode="auto">
          <a:xfrm>
            <a:off x="8609970" y="3072893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52" name="Line 703"/>
          <p:cNvSpPr>
            <a:spLocks noChangeShapeType="1"/>
          </p:cNvSpPr>
          <p:nvPr/>
        </p:nvSpPr>
        <p:spPr bwMode="auto">
          <a:xfrm>
            <a:off x="8956045" y="3072893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53" name="Rectangle 704"/>
          <p:cNvSpPr>
            <a:spLocks noChangeArrowheads="1"/>
          </p:cNvSpPr>
          <p:nvPr/>
        </p:nvSpPr>
        <p:spPr bwMode="auto">
          <a:xfrm>
            <a:off x="8609970" y="3072893"/>
            <a:ext cx="342900" cy="53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54" name="Oval 705"/>
          <p:cNvSpPr>
            <a:spLocks noChangeArrowheads="1"/>
          </p:cNvSpPr>
          <p:nvPr/>
        </p:nvSpPr>
        <p:spPr bwMode="auto">
          <a:xfrm>
            <a:off x="8606796" y="3009392"/>
            <a:ext cx="346075" cy="103188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255" name="Group 706"/>
          <p:cNvGrpSpPr>
            <a:grpSpLocks/>
          </p:cNvGrpSpPr>
          <p:nvPr/>
        </p:nvGrpSpPr>
        <p:grpSpPr bwMode="auto">
          <a:xfrm>
            <a:off x="8690932" y="3031618"/>
            <a:ext cx="171450" cy="60325"/>
            <a:chOff x="2848" y="848"/>
            <a:chExt cx="140" cy="98"/>
          </a:xfrm>
        </p:grpSpPr>
        <p:sp>
          <p:nvSpPr>
            <p:cNvPr id="8490" name="Line 70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91" name="Line 70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92" name="Line 70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56" name="Group 710"/>
          <p:cNvGrpSpPr>
            <a:grpSpLocks/>
          </p:cNvGrpSpPr>
          <p:nvPr/>
        </p:nvGrpSpPr>
        <p:grpSpPr bwMode="auto">
          <a:xfrm flipV="1">
            <a:off x="8690932" y="3031617"/>
            <a:ext cx="171450" cy="58738"/>
            <a:chOff x="2848" y="848"/>
            <a:chExt cx="140" cy="98"/>
          </a:xfrm>
        </p:grpSpPr>
        <p:sp>
          <p:nvSpPr>
            <p:cNvPr id="8487" name="Line 71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88" name="Line 71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89" name="Line 71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57" name="Oval 714"/>
          <p:cNvSpPr>
            <a:spLocks noChangeArrowheads="1"/>
          </p:cNvSpPr>
          <p:nvPr/>
        </p:nvSpPr>
        <p:spPr bwMode="auto">
          <a:xfrm>
            <a:off x="8303583" y="4230180"/>
            <a:ext cx="346075" cy="87312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58" name="Line 715"/>
          <p:cNvSpPr>
            <a:spLocks noChangeShapeType="1"/>
          </p:cNvSpPr>
          <p:nvPr/>
        </p:nvSpPr>
        <p:spPr bwMode="auto">
          <a:xfrm>
            <a:off x="8303582" y="4222243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59" name="Line 716"/>
          <p:cNvSpPr>
            <a:spLocks noChangeShapeType="1"/>
          </p:cNvSpPr>
          <p:nvPr/>
        </p:nvSpPr>
        <p:spPr bwMode="auto">
          <a:xfrm>
            <a:off x="8649657" y="4222243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60" name="Rectangle 717"/>
          <p:cNvSpPr>
            <a:spLocks noChangeArrowheads="1"/>
          </p:cNvSpPr>
          <p:nvPr/>
        </p:nvSpPr>
        <p:spPr bwMode="auto">
          <a:xfrm>
            <a:off x="8303582" y="4222243"/>
            <a:ext cx="342900" cy="53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61" name="Oval 718"/>
          <p:cNvSpPr>
            <a:spLocks noChangeArrowheads="1"/>
          </p:cNvSpPr>
          <p:nvPr/>
        </p:nvSpPr>
        <p:spPr bwMode="auto">
          <a:xfrm>
            <a:off x="8300408" y="4158742"/>
            <a:ext cx="346075" cy="103188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zh-CN" altLang="en-US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262" name="Group 719"/>
          <p:cNvGrpSpPr>
            <a:grpSpLocks/>
          </p:cNvGrpSpPr>
          <p:nvPr/>
        </p:nvGrpSpPr>
        <p:grpSpPr bwMode="auto">
          <a:xfrm>
            <a:off x="8384545" y="4180968"/>
            <a:ext cx="171450" cy="60325"/>
            <a:chOff x="2848" y="848"/>
            <a:chExt cx="140" cy="98"/>
          </a:xfrm>
        </p:grpSpPr>
        <p:sp>
          <p:nvSpPr>
            <p:cNvPr id="8484" name="Line 72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85" name="Line 72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86" name="Line 72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63" name="Group 723"/>
          <p:cNvGrpSpPr>
            <a:grpSpLocks/>
          </p:cNvGrpSpPr>
          <p:nvPr/>
        </p:nvGrpSpPr>
        <p:grpSpPr bwMode="auto">
          <a:xfrm flipV="1">
            <a:off x="8384545" y="4180967"/>
            <a:ext cx="171450" cy="58738"/>
            <a:chOff x="2848" y="848"/>
            <a:chExt cx="140" cy="98"/>
          </a:xfrm>
        </p:grpSpPr>
        <p:sp>
          <p:nvSpPr>
            <p:cNvPr id="8481" name="Line 72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82" name="Line 72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83" name="Line 72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64" name="Line 727"/>
          <p:cNvSpPr>
            <a:spLocks noChangeShapeType="1"/>
          </p:cNvSpPr>
          <p:nvPr/>
        </p:nvSpPr>
        <p:spPr bwMode="auto">
          <a:xfrm flipV="1">
            <a:off x="9502145" y="4587368"/>
            <a:ext cx="227012" cy="43656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5" name="Line 728"/>
          <p:cNvSpPr>
            <a:spLocks noChangeShapeType="1"/>
          </p:cNvSpPr>
          <p:nvPr/>
        </p:nvSpPr>
        <p:spPr bwMode="auto">
          <a:xfrm>
            <a:off x="9625970" y="4325430"/>
            <a:ext cx="163512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6" name="Line 729"/>
          <p:cNvSpPr>
            <a:spLocks noChangeShapeType="1"/>
          </p:cNvSpPr>
          <p:nvPr/>
        </p:nvSpPr>
        <p:spPr bwMode="auto">
          <a:xfrm>
            <a:off x="9722807" y="4246055"/>
            <a:ext cx="279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7" name="Line 730"/>
          <p:cNvSpPr>
            <a:spLocks noChangeShapeType="1"/>
          </p:cNvSpPr>
          <p:nvPr/>
        </p:nvSpPr>
        <p:spPr bwMode="auto">
          <a:xfrm flipV="1">
            <a:off x="9959346" y="4331781"/>
            <a:ext cx="134937" cy="1047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8" name="Line 731"/>
          <p:cNvSpPr>
            <a:spLocks noChangeShapeType="1"/>
          </p:cNvSpPr>
          <p:nvPr/>
        </p:nvSpPr>
        <p:spPr bwMode="auto">
          <a:xfrm>
            <a:off x="8657595" y="4252405"/>
            <a:ext cx="6794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9" name="Line 732"/>
          <p:cNvSpPr>
            <a:spLocks noChangeShapeType="1"/>
          </p:cNvSpPr>
          <p:nvPr/>
        </p:nvSpPr>
        <p:spPr bwMode="auto">
          <a:xfrm>
            <a:off x="8952871" y="3099881"/>
            <a:ext cx="509587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0" name="Line 733"/>
          <p:cNvSpPr>
            <a:spLocks noChangeShapeType="1"/>
          </p:cNvSpPr>
          <p:nvPr/>
        </p:nvSpPr>
        <p:spPr bwMode="auto">
          <a:xfrm>
            <a:off x="8519482" y="2928430"/>
            <a:ext cx="152400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1" name="Freeform 734"/>
          <p:cNvSpPr>
            <a:spLocks/>
          </p:cNvSpPr>
          <p:nvPr/>
        </p:nvSpPr>
        <p:spPr bwMode="auto">
          <a:xfrm>
            <a:off x="7840032" y="4935031"/>
            <a:ext cx="2979738" cy="1455737"/>
          </a:xfrm>
          <a:custGeom>
            <a:avLst/>
            <a:gdLst>
              <a:gd name="T0" fmla="*/ 2147483646 w 1877"/>
              <a:gd name="T1" fmla="*/ 2147483646 h 917"/>
              <a:gd name="T2" fmla="*/ 2147483646 w 1877"/>
              <a:gd name="T3" fmla="*/ 2147483646 h 917"/>
              <a:gd name="T4" fmla="*/ 2147483646 w 1877"/>
              <a:gd name="T5" fmla="*/ 2147483646 h 917"/>
              <a:gd name="T6" fmla="*/ 2147483646 w 1877"/>
              <a:gd name="T7" fmla="*/ 2147483646 h 917"/>
              <a:gd name="T8" fmla="*/ 2147483646 w 1877"/>
              <a:gd name="T9" fmla="*/ 2147483646 h 917"/>
              <a:gd name="T10" fmla="*/ 2147483646 w 1877"/>
              <a:gd name="T11" fmla="*/ 2147483646 h 917"/>
              <a:gd name="T12" fmla="*/ 2147483646 w 1877"/>
              <a:gd name="T13" fmla="*/ 2147483646 h 917"/>
              <a:gd name="T14" fmla="*/ 2147483646 w 1877"/>
              <a:gd name="T15" fmla="*/ 2147483646 h 917"/>
              <a:gd name="T16" fmla="*/ 2147483646 w 1877"/>
              <a:gd name="T17" fmla="*/ 2147483646 h 917"/>
              <a:gd name="T18" fmla="*/ 2147483646 w 1877"/>
              <a:gd name="T19" fmla="*/ 2147483646 h 917"/>
              <a:gd name="T20" fmla="*/ 2147483646 w 1877"/>
              <a:gd name="T21" fmla="*/ 2147483646 h 917"/>
              <a:gd name="T22" fmla="*/ 2147483646 w 1877"/>
              <a:gd name="T23" fmla="*/ 2147483646 h 917"/>
              <a:gd name="T24" fmla="*/ 2147483646 w 1877"/>
              <a:gd name="T25" fmla="*/ 2147483646 h 917"/>
              <a:gd name="T26" fmla="*/ 2147483646 w 1877"/>
              <a:gd name="T27" fmla="*/ 2147483646 h 917"/>
              <a:gd name="T28" fmla="*/ 2147483646 w 1877"/>
              <a:gd name="T29" fmla="*/ 2147483646 h 917"/>
              <a:gd name="T30" fmla="*/ 2147483646 w 1877"/>
              <a:gd name="T31" fmla="*/ 2147483646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2" name="Line 735"/>
          <p:cNvSpPr>
            <a:spLocks noChangeShapeType="1"/>
          </p:cNvSpPr>
          <p:nvPr/>
        </p:nvSpPr>
        <p:spPr bwMode="auto">
          <a:xfrm rot="16200000">
            <a:off x="10075233" y="5671630"/>
            <a:ext cx="523875" cy="1397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3" name="Line 736"/>
          <p:cNvSpPr>
            <a:spLocks noChangeShapeType="1"/>
          </p:cNvSpPr>
          <p:nvPr/>
        </p:nvSpPr>
        <p:spPr bwMode="auto">
          <a:xfrm rot="5400000" flipV="1">
            <a:off x="10221283" y="5952618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74" name="Line 737"/>
          <p:cNvSpPr>
            <a:spLocks noChangeShapeType="1"/>
          </p:cNvSpPr>
          <p:nvPr/>
        </p:nvSpPr>
        <p:spPr bwMode="auto">
          <a:xfrm rot="16200000">
            <a:off x="10407020" y="5628767"/>
            <a:ext cx="0" cy="1143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275" name="Group 738"/>
          <p:cNvGrpSpPr>
            <a:grpSpLocks/>
          </p:cNvGrpSpPr>
          <p:nvPr/>
        </p:nvGrpSpPr>
        <p:grpSpPr bwMode="auto">
          <a:xfrm>
            <a:off x="9986332" y="5338255"/>
            <a:ext cx="501650" cy="234950"/>
            <a:chOff x="4701" y="2996"/>
            <a:chExt cx="316" cy="148"/>
          </a:xfrm>
        </p:grpSpPr>
        <p:sp>
          <p:nvSpPr>
            <p:cNvPr id="8468" name="Oval 739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en-US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469" name="Line 740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70" name="Line 741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71" name="Rectangle 742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72" name="Oval 743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en-US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8473" name="Group 744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8478" name="Line 74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79" name="Line 74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80" name="Line 74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474" name="Group 748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8475" name="Line 74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76" name="Line 75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77" name="Line 75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276" name="Group 752"/>
          <p:cNvGrpSpPr>
            <a:grpSpLocks/>
          </p:cNvGrpSpPr>
          <p:nvPr/>
        </p:nvGrpSpPr>
        <p:grpSpPr bwMode="auto">
          <a:xfrm>
            <a:off x="9170357" y="5062030"/>
            <a:ext cx="501650" cy="234950"/>
            <a:chOff x="3600" y="219"/>
            <a:chExt cx="360" cy="175"/>
          </a:xfrm>
        </p:grpSpPr>
        <p:sp>
          <p:nvSpPr>
            <p:cNvPr id="8455" name="Oval 753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en-US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456" name="Line 754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57" name="Line 755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58" name="Rectangle 756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59" name="Oval 757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en-US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8460" name="Group 758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465" name="Line 75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66" name="Line 76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67" name="Line 76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461" name="Group 762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462" name="Line 76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63" name="Line 76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64" name="Line 76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277" name="Group 766"/>
          <p:cNvGrpSpPr>
            <a:grpSpLocks/>
          </p:cNvGrpSpPr>
          <p:nvPr/>
        </p:nvGrpSpPr>
        <p:grpSpPr bwMode="auto">
          <a:xfrm>
            <a:off x="8505195" y="5366830"/>
            <a:ext cx="501650" cy="234950"/>
            <a:chOff x="3600" y="219"/>
            <a:chExt cx="360" cy="175"/>
          </a:xfrm>
        </p:grpSpPr>
        <p:sp>
          <p:nvSpPr>
            <p:cNvPr id="8442" name="Oval 76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en-US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443" name="Line 76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44" name="Line 76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45" name="Rectangle 77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46" name="Oval 77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en-US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8447" name="Group 77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452" name="Line 7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53" name="Line 7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54" name="Line 7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448" name="Group 77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449" name="Line 77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50" name="Line 77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51" name="Line 77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8278" name="Line 780"/>
          <p:cNvSpPr>
            <a:spLocks noChangeShapeType="1"/>
          </p:cNvSpPr>
          <p:nvPr/>
        </p:nvSpPr>
        <p:spPr bwMode="auto">
          <a:xfrm>
            <a:off x="9619621" y="5273167"/>
            <a:ext cx="358775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9" name="Line 781"/>
          <p:cNvSpPr>
            <a:spLocks noChangeShapeType="1"/>
          </p:cNvSpPr>
          <p:nvPr/>
        </p:nvSpPr>
        <p:spPr bwMode="auto">
          <a:xfrm flipV="1">
            <a:off x="8967158" y="5285867"/>
            <a:ext cx="277813" cy="1095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0" name="Line 782"/>
          <p:cNvSpPr>
            <a:spLocks noChangeShapeType="1"/>
          </p:cNvSpPr>
          <p:nvPr/>
        </p:nvSpPr>
        <p:spPr bwMode="auto">
          <a:xfrm flipV="1">
            <a:off x="9010020" y="5489067"/>
            <a:ext cx="9715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1" name="Line 783"/>
          <p:cNvSpPr>
            <a:spLocks noChangeShapeType="1"/>
          </p:cNvSpPr>
          <p:nvPr/>
        </p:nvSpPr>
        <p:spPr bwMode="auto">
          <a:xfrm flipH="1">
            <a:off x="8305170" y="5235067"/>
            <a:ext cx="254000" cy="4699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2" name="Line 784"/>
          <p:cNvSpPr>
            <a:spLocks noChangeShapeType="1"/>
          </p:cNvSpPr>
          <p:nvPr/>
        </p:nvSpPr>
        <p:spPr bwMode="auto">
          <a:xfrm>
            <a:off x="8330570" y="5285867"/>
            <a:ext cx="1968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3" name="Line 785"/>
          <p:cNvSpPr>
            <a:spLocks noChangeShapeType="1"/>
          </p:cNvSpPr>
          <p:nvPr/>
        </p:nvSpPr>
        <p:spPr bwMode="auto">
          <a:xfrm>
            <a:off x="8190871" y="5622417"/>
            <a:ext cx="15398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4" name="Line 786"/>
          <p:cNvSpPr>
            <a:spLocks noChangeShapeType="1"/>
          </p:cNvSpPr>
          <p:nvPr/>
        </p:nvSpPr>
        <p:spPr bwMode="auto">
          <a:xfrm>
            <a:off x="8443282" y="5701792"/>
            <a:ext cx="49053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5" name="Line 787"/>
          <p:cNvSpPr>
            <a:spLocks noChangeShapeType="1"/>
          </p:cNvSpPr>
          <p:nvPr/>
        </p:nvSpPr>
        <p:spPr bwMode="auto">
          <a:xfrm flipH="1">
            <a:off x="8682996" y="5609718"/>
            <a:ext cx="53975" cy="857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6" name="Line 788"/>
          <p:cNvSpPr>
            <a:spLocks noChangeShapeType="1"/>
          </p:cNvSpPr>
          <p:nvPr/>
        </p:nvSpPr>
        <p:spPr bwMode="auto">
          <a:xfrm>
            <a:off x="8495671" y="5698617"/>
            <a:ext cx="1587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7" name="Line 789"/>
          <p:cNvSpPr>
            <a:spLocks noChangeShapeType="1"/>
          </p:cNvSpPr>
          <p:nvPr/>
        </p:nvSpPr>
        <p:spPr bwMode="auto">
          <a:xfrm flipH="1" flipV="1">
            <a:off x="8892545" y="5706555"/>
            <a:ext cx="0" cy="76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8" name="Line 790"/>
          <p:cNvSpPr>
            <a:spLocks noChangeShapeType="1"/>
          </p:cNvSpPr>
          <p:nvPr/>
        </p:nvSpPr>
        <p:spPr bwMode="auto">
          <a:xfrm>
            <a:off x="8973507" y="5565268"/>
            <a:ext cx="503238" cy="2698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9" name="Line 791"/>
          <p:cNvSpPr>
            <a:spLocks noChangeShapeType="1"/>
          </p:cNvSpPr>
          <p:nvPr/>
        </p:nvSpPr>
        <p:spPr bwMode="auto">
          <a:xfrm>
            <a:off x="8422645" y="5500180"/>
            <a:ext cx="8096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290" name="Group 792"/>
          <p:cNvGrpSpPr>
            <a:grpSpLocks/>
          </p:cNvGrpSpPr>
          <p:nvPr/>
        </p:nvGrpSpPr>
        <p:grpSpPr bwMode="auto">
          <a:xfrm>
            <a:off x="7608258" y="2260092"/>
            <a:ext cx="3021013" cy="3981450"/>
            <a:chOff x="-1203" y="1352"/>
            <a:chExt cx="1903" cy="2508"/>
          </a:xfrm>
        </p:grpSpPr>
        <p:grpSp>
          <p:nvGrpSpPr>
            <p:cNvPr id="8402" name="Group 793"/>
            <p:cNvGrpSpPr>
              <a:grpSpLocks/>
            </p:cNvGrpSpPr>
            <p:nvPr/>
          </p:nvGrpSpPr>
          <p:grpSpPr bwMode="auto">
            <a:xfrm>
              <a:off x="-1203" y="1647"/>
              <a:ext cx="436" cy="114"/>
              <a:chOff x="3072" y="739"/>
              <a:chExt cx="652" cy="146"/>
            </a:xfrm>
          </p:grpSpPr>
          <p:pic>
            <p:nvPicPr>
              <p:cNvPr id="8439" name="Picture 794" descr="lgv_fqmg[1]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237" y="739"/>
                <a:ext cx="487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440" name="Line 795"/>
              <p:cNvSpPr>
                <a:spLocks noChangeShapeType="1"/>
              </p:cNvSpPr>
              <p:nvPr/>
            </p:nvSpPr>
            <p:spPr bwMode="auto">
              <a:xfrm flipH="1">
                <a:off x="3104" y="784"/>
                <a:ext cx="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41" name="Line 796"/>
              <p:cNvSpPr>
                <a:spLocks noChangeShapeType="1"/>
              </p:cNvSpPr>
              <p:nvPr/>
            </p:nvSpPr>
            <p:spPr bwMode="auto">
              <a:xfrm flipH="1">
                <a:off x="3072" y="7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8403" name="Picture 797" descr="imgyjavg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027" y="1466"/>
              <a:ext cx="23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404" name="Group 798"/>
            <p:cNvGrpSpPr>
              <a:grpSpLocks/>
            </p:cNvGrpSpPr>
            <p:nvPr/>
          </p:nvGrpSpPr>
          <p:grpSpPr bwMode="auto">
            <a:xfrm>
              <a:off x="-546" y="1352"/>
              <a:ext cx="256" cy="269"/>
              <a:chOff x="2870" y="1518"/>
              <a:chExt cx="292" cy="320"/>
            </a:xfrm>
          </p:grpSpPr>
          <p:graphicFrame>
            <p:nvGraphicFramePr>
              <p:cNvPr id="8437" name="Object 799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5" imgW="826829" imgH="840406" progId="MS_ClipArt_Gallery.2">
                      <p:embed/>
                    </p:oleObj>
                  </mc:Choice>
                  <mc:Fallback>
                    <p:oleObj name="Clip" r:id="rId5" imgW="826829" imgH="840406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438" name="Object 800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7" imgW="1268295" imgH="1199426" progId="MS_ClipArt_Gallery.2">
                      <p:embed/>
                    </p:oleObj>
                  </mc:Choice>
                  <mc:Fallback>
                    <p:oleObj name="Clip" r:id="rId7" imgW="1268295" imgH="1199426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405" name="Group 801"/>
            <p:cNvGrpSpPr>
              <a:grpSpLocks/>
            </p:cNvGrpSpPr>
            <p:nvPr/>
          </p:nvGrpSpPr>
          <p:grpSpPr bwMode="auto">
            <a:xfrm>
              <a:off x="-1002" y="2262"/>
              <a:ext cx="209" cy="224"/>
              <a:chOff x="2870" y="1518"/>
              <a:chExt cx="292" cy="320"/>
            </a:xfrm>
          </p:grpSpPr>
          <p:graphicFrame>
            <p:nvGraphicFramePr>
              <p:cNvPr id="8435" name="Object 802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9" imgW="826829" imgH="840406" progId="MS_ClipArt_Gallery.2">
                      <p:embed/>
                    </p:oleObj>
                  </mc:Choice>
                  <mc:Fallback>
                    <p:oleObj name="Clip" r:id="rId9" imgW="826829" imgH="840406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436" name="Object 803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7" imgW="1268295" imgH="1199426" progId="MS_ClipArt_Gallery.2">
                      <p:embed/>
                    </p:oleObj>
                  </mc:Choice>
                  <mc:Fallback>
                    <p:oleObj name="Clip" r:id="rId7" imgW="1268295" imgH="1199426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406" name="Object 804"/>
            <p:cNvGraphicFramePr>
              <a:graphicFrameLocks noChangeAspect="1"/>
            </p:cNvGraphicFramePr>
            <p:nvPr/>
          </p:nvGraphicFramePr>
          <p:xfrm>
            <a:off x="-732" y="2289"/>
            <a:ext cx="20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0" imgW="1307263" imgH="1084139" progId="MS_ClipArt_Gallery.2">
                    <p:embed/>
                  </p:oleObj>
                </mc:Choice>
                <mc:Fallback>
                  <p:oleObj name="Clip" r:id="rId10" imgW="1307263" imgH="1084139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32" y="2289"/>
                          <a:ext cx="207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407" name="Group 805"/>
            <p:cNvGrpSpPr>
              <a:grpSpLocks/>
            </p:cNvGrpSpPr>
            <p:nvPr/>
          </p:nvGrpSpPr>
          <p:grpSpPr bwMode="auto">
            <a:xfrm>
              <a:off x="310" y="3575"/>
              <a:ext cx="125" cy="230"/>
              <a:chOff x="4180" y="783"/>
              <a:chExt cx="150" cy="307"/>
            </a:xfrm>
          </p:grpSpPr>
          <p:sp>
            <p:nvSpPr>
              <p:cNvPr id="8427" name="AutoShape 806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428" name="Rectangle 807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429" name="Rectangle 808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430" name="AutoShape 809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431" name="Line 810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32" name="Line 811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33" name="Rectangle 812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434" name="Rectangle 813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8408" name="Object 814"/>
            <p:cNvGraphicFramePr>
              <a:graphicFrameLocks noChangeAspect="1"/>
            </p:cNvGraphicFramePr>
            <p:nvPr/>
          </p:nvGraphicFramePr>
          <p:xfrm>
            <a:off x="-975" y="33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0" imgW="1307263" imgH="1084139" progId="MS_ClipArt_Gallery.2">
                    <p:embed/>
                  </p:oleObj>
                </mc:Choice>
                <mc:Fallback>
                  <p:oleObj name="Clip" r:id="rId10" imgW="1307263" imgH="1084139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975" y="33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09" name="Object 815"/>
            <p:cNvGraphicFramePr>
              <a:graphicFrameLocks noChangeAspect="1"/>
            </p:cNvGraphicFramePr>
            <p:nvPr/>
          </p:nvGraphicFramePr>
          <p:xfrm>
            <a:off x="-871" y="31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0" imgW="1307263" imgH="1084139" progId="MS_ClipArt_Gallery.2">
                    <p:embed/>
                  </p:oleObj>
                </mc:Choice>
                <mc:Fallback>
                  <p:oleObj name="Clip" r:id="rId10" imgW="1307263" imgH="1084139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71" y="31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10" name="Object 816"/>
            <p:cNvGraphicFramePr>
              <a:graphicFrameLocks noChangeAspect="1"/>
            </p:cNvGraphicFramePr>
            <p:nvPr/>
          </p:nvGraphicFramePr>
          <p:xfrm>
            <a:off x="-703" y="354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0" imgW="1307263" imgH="1084139" progId="MS_ClipArt_Gallery.2">
                    <p:embed/>
                  </p:oleObj>
                </mc:Choice>
                <mc:Fallback>
                  <p:oleObj name="Clip" r:id="rId10" imgW="1307263" imgH="1084139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03" y="354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11" name="Object 817"/>
            <p:cNvGraphicFramePr>
              <a:graphicFrameLocks noChangeAspect="1"/>
            </p:cNvGraphicFramePr>
            <p:nvPr/>
          </p:nvGraphicFramePr>
          <p:xfrm>
            <a:off x="-489" y="3546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0" imgW="1307263" imgH="1084139" progId="MS_ClipArt_Gallery.2">
                    <p:embed/>
                  </p:oleObj>
                </mc:Choice>
                <mc:Fallback>
                  <p:oleObj name="Clip" r:id="rId10" imgW="1307263" imgH="1084139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89" y="3546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412" name="Group 818"/>
            <p:cNvGrpSpPr>
              <a:grpSpLocks/>
            </p:cNvGrpSpPr>
            <p:nvPr/>
          </p:nvGrpSpPr>
          <p:grpSpPr bwMode="auto">
            <a:xfrm>
              <a:off x="83" y="3625"/>
              <a:ext cx="172" cy="215"/>
              <a:chOff x="2870" y="1518"/>
              <a:chExt cx="292" cy="320"/>
            </a:xfrm>
          </p:grpSpPr>
          <p:graphicFrame>
            <p:nvGraphicFramePr>
              <p:cNvPr id="8425" name="Object 819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2" imgW="826829" imgH="840406" progId="MS_ClipArt_Gallery.2">
                      <p:embed/>
                    </p:oleObj>
                  </mc:Choice>
                  <mc:Fallback>
                    <p:oleObj name="Clip" r:id="rId12" imgW="826829" imgH="840406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426" name="Object 820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3" imgW="1268295" imgH="1199426" progId="MS_ClipArt_Gallery.2">
                      <p:embed/>
                    </p:oleObj>
                  </mc:Choice>
                  <mc:Fallback>
                    <p:oleObj name="Clip" r:id="rId13" imgW="1268295" imgH="1199426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413" name="Group 821"/>
            <p:cNvGrpSpPr>
              <a:grpSpLocks/>
            </p:cNvGrpSpPr>
            <p:nvPr/>
          </p:nvGrpSpPr>
          <p:grpSpPr bwMode="auto">
            <a:xfrm>
              <a:off x="-201" y="3657"/>
              <a:ext cx="220" cy="203"/>
              <a:chOff x="2870" y="1518"/>
              <a:chExt cx="292" cy="320"/>
            </a:xfrm>
          </p:grpSpPr>
          <p:graphicFrame>
            <p:nvGraphicFramePr>
              <p:cNvPr id="8423" name="Object 822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4" imgW="826829" imgH="840406" progId="MS_ClipArt_Gallery.2">
                      <p:embed/>
                    </p:oleObj>
                  </mc:Choice>
                  <mc:Fallback>
                    <p:oleObj name="Clip" r:id="rId14" imgW="826829" imgH="840406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424" name="Object 823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3" imgW="1268295" imgH="1199426" progId="MS_ClipArt_Gallery.2">
                      <p:embed/>
                    </p:oleObj>
                  </mc:Choice>
                  <mc:Fallback>
                    <p:oleObj name="Clip" r:id="rId13" imgW="1268295" imgH="1199426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414" name="Group 824"/>
            <p:cNvGrpSpPr>
              <a:grpSpLocks/>
            </p:cNvGrpSpPr>
            <p:nvPr/>
          </p:nvGrpSpPr>
          <p:grpSpPr bwMode="auto">
            <a:xfrm>
              <a:off x="569" y="3419"/>
              <a:ext cx="131" cy="258"/>
              <a:chOff x="4180" y="783"/>
              <a:chExt cx="150" cy="307"/>
            </a:xfrm>
          </p:grpSpPr>
          <p:sp>
            <p:nvSpPr>
              <p:cNvPr id="8415" name="AutoShape 825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416" name="Rectangle 826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417" name="Rectangle 827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418" name="AutoShape 828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419" name="Line 829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20" name="Line 830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21" name="Rectangle 831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422" name="Rectangle 832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8291" name="Line 833"/>
          <p:cNvSpPr>
            <a:spLocks noChangeShapeType="1"/>
          </p:cNvSpPr>
          <p:nvPr/>
        </p:nvSpPr>
        <p:spPr bwMode="auto">
          <a:xfrm flipH="1">
            <a:off x="8511546" y="4022218"/>
            <a:ext cx="3175" cy="14446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2" name="Line 834"/>
          <p:cNvSpPr>
            <a:spLocks noChangeShapeType="1"/>
          </p:cNvSpPr>
          <p:nvPr/>
        </p:nvSpPr>
        <p:spPr bwMode="auto">
          <a:xfrm flipV="1">
            <a:off x="9808533" y="3004630"/>
            <a:ext cx="123825" cy="8731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3" name="Line 835"/>
          <p:cNvSpPr>
            <a:spLocks noChangeShapeType="1"/>
          </p:cNvSpPr>
          <p:nvPr/>
        </p:nvSpPr>
        <p:spPr bwMode="auto">
          <a:xfrm>
            <a:off x="9635495" y="3177667"/>
            <a:ext cx="0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4" name="Line 836"/>
          <p:cNvSpPr>
            <a:spLocks noChangeShapeType="1"/>
          </p:cNvSpPr>
          <p:nvPr/>
        </p:nvSpPr>
        <p:spPr bwMode="auto">
          <a:xfrm flipV="1">
            <a:off x="9806946" y="3074481"/>
            <a:ext cx="263525" cy="2889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" name="Line 837"/>
          <p:cNvSpPr>
            <a:spLocks noChangeShapeType="1"/>
          </p:cNvSpPr>
          <p:nvPr/>
        </p:nvSpPr>
        <p:spPr bwMode="auto">
          <a:xfrm>
            <a:off x="10172070" y="3072892"/>
            <a:ext cx="0" cy="196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" name="Line 838"/>
          <p:cNvSpPr>
            <a:spLocks noChangeShapeType="1"/>
          </p:cNvSpPr>
          <p:nvPr/>
        </p:nvSpPr>
        <p:spPr bwMode="auto">
          <a:xfrm>
            <a:off x="9825995" y="3379280"/>
            <a:ext cx="18891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" name="Line 839"/>
          <p:cNvSpPr>
            <a:spLocks noChangeShapeType="1"/>
          </p:cNvSpPr>
          <p:nvPr/>
        </p:nvSpPr>
        <p:spPr bwMode="auto">
          <a:xfrm flipV="1">
            <a:off x="8121021" y="4246056"/>
            <a:ext cx="168275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8" name="Line 840"/>
          <p:cNvSpPr>
            <a:spLocks noChangeShapeType="1"/>
          </p:cNvSpPr>
          <p:nvPr/>
        </p:nvSpPr>
        <p:spPr bwMode="auto">
          <a:xfrm flipV="1">
            <a:off x="10240333" y="2772856"/>
            <a:ext cx="238125" cy="1682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9" name="Line 841"/>
          <p:cNvSpPr>
            <a:spLocks noChangeShapeType="1"/>
          </p:cNvSpPr>
          <p:nvPr/>
        </p:nvSpPr>
        <p:spPr bwMode="auto">
          <a:xfrm>
            <a:off x="10380032" y="3369755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0" name="Line 842"/>
          <p:cNvSpPr>
            <a:spLocks noChangeShapeType="1"/>
          </p:cNvSpPr>
          <p:nvPr/>
        </p:nvSpPr>
        <p:spPr bwMode="auto">
          <a:xfrm flipH="1">
            <a:off x="9525958" y="3445955"/>
            <a:ext cx="98425" cy="704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1" name="Line 843"/>
          <p:cNvSpPr>
            <a:spLocks noChangeShapeType="1"/>
          </p:cNvSpPr>
          <p:nvPr/>
        </p:nvSpPr>
        <p:spPr bwMode="auto">
          <a:xfrm flipH="1">
            <a:off x="10116508" y="3445956"/>
            <a:ext cx="111125" cy="7270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302" name="Group 844"/>
          <p:cNvGrpSpPr>
            <a:grpSpLocks/>
          </p:cNvGrpSpPr>
          <p:nvPr/>
        </p:nvGrpSpPr>
        <p:grpSpPr bwMode="auto">
          <a:xfrm>
            <a:off x="9168770" y="5063617"/>
            <a:ext cx="501650" cy="234950"/>
            <a:chOff x="4701" y="2996"/>
            <a:chExt cx="316" cy="148"/>
          </a:xfrm>
        </p:grpSpPr>
        <p:sp>
          <p:nvSpPr>
            <p:cNvPr id="8389" name="Oval 845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en-US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390" name="Line 846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1" name="Line 847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2" name="Rectangle 848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93" name="Oval 849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en-US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8394" name="Group 850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8399" name="Line 85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0" name="Line 85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1" name="Line 85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395" name="Group 854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8396" name="Line 85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97" name="Line 85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98" name="Line 85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303" name="Group 858"/>
          <p:cNvGrpSpPr>
            <a:grpSpLocks/>
          </p:cNvGrpSpPr>
          <p:nvPr/>
        </p:nvGrpSpPr>
        <p:grpSpPr bwMode="auto">
          <a:xfrm>
            <a:off x="8503607" y="5365242"/>
            <a:ext cx="501650" cy="234950"/>
            <a:chOff x="4701" y="2996"/>
            <a:chExt cx="316" cy="148"/>
          </a:xfrm>
        </p:grpSpPr>
        <p:sp>
          <p:nvSpPr>
            <p:cNvPr id="8376" name="Oval 859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en-US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377" name="Line 860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78" name="Line 861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79" name="Rectangle 862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80" name="Oval 863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en-US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8381" name="Group 864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8386" name="Line 86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87" name="Line 86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88" name="Line 86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382" name="Group 868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8383" name="Line 8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84" name="Line 8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85" name="Line 8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304" name="Group 872"/>
          <p:cNvGrpSpPr>
            <a:grpSpLocks/>
          </p:cNvGrpSpPr>
          <p:nvPr/>
        </p:nvGrpSpPr>
        <p:grpSpPr bwMode="auto">
          <a:xfrm>
            <a:off x="9333870" y="5550980"/>
            <a:ext cx="290512" cy="404812"/>
            <a:chOff x="4290" y="3130"/>
            <a:chExt cx="183" cy="255"/>
          </a:xfrm>
        </p:grpSpPr>
        <p:pic>
          <p:nvPicPr>
            <p:cNvPr id="8358" name="Picture 873" descr="31u_bnrz[1]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59" name="Freeform 874"/>
            <p:cNvSpPr>
              <a:spLocks/>
            </p:cNvSpPr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0 w 199"/>
                <a:gd name="T1" fmla="*/ 0 h 232"/>
                <a:gd name="T2" fmla="*/ 0 w 199"/>
                <a:gd name="T3" fmla="*/ 0 h 232"/>
                <a:gd name="T4" fmla="*/ 0 w 199"/>
                <a:gd name="T5" fmla="*/ 0 h 232"/>
                <a:gd name="T6" fmla="*/ 0 w 199"/>
                <a:gd name="T7" fmla="*/ 0 h 232"/>
                <a:gd name="T8" fmla="*/ 0 w 199"/>
                <a:gd name="T9" fmla="*/ 0 h 232"/>
                <a:gd name="T10" fmla="*/ 0 w 199"/>
                <a:gd name="T11" fmla="*/ 0 h 232"/>
                <a:gd name="T12" fmla="*/ 0 w 199"/>
                <a:gd name="T13" fmla="*/ 0 h 232"/>
                <a:gd name="T14" fmla="*/ 0 w 199"/>
                <a:gd name="T15" fmla="*/ 0 h 232"/>
                <a:gd name="T16" fmla="*/ 0 w 199"/>
                <a:gd name="T17" fmla="*/ 0 h 232"/>
                <a:gd name="T18" fmla="*/ 0 w 199"/>
                <a:gd name="T19" fmla="*/ 0 h 232"/>
                <a:gd name="T20" fmla="*/ 0 w 199"/>
                <a:gd name="T21" fmla="*/ 0 h 232"/>
                <a:gd name="T22" fmla="*/ 0 w 199"/>
                <a:gd name="T23" fmla="*/ 0 h 232"/>
                <a:gd name="T24" fmla="*/ 0 w 199"/>
                <a:gd name="T25" fmla="*/ 0 h 232"/>
                <a:gd name="T26" fmla="*/ 0 w 199"/>
                <a:gd name="T27" fmla="*/ 0 h 232"/>
                <a:gd name="T28" fmla="*/ 0 w 199"/>
                <a:gd name="T29" fmla="*/ 0 h 232"/>
                <a:gd name="T30" fmla="*/ 0 w 199"/>
                <a:gd name="T31" fmla="*/ 0 h 232"/>
                <a:gd name="T32" fmla="*/ 0 w 199"/>
                <a:gd name="T33" fmla="*/ 0 h 232"/>
                <a:gd name="T34" fmla="*/ 0 w 199"/>
                <a:gd name="T35" fmla="*/ 0 h 232"/>
                <a:gd name="T36" fmla="*/ 0 w 199"/>
                <a:gd name="T37" fmla="*/ 0 h 232"/>
                <a:gd name="T38" fmla="*/ 0 w 199"/>
                <a:gd name="T39" fmla="*/ 0 h 232"/>
                <a:gd name="T40" fmla="*/ 0 w 199"/>
                <a:gd name="T41" fmla="*/ 0 h 232"/>
                <a:gd name="T42" fmla="*/ 0 w 199"/>
                <a:gd name="T43" fmla="*/ 0 h 232"/>
                <a:gd name="T44" fmla="*/ 0 w 199"/>
                <a:gd name="T45" fmla="*/ 0 h 232"/>
                <a:gd name="T46" fmla="*/ 0 w 199"/>
                <a:gd name="T47" fmla="*/ 0 h 232"/>
                <a:gd name="T48" fmla="*/ 0 w 199"/>
                <a:gd name="T49" fmla="*/ 0 h 232"/>
                <a:gd name="T50" fmla="*/ 0 w 199"/>
                <a:gd name="T51" fmla="*/ 0 h 232"/>
                <a:gd name="T52" fmla="*/ 0 w 199"/>
                <a:gd name="T53" fmla="*/ 0 h 232"/>
                <a:gd name="T54" fmla="*/ 0 w 199"/>
                <a:gd name="T55" fmla="*/ 0 h 232"/>
                <a:gd name="T56" fmla="*/ 0 w 199"/>
                <a:gd name="T57" fmla="*/ 0 h 232"/>
                <a:gd name="T58" fmla="*/ 0 w 199"/>
                <a:gd name="T59" fmla="*/ 0 h 232"/>
                <a:gd name="T60" fmla="*/ 0 w 199"/>
                <a:gd name="T61" fmla="*/ 0 h 232"/>
                <a:gd name="T62" fmla="*/ 0 w 199"/>
                <a:gd name="T63" fmla="*/ 0 h 232"/>
                <a:gd name="T64" fmla="*/ 0 w 199"/>
                <a:gd name="T65" fmla="*/ 0 h 232"/>
                <a:gd name="T66" fmla="*/ 0 w 199"/>
                <a:gd name="T67" fmla="*/ 0 h 232"/>
                <a:gd name="T68" fmla="*/ 0 w 199"/>
                <a:gd name="T69" fmla="*/ 0 h 232"/>
                <a:gd name="T70" fmla="*/ 0 w 199"/>
                <a:gd name="T71" fmla="*/ 0 h 232"/>
                <a:gd name="T72" fmla="*/ 0 w 199"/>
                <a:gd name="T73" fmla="*/ 0 h 232"/>
                <a:gd name="T74" fmla="*/ 0 w 199"/>
                <a:gd name="T75" fmla="*/ 0 h 232"/>
                <a:gd name="T76" fmla="*/ 0 w 199"/>
                <a:gd name="T77" fmla="*/ 0 h 232"/>
                <a:gd name="T78" fmla="*/ 0 w 199"/>
                <a:gd name="T79" fmla="*/ 0 h 232"/>
                <a:gd name="T80" fmla="*/ 0 w 199"/>
                <a:gd name="T81" fmla="*/ 0 h 232"/>
                <a:gd name="T82" fmla="*/ 0 w 199"/>
                <a:gd name="T83" fmla="*/ 0 h 232"/>
                <a:gd name="T84" fmla="*/ 0 w 199"/>
                <a:gd name="T85" fmla="*/ 0 h 232"/>
                <a:gd name="T86" fmla="*/ 0 w 199"/>
                <a:gd name="T87" fmla="*/ 0 h 232"/>
                <a:gd name="T88" fmla="*/ 0 w 199"/>
                <a:gd name="T89" fmla="*/ 0 h 232"/>
                <a:gd name="T90" fmla="*/ 0 w 199"/>
                <a:gd name="T91" fmla="*/ 0 h 232"/>
                <a:gd name="T92" fmla="*/ 0 w 199"/>
                <a:gd name="T93" fmla="*/ 0 h 232"/>
                <a:gd name="T94" fmla="*/ 0 w 199"/>
                <a:gd name="T95" fmla="*/ 0 h 232"/>
                <a:gd name="T96" fmla="*/ 0 w 199"/>
                <a:gd name="T97" fmla="*/ 0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0" name="Freeform 875"/>
            <p:cNvSpPr>
              <a:spLocks/>
            </p:cNvSpPr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0 w 128"/>
                <a:gd name="T1" fmla="*/ 0 h 180"/>
                <a:gd name="T2" fmla="*/ 0 w 128"/>
                <a:gd name="T3" fmla="*/ 0 h 180"/>
                <a:gd name="T4" fmla="*/ 0 w 128"/>
                <a:gd name="T5" fmla="*/ 0 h 180"/>
                <a:gd name="T6" fmla="*/ 0 w 128"/>
                <a:gd name="T7" fmla="*/ 0 h 180"/>
                <a:gd name="T8" fmla="*/ 0 w 128"/>
                <a:gd name="T9" fmla="*/ 0 h 180"/>
                <a:gd name="T10" fmla="*/ 0 w 128"/>
                <a:gd name="T11" fmla="*/ 0 h 180"/>
                <a:gd name="T12" fmla="*/ 0 w 128"/>
                <a:gd name="T13" fmla="*/ 0 h 180"/>
                <a:gd name="T14" fmla="*/ 0 w 128"/>
                <a:gd name="T15" fmla="*/ 0 h 180"/>
                <a:gd name="T16" fmla="*/ 0 w 128"/>
                <a:gd name="T17" fmla="*/ 0 h 180"/>
                <a:gd name="T18" fmla="*/ 0 w 128"/>
                <a:gd name="T19" fmla="*/ 0 h 180"/>
                <a:gd name="T20" fmla="*/ 0 w 128"/>
                <a:gd name="T21" fmla="*/ 0 h 180"/>
                <a:gd name="T22" fmla="*/ 0 w 128"/>
                <a:gd name="T23" fmla="*/ 0 h 180"/>
                <a:gd name="T24" fmla="*/ 0 w 128"/>
                <a:gd name="T25" fmla="*/ 0 h 180"/>
                <a:gd name="T26" fmla="*/ 0 w 128"/>
                <a:gd name="T27" fmla="*/ 0 h 180"/>
                <a:gd name="T28" fmla="*/ 0 w 128"/>
                <a:gd name="T29" fmla="*/ 0 h 180"/>
                <a:gd name="T30" fmla="*/ 0 w 128"/>
                <a:gd name="T31" fmla="*/ 0 h 180"/>
                <a:gd name="T32" fmla="*/ 0 w 128"/>
                <a:gd name="T33" fmla="*/ 0 h 180"/>
                <a:gd name="T34" fmla="*/ 0 w 128"/>
                <a:gd name="T35" fmla="*/ 0 h 180"/>
                <a:gd name="T36" fmla="*/ 0 w 128"/>
                <a:gd name="T37" fmla="*/ 0 h 180"/>
                <a:gd name="T38" fmla="*/ 0 w 128"/>
                <a:gd name="T39" fmla="*/ 0 h 180"/>
                <a:gd name="T40" fmla="*/ 0 w 128"/>
                <a:gd name="T41" fmla="*/ 0 h 180"/>
                <a:gd name="T42" fmla="*/ 0 w 128"/>
                <a:gd name="T43" fmla="*/ 0 h 180"/>
                <a:gd name="T44" fmla="*/ 0 w 128"/>
                <a:gd name="T45" fmla="*/ 0 h 180"/>
                <a:gd name="T46" fmla="*/ 0 w 128"/>
                <a:gd name="T47" fmla="*/ 0 h 180"/>
                <a:gd name="T48" fmla="*/ 0 w 128"/>
                <a:gd name="T49" fmla="*/ 0 h 180"/>
                <a:gd name="T50" fmla="*/ 0 w 128"/>
                <a:gd name="T51" fmla="*/ 0 h 180"/>
                <a:gd name="T52" fmla="*/ 0 w 128"/>
                <a:gd name="T53" fmla="*/ 0 h 180"/>
                <a:gd name="T54" fmla="*/ 0 w 128"/>
                <a:gd name="T55" fmla="*/ 0 h 180"/>
                <a:gd name="T56" fmla="*/ 0 w 128"/>
                <a:gd name="T57" fmla="*/ 0 h 180"/>
                <a:gd name="T58" fmla="*/ 0 w 128"/>
                <a:gd name="T59" fmla="*/ 0 h 180"/>
                <a:gd name="T60" fmla="*/ 0 w 128"/>
                <a:gd name="T61" fmla="*/ 0 h 180"/>
                <a:gd name="T62" fmla="*/ 0 w 128"/>
                <a:gd name="T63" fmla="*/ 0 h 180"/>
                <a:gd name="T64" fmla="*/ 0 w 128"/>
                <a:gd name="T65" fmla="*/ 0 h 180"/>
                <a:gd name="T66" fmla="*/ 0 w 128"/>
                <a:gd name="T67" fmla="*/ 0 h 180"/>
                <a:gd name="T68" fmla="*/ 0 w 128"/>
                <a:gd name="T69" fmla="*/ 0 h 180"/>
                <a:gd name="T70" fmla="*/ 0 w 128"/>
                <a:gd name="T71" fmla="*/ 0 h 180"/>
                <a:gd name="T72" fmla="*/ 0 w 128"/>
                <a:gd name="T73" fmla="*/ 0 h 180"/>
                <a:gd name="T74" fmla="*/ 0 w 128"/>
                <a:gd name="T75" fmla="*/ 0 h 180"/>
                <a:gd name="T76" fmla="*/ 0 w 128"/>
                <a:gd name="T77" fmla="*/ 0 h 180"/>
                <a:gd name="T78" fmla="*/ 0 w 128"/>
                <a:gd name="T79" fmla="*/ 0 h 180"/>
                <a:gd name="T80" fmla="*/ 0 w 128"/>
                <a:gd name="T81" fmla="*/ 0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1" name="Freeform 876"/>
            <p:cNvSpPr>
              <a:spLocks/>
            </p:cNvSpPr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0 w 322"/>
                <a:gd name="T1" fmla="*/ 0 h 378"/>
                <a:gd name="T2" fmla="*/ 0 w 322"/>
                <a:gd name="T3" fmla="*/ 0 h 378"/>
                <a:gd name="T4" fmla="*/ 0 w 322"/>
                <a:gd name="T5" fmla="*/ 0 h 378"/>
                <a:gd name="T6" fmla="*/ 0 w 322"/>
                <a:gd name="T7" fmla="*/ 0 h 378"/>
                <a:gd name="T8" fmla="*/ 0 w 322"/>
                <a:gd name="T9" fmla="*/ 0 h 378"/>
                <a:gd name="T10" fmla="*/ 0 w 322"/>
                <a:gd name="T11" fmla="*/ 0 h 378"/>
                <a:gd name="T12" fmla="*/ 0 w 322"/>
                <a:gd name="T13" fmla="*/ 0 h 378"/>
                <a:gd name="T14" fmla="*/ 0 w 322"/>
                <a:gd name="T15" fmla="*/ 0 h 378"/>
                <a:gd name="T16" fmla="*/ 0 w 322"/>
                <a:gd name="T17" fmla="*/ 0 h 378"/>
                <a:gd name="T18" fmla="*/ 0 w 322"/>
                <a:gd name="T19" fmla="*/ 0 h 378"/>
                <a:gd name="T20" fmla="*/ 0 w 322"/>
                <a:gd name="T21" fmla="*/ 0 h 378"/>
                <a:gd name="T22" fmla="*/ 0 w 322"/>
                <a:gd name="T23" fmla="*/ 0 h 378"/>
                <a:gd name="T24" fmla="*/ 0 w 322"/>
                <a:gd name="T25" fmla="*/ 0 h 378"/>
                <a:gd name="T26" fmla="*/ 0 w 322"/>
                <a:gd name="T27" fmla="*/ 0 h 378"/>
                <a:gd name="T28" fmla="*/ 0 w 322"/>
                <a:gd name="T29" fmla="*/ 0 h 378"/>
                <a:gd name="T30" fmla="*/ 0 w 322"/>
                <a:gd name="T31" fmla="*/ 0 h 378"/>
                <a:gd name="T32" fmla="*/ 0 w 322"/>
                <a:gd name="T33" fmla="*/ 0 h 378"/>
                <a:gd name="T34" fmla="*/ 0 w 322"/>
                <a:gd name="T35" fmla="*/ 0 h 378"/>
                <a:gd name="T36" fmla="*/ 0 w 322"/>
                <a:gd name="T37" fmla="*/ 0 h 378"/>
                <a:gd name="T38" fmla="*/ 0 w 322"/>
                <a:gd name="T39" fmla="*/ 0 h 378"/>
                <a:gd name="T40" fmla="*/ 0 w 322"/>
                <a:gd name="T41" fmla="*/ 0 h 378"/>
                <a:gd name="T42" fmla="*/ 0 w 322"/>
                <a:gd name="T43" fmla="*/ 0 h 378"/>
                <a:gd name="T44" fmla="*/ 0 w 322"/>
                <a:gd name="T45" fmla="*/ 0 h 378"/>
                <a:gd name="T46" fmla="*/ 0 w 322"/>
                <a:gd name="T47" fmla="*/ 0 h 378"/>
                <a:gd name="T48" fmla="*/ 0 w 322"/>
                <a:gd name="T49" fmla="*/ 0 h 378"/>
                <a:gd name="T50" fmla="*/ 0 w 322"/>
                <a:gd name="T51" fmla="*/ 0 h 378"/>
                <a:gd name="T52" fmla="*/ 0 w 322"/>
                <a:gd name="T53" fmla="*/ 0 h 378"/>
                <a:gd name="T54" fmla="*/ 0 w 322"/>
                <a:gd name="T55" fmla="*/ 0 h 378"/>
                <a:gd name="T56" fmla="*/ 0 w 322"/>
                <a:gd name="T57" fmla="*/ 0 h 378"/>
                <a:gd name="T58" fmla="*/ 0 w 322"/>
                <a:gd name="T59" fmla="*/ 0 h 378"/>
                <a:gd name="T60" fmla="*/ 0 w 322"/>
                <a:gd name="T61" fmla="*/ 0 h 378"/>
                <a:gd name="T62" fmla="*/ 0 w 322"/>
                <a:gd name="T63" fmla="*/ 0 h 378"/>
                <a:gd name="T64" fmla="*/ 0 w 322"/>
                <a:gd name="T65" fmla="*/ 0 h 378"/>
                <a:gd name="T66" fmla="*/ 0 w 322"/>
                <a:gd name="T67" fmla="*/ 0 h 378"/>
                <a:gd name="T68" fmla="*/ 0 w 322"/>
                <a:gd name="T69" fmla="*/ 0 h 378"/>
                <a:gd name="T70" fmla="*/ 0 w 322"/>
                <a:gd name="T71" fmla="*/ 0 h 378"/>
                <a:gd name="T72" fmla="*/ 0 w 322"/>
                <a:gd name="T73" fmla="*/ 0 h 378"/>
                <a:gd name="T74" fmla="*/ 0 w 322"/>
                <a:gd name="T75" fmla="*/ 0 h 378"/>
                <a:gd name="T76" fmla="*/ 0 w 322"/>
                <a:gd name="T77" fmla="*/ 0 h 378"/>
                <a:gd name="T78" fmla="*/ 0 w 322"/>
                <a:gd name="T79" fmla="*/ 0 h 378"/>
                <a:gd name="T80" fmla="*/ 0 w 322"/>
                <a:gd name="T81" fmla="*/ 0 h 378"/>
                <a:gd name="T82" fmla="*/ 0 w 322"/>
                <a:gd name="T83" fmla="*/ 0 h 378"/>
                <a:gd name="T84" fmla="*/ 0 w 322"/>
                <a:gd name="T85" fmla="*/ 0 h 378"/>
                <a:gd name="T86" fmla="*/ 0 w 322"/>
                <a:gd name="T87" fmla="*/ 0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2" name="Freeform 877"/>
            <p:cNvSpPr>
              <a:spLocks/>
            </p:cNvSpPr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0 w 283"/>
                <a:gd name="T1" fmla="*/ 0 h 252"/>
                <a:gd name="T2" fmla="*/ 0 w 283"/>
                <a:gd name="T3" fmla="*/ 0 h 252"/>
                <a:gd name="T4" fmla="*/ 0 w 283"/>
                <a:gd name="T5" fmla="*/ 0 h 252"/>
                <a:gd name="T6" fmla="*/ 0 w 283"/>
                <a:gd name="T7" fmla="*/ 0 h 252"/>
                <a:gd name="T8" fmla="*/ 0 w 283"/>
                <a:gd name="T9" fmla="*/ 0 h 252"/>
                <a:gd name="T10" fmla="*/ 0 w 283"/>
                <a:gd name="T11" fmla="*/ 0 h 252"/>
                <a:gd name="T12" fmla="*/ 0 w 283"/>
                <a:gd name="T13" fmla="*/ 0 h 252"/>
                <a:gd name="T14" fmla="*/ 0 w 283"/>
                <a:gd name="T15" fmla="*/ 0 h 252"/>
                <a:gd name="T16" fmla="*/ 0 w 283"/>
                <a:gd name="T17" fmla="*/ 0 h 252"/>
                <a:gd name="T18" fmla="*/ 0 w 283"/>
                <a:gd name="T19" fmla="*/ 0 h 252"/>
                <a:gd name="T20" fmla="*/ 0 w 283"/>
                <a:gd name="T21" fmla="*/ 0 h 252"/>
                <a:gd name="T22" fmla="*/ 0 w 283"/>
                <a:gd name="T23" fmla="*/ 0 h 252"/>
                <a:gd name="T24" fmla="*/ 0 w 283"/>
                <a:gd name="T25" fmla="*/ 0 h 252"/>
                <a:gd name="T26" fmla="*/ 0 w 283"/>
                <a:gd name="T27" fmla="*/ 0 h 252"/>
                <a:gd name="T28" fmla="*/ 0 w 283"/>
                <a:gd name="T29" fmla="*/ 0 h 252"/>
                <a:gd name="T30" fmla="*/ 0 w 283"/>
                <a:gd name="T31" fmla="*/ 0 h 252"/>
                <a:gd name="T32" fmla="*/ 0 w 283"/>
                <a:gd name="T33" fmla="*/ 0 h 252"/>
                <a:gd name="T34" fmla="*/ 0 w 283"/>
                <a:gd name="T35" fmla="*/ 0 h 252"/>
                <a:gd name="T36" fmla="*/ 0 w 283"/>
                <a:gd name="T37" fmla="*/ 0 h 252"/>
                <a:gd name="T38" fmla="*/ 0 w 283"/>
                <a:gd name="T39" fmla="*/ 0 h 252"/>
                <a:gd name="T40" fmla="*/ 0 w 283"/>
                <a:gd name="T41" fmla="*/ 0 h 252"/>
                <a:gd name="T42" fmla="*/ 0 w 283"/>
                <a:gd name="T43" fmla="*/ 0 h 252"/>
                <a:gd name="T44" fmla="*/ 0 w 283"/>
                <a:gd name="T45" fmla="*/ 0 h 252"/>
                <a:gd name="T46" fmla="*/ 0 w 283"/>
                <a:gd name="T47" fmla="*/ 0 h 252"/>
                <a:gd name="T48" fmla="*/ 0 w 283"/>
                <a:gd name="T49" fmla="*/ 0 h 252"/>
                <a:gd name="T50" fmla="*/ 0 w 283"/>
                <a:gd name="T51" fmla="*/ 0 h 252"/>
                <a:gd name="T52" fmla="*/ 0 w 283"/>
                <a:gd name="T53" fmla="*/ 0 h 252"/>
                <a:gd name="T54" fmla="*/ 0 w 283"/>
                <a:gd name="T55" fmla="*/ 0 h 252"/>
                <a:gd name="T56" fmla="*/ 0 w 283"/>
                <a:gd name="T57" fmla="*/ 0 h 252"/>
                <a:gd name="T58" fmla="*/ 0 w 283"/>
                <a:gd name="T59" fmla="*/ 0 h 252"/>
                <a:gd name="T60" fmla="*/ 0 w 283"/>
                <a:gd name="T61" fmla="*/ 0 h 252"/>
                <a:gd name="T62" fmla="*/ 0 w 283"/>
                <a:gd name="T63" fmla="*/ 0 h 252"/>
                <a:gd name="T64" fmla="*/ 0 w 283"/>
                <a:gd name="T65" fmla="*/ 0 h 252"/>
                <a:gd name="T66" fmla="*/ 0 w 283"/>
                <a:gd name="T67" fmla="*/ 0 h 252"/>
                <a:gd name="T68" fmla="*/ 0 w 283"/>
                <a:gd name="T69" fmla="*/ 0 h 252"/>
                <a:gd name="T70" fmla="*/ 0 w 283"/>
                <a:gd name="T71" fmla="*/ 0 h 252"/>
                <a:gd name="T72" fmla="*/ 0 w 283"/>
                <a:gd name="T73" fmla="*/ 0 h 252"/>
                <a:gd name="T74" fmla="*/ 0 w 283"/>
                <a:gd name="T75" fmla="*/ 0 h 252"/>
                <a:gd name="T76" fmla="*/ 0 w 283"/>
                <a:gd name="T77" fmla="*/ 0 h 252"/>
                <a:gd name="T78" fmla="*/ 0 w 283"/>
                <a:gd name="T79" fmla="*/ 0 h 252"/>
                <a:gd name="T80" fmla="*/ 0 w 283"/>
                <a:gd name="T81" fmla="*/ 0 h 252"/>
                <a:gd name="T82" fmla="*/ 0 w 283"/>
                <a:gd name="T83" fmla="*/ 0 h 252"/>
                <a:gd name="T84" fmla="*/ 0 w 283"/>
                <a:gd name="T85" fmla="*/ 0 h 252"/>
                <a:gd name="T86" fmla="*/ 0 w 283"/>
                <a:gd name="T87" fmla="*/ 0 h 252"/>
                <a:gd name="T88" fmla="*/ 0 w 283"/>
                <a:gd name="T89" fmla="*/ 0 h 252"/>
                <a:gd name="T90" fmla="*/ 0 w 283"/>
                <a:gd name="T91" fmla="*/ 0 h 252"/>
                <a:gd name="T92" fmla="*/ 0 w 283"/>
                <a:gd name="T93" fmla="*/ 0 h 252"/>
                <a:gd name="T94" fmla="*/ 0 w 283"/>
                <a:gd name="T95" fmla="*/ 0 h 252"/>
                <a:gd name="T96" fmla="*/ 0 w 283"/>
                <a:gd name="T97" fmla="*/ 0 h 252"/>
                <a:gd name="T98" fmla="*/ 0 w 283"/>
                <a:gd name="T99" fmla="*/ 0 h 252"/>
                <a:gd name="T100" fmla="*/ 0 w 283"/>
                <a:gd name="T101" fmla="*/ 0 h 252"/>
                <a:gd name="T102" fmla="*/ 0 w 283"/>
                <a:gd name="T103" fmla="*/ 0 h 252"/>
                <a:gd name="T104" fmla="*/ 0 w 283"/>
                <a:gd name="T105" fmla="*/ 0 h 252"/>
                <a:gd name="T106" fmla="*/ 0 w 283"/>
                <a:gd name="T107" fmla="*/ 0 h 252"/>
                <a:gd name="T108" fmla="*/ 0 w 283"/>
                <a:gd name="T109" fmla="*/ 0 h 252"/>
                <a:gd name="T110" fmla="*/ 0 w 283"/>
                <a:gd name="T111" fmla="*/ 0 h 252"/>
                <a:gd name="T112" fmla="*/ 0 w 283"/>
                <a:gd name="T113" fmla="*/ 0 h 252"/>
                <a:gd name="T114" fmla="*/ 0 w 283"/>
                <a:gd name="T115" fmla="*/ 0 h 252"/>
                <a:gd name="T116" fmla="*/ 0 w 283"/>
                <a:gd name="T117" fmla="*/ 0 h 252"/>
                <a:gd name="T118" fmla="*/ 0 w 283"/>
                <a:gd name="T119" fmla="*/ 0 h 252"/>
                <a:gd name="T120" fmla="*/ 0 w 283"/>
                <a:gd name="T121" fmla="*/ 0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3" name="Freeform 878"/>
            <p:cNvSpPr>
              <a:spLocks/>
            </p:cNvSpPr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0 h 238"/>
                <a:gd name="T2" fmla="*/ 0 w 114"/>
                <a:gd name="T3" fmla="*/ 0 h 238"/>
                <a:gd name="T4" fmla="*/ 0 w 114"/>
                <a:gd name="T5" fmla="*/ 0 h 238"/>
                <a:gd name="T6" fmla="*/ 0 w 114"/>
                <a:gd name="T7" fmla="*/ 0 h 238"/>
                <a:gd name="T8" fmla="*/ 0 w 114"/>
                <a:gd name="T9" fmla="*/ 0 h 238"/>
                <a:gd name="T10" fmla="*/ 0 w 114"/>
                <a:gd name="T11" fmla="*/ 0 h 238"/>
                <a:gd name="T12" fmla="*/ 0 w 114"/>
                <a:gd name="T13" fmla="*/ 0 h 238"/>
                <a:gd name="T14" fmla="*/ 0 w 114"/>
                <a:gd name="T15" fmla="*/ 0 h 238"/>
                <a:gd name="T16" fmla="*/ 0 w 114"/>
                <a:gd name="T17" fmla="*/ 0 h 238"/>
                <a:gd name="T18" fmla="*/ 0 w 114"/>
                <a:gd name="T19" fmla="*/ 0 h 238"/>
                <a:gd name="T20" fmla="*/ 0 w 114"/>
                <a:gd name="T21" fmla="*/ 0 h 238"/>
                <a:gd name="T22" fmla="*/ 0 w 114"/>
                <a:gd name="T23" fmla="*/ 0 h 238"/>
                <a:gd name="T24" fmla="*/ 0 w 114"/>
                <a:gd name="T25" fmla="*/ 0 h 238"/>
                <a:gd name="T26" fmla="*/ 0 w 114"/>
                <a:gd name="T27" fmla="*/ 0 h 238"/>
                <a:gd name="T28" fmla="*/ 0 w 114"/>
                <a:gd name="T29" fmla="*/ 0 h 238"/>
                <a:gd name="T30" fmla="*/ 0 w 114"/>
                <a:gd name="T31" fmla="*/ 0 h 238"/>
                <a:gd name="T32" fmla="*/ 0 w 114"/>
                <a:gd name="T33" fmla="*/ 0 h 238"/>
                <a:gd name="T34" fmla="*/ 0 w 114"/>
                <a:gd name="T35" fmla="*/ 0 h 238"/>
                <a:gd name="T36" fmla="*/ 0 w 114"/>
                <a:gd name="T37" fmla="*/ 0 h 238"/>
                <a:gd name="T38" fmla="*/ 0 w 114"/>
                <a:gd name="T39" fmla="*/ 0 h 238"/>
                <a:gd name="T40" fmla="*/ 0 w 114"/>
                <a:gd name="T41" fmla="*/ 0 h 238"/>
                <a:gd name="T42" fmla="*/ 0 w 114"/>
                <a:gd name="T43" fmla="*/ 0 h 238"/>
                <a:gd name="T44" fmla="*/ 0 w 114"/>
                <a:gd name="T45" fmla="*/ 0 h 238"/>
                <a:gd name="T46" fmla="*/ 0 w 114"/>
                <a:gd name="T47" fmla="*/ 0 h 238"/>
                <a:gd name="T48" fmla="*/ 0 w 114"/>
                <a:gd name="T49" fmla="*/ 0 h 238"/>
                <a:gd name="T50" fmla="*/ 0 w 114"/>
                <a:gd name="T51" fmla="*/ 0 h 238"/>
                <a:gd name="T52" fmla="*/ 0 w 114"/>
                <a:gd name="T53" fmla="*/ 0 h 238"/>
                <a:gd name="T54" fmla="*/ 0 w 114"/>
                <a:gd name="T55" fmla="*/ 0 h 238"/>
                <a:gd name="T56" fmla="*/ 0 w 114"/>
                <a:gd name="T57" fmla="*/ 0 h 238"/>
                <a:gd name="T58" fmla="*/ 0 w 114"/>
                <a:gd name="T59" fmla="*/ 0 h 238"/>
                <a:gd name="T60" fmla="*/ 0 w 114"/>
                <a:gd name="T61" fmla="*/ 0 h 238"/>
                <a:gd name="T62" fmla="*/ 0 w 114"/>
                <a:gd name="T63" fmla="*/ 0 h 238"/>
                <a:gd name="T64" fmla="*/ 0 w 114"/>
                <a:gd name="T65" fmla="*/ 0 h 238"/>
                <a:gd name="T66" fmla="*/ 0 w 114"/>
                <a:gd name="T67" fmla="*/ 0 h 238"/>
                <a:gd name="T68" fmla="*/ 0 w 114"/>
                <a:gd name="T69" fmla="*/ 0 h 238"/>
                <a:gd name="T70" fmla="*/ 0 w 114"/>
                <a:gd name="T71" fmla="*/ 0 h 238"/>
                <a:gd name="T72" fmla="*/ 0 w 114"/>
                <a:gd name="T73" fmla="*/ 0 h 238"/>
                <a:gd name="T74" fmla="*/ 0 w 114"/>
                <a:gd name="T75" fmla="*/ 0 h 238"/>
                <a:gd name="T76" fmla="*/ 0 w 114"/>
                <a:gd name="T77" fmla="*/ 0 h 238"/>
                <a:gd name="T78" fmla="*/ 0 w 114"/>
                <a:gd name="T79" fmla="*/ 0 h 238"/>
                <a:gd name="T80" fmla="*/ 0 w 114"/>
                <a:gd name="T81" fmla="*/ 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4" name="Freeform 879"/>
            <p:cNvSpPr>
              <a:spLocks/>
            </p:cNvSpPr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0 w 246"/>
                <a:gd name="T1" fmla="*/ 0 h 310"/>
                <a:gd name="T2" fmla="*/ 0 w 246"/>
                <a:gd name="T3" fmla="*/ 0 h 310"/>
                <a:gd name="T4" fmla="*/ 0 w 246"/>
                <a:gd name="T5" fmla="*/ 0 h 310"/>
                <a:gd name="T6" fmla="*/ 0 w 246"/>
                <a:gd name="T7" fmla="*/ 0 h 310"/>
                <a:gd name="T8" fmla="*/ 0 w 246"/>
                <a:gd name="T9" fmla="*/ 0 h 310"/>
                <a:gd name="T10" fmla="*/ 0 w 246"/>
                <a:gd name="T11" fmla="*/ 0 h 310"/>
                <a:gd name="T12" fmla="*/ 0 w 246"/>
                <a:gd name="T13" fmla="*/ 0 h 310"/>
                <a:gd name="T14" fmla="*/ 0 w 246"/>
                <a:gd name="T15" fmla="*/ 0 h 310"/>
                <a:gd name="T16" fmla="*/ 0 w 246"/>
                <a:gd name="T17" fmla="*/ 0 h 310"/>
                <a:gd name="T18" fmla="*/ 0 w 246"/>
                <a:gd name="T19" fmla="*/ 0 h 310"/>
                <a:gd name="T20" fmla="*/ 0 w 246"/>
                <a:gd name="T21" fmla="*/ 0 h 310"/>
                <a:gd name="T22" fmla="*/ 0 w 246"/>
                <a:gd name="T23" fmla="*/ 0 h 310"/>
                <a:gd name="T24" fmla="*/ 0 w 246"/>
                <a:gd name="T25" fmla="*/ 0 h 310"/>
                <a:gd name="T26" fmla="*/ 0 w 246"/>
                <a:gd name="T27" fmla="*/ 0 h 310"/>
                <a:gd name="T28" fmla="*/ 0 w 246"/>
                <a:gd name="T29" fmla="*/ 0 h 310"/>
                <a:gd name="T30" fmla="*/ 0 w 246"/>
                <a:gd name="T31" fmla="*/ 0 h 310"/>
                <a:gd name="T32" fmla="*/ 0 w 246"/>
                <a:gd name="T33" fmla="*/ 0 h 310"/>
                <a:gd name="T34" fmla="*/ 0 w 246"/>
                <a:gd name="T35" fmla="*/ 0 h 310"/>
                <a:gd name="T36" fmla="*/ 0 w 246"/>
                <a:gd name="T37" fmla="*/ 0 h 310"/>
                <a:gd name="T38" fmla="*/ 0 w 246"/>
                <a:gd name="T39" fmla="*/ 0 h 310"/>
                <a:gd name="T40" fmla="*/ 0 w 246"/>
                <a:gd name="T41" fmla="*/ 0 h 310"/>
                <a:gd name="T42" fmla="*/ 0 w 246"/>
                <a:gd name="T43" fmla="*/ 0 h 310"/>
                <a:gd name="T44" fmla="*/ 0 w 246"/>
                <a:gd name="T45" fmla="*/ 0 h 310"/>
                <a:gd name="T46" fmla="*/ 0 w 246"/>
                <a:gd name="T47" fmla="*/ 0 h 310"/>
                <a:gd name="T48" fmla="*/ 0 w 246"/>
                <a:gd name="T49" fmla="*/ 0 h 310"/>
                <a:gd name="T50" fmla="*/ 0 w 246"/>
                <a:gd name="T51" fmla="*/ 0 h 310"/>
                <a:gd name="T52" fmla="*/ 0 w 246"/>
                <a:gd name="T53" fmla="*/ 0 h 310"/>
                <a:gd name="T54" fmla="*/ 0 w 246"/>
                <a:gd name="T55" fmla="*/ 0 h 310"/>
                <a:gd name="T56" fmla="*/ 0 w 246"/>
                <a:gd name="T57" fmla="*/ 0 h 310"/>
                <a:gd name="T58" fmla="*/ 0 w 246"/>
                <a:gd name="T59" fmla="*/ 0 h 310"/>
                <a:gd name="T60" fmla="*/ 0 w 246"/>
                <a:gd name="T61" fmla="*/ 0 h 310"/>
                <a:gd name="T62" fmla="*/ 0 w 246"/>
                <a:gd name="T63" fmla="*/ 0 h 310"/>
                <a:gd name="T64" fmla="*/ 0 w 246"/>
                <a:gd name="T65" fmla="*/ 0 h 310"/>
                <a:gd name="T66" fmla="*/ 0 w 246"/>
                <a:gd name="T67" fmla="*/ 0 h 310"/>
                <a:gd name="T68" fmla="*/ 0 w 246"/>
                <a:gd name="T69" fmla="*/ 0 h 310"/>
                <a:gd name="T70" fmla="*/ 0 w 246"/>
                <a:gd name="T71" fmla="*/ 0 h 310"/>
                <a:gd name="T72" fmla="*/ 0 w 246"/>
                <a:gd name="T73" fmla="*/ 0 h 310"/>
                <a:gd name="T74" fmla="*/ 0 w 246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5" name="Freeform 880"/>
            <p:cNvSpPr>
              <a:spLocks/>
            </p:cNvSpPr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0 w 83"/>
                <a:gd name="T1" fmla="*/ 0 h 187"/>
                <a:gd name="T2" fmla="*/ 0 w 83"/>
                <a:gd name="T3" fmla="*/ 0 h 187"/>
                <a:gd name="T4" fmla="*/ 0 w 83"/>
                <a:gd name="T5" fmla="*/ 0 h 187"/>
                <a:gd name="T6" fmla="*/ 0 w 83"/>
                <a:gd name="T7" fmla="*/ 0 h 187"/>
                <a:gd name="T8" fmla="*/ 0 w 83"/>
                <a:gd name="T9" fmla="*/ 0 h 187"/>
                <a:gd name="T10" fmla="*/ 0 w 83"/>
                <a:gd name="T11" fmla="*/ 0 h 187"/>
                <a:gd name="T12" fmla="*/ 0 w 83"/>
                <a:gd name="T13" fmla="*/ 0 h 187"/>
                <a:gd name="T14" fmla="*/ 0 w 83"/>
                <a:gd name="T15" fmla="*/ 0 h 187"/>
                <a:gd name="T16" fmla="*/ 0 w 83"/>
                <a:gd name="T17" fmla="*/ 0 h 187"/>
                <a:gd name="T18" fmla="*/ 0 w 83"/>
                <a:gd name="T19" fmla="*/ 0 h 187"/>
                <a:gd name="T20" fmla="*/ 0 w 83"/>
                <a:gd name="T21" fmla="*/ 0 h 187"/>
                <a:gd name="T22" fmla="*/ 0 w 83"/>
                <a:gd name="T23" fmla="*/ 0 h 187"/>
                <a:gd name="T24" fmla="*/ 0 w 83"/>
                <a:gd name="T25" fmla="*/ 0 h 187"/>
                <a:gd name="T26" fmla="*/ 0 w 83"/>
                <a:gd name="T27" fmla="*/ 0 h 187"/>
                <a:gd name="T28" fmla="*/ 0 w 83"/>
                <a:gd name="T29" fmla="*/ 0 h 187"/>
                <a:gd name="T30" fmla="*/ 0 w 83"/>
                <a:gd name="T31" fmla="*/ 0 h 187"/>
                <a:gd name="T32" fmla="*/ 0 w 83"/>
                <a:gd name="T33" fmla="*/ 0 h 187"/>
                <a:gd name="T34" fmla="*/ 0 w 83"/>
                <a:gd name="T35" fmla="*/ 0 h 187"/>
                <a:gd name="T36" fmla="*/ 0 w 83"/>
                <a:gd name="T37" fmla="*/ 0 h 187"/>
                <a:gd name="T38" fmla="*/ 0 w 83"/>
                <a:gd name="T39" fmla="*/ 0 h 187"/>
                <a:gd name="T40" fmla="*/ 0 w 83"/>
                <a:gd name="T41" fmla="*/ 0 h 187"/>
                <a:gd name="T42" fmla="*/ 0 w 83"/>
                <a:gd name="T43" fmla="*/ 0 h 187"/>
                <a:gd name="T44" fmla="*/ 0 w 83"/>
                <a:gd name="T45" fmla="*/ 0 h 187"/>
                <a:gd name="T46" fmla="*/ 0 w 83"/>
                <a:gd name="T47" fmla="*/ 0 h 187"/>
                <a:gd name="T48" fmla="*/ 0 w 83"/>
                <a:gd name="T49" fmla="*/ 0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6" name="Freeform 881"/>
            <p:cNvSpPr>
              <a:spLocks/>
            </p:cNvSpPr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0 w 44"/>
                <a:gd name="T1" fmla="*/ 0 h 94"/>
                <a:gd name="T2" fmla="*/ 0 w 44"/>
                <a:gd name="T3" fmla="*/ 0 h 94"/>
                <a:gd name="T4" fmla="*/ 0 w 44"/>
                <a:gd name="T5" fmla="*/ 0 h 94"/>
                <a:gd name="T6" fmla="*/ 0 w 44"/>
                <a:gd name="T7" fmla="*/ 0 h 94"/>
                <a:gd name="T8" fmla="*/ 0 w 44"/>
                <a:gd name="T9" fmla="*/ 0 h 94"/>
                <a:gd name="T10" fmla="*/ 0 w 44"/>
                <a:gd name="T11" fmla="*/ 0 h 94"/>
                <a:gd name="T12" fmla="*/ 0 w 44"/>
                <a:gd name="T13" fmla="*/ 0 h 94"/>
                <a:gd name="T14" fmla="*/ 0 w 44"/>
                <a:gd name="T15" fmla="*/ 0 h 94"/>
                <a:gd name="T16" fmla="*/ 0 w 44"/>
                <a:gd name="T17" fmla="*/ 0 h 94"/>
                <a:gd name="T18" fmla="*/ 0 w 44"/>
                <a:gd name="T19" fmla="*/ 0 h 94"/>
                <a:gd name="T20" fmla="*/ 0 w 44"/>
                <a:gd name="T21" fmla="*/ 0 h 94"/>
                <a:gd name="T22" fmla="*/ 0 w 44"/>
                <a:gd name="T23" fmla="*/ 0 h 94"/>
                <a:gd name="T24" fmla="*/ 0 w 44"/>
                <a:gd name="T25" fmla="*/ 0 h 94"/>
                <a:gd name="T26" fmla="*/ 0 w 44"/>
                <a:gd name="T27" fmla="*/ 0 h 94"/>
                <a:gd name="T28" fmla="*/ 0 w 44"/>
                <a:gd name="T29" fmla="*/ 0 h 94"/>
                <a:gd name="T30" fmla="*/ 0 w 44"/>
                <a:gd name="T31" fmla="*/ 0 h 94"/>
                <a:gd name="T32" fmla="*/ 0 w 44"/>
                <a:gd name="T33" fmla="*/ 0 h 94"/>
                <a:gd name="T34" fmla="*/ 0 w 44"/>
                <a:gd name="T35" fmla="*/ 0 h 94"/>
                <a:gd name="T36" fmla="*/ 0 w 44"/>
                <a:gd name="T37" fmla="*/ 0 h 94"/>
                <a:gd name="T38" fmla="*/ 0 w 44"/>
                <a:gd name="T39" fmla="*/ 0 h 94"/>
                <a:gd name="T40" fmla="*/ 0 w 44"/>
                <a:gd name="T41" fmla="*/ 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7" name="Freeform 882"/>
            <p:cNvSpPr>
              <a:spLocks/>
            </p:cNvSpPr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0 w 38"/>
                <a:gd name="T1" fmla="*/ 0 h 54"/>
                <a:gd name="T2" fmla="*/ 0 w 38"/>
                <a:gd name="T3" fmla="*/ 0 h 54"/>
                <a:gd name="T4" fmla="*/ 0 w 38"/>
                <a:gd name="T5" fmla="*/ 0 h 54"/>
                <a:gd name="T6" fmla="*/ 0 w 38"/>
                <a:gd name="T7" fmla="*/ 0 h 54"/>
                <a:gd name="T8" fmla="*/ 0 w 38"/>
                <a:gd name="T9" fmla="*/ 0 h 54"/>
                <a:gd name="T10" fmla="*/ 0 w 38"/>
                <a:gd name="T11" fmla="*/ 0 h 54"/>
                <a:gd name="T12" fmla="*/ 0 w 38"/>
                <a:gd name="T13" fmla="*/ 0 h 54"/>
                <a:gd name="T14" fmla="*/ 0 w 38"/>
                <a:gd name="T15" fmla="*/ 0 h 54"/>
                <a:gd name="T16" fmla="*/ 0 w 38"/>
                <a:gd name="T17" fmla="*/ 0 h 54"/>
                <a:gd name="T18" fmla="*/ 0 w 38"/>
                <a:gd name="T19" fmla="*/ 0 h 54"/>
                <a:gd name="T20" fmla="*/ 0 w 38"/>
                <a:gd name="T21" fmla="*/ 0 h 54"/>
                <a:gd name="T22" fmla="*/ 0 w 38"/>
                <a:gd name="T23" fmla="*/ 0 h 54"/>
                <a:gd name="T24" fmla="*/ 0 w 38"/>
                <a:gd name="T25" fmla="*/ 0 h 54"/>
                <a:gd name="T26" fmla="*/ 0 w 38"/>
                <a:gd name="T27" fmla="*/ 0 h 54"/>
                <a:gd name="T28" fmla="*/ 0 w 38"/>
                <a:gd name="T29" fmla="*/ 0 h 54"/>
                <a:gd name="T30" fmla="*/ 0 w 38"/>
                <a:gd name="T31" fmla="*/ 0 h 54"/>
                <a:gd name="T32" fmla="*/ 0 w 38"/>
                <a:gd name="T33" fmla="*/ 0 h 54"/>
                <a:gd name="T34" fmla="*/ 0 w 38"/>
                <a:gd name="T35" fmla="*/ 0 h 54"/>
                <a:gd name="T36" fmla="*/ 0 w 38"/>
                <a:gd name="T37" fmla="*/ 0 h 54"/>
                <a:gd name="T38" fmla="*/ 0 w 38"/>
                <a:gd name="T39" fmla="*/ 0 h 54"/>
                <a:gd name="T40" fmla="*/ 0 w 38"/>
                <a:gd name="T41" fmla="*/ 0 h 54"/>
                <a:gd name="T42" fmla="*/ 0 w 38"/>
                <a:gd name="T43" fmla="*/ 0 h 54"/>
                <a:gd name="T44" fmla="*/ 0 w 38"/>
                <a:gd name="T45" fmla="*/ 0 h 54"/>
                <a:gd name="T46" fmla="*/ 0 w 38"/>
                <a:gd name="T47" fmla="*/ 0 h 54"/>
                <a:gd name="T48" fmla="*/ 0 w 38"/>
                <a:gd name="T49" fmla="*/ 0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8" name="Freeform 883"/>
            <p:cNvSpPr>
              <a:spLocks/>
            </p:cNvSpPr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0 w 52"/>
                <a:gd name="T1" fmla="*/ 0 h 36"/>
                <a:gd name="T2" fmla="*/ 0 w 52"/>
                <a:gd name="T3" fmla="*/ 0 h 36"/>
                <a:gd name="T4" fmla="*/ 0 w 52"/>
                <a:gd name="T5" fmla="*/ 0 h 36"/>
                <a:gd name="T6" fmla="*/ 0 w 52"/>
                <a:gd name="T7" fmla="*/ 0 h 36"/>
                <a:gd name="T8" fmla="*/ 0 w 52"/>
                <a:gd name="T9" fmla="*/ 0 h 36"/>
                <a:gd name="T10" fmla="*/ 0 w 52"/>
                <a:gd name="T11" fmla="*/ 0 h 36"/>
                <a:gd name="T12" fmla="*/ 0 w 52"/>
                <a:gd name="T13" fmla="*/ 0 h 36"/>
                <a:gd name="T14" fmla="*/ 0 w 52"/>
                <a:gd name="T15" fmla="*/ 0 h 36"/>
                <a:gd name="T16" fmla="*/ 0 w 52"/>
                <a:gd name="T17" fmla="*/ 0 h 36"/>
                <a:gd name="T18" fmla="*/ 0 w 52"/>
                <a:gd name="T19" fmla="*/ 0 h 36"/>
                <a:gd name="T20" fmla="*/ 0 w 52"/>
                <a:gd name="T21" fmla="*/ 0 h 36"/>
                <a:gd name="T22" fmla="*/ 0 w 52"/>
                <a:gd name="T23" fmla="*/ 0 h 36"/>
                <a:gd name="T24" fmla="*/ 0 w 52"/>
                <a:gd name="T25" fmla="*/ 0 h 36"/>
                <a:gd name="T26" fmla="*/ 0 w 52"/>
                <a:gd name="T27" fmla="*/ 0 h 36"/>
                <a:gd name="T28" fmla="*/ 0 w 52"/>
                <a:gd name="T29" fmla="*/ 0 h 36"/>
                <a:gd name="T30" fmla="*/ 0 w 52"/>
                <a:gd name="T31" fmla="*/ 0 h 36"/>
                <a:gd name="T32" fmla="*/ 0 w 52"/>
                <a:gd name="T33" fmla="*/ 0 h 36"/>
                <a:gd name="T34" fmla="*/ 0 w 52"/>
                <a:gd name="T35" fmla="*/ 0 h 36"/>
                <a:gd name="T36" fmla="*/ 0 w 52"/>
                <a:gd name="T37" fmla="*/ 0 h 36"/>
                <a:gd name="T38" fmla="*/ 0 w 52"/>
                <a:gd name="T39" fmla="*/ 0 h 36"/>
                <a:gd name="T40" fmla="*/ 0 w 52"/>
                <a:gd name="T41" fmla="*/ 0 h 36"/>
                <a:gd name="T42" fmla="*/ 0 w 52"/>
                <a:gd name="T43" fmla="*/ 0 h 36"/>
                <a:gd name="T44" fmla="*/ 0 w 52"/>
                <a:gd name="T45" fmla="*/ 0 h 36"/>
                <a:gd name="T46" fmla="*/ 0 w 52"/>
                <a:gd name="T47" fmla="*/ 0 h 36"/>
                <a:gd name="T48" fmla="*/ 0 w 52"/>
                <a:gd name="T49" fmla="*/ 0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9" name="Freeform 884"/>
            <p:cNvSpPr>
              <a:spLocks/>
            </p:cNvSpPr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0 w 198"/>
                <a:gd name="T1" fmla="*/ 0 h 236"/>
                <a:gd name="T2" fmla="*/ 0 w 198"/>
                <a:gd name="T3" fmla="*/ 0 h 236"/>
                <a:gd name="T4" fmla="*/ 0 w 198"/>
                <a:gd name="T5" fmla="*/ 0 h 236"/>
                <a:gd name="T6" fmla="*/ 0 w 198"/>
                <a:gd name="T7" fmla="*/ 0 h 236"/>
                <a:gd name="T8" fmla="*/ 0 w 198"/>
                <a:gd name="T9" fmla="*/ 0 h 236"/>
                <a:gd name="T10" fmla="*/ 0 w 198"/>
                <a:gd name="T11" fmla="*/ 0 h 236"/>
                <a:gd name="T12" fmla="*/ 0 w 198"/>
                <a:gd name="T13" fmla="*/ 0 h 236"/>
                <a:gd name="T14" fmla="*/ 0 w 198"/>
                <a:gd name="T15" fmla="*/ 0 h 236"/>
                <a:gd name="T16" fmla="*/ 0 w 198"/>
                <a:gd name="T17" fmla="*/ 0 h 236"/>
                <a:gd name="T18" fmla="*/ 0 w 198"/>
                <a:gd name="T19" fmla="*/ 0 h 236"/>
                <a:gd name="T20" fmla="*/ 0 w 198"/>
                <a:gd name="T21" fmla="*/ 0 h 236"/>
                <a:gd name="T22" fmla="*/ 0 w 198"/>
                <a:gd name="T23" fmla="*/ 0 h 236"/>
                <a:gd name="T24" fmla="*/ 0 w 198"/>
                <a:gd name="T25" fmla="*/ 0 h 236"/>
                <a:gd name="T26" fmla="*/ 0 w 198"/>
                <a:gd name="T27" fmla="*/ 0 h 236"/>
                <a:gd name="T28" fmla="*/ 0 w 198"/>
                <a:gd name="T29" fmla="*/ 0 h 236"/>
                <a:gd name="T30" fmla="*/ 0 w 198"/>
                <a:gd name="T31" fmla="*/ 0 h 236"/>
                <a:gd name="T32" fmla="*/ 0 w 198"/>
                <a:gd name="T33" fmla="*/ 0 h 236"/>
                <a:gd name="T34" fmla="*/ 0 w 198"/>
                <a:gd name="T35" fmla="*/ 0 h 236"/>
                <a:gd name="T36" fmla="*/ 0 w 198"/>
                <a:gd name="T37" fmla="*/ 0 h 236"/>
                <a:gd name="T38" fmla="*/ 0 w 198"/>
                <a:gd name="T39" fmla="*/ 0 h 236"/>
                <a:gd name="T40" fmla="*/ 0 w 198"/>
                <a:gd name="T41" fmla="*/ 0 h 236"/>
                <a:gd name="T42" fmla="*/ 0 w 198"/>
                <a:gd name="T43" fmla="*/ 0 h 236"/>
                <a:gd name="T44" fmla="*/ 0 w 198"/>
                <a:gd name="T45" fmla="*/ 0 h 236"/>
                <a:gd name="T46" fmla="*/ 0 w 198"/>
                <a:gd name="T47" fmla="*/ 0 h 236"/>
                <a:gd name="T48" fmla="*/ 0 w 198"/>
                <a:gd name="T49" fmla="*/ 0 h 236"/>
                <a:gd name="T50" fmla="*/ 0 w 198"/>
                <a:gd name="T51" fmla="*/ 0 h 236"/>
                <a:gd name="T52" fmla="*/ 0 w 198"/>
                <a:gd name="T53" fmla="*/ 0 h 236"/>
                <a:gd name="T54" fmla="*/ 0 w 198"/>
                <a:gd name="T55" fmla="*/ 0 h 236"/>
                <a:gd name="T56" fmla="*/ 0 w 198"/>
                <a:gd name="T57" fmla="*/ 0 h 236"/>
                <a:gd name="T58" fmla="*/ 0 w 198"/>
                <a:gd name="T59" fmla="*/ 0 h 236"/>
                <a:gd name="T60" fmla="*/ 0 w 198"/>
                <a:gd name="T61" fmla="*/ 0 h 236"/>
                <a:gd name="T62" fmla="*/ 0 w 198"/>
                <a:gd name="T63" fmla="*/ 0 h 236"/>
                <a:gd name="T64" fmla="*/ 0 w 198"/>
                <a:gd name="T65" fmla="*/ 0 h 236"/>
                <a:gd name="T66" fmla="*/ 0 w 198"/>
                <a:gd name="T67" fmla="*/ 0 h 236"/>
                <a:gd name="T68" fmla="*/ 0 w 198"/>
                <a:gd name="T69" fmla="*/ 0 h 236"/>
                <a:gd name="T70" fmla="*/ 0 w 198"/>
                <a:gd name="T71" fmla="*/ 0 h 236"/>
                <a:gd name="T72" fmla="*/ 0 w 198"/>
                <a:gd name="T73" fmla="*/ 0 h 236"/>
                <a:gd name="T74" fmla="*/ 0 w 198"/>
                <a:gd name="T75" fmla="*/ 0 h 236"/>
                <a:gd name="T76" fmla="*/ 0 w 198"/>
                <a:gd name="T77" fmla="*/ 0 h 236"/>
                <a:gd name="T78" fmla="*/ 0 w 198"/>
                <a:gd name="T79" fmla="*/ 0 h 236"/>
                <a:gd name="T80" fmla="*/ 0 w 198"/>
                <a:gd name="T81" fmla="*/ 0 h 236"/>
                <a:gd name="T82" fmla="*/ 0 w 198"/>
                <a:gd name="T83" fmla="*/ 0 h 236"/>
                <a:gd name="T84" fmla="*/ 0 w 198"/>
                <a:gd name="T85" fmla="*/ 0 h 236"/>
                <a:gd name="T86" fmla="*/ 0 w 198"/>
                <a:gd name="T87" fmla="*/ 0 h 236"/>
                <a:gd name="T88" fmla="*/ 0 w 198"/>
                <a:gd name="T89" fmla="*/ 0 h 236"/>
                <a:gd name="T90" fmla="*/ 0 w 198"/>
                <a:gd name="T91" fmla="*/ 0 h 236"/>
                <a:gd name="T92" fmla="*/ 0 w 198"/>
                <a:gd name="T93" fmla="*/ 0 h 236"/>
                <a:gd name="T94" fmla="*/ 0 w 198"/>
                <a:gd name="T95" fmla="*/ 0 h 236"/>
                <a:gd name="T96" fmla="*/ 0 w 198"/>
                <a:gd name="T97" fmla="*/ 0 h 236"/>
                <a:gd name="T98" fmla="*/ 0 w 198"/>
                <a:gd name="T99" fmla="*/ 0 h 236"/>
                <a:gd name="T100" fmla="*/ 0 w 198"/>
                <a:gd name="T101" fmla="*/ 0 h 236"/>
                <a:gd name="T102" fmla="*/ 0 w 198"/>
                <a:gd name="T103" fmla="*/ 0 h 236"/>
                <a:gd name="T104" fmla="*/ 0 w 198"/>
                <a:gd name="T105" fmla="*/ 0 h 236"/>
                <a:gd name="T106" fmla="*/ 0 w 198"/>
                <a:gd name="T107" fmla="*/ 0 h 236"/>
                <a:gd name="T108" fmla="*/ 0 w 198"/>
                <a:gd name="T109" fmla="*/ 0 h 236"/>
                <a:gd name="T110" fmla="*/ 0 w 198"/>
                <a:gd name="T111" fmla="*/ 0 h 236"/>
                <a:gd name="T112" fmla="*/ 0 w 198"/>
                <a:gd name="T113" fmla="*/ 0 h 236"/>
                <a:gd name="T114" fmla="*/ 0 w 198"/>
                <a:gd name="T115" fmla="*/ 0 h 236"/>
                <a:gd name="T116" fmla="*/ 0 w 198"/>
                <a:gd name="T117" fmla="*/ 0 h 236"/>
                <a:gd name="T118" fmla="*/ 0 w 198"/>
                <a:gd name="T119" fmla="*/ 0 h 236"/>
                <a:gd name="T120" fmla="*/ 0 w 198"/>
                <a:gd name="T121" fmla="*/ 0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0" name="Freeform 885"/>
            <p:cNvSpPr>
              <a:spLocks/>
            </p:cNvSpPr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0 w 128"/>
                <a:gd name="T1" fmla="*/ 0 h 183"/>
                <a:gd name="T2" fmla="*/ 0 w 128"/>
                <a:gd name="T3" fmla="*/ 0 h 183"/>
                <a:gd name="T4" fmla="*/ 0 w 128"/>
                <a:gd name="T5" fmla="*/ 0 h 183"/>
                <a:gd name="T6" fmla="*/ 0 w 128"/>
                <a:gd name="T7" fmla="*/ 0 h 183"/>
                <a:gd name="T8" fmla="*/ 0 w 128"/>
                <a:gd name="T9" fmla="*/ 0 h 183"/>
                <a:gd name="T10" fmla="*/ 0 w 128"/>
                <a:gd name="T11" fmla="*/ 0 h 183"/>
                <a:gd name="T12" fmla="*/ 0 w 128"/>
                <a:gd name="T13" fmla="*/ 0 h 183"/>
                <a:gd name="T14" fmla="*/ 0 w 128"/>
                <a:gd name="T15" fmla="*/ 0 h 183"/>
                <a:gd name="T16" fmla="*/ 0 w 128"/>
                <a:gd name="T17" fmla="*/ 0 h 183"/>
                <a:gd name="T18" fmla="*/ 0 w 128"/>
                <a:gd name="T19" fmla="*/ 0 h 183"/>
                <a:gd name="T20" fmla="*/ 0 w 128"/>
                <a:gd name="T21" fmla="*/ 0 h 183"/>
                <a:gd name="T22" fmla="*/ 0 w 128"/>
                <a:gd name="T23" fmla="*/ 0 h 183"/>
                <a:gd name="T24" fmla="*/ 0 w 128"/>
                <a:gd name="T25" fmla="*/ 0 h 183"/>
                <a:gd name="T26" fmla="*/ 0 w 128"/>
                <a:gd name="T27" fmla="*/ 0 h 183"/>
                <a:gd name="T28" fmla="*/ 0 w 128"/>
                <a:gd name="T29" fmla="*/ 0 h 183"/>
                <a:gd name="T30" fmla="*/ 0 w 128"/>
                <a:gd name="T31" fmla="*/ 0 h 183"/>
                <a:gd name="T32" fmla="*/ 0 w 128"/>
                <a:gd name="T33" fmla="*/ 0 h 183"/>
                <a:gd name="T34" fmla="*/ 0 w 128"/>
                <a:gd name="T35" fmla="*/ 0 h 183"/>
                <a:gd name="T36" fmla="*/ 0 w 128"/>
                <a:gd name="T37" fmla="*/ 0 h 183"/>
                <a:gd name="T38" fmla="*/ 0 w 128"/>
                <a:gd name="T39" fmla="*/ 0 h 183"/>
                <a:gd name="T40" fmla="*/ 0 w 128"/>
                <a:gd name="T41" fmla="*/ 0 h 183"/>
                <a:gd name="T42" fmla="*/ 0 w 128"/>
                <a:gd name="T43" fmla="*/ 0 h 183"/>
                <a:gd name="T44" fmla="*/ 0 w 128"/>
                <a:gd name="T45" fmla="*/ 0 h 183"/>
                <a:gd name="T46" fmla="*/ 0 w 128"/>
                <a:gd name="T47" fmla="*/ 0 h 183"/>
                <a:gd name="T48" fmla="*/ 0 w 128"/>
                <a:gd name="T49" fmla="*/ 0 h 183"/>
                <a:gd name="T50" fmla="*/ 0 w 128"/>
                <a:gd name="T51" fmla="*/ 0 h 183"/>
                <a:gd name="T52" fmla="*/ 0 w 128"/>
                <a:gd name="T53" fmla="*/ 0 h 183"/>
                <a:gd name="T54" fmla="*/ 0 w 128"/>
                <a:gd name="T55" fmla="*/ 0 h 183"/>
                <a:gd name="T56" fmla="*/ 0 w 128"/>
                <a:gd name="T57" fmla="*/ 0 h 183"/>
                <a:gd name="T58" fmla="*/ 0 w 128"/>
                <a:gd name="T59" fmla="*/ 0 h 183"/>
                <a:gd name="T60" fmla="*/ 0 w 128"/>
                <a:gd name="T61" fmla="*/ 0 h 183"/>
                <a:gd name="T62" fmla="*/ 0 w 128"/>
                <a:gd name="T63" fmla="*/ 0 h 183"/>
                <a:gd name="T64" fmla="*/ 0 w 128"/>
                <a:gd name="T65" fmla="*/ 0 h 183"/>
                <a:gd name="T66" fmla="*/ 0 w 128"/>
                <a:gd name="T67" fmla="*/ 0 h 183"/>
                <a:gd name="T68" fmla="*/ 0 w 128"/>
                <a:gd name="T69" fmla="*/ 0 h 183"/>
                <a:gd name="T70" fmla="*/ 0 w 128"/>
                <a:gd name="T71" fmla="*/ 0 h 183"/>
                <a:gd name="T72" fmla="*/ 0 w 128"/>
                <a:gd name="T73" fmla="*/ 0 h 183"/>
                <a:gd name="T74" fmla="*/ 0 w 128"/>
                <a:gd name="T75" fmla="*/ 0 h 183"/>
                <a:gd name="T76" fmla="*/ 0 w 128"/>
                <a:gd name="T77" fmla="*/ 0 h 183"/>
                <a:gd name="T78" fmla="*/ 0 w 128"/>
                <a:gd name="T79" fmla="*/ 0 h 183"/>
                <a:gd name="T80" fmla="*/ 0 w 128"/>
                <a:gd name="T81" fmla="*/ 0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1" name="Freeform 886"/>
            <p:cNvSpPr>
              <a:spLocks/>
            </p:cNvSpPr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0 w 323"/>
                <a:gd name="T1" fmla="*/ 0 h 379"/>
                <a:gd name="T2" fmla="*/ 0 w 323"/>
                <a:gd name="T3" fmla="*/ 0 h 379"/>
                <a:gd name="T4" fmla="*/ 0 w 323"/>
                <a:gd name="T5" fmla="*/ 0 h 379"/>
                <a:gd name="T6" fmla="*/ 0 w 323"/>
                <a:gd name="T7" fmla="*/ 0 h 379"/>
                <a:gd name="T8" fmla="*/ 0 w 323"/>
                <a:gd name="T9" fmla="*/ 0 h 379"/>
                <a:gd name="T10" fmla="*/ 0 w 323"/>
                <a:gd name="T11" fmla="*/ 0 h 379"/>
                <a:gd name="T12" fmla="*/ 0 w 323"/>
                <a:gd name="T13" fmla="*/ 0 h 379"/>
                <a:gd name="T14" fmla="*/ 0 w 323"/>
                <a:gd name="T15" fmla="*/ 0 h 379"/>
                <a:gd name="T16" fmla="*/ 0 w 323"/>
                <a:gd name="T17" fmla="*/ 0 h 379"/>
                <a:gd name="T18" fmla="*/ 0 w 323"/>
                <a:gd name="T19" fmla="*/ 0 h 379"/>
                <a:gd name="T20" fmla="*/ 0 w 323"/>
                <a:gd name="T21" fmla="*/ 0 h 379"/>
                <a:gd name="T22" fmla="*/ 0 w 323"/>
                <a:gd name="T23" fmla="*/ 0 h 379"/>
                <a:gd name="T24" fmla="*/ 0 w 323"/>
                <a:gd name="T25" fmla="*/ 0 h 379"/>
                <a:gd name="T26" fmla="*/ 0 w 323"/>
                <a:gd name="T27" fmla="*/ 0 h 379"/>
                <a:gd name="T28" fmla="*/ 0 w 323"/>
                <a:gd name="T29" fmla="*/ 0 h 379"/>
                <a:gd name="T30" fmla="*/ 0 w 323"/>
                <a:gd name="T31" fmla="*/ 0 h 379"/>
                <a:gd name="T32" fmla="*/ 0 w 323"/>
                <a:gd name="T33" fmla="*/ 0 h 379"/>
                <a:gd name="T34" fmla="*/ 0 w 323"/>
                <a:gd name="T35" fmla="*/ 0 h 379"/>
                <a:gd name="T36" fmla="*/ 0 w 323"/>
                <a:gd name="T37" fmla="*/ 0 h 379"/>
                <a:gd name="T38" fmla="*/ 0 w 323"/>
                <a:gd name="T39" fmla="*/ 0 h 379"/>
                <a:gd name="T40" fmla="*/ 0 w 323"/>
                <a:gd name="T41" fmla="*/ 0 h 379"/>
                <a:gd name="T42" fmla="*/ 0 w 323"/>
                <a:gd name="T43" fmla="*/ 0 h 379"/>
                <a:gd name="T44" fmla="*/ 0 w 323"/>
                <a:gd name="T45" fmla="*/ 0 h 379"/>
                <a:gd name="T46" fmla="*/ 0 w 323"/>
                <a:gd name="T47" fmla="*/ 0 h 379"/>
                <a:gd name="T48" fmla="*/ 0 w 323"/>
                <a:gd name="T49" fmla="*/ 0 h 379"/>
                <a:gd name="T50" fmla="*/ 0 w 323"/>
                <a:gd name="T51" fmla="*/ 0 h 379"/>
                <a:gd name="T52" fmla="*/ 0 w 323"/>
                <a:gd name="T53" fmla="*/ 0 h 379"/>
                <a:gd name="T54" fmla="*/ 0 w 323"/>
                <a:gd name="T55" fmla="*/ 0 h 379"/>
                <a:gd name="T56" fmla="*/ 0 w 323"/>
                <a:gd name="T57" fmla="*/ 0 h 379"/>
                <a:gd name="T58" fmla="*/ 0 w 323"/>
                <a:gd name="T59" fmla="*/ 0 h 379"/>
                <a:gd name="T60" fmla="*/ 0 w 323"/>
                <a:gd name="T61" fmla="*/ 0 h 379"/>
                <a:gd name="T62" fmla="*/ 0 w 323"/>
                <a:gd name="T63" fmla="*/ 0 h 379"/>
                <a:gd name="T64" fmla="*/ 0 w 323"/>
                <a:gd name="T65" fmla="*/ 0 h 379"/>
                <a:gd name="T66" fmla="*/ 0 w 323"/>
                <a:gd name="T67" fmla="*/ 0 h 379"/>
                <a:gd name="T68" fmla="*/ 0 w 323"/>
                <a:gd name="T69" fmla="*/ 0 h 379"/>
                <a:gd name="T70" fmla="*/ 0 w 323"/>
                <a:gd name="T71" fmla="*/ 0 h 379"/>
                <a:gd name="T72" fmla="*/ 0 w 323"/>
                <a:gd name="T73" fmla="*/ 0 h 379"/>
                <a:gd name="T74" fmla="*/ 0 w 323"/>
                <a:gd name="T75" fmla="*/ 0 h 379"/>
                <a:gd name="T76" fmla="*/ 0 w 323"/>
                <a:gd name="T77" fmla="*/ 0 h 379"/>
                <a:gd name="T78" fmla="*/ 0 w 323"/>
                <a:gd name="T79" fmla="*/ 0 h 379"/>
                <a:gd name="T80" fmla="*/ 0 w 323"/>
                <a:gd name="T81" fmla="*/ 0 h 379"/>
                <a:gd name="T82" fmla="*/ 0 w 323"/>
                <a:gd name="T83" fmla="*/ 0 h 379"/>
                <a:gd name="T84" fmla="*/ 0 w 323"/>
                <a:gd name="T85" fmla="*/ 0 h 379"/>
                <a:gd name="T86" fmla="*/ 0 w 323"/>
                <a:gd name="T87" fmla="*/ 0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2" name="Freeform 887"/>
            <p:cNvSpPr>
              <a:spLocks/>
            </p:cNvSpPr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0 w 282"/>
                <a:gd name="T1" fmla="*/ 0 h 253"/>
                <a:gd name="T2" fmla="*/ 0 w 282"/>
                <a:gd name="T3" fmla="*/ 0 h 253"/>
                <a:gd name="T4" fmla="*/ 0 w 282"/>
                <a:gd name="T5" fmla="*/ 0 h 253"/>
                <a:gd name="T6" fmla="*/ 0 w 282"/>
                <a:gd name="T7" fmla="*/ 0 h 253"/>
                <a:gd name="T8" fmla="*/ 0 w 282"/>
                <a:gd name="T9" fmla="*/ 0 h 253"/>
                <a:gd name="T10" fmla="*/ 0 w 282"/>
                <a:gd name="T11" fmla="*/ 0 h 253"/>
                <a:gd name="T12" fmla="*/ 0 w 282"/>
                <a:gd name="T13" fmla="*/ 0 h 253"/>
                <a:gd name="T14" fmla="*/ 0 w 282"/>
                <a:gd name="T15" fmla="*/ 0 h 253"/>
                <a:gd name="T16" fmla="*/ 0 w 282"/>
                <a:gd name="T17" fmla="*/ 0 h 253"/>
                <a:gd name="T18" fmla="*/ 0 w 282"/>
                <a:gd name="T19" fmla="*/ 0 h 253"/>
                <a:gd name="T20" fmla="*/ 0 w 282"/>
                <a:gd name="T21" fmla="*/ 0 h 253"/>
                <a:gd name="T22" fmla="*/ 0 w 282"/>
                <a:gd name="T23" fmla="*/ 0 h 253"/>
                <a:gd name="T24" fmla="*/ 0 w 282"/>
                <a:gd name="T25" fmla="*/ 0 h 253"/>
                <a:gd name="T26" fmla="*/ 0 w 282"/>
                <a:gd name="T27" fmla="*/ 0 h 253"/>
                <a:gd name="T28" fmla="*/ 0 w 282"/>
                <a:gd name="T29" fmla="*/ 0 h 253"/>
                <a:gd name="T30" fmla="*/ 0 w 282"/>
                <a:gd name="T31" fmla="*/ 0 h 253"/>
                <a:gd name="T32" fmla="*/ 0 w 282"/>
                <a:gd name="T33" fmla="*/ 0 h 253"/>
                <a:gd name="T34" fmla="*/ 0 w 282"/>
                <a:gd name="T35" fmla="*/ 0 h 253"/>
                <a:gd name="T36" fmla="*/ 0 w 282"/>
                <a:gd name="T37" fmla="*/ 0 h 253"/>
                <a:gd name="T38" fmla="*/ 0 w 282"/>
                <a:gd name="T39" fmla="*/ 0 h 253"/>
                <a:gd name="T40" fmla="*/ 0 w 282"/>
                <a:gd name="T41" fmla="*/ 0 h 253"/>
                <a:gd name="T42" fmla="*/ 0 w 282"/>
                <a:gd name="T43" fmla="*/ 0 h 253"/>
                <a:gd name="T44" fmla="*/ 0 w 282"/>
                <a:gd name="T45" fmla="*/ 0 h 253"/>
                <a:gd name="T46" fmla="*/ 0 w 282"/>
                <a:gd name="T47" fmla="*/ 0 h 253"/>
                <a:gd name="T48" fmla="*/ 0 w 282"/>
                <a:gd name="T49" fmla="*/ 0 h 253"/>
                <a:gd name="T50" fmla="*/ 0 w 282"/>
                <a:gd name="T51" fmla="*/ 0 h 253"/>
                <a:gd name="T52" fmla="*/ 0 w 282"/>
                <a:gd name="T53" fmla="*/ 0 h 253"/>
                <a:gd name="T54" fmla="*/ 0 w 282"/>
                <a:gd name="T55" fmla="*/ 0 h 253"/>
                <a:gd name="T56" fmla="*/ 0 w 282"/>
                <a:gd name="T57" fmla="*/ 0 h 253"/>
                <a:gd name="T58" fmla="*/ 0 w 282"/>
                <a:gd name="T59" fmla="*/ 0 h 253"/>
                <a:gd name="T60" fmla="*/ 0 w 282"/>
                <a:gd name="T61" fmla="*/ 0 h 253"/>
                <a:gd name="T62" fmla="*/ 0 w 282"/>
                <a:gd name="T63" fmla="*/ 0 h 253"/>
                <a:gd name="T64" fmla="*/ 0 w 282"/>
                <a:gd name="T65" fmla="*/ 0 h 253"/>
                <a:gd name="T66" fmla="*/ 0 w 282"/>
                <a:gd name="T67" fmla="*/ 0 h 253"/>
                <a:gd name="T68" fmla="*/ 0 w 282"/>
                <a:gd name="T69" fmla="*/ 0 h 253"/>
                <a:gd name="T70" fmla="*/ 0 w 282"/>
                <a:gd name="T71" fmla="*/ 0 h 253"/>
                <a:gd name="T72" fmla="*/ 0 w 282"/>
                <a:gd name="T73" fmla="*/ 0 h 253"/>
                <a:gd name="T74" fmla="*/ 0 w 282"/>
                <a:gd name="T75" fmla="*/ 0 h 253"/>
                <a:gd name="T76" fmla="*/ 0 w 282"/>
                <a:gd name="T77" fmla="*/ 0 h 253"/>
                <a:gd name="T78" fmla="*/ 0 w 282"/>
                <a:gd name="T79" fmla="*/ 0 h 253"/>
                <a:gd name="T80" fmla="*/ 0 w 282"/>
                <a:gd name="T81" fmla="*/ 0 h 253"/>
                <a:gd name="T82" fmla="*/ 0 w 282"/>
                <a:gd name="T83" fmla="*/ 0 h 253"/>
                <a:gd name="T84" fmla="*/ 0 w 282"/>
                <a:gd name="T85" fmla="*/ 0 h 253"/>
                <a:gd name="T86" fmla="*/ 0 w 282"/>
                <a:gd name="T87" fmla="*/ 0 h 253"/>
                <a:gd name="T88" fmla="*/ 0 w 282"/>
                <a:gd name="T89" fmla="*/ 0 h 253"/>
                <a:gd name="T90" fmla="*/ 0 w 282"/>
                <a:gd name="T91" fmla="*/ 0 h 253"/>
                <a:gd name="T92" fmla="*/ 0 w 282"/>
                <a:gd name="T93" fmla="*/ 0 h 253"/>
                <a:gd name="T94" fmla="*/ 0 w 282"/>
                <a:gd name="T95" fmla="*/ 0 h 253"/>
                <a:gd name="T96" fmla="*/ 0 w 282"/>
                <a:gd name="T97" fmla="*/ 0 h 253"/>
                <a:gd name="T98" fmla="*/ 0 w 282"/>
                <a:gd name="T99" fmla="*/ 0 h 253"/>
                <a:gd name="T100" fmla="*/ 0 w 282"/>
                <a:gd name="T101" fmla="*/ 0 h 253"/>
                <a:gd name="T102" fmla="*/ 0 w 282"/>
                <a:gd name="T103" fmla="*/ 0 h 253"/>
                <a:gd name="T104" fmla="*/ 0 w 282"/>
                <a:gd name="T105" fmla="*/ 0 h 253"/>
                <a:gd name="T106" fmla="*/ 0 w 282"/>
                <a:gd name="T107" fmla="*/ 0 h 253"/>
                <a:gd name="T108" fmla="*/ 0 w 282"/>
                <a:gd name="T109" fmla="*/ 0 h 253"/>
                <a:gd name="T110" fmla="*/ 0 w 282"/>
                <a:gd name="T111" fmla="*/ 0 h 253"/>
                <a:gd name="T112" fmla="*/ 0 w 282"/>
                <a:gd name="T113" fmla="*/ 0 h 253"/>
                <a:gd name="T114" fmla="*/ 0 w 282"/>
                <a:gd name="T115" fmla="*/ 0 h 253"/>
                <a:gd name="T116" fmla="*/ 0 w 282"/>
                <a:gd name="T117" fmla="*/ 0 h 253"/>
                <a:gd name="T118" fmla="*/ 0 w 282"/>
                <a:gd name="T119" fmla="*/ 0 h 253"/>
                <a:gd name="T120" fmla="*/ 0 w 282"/>
                <a:gd name="T121" fmla="*/ 0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3" name="Freeform 888"/>
            <p:cNvSpPr>
              <a:spLocks/>
            </p:cNvSpPr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0 h 236"/>
                <a:gd name="T2" fmla="*/ 0 w 115"/>
                <a:gd name="T3" fmla="*/ 0 h 236"/>
                <a:gd name="T4" fmla="*/ 0 w 115"/>
                <a:gd name="T5" fmla="*/ 0 h 236"/>
                <a:gd name="T6" fmla="*/ 0 w 115"/>
                <a:gd name="T7" fmla="*/ 0 h 236"/>
                <a:gd name="T8" fmla="*/ 0 w 115"/>
                <a:gd name="T9" fmla="*/ 0 h 236"/>
                <a:gd name="T10" fmla="*/ 0 w 115"/>
                <a:gd name="T11" fmla="*/ 0 h 236"/>
                <a:gd name="T12" fmla="*/ 0 w 115"/>
                <a:gd name="T13" fmla="*/ 0 h 236"/>
                <a:gd name="T14" fmla="*/ 0 w 115"/>
                <a:gd name="T15" fmla="*/ 0 h 236"/>
                <a:gd name="T16" fmla="*/ 0 w 115"/>
                <a:gd name="T17" fmla="*/ 0 h 236"/>
                <a:gd name="T18" fmla="*/ 0 w 115"/>
                <a:gd name="T19" fmla="*/ 0 h 236"/>
                <a:gd name="T20" fmla="*/ 0 w 115"/>
                <a:gd name="T21" fmla="*/ 0 h 236"/>
                <a:gd name="T22" fmla="*/ 0 w 115"/>
                <a:gd name="T23" fmla="*/ 0 h 236"/>
                <a:gd name="T24" fmla="*/ 0 w 115"/>
                <a:gd name="T25" fmla="*/ 0 h 236"/>
                <a:gd name="T26" fmla="*/ 0 w 115"/>
                <a:gd name="T27" fmla="*/ 0 h 236"/>
                <a:gd name="T28" fmla="*/ 0 w 115"/>
                <a:gd name="T29" fmla="*/ 0 h 236"/>
                <a:gd name="T30" fmla="*/ 0 w 115"/>
                <a:gd name="T31" fmla="*/ 0 h 236"/>
                <a:gd name="T32" fmla="*/ 0 w 115"/>
                <a:gd name="T33" fmla="*/ 0 h 236"/>
                <a:gd name="T34" fmla="*/ 0 w 115"/>
                <a:gd name="T35" fmla="*/ 0 h 236"/>
                <a:gd name="T36" fmla="*/ 0 w 115"/>
                <a:gd name="T37" fmla="*/ 0 h 236"/>
                <a:gd name="T38" fmla="*/ 0 w 115"/>
                <a:gd name="T39" fmla="*/ 0 h 236"/>
                <a:gd name="T40" fmla="*/ 0 w 115"/>
                <a:gd name="T41" fmla="*/ 0 h 236"/>
                <a:gd name="T42" fmla="*/ 0 w 115"/>
                <a:gd name="T43" fmla="*/ 0 h 236"/>
                <a:gd name="T44" fmla="*/ 0 w 115"/>
                <a:gd name="T45" fmla="*/ 0 h 236"/>
                <a:gd name="T46" fmla="*/ 0 w 115"/>
                <a:gd name="T47" fmla="*/ 0 h 236"/>
                <a:gd name="T48" fmla="*/ 0 w 115"/>
                <a:gd name="T49" fmla="*/ 0 h 236"/>
                <a:gd name="T50" fmla="*/ 0 w 115"/>
                <a:gd name="T51" fmla="*/ 0 h 236"/>
                <a:gd name="T52" fmla="*/ 0 w 115"/>
                <a:gd name="T53" fmla="*/ 0 h 236"/>
                <a:gd name="T54" fmla="*/ 0 w 115"/>
                <a:gd name="T55" fmla="*/ 0 h 236"/>
                <a:gd name="T56" fmla="*/ 0 w 115"/>
                <a:gd name="T57" fmla="*/ 0 h 236"/>
                <a:gd name="T58" fmla="*/ 0 w 115"/>
                <a:gd name="T59" fmla="*/ 0 h 236"/>
                <a:gd name="T60" fmla="*/ 0 w 115"/>
                <a:gd name="T61" fmla="*/ 0 h 236"/>
                <a:gd name="T62" fmla="*/ 0 w 115"/>
                <a:gd name="T63" fmla="*/ 0 h 236"/>
                <a:gd name="T64" fmla="*/ 0 w 115"/>
                <a:gd name="T65" fmla="*/ 0 h 236"/>
                <a:gd name="T66" fmla="*/ 0 w 115"/>
                <a:gd name="T67" fmla="*/ 0 h 236"/>
                <a:gd name="T68" fmla="*/ 0 w 115"/>
                <a:gd name="T69" fmla="*/ 0 h 236"/>
                <a:gd name="T70" fmla="*/ 0 w 115"/>
                <a:gd name="T71" fmla="*/ 0 h 236"/>
                <a:gd name="T72" fmla="*/ 0 w 115"/>
                <a:gd name="T73" fmla="*/ 0 h 236"/>
                <a:gd name="T74" fmla="*/ 0 w 115"/>
                <a:gd name="T75" fmla="*/ 0 h 236"/>
                <a:gd name="T76" fmla="*/ 0 w 115"/>
                <a:gd name="T77" fmla="*/ 0 h 236"/>
                <a:gd name="T78" fmla="*/ 0 w 115"/>
                <a:gd name="T79" fmla="*/ 0 h 236"/>
                <a:gd name="T80" fmla="*/ 0 w 115"/>
                <a:gd name="T81" fmla="*/ 0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4" name="Freeform 889"/>
            <p:cNvSpPr>
              <a:spLocks/>
            </p:cNvSpPr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0 w 245"/>
                <a:gd name="T1" fmla="*/ 0 h 310"/>
                <a:gd name="T2" fmla="*/ 0 w 245"/>
                <a:gd name="T3" fmla="*/ 0 h 310"/>
                <a:gd name="T4" fmla="*/ 0 w 245"/>
                <a:gd name="T5" fmla="*/ 0 h 310"/>
                <a:gd name="T6" fmla="*/ 0 w 245"/>
                <a:gd name="T7" fmla="*/ 0 h 310"/>
                <a:gd name="T8" fmla="*/ 0 w 245"/>
                <a:gd name="T9" fmla="*/ 0 h 310"/>
                <a:gd name="T10" fmla="*/ 0 w 245"/>
                <a:gd name="T11" fmla="*/ 0 h 310"/>
                <a:gd name="T12" fmla="*/ 0 w 245"/>
                <a:gd name="T13" fmla="*/ 0 h 310"/>
                <a:gd name="T14" fmla="*/ 0 w 245"/>
                <a:gd name="T15" fmla="*/ 0 h 310"/>
                <a:gd name="T16" fmla="*/ 0 w 245"/>
                <a:gd name="T17" fmla="*/ 0 h 310"/>
                <a:gd name="T18" fmla="*/ 0 w 245"/>
                <a:gd name="T19" fmla="*/ 0 h 310"/>
                <a:gd name="T20" fmla="*/ 0 w 245"/>
                <a:gd name="T21" fmla="*/ 0 h 310"/>
                <a:gd name="T22" fmla="*/ 0 w 245"/>
                <a:gd name="T23" fmla="*/ 0 h 310"/>
                <a:gd name="T24" fmla="*/ 0 w 245"/>
                <a:gd name="T25" fmla="*/ 0 h 310"/>
                <a:gd name="T26" fmla="*/ 0 w 245"/>
                <a:gd name="T27" fmla="*/ 0 h 310"/>
                <a:gd name="T28" fmla="*/ 0 w 245"/>
                <a:gd name="T29" fmla="*/ 0 h 310"/>
                <a:gd name="T30" fmla="*/ 0 w 245"/>
                <a:gd name="T31" fmla="*/ 0 h 310"/>
                <a:gd name="T32" fmla="*/ 0 w 245"/>
                <a:gd name="T33" fmla="*/ 0 h 310"/>
                <a:gd name="T34" fmla="*/ 0 w 245"/>
                <a:gd name="T35" fmla="*/ 0 h 310"/>
                <a:gd name="T36" fmla="*/ 0 w 245"/>
                <a:gd name="T37" fmla="*/ 0 h 310"/>
                <a:gd name="T38" fmla="*/ 0 w 245"/>
                <a:gd name="T39" fmla="*/ 0 h 310"/>
                <a:gd name="T40" fmla="*/ 0 w 245"/>
                <a:gd name="T41" fmla="*/ 0 h 310"/>
                <a:gd name="T42" fmla="*/ 0 w 245"/>
                <a:gd name="T43" fmla="*/ 0 h 310"/>
                <a:gd name="T44" fmla="*/ 0 w 245"/>
                <a:gd name="T45" fmla="*/ 0 h 310"/>
                <a:gd name="T46" fmla="*/ 0 w 245"/>
                <a:gd name="T47" fmla="*/ 0 h 310"/>
                <a:gd name="T48" fmla="*/ 0 w 245"/>
                <a:gd name="T49" fmla="*/ 0 h 310"/>
                <a:gd name="T50" fmla="*/ 0 w 245"/>
                <a:gd name="T51" fmla="*/ 0 h 310"/>
                <a:gd name="T52" fmla="*/ 0 w 245"/>
                <a:gd name="T53" fmla="*/ 0 h 310"/>
                <a:gd name="T54" fmla="*/ 0 w 245"/>
                <a:gd name="T55" fmla="*/ 0 h 310"/>
                <a:gd name="T56" fmla="*/ 0 w 245"/>
                <a:gd name="T57" fmla="*/ 0 h 310"/>
                <a:gd name="T58" fmla="*/ 0 w 245"/>
                <a:gd name="T59" fmla="*/ 0 h 310"/>
                <a:gd name="T60" fmla="*/ 0 w 245"/>
                <a:gd name="T61" fmla="*/ 0 h 310"/>
                <a:gd name="T62" fmla="*/ 0 w 245"/>
                <a:gd name="T63" fmla="*/ 0 h 310"/>
                <a:gd name="T64" fmla="*/ 0 w 245"/>
                <a:gd name="T65" fmla="*/ 0 h 310"/>
                <a:gd name="T66" fmla="*/ 0 w 245"/>
                <a:gd name="T67" fmla="*/ 0 h 310"/>
                <a:gd name="T68" fmla="*/ 0 w 245"/>
                <a:gd name="T69" fmla="*/ 0 h 310"/>
                <a:gd name="T70" fmla="*/ 0 w 245"/>
                <a:gd name="T71" fmla="*/ 0 h 310"/>
                <a:gd name="T72" fmla="*/ 0 w 245"/>
                <a:gd name="T73" fmla="*/ 0 h 310"/>
                <a:gd name="T74" fmla="*/ 0 w 245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75" name="Freeform 890"/>
            <p:cNvSpPr>
              <a:spLocks/>
            </p:cNvSpPr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05" name="Group 891"/>
          <p:cNvGrpSpPr>
            <a:grpSpLocks/>
          </p:cNvGrpSpPr>
          <p:nvPr/>
        </p:nvGrpSpPr>
        <p:grpSpPr bwMode="auto">
          <a:xfrm>
            <a:off x="7890833" y="4012693"/>
            <a:ext cx="290513" cy="404813"/>
            <a:chOff x="4290" y="3130"/>
            <a:chExt cx="183" cy="255"/>
          </a:xfrm>
        </p:grpSpPr>
        <p:pic>
          <p:nvPicPr>
            <p:cNvPr id="8340" name="Picture 892" descr="31u_bnrz[1]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41" name="Freeform 893"/>
            <p:cNvSpPr>
              <a:spLocks/>
            </p:cNvSpPr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0 w 199"/>
                <a:gd name="T1" fmla="*/ 0 h 232"/>
                <a:gd name="T2" fmla="*/ 0 w 199"/>
                <a:gd name="T3" fmla="*/ 0 h 232"/>
                <a:gd name="T4" fmla="*/ 0 w 199"/>
                <a:gd name="T5" fmla="*/ 0 h 232"/>
                <a:gd name="T6" fmla="*/ 0 w 199"/>
                <a:gd name="T7" fmla="*/ 0 h 232"/>
                <a:gd name="T8" fmla="*/ 0 w 199"/>
                <a:gd name="T9" fmla="*/ 0 h 232"/>
                <a:gd name="T10" fmla="*/ 0 w 199"/>
                <a:gd name="T11" fmla="*/ 0 h 232"/>
                <a:gd name="T12" fmla="*/ 0 w 199"/>
                <a:gd name="T13" fmla="*/ 0 h 232"/>
                <a:gd name="T14" fmla="*/ 0 w 199"/>
                <a:gd name="T15" fmla="*/ 0 h 232"/>
                <a:gd name="T16" fmla="*/ 0 w 199"/>
                <a:gd name="T17" fmla="*/ 0 h 232"/>
                <a:gd name="T18" fmla="*/ 0 w 199"/>
                <a:gd name="T19" fmla="*/ 0 h 232"/>
                <a:gd name="T20" fmla="*/ 0 w 199"/>
                <a:gd name="T21" fmla="*/ 0 h 232"/>
                <a:gd name="T22" fmla="*/ 0 w 199"/>
                <a:gd name="T23" fmla="*/ 0 h 232"/>
                <a:gd name="T24" fmla="*/ 0 w 199"/>
                <a:gd name="T25" fmla="*/ 0 h 232"/>
                <a:gd name="T26" fmla="*/ 0 w 199"/>
                <a:gd name="T27" fmla="*/ 0 h 232"/>
                <a:gd name="T28" fmla="*/ 0 w 199"/>
                <a:gd name="T29" fmla="*/ 0 h 232"/>
                <a:gd name="T30" fmla="*/ 0 w 199"/>
                <a:gd name="T31" fmla="*/ 0 h 232"/>
                <a:gd name="T32" fmla="*/ 0 w 199"/>
                <a:gd name="T33" fmla="*/ 0 h 232"/>
                <a:gd name="T34" fmla="*/ 0 w 199"/>
                <a:gd name="T35" fmla="*/ 0 h 232"/>
                <a:gd name="T36" fmla="*/ 0 w 199"/>
                <a:gd name="T37" fmla="*/ 0 h 232"/>
                <a:gd name="T38" fmla="*/ 0 w 199"/>
                <a:gd name="T39" fmla="*/ 0 h 232"/>
                <a:gd name="T40" fmla="*/ 0 w 199"/>
                <a:gd name="T41" fmla="*/ 0 h 232"/>
                <a:gd name="T42" fmla="*/ 0 w 199"/>
                <a:gd name="T43" fmla="*/ 0 h 232"/>
                <a:gd name="T44" fmla="*/ 0 w 199"/>
                <a:gd name="T45" fmla="*/ 0 h 232"/>
                <a:gd name="T46" fmla="*/ 0 w 199"/>
                <a:gd name="T47" fmla="*/ 0 h 232"/>
                <a:gd name="T48" fmla="*/ 0 w 199"/>
                <a:gd name="T49" fmla="*/ 0 h 232"/>
                <a:gd name="T50" fmla="*/ 0 w 199"/>
                <a:gd name="T51" fmla="*/ 0 h 232"/>
                <a:gd name="T52" fmla="*/ 0 w 199"/>
                <a:gd name="T53" fmla="*/ 0 h 232"/>
                <a:gd name="T54" fmla="*/ 0 w 199"/>
                <a:gd name="T55" fmla="*/ 0 h 232"/>
                <a:gd name="T56" fmla="*/ 0 w 199"/>
                <a:gd name="T57" fmla="*/ 0 h 232"/>
                <a:gd name="T58" fmla="*/ 0 w 199"/>
                <a:gd name="T59" fmla="*/ 0 h 232"/>
                <a:gd name="T60" fmla="*/ 0 w 199"/>
                <a:gd name="T61" fmla="*/ 0 h 232"/>
                <a:gd name="T62" fmla="*/ 0 w 199"/>
                <a:gd name="T63" fmla="*/ 0 h 232"/>
                <a:gd name="T64" fmla="*/ 0 w 199"/>
                <a:gd name="T65" fmla="*/ 0 h 232"/>
                <a:gd name="T66" fmla="*/ 0 w 199"/>
                <a:gd name="T67" fmla="*/ 0 h 232"/>
                <a:gd name="T68" fmla="*/ 0 w 199"/>
                <a:gd name="T69" fmla="*/ 0 h 232"/>
                <a:gd name="T70" fmla="*/ 0 w 199"/>
                <a:gd name="T71" fmla="*/ 0 h 232"/>
                <a:gd name="T72" fmla="*/ 0 w 199"/>
                <a:gd name="T73" fmla="*/ 0 h 232"/>
                <a:gd name="T74" fmla="*/ 0 w 199"/>
                <a:gd name="T75" fmla="*/ 0 h 232"/>
                <a:gd name="T76" fmla="*/ 0 w 199"/>
                <a:gd name="T77" fmla="*/ 0 h 232"/>
                <a:gd name="T78" fmla="*/ 0 w 199"/>
                <a:gd name="T79" fmla="*/ 0 h 232"/>
                <a:gd name="T80" fmla="*/ 0 w 199"/>
                <a:gd name="T81" fmla="*/ 0 h 232"/>
                <a:gd name="T82" fmla="*/ 0 w 199"/>
                <a:gd name="T83" fmla="*/ 0 h 232"/>
                <a:gd name="T84" fmla="*/ 0 w 199"/>
                <a:gd name="T85" fmla="*/ 0 h 232"/>
                <a:gd name="T86" fmla="*/ 0 w 199"/>
                <a:gd name="T87" fmla="*/ 0 h 232"/>
                <a:gd name="T88" fmla="*/ 0 w 199"/>
                <a:gd name="T89" fmla="*/ 0 h 232"/>
                <a:gd name="T90" fmla="*/ 0 w 199"/>
                <a:gd name="T91" fmla="*/ 0 h 232"/>
                <a:gd name="T92" fmla="*/ 0 w 199"/>
                <a:gd name="T93" fmla="*/ 0 h 232"/>
                <a:gd name="T94" fmla="*/ 0 w 199"/>
                <a:gd name="T95" fmla="*/ 0 h 232"/>
                <a:gd name="T96" fmla="*/ 0 w 199"/>
                <a:gd name="T97" fmla="*/ 0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2" name="Freeform 894"/>
            <p:cNvSpPr>
              <a:spLocks/>
            </p:cNvSpPr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0 w 128"/>
                <a:gd name="T1" fmla="*/ 0 h 180"/>
                <a:gd name="T2" fmla="*/ 0 w 128"/>
                <a:gd name="T3" fmla="*/ 0 h 180"/>
                <a:gd name="T4" fmla="*/ 0 w 128"/>
                <a:gd name="T5" fmla="*/ 0 h 180"/>
                <a:gd name="T6" fmla="*/ 0 w 128"/>
                <a:gd name="T7" fmla="*/ 0 h 180"/>
                <a:gd name="T8" fmla="*/ 0 w 128"/>
                <a:gd name="T9" fmla="*/ 0 h 180"/>
                <a:gd name="T10" fmla="*/ 0 w 128"/>
                <a:gd name="T11" fmla="*/ 0 h 180"/>
                <a:gd name="T12" fmla="*/ 0 w 128"/>
                <a:gd name="T13" fmla="*/ 0 h 180"/>
                <a:gd name="T14" fmla="*/ 0 w 128"/>
                <a:gd name="T15" fmla="*/ 0 h 180"/>
                <a:gd name="T16" fmla="*/ 0 w 128"/>
                <a:gd name="T17" fmla="*/ 0 h 180"/>
                <a:gd name="T18" fmla="*/ 0 w 128"/>
                <a:gd name="T19" fmla="*/ 0 h 180"/>
                <a:gd name="T20" fmla="*/ 0 w 128"/>
                <a:gd name="T21" fmla="*/ 0 h 180"/>
                <a:gd name="T22" fmla="*/ 0 w 128"/>
                <a:gd name="T23" fmla="*/ 0 h 180"/>
                <a:gd name="T24" fmla="*/ 0 w 128"/>
                <a:gd name="T25" fmla="*/ 0 h 180"/>
                <a:gd name="T26" fmla="*/ 0 w 128"/>
                <a:gd name="T27" fmla="*/ 0 h 180"/>
                <a:gd name="T28" fmla="*/ 0 w 128"/>
                <a:gd name="T29" fmla="*/ 0 h 180"/>
                <a:gd name="T30" fmla="*/ 0 w 128"/>
                <a:gd name="T31" fmla="*/ 0 h 180"/>
                <a:gd name="T32" fmla="*/ 0 w 128"/>
                <a:gd name="T33" fmla="*/ 0 h 180"/>
                <a:gd name="T34" fmla="*/ 0 w 128"/>
                <a:gd name="T35" fmla="*/ 0 h 180"/>
                <a:gd name="T36" fmla="*/ 0 w 128"/>
                <a:gd name="T37" fmla="*/ 0 h 180"/>
                <a:gd name="T38" fmla="*/ 0 w 128"/>
                <a:gd name="T39" fmla="*/ 0 h 180"/>
                <a:gd name="T40" fmla="*/ 0 w 128"/>
                <a:gd name="T41" fmla="*/ 0 h 180"/>
                <a:gd name="T42" fmla="*/ 0 w 128"/>
                <a:gd name="T43" fmla="*/ 0 h 180"/>
                <a:gd name="T44" fmla="*/ 0 w 128"/>
                <a:gd name="T45" fmla="*/ 0 h 180"/>
                <a:gd name="T46" fmla="*/ 0 w 128"/>
                <a:gd name="T47" fmla="*/ 0 h 180"/>
                <a:gd name="T48" fmla="*/ 0 w 128"/>
                <a:gd name="T49" fmla="*/ 0 h 180"/>
                <a:gd name="T50" fmla="*/ 0 w 128"/>
                <a:gd name="T51" fmla="*/ 0 h 180"/>
                <a:gd name="T52" fmla="*/ 0 w 128"/>
                <a:gd name="T53" fmla="*/ 0 h 180"/>
                <a:gd name="T54" fmla="*/ 0 w 128"/>
                <a:gd name="T55" fmla="*/ 0 h 180"/>
                <a:gd name="T56" fmla="*/ 0 w 128"/>
                <a:gd name="T57" fmla="*/ 0 h 180"/>
                <a:gd name="T58" fmla="*/ 0 w 128"/>
                <a:gd name="T59" fmla="*/ 0 h 180"/>
                <a:gd name="T60" fmla="*/ 0 w 128"/>
                <a:gd name="T61" fmla="*/ 0 h 180"/>
                <a:gd name="T62" fmla="*/ 0 w 128"/>
                <a:gd name="T63" fmla="*/ 0 h 180"/>
                <a:gd name="T64" fmla="*/ 0 w 128"/>
                <a:gd name="T65" fmla="*/ 0 h 180"/>
                <a:gd name="T66" fmla="*/ 0 w 128"/>
                <a:gd name="T67" fmla="*/ 0 h 180"/>
                <a:gd name="T68" fmla="*/ 0 w 128"/>
                <a:gd name="T69" fmla="*/ 0 h 180"/>
                <a:gd name="T70" fmla="*/ 0 w 128"/>
                <a:gd name="T71" fmla="*/ 0 h 180"/>
                <a:gd name="T72" fmla="*/ 0 w 128"/>
                <a:gd name="T73" fmla="*/ 0 h 180"/>
                <a:gd name="T74" fmla="*/ 0 w 128"/>
                <a:gd name="T75" fmla="*/ 0 h 180"/>
                <a:gd name="T76" fmla="*/ 0 w 128"/>
                <a:gd name="T77" fmla="*/ 0 h 180"/>
                <a:gd name="T78" fmla="*/ 0 w 128"/>
                <a:gd name="T79" fmla="*/ 0 h 180"/>
                <a:gd name="T80" fmla="*/ 0 w 128"/>
                <a:gd name="T81" fmla="*/ 0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3" name="Freeform 895"/>
            <p:cNvSpPr>
              <a:spLocks/>
            </p:cNvSpPr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0 w 322"/>
                <a:gd name="T1" fmla="*/ 0 h 378"/>
                <a:gd name="T2" fmla="*/ 0 w 322"/>
                <a:gd name="T3" fmla="*/ 0 h 378"/>
                <a:gd name="T4" fmla="*/ 0 w 322"/>
                <a:gd name="T5" fmla="*/ 0 h 378"/>
                <a:gd name="T6" fmla="*/ 0 w 322"/>
                <a:gd name="T7" fmla="*/ 0 h 378"/>
                <a:gd name="T8" fmla="*/ 0 w 322"/>
                <a:gd name="T9" fmla="*/ 0 h 378"/>
                <a:gd name="T10" fmla="*/ 0 w 322"/>
                <a:gd name="T11" fmla="*/ 0 h 378"/>
                <a:gd name="T12" fmla="*/ 0 w 322"/>
                <a:gd name="T13" fmla="*/ 0 h 378"/>
                <a:gd name="T14" fmla="*/ 0 w 322"/>
                <a:gd name="T15" fmla="*/ 0 h 378"/>
                <a:gd name="T16" fmla="*/ 0 w 322"/>
                <a:gd name="T17" fmla="*/ 0 h 378"/>
                <a:gd name="T18" fmla="*/ 0 w 322"/>
                <a:gd name="T19" fmla="*/ 0 h 378"/>
                <a:gd name="T20" fmla="*/ 0 w 322"/>
                <a:gd name="T21" fmla="*/ 0 h 378"/>
                <a:gd name="T22" fmla="*/ 0 w 322"/>
                <a:gd name="T23" fmla="*/ 0 h 378"/>
                <a:gd name="T24" fmla="*/ 0 w 322"/>
                <a:gd name="T25" fmla="*/ 0 h 378"/>
                <a:gd name="T26" fmla="*/ 0 w 322"/>
                <a:gd name="T27" fmla="*/ 0 h 378"/>
                <a:gd name="T28" fmla="*/ 0 w 322"/>
                <a:gd name="T29" fmla="*/ 0 h 378"/>
                <a:gd name="T30" fmla="*/ 0 w 322"/>
                <a:gd name="T31" fmla="*/ 0 h 378"/>
                <a:gd name="T32" fmla="*/ 0 w 322"/>
                <a:gd name="T33" fmla="*/ 0 h 378"/>
                <a:gd name="T34" fmla="*/ 0 w 322"/>
                <a:gd name="T35" fmla="*/ 0 h 378"/>
                <a:gd name="T36" fmla="*/ 0 w 322"/>
                <a:gd name="T37" fmla="*/ 0 h 378"/>
                <a:gd name="T38" fmla="*/ 0 w 322"/>
                <a:gd name="T39" fmla="*/ 0 h 378"/>
                <a:gd name="T40" fmla="*/ 0 w 322"/>
                <a:gd name="T41" fmla="*/ 0 h 378"/>
                <a:gd name="T42" fmla="*/ 0 w 322"/>
                <a:gd name="T43" fmla="*/ 0 h 378"/>
                <a:gd name="T44" fmla="*/ 0 w 322"/>
                <a:gd name="T45" fmla="*/ 0 h 378"/>
                <a:gd name="T46" fmla="*/ 0 w 322"/>
                <a:gd name="T47" fmla="*/ 0 h 378"/>
                <a:gd name="T48" fmla="*/ 0 w 322"/>
                <a:gd name="T49" fmla="*/ 0 h 378"/>
                <a:gd name="T50" fmla="*/ 0 w 322"/>
                <a:gd name="T51" fmla="*/ 0 h 378"/>
                <a:gd name="T52" fmla="*/ 0 w 322"/>
                <a:gd name="T53" fmla="*/ 0 h 378"/>
                <a:gd name="T54" fmla="*/ 0 w 322"/>
                <a:gd name="T55" fmla="*/ 0 h 378"/>
                <a:gd name="T56" fmla="*/ 0 w 322"/>
                <a:gd name="T57" fmla="*/ 0 h 378"/>
                <a:gd name="T58" fmla="*/ 0 w 322"/>
                <a:gd name="T59" fmla="*/ 0 h 378"/>
                <a:gd name="T60" fmla="*/ 0 w 322"/>
                <a:gd name="T61" fmla="*/ 0 h 378"/>
                <a:gd name="T62" fmla="*/ 0 w 322"/>
                <a:gd name="T63" fmla="*/ 0 h 378"/>
                <a:gd name="T64" fmla="*/ 0 w 322"/>
                <a:gd name="T65" fmla="*/ 0 h 378"/>
                <a:gd name="T66" fmla="*/ 0 w 322"/>
                <a:gd name="T67" fmla="*/ 0 h 378"/>
                <a:gd name="T68" fmla="*/ 0 w 322"/>
                <a:gd name="T69" fmla="*/ 0 h 378"/>
                <a:gd name="T70" fmla="*/ 0 w 322"/>
                <a:gd name="T71" fmla="*/ 0 h 378"/>
                <a:gd name="T72" fmla="*/ 0 w 322"/>
                <a:gd name="T73" fmla="*/ 0 h 378"/>
                <a:gd name="T74" fmla="*/ 0 w 322"/>
                <a:gd name="T75" fmla="*/ 0 h 378"/>
                <a:gd name="T76" fmla="*/ 0 w 322"/>
                <a:gd name="T77" fmla="*/ 0 h 378"/>
                <a:gd name="T78" fmla="*/ 0 w 322"/>
                <a:gd name="T79" fmla="*/ 0 h 378"/>
                <a:gd name="T80" fmla="*/ 0 w 322"/>
                <a:gd name="T81" fmla="*/ 0 h 378"/>
                <a:gd name="T82" fmla="*/ 0 w 322"/>
                <a:gd name="T83" fmla="*/ 0 h 378"/>
                <a:gd name="T84" fmla="*/ 0 w 322"/>
                <a:gd name="T85" fmla="*/ 0 h 378"/>
                <a:gd name="T86" fmla="*/ 0 w 322"/>
                <a:gd name="T87" fmla="*/ 0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4" name="Freeform 896"/>
            <p:cNvSpPr>
              <a:spLocks/>
            </p:cNvSpPr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0 w 283"/>
                <a:gd name="T1" fmla="*/ 0 h 252"/>
                <a:gd name="T2" fmla="*/ 0 w 283"/>
                <a:gd name="T3" fmla="*/ 0 h 252"/>
                <a:gd name="T4" fmla="*/ 0 w 283"/>
                <a:gd name="T5" fmla="*/ 0 h 252"/>
                <a:gd name="T6" fmla="*/ 0 w 283"/>
                <a:gd name="T7" fmla="*/ 0 h 252"/>
                <a:gd name="T8" fmla="*/ 0 w 283"/>
                <a:gd name="T9" fmla="*/ 0 h 252"/>
                <a:gd name="T10" fmla="*/ 0 w 283"/>
                <a:gd name="T11" fmla="*/ 0 h 252"/>
                <a:gd name="T12" fmla="*/ 0 w 283"/>
                <a:gd name="T13" fmla="*/ 0 h 252"/>
                <a:gd name="T14" fmla="*/ 0 w 283"/>
                <a:gd name="T15" fmla="*/ 0 h 252"/>
                <a:gd name="T16" fmla="*/ 0 w 283"/>
                <a:gd name="T17" fmla="*/ 0 h 252"/>
                <a:gd name="T18" fmla="*/ 0 w 283"/>
                <a:gd name="T19" fmla="*/ 0 h 252"/>
                <a:gd name="T20" fmla="*/ 0 w 283"/>
                <a:gd name="T21" fmla="*/ 0 h 252"/>
                <a:gd name="T22" fmla="*/ 0 w 283"/>
                <a:gd name="T23" fmla="*/ 0 h 252"/>
                <a:gd name="T24" fmla="*/ 0 w 283"/>
                <a:gd name="T25" fmla="*/ 0 h 252"/>
                <a:gd name="T26" fmla="*/ 0 w 283"/>
                <a:gd name="T27" fmla="*/ 0 h 252"/>
                <a:gd name="T28" fmla="*/ 0 w 283"/>
                <a:gd name="T29" fmla="*/ 0 h 252"/>
                <a:gd name="T30" fmla="*/ 0 w 283"/>
                <a:gd name="T31" fmla="*/ 0 h 252"/>
                <a:gd name="T32" fmla="*/ 0 w 283"/>
                <a:gd name="T33" fmla="*/ 0 h 252"/>
                <a:gd name="T34" fmla="*/ 0 w 283"/>
                <a:gd name="T35" fmla="*/ 0 h 252"/>
                <a:gd name="T36" fmla="*/ 0 w 283"/>
                <a:gd name="T37" fmla="*/ 0 h 252"/>
                <a:gd name="T38" fmla="*/ 0 w 283"/>
                <a:gd name="T39" fmla="*/ 0 h 252"/>
                <a:gd name="T40" fmla="*/ 0 w 283"/>
                <a:gd name="T41" fmla="*/ 0 h 252"/>
                <a:gd name="T42" fmla="*/ 0 w 283"/>
                <a:gd name="T43" fmla="*/ 0 h 252"/>
                <a:gd name="T44" fmla="*/ 0 w 283"/>
                <a:gd name="T45" fmla="*/ 0 h 252"/>
                <a:gd name="T46" fmla="*/ 0 w 283"/>
                <a:gd name="T47" fmla="*/ 0 h 252"/>
                <a:gd name="T48" fmla="*/ 0 w 283"/>
                <a:gd name="T49" fmla="*/ 0 h 252"/>
                <a:gd name="T50" fmla="*/ 0 w 283"/>
                <a:gd name="T51" fmla="*/ 0 h 252"/>
                <a:gd name="T52" fmla="*/ 0 w 283"/>
                <a:gd name="T53" fmla="*/ 0 h 252"/>
                <a:gd name="T54" fmla="*/ 0 w 283"/>
                <a:gd name="T55" fmla="*/ 0 h 252"/>
                <a:gd name="T56" fmla="*/ 0 w 283"/>
                <a:gd name="T57" fmla="*/ 0 h 252"/>
                <a:gd name="T58" fmla="*/ 0 w 283"/>
                <a:gd name="T59" fmla="*/ 0 h 252"/>
                <a:gd name="T60" fmla="*/ 0 w 283"/>
                <a:gd name="T61" fmla="*/ 0 h 252"/>
                <a:gd name="T62" fmla="*/ 0 w 283"/>
                <a:gd name="T63" fmla="*/ 0 h 252"/>
                <a:gd name="T64" fmla="*/ 0 w 283"/>
                <a:gd name="T65" fmla="*/ 0 h 252"/>
                <a:gd name="T66" fmla="*/ 0 w 283"/>
                <a:gd name="T67" fmla="*/ 0 h 252"/>
                <a:gd name="T68" fmla="*/ 0 w 283"/>
                <a:gd name="T69" fmla="*/ 0 h 252"/>
                <a:gd name="T70" fmla="*/ 0 w 283"/>
                <a:gd name="T71" fmla="*/ 0 h 252"/>
                <a:gd name="T72" fmla="*/ 0 w 283"/>
                <a:gd name="T73" fmla="*/ 0 h 252"/>
                <a:gd name="T74" fmla="*/ 0 w 283"/>
                <a:gd name="T75" fmla="*/ 0 h 252"/>
                <a:gd name="T76" fmla="*/ 0 w 283"/>
                <a:gd name="T77" fmla="*/ 0 h 252"/>
                <a:gd name="T78" fmla="*/ 0 w 283"/>
                <a:gd name="T79" fmla="*/ 0 h 252"/>
                <a:gd name="T80" fmla="*/ 0 w 283"/>
                <a:gd name="T81" fmla="*/ 0 h 252"/>
                <a:gd name="T82" fmla="*/ 0 w 283"/>
                <a:gd name="T83" fmla="*/ 0 h 252"/>
                <a:gd name="T84" fmla="*/ 0 w 283"/>
                <a:gd name="T85" fmla="*/ 0 h 252"/>
                <a:gd name="T86" fmla="*/ 0 w 283"/>
                <a:gd name="T87" fmla="*/ 0 h 252"/>
                <a:gd name="T88" fmla="*/ 0 w 283"/>
                <a:gd name="T89" fmla="*/ 0 h 252"/>
                <a:gd name="T90" fmla="*/ 0 w 283"/>
                <a:gd name="T91" fmla="*/ 0 h 252"/>
                <a:gd name="T92" fmla="*/ 0 w 283"/>
                <a:gd name="T93" fmla="*/ 0 h 252"/>
                <a:gd name="T94" fmla="*/ 0 w 283"/>
                <a:gd name="T95" fmla="*/ 0 h 252"/>
                <a:gd name="T96" fmla="*/ 0 w 283"/>
                <a:gd name="T97" fmla="*/ 0 h 252"/>
                <a:gd name="T98" fmla="*/ 0 w 283"/>
                <a:gd name="T99" fmla="*/ 0 h 252"/>
                <a:gd name="T100" fmla="*/ 0 w 283"/>
                <a:gd name="T101" fmla="*/ 0 h 252"/>
                <a:gd name="T102" fmla="*/ 0 w 283"/>
                <a:gd name="T103" fmla="*/ 0 h 252"/>
                <a:gd name="T104" fmla="*/ 0 w 283"/>
                <a:gd name="T105" fmla="*/ 0 h 252"/>
                <a:gd name="T106" fmla="*/ 0 w 283"/>
                <a:gd name="T107" fmla="*/ 0 h 252"/>
                <a:gd name="T108" fmla="*/ 0 w 283"/>
                <a:gd name="T109" fmla="*/ 0 h 252"/>
                <a:gd name="T110" fmla="*/ 0 w 283"/>
                <a:gd name="T111" fmla="*/ 0 h 252"/>
                <a:gd name="T112" fmla="*/ 0 w 283"/>
                <a:gd name="T113" fmla="*/ 0 h 252"/>
                <a:gd name="T114" fmla="*/ 0 w 283"/>
                <a:gd name="T115" fmla="*/ 0 h 252"/>
                <a:gd name="T116" fmla="*/ 0 w 283"/>
                <a:gd name="T117" fmla="*/ 0 h 252"/>
                <a:gd name="T118" fmla="*/ 0 w 283"/>
                <a:gd name="T119" fmla="*/ 0 h 252"/>
                <a:gd name="T120" fmla="*/ 0 w 283"/>
                <a:gd name="T121" fmla="*/ 0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5" name="Freeform 897"/>
            <p:cNvSpPr>
              <a:spLocks/>
            </p:cNvSpPr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0 h 238"/>
                <a:gd name="T2" fmla="*/ 0 w 114"/>
                <a:gd name="T3" fmla="*/ 0 h 238"/>
                <a:gd name="T4" fmla="*/ 0 w 114"/>
                <a:gd name="T5" fmla="*/ 0 h 238"/>
                <a:gd name="T6" fmla="*/ 0 w 114"/>
                <a:gd name="T7" fmla="*/ 0 h 238"/>
                <a:gd name="T8" fmla="*/ 0 w 114"/>
                <a:gd name="T9" fmla="*/ 0 h 238"/>
                <a:gd name="T10" fmla="*/ 0 w 114"/>
                <a:gd name="T11" fmla="*/ 0 h 238"/>
                <a:gd name="T12" fmla="*/ 0 w 114"/>
                <a:gd name="T13" fmla="*/ 0 h 238"/>
                <a:gd name="T14" fmla="*/ 0 w 114"/>
                <a:gd name="T15" fmla="*/ 0 h 238"/>
                <a:gd name="T16" fmla="*/ 0 w 114"/>
                <a:gd name="T17" fmla="*/ 0 h 238"/>
                <a:gd name="T18" fmla="*/ 0 w 114"/>
                <a:gd name="T19" fmla="*/ 0 h 238"/>
                <a:gd name="T20" fmla="*/ 0 w 114"/>
                <a:gd name="T21" fmla="*/ 0 h 238"/>
                <a:gd name="T22" fmla="*/ 0 w 114"/>
                <a:gd name="T23" fmla="*/ 0 h 238"/>
                <a:gd name="T24" fmla="*/ 0 w 114"/>
                <a:gd name="T25" fmla="*/ 0 h 238"/>
                <a:gd name="T26" fmla="*/ 0 w 114"/>
                <a:gd name="T27" fmla="*/ 0 h 238"/>
                <a:gd name="T28" fmla="*/ 0 w 114"/>
                <a:gd name="T29" fmla="*/ 0 h 238"/>
                <a:gd name="T30" fmla="*/ 0 w 114"/>
                <a:gd name="T31" fmla="*/ 0 h 238"/>
                <a:gd name="T32" fmla="*/ 0 w 114"/>
                <a:gd name="T33" fmla="*/ 0 h 238"/>
                <a:gd name="T34" fmla="*/ 0 w 114"/>
                <a:gd name="T35" fmla="*/ 0 h 238"/>
                <a:gd name="T36" fmla="*/ 0 w 114"/>
                <a:gd name="T37" fmla="*/ 0 h 238"/>
                <a:gd name="T38" fmla="*/ 0 w 114"/>
                <a:gd name="T39" fmla="*/ 0 h 238"/>
                <a:gd name="T40" fmla="*/ 0 w 114"/>
                <a:gd name="T41" fmla="*/ 0 h 238"/>
                <a:gd name="T42" fmla="*/ 0 w 114"/>
                <a:gd name="T43" fmla="*/ 0 h 238"/>
                <a:gd name="T44" fmla="*/ 0 w 114"/>
                <a:gd name="T45" fmla="*/ 0 h 238"/>
                <a:gd name="T46" fmla="*/ 0 w 114"/>
                <a:gd name="T47" fmla="*/ 0 h 238"/>
                <a:gd name="T48" fmla="*/ 0 w 114"/>
                <a:gd name="T49" fmla="*/ 0 h 238"/>
                <a:gd name="T50" fmla="*/ 0 w 114"/>
                <a:gd name="T51" fmla="*/ 0 h 238"/>
                <a:gd name="T52" fmla="*/ 0 w 114"/>
                <a:gd name="T53" fmla="*/ 0 h 238"/>
                <a:gd name="T54" fmla="*/ 0 w 114"/>
                <a:gd name="T55" fmla="*/ 0 h 238"/>
                <a:gd name="T56" fmla="*/ 0 w 114"/>
                <a:gd name="T57" fmla="*/ 0 h 238"/>
                <a:gd name="T58" fmla="*/ 0 w 114"/>
                <a:gd name="T59" fmla="*/ 0 h 238"/>
                <a:gd name="T60" fmla="*/ 0 w 114"/>
                <a:gd name="T61" fmla="*/ 0 h 238"/>
                <a:gd name="T62" fmla="*/ 0 w 114"/>
                <a:gd name="T63" fmla="*/ 0 h 238"/>
                <a:gd name="T64" fmla="*/ 0 w 114"/>
                <a:gd name="T65" fmla="*/ 0 h 238"/>
                <a:gd name="T66" fmla="*/ 0 w 114"/>
                <a:gd name="T67" fmla="*/ 0 h 238"/>
                <a:gd name="T68" fmla="*/ 0 w 114"/>
                <a:gd name="T69" fmla="*/ 0 h 238"/>
                <a:gd name="T70" fmla="*/ 0 w 114"/>
                <a:gd name="T71" fmla="*/ 0 h 238"/>
                <a:gd name="T72" fmla="*/ 0 w 114"/>
                <a:gd name="T73" fmla="*/ 0 h 238"/>
                <a:gd name="T74" fmla="*/ 0 w 114"/>
                <a:gd name="T75" fmla="*/ 0 h 238"/>
                <a:gd name="T76" fmla="*/ 0 w 114"/>
                <a:gd name="T77" fmla="*/ 0 h 238"/>
                <a:gd name="T78" fmla="*/ 0 w 114"/>
                <a:gd name="T79" fmla="*/ 0 h 238"/>
                <a:gd name="T80" fmla="*/ 0 w 114"/>
                <a:gd name="T81" fmla="*/ 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6" name="Freeform 898"/>
            <p:cNvSpPr>
              <a:spLocks/>
            </p:cNvSpPr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0 w 246"/>
                <a:gd name="T1" fmla="*/ 0 h 310"/>
                <a:gd name="T2" fmla="*/ 0 w 246"/>
                <a:gd name="T3" fmla="*/ 0 h 310"/>
                <a:gd name="T4" fmla="*/ 0 w 246"/>
                <a:gd name="T5" fmla="*/ 0 h 310"/>
                <a:gd name="T6" fmla="*/ 0 w 246"/>
                <a:gd name="T7" fmla="*/ 0 h 310"/>
                <a:gd name="T8" fmla="*/ 0 w 246"/>
                <a:gd name="T9" fmla="*/ 0 h 310"/>
                <a:gd name="T10" fmla="*/ 0 w 246"/>
                <a:gd name="T11" fmla="*/ 0 h 310"/>
                <a:gd name="T12" fmla="*/ 0 w 246"/>
                <a:gd name="T13" fmla="*/ 0 h 310"/>
                <a:gd name="T14" fmla="*/ 0 w 246"/>
                <a:gd name="T15" fmla="*/ 0 h 310"/>
                <a:gd name="T16" fmla="*/ 0 w 246"/>
                <a:gd name="T17" fmla="*/ 0 h 310"/>
                <a:gd name="T18" fmla="*/ 0 w 246"/>
                <a:gd name="T19" fmla="*/ 0 h 310"/>
                <a:gd name="T20" fmla="*/ 0 w 246"/>
                <a:gd name="T21" fmla="*/ 0 h 310"/>
                <a:gd name="T22" fmla="*/ 0 w 246"/>
                <a:gd name="T23" fmla="*/ 0 h 310"/>
                <a:gd name="T24" fmla="*/ 0 w 246"/>
                <a:gd name="T25" fmla="*/ 0 h 310"/>
                <a:gd name="T26" fmla="*/ 0 w 246"/>
                <a:gd name="T27" fmla="*/ 0 h 310"/>
                <a:gd name="T28" fmla="*/ 0 w 246"/>
                <a:gd name="T29" fmla="*/ 0 h 310"/>
                <a:gd name="T30" fmla="*/ 0 w 246"/>
                <a:gd name="T31" fmla="*/ 0 h 310"/>
                <a:gd name="T32" fmla="*/ 0 w 246"/>
                <a:gd name="T33" fmla="*/ 0 h 310"/>
                <a:gd name="T34" fmla="*/ 0 w 246"/>
                <a:gd name="T35" fmla="*/ 0 h 310"/>
                <a:gd name="T36" fmla="*/ 0 w 246"/>
                <a:gd name="T37" fmla="*/ 0 h 310"/>
                <a:gd name="T38" fmla="*/ 0 w 246"/>
                <a:gd name="T39" fmla="*/ 0 h 310"/>
                <a:gd name="T40" fmla="*/ 0 w 246"/>
                <a:gd name="T41" fmla="*/ 0 h 310"/>
                <a:gd name="T42" fmla="*/ 0 w 246"/>
                <a:gd name="T43" fmla="*/ 0 h 310"/>
                <a:gd name="T44" fmla="*/ 0 w 246"/>
                <a:gd name="T45" fmla="*/ 0 h 310"/>
                <a:gd name="T46" fmla="*/ 0 w 246"/>
                <a:gd name="T47" fmla="*/ 0 h 310"/>
                <a:gd name="T48" fmla="*/ 0 w 246"/>
                <a:gd name="T49" fmla="*/ 0 h 310"/>
                <a:gd name="T50" fmla="*/ 0 w 246"/>
                <a:gd name="T51" fmla="*/ 0 h 310"/>
                <a:gd name="T52" fmla="*/ 0 w 246"/>
                <a:gd name="T53" fmla="*/ 0 h 310"/>
                <a:gd name="T54" fmla="*/ 0 w 246"/>
                <a:gd name="T55" fmla="*/ 0 h 310"/>
                <a:gd name="T56" fmla="*/ 0 w 246"/>
                <a:gd name="T57" fmla="*/ 0 h 310"/>
                <a:gd name="T58" fmla="*/ 0 w 246"/>
                <a:gd name="T59" fmla="*/ 0 h 310"/>
                <a:gd name="T60" fmla="*/ 0 w 246"/>
                <a:gd name="T61" fmla="*/ 0 h 310"/>
                <a:gd name="T62" fmla="*/ 0 w 246"/>
                <a:gd name="T63" fmla="*/ 0 h 310"/>
                <a:gd name="T64" fmla="*/ 0 w 246"/>
                <a:gd name="T65" fmla="*/ 0 h 310"/>
                <a:gd name="T66" fmla="*/ 0 w 246"/>
                <a:gd name="T67" fmla="*/ 0 h 310"/>
                <a:gd name="T68" fmla="*/ 0 w 246"/>
                <a:gd name="T69" fmla="*/ 0 h 310"/>
                <a:gd name="T70" fmla="*/ 0 w 246"/>
                <a:gd name="T71" fmla="*/ 0 h 310"/>
                <a:gd name="T72" fmla="*/ 0 w 246"/>
                <a:gd name="T73" fmla="*/ 0 h 310"/>
                <a:gd name="T74" fmla="*/ 0 w 246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7" name="Freeform 899"/>
            <p:cNvSpPr>
              <a:spLocks/>
            </p:cNvSpPr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0 w 83"/>
                <a:gd name="T1" fmla="*/ 0 h 187"/>
                <a:gd name="T2" fmla="*/ 0 w 83"/>
                <a:gd name="T3" fmla="*/ 0 h 187"/>
                <a:gd name="T4" fmla="*/ 0 w 83"/>
                <a:gd name="T5" fmla="*/ 0 h 187"/>
                <a:gd name="T6" fmla="*/ 0 w 83"/>
                <a:gd name="T7" fmla="*/ 0 h 187"/>
                <a:gd name="T8" fmla="*/ 0 w 83"/>
                <a:gd name="T9" fmla="*/ 0 h 187"/>
                <a:gd name="T10" fmla="*/ 0 w 83"/>
                <a:gd name="T11" fmla="*/ 0 h 187"/>
                <a:gd name="T12" fmla="*/ 0 w 83"/>
                <a:gd name="T13" fmla="*/ 0 h 187"/>
                <a:gd name="T14" fmla="*/ 0 w 83"/>
                <a:gd name="T15" fmla="*/ 0 h 187"/>
                <a:gd name="T16" fmla="*/ 0 w 83"/>
                <a:gd name="T17" fmla="*/ 0 h 187"/>
                <a:gd name="T18" fmla="*/ 0 w 83"/>
                <a:gd name="T19" fmla="*/ 0 h 187"/>
                <a:gd name="T20" fmla="*/ 0 w 83"/>
                <a:gd name="T21" fmla="*/ 0 h 187"/>
                <a:gd name="T22" fmla="*/ 0 w 83"/>
                <a:gd name="T23" fmla="*/ 0 h 187"/>
                <a:gd name="T24" fmla="*/ 0 w 83"/>
                <a:gd name="T25" fmla="*/ 0 h 187"/>
                <a:gd name="T26" fmla="*/ 0 w 83"/>
                <a:gd name="T27" fmla="*/ 0 h 187"/>
                <a:gd name="T28" fmla="*/ 0 w 83"/>
                <a:gd name="T29" fmla="*/ 0 h 187"/>
                <a:gd name="T30" fmla="*/ 0 w 83"/>
                <a:gd name="T31" fmla="*/ 0 h 187"/>
                <a:gd name="T32" fmla="*/ 0 w 83"/>
                <a:gd name="T33" fmla="*/ 0 h 187"/>
                <a:gd name="T34" fmla="*/ 0 w 83"/>
                <a:gd name="T35" fmla="*/ 0 h 187"/>
                <a:gd name="T36" fmla="*/ 0 w 83"/>
                <a:gd name="T37" fmla="*/ 0 h 187"/>
                <a:gd name="T38" fmla="*/ 0 w 83"/>
                <a:gd name="T39" fmla="*/ 0 h 187"/>
                <a:gd name="T40" fmla="*/ 0 w 83"/>
                <a:gd name="T41" fmla="*/ 0 h 187"/>
                <a:gd name="T42" fmla="*/ 0 w 83"/>
                <a:gd name="T43" fmla="*/ 0 h 187"/>
                <a:gd name="T44" fmla="*/ 0 w 83"/>
                <a:gd name="T45" fmla="*/ 0 h 187"/>
                <a:gd name="T46" fmla="*/ 0 w 83"/>
                <a:gd name="T47" fmla="*/ 0 h 187"/>
                <a:gd name="T48" fmla="*/ 0 w 83"/>
                <a:gd name="T49" fmla="*/ 0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8" name="Freeform 900"/>
            <p:cNvSpPr>
              <a:spLocks/>
            </p:cNvSpPr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0 w 44"/>
                <a:gd name="T1" fmla="*/ 0 h 94"/>
                <a:gd name="T2" fmla="*/ 0 w 44"/>
                <a:gd name="T3" fmla="*/ 0 h 94"/>
                <a:gd name="T4" fmla="*/ 0 w 44"/>
                <a:gd name="T5" fmla="*/ 0 h 94"/>
                <a:gd name="T6" fmla="*/ 0 w 44"/>
                <a:gd name="T7" fmla="*/ 0 h 94"/>
                <a:gd name="T8" fmla="*/ 0 w 44"/>
                <a:gd name="T9" fmla="*/ 0 h 94"/>
                <a:gd name="T10" fmla="*/ 0 w 44"/>
                <a:gd name="T11" fmla="*/ 0 h 94"/>
                <a:gd name="T12" fmla="*/ 0 w 44"/>
                <a:gd name="T13" fmla="*/ 0 h 94"/>
                <a:gd name="T14" fmla="*/ 0 w 44"/>
                <a:gd name="T15" fmla="*/ 0 h 94"/>
                <a:gd name="T16" fmla="*/ 0 w 44"/>
                <a:gd name="T17" fmla="*/ 0 h 94"/>
                <a:gd name="T18" fmla="*/ 0 w 44"/>
                <a:gd name="T19" fmla="*/ 0 h 94"/>
                <a:gd name="T20" fmla="*/ 0 w 44"/>
                <a:gd name="T21" fmla="*/ 0 h 94"/>
                <a:gd name="T22" fmla="*/ 0 w 44"/>
                <a:gd name="T23" fmla="*/ 0 h 94"/>
                <a:gd name="T24" fmla="*/ 0 w 44"/>
                <a:gd name="T25" fmla="*/ 0 h 94"/>
                <a:gd name="T26" fmla="*/ 0 w 44"/>
                <a:gd name="T27" fmla="*/ 0 h 94"/>
                <a:gd name="T28" fmla="*/ 0 w 44"/>
                <a:gd name="T29" fmla="*/ 0 h 94"/>
                <a:gd name="T30" fmla="*/ 0 w 44"/>
                <a:gd name="T31" fmla="*/ 0 h 94"/>
                <a:gd name="T32" fmla="*/ 0 w 44"/>
                <a:gd name="T33" fmla="*/ 0 h 94"/>
                <a:gd name="T34" fmla="*/ 0 w 44"/>
                <a:gd name="T35" fmla="*/ 0 h 94"/>
                <a:gd name="T36" fmla="*/ 0 w 44"/>
                <a:gd name="T37" fmla="*/ 0 h 94"/>
                <a:gd name="T38" fmla="*/ 0 w 44"/>
                <a:gd name="T39" fmla="*/ 0 h 94"/>
                <a:gd name="T40" fmla="*/ 0 w 44"/>
                <a:gd name="T41" fmla="*/ 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9" name="Freeform 901"/>
            <p:cNvSpPr>
              <a:spLocks/>
            </p:cNvSpPr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0 w 38"/>
                <a:gd name="T1" fmla="*/ 0 h 54"/>
                <a:gd name="T2" fmla="*/ 0 w 38"/>
                <a:gd name="T3" fmla="*/ 0 h 54"/>
                <a:gd name="T4" fmla="*/ 0 w 38"/>
                <a:gd name="T5" fmla="*/ 0 h 54"/>
                <a:gd name="T6" fmla="*/ 0 w 38"/>
                <a:gd name="T7" fmla="*/ 0 h 54"/>
                <a:gd name="T8" fmla="*/ 0 w 38"/>
                <a:gd name="T9" fmla="*/ 0 h 54"/>
                <a:gd name="T10" fmla="*/ 0 w 38"/>
                <a:gd name="T11" fmla="*/ 0 h 54"/>
                <a:gd name="T12" fmla="*/ 0 w 38"/>
                <a:gd name="T13" fmla="*/ 0 h 54"/>
                <a:gd name="T14" fmla="*/ 0 w 38"/>
                <a:gd name="T15" fmla="*/ 0 h 54"/>
                <a:gd name="T16" fmla="*/ 0 w 38"/>
                <a:gd name="T17" fmla="*/ 0 h 54"/>
                <a:gd name="T18" fmla="*/ 0 w 38"/>
                <a:gd name="T19" fmla="*/ 0 h 54"/>
                <a:gd name="T20" fmla="*/ 0 w 38"/>
                <a:gd name="T21" fmla="*/ 0 h 54"/>
                <a:gd name="T22" fmla="*/ 0 w 38"/>
                <a:gd name="T23" fmla="*/ 0 h 54"/>
                <a:gd name="T24" fmla="*/ 0 w 38"/>
                <a:gd name="T25" fmla="*/ 0 h 54"/>
                <a:gd name="T26" fmla="*/ 0 w 38"/>
                <a:gd name="T27" fmla="*/ 0 h 54"/>
                <a:gd name="T28" fmla="*/ 0 w 38"/>
                <a:gd name="T29" fmla="*/ 0 h 54"/>
                <a:gd name="T30" fmla="*/ 0 w 38"/>
                <a:gd name="T31" fmla="*/ 0 h 54"/>
                <a:gd name="T32" fmla="*/ 0 w 38"/>
                <a:gd name="T33" fmla="*/ 0 h 54"/>
                <a:gd name="T34" fmla="*/ 0 w 38"/>
                <a:gd name="T35" fmla="*/ 0 h 54"/>
                <a:gd name="T36" fmla="*/ 0 w 38"/>
                <a:gd name="T37" fmla="*/ 0 h 54"/>
                <a:gd name="T38" fmla="*/ 0 w 38"/>
                <a:gd name="T39" fmla="*/ 0 h 54"/>
                <a:gd name="T40" fmla="*/ 0 w 38"/>
                <a:gd name="T41" fmla="*/ 0 h 54"/>
                <a:gd name="T42" fmla="*/ 0 w 38"/>
                <a:gd name="T43" fmla="*/ 0 h 54"/>
                <a:gd name="T44" fmla="*/ 0 w 38"/>
                <a:gd name="T45" fmla="*/ 0 h 54"/>
                <a:gd name="T46" fmla="*/ 0 w 38"/>
                <a:gd name="T47" fmla="*/ 0 h 54"/>
                <a:gd name="T48" fmla="*/ 0 w 38"/>
                <a:gd name="T49" fmla="*/ 0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0" name="Freeform 902"/>
            <p:cNvSpPr>
              <a:spLocks/>
            </p:cNvSpPr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0 w 52"/>
                <a:gd name="T1" fmla="*/ 0 h 36"/>
                <a:gd name="T2" fmla="*/ 0 w 52"/>
                <a:gd name="T3" fmla="*/ 0 h 36"/>
                <a:gd name="T4" fmla="*/ 0 w 52"/>
                <a:gd name="T5" fmla="*/ 0 h 36"/>
                <a:gd name="T6" fmla="*/ 0 w 52"/>
                <a:gd name="T7" fmla="*/ 0 h 36"/>
                <a:gd name="T8" fmla="*/ 0 w 52"/>
                <a:gd name="T9" fmla="*/ 0 h 36"/>
                <a:gd name="T10" fmla="*/ 0 w 52"/>
                <a:gd name="T11" fmla="*/ 0 h 36"/>
                <a:gd name="T12" fmla="*/ 0 w 52"/>
                <a:gd name="T13" fmla="*/ 0 h 36"/>
                <a:gd name="T14" fmla="*/ 0 w 52"/>
                <a:gd name="T15" fmla="*/ 0 h 36"/>
                <a:gd name="T16" fmla="*/ 0 w 52"/>
                <a:gd name="T17" fmla="*/ 0 h 36"/>
                <a:gd name="T18" fmla="*/ 0 w 52"/>
                <a:gd name="T19" fmla="*/ 0 h 36"/>
                <a:gd name="T20" fmla="*/ 0 w 52"/>
                <a:gd name="T21" fmla="*/ 0 h 36"/>
                <a:gd name="T22" fmla="*/ 0 w 52"/>
                <a:gd name="T23" fmla="*/ 0 h 36"/>
                <a:gd name="T24" fmla="*/ 0 w 52"/>
                <a:gd name="T25" fmla="*/ 0 h 36"/>
                <a:gd name="T26" fmla="*/ 0 w 52"/>
                <a:gd name="T27" fmla="*/ 0 h 36"/>
                <a:gd name="T28" fmla="*/ 0 w 52"/>
                <a:gd name="T29" fmla="*/ 0 h 36"/>
                <a:gd name="T30" fmla="*/ 0 w 52"/>
                <a:gd name="T31" fmla="*/ 0 h 36"/>
                <a:gd name="T32" fmla="*/ 0 w 52"/>
                <a:gd name="T33" fmla="*/ 0 h 36"/>
                <a:gd name="T34" fmla="*/ 0 w 52"/>
                <a:gd name="T35" fmla="*/ 0 h 36"/>
                <a:gd name="T36" fmla="*/ 0 w 52"/>
                <a:gd name="T37" fmla="*/ 0 h 36"/>
                <a:gd name="T38" fmla="*/ 0 w 52"/>
                <a:gd name="T39" fmla="*/ 0 h 36"/>
                <a:gd name="T40" fmla="*/ 0 w 52"/>
                <a:gd name="T41" fmla="*/ 0 h 36"/>
                <a:gd name="T42" fmla="*/ 0 w 52"/>
                <a:gd name="T43" fmla="*/ 0 h 36"/>
                <a:gd name="T44" fmla="*/ 0 w 52"/>
                <a:gd name="T45" fmla="*/ 0 h 36"/>
                <a:gd name="T46" fmla="*/ 0 w 52"/>
                <a:gd name="T47" fmla="*/ 0 h 36"/>
                <a:gd name="T48" fmla="*/ 0 w 52"/>
                <a:gd name="T49" fmla="*/ 0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1" name="Freeform 903"/>
            <p:cNvSpPr>
              <a:spLocks/>
            </p:cNvSpPr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0 w 198"/>
                <a:gd name="T1" fmla="*/ 0 h 236"/>
                <a:gd name="T2" fmla="*/ 0 w 198"/>
                <a:gd name="T3" fmla="*/ 0 h 236"/>
                <a:gd name="T4" fmla="*/ 0 w 198"/>
                <a:gd name="T5" fmla="*/ 0 h 236"/>
                <a:gd name="T6" fmla="*/ 0 w 198"/>
                <a:gd name="T7" fmla="*/ 0 h 236"/>
                <a:gd name="T8" fmla="*/ 0 w 198"/>
                <a:gd name="T9" fmla="*/ 0 h 236"/>
                <a:gd name="T10" fmla="*/ 0 w 198"/>
                <a:gd name="T11" fmla="*/ 0 h 236"/>
                <a:gd name="T12" fmla="*/ 0 w 198"/>
                <a:gd name="T13" fmla="*/ 0 h 236"/>
                <a:gd name="T14" fmla="*/ 0 w 198"/>
                <a:gd name="T15" fmla="*/ 0 h 236"/>
                <a:gd name="T16" fmla="*/ 0 w 198"/>
                <a:gd name="T17" fmla="*/ 0 h 236"/>
                <a:gd name="T18" fmla="*/ 0 w 198"/>
                <a:gd name="T19" fmla="*/ 0 h 236"/>
                <a:gd name="T20" fmla="*/ 0 w 198"/>
                <a:gd name="T21" fmla="*/ 0 h 236"/>
                <a:gd name="T22" fmla="*/ 0 w 198"/>
                <a:gd name="T23" fmla="*/ 0 h 236"/>
                <a:gd name="T24" fmla="*/ 0 w 198"/>
                <a:gd name="T25" fmla="*/ 0 h 236"/>
                <a:gd name="T26" fmla="*/ 0 w 198"/>
                <a:gd name="T27" fmla="*/ 0 h 236"/>
                <a:gd name="T28" fmla="*/ 0 w 198"/>
                <a:gd name="T29" fmla="*/ 0 h 236"/>
                <a:gd name="T30" fmla="*/ 0 w 198"/>
                <a:gd name="T31" fmla="*/ 0 h 236"/>
                <a:gd name="T32" fmla="*/ 0 w 198"/>
                <a:gd name="T33" fmla="*/ 0 h 236"/>
                <a:gd name="T34" fmla="*/ 0 w 198"/>
                <a:gd name="T35" fmla="*/ 0 h 236"/>
                <a:gd name="T36" fmla="*/ 0 w 198"/>
                <a:gd name="T37" fmla="*/ 0 h 236"/>
                <a:gd name="T38" fmla="*/ 0 w 198"/>
                <a:gd name="T39" fmla="*/ 0 h 236"/>
                <a:gd name="T40" fmla="*/ 0 w 198"/>
                <a:gd name="T41" fmla="*/ 0 h 236"/>
                <a:gd name="T42" fmla="*/ 0 w 198"/>
                <a:gd name="T43" fmla="*/ 0 h 236"/>
                <a:gd name="T44" fmla="*/ 0 w 198"/>
                <a:gd name="T45" fmla="*/ 0 h 236"/>
                <a:gd name="T46" fmla="*/ 0 w 198"/>
                <a:gd name="T47" fmla="*/ 0 h 236"/>
                <a:gd name="T48" fmla="*/ 0 w 198"/>
                <a:gd name="T49" fmla="*/ 0 h 236"/>
                <a:gd name="T50" fmla="*/ 0 w 198"/>
                <a:gd name="T51" fmla="*/ 0 h 236"/>
                <a:gd name="T52" fmla="*/ 0 w 198"/>
                <a:gd name="T53" fmla="*/ 0 h 236"/>
                <a:gd name="T54" fmla="*/ 0 w 198"/>
                <a:gd name="T55" fmla="*/ 0 h 236"/>
                <a:gd name="T56" fmla="*/ 0 w 198"/>
                <a:gd name="T57" fmla="*/ 0 h 236"/>
                <a:gd name="T58" fmla="*/ 0 w 198"/>
                <a:gd name="T59" fmla="*/ 0 h 236"/>
                <a:gd name="T60" fmla="*/ 0 w 198"/>
                <a:gd name="T61" fmla="*/ 0 h 236"/>
                <a:gd name="T62" fmla="*/ 0 w 198"/>
                <a:gd name="T63" fmla="*/ 0 h 236"/>
                <a:gd name="T64" fmla="*/ 0 w 198"/>
                <a:gd name="T65" fmla="*/ 0 h 236"/>
                <a:gd name="T66" fmla="*/ 0 w 198"/>
                <a:gd name="T67" fmla="*/ 0 h 236"/>
                <a:gd name="T68" fmla="*/ 0 w 198"/>
                <a:gd name="T69" fmla="*/ 0 h 236"/>
                <a:gd name="T70" fmla="*/ 0 w 198"/>
                <a:gd name="T71" fmla="*/ 0 h 236"/>
                <a:gd name="T72" fmla="*/ 0 w 198"/>
                <a:gd name="T73" fmla="*/ 0 h 236"/>
                <a:gd name="T74" fmla="*/ 0 w 198"/>
                <a:gd name="T75" fmla="*/ 0 h 236"/>
                <a:gd name="T76" fmla="*/ 0 w 198"/>
                <a:gd name="T77" fmla="*/ 0 h 236"/>
                <a:gd name="T78" fmla="*/ 0 w 198"/>
                <a:gd name="T79" fmla="*/ 0 h 236"/>
                <a:gd name="T80" fmla="*/ 0 w 198"/>
                <a:gd name="T81" fmla="*/ 0 h 236"/>
                <a:gd name="T82" fmla="*/ 0 w 198"/>
                <a:gd name="T83" fmla="*/ 0 h 236"/>
                <a:gd name="T84" fmla="*/ 0 w 198"/>
                <a:gd name="T85" fmla="*/ 0 h 236"/>
                <a:gd name="T86" fmla="*/ 0 w 198"/>
                <a:gd name="T87" fmla="*/ 0 h 236"/>
                <a:gd name="T88" fmla="*/ 0 w 198"/>
                <a:gd name="T89" fmla="*/ 0 h 236"/>
                <a:gd name="T90" fmla="*/ 0 w 198"/>
                <a:gd name="T91" fmla="*/ 0 h 236"/>
                <a:gd name="T92" fmla="*/ 0 w 198"/>
                <a:gd name="T93" fmla="*/ 0 h 236"/>
                <a:gd name="T94" fmla="*/ 0 w 198"/>
                <a:gd name="T95" fmla="*/ 0 h 236"/>
                <a:gd name="T96" fmla="*/ 0 w 198"/>
                <a:gd name="T97" fmla="*/ 0 h 236"/>
                <a:gd name="T98" fmla="*/ 0 w 198"/>
                <a:gd name="T99" fmla="*/ 0 h 236"/>
                <a:gd name="T100" fmla="*/ 0 w 198"/>
                <a:gd name="T101" fmla="*/ 0 h 236"/>
                <a:gd name="T102" fmla="*/ 0 w 198"/>
                <a:gd name="T103" fmla="*/ 0 h 236"/>
                <a:gd name="T104" fmla="*/ 0 w 198"/>
                <a:gd name="T105" fmla="*/ 0 h 236"/>
                <a:gd name="T106" fmla="*/ 0 w 198"/>
                <a:gd name="T107" fmla="*/ 0 h 236"/>
                <a:gd name="T108" fmla="*/ 0 w 198"/>
                <a:gd name="T109" fmla="*/ 0 h 236"/>
                <a:gd name="T110" fmla="*/ 0 w 198"/>
                <a:gd name="T111" fmla="*/ 0 h 236"/>
                <a:gd name="T112" fmla="*/ 0 w 198"/>
                <a:gd name="T113" fmla="*/ 0 h 236"/>
                <a:gd name="T114" fmla="*/ 0 w 198"/>
                <a:gd name="T115" fmla="*/ 0 h 236"/>
                <a:gd name="T116" fmla="*/ 0 w 198"/>
                <a:gd name="T117" fmla="*/ 0 h 236"/>
                <a:gd name="T118" fmla="*/ 0 w 198"/>
                <a:gd name="T119" fmla="*/ 0 h 236"/>
                <a:gd name="T120" fmla="*/ 0 w 198"/>
                <a:gd name="T121" fmla="*/ 0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2" name="Freeform 904"/>
            <p:cNvSpPr>
              <a:spLocks/>
            </p:cNvSpPr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0 w 128"/>
                <a:gd name="T1" fmla="*/ 0 h 183"/>
                <a:gd name="T2" fmla="*/ 0 w 128"/>
                <a:gd name="T3" fmla="*/ 0 h 183"/>
                <a:gd name="T4" fmla="*/ 0 w 128"/>
                <a:gd name="T5" fmla="*/ 0 h 183"/>
                <a:gd name="T6" fmla="*/ 0 w 128"/>
                <a:gd name="T7" fmla="*/ 0 h 183"/>
                <a:gd name="T8" fmla="*/ 0 w 128"/>
                <a:gd name="T9" fmla="*/ 0 h 183"/>
                <a:gd name="T10" fmla="*/ 0 w 128"/>
                <a:gd name="T11" fmla="*/ 0 h 183"/>
                <a:gd name="T12" fmla="*/ 0 w 128"/>
                <a:gd name="T13" fmla="*/ 0 h 183"/>
                <a:gd name="T14" fmla="*/ 0 w 128"/>
                <a:gd name="T15" fmla="*/ 0 h 183"/>
                <a:gd name="T16" fmla="*/ 0 w 128"/>
                <a:gd name="T17" fmla="*/ 0 h 183"/>
                <a:gd name="T18" fmla="*/ 0 w 128"/>
                <a:gd name="T19" fmla="*/ 0 h 183"/>
                <a:gd name="T20" fmla="*/ 0 w 128"/>
                <a:gd name="T21" fmla="*/ 0 h 183"/>
                <a:gd name="T22" fmla="*/ 0 w 128"/>
                <a:gd name="T23" fmla="*/ 0 h 183"/>
                <a:gd name="T24" fmla="*/ 0 w 128"/>
                <a:gd name="T25" fmla="*/ 0 h 183"/>
                <a:gd name="T26" fmla="*/ 0 w 128"/>
                <a:gd name="T27" fmla="*/ 0 h 183"/>
                <a:gd name="T28" fmla="*/ 0 w 128"/>
                <a:gd name="T29" fmla="*/ 0 h 183"/>
                <a:gd name="T30" fmla="*/ 0 w 128"/>
                <a:gd name="T31" fmla="*/ 0 h 183"/>
                <a:gd name="T32" fmla="*/ 0 w 128"/>
                <a:gd name="T33" fmla="*/ 0 h 183"/>
                <a:gd name="T34" fmla="*/ 0 w 128"/>
                <a:gd name="T35" fmla="*/ 0 h 183"/>
                <a:gd name="T36" fmla="*/ 0 w 128"/>
                <a:gd name="T37" fmla="*/ 0 h 183"/>
                <a:gd name="T38" fmla="*/ 0 w 128"/>
                <a:gd name="T39" fmla="*/ 0 h 183"/>
                <a:gd name="T40" fmla="*/ 0 w 128"/>
                <a:gd name="T41" fmla="*/ 0 h 183"/>
                <a:gd name="T42" fmla="*/ 0 w 128"/>
                <a:gd name="T43" fmla="*/ 0 h 183"/>
                <a:gd name="T44" fmla="*/ 0 w 128"/>
                <a:gd name="T45" fmla="*/ 0 h 183"/>
                <a:gd name="T46" fmla="*/ 0 w 128"/>
                <a:gd name="T47" fmla="*/ 0 h 183"/>
                <a:gd name="T48" fmla="*/ 0 w 128"/>
                <a:gd name="T49" fmla="*/ 0 h 183"/>
                <a:gd name="T50" fmla="*/ 0 w 128"/>
                <a:gd name="T51" fmla="*/ 0 h 183"/>
                <a:gd name="T52" fmla="*/ 0 w 128"/>
                <a:gd name="T53" fmla="*/ 0 h 183"/>
                <a:gd name="T54" fmla="*/ 0 w 128"/>
                <a:gd name="T55" fmla="*/ 0 h 183"/>
                <a:gd name="T56" fmla="*/ 0 w 128"/>
                <a:gd name="T57" fmla="*/ 0 h 183"/>
                <a:gd name="T58" fmla="*/ 0 w 128"/>
                <a:gd name="T59" fmla="*/ 0 h 183"/>
                <a:gd name="T60" fmla="*/ 0 w 128"/>
                <a:gd name="T61" fmla="*/ 0 h 183"/>
                <a:gd name="T62" fmla="*/ 0 w 128"/>
                <a:gd name="T63" fmla="*/ 0 h 183"/>
                <a:gd name="T64" fmla="*/ 0 w 128"/>
                <a:gd name="T65" fmla="*/ 0 h 183"/>
                <a:gd name="T66" fmla="*/ 0 w 128"/>
                <a:gd name="T67" fmla="*/ 0 h 183"/>
                <a:gd name="T68" fmla="*/ 0 w 128"/>
                <a:gd name="T69" fmla="*/ 0 h 183"/>
                <a:gd name="T70" fmla="*/ 0 w 128"/>
                <a:gd name="T71" fmla="*/ 0 h 183"/>
                <a:gd name="T72" fmla="*/ 0 w 128"/>
                <a:gd name="T73" fmla="*/ 0 h 183"/>
                <a:gd name="T74" fmla="*/ 0 w 128"/>
                <a:gd name="T75" fmla="*/ 0 h 183"/>
                <a:gd name="T76" fmla="*/ 0 w 128"/>
                <a:gd name="T77" fmla="*/ 0 h 183"/>
                <a:gd name="T78" fmla="*/ 0 w 128"/>
                <a:gd name="T79" fmla="*/ 0 h 183"/>
                <a:gd name="T80" fmla="*/ 0 w 128"/>
                <a:gd name="T81" fmla="*/ 0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3" name="Freeform 905"/>
            <p:cNvSpPr>
              <a:spLocks/>
            </p:cNvSpPr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0 w 323"/>
                <a:gd name="T1" fmla="*/ 0 h 379"/>
                <a:gd name="T2" fmla="*/ 0 w 323"/>
                <a:gd name="T3" fmla="*/ 0 h 379"/>
                <a:gd name="T4" fmla="*/ 0 w 323"/>
                <a:gd name="T5" fmla="*/ 0 h 379"/>
                <a:gd name="T6" fmla="*/ 0 w 323"/>
                <a:gd name="T7" fmla="*/ 0 h 379"/>
                <a:gd name="T8" fmla="*/ 0 w 323"/>
                <a:gd name="T9" fmla="*/ 0 h 379"/>
                <a:gd name="T10" fmla="*/ 0 w 323"/>
                <a:gd name="T11" fmla="*/ 0 h 379"/>
                <a:gd name="T12" fmla="*/ 0 w 323"/>
                <a:gd name="T13" fmla="*/ 0 h 379"/>
                <a:gd name="T14" fmla="*/ 0 w 323"/>
                <a:gd name="T15" fmla="*/ 0 h 379"/>
                <a:gd name="T16" fmla="*/ 0 w 323"/>
                <a:gd name="T17" fmla="*/ 0 h 379"/>
                <a:gd name="T18" fmla="*/ 0 w 323"/>
                <a:gd name="T19" fmla="*/ 0 h 379"/>
                <a:gd name="T20" fmla="*/ 0 w 323"/>
                <a:gd name="T21" fmla="*/ 0 h 379"/>
                <a:gd name="T22" fmla="*/ 0 w 323"/>
                <a:gd name="T23" fmla="*/ 0 h 379"/>
                <a:gd name="T24" fmla="*/ 0 w 323"/>
                <a:gd name="T25" fmla="*/ 0 h 379"/>
                <a:gd name="T26" fmla="*/ 0 w 323"/>
                <a:gd name="T27" fmla="*/ 0 h 379"/>
                <a:gd name="T28" fmla="*/ 0 w 323"/>
                <a:gd name="T29" fmla="*/ 0 h 379"/>
                <a:gd name="T30" fmla="*/ 0 w 323"/>
                <a:gd name="T31" fmla="*/ 0 h 379"/>
                <a:gd name="T32" fmla="*/ 0 w 323"/>
                <a:gd name="T33" fmla="*/ 0 h 379"/>
                <a:gd name="T34" fmla="*/ 0 w 323"/>
                <a:gd name="T35" fmla="*/ 0 h 379"/>
                <a:gd name="T36" fmla="*/ 0 w 323"/>
                <a:gd name="T37" fmla="*/ 0 h 379"/>
                <a:gd name="T38" fmla="*/ 0 w 323"/>
                <a:gd name="T39" fmla="*/ 0 h 379"/>
                <a:gd name="T40" fmla="*/ 0 w 323"/>
                <a:gd name="T41" fmla="*/ 0 h 379"/>
                <a:gd name="T42" fmla="*/ 0 w 323"/>
                <a:gd name="T43" fmla="*/ 0 h 379"/>
                <a:gd name="T44" fmla="*/ 0 w 323"/>
                <a:gd name="T45" fmla="*/ 0 h 379"/>
                <a:gd name="T46" fmla="*/ 0 w 323"/>
                <a:gd name="T47" fmla="*/ 0 h 379"/>
                <a:gd name="T48" fmla="*/ 0 w 323"/>
                <a:gd name="T49" fmla="*/ 0 h 379"/>
                <a:gd name="T50" fmla="*/ 0 w 323"/>
                <a:gd name="T51" fmla="*/ 0 h 379"/>
                <a:gd name="T52" fmla="*/ 0 w 323"/>
                <a:gd name="T53" fmla="*/ 0 h 379"/>
                <a:gd name="T54" fmla="*/ 0 w 323"/>
                <a:gd name="T55" fmla="*/ 0 h 379"/>
                <a:gd name="T56" fmla="*/ 0 w 323"/>
                <a:gd name="T57" fmla="*/ 0 h 379"/>
                <a:gd name="T58" fmla="*/ 0 w 323"/>
                <a:gd name="T59" fmla="*/ 0 h 379"/>
                <a:gd name="T60" fmla="*/ 0 w 323"/>
                <a:gd name="T61" fmla="*/ 0 h 379"/>
                <a:gd name="T62" fmla="*/ 0 w 323"/>
                <a:gd name="T63" fmla="*/ 0 h 379"/>
                <a:gd name="T64" fmla="*/ 0 w 323"/>
                <a:gd name="T65" fmla="*/ 0 h 379"/>
                <a:gd name="T66" fmla="*/ 0 w 323"/>
                <a:gd name="T67" fmla="*/ 0 h 379"/>
                <a:gd name="T68" fmla="*/ 0 w 323"/>
                <a:gd name="T69" fmla="*/ 0 h 379"/>
                <a:gd name="T70" fmla="*/ 0 w 323"/>
                <a:gd name="T71" fmla="*/ 0 h 379"/>
                <a:gd name="T72" fmla="*/ 0 w 323"/>
                <a:gd name="T73" fmla="*/ 0 h 379"/>
                <a:gd name="T74" fmla="*/ 0 w 323"/>
                <a:gd name="T75" fmla="*/ 0 h 379"/>
                <a:gd name="T76" fmla="*/ 0 w 323"/>
                <a:gd name="T77" fmla="*/ 0 h 379"/>
                <a:gd name="T78" fmla="*/ 0 w 323"/>
                <a:gd name="T79" fmla="*/ 0 h 379"/>
                <a:gd name="T80" fmla="*/ 0 w 323"/>
                <a:gd name="T81" fmla="*/ 0 h 379"/>
                <a:gd name="T82" fmla="*/ 0 w 323"/>
                <a:gd name="T83" fmla="*/ 0 h 379"/>
                <a:gd name="T84" fmla="*/ 0 w 323"/>
                <a:gd name="T85" fmla="*/ 0 h 379"/>
                <a:gd name="T86" fmla="*/ 0 w 323"/>
                <a:gd name="T87" fmla="*/ 0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4" name="Freeform 906"/>
            <p:cNvSpPr>
              <a:spLocks/>
            </p:cNvSpPr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0 w 282"/>
                <a:gd name="T1" fmla="*/ 0 h 253"/>
                <a:gd name="T2" fmla="*/ 0 w 282"/>
                <a:gd name="T3" fmla="*/ 0 h 253"/>
                <a:gd name="T4" fmla="*/ 0 w 282"/>
                <a:gd name="T5" fmla="*/ 0 h 253"/>
                <a:gd name="T6" fmla="*/ 0 w 282"/>
                <a:gd name="T7" fmla="*/ 0 h 253"/>
                <a:gd name="T8" fmla="*/ 0 w 282"/>
                <a:gd name="T9" fmla="*/ 0 h 253"/>
                <a:gd name="T10" fmla="*/ 0 w 282"/>
                <a:gd name="T11" fmla="*/ 0 h 253"/>
                <a:gd name="T12" fmla="*/ 0 w 282"/>
                <a:gd name="T13" fmla="*/ 0 h 253"/>
                <a:gd name="T14" fmla="*/ 0 w 282"/>
                <a:gd name="T15" fmla="*/ 0 h 253"/>
                <a:gd name="T16" fmla="*/ 0 w 282"/>
                <a:gd name="T17" fmla="*/ 0 h 253"/>
                <a:gd name="T18" fmla="*/ 0 w 282"/>
                <a:gd name="T19" fmla="*/ 0 h 253"/>
                <a:gd name="T20" fmla="*/ 0 w 282"/>
                <a:gd name="T21" fmla="*/ 0 h 253"/>
                <a:gd name="T22" fmla="*/ 0 w 282"/>
                <a:gd name="T23" fmla="*/ 0 h 253"/>
                <a:gd name="T24" fmla="*/ 0 w 282"/>
                <a:gd name="T25" fmla="*/ 0 h 253"/>
                <a:gd name="T26" fmla="*/ 0 w 282"/>
                <a:gd name="T27" fmla="*/ 0 h 253"/>
                <a:gd name="T28" fmla="*/ 0 w 282"/>
                <a:gd name="T29" fmla="*/ 0 h 253"/>
                <a:gd name="T30" fmla="*/ 0 w 282"/>
                <a:gd name="T31" fmla="*/ 0 h 253"/>
                <a:gd name="T32" fmla="*/ 0 w 282"/>
                <a:gd name="T33" fmla="*/ 0 h 253"/>
                <a:gd name="T34" fmla="*/ 0 w 282"/>
                <a:gd name="T35" fmla="*/ 0 h 253"/>
                <a:gd name="T36" fmla="*/ 0 w 282"/>
                <a:gd name="T37" fmla="*/ 0 h 253"/>
                <a:gd name="T38" fmla="*/ 0 w 282"/>
                <a:gd name="T39" fmla="*/ 0 h 253"/>
                <a:gd name="T40" fmla="*/ 0 w 282"/>
                <a:gd name="T41" fmla="*/ 0 h 253"/>
                <a:gd name="T42" fmla="*/ 0 w 282"/>
                <a:gd name="T43" fmla="*/ 0 h 253"/>
                <a:gd name="T44" fmla="*/ 0 w 282"/>
                <a:gd name="T45" fmla="*/ 0 h 253"/>
                <a:gd name="T46" fmla="*/ 0 w 282"/>
                <a:gd name="T47" fmla="*/ 0 h 253"/>
                <a:gd name="T48" fmla="*/ 0 w 282"/>
                <a:gd name="T49" fmla="*/ 0 h 253"/>
                <a:gd name="T50" fmla="*/ 0 w 282"/>
                <a:gd name="T51" fmla="*/ 0 h 253"/>
                <a:gd name="T52" fmla="*/ 0 w 282"/>
                <a:gd name="T53" fmla="*/ 0 h 253"/>
                <a:gd name="T54" fmla="*/ 0 w 282"/>
                <a:gd name="T55" fmla="*/ 0 h 253"/>
                <a:gd name="T56" fmla="*/ 0 w 282"/>
                <a:gd name="T57" fmla="*/ 0 h 253"/>
                <a:gd name="T58" fmla="*/ 0 w 282"/>
                <a:gd name="T59" fmla="*/ 0 h 253"/>
                <a:gd name="T60" fmla="*/ 0 w 282"/>
                <a:gd name="T61" fmla="*/ 0 h 253"/>
                <a:gd name="T62" fmla="*/ 0 w 282"/>
                <a:gd name="T63" fmla="*/ 0 h 253"/>
                <a:gd name="T64" fmla="*/ 0 w 282"/>
                <a:gd name="T65" fmla="*/ 0 h 253"/>
                <a:gd name="T66" fmla="*/ 0 w 282"/>
                <a:gd name="T67" fmla="*/ 0 h 253"/>
                <a:gd name="T68" fmla="*/ 0 w 282"/>
                <a:gd name="T69" fmla="*/ 0 h 253"/>
                <a:gd name="T70" fmla="*/ 0 w 282"/>
                <a:gd name="T71" fmla="*/ 0 h 253"/>
                <a:gd name="T72" fmla="*/ 0 w 282"/>
                <a:gd name="T73" fmla="*/ 0 h 253"/>
                <a:gd name="T74" fmla="*/ 0 w 282"/>
                <a:gd name="T75" fmla="*/ 0 h 253"/>
                <a:gd name="T76" fmla="*/ 0 w 282"/>
                <a:gd name="T77" fmla="*/ 0 h 253"/>
                <a:gd name="T78" fmla="*/ 0 w 282"/>
                <a:gd name="T79" fmla="*/ 0 h 253"/>
                <a:gd name="T80" fmla="*/ 0 w 282"/>
                <a:gd name="T81" fmla="*/ 0 h 253"/>
                <a:gd name="T82" fmla="*/ 0 w 282"/>
                <a:gd name="T83" fmla="*/ 0 h 253"/>
                <a:gd name="T84" fmla="*/ 0 w 282"/>
                <a:gd name="T85" fmla="*/ 0 h 253"/>
                <a:gd name="T86" fmla="*/ 0 w 282"/>
                <a:gd name="T87" fmla="*/ 0 h 253"/>
                <a:gd name="T88" fmla="*/ 0 w 282"/>
                <a:gd name="T89" fmla="*/ 0 h 253"/>
                <a:gd name="T90" fmla="*/ 0 w 282"/>
                <a:gd name="T91" fmla="*/ 0 h 253"/>
                <a:gd name="T92" fmla="*/ 0 w 282"/>
                <a:gd name="T93" fmla="*/ 0 h 253"/>
                <a:gd name="T94" fmla="*/ 0 w 282"/>
                <a:gd name="T95" fmla="*/ 0 h 253"/>
                <a:gd name="T96" fmla="*/ 0 w 282"/>
                <a:gd name="T97" fmla="*/ 0 h 253"/>
                <a:gd name="T98" fmla="*/ 0 w 282"/>
                <a:gd name="T99" fmla="*/ 0 h 253"/>
                <a:gd name="T100" fmla="*/ 0 w 282"/>
                <a:gd name="T101" fmla="*/ 0 h 253"/>
                <a:gd name="T102" fmla="*/ 0 w 282"/>
                <a:gd name="T103" fmla="*/ 0 h 253"/>
                <a:gd name="T104" fmla="*/ 0 w 282"/>
                <a:gd name="T105" fmla="*/ 0 h 253"/>
                <a:gd name="T106" fmla="*/ 0 w 282"/>
                <a:gd name="T107" fmla="*/ 0 h 253"/>
                <a:gd name="T108" fmla="*/ 0 w 282"/>
                <a:gd name="T109" fmla="*/ 0 h 253"/>
                <a:gd name="T110" fmla="*/ 0 w 282"/>
                <a:gd name="T111" fmla="*/ 0 h 253"/>
                <a:gd name="T112" fmla="*/ 0 w 282"/>
                <a:gd name="T113" fmla="*/ 0 h 253"/>
                <a:gd name="T114" fmla="*/ 0 w 282"/>
                <a:gd name="T115" fmla="*/ 0 h 253"/>
                <a:gd name="T116" fmla="*/ 0 w 282"/>
                <a:gd name="T117" fmla="*/ 0 h 253"/>
                <a:gd name="T118" fmla="*/ 0 w 282"/>
                <a:gd name="T119" fmla="*/ 0 h 253"/>
                <a:gd name="T120" fmla="*/ 0 w 282"/>
                <a:gd name="T121" fmla="*/ 0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5" name="Freeform 907"/>
            <p:cNvSpPr>
              <a:spLocks/>
            </p:cNvSpPr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0 h 236"/>
                <a:gd name="T2" fmla="*/ 0 w 115"/>
                <a:gd name="T3" fmla="*/ 0 h 236"/>
                <a:gd name="T4" fmla="*/ 0 w 115"/>
                <a:gd name="T5" fmla="*/ 0 h 236"/>
                <a:gd name="T6" fmla="*/ 0 w 115"/>
                <a:gd name="T7" fmla="*/ 0 h 236"/>
                <a:gd name="T8" fmla="*/ 0 w 115"/>
                <a:gd name="T9" fmla="*/ 0 h 236"/>
                <a:gd name="T10" fmla="*/ 0 w 115"/>
                <a:gd name="T11" fmla="*/ 0 h 236"/>
                <a:gd name="T12" fmla="*/ 0 w 115"/>
                <a:gd name="T13" fmla="*/ 0 h 236"/>
                <a:gd name="T14" fmla="*/ 0 w 115"/>
                <a:gd name="T15" fmla="*/ 0 h 236"/>
                <a:gd name="T16" fmla="*/ 0 w 115"/>
                <a:gd name="T17" fmla="*/ 0 h 236"/>
                <a:gd name="T18" fmla="*/ 0 w 115"/>
                <a:gd name="T19" fmla="*/ 0 h 236"/>
                <a:gd name="T20" fmla="*/ 0 w 115"/>
                <a:gd name="T21" fmla="*/ 0 h 236"/>
                <a:gd name="T22" fmla="*/ 0 w 115"/>
                <a:gd name="T23" fmla="*/ 0 h 236"/>
                <a:gd name="T24" fmla="*/ 0 w 115"/>
                <a:gd name="T25" fmla="*/ 0 h 236"/>
                <a:gd name="T26" fmla="*/ 0 w 115"/>
                <a:gd name="T27" fmla="*/ 0 h 236"/>
                <a:gd name="T28" fmla="*/ 0 w 115"/>
                <a:gd name="T29" fmla="*/ 0 h 236"/>
                <a:gd name="T30" fmla="*/ 0 w 115"/>
                <a:gd name="T31" fmla="*/ 0 h 236"/>
                <a:gd name="T32" fmla="*/ 0 w 115"/>
                <a:gd name="T33" fmla="*/ 0 h 236"/>
                <a:gd name="T34" fmla="*/ 0 w 115"/>
                <a:gd name="T35" fmla="*/ 0 h 236"/>
                <a:gd name="T36" fmla="*/ 0 w 115"/>
                <a:gd name="T37" fmla="*/ 0 h 236"/>
                <a:gd name="T38" fmla="*/ 0 w 115"/>
                <a:gd name="T39" fmla="*/ 0 h 236"/>
                <a:gd name="T40" fmla="*/ 0 w 115"/>
                <a:gd name="T41" fmla="*/ 0 h 236"/>
                <a:gd name="T42" fmla="*/ 0 w 115"/>
                <a:gd name="T43" fmla="*/ 0 h 236"/>
                <a:gd name="T44" fmla="*/ 0 w 115"/>
                <a:gd name="T45" fmla="*/ 0 h 236"/>
                <a:gd name="T46" fmla="*/ 0 w 115"/>
                <a:gd name="T47" fmla="*/ 0 h 236"/>
                <a:gd name="T48" fmla="*/ 0 w 115"/>
                <a:gd name="T49" fmla="*/ 0 h 236"/>
                <a:gd name="T50" fmla="*/ 0 w 115"/>
                <a:gd name="T51" fmla="*/ 0 h 236"/>
                <a:gd name="T52" fmla="*/ 0 w 115"/>
                <a:gd name="T53" fmla="*/ 0 h 236"/>
                <a:gd name="T54" fmla="*/ 0 w 115"/>
                <a:gd name="T55" fmla="*/ 0 h 236"/>
                <a:gd name="T56" fmla="*/ 0 w 115"/>
                <a:gd name="T57" fmla="*/ 0 h 236"/>
                <a:gd name="T58" fmla="*/ 0 w 115"/>
                <a:gd name="T59" fmla="*/ 0 h 236"/>
                <a:gd name="T60" fmla="*/ 0 w 115"/>
                <a:gd name="T61" fmla="*/ 0 h 236"/>
                <a:gd name="T62" fmla="*/ 0 w 115"/>
                <a:gd name="T63" fmla="*/ 0 h 236"/>
                <a:gd name="T64" fmla="*/ 0 w 115"/>
                <a:gd name="T65" fmla="*/ 0 h 236"/>
                <a:gd name="T66" fmla="*/ 0 w 115"/>
                <a:gd name="T67" fmla="*/ 0 h 236"/>
                <a:gd name="T68" fmla="*/ 0 w 115"/>
                <a:gd name="T69" fmla="*/ 0 h 236"/>
                <a:gd name="T70" fmla="*/ 0 w 115"/>
                <a:gd name="T71" fmla="*/ 0 h 236"/>
                <a:gd name="T72" fmla="*/ 0 w 115"/>
                <a:gd name="T73" fmla="*/ 0 h 236"/>
                <a:gd name="T74" fmla="*/ 0 w 115"/>
                <a:gd name="T75" fmla="*/ 0 h 236"/>
                <a:gd name="T76" fmla="*/ 0 w 115"/>
                <a:gd name="T77" fmla="*/ 0 h 236"/>
                <a:gd name="T78" fmla="*/ 0 w 115"/>
                <a:gd name="T79" fmla="*/ 0 h 236"/>
                <a:gd name="T80" fmla="*/ 0 w 115"/>
                <a:gd name="T81" fmla="*/ 0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6" name="Freeform 908"/>
            <p:cNvSpPr>
              <a:spLocks/>
            </p:cNvSpPr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0 w 245"/>
                <a:gd name="T1" fmla="*/ 0 h 310"/>
                <a:gd name="T2" fmla="*/ 0 w 245"/>
                <a:gd name="T3" fmla="*/ 0 h 310"/>
                <a:gd name="T4" fmla="*/ 0 w 245"/>
                <a:gd name="T5" fmla="*/ 0 h 310"/>
                <a:gd name="T6" fmla="*/ 0 w 245"/>
                <a:gd name="T7" fmla="*/ 0 h 310"/>
                <a:gd name="T8" fmla="*/ 0 w 245"/>
                <a:gd name="T9" fmla="*/ 0 h 310"/>
                <a:gd name="T10" fmla="*/ 0 w 245"/>
                <a:gd name="T11" fmla="*/ 0 h 310"/>
                <a:gd name="T12" fmla="*/ 0 w 245"/>
                <a:gd name="T13" fmla="*/ 0 h 310"/>
                <a:gd name="T14" fmla="*/ 0 w 245"/>
                <a:gd name="T15" fmla="*/ 0 h 310"/>
                <a:gd name="T16" fmla="*/ 0 w 245"/>
                <a:gd name="T17" fmla="*/ 0 h 310"/>
                <a:gd name="T18" fmla="*/ 0 w 245"/>
                <a:gd name="T19" fmla="*/ 0 h 310"/>
                <a:gd name="T20" fmla="*/ 0 w 245"/>
                <a:gd name="T21" fmla="*/ 0 h 310"/>
                <a:gd name="T22" fmla="*/ 0 w 245"/>
                <a:gd name="T23" fmla="*/ 0 h 310"/>
                <a:gd name="T24" fmla="*/ 0 w 245"/>
                <a:gd name="T25" fmla="*/ 0 h 310"/>
                <a:gd name="T26" fmla="*/ 0 w 245"/>
                <a:gd name="T27" fmla="*/ 0 h 310"/>
                <a:gd name="T28" fmla="*/ 0 w 245"/>
                <a:gd name="T29" fmla="*/ 0 h 310"/>
                <a:gd name="T30" fmla="*/ 0 w 245"/>
                <a:gd name="T31" fmla="*/ 0 h 310"/>
                <a:gd name="T32" fmla="*/ 0 w 245"/>
                <a:gd name="T33" fmla="*/ 0 h 310"/>
                <a:gd name="T34" fmla="*/ 0 w 245"/>
                <a:gd name="T35" fmla="*/ 0 h 310"/>
                <a:gd name="T36" fmla="*/ 0 w 245"/>
                <a:gd name="T37" fmla="*/ 0 h 310"/>
                <a:gd name="T38" fmla="*/ 0 w 245"/>
                <a:gd name="T39" fmla="*/ 0 h 310"/>
                <a:gd name="T40" fmla="*/ 0 w 245"/>
                <a:gd name="T41" fmla="*/ 0 h 310"/>
                <a:gd name="T42" fmla="*/ 0 w 245"/>
                <a:gd name="T43" fmla="*/ 0 h 310"/>
                <a:gd name="T44" fmla="*/ 0 w 245"/>
                <a:gd name="T45" fmla="*/ 0 h 310"/>
                <a:gd name="T46" fmla="*/ 0 w 245"/>
                <a:gd name="T47" fmla="*/ 0 h 310"/>
                <a:gd name="T48" fmla="*/ 0 w 245"/>
                <a:gd name="T49" fmla="*/ 0 h 310"/>
                <a:gd name="T50" fmla="*/ 0 w 245"/>
                <a:gd name="T51" fmla="*/ 0 h 310"/>
                <a:gd name="T52" fmla="*/ 0 w 245"/>
                <a:gd name="T53" fmla="*/ 0 h 310"/>
                <a:gd name="T54" fmla="*/ 0 w 245"/>
                <a:gd name="T55" fmla="*/ 0 h 310"/>
                <a:gd name="T56" fmla="*/ 0 w 245"/>
                <a:gd name="T57" fmla="*/ 0 h 310"/>
                <a:gd name="T58" fmla="*/ 0 w 245"/>
                <a:gd name="T59" fmla="*/ 0 h 310"/>
                <a:gd name="T60" fmla="*/ 0 w 245"/>
                <a:gd name="T61" fmla="*/ 0 h 310"/>
                <a:gd name="T62" fmla="*/ 0 w 245"/>
                <a:gd name="T63" fmla="*/ 0 h 310"/>
                <a:gd name="T64" fmla="*/ 0 w 245"/>
                <a:gd name="T65" fmla="*/ 0 h 310"/>
                <a:gd name="T66" fmla="*/ 0 w 245"/>
                <a:gd name="T67" fmla="*/ 0 h 310"/>
                <a:gd name="T68" fmla="*/ 0 w 245"/>
                <a:gd name="T69" fmla="*/ 0 h 310"/>
                <a:gd name="T70" fmla="*/ 0 w 245"/>
                <a:gd name="T71" fmla="*/ 0 h 310"/>
                <a:gd name="T72" fmla="*/ 0 w 245"/>
                <a:gd name="T73" fmla="*/ 0 h 310"/>
                <a:gd name="T74" fmla="*/ 0 w 245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7" name="Freeform 909"/>
            <p:cNvSpPr>
              <a:spLocks/>
            </p:cNvSpPr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727" name="Line 911"/>
          <p:cNvSpPr>
            <a:spLocks noChangeShapeType="1"/>
          </p:cNvSpPr>
          <p:nvPr/>
        </p:nvSpPr>
        <p:spPr bwMode="auto">
          <a:xfrm>
            <a:off x="9987920" y="1720343"/>
            <a:ext cx="893762" cy="3128963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729" name="Line 913"/>
          <p:cNvSpPr>
            <a:spLocks noChangeShapeType="1"/>
          </p:cNvSpPr>
          <p:nvPr/>
        </p:nvSpPr>
        <p:spPr bwMode="auto">
          <a:xfrm>
            <a:off x="9435470" y="4395280"/>
            <a:ext cx="958850" cy="50800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918"/>
          <p:cNvGrpSpPr>
            <a:grpSpLocks/>
          </p:cNvGrpSpPr>
          <p:nvPr/>
        </p:nvGrpSpPr>
        <p:grpSpPr bwMode="auto">
          <a:xfrm>
            <a:off x="8967158" y="1431417"/>
            <a:ext cx="1063625" cy="965200"/>
            <a:chOff x="4076" y="518"/>
            <a:chExt cx="670" cy="608"/>
          </a:xfrm>
        </p:grpSpPr>
        <p:grpSp>
          <p:nvGrpSpPr>
            <p:cNvPr id="8331" name="Group 226"/>
            <p:cNvGrpSpPr>
              <a:grpSpLocks/>
            </p:cNvGrpSpPr>
            <p:nvPr/>
          </p:nvGrpSpPr>
          <p:grpSpPr bwMode="auto">
            <a:xfrm>
              <a:off x="4233" y="518"/>
              <a:ext cx="513" cy="541"/>
              <a:chOff x="2938" y="2925"/>
              <a:chExt cx="513" cy="541"/>
            </a:xfrm>
          </p:grpSpPr>
          <p:sp>
            <p:nvSpPr>
              <p:cNvPr id="8333" name="Rectangle 227"/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334" name="Rectangle 228"/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335" name="Rectangle 229"/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336" name="Text Box 230"/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DengXian" panose="02010600030101010101" pitchFamily="2" charset="-122"/>
                    <a:ea typeface="宋体" panose="02010600030101010101" pitchFamily="2" charset="-122"/>
                  </a:rPr>
                  <a:t>application</a:t>
                </a:r>
                <a:endPara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transport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network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data link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337" name="Line 231"/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38" name="Line 232"/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39" name="Line 233"/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332" name="Freeform 917"/>
            <p:cNvSpPr>
              <a:spLocks/>
            </p:cNvSpPr>
            <p:nvPr/>
          </p:nvSpPr>
          <p:spPr bwMode="auto">
            <a:xfrm>
              <a:off x="4076" y="532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919"/>
          <p:cNvGrpSpPr>
            <a:grpSpLocks/>
          </p:cNvGrpSpPr>
          <p:nvPr/>
        </p:nvGrpSpPr>
        <p:grpSpPr bwMode="auto">
          <a:xfrm>
            <a:off x="10143496" y="4827080"/>
            <a:ext cx="1063625" cy="965200"/>
            <a:chOff x="4076" y="518"/>
            <a:chExt cx="670" cy="608"/>
          </a:xfrm>
        </p:grpSpPr>
        <p:grpSp>
          <p:nvGrpSpPr>
            <p:cNvPr id="8322" name="Group 920"/>
            <p:cNvGrpSpPr>
              <a:grpSpLocks/>
            </p:cNvGrpSpPr>
            <p:nvPr/>
          </p:nvGrpSpPr>
          <p:grpSpPr bwMode="auto">
            <a:xfrm>
              <a:off x="4233" y="518"/>
              <a:ext cx="513" cy="541"/>
              <a:chOff x="2938" y="2925"/>
              <a:chExt cx="513" cy="541"/>
            </a:xfrm>
          </p:grpSpPr>
          <p:sp>
            <p:nvSpPr>
              <p:cNvPr id="8324" name="Rectangle 921"/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325" name="Rectangle 922"/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326" name="Rectangle 923"/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327" name="Text Box 924"/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DengXian" panose="02010600030101010101" pitchFamily="2" charset="-122"/>
                    <a:ea typeface="宋体" panose="02010600030101010101" pitchFamily="2" charset="-122"/>
                  </a:rPr>
                  <a:t>application</a:t>
                </a:r>
                <a:endPara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transport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network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data link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328" name="Line 925"/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9" name="Line 926"/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30" name="Line 927"/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323" name="Freeform 928"/>
            <p:cNvSpPr>
              <a:spLocks/>
            </p:cNvSpPr>
            <p:nvPr/>
          </p:nvSpPr>
          <p:spPr bwMode="auto">
            <a:xfrm>
              <a:off x="4076" y="532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929"/>
          <p:cNvGrpSpPr>
            <a:grpSpLocks/>
          </p:cNvGrpSpPr>
          <p:nvPr/>
        </p:nvGrpSpPr>
        <p:grpSpPr bwMode="auto">
          <a:xfrm>
            <a:off x="8397246" y="4287330"/>
            <a:ext cx="1063625" cy="965200"/>
            <a:chOff x="4076" y="518"/>
            <a:chExt cx="670" cy="608"/>
          </a:xfrm>
        </p:grpSpPr>
        <p:grpSp>
          <p:nvGrpSpPr>
            <p:cNvPr id="8313" name="Group 930"/>
            <p:cNvGrpSpPr>
              <a:grpSpLocks/>
            </p:cNvGrpSpPr>
            <p:nvPr/>
          </p:nvGrpSpPr>
          <p:grpSpPr bwMode="auto">
            <a:xfrm>
              <a:off x="4233" y="518"/>
              <a:ext cx="513" cy="541"/>
              <a:chOff x="2938" y="2925"/>
              <a:chExt cx="513" cy="541"/>
            </a:xfrm>
          </p:grpSpPr>
          <p:sp>
            <p:nvSpPr>
              <p:cNvPr id="8315" name="Rectangle 931"/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316" name="Rectangle 932"/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317" name="Rectangle 933"/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zh-CN" altLang="en-US" sz="24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318" name="Text Box 934"/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solidFill>
                      <a:schemeClr val="bg1"/>
                    </a:solidFill>
                    <a:latin typeface="DengXian" panose="02010600030101010101" pitchFamily="2" charset="-122"/>
                    <a:ea typeface="宋体" panose="02010600030101010101" pitchFamily="2" charset="-122"/>
                  </a:rPr>
                  <a:t>application</a:t>
                </a:r>
                <a:endPara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transport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network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data link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319" name="Line 935"/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0" name="Line 936"/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1" name="Line 937"/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314" name="Freeform 938"/>
            <p:cNvSpPr>
              <a:spLocks/>
            </p:cNvSpPr>
            <p:nvPr/>
          </p:nvSpPr>
          <p:spPr bwMode="auto">
            <a:xfrm>
              <a:off x="4076" y="532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5" name="标题 1"/>
          <p:cNvSpPr txBox="1">
            <a:spLocks/>
          </p:cNvSpPr>
          <p:nvPr/>
        </p:nvSpPr>
        <p:spPr>
          <a:xfrm>
            <a:off x="1340576" y="374264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CN" altLang="en-US" sz="4000" dirty="0">
                <a:latin typeface="等线" panose="02010600030101010101" pitchFamily="2" charset="-122"/>
                <a:ea typeface="等线" panose="02010600030101010101" pitchFamily="2" charset="-122"/>
              </a:rPr>
              <a:t>传输层的位置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922638" y="1459992"/>
            <a:ext cx="6074434" cy="493077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传输层位于应用层和网络层之间：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基于网络层提供的服务，向分布式应用程序提供通信服务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sz="2600" dirty="0"/>
              <a:t>按照因特网的</a:t>
            </a:r>
            <a:r>
              <a:rPr lang="en-US" altLang="zh-CN" sz="2600" dirty="0">
                <a:solidFill>
                  <a:srgbClr val="C00000"/>
                </a:solidFill>
              </a:rPr>
              <a:t>“</a:t>
            </a:r>
            <a:r>
              <a:rPr lang="zh-CN" altLang="en-US" sz="2600" dirty="0">
                <a:solidFill>
                  <a:srgbClr val="C00000"/>
                </a:solidFill>
              </a:rPr>
              <a:t>端到端</a:t>
            </a:r>
            <a:r>
              <a:rPr lang="en-US" altLang="zh-CN" sz="2600" dirty="0">
                <a:solidFill>
                  <a:srgbClr val="C00000"/>
                </a:solidFill>
              </a:rPr>
              <a:t>”设计原则：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应用程序只运行在终端上</a:t>
            </a:r>
            <a:r>
              <a:rPr lang="zh-CN" altLang="en-US" dirty="0"/>
              <a:t>，即不需要为网络设备编写程序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/>
              <a:t>站在应用程序的角度：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传输层应提供</a:t>
            </a:r>
            <a:r>
              <a:rPr lang="zh-CN" altLang="en-US" dirty="0">
                <a:solidFill>
                  <a:srgbClr val="C00000"/>
                </a:solidFill>
              </a:rPr>
              <a:t>进程之间本地通信的抽象</a:t>
            </a:r>
            <a:r>
              <a:rPr lang="zh-CN" altLang="en-US" dirty="0"/>
              <a:t>：即运行在不同终端上的应用进程仿佛是直接连在一起的</a:t>
            </a:r>
            <a:endParaRPr lang="en-US" altLang="zh-CN" dirty="0"/>
          </a:p>
        </p:txBody>
      </p:sp>
      <p:sp>
        <p:nvSpPr>
          <p:cNvPr id="37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  <p:sp>
        <p:nvSpPr>
          <p:cNvPr id="376" name="日期占位符 8">
            <a:extLst>
              <a:ext uri="{FF2B5EF4-FFF2-40B4-BE49-F238E27FC236}">
                <a16:creationId xmlns:a16="http://schemas.microsoft.com/office/drawing/2014/main" id="{884FD1E8-F7BB-7E4C-AC19-EB6E184F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1853583" cy="365125"/>
          </a:xfrm>
        </p:spPr>
        <p:txBody>
          <a:bodyPr/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6.1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概述和传输层服务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457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不同终端上的进程如何通信？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94036"/>
            <a:ext cx="10515600" cy="27626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zh-CN" altLang="en-US" sz="2600" dirty="0"/>
              <a:t>设想在</a:t>
            </a:r>
            <a:r>
              <a:rPr lang="en-US" altLang="zh-CN" sz="2600" dirty="0"/>
              <a:t>应用程序和网络之间存在一扇“门”：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需要发送报文时：发送进程将报文推到门外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门外的运输设施（因特网）将报文送到接收进程的门口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需要接收报文时：接收进程打开门，即可收到报文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sz="2600" dirty="0"/>
              <a:t>在</a:t>
            </a:r>
            <a:r>
              <a:rPr lang="en-US" altLang="zh-CN" sz="2600" dirty="0"/>
              <a:t>TCP/IP网络中，</a:t>
            </a:r>
            <a:r>
              <a:rPr lang="zh-CN" altLang="en-US" sz="2600" dirty="0"/>
              <a:t>这扇</a:t>
            </a:r>
            <a:r>
              <a:rPr lang="en-US" altLang="zh-CN" sz="2600" dirty="0"/>
              <a:t>“</a:t>
            </a:r>
            <a:r>
              <a:rPr lang="zh-CN" altLang="en-US" sz="2600" dirty="0"/>
              <a:t>门</a:t>
            </a:r>
            <a:r>
              <a:rPr lang="en-US" altLang="zh-CN" sz="2600" dirty="0"/>
              <a:t>”</a:t>
            </a:r>
            <a:r>
              <a:rPr lang="zh-CN" altLang="en-US" sz="2600" dirty="0"/>
              <a:t>称为</a:t>
            </a:r>
            <a:r>
              <a:rPr lang="zh-CN" altLang="en-US" sz="2600" dirty="0">
                <a:solidFill>
                  <a:srgbClr val="C00000"/>
                </a:solidFill>
              </a:rPr>
              <a:t>套接字（</a:t>
            </a:r>
            <a:r>
              <a:rPr lang="en-US" altLang="zh-CN" sz="2600" dirty="0">
                <a:solidFill>
                  <a:srgbClr val="C00000"/>
                </a:solidFill>
              </a:rPr>
              <a:t>socket</a:t>
            </a:r>
            <a:r>
              <a:rPr lang="zh-CN" altLang="en-US" sz="2600" dirty="0">
                <a:solidFill>
                  <a:srgbClr val="C00000"/>
                </a:solidFill>
              </a:rPr>
              <a:t>）</a:t>
            </a:r>
            <a:r>
              <a:rPr lang="zh-CN" altLang="en-US" sz="2600" dirty="0"/>
              <a:t>，是应用层和传输层的接口，也是应用程序和网络之间的</a:t>
            </a:r>
            <a:r>
              <a:rPr lang="en-US" altLang="zh-CN" sz="2600" dirty="0"/>
              <a:t>API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sp>
        <p:nvSpPr>
          <p:cNvPr id="5" name="Freeform 66"/>
          <p:cNvSpPr>
            <a:spLocks/>
          </p:cNvSpPr>
          <p:nvPr/>
        </p:nvSpPr>
        <p:spPr bwMode="auto">
          <a:xfrm>
            <a:off x="7989459" y="4310062"/>
            <a:ext cx="736600" cy="1998663"/>
          </a:xfrm>
          <a:custGeom>
            <a:avLst/>
            <a:gdLst>
              <a:gd name="T0" fmla="*/ 2147483646 w 464"/>
              <a:gd name="T1" fmla="*/ 2147483646 h 1259"/>
              <a:gd name="T2" fmla="*/ 0 w 464"/>
              <a:gd name="T3" fmla="*/ 0 h 1259"/>
              <a:gd name="T4" fmla="*/ 2147483646 w 464"/>
              <a:gd name="T5" fmla="*/ 2147483646 h 1259"/>
              <a:gd name="T6" fmla="*/ 2147483646 w 464"/>
              <a:gd name="T7" fmla="*/ 2147483646 h 1259"/>
              <a:gd name="T8" fmla="*/ 2147483646 w 464"/>
              <a:gd name="T9" fmla="*/ 2147483646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7"/>
          <p:cNvSpPr>
            <a:spLocks/>
          </p:cNvSpPr>
          <p:nvPr/>
        </p:nvSpPr>
        <p:spPr bwMode="auto">
          <a:xfrm>
            <a:off x="4674759" y="5607050"/>
            <a:ext cx="1808162" cy="1031875"/>
          </a:xfrm>
          <a:custGeom>
            <a:avLst/>
            <a:gdLst>
              <a:gd name="T0" fmla="*/ 2147483646 w 2135"/>
              <a:gd name="T1" fmla="*/ 2147483646 h 1662"/>
              <a:gd name="T2" fmla="*/ 2147483646 w 2135"/>
              <a:gd name="T3" fmla="*/ 2147483646 h 1662"/>
              <a:gd name="T4" fmla="*/ 2147483646 w 2135"/>
              <a:gd name="T5" fmla="*/ 2147483646 h 1662"/>
              <a:gd name="T6" fmla="*/ 2147483646 w 2135"/>
              <a:gd name="T7" fmla="*/ 2147483646 h 1662"/>
              <a:gd name="T8" fmla="*/ 2147483646 w 2135"/>
              <a:gd name="T9" fmla="*/ 2147483646 h 1662"/>
              <a:gd name="T10" fmla="*/ 2147483646 w 2135"/>
              <a:gd name="T11" fmla="*/ 2147483646 h 1662"/>
              <a:gd name="T12" fmla="*/ 2147483646 w 2135"/>
              <a:gd name="T13" fmla="*/ 2147483646 h 1662"/>
              <a:gd name="T14" fmla="*/ 2147483646 w 2135"/>
              <a:gd name="T15" fmla="*/ 2147483646 h 1662"/>
              <a:gd name="T16" fmla="*/ 2147483646 w 2135"/>
              <a:gd name="T17" fmla="*/ 2147483646 h 1662"/>
              <a:gd name="T18" fmla="*/ 2147483646 w 2135"/>
              <a:gd name="T19" fmla="*/ 2147483646 h 1662"/>
              <a:gd name="T20" fmla="*/ 2147483646 w 2135"/>
              <a:gd name="T21" fmla="*/ 2147483646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51"/>
          <p:cNvSpPr txBox="1">
            <a:spLocks noChangeArrowheads="1"/>
          </p:cNvSpPr>
          <p:nvPr/>
        </p:nvSpPr>
        <p:spPr bwMode="auto">
          <a:xfrm>
            <a:off x="5114088" y="5738811"/>
            <a:ext cx="87235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rPr>
              <a:t>Internet</a:t>
            </a:r>
          </a:p>
        </p:txBody>
      </p:sp>
      <p:sp>
        <p:nvSpPr>
          <p:cNvPr id="8" name="Line 52"/>
          <p:cNvSpPr>
            <a:spLocks noChangeShapeType="1"/>
          </p:cNvSpPr>
          <p:nvPr/>
        </p:nvSpPr>
        <p:spPr bwMode="auto">
          <a:xfrm>
            <a:off x="4433460" y="6149974"/>
            <a:ext cx="2211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53"/>
          <p:cNvSpPr txBox="1">
            <a:spLocks noChangeArrowheads="1"/>
          </p:cNvSpPr>
          <p:nvPr/>
        </p:nvSpPr>
        <p:spPr bwMode="auto">
          <a:xfrm>
            <a:off x="8454596" y="5375275"/>
            <a:ext cx="107593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controlled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by OS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 Box 56"/>
          <p:cNvSpPr txBox="1">
            <a:spLocks noChangeArrowheads="1"/>
          </p:cNvSpPr>
          <p:nvPr/>
        </p:nvSpPr>
        <p:spPr bwMode="auto">
          <a:xfrm>
            <a:off x="8432371" y="4475162"/>
            <a:ext cx="1497526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controlled by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app developer</a:t>
            </a:r>
          </a:p>
        </p:txBody>
      </p:sp>
      <p:sp>
        <p:nvSpPr>
          <p:cNvPr id="11" name="Freeform 45"/>
          <p:cNvSpPr>
            <a:spLocks/>
          </p:cNvSpPr>
          <p:nvPr/>
        </p:nvSpPr>
        <p:spPr bwMode="auto">
          <a:xfrm>
            <a:off x="2249060" y="4373562"/>
            <a:ext cx="758825" cy="1997075"/>
          </a:xfrm>
          <a:custGeom>
            <a:avLst/>
            <a:gdLst>
              <a:gd name="T0" fmla="*/ 0 w 478"/>
              <a:gd name="T1" fmla="*/ 2147483646 h 1258"/>
              <a:gd name="T2" fmla="*/ 2147483646 w 478"/>
              <a:gd name="T3" fmla="*/ 0 h 1258"/>
              <a:gd name="T4" fmla="*/ 2147483646 w 478"/>
              <a:gd name="T5" fmla="*/ 2147483646 h 1258"/>
              <a:gd name="T6" fmla="*/ 2147483646 w 478"/>
              <a:gd name="T7" fmla="*/ 2147483646 h 1258"/>
              <a:gd name="T8" fmla="*/ 0 w 478"/>
              <a:gd name="T9" fmla="*/ 2147483646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23"/>
          <p:cNvSpPr>
            <a:spLocks noChangeArrowheads="1"/>
          </p:cNvSpPr>
          <p:nvPr/>
        </p:nvSpPr>
        <p:spPr bwMode="auto">
          <a:xfrm>
            <a:off x="3052335" y="4329111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Rectangle 24"/>
          <p:cNvSpPr>
            <a:spLocks noChangeArrowheads="1"/>
          </p:cNvSpPr>
          <p:nvPr/>
        </p:nvSpPr>
        <p:spPr bwMode="auto">
          <a:xfrm>
            <a:off x="3014235" y="4383087"/>
            <a:ext cx="12731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Line 25"/>
          <p:cNvSpPr>
            <a:spLocks noChangeShapeType="1"/>
          </p:cNvSpPr>
          <p:nvPr/>
        </p:nvSpPr>
        <p:spPr bwMode="auto">
          <a:xfrm>
            <a:off x="3023759" y="51435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26"/>
          <p:cNvSpPr txBox="1">
            <a:spLocks noChangeArrowheads="1"/>
          </p:cNvSpPr>
          <p:nvPr/>
        </p:nvSpPr>
        <p:spPr bwMode="auto">
          <a:xfrm>
            <a:off x="2980897" y="5126037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96969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transport</a:t>
            </a:r>
          </a:p>
        </p:txBody>
      </p:sp>
      <p:sp>
        <p:nvSpPr>
          <p:cNvPr id="16" name="Line 27"/>
          <p:cNvSpPr>
            <a:spLocks noChangeShapeType="1"/>
          </p:cNvSpPr>
          <p:nvPr/>
        </p:nvSpPr>
        <p:spPr bwMode="auto">
          <a:xfrm>
            <a:off x="3031696" y="546417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8"/>
          <p:cNvSpPr>
            <a:spLocks noChangeShapeType="1"/>
          </p:cNvSpPr>
          <p:nvPr/>
        </p:nvSpPr>
        <p:spPr bwMode="auto">
          <a:xfrm>
            <a:off x="3017409" y="5773737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29"/>
          <p:cNvSpPr>
            <a:spLocks noChangeShapeType="1"/>
          </p:cNvSpPr>
          <p:nvPr/>
        </p:nvSpPr>
        <p:spPr bwMode="auto">
          <a:xfrm>
            <a:off x="3017409" y="6059487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3015822" y="4373562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ahoma" panose="020B0604030504040204" pitchFamily="34" charset="0"/>
                <a:ea typeface="宋体" panose="02010600030101010101" pitchFamily="2" charset="-122"/>
              </a:rPr>
              <a:t>application</a:t>
            </a:r>
          </a:p>
        </p:txBody>
      </p:sp>
      <p:sp>
        <p:nvSpPr>
          <p:cNvPr id="20" name="Text Box 26"/>
          <p:cNvSpPr txBox="1">
            <a:spLocks noChangeArrowheads="1"/>
          </p:cNvSpPr>
          <p:nvPr/>
        </p:nvSpPr>
        <p:spPr bwMode="auto">
          <a:xfrm>
            <a:off x="2971372" y="6030912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96969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physical</a:t>
            </a:r>
          </a:p>
        </p:txBody>
      </p: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2990422" y="5745162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96969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link</a:t>
            </a: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2980897" y="5449887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96969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network</a:t>
            </a:r>
          </a:p>
        </p:txBody>
      </p:sp>
      <p:sp>
        <p:nvSpPr>
          <p:cNvPr id="23" name="Oval 57"/>
          <p:cNvSpPr>
            <a:spLocks noChangeArrowheads="1"/>
          </p:cNvSpPr>
          <p:nvPr/>
        </p:nvSpPr>
        <p:spPr bwMode="auto">
          <a:xfrm>
            <a:off x="3149171" y="4648199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rPr>
              <a:t>process</a:t>
            </a:r>
          </a:p>
        </p:txBody>
      </p:sp>
      <p:grpSp>
        <p:nvGrpSpPr>
          <p:cNvPr id="24" name="Group 58"/>
          <p:cNvGrpSpPr>
            <a:grpSpLocks/>
          </p:cNvGrpSpPr>
          <p:nvPr/>
        </p:nvGrpSpPr>
        <p:grpSpPr bwMode="auto">
          <a:xfrm>
            <a:off x="3396821" y="5008562"/>
            <a:ext cx="546100" cy="225425"/>
            <a:chOff x="1287" y="2524"/>
            <a:chExt cx="260" cy="100"/>
          </a:xfrm>
        </p:grpSpPr>
        <p:sp>
          <p:nvSpPr>
            <p:cNvPr id="25" name="Rectangle 5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zh-CN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" name="Rectangle 60"/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zh-CN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Rectangle 61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zh-CN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Rectangle 62"/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zh-CN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6714696" y="4300536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6676597" y="4354512"/>
            <a:ext cx="12731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>
            <a:off x="6686121" y="51149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Text Box 26"/>
          <p:cNvSpPr txBox="1">
            <a:spLocks noChangeArrowheads="1"/>
          </p:cNvSpPr>
          <p:nvPr/>
        </p:nvSpPr>
        <p:spPr bwMode="auto">
          <a:xfrm>
            <a:off x="6643260" y="5097462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96969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transport</a:t>
            </a:r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>
            <a:off x="6694059" y="54356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28"/>
          <p:cNvSpPr>
            <a:spLocks noChangeShapeType="1"/>
          </p:cNvSpPr>
          <p:nvPr/>
        </p:nvSpPr>
        <p:spPr bwMode="auto">
          <a:xfrm>
            <a:off x="6679771" y="5745162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29"/>
          <p:cNvSpPr>
            <a:spLocks noChangeShapeType="1"/>
          </p:cNvSpPr>
          <p:nvPr/>
        </p:nvSpPr>
        <p:spPr bwMode="auto">
          <a:xfrm>
            <a:off x="6679771" y="6030912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26"/>
          <p:cNvSpPr txBox="1">
            <a:spLocks noChangeArrowheads="1"/>
          </p:cNvSpPr>
          <p:nvPr/>
        </p:nvSpPr>
        <p:spPr bwMode="auto">
          <a:xfrm>
            <a:off x="6678185" y="4344987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Tahoma" panose="020B0604030504040204" pitchFamily="34" charset="0"/>
                <a:ea typeface="宋体" panose="02010600030101010101" pitchFamily="2" charset="-122"/>
              </a:rPr>
              <a:t>application</a:t>
            </a:r>
          </a:p>
        </p:txBody>
      </p:sp>
      <p:sp>
        <p:nvSpPr>
          <p:cNvPr id="37" name="Text Box 26"/>
          <p:cNvSpPr txBox="1">
            <a:spLocks noChangeArrowheads="1"/>
          </p:cNvSpPr>
          <p:nvPr/>
        </p:nvSpPr>
        <p:spPr bwMode="auto">
          <a:xfrm>
            <a:off x="6633735" y="6002337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96969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physical</a:t>
            </a:r>
          </a:p>
        </p:txBody>
      </p:sp>
      <p:sp>
        <p:nvSpPr>
          <p:cNvPr id="38" name="Text Box 26"/>
          <p:cNvSpPr txBox="1">
            <a:spLocks noChangeArrowheads="1"/>
          </p:cNvSpPr>
          <p:nvPr/>
        </p:nvSpPr>
        <p:spPr bwMode="auto">
          <a:xfrm>
            <a:off x="6652785" y="5716587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96969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link</a:t>
            </a:r>
          </a:p>
        </p:txBody>
      </p:sp>
      <p:sp>
        <p:nvSpPr>
          <p:cNvPr id="39" name="Text Box 26"/>
          <p:cNvSpPr txBox="1">
            <a:spLocks noChangeArrowheads="1"/>
          </p:cNvSpPr>
          <p:nvPr/>
        </p:nvSpPr>
        <p:spPr bwMode="auto">
          <a:xfrm>
            <a:off x="6643260" y="5421312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rgbClr val="96969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network</a:t>
            </a:r>
          </a:p>
        </p:txBody>
      </p:sp>
      <p:sp>
        <p:nvSpPr>
          <p:cNvPr id="40" name="Oval 78"/>
          <p:cNvSpPr>
            <a:spLocks noChangeArrowheads="1"/>
          </p:cNvSpPr>
          <p:nvPr/>
        </p:nvSpPr>
        <p:spPr bwMode="auto">
          <a:xfrm>
            <a:off x="6811534" y="4619624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rPr>
              <a:t>process</a:t>
            </a:r>
          </a:p>
        </p:txBody>
      </p:sp>
      <p:grpSp>
        <p:nvGrpSpPr>
          <p:cNvPr id="41" name="Group 79"/>
          <p:cNvGrpSpPr>
            <a:grpSpLocks/>
          </p:cNvGrpSpPr>
          <p:nvPr/>
        </p:nvGrpSpPr>
        <p:grpSpPr bwMode="auto">
          <a:xfrm>
            <a:off x="7059184" y="4979987"/>
            <a:ext cx="546100" cy="225425"/>
            <a:chOff x="1287" y="2524"/>
            <a:chExt cx="260" cy="100"/>
          </a:xfrm>
        </p:grpSpPr>
        <p:sp>
          <p:nvSpPr>
            <p:cNvPr id="42" name="Rectangle 80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zh-CN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3" name="Rectangle 81"/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zh-CN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4" name="Rectangle 82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zh-CN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5" name="Rectangle 83"/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zh-CN" altLang="zh-CN" sz="24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46" name="Line 88"/>
          <p:cNvSpPr>
            <a:spLocks noChangeShapeType="1"/>
          </p:cNvSpPr>
          <p:nvPr/>
        </p:nvSpPr>
        <p:spPr bwMode="auto">
          <a:xfrm flipH="1">
            <a:off x="7868809" y="4751386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89"/>
          <p:cNvSpPr>
            <a:spLocks noChangeShapeType="1"/>
          </p:cNvSpPr>
          <p:nvPr/>
        </p:nvSpPr>
        <p:spPr bwMode="auto">
          <a:xfrm>
            <a:off x="8094234" y="5176836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90"/>
          <p:cNvSpPr>
            <a:spLocks noChangeShapeType="1"/>
          </p:cNvSpPr>
          <p:nvPr/>
        </p:nvSpPr>
        <p:spPr bwMode="auto">
          <a:xfrm flipH="1">
            <a:off x="8118046" y="5676899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Text Box 56"/>
          <p:cNvSpPr txBox="1">
            <a:spLocks noChangeArrowheads="1"/>
          </p:cNvSpPr>
          <p:nvPr/>
        </p:nvSpPr>
        <p:spPr bwMode="auto">
          <a:xfrm>
            <a:off x="5031946" y="4432299"/>
            <a:ext cx="1026243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socket</a:t>
            </a:r>
          </a:p>
        </p:txBody>
      </p:sp>
      <p:sp>
        <p:nvSpPr>
          <p:cNvPr id="50" name="Line 92"/>
          <p:cNvSpPr>
            <a:spLocks noChangeShapeType="1"/>
          </p:cNvSpPr>
          <p:nvPr/>
        </p:nvSpPr>
        <p:spPr bwMode="auto">
          <a:xfrm flipV="1">
            <a:off x="4034997" y="4632325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93"/>
          <p:cNvSpPr>
            <a:spLocks noChangeShapeType="1"/>
          </p:cNvSpPr>
          <p:nvPr/>
        </p:nvSpPr>
        <p:spPr bwMode="auto">
          <a:xfrm flipH="1" flipV="1">
            <a:off x="5970160" y="4621212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2" name="Group 96"/>
          <p:cNvGrpSpPr>
            <a:grpSpLocks/>
          </p:cNvGrpSpPr>
          <p:nvPr/>
        </p:nvGrpSpPr>
        <p:grpSpPr bwMode="auto">
          <a:xfrm>
            <a:off x="1825196" y="5686424"/>
            <a:ext cx="719138" cy="773112"/>
            <a:chOff x="-44" y="1473"/>
            <a:chExt cx="981" cy="1105"/>
          </a:xfrm>
        </p:grpSpPr>
        <p:pic>
          <p:nvPicPr>
            <p:cNvPr id="53" name="Picture 97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" name="Freeform 9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6756538 w 356"/>
                <a:gd name="T3" fmla="*/ 23644115 h 368"/>
                <a:gd name="T4" fmla="*/ 185958667 w 356"/>
                <a:gd name="T5" fmla="*/ 492767722 h 368"/>
                <a:gd name="T6" fmla="*/ 40982472 w 356"/>
                <a:gd name="T7" fmla="*/ 6162601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5" name="Group 99"/>
          <p:cNvGrpSpPr>
            <a:grpSpLocks/>
          </p:cNvGrpSpPr>
          <p:nvPr/>
        </p:nvGrpSpPr>
        <p:grpSpPr bwMode="auto">
          <a:xfrm flipH="1">
            <a:off x="8521271" y="5881687"/>
            <a:ext cx="719138" cy="773113"/>
            <a:chOff x="-44" y="1473"/>
            <a:chExt cx="981" cy="1105"/>
          </a:xfrm>
        </p:grpSpPr>
        <p:pic>
          <p:nvPicPr>
            <p:cNvPr id="56" name="Picture 100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Freeform 10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6756538 w 356"/>
                <a:gd name="T3" fmla="*/ 23644115 h 368"/>
                <a:gd name="T4" fmla="*/ 185958667 w 356"/>
                <a:gd name="T5" fmla="*/ 492767722 h 368"/>
                <a:gd name="T6" fmla="*/ 40982472 w 356"/>
                <a:gd name="T7" fmla="*/ 6162601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60" name="日期占位符 8">
            <a:extLst>
              <a:ext uri="{FF2B5EF4-FFF2-40B4-BE49-F238E27FC236}">
                <a16:creationId xmlns:a16="http://schemas.microsoft.com/office/drawing/2014/main" id="{E53CD360-A1F6-054D-A80B-065F6780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1853583" cy="365125"/>
          </a:xfrm>
        </p:spPr>
        <p:txBody>
          <a:bodyPr/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6.1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概述和传输层服务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962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传输层和网络层的关系：一个类比例子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9086" y="1510758"/>
            <a:ext cx="6008914" cy="451448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altLang="zh-CN" sz="2600" dirty="0"/>
              <a:t>设</a:t>
            </a:r>
            <a:r>
              <a:rPr lang="zh-CN" altLang="en-US" sz="2600" dirty="0"/>
              <a:t>想</a:t>
            </a:r>
            <a:r>
              <a:rPr lang="en-US" altLang="zh-CN" sz="2600" dirty="0"/>
              <a:t>A</a:t>
            </a:r>
            <a:r>
              <a:rPr lang="zh-CN" altLang="en-US" sz="2600" dirty="0"/>
              <a:t>家庭有</a:t>
            </a:r>
            <a:r>
              <a:rPr lang="en-US" altLang="zh-CN" sz="2600" dirty="0"/>
              <a:t>12</a:t>
            </a:r>
            <a:r>
              <a:rPr lang="zh-CN" altLang="en-US" sz="2600" dirty="0"/>
              <a:t>个孩子，</a:t>
            </a:r>
            <a:r>
              <a:rPr lang="en-US" altLang="zh-CN" sz="2600" dirty="0"/>
              <a:t>B</a:t>
            </a:r>
            <a:r>
              <a:rPr lang="zh-CN" altLang="en-US" sz="2600" dirty="0"/>
              <a:t>家庭也有</a:t>
            </a:r>
            <a:r>
              <a:rPr lang="en-US" altLang="zh-CN" sz="2600" dirty="0"/>
              <a:t>12</a:t>
            </a:r>
            <a:r>
              <a:rPr lang="zh-CN" altLang="en-US" sz="2600" dirty="0"/>
              <a:t>个孩子，他们每周通过手写信件进行联系：</a:t>
            </a:r>
            <a:endParaRPr lang="en-US" altLang="zh-CN" sz="2600" dirty="0"/>
          </a:p>
          <a:p>
            <a:pPr lvl="1">
              <a:lnSpc>
                <a:spcPct val="130000"/>
              </a:lnSpc>
            </a:pPr>
            <a:r>
              <a:rPr lang="en-US" altLang="zh-CN" dirty="0"/>
              <a:t>A</a:t>
            </a:r>
            <a:r>
              <a:rPr lang="zh-CN" altLang="en-US" dirty="0"/>
              <a:t>家庭推选</a:t>
            </a:r>
            <a:r>
              <a:rPr lang="en-US" altLang="zh-CN" dirty="0">
                <a:solidFill>
                  <a:srgbClr val="C00000"/>
                </a:solidFill>
              </a:rPr>
              <a:t>Ann</a:t>
            </a:r>
            <a:r>
              <a:rPr lang="en-US" altLang="zh-CN" dirty="0"/>
              <a:t>，B家庭推选</a:t>
            </a:r>
            <a:r>
              <a:rPr lang="en-US" altLang="zh-CN" dirty="0">
                <a:solidFill>
                  <a:srgbClr val="C00000"/>
                </a:solidFill>
              </a:rPr>
              <a:t>Bill</a:t>
            </a:r>
            <a:r>
              <a:rPr lang="en-US" altLang="zh-CN" dirty="0"/>
              <a:t>，分别负责各自家庭的信件收发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Ann和Bill定期</a:t>
            </a:r>
            <a:r>
              <a:rPr lang="zh-CN" altLang="en-US" dirty="0"/>
              <a:t>收集家庭中其他孩子的信件，投递到门口的邮筒里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/>
              <a:t>Ann和Bill定期打开</a:t>
            </a:r>
            <a:r>
              <a:rPr lang="zh-CN" altLang="en-US" dirty="0"/>
              <a:t>家庭邮箱，取出里面的信件，分发给其他孩子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邮政系统</a:t>
            </a:r>
            <a:r>
              <a:rPr lang="zh-CN" altLang="en-US" dirty="0"/>
              <a:t>负责将邮筒里的信件投递到收信人的家庭邮箱里</a:t>
            </a:r>
            <a:endParaRPr lang="en-US" altLang="zh-CN" dirty="0"/>
          </a:p>
          <a:p>
            <a:pPr marL="0" indent="0">
              <a:lnSpc>
                <a:spcPct val="130000"/>
              </a:lnSpc>
              <a:buNone/>
            </a:pPr>
            <a:endParaRPr lang="en-US" altLang="zh-CN" sz="2200" dirty="0"/>
          </a:p>
          <a:p>
            <a:endParaRPr lang="en-US" altLang="zh-CN" sz="2400" dirty="0"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7148945" y="1506934"/>
            <a:ext cx="4328541" cy="4175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类比：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进程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孩子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进程间通信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= 孩子之间通信</a:t>
            </a: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应用报文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= 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信件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传输层</a:t>
            </a:r>
            <a:r>
              <a:rPr lang="en-US" altLang="zh-CN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= Ann </a:t>
            </a:r>
            <a:r>
              <a:rPr lang="zh-CN" altLang="en-US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en-US" altLang="zh-CN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Bill</a:t>
            </a:r>
            <a:r>
              <a:rPr lang="zh-CN" altLang="en-US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（提供人到人的服务）</a:t>
            </a:r>
            <a:endParaRPr lang="en-US" altLang="zh-CN" sz="22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终端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家庭住宅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网络层</a:t>
            </a:r>
            <a:r>
              <a:rPr lang="en-US" altLang="zh-CN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zh-CN" altLang="en-US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邮政系统（提供门到门的服务）</a:t>
            </a:r>
            <a:endParaRPr lang="en-US" altLang="zh-CN" sz="22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04955" y="5833130"/>
            <a:ext cx="6211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传输层依赖网络层服务，并扩展网络层服务</a:t>
            </a:r>
            <a:endParaRPr lang="en-US" altLang="zh-CN" sz="2400" b="1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日期占位符 8">
            <a:extLst>
              <a:ext uri="{FF2B5EF4-FFF2-40B4-BE49-F238E27FC236}">
                <a16:creationId xmlns:a16="http://schemas.microsoft.com/office/drawing/2014/main" id="{2B16C26F-EE65-FA44-B628-0A3EF4137A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1853583" cy="365125"/>
          </a:xfrm>
        </p:spPr>
        <p:txBody>
          <a:bodyPr/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6.1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概述和传输层服务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984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传输层提供什么服务？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6533863" cy="4845592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sz="2600" dirty="0"/>
              <a:t>因特网的网络层提供</a:t>
            </a:r>
            <a:r>
              <a:rPr lang="en-US" altLang="zh-CN" sz="2600" b="1" dirty="0">
                <a:solidFill>
                  <a:srgbClr val="C00000"/>
                </a:solidFill>
              </a:rPr>
              <a:t>“</a:t>
            </a:r>
            <a:r>
              <a:rPr lang="zh-CN" altLang="en-US" sz="2600" b="1" dirty="0">
                <a:solidFill>
                  <a:srgbClr val="C00000"/>
                </a:solidFill>
              </a:rPr>
              <a:t>尽力而为</a:t>
            </a:r>
            <a:r>
              <a:rPr lang="en-US" altLang="zh-CN" sz="2600" b="1" dirty="0">
                <a:solidFill>
                  <a:srgbClr val="C00000"/>
                </a:solidFill>
              </a:rPr>
              <a:t>”</a:t>
            </a:r>
            <a:r>
              <a:rPr lang="zh-CN" altLang="en-US" sz="2600" dirty="0"/>
              <a:t>的服务：</a:t>
            </a:r>
            <a:endParaRPr lang="en-US" altLang="zh-CN" sz="2600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网络层尽最大努力在终端间交付分组，但不提供任何承诺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具体来说，不保证交付，不保证按序交付，不保证数据完整，不保证延迟，不保证带宽等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sz="2600" dirty="0"/>
              <a:t>传输层的</a:t>
            </a:r>
            <a:r>
              <a:rPr lang="zh-CN" altLang="en-US" sz="2600" b="1" dirty="0">
                <a:solidFill>
                  <a:srgbClr val="C00000"/>
                </a:solidFill>
              </a:rPr>
              <a:t>有所为</a:t>
            </a:r>
            <a:r>
              <a:rPr lang="zh-CN" altLang="en-US" sz="2600" dirty="0"/>
              <a:t>、</a:t>
            </a:r>
            <a:r>
              <a:rPr lang="zh-CN" altLang="en-US" sz="2600" b="1" dirty="0">
                <a:solidFill>
                  <a:srgbClr val="C00000"/>
                </a:solidFill>
              </a:rPr>
              <a:t>有所不为</a:t>
            </a:r>
            <a:r>
              <a:rPr lang="en-US" altLang="zh-CN" sz="2600" dirty="0"/>
              <a:t>: 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传输层可以通过差错恢复、重排序等手段提供可靠、按序的交付服务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但传输层无法提供延迟保证、带宽保证等服务</a:t>
            </a:r>
            <a:endParaRPr lang="en-US" altLang="zh-CN" dirty="0"/>
          </a:p>
          <a:p>
            <a:pPr>
              <a:lnSpc>
                <a:spcPct val="130000"/>
              </a:lnSpc>
            </a:pPr>
            <a:endParaRPr lang="en-US" altLang="zh-CN" dirty="0">
              <a:solidFill>
                <a:srgbClr val="7030A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sp>
        <p:nvSpPr>
          <p:cNvPr id="5" name="Freeform 275"/>
          <p:cNvSpPr>
            <a:spLocks/>
          </p:cNvSpPr>
          <p:nvPr/>
        </p:nvSpPr>
        <p:spPr bwMode="auto">
          <a:xfrm>
            <a:off x="9705688" y="3725865"/>
            <a:ext cx="1314450" cy="674687"/>
          </a:xfrm>
          <a:custGeom>
            <a:avLst/>
            <a:gdLst>
              <a:gd name="T0" fmla="*/ 2147483646 w 828"/>
              <a:gd name="T1" fmla="*/ 2147483646 h 425"/>
              <a:gd name="T2" fmla="*/ 2147483646 w 828"/>
              <a:gd name="T3" fmla="*/ 2147483646 h 425"/>
              <a:gd name="T4" fmla="*/ 2147483646 w 828"/>
              <a:gd name="T5" fmla="*/ 2147483646 h 425"/>
              <a:gd name="T6" fmla="*/ 2147483646 w 828"/>
              <a:gd name="T7" fmla="*/ 2147483646 h 425"/>
              <a:gd name="T8" fmla="*/ 2147483646 w 828"/>
              <a:gd name="T9" fmla="*/ 2147483646 h 425"/>
              <a:gd name="T10" fmla="*/ 2147483646 w 828"/>
              <a:gd name="T11" fmla="*/ 2147483646 h 425"/>
              <a:gd name="T12" fmla="*/ 2147483646 w 828"/>
              <a:gd name="T13" fmla="*/ 2147483646 h 425"/>
              <a:gd name="T14" fmla="*/ 2147483646 w 828"/>
              <a:gd name="T15" fmla="*/ 2147483646 h 425"/>
              <a:gd name="T16" fmla="*/ 2147483646 w 828"/>
              <a:gd name="T17" fmla="*/ 2147483646 h 425"/>
              <a:gd name="T18" fmla="*/ 2147483646 w 828"/>
              <a:gd name="T19" fmla="*/ 2147483646 h 425"/>
              <a:gd name="T20" fmla="*/ 2147483646 w 828"/>
              <a:gd name="T21" fmla="*/ 2147483646 h 425"/>
              <a:gd name="T22" fmla="*/ 2147483646 w 828"/>
              <a:gd name="T23" fmla="*/ 2147483646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276"/>
          <p:cNvSpPr>
            <a:spLocks/>
          </p:cNvSpPr>
          <p:nvPr/>
        </p:nvSpPr>
        <p:spPr bwMode="auto">
          <a:xfrm>
            <a:off x="9724739" y="2200277"/>
            <a:ext cx="1730375" cy="1044575"/>
          </a:xfrm>
          <a:custGeom>
            <a:avLst/>
            <a:gdLst>
              <a:gd name="T0" fmla="*/ 2147483646 w 765"/>
              <a:gd name="T1" fmla="*/ 2147483646 h 459"/>
              <a:gd name="T2" fmla="*/ 2147483646 w 765"/>
              <a:gd name="T3" fmla="*/ 2147483646 h 459"/>
              <a:gd name="T4" fmla="*/ 2147483646 w 765"/>
              <a:gd name="T5" fmla="*/ 2147483646 h 459"/>
              <a:gd name="T6" fmla="*/ 2147483646 w 765"/>
              <a:gd name="T7" fmla="*/ 2147483646 h 459"/>
              <a:gd name="T8" fmla="*/ 2147483646 w 765"/>
              <a:gd name="T9" fmla="*/ 2147483646 h 459"/>
              <a:gd name="T10" fmla="*/ 2147483646 w 765"/>
              <a:gd name="T11" fmla="*/ 2147483646 h 459"/>
              <a:gd name="T12" fmla="*/ 2147483646 w 765"/>
              <a:gd name="T13" fmla="*/ 2147483646 h 459"/>
              <a:gd name="T14" fmla="*/ 2147483646 w 765"/>
              <a:gd name="T15" fmla="*/ 2147483646 h 459"/>
              <a:gd name="T16" fmla="*/ 2147483646 w 765"/>
              <a:gd name="T17" fmla="*/ 2147483646 h 459"/>
              <a:gd name="T18" fmla="*/ 2147483646 w 765"/>
              <a:gd name="T19" fmla="*/ 2147483646 h 459"/>
              <a:gd name="T20" fmla="*/ 2147483646 w 765"/>
              <a:gd name="T21" fmla="*/ 2147483646 h 459"/>
              <a:gd name="T22" fmla="*/ 2147483646 w 765"/>
              <a:gd name="T23" fmla="*/ 2147483646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277"/>
          <p:cNvSpPr>
            <a:spLocks/>
          </p:cNvSpPr>
          <p:nvPr/>
        </p:nvSpPr>
        <p:spPr bwMode="auto">
          <a:xfrm>
            <a:off x="7773700" y="1917702"/>
            <a:ext cx="1644650" cy="1071563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278"/>
          <p:cNvGrpSpPr>
            <a:grpSpLocks/>
          </p:cNvGrpSpPr>
          <p:nvPr/>
        </p:nvGrpSpPr>
        <p:grpSpPr bwMode="auto">
          <a:xfrm>
            <a:off x="7861013" y="3252789"/>
            <a:ext cx="1458912" cy="933450"/>
            <a:chOff x="2889" y="1631"/>
            <a:chExt cx="980" cy="743"/>
          </a:xfrm>
        </p:grpSpPr>
        <p:sp>
          <p:nvSpPr>
            <p:cNvPr id="9" name="Rectangle 27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" name="AutoShape 28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solidFill>
                  <a:srgbClr val="00CC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281"/>
          <p:cNvGrpSpPr>
            <a:grpSpLocks/>
          </p:cNvGrpSpPr>
          <p:nvPr/>
        </p:nvGrpSpPr>
        <p:grpSpPr bwMode="auto">
          <a:xfrm>
            <a:off x="8773825" y="2100264"/>
            <a:ext cx="336550" cy="531812"/>
            <a:chOff x="3796" y="1043"/>
            <a:chExt cx="865" cy="1237"/>
          </a:xfrm>
        </p:grpSpPr>
        <p:sp>
          <p:nvSpPr>
            <p:cNvPr id="12" name="Line 282"/>
            <p:cNvSpPr>
              <a:spLocks noChangeShapeType="1"/>
            </p:cNvSpPr>
            <p:nvPr/>
          </p:nvSpPr>
          <p:spPr bwMode="auto">
            <a:xfrm flipH="1">
              <a:off x="3992" y="1481"/>
              <a:ext cx="235" cy="7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Line 283"/>
            <p:cNvSpPr>
              <a:spLocks noChangeShapeType="1"/>
            </p:cNvSpPr>
            <p:nvPr/>
          </p:nvSpPr>
          <p:spPr bwMode="auto">
            <a:xfrm>
              <a:off x="4227" y="1481"/>
              <a:ext cx="236" cy="72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Line 284"/>
            <p:cNvSpPr>
              <a:spLocks noChangeShapeType="1"/>
            </p:cNvSpPr>
            <p:nvPr/>
          </p:nvSpPr>
          <p:spPr bwMode="auto">
            <a:xfrm>
              <a:off x="3992" y="2201"/>
              <a:ext cx="235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Line 285"/>
            <p:cNvSpPr>
              <a:spLocks noChangeShapeType="1"/>
            </p:cNvSpPr>
            <p:nvPr/>
          </p:nvSpPr>
          <p:spPr bwMode="auto">
            <a:xfrm flipH="1">
              <a:off x="4227" y="2201"/>
              <a:ext cx="236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286"/>
            <p:cNvSpPr>
              <a:spLocks noChangeShapeType="1"/>
            </p:cNvSpPr>
            <p:nvPr/>
          </p:nvSpPr>
          <p:spPr bwMode="auto">
            <a:xfrm>
              <a:off x="4227" y="1497"/>
              <a:ext cx="0" cy="78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287"/>
            <p:cNvSpPr>
              <a:spLocks noChangeShapeType="1"/>
            </p:cNvSpPr>
            <p:nvPr/>
          </p:nvSpPr>
          <p:spPr bwMode="auto">
            <a:xfrm flipV="1">
              <a:off x="3992" y="2127"/>
              <a:ext cx="235" cy="7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288"/>
            <p:cNvSpPr>
              <a:spLocks noChangeShapeType="1"/>
            </p:cNvSpPr>
            <p:nvPr/>
          </p:nvSpPr>
          <p:spPr bwMode="auto">
            <a:xfrm flipH="1" flipV="1">
              <a:off x="4227" y="2127"/>
              <a:ext cx="236" cy="7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289"/>
            <p:cNvSpPr>
              <a:spLocks noChangeShapeType="1"/>
            </p:cNvSpPr>
            <p:nvPr/>
          </p:nvSpPr>
          <p:spPr bwMode="auto">
            <a:xfrm>
              <a:off x="4092" y="1890"/>
              <a:ext cx="135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290"/>
            <p:cNvSpPr>
              <a:spLocks noChangeShapeType="1"/>
            </p:cNvSpPr>
            <p:nvPr/>
          </p:nvSpPr>
          <p:spPr bwMode="auto">
            <a:xfrm flipV="1">
              <a:off x="4227" y="1890"/>
              <a:ext cx="143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291"/>
            <p:cNvSpPr>
              <a:spLocks noChangeShapeType="1"/>
            </p:cNvSpPr>
            <p:nvPr/>
          </p:nvSpPr>
          <p:spPr bwMode="auto">
            <a:xfrm>
              <a:off x="4047" y="1996"/>
              <a:ext cx="175" cy="8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292"/>
            <p:cNvSpPr>
              <a:spLocks noChangeShapeType="1"/>
            </p:cNvSpPr>
            <p:nvPr/>
          </p:nvSpPr>
          <p:spPr bwMode="auto">
            <a:xfrm flipV="1">
              <a:off x="4227" y="2012"/>
              <a:ext cx="176" cy="7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Line 293"/>
            <p:cNvSpPr>
              <a:spLocks noChangeShapeType="1"/>
            </p:cNvSpPr>
            <p:nvPr/>
          </p:nvSpPr>
          <p:spPr bwMode="auto">
            <a:xfrm flipV="1">
              <a:off x="4227" y="1782"/>
              <a:ext cx="90" cy="2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Line 294"/>
            <p:cNvSpPr>
              <a:spLocks noChangeShapeType="1"/>
            </p:cNvSpPr>
            <p:nvPr/>
          </p:nvSpPr>
          <p:spPr bwMode="auto">
            <a:xfrm flipV="1">
              <a:off x="4227" y="1632"/>
              <a:ext cx="57" cy="2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Line 295"/>
            <p:cNvSpPr>
              <a:spLocks noChangeShapeType="1"/>
            </p:cNvSpPr>
            <p:nvPr/>
          </p:nvSpPr>
          <p:spPr bwMode="auto">
            <a:xfrm>
              <a:off x="4126" y="1772"/>
              <a:ext cx="109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96"/>
            <p:cNvSpPr>
              <a:spLocks noChangeShapeType="1"/>
            </p:cNvSpPr>
            <p:nvPr/>
          </p:nvSpPr>
          <p:spPr bwMode="auto">
            <a:xfrm>
              <a:off x="4175" y="1625"/>
              <a:ext cx="63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7" name="Group 297"/>
            <p:cNvGrpSpPr>
              <a:grpSpLocks/>
            </p:cNvGrpSpPr>
            <p:nvPr/>
          </p:nvGrpSpPr>
          <p:grpSpPr bwMode="auto">
            <a:xfrm>
              <a:off x="4269" y="1415"/>
              <a:ext cx="392" cy="137"/>
              <a:chOff x="4227" y="1360"/>
              <a:chExt cx="863" cy="270"/>
            </a:xfrm>
          </p:grpSpPr>
          <p:sp>
            <p:nvSpPr>
              <p:cNvPr id="38" name="Line 298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9" name="Line 299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0" name="Line 300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" name="Line 301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8" name="Group 302"/>
            <p:cNvGrpSpPr>
              <a:grpSpLocks/>
            </p:cNvGrpSpPr>
            <p:nvPr/>
          </p:nvGrpSpPr>
          <p:grpSpPr bwMode="auto">
            <a:xfrm rot="5700496">
              <a:off x="4053" y="1170"/>
              <a:ext cx="392" cy="137"/>
              <a:chOff x="4227" y="1360"/>
              <a:chExt cx="863" cy="270"/>
            </a:xfrm>
          </p:grpSpPr>
          <p:sp>
            <p:nvSpPr>
              <p:cNvPr id="34" name="Line 303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" name="Line 304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" name="Line 305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" name="Line 306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9" name="Group 307"/>
            <p:cNvGrpSpPr>
              <a:grpSpLocks/>
            </p:cNvGrpSpPr>
            <p:nvPr/>
          </p:nvGrpSpPr>
          <p:grpSpPr bwMode="auto">
            <a:xfrm rot="10800000">
              <a:off x="3796" y="1402"/>
              <a:ext cx="392" cy="137"/>
              <a:chOff x="4227" y="1360"/>
              <a:chExt cx="863" cy="270"/>
            </a:xfrm>
          </p:grpSpPr>
          <p:sp>
            <p:nvSpPr>
              <p:cNvPr id="30" name="Line 308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" name="Line 309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" name="Line 310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" name="Line 311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42" name="Oval 312"/>
          <p:cNvSpPr>
            <a:spLocks noChangeArrowheads="1"/>
          </p:cNvSpPr>
          <p:nvPr/>
        </p:nvSpPr>
        <p:spPr bwMode="auto">
          <a:xfrm>
            <a:off x="9831101" y="3921126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Line 313"/>
          <p:cNvSpPr>
            <a:spLocks noChangeShapeType="1"/>
          </p:cNvSpPr>
          <p:nvPr/>
        </p:nvSpPr>
        <p:spPr bwMode="auto">
          <a:xfrm>
            <a:off x="9831100" y="3913190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314"/>
          <p:cNvSpPr>
            <a:spLocks noChangeShapeType="1"/>
          </p:cNvSpPr>
          <p:nvPr/>
        </p:nvSpPr>
        <p:spPr bwMode="auto">
          <a:xfrm>
            <a:off x="10189875" y="3913190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Rectangle 315"/>
          <p:cNvSpPr>
            <a:spLocks noChangeArrowheads="1"/>
          </p:cNvSpPr>
          <p:nvPr/>
        </p:nvSpPr>
        <p:spPr bwMode="auto">
          <a:xfrm>
            <a:off x="9831100" y="3913190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Oval 316"/>
          <p:cNvSpPr>
            <a:spLocks noChangeArrowheads="1"/>
          </p:cNvSpPr>
          <p:nvPr/>
        </p:nvSpPr>
        <p:spPr bwMode="auto">
          <a:xfrm>
            <a:off x="9827926" y="3844927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7" name="Group 317"/>
          <p:cNvGrpSpPr>
            <a:grpSpLocks/>
          </p:cNvGrpSpPr>
          <p:nvPr/>
        </p:nvGrpSpPr>
        <p:grpSpPr bwMode="auto">
          <a:xfrm>
            <a:off x="9913650" y="3868740"/>
            <a:ext cx="179388" cy="65087"/>
            <a:chOff x="2848" y="848"/>
            <a:chExt cx="140" cy="98"/>
          </a:xfrm>
        </p:grpSpPr>
        <p:sp>
          <p:nvSpPr>
            <p:cNvPr id="48" name="Line 31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31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32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" name="Group 321"/>
          <p:cNvGrpSpPr>
            <a:grpSpLocks/>
          </p:cNvGrpSpPr>
          <p:nvPr/>
        </p:nvGrpSpPr>
        <p:grpSpPr bwMode="auto">
          <a:xfrm flipV="1">
            <a:off x="9913650" y="3868740"/>
            <a:ext cx="179388" cy="65087"/>
            <a:chOff x="2848" y="848"/>
            <a:chExt cx="140" cy="98"/>
          </a:xfrm>
        </p:grpSpPr>
        <p:sp>
          <p:nvSpPr>
            <p:cNvPr id="52" name="Line 32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32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32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5" name="Oval 325"/>
          <p:cNvSpPr>
            <a:spLocks noChangeArrowheads="1"/>
          </p:cNvSpPr>
          <p:nvPr/>
        </p:nvSpPr>
        <p:spPr bwMode="auto">
          <a:xfrm>
            <a:off x="10186701" y="4200526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Line 326"/>
          <p:cNvSpPr>
            <a:spLocks noChangeShapeType="1"/>
          </p:cNvSpPr>
          <p:nvPr/>
        </p:nvSpPr>
        <p:spPr bwMode="auto">
          <a:xfrm>
            <a:off x="10186700" y="4192590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327"/>
          <p:cNvSpPr>
            <a:spLocks noChangeShapeType="1"/>
          </p:cNvSpPr>
          <p:nvPr/>
        </p:nvSpPr>
        <p:spPr bwMode="auto">
          <a:xfrm>
            <a:off x="10545475" y="4192590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Rectangle 328"/>
          <p:cNvSpPr>
            <a:spLocks noChangeArrowheads="1"/>
          </p:cNvSpPr>
          <p:nvPr/>
        </p:nvSpPr>
        <p:spPr bwMode="auto">
          <a:xfrm>
            <a:off x="10186700" y="4192590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Oval 329"/>
          <p:cNvSpPr>
            <a:spLocks noChangeArrowheads="1"/>
          </p:cNvSpPr>
          <p:nvPr/>
        </p:nvSpPr>
        <p:spPr bwMode="auto">
          <a:xfrm>
            <a:off x="10183526" y="4124327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0" name="Group 330"/>
          <p:cNvGrpSpPr>
            <a:grpSpLocks/>
          </p:cNvGrpSpPr>
          <p:nvPr/>
        </p:nvGrpSpPr>
        <p:grpSpPr bwMode="auto">
          <a:xfrm>
            <a:off x="10269250" y="4148140"/>
            <a:ext cx="179388" cy="65087"/>
            <a:chOff x="2848" y="848"/>
            <a:chExt cx="140" cy="98"/>
          </a:xfrm>
        </p:grpSpPr>
        <p:sp>
          <p:nvSpPr>
            <p:cNvPr id="61" name="Line 33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33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33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4" name="Group 334"/>
          <p:cNvGrpSpPr>
            <a:grpSpLocks/>
          </p:cNvGrpSpPr>
          <p:nvPr/>
        </p:nvGrpSpPr>
        <p:grpSpPr bwMode="auto">
          <a:xfrm flipV="1">
            <a:off x="10269250" y="4148140"/>
            <a:ext cx="179388" cy="65087"/>
            <a:chOff x="2848" y="848"/>
            <a:chExt cx="140" cy="98"/>
          </a:xfrm>
        </p:grpSpPr>
        <p:sp>
          <p:nvSpPr>
            <p:cNvPr id="65" name="Line 33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33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33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" name="Oval 338"/>
          <p:cNvSpPr>
            <a:spLocks noChangeArrowheads="1"/>
          </p:cNvSpPr>
          <p:nvPr/>
        </p:nvSpPr>
        <p:spPr bwMode="auto">
          <a:xfrm>
            <a:off x="10466101" y="3933826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Line 339"/>
          <p:cNvSpPr>
            <a:spLocks noChangeShapeType="1"/>
          </p:cNvSpPr>
          <p:nvPr/>
        </p:nvSpPr>
        <p:spPr bwMode="auto">
          <a:xfrm>
            <a:off x="10466100" y="3925890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340"/>
          <p:cNvSpPr>
            <a:spLocks noChangeShapeType="1"/>
          </p:cNvSpPr>
          <p:nvPr/>
        </p:nvSpPr>
        <p:spPr bwMode="auto">
          <a:xfrm>
            <a:off x="10824875" y="3925890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Rectangle 341"/>
          <p:cNvSpPr>
            <a:spLocks noChangeArrowheads="1"/>
          </p:cNvSpPr>
          <p:nvPr/>
        </p:nvSpPr>
        <p:spPr bwMode="auto">
          <a:xfrm>
            <a:off x="10466100" y="3925890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Oval 342"/>
          <p:cNvSpPr>
            <a:spLocks noChangeArrowheads="1"/>
          </p:cNvSpPr>
          <p:nvPr/>
        </p:nvSpPr>
        <p:spPr bwMode="auto">
          <a:xfrm>
            <a:off x="10462926" y="3857627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3" name="Group 343"/>
          <p:cNvGrpSpPr>
            <a:grpSpLocks/>
          </p:cNvGrpSpPr>
          <p:nvPr/>
        </p:nvGrpSpPr>
        <p:grpSpPr bwMode="auto">
          <a:xfrm>
            <a:off x="10548650" y="3881440"/>
            <a:ext cx="179388" cy="65087"/>
            <a:chOff x="2848" y="848"/>
            <a:chExt cx="140" cy="98"/>
          </a:xfrm>
        </p:grpSpPr>
        <p:sp>
          <p:nvSpPr>
            <p:cNvPr id="74" name="Line 34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34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34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" name="Group 347"/>
          <p:cNvGrpSpPr>
            <a:grpSpLocks/>
          </p:cNvGrpSpPr>
          <p:nvPr/>
        </p:nvGrpSpPr>
        <p:grpSpPr bwMode="auto">
          <a:xfrm flipV="1">
            <a:off x="10548650" y="3881440"/>
            <a:ext cx="179388" cy="65087"/>
            <a:chOff x="2848" y="848"/>
            <a:chExt cx="140" cy="98"/>
          </a:xfrm>
        </p:grpSpPr>
        <p:sp>
          <p:nvSpPr>
            <p:cNvPr id="78" name="Line 34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34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35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1" name="Oval 351"/>
          <p:cNvSpPr>
            <a:spLocks noChangeArrowheads="1"/>
          </p:cNvSpPr>
          <p:nvPr/>
        </p:nvSpPr>
        <p:spPr bwMode="auto">
          <a:xfrm>
            <a:off x="9931113" y="2771776"/>
            <a:ext cx="347662" cy="8890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Line 352"/>
          <p:cNvSpPr>
            <a:spLocks noChangeShapeType="1"/>
          </p:cNvSpPr>
          <p:nvPr/>
        </p:nvSpPr>
        <p:spPr bwMode="auto">
          <a:xfrm>
            <a:off x="9931113" y="2763839"/>
            <a:ext cx="0" cy="55562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Line 353"/>
          <p:cNvSpPr>
            <a:spLocks noChangeShapeType="1"/>
          </p:cNvSpPr>
          <p:nvPr/>
        </p:nvSpPr>
        <p:spPr bwMode="auto">
          <a:xfrm>
            <a:off x="10278775" y="2763839"/>
            <a:ext cx="0" cy="55562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Rectangle 354"/>
          <p:cNvSpPr>
            <a:spLocks noChangeArrowheads="1"/>
          </p:cNvSpPr>
          <p:nvPr/>
        </p:nvSpPr>
        <p:spPr bwMode="auto">
          <a:xfrm>
            <a:off x="9931114" y="2763840"/>
            <a:ext cx="344487" cy="53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Oval 355"/>
          <p:cNvSpPr>
            <a:spLocks noChangeArrowheads="1"/>
          </p:cNvSpPr>
          <p:nvPr/>
        </p:nvSpPr>
        <p:spPr bwMode="auto">
          <a:xfrm>
            <a:off x="9927938" y="2700340"/>
            <a:ext cx="347662" cy="103187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6" name="Group 356"/>
          <p:cNvGrpSpPr>
            <a:grpSpLocks/>
          </p:cNvGrpSpPr>
          <p:nvPr/>
        </p:nvGrpSpPr>
        <p:grpSpPr bwMode="auto">
          <a:xfrm>
            <a:off x="10012075" y="2722564"/>
            <a:ext cx="171450" cy="61912"/>
            <a:chOff x="2848" y="848"/>
            <a:chExt cx="140" cy="98"/>
          </a:xfrm>
        </p:grpSpPr>
        <p:sp>
          <p:nvSpPr>
            <p:cNvPr id="87" name="Line 35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35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35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0" name="Group 360"/>
          <p:cNvGrpSpPr>
            <a:grpSpLocks/>
          </p:cNvGrpSpPr>
          <p:nvPr/>
        </p:nvGrpSpPr>
        <p:grpSpPr bwMode="auto">
          <a:xfrm flipV="1">
            <a:off x="10012075" y="2722565"/>
            <a:ext cx="171450" cy="60325"/>
            <a:chOff x="2848" y="848"/>
            <a:chExt cx="140" cy="98"/>
          </a:xfrm>
        </p:grpSpPr>
        <p:sp>
          <p:nvSpPr>
            <p:cNvPr id="91" name="Line 36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36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36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4" name="Oval 364"/>
          <p:cNvSpPr>
            <a:spLocks noChangeArrowheads="1"/>
          </p:cNvSpPr>
          <p:nvPr/>
        </p:nvSpPr>
        <p:spPr bwMode="auto">
          <a:xfrm>
            <a:off x="9929526" y="3032126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Line 365"/>
          <p:cNvSpPr>
            <a:spLocks noChangeShapeType="1"/>
          </p:cNvSpPr>
          <p:nvPr/>
        </p:nvSpPr>
        <p:spPr bwMode="auto">
          <a:xfrm>
            <a:off x="9929525" y="3024190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Line 366"/>
          <p:cNvSpPr>
            <a:spLocks noChangeShapeType="1"/>
          </p:cNvSpPr>
          <p:nvPr/>
        </p:nvSpPr>
        <p:spPr bwMode="auto">
          <a:xfrm>
            <a:off x="10288300" y="3024190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Rectangle 367"/>
          <p:cNvSpPr>
            <a:spLocks noChangeArrowheads="1"/>
          </p:cNvSpPr>
          <p:nvPr/>
        </p:nvSpPr>
        <p:spPr bwMode="auto">
          <a:xfrm>
            <a:off x="9929525" y="3024190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" name="Oval 368"/>
          <p:cNvSpPr>
            <a:spLocks noChangeArrowheads="1"/>
          </p:cNvSpPr>
          <p:nvPr/>
        </p:nvSpPr>
        <p:spPr bwMode="auto">
          <a:xfrm>
            <a:off x="9926351" y="2955927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9" name="Group 369"/>
          <p:cNvGrpSpPr>
            <a:grpSpLocks/>
          </p:cNvGrpSpPr>
          <p:nvPr/>
        </p:nvGrpSpPr>
        <p:grpSpPr bwMode="auto">
          <a:xfrm>
            <a:off x="10012075" y="2979740"/>
            <a:ext cx="179388" cy="65087"/>
            <a:chOff x="2848" y="848"/>
            <a:chExt cx="140" cy="98"/>
          </a:xfrm>
        </p:grpSpPr>
        <p:sp>
          <p:nvSpPr>
            <p:cNvPr id="100" name="Line 37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37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37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3" name="Group 373"/>
          <p:cNvGrpSpPr>
            <a:grpSpLocks/>
          </p:cNvGrpSpPr>
          <p:nvPr/>
        </p:nvGrpSpPr>
        <p:grpSpPr bwMode="auto">
          <a:xfrm flipV="1">
            <a:off x="10012075" y="2979740"/>
            <a:ext cx="179388" cy="65087"/>
            <a:chOff x="2848" y="848"/>
            <a:chExt cx="140" cy="98"/>
          </a:xfrm>
        </p:grpSpPr>
        <p:sp>
          <p:nvSpPr>
            <p:cNvPr id="104" name="Line 37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37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37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7" name="Oval 377"/>
          <p:cNvSpPr>
            <a:spLocks noChangeArrowheads="1"/>
          </p:cNvSpPr>
          <p:nvPr/>
        </p:nvSpPr>
        <p:spPr bwMode="auto">
          <a:xfrm>
            <a:off x="10405775" y="2673352"/>
            <a:ext cx="330200" cy="857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Line 378"/>
          <p:cNvSpPr>
            <a:spLocks noChangeShapeType="1"/>
          </p:cNvSpPr>
          <p:nvPr/>
        </p:nvSpPr>
        <p:spPr bwMode="auto">
          <a:xfrm>
            <a:off x="10405775" y="2667001"/>
            <a:ext cx="0" cy="5238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Line 379"/>
          <p:cNvSpPr>
            <a:spLocks noChangeShapeType="1"/>
          </p:cNvSpPr>
          <p:nvPr/>
        </p:nvSpPr>
        <p:spPr bwMode="auto">
          <a:xfrm>
            <a:off x="10735975" y="2667001"/>
            <a:ext cx="0" cy="5238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" name="Rectangle 380"/>
          <p:cNvSpPr>
            <a:spLocks noChangeArrowheads="1"/>
          </p:cNvSpPr>
          <p:nvPr/>
        </p:nvSpPr>
        <p:spPr bwMode="auto">
          <a:xfrm>
            <a:off x="10405776" y="2667001"/>
            <a:ext cx="327025" cy="5238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1" name="Oval 381"/>
          <p:cNvSpPr>
            <a:spLocks noChangeArrowheads="1"/>
          </p:cNvSpPr>
          <p:nvPr/>
        </p:nvSpPr>
        <p:spPr bwMode="auto">
          <a:xfrm>
            <a:off x="10402600" y="2605089"/>
            <a:ext cx="330200" cy="100012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12" name="Group 382"/>
          <p:cNvGrpSpPr>
            <a:grpSpLocks/>
          </p:cNvGrpSpPr>
          <p:nvPr/>
        </p:nvGrpSpPr>
        <p:grpSpPr bwMode="auto">
          <a:xfrm>
            <a:off x="10481976" y="2627314"/>
            <a:ext cx="163513" cy="57150"/>
            <a:chOff x="2848" y="848"/>
            <a:chExt cx="140" cy="98"/>
          </a:xfrm>
        </p:grpSpPr>
        <p:sp>
          <p:nvSpPr>
            <p:cNvPr id="113" name="Line 38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Line 38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Line 38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6" name="Group 386"/>
          <p:cNvGrpSpPr>
            <a:grpSpLocks/>
          </p:cNvGrpSpPr>
          <p:nvPr/>
        </p:nvGrpSpPr>
        <p:grpSpPr bwMode="auto">
          <a:xfrm flipV="1">
            <a:off x="10481976" y="2625726"/>
            <a:ext cx="163513" cy="58738"/>
            <a:chOff x="2848" y="848"/>
            <a:chExt cx="140" cy="98"/>
          </a:xfrm>
        </p:grpSpPr>
        <p:sp>
          <p:nvSpPr>
            <p:cNvPr id="117" name="Line 38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Line 38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38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" name="Oval 390"/>
          <p:cNvSpPr>
            <a:spLocks noChangeArrowheads="1"/>
          </p:cNvSpPr>
          <p:nvPr/>
        </p:nvSpPr>
        <p:spPr bwMode="auto">
          <a:xfrm>
            <a:off x="10491501" y="3032126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Line 391"/>
          <p:cNvSpPr>
            <a:spLocks noChangeShapeType="1"/>
          </p:cNvSpPr>
          <p:nvPr/>
        </p:nvSpPr>
        <p:spPr bwMode="auto">
          <a:xfrm>
            <a:off x="10491500" y="3024190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Line 392"/>
          <p:cNvSpPr>
            <a:spLocks noChangeShapeType="1"/>
          </p:cNvSpPr>
          <p:nvPr/>
        </p:nvSpPr>
        <p:spPr bwMode="auto">
          <a:xfrm>
            <a:off x="10850275" y="3024190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" name="Rectangle 393"/>
          <p:cNvSpPr>
            <a:spLocks noChangeArrowheads="1"/>
          </p:cNvSpPr>
          <p:nvPr/>
        </p:nvSpPr>
        <p:spPr bwMode="auto">
          <a:xfrm>
            <a:off x="10491500" y="3024190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" name="Oval 394"/>
          <p:cNvSpPr>
            <a:spLocks noChangeArrowheads="1"/>
          </p:cNvSpPr>
          <p:nvPr/>
        </p:nvSpPr>
        <p:spPr bwMode="auto">
          <a:xfrm>
            <a:off x="10488326" y="2955927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25" name="Group 395"/>
          <p:cNvGrpSpPr>
            <a:grpSpLocks/>
          </p:cNvGrpSpPr>
          <p:nvPr/>
        </p:nvGrpSpPr>
        <p:grpSpPr bwMode="auto">
          <a:xfrm>
            <a:off x="10574050" y="2979740"/>
            <a:ext cx="179388" cy="65087"/>
            <a:chOff x="2848" y="848"/>
            <a:chExt cx="140" cy="98"/>
          </a:xfrm>
        </p:grpSpPr>
        <p:sp>
          <p:nvSpPr>
            <p:cNvPr id="126" name="Line 39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Line 39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" name="Line 39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9" name="Group 399"/>
          <p:cNvGrpSpPr>
            <a:grpSpLocks/>
          </p:cNvGrpSpPr>
          <p:nvPr/>
        </p:nvGrpSpPr>
        <p:grpSpPr bwMode="auto">
          <a:xfrm flipV="1">
            <a:off x="10574050" y="2979740"/>
            <a:ext cx="179388" cy="65087"/>
            <a:chOff x="2848" y="848"/>
            <a:chExt cx="140" cy="98"/>
          </a:xfrm>
        </p:grpSpPr>
        <p:sp>
          <p:nvSpPr>
            <p:cNvPr id="130" name="Line 40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Line 40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Line 40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" name="Oval 403"/>
          <p:cNvSpPr>
            <a:spLocks noChangeArrowheads="1"/>
          </p:cNvSpPr>
          <p:nvPr/>
        </p:nvSpPr>
        <p:spPr bwMode="auto">
          <a:xfrm>
            <a:off x="9081801" y="2767014"/>
            <a:ext cx="346075" cy="87312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4" name="Line 404"/>
          <p:cNvSpPr>
            <a:spLocks noChangeShapeType="1"/>
          </p:cNvSpPr>
          <p:nvPr/>
        </p:nvSpPr>
        <p:spPr bwMode="auto">
          <a:xfrm>
            <a:off x="9081800" y="2759077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Line 405"/>
          <p:cNvSpPr>
            <a:spLocks noChangeShapeType="1"/>
          </p:cNvSpPr>
          <p:nvPr/>
        </p:nvSpPr>
        <p:spPr bwMode="auto">
          <a:xfrm>
            <a:off x="9427875" y="2759077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" name="Rectangle 406"/>
          <p:cNvSpPr>
            <a:spLocks noChangeArrowheads="1"/>
          </p:cNvSpPr>
          <p:nvPr/>
        </p:nvSpPr>
        <p:spPr bwMode="auto">
          <a:xfrm>
            <a:off x="9081800" y="2759077"/>
            <a:ext cx="342900" cy="53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" name="Oval 407"/>
          <p:cNvSpPr>
            <a:spLocks noChangeArrowheads="1"/>
          </p:cNvSpPr>
          <p:nvPr/>
        </p:nvSpPr>
        <p:spPr bwMode="auto">
          <a:xfrm>
            <a:off x="9078626" y="2695576"/>
            <a:ext cx="346075" cy="103188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38" name="Group 408"/>
          <p:cNvGrpSpPr>
            <a:grpSpLocks/>
          </p:cNvGrpSpPr>
          <p:nvPr/>
        </p:nvGrpSpPr>
        <p:grpSpPr bwMode="auto">
          <a:xfrm>
            <a:off x="9162763" y="2717802"/>
            <a:ext cx="171450" cy="60325"/>
            <a:chOff x="2848" y="848"/>
            <a:chExt cx="140" cy="98"/>
          </a:xfrm>
        </p:grpSpPr>
        <p:sp>
          <p:nvSpPr>
            <p:cNvPr id="139" name="Line 40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Line 41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" name="Line 41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2" name="Group 412"/>
          <p:cNvGrpSpPr>
            <a:grpSpLocks/>
          </p:cNvGrpSpPr>
          <p:nvPr/>
        </p:nvGrpSpPr>
        <p:grpSpPr bwMode="auto">
          <a:xfrm flipV="1">
            <a:off x="9162763" y="2717801"/>
            <a:ext cx="171450" cy="58738"/>
            <a:chOff x="2848" y="848"/>
            <a:chExt cx="140" cy="98"/>
          </a:xfrm>
        </p:grpSpPr>
        <p:sp>
          <p:nvSpPr>
            <p:cNvPr id="143" name="Line 41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Line 41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41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6" name="Oval 416"/>
          <p:cNvSpPr>
            <a:spLocks noChangeArrowheads="1"/>
          </p:cNvSpPr>
          <p:nvPr/>
        </p:nvSpPr>
        <p:spPr bwMode="auto">
          <a:xfrm>
            <a:off x="8775414" y="3916364"/>
            <a:ext cx="346075" cy="87312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7" name="Line 417"/>
          <p:cNvSpPr>
            <a:spLocks noChangeShapeType="1"/>
          </p:cNvSpPr>
          <p:nvPr/>
        </p:nvSpPr>
        <p:spPr bwMode="auto">
          <a:xfrm>
            <a:off x="8775413" y="3908427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" name="Line 418"/>
          <p:cNvSpPr>
            <a:spLocks noChangeShapeType="1"/>
          </p:cNvSpPr>
          <p:nvPr/>
        </p:nvSpPr>
        <p:spPr bwMode="auto">
          <a:xfrm>
            <a:off x="9121488" y="3908427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" name="Rectangle 419"/>
          <p:cNvSpPr>
            <a:spLocks noChangeArrowheads="1"/>
          </p:cNvSpPr>
          <p:nvPr/>
        </p:nvSpPr>
        <p:spPr bwMode="auto">
          <a:xfrm>
            <a:off x="8775413" y="3908427"/>
            <a:ext cx="342900" cy="53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" name="Oval 420"/>
          <p:cNvSpPr>
            <a:spLocks noChangeArrowheads="1"/>
          </p:cNvSpPr>
          <p:nvPr/>
        </p:nvSpPr>
        <p:spPr bwMode="auto">
          <a:xfrm>
            <a:off x="8772239" y="3844926"/>
            <a:ext cx="346075" cy="103188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51" name="Group 421"/>
          <p:cNvGrpSpPr>
            <a:grpSpLocks/>
          </p:cNvGrpSpPr>
          <p:nvPr/>
        </p:nvGrpSpPr>
        <p:grpSpPr bwMode="auto">
          <a:xfrm>
            <a:off x="8856375" y="3867152"/>
            <a:ext cx="171450" cy="60325"/>
            <a:chOff x="2848" y="848"/>
            <a:chExt cx="140" cy="98"/>
          </a:xfrm>
        </p:grpSpPr>
        <p:sp>
          <p:nvSpPr>
            <p:cNvPr id="152" name="Line 42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42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42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5" name="Group 425"/>
          <p:cNvGrpSpPr>
            <a:grpSpLocks/>
          </p:cNvGrpSpPr>
          <p:nvPr/>
        </p:nvGrpSpPr>
        <p:grpSpPr bwMode="auto">
          <a:xfrm flipV="1">
            <a:off x="8856375" y="3867151"/>
            <a:ext cx="171450" cy="58738"/>
            <a:chOff x="2848" y="848"/>
            <a:chExt cx="140" cy="98"/>
          </a:xfrm>
        </p:grpSpPr>
        <p:sp>
          <p:nvSpPr>
            <p:cNvPr id="156" name="Line 42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Line 42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Line 42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9" name="Line 429"/>
          <p:cNvSpPr>
            <a:spLocks noChangeShapeType="1"/>
          </p:cNvSpPr>
          <p:nvPr/>
        </p:nvSpPr>
        <p:spPr bwMode="auto">
          <a:xfrm flipV="1">
            <a:off x="9973976" y="4273552"/>
            <a:ext cx="227013" cy="43656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" name="Line 430"/>
          <p:cNvSpPr>
            <a:spLocks noChangeShapeType="1"/>
          </p:cNvSpPr>
          <p:nvPr/>
        </p:nvSpPr>
        <p:spPr bwMode="auto">
          <a:xfrm>
            <a:off x="10097801" y="4011614"/>
            <a:ext cx="163513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1" name="Line 431"/>
          <p:cNvSpPr>
            <a:spLocks noChangeShapeType="1"/>
          </p:cNvSpPr>
          <p:nvPr/>
        </p:nvSpPr>
        <p:spPr bwMode="auto">
          <a:xfrm>
            <a:off x="10194638" y="3932239"/>
            <a:ext cx="279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2" name="Line 432"/>
          <p:cNvSpPr>
            <a:spLocks noChangeShapeType="1"/>
          </p:cNvSpPr>
          <p:nvPr/>
        </p:nvSpPr>
        <p:spPr bwMode="auto">
          <a:xfrm flipV="1">
            <a:off x="10431175" y="4017965"/>
            <a:ext cx="134938" cy="1047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" name="Line 433"/>
          <p:cNvSpPr>
            <a:spLocks noChangeShapeType="1"/>
          </p:cNvSpPr>
          <p:nvPr/>
        </p:nvSpPr>
        <p:spPr bwMode="auto">
          <a:xfrm>
            <a:off x="9129425" y="3938589"/>
            <a:ext cx="6794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" name="Line 434"/>
          <p:cNvSpPr>
            <a:spLocks noChangeShapeType="1"/>
          </p:cNvSpPr>
          <p:nvPr/>
        </p:nvSpPr>
        <p:spPr bwMode="auto">
          <a:xfrm>
            <a:off x="9424700" y="2786065"/>
            <a:ext cx="509588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" name="Line 435"/>
          <p:cNvSpPr>
            <a:spLocks noChangeShapeType="1"/>
          </p:cNvSpPr>
          <p:nvPr/>
        </p:nvSpPr>
        <p:spPr bwMode="auto">
          <a:xfrm>
            <a:off x="8991313" y="2614614"/>
            <a:ext cx="152400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6" name="Freeform 436"/>
          <p:cNvSpPr>
            <a:spLocks/>
          </p:cNvSpPr>
          <p:nvPr/>
        </p:nvSpPr>
        <p:spPr bwMode="auto">
          <a:xfrm>
            <a:off x="8311864" y="4621215"/>
            <a:ext cx="2979737" cy="1455737"/>
          </a:xfrm>
          <a:custGeom>
            <a:avLst/>
            <a:gdLst>
              <a:gd name="T0" fmla="*/ 2147483646 w 1877"/>
              <a:gd name="T1" fmla="*/ 2147483646 h 917"/>
              <a:gd name="T2" fmla="*/ 2147483646 w 1877"/>
              <a:gd name="T3" fmla="*/ 2147483646 h 917"/>
              <a:gd name="T4" fmla="*/ 2147483646 w 1877"/>
              <a:gd name="T5" fmla="*/ 2147483646 h 917"/>
              <a:gd name="T6" fmla="*/ 2147483646 w 1877"/>
              <a:gd name="T7" fmla="*/ 2147483646 h 917"/>
              <a:gd name="T8" fmla="*/ 2147483646 w 1877"/>
              <a:gd name="T9" fmla="*/ 2147483646 h 917"/>
              <a:gd name="T10" fmla="*/ 2147483646 w 1877"/>
              <a:gd name="T11" fmla="*/ 2147483646 h 917"/>
              <a:gd name="T12" fmla="*/ 2147483646 w 1877"/>
              <a:gd name="T13" fmla="*/ 2147483646 h 917"/>
              <a:gd name="T14" fmla="*/ 2147483646 w 1877"/>
              <a:gd name="T15" fmla="*/ 2147483646 h 917"/>
              <a:gd name="T16" fmla="*/ 2147483646 w 1877"/>
              <a:gd name="T17" fmla="*/ 2147483646 h 917"/>
              <a:gd name="T18" fmla="*/ 2147483646 w 1877"/>
              <a:gd name="T19" fmla="*/ 2147483646 h 917"/>
              <a:gd name="T20" fmla="*/ 2147483646 w 1877"/>
              <a:gd name="T21" fmla="*/ 2147483646 h 917"/>
              <a:gd name="T22" fmla="*/ 2147483646 w 1877"/>
              <a:gd name="T23" fmla="*/ 2147483646 h 917"/>
              <a:gd name="T24" fmla="*/ 2147483646 w 1877"/>
              <a:gd name="T25" fmla="*/ 2147483646 h 917"/>
              <a:gd name="T26" fmla="*/ 2147483646 w 1877"/>
              <a:gd name="T27" fmla="*/ 2147483646 h 917"/>
              <a:gd name="T28" fmla="*/ 2147483646 w 1877"/>
              <a:gd name="T29" fmla="*/ 2147483646 h 917"/>
              <a:gd name="T30" fmla="*/ 2147483646 w 1877"/>
              <a:gd name="T31" fmla="*/ 2147483646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7" name="Line 437"/>
          <p:cNvSpPr>
            <a:spLocks noChangeShapeType="1"/>
          </p:cNvSpPr>
          <p:nvPr/>
        </p:nvSpPr>
        <p:spPr bwMode="auto">
          <a:xfrm rot="16200000">
            <a:off x="10547063" y="5357814"/>
            <a:ext cx="523875" cy="1397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" name="Line 438"/>
          <p:cNvSpPr>
            <a:spLocks noChangeShapeType="1"/>
          </p:cNvSpPr>
          <p:nvPr/>
        </p:nvSpPr>
        <p:spPr bwMode="auto">
          <a:xfrm rot="5400000" flipV="1">
            <a:off x="10693114" y="5638802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" name="Line 439"/>
          <p:cNvSpPr>
            <a:spLocks noChangeShapeType="1"/>
          </p:cNvSpPr>
          <p:nvPr/>
        </p:nvSpPr>
        <p:spPr bwMode="auto">
          <a:xfrm rot="16200000">
            <a:off x="10878850" y="5314951"/>
            <a:ext cx="0" cy="1143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0" name="Group 440"/>
          <p:cNvGrpSpPr>
            <a:grpSpLocks/>
          </p:cNvGrpSpPr>
          <p:nvPr/>
        </p:nvGrpSpPr>
        <p:grpSpPr bwMode="auto">
          <a:xfrm>
            <a:off x="10458163" y="5024439"/>
            <a:ext cx="501650" cy="234950"/>
            <a:chOff x="4701" y="2996"/>
            <a:chExt cx="316" cy="148"/>
          </a:xfrm>
        </p:grpSpPr>
        <p:sp>
          <p:nvSpPr>
            <p:cNvPr id="171" name="Oval 441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2" name="Line 442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Line 443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" name="Rectangle 444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5" name="Oval 445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76" name="Group 446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181" name="Line 44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2" name="Line 44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" name="Line 44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7" name="Group 450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178" name="Line 45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" name="Line 45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" name="Line 45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84" name="Group 454"/>
          <p:cNvGrpSpPr>
            <a:grpSpLocks/>
          </p:cNvGrpSpPr>
          <p:nvPr/>
        </p:nvGrpSpPr>
        <p:grpSpPr bwMode="auto">
          <a:xfrm>
            <a:off x="9642188" y="4748214"/>
            <a:ext cx="501650" cy="234950"/>
            <a:chOff x="3600" y="219"/>
            <a:chExt cx="360" cy="175"/>
          </a:xfrm>
        </p:grpSpPr>
        <p:sp>
          <p:nvSpPr>
            <p:cNvPr id="185" name="Oval 45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6" name="Line 45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7" name="Line 45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" name="Rectangle 45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9" name="Oval 45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90" name="Group 46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5" name="Line 46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" name="Line 46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" name="Line 46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1" name="Group 46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2" name="Line 46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" name="Line 46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" name="Line 46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98" name="Group 468"/>
          <p:cNvGrpSpPr>
            <a:grpSpLocks/>
          </p:cNvGrpSpPr>
          <p:nvPr/>
        </p:nvGrpSpPr>
        <p:grpSpPr bwMode="auto">
          <a:xfrm>
            <a:off x="8977025" y="5053014"/>
            <a:ext cx="501650" cy="234950"/>
            <a:chOff x="3600" y="219"/>
            <a:chExt cx="360" cy="175"/>
          </a:xfrm>
        </p:grpSpPr>
        <p:sp>
          <p:nvSpPr>
            <p:cNvPr id="199" name="Oval 46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0" name="Line 47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Line 47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" name="Rectangle 47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3" name="Oval 47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04" name="Group 47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09" name="Line 4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" name="Line 4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" name="Line 4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" name="Group 47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06" name="Line 4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7" name="Line 4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8" name="Line 4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12" name="Line 482"/>
          <p:cNvSpPr>
            <a:spLocks noChangeShapeType="1"/>
          </p:cNvSpPr>
          <p:nvPr/>
        </p:nvSpPr>
        <p:spPr bwMode="auto">
          <a:xfrm>
            <a:off x="10091451" y="4959351"/>
            <a:ext cx="358775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3" name="Line 483"/>
          <p:cNvSpPr>
            <a:spLocks noChangeShapeType="1"/>
          </p:cNvSpPr>
          <p:nvPr/>
        </p:nvSpPr>
        <p:spPr bwMode="auto">
          <a:xfrm flipV="1">
            <a:off x="9438988" y="4972051"/>
            <a:ext cx="277812" cy="1095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" name="Line 484"/>
          <p:cNvSpPr>
            <a:spLocks noChangeShapeType="1"/>
          </p:cNvSpPr>
          <p:nvPr/>
        </p:nvSpPr>
        <p:spPr bwMode="auto">
          <a:xfrm flipV="1">
            <a:off x="9481850" y="5175251"/>
            <a:ext cx="9715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" name="Line 485"/>
          <p:cNvSpPr>
            <a:spLocks noChangeShapeType="1"/>
          </p:cNvSpPr>
          <p:nvPr/>
        </p:nvSpPr>
        <p:spPr bwMode="auto">
          <a:xfrm flipH="1">
            <a:off x="8777000" y="4921251"/>
            <a:ext cx="254000" cy="4699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" name="Line 486"/>
          <p:cNvSpPr>
            <a:spLocks noChangeShapeType="1"/>
          </p:cNvSpPr>
          <p:nvPr/>
        </p:nvSpPr>
        <p:spPr bwMode="auto">
          <a:xfrm>
            <a:off x="8802400" y="4972051"/>
            <a:ext cx="1968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7" name="Line 487"/>
          <p:cNvSpPr>
            <a:spLocks noChangeShapeType="1"/>
          </p:cNvSpPr>
          <p:nvPr/>
        </p:nvSpPr>
        <p:spPr bwMode="auto">
          <a:xfrm>
            <a:off x="8662700" y="5308601"/>
            <a:ext cx="15398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" name="Line 488"/>
          <p:cNvSpPr>
            <a:spLocks noChangeShapeType="1"/>
          </p:cNvSpPr>
          <p:nvPr/>
        </p:nvSpPr>
        <p:spPr bwMode="auto">
          <a:xfrm>
            <a:off x="8915114" y="5387976"/>
            <a:ext cx="49053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" name="Line 489"/>
          <p:cNvSpPr>
            <a:spLocks noChangeShapeType="1"/>
          </p:cNvSpPr>
          <p:nvPr/>
        </p:nvSpPr>
        <p:spPr bwMode="auto">
          <a:xfrm flipH="1">
            <a:off x="9154826" y="5295902"/>
            <a:ext cx="53975" cy="857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" name="Line 490"/>
          <p:cNvSpPr>
            <a:spLocks noChangeShapeType="1"/>
          </p:cNvSpPr>
          <p:nvPr/>
        </p:nvSpPr>
        <p:spPr bwMode="auto">
          <a:xfrm>
            <a:off x="8967500" y="5384801"/>
            <a:ext cx="1588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1" name="Line 491"/>
          <p:cNvSpPr>
            <a:spLocks noChangeShapeType="1"/>
          </p:cNvSpPr>
          <p:nvPr/>
        </p:nvSpPr>
        <p:spPr bwMode="auto">
          <a:xfrm flipH="1" flipV="1">
            <a:off x="9364375" y="5392739"/>
            <a:ext cx="0" cy="76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2" name="Line 492"/>
          <p:cNvSpPr>
            <a:spLocks noChangeShapeType="1"/>
          </p:cNvSpPr>
          <p:nvPr/>
        </p:nvSpPr>
        <p:spPr bwMode="auto">
          <a:xfrm>
            <a:off x="9445339" y="5251452"/>
            <a:ext cx="503237" cy="2698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3" name="Line 493"/>
          <p:cNvSpPr>
            <a:spLocks noChangeShapeType="1"/>
          </p:cNvSpPr>
          <p:nvPr/>
        </p:nvSpPr>
        <p:spPr bwMode="auto">
          <a:xfrm>
            <a:off x="8894476" y="5186364"/>
            <a:ext cx="8096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4" name="Group 494"/>
          <p:cNvGrpSpPr>
            <a:grpSpLocks/>
          </p:cNvGrpSpPr>
          <p:nvPr/>
        </p:nvGrpSpPr>
        <p:grpSpPr bwMode="auto">
          <a:xfrm>
            <a:off x="7868951" y="1955801"/>
            <a:ext cx="3021013" cy="3981450"/>
            <a:chOff x="-1203" y="1352"/>
            <a:chExt cx="1903" cy="2508"/>
          </a:xfrm>
        </p:grpSpPr>
        <p:grpSp>
          <p:nvGrpSpPr>
            <p:cNvPr id="225" name="Group 495"/>
            <p:cNvGrpSpPr>
              <a:grpSpLocks/>
            </p:cNvGrpSpPr>
            <p:nvPr/>
          </p:nvGrpSpPr>
          <p:grpSpPr bwMode="auto">
            <a:xfrm>
              <a:off x="-1203" y="1647"/>
              <a:ext cx="436" cy="114"/>
              <a:chOff x="3072" y="739"/>
              <a:chExt cx="652" cy="146"/>
            </a:xfrm>
          </p:grpSpPr>
          <p:pic>
            <p:nvPicPr>
              <p:cNvPr id="262" name="Picture 496" descr="lgv_fqmg[1]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237" y="739"/>
                <a:ext cx="487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3" name="Line 497"/>
              <p:cNvSpPr>
                <a:spLocks noChangeShapeType="1"/>
              </p:cNvSpPr>
              <p:nvPr/>
            </p:nvSpPr>
            <p:spPr bwMode="auto">
              <a:xfrm flipH="1">
                <a:off x="3104" y="784"/>
                <a:ext cx="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4" name="Line 498"/>
              <p:cNvSpPr>
                <a:spLocks noChangeShapeType="1"/>
              </p:cNvSpPr>
              <p:nvPr/>
            </p:nvSpPr>
            <p:spPr bwMode="auto">
              <a:xfrm flipH="1">
                <a:off x="3072" y="7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226" name="Picture 499" descr="imgyjavg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027" y="1466"/>
              <a:ext cx="23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7" name="Group 500"/>
            <p:cNvGrpSpPr>
              <a:grpSpLocks/>
            </p:cNvGrpSpPr>
            <p:nvPr/>
          </p:nvGrpSpPr>
          <p:grpSpPr bwMode="auto">
            <a:xfrm>
              <a:off x="-546" y="1352"/>
              <a:ext cx="256" cy="269"/>
              <a:chOff x="2870" y="1518"/>
              <a:chExt cx="292" cy="320"/>
            </a:xfrm>
          </p:grpSpPr>
          <p:graphicFrame>
            <p:nvGraphicFramePr>
              <p:cNvPr id="260" name="Object 501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5" imgW="826829" imgH="840406" progId="MS_ClipArt_Gallery.2">
                      <p:embed/>
                    </p:oleObj>
                  </mc:Choice>
                  <mc:Fallback>
                    <p:oleObj name="Clip" r:id="rId5" imgW="826829" imgH="840406" progId="MS_ClipArt_Gallery.2">
                      <p:embed/>
                      <p:pic>
                        <p:nvPicPr>
                          <p:cNvPr id="11534" name="Object 5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1" name="Object 502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7" imgW="1268295" imgH="1199426" progId="MS_ClipArt_Gallery.2">
                      <p:embed/>
                    </p:oleObj>
                  </mc:Choice>
                  <mc:Fallback>
                    <p:oleObj name="Clip" r:id="rId7" imgW="1268295" imgH="1199426" progId="MS_ClipArt_Gallery.2">
                      <p:embed/>
                      <p:pic>
                        <p:nvPicPr>
                          <p:cNvPr id="11535" name="Object 5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8" name="Group 503"/>
            <p:cNvGrpSpPr>
              <a:grpSpLocks/>
            </p:cNvGrpSpPr>
            <p:nvPr/>
          </p:nvGrpSpPr>
          <p:grpSpPr bwMode="auto">
            <a:xfrm>
              <a:off x="-1002" y="2262"/>
              <a:ext cx="209" cy="224"/>
              <a:chOff x="2870" y="1518"/>
              <a:chExt cx="292" cy="320"/>
            </a:xfrm>
          </p:grpSpPr>
          <p:graphicFrame>
            <p:nvGraphicFramePr>
              <p:cNvPr id="258" name="Object 504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9" imgW="826829" imgH="840406" progId="MS_ClipArt_Gallery.2">
                      <p:embed/>
                    </p:oleObj>
                  </mc:Choice>
                  <mc:Fallback>
                    <p:oleObj name="Clip" r:id="rId9" imgW="826829" imgH="840406" progId="MS_ClipArt_Gallery.2">
                      <p:embed/>
                      <p:pic>
                        <p:nvPicPr>
                          <p:cNvPr id="11532" name="Object 50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9" name="Object 505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0" imgW="1268295" imgH="1199426" progId="MS_ClipArt_Gallery.2">
                      <p:embed/>
                    </p:oleObj>
                  </mc:Choice>
                  <mc:Fallback>
                    <p:oleObj name="Clip" r:id="rId10" imgW="1268295" imgH="1199426" progId="MS_ClipArt_Gallery.2">
                      <p:embed/>
                      <p:pic>
                        <p:nvPicPr>
                          <p:cNvPr id="11533" name="Object 50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29" name="Object 506"/>
            <p:cNvGraphicFramePr>
              <a:graphicFrameLocks noChangeAspect="1"/>
            </p:cNvGraphicFramePr>
            <p:nvPr/>
          </p:nvGraphicFramePr>
          <p:xfrm>
            <a:off x="-732" y="2289"/>
            <a:ext cx="20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1" imgW="1307263" imgH="1084139" progId="MS_ClipArt_Gallery.2">
                    <p:embed/>
                  </p:oleObj>
                </mc:Choice>
                <mc:Fallback>
                  <p:oleObj name="Clip" r:id="rId11" imgW="1307263" imgH="1084139" progId="MS_ClipArt_Gallery.2">
                    <p:embed/>
                    <p:pic>
                      <p:nvPicPr>
                        <p:cNvPr id="11503" name="Object 5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32" y="2289"/>
                          <a:ext cx="207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0" name="Group 507"/>
            <p:cNvGrpSpPr>
              <a:grpSpLocks/>
            </p:cNvGrpSpPr>
            <p:nvPr/>
          </p:nvGrpSpPr>
          <p:grpSpPr bwMode="auto">
            <a:xfrm>
              <a:off x="310" y="3575"/>
              <a:ext cx="125" cy="230"/>
              <a:chOff x="4180" y="783"/>
              <a:chExt cx="150" cy="307"/>
            </a:xfrm>
          </p:grpSpPr>
          <p:sp>
            <p:nvSpPr>
              <p:cNvPr id="250" name="AutoShape 508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51" name="Rectangle 509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52" name="Rectangle 510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53" name="AutoShape 511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54" name="Line 512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5" name="Line 513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" name="Rectangle 514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57" name="Rectangle 515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231" name="Object 516"/>
            <p:cNvGraphicFramePr>
              <a:graphicFrameLocks noChangeAspect="1"/>
            </p:cNvGraphicFramePr>
            <p:nvPr/>
          </p:nvGraphicFramePr>
          <p:xfrm>
            <a:off x="-975" y="33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3" imgW="1307263" imgH="1084139" progId="MS_ClipArt_Gallery.2">
                    <p:embed/>
                  </p:oleObj>
                </mc:Choice>
                <mc:Fallback>
                  <p:oleObj name="Clip" r:id="rId13" imgW="1307263" imgH="1084139" progId="MS_ClipArt_Gallery.2">
                    <p:embed/>
                    <p:pic>
                      <p:nvPicPr>
                        <p:cNvPr id="11505" name="Object 5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975" y="33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2" name="Object 517"/>
            <p:cNvGraphicFramePr>
              <a:graphicFrameLocks noChangeAspect="1"/>
            </p:cNvGraphicFramePr>
            <p:nvPr/>
          </p:nvGraphicFramePr>
          <p:xfrm>
            <a:off x="-871" y="31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4" imgW="1307263" imgH="1084139" progId="MS_ClipArt_Gallery.2">
                    <p:embed/>
                  </p:oleObj>
                </mc:Choice>
                <mc:Fallback>
                  <p:oleObj name="Clip" r:id="rId14" imgW="1307263" imgH="1084139" progId="MS_ClipArt_Gallery.2">
                    <p:embed/>
                    <p:pic>
                      <p:nvPicPr>
                        <p:cNvPr id="11506" name="Object 5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71" y="31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3" name="Object 518"/>
            <p:cNvGraphicFramePr>
              <a:graphicFrameLocks noChangeAspect="1"/>
            </p:cNvGraphicFramePr>
            <p:nvPr/>
          </p:nvGraphicFramePr>
          <p:xfrm>
            <a:off x="-703" y="354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5" imgW="1307263" imgH="1084139" progId="MS_ClipArt_Gallery.2">
                    <p:embed/>
                  </p:oleObj>
                </mc:Choice>
                <mc:Fallback>
                  <p:oleObj name="Clip" r:id="rId15" imgW="1307263" imgH="1084139" progId="MS_ClipArt_Gallery.2">
                    <p:embed/>
                    <p:pic>
                      <p:nvPicPr>
                        <p:cNvPr id="11507" name="Object 5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03" y="354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4" name="Object 519"/>
            <p:cNvGraphicFramePr>
              <a:graphicFrameLocks noChangeAspect="1"/>
            </p:cNvGraphicFramePr>
            <p:nvPr/>
          </p:nvGraphicFramePr>
          <p:xfrm>
            <a:off x="-489" y="3546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6" imgW="1307263" imgH="1084139" progId="MS_ClipArt_Gallery.2">
                    <p:embed/>
                  </p:oleObj>
                </mc:Choice>
                <mc:Fallback>
                  <p:oleObj name="Clip" r:id="rId16" imgW="1307263" imgH="1084139" progId="MS_ClipArt_Gallery.2">
                    <p:embed/>
                    <p:pic>
                      <p:nvPicPr>
                        <p:cNvPr id="11508" name="Object 5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89" y="3546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" name="Group 520"/>
            <p:cNvGrpSpPr>
              <a:grpSpLocks/>
            </p:cNvGrpSpPr>
            <p:nvPr/>
          </p:nvGrpSpPr>
          <p:grpSpPr bwMode="auto">
            <a:xfrm>
              <a:off x="83" y="3625"/>
              <a:ext cx="172" cy="215"/>
              <a:chOff x="2870" y="1518"/>
              <a:chExt cx="292" cy="320"/>
            </a:xfrm>
          </p:grpSpPr>
          <p:graphicFrame>
            <p:nvGraphicFramePr>
              <p:cNvPr id="248" name="Object 521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7" imgW="826829" imgH="840406" progId="MS_ClipArt_Gallery.2">
                      <p:embed/>
                    </p:oleObj>
                  </mc:Choice>
                  <mc:Fallback>
                    <p:oleObj name="Clip" r:id="rId17" imgW="826829" imgH="840406" progId="MS_ClipArt_Gallery.2">
                      <p:embed/>
                      <p:pic>
                        <p:nvPicPr>
                          <p:cNvPr id="11522" name="Object 5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9" name="Object 522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8" imgW="1268295" imgH="1199426" progId="MS_ClipArt_Gallery.2">
                      <p:embed/>
                    </p:oleObj>
                  </mc:Choice>
                  <mc:Fallback>
                    <p:oleObj name="Clip" r:id="rId18" imgW="1268295" imgH="1199426" progId="MS_ClipArt_Gallery.2">
                      <p:embed/>
                      <p:pic>
                        <p:nvPicPr>
                          <p:cNvPr id="11523" name="Object 5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6" name="Group 523"/>
            <p:cNvGrpSpPr>
              <a:grpSpLocks/>
            </p:cNvGrpSpPr>
            <p:nvPr/>
          </p:nvGrpSpPr>
          <p:grpSpPr bwMode="auto">
            <a:xfrm>
              <a:off x="-201" y="3657"/>
              <a:ext cx="220" cy="203"/>
              <a:chOff x="2870" y="1518"/>
              <a:chExt cx="292" cy="320"/>
            </a:xfrm>
          </p:grpSpPr>
          <p:graphicFrame>
            <p:nvGraphicFramePr>
              <p:cNvPr id="246" name="Object 524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9" imgW="826829" imgH="840406" progId="MS_ClipArt_Gallery.2">
                      <p:embed/>
                    </p:oleObj>
                  </mc:Choice>
                  <mc:Fallback>
                    <p:oleObj name="Clip" r:id="rId19" imgW="826829" imgH="840406" progId="MS_ClipArt_Gallery.2">
                      <p:embed/>
                      <p:pic>
                        <p:nvPicPr>
                          <p:cNvPr id="11520" name="Object 5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7" name="Object 525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20" imgW="1268295" imgH="1199426" progId="MS_ClipArt_Gallery.2">
                      <p:embed/>
                    </p:oleObj>
                  </mc:Choice>
                  <mc:Fallback>
                    <p:oleObj name="Clip" r:id="rId20" imgW="1268295" imgH="1199426" progId="MS_ClipArt_Gallery.2">
                      <p:embed/>
                      <p:pic>
                        <p:nvPicPr>
                          <p:cNvPr id="11521" name="Object 5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7" name="Group 526"/>
            <p:cNvGrpSpPr>
              <a:grpSpLocks/>
            </p:cNvGrpSpPr>
            <p:nvPr/>
          </p:nvGrpSpPr>
          <p:grpSpPr bwMode="auto">
            <a:xfrm>
              <a:off x="569" y="3419"/>
              <a:ext cx="131" cy="258"/>
              <a:chOff x="4180" y="783"/>
              <a:chExt cx="150" cy="307"/>
            </a:xfrm>
          </p:grpSpPr>
          <p:sp>
            <p:nvSpPr>
              <p:cNvPr id="238" name="AutoShape 527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39" name="Rectangle 528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40" name="Rectangle 529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41" name="AutoShape 530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42" name="Line 531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3" name="Line 532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4" name="Rectangle 533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45" name="Rectangle 534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65" name="Line 535"/>
          <p:cNvSpPr>
            <a:spLocks noChangeShapeType="1"/>
          </p:cNvSpPr>
          <p:nvPr/>
        </p:nvSpPr>
        <p:spPr bwMode="auto">
          <a:xfrm flipH="1">
            <a:off x="8983376" y="3708402"/>
            <a:ext cx="3175" cy="14446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" name="Line 536"/>
          <p:cNvSpPr>
            <a:spLocks noChangeShapeType="1"/>
          </p:cNvSpPr>
          <p:nvPr/>
        </p:nvSpPr>
        <p:spPr bwMode="auto">
          <a:xfrm flipV="1">
            <a:off x="10280364" y="2690814"/>
            <a:ext cx="123825" cy="8731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7" name="Line 537"/>
          <p:cNvSpPr>
            <a:spLocks noChangeShapeType="1"/>
          </p:cNvSpPr>
          <p:nvPr/>
        </p:nvSpPr>
        <p:spPr bwMode="auto">
          <a:xfrm>
            <a:off x="10107325" y="2863851"/>
            <a:ext cx="0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8" name="Line 538"/>
          <p:cNvSpPr>
            <a:spLocks noChangeShapeType="1"/>
          </p:cNvSpPr>
          <p:nvPr/>
        </p:nvSpPr>
        <p:spPr bwMode="auto">
          <a:xfrm flipV="1">
            <a:off x="10278776" y="2760665"/>
            <a:ext cx="263525" cy="2889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9" name="Line 539"/>
          <p:cNvSpPr>
            <a:spLocks noChangeShapeType="1"/>
          </p:cNvSpPr>
          <p:nvPr/>
        </p:nvSpPr>
        <p:spPr bwMode="auto">
          <a:xfrm>
            <a:off x="10643900" y="2759076"/>
            <a:ext cx="0" cy="196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0" name="Line 540"/>
          <p:cNvSpPr>
            <a:spLocks noChangeShapeType="1"/>
          </p:cNvSpPr>
          <p:nvPr/>
        </p:nvSpPr>
        <p:spPr bwMode="auto">
          <a:xfrm>
            <a:off x="10297826" y="3065464"/>
            <a:ext cx="18891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1" name="Line 541"/>
          <p:cNvSpPr>
            <a:spLocks noChangeShapeType="1"/>
          </p:cNvSpPr>
          <p:nvPr/>
        </p:nvSpPr>
        <p:spPr bwMode="auto">
          <a:xfrm flipV="1">
            <a:off x="8592851" y="3932240"/>
            <a:ext cx="168275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2" name="Line 542"/>
          <p:cNvSpPr>
            <a:spLocks noChangeShapeType="1"/>
          </p:cNvSpPr>
          <p:nvPr/>
        </p:nvSpPr>
        <p:spPr bwMode="auto">
          <a:xfrm flipV="1">
            <a:off x="10712164" y="2459040"/>
            <a:ext cx="238125" cy="1682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3" name="Line 543"/>
          <p:cNvSpPr>
            <a:spLocks noChangeShapeType="1"/>
          </p:cNvSpPr>
          <p:nvPr/>
        </p:nvSpPr>
        <p:spPr bwMode="auto">
          <a:xfrm>
            <a:off x="10851863" y="3055939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4" name="Line 544"/>
          <p:cNvSpPr>
            <a:spLocks noChangeShapeType="1"/>
          </p:cNvSpPr>
          <p:nvPr/>
        </p:nvSpPr>
        <p:spPr bwMode="auto">
          <a:xfrm flipH="1">
            <a:off x="9997789" y="3132139"/>
            <a:ext cx="98425" cy="704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5" name="Line 545"/>
          <p:cNvSpPr>
            <a:spLocks noChangeShapeType="1"/>
          </p:cNvSpPr>
          <p:nvPr/>
        </p:nvSpPr>
        <p:spPr bwMode="auto">
          <a:xfrm flipH="1">
            <a:off x="10588339" y="3132140"/>
            <a:ext cx="111125" cy="7270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6" name="Group 546"/>
          <p:cNvGrpSpPr>
            <a:grpSpLocks/>
          </p:cNvGrpSpPr>
          <p:nvPr/>
        </p:nvGrpSpPr>
        <p:grpSpPr bwMode="auto">
          <a:xfrm>
            <a:off x="9640600" y="4749801"/>
            <a:ext cx="501650" cy="234950"/>
            <a:chOff x="4701" y="2996"/>
            <a:chExt cx="316" cy="148"/>
          </a:xfrm>
        </p:grpSpPr>
        <p:sp>
          <p:nvSpPr>
            <p:cNvPr id="277" name="Oval 547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8" name="Line 548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9" name="Line 549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0" name="Rectangle 550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1" name="Oval 551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82" name="Group 552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287" name="Line 55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" name="Line 55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" name="Line 55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3" name="Group 556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284" name="Line 55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5" name="Line 55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6" name="Line 55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90" name="Group 560"/>
          <p:cNvGrpSpPr>
            <a:grpSpLocks/>
          </p:cNvGrpSpPr>
          <p:nvPr/>
        </p:nvGrpSpPr>
        <p:grpSpPr bwMode="auto">
          <a:xfrm>
            <a:off x="8975438" y="5051426"/>
            <a:ext cx="501650" cy="234950"/>
            <a:chOff x="4701" y="2996"/>
            <a:chExt cx="316" cy="148"/>
          </a:xfrm>
        </p:grpSpPr>
        <p:sp>
          <p:nvSpPr>
            <p:cNvPr id="291" name="Oval 561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2" name="Line 562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3" name="Line 563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4" name="Rectangle 564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5" name="Oval 565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96" name="Group 566"/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301" name="Line 56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2" name="Line 56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3" name="Line 56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7" name="Group 570"/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298" name="Line 57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9" name="Line 57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0" name="Line 57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04" name="Group 574"/>
          <p:cNvGrpSpPr>
            <a:grpSpLocks/>
          </p:cNvGrpSpPr>
          <p:nvPr/>
        </p:nvGrpSpPr>
        <p:grpSpPr bwMode="auto">
          <a:xfrm>
            <a:off x="9805701" y="5237164"/>
            <a:ext cx="290513" cy="404812"/>
            <a:chOff x="4290" y="3130"/>
            <a:chExt cx="183" cy="255"/>
          </a:xfrm>
        </p:grpSpPr>
        <p:pic>
          <p:nvPicPr>
            <p:cNvPr id="305" name="Picture 575" descr="31u_bnrz[1]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576"/>
            <p:cNvSpPr>
              <a:spLocks/>
            </p:cNvSpPr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0 w 199"/>
                <a:gd name="T1" fmla="*/ 0 h 232"/>
                <a:gd name="T2" fmla="*/ 0 w 199"/>
                <a:gd name="T3" fmla="*/ 0 h 232"/>
                <a:gd name="T4" fmla="*/ 0 w 199"/>
                <a:gd name="T5" fmla="*/ 0 h 232"/>
                <a:gd name="T6" fmla="*/ 0 w 199"/>
                <a:gd name="T7" fmla="*/ 0 h 232"/>
                <a:gd name="T8" fmla="*/ 0 w 199"/>
                <a:gd name="T9" fmla="*/ 0 h 232"/>
                <a:gd name="T10" fmla="*/ 0 w 199"/>
                <a:gd name="T11" fmla="*/ 0 h 232"/>
                <a:gd name="T12" fmla="*/ 0 w 199"/>
                <a:gd name="T13" fmla="*/ 0 h 232"/>
                <a:gd name="T14" fmla="*/ 0 w 199"/>
                <a:gd name="T15" fmla="*/ 0 h 232"/>
                <a:gd name="T16" fmla="*/ 0 w 199"/>
                <a:gd name="T17" fmla="*/ 0 h 232"/>
                <a:gd name="T18" fmla="*/ 0 w 199"/>
                <a:gd name="T19" fmla="*/ 0 h 232"/>
                <a:gd name="T20" fmla="*/ 0 w 199"/>
                <a:gd name="T21" fmla="*/ 0 h 232"/>
                <a:gd name="T22" fmla="*/ 0 w 199"/>
                <a:gd name="T23" fmla="*/ 0 h 232"/>
                <a:gd name="T24" fmla="*/ 0 w 199"/>
                <a:gd name="T25" fmla="*/ 0 h 232"/>
                <a:gd name="T26" fmla="*/ 0 w 199"/>
                <a:gd name="T27" fmla="*/ 0 h 232"/>
                <a:gd name="T28" fmla="*/ 0 w 199"/>
                <a:gd name="T29" fmla="*/ 0 h 232"/>
                <a:gd name="T30" fmla="*/ 0 w 199"/>
                <a:gd name="T31" fmla="*/ 0 h 232"/>
                <a:gd name="T32" fmla="*/ 0 w 199"/>
                <a:gd name="T33" fmla="*/ 0 h 232"/>
                <a:gd name="T34" fmla="*/ 0 w 199"/>
                <a:gd name="T35" fmla="*/ 0 h 232"/>
                <a:gd name="T36" fmla="*/ 0 w 199"/>
                <a:gd name="T37" fmla="*/ 0 h 232"/>
                <a:gd name="T38" fmla="*/ 0 w 199"/>
                <a:gd name="T39" fmla="*/ 0 h 232"/>
                <a:gd name="T40" fmla="*/ 0 w 199"/>
                <a:gd name="T41" fmla="*/ 0 h 232"/>
                <a:gd name="T42" fmla="*/ 0 w 199"/>
                <a:gd name="T43" fmla="*/ 0 h 232"/>
                <a:gd name="T44" fmla="*/ 0 w 199"/>
                <a:gd name="T45" fmla="*/ 0 h 232"/>
                <a:gd name="T46" fmla="*/ 0 w 199"/>
                <a:gd name="T47" fmla="*/ 0 h 232"/>
                <a:gd name="T48" fmla="*/ 0 w 199"/>
                <a:gd name="T49" fmla="*/ 0 h 232"/>
                <a:gd name="T50" fmla="*/ 0 w 199"/>
                <a:gd name="T51" fmla="*/ 0 h 232"/>
                <a:gd name="T52" fmla="*/ 0 w 199"/>
                <a:gd name="T53" fmla="*/ 0 h 232"/>
                <a:gd name="T54" fmla="*/ 0 w 199"/>
                <a:gd name="T55" fmla="*/ 0 h 232"/>
                <a:gd name="T56" fmla="*/ 0 w 199"/>
                <a:gd name="T57" fmla="*/ 0 h 232"/>
                <a:gd name="T58" fmla="*/ 0 w 199"/>
                <a:gd name="T59" fmla="*/ 0 h 232"/>
                <a:gd name="T60" fmla="*/ 0 w 199"/>
                <a:gd name="T61" fmla="*/ 0 h 232"/>
                <a:gd name="T62" fmla="*/ 0 w 199"/>
                <a:gd name="T63" fmla="*/ 0 h 232"/>
                <a:gd name="T64" fmla="*/ 0 w 199"/>
                <a:gd name="T65" fmla="*/ 0 h 232"/>
                <a:gd name="T66" fmla="*/ 0 w 199"/>
                <a:gd name="T67" fmla="*/ 0 h 232"/>
                <a:gd name="T68" fmla="*/ 0 w 199"/>
                <a:gd name="T69" fmla="*/ 0 h 232"/>
                <a:gd name="T70" fmla="*/ 0 w 199"/>
                <a:gd name="T71" fmla="*/ 0 h 232"/>
                <a:gd name="T72" fmla="*/ 0 w 199"/>
                <a:gd name="T73" fmla="*/ 0 h 232"/>
                <a:gd name="T74" fmla="*/ 0 w 199"/>
                <a:gd name="T75" fmla="*/ 0 h 232"/>
                <a:gd name="T76" fmla="*/ 0 w 199"/>
                <a:gd name="T77" fmla="*/ 0 h 232"/>
                <a:gd name="T78" fmla="*/ 0 w 199"/>
                <a:gd name="T79" fmla="*/ 0 h 232"/>
                <a:gd name="T80" fmla="*/ 0 w 199"/>
                <a:gd name="T81" fmla="*/ 0 h 232"/>
                <a:gd name="T82" fmla="*/ 0 w 199"/>
                <a:gd name="T83" fmla="*/ 0 h 232"/>
                <a:gd name="T84" fmla="*/ 0 w 199"/>
                <a:gd name="T85" fmla="*/ 0 h 232"/>
                <a:gd name="T86" fmla="*/ 0 w 199"/>
                <a:gd name="T87" fmla="*/ 0 h 232"/>
                <a:gd name="T88" fmla="*/ 0 w 199"/>
                <a:gd name="T89" fmla="*/ 0 h 232"/>
                <a:gd name="T90" fmla="*/ 0 w 199"/>
                <a:gd name="T91" fmla="*/ 0 h 232"/>
                <a:gd name="T92" fmla="*/ 0 w 199"/>
                <a:gd name="T93" fmla="*/ 0 h 232"/>
                <a:gd name="T94" fmla="*/ 0 w 199"/>
                <a:gd name="T95" fmla="*/ 0 h 232"/>
                <a:gd name="T96" fmla="*/ 0 w 199"/>
                <a:gd name="T97" fmla="*/ 0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Freeform 577"/>
            <p:cNvSpPr>
              <a:spLocks/>
            </p:cNvSpPr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0 w 128"/>
                <a:gd name="T1" fmla="*/ 0 h 180"/>
                <a:gd name="T2" fmla="*/ 0 w 128"/>
                <a:gd name="T3" fmla="*/ 0 h 180"/>
                <a:gd name="T4" fmla="*/ 0 w 128"/>
                <a:gd name="T5" fmla="*/ 0 h 180"/>
                <a:gd name="T6" fmla="*/ 0 w 128"/>
                <a:gd name="T7" fmla="*/ 0 h 180"/>
                <a:gd name="T8" fmla="*/ 0 w 128"/>
                <a:gd name="T9" fmla="*/ 0 h 180"/>
                <a:gd name="T10" fmla="*/ 0 w 128"/>
                <a:gd name="T11" fmla="*/ 0 h 180"/>
                <a:gd name="T12" fmla="*/ 0 w 128"/>
                <a:gd name="T13" fmla="*/ 0 h 180"/>
                <a:gd name="T14" fmla="*/ 0 w 128"/>
                <a:gd name="T15" fmla="*/ 0 h 180"/>
                <a:gd name="T16" fmla="*/ 0 w 128"/>
                <a:gd name="T17" fmla="*/ 0 h 180"/>
                <a:gd name="T18" fmla="*/ 0 w 128"/>
                <a:gd name="T19" fmla="*/ 0 h 180"/>
                <a:gd name="T20" fmla="*/ 0 w 128"/>
                <a:gd name="T21" fmla="*/ 0 h 180"/>
                <a:gd name="T22" fmla="*/ 0 w 128"/>
                <a:gd name="T23" fmla="*/ 0 h 180"/>
                <a:gd name="T24" fmla="*/ 0 w 128"/>
                <a:gd name="T25" fmla="*/ 0 h 180"/>
                <a:gd name="T26" fmla="*/ 0 w 128"/>
                <a:gd name="T27" fmla="*/ 0 h 180"/>
                <a:gd name="T28" fmla="*/ 0 w 128"/>
                <a:gd name="T29" fmla="*/ 0 h 180"/>
                <a:gd name="T30" fmla="*/ 0 w 128"/>
                <a:gd name="T31" fmla="*/ 0 h 180"/>
                <a:gd name="T32" fmla="*/ 0 w 128"/>
                <a:gd name="T33" fmla="*/ 0 h 180"/>
                <a:gd name="T34" fmla="*/ 0 w 128"/>
                <a:gd name="T35" fmla="*/ 0 h 180"/>
                <a:gd name="T36" fmla="*/ 0 w 128"/>
                <a:gd name="T37" fmla="*/ 0 h 180"/>
                <a:gd name="T38" fmla="*/ 0 w 128"/>
                <a:gd name="T39" fmla="*/ 0 h 180"/>
                <a:gd name="T40" fmla="*/ 0 w 128"/>
                <a:gd name="T41" fmla="*/ 0 h 180"/>
                <a:gd name="T42" fmla="*/ 0 w 128"/>
                <a:gd name="T43" fmla="*/ 0 h 180"/>
                <a:gd name="T44" fmla="*/ 0 w 128"/>
                <a:gd name="T45" fmla="*/ 0 h 180"/>
                <a:gd name="T46" fmla="*/ 0 w 128"/>
                <a:gd name="T47" fmla="*/ 0 h 180"/>
                <a:gd name="T48" fmla="*/ 0 w 128"/>
                <a:gd name="T49" fmla="*/ 0 h 180"/>
                <a:gd name="T50" fmla="*/ 0 w 128"/>
                <a:gd name="T51" fmla="*/ 0 h 180"/>
                <a:gd name="T52" fmla="*/ 0 w 128"/>
                <a:gd name="T53" fmla="*/ 0 h 180"/>
                <a:gd name="T54" fmla="*/ 0 w 128"/>
                <a:gd name="T55" fmla="*/ 0 h 180"/>
                <a:gd name="T56" fmla="*/ 0 w 128"/>
                <a:gd name="T57" fmla="*/ 0 h 180"/>
                <a:gd name="T58" fmla="*/ 0 w 128"/>
                <a:gd name="T59" fmla="*/ 0 h 180"/>
                <a:gd name="T60" fmla="*/ 0 w 128"/>
                <a:gd name="T61" fmla="*/ 0 h 180"/>
                <a:gd name="T62" fmla="*/ 0 w 128"/>
                <a:gd name="T63" fmla="*/ 0 h 180"/>
                <a:gd name="T64" fmla="*/ 0 w 128"/>
                <a:gd name="T65" fmla="*/ 0 h 180"/>
                <a:gd name="T66" fmla="*/ 0 w 128"/>
                <a:gd name="T67" fmla="*/ 0 h 180"/>
                <a:gd name="T68" fmla="*/ 0 w 128"/>
                <a:gd name="T69" fmla="*/ 0 h 180"/>
                <a:gd name="T70" fmla="*/ 0 w 128"/>
                <a:gd name="T71" fmla="*/ 0 h 180"/>
                <a:gd name="T72" fmla="*/ 0 w 128"/>
                <a:gd name="T73" fmla="*/ 0 h 180"/>
                <a:gd name="T74" fmla="*/ 0 w 128"/>
                <a:gd name="T75" fmla="*/ 0 h 180"/>
                <a:gd name="T76" fmla="*/ 0 w 128"/>
                <a:gd name="T77" fmla="*/ 0 h 180"/>
                <a:gd name="T78" fmla="*/ 0 w 128"/>
                <a:gd name="T79" fmla="*/ 0 h 180"/>
                <a:gd name="T80" fmla="*/ 0 w 128"/>
                <a:gd name="T81" fmla="*/ 0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Freeform 578"/>
            <p:cNvSpPr>
              <a:spLocks/>
            </p:cNvSpPr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0 w 322"/>
                <a:gd name="T1" fmla="*/ 0 h 378"/>
                <a:gd name="T2" fmla="*/ 0 w 322"/>
                <a:gd name="T3" fmla="*/ 0 h 378"/>
                <a:gd name="T4" fmla="*/ 0 w 322"/>
                <a:gd name="T5" fmla="*/ 0 h 378"/>
                <a:gd name="T6" fmla="*/ 0 w 322"/>
                <a:gd name="T7" fmla="*/ 0 h 378"/>
                <a:gd name="T8" fmla="*/ 0 w 322"/>
                <a:gd name="T9" fmla="*/ 0 h 378"/>
                <a:gd name="T10" fmla="*/ 0 w 322"/>
                <a:gd name="T11" fmla="*/ 0 h 378"/>
                <a:gd name="T12" fmla="*/ 0 w 322"/>
                <a:gd name="T13" fmla="*/ 0 h 378"/>
                <a:gd name="T14" fmla="*/ 0 w 322"/>
                <a:gd name="T15" fmla="*/ 0 h 378"/>
                <a:gd name="T16" fmla="*/ 0 w 322"/>
                <a:gd name="T17" fmla="*/ 0 h 378"/>
                <a:gd name="T18" fmla="*/ 0 w 322"/>
                <a:gd name="T19" fmla="*/ 0 h 378"/>
                <a:gd name="T20" fmla="*/ 0 w 322"/>
                <a:gd name="T21" fmla="*/ 0 h 378"/>
                <a:gd name="T22" fmla="*/ 0 w 322"/>
                <a:gd name="T23" fmla="*/ 0 h 378"/>
                <a:gd name="T24" fmla="*/ 0 w 322"/>
                <a:gd name="T25" fmla="*/ 0 h 378"/>
                <a:gd name="T26" fmla="*/ 0 w 322"/>
                <a:gd name="T27" fmla="*/ 0 h 378"/>
                <a:gd name="T28" fmla="*/ 0 w 322"/>
                <a:gd name="T29" fmla="*/ 0 h 378"/>
                <a:gd name="T30" fmla="*/ 0 w 322"/>
                <a:gd name="T31" fmla="*/ 0 h 378"/>
                <a:gd name="T32" fmla="*/ 0 w 322"/>
                <a:gd name="T33" fmla="*/ 0 h 378"/>
                <a:gd name="T34" fmla="*/ 0 w 322"/>
                <a:gd name="T35" fmla="*/ 0 h 378"/>
                <a:gd name="T36" fmla="*/ 0 w 322"/>
                <a:gd name="T37" fmla="*/ 0 h 378"/>
                <a:gd name="T38" fmla="*/ 0 w 322"/>
                <a:gd name="T39" fmla="*/ 0 h 378"/>
                <a:gd name="T40" fmla="*/ 0 w 322"/>
                <a:gd name="T41" fmla="*/ 0 h 378"/>
                <a:gd name="T42" fmla="*/ 0 w 322"/>
                <a:gd name="T43" fmla="*/ 0 h 378"/>
                <a:gd name="T44" fmla="*/ 0 w 322"/>
                <a:gd name="T45" fmla="*/ 0 h 378"/>
                <a:gd name="T46" fmla="*/ 0 w 322"/>
                <a:gd name="T47" fmla="*/ 0 h 378"/>
                <a:gd name="T48" fmla="*/ 0 w 322"/>
                <a:gd name="T49" fmla="*/ 0 h 378"/>
                <a:gd name="T50" fmla="*/ 0 w 322"/>
                <a:gd name="T51" fmla="*/ 0 h 378"/>
                <a:gd name="T52" fmla="*/ 0 w 322"/>
                <a:gd name="T53" fmla="*/ 0 h 378"/>
                <a:gd name="T54" fmla="*/ 0 w 322"/>
                <a:gd name="T55" fmla="*/ 0 h 378"/>
                <a:gd name="T56" fmla="*/ 0 w 322"/>
                <a:gd name="T57" fmla="*/ 0 h 378"/>
                <a:gd name="T58" fmla="*/ 0 w 322"/>
                <a:gd name="T59" fmla="*/ 0 h 378"/>
                <a:gd name="T60" fmla="*/ 0 w 322"/>
                <a:gd name="T61" fmla="*/ 0 h 378"/>
                <a:gd name="T62" fmla="*/ 0 w 322"/>
                <a:gd name="T63" fmla="*/ 0 h 378"/>
                <a:gd name="T64" fmla="*/ 0 w 322"/>
                <a:gd name="T65" fmla="*/ 0 h 378"/>
                <a:gd name="T66" fmla="*/ 0 w 322"/>
                <a:gd name="T67" fmla="*/ 0 h 378"/>
                <a:gd name="T68" fmla="*/ 0 w 322"/>
                <a:gd name="T69" fmla="*/ 0 h 378"/>
                <a:gd name="T70" fmla="*/ 0 w 322"/>
                <a:gd name="T71" fmla="*/ 0 h 378"/>
                <a:gd name="T72" fmla="*/ 0 w 322"/>
                <a:gd name="T73" fmla="*/ 0 h 378"/>
                <a:gd name="T74" fmla="*/ 0 w 322"/>
                <a:gd name="T75" fmla="*/ 0 h 378"/>
                <a:gd name="T76" fmla="*/ 0 w 322"/>
                <a:gd name="T77" fmla="*/ 0 h 378"/>
                <a:gd name="T78" fmla="*/ 0 w 322"/>
                <a:gd name="T79" fmla="*/ 0 h 378"/>
                <a:gd name="T80" fmla="*/ 0 w 322"/>
                <a:gd name="T81" fmla="*/ 0 h 378"/>
                <a:gd name="T82" fmla="*/ 0 w 322"/>
                <a:gd name="T83" fmla="*/ 0 h 378"/>
                <a:gd name="T84" fmla="*/ 0 w 322"/>
                <a:gd name="T85" fmla="*/ 0 h 378"/>
                <a:gd name="T86" fmla="*/ 0 w 322"/>
                <a:gd name="T87" fmla="*/ 0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Freeform 579"/>
            <p:cNvSpPr>
              <a:spLocks/>
            </p:cNvSpPr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0 w 283"/>
                <a:gd name="T1" fmla="*/ 0 h 252"/>
                <a:gd name="T2" fmla="*/ 0 w 283"/>
                <a:gd name="T3" fmla="*/ 0 h 252"/>
                <a:gd name="T4" fmla="*/ 0 w 283"/>
                <a:gd name="T5" fmla="*/ 0 h 252"/>
                <a:gd name="T6" fmla="*/ 0 w 283"/>
                <a:gd name="T7" fmla="*/ 0 h 252"/>
                <a:gd name="T8" fmla="*/ 0 w 283"/>
                <a:gd name="T9" fmla="*/ 0 h 252"/>
                <a:gd name="T10" fmla="*/ 0 w 283"/>
                <a:gd name="T11" fmla="*/ 0 h 252"/>
                <a:gd name="T12" fmla="*/ 0 w 283"/>
                <a:gd name="T13" fmla="*/ 0 h 252"/>
                <a:gd name="T14" fmla="*/ 0 w 283"/>
                <a:gd name="T15" fmla="*/ 0 h 252"/>
                <a:gd name="T16" fmla="*/ 0 w 283"/>
                <a:gd name="T17" fmla="*/ 0 h 252"/>
                <a:gd name="T18" fmla="*/ 0 w 283"/>
                <a:gd name="T19" fmla="*/ 0 h 252"/>
                <a:gd name="T20" fmla="*/ 0 w 283"/>
                <a:gd name="T21" fmla="*/ 0 h 252"/>
                <a:gd name="T22" fmla="*/ 0 w 283"/>
                <a:gd name="T23" fmla="*/ 0 h 252"/>
                <a:gd name="T24" fmla="*/ 0 w 283"/>
                <a:gd name="T25" fmla="*/ 0 h 252"/>
                <a:gd name="T26" fmla="*/ 0 w 283"/>
                <a:gd name="T27" fmla="*/ 0 h 252"/>
                <a:gd name="T28" fmla="*/ 0 w 283"/>
                <a:gd name="T29" fmla="*/ 0 h 252"/>
                <a:gd name="T30" fmla="*/ 0 w 283"/>
                <a:gd name="T31" fmla="*/ 0 h 252"/>
                <a:gd name="T32" fmla="*/ 0 w 283"/>
                <a:gd name="T33" fmla="*/ 0 h 252"/>
                <a:gd name="T34" fmla="*/ 0 w 283"/>
                <a:gd name="T35" fmla="*/ 0 h 252"/>
                <a:gd name="T36" fmla="*/ 0 w 283"/>
                <a:gd name="T37" fmla="*/ 0 h 252"/>
                <a:gd name="T38" fmla="*/ 0 w 283"/>
                <a:gd name="T39" fmla="*/ 0 h 252"/>
                <a:gd name="T40" fmla="*/ 0 w 283"/>
                <a:gd name="T41" fmla="*/ 0 h 252"/>
                <a:gd name="T42" fmla="*/ 0 w 283"/>
                <a:gd name="T43" fmla="*/ 0 h 252"/>
                <a:gd name="T44" fmla="*/ 0 w 283"/>
                <a:gd name="T45" fmla="*/ 0 h 252"/>
                <a:gd name="T46" fmla="*/ 0 w 283"/>
                <a:gd name="T47" fmla="*/ 0 h 252"/>
                <a:gd name="T48" fmla="*/ 0 w 283"/>
                <a:gd name="T49" fmla="*/ 0 h 252"/>
                <a:gd name="T50" fmla="*/ 0 w 283"/>
                <a:gd name="T51" fmla="*/ 0 h 252"/>
                <a:gd name="T52" fmla="*/ 0 w 283"/>
                <a:gd name="T53" fmla="*/ 0 h 252"/>
                <a:gd name="T54" fmla="*/ 0 w 283"/>
                <a:gd name="T55" fmla="*/ 0 h 252"/>
                <a:gd name="T56" fmla="*/ 0 w 283"/>
                <a:gd name="T57" fmla="*/ 0 h 252"/>
                <a:gd name="T58" fmla="*/ 0 w 283"/>
                <a:gd name="T59" fmla="*/ 0 h 252"/>
                <a:gd name="T60" fmla="*/ 0 w 283"/>
                <a:gd name="T61" fmla="*/ 0 h 252"/>
                <a:gd name="T62" fmla="*/ 0 w 283"/>
                <a:gd name="T63" fmla="*/ 0 h 252"/>
                <a:gd name="T64" fmla="*/ 0 w 283"/>
                <a:gd name="T65" fmla="*/ 0 h 252"/>
                <a:gd name="T66" fmla="*/ 0 w 283"/>
                <a:gd name="T67" fmla="*/ 0 h 252"/>
                <a:gd name="T68" fmla="*/ 0 w 283"/>
                <a:gd name="T69" fmla="*/ 0 h 252"/>
                <a:gd name="T70" fmla="*/ 0 w 283"/>
                <a:gd name="T71" fmla="*/ 0 h 252"/>
                <a:gd name="T72" fmla="*/ 0 w 283"/>
                <a:gd name="T73" fmla="*/ 0 h 252"/>
                <a:gd name="T74" fmla="*/ 0 w 283"/>
                <a:gd name="T75" fmla="*/ 0 h 252"/>
                <a:gd name="T76" fmla="*/ 0 w 283"/>
                <a:gd name="T77" fmla="*/ 0 h 252"/>
                <a:gd name="T78" fmla="*/ 0 w 283"/>
                <a:gd name="T79" fmla="*/ 0 h 252"/>
                <a:gd name="T80" fmla="*/ 0 w 283"/>
                <a:gd name="T81" fmla="*/ 0 h 252"/>
                <a:gd name="T82" fmla="*/ 0 w 283"/>
                <a:gd name="T83" fmla="*/ 0 h 252"/>
                <a:gd name="T84" fmla="*/ 0 w 283"/>
                <a:gd name="T85" fmla="*/ 0 h 252"/>
                <a:gd name="T86" fmla="*/ 0 w 283"/>
                <a:gd name="T87" fmla="*/ 0 h 252"/>
                <a:gd name="T88" fmla="*/ 0 w 283"/>
                <a:gd name="T89" fmla="*/ 0 h 252"/>
                <a:gd name="T90" fmla="*/ 0 w 283"/>
                <a:gd name="T91" fmla="*/ 0 h 252"/>
                <a:gd name="T92" fmla="*/ 0 w 283"/>
                <a:gd name="T93" fmla="*/ 0 h 252"/>
                <a:gd name="T94" fmla="*/ 0 w 283"/>
                <a:gd name="T95" fmla="*/ 0 h 252"/>
                <a:gd name="T96" fmla="*/ 0 w 283"/>
                <a:gd name="T97" fmla="*/ 0 h 252"/>
                <a:gd name="T98" fmla="*/ 0 w 283"/>
                <a:gd name="T99" fmla="*/ 0 h 252"/>
                <a:gd name="T100" fmla="*/ 0 w 283"/>
                <a:gd name="T101" fmla="*/ 0 h 252"/>
                <a:gd name="T102" fmla="*/ 0 w 283"/>
                <a:gd name="T103" fmla="*/ 0 h 252"/>
                <a:gd name="T104" fmla="*/ 0 w 283"/>
                <a:gd name="T105" fmla="*/ 0 h 252"/>
                <a:gd name="T106" fmla="*/ 0 w 283"/>
                <a:gd name="T107" fmla="*/ 0 h 252"/>
                <a:gd name="T108" fmla="*/ 0 w 283"/>
                <a:gd name="T109" fmla="*/ 0 h 252"/>
                <a:gd name="T110" fmla="*/ 0 w 283"/>
                <a:gd name="T111" fmla="*/ 0 h 252"/>
                <a:gd name="T112" fmla="*/ 0 w 283"/>
                <a:gd name="T113" fmla="*/ 0 h 252"/>
                <a:gd name="T114" fmla="*/ 0 w 283"/>
                <a:gd name="T115" fmla="*/ 0 h 252"/>
                <a:gd name="T116" fmla="*/ 0 w 283"/>
                <a:gd name="T117" fmla="*/ 0 h 252"/>
                <a:gd name="T118" fmla="*/ 0 w 283"/>
                <a:gd name="T119" fmla="*/ 0 h 252"/>
                <a:gd name="T120" fmla="*/ 0 w 283"/>
                <a:gd name="T121" fmla="*/ 0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Freeform 580"/>
            <p:cNvSpPr>
              <a:spLocks/>
            </p:cNvSpPr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0 h 238"/>
                <a:gd name="T2" fmla="*/ 0 w 114"/>
                <a:gd name="T3" fmla="*/ 0 h 238"/>
                <a:gd name="T4" fmla="*/ 0 w 114"/>
                <a:gd name="T5" fmla="*/ 0 h 238"/>
                <a:gd name="T6" fmla="*/ 0 w 114"/>
                <a:gd name="T7" fmla="*/ 0 h 238"/>
                <a:gd name="T8" fmla="*/ 0 w 114"/>
                <a:gd name="T9" fmla="*/ 0 h 238"/>
                <a:gd name="T10" fmla="*/ 0 w 114"/>
                <a:gd name="T11" fmla="*/ 0 h 238"/>
                <a:gd name="T12" fmla="*/ 0 w 114"/>
                <a:gd name="T13" fmla="*/ 0 h 238"/>
                <a:gd name="T14" fmla="*/ 0 w 114"/>
                <a:gd name="T15" fmla="*/ 0 h 238"/>
                <a:gd name="T16" fmla="*/ 0 w 114"/>
                <a:gd name="T17" fmla="*/ 0 h 238"/>
                <a:gd name="T18" fmla="*/ 0 w 114"/>
                <a:gd name="T19" fmla="*/ 0 h 238"/>
                <a:gd name="T20" fmla="*/ 0 w 114"/>
                <a:gd name="T21" fmla="*/ 0 h 238"/>
                <a:gd name="T22" fmla="*/ 0 w 114"/>
                <a:gd name="T23" fmla="*/ 0 h 238"/>
                <a:gd name="T24" fmla="*/ 0 w 114"/>
                <a:gd name="T25" fmla="*/ 0 h 238"/>
                <a:gd name="T26" fmla="*/ 0 w 114"/>
                <a:gd name="T27" fmla="*/ 0 h 238"/>
                <a:gd name="T28" fmla="*/ 0 w 114"/>
                <a:gd name="T29" fmla="*/ 0 h 238"/>
                <a:gd name="T30" fmla="*/ 0 w 114"/>
                <a:gd name="T31" fmla="*/ 0 h 238"/>
                <a:gd name="T32" fmla="*/ 0 w 114"/>
                <a:gd name="T33" fmla="*/ 0 h 238"/>
                <a:gd name="T34" fmla="*/ 0 w 114"/>
                <a:gd name="T35" fmla="*/ 0 h 238"/>
                <a:gd name="T36" fmla="*/ 0 w 114"/>
                <a:gd name="T37" fmla="*/ 0 h 238"/>
                <a:gd name="T38" fmla="*/ 0 w 114"/>
                <a:gd name="T39" fmla="*/ 0 h 238"/>
                <a:gd name="T40" fmla="*/ 0 w 114"/>
                <a:gd name="T41" fmla="*/ 0 h 238"/>
                <a:gd name="T42" fmla="*/ 0 w 114"/>
                <a:gd name="T43" fmla="*/ 0 h 238"/>
                <a:gd name="T44" fmla="*/ 0 w 114"/>
                <a:gd name="T45" fmla="*/ 0 h 238"/>
                <a:gd name="T46" fmla="*/ 0 w 114"/>
                <a:gd name="T47" fmla="*/ 0 h 238"/>
                <a:gd name="T48" fmla="*/ 0 w 114"/>
                <a:gd name="T49" fmla="*/ 0 h 238"/>
                <a:gd name="T50" fmla="*/ 0 w 114"/>
                <a:gd name="T51" fmla="*/ 0 h 238"/>
                <a:gd name="T52" fmla="*/ 0 w 114"/>
                <a:gd name="T53" fmla="*/ 0 h 238"/>
                <a:gd name="T54" fmla="*/ 0 w 114"/>
                <a:gd name="T55" fmla="*/ 0 h 238"/>
                <a:gd name="T56" fmla="*/ 0 w 114"/>
                <a:gd name="T57" fmla="*/ 0 h 238"/>
                <a:gd name="T58" fmla="*/ 0 w 114"/>
                <a:gd name="T59" fmla="*/ 0 h 238"/>
                <a:gd name="T60" fmla="*/ 0 w 114"/>
                <a:gd name="T61" fmla="*/ 0 h 238"/>
                <a:gd name="T62" fmla="*/ 0 w 114"/>
                <a:gd name="T63" fmla="*/ 0 h 238"/>
                <a:gd name="T64" fmla="*/ 0 w 114"/>
                <a:gd name="T65" fmla="*/ 0 h 238"/>
                <a:gd name="T66" fmla="*/ 0 w 114"/>
                <a:gd name="T67" fmla="*/ 0 h 238"/>
                <a:gd name="T68" fmla="*/ 0 w 114"/>
                <a:gd name="T69" fmla="*/ 0 h 238"/>
                <a:gd name="T70" fmla="*/ 0 w 114"/>
                <a:gd name="T71" fmla="*/ 0 h 238"/>
                <a:gd name="T72" fmla="*/ 0 w 114"/>
                <a:gd name="T73" fmla="*/ 0 h 238"/>
                <a:gd name="T74" fmla="*/ 0 w 114"/>
                <a:gd name="T75" fmla="*/ 0 h 238"/>
                <a:gd name="T76" fmla="*/ 0 w 114"/>
                <a:gd name="T77" fmla="*/ 0 h 238"/>
                <a:gd name="T78" fmla="*/ 0 w 114"/>
                <a:gd name="T79" fmla="*/ 0 h 238"/>
                <a:gd name="T80" fmla="*/ 0 w 114"/>
                <a:gd name="T81" fmla="*/ 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Freeform 581"/>
            <p:cNvSpPr>
              <a:spLocks/>
            </p:cNvSpPr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0 w 246"/>
                <a:gd name="T1" fmla="*/ 0 h 310"/>
                <a:gd name="T2" fmla="*/ 0 w 246"/>
                <a:gd name="T3" fmla="*/ 0 h 310"/>
                <a:gd name="T4" fmla="*/ 0 w 246"/>
                <a:gd name="T5" fmla="*/ 0 h 310"/>
                <a:gd name="T6" fmla="*/ 0 w 246"/>
                <a:gd name="T7" fmla="*/ 0 h 310"/>
                <a:gd name="T8" fmla="*/ 0 w 246"/>
                <a:gd name="T9" fmla="*/ 0 h 310"/>
                <a:gd name="T10" fmla="*/ 0 w 246"/>
                <a:gd name="T11" fmla="*/ 0 h 310"/>
                <a:gd name="T12" fmla="*/ 0 w 246"/>
                <a:gd name="T13" fmla="*/ 0 h 310"/>
                <a:gd name="T14" fmla="*/ 0 w 246"/>
                <a:gd name="T15" fmla="*/ 0 h 310"/>
                <a:gd name="T16" fmla="*/ 0 w 246"/>
                <a:gd name="T17" fmla="*/ 0 h 310"/>
                <a:gd name="T18" fmla="*/ 0 w 246"/>
                <a:gd name="T19" fmla="*/ 0 h 310"/>
                <a:gd name="T20" fmla="*/ 0 w 246"/>
                <a:gd name="T21" fmla="*/ 0 h 310"/>
                <a:gd name="T22" fmla="*/ 0 w 246"/>
                <a:gd name="T23" fmla="*/ 0 h 310"/>
                <a:gd name="T24" fmla="*/ 0 w 246"/>
                <a:gd name="T25" fmla="*/ 0 h 310"/>
                <a:gd name="T26" fmla="*/ 0 w 246"/>
                <a:gd name="T27" fmla="*/ 0 h 310"/>
                <a:gd name="T28" fmla="*/ 0 w 246"/>
                <a:gd name="T29" fmla="*/ 0 h 310"/>
                <a:gd name="T30" fmla="*/ 0 w 246"/>
                <a:gd name="T31" fmla="*/ 0 h 310"/>
                <a:gd name="T32" fmla="*/ 0 w 246"/>
                <a:gd name="T33" fmla="*/ 0 h 310"/>
                <a:gd name="T34" fmla="*/ 0 w 246"/>
                <a:gd name="T35" fmla="*/ 0 h 310"/>
                <a:gd name="T36" fmla="*/ 0 w 246"/>
                <a:gd name="T37" fmla="*/ 0 h 310"/>
                <a:gd name="T38" fmla="*/ 0 w 246"/>
                <a:gd name="T39" fmla="*/ 0 h 310"/>
                <a:gd name="T40" fmla="*/ 0 w 246"/>
                <a:gd name="T41" fmla="*/ 0 h 310"/>
                <a:gd name="T42" fmla="*/ 0 w 246"/>
                <a:gd name="T43" fmla="*/ 0 h 310"/>
                <a:gd name="T44" fmla="*/ 0 w 246"/>
                <a:gd name="T45" fmla="*/ 0 h 310"/>
                <a:gd name="T46" fmla="*/ 0 w 246"/>
                <a:gd name="T47" fmla="*/ 0 h 310"/>
                <a:gd name="T48" fmla="*/ 0 w 246"/>
                <a:gd name="T49" fmla="*/ 0 h 310"/>
                <a:gd name="T50" fmla="*/ 0 w 246"/>
                <a:gd name="T51" fmla="*/ 0 h 310"/>
                <a:gd name="T52" fmla="*/ 0 w 246"/>
                <a:gd name="T53" fmla="*/ 0 h 310"/>
                <a:gd name="T54" fmla="*/ 0 w 246"/>
                <a:gd name="T55" fmla="*/ 0 h 310"/>
                <a:gd name="T56" fmla="*/ 0 w 246"/>
                <a:gd name="T57" fmla="*/ 0 h 310"/>
                <a:gd name="T58" fmla="*/ 0 w 246"/>
                <a:gd name="T59" fmla="*/ 0 h 310"/>
                <a:gd name="T60" fmla="*/ 0 w 246"/>
                <a:gd name="T61" fmla="*/ 0 h 310"/>
                <a:gd name="T62" fmla="*/ 0 w 246"/>
                <a:gd name="T63" fmla="*/ 0 h 310"/>
                <a:gd name="T64" fmla="*/ 0 w 246"/>
                <a:gd name="T65" fmla="*/ 0 h 310"/>
                <a:gd name="T66" fmla="*/ 0 w 246"/>
                <a:gd name="T67" fmla="*/ 0 h 310"/>
                <a:gd name="T68" fmla="*/ 0 w 246"/>
                <a:gd name="T69" fmla="*/ 0 h 310"/>
                <a:gd name="T70" fmla="*/ 0 w 246"/>
                <a:gd name="T71" fmla="*/ 0 h 310"/>
                <a:gd name="T72" fmla="*/ 0 w 246"/>
                <a:gd name="T73" fmla="*/ 0 h 310"/>
                <a:gd name="T74" fmla="*/ 0 w 246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Freeform 582"/>
            <p:cNvSpPr>
              <a:spLocks/>
            </p:cNvSpPr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0 w 83"/>
                <a:gd name="T1" fmla="*/ 0 h 187"/>
                <a:gd name="T2" fmla="*/ 0 w 83"/>
                <a:gd name="T3" fmla="*/ 0 h 187"/>
                <a:gd name="T4" fmla="*/ 0 w 83"/>
                <a:gd name="T5" fmla="*/ 0 h 187"/>
                <a:gd name="T6" fmla="*/ 0 w 83"/>
                <a:gd name="T7" fmla="*/ 0 h 187"/>
                <a:gd name="T8" fmla="*/ 0 w 83"/>
                <a:gd name="T9" fmla="*/ 0 h 187"/>
                <a:gd name="T10" fmla="*/ 0 w 83"/>
                <a:gd name="T11" fmla="*/ 0 h 187"/>
                <a:gd name="T12" fmla="*/ 0 w 83"/>
                <a:gd name="T13" fmla="*/ 0 h 187"/>
                <a:gd name="T14" fmla="*/ 0 w 83"/>
                <a:gd name="T15" fmla="*/ 0 h 187"/>
                <a:gd name="T16" fmla="*/ 0 w 83"/>
                <a:gd name="T17" fmla="*/ 0 h 187"/>
                <a:gd name="T18" fmla="*/ 0 w 83"/>
                <a:gd name="T19" fmla="*/ 0 h 187"/>
                <a:gd name="T20" fmla="*/ 0 w 83"/>
                <a:gd name="T21" fmla="*/ 0 h 187"/>
                <a:gd name="T22" fmla="*/ 0 w 83"/>
                <a:gd name="T23" fmla="*/ 0 h 187"/>
                <a:gd name="T24" fmla="*/ 0 w 83"/>
                <a:gd name="T25" fmla="*/ 0 h 187"/>
                <a:gd name="T26" fmla="*/ 0 w 83"/>
                <a:gd name="T27" fmla="*/ 0 h 187"/>
                <a:gd name="T28" fmla="*/ 0 w 83"/>
                <a:gd name="T29" fmla="*/ 0 h 187"/>
                <a:gd name="T30" fmla="*/ 0 w 83"/>
                <a:gd name="T31" fmla="*/ 0 h 187"/>
                <a:gd name="T32" fmla="*/ 0 w 83"/>
                <a:gd name="T33" fmla="*/ 0 h 187"/>
                <a:gd name="T34" fmla="*/ 0 w 83"/>
                <a:gd name="T35" fmla="*/ 0 h 187"/>
                <a:gd name="T36" fmla="*/ 0 w 83"/>
                <a:gd name="T37" fmla="*/ 0 h 187"/>
                <a:gd name="T38" fmla="*/ 0 w 83"/>
                <a:gd name="T39" fmla="*/ 0 h 187"/>
                <a:gd name="T40" fmla="*/ 0 w 83"/>
                <a:gd name="T41" fmla="*/ 0 h 187"/>
                <a:gd name="T42" fmla="*/ 0 w 83"/>
                <a:gd name="T43" fmla="*/ 0 h 187"/>
                <a:gd name="T44" fmla="*/ 0 w 83"/>
                <a:gd name="T45" fmla="*/ 0 h 187"/>
                <a:gd name="T46" fmla="*/ 0 w 83"/>
                <a:gd name="T47" fmla="*/ 0 h 187"/>
                <a:gd name="T48" fmla="*/ 0 w 83"/>
                <a:gd name="T49" fmla="*/ 0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Freeform 583"/>
            <p:cNvSpPr>
              <a:spLocks/>
            </p:cNvSpPr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0 w 44"/>
                <a:gd name="T1" fmla="*/ 0 h 94"/>
                <a:gd name="T2" fmla="*/ 0 w 44"/>
                <a:gd name="T3" fmla="*/ 0 h 94"/>
                <a:gd name="T4" fmla="*/ 0 w 44"/>
                <a:gd name="T5" fmla="*/ 0 h 94"/>
                <a:gd name="T6" fmla="*/ 0 w 44"/>
                <a:gd name="T7" fmla="*/ 0 h 94"/>
                <a:gd name="T8" fmla="*/ 0 w 44"/>
                <a:gd name="T9" fmla="*/ 0 h 94"/>
                <a:gd name="T10" fmla="*/ 0 w 44"/>
                <a:gd name="T11" fmla="*/ 0 h 94"/>
                <a:gd name="T12" fmla="*/ 0 w 44"/>
                <a:gd name="T13" fmla="*/ 0 h 94"/>
                <a:gd name="T14" fmla="*/ 0 w 44"/>
                <a:gd name="T15" fmla="*/ 0 h 94"/>
                <a:gd name="T16" fmla="*/ 0 w 44"/>
                <a:gd name="T17" fmla="*/ 0 h 94"/>
                <a:gd name="T18" fmla="*/ 0 w 44"/>
                <a:gd name="T19" fmla="*/ 0 h 94"/>
                <a:gd name="T20" fmla="*/ 0 w 44"/>
                <a:gd name="T21" fmla="*/ 0 h 94"/>
                <a:gd name="T22" fmla="*/ 0 w 44"/>
                <a:gd name="T23" fmla="*/ 0 h 94"/>
                <a:gd name="T24" fmla="*/ 0 w 44"/>
                <a:gd name="T25" fmla="*/ 0 h 94"/>
                <a:gd name="T26" fmla="*/ 0 w 44"/>
                <a:gd name="T27" fmla="*/ 0 h 94"/>
                <a:gd name="T28" fmla="*/ 0 w 44"/>
                <a:gd name="T29" fmla="*/ 0 h 94"/>
                <a:gd name="T30" fmla="*/ 0 w 44"/>
                <a:gd name="T31" fmla="*/ 0 h 94"/>
                <a:gd name="T32" fmla="*/ 0 w 44"/>
                <a:gd name="T33" fmla="*/ 0 h 94"/>
                <a:gd name="T34" fmla="*/ 0 w 44"/>
                <a:gd name="T35" fmla="*/ 0 h 94"/>
                <a:gd name="T36" fmla="*/ 0 w 44"/>
                <a:gd name="T37" fmla="*/ 0 h 94"/>
                <a:gd name="T38" fmla="*/ 0 w 44"/>
                <a:gd name="T39" fmla="*/ 0 h 94"/>
                <a:gd name="T40" fmla="*/ 0 w 44"/>
                <a:gd name="T41" fmla="*/ 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Freeform 584"/>
            <p:cNvSpPr>
              <a:spLocks/>
            </p:cNvSpPr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0 w 38"/>
                <a:gd name="T1" fmla="*/ 0 h 54"/>
                <a:gd name="T2" fmla="*/ 0 w 38"/>
                <a:gd name="T3" fmla="*/ 0 h 54"/>
                <a:gd name="T4" fmla="*/ 0 w 38"/>
                <a:gd name="T5" fmla="*/ 0 h 54"/>
                <a:gd name="T6" fmla="*/ 0 w 38"/>
                <a:gd name="T7" fmla="*/ 0 h 54"/>
                <a:gd name="T8" fmla="*/ 0 w 38"/>
                <a:gd name="T9" fmla="*/ 0 h 54"/>
                <a:gd name="T10" fmla="*/ 0 w 38"/>
                <a:gd name="T11" fmla="*/ 0 h 54"/>
                <a:gd name="T12" fmla="*/ 0 w 38"/>
                <a:gd name="T13" fmla="*/ 0 h 54"/>
                <a:gd name="T14" fmla="*/ 0 w 38"/>
                <a:gd name="T15" fmla="*/ 0 h 54"/>
                <a:gd name="T16" fmla="*/ 0 w 38"/>
                <a:gd name="T17" fmla="*/ 0 h 54"/>
                <a:gd name="T18" fmla="*/ 0 w 38"/>
                <a:gd name="T19" fmla="*/ 0 h 54"/>
                <a:gd name="T20" fmla="*/ 0 w 38"/>
                <a:gd name="T21" fmla="*/ 0 h 54"/>
                <a:gd name="T22" fmla="*/ 0 w 38"/>
                <a:gd name="T23" fmla="*/ 0 h 54"/>
                <a:gd name="T24" fmla="*/ 0 w 38"/>
                <a:gd name="T25" fmla="*/ 0 h 54"/>
                <a:gd name="T26" fmla="*/ 0 w 38"/>
                <a:gd name="T27" fmla="*/ 0 h 54"/>
                <a:gd name="T28" fmla="*/ 0 w 38"/>
                <a:gd name="T29" fmla="*/ 0 h 54"/>
                <a:gd name="T30" fmla="*/ 0 w 38"/>
                <a:gd name="T31" fmla="*/ 0 h 54"/>
                <a:gd name="T32" fmla="*/ 0 w 38"/>
                <a:gd name="T33" fmla="*/ 0 h 54"/>
                <a:gd name="T34" fmla="*/ 0 w 38"/>
                <a:gd name="T35" fmla="*/ 0 h 54"/>
                <a:gd name="T36" fmla="*/ 0 w 38"/>
                <a:gd name="T37" fmla="*/ 0 h 54"/>
                <a:gd name="T38" fmla="*/ 0 w 38"/>
                <a:gd name="T39" fmla="*/ 0 h 54"/>
                <a:gd name="T40" fmla="*/ 0 w 38"/>
                <a:gd name="T41" fmla="*/ 0 h 54"/>
                <a:gd name="T42" fmla="*/ 0 w 38"/>
                <a:gd name="T43" fmla="*/ 0 h 54"/>
                <a:gd name="T44" fmla="*/ 0 w 38"/>
                <a:gd name="T45" fmla="*/ 0 h 54"/>
                <a:gd name="T46" fmla="*/ 0 w 38"/>
                <a:gd name="T47" fmla="*/ 0 h 54"/>
                <a:gd name="T48" fmla="*/ 0 w 38"/>
                <a:gd name="T49" fmla="*/ 0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Freeform 585"/>
            <p:cNvSpPr>
              <a:spLocks/>
            </p:cNvSpPr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0 w 52"/>
                <a:gd name="T1" fmla="*/ 0 h 36"/>
                <a:gd name="T2" fmla="*/ 0 w 52"/>
                <a:gd name="T3" fmla="*/ 0 h 36"/>
                <a:gd name="T4" fmla="*/ 0 w 52"/>
                <a:gd name="T5" fmla="*/ 0 h 36"/>
                <a:gd name="T6" fmla="*/ 0 w 52"/>
                <a:gd name="T7" fmla="*/ 0 h 36"/>
                <a:gd name="T8" fmla="*/ 0 w 52"/>
                <a:gd name="T9" fmla="*/ 0 h 36"/>
                <a:gd name="T10" fmla="*/ 0 w 52"/>
                <a:gd name="T11" fmla="*/ 0 h 36"/>
                <a:gd name="T12" fmla="*/ 0 w 52"/>
                <a:gd name="T13" fmla="*/ 0 h 36"/>
                <a:gd name="T14" fmla="*/ 0 w 52"/>
                <a:gd name="T15" fmla="*/ 0 h 36"/>
                <a:gd name="T16" fmla="*/ 0 w 52"/>
                <a:gd name="T17" fmla="*/ 0 h 36"/>
                <a:gd name="T18" fmla="*/ 0 w 52"/>
                <a:gd name="T19" fmla="*/ 0 h 36"/>
                <a:gd name="T20" fmla="*/ 0 w 52"/>
                <a:gd name="T21" fmla="*/ 0 h 36"/>
                <a:gd name="T22" fmla="*/ 0 w 52"/>
                <a:gd name="T23" fmla="*/ 0 h 36"/>
                <a:gd name="T24" fmla="*/ 0 w 52"/>
                <a:gd name="T25" fmla="*/ 0 h 36"/>
                <a:gd name="T26" fmla="*/ 0 w 52"/>
                <a:gd name="T27" fmla="*/ 0 h 36"/>
                <a:gd name="T28" fmla="*/ 0 w 52"/>
                <a:gd name="T29" fmla="*/ 0 h 36"/>
                <a:gd name="T30" fmla="*/ 0 w 52"/>
                <a:gd name="T31" fmla="*/ 0 h 36"/>
                <a:gd name="T32" fmla="*/ 0 w 52"/>
                <a:gd name="T33" fmla="*/ 0 h 36"/>
                <a:gd name="T34" fmla="*/ 0 w 52"/>
                <a:gd name="T35" fmla="*/ 0 h 36"/>
                <a:gd name="T36" fmla="*/ 0 w 52"/>
                <a:gd name="T37" fmla="*/ 0 h 36"/>
                <a:gd name="T38" fmla="*/ 0 w 52"/>
                <a:gd name="T39" fmla="*/ 0 h 36"/>
                <a:gd name="T40" fmla="*/ 0 w 52"/>
                <a:gd name="T41" fmla="*/ 0 h 36"/>
                <a:gd name="T42" fmla="*/ 0 w 52"/>
                <a:gd name="T43" fmla="*/ 0 h 36"/>
                <a:gd name="T44" fmla="*/ 0 w 52"/>
                <a:gd name="T45" fmla="*/ 0 h 36"/>
                <a:gd name="T46" fmla="*/ 0 w 52"/>
                <a:gd name="T47" fmla="*/ 0 h 36"/>
                <a:gd name="T48" fmla="*/ 0 w 52"/>
                <a:gd name="T49" fmla="*/ 0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Freeform 586"/>
            <p:cNvSpPr>
              <a:spLocks/>
            </p:cNvSpPr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0 w 198"/>
                <a:gd name="T1" fmla="*/ 0 h 236"/>
                <a:gd name="T2" fmla="*/ 0 w 198"/>
                <a:gd name="T3" fmla="*/ 0 h 236"/>
                <a:gd name="T4" fmla="*/ 0 w 198"/>
                <a:gd name="T5" fmla="*/ 0 h 236"/>
                <a:gd name="T6" fmla="*/ 0 w 198"/>
                <a:gd name="T7" fmla="*/ 0 h 236"/>
                <a:gd name="T8" fmla="*/ 0 w 198"/>
                <a:gd name="T9" fmla="*/ 0 h 236"/>
                <a:gd name="T10" fmla="*/ 0 w 198"/>
                <a:gd name="T11" fmla="*/ 0 h 236"/>
                <a:gd name="T12" fmla="*/ 0 w 198"/>
                <a:gd name="T13" fmla="*/ 0 h 236"/>
                <a:gd name="T14" fmla="*/ 0 w 198"/>
                <a:gd name="T15" fmla="*/ 0 h 236"/>
                <a:gd name="T16" fmla="*/ 0 w 198"/>
                <a:gd name="T17" fmla="*/ 0 h 236"/>
                <a:gd name="T18" fmla="*/ 0 w 198"/>
                <a:gd name="T19" fmla="*/ 0 h 236"/>
                <a:gd name="T20" fmla="*/ 0 w 198"/>
                <a:gd name="T21" fmla="*/ 0 h 236"/>
                <a:gd name="T22" fmla="*/ 0 w 198"/>
                <a:gd name="T23" fmla="*/ 0 h 236"/>
                <a:gd name="T24" fmla="*/ 0 w 198"/>
                <a:gd name="T25" fmla="*/ 0 h 236"/>
                <a:gd name="T26" fmla="*/ 0 w 198"/>
                <a:gd name="T27" fmla="*/ 0 h 236"/>
                <a:gd name="T28" fmla="*/ 0 w 198"/>
                <a:gd name="T29" fmla="*/ 0 h 236"/>
                <a:gd name="T30" fmla="*/ 0 w 198"/>
                <a:gd name="T31" fmla="*/ 0 h 236"/>
                <a:gd name="T32" fmla="*/ 0 w 198"/>
                <a:gd name="T33" fmla="*/ 0 h 236"/>
                <a:gd name="T34" fmla="*/ 0 w 198"/>
                <a:gd name="T35" fmla="*/ 0 h 236"/>
                <a:gd name="T36" fmla="*/ 0 w 198"/>
                <a:gd name="T37" fmla="*/ 0 h 236"/>
                <a:gd name="T38" fmla="*/ 0 w 198"/>
                <a:gd name="T39" fmla="*/ 0 h 236"/>
                <a:gd name="T40" fmla="*/ 0 w 198"/>
                <a:gd name="T41" fmla="*/ 0 h 236"/>
                <a:gd name="T42" fmla="*/ 0 w 198"/>
                <a:gd name="T43" fmla="*/ 0 h 236"/>
                <a:gd name="T44" fmla="*/ 0 w 198"/>
                <a:gd name="T45" fmla="*/ 0 h 236"/>
                <a:gd name="T46" fmla="*/ 0 w 198"/>
                <a:gd name="T47" fmla="*/ 0 h 236"/>
                <a:gd name="T48" fmla="*/ 0 w 198"/>
                <a:gd name="T49" fmla="*/ 0 h 236"/>
                <a:gd name="T50" fmla="*/ 0 w 198"/>
                <a:gd name="T51" fmla="*/ 0 h 236"/>
                <a:gd name="T52" fmla="*/ 0 w 198"/>
                <a:gd name="T53" fmla="*/ 0 h 236"/>
                <a:gd name="T54" fmla="*/ 0 w 198"/>
                <a:gd name="T55" fmla="*/ 0 h 236"/>
                <a:gd name="T56" fmla="*/ 0 w 198"/>
                <a:gd name="T57" fmla="*/ 0 h 236"/>
                <a:gd name="T58" fmla="*/ 0 w 198"/>
                <a:gd name="T59" fmla="*/ 0 h 236"/>
                <a:gd name="T60" fmla="*/ 0 w 198"/>
                <a:gd name="T61" fmla="*/ 0 h 236"/>
                <a:gd name="T62" fmla="*/ 0 w 198"/>
                <a:gd name="T63" fmla="*/ 0 h 236"/>
                <a:gd name="T64" fmla="*/ 0 w 198"/>
                <a:gd name="T65" fmla="*/ 0 h 236"/>
                <a:gd name="T66" fmla="*/ 0 w 198"/>
                <a:gd name="T67" fmla="*/ 0 h 236"/>
                <a:gd name="T68" fmla="*/ 0 w 198"/>
                <a:gd name="T69" fmla="*/ 0 h 236"/>
                <a:gd name="T70" fmla="*/ 0 w 198"/>
                <a:gd name="T71" fmla="*/ 0 h 236"/>
                <a:gd name="T72" fmla="*/ 0 w 198"/>
                <a:gd name="T73" fmla="*/ 0 h 236"/>
                <a:gd name="T74" fmla="*/ 0 w 198"/>
                <a:gd name="T75" fmla="*/ 0 h 236"/>
                <a:gd name="T76" fmla="*/ 0 w 198"/>
                <a:gd name="T77" fmla="*/ 0 h 236"/>
                <a:gd name="T78" fmla="*/ 0 w 198"/>
                <a:gd name="T79" fmla="*/ 0 h 236"/>
                <a:gd name="T80" fmla="*/ 0 w 198"/>
                <a:gd name="T81" fmla="*/ 0 h 236"/>
                <a:gd name="T82" fmla="*/ 0 w 198"/>
                <a:gd name="T83" fmla="*/ 0 h 236"/>
                <a:gd name="T84" fmla="*/ 0 w 198"/>
                <a:gd name="T85" fmla="*/ 0 h 236"/>
                <a:gd name="T86" fmla="*/ 0 w 198"/>
                <a:gd name="T87" fmla="*/ 0 h 236"/>
                <a:gd name="T88" fmla="*/ 0 w 198"/>
                <a:gd name="T89" fmla="*/ 0 h 236"/>
                <a:gd name="T90" fmla="*/ 0 w 198"/>
                <a:gd name="T91" fmla="*/ 0 h 236"/>
                <a:gd name="T92" fmla="*/ 0 w 198"/>
                <a:gd name="T93" fmla="*/ 0 h 236"/>
                <a:gd name="T94" fmla="*/ 0 w 198"/>
                <a:gd name="T95" fmla="*/ 0 h 236"/>
                <a:gd name="T96" fmla="*/ 0 w 198"/>
                <a:gd name="T97" fmla="*/ 0 h 236"/>
                <a:gd name="T98" fmla="*/ 0 w 198"/>
                <a:gd name="T99" fmla="*/ 0 h 236"/>
                <a:gd name="T100" fmla="*/ 0 w 198"/>
                <a:gd name="T101" fmla="*/ 0 h 236"/>
                <a:gd name="T102" fmla="*/ 0 w 198"/>
                <a:gd name="T103" fmla="*/ 0 h 236"/>
                <a:gd name="T104" fmla="*/ 0 w 198"/>
                <a:gd name="T105" fmla="*/ 0 h 236"/>
                <a:gd name="T106" fmla="*/ 0 w 198"/>
                <a:gd name="T107" fmla="*/ 0 h 236"/>
                <a:gd name="T108" fmla="*/ 0 w 198"/>
                <a:gd name="T109" fmla="*/ 0 h 236"/>
                <a:gd name="T110" fmla="*/ 0 w 198"/>
                <a:gd name="T111" fmla="*/ 0 h 236"/>
                <a:gd name="T112" fmla="*/ 0 w 198"/>
                <a:gd name="T113" fmla="*/ 0 h 236"/>
                <a:gd name="T114" fmla="*/ 0 w 198"/>
                <a:gd name="T115" fmla="*/ 0 h 236"/>
                <a:gd name="T116" fmla="*/ 0 w 198"/>
                <a:gd name="T117" fmla="*/ 0 h 236"/>
                <a:gd name="T118" fmla="*/ 0 w 198"/>
                <a:gd name="T119" fmla="*/ 0 h 236"/>
                <a:gd name="T120" fmla="*/ 0 w 198"/>
                <a:gd name="T121" fmla="*/ 0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Freeform 587"/>
            <p:cNvSpPr>
              <a:spLocks/>
            </p:cNvSpPr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0 w 128"/>
                <a:gd name="T1" fmla="*/ 0 h 183"/>
                <a:gd name="T2" fmla="*/ 0 w 128"/>
                <a:gd name="T3" fmla="*/ 0 h 183"/>
                <a:gd name="T4" fmla="*/ 0 w 128"/>
                <a:gd name="T5" fmla="*/ 0 h 183"/>
                <a:gd name="T6" fmla="*/ 0 w 128"/>
                <a:gd name="T7" fmla="*/ 0 h 183"/>
                <a:gd name="T8" fmla="*/ 0 w 128"/>
                <a:gd name="T9" fmla="*/ 0 h 183"/>
                <a:gd name="T10" fmla="*/ 0 w 128"/>
                <a:gd name="T11" fmla="*/ 0 h 183"/>
                <a:gd name="T12" fmla="*/ 0 w 128"/>
                <a:gd name="T13" fmla="*/ 0 h 183"/>
                <a:gd name="T14" fmla="*/ 0 w 128"/>
                <a:gd name="T15" fmla="*/ 0 h 183"/>
                <a:gd name="T16" fmla="*/ 0 w 128"/>
                <a:gd name="T17" fmla="*/ 0 h 183"/>
                <a:gd name="T18" fmla="*/ 0 w 128"/>
                <a:gd name="T19" fmla="*/ 0 h 183"/>
                <a:gd name="T20" fmla="*/ 0 w 128"/>
                <a:gd name="T21" fmla="*/ 0 h 183"/>
                <a:gd name="T22" fmla="*/ 0 w 128"/>
                <a:gd name="T23" fmla="*/ 0 h 183"/>
                <a:gd name="T24" fmla="*/ 0 w 128"/>
                <a:gd name="T25" fmla="*/ 0 h 183"/>
                <a:gd name="T26" fmla="*/ 0 w 128"/>
                <a:gd name="T27" fmla="*/ 0 h 183"/>
                <a:gd name="T28" fmla="*/ 0 w 128"/>
                <a:gd name="T29" fmla="*/ 0 h 183"/>
                <a:gd name="T30" fmla="*/ 0 w 128"/>
                <a:gd name="T31" fmla="*/ 0 h 183"/>
                <a:gd name="T32" fmla="*/ 0 w 128"/>
                <a:gd name="T33" fmla="*/ 0 h 183"/>
                <a:gd name="T34" fmla="*/ 0 w 128"/>
                <a:gd name="T35" fmla="*/ 0 h 183"/>
                <a:gd name="T36" fmla="*/ 0 w 128"/>
                <a:gd name="T37" fmla="*/ 0 h 183"/>
                <a:gd name="T38" fmla="*/ 0 w 128"/>
                <a:gd name="T39" fmla="*/ 0 h 183"/>
                <a:gd name="T40" fmla="*/ 0 w 128"/>
                <a:gd name="T41" fmla="*/ 0 h 183"/>
                <a:gd name="T42" fmla="*/ 0 w 128"/>
                <a:gd name="T43" fmla="*/ 0 h 183"/>
                <a:gd name="T44" fmla="*/ 0 w 128"/>
                <a:gd name="T45" fmla="*/ 0 h 183"/>
                <a:gd name="T46" fmla="*/ 0 w 128"/>
                <a:gd name="T47" fmla="*/ 0 h 183"/>
                <a:gd name="T48" fmla="*/ 0 w 128"/>
                <a:gd name="T49" fmla="*/ 0 h 183"/>
                <a:gd name="T50" fmla="*/ 0 w 128"/>
                <a:gd name="T51" fmla="*/ 0 h 183"/>
                <a:gd name="T52" fmla="*/ 0 w 128"/>
                <a:gd name="T53" fmla="*/ 0 h 183"/>
                <a:gd name="T54" fmla="*/ 0 w 128"/>
                <a:gd name="T55" fmla="*/ 0 h 183"/>
                <a:gd name="T56" fmla="*/ 0 w 128"/>
                <a:gd name="T57" fmla="*/ 0 h 183"/>
                <a:gd name="T58" fmla="*/ 0 w 128"/>
                <a:gd name="T59" fmla="*/ 0 h 183"/>
                <a:gd name="T60" fmla="*/ 0 w 128"/>
                <a:gd name="T61" fmla="*/ 0 h 183"/>
                <a:gd name="T62" fmla="*/ 0 w 128"/>
                <a:gd name="T63" fmla="*/ 0 h 183"/>
                <a:gd name="T64" fmla="*/ 0 w 128"/>
                <a:gd name="T65" fmla="*/ 0 h 183"/>
                <a:gd name="T66" fmla="*/ 0 w 128"/>
                <a:gd name="T67" fmla="*/ 0 h 183"/>
                <a:gd name="T68" fmla="*/ 0 w 128"/>
                <a:gd name="T69" fmla="*/ 0 h 183"/>
                <a:gd name="T70" fmla="*/ 0 w 128"/>
                <a:gd name="T71" fmla="*/ 0 h 183"/>
                <a:gd name="T72" fmla="*/ 0 w 128"/>
                <a:gd name="T73" fmla="*/ 0 h 183"/>
                <a:gd name="T74" fmla="*/ 0 w 128"/>
                <a:gd name="T75" fmla="*/ 0 h 183"/>
                <a:gd name="T76" fmla="*/ 0 w 128"/>
                <a:gd name="T77" fmla="*/ 0 h 183"/>
                <a:gd name="T78" fmla="*/ 0 w 128"/>
                <a:gd name="T79" fmla="*/ 0 h 183"/>
                <a:gd name="T80" fmla="*/ 0 w 128"/>
                <a:gd name="T81" fmla="*/ 0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Freeform 588"/>
            <p:cNvSpPr>
              <a:spLocks/>
            </p:cNvSpPr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0 w 323"/>
                <a:gd name="T1" fmla="*/ 0 h 379"/>
                <a:gd name="T2" fmla="*/ 0 w 323"/>
                <a:gd name="T3" fmla="*/ 0 h 379"/>
                <a:gd name="T4" fmla="*/ 0 w 323"/>
                <a:gd name="T5" fmla="*/ 0 h 379"/>
                <a:gd name="T6" fmla="*/ 0 w 323"/>
                <a:gd name="T7" fmla="*/ 0 h 379"/>
                <a:gd name="T8" fmla="*/ 0 w 323"/>
                <a:gd name="T9" fmla="*/ 0 h 379"/>
                <a:gd name="T10" fmla="*/ 0 w 323"/>
                <a:gd name="T11" fmla="*/ 0 h 379"/>
                <a:gd name="T12" fmla="*/ 0 w 323"/>
                <a:gd name="T13" fmla="*/ 0 h 379"/>
                <a:gd name="T14" fmla="*/ 0 w 323"/>
                <a:gd name="T15" fmla="*/ 0 h 379"/>
                <a:gd name="T16" fmla="*/ 0 w 323"/>
                <a:gd name="T17" fmla="*/ 0 h 379"/>
                <a:gd name="T18" fmla="*/ 0 w 323"/>
                <a:gd name="T19" fmla="*/ 0 h 379"/>
                <a:gd name="T20" fmla="*/ 0 w 323"/>
                <a:gd name="T21" fmla="*/ 0 h 379"/>
                <a:gd name="T22" fmla="*/ 0 w 323"/>
                <a:gd name="T23" fmla="*/ 0 h 379"/>
                <a:gd name="T24" fmla="*/ 0 w 323"/>
                <a:gd name="T25" fmla="*/ 0 h 379"/>
                <a:gd name="T26" fmla="*/ 0 w 323"/>
                <a:gd name="T27" fmla="*/ 0 h 379"/>
                <a:gd name="T28" fmla="*/ 0 w 323"/>
                <a:gd name="T29" fmla="*/ 0 h 379"/>
                <a:gd name="T30" fmla="*/ 0 w 323"/>
                <a:gd name="T31" fmla="*/ 0 h 379"/>
                <a:gd name="T32" fmla="*/ 0 w 323"/>
                <a:gd name="T33" fmla="*/ 0 h 379"/>
                <a:gd name="T34" fmla="*/ 0 w 323"/>
                <a:gd name="T35" fmla="*/ 0 h 379"/>
                <a:gd name="T36" fmla="*/ 0 w 323"/>
                <a:gd name="T37" fmla="*/ 0 h 379"/>
                <a:gd name="T38" fmla="*/ 0 w 323"/>
                <a:gd name="T39" fmla="*/ 0 h 379"/>
                <a:gd name="T40" fmla="*/ 0 w 323"/>
                <a:gd name="T41" fmla="*/ 0 h 379"/>
                <a:gd name="T42" fmla="*/ 0 w 323"/>
                <a:gd name="T43" fmla="*/ 0 h 379"/>
                <a:gd name="T44" fmla="*/ 0 w 323"/>
                <a:gd name="T45" fmla="*/ 0 h 379"/>
                <a:gd name="T46" fmla="*/ 0 w 323"/>
                <a:gd name="T47" fmla="*/ 0 h 379"/>
                <a:gd name="T48" fmla="*/ 0 w 323"/>
                <a:gd name="T49" fmla="*/ 0 h 379"/>
                <a:gd name="T50" fmla="*/ 0 w 323"/>
                <a:gd name="T51" fmla="*/ 0 h 379"/>
                <a:gd name="T52" fmla="*/ 0 w 323"/>
                <a:gd name="T53" fmla="*/ 0 h 379"/>
                <a:gd name="T54" fmla="*/ 0 w 323"/>
                <a:gd name="T55" fmla="*/ 0 h 379"/>
                <a:gd name="T56" fmla="*/ 0 w 323"/>
                <a:gd name="T57" fmla="*/ 0 h 379"/>
                <a:gd name="T58" fmla="*/ 0 w 323"/>
                <a:gd name="T59" fmla="*/ 0 h 379"/>
                <a:gd name="T60" fmla="*/ 0 w 323"/>
                <a:gd name="T61" fmla="*/ 0 h 379"/>
                <a:gd name="T62" fmla="*/ 0 w 323"/>
                <a:gd name="T63" fmla="*/ 0 h 379"/>
                <a:gd name="T64" fmla="*/ 0 w 323"/>
                <a:gd name="T65" fmla="*/ 0 h 379"/>
                <a:gd name="T66" fmla="*/ 0 w 323"/>
                <a:gd name="T67" fmla="*/ 0 h 379"/>
                <a:gd name="T68" fmla="*/ 0 w 323"/>
                <a:gd name="T69" fmla="*/ 0 h 379"/>
                <a:gd name="T70" fmla="*/ 0 w 323"/>
                <a:gd name="T71" fmla="*/ 0 h 379"/>
                <a:gd name="T72" fmla="*/ 0 w 323"/>
                <a:gd name="T73" fmla="*/ 0 h 379"/>
                <a:gd name="T74" fmla="*/ 0 w 323"/>
                <a:gd name="T75" fmla="*/ 0 h 379"/>
                <a:gd name="T76" fmla="*/ 0 w 323"/>
                <a:gd name="T77" fmla="*/ 0 h 379"/>
                <a:gd name="T78" fmla="*/ 0 w 323"/>
                <a:gd name="T79" fmla="*/ 0 h 379"/>
                <a:gd name="T80" fmla="*/ 0 w 323"/>
                <a:gd name="T81" fmla="*/ 0 h 379"/>
                <a:gd name="T82" fmla="*/ 0 w 323"/>
                <a:gd name="T83" fmla="*/ 0 h 379"/>
                <a:gd name="T84" fmla="*/ 0 w 323"/>
                <a:gd name="T85" fmla="*/ 0 h 379"/>
                <a:gd name="T86" fmla="*/ 0 w 323"/>
                <a:gd name="T87" fmla="*/ 0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Freeform 589"/>
            <p:cNvSpPr>
              <a:spLocks/>
            </p:cNvSpPr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0 w 282"/>
                <a:gd name="T1" fmla="*/ 0 h 253"/>
                <a:gd name="T2" fmla="*/ 0 w 282"/>
                <a:gd name="T3" fmla="*/ 0 h 253"/>
                <a:gd name="T4" fmla="*/ 0 w 282"/>
                <a:gd name="T5" fmla="*/ 0 h 253"/>
                <a:gd name="T6" fmla="*/ 0 w 282"/>
                <a:gd name="T7" fmla="*/ 0 h 253"/>
                <a:gd name="T8" fmla="*/ 0 w 282"/>
                <a:gd name="T9" fmla="*/ 0 h 253"/>
                <a:gd name="T10" fmla="*/ 0 w 282"/>
                <a:gd name="T11" fmla="*/ 0 h 253"/>
                <a:gd name="T12" fmla="*/ 0 w 282"/>
                <a:gd name="T13" fmla="*/ 0 h 253"/>
                <a:gd name="T14" fmla="*/ 0 w 282"/>
                <a:gd name="T15" fmla="*/ 0 h 253"/>
                <a:gd name="T16" fmla="*/ 0 w 282"/>
                <a:gd name="T17" fmla="*/ 0 h 253"/>
                <a:gd name="T18" fmla="*/ 0 w 282"/>
                <a:gd name="T19" fmla="*/ 0 h 253"/>
                <a:gd name="T20" fmla="*/ 0 w 282"/>
                <a:gd name="T21" fmla="*/ 0 h 253"/>
                <a:gd name="T22" fmla="*/ 0 w 282"/>
                <a:gd name="T23" fmla="*/ 0 h 253"/>
                <a:gd name="T24" fmla="*/ 0 w 282"/>
                <a:gd name="T25" fmla="*/ 0 h 253"/>
                <a:gd name="T26" fmla="*/ 0 w 282"/>
                <a:gd name="T27" fmla="*/ 0 h 253"/>
                <a:gd name="T28" fmla="*/ 0 w 282"/>
                <a:gd name="T29" fmla="*/ 0 h 253"/>
                <a:gd name="T30" fmla="*/ 0 w 282"/>
                <a:gd name="T31" fmla="*/ 0 h 253"/>
                <a:gd name="T32" fmla="*/ 0 w 282"/>
                <a:gd name="T33" fmla="*/ 0 h 253"/>
                <a:gd name="T34" fmla="*/ 0 w 282"/>
                <a:gd name="T35" fmla="*/ 0 h 253"/>
                <a:gd name="T36" fmla="*/ 0 w 282"/>
                <a:gd name="T37" fmla="*/ 0 h 253"/>
                <a:gd name="T38" fmla="*/ 0 w 282"/>
                <a:gd name="T39" fmla="*/ 0 h 253"/>
                <a:gd name="T40" fmla="*/ 0 w 282"/>
                <a:gd name="T41" fmla="*/ 0 h 253"/>
                <a:gd name="T42" fmla="*/ 0 w 282"/>
                <a:gd name="T43" fmla="*/ 0 h 253"/>
                <a:gd name="T44" fmla="*/ 0 w 282"/>
                <a:gd name="T45" fmla="*/ 0 h 253"/>
                <a:gd name="T46" fmla="*/ 0 w 282"/>
                <a:gd name="T47" fmla="*/ 0 h 253"/>
                <a:gd name="T48" fmla="*/ 0 w 282"/>
                <a:gd name="T49" fmla="*/ 0 h 253"/>
                <a:gd name="T50" fmla="*/ 0 w 282"/>
                <a:gd name="T51" fmla="*/ 0 h 253"/>
                <a:gd name="T52" fmla="*/ 0 w 282"/>
                <a:gd name="T53" fmla="*/ 0 h 253"/>
                <a:gd name="T54" fmla="*/ 0 w 282"/>
                <a:gd name="T55" fmla="*/ 0 h 253"/>
                <a:gd name="T56" fmla="*/ 0 w 282"/>
                <a:gd name="T57" fmla="*/ 0 h 253"/>
                <a:gd name="T58" fmla="*/ 0 w 282"/>
                <a:gd name="T59" fmla="*/ 0 h 253"/>
                <a:gd name="T60" fmla="*/ 0 w 282"/>
                <a:gd name="T61" fmla="*/ 0 h 253"/>
                <a:gd name="T62" fmla="*/ 0 w 282"/>
                <a:gd name="T63" fmla="*/ 0 h 253"/>
                <a:gd name="T64" fmla="*/ 0 w 282"/>
                <a:gd name="T65" fmla="*/ 0 h 253"/>
                <a:gd name="T66" fmla="*/ 0 w 282"/>
                <a:gd name="T67" fmla="*/ 0 h 253"/>
                <a:gd name="T68" fmla="*/ 0 w 282"/>
                <a:gd name="T69" fmla="*/ 0 h 253"/>
                <a:gd name="T70" fmla="*/ 0 w 282"/>
                <a:gd name="T71" fmla="*/ 0 h 253"/>
                <a:gd name="T72" fmla="*/ 0 w 282"/>
                <a:gd name="T73" fmla="*/ 0 h 253"/>
                <a:gd name="T74" fmla="*/ 0 w 282"/>
                <a:gd name="T75" fmla="*/ 0 h 253"/>
                <a:gd name="T76" fmla="*/ 0 w 282"/>
                <a:gd name="T77" fmla="*/ 0 h 253"/>
                <a:gd name="T78" fmla="*/ 0 w 282"/>
                <a:gd name="T79" fmla="*/ 0 h 253"/>
                <a:gd name="T80" fmla="*/ 0 w 282"/>
                <a:gd name="T81" fmla="*/ 0 h 253"/>
                <a:gd name="T82" fmla="*/ 0 w 282"/>
                <a:gd name="T83" fmla="*/ 0 h 253"/>
                <a:gd name="T84" fmla="*/ 0 w 282"/>
                <a:gd name="T85" fmla="*/ 0 h 253"/>
                <a:gd name="T86" fmla="*/ 0 w 282"/>
                <a:gd name="T87" fmla="*/ 0 h 253"/>
                <a:gd name="T88" fmla="*/ 0 w 282"/>
                <a:gd name="T89" fmla="*/ 0 h 253"/>
                <a:gd name="T90" fmla="*/ 0 w 282"/>
                <a:gd name="T91" fmla="*/ 0 h 253"/>
                <a:gd name="T92" fmla="*/ 0 w 282"/>
                <a:gd name="T93" fmla="*/ 0 h 253"/>
                <a:gd name="T94" fmla="*/ 0 w 282"/>
                <a:gd name="T95" fmla="*/ 0 h 253"/>
                <a:gd name="T96" fmla="*/ 0 w 282"/>
                <a:gd name="T97" fmla="*/ 0 h 253"/>
                <a:gd name="T98" fmla="*/ 0 w 282"/>
                <a:gd name="T99" fmla="*/ 0 h 253"/>
                <a:gd name="T100" fmla="*/ 0 w 282"/>
                <a:gd name="T101" fmla="*/ 0 h 253"/>
                <a:gd name="T102" fmla="*/ 0 w 282"/>
                <a:gd name="T103" fmla="*/ 0 h 253"/>
                <a:gd name="T104" fmla="*/ 0 w 282"/>
                <a:gd name="T105" fmla="*/ 0 h 253"/>
                <a:gd name="T106" fmla="*/ 0 w 282"/>
                <a:gd name="T107" fmla="*/ 0 h 253"/>
                <a:gd name="T108" fmla="*/ 0 w 282"/>
                <a:gd name="T109" fmla="*/ 0 h 253"/>
                <a:gd name="T110" fmla="*/ 0 w 282"/>
                <a:gd name="T111" fmla="*/ 0 h 253"/>
                <a:gd name="T112" fmla="*/ 0 w 282"/>
                <a:gd name="T113" fmla="*/ 0 h 253"/>
                <a:gd name="T114" fmla="*/ 0 w 282"/>
                <a:gd name="T115" fmla="*/ 0 h 253"/>
                <a:gd name="T116" fmla="*/ 0 w 282"/>
                <a:gd name="T117" fmla="*/ 0 h 253"/>
                <a:gd name="T118" fmla="*/ 0 w 282"/>
                <a:gd name="T119" fmla="*/ 0 h 253"/>
                <a:gd name="T120" fmla="*/ 0 w 282"/>
                <a:gd name="T121" fmla="*/ 0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Freeform 590"/>
            <p:cNvSpPr>
              <a:spLocks/>
            </p:cNvSpPr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0 h 236"/>
                <a:gd name="T2" fmla="*/ 0 w 115"/>
                <a:gd name="T3" fmla="*/ 0 h 236"/>
                <a:gd name="T4" fmla="*/ 0 w 115"/>
                <a:gd name="T5" fmla="*/ 0 h 236"/>
                <a:gd name="T6" fmla="*/ 0 w 115"/>
                <a:gd name="T7" fmla="*/ 0 h 236"/>
                <a:gd name="T8" fmla="*/ 0 w 115"/>
                <a:gd name="T9" fmla="*/ 0 h 236"/>
                <a:gd name="T10" fmla="*/ 0 w 115"/>
                <a:gd name="T11" fmla="*/ 0 h 236"/>
                <a:gd name="T12" fmla="*/ 0 w 115"/>
                <a:gd name="T13" fmla="*/ 0 h 236"/>
                <a:gd name="T14" fmla="*/ 0 w 115"/>
                <a:gd name="T15" fmla="*/ 0 h 236"/>
                <a:gd name="T16" fmla="*/ 0 w 115"/>
                <a:gd name="T17" fmla="*/ 0 h 236"/>
                <a:gd name="T18" fmla="*/ 0 w 115"/>
                <a:gd name="T19" fmla="*/ 0 h 236"/>
                <a:gd name="T20" fmla="*/ 0 w 115"/>
                <a:gd name="T21" fmla="*/ 0 h 236"/>
                <a:gd name="T22" fmla="*/ 0 w 115"/>
                <a:gd name="T23" fmla="*/ 0 h 236"/>
                <a:gd name="T24" fmla="*/ 0 w 115"/>
                <a:gd name="T25" fmla="*/ 0 h 236"/>
                <a:gd name="T26" fmla="*/ 0 w 115"/>
                <a:gd name="T27" fmla="*/ 0 h 236"/>
                <a:gd name="T28" fmla="*/ 0 w 115"/>
                <a:gd name="T29" fmla="*/ 0 h 236"/>
                <a:gd name="T30" fmla="*/ 0 w 115"/>
                <a:gd name="T31" fmla="*/ 0 h 236"/>
                <a:gd name="T32" fmla="*/ 0 w 115"/>
                <a:gd name="T33" fmla="*/ 0 h 236"/>
                <a:gd name="T34" fmla="*/ 0 w 115"/>
                <a:gd name="T35" fmla="*/ 0 h 236"/>
                <a:gd name="T36" fmla="*/ 0 w 115"/>
                <a:gd name="T37" fmla="*/ 0 h 236"/>
                <a:gd name="T38" fmla="*/ 0 w 115"/>
                <a:gd name="T39" fmla="*/ 0 h 236"/>
                <a:gd name="T40" fmla="*/ 0 w 115"/>
                <a:gd name="T41" fmla="*/ 0 h 236"/>
                <a:gd name="T42" fmla="*/ 0 w 115"/>
                <a:gd name="T43" fmla="*/ 0 h 236"/>
                <a:gd name="T44" fmla="*/ 0 w 115"/>
                <a:gd name="T45" fmla="*/ 0 h 236"/>
                <a:gd name="T46" fmla="*/ 0 w 115"/>
                <a:gd name="T47" fmla="*/ 0 h 236"/>
                <a:gd name="T48" fmla="*/ 0 w 115"/>
                <a:gd name="T49" fmla="*/ 0 h 236"/>
                <a:gd name="T50" fmla="*/ 0 w 115"/>
                <a:gd name="T51" fmla="*/ 0 h 236"/>
                <a:gd name="T52" fmla="*/ 0 w 115"/>
                <a:gd name="T53" fmla="*/ 0 h 236"/>
                <a:gd name="T54" fmla="*/ 0 w 115"/>
                <a:gd name="T55" fmla="*/ 0 h 236"/>
                <a:gd name="T56" fmla="*/ 0 w 115"/>
                <a:gd name="T57" fmla="*/ 0 h 236"/>
                <a:gd name="T58" fmla="*/ 0 w 115"/>
                <a:gd name="T59" fmla="*/ 0 h 236"/>
                <a:gd name="T60" fmla="*/ 0 w 115"/>
                <a:gd name="T61" fmla="*/ 0 h 236"/>
                <a:gd name="T62" fmla="*/ 0 w 115"/>
                <a:gd name="T63" fmla="*/ 0 h 236"/>
                <a:gd name="T64" fmla="*/ 0 w 115"/>
                <a:gd name="T65" fmla="*/ 0 h 236"/>
                <a:gd name="T66" fmla="*/ 0 w 115"/>
                <a:gd name="T67" fmla="*/ 0 h 236"/>
                <a:gd name="T68" fmla="*/ 0 w 115"/>
                <a:gd name="T69" fmla="*/ 0 h 236"/>
                <a:gd name="T70" fmla="*/ 0 w 115"/>
                <a:gd name="T71" fmla="*/ 0 h 236"/>
                <a:gd name="T72" fmla="*/ 0 w 115"/>
                <a:gd name="T73" fmla="*/ 0 h 236"/>
                <a:gd name="T74" fmla="*/ 0 w 115"/>
                <a:gd name="T75" fmla="*/ 0 h 236"/>
                <a:gd name="T76" fmla="*/ 0 w 115"/>
                <a:gd name="T77" fmla="*/ 0 h 236"/>
                <a:gd name="T78" fmla="*/ 0 w 115"/>
                <a:gd name="T79" fmla="*/ 0 h 236"/>
                <a:gd name="T80" fmla="*/ 0 w 115"/>
                <a:gd name="T81" fmla="*/ 0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Freeform 591"/>
            <p:cNvSpPr>
              <a:spLocks/>
            </p:cNvSpPr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0 w 245"/>
                <a:gd name="T1" fmla="*/ 0 h 310"/>
                <a:gd name="T2" fmla="*/ 0 w 245"/>
                <a:gd name="T3" fmla="*/ 0 h 310"/>
                <a:gd name="T4" fmla="*/ 0 w 245"/>
                <a:gd name="T5" fmla="*/ 0 h 310"/>
                <a:gd name="T6" fmla="*/ 0 w 245"/>
                <a:gd name="T7" fmla="*/ 0 h 310"/>
                <a:gd name="T8" fmla="*/ 0 w 245"/>
                <a:gd name="T9" fmla="*/ 0 h 310"/>
                <a:gd name="T10" fmla="*/ 0 w 245"/>
                <a:gd name="T11" fmla="*/ 0 h 310"/>
                <a:gd name="T12" fmla="*/ 0 w 245"/>
                <a:gd name="T13" fmla="*/ 0 h 310"/>
                <a:gd name="T14" fmla="*/ 0 w 245"/>
                <a:gd name="T15" fmla="*/ 0 h 310"/>
                <a:gd name="T16" fmla="*/ 0 w 245"/>
                <a:gd name="T17" fmla="*/ 0 h 310"/>
                <a:gd name="T18" fmla="*/ 0 w 245"/>
                <a:gd name="T19" fmla="*/ 0 h 310"/>
                <a:gd name="T20" fmla="*/ 0 w 245"/>
                <a:gd name="T21" fmla="*/ 0 h 310"/>
                <a:gd name="T22" fmla="*/ 0 w 245"/>
                <a:gd name="T23" fmla="*/ 0 h 310"/>
                <a:gd name="T24" fmla="*/ 0 w 245"/>
                <a:gd name="T25" fmla="*/ 0 h 310"/>
                <a:gd name="T26" fmla="*/ 0 w 245"/>
                <a:gd name="T27" fmla="*/ 0 h 310"/>
                <a:gd name="T28" fmla="*/ 0 w 245"/>
                <a:gd name="T29" fmla="*/ 0 h 310"/>
                <a:gd name="T30" fmla="*/ 0 w 245"/>
                <a:gd name="T31" fmla="*/ 0 h 310"/>
                <a:gd name="T32" fmla="*/ 0 w 245"/>
                <a:gd name="T33" fmla="*/ 0 h 310"/>
                <a:gd name="T34" fmla="*/ 0 w 245"/>
                <a:gd name="T35" fmla="*/ 0 h 310"/>
                <a:gd name="T36" fmla="*/ 0 w 245"/>
                <a:gd name="T37" fmla="*/ 0 h 310"/>
                <a:gd name="T38" fmla="*/ 0 w 245"/>
                <a:gd name="T39" fmla="*/ 0 h 310"/>
                <a:gd name="T40" fmla="*/ 0 w 245"/>
                <a:gd name="T41" fmla="*/ 0 h 310"/>
                <a:gd name="T42" fmla="*/ 0 w 245"/>
                <a:gd name="T43" fmla="*/ 0 h 310"/>
                <a:gd name="T44" fmla="*/ 0 w 245"/>
                <a:gd name="T45" fmla="*/ 0 h 310"/>
                <a:gd name="T46" fmla="*/ 0 w 245"/>
                <a:gd name="T47" fmla="*/ 0 h 310"/>
                <a:gd name="T48" fmla="*/ 0 w 245"/>
                <a:gd name="T49" fmla="*/ 0 h 310"/>
                <a:gd name="T50" fmla="*/ 0 w 245"/>
                <a:gd name="T51" fmla="*/ 0 h 310"/>
                <a:gd name="T52" fmla="*/ 0 w 245"/>
                <a:gd name="T53" fmla="*/ 0 h 310"/>
                <a:gd name="T54" fmla="*/ 0 w 245"/>
                <a:gd name="T55" fmla="*/ 0 h 310"/>
                <a:gd name="T56" fmla="*/ 0 w 245"/>
                <a:gd name="T57" fmla="*/ 0 h 310"/>
                <a:gd name="T58" fmla="*/ 0 w 245"/>
                <a:gd name="T59" fmla="*/ 0 h 310"/>
                <a:gd name="T60" fmla="*/ 0 w 245"/>
                <a:gd name="T61" fmla="*/ 0 h 310"/>
                <a:gd name="T62" fmla="*/ 0 w 245"/>
                <a:gd name="T63" fmla="*/ 0 h 310"/>
                <a:gd name="T64" fmla="*/ 0 w 245"/>
                <a:gd name="T65" fmla="*/ 0 h 310"/>
                <a:gd name="T66" fmla="*/ 0 w 245"/>
                <a:gd name="T67" fmla="*/ 0 h 310"/>
                <a:gd name="T68" fmla="*/ 0 w 245"/>
                <a:gd name="T69" fmla="*/ 0 h 310"/>
                <a:gd name="T70" fmla="*/ 0 w 245"/>
                <a:gd name="T71" fmla="*/ 0 h 310"/>
                <a:gd name="T72" fmla="*/ 0 w 245"/>
                <a:gd name="T73" fmla="*/ 0 h 310"/>
                <a:gd name="T74" fmla="*/ 0 w 245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Freeform 592"/>
            <p:cNvSpPr>
              <a:spLocks/>
            </p:cNvSpPr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3" name="Group 593"/>
          <p:cNvGrpSpPr>
            <a:grpSpLocks/>
          </p:cNvGrpSpPr>
          <p:nvPr/>
        </p:nvGrpSpPr>
        <p:grpSpPr bwMode="auto">
          <a:xfrm>
            <a:off x="8362663" y="3698877"/>
            <a:ext cx="290512" cy="404813"/>
            <a:chOff x="4290" y="3130"/>
            <a:chExt cx="183" cy="255"/>
          </a:xfrm>
        </p:grpSpPr>
        <p:pic>
          <p:nvPicPr>
            <p:cNvPr id="324" name="Picture 594" descr="31u_bnrz[1]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5" name="Freeform 595"/>
            <p:cNvSpPr>
              <a:spLocks/>
            </p:cNvSpPr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0 w 199"/>
                <a:gd name="T1" fmla="*/ 0 h 232"/>
                <a:gd name="T2" fmla="*/ 0 w 199"/>
                <a:gd name="T3" fmla="*/ 0 h 232"/>
                <a:gd name="T4" fmla="*/ 0 w 199"/>
                <a:gd name="T5" fmla="*/ 0 h 232"/>
                <a:gd name="T6" fmla="*/ 0 w 199"/>
                <a:gd name="T7" fmla="*/ 0 h 232"/>
                <a:gd name="T8" fmla="*/ 0 w 199"/>
                <a:gd name="T9" fmla="*/ 0 h 232"/>
                <a:gd name="T10" fmla="*/ 0 w 199"/>
                <a:gd name="T11" fmla="*/ 0 h 232"/>
                <a:gd name="T12" fmla="*/ 0 w 199"/>
                <a:gd name="T13" fmla="*/ 0 h 232"/>
                <a:gd name="T14" fmla="*/ 0 w 199"/>
                <a:gd name="T15" fmla="*/ 0 h 232"/>
                <a:gd name="T16" fmla="*/ 0 w 199"/>
                <a:gd name="T17" fmla="*/ 0 h 232"/>
                <a:gd name="T18" fmla="*/ 0 w 199"/>
                <a:gd name="T19" fmla="*/ 0 h 232"/>
                <a:gd name="T20" fmla="*/ 0 w 199"/>
                <a:gd name="T21" fmla="*/ 0 h 232"/>
                <a:gd name="T22" fmla="*/ 0 w 199"/>
                <a:gd name="T23" fmla="*/ 0 h 232"/>
                <a:gd name="T24" fmla="*/ 0 w 199"/>
                <a:gd name="T25" fmla="*/ 0 h 232"/>
                <a:gd name="T26" fmla="*/ 0 w 199"/>
                <a:gd name="T27" fmla="*/ 0 h 232"/>
                <a:gd name="T28" fmla="*/ 0 w 199"/>
                <a:gd name="T29" fmla="*/ 0 h 232"/>
                <a:gd name="T30" fmla="*/ 0 w 199"/>
                <a:gd name="T31" fmla="*/ 0 h 232"/>
                <a:gd name="T32" fmla="*/ 0 w 199"/>
                <a:gd name="T33" fmla="*/ 0 h 232"/>
                <a:gd name="T34" fmla="*/ 0 w 199"/>
                <a:gd name="T35" fmla="*/ 0 h 232"/>
                <a:gd name="T36" fmla="*/ 0 w 199"/>
                <a:gd name="T37" fmla="*/ 0 h 232"/>
                <a:gd name="T38" fmla="*/ 0 w 199"/>
                <a:gd name="T39" fmla="*/ 0 h 232"/>
                <a:gd name="T40" fmla="*/ 0 w 199"/>
                <a:gd name="T41" fmla="*/ 0 h 232"/>
                <a:gd name="T42" fmla="*/ 0 w 199"/>
                <a:gd name="T43" fmla="*/ 0 h 232"/>
                <a:gd name="T44" fmla="*/ 0 w 199"/>
                <a:gd name="T45" fmla="*/ 0 h 232"/>
                <a:gd name="T46" fmla="*/ 0 w 199"/>
                <a:gd name="T47" fmla="*/ 0 h 232"/>
                <a:gd name="T48" fmla="*/ 0 w 199"/>
                <a:gd name="T49" fmla="*/ 0 h 232"/>
                <a:gd name="T50" fmla="*/ 0 w 199"/>
                <a:gd name="T51" fmla="*/ 0 h 232"/>
                <a:gd name="T52" fmla="*/ 0 w 199"/>
                <a:gd name="T53" fmla="*/ 0 h 232"/>
                <a:gd name="T54" fmla="*/ 0 w 199"/>
                <a:gd name="T55" fmla="*/ 0 h 232"/>
                <a:gd name="T56" fmla="*/ 0 w 199"/>
                <a:gd name="T57" fmla="*/ 0 h 232"/>
                <a:gd name="T58" fmla="*/ 0 w 199"/>
                <a:gd name="T59" fmla="*/ 0 h 232"/>
                <a:gd name="T60" fmla="*/ 0 w 199"/>
                <a:gd name="T61" fmla="*/ 0 h 232"/>
                <a:gd name="T62" fmla="*/ 0 w 199"/>
                <a:gd name="T63" fmla="*/ 0 h 232"/>
                <a:gd name="T64" fmla="*/ 0 w 199"/>
                <a:gd name="T65" fmla="*/ 0 h 232"/>
                <a:gd name="T66" fmla="*/ 0 w 199"/>
                <a:gd name="T67" fmla="*/ 0 h 232"/>
                <a:gd name="T68" fmla="*/ 0 w 199"/>
                <a:gd name="T69" fmla="*/ 0 h 232"/>
                <a:gd name="T70" fmla="*/ 0 w 199"/>
                <a:gd name="T71" fmla="*/ 0 h 232"/>
                <a:gd name="T72" fmla="*/ 0 w 199"/>
                <a:gd name="T73" fmla="*/ 0 h 232"/>
                <a:gd name="T74" fmla="*/ 0 w 199"/>
                <a:gd name="T75" fmla="*/ 0 h 232"/>
                <a:gd name="T76" fmla="*/ 0 w 199"/>
                <a:gd name="T77" fmla="*/ 0 h 232"/>
                <a:gd name="T78" fmla="*/ 0 w 199"/>
                <a:gd name="T79" fmla="*/ 0 h 232"/>
                <a:gd name="T80" fmla="*/ 0 w 199"/>
                <a:gd name="T81" fmla="*/ 0 h 232"/>
                <a:gd name="T82" fmla="*/ 0 w 199"/>
                <a:gd name="T83" fmla="*/ 0 h 232"/>
                <a:gd name="T84" fmla="*/ 0 w 199"/>
                <a:gd name="T85" fmla="*/ 0 h 232"/>
                <a:gd name="T86" fmla="*/ 0 w 199"/>
                <a:gd name="T87" fmla="*/ 0 h 232"/>
                <a:gd name="T88" fmla="*/ 0 w 199"/>
                <a:gd name="T89" fmla="*/ 0 h 232"/>
                <a:gd name="T90" fmla="*/ 0 w 199"/>
                <a:gd name="T91" fmla="*/ 0 h 232"/>
                <a:gd name="T92" fmla="*/ 0 w 199"/>
                <a:gd name="T93" fmla="*/ 0 h 232"/>
                <a:gd name="T94" fmla="*/ 0 w 199"/>
                <a:gd name="T95" fmla="*/ 0 h 232"/>
                <a:gd name="T96" fmla="*/ 0 w 199"/>
                <a:gd name="T97" fmla="*/ 0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Freeform 596"/>
            <p:cNvSpPr>
              <a:spLocks/>
            </p:cNvSpPr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0 w 128"/>
                <a:gd name="T1" fmla="*/ 0 h 180"/>
                <a:gd name="T2" fmla="*/ 0 w 128"/>
                <a:gd name="T3" fmla="*/ 0 h 180"/>
                <a:gd name="T4" fmla="*/ 0 w 128"/>
                <a:gd name="T5" fmla="*/ 0 h 180"/>
                <a:gd name="T6" fmla="*/ 0 w 128"/>
                <a:gd name="T7" fmla="*/ 0 h 180"/>
                <a:gd name="T8" fmla="*/ 0 w 128"/>
                <a:gd name="T9" fmla="*/ 0 h 180"/>
                <a:gd name="T10" fmla="*/ 0 w 128"/>
                <a:gd name="T11" fmla="*/ 0 h 180"/>
                <a:gd name="T12" fmla="*/ 0 w 128"/>
                <a:gd name="T13" fmla="*/ 0 h 180"/>
                <a:gd name="T14" fmla="*/ 0 w 128"/>
                <a:gd name="T15" fmla="*/ 0 h 180"/>
                <a:gd name="T16" fmla="*/ 0 w 128"/>
                <a:gd name="T17" fmla="*/ 0 h 180"/>
                <a:gd name="T18" fmla="*/ 0 w 128"/>
                <a:gd name="T19" fmla="*/ 0 h 180"/>
                <a:gd name="T20" fmla="*/ 0 w 128"/>
                <a:gd name="T21" fmla="*/ 0 h 180"/>
                <a:gd name="T22" fmla="*/ 0 w 128"/>
                <a:gd name="T23" fmla="*/ 0 h 180"/>
                <a:gd name="T24" fmla="*/ 0 w 128"/>
                <a:gd name="T25" fmla="*/ 0 h 180"/>
                <a:gd name="T26" fmla="*/ 0 w 128"/>
                <a:gd name="T27" fmla="*/ 0 h 180"/>
                <a:gd name="T28" fmla="*/ 0 w 128"/>
                <a:gd name="T29" fmla="*/ 0 h 180"/>
                <a:gd name="T30" fmla="*/ 0 w 128"/>
                <a:gd name="T31" fmla="*/ 0 h 180"/>
                <a:gd name="T32" fmla="*/ 0 w 128"/>
                <a:gd name="T33" fmla="*/ 0 h 180"/>
                <a:gd name="T34" fmla="*/ 0 w 128"/>
                <a:gd name="T35" fmla="*/ 0 h 180"/>
                <a:gd name="T36" fmla="*/ 0 w 128"/>
                <a:gd name="T37" fmla="*/ 0 h 180"/>
                <a:gd name="T38" fmla="*/ 0 w 128"/>
                <a:gd name="T39" fmla="*/ 0 h 180"/>
                <a:gd name="T40" fmla="*/ 0 w 128"/>
                <a:gd name="T41" fmla="*/ 0 h 180"/>
                <a:gd name="T42" fmla="*/ 0 w 128"/>
                <a:gd name="T43" fmla="*/ 0 h 180"/>
                <a:gd name="T44" fmla="*/ 0 w 128"/>
                <a:gd name="T45" fmla="*/ 0 h 180"/>
                <a:gd name="T46" fmla="*/ 0 w 128"/>
                <a:gd name="T47" fmla="*/ 0 h 180"/>
                <a:gd name="T48" fmla="*/ 0 w 128"/>
                <a:gd name="T49" fmla="*/ 0 h 180"/>
                <a:gd name="T50" fmla="*/ 0 w 128"/>
                <a:gd name="T51" fmla="*/ 0 h 180"/>
                <a:gd name="T52" fmla="*/ 0 w 128"/>
                <a:gd name="T53" fmla="*/ 0 h 180"/>
                <a:gd name="T54" fmla="*/ 0 w 128"/>
                <a:gd name="T55" fmla="*/ 0 h 180"/>
                <a:gd name="T56" fmla="*/ 0 w 128"/>
                <a:gd name="T57" fmla="*/ 0 h 180"/>
                <a:gd name="T58" fmla="*/ 0 w 128"/>
                <a:gd name="T59" fmla="*/ 0 h 180"/>
                <a:gd name="T60" fmla="*/ 0 w 128"/>
                <a:gd name="T61" fmla="*/ 0 h 180"/>
                <a:gd name="T62" fmla="*/ 0 w 128"/>
                <a:gd name="T63" fmla="*/ 0 h 180"/>
                <a:gd name="T64" fmla="*/ 0 w 128"/>
                <a:gd name="T65" fmla="*/ 0 h 180"/>
                <a:gd name="T66" fmla="*/ 0 w 128"/>
                <a:gd name="T67" fmla="*/ 0 h 180"/>
                <a:gd name="T68" fmla="*/ 0 w 128"/>
                <a:gd name="T69" fmla="*/ 0 h 180"/>
                <a:gd name="T70" fmla="*/ 0 w 128"/>
                <a:gd name="T71" fmla="*/ 0 h 180"/>
                <a:gd name="T72" fmla="*/ 0 w 128"/>
                <a:gd name="T73" fmla="*/ 0 h 180"/>
                <a:gd name="T74" fmla="*/ 0 w 128"/>
                <a:gd name="T75" fmla="*/ 0 h 180"/>
                <a:gd name="T76" fmla="*/ 0 w 128"/>
                <a:gd name="T77" fmla="*/ 0 h 180"/>
                <a:gd name="T78" fmla="*/ 0 w 128"/>
                <a:gd name="T79" fmla="*/ 0 h 180"/>
                <a:gd name="T80" fmla="*/ 0 w 128"/>
                <a:gd name="T81" fmla="*/ 0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Freeform 597"/>
            <p:cNvSpPr>
              <a:spLocks/>
            </p:cNvSpPr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0 w 322"/>
                <a:gd name="T1" fmla="*/ 0 h 378"/>
                <a:gd name="T2" fmla="*/ 0 w 322"/>
                <a:gd name="T3" fmla="*/ 0 h 378"/>
                <a:gd name="T4" fmla="*/ 0 w 322"/>
                <a:gd name="T5" fmla="*/ 0 h 378"/>
                <a:gd name="T6" fmla="*/ 0 w 322"/>
                <a:gd name="T7" fmla="*/ 0 h 378"/>
                <a:gd name="T8" fmla="*/ 0 w 322"/>
                <a:gd name="T9" fmla="*/ 0 h 378"/>
                <a:gd name="T10" fmla="*/ 0 w 322"/>
                <a:gd name="T11" fmla="*/ 0 h 378"/>
                <a:gd name="T12" fmla="*/ 0 w 322"/>
                <a:gd name="T13" fmla="*/ 0 h 378"/>
                <a:gd name="T14" fmla="*/ 0 w 322"/>
                <a:gd name="T15" fmla="*/ 0 h 378"/>
                <a:gd name="T16" fmla="*/ 0 w 322"/>
                <a:gd name="T17" fmla="*/ 0 h 378"/>
                <a:gd name="T18" fmla="*/ 0 w 322"/>
                <a:gd name="T19" fmla="*/ 0 h 378"/>
                <a:gd name="T20" fmla="*/ 0 w 322"/>
                <a:gd name="T21" fmla="*/ 0 h 378"/>
                <a:gd name="T22" fmla="*/ 0 w 322"/>
                <a:gd name="T23" fmla="*/ 0 h 378"/>
                <a:gd name="T24" fmla="*/ 0 w 322"/>
                <a:gd name="T25" fmla="*/ 0 h 378"/>
                <a:gd name="T26" fmla="*/ 0 w 322"/>
                <a:gd name="T27" fmla="*/ 0 h 378"/>
                <a:gd name="T28" fmla="*/ 0 w 322"/>
                <a:gd name="T29" fmla="*/ 0 h 378"/>
                <a:gd name="T30" fmla="*/ 0 w 322"/>
                <a:gd name="T31" fmla="*/ 0 h 378"/>
                <a:gd name="T32" fmla="*/ 0 w 322"/>
                <a:gd name="T33" fmla="*/ 0 h 378"/>
                <a:gd name="T34" fmla="*/ 0 w 322"/>
                <a:gd name="T35" fmla="*/ 0 h 378"/>
                <a:gd name="T36" fmla="*/ 0 w 322"/>
                <a:gd name="T37" fmla="*/ 0 h 378"/>
                <a:gd name="T38" fmla="*/ 0 w 322"/>
                <a:gd name="T39" fmla="*/ 0 h 378"/>
                <a:gd name="T40" fmla="*/ 0 w 322"/>
                <a:gd name="T41" fmla="*/ 0 h 378"/>
                <a:gd name="T42" fmla="*/ 0 w 322"/>
                <a:gd name="T43" fmla="*/ 0 h 378"/>
                <a:gd name="T44" fmla="*/ 0 w 322"/>
                <a:gd name="T45" fmla="*/ 0 h 378"/>
                <a:gd name="T46" fmla="*/ 0 w 322"/>
                <a:gd name="T47" fmla="*/ 0 h 378"/>
                <a:gd name="T48" fmla="*/ 0 w 322"/>
                <a:gd name="T49" fmla="*/ 0 h 378"/>
                <a:gd name="T50" fmla="*/ 0 w 322"/>
                <a:gd name="T51" fmla="*/ 0 h 378"/>
                <a:gd name="T52" fmla="*/ 0 w 322"/>
                <a:gd name="T53" fmla="*/ 0 h 378"/>
                <a:gd name="T54" fmla="*/ 0 w 322"/>
                <a:gd name="T55" fmla="*/ 0 h 378"/>
                <a:gd name="T56" fmla="*/ 0 w 322"/>
                <a:gd name="T57" fmla="*/ 0 h 378"/>
                <a:gd name="T58" fmla="*/ 0 w 322"/>
                <a:gd name="T59" fmla="*/ 0 h 378"/>
                <a:gd name="T60" fmla="*/ 0 w 322"/>
                <a:gd name="T61" fmla="*/ 0 h 378"/>
                <a:gd name="T62" fmla="*/ 0 w 322"/>
                <a:gd name="T63" fmla="*/ 0 h 378"/>
                <a:gd name="T64" fmla="*/ 0 w 322"/>
                <a:gd name="T65" fmla="*/ 0 h 378"/>
                <a:gd name="T66" fmla="*/ 0 w 322"/>
                <a:gd name="T67" fmla="*/ 0 h 378"/>
                <a:gd name="T68" fmla="*/ 0 w 322"/>
                <a:gd name="T69" fmla="*/ 0 h 378"/>
                <a:gd name="T70" fmla="*/ 0 w 322"/>
                <a:gd name="T71" fmla="*/ 0 h 378"/>
                <a:gd name="T72" fmla="*/ 0 w 322"/>
                <a:gd name="T73" fmla="*/ 0 h 378"/>
                <a:gd name="T74" fmla="*/ 0 w 322"/>
                <a:gd name="T75" fmla="*/ 0 h 378"/>
                <a:gd name="T76" fmla="*/ 0 w 322"/>
                <a:gd name="T77" fmla="*/ 0 h 378"/>
                <a:gd name="T78" fmla="*/ 0 w 322"/>
                <a:gd name="T79" fmla="*/ 0 h 378"/>
                <a:gd name="T80" fmla="*/ 0 w 322"/>
                <a:gd name="T81" fmla="*/ 0 h 378"/>
                <a:gd name="T82" fmla="*/ 0 w 322"/>
                <a:gd name="T83" fmla="*/ 0 h 378"/>
                <a:gd name="T84" fmla="*/ 0 w 322"/>
                <a:gd name="T85" fmla="*/ 0 h 378"/>
                <a:gd name="T86" fmla="*/ 0 w 322"/>
                <a:gd name="T87" fmla="*/ 0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Freeform 598"/>
            <p:cNvSpPr>
              <a:spLocks/>
            </p:cNvSpPr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0 w 283"/>
                <a:gd name="T1" fmla="*/ 0 h 252"/>
                <a:gd name="T2" fmla="*/ 0 w 283"/>
                <a:gd name="T3" fmla="*/ 0 h 252"/>
                <a:gd name="T4" fmla="*/ 0 w 283"/>
                <a:gd name="T5" fmla="*/ 0 h 252"/>
                <a:gd name="T6" fmla="*/ 0 w 283"/>
                <a:gd name="T7" fmla="*/ 0 h 252"/>
                <a:gd name="T8" fmla="*/ 0 w 283"/>
                <a:gd name="T9" fmla="*/ 0 h 252"/>
                <a:gd name="T10" fmla="*/ 0 w 283"/>
                <a:gd name="T11" fmla="*/ 0 h 252"/>
                <a:gd name="T12" fmla="*/ 0 w 283"/>
                <a:gd name="T13" fmla="*/ 0 h 252"/>
                <a:gd name="T14" fmla="*/ 0 w 283"/>
                <a:gd name="T15" fmla="*/ 0 h 252"/>
                <a:gd name="T16" fmla="*/ 0 w 283"/>
                <a:gd name="T17" fmla="*/ 0 h 252"/>
                <a:gd name="T18" fmla="*/ 0 w 283"/>
                <a:gd name="T19" fmla="*/ 0 h 252"/>
                <a:gd name="T20" fmla="*/ 0 w 283"/>
                <a:gd name="T21" fmla="*/ 0 h 252"/>
                <a:gd name="T22" fmla="*/ 0 w 283"/>
                <a:gd name="T23" fmla="*/ 0 h 252"/>
                <a:gd name="T24" fmla="*/ 0 w 283"/>
                <a:gd name="T25" fmla="*/ 0 h 252"/>
                <a:gd name="T26" fmla="*/ 0 w 283"/>
                <a:gd name="T27" fmla="*/ 0 h 252"/>
                <a:gd name="T28" fmla="*/ 0 w 283"/>
                <a:gd name="T29" fmla="*/ 0 h 252"/>
                <a:gd name="T30" fmla="*/ 0 w 283"/>
                <a:gd name="T31" fmla="*/ 0 h 252"/>
                <a:gd name="T32" fmla="*/ 0 w 283"/>
                <a:gd name="T33" fmla="*/ 0 h 252"/>
                <a:gd name="T34" fmla="*/ 0 w 283"/>
                <a:gd name="T35" fmla="*/ 0 h 252"/>
                <a:gd name="T36" fmla="*/ 0 w 283"/>
                <a:gd name="T37" fmla="*/ 0 h 252"/>
                <a:gd name="T38" fmla="*/ 0 w 283"/>
                <a:gd name="T39" fmla="*/ 0 h 252"/>
                <a:gd name="T40" fmla="*/ 0 w 283"/>
                <a:gd name="T41" fmla="*/ 0 h 252"/>
                <a:gd name="T42" fmla="*/ 0 w 283"/>
                <a:gd name="T43" fmla="*/ 0 h 252"/>
                <a:gd name="T44" fmla="*/ 0 w 283"/>
                <a:gd name="T45" fmla="*/ 0 h 252"/>
                <a:gd name="T46" fmla="*/ 0 w 283"/>
                <a:gd name="T47" fmla="*/ 0 h 252"/>
                <a:gd name="T48" fmla="*/ 0 w 283"/>
                <a:gd name="T49" fmla="*/ 0 h 252"/>
                <a:gd name="T50" fmla="*/ 0 w 283"/>
                <a:gd name="T51" fmla="*/ 0 h 252"/>
                <a:gd name="T52" fmla="*/ 0 w 283"/>
                <a:gd name="T53" fmla="*/ 0 h 252"/>
                <a:gd name="T54" fmla="*/ 0 w 283"/>
                <a:gd name="T55" fmla="*/ 0 h 252"/>
                <a:gd name="T56" fmla="*/ 0 w 283"/>
                <a:gd name="T57" fmla="*/ 0 h 252"/>
                <a:gd name="T58" fmla="*/ 0 w 283"/>
                <a:gd name="T59" fmla="*/ 0 h 252"/>
                <a:gd name="T60" fmla="*/ 0 w 283"/>
                <a:gd name="T61" fmla="*/ 0 h 252"/>
                <a:gd name="T62" fmla="*/ 0 w 283"/>
                <a:gd name="T63" fmla="*/ 0 h 252"/>
                <a:gd name="T64" fmla="*/ 0 w 283"/>
                <a:gd name="T65" fmla="*/ 0 h 252"/>
                <a:gd name="T66" fmla="*/ 0 w 283"/>
                <a:gd name="T67" fmla="*/ 0 h 252"/>
                <a:gd name="T68" fmla="*/ 0 w 283"/>
                <a:gd name="T69" fmla="*/ 0 h 252"/>
                <a:gd name="T70" fmla="*/ 0 w 283"/>
                <a:gd name="T71" fmla="*/ 0 h 252"/>
                <a:gd name="T72" fmla="*/ 0 w 283"/>
                <a:gd name="T73" fmla="*/ 0 h 252"/>
                <a:gd name="T74" fmla="*/ 0 w 283"/>
                <a:gd name="T75" fmla="*/ 0 h 252"/>
                <a:gd name="T76" fmla="*/ 0 w 283"/>
                <a:gd name="T77" fmla="*/ 0 h 252"/>
                <a:gd name="T78" fmla="*/ 0 w 283"/>
                <a:gd name="T79" fmla="*/ 0 h 252"/>
                <a:gd name="T80" fmla="*/ 0 w 283"/>
                <a:gd name="T81" fmla="*/ 0 h 252"/>
                <a:gd name="T82" fmla="*/ 0 w 283"/>
                <a:gd name="T83" fmla="*/ 0 h 252"/>
                <a:gd name="T84" fmla="*/ 0 w 283"/>
                <a:gd name="T85" fmla="*/ 0 h 252"/>
                <a:gd name="T86" fmla="*/ 0 w 283"/>
                <a:gd name="T87" fmla="*/ 0 h 252"/>
                <a:gd name="T88" fmla="*/ 0 w 283"/>
                <a:gd name="T89" fmla="*/ 0 h 252"/>
                <a:gd name="T90" fmla="*/ 0 w 283"/>
                <a:gd name="T91" fmla="*/ 0 h 252"/>
                <a:gd name="T92" fmla="*/ 0 w 283"/>
                <a:gd name="T93" fmla="*/ 0 h 252"/>
                <a:gd name="T94" fmla="*/ 0 w 283"/>
                <a:gd name="T95" fmla="*/ 0 h 252"/>
                <a:gd name="T96" fmla="*/ 0 w 283"/>
                <a:gd name="T97" fmla="*/ 0 h 252"/>
                <a:gd name="T98" fmla="*/ 0 w 283"/>
                <a:gd name="T99" fmla="*/ 0 h 252"/>
                <a:gd name="T100" fmla="*/ 0 w 283"/>
                <a:gd name="T101" fmla="*/ 0 h 252"/>
                <a:gd name="T102" fmla="*/ 0 w 283"/>
                <a:gd name="T103" fmla="*/ 0 h 252"/>
                <a:gd name="T104" fmla="*/ 0 w 283"/>
                <a:gd name="T105" fmla="*/ 0 h 252"/>
                <a:gd name="T106" fmla="*/ 0 w 283"/>
                <a:gd name="T107" fmla="*/ 0 h 252"/>
                <a:gd name="T108" fmla="*/ 0 w 283"/>
                <a:gd name="T109" fmla="*/ 0 h 252"/>
                <a:gd name="T110" fmla="*/ 0 w 283"/>
                <a:gd name="T111" fmla="*/ 0 h 252"/>
                <a:gd name="T112" fmla="*/ 0 w 283"/>
                <a:gd name="T113" fmla="*/ 0 h 252"/>
                <a:gd name="T114" fmla="*/ 0 w 283"/>
                <a:gd name="T115" fmla="*/ 0 h 252"/>
                <a:gd name="T116" fmla="*/ 0 w 283"/>
                <a:gd name="T117" fmla="*/ 0 h 252"/>
                <a:gd name="T118" fmla="*/ 0 w 283"/>
                <a:gd name="T119" fmla="*/ 0 h 252"/>
                <a:gd name="T120" fmla="*/ 0 w 283"/>
                <a:gd name="T121" fmla="*/ 0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Freeform 599"/>
            <p:cNvSpPr>
              <a:spLocks/>
            </p:cNvSpPr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0 h 238"/>
                <a:gd name="T2" fmla="*/ 0 w 114"/>
                <a:gd name="T3" fmla="*/ 0 h 238"/>
                <a:gd name="T4" fmla="*/ 0 w 114"/>
                <a:gd name="T5" fmla="*/ 0 h 238"/>
                <a:gd name="T6" fmla="*/ 0 w 114"/>
                <a:gd name="T7" fmla="*/ 0 h 238"/>
                <a:gd name="T8" fmla="*/ 0 w 114"/>
                <a:gd name="T9" fmla="*/ 0 h 238"/>
                <a:gd name="T10" fmla="*/ 0 w 114"/>
                <a:gd name="T11" fmla="*/ 0 h 238"/>
                <a:gd name="T12" fmla="*/ 0 w 114"/>
                <a:gd name="T13" fmla="*/ 0 h 238"/>
                <a:gd name="T14" fmla="*/ 0 w 114"/>
                <a:gd name="T15" fmla="*/ 0 h 238"/>
                <a:gd name="T16" fmla="*/ 0 w 114"/>
                <a:gd name="T17" fmla="*/ 0 h 238"/>
                <a:gd name="T18" fmla="*/ 0 w 114"/>
                <a:gd name="T19" fmla="*/ 0 h 238"/>
                <a:gd name="T20" fmla="*/ 0 w 114"/>
                <a:gd name="T21" fmla="*/ 0 h 238"/>
                <a:gd name="T22" fmla="*/ 0 w 114"/>
                <a:gd name="T23" fmla="*/ 0 h 238"/>
                <a:gd name="T24" fmla="*/ 0 w 114"/>
                <a:gd name="T25" fmla="*/ 0 h 238"/>
                <a:gd name="T26" fmla="*/ 0 w 114"/>
                <a:gd name="T27" fmla="*/ 0 h 238"/>
                <a:gd name="T28" fmla="*/ 0 w 114"/>
                <a:gd name="T29" fmla="*/ 0 h 238"/>
                <a:gd name="T30" fmla="*/ 0 w 114"/>
                <a:gd name="T31" fmla="*/ 0 h 238"/>
                <a:gd name="T32" fmla="*/ 0 w 114"/>
                <a:gd name="T33" fmla="*/ 0 h 238"/>
                <a:gd name="T34" fmla="*/ 0 w 114"/>
                <a:gd name="T35" fmla="*/ 0 h 238"/>
                <a:gd name="T36" fmla="*/ 0 w 114"/>
                <a:gd name="T37" fmla="*/ 0 h 238"/>
                <a:gd name="T38" fmla="*/ 0 w 114"/>
                <a:gd name="T39" fmla="*/ 0 h 238"/>
                <a:gd name="T40" fmla="*/ 0 w 114"/>
                <a:gd name="T41" fmla="*/ 0 h 238"/>
                <a:gd name="T42" fmla="*/ 0 w 114"/>
                <a:gd name="T43" fmla="*/ 0 h 238"/>
                <a:gd name="T44" fmla="*/ 0 w 114"/>
                <a:gd name="T45" fmla="*/ 0 h 238"/>
                <a:gd name="T46" fmla="*/ 0 w 114"/>
                <a:gd name="T47" fmla="*/ 0 h 238"/>
                <a:gd name="T48" fmla="*/ 0 w 114"/>
                <a:gd name="T49" fmla="*/ 0 h 238"/>
                <a:gd name="T50" fmla="*/ 0 w 114"/>
                <a:gd name="T51" fmla="*/ 0 h 238"/>
                <a:gd name="T52" fmla="*/ 0 w 114"/>
                <a:gd name="T53" fmla="*/ 0 h 238"/>
                <a:gd name="T54" fmla="*/ 0 w 114"/>
                <a:gd name="T55" fmla="*/ 0 h 238"/>
                <a:gd name="T56" fmla="*/ 0 w 114"/>
                <a:gd name="T57" fmla="*/ 0 h 238"/>
                <a:gd name="T58" fmla="*/ 0 w 114"/>
                <a:gd name="T59" fmla="*/ 0 h 238"/>
                <a:gd name="T60" fmla="*/ 0 w 114"/>
                <a:gd name="T61" fmla="*/ 0 h 238"/>
                <a:gd name="T62" fmla="*/ 0 w 114"/>
                <a:gd name="T63" fmla="*/ 0 h 238"/>
                <a:gd name="T64" fmla="*/ 0 w 114"/>
                <a:gd name="T65" fmla="*/ 0 h 238"/>
                <a:gd name="T66" fmla="*/ 0 w 114"/>
                <a:gd name="T67" fmla="*/ 0 h 238"/>
                <a:gd name="T68" fmla="*/ 0 w 114"/>
                <a:gd name="T69" fmla="*/ 0 h 238"/>
                <a:gd name="T70" fmla="*/ 0 w 114"/>
                <a:gd name="T71" fmla="*/ 0 h 238"/>
                <a:gd name="T72" fmla="*/ 0 w 114"/>
                <a:gd name="T73" fmla="*/ 0 h 238"/>
                <a:gd name="T74" fmla="*/ 0 w 114"/>
                <a:gd name="T75" fmla="*/ 0 h 238"/>
                <a:gd name="T76" fmla="*/ 0 w 114"/>
                <a:gd name="T77" fmla="*/ 0 h 238"/>
                <a:gd name="T78" fmla="*/ 0 w 114"/>
                <a:gd name="T79" fmla="*/ 0 h 238"/>
                <a:gd name="T80" fmla="*/ 0 w 114"/>
                <a:gd name="T81" fmla="*/ 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Freeform 600"/>
            <p:cNvSpPr>
              <a:spLocks/>
            </p:cNvSpPr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0 w 246"/>
                <a:gd name="T1" fmla="*/ 0 h 310"/>
                <a:gd name="T2" fmla="*/ 0 w 246"/>
                <a:gd name="T3" fmla="*/ 0 h 310"/>
                <a:gd name="T4" fmla="*/ 0 w 246"/>
                <a:gd name="T5" fmla="*/ 0 h 310"/>
                <a:gd name="T6" fmla="*/ 0 w 246"/>
                <a:gd name="T7" fmla="*/ 0 h 310"/>
                <a:gd name="T8" fmla="*/ 0 w 246"/>
                <a:gd name="T9" fmla="*/ 0 h 310"/>
                <a:gd name="T10" fmla="*/ 0 w 246"/>
                <a:gd name="T11" fmla="*/ 0 h 310"/>
                <a:gd name="T12" fmla="*/ 0 w 246"/>
                <a:gd name="T13" fmla="*/ 0 h 310"/>
                <a:gd name="T14" fmla="*/ 0 w 246"/>
                <a:gd name="T15" fmla="*/ 0 h 310"/>
                <a:gd name="T16" fmla="*/ 0 w 246"/>
                <a:gd name="T17" fmla="*/ 0 h 310"/>
                <a:gd name="T18" fmla="*/ 0 w 246"/>
                <a:gd name="T19" fmla="*/ 0 h 310"/>
                <a:gd name="T20" fmla="*/ 0 w 246"/>
                <a:gd name="T21" fmla="*/ 0 h 310"/>
                <a:gd name="T22" fmla="*/ 0 w 246"/>
                <a:gd name="T23" fmla="*/ 0 h 310"/>
                <a:gd name="T24" fmla="*/ 0 w 246"/>
                <a:gd name="T25" fmla="*/ 0 h 310"/>
                <a:gd name="T26" fmla="*/ 0 w 246"/>
                <a:gd name="T27" fmla="*/ 0 h 310"/>
                <a:gd name="T28" fmla="*/ 0 w 246"/>
                <a:gd name="T29" fmla="*/ 0 h 310"/>
                <a:gd name="T30" fmla="*/ 0 w 246"/>
                <a:gd name="T31" fmla="*/ 0 h 310"/>
                <a:gd name="T32" fmla="*/ 0 w 246"/>
                <a:gd name="T33" fmla="*/ 0 h 310"/>
                <a:gd name="T34" fmla="*/ 0 w 246"/>
                <a:gd name="T35" fmla="*/ 0 h 310"/>
                <a:gd name="T36" fmla="*/ 0 w 246"/>
                <a:gd name="T37" fmla="*/ 0 h 310"/>
                <a:gd name="T38" fmla="*/ 0 w 246"/>
                <a:gd name="T39" fmla="*/ 0 h 310"/>
                <a:gd name="T40" fmla="*/ 0 w 246"/>
                <a:gd name="T41" fmla="*/ 0 h 310"/>
                <a:gd name="T42" fmla="*/ 0 w 246"/>
                <a:gd name="T43" fmla="*/ 0 h 310"/>
                <a:gd name="T44" fmla="*/ 0 w 246"/>
                <a:gd name="T45" fmla="*/ 0 h 310"/>
                <a:gd name="T46" fmla="*/ 0 w 246"/>
                <a:gd name="T47" fmla="*/ 0 h 310"/>
                <a:gd name="T48" fmla="*/ 0 w 246"/>
                <a:gd name="T49" fmla="*/ 0 h 310"/>
                <a:gd name="T50" fmla="*/ 0 w 246"/>
                <a:gd name="T51" fmla="*/ 0 h 310"/>
                <a:gd name="T52" fmla="*/ 0 w 246"/>
                <a:gd name="T53" fmla="*/ 0 h 310"/>
                <a:gd name="T54" fmla="*/ 0 w 246"/>
                <a:gd name="T55" fmla="*/ 0 h 310"/>
                <a:gd name="T56" fmla="*/ 0 w 246"/>
                <a:gd name="T57" fmla="*/ 0 h 310"/>
                <a:gd name="T58" fmla="*/ 0 w 246"/>
                <a:gd name="T59" fmla="*/ 0 h 310"/>
                <a:gd name="T60" fmla="*/ 0 w 246"/>
                <a:gd name="T61" fmla="*/ 0 h 310"/>
                <a:gd name="T62" fmla="*/ 0 w 246"/>
                <a:gd name="T63" fmla="*/ 0 h 310"/>
                <a:gd name="T64" fmla="*/ 0 w 246"/>
                <a:gd name="T65" fmla="*/ 0 h 310"/>
                <a:gd name="T66" fmla="*/ 0 w 246"/>
                <a:gd name="T67" fmla="*/ 0 h 310"/>
                <a:gd name="T68" fmla="*/ 0 w 246"/>
                <a:gd name="T69" fmla="*/ 0 h 310"/>
                <a:gd name="T70" fmla="*/ 0 w 246"/>
                <a:gd name="T71" fmla="*/ 0 h 310"/>
                <a:gd name="T72" fmla="*/ 0 w 246"/>
                <a:gd name="T73" fmla="*/ 0 h 310"/>
                <a:gd name="T74" fmla="*/ 0 w 246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Freeform 601"/>
            <p:cNvSpPr>
              <a:spLocks/>
            </p:cNvSpPr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0 w 83"/>
                <a:gd name="T1" fmla="*/ 0 h 187"/>
                <a:gd name="T2" fmla="*/ 0 w 83"/>
                <a:gd name="T3" fmla="*/ 0 h 187"/>
                <a:gd name="T4" fmla="*/ 0 w 83"/>
                <a:gd name="T5" fmla="*/ 0 h 187"/>
                <a:gd name="T6" fmla="*/ 0 w 83"/>
                <a:gd name="T7" fmla="*/ 0 h 187"/>
                <a:gd name="T8" fmla="*/ 0 w 83"/>
                <a:gd name="T9" fmla="*/ 0 h 187"/>
                <a:gd name="T10" fmla="*/ 0 w 83"/>
                <a:gd name="T11" fmla="*/ 0 h 187"/>
                <a:gd name="T12" fmla="*/ 0 w 83"/>
                <a:gd name="T13" fmla="*/ 0 h 187"/>
                <a:gd name="T14" fmla="*/ 0 w 83"/>
                <a:gd name="T15" fmla="*/ 0 h 187"/>
                <a:gd name="T16" fmla="*/ 0 w 83"/>
                <a:gd name="T17" fmla="*/ 0 h 187"/>
                <a:gd name="T18" fmla="*/ 0 w 83"/>
                <a:gd name="T19" fmla="*/ 0 h 187"/>
                <a:gd name="T20" fmla="*/ 0 w 83"/>
                <a:gd name="T21" fmla="*/ 0 h 187"/>
                <a:gd name="T22" fmla="*/ 0 w 83"/>
                <a:gd name="T23" fmla="*/ 0 h 187"/>
                <a:gd name="T24" fmla="*/ 0 w 83"/>
                <a:gd name="T25" fmla="*/ 0 h 187"/>
                <a:gd name="T26" fmla="*/ 0 w 83"/>
                <a:gd name="T27" fmla="*/ 0 h 187"/>
                <a:gd name="T28" fmla="*/ 0 w 83"/>
                <a:gd name="T29" fmla="*/ 0 h 187"/>
                <a:gd name="T30" fmla="*/ 0 w 83"/>
                <a:gd name="T31" fmla="*/ 0 h 187"/>
                <a:gd name="T32" fmla="*/ 0 w 83"/>
                <a:gd name="T33" fmla="*/ 0 h 187"/>
                <a:gd name="T34" fmla="*/ 0 w 83"/>
                <a:gd name="T35" fmla="*/ 0 h 187"/>
                <a:gd name="T36" fmla="*/ 0 w 83"/>
                <a:gd name="T37" fmla="*/ 0 h 187"/>
                <a:gd name="T38" fmla="*/ 0 w 83"/>
                <a:gd name="T39" fmla="*/ 0 h 187"/>
                <a:gd name="T40" fmla="*/ 0 w 83"/>
                <a:gd name="T41" fmla="*/ 0 h 187"/>
                <a:gd name="T42" fmla="*/ 0 w 83"/>
                <a:gd name="T43" fmla="*/ 0 h 187"/>
                <a:gd name="T44" fmla="*/ 0 w 83"/>
                <a:gd name="T45" fmla="*/ 0 h 187"/>
                <a:gd name="T46" fmla="*/ 0 w 83"/>
                <a:gd name="T47" fmla="*/ 0 h 187"/>
                <a:gd name="T48" fmla="*/ 0 w 83"/>
                <a:gd name="T49" fmla="*/ 0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Freeform 602"/>
            <p:cNvSpPr>
              <a:spLocks/>
            </p:cNvSpPr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0 w 44"/>
                <a:gd name="T1" fmla="*/ 0 h 94"/>
                <a:gd name="T2" fmla="*/ 0 w 44"/>
                <a:gd name="T3" fmla="*/ 0 h 94"/>
                <a:gd name="T4" fmla="*/ 0 w 44"/>
                <a:gd name="T5" fmla="*/ 0 h 94"/>
                <a:gd name="T6" fmla="*/ 0 w 44"/>
                <a:gd name="T7" fmla="*/ 0 h 94"/>
                <a:gd name="T8" fmla="*/ 0 w 44"/>
                <a:gd name="T9" fmla="*/ 0 h 94"/>
                <a:gd name="T10" fmla="*/ 0 w 44"/>
                <a:gd name="T11" fmla="*/ 0 h 94"/>
                <a:gd name="T12" fmla="*/ 0 w 44"/>
                <a:gd name="T13" fmla="*/ 0 h 94"/>
                <a:gd name="T14" fmla="*/ 0 w 44"/>
                <a:gd name="T15" fmla="*/ 0 h 94"/>
                <a:gd name="T16" fmla="*/ 0 w 44"/>
                <a:gd name="T17" fmla="*/ 0 h 94"/>
                <a:gd name="T18" fmla="*/ 0 w 44"/>
                <a:gd name="T19" fmla="*/ 0 h 94"/>
                <a:gd name="T20" fmla="*/ 0 w 44"/>
                <a:gd name="T21" fmla="*/ 0 h 94"/>
                <a:gd name="T22" fmla="*/ 0 w 44"/>
                <a:gd name="T23" fmla="*/ 0 h 94"/>
                <a:gd name="T24" fmla="*/ 0 w 44"/>
                <a:gd name="T25" fmla="*/ 0 h 94"/>
                <a:gd name="T26" fmla="*/ 0 w 44"/>
                <a:gd name="T27" fmla="*/ 0 h 94"/>
                <a:gd name="T28" fmla="*/ 0 w 44"/>
                <a:gd name="T29" fmla="*/ 0 h 94"/>
                <a:gd name="T30" fmla="*/ 0 w 44"/>
                <a:gd name="T31" fmla="*/ 0 h 94"/>
                <a:gd name="T32" fmla="*/ 0 w 44"/>
                <a:gd name="T33" fmla="*/ 0 h 94"/>
                <a:gd name="T34" fmla="*/ 0 w 44"/>
                <a:gd name="T35" fmla="*/ 0 h 94"/>
                <a:gd name="T36" fmla="*/ 0 w 44"/>
                <a:gd name="T37" fmla="*/ 0 h 94"/>
                <a:gd name="T38" fmla="*/ 0 w 44"/>
                <a:gd name="T39" fmla="*/ 0 h 94"/>
                <a:gd name="T40" fmla="*/ 0 w 44"/>
                <a:gd name="T41" fmla="*/ 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Freeform 603"/>
            <p:cNvSpPr>
              <a:spLocks/>
            </p:cNvSpPr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0 w 38"/>
                <a:gd name="T1" fmla="*/ 0 h 54"/>
                <a:gd name="T2" fmla="*/ 0 w 38"/>
                <a:gd name="T3" fmla="*/ 0 h 54"/>
                <a:gd name="T4" fmla="*/ 0 w 38"/>
                <a:gd name="T5" fmla="*/ 0 h 54"/>
                <a:gd name="T6" fmla="*/ 0 w 38"/>
                <a:gd name="T7" fmla="*/ 0 h 54"/>
                <a:gd name="T8" fmla="*/ 0 w 38"/>
                <a:gd name="T9" fmla="*/ 0 h 54"/>
                <a:gd name="T10" fmla="*/ 0 w 38"/>
                <a:gd name="T11" fmla="*/ 0 h 54"/>
                <a:gd name="T12" fmla="*/ 0 w 38"/>
                <a:gd name="T13" fmla="*/ 0 h 54"/>
                <a:gd name="T14" fmla="*/ 0 w 38"/>
                <a:gd name="T15" fmla="*/ 0 h 54"/>
                <a:gd name="T16" fmla="*/ 0 w 38"/>
                <a:gd name="T17" fmla="*/ 0 h 54"/>
                <a:gd name="T18" fmla="*/ 0 w 38"/>
                <a:gd name="T19" fmla="*/ 0 h 54"/>
                <a:gd name="T20" fmla="*/ 0 w 38"/>
                <a:gd name="T21" fmla="*/ 0 h 54"/>
                <a:gd name="T22" fmla="*/ 0 w 38"/>
                <a:gd name="T23" fmla="*/ 0 h 54"/>
                <a:gd name="T24" fmla="*/ 0 w 38"/>
                <a:gd name="T25" fmla="*/ 0 h 54"/>
                <a:gd name="T26" fmla="*/ 0 w 38"/>
                <a:gd name="T27" fmla="*/ 0 h 54"/>
                <a:gd name="T28" fmla="*/ 0 w 38"/>
                <a:gd name="T29" fmla="*/ 0 h 54"/>
                <a:gd name="T30" fmla="*/ 0 w 38"/>
                <a:gd name="T31" fmla="*/ 0 h 54"/>
                <a:gd name="T32" fmla="*/ 0 w 38"/>
                <a:gd name="T33" fmla="*/ 0 h 54"/>
                <a:gd name="T34" fmla="*/ 0 w 38"/>
                <a:gd name="T35" fmla="*/ 0 h 54"/>
                <a:gd name="T36" fmla="*/ 0 w 38"/>
                <a:gd name="T37" fmla="*/ 0 h 54"/>
                <a:gd name="T38" fmla="*/ 0 w 38"/>
                <a:gd name="T39" fmla="*/ 0 h 54"/>
                <a:gd name="T40" fmla="*/ 0 w 38"/>
                <a:gd name="T41" fmla="*/ 0 h 54"/>
                <a:gd name="T42" fmla="*/ 0 w 38"/>
                <a:gd name="T43" fmla="*/ 0 h 54"/>
                <a:gd name="T44" fmla="*/ 0 w 38"/>
                <a:gd name="T45" fmla="*/ 0 h 54"/>
                <a:gd name="T46" fmla="*/ 0 w 38"/>
                <a:gd name="T47" fmla="*/ 0 h 54"/>
                <a:gd name="T48" fmla="*/ 0 w 38"/>
                <a:gd name="T49" fmla="*/ 0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Freeform 604"/>
            <p:cNvSpPr>
              <a:spLocks/>
            </p:cNvSpPr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0 w 52"/>
                <a:gd name="T1" fmla="*/ 0 h 36"/>
                <a:gd name="T2" fmla="*/ 0 w 52"/>
                <a:gd name="T3" fmla="*/ 0 h 36"/>
                <a:gd name="T4" fmla="*/ 0 w 52"/>
                <a:gd name="T5" fmla="*/ 0 h 36"/>
                <a:gd name="T6" fmla="*/ 0 w 52"/>
                <a:gd name="T7" fmla="*/ 0 h 36"/>
                <a:gd name="T8" fmla="*/ 0 w 52"/>
                <a:gd name="T9" fmla="*/ 0 h 36"/>
                <a:gd name="T10" fmla="*/ 0 w 52"/>
                <a:gd name="T11" fmla="*/ 0 h 36"/>
                <a:gd name="T12" fmla="*/ 0 w 52"/>
                <a:gd name="T13" fmla="*/ 0 h 36"/>
                <a:gd name="T14" fmla="*/ 0 w 52"/>
                <a:gd name="T15" fmla="*/ 0 h 36"/>
                <a:gd name="T16" fmla="*/ 0 w 52"/>
                <a:gd name="T17" fmla="*/ 0 h 36"/>
                <a:gd name="T18" fmla="*/ 0 w 52"/>
                <a:gd name="T19" fmla="*/ 0 h 36"/>
                <a:gd name="T20" fmla="*/ 0 w 52"/>
                <a:gd name="T21" fmla="*/ 0 h 36"/>
                <a:gd name="T22" fmla="*/ 0 w 52"/>
                <a:gd name="T23" fmla="*/ 0 h 36"/>
                <a:gd name="T24" fmla="*/ 0 w 52"/>
                <a:gd name="T25" fmla="*/ 0 h 36"/>
                <a:gd name="T26" fmla="*/ 0 w 52"/>
                <a:gd name="T27" fmla="*/ 0 h 36"/>
                <a:gd name="T28" fmla="*/ 0 w 52"/>
                <a:gd name="T29" fmla="*/ 0 h 36"/>
                <a:gd name="T30" fmla="*/ 0 w 52"/>
                <a:gd name="T31" fmla="*/ 0 h 36"/>
                <a:gd name="T32" fmla="*/ 0 w 52"/>
                <a:gd name="T33" fmla="*/ 0 h 36"/>
                <a:gd name="T34" fmla="*/ 0 w 52"/>
                <a:gd name="T35" fmla="*/ 0 h 36"/>
                <a:gd name="T36" fmla="*/ 0 w 52"/>
                <a:gd name="T37" fmla="*/ 0 h 36"/>
                <a:gd name="T38" fmla="*/ 0 w 52"/>
                <a:gd name="T39" fmla="*/ 0 h 36"/>
                <a:gd name="T40" fmla="*/ 0 w 52"/>
                <a:gd name="T41" fmla="*/ 0 h 36"/>
                <a:gd name="T42" fmla="*/ 0 w 52"/>
                <a:gd name="T43" fmla="*/ 0 h 36"/>
                <a:gd name="T44" fmla="*/ 0 w 52"/>
                <a:gd name="T45" fmla="*/ 0 h 36"/>
                <a:gd name="T46" fmla="*/ 0 w 52"/>
                <a:gd name="T47" fmla="*/ 0 h 36"/>
                <a:gd name="T48" fmla="*/ 0 w 52"/>
                <a:gd name="T49" fmla="*/ 0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Freeform 605"/>
            <p:cNvSpPr>
              <a:spLocks/>
            </p:cNvSpPr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0 w 198"/>
                <a:gd name="T1" fmla="*/ 0 h 236"/>
                <a:gd name="T2" fmla="*/ 0 w 198"/>
                <a:gd name="T3" fmla="*/ 0 h 236"/>
                <a:gd name="T4" fmla="*/ 0 w 198"/>
                <a:gd name="T5" fmla="*/ 0 h 236"/>
                <a:gd name="T6" fmla="*/ 0 w 198"/>
                <a:gd name="T7" fmla="*/ 0 h 236"/>
                <a:gd name="T8" fmla="*/ 0 w 198"/>
                <a:gd name="T9" fmla="*/ 0 h 236"/>
                <a:gd name="T10" fmla="*/ 0 w 198"/>
                <a:gd name="T11" fmla="*/ 0 h 236"/>
                <a:gd name="T12" fmla="*/ 0 w 198"/>
                <a:gd name="T13" fmla="*/ 0 h 236"/>
                <a:gd name="T14" fmla="*/ 0 w 198"/>
                <a:gd name="T15" fmla="*/ 0 h 236"/>
                <a:gd name="T16" fmla="*/ 0 w 198"/>
                <a:gd name="T17" fmla="*/ 0 h 236"/>
                <a:gd name="T18" fmla="*/ 0 w 198"/>
                <a:gd name="T19" fmla="*/ 0 h 236"/>
                <a:gd name="T20" fmla="*/ 0 w 198"/>
                <a:gd name="T21" fmla="*/ 0 h 236"/>
                <a:gd name="T22" fmla="*/ 0 w 198"/>
                <a:gd name="T23" fmla="*/ 0 h 236"/>
                <a:gd name="T24" fmla="*/ 0 w 198"/>
                <a:gd name="T25" fmla="*/ 0 h 236"/>
                <a:gd name="T26" fmla="*/ 0 w 198"/>
                <a:gd name="T27" fmla="*/ 0 h 236"/>
                <a:gd name="T28" fmla="*/ 0 w 198"/>
                <a:gd name="T29" fmla="*/ 0 h 236"/>
                <a:gd name="T30" fmla="*/ 0 w 198"/>
                <a:gd name="T31" fmla="*/ 0 h 236"/>
                <a:gd name="T32" fmla="*/ 0 w 198"/>
                <a:gd name="T33" fmla="*/ 0 h 236"/>
                <a:gd name="T34" fmla="*/ 0 w 198"/>
                <a:gd name="T35" fmla="*/ 0 h 236"/>
                <a:gd name="T36" fmla="*/ 0 w 198"/>
                <a:gd name="T37" fmla="*/ 0 h 236"/>
                <a:gd name="T38" fmla="*/ 0 w 198"/>
                <a:gd name="T39" fmla="*/ 0 h 236"/>
                <a:gd name="T40" fmla="*/ 0 w 198"/>
                <a:gd name="T41" fmla="*/ 0 h 236"/>
                <a:gd name="T42" fmla="*/ 0 w 198"/>
                <a:gd name="T43" fmla="*/ 0 h 236"/>
                <a:gd name="T44" fmla="*/ 0 w 198"/>
                <a:gd name="T45" fmla="*/ 0 h 236"/>
                <a:gd name="T46" fmla="*/ 0 w 198"/>
                <a:gd name="T47" fmla="*/ 0 h 236"/>
                <a:gd name="T48" fmla="*/ 0 w 198"/>
                <a:gd name="T49" fmla="*/ 0 h 236"/>
                <a:gd name="T50" fmla="*/ 0 w 198"/>
                <a:gd name="T51" fmla="*/ 0 h 236"/>
                <a:gd name="T52" fmla="*/ 0 w 198"/>
                <a:gd name="T53" fmla="*/ 0 h 236"/>
                <a:gd name="T54" fmla="*/ 0 w 198"/>
                <a:gd name="T55" fmla="*/ 0 h 236"/>
                <a:gd name="T56" fmla="*/ 0 w 198"/>
                <a:gd name="T57" fmla="*/ 0 h 236"/>
                <a:gd name="T58" fmla="*/ 0 w 198"/>
                <a:gd name="T59" fmla="*/ 0 h 236"/>
                <a:gd name="T60" fmla="*/ 0 w 198"/>
                <a:gd name="T61" fmla="*/ 0 h 236"/>
                <a:gd name="T62" fmla="*/ 0 w 198"/>
                <a:gd name="T63" fmla="*/ 0 h 236"/>
                <a:gd name="T64" fmla="*/ 0 w 198"/>
                <a:gd name="T65" fmla="*/ 0 h 236"/>
                <a:gd name="T66" fmla="*/ 0 w 198"/>
                <a:gd name="T67" fmla="*/ 0 h 236"/>
                <a:gd name="T68" fmla="*/ 0 w 198"/>
                <a:gd name="T69" fmla="*/ 0 h 236"/>
                <a:gd name="T70" fmla="*/ 0 w 198"/>
                <a:gd name="T71" fmla="*/ 0 h 236"/>
                <a:gd name="T72" fmla="*/ 0 w 198"/>
                <a:gd name="T73" fmla="*/ 0 h 236"/>
                <a:gd name="T74" fmla="*/ 0 w 198"/>
                <a:gd name="T75" fmla="*/ 0 h 236"/>
                <a:gd name="T76" fmla="*/ 0 w 198"/>
                <a:gd name="T77" fmla="*/ 0 h 236"/>
                <a:gd name="T78" fmla="*/ 0 w 198"/>
                <a:gd name="T79" fmla="*/ 0 h 236"/>
                <a:gd name="T80" fmla="*/ 0 w 198"/>
                <a:gd name="T81" fmla="*/ 0 h 236"/>
                <a:gd name="T82" fmla="*/ 0 w 198"/>
                <a:gd name="T83" fmla="*/ 0 h 236"/>
                <a:gd name="T84" fmla="*/ 0 w 198"/>
                <a:gd name="T85" fmla="*/ 0 h 236"/>
                <a:gd name="T86" fmla="*/ 0 w 198"/>
                <a:gd name="T87" fmla="*/ 0 h 236"/>
                <a:gd name="T88" fmla="*/ 0 w 198"/>
                <a:gd name="T89" fmla="*/ 0 h 236"/>
                <a:gd name="T90" fmla="*/ 0 w 198"/>
                <a:gd name="T91" fmla="*/ 0 h 236"/>
                <a:gd name="T92" fmla="*/ 0 w 198"/>
                <a:gd name="T93" fmla="*/ 0 h 236"/>
                <a:gd name="T94" fmla="*/ 0 w 198"/>
                <a:gd name="T95" fmla="*/ 0 h 236"/>
                <a:gd name="T96" fmla="*/ 0 w 198"/>
                <a:gd name="T97" fmla="*/ 0 h 236"/>
                <a:gd name="T98" fmla="*/ 0 w 198"/>
                <a:gd name="T99" fmla="*/ 0 h 236"/>
                <a:gd name="T100" fmla="*/ 0 w 198"/>
                <a:gd name="T101" fmla="*/ 0 h 236"/>
                <a:gd name="T102" fmla="*/ 0 w 198"/>
                <a:gd name="T103" fmla="*/ 0 h 236"/>
                <a:gd name="T104" fmla="*/ 0 w 198"/>
                <a:gd name="T105" fmla="*/ 0 h 236"/>
                <a:gd name="T106" fmla="*/ 0 w 198"/>
                <a:gd name="T107" fmla="*/ 0 h 236"/>
                <a:gd name="T108" fmla="*/ 0 w 198"/>
                <a:gd name="T109" fmla="*/ 0 h 236"/>
                <a:gd name="T110" fmla="*/ 0 w 198"/>
                <a:gd name="T111" fmla="*/ 0 h 236"/>
                <a:gd name="T112" fmla="*/ 0 w 198"/>
                <a:gd name="T113" fmla="*/ 0 h 236"/>
                <a:gd name="T114" fmla="*/ 0 w 198"/>
                <a:gd name="T115" fmla="*/ 0 h 236"/>
                <a:gd name="T116" fmla="*/ 0 w 198"/>
                <a:gd name="T117" fmla="*/ 0 h 236"/>
                <a:gd name="T118" fmla="*/ 0 w 198"/>
                <a:gd name="T119" fmla="*/ 0 h 236"/>
                <a:gd name="T120" fmla="*/ 0 w 198"/>
                <a:gd name="T121" fmla="*/ 0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Freeform 606"/>
            <p:cNvSpPr>
              <a:spLocks/>
            </p:cNvSpPr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0 w 128"/>
                <a:gd name="T1" fmla="*/ 0 h 183"/>
                <a:gd name="T2" fmla="*/ 0 w 128"/>
                <a:gd name="T3" fmla="*/ 0 h 183"/>
                <a:gd name="T4" fmla="*/ 0 w 128"/>
                <a:gd name="T5" fmla="*/ 0 h 183"/>
                <a:gd name="T6" fmla="*/ 0 w 128"/>
                <a:gd name="T7" fmla="*/ 0 h 183"/>
                <a:gd name="T8" fmla="*/ 0 w 128"/>
                <a:gd name="T9" fmla="*/ 0 h 183"/>
                <a:gd name="T10" fmla="*/ 0 w 128"/>
                <a:gd name="T11" fmla="*/ 0 h 183"/>
                <a:gd name="T12" fmla="*/ 0 w 128"/>
                <a:gd name="T13" fmla="*/ 0 h 183"/>
                <a:gd name="T14" fmla="*/ 0 w 128"/>
                <a:gd name="T15" fmla="*/ 0 h 183"/>
                <a:gd name="T16" fmla="*/ 0 w 128"/>
                <a:gd name="T17" fmla="*/ 0 h 183"/>
                <a:gd name="T18" fmla="*/ 0 w 128"/>
                <a:gd name="T19" fmla="*/ 0 h 183"/>
                <a:gd name="T20" fmla="*/ 0 w 128"/>
                <a:gd name="T21" fmla="*/ 0 h 183"/>
                <a:gd name="T22" fmla="*/ 0 w 128"/>
                <a:gd name="T23" fmla="*/ 0 h 183"/>
                <a:gd name="T24" fmla="*/ 0 w 128"/>
                <a:gd name="T25" fmla="*/ 0 h 183"/>
                <a:gd name="T26" fmla="*/ 0 w 128"/>
                <a:gd name="T27" fmla="*/ 0 h 183"/>
                <a:gd name="T28" fmla="*/ 0 w 128"/>
                <a:gd name="T29" fmla="*/ 0 h 183"/>
                <a:gd name="T30" fmla="*/ 0 w 128"/>
                <a:gd name="T31" fmla="*/ 0 h 183"/>
                <a:gd name="T32" fmla="*/ 0 w 128"/>
                <a:gd name="T33" fmla="*/ 0 h 183"/>
                <a:gd name="T34" fmla="*/ 0 w 128"/>
                <a:gd name="T35" fmla="*/ 0 h 183"/>
                <a:gd name="T36" fmla="*/ 0 w 128"/>
                <a:gd name="T37" fmla="*/ 0 h 183"/>
                <a:gd name="T38" fmla="*/ 0 w 128"/>
                <a:gd name="T39" fmla="*/ 0 h 183"/>
                <a:gd name="T40" fmla="*/ 0 w 128"/>
                <a:gd name="T41" fmla="*/ 0 h 183"/>
                <a:gd name="T42" fmla="*/ 0 w 128"/>
                <a:gd name="T43" fmla="*/ 0 h 183"/>
                <a:gd name="T44" fmla="*/ 0 w 128"/>
                <a:gd name="T45" fmla="*/ 0 h 183"/>
                <a:gd name="T46" fmla="*/ 0 w 128"/>
                <a:gd name="T47" fmla="*/ 0 h 183"/>
                <a:gd name="T48" fmla="*/ 0 w 128"/>
                <a:gd name="T49" fmla="*/ 0 h 183"/>
                <a:gd name="T50" fmla="*/ 0 w 128"/>
                <a:gd name="T51" fmla="*/ 0 h 183"/>
                <a:gd name="T52" fmla="*/ 0 w 128"/>
                <a:gd name="T53" fmla="*/ 0 h 183"/>
                <a:gd name="T54" fmla="*/ 0 w 128"/>
                <a:gd name="T55" fmla="*/ 0 h 183"/>
                <a:gd name="T56" fmla="*/ 0 w 128"/>
                <a:gd name="T57" fmla="*/ 0 h 183"/>
                <a:gd name="T58" fmla="*/ 0 w 128"/>
                <a:gd name="T59" fmla="*/ 0 h 183"/>
                <a:gd name="T60" fmla="*/ 0 w 128"/>
                <a:gd name="T61" fmla="*/ 0 h 183"/>
                <a:gd name="T62" fmla="*/ 0 w 128"/>
                <a:gd name="T63" fmla="*/ 0 h 183"/>
                <a:gd name="T64" fmla="*/ 0 w 128"/>
                <a:gd name="T65" fmla="*/ 0 h 183"/>
                <a:gd name="T66" fmla="*/ 0 w 128"/>
                <a:gd name="T67" fmla="*/ 0 h 183"/>
                <a:gd name="T68" fmla="*/ 0 w 128"/>
                <a:gd name="T69" fmla="*/ 0 h 183"/>
                <a:gd name="T70" fmla="*/ 0 w 128"/>
                <a:gd name="T71" fmla="*/ 0 h 183"/>
                <a:gd name="T72" fmla="*/ 0 w 128"/>
                <a:gd name="T73" fmla="*/ 0 h 183"/>
                <a:gd name="T74" fmla="*/ 0 w 128"/>
                <a:gd name="T75" fmla="*/ 0 h 183"/>
                <a:gd name="T76" fmla="*/ 0 w 128"/>
                <a:gd name="T77" fmla="*/ 0 h 183"/>
                <a:gd name="T78" fmla="*/ 0 w 128"/>
                <a:gd name="T79" fmla="*/ 0 h 183"/>
                <a:gd name="T80" fmla="*/ 0 w 128"/>
                <a:gd name="T81" fmla="*/ 0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Freeform 607"/>
            <p:cNvSpPr>
              <a:spLocks/>
            </p:cNvSpPr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0 w 323"/>
                <a:gd name="T1" fmla="*/ 0 h 379"/>
                <a:gd name="T2" fmla="*/ 0 w 323"/>
                <a:gd name="T3" fmla="*/ 0 h 379"/>
                <a:gd name="T4" fmla="*/ 0 w 323"/>
                <a:gd name="T5" fmla="*/ 0 h 379"/>
                <a:gd name="T6" fmla="*/ 0 w 323"/>
                <a:gd name="T7" fmla="*/ 0 h 379"/>
                <a:gd name="T8" fmla="*/ 0 w 323"/>
                <a:gd name="T9" fmla="*/ 0 h 379"/>
                <a:gd name="T10" fmla="*/ 0 w 323"/>
                <a:gd name="T11" fmla="*/ 0 h 379"/>
                <a:gd name="T12" fmla="*/ 0 w 323"/>
                <a:gd name="T13" fmla="*/ 0 h 379"/>
                <a:gd name="T14" fmla="*/ 0 w 323"/>
                <a:gd name="T15" fmla="*/ 0 h 379"/>
                <a:gd name="T16" fmla="*/ 0 w 323"/>
                <a:gd name="T17" fmla="*/ 0 h 379"/>
                <a:gd name="T18" fmla="*/ 0 w 323"/>
                <a:gd name="T19" fmla="*/ 0 h 379"/>
                <a:gd name="T20" fmla="*/ 0 w 323"/>
                <a:gd name="T21" fmla="*/ 0 h 379"/>
                <a:gd name="T22" fmla="*/ 0 w 323"/>
                <a:gd name="T23" fmla="*/ 0 h 379"/>
                <a:gd name="T24" fmla="*/ 0 w 323"/>
                <a:gd name="T25" fmla="*/ 0 h 379"/>
                <a:gd name="T26" fmla="*/ 0 w 323"/>
                <a:gd name="T27" fmla="*/ 0 h 379"/>
                <a:gd name="T28" fmla="*/ 0 w 323"/>
                <a:gd name="T29" fmla="*/ 0 h 379"/>
                <a:gd name="T30" fmla="*/ 0 w 323"/>
                <a:gd name="T31" fmla="*/ 0 h 379"/>
                <a:gd name="T32" fmla="*/ 0 w 323"/>
                <a:gd name="T33" fmla="*/ 0 h 379"/>
                <a:gd name="T34" fmla="*/ 0 w 323"/>
                <a:gd name="T35" fmla="*/ 0 h 379"/>
                <a:gd name="T36" fmla="*/ 0 w 323"/>
                <a:gd name="T37" fmla="*/ 0 h 379"/>
                <a:gd name="T38" fmla="*/ 0 w 323"/>
                <a:gd name="T39" fmla="*/ 0 h 379"/>
                <a:gd name="T40" fmla="*/ 0 w 323"/>
                <a:gd name="T41" fmla="*/ 0 h 379"/>
                <a:gd name="T42" fmla="*/ 0 w 323"/>
                <a:gd name="T43" fmla="*/ 0 h 379"/>
                <a:gd name="T44" fmla="*/ 0 w 323"/>
                <a:gd name="T45" fmla="*/ 0 h 379"/>
                <a:gd name="T46" fmla="*/ 0 w 323"/>
                <a:gd name="T47" fmla="*/ 0 h 379"/>
                <a:gd name="T48" fmla="*/ 0 w 323"/>
                <a:gd name="T49" fmla="*/ 0 h 379"/>
                <a:gd name="T50" fmla="*/ 0 w 323"/>
                <a:gd name="T51" fmla="*/ 0 h 379"/>
                <a:gd name="T52" fmla="*/ 0 w 323"/>
                <a:gd name="T53" fmla="*/ 0 h 379"/>
                <a:gd name="T54" fmla="*/ 0 w 323"/>
                <a:gd name="T55" fmla="*/ 0 h 379"/>
                <a:gd name="T56" fmla="*/ 0 w 323"/>
                <a:gd name="T57" fmla="*/ 0 h 379"/>
                <a:gd name="T58" fmla="*/ 0 w 323"/>
                <a:gd name="T59" fmla="*/ 0 h 379"/>
                <a:gd name="T60" fmla="*/ 0 w 323"/>
                <a:gd name="T61" fmla="*/ 0 h 379"/>
                <a:gd name="T62" fmla="*/ 0 w 323"/>
                <a:gd name="T63" fmla="*/ 0 h 379"/>
                <a:gd name="T64" fmla="*/ 0 w 323"/>
                <a:gd name="T65" fmla="*/ 0 h 379"/>
                <a:gd name="T66" fmla="*/ 0 w 323"/>
                <a:gd name="T67" fmla="*/ 0 h 379"/>
                <a:gd name="T68" fmla="*/ 0 w 323"/>
                <a:gd name="T69" fmla="*/ 0 h 379"/>
                <a:gd name="T70" fmla="*/ 0 w 323"/>
                <a:gd name="T71" fmla="*/ 0 h 379"/>
                <a:gd name="T72" fmla="*/ 0 w 323"/>
                <a:gd name="T73" fmla="*/ 0 h 379"/>
                <a:gd name="T74" fmla="*/ 0 w 323"/>
                <a:gd name="T75" fmla="*/ 0 h 379"/>
                <a:gd name="T76" fmla="*/ 0 w 323"/>
                <a:gd name="T77" fmla="*/ 0 h 379"/>
                <a:gd name="T78" fmla="*/ 0 w 323"/>
                <a:gd name="T79" fmla="*/ 0 h 379"/>
                <a:gd name="T80" fmla="*/ 0 w 323"/>
                <a:gd name="T81" fmla="*/ 0 h 379"/>
                <a:gd name="T82" fmla="*/ 0 w 323"/>
                <a:gd name="T83" fmla="*/ 0 h 379"/>
                <a:gd name="T84" fmla="*/ 0 w 323"/>
                <a:gd name="T85" fmla="*/ 0 h 379"/>
                <a:gd name="T86" fmla="*/ 0 w 323"/>
                <a:gd name="T87" fmla="*/ 0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Freeform 608"/>
            <p:cNvSpPr>
              <a:spLocks/>
            </p:cNvSpPr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0 w 282"/>
                <a:gd name="T1" fmla="*/ 0 h 253"/>
                <a:gd name="T2" fmla="*/ 0 w 282"/>
                <a:gd name="T3" fmla="*/ 0 h 253"/>
                <a:gd name="T4" fmla="*/ 0 w 282"/>
                <a:gd name="T5" fmla="*/ 0 h 253"/>
                <a:gd name="T6" fmla="*/ 0 w 282"/>
                <a:gd name="T7" fmla="*/ 0 h 253"/>
                <a:gd name="T8" fmla="*/ 0 w 282"/>
                <a:gd name="T9" fmla="*/ 0 h 253"/>
                <a:gd name="T10" fmla="*/ 0 w 282"/>
                <a:gd name="T11" fmla="*/ 0 h 253"/>
                <a:gd name="T12" fmla="*/ 0 w 282"/>
                <a:gd name="T13" fmla="*/ 0 h 253"/>
                <a:gd name="T14" fmla="*/ 0 w 282"/>
                <a:gd name="T15" fmla="*/ 0 h 253"/>
                <a:gd name="T16" fmla="*/ 0 w 282"/>
                <a:gd name="T17" fmla="*/ 0 h 253"/>
                <a:gd name="T18" fmla="*/ 0 w 282"/>
                <a:gd name="T19" fmla="*/ 0 h 253"/>
                <a:gd name="T20" fmla="*/ 0 w 282"/>
                <a:gd name="T21" fmla="*/ 0 h 253"/>
                <a:gd name="T22" fmla="*/ 0 w 282"/>
                <a:gd name="T23" fmla="*/ 0 h 253"/>
                <a:gd name="T24" fmla="*/ 0 w 282"/>
                <a:gd name="T25" fmla="*/ 0 h 253"/>
                <a:gd name="T26" fmla="*/ 0 w 282"/>
                <a:gd name="T27" fmla="*/ 0 h 253"/>
                <a:gd name="T28" fmla="*/ 0 w 282"/>
                <a:gd name="T29" fmla="*/ 0 h 253"/>
                <a:gd name="T30" fmla="*/ 0 w 282"/>
                <a:gd name="T31" fmla="*/ 0 h 253"/>
                <a:gd name="T32" fmla="*/ 0 w 282"/>
                <a:gd name="T33" fmla="*/ 0 h 253"/>
                <a:gd name="T34" fmla="*/ 0 w 282"/>
                <a:gd name="T35" fmla="*/ 0 h 253"/>
                <a:gd name="T36" fmla="*/ 0 w 282"/>
                <a:gd name="T37" fmla="*/ 0 h 253"/>
                <a:gd name="T38" fmla="*/ 0 w 282"/>
                <a:gd name="T39" fmla="*/ 0 h 253"/>
                <a:gd name="T40" fmla="*/ 0 w 282"/>
                <a:gd name="T41" fmla="*/ 0 h 253"/>
                <a:gd name="T42" fmla="*/ 0 w 282"/>
                <a:gd name="T43" fmla="*/ 0 h 253"/>
                <a:gd name="T44" fmla="*/ 0 w 282"/>
                <a:gd name="T45" fmla="*/ 0 h 253"/>
                <a:gd name="T46" fmla="*/ 0 w 282"/>
                <a:gd name="T47" fmla="*/ 0 h 253"/>
                <a:gd name="T48" fmla="*/ 0 w 282"/>
                <a:gd name="T49" fmla="*/ 0 h 253"/>
                <a:gd name="T50" fmla="*/ 0 w 282"/>
                <a:gd name="T51" fmla="*/ 0 h 253"/>
                <a:gd name="T52" fmla="*/ 0 w 282"/>
                <a:gd name="T53" fmla="*/ 0 h 253"/>
                <a:gd name="T54" fmla="*/ 0 w 282"/>
                <a:gd name="T55" fmla="*/ 0 h 253"/>
                <a:gd name="T56" fmla="*/ 0 w 282"/>
                <a:gd name="T57" fmla="*/ 0 h 253"/>
                <a:gd name="T58" fmla="*/ 0 w 282"/>
                <a:gd name="T59" fmla="*/ 0 h 253"/>
                <a:gd name="T60" fmla="*/ 0 w 282"/>
                <a:gd name="T61" fmla="*/ 0 h 253"/>
                <a:gd name="T62" fmla="*/ 0 w 282"/>
                <a:gd name="T63" fmla="*/ 0 h 253"/>
                <a:gd name="T64" fmla="*/ 0 w 282"/>
                <a:gd name="T65" fmla="*/ 0 h 253"/>
                <a:gd name="T66" fmla="*/ 0 w 282"/>
                <a:gd name="T67" fmla="*/ 0 h 253"/>
                <a:gd name="T68" fmla="*/ 0 w 282"/>
                <a:gd name="T69" fmla="*/ 0 h 253"/>
                <a:gd name="T70" fmla="*/ 0 w 282"/>
                <a:gd name="T71" fmla="*/ 0 h 253"/>
                <a:gd name="T72" fmla="*/ 0 w 282"/>
                <a:gd name="T73" fmla="*/ 0 h 253"/>
                <a:gd name="T74" fmla="*/ 0 w 282"/>
                <a:gd name="T75" fmla="*/ 0 h 253"/>
                <a:gd name="T76" fmla="*/ 0 w 282"/>
                <a:gd name="T77" fmla="*/ 0 h 253"/>
                <a:gd name="T78" fmla="*/ 0 w 282"/>
                <a:gd name="T79" fmla="*/ 0 h 253"/>
                <a:gd name="T80" fmla="*/ 0 w 282"/>
                <a:gd name="T81" fmla="*/ 0 h 253"/>
                <a:gd name="T82" fmla="*/ 0 w 282"/>
                <a:gd name="T83" fmla="*/ 0 h 253"/>
                <a:gd name="T84" fmla="*/ 0 w 282"/>
                <a:gd name="T85" fmla="*/ 0 h 253"/>
                <a:gd name="T86" fmla="*/ 0 w 282"/>
                <a:gd name="T87" fmla="*/ 0 h 253"/>
                <a:gd name="T88" fmla="*/ 0 w 282"/>
                <a:gd name="T89" fmla="*/ 0 h 253"/>
                <a:gd name="T90" fmla="*/ 0 w 282"/>
                <a:gd name="T91" fmla="*/ 0 h 253"/>
                <a:gd name="T92" fmla="*/ 0 w 282"/>
                <a:gd name="T93" fmla="*/ 0 h 253"/>
                <a:gd name="T94" fmla="*/ 0 w 282"/>
                <a:gd name="T95" fmla="*/ 0 h 253"/>
                <a:gd name="T96" fmla="*/ 0 w 282"/>
                <a:gd name="T97" fmla="*/ 0 h 253"/>
                <a:gd name="T98" fmla="*/ 0 w 282"/>
                <a:gd name="T99" fmla="*/ 0 h 253"/>
                <a:gd name="T100" fmla="*/ 0 w 282"/>
                <a:gd name="T101" fmla="*/ 0 h 253"/>
                <a:gd name="T102" fmla="*/ 0 w 282"/>
                <a:gd name="T103" fmla="*/ 0 h 253"/>
                <a:gd name="T104" fmla="*/ 0 w 282"/>
                <a:gd name="T105" fmla="*/ 0 h 253"/>
                <a:gd name="T106" fmla="*/ 0 w 282"/>
                <a:gd name="T107" fmla="*/ 0 h 253"/>
                <a:gd name="T108" fmla="*/ 0 w 282"/>
                <a:gd name="T109" fmla="*/ 0 h 253"/>
                <a:gd name="T110" fmla="*/ 0 w 282"/>
                <a:gd name="T111" fmla="*/ 0 h 253"/>
                <a:gd name="T112" fmla="*/ 0 w 282"/>
                <a:gd name="T113" fmla="*/ 0 h 253"/>
                <a:gd name="T114" fmla="*/ 0 w 282"/>
                <a:gd name="T115" fmla="*/ 0 h 253"/>
                <a:gd name="T116" fmla="*/ 0 w 282"/>
                <a:gd name="T117" fmla="*/ 0 h 253"/>
                <a:gd name="T118" fmla="*/ 0 w 282"/>
                <a:gd name="T119" fmla="*/ 0 h 253"/>
                <a:gd name="T120" fmla="*/ 0 w 282"/>
                <a:gd name="T121" fmla="*/ 0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Freeform 609"/>
            <p:cNvSpPr>
              <a:spLocks/>
            </p:cNvSpPr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0 h 236"/>
                <a:gd name="T2" fmla="*/ 0 w 115"/>
                <a:gd name="T3" fmla="*/ 0 h 236"/>
                <a:gd name="T4" fmla="*/ 0 w 115"/>
                <a:gd name="T5" fmla="*/ 0 h 236"/>
                <a:gd name="T6" fmla="*/ 0 w 115"/>
                <a:gd name="T7" fmla="*/ 0 h 236"/>
                <a:gd name="T8" fmla="*/ 0 w 115"/>
                <a:gd name="T9" fmla="*/ 0 h 236"/>
                <a:gd name="T10" fmla="*/ 0 w 115"/>
                <a:gd name="T11" fmla="*/ 0 h 236"/>
                <a:gd name="T12" fmla="*/ 0 w 115"/>
                <a:gd name="T13" fmla="*/ 0 h 236"/>
                <a:gd name="T14" fmla="*/ 0 w 115"/>
                <a:gd name="T15" fmla="*/ 0 h 236"/>
                <a:gd name="T16" fmla="*/ 0 w 115"/>
                <a:gd name="T17" fmla="*/ 0 h 236"/>
                <a:gd name="T18" fmla="*/ 0 w 115"/>
                <a:gd name="T19" fmla="*/ 0 h 236"/>
                <a:gd name="T20" fmla="*/ 0 w 115"/>
                <a:gd name="T21" fmla="*/ 0 h 236"/>
                <a:gd name="T22" fmla="*/ 0 w 115"/>
                <a:gd name="T23" fmla="*/ 0 h 236"/>
                <a:gd name="T24" fmla="*/ 0 w 115"/>
                <a:gd name="T25" fmla="*/ 0 h 236"/>
                <a:gd name="T26" fmla="*/ 0 w 115"/>
                <a:gd name="T27" fmla="*/ 0 h 236"/>
                <a:gd name="T28" fmla="*/ 0 w 115"/>
                <a:gd name="T29" fmla="*/ 0 h 236"/>
                <a:gd name="T30" fmla="*/ 0 w 115"/>
                <a:gd name="T31" fmla="*/ 0 h 236"/>
                <a:gd name="T32" fmla="*/ 0 w 115"/>
                <a:gd name="T33" fmla="*/ 0 h 236"/>
                <a:gd name="T34" fmla="*/ 0 w 115"/>
                <a:gd name="T35" fmla="*/ 0 h 236"/>
                <a:gd name="T36" fmla="*/ 0 w 115"/>
                <a:gd name="T37" fmla="*/ 0 h 236"/>
                <a:gd name="T38" fmla="*/ 0 w 115"/>
                <a:gd name="T39" fmla="*/ 0 h 236"/>
                <a:gd name="T40" fmla="*/ 0 w 115"/>
                <a:gd name="T41" fmla="*/ 0 h 236"/>
                <a:gd name="T42" fmla="*/ 0 w 115"/>
                <a:gd name="T43" fmla="*/ 0 h 236"/>
                <a:gd name="T44" fmla="*/ 0 w 115"/>
                <a:gd name="T45" fmla="*/ 0 h 236"/>
                <a:gd name="T46" fmla="*/ 0 w 115"/>
                <a:gd name="T47" fmla="*/ 0 h 236"/>
                <a:gd name="T48" fmla="*/ 0 w 115"/>
                <a:gd name="T49" fmla="*/ 0 h 236"/>
                <a:gd name="T50" fmla="*/ 0 w 115"/>
                <a:gd name="T51" fmla="*/ 0 h 236"/>
                <a:gd name="T52" fmla="*/ 0 w 115"/>
                <a:gd name="T53" fmla="*/ 0 h 236"/>
                <a:gd name="T54" fmla="*/ 0 w 115"/>
                <a:gd name="T55" fmla="*/ 0 h 236"/>
                <a:gd name="T56" fmla="*/ 0 w 115"/>
                <a:gd name="T57" fmla="*/ 0 h 236"/>
                <a:gd name="T58" fmla="*/ 0 w 115"/>
                <a:gd name="T59" fmla="*/ 0 h 236"/>
                <a:gd name="T60" fmla="*/ 0 w 115"/>
                <a:gd name="T61" fmla="*/ 0 h 236"/>
                <a:gd name="T62" fmla="*/ 0 w 115"/>
                <a:gd name="T63" fmla="*/ 0 h 236"/>
                <a:gd name="T64" fmla="*/ 0 w 115"/>
                <a:gd name="T65" fmla="*/ 0 h 236"/>
                <a:gd name="T66" fmla="*/ 0 w 115"/>
                <a:gd name="T67" fmla="*/ 0 h 236"/>
                <a:gd name="T68" fmla="*/ 0 w 115"/>
                <a:gd name="T69" fmla="*/ 0 h 236"/>
                <a:gd name="T70" fmla="*/ 0 w 115"/>
                <a:gd name="T71" fmla="*/ 0 h 236"/>
                <a:gd name="T72" fmla="*/ 0 w 115"/>
                <a:gd name="T73" fmla="*/ 0 h 236"/>
                <a:gd name="T74" fmla="*/ 0 w 115"/>
                <a:gd name="T75" fmla="*/ 0 h 236"/>
                <a:gd name="T76" fmla="*/ 0 w 115"/>
                <a:gd name="T77" fmla="*/ 0 h 236"/>
                <a:gd name="T78" fmla="*/ 0 w 115"/>
                <a:gd name="T79" fmla="*/ 0 h 236"/>
                <a:gd name="T80" fmla="*/ 0 w 115"/>
                <a:gd name="T81" fmla="*/ 0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Freeform 610"/>
            <p:cNvSpPr>
              <a:spLocks/>
            </p:cNvSpPr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0 w 245"/>
                <a:gd name="T1" fmla="*/ 0 h 310"/>
                <a:gd name="T2" fmla="*/ 0 w 245"/>
                <a:gd name="T3" fmla="*/ 0 h 310"/>
                <a:gd name="T4" fmla="*/ 0 w 245"/>
                <a:gd name="T5" fmla="*/ 0 h 310"/>
                <a:gd name="T6" fmla="*/ 0 w 245"/>
                <a:gd name="T7" fmla="*/ 0 h 310"/>
                <a:gd name="T8" fmla="*/ 0 w 245"/>
                <a:gd name="T9" fmla="*/ 0 h 310"/>
                <a:gd name="T10" fmla="*/ 0 w 245"/>
                <a:gd name="T11" fmla="*/ 0 h 310"/>
                <a:gd name="T12" fmla="*/ 0 w 245"/>
                <a:gd name="T13" fmla="*/ 0 h 310"/>
                <a:gd name="T14" fmla="*/ 0 w 245"/>
                <a:gd name="T15" fmla="*/ 0 h 310"/>
                <a:gd name="T16" fmla="*/ 0 w 245"/>
                <a:gd name="T17" fmla="*/ 0 h 310"/>
                <a:gd name="T18" fmla="*/ 0 w 245"/>
                <a:gd name="T19" fmla="*/ 0 h 310"/>
                <a:gd name="T20" fmla="*/ 0 w 245"/>
                <a:gd name="T21" fmla="*/ 0 h 310"/>
                <a:gd name="T22" fmla="*/ 0 w 245"/>
                <a:gd name="T23" fmla="*/ 0 h 310"/>
                <a:gd name="T24" fmla="*/ 0 w 245"/>
                <a:gd name="T25" fmla="*/ 0 h 310"/>
                <a:gd name="T26" fmla="*/ 0 w 245"/>
                <a:gd name="T27" fmla="*/ 0 h 310"/>
                <a:gd name="T28" fmla="*/ 0 w 245"/>
                <a:gd name="T29" fmla="*/ 0 h 310"/>
                <a:gd name="T30" fmla="*/ 0 w 245"/>
                <a:gd name="T31" fmla="*/ 0 h 310"/>
                <a:gd name="T32" fmla="*/ 0 w 245"/>
                <a:gd name="T33" fmla="*/ 0 h 310"/>
                <a:gd name="T34" fmla="*/ 0 w 245"/>
                <a:gd name="T35" fmla="*/ 0 h 310"/>
                <a:gd name="T36" fmla="*/ 0 w 245"/>
                <a:gd name="T37" fmla="*/ 0 h 310"/>
                <a:gd name="T38" fmla="*/ 0 w 245"/>
                <a:gd name="T39" fmla="*/ 0 h 310"/>
                <a:gd name="T40" fmla="*/ 0 w 245"/>
                <a:gd name="T41" fmla="*/ 0 h 310"/>
                <a:gd name="T42" fmla="*/ 0 w 245"/>
                <a:gd name="T43" fmla="*/ 0 h 310"/>
                <a:gd name="T44" fmla="*/ 0 w 245"/>
                <a:gd name="T45" fmla="*/ 0 h 310"/>
                <a:gd name="T46" fmla="*/ 0 w 245"/>
                <a:gd name="T47" fmla="*/ 0 h 310"/>
                <a:gd name="T48" fmla="*/ 0 w 245"/>
                <a:gd name="T49" fmla="*/ 0 h 310"/>
                <a:gd name="T50" fmla="*/ 0 w 245"/>
                <a:gd name="T51" fmla="*/ 0 h 310"/>
                <a:gd name="T52" fmla="*/ 0 w 245"/>
                <a:gd name="T53" fmla="*/ 0 h 310"/>
                <a:gd name="T54" fmla="*/ 0 w 245"/>
                <a:gd name="T55" fmla="*/ 0 h 310"/>
                <a:gd name="T56" fmla="*/ 0 w 245"/>
                <a:gd name="T57" fmla="*/ 0 h 310"/>
                <a:gd name="T58" fmla="*/ 0 w 245"/>
                <a:gd name="T59" fmla="*/ 0 h 310"/>
                <a:gd name="T60" fmla="*/ 0 w 245"/>
                <a:gd name="T61" fmla="*/ 0 h 310"/>
                <a:gd name="T62" fmla="*/ 0 w 245"/>
                <a:gd name="T63" fmla="*/ 0 h 310"/>
                <a:gd name="T64" fmla="*/ 0 w 245"/>
                <a:gd name="T65" fmla="*/ 0 h 310"/>
                <a:gd name="T66" fmla="*/ 0 w 245"/>
                <a:gd name="T67" fmla="*/ 0 h 310"/>
                <a:gd name="T68" fmla="*/ 0 w 245"/>
                <a:gd name="T69" fmla="*/ 0 h 310"/>
                <a:gd name="T70" fmla="*/ 0 w 245"/>
                <a:gd name="T71" fmla="*/ 0 h 310"/>
                <a:gd name="T72" fmla="*/ 0 w 245"/>
                <a:gd name="T73" fmla="*/ 0 h 310"/>
                <a:gd name="T74" fmla="*/ 0 w 245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Freeform 611"/>
            <p:cNvSpPr>
              <a:spLocks/>
            </p:cNvSpPr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2" name="Group 613"/>
          <p:cNvGrpSpPr>
            <a:grpSpLocks/>
          </p:cNvGrpSpPr>
          <p:nvPr/>
        </p:nvGrpSpPr>
        <p:grpSpPr bwMode="auto">
          <a:xfrm>
            <a:off x="8183275" y="1719265"/>
            <a:ext cx="814388" cy="854075"/>
            <a:chOff x="4180" y="744"/>
            <a:chExt cx="513" cy="538"/>
          </a:xfrm>
        </p:grpSpPr>
        <p:sp>
          <p:nvSpPr>
            <p:cNvPr id="343" name="Rectangle 614"/>
            <p:cNvSpPr>
              <a:spLocks noChangeArrowheads="1"/>
            </p:cNvSpPr>
            <p:nvPr/>
          </p:nvSpPr>
          <p:spPr bwMode="auto">
            <a:xfrm>
              <a:off x="4242" y="747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4" name="Rectangle 615"/>
            <p:cNvSpPr>
              <a:spLocks noChangeArrowheads="1"/>
            </p:cNvSpPr>
            <p:nvPr/>
          </p:nvSpPr>
          <p:spPr bwMode="auto">
            <a:xfrm>
              <a:off x="4221" y="762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5" name="Rectangle 616"/>
            <p:cNvSpPr>
              <a:spLocks noChangeArrowheads="1"/>
            </p:cNvSpPr>
            <p:nvPr/>
          </p:nvSpPr>
          <p:spPr bwMode="auto">
            <a:xfrm>
              <a:off x="4224" y="873"/>
              <a:ext cx="426" cy="1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6" name="Text Box 617"/>
            <p:cNvSpPr txBox="1">
              <a:spLocks noChangeArrowheads="1"/>
            </p:cNvSpPr>
            <p:nvPr/>
          </p:nvSpPr>
          <p:spPr bwMode="auto">
            <a:xfrm>
              <a:off x="4180" y="744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application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chemeClr val="bg1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transport</a:t>
              </a:r>
              <a:endParaRPr lang="en-US" altLang="zh-CN" sz="10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physical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7" name="Line 618"/>
            <p:cNvSpPr>
              <a:spLocks noChangeShapeType="1"/>
            </p:cNvSpPr>
            <p:nvPr/>
          </p:nvSpPr>
          <p:spPr bwMode="auto">
            <a:xfrm>
              <a:off x="4221" y="97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" name="Line 619"/>
            <p:cNvSpPr>
              <a:spLocks noChangeShapeType="1"/>
            </p:cNvSpPr>
            <p:nvPr/>
          </p:nvSpPr>
          <p:spPr bwMode="auto">
            <a:xfrm>
              <a:off x="4227" y="106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" name="Line 620"/>
            <p:cNvSpPr>
              <a:spLocks noChangeShapeType="1"/>
            </p:cNvSpPr>
            <p:nvPr/>
          </p:nvSpPr>
          <p:spPr bwMode="auto">
            <a:xfrm>
              <a:off x="4227" y="1152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0" name="Group 245"/>
          <p:cNvGrpSpPr>
            <a:grpSpLocks/>
          </p:cNvGrpSpPr>
          <p:nvPr/>
        </p:nvGrpSpPr>
        <p:grpSpPr bwMode="auto">
          <a:xfrm>
            <a:off x="8929400" y="2282827"/>
            <a:ext cx="814388" cy="701675"/>
            <a:chOff x="2923" y="3345"/>
            <a:chExt cx="513" cy="442"/>
          </a:xfrm>
        </p:grpSpPr>
        <p:sp>
          <p:nvSpPr>
            <p:cNvPr id="351" name="Rectangle 246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2" name="Rectangle 247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3" name="Text Box 248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0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physical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4" name="Line 249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5" name="Line 250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6" name="Group 637"/>
          <p:cNvGrpSpPr>
            <a:grpSpLocks/>
          </p:cNvGrpSpPr>
          <p:nvPr/>
        </p:nvGrpSpPr>
        <p:grpSpPr bwMode="auto">
          <a:xfrm>
            <a:off x="10100975" y="4654552"/>
            <a:ext cx="814388" cy="701675"/>
            <a:chOff x="2923" y="3345"/>
            <a:chExt cx="513" cy="442"/>
          </a:xfrm>
        </p:grpSpPr>
        <p:sp>
          <p:nvSpPr>
            <p:cNvPr id="357" name="Rectangle 638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" name="Rectangle 639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9" name="Text Box 640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0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physical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" name="Line 641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1" name="Line 642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2" name="Group 643"/>
          <p:cNvGrpSpPr>
            <a:grpSpLocks/>
          </p:cNvGrpSpPr>
          <p:nvPr/>
        </p:nvGrpSpPr>
        <p:grpSpPr bwMode="auto">
          <a:xfrm>
            <a:off x="9369139" y="4306890"/>
            <a:ext cx="814387" cy="701675"/>
            <a:chOff x="2923" y="3345"/>
            <a:chExt cx="513" cy="442"/>
          </a:xfrm>
        </p:grpSpPr>
        <p:sp>
          <p:nvSpPr>
            <p:cNvPr id="363" name="Rectangle 644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4" name="Rectangle 645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5" name="Text Box 646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0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physical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6" name="Line 647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" name="Line 648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" name="Group 649"/>
          <p:cNvGrpSpPr>
            <a:grpSpLocks/>
          </p:cNvGrpSpPr>
          <p:nvPr/>
        </p:nvGrpSpPr>
        <p:grpSpPr bwMode="auto">
          <a:xfrm>
            <a:off x="9910475" y="3833815"/>
            <a:ext cx="814388" cy="701675"/>
            <a:chOff x="2923" y="3345"/>
            <a:chExt cx="513" cy="442"/>
          </a:xfrm>
        </p:grpSpPr>
        <p:sp>
          <p:nvSpPr>
            <p:cNvPr id="369" name="Rectangle 650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0" name="Rectangle 651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1" name="Text Box 652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0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physical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2" name="Line 653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3" name="Line 654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4" name="Group 655"/>
          <p:cNvGrpSpPr>
            <a:grpSpLocks/>
          </p:cNvGrpSpPr>
          <p:nvPr/>
        </p:nvGrpSpPr>
        <p:grpSpPr bwMode="auto">
          <a:xfrm>
            <a:off x="9462800" y="3471865"/>
            <a:ext cx="814388" cy="701675"/>
            <a:chOff x="2923" y="3345"/>
            <a:chExt cx="513" cy="442"/>
          </a:xfrm>
        </p:grpSpPr>
        <p:sp>
          <p:nvSpPr>
            <p:cNvPr id="375" name="Rectangle 656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6" name="Rectangle 657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7" name="Text Box 658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0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physical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8" name="Line 659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" name="Line 660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0" name="Group 661"/>
          <p:cNvGrpSpPr>
            <a:grpSpLocks/>
          </p:cNvGrpSpPr>
          <p:nvPr/>
        </p:nvGrpSpPr>
        <p:grpSpPr bwMode="auto">
          <a:xfrm>
            <a:off x="9743789" y="2524127"/>
            <a:ext cx="814387" cy="701675"/>
            <a:chOff x="2923" y="3345"/>
            <a:chExt cx="513" cy="442"/>
          </a:xfrm>
        </p:grpSpPr>
        <p:sp>
          <p:nvSpPr>
            <p:cNvPr id="381" name="Rectangle 662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2" name="Rectangle 663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3" name="Text Box 664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0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physical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4" name="Line 665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5" name="Line 666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6" name="Group 623"/>
          <p:cNvGrpSpPr>
            <a:grpSpLocks/>
          </p:cNvGrpSpPr>
          <p:nvPr/>
        </p:nvGrpSpPr>
        <p:grpSpPr bwMode="auto">
          <a:xfrm>
            <a:off x="10940764" y="4687890"/>
            <a:ext cx="814387" cy="854075"/>
            <a:chOff x="4180" y="744"/>
            <a:chExt cx="513" cy="538"/>
          </a:xfrm>
        </p:grpSpPr>
        <p:sp>
          <p:nvSpPr>
            <p:cNvPr id="387" name="Rectangle 624"/>
            <p:cNvSpPr>
              <a:spLocks noChangeArrowheads="1"/>
            </p:cNvSpPr>
            <p:nvPr/>
          </p:nvSpPr>
          <p:spPr bwMode="auto">
            <a:xfrm>
              <a:off x="4242" y="747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8" name="Rectangle 625"/>
            <p:cNvSpPr>
              <a:spLocks noChangeArrowheads="1"/>
            </p:cNvSpPr>
            <p:nvPr/>
          </p:nvSpPr>
          <p:spPr bwMode="auto">
            <a:xfrm>
              <a:off x="4221" y="762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9" name="Rectangle 626"/>
            <p:cNvSpPr>
              <a:spLocks noChangeArrowheads="1"/>
            </p:cNvSpPr>
            <p:nvPr/>
          </p:nvSpPr>
          <p:spPr bwMode="auto">
            <a:xfrm>
              <a:off x="4224" y="873"/>
              <a:ext cx="426" cy="1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0" name="Text Box 627"/>
            <p:cNvSpPr txBox="1">
              <a:spLocks noChangeArrowheads="1"/>
            </p:cNvSpPr>
            <p:nvPr/>
          </p:nvSpPr>
          <p:spPr bwMode="auto">
            <a:xfrm>
              <a:off x="4180" y="744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application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solidFill>
                    <a:schemeClr val="bg1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transport</a:t>
              </a:r>
              <a:endParaRPr lang="en-US" altLang="zh-CN" sz="10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DengXian" panose="02010600030101010101" pitchFamily="2" charset="-122"/>
                  <a:ea typeface="宋体" panose="02010600030101010101" pitchFamily="2" charset="-122"/>
                </a:rPr>
                <a:t>physical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1" name="Line 628"/>
            <p:cNvSpPr>
              <a:spLocks noChangeShapeType="1"/>
            </p:cNvSpPr>
            <p:nvPr/>
          </p:nvSpPr>
          <p:spPr bwMode="auto">
            <a:xfrm>
              <a:off x="4221" y="97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" name="Line 629"/>
            <p:cNvSpPr>
              <a:spLocks noChangeShapeType="1"/>
            </p:cNvSpPr>
            <p:nvPr/>
          </p:nvSpPr>
          <p:spPr bwMode="auto">
            <a:xfrm>
              <a:off x="4227" y="106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3" name="Line 630"/>
            <p:cNvSpPr>
              <a:spLocks noChangeShapeType="1"/>
            </p:cNvSpPr>
            <p:nvPr/>
          </p:nvSpPr>
          <p:spPr bwMode="auto">
            <a:xfrm>
              <a:off x="4227" y="1152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4" name="Group 632"/>
          <p:cNvGrpSpPr>
            <a:grpSpLocks/>
          </p:cNvGrpSpPr>
          <p:nvPr/>
        </p:nvGrpSpPr>
        <p:grpSpPr bwMode="auto">
          <a:xfrm rot="2937887">
            <a:off x="8210264" y="3282952"/>
            <a:ext cx="3781425" cy="434975"/>
            <a:chOff x="2937" y="3579"/>
            <a:chExt cx="2382" cy="274"/>
          </a:xfrm>
        </p:grpSpPr>
        <p:sp>
          <p:nvSpPr>
            <p:cNvPr id="395" name="Rectangle 633"/>
            <p:cNvSpPr>
              <a:spLocks noChangeArrowheads="1"/>
            </p:cNvSpPr>
            <p:nvPr/>
          </p:nvSpPr>
          <p:spPr bwMode="auto">
            <a:xfrm>
              <a:off x="3168" y="3630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6" name="Text Box 634"/>
            <p:cNvSpPr txBox="1">
              <a:spLocks noChangeArrowheads="1"/>
            </p:cNvSpPr>
            <p:nvPr/>
          </p:nvSpPr>
          <p:spPr bwMode="auto">
            <a:xfrm>
              <a:off x="3381" y="3616"/>
              <a:ext cx="154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chemeClr val="bg1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logical end-end transport</a:t>
              </a:r>
              <a:endPara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7" name="Freeform 635"/>
            <p:cNvSpPr>
              <a:spLocks/>
            </p:cNvSpPr>
            <p:nvPr/>
          </p:nvSpPr>
          <p:spPr bwMode="auto">
            <a:xfrm>
              <a:off x="2937" y="357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264"/>
                <a:gd name="T14" fmla="*/ 282 w 282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8" name="Freeform 636"/>
            <p:cNvSpPr>
              <a:spLocks/>
            </p:cNvSpPr>
            <p:nvPr/>
          </p:nvSpPr>
          <p:spPr bwMode="auto">
            <a:xfrm flipH="1">
              <a:off x="5037" y="358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264"/>
                <a:gd name="T14" fmla="*/ 282 w 282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0" name="日期占位符 8">
            <a:extLst>
              <a:ext uri="{FF2B5EF4-FFF2-40B4-BE49-F238E27FC236}">
                <a16:creationId xmlns:a16="http://schemas.microsoft.com/office/drawing/2014/main" id="{A016A7F3-EBDA-4B43-B830-5646643FB0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1853583" cy="365125"/>
          </a:xfrm>
        </p:spPr>
        <p:txBody>
          <a:bodyPr/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6.1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概述和传输层服务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803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因特网传输层提供的服务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5715000" cy="458669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最低限度的传输服务：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将终端</a:t>
            </a:r>
            <a:r>
              <a:rPr lang="en-US" altLang="zh-CN" dirty="0"/>
              <a:t>-</a:t>
            </a:r>
            <a:r>
              <a:rPr lang="zh-CN" altLang="en-US" dirty="0"/>
              <a:t>终端的数据交付扩展到进程</a:t>
            </a:r>
            <a:r>
              <a:rPr lang="en-US" altLang="zh-CN" dirty="0"/>
              <a:t>-进程的数据交付（6.3节）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报文检错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/>
              <a:t>增强服务：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可靠数据传输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流量控制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拥塞控制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774873" y="1506934"/>
            <a:ext cx="4835235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因特网传输层通过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UDP协议和TCP协议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，向应用层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提供两种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不同的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传输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服务：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UDP协议（6.4节）：仅提供最低限度的传输服务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TCP协议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6.5节，6.7节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）：提供基础服务和增强服务</a:t>
            </a:r>
          </a:p>
        </p:txBody>
      </p:sp>
      <p:sp>
        <p:nvSpPr>
          <p:cNvPr id="7" name="日期占位符 8">
            <a:extLst>
              <a:ext uri="{FF2B5EF4-FFF2-40B4-BE49-F238E27FC236}">
                <a16:creationId xmlns:a16="http://schemas.microsoft.com/office/drawing/2014/main" id="{554FA4D6-F291-8E47-9B14-A5F94835EC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1853583" cy="365125"/>
          </a:xfrm>
        </p:spPr>
        <p:txBody>
          <a:bodyPr/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6.1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概述和传输层服务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859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50" y="1510758"/>
            <a:ext cx="5501457" cy="4845592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6.1 </a:t>
            </a:r>
            <a:r>
              <a:rPr kumimoji="1" lang="zh-CN" altLang="en-US" dirty="0"/>
              <a:t>概述和传输层服务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6.2 </a:t>
            </a:r>
            <a:r>
              <a:rPr kumimoji="1" lang="zh-CN" altLang="en-US" dirty="0">
                <a:solidFill>
                  <a:srgbClr val="C00000"/>
                </a:solidFill>
              </a:rPr>
              <a:t>传输层复用和分用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6.3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6.4 </a:t>
            </a:r>
            <a:r>
              <a:rPr kumimoji="1" lang="zh-CN" altLang="en-US" dirty="0"/>
              <a:t>面向连接的传输：</a:t>
            </a:r>
            <a:r>
              <a:rPr kumimoji="1" lang="en-US" altLang="zh-CN" dirty="0"/>
              <a:t>TCP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6.5 </a:t>
            </a:r>
            <a:r>
              <a:rPr kumimoji="1" lang="zh-CN" altLang="en-US" dirty="0"/>
              <a:t>理解网络拥塞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6.6 TCP拥塞控制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0103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Freeform 157"/>
          <p:cNvSpPr>
            <a:spLocks/>
          </p:cNvSpPr>
          <p:nvPr/>
        </p:nvSpPr>
        <p:spPr bwMode="auto">
          <a:xfrm>
            <a:off x="4018968" y="3578122"/>
            <a:ext cx="552450" cy="2082800"/>
          </a:xfrm>
          <a:custGeom>
            <a:avLst/>
            <a:gdLst>
              <a:gd name="T0" fmla="*/ 0 w 348"/>
              <a:gd name="T1" fmla="*/ 2147483646 h 1312"/>
              <a:gd name="T2" fmla="*/ 2147483646 w 348"/>
              <a:gd name="T3" fmla="*/ 0 h 1312"/>
              <a:gd name="T4" fmla="*/ 2147483646 w 348"/>
              <a:gd name="T5" fmla="*/ 2147483646 h 1312"/>
              <a:gd name="T6" fmla="*/ 2147483646 w 348"/>
              <a:gd name="T7" fmla="*/ 2147483646 h 1312"/>
              <a:gd name="T8" fmla="*/ 0 w 348"/>
              <a:gd name="T9" fmla="*/ 2147483646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8"/>
              <a:gd name="T16" fmla="*/ 0 h 1312"/>
              <a:gd name="T17" fmla="*/ 348 w 348"/>
              <a:gd name="T18" fmla="*/ 1312 h 1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017" y="248442"/>
            <a:ext cx="7312025" cy="985838"/>
          </a:xfrm>
        </p:spPr>
        <p:txBody>
          <a:bodyPr>
            <a:normAutofit/>
          </a:bodyPr>
          <a:lstStyle/>
          <a:p>
            <a:r>
              <a:rPr lang="zh-CN" altLang="en-US" dirty="0"/>
              <a:t>传输层基本服务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p:sp>
        <p:nvSpPr>
          <p:cNvPr id="13318" name="Text Box 37"/>
          <p:cNvSpPr txBox="1">
            <a:spLocks noChangeArrowheads="1"/>
          </p:cNvSpPr>
          <p:nvPr/>
        </p:nvSpPr>
        <p:spPr bwMode="auto">
          <a:xfrm>
            <a:off x="9259305" y="4503635"/>
            <a:ext cx="895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Arial" panose="020B0604020202020204" pitchFamily="34" charset="0"/>
                <a:ea typeface="MS PGothic" panose="020B0600070205080204" pitchFamily="34" charset="-128"/>
              </a:rPr>
              <a:t>process</a:t>
            </a:r>
          </a:p>
        </p:txBody>
      </p:sp>
      <p:sp>
        <p:nvSpPr>
          <p:cNvPr id="13319" name="Text Box 38"/>
          <p:cNvSpPr txBox="1">
            <a:spLocks noChangeArrowheads="1"/>
          </p:cNvSpPr>
          <p:nvPr/>
        </p:nvSpPr>
        <p:spPr bwMode="auto">
          <a:xfrm>
            <a:off x="9233905" y="4101997"/>
            <a:ext cx="755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ahoma" panose="020B0604030504040204" pitchFamily="34" charset="0"/>
                <a:ea typeface="MS PGothic" panose="020B0600070205080204" pitchFamily="34" charset="-128"/>
              </a:rPr>
              <a:t>socket</a:t>
            </a:r>
          </a:p>
        </p:txBody>
      </p:sp>
      <p:grpSp>
        <p:nvGrpSpPr>
          <p:cNvPr id="4" name="Group 176"/>
          <p:cNvGrpSpPr>
            <a:grpSpLocks/>
          </p:cNvGrpSpPr>
          <p:nvPr/>
        </p:nvGrpSpPr>
        <p:grpSpPr bwMode="auto">
          <a:xfrm>
            <a:off x="1663118" y="2079985"/>
            <a:ext cx="4203700" cy="1198101"/>
            <a:chOff x="259" y="892"/>
            <a:chExt cx="2565" cy="614"/>
          </a:xfrm>
        </p:grpSpPr>
        <p:sp>
          <p:nvSpPr>
            <p:cNvPr id="13438" name="Text Box 45"/>
            <p:cNvSpPr txBox="1">
              <a:spLocks noChangeArrowheads="1"/>
            </p:cNvSpPr>
            <p:nvPr/>
          </p:nvSpPr>
          <p:spPr bwMode="auto">
            <a:xfrm>
              <a:off x="291" y="1118"/>
              <a:ext cx="253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800" dirty="0">
                  <a:latin typeface="等线" panose="02010600030101010101" pitchFamily="2" charset="-122"/>
                  <a:ea typeface="等线" panose="02010600030101010101" pitchFamily="2" charset="-122"/>
                </a:rPr>
                <a:t>传输层从多个套接字收集数据，交给网络层发送</a:t>
              </a:r>
            </a:p>
          </p:txBody>
        </p:sp>
        <p:sp>
          <p:nvSpPr>
            <p:cNvPr id="13439" name="Rectangle 46"/>
            <p:cNvSpPr>
              <a:spLocks noChangeArrowheads="1"/>
            </p:cNvSpPr>
            <p:nvPr/>
          </p:nvSpPr>
          <p:spPr bwMode="auto">
            <a:xfrm>
              <a:off x="259" y="1009"/>
              <a:ext cx="2479" cy="497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7030A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3440" name="Group 47"/>
            <p:cNvGrpSpPr>
              <a:grpSpLocks/>
            </p:cNvGrpSpPr>
            <p:nvPr/>
          </p:nvGrpSpPr>
          <p:grpSpPr bwMode="auto">
            <a:xfrm>
              <a:off x="325" y="892"/>
              <a:ext cx="1387" cy="223"/>
              <a:chOff x="1094" y="3732"/>
              <a:chExt cx="1332" cy="223"/>
            </a:xfrm>
          </p:grpSpPr>
          <p:sp>
            <p:nvSpPr>
              <p:cNvPr id="13441" name="Rectangle 48"/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4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442" name="Text Box 49"/>
              <p:cNvSpPr txBox="1">
                <a:spLocks noChangeArrowheads="1"/>
              </p:cNvSpPr>
              <p:nvPr/>
            </p:nvSpPr>
            <p:spPr bwMode="auto">
              <a:xfrm>
                <a:off x="1094" y="3750"/>
                <a:ext cx="1223" cy="2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（发送端）复用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:</a:t>
                </a:r>
              </a:p>
            </p:txBody>
          </p:sp>
        </p:grpSp>
      </p:grpSp>
      <p:grpSp>
        <p:nvGrpSpPr>
          <p:cNvPr id="13322" name="Group 57"/>
          <p:cNvGrpSpPr>
            <a:grpSpLocks/>
          </p:cNvGrpSpPr>
          <p:nvPr/>
        </p:nvGrpSpPr>
        <p:grpSpPr bwMode="auto">
          <a:xfrm>
            <a:off x="8733843" y="4176611"/>
            <a:ext cx="533400" cy="206375"/>
            <a:chOff x="344" y="1846"/>
            <a:chExt cx="336" cy="130"/>
          </a:xfrm>
        </p:grpSpPr>
        <p:sp>
          <p:nvSpPr>
            <p:cNvPr id="13434" name="Rectangle 35"/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35" name="Rectangle 54"/>
            <p:cNvSpPr>
              <a:spLocks noChangeArrowheads="1"/>
            </p:cNvSpPr>
            <p:nvPr/>
          </p:nvSpPr>
          <p:spPr bwMode="auto">
            <a:xfrm>
              <a:off x="454" y="1863"/>
              <a:ext cx="110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36" name="Rectangle 55"/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37" name="Rectangle 56"/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323" name="Rectangle 23"/>
          <p:cNvSpPr>
            <a:spLocks noChangeArrowheads="1"/>
          </p:cNvSpPr>
          <p:nvPr/>
        </p:nvSpPr>
        <p:spPr bwMode="auto">
          <a:xfrm>
            <a:off x="4566656" y="3628922"/>
            <a:ext cx="1497013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4" name="Rectangle 24"/>
          <p:cNvSpPr>
            <a:spLocks noChangeArrowheads="1"/>
          </p:cNvSpPr>
          <p:nvPr/>
        </p:nvSpPr>
        <p:spPr bwMode="auto">
          <a:xfrm>
            <a:off x="4531730" y="3682898"/>
            <a:ext cx="1473200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5" name="Line 25"/>
          <p:cNvSpPr>
            <a:spLocks noChangeShapeType="1"/>
          </p:cNvSpPr>
          <p:nvPr/>
        </p:nvSpPr>
        <p:spPr bwMode="auto">
          <a:xfrm>
            <a:off x="4538080" y="4452836"/>
            <a:ext cx="146050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6" name="Text Box 26"/>
          <p:cNvSpPr txBox="1">
            <a:spLocks noChangeArrowheads="1"/>
          </p:cNvSpPr>
          <p:nvPr/>
        </p:nvSpPr>
        <p:spPr bwMode="auto">
          <a:xfrm>
            <a:off x="4609519" y="4435373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transport</a:t>
            </a:r>
          </a:p>
        </p:txBody>
      </p:sp>
      <p:sp>
        <p:nvSpPr>
          <p:cNvPr id="13327" name="Line 27"/>
          <p:cNvSpPr>
            <a:spLocks noChangeShapeType="1"/>
          </p:cNvSpPr>
          <p:nvPr/>
        </p:nvSpPr>
        <p:spPr bwMode="auto">
          <a:xfrm>
            <a:off x="4539669" y="4770335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8" name="Text Box 26"/>
          <p:cNvSpPr txBox="1">
            <a:spLocks noChangeArrowheads="1"/>
          </p:cNvSpPr>
          <p:nvPr/>
        </p:nvSpPr>
        <p:spPr bwMode="auto">
          <a:xfrm>
            <a:off x="4606344" y="3649561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application</a:t>
            </a:r>
          </a:p>
        </p:txBody>
      </p:sp>
      <p:sp>
        <p:nvSpPr>
          <p:cNvPr id="13329" name="Text Box 26"/>
          <p:cNvSpPr txBox="1">
            <a:spLocks noChangeArrowheads="1"/>
          </p:cNvSpPr>
          <p:nvPr/>
        </p:nvSpPr>
        <p:spPr bwMode="auto">
          <a:xfrm>
            <a:off x="4603169" y="5340248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physical</a:t>
            </a:r>
          </a:p>
        </p:txBody>
      </p:sp>
      <p:sp>
        <p:nvSpPr>
          <p:cNvPr id="13330" name="Text Box 26"/>
          <p:cNvSpPr txBox="1">
            <a:spLocks noChangeArrowheads="1"/>
          </p:cNvSpPr>
          <p:nvPr/>
        </p:nvSpPr>
        <p:spPr bwMode="auto">
          <a:xfrm>
            <a:off x="4603169" y="5054498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link</a:t>
            </a:r>
          </a:p>
        </p:txBody>
      </p:sp>
      <p:sp>
        <p:nvSpPr>
          <p:cNvPr id="13331" name="Text Box 26"/>
          <p:cNvSpPr txBox="1">
            <a:spLocks noChangeArrowheads="1"/>
          </p:cNvSpPr>
          <p:nvPr/>
        </p:nvSpPr>
        <p:spPr bwMode="auto">
          <a:xfrm>
            <a:off x="4603169" y="4756048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network</a:t>
            </a:r>
          </a:p>
        </p:txBody>
      </p:sp>
      <p:sp>
        <p:nvSpPr>
          <p:cNvPr id="13332" name="Oval 120"/>
          <p:cNvSpPr>
            <a:spLocks noChangeArrowheads="1"/>
          </p:cNvSpPr>
          <p:nvPr/>
        </p:nvSpPr>
        <p:spPr bwMode="auto">
          <a:xfrm>
            <a:off x="5303255" y="402421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DengXian" panose="02010600030101010101" pitchFamily="2" charset="-122"/>
                <a:ea typeface="MS PGothic" panose="020B0600070205080204" pitchFamily="34" charset="-128"/>
              </a:rPr>
              <a:t>P2</a:t>
            </a:r>
          </a:p>
        </p:txBody>
      </p:sp>
      <p:sp>
        <p:nvSpPr>
          <p:cNvPr id="13333" name="Line 27"/>
          <p:cNvSpPr>
            <a:spLocks noChangeShapeType="1"/>
          </p:cNvSpPr>
          <p:nvPr/>
        </p:nvSpPr>
        <p:spPr bwMode="auto">
          <a:xfrm>
            <a:off x="4536494" y="5081485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4" name="Line 27"/>
          <p:cNvSpPr>
            <a:spLocks noChangeShapeType="1"/>
          </p:cNvSpPr>
          <p:nvPr/>
        </p:nvSpPr>
        <p:spPr bwMode="auto">
          <a:xfrm>
            <a:off x="4533319" y="5379935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5" name="Oval 128"/>
          <p:cNvSpPr>
            <a:spLocks noChangeArrowheads="1"/>
          </p:cNvSpPr>
          <p:nvPr/>
        </p:nvSpPr>
        <p:spPr bwMode="auto">
          <a:xfrm>
            <a:off x="4598405" y="402421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DengXian" panose="02010600030101010101" pitchFamily="2" charset="-122"/>
                <a:ea typeface="MS PGothic" panose="020B0600070205080204" pitchFamily="34" charset="-128"/>
              </a:rPr>
              <a:t>P1</a:t>
            </a:r>
          </a:p>
        </p:txBody>
      </p:sp>
      <p:grpSp>
        <p:nvGrpSpPr>
          <p:cNvPr id="13336" name="Group 134"/>
          <p:cNvGrpSpPr>
            <a:grpSpLocks/>
          </p:cNvGrpSpPr>
          <p:nvPr/>
        </p:nvGrpSpPr>
        <p:grpSpPr bwMode="auto">
          <a:xfrm>
            <a:off x="5379455" y="4382985"/>
            <a:ext cx="412750" cy="158750"/>
            <a:chOff x="1383" y="2620"/>
            <a:chExt cx="260" cy="100"/>
          </a:xfrm>
        </p:grpSpPr>
        <p:sp>
          <p:nvSpPr>
            <p:cNvPr id="13430" name="Rectangle 130"/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31" name="Rectangle 131"/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32" name="Rectangle 132"/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33" name="Rectangle 133"/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3337" name="Group 135"/>
          <p:cNvGrpSpPr>
            <a:grpSpLocks/>
          </p:cNvGrpSpPr>
          <p:nvPr/>
        </p:nvGrpSpPr>
        <p:grpSpPr bwMode="auto">
          <a:xfrm>
            <a:off x="4677780" y="4375047"/>
            <a:ext cx="412750" cy="158750"/>
            <a:chOff x="1383" y="2620"/>
            <a:chExt cx="260" cy="100"/>
          </a:xfrm>
        </p:grpSpPr>
        <p:sp>
          <p:nvSpPr>
            <p:cNvPr id="13426" name="Rectangle 136"/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27" name="Rectangle 137"/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28" name="Rectangle 138"/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29" name="Rectangle 139"/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338" name="Freeform 141"/>
          <p:cNvSpPr>
            <a:spLocks/>
          </p:cNvSpPr>
          <p:nvPr/>
        </p:nvSpPr>
        <p:spPr bwMode="auto">
          <a:xfrm>
            <a:off x="3045830" y="4438547"/>
            <a:ext cx="2160588" cy="1989138"/>
          </a:xfrm>
          <a:custGeom>
            <a:avLst/>
            <a:gdLst>
              <a:gd name="T0" fmla="*/ 0 w 1361"/>
              <a:gd name="T1" fmla="*/ 2147483646 h 1253"/>
              <a:gd name="T2" fmla="*/ 2147483646 w 1361"/>
              <a:gd name="T3" fmla="*/ 2147483646 h 1253"/>
              <a:gd name="T4" fmla="*/ 2147483646 w 1361"/>
              <a:gd name="T5" fmla="*/ 2147483646 h 1253"/>
              <a:gd name="T6" fmla="*/ 2147483646 w 1361"/>
              <a:gd name="T7" fmla="*/ 2147483646 h 1253"/>
              <a:gd name="T8" fmla="*/ 2147483646 w 1361"/>
              <a:gd name="T9" fmla="*/ 2147483646 h 1253"/>
              <a:gd name="T10" fmla="*/ 2147483646 w 1361"/>
              <a:gd name="T11" fmla="*/ 0 h 12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61"/>
              <a:gd name="T19" fmla="*/ 0 h 1253"/>
              <a:gd name="T20" fmla="*/ 1361 w 1361"/>
              <a:gd name="T21" fmla="*/ 1253 h 125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61" h="1253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39" name="Freeform 142"/>
          <p:cNvSpPr>
            <a:spLocks/>
          </p:cNvSpPr>
          <p:nvPr/>
        </p:nvSpPr>
        <p:spPr bwMode="auto">
          <a:xfrm>
            <a:off x="3109330" y="4463948"/>
            <a:ext cx="1962150" cy="1897063"/>
          </a:xfrm>
          <a:custGeom>
            <a:avLst/>
            <a:gdLst>
              <a:gd name="T0" fmla="*/ 0 w 1236"/>
              <a:gd name="T1" fmla="*/ 2147483646 h 1195"/>
              <a:gd name="T2" fmla="*/ 2147483646 w 1236"/>
              <a:gd name="T3" fmla="*/ 2147483646 h 1195"/>
              <a:gd name="T4" fmla="*/ 2147483646 w 1236"/>
              <a:gd name="T5" fmla="*/ 2147483646 h 1195"/>
              <a:gd name="T6" fmla="*/ 2147483646 w 1236"/>
              <a:gd name="T7" fmla="*/ 2147483646 h 1195"/>
              <a:gd name="T8" fmla="*/ 2147483646 w 1236"/>
              <a:gd name="T9" fmla="*/ 0 h 11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36"/>
              <a:gd name="T16" fmla="*/ 0 h 1195"/>
              <a:gd name="T17" fmla="*/ 1236 w 1236"/>
              <a:gd name="T18" fmla="*/ 1195 h 119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36" h="1195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40" name="Rectangle 23"/>
          <p:cNvSpPr>
            <a:spLocks noChangeArrowheads="1"/>
          </p:cNvSpPr>
          <p:nvPr/>
        </p:nvSpPr>
        <p:spPr bwMode="auto">
          <a:xfrm>
            <a:off x="6828844" y="3998810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41" name="Rectangle 24"/>
          <p:cNvSpPr>
            <a:spLocks noChangeArrowheads="1"/>
          </p:cNvSpPr>
          <p:nvPr/>
        </p:nvSpPr>
        <p:spPr bwMode="auto">
          <a:xfrm>
            <a:off x="6790744" y="4052785"/>
            <a:ext cx="1273175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42" name="Line 25"/>
          <p:cNvSpPr>
            <a:spLocks noChangeShapeType="1"/>
          </p:cNvSpPr>
          <p:nvPr/>
        </p:nvSpPr>
        <p:spPr bwMode="auto">
          <a:xfrm>
            <a:off x="6800268" y="481319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3" name="Text Box 26"/>
          <p:cNvSpPr txBox="1">
            <a:spLocks noChangeArrowheads="1"/>
          </p:cNvSpPr>
          <p:nvPr/>
        </p:nvSpPr>
        <p:spPr bwMode="auto">
          <a:xfrm>
            <a:off x="6757406" y="4795736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transport</a:t>
            </a:r>
          </a:p>
        </p:txBody>
      </p:sp>
      <p:sp>
        <p:nvSpPr>
          <p:cNvPr id="13344" name="Line 27"/>
          <p:cNvSpPr>
            <a:spLocks noChangeShapeType="1"/>
          </p:cNvSpPr>
          <p:nvPr/>
        </p:nvSpPr>
        <p:spPr bwMode="auto">
          <a:xfrm>
            <a:off x="6808205" y="513387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5" name="Line 28"/>
          <p:cNvSpPr>
            <a:spLocks noChangeShapeType="1"/>
          </p:cNvSpPr>
          <p:nvPr/>
        </p:nvSpPr>
        <p:spPr bwMode="auto">
          <a:xfrm>
            <a:off x="6793918" y="544343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6" name="Line 29"/>
          <p:cNvSpPr>
            <a:spLocks noChangeShapeType="1"/>
          </p:cNvSpPr>
          <p:nvPr/>
        </p:nvSpPr>
        <p:spPr bwMode="auto">
          <a:xfrm>
            <a:off x="6793918" y="572918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7" name="Text Box 26"/>
          <p:cNvSpPr txBox="1">
            <a:spLocks noChangeArrowheads="1"/>
          </p:cNvSpPr>
          <p:nvPr/>
        </p:nvSpPr>
        <p:spPr bwMode="auto">
          <a:xfrm>
            <a:off x="6792331" y="4043261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application</a:t>
            </a:r>
          </a:p>
        </p:txBody>
      </p:sp>
      <p:sp>
        <p:nvSpPr>
          <p:cNvPr id="13348" name="Text Box 26"/>
          <p:cNvSpPr txBox="1">
            <a:spLocks noChangeArrowheads="1"/>
          </p:cNvSpPr>
          <p:nvPr/>
        </p:nvSpPr>
        <p:spPr bwMode="auto">
          <a:xfrm>
            <a:off x="6747881" y="5700611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physical</a:t>
            </a:r>
          </a:p>
        </p:txBody>
      </p:sp>
      <p:sp>
        <p:nvSpPr>
          <p:cNvPr id="13349" name="Text Box 26"/>
          <p:cNvSpPr txBox="1">
            <a:spLocks noChangeArrowheads="1"/>
          </p:cNvSpPr>
          <p:nvPr/>
        </p:nvSpPr>
        <p:spPr bwMode="auto">
          <a:xfrm>
            <a:off x="6766931" y="5414861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link</a:t>
            </a:r>
          </a:p>
        </p:txBody>
      </p:sp>
      <p:sp>
        <p:nvSpPr>
          <p:cNvPr id="13350" name="Text Box 26"/>
          <p:cNvSpPr txBox="1">
            <a:spLocks noChangeArrowheads="1"/>
          </p:cNvSpPr>
          <p:nvPr/>
        </p:nvSpPr>
        <p:spPr bwMode="auto">
          <a:xfrm>
            <a:off x="6757406" y="5119586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network</a:t>
            </a:r>
          </a:p>
        </p:txBody>
      </p:sp>
      <p:sp>
        <p:nvSpPr>
          <p:cNvPr id="13351" name="Oval 101"/>
          <p:cNvSpPr>
            <a:spLocks noChangeArrowheads="1"/>
          </p:cNvSpPr>
          <p:nvPr/>
        </p:nvSpPr>
        <p:spPr bwMode="auto">
          <a:xfrm>
            <a:off x="7127294" y="4384572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DengXian" panose="02010600030101010101" pitchFamily="2" charset="-122"/>
                <a:ea typeface="MS PGothic" panose="020B0600070205080204" pitchFamily="34" charset="-128"/>
              </a:rPr>
              <a:t>P4</a:t>
            </a:r>
          </a:p>
        </p:txBody>
      </p:sp>
      <p:sp>
        <p:nvSpPr>
          <p:cNvPr id="13352" name="Freeform 103"/>
          <p:cNvSpPr>
            <a:spLocks/>
          </p:cNvSpPr>
          <p:nvPr/>
        </p:nvSpPr>
        <p:spPr bwMode="auto">
          <a:xfrm>
            <a:off x="8076619" y="4030560"/>
            <a:ext cx="581025" cy="2038350"/>
          </a:xfrm>
          <a:custGeom>
            <a:avLst/>
            <a:gdLst>
              <a:gd name="T0" fmla="*/ 2147483646 w 366"/>
              <a:gd name="T1" fmla="*/ 2147483646 h 1284"/>
              <a:gd name="T2" fmla="*/ 2147483646 w 366"/>
              <a:gd name="T3" fmla="*/ 0 h 1284"/>
              <a:gd name="T4" fmla="*/ 0 w 366"/>
              <a:gd name="T5" fmla="*/ 2147483646 h 1284"/>
              <a:gd name="T6" fmla="*/ 2147483646 w 366"/>
              <a:gd name="T7" fmla="*/ 2147483646 h 1284"/>
              <a:gd name="T8" fmla="*/ 2147483646 w 366"/>
              <a:gd name="T9" fmla="*/ 2147483646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6"/>
              <a:gd name="T16" fmla="*/ 0 h 1284"/>
              <a:gd name="T17" fmla="*/ 366 w 366"/>
              <a:gd name="T18" fmla="*/ 1284 h 12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53" name="Freeform 70"/>
          <p:cNvSpPr>
            <a:spLocks/>
          </p:cNvSpPr>
          <p:nvPr/>
        </p:nvSpPr>
        <p:spPr bwMode="auto">
          <a:xfrm>
            <a:off x="1886955" y="4051197"/>
            <a:ext cx="552450" cy="2082800"/>
          </a:xfrm>
          <a:custGeom>
            <a:avLst/>
            <a:gdLst>
              <a:gd name="T0" fmla="*/ 0 w 348"/>
              <a:gd name="T1" fmla="*/ 2147483646 h 1312"/>
              <a:gd name="T2" fmla="*/ 2147483646 w 348"/>
              <a:gd name="T3" fmla="*/ 0 h 1312"/>
              <a:gd name="T4" fmla="*/ 2147483646 w 348"/>
              <a:gd name="T5" fmla="*/ 2147483646 h 1312"/>
              <a:gd name="T6" fmla="*/ 2147483646 w 348"/>
              <a:gd name="T7" fmla="*/ 2147483646 h 1312"/>
              <a:gd name="T8" fmla="*/ 0 w 348"/>
              <a:gd name="T9" fmla="*/ 2147483646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8"/>
              <a:gd name="T16" fmla="*/ 0 h 1312"/>
              <a:gd name="T17" fmla="*/ 348 w 348"/>
              <a:gd name="T18" fmla="*/ 1312 h 1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54" name="Rectangle 23"/>
          <p:cNvSpPr>
            <a:spLocks noChangeArrowheads="1"/>
          </p:cNvSpPr>
          <p:nvPr/>
        </p:nvSpPr>
        <p:spPr bwMode="auto">
          <a:xfrm>
            <a:off x="2483855" y="400674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55" name="Rectangle 24"/>
          <p:cNvSpPr>
            <a:spLocks noChangeArrowheads="1"/>
          </p:cNvSpPr>
          <p:nvPr/>
        </p:nvSpPr>
        <p:spPr bwMode="auto">
          <a:xfrm>
            <a:off x="2445756" y="4060723"/>
            <a:ext cx="12731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56" name="Line 25"/>
          <p:cNvSpPr>
            <a:spLocks noChangeShapeType="1"/>
          </p:cNvSpPr>
          <p:nvPr/>
        </p:nvSpPr>
        <p:spPr bwMode="auto">
          <a:xfrm>
            <a:off x="2455280" y="482113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57" name="Text Box 26"/>
          <p:cNvSpPr txBox="1">
            <a:spLocks noChangeArrowheads="1"/>
          </p:cNvSpPr>
          <p:nvPr/>
        </p:nvSpPr>
        <p:spPr bwMode="auto">
          <a:xfrm>
            <a:off x="2412419" y="4803673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transport</a:t>
            </a:r>
          </a:p>
        </p:txBody>
      </p:sp>
      <p:sp>
        <p:nvSpPr>
          <p:cNvPr id="13358" name="Line 27"/>
          <p:cNvSpPr>
            <a:spLocks noChangeShapeType="1"/>
          </p:cNvSpPr>
          <p:nvPr/>
        </p:nvSpPr>
        <p:spPr bwMode="auto">
          <a:xfrm>
            <a:off x="2463218" y="514181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59" name="Line 28"/>
          <p:cNvSpPr>
            <a:spLocks noChangeShapeType="1"/>
          </p:cNvSpPr>
          <p:nvPr/>
        </p:nvSpPr>
        <p:spPr bwMode="auto">
          <a:xfrm>
            <a:off x="2448930" y="545137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60" name="Line 29"/>
          <p:cNvSpPr>
            <a:spLocks noChangeShapeType="1"/>
          </p:cNvSpPr>
          <p:nvPr/>
        </p:nvSpPr>
        <p:spPr bwMode="auto">
          <a:xfrm>
            <a:off x="2448930" y="573712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61" name="Text Box 26"/>
          <p:cNvSpPr txBox="1">
            <a:spLocks noChangeArrowheads="1"/>
          </p:cNvSpPr>
          <p:nvPr/>
        </p:nvSpPr>
        <p:spPr bwMode="auto">
          <a:xfrm>
            <a:off x="2447344" y="4051198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application</a:t>
            </a:r>
          </a:p>
        </p:txBody>
      </p:sp>
      <p:sp>
        <p:nvSpPr>
          <p:cNvPr id="13362" name="Text Box 26"/>
          <p:cNvSpPr txBox="1">
            <a:spLocks noChangeArrowheads="1"/>
          </p:cNvSpPr>
          <p:nvPr/>
        </p:nvSpPr>
        <p:spPr bwMode="auto">
          <a:xfrm>
            <a:off x="2402894" y="5708548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physical</a:t>
            </a:r>
          </a:p>
        </p:txBody>
      </p:sp>
      <p:sp>
        <p:nvSpPr>
          <p:cNvPr id="13363" name="Text Box 26"/>
          <p:cNvSpPr txBox="1">
            <a:spLocks noChangeArrowheads="1"/>
          </p:cNvSpPr>
          <p:nvPr/>
        </p:nvSpPr>
        <p:spPr bwMode="auto">
          <a:xfrm>
            <a:off x="2421944" y="5422798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link</a:t>
            </a:r>
          </a:p>
        </p:txBody>
      </p:sp>
      <p:sp>
        <p:nvSpPr>
          <p:cNvPr id="13364" name="Text Box 26"/>
          <p:cNvSpPr txBox="1">
            <a:spLocks noChangeArrowheads="1"/>
          </p:cNvSpPr>
          <p:nvPr/>
        </p:nvSpPr>
        <p:spPr bwMode="auto">
          <a:xfrm>
            <a:off x="2412419" y="5127523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network</a:t>
            </a:r>
          </a:p>
        </p:txBody>
      </p:sp>
      <p:sp>
        <p:nvSpPr>
          <p:cNvPr id="13365" name="Oval 23"/>
          <p:cNvSpPr>
            <a:spLocks noChangeArrowheads="1"/>
          </p:cNvSpPr>
          <p:nvPr/>
        </p:nvSpPr>
        <p:spPr bwMode="auto">
          <a:xfrm>
            <a:off x="2782305" y="439251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DengXian" panose="02010600030101010101" pitchFamily="2" charset="-122"/>
                <a:ea typeface="MS PGothic" panose="020B0600070205080204" pitchFamily="34" charset="-128"/>
              </a:rPr>
              <a:t>P3</a:t>
            </a:r>
          </a:p>
        </p:txBody>
      </p:sp>
      <p:grpSp>
        <p:nvGrpSpPr>
          <p:cNvPr id="13366" name="Group 149"/>
          <p:cNvGrpSpPr>
            <a:grpSpLocks/>
          </p:cNvGrpSpPr>
          <p:nvPr/>
        </p:nvGrpSpPr>
        <p:grpSpPr bwMode="auto">
          <a:xfrm>
            <a:off x="2872793" y="4730647"/>
            <a:ext cx="412750" cy="158750"/>
            <a:chOff x="1287" y="2524"/>
            <a:chExt cx="260" cy="100"/>
          </a:xfrm>
        </p:grpSpPr>
        <p:sp>
          <p:nvSpPr>
            <p:cNvPr id="13422" name="Rectangle 73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23" name="Rectangle 74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24" name="Rectangle 75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25" name="Rectangle 129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3367" name="Group 150"/>
          <p:cNvGrpSpPr>
            <a:grpSpLocks/>
          </p:cNvGrpSpPr>
          <p:nvPr/>
        </p:nvGrpSpPr>
        <p:grpSpPr bwMode="auto">
          <a:xfrm>
            <a:off x="7213018" y="4729060"/>
            <a:ext cx="412750" cy="158750"/>
            <a:chOff x="1287" y="2524"/>
            <a:chExt cx="260" cy="100"/>
          </a:xfrm>
        </p:grpSpPr>
        <p:sp>
          <p:nvSpPr>
            <p:cNvPr id="13418" name="Rectangle 151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19" name="Rectangle 152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20" name="Rectangle 153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21" name="Rectangle 154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368" name="Freeform 146"/>
          <p:cNvSpPr>
            <a:spLocks/>
          </p:cNvSpPr>
          <p:nvPr/>
        </p:nvSpPr>
        <p:spPr bwMode="auto">
          <a:xfrm>
            <a:off x="5260394" y="4430611"/>
            <a:ext cx="2173287" cy="1989137"/>
          </a:xfrm>
          <a:custGeom>
            <a:avLst/>
            <a:gdLst>
              <a:gd name="T0" fmla="*/ 2147483646 w 1369"/>
              <a:gd name="T1" fmla="*/ 2147483646 h 1253"/>
              <a:gd name="T2" fmla="*/ 2147483646 w 1369"/>
              <a:gd name="T3" fmla="*/ 2147483646 h 1253"/>
              <a:gd name="T4" fmla="*/ 2147483646 w 1369"/>
              <a:gd name="T5" fmla="*/ 2147483646 h 1253"/>
              <a:gd name="T6" fmla="*/ 0 w 1369"/>
              <a:gd name="T7" fmla="*/ 2147483646 h 1253"/>
              <a:gd name="T8" fmla="*/ 2147483646 w 1369"/>
              <a:gd name="T9" fmla="*/ 0 h 1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9"/>
              <a:gd name="T16" fmla="*/ 0 h 1253"/>
              <a:gd name="T17" fmla="*/ 1369 w 1369"/>
              <a:gd name="T18" fmla="*/ 1253 h 12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9" h="1253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69" name="Freeform 147"/>
          <p:cNvSpPr>
            <a:spLocks/>
          </p:cNvSpPr>
          <p:nvPr/>
        </p:nvSpPr>
        <p:spPr bwMode="auto">
          <a:xfrm>
            <a:off x="5379456" y="4462361"/>
            <a:ext cx="1984375" cy="1876425"/>
          </a:xfrm>
          <a:custGeom>
            <a:avLst/>
            <a:gdLst>
              <a:gd name="T0" fmla="*/ 2147483646 w 1250"/>
              <a:gd name="T1" fmla="*/ 2147483646 h 1182"/>
              <a:gd name="T2" fmla="*/ 2147483646 w 1250"/>
              <a:gd name="T3" fmla="*/ 2147483646 h 1182"/>
              <a:gd name="T4" fmla="*/ 2147483646 w 1250"/>
              <a:gd name="T5" fmla="*/ 2147483646 h 1182"/>
              <a:gd name="T6" fmla="*/ 0 w 1250"/>
              <a:gd name="T7" fmla="*/ 2147483646 h 1182"/>
              <a:gd name="T8" fmla="*/ 2147483646 w 1250"/>
              <a:gd name="T9" fmla="*/ 0 h 1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50"/>
              <a:gd name="T16" fmla="*/ 0 h 1182"/>
              <a:gd name="T17" fmla="*/ 1250 w 1250"/>
              <a:gd name="T18" fmla="*/ 1182 h 1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50" h="1182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70" name="Oval 36"/>
          <p:cNvSpPr>
            <a:spLocks noChangeArrowheads="1"/>
          </p:cNvSpPr>
          <p:nvPr/>
        </p:nvSpPr>
        <p:spPr bwMode="auto">
          <a:xfrm>
            <a:off x="8719555" y="4541735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1" name="Group 169"/>
          <p:cNvGrpSpPr>
            <a:grpSpLocks/>
          </p:cNvGrpSpPr>
          <p:nvPr/>
        </p:nvGrpSpPr>
        <p:grpSpPr bwMode="auto">
          <a:xfrm>
            <a:off x="4214231" y="3289197"/>
            <a:ext cx="1292225" cy="1454150"/>
            <a:chOff x="1868" y="1796"/>
            <a:chExt cx="814" cy="916"/>
          </a:xfrm>
        </p:grpSpPr>
        <p:sp>
          <p:nvSpPr>
            <p:cNvPr id="13415" name="Oval 166"/>
            <p:cNvSpPr>
              <a:spLocks noChangeArrowheads="1"/>
            </p:cNvSpPr>
            <p:nvPr/>
          </p:nvSpPr>
          <p:spPr bwMode="auto">
            <a:xfrm>
              <a:off x="2318" y="2668"/>
              <a:ext cx="124" cy="44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16" name="Oval 167"/>
            <p:cNvSpPr>
              <a:spLocks noChangeArrowheads="1"/>
            </p:cNvSpPr>
            <p:nvPr/>
          </p:nvSpPr>
          <p:spPr bwMode="auto">
            <a:xfrm>
              <a:off x="2558" y="2668"/>
              <a:ext cx="124" cy="44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17" name="Freeform 168"/>
            <p:cNvSpPr>
              <a:spLocks/>
            </p:cNvSpPr>
            <p:nvPr/>
          </p:nvSpPr>
          <p:spPr bwMode="auto">
            <a:xfrm>
              <a:off x="1868" y="1796"/>
              <a:ext cx="434" cy="904"/>
            </a:xfrm>
            <a:custGeom>
              <a:avLst/>
              <a:gdLst>
                <a:gd name="T0" fmla="*/ 434 w 434"/>
                <a:gd name="T1" fmla="*/ 904 h 904"/>
                <a:gd name="T2" fmla="*/ 2 w 434"/>
                <a:gd name="T3" fmla="*/ 902 h 904"/>
                <a:gd name="T4" fmla="*/ 0 w 434"/>
                <a:gd name="T5" fmla="*/ 0 h 904"/>
                <a:gd name="T6" fmla="*/ 0 60000 65536"/>
                <a:gd name="T7" fmla="*/ 0 60000 65536"/>
                <a:gd name="T8" fmla="*/ 0 60000 65536"/>
                <a:gd name="T9" fmla="*/ 0 w 434"/>
                <a:gd name="T10" fmla="*/ 0 h 904"/>
                <a:gd name="T11" fmla="*/ 434 w 434"/>
                <a:gd name="T12" fmla="*/ 904 h 9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4" h="904">
                  <a:moveTo>
                    <a:pt x="434" y="904"/>
                  </a:moveTo>
                  <a:lnTo>
                    <a:pt x="2" y="9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2" name="Group 172"/>
          <p:cNvGrpSpPr>
            <a:grpSpLocks/>
          </p:cNvGrpSpPr>
          <p:nvPr/>
        </p:nvGrpSpPr>
        <p:grpSpPr bwMode="auto">
          <a:xfrm>
            <a:off x="5122280" y="3244747"/>
            <a:ext cx="1047750" cy="1441450"/>
            <a:chOff x="2432" y="1758"/>
            <a:chExt cx="660" cy="908"/>
          </a:xfrm>
        </p:grpSpPr>
        <p:sp>
          <p:nvSpPr>
            <p:cNvPr id="13413" name="Oval 170"/>
            <p:cNvSpPr>
              <a:spLocks noChangeArrowheads="1"/>
            </p:cNvSpPr>
            <p:nvPr/>
          </p:nvSpPr>
          <p:spPr bwMode="auto">
            <a:xfrm>
              <a:off x="2432" y="2564"/>
              <a:ext cx="144" cy="10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14" name="Freeform 171"/>
            <p:cNvSpPr>
              <a:spLocks/>
            </p:cNvSpPr>
            <p:nvPr/>
          </p:nvSpPr>
          <p:spPr bwMode="auto">
            <a:xfrm>
              <a:off x="2506" y="1758"/>
              <a:ext cx="586" cy="810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6"/>
                <a:gd name="T13" fmla="*/ 0 h 810"/>
                <a:gd name="T14" fmla="*/ 586 w 586"/>
                <a:gd name="T15" fmla="*/ 810 h 8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3373" name="Group 179"/>
          <p:cNvGrpSpPr>
            <a:grpSpLocks/>
          </p:cNvGrpSpPr>
          <p:nvPr/>
        </p:nvGrpSpPr>
        <p:grpSpPr bwMode="auto">
          <a:xfrm>
            <a:off x="1421818" y="5560911"/>
            <a:ext cx="800100" cy="828675"/>
            <a:chOff x="-44" y="1473"/>
            <a:chExt cx="981" cy="1105"/>
          </a:xfrm>
        </p:grpSpPr>
        <p:pic>
          <p:nvPicPr>
            <p:cNvPr id="13411" name="Picture 180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412" name="Freeform 18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676966739 w 356"/>
                <a:gd name="T3" fmla="*/ 116208087 h 368"/>
                <a:gd name="T4" fmla="*/ 803078548 w 356"/>
                <a:gd name="T5" fmla="*/ 2147483646 h 368"/>
                <a:gd name="T6" fmla="*/ 176986328 w 356"/>
                <a:gd name="T7" fmla="*/ 214748364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3374" name="Group 182"/>
          <p:cNvGrpSpPr>
            <a:grpSpLocks/>
          </p:cNvGrpSpPr>
          <p:nvPr/>
        </p:nvGrpSpPr>
        <p:grpSpPr bwMode="auto">
          <a:xfrm flipH="1">
            <a:off x="8403644" y="5475186"/>
            <a:ext cx="788987" cy="782637"/>
            <a:chOff x="-44" y="1473"/>
            <a:chExt cx="981" cy="1105"/>
          </a:xfrm>
        </p:grpSpPr>
        <p:pic>
          <p:nvPicPr>
            <p:cNvPr id="13409" name="Picture 18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410" name="Freeform 18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676966739 w 356"/>
                <a:gd name="T3" fmla="*/ 116208087 h 368"/>
                <a:gd name="T4" fmla="*/ 803078548 w 356"/>
                <a:gd name="T5" fmla="*/ 2147483646 h 368"/>
                <a:gd name="T6" fmla="*/ 176986328 w 356"/>
                <a:gd name="T7" fmla="*/ 214748364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3375" name="Group 185"/>
          <p:cNvGrpSpPr>
            <a:grpSpLocks/>
          </p:cNvGrpSpPr>
          <p:nvPr/>
        </p:nvGrpSpPr>
        <p:grpSpPr bwMode="auto">
          <a:xfrm>
            <a:off x="3993569" y="5060847"/>
            <a:ext cx="358775" cy="704850"/>
            <a:chOff x="4140" y="429"/>
            <a:chExt cx="1425" cy="2396"/>
          </a:xfrm>
        </p:grpSpPr>
        <p:sp>
          <p:nvSpPr>
            <p:cNvPr id="13377" name="Freeform 18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8" name="Rectangle 187"/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379" name="Freeform 18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0" name="Freeform 18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1" name="Rectangle 190"/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3382" name="Group 19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407" name="AutoShape 192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408" name="AutoShape 193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83" name="Rectangle 194"/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3384" name="Group 19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405" name="AutoShape 196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4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406" name="AutoShape 197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85" name="Rectangle 198"/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386" name="Rectangle 199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3387" name="Group 20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403" name="AutoShape 201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404" name="AutoShape 202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88" name="Freeform 20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89" name="Group 20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401" name="AutoShape 205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402" name="AutoShape 206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90" name="Rectangle 207"/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391" name="Freeform 20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2" name="Freeform 20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3" name="Oval 210"/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394" name="Freeform 21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5" name="AutoShape 212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396" name="AutoShape 213"/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397" name="Oval 214"/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398" name="Oval 215"/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399" name="Oval 216"/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00" name="Rectangle 217"/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376" name="TextBox 134"/>
          <p:cNvSpPr txBox="1">
            <a:spLocks noChangeArrowheads="1"/>
          </p:cNvSpPr>
          <p:nvPr/>
        </p:nvSpPr>
        <p:spPr bwMode="auto">
          <a:xfrm>
            <a:off x="538844" y="1451820"/>
            <a:ext cx="112993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传输层基本服务：将主机间交付扩展到进程间交付，通过复用和分用实现</a:t>
            </a:r>
          </a:p>
        </p:txBody>
      </p:sp>
      <p:grpSp>
        <p:nvGrpSpPr>
          <p:cNvPr id="136" name="Group 176"/>
          <p:cNvGrpSpPr>
            <a:grpSpLocks/>
          </p:cNvGrpSpPr>
          <p:nvPr/>
        </p:nvGrpSpPr>
        <p:grpSpPr bwMode="auto">
          <a:xfrm>
            <a:off x="6203367" y="2053098"/>
            <a:ext cx="4203700" cy="1198102"/>
            <a:chOff x="259" y="892"/>
            <a:chExt cx="2565" cy="614"/>
          </a:xfrm>
        </p:grpSpPr>
        <p:sp>
          <p:nvSpPr>
            <p:cNvPr id="137" name="Text Box 45"/>
            <p:cNvSpPr txBox="1">
              <a:spLocks noChangeArrowheads="1"/>
            </p:cNvSpPr>
            <p:nvPr/>
          </p:nvSpPr>
          <p:spPr bwMode="auto">
            <a:xfrm>
              <a:off x="291" y="1118"/>
              <a:ext cx="253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800" dirty="0">
                  <a:latin typeface="等线" panose="02010600030101010101" pitchFamily="2" charset="-122"/>
                  <a:ea typeface="等线" panose="02010600030101010101" pitchFamily="2" charset="-122"/>
                </a:rPr>
                <a:t>传输层将从网络层收到的数据，交付给正确的套接字</a:t>
              </a:r>
            </a:p>
          </p:txBody>
        </p:sp>
        <p:sp>
          <p:nvSpPr>
            <p:cNvPr id="138" name="Rectangle 46"/>
            <p:cNvSpPr>
              <a:spLocks noChangeArrowheads="1"/>
            </p:cNvSpPr>
            <p:nvPr/>
          </p:nvSpPr>
          <p:spPr bwMode="auto">
            <a:xfrm>
              <a:off x="259" y="1009"/>
              <a:ext cx="2479" cy="497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39" name="Group 47"/>
            <p:cNvGrpSpPr>
              <a:grpSpLocks/>
            </p:cNvGrpSpPr>
            <p:nvPr/>
          </p:nvGrpSpPr>
          <p:grpSpPr bwMode="auto">
            <a:xfrm>
              <a:off x="332" y="892"/>
              <a:ext cx="1380" cy="244"/>
              <a:chOff x="1101" y="3732"/>
              <a:chExt cx="1325" cy="244"/>
            </a:xfrm>
          </p:grpSpPr>
          <p:sp>
            <p:nvSpPr>
              <p:cNvPr id="140" name="Rectangle 48"/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4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Text Box 49"/>
              <p:cNvSpPr txBox="1">
                <a:spLocks noChangeArrowheads="1"/>
              </p:cNvSpPr>
              <p:nvPr/>
            </p:nvSpPr>
            <p:spPr bwMode="auto">
              <a:xfrm>
                <a:off x="1101" y="3771"/>
                <a:ext cx="1259" cy="2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（接收端）分用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:</a:t>
                </a:r>
              </a:p>
            </p:txBody>
          </p:sp>
        </p:grpSp>
      </p:grpSp>
      <p:sp>
        <p:nvSpPr>
          <p:cNvPr id="144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6.3  </a:t>
            </a:r>
            <a:r>
              <a:rPr kumimoji="1" lang="zh-CN" altLang="en-US" dirty="0"/>
              <a:t>传输层复用和分用</a:t>
            </a:r>
          </a:p>
        </p:txBody>
      </p:sp>
      <p:sp>
        <p:nvSpPr>
          <p:cNvPr id="143" name="灯片编号占位符 3">
            <a:extLst>
              <a:ext uri="{FF2B5EF4-FFF2-40B4-BE49-F238E27FC236}">
                <a16:creationId xmlns:a16="http://schemas.microsoft.com/office/drawing/2014/main" id="{610F1592-11C6-1B48-B71D-2A986EE2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6949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如何进行复用和分用：类比的例子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idx="1"/>
          </p:nvPr>
        </p:nvSpPr>
        <p:spPr>
          <a:xfrm>
            <a:off x="838199" y="1510758"/>
            <a:ext cx="4939146" cy="2271533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为将邮件交付给收信人：</a:t>
            </a:r>
          </a:p>
          <a:p>
            <a:pPr lvl="1">
              <a:lnSpc>
                <a:spcPct val="130000"/>
              </a:lnSpc>
            </a:pP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每个收信人应有一个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信箱，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写有收信人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地址和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姓名（唯一标识）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信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封上有收信人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的地址和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名字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Rectangle 23"/>
          <p:cNvSpPr txBox="1">
            <a:spLocks noChangeArrowheads="1"/>
          </p:cNvSpPr>
          <p:nvPr/>
        </p:nvSpPr>
        <p:spPr>
          <a:xfrm>
            <a:off x="6276109" y="1510757"/>
            <a:ext cx="4946071" cy="2271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为将报文段交付给套接字：</a:t>
            </a:r>
            <a:endParaRPr lang="en-US" altLang="zh-CN" sz="26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主机中每个套接字应分配一个唯一的标识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报文段中包含接收套接字的标识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dirty="0">
              <a:latin typeface="等线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ectangle 23"/>
          <p:cNvSpPr txBox="1">
            <a:spLocks noChangeArrowheads="1"/>
          </p:cNvSpPr>
          <p:nvPr/>
        </p:nvSpPr>
        <p:spPr>
          <a:xfrm>
            <a:off x="838199" y="3818272"/>
            <a:ext cx="10383981" cy="2449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复用：</a:t>
            </a:r>
            <a:endParaRPr lang="en-US" altLang="zh-CN" sz="26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发送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方传输层将</a:t>
            </a:r>
            <a:r>
              <a:rPr lang="zh-CN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套接字标识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置于报</a:t>
            </a:r>
            <a:r>
              <a:rPr lang="zh-CN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文段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中，交给网络层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分用：</a:t>
            </a:r>
            <a:endParaRPr lang="en-US" altLang="zh-CN" sz="26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接收方传输层根据报文段中的套接字标识，将报文段交付到正确的套接字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6.3  </a:t>
            </a:r>
            <a:r>
              <a:rPr kumimoji="1" lang="zh-CN" altLang="en-US" dirty="0"/>
              <a:t>传输层复用和分用</a:t>
            </a:r>
          </a:p>
        </p:txBody>
      </p:sp>
    </p:spTree>
    <p:extLst>
      <p:ext uri="{BB962C8B-B14F-4D97-AF65-F5344CB8AC3E}">
        <p14:creationId xmlns:p14="http://schemas.microsoft.com/office/powerpoint/2010/main" val="3747601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套接字标识与端口号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510758"/>
            <a:ext cx="7162801" cy="458669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端口号是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套接字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标识的一部分：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每个套接字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在本地关联一个端口号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端口号是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一个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16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比特的数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端口号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的分类：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熟知端口：0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1023，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由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公共域协议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使用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注册端口：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1024～49151，需要向</a:t>
            </a:r>
            <a:r>
              <a:rPr lang="en-US" altLang="zh-CN" sz="2500" dirty="0">
                <a:latin typeface="等线" panose="02010600030101010101" pitchFamily="2" charset="-122"/>
                <a:ea typeface="等线" panose="02010600030101010101" pitchFamily="2" charset="-122"/>
              </a:rPr>
              <a:t>IANA (</a:t>
            </a:r>
            <a:r>
              <a:rPr lang="en-US" sz="2500" dirty="0">
                <a:latin typeface="等线" panose="02010600030101010101" pitchFamily="2" charset="-122"/>
                <a:ea typeface="等线" panose="02010600030101010101" pitchFamily="2" charset="-122"/>
              </a:rPr>
              <a:t>Internet Assigned Numbers Authority</a:t>
            </a:r>
            <a:r>
              <a:rPr lang="en-US" altLang="zh-CN" sz="25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注册才能使用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动态和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/或私有端口：49152～65535，一般程序使用</a:t>
            </a:r>
            <a:endParaRPr lang="zh-CN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报文段中有两个字段携带端口号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源端口号：与发送进程关联的本地端口号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目的端口号：与接收进程关联的本地端口号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  <p:sp>
        <p:nvSpPr>
          <p:cNvPr id="5" name="Rectangle 75"/>
          <p:cNvSpPr>
            <a:spLocks noChangeArrowheads="1"/>
          </p:cNvSpPr>
          <p:nvPr/>
        </p:nvSpPr>
        <p:spPr bwMode="auto">
          <a:xfrm>
            <a:off x="8248650" y="2179638"/>
            <a:ext cx="3324225" cy="32004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65"/>
          <p:cNvSpPr>
            <a:spLocks noChangeArrowheads="1"/>
          </p:cNvSpPr>
          <p:nvPr/>
        </p:nvSpPr>
        <p:spPr bwMode="auto">
          <a:xfrm>
            <a:off x="8172450" y="2274888"/>
            <a:ext cx="3324225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 Box 63"/>
          <p:cNvSpPr txBox="1">
            <a:spLocks noChangeArrowheads="1"/>
          </p:cNvSpPr>
          <p:nvPr/>
        </p:nvSpPr>
        <p:spPr bwMode="auto">
          <a:xfrm>
            <a:off x="8233989" y="2297113"/>
            <a:ext cx="1521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source port #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 Box 64"/>
          <p:cNvSpPr txBox="1">
            <a:spLocks noChangeArrowheads="1"/>
          </p:cNvSpPr>
          <p:nvPr/>
        </p:nvSpPr>
        <p:spPr bwMode="auto">
          <a:xfrm>
            <a:off x="10019478" y="2297113"/>
            <a:ext cx="12859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 err="1">
                <a:solidFill>
                  <a:srgbClr val="FF0000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dest</a:t>
            </a:r>
            <a:r>
              <a:rPr lang="en-US" altLang="zh-CN" sz="1800" dirty="0">
                <a:solidFill>
                  <a:srgbClr val="FF0000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 port #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Line 66"/>
          <p:cNvSpPr>
            <a:spLocks noChangeShapeType="1"/>
          </p:cNvSpPr>
          <p:nvPr/>
        </p:nvSpPr>
        <p:spPr bwMode="auto">
          <a:xfrm flipV="1">
            <a:off x="8162924" y="2674938"/>
            <a:ext cx="33289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68"/>
          <p:cNvSpPr>
            <a:spLocks noChangeShapeType="1"/>
          </p:cNvSpPr>
          <p:nvPr/>
        </p:nvSpPr>
        <p:spPr bwMode="auto">
          <a:xfrm flipV="1">
            <a:off x="8172450" y="3665538"/>
            <a:ext cx="3324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69"/>
          <p:cNvSpPr>
            <a:spLocks noChangeShapeType="1"/>
          </p:cNvSpPr>
          <p:nvPr/>
        </p:nvSpPr>
        <p:spPr bwMode="auto">
          <a:xfrm flipV="1">
            <a:off x="9810749" y="2274889"/>
            <a:ext cx="0" cy="3952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70"/>
          <p:cNvSpPr txBox="1">
            <a:spLocks noChangeArrowheads="1"/>
          </p:cNvSpPr>
          <p:nvPr/>
        </p:nvSpPr>
        <p:spPr bwMode="auto">
          <a:xfrm>
            <a:off x="9365187" y="1844676"/>
            <a:ext cx="843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DengXian" panose="02010600030101010101" pitchFamily="2" charset="-122"/>
                <a:ea typeface="宋体" panose="02010600030101010101" pitchFamily="2" charset="-122"/>
              </a:rPr>
              <a:t>32 bits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Line 71"/>
          <p:cNvSpPr>
            <a:spLocks noChangeShapeType="1"/>
          </p:cNvSpPr>
          <p:nvPr/>
        </p:nvSpPr>
        <p:spPr bwMode="auto">
          <a:xfrm>
            <a:off x="10267949" y="2041526"/>
            <a:ext cx="1200150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72"/>
          <p:cNvSpPr>
            <a:spLocks noChangeShapeType="1"/>
          </p:cNvSpPr>
          <p:nvPr/>
        </p:nvSpPr>
        <p:spPr bwMode="auto">
          <a:xfrm rot="10800000">
            <a:off x="8158162" y="2051050"/>
            <a:ext cx="11287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73"/>
          <p:cNvSpPr txBox="1">
            <a:spLocks noChangeArrowheads="1"/>
          </p:cNvSpPr>
          <p:nvPr/>
        </p:nvSpPr>
        <p:spPr bwMode="auto">
          <a:xfrm>
            <a:off x="9056687" y="4130676"/>
            <a:ext cx="14462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application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data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(message)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 Box 74"/>
          <p:cNvSpPr txBox="1">
            <a:spLocks noChangeArrowheads="1"/>
          </p:cNvSpPr>
          <p:nvPr/>
        </p:nvSpPr>
        <p:spPr bwMode="auto">
          <a:xfrm>
            <a:off x="8700346" y="3040064"/>
            <a:ext cx="22541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other header fields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Text Box 76"/>
          <p:cNvSpPr txBox="1">
            <a:spLocks noChangeArrowheads="1"/>
          </p:cNvSpPr>
          <p:nvPr/>
        </p:nvSpPr>
        <p:spPr bwMode="auto">
          <a:xfrm>
            <a:off x="8645524" y="5697538"/>
            <a:ext cx="256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TCP/UDP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报文段格式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6.3  </a:t>
            </a:r>
            <a:r>
              <a:rPr kumimoji="1" lang="zh-CN" altLang="en-US" dirty="0"/>
              <a:t>传输层复用和分用</a:t>
            </a:r>
          </a:p>
        </p:txBody>
      </p:sp>
    </p:spTree>
    <p:extLst>
      <p:ext uri="{BB962C8B-B14F-4D97-AF65-F5344CB8AC3E}">
        <p14:creationId xmlns:p14="http://schemas.microsoft.com/office/powerpoint/2010/main" val="1137379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套接字端口号的分配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510758"/>
            <a:ext cx="5257801" cy="358375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3000" dirty="0">
                <a:latin typeface="等线" panose="02010600030101010101" pitchFamily="2" charset="-122"/>
                <a:ea typeface="等线" panose="02010600030101010101" pitchFamily="2" charset="-122"/>
              </a:rPr>
              <a:t>自动分配：</a:t>
            </a:r>
            <a:endParaRPr lang="en-US" altLang="zh-CN" sz="3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创建套接字时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不指定端口号</a:t>
            </a:r>
          </a:p>
          <a:p>
            <a:pPr lvl="1">
              <a:lnSpc>
                <a:spcPct val="130000"/>
              </a:lnSpc>
              <a:defRPr/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由操作系统从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49152～65535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中分配</a:t>
            </a:r>
            <a:endParaRPr lang="en-US" altLang="zh-CN" sz="2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客户端通常使用这种方法</a:t>
            </a:r>
            <a:endParaRPr lang="en-US" altLang="zh-CN" sz="2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  <p:sp>
        <p:nvSpPr>
          <p:cNvPr id="19" name="内容占位符 2"/>
          <p:cNvSpPr txBox="1">
            <a:spLocks/>
          </p:cNvSpPr>
          <p:nvPr/>
        </p:nvSpPr>
        <p:spPr>
          <a:xfrm>
            <a:off x="6359235" y="1510758"/>
            <a:ext cx="5257801" cy="39266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defRPr/>
            </a:pP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使用指定端口号创建套接字：</a:t>
            </a:r>
            <a:endParaRPr lang="en-US" altLang="zh-CN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创建套接字时指定端口号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实现公共域协议的服务器应分配众所周知的端口号（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0～1023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服务器通常采用这种方法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6.3  </a:t>
            </a:r>
            <a:r>
              <a:rPr kumimoji="1" lang="zh-CN" altLang="en-US" dirty="0"/>
              <a:t>传输层复用和分用</a:t>
            </a:r>
          </a:p>
        </p:txBody>
      </p:sp>
    </p:spTree>
    <p:extLst>
      <p:ext uri="{BB962C8B-B14F-4D97-AF65-F5344CB8AC3E}">
        <p14:creationId xmlns:p14="http://schemas.microsoft.com/office/powerpoint/2010/main" val="2909981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UDP</a:t>
            </a:r>
            <a:r>
              <a:rPr lang="zh-CN" altLang="en-US" dirty="0"/>
              <a:t>分用</a:t>
            </a:r>
            <a:r>
              <a:rPr lang="en-US" altLang="zh-CN" dirty="0" err="1"/>
              <a:t>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en-US" altLang="zh-CN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套接字使用</a:t>
            </a:r>
            <a:r>
              <a:rPr lang="en-US" altLang="zh-CN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&lt;IP</a:t>
            </a:r>
            <a:r>
              <a:rPr lang="zh-CN" altLang="en-US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地址</a:t>
            </a:r>
            <a:r>
              <a:rPr lang="en-US" altLang="zh-CN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</a:t>
            </a:r>
            <a:r>
              <a:rPr lang="zh-CN" altLang="en-US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端口号</a:t>
            </a:r>
            <a:r>
              <a:rPr lang="en-US" altLang="zh-CN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&gt;</a:t>
            </a:r>
            <a:r>
              <a:rPr lang="zh-CN" altLang="en-US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二元组进行标识</a:t>
            </a:r>
            <a:endParaRPr lang="en-US" altLang="zh-CN" sz="32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接收方传输层收到一个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报文段后：</a:t>
            </a:r>
            <a:endParaRPr lang="en-US" altLang="zh-CN" sz="3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检查报文段中的目的端口号，将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报文段交付到具有该端口号的套接字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&lt;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目的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IP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地址，目的端口号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&gt; 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相同的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报文段被交付给同一个套接字，与 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&lt;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源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IP地址，源端口号&gt; 无关</a:t>
            </a:r>
          </a:p>
          <a:p>
            <a:pPr lvl="1">
              <a:lnSpc>
                <a:spcPct val="13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报文段中的 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&lt;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源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IP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地址，源端口号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&gt; 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被接收进程用来发送响应报文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6.3  </a:t>
            </a:r>
            <a:r>
              <a:rPr kumimoji="1" lang="zh-CN" altLang="en-US" dirty="0"/>
              <a:t>传输层复用和分用</a:t>
            </a:r>
          </a:p>
        </p:txBody>
      </p:sp>
    </p:spTree>
    <p:extLst>
      <p:ext uri="{BB962C8B-B14F-4D97-AF65-F5344CB8AC3E}">
        <p14:creationId xmlns:p14="http://schemas.microsoft.com/office/powerpoint/2010/main" val="4278763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TCP服务器使用的套接字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0486" y="1427018"/>
            <a:ext cx="10972800" cy="505690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一个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TCP服务器为了同时服务很多个客户，使用两种套接字</a:t>
            </a:r>
          </a:p>
          <a:p>
            <a:pPr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监听套接字：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服务器平时在监听套接字上等待客户的连接请求，该套接字具有众所周知的端口号</a:t>
            </a:r>
            <a:endParaRPr lang="en-US" altLang="zh-CN" sz="20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连接套接字：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服务器在收到客户的连接请求后，创建一个连接套接字，使用临时分配的端口号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服务器同时创建一个新的进程，在该连接套接字上服务该客户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每个连接套接字只与一个客户通信</a:t>
            </a:r>
            <a:r>
              <a:rPr lang="zh-CN" altLang="en-US" sz="20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即只接收具有以下四元组的报文段：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源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IP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地址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客户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IP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地址，源端口号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 客户套接字端口号</a:t>
            </a:r>
          </a:p>
          <a:p>
            <a:pPr lvl="2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目的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IP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地址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服务器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IP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地址，目的端口号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= </a:t>
            </a: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服务器监听套接字的端口号</a:t>
            </a:r>
          </a:p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连接套接字需要使用</a:t>
            </a:r>
            <a:r>
              <a:rPr lang="en-US" altLang="zh-CN" sz="22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&lt;</a:t>
            </a:r>
            <a:r>
              <a:rPr lang="zh-CN" altLang="en-US" sz="22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源</a:t>
            </a:r>
            <a:r>
              <a:rPr lang="en-US" altLang="zh-CN" sz="22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IP地址，目的IP地址，源端口号，目的端口号&gt;</a:t>
            </a:r>
            <a:r>
              <a:rPr lang="zh-CN" altLang="en-US" sz="22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四元组进行标识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，服务器使用该四元组将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报文段交付到正确的连接套接字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2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sz="3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6.3  </a:t>
            </a:r>
            <a:r>
              <a:rPr kumimoji="1" lang="zh-CN" altLang="en-US" dirty="0"/>
              <a:t>传输层复用和分用</a:t>
            </a:r>
          </a:p>
        </p:txBody>
      </p:sp>
    </p:spTree>
    <p:extLst>
      <p:ext uri="{BB962C8B-B14F-4D97-AF65-F5344CB8AC3E}">
        <p14:creationId xmlns:p14="http://schemas.microsoft.com/office/powerpoint/2010/main" val="1239303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/>
          <p:cNvSpPr>
            <a:spLocks noGrp="1" noChangeArrowheads="1"/>
          </p:cNvSpPr>
          <p:nvPr>
            <p:ph type="title"/>
          </p:nvPr>
        </p:nvSpPr>
        <p:spPr>
          <a:xfrm>
            <a:off x="1295401" y="307101"/>
            <a:ext cx="8085138" cy="927978"/>
          </a:xfrm>
        </p:spPr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分用</a:t>
            </a:r>
            <a:r>
              <a:rPr lang="en-US" altLang="zh-CN" dirty="0"/>
              <a:t>: </a:t>
            </a:r>
            <a:r>
              <a:rPr lang="zh-CN" altLang="en-US" dirty="0"/>
              <a:t>举例</a:t>
            </a:r>
          </a:p>
        </p:txBody>
      </p:sp>
      <p:sp>
        <p:nvSpPr>
          <p:cNvPr id="23557" name="Freeform 4"/>
          <p:cNvSpPr>
            <a:spLocks/>
          </p:cNvSpPr>
          <p:nvPr/>
        </p:nvSpPr>
        <p:spPr bwMode="auto">
          <a:xfrm>
            <a:off x="4354513" y="1952626"/>
            <a:ext cx="552450" cy="2082800"/>
          </a:xfrm>
          <a:custGeom>
            <a:avLst/>
            <a:gdLst>
              <a:gd name="T0" fmla="*/ 0 w 348"/>
              <a:gd name="T1" fmla="*/ 2147483646 h 1312"/>
              <a:gd name="T2" fmla="*/ 2147483646 w 348"/>
              <a:gd name="T3" fmla="*/ 0 h 1312"/>
              <a:gd name="T4" fmla="*/ 2147483646 w 348"/>
              <a:gd name="T5" fmla="*/ 2147483646 h 1312"/>
              <a:gd name="T6" fmla="*/ 2147483646 w 348"/>
              <a:gd name="T7" fmla="*/ 2147483646 h 1312"/>
              <a:gd name="T8" fmla="*/ 0 w 348"/>
              <a:gd name="T9" fmla="*/ 2147483646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8"/>
              <a:gd name="T16" fmla="*/ 0 h 1312"/>
              <a:gd name="T17" fmla="*/ 348 w 348"/>
              <a:gd name="T18" fmla="*/ 1312 h 1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58" name="Freeform 5"/>
          <p:cNvSpPr>
            <a:spLocks/>
          </p:cNvSpPr>
          <p:nvPr/>
        </p:nvSpPr>
        <p:spPr bwMode="auto">
          <a:xfrm>
            <a:off x="1962151" y="2132014"/>
            <a:ext cx="460375" cy="2193925"/>
          </a:xfrm>
          <a:custGeom>
            <a:avLst/>
            <a:gdLst>
              <a:gd name="T0" fmla="*/ 2147483646 w 290"/>
              <a:gd name="T1" fmla="*/ 2147483646 h 1382"/>
              <a:gd name="T2" fmla="*/ 0 w 290"/>
              <a:gd name="T3" fmla="*/ 2147483646 h 1382"/>
              <a:gd name="T4" fmla="*/ 2147483646 w 290"/>
              <a:gd name="T5" fmla="*/ 0 h 1382"/>
              <a:gd name="T6" fmla="*/ 2147483646 w 290"/>
              <a:gd name="T7" fmla="*/ 2147483646 h 1382"/>
              <a:gd name="T8" fmla="*/ 2147483646 w 290"/>
              <a:gd name="T9" fmla="*/ 2147483646 h 1382"/>
              <a:gd name="T10" fmla="*/ 2147483646 w 290"/>
              <a:gd name="T11" fmla="*/ 2147483646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0"/>
              <a:gd name="T19" fmla="*/ 0 h 1382"/>
              <a:gd name="T20" fmla="*/ 290 w 290"/>
              <a:gd name="T21" fmla="*/ 1382 h 138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59" name="Rectangle 23"/>
          <p:cNvSpPr>
            <a:spLocks noChangeArrowheads="1"/>
          </p:cNvSpPr>
          <p:nvPr/>
        </p:nvSpPr>
        <p:spPr bwMode="auto">
          <a:xfrm>
            <a:off x="2457450" y="2109788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0" name="Rectangle 24"/>
          <p:cNvSpPr>
            <a:spLocks noChangeArrowheads="1"/>
          </p:cNvSpPr>
          <p:nvPr/>
        </p:nvSpPr>
        <p:spPr bwMode="auto">
          <a:xfrm>
            <a:off x="2419351" y="2163764"/>
            <a:ext cx="12731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1" name="Line 25"/>
          <p:cNvSpPr>
            <a:spLocks noChangeShapeType="1"/>
          </p:cNvSpPr>
          <p:nvPr/>
        </p:nvSpPr>
        <p:spPr bwMode="auto">
          <a:xfrm>
            <a:off x="2428875" y="2924177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2" name="Text Box 26"/>
          <p:cNvSpPr txBox="1">
            <a:spLocks noChangeArrowheads="1"/>
          </p:cNvSpPr>
          <p:nvPr/>
        </p:nvSpPr>
        <p:spPr bwMode="auto">
          <a:xfrm>
            <a:off x="2386014" y="2906714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transport</a:t>
            </a:r>
          </a:p>
        </p:txBody>
      </p:sp>
      <p:sp>
        <p:nvSpPr>
          <p:cNvPr id="23563" name="Line 27"/>
          <p:cNvSpPr>
            <a:spLocks noChangeShapeType="1"/>
          </p:cNvSpPr>
          <p:nvPr/>
        </p:nvSpPr>
        <p:spPr bwMode="auto">
          <a:xfrm>
            <a:off x="2436813" y="3244852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4" name="Line 28"/>
          <p:cNvSpPr>
            <a:spLocks noChangeShapeType="1"/>
          </p:cNvSpPr>
          <p:nvPr/>
        </p:nvSpPr>
        <p:spPr bwMode="auto">
          <a:xfrm>
            <a:off x="2422525" y="355441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" name="Line 29"/>
          <p:cNvSpPr>
            <a:spLocks noChangeShapeType="1"/>
          </p:cNvSpPr>
          <p:nvPr/>
        </p:nvSpPr>
        <p:spPr bwMode="auto">
          <a:xfrm>
            <a:off x="2422525" y="384016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" name="Text Box 26"/>
          <p:cNvSpPr txBox="1">
            <a:spLocks noChangeArrowheads="1"/>
          </p:cNvSpPr>
          <p:nvPr/>
        </p:nvSpPr>
        <p:spPr bwMode="auto">
          <a:xfrm>
            <a:off x="2420939" y="215423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application</a:t>
            </a:r>
          </a:p>
        </p:txBody>
      </p:sp>
      <p:sp>
        <p:nvSpPr>
          <p:cNvPr id="23567" name="Text Box 26"/>
          <p:cNvSpPr txBox="1">
            <a:spLocks noChangeArrowheads="1"/>
          </p:cNvSpPr>
          <p:nvPr/>
        </p:nvSpPr>
        <p:spPr bwMode="auto">
          <a:xfrm>
            <a:off x="2376489" y="381158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physical</a:t>
            </a:r>
          </a:p>
        </p:txBody>
      </p:sp>
      <p:sp>
        <p:nvSpPr>
          <p:cNvPr id="23568" name="Text Box 26"/>
          <p:cNvSpPr txBox="1">
            <a:spLocks noChangeArrowheads="1"/>
          </p:cNvSpPr>
          <p:nvPr/>
        </p:nvSpPr>
        <p:spPr bwMode="auto">
          <a:xfrm>
            <a:off x="2395539" y="352583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link</a:t>
            </a:r>
          </a:p>
        </p:txBody>
      </p:sp>
      <p:sp>
        <p:nvSpPr>
          <p:cNvPr id="23569" name="Text Box 26"/>
          <p:cNvSpPr txBox="1">
            <a:spLocks noChangeArrowheads="1"/>
          </p:cNvSpPr>
          <p:nvPr/>
        </p:nvSpPr>
        <p:spPr bwMode="auto">
          <a:xfrm>
            <a:off x="2386014" y="3230564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network</a:t>
            </a:r>
          </a:p>
        </p:txBody>
      </p:sp>
      <p:sp>
        <p:nvSpPr>
          <p:cNvPr id="23570" name="Oval 18"/>
          <p:cNvSpPr>
            <a:spLocks noChangeArrowheads="1"/>
          </p:cNvSpPr>
          <p:nvPr/>
        </p:nvSpPr>
        <p:spPr bwMode="auto">
          <a:xfrm>
            <a:off x="2755900" y="243998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Arial" panose="020B0604020202020204" pitchFamily="34" charset="0"/>
                <a:ea typeface="MS PGothic" panose="020B0600070205080204" pitchFamily="34" charset="-128"/>
              </a:rPr>
              <a:t>P3</a:t>
            </a:r>
          </a:p>
        </p:txBody>
      </p:sp>
      <p:grpSp>
        <p:nvGrpSpPr>
          <p:cNvPr id="23571" name="Group 19"/>
          <p:cNvGrpSpPr>
            <a:grpSpLocks/>
          </p:cNvGrpSpPr>
          <p:nvPr/>
        </p:nvGrpSpPr>
        <p:grpSpPr bwMode="auto">
          <a:xfrm>
            <a:off x="2724151" y="2763838"/>
            <a:ext cx="620713" cy="228600"/>
            <a:chOff x="1287" y="2524"/>
            <a:chExt cx="260" cy="100"/>
          </a:xfrm>
        </p:grpSpPr>
        <p:sp>
          <p:nvSpPr>
            <p:cNvPr id="23686" name="Rectangle 20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87" name="Rectangle 21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88" name="Rectangle 22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89" name="Rectangle 23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3572" name="Rectangle 23"/>
          <p:cNvSpPr>
            <a:spLocks noChangeArrowheads="1"/>
          </p:cNvSpPr>
          <p:nvPr/>
        </p:nvSpPr>
        <p:spPr bwMode="auto">
          <a:xfrm>
            <a:off x="4956175" y="1876426"/>
            <a:ext cx="2254250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73" name="Rectangle 24"/>
          <p:cNvSpPr>
            <a:spLocks noChangeArrowheads="1"/>
          </p:cNvSpPr>
          <p:nvPr/>
        </p:nvSpPr>
        <p:spPr bwMode="auto">
          <a:xfrm>
            <a:off x="4902201" y="1954214"/>
            <a:ext cx="22256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74" name="Text Box 26"/>
          <p:cNvSpPr txBox="1">
            <a:spLocks noChangeArrowheads="1"/>
          </p:cNvSpPr>
          <p:nvPr/>
        </p:nvSpPr>
        <p:spPr bwMode="auto">
          <a:xfrm>
            <a:off x="5327651" y="2682877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transport</a:t>
            </a:r>
          </a:p>
        </p:txBody>
      </p:sp>
      <p:sp>
        <p:nvSpPr>
          <p:cNvPr id="23575" name="Text Box 26"/>
          <p:cNvSpPr txBox="1">
            <a:spLocks noChangeArrowheads="1"/>
          </p:cNvSpPr>
          <p:nvPr/>
        </p:nvSpPr>
        <p:spPr bwMode="auto">
          <a:xfrm>
            <a:off x="5381626" y="190658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application</a:t>
            </a:r>
          </a:p>
        </p:txBody>
      </p:sp>
      <p:sp>
        <p:nvSpPr>
          <p:cNvPr id="23576" name="Text Box 26"/>
          <p:cNvSpPr txBox="1">
            <a:spLocks noChangeArrowheads="1"/>
          </p:cNvSpPr>
          <p:nvPr/>
        </p:nvSpPr>
        <p:spPr bwMode="auto">
          <a:xfrm>
            <a:off x="5321301" y="3587752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physical</a:t>
            </a:r>
          </a:p>
        </p:txBody>
      </p:sp>
      <p:sp>
        <p:nvSpPr>
          <p:cNvPr id="23577" name="Text Box 26"/>
          <p:cNvSpPr txBox="1">
            <a:spLocks noChangeArrowheads="1"/>
          </p:cNvSpPr>
          <p:nvPr/>
        </p:nvSpPr>
        <p:spPr bwMode="auto">
          <a:xfrm>
            <a:off x="5321301" y="3302002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link</a:t>
            </a:r>
          </a:p>
        </p:txBody>
      </p:sp>
      <p:sp>
        <p:nvSpPr>
          <p:cNvPr id="23578" name="Rectangle 23"/>
          <p:cNvSpPr>
            <a:spLocks noChangeArrowheads="1"/>
          </p:cNvSpPr>
          <p:nvPr/>
        </p:nvSpPr>
        <p:spPr bwMode="auto">
          <a:xfrm>
            <a:off x="8091489" y="2101851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79" name="Rectangle 24"/>
          <p:cNvSpPr>
            <a:spLocks noChangeArrowheads="1"/>
          </p:cNvSpPr>
          <p:nvPr/>
        </p:nvSpPr>
        <p:spPr bwMode="auto">
          <a:xfrm>
            <a:off x="7894638" y="2143126"/>
            <a:ext cx="1631950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80" name="Text Box 26"/>
          <p:cNvSpPr txBox="1">
            <a:spLocks noChangeArrowheads="1"/>
          </p:cNvSpPr>
          <p:nvPr/>
        </p:nvSpPr>
        <p:spPr bwMode="auto">
          <a:xfrm>
            <a:off x="8020051" y="2898777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transport</a:t>
            </a:r>
          </a:p>
        </p:txBody>
      </p:sp>
      <p:sp>
        <p:nvSpPr>
          <p:cNvPr id="23581" name="Text Box 26"/>
          <p:cNvSpPr txBox="1">
            <a:spLocks noChangeArrowheads="1"/>
          </p:cNvSpPr>
          <p:nvPr/>
        </p:nvSpPr>
        <p:spPr bwMode="auto">
          <a:xfrm>
            <a:off x="8054976" y="2146302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application</a:t>
            </a:r>
          </a:p>
        </p:txBody>
      </p:sp>
      <p:sp>
        <p:nvSpPr>
          <p:cNvPr id="23582" name="Text Box 26"/>
          <p:cNvSpPr txBox="1">
            <a:spLocks noChangeArrowheads="1"/>
          </p:cNvSpPr>
          <p:nvPr/>
        </p:nvSpPr>
        <p:spPr bwMode="auto">
          <a:xfrm>
            <a:off x="8062914" y="3803652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physical</a:t>
            </a:r>
          </a:p>
        </p:txBody>
      </p:sp>
      <p:sp>
        <p:nvSpPr>
          <p:cNvPr id="23583" name="Text Box 26"/>
          <p:cNvSpPr txBox="1">
            <a:spLocks noChangeArrowheads="1"/>
          </p:cNvSpPr>
          <p:nvPr/>
        </p:nvSpPr>
        <p:spPr bwMode="auto">
          <a:xfrm>
            <a:off x="8029576" y="3517902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link</a:t>
            </a:r>
          </a:p>
        </p:txBody>
      </p:sp>
      <p:sp>
        <p:nvSpPr>
          <p:cNvPr id="23584" name="Text Box 26"/>
          <p:cNvSpPr txBox="1">
            <a:spLocks noChangeArrowheads="1"/>
          </p:cNvSpPr>
          <p:nvPr/>
        </p:nvSpPr>
        <p:spPr bwMode="auto">
          <a:xfrm>
            <a:off x="8020051" y="3222627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network</a:t>
            </a:r>
          </a:p>
        </p:txBody>
      </p:sp>
      <p:sp>
        <p:nvSpPr>
          <p:cNvPr id="23585" name="Oval 38"/>
          <p:cNvSpPr>
            <a:spLocks noChangeArrowheads="1"/>
          </p:cNvSpPr>
          <p:nvPr/>
        </p:nvSpPr>
        <p:spPr bwMode="auto">
          <a:xfrm>
            <a:off x="7975600" y="243998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Arial" panose="020B0604020202020204" pitchFamily="34" charset="0"/>
                <a:ea typeface="MS PGothic" panose="020B0600070205080204" pitchFamily="34" charset="-128"/>
              </a:rPr>
              <a:t>P2</a:t>
            </a:r>
          </a:p>
        </p:txBody>
      </p:sp>
      <p:sp>
        <p:nvSpPr>
          <p:cNvPr id="23586" name="Freeform 39"/>
          <p:cNvSpPr>
            <a:spLocks/>
          </p:cNvSpPr>
          <p:nvPr/>
        </p:nvSpPr>
        <p:spPr bwMode="auto">
          <a:xfrm>
            <a:off x="9528176" y="2122488"/>
            <a:ext cx="504825" cy="2133600"/>
          </a:xfrm>
          <a:custGeom>
            <a:avLst/>
            <a:gdLst>
              <a:gd name="T0" fmla="*/ 2147483646 w 318"/>
              <a:gd name="T1" fmla="*/ 2147483646 h 1344"/>
              <a:gd name="T2" fmla="*/ 2147483646 w 318"/>
              <a:gd name="T3" fmla="*/ 0 h 1344"/>
              <a:gd name="T4" fmla="*/ 0 w 318"/>
              <a:gd name="T5" fmla="*/ 2147483646 h 1344"/>
              <a:gd name="T6" fmla="*/ 2147483646 w 318"/>
              <a:gd name="T7" fmla="*/ 2147483646 h 1344"/>
              <a:gd name="T8" fmla="*/ 2147483646 w 318"/>
              <a:gd name="T9" fmla="*/ 2147483646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8"/>
              <a:gd name="T16" fmla="*/ 0 h 1344"/>
              <a:gd name="T17" fmla="*/ 318 w 318"/>
              <a:gd name="T18" fmla="*/ 1344 h 13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3587" name="Group 42"/>
          <p:cNvGrpSpPr>
            <a:grpSpLocks/>
          </p:cNvGrpSpPr>
          <p:nvPr/>
        </p:nvGrpSpPr>
        <p:grpSpPr bwMode="auto">
          <a:xfrm>
            <a:off x="3348038" y="5368922"/>
            <a:ext cx="2016125" cy="657224"/>
            <a:chOff x="1084" y="3697"/>
            <a:chExt cx="1270" cy="414"/>
          </a:xfrm>
        </p:grpSpPr>
        <p:sp>
          <p:nvSpPr>
            <p:cNvPr id="23683" name="Rectangle 43"/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84" name="Line 44"/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685" name="Text Box 45"/>
            <p:cNvSpPr txBox="1">
              <a:spLocks noChangeArrowheads="1"/>
            </p:cNvSpPr>
            <p:nvPr/>
          </p:nvSpPr>
          <p:spPr bwMode="auto">
            <a:xfrm>
              <a:off x="1084" y="3822"/>
              <a:ext cx="122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MS PGothic" panose="020B0600070205080204" pitchFamily="34" charset="-128"/>
                </a:rPr>
                <a:t>source IP,port: A,9157</a:t>
              </a:r>
            </a:p>
            <a:p>
              <a:pPr algn="r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MS PGothic" panose="020B0600070205080204" pitchFamily="34" charset="-128"/>
                </a:rPr>
                <a:t>dest IP, port: B,80</a:t>
              </a:r>
            </a:p>
          </p:txBody>
        </p:sp>
      </p:grpSp>
      <p:grpSp>
        <p:nvGrpSpPr>
          <p:cNvPr id="23588" name="Group 46"/>
          <p:cNvGrpSpPr>
            <a:grpSpLocks/>
          </p:cNvGrpSpPr>
          <p:nvPr/>
        </p:nvGrpSpPr>
        <p:grpSpPr bwMode="auto">
          <a:xfrm>
            <a:off x="3190876" y="4678367"/>
            <a:ext cx="1878013" cy="657226"/>
            <a:chOff x="2741" y="3750"/>
            <a:chExt cx="1183" cy="414"/>
          </a:xfrm>
        </p:grpSpPr>
        <p:sp>
          <p:nvSpPr>
            <p:cNvPr id="23680" name="Rectangle 47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81" name="Line 48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682" name="Text Box 49"/>
            <p:cNvSpPr txBox="1">
              <a:spLocks noChangeArrowheads="1"/>
            </p:cNvSpPr>
            <p:nvPr/>
          </p:nvSpPr>
          <p:spPr bwMode="auto">
            <a:xfrm>
              <a:off x="2813" y="3875"/>
              <a:ext cx="111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MS PGothic" panose="020B0600070205080204" pitchFamily="34" charset="-128"/>
                </a:rPr>
                <a:t>source IP,port: B,80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MS PGothic" panose="020B0600070205080204" pitchFamily="34" charset="-128"/>
                </a:rPr>
                <a:t>dest IP,port: A,9157</a:t>
              </a:r>
            </a:p>
          </p:txBody>
        </p:sp>
      </p:grpSp>
      <p:sp>
        <p:nvSpPr>
          <p:cNvPr id="23589" name="Text Box 50"/>
          <p:cNvSpPr txBox="1">
            <a:spLocks noChangeArrowheads="1"/>
          </p:cNvSpPr>
          <p:nvPr/>
        </p:nvSpPr>
        <p:spPr bwMode="auto">
          <a:xfrm flipH="1">
            <a:off x="1331119" y="4545739"/>
            <a:ext cx="1147763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70C0"/>
                </a:solidFill>
                <a:latin typeface="Gill Sans MT" pitchFamily="34" charset="0"/>
                <a:ea typeface="MS PGothic" panose="020B0600070205080204" pitchFamily="34" charset="-128"/>
              </a:rPr>
              <a:t>host: IP address A</a:t>
            </a:r>
          </a:p>
        </p:txBody>
      </p:sp>
      <p:sp>
        <p:nvSpPr>
          <p:cNvPr id="23590" name="Text Box 51"/>
          <p:cNvSpPr txBox="1">
            <a:spLocks noChangeArrowheads="1"/>
          </p:cNvSpPr>
          <p:nvPr/>
        </p:nvSpPr>
        <p:spPr bwMode="auto">
          <a:xfrm flipH="1">
            <a:off x="9636426" y="4419601"/>
            <a:ext cx="1147763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70C0"/>
                </a:solidFill>
                <a:latin typeface="Gill Sans MT" pitchFamily="34" charset="0"/>
                <a:ea typeface="MS PGothic" panose="020B0600070205080204" pitchFamily="34" charset="-128"/>
              </a:rPr>
              <a:t>host: IP address C</a:t>
            </a:r>
          </a:p>
        </p:txBody>
      </p:sp>
      <p:sp>
        <p:nvSpPr>
          <p:cNvPr id="23591" name="Text Box 52"/>
          <p:cNvSpPr txBox="1">
            <a:spLocks noChangeArrowheads="1"/>
          </p:cNvSpPr>
          <p:nvPr/>
        </p:nvSpPr>
        <p:spPr bwMode="auto">
          <a:xfrm flipH="1">
            <a:off x="4057737" y="4155302"/>
            <a:ext cx="114776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70C0"/>
                </a:solidFill>
                <a:latin typeface="Gill Sans MT" pitchFamily="34" charset="0"/>
                <a:ea typeface="MS PGothic" panose="020B0600070205080204" pitchFamily="34" charset="-128"/>
              </a:rPr>
              <a:t>server: IP address B</a:t>
            </a:r>
          </a:p>
        </p:txBody>
      </p:sp>
      <p:sp>
        <p:nvSpPr>
          <p:cNvPr id="23592" name="Line 53"/>
          <p:cNvSpPr>
            <a:spLocks noChangeShapeType="1"/>
          </p:cNvSpPr>
          <p:nvPr/>
        </p:nvSpPr>
        <p:spPr bwMode="auto">
          <a:xfrm>
            <a:off x="4878388" y="3630613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93" name="Line 54"/>
          <p:cNvSpPr>
            <a:spLocks noChangeShapeType="1"/>
          </p:cNvSpPr>
          <p:nvPr/>
        </p:nvSpPr>
        <p:spPr bwMode="auto">
          <a:xfrm>
            <a:off x="4894263" y="3328988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94" name="Text Box 26"/>
          <p:cNvSpPr txBox="1">
            <a:spLocks noChangeArrowheads="1"/>
          </p:cNvSpPr>
          <p:nvPr/>
        </p:nvSpPr>
        <p:spPr bwMode="auto">
          <a:xfrm>
            <a:off x="5281614" y="2994027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DengXian" panose="02010600030101010101" pitchFamily="2" charset="-122"/>
                <a:ea typeface="宋体" panose="02010600030101010101" pitchFamily="2" charset="-122"/>
              </a:rPr>
              <a:t>network</a:t>
            </a:r>
          </a:p>
        </p:txBody>
      </p:sp>
      <p:sp>
        <p:nvSpPr>
          <p:cNvPr id="23595" name="Line 56"/>
          <p:cNvSpPr>
            <a:spLocks noChangeShapeType="1"/>
          </p:cNvSpPr>
          <p:nvPr/>
        </p:nvSpPr>
        <p:spPr bwMode="auto">
          <a:xfrm>
            <a:off x="4897438" y="3006726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96" name="Line 57"/>
          <p:cNvSpPr>
            <a:spLocks noChangeShapeType="1"/>
          </p:cNvSpPr>
          <p:nvPr/>
        </p:nvSpPr>
        <p:spPr bwMode="auto">
          <a:xfrm>
            <a:off x="4900613" y="2684463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3597" name="Group 58"/>
          <p:cNvGrpSpPr>
            <a:grpSpLocks/>
          </p:cNvGrpSpPr>
          <p:nvPr/>
        </p:nvGrpSpPr>
        <p:grpSpPr bwMode="auto">
          <a:xfrm>
            <a:off x="5076826" y="2546351"/>
            <a:ext cx="473075" cy="228600"/>
            <a:chOff x="1287" y="2524"/>
            <a:chExt cx="260" cy="100"/>
          </a:xfrm>
        </p:grpSpPr>
        <p:sp>
          <p:nvSpPr>
            <p:cNvPr id="23676" name="Rectangle 5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77" name="Rectangle 60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78" name="Rectangle 61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79" name="Rectangle 62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3598" name="Group 65"/>
          <p:cNvGrpSpPr>
            <a:grpSpLocks/>
          </p:cNvGrpSpPr>
          <p:nvPr/>
        </p:nvGrpSpPr>
        <p:grpSpPr bwMode="auto">
          <a:xfrm>
            <a:off x="5781676" y="2551113"/>
            <a:ext cx="473075" cy="228600"/>
            <a:chOff x="1287" y="2524"/>
            <a:chExt cx="260" cy="100"/>
          </a:xfrm>
        </p:grpSpPr>
        <p:sp>
          <p:nvSpPr>
            <p:cNvPr id="23672" name="Rectangle 66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73" name="Rectangle 67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74" name="Rectangle 68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75" name="Rectangle 69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3599" name="Group 70"/>
          <p:cNvGrpSpPr>
            <a:grpSpLocks/>
          </p:cNvGrpSpPr>
          <p:nvPr/>
        </p:nvGrpSpPr>
        <p:grpSpPr bwMode="auto">
          <a:xfrm>
            <a:off x="6453189" y="2555876"/>
            <a:ext cx="473075" cy="228600"/>
            <a:chOff x="1287" y="2524"/>
            <a:chExt cx="260" cy="100"/>
          </a:xfrm>
        </p:grpSpPr>
        <p:sp>
          <p:nvSpPr>
            <p:cNvPr id="23668" name="Rectangle 71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69" name="Rectangle 72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70" name="Rectangle 73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71" name="Rectangle 74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3600" name="Line 75"/>
          <p:cNvSpPr>
            <a:spLocks noChangeShapeType="1"/>
          </p:cNvSpPr>
          <p:nvPr/>
        </p:nvSpPr>
        <p:spPr bwMode="auto">
          <a:xfrm>
            <a:off x="7886700" y="3846513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601" name="Line 76"/>
          <p:cNvSpPr>
            <a:spLocks noChangeShapeType="1"/>
          </p:cNvSpPr>
          <p:nvPr/>
        </p:nvSpPr>
        <p:spPr bwMode="auto">
          <a:xfrm>
            <a:off x="7877175" y="3551238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602" name="Line 77"/>
          <p:cNvSpPr>
            <a:spLocks noChangeShapeType="1"/>
          </p:cNvSpPr>
          <p:nvPr/>
        </p:nvSpPr>
        <p:spPr bwMode="auto">
          <a:xfrm>
            <a:off x="7877175" y="3255963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603" name="Line 78"/>
          <p:cNvSpPr>
            <a:spLocks noChangeShapeType="1"/>
          </p:cNvSpPr>
          <p:nvPr/>
        </p:nvSpPr>
        <p:spPr bwMode="auto">
          <a:xfrm>
            <a:off x="7877175" y="2951163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3604" name="Group 79"/>
          <p:cNvGrpSpPr>
            <a:grpSpLocks/>
          </p:cNvGrpSpPr>
          <p:nvPr/>
        </p:nvGrpSpPr>
        <p:grpSpPr bwMode="auto">
          <a:xfrm>
            <a:off x="8029576" y="2778126"/>
            <a:ext cx="473075" cy="228600"/>
            <a:chOff x="1287" y="2524"/>
            <a:chExt cx="260" cy="100"/>
          </a:xfrm>
        </p:grpSpPr>
        <p:sp>
          <p:nvSpPr>
            <p:cNvPr id="23664" name="Rectangle 80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65" name="Rectangle 81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66" name="Rectangle 82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67" name="Rectangle 83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3605" name="Group 84"/>
          <p:cNvGrpSpPr>
            <a:grpSpLocks/>
          </p:cNvGrpSpPr>
          <p:nvPr/>
        </p:nvGrpSpPr>
        <p:grpSpPr bwMode="auto">
          <a:xfrm>
            <a:off x="8824914" y="2768601"/>
            <a:ext cx="473075" cy="228600"/>
            <a:chOff x="1287" y="2524"/>
            <a:chExt cx="260" cy="100"/>
          </a:xfrm>
        </p:grpSpPr>
        <p:sp>
          <p:nvSpPr>
            <p:cNvPr id="23660" name="Rectangle 85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61" name="Rectangle 86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62" name="Rectangle 87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63" name="Rectangle 88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3606" name="Oval 89"/>
          <p:cNvSpPr>
            <a:spLocks noChangeArrowheads="1"/>
          </p:cNvSpPr>
          <p:nvPr/>
        </p:nvSpPr>
        <p:spPr bwMode="auto">
          <a:xfrm>
            <a:off x="8766175" y="2435226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Arial" panose="020B0604020202020204" pitchFamily="34" charset="0"/>
                <a:ea typeface="MS PGothic" panose="020B0600070205080204" pitchFamily="34" charset="-128"/>
              </a:rPr>
              <a:t>P3</a:t>
            </a:r>
          </a:p>
        </p:txBody>
      </p:sp>
      <p:sp>
        <p:nvSpPr>
          <p:cNvPr id="23607" name="Freeform 90"/>
          <p:cNvSpPr>
            <a:spLocks/>
          </p:cNvSpPr>
          <p:nvPr/>
        </p:nvSpPr>
        <p:spPr bwMode="auto">
          <a:xfrm>
            <a:off x="3017839" y="2638427"/>
            <a:ext cx="2695575" cy="2695575"/>
          </a:xfrm>
          <a:custGeom>
            <a:avLst/>
            <a:gdLst>
              <a:gd name="T0" fmla="*/ 0 w 1698"/>
              <a:gd name="T1" fmla="*/ 2147483646 h 1698"/>
              <a:gd name="T2" fmla="*/ 0 w 1698"/>
              <a:gd name="T3" fmla="*/ 2147483646 h 1698"/>
              <a:gd name="T4" fmla="*/ 2147483646 w 1698"/>
              <a:gd name="T5" fmla="*/ 2147483646 h 1698"/>
              <a:gd name="T6" fmla="*/ 2147483646 w 1698"/>
              <a:gd name="T7" fmla="*/ 2147483646 h 1698"/>
              <a:gd name="T8" fmla="*/ 2147483646 w 1698"/>
              <a:gd name="T9" fmla="*/ 0 h 16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98"/>
              <a:gd name="T16" fmla="*/ 0 h 1698"/>
              <a:gd name="T17" fmla="*/ 1698 w 1698"/>
              <a:gd name="T18" fmla="*/ 1698 h 169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98" h="1698">
                <a:moveTo>
                  <a:pt x="0" y="131"/>
                </a:moveTo>
                <a:lnTo>
                  <a:pt x="0" y="1698"/>
                </a:lnTo>
                <a:lnTo>
                  <a:pt x="1698" y="1690"/>
                </a:lnTo>
                <a:lnTo>
                  <a:pt x="1691" y="148"/>
                </a:lnTo>
                <a:lnTo>
                  <a:pt x="1443" y="0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608" name="Freeform 91"/>
          <p:cNvSpPr>
            <a:spLocks/>
          </p:cNvSpPr>
          <p:nvPr/>
        </p:nvSpPr>
        <p:spPr bwMode="auto">
          <a:xfrm>
            <a:off x="6003926" y="2670177"/>
            <a:ext cx="3089275" cy="3252787"/>
          </a:xfrm>
          <a:custGeom>
            <a:avLst/>
            <a:gdLst>
              <a:gd name="T0" fmla="*/ 0 w 1946"/>
              <a:gd name="T1" fmla="*/ 0 h 1801"/>
              <a:gd name="T2" fmla="*/ 0 w 1946"/>
              <a:gd name="T3" fmla="*/ 2147483646 h 1801"/>
              <a:gd name="T4" fmla="*/ 2147483646 w 1946"/>
              <a:gd name="T5" fmla="*/ 2147483646 h 1801"/>
              <a:gd name="T6" fmla="*/ 2147483646 w 1946"/>
              <a:gd name="T7" fmla="*/ 2147483646 h 1801"/>
              <a:gd name="T8" fmla="*/ 0 60000 65536"/>
              <a:gd name="T9" fmla="*/ 0 60000 65536"/>
              <a:gd name="T10" fmla="*/ 0 60000 65536"/>
              <a:gd name="T11" fmla="*/ 0 60000 65536"/>
              <a:gd name="T12" fmla="*/ 0 w 1946"/>
              <a:gd name="T13" fmla="*/ 0 h 1801"/>
              <a:gd name="T14" fmla="*/ 1946 w 1946"/>
              <a:gd name="T15" fmla="*/ 1801 h 180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46" h="1801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609" name="Freeform 92"/>
          <p:cNvSpPr>
            <a:spLocks/>
          </p:cNvSpPr>
          <p:nvPr/>
        </p:nvSpPr>
        <p:spPr bwMode="auto">
          <a:xfrm>
            <a:off x="6662739" y="2659063"/>
            <a:ext cx="1609725" cy="2465388"/>
          </a:xfrm>
          <a:custGeom>
            <a:avLst/>
            <a:gdLst>
              <a:gd name="T0" fmla="*/ 0 w 1014"/>
              <a:gd name="T1" fmla="*/ 0 h 1480"/>
              <a:gd name="T2" fmla="*/ 0 w 1014"/>
              <a:gd name="T3" fmla="*/ 2147483646 h 1480"/>
              <a:gd name="T4" fmla="*/ 2147483646 w 1014"/>
              <a:gd name="T5" fmla="*/ 2147483646 h 1480"/>
              <a:gd name="T6" fmla="*/ 2147483646 w 1014"/>
              <a:gd name="T7" fmla="*/ 2147483646 h 1480"/>
              <a:gd name="T8" fmla="*/ 0 60000 65536"/>
              <a:gd name="T9" fmla="*/ 0 60000 65536"/>
              <a:gd name="T10" fmla="*/ 0 60000 65536"/>
              <a:gd name="T11" fmla="*/ 0 60000 65536"/>
              <a:gd name="T12" fmla="*/ 0 w 1014"/>
              <a:gd name="T13" fmla="*/ 0 h 1480"/>
              <a:gd name="T14" fmla="*/ 1014 w 1014"/>
              <a:gd name="T15" fmla="*/ 1480 h 1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4" h="1480">
                <a:moveTo>
                  <a:pt x="0" y="0"/>
                </a:moveTo>
                <a:lnTo>
                  <a:pt x="0" y="1480"/>
                </a:lnTo>
                <a:lnTo>
                  <a:pt x="1014" y="1480"/>
                </a:lnTo>
                <a:lnTo>
                  <a:pt x="1014" y="146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3610" name="Group 93"/>
          <p:cNvGrpSpPr>
            <a:grpSpLocks/>
          </p:cNvGrpSpPr>
          <p:nvPr/>
        </p:nvGrpSpPr>
        <p:grpSpPr bwMode="auto">
          <a:xfrm>
            <a:off x="6761164" y="4883147"/>
            <a:ext cx="2063750" cy="657224"/>
            <a:chOff x="2741" y="3750"/>
            <a:chExt cx="1300" cy="414"/>
          </a:xfrm>
        </p:grpSpPr>
        <p:sp>
          <p:nvSpPr>
            <p:cNvPr id="23657" name="Rectangle 94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58" name="Line 95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659" name="Text Box 96"/>
            <p:cNvSpPr txBox="1">
              <a:spLocks noChangeArrowheads="1"/>
            </p:cNvSpPr>
            <p:nvPr/>
          </p:nvSpPr>
          <p:spPr bwMode="auto">
            <a:xfrm>
              <a:off x="2813" y="3875"/>
              <a:ext cx="122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MS PGothic" panose="020B0600070205080204" pitchFamily="34" charset="-128"/>
                </a:rPr>
                <a:t>source IP,port: C,5775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MS PGothic" panose="020B0600070205080204" pitchFamily="34" charset="-128"/>
                </a:rPr>
                <a:t>dest IP,port: B,80</a:t>
              </a:r>
            </a:p>
          </p:txBody>
        </p:sp>
      </p:grpSp>
      <p:grpSp>
        <p:nvGrpSpPr>
          <p:cNvPr id="23611" name="Group 97"/>
          <p:cNvGrpSpPr>
            <a:grpSpLocks/>
          </p:cNvGrpSpPr>
          <p:nvPr/>
        </p:nvGrpSpPr>
        <p:grpSpPr bwMode="auto">
          <a:xfrm>
            <a:off x="6831013" y="5672138"/>
            <a:ext cx="2063750" cy="661988"/>
            <a:chOff x="2741" y="3750"/>
            <a:chExt cx="1300" cy="417"/>
          </a:xfrm>
        </p:grpSpPr>
        <p:sp>
          <p:nvSpPr>
            <p:cNvPr id="23654" name="Rectangle 98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55" name="Line 99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656" name="Text Box 100"/>
            <p:cNvSpPr txBox="1">
              <a:spLocks noChangeArrowheads="1"/>
            </p:cNvSpPr>
            <p:nvPr/>
          </p:nvSpPr>
          <p:spPr bwMode="auto">
            <a:xfrm>
              <a:off x="2813" y="3875"/>
              <a:ext cx="1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MS PGothic" panose="020B0600070205080204" pitchFamily="34" charset="-128"/>
                </a:rPr>
                <a:t>source IP,port: C,9157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Tahoma" panose="020B0604030504040204" pitchFamily="34" charset="0"/>
                  <a:ea typeface="MS PGothic" panose="020B0600070205080204" pitchFamily="34" charset="-128"/>
                </a:rPr>
                <a:t>dest IP,port: B,80</a:t>
              </a:r>
            </a:p>
          </p:txBody>
        </p:sp>
      </p:grpSp>
      <p:sp>
        <p:nvSpPr>
          <p:cNvPr id="23612" name="Oval 30"/>
          <p:cNvSpPr>
            <a:spLocks noChangeArrowheads="1"/>
          </p:cNvSpPr>
          <p:nvPr/>
        </p:nvSpPr>
        <p:spPr bwMode="auto">
          <a:xfrm>
            <a:off x="5021264" y="2301876"/>
            <a:ext cx="20335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Arial" panose="020B0604020202020204" pitchFamily="34" charset="0"/>
                <a:ea typeface="MS PGothic" panose="020B0600070205080204" pitchFamily="34" charset="-128"/>
              </a:rPr>
              <a:t>P4</a:t>
            </a:r>
          </a:p>
        </p:txBody>
      </p:sp>
      <p:sp>
        <p:nvSpPr>
          <p:cNvPr id="23613" name="Text Box 101"/>
          <p:cNvSpPr txBox="1">
            <a:spLocks noChangeArrowheads="1"/>
          </p:cNvSpPr>
          <p:nvPr/>
        </p:nvSpPr>
        <p:spPr bwMode="auto">
          <a:xfrm>
            <a:off x="6609005" y="1370014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CC0000"/>
                </a:solidFill>
                <a:latin typeface="Tahoma" panose="020B0604030504040204" pitchFamily="34" charset="0"/>
                <a:ea typeface="MS PGothic" panose="020B0600070205080204" pitchFamily="34" charset="-128"/>
              </a:rPr>
              <a:t>多进程服务器</a:t>
            </a:r>
            <a:endParaRPr lang="en-US" altLang="zh-CN" sz="2000" dirty="0">
              <a:solidFill>
                <a:srgbClr val="CC0000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614" name="Line 102"/>
          <p:cNvSpPr>
            <a:spLocks noChangeShapeType="1"/>
          </p:cNvSpPr>
          <p:nvPr/>
        </p:nvSpPr>
        <p:spPr bwMode="auto">
          <a:xfrm flipH="1">
            <a:off x="6303964" y="1714502"/>
            <a:ext cx="579437" cy="7524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3615" name="Group 104"/>
          <p:cNvGrpSpPr>
            <a:grpSpLocks/>
          </p:cNvGrpSpPr>
          <p:nvPr/>
        </p:nvGrpSpPr>
        <p:grpSpPr bwMode="auto">
          <a:xfrm flipH="1">
            <a:off x="9782175" y="3727452"/>
            <a:ext cx="711200" cy="669925"/>
            <a:chOff x="-44" y="1473"/>
            <a:chExt cx="981" cy="1105"/>
          </a:xfrm>
        </p:grpSpPr>
        <p:pic>
          <p:nvPicPr>
            <p:cNvPr id="23652" name="Picture 105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53" name="Freeform 10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676966739 w 356"/>
                <a:gd name="T3" fmla="*/ 116208087 h 368"/>
                <a:gd name="T4" fmla="*/ 803078548 w 356"/>
                <a:gd name="T5" fmla="*/ 2147483646 h 368"/>
                <a:gd name="T6" fmla="*/ 176986328 w 356"/>
                <a:gd name="T7" fmla="*/ 214748364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3616" name="Group 107"/>
          <p:cNvGrpSpPr>
            <a:grpSpLocks/>
          </p:cNvGrpSpPr>
          <p:nvPr/>
        </p:nvGrpSpPr>
        <p:grpSpPr bwMode="auto">
          <a:xfrm>
            <a:off x="1479550" y="3811589"/>
            <a:ext cx="711200" cy="669925"/>
            <a:chOff x="-44" y="1473"/>
            <a:chExt cx="981" cy="1105"/>
          </a:xfrm>
        </p:grpSpPr>
        <p:pic>
          <p:nvPicPr>
            <p:cNvPr id="23650" name="Picture 108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51" name="Freeform 10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676966739 w 356"/>
                <a:gd name="T3" fmla="*/ 116208087 h 368"/>
                <a:gd name="T4" fmla="*/ 803078548 w 356"/>
                <a:gd name="T5" fmla="*/ 2147483646 h 368"/>
                <a:gd name="T6" fmla="*/ 176986328 w 356"/>
                <a:gd name="T7" fmla="*/ 214748364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3617" name="Group 110"/>
          <p:cNvGrpSpPr>
            <a:grpSpLocks/>
          </p:cNvGrpSpPr>
          <p:nvPr/>
        </p:nvGrpSpPr>
        <p:grpSpPr bwMode="auto">
          <a:xfrm>
            <a:off x="4344989" y="3390901"/>
            <a:ext cx="358775" cy="704850"/>
            <a:chOff x="4140" y="429"/>
            <a:chExt cx="1425" cy="2396"/>
          </a:xfrm>
        </p:grpSpPr>
        <p:sp>
          <p:nvSpPr>
            <p:cNvPr id="23618" name="Freeform 11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9" name="Rectangle 112"/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20" name="Freeform 11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1" name="Freeform 11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2" name="Rectangle 115"/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3623" name="Group 11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648" name="AutoShape 117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3649" name="AutoShape 118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624" name="Rectangle 119"/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3625" name="Group 12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646" name="AutoShape 121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4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3647" name="AutoShape 122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626" name="Rectangle 123"/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27" name="Rectangle 124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3628" name="Group 12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644" name="AutoShape 126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3645" name="AutoShape 127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629" name="Freeform 12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630" name="Group 12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642" name="AutoShape 130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3643" name="AutoShape 131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631" name="Rectangle 132"/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32" name="Freeform 13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3" name="Freeform 13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4" name="Oval 135"/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35" name="Freeform 13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6" name="AutoShape 137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37" name="AutoShape 138"/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38" name="Oval 139"/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39" name="Oval 140"/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3640" name="Oval 141"/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41" name="Rectangle 142"/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16</a:t>
            </a:fld>
            <a:endParaRPr kumimoji="1" lang="zh-CN" altLang="en-US" dirty="0"/>
          </a:p>
        </p:txBody>
      </p:sp>
      <p:sp>
        <p:nvSpPr>
          <p:cNvPr id="137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6.3  </a:t>
            </a:r>
            <a:r>
              <a:rPr kumimoji="1" lang="zh-CN" altLang="en-US" dirty="0"/>
              <a:t>传输层复用和分用</a:t>
            </a:r>
          </a:p>
        </p:txBody>
      </p:sp>
    </p:spTree>
    <p:extLst>
      <p:ext uri="{BB962C8B-B14F-4D97-AF65-F5344CB8AC3E}">
        <p14:creationId xmlns:p14="http://schemas.microsoft.com/office/powerpoint/2010/main" val="3151466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845592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UDP套接字</a:t>
            </a:r>
          </a:p>
          <a:p>
            <a:pPr lvl="1">
              <a:lnSpc>
                <a:spcPct val="13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使用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&lt;IP地址，端口号&gt;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二元组标识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UDP套接字</a:t>
            </a:r>
          </a:p>
          <a:p>
            <a:pPr lvl="1">
              <a:lnSpc>
                <a:spcPct val="13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服务器使用一个套接字服务所有客户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TCP套接字</a:t>
            </a:r>
          </a:p>
          <a:p>
            <a:pPr lvl="1">
              <a:lnSpc>
                <a:spcPct val="13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使用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&lt;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源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IP地址，目的IP地址，源端口号，目的端口号&gt; 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四元组标识连接套接字 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服务器使用一个监听套接字和多个连接套接字服务多个客户，每个连接套接字服务一个客户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defRPr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17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6.3  </a:t>
            </a:r>
            <a:r>
              <a:rPr kumimoji="1" lang="zh-CN" altLang="en-US" dirty="0"/>
              <a:t>传输层复用和分用</a:t>
            </a:r>
          </a:p>
        </p:txBody>
      </p:sp>
    </p:spTree>
    <p:extLst>
      <p:ext uri="{BB962C8B-B14F-4D97-AF65-F5344CB8AC3E}">
        <p14:creationId xmlns:p14="http://schemas.microsoft.com/office/powerpoint/2010/main" val="695343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50" y="1510758"/>
            <a:ext cx="5501457" cy="4845592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6.1 </a:t>
            </a:r>
            <a:r>
              <a:rPr kumimoji="1" lang="zh-CN" altLang="en-US" dirty="0"/>
              <a:t>概述和传输层服务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6.2 </a:t>
            </a:r>
            <a:r>
              <a:rPr kumimoji="1" lang="zh-CN" altLang="en-US" dirty="0"/>
              <a:t>传输层复用和分用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6.3 </a:t>
            </a:r>
            <a:r>
              <a:rPr kumimoji="1" lang="zh-CN" altLang="en-US" dirty="0">
                <a:solidFill>
                  <a:srgbClr val="C00000"/>
                </a:solidFill>
              </a:rPr>
              <a:t>无连接传输：</a:t>
            </a:r>
            <a:r>
              <a:rPr kumimoji="1" lang="en-US" altLang="zh-CN" dirty="0">
                <a:solidFill>
                  <a:srgbClr val="C00000"/>
                </a:solidFill>
              </a:rPr>
              <a:t>UDP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6.4 </a:t>
            </a:r>
            <a:r>
              <a:rPr kumimoji="1" lang="zh-CN" altLang="en-US" dirty="0"/>
              <a:t>面向连接的传输：</a:t>
            </a:r>
            <a:r>
              <a:rPr kumimoji="1" lang="en-US" altLang="zh-CN" dirty="0"/>
              <a:t>TCP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6.5 </a:t>
            </a:r>
            <a:r>
              <a:rPr kumimoji="1" lang="zh-CN" altLang="en-US" dirty="0"/>
              <a:t>理解网络拥塞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6.6 TCP拥塞控制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0492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UDP</a:t>
            </a:r>
            <a:r>
              <a:rPr lang="zh-CN" altLang="en-US" dirty="0"/>
              <a:t>提供的服务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845592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网络层提供的服务（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best-effort service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）：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尽最大努力将数据包交付到目的主机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不保证投递的可靠性和顺序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不保证带宽及延迟要求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提供的服务：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进程到进程之间的报文交付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报文完整性检查</a:t>
            </a:r>
            <a:r>
              <a:rPr lang="zh-CN" altLang="en-US" sz="2200" dirty="0">
                <a:solidFill>
                  <a:srgbClr val="1B0EC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（可选）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：检测并丢弃出错的报文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需要实现的功能：</a:t>
            </a:r>
            <a:endParaRPr lang="en-US" altLang="zh-CN" sz="24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复用和分用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报文检错</a:t>
            </a: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defRPr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19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6.4 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0851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UDP</a:t>
            </a:r>
            <a:r>
              <a:rPr lang="zh-CN" altLang="en-US" dirty="0"/>
              <a:t>报文段结构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5578476" cy="484559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报文：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报头：携带协议处理需要的信息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载荷（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payload）：</a:t>
            </a:r>
            <a:r>
              <a:rPr lang="en-US" altLang="zh-CN" sz="2200" dirty="0" err="1">
                <a:latin typeface="等线" panose="02010600030101010101" pitchFamily="2" charset="-122"/>
                <a:ea typeface="等线" panose="02010600030101010101" pitchFamily="2" charset="-122"/>
              </a:rPr>
              <a:t>携带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上层</a:t>
            </a:r>
            <a:r>
              <a:rPr lang="en-US" altLang="zh-CN" sz="2200" dirty="0" err="1">
                <a:latin typeface="等线" panose="02010600030101010101" pitchFamily="2" charset="-122"/>
                <a:ea typeface="等线" panose="02010600030101010101" pitchFamily="2" charset="-122"/>
              </a:rPr>
              <a:t>数据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用于复用和分用的字段：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源端口号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目的端口号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用于检测报文错误的字段：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报文总长度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校验和（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checksum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defRPr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20</a:t>
            </a:fld>
            <a:endParaRPr kumimoji="1" lang="zh-CN" altLang="en-US" dirty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7566025" y="2000250"/>
            <a:ext cx="3324225" cy="32004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7489825" y="2095500"/>
            <a:ext cx="3324225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7551364" y="2117726"/>
            <a:ext cx="1521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DengXian" panose="02010600030101010101" pitchFamily="2" charset="-122"/>
                <a:ea typeface="宋体" panose="02010600030101010101" pitchFamily="2" charset="-122"/>
              </a:rPr>
              <a:t>source port #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9336854" y="2117726"/>
            <a:ext cx="12859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 err="1">
                <a:latin typeface="DengXian" panose="02010600030101010101" pitchFamily="2" charset="-122"/>
                <a:ea typeface="宋体" panose="02010600030101010101" pitchFamily="2" charset="-122"/>
              </a:rPr>
              <a:t>dest</a:t>
            </a:r>
            <a:r>
              <a:rPr lang="en-US" altLang="zh-CN" sz="1800" dirty="0">
                <a:latin typeface="DengXian" panose="02010600030101010101" pitchFamily="2" charset="-122"/>
                <a:ea typeface="宋体" panose="02010600030101010101" pitchFamily="2" charset="-122"/>
              </a:rPr>
              <a:t> port #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 flipV="1">
            <a:off x="7480300" y="2495550"/>
            <a:ext cx="3328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V="1">
            <a:off x="7470775" y="2895600"/>
            <a:ext cx="3324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V="1">
            <a:off x="9128124" y="2095500"/>
            <a:ext cx="0" cy="395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8682562" y="1665288"/>
            <a:ext cx="843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DengXian" panose="02010600030101010101" pitchFamily="2" charset="-122"/>
                <a:ea typeface="宋体" panose="02010600030101010101" pitchFamily="2" charset="-122"/>
              </a:rPr>
              <a:t>32 bits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>
            <a:off x="9585324" y="1862138"/>
            <a:ext cx="1200150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 rot="10800000">
            <a:off x="7475537" y="1871663"/>
            <a:ext cx="11287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8382862" y="3951289"/>
            <a:ext cx="1430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Application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data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(message)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8246360" y="5518150"/>
            <a:ext cx="17540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报文格式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 flipV="1">
            <a:off x="9128124" y="2505075"/>
            <a:ext cx="0" cy="395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7873076" y="2508251"/>
            <a:ext cx="8146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DengXian" panose="02010600030101010101" pitchFamily="2" charset="-122"/>
                <a:ea typeface="宋体" panose="02010600030101010101" pitchFamily="2" charset="-122"/>
              </a:rPr>
              <a:t>length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9402761" y="2498726"/>
            <a:ext cx="1208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DengXian" panose="02010600030101010101" pitchFamily="2" charset="-122"/>
                <a:ea typeface="宋体" panose="02010600030101010101" pitchFamily="2" charset="-122"/>
              </a:rPr>
              <a:t>checksum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6078071" y="2212976"/>
            <a:ext cx="131412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报文长度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字节数）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Line 25"/>
          <p:cNvSpPr>
            <a:spLocks noChangeShapeType="1"/>
          </p:cNvSpPr>
          <p:nvPr/>
        </p:nvSpPr>
        <p:spPr bwMode="auto">
          <a:xfrm>
            <a:off x="7204075" y="2543176"/>
            <a:ext cx="714375" cy="142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6.4 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0510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UDP校验</a:t>
            </a:r>
            <a:r>
              <a:rPr lang="zh-CN" altLang="en-US" dirty="0"/>
              <a:t>和（</a:t>
            </a:r>
            <a:r>
              <a:rPr lang="en-US" altLang="zh-CN" dirty="0"/>
              <a:t>checksum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268267"/>
            <a:ext cx="5150005" cy="395411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buFont typeface="ZapfDingbats" pitchFamily="82" charset="2"/>
              <a:buNone/>
            </a:pP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发送方</a:t>
            </a: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将报文段看成是由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16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比特整数组成的序列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对这些整数序列计算校验和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将校验和放到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报文段的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checksum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字段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defRPr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21</a:t>
            </a:fld>
            <a:endParaRPr kumimoji="1" lang="zh-CN" altLang="en-US" dirty="0"/>
          </a:p>
        </p:txBody>
      </p:sp>
      <p:sp>
        <p:nvSpPr>
          <p:cNvPr id="22" name="内容占位符 2"/>
          <p:cNvSpPr txBox="1">
            <a:spLocks/>
          </p:cNvSpPr>
          <p:nvPr/>
        </p:nvSpPr>
        <p:spPr>
          <a:xfrm>
            <a:off x="6421243" y="2266476"/>
            <a:ext cx="5150005" cy="3955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ZapfDingbats" pitchFamily="82" charset="2"/>
              <a:buNone/>
            </a:pP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接收方</a:t>
            </a: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对收到的报文段进行相同的计算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与报文段中的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checksum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字段进行比较：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不相等：说明报文段有错误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相等：</a:t>
            </a:r>
            <a:r>
              <a:rPr lang="zh-CN" altLang="en-US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认为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报文段没有错误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lvl="1" indent="0">
              <a:buNone/>
            </a:pPr>
            <a:endParaRPr lang="zh-CN" altLang="en-US" dirty="0">
              <a:latin typeface="等线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838200" y="1576881"/>
            <a:ext cx="9229726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校验和字段的作用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: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对传输的报文段进行检错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6.4 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9611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1316483" y="390293"/>
            <a:ext cx="7772400" cy="833671"/>
          </a:xfrm>
        </p:spPr>
        <p:txBody>
          <a:bodyPr/>
          <a:lstStyle/>
          <a:p>
            <a:r>
              <a:rPr lang="en-US" altLang="zh-CN" u="none" dirty="0">
                <a:ea typeface="MS PGothic" panose="020B0600070205080204" pitchFamily="34" charset="-128"/>
              </a:rPr>
              <a:t>校验和计算</a:t>
            </a:r>
            <a:r>
              <a:rPr lang="zh-CN" altLang="en-US" u="none" dirty="0">
                <a:ea typeface="MS PGothic" panose="020B0600070205080204" pitchFamily="34" charset="-128"/>
              </a:rPr>
              <a:t>：举例</a:t>
            </a:r>
            <a:endParaRPr lang="en-US" altLang="zh-CN" u="none" dirty="0">
              <a:ea typeface="MS PGothic" panose="020B0600070205080204" pitchFamily="34" charset="-128"/>
            </a:endParaRP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854" y="1452447"/>
            <a:ext cx="10405945" cy="27432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DengXian" panose="02010600030101010101" pitchFamily="2" charset="-122"/>
                <a:ea typeface="DengXian" panose="02010600030101010101" pitchFamily="2" charset="-122"/>
                <a:cs typeface="Microsoft YaHei" charset="0"/>
              </a:rPr>
              <a:t> </a:t>
            </a:r>
            <a:r>
              <a:rPr lang="en-US" altLang="zh-CN" sz="2800" dirty="0">
                <a:latin typeface="DengXian" panose="02010600030101010101" pitchFamily="2" charset="-122"/>
                <a:ea typeface="DengXian" panose="02010600030101010101" pitchFamily="2" charset="-122"/>
                <a:cs typeface="Microsoft YaHei" charset="0"/>
              </a:rPr>
              <a:t>16 </a:t>
            </a:r>
            <a:r>
              <a:rPr lang="zh-CN" altLang="en-US" sz="2800" dirty="0">
                <a:latin typeface="DengXian" panose="02010600030101010101" pitchFamily="2" charset="-122"/>
                <a:ea typeface="DengXian" panose="02010600030101010101" pitchFamily="2" charset="-122"/>
                <a:cs typeface="Microsoft YaHei" charset="0"/>
              </a:rPr>
              <a:t>位二进制反码求和运算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0727" name="Text Box 4"/>
          <p:cNvSpPr txBox="1">
            <a:spLocks noChangeArrowheads="1"/>
          </p:cNvSpPr>
          <p:nvPr/>
        </p:nvSpPr>
        <p:spPr bwMode="auto">
          <a:xfrm>
            <a:off x="3384550" y="2190750"/>
            <a:ext cx="6400800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  1  1  1  0  0  1  1  0  0  1  1  0  0  1  1  0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  1  1  0  1  0  1  0  1  0  1  0  1  0  1  0  1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latin typeface="DengXian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1  1  0  1  1  1  0  1  1  1  0  1  1  1  0  1  1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latin typeface="DengXian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  1  0  1  1  1  0  1  1  1  0  1  1  1  1  0  0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DengXian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DengXian" panose="02010600030101010101" pitchFamily="2" charset="-122"/>
                <a:ea typeface="宋体" panose="02010600030101010101" pitchFamily="2" charset="-122"/>
              </a:rPr>
              <a:t>  0  1  0  0  0  1  0  0  0  1  0  0  0  0  1  1</a:t>
            </a:r>
            <a:endParaRPr lang="en-US" altLang="zh-CN" sz="24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28" name="Line 5"/>
          <p:cNvSpPr>
            <a:spLocks noChangeShapeType="1"/>
          </p:cNvSpPr>
          <p:nvPr/>
        </p:nvSpPr>
        <p:spPr bwMode="auto">
          <a:xfrm flipH="1">
            <a:off x="3308350" y="3017838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9" name="Oval 6"/>
          <p:cNvSpPr>
            <a:spLocks noChangeArrowheads="1"/>
          </p:cNvSpPr>
          <p:nvPr/>
        </p:nvSpPr>
        <p:spPr bwMode="auto">
          <a:xfrm>
            <a:off x="3384550" y="3194050"/>
            <a:ext cx="3048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 type="none" w="sm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600" dirty="0">
              <a:latin typeface="DengXian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30" name="Text Box 7"/>
          <p:cNvSpPr txBox="1">
            <a:spLocks noChangeArrowheads="1"/>
          </p:cNvSpPr>
          <p:nvPr/>
        </p:nvSpPr>
        <p:spPr bwMode="auto">
          <a:xfrm>
            <a:off x="2322156" y="3234844"/>
            <a:ext cx="6976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+mn-ea"/>
              </a:rPr>
              <a:t>环绕</a:t>
            </a:r>
            <a:endParaRPr lang="en-US" altLang="zh-CN" sz="2000" dirty="0">
              <a:latin typeface="+mn-ea"/>
            </a:endParaRPr>
          </a:p>
        </p:txBody>
      </p:sp>
      <p:sp>
        <p:nvSpPr>
          <p:cNvPr id="30731" name="Text Box 8"/>
          <p:cNvSpPr txBox="1">
            <a:spLocks noChangeArrowheads="1"/>
          </p:cNvSpPr>
          <p:nvPr/>
        </p:nvSpPr>
        <p:spPr bwMode="auto">
          <a:xfrm>
            <a:off x="2322156" y="3771418"/>
            <a:ext cx="6976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+mn-ea"/>
              </a:rPr>
              <a:t>求和</a:t>
            </a:r>
            <a:endParaRPr lang="en-US" altLang="zh-CN" sz="2000" dirty="0">
              <a:latin typeface="+mn-ea"/>
            </a:endParaRPr>
          </a:p>
        </p:txBody>
      </p:sp>
      <p:sp>
        <p:nvSpPr>
          <p:cNvPr id="30732" name="Text Box 9"/>
          <p:cNvSpPr txBox="1">
            <a:spLocks noChangeArrowheads="1"/>
          </p:cNvSpPr>
          <p:nvPr/>
        </p:nvSpPr>
        <p:spPr bwMode="auto">
          <a:xfrm>
            <a:off x="2011363" y="4110039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+mn-ea"/>
              </a:rPr>
              <a:t>校验和</a:t>
            </a:r>
            <a:endParaRPr lang="en-US" altLang="zh-CN" sz="2000" dirty="0">
              <a:latin typeface="+mn-ea"/>
            </a:endParaRPr>
          </a:p>
        </p:txBody>
      </p:sp>
      <p:sp>
        <p:nvSpPr>
          <p:cNvPr id="30733" name="Line 10"/>
          <p:cNvSpPr>
            <a:spLocks noChangeShapeType="1"/>
          </p:cNvSpPr>
          <p:nvPr/>
        </p:nvSpPr>
        <p:spPr bwMode="auto">
          <a:xfrm flipH="1">
            <a:off x="3308350" y="3736975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4" name="Freeform 11"/>
          <p:cNvSpPr>
            <a:spLocks/>
          </p:cNvSpPr>
          <p:nvPr/>
        </p:nvSpPr>
        <p:spPr bwMode="auto">
          <a:xfrm>
            <a:off x="3546475" y="3500439"/>
            <a:ext cx="6013450" cy="92075"/>
          </a:xfrm>
          <a:custGeom>
            <a:avLst/>
            <a:gdLst>
              <a:gd name="T0" fmla="*/ 0 w 3788"/>
              <a:gd name="T1" fmla="*/ 0 h 58"/>
              <a:gd name="T2" fmla="*/ 0 w 3788"/>
              <a:gd name="T3" fmla="*/ 2147483646 h 58"/>
              <a:gd name="T4" fmla="*/ 2147483646 w 3788"/>
              <a:gd name="T5" fmla="*/ 2147483646 h 58"/>
              <a:gd name="T6" fmla="*/ 0 60000 65536"/>
              <a:gd name="T7" fmla="*/ 0 60000 65536"/>
              <a:gd name="T8" fmla="*/ 0 60000 65536"/>
              <a:gd name="T9" fmla="*/ 0 w 3788"/>
              <a:gd name="T10" fmla="*/ 0 h 58"/>
              <a:gd name="T11" fmla="*/ 3788 w 3788"/>
              <a:gd name="T12" fmla="*/ 58 h 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none" w="sm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6.4 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  <a:endParaRPr kumimoji="1" lang="zh-CN" altLang="en-US" dirty="0"/>
          </a:p>
        </p:txBody>
      </p:sp>
      <p:sp>
        <p:nvSpPr>
          <p:cNvPr id="15" name="灯片编号占位符 3">
            <a:extLst>
              <a:ext uri="{FF2B5EF4-FFF2-40B4-BE49-F238E27FC236}">
                <a16:creationId xmlns:a16="http://schemas.microsoft.com/office/drawing/2014/main" id="{1CB348E8-DB44-3147-8D36-BA41F81E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22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7616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UDP校验</a:t>
            </a:r>
            <a:r>
              <a:rPr lang="zh-CN" altLang="en-US" dirty="0"/>
              <a:t>和计算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1893" y="1516828"/>
            <a:ext cx="4558596" cy="4604273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计算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校验和时，要包括</a:t>
            </a:r>
            <a:r>
              <a:rPr lang="zh-CN" altLang="en-US" sz="20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伪头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20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0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头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zh-CN" altLang="en-US" sz="20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三个部分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伪头是一个</a:t>
            </a:r>
            <a:r>
              <a:rPr lang="zh-CN" altLang="en-US" sz="20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虚拟数据结构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取自</a:t>
            </a:r>
            <a:r>
              <a:rPr lang="en-US" altLang="zh-CN" sz="20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IP</a:t>
            </a:r>
            <a:r>
              <a:rPr lang="zh-CN" altLang="en-US" sz="20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报头，并非</a:t>
            </a:r>
            <a:r>
              <a:rPr lang="en-US" altLang="zh-CN" sz="20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0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报文的实际有效成分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，包括：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源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IP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地址，目的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IP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地址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的协议号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报文段总长度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计算校验和时包含伪头信息，是为了避免由于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IP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地址错误等造成的误投递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0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校验和的使用是可选的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，若不计算校验和，该字段填入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endParaRPr lang="zh-CN" alt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  <a:defRPr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23</a:t>
            </a:fld>
            <a:endParaRPr kumimoji="1" lang="zh-CN" altLang="en-US" dirty="0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995" y="1665149"/>
            <a:ext cx="6334577" cy="3832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6.4 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9893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1286417" y="386499"/>
            <a:ext cx="7772400" cy="841375"/>
          </a:xfrm>
        </p:spPr>
        <p:txBody>
          <a:bodyPr/>
          <a:lstStyle/>
          <a:p>
            <a:r>
              <a:rPr lang="en-US" altLang="zh-CN" dirty="0"/>
              <a:t>UDP</a:t>
            </a:r>
            <a:r>
              <a:rPr lang="zh-CN" altLang="en-US" dirty="0"/>
              <a:t>校验和计算举例</a:t>
            </a: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908667" y="1383575"/>
            <a:ext cx="10359071" cy="131720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发送方计算校验和时，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checksum字段填0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接收方对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报文（包括校验和）及伪头求和，若结果为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0xFFFF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，认为没有错误</a:t>
            </a:r>
          </a:p>
        </p:txBody>
      </p:sp>
      <p:pic>
        <p:nvPicPr>
          <p:cNvPr id="3379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427" y="2769814"/>
            <a:ext cx="77724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6.4 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  <a:endParaRPr kumimoji="1" lang="zh-CN" altLang="en-US" dirty="0"/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C228936F-8C8D-E344-AE76-5C570AD2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24</a:t>
            </a:fld>
            <a:endParaRPr kumimoji="1"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B02975-0B32-8046-BD7F-F66451F423A3}"/>
              </a:ext>
            </a:extLst>
          </p:cNvPr>
          <p:cNvSpPr/>
          <p:nvPr/>
        </p:nvSpPr>
        <p:spPr>
          <a:xfrm>
            <a:off x="5935579" y="4531895"/>
            <a:ext cx="3761874" cy="2165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33712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为什么需要</a:t>
            </a:r>
            <a:r>
              <a:rPr lang="en-US" altLang="zh-CN" dirty="0"/>
              <a:t>UDP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83473"/>
            <a:ext cx="5150005" cy="4638907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buFont typeface="ZapfDingbats" pitchFamily="82" charset="2"/>
              <a:buNone/>
            </a:pP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为什么需要</a:t>
            </a: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？</a:t>
            </a:r>
            <a:endParaRPr lang="en-US" altLang="zh-CN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应用可以尽可能快地发送报文：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无建立连接的延迟</a:t>
            </a: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不限制发送速率（不进行拥塞控制和流量控制）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报头开销小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协议处理简单</a:t>
            </a:r>
          </a:p>
          <a:p>
            <a:pPr>
              <a:lnSpc>
                <a:spcPct val="130000"/>
              </a:lnSpc>
              <a:defRPr/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25</a:t>
            </a:fld>
            <a:endParaRPr kumimoji="1" lang="zh-CN" altLang="en-US" dirty="0"/>
          </a:p>
        </p:txBody>
      </p:sp>
      <p:sp>
        <p:nvSpPr>
          <p:cNvPr id="22" name="内容占位符 2"/>
          <p:cNvSpPr txBox="1">
            <a:spLocks/>
          </p:cNvSpPr>
          <p:nvPr/>
        </p:nvSpPr>
        <p:spPr>
          <a:xfrm>
            <a:off x="6421243" y="1583473"/>
            <a:ext cx="5150005" cy="4638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ZapfDingbats" pitchFamily="82" charset="2"/>
              <a:buNone/>
            </a:pP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适合哪些应用？</a:t>
            </a:r>
            <a:endParaRPr lang="en-US" altLang="zh-CN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2400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容忍丢包</a:t>
            </a:r>
            <a:r>
              <a:rPr lang="zh-CN" altLang="en-US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但对</a:t>
            </a:r>
            <a:r>
              <a:rPr lang="en-US" altLang="zh-CN" sz="2400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延迟敏感</a:t>
            </a:r>
            <a:r>
              <a:rPr lang="zh-CN" altLang="en-US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的应用：</a:t>
            </a:r>
            <a:endParaRPr lang="en-US" altLang="zh-CN" sz="24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sz="2200" kern="0" dirty="0">
                <a:latin typeface="等线" panose="02010600030101010101" pitchFamily="2" charset="-122"/>
                <a:ea typeface="等线" panose="02010600030101010101" pitchFamily="2" charset="-122"/>
              </a:rPr>
              <a:t>如流媒体</a:t>
            </a:r>
            <a:endParaRPr lang="en-US" altLang="zh-CN" sz="22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以单次请求</a:t>
            </a:r>
            <a:r>
              <a:rPr lang="en-US" altLang="zh-CN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响应为主的应用：</a:t>
            </a:r>
            <a:endParaRPr lang="en-US" altLang="zh-CN" sz="24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sz="2200" kern="0" dirty="0">
                <a:latin typeface="等线" panose="02010600030101010101" pitchFamily="2" charset="-122"/>
                <a:ea typeface="等线" panose="02010600030101010101" pitchFamily="2" charset="-122"/>
              </a:rPr>
              <a:t>如</a:t>
            </a:r>
            <a:r>
              <a:rPr lang="en-US" altLang="zh-CN" sz="2200" kern="0" dirty="0">
                <a:latin typeface="等线" panose="02010600030101010101" pitchFamily="2" charset="-122"/>
                <a:ea typeface="等线" panose="02010600030101010101" pitchFamily="2" charset="-122"/>
              </a:rPr>
              <a:t>DNS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若应用要求基于</a:t>
            </a:r>
            <a:r>
              <a:rPr lang="en-US" altLang="zh-CN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进行</a:t>
            </a:r>
            <a:r>
              <a:rPr lang="en-US" altLang="zh-CN" sz="2400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可靠传输</a:t>
            </a:r>
            <a:r>
              <a:rPr lang="zh-CN" altLang="en-US" sz="2400" kern="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sz="2200" kern="0" dirty="0">
                <a:latin typeface="等线" panose="02010600030101010101" pitchFamily="2" charset="-122"/>
                <a:ea typeface="等线" panose="02010600030101010101" pitchFamily="2" charset="-122"/>
              </a:rPr>
              <a:t>由</a:t>
            </a:r>
            <a:r>
              <a:rPr lang="en-US" altLang="zh-CN" sz="2200" kern="0" dirty="0" err="1">
                <a:latin typeface="等线" panose="02010600030101010101" pitchFamily="2" charset="-122"/>
                <a:ea typeface="等线" panose="02010600030101010101" pitchFamily="2" charset="-122"/>
              </a:rPr>
              <a:t>应用层实现可靠性</a:t>
            </a:r>
            <a:endParaRPr lang="en-US" altLang="zh-CN" sz="22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lvl="1" indent="0">
              <a:buNone/>
            </a:pPr>
            <a:endParaRPr lang="zh-CN" altLang="en-US" dirty="0">
              <a:latin typeface="等线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6.4 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1187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50" y="1510758"/>
            <a:ext cx="5501457" cy="484559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6.1 </a:t>
            </a:r>
            <a:r>
              <a:rPr kumimoji="1" lang="zh-CN" altLang="en-US" dirty="0"/>
              <a:t>概述和传输层服务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6.2 </a:t>
            </a:r>
            <a:r>
              <a:rPr kumimoji="1" lang="zh-CN" altLang="en-US" dirty="0"/>
              <a:t>套接字编程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6.3 </a:t>
            </a:r>
            <a:r>
              <a:rPr kumimoji="1" lang="zh-CN" altLang="en-US" dirty="0"/>
              <a:t>传输层复用和分用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6.4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6.5 </a:t>
            </a:r>
            <a:r>
              <a:rPr kumimoji="1" lang="zh-CN" altLang="en-US" dirty="0">
                <a:solidFill>
                  <a:srgbClr val="C00000"/>
                </a:solidFill>
              </a:rPr>
              <a:t>面向连接的传输：</a:t>
            </a:r>
            <a:r>
              <a:rPr kumimoji="1" lang="en-US" altLang="zh-CN" dirty="0">
                <a:solidFill>
                  <a:srgbClr val="C00000"/>
                </a:solidFill>
              </a:rPr>
              <a:t>TCP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6.6 </a:t>
            </a:r>
            <a:r>
              <a:rPr kumimoji="1" lang="zh-CN" altLang="en-US" dirty="0"/>
              <a:t>理解网络拥塞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6.7 TCP拥塞控制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chemeClr val="accent3"/>
                </a:solidFill>
              </a:rPr>
              <a:t>6.8 </a:t>
            </a:r>
            <a:r>
              <a:rPr kumimoji="1" lang="zh-CN" altLang="en-US" dirty="0">
                <a:solidFill>
                  <a:schemeClr val="accent3"/>
                </a:solidFill>
              </a:rPr>
              <a:t>拥塞控制的发展</a:t>
            </a:r>
            <a:endParaRPr kumimoji="1" lang="en-US" altLang="zh-CN" dirty="0">
              <a:solidFill>
                <a:schemeClr val="accent3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chemeClr val="accent3"/>
                </a:solidFill>
              </a:rPr>
              <a:t>6.9 </a:t>
            </a:r>
            <a:r>
              <a:rPr kumimoji="1" lang="en-US" altLang="zh-CN" dirty="0" err="1">
                <a:solidFill>
                  <a:schemeClr val="accent3"/>
                </a:solidFill>
              </a:rPr>
              <a:t>传输层协议的发展</a:t>
            </a:r>
            <a:endParaRPr kumimoji="1" lang="en-US" altLang="zh-CN" dirty="0">
              <a:solidFill>
                <a:schemeClr val="accent3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26</a:t>
            </a:fld>
            <a:endParaRPr kumimoji="1" lang="zh-CN" altLang="en-US" dirty="0"/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5675076" y="2348650"/>
            <a:ext cx="3583394" cy="2885677"/>
          </a:xfrm>
          <a:prstGeom prst="wedgeRectCallout">
            <a:avLst>
              <a:gd name="adj1" fmla="val -82577"/>
              <a:gd name="adj2" fmla="val -8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概述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报文段结构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可靠数据传输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流量控制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连接管理</a:t>
            </a: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6637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TCP </a:t>
            </a:r>
            <a:r>
              <a:rPr lang="zh-CN" altLang="en-US" dirty="0">
                <a:sym typeface="+mn-ea"/>
              </a:rPr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3091" y="1506855"/>
            <a:ext cx="5395114" cy="4953000"/>
          </a:xfrm>
        </p:spPr>
        <p:txBody>
          <a:bodyPr>
            <a:normAutofit/>
          </a:bodyPr>
          <a:lstStyle/>
          <a:p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服务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模型</a:t>
            </a:r>
            <a:r>
              <a:rPr lang="zh-CN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在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一对通信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的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进程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之间提供一条理想的</a:t>
            </a: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字节流管道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点到点通信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 lvl="1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仅涉及一对通信进程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  <a:p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全双工：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可以同时双向传输数据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可靠、有序的字节流：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不保留报文边界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27</a:t>
            </a:fld>
            <a:endParaRPr kumimoji="1"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568068" y="1364323"/>
            <a:ext cx="5218771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需要的机制</a:t>
            </a:r>
            <a:endParaRPr lang="en-US" altLang="zh-CN" sz="24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建立连接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: </a:t>
            </a:r>
          </a:p>
          <a:p>
            <a:pPr lvl="1">
              <a:defRPr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通信双方为本次通信建立数据传输所需的状态（套接字、缓存、变量等）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可靠数据传输：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defRPr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流水线式发送，报文段检错，丢失重传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defRPr/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流量控制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 lvl="1">
              <a:defRPr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发送方不会令接收方缓存溢出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715025"/>
              </p:ext>
            </p:extLst>
          </p:nvPr>
        </p:nvGraphicFramePr>
        <p:xfrm>
          <a:off x="2421457" y="4877241"/>
          <a:ext cx="7929562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602760" imgH="1123200" progId="Visio.Drawing.5">
                  <p:embed/>
                </p:oleObj>
              </mc:Choice>
              <mc:Fallback>
                <p:oleObj name="VISIO" r:id="rId3" imgW="6602760" imgH="1123200" progId="Visio.Drawing.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1457" y="4877241"/>
                        <a:ext cx="7929562" cy="1347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6.5.1  </a:t>
            </a:r>
            <a:r>
              <a:rPr kumimoji="1" lang="zh-CN" altLang="en-US" dirty="0"/>
              <a:t>面向连接的传输：</a:t>
            </a:r>
            <a:r>
              <a:rPr kumimoji="1" lang="en-US" altLang="zh-CN" dirty="0"/>
              <a:t>TCP</a:t>
            </a:r>
            <a:r>
              <a:rPr kumimoji="1" lang="zh-CN" altLang="en-US" dirty="0"/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541319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50" y="1510758"/>
            <a:ext cx="5501457" cy="484559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6.1 </a:t>
            </a:r>
            <a:r>
              <a:rPr kumimoji="1" lang="zh-CN" altLang="en-US" dirty="0"/>
              <a:t>概述和传输层服务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6.2 </a:t>
            </a:r>
            <a:r>
              <a:rPr kumimoji="1" lang="zh-CN" altLang="en-US" dirty="0"/>
              <a:t>套接字编程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6.3 </a:t>
            </a:r>
            <a:r>
              <a:rPr kumimoji="1" lang="zh-CN" altLang="en-US" dirty="0"/>
              <a:t>传输层复用和分用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6.4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6.5 </a:t>
            </a:r>
            <a:r>
              <a:rPr kumimoji="1" lang="zh-CN" altLang="en-US" dirty="0">
                <a:solidFill>
                  <a:srgbClr val="C00000"/>
                </a:solidFill>
              </a:rPr>
              <a:t>面向连接的传输：</a:t>
            </a:r>
            <a:r>
              <a:rPr kumimoji="1" lang="en-US" altLang="zh-CN" dirty="0">
                <a:solidFill>
                  <a:srgbClr val="C00000"/>
                </a:solidFill>
              </a:rPr>
              <a:t>TCP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6.6 </a:t>
            </a:r>
            <a:r>
              <a:rPr kumimoji="1" lang="zh-CN" altLang="en-US" dirty="0"/>
              <a:t>理解网络拥塞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6.7 TCP拥塞控制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chemeClr val="accent3"/>
                </a:solidFill>
              </a:rPr>
              <a:t>6.8 </a:t>
            </a:r>
            <a:r>
              <a:rPr kumimoji="1" lang="zh-CN" altLang="en-US" dirty="0">
                <a:solidFill>
                  <a:schemeClr val="accent3"/>
                </a:solidFill>
              </a:rPr>
              <a:t>拥塞控制的发展</a:t>
            </a:r>
            <a:endParaRPr kumimoji="1" lang="en-US" altLang="zh-CN" dirty="0">
              <a:solidFill>
                <a:schemeClr val="accent3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chemeClr val="accent3"/>
                </a:solidFill>
              </a:rPr>
              <a:t>6.9 </a:t>
            </a:r>
            <a:r>
              <a:rPr kumimoji="1" lang="en-US" altLang="zh-CN" dirty="0" err="1">
                <a:solidFill>
                  <a:schemeClr val="accent3"/>
                </a:solidFill>
              </a:rPr>
              <a:t>传输层协议的发展</a:t>
            </a:r>
            <a:endParaRPr kumimoji="1" lang="en-US" altLang="zh-CN" dirty="0">
              <a:solidFill>
                <a:schemeClr val="accent3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28</a:t>
            </a:fld>
            <a:endParaRPr kumimoji="1" lang="zh-CN" altLang="en-US" dirty="0"/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5672461" y="2357442"/>
            <a:ext cx="3583394" cy="2885677"/>
          </a:xfrm>
          <a:prstGeom prst="wedgeRectCallout">
            <a:avLst>
              <a:gd name="adj1" fmla="val -82577"/>
              <a:gd name="adj2" fmla="val -8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概述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报文段结构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可靠数据传输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流量控制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连接管理</a:t>
            </a: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43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报文段结构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29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923935" cy="365125"/>
          </a:xfrm>
        </p:spPr>
        <p:txBody>
          <a:bodyPr/>
          <a:lstStyle/>
          <a:p>
            <a:r>
              <a:rPr kumimoji="1" lang="en-US" altLang="zh-CN" dirty="0"/>
              <a:t>6.3.2  </a:t>
            </a:r>
            <a:r>
              <a:rPr kumimoji="1" lang="zh-CN" altLang="en-US" dirty="0"/>
              <a:t>面向连接的传输：</a:t>
            </a:r>
            <a:r>
              <a:rPr kumimoji="1" lang="en-US" altLang="zh-CN" dirty="0"/>
              <a:t>TCP</a:t>
            </a:r>
            <a:r>
              <a:rPr kumimoji="1" lang="zh-CN" altLang="en-US" dirty="0"/>
              <a:t>报文段结构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1163771" y="1382592"/>
            <a:ext cx="8900878" cy="5089525"/>
            <a:chOff x="1434413" y="1103314"/>
            <a:chExt cx="9026066" cy="5330825"/>
          </a:xfrm>
        </p:grpSpPr>
        <p:grpSp>
          <p:nvGrpSpPr>
            <p:cNvPr id="62" name="Group 3"/>
            <p:cNvGrpSpPr>
              <a:grpSpLocks/>
            </p:cNvGrpSpPr>
            <p:nvPr/>
          </p:nvGrpSpPr>
          <p:grpSpPr bwMode="auto">
            <a:xfrm>
              <a:off x="4284663" y="1103314"/>
              <a:ext cx="4087813" cy="5330825"/>
              <a:chOff x="2819" y="659"/>
              <a:chExt cx="2575" cy="3358"/>
            </a:xfrm>
          </p:grpSpPr>
          <p:sp>
            <p:nvSpPr>
              <p:cNvPr id="78" name="Rectangle 4"/>
              <p:cNvSpPr>
                <a:spLocks noChangeArrowheads="1"/>
              </p:cNvSpPr>
              <p:nvPr/>
            </p:nvSpPr>
            <p:spPr bwMode="auto">
              <a:xfrm>
                <a:off x="2905" y="917"/>
                <a:ext cx="2489" cy="303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Rectangle 5"/>
              <p:cNvSpPr>
                <a:spLocks noChangeArrowheads="1"/>
              </p:cNvSpPr>
              <p:nvPr/>
            </p:nvSpPr>
            <p:spPr bwMode="auto">
              <a:xfrm>
                <a:off x="2851" y="990"/>
                <a:ext cx="2489" cy="302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" name="Text Box 6"/>
              <p:cNvSpPr txBox="1">
                <a:spLocks noChangeArrowheads="1"/>
              </p:cNvSpPr>
              <p:nvPr/>
            </p:nvSpPr>
            <p:spPr bwMode="auto">
              <a:xfrm>
                <a:off x="2933" y="968"/>
                <a:ext cx="1066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source port #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" name="Text Box 7"/>
              <p:cNvSpPr txBox="1">
                <a:spLocks noChangeArrowheads="1"/>
              </p:cNvSpPr>
              <p:nvPr/>
            </p:nvSpPr>
            <p:spPr bwMode="auto">
              <a:xfrm>
                <a:off x="4250" y="971"/>
                <a:ext cx="899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 err="1">
                    <a:latin typeface="DengXian" panose="02010600030101010101" pitchFamily="2" charset="-122"/>
                    <a:ea typeface="宋体" panose="02010600030101010101" pitchFamily="2" charset="-122"/>
                  </a:rPr>
                  <a:t>dest</a:t>
                </a:r>
                <a:r>
                  <a:rPr lang="en-US" altLang="zh-CN" sz="2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 port #</a:t>
                </a:r>
                <a:endPara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" name="Line 8"/>
              <p:cNvSpPr>
                <a:spLocks noChangeShapeType="1"/>
              </p:cNvSpPr>
              <p:nvPr/>
            </p:nvSpPr>
            <p:spPr bwMode="auto">
              <a:xfrm>
                <a:off x="2853" y="1226"/>
                <a:ext cx="2486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Line 9"/>
              <p:cNvSpPr>
                <a:spLocks noChangeShapeType="1"/>
              </p:cNvSpPr>
              <p:nvPr/>
            </p:nvSpPr>
            <p:spPr bwMode="auto">
              <a:xfrm flipV="1">
                <a:off x="2849" y="1465"/>
                <a:ext cx="24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Line 10"/>
              <p:cNvSpPr>
                <a:spLocks noChangeShapeType="1"/>
              </p:cNvSpPr>
              <p:nvPr/>
            </p:nvSpPr>
            <p:spPr bwMode="auto">
              <a:xfrm flipV="1">
                <a:off x="4075" y="990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Text Box 11"/>
              <p:cNvSpPr txBox="1">
                <a:spLocks noChangeArrowheads="1"/>
              </p:cNvSpPr>
              <p:nvPr/>
            </p:nvSpPr>
            <p:spPr bwMode="auto">
              <a:xfrm>
                <a:off x="3788" y="659"/>
                <a:ext cx="539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32 bits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" name="Line 12"/>
              <p:cNvSpPr>
                <a:spLocks noChangeShapeType="1"/>
              </p:cNvSpPr>
              <p:nvPr/>
            </p:nvSpPr>
            <p:spPr bwMode="auto">
              <a:xfrm>
                <a:off x="4417" y="811"/>
                <a:ext cx="899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Line 13"/>
              <p:cNvSpPr>
                <a:spLocks noChangeShapeType="1"/>
              </p:cNvSpPr>
              <p:nvPr/>
            </p:nvSpPr>
            <p:spPr bwMode="auto">
              <a:xfrm rot="10800000">
                <a:off x="2837" y="818"/>
                <a:ext cx="8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Text Box 14"/>
              <p:cNvSpPr txBox="1">
                <a:spLocks noChangeArrowheads="1"/>
              </p:cNvSpPr>
              <p:nvPr/>
            </p:nvSpPr>
            <p:spPr bwMode="auto">
              <a:xfrm>
                <a:off x="3518" y="2845"/>
                <a:ext cx="1255" cy="6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application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data 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(variable length)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" name="Text Box 15"/>
              <p:cNvSpPr txBox="1">
                <a:spLocks noChangeArrowheads="1"/>
              </p:cNvSpPr>
              <p:nvPr/>
            </p:nvSpPr>
            <p:spPr bwMode="auto">
              <a:xfrm>
                <a:off x="3250" y="1213"/>
                <a:ext cx="1566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sequence number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" name="Line 16"/>
              <p:cNvSpPr>
                <a:spLocks noChangeShapeType="1"/>
              </p:cNvSpPr>
              <p:nvPr/>
            </p:nvSpPr>
            <p:spPr bwMode="auto">
              <a:xfrm flipV="1">
                <a:off x="2855" y="1705"/>
                <a:ext cx="24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Text Box 17"/>
              <p:cNvSpPr txBox="1">
                <a:spLocks noChangeArrowheads="1"/>
              </p:cNvSpPr>
              <p:nvPr/>
            </p:nvSpPr>
            <p:spPr bwMode="auto">
              <a:xfrm>
                <a:off x="2998" y="1465"/>
                <a:ext cx="214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acknowledgement number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Line 18"/>
              <p:cNvSpPr>
                <a:spLocks noChangeShapeType="1"/>
              </p:cNvSpPr>
              <p:nvPr/>
            </p:nvSpPr>
            <p:spPr bwMode="auto">
              <a:xfrm flipV="1">
                <a:off x="2852" y="1954"/>
                <a:ext cx="24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Line 19"/>
              <p:cNvSpPr>
                <a:spLocks noChangeShapeType="1"/>
              </p:cNvSpPr>
              <p:nvPr/>
            </p:nvSpPr>
            <p:spPr bwMode="auto">
              <a:xfrm flipV="1">
                <a:off x="2849" y="2200"/>
                <a:ext cx="24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20"/>
              <p:cNvSpPr>
                <a:spLocks noChangeShapeType="1"/>
              </p:cNvSpPr>
              <p:nvPr/>
            </p:nvSpPr>
            <p:spPr bwMode="auto">
              <a:xfrm flipV="1">
                <a:off x="2849" y="2554"/>
                <a:ext cx="24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21"/>
              <p:cNvSpPr>
                <a:spLocks noChangeShapeType="1"/>
              </p:cNvSpPr>
              <p:nvPr/>
            </p:nvSpPr>
            <p:spPr bwMode="auto">
              <a:xfrm flipH="1" flipV="1">
                <a:off x="4084" y="1707"/>
                <a:ext cx="3" cy="4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Text Box 22"/>
              <p:cNvSpPr txBox="1">
                <a:spLocks noChangeArrowheads="1"/>
              </p:cNvSpPr>
              <p:nvPr/>
            </p:nvSpPr>
            <p:spPr bwMode="auto">
              <a:xfrm>
                <a:off x="4134" y="1712"/>
                <a:ext cx="1129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Receive window</a:t>
                </a:r>
                <a:endPara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Text Box 23"/>
              <p:cNvSpPr txBox="1">
                <a:spLocks noChangeArrowheads="1"/>
              </p:cNvSpPr>
              <p:nvPr/>
            </p:nvSpPr>
            <p:spPr bwMode="auto">
              <a:xfrm>
                <a:off x="4214" y="1961"/>
                <a:ext cx="1050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 err="1">
                    <a:latin typeface="DengXian" panose="02010600030101010101" pitchFamily="2" charset="-122"/>
                    <a:ea typeface="宋体" panose="02010600030101010101" pitchFamily="2" charset="-122"/>
                  </a:rPr>
                  <a:t>Urg</a:t>
                </a:r>
                <a:r>
                  <a:rPr lang="en-US" altLang="zh-CN" sz="18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 data </a:t>
                </a:r>
                <a:r>
                  <a:rPr lang="en-US" altLang="zh-CN" sz="1800" dirty="0" err="1">
                    <a:latin typeface="DengXian" panose="02010600030101010101" pitchFamily="2" charset="-122"/>
                    <a:ea typeface="宋体" panose="02010600030101010101" pitchFamily="2" charset="-122"/>
                  </a:rPr>
                  <a:t>pnter</a:t>
                </a:r>
                <a:endPara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" name="Text Box 24"/>
              <p:cNvSpPr txBox="1">
                <a:spLocks noChangeArrowheads="1"/>
              </p:cNvSpPr>
              <p:nvPr/>
            </p:nvSpPr>
            <p:spPr bwMode="auto">
              <a:xfrm>
                <a:off x="3093" y="1949"/>
                <a:ext cx="743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checksum</a:t>
                </a:r>
                <a:endPara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" name="Text Box 25"/>
              <p:cNvSpPr txBox="1">
                <a:spLocks noChangeArrowheads="1"/>
              </p:cNvSpPr>
              <p:nvPr/>
            </p:nvSpPr>
            <p:spPr bwMode="auto">
              <a:xfrm>
                <a:off x="3942" y="1730"/>
                <a:ext cx="18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F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0" name="Line 26"/>
              <p:cNvSpPr>
                <a:spLocks noChangeShapeType="1"/>
              </p:cNvSpPr>
              <p:nvPr/>
            </p:nvSpPr>
            <p:spPr bwMode="auto">
              <a:xfrm flipV="1">
                <a:off x="3985" y="1701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1" name="Line 27"/>
              <p:cNvSpPr>
                <a:spLocks noChangeShapeType="1"/>
              </p:cNvSpPr>
              <p:nvPr/>
            </p:nvSpPr>
            <p:spPr bwMode="auto">
              <a:xfrm flipV="1">
                <a:off x="3883" y="1704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Line 28"/>
              <p:cNvSpPr>
                <a:spLocks noChangeShapeType="1"/>
              </p:cNvSpPr>
              <p:nvPr/>
            </p:nvSpPr>
            <p:spPr bwMode="auto">
              <a:xfrm flipV="1">
                <a:off x="3778" y="1704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Line 29"/>
              <p:cNvSpPr>
                <a:spLocks noChangeShapeType="1"/>
              </p:cNvSpPr>
              <p:nvPr/>
            </p:nvSpPr>
            <p:spPr bwMode="auto">
              <a:xfrm flipV="1">
                <a:off x="3676" y="1707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Line 30"/>
              <p:cNvSpPr>
                <a:spLocks noChangeShapeType="1"/>
              </p:cNvSpPr>
              <p:nvPr/>
            </p:nvSpPr>
            <p:spPr bwMode="auto">
              <a:xfrm flipV="1">
                <a:off x="3577" y="1704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Line 31"/>
              <p:cNvSpPr>
                <a:spLocks noChangeShapeType="1"/>
              </p:cNvSpPr>
              <p:nvPr/>
            </p:nvSpPr>
            <p:spPr bwMode="auto">
              <a:xfrm flipV="1">
                <a:off x="3469" y="1710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Text Box 32"/>
              <p:cNvSpPr txBox="1">
                <a:spLocks noChangeArrowheads="1"/>
              </p:cNvSpPr>
              <p:nvPr/>
            </p:nvSpPr>
            <p:spPr bwMode="auto">
              <a:xfrm>
                <a:off x="3838" y="1727"/>
                <a:ext cx="186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S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Text Box 33"/>
              <p:cNvSpPr txBox="1">
                <a:spLocks noChangeArrowheads="1"/>
              </p:cNvSpPr>
              <p:nvPr/>
            </p:nvSpPr>
            <p:spPr bwMode="auto">
              <a:xfrm>
                <a:off x="3728" y="1727"/>
                <a:ext cx="19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R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Text Box 34"/>
              <p:cNvSpPr txBox="1">
                <a:spLocks noChangeArrowheads="1"/>
              </p:cNvSpPr>
              <p:nvPr/>
            </p:nvSpPr>
            <p:spPr bwMode="auto">
              <a:xfrm>
                <a:off x="3624" y="1724"/>
                <a:ext cx="191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P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" name="Text Box 35"/>
              <p:cNvSpPr txBox="1">
                <a:spLocks noChangeArrowheads="1"/>
              </p:cNvSpPr>
              <p:nvPr/>
            </p:nvSpPr>
            <p:spPr bwMode="auto">
              <a:xfrm>
                <a:off x="3524" y="1724"/>
                <a:ext cx="201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" name="Text Box 36"/>
              <p:cNvSpPr txBox="1">
                <a:spLocks noChangeArrowheads="1"/>
              </p:cNvSpPr>
              <p:nvPr/>
            </p:nvSpPr>
            <p:spPr bwMode="auto">
              <a:xfrm>
                <a:off x="3420" y="1724"/>
                <a:ext cx="205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U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" name="Text Box 37"/>
              <p:cNvSpPr txBox="1">
                <a:spLocks noChangeArrowheads="1"/>
              </p:cNvSpPr>
              <p:nvPr/>
            </p:nvSpPr>
            <p:spPr bwMode="auto">
              <a:xfrm>
                <a:off x="2819" y="1665"/>
                <a:ext cx="364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head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 err="1">
                    <a:latin typeface="DengXian" panose="02010600030101010101" pitchFamily="2" charset="-122"/>
                    <a:ea typeface="宋体" panose="02010600030101010101" pitchFamily="2" charset="-122"/>
                  </a:rPr>
                  <a:t>len</a:t>
                </a:r>
                <a:endPara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" name="Text Box 38"/>
              <p:cNvSpPr txBox="1">
                <a:spLocks noChangeArrowheads="1"/>
              </p:cNvSpPr>
              <p:nvPr/>
            </p:nvSpPr>
            <p:spPr bwMode="auto">
              <a:xfrm>
                <a:off x="3118" y="1665"/>
                <a:ext cx="364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not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used</a:t>
                </a:r>
                <a:endPara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Line 39"/>
              <p:cNvSpPr>
                <a:spLocks noChangeShapeType="1"/>
              </p:cNvSpPr>
              <p:nvPr/>
            </p:nvSpPr>
            <p:spPr bwMode="auto">
              <a:xfrm flipV="1">
                <a:off x="3151" y="1704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Text Box 40"/>
              <p:cNvSpPr txBox="1">
                <a:spLocks noChangeArrowheads="1"/>
              </p:cNvSpPr>
              <p:nvPr/>
            </p:nvSpPr>
            <p:spPr bwMode="auto">
              <a:xfrm>
                <a:off x="3154" y="2266"/>
                <a:ext cx="185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Options (variable length)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3" name="Text Box 41"/>
            <p:cNvSpPr txBox="1">
              <a:spLocks noChangeArrowheads="1"/>
            </p:cNvSpPr>
            <p:nvPr/>
          </p:nvSpPr>
          <p:spPr bwMode="auto">
            <a:xfrm>
              <a:off x="1838899" y="1224317"/>
              <a:ext cx="2267965" cy="612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URG</a:t>
              </a: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＝１表示包含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紧急数据（通常未用）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4" name="Text Box 42"/>
            <p:cNvSpPr txBox="1">
              <a:spLocks noChangeArrowheads="1"/>
            </p:cNvSpPr>
            <p:nvPr/>
          </p:nvSpPr>
          <p:spPr bwMode="auto">
            <a:xfrm>
              <a:off x="2457101" y="1994353"/>
              <a:ext cx="1435684" cy="612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ACK</a:t>
              </a: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＝１表示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确认序号有效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5" name="Text Box 43"/>
            <p:cNvSpPr txBox="1">
              <a:spLocks noChangeArrowheads="1"/>
            </p:cNvSpPr>
            <p:nvPr/>
          </p:nvSpPr>
          <p:spPr bwMode="auto">
            <a:xfrm>
              <a:off x="1566446" y="3316160"/>
              <a:ext cx="2310230" cy="612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PSH</a:t>
              </a: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＝１表示立即发送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数据（通常未用）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6" name="Text Box 44"/>
            <p:cNvSpPr txBox="1">
              <a:spLocks noChangeArrowheads="1"/>
            </p:cNvSpPr>
            <p:nvPr/>
          </p:nvSpPr>
          <p:spPr bwMode="auto">
            <a:xfrm>
              <a:off x="1434413" y="4016612"/>
              <a:ext cx="2593075" cy="612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RST, SYN, FIN</a:t>
              </a: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三个标志位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用于建立和终止连接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7" name="Line 45"/>
            <p:cNvSpPr>
              <a:spLocks noChangeShapeType="1"/>
            </p:cNvSpPr>
            <p:nvPr/>
          </p:nvSpPr>
          <p:spPr bwMode="auto">
            <a:xfrm>
              <a:off x="3895726" y="1800226"/>
              <a:ext cx="1495425" cy="9620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46"/>
            <p:cNvSpPr>
              <a:spLocks noChangeShapeType="1"/>
            </p:cNvSpPr>
            <p:nvPr/>
          </p:nvSpPr>
          <p:spPr bwMode="auto">
            <a:xfrm>
              <a:off x="3824291" y="2362201"/>
              <a:ext cx="1690685" cy="4667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47"/>
            <p:cNvSpPr>
              <a:spLocks noChangeShapeType="1"/>
            </p:cNvSpPr>
            <p:nvPr/>
          </p:nvSpPr>
          <p:spPr bwMode="auto">
            <a:xfrm flipV="1">
              <a:off x="3744914" y="2828924"/>
              <a:ext cx="1970087" cy="77470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Freeform 48"/>
            <p:cNvSpPr>
              <a:spLocks/>
            </p:cNvSpPr>
            <p:nvPr/>
          </p:nvSpPr>
          <p:spPr bwMode="auto">
            <a:xfrm>
              <a:off x="3867151" y="3105150"/>
              <a:ext cx="2362200" cy="971510"/>
            </a:xfrm>
            <a:custGeom>
              <a:avLst/>
              <a:gdLst>
                <a:gd name="T0" fmla="*/ 0 w 1458"/>
                <a:gd name="T1" fmla="*/ 2147483646 h 444"/>
                <a:gd name="T2" fmla="*/ 2147483646 w 1458"/>
                <a:gd name="T3" fmla="*/ 0 h 444"/>
                <a:gd name="T4" fmla="*/ 2147483646 w 1458"/>
                <a:gd name="T5" fmla="*/ 2147483646 h 444"/>
                <a:gd name="T6" fmla="*/ 0 60000 65536"/>
                <a:gd name="T7" fmla="*/ 0 60000 65536"/>
                <a:gd name="T8" fmla="*/ 0 60000 65536"/>
                <a:gd name="T9" fmla="*/ 0 w 1458"/>
                <a:gd name="T10" fmla="*/ 0 h 444"/>
                <a:gd name="T11" fmla="*/ 1458 w 1458"/>
                <a:gd name="T12" fmla="*/ 444 h 4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58" h="444">
                  <a:moveTo>
                    <a:pt x="0" y="444"/>
                  </a:moveTo>
                  <a:lnTo>
                    <a:pt x="1248" y="0"/>
                  </a:lnTo>
                  <a:lnTo>
                    <a:pt x="1458" y="6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Text Box 49"/>
            <p:cNvSpPr txBox="1">
              <a:spLocks noChangeArrowheads="1"/>
            </p:cNvSpPr>
            <p:nvPr/>
          </p:nvSpPr>
          <p:spPr bwMode="auto">
            <a:xfrm>
              <a:off x="8963025" y="3013076"/>
              <a:ext cx="1497454" cy="612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接收端还可以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接收的字节数</a:t>
              </a:r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</a:p>
          </p:txBody>
        </p:sp>
        <p:sp>
          <p:nvSpPr>
            <p:cNvPr id="72" name="Text Box 50"/>
            <p:cNvSpPr txBox="1">
              <a:spLocks noChangeArrowheads="1"/>
            </p:cNvSpPr>
            <p:nvPr/>
          </p:nvSpPr>
          <p:spPr bwMode="auto">
            <a:xfrm>
              <a:off x="8656638" y="1527176"/>
              <a:ext cx="1643754" cy="612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字节序号，而非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报文段的序号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73" name="Text Box 51"/>
            <p:cNvSpPr txBox="1">
              <a:spLocks noChangeArrowheads="1"/>
            </p:cNvSpPr>
            <p:nvPr/>
          </p:nvSpPr>
          <p:spPr bwMode="auto">
            <a:xfrm>
              <a:off x="3005276" y="5225459"/>
              <a:ext cx="811475" cy="354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校验和</a:t>
              </a:r>
              <a:endPara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74" name="Line 52"/>
            <p:cNvSpPr>
              <a:spLocks noChangeShapeType="1"/>
            </p:cNvSpPr>
            <p:nvPr/>
          </p:nvSpPr>
          <p:spPr bwMode="auto">
            <a:xfrm flipV="1">
              <a:off x="3790951" y="3429000"/>
              <a:ext cx="2105025" cy="19812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53"/>
            <p:cNvSpPr>
              <a:spLocks noChangeShapeType="1"/>
            </p:cNvSpPr>
            <p:nvPr/>
          </p:nvSpPr>
          <p:spPr bwMode="auto">
            <a:xfrm flipH="1" flipV="1">
              <a:off x="8210551" y="3019426"/>
              <a:ext cx="809625" cy="4667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54"/>
            <p:cNvSpPr>
              <a:spLocks noChangeShapeType="1"/>
            </p:cNvSpPr>
            <p:nvPr/>
          </p:nvSpPr>
          <p:spPr bwMode="auto">
            <a:xfrm flipH="1">
              <a:off x="8143875" y="1724026"/>
              <a:ext cx="552450" cy="8858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55"/>
            <p:cNvSpPr>
              <a:spLocks noChangeShapeType="1"/>
            </p:cNvSpPr>
            <p:nvPr/>
          </p:nvSpPr>
          <p:spPr bwMode="auto">
            <a:xfrm flipH="1">
              <a:off x="8105775" y="1714501"/>
              <a:ext cx="571500" cy="5238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53"/>
            <p:cNvSpPr>
              <a:spLocks noChangeShapeType="1"/>
            </p:cNvSpPr>
            <p:nvPr/>
          </p:nvSpPr>
          <p:spPr bwMode="auto">
            <a:xfrm flipH="1" flipV="1">
              <a:off x="8173537" y="3839112"/>
              <a:ext cx="809625" cy="4667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0" name="Text Box 49"/>
          <p:cNvSpPr txBox="1">
            <a:spLocks noChangeArrowheads="1"/>
          </p:cNvSpPr>
          <p:nvPr/>
        </p:nvSpPr>
        <p:spPr bwMode="auto">
          <a:xfrm>
            <a:off x="8587963" y="4221350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选项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5" name="Text Box 42"/>
          <p:cNvSpPr txBox="1">
            <a:spLocks noChangeArrowheads="1"/>
          </p:cNvSpPr>
          <p:nvPr/>
        </p:nvSpPr>
        <p:spPr bwMode="auto">
          <a:xfrm>
            <a:off x="1516564" y="2889693"/>
            <a:ext cx="14573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TCP头长度，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4字节为单位</a:t>
            </a:r>
          </a:p>
        </p:txBody>
      </p:sp>
      <p:sp>
        <p:nvSpPr>
          <p:cNvPr id="116" name="Line 53"/>
          <p:cNvSpPr>
            <a:spLocks noChangeShapeType="1"/>
          </p:cNvSpPr>
          <p:nvPr/>
        </p:nvSpPr>
        <p:spPr bwMode="auto">
          <a:xfrm flipH="1" flipV="1">
            <a:off x="2851687" y="3165211"/>
            <a:ext cx="127465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Line 52">
            <a:extLst>
              <a:ext uri="{FF2B5EF4-FFF2-40B4-BE49-F238E27FC236}">
                <a16:creationId xmlns:a16="http://schemas.microsoft.com/office/drawing/2014/main" id="{BF1E6A39-8C02-1145-8924-892A8063FC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41876" y="3662116"/>
            <a:ext cx="2276996" cy="16560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" name="Text Box 49">
            <a:extLst>
              <a:ext uri="{FF2B5EF4-FFF2-40B4-BE49-F238E27FC236}">
                <a16:creationId xmlns:a16="http://schemas.microsoft.com/office/drawing/2014/main" id="{749B404C-11B7-4948-949F-03D48BFAB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8753" y="5119573"/>
            <a:ext cx="14157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紧急数据指针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2662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重要的</a:t>
            </a:r>
            <a:r>
              <a:rPr kumimoji="1" lang="en-US" altLang="zh-CN" dirty="0"/>
              <a:t>TCP</a:t>
            </a:r>
            <a:r>
              <a:rPr kumimoji="1" lang="zh-CN" altLang="en-US" dirty="0"/>
              <a:t>选项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134" y="1411135"/>
            <a:ext cx="10310851" cy="484559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最大段长度（MSS）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TCP段中可以携带的最大数据字节数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建立连接时，每个主机可声明自己能够接受的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MSS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，缺省为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536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字节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选择确认（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SACK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）：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最初的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TCP协议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只使用累积确认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改进的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TCP协议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引入选择确认，允许接收端指出缺失的数据字节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30</a:t>
            </a:fld>
            <a:endParaRPr kumimoji="1" lang="zh-CN" altLang="en-US" dirty="0"/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6.3.2  </a:t>
            </a:r>
            <a:r>
              <a:rPr kumimoji="1" lang="zh-CN" altLang="en-US" dirty="0"/>
              <a:t>面向连接的传输：</a:t>
            </a:r>
            <a:r>
              <a:rPr kumimoji="1" lang="en-US" altLang="zh-CN" dirty="0"/>
              <a:t>TCP</a:t>
            </a:r>
            <a:r>
              <a:rPr kumimoji="1" lang="zh-CN" altLang="en-US" dirty="0"/>
              <a:t>报文段结构</a:t>
            </a:r>
          </a:p>
        </p:txBody>
      </p:sp>
    </p:spTree>
    <p:extLst>
      <p:ext uri="{BB962C8B-B14F-4D97-AF65-F5344CB8AC3E}">
        <p14:creationId xmlns:p14="http://schemas.microsoft.com/office/powerpoint/2010/main" val="723110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发送序号和确认序号的含义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31</a:t>
            </a:fld>
            <a:endParaRPr kumimoji="1" lang="zh-CN" altLang="en-US" dirty="0"/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6.3.2  </a:t>
            </a:r>
            <a:r>
              <a:rPr kumimoji="1" lang="zh-CN" altLang="en-US" dirty="0"/>
              <a:t>面向连接的传输：</a:t>
            </a:r>
            <a:r>
              <a:rPr kumimoji="1" lang="en-US" altLang="zh-CN" dirty="0"/>
              <a:t>TCP</a:t>
            </a:r>
            <a:r>
              <a:rPr kumimoji="1" lang="zh-CN" altLang="en-US" dirty="0"/>
              <a:t>报文段结构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E0F34D-DFCE-4552-ADAC-94B916B32C7E}"/>
              </a:ext>
            </a:extLst>
          </p:cNvPr>
          <p:cNvSpPr/>
          <p:nvPr/>
        </p:nvSpPr>
        <p:spPr>
          <a:xfrm>
            <a:off x="1865222" y="5438893"/>
            <a:ext cx="8497978" cy="8225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初始序号的选取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实体维护一个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位计数器，该计数器每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微秒增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，建立连接时从中读取计数器当前值（依赖具体实现，见连接管理）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4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00DBA480-88DD-4240-A0CD-39031DBEF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466850"/>
            <a:ext cx="80772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80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发送序号和确认序号：使用举例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2021" y="1510758"/>
            <a:ext cx="5101908" cy="4707162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主机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向主机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发送仅包含一个字符‘Ｃ’的报文段：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发送序号为</a:t>
            </a:r>
            <a:r>
              <a:rPr lang="en-US" altLang="zh-CN" sz="2200" dirty="0">
                <a:ea typeface="宋体" panose="02010600030101010101" pitchFamily="2" charset="-122"/>
              </a:rPr>
              <a:t>42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确认序号为</a:t>
            </a:r>
            <a:r>
              <a:rPr lang="en-US" altLang="zh-CN" sz="2200" dirty="0">
                <a:ea typeface="宋体" panose="02010600030101010101" pitchFamily="2" charset="-122"/>
              </a:rPr>
              <a:t>79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（对前一次数据的确认）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主机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将字符‘Ｃ’回送给主机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发送序号为</a:t>
            </a:r>
            <a:r>
              <a:rPr lang="en-US" altLang="zh-CN" sz="2200" dirty="0">
                <a:ea typeface="宋体" panose="02010600030101010101" pitchFamily="2" charset="-122"/>
              </a:rPr>
              <a:t>79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确认序号为</a:t>
            </a:r>
            <a:r>
              <a:rPr lang="en-US" altLang="zh-CN" sz="2200" dirty="0">
                <a:latin typeface="Arial" panose="020B0604020202020204" pitchFamily="34" charset="0"/>
                <a:ea typeface="宋体" panose="02010600030101010101" pitchFamily="2" charset="-122"/>
              </a:rPr>
              <a:t>43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（对收到‘Ｃ’的确认）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主机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向主机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发送确认报文段（不包含数据）：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确认序号为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80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 （对收到‘Ｃ’的确认）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32</a:t>
            </a:fld>
            <a:endParaRPr kumimoji="1"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6379527" y="1735097"/>
            <a:ext cx="4974273" cy="3683000"/>
            <a:chOff x="2490311" y="1578195"/>
            <a:chExt cx="4974273" cy="3683000"/>
          </a:xfrm>
        </p:grpSpPr>
        <p:sp>
          <p:nvSpPr>
            <p:cNvPr id="6" name="Line 3"/>
            <p:cNvSpPr/>
            <p:nvPr/>
          </p:nvSpPr>
          <p:spPr>
            <a:xfrm>
              <a:off x="3549491" y="4630957"/>
              <a:ext cx="2590800" cy="506413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7" name="Line 4"/>
            <p:cNvSpPr/>
            <p:nvPr/>
          </p:nvSpPr>
          <p:spPr>
            <a:xfrm>
              <a:off x="3563779" y="2862482"/>
              <a:ext cx="2586037" cy="57150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2754154" y="2468782"/>
              <a:ext cx="809625" cy="75501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</a:lstStyle>
            <a:p>
              <a:pPr marL="0" lvl="0" indent="0"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User</a:t>
              </a:r>
            </a:p>
            <a:p>
              <a:pPr marL="0" lvl="0" indent="0"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types</a:t>
              </a:r>
            </a:p>
            <a:p>
              <a:pPr marL="0" lvl="0" indent="0"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1600" dirty="0">
                  <a:ea typeface="MS PGothic" panose="020B0600070205080204" pitchFamily="34" charset="-128"/>
                </a:rPr>
                <a:t>‘</a:t>
              </a:r>
              <a:r>
                <a:rPr lang="en-US" altLang="ja-JP" sz="1600" dirty="0">
                  <a:ea typeface="MS PGothic" panose="020B0600070205080204" pitchFamily="34" charset="-128"/>
                </a:rPr>
                <a:t>C</a:t>
              </a:r>
              <a:r>
                <a:rPr lang="ja-JP" altLang="en-US" sz="1600" dirty="0">
                  <a:ea typeface="MS PGothic" panose="020B0600070205080204" pitchFamily="34" charset="-128"/>
                </a:rPr>
                <a:t>’</a:t>
              </a:r>
              <a:endParaRPr lang="en-US" altLang="zh-CN" sz="1000" dirty="0">
                <a:ea typeface="宋体" panose="02010600030101010101" pitchFamily="2" charset="-122"/>
              </a:endParaRPr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2490311" y="4081682"/>
              <a:ext cx="1097280" cy="9759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</a:lstStyle>
            <a:p>
              <a:pPr marL="0" lvl="0" indent="0"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host ACKs</a:t>
              </a:r>
            </a:p>
            <a:p>
              <a:pPr marL="0" lvl="0" indent="0"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receipt </a:t>
              </a:r>
            </a:p>
            <a:p>
              <a:pPr marL="0" lvl="0" indent="0"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of echoed</a:t>
              </a:r>
            </a:p>
            <a:p>
              <a:pPr marL="0" lvl="0" indent="0"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1600" dirty="0">
                  <a:ea typeface="MS PGothic" panose="020B0600070205080204" pitchFamily="34" charset="-128"/>
                </a:rPr>
                <a:t>‘</a:t>
              </a:r>
              <a:r>
                <a:rPr lang="en-US" altLang="ja-JP" sz="1600" dirty="0">
                  <a:ea typeface="MS PGothic" panose="020B0600070205080204" pitchFamily="34" charset="-128"/>
                </a:rPr>
                <a:t>C</a:t>
              </a:r>
              <a:r>
                <a:rPr lang="ja-JP" altLang="en-US" sz="1600" dirty="0">
                  <a:ea typeface="MS PGothic" panose="020B0600070205080204" pitchFamily="34" charset="-128"/>
                </a:rPr>
                <a:t>’</a:t>
              </a:r>
              <a:endParaRPr lang="en-US" altLang="zh-CN" sz="1000" dirty="0">
                <a:ea typeface="宋体" panose="02010600030101010101" pitchFamily="2" charset="-122"/>
              </a:endParaRPr>
            </a:p>
          </p:txBody>
        </p:sp>
        <p:sp>
          <p:nvSpPr>
            <p:cNvPr id="10" name="Text Box 9"/>
            <p:cNvSpPr txBox="1"/>
            <p:nvPr/>
          </p:nvSpPr>
          <p:spPr>
            <a:xfrm>
              <a:off x="6164104" y="3203795"/>
              <a:ext cx="1300480" cy="10763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host ACKs</a:t>
              </a: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receipt of</a:t>
              </a: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1600" dirty="0">
                  <a:ea typeface="MS PGothic" panose="020B0600070205080204" pitchFamily="34" charset="-128"/>
                </a:rPr>
                <a:t>‘</a:t>
              </a:r>
              <a:r>
                <a:rPr lang="en-US" altLang="ja-JP" sz="1600" dirty="0">
                  <a:ea typeface="MS PGothic" panose="020B0600070205080204" pitchFamily="34" charset="-128"/>
                </a:rPr>
                <a:t>C</a:t>
              </a:r>
              <a:r>
                <a:rPr lang="ja-JP" altLang="en-US" sz="1600" dirty="0">
                  <a:ea typeface="MS PGothic" panose="020B0600070205080204" pitchFamily="34" charset="-128"/>
                </a:rPr>
                <a:t>’</a:t>
              </a:r>
              <a:r>
                <a:rPr lang="en-US" altLang="ja-JP" sz="1600" dirty="0">
                  <a:ea typeface="MS PGothic" panose="020B0600070205080204" pitchFamily="34" charset="-128"/>
                </a:rPr>
                <a:t>, echoes</a:t>
              </a: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back </a:t>
              </a:r>
              <a:r>
                <a:rPr lang="ja-JP" altLang="en-US" sz="1600" dirty="0">
                  <a:ea typeface="MS PGothic" panose="020B0600070205080204" pitchFamily="34" charset="-128"/>
                </a:rPr>
                <a:t>‘</a:t>
              </a:r>
              <a:r>
                <a:rPr lang="en-US" altLang="ja-JP" sz="1600" dirty="0">
                  <a:ea typeface="MS PGothic" panose="020B0600070205080204" pitchFamily="34" charset="-128"/>
                </a:rPr>
                <a:t>C</a:t>
              </a:r>
              <a:r>
                <a:rPr lang="ja-JP" altLang="en-US" sz="1600" dirty="0">
                  <a:ea typeface="MS PGothic" panose="020B0600070205080204" pitchFamily="34" charset="-128"/>
                </a:rPr>
                <a:t>’</a:t>
              </a:r>
              <a:endParaRPr lang="en-US" altLang="zh-CN" sz="1600" dirty="0">
                <a:ea typeface="宋体" panose="02010600030101010101" pitchFamily="2" charset="-122"/>
              </a:endParaRPr>
            </a:p>
          </p:txBody>
        </p:sp>
        <p:sp>
          <p:nvSpPr>
            <p:cNvPr id="11" name="Line 10"/>
            <p:cNvSpPr/>
            <p:nvPr/>
          </p:nvSpPr>
          <p:spPr>
            <a:xfrm flipH="1">
              <a:off x="3554254" y="3635595"/>
              <a:ext cx="2554287" cy="80010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3" name="Text Box 13"/>
            <p:cNvSpPr txBox="1"/>
            <p:nvPr/>
          </p:nvSpPr>
          <p:spPr>
            <a:xfrm>
              <a:off x="5728970" y="1578195"/>
              <a:ext cx="792480" cy="3371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Host B</a:t>
              </a:r>
            </a:p>
          </p:txBody>
        </p:sp>
        <p:sp>
          <p:nvSpPr>
            <p:cNvPr id="14" name="Text Box 17"/>
            <p:cNvSpPr txBox="1"/>
            <p:nvPr/>
          </p:nvSpPr>
          <p:spPr>
            <a:xfrm>
              <a:off x="3158808" y="1584545"/>
              <a:ext cx="792480" cy="3371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Host A</a:t>
              </a:r>
            </a:p>
          </p:txBody>
        </p:sp>
        <p:sp>
          <p:nvSpPr>
            <p:cNvPr id="15" name="Rectangle 18"/>
            <p:cNvSpPr/>
            <p:nvPr/>
          </p:nvSpPr>
          <p:spPr>
            <a:xfrm>
              <a:off x="4376579" y="2954557"/>
              <a:ext cx="814387" cy="37941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ea typeface="宋体" panose="02010600030101010101" pitchFamily="2" charset="-122"/>
              </a:endParaRPr>
            </a:p>
          </p:txBody>
        </p:sp>
        <p:sp>
          <p:nvSpPr>
            <p:cNvPr id="16" name="Text Box 19"/>
            <p:cNvSpPr txBox="1"/>
            <p:nvPr/>
          </p:nvSpPr>
          <p:spPr>
            <a:xfrm>
              <a:off x="3632677" y="3006945"/>
              <a:ext cx="2494280" cy="306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rgbClr val="C00000"/>
                  </a:solidFill>
                  <a:ea typeface="宋体" panose="02010600030101010101" pitchFamily="2" charset="-122"/>
                </a:rPr>
                <a:t>Seq=42</a:t>
              </a:r>
              <a:r>
                <a:rPr lang="en-US" altLang="zh-CN" sz="1400" dirty="0">
                  <a:ea typeface="宋体" panose="02010600030101010101" pitchFamily="2" charset="-122"/>
                </a:rPr>
                <a:t>, </a:t>
              </a:r>
              <a:r>
                <a:rPr lang="en-US" altLang="zh-CN" sz="1400" b="1" dirty="0">
                  <a:solidFill>
                    <a:srgbClr val="C00000"/>
                  </a:solidFill>
                  <a:ea typeface="宋体" panose="02010600030101010101" pitchFamily="2" charset="-122"/>
                </a:rPr>
                <a:t>ACK=79</a:t>
              </a:r>
              <a:r>
                <a:rPr lang="en-US" altLang="zh-CN" sz="1400" dirty="0">
                  <a:ea typeface="宋体" panose="02010600030101010101" pitchFamily="2" charset="-122"/>
                </a:rPr>
                <a:t>, data = </a:t>
              </a:r>
              <a:r>
                <a:rPr lang="ja-JP" altLang="en-US" sz="1400" dirty="0">
                  <a:ea typeface="MS PGothic" panose="020B0600070205080204" pitchFamily="34" charset="-128"/>
                </a:rPr>
                <a:t>‘</a:t>
              </a:r>
              <a:r>
                <a:rPr lang="en-US" altLang="ja-JP" sz="1400" dirty="0">
                  <a:ea typeface="MS PGothic" panose="020B0600070205080204" pitchFamily="34" charset="-128"/>
                </a:rPr>
                <a:t>C</a:t>
              </a:r>
              <a:r>
                <a:rPr lang="ja-JP" altLang="en-US" sz="1400" dirty="0">
                  <a:ea typeface="MS PGothic" panose="020B0600070205080204" pitchFamily="34" charset="-128"/>
                </a:rPr>
                <a:t>’</a:t>
              </a:r>
              <a:endParaRPr lang="en-US" altLang="zh-CN" sz="1400" dirty="0">
                <a:ea typeface="宋体" panose="02010600030101010101" pitchFamily="2" charset="-122"/>
              </a:endParaRPr>
            </a:p>
          </p:txBody>
        </p:sp>
        <p:sp>
          <p:nvSpPr>
            <p:cNvPr id="17" name="Rectangle 20"/>
            <p:cNvSpPr/>
            <p:nvPr/>
          </p:nvSpPr>
          <p:spPr>
            <a:xfrm>
              <a:off x="4411504" y="3913407"/>
              <a:ext cx="823912" cy="24606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ea typeface="宋体" panose="02010600030101010101" pitchFamily="2" charset="-122"/>
              </a:endParaRPr>
            </a:p>
          </p:txBody>
        </p:sp>
        <p:sp>
          <p:nvSpPr>
            <p:cNvPr id="18" name="Text Box 21"/>
            <p:cNvSpPr txBox="1"/>
            <p:nvPr/>
          </p:nvSpPr>
          <p:spPr>
            <a:xfrm>
              <a:off x="3599778" y="3902295"/>
              <a:ext cx="2561663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Seq=79, ACK=43</a:t>
              </a:r>
              <a:r>
                <a: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rPr>
                <a:t>, data = </a:t>
              </a:r>
              <a:r>
                <a:rPr lang="ja-JP" altLang="en-US" sz="1400" dirty="0">
                  <a:latin typeface="Arial" panose="020B0604020202020204" pitchFamily="34" charset="0"/>
                  <a:ea typeface="MS PGothic" panose="020B0600070205080204" pitchFamily="34" charset="-128"/>
                </a:rPr>
                <a:t>‘</a:t>
              </a:r>
              <a:r>
                <a:rPr lang="en-US" altLang="ja-JP" sz="1400" dirty="0">
                  <a:latin typeface="Arial" panose="020B0604020202020204" pitchFamily="34" charset="0"/>
                  <a:ea typeface="MS PGothic" panose="020B0600070205080204" pitchFamily="34" charset="-128"/>
                </a:rPr>
                <a:t>C</a:t>
              </a:r>
              <a:r>
                <a:rPr lang="ja-JP" altLang="en-US" sz="1400" dirty="0">
                  <a:latin typeface="Arial" panose="020B0604020202020204" pitchFamily="34" charset="0"/>
                  <a:ea typeface="MS PGothic" panose="020B0600070205080204" pitchFamily="34" charset="-128"/>
                </a:rPr>
                <a:t>’</a:t>
              </a:r>
              <a:endPara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Rectangle 22"/>
            <p:cNvSpPr/>
            <p:nvPr/>
          </p:nvSpPr>
          <p:spPr>
            <a:xfrm>
              <a:off x="4478179" y="4761132"/>
              <a:ext cx="958850" cy="3571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ea typeface="宋体" panose="02010600030101010101" pitchFamily="2" charset="-122"/>
              </a:endParaRPr>
            </a:p>
          </p:txBody>
        </p:sp>
        <p:sp>
          <p:nvSpPr>
            <p:cNvPr id="20" name="Text Box 23"/>
            <p:cNvSpPr txBox="1"/>
            <p:nvPr/>
          </p:nvSpPr>
          <p:spPr>
            <a:xfrm>
              <a:off x="4157504" y="4775420"/>
              <a:ext cx="1601464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Seq=43, ACK=80</a:t>
              </a:r>
              <a:endParaRPr lang="en-US" altLang="zh-CN" sz="1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24"/>
            <p:cNvSpPr/>
            <p:nvPr/>
          </p:nvSpPr>
          <p:spPr>
            <a:xfrm>
              <a:off x="3541554" y="2621182"/>
              <a:ext cx="0" cy="2587625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2" name="Line 25"/>
            <p:cNvSpPr/>
            <p:nvPr/>
          </p:nvSpPr>
          <p:spPr>
            <a:xfrm>
              <a:off x="6203791" y="2673570"/>
              <a:ext cx="0" cy="2587625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23" name="Group 27"/>
            <p:cNvGrpSpPr/>
            <p:nvPr/>
          </p:nvGrpSpPr>
          <p:grpSpPr>
            <a:xfrm>
              <a:off x="3033554" y="1800445"/>
              <a:ext cx="755650" cy="782637"/>
              <a:chOff x="-44" y="1473"/>
              <a:chExt cx="981" cy="1105"/>
            </a:xfrm>
          </p:grpSpPr>
          <p:pic>
            <p:nvPicPr>
              <p:cNvPr id="27" name="Picture 28" descr="desktop_computer_stylized_medium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" name="Freeform 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210036223" y="32510658"/>
                  </a:cxn>
                  <a:cxn ang="0">
                    <a:pos x="249163809" y="677556378"/>
                  </a:cxn>
                  <a:cxn ang="0">
                    <a:pos x="54911964" y="847358093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" name="Group 30"/>
            <p:cNvGrpSpPr/>
            <p:nvPr/>
          </p:nvGrpSpPr>
          <p:grpSpPr>
            <a:xfrm flipH="1">
              <a:off x="5895816" y="1840132"/>
              <a:ext cx="788988" cy="862013"/>
              <a:chOff x="-44" y="1473"/>
              <a:chExt cx="981" cy="1105"/>
            </a:xfrm>
          </p:grpSpPr>
          <p:pic>
            <p:nvPicPr>
              <p:cNvPr id="25" name="Picture 31" descr="desktop_computer_stylized_medium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6" name="Freeform 3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>
                  <a:gd name="txL" fmla="*/ 0 w 356"/>
                  <a:gd name="txT" fmla="*/ 0 h 368"/>
                  <a:gd name="txR" fmla="*/ 356 w 356"/>
                  <a:gd name="txB" fmla="*/ 368 h 368"/>
                </a:gdLst>
                <a:ahLst/>
                <a:cxnLst>
                  <a:cxn ang="0">
                    <a:pos x="0" y="0"/>
                  </a:cxn>
                  <a:cxn ang="0">
                    <a:pos x="210036223" y="32510658"/>
                  </a:cxn>
                  <a:cxn ang="0">
                    <a:pos x="249163809" y="677556378"/>
                  </a:cxn>
                  <a:cxn ang="0">
                    <a:pos x="54911964" y="847358093"/>
                  </a:cxn>
                  <a:cxn ang="0">
                    <a:pos x="0" y="0"/>
                  </a:cxn>
                </a:cxnLst>
                <a:rect l="txL" t="txT" r="txR" b="tx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9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6.3.2  </a:t>
            </a:r>
            <a:r>
              <a:rPr kumimoji="1" lang="zh-CN" altLang="en-US" dirty="0"/>
              <a:t>面向连接的传输：</a:t>
            </a:r>
            <a:r>
              <a:rPr kumimoji="1" lang="en-US" altLang="zh-CN" dirty="0"/>
              <a:t>TCP</a:t>
            </a:r>
            <a:r>
              <a:rPr kumimoji="1" lang="zh-CN" altLang="en-US" dirty="0"/>
              <a:t>报文段结构</a:t>
            </a:r>
          </a:p>
        </p:txBody>
      </p:sp>
    </p:spTree>
    <p:extLst>
      <p:ext uri="{BB962C8B-B14F-4D97-AF65-F5344CB8AC3E}">
        <p14:creationId xmlns:p14="http://schemas.microsoft.com/office/powerpoint/2010/main" val="1730254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50" y="1510758"/>
            <a:ext cx="5501457" cy="484559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6.1 </a:t>
            </a:r>
            <a:r>
              <a:rPr kumimoji="1" lang="zh-CN" altLang="en-US" dirty="0"/>
              <a:t>概述和传输层服务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6.2 </a:t>
            </a:r>
            <a:r>
              <a:rPr kumimoji="1" lang="zh-CN" altLang="en-US" dirty="0"/>
              <a:t>套接字编程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6.3 </a:t>
            </a:r>
            <a:r>
              <a:rPr kumimoji="1" lang="zh-CN" altLang="en-US" dirty="0"/>
              <a:t>传输层复用和分用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6.4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6.5 </a:t>
            </a:r>
            <a:r>
              <a:rPr kumimoji="1" lang="zh-CN" altLang="en-US" dirty="0">
                <a:solidFill>
                  <a:srgbClr val="C00000"/>
                </a:solidFill>
              </a:rPr>
              <a:t>面向连接的传输：</a:t>
            </a:r>
            <a:r>
              <a:rPr kumimoji="1" lang="en-US" altLang="zh-CN" dirty="0">
                <a:solidFill>
                  <a:srgbClr val="C00000"/>
                </a:solidFill>
              </a:rPr>
              <a:t>TCP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6.6 </a:t>
            </a:r>
            <a:r>
              <a:rPr kumimoji="1" lang="zh-CN" altLang="en-US" dirty="0"/>
              <a:t>理解网络拥塞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6.7 TCP拥塞控制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chemeClr val="accent3"/>
                </a:solidFill>
              </a:rPr>
              <a:t>6.8 </a:t>
            </a:r>
            <a:r>
              <a:rPr kumimoji="1" lang="zh-CN" altLang="en-US" dirty="0">
                <a:solidFill>
                  <a:schemeClr val="accent3"/>
                </a:solidFill>
              </a:rPr>
              <a:t>拥塞控制的发展</a:t>
            </a:r>
            <a:endParaRPr kumimoji="1" lang="en-US" altLang="zh-CN" dirty="0">
              <a:solidFill>
                <a:schemeClr val="accent3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chemeClr val="accent3"/>
                </a:solidFill>
              </a:rPr>
              <a:t>6.9 </a:t>
            </a:r>
            <a:r>
              <a:rPr kumimoji="1" lang="en-US" altLang="zh-CN" dirty="0" err="1">
                <a:solidFill>
                  <a:schemeClr val="accent3"/>
                </a:solidFill>
              </a:rPr>
              <a:t>传输层协议的发展</a:t>
            </a:r>
            <a:endParaRPr kumimoji="1" lang="en-US" altLang="zh-CN" dirty="0">
              <a:solidFill>
                <a:schemeClr val="accent3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33</a:t>
            </a:fld>
            <a:endParaRPr kumimoji="1" lang="zh-CN" altLang="en-US" dirty="0"/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5672461" y="2348650"/>
            <a:ext cx="3583394" cy="2885677"/>
          </a:xfrm>
          <a:prstGeom prst="wedgeRectCallout">
            <a:avLst>
              <a:gd name="adj1" fmla="val -82577"/>
              <a:gd name="adj2" fmla="val -8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概述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报文段结构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可靠数据传输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流量控制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连接管理</a:t>
            </a: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2743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可靠数据传输概述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6700" indent="-266700">
              <a:lnSpc>
                <a:spcPct val="130000"/>
              </a:lnSpc>
              <a:buClr>
                <a:srgbClr val="2A09B7"/>
              </a:buClr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TCP 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在不可靠的IP服务上建立可靠的数据传输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66700" indent="-266700">
              <a:lnSpc>
                <a:spcPct val="130000"/>
              </a:lnSpc>
              <a:buClr>
                <a:srgbClr val="2A09B7"/>
              </a:buClr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基本机制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5475" lvl="1" indent="-168275">
              <a:lnSpc>
                <a:spcPct val="130000"/>
              </a:lnSpc>
              <a:buClr>
                <a:schemeClr val="tx1"/>
              </a:buClr>
              <a:buFont typeface="Times New Roman" panose="02020603050405020304" pitchFamily="18" charset="0"/>
              <a:buChar char="̵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发送端：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流水线式发送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数据、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等待确认、超时重传</a:t>
            </a:r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5475" lvl="1" indent="-168275">
              <a:lnSpc>
                <a:spcPct val="130000"/>
              </a:lnSpc>
              <a:buClr>
                <a:schemeClr val="tx1"/>
              </a:buClr>
              <a:buFont typeface="Times New Roman" panose="02020603050405020304" pitchFamily="18" charset="0"/>
              <a:buChar char="̵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接收端：进行差错检测，采用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累积确认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机制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-266700">
              <a:lnSpc>
                <a:spcPct val="130000"/>
              </a:lnSpc>
              <a:buClr>
                <a:srgbClr val="2A09B7"/>
              </a:buClr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乱序段处理：协议没有明确规定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5475" lvl="1" indent="-168275">
              <a:lnSpc>
                <a:spcPct val="130000"/>
              </a:lnSpc>
              <a:buClr>
                <a:schemeClr val="tx1"/>
              </a:buClr>
              <a:buFont typeface="Times New Roman" panose="02020603050405020304" pitchFamily="18" charset="0"/>
              <a:buChar char="̵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接收端不缓存：可以正常工作，处理简单，但效率低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5475" lvl="1" indent="-168275">
              <a:lnSpc>
                <a:spcPct val="130000"/>
              </a:lnSpc>
              <a:buClr>
                <a:schemeClr val="tx1"/>
              </a:buClr>
              <a:buFont typeface="Times New Roman" panose="02020603050405020304" pitchFamily="18" charset="0"/>
              <a:buChar char="̵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接收端缓存：效率高，但处理复杂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34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6.3.3  </a:t>
            </a:r>
            <a:r>
              <a:rPr kumimoji="1" lang="zh-CN" altLang="en-US" dirty="0"/>
              <a:t>面向连接的传输：可靠传输</a:t>
            </a:r>
          </a:p>
        </p:txBody>
      </p:sp>
    </p:spTree>
    <p:extLst>
      <p:ext uri="{BB962C8B-B14F-4D97-AF65-F5344CB8AC3E}">
        <p14:creationId xmlns:p14="http://schemas.microsoft.com/office/powerpoint/2010/main" val="4048897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一个高度简化的</a:t>
            </a:r>
            <a:r>
              <a:rPr lang="en-US" altLang="zh-CN" dirty="0"/>
              <a:t>TCP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746" y="1988935"/>
            <a:ext cx="10454054" cy="430382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接收方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确认方式：采用累积确认，仅在</a:t>
            </a:r>
            <a:r>
              <a:rPr lang="zh-CN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正确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zh-CN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按序收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到报文段后，更新</a:t>
            </a:r>
            <a:r>
              <a:rPr lang="en-US" altLang="zh-CN" sz="2200" dirty="0" err="1">
                <a:latin typeface="等线" panose="02010600030101010101" pitchFamily="2" charset="-122"/>
                <a:ea typeface="等线" panose="02010600030101010101" pitchFamily="2" charset="-122"/>
              </a:rPr>
              <a:t>确认序号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其余情况，</a:t>
            </a:r>
            <a:r>
              <a:rPr lang="zh-CN" altLang="en-US" sz="2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重复前一次的确认序号</a:t>
            </a:r>
            <a:endParaRPr lang="en-US" altLang="zh-CN" sz="22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发送方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发送策略：流水线式发送报文段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定时器的使用：</a:t>
            </a:r>
            <a:r>
              <a:rPr lang="zh-CN" altLang="en-US" sz="2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仅对最早未确认的报文段</a:t>
            </a:r>
            <a:r>
              <a:rPr lang="en-US" altLang="zh-CN" sz="22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使用</a:t>
            </a:r>
            <a:r>
              <a:rPr lang="zh-CN" altLang="en-US" sz="2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一个重传定时器</a:t>
            </a:r>
            <a:endParaRPr lang="en-US" altLang="zh-CN" sz="22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重发策略：仅在超时后重发</a:t>
            </a:r>
            <a:r>
              <a:rPr lang="zh-CN" altLang="en-US" sz="22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最早未确认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的报文段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35</a:t>
            </a:fld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746" y="1463676"/>
            <a:ext cx="99721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高度简化的</a:t>
            </a:r>
            <a:r>
              <a:rPr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协议：仅考虑可靠传输机制，且数据仅在一个方向上传输</a:t>
            </a: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6.3.3  </a:t>
            </a:r>
            <a:r>
              <a:rPr kumimoji="1" lang="zh-CN" altLang="en-US" dirty="0"/>
              <a:t>面向连接的传输：可靠传输</a:t>
            </a:r>
          </a:p>
        </p:txBody>
      </p:sp>
    </p:spTree>
    <p:extLst>
      <p:ext uri="{BB962C8B-B14F-4D97-AF65-F5344CB8AC3E}">
        <p14:creationId xmlns:p14="http://schemas.microsoft.com/office/powerpoint/2010/main" val="1681435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发送方要处理的事件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收到应用数据：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创建并发送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报文段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若当前没有定时器在运行（没有已发送、未确认的报文段），启动定时器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超时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重传</a:t>
            </a:r>
            <a:r>
              <a:rPr lang="zh-CN" altLang="en-US" sz="20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包含最小序号的、未确认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的报文段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重启定时器</a:t>
            </a:r>
            <a:endParaRPr lang="en-US" altLang="zh-CN" sz="20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收到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ACK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如果确认序号大于基序号（已发送未确认的最小序号）：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推进发送窗口（更新基序号）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如果发送窗口中还有未确认的报文段，启动定时器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，否则终止定时器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36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6.3.3  </a:t>
            </a:r>
            <a:r>
              <a:rPr kumimoji="1" lang="zh-CN" altLang="en-US" dirty="0"/>
              <a:t>面向连接的传输：可靠传输</a:t>
            </a:r>
          </a:p>
        </p:txBody>
      </p:sp>
    </p:spTree>
    <p:extLst>
      <p:ext uri="{BB962C8B-B14F-4D97-AF65-F5344CB8AC3E}">
        <p14:creationId xmlns:p14="http://schemas.microsoft.com/office/powerpoint/2010/main" val="1096750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TCP可能的</a:t>
            </a:r>
            <a:r>
              <a:rPr lang="zh-CN" altLang="en-US" sz="4000" dirty="0"/>
              <a:t>重传场景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37</a:t>
            </a:fld>
            <a:endParaRPr kumimoji="1"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385116" y="1513990"/>
            <a:ext cx="3287711" cy="4451351"/>
            <a:chOff x="2039939" y="1082675"/>
            <a:chExt cx="3287711" cy="4451351"/>
          </a:xfrm>
        </p:grpSpPr>
        <p:sp>
          <p:nvSpPr>
            <p:cNvPr id="9" name="Line 99"/>
            <p:cNvSpPr>
              <a:spLocks noChangeShapeType="1"/>
            </p:cNvSpPr>
            <p:nvPr/>
          </p:nvSpPr>
          <p:spPr bwMode="auto">
            <a:xfrm>
              <a:off x="2457450" y="4010026"/>
              <a:ext cx="2351088" cy="50641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00"/>
            <p:cNvSpPr>
              <a:spLocks noChangeShapeType="1"/>
            </p:cNvSpPr>
            <p:nvPr/>
          </p:nvSpPr>
          <p:spPr bwMode="auto">
            <a:xfrm>
              <a:off x="2470151" y="2241550"/>
              <a:ext cx="2346325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4"/>
            <p:cNvSpPr>
              <a:spLocks noChangeShapeType="1"/>
            </p:cNvSpPr>
            <p:nvPr/>
          </p:nvSpPr>
          <p:spPr bwMode="auto">
            <a:xfrm flipH="1">
              <a:off x="3506789" y="2903539"/>
              <a:ext cx="1273175" cy="42703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107"/>
            <p:cNvSpPr txBox="1">
              <a:spLocks noChangeArrowheads="1"/>
            </p:cNvSpPr>
            <p:nvPr/>
          </p:nvSpPr>
          <p:spPr bwMode="auto">
            <a:xfrm>
              <a:off x="4412567" y="1082675"/>
              <a:ext cx="76495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Host B</a:t>
              </a:r>
            </a:p>
          </p:txBody>
        </p:sp>
        <p:sp>
          <p:nvSpPr>
            <p:cNvPr id="13" name="Text Box 111"/>
            <p:cNvSpPr txBox="1">
              <a:spLocks noChangeArrowheads="1"/>
            </p:cNvSpPr>
            <p:nvPr/>
          </p:nvSpPr>
          <p:spPr bwMode="auto">
            <a:xfrm>
              <a:off x="2073317" y="1100138"/>
              <a:ext cx="77938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Host A</a:t>
              </a:r>
            </a:p>
          </p:txBody>
        </p:sp>
        <p:sp>
          <p:nvSpPr>
            <p:cNvPr id="14" name="Rectangle 112"/>
            <p:cNvSpPr>
              <a:spLocks noChangeArrowheads="1"/>
            </p:cNvSpPr>
            <p:nvPr/>
          </p:nvSpPr>
          <p:spPr bwMode="auto">
            <a:xfrm>
              <a:off x="3173413" y="2322514"/>
              <a:ext cx="869950" cy="401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Text Box 113"/>
            <p:cNvSpPr txBox="1">
              <a:spLocks noChangeArrowheads="1"/>
            </p:cNvSpPr>
            <p:nvPr/>
          </p:nvSpPr>
          <p:spPr bwMode="auto">
            <a:xfrm>
              <a:off x="2646748" y="2374901"/>
              <a:ext cx="202170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Seq=92, 8 bytes of data</a:t>
              </a:r>
            </a:p>
          </p:txBody>
        </p:sp>
        <p:sp>
          <p:nvSpPr>
            <p:cNvPr id="16" name="Rectangle 114"/>
            <p:cNvSpPr>
              <a:spLocks noChangeArrowheads="1"/>
            </p:cNvSpPr>
            <p:nvPr/>
          </p:nvSpPr>
          <p:spPr bwMode="auto">
            <a:xfrm>
              <a:off x="3741738" y="2989263"/>
              <a:ext cx="747712" cy="246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Text Box 115"/>
            <p:cNvSpPr txBox="1">
              <a:spLocks noChangeArrowheads="1"/>
            </p:cNvSpPr>
            <p:nvPr/>
          </p:nvSpPr>
          <p:spPr bwMode="auto">
            <a:xfrm>
              <a:off x="3662364" y="2944813"/>
              <a:ext cx="949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ACK=100</a:t>
              </a:r>
              <a:endParaRPr lang="en-US" altLang="zh-CN" sz="1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Line 118"/>
            <p:cNvSpPr>
              <a:spLocks noChangeShapeType="1"/>
            </p:cNvSpPr>
            <p:nvPr/>
          </p:nvSpPr>
          <p:spPr bwMode="auto">
            <a:xfrm>
              <a:off x="2449513" y="2000250"/>
              <a:ext cx="0" cy="352583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119"/>
            <p:cNvSpPr>
              <a:spLocks noChangeShapeType="1"/>
            </p:cNvSpPr>
            <p:nvPr/>
          </p:nvSpPr>
          <p:spPr bwMode="auto">
            <a:xfrm>
              <a:off x="4876800" y="1995489"/>
              <a:ext cx="0" cy="353853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Rectangle 122"/>
            <p:cNvSpPr>
              <a:spLocks noChangeArrowheads="1"/>
            </p:cNvSpPr>
            <p:nvPr/>
          </p:nvSpPr>
          <p:spPr bwMode="auto">
            <a:xfrm>
              <a:off x="3067051" y="4003676"/>
              <a:ext cx="989013" cy="430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Text Box 123"/>
            <p:cNvSpPr txBox="1">
              <a:spLocks noChangeArrowheads="1"/>
            </p:cNvSpPr>
            <p:nvPr/>
          </p:nvSpPr>
          <p:spPr bwMode="auto">
            <a:xfrm>
              <a:off x="2635635" y="4084639"/>
              <a:ext cx="202170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Seq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=92, 8 bytes of data</a:t>
              </a:r>
            </a:p>
          </p:txBody>
        </p:sp>
        <p:sp>
          <p:nvSpPr>
            <p:cNvPr id="22" name="Text Box 124"/>
            <p:cNvSpPr txBox="1">
              <a:spLocks noChangeArrowheads="1"/>
            </p:cNvSpPr>
            <p:nvPr/>
          </p:nvSpPr>
          <p:spPr bwMode="auto">
            <a:xfrm>
              <a:off x="3308967" y="3135313"/>
              <a:ext cx="33214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3" name="Text Box 126"/>
            <p:cNvSpPr txBox="1">
              <a:spLocks noChangeArrowheads="1"/>
            </p:cNvSpPr>
            <p:nvPr/>
          </p:nvSpPr>
          <p:spPr bwMode="auto">
            <a:xfrm rot="10800000">
              <a:off x="2074833" y="2786996"/>
              <a:ext cx="400110" cy="693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timeout</a:t>
              </a:r>
            </a:p>
          </p:txBody>
        </p:sp>
        <p:sp>
          <p:nvSpPr>
            <p:cNvPr id="24" name="Line 127"/>
            <p:cNvSpPr>
              <a:spLocks noChangeShapeType="1"/>
            </p:cNvSpPr>
            <p:nvPr/>
          </p:nvSpPr>
          <p:spPr bwMode="auto">
            <a:xfrm flipH="1">
              <a:off x="2446339" y="4602164"/>
              <a:ext cx="2338387" cy="78263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Rectangle 128"/>
            <p:cNvSpPr>
              <a:spLocks noChangeArrowheads="1"/>
            </p:cNvSpPr>
            <p:nvPr/>
          </p:nvSpPr>
          <p:spPr bwMode="auto">
            <a:xfrm>
              <a:off x="3279776" y="4859338"/>
              <a:ext cx="747713" cy="246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" name="Text Box 129"/>
            <p:cNvSpPr txBox="1">
              <a:spLocks noChangeArrowheads="1"/>
            </p:cNvSpPr>
            <p:nvPr/>
          </p:nvSpPr>
          <p:spPr bwMode="auto">
            <a:xfrm>
              <a:off x="3200401" y="4814888"/>
              <a:ext cx="949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ACK=100</a:t>
              </a:r>
              <a:endParaRPr lang="en-US" altLang="zh-CN" sz="1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7" name="Group 134"/>
            <p:cNvGrpSpPr>
              <a:grpSpLocks/>
            </p:cNvGrpSpPr>
            <p:nvPr/>
          </p:nvGrpSpPr>
          <p:grpSpPr bwMode="auto">
            <a:xfrm>
              <a:off x="2217739" y="2246313"/>
              <a:ext cx="104775" cy="508000"/>
              <a:chOff x="3099" y="1749"/>
              <a:chExt cx="66" cy="320"/>
            </a:xfrm>
          </p:grpSpPr>
          <p:sp>
            <p:nvSpPr>
              <p:cNvPr id="37" name="Line 132"/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" name="Line 133"/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8" name="Group 135"/>
            <p:cNvGrpSpPr>
              <a:grpSpLocks/>
            </p:cNvGrpSpPr>
            <p:nvPr/>
          </p:nvGrpSpPr>
          <p:grpSpPr bwMode="auto">
            <a:xfrm rot="10800000">
              <a:off x="2212976" y="3489325"/>
              <a:ext cx="104775" cy="508000"/>
              <a:chOff x="3099" y="1749"/>
              <a:chExt cx="66" cy="320"/>
            </a:xfrm>
          </p:grpSpPr>
          <p:sp>
            <p:nvSpPr>
              <p:cNvPr id="35" name="Line 136"/>
              <p:cNvSpPr>
                <a:spLocks noChangeShapeType="1"/>
              </p:cNvSpPr>
              <p:nvPr/>
            </p:nvSpPr>
            <p:spPr bwMode="auto">
              <a:xfrm flipV="1">
                <a:off x="3130" y="1750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" name="Line 137"/>
              <p:cNvSpPr>
                <a:spLocks noChangeShapeType="1"/>
              </p:cNvSpPr>
              <p:nvPr/>
            </p:nvSpPr>
            <p:spPr bwMode="auto">
              <a:xfrm>
                <a:off x="3100" y="1753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9" name="Group 228"/>
            <p:cNvGrpSpPr>
              <a:grpSpLocks/>
            </p:cNvGrpSpPr>
            <p:nvPr/>
          </p:nvGrpSpPr>
          <p:grpSpPr bwMode="auto">
            <a:xfrm>
              <a:off x="2039939" y="1373188"/>
              <a:ext cx="630237" cy="533400"/>
              <a:chOff x="-44" y="1473"/>
              <a:chExt cx="981" cy="1105"/>
            </a:xfrm>
          </p:grpSpPr>
          <p:pic>
            <p:nvPicPr>
              <p:cNvPr id="33" name="Picture 22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" name="Freeform 23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6756664 w 356"/>
                  <a:gd name="T3" fmla="*/ 23644115 h 368"/>
                  <a:gd name="T4" fmla="*/ 185958828 w 356"/>
                  <a:gd name="T5" fmla="*/ 492768470 h 368"/>
                  <a:gd name="T6" fmla="*/ 40982514 w 356"/>
                  <a:gd name="T7" fmla="*/ 61626047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0" name="Group 231"/>
            <p:cNvGrpSpPr>
              <a:grpSpLocks/>
            </p:cNvGrpSpPr>
            <p:nvPr/>
          </p:nvGrpSpPr>
          <p:grpSpPr bwMode="auto">
            <a:xfrm flipH="1">
              <a:off x="4618038" y="1357314"/>
              <a:ext cx="709612" cy="600075"/>
              <a:chOff x="-44" y="1473"/>
              <a:chExt cx="981" cy="1105"/>
            </a:xfrm>
          </p:grpSpPr>
          <p:pic>
            <p:nvPicPr>
              <p:cNvPr id="31" name="Picture 23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" name="Freeform 23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6756664 w 356"/>
                  <a:gd name="T3" fmla="*/ 23644115 h 368"/>
                  <a:gd name="T4" fmla="*/ 185958828 w 356"/>
                  <a:gd name="T5" fmla="*/ 492768470 h 368"/>
                  <a:gd name="T6" fmla="*/ 40982514 w 356"/>
                  <a:gd name="T7" fmla="*/ 61626047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3967395" y="1522344"/>
            <a:ext cx="4094990" cy="4276528"/>
            <a:chOff x="5868161" y="1368425"/>
            <a:chExt cx="4094990" cy="4276528"/>
          </a:xfrm>
        </p:grpSpPr>
        <p:sp>
          <p:nvSpPr>
            <p:cNvPr id="40" name="Line 173"/>
            <p:cNvSpPr>
              <a:spLocks noChangeShapeType="1"/>
            </p:cNvSpPr>
            <p:nvPr/>
          </p:nvSpPr>
          <p:spPr bwMode="auto">
            <a:xfrm>
              <a:off x="7173914" y="4016376"/>
              <a:ext cx="2441575" cy="66516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174"/>
            <p:cNvSpPr>
              <a:spLocks noChangeShapeType="1"/>
            </p:cNvSpPr>
            <p:nvPr/>
          </p:nvSpPr>
          <p:spPr bwMode="auto">
            <a:xfrm>
              <a:off x="7207251" y="2247900"/>
              <a:ext cx="2346325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175"/>
            <p:cNvSpPr>
              <a:spLocks noChangeShapeType="1"/>
            </p:cNvSpPr>
            <p:nvPr/>
          </p:nvSpPr>
          <p:spPr bwMode="auto">
            <a:xfrm flipH="1">
              <a:off x="7181851" y="2909889"/>
              <a:ext cx="2335213" cy="158908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Rectangle 182"/>
            <p:cNvSpPr>
              <a:spLocks noChangeArrowheads="1"/>
            </p:cNvSpPr>
            <p:nvPr/>
          </p:nvSpPr>
          <p:spPr bwMode="auto">
            <a:xfrm>
              <a:off x="7910513" y="2328864"/>
              <a:ext cx="869950" cy="401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4" name="Text Box 183"/>
            <p:cNvSpPr txBox="1">
              <a:spLocks noChangeArrowheads="1"/>
            </p:cNvSpPr>
            <p:nvPr/>
          </p:nvSpPr>
          <p:spPr bwMode="auto">
            <a:xfrm>
              <a:off x="7383848" y="2381251"/>
              <a:ext cx="202170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Seq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=92, 8 bytes of data</a:t>
              </a:r>
            </a:p>
          </p:txBody>
        </p:sp>
        <p:grpSp>
          <p:nvGrpSpPr>
            <p:cNvPr id="45" name="Group 202"/>
            <p:cNvGrpSpPr>
              <a:grpSpLocks/>
            </p:cNvGrpSpPr>
            <p:nvPr/>
          </p:nvGrpSpPr>
          <p:grpSpPr bwMode="auto">
            <a:xfrm>
              <a:off x="8083551" y="3402013"/>
              <a:ext cx="949325" cy="304800"/>
              <a:chOff x="4215" y="2253"/>
              <a:chExt cx="598" cy="192"/>
            </a:xfrm>
          </p:grpSpPr>
          <p:sp>
            <p:nvSpPr>
              <p:cNvPr id="78" name="Rectangle 184"/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Text Box 185"/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  <a:ea typeface="宋体" panose="02010600030101010101" pitchFamily="2" charset="-122"/>
                  </a:rPr>
                  <a:t>ACK=100</a:t>
                </a:r>
                <a:endPara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6" name="Line 186"/>
            <p:cNvSpPr>
              <a:spLocks noChangeShapeType="1"/>
            </p:cNvSpPr>
            <p:nvPr/>
          </p:nvSpPr>
          <p:spPr bwMode="auto">
            <a:xfrm>
              <a:off x="7186613" y="2006600"/>
              <a:ext cx="0" cy="352583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Line 187"/>
            <p:cNvSpPr>
              <a:spLocks noChangeShapeType="1"/>
            </p:cNvSpPr>
            <p:nvPr/>
          </p:nvSpPr>
          <p:spPr bwMode="auto">
            <a:xfrm>
              <a:off x="9591675" y="2001839"/>
              <a:ext cx="0" cy="353853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Rectangle 188"/>
            <p:cNvSpPr>
              <a:spLocks noChangeArrowheads="1"/>
            </p:cNvSpPr>
            <p:nvPr/>
          </p:nvSpPr>
          <p:spPr bwMode="auto">
            <a:xfrm>
              <a:off x="8199439" y="4133850"/>
              <a:ext cx="1057275" cy="5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9" name="Text Box 189"/>
            <p:cNvSpPr txBox="1">
              <a:spLocks noChangeArrowheads="1"/>
            </p:cNvSpPr>
            <p:nvPr/>
          </p:nvSpPr>
          <p:spPr bwMode="auto">
            <a:xfrm>
              <a:off x="8120063" y="4167188"/>
              <a:ext cx="118974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Seq=92,  8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bytes of data</a:t>
              </a:r>
            </a:p>
          </p:txBody>
        </p:sp>
        <p:sp>
          <p:nvSpPr>
            <p:cNvPr id="50" name="Text Box 191"/>
            <p:cNvSpPr txBox="1">
              <a:spLocks noChangeArrowheads="1"/>
            </p:cNvSpPr>
            <p:nvPr/>
          </p:nvSpPr>
          <p:spPr bwMode="auto">
            <a:xfrm rot="10800000">
              <a:off x="6811933" y="2793346"/>
              <a:ext cx="400110" cy="693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timeout</a:t>
              </a:r>
            </a:p>
          </p:txBody>
        </p:sp>
        <p:sp>
          <p:nvSpPr>
            <p:cNvPr id="51" name="Line 192"/>
            <p:cNvSpPr>
              <a:spLocks noChangeShapeType="1"/>
            </p:cNvSpPr>
            <p:nvPr/>
          </p:nvSpPr>
          <p:spPr bwMode="auto">
            <a:xfrm flipH="1">
              <a:off x="7205664" y="4719639"/>
              <a:ext cx="2338387" cy="78263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Rectangle 193"/>
            <p:cNvSpPr>
              <a:spLocks noChangeArrowheads="1"/>
            </p:cNvSpPr>
            <p:nvPr/>
          </p:nvSpPr>
          <p:spPr bwMode="auto">
            <a:xfrm>
              <a:off x="8039101" y="4976813"/>
              <a:ext cx="747713" cy="246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Text Box 194"/>
            <p:cNvSpPr txBox="1">
              <a:spLocks noChangeArrowheads="1"/>
            </p:cNvSpPr>
            <p:nvPr/>
          </p:nvSpPr>
          <p:spPr bwMode="auto">
            <a:xfrm>
              <a:off x="7959726" y="4932363"/>
              <a:ext cx="949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ACK=120</a:t>
              </a:r>
              <a:endParaRPr lang="en-US" altLang="zh-CN" sz="1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4" name="Group 195"/>
            <p:cNvGrpSpPr>
              <a:grpSpLocks/>
            </p:cNvGrpSpPr>
            <p:nvPr/>
          </p:nvGrpSpPr>
          <p:grpSpPr bwMode="auto">
            <a:xfrm>
              <a:off x="6954839" y="2252663"/>
              <a:ext cx="104775" cy="508000"/>
              <a:chOff x="3099" y="1749"/>
              <a:chExt cx="66" cy="320"/>
            </a:xfrm>
          </p:grpSpPr>
          <p:sp>
            <p:nvSpPr>
              <p:cNvPr id="76" name="Line 196"/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7" name="Line 197"/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5" name="Group 198"/>
            <p:cNvGrpSpPr>
              <a:grpSpLocks/>
            </p:cNvGrpSpPr>
            <p:nvPr/>
          </p:nvGrpSpPr>
          <p:grpSpPr bwMode="auto">
            <a:xfrm rot="10800000">
              <a:off x="6950076" y="3495675"/>
              <a:ext cx="104775" cy="508000"/>
              <a:chOff x="3099" y="1749"/>
              <a:chExt cx="66" cy="320"/>
            </a:xfrm>
          </p:grpSpPr>
          <p:sp>
            <p:nvSpPr>
              <p:cNvPr id="74" name="Line 199"/>
              <p:cNvSpPr>
                <a:spLocks noChangeShapeType="1"/>
              </p:cNvSpPr>
              <p:nvPr/>
            </p:nvSpPr>
            <p:spPr bwMode="auto">
              <a:xfrm flipV="1">
                <a:off x="3131" y="1750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5" name="Line 200"/>
              <p:cNvSpPr>
                <a:spLocks noChangeShapeType="1"/>
              </p:cNvSpPr>
              <p:nvPr/>
            </p:nvSpPr>
            <p:spPr bwMode="auto">
              <a:xfrm>
                <a:off x="3101" y="1753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6" name="Group 206"/>
            <p:cNvGrpSpPr>
              <a:grpSpLocks/>
            </p:cNvGrpSpPr>
            <p:nvPr/>
          </p:nvGrpSpPr>
          <p:grpSpPr bwMode="auto">
            <a:xfrm>
              <a:off x="7192964" y="2633663"/>
              <a:ext cx="2346325" cy="571500"/>
              <a:chOff x="3759" y="1622"/>
              <a:chExt cx="1478" cy="360"/>
            </a:xfrm>
          </p:grpSpPr>
          <p:sp>
            <p:nvSpPr>
              <p:cNvPr id="71" name="Line 203"/>
              <p:cNvSpPr>
                <a:spLocks noChangeShapeType="1"/>
              </p:cNvSpPr>
              <p:nvPr/>
            </p:nvSpPr>
            <p:spPr bwMode="auto">
              <a:xfrm>
                <a:off x="3759" y="1622"/>
                <a:ext cx="1478" cy="36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Rectangle 204"/>
              <p:cNvSpPr>
                <a:spLocks noChangeArrowheads="1"/>
              </p:cNvSpPr>
              <p:nvPr/>
            </p:nvSpPr>
            <p:spPr bwMode="auto">
              <a:xfrm>
                <a:off x="4202" y="1673"/>
                <a:ext cx="548" cy="2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Text Box 205"/>
              <p:cNvSpPr txBox="1">
                <a:spLocks noChangeArrowheads="1"/>
              </p:cNvSpPr>
              <p:nvPr/>
            </p:nvSpPr>
            <p:spPr bwMode="auto">
              <a:xfrm>
                <a:off x="3812" y="1706"/>
                <a:ext cx="1393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Seq=100, 20 bytes of data</a:t>
                </a:r>
              </a:p>
            </p:txBody>
          </p:sp>
        </p:grpSp>
        <p:sp>
          <p:nvSpPr>
            <p:cNvPr id="57" name="Line 207"/>
            <p:cNvSpPr>
              <a:spLocks noChangeShapeType="1"/>
            </p:cNvSpPr>
            <p:nvPr/>
          </p:nvSpPr>
          <p:spPr bwMode="auto">
            <a:xfrm flipH="1">
              <a:off x="7186613" y="3265489"/>
              <a:ext cx="2335212" cy="158908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8" name="Group 208"/>
            <p:cNvGrpSpPr>
              <a:grpSpLocks/>
            </p:cNvGrpSpPr>
            <p:nvPr/>
          </p:nvGrpSpPr>
          <p:grpSpPr bwMode="auto">
            <a:xfrm>
              <a:off x="8323264" y="3678238"/>
              <a:ext cx="949325" cy="304800"/>
              <a:chOff x="4215" y="2253"/>
              <a:chExt cx="598" cy="192"/>
            </a:xfrm>
          </p:grpSpPr>
          <p:sp>
            <p:nvSpPr>
              <p:cNvPr id="69" name="Rectangle 209"/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Text Box 210"/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  <a:ea typeface="宋体" panose="02010600030101010101" pitchFamily="2" charset="-122"/>
                  </a:rPr>
                  <a:t>ACK=120</a:t>
                </a:r>
                <a:endPara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9" name="Text Box 211"/>
            <p:cNvSpPr txBox="1">
              <a:spLocks noChangeArrowheads="1"/>
            </p:cNvSpPr>
            <p:nvPr/>
          </p:nvSpPr>
          <p:spPr bwMode="auto">
            <a:xfrm>
              <a:off x="5868161" y="4321176"/>
              <a:ext cx="133401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SendBase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=100</a:t>
              </a:r>
            </a:p>
          </p:txBody>
        </p:sp>
        <p:sp>
          <p:nvSpPr>
            <p:cNvPr id="60" name="Text Box 212"/>
            <p:cNvSpPr txBox="1">
              <a:spLocks noChangeArrowheads="1"/>
            </p:cNvSpPr>
            <p:nvPr/>
          </p:nvSpPr>
          <p:spPr bwMode="auto">
            <a:xfrm>
              <a:off x="5868161" y="4662489"/>
              <a:ext cx="133401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SendBase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=120</a:t>
              </a:r>
            </a:p>
          </p:txBody>
        </p:sp>
        <p:sp>
          <p:nvSpPr>
            <p:cNvPr id="61" name="Text Box 213"/>
            <p:cNvSpPr txBox="1">
              <a:spLocks noChangeArrowheads="1"/>
            </p:cNvSpPr>
            <p:nvPr/>
          </p:nvSpPr>
          <p:spPr bwMode="auto">
            <a:xfrm>
              <a:off x="5868161" y="5337176"/>
              <a:ext cx="133401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SendBase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=120</a:t>
              </a:r>
            </a:p>
          </p:txBody>
        </p:sp>
        <p:sp>
          <p:nvSpPr>
            <p:cNvPr id="62" name="Text Box 214"/>
            <p:cNvSpPr txBox="1">
              <a:spLocks noChangeArrowheads="1"/>
            </p:cNvSpPr>
            <p:nvPr/>
          </p:nvSpPr>
          <p:spPr bwMode="auto">
            <a:xfrm>
              <a:off x="5915449" y="2092326"/>
              <a:ext cx="1239442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SendBase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=92</a:t>
              </a:r>
            </a:p>
          </p:txBody>
        </p:sp>
        <p:grpSp>
          <p:nvGrpSpPr>
            <p:cNvPr id="63" name="Group 219"/>
            <p:cNvGrpSpPr>
              <a:grpSpLocks/>
            </p:cNvGrpSpPr>
            <p:nvPr/>
          </p:nvGrpSpPr>
          <p:grpSpPr bwMode="auto">
            <a:xfrm>
              <a:off x="6764339" y="1368425"/>
              <a:ext cx="630237" cy="533400"/>
              <a:chOff x="-44" y="1473"/>
              <a:chExt cx="981" cy="1105"/>
            </a:xfrm>
          </p:grpSpPr>
          <p:pic>
            <p:nvPicPr>
              <p:cNvPr id="67" name="Picture 22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8" name="Freeform 22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6756664 w 356"/>
                  <a:gd name="T3" fmla="*/ 23644115 h 368"/>
                  <a:gd name="T4" fmla="*/ 185958828 w 356"/>
                  <a:gd name="T5" fmla="*/ 492768470 h 368"/>
                  <a:gd name="T6" fmla="*/ 40982514 w 356"/>
                  <a:gd name="T7" fmla="*/ 61626047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64" name="Group 225"/>
            <p:cNvGrpSpPr>
              <a:grpSpLocks/>
            </p:cNvGrpSpPr>
            <p:nvPr/>
          </p:nvGrpSpPr>
          <p:grpSpPr bwMode="auto">
            <a:xfrm flipH="1">
              <a:off x="9331326" y="1374775"/>
              <a:ext cx="631825" cy="622300"/>
              <a:chOff x="-44" y="1473"/>
              <a:chExt cx="981" cy="1105"/>
            </a:xfrm>
          </p:grpSpPr>
          <p:pic>
            <p:nvPicPr>
              <p:cNvPr id="65" name="Picture 22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6" name="Freeform 227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6756664 w 356"/>
                  <a:gd name="T3" fmla="*/ 23644115 h 368"/>
                  <a:gd name="T4" fmla="*/ 185958828 w 356"/>
                  <a:gd name="T5" fmla="*/ 492768470 h 368"/>
                  <a:gd name="T6" fmla="*/ 40982514 w 356"/>
                  <a:gd name="T7" fmla="*/ 61626047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80" name="组合 79"/>
          <p:cNvGrpSpPr/>
          <p:nvPr/>
        </p:nvGrpSpPr>
        <p:grpSpPr>
          <a:xfrm>
            <a:off x="8473224" y="1529865"/>
            <a:ext cx="3252787" cy="4464051"/>
            <a:chOff x="2427289" y="1273175"/>
            <a:chExt cx="3252787" cy="4464051"/>
          </a:xfrm>
        </p:grpSpPr>
        <p:sp>
          <p:nvSpPr>
            <p:cNvPr id="81" name="Text Box 22"/>
            <p:cNvSpPr txBox="1">
              <a:spLocks noChangeArrowheads="1"/>
            </p:cNvSpPr>
            <p:nvPr/>
          </p:nvSpPr>
          <p:spPr bwMode="auto">
            <a:xfrm>
              <a:off x="3496292" y="3468688"/>
              <a:ext cx="33214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82" name="Line 35"/>
            <p:cNvSpPr>
              <a:spLocks noChangeShapeType="1"/>
            </p:cNvSpPr>
            <p:nvPr/>
          </p:nvSpPr>
          <p:spPr bwMode="auto">
            <a:xfrm>
              <a:off x="2892426" y="4540251"/>
              <a:ext cx="2441575" cy="66516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36"/>
            <p:cNvSpPr>
              <a:spLocks noChangeShapeType="1"/>
            </p:cNvSpPr>
            <p:nvPr/>
          </p:nvSpPr>
          <p:spPr bwMode="auto">
            <a:xfrm>
              <a:off x="2868614" y="2444750"/>
              <a:ext cx="2346325" cy="5715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37"/>
            <p:cNvSpPr>
              <a:spLocks noChangeShapeType="1"/>
            </p:cNvSpPr>
            <p:nvPr/>
          </p:nvSpPr>
          <p:spPr bwMode="auto">
            <a:xfrm flipH="1">
              <a:off x="3746501" y="3106739"/>
              <a:ext cx="1431925" cy="57308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Text Box 39"/>
            <p:cNvSpPr txBox="1">
              <a:spLocks noChangeArrowheads="1"/>
            </p:cNvSpPr>
            <p:nvPr/>
          </p:nvSpPr>
          <p:spPr bwMode="auto">
            <a:xfrm>
              <a:off x="4798330" y="1273175"/>
              <a:ext cx="76495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Host B</a:t>
              </a:r>
            </a:p>
          </p:txBody>
        </p:sp>
        <p:sp>
          <p:nvSpPr>
            <p:cNvPr id="86" name="Text Box 43"/>
            <p:cNvSpPr txBox="1">
              <a:spLocks noChangeArrowheads="1"/>
            </p:cNvSpPr>
            <p:nvPr/>
          </p:nvSpPr>
          <p:spPr bwMode="auto">
            <a:xfrm>
              <a:off x="2471780" y="1303338"/>
              <a:ext cx="77938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Host A</a:t>
              </a:r>
            </a:p>
          </p:txBody>
        </p:sp>
        <p:sp>
          <p:nvSpPr>
            <p:cNvPr id="87" name="Rectangle 44"/>
            <p:cNvSpPr>
              <a:spLocks noChangeArrowheads="1"/>
            </p:cNvSpPr>
            <p:nvPr/>
          </p:nvSpPr>
          <p:spPr bwMode="auto">
            <a:xfrm>
              <a:off x="3571875" y="2525714"/>
              <a:ext cx="869950" cy="401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8" name="Text Box 45"/>
            <p:cNvSpPr txBox="1">
              <a:spLocks noChangeArrowheads="1"/>
            </p:cNvSpPr>
            <p:nvPr/>
          </p:nvSpPr>
          <p:spPr bwMode="auto">
            <a:xfrm>
              <a:off x="3045210" y="2578101"/>
              <a:ext cx="202170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Seq=92, 8 bytes of data</a:t>
              </a:r>
            </a:p>
          </p:txBody>
        </p:sp>
        <p:grpSp>
          <p:nvGrpSpPr>
            <p:cNvPr id="89" name="Group 46"/>
            <p:cNvGrpSpPr>
              <a:grpSpLocks/>
            </p:cNvGrpSpPr>
            <p:nvPr/>
          </p:nvGrpSpPr>
          <p:grpSpPr bwMode="auto">
            <a:xfrm>
              <a:off x="3768726" y="3306763"/>
              <a:ext cx="949325" cy="304800"/>
              <a:chOff x="4215" y="2253"/>
              <a:chExt cx="598" cy="192"/>
            </a:xfrm>
          </p:grpSpPr>
          <p:sp>
            <p:nvSpPr>
              <p:cNvPr id="117" name="Rectangle 47"/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Text Box 48"/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  <a:ea typeface="宋体" panose="02010600030101010101" pitchFamily="2" charset="-122"/>
                  </a:rPr>
                  <a:t>ACK=100</a:t>
                </a:r>
                <a:endPara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0" name="Line 49"/>
            <p:cNvSpPr>
              <a:spLocks noChangeShapeType="1"/>
            </p:cNvSpPr>
            <p:nvPr/>
          </p:nvSpPr>
          <p:spPr bwMode="auto">
            <a:xfrm>
              <a:off x="2847975" y="2203450"/>
              <a:ext cx="0" cy="352583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1" name="Line 50"/>
            <p:cNvSpPr>
              <a:spLocks noChangeShapeType="1"/>
            </p:cNvSpPr>
            <p:nvPr/>
          </p:nvSpPr>
          <p:spPr bwMode="auto">
            <a:xfrm>
              <a:off x="5253038" y="2198689"/>
              <a:ext cx="0" cy="353853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" name="Rectangle 51"/>
            <p:cNvSpPr>
              <a:spLocks noChangeArrowheads="1"/>
            </p:cNvSpPr>
            <p:nvPr/>
          </p:nvSpPr>
          <p:spPr bwMode="auto">
            <a:xfrm>
              <a:off x="3589338" y="4613275"/>
              <a:ext cx="933450" cy="5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3" name="Text Box 52"/>
            <p:cNvSpPr txBox="1">
              <a:spLocks noChangeArrowheads="1"/>
            </p:cNvSpPr>
            <p:nvPr/>
          </p:nvSpPr>
          <p:spPr bwMode="auto">
            <a:xfrm>
              <a:off x="2863851" y="4700588"/>
              <a:ext cx="26527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Seq=120,  15 bytes of data</a:t>
              </a:r>
            </a:p>
          </p:txBody>
        </p:sp>
        <p:sp>
          <p:nvSpPr>
            <p:cNvPr id="94" name="Rectangle 55"/>
            <p:cNvSpPr>
              <a:spLocks noChangeArrowheads="1"/>
            </p:cNvSpPr>
            <p:nvPr/>
          </p:nvSpPr>
          <p:spPr bwMode="auto">
            <a:xfrm>
              <a:off x="3700463" y="5173663"/>
              <a:ext cx="747712" cy="246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95" name="Group 75"/>
            <p:cNvGrpSpPr>
              <a:grpSpLocks/>
            </p:cNvGrpSpPr>
            <p:nvPr/>
          </p:nvGrpSpPr>
          <p:grpSpPr bwMode="auto">
            <a:xfrm>
              <a:off x="2471738" y="2449513"/>
              <a:ext cx="400050" cy="2406650"/>
              <a:chOff x="3413" y="1529"/>
              <a:chExt cx="252" cy="1103"/>
            </a:xfrm>
          </p:grpSpPr>
          <p:sp>
            <p:nvSpPr>
              <p:cNvPr id="110" name="Text Box 53"/>
              <p:cNvSpPr txBox="1">
                <a:spLocks noChangeArrowheads="1"/>
              </p:cNvSpPr>
              <p:nvPr/>
            </p:nvSpPr>
            <p:spPr bwMode="auto">
              <a:xfrm rot="10800000">
                <a:off x="3413" y="1930"/>
                <a:ext cx="252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timeout</a:t>
                </a:r>
              </a:p>
            </p:txBody>
          </p:sp>
          <p:grpSp>
            <p:nvGrpSpPr>
              <p:cNvPr id="111" name="Group 57"/>
              <p:cNvGrpSpPr>
                <a:grpSpLocks/>
              </p:cNvGrpSpPr>
              <p:nvPr/>
            </p:nvGrpSpPr>
            <p:grpSpPr bwMode="auto">
              <a:xfrm>
                <a:off x="3504" y="1529"/>
                <a:ext cx="66" cy="320"/>
                <a:chOff x="3099" y="1749"/>
                <a:chExt cx="66" cy="320"/>
              </a:xfrm>
            </p:grpSpPr>
            <p:sp>
              <p:nvSpPr>
                <p:cNvPr id="115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3129" y="1749"/>
                  <a:ext cx="0" cy="3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16" name="Line 59"/>
                <p:cNvSpPr>
                  <a:spLocks noChangeShapeType="1"/>
                </p:cNvSpPr>
                <p:nvPr/>
              </p:nvSpPr>
              <p:spPr bwMode="auto">
                <a:xfrm>
                  <a:off x="3099" y="1752"/>
                  <a:ext cx="6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" name="Group 60"/>
              <p:cNvGrpSpPr>
                <a:grpSpLocks/>
              </p:cNvGrpSpPr>
              <p:nvPr/>
            </p:nvGrpSpPr>
            <p:grpSpPr bwMode="auto">
              <a:xfrm rot="10800000">
                <a:off x="3501" y="2312"/>
                <a:ext cx="66" cy="320"/>
                <a:chOff x="3099" y="1749"/>
                <a:chExt cx="66" cy="320"/>
              </a:xfrm>
            </p:grpSpPr>
            <p:sp>
              <p:nvSpPr>
                <p:cNvPr id="113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3130" y="1750"/>
                  <a:ext cx="0" cy="3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14" name="Line 62"/>
                <p:cNvSpPr>
                  <a:spLocks noChangeShapeType="1"/>
                </p:cNvSpPr>
                <p:nvPr/>
              </p:nvSpPr>
              <p:spPr bwMode="auto">
                <a:xfrm>
                  <a:off x="3100" y="1753"/>
                  <a:ext cx="6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96" name="Group 63"/>
            <p:cNvGrpSpPr>
              <a:grpSpLocks/>
            </p:cNvGrpSpPr>
            <p:nvPr/>
          </p:nvGrpSpPr>
          <p:grpSpPr bwMode="auto">
            <a:xfrm>
              <a:off x="2854326" y="2830513"/>
              <a:ext cx="2346325" cy="571500"/>
              <a:chOff x="3759" y="1622"/>
              <a:chExt cx="1478" cy="360"/>
            </a:xfrm>
          </p:grpSpPr>
          <p:sp>
            <p:nvSpPr>
              <p:cNvPr id="107" name="Line 64"/>
              <p:cNvSpPr>
                <a:spLocks noChangeShapeType="1"/>
              </p:cNvSpPr>
              <p:nvPr/>
            </p:nvSpPr>
            <p:spPr bwMode="auto">
              <a:xfrm>
                <a:off x="3759" y="1622"/>
                <a:ext cx="1478" cy="36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Rectangle 65"/>
              <p:cNvSpPr>
                <a:spLocks noChangeArrowheads="1"/>
              </p:cNvSpPr>
              <p:nvPr/>
            </p:nvSpPr>
            <p:spPr bwMode="auto">
              <a:xfrm>
                <a:off x="4202" y="1673"/>
                <a:ext cx="548" cy="2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9" name="Text Box 66"/>
              <p:cNvSpPr txBox="1">
                <a:spLocks noChangeArrowheads="1"/>
              </p:cNvSpPr>
              <p:nvPr/>
            </p:nvSpPr>
            <p:spPr bwMode="auto">
              <a:xfrm>
                <a:off x="3812" y="1706"/>
                <a:ext cx="1393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Seq=100, 20 bytes of data</a:t>
                </a:r>
              </a:p>
            </p:txBody>
          </p:sp>
        </p:grpSp>
        <p:sp>
          <p:nvSpPr>
            <p:cNvPr id="97" name="Line 67"/>
            <p:cNvSpPr>
              <a:spLocks noChangeShapeType="1"/>
            </p:cNvSpPr>
            <p:nvPr/>
          </p:nvSpPr>
          <p:spPr bwMode="auto">
            <a:xfrm flipH="1">
              <a:off x="2859088" y="3462339"/>
              <a:ext cx="2324100" cy="10255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8" name="Group 68"/>
            <p:cNvGrpSpPr>
              <a:grpSpLocks/>
            </p:cNvGrpSpPr>
            <p:nvPr/>
          </p:nvGrpSpPr>
          <p:grpSpPr bwMode="auto">
            <a:xfrm>
              <a:off x="3502026" y="3863975"/>
              <a:ext cx="949325" cy="304800"/>
              <a:chOff x="4215" y="2253"/>
              <a:chExt cx="598" cy="192"/>
            </a:xfrm>
          </p:grpSpPr>
          <p:sp>
            <p:nvSpPr>
              <p:cNvPr id="105" name="Rectangle 69"/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Text Box 70"/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  <a:ea typeface="宋体" panose="02010600030101010101" pitchFamily="2" charset="-122"/>
                  </a:rPr>
                  <a:t>ACK=120</a:t>
                </a:r>
                <a:endPara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" name="Group 84"/>
            <p:cNvGrpSpPr>
              <a:grpSpLocks/>
            </p:cNvGrpSpPr>
            <p:nvPr/>
          </p:nvGrpSpPr>
          <p:grpSpPr bwMode="auto">
            <a:xfrm>
              <a:off x="2427289" y="1565275"/>
              <a:ext cx="630237" cy="533400"/>
              <a:chOff x="-44" y="1473"/>
              <a:chExt cx="981" cy="1105"/>
            </a:xfrm>
          </p:grpSpPr>
          <p:pic>
            <p:nvPicPr>
              <p:cNvPr id="103" name="Picture 8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" name="Freeform 8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6756664 w 356"/>
                  <a:gd name="T3" fmla="*/ 23644115 h 368"/>
                  <a:gd name="T4" fmla="*/ 185958828 w 356"/>
                  <a:gd name="T5" fmla="*/ 492768470 h 368"/>
                  <a:gd name="T6" fmla="*/ 40982514 w 356"/>
                  <a:gd name="T7" fmla="*/ 61626047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00" name="Group 87"/>
            <p:cNvGrpSpPr>
              <a:grpSpLocks/>
            </p:cNvGrpSpPr>
            <p:nvPr/>
          </p:nvGrpSpPr>
          <p:grpSpPr bwMode="auto">
            <a:xfrm flipH="1">
              <a:off x="5005389" y="1560513"/>
              <a:ext cx="674687" cy="590550"/>
              <a:chOff x="-44" y="1473"/>
              <a:chExt cx="981" cy="1105"/>
            </a:xfrm>
          </p:grpSpPr>
          <p:pic>
            <p:nvPicPr>
              <p:cNvPr id="101" name="Picture 8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" name="Freeform 8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6756664 w 356"/>
                  <a:gd name="T3" fmla="*/ 23644115 h 368"/>
                  <a:gd name="T4" fmla="*/ 185958828 w 356"/>
                  <a:gd name="T5" fmla="*/ 492768470 h 368"/>
                  <a:gd name="T6" fmla="*/ 40982514 w 356"/>
                  <a:gd name="T7" fmla="*/ 61626047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119" name="文本框 118"/>
          <p:cNvSpPr txBox="1"/>
          <p:nvPr/>
        </p:nvSpPr>
        <p:spPr>
          <a:xfrm>
            <a:off x="740159" y="5883099"/>
            <a:ext cx="257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ACK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丢失，重传报文段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5108514" y="5820778"/>
            <a:ext cx="2462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超时，仅第一个报文段重传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8905023" y="5893387"/>
            <a:ext cx="2345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ACK</a:t>
            </a: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丢失，但未重传</a:t>
            </a:r>
          </a:p>
        </p:txBody>
      </p:sp>
      <p:sp>
        <p:nvSpPr>
          <p:cNvPr id="122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6.3.3  </a:t>
            </a:r>
            <a:r>
              <a:rPr kumimoji="1" lang="zh-CN" altLang="en-US" dirty="0"/>
              <a:t>面向连接的传输：可靠传输</a:t>
            </a:r>
          </a:p>
        </p:txBody>
      </p:sp>
      <p:pic>
        <p:nvPicPr>
          <p:cNvPr id="11266" name="Picture 2" descr="Time, clock icon - Free download on Iconfinder">
            <a:extLst>
              <a:ext uri="{FF2B5EF4-FFF2-40B4-BE49-F238E27FC236}">
                <a16:creationId xmlns:a16="http://schemas.microsoft.com/office/drawing/2014/main" id="{A9B4EAF6-378B-0C4A-96D5-122281B03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67" y="4284544"/>
            <a:ext cx="362801" cy="36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2" descr="Time, clock icon - Free download on Iconfinder">
            <a:extLst>
              <a:ext uri="{FF2B5EF4-FFF2-40B4-BE49-F238E27FC236}">
                <a16:creationId xmlns:a16="http://schemas.microsoft.com/office/drawing/2014/main" id="{798C26AD-723C-8347-A806-2BB51D7A2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84" y="2491464"/>
            <a:ext cx="362801" cy="36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Picture 2" descr="Time, clock icon - Free download on Iconfinder">
            <a:extLst>
              <a:ext uri="{FF2B5EF4-FFF2-40B4-BE49-F238E27FC236}">
                <a16:creationId xmlns:a16="http://schemas.microsoft.com/office/drawing/2014/main" id="{DE904195-CBC8-8447-B230-A8CC0D612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000" y="2263240"/>
            <a:ext cx="362801" cy="36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2" descr="Time, clock icon - Free download on Iconfinder">
            <a:extLst>
              <a:ext uri="{FF2B5EF4-FFF2-40B4-BE49-F238E27FC236}">
                <a16:creationId xmlns:a16="http://schemas.microsoft.com/office/drawing/2014/main" id="{DAAC8C8C-16DA-9C49-93C1-54FEF393C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791" y="4018796"/>
            <a:ext cx="362801" cy="36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2" descr="Time, clock icon - Free download on Iconfinder">
            <a:extLst>
              <a:ext uri="{FF2B5EF4-FFF2-40B4-BE49-F238E27FC236}">
                <a16:creationId xmlns:a16="http://schemas.microsoft.com/office/drawing/2014/main" id="{D19586CC-56DD-8D4C-A5E2-B2E0BCE57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972" y="4460930"/>
            <a:ext cx="362801" cy="36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Picture 2" descr="Time, clock icon - Free download on Iconfinder">
            <a:extLst>
              <a:ext uri="{FF2B5EF4-FFF2-40B4-BE49-F238E27FC236}">
                <a16:creationId xmlns:a16="http://schemas.microsoft.com/office/drawing/2014/main" id="{50237727-15CB-1D4B-A9A3-CDD17DEA8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284" y="2531348"/>
            <a:ext cx="362801" cy="36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788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可靠数据传输概述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6700" indent="-266700">
              <a:lnSpc>
                <a:spcPct val="120000"/>
              </a:lnSpc>
              <a:buClr>
                <a:srgbClr val="2A09B7"/>
              </a:buClr>
            </a:pP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思考以下问题：</a:t>
            </a:r>
            <a:endParaRPr lang="en-US" altLang="zh-CN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第二种情形，如果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每个报文段使用一个定时器，会怎么样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？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第三种情形，采用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流水式发送和累积确认，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可以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避免重发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哪些报文段？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66700" indent="-266700">
              <a:lnSpc>
                <a:spcPct val="120000"/>
              </a:lnSpc>
              <a:buClr>
                <a:srgbClr val="2A09B7"/>
              </a:buClr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通过采用以下机制减少了不必要的重传：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只使用一个定时器，避免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了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超时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设置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过小时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重发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大量报文段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利用流水式发送和累积确认，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可以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避免重发某些丢失了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ACK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的报文段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38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6.3.3  </a:t>
            </a:r>
            <a:r>
              <a:rPr kumimoji="1" lang="zh-CN" altLang="en-US" dirty="0"/>
              <a:t>面向连接的传输：可靠传输</a:t>
            </a:r>
          </a:p>
        </p:txBody>
      </p:sp>
    </p:spTree>
    <p:extLst>
      <p:ext uri="{BB962C8B-B14F-4D97-AF65-F5344CB8AC3E}">
        <p14:creationId xmlns:p14="http://schemas.microsoft.com/office/powerpoint/2010/main" val="3821052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的接收端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0801" y="1487109"/>
            <a:ext cx="5272454" cy="458669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理论上，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接收端只需区分两种情况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收到期待的报文段：发送更新的确认序号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其它情况：重复当前的确认序号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为减小通信量，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允许接收端推迟确认：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接收端可以在收到若干个报文段后，发送一个累积确认的报文段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39</a:t>
            </a:fld>
            <a:endParaRPr kumimoji="1"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195647" y="1487109"/>
            <a:ext cx="5351585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推迟确认带来的问题：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若延迟太大，会导致不必要的重传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推迟确认造成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RTT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估计不准确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协议规定：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推迟确认的时间最多为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500ms</a:t>
            </a:r>
            <a:endParaRPr lang="zh-CN" altLang="en-US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接收方至少每隔一个报文段使用正常方式进行确认</a:t>
            </a:r>
          </a:p>
          <a:p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6.3.3  </a:t>
            </a:r>
            <a:r>
              <a:rPr kumimoji="1" lang="zh-CN" altLang="en-US" dirty="0"/>
              <a:t>面向连接的传输：可靠传输</a:t>
            </a:r>
          </a:p>
        </p:txBody>
      </p:sp>
    </p:spTree>
    <p:extLst>
      <p:ext uri="{BB962C8B-B14F-4D97-AF65-F5344CB8AC3E}">
        <p14:creationId xmlns:p14="http://schemas.microsoft.com/office/powerpoint/2010/main" val="3921684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接收端的事件和处理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40</a:t>
            </a:fld>
            <a:endParaRPr kumimoji="1" lang="zh-CN" altLang="en-US" dirty="0"/>
          </a:p>
        </p:txBody>
      </p:sp>
      <p:graphicFrame>
        <p:nvGraphicFramePr>
          <p:cNvPr id="7" name="表格 2">
            <a:extLst>
              <a:ext uri="{FF2B5EF4-FFF2-40B4-BE49-F238E27FC236}">
                <a16:creationId xmlns:a16="http://schemas.microsoft.com/office/drawing/2014/main" id="{33B5F37A-299B-439E-AE50-4EC86C1C5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674796"/>
              </p:ext>
            </p:extLst>
          </p:nvPr>
        </p:nvGraphicFramePr>
        <p:xfrm>
          <a:off x="1199932" y="1706305"/>
          <a:ext cx="8664831" cy="36996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58459">
                  <a:extLst>
                    <a:ext uri="{9D8B030D-6E8A-4147-A177-3AD203B41FA5}">
                      <a16:colId xmlns:a16="http://schemas.microsoft.com/office/drawing/2014/main" val="899795406"/>
                    </a:ext>
                  </a:extLst>
                </a:gridCol>
                <a:gridCol w="4606372">
                  <a:extLst>
                    <a:ext uri="{9D8B030D-6E8A-4147-A177-3AD203B41FA5}">
                      <a16:colId xmlns:a16="http://schemas.microsoft.com/office/drawing/2014/main" val="3265946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接收端事件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接收端动作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067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 err="1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收到一个期待的报文段，且之前的报文段均已发</a:t>
                      </a:r>
                      <a:r>
                        <a:rPr lang="zh-CN" altLang="en-US" sz="200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送</a:t>
                      </a:r>
                      <a:r>
                        <a:rPr lang="en-US" altLang="zh-CN" sz="2000" dirty="0" err="1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过确认</a:t>
                      </a:r>
                      <a:endParaRPr lang="en-US" altLang="zh-CN" sz="2000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C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推迟发送</a:t>
                      </a:r>
                      <a:r>
                        <a:rPr lang="en-US" altLang="zh-CN" sz="2000" dirty="0" err="1">
                          <a:solidFill>
                            <a:srgbClr val="C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确认</a:t>
                      </a:r>
                      <a:r>
                        <a:rPr lang="zh-CN" altLang="en-US" sz="2000" dirty="0">
                          <a:solidFill>
                            <a:srgbClr val="C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</a:t>
                      </a:r>
                      <a:r>
                        <a:rPr lang="en-US" altLang="zh-CN" sz="200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在500ms</a:t>
                      </a:r>
                      <a:r>
                        <a:rPr lang="zh-CN" altLang="en-US" sz="200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时间</a:t>
                      </a:r>
                      <a:r>
                        <a:rPr lang="en-US" altLang="zh-CN" sz="200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内</a:t>
                      </a:r>
                      <a:r>
                        <a:rPr lang="zh-CN" altLang="en-US" sz="200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若无下一个报文段到来，发送确认</a:t>
                      </a:r>
                      <a:endParaRPr lang="en-US" altLang="zh-CN" sz="2000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320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 err="1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收到一个期待的报文</a:t>
                      </a:r>
                      <a:r>
                        <a:rPr lang="zh-CN" altLang="en-US" sz="200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段，且前一</a:t>
                      </a:r>
                      <a:r>
                        <a:rPr lang="en-US" altLang="zh-CN" sz="2000" dirty="0" err="1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个报文段被推迟确认</a:t>
                      </a:r>
                      <a:endParaRPr lang="en-US" altLang="zh-CN" sz="2000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立即发送</a:t>
                      </a:r>
                      <a:r>
                        <a:rPr lang="en-US" altLang="zh-CN" sz="2000" dirty="0" err="1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确认（估计RTT的需要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591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 err="1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收到一个失序的报文段（序号大于期待的序号</a:t>
                      </a:r>
                      <a:r>
                        <a:rPr lang="zh-CN" altLang="en-US" sz="200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），检测到序号间隙</a:t>
                      </a:r>
                      <a:endParaRPr lang="en-US" altLang="zh-CN" sz="2000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立即发送确认（快速重传的需要），</a:t>
                      </a:r>
                      <a:r>
                        <a:rPr lang="zh-CN" altLang="en-US" sz="200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重复当前的确认序号</a:t>
                      </a:r>
                      <a:endParaRPr lang="en-US" altLang="zh-CN" sz="2000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27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 dirty="0" err="1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收到部分或全部填充间隙的报文段</a:t>
                      </a:r>
                      <a:endParaRPr lang="en-US" altLang="zh-CN" sz="2000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若报文段始于间隙的低端，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立即发送确认（推进发送窗口），</a:t>
                      </a:r>
                      <a:r>
                        <a:rPr lang="zh-CN" altLang="en-US" sz="2000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更新确认序号</a:t>
                      </a:r>
                      <a:endParaRPr lang="en-US" altLang="zh-CN" sz="2000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513508"/>
                  </a:ext>
                </a:extLst>
              </a:tr>
            </a:tbl>
          </a:graphicData>
        </a:graphic>
      </p:graphicFrame>
      <p:sp>
        <p:nvSpPr>
          <p:cNvPr id="9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6.3.3  </a:t>
            </a:r>
            <a:r>
              <a:rPr kumimoji="1" lang="zh-CN" altLang="en-US" dirty="0"/>
              <a:t>面向连接的传输：可靠传输</a:t>
            </a:r>
          </a:p>
        </p:txBody>
      </p:sp>
    </p:spTree>
    <p:extLst>
      <p:ext uri="{BB962C8B-B14F-4D97-AF65-F5344CB8AC3E}">
        <p14:creationId xmlns:p14="http://schemas.microsoft.com/office/powerpoint/2010/main" val="2545586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快速重传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41</a:t>
            </a:fld>
            <a:endParaRPr kumimoji="1"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574765" y="1550829"/>
            <a:ext cx="3839308" cy="48552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仅靠超时重发丢失的报文段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恢复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太慢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！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发送方可利用</a:t>
            </a:r>
            <a:r>
              <a:rPr lang="en-US" altLang="zh-CN" sz="2400" dirty="0" err="1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重复ACK检测报文段丢失</a:t>
            </a:r>
            <a:r>
              <a:rPr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发送方通常连续发送许多报文段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若仅有个别报文段丢失，发送方将收到多个重复序号的ACK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多数情况下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IP按序交付分组，重复ACK极有可能因丢包产生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572051" y="1496470"/>
            <a:ext cx="3656926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TCP协议规定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当发送方收到对同一序号的3次重复确认时，立即重发包含该序号的报文段</a:t>
            </a:r>
          </a:p>
          <a:p>
            <a:pPr>
              <a:lnSpc>
                <a:spcPct val="120000"/>
              </a:lnSpc>
            </a:pPr>
            <a:r>
              <a:rPr lang="en-US" altLang="zh-CN" sz="2400" dirty="0" err="1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快速重传</a:t>
            </a:r>
            <a:r>
              <a:rPr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 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所谓快速重传，就是在定时器到期前重发丢失的报文段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477100" y="1394382"/>
            <a:ext cx="3115949" cy="4499858"/>
            <a:chOff x="4198939" y="1139825"/>
            <a:chExt cx="3243261" cy="4868863"/>
          </a:xfrm>
        </p:grpSpPr>
        <p:sp>
          <p:nvSpPr>
            <p:cNvPr id="8" name="Line 3"/>
            <p:cNvSpPr>
              <a:spLocks noChangeShapeType="1"/>
            </p:cNvSpPr>
            <p:nvPr/>
          </p:nvSpPr>
          <p:spPr bwMode="auto">
            <a:xfrm>
              <a:off x="4592638" y="2319338"/>
              <a:ext cx="2533650" cy="5905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4592638" y="2547939"/>
              <a:ext cx="1757362" cy="41433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4589464" y="2014538"/>
              <a:ext cx="3175" cy="399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7107238" y="2090738"/>
              <a:ext cx="11112" cy="3903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H="1">
              <a:off x="4556126" y="2962276"/>
              <a:ext cx="2519363" cy="8096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4592638" y="2776538"/>
              <a:ext cx="2533650" cy="5905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4592638" y="3233738"/>
              <a:ext cx="2533650" cy="5905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4592638" y="3005138"/>
              <a:ext cx="2533650" cy="5905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 flipH="1">
              <a:off x="4557714" y="3386138"/>
              <a:ext cx="2530475" cy="83026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 flipH="1">
              <a:off x="4592638" y="3614738"/>
              <a:ext cx="2506662" cy="88741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 flipH="1">
              <a:off x="4592638" y="3843338"/>
              <a:ext cx="2495550" cy="90011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6265864" y="2714625"/>
              <a:ext cx="2825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1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24"/>
            <p:cNvSpPr>
              <a:spLocks noChangeShapeType="1"/>
            </p:cNvSpPr>
            <p:nvPr/>
          </p:nvSpPr>
          <p:spPr bwMode="auto">
            <a:xfrm>
              <a:off x="4618038" y="4784725"/>
              <a:ext cx="2533650" cy="5905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34"/>
            <p:cNvSpPr txBox="1">
              <a:spLocks noChangeArrowheads="1"/>
            </p:cNvSpPr>
            <p:nvPr/>
          </p:nvSpPr>
          <p:spPr bwMode="auto">
            <a:xfrm>
              <a:off x="6622615" y="1139825"/>
              <a:ext cx="796207" cy="366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Host B</a:t>
              </a:r>
            </a:p>
          </p:txBody>
        </p:sp>
        <p:sp>
          <p:nvSpPr>
            <p:cNvPr id="22" name="Text Box 38"/>
            <p:cNvSpPr txBox="1">
              <a:spLocks noChangeArrowheads="1"/>
            </p:cNvSpPr>
            <p:nvPr/>
          </p:nvSpPr>
          <p:spPr bwMode="auto">
            <a:xfrm>
              <a:off x="4283070" y="1157289"/>
              <a:ext cx="811225" cy="366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Host A</a:t>
              </a:r>
            </a:p>
          </p:txBody>
        </p:sp>
        <p:sp>
          <p:nvSpPr>
            <p:cNvPr id="23" name="Text Box 40"/>
            <p:cNvSpPr txBox="1">
              <a:spLocks noChangeArrowheads="1"/>
            </p:cNvSpPr>
            <p:nvPr/>
          </p:nvSpPr>
          <p:spPr bwMode="auto">
            <a:xfrm>
              <a:off x="4731108" y="2239964"/>
              <a:ext cx="2104310" cy="333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Seq=92, 8 bytes of data</a:t>
              </a:r>
            </a:p>
          </p:txBody>
        </p:sp>
        <p:grpSp>
          <p:nvGrpSpPr>
            <p:cNvPr id="24" name="Group 41"/>
            <p:cNvGrpSpPr>
              <a:grpSpLocks/>
            </p:cNvGrpSpPr>
            <p:nvPr/>
          </p:nvGrpSpPr>
          <p:grpSpPr bwMode="auto">
            <a:xfrm>
              <a:off x="4694239" y="3489325"/>
              <a:ext cx="949325" cy="304800"/>
              <a:chOff x="4215" y="2253"/>
              <a:chExt cx="598" cy="192"/>
            </a:xfrm>
          </p:grpSpPr>
          <p:sp>
            <p:nvSpPr>
              <p:cNvPr id="52" name="Rectangle 42"/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Text Box 43"/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  <a:ea typeface="宋体" panose="02010600030101010101" pitchFamily="2" charset="-122"/>
                  </a:rPr>
                  <a:t>ACK=100</a:t>
                </a:r>
                <a:endPara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" name="Group 78"/>
            <p:cNvGrpSpPr>
              <a:grpSpLocks/>
            </p:cNvGrpSpPr>
            <p:nvPr/>
          </p:nvGrpSpPr>
          <p:grpSpPr bwMode="auto">
            <a:xfrm>
              <a:off x="4198939" y="2292350"/>
              <a:ext cx="415925" cy="3524250"/>
              <a:chOff x="391" y="868"/>
              <a:chExt cx="262" cy="2220"/>
            </a:xfrm>
          </p:grpSpPr>
          <p:sp>
            <p:nvSpPr>
              <p:cNvPr id="45" name="Text Box 50"/>
              <p:cNvSpPr txBox="1">
                <a:spLocks noChangeArrowheads="1"/>
              </p:cNvSpPr>
              <p:nvPr/>
            </p:nvSpPr>
            <p:spPr bwMode="auto">
              <a:xfrm rot="10800000">
                <a:off x="391" y="1759"/>
                <a:ext cx="262" cy="4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timeout</a:t>
                </a:r>
              </a:p>
            </p:txBody>
          </p:sp>
          <p:grpSp>
            <p:nvGrpSpPr>
              <p:cNvPr id="46" name="Group 51"/>
              <p:cNvGrpSpPr>
                <a:grpSpLocks/>
              </p:cNvGrpSpPr>
              <p:nvPr/>
            </p:nvGrpSpPr>
            <p:grpSpPr bwMode="auto">
              <a:xfrm>
                <a:off x="488" y="868"/>
                <a:ext cx="66" cy="893"/>
                <a:chOff x="3099" y="1749"/>
                <a:chExt cx="66" cy="320"/>
              </a:xfrm>
            </p:grpSpPr>
            <p:sp>
              <p:nvSpPr>
                <p:cNvPr id="50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3129" y="1749"/>
                  <a:ext cx="0" cy="3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1" name="Line 53"/>
                <p:cNvSpPr>
                  <a:spLocks noChangeShapeType="1"/>
                </p:cNvSpPr>
                <p:nvPr/>
              </p:nvSpPr>
              <p:spPr bwMode="auto">
                <a:xfrm>
                  <a:off x="3099" y="1752"/>
                  <a:ext cx="6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7" name="Group 54"/>
              <p:cNvGrpSpPr>
                <a:grpSpLocks/>
              </p:cNvGrpSpPr>
              <p:nvPr/>
            </p:nvGrpSpPr>
            <p:grpSpPr bwMode="auto">
              <a:xfrm rot="10800000">
                <a:off x="485" y="2224"/>
                <a:ext cx="66" cy="864"/>
                <a:chOff x="3099" y="1749"/>
                <a:chExt cx="66" cy="320"/>
              </a:xfrm>
            </p:grpSpPr>
            <p:sp>
              <p:nvSpPr>
                <p:cNvPr id="48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3130" y="1749"/>
                  <a:ext cx="0" cy="3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49" name="Line 56"/>
                <p:cNvSpPr>
                  <a:spLocks noChangeShapeType="1"/>
                </p:cNvSpPr>
                <p:nvPr/>
              </p:nvSpPr>
              <p:spPr bwMode="auto">
                <a:xfrm>
                  <a:off x="3100" y="1752"/>
                  <a:ext cx="6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Group 71"/>
            <p:cNvGrpSpPr>
              <a:grpSpLocks/>
            </p:cNvGrpSpPr>
            <p:nvPr/>
          </p:nvGrpSpPr>
          <p:grpSpPr bwMode="auto">
            <a:xfrm>
              <a:off x="4705351" y="3800475"/>
              <a:ext cx="949325" cy="304800"/>
              <a:chOff x="35" y="1825"/>
              <a:chExt cx="598" cy="192"/>
            </a:xfrm>
          </p:grpSpPr>
          <p:sp>
            <p:nvSpPr>
              <p:cNvPr id="43" name="Rectangle 66"/>
              <p:cNvSpPr>
                <a:spLocks noChangeArrowheads="1"/>
              </p:cNvSpPr>
              <p:nvPr/>
            </p:nvSpPr>
            <p:spPr bwMode="auto">
              <a:xfrm>
                <a:off x="101" y="1859"/>
                <a:ext cx="471" cy="1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Text Box 67"/>
              <p:cNvSpPr txBox="1">
                <a:spLocks noChangeArrowheads="1"/>
              </p:cNvSpPr>
              <p:nvPr/>
            </p:nvSpPr>
            <p:spPr bwMode="auto">
              <a:xfrm>
                <a:off x="35" y="1825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  <a:ea typeface="宋体" panose="02010600030101010101" pitchFamily="2" charset="-122"/>
                  </a:rPr>
                  <a:t>ACK=100</a:t>
                </a:r>
                <a:endPara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" name="Group 72"/>
            <p:cNvGrpSpPr>
              <a:grpSpLocks/>
            </p:cNvGrpSpPr>
            <p:nvPr/>
          </p:nvGrpSpPr>
          <p:grpSpPr bwMode="auto">
            <a:xfrm>
              <a:off x="4691064" y="4130675"/>
              <a:ext cx="949325" cy="304800"/>
              <a:chOff x="35" y="1825"/>
              <a:chExt cx="598" cy="192"/>
            </a:xfrm>
          </p:grpSpPr>
          <p:sp>
            <p:nvSpPr>
              <p:cNvPr id="41" name="Rectangle 73"/>
              <p:cNvSpPr>
                <a:spLocks noChangeArrowheads="1"/>
              </p:cNvSpPr>
              <p:nvPr/>
            </p:nvSpPr>
            <p:spPr bwMode="auto">
              <a:xfrm>
                <a:off x="101" y="1859"/>
                <a:ext cx="471" cy="1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Text Box 74"/>
              <p:cNvSpPr txBox="1">
                <a:spLocks noChangeArrowheads="1"/>
              </p:cNvSpPr>
              <p:nvPr/>
            </p:nvSpPr>
            <p:spPr bwMode="auto">
              <a:xfrm>
                <a:off x="35" y="1825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latin typeface="Arial" panose="020B0604020202020204" pitchFamily="34" charset="0"/>
                    <a:ea typeface="宋体" panose="02010600030101010101" pitchFamily="2" charset="-122"/>
                  </a:rPr>
                  <a:t>ACK=100</a:t>
                </a:r>
                <a:endParaRPr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" name="Group 75"/>
            <p:cNvGrpSpPr>
              <a:grpSpLocks/>
            </p:cNvGrpSpPr>
            <p:nvPr/>
          </p:nvGrpSpPr>
          <p:grpSpPr bwMode="auto">
            <a:xfrm>
              <a:off x="4699001" y="4427538"/>
              <a:ext cx="949325" cy="304800"/>
              <a:chOff x="35" y="1825"/>
              <a:chExt cx="598" cy="192"/>
            </a:xfrm>
          </p:grpSpPr>
          <p:sp>
            <p:nvSpPr>
              <p:cNvPr id="39" name="Rectangle 76"/>
              <p:cNvSpPr>
                <a:spLocks noChangeArrowheads="1"/>
              </p:cNvSpPr>
              <p:nvPr/>
            </p:nvSpPr>
            <p:spPr bwMode="auto">
              <a:xfrm>
                <a:off x="101" y="1859"/>
                <a:ext cx="471" cy="1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Text Box 77"/>
              <p:cNvSpPr txBox="1">
                <a:spLocks noChangeArrowheads="1"/>
              </p:cNvSpPr>
              <p:nvPr/>
            </p:nvSpPr>
            <p:spPr bwMode="auto">
              <a:xfrm>
                <a:off x="35" y="1825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rPr>
                  <a:t>ACK=100</a:t>
                </a:r>
                <a:endPara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" name="Rectangle 84"/>
            <p:cNvSpPr>
              <a:spLocks noChangeArrowheads="1"/>
            </p:cNvSpPr>
            <p:nvPr/>
          </p:nvSpPr>
          <p:spPr bwMode="auto">
            <a:xfrm>
              <a:off x="4808539" y="2562226"/>
              <a:ext cx="757237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Text Box 83"/>
            <p:cNvSpPr txBox="1">
              <a:spLocks noChangeArrowheads="1"/>
            </p:cNvSpPr>
            <p:nvPr/>
          </p:nvSpPr>
          <p:spPr bwMode="auto">
            <a:xfrm>
              <a:off x="4706485" y="2506664"/>
              <a:ext cx="2301194" cy="333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Seq=100, 20 bytes of data</a:t>
              </a:r>
            </a:p>
          </p:txBody>
        </p:sp>
        <p:sp>
          <p:nvSpPr>
            <p:cNvPr id="31" name="Rectangle 85"/>
            <p:cNvSpPr>
              <a:spLocks noChangeArrowheads="1"/>
            </p:cNvSpPr>
            <p:nvPr/>
          </p:nvSpPr>
          <p:spPr bwMode="auto">
            <a:xfrm>
              <a:off x="4770439" y="4770439"/>
              <a:ext cx="757237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" name="Text Box 86"/>
            <p:cNvSpPr txBox="1">
              <a:spLocks noChangeArrowheads="1"/>
            </p:cNvSpPr>
            <p:nvPr/>
          </p:nvSpPr>
          <p:spPr bwMode="auto">
            <a:xfrm>
              <a:off x="4668386" y="4714876"/>
              <a:ext cx="2301194" cy="333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Seq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=100, 20 bytes of data</a:t>
              </a:r>
            </a:p>
          </p:txBody>
        </p:sp>
        <p:grpSp>
          <p:nvGrpSpPr>
            <p:cNvPr id="33" name="Group 93"/>
            <p:cNvGrpSpPr>
              <a:grpSpLocks/>
            </p:cNvGrpSpPr>
            <p:nvPr/>
          </p:nvGrpSpPr>
          <p:grpSpPr bwMode="auto">
            <a:xfrm>
              <a:off x="4210050" y="1397000"/>
              <a:ext cx="630238" cy="533400"/>
              <a:chOff x="-44" y="1473"/>
              <a:chExt cx="981" cy="1105"/>
            </a:xfrm>
          </p:grpSpPr>
          <p:pic>
            <p:nvPicPr>
              <p:cNvPr id="37" name="Picture 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" name="Freeform 9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6756664 w 356"/>
                  <a:gd name="T3" fmla="*/ 23644115 h 368"/>
                  <a:gd name="T4" fmla="*/ 185958828 w 356"/>
                  <a:gd name="T5" fmla="*/ 492768470 h 368"/>
                  <a:gd name="T6" fmla="*/ 40982514 w 356"/>
                  <a:gd name="T7" fmla="*/ 61626047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4" name="Group 96"/>
            <p:cNvGrpSpPr>
              <a:grpSpLocks/>
            </p:cNvGrpSpPr>
            <p:nvPr/>
          </p:nvGrpSpPr>
          <p:grpSpPr bwMode="auto">
            <a:xfrm flipH="1">
              <a:off x="6788150" y="1423989"/>
              <a:ext cx="654050" cy="579437"/>
              <a:chOff x="-44" y="1473"/>
              <a:chExt cx="981" cy="1105"/>
            </a:xfrm>
          </p:grpSpPr>
          <p:pic>
            <p:nvPicPr>
              <p:cNvPr id="35" name="Picture 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" name="Freeform 98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6756664 w 356"/>
                  <a:gd name="T3" fmla="*/ 23644115 h 368"/>
                  <a:gd name="T4" fmla="*/ 185958828 w 356"/>
                  <a:gd name="T5" fmla="*/ 492768470 h 368"/>
                  <a:gd name="T6" fmla="*/ 40982514 w 356"/>
                  <a:gd name="T7" fmla="*/ 61626047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54" name="文本框 53"/>
          <p:cNvSpPr txBox="1"/>
          <p:nvPr/>
        </p:nvSpPr>
        <p:spPr>
          <a:xfrm>
            <a:off x="8918986" y="5622573"/>
            <a:ext cx="2350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收到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个重复的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ACK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后，立即重发报文段</a:t>
            </a:r>
          </a:p>
        </p:txBody>
      </p:sp>
      <p:sp>
        <p:nvSpPr>
          <p:cNvPr id="5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6.3.3  </a:t>
            </a:r>
            <a:r>
              <a:rPr kumimoji="1" lang="zh-CN" altLang="en-US" dirty="0"/>
              <a:t>面向连接的传输：可靠传输</a:t>
            </a:r>
          </a:p>
        </p:txBody>
      </p:sp>
    </p:spTree>
    <p:extLst>
      <p:ext uri="{BB962C8B-B14F-4D97-AF65-F5344CB8AC3E}">
        <p14:creationId xmlns:p14="http://schemas.microsoft.com/office/powerpoint/2010/main" val="997183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5070231" cy="458669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可靠传输的设计要点：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流水式发送报文段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采用累积确认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只对最早未确认的报文段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使用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一个重传定时器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超时后只重传包含最小序号的、未确认的报文段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以上措施可大量减少因</a:t>
            </a:r>
            <a:r>
              <a:rPr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ACK</a:t>
            </a: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丢失、定时器过早超时引起的重传</a:t>
            </a:r>
            <a:endParaRPr lang="en-US" altLang="zh-CN" sz="24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42</a:t>
            </a:fld>
            <a:endParaRPr kumimoji="1"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462346" y="1506934"/>
            <a:ext cx="4885593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快速重传：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收到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次重复确认，重发报文段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6.3.3  </a:t>
            </a:r>
            <a:r>
              <a:rPr kumimoji="1" lang="zh-CN" altLang="en-US" dirty="0"/>
              <a:t>面向连接的传输：可靠传输</a:t>
            </a:r>
          </a:p>
        </p:txBody>
      </p:sp>
    </p:spTree>
    <p:extLst>
      <p:ext uri="{BB962C8B-B14F-4D97-AF65-F5344CB8AC3E}">
        <p14:creationId xmlns:p14="http://schemas.microsoft.com/office/powerpoint/2010/main" val="421738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TCP</a:t>
            </a:r>
            <a:r>
              <a:rPr lang="zh-CN" altLang="en-US" dirty="0"/>
              <a:t>结合了回退</a:t>
            </a:r>
            <a:r>
              <a:rPr lang="en-US" altLang="zh-CN" dirty="0"/>
              <a:t>N</a:t>
            </a:r>
            <a:r>
              <a:rPr lang="zh-CN" altLang="en-US" dirty="0"/>
              <a:t>协议和选择重传的优点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的差错恢复机制可以看成是</a:t>
            </a:r>
            <a:r>
              <a:rPr lang="zh-CN" altLang="en-US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回退</a:t>
            </a:r>
            <a:r>
              <a:rPr lang="en-US" altLang="zh-CN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协议</a:t>
            </a:r>
            <a:r>
              <a:rPr lang="zh-CN" altLang="zh-CN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zh-CN" altLang="en-US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选择重传</a:t>
            </a:r>
            <a:r>
              <a:rPr lang="zh-CN" altLang="zh-CN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的混合体：</a:t>
            </a:r>
            <a:endParaRPr lang="en-US" altLang="zh-CN" sz="32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定时器的使用：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与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回退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协议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类似，只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对最早未确认的报文段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使用一个定时器 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超时重传：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与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选择重传</a:t>
            </a:r>
            <a:r>
              <a:rPr lang="zh-CN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类似，只重传缺失的数据 </a:t>
            </a:r>
          </a:p>
          <a:p>
            <a:pPr>
              <a:lnSpc>
                <a:spcPct val="130000"/>
              </a:lnSpc>
            </a:pPr>
            <a:r>
              <a:rPr lang="en-US" altLang="zh-CN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在减小定时器开销和重传开销方面要优于回退</a:t>
            </a:r>
            <a:r>
              <a:rPr lang="en-US" altLang="zh-CN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协议</a:t>
            </a:r>
            <a:r>
              <a:rPr lang="en-US" altLang="zh-CN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3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和选择重传！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43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6.3.3  </a:t>
            </a:r>
            <a:r>
              <a:rPr kumimoji="1" lang="zh-CN" altLang="en-US" dirty="0"/>
              <a:t>面向连接的传输：可靠传输</a:t>
            </a:r>
          </a:p>
        </p:txBody>
      </p:sp>
    </p:spTree>
    <p:extLst>
      <p:ext uri="{BB962C8B-B14F-4D97-AF65-F5344CB8AC3E}">
        <p14:creationId xmlns:p14="http://schemas.microsoft.com/office/powerpoint/2010/main" val="4221099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50" y="1510758"/>
            <a:ext cx="5501457" cy="4845592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6.1 </a:t>
            </a:r>
            <a:r>
              <a:rPr kumimoji="1" lang="zh-CN" altLang="en-US" dirty="0"/>
              <a:t>概述和传输层服务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6.2 </a:t>
            </a:r>
            <a:r>
              <a:rPr kumimoji="1" lang="zh-CN" altLang="en-US" dirty="0"/>
              <a:t>传输层复用和分用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6.3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6.4 </a:t>
            </a:r>
            <a:r>
              <a:rPr kumimoji="1" lang="zh-CN" altLang="en-US" dirty="0">
                <a:solidFill>
                  <a:srgbClr val="C00000"/>
                </a:solidFill>
              </a:rPr>
              <a:t>面向连接的传输：</a:t>
            </a:r>
            <a:r>
              <a:rPr kumimoji="1" lang="en-US" altLang="zh-CN" dirty="0">
                <a:solidFill>
                  <a:srgbClr val="C00000"/>
                </a:solidFill>
              </a:rPr>
              <a:t>TCP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6.5 </a:t>
            </a:r>
            <a:r>
              <a:rPr kumimoji="1" lang="zh-CN" altLang="en-US" dirty="0"/>
              <a:t>理解网络拥塞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6.6 TCP拥塞控制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44</a:t>
            </a:fld>
            <a:endParaRPr kumimoji="1" lang="zh-CN" altLang="en-US" dirty="0"/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5676551" y="2357442"/>
            <a:ext cx="3583394" cy="2885677"/>
          </a:xfrm>
          <a:prstGeom prst="wedgeRectCallout">
            <a:avLst>
              <a:gd name="adj1" fmla="val -82577"/>
              <a:gd name="adj2" fmla="val -8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概述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报文段结构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可靠数据传输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流量控制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连接管理</a:t>
            </a: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6311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的接收端：接收缓存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4677" y="1450598"/>
            <a:ext cx="5497865" cy="479596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TCP接收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端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有一个接收缓存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接收端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将收到的数据放入接收缓存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应用进程从接收缓存中读数据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进入接收缓存的数据不一定被立即取走、取完</a:t>
            </a:r>
            <a:endParaRPr lang="en-US" altLang="zh-CN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如果接收缓存中的数据未及时取走，后续到达的数据可能会因缓存溢出而丢失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45</a:t>
            </a:fld>
            <a:endParaRPr kumimoji="1" lang="zh-CN" altLang="en-US" dirty="0"/>
          </a:p>
        </p:txBody>
      </p:sp>
      <p:pic>
        <p:nvPicPr>
          <p:cNvPr id="5" name="Picture 5" descr="rcvw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058" y="1853463"/>
            <a:ext cx="4800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6.3.4  </a:t>
            </a:r>
            <a:r>
              <a:rPr kumimoji="1" lang="zh-CN" altLang="en-US" dirty="0"/>
              <a:t>面向连接的传输：流量控制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6570058" y="4041976"/>
            <a:ext cx="5260174" cy="1878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流量控制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发送端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通过调节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发送速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率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不使接收端缓存溢出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1494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7507" y="365126"/>
            <a:ext cx="9549179" cy="87908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为什么</a:t>
            </a:r>
            <a:r>
              <a:rPr lang="en-US" altLang="zh-CN" sz="3200" dirty="0"/>
              <a:t>UDP</a:t>
            </a:r>
            <a:r>
              <a:rPr lang="zh-CN" altLang="en-US" sz="3200" dirty="0"/>
              <a:t>不需要流量控制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46</a:t>
            </a:fld>
            <a:endParaRPr kumimoji="1"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990600" y="1506934"/>
            <a:ext cx="10506833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不保证交付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sz="2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接收端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将收到的报文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载荷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放入接收缓存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应用进程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每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次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从接收缓存中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读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取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一个完整的报文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载荷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当应用进程消费数据不够快时，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接收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缓存溢出，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报文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数据丢失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不负责任</a:t>
            </a: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因此，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UDP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不需要流量控制</a:t>
            </a:r>
          </a:p>
        </p:txBody>
      </p:sp>
      <p:sp>
        <p:nvSpPr>
          <p:cNvPr id="7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 txBox="1">
            <a:spLocks/>
          </p:cNvSpPr>
          <p:nvPr/>
        </p:nvSpPr>
        <p:spPr>
          <a:xfrm>
            <a:off x="197334" y="6489303"/>
            <a:ext cx="2897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6.3.4  </a:t>
            </a:r>
            <a:r>
              <a:rPr kumimoji="1"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面向连接的传输：流量控制</a:t>
            </a:r>
          </a:p>
        </p:txBody>
      </p:sp>
    </p:spTree>
    <p:extLst>
      <p:ext uri="{BB962C8B-B14F-4D97-AF65-F5344CB8AC3E}">
        <p14:creationId xmlns:p14="http://schemas.microsoft.com/office/powerpoint/2010/main" val="1208585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如何进行流量控制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2029" y="1450598"/>
            <a:ext cx="5728771" cy="4685797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接收缓存中的可用空间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称为</a:t>
            </a: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接收窗口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  <a:buFont typeface="ZapfDingbats" pitchFamily="82" charset="2"/>
              <a:buNone/>
            </a:pP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RcvWindow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=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RcvBuffer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-[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LastByteRcvd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-   </a:t>
            </a:r>
          </a:p>
          <a:p>
            <a:pPr>
              <a:lnSpc>
                <a:spcPct val="130000"/>
              </a:lnSpc>
              <a:buFont typeface="ZapfDingbats" pitchFamily="82" charset="2"/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                        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LastByteRead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]</a:t>
            </a:r>
          </a:p>
          <a:p>
            <a:pPr>
              <a:lnSpc>
                <a:spcPct val="130000"/>
              </a:lnSpc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接收方将RcvWindow放在报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头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中，向发送方通告接收缓存的可用空间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发送方限制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已发送、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未确认的字节数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不超过接收窗口的大小，即：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28600" lvl="1">
              <a:lnSpc>
                <a:spcPct val="130000"/>
              </a:lnSpc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LastByteSent-LastByteAcked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≦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RcvWindow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47</a:t>
            </a:fld>
            <a:endParaRPr kumimoji="1" lang="zh-CN" altLang="en-US" dirty="0"/>
          </a:p>
        </p:txBody>
      </p:sp>
      <p:pic>
        <p:nvPicPr>
          <p:cNvPr id="5" name="Picture 5" descr="rcvw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297" y="1697671"/>
            <a:ext cx="5372869" cy="1961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6.3.4  </a:t>
            </a:r>
            <a:r>
              <a:rPr kumimoji="1" lang="zh-CN" altLang="en-US" dirty="0"/>
              <a:t>面向连接的传输：流量控制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7034649" y="4041976"/>
            <a:ext cx="4748808" cy="1356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特别是，当接收方通告接收窗口为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时，发送方必须停止发送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dirty="0">
              <a:solidFill>
                <a:srgbClr val="FF0000"/>
              </a:solidFill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8402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非零窗口通告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5110908" cy="4586694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发送方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接收方对零窗口的处理：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发送方：当接收窗口为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时，发送方必须停止发送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接收方：当接收窗口变为非</a:t>
            </a:r>
            <a:r>
              <a:rPr lang="en-US" altLang="zh-CN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0时，接</a:t>
            </a:r>
            <a:r>
              <a:rPr lang="zh-CN" altLang="en-US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收方应通告增大的接收窗口</a:t>
            </a:r>
            <a:endParaRPr lang="en-US" altLang="zh-CN" sz="22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在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协议中，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触发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一次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TCP传输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需要满足以下三个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条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件之一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应用程序调用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超时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收到数据或确认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48</a:t>
            </a:fld>
            <a:endParaRPr kumimoji="1"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301648" y="1506934"/>
            <a:ext cx="5166911" cy="4717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对于单向传输中的接收方，只有第三个条件能触发传输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当发送方停止发送后，接收方不再收到数据，如何触发接收端发送“非零窗口通告”呢？</a:t>
            </a:r>
          </a:p>
          <a:p>
            <a:pPr>
              <a:lnSpc>
                <a:spcPct val="120000"/>
              </a:lnSpc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TCP协议规定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发送方收到“零窗口通告”后，可以发送“零窗口探测”报文段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从而接收方可以发送包含接收窗口的响应报文段</a:t>
            </a:r>
            <a:endParaRPr lang="zh-CN" altLang="en-US" sz="22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6.3.4  </a:t>
            </a:r>
            <a:r>
              <a:rPr kumimoji="1" lang="zh-CN" altLang="en-US" dirty="0"/>
              <a:t>面向连接的传输：流量控制</a:t>
            </a:r>
          </a:p>
        </p:txBody>
      </p:sp>
    </p:spTree>
    <p:extLst>
      <p:ext uri="{BB962C8B-B14F-4D97-AF65-F5344CB8AC3E}">
        <p14:creationId xmlns:p14="http://schemas.microsoft.com/office/powerpoint/2010/main" val="2581161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零窗口探测的实现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发送端收到零窗口通告时，启动一个坚持定时器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定时器超时后，发送端发送一个零窗口探测报文段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接收端在响应的报文段中通告当前接收窗口的大小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若发送端仍收到零窗口通告，重新启动坚持定时器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49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6.3.4  </a:t>
            </a:r>
            <a:r>
              <a:rPr kumimoji="1" lang="zh-CN" altLang="en-US" dirty="0"/>
              <a:t>面向连接的传输：流量控制</a:t>
            </a:r>
          </a:p>
        </p:txBody>
      </p:sp>
    </p:spTree>
    <p:extLst>
      <p:ext uri="{BB962C8B-B14F-4D97-AF65-F5344CB8AC3E}">
        <p14:creationId xmlns:p14="http://schemas.microsoft.com/office/powerpoint/2010/main" val="2164851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7507" y="365126"/>
            <a:ext cx="8387335" cy="879086"/>
          </a:xfrm>
        </p:spPr>
        <p:txBody>
          <a:bodyPr>
            <a:normAutofit/>
          </a:bodyPr>
          <a:lstStyle/>
          <a:p>
            <a:r>
              <a:rPr lang="zh-CN" altLang="en-US" dirty="0"/>
              <a:t>糊涂窗口综合症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5080" y="1510758"/>
            <a:ext cx="5144877" cy="46917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当数据的发送速度很快、而消费速度很慢时，零窗口探测的简单实现带来以下问题：</a:t>
            </a:r>
          </a:p>
          <a:p>
            <a:pPr lvl="1">
              <a:lnSpc>
                <a:spcPct val="120000"/>
              </a:lnSpc>
            </a:pP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接收方不断发送微小窗口通告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发送方不断发送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很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小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的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数据分组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大量带宽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被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浪费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dirty="0"/>
              <a:t>解决方案：</a:t>
            </a:r>
            <a:endParaRPr lang="en-US" altLang="zh-CN" dirty="0"/>
          </a:p>
          <a:p>
            <a:pPr lvl="1"/>
            <a:r>
              <a:rPr lang="zh-CN" altLang="en-US" dirty="0"/>
              <a:t>接收方启发式策略</a:t>
            </a:r>
            <a:endParaRPr lang="en-US" altLang="zh-CN" dirty="0"/>
          </a:p>
          <a:p>
            <a:pPr lvl="1"/>
            <a:r>
              <a:rPr lang="zh-CN" altLang="en-US" dirty="0"/>
              <a:t>发送方启发式策略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50</a:t>
            </a:fld>
            <a:endParaRPr kumimoji="1" lang="zh-CN" altLang="en-US" dirty="0"/>
          </a:p>
        </p:txBody>
      </p:sp>
      <p:pic>
        <p:nvPicPr>
          <p:cNvPr id="5" name="Picture 4" descr="6-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226" y="1510758"/>
            <a:ext cx="5525877" cy="485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6.3.4  </a:t>
            </a:r>
            <a:r>
              <a:rPr kumimoji="1" lang="zh-CN" altLang="en-US" dirty="0"/>
              <a:t>面向连接的传输：流量控制</a:t>
            </a:r>
          </a:p>
        </p:txBody>
      </p:sp>
    </p:spTree>
    <p:extLst>
      <p:ext uri="{BB962C8B-B14F-4D97-AF65-F5344CB8AC3E}">
        <p14:creationId xmlns:p14="http://schemas.microsoft.com/office/powerpoint/2010/main" val="1223365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接收方启发式策略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接收端避免糊涂窗口综合症的策略：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通告零窗口之后，仅当窗口大小</a:t>
            </a: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显著增加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之后才发送更新的窗口通告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什么是显著增加：窗口大小达到缓存空间的一半或者一个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MSS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，取两者的较小值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TCP执行该策略的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做法：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当窗口大小不满足以上策略时，推迟</a:t>
            </a: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发送确认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（但最多推迟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500ms，且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至少每隔一个报文段使用正常方式进行确认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），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寄希望于推迟间隔内有更多数据被消费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仅当窗口大小满足以上策略时，才</a:t>
            </a: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通告新的窗口大小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51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6.3.4  </a:t>
            </a:r>
            <a:r>
              <a:rPr kumimoji="1" lang="zh-CN" altLang="en-US" dirty="0"/>
              <a:t>面向连接的传输：流量控制</a:t>
            </a:r>
          </a:p>
        </p:txBody>
      </p:sp>
    </p:spTree>
    <p:extLst>
      <p:ext uri="{BB962C8B-B14F-4D97-AF65-F5344CB8AC3E}">
        <p14:creationId xmlns:p14="http://schemas.microsoft.com/office/powerpoint/2010/main" val="3951509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发送方启发式策略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3725" y="1510758"/>
            <a:ext cx="5034709" cy="4586694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发送方避免糊涂窗口综合症的策略：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发送方应积聚足够多的数据再发送，以防止发送太短的报文段</a:t>
            </a:r>
          </a:p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问题：发送方应等待多长时间？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若等待时间不够，报文段会太短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若等待时间过久，应用程序的时延会太长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更重要的是，</a:t>
            </a: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不知道应用程序会不会在最近的将来生成更多的数据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52</a:t>
            </a:fld>
            <a:endParaRPr kumimoji="1"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971142" y="1506934"/>
            <a:ext cx="5604832" cy="47396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Nagle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算法的解决方法：</a:t>
            </a: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在新建连接上，当应用数据到来时，组成一个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段发送（那怕只有一个字节）</a:t>
            </a: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在收到确认之前，后续到来的数据放在发送缓存中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当数据量达到一个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MSS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或上一次传输的确认到来（取两者的较小时间），用一个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段将缓存的字节全部发走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Nagle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算法的优点：</a:t>
            </a: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适应网络延时、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MSS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长度及应用速度的各种组合</a:t>
            </a: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常规情况下不会降低网络的吞吐量</a:t>
            </a:r>
          </a:p>
          <a:p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6.3.4  </a:t>
            </a:r>
            <a:r>
              <a:rPr kumimoji="1" lang="zh-CN" altLang="en-US" dirty="0"/>
              <a:t>面向连接的传输：流量控制</a:t>
            </a:r>
          </a:p>
        </p:txBody>
      </p:sp>
    </p:spTree>
    <p:extLst>
      <p:ext uri="{BB962C8B-B14F-4D97-AF65-F5344CB8AC3E}">
        <p14:creationId xmlns:p14="http://schemas.microsoft.com/office/powerpoint/2010/main" val="114525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流量控制小结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接收端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使用显式的窗口通告，告知发送方可用的缓存空间大小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在接收窗口较小时，推迟发送确认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仅当接收窗口显著增加时，通告新的窗口大小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发送端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使用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Nagle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算法确定发送时机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使用接收窗口限制发送的数据量，已发送未确认的字节数不超过接收窗口的大小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53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6.3.4  </a:t>
            </a:r>
            <a:r>
              <a:rPr kumimoji="1" lang="zh-CN" altLang="en-US" dirty="0"/>
              <a:t>面向连接的传输：流量控制</a:t>
            </a:r>
          </a:p>
        </p:txBody>
      </p:sp>
    </p:spTree>
    <p:extLst>
      <p:ext uri="{BB962C8B-B14F-4D97-AF65-F5344CB8AC3E}">
        <p14:creationId xmlns:p14="http://schemas.microsoft.com/office/powerpoint/2010/main" val="1370128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50" y="1510758"/>
            <a:ext cx="5501457" cy="4845592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6.1 </a:t>
            </a:r>
            <a:r>
              <a:rPr kumimoji="1" lang="zh-CN" altLang="en-US" dirty="0"/>
              <a:t>概述和传输层服务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6.2 </a:t>
            </a:r>
            <a:r>
              <a:rPr kumimoji="1" lang="zh-CN" altLang="en-US" dirty="0"/>
              <a:t>传输层复用和分用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6.3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6.4 </a:t>
            </a:r>
            <a:r>
              <a:rPr kumimoji="1" lang="zh-CN" altLang="en-US" dirty="0">
                <a:solidFill>
                  <a:srgbClr val="C00000"/>
                </a:solidFill>
              </a:rPr>
              <a:t>面向连接的传输：</a:t>
            </a:r>
            <a:r>
              <a:rPr kumimoji="1" lang="en-US" altLang="zh-CN" dirty="0">
                <a:solidFill>
                  <a:srgbClr val="C00000"/>
                </a:solidFill>
              </a:rPr>
              <a:t>TCP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6.5 </a:t>
            </a:r>
            <a:r>
              <a:rPr kumimoji="1" lang="zh-CN" altLang="en-US" dirty="0"/>
              <a:t>理解网络拥塞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6.6 TCP拥塞控制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54</a:t>
            </a:fld>
            <a:endParaRPr kumimoji="1" lang="zh-CN" altLang="en-US" dirty="0"/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5690316" y="2348650"/>
            <a:ext cx="3583394" cy="2885677"/>
          </a:xfrm>
          <a:prstGeom prst="wedgeRectCallout">
            <a:avLst>
              <a:gd name="adj1" fmla="val -82577"/>
              <a:gd name="adj2" fmla="val -8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概述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报文段结构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可靠数据传输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流量控制</a:t>
            </a:r>
          </a:p>
          <a:p>
            <a:pPr marL="587375" lvl="0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kumimoji="1"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连接管理</a:t>
            </a: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8459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</a:t>
            </a:r>
            <a:r>
              <a:rPr lang="en-US" altLang="zh-CN" dirty="0"/>
              <a:t>TCP</a:t>
            </a:r>
            <a:r>
              <a:rPr lang="zh-CN" altLang="en-US" dirty="0"/>
              <a:t>连接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9386" y="1334288"/>
            <a:ext cx="10515600" cy="146468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建立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一条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TCP连接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需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要确定两件事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ja-JP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双方都</a:t>
            </a:r>
            <a:r>
              <a:rPr lang="en-US" altLang="zh-CN" sz="2200" dirty="0" err="1">
                <a:latin typeface="等线" panose="02010600030101010101" pitchFamily="2" charset="-122"/>
                <a:ea typeface="等线" panose="02010600030101010101" pitchFamily="2" charset="-122"/>
              </a:rPr>
              <a:t>同意建立连接（知晓另一方想建立连接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  <a:p>
            <a:pPr lvl="1">
              <a:lnSpc>
                <a:spcPct val="11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初始化</a:t>
            </a:r>
            <a:r>
              <a:rPr lang="en-US" altLang="zh-CN" sz="2200" dirty="0" err="1">
                <a:latin typeface="等线" panose="02010600030101010101" pitchFamily="2" charset="-122"/>
                <a:ea typeface="等线" panose="02010600030101010101" pitchFamily="2" charset="-122"/>
              </a:rPr>
              <a:t>连接参数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（序号，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MSS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等）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55</a:t>
            </a:fld>
            <a:endParaRPr kumimoji="1"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2164864" y="2808365"/>
            <a:ext cx="8625734" cy="3638786"/>
            <a:chOff x="1741488" y="2744789"/>
            <a:chExt cx="8755970" cy="3691983"/>
          </a:xfrm>
        </p:grpSpPr>
        <p:sp>
          <p:nvSpPr>
            <p:cNvPr id="6" name="Rectangle 62"/>
            <p:cNvSpPr>
              <a:spLocks noChangeArrowheads="1"/>
            </p:cNvSpPr>
            <p:nvPr/>
          </p:nvSpPr>
          <p:spPr bwMode="auto">
            <a:xfrm>
              <a:off x="2730500" y="2747964"/>
              <a:ext cx="2279650" cy="241458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" name="Rectangle 45"/>
            <p:cNvSpPr>
              <a:spLocks noChangeArrowheads="1"/>
            </p:cNvSpPr>
            <p:nvPr/>
          </p:nvSpPr>
          <p:spPr bwMode="auto">
            <a:xfrm>
              <a:off x="2690814" y="2801939"/>
              <a:ext cx="2270125" cy="24717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Line 55"/>
            <p:cNvSpPr>
              <a:spLocks noChangeShapeType="1"/>
            </p:cNvSpPr>
            <p:nvPr/>
          </p:nvSpPr>
          <p:spPr bwMode="auto">
            <a:xfrm>
              <a:off x="2690814" y="3243263"/>
              <a:ext cx="2270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2705101" y="3355975"/>
              <a:ext cx="2335213" cy="1623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230188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connection state: ESTAB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connection variables: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seq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# client-to-server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        server-to-client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 err="1">
                  <a:latin typeface="Courier New" panose="02070309020205020404" pitchFamily="49" charset="0"/>
                  <a:ea typeface="宋体" panose="02010600030101010101" pitchFamily="2" charset="-122"/>
                </a:rPr>
                <a:t>rcvBuffer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size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  at </a:t>
              </a:r>
              <a:r>
                <a:rPr lang="en-US" altLang="zh-CN" sz="14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server,client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          </a:t>
              </a:r>
            </a:p>
          </p:txBody>
        </p:sp>
        <p:grpSp>
          <p:nvGrpSpPr>
            <p:cNvPr id="10" name="Group 46"/>
            <p:cNvGrpSpPr>
              <a:grpSpLocks/>
            </p:cNvGrpSpPr>
            <p:nvPr/>
          </p:nvGrpSpPr>
          <p:grpSpPr bwMode="auto">
            <a:xfrm>
              <a:off x="3638550" y="3157539"/>
              <a:ext cx="438150" cy="206375"/>
              <a:chOff x="344" y="1846"/>
              <a:chExt cx="336" cy="130"/>
            </a:xfrm>
          </p:grpSpPr>
          <p:sp>
            <p:nvSpPr>
              <p:cNvPr id="72" name="Rectangle 47"/>
              <p:cNvSpPr>
                <a:spLocks noChangeArrowheads="1"/>
              </p:cNvSpPr>
              <p:nvPr/>
            </p:nvSpPr>
            <p:spPr bwMode="auto">
              <a:xfrm>
                <a:off x="344" y="1846"/>
                <a:ext cx="336" cy="13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Rectangle 48"/>
              <p:cNvSpPr>
                <a:spLocks noChangeArrowheads="1"/>
              </p:cNvSpPr>
              <p:nvPr/>
            </p:nvSpPr>
            <p:spPr bwMode="auto">
              <a:xfrm>
                <a:off x="454" y="1863"/>
                <a:ext cx="112" cy="9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Rectangle 49"/>
              <p:cNvSpPr>
                <a:spLocks noChangeArrowheads="1"/>
              </p:cNvSpPr>
              <p:nvPr/>
            </p:nvSpPr>
            <p:spPr bwMode="auto">
              <a:xfrm>
                <a:off x="578" y="1921"/>
                <a:ext cx="29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Rectangle 50"/>
              <p:cNvSpPr>
                <a:spLocks noChangeArrowheads="1"/>
              </p:cNvSpPr>
              <p:nvPr/>
            </p:nvSpPr>
            <p:spPr bwMode="auto">
              <a:xfrm>
                <a:off x="407" y="1922"/>
                <a:ext cx="29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" name="Text Box 54"/>
            <p:cNvSpPr txBox="1">
              <a:spLocks noChangeArrowheads="1"/>
            </p:cNvSpPr>
            <p:nvPr/>
          </p:nvSpPr>
          <p:spPr bwMode="auto">
            <a:xfrm>
              <a:off x="2624009" y="2859088"/>
              <a:ext cx="1168660" cy="343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application</a:t>
              </a:r>
            </a:p>
          </p:txBody>
        </p:sp>
        <p:sp>
          <p:nvSpPr>
            <p:cNvPr id="12" name="Line 56"/>
            <p:cNvSpPr>
              <a:spLocks noChangeShapeType="1"/>
            </p:cNvSpPr>
            <p:nvPr/>
          </p:nvSpPr>
          <p:spPr bwMode="auto">
            <a:xfrm>
              <a:off x="2697164" y="4738688"/>
              <a:ext cx="22685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Text Box 57"/>
            <p:cNvSpPr txBox="1">
              <a:spLocks noChangeArrowheads="1"/>
            </p:cNvSpPr>
            <p:nvPr/>
          </p:nvSpPr>
          <p:spPr bwMode="auto">
            <a:xfrm>
              <a:off x="2649410" y="4806950"/>
              <a:ext cx="908307" cy="343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network</a:t>
              </a:r>
            </a:p>
          </p:txBody>
        </p:sp>
        <p:sp>
          <p:nvSpPr>
            <p:cNvPr id="14" name="Rectangle 58"/>
            <p:cNvSpPr>
              <a:spLocks noChangeArrowheads="1"/>
            </p:cNvSpPr>
            <p:nvPr/>
          </p:nvSpPr>
          <p:spPr bwMode="auto">
            <a:xfrm>
              <a:off x="2662238" y="5160964"/>
              <a:ext cx="2335212" cy="180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Line 59"/>
            <p:cNvSpPr>
              <a:spLocks noChangeShapeType="1"/>
            </p:cNvSpPr>
            <p:nvPr/>
          </p:nvSpPr>
          <p:spPr bwMode="auto">
            <a:xfrm>
              <a:off x="2690813" y="5149850"/>
              <a:ext cx="0" cy="236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60"/>
            <p:cNvSpPr>
              <a:spLocks noChangeShapeType="1"/>
            </p:cNvSpPr>
            <p:nvPr/>
          </p:nvSpPr>
          <p:spPr bwMode="auto">
            <a:xfrm>
              <a:off x="4954588" y="5121275"/>
              <a:ext cx="0" cy="236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Freeform 8"/>
            <p:cNvSpPr>
              <a:spLocks/>
            </p:cNvSpPr>
            <p:nvPr/>
          </p:nvSpPr>
          <p:spPr bwMode="auto">
            <a:xfrm flipH="1">
              <a:off x="2217738" y="2805114"/>
              <a:ext cx="468312" cy="2490787"/>
            </a:xfrm>
            <a:custGeom>
              <a:avLst/>
              <a:gdLst>
                <a:gd name="T0" fmla="*/ 2147483646 w 366"/>
                <a:gd name="T1" fmla="*/ 2147483646 h 1284"/>
                <a:gd name="T2" fmla="*/ 2147483646 w 366"/>
                <a:gd name="T3" fmla="*/ 0 h 1284"/>
                <a:gd name="T4" fmla="*/ 0 w 366"/>
                <a:gd name="T5" fmla="*/ 2147483646 h 1284"/>
                <a:gd name="T6" fmla="*/ 2147483646 w 366"/>
                <a:gd name="T7" fmla="*/ 2147483646 h 1284"/>
                <a:gd name="T8" fmla="*/ 2147483646 w 366"/>
                <a:gd name="T9" fmla="*/ 2147483646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6"/>
                <a:gd name="T16" fmla="*/ 0 h 1284"/>
                <a:gd name="T17" fmla="*/ 366 w 366"/>
                <a:gd name="T18" fmla="*/ 1284 h 12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63"/>
            <p:cNvSpPr>
              <a:spLocks noChangeArrowheads="1"/>
            </p:cNvSpPr>
            <p:nvPr/>
          </p:nvSpPr>
          <p:spPr bwMode="auto">
            <a:xfrm>
              <a:off x="7032625" y="2754314"/>
              <a:ext cx="2279650" cy="241458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Rectangle 64"/>
            <p:cNvSpPr>
              <a:spLocks noChangeArrowheads="1"/>
            </p:cNvSpPr>
            <p:nvPr/>
          </p:nvSpPr>
          <p:spPr bwMode="auto">
            <a:xfrm>
              <a:off x="6992939" y="2808289"/>
              <a:ext cx="2270125" cy="24717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Line 65"/>
            <p:cNvSpPr>
              <a:spLocks noChangeShapeType="1"/>
            </p:cNvSpPr>
            <p:nvPr/>
          </p:nvSpPr>
          <p:spPr bwMode="auto">
            <a:xfrm>
              <a:off x="6992939" y="3249613"/>
              <a:ext cx="2270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Text Box 66"/>
            <p:cNvSpPr txBox="1">
              <a:spLocks noChangeArrowheads="1"/>
            </p:cNvSpPr>
            <p:nvPr/>
          </p:nvSpPr>
          <p:spPr bwMode="auto">
            <a:xfrm>
              <a:off x="7007226" y="3362325"/>
              <a:ext cx="2335213" cy="1623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230188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connection state: ESTAB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connection Variables: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seq # client-to-server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         server-to-client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dirty="0" err="1">
                  <a:latin typeface="Courier New" panose="02070309020205020404" pitchFamily="49" charset="0"/>
                  <a:ea typeface="宋体" panose="02010600030101010101" pitchFamily="2" charset="-122"/>
                </a:rPr>
                <a:t>rcvBuffer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size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  at </a:t>
              </a:r>
              <a:r>
                <a:rPr lang="en-US" altLang="zh-CN" sz="14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server,client</a:t>
              </a: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          </a:t>
              </a:r>
            </a:p>
          </p:txBody>
        </p:sp>
        <p:grpSp>
          <p:nvGrpSpPr>
            <p:cNvPr id="22" name="Group 67"/>
            <p:cNvGrpSpPr>
              <a:grpSpLocks/>
            </p:cNvGrpSpPr>
            <p:nvPr/>
          </p:nvGrpSpPr>
          <p:grpSpPr bwMode="auto">
            <a:xfrm>
              <a:off x="7940675" y="3163889"/>
              <a:ext cx="438150" cy="206375"/>
              <a:chOff x="344" y="1846"/>
              <a:chExt cx="336" cy="130"/>
            </a:xfrm>
          </p:grpSpPr>
          <p:sp>
            <p:nvSpPr>
              <p:cNvPr id="68" name="Rectangle 68"/>
              <p:cNvSpPr>
                <a:spLocks noChangeArrowheads="1"/>
              </p:cNvSpPr>
              <p:nvPr/>
            </p:nvSpPr>
            <p:spPr bwMode="auto">
              <a:xfrm>
                <a:off x="344" y="1846"/>
                <a:ext cx="336" cy="13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Rectangle 69"/>
              <p:cNvSpPr>
                <a:spLocks noChangeArrowheads="1"/>
              </p:cNvSpPr>
              <p:nvPr/>
            </p:nvSpPr>
            <p:spPr bwMode="auto">
              <a:xfrm>
                <a:off x="454" y="1863"/>
                <a:ext cx="112" cy="9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Rectangle 70"/>
              <p:cNvSpPr>
                <a:spLocks noChangeArrowheads="1"/>
              </p:cNvSpPr>
              <p:nvPr/>
            </p:nvSpPr>
            <p:spPr bwMode="auto">
              <a:xfrm>
                <a:off x="578" y="1921"/>
                <a:ext cx="29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Rectangle 71"/>
              <p:cNvSpPr>
                <a:spLocks noChangeArrowheads="1"/>
              </p:cNvSpPr>
              <p:nvPr/>
            </p:nvSpPr>
            <p:spPr bwMode="auto">
              <a:xfrm>
                <a:off x="407" y="1922"/>
                <a:ext cx="29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" name="Text Box 72"/>
            <p:cNvSpPr txBox="1">
              <a:spLocks noChangeArrowheads="1"/>
            </p:cNvSpPr>
            <p:nvPr/>
          </p:nvSpPr>
          <p:spPr bwMode="auto">
            <a:xfrm>
              <a:off x="6926133" y="2865438"/>
              <a:ext cx="1168660" cy="343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application</a:t>
              </a:r>
            </a:p>
          </p:txBody>
        </p:sp>
        <p:sp>
          <p:nvSpPr>
            <p:cNvPr id="24" name="Line 73"/>
            <p:cNvSpPr>
              <a:spLocks noChangeShapeType="1"/>
            </p:cNvSpPr>
            <p:nvPr/>
          </p:nvSpPr>
          <p:spPr bwMode="auto">
            <a:xfrm>
              <a:off x="6999289" y="4745038"/>
              <a:ext cx="22685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Text Box 74"/>
            <p:cNvSpPr txBox="1">
              <a:spLocks noChangeArrowheads="1"/>
            </p:cNvSpPr>
            <p:nvPr/>
          </p:nvSpPr>
          <p:spPr bwMode="auto">
            <a:xfrm>
              <a:off x="6951535" y="4813300"/>
              <a:ext cx="908307" cy="343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network</a:t>
              </a:r>
            </a:p>
          </p:txBody>
        </p:sp>
        <p:sp>
          <p:nvSpPr>
            <p:cNvPr id="26" name="Rectangle 75"/>
            <p:cNvSpPr>
              <a:spLocks noChangeArrowheads="1"/>
            </p:cNvSpPr>
            <p:nvPr/>
          </p:nvSpPr>
          <p:spPr bwMode="auto">
            <a:xfrm>
              <a:off x="6964363" y="5167314"/>
              <a:ext cx="2335212" cy="180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Line 76"/>
            <p:cNvSpPr>
              <a:spLocks noChangeShapeType="1"/>
            </p:cNvSpPr>
            <p:nvPr/>
          </p:nvSpPr>
          <p:spPr bwMode="auto">
            <a:xfrm>
              <a:off x="6992938" y="5156200"/>
              <a:ext cx="0" cy="236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77"/>
            <p:cNvSpPr>
              <a:spLocks noChangeShapeType="1"/>
            </p:cNvSpPr>
            <p:nvPr/>
          </p:nvSpPr>
          <p:spPr bwMode="auto">
            <a:xfrm>
              <a:off x="9256713" y="5127625"/>
              <a:ext cx="0" cy="236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Freeform 78"/>
            <p:cNvSpPr>
              <a:spLocks/>
            </p:cNvSpPr>
            <p:nvPr/>
          </p:nvSpPr>
          <p:spPr bwMode="auto">
            <a:xfrm>
              <a:off x="9274176" y="2744789"/>
              <a:ext cx="468313" cy="2490787"/>
            </a:xfrm>
            <a:custGeom>
              <a:avLst/>
              <a:gdLst>
                <a:gd name="T0" fmla="*/ 2147483646 w 366"/>
                <a:gd name="T1" fmla="*/ 2147483646 h 1284"/>
                <a:gd name="T2" fmla="*/ 2147483646 w 366"/>
                <a:gd name="T3" fmla="*/ 0 h 1284"/>
                <a:gd name="T4" fmla="*/ 0 w 366"/>
                <a:gd name="T5" fmla="*/ 2147483646 h 1284"/>
                <a:gd name="T6" fmla="*/ 2147483646 w 366"/>
                <a:gd name="T7" fmla="*/ 2147483646 h 1284"/>
                <a:gd name="T8" fmla="*/ 2147483646 w 366"/>
                <a:gd name="T9" fmla="*/ 2147483646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6"/>
                <a:gd name="T16" fmla="*/ 0 h 1284"/>
                <a:gd name="T17" fmla="*/ 366 w 366"/>
                <a:gd name="T18" fmla="*/ 1284 h 12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83"/>
            <p:cNvSpPr txBox="1">
              <a:spLocks noChangeArrowheads="1"/>
            </p:cNvSpPr>
            <p:nvPr/>
          </p:nvSpPr>
          <p:spPr bwMode="auto">
            <a:xfrm>
              <a:off x="1876482" y="5514435"/>
              <a:ext cx="4210050" cy="922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31775" indent="-231775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Socket </a:t>
              </a:r>
              <a:r>
                <a:rPr lang="en-US" altLang="zh-CN" sz="1800" b="1" dirty="0" err="1">
                  <a:latin typeface="Courier New" panose="02070309020205020404" pitchFamily="49" charset="0"/>
                  <a:ea typeface="宋体" panose="02010600030101010101" pitchFamily="2" charset="-122"/>
                </a:rPr>
                <a:t>clientSocket</a:t>
              </a:r>
              <a:r>
                <a:rPr lang="en-US" altLang="zh-CN" sz="1800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 =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  </a:t>
              </a:r>
              <a:r>
                <a:rPr lang="en-US" altLang="zh-CN" sz="1800" b="1" dirty="0" err="1">
                  <a:latin typeface="Courier New" panose="02070309020205020404" pitchFamily="49" charset="0"/>
                  <a:ea typeface="宋体" panose="02010600030101010101" pitchFamily="2" charset="-122"/>
                </a:rPr>
                <a:t>newSocket</a:t>
              </a:r>
              <a:r>
                <a:rPr lang="en-US" altLang="zh-CN" sz="1800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("</a:t>
              </a:r>
              <a:r>
                <a:rPr lang="en-US" altLang="zh-CN" sz="1800" b="1" dirty="0" err="1">
                  <a:latin typeface="Courier New" panose="02070309020205020404" pitchFamily="49" charset="0"/>
                  <a:ea typeface="宋体" panose="02010600030101010101" pitchFamily="2" charset="-122"/>
                </a:rPr>
                <a:t>hostname","port</a:t>
              </a:r>
              <a:r>
                <a:rPr lang="en-US" altLang="zh-CN" sz="1800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 number");</a:t>
              </a:r>
            </a:p>
          </p:txBody>
        </p:sp>
        <p:sp>
          <p:nvSpPr>
            <p:cNvPr id="31" name="Text Box 85"/>
            <p:cNvSpPr txBox="1">
              <a:spLocks noChangeArrowheads="1"/>
            </p:cNvSpPr>
            <p:nvPr/>
          </p:nvSpPr>
          <p:spPr bwMode="auto">
            <a:xfrm>
              <a:off x="6549346" y="5584307"/>
              <a:ext cx="3948112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31775" indent="-231775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Socket </a:t>
              </a:r>
              <a:r>
                <a:rPr lang="en-US" altLang="zh-CN" sz="1800" b="1" dirty="0" err="1">
                  <a:latin typeface="Courier New" panose="02070309020205020404" pitchFamily="49" charset="0"/>
                  <a:ea typeface="宋体" panose="02010600030101010101" pitchFamily="2" charset="-122"/>
                </a:rPr>
                <a:t>connectionSocket</a:t>
              </a:r>
              <a:r>
                <a:rPr lang="en-US" altLang="zh-CN" sz="1800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 = </a:t>
              </a:r>
              <a:r>
                <a:rPr lang="en-US" altLang="zh-CN" sz="1800" b="1" dirty="0" err="1">
                  <a:latin typeface="Courier New" panose="02070309020205020404" pitchFamily="49" charset="0"/>
                  <a:ea typeface="宋体" panose="02010600030101010101" pitchFamily="2" charset="-122"/>
                </a:rPr>
                <a:t>welcomeSocket.accept</a:t>
              </a:r>
              <a:r>
                <a:rPr lang="en-US" altLang="zh-CN" sz="1800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();</a:t>
              </a:r>
            </a:p>
          </p:txBody>
        </p:sp>
        <p:grpSp>
          <p:nvGrpSpPr>
            <p:cNvPr id="32" name="Group 89"/>
            <p:cNvGrpSpPr>
              <a:grpSpLocks/>
            </p:cNvGrpSpPr>
            <p:nvPr/>
          </p:nvGrpSpPr>
          <p:grpSpPr bwMode="auto">
            <a:xfrm>
              <a:off x="1741488" y="4837114"/>
              <a:ext cx="698500" cy="612775"/>
              <a:chOff x="-44" y="1473"/>
              <a:chExt cx="981" cy="1105"/>
            </a:xfrm>
          </p:grpSpPr>
          <p:pic>
            <p:nvPicPr>
              <p:cNvPr id="66" name="Picture 9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7" name="Freeform 9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6756664 w 356"/>
                  <a:gd name="T3" fmla="*/ 23644115 h 368"/>
                  <a:gd name="T4" fmla="*/ 185958828 w 356"/>
                  <a:gd name="T5" fmla="*/ 492768470 h 368"/>
                  <a:gd name="T6" fmla="*/ 40982514 w 356"/>
                  <a:gd name="T7" fmla="*/ 61626047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3" name="Group 92"/>
            <p:cNvGrpSpPr>
              <a:grpSpLocks/>
            </p:cNvGrpSpPr>
            <p:nvPr/>
          </p:nvGrpSpPr>
          <p:grpSpPr bwMode="auto">
            <a:xfrm>
              <a:off x="9556751" y="4735513"/>
              <a:ext cx="415925" cy="627062"/>
              <a:chOff x="4140" y="429"/>
              <a:chExt cx="1425" cy="2396"/>
            </a:xfrm>
          </p:grpSpPr>
          <p:sp>
            <p:nvSpPr>
              <p:cNvPr id="34" name="Freeform 93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Rectangle 94"/>
              <p:cNvSpPr>
                <a:spLocks noChangeArrowheads="1"/>
              </p:cNvSpPr>
              <p:nvPr/>
            </p:nvSpPr>
            <p:spPr bwMode="auto">
              <a:xfrm>
                <a:off x="4205" y="429"/>
                <a:ext cx="1050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Freeform 95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96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Rectangle 97"/>
              <p:cNvSpPr>
                <a:spLocks noChangeArrowheads="1"/>
              </p:cNvSpPr>
              <p:nvPr/>
            </p:nvSpPr>
            <p:spPr bwMode="auto">
              <a:xfrm>
                <a:off x="4211" y="696"/>
                <a:ext cx="598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39" name="Group 98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4" name="AutoShape 99"/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6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" name="AutoShape 100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2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0" name="Rectangle 101"/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8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41" name="Group 102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2" name="AutoShape 103"/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AutoShape 104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79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2" name="Rectangle 105"/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8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Rectangle 106"/>
              <p:cNvSpPr>
                <a:spLocks noChangeArrowheads="1"/>
              </p:cNvSpPr>
              <p:nvPr/>
            </p:nvSpPr>
            <p:spPr bwMode="auto">
              <a:xfrm>
                <a:off x="4227" y="1654"/>
                <a:ext cx="598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44" name="Group 107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0" name="AutoShape 108"/>
                <p:cNvSpPr>
                  <a:spLocks noChangeArrowheads="1"/>
                </p:cNvSpPr>
                <p:nvPr/>
              </p:nvSpPr>
              <p:spPr bwMode="auto">
                <a:xfrm>
                  <a:off x="611" y="2576"/>
                  <a:ext cx="725" cy="1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" name="AutoShape 109"/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1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5" name="Freeform 110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6" name="Group 111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8" name="AutoShape 112"/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5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" name="AutoShape 113"/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1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7" name="Rectangle 114"/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Freeform 115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16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Oval 117"/>
              <p:cNvSpPr>
                <a:spLocks noChangeArrowheads="1"/>
              </p:cNvSpPr>
              <p:nvPr/>
            </p:nvSpPr>
            <p:spPr bwMode="auto">
              <a:xfrm>
                <a:off x="5516" y="2613"/>
                <a:ext cx="49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Freeform 118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AutoShape 119"/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7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AutoShape 120"/>
              <p:cNvSpPr>
                <a:spLocks noChangeArrowheads="1"/>
              </p:cNvSpPr>
              <p:nvPr/>
            </p:nvSpPr>
            <p:spPr bwMode="auto">
              <a:xfrm>
                <a:off x="4205" y="2710"/>
                <a:ext cx="1071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Oval 121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Oval 122"/>
              <p:cNvSpPr>
                <a:spLocks noChangeArrowheads="1"/>
              </p:cNvSpPr>
              <p:nvPr/>
            </p:nvSpPr>
            <p:spPr bwMode="auto">
              <a:xfrm>
                <a:off x="4488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6" name="Oval 123"/>
              <p:cNvSpPr>
                <a:spLocks noChangeArrowheads="1"/>
              </p:cNvSpPr>
              <p:nvPr/>
            </p:nvSpPr>
            <p:spPr bwMode="auto">
              <a:xfrm>
                <a:off x="4662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Rectangle 124"/>
              <p:cNvSpPr>
                <a:spLocks noChangeArrowheads="1"/>
              </p:cNvSpPr>
              <p:nvPr/>
            </p:nvSpPr>
            <p:spPr bwMode="auto">
              <a:xfrm>
                <a:off x="5065" y="1836"/>
                <a:ext cx="82" cy="758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6.3.5  </a:t>
            </a:r>
            <a:r>
              <a:rPr kumimoji="1" lang="zh-CN" altLang="en-US" dirty="0"/>
              <a:t>面向连接的传输：连接管理</a:t>
            </a:r>
          </a:p>
        </p:txBody>
      </p:sp>
    </p:spTree>
    <p:extLst>
      <p:ext uri="{BB962C8B-B14F-4D97-AF65-F5344CB8AC3E}">
        <p14:creationId xmlns:p14="http://schemas.microsoft.com/office/powerpoint/2010/main" val="2835025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两次握手建立连接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85430" y="1510758"/>
            <a:ext cx="5968370" cy="4586694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问题</a:t>
            </a:r>
            <a:r>
              <a:rPr lang="en-US" altLang="zh-CN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: </a:t>
            </a:r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在网络中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2次握手总是可行的吗？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在一个不可靠的网络中，总会有一些意外发生：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报文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传输延迟变化很大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存在重传的报文段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存在报文重排序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56</a:t>
            </a:fld>
            <a:endParaRPr kumimoji="1"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032161" y="2196964"/>
            <a:ext cx="3340813" cy="3900488"/>
            <a:chOff x="2050920" y="1957388"/>
            <a:chExt cx="3340813" cy="3900488"/>
          </a:xfrm>
        </p:grpSpPr>
        <p:pic>
          <p:nvPicPr>
            <p:cNvPr id="6" name="Picture 62" descr="Alic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5113" y="1957388"/>
              <a:ext cx="508000" cy="627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63" descr="Bob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4350" y="1992313"/>
              <a:ext cx="6223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Line 50"/>
            <p:cNvSpPr>
              <a:spLocks noChangeShapeType="1"/>
            </p:cNvSpPr>
            <p:nvPr/>
          </p:nvSpPr>
          <p:spPr bwMode="auto">
            <a:xfrm>
              <a:off x="3114675" y="2689226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51"/>
            <p:cNvSpPr>
              <a:spLocks noChangeShapeType="1"/>
            </p:cNvSpPr>
            <p:nvPr/>
          </p:nvSpPr>
          <p:spPr bwMode="auto">
            <a:xfrm>
              <a:off x="3070225" y="2606676"/>
              <a:ext cx="0" cy="109537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Line 53"/>
            <p:cNvSpPr>
              <a:spLocks noChangeShapeType="1"/>
            </p:cNvSpPr>
            <p:nvPr/>
          </p:nvSpPr>
          <p:spPr bwMode="auto">
            <a:xfrm>
              <a:off x="4600575" y="2633664"/>
              <a:ext cx="0" cy="109537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Line 54"/>
            <p:cNvSpPr>
              <a:spLocks noChangeShapeType="1"/>
            </p:cNvSpPr>
            <p:nvPr/>
          </p:nvSpPr>
          <p:spPr bwMode="auto">
            <a:xfrm flipH="1">
              <a:off x="3067050" y="3086101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Rectangle 56"/>
            <p:cNvSpPr>
              <a:spLocks noChangeArrowheads="1"/>
            </p:cNvSpPr>
            <p:nvPr/>
          </p:nvSpPr>
          <p:spPr bwMode="auto">
            <a:xfrm>
              <a:off x="3352800" y="2674939"/>
              <a:ext cx="890588" cy="327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Text Box 55"/>
            <p:cNvSpPr txBox="1">
              <a:spLocks noChangeArrowheads="1"/>
            </p:cNvSpPr>
            <p:nvPr/>
          </p:nvSpPr>
          <p:spPr bwMode="auto">
            <a:xfrm>
              <a:off x="3307307" y="2652713"/>
              <a:ext cx="1003800" cy="338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Let</a:t>
              </a:r>
              <a:r>
                <a:rPr lang="ja-JP" altLang="en-US" sz="1600">
                  <a:latin typeface="DengXian" panose="02010600030101010101" pitchFamily="2" charset="-122"/>
                  <a:ea typeface="MS PGothic" panose="020B0600070205080204" pitchFamily="34" charset="-128"/>
                </a:rPr>
                <a:t>’</a:t>
              </a:r>
              <a:r>
                <a:rPr lang="en-US" altLang="ja-JP" sz="1600" dirty="0">
                  <a:latin typeface="DengXian" panose="02010600030101010101" pitchFamily="2" charset="-122"/>
                  <a:ea typeface="MS PGothic" panose="020B0600070205080204" pitchFamily="34" charset="-128"/>
                </a:rPr>
                <a:t>s talk</a:t>
              </a:r>
              <a:endPara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Rectangle 57"/>
            <p:cNvSpPr>
              <a:spLocks noChangeArrowheads="1"/>
            </p:cNvSpPr>
            <p:nvPr/>
          </p:nvSpPr>
          <p:spPr bwMode="auto">
            <a:xfrm>
              <a:off x="3609975" y="3098801"/>
              <a:ext cx="439738" cy="327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Text Box 58"/>
            <p:cNvSpPr txBox="1">
              <a:spLocks noChangeArrowheads="1"/>
            </p:cNvSpPr>
            <p:nvPr/>
          </p:nvSpPr>
          <p:spPr bwMode="auto">
            <a:xfrm>
              <a:off x="3590953" y="3076575"/>
              <a:ext cx="453970" cy="338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OK</a:t>
              </a:r>
            </a:p>
          </p:txBody>
        </p:sp>
        <p:sp>
          <p:nvSpPr>
            <p:cNvPr id="16" name="Text Box 60"/>
            <p:cNvSpPr txBox="1">
              <a:spLocks noChangeArrowheads="1"/>
            </p:cNvSpPr>
            <p:nvPr/>
          </p:nvSpPr>
          <p:spPr bwMode="auto">
            <a:xfrm>
              <a:off x="4619045" y="2909888"/>
              <a:ext cx="74411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ESTAB</a:t>
              </a:r>
            </a:p>
          </p:txBody>
        </p:sp>
        <p:sp>
          <p:nvSpPr>
            <p:cNvPr id="17" name="Text Box 61"/>
            <p:cNvSpPr txBox="1">
              <a:spLocks noChangeArrowheads="1"/>
            </p:cNvSpPr>
            <p:nvPr/>
          </p:nvSpPr>
          <p:spPr bwMode="auto">
            <a:xfrm>
              <a:off x="2226682" y="3243263"/>
              <a:ext cx="74411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ESTAB</a:t>
              </a:r>
            </a:p>
          </p:txBody>
        </p:sp>
        <p:sp>
          <p:nvSpPr>
            <p:cNvPr id="18" name="Oval 66"/>
            <p:cNvSpPr>
              <a:spLocks noChangeArrowheads="1"/>
            </p:cNvSpPr>
            <p:nvPr/>
          </p:nvSpPr>
          <p:spPr bwMode="auto">
            <a:xfrm>
              <a:off x="3024189" y="3360738"/>
              <a:ext cx="90487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Oval 67"/>
            <p:cNvSpPr>
              <a:spLocks noChangeArrowheads="1"/>
            </p:cNvSpPr>
            <p:nvPr/>
          </p:nvSpPr>
          <p:spPr bwMode="auto">
            <a:xfrm>
              <a:off x="4552950" y="3017838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Text Box 72"/>
            <p:cNvSpPr txBox="1">
              <a:spLocks noChangeArrowheads="1"/>
            </p:cNvSpPr>
            <p:nvPr/>
          </p:nvSpPr>
          <p:spPr bwMode="auto">
            <a:xfrm>
              <a:off x="2050920" y="4645026"/>
              <a:ext cx="9589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choose x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Line 73"/>
            <p:cNvSpPr>
              <a:spLocks noChangeShapeType="1"/>
            </p:cNvSpPr>
            <p:nvPr/>
          </p:nvSpPr>
          <p:spPr bwMode="auto">
            <a:xfrm>
              <a:off x="3143250" y="4818063"/>
              <a:ext cx="1479550" cy="31591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74"/>
            <p:cNvSpPr>
              <a:spLocks noChangeShapeType="1"/>
            </p:cNvSpPr>
            <p:nvPr/>
          </p:nvSpPr>
          <p:spPr bwMode="auto">
            <a:xfrm>
              <a:off x="3098800" y="4735514"/>
              <a:ext cx="0" cy="109537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Line 75"/>
            <p:cNvSpPr>
              <a:spLocks noChangeShapeType="1"/>
            </p:cNvSpPr>
            <p:nvPr/>
          </p:nvSpPr>
          <p:spPr bwMode="auto">
            <a:xfrm>
              <a:off x="4629150" y="4762501"/>
              <a:ext cx="0" cy="109537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Line 76"/>
            <p:cNvSpPr>
              <a:spLocks noChangeShapeType="1"/>
            </p:cNvSpPr>
            <p:nvPr/>
          </p:nvSpPr>
          <p:spPr bwMode="auto">
            <a:xfrm flipH="1">
              <a:off x="3095625" y="5214938"/>
              <a:ext cx="1479550" cy="31591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Rectangle 77"/>
            <p:cNvSpPr>
              <a:spLocks noChangeArrowheads="1"/>
            </p:cNvSpPr>
            <p:nvPr/>
          </p:nvSpPr>
          <p:spPr bwMode="auto">
            <a:xfrm>
              <a:off x="3460751" y="4803776"/>
              <a:ext cx="777875" cy="327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" name="Text Box 78"/>
            <p:cNvSpPr txBox="1">
              <a:spLocks noChangeArrowheads="1"/>
            </p:cNvSpPr>
            <p:nvPr/>
          </p:nvSpPr>
          <p:spPr bwMode="auto">
            <a:xfrm>
              <a:off x="3264262" y="4770438"/>
              <a:ext cx="120577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req_conn</a:t>
              </a: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(x)</a:t>
              </a:r>
            </a:p>
          </p:txBody>
        </p:sp>
        <p:sp>
          <p:nvSpPr>
            <p:cNvPr id="27" name="Rectangle 79"/>
            <p:cNvSpPr>
              <a:spLocks noChangeArrowheads="1"/>
            </p:cNvSpPr>
            <p:nvPr/>
          </p:nvSpPr>
          <p:spPr bwMode="auto">
            <a:xfrm>
              <a:off x="3638550" y="5227639"/>
              <a:ext cx="439738" cy="327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Text Box 81"/>
            <p:cNvSpPr txBox="1">
              <a:spLocks noChangeArrowheads="1"/>
            </p:cNvSpPr>
            <p:nvPr/>
          </p:nvSpPr>
          <p:spPr bwMode="auto">
            <a:xfrm>
              <a:off x="4647620" y="5038725"/>
              <a:ext cx="74411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ESTAB</a:t>
              </a:r>
            </a:p>
          </p:txBody>
        </p:sp>
        <p:sp>
          <p:nvSpPr>
            <p:cNvPr id="29" name="Text Box 82"/>
            <p:cNvSpPr txBox="1">
              <a:spLocks noChangeArrowheads="1"/>
            </p:cNvSpPr>
            <p:nvPr/>
          </p:nvSpPr>
          <p:spPr bwMode="auto">
            <a:xfrm>
              <a:off x="2255257" y="5372100"/>
              <a:ext cx="74411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ESTAB</a:t>
              </a:r>
            </a:p>
          </p:txBody>
        </p:sp>
        <p:sp>
          <p:nvSpPr>
            <p:cNvPr id="30" name="Oval 83"/>
            <p:cNvSpPr>
              <a:spLocks noChangeArrowheads="1"/>
            </p:cNvSpPr>
            <p:nvPr/>
          </p:nvSpPr>
          <p:spPr bwMode="auto">
            <a:xfrm>
              <a:off x="3052764" y="5489575"/>
              <a:ext cx="90487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Oval 84"/>
            <p:cNvSpPr>
              <a:spLocks noChangeArrowheads="1"/>
            </p:cNvSpPr>
            <p:nvPr/>
          </p:nvSpPr>
          <p:spPr bwMode="auto">
            <a:xfrm>
              <a:off x="4581525" y="5146675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" name="Rectangle 86"/>
            <p:cNvSpPr>
              <a:spLocks noChangeArrowheads="1"/>
            </p:cNvSpPr>
            <p:nvPr/>
          </p:nvSpPr>
          <p:spPr bwMode="auto">
            <a:xfrm>
              <a:off x="3340101" y="5233988"/>
              <a:ext cx="1071563" cy="260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3" name="Text Box 85"/>
            <p:cNvSpPr txBox="1">
              <a:spLocks noChangeArrowheads="1"/>
            </p:cNvSpPr>
            <p:nvPr/>
          </p:nvSpPr>
          <p:spPr bwMode="auto">
            <a:xfrm>
              <a:off x="3261109" y="5195888"/>
              <a:ext cx="12009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acc_conn</a:t>
              </a: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(x)</a:t>
              </a:r>
            </a:p>
          </p:txBody>
        </p:sp>
        <p:grpSp>
          <p:nvGrpSpPr>
            <p:cNvPr id="34" name="Group 92"/>
            <p:cNvGrpSpPr>
              <a:grpSpLocks/>
            </p:cNvGrpSpPr>
            <p:nvPr/>
          </p:nvGrpSpPr>
          <p:grpSpPr bwMode="auto">
            <a:xfrm>
              <a:off x="2733676" y="4202113"/>
              <a:ext cx="574675" cy="520700"/>
              <a:chOff x="-44" y="1473"/>
              <a:chExt cx="981" cy="1105"/>
            </a:xfrm>
          </p:grpSpPr>
          <p:pic>
            <p:nvPicPr>
              <p:cNvPr id="68" name="Picture 9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9" name="Freeform 94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8635428 w 356"/>
                  <a:gd name="T3" fmla="*/ 6614732 h 368"/>
                  <a:gd name="T4" fmla="*/ 57695678 w 356"/>
                  <a:gd name="T5" fmla="*/ 137858167 h 368"/>
                  <a:gd name="T6" fmla="*/ 12715255 w 356"/>
                  <a:gd name="T7" fmla="*/ 17240661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5" name="Group 95"/>
            <p:cNvGrpSpPr>
              <a:grpSpLocks/>
            </p:cNvGrpSpPr>
            <p:nvPr/>
          </p:nvGrpSpPr>
          <p:grpSpPr bwMode="auto">
            <a:xfrm>
              <a:off x="4495800" y="4183063"/>
              <a:ext cx="336550" cy="512762"/>
              <a:chOff x="4140" y="429"/>
              <a:chExt cx="1425" cy="2396"/>
            </a:xfrm>
          </p:grpSpPr>
          <p:sp>
            <p:nvSpPr>
              <p:cNvPr id="36" name="Freeform 96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Rectangle 97"/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Freeform 98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99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Rectangle 100"/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41" name="Group 101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6" name="AutoShape 102"/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7" name="AutoShape 103"/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2" name="Rectangle 104"/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43" name="Group 105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4" name="AutoShape 106"/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" name="AutoShape 107"/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4" name="Rectangle 108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Rectangle 109"/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46" name="Group 110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2" name="AutoShape 111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AutoShape 112"/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7" name="Freeform 113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8" name="Group 114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0" name="AutoShape 115"/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" name="AutoShape 116"/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9" name="Rectangle 117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Freeform 118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19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Oval 120"/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Freeform 121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AutoShape 122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AutoShape 123"/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Oval 124"/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Oval 125"/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8" name="Oval 126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Rectangle 127"/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0" name="文本框 69"/>
          <p:cNvSpPr txBox="1"/>
          <p:nvPr/>
        </p:nvSpPr>
        <p:spPr>
          <a:xfrm>
            <a:off x="1088867" y="1510758"/>
            <a:ext cx="3647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两次握手建立连接的类比</a:t>
            </a:r>
          </a:p>
        </p:txBody>
      </p:sp>
      <p:sp>
        <p:nvSpPr>
          <p:cNvPr id="71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6.3.5  </a:t>
            </a:r>
            <a:r>
              <a:rPr kumimoji="1" lang="zh-CN" altLang="en-US" dirty="0"/>
              <a:t>面向连接的传输：连接管理</a:t>
            </a:r>
          </a:p>
        </p:txBody>
      </p:sp>
    </p:spTree>
    <p:extLst>
      <p:ext uri="{BB962C8B-B14F-4D97-AF65-F5344CB8AC3E}">
        <p14:creationId xmlns:p14="http://schemas.microsoft.com/office/powerpoint/2010/main" val="2923663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Rectangle 3"/>
          <p:cNvSpPr>
            <a:spLocks noGrp="1" noChangeArrowheads="1"/>
          </p:cNvSpPr>
          <p:nvPr>
            <p:ph type="title"/>
          </p:nvPr>
        </p:nvSpPr>
        <p:spPr>
          <a:xfrm>
            <a:off x="1327151" y="394322"/>
            <a:ext cx="7772400" cy="84931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两</a:t>
            </a:r>
            <a:r>
              <a:rPr lang="en-US" altLang="zh-CN" sz="4000" dirty="0" err="1"/>
              <a:t>次握手失败的情形</a:t>
            </a:r>
            <a:endParaRPr lang="en-US" altLang="zh-CN" sz="4000" dirty="0"/>
          </a:p>
        </p:txBody>
      </p:sp>
      <p:sp>
        <p:nvSpPr>
          <p:cNvPr id="138245" name="Line 25"/>
          <p:cNvSpPr>
            <a:spLocks noChangeShapeType="1"/>
          </p:cNvSpPr>
          <p:nvPr/>
        </p:nvSpPr>
        <p:spPr bwMode="auto">
          <a:xfrm flipH="1">
            <a:off x="3028950" y="2090156"/>
            <a:ext cx="1588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8246" name="Line 39"/>
          <p:cNvSpPr>
            <a:spLocks noChangeShapeType="1"/>
          </p:cNvSpPr>
          <p:nvPr/>
        </p:nvSpPr>
        <p:spPr bwMode="auto">
          <a:xfrm flipH="1">
            <a:off x="4557714" y="2163181"/>
            <a:ext cx="1587" cy="396081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" name="Group 95"/>
          <p:cNvGrpSpPr>
            <a:grpSpLocks/>
          </p:cNvGrpSpPr>
          <p:nvPr/>
        </p:nvGrpSpPr>
        <p:grpSpPr bwMode="auto">
          <a:xfrm>
            <a:off x="1598613" y="2715632"/>
            <a:ext cx="3760788" cy="3460751"/>
            <a:chOff x="229" y="1844"/>
            <a:chExt cx="2369" cy="2180"/>
          </a:xfrm>
        </p:grpSpPr>
        <p:sp>
          <p:nvSpPr>
            <p:cNvPr id="138377" name="Text Box 42"/>
            <p:cNvSpPr txBox="1">
              <a:spLocks noChangeArrowheads="1"/>
            </p:cNvSpPr>
            <p:nvPr/>
          </p:nvSpPr>
          <p:spPr bwMode="auto">
            <a:xfrm>
              <a:off x="229" y="1844"/>
              <a:ext cx="882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retransmit</a:t>
              </a:r>
            </a:p>
            <a:p>
              <a:pPr algn="r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req_conn</a:t>
              </a: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(x)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378" name="Freeform 43"/>
            <p:cNvSpPr>
              <a:spLocks/>
            </p:cNvSpPr>
            <p:nvPr/>
          </p:nvSpPr>
          <p:spPr bwMode="auto">
            <a:xfrm>
              <a:off x="1137" y="2027"/>
              <a:ext cx="962" cy="1612"/>
            </a:xfrm>
            <a:custGeom>
              <a:avLst/>
              <a:gdLst>
                <a:gd name="T0" fmla="*/ 0 w 962"/>
                <a:gd name="T1" fmla="*/ 0 h 1612"/>
                <a:gd name="T2" fmla="*/ 306 w 962"/>
                <a:gd name="T3" fmla="*/ 234 h 1612"/>
                <a:gd name="T4" fmla="*/ 467 w 962"/>
                <a:gd name="T5" fmla="*/ 1342 h 1612"/>
                <a:gd name="T6" fmla="*/ 962 w 962"/>
                <a:gd name="T7" fmla="*/ 1612 h 16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2"/>
                <a:gd name="T13" fmla="*/ 0 h 1612"/>
                <a:gd name="T14" fmla="*/ 962 w 962"/>
                <a:gd name="T15" fmla="*/ 1612 h 16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2" h="1612">
                  <a:moveTo>
                    <a:pt x="0" y="0"/>
                  </a:moveTo>
                  <a:cubicBezTo>
                    <a:pt x="50" y="40"/>
                    <a:pt x="228" y="10"/>
                    <a:pt x="306" y="234"/>
                  </a:cubicBezTo>
                  <a:cubicBezTo>
                    <a:pt x="384" y="458"/>
                    <a:pt x="358" y="1112"/>
                    <a:pt x="467" y="1342"/>
                  </a:cubicBezTo>
                  <a:cubicBezTo>
                    <a:pt x="576" y="1572"/>
                    <a:pt x="779" y="1601"/>
                    <a:pt x="962" y="1612"/>
                  </a:cubicBez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379" name="Text Box 44"/>
            <p:cNvSpPr txBox="1">
              <a:spLocks noChangeArrowheads="1"/>
            </p:cNvSpPr>
            <p:nvPr/>
          </p:nvSpPr>
          <p:spPr bwMode="auto">
            <a:xfrm>
              <a:off x="2129" y="3517"/>
              <a:ext cx="4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ESTAB</a:t>
              </a:r>
            </a:p>
          </p:txBody>
        </p:sp>
        <p:sp>
          <p:nvSpPr>
            <p:cNvPr id="138380" name="Oval 45"/>
            <p:cNvSpPr>
              <a:spLocks noChangeArrowheads="1"/>
            </p:cNvSpPr>
            <p:nvPr/>
          </p:nvSpPr>
          <p:spPr bwMode="auto">
            <a:xfrm>
              <a:off x="2072" y="3597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38381" name="Group 46"/>
            <p:cNvGrpSpPr>
              <a:grpSpLocks/>
            </p:cNvGrpSpPr>
            <p:nvPr/>
          </p:nvGrpSpPr>
          <p:grpSpPr bwMode="auto">
            <a:xfrm>
              <a:off x="1219" y="2407"/>
              <a:ext cx="760" cy="213"/>
              <a:chOff x="1086" y="2085"/>
              <a:chExt cx="760" cy="213"/>
            </a:xfrm>
          </p:grpSpPr>
          <p:sp>
            <p:nvSpPr>
              <p:cNvPr id="138383" name="Rectangle 47"/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384" name="Text Box 48"/>
              <p:cNvSpPr txBox="1">
                <a:spLocks noChangeArrowheads="1"/>
              </p:cNvSpPr>
              <p:nvPr/>
            </p:nvSpPr>
            <p:spPr bwMode="auto">
              <a:xfrm>
                <a:off x="1086" y="2085"/>
                <a:ext cx="76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 err="1">
                    <a:latin typeface="DengXian" panose="02010600030101010101" pitchFamily="2" charset="-122"/>
                    <a:ea typeface="宋体" panose="02010600030101010101" pitchFamily="2" charset="-122"/>
                  </a:rPr>
                  <a:t>req_conn</a:t>
                </a:r>
                <a:r>
                  <a:rPr lang="en-US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(x)</a:t>
                </a:r>
              </a:p>
            </p:txBody>
          </p:sp>
        </p:grpSp>
        <p:sp>
          <p:nvSpPr>
            <p:cNvPr id="138382" name="Text Box 49"/>
            <p:cNvSpPr txBox="1">
              <a:spLocks noChangeArrowheads="1"/>
            </p:cNvSpPr>
            <p:nvPr/>
          </p:nvSpPr>
          <p:spPr bwMode="auto">
            <a:xfrm>
              <a:off x="594" y="3791"/>
              <a:ext cx="1947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等线" panose="02010600030101010101" pitchFamily="2" charset="-122"/>
                  <a:ea typeface="等线" panose="02010600030101010101" pitchFamily="2" charset="-122"/>
                </a:rPr>
                <a:t>形成半开连接（没有</a:t>
              </a:r>
              <a:r>
                <a:rPr lang="en-US" altLang="zh-CN" sz="1800" dirty="0">
                  <a:latin typeface="等线" panose="02010600030101010101" pitchFamily="2" charset="-122"/>
                  <a:ea typeface="等线" panose="02010600030101010101" pitchFamily="2" charset="-122"/>
                </a:rPr>
                <a:t>client</a:t>
              </a:r>
              <a:r>
                <a:rPr lang="zh-CN" altLang="en-US" sz="1800" dirty="0">
                  <a:latin typeface="等线" panose="02010600030101010101" pitchFamily="2" charset="-122"/>
                  <a:ea typeface="等线" panose="02010600030101010101" pitchFamily="2" charset="-122"/>
                </a:rPr>
                <a:t>）</a:t>
              </a:r>
              <a:endPara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grpSp>
        <p:nvGrpSpPr>
          <p:cNvPr id="4" name="Group 93"/>
          <p:cNvGrpSpPr>
            <a:grpSpLocks/>
          </p:cNvGrpSpPr>
          <p:nvPr/>
        </p:nvGrpSpPr>
        <p:grpSpPr bwMode="auto">
          <a:xfrm>
            <a:off x="1785939" y="4244397"/>
            <a:ext cx="3902075" cy="720726"/>
            <a:chOff x="361" y="2807"/>
            <a:chExt cx="2458" cy="454"/>
          </a:xfrm>
        </p:grpSpPr>
        <p:sp>
          <p:nvSpPr>
            <p:cNvPr id="138373" name="Line 40"/>
            <p:cNvSpPr>
              <a:spLocks noChangeShapeType="1"/>
            </p:cNvSpPr>
            <p:nvPr/>
          </p:nvSpPr>
          <p:spPr bwMode="auto">
            <a:xfrm>
              <a:off x="1097" y="2964"/>
              <a:ext cx="151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374" name="Text Box 83"/>
            <p:cNvSpPr txBox="1">
              <a:spLocks noChangeArrowheads="1"/>
            </p:cNvSpPr>
            <p:nvPr/>
          </p:nvSpPr>
          <p:spPr bwMode="auto">
            <a:xfrm>
              <a:off x="361" y="2937"/>
              <a:ext cx="783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client terminates</a:t>
              </a:r>
            </a:p>
          </p:txBody>
        </p:sp>
        <p:sp>
          <p:nvSpPr>
            <p:cNvPr id="138375" name="Text Box 84"/>
            <p:cNvSpPr txBox="1">
              <a:spLocks noChangeArrowheads="1"/>
            </p:cNvSpPr>
            <p:nvPr/>
          </p:nvSpPr>
          <p:spPr bwMode="auto">
            <a:xfrm>
              <a:off x="2081" y="2938"/>
              <a:ext cx="73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server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forgets x</a:t>
              </a:r>
            </a:p>
          </p:txBody>
        </p:sp>
        <p:sp>
          <p:nvSpPr>
            <p:cNvPr id="138376" name="Text Box 85"/>
            <p:cNvSpPr txBox="1">
              <a:spLocks noChangeArrowheads="1"/>
            </p:cNvSpPr>
            <p:nvPr/>
          </p:nvSpPr>
          <p:spPr bwMode="auto">
            <a:xfrm>
              <a:off x="1273" y="2807"/>
              <a:ext cx="698" cy="3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connection 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x completes</a:t>
              </a:r>
            </a:p>
          </p:txBody>
        </p:sp>
      </p:grpSp>
      <p:grpSp>
        <p:nvGrpSpPr>
          <p:cNvPr id="5" name="Group 99"/>
          <p:cNvGrpSpPr>
            <a:grpSpLocks/>
          </p:cNvGrpSpPr>
          <p:nvPr/>
        </p:nvGrpSpPr>
        <p:grpSpPr bwMode="auto">
          <a:xfrm>
            <a:off x="5951539" y="2702932"/>
            <a:ext cx="4141787" cy="3422649"/>
            <a:chOff x="2971" y="1831"/>
            <a:chExt cx="2609" cy="2156"/>
          </a:xfrm>
        </p:grpSpPr>
        <p:sp>
          <p:nvSpPr>
            <p:cNvPr id="138362" name="Text Box 69"/>
            <p:cNvSpPr txBox="1">
              <a:spLocks noChangeArrowheads="1"/>
            </p:cNvSpPr>
            <p:nvPr/>
          </p:nvSpPr>
          <p:spPr bwMode="auto">
            <a:xfrm>
              <a:off x="2971" y="1831"/>
              <a:ext cx="861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retransmit</a:t>
              </a:r>
            </a:p>
            <a:p>
              <a:pPr algn="r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req_conn</a:t>
              </a: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(x)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363" name="Freeform 70"/>
            <p:cNvSpPr>
              <a:spLocks/>
            </p:cNvSpPr>
            <p:nvPr/>
          </p:nvSpPr>
          <p:spPr bwMode="auto">
            <a:xfrm>
              <a:off x="3858" y="2021"/>
              <a:ext cx="962" cy="1612"/>
            </a:xfrm>
            <a:custGeom>
              <a:avLst/>
              <a:gdLst>
                <a:gd name="T0" fmla="*/ 0 w 962"/>
                <a:gd name="T1" fmla="*/ 0 h 1612"/>
                <a:gd name="T2" fmla="*/ 306 w 962"/>
                <a:gd name="T3" fmla="*/ 234 h 1612"/>
                <a:gd name="T4" fmla="*/ 467 w 962"/>
                <a:gd name="T5" fmla="*/ 1342 h 1612"/>
                <a:gd name="T6" fmla="*/ 962 w 962"/>
                <a:gd name="T7" fmla="*/ 1612 h 16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2"/>
                <a:gd name="T13" fmla="*/ 0 h 1612"/>
                <a:gd name="T14" fmla="*/ 962 w 962"/>
                <a:gd name="T15" fmla="*/ 1612 h 16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2" h="1612">
                  <a:moveTo>
                    <a:pt x="0" y="0"/>
                  </a:moveTo>
                  <a:cubicBezTo>
                    <a:pt x="50" y="40"/>
                    <a:pt x="228" y="10"/>
                    <a:pt x="306" y="234"/>
                  </a:cubicBezTo>
                  <a:cubicBezTo>
                    <a:pt x="384" y="458"/>
                    <a:pt x="358" y="1112"/>
                    <a:pt x="467" y="1342"/>
                  </a:cubicBezTo>
                  <a:cubicBezTo>
                    <a:pt x="576" y="1572"/>
                    <a:pt x="779" y="1601"/>
                    <a:pt x="962" y="1612"/>
                  </a:cubicBez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364" name="Text Box 71"/>
            <p:cNvSpPr txBox="1">
              <a:spLocks noChangeArrowheads="1"/>
            </p:cNvSpPr>
            <p:nvPr/>
          </p:nvSpPr>
          <p:spPr bwMode="auto">
            <a:xfrm>
              <a:off x="4850" y="3504"/>
              <a:ext cx="4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ESTAB</a:t>
              </a:r>
            </a:p>
          </p:txBody>
        </p:sp>
        <p:sp>
          <p:nvSpPr>
            <p:cNvPr id="138365" name="Oval 72"/>
            <p:cNvSpPr>
              <a:spLocks noChangeArrowheads="1"/>
            </p:cNvSpPr>
            <p:nvPr/>
          </p:nvSpPr>
          <p:spPr bwMode="auto">
            <a:xfrm>
              <a:off x="4793" y="3584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366" name="Rectangle 74"/>
            <p:cNvSpPr>
              <a:spLocks noChangeArrowheads="1"/>
            </p:cNvSpPr>
            <p:nvPr/>
          </p:nvSpPr>
          <p:spPr bwMode="auto">
            <a:xfrm>
              <a:off x="3991" y="3178"/>
              <a:ext cx="675" cy="1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367" name="Text Box 75"/>
            <p:cNvSpPr txBox="1">
              <a:spLocks noChangeArrowheads="1"/>
            </p:cNvSpPr>
            <p:nvPr/>
          </p:nvSpPr>
          <p:spPr bwMode="auto">
            <a:xfrm>
              <a:off x="4080" y="3140"/>
              <a:ext cx="76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req_conn</a:t>
              </a: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(x)</a:t>
              </a:r>
            </a:p>
          </p:txBody>
        </p:sp>
        <p:sp>
          <p:nvSpPr>
            <p:cNvPr id="138368" name="Freeform 86"/>
            <p:cNvSpPr>
              <a:spLocks/>
            </p:cNvSpPr>
            <p:nvPr/>
          </p:nvSpPr>
          <p:spPr bwMode="auto">
            <a:xfrm>
              <a:off x="3847" y="2645"/>
              <a:ext cx="946" cy="1195"/>
            </a:xfrm>
            <a:custGeom>
              <a:avLst/>
              <a:gdLst>
                <a:gd name="T0" fmla="*/ 0 w 946"/>
                <a:gd name="T1" fmla="*/ 15 h 1195"/>
                <a:gd name="T2" fmla="*/ 199 w 946"/>
                <a:gd name="T3" fmla="*/ 164 h 1195"/>
                <a:gd name="T4" fmla="*/ 320 w 946"/>
                <a:gd name="T5" fmla="*/ 960 h 1195"/>
                <a:gd name="T6" fmla="*/ 946 w 946"/>
                <a:gd name="T7" fmla="*/ 1138 h 119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6"/>
                <a:gd name="T13" fmla="*/ 0 h 1195"/>
                <a:gd name="T14" fmla="*/ 946 w 946"/>
                <a:gd name="T15" fmla="*/ 1195 h 119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6" h="1195">
                  <a:moveTo>
                    <a:pt x="0" y="15"/>
                  </a:moveTo>
                  <a:cubicBezTo>
                    <a:pt x="32" y="40"/>
                    <a:pt x="114" y="0"/>
                    <a:pt x="199" y="164"/>
                  </a:cubicBezTo>
                  <a:cubicBezTo>
                    <a:pt x="284" y="328"/>
                    <a:pt x="195" y="798"/>
                    <a:pt x="320" y="960"/>
                  </a:cubicBezTo>
                  <a:cubicBezTo>
                    <a:pt x="477" y="1195"/>
                    <a:pt x="816" y="1101"/>
                    <a:pt x="946" y="1138"/>
                  </a:cubicBez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369" name="Rectangle 88"/>
            <p:cNvSpPr>
              <a:spLocks noChangeArrowheads="1"/>
            </p:cNvSpPr>
            <p:nvPr/>
          </p:nvSpPr>
          <p:spPr bwMode="auto">
            <a:xfrm>
              <a:off x="4068" y="3612"/>
              <a:ext cx="448" cy="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370" name="Text Box 87"/>
            <p:cNvSpPr txBox="1">
              <a:spLocks noChangeArrowheads="1"/>
            </p:cNvSpPr>
            <p:nvPr/>
          </p:nvSpPr>
          <p:spPr bwMode="auto">
            <a:xfrm>
              <a:off x="3891" y="3584"/>
              <a:ext cx="64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data(x+1)</a:t>
              </a:r>
            </a:p>
          </p:txBody>
        </p:sp>
        <p:sp>
          <p:nvSpPr>
            <p:cNvPr id="138371" name="Text Box 89"/>
            <p:cNvSpPr txBox="1">
              <a:spLocks noChangeArrowheads="1"/>
            </p:cNvSpPr>
            <p:nvPr/>
          </p:nvSpPr>
          <p:spPr bwMode="auto">
            <a:xfrm>
              <a:off x="3062" y="2494"/>
              <a:ext cx="802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retransmit</a:t>
              </a:r>
            </a:p>
            <a:p>
              <a:pPr algn="r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data(x+1)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372" name="Text Box 90"/>
            <p:cNvSpPr txBox="1">
              <a:spLocks noChangeArrowheads="1"/>
            </p:cNvSpPr>
            <p:nvPr/>
          </p:nvSpPr>
          <p:spPr bwMode="auto">
            <a:xfrm>
              <a:off x="4842" y="3664"/>
              <a:ext cx="73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accept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data(x+1)</a:t>
              </a:r>
            </a:p>
          </p:txBody>
        </p:sp>
      </p:grpSp>
      <p:grpSp>
        <p:nvGrpSpPr>
          <p:cNvPr id="138250" name="Group 102"/>
          <p:cNvGrpSpPr>
            <a:grpSpLocks/>
          </p:cNvGrpSpPr>
          <p:nvPr/>
        </p:nvGrpSpPr>
        <p:grpSpPr bwMode="auto">
          <a:xfrm>
            <a:off x="2017713" y="1534532"/>
            <a:ext cx="3362325" cy="2138363"/>
            <a:chOff x="493" y="1100"/>
            <a:chExt cx="2118" cy="1347"/>
          </a:xfrm>
        </p:grpSpPr>
        <p:sp>
          <p:nvSpPr>
            <p:cNvPr id="138313" name="Text Box 103"/>
            <p:cNvSpPr txBox="1">
              <a:spLocks noChangeArrowheads="1"/>
            </p:cNvSpPr>
            <p:nvPr/>
          </p:nvSpPr>
          <p:spPr bwMode="auto">
            <a:xfrm>
              <a:off x="493" y="1393"/>
              <a:ext cx="6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choose x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314" name="Line 104"/>
            <p:cNvSpPr>
              <a:spLocks noChangeShapeType="1"/>
            </p:cNvSpPr>
            <p:nvPr/>
          </p:nvSpPr>
          <p:spPr bwMode="auto">
            <a:xfrm>
              <a:off x="1159" y="1516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315" name="Line 105"/>
            <p:cNvSpPr>
              <a:spLocks noChangeShapeType="1"/>
            </p:cNvSpPr>
            <p:nvPr/>
          </p:nvSpPr>
          <p:spPr bwMode="auto">
            <a:xfrm flipH="1">
              <a:off x="1121" y="1739"/>
              <a:ext cx="990" cy="60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316" name="Rectangle 106"/>
            <p:cNvSpPr>
              <a:spLocks noChangeArrowheads="1"/>
            </p:cNvSpPr>
            <p:nvPr/>
          </p:nvSpPr>
          <p:spPr bwMode="auto">
            <a:xfrm>
              <a:off x="1359" y="1507"/>
              <a:ext cx="490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317" name="Text Box 107"/>
            <p:cNvSpPr txBox="1">
              <a:spLocks noChangeArrowheads="1"/>
            </p:cNvSpPr>
            <p:nvPr/>
          </p:nvSpPr>
          <p:spPr bwMode="auto">
            <a:xfrm>
              <a:off x="1235" y="1486"/>
              <a:ext cx="76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req_conn</a:t>
              </a: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(x)</a:t>
              </a:r>
            </a:p>
          </p:txBody>
        </p:sp>
        <p:sp>
          <p:nvSpPr>
            <p:cNvPr id="138318" name="Rectangle 108"/>
            <p:cNvSpPr>
              <a:spLocks noChangeArrowheads="1"/>
            </p:cNvSpPr>
            <p:nvPr/>
          </p:nvSpPr>
          <p:spPr bwMode="auto">
            <a:xfrm>
              <a:off x="1471" y="1774"/>
              <a:ext cx="277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319" name="Text Box 109"/>
            <p:cNvSpPr txBox="1">
              <a:spLocks noChangeArrowheads="1"/>
            </p:cNvSpPr>
            <p:nvPr/>
          </p:nvSpPr>
          <p:spPr bwMode="auto">
            <a:xfrm>
              <a:off x="2142" y="1649"/>
              <a:ext cx="4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ESTAB</a:t>
              </a:r>
            </a:p>
          </p:txBody>
        </p:sp>
        <p:sp>
          <p:nvSpPr>
            <p:cNvPr id="138320" name="Text Box 110"/>
            <p:cNvSpPr txBox="1">
              <a:spLocks noChangeArrowheads="1"/>
            </p:cNvSpPr>
            <p:nvPr/>
          </p:nvSpPr>
          <p:spPr bwMode="auto">
            <a:xfrm>
              <a:off x="592" y="2234"/>
              <a:ext cx="4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ESTAB</a:t>
              </a:r>
            </a:p>
          </p:txBody>
        </p:sp>
        <p:sp>
          <p:nvSpPr>
            <p:cNvPr id="138321" name="Oval 111"/>
            <p:cNvSpPr>
              <a:spLocks noChangeArrowheads="1"/>
            </p:cNvSpPr>
            <p:nvPr/>
          </p:nvSpPr>
          <p:spPr bwMode="auto">
            <a:xfrm>
              <a:off x="1095" y="2298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322" name="Oval 112"/>
            <p:cNvSpPr>
              <a:spLocks noChangeArrowheads="1"/>
            </p:cNvSpPr>
            <p:nvPr/>
          </p:nvSpPr>
          <p:spPr bwMode="auto">
            <a:xfrm>
              <a:off x="2065" y="1723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38323" name="Group 113"/>
            <p:cNvGrpSpPr>
              <a:grpSpLocks/>
            </p:cNvGrpSpPr>
            <p:nvPr/>
          </p:nvGrpSpPr>
          <p:grpSpPr bwMode="auto">
            <a:xfrm>
              <a:off x="1300" y="1861"/>
              <a:ext cx="757" cy="213"/>
              <a:chOff x="1088" y="2085"/>
              <a:chExt cx="757" cy="213"/>
            </a:xfrm>
          </p:grpSpPr>
          <p:sp>
            <p:nvSpPr>
              <p:cNvPr id="138360" name="Rectangle 114"/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361" name="Text Box 115"/>
              <p:cNvSpPr txBox="1">
                <a:spLocks noChangeArrowheads="1"/>
              </p:cNvSpPr>
              <p:nvPr/>
            </p:nvSpPr>
            <p:spPr bwMode="auto">
              <a:xfrm>
                <a:off x="1088" y="2085"/>
                <a:ext cx="7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 err="1">
                    <a:latin typeface="DengXian" panose="02010600030101010101" pitchFamily="2" charset="-122"/>
                    <a:ea typeface="宋体" panose="02010600030101010101" pitchFamily="2" charset="-122"/>
                  </a:rPr>
                  <a:t>acc_conn</a:t>
                </a:r>
                <a:r>
                  <a:rPr lang="en-US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(x)</a:t>
                </a:r>
              </a:p>
            </p:txBody>
          </p:sp>
        </p:grpSp>
        <p:grpSp>
          <p:nvGrpSpPr>
            <p:cNvPr id="138324" name="Group 116"/>
            <p:cNvGrpSpPr>
              <a:grpSpLocks/>
            </p:cNvGrpSpPr>
            <p:nvPr/>
          </p:nvGrpSpPr>
          <p:grpSpPr bwMode="auto">
            <a:xfrm>
              <a:off x="834" y="1112"/>
              <a:ext cx="391" cy="307"/>
              <a:chOff x="-44" y="1473"/>
              <a:chExt cx="981" cy="1105"/>
            </a:xfrm>
          </p:grpSpPr>
          <p:pic>
            <p:nvPicPr>
              <p:cNvPr id="138358" name="Picture 11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8359" name="Freeform 118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8635428 w 356"/>
                  <a:gd name="T3" fmla="*/ 6614732 h 368"/>
                  <a:gd name="T4" fmla="*/ 57695678 w 356"/>
                  <a:gd name="T5" fmla="*/ 137858167 h 368"/>
                  <a:gd name="T6" fmla="*/ 12715255 w 356"/>
                  <a:gd name="T7" fmla="*/ 17240661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38325" name="Group 119"/>
            <p:cNvGrpSpPr>
              <a:grpSpLocks/>
            </p:cNvGrpSpPr>
            <p:nvPr/>
          </p:nvGrpSpPr>
          <p:grpSpPr bwMode="auto">
            <a:xfrm>
              <a:off x="1973" y="1100"/>
              <a:ext cx="212" cy="323"/>
              <a:chOff x="4140" y="429"/>
              <a:chExt cx="1425" cy="2396"/>
            </a:xfrm>
          </p:grpSpPr>
          <p:sp>
            <p:nvSpPr>
              <p:cNvPr id="138326" name="Freeform 120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327" name="Rectangle 121"/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328" name="Freeform 122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329" name="Freeform 123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330" name="Rectangle 124"/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138331" name="Group 125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38356" name="AutoShape 126"/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357" name="AutoShape 127"/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8332" name="Rectangle 128"/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138333" name="Group 129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8354" name="AutoShape 130"/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355" name="AutoShape 131"/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8334" name="Rectangle 132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335" name="Rectangle 133"/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138336" name="Group 134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8352" name="AutoShape 135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353" name="AutoShape 136"/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8337" name="Freeform 137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8338" name="Group 138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8350" name="AutoShape 139"/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351" name="AutoShape 140"/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8339" name="Rectangle 141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340" name="Freeform 142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341" name="Freeform 143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342" name="Oval 144"/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343" name="Freeform 145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344" name="AutoShape 146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345" name="AutoShape 147"/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346" name="Oval 148"/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347" name="Oval 149"/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38348" name="Oval 150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349" name="Rectangle 151"/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4" name="Group 152"/>
          <p:cNvGrpSpPr>
            <a:grpSpLocks/>
          </p:cNvGrpSpPr>
          <p:nvPr/>
        </p:nvGrpSpPr>
        <p:grpSpPr bwMode="auto">
          <a:xfrm>
            <a:off x="6140451" y="1545644"/>
            <a:ext cx="4029075" cy="4568825"/>
            <a:chOff x="3090" y="1107"/>
            <a:chExt cx="2538" cy="2878"/>
          </a:xfrm>
        </p:grpSpPr>
        <p:sp>
          <p:nvSpPr>
            <p:cNvPr id="138252" name="Line 153"/>
            <p:cNvSpPr>
              <a:spLocks noChangeShapeType="1"/>
            </p:cNvSpPr>
            <p:nvPr/>
          </p:nvSpPr>
          <p:spPr bwMode="auto">
            <a:xfrm flipH="1">
              <a:off x="4822" y="1490"/>
              <a:ext cx="1" cy="249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53" name="Text Box 154"/>
            <p:cNvSpPr txBox="1">
              <a:spLocks noChangeArrowheads="1"/>
            </p:cNvSpPr>
            <p:nvPr/>
          </p:nvSpPr>
          <p:spPr bwMode="auto">
            <a:xfrm>
              <a:off x="3090" y="2983"/>
              <a:ext cx="79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client terminates</a:t>
              </a:r>
            </a:p>
          </p:txBody>
        </p:sp>
        <p:sp>
          <p:nvSpPr>
            <p:cNvPr id="138254" name="Line 155"/>
            <p:cNvSpPr>
              <a:spLocks noChangeShapeType="1"/>
            </p:cNvSpPr>
            <p:nvPr/>
          </p:nvSpPr>
          <p:spPr bwMode="auto">
            <a:xfrm flipH="1">
              <a:off x="3845" y="1451"/>
              <a:ext cx="15" cy="1549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55" name="Line 156"/>
            <p:cNvSpPr>
              <a:spLocks noChangeShapeType="1"/>
            </p:cNvSpPr>
            <p:nvPr/>
          </p:nvSpPr>
          <p:spPr bwMode="auto">
            <a:xfrm flipH="1">
              <a:off x="3850" y="1726"/>
              <a:ext cx="990" cy="60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56" name="Rectangle 157"/>
            <p:cNvSpPr>
              <a:spLocks noChangeArrowheads="1"/>
            </p:cNvSpPr>
            <p:nvPr/>
          </p:nvSpPr>
          <p:spPr bwMode="auto">
            <a:xfrm>
              <a:off x="4200" y="1761"/>
              <a:ext cx="277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257" name="Text Box 158"/>
            <p:cNvSpPr txBox="1">
              <a:spLocks noChangeArrowheads="1"/>
            </p:cNvSpPr>
            <p:nvPr/>
          </p:nvSpPr>
          <p:spPr bwMode="auto">
            <a:xfrm>
              <a:off x="3321" y="2221"/>
              <a:ext cx="4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ESTAB</a:t>
              </a:r>
            </a:p>
          </p:txBody>
        </p:sp>
        <p:sp>
          <p:nvSpPr>
            <p:cNvPr id="138258" name="Oval 159"/>
            <p:cNvSpPr>
              <a:spLocks noChangeArrowheads="1"/>
            </p:cNvSpPr>
            <p:nvPr/>
          </p:nvSpPr>
          <p:spPr bwMode="auto">
            <a:xfrm>
              <a:off x="3817" y="2299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259" name="Text Box 160"/>
            <p:cNvSpPr txBox="1">
              <a:spLocks noChangeArrowheads="1"/>
            </p:cNvSpPr>
            <p:nvPr/>
          </p:nvSpPr>
          <p:spPr bwMode="auto">
            <a:xfrm>
              <a:off x="3222" y="1380"/>
              <a:ext cx="6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choose x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260" name="Line 161"/>
            <p:cNvSpPr>
              <a:spLocks noChangeShapeType="1"/>
            </p:cNvSpPr>
            <p:nvPr/>
          </p:nvSpPr>
          <p:spPr bwMode="auto">
            <a:xfrm>
              <a:off x="3888" y="1503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61" name="Rectangle 162"/>
            <p:cNvSpPr>
              <a:spLocks noChangeArrowheads="1"/>
            </p:cNvSpPr>
            <p:nvPr/>
          </p:nvSpPr>
          <p:spPr bwMode="auto">
            <a:xfrm>
              <a:off x="4088" y="1494"/>
              <a:ext cx="490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262" name="Text Box 163"/>
            <p:cNvSpPr txBox="1">
              <a:spLocks noChangeArrowheads="1"/>
            </p:cNvSpPr>
            <p:nvPr/>
          </p:nvSpPr>
          <p:spPr bwMode="auto">
            <a:xfrm>
              <a:off x="3964" y="1473"/>
              <a:ext cx="76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latin typeface="DengXian" panose="02010600030101010101" pitchFamily="2" charset="-122"/>
                  <a:ea typeface="宋体" panose="02010600030101010101" pitchFamily="2" charset="-122"/>
                </a:rPr>
                <a:t>req_conn</a:t>
              </a: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(x)</a:t>
              </a:r>
            </a:p>
          </p:txBody>
        </p:sp>
        <p:sp>
          <p:nvSpPr>
            <p:cNvPr id="138263" name="Text Box 164"/>
            <p:cNvSpPr txBox="1">
              <a:spLocks noChangeArrowheads="1"/>
            </p:cNvSpPr>
            <p:nvPr/>
          </p:nvSpPr>
          <p:spPr bwMode="auto">
            <a:xfrm>
              <a:off x="4871" y="1636"/>
              <a:ext cx="4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DengXian" panose="02010600030101010101" pitchFamily="2" charset="-122"/>
                  <a:ea typeface="宋体" panose="02010600030101010101" pitchFamily="2" charset="-122"/>
                </a:rPr>
                <a:t>ESTAB</a:t>
              </a:r>
            </a:p>
          </p:txBody>
        </p:sp>
        <p:sp>
          <p:nvSpPr>
            <p:cNvPr id="138264" name="Oval 165"/>
            <p:cNvSpPr>
              <a:spLocks noChangeArrowheads="1"/>
            </p:cNvSpPr>
            <p:nvPr/>
          </p:nvSpPr>
          <p:spPr bwMode="auto">
            <a:xfrm>
              <a:off x="4794" y="1710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38265" name="Group 166"/>
            <p:cNvGrpSpPr>
              <a:grpSpLocks/>
            </p:cNvGrpSpPr>
            <p:nvPr/>
          </p:nvGrpSpPr>
          <p:grpSpPr bwMode="auto">
            <a:xfrm>
              <a:off x="4029" y="1848"/>
              <a:ext cx="757" cy="213"/>
              <a:chOff x="1088" y="2085"/>
              <a:chExt cx="757" cy="213"/>
            </a:xfrm>
          </p:grpSpPr>
          <p:sp>
            <p:nvSpPr>
              <p:cNvPr id="138311" name="Rectangle 167"/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312" name="Text Box 168"/>
              <p:cNvSpPr txBox="1">
                <a:spLocks noChangeArrowheads="1"/>
              </p:cNvSpPr>
              <p:nvPr/>
            </p:nvSpPr>
            <p:spPr bwMode="auto">
              <a:xfrm>
                <a:off x="1088" y="2085"/>
                <a:ext cx="7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 err="1">
                    <a:latin typeface="DengXian" panose="02010600030101010101" pitchFamily="2" charset="-122"/>
                    <a:ea typeface="宋体" panose="02010600030101010101" pitchFamily="2" charset="-122"/>
                  </a:rPr>
                  <a:t>acc_conn</a:t>
                </a:r>
                <a:r>
                  <a:rPr lang="en-US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(x)</a:t>
                </a:r>
              </a:p>
            </p:txBody>
          </p:sp>
        </p:grpSp>
        <p:sp>
          <p:nvSpPr>
            <p:cNvPr id="138266" name="Line 169"/>
            <p:cNvSpPr>
              <a:spLocks noChangeShapeType="1"/>
            </p:cNvSpPr>
            <p:nvPr/>
          </p:nvSpPr>
          <p:spPr bwMode="auto">
            <a:xfrm>
              <a:off x="3877" y="2345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8267" name="Rectangle 170"/>
            <p:cNvSpPr>
              <a:spLocks noChangeArrowheads="1"/>
            </p:cNvSpPr>
            <p:nvPr/>
          </p:nvSpPr>
          <p:spPr bwMode="auto">
            <a:xfrm>
              <a:off x="4077" y="2336"/>
              <a:ext cx="490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268" name="Text Box 171"/>
            <p:cNvSpPr txBox="1">
              <a:spLocks noChangeArrowheads="1"/>
            </p:cNvSpPr>
            <p:nvPr/>
          </p:nvSpPr>
          <p:spPr bwMode="auto">
            <a:xfrm>
              <a:off x="4010" y="2315"/>
              <a:ext cx="64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data(x+1)</a:t>
              </a:r>
            </a:p>
          </p:txBody>
        </p:sp>
        <p:sp>
          <p:nvSpPr>
            <p:cNvPr id="138269" name="Oval 172"/>
            <p:cNvSpPr>
              <a:spLocks noChangeArrowheads="1"/>
            </p:cNvSpPr>
            <p:nvPr/>
          </p:nvSpPr>
          <p:spPr bwMode="auto">
            <a:xfrm>
              <a:off x="4790" y="2524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solidFill>
                  <a:srgbClr val="CC0000"/>
                </a:solidFill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8270" name="Text Box 173"/>
            <p:cNvSpPr txBox="1">
              <a:spLocks noChangeArrowheads="1"/>
            </p:cNvSpPr>
            <p:nvPr/>
          </p:nvSpPr>
          <p:spPr bwMode="auto">
            <a:xfrm>
              <a:off x="4890" y="2373"/>
              <a:ext cx="73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accept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data(x+1)</a:t>
              </a:r>
            </a:p>
          </p:txBody>
        </p:sp>
        <p:grpSp>
          <p:nvGrpSpPr>
            <p:cNvPr id="138271" name="Group 174"/>
            <p:cNvGrpSpPr>
              <a:grpSpLocks/>
            </p:cNvGrpSpPr>
            <p:nvPr/>
          </p:nvGrpSpPr>
          <p:grpSpPr bwMode="auto">
            <a:xfrm>
              <a:off x="3826" y="2803"/>
              <a:ext cx="1515" cy="302"/>
              <a:chOff x="3818" y="2796"/>
              <a:chExt cx="1515" cy="302"/>
            </a:xfrm>
          </p:grpSpPr>
          <p:sp>
            <p:nvSpPr>
              <p:cNvPr id="138309" name="Line 175"/>
              <p:cNvSpPr>
                <a:spLocks noChangeShapeType="1"/>
              </p:cNvSpPr>
              <p:nvPr/>
            </p:nvSpPr>
            <p:spPr bwMode="auto">
              <a:xfrm>
                <a:off x="3818" y="2951"/>
                <a:ext cx="1515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8310" name="Text Box 176"/>
              <p:cNvSpPr txBox="1">
                <a:spLocks noChangeArrowheads="1"/>
              </p:cNvSpPr>
              <p:nvPr/>
            </p:nvSpPr>
            <p:spPr bwMode="auto">
              <a:xfrm>
                <a:off x="3993" y="2796"/>
                <a:ext cx="698" cy="30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connection </a:t>
                </a:r>
              </a:p>
              <a:p>
                <a:pPr algn="ctr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x completes</a:t>
                </a:r>
              </a:p>
            </p:txBody>
          </p:sp>
        </p:grpSp>
        <p:sp>
          <p:nvSpPr>
            <p:cNvPr id="138272" name="Text Box 177"/>
            <p:cNvSpPr txBox="1">
              <a:spLocks noChangeArrowheads="1"/>
            </p:cNvSpPr>
            <p:nvPr/>
          </p:nvSpPr>
          <p:spPr bwMode="auto">
            <a:xfrm>
              <a:off x="4830" y="2962"/>
              <a:ext cx="73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server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forgets x</a:t>
              </a:r>
            </a:p>
          </p:txBody>
        </p:sp>
        <p:grpSp>
          <p:nvGrpSpPr>
            <p:cNvPr id="138273" name="Group 178"/>
            <p:cNvGrpSpPr>
              <a:grpSpLocks/>
            </p:cNvGrpSpPr>
            <p:nvPr/>
          </p:nvGrpSpPr>
          <p:grpSpPr bwMode="auto">
            <a:xfrm>
              <a:off x="3570" y="1119"/>
              <a:ext cx="391" cy="307"/>
              <a:chOff x="-44" y="1473"/>
              <a:chExt cx="981" cy="1105"/>
            </a:xfrm>
          </p:grpSpPr>
          <p:pic>
            <p:nvPicPr>
              <p:cNvPr id="138307" name="Picture 17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8308" name="Freeform 18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8635428 w 356"/>
                  <a:gd name="T3" fmla="*/ 6614732 h 368"/>
                  <a:gd name="T4" fmla="*/ 57695678 w 356"/>
                  <a:gd name="T5" fmla="*/ 137858167 h 368"/>
                  <a:gd name="T6" fmla="*/ 12715255 w 356"/>
                  <a:gd name="T7" fmla="*/ 17240661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38274" name="Group 181"/>
            <p:cNvGrpSpPr>
              <a:grpSpLocks/>
            </p:cNvGrpSpPr>
            <p:nvPr/>
          </p:nvGrpSpPr>
          <p:grpSpPr bwMode="auto">
            <a:xfrm>
              <a:off x="4709" y="1107"/>
              <a:ext cx="212" cy="323"/>
              <a:chOff x="4140" y="429"/>
              <a:chExt cx="1425" cy="2396"/>
            </a:xfrm>
          </p:grpSpPr>
          <p:sp>
            <p:nvSpPr>
              <p:cNvPr id="138275" name="Freeform 182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6" name="Rectangle 183"/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277" name="Freeform 184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8" name="Freeform 185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9" name="Rectangle 186"/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138280" name="Group 187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38305" name="AutoShape 188"/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306" name="AutoShape 189"/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8281" name="Rectangle 190"/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138282" name="Group 191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8303" name="AutoShape 192"/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304" name="AutoShape 193"/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8283" name="Rectangle 194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284" name="Rectangle 195"/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138285" name="Group 196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8301" name="AutoShape 197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302" name="AutoShape 198"/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8286" name="Freeform 199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8287" name="Group 200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8299" name="AutoShape 201"/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8300" name="AutoShape 202"/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ZapfDingbats" pitchFamily="82" charset="2"/>
                    <a:buChar char="r"/>
                    <a:defRPr sz="28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ZapfDingbats" pitchFamily="82" charset="2"/>
                    <a:buChar char="m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8288" name="Rectangle 203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289" name="Freeform 204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90" name="Freeform 205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91" name="Oval 206"/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292" name="Freeform 207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93" name="AutoShape 208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294" name="AutoShape 209"/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295" name="Oval 210"/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296" name="Oval 211"/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38297" name="Oval 212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8298" name="Rectangle 213"/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45" name="Text Box 49"/>
          <p:cNvSpPr txBox="1">
            <a:spLocks noChangeArrowheads="1"/>
          </p:cNvSpPr>
          <p:nvPr/>
        </p:nvSpPr>
        <p:spPr bwMode="auto">
          <a:xfrm>
            <a:off x="6732588" y="6190669"/>
            <a:ext cx="3090863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形成半开连接（没有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client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6.3.5  </a:t>
            </a:r>
            <a:r>
              <a:rPr kumimoji="1" lang="zh-CN" altLang="en-US" dirty="0"/>
              <a:t>面向连接的传输：连接管理</a:t>
            </a:r>
          </a:p>
        </p:txBody>
      </p:sp>
      <p:sp>
        <p:nvSpPr>
          <p:cNvPr id="148" name="灯片编号占位符 3">
            <a:extLst>
              <a:ext uri="{FF2B5EF4-FFF2-40B4-BE49-F238E27FC236}">
                <a16:creationId xmlns:a16="http://schemas.microsoft.com/office/drawing/2014/main" id="{6A7D9306-D59F-7C41-BE59-5548E498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57</a:t>
            </a:fld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1141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544" y="383522"/>
            <a:ext cx="7674750" cy="831217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TCP</a:t>
            </a:r>
            <a:r>
              <a:rPr lang="zh-CN" altLang="en-US" sz="4000" dirty="0"/>
              <a:t>三次握手建立连接</a:t>
            </a:r>
            <a:endParaRPr lang="en-US" sz="4000" b="0" dirty="0"/>
          </a:p>
        </p:txBody>
      </p:sp>
      <p:sp>
        <p:nvSpPr>
          <p:cNvPr id="215" name="Line 5">
            <a:extLst>
              <a:ext uri="{FF2B5EF4-FFF2-40B4-BE49-F238E27FC236}">
                <a16:creationId xmlns:a16="http://schemas.microsoft.com/office/drawing/2014/main" id="{977A2B4A-655D-5443-8A4F-9288451178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6631" y="3078661"/>
            <a:ext cx="1588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16" name="Group 102">
            <a:extLst>
              <a:ext uri="{FF2B5EF4-FFF2-40B4-BE49-F238E27FC236}">
                <a16:creationId xmlns:a16="http://schemas.microsoft.com/office/drawing/2014/main" id="{1F3D6A6C-5FEE-8646-8A80-04AC9F3BFF74}"/>
              </a:ext>
            </a:extLst>
          </p:cNvPr>
          <p:cNvGrpSpPr>
            <a:grpSpLocks/>
          </p:cNvGrpSpPr>
          <p:nvPr/>
        </p:nvGrpSpPr>
        <p:grpSpPr bwMode="auto">
          <a:xfrm>
            <a:off x="2785269" y="3008811"/>
            <a:ext cx="4519608" cy="952500"/>
            <a:chOff x="794" y="1365"/>
            <a:chExt cx="2847" cy="600"/>
          </a:xfrm>
        </p:grpSpPr>
        <p:sp>
          <p:nvSpPr>
            <p:cNvPr id="217" name="Line 10">
              <a:extLst>
                <a:ext uri="{FF2B5EF4-FFF2-40B4-BE49-F238E27FC236}">
                  <a16:creationId xmlns:a16="http://schemas.microsoft.com/office/drawing/2014/main" id="{EE87312F-9111-3748-8D8C-BFB220C5E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1502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Rectangle 12">
              <a:extLst>
                <a:ext uri="{FF2B5EF4-FFF2-40B4-BE49-F238E27FC236}">
                  <a16:creationId xmlns:a16="http://schemas.microsoft.com/office/drawing/2014/main" id="{F50F8FCD-3A00-574F-A159-92B207C59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565"/>
              <a:ext cx="590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Text Box 13">
              <a:extLst>
                <a:ext uri="{FF2B5EF4-FFF2-40B4-BE49-F238E27FC236}">
                  <a16:creationId xmlns:a16="http://schemas.microsoft.com/office/drawing/2014/main" id="{24E8EE1C-DBA9-8F4D-82EE-29CEECDFA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9" y="1624"/>
              <a:ext cx="115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bit=1, Seq=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X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Text Box 21">
              <a:extLst>
                <a:ext uri="{FF2B5EF4-FFF2-40B4-BE49-F238E27FC236}">
                  <a16:creationId xmlns:a16="http://schemas.microsoft.com/office/drawing/2014/main" id="{8343DEBF-07A5-D746-BE48-88F38BD40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1365"/>
              <a:ext cx="1200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 err="1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选择初始化序列号</a:t>
              </a:r>
              <a:r>
                <a:rPr lang="en-US" altLang="zh-CN" sz="1400" dirty="0" err="1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X</a:t>
              </a:r>
              <a:r>
                <a:rPr lang="zh-CN" altLang="en-US" sz="14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，</a:t>
              </a:r>
              <a:endParaRPr lang="en-US" altLang="zh-CN" sz="1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发送</a:t>
              </a:r>
              <a:r>
                <a:rPr lang="en-US" altLang="zh-CN" sz="14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SYN</a:t>
              </a:r>
              <a:r>
                <a:rPr lang="zh-CN" altLang="en-US" sz="14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消息</a:t>
              </a:r>
              <a:endParaRPr lang="en-US" sz="1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221" name="Line 22">
            <a:extLst>
              <a:ext uri="{FF2B5EF4-FFF2-40B4-BE49-F238E27FC236}">
                <a16:creationId xmlns:a16="http://schemas.microsoft.com/office/drawing/2014/main" id="{2FC7049F-93A3-A84A-9D90-B3F4B6E3F6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844" y="3148511"/>
            <a:ext cx="1587" cy="3417888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22" name="Text Box 92">
            <a:extLst>
              <a:ext uri="{FF2B5EF4-FFF2-40B4-BE49-F238E27FC236}">
                <a16:creationId xmlns:a16="http://schemas.microsoft.com/office/drawing/2014/main" id="{8192AE36-3CEB-7940-A712-3437D9AE1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1831" y="5986961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ESTAB</a:t>
            </a:r>
          </a:p>
        </p:txBody>
      </p:sp>
      <p:grpSp>
        <p:nvGrpSpPr>
          <p:cNvPr id="223" name="Group 109">
            <a:extLst>
              <a:ext uri="{FF2B5EF4-FFF2-40B4-BE49-F238E27FC236}">
                <a16:creationId xmlns:a16="http://schemas.microsoft.com/office/drawing/2014/main" id="{9180F1A8-9EF0-3C49-80B2-6C9528088F36}"/>
              </a:ext>
            </a:extLst>
          </p:cNvPr>
          <p:cNvGrpSpPr>
            <a:grpSpLocks/>
          </p:cNvGrpSpPr>
          <p:nvPr/>
        </p:nvGrpSpPr>
        <p:grpSpPr bwMode="auto">
          <a:xfrm>
            <a:off x="4795044" y="3685086"/>
            <a:ext cx="4508496" cy="1416050"/>
            <a:chOff x="2060" y="1791"/>
            <a:chExt cx="2840" cy="892"/>
          </a:xfrm>
        </p:grpSpPr>
        <p:sp>
          <p:nvSpPr>
            <p:cNvPr id="224" name="Line 11">
              <a:extLst>
                <a:ext uri="{FF2B5EF4-FFF2-40B4-BE49-F238E27FC236}">
                  <a16:creationId xmlns:a16="http://schemas.microsoft.com/office/drawing/2014/main" id="{660BD729-B466-584F-9DAC-1C1358024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0" y="2031"/>
              <a:ext cx="1580" cy="65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Rectangle 14">
              <a:extLst>
                <a:ext uri="{FF2B5EF4-FFF2-40B4-BE49-F238E27FC236}">
                  <a16:creationId xmlns:a16="http://schemas.microsoft.com/office/drawing/2014/main" id="{36832487-CAD9-A047-9D5F-96D1B02D3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2206"/>
              <a:ext cx="896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Text Box 83">
              <a:extLst>
                <a:ext uri="{FF2B5EF4-FFF2-40B4-BE49-F238E27FC236}">
                  <a16:creationId xmlns:a16="http://schemas.microsoft.com/office/drawing/2014/main" id="{393E04DD-B089-D14F-BFBB-76E878EC5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0" y="2169"/>
              <a:ext cx="163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bit=1, Seq=</a:t>
              </a:r>
              <a:r>
                <a:rPr lang="en-US" altLang="zh-CN" kern="0" dirty="0">
                  <a:solidFill>
                    <a:srgbClr val="000000"/>
                  </a:solidFill>
                </a:rPr>
                <a:t>Y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;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bit=1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,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num=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X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+1</a:t>
              </a:r>
            </a:p>
          </p:txBody>
        </p:sp>
        <p:sp>
          <p:nvSpPr>
            <p:cNvPr id="227" name="Text Box 93">
              <a:extLst>
                <a:ext uri="{FF2B5EF4-FFF2-40B4-BE49-F238E27FC236}">
                  <a16:creationId xmlns:a16="http://schemas.microsoft.com/office/drawing/2014/main" id="{D2107B90-790F-D84D-8A95-4CD5BE8D7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3" y="1791"/>
              <a:ext cx="1207" cy="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发送</a:t>
              </a:r>
              <a:r>
                <a:rPr lang="en-US" sz="1400" dirty="0" err="1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SYNACK消息</a:t>
              </a:r>
              <a:r>
                <a:rPr lang="zh-CN" altLang="en-US" sz="14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，以确认</a:t>
              </a:r>
              <a:r>
                <a:rPr lang="en-US" altLang="zh-CN" sz="14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X</a:t>
              </a:r>
              <a:r>
                <a:rPr lang="zh-CN" altLang="en-US" sz="14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已收到，并</a:t>
              </a:r>
              <a:r>
                <a:rPr lang="en-US" sz="1400" dirty="0" err="1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选择初始化序列号</a:t>
              </a:r>
              <a:r>
                <a:rPr lang="en-US" altLang="zh-CN" sz="1400" dirty="0" err="1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Y</a:t>
              </a:r>
              <a:r>
                <a:rPr lang="zh-CN" altLang="en-US" sz="14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；</a:t>
              </a:r>
              <a:endParaRPr lang="en-US" sz="1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grpSp>
        <p:nvGrpSpPr>
          <p:cNvPr id="228" name="Group 110">
            <a:extLst>
              <a:ext uri="{FF2B5EF4-FFF2-40B4-BE49-F238E27FC236}">
                <a16:creationId xmlns:a16="http://schemas.microsoft.com/office/drawing/2014/main" id="{92A8D17F-88B5-E34B-ADF1-D1D5F4C6CACA}"/>
              </a:ext>
            </a:extLst>
          </p:cNvPr>
          <p:cNvGrpSpPr>
            <a:grpSpLocks/>
          </p:cNvGrpSpPr>
          <p:nvPr/>
        </p:nvGrpSpPr>
        <p:grpSpPr bwMode="auto">
          <a:xfrm>
            <a:off x="2631284" y="4774111"/>
            <a:ext cx="7192950" cy="1376363"/>
            <a:chOff x="697" y="2477"/>
            <a:chExt cx="4531" cy="867"/>
          </a:xfrm>
        </p:grpSpPr>
        <p:sp>
          <p:nvSpPr>
            <p:cNvPr id="229" name="Line 84">
              <a:extLst>
                <a:ext uri="{FF2B5EF4-FFF2-40B4-BE49-F238E27FC236}">
                  <a16:creationId xmlns:a16="http://schemas.microsoft.com/office/drawing/2014/main" id="{31D580AA-9CAF-1544-A3DB-06757FBBB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3" y="2728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Rectangle 89">
              <a:extLst>
                <a:ext uri="{FF2B5EF4-FFF2-40B4-BE49-F238E27FC236}">
                  <a16:creationId xmlns:a16="http://schemas.microsoft.com/office/drawing/2014/main" id="{60D16AD1-FAFA-6248-BB4D-76643C40A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2806"/>
              <a:ext cx="775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Text Box 90">
              <a:extLst>
                <a:ext uri="{FF2B5EF4-FFF2-40B4-BE49-F238E27FC236}">
                  <a16:creationId xmlns:a16="http://schemas.microsoft.com/office/drawing/2014/main" id="{D8F9F960-0A9B-F045-8B04-6F4D63130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2852"/>
              <a:ext cx="163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bit=1, ACK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num=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Y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+1</a:t>
              </a:r>
            </a:p>
          </p:txBody>
        </p:sp>
        <p:sp>
          <p:nvSpPr>
            <p:cNvPr id="232" name="Text Box 94">
              <a:extLst>
                <a:ext uri="{FF2B5EF4-FFF2-40B4-BE49-F238E27FC236}">
                  <a16:creationId xmlns:a16="http://schemas.microsoft.com/office/drawing/2014/main" id="{B9046815-BDD2-9143-979C-D64169C26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" y="2477"/>
              <a:ext cx="1327" cy="7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lvl="0" algn="just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kern="0" dirty="0" err="1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收到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X</a:t>
              </a:r>
              <a:r>
                <a:rPr lang="zh-CN" altLang="en-US" sz="1400" kern="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的确认消息，表明</a:t>
              </a:r>
              <a:r>
                <a:rPr lang="en-US" sz="1400" kern="0" dirty="0" err="1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服务器处于活跃状态</a:t>
              </a:r>
              <a:r>
                <a:rPr lang="zh-CN" altLang="en-US" sz="1400" kern="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，并发送</a:t>
              </a:r>
              <a:r>
                <a:rPr lang="en-US" altLang="zh-CN" sz="1400" kern="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ACK</a:t>
              </a:r>
              <a:r>
                <a:rPr lang="zh-CN" altLang="en-US" sz="1400" kern="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消息，以确认</a:t>
              </a:r>
              <a:r>
                <a:rPr lang="en-US" altLang="zh-CN" sz="1400" kern="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Y</a:t>
              </a:r>
              <a:r>
                <a:rPr lang="zh-CN" altLang="en-US" sz="1400" kern="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已收到；</a:t>
              </a:r>
              <a:endParaRPr lang="en-US" altLang="zh-CN" sz="1400" kern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lvl="0" algn="just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rPr>
                <a:t>这一步可能包含客户端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rPr>
                <a:t>-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rPr>
                <a:t>服务器数据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33" name="Text Box 95">
              <a:extLst>
                <a:ext uri="{FF2B5EF4-FFF2-40B4-BE49-F238E27FC236}">
                  <a16:creationId xmlns:a16="http://schemas.microsoft.com/office/drawing/2014/main" id="{ADF0930B-F723-4446-8C5B-8996D5939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3" y="3042"/>
              <a:ext cx="1535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 err="1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收到对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Y</a:t>
              </a:r>
              <a:r>
                <a:rPr lang="zh-CN" altLang="en-US" sz="1400" kern="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的确认消息，表明客</a:t>
              </a:r>
              <a:endParaRPr lang="en-US" altLang="zh-CN" sz="1400" kern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户端处于活跃状态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grpSp>
        <p:nvGrpSpPr>
          <p:cNvPr id="234" name="Group 105">
            <a:extLst>
              <a:ext uri="{FF2B5EF4-FFF2-40B4-BE49-F238E27FC236}">
                <a16:creationId xmlns:a16="http://schemas.microsoft.com/office/drawing/2014/main" id="{45AA77DF-71CD-2E48-9AEE-EC1E8FB1B1C5}"/>
              </a:ext>
            </a:extLst>
          </p:cNvPr>
          <p:cNvGrpSpPr>
            <a:grpSpLocks/>
          </p:cNvGrpSpPr>
          <p:nvPr/>
        </p:nvGrpSpPr>
        <p:grpSpPr bwMode="auto">
          <a:xfrm>
            <a:off x="1813719" y="3043736"/>
            <a:ext cx="1030287" cy="700088"/>
            <a:chOff x="182" y="1387"/>
            <a:chExt cx="649" cy="441"/>
          </a:xfrm>
        </p:grpSpPr>
        <p:sp>
          <p:nvSpPr>
            <p:cNvPr id="235" name="Text Box 91">
              <a:extLst>
                <a:ext uri="{FF2B5EF4-FFF2-40B4-BE49-F238E27FC236}">
                  <a16:creationId xmlns:a16="http://schemas.microsoft.com/office/drawing/2014/main" id="{B93FA479-02A5-4C43-B059-3F1D0BB05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1616"/>
              <a:ext cx="64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SYNSENT</a:t>
              </a:r>
            </a:p>
          </p:txBody>
        </p:sp>
        <p:sp>
          <p:nvSpPr>
            <p:cNvPr id="236" name="Line 103">
              <a:extLst>
                <a:ext uri="{FF2B5EF4-FFF2-40B4-BE49-F238E27FC236}">
                  <a16:creationId xmlns:a16="http://schemas.microsoft.com/office/drawing/2014/main" id="{C569F88B-55D7-1F45-9FD5-8D995E4C9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" y="1387"/>
              <a:ext cx="0" cy="2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37" name="Group 111">
            <a:extLst>
              <a:ext uri="{FF2B5EF4-FFF2-40B4-BE49-F238E27FC236}">
                <a16:creationId xmlns:a16="http://schemas.microsoft.com/office/drawing/2014/main" id="{FBD3641B-4567-B84B-B0A9-51F31757E64D}"/>
              </a:ext>
            </a:extLst>
          </p:cNvPr>
          <p:cNvGrpSpPr>
            <a:grpSpLocks/>
          </p:cNvGrpSpPr>
          <p:nvPr/>
        </p:nvGrpSpPr>
        <p:grpSpPr bwMode="auto">
          <a:xfrm>
            <a:off x="1815306" y="3704136"/>
            <a:ext cx="771525" cy="1622425"/>
            <a:chOff x="183" y="1803"/>
            <a:chExt cx="486" cy="1022"/>
          </a:xfrm>
        </p:grpSpPr>
        <p:sp>
          <p:nvSpPr>
            <p:cNvPr id="238" name="Text Box 16">
              <a:extLst>
                <a:ext uri="{FF2B5EF4-FFF2-40B4-BE49-F238E27FC236}">
                  <a16:creationId xmlns:a16="http://schemas.microsoft.com/office/drawing/2014/main" id="{46A42911-E4FA-6E45-98D3-9BA61AF39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" y="2613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239" name="Line 104">
              <a:extLst>
                <a:ext uri="{FF2B5EF4-FFF2-40B4-BE49-F238E27FC236}">
                  <a16:creationId xmlns:a16="http://schemas.microsoft.com/office/drawing/2014/main" id="{B764515C-528C-5B41-979E-CEB5F77FD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" y="1803"/>
              <a:ext cx="0" cy="7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40" name="Group 108">
            <a:extLst>
              <a:ext uri="{FF2B5EF4-FFF2-40B4-BE49-F238E27FC236}">
                <a16:creationId xmlns:a16="http://schemas.microsoft.com/office/drawing/2014/main" id="{E9975853-CA29-F64E-9978-90818E85074F}"/>
              </a:ext>
            </a:extLst>
          </p:cNvPr>
          <p:cNvGrpSpPr>
            <a:grpSpLocks/>
          </p:cNvGrpSpPr>
          <p:nvPr/>
        </p:nvGrpSpPr>
        <p:grpSpPr bwMode="auto">
          <a:xfrm>
            <a:off x="9268619" y="3099299"/>
            <a:ext cx="1119187" cy="1192212"/>
            <a:chOff x="4878" y="1422"/>
            <a:chExt cx="705" cy="751"/>
          </a:xfrm>
        </p:grpSpPr>
        <p:sp>
          <p:nvSpPr>
            <p:cNvPr id="241" name="Text Box 99">
              <a:extLst>
                <a:ext uri="{FF2B5EF4-FFF2-40B4-BE49-F238E27FC236}">
                  <a16:creationId xmlns:a16="http://schemas.microsoft.com/office/drawing/2014/main" id="{8F08BD14-4FFB-B243-AC1A-68FE85BE4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8" y="1961"/>
              <a:ext cx="7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 RCVD</a:t>
              </a:r>
            </a:p>
          </p:txBody>
        </p:sp>
        <p:sp>
          <p:nvSpPr>
            <p:cNvPr id="242" name="Line 106">
              <a:extLst>
                <a:ext uri="{FF2B5EF4-FFF2-40B4-BE49-F238E27FC236}">
                  <a16:creationId xmlns:a16="http://schemas.microsoft.com/office/drawing/2014/main" id="{0D6BD76C-B84A-F940-AC88-70ACC69EC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9" y="1422"/>
              <a:ext cx="0" cy="5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3" name="Line 107">
            <a:extLst>
              <a:ext uri="{FF2B5EF4-FFF2-40B4-BE49-F238E27FC236}">
                <a16:creationId xmlns:a16="http://schemas.microsoft.com/office/drawing/2014/main" id="{28C3410E-FF26-2849-8647-5DA1E34B6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82994" y="4301036"/>
            <a:ext cx="0" cy="1704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5" name="Text Box 114">
            <a:extLst>
              <a:ext uri="{FF2B5EF4-FFF2-40B4-BE49-F238E27FC236}">
                <a16:creationId xmlns:a16="http://schemas.microsoft.com/office/drawing/2014/main" id="{A27DEC11-2958-674C-B587-49A38C649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518" y="1707324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客户状态</a:t>
            </a:r>
            <a:endParaRPr kumimoji="0" lang="en-US" sz="2000" b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6" name="Text Box 115">
            <a:extLst>
              <a:ext uri="{FF2B5EF4-FFF2-40B4-BE49-F238E27FC236}">
                <a16:creationId xmlns:a16="http://schemas.microsoft.com/office/drawing/2014/main" id="{052EAC19-09BF-FD44-ADF4-7A708D2CC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368" y="2389622"/>
            <a:ext cx="842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LISTEN</a:t>
            </a:r>
          </a:p>
        </p:txBody>
      </p:sp>
      <p:sp>
        <p:nvSpPr>
          <p:cNvPr id="247" name="Text Box 116">
            <a:extLst>
              <a:ext uri="{FF2B5EF4-FFF2-40B4-BE49-F238E27FC236}">
                <a16:creationId xmlns:a16="http://schemas.microsoft.com/office/drawing/2014/main" id="{27C21C28-5638-8F4A-8A80-DBD146AD3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8977" y="1312716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kern="0" dirty="0">
                <a:latin typeface="等线" panose="02010600030101010101" pitchFamily="2" charset="-122"/>
                <a:ea typeface="等线" panose="02010600030101010101" pitchFamily="2" charset="-122"/>
              </a:rPr>
              <a:t>服务器状态</a:t>
            </a:r>
            <a:endParaRPr lang="en-US" sz="20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8" name="Text Box 117">
            <a:extLst>
              <a:ext uri="{FF2B5EF4-FFF2-40B4-BE49-F238E27FC236}">
                <a16:creationId xmlns:a16="http://schemas.microsoft.com/office/drawing/2014/main" id="{2B920772-7698-6844-B114-A453A028C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1504" y="2632510"/>
            <a:ext cx="842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LISTEN</a:t>
            </a:r>
          </a:p>
        </p:txBody>
      </p:sp>
      <p:grpSp>
        <p:nvGrpSpPr>
          <p:cNvPr id="249" name="Group 118">
            <a:extLst>
              <a:ext uri="{FF2B5EF4-FFF2-40B4-BE49-F238E27FC236}">
                <a16:creationId xmlns:a16="http://schemas.microsoft.com/office/drawing/2014/main" id="{EE14688C-F1C2-7F41-8726-D165159240FD}"/>
              </a:ext>
            </a:extLst>
          </p:cNvPr>
          <p:cNvGrpSpPr>
            <a:grpSpLocks/>
          </p:cNvGrpSpPr>
          <p:nvPr/>
        </p:nvGrpSpPr>
        <p:grpSpPr bwMode="auto">
          <a:xfrm>
            <a:off x="4464473" y="2492809"/>
            <a:ext cx="642937" cy="600075"/>
            <a:chOff x="-44" y="1473"/>
            <a:chExt cx="981" cy="1105"/>
          </a:xfrm>
        </p:grpSpPr>
        <p:pic>
          <p:nvPicPr>
            <p:cNvPr id="424" name="Picture 119" descr="desktop_computer_stylized_medium">
              <a:extLst>
                <a:ext uri="{FF2B5EF4-FFF2-40B4-BE49-F238E27FC236}">
                  <a16:creationId xmlns:a16="http://schemas.microsoft.com/office/drawing/2014/main" id="{1C11CA15-FEC8-A341-80F1-CFA1FA9F14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5" name="Freeform 120">
              <a:extLst>
                <a:ext uri="{FF2B5EF4-FFF2-40B4-BE49-F238E27FC236}">
                  <a16:creationId xmlns:a16="http://schemas.microsoft.com/office/drawing/2014/main" id="{8CCBA09D-3C96-6544-9960-AA2F6CD2F41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0" name="Group 121">
            <a:extLst>
              <a:ext uri="{FF2B5EF4-FFF2-40B4-BE49-F238E27FC236}">
                <a16:creationId xmlns:a16="http://schemas.microsoft.com/office/drawing/2014/main" id="{DC61BD1A-A71F-CF4B-B53E-5ECC0609FEB5}"/>
              </a:ext>
            </a:extLst>
          </p:cNvPr>
          <p:cNvGrpSpPr>
            <a:grpSpLocks/>
          </p:cNvGrpSpPr>
          <p:nvPr/>
        </p:nvGrpSpPr>
        <p:grpSpPr bwMode="auto">
          <a:xfrm>
            <a:off x="7221809" y="2580121"/>
            <a:ext cx="336550" cy="512763"/>
            <a:chOff x="4140" y="429"/>
            <a:chExt cx="1425" cy="2396"/>
          </a:xfrm>
        </p:grpSpPr>
        <p:sp>
          <p:nvSpPr>
            <p:cNvPr id="251" name="Freeform 122">
              <a:extLst>
                <a:ext uri="{FF2B5EF4-FFF2-40B4-BE49-F238E27FC236}">
                  <a16:creationId xmlns:a16="http://schemas.microsoft.com/office/drawing/2014/main" id="{0CD95998-3FB2-FF44-94A2-CC491B713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Rectangle 123">
              <a:extLst>
                <a:ext uri="{FF2B5EF4-FFF2-40B4-BE49-F238E27FC236}">
                  <a16:creationId xmlns:a16="http://schemas.microsoft.com/office/drawing/2014/main" id="{BF76EB82-B4E1-B149-BE06-EFCD582E8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Freeform 124">
              <a:extLst>
                <a:ext uri="{FF2B5EF4-FFF2-40B4-BE49-F238E27FC236}">
                  <a16:creationId xmlns:a16="http://schemas.microsoft.com/office/drawing/2014/main" id="{338FE797-056A-6E48-9B03-4B0253D63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125">
              <a:extLst>
                <a:ext uri="{FF2B5EF4-FFF2-40B4-BE49-F238E27FC236}">
                  <a16:creationId xmlns:a16="http://schemas.microsoft.com/office/drawing/2014/main" id="{8D12AA45-CFED-084A-B74C-A299F8140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Rectangle 126">
              <a:extLst>
                <a:ext uri="{FF2B5EF4-FFF2-40B4-BE49-F238E27FC236}">
                  <a16:creationId xmlns:a16="http://schemas.microsoft.com/office/drawing/2014/main" id="{56E176FE-7110-C043-AC64-4C5F3D2E4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56" name="Group 127">
              <a:extLst>
                <a:ext uri="{FF2B5EF4-FFF2-40B4-BE49-F238E27FC236}">
                  <a16:creationId xmlns:a16="http://schemas.microsoft.com/office/drawing/2014/main" id="{A3707B54-2470-3A4A-B09A-A776F4E85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2" name="AutoShape 128">
                <a:extLst>
                  <a:ext uri="{FF2B5EF4-FFF2-40B4-BE49-F238E27FC236}">
                    <a16:creationId xmlns:a16="http://schemas.microsoft.com/office/drawing/2014/main" id="{C32686E6-B534-4B48-85B4-322123C24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3" name="AutoShape 129">
                <a:extLst>
                  <a:ext uri="{FF2B5EF4-FFF2-40B4-BE49-F238E27FC236}">
                    <a16:creationId xmlns:a16="http://schemas.microsoft.com/office/drawing/2014/main" id="{5846C4C5-19DD-E040-A465-B55F5E21A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7" name="Rectangle 130">
              <a:extLst>
                <a:ext uri="{FF2B5EF4-FFF2-40B4-BE49-F238E27FC236}">
                  <a16:creationId xmlns:a16="http://schemas.microsoft.com/office/drawing/2014/main" id="{E24E2E97-8AA8-D94D-B792-C58D1DB2D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58" name="Group 131">
              <a:extLst>
                <a:ext uri="{FF2B5EF4-FFF2-40B4-BE49-F238E27FC236}">
                  <a16:creationId xmlns:a16="http://schemas.microsoft.com/office/drawing/2014/main" id="{01958DE7-9158-5C4A-975E-7090A73BD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0" name="AutoShape 132">
                <a:extLst>
                  <a:ext uri="{FF2B5EF4-FFF2-40B4-BE49-F238E27FC236}">
                    <a16:creationId xmlns:a16="http://schemas.microsoft.com/office/drawing/2014/main" id="{0097250A-579E-714A-BB43-1775F7C45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1" name="AutoShape 133">
                <a:extLst>
                  <a:ext uri="{FF2B5EF4-FFF2-40B4-BE49-F238E27FC236}">
                    <a16:creationId xmlns:a16="http://schemas.microsoft.com/office/drawing/2014/main" id="{011ECBC9-4E9D-9949-BBD3-4E72A731A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9" name="Rectangle 134">
              <a:extLst>
                <a:ext uri="{FF2B5EF4-FFF2-40B4-BE49-F238E27FC236}">
                  <a16:creationId xmlns:a16="http://schemas.microsoft.com/office/drawing/2014/main" id="{52385C15-71CF-0646-85DA-481C87C22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0" name="Rectangle 135">
              <a:extLst>
                <a:ext uri="{FF2B5EF4-FFF2-40B4-BE49-F238E27FC236}">
                  <a16:creationId xmlns:a16="http://schemas.microsoft.com/office/drawing/2014/main" id="{E9AFAD7D-A0FD-3344-8D9C-D21DB7BED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1" name="Group 136">
              <a:extLst>
                <a:ext uri="{FF2B5EF4-FFF2-40B4-BE49-F238E27FC236}">
                  <a16:creationId xmlns:a16="http://schemas.microsoft.com/office/drawing/2014/main" id="{36701E94-39B0-BB4E-B8F9-B11ED62531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7" name="AutoShape 137">
                <a:extLst>
                  <a:ext uri="{FF2B5EF4-FFF2-40B4-BE49-F238E27FC236}">
                    <a16:creationId xmlns:a16="http://schemas.microsoft.com/office/drawing/2014/main" id="{2535A487-3992-6B4F-9D85-E297BC39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9" name="AutoShape 138">
                <a:extLst>
                  <a:ext uri="{FF2B5EF4-FFF2-40B4-BE49-F238E27FC236}">
                    <a16:creationId xmlns:a16="http://schemas.microsoft.com/office/drawing/2014/main" id="{C55E1D44-7480-0442-A9DA-330FF72505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2" name="Freeform 139">
              <a:extLst>
                <a:ext uri="{FF2B5EF4-FFF2-40B4-BE49-F238E27FC236}">
                  <a16:creationId xmlns:a16="http://schemas.microsoft.com/office/drawing/2014/main" id="{56DA20E3-D49F-444E-8D21-F715762F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3" name="Group 140">
              <a:extLst>
                <a:ext uri="{FF2B5EF4-FFF2-40B4-BE49-F238E27FC236}">
                  <a16:creationId xmlns:a16="http://schemas.microsoft.com/office/drawing/2014/main" id="{350DC23D-91BA-0F49-A121-0BB6DA6FF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75" name="AutoShape 141">
                <a:extLst>
                  <a:ext uri="{FF2B5EF4-FFF2-40B4-BE49-F238E27FC236}">
                    <a16:creationId xmlns:a16="http://schemas.microsoft.com/office/drawing/2014/main" id="{B6F4CD24-7945-E141-8AE5-B72F07D79D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6" name="AutoShape 142">
                <a:extLst>
                  <a:ext uri="{FF2B5EF4-FFF2-40B4-BE49-F238E27FC236}">
                    <a16:creationId xmlns:a16="http://schemas.microsoft.com/office/drawing/2014/main" id="{A13F2C2E-8E50-C242-BBFA-276B45039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4" name="Rectangle 143">
              <a:extLst>
                <a:ext uri="{FF2B5EF4-FFF2-40B4-BE49-F238E27FC236}">
                  <a16:creationId xmlns:a16="http://schemas.microsoft.com/office/drawing/2014/main" id="{C95C6BF7-C7DF-FB4E-BCA1-1C5F3CF47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5" name="Freeform 144">
              <a:extLst>
                <a:ext uri="{FF2B5EF4-FFF2-40B4-BE49-F238E27FC236}">
                  <a16:creationId xmlns:a16="http://schemas.microsoft.com/office/drawing/2014/main" id="{E716E123-C485-CC44-A743-C9D7E94AF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Freeform 145">
              <a:extLst>
                <a:ext uri="{FF2B5EF4-FFF2-40B4-BE49-F238E27FC236}">
                  <a16:creationId xmlns:a16="http://schemas.microsoft.com/office/drawing/2014/main" id="{8B36D081-D3B9-D34B-91B2-079B05D09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7" name="Oval 146">
              <a:extLst>
                <a:ext uri="{FF2B5EF4-FFF2-40B4-BE49-F238E27FC236}">
                  <a16:creationId xmlns:a16="http://schemas.microsoft.com/office/drawing/2014/main" id="{B32C0505-6B5E-5B45-9C22-ABAD0452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8" name="Freeform 147">
              <a:extLst>
                <a:ext uri="{FF2B5EF4-FFF2-40B4-BE49-F238E27FC236}">
                  <a16:creationId xmlns:a16="http://schemas.microsoft.com/office/drawing/2014/main" id="{30177E53-587A-9B45-9ECD-611B7CEB1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AutoShape 148">
              <a:extLst>
                <a:ext uri="{FF2B5EF4-FFF2-40B4-BE49-F238E27FC236}">
                  <a16:creationId xmlns:a16="http://schemas.microsoft.com/office/drawing/2014/main" id="{0DA2D2A9-124E-EB41-86B5-909A794DF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0" name="AutoShape 149">
              <a:extLst>
                <a:ext uri="{FF2B5EF4-FFF2-40B4-BE49-F238E27FC236}">
                  <a16:creationId xmlns:a16="http://schemas.microsoft.com/office/drawing/2014/main" id="{CA5FFC73-D7D9-D240-94B8-900F51AC0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Oval 150">
              <a:extLst>
                <a:ext uri="{FF2B5EF4-FFF2-40B4-BE49-F238E27FC236}">
                  <a16:creationId xmlns:a16="http://schemas.microsoft.com/office/drawing/2014/main" id="{EFC35150-3347-7042-80EB-A8781A361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2" name="Oval 151">
              <a:extLst>
                <a:ext uri="{FF2B5EF4-FFF2-40B4-BE49-F238E27FC236}">
                  <a16:creationId xmlns:a16="http://schemas.microsoft.com/office/drawing/2014/main" id="{EA2EA724-2820-AE47-8D84-09E997A6D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3" name="Oval 152">
              <a:extLst>
                <a:ext uri="{FF2B5EF4-FFF2-40B4-BE49-F238E27FC236}">
                  <a16:creationId xmlns:a16="http://schemas.microsoft.com/office/drawing/2014/main" id="{27B270D9-EE2B-924F-8F2A-27B9EB6AB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Rectangle 153">
              <a:extLst>
                <a:ext uri="{FF2B5EF4-FFF2-40B4-BE49-F238E27FC236}">
                  <a16:creationId xmlns:a16="http://schemas.microsoft.com/office/drawing/2014/main" id="{689F1C5E-1D85-0243-9E5E-0ABE340F9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4" name="Text Box 13">
            <a:extLst>
              <a:ext uri="{FF2B5EF4-FFF2-40B4-BE49-F238E27FC236}">
                <a16:creationId xmlns:a16="http://schemas.microsoft.com/office/drawing/2014/main" id="{5C657586-8C26-7645-A308-A162DA1C7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62" y="2168681"/>
            <a:ext cx="4209864" cy="28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clientSocket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 = socket(AF_INET, SOCK_STREAM)</a:t>
            </a:r>
          </a:p>
        </p:txBody>
      </p:sp>
      <p:sp>
        <p:nvSpPr>
          <p:cNvPr id="75" name="Text Box 5">
            <a:extLst>
              <a:ext uri="{FF2B5EF4-FFF2-40B4-BE49-F238E27FC236}">
                <a16:creationId xmlns:a16="http://schemas.microsoft.com/office/drawing/2014/main" id="{1D57F3DF-BFA3-284D-8B9A-ADD3873D3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898" y="1697338"/>
            <a:ext cx="381546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serverSocket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 = socket(AF_INET,SOCK_STREAM)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serverSocket.bind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((‘’,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serverPort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serverSocket.listen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connectionSocket, addr = serverSocket.accept()</a:t>
            </a:r>
          </a:p>
        </p:txBody>
      </p:sp>
      <p:sp>
        <p:nvSpPr>
          <p:cNvPr id="77" name="Text Box 13">
            <a:extLst>
              <a:ext uri="{FF2B5EF4-FFF2-40B4-BE49-F238E27FC236}">
                <a16:creationId xmlns:a16="http://schemas.microsoft.com/office/drawing/2014/main" id="{85BB3488-0F19-2446-9F3D-0FF3F2E5F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62" y="2661702"/>
            <a:ext cx="4173523" cy="28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400" dirty="0" err="1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clientSocket.connect</a:t>
            </a:r>
            <a:r>
              <a:rPr lang="en-US" altLang="en-US" sz="1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((</a:t>
            </a:r>
            <a:r>
              <a:rPr lang="en-US" altLang="en-US" sz="1400" dirty="0" err="1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serverName,serverPort</a:t>
            </a:r>
            <a:r>
              <a:rPr lang="en-US" altLang="en-US" sz="140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))</a:t>
            </a:r>
          </a:p>
        </p:txBody>
      </p:sp>
      <p:sp>
        <p:nvSpPr>
          <p:cNvPr id="78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6.3.5  </a:t>
            </a:r>
            <a:r>
              <a:rPr kumimoji="1" lang="zh-CN" altLang="en-US" dirty="0"/>
              <a:t>面向连接的传输：连接管理</a:t>
            </a:r>
          </a:p>
        </p:txBody>
      </p:sp>
      <p:sp>
        <p:nvSpPr>
          <p:cNvPr id="79" name="灯片编号占位符 3">
            <a:extLst>
              <a:ext uri="{FF2B5EF4-FFF2-40B4-BE49-F238E27FC236}">
                <a16:creationId xmlns:a16="http://schemas.microsoft.com/office/drawing/2014/main" id="{F917D235-2886-CA46-8385-F0B2DDF5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58</a:t>
            </a:fld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737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/>
      <p:bldP spid="7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三次握手建立连接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495118"/>
            <a:ext cx="10597308" cy="4630259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30000"/>
              </a:lnSpc>
              <a:spcBef>
                <a:spcPct val="60000"/>
              </a:spcBef>
              <a:buFont typeface="+mj-lt"/>
              <a:buAutoNum type="arabicPeriod"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客户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端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TCP发送SYN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报文段（SYN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=1, ACK=0）</a:t>
            </a:r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给出客户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选择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的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起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始序号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不包含数据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服务器TCP发送SYNACK报文段（SYN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=ACK=1）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服务器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端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分配缓存和变量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给出服务器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选择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的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起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始序号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确认客户的起始序号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不包含数据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客户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端发送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ACK报文段（SYN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=0，ACK=1）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（客户端分配缓存和变量）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确认服务器的起始序号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可能包含数据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59</a:t>
            </a:fld>
            <a:endParaRPr kumimoji="1" lang="zh-CN" altLang="en-US"/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6.3.5  </a:t>
            </a:r>
            <a:r>
              <a:rPr kumimoji="1" lang="zh-CN" altLang="en-US" dirty="0"/>
              <a:t>面向连接的传输：连接管理</a:t>
            </a:r>
          </a:p>
        </p:txBody>
      </p:sp>
    </p:spTree>
    <p:extLst>
      <p:ext uri="{BB962C8B-B14F-4D97-AF65-F5344CB8AC3E}">
        <p14:creationId xmlns:p14="http://schemas.microsoft.com/office/powerpoint/2010/main" val="1018012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8" name="Line 4"/>
          <p:cNvSpPr>
            <a:spLocks noChangeShapeType="1"/>
          </p:cNvSpPr>
          <p:nvPr/>
        </p:nvSpPr>
        <p:spPr bwMode="auto">
          <a:xfrm flipH="1">
            <a:off x="4995864" y="2081213"/>
            <a:ext cx="1587" cy="394811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4389" name="Line 10"/>
          <p:cNvSpPr>
            <a:spLocks noChangeShapeType="1"/>
          </p:cNvSpPr>
          <p:nvPr/>
        </p:nvSpPr>
        <p:spPr bwMode="auto">
          <a:xfrm flipH="1">
            <a:off x="7585075" y="2151064"/>
            <a:ext cx="1588" cy="341788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" name="Group 74"/>
          <p:cNvGrpSpPr>
            <a:grpSpLocks/>
          </p:cNvGrpSpPr>
          <p:nvPr/>
        </p:nvGrpSpPr>
        <p:grpSpPr bwMode="auto">
          <a:xfrm>
            <a:off x="2119314" y="2762253"/>
            <a:ext cx="1235075" cy="855663"/>
            <a:chOff x="375" y="1740"/>
            <a:chExt cx="778" cy="539"/>
          </a:xfrm>
        </p:grpSpPr>
        <p:sp>
          <p:nvSpPr>
            <p:cNvPr id="144476" name="Text Box 34"/>
            <p:cNvSpPr txBox="1">
              <a:spLocks noChangeArrowheads="1"/>
            </p:cNvSpPr>
            <p:nvPr/>
          </p:nvSpPr>
          <p:spPr bwMode="auto">
            <a:xfrm>
              <a:off x="375" y="2066"/>
              <a:ext cx="77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FIN_WAIT_2</a:t>
              </a:r>
            </a:p>
          </p:txBody>
        </p:sp>
        <p:sp>
          <p:nvSpPr>
            <p:cNvPr id="144477" name="Line 35"/>
            <p:cNvSpPr>
              <a:spLocks noChangeShapeType="1"/>
            </p:cNvSpPr>
            <p:nvPr/>
          </p:nvSpPr>
          <p:spPr bwMode="auto">
            <a:xfrm>
              <a:off x="634" y="1740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73"/>
          <p:cNvGrpSpPr>
            <a:grpSpLocks/>
          </p:cNvGrpSpPr>
          <p:nvPr/>
        </p:nvGrpSpPr>
        <p:grpSpPr bwMode="auto">
          <a:xfrm>
            <a:off x="8729665" y="2101851"/>
            <a:ext cx="1328738" cy="962026"/>
            <a:chOff x="4539" y="1324"/>
            <a:chExt cx="837" cy="606"/>
          </a:xfrm>
        </p:grpSpPr>
        <p:sp>
          <p:nvSpPr>
            <p:cNvPr id="144474" name="Text Box 37"/>
            <p:cNvSpPr txBox="1">
              <a:spLocks noChangeArrowheads="1"/>
            </p:cNvSpPr>
            <p:nvPr/>
          </p:nvSpPr>
          <p:spPr bwMode="auto">
            <a:xfrm>
              <a:off x="4539" y="1717"/>
              <a:ext cx="83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CLOSE_WAIT</a:t>
              </a:r>
            </a:p>
          </p:txBody>
        </p:sp>
        <p:sp>
          <p:nvSpPr>
            <p:cNvPr id="144475" name="Line 38"/>
            <p:cNvSpPr>
              <a:spLocks noChangeShapeType="1"/>
            </p:cNvSpPr>
            <p:nvPr/>
          </p:nvSpPr>
          <p:spPr bwMode="auto">
            <a:xfrm>
              <a:off x="5171" y="1324"/>
              <a:ext cx="0" cy="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75"/>
          <p:cNvGrpSpPr>
            <a:grpSpLocks/>
          </p:cNvGrpSpPr>
          <p:nvPr/>
        </p:nvGrpSpPr>
        <p:grpSpPr bwMode="auto">
          <a:xfrm>
            <a:off x="5037138" y="3870325"/>
            <a:ext cx="2495550" cy="579438"/>
            <a:chOff x="2213" y="2438"/>
            <a:chExt cx="1572" cy="365"/>
          </a:xfrm>
        </p:grpSpPr>
        <p:sp>
          <p:nvSpPr>
            <p:cNvPr id="144471" name="Line 41"/>
            <p:cNvSpPr>
              <a:spLocks noChangeShapeType="1"/>
            </p:cNvSpPr>
            <p:nvPr/>
          </p:nvSpPr>
          <p:spPr bwMode="auto">
            <a:xfrm flipH="1">
              <a:off x="2213" y="2483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472" name="Rectangle 42"/>
            <p:cNvSpPr>
              <a:spLocks noChangeArrowheads="1"/>
            </p:cNvSpPr>
            <p:nvPr/>
          </p:nvSpPr>
          <p:spPr bwMode="auto">
            <a:xfrm>
              <a:off x="2669" y="2438"/>
              <a:ext cx="590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73" name="Text Box 43"/>
            <p:cNvSpPr txBox="1">
              <a:spLocks noChangeArrowheads="1"/>
            </p:cNvSpPr>
            <p:nvPr/>
          </p:nvSpPr>
          <p:spPr bwMode="auto">
            <a:xfrm>
              <a:off x="2456" y="2562"/>
              <a:ext cx="105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FIN</a:t>
              </a:r>
              <a:r>
                <a: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bit=1, seq=Y</a:t>
              </a:r>
            </a:p>
          </p:txBody>
        </p:sp>
      </p:grpSp>
      <p:grpSp>
        <p:nvGrpSpPr>
          <p:cNvPr id="5" name="Group 80"/>
          <p:cNvGrpSpPr>
            <a:grpSpLocks/>
          </p:cNvGrpSpPr>
          <p:nvPr/>
        </p:nvGrpSpPr>
        <p:grpSpPr bwMode="auto">
          <a:xfrm>
            <a:off x="5067300" y="4578351"/>
            <a:ext cx="2508250" cy="582613"/>
            <a:chOff x="2232" y="2884"/>
            <a:chExt cx="1580" cy="367"/>
          </a:xfrm>
        </p:grpSpPr>
        <p:sp>
          <p:nvSpPr>
            <p:cNvPr id="144468" name="Line 44"/>
            <p:cNvSpPr>
              <a:spLocks noChangeShapeType="1"/>
            </p:cNvSpPr>
            <p:nvPr/>
          </p:nvSpPr>
          <p:spPr bwMode="auto">
            <a:xfrm>
              <a:off x="2232" y="2884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469" name="Rectangle 46"/>
            <p:cNvSpPr>
              <a:spLocks noChangeArrowheads="1"/>
            </p:cNvSpPr>
            <p:nvPr/>
          </p:nvSpPr>
          <p:spPr bwMode="auto">
            <a:xfrm>
              <a:off x="2553" y="2995"/>
              <a:ext cx="896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70" name="Text Box 47"/>
            <p:cNvSpPr txBox="1">
              <a:spLocks noChangeArrowheads="1"/>
            </p:cNvSpPr>
            <p:nvPr/>
          </p:nvSpPr>
          <p:spPr bwMode="auto">
            <a:xfrm>
              <a:off x="2360" y="2958"/>
              <a:ext cx="130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ACK</a:t>
              </a:r>
              <a:r>
                <a: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bit=1; num=Y+1</a:t>
              </a:r>
            </a:p>
          </p:txBody>
        </p:sp>
      </p:grpSp>
      <p:grpSp>
        <p:nvGrpSpPr>
          <p:cNvPr id="6" name="Group 72"/>
          <p:cNvGrpSpPr>
            <a:grpSpLocks/>
          </p:cNvGrpSpPr>
          <p:nvPr/>
        </p:nvGrpSpPr>
        <p:grpSpPr bwMode="auto">
          <a:xfrm>
            <a:off x="3497264" y="2901951"/>
            <a:ext cx="5011737" cy="663575"/>
            <a:chOff x="1243" y="1828"/>
            <a:chExt cx="3157" cy="418"/>
          </a:xfrm>
        </p:grpSpPr>
        <p:sp>
          <p:nvSpPr>
            <p:cNvPr id="144463" name="Line 13"/>
            <p:cNvSpPr>
              <a:spLocks noChangeShapeType="1"/>
            </p:cNvSpPr>
            <p:nvPr/>
          </p:nvSpPr>
          <p:spPr bwMode="auto">
            <a:xfrm flipH="1">
              <a:off x="2186" y="1828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464" name="Rectangle 14"/>
            <p:cNvSpPr>
              <a:spLocks noChangeArrowheads="1"/>
            </p:cNvSpPr>
            <p:nvPr/>
          </p:nvSpPr>
          <p:spPr bwMode="auto">
            <a:xfrm>
              <a:off x="2507" y="1912"/>
              <a:ext cx="896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65" name="Text Box 15"/>
            <p:cNvSpPr txBox="1">
              <a:spLocks noChangeArrowheads="1"/>
            </p:cNvSpPr>
            <p:nvPr/>
          </p:nvSpPr>
          <p:spPr bwMode="auto">
            <a:xfrm>
              <a:off x="2311" y="1875"/>
              <a:ext cx="131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ACK</a:t>
              </a:r>
              <a:r>
                <a: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bit=1; num=X+1</a:t>
              </a:r>
            </a:p>
          </p:txBody>
        </p:sp>
        <p:sp>
          <p:nvSpPr>
            <p:cNvPr id="144466" name="Text Box 21"/>
            <p:cNvSpPr txBox="1">
              <a:spLocks noChangeArrowheads="1"/>
            </p:cNvSpPr>
            <p:nvPr/>
          </p:nvSpPr>
          <p:spPr bwMode="auto">
            <a:xfrm>
              <a:off x="1243" y="2066"/>
              <a:ext cx="941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1400" dirty="0" err="1">
                  <a:latin typeface="等线" panose="02010600030101010101" pitchFamily="2" charset="-122"/>
                  <a:ea typeface="等线" panose="02010600030101010101" pitchFamily="2" charset="-122"/>
                </a:rPr>
                <a:t>等待服务器关闭</a:t>
              </a:r>
              <a:endPara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44467" name="Text Box 49"/>
            <p:cNvSpPr txBox="1">
              <a:spLocks noChangeArrowheads="1"/>
            </p:cNvSpPr>
            <p:nvPr/>
          </p:nvSpPr>
          <p:spPr bwMode="auto">
            <a:xfrm>
              <a:off x="3831" y="1842"/>
              <a:ext cx="569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400" dirty="0" err="1">
                  <a:latin typeface="等线" panose="02010600030101010101" pitchFamily="2" charset="-122"/>
                  <a:ea typeface="等线" panose="02010600030101010101" pitchFamily="2" charset="-122"/>
                </a:rPr>
                <a:t>仍可发送</a:t>
              </a:r>
              <a:endPara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grpSp>
        <p:nvGrpSpPr>
          <p:cNvPr id="7" name="Group 78"/>
          <p:cNvGrpSpPr>
            <a:grpSpLocks/>
          </p:cNvGrpSpPr>
          <p:nvPr/>
        </p:nvGrpSpPr>
        <p:grpSpPr bwMode="auto">
          <a:xfrm>
            <a:off x="7626350" y="3032126"/>
            <a:ext cx="2441575" cy="1268413"/>
            <a:chOff x="3844" y="1910"/>
            <a:chExt cx="1538" cy="799"/>
          </a:xfrm>
        </p:grpSpPr>
        <p:sp>
          <p:nvSpPr>
            <p:cNvPr id="144459" name="Text Box 50"/>
            <p:cNvSpPr txBox="1">
              <a:spLocks noChangeArrowheads="1"/>
            </p:cNvSpPr>
            <p:nvPr/>
          </p:nvSpPr>
          <p:spPr bwMode="auto">
            <a:xfrm>
              <a:off x="3844" y="2529"/>
              <a:ext cx="569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400" dirty="0" err="1">
                  <a:latin typeface="等线" panose="02010600030101010101" pitchFamily="2" charset="-122"/>
                  <a:ea typeface="等线" panose="02010600030101010101" pitchFamily="2" charset="-122"/>
                </a:rPr>
                <a:t>不能发送</a:t>
              </a:r>
              <a:endPara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grpSp>
          <p:nvGrpSpPr>
            <p:cNvPr id="144460" name="Group 76"/>
            <p:cNvGrpSpPr>
              <a:grpSpLocks/>
            </p:cNvGrpSpPr>
            <p:nvPr/>
          </p:nvGrpSpPr>
          <p:grpSpPr bwMode="auto">
            <a:xfrm>
              <a:off x="4704" y="1910"/>
              <a:ext cx="678" cy="724"/>
              <a:chOff x="4704" y="1910"/>
              <a:chExt cx="678" cy="724"/>
            </a:xfrm>
          </p:grpSpPr>
          <p:sp>
            <p:nvSpPr>
              <p:cNvPr id="144461" name="Line 39"/>
              <p:cNvSpPr>
                <a:spLocks noChangeShapeType="1"/>
              </p:cNvSpPr>
              <p:nvPr/>
            </p:nvSpPr>
            <p:spPr bwMode="auto">
              <a:xfrm>
                <a:off x="5167" y="1910"/>
                <a:ext cx="0" cy="5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4462" name="Text Box 55"/>
              <p:cNvSpPr txBox="1">
                <a:spLocks noChangeArrowheads="1"/>
              </p:cNvSpPr>
              <p:nvPr/>
            </p:nvSpPr>
            <p:spPr bwMode="auto">
              <a:xfrm>
                <a:off x="4704" y="2421"/>
                <a:ext cx="67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LAST_ACK</a:t>
                </a:r>
              </a:p>
            </p:txBody>
          </p:sp>
        </p:grpSp>
      </p:grpSp>
      <p:grpSp>
        <p:nvGrpSpPr>
          <p:cNvPr id="9" name="Group 82"/>
          <p:cNvGrpSpPr>
            <a:grpSpLocks/>
          </p:cNvGrpSpPr>
          <p:nvPr/>
        </p:nvGrpSpPr>
        <p:grpSpPr bwMode="auto">
          <a:xfrm>
            <a:off x="9169401" y="4213228"/>
            <a:ext cx="911225" cy="1225551"/>
            <a:chOff x="4816" y="2654"/>
            <a:chExt cx="574" cy="772"/>
          </a:xfrm>
        </p:grpSpPr>
        <p:sp>
          <p:nvSpPr>
            <p:cNvPr id="144457" name="Text Box 11"/>
            <p:cNvSpPr txBox="1">
              <a:spLocks noChangeArrowheads="1"/>
            </p:cNvSpPr>
            <p:nvPr/>
          </p:nvSpPr>
          <p:spPr bwMode="auto">
            <a:xfrm>
              <a:off x="4816" y="3213"/>
              <a:ext cx="57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CLOSED</a:t>
              </a:r>
            </a:p>
          </p:txBody>
        </p:sp>
        <p:sp>
          <p:nvSpPr>
            <p:cNvPr id="144458" name="Line 57"/>
            <p:cNvSpPr>
              <a:spLocks noChangeShapeType="1"/>
            </p:cNvSpPr>
            <p:nvPr/>
          </p:nvSpPr>
          <p:spPr bwMode="auto">
            <a:xfrm>
              <a:off x="5173" y="265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" name="Group 77"/>
          <p:cNvGrpSpPr>
            <a:grpSpLocks/>
          </p:cNvGrpSpPr>
          <p:nvPr/>
        </p:nvGrpSpPr>
        <p:grpSpPr bwMode="auto">
          <a:xfrm>
            <a:off x="2147890" y="3605216"/>
            <a:ext cx="1322388" cy="1046163"/>
            <a:chOff x="393" y="2271"/>
            <a:chExt cx="833" cy="659"/>
          </a:xfrm>
        </p:grpSpPr>
        <p:sp>
          <p:nvSpPr>
            <p:cNvPr id="144455" name="Text Box 58"/>
            <p:cNvSpPr txBox="1">
              <a:spLocks noChangeArrowheads="1"/>
            </p:cNvSpPr>
            <p:nvPr/>
          </p:nvSpPr>
          <p:spPr bwMode="auto">
            <a:xfrm>
              <a:off x="393" y="2717"/>
              <a:ext cx="83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TIMED_WAIT</a:t>
              </a:r>
            </a:p>
          </p:txBody>
        </p:sp>
        <p:sp>
          <p:nvSpPr>
            <p:cNvPr id="144456" name="Line 60"/>
            <p:cNvSpPr>
              <a:spLocks noChangeShapeType="1"/>
            </p:cNvSpPr>
            <p:nvPr/>
          </p:nvSpPr>
          <p:spPr bwMode="auto">
            <a:xfrm>
              <a:off x="638" y="2271"/>
              <a:ext cx="0" cy="4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1" name="Group 81"/>
          <p:cNvGrpSpPr>
            <a:grpSpLocks/>
          </p:cNvGrpSpPr>
          <p:nvPr/>
        </p:nvGrpSpPr>
        <p:grpSpPr bwMode="auto">
          <a:xfrm>
            <a:off x="2201864" y="4486277"/>
            <a:ext cx="2339975" cy="1770063"/>
            <a:chOff x="427" y="2826"/>
            <a:chExt cx="1474" cy="1115"/>
          </a:xfrm>
        </p:grpSpPr>
        <p:sp>
          <p:nvSpPr>
            <p:cNvPr id="144449" name="Line 52"/>
            <p:cNvSpPr>
              <a:spLocks noChangeShapeType="1"/>
            </p:cNvSpPr>
            <p:nvPr/>
          </p:nvSpPr>
          <p:spPr bwMode="auto">
            <a:xfrm>
              <a:off x="1820" y="2833"/>
              <a:ext cx="7" cy="1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450" name="Text Box 51"/>
            <p:cNvSpPr txBox="1">
              <a:spLocks noChangeArrowheads="1"/>
            </p:cNvSpPr>
            <p:nvPr/>
          </p:nvSpPr>
          <p:spPr bwMode="auto">
            <a:xfrm>
              <a:off x="885" y="3093"/>
              <a:ext cx="908" cy="3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等待</a:t>
              </a:r>
              <a:r>
                <a:rPr lang="en-US" altLang="zh-CN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2</a:t>
              </a:r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个最大</a:t>
              </a:r>
              <a:endPara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段生命周期长度</a:t>
              </a:r>
              <a:endPara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44451" name="Line 53"/>
            <p:cNvSpPr>
              <a:spLocks noChangeShapeType="1"/>
            </p:cNvSpPr>
            <p:nvPr/>
          </p:nvSpPr>
          <p:spPr bwMode="auto">
            <a:xfrm>
              <a:off x="1742" y="2826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452" name="Line 54"/>
            <p:cNvSpPr>
              <a:spLocks noChangeShapeType="1"/>
            </p:cNvSpPr>
            <p:nvPr/>
          </p:nvSpPr>
          <p:spPr bwMode="auto">
            <a:xfrm>
              <a:off x="1759" y="3889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453" name="Text Box 59"/>
            <p:cNvSpPr txBox="1">
              <a:spLocks noChangeArrowheads="1"/>
            </p:cNvSpPr>
            <p:nvPr/>
          </p:nvSpPr>
          <p:spPr bwMode="auto">
            <a:xfrm>
              <a:off x="427" y="3728"/>
              <a:ext cx="57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CLOSED</a:t>
              </a:r>
            </a:p>
          </p:txBody>
        </p:sp>
        <p:sp>
          <p:nvSpPr>
            <p:cNvPr id="144454" name="Line 61"/>
            <p:cNvSpPr>
              <a:spLocks noChangeShapeType="1"/>
            </p:cNvSpPr>
            <p:nvPr/>
          </p:nvSpPr>
          <p:spPr bwMode="auto">
            <a:xfrm>
              <a:off x="631" y="2918"/>
              <a:ext cx="0" cy="8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44399" name="Rectangle 62"/>
          <p:cNvSpPr>
            <a:spLocks noGrp="1" noChangeArrowheads="1"/>
          </p:cNvSpPr>
          <p:nvPr>
            <p:ph type="title"/>
          </p:nvPr>
        </p:nvSpPr>
        <p:spPr>
          <a:xfrm>
            <a:off x="1350963" y="482050"/>
            <a:ext cx="7772400" cy="727075"/>
          </a:xfrm>
        </p:spPr>
        <p:txBody>
          <a:bodyPr>
            <a:normAutofit/>
          </a:bodyPr>
          <a:lstStyle/>
          <a:p>
            <a:r>
              <a:rPr lang="en-US" altLang="zh-CN" sz="4000" dirty="0" err="1">
                <a:ea typeface="MS PGothic" panose="020B0600070205080204" pitchFamily="34" charset="-128"/>
              </a:rPr>
              <a:t>关闭TCP连接</a:t>
            </a:r>
            <a:endParaRPr lang="en-US" altLang="zh-CN" sz="4000" dirty="0">
              <a:ea typeface="MS PGothic" panose="020B0600070205080204" pitchFamily="34" charset="-128"/>
            </a:endParaRPr>
          </a:p>
        </p:txBody>
      </p:sp>
      <p:grpSp>
        <p:nvGrpSpPr>
          <p:cNvPr id="12" name="Group 71"/>
          <p:cNvGrpSpPr>
            <a:grpSpLocks/>
          </p:cNvGrpSpPr>
          <p:nvPr/>
        </p:nvGrpSpPr>
        <p:grpSpPr bwMode="auto">
          <a:xfrm>
            <a:off x="2125664" y="2046287"/>
            <a:ext cx="1235075" cy="701674"/>
            <a:chOff x="379" y="1289"/>
            <a:chExt cx="778" cy="442"/>
          </a:xfrm>
        </p:grpSpPr>
        <p:sp>
          <p:nvSpPr>
            <p:cNvPr id="144447" name="Text Box 31"/>
            <p:cNvSpPr txBox="1">
              <a:spLocks noChangeArrowheads="1"/>
            </p:cNvSpPr>
            <p:nvPr/>
          </p:nvSpPr>
          <p:spPr bwMode="auto">
            <a:xfrm>
              <a:off x="379" y="1518"/>
              <a:ext cx="77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FIN_WAIT_1</a:t>
              </a:r>
            </a:p>
          </p:txBody>
        </p:sp>
        <p:sp>
          <p:nvSpPr>
            <p:cNvPr id="144448" name="Line 32"/>
            <p:cNvSpPr>
              <a:spLocks noChangeShapeType="1"/>
            </p:cNvSpPr>
            <p:nvPr/>
          </p:nvSpPr>
          <p:spPr bwMode="auto">
            <a:xfrm>
              <a:off x="630" y="1289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3" name="Group 70"/>
          <p:cNvGrpSpPr>
            <a:grpSpLocks/>
          </p:cNvGrpSpPr>
          <p:nvPr/>
        </p:nvGrpSpPr>
        <p:grpSpPr bwMode="auto">
          <a:xfrm>
            <a:off x="3287713" y="2112963"/>
            <a:ext cx="4216400" cy="812800"/>
            <a:chOff x="1111" y="1331"/>
            <a:chExt cx="2656" cy="512"/>
          </a:xfrm>
        </p:grpSpPr>
        <p:sp>
          <p:nvSpPr>
            <p:cNvPr id="144442" name="Line 6"/>
            <p:cNvSpPr>
              <a:spLocks noChangeShapeType="1"/>
            </p:cNvSpPr>
            <p:nvPr/>
          </p:nvSpPr>
          <p:spPr bwMode="auto">
            <a:xfrm>
              <a:off x="2195" y="1442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443" name="Rectangle 7"/>
            <p:cNvSpPr>
              <a:spLocks noChangeArrowheads="1"/>
            </p:cNvSpPr>
            <p:nvPr/>
          </p:nvSpPr>
          <p:spPr bwMode="auto">
            <a:xfrm>
              <a:off x="2644" y="1369"/>
              <a:ext cx="590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44" name="Text Box 8"/>
            <p:cNvSpPr txBox="1">
              <a:spLocks noChangeArrowheads="1"/>
            </p:cNvSpPr>
            <p:nvPr/>
          </p:nvSpPr>
          <p:spPr bwMode="auto">
            <a:xfrm>
              <a:off x="2428" y="1493"/>
              <a:ext cx="105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FIN</a:t>
              </a:r>
              <a:r>
                <a: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bit=1, seq=X</a:t>
              </a:r>
            </a:p>
          </p:txBody>
        </p:sp>
        <p:sp>
          <p:nvSpPr>
            <p:cNvPr id="144445" name="Text Box 9"/>
            <p:cNvSpPr txBox="1">
              <a:spLocks noChangeArrowheads="1"/>
            </p:cNvSpPr>
            <p:nvPr/>
          </p:nvSpPr>
          <p:spPr bwMode="auto">
            <a:xfrm>
              <a:off x="1417" y="1541"/>
              <a:ext cx="705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不能发送，</a:t>
              </a:r>
            </a:p>
            <a:p>
              <a:pPr algn="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但仍可接收</a:t>
              </a:r>
            </a:p>
          </p:txBody>
        </p:sp>
        <p:sp>
          <p:nvSpPr>
            <p:cNvPr id="144446" name="Text Box 67"/>
            <p:cNvSpPr txBox="1">
              <a:spLocks noChangeArrowheads="1"/>
            </p:cNvSpPr>
            <p:nvPr/>
          </p:nvSpPr>
          <p:spPr bwMode="auto">
            <a:xfrm>
              <a:off x="1111" y="1331"/>
              <a:ext cx="103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 err="1">
                  <a:latin typeface="等线" panose="02010600030101010101" pitchFamily="2" charset="-122"/>
                  <a:ea typeface="等线" panose="02010600030101010101" pitchFamily="2" charset="-122"/>
                </a:rPr>
                <a:t>clientSocket.close</a:t>
              </a:r>
              <a:r>
                <a:rPr lang="en-US" altLang="zh-CN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()</a:t>
              </a:r>
            </a:p>
          </p:txBody>
        </p:sp>
      </p:grpSp>
      <p:sp>
        <p:nvSpPr>
          <p:cNvPr id="144402" name="Text Box 84"/>
          <p:cNvSpPr txBox="1">
            <a:spLocks noChangeArrowheads="1"/>
          </p:cNvSpPr>
          <p:nvPr/>
        </p:nvSpPr>
        <p:spPr bwMode="auto">
          <a:xfrm>
            <a:off x="1905452" y="1313612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客户状态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4403" name="Text Box 85"/>
          <p:cNvSpPr txBox="1">
            <a:spLocks noChangeArrowheads="1"/>
          </p:cNvSpPr>
          <p:nvPr/>
        </p:nvSpPr>
        <p:spPr bwMode="auto">
          <a:xfrm>
            <a:off x="8888640" y="1320193"/>
            <a:ext cx="14670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服务器状态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4404" name="Text Box 86"/>
          <p:cNvSpPr txBox="1">
            <a:spLocks noChangeArrowheads="1"/>
          </p:cNvSpPr>
          <p:nvPr/>
        </p:nvSpPr>
        <p:spPr bwMode="auto">
          <a:xfrm>
            <a:off x="9306932" y="1768475"/>
            <a:ext cx="7441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rPr>
              <a:t>ESTAB</a:t>
            </a:r>
          </a:p>
        </p:txBody>
      </p:sp>
      <p:sp>
        <p:nvSpPr>
          <p:cNvPr id="144405" name="Text Box 87"/>
          <p:cNvSpPr txBox="1">
            <a:spLocks noChangeArrowheads="1"/>
          </p:cNvSpPr>
          <p:nvPr/>
        </p:nvSpPr>
        <p:spPr bwMode="auto">
          <a:xfrm>
            <a:off x="2071107" y="1751013"/>
            <a:ext cx="7441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DengXian" panose="02010600030101010101" pitchFamily="2" charset="-122"/>
                <a:ea typeface="宋体" panose="02010600030101010101" pitchFamily="2" charset="-122"/>
              </a:rPr>
              <a:t>ESTAB</a:t>
            </a:r>
          </a:p>
        </p:txBody>
      </p:sp>
      <p:grpSp>
        <p:nvGrpSpPr>
          <p:cNvPr id="144406" name="Group 88"/>
          <p:cNvGrpSpPr>
            <a:grpSpLocks/>
          </p:cNvGrpSpPr>
          <p:nvPr/>
        </p:nvGrpSpPr>
        <p:grpSpPr bwMode="auto">
          <a:xfrm>
            <a:off x="4664075" y="1443039"/>
            <a:ext cx="642938" cy="600075"/>
            <a:chOff x="-44" y="1473"/>
            <a:chExt cx="981" cy="1105"/>
          </a:xfrm>
        </p:grpSpPr>
        <p:pic>
          <p:nvPicPr>
            <p:cNvPr id="144440" name="Picture 89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4441" name="Freeform 9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8635428 w 356"/>
                <a:gd name="T3" fmla="*/ 6614732 h 368"/>
                <a:gd name="T4" fmla="*/ 57695678 w 356"/>
                <a:gd name="T5" fmla="*/ 137858167 h 368"/>
                <a:gd name="T6" fmla="*/ 12715255 w 356"/>
                <a:gd name="T7" fmla="*/ 17240661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44407" name="Group 91"/>
          <p:cNvGrpSpPr>
            <a:grpSpLocks/>
          </p:cNvGrpSpPr>
          <p:nvPr/>
        </p:nvGrpSpPr>
        <p:grpSpPr bwMode="auto">
          <a:xfrm>
            <a:off x="7296150" y="1446213"/>
            <a:ext cx="336550" cy="512762"/>
            <a:chOff x="4140" y="429"/>
            <a:chExt cx="1425" cy="2396"/>
          </a:xfrm>
        </p:grpSpPr>
        <p:sp>
          <p:nvSpPr>
            <p:cNvPr id="144408" name="Freeform 9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9" name="Rectangle 93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10" name="Freeform 9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11" name="Freeform 9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12" name="Rectangle 96"/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44413" name="Group 9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4438" name="AutoShape 98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44439" name="AutoShape 99"/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4414" name="Rectangle 100"/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44415" name="Group 10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4436" name="AutoShape 102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44437" name="AutoShape 103"/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4416" name="Rectangle 104"/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17" name="Rectangle 105"/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44418" name="Group 10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4434" name="AutoShape 107"/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44435" name="AutoShape 108"/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4419" name="Freeform 10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4420" name="Group 11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4432" name="AutoShape 11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44433" name="AutoShape 112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4421" name="Rectangle 113"/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22" name="Freeform 11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23" name="Freeform 11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24" name="Oval 116"/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25" name="Freeform 11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26" name="AutoShape 118"/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27" name="AutoShape 119"/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28" name="Oval 120"/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29" name="Oval 121"/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4430" name="Oval 122"/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4431" name="Rectangle 123"/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94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6.3.5  </a:t>
            </a:r>
            <a:r>
              <a:rPr kumimoji="1" lang="zh-CN" altLang="en-US" dirty="0"/>
              <a:t>面向连接的传输：连接管理</a:t>
            </a:r>
          </a:p>
        </p:txBody>
      </p:sp>
      <p:sp>
        <p:nvSpPr>
          <p:cNvPr id="95" name="灯片编号占位符 3">
            <a:extLst>
              <a:ext uri="{FF2B5EF4-FFF2-40B4-BE49-F238E27FC236}">
                <a16:creationId xmlns:a16="http://schemas.microsoft.com/office/drawing/2014/main" id="{4108437B-8AEB-AD45-9E85-CC4C222C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60</a:t>
            </a:fld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8155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客户</a:t>
            </a:r>
            <a:r>
              <a:rPr lang="en-US" altLang="zh-CN" dirty="0"/>
              <a:t>/</a:t>
            </a:r>
            <a:r>
              <a:rPr lang="zh-CN" altLang="en-US" dirty="0"/>
              <a:t>服务器经历的</a:t>
            </a:r>
            <a:r>
              <a:rPr lang="en-US" altLang="zh-CN" dirty="0"/>
              <a:t>TCP</a:t>
            </a:r>
            <a:r>
              <a:rPr lang="zh-CN" altLang="en-US" dirty="0"/>
              <a:t>状态序列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61</a:t>
            </a:fld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393796" y="5439786"/>
            <a:ext cx="2093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客户生命周期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968818" y="5433767"/>
            <a:ext cx="2093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服务器生命周期</a:t>
            </a:r>
          </a:p>
        </p:txBody>
      </p:sp>
      <p:sp>
        <p:nvSpPr>
          <p:cNvPr id="10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6.3.5  </a:t>
            </a:r>
            <a:r>
              <a:rPr kumimoji="1" lang="zh-CN" altLang="en-US" dirty="0"/>
              <a:t>面向连接的传输：连接管理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618023" y="1757488"/>
            <a:ext cx="5328533" cy="3474000"/>
            <a:chOff x="443566" y="1544917"/>
            <a:chExt cx="5328533" cy="34740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50EC1D0-640F-4028-BE38-3DBC5E049D73}"/>
                </a:ext>
              </a:extLst>
            </p:cNvPr>
            <p:cNvSpPr/>
            <p:nvPr/>
          </p:nvSpPr>
          <p:spPr>
            <a:xfrm>
              <a:off x="2226407" y="1812987"/>
              <a:ext cx="1594617" cy="35644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CLOSED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C3A73EC-2065-431B-94A7-FE7BD0FEF9ED}"/>
                </a:ext>
              </a:extLst>
            </p:cNvPr>
            <p:cNvSpPr/>
            <p:nvPr/>
          </p:nvSpPr>
          <p:spPr>
            <a:xfrm>
              <a:off x="444657" y="2581719"/>
              <a:ext cx="1594617" cy="35644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TIME_WAIT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49F9D56-F181-496C-BA39-0A58EEFF5FD9}"/>
                </a:ext>
              </a:extLst>
            </p:cNvPr>
            <p:cNvSpPr/>
            <p:nvPr/>
          </p:nvSpPr>
          <p:spPr>
            <a:xfrm>
              <a:off x="4009249" y="2581719"/>
              <a:ext cx="1594617" cy="35644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SYN_SENT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768DAD5-0717-4A25-81F2-6AA65CD78AB3}"/>
                </a:ext>
              </a:extLst>
            </p:cNvPr>
            <p:cNvSpPr/>
            <p:nvPr/>
          </p:nvSpPr>
          <p:spPr>
            <a:xfrm>
              <a:off x="4009249" y="3865779"/>
              <a:ext cx="1592953" cy="35644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ESTAB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6A7794C-8B8E-4F01-9C59-044E488192BF}"/>
                </a:ext>
              </a:extLst>
            </p:cNvPr>
            <p:cNvSpPr/>
            <p:nvPr/>
          </p:nvSpPr>
          <p:spPr>
            <a:xfrm>
              <a:off x="2226407" y="4497169"/>
              <a:ext cx="1592953" cy="35644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FIN_WAIT_1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00F2F01-00EA-435A-9C5F-AA270F084E13}"/>
                </a:ext>
              </a:extLst>
            </p:cNvPr>
            <p:cNvSpPr/>
            <p:nvPr/>
          </p:nvSpPr>
          <p:spPr>
            <a:xfrm>
              <a:off x="443566" y="3865779"/>
              <a:ext cx="1592953" cy="35644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FIN_WAIT_2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9" name="连接符: 曲线 17">
              <a:extLst>
                <a:ext uri="{FF2B5EF4-FFF2-40B4-BE49-F238E27FC236}">
                  <a16:creationId xmlns:a16="http://schemas.microsoft.com/office/drawing/2014/main" id="{70BC3600-667D-4696-A7C8-5F3E9F77D606}"/>
                </a:ext>
              </a:extLst>
            </p:cNvPr>
            <p:cNvCxnSpPr>
              <a:stCxn id="14" idx="0"/>
              <a:endCxn id="13" idx="1"/>
            </p:cNvCxnSpPr>
            <p:nvPr/>
          </p:nvCxnSpPr>
          <p:spPr>
            <a:xfrm rot="5400000" flipH="1" flipV="1">
              <a:off x="1438933" y="1794244"/>
              <a:ext cx="590507" cy="984442"/>
            </a:xfrm>
            <a:prstGeom prst="curvedConnector2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连接符: 曲线 19">
              <a:extLst>
                <a:ext uri="{FF2B5EF4-FFF2-40B4-BE49-F238E27FC236}">
                  <a16:creationId xmlns:a16="http://schemas.microsoft.com/office/drawing/2014/main" id="{DF0CB923-512E-479A-B6D9-7407F1765FAC}"/>
                </a:ext>
              </a:extLst>
            </p:cNvPr>
            <p:cNvCxnSpPr>
              <a:stCxn id="13" idx="3"/>
              <a:endCxn id="15" idx="0"/>
            </p:cNvCxnSpPr>
            <p:nvPr/>
          </p:nvCxnSpPr>
          <p:spPr>
            <a:xfrm>
              <a:off x="3821024" y="1991212"/>
              <a:ext cx="985534" cy="590507"/>
            </a:xfrm>
            <a:prstGeom prst="curved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21F81534-7A3B-43EB-9464-636096C9B3B2}"/>
                </a:ext>
              </a:extLst>
            </p:cNvPr>
            <p:cNvCxnSpPr>
              <a:stCxn id="15" idx="2"/>
              <a:endCxn id="16" idx="0"/>
            </p:cNvCxnSpPr>
            <p:nvPr/>
          </p:nvCxnSpPr>
          <p:spPr>
            <a:xfrm flipH="1">
              <a:off x="4805725" y="2938168"/>
              <a:ext cx="832" cy="92761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连接符: 曲线 23">
              <a:extLst>
                <a:ext uri="{FF2B5EF4-FFF2-40B4-BE49-F238E27FC236}">
                  <a16:creationId xmlns:a16="http://schemas.microsoft.com/office/drawing/2014/main" id="{0A80BE5B-DCB6-46DD-9D80-2FBEA7058800}"/>
                </a:ext>
              </a:extLst>
            </p:cNvPr>
            <p:cNvCxnSpPr>
              <a:stCxn id="16" idx="2"/>
              <a:endCxn id="17" idx="3"/>
            </p:cNvCxnSpPr>
            <p:nvPr/>
          </p:nvCxnSpPr>
          <p:spPr>
            <a:xfrm rot="5400000">
              <a:off x="4085961" y="3955628"/>
              <a:ext cx="453166" cy="986366"/>
            </a:xfrm>
            <a:prstGeom prst="curved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连接符: 曲线 25">
              <a:extLst>
                <a:ext uri="{FF2B5EF4-FFF2-40B4-BE49-F238E27FC236}">
                  <a16:creationId xmlns:a16="http://schemas.microsoft.com/office/drawing/2014/main" id="{8C92E96D-AEFF-4B87-BE85-320A166BE470}"/>
                </a:ext>
              </a:extLst>
            </p:cNvPr>
            <p:cNvCxnSpPr>
              <a:stCxn id="17" idx="1"/>
              <a:endCxn id="18" idx="2"/>
            </p:cNvCxnSpPr>
            <p:nvPr/>
          </p:nvCxnSpPr>
          <p:spPr>
            <a:xfrm rot="10800000">
              <a:off x="1240042" y="4222229"/>
              <a:ext cx="986365" cy="453166"/>
            </a:xfrm>
            <a:prstGeom prst="curvedConnector2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637BD09C-00B4-4013-849D-4B1E700D8AE4}"/>
                </a:ext>
              </a:extLst>
            </p:cNvPr>
            <p:cNvCxnSpPr>
              <a:stCxn id="18" idx="0"/>
              <a:endCxn id="14" idx="2"/>
            </p:cNvCxnSpPr>
            <p:nvPr/>
          </p:nvCxnSpPr>
          <p:spPr>
            <a:xfrm flipV="1">
              <a:off x="1240042" y="2938168"/>
              <a:ext cx="1923" cy="92761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C2ED4D4-FD24-4595-AA5A-6BB62A0E96B2}"/>
                </a:ext>
              </a:extLst>
            </p:cNvPr>
            <p:cNvSpPr txBox="1"/>
            <p:nvPr/>
          </p:nvSpPr>
          <p:spPr>
            <a:xfrm>
              <a:off x="3484432" y="3109180"/>
              <a:ext cx="1249022" cy="541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接收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SYN&amp;ACK</a:t>
              </a:r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发送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ACK</a:t>
              </a:r>
              <a:endParaRPr lang="zh-CN" altLang="en-US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FF40056-1464-43B7-BCB3-978788BB9C7C}"/>
                </a:ext>
              </a:extLst>
            </p:cNvPr>
            <p:cNvSpPr txBox="1"/>
            <p:nvPr/>
          </p:nvSpPr>
          <p:spPr>
            <a:xfrm>
              <a:off x="4635830" y="4321125"/>
              <a:ext cx="1136269" cy="313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发送</a:t>
              </a:r>
              <a:r>
                <a:rPr lang="en-US" altLang="zh-CN" sz="1400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FIN</a:t>
              </a:r>
              <a:endParaRPr lang="zh-CN" altLang="en-US" sz="1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9B7D8AB-D82A-4091-B417-443D5EC3E8D1}"/>
                </a:ext>
              </a:extLst>
            </p:cNvPr>
            <p:cNvSpPr txBox="1"/>
            <p:nvPr/>
          </p:nvSpPr>
          <p:spPr>
            <a:xfrm>
              <a:off x="646430" y="4477249"/>
              <a:ext cx="924102" cy="541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接收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ACK</a:t>
              </a:r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不发送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A59EE5B-7E20-4677-A12D-254E82C57C49}"/>
                </a:ext>
              </a:extLst>
            </p:cNvPr>
            <p:cNvSpPr txBox="1"/>
            <p:nvPr/>
          </p:nvSpPr>
          <p:spPr>
            <a:xfrm>
              <a:off x="1240041" y="3108338"/>
              <a:ext cx="1075324" cy="541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接收</a:t>
              </a:r>
              <a:r>
                <a:rPr lang="en-US" altLang="zh-CN" sz="1400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FIN</a:t>
              </a:r>
              <a:r>
                <a:rPr lang="zh-CN" altLang="en-US" sz="1400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endParaRPr lang="en-US" altLang="zh-CN" sz="1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400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发送</a:t>
              </a:r>
              <a:r>
                <a:rPr lang="en-US" altLang="zh-CN" sz="1400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ACK</a:t>
              </a:r>
              <a:endParaRPr lang="zh-CN" altLang="en-US" sz="1400" b="1" dirty="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A842E07-8831-406C-87B0-C35757BA23A7}"/>
                </a:ext>
              </a:extLst>
            </p:cNvPr>
            <p:cNvSpPr txBox="1"/>
            <p:nvPr/>
          </p:nvSpPr>
          <p:spPr>
            <a:xfrm>
              <a:off x="501729" y="1544917"/>
              <a:ext cx="974367" cy="1083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等待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个最大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段生命周期长度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endParaRPr lang="zh-CN" altLang="en-US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C154508-4F7B-47EF-9094-7343811661B8}"/>
                </a:ext>
              </a:extLst>
            </p:cNvPr>
            <p:cNvSpPr txBox="1"/>
            <p:nvPr/>
          </p:nvSpPr>
          <p:spPr>
            <a:xfrm>
              <a:off x="3819360" y="1560201"/>
              <a:ext cx="16848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客户请求建立连接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7503AA4-83B8-4532-8F7E-A716BB93902E}"/>
                </a:ext>
              </a:extLst>
            </p:cNvPr>
            <p:cNvSpPr txBox="1"/>
            <p:nvPr/>
          </p:nvSpPr>
          <p:spPr>
            <a:xfrm>
              <a:off x="4016300" y="4659720"/>
              <a:ext cx="16147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客户请求关闭连接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228603" y="1727337"/>
            <a:ext cx="5376572" cy="3504151"/>
            <a:chOff x="6282638" y="1497074"/>
            <a:chExt cx="5376572" cy="3504151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3DB28F2-2FBB-467B-90FF-93F396FDEEA1}"/>
                </a:ext>
              </a:extLst>
            </p:cNvPr>
            <p:cNvSpPr/>
            <p:nvPr/>
          </p:nvSpPr>
          <p:spPr>
            <a:xfrm>
              <a:off x="8140199" y="1821915"/>
              <a:ext cx="1661448" cy="35338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CLOSED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C936EA3C-F5A0-4A72-846C-87FAC96C32C7}"/>
                </a:ext>
              </a:extLst>
            </p:cNvPr>
            <p:cNvSpPr/>
            <p:nvPr/>
          </p:nvSpPr>
          <p:spPr>
            <a:xfrm>
              <a:off x="6283774" y="2584039"/>
              <a:ext cx="1661448" cy="35338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LAST_ACK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9154DBB-62F2-4F0E-A03F-77C9E6807641}"/>
                </a:ext>
              </a:extLst>
            </p:cNvPr>
            <p:cNvSpPr/>
            <p:nvPr/>
          </p:nvSpPr>
          <p:spPr>
            <a:xfrm>
              <a:off x="9997762" y="2584039"/>
              <a:ext cx="1661448" cy="35338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LISTEN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C6AE684-6DCF-4EC9-B66D-6AB2B3525049}"/>
                </a:ext>
              </a:extLst>
            </p:cNvPr>
            <p:cNvSpPr/>
            <p:nvPr/>
          </p:nvSpPr>
          <p:spPr>
            <a:xfrm>
              <a:off x="9997762" y="3857063"/>
              <a:ext cx="1659714" cy="35338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SYN_RCVD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DBB7132-0495-4667-9217-3C07A5E3C2D2}"/>
                </a:ext>
              </a:extLst>
            </p:cNvPr>
            <p:cNvSpPr/>
            <p:nvPr/>
          </p:nvSpPr>
          <p:spPr>
            <a:xfrm>
              <a:off x="8140199" y="4483027"/>
              <a:ext cx="1659714" cy="35338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ESTAB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4982E1AD-D9FB-4F37-B707-48601501184C}"/>
                </a:ext>
              </a:extLst>
            </p:cNvPr>
            <p:cNvSpPr/>
            <p:nvPr/>
          </p:nvSpPr>
          <p:spPr>
            <a:xfrm>
              <a:off x="6282638" y="3857063"/>
              <a:ext cx="1659714" cy="35338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CLOSE_WAIT</a:t>
              </a:r>
              <a:endPara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9" name="连接符: 曲线 76">
              <a:extLst>
                <a:ext uri="{FF2B5EF4-FFF2-40B4-BE49-F238E27FC236}">
                  <a16:creationId xmlns:a16="http://schemas.microsoft.com/office/drawing/2014/main" id="{38E127AC-F2F6-417A-8E5F-380AB3E7896B}"/>
                </a:ext>
              </a:extLst>
            </p:cNvPr>
            <p:cNvCxnSpPr>
              <a:stCxn id="34" idx="0"/>
              <a:endCxn id="33" idx="1"/>
            </p:cNvCxnSpPr>
            <p:nvPr/>
          </p:nvCxnSpPr>
          <p:spPr>
            <a:xfrm rot="5400000" flipH="1" flipV="1">
              <a:off x="7334633" y="1778473"/>
              <a:ext cx="585432" cy="1025701"/>
            </a:xfrm>
            <a:prstGeom prst="curvedConnector2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连接符: 曲线 77">
              <a:extLst>
                <a:ext uri="{FF2B5EF4-FFF2-40B4-BE49-F238E27FC236}">
                  <a16:creationId xmlns:a16="http://schemas.microsoft.com/office/drawing/2014/main" id="{1E71BA29-A3FA-4C7E-BBE3-841357248358}"/>
                </a:ext>
              </a:extLst>
            </p:cNvPr>
            <p:cNvCxnSpPr>
              <a:stCxn id="33" idx="3"/>
              <a:endCxn id="35" idx="0"/>
            </p:cNvCxnSpPr>
            <p:nvPr/>
          </p:nvCxnSpPr>
          <p:spPr>
            <a:xfrm>
              <a:off x="9801648" y="1998608"/>
              <a:ext cx="1026838" cy="585432"/>
            </a:xfrm>
            <a:prstGeom prst="curved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B4F841CA-6879-4498-8966-6CBA3D22F476}"/>
                </a:ext>
              </a:extLst>
            </p:cNvPr>
            <p:cNvCxnSpPr>
              <a:stCxn id="35" idx="2"/>
              <a:endCxn id="36" idx="0"/>
            </p:cNvCxnSpPr>
            <p:nvPr/>
          </p:nvCxnSpPr>
          <p:spPr>
            <a:xfrm flipH="1">
              <a:off x="10827619" y="2937425"/>
              <a:ext cx="867" cy="91963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连接符: 曲线 79">
              <a:extLst>
                <a:ext uri="{FF2B5EF4-FFF2-40B4-BE49-F238E27FC236}">
                  <a16:creationId xmlns:a16="http://schemas.microsoft.com/office/drawing/2014/main" id="{96FAAD9E-6033-430E-AFFC-760EEB9331FD}"/>
                </a:ext>
              </a:extLst>
            </p:cNvPr>
            <p:cNvCxnSpPr>
              <a:stCxn id="36" idx="2"/>
              <a:endCxn id="37" idx="3"/>
            </p:cNvCxnSpPr>
            <p:nvPr/>
          </p:nvCxnSpPr>
          <p:spPr>
            <a:xfrm rot="5400000">
              <a:off x="10089132" y="3921232"/>
              <a:ext cx="449271" cy="1027705"/>
            </a:xfrm>
            <a:prstGeom prst="curvedConnector2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连接符: 曲线 80">
              <a:extLst>
                <a:ext uri="{FF2B5EF4-FFF2-40B4-BE49-F238E27FC236}">
                  <a16:creationId xmlns:a16="http://schemas.microsoft.com/office/drawing/2014/main" id="{F5F83B5A-4200-4958-ACD1-DA69D94A5C04}"/>
                </a:ext>
              </a:extLst>
            </p:cNvPr>
            <p:cNvCxnSpPr>
              <a:stCxn id="37" idx="1"/>
              <a:endCxn id="38" idx="2"/>
            </p:cNvCxnSpPr>
            <p:nvPr/>
          </p:nvCxnSpPr>
          <p:spPr>
            <a:xfrm rot="10800000">
              <a:off x="7112495" y="4210450"/>
              <a:ext cx="1027704" cy="449271"/>
            </a:xfrm>
            <a:prstGeom prst="curvedConnector2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EF8B4C1A-F136-47D2-AF4B-17D5426D8806}"/>
                </a:ext>
              </a:extLst>
            </p:cNvPr>
            <p:cNvCxnSpPr>
              <a:stCxn id="38" idx="0"/>
              <a:endCxn id="34" idx="2"/>
            </p:cNvCxnSpPr>
            <p:nvPr/>
          </p:nvCxnSpPr>
          <p:spPr>
            <a:xfrm flipV="1">
              <a:off x="7112495" y="2937425"/>
              <a:ext cx="2003" cy="9196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5625E95-C167-4B0A-8994-9EB2DDECFDAF}"/>
                </a:ext>
              </a:extLst>
            </p:cNvPr>
            <p:cNvSpPr txBox="1"/>
            <p:nvPr/>
          </p:nvSpPr>
          <p:spPr>
            <a:xfrm>
              <a:off x="9489989" y="3143445"/>
              <a:ext cx="13376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接收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SYN</a:t>
              </a:r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r"/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发送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SYN&amp;ACK</a:t>
              </a:r>
              <a:endParaRPr lang="zh-CN" altLang="en-US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C291E9EE-81B9-432C-984D-0EE513E03827}"/>
                </a:ext>
              </a:extLst>
            </p:cNvPr>
            <p:cNvSpPr txBox="1"/>
            <p:nvPr/>
          </p:nvSpPr>
          <p:spPr>
            <a:xfrm>
              <a:off x="10485480" y="4478005"/>
              <a:ext cx="9813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n w="0"/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接收</a:t>
              </a:r>
              <a:r>
                <a:rPr lang="en-US" altLang="zh-CN" sz="1400" b="1" dirty="0">
                  <a:ln w="0"/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ACK</a:t>
              </a:r>
              <a:r>
                <a:rPr lang="zh-CN" altLang="en-US" sz="1400" b="1" dirty="0">
                  <a:ln w="0"/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endParaRPr lang="en-US" altLang="zh-CN" sz="1400" b="1" dirty="0">
                <a:ln w="0"/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400" b="1" dirty="0">
                  <a:ln w="0"/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不发送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1BDE3CF-6606-47FD-BBE7-2ECA77C6187C}"/>
                </a:ext>
              </a:extLst>
            </p:cNvPr>
            <p:cNvSpPr txBox="1"/>
            <p:nvPr/>
          </p:nvSpPr>
          <p:spPr>
            <a:xfrm>
              <a:off x="6282638" y="4469736"/>
              <a:ext cx="11734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接收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FIN</a:t>
              </a:r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r"/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发送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ACK</a:t>
              </a:r>
              <a:endParaRPr lang="zh-CN" altLang="en-US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9C25A3A-70AB-456C-8762-7C3CC9AD969E}"/>
                </a:ext>
              </a:extLst>
            </p:cNvPr>
            <p:cNvSpPr txBox="1"/>
            <p:nvPr/>
          </p:nvSpPr>
          <p:spPr>
            <a:xfrm>
              <a:off x="7112494" y="3106132"/>
              <a:ext cx="11203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n w="0"/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发送</a:t>
              </a:r>
              <a:r>
                <a:rPr lang="en-US" altLang="zh-CN" sz="1400" b="1" dirty="0">
                  <a:ln w="0"/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FIN</a:t>
              </a:r>
              <a:endParaRPr lang="zh-CN" altLang="en-US" sz="1400" b="1" dirty="0">
                <a:ln w="0"/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8AC0A8E-7420-47D4-9FA8-F2A1E5F28CC3}"/>
                </a:ext>
              </a:extLst>
            </p:cNvPr>
            <p:cNvSpPr txBox="1"/>
            <p:nvPr/>
          </p:nvSpPr>
          <p:spPr>
            <a:xfrm>
              <a:off x="6653570" y="1736996"/>
              <a:ext cx="10191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接收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ACK</a:t>
              </a:r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不发送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20EEA5C-BF3B-4198-B609-0B01BD645E31}"/>
                </a:ext>
              </a:extLst>
            </p:cNvPr>
            <p:cNvSpPr txBox="1"/>
            <p:nvPr/>
          </p:nvSpPr>
          <p:spPr>
            <a:xfrm>
              <a:off x="9870484" y="1497074"/>
              <a:ext cx="17843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服务器建立一个监听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socket</a:t>
              </a:r>
              <a:endPara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8163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50" y="1510758"/>
            <a:ext cx="5501457" cy="4845592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6.1 </a:t>
            </a:r>
            <a:r>
              <a:rPr kumimoji="1" lang="zh-CN" altLang="en-US" dirty="0"/>
              <a:t>概述和传输层服务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6.2 </a:t>
            </a:r>
            <a:r>
              <a:rPr kumimoji="1" lang="zh-CN" altLang="en-US" dirty="0"/>
              <a:t>传输层复用和分用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6.3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6.4 </a:t>
            </a:r>
            <a:r>
              <a:rPr kumimoji="1" lang="zh-CN" altLang="en-US" dirty="0"/>
              <a:t>面向连接的传输：</a:t>
            </a:r>
            <a:r>
              <a:rPr kumimoji="1" lang="en-US" altLang="zh-CN" dirty="0"/>
              <a:t>TCP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6.5 </a:t>
            </a:r>
            <a:r>
              <a:rPr kumimoji="1" lang="zh-CN" altLang="en-US" dirty="0">
                <a:solidFill>
                  <a:srgbClr val="C00000"/>
                </a:solidFill>
              </a:rPr>
              <a:t>理解网络拥塞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6.6 TCP拥塞控制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62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81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</a:t>
            </a:r>
            <a:r>
              <a:rPr lang="en-US" altLang="zh-CN" dirty="0" err="1"/>
              <a:t>拥塞</a:t>
            </a:r>
            <a:r>
              <a:rPr lang="zh-CN" altLang="en-US" dirty="0"/>
              <a:t>的类比例子：交通拥堵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5037306" cy="3041787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交通拥堵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起因：大量汽车短时间内进入路网，超出路网的承载能力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表现：道路通行能力下降，车速变慢，甚至完全停滞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措施：减少车辆进入路网（交通管制）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63</a:t>
            </a:fld>
            <a:endParaRPr kumimoji="1"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438090" y="1510758"/>
            <a:ext cx="5037306" cy="3041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网络拥塞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起因：大量分组短时间内进入网络，超出网络的处理能力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表现：分组延迟增大，网络吞吐量下降，甚至降为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</a:p>
          <a:p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措施：减少分组进入网络（拥塞控制）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38200" y="4552545"/>
            <a:ext cx="10515600" cy="15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流量控制与拥塞控制的异同：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流量控制：</a:t>
            </a: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限制发送速度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，使不超过</a:t>
            </a: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接收端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的处理能力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拥塞控制：</a:t>
            </a: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限制发送速度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，使不超过</a:t>
            </a:r>
            <a:r>
              <a:rPr lang="zh-CN" altLang="en-US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网络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的处理能力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6.3.6  </a:t>
            </a:r>
            <a:r>
              <a:rPr kumimoji="1" lang="zh-CN" altLang="en-US" dirty="0"/>
              <a:t>面向连接的传输：理解网络拥塞</a:t>
            </a:r>
          </a:p>
        </p:txBody>
      </p:sp>
    </p:spTree>
    <p:extLst>
      <p:ext uri="{BB962C8B-B14F-4D97-AF65-F5344CB8AC3E}">
        <p14:creationId xmlns:p14="http://schemas.microsoft.com/office/powerpoint/2010/main" val="3406178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网络拥塞的后果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5551714" cy="4586694"/>
          </a:xfrm>
        </p:spPr>
        <p:txBody>
          <a:bodyPr/>
          <a:lstStyle/>
          <a:p>
            <a:r>
              <a:rPr lang="zh-CN" altLang="en-US" dirty="0"/>
              <a:t>网络拥塞造成：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丢包：由路由器缓存溢出造成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分组延迟增大：链路接近满载造成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大量网络资源用于：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重传丢失的分组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（不必要地）重传延迟过大的分组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转发最终被丢弃的分组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64</a:t>
            </a:fld>
            <a:endParaRPr kumimoji="1"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389914" y="1506934"/>
            <a:ext cx="5551714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结果：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进入网络的负载很重，网络吞吐量却很低</a:t>
            </a:r>
          </a:p>
          <a:p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Picture 5" descr="congestion_perf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883" y="3205930"/>
            <a:ext cx="3787775" cy="241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 txBox="1">
            <a:spLocks/>
          </p:cNvSpPr>
          <p:nvPr/>
        </p:nvSpPr>
        <p:spPr>
          <a:xfrm>
            <a:off x="197334" y="6489303"/>
            <a:ext cx="2897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6.3.6  </a:t>
            </a:r>
            <a:r>
              <a:rPr kumimoji="1"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面向连接的传输：理解网络拥塞</a:t>
            </a:r>
          </a:p>
        </p:txBody>
      </p:sp>
    </p:spTree>
    <p:extLst>
      <p:ext uri="{BB962C8B-B14F-4D97-AF65-F5344CB8AC3E}">
        <p14:creationId xmlns:p14="http://schemas.microsoft.com/office/powerpoint/2010/main" val="3758574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拥塞控制的常用方法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9966"/>
            <a:ext cx="10515600" cy="480546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端到端拥塞控制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网络层不向端系统提供反馈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端系统通过观察丢包和延迟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，自行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推断拥塞的发生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TCP采用此类方法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pPr/>
              <a:t>65</a:t>
            </a:fld>
            <a:endParaRPr kumimoji="1" lang="zh-CN" altLang="en-US" dirty="0"/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 txBox="1">
            <a:spLocks/>
          </p:cNvSpPr>
          <p:nvPr/>
        </p:nvSpPr>
        <p:spPr>
          <a:xfrm>
            <a:off x="197334" y="6489303"/>
            <a:ext cx="2897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6.3.6  </a:t>
            </a:r>
            <a:r>
              <a:rPr kumimoji="1"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面向连接的传输：理解网络拥塞</a:t>
            </a:r>
          </a:p>
        </p:txBody>
      </p:sp>
    </p:spTree>
    <p:extLst>
      <p:ext uri="{BB962C8B-B14F-4D97-AF65-F5344CB8AC3E}">
        <p14:creationId xmlns:p14="http://schemas.microsoft.com/office/powerpoint/2010/main" val="879418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50" y="1510758"/>
            <a:ext cx="5501457" cy="4845592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6.1 </a:t>
            </a:r>
            <a:r>
              <a:rPr kumimoji="1" lang="zh-CN" altLang="en-US" dirty="0"/>
              <a:t>概述和传输层服务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6.2 </a:t>
            </a:r>
            <a:r>
              <a:rPr kumimoji="1" lang="zh-CN" altLang="en-US" dirty="0"/>
              <a:t>传输层复用和分用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6.3 </a:t>
            </a:r>
            <a:r>
              <a:rPr kumimoji="1" lang="zh-CN" altLang="en-US" dirty="0"/>
              <a:t>无连接传输：</a:t>
            </a:r>
            <a:r>
              <a:rPr kumimoji="1" lang="en-US" altLang="zh-CN" dirty="0"/>
              <a:t>UDP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6.4 </a:t>
            </a:r>
            <a:r>
              <a:rPr kumimoji="1" lang="zh-CN" altLang="en-US" dirty="0"/>
              <a:t>面向连接的传输：</a:t>
            </a:r>
            <a:r>
              <a:rPr kumimoji="1" lang="en-US" altLang="zh-CN" dirty="0"/>
              <a:t>TCP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6.5 </a:t>
            </a:r>
            <a:r>
              <a:rPr kumimoji="1" lang="zh-CN" altLang="en-US" dirty="0"/>
              <a:t>理解网络拥塞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6.6 TCP拥塞控制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66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9064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TCP拥塞控制要解决的问题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使用端到端拥塞控制机制：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发送方根据自己感知的网络拥塞程度，限制其发送速率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需要回答三个问题：</a:t>
            </a:r>
            <a:endParaRPr lang="en-US" altLang="zh-CN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发送方如何感知网络拥塞？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发送方采用什么机制来限制发送速率？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发送方感知到网络拥塞后，采取什么策略调节发送速率？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67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6.3.7  </a:t>
            </a:r>
            <a:r>
              <a:rPr kumimoji="1" lang="zh-CN" altLang="en-US" dirty="0"/>
              <a:t>面向连接的传输：拥塞控制</a:t>
            </a:r>
          </a:p>
        </p:txBody>
      </p:sp>
    </p:spTree>
    <p:extLst>
      <p:ext uri="{BB962C8B-B14F-4D97-AF65-F5344CB8AC3E}">
        <p14:creationId xmlns:p14="http://schemas.microsoft.com/office/powerpoint/2010/main" val="3823825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拥塞检测</a:t>
            </a:r>
            <a:r>
              <a:rPr lang="zh-CN" altLang="en-US" dirty="0"/>
              <a:t>和速率限制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1616" y="1573410"/>
            <a:ext cx="5222858" cy="4586694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600" dirty="0" err="1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发送方如何感知拥塞</a:t>
            </a:r>
            <a:r>
              <a:rPr lang="en-US" altLang="zh-CN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?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发送方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利用丢包事件感知拥塞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拥塞造成丢包和分组延迟增大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无论是丢包还是分组延迟过大，对于发送端来说都是</a:t>
            </a:r>
            <a:r>
              <a:rPr lang="zh-CN" altLang="en-US" sz="22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丢包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了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丢包事件包括：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重传定时器超时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发送端收到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个</a:t>
            </a:r>
            <a:r>
              <a:rPr lang="en-US" altLang="zh-CN" sz="2200" dirty="0" err="1">
                <a:latin typeface="等线" panose="02010600030101010101" pitchFamily="2" charset="-122"/>
                <a:ea typeface="等线" panose="02010600030101010101" pitchFamily="2" charset="-122"/>
              </a:rPr>
              <a:t>重复的ACK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68</a:t>
            </a:fld>
            <a:endParaRPr kumimoji="1"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116885" y="1244212"/>
            <a:ext cx="5236915" cy="45866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600" dirty="0" err="1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发送方</a:t>
            </a: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采用什么机制限制发送速率</a:t>
            </a:r>
            <a:r>
              <a:rPr lang="en-US" altLang="zh-CN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?</a:t>
            </a:r>
          </a:p>
          <a:p>
            <a:pPr>
              <a:lnSpc>
                <a:spcPct val="130000"/>
              </a:lnSpc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发送方使用</a:t>
            </a:r>
            <a:r>
              <a:rPr lang="en-US" altLang="zh-CN" sz="2400" dirty="0" err="1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拥塞窗口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cwnd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 (congestion window) 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限制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已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发送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未确认的数据量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</a:p>
          <a:p>
            <a:pPr>
              <a:lnSpc>
                <a:spcPct val="130000"/>
              </a:lnSpc>
              <a:buFont typeface="ZapfDingbats" pitchFamily="8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LastByteSent-LastByteAcked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 cwnd</a:t>
            </a:r>
          </a:p>
          <a:p>
            <a:pPr>
              <a:lnSpc>
                <a:spcPct val="130000"/>
              </a:lnSpc>
              <a:buFont typeface="ZapfDingbats" pitchFamily="82" charset="2"/>
              <a:buNone/>
            </a:pP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30000"/>
              </a:lnSpc>
              <a:buFont typeface="ZapfDingbats" pitchFamily="82" charset="2"/>
              <a:buNone/>
            </a:pPr>
            <a:endParaRPr lang="en-US" altLang="zh-CN" sz="24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cwnd随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发送方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感知的网络拥塞程度而变化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6596809" y="3681189"/>
            <a:ext cx="4410075" cy="762000"/>
            <a:chOff x="1104" y="3564"/>
            <a:chExt cx="2778" cy="510"/>
          </a:xfrm>
        </p:grpSpPr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377" y="3671"/>
              <a:ext cx="559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DengXian" panose="02010600030101010101" pitchFamily="2" charset="-122"/>
                  <a:ea typeface="宋体" panose="02010600030101010101" pitchFamily="2" charset="-122"/>
                </a:rPr>
                <a:t>rate =</a:t>
              </a:r>
              <a:r>
                <a: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208" y="3575"/>
              <a:ext cx="655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DengXian" panose="02010600030101010101" pitchFamily="2" charset="-122"/>
                  <a:ea typeface="宋体" panose="02010600030101010101" pitchFamily="2" charset="-122"/>
                </a:rPr>
                <a:t>cwnd</a:t>
              </a:r>
              <a:r>
                <a: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362" y="3797"/>
              <a:ext cx="397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DengXian" panose="02010600030101010101" pitchFamily="2" charset="-122"/>
                  <a:ea typeface="宋体" panose="02010600030101010101" pitchFamily="2" charset="-122"/>
                </a:rPr>
                <a:t>RTT</a:t>
              </a:r>
              <a:r>
                <a: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3007" y="3695"/>
              <a:ext cx="764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DengXian" panose="02010600030101010101" pitchFamily="2" charset="-122"/>
                  <a:ea typeface="宋体" panose="02010600030101010101" pitchFamily="2" charset="-122"/>
                </a:rPr>
                <a:t>Bytes/sec</a:t>
              </a:r>
              <a:endPara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V="1">
              <a:off x="2262" y="3804"/>
              <a:ext cx="6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104" y="3564"/>
              <a:ext cx="2778" cy="51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dirty="0">
                <a:latin typeface="DengXian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6.3.7  </a:t>
            </a:r>
            <a:r>
              <a:rPr kumimoji="1" lang="zh-CN" altLang="en-US" dirty="0"/>
              <a:t>面向连接的传输：拥塞控制</a:t>
            </a:r>
          </a:p>
        </p:txBody>
      </p:sp>
    </p:spTree>
    <p:extLst>
      <p:ext uri="{BB962C8B-B14F-4D97-AF65-F5344CB8AC3E}">
        <p14:creationId xmlns:p14="http://schemas.microsoft.com/office/powerpoint/2010/main" val="2144826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拥塞窗口的调节策略：</a:t>
            </a:r>
            <a:r>
              <a:rPr lang="en-US" altLang="zh-CN" dirty="0"/>
              <a:t>AIMD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5540566" cy="458669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乘性减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ultiplicative </a:t>
            </a:r>
            <a:r>
              <a:rPr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ecrease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发送方检测到丢包后，将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cwnd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的大小减半（但不能小于一个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MSS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目的：迅速减小发送速率，缓解拥塞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加性增（</a:t>
            </a:r>
            <a:r>
              <a:rPr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dditive </a:t>
            </a:r>
            <a:r>
              <a:rPr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ncrease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若无丢包，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每经过一个RTT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将cwnd增大一个MSS，直到检测到丢包</a:t>
            </a: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目的：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缓慢增大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发送速率，避免振荡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69</a:t>
            </a:fld>
            <a:endParaRPr kumimoji="1" lang="zh-CN" altLang="en-US" dirty="0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7876440" y="5099576"/>
            <a:ext cx="30009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cwnd呈锯齿状变化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683443" y="2108090"/>
            <a:ext cx="4529656" cy="2200275"/>
            <a:chOff x="2541477" y="4179261"/>
            <a:chExt cx="4529656" cy="2200275"/>
          </a:xfrm>
        </p:grpSpPr>
        <p:sp>
          <p:nvSpPr>
            <p:cNvPr id="12" name="Line 4">
              <a:extLst>
                <a:ext uri="{FF2B5EF4-FFF2-40B4-BE49-F238E27FC236}">
                  <a16:creationId xmlns:a16="http://schemas.microsoft.com/office/drawing/2014/main" id="{40B53BA5-0328-4230-974B-49C488929B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6170" y="4179261"/>
              <a:ext cx="9525" cy="22002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05C0BCDC-E3AF-4114-96FE-13BB68821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6645" y="6368423"/>
              <a:ext cx="41052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7C8DD40C-C80E-4FF7-A677-D655E8E535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5695" y="4934910"/>
              <a:ext cx="671513" cy="571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32543901-20B0-4681-BEDC-6DD2CA189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444" y="4939674"/>
              <a:ext cx="0" cy="7000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BDC90280-A27C-4384-A7B6-BACB1B9E05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1970" y="5325436"/>
              <a:ext cx="352425" cy="2952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BA3E943B-173A-4819-8E26-5B8E227F45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4870" y="5334960"/>
              <a:ext cx="4763" cy="514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A99AF29C-DE36-4F91-8473-84F89A9997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4094" y="4625349"/>
              <a:ext cx="0" cy="8715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AB2FCB44-0D97-414B-9F27-F212B7BA21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4869" y="4625348"/>
              <a:ext cx="1428750" cy="1219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178BBCF4-0F11-4C42-ADFE-6AA2344864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26569" y="4830135"/>
              <a:ext cx="14288" cy="876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04C85027-6777-497E-9FD3-5FDCB33608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64570" y="4834898"/>
              <a:ext cx="785813" cy="6667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14231273-CE60-4750-87A2-165382722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6695" y="4520574"/>
              <a:ext cx="4763" cy="542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C13A330A-C9D8-4FE5-97B3-99B84577A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8182" y="4534861"/>
              <a:ext cx="4762" cy="823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4073826C-49C5-4E69-8723-241FD1F48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2057" y="4520573"/>
              <a:ext cx="4762" cy="900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25" name="Text Box 20">
              <a:extLst>
                <a:ext uri="{FF2B5EF4-FFF2-40B4-BE49-F238E27FC236}">
                  <a16:creationId xmlns:a16="http://schemas.microsoft.com/office/drawing/2014/main" id="{CD47BEA8-A5B0-46A2-A5FB-2D9713CB36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3532" y="4706310"/>
              <a:ext cx="35618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X</a:t>
              </a:r>
            </a:p>
          </p:txBody>
        </p:sp>
        <p:sp>
          <p:nvSpPr>
            <p:cNvPr id="26" name="Text Box 21">
              <a:extLst>
                <a:ext uri="{FF2B5EF4-FFF2-40B4-BE49-F238E27FC236}">
                  <a16:creationId xmlns:a16="http://schemas.microsoft.com/office/drawing/2014/main" id="{7D2CDCAC-640E-4F20-BEB5-93ADB40FB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2782" y="5123823"/>
              <a:ext cx="35618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X</a:t>
              </a:r>
            </a:p>
          </p:txBody>
        </p:sp>
        <p:sp>
          <p:nvSpPr>
            <p:cNvPr id="27" name="Text Box 22">
              <a:extLst>
                <a:ext uri="{FF2B5EF4-FFF2-40B4-BE49-F238E27FC236}">
                  <a16:creationId xmlns:a16="http://schemas.microsoft.com/office/drawing/2014/main" id="{8F88A32B-7936-453D-A437-3D03640912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1532" y="4423735"/>
              <a:ext cx="35618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X</a:t>
              </a:r>
            </a:p>
          </p:txBody>
        </p:sp>
        <p:sp>
          <p:nvSpPr>
            <p:cNvPr id="28" name="Text Box 23">
              <a:extLst>
                <a:ext uri="{FF2B5EF4-FFF2-40B4-BE49-F238E27FC236}">
                  <a16:creationId xmlns:a16="http://schemas.microsoft.com/office/drawing/2014/main" id="{26DAF434-3DDD-434C-BE3C-8034CEC11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8294" y="4623760"/>
              <a:ext cx="35618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X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260394FC-8AB4-4EF3-B1F7-336D9EA73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172145" y="5174106"/>
              <a:ext cx="110799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dirty="0">
                  <a:ea typeface="宋体" pitchFamily="2" charset="-122"/>
                </a:rPr>
                <a:t>发送速率</a:t>
              </a:r>
              <a:endParaRPr lang="en-US" altLang="zh-CN" dirty="0">
                <a:ea typeface="宋体" pitchFamily="2" charset="-122"/>
              </a:endParaRP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4E0EBC36-3F64-4020-9C55-AB1BC3AA4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2302" y="5951699"/>
              <a:ext cx="64633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dirty="0">
                  <a:ea typeface="宋体" pitchFamily="2" charset="-122"/>
                </a:rPr>
                <a:t>时间</a:t>
              </a:r>
              <a:endParaRPr lang="en-US" altLang="zh-CN" dirty="0">
                <a:ea typeface="宋体" pitchFamily="2" charset="-122"/>
              </a:endParaRPr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EA8E76CA-4E79-467B-8BD4-E0FB3B7C57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32919" y="5231774"/>
              <a:ext cx="541338" cy="465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D99410D5-FAD9-448E-8114-99C0510D4B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79020" y="4896811"/>
              <a:ext cx="392113" cy="3270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 sz="2000"/>
            </a:p>
          </p:txBody>
        </p:sp>
      </p:grpSp>
      <p:sp>
        <p:nvSpPr>
          <p:cNvPr id="33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6.3.7  </a:t>
            </a:r>
            <a:r>
              <a:rPr kumimoji="1" lang="zh-CN" altLang="en-US" dirty="0"/>
              <a:t>面向连接的传输：拥塞控制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458661" y="2057685"/>
            <a:ext cx="888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加性增</a:t>
            </a:r>
          </a:p>
        </p:txBody>
      </p:sp>
      <p:sp>
        <p:nvSpPr>
          <p:cNvPr id="57" name="Line 18">
            <a:extLst>
              <a:ext uri="{FF2B5EF4-FFF2-40B4-BE49-F238E27FC236}">
                <a16:creationId xmlns:a16="http://schemas.microsoft.com/office/drawing/2014/main" id="{C13A330A-C9D8-4FE5-97B3-99B84577A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4412" y="3653237"/>
            <a:ext cx="13094" cy="89699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zh-CN" altLang="en-US" sz="2000"/>
          </a:p>
        </p:txBody>
      </p:sp>
      <p:sp>
        <p:nvSpPr>
          <p:cNvPr id="58" name="Line 18">
            <a:extLst>
              <a:ext uri="{FF2B5EF4-FFF2-40B4-BE49-F238E27FC236}">
                <a16:creationId xmlns:a16="http://schemas.microsoft.com/office/drawing/2014/main" id="{C13A330A-C9D8-4FE5-97B3-99B84577A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2073" y="3827417"/>
            <a:ext cx="14288" cy="7228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zh-CN" altLang="en-US" sz="2000"/>
          </a:p>
        </p:txBody>
      </p:sp>
      <p:sp>
        <p:nvSpPr>
          <p:cNvPr id="8" name="矩形 7"/>
          <p:cNvSpPr/>
          <p:nvPr/>
        </p:nvSpPr>
        <p:spPr>
          <a:xfrm>
            <a:off x="7496328" y="457193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乘性减</a:t>
            </a:r>
          </a:p>
        </p:txBody>
      </p:sp>
    </p:spTree>
    <p:extLst>
      <p:ext uri="{BB962C8B-B14F-4D97-AF65-F5344CB8AC3E}">
        <p14:creationId xmlns:p14="http://schemas.microsoft.com/office/powerpoint/2010/main" val="1871088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慢启动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7"/>
            <a:ext cx="10515600" cy="47027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在新建的连接（或沉寂了一段时间的连接）上，以什么速率发送数据（此时接收窗口达最大值）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?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早期的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协议：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发送端仅以接收窗口大小限制发送速率，网络经常因为拥塞而崩溃！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采用“加性增”增大发送窗口，太慢！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在新建连接上，令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cwnd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= 1 MSS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，起始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速度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 MSS/RTT</a:t>
            </a:r>
          </a:p>
          <a:p>
            <a:pPr lvl="1">
              <a:lnSpc>
                <a:spcPct val="11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然而，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网络中的可用带宽可能远大于MSS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/RTT 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慢启动的基本思想：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在新建连接上指数增大cwnd，直至检测到丢包（此时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终止慢启动）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希望迅速增大cwnd至可用的发送速度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70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6.3.7  </a:t>
            </a:r>
            <a:r>
              <a:rPr kumimoji="1" lang="zh-CN" altLang="en-US" dirty="0"/>
              <a:t>面向连接的传输：拥塞控制</a:t>
            </a:r>
          </a:p>
        </p:txBody>
      </p:sp>
    </p:spTree>
    <p:extLst>
      <p:ext uri="{BB962C8B-B14F-4D97-AF65-F5344CB8AC3E}">
        <p14:creationId xmlns:p14="http://schemas.microsoft.com/office/powerpoint/2010/main" val="770227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慢启动的实施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510757"/>
            <a:ext cx="7007288" cy="4845593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慢启动的策略：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每经过一个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RTT，将cwnd加倍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慢启动的具体实施：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每收到一个</a:t>
            </a:r>
            <a:r>
              <a:rPr lang="en-US" altLang="zh-CN" sz="2000" dirty="0" err="1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ACK段，cwnd增加一个MSS</a:t>
            </a:r>
            <a:endParaRPr lang="en-US" altLang="zh-CN" sz="20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相当于每经过一个</a:t>
            </a:r>
            <a:r>
              <a:rPr lang="en-US" altLang="zh-CN" sz="2000" dirty="0" err="1"/>
              <a:t>RTT，将cwnd加倍</a:t>
            </a:r>
            <a:endParaRPr lang="en-US" altLang="zh-CN" sz="20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只要发送窗口允许，发送端可以立即发送下一个报文段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特点：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以一个很低的速率开始，按指数增大发送速率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慢启动比谁“慢”？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与早期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TCP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按接收窗口发送数据的策略相比，采用慢启动后发送速率的增长较慢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lvl="1" indent="0">
              <a:buNone/>
            </a:pPr>
            <a:endParaRPr lang="en-US" altLang="zh-CN" dirty="0">
              <a:solidFill>
                <a:srgbClr val="FE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71</a:t>
            </a:fld>
            <a:endParaRPr kumimoji="1"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8062914" y="1674066"/>
            <a:ext cx="3252791" cy="4335463"/>
            <a:chOff x="6477001" y="1752600"/>
            <a:chExt cx="3252791" cy="4335463"/>
          </a:xfrm>
        </p:grpSpPr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6884989" y="2387601"/>
              <a:ext cx="2505075" cy="3524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4556232"/>
                </p:ext>
              </p:extLst>
            </p:nvPr>
          </p:nvGraphicFramePr>
          <p:xfrm>
            <a:off x="6477001" y="1752601"/>
            <a:ext cx="485775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1307263" imgH="1084139" progId="MS_ClipArt_Gallery.2">
                    <p:embed/>
                  </p:oleObj>
                </mc:Choice>
                <mc:Fallback>
                  <p:oleObj name="Clip" r:id="rId2" imgW="1307263" imgH="1084139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7001" y="1752601"/>
                          <a:ext cx="485775" cy="385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6921542" y="1752600"/>
              <a:ext cx="77938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Host A</a:t>
              </a:r>
              <a:endPara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 rot="408567">
              <a:off x="7891464" y="2354263"/>
              <a:ext cx="12080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one segment</a:t>
              </a:r>
              <a:endParaRPr lang="en-US" altLang="zh-CN" sz="1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 rot="16200000">
              <a:off x="6472958" y="2590900"/>
              <a:ext cx="47481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dirty="0">
                  <a:latin typeface="DengXian" panose="02010600030101010101" pitchFamily="2" charset="-122"/>
                  <a:ea typeface="宋体" panose="02010600030101010101" pitchFamily="2" charset="-122"/>
                </a:rPr>
                <a:t>RTT</a:t>
              </a:r>
              <a:endPara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8839432"/>
                </p:ext>
              </p:extLst>
            </p:nvPr>
          </p:nvGraphicFramePr>
          <p:xfrm>
            <a:off x="9134476" y="1762126"/>
            <a:ext cx="485775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1307263" imgH="1084139" progId="MS_ClipArt_Gallery.2">
                    <p:embed/>
                  </p:oleObj>
                </mc:Choice>
                <mc:Fallback>
                  <p:oleObj name="Clip" r:id="rId2" imgW="1307263" imgH="1084139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34476" y="1762126"/>
                          <a:ext cx="485775" cy="385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8442437" y="1771650"/>
              <a:ext cx="76495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DengXian" panose="02010600030101010101" pitchFamily="2" charset="-122"/>
                  <a:ea typeface="宋体" panose="02010600030101010101" pitchFamily="2" charset="-122"/>
                </a:rPr>
                <a:t>Host B</a:t>
              </a:r>
              <a:endPara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6880225" y="2201863"/>
              <a:ext cx="0" cy="38481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9394825" y="2239963"/>
              <a:ext cx="0" cy="38481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H="1" flipV="1">
              <a:off x="6699251" y="2373314"/>
              <a:ext cx="4763" cy="2190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6708776" y="2935289"/>
              <a:ext cx="4763" cy="2238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V="1">
              <a:off x="6861176" y="2792414"/>
              <a:ext cx="2505075" cy="3524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" name="Group 18"/>
            <p:cNvGrpSpPr>
              <a:grpSpLocks/>
            </p:cNvGrpSpPr>
            <p:nvPr/>
          </p:nvGrpSpPr>
          <p:grpSpPr bwMode="auto">
            <a:xfrm>
              <a:off x="9107492" y="5538788"/>
              <a:ext cx="622300" cy="369887"/>
              <a:chOff x="3316" y="3530"/>
              <a:chExt cx="392" cy="233"/>
            </a:xfrm>
          </p:grpSpPr>
          <p:sp>
            <p:nvSpPr>
              <p:cNvPr id="35" name="Rectangle 19"/>
              <p:cNvSpPr>
                <a:spLocks noChangeArrowheads="1"/>
              </p:cNvSpPr>
              <p:nvPr/>
            </p:nvSpPr>
            <p:spPr bwMode="auto">
              <a:xfrm>
                <a:off x="3342" y="3576"/>
                <a:ext cx="324" cy="1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600" dirty="0">
                  <a:latin typeface="DengXian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Text Box 20"/>
              <p:cNvSpPr txBox="1">
                <a:spLocks noChangeArrowheads="1"/>
              </p:cNvSpPr>
              <p:nvPr/>
            </p:nvSpPr>
            <p:spPr bwMode="auto">
              <a:xfrm>
                <a:off x="3316" y="3530"/>
                <a:ext cx="39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Char char="r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ZapfDingbats" pitchFamily="82" charset="2"/>
                  <a:buChar char="m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DengXian" panose="02010600030101010101" pitchFamily="2" charset="-122"/>
                    <a:ea typeface="宋体" panose="02010600030101010101" pitchFamily="2" charset="-122"/>
                  </a:rPr>
                  <a:t>time</a:t>
                </a:r>
                <a:endPara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" name="Line 21"/>
            <p:cNvSpPr>
              <a:spLocks noChangeShapeType="1"/>
            </p:cNvSpPr>
            <p:nvPr/>
          </p:nvSpPr>
          <p:spPr bwMode="auto">
            <a:xfrm>
              <a:off x="6889751" y="3168651"/>
              <a:ext cx="2505075" cy="3524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>
              <a:off x="6884989" y="3254376"/>
              <a:ext cx="2505075" cy="3524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3"/>
            <p:cNvSpPr>
              <a:spLocks noChangeShapeType="1"/>
            </p:cNvSpPr>
            <p:nvPr/>
          </p:nvSpPr>
          <p:spPr bwMode="auto">
            <a:xfrm flipV="1">
              <a:off x="6884989" y="3778250"/>
              <a:ext cx="2528887" cy="3619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 flipV="1">
              <a:off x="6858001" y="4038601"/>
              <a:ext cx="2505075" cy="3524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 rot="408567">
              <a:off x="7889875" y="3140075"/>
              <a:ext cx="12779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two segments</a:t>
              </a:r>
              <a:endParaRPr lang="en-US" altLang="zh-CN" sz="1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 rot="408567">
              <a:off x="7981951" y="4154488"/>
              <a:ext cx="13065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Char char="r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ZapfDingbats" pitchFamily="82" charset="2"/>
                <a:buChar char="m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four segments</a:t>
              </a:r>
              <a:endParaRPr lang="en-US" altLang="zh-CN" sz="1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" name="Group 27"/>
            <p:cNvGrpSpPr>
              <a:grpSpLocks/>
            </p:cNvGrpSpPr>
            <p:nvPr/>
          </p:nvGrpSpPr>
          <p:grpSpPr bwMode="auto">
            <a:xfrm>
              <a:off x="6880226" y="4173538"/>
              <a:ext cx="2519363" cy="652462"/>
              <a:chOff x="3954" y="2214"/>
              <a:chExt cx="1587" cy="411"/>
            </a:xfrm>
          </p:grpSpPr>
          <p:sp>
            <p:nvSpPr>
              <p:cNvPr id="31" name="Line 28"/>
              <p:cNvSpPr>
                <a:spLocks noChangeShapeType="1"/>
              </p:cNvSpPr>
              <p:nvPr/>
            </p:nvSpPr>
            <p:spPr bwMode="auto">
              <a:xfrm>
                <a:off x="3963" y="2214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29"/>
              <p:cNvSpPr>
                <a:spLocks noChangeShapeType="1"/>
              </p:cNvSpPr>
              <p:nvPr/>
            </p:nvSpPr>
            <p:spPr bwMode="auto">
              <a:xfrm>
                <a:off x="3954" y="2274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Line 30"/>
              <p:cNvSpPr>
                <a:spLocks noChangeShapeType="1"/>
              </p:cNvSpPr>
              <p:nvPr/>
            </p:nvSpPr>
            <p:spPr bwMode="auto">
              <a:xfrm>
                <a:off x="3963" y="2340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Line 31"/>
              <p:cNvSpPr>
                <a:spLocks noChangeShapeType="1"/>
              </p:cNvSpPr>
              <p:nvPr/>
            </p:nvSpPr>
            <p:spPr bwMode="auto">
              <a:xfrm>
                <a:off x="3957" y="2403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" name="Group 32"/>
            <p:cNvGrpSpPr>
              <a:grpSpLocks/>
            </p:cNvGrpSpPr>
            <p:nvPr/>
          </p:nvGrpSpPr>
          <p:grpSpPr bwMode="auto">
            <a:xfrm flipV="1">
              <a:off x="7165975" y="4554539"/>
              <a:ext cx="2228850" cy="604837"/>
              <a:chOff x="3954" y="2214"/>
              <a:chExt cx="1587" cy="411"/>
            </a:xfrm>
          </p:grpSpPr>
          <p:sp>
            <p:nvSpPr>
              <p:cNvPr id="27" name="Line 33"/>
              <p:cNvSpPr>
                <a:spLocks noChangeShapeType="1"/>
              </p:cNvSpPr>
              <p:nvPr/>
            </p:nvSpPr>
            <p:spPr bwMode="auto">
              <a:xfrm>
                <a:off x="3963" y="2214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34"/>
              <p:cNvSpPr>
                <a:spLocks noChangeShapeType="1"/>
              </p:cNvSpPr>
              <p:nvPr/>
            </p:nvSpPr>
            <p:spPr bwMode="auto">
              <a:xfrm>
                <a:off x="3954" y="2274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35"/>
              <p:cNvSpPr>
                <a:spLocks noChangeShapeType="1"/>
              </p:cNvSpPr>
              <p:nvPr/>
            </p:nvSpPr>
            <p:spPr bwMode="auto">
              <a:xfrm>
                <a:off x="3963" y="2340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36"/>
              <p:cNvSpPr>
                <a:spLocks noChangeShapeType="1"/>
              </p:cNvSpPr>
              <p:nvPr/>
            </p:nvSpPr>
            <p:spPr bwMode="auto">
              <a:xfrm>
                <a:off x="3957" y="2403"/>
                <a:ext cx="1578" cy="22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7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6.3.7  </a:t>
            </a:r>
            <a:r>
              <a:rPr kumimoji="1" lang="zh-CN" altLang="en-US" dirty="0"/>
              <a:t>面向连接的传输：拥塞控制</a:t>
            </a:r>
          </a:p>
        </p:txBody>
      </p:sp>
    </p:spTree>
    <p:extLst>
      <p:ext uri="{BB962C8B-B14F-4D97-AF65-F5344CB8AC3E}">
        <p14:creationId xmlns:p14="http://schemas.microsoft.com/office/powerpoint/2010/main" val="3516239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区分不同的丢包事件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2947" y="1543808"/>
            <a:ext cx="5265145" cy="458669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超时和收到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个重复的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ACK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，它们反映出来的网络拥塞程度是一样的吗？ </a:t>
            </a: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当然不一样！</a:t>
            </a:r>
            <a:endParaRPr lang="en-US" altLang="zh-CN" sz="26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超时：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说明网络交付能力很差</a:t>
            </a:r>
            <a:endParaRPr lang="en-US" altLang="zh-CN" sz="2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收到</a:t>
            </a:r>
            <a:r>
              <a:rPr lang="en-US" altLang="zh-CN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3个</a:t>
            </a: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重复的</a:t>
            </a:r>
            <a:r>
              <a:rPr lang="en-US" altLang="zh-CN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ACK：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说明网络仍有一定的交付能力</a:t>
            </a: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目前的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TCP实现区分上述两种不同的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丢包事件</a:t>
            </a:r>
            <a:endParaRPr lang="en-US" altLang="zh-CN" sz="2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6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sz="2200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72</a:t>
            </a:fld>
            <a:endParaRPr kumimoji="1" lang="zh-CN" altLang="en-US" dirty="0"/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6.3.7  </a:t>
            </a:r>
            <a:r>
              <a:rPr kumimoji="1" lang="zh-CN" altLang="en-US" dirty="0"/>
              <a:t>面向连接的传输：拥塞控制</a:t>
            </a:r>
          </a:p>
        </p:txBody>
      </p:sp>
    </p:spTree>
    <p:extLst>
      <p:ext uri="{BB962C8B-B14F-4D97-AF65-F5344CB8AC3E}">
        <p14:creationId xmlns:p14="http://schemas.microsoft.com/office/powerpoint/2010/main" val="495211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区分不同的丢包事件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2947" y="1543808"/>
            <a:ext cx="5265145" cy="458669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超时和收到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个重复的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ACK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，它们反映出来的网络拥塞程度是一样的吗？ </a:t>
            </a: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当然不一样！</a:t>
            </a:r>
            <a:endParaRPr lang="en-US" altLang="zh-CN" sz="26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超时：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说明网络交付能力很差</a:t>
            </a:r>
            <a:endParaRPr lang="en-US" altLang="zh-CN" sz="2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收到</a:t>
            </a:r>
            <a:r>
              <a:rPr lang="en-US" altLang="zh-CN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3个</a:t>
            </a:r>
            <a:r>
              <a:rPr lang="zh-CN" altLang="en-US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重复的</a:t>
            </a:r>
            <a:r>
              <a:rPr lang="en-US" altLang="zh-CN" sz="26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ACK：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说明网络仍有一定的交付能力</a:t>
            </a: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目前的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TCP实现区分上述两种不同的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丢包事件</a:t>
            </a:r>
            <a:endParaRPr lang="en-US" altLang="zh-CN" sz="2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600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sz="2200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73</a:t>
            </a:fld>
            <a:endParaRPr kumimoji="1"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355080" y="1543808"/>
            <a:ext cx="5212632" cy="45866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收到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3个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重复的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ACK：</a:t>
            </a:r>
          </a:p>
          <a:p>
            <a:pPr lvl="1"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设置</a:t>
            </a:r>
            <a:r>
              <a:rPr lang="en-US" altLang="zh-CN" sz="28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ssthresh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(slow start threshold)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sz="2600" dirty="0">
                <a:latin typeface="等线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600" dirty="0" err="1">
                <a:latin typeface="等线" panose="02010600030101010101" pitchFamily="2" charset="-122"/>
                <a:ea typeface="宋体" panose="02010600030101010101" pitchFamily="2" charset="-122"/>
              </a:rPr>
              <a:t>cwnd</a:t>
            </a:r>
            <a:r>
              <a:rPr lang="en-US" altLang="zh-CN" sz="2600" dirty="0">
                <a:latin typeface="等线" panose="02010600030101010101" pitchFamily="2" charset="-122"/>
                <a:ea typeface="宋体" panose="02010600030101010101" pitchFamily="2" charset="-122"/>
              </a:rPr>
              <a:t>/2</a:t>
            </a:r>
            <a:endParaRPr lang="en-US" altLang="zh-CN" sz="2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600" dirty="0" err="1">
                <a:latin typeface="等线" panose="02010600030101010101" pitchFamily="2" charset="-122"/>
                <a:ea typeface="等线" panose="02010600030101010101" pitchFamily="2" charset="-122"/>
              </a:rPr>
              <a:t>将cwnd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降至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ssthresh+3</a:t>
            </a:r>
            <a:endParaRPr lang="en-US" altLang="zh-CN" sz="2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使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用AIMD调节cwnd</a:t>
            </a: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超时： </a:t>
            </a:r>
            <a:endParaRPr lang="en-US" altLang="zh-CN" sz="2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设置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ssthresh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sz="2600" dirty="0">
                <a:latin typeface="等线" panose="02010600030101010101" pitchFamily="2" charset="-122"/>
                <a:ea typeface="宋体" panose="02010600030101010101" pitchFamily="2" charset="-122"/>
              </a:rPr>
              <a:t>=cwnd/2</a:t>
            </a:r>
            <a:endParaRPr lang="en-US" altLang="zh-CN" sz="2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cwnd=1MSS</a:t>
            </a:r>
          </a:p>
          <a:p>
            <a:pPr lvl="1"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使用慢启动增大</a:t>
            </a:r>
            <a:r>
              <a:rPr lang="en-US" altLang="zh-CN" sz="2600" dirty="0" err="1">
                <a:latin typeface="等线" panose="02010600030101010101" pitchFamily="2" charset="-122"/>
                <a:ea typeface="等线" panose="02010600030101010101" pitchFamily="2" charset="-122"/>
              </a:rPr>
              <a:t>cwnd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至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ssthresh</a:t>
            </a:r>
            <a:endParaRPr lang="en-US" altLang="zh-CN" sz="2600" dirty="0"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使用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AIMD</a:t>
            </a:r>
            <a:r>
              <a:rPr lang="zh-CN" altLang="en-US" sz="2600" dirty="0">
                <a:latin typeface="等线" panose="02010600030101010101" pitchFamily="2" charset="-122"/>
                <a:ea typeface="等线" panose="02010600030101010101" pitchFamily="2" charset="-122"/>
              </a:rPr>
              <a:t>调节</a:t>
            </a:r>
            <a:r>
              <a:rPr lang="en-US" altLang="zh-CN" sz="2600" dirty="0">
                <a:latin typeface="等线" panose="02010600030101010101" pitchFamily="2" charset="-122"/>
                <a:ea typeface="等线" panose="02010600030101010101" pitchFamily="2" charset="-122"/>
              </a:rPr>
              <a:t>cwnd</a:t>
            </a:r>
            <a:endParaRPr lang="en-US" altLang="zh-CN" dirty="0"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6.3.7  </a:t>
            </a:r>
            <a:r>
              <a:rPr kumimoji="1" lang="zh-CN" altLang="en-US" dirty="0"/>
              <a:t>面向连接的传输：拥塞控制</a:t>
            </a:r>
          </a:p>
        </p:txBody>
      </p:sp>
    </p:spTree>
    <p:extLst>
      <p:ext uri="{BB962C8B-B14F-4D97-AF65-F5344CB8AC3E}">
        <p14:creationId xmlns:p14="http://schemas.microsoft.com/office/powerpoint/2010/main" val="869628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0639" y="432127"/>
            <a:ext cx="7772400" cy="827087"/>
          </a:xfrm>
        </p:spPr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拥塞控制的</a:t>
            </a:r>
            <a:r>
              <a:rPr lang="en-US" altLang="zh-CN" dirty="0" err="1"/>
              <a:t>实现</a:t>
            </a:r>
            <a:endParaRPr lang="en-US" altLang="zh-CN" dirty="0"/>
          </a:p>
        </p:txBody>
      </p:sp>
      <p:sp>
        <p:nvSpPr>
          <p:cNvPr id="163843" name="Rectangle 3"/>
          <p:cNvSpPr>
            <a:spLocks noGrp="1" noChangeArrowheads="1"/>
          </p:cNvSpPr>
          <p:nvPr>
            <p:ph idx="1"/>
          </p:nvPr>
        </p:nvSpPr>
        <p:spPr>
          <a:xfrm>
            <a:off x="562775" y="1386556"/>
            <a:ext cx="5411305" cy="455117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发送方维护</a:t>
            </a: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变量ssthresh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发生丢包时，ssthresh=cwnd/2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ssthresh是从慢启动转为拥塞避免的分水岭：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 err="1">
                <a:latin typeface="等线" panose="02010600030101010101" pitchFamily="2" charset="-122"/>
                <a:ea typeface="等线" panose="02010600030101010101" pitchFamily="2" charset="-122"/>
              </a:rPr>
              <a:t>cwnd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低于</a:t>
            </a:r>
            <a:r>
              <a:rPr lang="en-US" altLang="zh-CN" sz="2000" dirty="0" err="1"/>
              <a:t>ssthresh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时，执行慢启动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200" dirty="0" err="1">
                <a:latin typeface="等线" panose="02010600030101010101" pitchFamily="2" charset="-122"/>
                <a:ea typeface="等线" panose="02010600030101010101" pitchFamily="2" charset="-122"/>
              </a:rPr>
              <a:t>cwnd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高于</a:t>
            </a:r>
            <a:r>
              <a:rPr lang="en-US" altLang="zh-CN" sz="2000" dirty="0" err="1"/>
              <a:t>ssthresh</a:t>
            </a:r>
            <a:r>
              <a:rPr lang="zh-CN" altLang="en-US" sz="2000" dirty="0"/>
              <a:t>时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</a:rPr>
              <a:t>：执行拥塞避免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拥塞避免阶段，拥塞窗口线性增长：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 eaLnBrk="0" hangingPunct="0">
              <a:lnSpc>
                <a:spcPct val="120000"/>
              </a:lnSpc>
            </a:pP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每当收到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ACK</a:t>
            </a:r>
            <a:r>
              <a:rPr lang="zh-CN" altLang="en-US" sz="22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cwnd=cwnd + MSS*(MSS/</a:t>
            </a:r>
            <a:r>
              <a:rPr lang="en-US" altLang="zh-CN" sz="22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cwnd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 eaLnBrk="0" hangingPunct="0">
              <a:lnSpc>
                <a:spcPct val="120000"/>
              </a:lnSpc>
            </a:pPr>
            <a:r>
              <a:rPr lang="zh-CN" altLang="en-US" sz="2200" dirty="0">
                <a:cs typeface="Arial" pitchFamily="34" charset="0"/>
              </a:rPr>
              <a:t>相当于每经过一个</a:t>
            </a:r>
            <a:r>
              <a:rPr lang="en-US" altLang="zh-CN" sz="2200" dirty="0">
                <a:cs typeface="Arial" pitchFamily="34" charset="0"/>
              </a:rPr>
              <a:t>RTT</a:t>
            </a:r>
            <a:r>
              <a:rPr lang="zh-CN" altLang="en-US" sz="2200" dirty="0">
                <a:cs typeface="Arial" pitchFamily="34" charset="0"/>
              </a:rPr>
              <a:t>，</a:t>
            </a:r>
            <a:r>
              <a:rPr lang="en-US" altLang="zh-CN" sz="2200" dirty="0" err="1">
                <a:cs typeface="Arial" pitchFamily="34" charset="0"/>
              </a:rPr>
              <a:t>cwnd</a:t>
            </a:r>
            <a:r>
              <a:rPr lang="zh-CN" altLang="en-US" sz="2200" dirty="0">
                <a:cs typeface="Arial" pitchFamily="34" charset="0"/>
              </a:rPr>
              <a:t>增加一个</a:t>
            </a:r>
            <a:r>
              <a:rPr lang="en-US" altLang="zh-CN" sz="2200" dirty="0">
                <a:cs typeface="Arial" pitchFamily="34" charset="0"/>
              </a:rPr>
              <a:t>MSS</a:t>
            </a:r>
            <a:endParaRPr lang="en-US" altLang="zh-CN" sz="2200" dirty="0">
              <a:cs typeface="Times New Roman" pitchFamily="18" charset="0"/>
            </a:endParaRPr>
          </a:p>
          <a:p>
            <a:pPr lvl="1" eaLnBrk="0" hangingPunct="0">
              <a:lnSpc>
                <a:spcPct val="120000"/>
              </a:lnSpc>
            </a:pP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0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6.3.7  </a:t>
            </a:r>
            <a:r>
              <a:rPr kumimoji="1" lang="zh-CN" altLang="en-US" dirty="0"/>
              <a:t>面向连接的传输：拥塞控制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179F81-83FD-4B11-B30D-FEB879D8C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3" y="1386556"/>
            <a:ext cx="4799647" cy="3041409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6260672" y="4555307"/>
            <a:ext cx="5604733" cy="16656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检测到3个重复的ACK后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（黑色线）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</a:p>
          <a:p>
            <a:pPr lvl="1"/>
            <a:r>
              <a:rPr lang="en-US" altLang="zh-CN" sz="22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cwnd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 ssthresh+3，线性增长 </a:t>
            </a:r>
          </a:p>
          <a:p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检测到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超时后（蓝色线）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cwnd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=1 MSS，慢启动</a:t>
            </a:r>
            <a:endParaRPr lang="en-US" altLang="zh-CN" sz="2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34403E48-D3F2-DB40-9AF1-07783D8EA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/>
              <a:t>74</a:t>
            </a:fld>
            <a:endParaRPr kumimoji="1"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791BD-CF3B-C74F-8DC2-D0B6A852841A}"/>
              </a:ext>
            </a:extLst>
          </p:cNvPr>
          <p:cNvSpPr txBox="1"/>
          <p:nvPr/>
        </p:nvSpPr>
        <p:spPr>
          <a:xfrm>
            <a:off x="8710136" y="1444788"/>
            <a:ext cx="178797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N" sz="1400" dirty="0"/>
              <a:t>检测到</a:t>
            </a:r>
            <a:r>
              <a:rPr lang="en-US" altLang="zh-CN" sz="1400" dirty="0"/>
              <a:t>3</a:t>
            </a:r>
            <a:r>
              <a:rPr lang="zh-CN" altLang="en-US" sz="1400" dirty="0"/>
              <a:t>个重复</a:t>
            </a:r>
            <a:r>
              <a:rPr lang="en-US" altLang="zh-CN" sz="1400" dirty="0"/>
              <a:t>ACK</a:t>
            </a:r>
            <a:endParaRPr lang="en-C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00EB82-BA11-0345-82AE-CEAD3837F8C1}"/>
              </a:ext>
            </a:extLst>
          </p:cNvPr>
          <p:cNvSpPr txBox="1"/>
          <p:nvPr/>
        </p:nvSpPr>
        <p:spPr>
          <a:xfrm>
            <a:off x="7858817" y="3595151"/>
            <a:ext cx="124689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/>
              <a:t>检测到超时</a:t>
            </a:r>
            <a:endParaRPr lang="en-CN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BACE3D3-BA1F-7343-8623-899E85C4A3D7}"/>
              </a:ext>
            </a:extLst>
          </p:cNvPr>
          <p:cNvCxnSpPr>
            <a:cxnSpLocks/>
          </p:cNvCxnSpPr>
          <p:nvPr/>
        </p:nvCxnSpPr>
        <p:spPr>
          <a:xfrm>
            <a:off x="8925636" y="3749040"/>
            <a:ext cx="380924" cy="0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5035AE-984A-224B-A24F-0AD968011CF1}"/>
              </a:ext>
            </a:extLst>
          </p:cNvPr>
          <p:cNvCxnSpPr>
            <a:cxnSpLocks/>
          </p:cNvCxnSpPr>
          <p:nvPr/>
        </p:nvCxnSpPr>
        <p:spPr>
          <a:xfrm flipH="1">
            <a:off x="9306560" y="1778000"/>
            <a:ext cx="314960" cy="7672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62EDFA8-DD5D-F54F-BAF5-2436CA3BE56E}"/>
              </a:ext>
            </a:extLst>
          </p:cNvPr>
          <p:cNvSpPr/>
          <p:nvPr/>
        </p:nvSpPr>
        <p:spPr>
          <a:xfrm>
            <a:off x="7685263" y="3415352"/>
            <a:ext cx="1052169" cy="166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76F8D7-8797-7A4B-84AD-225D731015C5}"/>
              </a:ext>
            </a:extLst>
          </p:cNvPr>
          <p:cNvSpPr/>
          <p:nvPr/>
        </p:nvSpPr>
        <p:spPr>
          <a:xfrm rot="19678213">
            <a:off x="9607639" y="2161773"/>
            <a:ext cx="1052169" cy="166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3E8554-FA4E-F147-B831-FF665E3B2C88}"/>
              </a:ext>
            </a:extLst>
          </p:cNvPr>
          <p:cNvSpPr/>
          <p:nvPr/>
        </p:nvSpPr>
        <p:spPr>
          <a:xfrm>
            <a:off x="10240395" y="2161772"/>
            <a:ext cx="1052169" cy="166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80005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发送端的事件与动作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75</a:t>
            </a:fld>
            <a:endParaRPr kumimoji="1" lang="zh-CN" altLang="en-US" dirty="0"/>
          </a:p>
        </p:txBody>
      </p:sp>
      <p:graphicFrame>
        <p:nvGraphicFramePr>
          <p:cNvPr id="5" name="Group 3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489322"/>
              </p:ext>
            </p:extLst>
          </p:nvPr>
        </p:nvGraphicFramePr>
        <p:xfrm>
          <a:off x="731520" y="1419225"/>
          <a:ext cx="10744201" cy="4752995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1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itchFamily="18" charset="0"/>
                        </a:rPr>
                        <a:t>状态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itchFamily="18" charset="0"/>
                        </a:rPr>
                        <a:t>事件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itchFamily="18" charset="0"/>
                        </a:rPr>
                        <a:t>TCP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itchFamily="18" charset="0"/>
                        </a:rPr>
                        <a:t>发送方操作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itchFamily="18" charset="0"/>
                        </a:rPr>
                        <a:t>说明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8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慢启动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(SS)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收到新的确认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 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cwnd = cwnd + MSS, 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If (cwnd &gt; ssthresh)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      set state to “Congestion  Avoidance”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  <a:defRPr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+mn-ea"/>
                        </a:rPr>
                        <a:t>每收到一个</a:t>
                      </a: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+mn-ea"/>
                        </a:rPr>
                        <a:t>ACK段，cwnd增加一个MSS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等线" panose="02010600030101010101" pitchFamily="2" charset="-122"/>
                          <a:ea typeface="+mn-ea"/>
                        </a:rPr>
                        <a:t>；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等线" panose="02010600030101010101" pitchFamily="2" charset="-122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即每经过一个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RTT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，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cwnd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加倍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6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拥塞避免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 (CA) 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itchFamily="18" charset="0"/>
                        </a:rPr>
                        <a:t>收到新的确认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cwnd = cwnd+MSS * (MSS/cwnd)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     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每经过一个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RTT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，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cwnd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增加一个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MSS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5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SS or CA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收到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3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个重复的确认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ssthresh = cwnd/2,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cwnd =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+mn-ea"/>
                          <a:cs typeface="Arial" pitchFamily="34" charset="0"/>
                        </a:rPr>
                        <a:t>ssthresh+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3, 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Set state to “Congestion Avoidance”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cwnd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减半后加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3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，然后线性增长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05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SS or CA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超时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ssthresh = cwnd/2,      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cwnd = 1 MSS,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Set state to “Slow Start”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cwnd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降为一个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MSS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，进入慢启动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SS or CA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itchFamily="18" charset="0"/>
                        </a:rPr>
                        <a:t>收到一个重复的确认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统计收到的重复确认数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33400" algn="ctr"/>
                          <a:tab pos="1651000" algn="ctr"/>
                          <a:tab pos="2768600" algn="ctr"/>
                          <a:tab pos="3886200" algn="ctr"/>
                        </a:tabLst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cwnd 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和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 ssthresh 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itchFamily="34" charset="0"/>
                        </a:rPr>
                        <a:t>都不变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itchFamily="18" charset="0"/>
                      </a:endParaRPr>
                    </a:p>
                  </a:txBody>
                  <a:tcPr marL="91443" marR="91443" marT="45725" marB="4572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4" y="6489303"/>
            <a:ext cx="2897557" cy="365125"/>
          </a:xfrm>
        </p:spPr>
        <p:txBody>
          <a:bodyPr/>
          <a:lstStyle/>
          <a:p>
            <a:r>
              <a:rPr kumimoji="1" lang="en-US" altLang="zh-CN" dirty="0"/>
              <a:t>6.3.7  </a:t>
            </a:r>
            <a:r>
              <a:rPr kumimoji="1" lang="zh-CN" altLang="en-US" dirty="0"/>
              <a:t>面向连接的传输：拥塞控制</a:t>
            </a:r>
          </a:p>
        </p:txBody>
      </p:sp>
    </p:spTree>
    <p:extLst>
      <p:ext uri="{BB962C8B-B14F-4D97-AF65-F5344CB8AC3E}">
        <p14:creationId xmlns:p14="http://schemas.microsoft.com/office/powerpoint/2010/main" val="3739704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600" dirty="0"/>
              <a:t>掌握传输层服务原理</a:t>
            </a:r>
            <a:endParaRPr lang="en-US" altLang="zh-CN" sz="2600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传输层复用和分用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可靠数据传输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流量控制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拥塞控制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sz="2600" dirty="0"/>
              <a:t>掌握因特网传输层协议：</a:t>
            </a:r>
            <a:endParaRPr lang="en-US" altLang="zh-CN" sz="2600" dirty="0"/>
          </a:p>
          <a:p>
            <a:pPr lvl="1">
              <a:lnSpc>
                <a:spcPct val="130000"/>
              </a:lnSpc>
            </a:pPr>
            <a:r>
              <a:rPr lang="en-US" altLang="zh-CN" dirty="0"/>
              <a:t>UDP</a:t>
            </a:r>
            <a:r>
              <a:rPr lang="zh-CN" altLang="en-US" dirty="0"/>
              <a:t>协议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/>
              <a:t>TCP</a:t>
            </a:r>
            <a:r>
              <a:rPr lang="zh-CN" altLang="en-US" dirty="0"/>
              <a:t>协议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76</a:t>
            </a:fld>
            <a:endParaRPr kumimoji="1" lang="zh-CN" altLang="en-US" dirty="0"/>
          </a:p>
        </p:txBody>
      </p:sp>
      <p:sp>
        <p:nvSpPr>
          <p:cNvPr id="5" name="日期占位符 8">
            <a:extLst>
              <a:ext uri="{FF2B5EF4-FFF2-40B4-BE49-F238E27FC236}">
                <a16:creationId xmlns:a16="http://schemas.microsoft.com/office/drawing/2014/main" id="{CB384165-537D-5F4A-91EF-30943A5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7016" y="6489303"/>
            <a:ext cx="2743200" cy="365125"/>
          </a:xfrm>
        </p:spPr>
        <p:txBody>
          <a:bodyPr/>
          <a:lstStyle/>
          <a:p>
            <a:r>
              <a:rPr kumimoji="1" lang="en-US" altLang="zh-CN" dirty="0"/>
              <a:t>6  </a:t>
            </a:r>
            <a:r>
              <a:rPr kumimoji="1" lang="zh-CN" altLang="en-US" dirty="0"/>
              <a:t>传输层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1409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7|21.6|61.3|57.4|4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6.7|56.8|84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4|48.2|66.4|42.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13126</TotalTime>
  <Words>7091</Words>
  <Application>Microsoft Office PowerPoint</Application>
  <PresentationFormat>宽屏</PresentationFormat>
  <Paragraphs>1269</Paragraphs>
  <Slides>76</Slides>
  <Notes>43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76</vt:i4>
      </vt:variant>
    </vt:vector>
  </HeadingPairs>
  <TitlesOfParts>
    <vt:vector size="93" baseType="lpstr">
      <vt:lpstr>Arial Unicode MS</vt:lpstr>
      <vt:lpstr>MS PGothic</vt:lpstr>
      <vt:lpstr>ZapfDingbats</vt:lpstr>
      <vt:lpstr>DengXian</vt:lpstr>
      <vt:lpstr>DengXian</vt:lpstr>
      <vt:lpstr>SimHei</vt:lpstr>
      <vt:lpstr>宋体</vt:lpstr>
      <vt:lpstr>Arial</vt:lpstr>
      <vt:lpstr>Calibri</vt:lpstr>
      <vt:lpstr>Courier New</vt:lpstr>
      <vt:lpstr>Gill Sans MT</vt:lpstr>
      <vt:lpstr>Tahoma</vt:lpstr>
      <vt:lpstr>Times New Roman</vt:lpstr>
      <vt:lpstr>Wingdings</vt:lpstr>
      <vt:lpstr>Office 主题​​</vt:lpstr>
      <vt:lpstr>Clip</vt:lpstr>
      <vt:lpstr>VISIO</vt:lpstr>
      <vt:lpstr>第六章 传输层</vt:lpstr>
      <vt:lpstr>本章目标</vt:lpstr>
      <vt:lpstr>本章内容</vt:lpstr>
      <vt:lpstr>PowerPoint 演示文稿</vt:lpstr>
      <vt:lpstr>不同终端上的进程如何通信？</vt:lpstr>
      <vt:lpstr>传输层和网络层的关系：一个类比例子</vt:lpstr>
      <vt:lpstr>传输层提供什么服务？</vt:lpstr>
      <vt:lpstr>因特网传输层提供的服务</vt:lpstr>
      <vt:lpstr>本章内容</vt:lpstr>
      <vt:lpstr>传输层基本服务</vt:lpstr>
      <vt:lpstr>如何进行复用和分用：类比的例子</vt:lpstr>
      <vt:lpstr>套接字标识与端口号</vt:lpstr>
      <vt:lpstr>套接字端口号的分配</vt:lpstr>
      <vt:lpstr>UDP分用的方法</vt:lpstr>
      <vt:lpstr>TCP服务器使用的套接字</vt:lpstr>
      <vt:lpstr>TCP分用: 举例</vt:lpstr>
      <vt:lpstr>小结</vt:lpstr>
      <vt:lpstr>本章内容</vt:lpstr>
      <vt:lpstr>UDP提供的服务</vt:lpstr>
      <vt:lpstr>UDP报文段结构</vt:lpstr>
      <vt:lpstr>UDP校验和（checksum）</vt:lpstr>
      <vt:lpstr>校验和计算：举例</vt:lpstr>
      <vt:lpstr>UDP校验和计算</vt:lpstr>
      <vt:lpstr>UDP校验和计算举例</vt:lpstr>
      <vt:lpstr>为什么需要UDP？</vt:lpstr>
      <vt:lpstr>本章内容</vt:lpstr>
      <vt:lpstr>TCP 概述</vt:lpstr>
      <vt:lpstr>本章内容</vt:lpstr>
      <vt:lpstr>TCP报文段结构</vt:lpstr>
      <vt:lpstr>重要的TCP选项</vt:lpstr>
      <vt:lpstr>发送序号和确认序号的含义</vt:lpstr>
      <vt:lpstr>发送序号和确认序号：使用举例</vt:lpstr>
      <vt:lpstr>本章内容</vt:lpstr>
      <vt:lpstr>TCP可靠数据传输概述</vt:lpstr>
      <vt:lpstr>一个高度简化的TCP协议</vt:lpstr>
      <vt:lpstr>TCP发送方要处理的事件</vt:lpstr>
      <vt:lpstr>TCP可能的重传场景</vt:lpstr>
      <vt:lpstr>TCP可靠数据传输概述</vt:lpstr>
      <vt:lpstr>TCP的接收端</vt:lpstr>
      <vt:lpstr>TCP接收端的事件和处理</vt:lpstr>
      <vt:lpstr>快速重传</vt:lpstr>
      <vt:lpstr>小结</vt:lpstr>
      <vt:lpstr>TCP结合了回退N协议和选择重传的优点</vt:lpstr>
      <vt:lpstr>本章内容</vt:lpstr>
      <vt:lpstr>TCP的接收端：接收缓存</vt:lpstr>
      <vt:lpstr>为什么UDP不需要流量控制</vt:lpstr>
      <vt:lpstr>TCP如何进行流量控制</vt:lpstr>
      <vt:lpstr>非零窗口通告</vt:lpstr>
      <vt:lpstr>零窗口探测的实现</vt:lpstr>
      <vt:lpstr>糊涂窗口综合症</vt:lpstr>
      <vt:lpstr>接收方启发式策略</vt:lpstr>
      <vt:lpstr>发送方启发式策略</vt:lpstr>
      <vt:lpstr>TCP流量控制小结</vt:lpstr>
      <vt:lpstr>本章内容</vt:lpstr>
      <vt:lpstr>建立TCP连接</vt:lpstr>
      <vt:lpstr>两次握手建立连接</vt:lpstr>
      <vt:lpstr>两次握手失败的情形</vt:lpstr>
      <vt:lpstr>TCP三次握手建立连接</vt:lpstr>
      <vt:lpstr>TCP三次握手建立连接</vt:lpstr>
      <vt:lpstr>关闭TCP连接</vt:lpstr>
      <vt:lpstr>客户/服务器经历的TCP状态序列</vt:lpstr>
      <vt:lpstr>本章内容</vt:lpstr>
      <vt:lpstr>网络拥塞的类比例子：交通拥堵</vt:lpstr>
      <vt:lpstr>网络拥塞的后果</vt:lpstr>
      <vt:lpstr>拥塞控制的常用方法</vt:lpstr>
      <vt:lpstr>本章内容</vt:lpstr>
      <vt:lpstr>TCP拥塞控制要解决的问题</vt:lpstr>
      <vt:lpstr>拥塞检测和速率限制</vt:lpstr>
      <vt:lpstr>拥塞窗口的调节策略：AIMD</vt:lpstr>
      <vt:lpstr>TCP慢启动</vt:lpstr>
      <vt:lpstr>慢启动的实施</vt:lpstr>
      <vt:lpstr>区分不同的丢包事件</vt:lpstr>
      <vt:lpstr>区分不同的丢包事件</vt:lpstr>
      <vt:lpstr>TCP拥塞控制的实现</vt:lpstr>
      <vt:lpstr>TCP发送端的事件与动作</vt:lpstr>
      <vt:lpstr>本章总结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Yong Cui</dc:creator>
  <cp:lastModifiedBy>文蔚 辜</cp:lastModifiedBy>
  <cp:revision>511</cp:revision>
  <dcterms:created xsi:type="dcterms:W3CDTF">2021-01-06T05:35:51Z</dcterms:created>
  <dcterms:modified xsi:type="dcterms:W3CDTF">2025-11-03T06:46:20Z</dcterms:modified>
</cp:coreProperties>
</file>