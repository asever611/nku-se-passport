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6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4" r:id="rId38"/>
    <p:sldId id="295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9386D-4E8D-4B35-9D79-048535FA51A4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78A11-B355-48F1-8A64-318678074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52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A509FA5-F6E2-4CF8-9351-E8E015EED98F}" type="slidenum">
              <a:rPr lang="en-US" altLang="zh-CN" sz="1200" smtClean="0"/>
              <a:pPr/>
              <a:t>26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975538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78A11-B355-48F1-8A64-31867807467F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819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7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9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98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99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33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02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9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858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12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87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08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47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5AD5-2B15-481F-9637-22A1EF8A98DA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A76A7-FBBF-4330-ABD0-FEA28C837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15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image" Target="../media/image1.png"/><Relationship Id="rId16" Type="http://schemas.openxmlformats.org/officeDocument/2006/relationships/image" Target="../media/image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1.wmf"/><Relationship Id="rId26" Type="http://schemas.openxmlformats.org/officeDocument/2006/relationships/image" Target="../media/image25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oleObject" Target="../embeddings/oleObject12.bin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4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26.wmf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Relationship Id="rId27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4.wmf"/><Relationship Id="rId3" Type="http://schemas.openxmlformats.org/officeDocument/2006/relationships/image" Target="../media/image27.wmf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2.bin"/><Relationship Id="rId2" Type="http://schemas.openxmlformats.org/officeDocument/2006/relationships/oleObject" Target="../embeddings/oleObject25.bin"/><Relationship Id="rId16" Type="http://schemas.openxmlformats.org/officeDocument/2006/relationships/image" Target="../media/image33.wmf"/><Relationship Id="rId20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2.wmf"/><Relationship Id="rId22" Type="http://schemas.openxmlformats.org/officeDocument/2006/relationships/image" Target="../media/image3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oleObject" Target="../embeddings/oleObject40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12" Type="http://schemas.openxmlformats.org/officeDocument/2006/relationships/image" Target="../media/image41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oleObject" Target="../embeddings/oleObject39.bin"/><Relationship Id="rId5" Type="http://schemas.openxmlformats.org/officeDocument/2006/relationships/image" Target="../media/image38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0.wmf"/><Relationship Id="rId14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7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2.wmf"/><Relationship Id="rId2" Type="http://schemas.openxmlformats.org/officeDocument/2006/relationships/image" Target="../media/image1.png"/><Relationship Id="rId16" Type="http://schemas.openxmlformats.org/officeDocument/2006/relationships/image" Target="../media/image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60.wmf"/><Relationship Id="rId18" Type="http://schemas.openxmlformats.org/officeDocument/2006/relationships/image" Target="../media/image62.wmf"/><Relationship Id="rId26" Type="http://schemas.openxmlformats.org/officeDocument/2006/relationships/image" Target="../media/image66.wmf"/><Relationship Id="rId3" Type="http://schemas.openxmlformats.org/officeDocument/2006/relationships/image" Target="../media/image55.wmf"/><Relationship Id="rId21" Type="http://schemas.openxmlformats.org/officeDocument/2006/relationships/oleObject" Target="../embeddings/oleObject62.bin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58.bin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oleObject" Target="../embeddings/oleObject53.bin"/><Relationship Id="rId16" Type="http://schemas.openxmlformats.org/officeDocument/2006/relationships/image" Target="../media/image61.emf"/><Relationship Id="rId20" Type="http://schemas.openxmlformats.org/officeDocument/2006/relationships/image" Target="../media/image6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9.wmf"/><Relationship Id="rId24" Type="http://schemas.openxmlformats.org/officeDocument/2006/relationships/image" Target="../media/image65.wmf"/><Relationship Id="rId5" Type="http://schemas.openxmlformats.org/officeDocument/2006/relationships/image" Target="../media/image56.wmf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10" Type="http://schemas.openxmlformats.org/officeDocument/2006/relationships/oleObject" Target="../embeddings/oleObject57.bin"/><Relationship Id="rId19" Type="http://schemas.openxmlformats.org/officeDocument/2006/relationships/oleObject" Target="../embeddings/oleObject61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8.wmf"/><Relationship Id="rId14" Type="http://schemas.openxmlformats.org/officeDocument/2006/relationships/image" Target="../media/image1.png"/><Relationship Id="rId22" Type="http://schemas.openxmlformats.org/officeDocument/2006/relationships/image" Target="../media/image6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2.e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1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8.bin"/><Relationship Id="rId2" Type="http://schemas.openxmlformats.org/officeDocument/2006/relationships/image" Target="../media/image1.png"/><Relationship Id="rId16" Type="http://schemas.openxmlformats.org/officeDocument/2006/relationships/image" Target="../media/image80.wmf"/><Relationship Id="rId20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77.e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0.bin"/><Relationship Id="rId21" Type="http://schemas.openxmlformats.org/officeDocument/2006/relationships/image" Target="../media/image91.wmf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87.bin"/><Relationship Id="rId2" Type="http://schemas.openxmlformats.org/officeDocument/2006/relationships/image" Target="../media/image1.png"/><Relationship Id="rId16" Type="http://schemas.openxmlformats.org/officeDocument/2006/relationships/image" Target="../media/image89.wmf"/><Relationship Id="rId20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102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9.emf"/><Relationship Id="rId17" Type="http://schemas.openxmlformats.org/officeDocument/2006/relationships/oleObject" Target="../embeddings/oleObject100.bin"/><Relationship Id="rId2" Type="http://schemas.openxmlformats.org/officeDocument/2006/relationships/image" Target="../media/image1.png"/><Relationship Id="rId16" Type="http://schemas.openxmlformats.org/officeDocument/2006/relationships/image" Target="../media/image101.emf"/><Relationship Id="rId20" Type="http://schemas.openxmlformats.org/officeDocument/2006/relationships/image" Target="../media/image10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98.emf"/><Relationship Id="rId19" Type="http://schemas.openxmlformats.org/officeDocument/2006/relationships/oleObject" Target="../embeddings/oleObject101.bin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10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1.e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8.emf"/><Relationship Id="rId17" Type="http://schemas.openxmlformats.org/officeDocument/2006/relationships/oleObject" Target="../embeddings/oleObject109.bin"/><Relationship Id="rId2" Type="http://schemas.openxmlformats.org/officeDocument/2006/relationships/image" Target="../media/image1.png"/><Relationship Id="rId16" Type="http://schemas.openxmlformats.org/officeDocument/2006/relationships/image" Target="../media/image1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07.e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image" Target="../media/image112.emf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6.e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14.bin"/><Relationship Id="rId5" Type="http://schemas.openxmlformats.org/officeDocument/2006/relationships/image" Target="../media/image113.wmf"/><Relationship Id="rId10" Type="http://schemas.openxmlformats.org/officeDocument/2006/relationships/image" Target="../media/image115.emf"/><Relationship Id="rId4" Type="http://schemas.openxmlformats.org/officeDocument/2006/relationships/oleObject" Target="../embeddings/oleObject111.bin"/><Relationship Id="rId9" Type="http://schemas.openxmlformats.org/officeDocument/2006/relationships/oleObject" Target="../embeddings/oleObject11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4.wmf"/><Relationship Id="rId3" Type="http://schemas.openxmlformats.org/officeDocument/2006/relationships/image" Target="../media/image117.emf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1.emf"/><Relationship Id="rId17" Type="http://schemas.openxmlformats.org/officeDocument/2006/relationships/oleObject" Target="../embeddings/oleObject122.bin"/><Relationship Id="rId2" Type="http://schemas.openxmlformats.org/officeDocument/2006/relationships/oleObject" Target="../embeddings/oleObject115.bin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20.e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9.bin"/><Relationship Id="rId3" Type="http://schemas.openxmlformats.org/officeDocument/2006/relationships/image" Target="../media/image126.emf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30.w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28.bin"/><Relationship Id="rId5" Type="http://schemas.openxmlformats.org/officeDocument/2006/relationships/image" Target="../media/image127.wmf"/><Relationship Id="rId10" Type="http://schemas.openxmlformats.org/officeDocument/2006/relationships/image" Target="../media/image129.wmf"/><Relationship Id="rId4" Type="http://schemas.openxmlformats.org/officeDocument/2006/relationships/oleObject" Target="../embeddings/oleObject125.bin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3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39.e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37.bin"/><Relationship Id="rId2" Type="http://schemas.openxmlformats.org/officeDocument/2006/relationships/image" Target="../media/image1.png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38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44.wmf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4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48.bin"/><Relationship Id="rId3" Type="http://schemas.openxmlformats.org/officeDocument/2006/relationships/image" Target="../media/image145.wmf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9.wmf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48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5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58.wmf"/><Relationship Id="rId26" Type="http://schemas.openxmlformats.org/officeDocument/2006/relationships/image" Target="../media/image162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56.bin"/><Relationship Id="rId25" Type="http://schemas.openxmlformats.org/officeDocument/2006/relationships/oleObject" Target="../embeddings/oleObject160.bin"/><Relationship Id="rId2" Type="http://schemas.openxmlformats.org/officeDocument/2006/relationships/image" Target="../media/image1.png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3.bin"/><Relationship Id="rId24" Type="http://schemas.openxmlformats.org/officeDocument/2006/relationships/image" Target="../media/image161.wmf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59.bin"/><Relationship Id="rId28" Type="http://schemas.openxmlformats.org/officeDocument/2006/relationships/image" Target="../media/image163.wmf"/><Relationship Id="rId10" Type="http://schemas.openxmlformats.org/officeDocument/2006/relationships/image" Target="../media/image154.e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6.wmf"/><Relationship Id="rId22" Type="http://schemas.openxmlformats.org/officeDocument/2006/relationships/image" Target="../media/image160.wmf"/><Relationship Id="rId27" Type="http://schemas.openxmlformats.org/officeDocument/2006/relationships/oleObject" Target="../embeddings/oleObject16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64.wmf"/><Relationship Id="rId7" Type="http://schemas.openxmlformats.org/officeDocument/2006/relationships/oleObject" Target="../embeddings/oleObject164.bin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71.wmf"/><Relationship Id="rId18" Type="http://schemas.openxmlformats.org/officeDocument/2006/relationships/oleObject" Target="../embeddings/oleObject172.bin"/><Relationship Id="rId3" Type="http://schemas.openxmlformats.org/officeDocument/2006/relationships/image" Target="../media/image1.png"/><Relationship Id="rId21" Type="http://schemas.openxmlformats.org/officeDocument/2006/relationships/image" Target="../media/image175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73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171.bin"/><Relationship Id="rId20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70.wmf"/><Relationship Id="rId5" Type="http://schemas.openxmlformats.org/officeDocument/2006/relationships/image" Target="../media/image167.wmf"/><Relationship Id="rId15" Type="http://schemas.openxmlformats.org/officeDocument/2006/relationships/image" Target="../media/image172.wmf"/><Relationship Id="rId23" Type="http://schemas.openxmlformats.org/officeDocument/2006/relationships/image" Target="../media/image176.wmf"/><Relationship Id="rId10" Type="http://schemas.openxmlformats.org/officeDocument/2006/relationships/oleObject" Target="../embeddings/oleObject168.bin"/><Relationship Id="rId19" Type="http://schemas.openxmlformats.org/officeDocument/2006/relationships/image" Target="../media/image174.wmf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69.wmf"/><Relationship Id="rId14" Type="http://schemas.openxmlformats.org/officeDocument/2006/relationships/oleObject" Target="../embeddings/oleObject170.bin"/><Relationship Id="rId22" Type="http://schemas.openxmlformats.org/officeDocument/2006/relationships/oleObject" Target="../embeddings/oleObject17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80.bin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1.wmf"/><Relationship Id="rId2" Type="http://schemas.openxmlformats.org/officeDocument/2006/relationships/image" Target="../media/image1.png"/><Relationship Id="rId16" Type="http://schemas.openxmlformats.org/officeDocument/2006/relationships/image" Target="../media/image18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87.bin"/><Relationship Id="rId3" Type="http://schemas.openxmlformats.org/officeDocument/2006/relationships/image" Target="../media/image167.wmf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87.w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image" Target="../media/image188.wmf"/><Relationship Id="rId10" Type="http://schemas.openxmlformats.org/officeDocument/2006/relationships/image" Target="../media/image186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85.bin"/><Relationship Id="rId14" Type="http://schemas.openxmlformats.org/officeDocument/2006/relationships/oleObject" Target="../embeddings/oleObject18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oleObject" Target="../embeddings/oleObject194.bin"/><Relationship Id="rId3" Type="http://schemas.openxmlformats.org/officeDocument/2006/relationships/image" Target="../media/image189.wmf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93.wmf"/><Relationship Id="rId2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92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9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9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05.emf"/><Relationship Id="rId3" Type="http://schemas.openxmlformats.org/officeDocument/2006/relationships/image" Target="../media/image198.wmf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5.bin"/><Relationship Id="rId2" Type="http://schemas.openxmlformats.org/officeDocument/2006/relationships/oleObject" Target="../embeddings/oleObject198.bin"/><Relationship Id="rId16" Type="http://schemas.openxmlformats.org/officeDocument/2006/relationships/image" Target="../media/image20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20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0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0.wmf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12" Type="http://schemas.openxmlformats.org/officeDocument/2006/relationships/oleObject" Target="../embeddings/oleObject21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7.wmf"/><Relationship Id="rId11" Type="http://schemas.openxmlformats.org/officeDocument/2006/relationships/image" Target="../media/image2.png"/><Relationship Id="rId5" Type="http://schemas.openxmlformats.org/officeDocument/2006/relationships/oleObject" Target="../embeddings/oleObject207.bin"/><Relationship Id="rId15" Type="http://schemas.openxmlformats.org/officeDocument/2006/relationships/image" Target="../media/image211.emf"/><Relationship Id="rId10" Type="http://schemas.openxmlformats.org/officeDocument/2006/relationships/image" Target="../media/image209.e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09.bin"/><Relationship Id="rId14" Type="http://schemas.openxmlformats.org/officeDocument/2006/relationships/oleObject" Target="../embeddings/oleObject21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oleObject" Target="../embeddings/oleObject217.bin"/><Relationship Id="rId18" Type="http://schemas.openxmlformats.org/officeDocument/2006/relationships/oleObject" Target="../embeddings/oleObject220.bin"/><Relationship Id="rId3" Type="http://schemas.openxmlformats.org/officeDocument/2006/relationships/image" Target="../media/image212.wmf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16.emf"/><Relationship Id="rId17" Type="http://schemas.openxmlformats.org/officeDocument/2006/relationships/image" Target="../media/image218.emf"/><Relationship Id="rId2" Type="http://schemas.openxmlformats.org/officeDocument/2006/relationships/oleObject" Target="../embeddings/oleObject212.bin"/><Relationship Id="rId16" Type="http://schemas.openxmlformats.org/officeDocument/2006/relationships/oleObject" Target="../embeddings/oleObject21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215.emf"/><Relationship Id="rId19" Type="http://schemas.openxmlformats.org/officeDocument/2006/relationships/image" Target="../media/image219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17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26.bin"/><Relationship Id="rId3" Type="http://schemas.openxmlformats.org/officeDocument/2006/relationships/image" Target="../media/image220.emf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24.wmf"/><Relationship Id="rId2" Type="http://schemas.openxmlformats.org/officeDocument/2006/relationships/oleObject" Target="../embeddings/oleObject221.bin"/><Relationship Id="rId16" Type="http://schemas.openxmlformats.org/officeDocument/2006/relationships/image" Target="../media/image2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23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2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32.wmf"/><Relationship Id="rId3" Type="http://schemas.openxmlformats.org/officeDocument/2006/relationships/image" Target="../media/image227.w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233.bin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3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39.bin"/><Relationship Id="rId17" Type="http://schemas.openxmlformats.org/officeDocument/2006/relationships/image" Target="../media/image240.wmf"/><Relationship Id="rId2" Type="http://schemas.openxmlformats.org/officeDocument/2006/relationships/oleObject" Target="../embeddings/oleObject234.bin"/><Relationship Id="rId16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5" Type="http://schemas.openxmlformats.org/officeDocument/2006/relationships/image" Target="../media/image239.w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36.wmf"/><Relationship Id="rId14" Type="http://schemas.openxmlformats.org/officeDocument/2006/relationships/oleObject" Target="../embeddings/oleObject24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wmf"/><Relationship Id="rId5" Type="http://schemas.openxmlformats.org/officeDocument/2006/relationships/oleObject" Target="../embeddings/oleObject243.bin"/><Relationship Id="rId10" Type="http://schemas.openxmlformats.org/officeDocument/2006/relationships/image" Target="../media/image244.wmf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675017" y="1009942"/>
            <a:ext cx="5146766" cy="822326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+mn-ea"/>
                <a:ea typeface="+mn-ea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12</a:t>
            </a:r>
            <a:r>
              <a:rPr lang="zh-CN" altLang="en-US" sz="4800" b="1" dirty="0">
                <a:solidFill>
                  <a:srgbClr val="FF0000"/>
                </a:solidFill>
                <a:latin typeface="+mn-ea"/>
                <a:ea typeface="+mn-ea"/>
              </a:rPr>
              <a:t>章</a:t>
            </a:r>
            <a:r>
              <a:rPr lang="en-US" altLang="zh-CN" sz="48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rgbClr val="FF0000"/>
                </a:solidFill>
                <a:latin typeface="+mn-ea"/>
                <a:ea typeface="+mn-ea"/>
              </a:rPr>
              <a:t>无穷级数</a:t>
            </a:r>
            <a:endParaRPr lang="en-US" altLang="zh-CN" sz="4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60803" name="Rectangle 3"/>
          <p:cNvSpPr>
            <a:spLocks noChangeArrowheads="1"/>
          </p:cNvSpPr>
          <p:nvPr/>
        </p:nvSpPr>
        <p:spPr bwMode="auto">
          <a:xfrm>
            <a:off x="3575050" y="2251368"/>
            <a:ext cx="586740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1 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常数项级数的概念和性质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60804" name="Rectangle 4"/>
          <p:cNvSpPr>
            <a:spLocks noChangeArrowheads="1"/>
          </p:cNvSpPr>
          <p:nvPr/>
        </p:nvSpPr>
        <p:spPr bwMode="auto">
          <a:xfrm>
            <a:off x="3575050" y="2635825"/>
            <a:ext cx="57912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2 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正项级数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60805" name="Rectangle 5"/>
          <p:cNvSpPr>
            <a:spLocks noChangeArrowheads="1"/>
          </p:cNvSpPr>
          <p:nvPr/>
        </p:nvSpPr>
        <p:spPr bwMode="auto">
          <a:xfrm>
            <a:off x="3581400" y="4426963"/>
            <a:ext cx="449580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5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幂级数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06" name="Rectangle 6"/>
          <p:cNvSpPr>
            <a:spLocks noChangeArrowheads="1"/>
          </p:cNvSpPr>
          <p:nvPr/>
        </p:nvSpPr>
        <p:spPr bwMode="auto">
          <a:xfrm>
            <a:off x="3581401" y="3887213"/>
            <a:ext cx="5002213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4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函数项级数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60807" name="Rectangle 7"/>
          <p:cNvSpPr>
            <a:spLocks noChangeArrowheads="1"/>
          </p:cNvSpPr>
          <p:nvPr/>
        </p:nvSpPr>
        <p:spPr bwMode="auto">
          <a:xfrm>
            <a:off x="3581400" y="4991101"/>
            <a:ext cx="6172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6  Taylor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级数及其应用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60808" name="Rectangle 8"/>
          <p:cNvSpPr>
            <a:spLocks noChangeArrowheads="1"/>
          </p:cNvSpPr>
          <p:nvPr/>
        </p:nvSpPr>
        <p:spPr bwMode="auto">
          <a:xfrm>
            <a:off x="3581400" y="5530851"/>
            <a:ext cx="533400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7* 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傅立叶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(Fourier)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级数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581400" y="3207544"/>
            <a:ext cx="57912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 3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任意项级数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726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3" grpId="0"/>
      <p:bldP spid="460804" grpId="0"/>
      <p:bldP spid="460805" grpId="0"/>
      <p:bldP spid="460806" grpId="0"/>
      <p:bldP spid="460807" grpId="0"/>
      <p:bldP spid="460808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236454" y="1276350"/>
            <a:ext cx="7772400" cy="707886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§ 1</a:t>
            </a:r>
            <a:r>
              <a:rPr lang="en-US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常数项级数的概念和性质</a:t>
            </a:r>
            <a:endParaRPr lang="en-US" altLang="zh-CN" sz="4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62851" name="Text Box 3"/>
          <p:cNvSpPr txBox="1">
            <a:spLocks noChangeArrowheads="1"/>
          </p:cNvSpPr>
          <p:nvPr/>
        </p:nvSpPr>
        <p:spPr bwMode="auto">
          <a:xfrm>
            <a:off x="3962400" y="2336800"/>
            <a:ext cx="571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zh-CN" altLang="en-US" sz="3600" b="1" dirty="0">
                <a:solidFill>
                  <a:schemeClr val="tx1"/>
                </a:solidFill>
                <a:latin typeface="+mn-ea"/>
                <a:ea typeface="+mn-ea"/>
              </a:rPr>
              <a:t>常数项级数的概念</a:t>
            </a:r>
            <a:endParaRPr kumimoji="0" lang="en-US" altLang="zh-CN" sz="3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62852" name="Text Box 4"/>
          <p:cNvSpPr txBox="1">
            <a:spLocks noChangeArrowheads="1"/>
          </p:cNvSpPr>
          <p:nvPr/>
        </p:nvSpPr>
        <p:spPr bwMode="auto">
          <a:xfrm>
            <a:off x="4038600" y="4038600"/>
            <a:ext cx="518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zh-CN" altLang="en-US" sz="3600" b="1" dirty="0">
                <a:solidFill>
                  <a:schemeClr val="tx1"/>
                </a:solidFill>
                <a:latin typeface="+mn-ea"/>
                <a:ea typeface="+mn-ea"/>
              </a:rPr>
              <a:t>收敛级数的基本性质</a:t>
            </a:r>
            <a:endParaRPr kumimoji="0" lang="en-US" altLang="zh-CN" sz="3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62854" name="Picture 6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4" y="2582864"/>
            <a:ext cx="388937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2855" name="Picture 7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25" y="3344864"/>
            <a:ext cx="388938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2856" name="Picture 8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183064"/>
            <a:ext cx="388938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038600" y="3200400"/>
            <a:ext cx="3517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tx1"/>
                </a:solidFill>
                <a:ea typeface="宋体" panose="02010600030101010101" pitchFamily="2" charset="-122"/>
              </a:rPr>
              <a:t>Cauchy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  <a:ea typeface="+mn-ea"/>
              </a:rPr>
              <a:t>收敛准则</a:t>
            </a:r>
          </a:p>
        </p:txBody>
      </p:sp>
    </p:spTree>
    <p:extLst>
      <p:ext uri="{BB962C8B-B14F-4D97-AF65-F5344CB8AC3E}">
        <p14:creationId xmlns:p14="http://schemas.microsoft.com/office/powerpoint/2010/main" val="19031424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2" grpId="0"/>
      <p:bldP spid="194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081167" y="872531"/>
            <a:ext cx="6699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§ </a:t>
            </a:r>
            <a:r>
              <a:rPr kumimoji="0" lang="en-US" altLang="zh-CN" sz="40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常数项级数的概念</a:t>
            </a:r>
            <a:endParaRPr kumimoji="0" lang="en-US" altLang="zh-CN" sz="4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6387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375592"/>
              </p:ext>
            </p:extLst>
          </p:nvPr>
        </p:nvGraphicFramePr>
        <p:xfrm>
          <a:off x="3548857" y="1701142"/>
          <a:ext cx="6129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51100" imgH="228600" progId="Equation.3">
                  <p:embed/>
                </p:oleObj>
              </mc:Choice>
              <mc:Fallback>
                <p:oleObj name="公式" r:id="rId3" imgW="2451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857" y="1701142"/>
                        <a:ext cx="61293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722132"/>
              </p:ext>
            </p:extLst>
          </p:nvPr>
        </p:nvGraphicFramePr>
        <p:xfrm>
          <a:off x="2355851" y="2448943"/>
          <a:ext cx="67802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717800" imgH="228600" progId="Equation.3">
                  <p:embed/>
                </p:oleObj>
              </mc:Choice>
              <mc:Fallback>
                <p:oleObj name="公式" r:id="rId5" imgW="2717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1" y="2448943"/>
                        <a:ext cx="6780213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77" name="Text Box 5"/>
          <p:cNvSpPr txBox="1">
            <a:spLocks noChangeArrowheads="1"/>
          </p:cNvSpPr>
          <p:nvPr/>
        </p:nvSpPr>
        <p:spPr bwMode="auto">
          <a:xfrm>
            <a:off x="2196789" y="1665263"/>
            <a:ext cx="10663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</a:t>
            </a:r>
            <a:r>
              <a:rPr kumimoji="0"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4638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60500"/>
              </p:ext>
            </p:extLst>
          </p:nvPr>
        </p:nvGraphicFramePr>
        <p:xfrm>
          <a:off x="4307524" y="3098799"/>
          <a:ext cx="40592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97950" imgH="215806" progId="Equation.3">
                  <p:embed/>
                </p:oleObj>
              </mc:Choice>
              <mc:Fallback>
                <p:oleObj name="公式" r:id="rId7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524" y="3098799"/>
                        <a:ext cx="40592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921545"/>
              </p:ext>
            </p:extLst>
          </p:nvPr>
        </p:nvGraphicFramePr>
        <p:xfrm>
          <a:off x="2390776" y="4422008"/>
          <a:ext cx="53689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45369" imgH="495085" progId="Equation.3">
                  <p:embed/>
                </p:oleObj>
              </mc:Choice>
              <mc:Fallback>
                <p:oleObj name="公式" r:id="rId9" imgW="2145369" imgH="4950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6" y="4422008"/>
                        <a:ext cx="53689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713619"/>
              </p:ext>
            </p:extLst>
          </p:nvPr>
        </p:nvGraphicFramePr>
        <p:xfrm>
          <a:off x="2355851" y="3564844"/>
          <a:ext cx="23860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48975" imgH="431613" progId="Equation.3">
                  <p:embed/>
                </p:oleObj>
              </mc:Choice>
              <mc:Fallback>
                <p:oleObj name="公式" r:id="rId11" imgW="74897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1" y="3564844"/>
                        <a:ext cx="23860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824999"/>
              </p:ext>
            </p:extLst>
          </p:nvPr>
        </p:nvGraphicFramePr>
        <p:xfrm>
          <a:off x="2362201" y="5661845"/>
          <a:ext cx="4156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35100" imgH="228600" progId="Equation.3">
                  <p:embed/>
                </p:oleObj>
              </mc:Choice>
              <mc:Fallback>
                <p:oleObj name="公式" r:id="rId13" imgW="1435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5661845"/>
                        <a:ext cx="4156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315305"/>
              </p:ext>
            </p:extLst>
          </p:nvPr>
        </p:nvGraphicFramePr>
        <p:xfrm>
          <a:off x="2390776" y="3087687"/>
          <a:ext cx="17446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98197" imgH="215806" progId="Equation.3">
                  <p:embed/>
                </p:oleObj>
              </mc:Choice>
              <mc:Fallback>
                <p:oleObj name="公式" r:id="rId15" imgW="69819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6" y="3087687"/>
                        <a:ext cx="17446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9FF585-A5CB-467A-A132-2EE1A2A1F25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480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Oval 2"/>
          <p:cNvSpPr>
            <a:spLocks noChangeArrowheads="1"/>
          </p:cNvSpPr>
          <p:nvPr/>
        </p:nvSpPr>
        <p:spPr bwMode="auto">
          <a:xfrm>
            <a:off x="5712052" y="1325482"/>
            <a:ext cx="457200" cy="838200"/>
          </a:xfrm>
          <a:prstGeom prst="ellipse">
            <a:avLst/>
          </a:prstGeom>
          <a:solidFill>
            <a:srgbClr val="FFFF66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4899" name="AutoShape 3"/>
          <p:cNvSpPr>
            <a:spLocks noChangeArrowheads="1"/>
          </p:cNvSpPr>
          <p:nvPr/>
        </p:nvSpPr>
        <p:spPr bwMode="auto">
          <a:xfrm>
            <a:off x="7784737" y="675474"/>
            <a:ext cx="1727200" cy="457200"/>
          </a:xfrm>
          <a:prstGeom prst="wedgeRectCallout">
            <a:avLst>
              <a:gd name="adj1" fmla="val -141083"/>
              <a:gd name="adj2" fmla="val 14409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zh-CN" altLang="en-US" sz="3200" dirty="0">
                <a:solidFill>
                  <a:srgbClr val="3333CC"/>
                </a:solidFill>
                <a:latin typeface="Calibri" panose="020F0502020204030204"/>
                <a:ea typeface="宋体" panose="02010600030101010101" pitchFamily="2" charset="-122"/>
              </a:rPr>
              <a:t>一般项</a:t>
            </a:r>
            <a:endParaRPr kumimoji="0" lang="en-US" altLang="zh-CN" sz="3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18353" y="1375120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graphicFrame>
        <p:nvGraphicFramePr>
          <p:cNvPr id="1126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76629"/>
              </p:ext>
            </p:extLst>
          </p:nvPr>
        </p:nvGraphicFramePr>
        <p:xfrm>
          <a:off x="3195094" y="1156839"/>
          <a:ext cx="39481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74117" imgH="406224" progId="Equation.3">
                  <p:embed/>
                </p:oleObj>
              </mc:Choice>
              <mc:Fallback>
                <p:oleObj name="公式" r:id="rId3" imgW="157411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094" y="1156839"/>
                        <a:ext cx="394811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595654"/>
              </p:ext>
            </p:extLst>
          </p:nvPr>
        </p:nvGraphicFramePr>
        <p:xfrm>
          <a:off x="2810829" y="2156516"/>
          <a:ext cx="53117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20900" imgH="406400" progId="Equation.3">
                  <p:embed/>
                </p:oleObj>
              </mc:Choice>
              <mc:Fallback>
                <p:oleObj name="公式" r:id="rId5" imgW="2120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829" y="2156516"/>
                        <a:ext cx="531177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782231"/>
              </p:ext>
            </p:extLst>
          </p:nvPr>
        </p:nvGraphicFramePr>
        <p:xfrm>
          <a:off x="2911475" y="3170928"/>
          <a:ext cx="47069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79600" imgH="228600" progId="Equation.3">
                  <p:embed/>
                </p:oleObj>
              </mc:Choice>
              <mc:Fallback>
                <p:oleObj name="公式" r:id="rId7" imgW="1879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3170928"/>
                        <a:ext cx="47069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4" name="Object 5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24541178"/>
              </p:ext>
            </p:extLst>
          </p:nvPr>
        </p:nvGraphicFramePr>
        <p:xfrm>
          <a:off x="2418353" y="3889494"/>
          <a:ext cx="4226287" cy="583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34477" imgH="215806" progId="Equation.3">
                  <p:embed/>
                </p:oleObj>
              </mc:Choice>
              <mc:Fallback>
                <p:oleObj name="公式" r:id="rId9" imgW="1434477" imgH="215806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353" y="3889494"/>
                        <a:ext cx="4226287" cy="583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905" name="Rectangle 9"/>
          <p:cNvSpPr>
            <a:spLocks noChangeArrowheads="1"/>
          </p:cNvSpPr>
          <p:nvPr/>
        </p:nvSpPr>
        <p:spPr bwMode="auto">
          <a:xfrm>
            <a:off x="2262188" y="4533003"/>
            <a:ext cx="7140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无穷级数定义式的含义是什么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464906" name="Text Box 10"/>
          <p:cNvSpPr txBox="1">
            <a:spLocks noChangeArrowheads="1"/>
          </p:cNvSpPr>
          <p:nvPr/>
        </p:nvSpPr>
        <p:spPr bwMode="auto">
          <a:xfrm>
            <a:off x="2259013" y="5044522"/>
            <a:ext cx="711358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按通常的加法运算一项一项的加下去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64907" name="Text Box 11"/>
          <p:cNvSpPr txBox="1">
            <a:spLocks noChangeArrowheads="1"/>
          </p:cNvSpPr>
          <p:nvPr/>
        </p:nvSpPr>
        <p:spPr bwMode="auto">
          <a:xfrm>
            <a:off x="2275682" y="5767869"/>
            <a:ext cx="4991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没有穷尽，如何计算？</a:t>
            </a:r>
            <a:endParaRPr kumimoji="0"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99569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nimBg="1"/>
      <p:bldP spid="464899" grpId="0" animBg="1"/>
      <p:bldP spid="464905" grpId="0"/>
      <p:bldP spid="464906" grpId="0"/>
      <p:bldP spid="4649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51" imgH="215619" progId="Equation.3">
                  <p:embed/>
                </p:oleObj>
              </mc:Choice>
              <mc:Fallback>
                <p:oleObj name="公式" r:id="rId2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005126" y="1123798"/>
            <a:ext cx="281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部分和定义</a:t>
            </a:r>
            <a:endParaRPr kumimoji="0"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659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41978"/>
              </p:ext>
            </p:extLst>
          </p:nvPr>
        </p:nvGraphicFramePr>
        <p:xfrm>
          <a:off x="4290740" y="905517"/>
          <a:ext cx="31559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17600" imgH="431800" progId="Equation.3">
                  <p:embed/>
                </p:oleObj>
              </mc:Choice>
              <mc:Fallback>
                <p:oleObj name="公式" r:id="rId5" imgW="1117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740" y="905517"/>
                        <a:ext cx="3155950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076650"/>
              </p:ext>
            </p:extLst>
          </p:nvPr>
        </p:nvGraphicFramePr>
        <p:xfrm>
          <a:off x="3102565" y="1929609"/>
          <a:ext cx="40624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25600" imgH="228600" progId="Equation.3">
                  <p:embed/>
                </p:oleObj>
              </mc:Choice>
              <mc:Fallback>
                <p:oleObj name="公式" r:id="rId7" imgW="1625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565" y="1929609"/>
                        <a:ext cx="40624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785779"/>
              </p:ext>
            </p:extLst>
          </p:nvPr>
        </p:nvGraphicFramePr>
        <p:xfrm>
          <a:off x="1974646" y="3209063"/>
          <a:ext cx="22558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01309" imgH="215806" progId="Equation.3">
                  <p:embed/>
                </p:oleObj>
              </mc:Choice>
              <mc:Fallback>
                <p:oleObj name="公式" r:id="rId9" imgW="90130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646" y="3209063"/>
                        <a:ext cx="22558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045729"/>
              </p:ext>
            </p:extLst>
          </p:nvPr>
        </p:nvGraphicFramePr>
        <p:xfrm>
          <a:off x="4290740" y="3186390"/>
          <a:ext cx="1301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20700" imgH="228600" progId="Equation.DSMT4">
                  <p:embed/>
                </p:oleObj>
              </mc:Choice>
              <mc:Fallback>
                <p:oleObj name="Equation" r:id="rId11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740" y="3186390"/>
                        <a:ext cx="1301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047897"/>
              </p:ext>
            </p:extLst>
          </p:nvPr>
        </p:nvGraphicFramePr>
        <p:xfrm>
          <a:off x="3138285" y="3840708"/>
          <a:ext cx="1016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06224" imgH="190417" progId="Equation.3">
                  <p:embed/>
                </p:oleObj>
              </mc:Choice>
              <mc:Fallback>
                <p:oleObj name="公式" r:id="rId13" imgW="406224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285" y="3840708"/>
                        <a:ext cx="1016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264119"/>
              </p:ext>
            </p:extLst>
          </p:nvPr>
        </p:nvGraphicFramePr>
        <p:xfrm>
          <a:off x="4392839" y="3775690"/>
          <a:ext cx="19034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61669" imgH="228501" progId="Equation.DSMT4">
                  <p:embed/>
                </p:oleObj>
              </mc:Choice>
              <mc:Fallback>
                <p:oleObj name="Equation" r:id="rId15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839" y="3775690"/>
                        <a:ext cx="190341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899656"/>
              </p:ext>
            </p:extLst>
          </p:nvPr>
        </p:nvGraphicFramePr>
        <p:xfrm>
          <a:off x="3810000" y="5078411"/>
          <a:ext cx="96202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17087" imgH="76101" progId="Equation.3">
                  <p:embed/>
                </p:oleObj>
              </mc:Choice>
              <mc:Fallback>
                <p:oleObj name="公式" r:id="rId17" imgW="317087" imgH="761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078411"/>
                        <a:ext cx="962025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032160"/>
              </p:ext>
            </p:extLst>
          </p:nvPr>
        </p:nvGraphicFramePr>
        <p:xfrm>
          <a:off x="3170941" y="4397012"/>
          <a:ext cx="1016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406224" imgH="190417" progId="Equation.3">
                  <p:embed/>
                </p:oleObj>
              </mc:Choice>
              <mc:Fallback>
                <p:oleObj name="公式" r:id="rId19" imgW="406224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941" y="4397012"/>
                        <a:ext cx="1016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452635"/>
              </p:ext>
            </p:extLst>
          </p:nvPr>
        </p:nvGraphicFramePr>
        <p:xfrm>
          <a:off x="4378598" y="4365629"/>
          <a:ext cx="26336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54100" imgH="228600" progId="Equation.DSMT4">
                  <p:embed/>
                </p:oleObj>
              </mc:Choice>
              <mc:Fallback>
                <p:oleObj name="Equation" r:id="rId21" imgW="1054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598" y="4365629"/>
                        <a:ext cx="26336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998816"/>
              </p:ext>
            </p:extLst>
          </p:nvPr>
        </p:nvGraphicFramePr>
        <p:xfrm>
          <a:off x="2067198" y="5484815"/>
          <a:ext cx="46228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790700" imgH="215900" progId="Equation.3">
                  <p:embed/>
                </p:oleObj>
              </mc:Choice>
              <mc:Fallback>
                <p:oleObj name="公式" r:id="rId23" imgW="1790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198" y="5484815"/>
                        <a:ext cx="46228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485929"/>
              </p:ext>
            </p:extLst>
          </p:nvPr>
        </p:nvGraphicFramePr>
        <p:xfrm>
          <a:off x="6777354" y="5484815"/>
          <a:ext cx="2854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28520" imgH="253800" progId="Equation.DSMT4">
                  <p:embed/>
                </p:oleObj>
              </mc:Choice>
              <mc:Fallback>
                <p:oleObj name="Equation" r:id="rId25" imgW="1028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354" y="5484815"/>
                        <a:ext cx="28543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572808"/>
              </p:ext>
            </p:extLst>
          </p:nvPr>
        </p:nvGraphicFramePr>
        <p:xfrm>
          <a:off x="1974646" y="2623101"/>
          <a:ext cx="37798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511300" imgH="215900" progId="Equation.3">
                  <p:embed/>
                </p:oleObj>
              </mc:Choice>
              <mc:Fallback>
                <p:oleObj name="公式" r:id="rId27" imgW="1511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646" y="2623101"/>
                        <a:ext cx="37798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F4A58C-C362-4256-8F57-8D4D9DFAC46F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541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5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5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9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927044"/>
              </p:ext>
            </p:extLst>
          </p:nvPr>
        </p:nvGraphicFramePr>
        <p:xfrm>
          <a:off x="4789525" y="1905660"/>
          <a:ext cx="2705025" cy="793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279279" progId="Equation.DSMT4">
                  <p:embed/>
                </p:oleObj>
              </mc:Choice>
              <mc:Fallback>
                <p:oleObj name="Equation" r:id="rId2" imgW="95208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525" y="1905660"/>
                        <a:ext cx="2705025" cy="793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790164" y="1051204"/>
            <a:ext cx="4284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级数收敛与发散定义：</a:t>
            </a:r>
            <a:endParaRPr kumimoji="0"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669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328500"/>
              </p:ext>
            </p:extLst>
          </p:nvPr>
        </p:nvGraphicFramePr>
        <p:xfrm>
          <a:off x="5782266" y="797617"/>
          <a:ext cx="3859933" cy="114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431640" progId="Equation.DSMT4">
                  <p:embed/>
                </p:oleObj>
              </mc:Choice>
              <mc:Fallback>
                <p:oleObj name="Equation" r:id="rId5" imgW="1434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2266" y="797617"/>
                        <a:ext cx="3859933" cy="1140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661647"/>
              </p:ext>
            </p:extLst>
          </p:nvPr>
        </p:nvGraphicFramePr>
        <p:xfrm>
          <a:off x="1790164" y="1863995"/>
          <a:ext cx="2890519" cy="712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960" imgH="253800" progId="Equation.DSMT4">
                  <p:embed/>
                </p:oleObj>
              </mc:Choice>
              <mc:Fallback>
                <p:oleObj name="Equation" r:id="rId7" imgW="1002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164" y="1863995"/>
                        <a:ext cx="2890519" cy="712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559992"/>
              </p:ext>
            </p:extLst>
          </p:nvPr>
        </p:nvGraphicFramePr>
        <p:xfrm>
          <a:off x="7603392" y="1679806"/>
          <a:ext cx="2590697" cy="1159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431640" progId="Equation.DSMT4">
                  <p:embed/>
                </p:oleObj>
              </mc:Choice>
              <mc:Fallback>
                <p:oleObj name="Equation" r:id="rId9" imgW="965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3392" y="1679806"/>
                        <a:ext cx="2590697" cy="1159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50965"/>
              </p:ext>
            </p:extLst>
          </p:nvPr>
        </p:nvGraphicFramePr>
        <p:xfrm>
          <a:off x="1925478" y="2460738"/>
          <a:ext cx="2646364" cy="112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15920" imgH="431640" progId="Equation.DSMT4">
                  <p:embed/>
                </p:oleObj>
              </mc:Choice>
              <mc:Fallback>
                <p:oleObj name="Equation" r:id="rId11" imgW="1015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478" y="2460738"/>
                        <a:ext cx="2646364" cy="1122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53747"/>
              </p:ext>
            </p:extLst>
          </p:nvPr>
        </p:nvGraphicFramePr>
        <p:xfrm>
          <a:off x="2783358" y="3622529"/>
          <a:ext cx="6320484" cy="658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97080" imgH="228600" progId="Equation.DSMT4">
                  <p:embed/>
                </p:oleObj>
              </mc:Choice>
              <mc:Fallback>
                <p:oleObj name="Equation" r:id="rId13" imgW="2197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358" y="3622529"/>
                        <a:ext cx="6320484" cy="658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007427"/>
              </p:ext>
            </p:extLst>
          </p:nvPr>
        </p:nvGraphicFramePr>
        <p:xfrm>
          <a:off x="1905000" y="4423355"/>
          <a:ext cx="4520543" cy="706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600" imgH="254000" progId="Equation.DSMT4">
                  <p:embed/>
                </p:oleObj>
              </mc:Choice>
              <mc:Fallback>
                <p:oleObj name="Equation" r:id="rId15" imgW="16256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23355"/>
                        <a:ext cx="4520543" cy="706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663660"/>
              </p:ext>
            </p:extLst>
          </p:nvPr>
        </p:nvGraphicFramePr>
        <p:xfrm>
          <a:off x="6626995" y="4217119"/>
          <a:ext cx="2881589" cy="1119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431640" progId="Equation.DSMT4">
                  <p:embed/>
                </p:oleObj>
              </mc:Choice>
              <mc:Fallback>
                <p:oleObj name="Equation" r:id="rId17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995" y="4217119"/>
                        <a:ext cx="2881589" cy="1119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5" name="Text Box 11"/>
          <p:cNvSpPr txBox="1">
            <a:spLocks noChangeArrowheads="1"/>
          </p:cNvSpPr>
          <p:nvPr/>
        </p:nvSpPr>
        <p:spPr bwMode="auto">
          <a:xfrm>
            <a:off x="1905000" y="5345114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  <a:endParaRPr lang="en-US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6956" name="Object 10"/>
          <p:cNvGraphicFramePr>
            <a:graphicFrameLocks noChangeAspect="1"/>
          </p:cNvGraphicFramePr>
          <p:nvPr/>
        </p:nvGraphicFramePr>
        <p:xfrm>
          <a:off x="2362200" y="5410201"/>
          <a:ext cx="9906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9514" imgH="257175" progId="Equation.DSMT4">
                  <p:embed/>
                </p:oleObj>
              </mc:Choice>
              <mc:Fallback>
                <p:oleObj name="Equation" r:id="rId19" imgW="409514" imgH="25717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10201"/>
                        <a:ext cx="9906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7" name="Text Box 13"/>
          <p:cNvSpPr txBox="1">
            <a:spLocks noChangeArrowheads="1"/>
          </p:cNvSpPr>
          <p:nvPr/>
        </p:nvSpPr>
        <p:spPr bwMode="auto">
          <a:xfrm>
            <a:off x="3211513" y="5356225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存在</a:t>
            </a:r>
            <a:endParaRPr lang="en-US" altLang="zh-CN" sz="3200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66958" name="Text Box 14"/>
          <p:cNvSpPr txBox="1">
            <a:spLocks noChangeArrowheads="1"/>
          </p:cNvSpPr>
          <p:nvPr/>
        </p:nvSpPr>
        <p:spPr bwMode="auto">
          <a:xfrm>
            <a:off x="4038600" y="5370514"/>
            <a:ext cx="1905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ea typeface="宋体" panose="02010600030101010101" pitchFamily="2" charset="-122"/>
              </a:rPr>
              <a:t>不存在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66959" name="Text Box 15"/>
          <p:cNvSpPr txBox="1">
            <a:spLocks noChangeArrowheads="1"/>
          </p:cNvSpPr>
          <p:nvPr/>
        </p:nvSpPr>
        <p:spPr bwMode="auto">
          <a:xfrm>
            <a:off x="6142038" y="5356225"/>
            <a:ext cx="36115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常数项级数收敛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66960" name="Text Box 16"/>
          <p:cNvSpPr txBox="1">
            <a:spLocks noChangeArrowheads="1"/>
          </p:cNvSpPr>
          <p:nvPr/>
        </p:nvSpPr>
        <p:spPr bwMode="auto">
          <a:xfrm>
            <a:off x="9067800" y="5370514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ea typeface="宋体" panose="02010600030101010101" pitchFamily="2" charset="-122"/>
              </a:rPr>
              <a:t>).</a:t>
            </a:r>
          </a:p>
        </p:txBody>
      </p:sp>
      <p:graphicFrame>
        <p:nvGraphicFramePr>
          <p:cNvPr id="466961" name="Object 11"/>
          <p:cNvGraphicFramePr>
            <a:graphicFrameLocks noChangeAspect="1"/>
          </p:cNvGraphicFramePr>
          <p:nvPr/>
        </p:nvGraphicFramePr>
        <p:xfrm>
          <a:off x="5638800" y="5549900"/>
          <a:ext cx="60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00086" imgH="124049" progId="Equation.3">
                  <p:embed/>
                </p:oleObj>
              </mc:Choice>
              <mc:Fallback>
                <p:oleObj name="公式" r:id="rId21" imgW="200086" imgH="1240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549900"/>
                        <a:ext cx="60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747DB2-4559-4DF8-BD95-BD143DFE39EF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7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6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55" grpId="0" autoUpdateAnimBg="0"/>
      <p:bldP spid="466957" grpId="0" autoUpdateAnimBg="0"/>
      <p:bldP spid="466958" grpId="0" autoUpdateAnimBg="0"/>
      <p:bldP spid="466959" grpId="0" autoUpdateAnimBg="0"/>
      <p:bldP spid="46696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9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757230"/>
              </p:ext>
            </p:extLst>
          </p:nvPr>
        </p:nvGraphicFramePr>
        <p:xfrm>
          <a:off x="2351953" y="3065937"/>
          <a:ext cx="1934555" cy="599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953" y="3065937"/>
                        <a:ext cx="1934555" cy="599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681379"/>
              </p:ext>
            </p:extLst>
          </p:nvPr>
        </p:nvGraphicFramePr>
        <p:xfrm>
          <a:off x="4287234" y="3042260"/>
          <a:ext cx="3128115" cy="646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68400" imgH="241300" progId="Equation.3">
                  <p:embed/>
                </p:oleObj>
              </mc:Choice>
              <mc:Fallback>
                <p:oleObj name="公式" r:id="rId4" imgW="1168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234" y="3042260"/>
                        <a:ext cx="3128115" cy="646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725616"/>
              </p:ext>
            </p:extLst>
          </p:nvPr>
        </p:nvGraphicFramePr>
        <p:xfrm>
          <a:off x="7415349" y="2801810"/>
          <a:ext cx="1564137" cy="1127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09700" imgH="1016000" progId="Equation.3">
                  <p:embed/>
                </p:oleObj>
              </mc:Choice>
              <mc:Fallback>
                <p:oleObj name="公式" r:id="rId6" imgW="14097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349" y="2801810"/>
                        <a:ext cx="1564137" cy="1127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071048"/>
              </p:ext>
            </p:extLst>
          </p:nvPr>
        </p:nvGraphicFramePr>
        <p:xfrm>
          <a:off x="3657600" y="4451915"/>
          <a:ext cx="167640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400" imgH="279400" progId="Equation.DSMT4">
                  <p:embed/>
                </p:oleObj>
              </mc:Choice>
              <mc:Fallback>
                <p:oleObj name="Equation" r:id="rId8" imgW="6604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451915"/>
                        <a:ext cx="1676400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74" name="Text Box 6"/>
          <p:cNvSpPr txBox="1">
            <a:spLocks noChangeArrowheads="1"/>
          </p:cNvSpPr>
          <p:nvPr/>
        </p:nvSpPr>
        <p:spPr bwMode="auto">
          <a:xfrm>
            <a:off x="2351953" y="2365735"/>
            <a:ext cx="365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对收敛级数，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7975" name="Text Box 7"/>
          <p:cNvSpPr txBox="1">
            <a:spLocks noChangeArrowheads="1"/>
          </p:cNvSpPr>
          <p:nvPr/>
        </p:nvSpPr>
        <p:spPr bwMode="auto">
          <a:xfrm>
            <a:off x="2209800" y="3678303"/>
            <a:ext cx="482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余项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余和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67976" name="Text Box 8"/>
          <p:cNvSpPr txBox="1">
            <a:spLocks noChangeArrowheads="1"/>
          </p:cNvSpPr>
          <p:nvPr/>
        </p:nvSpPr>
        <p:spPr bwMode="auto">
          <a:xfrm>
            <a:off x="2209800" y="4451915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显然有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7977" name="Text Box 9"/>
          <p:cNvSpPr txBox="1">
            <a:spLocks noChangeArrowheads="1"/>
          </p:cNvSpPr>
          <p:nvPr/>
        </p:nvSpPr>
        <p:spPr bwMode="auto">
          <a:xfrm>
            <a:off x="2212681" y="5164702"/>
            <a:ext cx="251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充分大时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2209800" y="1095074"/>
            <a:ext cx="7912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级数的敛散性与它部分和数列是否有极限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50000"/>
              </a:lnSpc>
              <a:spcBef>
                <a:spcPct val="0"/>
              </a:spcBef>
              <a:buFontTx/>
              <a:buNone/>
            </a:pPr>
            <a:endParaRPr lang="en-US" altLang="zh-CN" sz="3200" dirty="0">
              <a:solidFill>
                <a:srgbClr val="D80EDD"/>
              </a:solidFill>
              <a:ea typeface="宋体" panose="02010600030101010101" pitchFamily="2" charset="-122"/>
            </a:endParaRPr>
          </a:p>
        </p:txBody>
      </p:sp>
      <p:sp>
        <p:nvSpPr>
          <p:cNvPr id="467979" name="Rectangle 11"/>
          <p:cNvSpPr>
            <a:spLocks noChangeArrowheads="1"/>
          </p:cNvSpPr>
          <p:nvPr/>
        </p:nvSpPr>
        <p:spPr bwMode="auto">
          <a:xfrm>
            <a:off x="2209800" y="1727102"/>
            <a:ext cx="21967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是等价的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67980" name="Rectangle 12"/>
          <p:cNvSpPr>
            <a:spLocks noChangeArrowheads="1"/>
          </p:cNvSpPr>
          <p:nvPr/>
        </p:nvSpPr>
        <p:spPr bwMode="auto">
          <a:xfrm>
            <a:off x="4781550" y="2365735"/>
            <a:ext cx="1384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称差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798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343346"/>
              </p:ext>
            </p:extLst>
          </p:nvPr>
        </p:nvGraphicFramePr>
        <p:xfrm>
          <a:off x="4931908" y="5214144"/>
          <a:ext cx="12954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9900" imgH="228600" progId="Equation.DSMT4">
                  <p:embed/>
                </p:oleObj>
              </mc:Choice>
              <mc:Fallback>
                <p:oleObj name="Equation" r:id="rId11" imgW="469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908" y="5214144"/>
                        <a:ext cx="12954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2" name="Text Box 14"/>
          <p:cNvSpPr txBox="1">
            <a:spLocks noChangeArrowheads="1"/>
          </p:cNvSpPr>
          <p:nvPr/>
        </p:nvSpPr>
        <p:spPr bwMode="auto">
          <a:xfrm>
            <a:off x="6261100" y="5214144"/>
            <a:ext cx="1447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误差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79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928072"/>
              </p:ext>
            </p:extLst>
          </p:nvPr>
        </p:nvGraphicFramePr>
        <p:xfrm>
          <a:off x="7708900" y="5225832"/>
          <a:ext cx="7953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362" imgH="228501" progId="Equation.DSMT4">
                  <p:embed/>
                </p:oleObj>
              </mc:Choice>
              <mc:Fallback>
                <p:oleObj name="Equation" r:id="rId13" imgW="31736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5225832"/>
                        <a:ext cx="7953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43651C-AAE8-4921-9A9B-2F24A994741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45605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4" grpId="0" autoUpdateAnimBg="0"/>
      <p:bldP spid="467975" grpId="0" autoUpdateAnimBg="0"/>
      <p:bldP spid="467976" grpId="0" autoUpdateAnimBg="0"/>
      <p:bldP spid="467977" grpId="0" autoUpdateAnimBg="0"/>
      <p:bldP spid="467979" grpId="0" autoUpdateAnimBg="0"/>
      <p:bldP spid="467980" grpId="0" autoUpdateAnimBg="0"/>
      <p:bldP spid="46798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94510" y="1815090"/>
            <a:ext cx="1104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4689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250343"/>
              </p:ext>
            </p:extLst>
          </p:nvPr>
        </p:nvGraphicFramePr>
        <p:xfrm>
          <a:off x="3168650" y="2708412"/>
          <a:ext cx="50117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406400" progId="Equation.DSMT4">
                  <p:embed/>
                </p:oleObj>
              </mc:Choice>
              <mc:Fallback>
                <p:oleObj name="Equation" r:id="rId3" imgW="20193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2708412"/>
                        <a:ext cx="50117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2825750" y="399333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89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405442"/>
              </p:ext>
            </p:extLst>
          </p:nvPr>
        </p:nvGraphicFramePr>
        <p:xfrm>
          <a:off x="3700463" y="4018260"/>
          <a:ext cx="1524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252" imgH="279279" progId="Equation.DSMT4">
                  <p:embed/>
                </p:oleObj>
              </mc:Choice>
              <mc:Fallback>
                <p:oleObj name="Equation" r:id="rId5" imgW="571252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3" y="4018260"/>
                        <a:ext cx="1524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998" name="Text Box 6"/>
          <p:cNvSpPr txBox="1">
            <a:spLocks noChangeArrowheads="1"/>
          </p:cNvSpPr>
          <p:nvPr/>
        </p:nvSpPr>
        <p:spPr bwMode="auto">
          <a:xfrm>
            <a:off x="3168650" y="4854395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153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984615"/>
              </p:ext>
            </p:extLst>
          </p:nvPr>
        </p:nvGraphicFramePr>
        <p:xfrm>
          <a:off x="3816350" y="1960681"/>
          <a:ext cx="3908357" cy="412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09900" imgH="317500" progId="Equation.3">
                  <p:embed/>
                </p:oleObj>
              </mc:Choice>
              <mc:Fallback>
                <p:oleObj name="Equation" r:id="rId7" imgW="30099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1960681"/>
                        <a:ext cx="3908357" cy="412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7709171" y="1840837"/>
            <a:ext cx="200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的部分和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2757352" y="1840836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90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161008"/>
              </p:ext>
            </p:extLst>
          </p:nvPr>
        </p:nvGraphicFramePr>
        <p:xfrm>
          <a:off x="5224463" y="3871097"/>
          <a:ext cx="20367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2000" imgH="825500" progId="Equation.3">
                  <p:embed/>
                </p:oleObj>
              </mc:Choice>
              <mc:Fallback>
                <p:oleObj name="Equation" r:id="rId9" imgW="2032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3871097"/>
                        <a:ext cx="203676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0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005079"/>
              </p:ext>
            </p:extLst>
          </p:nvPr>
        </p:nvGraphicFramePr>
        <p:xfrm>
          <a:off x="7361509" y="4155259"/>
          <a:ext cx="347662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847" imgH="215713" progId="Equation.3">
                  <p:embed/>
                </p:oleObj>
              </mc:Choice>
              <mc:Fallback>
                <p:oleObj name="Equation" r:id="rId11" imgW="291847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1509" y="4155259"/>
                        <a:ext cx="347662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9004" name="Rectangle 12"/>
          <p:cNvSpPr>
            <a:spLocks noChangeArrowheads="1"/>
          </p:cNvSpPr>
          <p:nvPr/>
        </p:nvSpPr>
        <p:spPr bwMode="auto">
          <a:xfrm>
            <a:off x="4418807" y="4854395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69005" name="Text Box 13"/>
          <p:cNvSpPr txBox="1">
            <a:spLocks noChangeArrowheads="1"/>
          </p:cNvSpPr>
          <p:nvPr/>
        </p:nvSpPr>
        <p:spPr bwMode="auto">
          <a:xfrm>
            <a:off x="1655173" y="2920343"/>
            <a:ext cx="83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37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6046BE-BA3E-476E-A058-462A151DFB7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31501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utoUpdateAnimBg="0"/>
      <p:bldP spid="468998" grpId="0" autoUpdateAnimBg="0"/>
      <p:bldP spid="469004" grpId="0" autoUpdateAnimBg="0"/>
      <p:bldP spid="46900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Text Box 2"/>
          <p:cNvSpPr txBox="1">
            <a:spLocks noChangeArrowheads="1"/>
          </p:cNvSpPr>
          <p:nvPr/>
        </p:nvSpPr>
        <p:spPr bwMode="auto">
          <a:xfrm>
            <a:off x="2337322" y="3591978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70019" name="Text Box 3"/>
          <p:cNvSpPr txBox="1">
            <a:spLocks noChangeArrowheads="1"/>
          </p:cNvSpPr>
          <p:nvPr/>
        </p:nvSpPr>
        <p:spPr bwMode="auto">
          <a:xfrm>
            <a:off x="4972594" y="2793569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重要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510246" y="1223806"/>
            <a:ext cx="1112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endParaRPr lang="en-US" altLang="zh-CN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290888" y="1229804"/>
            <a:ext cx="518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讨论等比级数</a:t>
            </a:r>
            <a:r>
              <a:rPr lang="en-US" altLang="zh-CN" sz="3200" b="1" dirty="0">
                <a:ea typeface="宋体" panose="02010600030101010101" pitchFamily="2" charset="-122"/>
              </a:rPr>
              <a:t> (</a:t>
            </a:r>
            <a:r>
              <a:rPr lang="zh-CN" altLang="en-US" sz="3200" b="1" dirty="0">
                <a:ea typeface="宋体" panose="02010600030101010101" pitchFamily="2" charset="-122"/>
              </a:rPr>
              <a:t>几何级数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70022" name="Text Box 6"/>
          <p:cNvSpPr txBox="1">
            <a:spLocks noChangeArrowheads="1"/>
          </p:cNvSpPr>
          <p:nvPr/>
        </p:nvSpPr>
        <p:spPr bwMode="auto">
          <a:xfrm>
            <a:off x="2986088" y="2831160"/>
            <a:ext cx="243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的收敛性</a:t>
            </a:r>
            <a:r>
              <a:rPr lang="en-US" altLang="zh-CN" sz="3200" b="1" dirty="0"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700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390967"/>
              </p:ext>
            </p:extLst>
          </p:nvPr>
        </p:nvGraphicFramePr>
        <p:xfrm>
          <a:off x="3273426" y="1809241"/>
          <a:ext cx="6261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61100" imgH="952500" progId="Equation.3">
                  <p:embed/>
                </p:oleObj>
              </mc:Choice>
              <mc:Fallback>
                <p:oleObj name="Equation" r:id="rId3" imgW="6261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6" y="1809241"/>
                        <a:ext cx="6261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055364"/>
              </p:ext>
            </p:extLst>
          </p:nvPr>
        </p:nvGraphicFramePr>
        <p:xfrm>
          <a:off x="3273426" y="3591978"/>
          <a:ext cx="22272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66714" imgH="218851" progId="Equation.3">
                  <p:embed/>
                </p:oleObj>
              </mc:Choice>
              <mc:Fallback>
                <p:oleObj name="公式" r:id="rId5" imgW="866714" imgH="2188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6" y="3591978"/>
                        <a:ext cx="222726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212359"/>
              </p:ext>
            </p:extLst>
          </p:nvPr>
        </p:nvGraphicFramePr>
        <p:xfrm>
          <a:off x="3290888" y="4290219"/>
          <a:ext cx="1828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23586" imgH="215806" progId="Equation.3">
                  <p:embed/>
                </p:oleObj>
              </mc:Choice>
              <mc:Fallback>
                <p:oleObj name="公式" r:id="rId7" imgW="72358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4290219"/>
                        <a:ext cx="18288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280058"/>
              </p:ext>
            </p:extLst>
          </p:nvPr>
        </p:nvGraphicFramePr>
        <p:xfrm>
          <a:off x="3276600" y="4987132"/>
          <a:ext cx="20701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25142" imgH="215806" progId="Equation.3">
                  <p:embed/>
                </p:oleObj>
              </mc:Choice>
              <mc:Fallback>
                <p:oleObj name="公式" r:id="rId9" imgW="82514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987132"/>
                        <a:ext cx="20701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014421"/>
              </p:ext>
            </p:extLst>
          </p:nvPr>
        </p:nvGraphicFramePr>
        <p:xfrm>
          <a:off x="5372222" y="4302772"/>
          <a:ext cx="2109666" cy="55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228600" progId="Equation.DSMT4">
                  <p:embed/>
                </p:oleObj>
              </mc:Choice>
              <mc:Fallback>
                <p:oleObj name="Equation" r:id="rId11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222" y="4302772"/>
                        <a:ext cx="2109666" cy="556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8" name="Text Box 12"/>
          <p:cNvSpPr txBox="1">
            <a:spLocks noChangeArrowheads="1"/>
          </p:cNvSpPr>
          <p:nvPr/>
        </p:nvSpPr>
        <p:spPr bwMode="auto">
          <a:xfrm>
            <a:off x="7481888" y="4250531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00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29046"/>
              </p:ext>
            </p:extLst>
          </p:nvPr>
        </p:nvGraphicFramePr>
        <p:xfrm>
          <a:off x="7437400" y="5184630"/>
          <a:ext cx="2476726" cy="259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3000" imgH="254000" progId="Equation.3">
                  <p:embed/>
                </p:oleObj>
              </mc:Choice>
              <mc:Fallback>
                <p:oleObj name="Equation" r:id="rId13" imgW="2413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400" y="5184630"/>
                        <a:ext cx="2476726" cy="259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773179"/>
              </p:ext>
            </p:extLst>
          </p:nvPr>
        </p:nvGraphicFramePr>
        <p:xfrm>
          <a:off x="3743325" y="5657850"/>
          <a:ext cx="27527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28700" imgH="279400" progId="Equation.DSMT4">
                  <p:embed/>
                </p:oleObj>
              </mc:Choice>
              <mc:Fallback>
                <p:oleObj name="Equation" r:id="rId15" imgW="1028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5657850"/>
                        <a:ext cx="27527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31" name="Text Box 15"/>
          <p:cNvSpPr txBox="1">
            <a:spLocks noChangeArrowheads="1"/>
          </p:cNvSpPr>
          <p:nvPr/>
        </p:nvSpPr>
        <p:spPr bwMode="auto">
          <a:xfrm>
            <a:off x="7391400" y="5657850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70032" name="Text Box 16"/>
          <p:cNvSpPr txBox="1">
            <a:spLocks noChangeArrowheads="1"/>
          </p:cNvSpPr>
          <p:nvPr/>
        </p:nvSpPr>
        <p:spPr bwMode="auto">
          <a:xfrm>
            <a:off x="5500688" y="4966427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级数变为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1640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E77C51-5533-4CE1-884A-8AB948AE212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96648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18" grpId="0" autoUpdateAnimBg="0"/>
      <p:bldP spid="470019" grpId="0" autoUpdateAnimBg="0"/>
      <p:bldP spid="470028" grpId="0" autoUpdateAnimBg="0"/>
      <p:bldP spid="470031" grpId="0" autoUpdateAnimBg="0"/>
      <p:bldP spid="47003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014412"/>
              </p:ext>
            </p:extLst>
          </p:nvPr>
        </p:nvGraphicFramePr>
        <p:xfrm>
          <a:off x="2670176" y="3490119"/>
          <a:ext cx="19145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669" imgH="241195" progId="Equation.3">
                  <p:embed/>
                </p:oleObj>
              </mc:Choice>
              <mc:Fallback>
                <p:oleObj name="公式" r:id="rId2" imgW="76166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6" y="3490119"/>
                        <a:ext cx="1914525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040238"/>
              </p:ext>
            </p:extLst>
          </p:nvPr>
        </p:nvGraphicFramePr>
        <p:xfrm>
          <a:off x="4564064" y="3504350"/>
          <a:ext cx="17605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300" imgH="609600" progId="Equation.3">
                  <p:embed/>
                </p:oleObj>
              </mc:Choice>
              <mc:Fallback>
                <p:oleObj name="Equation" r:id="rId4" imgW="17653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4" y="3504350"/>
                        <a:ext cx="176053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084501"/>
              </p:ext>
            </p:extLst>
          </p:nvPr>
        </p:nvGraphicFramePr>
        <p:xfrm>
          <a:off x="6449559" y="3225929"/>
          <a:ext cx="24384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254" imgH="431613" progId="Equation.DSMT4">
                  <p:embed/>
                </p:oleObj>
              </mc:Choice>
              <mc:Fallback>
                <p:oleObj name="Equation" r:id="rId6" imgW="102825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9559" y="3225929"/>
                        <a:ext cx="243840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015685"/>
              </p:ext>
            </p:extLst>
          </p:nvPr>
        </p:nvGraphicFramePr>
        <p:xfrm>
          <a:off x="2618922" y="4227897"/>
          <a:ext cx="192881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1669" imgH="241195" progId="Equation.3">
                  <p:embed/>
                </p:oleObj>
              </mc:Choice>
              <mc:Fallback>
                <p:oleObj name="公式" r:id="rId8" imgW="76166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922" y="4227897"/>
                        <a:ext cx="1928813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89345"/>
              </p:ext>
            </p:extLst>
          </p:nvPr>
        </p:nvGraphicFramePr>
        <p:xfrm>
          <a:off x="4564064" y="4233069"/>
          <a:ext cx="18494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54200" imgH="609600" progId="Equation.3">
                  <p:embed/>
                </p:oleObj>
              </mc:Choice>
              <mc:Fallback>
                <p:oleObj name="Equation" r:id="rId10" imgW="18542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4" y="4233069"/>
                        <a:ext cx="18494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36471"/>
              </p:ext>
            </p:extLst>
          </p:nvPr>
        </p:nvGraphicFramePr>
        <p:xfrm>
          <a:off x="6521450" y="4173653"/>
          <a:ext cx="20574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200" imgH="279400" progId="Equation.DSMT4">
                  <p:embed/>
                </p:oleObj>
              </mc:Choice>
              <mc:Fallback>
                <p:oleObj name="Equation" r:id="rId12" imgW="838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4173653"/>
                        <a:ext cx="20574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8" name="Text Box 8"/>
          <p:cNvSpPr txBox="1">
            <a:spLocks noChangeArrowheads="1"/>
          </p:cNvSpPr>
          <p:nvPr/>
        </p:nvSpPr>
        <p:spPr bwMode="auto">
          <a:xfrm>
            <a:off x="8778468" y="3425424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71049" name="Text Box 9"/>
          <p:cNvSpPr txBox="1">
            <a:spLocks noChangeArrowheads="1"/>
          </p:cNvSpPr>
          <p:nvPr/>
        </p:nvSpPr>
        <p:spPr bwMode="auto">
          <a:xfrm>
            <a:off x="8833214" y="4181838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71050" name="Text Box 10"/>
          <p:cNvSpPr txBox="1">
            <a:spLocks noChangeArrowheads="1"/>
          </p:cNvSpPr>
          <p:nvPr/>
        </p:nvSpPr>
        <p:spPr bwMode="auto">
          <a:xfrm>
            <a:off x="2324100" y="5327355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综上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10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21159"/>
              </p:ext>
            </p:extLst>
          </p:nvPr>
        </p:nvGraphicFramePr>
        <p:xfrm>
          <a:off x="3561557" y="4941208"/>
          <a:ext cx="3829050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04827" imgH="514350" progId="Equation.3">
                  <p:embed/>
                </p:oleObj>
              </mc:Choice>
              <mc:Fallback>
                <p:oleObj name="公式" r:id="rId15" imgW="150482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557" y="4941208"/>
                        <a:ext cx="3829050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61007"/>
              </p:ext>
            </p:extLst>
          </p:nvPr>
        </p:nvGraphicFramePr>
        <p:xfrm>
          <a:off x="9864634" y="514273"/>
          <a:ext cx="22367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01309" imgH="215806" progId="Equation.3">
                  <p:embed/>
                </p:oleObj>
              </mc:Choice>
              <mc:Fallback>
                <p:oleObj name="公式" r:id="rId17" imgW="90130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4634" y="514273"/>
                        <a:ext cx="2236788" cy="5397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458345"/>
              </p:ext>
            </p:extLst>
          </p:nvPr>
        </p:nvGraphicFramePr>
        <p:xfrm>
          <a:off x="2446339" y="1132491"/>
          <a:ext cx="2138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28859" imgH="200193" progId="Equation.3">
                  <p:embed/>
                </p:oleObj>
              </mc:Choice>
              <mc:Fallback>
                <p:oleObj name="公式" r:id="rId19" imgW="828859" imgH="2001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9" y="1132491"/>
                        <a:ext cx="21383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5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989678"/>
              </p:ext>
            </p:extLst>
          </p:nvPr>
        </p:nvGraphicFramePr>
        <p:xfrm>
          <a:off x="3091657" y="1732594"/>
          <a:ext cx="47053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828800" imgH="241300" progId="Equation.DSMT4">
                  <p:embed/>
                </p:oleObj>
              </mc:Choice>
              <mc:Fallback>
                <p:oleObj name="Equation" r:id="rId21" imgW="1828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657" y="1732594"/>
                        <a:ext cx="47053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5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19402"/>
              </p:ext>
            </p:extLst>
          </p:nvPr>
        </p:nvGraphicFramePr>
        <p:xfrm>
          <a:off x="3692187" y="2480874"/>
          <a:ext cx="149383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498600" imgH="1016000" progId="Equation.3">
                  <p:embed/>
                </p:oleObj>
              </mc:Choice>
              <mc:Fallback>
                <p:oleObj name="公式" r:id="rId23" imgW="14986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187" y="2480874"/>
                        <a:ext cx="1493837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5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880196"/>
              </p:ext>
            </p:extLst>
          </p:nvPr>
        </p:nvGraphicFramePr>
        <p:xfrm>
          <a:off x="5292204" y="2418667"/>
          <a:ext cx="21478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146300" imgH="1016000" progId="Equation.3">
                  <p:embed/>
                </p:oleObj>
              </mc:Choice>
              <mc:Fallback>
                <p:oleObj name="公式" r:id="rId25" imgW="21463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204" y="2418667"/>
                        <a:ext cx="214788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A314C5-E5C3-43F9-A6E7-F039F2BDBD9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86978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8" grpId="0" autoUpdateAnimBg="0"/>
      <p:bldP spid="471049" grpId="0" autoUpdateAnimBg="0"/>
      <p:bldP spid="47105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071" y="1357074"/>
            <a:ext cx="95097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3333"/>
                </a:solidFill>
                <a:latin typeface="PingFang SC"/>
              </a:rPr>
              <a:t>      </a:t>
            </a:r>
            <a:r>
              <a:rPr lang="en-US" altLang="zh-CN" sz="2000" b="1" dirty="0">
                <a:solidFill>
                  <a:srgbClr val="FF0000"/>
                </a:solidFill>
                <a:latin typeface="PingFang SC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PingFang SC"/>
              </a:rPr>
              <a:t>苍蝇之谜</a:t>
            </a:r>
            <a:r>
              <a:rPr lang="en-US" altLang="zh-CN" sz="2000" b="1" dirty="0">
                <a:solidFill>
                  <a:srgbClr val="FF0000"/>
                </a:solidFill>
                <a:latin typeface="PingFang SC"/>
              </a:rPr>
              <a:t>)</a:t>
            </a:r>
            <a:r>
              <a:rPr lang="zh-CN" altLang="en-US" sz="2000" b="1" dirty="0">
                <a:solidFill>
                  <a:srgbClr val="333333"/>
                </a:solidFill>
                <a:latin typeface="PingFang SC"/>
              </a:rPr>
              <a:t>有这样一个问题，两地相距三十二千米，两端分别有人骑自行车</a:t>
            </a:r>
            <a:endParaRPr lang="en-US" altLang="zh-CN" sz="2000" b="1" dirty="0">
              <a:solidFill>
                <a:srgbClr val="333333"/>
              </a:solidFill>
              <a:latin typeface="PingFang SC"/>
            </a:endParaRPr>
          </a:p>
          <a:p>
            <a:r>
              <a:rPr lang="zh-CN" altLang="en-US" sz="2000" b="1" dirty="0">
                <a:solidFill>
                  <a:srgbClr val="333333"/>
                </a:solidFill>
                <a:latin typeface="PingFang SC"/>
              </a:rPr>
              <a:t>相向而行，他们的车速都是每小时十六千米，中间有一只苍蝇，以时速二十四公里</a:t>
            </a:r>
            <a:endParaRPr lang="en-US" altLang="zh-CN" sz="2000" b="1" dirty="0">
              <a:solidFill>
                <a:srgbClr val="333333"/>
              </a:solidFill>
              <a:latin typeface="PingFang SC"/>
            </a:endParaRPr>
          </a:p>
          <a:p>
            <a:r>
              <a:rPr lang="zh-CN" altLang="en-US" sz="2000" b="1" dirty="0">
                <a:solidFill>
                  <a:srgbClr val="333333"/>
                </a:solidFill>
                <a:latin typeface="PingFang SC"/>
              </a:rPr>
              <a:t>在两人自行车前轮间匀速飞行，遇到一人车轮后，掉头返回，然后往复运动，直到</a:t>
            </a:r>
            <a:endParaRPr lang="en-US" altLang="zh-CN" sz="2000" b="1" dirty="0">
              <a:solidFill>
                <a:srgbClr val="333333"/>
              </a:solidFill>
              <a:latin typeface="PingFang SC"/>
            </a:endParaRPr>
          </a:p>
          <a:p>
            <a:r>
              <a:rPr lang="zh-CN" altLang="en-US" sz="2000" b="1" dirty="0">
                <a:solidFill>
                  <a:srgbClr val="333333"/>
                </a:solidFill>
                <a:latin typeface="PingFang SC"/>
              </a:rPr>
              <a:t>二人自行车相碰，把苍蝇夹扁</a:t>
            </a:r>
            <a:r>
              <a:rPr lang="en-US" altLang="zh-CN" sz="2000" b="1" dirty="0">
                <a:solidFill>
                  <a:srgbClr val="333333"/>
                </a:solidFill>
                <a:latin typeface="PingFang SC"/>
              </a:rPr>
              <a:t>.</a:t>
            </a:r>
            <a:endParaRPr lang="zh-CN" altLang="en-US" sz="2000" b="1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5071" y="2680513"/>
            <a:ext cx="96926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        计算这道题有两种方法，第一种复杂，就是把苍蝇来回飞行的距离分别相加，因</a:t>
            </a:r>
            <a:endParaRPr lang="en-US" altLang="zh-CN" sz="2000" b="1" dirty="0"/>
          </a:p>
          <a:p>
            <a:r>
              <a:rPr lang="zh-CN" altLang="en-US" sz="2000" b="1" dirty="0"/>
              <a:t>为两人越骑越近，所以这就变成了一道计算无穷数列的题目，不少人都会这样计算</a:t>
            </a:r>
            <a:r>
              <a:rPr lang="en-US" altLang="zh-CN" sz="2000" b="1" dirty="0"/>
              <a:t>.</a:t>
            </a:r>
            <a:endParaRPr lang="zh-CN" altLang="en-US" sz="2000" b="1" dirty="0"/>
          </a:p>
          <a:p>
            <a:r>
              <a:rPr lang="zh-CN" altLang="en-US" sz="2000" b="1" dirty="0"/>
              <a:t>        第二种简单，直接把苍蝇飞行时速乘以飞行时间就行了，飞行时间怎么算呢？</a:t>
            </a:r>
            <a:endParaRPr lang="en-US" altLang="zh-CN" sz="2000" b="1" dirty="0"/>
          </a:p>
          <a:p>
            <a:r>
              <a:rPr lang="zh-CN" altLang="en-US" sz="2000" b="1" dirty="0"/>
              <a:t>因为二人只需要骑行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千米就能相碰，所以只需要一个小时就会把苍蝇夹扁，而苍蝇</a:t>
            </a:r>
            <a:endParaRPr lang="en-US" altLang="zh-CN" sz="2000" b="1" dirty="0"/>
          </a:p>
          <a:p>
            <a:r>
              <a:rPr lang="zh-CN" altLang="en-US" sz="2000" b="1" dirty="0"/>
              <a:t>只能飞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个小时，所以苍蝇时速</a:t>
            </a:r>
            <a:r>
              <a:rPr lang="en-US" altLang="zh-CN" sz="2000" b="1" dirty="0"/>
              <a:t>24</a:t>
            </a:r>
            <a:r>
              <a:rPr lang="zh-CN" altLang="en-US" sz="2000" b="1" dirty="0"/>
              <a:t>公里乘以一小时，答案就是</a:t>
            </a:r>
            <a:r>
              <a:rPr lang="en-US" altLang="zh-CN" sz="2000" b="1" dirty="0"/>
              <a:t>24</a:t>
            </a:r>
            <a:r>
              <a:rPr lang="zh-CN" altLang="en-US" sz="2000" b="1" dirty="0"/>
              <a:t>公里</a:t>
            </a:r>
            <a:r>
              <a:rPr lang="en-US" altLang="zh-CN" sz="2000" b="1" dirty="0"/>
              <a:t>.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95071" y="4274782"/>
            <a:ext cx="96469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       一次，在一个数学聚会上，有一个年轻人兴冲冲的找到冯</a:t>
            </a:r>
            <a:r>
              <a:rPr lang="en-US" altLang="zh-CN" sz="2000" b="1" dirty="0"/>
              <a:t>·</a:t>
            </a:r>
            <a:r>
              <a:rPr lang="zh-CN" altLang="en-US" sz="2000" b="1" dirty="0"/>
              <a:t>诺依曼，向他请教这个</a:t>
            </a:r>
            <a:endParaRPr lang="en-US" altLang="zh-CN" sz="2000" b="1" dirty="0"/>
          </a:p>
          <a:p>
            <a:r>
              <a:rPr lang="zh-CN" altLang="en-US" sz="2000" b="1" dirty="0"/>
              <a:t>问题，冯</a:t>
            </a:r>
            <a:r>
              <a:rPr lang="en-US" altLang="zh-CN" sz="2000" b="1" dirty="0"/>
              <a:t>·</a:t>
            </a:r>
            <a:r>
              <a:rPr lang="zh-CN" altLang="en-US" sz="2000" b="1" dirty="0"/>
              <a:t>诺依曼听完后，稍微思考了一下，就报出答案</a:t>
            </a:r>
            <a:r>
              <a:rPr lang="en-US" altLang="zh-CN" sz="2000" b="1" dirty="0"/>
              <a:t>24</a:t>
            </a:r>
            <a:r>
              <a:rPr lang="zh-CN" altLang="en-US" sz="2000" b="1" dirty="0"/>
              <a:t>公里</a:t>
            </a:r>
            <a:r>
              <a:rPr lang="en-US" altLang="zh-CN" sz="2000" b="1" dirty="0"/>
              <a:t>.</a:t>
            </a:r>
            <a:r>
              <a:rPr lang="zh-CN" altLang="en-US" sz="2000" b="1" dirty="0"/>
              <a:t>提问者很失望，就说：</a:t>
            </a:r>
            <a:endParaRPr lang="en-US" altLang="zh-CN" sz="2000" b="1" dirty="0"/>
          </a:p>
          <a:p>
            <a:r>
              <a:rPr lang="zh-CN" altLang="en-US" sz="2000" b="1" dirty="0"/>
              <a:t>你之前是不是听过这个方法啊？冯</a:t>
            </a:r>
            <a:r>
              <a:rPr lang="en-US" altLang="zh-CN" sz="2000" b="1" dirty="0"/>
              <a:t>·</a:t>
            </a:r>
            <a:r>
              <a:rPr lang="zh-CN" altLang="en-US" sz="2000" b="1" dirty="0"/>
              <a:t>诺依曼很奇怪，有什么巧招？难道不是把无穷数</a:t>
            </a:r>
            <a:endParaRPr lang="en-US" altLang="zh-CN" sz="2000" b="1" dirty="0"/>
          </a:p>
          <a:p>
            <a:r>
              <a:rPr lang="zh-CN" altLang="en-US" sz="2000" b="1" dirty="0"/>
              <a:t>列相加吗？</a:t>
            </a:r>
            <a:endParaRPr lang="zh-CN" altLang="en-US" sz="2000" dirty="0"/>
          </a:p>
        </p:txBody>
      </p:sp>
      <p:sp>
        <p:nvSpPr>
          <p:cNvPr id="5" name="上凸弯带形 4"/>
          <p:cNvSpPr/>
          <p:nvPr/>
        </p:nvSpPr>
        <p:spPr>
          <a:xfrm>
            <a:off x="3636447" y="390586"/>
            <a:ext cx="4742441" cy="758952"/>
          </a:xfrm>
          <a:prstGeom prst="ellipseRibbon2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45892" y="45628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历史小故事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5071" y="5598221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       据说，我国著名数学家华罗庚在英国留学期间，有人拿这个问题问他，他马上给</a:t>
            </a:r>
            <a:endParaRPr lang="en-US" altLang="zh-CN" sz="2000" b="1" dirty="0"/>
          </a:p>
          <a:p>
            <a:r>
              <a:rPr lang="zh-CN" altLang="en-US" sz="2000" b="1" dirty="0"/>
              <a:t>出答案，他用的就是第二种方法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570" y="1297311"/>
            <a:ext cx="1524213" cy="1905266"/>
          </a:xfrm>
          <a:prstGeom prst="rect">
            <a:avLst/>
          </a:prstGeom>
        </p:spPr>
      </p:pic>
      <p:pic>
        <p:nvPicPr>
          <p:cNvPr id="39938" name="Picture 2" descr="https://gimg2.baidu.com/image_search/src=http%3A%2F%2Finews.gtimg.com%2Fnewsapp_bt%2F0%2F12888584290%2F1000.jpg&amp;refer=http%3A%2F%2Finews.gtimg.com&amp;app=2002&amp;size=f9999,10000&amp;q=a80&amp;n=0&amp;g=0n&amp;fmt=jpeg?sec=1646536170&amp;t=dab5077c1a523a03b0e1564cdd99057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089" y="3970448"/>
            <a:ext cx="1528353" cy="210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1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124200" y="928689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讨论级数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451600" y="928689"/>
            <a:ext cx="2463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8436" name="Object 2"/>
          <p:cNvGraphicFramePr>
            <a:graphicFrameLocks noChangeAspect="1"/>
          </p:cNvGraphicFramePr>
          <p:nvPr/>
        </p:nvGraphicFramePr>
        <p:xfrm>
          <a:off x="4927600" y="688975"/>
          <a:ext cx="13652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45863" imgH="444307" progId="Equation.3">
                  <p:embed/>
                </p:oleObj>
              </mc:Choice>
              <mc:Fallback>
                <p:oleObj name="公式" r:id="rId3" imgW="54586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688975"/>
                        <a:ext cx="13652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69" name="Text Box 5"/>
          <p:cNvSpPr txBox="1">
            <a:spLocks noChangeArrowheads="1"/>
          </p:cNvSpPr>
          <p:nvPr/>
        </p:nvSpPr>
        <p:spPr bwMode="auto">
          <a:xfrm>
            <a:off x="2241550" y="2198689"/>
            <a:ext cx="83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241550" y="928689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3124200" y="2198689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2072" name="Text Box 8"/>
          <p:cNvSpPr txBox="1">
            <a:spLocks noChangeArrowheads="1"/>
          </p:cNvSpPr>
          <p:nvPr/>
        </p:nvSpPr>
        <p:spPr bwMode="auto">
          <a:xfrm>
            <a:off x="2403566" y="3059112"/>
            <a:ext cx="381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为公比的等比级数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72073" name="Text Box 9"/>
          <p:cNvSpPr txBox="1">
            <a:spLocks noChangeArrowheads="1"/>
          </p:cNvSpPr>
          <p:nvPr/>
        </p:nvSpPr>
        <p:spPr bwMode="auto">
          <a:xfrm>
            <a:off x="5905500" y="2218531"/>
            <a:ext cx="106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是以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20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563342"/>
              </p:ext>
            </p:extLst>
          </p:nvPr>
        </p:nvGraphicFramePr>
        <p:xfrm>
          <a:off x="6948488" y="1952624"/>
          <a:ext cx="166211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72808" imgH="431613" progId="Equation.3">
                  <p:embed/>
                </p:oleObj>
              </mc:Choice>
              <mc:Fallback>
                <p:oleObj name="公式" r:id="rId5" imgW="67280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952624"/>
                        <a:ext cx="1662112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75" name="Text Box 11"/>
          <p:cNvSpPr txBox="1">
            <a:spLocks noChangeArrowheads="1"/>
          </p:cNvSpPr>
          <p:nvPr/>
        </p:nvSpPr>
        <p:spPr bwMode="auto">
          <a:xfrm>
            <a:off x="2380592" y="4024313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2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739648"/>
              </p:ext>
            </p:extLst>
          </p:nvPr>
        </p:nvGraphicFramePr>
        <p:xfrm>
          <a:off x="2959236" y="3850325"/>
          <a:ext cx="14430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45863" imgH="393529" progId="Equation.3">
                  <p:embed/>
                </p:oleObj>
              </mc:Choice>
              <mc:Fallback>
                <p:oleObj name="公式" r:id="rId7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236" y="3850325"/>
                        <a:ext cx="144303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7" name="Object 5"/>
          <p:cNvGraphicFramePr>
            <a:graphicFrameLocks noChangeAspect="1"/>
          </p:cNvGraphicFramePr>
          <p:nvPr/>
        </p:nvGraphicFramePr>
        <p:xfrm>
          <a:off x="2800350" y="4989514"/>
          <a:ext cx="3829050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04827" imgH="514350" progId="Equation.3">
                  <p:embed/>
                </p:oleObj>
              </mc:Choice>
              <mc:Fallback>
                <p:oleObj name="公式" r:id="rId9" imgW="150482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4989514"/>
                        <a:ext cx="3829050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882624"/>
              </p:ext>
            </p:extLst>
          </p:nvPr>
        </p:nvGraphicFramePr>
        <p:xfrm>
          <a:off x="4451350" y="1930400"/>
          <a:ext cx="136366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45863" imgH="444307" progId="Equation.3">
                  <p:embed/>
                </p:oleObj>
              </mc:Choice>
              <mc:Fallback>
                <p:oleObj name="公式" r:id="rId11" imgW="54586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0" y="1930400"/>
                        <a:ext cx="1363663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464413" y="3708879"/>
            <a:ext cx="4775200" cy="1108075"/>
            <a:chOff x="2144" y="2256"/>
            <a:chExt cx="3008" cy="698"/>
          </a:xfrm>
        </p:grpSpPr>
        <p:grpSp>
          <p:nvGrpSpPr>
            <p:cNvPr id="18449" name="Group 16"/>
            <p:cNvGrpSpPr>
              <a:grpSpLocks/>
            </p:cNvGrpSpPr>
            <p:nvPr/>
          </p:nvGrpSpPr>
          <p:grpSpPr bwMode="auto">
            <a:xfrm>
              <a:off x="2736" y="2256"/>
              <a:ext cx="2416" cy="698"/>
              <a:chOff x="2890" y="2278"/>
              <a:chExt cx="2416" cy="698"/>
            </a:xfrm>
          </p:grpSpPr>
          <p:sp>
            <p:nvSpPr>
              <p:cNvPr id="18451" name="Text Box 17"/>
              <p:cNvSpPr txBox="1">
                <a:spLocks noChangeArrowheads="1"/>
              </p:cNvSpPr>
              <p:nvPr/>
            </p:nvSpPr>
            <p:spPr bwMode="auto">
              <a:xfrm>
                <a:off x="2890" y="2449"/>
                <a:ext cx="72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2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级数</a:t>
                </a:r>
                <a:endPara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452" name="Rectangle 18"/>
              <p:cNvSpPr>
                <a:spLocks noChangeArrowheads="1"/>
              </p:cNvSpPr>
              <p:nvPr/>
            </p:nvSpPr>
            <p:spPr bwMode="auto">
              <a:xfrm>
                <a:off x="4416" y="2476"/>
                <a:ext cx="89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2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收敛</a:t>
                </a:r>
                <a:r>
                  <a:rPr lang="en-US" altLang="zh-CN" sz="32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.</a:t>
                </a:r>
              </a:p>
            </p:txBody>
          </p:sp>
          <p:graphicFrame>
            <p:nvGraphicFramePr>
              <p:cNvPr id="18453" name="Object 7"/>
              <p:cNvGraphicFramePr>
                <a:graphicFrameLocks noChangeAspect="1"/>
              </p:cNvGraphicFramePr>
              <p:nvPr/>
            </p:nvGraphicFramePr>
            <p:xfrm>
              <a:off x="3504" y="2278"/>
              <a:ext cx="859" cy="6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545863" imgH="444307" progId="Equation.3">
                      <p:embed/>
                    </p:oleObj>
                  </mc:Choice>
                  <mc:Fallback>
                    <p:oleObj name="公式" r:id="rId13" imgW="545863" imgH="44430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278"/>
                            <a:ext cx="859" cy="6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50" name="Text Box 20"/>
            <p:cNvSpPr txBox="1">
              <a:spLocks noChangeArrowheads="1"/>
            </p:cNvSpPr>
            <p:nvPr/>
          </p:nvSpPr>
          <p:spPr bwMode="auto">
            <a:xfrm>
              <a:off x="2144" y="24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所以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844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11C395-892C-4387-81E7-1C94F18D9336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0040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9" grpId="0" autoUpdateAnimBg="0"/>
      <p:bldP spid="472071" grpId="0" autoUpdateAnimBg="0"/>
      <p:bldP spid="472072" grpId="0" autoUpdateAnimBg="0"/>
      <p:bldP spid="472073" grpId="0" autoUpdateAnimBg="0"/>
      <p:bldP spid="47207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114947" y="1114063"/>
            <a:ext cx="182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讨论级数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421563" y="1083131"/>
            <a:ext cx="289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94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330382"/>
              </p:ext>
            </p:extLst>
          </p:nvPr>
        </p:nvGraphicFramePr>
        <p:xfrm>
          <a:off x="4905375" y="853367"/>
          <a:ext cx="25749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28254" imgH="431613" progId="Equation.3">
                  <p:embed/>
                </p:oleObj>
              </mc:Choice>
              <mc:Fallback>
                <p:oleObj name="公式" r:id="rId3" imgW="102825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853367"/>
                        <a:ext cx="25749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3" name="Text Box 5"/>
          <p:cNvSpPr txBox="1">
            <a:spLocks noChangeArrowheads="1"/>
          </p:cNvSpPr>
          <p:nvPr/>
        </p:nvSpPr>
        <p:spPr bwMode="auto">
          <a:xfrm>
            <a:off x="2276747" y="2027757"/>
            <a:ext cx="83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381250" y="1142276"/>
            <a:ext cx="1428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3095" name="Text Box 7"/>
          <p:cNvSpPr txBox="1">
            <a:spLocks noChangeArrowheads="1"/>
          </p:cNvSpPr>
          <p:nvPr/>
        </p:nvSpPr>
        <p:spPr bwMode="auto">
          <a:xfrm>
            <a:off x="3076575" y="2027757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30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841822"/>
              </p:ext>
            </p:extLst>
          </p:nvPr>
        </p:nvGraphicFramePr>
        <p:xfrm>
          <a:off x="4159002" y="1750478"/>
          <a:ext cx="15255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09336" imgH="431613" progId="Equation.3">
                  <p:embed/>
                </p:oleObj>
              </mc:Choice>
              <mc:Fallback>
                <p:oleObj name="公式" r:id="rId5" imgW="60933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002" y="1750478"/>
                        <a:ext cx="15255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7" name="Text Box 9"/>
          <p:cNvSpPr txBox="1">
            <a:spLocks noChangeArrowheads="1"/>
          </p:cNvSpPr>
          <p:nvPr/>
        </p:nvSpPr>
        <p:spPr bwMode="auto">
          <a:xfrm>
            <a:off x="3095625" y="2791844"/>
            <a:ext cx="3851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为公比的等比级数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831569" y="2009137"/>
            <a:ext cx="1835150" cy="595312"/>
            <a:chOff x="2744" y="1209"/>
            <a:chExt cx="1156" cy="375"/>
          </a:xfrm>
        </p:grpSpPr>
        <p:sp>
          <p:nvSpPr>
            <p:cNvPr id="19481" name="Text Box 11"/>
            <p:cNvSpPr txBox="1">
              <a:spLocks noChangeArrowheads="1"/>
            </p:cNvSpPr>
            <p:nvPr/>
          </p:nvSpPr>
          <p:spPr bwMode="auto">
            <a:xfrm>
              <a:off x="2744" y="1209"/>
              <a:ext cx="6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是以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82" name="Object 10"/>
            <p:cNvGraphicFramePr>
              <a:graphicFrameLocks noChangeAspect="1"/>
            </p:cNvGraphicFramePr>
            <p:nvPr/>
          </p:nvGraphicFramePr>
          <p:xfrm>
            <a:off x="3408" y="1280"/>
            <a:ext cx="4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66353" imgH="164885" progId="Equation.3">
                    <p:embed/>
                  </p:oleObj>
                </mc:Choice>
                <mc:Fallback>
                  <p:oleObj name="公式" r:id="rId7" imgW="266353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280"/>
                          <a:ext cx="4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3101" name="Text Box 13"/>
          <p:cNvSpPr txBox="1">
            <a:spLocks noChangeArrowheads="1"/>
          </p:cNvSpPr>
          <p:nvPr/>
        </p:nvSpPr>
        <p:spPr bwMode="auto">
          <a:xfrm>
            <a:off x="6752319" y="2791843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31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087969"/>
              </p:ext>
            </p:extLst>
          </p:nvPr>
        </p:nvGraphicFramePr>
        <p:xfrm>
          <a:off x="2498408" y="3399494"/>
          <a:ext cx="231457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05059" imgH="371643" progId="Equation.3">
                  <p:embed/>
                </p:oleObj>
              </mc:Choice>
              <mc:Fallback>
                <p:oleObj name="公式" r:id="rId9" imgW="905059" imgH="3716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408" y="3399494"/>
                        <a:ext cx="231457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892866"/>
              </p:ext>
            </p:extLst>
          </p:nvPr>
        </p:nvGraphicFramePr>
        <p:xfrm>
          <a:off x="5055416" y="3623262"/>
          <a:ext cx="167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96641" imgH="203112" progId="Equation.3">
                  <p:embed/>
                </p:oleObj>
              </mc:Choice>
              <mc:Fallback>
                <p:oleObj name="公式" r:id="rId11" imgW="59664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416" y="3623262"/>
                        <a:ext cx="167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881812" y="3589994"/>
            <a:ext cx="2327275" cy="611187"/>
            <a:chOff x="3360" y="2294"/>
            <a:chExt cx="1466" cy="385"/>
          </a:xfrm>
        </p:grpSpPr>
        <p:sp>
          <p:nvSpPr>
            <p:cNvPr id="19479" name="Text Box 17"/>
            <p:cNvSpPr txBox="1">
              <a:spLocks noChangeArrowheads="1"/>
            </p:cNvSpPr>
            <p:nvPr/>
          </p:nvSpPr>
          <p:spPr bwMode="auto">
            <a:xfrm>
              <a:off x="3360" y="2294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级数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80" name="Rectangle 18"/>
            <p:cNvSpPr>
              <a:spLocks noChangeArrowheads="1"/>
            </p:cNvSpPr>
            <p:nvPr/>
          </p:nvSpPr>
          <p:spPr bwMode="auto">
            <a:xfrm>
              <a:off x="3936" y="2314"/>
              <a:ext cx="89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收敛</a:t>
              </a:r>
              <a:r>
                <a:rPr lang="en-US" altLang="zh-CN" sz="32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graphicFrame>
        <p:nvGraphicFramePr>
          <p:cNvPr id="47310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796907"/>
              </p:ext>
            </p:extLst>
          </p:nvPr>
        </p:nvGraphicFramePr>
        <p:xfrm>
          <a:off x="2546351" y="4183719"/>
          <a:ext cx="18383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14314" imgH="390301" progId="Equation.3">
                  <p:embed/>
                </p:oleObj>
              </mc:Choice>
              <mc:Fallback>
                <p:oleObj name="公式" r:id="rId13" imgW="714314" imgH="390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1" y="4183719"/>
                        <a:ext cx="183832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800932"/>
              </p:ext>
            </p:extLst>
          </p:nvPr>
        </p:nvGraphicFramePr>
        <p:xfrm>
          <a:off x="6234113" y="4382156"/>
          <a:ext cx="181133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96641" imgH="203112" progId="Equation.3">
                  <p:embed/>
                </p:oleObj>
              </mc:Choice>
              <mc:Fallback>
                <p:oleObj name="公式" r:id="rId15" imgW="59664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113" y="4382156"/>
                        <a:ext cx="1811337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428917"/>
              </p:ext>
            </p:extLst>
          </p:nvPr>
        </p:nvGraphicFramePr>
        <p:xfrm>
          <a:off x="4437063" y="4436925"/>
          <a:ext cx="17446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76459" imgH="181031" progId="Equation.3">
                  <p:embed/>
                </p:oleObj>
              </mc:Choice>
              <mc:Fallback>
                <p:oleObj name="公式" r:id="rId17" imgW="676459" imgH="1810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4436925"/>
                        <a:ext cx="17446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8031163" y="4386125"/>
            <a:ext cx="1981200" cy="609600"/>
            <a:chOff x="4080" y="2976"/>
            <a:chExt cx="1248" cy="384"/>
          </a:xfrm>
        </p:grpSpPr>
        <p:sp>
          <p:nvSpPr>
            <p:cNvPr id="19477" name="Text Box 23"/>
            <p:cNvSpPr txBox="1">
              <a:spLocks noChangeArrowheads="1"/>
            </p:cNvSpPr>
            <p:nvPr/>
          </p:nvSpPr>
          <p:spPr bwMode="auto">
            <a:xfrm>
              <a:off x="4608" y="2995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rgbClr val="0000FF"/>
                  </a:solidFill>
                  <a:ea typeface="宋体" panose="02010600030101010101" pitchFamily="2" charset="-122"/>
                </a:rPr>
                <a:t>发散</a:t>
              </a:r>
              <a:r>
                <a:rPr lang="en-US" altLang="zh-CN" sz="3200" b="1">
                  <a:solidFill>
                    <a:srgbClr val="0000FF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9478" name="Text Box 24"/>
            <p:cNvSpPr txBox="1">
              <a:spLocks noChangeArrowheads="1"/>
            </p:cNvSpPr>
            <p:nvPr/>
          </p:nvSpPr>
          <p:spPr bwMode="auto">
            <a:xfrm>
              <a:off x="4080" y="297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级数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73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338283"/>
              </p:ext>
            </p:extLst>
          </p:nvPr>
        </p:nvGraphicFramePr>
        <p:xfrm>
          <a:off x="2695847" y="5143499"/>
          <a:ext cx="382905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504827" imgH="514350" progId="Equation.3">
                  <p:embed/>
                </p:oleObj>
              </mc:Choice>
              <mc:Fallback>
                <p:oleObj name="公式" r:id="rId19" imgW="150482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847" y="5143499"/>
                        <a:ext cx="3829050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23B1F7-6026-42BB-B3ED-7D8CFB7A1E1F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6224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7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3" grpId="0" autoUpdateAnimBg="0"/>
      <p:bldP spid="473095" grpId="0" autoUpdateAnimBg="0"/>
      <p:bldP spid="473097" grpId="0" autoUpdateAnimBg="0"/>
      <p:bldP spid="47310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473926" y="2493174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746927"/>
              </p:ext>
            </p:extLst>
          </p:nvPr>
        </p:nvGraphicFramePr>
        <p:xfrm>
          <a:off x="2214155" y="2364008"/>
          <a:ext cx="35433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771900" imgH="965200" progId="Equation.3">
                  <p:embed/>
                </p:oleObj>
              </mc:Choice>
              <mc:Fallback>
                <p:oleObj name="公式" r:id="rId3" imgW="3771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155" y="2364008"/>
                        <a:ext cx="35433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330377"/>
              </p:ext>
            </p:extLst>
          </p:nvPr>
        </p:nvGraphicFramePr>
        <p:xfrm>
          <a:off x="5823857" y="2380297"/>
          <a:ext cx="2895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97200" imgH="838200" progId="Equation.3">
                  <p:embed/>
                </p:oleObj>
              </mc:Choice>
              <mc:Fallback>
                <p:oleObj name="公式" r:id="rId5" imgW="2997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857" y="2380297"/>
                        <a:ext cx="28956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600715"/>
              </p:ext>
            </p:extLst>
          </p:nvPr>
        </p:nvGraphicFramePr>
        <p:xfrm>
          <a:off x="1524000" y="3270471"/>
          <a:ext cx="5860869" cy="96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28900" imgH="431800" progId="Equation.DSMT4">
                  <p:embed/>
                </p:oleObj>
              </mc:Choice>
              <mc:Fallback>
                <p:oleObj name="Equation" r:id="rId7" imgW="2628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0471"/>
                        <a:ext cx="5860869" cy="961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31019"/>
              </p:ext>
            </p:extLst>
          </p:nvPr>
        </p:nvGraphicFramePr>
        <p:xfrm>
          <a:off x="1908084" y="4310627"/>
          <a:ext cx="6356350" cy="80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578600" imgH="838200" progId="Equation.3">
                  <p:embed/>
                </p:oleObj>
              </mc:Choice>
              <mc:Fallback>
                <p:oleObj name="公式" r:id="rId9" imgW="6578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084" y="4310627"/>
                        <a:ext cx="6356350" cy="809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42FF5C-AE4A-40D6-8D63-ECD545FF431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1473926" y="1083591"/>
            <a:ext cx="33266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判别无穷级数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711162"/>
              </p:ext>
            </p:extLst>
          </p:nvPr>
        </p:nvGraphicFramePr>
        <p:xfrm>
          <a:off x="1685108" y="1618420"/>
          <a:ext cx="5264332" cy="86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67400" imgH="965200" progId="Equation.DSMT4">
                  <p:embed/>
                </p:oleObj>
              </mc:Choice>
              <mc:Fallback>
                <p:oleObj name="Equation" r:id="rId11" imgW="5867400" imgH="965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108" y="1618420"/>
                        <a:ext cx="5264332" cy="8631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811010" y="1716624"/>
            <a:ext cx="2011680" cy="54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的收敛性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544632"/>
              </p:ext>
            </p:extLst>
          </p:nvPr>
        </p:nvGraphicFramePr>
        <p:xfrm>
          <a:off x="8264434" y="4308430"/>
          <a:ext cx="2177143" cy="811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60600" imgH="838200" progId="Equation.3">
                  <p:embed/>
                </p:oleObj>
              </mc:Choice>
              <mc:Fallback>
                <p:oleObj name="公式" r:id="rId13" imgW="2260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4434" y="4308430"/>
                        <a:ext cx="2177143" cy="811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660328"/>
              </p:ext>
            </p:extLst>
          </p:nvPr>
        </p:nvGraphicFramePr>
        <p:xfrm>
          <a:off x="1524000" y="5277418"/>
          <a:ext cx="4460421" cy="959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92300" imgH="406400" progId="Equation.DSMT4">
                  <p:embed/>
                </p:oleObj>
              </mc:Choice>
              <mc:Fallback>
                <p:oleObj name="Equation" r:id="rId15" imgW="18923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277418"/>
                        <a:ext cx="4460421" cy="959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097966"/>
              </p:ext>
            </p:extLst>
          </p:nvPr>
        </p:nvGraphicFramePr>
        <p:xfrm>
          <a:off x="7162800" y="2962263"/>
          <a:ext cx="684858" cy="875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47700" imgH="825500" progId="Equation.3">
                  <p:embed/>
                </p:oleObj>
              </mc:Choice>
              <mc:Fallback>
                <p:oleObj name="公式" r:id="rId17" imgW="647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962263"/>
                        <a:ext cx="684858" cy="875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658646"/>
              </p:ext>
            </p:extLst>
          </p:nvPr>
        </p:nvGraphicFramePr>
        <p:xfrm>
          <a:off x="5984421" y="5385767"/>
          <a:ext cx="633004" cy="809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647700" imgH="825500" progId="Equation.3">
                  <p:embed/>
                </p:oleObj>
              </mc:Choice>
              <mc:Fallback>
                <p:oleObj name="公式" r:id="rId19" imgW="647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421" y="5385767"/>
                        <a:ext cx="633004" cy="809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330298"/>
              </p:ext>
            </p:extLst>
          </p:nvPr>
        </p:nvGraphicFramePr>
        <p:xfrm>
          <a:off x="6912428" y="5348586"/>
          <a:ext cx="3396343" cy="8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94100" imgH="889000" progId="Equation.3">
                  <p:embed/>
                </p:oleObj>
              </mc:Choice>
              <mc:Fallback>
                <p:oleObj name="公式" r:id="rId20" imgW="3594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2428" y="5348586"/>
                        <a:ext cx="3396343" cy="840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1764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981200" y="1295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FF33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rgbClr val="FF3300"/>
                </a:solidFill>
                <a:latin typeface="+mn-ea"/>
                <a:ea typeface="+mn-ea"/>
              </a:rPr>
              <a:t>定理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ea typeface="+mn-ea"/>
              </a:rPr>
              <a:t>柯西极限存在准则</a:t>
            </a:r>
            <a:r>
              <a:rPr lang="en-US" altLang="zh-CN" sz="3000" b="1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ea typeface="+mn-ea"/>
              </a:rPr>
              <a:t>柯西审敛原理</a:t>
            </a:r>
            <a:r>
              <a:rPr lang="en-US" altLang="zh-CN" sz="3000" b="1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)</a:t>
            </a:r>
            <a:endParaRPr lang="en-US" altLang="zh-CN" sz="3000" b="1" dirty="0">
              <a:solidFill>
                <a:schemeClr val="accent2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067300" y="559594"/>
            <a:ext cx="144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3300"/>
                </a:solidFill>
                <a:ea typeface="宋体" panose="02010600030101010101" pitchFamily="2" charset="-122"/>
              </a:rPr>
              <a:t>复习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4419600" y="2209800"/>
          <a:ext cx="25082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087" imgH="253890" progId="Equation.DSMT4">
                  <p:embed/>
                </p:oleObj>
              </mc:Choice>
              <mc:Fallback>
                <p:oleObj name="Equation" r:id="rId3" imgW="952087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09800"/>
                        <a:ext cx="2508250" cy="6683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5638800" y="3124200"/>
            <a:ext cx="304800" cy="533400"/>
          </a:xfrm>
          <a:prstGeom prst="upDownArrow">
            <a:avLst>
              <a:gd name="adj1" fmla="val 50000"/>
              <a:gd name="adj2" fmla="val 3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2514600" y="3890964"/>
          <a:ext cx="70104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65400" imgH="254000" progId="Equation.DSMT4">
                  <p:embed/>
                </p:oleObj>
              </mc:Choice>
              <mc:Fallback>
                <p:oleObj name="Equation" r:id="rId5" imgW="25654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90964"/>
                        <a:ext cx="7010400" cy="6937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AutoShape 7"/>
          <p:cNvSpPr>
            <a:spLocks noChangeArrowheads="1"/>
          </p:cNvSpPr>
          <p:nvPr/>
        </p:nvSpPr>
        <p:spPr bwMode="auto">
          <a:xfrm>
            <a:off x="5638800" y="4805363"/>
            <a:ext cx="304800" cy="533400"/>
          </a:xfrm>
          <a:prstGeom prst="upDownArrow">
            <a:avLst>
              <a:gd name="adj1" fmla="val 50000"/>
              <a:gd name="adj2" fmla="val 3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1647825" y="5414964"/>
          <a:ext cx="897413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67100" imgH="292100" progId="Equation.DSMT4">
                  <p:embed/>
                </p:oleObj>
              </mc:Choice>
              <mc:Fallback>
                <p:oleObj name="Equation" r:id="rId7" imgW="34671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5414964"/>
                        <a:ext cx="8974138" cy="75723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3A1C39-11C1-4AD8-B940-FEB863F0435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227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  <p:bldP spid="5018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2092325" y="1652611"/>
            <a:ext cx="1741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+mn-ea"/>
                <a:ea typeface="+mn-ea"/>
              </a:rPr>
              <a:t>定理</a:t>
            </a:r>
            <a:r>
              <a:rPr lang="en-US" altLang="zh-CN" b="1" dirty="0">
                <a:solidFill>
                  <a:srgbClr val="FF3300"/>
                </a:solidFill>
                <a:ea typeface="+mn-ea"/>
                <a:cs typeface="Times New Roman" panose="02020603050405020304" pitchFamily="18" charset="0"/>
              </a:rPr>
              <a:t>1.1</a:t>
            </a:r>
            <a:endParaRPr lang="en-US" altLang="zh-CN" b="1" dirty="0">
              <a:solidFill>
                <a:schemeClr val="tx2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609126"/>
              </p:ext>
            </p:extLst>
          </p:nvPr>
        </p:nvGraphicFramePr>
        <p:xfrm>
          <a:off x="2149477" y="2364924"/>
          <a:ext cx="12938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5714" imgH="181031" progId="Equation.DSMT4">
                  <p:embed/>
                </p:oleObj>
              </mc:Choice>
              <mc:Fallback>
                <p:oleObj name="Equation" r:id="rId3" imgW="485714" imgH="1810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7" y="2364924"/>
                        <a:ext cx="12938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008578"/>
              </p:ext>
            </p:extLst>
          </p:nvPr>
        </p:nvGraphicFramePr>
        <p:xfrm>
          <a:off x="3616326" y="2322309"/>
          <a:ext cx="1452562" cy="55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1086" imgH="209774" progId="Equation.DSMT4">
                  <p:embed/>
                </p:oleObj>
              </mc:Choice>
              <mc:Fallback>
                <p:oleObj name="Equation" r:id="rId5" imgW="581086" imgH="20977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6" y="2322309"/>
                        <a:ext cx="1452562" cy="55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898192"/>
              </p:ext>
            </p:extLst>
          </p:nvPr>
        </p:nvGraphicFramePr>
        <p:xfrm>
          <a:off x="3672683" y="2816250"/>
          <a:ext cx="42894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95573" imgH="276337" progId="Equation.DSMT4">
                  <p:embed/>
                </p:oleObj>
              </mc:Choice>
              <mc:Fallback>
                <p:oleObj name="Equation" r:id="rId7" imgW="1695573" imgH="276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683" y="2816250"/>
                        <a:ext cx="42894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688794"/>
              </p:ext>
            </p:extLst>
          </p:nvPr>
        </p:nvGraphicFramePr>
        <p:xfrm>
          <a:off x="5181997" y="2407457"/>
          <a:ext cx="18002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9027" imgH="200193" progId="Equation.DSMT4">
                  <p:embed/>
                </p:oleObj>
              </mc:Choice>
              <mc:Fallback>
                <p:oleObj name="Equation" r:id="rId9" imgW="819027" imgH="2001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997" y="2407457"/>
                        <a:ext cx="18002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715623"/>
              </p:ext>
            </p:extLst>
          </p:nvPr>
        </p:nvGraphicFramePr>
        <p:xfrm>
          <a:off x="6934201" y="2344286"/>
          <a:ext cx="18907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52659" imgH="209774" progId="Equation.DSMT4">
                  <p:embed/>
                </p:oleObj>
              </mc:Choice>
              <mc:Fallback>
                <p:oleObj name="Equation" r:id="rId11" imgW="752659" imgH="20977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2344286"/>
                        <a:ext cx="18907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8847535" y="234778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2057400" y="3535817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2780507" y="3535817"/>
            <a:ext cx="411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设所给级数部分和数列为</a:t>
            </a:r>
          </a:p>
        </p:txBody>
      </p:sp>
      <p:graphicFrame>
        <p:nvGraphicFramePr>
          <p:cNvPr id="51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365091"/>
              </p:ext>
            </p:extLst>
          </p:nvPr>
        </p:nvGraphicFramePr>
        <p:xfrm>
          <a:off x="6794899" y="3598886"/>
          <a:ext cx="25384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4486" imgH="209774" progId="Equation.DSMT4">
                  <p:embed/>
                </p:oleObj>
              </mc:Choice>
              <mc:Fallback>
                <p:oleObj name="Equation" r:id="rId13" imgW="1114486" imgH="20977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899" y="3598886"/>
                        <a:ext cx="253841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9333312" y="3598886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2092325" y="4875213"/>
            <a:ext cx="2865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利用数列 </a:t>
            </a: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4756151" y="4946651"/>
          <a:ext cx="22320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76141" imgH="209774" progId="Equation.DSMT4">
                  <p:embed/>
                </p:oleObj>
              </mc:Choice>
              <mc:Fallback>
                <p:oleObj name="Equation" r:id="rId15" imgW="1076141" imgH="20977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1" y="4946651"/>
                        <a:ext cx="22320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6934201" y="4876801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的柯西收敛原则</a:t>
            </a:r>
            <a:endParaRPr lang="zh-CN" altLang="en-US" sz="2400" b="1" dirty="0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2057401" y="5486401"/>
            <a:ext cx="340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即得本定理的结论 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2124711" y="876997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1.2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级数的柯西收敛原则</a:t>
            </a:r>
          </a:p>
        </p:txBody>
      </p:sp>
      <p:graphicFrame>
        <p:nvGraphicFramePr>
          <p:cNvPr id="235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736288"/>
              </p:ext>
            </p:extLst>
          </p:nvPr>
        </p:nvGraphicFramePr>
        <p:xfrm>
          <a:off x="3013166" y="4127863"/>
          <a:ext cx="533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34000" imgH="596900" progId="Equation.DSMT4">
                  <p:embed/>
                </p:oleObj>
              </mc:Choice>
              <mc:Fallback>
                <p:oleObj name="Equation" r:id="rId17" imgW="53340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166" y="4127863"/>
                        <a:ext cx="533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546873" y="1428189"/>
            <a:ext cx="3878264" cy="927100"/>
            <a:chOff x="3505200" y="914400"/>
            <a:chExt cx="3878264" cy="927100"/>
          </a:xfrm>
        </p:grpSpPr>
        <p:sp>
          <p:nvSpPr>
            <p:cNvPr id="51202" name="Text Box 2"/>
            <p:cNvSpPr txBox="1">
              <a:spLocks noChangeArrowheads="1"/>
            </p:cNvSpPr>
            <p:nvPr/>
          </p:nvSpPr>
          <p:spPr bwMode="auto">
            <a:xfrm>
              <a:off x="4876801" y="1066801"/>
              <a:ext cx="250666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的充要条件是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:</a:t>
              </a:r>
            </a:p>
          </p:txBody>
        </p:sp>
        <p:graphicFrame>
          <p:nvGraphicFramePr>
            <p:cNvPr id="2357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4028045"/>
                </p:ext>
              </p:extLst>
            </p:nvPr>
          </p:nvGraphicFramePr>
          <p:xfrm>
            <a:off x="3505200" y="914400"/>
            <a:ext cx="14732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473200" imgH="927100" progId="Equation.DSMT4">
                    <p:embed/>
                  </p:oleObj>
                </mc:Choice>
                <mc:Fallback>
                  <p:oleObj name="Equation" r:id="rId19" imgW="1473200" imgH="927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200" y="914400"/>
                          <a:ext cx="1473200" cy="927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7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88C1F1-AD01-46B0-8742-F51EB5BB634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590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1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  <p:bldP spid="51209" grpId="0" build="p" autoUpdateAnimBg="0"/>
      <p:bldP spid="51210" grpId="0" build="p" autoUpdateAnimBg="0"/>
      <p:bldP spid="51211" grpId="0" build="p" autoUpdateAnimBg="0"/>
      <p:bldP spid="51213" grpId="0" build="p" autoUpdateAnimBg="0"/>
      <p:bldP spid="51214" grpId="0" build="p" autoUpdateAnimBg="0"/>
      <p:bldP spid="51216" grpId="0" build="p" autoUpdateAnimBg="0"/>
      <p:bldP spid="51217" grpId="0" build="p" autoUpdateAnimBg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848214" y="877680"/>
            <a:ext cx="1066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endParaRPr lang="en-US" altLang="zh-CN" dirty="0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311245"/>
              </p:ext>
            </p:extLst>
          </p:nvPr>
        </p:nvGraphicFramePr>
        <p:xfrm>
          <a:off x="7169944" y="780295"/>
          <a:ext cx="2881312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4741" imgH="409463" progId="Equation.DSMT4">
                  <p:embed/>
                </p:oleObj>
              </mc:Choice>
              <mc:Fallback>
                <p:oleObj name="Equation" r:id="rId3" imgW="1304741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944" y="780295"/>
                        <a:ext cx="2881312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643910"/>
              </p:ext>
            </p:extLst>
          </p:nvPr>
        </p:nvGraphicFramePr>
        <p:xfrm>
          <a:off x="2315368" y="2096152"/>
          <a:ext cx="37353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57141" imgH="276337" progId="Equation.DSMT4">
                  <p:embed/>
                </p:oleObj>
              </mc:Choice>
              <mc:Fallback>
                <p:oleObj name="Equation" r:id="rId5" imgW="1457141" imgH="276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368" y="2096152"/>
                        <a:ext cx="37353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2000249" y="1531134"/>
            <a:ext cx="630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zh-CN" altLang="en-US" b="1" dirty="0">
                <a:solidFill>
                  <a:schemeClr val="tx2"/>
                </a:solidFill>
                <a:ea typeface="楷体_GB2312"/>
                <a:cs typeface="楷体_GB2312"/>
              </a:rPr>
              <a:t> </a:t>
            </a:r>
          </a:p>
        </p:txBody>
      </p:sp>
      <p:graphicFrame>
        <p:nvGraphicFramePr>
          <p:cNvPr id="52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54451"/>
              </p:ext>
            </p:extLst>
          </p:nvPr>
        </p:nvGraphicFramePr>
        <p:xfrm>
          <a:off x="2673728" y="1555999"/>
          <a:ext cx="26638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6141" imgH="200193" progId="Equation.DSMT4">
                  <p:embed/>
                </p:oleObj>
              </mc:Choice>
              <mc:Fallback>
                <p:oleObj name="Equation" r:id="rId7" imgW="1076141" imgH="2001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728" y="1555999"/>
                        <a:ext cx="26638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5380795" y="156284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801558" y="975879"/>
            <a:ext cx="46939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利用柯西收敛原则判别级数 </a:t>
            </a:r>
          </a:p>
        </p:txBody>
      </p:sp>
      <p:graphicFrame>
        <p:nvGraphicFramePr>
          <p:cNvPr id="52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737080"/>
              </p:ext>
            </p:extLst>
          </p:nvPr>
        </p:nvGraphicFramePr>
        <p:xfrm>
          <a:off x="2381614" y="2804913"/>
          <a:ext cx="50403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00459" imgH="409463" progId="Equation.DSMT4">
                  <p:embed/>
                </p:oleObj>
              </mc:Choice>
              <mc:Fallback>
                <p:oleObj name="Equation" r:id="rId9" imgW="2200459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614" y="2804913"/>
                        <a:ext cx="50403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33061"/>
              </p:ext>
            </p:extLst>
          </p:nvPr>
        </p:nvGraphicFramePr>
        <p:xfrm>
          <a:off x="2289968" y="3767572"/>
          <a:ext cx="66960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33541" imgH="409463" progId="Equation.DSMT4">
                  <p:embed/>
                </p:oleObj>
              </mc:Choice>
              <mc:Fallback>
                <p:oleObj name="Equation" r:id="rId11" imgW="3133541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68" y="3767572"/>
                        <a:ext cx="669607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068327"/>
              </p:ext>
            </p:extLst>
          </p:nvPr>
        </p:nvGraphicFramePr>
        <p:xfrm>
          <a:off x="2289968" y="4684251"/>
          <a:ext cx="68405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00486" imgH="409463" progId="Equation.DSMT4">
                  <p:embed/>
                </p:oleObj>
              </mc:Choice>
              <mc:Fallback>
                <p:oleObj name="Equation" r:id="rId13" imgW="3400486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68" y="4684251"/>
                        <a:ext cx="684053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186827"/>
              </p:ext>
            </p:extLst>
          </p:nvPr>
        </p:nvGraphicFramePr>
        <p:xfrm>
          <a:off x="2315369" y="5545520"/>
          <a:ext cx="1664969" cy="927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52659" imgH="409463" progId="Equation.DSMT4">
                  <p:embed/>
                </p:oleObj>
              </mc:Choice>
              <mc:Fallback>
                <p:oleObj name="Equation" r:id="rId15" imgW="752659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369" y="5545520"/>
                        <a:ext cx="1664969" cy="927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991816"/>
              </p:ext>
            </p:extLst>
          </p:nvPr>
        </p:nvGraphicFramePr>
        <p:xfrm>
          <a:off x="4061143" y="5601652"/>
          <a:ext cx="574188" cy="83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7114" imgH="390301" progId="Equation.DSMT4">
                  <p:embed/>
                </p:oleObj>
              </mc:Choice>
              <mc:Fallback>
                <p:oleObj name="Equation" r:id="rId17" imgW="257114" imgH="3903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143" y="5601652"/>
                        <a:ext cx="574188" cy="835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9FDFC4-3129-4DDA-AE2F-35EAF629274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291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 autoUpdateAnimBg="0"/>
      <p:bldP spid="5223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113950"/>
              </p:ext>
            </p:extLst>
          </p:nvPr>
        </p:nvGraphicFramePr>
        <p:xfrm>
          <a:off x="1776414" y="1711587"/>
          <a:ext cx="16081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8941" imgH="181031" progId="Equation.DSMT4">
                  <p:embed/>
                </p:oleObj>
              </mc:Choice>
              <mc:Fallback>
                <p:oleObj name="Equation" r:id="rId2" imgW="618941" imgH="1810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4" y="1711587"/>
                        <a:ext cx="16081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48121"/>
              </p:ext>
            </p:extLst>
          </p:nvPr>
        </p:nvGraphicFramePr>
        <p:xfrm>
          <a:off x="3480595" y="1501732"/>
          <a:ext cx="23479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406080" progId="Equation.DSMT4">
                  <p:embed/>
                </p:oleObj>
              </mc:Choice>
              <mc:Fallback>
                <p:oleObj name="Equation" r:id="rId4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595" y="1501732"/>
                        <a:ext cx="23479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5664201" y="1651296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楷体_GB231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b="1" dirty="0" err="1">
                <a:solidFill>
                  <a:schemeClr val="tx1"/>
                </a:solidFill>
                <a:ea typeface="楷体_GB2312"/>
                <a:cs typeface="楷体_GB2312"/>
              </a:rPr>
              <a:t>﹥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楷体_GB231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864793"/>
              </p:ext>
            </p:extLst>
          </p:nvPr>
        </p:nvGraphicFramePr>
        <p:xfrm>
          <a:off x="7642226" y="1640955"/>
          <a:ext cx="29876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0027" imgH="200193" progId="Equation.DSMT4">
                  <p:embed/>
                </p:oleObj>
              </mc:Choice>
              <mc:Fallback>
                <p:oleObj name="Equation" r:id="rId7" imgW="1200027" imgH="2001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2226" y="1640955"/>
                        <a:ext cx="298767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1872458" y="2602696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楷体_GB2312"/>
              </a:rPr>
              <a:t>都有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357033"/>
              </p:ext>
            </p:extLst>
          </p:nvPr>
        </p:nvGraphicFramePr>
        <p:xfrm>
          <a:off x="3288507" y="2308815"/>
          <a:ext cx="47513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71859" imgH="390301" progId="Equation.DSMT4">
                  <p:embed/>
                </p:oleObj>
              </mc:Choice>
              <mc:Fallback>
                <p:oleObj name="Equation" r:id="rId9" imgW="1971859" imgH="3903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507" y="2308815"/>
                        <a:ext cx="47513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872458" y="3475628"/>
            <a:ext cx="465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由柯西收敛原则可知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 </a:t>
            </a: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623263"/>
              </p:ext>
            </p:extLst>
          </p:nvPr>
        </p:nvGraphicFramePr>
        <p:xfrm>
          <a:off x="6349207" y="3266077"/>
          <a:ext cx="2376487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76141" imgH="409463" progId="Equation.DSMT4">
                  <p:embed/>
                </p:oleObj>
              </mc:Choice>
              <mc:Fallback>
                <p:oleObj name="Equation" r:id="rId11" imgW="1076141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9207" y="3266077"/>
                        <a:ext cx="2376487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4E048-9241-4D81-BC77-DBDB5D6F430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037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uild="p" autoUpdateAnimBg="0" advAuto="0"/>
      <p:bldP spid="53254" grpId="0" build="p" autoUpdateAnimBg="0" advAuto="0"/>
      <p:bldP spid="5325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474878"/>
              </p:ext>
            </p:extLst>
          </p:nvPr>
        </p:nvGraphicFramePr>
        <p:xfrm>
          <a:off x="2764927" y="823228"/>
          <a:ext cx="4940300" cy="98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0373" imgH="409463" progId="Equation.3">
                  <p:embed/>
                </p:oleObj>
              </mc:Choice>
              <mc:Fallback>
                <p:oleObj name="Equation" r:id="rId2" imgW="2000373" imgH="4094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927" y="823228"/>
                        <a:ext cx="4940300" cy="981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071688" y="1024786"/>
            <a:ext cx="1052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071688" y="1892747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假设调和级数收敛于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173784"/>
              </p:ext>
            </p:extLst>
          </p:nvPr>
        </p:nvGraphicFramePr>
        <p:xfrm>
          <a:off x="3886200" y="2455738"/>
          <a:ext cx="252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5259" imgH="523931" progId="Equation.DSMT4">
                  <p:embed/>
                </p:oleObj>
              </mc:Choice>
              <mc:Fallback>
                <p:oleObj name="Equation" r:id="rId5" imgW="2505259" imgH="5239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455738"/>
                        <a:ext cx="2527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670217"/>
              </p:ext>
            </p:extLst>
          </p:nvPr>
        </p:nvGraphicFramePr>
        <p:xfrm>
          <a:off x="8785227" y="3017909"/>
          <a:ext cx="76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2827" imgH="818926" progId="Equation.DSMT4">
                  <p:embed/>
                </p:oleObj>
              </mc:Choice>
              <mc:Fallback>
                <p:oleObj name="Equation" r:id="rId7" imgW="742827" imgH="8189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5227" y="3017909"/>
                        <a:ext cx="762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486046"/>
              </p:ext>
            </p:extLst>
          </p:nvPr>
        </p:nvGraphicFramePr>
        <p:xfrm>
          <a:off x="4333876" y="2976996"/>
          <a:ext cx="4391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71914" imgH="818926" progId="Equation.DSMT4">
                  <p:embed/>
                </p:oleObj>
              </mc:Choice>
              <mc:Fallback>
                <p:oleObj name="Equation" r:id="rId9" imgW="4371914" imgH="8189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6" y="2976996"/>
                        <a:ext cx="4391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2012950" y="316327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但</a:t>
            </a:r>
          </a:p>
        </p:txBody>
      </p:sp>
      <p:graphicFrame>
        <p:nvGraphicFramePr>
          <p:cNvPr id="542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422838"/>
              </p:ext>
            </p:extLst>
          </p:nvPr>
        </p:nvGraphicFramePr>
        <p:xfrm>
          <a:off x="2749550" y="3221109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04827" imgH="409463" progId="Equation.DSMT4">
                  <p:embed/>
                </p:oleObj>
              </mc:Choice>
              <mc:Fallback>
                <p:oleObj name="Equation" r:id="rId11" imgW="1504827" imgH="4094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3221109"/>
                        <a:ext cx="152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1936750" y="3855244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矛盾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!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3000376" y="3829052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所以假设不真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54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329859"/>
              </p:ext>
            </p:extLst>
          </p:nvPr>
        </p:nvGraphicFramePr>
        <p:xfrm>
          <a:off x="9607553" y="3027182"/>
          <a:ext cx="55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42741" imgH="818926" progId="Equation.DSMT4">
                  <p:embed/>
                </p:oleObj>
              </mc:Choice>
              <mc:Fallback>
                <p:oleObj name="Equation" r:id="rId13" imgW="542741" imgH="8189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7553" y="3027182"/>
                        <a:ext cx="558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1981200" y="4375197"/>
            <a:ext cx="570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  <a:latin typeface="+mn-ea"/>
                <a:ea typeface="+mn-ea"/>
              </a:rPr>
              <a:t>证法</a:t>
            </a:r>
            <a:r>
              <a:rPr lang="en-US" altLang="zh-CN" b="1" dirty="0">
                <a:solidFill>
                  <a:srgbClr val="CC33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A50021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Cauchy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收敛原理：</a:t>
            </a:r>
          </a:p>
        </p:txBody>
      </p:sp>
      <p:sp>
        <p:nvSpPr>
          <p:cNvPr id="54286" name="AutoShape 14"/>
          <p:cNvSpPr>
            <a:spLocks noChangeArrowheads="1"/>
          </p:cNvSpPr>
          <p:nvPr/>
        </p:nvSpPr>
        <p:spPr bwMode="auto">
          <a:xfrm>
            <a:off x="9010650" y="4470039"/>
            <a:ext cx="609600" cy="228600"/>
          </a:xfrm>
          <a:prstGeom prst="leftRightArrow">
            <a:avLst>
              <a:gd name="adj1" fmla="val 50000"/>
              <a:gd name="adj2" fmla="val 5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42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036722"/>
              </p:ext>
            </p:extLst>
          </p:nvPr>
        </p:nvGraphicFramePr>
        <p:xfrm>
          <a:off x="2071688" y="4991963"/>
          <a:ext cx="7744097" cy="778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08080" imgH="291960" progId="Equation.DSMT4">
                  <p:embed/>
                </p:oleObj>
              </mc:Choice>
              <mc:Fallback>
                <p:oleObj name="Equation" r:id="rId15" imgW="29080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991963"/>
                        <a:ext cx="7744097" cy="77848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2273300" y="5885657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可以取：</a:t>
            </a:r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419213"/>
              </p:ext>
            </p:extLst>
          </p:nvPr>
        </p:nvGraphicFramePr>
        <p:xfrm>
          <a:off x="4000500" y="5591174"/>
          <a:ext cx="2133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003" imgH="406224" progId="Equation.DSMT4">
                  <p:embed/>
                </p:oleObj>
              </mc:Choice>
              <mc:Fallback>
                <p:oleObj name="Equation" r:id="rId17" imgW="91400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5591174"/>
                        <a:ext cx="21336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484339"/>
              </p:ext>
            </p:extLst>
          </p:nvPr>
        </p:nvGraphicFramePr>
        <p:xfrm>
          <a:off x="7458891" y="4114801"/>
          <a:ext cx="1473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73200" imgH="927100" progId="Equation.DSMT4">
                  <p:embed/>
                </p:oleObj>
              </mc:Choice>
              <mc:Fallback>
                <p:oleObj name="Equation" r:id="rId19" imgW="14732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8891" y="4114801"/>
                        <a:ext cx="1473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7C6869-38AF-4B11-98B8-50E756DAC41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569632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80" grpId="0" autoUpdateAnimBg="0"/>
      <p:bldP spid="54282" grpId="0" autoUpdateAnimBg="0"/>
      <p:bldP spid="54283" grpId="0" autoUpdateAnimBg="0"/>
      <p:bldP spid="54285" grpId="0"/>
      <p:bldP spid="54286" grpId="0" animBg="1"/>
      <p:bldP spid="542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16498"/>
              </p:ext>
            </p:extLst>
          </p:nvPr>
        </p:nvGraphicFramePr>
        <p:xfrm>
          <a:off x="2750322" y="772778"/>
          <a:ext cx="5239507" cy="989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0373" imgH="409463" progId="Equation.3">
                  <p:embed/>
                </p:oleObj>
              </mc:Choice>
              <mc:Fallback>
                <p:oleObj name="Equation" r:id="rId2" imgW="2000373" imgH="4094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322" y="772778"/>
                        <a:ext cx="5239507" cy="989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188280"/>
              </p:ext>
            </p:extLst>
          </p:nvPr>
        </p:nvGraphicFramePr>
        <p:xfrm>
          <a:off x="2750322" y="2162538"/>
          <a:ext cx="7686675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37500" imgH="1905000" progId="Equation.DSMT4">
                  <p:embed/>
                </p:oleObj>
              </mc:Choice>
              <mc:Fallback>
                <p:oleObj name="Equation" r:id="rId4" imgW="7937500" imgH="190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322" y="2162538"/>
                        <a:ext cx="7686675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AutoShape 4"/>
          <p:cNvSpPr>
            <a:spLocks noChangeArrowheads="1"/>
          </p:cNvSpPr>
          <p:nvPr/>
        </p:nvSpPr>
        <p:spPr bwMode="auto">
          <a:xfrm>
            <a:off x="8812850" y="1760946"/>
            <a:ext cx="762000" cy="304800"/>
          </a:xfrm>
          <a:prstGeom prst="wedgeRectCallout">
            <a:avLst>
              <a:gd name="adj1" fmla="val 9167"/>
              <a:gd name="adj2" fmla="val 78125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2000">
                <a:solidFill>
                  <a:schemeClr val="tx1"/>
                </a:solidFill>
                <a:ea typeface="宋体" panose="02010600030101010101" pitchFamily="2" charset="-122"/>
              </a:rPr>
              <a:t>项</a:t>
            </a:r>
          </a:p>
        </p:txBody>
      </p:sp>
      <p:sp>
        <p:nvSpPr>
          <p:cNvPr id="55301" name="AutoShape 5"/>
          <p:cNvSpPr>
            <a:spLocks noChangeArrowheads="1"/>
          </p:cNvSpPr>
          <p:nvPr/>
        </p:nvSpPr>
        <p:spPr bwMode="auto">
          <a:xfrm>
            <a:off x="6328569" y="1766615"/>
            <a:ext cx="609600" cy="381000"/>
          </a:xfrm>
          <a:prstGeom prst="wedgeRectCallout">
            <a:avLst>
              <a:gd name="adj1" fmla="val -57815"/>
              <a:gd name="adj2" fmla="val 29167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2000">
                <a:solidFill>
                  <a:schemeClr val="tx1"/>
                </a:solidFill>
                <a:ea typeface="宋体" panose="02010600030101010101" pitchFamily="2" charset="-122"/>
              </a:rPr>
              <a:t>项</a:t>
            </a:r>
          </a:p>
        </p:txBody>
      </p:sp>
      <p:sp>
        <p:nvSpPr>
          <p:cNvPr id="55302" name="AutoShape 6"/>
          <p:cNvSpPr>
            <a:spLocks noChangeArrowheads="1"/>
          </p:cNvSpPr>
          <p:nvPr/>
        </p:nvSpPr>
        <p:spPr bwMode="auto">
          <a:xfrm>
            <a:off x="2869208" y="1842815"/>
            <a:ext cx="533400" cy="304800"/>
          </a:xfrm>
          <a:prstGeom prst="wedgeRectCallout">
            <a:avLst>
              <a:gd name="adj1" fmla="val 76486"/>
              <a:gd name="adj2" fmla="val 47917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项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3" name="AutoShape 7"/>
          <p:cNvSpPr>
            <a:spLocks noChangeArrowheads="1"/>
          </p:cNvSpPr>
          <p:nvPr/>
        </p:nvSpPr>
        <p:spPr bwMode="auto">
          <a:xfrm>
            <a:off x="4174728" y="1791787"/>
            <a:ext cx="609600" cy="304800"/>
          </a:xfrm>
          <a:prstGeom prst="wedgeRectCallout">
            <a:avLst>
              <a:gd name="adj1" fmla="val 13282"/>
              <a:gd name="adj2" fmla="val 6510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>
                <a:solidFill>
                  <a:schemeClr val="tx1"/>
                </a:solidFill>
                <a:ea typeface="宋体" panose="02010600030101010101" pitchFamily="2" charset="-122"/>
              </a:rPr>
              <a:t>项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543699" y="4137750"/>
            <a:ext cx="609600" cy="381000"/>
            <a:chOff x="3120" y="3600"/>
            <a:chExt cx="384" cy="240"/>
          </a:xfrm>
        </p:grpSpPr>
        <p:sp>
          <p:nvSpPr>
            <p:cNvPr id="27664" name="AutoShape 9"/>
            <p:cNvSpPr>
              <a:spLocks noChangeArrowheads="1"/>
            </p:cNvSpPr>
            <p:nvPr/>
          </p:nvSpPr>
          <p:spPr bwMode="auto">
            <a:xfrm>
              <a:off x="3120" y="3600"/>
              <a:ext cx="384" cy="240"/>
            </a:xfrm>
            <a:prstGeom prst="wedgeRectCallout">
              <a:avLst>
                <a:gd name="adj1" fmla="val -126565"/>
                <a:gd name="adj2" fmla="val -105833"/>
              </a:avLst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项</a:t>
              </a:r>
            </a:p>
          </p:txBody>
        </p:sp>
        <p:graphicFrame>
          <p:nvGraphicFramePr>
            <p:cNvPr id="276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8750292"/>
                </p:ext>
              </p:extLst>
            </p:nvPr>
          </p:nvGraphicFramePr>
          <p:xfrm>
            <a:off x="3171" y="3633"/>
            <a:ext cx="184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431613" imgH="406224" progId="Equation.3">
                    <p:embed/>
                  </p:oleObj>
                </mc:Choice>
                <mc:Fallback>
                  <p:oleObj name="公式" r:id="rId7" imgW="431613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1" y="3633"/>
                          <a:ext cx="184" cy="17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CC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3852636" y="4141788"/>
            <a:ext cx="4038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53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312448"/>
              </p:ext>
            </p:extLst>
          </p:nvPr>
        </p:nvGraphicFramePr>
        <p:xfrm>
          <a:off x="2269249" y="5388565"/>
          <a:ext cx="4739564" cy="967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93680" imgH="406080" progId="Equation.DSMT4">
                  <p:embed/>
                </p:oleObj>
              </mc:Choice>
              <mc:Fallback>
                <p:oleObj name="Equation" r:id="rId9" imgW="1993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249" y="5388565"/>
                        <a:ext cx="4739564" cy="967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42993"/>
              </p:ext>
            </p:extLst>
          </p:nvPr>
        </p:nvGraphicFramePr>
        <p:xfrm>
          <a:off x="7307263" y="5594351"/>
          <a:ext cx="27559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92400" imgH="457200" progId="Equation.3">
                  <p:embed/>
                </p:oleObj>
              </mc:Choice>
              <mc:Fallback>
                <p:oleObj name="公式" r:id="rId11" imgW="2692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5594351"/>
                        <a:ext cx="27559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811697"/>
              </p:ext>
            </p:extLst>
          </p:nvPr>
        </p:nvGraphicFramePr>
        <p:xfrm>
          <a:off x="2589213" y="4518750"/>
          <a:ext cx="74787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98520" imgH="406080" progId="Equation.DSMT4">
                  <p:embed/>
                </p:oleObj>
              </mc:Choice>
              <mc:Fallback>
                <p:oleObj name="Equation" r:id="rId13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4518750"/>
                        <a:ext cx="74787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6"/>
          <p:cNvSpPr txBox="1">
            <a:spLocks noChangeArrowheads="1"/>
          </p:cNvSpPr>
          <p:nvPr/>
        </p:nvSpPr>
        <p:spPr bwMode="auto">
          <a:xfrm>
            <a:off x="1957251" y="947598"/>
            <a:ext cx="1068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7662" name="Text Box 17"/>
          <p:cNvSpPr txBox="1">
            <a:spLocks noChangeArrowheads="1"/>
          </p:cNvSpPr>
          <p:nvPr/>
        </p:nvSpPr>
        <p:spPr bwMode="auto">
          <a:xfrm>
            <a:off x="1496265" y="2371294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证法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66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4A338C-25CE-4A6D-86A6-CF6F01545DE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33088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nimBg="1" autoUpdateAnimBg="0"/>
      <p:bldP spid="55301" grpId="0" animBg="1" autoUpdateAnimBg="0"/>
      <p:bldP spid="55302" grpId="0" animBg="1" autoUpdateAnimBg="0"/>
      <p:bldP spid="55303" grpId="0" animBg="1" autoUpdateAnimBg="0"/>
      <p:bldP spid="5530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Text Box 2"/>
          <p:cNvSpPr txBox="1">
            <a:spLocks noChangeArrowheads="1"/>
          </p:cNvSpPr>
          <p:nvPr/>
        </p:nvSpPr>
        <p:spPr bwMode="auto">
          <a:xfrm>
            <a:off x="2186396" y="3669553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823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81643"/>
              </p:ext>
            </p:extLst>
          </p:nvPr>
        </p:nvGraphicFramePr>
        <p:xfrm>
          <a:off x="4396196" y="3502933"/>
          <a:ext cx="16081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431800" progId="Equation.DSMT4">
                  <p:embed/>
                </p:oleObj>
              </mc:Choice>
              <mc:Fallback>
                <p:oleObj name="Equation" r:id="rId3" imgW="647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196" y="3502933"/>
                        <a:ext cx="16081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66352"/>
              </p:ext>
            </p:extLst>
          </p:nvPr>
        </p:nvGraphicFramePr>
        <p:xfrm>
          <a:off x="6787765" y="3779270"/>
          <a:ext cx="8715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42751" imgH="228501" progId="Equation.3">
                  <p:embed/>
                </p:oleObj>
              </mc:Choice>
              <mc:Fallback>
                <p:oleObj name="公式" r:id="rId5" imgW="342751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65" y="3779270"/>
                        <a:ext cx="87153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512803"/>
              </p:ext>
            </p:extLst>
          </p:nvPr>
        </p:nvGraphicFramePr>
        <p:xfrm>
          <a:off x="3419475" y="4600802"/>
          <a:ext cx="17621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45863" imgH="279279" progId="Equation.3">
                  <p:embed/>
                </p:oleObj>
              </mc:Choice>
              <mc:Fallback>
                <p:oleObj name="公式" r:id="rId7" imgW="545863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600802"/>
                        <a:ext cx="17621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687169"/>
              </p:ext>
            </p:extLst>
          </p:nvPr>
        </p:nvGraphicFramePr>
        <p:xfrm>
          <a:off x="3716337" y="5475740"/>
          <a:ext cx="13922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0248" imgH="177646" progId="Equation.DSMT4">
                  <p:embed/>
                </p:oleObj>
              </mc:Choice>
              <mc:Fallback>
                <p:oleObj name="Equation" r:id="rId9" imgW="520248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7" y="5475740"/>
                        <a:ext cx="13922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655563"/>
              </p:ext>
            </p:extLst>
          </p:nvPr>
        </p:nvGraphicFramePr>
        <p:xfrm>
          <a:off x="5141913" y="5459840"/>
          <a:ext cx="6048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41091" imgH="177646" progId="Equation.3">
                  <p:embed/>
                </p:oleObj>
              </mc:Choice>
              <mc:Fallback>
                <p:oleObj name="公式" r:id="rId11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5459840"/>
                        <a:ext cx="60483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2" name="Text Box 8"/>
          <p:cNvSpPr txBox="1">
            <a:spLocks noChangeArrowheads="1"/>
          </p:cNvSpPr>
          <p:nvPr/>
        </p:nvSpPr>
        <p:spPr bwMode="auto">
          <a:xfrm>
            <a:off x="3176996" y="3669553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13" name="Text Box 9"/>
          <p:cNvSpPr txBox="1">
            <a:spLocks noChangeArrowheads="1"/>
          </p:cNvSpPr>
          <p:nvPr/>
        </p:nvSpPr>
        <p:spPr bwMode="auto">
          <a:xfrm>
            <a:off x="6004334" y="3751376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14" name="Text Box 10"/>
          <p:cNvSpPr txBox="1">
            <a:spLocks noChangeArrowheads="1"/>
          </p:cNvSpPr>
          <p:nvPr/>
        </p:nvSpPr>
        <p:spPr bwMode="auto">
          <a:xfrm>
            <a:off x="2200275" y="4661126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23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727738"/>
              </p:ext>
            </p:extLst>
          </p:nvPr>
        </p:nvGraphicFramePr>
        <p:xfrm>
          <a:off x="5108575" y="4600802"/>
          <a:ext cx="2587625" cy="67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800" imgH="279400" progId="Equation.DSMT4">
                  <p:embed/>
                </p:oleObj>
              </mc:Choice>
              <mc:Fallback>
                <p:oleObj name="Equation" r:id="rId13" imgW="10668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4600802"/>
                        <a:ext cx="2587625" cy="67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550382"/>
              </p:ext>
            </p:extLst>
          </p:nvPr>
        </p:nvGraphicFramePr>
        <p:xfrm>
          <a:off x="7647306" y="3766692"/>
          <a:ext cx="1500051" cy="585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6900" imgH="228600" progId="Equation.DSMT4">
                  <p:embed/>
                </p:oleObj>
              </mc:Choice>
              <mc:Fallback>
                <p:oleObj name="Equation" r:id="rId15" imgW="596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7306" y="3766692"/>
                        <a:ext cx="1500051" cy="585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7" name="Text Box 13"/>
          <p:cNvSpPr txBox="1">
            <a:spLocks noChangeArrowheads="1"/>
          </p:cNvSpPr>
          <p:nvPr/>
        </p:nvSpPr>
        <p:spPr bwMode="auto">
          <a:xfrm>
            <a:off x="2075135" y="2700311"/>
            <a:ext cx="175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1.2</a:t>
            </a:r>
          </a:p>
        </p:txBody>
      </p:sp>
      <p:graphicFrame>
        <p:nvGraphicFramePr>
          <p:cNvPr id="482318" name="Object 1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79785074"/>
              </p:ext>
            </p:extLst>
          </p:nvPr>
        </p:nvGraphicFramePr>
        <p:xfrm>
          <a:off x="7833134" y="2663437"/>
          <a:ext cx="16176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38114" imgH="257175" progId="Equation.3">
                  <p:embed/>
                </p:oleObj>
              </mc:Choice>
              <mc:Fallback>
                <p:oleObj name="公式" r:id="rId17" imgW="638114" imgH="25717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3134" y="2663437"/>
                        <a:ext cx="16176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2072096" y="1881362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3546884" y="1881362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级数收敛的必要条件</a:t>
            </a:r>
            <a:r>
              <a:rPr lang="en-US" altLang="zh-CN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786596" y="2540406"/>
            <a:ext cx="4332288" cy="1008063"/>
            <a:chOff x="1111" y="1045"/>
            <a:chExt cx="2729" cy="635"/>
          </a:xfrm>
        </p:grpSpPr>
        <p:sp>
          <p:nvSpPr>
            <p:cNvPr id="28692" name="Rectangle 18"/>
            <p:cNvSpPr>
              <a:spLocks noChangeArrowheads="1"/>
            </p:cNvSpPr>
            <p:nvPr/>
          </p:nvSpPr>
          <p:spPr bwMode="auto">
            <a:xfrm>
              <a:off x="1111" y="1149"/>
              <a:ext cx="27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若级数</a:t>
              </a:r>
              <a:r>
                <a:rPr lang="en-US" altLang="zh-CN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    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收敛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  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则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8693" name="Object 19"/>
            <p:cNvGraphicFramePr>
              <a:graphicFrameLocks noChangeAspect="1"/>
            </p:cNvGraphicFramePr>
            <p:nvPr/>
          </p:nvGraphicFramePr>
          <p:xfrm>
            <a:off x="1950" y="1045"/>
            <a:ext cx="546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876300" imgH="1016000" progId="Equation.3">
                    <p:embed/>
                  </p:oleObj>
                </mc:Choice>
                <mc:Fallback>
                  <p:oleObj name="公式" r:id="rId19" imgW="876300" imgH="1016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1045"/>
                          <a:ext cx="546" cy="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90" name="Rectangle 21"/>
          <p:cNvSpPr>
            <a:spLocks noChangeArrowheads="1"/>
          </p:cNvSpPr>
          <p:nvPr/>
        </p:nvSpPr>
        <p:spPr bwMode="auto">
          <a:xfrm>
            <a:off x="2093913" y="1116369"/>
            <a:ext cx="609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1.3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收敛级数的基本性质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869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549C4A-9569-4EB1-A4B2-714DACE83CE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051239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 autoUpdateAnimBg="0"/>
      <p:bldP spid="482312" grpId="0" autoUpdateAnimBg="0"/>
      <p:bldP spid="482313" grpId="0" autoUpdateAnimBg="0"/>
      <p:bldP spid="482314" grpId="0" autoUpdateAnimBg="0"/>
      <p:bldP spid="482317" grpId="0"/>
      <p:bldP spid="28687" grpId="0"/>
      <p:bldP spid="286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Text Box 2"/>
          <p:cNvSpPr txBox="1">
            <a:spLocks noChangeArrowheads="1"/>
          </p:cNvSpPr>
          <p:nvPr/>
        </p:nvSpPr>
        <p:spPr bwMode="auto">
          <a:xfrm>
            <a:off x="3037978" y="1933918"/>
            <a:ext cx="51736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级数收敛的必要条件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3331" name="Text Box 3"/>
          <p:cNvSpPr txBox="1">
            <a:spLocks noChangeArrowheads="1"/>
          </p:cNvSpPr>
          <p:nvPr/>
        </p:nvSpPr>
        <p:spPr bwMode="auto">
          <a:xfrm>
            <a:off x="3062288" y="4059185"/>
            <a:ext cx="49450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必要条件不充分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83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464137"/>
              </p:ext>
            </p:extLst>
          </p:nvPr>
        </p:nvGraphicFramePr>
        <p:xfrm>
          <a:off x="3233738" y="5537055"/>
          <a:ext cx="210026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19027" imgH="257175" progId="Equation.3">
                  <p:embed/>
                </p:oleObj>
              </mc:Choice>
              <mc:Fallback>
                <p:oleObj name="公式" r:id="rId3" imgW="819027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5537055"/>
                        <a:ext cx="210026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869898"/>
              </p:ext>
            </p:extLst>
          </p:nvPr>
        </p:nvGraphicFramePr>
        <p:xfrm>
          <a:off x="4899026" y="4638622"/>
          <a:ext cx="34512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83699" imgH="406224" progId="Equation.3">
                  <p:embed/>
                </p:oleObj>
              </mc:Choice>
              <mc:Fallback>
                <p:oleObj name="公式" r:id="rId5" imgW="138369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026" y="4638622"/>
                        <a:ext cx="34512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4" name="Rectangle 6"/>
          <p:cNvSpPr>
            <a:spLocks noChangeArrowheads="1"/>
          </p:cNvSpPr>
          <p:nvPr/>
        </p:nvSpPr>
        <p:spPr bwMode="auto">
          <a:xfrm>
            <a:off x="3628686" y="2634086"/>
            <a:ext cx="1450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数发散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483335" name="Text Box 7"/>
          <p:cNvSpPr txBox="1">
            <a:spLocks noChangeArrowheads="1"/>
          </p:cNvSpPr>
          <p:nvPr/>
        </p:nvSpPr>
        <p:spPr bwMode="auto">
          <a:xfrm>
            <a:off x="2472623" y="4860132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如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3336" name="Text Box 8"/>
          <p:cNvSpPr txBox="1">
            <a:spLocks noChangeArrowheads="1"/>
          </p:cNvSpPr>
          <p:nvPr/>
        </p:nvSpPr>
        <p:spPr bwMode="auto">
          <a:xfrm>
            <a:off x="3044123" y="4860132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调和级数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83337" name="Text Box 9"/>
          <p:cNvSpPr txBox="1">
            <a:spLocks noChangeArrowheads="1"/>
          </p:cNvSpPr>
          <p:nvPr/>
        </p:nvSpPr>
        <p:spPr bwMode="auto">
          <a:xfrm>
            <a:off x="3044123" y="3368993"/>
            <a:ext cx="73009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可用它求或验证极限为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的极限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  <p:graphicFrame>
        <p:nvGraphicFramePr>
          <p:cNvPr id="29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293390"/>
              </p:ext>
            </p:extLst>
          </p:nvPr>
        </p:nvGraphicFramePr>
        <p:xfrm>
          <a:off x="6590620" y="1171781"/>
          <a:ext cx="17811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57141" imgH="543093" progId="Equation.3">
                  <p:embed/>
                </p:oleObj>
              </mc:Choice>
              <mc:Fallback>
                <p:oleObj name="公式" r:id="rId7" imgW="1457141" imgH="5430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620" y="1171781"/>
                        <a:ext cx="17811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2472623" y="1132970"/>
            <a:ext cx="441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级数收敛的必要条件</a:t>
            </a:r>
            <a:r>
              <a:rPr lang="en-US" altLang="zh-CN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83340" name="Text Box 12"/>
          <p:cNvSpPr txBox="1">
            <a:spLocks noChangeArrowheads="1"/>
          </p:cNvSpPr>
          <p:nvPr/>
        </p:nvSpPr>
        <p:spPr bwMode="auto">
          <a:xfrm>
            <a:off x="5356226" y="5597379"/>
            <a:ext cx="472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但级数是否收敛？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3341" name="Rectangle 13"/>
          <p:cNvSpPr>
            <a:spLocks noChangeArrowheads="1"/>
          </p:cNvSpPr>
          <p:nvPr/>
        </p:nvSpPr>
        <p:spPr bwMode="auto">
          <a:xfrm>
            <a:off x="7481208" y="1926999"/>
            <a:ext cx="2632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常用来判别级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37806" y="1924073"/>
            <a:ext cx="685800" cy="685800"/>
            <a:chOff x="672" y="1344"/>
            <a:chExt cx="432" cy="432"/>
          </a:xfrm>
        </p:grpSpPr>
        <p:sp>
          <p:nvSpPr>
            <p:cNvPr id="29712" name="Oval 15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3" name="Text Box 16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en-US" altLang="zh-CN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2971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64EBC5-F2CD-41D1-995D-5B8FDF468422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20548"/>
              </p:ext>
            </p:extLst>
          </p:nvPr>
        </p:nvGraphicFramePr>
        <p:xfrm>
          <a:off x="6268245" y="2534256"/>
          <a:ext cx="2900362" cy="779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431640" progId="Equation.DSMT4">
                  <p:embed/>
                </p:oleObj>
              </mc:Choice>
              <mc:Fallback>
                <p:oleObj name="Equation" r:id="rId9" imgW="1638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8245" y="2534256"/>
                        <a:ext cx="2900362" cy="77909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04485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8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48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0" grpId="0" autoUpdateAnimBg="0"/>
      <p:bldP spid="483331" grpId="0" autoUpdateAnimBg="0"/>
      <p:bldP spid="483334" grpId="0" autoUpdateAnimBg="0"/>
      <p:bldP spid="483335" grpId="0" autoUpdateAnimBg="0"/>
      <p:bldP spid="483336" grpId="0" autoUpdateAnimBg="0"/>
      <p:bldP spid="483337" grpId="0" autoUpdateAnimBg="0"/>
      <p:bldP spid="483340" grpId="0" autoUpdateAnimBg="0"/>
      <p:bldP spid="4833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60765"/>
              </p:ext>
            </p:extLst>
          </p:nvPr>
        </p:nvGraphicFramePr>
        <p:xfrm>
          <a:off x="4990308" y="1201810"/>
          <a:ext cx="301625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5977" imgH="444307" progId="Equation.3">
                  <p:embed/>
                </p:oleObj>
              </mc:Choice>
              <mc:Fallback>
                <p:oleObj name="公式" r:id="rId2" imgW="120597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308" y="1201810"/>
                        <a:ext cx="3016250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79" name="Rectangle 3"/>
          <p:cNvSpPr>
            <a:spLocks noChangeArrowheads="1"/>
          </p:cNvSpPr>
          <p:nvPr/>
        </p:nvSpPr>
        <p:spPr bwMode="auto">
          <a:xfrm>
            <a:off x="2530475" y="2462412"/>
            <a:ext cx="80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3209928" y="2417010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由于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5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956098"/>
              </p:ext>
            </p:extLst>
          </p:nvPr>
        </p:nvGraphicFramePr>
        <p:xfrm>
          <a:off x="2782004" y="3327004"/>
          <a:ext cx="14573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45863" imgH="279279" progId="Equation.3">
                  <p:embed/>
                </p:oleObj>
              </mc:Choice>
              <mc:Fallback>
                <p:oleObj name="公式" r:id="rId5" imgW="545863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004" y="3327004"/>
                        <a:ext cx="145732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455586"/>
              </p:ext>
            </p:extLst>
          </p:nvPr>
        </p:nvGraphicFramePr>
        <p:xfrm>
          <a:off x="8006558" y="2945607"/>
          <a:ext cx="773113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66469" imgH="406048" progId="Equation.3">
                  <p:embed/>
                </p:oleObj>
              </mc:Choice>
              <mc:Fallback>
                <p:oleObj name="公式" r:id="rId7" imgW="266469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6558" y="2945607"/>
                        <a:ext cx="773113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3" name="Text Box 7"/>
          <p:cNvSpPr txBox="1">
            <a:spLocks noChangeArrowheads="1"/>
          </p:cNvSpPr>
          <p:nvPr/>
        </p:nvSpPr>
        <p:spPr bwMode="auto">
          <a:xfrm>
            <a:off x="9258300" y="4026696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5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695034"/>
              </p:ext>
            </p:extLst>
          </p:nvPr>
        </p:nvGraphicFramePr>
        <p:xfrm>
          <a:off x="8779671" y="3371056"/>
          <a:ext cx="5334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6373" imgH="295499" progId="Equation.3">
                  <p:embed/>
                </p:oleObj>
              </mc:Choice>
              <mc:Fallback>
                <p:oleObj name="Equation" r:id="rId9" imgW="476373" imgH="2954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9671" y="3371056"/>
                        <a:ext cx="5334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345458"/>
              </p:ext>
            </p:extLst>
          </p:nvPr>
        </p:nvGraphicFramePr>
        <p:xfrm>
          <a:off x="4461670" y="2940844"/>
          <a:ext cx="3544888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256755" imgH="444307" progId="Equation.3">
                  <p:embed/>
                </p:oleObj>
              </mc:Choice>
              <mc:Fallback>
                <p:oleObj name="公式" r:id="rId11" imgW="125675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670" y="2940844"/>
                        <a:ext cx="3544888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3278551" y="1552418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判别级数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8006558" y="1418488"/>
            <a:ext cx="1917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2409828" y="1552418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85389" name="Text Box 13"/>
          <p:cNvSpPr txBox="1">
            <a:spLocks noChangeArrowheads="1"/>
          </p:cNvSpPr>
          <p:nvPr/>
        </p:nvSpPr>
        <p:spPr bwMode="auto">
          <a:xfrm>
            <a:off x="2743201" y="4638675"/>
            <a:ext cx="4856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用级数收敛的必要条件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53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364143"/>
              </p:ext>
            </p:extLst>
          </p:nvPr>
        </p:nvGraphicFramePr>
        <p:xfrm>
          <a:off x="7021514" y="4730749"/>
          <a:ext cx="18288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66627" imgH="257175" progId="Equation.3">
                  <p:embed/>
                </p:oleObj>
              </mc:Choice>
              <mc:Fallback>
                <p:oleObj name="公式" r:id="rId13" imgW="666627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4" y="4730749"/>
                        <a:ext cx="18288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91" name="Rectangle 15"/>
          <p:cNvSpPr>
            <a:spLocks noChangeArrowheads="1"/>
          </p:cNvSpPr>
          <p:nvPr/>
        </p:nvSpPr>
        <p:spPr bwMode="auto">
          <a:xfrm>
            <a:off x="2743201" y="5321301"/>
            <a:ext cx="3616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判别级数发散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3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582E71-800D-4B0A-8855-C77DB4F0FEE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3542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48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 autoUpdateAnimBg="0"/>
      <p:bldP spid="485380" grpId="0" autoUpdateAnimBg="0"/>
      <p:bldP spid="485383" grpId="0" autoUpdateAnimBg="0"/>
      <p:bldP spid="485389" grpId="0" autoUpdateAnimBg="0"/>
      <p:bldP spid="48539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Text Box 2"/>
          <p:cNvSpPr txBox="1">
            <a:spLocks noChangeArrowheads="1"/>
          </p:cNvSpPr>
          <p:nvPr/>
        </p:nvSpPr>
        <p:spPr bwMode="auto">
          <a:xfrm>
            <a:off x="5685790" y="2686843"/>
            <a:ext cx="3733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的部分和分别为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     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41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47687"/>
              </p:ext>
            </p:extLst>
          </p:nvPr>
        </p:nvGraphicFramePr>
        <p:xfrm>
          <a:off x="8618538" y="2727325"/>
          <a:ext cx="4714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500" imgH="228600" progId="Equation.DSMT4">
                  <p:embed/>
                </p:oleObj>
              </mc:Choice>
              <mc:Fallback>
                <p:oleObj name="Equation" r:id="rId3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8538" y="2727325"/>
                        <a:ext cx="4714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83335"/>
              </p:ext>
            </p:extLst>
          </p:nvPr>
        </p:nvGraphicFramePr>
        <p:xfrm>
          <a:off x="9090026" y="2744661"/>
          <a:ext cx="10398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19100" imgH="228600" progId="Equation.3">
                  <p:embed/>
                </p:oleObj>
              </mc:Choice>
              <mc:Fallback>
                <p:oleObj name="公式" r:id="rId5" imgW="419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0026" y="2744661"/>
                        <a:ext cx="10398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17" name="Text Box 5"/>
          <p:cNvSpPr txBox="1">
            <a:spLocks noChangeArrowheads="1"/>
          </p:cNvSpPr>
          <p:nvPr/>
        </p:nvSpPr>
        <p:spPr bwMode="auto">
          <a:xfrm>
            <a:off x="2373993" y="3794523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41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383356"/>
              </p:ext>
            </p:extLst>
          </p:nvPr>
        </p:nvGraphicFramePr>
        <p:xfrm>
          <a:off x="3209926" y="3837784"/>
          <a:ext cx="8921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55446" imgH="228501" progId="Equation.3">
                  <p:embed/>
                </p:oleObj>
              </mc:Choice>
              <mc:Fallback>
                <p:oleObj name="公式" r:id="rId7" imgW="355446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6" y="3837784"/>
                        <a:ext cx="8921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782944"/>
              </p:ext>
            </p:extLst>
          </p:nvPr>
        </p:nvGraphicFramePr>
        <p:xfrm>
          <a:off x="7135813" y="4477148"/>
          <a:ext cx="10715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1659" imgH="209774" progId="Equation.DSMT4">
                  <p:embed/>
                </p:oleObj>
              </mc:Choice>
              <mc:Fallback>
                <p:oleObj name="Equation" r:id="rId9" imgW="371659" imgH="20977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4477148"/>
                        <a:ext cx="10715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20" name="Text Box 8"/>
          <p:cNvSpPr txBox="1">
            <a:spLocks noChangeArrowheads="1"/>
          </p:cNvSpPr>
          <p:nvPr/>
        </p:nvSpPr>
        <p:spPr bwMode="auto">
          <a:xfrm>
            <a:off x="2335893" y="5214937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于是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41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279175"/>
              </p:ext>
            </p:extLst>
          </p:nvPr>
        </p:nvGraphicFramePr>
        <p:xfrm>
          <a:off x="3531393" y="5226050"/>
          <a:ext cx="14208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252" imgH="228501" progId="Equation.DSMT4">
                  <p:embed/>
                </p:oleObj>
              </mc:Choice>
              <mc:Fallback>
                <p:oleObj name="Equation" r:id="rId11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1393" y="5226050"/>
                        <a:ext cx="14208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22" name="Rectangle 10"/>
          <p:cNvSpPr>
            <a:spLocks noChangeArrowheads="1"/>
          </p:cNvSpPr>
          <p:nvPr/>
        </p:nvSpPr>
        <p:spPr bwMode="auto">
          <a:xfrm>
            <a:off x="2185989" y="2727325"/>
            <a:ext cx="695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endParaRPr lang="en-US" altLang="zh-CN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4123" name="Text Box 11"/>
          <p:cNvSpPr txBox="1">
            <a:spLocks noChangeArrowheads="1"/>
          </p:cNvSpPr>
          <p:nvPr/>
        </p:nvSpPr>
        <p:spPr bwMode="auto">
          <a:xfrm>
            <a:off x="2119314" y="1016592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74124" name="Text Box 12"/>
          <p:cNvSpPr txBox="1">
            <a:spLocks noChangeArrowheads="1"/>
          </p:cNvSpPr>
          <p:nvPr/>
        </p:nvSpPr>
        <p:spPr bwMode="auto">
          <a:xfrm>
            <a:off x="3425826" y="1050132"/>
            <a:ext cx="1600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设常数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41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477119"/>
              </p:ext>
            </p:extLst>
          </p:nvPr>
        </p:nvGraphicFramePr>
        <p:xfrm>
          <a:off x="4874056" y="1121641"/>
          <a:ext cx="10255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06224" imgH="190417" progId="Equation.3">
                  <p:embed/>
                </p:oleObj>
              </mc:Choice>
              <mc:Fallback>
                <p:oleObj name="公式" r:id="rId13" imgW="406224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4056" y="1121641"/>
                        <a:ext cx="10255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26" name="Text Box 14"/>
          <p:cNvSpPr txBox="1">
            <a:spLocks noChangeArrowheads="1"/>
          </p:cNvSpPr>
          <p:nvPr/>
        </p:nvSpPr>
        <p:spPr bwMode="auto">
          <a:xfrm>
            <a:off x="5918200" y="1050132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41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386010"/>
              </p:ext>
            </p:extLst>
          </p:nvPr>
        </p:nvGraphicFramePr>
        <p:xfrm>
          <a:off x="6648450" y="635933"/>
          <a:ext cx="2545966" cy="1303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016000" imgH="520700" progId="Equation.3">
                  <p:embed/>
                </p:oleObj>
              </mc:Choice>
              <mc:Fallback>
                <p:oleObj name="公式" r:id="rId15" imgW="1016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635933"/>
                        <a:ext cx="2545966" cy="1303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28" name="Text Box 16"/>
          <p:cNvSpPr txBox="1">
            <a:spLocks noChangeArrowheads="1"/>
          </p:cNvSpPr>
          <p:nvPr/>
        </p:nvSpPr>
        <p:spPr bwMode="auto">
          <a:xfrm>
            <a:off x="2222500" y="1824833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有相同的敛散性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741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431893"/>
              </p:ext>
            </p:extLst>
          </p:nvPr>
        </p:nvGraphicFramePr>
        <p:xfrm>
          <a:off x="2824957" y="2343946"/>
          <a:ext cx="2954337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180588" imgH="520474" progId="Equation.3">
                  <p:embed/>
                </p:oleObj>
              </mc:Choice>
              <mc:Fallback>
                <p:oleObj name="公式" r:id="rId17" imgW="1180588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957" y="2343946"/>
                        <a:ext cx="2954337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746288"/>
              </p:ext>
            </p:extLst>
          </p:nvPr>
        </p:nvGraphicFramePr>
        <p:xfrm>
          <a:off x="4102101" y="3837784"/>
          <a:ext cx="32210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282700" imgH="228600" progId="Equation.3">
                  <p:embed/>
                </p:oleObj>
              </mc:Choice>
              <mc:Fallback>
                <p:oleObj name="公式" r:id="rId19" imgW="1282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1" y="3837784"/>
                        <a:ext cx="32210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382929"/>
              </p:ext>
            </p:extLst>
          </p:nvPr>
        </p:nvGraphicFramePr>
        <p:xfrm>
          <a:off x="6732021" y="5314156"/>
          <a:ext cx="50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03024" imgH="152268" progId="Equation.3">
                  <p:embed/>
                </p:oleObj>
              </mc:Choice>
              <mc:Fallback>
                <p:oleObj name="公式" r:id="rId21" imgW="203024" imgH="1522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021" y="5314156"/>
                        <a:ext cx="508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246403"/>
              </p:ext>
            </p:extLst>
          </p:nvPr>
        </p:nvGraphicFramePr>
        <p:xfrm>
          <a:off x="7358120" y="5240609"/>
          <a:ext cx="636349" cy="46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203112" progId="Equation.DSMT4">
                  <p:embed/>
                </p:oleObj>
              </mc:Choice>
              <mc:Fallback>
                <p:oleObj name="Equation" r:id="rId23" imgW="27927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120" y="5240609"/>
                        <a:ext cx="636349" cy="46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4" name="Object 1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056242"/>
              </p:ext>
            </p:extLst>
          </p:nvPr>
        </p:nvGraphicFramePr>
        <p:xfrm>
          <a:off x="3517900" y="4510088"/>
          <a:ext cx="35893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46040" imgH="228600" progId="Equation.DSMT4">
                  <p:embed/>
                </p:oleObj>
              </mc:Choice>
              <mc:Fallback>
                <p:oleObj name="Equation" r:id="rId25" imgW="134604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4510088"/>
                        <a:ext cx="35893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5" name="Object 1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7624449"/>
              </p:ext>
            </p:extLst>
          </p:nvPr>
        </p:nvGraphicFramePr>
        <p:xfrm>
          <a:off x="5153422" y="5222875"/>
          <a:ext cx="1460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83947" imgH="228501" progId="Equation.DSMT4">
                  <p:embed/>
                </p:oleObj>
              </mc:Choice>
              <mc:Fallback>
                <p:oleObj name="Equation" r:id="rId27" imgW="583947" imgH="228501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3422" y="5222875"/>
                        <a:ext cx="1460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5499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7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autoUpdateAnimBg="0"/>
      <p:bldP spid="474117" grpId="0" autoUpdateAnimBg="0"/>
      <p:bldP spid="474120" grpId="0" autoUpdateAnimBg="0"/>
      <p:bldP spid="474122" grpId="0" autoUpdateAnimBg="0"/>
      <p:bldP spid="474124" grpId="0" autoUpdateAnimBg="0"/>
      <p:bldP spid="474126" grpId="0" autoUpdateAnimBg="0"/>
      <p:bldP spid="47412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66366"/>
              </p:ext>
            </p:extLst>
          </p:nvPr>
        </p:nvGraphicFramePr>
        <p:xfrm>
          <a:off x="3292476" y="1066799"/>
          <a:ext cx="4792937" cy="63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400" imgH="228600" progId="Equation.DSMT4">
                  <p:embed/>
                </p:oleObj>
              </mc:Choice>
              <mc:Fallback>
                <p:oleObj name="Equation" r:id="rId2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476" y="1066799"/>
                        <a:ext cx="4792937" cy="636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39" name="Text Box 3"/>
          <p:cNvSpPr txBox="1">
            <a:spLocks noChangeArrowheads="1"/>
          </p:cNvSpPr>
          <p:nvPr/>
        </p:nvSpPr>
        <p:spPr bwMode="auto">
          <a:xfrm>
            <a:off x="4953000" y="1905000"/>
            <a:ext cx="3232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也不存在极限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75140" name="Object 3"/>
          <p:cNvGraphicFramePr>
            <a:graphicFrameLocks noChangeAspect="1"/>
          </p:cNvGraphicFramePr>
          <p:nvPr/>
        </p:nvGraphicFramePr>
        <p:xfrm>
          <a:off x="3278188" y="1855789"/>
          <a:ext cx="14906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47" imgH="228501" progId="Equation.DSMT4">
                  <p:embed/>
                </p:oleObj>
              </mc:Choice>
              <mc:Fallback>
                <p:oleObj name="Equation" r:id="rId5" imgW="583947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1855789"/>
                        <a:ext cx="149066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1" name="Text Box 5"/>
          <p:cNvSpPr txBox="1">
            <a:spLocks noChangeArrowheads="1"/>
          </p:cNvSpPr>
          <p:nvPr/>
        </p:nvSpPr>
        <p:spPr bwMode="auto">
          <a:xfrm>
            <a:off x="3200400" y="288925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         </a:t>
            </a:r>
          </a:p>
        </p:txBody>
      </p:sp>
      <p:graphicFrame>
        <p:nvGraphicFramePr>
          <p:cNvPr id="475142" name="Object 4"/>
          <p:cNvGraphicFramePr>
            <a:graphicFrameLocks noChangeAspect="1"/>
          </p:cNvGraphicFramePr>
          <p:nvPr/>
        </p:nvGraphicFramePr>
        <p:xfrm>
          <a:off x="4343400" y="2668588"/>
          <a:ext cx="207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100" imgH="952500" progId="Equation.3">
                  <p:embed/>
                </p:oleObj>
              </mc:Choice>
              <mc:Fallback>
                <p:oleObj name="Equation" r:id="rId7" imgW="2070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668588"/>
                        <a:ext cx="207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3" name="Rectangle 7"/>
          <p:cNvSpPr>
            <a:spLocks noChangeArrowheads="1"/>
          </p:cNvSpPr>
          <p:nvPr/>
        </p:nvSpPr>
        <p:spPr bwMode="auto">
          <a:xfrm>
            <a:off x="6518276" y="2892425"/>
            <a:ext cx="3876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有相同的敛散性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75144" name="Rectangle 8"/>
          <p:cNvSpPr>
            <a:spLocks noChangeArrowheads="1"/>
          </p:cNvSpPr>
          <p:nvPr/>
        </p:nvSpPr>
        <p:spPr bwMode="auto">
          <a:xfrm>
            <a:off x="3200400" y="4094164"/>
            <a:ext cx="69342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级数的每一项同乘一个不为零的常数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      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敛散性不变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75145" name="Rectangle 9"/>
          <p:cNvSpPr>
            <a:spLocks noChangeArrowheads="1"/>
          </p:cNvSpPr>
          <p:nvPr/>
        </p:nvSpPr>
        <p:spPr bwMode="auto">
          <a:xfrm>
            <a:off x="2057401" y="4114800"/>
            <a:ext cx="121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058001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9" grpId="0" autoUpdateAnimBg="0"/>
      <p:bldP spid="475141" grpId="0" autoUpdateAnimBg="0"/>
      <p:bldP spid="475143" grpId="0" autoUpdateAnimBg="0"/>
      <p:bldP spid="475144" grpId="0"/>
      <p:bldP spid="4751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241755" y="1329110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</a:p>
        </p:txBody>
      </p:sp>
      <p:graphicFrame>
        <p:nvGraphicFramePr>
          <p:cNvPr id="4761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401338"/>
              </p:ext>
            </p:extLst>
          </p:nvPr>
        </p:nvGraphicFramePr>
        <p:xfrm>
          <a:off x="6361567" y="1164718"/>
          <a:ext cx="1943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952500" progId="Equation.3">
                  <p:embed/>
                </p:oleObj>
              </mc:Choice>
              <mc:Fallback>
                <p:oleObj name="Equation" r:id="rId4" imgW="1943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567" y="1164718"/>
                        <a:ext cx="1943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4" name="Text Box 4"/>
          <p:cNvSpPr txBox="1">
            <a:spLocks noChangeArrowheads="1"/>
          </p:cNvSpPr>
          <p:nvPr/>
        </p:nvSpPr>
        <p:spPr bwMode="auto">
          <a:xfrm>
            <a:off x="3691959" y="1289588"/>
            <a:ext cx="297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设有两个级数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616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5285"/>
              </p:ext>
            </p:extLst>
          </p:nvPr>
        </p:nvGraphicFramePr>
        <p:xfrm>
          <a:off x="2311672" y="2083361"/>
          <a:ext cx="2098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7836" imgH="431613" progId="Equation.DSMT4">
                  <p:embed/>
                </p:oleObj>
              </mc:Choice>
              <mc:Fallback>
                <p:oleObj name="Equation" r:id="rId6" imgW="837836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672" y="2083361"/>
                        <a:ext cx="20986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531637"/>
              </p:ext>
            </p:extLst>
          </p:nvPr>
        </p:nvGraphicFramePr>
        <p:xfrm>
          <a:off x="4439943" y="1874249"/>
          <a:ext cx="177482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0891" imgH="520474" progId="Equation.3">
                  <p:embed/>
                </p:oleObj>
              </mc:Choice>
              <mc:Fallback>
                <p:oleObj name="公式" r:id="rId8" imgW="710891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943" y="1874249"/>
                        <a:ext cx="177482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61656"/>
              </p:ext>
            </p:extLst>
          </p:nvPr>
        </p:nvGraphicFramePr>
        <p:xfrm>
          <a:off x="6211093" y="2000761"/>
          <a:ext cx="4068763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600" imgH="431800" progId="Equation.DSMT4">
                  <p:embed/>
                </p:oleObj>
              </mc:Choice>
              <mc:Fallback>
                <p:oleObj name="Equation" r:id="rId10" imgW="1625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093" y="2000761"/>
                        <a:ext cx="4068763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8" name="Text Box 8"/>
          <p:cNvSpPr txBox="1">
            <a:spLocks noChangeArrowheads="1"/>
          </p:cNvSpPr>
          <p:nvPr/>
        </p:nvSpPr>
        <p:spPr bwMode="auto">
          <a:xfrm>
            <a:off x="2241755" y="3210135"/>
            <a:ext cx="76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761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889781"/>
              </p:ext>
            </p:extLst>
          </p:nvPr>
        </p:nvGraphicFramePr>
        <p:xfrm>
          <a:off x="5471319" y="3073970"/>
          <a:ext cx="19812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300" imgH="952500" progId="Equation.3">
                  <p:embed/>
                </p:oleObj>
              </mc:Choice>
              <mc:Fallback>
                <p:oleObj name="Equation" r:id="rId12" imgW="1892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319" y="3073970"/>
                        <a:ext cx="19812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0" name="Text Box 10"/>
          <p:cNvSpPr txBox="1">
            <a:spLocks noChangeArrowheads="1"/>
          </p:cNvSpPr>
          <p:nvPr/>
        </p:nvSpPr>
        <p:spPr bwMode="auto">
          <a:xfrm>
            <a:off x="2243932" y="3884120"/>
            <a:ext cx="3382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极限的性质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61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396613"/>
              </p:ext>
            </p:extLst>
          </p:nvPr>
        </p:nvGraphicFramePr>
        <p:xfrm>
          <a:off x="2770189" y="4408853"/>
          <a:ext cx="23304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65200" imgH="431800" progId="Equation.3">
                  <p:embed/>
                </p:oleObj>
              </mc:Choice>
              <mc:Fallback>
                <p:oleObj name="公式" r:id="rId14" imgW="96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9" y="4408853"/>
                        <a:ext cx="23304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22080"/>
              </p:ext>
            </p:extLst>
          </p:nvPr>
        </p:nvGraphicFramePr>
        <p:xfrm>
          <a:off x="5100639" y="4402140"/>
          <a:ext cx="3657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58310" imgH="431613" progId="Equation.3">
                  <p:embed/>
                </p:oleObj>
              </mc:Choice>
              <mc:Fallback>
                <p:oleObj name="公式" r:id="rId16" imgW="13583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9" y="4402140"/>
                        <a:ext cx="3657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3" name="Rectangle 13"/>
          <p:cNvSpPr>
            <a:spLocks noChangeArrowheads="1"/>
          </p:cNvSpPr>
          <p:nvPr/>
        </p:nvSpPr>
        <p:spPr bwMode="auto">
          <a:xfrm>
            <a:off x="2862535" y="3210136"/>
            <a:ext cx="3282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级数的部分和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61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070279"/>
              </p:ext>
            </p:extLst>
          </p:nvPr>
        </p:nvGraphicFramePr>
        <p:xfrm>
          <a:off x="8686121" y="2971800"/>
          <a:ext cx="8143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23586" imgH="952087" progId="Equation.3">
                  <p:embed/>
                </p:oleObj>
              </mc:Choice>
              <mc:Fallback>
                <p:oleObj name="Equation" r:id="rId18" imgW="723586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121" y="2971800"/>
                        <a:ext cx="8143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084593"/>
              </p:ext>
            </p:extLst>
          </p:nvPr>
        </p:nvGraphicFramePr>
        <p:xfrm>
          <a:off x="7448550" y="3009900"/>
          <a:ext cx="7969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669" imgH="952087" progId="Equation.3">
                  <p:embed/>
                </p:oleObj>
              </mc:Choice>
              <mc:Fallback>
                <p:oleObj name="Equation" r:id="rId20" imgW="761669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8550" y="3009900"/>
                        <a:ext cx="7969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449676"/>
              </p:ext>
            </p:extLst>
          </p:nvPr>
        </p:nvGraphicFramePr>
        <p:xfrm>
          <a:off x="8304667" y="3373439"/>
          <a:ext cx="3222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279279" progId="Equation.3">
                  <p:embed/>
                </p:oleObj>
              </mc:Choice>
              <mc:Fallback>
                <p:oleObj name="Equation" r:id="rId22" imgW="253890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4667" y="3373439"/>
                        <a:ext cx="32226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7" name="Rectangle 17"/>
          <p:cNvSpPr>
            <a:spLocks noChangeArrowheads="1"/>
          </p:cNvSpPr>
          <p:nvPr/>
        </p:nvSpPr>
        <p:spPr bwMode="auto">
          <a:xfrm>
            <a:off x="3419476" y="5586414"/>
            <a:ext cx="6943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级数可以逐项相加与逐项相减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76178" name="Rectangle 18"/>
          <p:cNvSpPr>
            <a:spLocks noChangeArrowheads="1"/>
          </p:cNvSpPr>
          <p:nvPr/>
        </p:nvSpPr>
        <p:spPr bwMode="auto">
          <a:xfrm>
            <a:off x="2057400" y="5562600"/>
            <a:ext cx="158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338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7D7715-3548-4709-B7C3-C1DB899CC89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36609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utoUpdateAnimBg="0"/>
      <p:bldP spid="476168" grpId="0" autoUpdateAnimBg="0"/>
      <p:bldP spid="476170" grpId="0" autoUpdateAnimBg="0"/>
      <p:bldP spid="476173" grpId="0" autoUpdateAnimBg="0"/>
      <p:bldP spid="476177" grpId="0"/>
      <p:bldP spid="47617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2386013" y="1269389"/>
            <a:ext cx="1060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9</a:t>
            </a:r>
          </a:p>
        </p:txBody>
      </p:sp>
      <p:graphicFrame>
        <p:nvGraphicFramePr>
          <p:cNvPr id="358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87347"/>
              </p:ext>
            </p:extLst>
          </p:nvPr>
        </p:nvGraphicFramePr>
        <p:xfrm>
          <a:off x="3406775" y="1064193"/>
          <a:ext cx="238125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77900" imgH="431800" progId="Equation.3">
                  <p:embed/>
                </p:oleObj>
              </mc:Choice>
              <mc:Fallback>
                <p:oleObj name="公式" r:id="rId3" imgW="97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1064193"/>
                        <a:ext cx="238125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928929"/>
              </p:ext>
            </p:extLst>
          </p:nvPr>
        </p:nvGraphicFramePr>
        <p:xfrm>
          <a:off x="2895600" y="3305086"/>
          <a:ext cx="16002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336" imgH="431613" progId="Equation.DSMT4">
                  <p:embed/>
                </p:oleObj>
              </mc:Choice>
              <mc:Fallback>
                <p:oleObj name="Equation" r:id="rId5" imgW="609336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305086"/>
                        <a:ext cx="16002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5666105" y="1297555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都收敛</a:t>
            </a:r>
            <a:endParaRPr lang="en-US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71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712826"/>
              </p:ext>
            </p:extLst>
          </p:nvPr>
        </p:nvGraphicFramePr>
        <p:xfrm>
          <a:off x="4556760" y="3287486"/>
          <a:ext cx="137160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20474" imgH="431613" progId="Equation.3">
                  <p:embed/>
                </p:oleObj>
              </mc:Choice>
              <mc:Fallback>
                <p:oleObj name="公式" r:id="rId7" imgW="52047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760" y="3287486"/>
                        <a:ext cx="1371600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52797"/>
              </p:ext>
            </p:extLst>
          </p:nvPr>
        </p:nvGraphicFramePr>
        <p:xfrm>
          <a:off x="3124200" y="4743995"/>
          <a:ext cx="1371600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5400" imgH="1270000" progId="Equation.3">
                  <p:embed/>
                </p:oleObj>
              </mc:Choice>
              <mc:Fallback>
                <p:oleObj name="Equation" r:id="rId9" imgW="12954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43995"/>
                        <a:ext cx="1371600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221007"/>
              </p:ext>
            </p:extLst>
          </p:nvPr>
        </p:nvGraphicFramePr>
        <p:xfrm>
          <a:off x="2916238" y="2115231"/>
          <a:ext cx="2514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52087" imgH="431613" progId="Equation.DSMT4">
                  <p:embed/>
                </p:oleObj>
              </mc:Choice>
              <mc:Fallback>
                <p:oleObj name="Equation" r:id="rId11" imgW="952087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115231"/>
                        <a:ext cx="25146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248897"/>
              </p:ext>
            </p:extLst>
          </p:nvPr>
        </p:nvGraphicFramePr>
        <p:xfrm>
          <a:off x="4495800" y="4343400"/>
          <a:ext cx="935038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35" imgH="761669" progId="Equation.DSMT4">
                  <p:embed/>
                </p:oleObj>
              </mc:Choice>
              <mc:Fallback>
                <p:oleObj name="Equation" r:id="rId13" imgW="380835" imgH="7616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343400"/>
                        <a:ext cx="935038" cy="186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553643"/>
              </p:ext>
            </p:extLst>
          </p:nvPr>
        </p:nvGraphicFramePr>
        <p:xfrm>
          <a:off x="5588000" y="4835524"/>
          <a:ext cx="5588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20700" imgH="825500" progId="Equation.3">
                  <p:embed/>
                </p:oleObj>
              </mc:Choice>
              <mc:Fallback>
                <p:oleObj name="Equation" r:id="rId15" imgW="520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4835524"/>
                        <a:ext cx="5588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CA9179-ED37-420B-8483-B68DF8CBDDE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2020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619639"/>
              </p:ext>
            </p:extLst>
          </p:nvPr>
        </p:nvGraphicFramePr>
        <p:xfrm>
          <a:off x="5250156" y="862012"/>
          <a:ext cx="21336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952500" progId="Equation.3">
                  <p:embed/>
                </p:oleObj>
              </mc:Choice>
              <mc:Fallback>
                <p:oleObj name="Equation" r:id="rId2" imgW="1943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0156" y="862012"/>
                        <a:ext cx="213360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405981" y="1100445"/>
            <a:ext cx="2971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两个级数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782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567993"/>
              </p:ext>
            </p:extLst>
          </p:nvPr>
        </p:nvGraphicFramePr>
        <p:xfrm>
          <a:off x="3468313" y="1756484"/>
          <a:ext cx="14605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83947" imgH="520474" progId="Equation.3">
                  <p:embed/>
                </p:oleObj>
              </mc:Choice>
              <mc:Fallback>
                <p:oleObj name="公式" r:id="rId5" imgW="583947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313" y="1756484"/>
                        <a:ext cx="14605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143606"/>
              </p:ext>
            </p:extLst>
          </p:nvPr>
        </p:nvGraphicFramePr>
        <p:xfrm>
          <a:off x="6019800" y="1852891"/>
          <a:ext cx="774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4" imgH="952087" progId="Equation.3">
                  <p:embed/>
                </p:oleObj>
              </mc:Choice>
              <mc:Fallback>
                <p:oleObj name="Equation" r:id="rId7" imgW="774364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852891"/>
                        <a:ext cx="774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215062"/>
              </p:ext>
            </p:extLst>
          </p:nvPr>
        </p:nvGraphicFramePr>
        <p:xfrm>
          <a:off x="3763962" y="2905919"/>
          <a:ext cx="225583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01309" imgH="431613" progId="Equation.3">
                  <p:embed/>
                </p:oleObj>
              </mc:Choice>
              <mc:Fallback>
                <p:oleObj name="公式" r:id="rId9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2" y="2905919"/>
                        <a:ext cx="2255838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5" name="Text Box 7"/>
          <p:cNvSpPr txBox="1">
            <a:spLocks noChangeArrowheads="1"/>
          </p:cNvSpPr>
          <p:nvPr/>
        </p:nvSpPr>
        <p:spPr bwMode="auto">
          <a:xfrm>
            <a:off x="6019800" y="3119775"/>
            <a:ext cx="1309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782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459164"/>
              </p:ext>
            </p:extLst>
          </p:nvPr>
        </p:nvGraphicFramePr>
        <p:xfrm>
          <a:off x="3468313" y="3833982"/>
          <a:ext cx="155892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22030" imgH="520474" progId="Equation.3">
                  <p:embed/>
                </p:oleObj>
              </mc:Choice>
              <mc:Fallback>
                <p:oleObj name="公式" r:id="rId11" imgW="622030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313" y="3833982"/>
                        <a:ext cx="155892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7" name="Rectangle 9"/>
          <p:cNvSpPr>
            <a:spLocks noChangeArrowheads="1"/>
          </p:cNvSpPr>
          <p:nvPr/>
        </p:nvSpPr>
        <p:spPr bwMode="auto">
          <a:xfrm>
            <a:off x="4777082" y="2105109"/>
            <a:ext cx="1412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78218" name="Text Box 10"/>
          <p:cNvSpPr txBox="1">
            <a:spLocks noChangeArrowheads="1"/>
          </p:cNvSpPr>
          <p:nvPr/>
        </p:nvSpPr>
        <p:spPr bwMode="auto">
          <a:xfrm>
            <a:off x="6760912" y="2055695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782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239893"/>
              </p:ext>
            </p:extLst>
          </p:nvPr>
        </p:nvGraphicFramePr>
        <p:xfrm>
          <a:off x="5017044" y="4010194"/>
          <a:ext cx="774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74364" imgH="952087" progId="Equation.3">
                  <p:embed/>
                </p:oleObj>
              </mc:Choice>
              <mc:Fallback>
                <p:oleObj name="Equation" r:id="rId13" imgW="774364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7044" y="4010194"/>
                        <a:ext cx="774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0" name="Text Box 12"/>
          <p:cNvSpPr txBox="1">
            <a:spLocks noChangeArrowheads="1"/>
          </p:cNvSpPr>
          <p:nvPr/>
        </p:nvSpPr>
        <p:spPr bwMode="auto">
          <a:xfrm>
            <a:off x="5791744" y="4183857"/>
            <a:ext cx="1771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均发散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782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818338"/>
              </p:ext>
            </p:extLst>
          </p:nvPr>
        </p:nvGraphicFramePr>
        <p:xfrm>
          <a:off x="3650457" y="5002213"/>
          <a:ext cx="22558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01309" imgH="431613" progId="Equation.3">
                  <p:embed/>
                </p:oleObj>
              </mc:Choice>
              <mc:Fallback>
                <p:oleObj name="公式" r:id="rId14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457" y="5002213"/>
                        <a:ext cx="225583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2" name="Text Box 14"/>
          <p:cNvSpPr txBox="1">
            <a:spLocks noChangeArrowheads="1"/>
          </p:cNvSpPr>
          <p:nvPr/>
        </p:nvSpPr>
        <p:spPr bwMode="auto">
          <a:xfrm>
            <a:off x="6019800" y="5252244"/>
            <a:ext cx="182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敛散性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8223" name="Rectangle 15"/>
          <p:cNvSpPr>
            <a:spLocks noChangeArrowheads="1"/>
          </p:cNvSpPr>
          <p:nvPr/>
        </p:nvSpPr>
        <p:spPr bwMode="auto">
          <a:xfrm>
            <a:off x="7240632" y="5252244"/>
            <a:ext cx="1885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不确定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36880" name="Group 16"/>
          <p:cNvGrpSpPr>
            <a:grpSpLocks/>
          </p:cNvGrpSpPr>
          <p:nvPr/>
        </p:nvGrpSpPr>
        <p:grpSpPr bwMode="auto">
          <a:xfrm>
            <a:off x="2278942" y="1113217"/>
            <a:ext cx="685800" cy="685800"/>
            <a:chOff x="672" y="1344"/>
            <a:chExt cx="432" cy="432"/>
          </a:xfrm>
        </p:grpSpPr>
        <p:sp>
          <p:nvSpPr>
            <p:cNvPr id="36882" name="Oval 17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83" name="Text Box 18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en-US" altLang="zh-CN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3688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1EF5E2-B8C5-463D-AE8A-0F62F7D0E21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50039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5" grpId="0" autoUpdateAnimBg="0"/>
      <p:bldP spid="478217" grpId="0" autoUpdateAnimBg="0"/>
      <p:bldP spid="478218" grpId="0" autoUpdateAnimBg="0"/>
      <p:bldP spid="478220" grpId="0" autoUpdateAnimBg="0"/>
      <p:bldP spid="478222" grpId="0" autoUpdateAnimBg="0"/>
      <p:bldP spid="47822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927882"/>
              </p:ext>
            </p:extLst>
          </p:nvPr>
        </p:nvGraphicFramePr>
        <p:xfrm>
          <a:off x="3298100" y="2250644"/>
          <a:ext cx="3886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5100" imgH="203200" progId="Equation.3">
                  <p:embed/>
                </p:oleObj>
              </mc:Choice>
              <mc:Fallback>
                <p:oleObj name="公式" r:id="rId2" imgW="1435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100" y="2250644"/>
                        <a:ext cx="3886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7393440" y="2217307"/>
            <a:ext cx="2847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都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.</a:t>
            </a:r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auto">
          <a:xfrm>
            <a:off x="2224453" y="3126989"/>
            <a:ext cx="771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但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  <a:sym typeface="MT Extra" panose="05050102010205020202" pitchFamily="18" charset="2"/>
            </a:endParaRPr>
          </a:p>
        </p:txBody>
      </p:sp>
      <p:graphicFrame>
        <p:nvGraphicFramePr>
          <p:cNvPr id="378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46216"/>
              </p:ext>
            </p:extLst>
          </p:nvPr>
        </p:nvGraphicFramePr>
        <p:xfrm>
          <a:off x="3480959" y="1502512"/>
          <a:ext cx="2257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37836" imgH="203112" progId="Equation.3">
                  <p:embed/>
                </p:oleObj>
              </mc:Choice>
              <mc:Fallback>
                <p:oleObj name="公式" r:id="rId5" imgW="83783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959" y="1502512"/>
                        <a:ext cx="22574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570957"/>
              </p:ext>
            </p:extLst>
          </p:nvPr>
        </p:nvGraphicFramePr>
        <p:xfrm>
          <a:off x="3431678" y="3213508"/>
          <a:ext cx="1662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00200" imgH="393700" progId="Equation.3">
                  <p:embed/>
                </p:oleObj>
              </mc:Choice>
              <mc:Fallback>
                <p:oleObj name="Equation" r:id="rId7" imgW="1600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678" y="3213508"/>
                        <a:ext cx="1662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9" name="Rectangle 7"/>
          <p:cNvSpPr>
            <a:spLocks noChangeArrowheads="1"/>
          </p:cNvSpPr>
          <p:nvPr/>
        </p:nvSpPr>
        <p:spPr bwMode="auto">
          <a:xfrm>
            <a:off x="7567612" y="3283743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2107704" y="1505668"/>
            <a:ext cx="13239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10</a:t>
            </a:r>
          </a:p>
        </p:txBody>
      </p:sp>
      <p:graphicFrame>
        <p:nvGraphicFramePr>
          <p:cNvPr id="4792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301464"/>
              </p:ext>
            </p:extLst>
          </p:nvPr>
        </p:nvGraphicFramePr>
        <p:xfrm>
          <a:off x="3482976" y="3967570"/>
          <a:ext cx="300513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300" imgH="317500" progId="Equation.3">
                  <p:embed/>
                </p:oleObj>
              </mc:Choice>
              <mc:Fallback>
                <p:oleObj name="Equation" r:id="rId9" imgW="27813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76" y="3967570"/>
                        <a:ext cx="300513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429685"/>
              </p:ext>
            </p:extLst>
          </p:nvPr>
        </p:nvGraphicFramePr>
        <p:xfrm>
          <a:off x="5152300" y="3213508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55800" imgH="393700" progId="Equation.3">
                  <p:embed/>
                </p:oleObj>
              </mc:Choice>
              <mc:Fallback>
                <p:oleObj name="Equation" r:id="rId11" imgW="195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300" y="3213508"/>
                        <a:ext cx="2032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524247"/>
              </p:ext>
            </p:extLst>
          </p:nvPr>
        </p:nvGraphicFramePr>
        <p:xfrm>
          <a:off x="3505201" y="4651013"/>
          <a:ext cx="534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4870" imgH="317225" progId="Equation.3">
                  <p:embed/>
                </p:oleObj>
              </mc:Choice>
              <mc:Fallback>
                <p:oleObj name="Equation" r:id="rId13" imgW="494870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651013"/>
                        <a:ext cx="534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8E2ED7-FACD-4270-83A4-BFD89B0EAFE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533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5" grpId="0" autoUpdateAnimBg="0"/>
      <p:bldP spid="479236" grpId="0" autoUpdateAnimBg="0"/>
      <p:bldP spid="47923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784963" y="1585531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480259" name="Text Box 3"/>
          <p:cNvSpPr txBox="1">
            <a:spLocks noChangeArrowheads="1"/>
          </p:cNvSpPr>
          <p:nvPr/>
        </p:nvSpPr>
        <p:spPr bwMode="auto">
          <a:xfrm>
            <a:off x="3115311" y="1543084"/>
            <a:ext cx="6781800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添加或去掉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有限项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不影响一个级数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0260" name="Text Box 4"/>
          <p:cNvSpPr txBox="1">
            <a:spLocks noChangeArrowheads="1"/>
          </p:cNvSpPr>
          <p:nvPr/>
        </p:nvSpPr>
        <p:spPr bwMode="auto">
          <a:xfrm>
            <a:off x="1970088" y="4060826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4802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552047"/>
              </p:ext>
            </p:extLst>
          </p:nvPr>
        </p:nvGraphicFramePr>
        <p:xfrm>
          <a:off x="4870450" y="3838928"/>
          <a:ext cx="80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753" imgH="952087" progId="Equation.3">
                  <p:embed/>
                </p:oleObj>
              </mc:Choice>
              <mc:Fallback>
                <p:oleObj name="Equation" r:id="rId3" imgW="799753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3838928"/>
                        <a:ext cx="80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2" name="Rectangle 6"/>
          <p:cNvSpPr>
            <a:spLocks noChangeArrowheads="1"/>
          </p:cNvSpPr>
          <p:nvPr/>
        </p:nvSpPr>
        <p:spPr bwMode="auto">
          <a:xfrm>
            <a:off x="3276600" y="4056353"/>
            <a:ext cx="1593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0263" name="Rectangle 7"/>
          <p:cNvSpPr>
            <a:spLocks noChangeArrowheads="1"/>
          </p:cNvSpPr>
          <p:nvPr/>
        </p:nvSpPr>
        <p:spPr bwMode="auto">
          <a:xfrm>
            <a:off x="5791200" y="4033206"/>
            <a:ext cx="1273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endParaRPr lang="en-US" altLang="zh-CN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80264" name="Text Box 8"/>
          <p:cNvSpPr txBox="1">
            <a:spLocks noChangeArrowheads="1"/>
          </p:cNvSpPr>
          <p:nvPr/>
        </p:nvSpPr>
        <p:spPr bwMode="auto">
          <a:xfrm>
            <a:off x="2062163" y="4862866"/>
            <a:ext cx="5110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加括号所得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0265" name="Text Box 9"/>
          <p:cNvSpPr txBox="1">
            <a:spLocks noChangeArrowheads="1"/>
          </p:cNvSpPr>
          <p:nvPr/>
        </p:nvSpPr>
        <p:spPr bwMode="auto">
          <a:xfrm>
            <a:off x="7064375" y="4853272"/>
            <a:ext cx="2855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原级数的和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0266" name="Text Box 10"/>
          <p:cNvSpPr txBox="1">
            <a:spLocks noChangeArrowheads="1"/>
          </p:cNvSpPr>
          <p:nvPr/>
        </p:nvSpPr>
        <p:spPr bwMode="auto">
          <a:xfrm>
            <a:off x="3276600" y="2991759"/>
            <a:ext cx="4033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级数的和一般会改变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480267" name="Rectangle 11"/>
          <p:cNvSpPr>
            <a:spLocks noChangeArrowheads="1"/>
          </p:cNvSpPr>
          <p:nvPr/>
        </p:nvSpPr>
        <p:spPr bwMode="auto">
          <a:xfrm>
            <a:off x="4141788" y="4845541"/>
            <a:ext cx="3698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新级数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仍收敛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于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0268" name="Rectangle 12"/>
          <p:cNvSpPr>
            <a:spLocks noChangeArrowheads="1"/>
          </p:cNvSpPr>
          <p:nvPr/>
        </p:nvSpPr>
        <p:spPr bwMode="auto">
          <a:xfrm>
            <a:off x="6857049" y="4023612"/>
            <a:ext cx="30400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则对其各项任意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0269" name="Rectangle 13"/>
          <p:cNvSpPr>
            <a:spLocks noChangeArrowheads="1"/>
          </p:cNvSpPr>
          <p:nvPr/>
        </p:nvSpPr>
        <p:spPr bwMode="auto">
          <a:xfrm>
            <a:off x="2832713" y="2279331"/>
            <a:ext cx="2037737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62163" y="2991759"/>
            <a:ext cx="685800" cy="685800"/>
            <a:chOff x="672" y="1344"/>
            <a:chExt cx="432" cy="432"/>
          </a:xfrm>
        </p:grpSpPr>
        <p:sp>
          <p:nvSpPr>
            <p:cNvPr id="38928" name="Oval 15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9" name="Text Box 16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en-US" altLang="zh-CN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3892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150175-10CE-4F5A-8748-7AC1A14E40F9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0805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8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9" grpId="0" autoUpdateAnimBg="0"/>
      <p:bldP spid="480260" grpId="0" autoUpdateAnimBg="0"/>
      <p:bldP spid="480262" grpId="0" autoUpdateAnimBg="0"/>
      <p:bldP spid="480263" grpId="0" autoUpdateAnimBg="0"/>
      <p:bldP spid="480264" grpId="0" autoUpdateAnimBg="0"/>
      <p:bldP spid="480265" grpId="0" autoUpdateAnimBg="0"/>
      <p:bldP spid="480266" grpId="0"/>
      <p:bldP spid="480267" grpId="0"/>
      <p:bldP spid="480268" grpId="0"/>
      <p:bldP spid="48026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Text Box 2"/>
          <p:cNvSpPr txBox="1">
            <a:spLocks noChangeArrowheads="1"/>
          </p:cNvSpPr>
          <p:nvPr/>
        </p:nvSpPr>
        <p:spPr bwMode="auto">
          <a:xfrm>
            <a:off x="3025776" y="1205998"/>
            <a:ext cx="7124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①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一个级数加括号后所得新级数发散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1283" name="Text Box 3"/>
          <p:cNvSpPr txBox="1">
            <a:spLocks noChangeArrowheads="1"/>
          </p:cNvSpPr>
          <p:nvPr/>
        </p:nvSpPr>
        <p:spPr bwMode="auto">
          <a:xfrm>
            <a:off x="2932295" y="2398349"/>
            <a:ext cx="1524000" cy="61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事实上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2222500" y="3079118"/>
            <a:ext cx="4606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的级数就应该收敛了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1285" name="Rectangle 5"/>
          <p:cNvSpPr>
            <a:spLocks noChangeArrowheads="1"/>
          </p:cNvSpPr>
          <p:nvPr/>
        </p:nvSpPr>
        <p:spPr bwMode="auto">
          <a:xfrm>
            <a:off x="4340225" y="2412144"/>
            <a:ext cx="2303463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设级数收敛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6643688" y="2429847"/>
            <a:ext cx="2663825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根据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4</a:t>
            </a:r>
          </a:p>
        </p:txBody>
      </p:sp>
      <p:graphicFrame>
        <p:nvGraphicFramePr>
          <p:cNvPr id="481287" name="Object 2"/>
          <p:cNvGraphicFramePr>
            <a:graphicFrameLocks noChangeAspect="1"/>
          </p:cNvGraphicFramePr>
          <p:nvPr/>
        </p:nvGraphicFramePr>
        <p:xfrm>
          <a:off x="2209801" y="4946650"/>
          <a:ext cx="4162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63700" imgH="215900" progId="Equation.3">
                  <p:embed/>
                </p:oleObj>
              </mc:Choice>
              <mc:Fallback>
                <p:oleObj name="公式" r:id="rId3" imgW="1663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4946650"/>
                        <a:ext cx="41624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8" name="Object 3"/>
          <p:cNvGraphicFramePr>
            <a:graphicFrameLocks noChangeAspect="1"/>
          </p:cNvGraphicFramePr>
          <p:nvPr/>
        </p:nvGraphicFramePr>
        <p:xfrm>
          <a:off x="3484563" y="5643564"/>
          <a:ext cx="24511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77476" imgH="165028" progId="Equation.3">
                  <p:embed/>
                </p:oleObj>
              </mc:Choice>
              <mc:Fallback>
                <p:oleObj name="公式" r:id="rId5" imgW="977476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5643564"/>
                        <a:ext cx="24511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9" name="Text Box 9"/>
          <p:cNvSpPr txBox="1">
            <a:spLocks noChangeArrowheads="1"/>
          </p:cNvSpPr>
          <p:nvPr/>
        </p:nvSpPr>
        <p:spPr bwMode="auto">
          <a:xfrm>
            <a:off x="6670675" y="4906964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81290" name="Text Box 10"/>
          <p:cNvSpPr txBox="1">
            <a:spLocks noChangeArrowheads="1"/>
          </p:cNvSpPr>
          <p:nvPr/>
        </p:nvSpPr>
        <p:spPr bwMode="auto">
          <a:xfrm>
            <a:off x="6656388" y="5611814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81291" name="Text Box 11"/>
          <p:cNvSpPr txBox="1">
            <a:spLocks noChangeArrowheads="1"/>
          </p:cNvSpPr>
          <p:nvPr/>
        </p:nvSpPr>
        <p:spPr bwMode="auto">
          <a:xfrm>
            <a:off x="3025776" y="3748089"/>
            <a:ext cx="497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②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一个级数加括号后收敛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1292" name="Rectangle 12"/>
          <p:cNvSpPr>
            <a:spLocks noChangeArrowheads="1"/>
          </p:cNvSpPr>
          <p:nvPr/>
        </p:nvSpPr>
        <p:spPr bwMode="auto">
          <a:xfrm>
            <a:off x="3393395" y="4367213"/>
            <a:ext cx="2393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性不定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1293" name="Rectangle 13"/>
          <p:cNvSpPr>
            <a:spLocks noChangeArrowheads="1"/>
          </p:cNvSpPr>
          <p:nvPr/>
        </p:nvSpPr>
        <p:spPr bwMode="auto">
          <a:xfrm>
            <a:off x="3443470" y="1832707"/>
            <a:ext cx="2733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则原级数发散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1294" name="Rectangle 14"/>
          <p:cNvSpPr>
            <a:spLocks noChangeArrowheads="1"/>
          </p:cNvSpPr>
          <p:nvPr/>
        </p:nvSpPr>
        <p:spPr bwMode="auto">
          <a:xfrm>
            <a:off x="8656320" y="2445857"/>
            <a:ext cx="1639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加括后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295" name="Rectangle 15"/>
          <p:cNvSpPr>
            <a:spLocks noChangeArrowheads="1"/>
          </p:cNvSpPr>
          <p:nvPr/>
        </p:nvSpPr>
        <p:spPr bwMode="auto">
          <a:xfrm>
            <a:off x="7798663" y="3748089"/>
            <a:ext cx="2244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原级数敛散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9952" name="Group 16"/>
          <p:cNvGrpSpPr>
            <a:grpSpLocks/>
          </p:cNvGrpSpPr>
          <p:nvPr/>
        </p:nvGrpSpPr>
        <p:grpSpPr bwMode="auto">
          <a:xfrm>
            <a:off x="1970315" y="1107867"/>
            <a:ext cx="685800" cy="685800"/>
            <a:chOff x="672" y="1344"/>
            <a:chExt cx="432" cy="432"/>
          </a:xfrm>
        </p:grpSpPr>
        <p:sp>
          <p:nvSpPr>
            <p:cNvPr id="39954" name="Oval 17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55" name="Text Box 18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en-US" altLang="zh-CN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3995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B7351B-202E-43F5-ADA9-AD528588CF6A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8184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2" grpId="0" autoUpdateAnimBg="0"/>
      <p:bldP spid="481283" grpId="0" autoUpdateAnimBg="0"/>
      <p:bldP spid="481284" grpId="0" autoUpdateAnimBg="0"/>
      <p:bldP spid="481285" grpId="0" autoUpdateAnimBg="0"/>
      <p:bldP spid="481286" grpId="0" autoUpdateAnimBg="0"/>
      <p:bldP spid="481289" grpId="0" autoUpdateAnimBg="0"/>
      <p:bldP spid="481290" grpId="0" autoUpdateAnimBg="0"/>
      <p:bldP spid="481291" grpId="0" autoUpdateAnimBg="0"/>
      <p:bldP spid="481292" grpId="0" autoUpdateAnimBg="0"/>
      <p:bldP spid="481293" grpId="0"/>
      <p:bldP spid="481294" grpId="0"/>
      <p:bldP spid="48129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87527"/>
              </p:ext>
            </p:extLst>
          </p:nvPr>
        </p:nvGraphicFramePr>
        <p:xfrm>
          <a:off x="4902702" y="843308"/>
          <a:ext cx="2613025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40948" imgH="482391" progId="Equation.3">
                  <p:embed/>
                </p:oleObj>
              </mc:Choice>
              <mc:Fallback>
                <p:oleObj name="公式" r:id="rId2" imgW="1040948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702" y="843308"/>
                        <a:ext cx="2613025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3" name="Text Box 3"/>
          <p:cNvSpPr txBox="1">
            <a:spLocks noChangeArrowheads="1"/>
          </p:cNvSpPr>
          <p:nvPr/>
        </p:nvSpPr>
        <p:spPr bwMode="auto">
          <a:xfrm>
            <a:off x="2032001" y="2152157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8640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27155"/>
              </p:ext>
            </p:extLst>
          </p:nvPr>
        </p:nvGraphicFramePr>
        <p:xfrm>
          <a:off x="5045076" y="1937437"/>
          <a:ext cx="85248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42751" imgH="431613" progId="Equation.3">
                  <p:embed/>
                </p:oleObj>
              </mc:Choice>
              <mc:Fallback>
                <p:oleObj name="公式" r:id="rId5" imgW="34275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076" y="1937437"/>
                        <a:ext cx="852488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169958"/>
              </p:ext>
            </p:extLst>
          </p:nvPr>
        </p:nvGraphicFramePr>
        <p:xfrm>
          <a:off x="2900159" y="2821885"/>
          <a:ext cx="10509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18918" imgH="431613" progId="Equation.3">
                  <p:embed/>
                </p:oleObj>
              </mc:Choice>
              <mc:Fallback>
                <p:oleObj name="公式" r:id="rId7" imgW="41891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159" y="2821885"/>
                        <a:ext cx="10509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6" name="Text Box 6"/>
          <p:cNvSpPr txBox="1">
            <a:spLocks noChangeArrowheads="1"/>
          </p:cNvSpPr>
          <p:nvPr/>
        </p:nvSpPr>
        <p:spPr bwMode="auto">
          <a:xfrm>
            <a:off x="5173664" y="3045223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而级数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64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839441"/>
              </p:ext>
            </p:extLst>
          </p:nvPr>
        </p:nvGraphicFramePr>
        <p:xfrm>
          <a:off x="2946401" y="3883819"/>
          <a:ext cx="1274762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07780" imgH="393529" progId="Equation.3">
                  <p:embed/>
                </p:oleObj>
              </mc:Choice>
              <mc:Fallback>
                <p:oleObj name="公式" r:id="rId9" imgW="50778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1" y="3883819"/>
                        <a:ext cx="1274762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969930"/>
              </p:ext>
            </p:extLst>
          </p:nvPr>
        </p:nvGraphicFramePr>
        <p:xfrm>
          <a:off x="7878764" y="3923507"/>
          <a:ext cx="13096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700" imgH="838200" progId="Equation.3">
                  <p:embed/>
                </p:oleObj>
              </mc:Choice>
              <mc:Fallback>
                <p:oleObj name="Equation" r:id="rId11" imgW="1282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764" y="3923507"/>
                        <a:ext cx="13096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9" name="Text Box 9"/>
          <p:cNvSpPr txBox="1">
            <a:spLocks noChangeArrowheads="1"/>
          </p:cNvSpPr>
          <p:nvPr/>
        </p:nvSpPr>
        <p:spPr bwMode="auto">
          <a:xfrm>
            <a:off x="2875009" y="4764088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所以级数</a:t>
            </a:r>
            <a:endParaRPr lang="en-US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64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342147"/>
              </p:ext>
            </p:extLst>
          </p:nvPr>
        </p:nvGraphicFramePr>
        <p:xfrm>
          <a:off x="5003438" y="5181599"/>
          <a:ext cx="25558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16000" imgH="482600" progId="Equation.3">
                  <p:embed/>
                </p:oleObj>
              </mc:Choice>
              <mc:Fallback>
                <p:oleObj name="公式" r:id="rId13" imgW="10160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438" y="5181599"/>
                        <a:ext cx="255587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1" name="Text Box 11"/>
          <p:cNvSpPr txBox="1">
            <a:spLocks noChangeArrowheads="1"/>
          </p:cNvSpPr>
          <p:nvPr/>
        </p:nvSpPr>
        <p:spPr bwMode="auto">
          <a:xfrm>
            <a:off x="7689057" y="5514975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6412" name="Rectangle 12"/>
          <p:cNvSpPr>
            <a:spLocks noChangeArrowheads="1"/>
          </p:cNvSpPr>
          <p:nvPr/>
        </p:nvSpPr>
        <p:spPr bwMode="auto">
          <a:xfrm>
            <a:off x="2849563" y="5514975"/>
            <a:ext cx="2266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知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6413" name="Rectangle 13"/>
          <p:cNvSpPr>
            <a:spLocks noChangeArrowheads="1"/>
          </p:cNvSpPr>
          <p:nvPr/>
        </p:nvSpPr>
        <p:spPr bwMode="auto">
          <a:xfrm>
            <a:off x="6945314" y="2164716"/>
            <a:ext cx="210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知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6414" name="Rectangle 14"/>
          <p:cNvSpPr>
            <a:spLocks noChangeArrowheads="1"/>
          </p:cNvSpPr>
          <p:nvPr/>
        </p:nvSpPr>
        <p:spPr bwMode="auto">
          <a:xfrm>
            <a:off x="3860438" y="3074693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6415" name="Rectangle 15"/>
          <p:cNvSpPr>
            <a:spLocks noChangeArrowheads="1"/>
          </p:cNvSpPr>
          <p:nvPr/>
        </p:nvSpPr>
        <p:spPr bwMode="auto">
          <a:xfrm>
            <a:off x="2806927" y="2147439"/>
            <a:ext cx="2600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因调和级数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6416" name="Rectangle 16"/>
          <p:cNvSpPr>
            <a:spLocks noChangeArrowheads="1"/>
          </p:cNvSpPr>
          <p:nvPr/>
        </p:nvSpPr>
        <p:spPr bwMode="auto">
          <a:xfrm>
            <a:off x="5868988" y="2151585"/>
            <a:ext cx="1752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6417" name="Rectangle 17"/>
          <p:cNvSpPr>
            <a:spLocks noChangeArrowheads="1"/>
          </p:cNvSpPr>
          <p:nvPr/>
        </p:nvSpPr>
        <p:spPr bwMode="auto">
          <a:xfrm>
            <a:off x="4297364" y="4085432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为公比的等比级数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864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25234"/>
              </p:ext>
            </p:extLst>
          </p:nvPr>
        </p:nvGraphicFramePr>
        <p:xfrm>
          <a:off x="6527437" y="2833189"/>
          <a:ext cx="13557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45863" imgH="444307" progId="Equation.3">
                  <p:embed/>
                </p:oleObj>
              </mc:Choice>
              <mc:Fallback>
                <p:oleObj name="公式" r:id="rId15" imgW="54586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437" y="2833189"/>
                        <a:ext cx="13557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9" name="Rectangle 19"/>
          <p:cNvSpPr>
            <a:spLocks noChangeArrowheads="1"/>
          </p:cNvSpPr>
          <p:nvPr/>
        </p:nvSpPr>
        <p:spPr bwMode="auto">
          <a:xfrm>
            <a:off x="7784738" y="3045223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是以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64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689388"/>
              </p:ext>
            </p:extLst>
          </p:nvPr>
        </p:nvGraphicFramePr>
        <p:xfrm>
          <a:off x="9288463" y="4194176"/>
          <a:ext cx="46672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8027" imgH="285918" progId="Equation.3">
                  <p:embed/>
                </p:oleObj>
              </mc:Choice>
              <mc:Fallback>
                <p:oleObj name="Equation" r:id="rId17" imgW="438027" imgH="285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8463" y="4194176"/>
                        <a:ext cx="466725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21" name="Rectangle 21"/>
          <p:cNvSpPr>
            <a:spLocks noChangeArrowheads="1"/>
          </p:cNvSpPr>
          <p:nvPr/>
        </p:nvSpPr>
        <p:spPr bwMode="auto">
          <a:xfrm>
            <a:off x="4497388" y="4752976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82" name="Text Box 22"/>
          <p:cNvSpPr txBox="1">
            <a:spLocks noChangeArrowheads="1"/>
          </p:cNvSpPr>
          <p:nvPr/>
        </p:nvSpPr>
        <p:spPr bwMode="auto">
          <a:xfrm>
            <a:off x="2130791" y="1131421"/>
            <a:ext cx="1479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3108325" y="1128311"/>
            <a:ext cx="2225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判别级数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7487424" y="1144588"/>
            <a:ext cx="1509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8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1D93F7-8E45-4424-896F-4D5EF8413B7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882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autoUpdateAnimBg="0"/>
      <p:bldP spid="486406" grpId="0" autoUpdateAnimBg="0"/>
      <p:bldP spid="486409" grpId="0" autoUpdateAnimBg="0"/>
      <p:bldP spid="486411" grpId="0" autoUpdateAnimBg="0"/>
      <p:bldP spid="486412" grpId="0" autoUpdateAnimBg="0"/>
      <p:bldP spid="486413" grpId="0" autoUpdateAnimBg="0"/>
      <p:bldP spid="486414" grpId="0" autoUpdateAnimBg="0"/>
      <p:bldP spid="486415" grpId="0" autoUpdateAnimBg="0"/>
      <p:bldP spid="486416" grpId="0" autoUpdateAnimBg="0"/>
      <p:bldP spid="486417" grpId="0" autoUpdateAnimBg="0"/>
      <p:bldP spid="486419" grpId="0" autoUpdateAnimBg="0"/>
      <p:bldP spid="48642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ChangeArrowheads="1"/>
          </p:cNvSpPr>
          <p:nvPr/>
        </p:nvSpPr>
        <p:spPr bwMode="auto">
          <a:xfrm>
            <a:off x="2673531" y="1452451"/>
            <a:ext cx="495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常数项级数的基本概念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51" name="Rectangle 3"/>
          <p:cNvSpPr>
            <a:spLocks noChangeArrowheads="1"/>
          </p:cNvSpPr>
          <p:nvPr/>
        </p:nvSpPr>
        <p:spPr bwMode="auto">
          <a:xfrm>
            <a:off x="2667000" y="3814515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基本判别法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52" name="Text Box 4"/>
          <p:cNvSpPr txBox="1">
            <a:spLocks noChangeArrowheads="1"/>
          </p:cNvSpPr>
          <p:nvPr/>
        </p:nvSpPr>
        <p:spPr bwMode="auto">
          <a:xfrm>
            <a:off x="2673531" y="5742987"/>
            <a:ext cx="3048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按基本性质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53" name="Text Box 5"/>
          <p:cNvSpPr txBox="1">
            <a:spLocks noChangeArrowheads="1"/>
          </p:cNvSpPr>
          <p:nvPr/>
        </p:nvSpPr>
        <p:spPr bwMode="auto">
          <a:xfrm>
            <a:off x="6191250" y="5023305"/>
            <a:ext cx="281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则级数收敛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54" name="Text Box 6"/>
          <p:cNvSpPr txBox="1">
            <a:spLocks noChangeArrowheads="1"/>
          </p:cNvSpPr>
          <p:nvPr/>
        </p:nvSpPr>
        <p:spPr bwMode="auto">
          <a:xfrm>
            <a:off x="3200400" y="5023305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由定义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1991" name="Object 2"/>
          <p:cNvGraphicFramePr>
            <a:graphicFrameLocks noChangeAspect="1"/>
          </p:cNvGraphicFramePr>
          <p:nvPr/>
        </p:nvGraphicFramePr>
        <p:xfrm>
          <a:off x="6000750" y="29146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500" imgH="419100" progId="Equation.3">
                  <p:embed/>
                </p:oleObj>
              </mc:Choice>
              <mc:Fallback>
                <p:oleObj name="Equation" r:id="rId3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9146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737427"/>
              </p:ext>
            </p:extLst>
          </p:nvPr>
        </p:nvGraphicFramePr>
        <p:xfrm>
          <a:off x="4610100" y="5069615"/>
          <a:ext cx="1752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586" imgH="228501" progId="Equation.DSMT4">
                  <p:embed/>
                </p:oleObj>
              </mc:Choice>
              <mc:Fallback>
                <p:oleObj name="Equation" r:id="rId5" imgW="72358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5069615"/>
                        <a:ext cx="1752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7" name="Rectangle 9"/>
          <p:cNvSpPr>
            <a:spLocks noChangeArrowheads="1"/>
          </p:cNvSpPr>
          <p:nvPr/>
        </p:nvSpPr>
        <p:spPr bwMode="auto">
          <a:xfrm>
            <a:off x="2743200" y="5023306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2.</a:t>
            </a:r>
          </a:p>
        </p:txBody>
      </p:sp>
      <p:graphicFrame>
        <p:nvGraphicFramePr>
          <p:cNvPr id="4884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169366"/>
              </p:ext>
            </p:extLst>
          </p:nvPr>
        </p:nvGraphicFramePr>
        <p:xfrm>
          <a:off x="3320143" y="4489905"/>
          <a:ext cx="1981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5000" imgH="571500" progId="Equation.3">
                  <p:embed/>
                </p:oleObj>
              </mc:Choice>
              <mc:Fallback>
                <p:oleObj name="Equation" r:id="rId7" imgW="1905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143" y="4489905"/>
                        <a:ext cx="19812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9" name="Text Box 11"/>
          <p:cNvSpPr txBox="1">
            <a:spLocks noChangeArrowheads="1"/>
          </p:cNvSpPr>
          <p:nvPr/>
        </p:nvSpPr>
        <p:spPr bwMode="auto">
          <a:xfrm>
            <a:off x="5361214" y="4417108"/>
            <a:ext cx="297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则级数发散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60" name="Text Box 12"/>
          <p:cNvSpPr txBox="1">
            <a:spLocks noChangeArrowheads="1"/>
          </p:cNvSpPr>
          <p:nvPr/>
        </p:nvSpPr>
        <p:spPr bwMode="auto">
          <a:xfrm>
            <a:off x="2726872" y="2175762"/>
            <a:ext cx="411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级数收敛的必要条件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8461" name="Text Box 13"/>
          <p:cNvSpPr txBox="1">
            <a:spLocks noChangeArrowheads="1"/>
          </p:cNvSpPr>
          <p:nvPr/>
        </p:nvSpPr>
        <p:spPr bwMode="auto">
          <a:xfrm>
            <a:off x="2590800" y="3022353"/>
            <a:ext cx="472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记住等比级数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几何级数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221583" y="2835822"/>
            <a:ext cx="3048000" cy="952500"/>
            <a:chOff x="3600" y="1680"/>
            <a:chExt cx="1920" cy="600"/>
          </a:xfrm>
        </p:grpSpPr>
        <p:sp>
          <p:nvSpPr>
            <p:cNvPr id="42007" name="Text Box 14"/>
            <p:cNvSpPr txBox="1">
              <a:spLocks noChangeArrowheads="1"/>
            </p:cNvSpPr>
            <p:nvPr/>
          </p:nvSpPr>
          <p:spPr bwMode="auto">
            <a:xfrm>
              <a:off x="4176" y="1824"/>
              <a:ext cx="13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anose="02010600030101010101" pitchFamily="2" charset="-122"/>
                </a:rPr>
                <a:t>的收敛性</a:t>
              </a:r>
              <a:endParaRPr lang="en-US" altLang="zh-CN" sz="32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2008" name="Object 7"/>
            <p:cNvGraphicFramePr>
              <a:graphicFrameLocks noChangeAspect="1"/>
            </p:cNvGraphicFramePr>
            <p:nvPr/>
          </p:nvGraphicFramePr>
          <p:xfrm>
            <a:off x="3600" y="1680"/>
            <a:ext cx="624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71427" imgH="933394" progId="Equation.3">
                    <p:embed/>
                  </p:oleObj>
                </mc:Choice>
                <mc:Fallback>
                  <p:oleObj name="Equation" r:id="rId9" imgW="971427" imgH="93339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680"/>
                          <a:ext cx="624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8464" name="Text Box 16"/>
          <p:cNvSpPr txBox="1">
            <a:spLocks noChangeArrowheads="1"/>
          </p:cNvSpPr>
          <p:nvPr/>
        </p:nvSpPr>
        <p:spPr bwMode="auto">
          <a:xfrm>
            <a:off x="2726872" y="4440919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</a:p>
        </p:txBody>
      </p:sp>
      <p:sp>
        <p:nvSpPr>
          <p:cNvPr id="42000" name="Rectangle 17"/>
          <p:cNvSpPr>
            <a:spLocks noChangeArrowheads="1"/>
          </p:cNvSpPr>
          <p:nvPr/>
        </p:nvSpPr>
        <p:spPr bwMode="auto">
          <a:xfrm>
            <a:off x="1686197" y="747759"/>
            <a:ext cx="1371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小结</a:t>
            </a:r>
            <a:endParaRPr lang="en-US" altLang="zh-CN" sz="4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488466" name="Picture 18" descr="BD10265_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434" y="1616121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8467" name="Picture 19" descr="BD10265_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340271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8468" name="Picture 20" descr="BD10265_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106" y="3159672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8469" name="Picture 21" descr="BD10265_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951834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8470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82651879"/>
              </p:ext>
            </p:extLst>
          </p:nvPr>
        </p:nvGraphicFramePr>
        <p:xfrm>
          <a:off x="6713764" y="2143421"/>
          <a:ext cx="16192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47700" imgH="279400" progId="Equation.3">
                  <p:embed/>
                </p:oleObj>
              </mc:Choice>
              <mc:Fallback>
                <p:oleObj name="公式" r:id="rId12" imgW="647700" imgH="2794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764" y="2143421"/>
                        <a:ext cx="16192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1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1650075"/>
              </p:ext>
            </p:extLst>
          </p:nvPr>
        </p:nvGraphicFramePr>
        <p:xfrm>
          <a:off x="8229600" y="666796"/>
          <a:ext cx="35814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04827" imgH="514350" progId="Equation.3">
                  <p:embed/>
                </p:oleObj>
              </mc:Choice>
              <mc:Fallback>
                <p:oleObj name="公式" r:id="rId14" imgW="1504827" imgH="51435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666796"/>
                        <a:ext cx="35814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21345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0" grpId="0" autoUpdateAnimBg="0"/>
      <p:bldP spid="488451" grpId="0" autoUpdateAnimBg="0"/>
      <p:bldP spid="488452" grpId="0" autoUpdateAnimBg="0"/>
      <p:bldP spid="488453" grpId="0" autoUpdateAnimBg="0"/>
      <p:bldP spid="488454" grpId="0" autoUpdateAnimBg="0"/>
      <p:bldP spid="488457" grpId="0" autoUpdateAnimBg="0"/>
      <p:bldP spid="488459" grpId="0" autoUpdateAnimBg="0"/>
      <p:bldP spid="488460" grpId="0" autoUpdateAnimBg="0"/>
      <p:bldP spid="488461" grpId="0" autoUpdateAnimBg="0"/>
      <p:bldP spid="48846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47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336728"/>
              </p:ext>
            </p:extLst>
          </p:nvPr>
        </p:nvGraphicFramePr>
        <p:xfrm>
          <a:off x="2964899" y="1689463"/>
          <a:ext cx="1376030" cy="1114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3169" imgH="431613" progId="Equation.3">
                  <p:embed/>
                </p:oleObj>
              </mc:Choice>
              <mc:Fallback>
                <p:oleObj name="公式" r:id="rId2" imgW="53316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4899" y="1689463"/>
                        <a:ext cx="1376030" cy="1114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4299767" y="1935188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收敛级数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9477" name="Text Box 5"/>
          <p:cNvSpPr txBox="1">
            <a:spLocks noChangeArrowheads="1"/>
          </p:cNvSpPr>
          <p:nvPr/>
        </p:nvSpPr>
        <p:spPr bwMode="auto">
          <a:xfrm>
            <a:off x="6663335" y="1913487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为非零常数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9478" name="Text Box 6"/>
          <p:cNvSpPr txBox="1">
            <a:spLocks noChangeArrowheads="1"/>
          </p:cNvSpPr>
          <p:nvPr/>
        </p:nvSpPr>
        <p:spPr bwMode="auto">
          <a:xfrm>
            <a:off x="2692400" y="2905502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试判别级数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94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945718"/>
              </p:ext>
            </p:extLst>
          </p:nvPr>
        </p:nvGraphicFramePr>
        <p:xfrm>
          <a:off x="4926430" y="2731307"/>
          <a:ext cx="157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800" imgH="952500" progId="Equation.3">
                  <p:embed/>
                </p:oleObj>
              </mc:Choice>
              <mc:Fallback>
                <p:oleObj name="Equation" r:id="rId5" imgW="1574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430" y="2731307"/>
                        <a:ext cx="157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0" name="Text Box 8"/>
          <p:cNvSpPr txBox="1">
            <a:spLocks noChangeArrowheads="1"/>
          </p:cNvSpPr>
          <p:nvPr/>
        </p:nvSpPr>
        <p:spPr bwMode="auto">
          <a:xfrm>
            <a:off x="6431589" y="2928361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9481" name="Rectangle 9"/>
          <p:cNvSpPr>
            <a:spLocks noChangeArrowheads="1"/>
          </p:cNvSpPr>
          <p:nvPr/>
        </p:nvSpPr>
        <p:spPr bwMode="auto">
          <a:xfrm>
            <a:off x="2025650" y="3794126"/>
            <a:ext cx="80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9482" name="Text Box 10"/>
          <p:cNvSpPr txBox="1">
            <a:spLocks noChangeArrowheads="1"/>
          </p:cNvSpPr>
          <p:nvPr/>
        </p:nvSpPr>
        <p:spPr bwMode="auto">
          <a:xfrm>
            <a:off x="2825750" y="3794126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948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919065"/>
              </p:ext>
            </p:extLst>
          </p:nvPr>
        </p:nvGraphicFramePr>
        <p:xfrm>
          <a:off x="3829843" y="3585320"/>
          <a:ext cx="80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753" imgH="952087" progId="Equation.3">
                  <p:embed/>
                </p:oleObj>
              </mc:Choice>
              <mc:Fallback>
                <p:oleObj name="Equation" r:id="rId7" imgW="799753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843" y="3585320"/>
                        <a:ext cx="80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4" name="Text Box 12"/>
          <p:cNvSpPr txBox="1">
            <a:spLocks noChangeArrowheads="1"/>
          </p:cNvSpPr>
          <p:nvPr/>
        </p:nvSpPr>
        <p:spPr bwMode="auto">
          <a:xfrm>
            <a:off x="4550650" y="3805982"/>
            <a:ext cx="129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9485" name="Text Box 13"/>
          <p:cNvSpPr txBox="1">
            <a:spLocks noChangeArrowheads="1"/>
          </p:cNvSpPr>
          <p:nvPr/>
        </p:nvSpPr>
        <p:spPr bwMode="auto">
          <a:xfrm>
            <a:off x="5695567" y="3797610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94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968244"/>
              </p:ext>
            </p:extLst>
          </p:nvPr>
        </p:nvGraphicFramePr>
        <p:xfrm>
          <a:off x="6301081" y="3852081"/>
          <a:ext cx="15636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3341" imgH="543093" progId="Equation.3">
                  <p:embed/>
                </p:oleObj>
              </mc:Choice>
              <mc:Fallback>
                <p:oleObj name="Equation" r:id="rId9" imgW="1533341" imgH="5430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081" y="3852081"/>
                        <a:ext cx="156368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7" name="Text Box 15"/>
          <p:cNvSpPr txBox="1">
            <a:spLocks noChangeArrowheads="1"/>
          </p:cNvSpPr>
          <p:nvPr/>
        </p:nvSpPr>
        <p:spPr bwMode="auto">
          <a:xfrm>
            <a:off x="3130550" y="4591805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948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876129"/>
              </p:ext>
            </p:extLst>
          </p:nvPr>
        </p:nvGraphicFramePr>
        <p:xfrm>
          <a:off x="4330700" y="4650800"/>
          <a:ext cx="1692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57227" imgH="543093" progId="Equation.3">
                  <p:embed/>
                </p:oleObj>
              </mc:Choice>
              <mc:Fallback>
                <p:oleObj name="Equation" r:id="rId11" imgW="1657227" imgH="5430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4650800"/>
                        <a:ext cx="16922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391149"/>
              </p:ext>
            </p:extLst>
          </p:nvPr>
        </p:nvGraphicFramePr>
        <p:xfrm>
          <a:off x="6648948" y="4707078"/>
          <a:ext cx="5715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76373" imgH="295499" progId="Equation.3">
                  <p:embed/>
                </p:oleObj>
              </mc:Choice>
              <mc:Fallback>
                <p:oleObj name="Equation" r:id="rId13" imgW="476373" imgH="2954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948" y="4707078"/>
                        <a:ext cx="5715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90" name="Text Box 18"/>
          <p:cNvSpPr txBox="1">
            <a:spLocks noChangeArrowheads="1"/>
          </p:cNvSpPr>
          <p:nvPr/>
        </p:nvSpPr>
        <p:spPr bwMode="auto">
          <a:xfrm>
            <a:off x="3021430" y="5382636"/>
            <a:ext cx="1905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故级数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94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142173"/>
              </p:ext>
            </p:extLst>
          </p:nvPr>
        </p:nvGraphicFramePr>
        <p:xfrm>
          <a:off x="4389438" y="5237165"/>
          <a:ext cx="157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74800" imgH="952500" progId="Equation.3">
                  <p:embed/>
                </p:oleObj>
              </mc:Choice>
              <mc:Fallback>
                <p:oleObj name="Equation" r:id="rId15" imgW="1574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5237165"/>
                        <a:ext cx="157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92" name="Text Box 20"/>
          <p:cNvSpPr txBox="1">
            <a:spLocks noChangeArrowheads="1"/>
          </p:cNvSpPr>
          <p:nvPr/>
        </p:nvSpPr>
        <p:spPr bwMode="auto">
          <a:xfrm>
            <a:off x="5935935" y="5382636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894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146458"/>
              </p:ext>
            </p:extLst>
          </p:nvPr>
        </p:nvGraphicFramePr>
        <p:xfrm>
          <a:off x="6022975" y="4792881"/>
          <a:ext cx="58896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5714" imgH="218851" progId="Equation.3">
                  <p:embed/>
                </p:oleObj>
              </mc:Choice>
              <mc:Fallback>
                <p:oleObj name="Equation" r:id="rId16" imgW="485714" imgH="2188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4792881"/>
                        <a:ext cx="588962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525837" y="1053950"/>
            <a:ext cx="6172200" cy="685800"/>
            <a:chOff x="1248" y="288"/>
            <a:chExt cx="3408" cy="384"/>
          </a:xfrm>
        </p:grpSpPr>
        <p:graphicFrame>
          <p:nvGraphicFramePr>
            <p:cNvPr id="43032" name="Object 10"/>
            <p:cNvGraphicFramePr>
              <a:graphicFrameLocks noChangeAspect="1"/>
            </p:cNvGraphicFramePr>
            <p:nvPr/>
          </p:nvGraphicFramePr>
          <p:xfrm>
            <a:off x="3537" y="302"/>
            <a:ext cx="97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457141" imgH="543093" progId="Equation.3">
                    <p:embed/>
                  </p:oleObj>
                </mc:Choice>
                <mc:Fallback>
                  <p:oleObj name="Equation" r:id="rId18" imgW="1457141" imgH="54309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302"/>
                          <a:ext cx="975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3" name="Text Box 24"/>
            <p:cNvSpPr txBox="1">
              <a:spLocks noChangeArrowheads="1"/>
            </p:cNvSpPr>
            <p:nvPr/>
          </p:nvSpPr>
          <p:spPr bwMode="auto">
            <a:xfrm>
              <a:off x="1344" y="288"/>
              <a:ext cx="23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级数收敛的必要条件</a:t>
              </a:r>
              <a:r>
                <a:rPr lang="en-US" altLang="zh-CN" sz="3200" b="1">
                  <a:solidFill>
                    <a:srgbClr val="0000FF"/>
                  </a:solidFill>
                  <a:ea typeface="黑体" panose="02010609060101010101" pitchFamily="49" charset="-122"/>
                </a:rPr>
                <a:t>:</a:t>
              </a:r>
            </a:p>
          </p:txBody>
        </p:sp>
        <p:sp>
          <p:nvSpPr>
            <p:cNvPr id="43034" name="AutoShape 25"/>
            <p:cNvSpPr>
              <a:spLocks noChangeArrowheads="1"/>
            </p:cNvSpPr>
            <p:nvPr/>
          </p:nvSpPr>
          <p:spPr bwMode="auto">
            <a:xfrm>
              <a:off x="1248" y="288"/>
              <a:ext cx="3408" cy="384"/>
            </a:xfrm>
            <a:prstGeom prst="parallelogram">
              <a:avLst>
                <a:gd name="adj" fmla="val 24571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3030" name="WordArt 10"/>
          <p:cNvSpPr>
            <a:spLocks noChangeArrowheads="1" noChangeShapeType="1" noTextEdit="1"/>
          </p:cNvSpPr>
          <p:nvPr/>
        </p:nvSpPr>
        <p:spPr bwMode="auto">
          <a:xfrm>
            <a:off x="2126862" y="1296607"/>
            <a:ext cx="956678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练习</a:t>
            </a:r>
          </a:p>
        </p:txBody>
      </p:sp>
      <p:sp>
        <p:nvSpPr>
          <p:cNvPr id="4303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79DC4A-2468-42C0-BF51-B2B04EA7C156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30161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 autoUpdateAnimBg="0"/>
      <p:bldP spid="489477" grpId="0" autoUpdateAnimBg="0"/>
      <p:bldP spid="489478" grpId="0" autoUpdateAnimBg="0"/>
      <p:bldP spid="489480" grpId="0" autoUpdateAnimBg="0"/>
      <p:bldP spid="489481" grpId="0" autoUpdateAnimBg="0"/>
      <p:bldP spid="489482" grpId="0" autoUpdateAnimBg="0"/>
      <p:bldP spid="489484" grpId="0" autoUpdateAnimBg="0"/>
      <p:bldP spid="489485" grpId="0" autoUpdateAnimBg="0"/>
      <p:bldP spid="489487" grpId="0" autoUpdateAnimBg="0"/>
      <p:bldP spid="489490" grpId="0" autoUpdateAnimBg="0"/>
      <p:bldP spid="48949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97128"/>
              </p:ext>
            </p:extLst>
          </p:nvPr>
        </p:nvGraphicFramePr>
        <p:xfrm>
          <a:off x="3481252" y="1170419"/>
          <a:ext cx="5586523" cy="1277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695886" imgH="1057443" progId="Word.Document.8">
                  <p:embed/>
                </p:oleObj>
              </mc:Choice>
              <mc:Fallback>
                <p:oleObj name="文档" r:id="rId2" imgW="4695886" imgH="10574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252" y="1170419"/>
                        <a:ext cx="5586523" cy="1277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2158386" y="2812028"/>
            <a:ext cx="806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9050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655344"/>
              </p:ext>
            </p:extLst>
          </p:nvPr>
        </p:nvGraphicFramePr>
        <p:xfrm>
          <a:off x="3213099" y="2620735"/>
          <a:ext cx="26670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67000" imgH="965200" progId="Equation.3">
                  <p:embed/>
                </p:oleObj>
              </mc:Choice>
              <mc:Fallback>
                <p:oleObj r:id="rId5" imgW="2667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099" y="2620735"/>
                        <a:ext cx="26670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546291"/>
              </p:ext>
            </p:extLst>
          </p:nvPr>
        </p:nvGraphicFramePr>
        <p:xfrm>
          <a:off x="5976937" y="2627084"/>
          <a:ext cx="19050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5000" imgH="952500" progId="Equation.3">
                  <p:embed/>
                </p:oleObj>
              </mc:Choice>
              <mc:Fallback>
                <p:oleObj name="Equation" r:id="rId7" imgW="19050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7" y="2627084"/>
                        <a:ext cx="19050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418291"/>
              </p:ext>
            </p:extLst>
          </p:nvPr>
        </p:nvGraphicFramePr>
        <p:xfrm>
          <a:off x="7881937" y="2620735"/>
          <a:ext cx="11049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900" imgH="952500" progId="Equation.3">
                  <p:embed/>
                </p:oleObj>
              </mc:Choice>
              <mc:Fallback>
                <p:oleObj name="Equation" r:id="rId9" imgW="1104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937" y="2620735"/>
                        <a:ext cx="11049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07037"/>
              </p:ext>
            </p:extLst>
          </p:nvPr>
        </p:nvGraphicFramePr>
        <p:xfrm>
          <a:off x="3213099" y="3838575"/>
          <a:ext cx="44831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83100" imgH="952500" progId="Equation.3">
                  <p:embed/>
                </p:oleObj>
              </mc:Choice>
              <mc:Fallback>
                <p:oleObj name="Equation" r:id="rId11" imgW="4483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099" y="3838575"/>
                        <a:ext cx="44831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362366"/>
              </p:ext>
            </p:extLst>
          </p:nvPr>
        </p:nvGraphicFramePr>
        <p:xfrm>
          <a:off x="2735262" y="5033963"/>
          <a:ext cx="37496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97950" imgH="431613" progId="Equation.3">
                  <p:embed/>
                </p:oleObj>
              </mc:Choice>
              <mc:Fallback>
                <p:oleObj name="公式" r:id="rId13" imgW="149795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2" y="5033963"/>
                        <a:ext cx="374967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507167"/>
              </p:ext>
            </p:extLst>
          </p:nvPr>
        </p:nvGraphicFramePr>
        <p:xfrm>
          <a:off x="6551612" y="5033963"/>
          <a:ext cx="228917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914400" imgH="393700" progId="Equation.3">
                  <p:embed/>
                </p:oleObj>
              </mc:Choice>
              <mc:Fallback>
                <p:oleObj name="公式" r:id="rId15" imgW="914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2" y="5033963"/>
                        <a:ext cx="228917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WordArt 10"/>
          <p:cNvSpPr>
            <a:spLocks noChangeArrowheads="1" noChangeShapeType="1" noTextEdit="1"/>
          </p:cNvSpPr>
          <p:nvPr/>
        </p:nvSpPr>
        <p:spPr bwMode="auto">
          <a:xfrm>
            <a:off x="2406649" y="1518192"/>
            <a:ext cx="806450" cy="37882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b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76472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990132"/>
              </p:ext>
            </p:extLst>
          </p:nvPr>
        </p:nvGraphicFramePr>
        <p:xfrm>
          <a:off x="2871785" y="1199286"/>
          <a:ext cx="477202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5000" imgH="393700" progId="Equation.3">
                  <p:embed/>
                </p:oleObj>
              </mc:Choice>
              <mc:Fallback>
                <p:oleObj name="公式" r:id="rId2" imgW="1905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5" y="1199286"/>
                        <a:ext cx="477202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71108"/>
              </p:ext>
            </p:extLst>
          </p:nvPr>
        </p:nvGraphicFramePr>
        <p:xfrm>
          <a:off x="2708275" y="2198003"/>
          <a:ext cx="33035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0227" imgH="431613" progId="Equation.3">
                  <p:embed/>
                </p:oleObj>
              </mc:Choice>
              <mc:Fallback>
                <p:oleObj name="公式" r:id="rId4" imgW="132022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2198003"/>
                        <a:ext cx="330358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961160"/>
              </p:ext>
            </p:extLst>
          </p:nvPr>
        </p:nvGraphicFramePr>
        <p:xfrm>
          <a:off x="6011863" y="2191999"/>
          <a:ext cx="4008437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00200" imgH="393700" progId="Equation.3">
                  <p:embed/>
                </p:oleObj>
              </mc:Choice>
              <mc:Fallback>
                <p:oleObj name="公式" r:id="rId6" imgW="1600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191999"/>
                        <a:ext cx="4008437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204614"/>
              </p:ext>
            </p:extLst>
          </p:nvPr>
        </p:nvGraphicFramePr>
        <p:xfrm>
          <a:off x="2819399" y="3565922"/>
          <a:ext cx="2438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800" imgH="952500" progId="Equation.3">
                  <p:embed/>
                </p:oleObj>
              </mc:Choice>
              <mc:Fallback>
                <p:oleObj name="Equation" r:id="rId8" imgW="2336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399" y="3565922"/>
                        <a:ext cx="2438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237074"/>
              </p:ext>
            </p:extLst>
          </p:nvPr>
        </p:nvGraphicFramePr>
        <p:xfrm>
          <a:off x="2819399" y="5079275"/>
          <a:ext cx="51530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7400" imgH="457200" progId="Equation.3">
                  <p:embed/>
                </p:oleObj>
              </mc:Choice>
              <mc:Fallback>
                <p:oleObj name="公式" r:id="rId10" imgW="2057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399" y="5079275"/>
                        <a:ext cx="51530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314311"/>
              </p:ext>
            </p:extLst>
          </p:nvPr>
        </p:nvGraphicFramePr>
        <p:xfrm>
          <a:off x="5257797" y="3329850"/>
          <a:ext cx="17145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600" imgH="1663700" progId="Equation.3">
                  <p:embed/>
                </p:oleObj>
              </mc:Choice>
              <mc:Fallback>
                <p:oleObj name="Equation" r:id="rId12" imgW="1625600" imgH="166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797" y="3329850"/>
                        <a:ext cx="17145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783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0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138667"/>
              </p:ext>
            </p:extLst>
          </p:nvPr>
        </p:nvGraphicFramePr>
        <p:xfrm>
          <a:off x="2142837" y="1109531"/>
          <a:ext cx="5753676" cy="941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63880" imgH="927000" progId="Equation.DSMT4">
                  <p:embed/>
                </p:oleObj>
              </mc:Choice>
              <mc:Fallback>
                <p:oleObj name="Equation" r:id="rId2" imgW="566388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37" y="1109531"/>
                        <a:ext cx="5753676" cy="941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586140"/>
              </p:ext>
            </p:extLst>
          </p:nvPr>
        </p:nvGraphicFramePr>
        <p:xfrm>
          <a:off x="8044873" y="1114894"/>
          <a:ext cx="2515620" cy="941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440" imgH="927000" progId="Equation.DSMT4">
                  <p:embed/>
                </p:oleObj>
              </mc:Choice>
              <mc:Fallback>
                <p:oleObj name="Equation" r:id="rId4" imgW="247644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4873" y="1114894"/>
                        <a:ext cx="2515620" cy="941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284795"/>
              </p:ext>
            </p:extLst>
          </p:nvPr>
        </p:nvGraphicFramePr>
        <p:xfrm>
          <a:off x="2291197" y="2006365"/>
          <a:ext cx="7279881" cy="1044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64160" imgH="927000" progId="Equation.DSMT4">
                  <p:embed/>
                </p:oleObj>
              </mc:Choice>
              <mc:Fallback>
                <p:oleObj name="Equation" r:id="rId6" imgW="646416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97" y="2006365"/>
                        <a:ext cx="7279881" cy="1044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72824"/>
              </p:ext>
            </p:extLst>
          </p:nvPr>
        </p:nvGraphicFramePr>
        <p:xfrm>
          <a:off x="1439649" y="3090659"/>
          <a:ext cx="2901663" cy="58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558720" progId="Equation.DSMT4">
                  <p:embed/>
                </p:oleObj>
              </mc:Choice>
              <mc:Fallback>
                <p:oleObj name="Equation" r:id="rId8" imgW="27558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649" y="3090659"/>
                        <a:ext cx="2901663" cy="588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680926"/>
              </p:ext>
            </p:extLst>
          </p:nvPr>
        </p:nvGraphicFramePr>
        <p:xfrm>
          <a:off x="1439649" y="3814315"/>
          <a:ext cx="5117883" cy="504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08280" imgH="444240" progId="Equation.DSMT4">
                  <p:embed/>
                </p:oleObj>
              </mc:Choice>
              <mc:Fallback>
                <p:oleObj name="Equation" r:id="rId10" imgW="4508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649" y="3814315"/>
                        <a:ext cx="5117883" cy="504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043368"/>
              </p:ext>
            </p:extLst>
          </p:nvPr>
        </p:nvGraphicFramePr>
        <p:xfrm>
          <a:off x="1414948" y="4497929"/>
          <a:ext cx="9241471" cy="493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089560" imgH="431640" progId="Equation.DSMT4">
                  <p:embed/>
                </p:oleObj>
              </mc:Choice>
              <mc:Fallback>
                <p:oleObj name="Equation" r:id="rId12" imgW="8089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948" y="4497929"/>
                        <a:ext cx="9241471" cy="493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04110" y="12528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04110" y="22381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972875"/>
              </p:ext>
            </p:extLst>
          </p:nvPr>
        </p:nvGraphicFramePr>
        <p:xfrm>
          <a:off x="2291366" y="5170228"/>
          <a:ext cx="6935930" cy="506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18040" imgH="431640" progId="Equation.DSMT4">
                  <p:embed/>
                </p:oleObj>
              </mc:Choice>
              <mc:Fallback>
                <p:oleObj name="Equation" r:id="rId14" imgW="5918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366" y="5170228"/>
                        <a:ext cx="6935930" cy="506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668590"/>
              </p:ext>
            </p:extLst>
          </p:nvPr>
        </p:nvGraphicFramePr>
        <p:xfrm>
          <a:off x="2291197" y="5810108"/>
          <a:ext cx="3468134" cy="491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7760" imgH="431640" progId="Equation.DSMT4">
                  <p:embed/>
                </p:oleObj>
              </mc:Choice>
              <mc:Fallback>
                <p:oleObj name="Equation" r:id="rId16" imgW="3047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97" y="5810108"/>
                        <a:ext cx="3468134" cy="491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61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883911"/>
              </p:ext>
            </p:extLst>
          </p:nvPr>
        </p:nvGraphicFramePr>
        <p:xfrm>
          <a:off x="2540862" y="1632167"/>
          <a:ext cx="4369614" cy="451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78160" imgH="431640" progId="Equation.DSMT4">
                  <p:embed/>
                </p:oleObj>
              </mc:Choice>
              <mc:Fallback>
                <p:oleObj name="Equation" r:id="rId3" imgW="417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862" y="1632167"/>
                        <a:ext cx="4369614" cy="451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472838"/>
              </p:ext>
            </p:extLst>
          </p:nvPr>
        </p:nvGraphicFramePr>
        <p:xfrm>
          <a:off x="2312592" y="2415102"/>
          <a:ext cx="6672262" cy="1318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553080" imgH="1295280" progId="Equation.DSMT4">
                  <p:embed/>
                </p:oleObj>
              </mc:Choice>
              <mc:Fallback>
                <p:oleObj name="Equation" r:id="rId5" imgW="6553080" imgH="1295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592" y="2415102"/>
                        <a:ext cx="6672262" cy="1318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978823"/>
              </p:ext>
            </p:extLst>
          </p:nvPr>
        </p:nvGraphicFramePr>
        <p:xfrm>
          <a:off x="2382260" y="3945196"/>
          <a:ext cx="7343009" cy="57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59520" imgH="545760" progId="Equation.DSMT4">
                  <p:embed/>
                </p:oleObj>
              </mc:Choice>
              <mc:Fallback>
                <p:oleObj name="Equation" r:id="rId7" imgW="69595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260" y="3945196"/>
                        <a:ext cx="7343009" cy="576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537093"/>
              </p:ext>
            </p:extLst>
          </p:nvPr>
        </p:nvGraphicFramePr>
        <p:xfrm>
          <a:off x="2683100" y="4732539"/>
          <a:ext cx="4617179" cy="944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33840" imgH="927000" progId="Equation.DSMT4">
                  <p:embed/>
                </p:oleObj>
              </mc:Choice>
              <mc:Fallback>
                <p:oleObj name="Equation" r:id="rId9" imgW="453384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3100" y="4732539"/>
                        <a:ext cx="4617179" cy="944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025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7676</TotalTime>
  <Words>1146</Words>
  <Application>Microsoft Office PowerPoint</Application>
  <PresentationFormat>宽屏</PresentationFormat>
  <Paragraphs>286</Paragraphs>
  <Slides>38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PingFang SC</vt:lpstr>
      <vt:lpstr>黑体</vt:lpstr>
      <vt:lpstr>楷体_GB2312</vt:lpstr>
      <vt:lpstr>隶书</vt:lpstr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公式</vt:lpstr>
      <vt:lpstr>Equation</vt:lpstr>
      <vt:lpstr>文档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73</cp:revision>
  <dcterms:created xsi:type="dcterms:W3CDTF">2020-04-07T08:06:55Z</dcterms:created>
  <dcterms:modified xsi:type="dcterms:W3CDTF">2024-05-16T12:07:28Z</dcterms:modified>
</cp:coreProperties>
</file>