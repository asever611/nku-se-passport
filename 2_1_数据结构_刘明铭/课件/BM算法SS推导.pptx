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410" r:id="rId2"/>
    <p:sldId id="411" r:id="rId3"/>
    <p:sldId id="417" r:id="rId4"/>
    <p:sldId id="415" r:id="rId5"/>
    <p:sldId id="419" r:id="rId6"/>
    <p:sldId id="42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2" d="100"/>
          <a:sy n="72" d="100"/>
        </p:scale>
        <p:origin x="464" y="48"/>
      </p:cViewPr>
      <p:guideLst>
        <p:guide orient="horz" pos="216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8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2024/10/22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南开大学软件学院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BM</a:t>
            </a:r>
            <a:r>
              <a:rPr lang="zh-CN" altLang="en-US"/>
              <a:t>算法</a:t>
            </a:r>
            <a:r>
              <a:rPr lang="en-US" altLang="zh-CN"/>
              <a:t>SS[]</a:t>
            </a:r>
            <a:r>
              <a:rPr lang="zh-CN" altLang="en-US"/>
              <a:t>推导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南开大学软件学院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SS[]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490345"/>
            <a:ext cx="8268335" cy="4759325"/>
          </a:xfrm>
        </p:spPr>
        <p:txBody>
          <a:bodyPr/>
          <a:lstStyle/>
          <a:p>
            <a:r>
              <a:rPr lang="en-US" altLang="zh-CN"/>
              <a:t>SS[j]</a:t>
            </a:r>
            <a:r>
              <a:t>的含义为当前位置</a:t>
            </a:r>
            <a:r>
              <a:rPr lang="en-US" altLang="zh-CN"/>
              <a:t>P[0,j]</a:t>
            </a:r>
            <a:r>
              <a:t>的后缀与模式串匹配</a:t>
            </a:r>
            <a:r>
              <a:rPr lang="en-US" altLang="zh-CN"/>
              <a:t>P[0,m-1]</a:t>
            </a:r>
            <a:r>
              <a:t>的后缀最大匹配长度。</a:t>
            </a:r>
          </a:p>
          <a:p>
            <a:r>
              <a:rPr lang="en-US" altLang="zh-CN"/>
              <a:t>SS[]</a:t>
            </a:r>
            <a:r>
              <a:t>可以构造</a:t>
            </a:r>
            <a:r>
              <a:rPr lang="en-US" altLang="zh-CN"/>
              <a:t>GS[]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254137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2756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1375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88803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67421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6040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2278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1391" y="35352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8" name="AutoShape 3"/>
          <p:cNvSpPr/>
          <p:nvPr>
            <p:custDataLst>
              <p:tags r:id="rId1"/>
            </p:custDataLst>
          </p:nvPr>
        </p:nvSpPr>
        <p:spPr>
          <a:xfrm>
            <a:off x="3254137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9" name="AutoShape 4"/>
          <p:cNvSpPr/>
          <p:nvPr/>
        </p:nvSpPr>
        <p:spPr>
          <a:xfrm>
            <a:off x="363275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1375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8880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67421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6040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2278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0" name="AutoShape 14"/>
          <p:cNvSpPr/>
          <p:nvPr/>
        </p:nvSpPr>
        <p:spPr>
          <a:xfrm>
            <a:off x="286567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264920" y="395986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0583" y="353964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058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6598285" y="3982085"/>
            <a:ext cx="1903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/>
              <a:t>P[0,8]==P[0,8]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4920" y="353949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5" name="左箭头 4"/>
          <p:cNvSpPr/>
          <p:nvPr/>
        </p:nvSpPr>
        <p:spPr>
          <a:xfrm>
            <a:off x="6304280" y="4078605"/>
            <a:ext cx="264160" cy="13208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984115" y="4739005"/>
            <a:ext cx="15068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j=7</a:t>
            </a:r>
          </a:p>
          <a:p>
            <a:pPr algn="ctr"/>
            <a:r>
              <a:rPr lang="en-US" altLang="zh-CN" sz="1600"/>
              <a:t>P[8,8]!=P[7,7]</a:t>
            </a:r>
          </a:p>
        </p:txBody>
      </p:sp>
      <p:sp>
        <p:nvSpPr>
          <p:cNvPr id="7" name="上箭头 6"/>
          <p:cNvSpPr/>
          <p:nvPr/>
        </p:nvSpPr>
        <p:spPr>
          <a:xfrm>
            <a:off x="5646420" y="4441825"/>
            <a:ext cx="76200" cy="2971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458335" y="4739005"/>
            <a:ext cx="16992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j=6</a:t>
            </a:r>
          </a:p>
          <a:p>
            <a:pPr algn="ctr"/>
            <a:r>
              <a:rPr lang="en-US" altLang="zh-CN" sz="1600"/>
              <a:t>P[</a:t>
            </a:r>
            <a:r>
              <a:rPr lang="en-US" altLang="zh-CN" sz="1600" b="1" u="sng">
                <a:solidFill>
                  <a:schemeClr val="accent6">
                    <a:lumMod val="75000"/>
                  </a:schemeClr>
                </a:solidFill>
              </a:rPr>
              <a:t>5,8</a:t>
            </a:r>
            <a:r>
              <a:rPr lang="en-US" altLang="zh-CN" sz="1600"/>
              <a:t>]==P[</a:t>
            </a:r>
            <a:r>
              <a:rPr lang="en-US" altLang="zh-CN" sz="1600">
                <a:solidFill>
                  <a:schemeClr val="tx2"/>
                </a:solidFill>
              </a:rPr>
              <a:t>3,</a:t>
            </a:r>
            <a:r>
              <a:rPr lang="en-US" altLang="zh-CN" sz="1600" b="1">
                <a:solidFill>
                  <a:schemeClr val="accent1">
                    <a:lumMod val="75000"/>
                  </a:schemeClr>
                </a:solidFill>
              </a:rPr>
              <a:t>6</a:t>
            </a:r>
            <a:r>
              <a:rPr lang="en-US" altLang="zh-CN" sz="1600"/>
              <a:t>]</a:t>
            </a:r>
          </a:p>
          <a:p>
            <a:pPr algn="ctr"/>
            <a:r>
              <a:rPr lang="zh-CN" altLang="en-US" sz="1600"/>
              <a:t>且</a:t>
            </a:r>
            <a:r>
              <a:rPr lang="en-US" altLang="zh-CN" sz="1600"/>
              <a:t>P[4,4]!=P[2,2]</a:t>
            </a:r>
            <a:endParaRPr lang="zh-CN" altLang="en-US" sz="1600"/>
          </a:p>
        </p:txBody>
      </p:sp>
      <p:sp>
        <p:nvSpPr>
          <p:cNvPr id="16" name="上箭头 15"/>
          <p:cNvSpPr/>
          <p:nvPr/>
        </p:nvSpPr>
        <p:spPr>
          <a:xfrm>
            <a:off x="5269865" y="4441825"/>
            <a:ext cx="76200" cy="29718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曲线连接符 16"/>
          <p:cNvCxnSpPr/>
          <p:nvPr/>
        </p:nvCxnSpPr>
        <p:spPr>
          <a:xfrm rot="10800000">
            <a:off x="5478780" y="4904105"/>
            <a:ext cx="363220" cy="165100"/>
          </a:xfrm>
          <a:prstGeom prst="curvedConnector3">
            <a:avLst>
              <a:gd name="adj1" fmla="val 4982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曲线连接符 18"/>
          <p:cNvCxnSpPr>
            <a:endCxn id="13" idx="2"/>
          </p:cNvCxnSpPr>
          <p:nvPr/>
        </p:nvCxnSpPr>
        <p:spPr>
          <a:xfrm rot="16200000">
            <a:off x="4763770" y="4536440"/>
            <a:ext cx="763905" cy="32385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8402320" y="3843655"/>
            <a:ext cx="2936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SS[m-1]=m</a:t>
            </a:r>
          </a:p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含义为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P[0,m-1]==P[0,m-1]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878955" y="4739005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含义为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P[m-1,m-1]!=P[j,j]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，即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P[0,m-1]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P[0,j]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的重叠后缀最大长度为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0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335145" y="5568950"/>
            <a:ext cx="29362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即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P[0,m-1]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P[0,j]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的重叠后缀最大长度为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4=(8-5+1)</a:t>
            </a:r>
            <a:endParaRPr lang="zh-CN" altLang="en-US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3" name="AutoShape 3"/>
          <p:cNvSpPr/>
          <p:nvPr/>
        </p:nvSpPr>
        <p:spPr>
          <a:xfrm>
            <a:off x="3240802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24" name="AutoShape 4"/>
          <p:cNvSpPr/>
          <p:nvPr/>
        </p:nvSpPr>
        <p:spPr>
          <a:xfrm>
            <a:off x="3619421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25" name="AutoShape 5"/>
          <p:cNvSpPr/>
          <p:nvPr/>
        </p:nvSpPr>
        <p:spPr>
          <a:xfrm>
            <a:off x="3998040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26" name="AutoShape 6"/>
          <p:cNvSpPr/>
          <p:nvPr/>
        </p:nvSpPr>
        <p:spPr>
          <a:xfrm>
            <a:off x="4375468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7" name="AutoShape 7"/>
          <p:cNvSpPr/>
          <p:nvPr/>
        </p:nvSpPr>
        <p:spPr>
          <a:xfrm>
            <a:off x="4754086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5</a:t>
            </a:r>
          </a:p>
        </p:txBody>
      </p:sp>
      <p:sp>
        <p:nvSpPr>
          <p:cNvPr id="28" name="AutoShape 8"/>
          <p:cNvSpPr/>
          <p:nvPr/>
        </p:nvSpPr>
        <p:spPr>
          <a:xfrm>
            <a:off x="5132705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6</a:t>
            </a:r>
          </a:p>
        </p:txBody>
      </p:sp>
      <p:sp>
        <p:nvSpPr>
          <p:cNvPr id="29" name="AutoShape 9"/>
          <p:cNvSpPr/>
          <p:nvPr/>
        </p:nvSpPr>
        <p:spPr>
          <a:xfrm>
            <a:off x="5508943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7</a:t>
            </a:r>
          </a:p>
        </p:txBody>
      </p:sp>
      <p:sp>
        <p:nvSpPr>
          <p:cNvPr id="32" name="AutoShape 14"/>
          <p:cNvSpPr/>
          <p:nvPr/>
        </p:nvSpPr>
        <p:spPr>
          <a:xfrm>
            <a:off x="2858056" y="3154839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3" name="AutoShape 9"/>
          <p:cNvSpPr/>
          <p:nvPr/>
        </p:nvSpPr>
        <p:spPr>
          <a:xfrm>
            <a:off x="5917248" y="3159284"/>
            <a:ext cx="323850" cy="323850"/>
          </a:xfrm>
          <a:prstGeom prst="roundRect">
            <a:avLst>
              <a:gd name="adj" fmla="val 16667"/>
            </a:avLst>
          </a:prstGeom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tx1"/>
                </a:solidFill>
                <a:latin typeface="微软雅黑" panose="020B0503020204020204" pitchFamily="34" charset="-122"/>
              </a:rPr>
              <a:t>8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2473325" y="3132455"/>
            <a:ext cx="318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j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250" autoRev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1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" dur="2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4" grpId="0" bldLvl="0" animBg="1"/>
      <p:bldP spid="37" grpId="1"/>
      <p:bldP spid="48" grpId="0" bldLvl="0" animBg="1"/>
      <p:bldP spid="49" grpId="1"/>
      <p:bldP spid="49" grpId="2"/>
      <p:bldP spid="5" grpId="0" bldLvl="0" animBg="1"/>
      <p:bldP spid="6" grpId="1"/>
      <p:bldP spid="6" grpId="3"/>
      <p:bldP spid="6" grpId="4"/>
      <p:bldP spid="7" grpId="0" bldLvl="0" animBg="1"/>
      <p:bldP spid="7" grpId="1" bldLvl="0" animBg="1"/>
      <p:bldP spid="15" grpId="1"/>
      <p:bldP spid="15" grpId="3"/>
      <p:bldP spid="16" grpId="0" bldLvl="0" animBg="1"/>
      <p:bldP spid="21" grpId="0"/>
      <p:bldP spid="21" grpId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2874645" y="3028315"/>
            <a:ext cx="3383280" cy="323850"/>
            <a:chOff x="4527" y="7107"/>
            <a:chExt cx="5328" cy="510"/>
          </a:xfrm>
        </p:grpSpPr>
        <p:sp>
          <p:nvSpPr>
            <p:cNvPr id="23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25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26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7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8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29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3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SS[]</a:t>
            </a:r>
            <a:r>
              <a:t>的获取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254137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2756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1375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88803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67421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6040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2278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1391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1375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8880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67421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6040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2278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264920" y="395986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0583" y="32589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058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4920" y="325882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6" name="上箭头 5"/>
          <p:cNvSpPr/>
          <p:nvPr/>
        </p:nvSpPr>
        <p:spPr>
          <a:xfrm>
            <a:off x="5569585" y="3582670"/>
            <a:ext cx="243840" cy="37655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11035" y="2032000"/>
            <a:ext cx="293624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定义子串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P[0,j]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的后缀段与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P[0,m]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相同长度后缀比较，获取最大长度。</a:t>
            </a:r>
          </a:p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为了避免重复比较，可以利用之前的比较结果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5737860" y="2816225"/>
            <a:ext cx="3810" cy="34226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5602605" y="2816225"/>
            <a:ext cx="3810" cy="342265"/>
          </a:xfrm>
          <a:prstGeom prst="straightConnector1">
            <a:avLst/>
          </a:prstGeom>
          <a:ln w="28575" cmpd="sng">
            <a:solidFill>
              <a:schemeClr val="accent5">
                <a:lumMod val="75000"/>
              </a:schemeClr>
            </a:solidFill>
            <a:prstDash val="soli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圆角矩形标注 16"/>
          <p:cNvSpPr/>
          <p:nvPr/>
        </p:nvSpPr>
        <p:spPr>
          <a:xfrm>
            <a:off x="4825365" y="2117725"/>
            <a:ext cx="777240" cy="261620"/>
          </a:xfrm>
          <a:prstGeom prst="wedgeRoundRectCallout">
            <a:avLst>
              <a:gd name="adj1" fmla="val 49221"/>
              <a:gd name="adj2" fmla="val 215776"/>
              <a:gd name="adj3" fmla="val 16667"/>
            </a:avLst>
          </a:prstGeom>
          <a:solidFill>
            <a:srgbClr val="FF0000"/>
          </a:solidFill>
          <a:ln w="12700" cap="rnd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chemeClr val="bg2"/>
                </a:solidFill>
              </a:rPr>
              <a:t>后缀起</a:t>
            </a:r>
            <a:r>
              <a:rPr lang="en-US" altLang="zh-CN" sz="1200">
                <a:solidFill>
                  <a:schemeClr val="bg2"/>
                </a:solidFill>
              </a:rPr>
              <a:t>l</a:t>
            </a:r>
          </a:p>
        </p:txBody>
      </p:sp>
      <p:sp>
        <p:nvSpPr>
          <p:cNvPr id="18" name="圆角矩形标注 17"/>
          <p:cNvSpPr/>
          <p:nvPr/>
        </p:nvSpPr>
        <p:spPr>
          <a:xfrm>
            <a:off x="5779135" y="2082800"/>
            <a:ext cx="797560" cy="261620"/>
          </a:xfrm>
          <a:prstGeom prst="wedgeRoundRectCallout">
            <a:avLst>
              <a:gd name="adj1" fmla="val -54498"/>
              <a:gd name="adj2" fmla="val 2252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/>
              <a:t>后缀止</a:t>
            </a:r>
            <a:r>
              <a:rPr lang="en-US" altLang="zh-CN" sz="1200"/>
              <a:t>h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106920" y="3508375"/>
            <a:ext cx="29362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需要比较的字符可以从后缀段长度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  <a:sym typeface="+mn-ea"/>
              </a:rPr>
              <a:t>h-l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推导出来：</a:t>
            </a:r>
          </a:p>
          <a:p>
            <a:pPr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P[l]==P[m-1-(h-l)]?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021705" y="2569210"/>
            <a:ext cx="9893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P[8]!=P[7]</a:t>
            </a:r>
          </a:p>
          <a:p>
            <a:pPr indent="0">
              <a:buNone/>
            </a:pPr>
            <a:r>
              <a:rPr lang="en-US" sz="1400">
                <a:solidFill>
                  <a:schemeClr val="accent1">
                    <a:lumMod val="75000"/>
                  </a:schemeClr>
                </a:solidFill>
                <a:sym typeface="+mn-ea"/>
              </a:rPr>
              <a:t>&amp;&amp;h-l==0</a:t>
            </a:r>
            <a:endParaRPr lang="en-US" altLang="zh-CN" sz="14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322320" y="2510155"/>
            <a:ext cx="15030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P[l]==P[m-1-(h-l)]</a:t>
            </a:r>
            <a:endParaRPr lang="en-US" altLang="zh-CN" sz="12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356610" y="2510155"/>
            <a:ext cx="15030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P[l]!=P[m-1-(h-l)]</a:t>
            </a:r>
            <a:endParaRPr lang="en-US" altLang="zh-CN" sz="12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114925" y="4328160"/>
            <a:ext cx="4546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h-l</a:t>
            </a:r>
            <a:endParaRPr lang="en-US" altLang="en-US" sz="12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091430" y="4588510"/>
            <a:ext cx="131889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已知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P[5]==P[7]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且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m-1-hi&gt;hi-j</a:t>
            </a:r>
          </a:p>
          <a:p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SS[5]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为SS[7]</a:t>
            </a:r>
            <a:endParaRPr lang="en-US" altLang="zh-CN" sz="10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079240" y="4742180"/>
            <a:ext cx="101219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hi-j&gt;=m-1-hi</a:t>
            </a:r>
          </a:p>
          <a:p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重置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hi=j</a:t>
            </a:r>
          </a:p>
          <a:p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ss[j]=hi-low;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2730500" y="1983740"/>
            <a:ext cx="15030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l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与</a:t>
            </a: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j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重合，开启新一轮字符比对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703830" y="2117725"/>
            <a:ext cx="15030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字符比对结束，整理最长后缀段的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SS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数据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1615 0.000000 " pathEditMode="relative" ptsTypes="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1510 0.001296 " pathEditMode="relative" rAng="0" ptsTypes=""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370 L -0.030156 -0.000185 " pathEditMode="relative" rAng="0" ptsTypes="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2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7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198 0.001204 L -0.055990 0.001296 " pathEditMode="relative" rAng="0" ptsTypes="">
                                      <p:cBhvr>
                                        <p:cTn id="4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2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250" autoRev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9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4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5937 0.001574 L -0.088542 0.001574 " pathEditMode="relative" rAng="0" ptsTypes="">
                                      <p:cBhvr>
                                        <p:cTn id="7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5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80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7812 0.001204 L -0.117396 0.001204 " pathEditMode="relative" ptsTypes="">
                                      <p:cBhvr>
                                        <p:cTn id="8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1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96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7500 0.001204 L -0.150156 0.001204 " pathEditMode="relative" ptsTypes="">
                                      <p:cBhvr>
                                        <p:cTn id="10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07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2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7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1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250" autoRev="1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6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1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27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6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1302 0.000463 L -0.062917 0.000463 " pathEditMode="relative" ptsTypes="">
                                      <p:cBhvr>
                                        <p:cTn id="16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7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6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250" autoRev="1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81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7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2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250" autoRev="1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27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97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250" autoRev="1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2604 0.000000 L -0.094219 0.000000 " pathEditMode="relative" ptsTypes="">
                                      <p:cBhvr>
                                        <p:cTn id="20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100677 0.000833 " pathEditMode="relative" rAng="0" ptsTypes="">
                                      <p:cBhvr>
                                        <p:cTn id="2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4219 0.000000 L -0.123646 0.000000 " pathEditMode="relative" ptsTypes="">
                                      <p:cBhvr>
                                        <p:cTn id="22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3646 0.000000 L -0.154167 0.000000 " pathEditMode="relative" ptsTypes="">
                                      <p:cBhvr>
                                        <p:cTn id="2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2" grpId="0" bldLvl="0" animBg="1"/>
      <p:bldP spid="1128453" grpId="0" bldLvl="0" animBg="1"/>
      <p:bldP spid="1128453" grpId="1" bldLvl="0" animBg="1"/>
      <p:bldP spid="1128454" grpId="0" bldLvl="0" animBg="1"/>
      <p:bldP spid="1128454" grpId="1" bldLvl="0" animBg="1"/>
      <p:bldP spid="1128454" grpId="2" bldLvl="0" animBg="1"/>
      <p:bldP spid="1128454" grpId="3" bldLvl="0" animBg="1"/>
      <p:bldP spid="1128455" grpId="0" bldLvl="0" animBg="1"/>
      <p:bldP spid="1128455" grpId="1" bldLvl="0" animBg="1"/>
      <p:bldP spid="1128455" grpId="2" bldLvl="0" animBg="1"/>
      <p:bldP spid="1128455" grpId="3" bldLvl="0" animBg="1"/>
      <p:bldP spid="1128456" grpId="0" bldLvl="0" animBg="1"/>
      <p:bldP spid="1128456" grpId="1" bldLvl="0" animBg="1"/>
      <p:bldP spid="1128456" grpId="2" bldLvl="0" animBg="1"/>
      <p:bldP spid="1128456" grpId="3" bldLvl="0" animBg="1"/>
      <p:bldP spid="1128457" grpId="0" bldLvl="0" animBg="1"/>
      <p:bldP spid="1128457" grpId="1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1" bldLvl="0" animBg="1"/>
      <p:bldP spid="37" grpId="1"/>
      <p:bldP spid="40" grpId="0" bldLvl="0" animBg="1"/>
      <p:bldP spid="6" grpId="0" bldLvl="0" animBg="1"/>
      <p:bldP spid="6" grpId="1" bldLvl="0" animBg="1"/>
      <p:bldP spid="6" grpId="2" bldLvl="0" animBg="1"/>
      <p:bldP spid="6" grpId="3" bldLvl="0" animBg="1"/>
      <p:bldP spid="6" grpId="4" bldLvl="0" animBg="1"/>
      <p:bldP spid="17" grpId="0" bldLvl="0" animBg="1"/>
      <p:bldP spid="18" grpId="0" bldLvl="0" animBg="1"/>
      <p:bldP spid="20" grpId="0"/>
      <p:bldP spid="20" grpId="1"/>
      <p:bldP spid="22" grpId="0"/>
      <p:bldP spid="22" grpId="1"/>
      <p:bldP spid="22" grpId="2"/>
      <p:bldP spid="31" grpId="0"/>
      <p:bldP spid="35" grpId="0"/>
      <p:bldP spid="35" grpId="1"/>
      <p:bldP spid="36" grpId="0"/>
      <p:bldP spid="38" grpId="0"/>
      <p:bldP spid="38" grpId="1"/>
      <p:bldP spid="41" grpId="0"/>
      <p:bldP spid="43" grpId="0"/>
      <p:bldP spid="4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2871470" y="3014980"/>
            <a:ext cx="3383280" cy="323850"/>
            <a:chOff x="4527" y="7107"/>
            <a:chExt cx="5328" cy="510"/>
          </a:xfrm>
        </p:grpSpPr>
        <p:sp>
          <p:nvSpPr>
            <p:cNvPr id="23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25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26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7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8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29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3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SS[]</a:t>
            </a:r>
            <a:r>
              <a:t>的获取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254137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2756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1375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88803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67421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6040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2278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1391" y="32545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1375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8880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67421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6040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2278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264920" y="395986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0583" y="32589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0583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9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4920" y="325882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6" name="上箭头 5"/>
          <p:cNvSpPr/>
          <p:nvPr/>
        </p:nvSpPr>
        <p:spPr>
          <a:xfrm>
            <a:off x="3672840" y="3605530"/>
            <a:ext cx="243840" cy="37655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</a:p>
        </p:txBody>
      </p:sp>
      <p:cxnSp>
        <p:nvCxnSpPr>
          <p:cNvPr id="7" name="直接箭头连接符 6"/>
          <p:cNvCxnSpPr/>
          <p:nvPr/>
        </p:nvCxnSpPr>
        <p:spPr>
          <a:xfrm>
            <a:off x="5306060" y="2816225"/>
            <a:ext cx="3810" cy="34226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3792855" y="2816225"/>
            <a:ext cx="3810" cy="342265"/>
          </a:xfrm>
          <a:prstGeom prst="straightConnector1">
            <a:avLst/>
          </a:prstGeom>
          <a:ln w="28575" cmpd="sng">
            <a:solidFill>
              <a:schemeClr val="accent5">
                <a:lumMod val="75000"/>
              </a:schemeClr>
            </a:solidFill>
            <a:prstDash val="solid"/>
            <a:tailEnd type="triangle" w="lg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322320" y="2510155"/>
            <a:ext cx="15030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P[l]==P[m-1-(h-l)]</a:t>
            </a:r>
            <a:endParaRPr lang="en-US" altLang="zh-CN" sz="12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322320" y="2297430"/>
            <a:ext cx="15030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P[l]!=P[m-1-(h-l)]</a:t>
            </a:r>
            <a:endParaRPr lang="en-US" altLang="zh-CN" sz="12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44" name="AutoShape 3"/>
          <p:cNvSpPr/>
          <p:nvPr>
            <p:custDataLst>
              <p:tags r:id="rId1"/>
            </p:custDataLst>
          </p:nvPr>
        </p:nvSpPr>
        <p:spPr>
          <a:xfrm>
            <a:off x="3254137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45" name="AutoShape 4"/>
          <p:cNvSpPr/>
          <p:nvPr/>
        </p:nvSpPr>
        <p:spPr>
          <a:xfrm>
            <a:off x="363275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6" name="AutoShape 14"/>
          <p:cNvSpPr/>
          <p:nvPr/>
        </p:nvSpPr>
        <p:spPr>
          <a:xfrm>
            <a:off x="2865676" y="398224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4625975" y="2294255"/>
            <a:ext cx="98933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&amp;&amp;h-l==0</a:t>
            </a:r>
            <a:endParaRPr lang="en-US" altLang="zh-CN" sz="12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38960" y="2418080"/>
            <a:ext cx="9893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l==0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到达头部</a:t>
            </a:r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,</a:t>
            </a:r>
            <a:r>
              <a:rPr lang="zh-CN" alt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整理</a:t>
            </a:r>
            <a:r>
              <a:rPr lang="en-US" altLang="zh-CN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SS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3254375" y="4385310"/>
            <a:ext cx="4546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chemeClr val="accent1">
                    <a:lumMod val="75000"/>
                  </a:schemeClr>
                </a:solidFill>
                <a:sym typeface="+mn-ea"/>
              </a:rPr>
              <a:t>h-l</a:t>
            </a:r>
            <a:endParaRPr lang="en-US" altLang="en-US" sz="120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193925" y="4724400"/>
            <a:ext cx="15989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SS[m - 1 - (hi - j)]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或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hi-low(</a:t>
            </a:r>
            <a:r>
              <a:rPr lang="zh-CN" altLang="en-US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需要重置</a:t>
            </a:r>
            <a:r>
              <a:rPr lang="en-US" altLang="zh-CN" sz="1000">
                <a:solidFill>
                  <a:schemeClr val="accent1">
                    <a:lumMod val="75000"/>
                  </a:schemeClr>
                </a:solidFill>
                <a:sym typeface="+mn-ea"/>
              </a:rPr>
              <a:t>hi)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90 -0.000459 L -0.120885 -0.000459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6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3802 0.000000 " pathEditMode="relative" ptsTypes="">
                                      <p:cBhvr>
                                        <p:cTn id="4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20885 -0.000643 L -0.147031 -0.000643 " pathEditMode="relative" rAng="0" ptsTypes="">
                                      <p:cBhvr>
                                        <p:cTn id="4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031615 0.000000 " pathEditMode="relative" ptsTypes="">
                                      <p:cBhvr>
                                        <p:cTn id="4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9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250" autoRev="1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4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250" autoRev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3854 -0.001667 L -0.061875 -0.001667 " pathEditMode="relative" ptsTypes="">
                                      <p:cBhvr>
                                        <p:cTn id="6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69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250" autoRev="1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7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4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250" autoRev="1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1" grpId="0" animBg="1"/>
      <p:bldP spid="1128452" grpId="0" animBg="1"/>
      <p:bldP spid="1128457" grpId="0" animBg="1"/>
      <p:bldP spid="1128462" grpId="0" animBg="1"/>
      <p:bldP spid="37" grpId="1"/>
      <p:bldP spid="40" grpId="0" animBg="1"/>
      <p:bldP spid="40" grpId="1" animBg="1"/>
      <p:bldP spid="6" grpId="0" animBg="1"/>
      <p:bldP spid="22" grpId="0"/>
      <p:bldP spid="31" grpId="0"/>
      <p:bldP spid="31" grpId="1"/>
      <p:bldP spid="44" grpId="0" animBg="1"/>
      <p:bldP spid="45" grpId="0" animBg="1"/>
      <p:bldP spid="46" grpId="0" animBg="1"/>
      <p:bldP spid="47" grpId="0"/>
      <p:bldP spid="47" grpId="1"/>
      <p:bldP spid="3" grpId="0"/>
      <p:bldP spid="3" grpId="1"/>
      <p:bldP spid="35" grpId="0"/>
      <p:bldP spid="35" grpId="1"/>
      <p:bldP spid="38" grpId="0"/>
      <p:bldP spid="3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/>
        </p:nvGrpSpPr>
        <p:grpSpPr>
          <a:xfrm>
            <a:off x="2874645" y="1995170"/>
            <a:ext cx="3383280" cy="323850"/>
            <a:chOff x="4527" y="7107"/>
            <a:chExt cx="5328" cy="510"/>
          </a:xfrm>
        </p:grpSpPr>
        <p:sp>
          <p:nvSpPr>
            <p:cNvPr id="23" name="AutoShape 3"/>
            <p:cNvSpPr/>
            <p:nvPr/>
          </p:nvSpPr>
          <p:spPr>
            <a:xfrm>
              <a:off x="5130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1</a:t>
              </a:r>
            </a:p>
          </p:txBody>
        </p:sp>
        <p:sp>
          <p:nvSpPr>
            <p:cNvPr id="24" name="AutoShape 4"/>
            <p:cNvSpPr/>
            <p:nvPr/>
          </p:nvSpPr>
          <p:spPr>
            <a:xfrm>
              <a:off x="5726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2</a:t>
              </a:r>
            </a:p>
          </p:txBody>
        </p:sp>
        <p:sp>
          <p:nvSpPr>
            <p:cNvPr id="25" name="AutoShape 5"/>
            <p:cNvSpPr/>
            <p:nvPr/>
          </p:nvSpPr>
          <p:spPr>
            <a:xfrm>
              <a:off x="632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3</a:t>
              </a:r>
            </a:p>
          </p:txBody>
        </p:sp>
        <p:sp>
          <p:nvSpPr>
            <p:cNvPr id="26" name="AutoShape 6"/>
            <p:cNvSpPr/>
            <p:nvPr/>
          </p:nvSpPr>
          <p:spPr>
            <a:xfrm>
              <a:off x="691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4</a:t>
              </a:r>
            </a:p>
          </p:txBody>
        </p:sp>
        <p:sp>
          <p:nvSpPr>
            <p:cNvPr id="27" name="AutoShape 7"/>
            <p:cNvSpPr/>
            <p:nvPr/>
          </p:nvSpPr>
          <p:spPr>
            <a:xfrm>
              <a:off x="7513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5</a:t>
              </a:r>
            </a:p>
          </p:txBody>
        </p:sp>
        <p:sp>
          <p:nvSpPr>
            <p:cNvPr id="28" name="AutoShape 8"/>
            <p:cNvSpPr/>
            <p:nvPr/>
          </p:nvSpPr>
          <p:spPr>
            <a:xfrm>
              <a:off x="8109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6</a:t>
              </a:r>
            </a:p>
          </p:txBody>
        </p:sp>
        <p:sp>
          <p:nvSpPr>
            <p:cNvPr id="29" name="AutoShape 9"/>
            <p:cNvSpPr/>
            <p:nvPr/>
          </p:nvSpPr>
          <p:spPr>
            <a:xfrm>
              <a:off x="8702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7</a:t>
              </a:r>
            </a:p>
          </p:txBody>
        </p:sp>
        <p:sp>
          <p:nvSpPr>
            <p:cNvPr id="32" name="AutoShape 14"/>
            <p:cNvSpPr/>
            <p:nvPr/>
          </p:nvSpPr>
          <p:spPr>
            <a:xfrm>
              <a:off x="4527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33" name="AutoShape 9"/>
            <p:cNvSpPr/>
            <p:nvPr/>
          </p:nvSpPr>
          <p:spPr>
            <a:xfrm>
              <a:off x="9345" y="7107"/>
              <a:ext cx="510" cy="510"/>
            </a:xfrm>
            <a:prstGeom prst="roundRect">
              <a:avLst>
                <a:gd name="adj" fmla="val 16667"/>
              </a:avLst>
            </a:prstGeom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lIns="0" tIns="0" rIns="0" bIns="0" anchor="ctr" anchorCtr="1"/>
            <a:lstStyle/>
            <a:p>
              <a:pPr algn="ctr"/>
              <a:r>
                <a:rPr lang="en-US" altLang="zh-CN" sz="700" b="1" dirty="0">
                  <a:solidFill>
                    <a:schemeClr val="tx1"/>
                  </a:solidFill>
                  <a:latin typeface="微软雅黑" panose="020B0503020204020204" pitchFamily="34" charset="-122"/>
                </a:rPr>
                <a:t>8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SS[]</a:t>
            </a:r>
            <a:r>
              <a:t>的获取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257312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5931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4550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91978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70596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9215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5453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4566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4550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91978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70596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9215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5453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268095" y="294005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3758" y="22391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3758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9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8095" y="223901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44" name="AutoShape 3"/>
          <p:cNvSpPr/>
          <p:nvPr>
            <p:custDataLst>
              <p:tags r:id="rId1"/>
            </p:custDataLst>
          </p:nvPr>
        </p:nvSpPr>
        <p:spPr>
          <a:xfrm>
            <a:off x="3257312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45" name="AutoShape 4"/>
          <p:cNvSpPr/>
          <p:nvPr/>
        </p:nvSpPr>
        <p:spPr>
          <a:xfrm>
            <a:off x="3635931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6" name="AutoShape 14"/>
          <p:cNvSpPr/>
          <p:nvPr/>
        </p:nvSpPr>
        <p:spPr>
          <a:xfrm>
            <a:off x="2868851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351927" y="4266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843020" y="4266565"/>
            <a:ext cx="2936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为比较得出</a:t>
            </a:r>
          </a:p>
        </p:txBody>
      </p:sp>
      <p:sp>
        <p:nvSpPr>
          <p:cNvPr id="59" name="AutoShape 9"/>
          <p:cNvSpPr/>
          <p:nvPr/>
        </p:nvSpPr>
        <p:spPr>
          <a:xfrm>
            <a:off x="3351848" y="4776629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843020" y="4732020"/>
            <a:ext cx="2936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为推断得出</a:t>
            </a:r>
          </a:p>
        </p:txBody>
      </p:sp>
      <p:sp>
        <p:nvSpPr>
          <p:cNvPr id="61" name="AutoShape 6"/>
          <p:cNvSpPr/>
          <p:nvPr/>
        </p:nvSpPr>
        <p:spPr>
          <a:xfrm>
            <a:off x="3351848" y="530621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3846195" y="5268595"/>
            <a:ext cx="2936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为推断得出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SS[]</a:t>
            </a:r>
            <a:r>
              <a:t>的获取</a:t>
            </a:r>
          </a:p>
        </p:txBody>
      </p:sp>
      <p:sp>
        <p:nvSpPr>
          <p:cNvPr id="1128451" name="AutoShape 3"/>
          <p:cNvSpPr/>
          <p:nvPr/>
        </p:nvSpPr>
        <p:spPr>
          <a:xfrm>
            <a:off x="3257312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1128452" name="AutoShape 4"/>
          <p:cNvSpPr/>
          <p:nvPr/>
        </p:nvSpPr>
        <p:spPr>
          <a:xfrm>
            <a:off x="3635931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3" name="AutoShape 5"/>
          <p:cNvSpPr/>
          <p:nvPr/>
        </p:nvSpPr>
        <p:spPr>
          <a:xfrm>
            <a:off x="4014550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4" name="AutoShape 6"/>
          <p:cNvSpPr/>
          <p:nvPr/>
        </p:nvSpPr>
        <p:spPr>
          <a:xfrm>
            <a:off x="4391978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5" name="AutoShape 7"/>
          <p:cNvSpPr/>
          <p:nvPr/>
        </p:nvSpPr>
        <p:spPr>
          <a:xfrm>
            <a:off x="4770596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56" name="AutoShape 8"/>
          <p:cNvSpPr/>
          <p:nvPr/>
        </p:nvSpPr>
        <p:spPr>
          <a:xfrm>
            <a:off x="5149215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1128457" name="AutoShape 9"/>
          <p:cNvSpPr/>
          <p:nvPr/>
        </p:nvSpPr>
        <p:spPr>
          <a:xfrm>
            <a:off x="5525453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128462" name="AutoShape 14"/>
          <p:cNvSpPr/>
          <p:nvPr/>
        </p:nvSpPr>
        <p:spPr>
          <a:xfrm>
            <a:off x="2874566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10" name="AutoShape 5"/>
          <p:cNvSpPr/>
          <p:nvPr/>
        </p:nvSpPr>
        <p:spPr>
          <a:xfrm>
            <a:off x="4014550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sym typeface="+mn-ea"/>
              </a:rPr>
              <a:t>2</a:t>
            </a:r>
          </a:p>
        </p:txBody>
      </p:sp>
      <p:sp>
        <p:nvSpPr>
          <p:cNvPr id="11" name="AutoShape 6"/>
          <p:cNvSpPr/>
          <p:nvPr/>
        </p:nvSpPr>
        <p:spPr>
          <a:xfrm>
            <a:off x="4391978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12" name="AutoShape 7"/>
          <p:cNvSpPr/>
          <p:nvPr/>
        </p:nvSpPr>
        <p:spPr>
          <a:xfrm>
            <a:off x="4770596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2</a:t>
            </a:r>
          </a:p>
        </p:txBody>
      </p:sp>
      <p:sp>
        <p:nvSpPr>
          <p:cNvPr id="13" name="AutoShape 8"/>
          <p:cNvSpPr/>
          <p:nvPr/>
        </p:nvSpPr>
        <p:spPr>
          <a:xfrm>
            <a:off x="5149215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14" name="AutoShape 9"/>
          <p:cNvSpPr/>
          <p:nvPr/>
        </p:nvSpPr>
        <p:spPr>
          <a:xfrm>
            <a:off x="5525453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sym typeface="+mn-ea"/>
              </a:rPr>
              <a:t>4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268095" y="294005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SS[]</a:t>
            </a:r>
          </a:p>
        </p:txBody>
      </p:sp>
      <p:sp>
        <p:nvSpPr>
          <p:cNvPr id="40" name="AutoShape 9"/>
          <p:cNvSpPr/>
          <p:nvPr/>
        </p:nvSpPr>
        <p:spPr>
          <a:xfrm>
            <a:off x="5933758" y="22391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3</a:t>
            </a:r>
          </a:p>
        </p:txBody>
      </p:sp>
      <p:sp>
        <p:nvSpPr>
          <p:cNvPr id="48" name="AutoShape 9"/>
          <p:cNvSpPr/>
          <p:nvPr/>
        </p:nvSpPr>
        <p:spPr>
          <a:xfrm>
            <a:off x="5933758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268095" y="2239010"/>
            <a:ext cx="1308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P[]</a:t>
            </a:r>
          </a:p>
        </p:txBody>
      </p:sp>
      <p:sp>
        <p:nvSpPr>
          <p:cNvPr id="44" name="AutoShape 3"/>
          <p:cNvSpPr/>
          <p:nvPr>
            <p:custDataLst>
              <p:tags r:id="rId1"/>
            </p:custDataLst>
          </p:nvPr>
        </p:nvSpPr>
        <p:spPr>
          <a:xfrm>
            <a:off x="3257312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45" name="AutoShape 4"/>
          <p:cNvSpPr/>
          <p:nvPr/>
        </p:nvSpPr>
        <p:spPr>
          <a:xfrm>
            <a:off x="3635931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46" name="AutoShape 14"/>
          <p:cNvSpPr/>
          <p:nvPr/>
        </p:nvSpPr>
        <p:spPr>
          <a:xfrm>
            <a:off x="2868851" y="296243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南开大学软件学院</a:t>
            </a:r>
          </a:p>
        </p:txBody>
      </p:sp>
      <p:sp>
        <p:nvSpPr>
          <p:cNvPr id="57" name="AutoShape 3"/>
          <p:cNvSpPr/>
          <p:nvPr>
            <p:custDataLst>
              <p:tags r:id="rId2"/>
            </p:custDataLst>
          </p:nvPr>
        </p:nvSpPr>
        <p:spPr>
          <a:xfrm>
            <a:off x="3351927" y="4266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843020" y="4266565"/>
            <a:ext cx="2936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为比较得出</a:t>
            </a:r>
          </a:p>
        </p:txBody>
      </p:sp>
      <p:sp>
        <p:nvSpPr>
          <p:cNvPr id="59" name="AutoShape 9"/>
          <p:cNvSpPr/>
          <p:nvPr/>
        </p:nvSpPr>
        <p:spPr>
          <a:xfrm>
            <a:off x="3351848" y="4776629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843020" y="4732020"/>
            <a:ext cx="2936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为推断得出</a:t>
            </a:r>
          </a:p>
        </p:txBody>
      </p:sp>
      <p:sp>
        <p:nvSpPr>
          <p:cNvPr id="61" name="AutoShape 6"/>
          <p:cNvSpPr/>
          <p:nvPr/>
        </p:nvSpPr>
        <p:spPr>
          <a:xfrm>
            <a:off x="3351848" y="530621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3846195" y="5268595"/>
            <a:ext cx="29362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>
                <a:solidFill>
                  <a:schemeClr val="accent1">
                    <a:lumMod val="75000"/>
                  </a:schemeClr>
                </a:solidFill>
                <a:sym typeface="+mn-ea"/>
              </a:rPr>
              <a:t>为推断得出</a:t>
            </a:r>
          </a:p>
        </p:txBody>
      </p:sp>
      <p:sp>
        <p:nvSpPr>
          <p:cNvPr id="3" name="AutoShape 3"/>
          <p:cNvSpPr/>
          <p:nvPr/>
        </p:nvSpPr>
        <p:spPr>
          <a:xfrm>
            <a:off x="6705362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6" name="AutoShape 4"/>
          <p:cNvSpPr/>
          <p:nvPr/>
        </p:nvSpPr>
        <p:spPr>
          <a:xfrm>
            <a:off x="7083981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7" name="AutoShape 5"/>
          <p:cNvSpPr/>
          <p:nvPr/>
        </p:nvSpPr>
        <p:spPr>
          <a:xfrm>
            <a:off x="7462600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9" name="AutoShape 6"/>
          <p:cNvSpPr/>
          <p:nvPr/>
        </p:nvSpPr>
        <p:spPr>
          <a:xfrm>
            <a:off x="7840028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</a:p>
        </p:txBody>
      </p:sp>
      <p:sp>
        <p:nvSpPr>
          <p:cNvPr id="18" name="AutoShape 14"/>
          <p:cNvSpPr/>
          <p:nvPr/>
        </p:nvSpPr>
        <p:spPr>
          <a:xfrm>
            <a:off x="6322616" y="223472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4</a:t>
            </a:r>
          </a:p>
        </p:txBody>
      </p:sp>
      <p:sp>
        <p:nvSpPr>
          <p:cNvPr id="20" name="AutoShape 6"/>
          <p:cNvSpPr/>
          <p:nvPr/>
        </p:nvSpPr>
        <p:spPr>
          <a:xfrm>
            <a:off x="6346508" y="29605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21" name="AutoShape 7"/>
          <p:cNvSpPr/>
          <p:nvPr/>
        </p:nvSpPr>
        <p:spPr>
          <a:xfrm>
            <a:off x="6725126" y="2960529"/>
            <a:ext cx="323850" cy="32385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 algn="ctr"/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</a:p>
        </p:txBody>
      </p:sp>
      <p:sp>
        <p:nvSpPr>
          <p:cNvPr id="22" name="AutoShape 8"/>
          <p:cNvSpPr/>
          <p:nvPr/>
        </p:nvSpPr>
        <p:spPr>
          <a:xfrm>
            <a:off x="7103745" y="29605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</a:rPr>
              <a:t>2</a:t>
            </a:r>
          </a:p>
        </p:txBody>
      </p:sp>
      <p:sp>
        <p:nvSpPr>
          <p:cNvPr id="30" name="AutoShape 9"/>
          <p:cNvSpPr/>
          <p:nvPr/>
        </p:nvSpPr>
        <p:spPr>
          <a:xfrm>
            <a:off x="7479983" y="29605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sym typeface="+mn-ea"/>
              </a:rPr>
              <a:t>0</a:t>
            </a:r>
          </a:p>
        </p:txBody>
      </p:sp>
      <p:sp>
        <p:nvSpPr>
          <p:cNvPr id="31" name="AutoShape 9"/>
          <p:cNvSpPr/>
          <p:nvPr/>
        </p:nvSpPr>
        <p:spPr>
          <a:xfrm>
            <a:off x="7888288" y="29605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7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602574885561_1_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宽屏</PresentationFormat>
  <Paragraphs>213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微软雅黑</vt:lpstr>
      <vt:lpstr>Arial</vt:lpstr>
      <vt:lpstr>Calibri</vt:lpstr>
      <vt:lpstr>Consolas</vt:lpstr>
      <vt:lpstr>Times New Roman</vt:lpstr>
      <vt:lpstr>Wingdings</vt:lpstr>
      <vt:lpstr>Office 主题​​</vt:lpstr>
      <vt:lpstr>BM算法SS[]推导</vt:lpstr>
      <vt:lpstr>SS[]</vt:lpstr>
      <vt:lpstr>SS[]的获取</vt:lpstr>
      <vt:lpstr>SS[]的获取</vt:lpstr>
      <vt:lpstr>SS[]的获取</vt:lpstr>
      <vt:lpstr>SS[]的获取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李尔里德</dc:creator>
  <cp:lastModifiedBy>尔里德 李</cp:lastModifiedBy>
  <cp:revision>171</cp:revision>
  <dcterms:created xsi:type="dcterms:W3CDTF">2019-06-19T02:08:00Z</dcterms:created>
  <dcterms:modified xsi:type="dcterms:W3CDTF">2024-10-22T08:15:14Z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  <property fmtid="{D5CDD505-2E9C-101B-9397-08002B2CF9AE}" pid="3" name="ICV">
    <vt:lpwstr>AB46DD787ACF4C4E98B448DF137EE51B</vt:lpwstr>
  </property>
</Properties>
</file>