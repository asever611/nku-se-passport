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8"/>
  </p:notesMasterIdLst>
  <p:sldIdLst>
    <p:sldId id="256" r:id="rId3"/>
    <p:sldId id="257" r:id="rId4"/>
    <p:sldId id="258"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4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csdn.net/so/search?q=%E9%9D%99%E6%80%81%E8%B7%AF%E7%94%B1&amp;spm=1001.2101.3001.7020"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csdn.net/so/search?q=%E9%9D%99%E6%80%81%E8%B7%AF%E7%94%B1&amp;spm=1001.2101.3001.7020"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o.csdn.net/so/search?q=RIP%E5%8D%8F%E8%AE%AE&amp;spm=1001.2101.3001.7020"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lvl1pPr>
          </a:lstStyle>
          <a:p>
            <a:pPr indent="0" algn="l">
              <a:lnSpc>
                <a:spcPct val="100000"/>
              </a:lnSpc>
            </a:pPr>
            <a:r>
              <a:rPr lang="en-US" sz="1600" b="0" i="0" u="none" strike="noStrike">
                <a:solidFill>
                  <a:srgbClr val="000000"/>
                </a:solidFill>
                <a:latin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我用的是华为的模拟器，如果大家下载不了只能用思科的话，那需要你们去查一下相关的命令操作，华为模拟器常用命令是这些。我列举到这里一些常用的:PPT内容</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然后我们按照这个拓补图搭建好，第一步先配置PC机，配置PC1和PC2的IP地址，子网掩码和网关。配置好之后大家记得点应用；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然后我们按照这个拓补图搭建好，第一步先配置PC机，配置PC1和PC2的IP地址，子网掩码和网关。配置好之后大家记得点应用；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第二部配置路由器，我们这里以R1为例。在R1路由器配置通向PC2网段的静态路由。在静态路由配置之前，要先把路由器的接口ip和子网掩码设置好，这个在上上节课许婷老师也跟大家简单提过，首先从用户模式进入系统模式，用sysname将路由器设置成自己的名字，这个名字具体要求报告里面有大家注意一下，接下来用]int g0/0/0进入路由器的g0口，大家要注意不同的路由器使用的接口名是由路由器型号确定，可能有 Ethernet0/0/0；或 GigabitEthernet0/0/x或 FastEthernet0/0/x) 如路由器型号为 AR2240 以上，端口为千兆以太网口 GE0/0/0；如路由器型号为 AR201，端口为以太网口 E0/0/0）</a:t>
            </a:r>
          </a:p>
          <a:p>
            <a:pPr indent="0" algn="l">
              <a:lnSpc>
                <a:spcPct val="100000"/>
              </a:lnSpc>
            </a:pPr>
            <a:r>
              <a:rPr lang="en-US" sz="2400" b="0" i="0" u="none" strike="noStrike">
                <a:solidFill>
                  <a:srgbClr val="000000"/>
                </a:solidFill>
                <a:latin typeface="等线"/>
              </a:rPr>
              <a:t>在eNSP里也可以设置，显示所有接口，这样会把路由器的所有接口显示出来，就不会出错了。然后配置ip地址，配置ip地址的原则就是ip address+ip地址+子网掩码，g0口配置完之后，配置g1口，可以直接在g0端口这里int g1，也可以quit退出来退到用户模式下，再进入g1,都可以。配置好R1之后，可以在PC1上ping一下R1，可以ping通的话就说明配置成功了，然后以同样的方法配置R2和R3路由器。都完成之后，我们就开始配置静态路由。</a:t>
            </a:r>
          </a:p>
          <a:p>
            <a:pPr indent="0" algn="l">
              <a:lnSpc>
                <a:spcPct val="100000"/>
              </a:lnSpc>
            </a:pPr>
            <a:r>
              <a:rPr lang="en-US" sz="2400" b="0" i="0" u="none" strike="noStrike">
                <a:solidFill>
                  <a:srgbClr val="000000"/>
                </a:solidFill>
                <a:latin typeface="等线"/>
                <a:hlinkClick r:id="rId3" tooltip="https://so.csdn.net/so/search?q=%E9%9D%99%E6%80%81%E8%B7%AF%E7%94%B1&amp;spm=1001.2101.3001.7020">
                  <a:extLst>
                    <a:ext uri="{A12FA001-AC4F-418D-AE19-62706E023703}">
                      <ahyp:hlinkClr xmlns:ahyp="http://schemas.microsoft.com/office/drawing/2018/hyperlinkcolor" val="tx"/>
                    </a:ext>
                  </a:extLst>
                </a:hlinkClick>
              </a:rPr>
              <a:t>静态路由</a:t>
            </a:r>
            <a:r>
              <a:rPr lang="en-US" sz="2400" b="0" i="0" u="none" strike="noStrike">
                <a:solidFill>
                  <a:srgbClr val="000000"/>
                </a:solidFill>
                <a:latin typeface="等线"/>
              </a:rPr>
              <a:t>配置原则 ：目的网络号 + 目的网络的子网掩码 + 下一跳的ip地址，这是R1通往3.0 4.0网段的配置，同样R2通往1.0 4.0和R3通往1.0 2.0的也是这样配置，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第二部配置路由器，我们这里以R1为例。在R1路由器配置通向PC2网段的静态路由。在静态路由配置之前，要先把路由器的接口ip和子网掩码设置好，这个在上上节课许婷老师也跟大家简单提过，首先从用户模式进入系统模式，用sysname将路由器设置成自己的名字，这个名字具体要求报告里面有大家注意一下，接下来用]int g0/0/0进入路由器的g0口，大家要注意不同的路由器使用的接口名是由路由器型号确定，可能有 Ethernet0/0/0；或 GigabitEthernet0/0/x或 FastEthernet0/0/x) 如路由器型号为 AR2240 以上，端口为千兆以太网口 GE0/0/0；如路由器型号为 AR201，端口为以太网口 E0/0/0）</a:t>
            </a:r>
          </a:p>
          <a:p>
            <a:pPr indent="0" algn="l">
              <a:lnSpc>
                <a:spcPct val="100000"/>
              </a:lnSpc>
            </a:pPr>
            <a:r>
              <a:rPr lang="en-US" sz="2400" b="0" i="0" u="none" strike="noStrike">
                <a:solidFill>
                  <a:srgbClr val="000000"/>
                </a:solidFill>
                <a:latin typeface="等线"/>
              </a:rPr>
              <a:t>在eNSP里也可以设置，显示所有接口，这样会把路由器的所有接口显示出来，就不会出错了。然后配置ip地址，配置ip地址的原则就是ip address+ip地址+子网掩码，g0口配置完之后，配置g1口，可以直接在g0端口这里int g1，也可以quit退出来退到用户模式下，再进入g1,都可以。配置好R1之后，可以在PC1上ping一下R1，可以ping通的话就说明配置成功了，然后以同样的方法配置R2和R3路由器。都完成之后，我们就开始配置静态路由。</a:t>
            </a:r>
          </a:p>
          <a:p>
            <a:pPr indent="0" algn="l">
              <a:lnSpc>
                <a:spcPct val="100000"/>
              </a:lnSpc>
            </a:pPr>
            <a:r>
              <a:rPr lang="en-US" sz="2400" b="0" i="0" u="none" strike="noStrike">
                <a:solidFill>
                  <a:srgbClr val="000000"/>
                </a:solidFill>
                <a:latin typeface="等线"/>
                <a:hlinkClick r:id="rId3" tooltip="https://so.csdn.net/so/search?q=%E9%9D%99%E6%80%81%E8%B7%AF%E7%94%B1&amp;spm=1001.2101.3001.7020">
                  <a:extLst>
                    <a:ext uri="{A12FA001-AC4F-418D-AE19-62706E023703}">
                      <ahyp:hlinkClr xmlns:ahyp="http://schemas.microsoft.com/office/drawing/2018/hyperlinkcolor" val="tx"/>
                    </a:ext>
                  </a:extLst>
                </a:hlinkClick>
              </a:rPr>
              <a:t>静态路由</a:t>
            </a:r>
            <a:r>
              <a:rPr lang="en-US" sz="2400" b="0" i="0" u="none" strike="noStrike">
                <a:solidFill>
                  <a:srgbClr val="000000"/>
                </a:solidFill>
                <a:latin typeface="等线"/>
              </a:rPr>
              <a:t>配置原则 ：目的网络号 + 目的网络的子网掩码 + 下一跳的ip地址，这是R1通往3.0 4.0网段的配置，同样R2通往1.0 4.0和R3通往1.0 2.0的也是这样配置，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在我们配置完静态路由之后，再dis ip route一下，可以看到里面已经增加了两条静态路由，分别是3.0和4.0的，在协议这里已经变成了static，后面的flag变成了RD，R:在路由器上配了个静态路由，所以RD大家就可以理解为是静态路由的意思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如果在配置的过程中，路由命令错误了，那在前面加undo就可以了，就是撤销的意思</a:t>
            </a:r>
          </a:p>
          <a:p>
            <a:pPr indent="0" algn="l">
              <a:lnSpc>
                <a:spcPct val="100000"/>
              </a:lnSpc>
            </a:pPr>
            <a:r>
              <a:rPr lang="en-US" sz="2400" b="0" i="0" u="none" strike="noStrike">
                <a:solidFill>
                  <a:srgbClr val="000000"/>
                </a:solidFill>
                <a:latin typeface="等线"/>
              </a:rPr>
              <a:t>当三个路由器都配置完成后，那么网络任意两点之间都可以ping通，如果没有Ping通可能是还没有收敛，收敛就是指路由转发达成一致的状态，就是重新建立到发送再到学习直至稳定，所以可以等一小会儿。大家可以测试一下，用PC1ping一下PC2。或者PC1traceRT一下PC2，可以看一下打印出来的命令，分析一下， 使用ping命令来检测网络通信是否连通，使用traceroute命令检测当前节点到目的地址的路径信息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我用的是华为的模拟器，如果大家下载不了只能用思科的话，那需要你们去查一下相关的命令操作，华为模拟器常用命令是这些。我列举到这里一些常用的:PPT内容</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大家好，我是崔天宇，接下来的实验3和实验4由我和大家一起完成</a:t>
            </a:r>
          </a:p>
          <a:p>
            <a:pPr indent="0" algn="l">
              <a:lnSpc>
                <a:spcPct val="100000"/>
              </a:lnSpc>
            </a:pPr>
            <a:r>
              <a:rPr lang="en-US" sz="2400" b="0" i="0" u="none" strike="noStrike">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实验报告中的要求是需要大家掌握静态路由协议，理解路由器工作原理，掌握路由器相关的配置、检测操作。</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这个图是我们实验的拓补图，一个颜色的方块代表一个</a:t>
            </a:r>
            <a:r>
              <a:rPr lang="en-US" sz="2400" b="0" i="0" u="sng" strike="noStrike">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a:solidFill>
                  <a:srgbClr val="000000"/>
                </a:solidFill>
                <a:latin typeface="等线"/>
              </a:rPr>
              <a:t>，分别是192.168.1.0、2.0、3.0、4.0. 192.168.1.0/24 代表的IP段就是 192.168.1.1 ~ 192.168.1.254。我们的实验目的就是最终实现从红色方块的PC1 通过静态路由的方式访问到黑色网段内的PC2。</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我先简单的跟大家说一下这个配置的过程，一会儿说完之后会给大家操作一遍</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latin typeface="等线"/>
              </a:defRPr>
            </a:lvl1pPr>
          </a:lstStyle>
          <a:p>
            <a:pPr indent="0" algn="l">
              <a:lnSpc>
                <a:spcPct val="100000"/>
              </a:lnSpc>
            </a:pPr>
            <a:r>
              <a:rPr lang="en-US" sz="1600" b="0" i="0" u="none" strike="noStrike">
                <a:solidFill>
                  <a:srgbClr val="000000"/>
                </a:solidFill>
                <a:latin typeface="等线"/>
              </a:rPr>
              <a:t>，都配置完成后，来看一下路由表，发现R1已经把3.0和4.0网段加进来了，看到这边协议也已经变了。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latin typeface="等线"/>
              </a:defRPr>
            </a:lvl1pPr>
          </a:lstStyle>
          <a:p>
            <a:pPr indent="0" algn="l">
              <a:lnSpc>
                <a:spcPct val="100000"/>
              </a:lnSpc>
            </a:pPr>
            <a:r>
              <a:rPr lang="en-US" sz="1600" b="0" i="0" u="none" strike="noStrike">
                <a:solidFill>
                  <a:srgbClr val="000000"/>
                </a:solidFill>
                <a:latin typeface="等线"/>
              </a:rPr>
              <a:t>这里也一样，配置错误的话用Undo撤销掉，配置正确的话，使用 ping 命令和 traceRT 命令来验证，配置正确的话，使用 ping 命令和 traceRT 命令来验证,。</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现在我们看这个ospf这个协议，</a:t>
            </a:r>
          </a:p>
          <a:p>
            <a:pPr indent="0" algn="l">
              <a:lnSpc>
                <a:spcPct val="100000"/>
              </a:lnSpc>
            </a:pPr>
            <a:r>
              <a:rPr lang="en-US" sz="2400" b="0" i="0" u="none" strike="noStrike">
                <a:solidFill>
                  <a:srgbClr val="4D4D4D"/>
                </a:solidFill>
                <a:latin typeface="等线"/>
              </a:rPr>
              <a:t>因为</a:t>
            </a:r>
            <a:r>
              <a:rPr lang="en-US" sz="2400" b="0" i="0" u="none" strike="noStrike">
                <a:solidFill>
                  <a:srgbClr val="4D4D4D"/>
                </a:solidFill>
                <a:latin typeface="Arial"/>
              </a:rPr>
              <a:t>RIP</a:t>
            </a:r>
            <a:r>
              <a:rPr lang="en-US" sz="2400" b="0" i="0" u="none" strike="noStrike">
                <a:solidFill>
                  <a:srgbClr val="4D4D4D"/>
                </a:solidFill>
                <a:latin typeface="等线"/>
              </a:rPr>
              <a:t>计算开销是不考虑其他参数只考虑跳数。</a:t>
            </a:r>
            <a:r>
              <a:rPr lang="en-US" sz="2400" b="0" i="0" u="none" strike="noStrike">
                <a:solidFill>
                  <a:srgbClr val="4D4D4D"/>
                </a:solidFill>
                <a:latin typeface="Arial"/>
              </a:rPr>
              <a:t>RIP</a:t>
            </a:r>
            <a:r>
              <a:rPr lang="en-US" sz="2400" b="0" i="0" u="none" strike="noStrike">
                <a:solidFill>
                  <a:srgbClr val="4D4D4D"/>
                </a:solidFill>
                <a:latin typeface="等线"/>
              </a:rPr>
              <a:t>最大支持</a:t>
            </a:r>
            <a:r>
              <a:rPr lang="en-US" sz="2400" b="0" i="0" u="none" strike="noStrike">
                <a:solidFill>
                  <a:srgbClr val="4D4D4D"/>
                </a:solidFill>
                <a:latin typeface="Arial"/>
              </a:rPr>
              <a:t>15</a:t>
            </a:r>
            <a:r>
              <a:rPr lang="en-US" sz="2400" b="0" i="0" u="none" strike="noStrike">
                <a:solidFill>
                  <a:srgbClr val="4D4D4D"/>
                </a:solidFill>
                <a:latin typeface="等线"/>
              </a:rPr>
              <a:t>跳，超过</a:t>
            </a:r>
            <a:r>
              <a:rPr lang="en-US" sz="2400" b="0" i="0" u="none" strike="noStrike">
                <a:solidFill>
                  <a:srgbClr val="4D4D4D"/>
                </a:solidFill>
                <a:latin typeface="Arial"/>
              </a:rPr>
              <a:t>15</a:t>
            </a:r>
            <a:r>
              <a:rPr lang="en-US" sz="2400" b="0" i="0" u="none" strike="noStrike">
                <a:solidFill>
                  <a:srgbClr val="4D4D4D"/>
                </a:solidFill>
                <a:latin typeface="等线"/>
              </a:rPr>
              <a:t>跳不可达。</a:t>
            </a:r>
            <a:r>
              <a:rPr lang="en-US" sz="2400" b="0" i="0" u="none" strike="noStrike">
                <a:solidFill>
                  <a:srgbClr val="000000"/>
                </a:solidFill>
                <a:latin typeface="等线"/>
              </a:rPr>
              <a:t>而且</a:t>
            </a:r>
            <a:r>
              <a:rPr lang="en-US" sz="2400" b="0" i="0" u="none" strike="noStrike">
                <a:solidFill>
                  <a:srgbClr val="FC5531"/>
                </a:solidFill>
                <a:latin typeface="Arial"/>
                <a:hlinkClick r:id="rId3" tooltip="https://so.csdn.net/so/search?q=RIP%E5%8D%8F%E8%AE%AE&amp;spm=1001.2101.3001.7020">
                  <a:extLst>
                    <a:ext uri="{A12FA001-AC4F-418D-AE19-62706E023703}">
                      <ahyp:hlinkClr xmlns:ahyp="http://schemas.microsoft.com/office/drawing/2018/hyperlinkcolor" val="tx"/>
                    </a:ext>
                  </a:extLst>
                </a:hlinkClick>
              </a:rPr>
              <a:t>RIP</a:t>
            </a:r>
            <a:r>
              <a:rPr lang="en-US" sz="2400" b="0" i="0" u="none" strike="noStrike">
                <a:solidFill>
                  <a:srgbClr val="FC5531"/>
                </a:solidFill>
                <a:latin typeface="等线"/>
                <a:hlinkClick r:id="rId3" tooltip="https://so.csdn.net/so/search?q=RIP%E5%8D%8F%E8%AE%AE&amp;spm=1001.2101.3001.7020">
                  <a:extLst>
                    <a:ext uri="{A12FA001-AC4F-418D-AE19-62706E023703}">
                      <ahyp:hlinkClr xmlns:ahyp="http://schemas.microsoft.com/office/drawing/2018/hyperlinkcolor" val="tx"/>
                    </a:ext>
                  </a:extLst>
                </a:hlinkClick>
              </a:rPr>
              <a:t>协议</a:t>
            </a:r>
            <a:r>
              <a:rPr lang="en-US" sz="2400" b="0" i="0" u="none" strike="noStrike">
                <a:solidFill>
                  <a:srgbClr val="4D4D4D"/>
                </a:solidFill>
                <a:latin typeface="等线"/>
              </a:rPr>
              <a:t>会产生路由环路，</a:t>
            </a:r>
            <a:r>
              <a:rPr lang="en-US" sz="2400" b="0" i="0" u="none" strike="noStrike">
                <a:solidFill>
                  <a:srgbClr val="4D4D4D"/>
                </a:solidFill>
                <a:latin typeface="Arial"/>
              </a:rPr>
              <a:t>RIP</a:t>
            </a:r>
            <a:r>
              <a:rPr lang="en-US" sz="2400" b="0" i="0" u="none" strike="noStrike">
                <a:solidFill>
                  <a:srgbClr val="4D4D4D"/>
                </a:solidFill>
                <a:latin typeface="等线"/>
              </a:rPr>
              <a:t>进行网络收敛最大需要</a:t>
            </a:r>
            <a:r>
              <a:rPr lang="en-US" sz="2400" b="0" i="0" u="none" strike="noStrike">
                <a:solidFill>
                  <a:srgbClr val="4D4D4D"/>
                </a:solidFill>
                <a:latin typeface="Arial"/>
              </a:rPr>
              <a:t>5</a:t>
            </a:r>
            <a:r>
              <a:rPr lang="en-US" sz="2400" b="0" i="0" u="none" strike="noStrike">
                <a:solidFill>
                  <a:srgbClr val="4D4D4D"/>
                </a:solidFill>
                <a:latin typeface="等线"/>
              </a:rPr>
              <a:t>分钟。</a:t>
            </a:r>
          </a:p>
          <a:p>
            <a:pPr indent="0" algn="l">
              <a:lnSpc>
                <a:spcPct val="100000"/>
              </a:lnSpc>
            </a:pPr>
            <a:r>
              <a:rPr lang="en-US" sz="2400" b="0" i="0" u="none" strike="noStrike">
                <a:solidFill>
                  <a:srgbClr val="4D4D4D"/>
                </a:solidFill>
                <a:latin typeface="等线"/>
              </a:rPr>
              <a:t>而</a:t>
            </a:r>
            <a:r>
              <a:rPr lang="en-US" sz="2400" b="0" i="0" u="none" strike="noStrike">
                <a:solidFill>
                  <a:srgbClr val="4D4D4D"/>
                </a:solidFill>
                <a:latin typeface="Arial"/>
              </a:rPr>
              <a:t>OSPF</a:t>
            </a:r>
            <a:r>
              <a:rPr lang="en-US" sz="2400" b="0" i="0" u="none" strike="noStrike">
                <a:solidFill>
                  <a:srgbClr val="4D4D4D"/>
                </a:solidFill>
                <a:latin typeface="等线"/>
              </a:rPr>
              <a:t>是开放式最短路径优先</a:t>
            </a:r>
          </a:p>
          <a:p>
            <a:pPr indent="0" algn="l">
              <a:lnSpc>
                <a:spcPct val="100000"/>
              </a:lnSpc>
            </a:pPr>
            <a:r>
              <a:rPr lang="en-US" sz="2400" b="0" i="0" u="none" strike="noStrike">
                <a:solidFill>
                  <a:srgbClr val="4D4D4D"/>
                </a:solidFill>
                <a:latin typeface="Arial"/>
              </a:rPr>
              <a:t>OSPF</a:t>
            </a:r>
            <a:r>
              <a:rPr lang="en-US" sz="2400" b="0" i="0" u="none" strike="noStrike">
                <a:solidFill>
                  <a:srgbClr val="4D4D4D"/>
                </a:solidFill>
                <a:latin typeface="等线"/>
              </a:rPr>
              <a:t>的优势：</a:t>
            </a:r>
          </a:p>
          <a:p>
            <a:pPr indent="0" algn="l">
              <a:lnSpc>
                <a:spcPct val="100000"/>
              </a:lnSpc>
            </a:pPr>
            <a:r>
              <a:rPr lang="en-US" sz="2400" b="0" i="0" u="none" strike="noStrike">
                <a:solidFill>
                  <a:srgbClr val="4D4D4D"/>
                </a:solidFill>
                <a:latin typeface="Arial"/>
              </a:rPr>
              <a:t>1.</a:t>
            </a:r>
            <a:r>
              <a:rPr lang="en-US" sz="2400" b="0" i="0" u="none" strike="noStrike">
                <a:solidFill>
                  <a:srgbClr val="4D4D4D"/>
                </a:solidFill>
                <a:latin typeface="等线"/>
              </a:rPr>
              <a:t>无环路，</a:t>
            </a:r>
            <a:r>
              <a:rPr lang="en-US" sz="2400" b="0" i="0" u="none" strike="noStrike">
                <a:solidFill>
                  <a:srgbClr val="4D4D4D"/>
                </a:solidFill>
                <a:latin typeface="Arial"/>
              </a:rPr>
              <a:t>OSPF</a:t>
            </a:r>
            <a:r>
              <a:rPr lang="en-US" sz="2400" b="0" i="0" u="none" strike="noStrike">
                <a:solidFill>
                  <a:srgbClr val="4D4D4D"/>
                </a:solidFill>
                <a:latin typeface="等线"/>
              </a:rPr>
              <a:t>是基于链路状态算法的，链路状态算法本身就是没有环路。</a:t>
            </a:r>
          </a:p>
          <a:p>
            <a:pPr indent="0" algn="l">
              <a:lnSpc>
                <a:spcPct val="100000"/>
              </a:lnSpc>
            </a:pPr>
            <a:r>
              <a:rPr lang="en-US" sz="2400" b="0" i="0" u="none" strike="noStrike">
                <a:solidFill>
                  <a:srgbClr val="4D4D4D"/>
                </a:solidFill>
                <a:latin typeface="Arial"/>
              </a:rPr>
              <a:t>2. </a:t>
            </a:r>
            <a:r>
              <a:rPr lang="en-US" sz="2400" b="0" i="0" u="none" strike="noStrike">
                <a:solidFill>
                  <a:srgbClr val="4D4D4D"/>
                </a:solidFill>
                <a:latin typeface="等线"/>
              </a:rPr>
              <a:t>收敛快，理论上可以实现纳秒级收敛，只不过设备性能无法支持纳秒级，最多能形成毫秒级收敛。</a:t>
            </a:r>
          </a:p>
          <a:p>
            <a:pPr indent="0" algn="l">
              <a:lnSpc>
                <a:spcPct val="100000"/>
              </a:lnSpc>
            </a:pPr>
            <a:r>
              <a:rPr lang="en-US" sz="2400" b="0" i="0" u="none" strike="noStrike">
                <a:solidFill>
                  <a:srgbClr val="4D4D4D"/>
                </a:solidFill>
                <a:latin typeface="Arial"/>
              </a:rPr>
              <a:t>3. </a:t>
            </a:r>
            <a:r>
              <a:rPr lang="en-US" sz="2400" b="0" i="0" u="none" strike="noStrike">
                <a:solidFill>
                  <a:srgbClr val="4D4D4D"/>
                </a:solidFill>
                <a:latin typeface="等线"/>
              </a:rPr>
              <a:t>扩展性好</a:t>
            </a:r>
          </a:p>
          <a:p>
            <a:pPr indent="0" algn="l">
              <a:lnSpc>
                <a:spcPct val="100000"/>
              </a:lnSpc>
            </a:pPr>
            <a:r>
              <a:rPr lang="en-US" sz="2400" b="0" i="0" u="none" strike="noStrike">
                <a:solidFill>
                  <a:srgbClr val="4D4D4D"/>
                </a:solidFill>
                <a:latin typeface="Arial"/>
              </a:rPr>
              <a:t>4. </a:t>
            </a:r>
            <a:r>
              <a:rPr lang="en-US" sz="2400" b="0" i="0" u="none" strike="noStrike">
                <a:solidFill>
                  <a:srgbClr val="4D4D4D"/>
                </a:solidFill>
                <a:latin typeface="等线"/>
              </a:rPr>
              <a:t>支持认证，两台路由器之间配置了认证后，如果认证通过才会交互路由信息，如果不通过不交互。不过我们这个实验不做这个认证，大家了解一下就行</a:t>
            </a:r>
          </a:p>
          <a:p>
            <a:pPr indent="0" algn="l">
              <a:lnSpc>
                <a:spcPct val="100000"/>
              </a:lnSpc>
            </a:pPr>
            <a:r>
              <a:rPr lang="en-US" sz="2400" b="0" i="0" u="none" strike="noStrike">
                <a:solidFill>
                  <a:srgbClr val="000000"/>
                </a:solidFill>
                <a:latin typeface="等线"/>
              </a:rPr>
              <a:t>第一步：每台设备收集自身的链路状态信息（比如：接口IP地址、接口类型是P2P网络还是MA网络还是NBMA网络、线路开销、设备区域、掩码等信息）生成链路状态通告报文（LSA，计算路由的原材料）。</a:t>
            </a:r>
          </a:p>
          <a:p>
            <a:pPr indent="0" algn="l">
              <a:lnSpc>
                <a:spcPct val="100000"/>
              </a:lnSpc>
            </a:pPr>
            <a:r>
              <a:rPr lang="en-US" sz="2400" b="0" i="0" u="none" strike="noStrike">
                <a:solidFill>
                  <a:srgbClr val="000000"/>
                </a:solidFill>
                <a:latin typeface="等线"/>
              </a:rPr>
              <a:t>第二步：每台设备将自身的链路状态信息在整个OSPF网络内进行传递。最终每台设备的LSA信息会传递给其他所有路由器，同时每台设备也会收到其他路由器发来的LSA信息。路由器将自己产生的LSA信息和别的设备发来的LSA信息存放在链路状态数据库中（LSDB，路由原材料的仓库）。</a:t>
            </a:r>
          </a:p>
          <a:p>
            <a:pPr indent="0" algn="l">
              <a:lnSpc>
                <a:spcPct val="100000"/>
              </a:lnSpc>
            </a:pPr>
            <a:r>
              <a:rPr lang="en-US" sz="2400" b="0" i="0" u="none" strike="noStrike">
                <a:solidFill>
                  <a:srgbClr val="000000"/>
                </a:solidFill>
                <a:latin typeface="等线"/>
              </a:rPr>
              <a:t>第三步：每台设备根据自身的LSA信息独立运行SPF最短路径优先算法进行路由计算，将计算出的条目加载到自身的协议路由表中从而最终加载到IP路由表。</a:t>
            </a:r>
          </a:p>
          <a:p>
            <a:pPr indent="0" algn="l">
              <a:lnSpc>
                <a:spcPct val="100000"/>
              </a:lnSpc>
            </a:pPr>
            <a:r>
              <a:rPr lang="en-US" sz="2400" b="0" i="0" u="none" strike="noStrike">
                <a:solidFill>
                  <a:srgbClr val="000000"/>
                </a:solidFill>
                <a:latin typeface="等线"/>
              </a:rPr>
              <a:t> </a:t>
            </a:r>
          </a:p>
          <a:p>
            <a:pPr indent="0" algn="l">
              <a:lnSpc>
                <a:spcPts val="2600"/>
              </a:lnSpc>
            </a:pPr>
            <a:r>
              <a:rPr lang="en-US" sz="2400" b="0" i="0" u="none" strike="noStrike">
                <a:solidFill>
                  <a:srgbClr val="4D4D4D"/>
                </a:solidFill>
                <a:latin typeface="宋体"/>
              </a:rPr>
              <a:t>拓扑图还是这个， 可以重新设置</a:t>
            </a:r>
            <a:r>
              <a:rPr lang="en-US" sz="2400" b="0" i="0" u="none" strike="noStrike">
                <a:solidFill>
                  <a:srgbClr val="4D4D4D"/>
                </a:solidFill>
                <a:latin typeface="Arial"/>
              </a:rPr>
              <a:t>IP</a:t>
            </a:r>
            <a:r>
              <a:rPr lang="en-US" sz="2400" b="0" i="0" u="none" strike="noStrike">
                <a:solidFill>
                  <a:srgbClr val="4D4D4D"/>
                </a:solidFill>
                <a:latin typeface="宋体"/>
              </a:rPr>
              <a:t>地址，也可以直接在</a:t>
            </a:r>
            <a:r>
              <a:rPr lang="en-US" sz="2400" b="0" i="0" u="none" strike="noStrike">
                <a:solidFill>
                  <a:srgbClr val="4D4D4D"/>
                </a:solidFill>
                <a:latin typeface="Arial"/>
              </a:rPr>
              <a:t>rip</a:t>
            </a:r>
            <a:r>
              <a:rPr lang="en-US" sz="2400" b="0" i="0" u="none" strike="noStrike">
                <a:solidFill>
                  <a:srgbClr val="4D4D4D"/>
                </a:solidFill>
                <a:latin typeface="宋体"/>
              </a:rPr>
              <a:t>基础上</a:t>
            </a:r>
            <a:r>
              <a:rPr lang="en-US" sz="2400" b="0" i="0" u="none" strike="noStrike">
                <a:solidFill>
                  <a:srgbClr val="555666"/>
                </a:solidFill>
                <a:latin typeface="宋体"/>
              </a:rPr>
              <a:t>使用</a:t>
            </a:r>
            <a:r>
              <a:rPr lang="en-US" sz="2400" b="0" i="0" u="none" strike="noStrike">
                <a:solidFill>
                  <a:srgbClr val="555666"/>
                </a:solidFill>
                <a:latin typeface="Arial"/>
              </a:rPr>
              <a:t> </a:t>
            </a:r>
            <a:r>
              <a:rPr lang="en-US" sz="2400" b="0" i="0" u="none" strike="noStrike">
                <a:solidFill>
                  <a:srgbClr val="C7254E"/>
                </a:solidFill>
                <a:latin typeface="Source Code Pro"/>
              </a:rPr>
              <a:t>undo rip</a:t>
            </a:r>
            <a:r>
              <a:rPr lang="en-US" sz="2400" b="0" i="0" u="none" strike="noStrike">
                <a:solidFill>
                  <a:srgbClr val="555666"/>
                </a:solidFill>
                <a:latin typeface="宋体"/>
              </a:rPr>
              <a:t>命令删除前实验配置的路由</a:t>
            </a:r>
            <a:r>
              <a:rPr lang="en-US" sz="2400" b="0" i="0" u="none" strike="noStrike">
                <a:solidFill>
                  <a:srgbClr val="555666"/>
                </a:solidFill>
                <a:latin typeface="Arial"/>
              </a:rPr>
              <a:t>,</a:t>
            </a:r>
            <a:r>
              <a:rPr lang="en-US" sz="2400" b="0" i="0" u="none" strike="noStrike">
                <a:solidFill>
                  <a:srgbClr val="555666"/>
                </a:solidFill>
                <a:latin typeface="宋体"/>
              </a:rPr>
              <a:t>这样可以减小工作量，删除完之后用</a:t>
            </a:r>
            <a:r>
              <a:rPr lang="en-US" sz="2400" b="0" i="0" u="none" strike="noStrike">
                <a:solidFill>
                  <a:srgbClr val="555666"/>
                </a:solidFill>
                <a:latin typeface="Arial"/>
              </a:rPr>
              <a:t>dis ip rou</a:t>
            </a:r>
            <a:r>
              <a:rPr lang="en-US" sz="2400" b="0" i="0" u="none" strike="noStrike">
                <a:solidFill>
                  <a:srgbClr val="555666"/>
                </a:solidFill>
                <a:latin typeface="宋体"/>
              </a:rPr>
              <a:t>查看一下，</a:t>
            </a:r>
          </a:p>
          <a:p>
            <a:pPr indent="0" algn="l">
              <a:lnSpc>
                <a:spcPts val="2600"/>
              </a:lnSpc>
            </a:pPr>
            <a:r>
              <a:rPr lang="en-US" sz="2400" b="0" i="0" u="none" strike="noStrike">
                <a:solidFill>
                  <a:srgbClr val="555666"/>
                </a:solidFill>
                <a:latin typeface="宋体"/>
              </a:rPr>
              <a:t>接下来进行</a:t>
            </a:r>
            <a:r>
              <a:rPr lang="en-US" sz="2400" b="0" i="0" u="none" strike="noStrike">
                <a:solidFill>
                  <a:srgbClr val="555666"/>
                </a:solidFill>
                <a:latin typeface="Arial"/>
              </a:rPr>
              <a:t>ospf</a:t>
            </a:r>
            <a:r>
              <a:rPr lang="en-US" sz="2400" b="0" i="0" u="none" strike="noStrike">
                <a:solidFill>
                  <a:srgbClr val="555666"/>
                </a:solidFill>
                <a:latin typeface="宋体"/>
              </a:rPr>
              <a:t>的配置</a:t>
            </a:r>
          </a:p>
          <a:p>
            <a:pPr indent="0" algn="l">
              <a:lnSpc>
                <a:spcPts val="2600"/>
              </a:lnSpc>
            </a:pPr>
            <a:r>
              <a:rPr lang="en-US" sz="2400" b="0" i="0" u="none" strike="noStrike">
                <a:solidFill>
                  <a:srgbClr val="4D4D4D"/>
                </a:solidFill>
                <a:latin typeface="Arial"/>
              </a:rPr>
              <a:t># </a:t>
            </a:r>
            <a:r>
              <a:rPr lang="en-US" sz="2400" b="0" i="0" u="none" strike="noStrike">
                <a:solidFill>
                  <a:srgbClr val="4D4D4D"/>
                </a:solidFill>
                <a:latin typeface="宋体"/>
              </a:rPr>
              <a:t>创建</a:t>
            </a:r>
            <a:r>
              <a:rPr lang="en-US" sz="2400" b="0" i="0" u="none" strike="noStrike">
                <a:solidFill>
                  <a:srgbClr val="4D4D4D"/>
                </a:solidFill>
                <a:latin typeface="Arial"/>
              </a:rPr>
              <a:t>OSPF</a:t>
            </a:r>
            <a:r>
              <a:rPr lang="en-US" sz="2400" b="0" i="0" u="none" strike="noStrike">
                <a:solidFill>
                  <a:srgbClr val="4D4D4D"/>
                </a:solidFill>
                <a:latin typeface="宋体"/>
              </a:rPr>
              <a:t>进程</a:t>
            </a:r>
          </a:p>
          <a:p>
            <a:pPr indent="0" algn="l">
              <a:lnSpc>
                <a:spcPts val="2200"/>
              </a:lnSpc>
            </a:pPr>
            <a:r>
              <a:rPr lang="en-US" sz="2400" b="0" i="0" u="none" strike="noStrike">
                <a:solidFill>
                  <a:srgbClr val="999999"/>
                </a:solidFill>
                <a:latin typeface="Source Code Pro"/>
              </a:rPr>
              <a:t>[</a:t>
            </a:r>
            <a:r>
              <a:rPr lang="en-US" sz="2400" b="0" i="0" u="none" strike="noStrike">
                <a:solidFill>
                  <a:srgbClr val="000000"/>
                </a:solidFill>
                <a:latin typeface="Source Code Pro"/>
              </a:rPr>
              <a:t>AR1</a:t>
            </a:r>
            <a:r>
              <a:rPr lang="en-US" sz="2400" b="0" i="0" u="none" strike="noStrike">
                <a:solidFill>
                  <a:srgbClr val="999999"/>
                </a:solidFill>
                <a:latin typeface="Source Code Pro"/>
              </a:rPr>
              <a:t>]</a:t>
            </a:r>
            <a:r>
              <a:rPr lang="en-US" sz="2400" b="0" i="0" u="none" strike="noStrike">
                <a:solidFill>
                  <a:srgbClr val="000000"/>
                </a:solidFill>
                <a:latin typeface="Source Code Pro"/>
              </a:rPr>
              <a:t>ospf </a:t>
            </a:r>
            <a:r>
              <a:rPr lang="en-US" sz="2400" b="0" i="0" u="none" strike="noStrike">
                <a:solidFill>
                  <a:srgbClr val="986801"/>
                </a:solidFill>
                <a:latin typeface="Source Code Pro"/>
              </a:rPr>
              <a:t>1</a:t>
            </a:r>
            <a:r>
              <a:rPr lang="en-US" sz="2400" b="0" i="0" u="none" strike="noStrike">
                <a:solidFill>
                  <a:srgbClr val="000000"/>
                </a:solidFill>
                <a:latin typeface="Source Code Pro"/>
              </a:rPr>
              <a:t> router</a:t>
            </a:r>
            <a:r>
              <a:rPr lang="en-US" sz="2400" b="0" i="0" u="none" strike="noStrike">
                <a:solidFill>
                  <a:srgbClr val="A67F59"/>
                </a:solidFill>
                <a:latin typeface="Source Code Pro"/>
              </a:rPr>
              <a:t>-</a:t>
            </a:r>
            <a:r>
              <a:rPr lang="en-US" sz="2400" b="0" i="0" u="none" strike="noStrike">
                <a:solidFill>
                  <a:srgbClr val="50A14F"/>
                </a:solidFill>
                <a:latin typeface="Source Code Pro"/>
              </a:rPr>
              <a:t>id</a:t>
            </a:r>
            <a:r>
              <a:rPr lang="en-US" sz="2400" b="0" i="0" u="none" strike="noStrike">
                <a:solidFill>
                  <a:srgbClr val="000000"/>
                </a:solidFill>
                <a:latin typeface="Source Code Pro"/>
              </a:rPr>
              <a:t>  </a:t>
            </a:r>
            <a:r>
              <a:rPr lang="en-US" sz="2400" b="0" i="0" u="none" strike="noStrike">
                <a:solidFill>
                  <a:srgbClr val="986801"/>
                </a:solidFill>
                <a:latin typeface="Source Code Pro"/>
              </a:rPr>
              <a:t>10.0.1.1</a:t>
            </a:r>
            <a:r>
              <a:rPr lang="en-US" sz="2400" b="0" i="0" u="none" strike="noStrike">
                <a:solidFill>
                  <a:srgbClr val="000000"/>
                </a:solidFill>
                <a:latin typeface="Source Code Pro"/>
              </a:rPr>
              <a:t>  </a:t>
            </a:r>
            <a:r>
              <a:rPr lang="en-US" sz="2400" b="0" i="0" u="none" strike="noStrike">
                <a:solidFill>
                  <a:srgbClr val="708090"/>
                </a:solidFill>
                <a:latin typeface="Source Code Pro"/>
              </a:rPr>
              <a:t># </a:t>
            </a:r>
            <a:r>
              <a:rPr lang="en-US" sz="2400" b="0" i="0" u="none" strike="noStrike">
                <a:solidFill>
                  <a:srgbClr val="708090"/>
                </a:solidFill>
                <a:latin typeface="宋体"/>
              </a:rPr>
              <a:t>创建进程，并将逻辑接口设为设备</a:t>
            </a:r>
            <a:r>
              <a:rPr lang="en-US" sz="2400" b="0" i="0" u="none" strike="noStrike">
                <a:solidFill>
                  <a:srgbClr val="708090"/>
                </a:solidFill>
                <a:latin typeface="Source Code Pro"/>
              </a:rPr>
              <a:t>id</a:t>
            </a:r>
            <a:r>
              <a:rPr lang="en-US" sz="2400" b="0" i="0" u="none" strike="noStrike">
                <a:solidFill>
                  <a:srgbClr val="708090"/>
                </a:solidFill>
                <a:latin typeface="宋体"/>
              </a:rPr>
              <a:t>号</a:t>
            </a:r>
            <a:r>
              <a:rPr lang="en-US" sz="2400" b="0" i="0" u="none" strike="noStrike">
                <a:solidFill>
                  <a:srgbClr val="000000"/>
                </a:solidFill>
                <a:latin typeface="等线"/>
              </a:rPr>
              <a:t>，</a:t>
            </a:r>
            <a:r>
              <a:rPr lang="en-US" sz="2400" b="0" i="0" u="none" strike="noStrike">
                <a:solidFill>
                  <a:srgbClr val="4D4D4D"/>
                </a:solidFill>
                <a:latin typeface="Arial"/>
              </a:rPr>
              <a:t>OSPF</a:t>
            </a:r>
            <a:r>
              <a:rPr lang="en-US" sz="2400" b="0" i="0" u="none" strike="noStrike">
                <a:solidFill>
                  <a:srgbClr val="4D4D4D"/>
                </a:solidFill>
                <a:latin typeface="宋体"/>
              </a:rPr>
              <a:t>支持多进程，在同一台设备上可以运行多个不同的</a:t>
            </a:r>
            <a:r>
              <a:rPr lang="en-US" sz="2400" b="0" i="0" u="none" strike="noStrike">
                <a:solidFill>
                  <a:srgbClr val="4D4D4D"/>
                </a:solidFill>
                <a:latin typeface="Arial"/>
              </a:rPr>
              <a:t>OSPF</a:t>
            </a:r>
            <a:r>
              <a:rPr lang="en-US" sz="2400" b="0" i="0" u="none" strike="noStrike">
                <a:solidFill>
                  <a:srgbClr val="4D4D4D"/>
                </a:solidFill>
                <a:latin typeface="宋体"/>
              </a:rPr>
              <a:t>进程，它们之间互不影响，彼此独立。不同</a:t>
            </a:r>
            <a:r>
              <a:rPr lang="en-US" sz="2400" b="0" i="0" u="none" strike="noStrike">
                <a:solidFill>
                  <a:srgbClr val="4D4D4D"/>
                </a:solidFill>
                <a:latin typeface="Arial"/>
              </a:rPr>
              <a:t>OSPF</a:t>
            </a:r>
            <a:r>
              <a:rPr lang="en-US" sz="2400" b="0" i="0" u="none" strike="noStrike">
                <a:solidFill>
                  <a:srgbClr val="4D4D4D"/>
                </a:solidFill>
                <a:latin typeface="宋体"/>
              </a:rPr>
              <a:t>进程之间的路由交互相当于不同路由协议之间的路由交互。可以在创建</a:t>
            </a:r>
            <a:r>
              <a:rPr lang="en-US" sz="2400" b="0" i="0" u="none" strike="noStrike">
                <a:solidFill>
                  <a:srgbClr val="4D4D4D"/>
                </a:solidFill>
                <a:latin typeface="Arial"/>
              </a:rPr>
              <a:t>OSPF</a:t>
            </a:r>
            <a:r>
              <a:rPr lang="en-US" sz="2400" b="0" i="0" u="none" strike="noStrike">
                <a:solidFill>
                  <a:srgbClr val="4D4D4D"/>
                </a:solidFill>
                <a:latin typeface="宋体"/>
              </a:rPr>
              <a:t>进程时指定进程号，若不指定，默认进程号为</a:t>
            </a:r>
            <a:r>
              <a:rPr lang="en-US" sz="2400" b="0" i="0" u="none" strike="noStrike">
                <a:solidFill>
                  <a:srgbClr val="4D4D4D"/>
                </a:solidFill>
                <a:latin typeface="Arial"/>
              </a:rPr>
              <a:t>“1”</a:t>
            </a:r>
            <a:r>
              <a:rPr lang="en-US" sz="2400" b="0" i="0" u="none" strike="noStrike">
                <a:solidFill>
                  <a:srgbClr val="4D4D4D"/>
                </a:solidFill>
                <a:latin typeface="宋体"/>
              </a:rPr>
              <a:t>。</a:t>
            </a:r>
          </a:p>
          <a:p>
            <a:pPr indent="0" algn="l">
              <a:lnSpc>
                <a:spcPts val="2600"/>
              </a:lnSpc>
            </a:pPr>
            <a:r>
              <a:rPr lang="en-US" sz="2400" b="0" i="0" u="none" strike="noStrike">
                <a:solidFill>
                  <a:srgbClr val="4D4D4D"/>
                </a:solidFill>
                <a:latin typeface="Arial"/>
              </a:rPr>
              <a:t> router-id</a:t>
            </a:r>
            <a:r>
              <a:rPr lang="en-US" sz="2400" b="0" i="0" u="none" strike="noStrike">
                <a:solidFill>
                  <a:srgbClr val="4D4D4D"/>
                </a:solidFill>
                <a:latin typeface="宋体"/>
              </a:rPr>
              <a:t>：用于手工指定设备的</a:t>
            </a:r>
            <a:r>
              <a:rPr lang="en-US" sz="2400" b="0" i="0" u="none" strike="noStrike">
                <a:solidFill>
                  <a:srgbClr val="4D4D4D"/>
                </a:solidFill>
                <a:latin typeface="Arial"/>
              </a:rPr>
              <a:t>ID</a:t>
            </a:r>
            <a:r>
              <a:rPr lang="en-US" sz="2400" b="0" i="0" u="none" strike="noStrike">
                <a:solidFill>
                  <a:srgbClr val="4D4D4D"/>
                </a:solidFill>
                <a:latin typeface="宋体"/>
              </a:rPr>
              <a:t>号，一般设为逻辑接口地址。如果没有通过命令指定</a:t>
            </a:r>
            <a:r>
              <a:rPr lang="en-US" sz="2400" b="0" i="0" u="none" strike="noStrike">
                <a:solidFill>
                  <a:srgbClr val="4D4D4D"/>
                </a:solidFill>
                <a:latin typeface="Arial"/>
              </a:rPr>
              <a:t>ID</a:t>
            </a:r>
            <a:r>
              <a:rPr lang="en-US" sz="2400" b="0" i="0" u="none" strike="noStrike">
                <a:solidFill>
                  <a:srgbClr val="4D4D4D"/>
                </a:solidFill>
                <a:latin typeface="宋体"/>
              </a:rPr>
              <a:t>号，系统会从当前接口的</a:t>
            </a:r>
            <a:r>
              <a:rPr lang="en-US" sz="2400" b="0" i="0" u="none" strike="noStrike">
                <a:solidFill>
                  <a:srgbClr val="4D4D4D"/>
                </a:solidFill>
                <a:latin typeface="Arial"/>
              </a:rPr>
              <a:t>IP</a:t>
            </a:r>
            <a:r>
              <a:rPr lang="en-US" sz="2400" b="0" i="0" u="none" strike="noStrike">
                <a:solidFill>
                  <a:srgbClr val="4D4D4D"/>
                </a:solidFill>
                <a:latin typeface="宋体"/>
              </a:rPr>
              <a:t>地址中自动选取一个作为设备的</a:t>
            </a:r>
            <a:r>
              <a:rPr lang="en-US" sz="2400" b="0" i="0" u="none" strike="noStrike">
                <a:solidFill>
                  <a:srgbClr val="4D4D4D"/>
                </a:solidFill>
                <a:latin typeface="Arial"/>
              </a:rPr>
              <a:t>ID</a:t>
            </a:r>
            <a:r>
              <a:rPr lang="en-US" sz="2400" b="0" i="0" u="none" strike="noStrike">
                <a:solidFill>
                  <a:srgbClr val="4D4D4D"/>
                </a:solidFill>
                <a:latin typeface="宋体"/>
              </a:rPr>
              <a:t>号。</a:t>
            </a:r>
          </a:p>
          <a:p>
            <a:pPr indent="0" algn="l">
              <a:lnSpc>
                <a:spcPts val="2200"/>
              </a:lnSpc>
            </a:pPr>
            <a:r>
              <a:rPr lang="en-US" sz="2400" b="0" i="0" u="none" strike="noStrike">
                <a:solidFill>
                  <a:srgbClr val="999999"/>
                </a:solidFill>
                <a:latin typeface="Source Code Pro"/>
              </a:rPr>
              <a:t>[</a:t>
            </a:r>
            <a:r>
              <a:rPr lang="en-US" sz="2400" b="0" i="0" u="none" strike="noStrike">
                <a:solidFill>
                  <a:srgbClr val="000000"/>
                </a:solidFill>
                <a:latin typeface="Source Code Pro"/>
              </a:rPr>
              <a:t>AR1</a:t>
            </a:r>
            <a:r>
              <a:rPr lang="en-US" sz="2400" b="0" i="0" u="none" strike="noStrike">
                <a:solidFill>
                  <a:srgbClr val="A67F59"/>
                </a:solidFill>
                <a:latin typeface="Source Code Pro"/>
              </a:rPr>
              <a:t>-</a:t>
            </a:r>
            <a:r>
              <a:rPr lang="en-US" sz="2400" b="0" i="0" u="none" strike="noStrike">
                <a:solidFill>
                  <a:srgbClr val="000000"/>
                </a:solidFill>
                <a:latin typeface="Source Code Pro"/>
              </a:rPr>
              <a:t>ospf</a:t>
            </a:r>
            <a:r>
              <a:rPr lang="en-US" sz="2400" b="0" i="0" u="none" strike="noStrike">
                <a:solidFill>
                  <a:srgbClr val="A67F59"/>
                </a:solidFill>
                <a:latin typeface="Source Code Pro"/>
              </a:rPr>
              <a:t>-</a:t>
            </a:r>
            <a:r>
              <a:rPr lang="en-US" sz="2400" b="0" i="0" u="none" strike="noStrike">
                <a:solidFill>
                  <a:srgbClr val="986801"/>
                </a:solidFill>
                <a:latin typeface="Source Code Pro"/>
              </a:rPr>
              <a:t>1</a:t>
            </a:r>
            <a:r>
              <a:rPr lang="en-US" sz="2400" b="0" i="0" u="none" strike="noStrike">
                <a:solidFill>
                  <a:srgbClr val="999999"/>
                </a:solidFill>
                <a:latin typeface="Source Code Pro"/>
              </a:rPr>
              <a:t>]</a:t>
            </a:r>
            <a:r>
              <a:rPr lang="en-US" sz="2400" b="0" i="0" u="none" strike="noStrike">
                <a:solidFill>
                  <a:srgbClr val="000000"/>
                </a:solidFill>
                <a:latin typeface="Source Code Pro"/>
              </a:rPr>
              <a:t>area </a:t>
            </a:r>
            <a:r>
              <a:rPr lang="en-US" sz="2400" b="0" i="0" u="none" strike="noStrike">
                <a:solidFill>
                  <a:srgbClr val="986801"/>
                </a:solidFill>
                <a:latin typeface="Source Code Pro"/>
              </a:rPr>
              <a:t>0 </a:t>
            </a:r>
            <a:r>
              <a:rPr lang="en-US" sz="2400" b="0" i="0" u="none" strike="noStrike">
                <a:solidFill>
                  <a:srgbClr val="986801"/>
                </a:solidFill>
                <a:latin typeface="宋体"/>
              </a:rPr>
              <a:t>；</a:t>
            </a:r>
            <a:r>
              <a:rPr lang="en-US" sz="3700" b="1" i="0" u="none" strike="noStrike">
                <a:solidFill>
                  <a:srgbClr val="4D4D4D"/>
                </a:solidFill>
                <a:latin typeface="Arial"/>
              </a:rPr>
              <a:t>area</a:t>
            </a:r>
            <a:r>
              <a:rPr lang="en-US" sz="3700" b="0" i="0" u="none" strike="noStrike">
                <a:solidFill>
                  <a:srgbClr val="4D4D4D"/>
                </a:solidFill>
                <a:latin typeface="宋体"/>
              </a:rPr>
              <a:t>：命令用来创建</a:t>
            </a:r>
            <a:r>
              <a:rPr lang="en-US" sz="3700" b="0" i="0" u="none" strike="noStrike">
                <a:solidFill>
                  <a:srgbClr val="4D4D4D"/>
                </a:solidFill>
                <a:latin typeface="Arial"/>
              </a:rPr>
              <a:t>OSPF</a:t>
            </a:r>
            <a:r>
              <a:rPr lang="en-US" sz="3700" b="0" i="0" u="none" strike="noStrike">
                <a:solidFill>
                  <a:srgbClr val="4D4D4D"/>
                </a:solidFill>
                <a:latin typeface="宋体"/>
              </a:rPr>
              <a:t>区域，并进入</a:t>
            </a:r>
            <a:r>
              <a:rPr lang="en-US" sz="3700" b="0" i="0" u="none" strike="noStrike">
                <a:solidFill>
                  <a:srgbClr val="4D4D4D"/>
                </a:solidFill>
                <a:latin typeface="Arial"/>
              </a:rPr>
              <a:t>OSPF</a:t>
            </a:r>
            <a:r>
              <a:rPr lang="en-US" sz="3700" b="0" i="0" u="none" strike="noStrike">
                <a:solidFill>
                  <a:srgbClr val="4D4D4D"/>
                </a:solidFill>
                <a:latin typeface="宋体"/>
              </a:rPr>
              <a:t>区域视图。</a:t>
            </a:r>
          </a:p>
          <a:p>
            <a:pPr indent="0" algn="l">
              <a:lnSpc>
                <a:spcPts val="2200"/>
              </a:lnSpc>
            </a:pPr>
            <a:r>
              <a:rPr lang="en-US" sz="3700" b="0" i="0" u="none" strike="noStrike">
                <a:solidFill>
                  <a:srgbClr val="333333"/>
                </a:solidFill>
                <a:latin typeface="PingFang SC"/>
              </a:rPr>
              <a:t>area0</a:t>
            </a:r>
            <a:r>
              <a:rPr lang="en-US" sz="3700" b="0" i="0" u="none" strike="noStrike">
                <a:solidFill>
                  <a:srgbClr val="333333"/>
                </a:solidFill>
                <a:latin typeface="等线"/>
              </a:rPr>
              <a:t>叫骨干区域，除它外其余称之为普通区域。普通区域之间不能直接互访，只能通过</a:t>
            </a:r>
            <a:r>
              <a:rPr lang="en-US" sz="3700" b="0" i="0" u="none" strike="noStrike">
                <a:solidFill>
                  <a:srgbClr val="333333"/>
                </a:solidFill>
                <a:latin typeface="PingFang SC"/>
              </a:rPr>
              <a:t>area0</a:t>
            </a:r>
            <a:r>
              <a:rPr lang="en-US" sz="3700" b="0" i="0" u="none" strike="noStrike">
                <a:solidFill>
                  <a:srgbClr val="333333"/>
                </a:solidFill>
                <a:latin typeface="等线"/>
              </a:rPr>
              <a:t>来互访。分成多个区域有利于减少路由条目，减低路由器的负担。还能针对某一</a:t>
            </a:r>
            <a:r>
              <a:rPr lang="en-US" sz="3700" b="0" i="0" u="none" strike="noStrike">
                <a:solidFill>
                  <a:srgbClr val="333333"/>
                </a:solidFill>
                <a:latin typeface="PingFang SC"/>
              </a:rPr>
              <a:t>area</a:t>
            </a:r>
            <a:r>
              <a:rPr lang="en-US" sz="3700" b="0" i="0" u="none" strike="noStrike">
                <a:solidFill>
                  <a:srgbClr val="333333"/>
                </a:solidFill>
                <a:latin typeface="等线"/>
              </a:rPr>
              <a:t>做策略</a:t>
            </a:r>
          </a:p>
          <a:p>
            <a:pPr marL="0" lvl="0" indent="304800" algn="l">
              <a:lnSpc>
                <a:spcPts val="2200"/>
              </a:lnSpc>
              <a:buClr>
                <a:srgbClr val="999999"/>
              </a:buClr>
              <a:buChar char="•"/>
            </a:pPr>
            <a:r>
              <a:rPr lang="en-US" sz="2400" b="0" i="0" u="none" strike="noStrike">
                <a:solidFill>
                  <a:srgbClr val="999999"/>
                </a:solidFill>
                <a:latin typeface="Source Code Pro"/>
              </a:rPr>
              <a:t>1</a:t>
            </a:r>
          </a:p>
          <a:p>
            <a:pPr indent="0" algn="l">
              <a:lnSpc>
                <a:spcPts val="2600"/>
              </a:lnSpc>
            </a:pPr>
            <a:r>
              <a:rPr lang="en-US" sz="2400" b="1" i="0" u="none" strike="noStrike">
                <a:solidFill>
                  <a:srgbClr val="4D4D4D"/>
                </a:solidFill>
                <a:latin typeface="Arial"/>
              </a:rPr>
              <a:t>network</a:t>
            </a:r>
            <a:r>
              <a:rPr lang="en-US" sz="2400" b="0" i="0" u="none" strike="noStrike">
                <a:solidFill>
                  <a:srgbClr val="4D4D4D"/>
                </a:solidFill>
                <a:latin typeface="Arial"/>
              </a:rPr>
              <a:t> </a:t>
            </a:r>
            <a:r>
              <a:rPr lang="en-US" sz="2400" b="0" i="1" u="none" strike="noStrike">
                <a:solidFill>
                  <a:srgbClr val="4D4D4D"/>
                </a:solidFill>
                <a:latin typeface="Arial"/>
              </a:rPr>
              <a:t>network-address wildcard-mask</a:t>
            </a:r>
            <a:r>
              <a:rPr lang="en-US" sz="2400" b="0" i="0" u="none" strike="noStrike">
                <a:solidFill>
                  <a:srgbClr val="4D4D4D"/>
                </a:solidFill>
                <a:latin typeface="宋体"/>
              </a:rPr>
              <a:t>：用来指定运行</a:t>
            </a:r>
            <a:r>
              <a:rPr lang="en-US" sz="2400" b="0" i="0" u="none" strike="noStrike">
                <a:solidFill>
                  <a:srgbClr val="4D4D4D"/>
                </a:solidFill>
                <a:latin typeface="Arial"/>
              </a:rPr>
              <a:t>OSPF</a:t>
            </a:r>
            <a:r>
              <a:rPr lang="en-US" sz="2400" b="0" i="0" u="none" strike="noStrike">
                <a:solidFill>
                  <a:srgbClr val="4D4D4D"/>
                </a:solidFill>
                <a:latin typeface="宋体"/>
              </a:rPr>
              <a:t>协议的接口和接口所属的区域。</a:t>
            </a:r>
          </a:p>
          <a:p>
            <a:pPr indent="0" algn="l">
              <a:lnSpc>
                <a:spcPts val="2600"/>
              </a:lnSpc>
            </a:pPr>
            <a:r>
              <a:rPr lang="en-US" sz="2400" b="0" i="0" u="none" strike="noStrike">
                <a:solidFill>
                  <a:srgbClr val="4D4D4D"/>
                </a:solidFill>
                <a:latin typeface="Arial"/>
              </a:rPr>
              <a:t>network-address</a:t>
            </a:r>
            <a:r>
              <a:rPr lang="en-US" sz="2400" b="0" i="0" u="none" strike="noStrike">
                <a:solidFill>
                  <a:srgbClr val="4D4D4D"/>
                </a:solidFill>
                <a:latin typeface="宋体"/>
              </a:rPr>
              <a:t>为接口所在的网段地址。</a:t>
            </a:r>
          </a:p>
          <a:p>
            <a:pPr indent="0" algn="l">
              <a:lnSpc>
                <a:spcPts val="2600"/>
              </a:lnSpc>
            </a:pPr>
            <a:r>
              <a:rPr lang="en-US" sz="2400" b="0" i="0" u="none" strike="noStrike">
                <a:solidFill>
                  <a:srgbClr val="4D4D4D"/>
                </a:solidFill>
                <a:latin typeface="Arial"/>
              </a:rPr>
              <a:t>wildcard-mask</a:t>
            </a:r>
            <a:r>
              <a:rPr lang="en-US" sz="2400" b="0" i="0" u="none" strike="noStrike">
                <a:solidFill>
                  <a:srgbClr val="4D4D4D"/>
                </a:solidFill>
                <a:latin typeface="宋体"/>
              </a:rPr>
              <a:t>：通用符掩码、反掩码。</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4D4D4D">
                    <a:alpha val="100000"/>
                  </a:srgbClr>
                </a:solidFill>
                <a:latin typeface="等线"/>
              </a:defRPr>
            </a:lvl1pPr>
          </a:lstStyle>
          <a:p>
            <a:pPr indent="0" algn="l">
              <a:lnSpc>
                <a:spcPct val="100000"/>
              </a:lnSpc>
            </a:pPr>
            <a:r>
              <a:rPr lang="en-US" sz="2400" b="0" i="0" u="none" strike="noStrike">
                <a:solidFill>
                  <a:srgbClr val="4D4D4D"/>
                </a:solidFill>
                <a:latin typeface="等线"/>
              </a:rPr>
              <a:t>接下来用</a:t>
            </a:r>
            <a:r>
              <a:rPr lang="en-US" sz="2400" b="0" i="0" u="none" strike="noStrike">
                <a:solidFill>
                  <a:srgbClr val="4D4D4D"/>
                </a:solidFill>
                <a:latin typeface="Arial"/>
              </a:rPr>
              <a:t>dis ip rou</a:t>
            </a:r>
            <a:r>
              <a:rPr lang="en-US" sz="2400" b="0" i="0" u="none" strike="noStrike">
                <a:solidFill>
                  <a:srgbClr val="4D4D4D"/>
                </a:solidFill>
                <a:latin typeface="等线"/>
              </a:rPr>
              <a:t>查看</a:t>
            </a:r>
            <a:r>
              <a:rPr lang="en-US" sz="2400" b="0" i="0" u="none" strike="noStrike">
                <a:solidFill>
                  <a:srgbClr val="4D4D4D"/>
                </a:solidFill>
                <a:latin typeface="Arial"/>
              </a:rPr>
              <a:t>IP</a:t>
            </a:r>
            <a:r>
              <a:rPr lang="en-US" sz="2400" b="0" i="0" u="none" strike="noStrike">
                <a:solidFill>
                  <a:srgbClr val="4D4D4D"/>
                </a:solidFill>
                <a:latin typeface="等线"/>
              </a:rPr>
              <a:t>路由表中由</a:t>
            </a:r>
            <a:r>
              <a:rPr lang="en-US" sz="2400" b="0" i="0" u="none" strike="noStrike">
                <a:solidFill>
                  <a:srgbClr val="4D4D4D"/>
                </a:solidFill>
                <a:latin typeface="Arial"/>
              </a:rPr>
              <a:t>OSPF</a:t>
            </a:r>
            <a:r>
              <a:rPr lang="en-US" sz="2400" b="0" i="0" u="none" strike="noStrike">
                <a:solidFill>
                  <a:srgbClr val="4D4D4D"/>
                </a:solidFill>
                <a:latin typeface="等线"/>
              </a:rPr>
              <a:t>学习到的路由，可以发现</a:t>
            </a:r>
            <a:r>
              <a:rPr lang="en-US" sz="2400" b="0" i="0" u="none" strike="noStrike">
                <a:solidFill>
                  <a:srgbClr val="4D4D4D"/>
                </a:solidFill>
                <a:latin typeface="Arial"/>
              </a:rPr>
              <a:t>3.0</a:t>
            </a:r>
            <a:r>
              <a:rPr lang="en-US" sz="2400" b="0" i="0" u="none" strike="noStrike">
                <a:solidFill>
                  <a:srgbClr val="4D4D4D"/>
                </a:solidFill>
                <a:latin typeface="等线"/>
              </a:rPr>
              <a:t>和</a:t>
            </a:r>
            <a:r>
              <a:rPr lang="en-US" sz="2400" b="0" i="0" u="none" strike="noStrike">
                <a:solidFill>
                  <a:srgbClr val="4D4D4D"/>
                </a:solidFill>
                <a:latin typeface="Arial"/>
              </a:rPr>
              <a:t>4.0</a:t>
            </a:r>
            <a:r>
              <a:rPr lang="en-US" sz="2400" b="0" i="0" u="none" strike="noStrike">
                <a:solidFill>
                  <a:srgbClr val="4D4D4D"/>
                </a:solidFill>
                <a:latin typeface="等线"/>
              </a:rPr>
              <a:t>这两个网段已经被添加到路由表中了，协议这边为</a:t>
            </a:r>
            <a:r>
              <a:rPr lang="en-US" sz="2400" b="0" i="0" u="none" strike="noStrike">
                <a:solidFill>
                  <a:srgbClr val="4D4D4D"/>
                </a:solidFill>
                <a:latin typeface="Arial"/>
              </a:rPr>
              <a:t>OSPF</a:t>
            </a:r>
            <a:r>
              <a:rPr lang="en-US" sz="2400" b="0" i="0" u="none" strike="noStrike">
                <a:solidFill>
                  <a:srgbClr val="4D4D4D"/>
                </a:solidFill>
                <a:latin typeface="等线"/>
              </a:rPr>
              <a:t>，</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defRPr>
            </a:lvl1pPr>
          </a:lstStyle>
          <a:p>
            <a:pPr indent="0" algn="l">
              <a:lnSpc>
                <a:spcPct val="100000"/>
              </a:lnSpc>
            </a:pPr>
            <a:r>
              <a:rPr lang="en-US" sz="1600" b="0" i="0" u="none" strike="noStrike">
                <a:solidFill>
                  <a:srgbClr val="000000"/>
                </a:solidFill>
              </a:rPr>
              <a:t>如果路由命令输入错误，或者要删除</a:t>
            </a:r>
            <a:r>
              <a:rPr lang="en-US" sz="1600" b="0" i="0" u="none" strike="noStrike">
                <a:solidFill>
                  <a:srgbClr val="000000"/>
                </a:solidFill>
                <a:latin typeface="等线"/>
              </a:rPr>
              <a:t>OSPF</a:t>
            </a:r>
            <a:r>
              <a:rPr lang="en-US" sz="1600" b="0" i="0" u="none" strike="noStrike">
                <a:solidFill>
                  <a:srgbClr val="000000"/>
                </a:solidFill>
              </a:rPr>
              <a:t>配置，在输入命令前加</a:t>
            </a:r>
            <a:r>
              <a:rPr lang="en-US" sz="1600" b="0" i="0" u="none" strike="noStrike">
                <a:solidFill>
                  <a:srgbClr val="000000"/>
                </a:solidFill>
                <a:latin typeface="等线"/>
              </a:rPr>
              <a:t>undo</a:t>
            </a:r>
            <a:r>
              <a:rPr lang="en-US" sz="1600" b="0" i="0" u="none" strike="noStrike">
                <a:solidFill>
                  <a:srgbClr val="000000"/>
                </a:solidFill>
              </a:rPr>
              <a:t>，配置正确的话网络收敛，任意两点之间均可以</a:t>
            </a:r>
            <a:r>
              <a:rPr lang="en-US" sz="1600" b="0" i="0" u="none" strike="noStrike">
                <a:solidFill>
                  <a:srgbClr val="000000"/>
                </a:solidFill>
                <a:latin typeface="等线"/>
              </a:rPr>
              <a:t>ping</a:t>
            </a:r>
            <a:r>
              <a:rPr lang="en-US" sz="1600" b="0" i="0" u="none" strike="noStrike">
                <a:solidFill>
                  <a:srgbClr val="000000"/>
                </a:solidFill>
              </a:rPr>
              <a:t>通，大家可以</a:t>
            </a:r>
            <a:r>
              <a:rPr lang="en-US" sz="1600" b="0" i="0" u="none" strike="noStrike">
                <a:solidFill>
                  <a:srgbClr val="000000"/>
                </a:solidFill>
                <a:latin typeface="等线"/>
              </a:rPr>
              <a:t>ping</a:t>
            </a:r>
            <a:r>
              <a:rPr lang="en-US" sz="1600" b="0" i="0" u="none" strike="noStrike">
                <a:solidFill>
                  <a:srgbClr val="000000"/>
                </a:solidFill>
              </a:rPr>
              <a:t>一下，再</a:t>
            </a:r>
            <a:r>
              <a:rPr lang="en-US" sz="1600" b="0" i="0" u="none" strike="noStrike">
                <a:solidFill>
                  <a:srgbClr val="000000"/>
                </a:solidFill>
                <a:latin typeface="等线"/>
              </a:rPr>
              <a:t>traceRT</a:t>
            </a:r>
            <a:r>
              <a:rPr lang="en-US" sz="1600" b="0" i="0" u="none" strike="noStrike">
                <a:solidFill>
                  <a:srgbClr val="000000"/>
                </a:solidFill>
              </a:rPr>
              <a:t>一下，观察输出的指令去分析一下，这个就是</a:t>
            </a:r>
            <a:r>
              <a:rPr lang="en-US" sz="1600" b="0" i="0" u="none" strike="noStrike">
                <a:solidFill>
                  <a:srgbClr val="000000"/>
                </a:solidFill>
                <a:latin typeface="等线"/>
              </a:rPr>
              <a:t>ospf</a:t>
            </a:r>
            <a:r>
              <a:rPr lang="en-US" sz="1600" b="0" i="0" u="none" strike="noStrike">
                <a:solidFill>
                  <a:srgbClr val="000000"/>
                </a:solidFill>
              </a:rPr>
              <a:t>配置的过程，现在我跟大家演示一下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可能你在启动设备的时候出现无限#号的这种，这个情况我也出现了，因为我先做好了一个拓补图并且保存下来了，当我再新建一个拓补图然后再打开的时候就会启动不了这个设备，所以我也建议大家你配置好一个拓补图之后就保存下来，之后只用这一个拓补图，在我们之后做动态路由rip或者ospf的时候，只要删除一些不需要的东西就可以了，没必要新建一个再重新配置各种ip地址。还有就是大家可以关闭防火墙，如果不想关闭的话，就在防火墙设置一下允许这个程序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可能你在启动设备的时候出现无限#号的这种，这个情况我也出现了，因为我先做好了一个拓补图并且保存下来了，当我再新建一个拓补图然后再打开的时候就会启动不了这个设备，所以我也建议大家你配置好一个拓补图之后就保存下来，之后只用这一个拓补图，在我们之后做动态路由rip或者ospf的时候，只要删除一些不需要的东西就可以了，没必要新建一个再重新配置各种ip地址。还有就是大家可以关闭防火墙，如果不想关闭的话，就在防火墙设置一下允许这个程序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2032000" y="1496484"/>
            <a:ext cx="12192000" cy="3183467"/>
          </a:xfrm>
          <a:prstGeom prst="rect">
            <a:avLst/>
          </a:prstGeom>
          <a:noFill/>
          <a:ln w="12700">
            <a:noFill/>
            <a:prstDash val="solid"/>
          </a:ln>
        </p:spPr>
        <p:txBody>
          <a:bodyPr lIns="127000" tIns="63500" rIns="127000" bIns="63500" anchor="b">
            <a:noAutofit/>
          </a:bodyPr>
          <a:lstStyle>
            <a:lvl1pPr algn="ctr">
              <a:lnSpc>
                <a:spcPct val="91666"/>
              </a:lnSpc>
              <a:defRPr sz="8000" b="0" i="0" u="none" strike="noStrike" spc="0">
                <a:solidFill>
                  <a:srgbClr val="000000">
                    <a:alpha val="100000"/>
                  </a:srgbClr>
                </a:solidFill>
                <a:latin typeface="Noto Sans SC"/>
              </a:defRPr>
            </a:lvl1pPr>
          </a:lstStyle>
          <a:p>
            <a:pPr indent="0" algn="ctr">
              <a:lnSpc>
                <a:spcPct val="91666"/>
              </a:lnSpc>
            </a:pPr>
            <a:r>
              <a:rPr lang="en-US" sz="8000" b="0" i="0" u="none" strike="noStrike">
                <a:solidFill>
                  <a:srgbClr val="000000"/>
                </a:solidFill>
                <a:latin typeface="Noto Sans SC"/>
              </a:rPr>
              <a:t>单击此处编辑母版标题样式</a:t>
            </a:r>
          </a:p>
        </p:txBody>
      </p:sp>
      <p:sp>
        <p:nvSpPr>
          <p:cNvPr id="3" name="AutoShape 3"/>
          <p:cNvSpPr>
            <a:spLocks noGrp="1"/>
          </p:cNvSpPr>
          <p:nvPr>
            <p:ph type="body" sz="quarter" idx="7" hasCustomPrompt="1"/>
          </p:nvPr>
        </p:nvSpPr>
        <p:spPr>
          <a:xfrm>
            <a:off x="2032000" y="4802717"/>
            <a:ext cx="12192000" cy="2207683"/>
          </a:xfrm>
          <a:prstGeom prst="rect">
            <a:avLst/>
          </a:prstGeom>
          <a:noFill/>
          <a:ln w="12700">
            <a:noFill/>
            <a:prstDash val="solid"/>
          </a:ln>
        </p:spPr>
        <p:txBody>
          <a:bodyPr lIns="127000" tIns="63500" rIns="127000" bIns="63500" anchor="t">
            <a:noAutofit/>
          </a:bodyPr>
          <a:lstStyle>
            <a:lvl1pPr algn="ctr">
              <a:lnSpc>
                <a:spcPct val="91666"/>
              </a:lnSpc>
              <a:defRPr sz="3200" b="0" i="0" u="none" strike="noStrike" spc="0">
                <a:solidFill>
                  <a:srgbClr val="000000">
                    <a:alpha val="100000"/>
                  </a:srgbClr>
                </a:solidFill>
                <a:latin typeface="Noto Sans SC"/>
              </a:defRPr>
            </a:lvl1pPr>
          </a:lstStyle>
          <a:p>
            <a:pPr indent="0" algn="ctr">
              <a:lnSpc>
                <a:spcPct val="91666"/>
              </a:lnSpc>
            </a:pPr>
            <a:r>
              <a:rPr lang="en-US" sz="3200" b="0" i="0" u="none" strike="noStrike">
                <a:solidFill>
                  <a:srgbClr val="000000"/>
                </a:solidFill>
                <a:latin typeface="Noto Sans SC"/>
              </a:rPr>
              <a:t>单击此处编辑母版副标题样式</a:t>
            </a:r>
          </a:p>
        </p:txBody>
      </p:sp>
      <p:sp>
        <p:nvSpPr>
          <p:cNvPr id="4" name="AutoShape 4"/>
          <p:cNvSpPr>
            <a:spLocks noGrp="1"/>
          </p:cNvSpPr>
          <p:nvPr>
            <p:ph type="body" sz="quarter" idx="8"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9"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10"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12" hasCustomPrompt="1"/>
          </p:nvPr>
        </p:nvSpPr>
        <p:spPr>
          <a:xfrm>
            <a:off x="1117600" y="2434167"/>
            <a:ext cx="14020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13"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14"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15"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1109133" y="2279651"/>
            <a:ext cx="14020800" cy="3803649"/>
          </a:xfrm>
          <a:prstGeom prst="rect">
            <a:avLst/>
          </a:prstGeom>
          <a:noFill/>
          <a:ln w="12700">
            <a:noFill/>
            <a:prstDash val="solid"/>
          </a:ln>
        </p:spPr>
        <p:txBody>
          <a:bodyPr lIns="127000" tIns="63500" rIns="127000" bIns="63500" anchor="b">
            <a:noAutofit/>
          </a:bodyPr>
          <a:lstStyle>
            <a:lvl1pPr algn="l">
              <a:lnSpc>
                <a:spcPct val="91666"/>
              </a:lnSpc>
              <a:defRPr sz="8000" b="0" i="0" u="none" strike="noStrike" spc="0">
                <a:solidFill>
                  <a:srgbClr val="000000">
                    <a:alpha val="100000"/>
                  </a:srgbClr>
                </a:solidFill>
                <a:latin typeface="Noto Sans SC"/>
              </a:defRPr>
            </a:lvl1pPr>
          </a:lstStyle>
          <a:p>
            <a:pPr indent="0" algn="l">
              <a:lnSpc>
                <a:spcPct val="91666"/>
              </a:lnSpc>
            </a:pPr>
            <a:r>
              <a:rPr lang="en-US" sz="8000" b="0" i="0" u="none" strike="noStrike">
                <a:solidFill>
                  <a:srgbClr val="000000"/>
                </a:solidFill>
                <a:latin typeface="Noto Sans SC"/>
              </a:rPr>
              <a:t>单击此处编辑母版标题样式</a:t>
            </a:r>
          </a:p>
        </p:txBody>
      </p:sp>
      <p:sp>
        <p:nvSpPr>
          <p:cNvPr id="3" name="AutoShape 3"/>
          <p:cNvSpPr>
            <a:spLocks noGrp="1"/>
          </p:cNvSpPr>
          <p:nvPr>
            <p:ph type="body" sz="quarter" idx="17" hasCustomPrompt="1"/>
          </p:nvPr>
        </p:nvSpPr>
        <p:spPr>
          <a:xfrm>
            <a:off x="1109133" y="6119284"/>
            <a:ext cx="14020800" cy="2000249"/>
          </a:xfrm>
          <a:prstGeom prst="rect">
            <a:avLst/>
          </a:prstGeom>
          <a:noFill/>
          <a:ln w="12700">
            <a:noFill/>
            <a:prstDash val="solid"/>
          </a:ln>
        </p:spPr>
        <p:txBody>
          <a:bodyPr lIns="127000" tIns="63500" rIns="127000" bIns="63500" anchor="t">
            <a:noAutofit/>
          </a:bodyPr>
          <a:lstStyle>
            <a:lvl1pPr algn="l">
              <a:lnSpc>
                <a:spcPct val="91666"/>
              </a:lnSpc>
              <a:defRPr sz="3200" b="0" i="0" u="none" strike="noStrike" spc="0">
                <a:solidFill>
                  <a:srgbClr val="898989">
                    <a:alpha val="100000"/>
                  </a:srgbClr>
                </a:solidFill>
                <a:latin typeface="Noto Sans SC"/>
              </a:defRPr>
            </a:lvl1pPr>
          </a:lstStyle>
          <a:p>
            <a:pPr indent="0" algn="l">
              <a:lnSpc>
                <a:spcPct val="91666"/>
              </a:lnSpc>
            </a:pPr>
            <a:r>
              <a:rPr lang="en-US" sz="3200" b="0" i="0" u="none" strike="noStrike">
                <a:solidFill>
                  <a:srgbClr val="898989"/>
                </a:solidFill>
                <a:latin typeface="Noto Sans SC"/>
              </a:rPr>
              <a:t>单击此处编辑母版文本样式</a:t>
            </a:r>
          </a:p>
        </p:txBody>
      </p:sp>
      <p:sp>
        <p:nvSpPr>
          <p:cNvPr id="4" name="AutoShape 4"/>
          <p:cNvSpPr>
            <a:spLocks noGrp="1"/>
          </p:cNvSpPr>
          <p:nvPr>
            <p:ph type="body" sz="quarter" idx="18"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19"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20"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22" hasCustomPrompt="1"/>
          </p:nvPr>
        </p:nvSpPr>
        <p:spPr>
          <a:xfrm>
            <a:off x="1117600" y="2434167"/>
            <a:ext cx="6908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23" hasCustomPrompt="1"/>
          </p:nvPr>
        </p:nvSpPr>
        <p:spPr>
          <a:xfrm>
            <a:off x="8229600" y="2434167"/>
            <a:ext cx="6908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5" name="AutoShape 5"/>
          <p:cNvSpPr>
            <a:spLocks noGrp="1"/>
          </p:cNvSpPr>
          <p:nvPr>
            <p:ph type="body" sz="quarter" idx="24"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25"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26"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1119717"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28" hasCustomPrompt="1"/>
          </p:nvPr>
        </p:nvSpPr>
        <p:spPr>
          <a:xfrm>
            <a:off x="1119717" y="2241551"/>
            <a:ext cx="6877049" cy="1098549"/>
          </a:xfrm>
          <a:prstGeom prst="rect">
            <a:avLst/>
          </a:prstGeom>
          <a:noFill/>
          <a:ln w="12700">
            <a:noFill/>
            <a:prstDash val="solid"/>
          </a:ln>
        </p:spPr>
        <p:txBody>
          <a:bodyPr lIns="127000" tIns="63500" rIns="127000" bIns="63500" anchor="b">
            <a:noAutofit/>
          </a:bodyPr>
          <a:lstStyle>
            <a:lvl1pPr algn="l">
              <a:lnSpc>
                <a:spcPct val="91666"/>
              </a:lnSpc>
              <a:defRPr sz="3200" b="1" i="0" u="none" strike="noStrike" spc="0">
                <a:solidFill>
                  <a:srgbClr val="000000">
                    <a:alpha val="100000"/>
                  </a:srgbClr>
                </a:solidFill>
                <a:latin typeface="Noto Sans SC"/>
              </a:defRPr>
            </a:lvl1pPr>
          </a:lstStyle>
          <a:p>
            <a:pPr indent="0" algn="l">
              <a:lnSpc>
                <a:spcPct val="91666"/>
              </a:lnSpc>
            </a:pPr>
            <a:r>
              <a:rPr lang="en-US" sz="3200" b="1" i="0" u="none" strike="noStrike">
                <a:solidFill>
                  <a:srgbClr val="000000"/>
                </a:solidFill>
                <a:latin typeface="Noto Sans SC"/>
              </a:rPr>
              <a:t>单击此处编辑母版文本样式</a:t>
            </a:r>
          </a:p>
        </p:txBody>
      </p:sp>
      <p:sp>
        <p:nvSpPr>
          <p:cNvPr id="4" name="AutoShape 4"/>
          <p:cNvSpPr>
            <a:spLocks noGrp="1"/>
          </p:cNvSpPr>
          <p:nvPr>
            <p:ph type="body" sz="quarter" idx="29" hasCustomPrompt="1"/>
          </p:nvPr>
        </p:nvSpPr>
        <p:spPr>
          <a:xfrm>
            <a:off x="1119717" y="3340100"/>
            <a:ext cx="6877049" cy="4912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5" name="AutoShape 5"/>
          <p:cNvSpPr>
            <a:spLocks noGrp="1"/>
          </p:cNvSpPr>
          <p:nvPr>
            <p:ph type="body" sz="quarter" idx="30" hasCustomPrompt="1"/>
          </p:nvPr>
        </p:nvSpPr>
        <p:spPr>
          <a:xfrm>
            <a:off x="8229600" y="2241551"/>
            <a:ext cx="6910917" cy="1098549"/>
          </a:xfrm>
          <a:prstGeom prst="rect">
            <a:avLst/>
          </a:prstGeom>
          <a:noFill/>
          <a:ln w="12700">
            <a:noFill/>
            <a:prstDash val="solid"/>
          </a:ln>
        </p:spPr>
        <p:txBody>
          <a:bodyPr lIns="127000" tIns="63500" rIns="127000" bIns="63500" anchor="b">
            <a:noAutofit/>
          </a:bodyPr>
          <a:lstStyle>
            <a:lvl1pPr algn="l">
              <a:lnSpc>
                <a:spcPct val="91666"/>
              </a:lnSpc>
              <a:defRPr sz="3200" b="1" i="0" u="none" strike="noStrike" spc="0">
                <a:solidFill>
                  <a:srgbClr val="000000">
                    <a:alpha val="100000"/>
                  </a:srgbClr>
                </a:solidFill>
                <a:latin typeface="Noto Sans SC"/>
              </a:defRPr>
            </a:lvl1pPr>
          </a:lstStyle>
          <a:p>
            <a:pPr indent="0" algn="l">
              <a:lnSpc>
                <a:spcPct val="91666"/>
              </a:lnSpc>
            </a:pPr>
            <a:r>
              <a:rPr lang="en-US" sz="3200" b="1" i="0" u="none" strike="noStrike">
                <a:solidFill>
                  <a:srgbClr val="000000"/>
                </a:solidFill>
                <a:latin typeface="Noto Sans SC"/>
              </a:rPr>
              <a:t>单击此处编辑母版文本样式</a:t>
            </a:r>
          </a:p>
        </p:txBody>
      </p:sp>
      <p:sp>
        <p:nvSpPr>
          <p:cNvPr id="6" name="AutoShape 6"/>
          <p:cNvSpPr>
            <a:spLocks noGrp="1"/>
          </p:cNvSpPr>
          <p:nvPr>
            <p:ph type="body" sz="quarter" idx="31" hasCustomPrompt="1"/>
          </p:nvPr>
        </p:nvSpPr>
        <p:spPr>
          <a:xfrm>
            <a:off x="8229600" y="3340100"/>
            <a:ext cx="6910917" cy="4912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7" name="AutoShape 7"/>
          <p:cNvSpPr>
            <a:spLocks noGrp="1"/>
          </p:cNvSpPr>
          <p:nvPr>
            <p:ph type="body" sz="quarter" idx="32"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8" name="AutoShape 8"/>
          <p:cNvSpPr>
            <a:spLocks noGrp="1"/>
          </p:cNvSpPr>
          <p:nvPr>
            <p:ph type="body" sz="quarter" idx="33"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9" name="AutoShape 9"/>
          <p:cNvSpPr>
            <a:spLocks noGrp="1"/>
          </p:cNvSpPr>
          <p:nvPr>
            <p:ph type="body" sz="quarter" idx="34"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36"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4" name="AutoShape 4"/>
          <p:cNvSpPr>
            <a:spLocks noGrp="1"/>
          </p:cNvSpPr>
          <p:nvPr>
            <p:ph type="body" sz="quarter" idx="37"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5" name="AutoShape 5"/>
          <p:cNvSpPr>
            <a:spLocks noGrp="1"/>
          </p:cNvSpPr>
          <p:nvPr>
            <p:ph type="body" sz="quarter" idx="38"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3" name="AutoShape 3"/>
          <p:cNvSpPr>
            <a:spLocks noGrp="1"/>
          </p:cNvSpPr>
          <p:nvPr>
            <p:ph type="body" sz="quarter" idx="40"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4" name="AutoShape 4"/>
          <p:cNvSpPr>
            <a:spLocks noGrp="1"/>
          </p:cNvSpPr>
          <p:nvPr>
            <p:ph type="body" sz="quarter" idx="41"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1119717" y="609600"/>
            <a:ext cx="5242983" cy="2133600"/>
          </a:xfrm>
          <a:prstGeom prst="rect">
            <a:avLst/>
          </a:prstGeom>
          <a:noFill/>
          <a:ln w="12700">
            <a:noFill/>
            <a:prstDash val="solid"/>
          </a:ln>
        </p:spPr>
        <p:txBody>
          <a:bodyPr lIns="127000" tIns="63500" rIns="127000" bIns="63500" anchor="b">
            <a:noAutofit/>
          </a:bodyPr>
          <a:lstStyle>
            <a:lvl1pPr algn="l">
              <a:lnSpc>
                <a:spcPct val="91666"/>
              </a:lnSpc>
              <a:defRPr sz="4200" b="0" i="0" u="none" strike="noStrike" spc="0">
                <a:solidFill>
                  <a:srgbClr val="000000">
                    <a:alpha val="100000"/>
                  </a:srgbClr>
                </a:solidFill>
                <a:latin typeface="Noto Sans SC"/>
              </a:defRPr>
            </a:lvl1pPr>
          </a:lstStyle>
          <a:p>
            <a:pPr indent="0" algn="l">
              <a:lnSpc>
                <a:spcPct val="91666"/>
              </a:lnSpc>
            </a:pPr>
            <a:r>
              <a:rPr lang="en-US" sz="4200" b="0" i="0" u="none" strike="noStrike">
                <a:solidFill>
                  <a:srgbClr val="000000"/>
                </a:solidFill>
                <a:latin typeface="Noto Sans SC"/>
              </a:rPr>
              <a:t>单击此处编辑母版标题样式</a:t>
            </a:r>
          </a:p>
        </p:txBody>
      </p:sp>
      <p:sp>
        <p:nvSpPr>
          <p:cNvPr id="3" name="AutoShape 3"/>
          <p:cNvSpPr>
            <a:spLocks noGrp="1"/>
          </p:cNvSpPr>
          <p:nvPr>
            <p:ph type="body" sz="quarter" idx="43" hasCustomPrompt="1"/>
          </p:nvPr>
        </p:nvSpPr>
        <p:spPr>
          <a:xfrm>
            <a:off x="6910917" y="1316567"/>
            <a:ext cx="8229600" cy="6498167"/>
          </a:xfrm>
          <a:prstGeom prst="rect">
            <a:avLst/>
          </a:prstGeom>
          <a:noFill/>
          <a:ln w="12700">
            <a:noFill/>
            <a:prstDash val="solid"/>
          </a:ln>
        </p:spPr>
        <p:txBody>
          <a:bodyPr lIns="127000" tIns="63500" rIns="127000" bIns="63500" anchor="t">
            <a:noAutofit/>
          </a:bodyPr>
          <a:lstStyle>
            <a:lvl1pPr algn="l">
              <a:lnSpc>
                <a:spcPct val="91666"/>
              </a:lnSpc>
              <a:defRPr sz="4200" b="0" i="0" u="none" strike="noStrike" spc="0">
                <a:solidFill>
                  <a:srgbClr val="000000">
                    <a:alpha val="100000"/>
                  </a:srgbClr>
                </a:solidFill>
                <a:latin typeface="Noto Sans SC"/>
              </a:defRPr>
            </a:lvl1pPr>
          </a:lstStyle>
          <a:p>
            <a:pPr marL="0" lvl="0" indent="533400" algn="l">
              <a:lnSpc>
                <a:spcPct val="91666"/>
              </a:lnSpc>
              <a:buClr>
                <a:srgbClr val="000000"/>
              </a:buClr>
              <a:buChar char="•"/>
            </a:pPr>
            <a:r>
              <a:rPr lang="en-US" sz="4200" b="0" i="0" u="none" strike="noStrike">
                <a:solidFill>
                  <a:srgbClr val="000000"/>
                </a:solidFill>
                <a:latin typeface="Noto Sans SC"/>
              </a:rPr>
              <a:t>单击此处编辑母版文本样式</a:t>
            </a:r>
          </a:p>
          <a:p>
            <a:pPr marL="270000" lvl="1" indent="469900" algn="l">
              <a:lnSpc>
                <a:spcPct val="91666"/>
              </a:lnSpc>
              <a:buClr>
                <a:srgbClr val="000000"/>
              </a:buClr>
              <a:buChar char="•"/>
            </a:pPr>
            <a:r>
              <a:rPr lang="en-US" sz="3700" b="0" i="0" u="none" strike="noStrike">
                <a:solidFill>
                  <a:srgbClr val="000000"/>
                </a:solidFill>
                <a:latin typeface="Noto Sans SC"/>
              </a:rPr>
              <a:t>二级</a:t>
            </a:r>
          </a:p>
          <a:p>
            <a:pPr marL="540000" lvl="2" indent="406400" algn="l">
              <a:lnSpc>
                <a:spcPct val="91666"/>
              </a:lnSpc>
              <a:buClr>
                <a:srgbClr val="000000"/>
              </a:buClr>
              <a:buChar char="•"/>
            </a:pPr>
            <a:r>
              <a:rPr lang="en-US" sz="3200" b="0" i="0" u="none" strike="noStrike">
                <a:solidFill>
                  <a:srgbClr val="000000"/>
                </a:solidFill>
                <a:latin typeface="Noto Sans SC"/>
              </a:rPr>
              <a:t>三级</a:t>
            </a:r>
          </a:p>
          <a:p>
            <a:pPr marL="810000" lvl="3" indent="330200" algn="l">
              <a:lnSpc>
                <a:spcPct val="91666"/>
              </a:lnSpc>
              <a:buClr>
                <a:srgbClr val="000000"/>
              </a:buClr>
              <a:buChar char="•"/>
            </a:pPr>
            <a:r>
              <a:rPr lang="en-US" sz="2600" b="0" i="0" u="none" strike="noStrike">
                <a:solidFill>
                  <a:srgbClr val="000000"/>
                </a:solidFill>
                <a:latin typeface="Noto Sans SC"/>
              </a:rPr>
              <a:t>四级</a:t>
            </a:r>
          </a:p>
          <a:p>
            <a:pPr marL="1080000" lvl="4" indent="330200" algn="l">
              <a:lnSpc>
                <a:spcPct val="91666"/>
              </a:lnSpc>
              <a:buClr>
                <a:srgbClr val="000000"/>
              </a:buClr>
              <a:buChar char="•"/>
            </a:pPr>
            <a:r>
              <a:rPr lang="en-US" sz="2600" b="0" i="0" u="none" strike="noStrike">
                <a:solidFill>
                  <a:srgbClr val="000000"/>
                </a:solidFill>
                <a:latin typeface="Noto Sans SC"/>
              </a:rPr>
              <a:t>五级</a:t>
            </a:r>
          </a:p>
        </p:txBody>
      </p:sp>
      <p:sp>
        <p:nvSpPr>
          <p:cNvPr id="4" name="AutoShape 4"/>
          <p:cNvSpPr>
            <a:spLocks noGrp="1"/>
          </p:cNvSpPr>
          <p:nvPr>
            <p:ph type="body" sz="quarter" idx="44" hasCustomPrompt="1"/>
          </p:nvPr>
        </p:nvSpPr>
        <p:spPr>
          <a:xfrm>
            <a:off x="1119717" y="2743200"/>
            <a:ext cx="5242983" cy="5082117"/>
          </a:xfrm>
          <a:prstGeom prst="rect">
            <a:avLst/>
          </a:prstGeom>
          <a:noFill/>
          <a:ln w="12700">
            <a:noFill/>
            <a:prstDash val="solid"/>
          </a:ln>
        </p:spPr>
        <p:txBody>
          <a:bodyPr lIns="127000" tIns="63500" rIns="127000" bIns="63500" anchor="t">
            <a:noAutofit/>
          </a:bodyPr>
          <a:lstStyle>
            <a:lvl1pPr algn="l">
              <a:lnSpc>
                <a:spcPct val="91666"/>
              </a:lnSpc>
              <a:defRPr sz="2100" b="0" i="0" u="none" strike="noStrike" spc="0">
                <a:solidFill>
                  <a:srgbClr val="000000">
                    <a:alpha val="100000"/>
                  </a:srgbClr>
                </a:solidFill>
                <a:latin typeface="Noto Sans SC"/>
              </a:defRPr>
            </a:lvl1pPr>
          </a:lstStyle>
          <a:p>
            <a:pPr indent="0" algn="l">
              <a:lnSpc>
                <a:spcPct val="91666"/>
              </a:lnSpc>
            </a:pPr>
            <a:r>
              <a:rPr lang="en-US" sz="2100" b="0" i="0" u="none" strike="noStrike">
                <a:solidFill>
                  <a:srgbClr val="000000"/>
                </a:solidFill>
                <a:latin typeface="Noto Sans SC"/>
              </a:rPr>
              <a:t>单击此处编辑母版文本样式</a:t>
            </a:r>
          </a:p>
        </p:txBody>
      </p:sp>
      <p:sp>
        <p:nvSpPr>
          <p:cNvPr id="5" name="AutoShape 5"/>
          <p:cNvSpPr>
            <a:spLocks noGrp="1"/>
          </p:cNvSpPr>
          <p:nvPr>
            <p:ph type="body" sz="quarter" idx="45"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46"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47"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1119717" y="609600"/>
            <a:ext cx="5242983" cy="2133600"/>
          </a:xfrm>
          <a:prstGeom prst="rect">
            <a:avLst/>
          </a:prstGeom>
          <a:noFill/>
          <a:ln w="12700">
            <a:noFill/>
            <a:prstDash val="solid"/>
          </a:ln>
        </p:spPr>
        <p:txBody>
          <a:bodyPr lIns="127000" tIns="63500" rIns="127000" bIns="63500" anchor="b">
            <a:noAutofit/>
          </a:bodyPr>
          <a:lstStyle>
            <a:lvl1pPr algn="l">
              <a:lnSpc>
                <a:spcPct val="91666"/>
              </a:lnSpc>
              <a:defRPr sz="4200" b="0" i="0" u="none" strike="noStrike" spc="0">
                <a:solidFill>
                  <a:srgbClr val="000000">
                    <a:alpha val="100000"/>
                  </a:srgbClr>
                </a:solidFill>
                <a:latin typeface="Noto Sans SC"/>
              </a:defRPr>
            </a:lvl1pPr>
          </a:lstStyle>
          <a:p>
            <a:pPr indent="0" algn="l">
              <a:lnSpc>
                <a:spcPct val="91666"/>
              </a:lnSpc>
            </a:pPr>
            <a:r>
              <a:rPr lang="en-US" sz="4200" b="0" i="0" u="none" strike="noStrike">
                <a:solidFill>
                  <a:srgbClr val="000000"/>
                </a:solidFill>
                <a:latin typeface="Noto Sans SC"/>
              </a:rPr>
              <a:t>单击此处编辑母版标题样式</a:t>
            </a:r>
          </a:p>
        </p:txBody>
      </p:sp>
      <p:sp>
        <p:nvSpPr>
          <p:cNvPr id="3" name="AutoShape 3"/>
          <p:cNvSpPr>
            <a:spLocks noGrp="1"/>
          </p:cNvSpPr>
          <p:nvPr>
            <p:ph type="pic" sz="quarter" idx="49"/>
          </p:nvPr>
        </p:nvSpPr>
        <p:spPr>
          <a:xfrm>
            <a:off x="6910917" y="1316567"/>
            <a:ext cx="8229600" cy="6498167"/>
          </a:xfrm>
          <a:prstGeom prst="rect">
            <a:avLst/>
          </a:prstGeom>
          <a:noFill/>
          <a:ln w="12700">
            <a:noFill/>
            <a:prstDash val="solid"/>
          </a:ln>
        </p:spPr>
        <p:txBody>
          <a:bodyPr lIns="63500" tIns="63500" rIns="63500" bIns="63500" anchor="ctr">
            <a:noAutofit/>
          </a:bodyP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1119717" y="2743200"/>
            <a:ext cx="5242983" cy="5082117"/>
          </a:xfrm>
          <a:prstGeom prst="rect">
            <a:avLst/>
          </a:prstGeom>
          <a:noFill/>
          <a:ln w="12700">
            <a:noFill/>
            <a:prstDash val="solid"/>
          </a:ln>
        </p:spPr>
        <p:txBody>
          <a:bodyPr lIns="127000" tIns="63500" rIns="127000" bIns="63500" anchor="t">
            <a:noAutofit/>
          </a:bodyPr>
          <a:lstStyle>
            <a:lvl1pPr algn="l">
              <a:lnSpc>
                <a:spcPct val="91666"/>
              </a:lnSpc>
              <a:defRPr sz="2100" b="0" i="0" u="none" strike="noStrike" spc="0">
                <a:solidFill>
                  <a:srgbClr val="000000">
                    <a:alpha val="100000"/>
                  </a:srgbClr>
                </a:solidFill>
                <a:latin typeface="Noto Sans SC"/>
              </a:defRPr>
            </a:lvl1pPr>
          </a:lstStyle>
          <a:p>
            <a:pPr indent="0" algn="l">
              <a:lnSpc>
                <a:spcPct val="91666"/>
              </a:lnSpc>
            </a:pPr>
            <a:r>
              <a:rPr lang="en-US" sz="2100" b="0" i="0" u="none" strike="noStrike">
                <a:solidFill>
                  <a:srgbClr val="000000"/>
                </a:solidFill>
                <a:latin typeface="Noto Sans SC"/>
              </a:rPr>
              <a:t>单击此处编辑母版文本样式</a:t>
            </a:r>
          </a:p>
        </p:txBody>
      </p:sp>
      <p:sp>
        <p:nvSpPr>
          <p:cNvPr id="5" name="AutoShape 5"/>
          <p:cNvSpPr>
            <a:spLocks noGrp="1"/>
          </p:cNvSpPr>
          <p:nvPr>
            <p:ph type="body" sz="quarter" idx="51"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52"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53"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竖排文字">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55" hasCustomPrompt="1"/>
          </p:nvPr>
        </p:nvSpPr>
        <p:spPr>
          <a:xfrm>
            <a:off x="1117600" y="2434167"/>
            <a:ext cx="14020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56"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57"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58"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竖排标题与文本">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a:off x="11633200" y="486833"/>
            <a:ext cx="3505200" cy="77491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60" hasCustomPrompt="1"/>
          </p:nvPr>
        </p:nvSpPr>
        <p:spPr>
          <a:xfrm>
            <a:off x="1117600" y="486833"/>
            <a:ext cx="10312400" cy="7749117"/>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61"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62"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63"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仅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pic>
        <p:nvPicPr>
          <p:cNvPr id="2" name="Picture 1"/>
          <p:cNvPicPr>
            <a:picLocks noChangeAspect="1"/>
          </p:cNvPicPr>
          <p:nvPr/>
        </p:nvPicPr>
        <p:blipFill>
          <a:blip r:embed="rId13"/>
          <a:stretch>
            <a:fillRect/>
          </a:stretch>
        </p:blipFill>
        <p:spPr>
          <a:xfrm>
            <a:off x="12022667" y="6705600"/>
            <a:ext cx="3048000" cy="18288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14"/>
          <a:stretch>
            <a:fillRect/>
          </a:stretch>
        </p:blipFill>
        <p:spPr>
          <a:xfrm>
            <a:off x="12022667" y="6705600"/>
            <a:ext cx="3048000" cy="1828800"/>
          </a:xfrm>
          <a:prstGeom prst="rect">
            <a:avLst/>
          </a:prstGeom>
        </p:spPr>
      </p:pic>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3.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3.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3.xml"/><Relationship Id="rId4" Type="http://schemas.openxmlformats.org/officeDocument/2006/relationships/hyperlink" Target="mailto:2120240797@mail.nankai.edu.c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40491" b="5837"/>
          <a:stretch>
            <a:fillRect/>
          </a:stretch>
        </p:blipFill>
        <p:spPr>
          <a:xfrm>
            <a:off x="-4" y="0"/>
            <a:ext cx="16253887" cy="5596569"/>
          </a:xfrm>
          <a:prstGeom prst="rect">
            <a:avLst/>
          </a:prstGeom>
          <a:ln w="12700">
            <a:noFill/>
            <a:prstDash val="solid"/>
          </a:ln>
        </p:spPr>
      </p:pic>
      <p:sp>
        <p:nvSpPr>
          <p:cNvPr id="3" name="AutoShape 3"/>
          <p:cNvSpPr/>
          <p:nvPr/>
        </p:nvSpPr>
        <p:spPr>
          <a:xfrm rot="5400000">
            <a:off x="5329717" y="-5329715"/>
            <a:ext cx="5596567" cy="16256000"/>
          </a:xfrm>
          <a:prstGeom prst="rect">
            <a:avLst/>
          </a:prstGeom>
          <a:solidFill>
            <a:srgbClr val="68174B">
              <a:alpha val="65000"/>
            </a:srgbClr>
          </a:solidFill>
          <a:ln w="12700" cap="flat">
            <a:noFill/>
            <a:prstDash val="solid"/>
          </a:ln>
        </p:spPr>
        <p:txBody>
          <a:bodyPr lIns="127000" tIns="63500" rIns="127000" bIns="63500" rtlCol="0" anchor="ctr">
            <a:noAutofit/>
          </a:bodyPr>
          <a:lstStyle/>
          <a:p>
            <a:pPr algn="ctr">
              <a:defRPr/>
            </a:pPr>
            <a:endParaRPr/>
          </a:p>
        </p:txBody>
      </p:sp>
      <p:sp>
        <p:nvSpPr>
          <p:cNvPr id="4" name="AutoShape 4"/>
          <p:cNvSpPr/>
          <p:nvPr/>
        </p:nvSpPr>
        <p:spPr>
          <a:xfrm>
            <a:off x="2235200" y="6197600"/>
            <a:ext cx="14501715" cy="2092880"/>
          </a:xfrm>
          <a:prstGeom prst="rect">
            <a:avLst/>
          </a:prstGeom>
          <a:noFill/>
          <a:ln w="12700">
            <a:noFill/>
            <a:prstDash val="solid"/>
          </a:ln>
        </p:spPr>
        <p:txBody>
          <a:bodyPr lIns="127000" tIns="63500" rIns="127000" bIns="63500" rtlCol="0" anchor="t">
            <a:noAutofit/>
          </a:bodyPr>
          <a:lstStyle/>
          <a:p>
            <a:pPr indent="0" algn="l">
              <a:lnSpc>
                <a:spcPct val="100000"/>
              </a:lnSpc>
              <a:defRPr/>
            </a:pPr>
            <a:endParaRPr lang="en-US" sz="1100" dirty="0"/>
          </a:p>
          <a:p>
            <a:pPr indent="0" algn="l">
              <a:lnSpc>
                <a:spcPct val="100000"/>
              </a:lnSpc>
            </a:pPr>
            <a:r>
              <a:rPr lang="en-US" sz="3200" b="1" i="0" u="none" strike="noStrike" spc="400" dirty="0" err="1">
                <a:solidFill>
                  <a:srgbClr val="68174B"/>
                </a:solidFill>
                <a:latin typeface="Noto Sans SC"/>
              </a:rPr>
              <a:t>授课助教</a:t>
            </a:r>
            <a:r>
              <a:rPr lang="en-US" sz="3200" b="1" i="0" u="none" strike="noStrike" spc="400" dirty="0">
                <a:solidFill>
                  <a:srgbClr val="68174B"/>
                </a:solidFill>
                <a:latin typeface="Noto Sans SC"/>
              </a:rPr>
              <a:t>： </a:t>
            </a:r>
            <a:r>
              <a:rPr lang="zh-CN" altLang="en-US" sz="3200" b="1" i="0" u="none" strike="noStrike" spc="400" dirty="0">
                <a:solidFill>
                  <a:srgbClr val="68174B"/>
                </a:solidFill>
                <a:latin typeface="Noto Sans SC"/>
              </a:rPr>
              <a:t>黄泽舜</a:t>
            </a:r>
            <a:r>
              <a:rPr lang="en-US" sz="3200" b="1" i="0" u="none" strike="noStrike" spc="400" dirty="0">
                <a:solidFill>
                  <a:srgbClr val="68174B"/>
                </a:solidFill>
                <a:latin typeface="Noto Sans SC"/>
              </a:rPr>
              <a:t> </a:t>
            </a:r>
            <a:r>
              <a:rPr lang="en-US" sz="3200" b="1" i="0" u="none" strike="noStrike" spc="400" dirty="0" err="1">
                <a:solidFill>
                  <a:srgbClr val="68174B"/>
                </a:solidFill>
                <a:latin typeface="等线"/>
              </a:rPr>
              <a:t>2213900@</a:t>
            </a:r>
            <a:r>
              <a:rPr lang="en-US" altLang="zh-CN" sz="3200" b="1" i="0" u="none" strike="noStrike" spc="400" dirty="0" err="1">
                <a:solidFill>
                  <a:srgbClr val="68174B"/>
                </a:solidFill>
                <a:latin typeface="等线"/>
              </a:rPr>
              <a:t>mail</a:t>
            </a:r>
            <a:r>
              <a:rPr lang="en-US" altLang="zh-CN" sz="3200" b="1" spc="400" dirty="0" err="1">
                <a:solidFill>
                  <a:srgbClr val="68174B"/>
                </a:solidFill>
                <a:latin typeface="等线"/>
              </a:rPr>
              <a:t>.nankai.edu.cn</a:t>
            </a:r>
            <a:r>
              <a:rPr lang="en-US" sz="3200" b="1" i="0" u="none" strike="noStrike" spc="400" dirty="0">
                <a:solidFill>
                  <a:srgbClr val="68174B"/>
                </a:solidFill>
                <a:latin typeface="等线"/>
              </a:rPr>
              <a:t>   </a:t>
            </a:r>
          </a:p>
          <a:p>
            <a:pPr indent="0" algn="l">
              <a:lnSpc>
                <a:spcPct val="100000"/>
              </a:lnSpc>
            </a:pPr>
            <a:r>
              <a:rPr lang="en-US" sz="3200" b="1" i="0" u="none" strike="noStrike" spc="400" dirty="0">
                <a:solidFill>
                  <a:srgbClr val="68174B"/>
                </a:solidFill>
                <a:latin typeface="等线"/>
              </a:rPr>
              <a:t>               </a:t>
            </a:r>
            <a:r>
              <a:rPr lang="zh-CN" altLang="en-US" sz="3200" b="1" spc="400" dirty="0">
                <a:solidFill>
                  <a:srgbClr val="68174B"/>
                </a:solidFill>
                <a:latin typeface="等线"/>
              </a:rPr>
              <a:t>左一珉</a:t>
            </a:r>
            <a:r>
              <a:rPr lang="zh-CN" altLang="en-US" sz="3200" b="1" i="0" u="none" strike="noStrike" spc="400" dirty="0">
                <a:solidFill>
                  <a:srgbClr val="68174B"/>
                </a:solidFill>
                <a:latin typeface="等线"/>
              </a:rPr>
              <a:t> </a:t>
            </a:r>
            <a:r>
              <a:rPr lang="en-US" altLang="zh-CN" sz="3200" b="1" i="0" u="none" strike="noStrike" spc="400" dirty="0" err="1">
                <a:solidFill>
                  <a:srgbClr val="68174B"/>
                </a:solidFill>
                <a:latin typeface="等线"/>
              </a:rPr>
              <a:t>2213023@mail.Nankai.edu.cn</a:t>
            </a:r>
            <a:endParaRPr lang="en-US" sz="3200" b="1" i="0" u="none" strike="noStrike" spc="400" dirty="0">
              <a:solidFill>
                <a:srgbClr val="68174B"/>
              </a:solidFill>
              <a:latin typeface="等线"/>
            </a:endParaRPr>
          </a:p>
          <a:p>
            <a:pPr indent="0" algn="l">
              <a:lnSpc>
                <a:spcPct val="100000"/>
              </a:lnSpc>
            </a:pPr>
            <a:r>
              <a:rPr lang="en-US" sz="2400" b="0" i="0" u="none" strike="noStrike" dirty="0">
                <a:solidFill>
                  <a:srgbClr val="000000"/>
                </a:solidFill>
                <a:latin typeface="等线"/>
              </a:rPr>
              <a:t> </a:t>
            </a:r>
          </a:p>
        </p:txBody>
      </p:sp>
      <p:grpSp>
        <p:nvGrpSpPr>
          <p:cNvPr id="5" name="Group 5"/>
          <p:cNvGrpSpPr/>
          <p:nvPr/>
        </p:nvGrpSpPr>
        <p:grpSpPr>
          <a:xfrm>
            <a:off x="4615924" y="2069883"/>
            <a:ext cx="6914715" cy="1730734"/>
            <a:chOff x="4615924" y="2069883"/>
            <a:chExt cx="6914715" cy="1730734"/>
          </a:xfrm>
        </p:grpSpPr>
        <p:sp>
          <p:nvSpPr>
            <p:cNvPr id="6" name="AutoShape 6"/>
            <p:cNvSpPr/>
            <p:nvPr/>
          </p:nvSpPr>
          <p:spPr>
            <a:xfrm>
              <a:off x="4868131" y="3328693"/>
              <a:ext cx="6410301" cy="471924"/>
            </a:xfrm>
            <a:prstGeom prst="rect">
              <a:avLst/>
            </a:prstGeom>
            <a:noFill/>
            <a:ln w="12700">
              <a:noFill/>
              <a:prstDash val="solid"/>
            </a:ln>
          </p:spPr>
          <p:txBody>
            <a:bodyPr lIns="127000" tIns="63500" rIns="127000" bIns="63500" rtlCol="0" anchor="t">
              <a:noAutofit/>
            </a:bodyPr>
            <a:lstStyle/>
            <a:p>
              <a:pPr indent="0" algn="ctr">
                <a:lnSpc>
                  <a:spcPct val="100000"/>
                </a:lnSpc>
                <a:defRPr/>
              </a:pPr>
              <a:r>
                <a:rPr lang="en-US" sz="2200" b="0" i="0" u="none" strike="noStrike">
                  <a:solidFill>
                    <a:srgbClr val="FFFFFF"/>
                  </a:solidFill>
                  <a:latin typeface="Times New Roman"/>
                </a:rPr>
                <a:t>——Experiment Course of Computer Networks——</a:t>
              </a:r>
              <a:endParaRPr lang="en-US" sz="1100"/>
            </a:p>
          </p:txBody>
        </p:sp>
        <p:sp>
          <p:nvSpPr>
            <p:cNvPr id="7" name="AutoShape 7"/>
            <p:cNvSpPr/>
            <p:nvPr/>
          </p:nvSpPr>
          <p:spPr>
            <a:xfrm>
              <a:off x="4615924" y="2069883"/>
              <a:ext cx="6914715" cy="1025921"/>
            </a:xfrm>
            <a:prstGeom prst="rect">
              <a:avLst/>
            </a:prstGeom>
            <a:noFill/>
            <a:ln w="12700">
              <a:noFill/>
              <a:prstDash val="solid"/>
            </a:ln>
          </p:spPr>
          <p:txBody>
            <a:bodyPr lIns="127000" tIns="63500" rIns="127000" bIns="63500" rtlCol="0" anchor="t">
              <a:noAutofit/>
            </a:bodyPr>
            <a:lstStyle/>
            <a:p>
              <a:pPr indent="0" algn="ctr">
                <a:lnSpc>
                  <a:spcPct val="100000"/>
                </a:lnSpc>
                <a:defRPr/>
              </a:pPr>
              <a:r>
                <a:rPr lang="en-US" sz="5800" b="1" i="0" u="none" strike="noStrike" spc="400" dirty="0" err="1">
                  <a:solidFill>
                    <a:srgbClr val="FFFFFF"/>
                  </a:solidFill>
                  <a:latin typeface="Noto Sans SC"/>
                </a:rPr>
                <a:t>计算机网络实验课</a:t>
              </a:r>
              <a:r>
                <a:rPr lang="en-US" sz="5800" b="1" i="0" u="none" strike="noStrike" spc="400" dirty="0">
                  <a:solidFill>
                    <a:srgbClr val="FFFFFF"/>
                  </a:solidFill>
                  <a:latin typeface="Noto Sans SC"/>
                </a:rPr>
                <a:t> </a:t>
              </a:r>
              <a:endParaRPr lang="en-US" sz="1100"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84599" y="1735584"/>
            <a:ext cx="2960736" cy="779700"/>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4200" b="1" i="0" u="none" strike="noStrike">
                <a:solidFill>
                  <a:srgbClr val="68174B"/>
                </a:solidFill>
                <a:latin typeface="微软雅黑"/>
              </a:rPr>
              <a:t>实验目标：</a:t>
            </a:r>
            <a:endParaRPr lang="en-US" sz="1100"/>
          </a:p>
        </p:txBody>
      </p:sp>
      <p:sp>
        <p:nvSpPr>
          <p:cNvPr id="4" name="AutoShape 4"/>
          <p:cNvSpPr/>
          <p:nvPr/>
        </p:nvSpPr>
        <p:spPr>
          <a:xfrm>
            <a:off x="3520972" y="1735584"/>
            <a:ext cx="11738692" cy="1281719"/>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600" b="0" i="0" u="none" strike="noStrike">
                <a:solidFill>
                  <a:srgbClr val="000000"/>
                </a:solidFill>
                <a:latin typeface="微软雅黑"/>
              </a:rPr>
              <a:t>掌握静态路由、动态路由 RIP 和 OSPF 协议的配置，并理解分析静态与动态路由的区别，两种动态路由协议各自的适用环境，理解网络收敛的概念。</a:t>
            </a:r>
            <a:endParaRPr lang="en-US" sz="1100"/>
          </a:p>
        </p:txBody>
      </p:sp>
      <p:sp>
        <p:nvSpPr>
          <p:cNvPr id="5" name="AutoShape 5"/>
          <p:cNvSpPr/>
          <p:nvPr/>
        </p:nvSpPr>
        <p:spPr>
          <a:xfrm>
            <a:off x="784599" y="3437584"/>
            <a:ext cx="14340116" cy="3220711"/>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3200" b="1" i="0" u="none" strike="noStrike">
                <a:solidFill>
                  <a:srgbClr val="68174B"/>
                </a:solidFill>
                <a:latin typeface="微软雅黑"/>
              </a:rPr>
              <a:t>eNSP</a:t>
            </a:r>
            <a:r>
              <a:rPr lang="en-US" sz="2400" b="1" i="0" u="none" strike="noStrike">
                <a:solidFill>
                  <a:srgbClr val="68174B"/>
                </a:solidFill>
                <a:latin typeface="微软雅黑"/>
              </a:rPr>
              <a:t>：</a:t>
            </a:r>
            <a:endParaRPr lang="en-US" sz="1100"/>
          </a:p>
          <a:p>
            <a:pPr indent="0" algn="l">
              <a:lnSpc>
                <a:spcPct val="100000"/>
              </a:lnSpc>
            </a:pPr>
            <a:endParaRPr lang="en-US" sz="1100"/>
          </a:p>
          <a:p>
            <a:pPr indent="0" algn="l">
              <a:lnSpc>
                <a:spcPct val="150000"/>
              </a:lnSpc>
            </a:pPr>
            <a:r>
              <a:rPr lang="en-US" sz="2600" b="0" i="0" u="none" strike="noStrike">
                <a:solidFill>
                  <a:srgbClr val="000000"/>
                </a:solidFill>
                <a:latin typeface="微软雅黑"/>
              </a:rPr>
              <a:t>Enterprise Network Simulation Platform，是一款由华为提供的，免费并且可扩展的图形化网络设备仿真平台，主要对企业网路由器、交换机、WLAN等设备进行软件仿真，完美呈现真实设备部署实景，支持大型网络模拟，允许用户有机会在没有真实设备的情况下也能够开展实验测试，学习网络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sp>
        <p:nvSpPr>
          <p:cNvPr id="3" name="AutoShape 3"/>
          <p:cNvSpPr/>
          <p:nvPr/>
        </p:nvSpPr>
        <p:spPr>
          <a:xfrm>
            <a:off x="806433" y="1131965"/>
            <a:ext cx="13678263" cy="1436291"/>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3200" b="1" i="0" u="none" strike="noStrike">
                <a:solidFill>
                  <a:srgbClr val="68174B"/>
                </a:solidFill>
                <a:latin typeface="微软雅黑"/>
              </a:rPr>
              <a:t>软件依赖</a:t>
            </a:r>
            <a:endParaRPr lang="en-US" sz="1100"/>
          </a:p>
          <a:p>
            <a:pPr indent="0" algn="l">
              <a:lnSpc>
                <a:spcPct val="100000"/>
              </a:lnSpc>
            </a:pPr>
            <a:endParaRPr lang="en-US" sz="1100"/>
          </a:p>
          <a:p>
            <a:pPr indent="0" algn="l">
              <a:lnSpc>
                <a:spcPct val="100000"/>
              </a:lnSpc>
            </a:pPr>
            <a:r>
              <a:rPr lang="en-US" sz="2600" b="0" i="0" u="none" strike="noStrike">
                <a:solidFill>
                  <a:srgbClr val="000000"/>
                </a:solidFill>
                <a:latin typeface="微软雅黑"/>
              </a:rPr>
              <a:t>eNSP的正常使用依赖于WinPcap、Wireshark和VirtualBox三款软件，支持的版本如下：</a:t>
            </a:r>
          </a:p>
        </p:txBody>
      </p:sp>
      <p:pic>
        <p:nvPicPr>
          <p:cNvPr id="4" name="Picture 4"/>
          <p:cNvPicPr>
            <a:picLocks noChangeAspect="1"/>
          </p:cNvPicPr>
          <p:nvPr/>
        </p:nvPicPr>
        <p:blipFill>
          <a:blip r:embed="rId3"/>
          <a:srcRect/>
          <a:stretch>
            <a:fillRect/>
          </a:stretch>
        </p:blipFill>
        <p:spPr>
          <a:xfrm>
            <a:off x="5139129" y="2893888"/>
            <a:ext cx="4729463" cy="2978927"/>
          </a:xfrm>
          <a:prstGeom prst="rect">
            <a:avLst/>
          </a:prstGeom>
          <a:ln w="12700">
            <a:noFill/>
            <a:prstDash val="solid"/>
          </a:ln>
        </p:spPr>
      </p:pic>
      <p:sp>
        <p:nvSpPr>
          <p:cNvPr id="5" name="AutoShape 5"/>
          <p:cNvSpPr/>
          <p:nvPr/>
        </p:nvSpPr>
        <p:spPr>
          <a:xfrm>
            <a:off x="865844" y="6385196"/>
            <a:ext cx="14732049" cy="1227431"/>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600" b="1" i="0" u="none" strike="noStrike">
                <a:solidFill>
                  <a:srgbClr val="68174B"/>
                </a:solidFill>
                <a:latin typeface="微软雅黑"/>
              </a:rPr>
              <a:t>安装注意事项</a:t>
            </a:r>
            <a:r>
              <a:rPr lang="en-US" sz="2400" b="0" i="0" u="none" strike="noStrike">
                <a:solidFill>
                  <a:srgbClr val="000000"/>
                </a:solidFill>
                <a:latin typeface="微软雅黑"/>
              </a:rPr>
              <a:t>：先装 3 款基础软件后再安装华为 eNSP，所有安装都建议默认安装，最好不要更改安装盘，更不要设置中文安装目录，否则可能使用时会出现问题，最终只能重装。</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pic>
        <p:nvPicPr>
          <p:cNvPr id="3" name="Picture 3"/>
          <p:cNvPicPr>
            <a:picLocks noChangeAspect="1"/>
          </p:cNvPicPr>
          <p:nvPr/>
        </p:nvPicPr>
        <p:blipFill>
          <a:blip r:embed="rId3"/>
          <a:srcRect/>
          <a:stretch>
            <a:fillRect/>
          </a:stretch>
        </p:blipFill>
        <p:spPr>
          <a:xfrm>
            <a:off x="1759299" y="941459"/>
            <a:ext cx="12583064" cy="8027995"/>
          </a:xfrm>
          <a:prstGeom prst="rect">
            <a:avLst/>
          </a:prstGeom>
          <a:ln w="12700">
            <a:noFill/>
            <a:prstDash val="solid"/>
          </a:ln>
        </p:spPr>
      </p:pic>
      <p:sp>
        <p:nvSpPr>
          <p:cNvPr id="4" name="AutoShape 4"/>
          <p:cNvSpPr/>
          <p:nvPr/>
        </p:nvSpPr>
        <p:spPr>
          <a:xfrm>
            <a:off x="3992835" y="1972117"/>
            <a:ext cx="4934856" cy="1111587"/>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1" i="0" u="none" strike="noStrike">
                <a:solidFill>
                  <a:srgbClr val="68174B"/>
                </a:solidFill>
                <a:latin typeface="微软雅黑"/>
              </a:rPr>
              <a:t>设备类别区</a:t>
            </a:r>
            <a:endParaRPr lang="en-US" sz="1100"/>
          </a:p>
          <a:p>
            <a:pPr indent="0" algn="l">
              <a:lnSpc>
                <a:spcPct val="150000"/>
              </a:lnSpc>
            </a:pPr>
            <a:r>
              <a:rPr lang="en-US" sz="2100" b="0" i="0" u="none" strike="noStrike">
                <a:solidFill>
                  <a:srgbClr val="000000"/>
                </a:solidFill>
                <a:latin typeface="微软雅黑"/>
              </a:rPr>
              <a:t>提供eNSP支持的设备类别和连线。</a:t>
            </a:r>
          </a:p>
        </p:txBody>
      </p:sp>
      <p:pic>
        <p:nvPicPr>
          <p:cNvPr id="5" name="Picture 5"/>
          <p:cNvPicPr>
            <a:picLocks noChangeAspect="1"/>
          </p:cNvPicPr>
          <p:nvPr/>
        </p:nvPicPr>
        <p:blipFill>
          <a:blip r:embed="rId4"/>
          <a:srcRect/>
          <a:stretch>
            <a:fillRect/>
          </a:stretch>
        </p:blipFill>
        <p:spPr>
          <a:xfrm>
            <a:off x="9845371" y="2209228"/>
            <a:ext cx="4031768" cy="5199532"/>
          </a:xfrm>
          <a:prstGeom prst="rect">
            <a:avLst/>
          </a:prstGeom>
          <a:ln w="12700">
            <a:noFill/>
            <a:prstDash val="solid"/>
          </a:ln>
        </p:spPr>
      </p:pic>
      <p:sp>
        <p:nvSpPr>
          <p:cNvPr id="6" name="AutoShape 6"/>
          <p:cNvSpPr/>
          <p:nvPr/>
        </p:nvSpPr>
        <p:spPr>
          <a:xfrm>
            <a:off x="3911740" y="4253201"/>
            <a:ext cx="5660945" cy="1111587"/>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1" i="0" u="none" strike="noStrike">
                <a:solidFill>
                  <a:srgbClr val="68174B"/>
                </a:solidFill>
                <a:latin typeface="微软雅黑"/>
              </a:rPr>
              <a:t>设备型号区</a:t>
            </a:r>
            <a:endParaRPr lang="en-US" sz="1100"/>
          </a:p>
          <a:p>
            <a:pPr indent="0" algn="l">
              <a:lnSpc>
                <a:spcPct val="150000"/>
              </a:lnSpc>
            </a:pPr>
            <a:r>
              <a:rPr lang="en-US" sz="2100" b="0" i="0" u="none" strike="noStrike">
                <a:solidFill>
                  <a:srgbClr val="000000"/>
                </a:solidFill>
                <a:latin typeface="微软雅黑"/>
              </a:rPr>
              <a:t>提供设备和网线具体型号，供选择到工作区。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sp>
        <p:nvSpPr>
          <p:cNvPr id="3" name="AutoShape 3"/>
          <p:cNvSpPr/>
          <p:nvPr/>
        </p:nvSpPr>
        <p:spPr>
          <a:xfrm>
            <a:off x="612408" y="1027571"/>
            <a:ext cx="14679844" cy="2020383"/>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命令行接口</a:t>
            </a:r>
            <a:endParaRPr lang="en-US" sz="1100"/>
          </a:p>
          <a:p>
            <a:pPr indent="0" algn="l">
              <a:lnSpc>
                <a:spcPct val="150000"/>
              </a:lnSpc>
            </a:pPr>
            <a:r>
              <a:rPr lang="en-US" sz="2600" b="0" i="0" u="none" strike="noStrike">
                <a:solidFill>
                  <a:srgbClr val="000000"/>
                </a:solidFill>
                <a:latin typeface="微软雅黑"/>
              </a:rPr>
              <a:t>用户与交换机/路由器进行交互的常用工具。通过命令行接口输入命令，可以进行配置和管理。</a:t>
            </a:r>
          </a:p>
          <a:p>
            <a:pPr indent="0" algn="l">
              <a:lnSpc>
                <a:spcPct val="150000"/>
              </a:lnSpc>
            </a:pPr>
            <a:r>
              <a:rPr lang="en-US" sz="2600" b="0" i="0" u="none" strike="noStrike">
                <a:solidFill>
                  <a:srgbClr val="000000"/>
                </a:solidFill>
                <a:latin typeface="微软雅黑"/>
              </a:rPr>
              <a:t>双击设备即可进入。</a:t>
            </a:r>
          </a:p>
        </p:txBody>
      </p:sp>
      <p:sp>
        <p:nvSpPr>
          <p:cNvPr id="4" name="AutoShape 4"/>
          <p:cNvSpPr/>
          <p:nvPr/>
        </p:nvSpPr>
        <p:spPr>
          <a:xfrm>
            <a:off x="612408" y="3047953"/>
            <a:ext cx="14679844" cy="2020383"/>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命令视图</a:t>
            </a:r>
            <a:endParaRPr lang="en-US" sz="1100"/>
          </a:p>
          <a:p>
            <a:pPr indent="0" algn="l">
              <a:lnSpc>
                <a:spcPct val="150000"/>
              </a:lnSpc>
            </a:pPr>
            <a:r>
              <a:rPr lang="en-US" sz="2600" b="0" i="0" u="none" strike="noStrike">
                <a:solidFill>
                  <a:srgbClr val="000000"/>
                </a:solidFill>
                <a:latin typeface="微软雅黑"/>
              </a:rPr>
              <a:t>执行命令行的界面环境。系统的所有命令都注册在命令视图下，只有在相应的视图下才能执行该视图下的命令。</a:t>
            </a:r>
          </a:p>
        </p:txBody>
      </p:sp>
      <p:pic>
        <p:nvPicPr>
          <p:cNvPr id="5" name="Picture 5"/>
          <p:cNvPicPr>
            <a:picLocks noChangeAspect="1"/>
          </p:cNvPicPr>
          <p:nvPr/>
        </p:nvPicPr>
        <p:blipFill>
          <a:blip r:embed="rId3"/>
          <a:srcRect/>
          <a:stretch>
            <a:fillRect/>
          </a:stretch>
        </p:blipFill>
        <p:spPr>
          <a:xfrm>
            <a:off x="4460497" y="5163859"/>
            <a:ext cx="6983663" cy="3849720"/>
          </a:xfrm>
          <a:prstGeom prst="rect">
            <a:avLst/>
          </a:prstGeom>
          <a:ln w="12700">
            <a:noFill/>
            <a:prstDash val="soli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实验3：常用命令</a:t>
            </a:r>
            <a:endParaRPr lang="en-US" sz="1100"/>
          </a:p>
        </p:txBody>
      </p:sp>
      <p:pic>
        <p:nvPicPr>
          <p:cNvPr id="3" name="Picture 3"/>
          <p:cNvPicPr>
            <a:picLocks noChangeAspect="1"/>
          </p:cNvPicPr>
          <p:nvPr/>
        </p:nvPicPr>
        <p:blipFill>
          <a:blip r:embed="rId3"/>
          <a:srcRect/>
          <a:stretch>
            <a:fillRect/>
          </a:stretch>
        </p:blipFill>
        <p:spPr>
          <a:xfrm>
            <a:off x="-64141" y="824325"/>
            <a:ext cx="10226763" cy="8319675"/>
          </a:xfrm>
          <a:prstGeom prst="rect">
            <a:avLst/>
          </a:prstGeom>
          <a:ln w="12700">
            <a:noFill/>
            <a:prstDash val="solid"/>
          </a:ln>
        </p:spPr>
      </p:pic>
      <p:sp>
        <p:nvSpPr>
          <p:cNvPr id="4" name="AutoShape 4"/>
          <p:cNvSpPr/>
          <p:nvPr/>
        </p:nvSpPr>
        <p:spPr>
          <a:xfrm>
            <a:off x="10052500" y="1014688"/>
            <a:ext cx="5474601" cy="779700"/>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命令行提示符“Quidway”是缺省的主机名（sysname）。</a:t>
            </a:r>
            <a:endParaRPr lang="en-US" sz="1100"/>
          </a:p>
        </p:txBody>
      </p:sp>
      <p:sp>
        <p:nvSpPr>
          <p:cNvPr id="5" name="AutoShape 5"/>
          <p:cNvSpPr/>
          <p:nvPr/>
        </p:nvSpPr>
        <p:spPr>
          <a:xfrm>
            <a:off x="9958111" y="2248995"/>
            <a:ext cx="8162832"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使用 sysname 命令可以进行命名。</a:t>
            </a:r>
            <a:endParaRPr lang="en-US" sz="1100"/>
          </a:p>
        </p:txBody>
      </p:sp>
      <p:pic>
        <p:nvPicPr>
          <p:cNvPr id="6" name="Picture 6"/>
          <p:cNvPicPr>
            <a:picLocks noChangeAspect="1"/>
          </p:cNvPicPr>
          <p:nvPr/>
        </p:nvPicPr>
        <p:blipFill>
          <a:blip r:embed="rId4"/>
          <a:srcRect l="3673" t="11090" r="56586" b="60422"/>
          <a:stretch>
            <a:fillRect/>
          </a:stretch>
        </p:blipFill>
        <p:spPr>
          <a:xfrm>
            <a:off x="10162621" y="2847287"/>
            <a:ext cx="4339735" cy="1142408"/>
          </a:xfrm>
          <a:prstGeom prst="rect">
            <a:avLst/>
          </a:prstGeom>
          <a:ln w="12700">
            <a:noFill/>
            <a:prstDash val="solid"/>
          </a:ln>
        </p:spPr>
      </p:pic>
      <p:pic>
        <p:nvPicPr>
          <p:cNvPr id="7" name="Picture 7"/>
          <p:cNvPicPr>
            <a:picLocks noChangeAspect="1"/>
          </p:cNvPicPr>
          <p:nvPr/>
        </p:nvPicPr>
        <p:blipFill>
          <a:blip r:embed="rId4"/>
          <a:srcRect l="10954" t="59009" r="17950" b="7640"/>
          <a:stretch>
            <a:fillRect/>
          </a:stretch>
        </p:blipFill>
        <p:spPr>
          <a:xfrm>
            <a:off x="9866377" y="4242428"/>
            <a:ext cx="6712155" cy="1337188"/>
          </a:xfrm>
          <a:prstGeom prst="rect">
            <a:avLst/>
          </a:prstGeom>
          <a:ln w="12700">
            <a:noFill/>
            <a:prstDash val="solid"/>
          </a:ln>
        </p:spPr>
      </p:pic>
      <p:sp>
        <p:nvSpPr>
          <p:cNvPr id="8" name="AutoShape 8"/>
          <p:cNvSpPr/>
          <p:nvPr/>
        </p:nvSpPr>
        <p:spPr>
          <a:xfrm>
            <a:off x="3463820" y="3706045"/>
            <a:ext cx="807417"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Times New Roman"/>
              </a:rPr>
              <a:t>/ sy</a:t>
            </a:r>
            <a:endParaRPr lang="en-US" sz="1100"/>
          </a:p>
        </p:txBody>
      </p:sp>
      <p:sp>
        <p:nvSpPr>
          <p:cNvPr id="9" name="AutoShape 9"/>
          <p:cNvSpPr/>
          <p:nvPr/>
        </p:nvSpPr>
        <p:spPr>
          <a:xfrm>
            <a:off x="9819075" y="4676256"/>
            <a:ext cx="5347152" cy="5371105"/>
          </a:xfrm>
          <a:prstGeom prst="rect">
            <a:avLst/>
          </a:prstGeom>
          <a:noFill/>
          <a:ln w="12700">
            <a:noFill/>
            <a:prstDash val="solid"/>
          </a:ln>
        </p:spPr>
        <p:txBody>
          <a:bodyPr lIns="127000" tIns="63500" rIns="127000" bIns="63500" rtlCol="0" anchor="ctr">
            <a:noAutofit/>
          </a:bodyPr>
          <a:lstStyle/>
          <a:p>
            <a:pPr indent="0" algn="l">
              <a:lnSpc>
                <a:spcPct val="116666"/>
              </a:lnSpc>
              <a:defRPr/>
            </a:pPr>
            <a:r>
              <a:rPr lang="en-US" sz="2400" b="1" i="0" u="none" strike="noStrike">
                <a:solidFill>
                  <a:srgbClr val="000000"/>
                </a:solidFill>
                <a:latin typeface="Noto Sans SC"/>
              </a:rPr>
              <a:t>显示接口摘要信息：</a:t>
            </a:r>
            <a:endParaRPr lang="en-US" sz="1100"/>
          </a:p>
          <a:p>
            <a:pPr indent="0" algn="l">
              <a:lnSpc>
                <a:spcPct val="116666"/>
              </a:lnSpc>
            </a:pPr>
            <a:r>
              <a:rPr lang="en-US" sz="2400" b="0" i="0" u="none" strike="noStrike">
                <a:solidFill>
                  <a:srgbClr val="000000"/>
                </a:solidFill>
                <a:latin typeface="等线"/>
              </a:rPr>
              <a:t>display ip interface brief / disp ip int b</a:t>
            </a:r>
          </a:p>
          <a:p>
            <a:pPr indent="0" algn="l">
              <a:lnSpc>
                <a:spcPct val="116666"/>
              </a:lnSpc>
            </a:pPr>
            <a:r>
              <a:rPr lang="en-US" sz="2400" b="1" i="0" u="none" strike="noStrike">
                <a:solidFill>
                  <a:srgbClr val="000000"/>
                </a:solidFill>
                <a:latin typeface="Noto Sans SC"/>
              </a:rPr>
              <a:t>查询路由表信息：</a:t>
            </a:r>
          </a:p>
          <a:p>
            <a:pPr indent="0" algn="l">
              <a:lnSpc>
                <a:spcPct val="116666"/>
              </a:lnSpc>
            </a:pPr>
            <a:r>
              <a:rPr lang="en-US" sz="2400" b="0" i="0" u="none" strike="noStrike">
                <a:solidFill>
                  <a:srgbClr val="000000"/>
                </a:solidFill>
                <a:latin typeface="等线"/>
              </a:rPr>
              <a:t>display ip routing-table / disp ip rout</a:t>
            </a:r>
          </a:p>
          <a:p>
            <a:pPr indent="0" algn="l">
              <a:lnSpc>
                <a:spcPct val="116666"/>
              </a:lnSpc>
            </a:pPr>
            <a:r>
              <a:rPr lang="en-US" sz="2400" b="1" i="0" u="none" strike="noStrike">
                <a:solidFill>
                  <a:srgbClr val="000000"/>
                </a:solidFill>
                <a:latin typeface="Noto Sans SC"/>
              </a:rPr>
              <a:t>返回用户视图：</a:t>
            </a:r>
          </a:p>
          <a:p>
            <a:pPr indent="0" algn="l">
              <a:lnSpc>
                <a:spcPct val="116666"/>
              </a:lnSpc>
            </a:pPr>
            <a:r>
              <a:rPr lang="en-US" sz="2400" b="0" i="0" u="none" strike="noStrike">
                <a:solidFill>
                  <a:srgbClr val="000000"/>
                </a:solidFill>
                <a:latin typeface="等线"/>
              </a:rPr>
              <a:t>return</a:t>
            </a:r>
          </a:p>
          <a:p>
            <a:pPr indent="0" algn="l">
              <a:lnSpc>
                <a:spcPct val="116666"/>
              </a:lnSpc>
            </a:pPr>
            <a:r>
              <a:rPr lang="en-US" sz="2400" b="1" i="0" u="none" strike="noStrike">
                <a:solidFill>
                  <a:srgbClr val="000000"/>
                </a:solidFill>
                <a:latin typeface="Noto Sans SC"/>
              </a:rPr>
              <a:t>保存命令（用户视图命令）：</a:t>
            </a:r>
          </a:p>
          <a:p>
            <a:pPr indent="0" algn="l">
              <a:lnSpc>
                <a:spcPct val="116666"/>
              </a:lnSpc>
            </a:pPr>
            <a:r>
              <a:rPr lang="en-US" sz="2400" b="0" i="0" u="none" strike="noStrike">
                <a:solidFill>
                  <a:srgbClr val="000000"/>
                </a:solidFill>
                <a:latin typeface="等线"/>
              </a:rPr>
              <a:t>&lt; Huawei &gt;save</a:t>
            </a:r>
          </a:p>
        </p:txBody>
      </p:sp>
      <p:sp>
        <p:nvSpPr>
          <p:cNvPr id="10" name="AutoShape 10"/>
          <p:cNvSpPr/>
          <p:nvPr/>
        </p:nvSpPr>
        <p:spPr>
          <a:xfrm>
            <a:off x="4358899" y="8319675"/>
            <a:ext cx="121920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Times New Roman"/>
              </a:rPr>
              <a:t>/ q</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interface brief / disp ip int b </a:t>
            </a:r>
            <a:r>
              <a:rPr lang="en-US" sz="3700" b="0" i="0" u="none" strike="noStrike">
                <a:solidFill>
                  <a:srgbClr val="FFFFFF"/>
                </a:solidFill>
                <a:latin typeface="微软雅黑"/>
              </a:rPr>
              <a:t>显示接口摘要信息</a:t>
            </a:r>
            <a:endParaRPr lang="en-US" sz="1100"/>
          </a:p>
        </p:txBody>
      </p:sp>
      <p:pic>
        <p:nvPicPr>
          <p:cNvPr id="3" name="Picture 3"/>
          <p:cNvPicPr>
            <a:picLocks noChangeAspect="1"/>
          </p:cNvPicPr>
          <p:nvPr/>
        </p:nvPicPr>
        <p:blipFill>
          <a:blip r:embed="rId3"/>
          <a:srcRect/>
          <a:stretch>
            <a:fillRect/>
          </a:stretch>
        </p:blipFill>
        <p:spPr>
          <a:xfrm>
            <a:off x="519637" y="1280283"/>
            <a:ext cx="15216724" cy="5855517"/>
          </a:xfrm>
          <a:prstGeom prst="rect">
            <a:avLst/>
          </a:prstGeom>
          <a:ln w="12700">
            <a:noFill/>
            <a:prstDash val="solid"/>
          </a:ln>
        </p:spPr>
      </p:pic>
      <p:sp>
        <p:nvSpPr>
          <p:cNvPr id="4" name="AutoShape 4"/>
          <p:cNvSpPr/>
          <p:nvPr/>
        </p:nvSpPr>
        <p:spPr>
          <a:xfrm>
            <a:off x="519637" y="7434595"/>
            <a:ext cx="8977747" cy="1165876"/>
          </a:xfrm>
          <a:prstGeom prst="rect">
            <a:avLst/>
          </a:prstGeom>
          <a:noFill/>
          <a:ln w="12700">
            <a:noFill/>
            <a:prstDash val="solid"/>
          </a:ln>
        </p:spPr>
        <p:txBody>
          <a:bodyPr lIns="127000" tIns="63500" rIns="127000" bIns="63500" rtlCol="0" anchor="t">
            <a:noAutofit/>
          </a:bodyPr>
          <a:lstStyle/>
          <a:p>
            <a:pPr marL="0" lvl="0" indent="304800" algn="l">
              <a:lnSpc>
                <a:spcPct val="150000"/>
              </a:lnSpc>
              <a:buClr>
                <a:srgbClr val="4D4D4D"/>
              </a:buClr>
              <a:buChar char="•"/>
              <a:defRPr/>
            </a:pPr>
            <a:r>
              <a:rPr lang="en-US" sz="2400" b="0" i="0" u="none" strike="noStrike">
                <a:solidFill>
                  <a:srgbClr val="4D4D4D"/>
                </a:solidFill>
                <a:latin typeface="微软雅黑"/>
              </a:rPr>
              <a:t>Physical --- 如果up --- 代表该接口具备</a:t>
            </a:r>
            <a:r>
              <a:rPr lang="en-US" sz="2400" b="0" i="0" u="none" strike="noStrike">
                <a:solidFill>
                  <a:srgbClr val="000000"/>
                </a:solidFill>
                <a:latin typeface="微软雅黑"/>
              </a:rPr>
              <a:t>物理层面</a:t>
            </a:r>
            <a:r>
              <a:rPr lang="en-US" sz="2400" b="0" i="0" u="none" strike="noStrike">
                <a:solidFill>
                  <a:srgbClr val="4D4D4D"/>
                </a:solidFill>
                <a:latin typeface="微软雅黑"/>
              </a:rPr>
              <a:t>的通信条件</a:t>
            </a:r>
            <a:endParaRPr lang="en-US" sz="1100"/>
          </a:p>
          <a:p>
            <a:pPr marL="0" lvl="0" indent="304800" algn="l">
              <a:lnSpc>
                <a:spcPct val="150000"/>
              </a:lnSpc>
              <a:buClr>
                <a:srgbClr val="4D4D4D"/>
              </a:buClr>
              <a:buChar char="•"/>
            </a:pPr>
            <a:r>
              <a:rPr lang="en-US" sz="2400" b="0" i="0" u="none" strike="noStrike">
                <a:solidFill>
                  <a:srgbClr val="4D4D4D"/>
                </a:solidFill>
                <a:latin typeface="微软雅黑"/>
              </a:rPr>
              <a:t>Protocol --- 如果up --- 代表该接口具备协议层面的通信条件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routing-table / disp ip rout </a:t>
            </a:r>
            <a:r>
              <a:rPr lang="en-US" sz="3700" b="0" i="0" u="none" strike="noStrike">
                <a:solidFill>
                  <a:srgbClr val="FFFFFF"/>
                </a:solidFill>
                <a:latin typeface="微软雅黑"/>
              </a:rPr>
              <a:t>查询路由表信息</a:t>
            </a:r>
            <a:endParaRPr lang="en-US" sz="1100"/>
          </a:p>
        </p:txBody>
      </p:sp>
      <p:pic>
        <p:nvPicPr>
          <p:cNvPr id="3" name="Picture 3"/>
          <p:cNvPicPr>
            <a:picLocks noChangeAspect="1"/>
          </p:cNvPicPr>
          <p:nvPr/>
        </p:nvPicPr>
        <p:blipFill>
          <a:blip r:embed="rId3"/>
          <a:srcRect b="47084"/>
          <a:stretch>
            <a:fillRect/>
          </a:stretch>
        </p:blipFill>
        <p:spPr>
          <a:xfrm>
            <a:off x="1391612" y="1028985"/>
            <a:ext cx="13164897" cy="4235376"/>
          </a:xfrm>
          <a:prstGeom prst="rect">
            <a:avLst/>
          </a:prstGeom>
          <a:ln w="12700">
            <a:noFill/>
            <a:prstDash val="solid"/>
          </a:ln>
        </p:spPr>
      </p:pic>
      <p:sp>
        <p:nvSpPr>
          <p:cNvPr id="4" name="AutoShape 4"/>
          <p:cNvSpPr/>
          <p:nvPr/>
        </p:nvSpPr>
        <p:spPr>
          <a:xfrm>
            <a:off x="1267884" y="5215917"/>
            <a:ext cx="13720232" cy="3935864"/>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0" i="0" u="none" strike="noStrike">
                <a:solidFill>
                  <a:srgbClr val="000000"/>
                </a:solidFill>
                <a:latin typeface="微软雅黑"/>
              </a:rPr>
              <a:t>路由表中各字段字段的含义如下：</a:t>
            </a:r>
            <a:endParaRPr lang="en-US" sz="1100"/>
          </a:p>
          <a:p>
            <a:pPr marL="0" lvl="0" indent="304800" algn="l">
              <a:lnSpc>
                <a:spcPct val="150000"/>
              </a:lnSpc>
              <a:buClr>
                <a:srgbClr val="000000"/>
              </a:buClr>
              <a:buChar char="•"/>
            </a:pPr>
            <a:r>
              <a:rPr lang="en-US" sz="2400" b="0" i="0" u="none" strike="noStrike">
                <a:solidFill>
                  <a:srgbClr val="000000"/>
                </a:solidFill>
                <a:latin typeface="微软雅黑"/>
              </a:rPr>
              <a:t>Destination/Mask：目的网络 / 掩码。掩码为32表示一个具体的IP地址，24表示一个C类网络。</a:t>
            </a:r>
          </a:p>
          <a:p>
            <a:pPr marL="0" lvl="0" indent="304800" algn="l">
              <a:lnSpc>
                <a:spcPct val="150000"/>
              </a:lnSpc>
              <a:buClr>
                <a:srgbClr val="000000"/>
              </a:buClr>
              <a:buChar char="•"/>
            </a:pPr>
            <a:r>
              <a:rPr lang="en-US" sz="2400" b="0" i="0" u="none" strike="noStrike">
                <a:solidFill>
                  <a:srgbClr val="000000"/>
                </a:solidFill>
                <a:latin typeface="微软雅黑"/>
              </a:rPr>
              <a:t>Proto：表示通过什么协议方式学习到的路由信息。① Static表示通过静态路由配置方式获得；② Direct表示直连网段，即给接口配置IP地址以及掩码，通过IP地址和掩码计算得出网络号；③ RIP表示通过动态路由协议RIP学习到的路由；④ OSPF表示通过动态路由协议OSPF协议学习到的路由。</a:t>
            </a:r>
          </a:p>
          <a:p>
            <a:pPr marL="0" lvl="0" indent="304800" algn="l">
              <a:lnSpc>
                <a:spcPct val="150000"/>
              </a:lnSpc>
              <a:buClr>
                <a:srgbClr val="000000"/>
              </a:buClr>
              <a:buChar char="•"/>
            </a:pPr>
            <a:r>
              <a:rPr lang="en-US" sz="2400" b="0" i="0" u="none" strike="noStrike">
                <a:solidFill>
                  <a:srgbClr val="000000"/>
                </a:solidFill>
                <a:latin typeface="微软雅黑"/>
              </a:rPr>
              <a:t>Pre：表示的是优先级。优先级值越低，该条路由越优先。华为设备默认的优先级为：Direct为0，OSPF为10，Static为60，RIP为100。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routing-table / disp ip rout </a:t>
            </a:r>
            <a:r>
              <a:rPr lang="en-US" sz="3700" b="0" i="0" u="none" strike="noStrike">
                <a:solidFill>
                  <a:srgbClr val="FFFFFF"/>
                </a:solidFill>
                <a:latin typeface="微软雅黑"/>
              </a:rPr>
              <a:t>查询路由表信息</a:t>
            </a:r>
            <a:endParaRPr lang="en-US" sz="1100"/>
          </a:p>
        </p:txBody>
      </p:sp>
      <p:pic>
        <p:nvPicPr>
          <p:cNvPr id="3" name="Picture 3"/>
          <p:cNvPicPr>
            <a:picLocks noChangeAspect="1"/>
          </p:cNvPicPr>
          <p:nvPr/>
        </p:nvPicPr>
        <p:blipFill>
          <a:blip r:embed="rId3"/>
          <a:srcRect b="47084"/>
          <a:stretch>
            <a:fillRect/>
          </a:stretch>
        </p:blipFill>
        <p:spPr>
          <a:xfrm>
            <a:off x="1391612" y="1028985"/>
            <a:ext cx="13164897" cy="4235376"/>
          </a:xfrm>
          <a:prstGeom prst="rect">
            <a:avLst/>
          </a:prstGeom>
          <a:ln w="12700">
            <a:noFill/>
            <a:prstDash val="solid"/>
          </a:ln>
        </p:spPr>
      </p:pic>
      <p:sp>
        <p:nvSpPr>
          <p:cNvPr id="4" name="AutoShape 4"/>
          <p:cNvSpPr/>
          <p:nvPr/>
        </p:nvSpPr>
        <p:spPr>
          <a:xfrm>
            <a:off x="1270500" y="5215917"/>
            <a:ext cx="14075495" cy="2827869"/>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0" i="0" u="none" strike="noStrike">
                <a:solidFill>
                  <a:srgbClr val="000000"/>
                </a:solidFill>
                <a:latin typeface="微软雅黑"/>
              </a:rPr>
              <a:t>路由表中各字段字段的含义如下：</a:t>
            </a:r>
            <a:endParaRPr lang="en-US" sz="1100"/>
          </a:p>
          <a:p>
            <a:pPr marL="0" lvl="0" indent="304800" algn="l">
              <a:lnSpc>
                <a:spcPct val="150000"/>
              </a:lnSpc>
              <a:buClr>
                <a:srgbClr val="000000"/>
              </a:buClr>
              <a:buChar char="•"/>
            </a:pPr>
            <a:r>
              <a:rPr lang="en-US" sz="2400" b="0" i="0" u="none" strike="noStrike">
                <a:solidFill>
                  <a:srgbClr val="000000"/>
                </a:solidFill>
                <a:latin typeface="微软雅黑"/>
              </a:rPr>
              <a:t>Cost：表示该条路由的开销。</a:t>
            </a:r>
          </a:p>
          <a:p>
            <a:pPr marL="0" lvl="0" indent="304800" algn="l">
              <a:lnSpc>
                <a:spcPct val="150000"/>
              </a:lnSpc>
              <a:buClr>
                <a:srgbClr val="000000"/>
              </a:buClr>
              <a:buChar char="•"/>
            </a:pPr>
            <a:r>
              <a:rPr lang="en-US" sz="2400" b="0" i="0" u="none" strike="noStrike">
                <a:solidFill>
                  <a:srgbClr val="000000"/>
                </a:solidFill>
                <a:latin typeface="微软雅黑"/>
              </a:rPr>
              <a:t>Flags：标志。D表示该路由是动态生成的，通常是由某个路由协议自动添加到路由表的。</a:t>
            </a:r>
          </a:p>
          <a:p>
            <a:pPr marL="0" lvl="0" indent="304800" algn="l">
              <a:lnSpc>
                <a:spcPct val="150000"/>
              </a:lnSpc>
              <a:buClr>
                <a:srgbClr val="000000"/>
              </a:buClr>
              <a:buChar char="•"/>
            </a:pPr>
            <a:r>
              <a:rPr lang="en-US" sz="2400" b="0" i="0" u="none" strike="noStrike">
                <a:solidFill>
                  <a:srgbClr val="000000"/>
                </a:solidFill>
                <a:latin typeface="微软雅黑"/>
              </a:rPr>
              <a:t>NextHop：下一跳地址。</a:t>
            </a:r>
          </a:p>
          <a:p>
            <a:pPr marL="0" lvl="0" indent="304800" algn="l">
              <a:lnSpc>
                <a:spcPct val="150000"/>
              </a:lnSpc>
              <a:buClr>
                <a:srgbClr val="000000"/>
              </a:buClr>
              <a:buChar char="•"/>
            </a:pPr>
            <a:r>
              <a:rPr lang="en-US" sz="2400" b="0" i="0" u="none" strike="noStrike">
                <a:solidFill>
                  <a:srgbClr val="000000"/>
                </a:solidFill>
                <a:latin typeface="微软雅黑"/>
              </a:rPr>
              <a:t>Interface:出接口。通往目的网络应该往哪个接口转发出去。配置静态路由时建议写明下一跳IP地址。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实验3：3.1静态路由</a:t>
            </a:r>
            <a:endParaRPr lang="en-US" sz="1100"/>
          </a:p>
        </p:txBody>
      </p:sp>
      <p:sp>
        <p:nvSpPr>
          <p:cNvPr id="3" name="AutoShape 3"/>
          <p:cNvSpPr/>
          <p:nvPr/>
        </p:nvSpPr>
        <p:spPr>
          <a:xfrm>
            <a:off x="971591" y="1242201"/>
            <a:ext cx="13634587" cy="6336521"/>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静态路由表</a:t>
            </a:r>
            <a:endParaRPr lang="en-US" sz="1100"/>
          </a:p>
          <a:p>
            <a:pPr indent="0" algn="l">
              <a:lnSpc>
                <a:spcPct val="150000"/>
              </a:lnSpc>
            </a:pPr>
            <a:r>
              <a:rPr lang="en-US" sz="2400" b="0" i="0" u="none" strike="noStrike">
                <a:solidFill>
                  <a:srgbClr val="000000"/>
                </a:solidFill>
                <a:latin typeface="微软雅黑"/>
              </a:rPr>
              <a:t>路由器中设置的固定路由表，由系统管理员事先设置好，一般是在系统安装时就根据网络的配置情况预先设定的，不会随着网络结构的改变而改变。</a:t>
            </a:r>
          </a:p>
          <a:p>
            <a:pPr indent="0" algn="l">
              <a:lnSpc>
                <a:spcPct val="150000"/>
              </a:lnSpc>
            </a:pPr>
            <a:r>
              <a:rPr lang="en-US" sz="2400" b="0" i="0" u="none" strike="noStrike">
                <a:solidFill>
                  <a:srgbClr val="000000"/>
                </a:solidFill>
                <a:latin typeface="微软雅黑"/>
              </a:rPr>
              <a:t>适用于网络规模不大，拓扑结构相对固定的网络，它的特点如下：</a:t>
            </a:r>
          </a:p>
          <a:p>
            <a:pPr indent="0" algn="l">
              <a:lnSpc>
                <a:spcPct val="150000"/>
              </a:lnSpc>
            </a:pPr>
            <a:r>
              <a:rPr lang="en-US" sz="2400" b="0" i="0" u="none" strike="noStrike">
                <a:solidFill>
                  <a:srgbClr val="000000"/>
                </a:solidFill>
                <a:latin typeface="微软雅黑"/>
              </a:rPr>
              <a:t>①允许对路由行为进行精确控制；</a:t>
            </a:r>
          </a:p>
          <a:p>
            <a:pPr indent="0" algn="l">
              <a:lnSpc>
                <a:spcPct val="150000"/>
              </a:lnSpc>
            </a:pPr>
            <a:r>
              <a:rPr lang="en-US" sz="2400" b="0" i="0" u="none" strike="noStrike">
                <a:solidFill>
                  <a:srgbClr val="000000"/>
                </a:solidFill>
                <a:latin typeface="微软雅黑"/>
              </a:rPr>
              <a:t>②减少了网络流量；</a:t>
            </a:r>
          </a:p>
          <a:p>
            <a:pPr indent="0" algn="l">
              <a:lnSpc>
                <a:spcPct val="150000"/>
              </a:lnSpc>
            </a:pPr>
            <a:r>
              <a:rPr lang="en-US" sz="2400" b="0" i="0" u="none" strike="noStrike">
                <a:solidFill>
                  <a:srgbClr val="000000"/>
                </a:solidFill>
                <a:latin typeface="微软雅黑"/>
              </a:rPr>
              <a:t>③是单向的；</a:t>
            </a:r>
          </a:p>
          <a:p>
            <a:pPr indent="0" algn="l">
              <a:lnSpc>
                <a:spcPct val="150000"/>
              </a:lnSpc>
            </a:pPr>
            <a:r>
              <a:rPr lang="en-US" sz="2400" b="0" i="0" u="none" strike="noStrike">
                <a:solidFill>
                  <a:srgbClr val="000000"/>
                </a:solidFill>
                <a:latin typeface="微软雅黑"/>
              </a:rPr>
              <a:t>④配置相对简单。</a:t>
            </a:r>
          </a:p>
          <a:p>
            <a:pPr indent="0" algn="l">
              <a:lnSpc>
                <a:spcPct val="150000"/>
              </a:lnSpc>
            </a:pPr>
            <a:endParaRPr lang="en-US" sz="2400" b="0" i="0" u="none" strike="noStrike">
              <a:solidFill>
                <a:srgbClr val="000000"/>
              </a:solidFill>
              <a:latin typeface="微软雅黑"/>
            </a:endParaRPr>
          </a:p>
          <a:p>
            <a:pPr indent="0" algn="l">
              <a:lnSpc>
                <a:spcPct val="150000"/>
              </a:lnSpc>
            </a:pPr>
            <a:r>
              <a:rPr lang="en-US" sz="2400" b="0" i="0" u="none" strike="noStrike">
                <a:solidFill>
                  <a:srgbClr val="000000"/>
                </a:solidFill>
                <a:latin typeface="微软雅黑"/>
              </a:rPr>
              <a:t>在所有的路由表中，静态路由表的优先级最高。</a:t>
            </a:r>
          </a:p>
          <a:p>
            <a:pPr indent="0" algn="l">
              <a:lnSpc>
                <a:spcPct val="150000"/>
              </a:lnSpc>
            </a:pPr>
            <a:r>
              <a:rPr lang="en-US" sz="2400" b="0" i="0" u="none" strike="noStrike">
                <a:solidFill>
                  <a:srgbClr val="000000"/>
                </a:solidFill>
                <a:latin typeface="微软雅黑"/>
              </a:rPr>
              <a:t>当动态路由表与静态路由表发生冲突时，以静态路由表为准。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1.</a:t>
            </a:r>
            <a:r>
              <a:rPr lang="en-US" sz="2400" b="1" i="0" u="none" strike="noStrike">
                <a:solidFill>
                  <a:srgbClr val="000000"/>
                </a:solidFill>
                <a:latin typeface="Noto Sans SC"/>
              </a:rPr>
              <a:t>硬件连接</a:t>
            </a:r>
          </a:p>
        </p:txBody>
      </p:sp>
      <p:sp>
        <p:nvSpPr>
          <p:cNvPr id="4" name="AutoShape 4"/>
          <p:cNvSpPr/>
          <p:nvPr/>
        </p:nvSpPr>
        <p:spPr>
          <a:xfrm>
            <a:off x="11262735" y="6715596"/>
            <a:ext cx="3843305"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微软雅黑"/>
              </a:rPr>
              <a:t>选用的路由器为AR1220</a:t>
            </a:r>
            <a:endParaRPr lang="en-US" sz="1100"/>
          </a:p>
        </p:txBody>
      </p:sp>
      <p:pic>
        <p:nvPicPr>
          <p:cNvPr id="5" name="Picture 5"/>
          <p:cNvPicPr>
            <a:picLocks noChangeAspect="1"/>
          </p:cNvPicPr>
          <p:nvPr/>
        </p:nvPicPr>
        <p:blipFill>
          <a:blip r:embed="rId3"/>
          <a:srcRect r="548" b="2285"/>
          <a:stretch>
            <a:fillRect/>
          </a:stretch>
        </p:blipFill>
        <p:spPr>
          <a:xfrm>
            <a:off x="1033420" y="1643340"/>
            <a:ext cx="9496035" cy="6677257"/>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11400755" y="2238048"/>
            <a:ext cx="1838033" cy="1826827"/>
          </a:xfrm>
          <a:prstGeom prst="rect">
            <a:avLst/>
          </a:prstGeom>
          <a:ln w="12700">
            <a:noFill/>
            <a:prstDash val="solid"/>
          </a:ln>
        </p:spPr>
      </p:pic>
      <p:pic>
        <p:nvPicPr>
          <p:cNvPr id="7" name="Picture 7"/>
          <p:cNvPicPr>
            <a:picLocks noChangeAspect="1"/>
          </p:cNvPicPr>
          <p:nvPr/>
        </p:nvPicPr>
        <p:blipFill>
          <a:blip r:embed="rId5"/>
          <a:srcRect/>
          <a:stretch>
            <a:fillRect/>
          </a:stretch>
        </p:blipFill>
        <p:spPr>
          <a:xfrm>
            <a:off x="11400755" y="4269380"/>
            <a:ext cx="3040665" cy="2246369"/>
          </a:xfrm>
          <a:prstGeom prst="rect">
            <a:avLst/>
          </a:prstGeom>
          <a:ln w="12700">
            <a:noFill/>
            <a:prstDash val="soli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2.</a:t>
            </a:r>
            <a:r>
              <a:rPr lang="en-US" sz="2400" b="1" i="0" u="none" strike="noStrike">
                <a:solidFill>
                  <a:srgbClr val="000000"/>
                </a:solidFill>
                <a:latin typeface="Noto Sans SC"/>
              </a:rPr>
              <a:t>配置</a:t>
            </a:r>
            <a:r>
              <a:rPr lang="en-US" sz="2400" b="1" i="0" u="none" strike="noStrike">
                <a:solidFill>
                  <a:srgbClr val="000000"/>
                </a:solidFill>
                <a:latin typeface="等线"/>
              </a:rPr>
              <a:t>PC</a:t>
            </a:r>
            <a:r>
              <a:rPr lang="en-US" sz="2400" b="1" i="0" u="none" strike="noStrike">
                <a:solidFill>
                  <a:srgbClr val="000000"/>
                </a:solidFill>
                <a:latin typeface="Noto Sans SC"/>
              </a:rPr>
              <a:t>机</a:t>
            </a:r>
          </a:p>
        </p:txBody>
      </p:sp>
      <p:pic>
        <p:nvPicPr>
          <p:cNvPr id="4" name="Picture 4"/>
          <p:cNvPicPr>
            <a:picLocks noChangeAspect="1"/>
          </p:cNvPicPr>
          <p:nvPr/>
        </p:nvPicPr>
        <p:blipFill>
          <a:blip r:embed="rId3"/>
          <a:srcRect/>
          <a:stretch>
            <a:fillRect/>
          </a:stretch>
        </p:blipFill>
        <p:spPr>
          <a:xfrm>
            <a:off x="166709" y="2029359"/>
            <a:ext cx="8166229" cy="5235664"/>
          </a:xfrm>
          <a:prstGeom prst="rect">
            <a:avLst/>
          </a:prstGeom>
          <a:ln w="12700">
            <a:noFill/>
            <a:prstDash val="solid"/>
          </a:ln>
        </p:spPr>
      </p:pic>
      <p:pic>
        <p:nvPicPr>
          <p:cNvPr id="5" name="Picture 5"/>
          <p:cNvPicPr>
            <a:picLocks noChangeAspect="1"/>
          </p:cNvPicPr>
          <p:nvPr/>
        </p:nvPicPr>
        <p:blipFill>
          <a:blip r:embed="rId4"/>
          <a:srcRect/>
          <a:stretch>
            <a:fillRect/>
          </a:stretch>
        </p:blipFill>
        <p:spPr>
          <a:xfrm>
            <a:off x="8314467" y="2029359"/>
            <a:ext cx="7774824" cy="5235664"/>
          </a:xfrm>
          <a:prstGeom prst="rect">
            <a:avLst/>
          </a:prstGeom>
          <a:ln w="12700">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3.</a:t>
            </a:r>
            <a:r>
              <a:rPr lang="en-US" sz="2400" b="1" i="0" u="none" strike="noStrike">
                <a:solidFill>
                  <a:srgbClr val="000000"/>
                </a:solidFill>
                <a:latin typeface="Noto Sans SC"/>
              </a:rPr>
              <a:t>依次配置</a:t>
            </a:r>
            <a:r>
              <a:rPr lang="en-US" sz="2400" b="1" i="0" u="none" strike="noStrike">
                <a:solidFill>
                  <a:srgbClr val="000000"/>
                </a:solidFill>
                <a:latin typeface="等线"/>
              </a:rPr>
              <a:t>R1/R2/R3</a:t>
            </a:r>
          </a:p>
        </p:txBody>
      </p:sp>
      <p:pic>
        <p:nvPicPr>
          <p:cNvPr id="4" name="Picture 4"/>
          <p:cNvPicPr>
            <a:picLocks noChangeAspect="1"/>
          </p:cNvPicPr>
          <p:nvPr/>
        </p:nvPicPr>
        <p:blipFill>
          <a:blip r:embed="rId3"/>
          <a:srcRect/>
          <a:stretch>
            <a:fillRect/>
          </a:stretch>
        </p:blipFill>
        <p:spPr>
          <a:xfrm>
            <a:off x="1837339" y="2457385"/>
            <a:ext cx="9845893" cy="1259949"/>
          </a:xfrm>
          <a:prstGeom prst="rect">
            <a:avLst/>
          </a:prstGeom>
          <a:ln w="12700">
            <a:noFill/>
            <a:prstDash val="solid"/>
          </a:ln>
        </p:spPr>
      </p:pic>
      <p:pic>
        <p:nvPicPr>
          <p:cNvPr id="5" name="Picture 5"/>
          <p:cNvPicPr>
            <a:picLocks noChangeAspect="1"/>
          </p:cNvPicPr>
          <p:nvPr/>
        </p:nvPicPr>
        <p:blipFill>
          <a:blip r:embed="rId4"/>
          <a:srcRect r="9776" b="1428"/>
          <a:stretch>
            <a:fillRect/>
          </a:stretch>
        </p:blipFill>
        <p:spPr>
          <a:xfrm>
            <a:off x="1837339" y="4807179"/>
            <a:ext cx="9845893" cy="2013165"/>
          </a:xfrm>
          <a:prstGeom prst="rect">
            <a:avLst/>
          </a:prstGeom>
          <a:ln w="12700">
            <a:noFill/>
            <a:prstDash val="solid"/>
          </a:ln>
        </p:spPr>
      </p:pic>
      <p:sp>
        <p:nvSpPr>
          <p:cNvPr id="6" name="AutoShape 6"/>
          <p:cNvSpPr/>
          <p:nvPr/>
        </p:nvSpPr>
        <p:spPr>
          <a:xfrm>
            <a:off x="11888065" y="4807179"/>
            <a:ext cx="2112549"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Times New Roman"/>
              </a:rPr>
              <a:t>int g0/0/0</a:t>
            </a:r>
            <a:endParaRPr lang="en-US" sz="1100"/>
          </a:p>
        </p:txBody>
      </p:sp>
      <p:sp>
        <p:nvSpPr>
          <p:cNvPr id="7" name="AutoShape 7"/>
          <p:cNvSpPr/>
          <p:nvPr/>
        </p:nvSpPr>
        <p:spPr>
          <a:xfrm>
            <a:off x="11888067" y="5567540"/>
            <a:ext cx="3033005"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Times New Roman"/>
              </a:rPr>
              <a:t>ip add 192.168.1.1 32</a:t>
            </a:r>
            <a:endParaRPr lang="en-US" sz="1100"/>
          </a:p>
        </p:txBody>
      </p:sp>
      <p:sp>
        <p:nvSpPr>
          <p:cNvPr id="8" name="AutoShape 8"/>
          <p:cNvSpPr/>
          <p:nvPr/>
        </p:nvSpPr>
        <p:spPr>
          <a:xfrm>
            <a:off x="1722275" y="1907981"/>
            <a:ext cx="3921572"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① 使用 </a:t>
            </a:r>
            <a:r>
              <a:rPr lang="en-US" sz="2400" b="1" i="0" u="none" strike="noStrike">
                <a:solidFill>
                  <a:srgbClr val="000000"/>
                </a:solidFill>
                <a:latin typeface="等线"/>
              </a:rPr>
              <a:t>sysname </a:t>
            </a:r>
            <a:r>
              <a:rPr lang="en-US" sz="2400" b="1" i="0" u="none" strike="noStrike">
                <a:solidFill>
                  <a:srgbClr val="000000"/>
                </a:solidFill>
                <a:latin typeface="Noto Sans SC"/>
              </a:rPr>
              <a:t>命令命名</a:t>
            </a:r>
            <a:endParaRPr lang="en-US" sz="1100"/>
          </a:p>
        </p:txBody>
      </p:sp>
      <p:sp>
        <p:nvSpPr>
          <p:cNvPr id="9" name="AutoShape 9"/>
          <p:cNvSpPr/>
          <p:nvPr/>
        </p:nvSpPr>
        <p:spPr>
          <a:xfrm>
            <a:off x="1837339" y="4038937"/>
            <a:ext cx="5752383"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② 为每个路由器的两个接口配置 </a:t>
            </a:r>
            <a:r>
              <a:rPr lang="en-US" sz="2400" b="1" i="0" u="none" strike="noStrike">
                <a:solidFill>
                  <a:srgbClr val="000000"/>
                </a:solidFill>
                <a:latin typeface="等线"/>
              </a:rPr>
              <a:t>IP </a:t>
            </a:r>
            <a:r>
              <a:rPr lang="en-US" sz="2400" b="1" i="0" u="none" strike="noStrike">
                <a:solidFill>
                  <a:srgbClr val="000000"/>
                </a:solidFill>
                <a:latin typeface="Noto Sans SC"/>
              </a:rPr>
              <a:t>地址</a:t>
            </a:r>
            <a:endParaRPr lang="en-US" sz="1100"/>
          </a:p>
        </p:txBody>
      </p:sp>
      <p:sp>
        <p:nvSpPr>
          <p:cNvPr id="10" name="AutoShape 10"/>
          <p:cNvSpPr/>
          <p:nvPr/>
        </p:nvSpPr>
        <p:spPr>
          <a:xfrm>
            <a:off x="1915597" y="7080985"/>
            <a:ext cx="537538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PC1 可以 Ping 通 R1 的 192.168.1.1</a:t>
            </a:r>
            <a:endParaRPr lang="en-US" sz="1100"/>
          </a:p>
        </p:txBody>
      </p:sp>
      <p:pic>
        <p:nvPicPr>
          <p:cNvPr id="11" name="Picture 11"/>
          <p:cNvPicPr>
            <a:picLocks noChangeAspect="1"/>
          </p:cNvPicPr>
          <p:nvPr/>
        </p:nvPicPr>
        <p:blipFill>
          <a:blip r:embed="rId5"/>
          <a:srcRect/>
          <a:stretch>
            <a:fillRect/>
          </a:stretch>
        </p:blipFill>
        <p:spPr>
          <a:xfrm>
            <a:off x="1995413" y="7721031"/>
            <a:ext cx="4928027" cy="660457"/>
          </a:xfrm>
          <a:prstGeom prst="rect">
            <a:avLst/>
          </a:prstGeom>
          <a:ln w="12700">
            <a:noFill/>
            <a:prstDash val="solid"/>
          </a:ln>
        </p:spPr>
      </p:pic>
      <p:pic>
        <p:nvPicPr>
          <p:cNvPr id="12" name="Picture 12"/>
          <p:cNvPicPr>
            <a:picLocks noChangeAspect="1"/>
          </p:cNvPicPr>
          <p:nvPr/>
        </p:nvPicPr>
        <p:blipFill>
          <a:blip r:embed="rId6"/>
          <a:srcRect/>
          <a:stretch>
            <a:fillRect/>
          </a:stretch>
        </p:blipFill>
        <p:spPr>
          <a:xfrm>
            <a:off x="7238696" y="6976227"/>
            <a:ext cx="7109431" cy="2013164"/>
          </a:xfrm>
          <a:prstGeom prst="rect">
            <a:avLst/>
          </a:prstGeom>
          <a:ln w="12700">
            <a:noFill/>
            <a:prstDash val="soli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3.</a:t>
            </a:r>
            <a:r>
              <a:rPr lang="en-US" sz="2400" b="1" i="0" u="none" strike="noStrike">
                <a:solidFill>
                  <a:srgbClr val="000000"/>
                </a:solidFill>
                <a:latin typeface="Noto Sans SC"/>
              </a:rPr>
              <a:t>依次配置</a:t>
            </a:r>
            <a:r>
              <a:rPr lang="en-US" sz="2400" b="1" i="0" u="none" strike="noStrike">
                <a:solidFill>
                  <a:srgbClr val="000000"/>
                </a:solidFill>
                <a:latin typeface="等线"/>
              </a:rPr>
              <a:t>R1/R2/R3</a:t>
            </a:r>
          </a:p>
        </p:txBody>
      </p:sp>
      <p:pic>
        <p:nvPicPr>
          <p:cNvPr id="4" name="Picture 4"/>
          <p:cNvPicPr>
            <a:picLocks noChangeAspect="1"/>
          </p:cNvPicPr>
          <p:nvPr/>
        </p:nvPicPr>
        <p:blipFill>
          <a:blip r:embed="rId3"/>
          <a:srcRect/>
          <a:stretch>
            <a:fillRect/>
          </a:stretch>
        </p:blipFill>
        <p:spPr>
          <a:xfrm>
            <a:off x="1944545" y="3238005"/>
            <a:ext cx="11593564" cy="1219305"/>
          </a:xfrm>
          <a:prstGeom prst="rect">
            <a:avLst/>
          </a:prstGeom>
          <a:ln w="12700">
            <a:noFill/>
            <a:prstDash val="solid"/>
          </a:ln>
        </p:spPr>
      </p:pic>
      <p:sp>
        <p:nvSpPr>
          <p:cNvPr id="5" name="AutoShape 5"/>
          <p:cNvSpPr/>
          <p:nvPr/>
        </p:nvSpPr>
        <p:spPr>
          <a:xfrm>
            <a:off x="1837339" y="1889561"/>
            <a:ext cx="2622088"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③ 配置静态路由</a:t>
            </a:r>
            <a:endParaRPr lang="en-US" sz="1100"/>
          </a:p>
        </p:txBody>
      </p:sp>
      <p:sp>
        <p:nvSpPr>
          <p:cNvPr id="6" name="AutoShape 6"/>
          <p:cNvSpPr/>
          <p:nvPr/>
        </p:nvSpPr>
        <p:spPr>
          <a:xfrm>
            <a:off x="1944545" y="2557884"/>
            <a:ext cx="10498993"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微软雅黑"/>
              </a:rPr>
              <a:t>静态路由配置命令：ip route-static 目的网络号 掩码 下一跳的 ip 地址</a:t>
            </a:r>
            <a:endParaRPr lang="en-US" sz="1100"/>
          </a:p>
        </p:txBody>
      </p:sp>
      <p:sp>
        <p:nvSpPr>
          <p:cNvPr id="7" name="AutoShape 7"/>
          <p:cNvSpPr/>
          <p:nvPr/>
        </p:nvSpPr>
        <p:spPr>
          <a:xfrm>
            <a:off x="1368852" y="4644989"/>
            <a:ext cx="11283376" cy="819937"/>
          </a:xfrm>
          <a:prstGeom prst="rect">
            <a:avLst/>
          </a:prstGeom>
          <a:noFill/>
          <a:ln w="12700">
            <a:noFill/>
            <a:prstDash val="solid"/>
          </a:ln>
        </p:spPr>
        <p:txBody>
          <a:bodyPr lIns="127000" tIns="63500" rIns="127000" bIns="63500" rtlCol="0" anchor="ctr">
            <a:noAutofit/>
          </a:bodyPr>
          <a:lstStyle/>
          <a:p>
            <a:pPr indent="0" algn="l">
              <a:lnSpc>
                <a:spcPct val="100000"/>
              </a:lnSpc>
              <a:defRPr/>
            </a:pPr>
            <a:r>
              <a:rPr lang="en-US" sz="2400" b="0" i="0" u="none" strike="noStrike">
                <a:solidFill>
                  <a:srgbClr val="000000"/>
                </a:solidFill>
                <a:latin typeface="微软雅黑"/>
              </a:rPr>
              <a:t>如果路由命令输入错误，在输入命令前加 undo，可以删除配置的路由</a:t>
            </a:r>
            <a:endParaRPr lang="en-US" sz="1100"/>
          </a:p>
        </p:txBody>
      </p:sp>
      <p:pic>
        <p:nvPicPr>
          <p:cNvPr id="8" name="Picture 8"/>
          <p:cNvPicPr>
            <a:picLocks noChangeAspect="1"/>
          </p:cNvPicPr>
          <p:nvPr/>
        </p:nvPicPr>
        <p:blipFill>
          <a:blip r:embed="rId4"/>
          <a:srcRect/>
          <a:stretch>
            <a:fillRect/>
          </a:stretch>
        </p:blipFill>
        <p:spPr>
          <a:xfrm>
            <a:off x="1962995" y="5608363"/>
            <a:ext cx="11014395" cy="833192"/>
          </a:xfrm>
          <a:prstGeom prst="rect">
            <a:avLst/>
          </a:prstGeom>
          <a:ln w="12700">
            <a:noFill/>
            <a:prstDash val="solid"/>
          </a:ln>
        </p:spPr>
      </p:pic>
      <p:pic>
        <p:nvPicPr>
          <p:cNvPr id="9" name="Picture 9"/>
          <p:cNvPicPr>
            <a:picLocks noChangeAspect="1"/>
          </p:cNvPicPr>
          <p:nvPr/>
        </p:nvPicPr>
        <p:blipFill>
          <a:blip r:embed="rId5"/>
          <a:srcRect r="2253" b="-893"/>
          <a:stretch>
            <a:fillRect/>
          </a:stretch>
        </p:blipFill>
        <p:spPr>
          <a:xfrm>
            <a:off x="1962995" y="7384255"/>
            <a:ext cx="11014395" cy="973908"/>
          </a:xfrm>
          <a:prstGeom prst="rect">
            <a:avLst/>
          </a:prstGeom>
          <a:ln w="12700">
            <a:noFill/>
            <a:prstDash val="solid"/>
          </a:ln>
        </p:spPr>
      </p:pic>
      <p:sp>
        <p:nvSpPr>
          <p:cNvPr id="10" name="AutoShape 10"/>
          <p:cNvSpPr/>
          <p:nvPr/>
        </p:nvSpPr>
        <p:spPr>
          <a:xfrm>
            <a:off x="6753333" y="6584991"/>
            <a:ext cx="408459" cy="713523"/>
          </a:xfrm>
          <a:prstGeom prst="downArrow">
            <a:avLst>
              <a:gd name="adj1" fmla="val 50000"/>
              <a:gd name="adj2" fmla="val 50000"/>
            </a:avLst>
          </a:prstGeom>
          <a:solidFill>
            <a:srgbClr val="A5A5A5">
              <a:alpha val="100000"/>
            </a:srgbClr>
          </a:solidFill>
          <a:ln w="12700" cap="flat">
            <a:solidFill>
              <a:srgbClr val="787878">
                <a:alpha val="100000"/>
              </a:srgbClr>
            </a:solidFill>
            <a:prstDash val="solid"/>
          </a:ln>
        </p:spPr>
        <p:txBody>
          <a:bodyPr lIns="127000" tIns="63500" rIns="127000" bIns="63500" rtlCol="0" anchor="ctr">
            <a:noAutofit/>
          </a:bodyP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4.</a:t>
            </a:r>
            <a:r>
              <a:rPr lang="en-US" sz="2400" b="1" i="0" u="none" strike="noStrike">
                <a:solidFill>
                  <a:srgbClr val="000000"/>
                </a:solidFill>
                <a:latin typeface="Noto Sans SC"/>
              </a:rPr>
              <a:t>检查路由表</a:t>
            </a:r>
          </a:p>
        </p:txBody>
      </p:sp>
      <p:pic>
        <p:nvPicPr>
          <p:cNvPr id="4" name="Picture 4"/>
          <p:cNvPicPr>
            <a:picLocks noChangeAspect="1"/>
          </p:cNvPicPr>
          <p:nvPr/>
        </p:nvPicPr>
        <p:blipFill>
          <a:blip r:embed="rId3"/>
          <a:srcRect t="2924" r="2964" b="5200"/>
          <a:stretch>
            <a:fillRect/>
          </a:stretch>
        </p:blipFill>
        <p:spPr>
          <a:xfrm>
            <a:off x="2219421" y="1816295"/>
            <a:ext cx="10004875" cy="7012581"/>
          </a:xfrm>
          <a:prstGeom prst="rect">
            <a:avLst/>
          </a:prstGeom>
          <a:ln w="12700">
            <a:noFill/>
            <a:prstDash val="soli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pic>
        <p:nvPicPr>
          <p:cNvPr id="3" name="Picture 3"/>
          <p:cNvPicPr>
            <a:picLocks noChangeAspect="1"/>
          </p:cNvPicPr>
          <p:nvPr/>
        </p:nvPicPr>
        <p:blipFill>
          <a:blip r:embed="rId3"/>
          <a:srcRect/>
          <a:stretch>
            <a:fillRect/>
          </a:stretch>
        </p:blipFill>
        <p:spPr>
          <a:xfrm>
            <a:off x="1809585" y="1848261"/>
            <a:ext cx="6990685" cy="1188823"/>
          </a:xfrm>
          <a:prstGeom prst="rect">
            <a:avLst/>
          </a:prstGeom>
          <a:ln w="12700">
            <a:noFill/>
            <a:prstDash val="solid"/>
          </a:ln>
        </p:spPr>
      </p:pic>
      <p:sp>
        <p:nvSpPr>
          <p:cNvPr id="4" name="AutoShape 4"/>
          <p:cNvSpPr/>
          <p:nvPr/>
        </p:nvSpPr>
        <p:spPr>
          <a:xfrm>
            <a:off x="714844" y="84096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5.</a:t>
            </a: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p>
        </p:txBody>
      </p:sp>
      <p:sp>
        <p:nvSpPr>
          <p:cNvPr id="5" name="AutoShape 5"/>
          <p:cNvSpPr/>
          <p:nvPr/>
        </p:nvSpPr>
        <p:spPr>
          <a:xfrm>
            <a:off x="627053" y="3048009"/>
            <a:ext cx="14964172" cy="2031325"/>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6.</a:t>
            </a:r>
            <a:r>
              <a:rPr lang="en-US" sz="2400" b="1" i="0" u="none" strike="noStrike">
                <a:solidFill>
                  <a:srgbClr val="000000"/>
                </a:solidFill>
                <a:latin typeface="Noto Sans SC"/>
              </a:rPr>
              <a:t>在 </a:t>
            </a:r>
            <a:r>
              <a:rPr lang="en-US" sz="2400" b="1" i="0" u="none" strike="noStrike">
                <a:solidFill>
                  <a:srgbClr val="000000"/>
                </a:solidFill>
                <a:latin typeface="等线"/>
              </a:rPr>
              <a:t>PC1 </a:t>
            </a:r>
            <a:r>
              <a:rPr lang="en-US" sz="2400" b="1" i="0" u="none" strike="noStrike">
                <a:solidFill>
                  <a:srgbClr val="000000"/>
                </a:solidFill>
                <a:latin typeface="Noto Sans SC"/>
              </a:rPr>
              <a:t>上使用抓包工具进行抓包</a:t>
            </a:r>
            <a:endParaRPr lang="en-US" sz="1100"/>
          </a:p>
          <a:p>
            <a:pPr marL="540000" lvl="2" indent="266700" algn="l">
              <a:lnSpc>
                <a:spcPct val="150000"/>
              </a:lnSpc>
              <a:buClr>
                <a:srgbClr val="000000"/>
              </a:buClr>
              <a:buChar char="•"/>
            </a:pPr>
            <a:r>
              <a:rPr lang="en-US" sz="2100" b="0" i="0" u="none" strike="noStrike">
                <a:solidFill>
                  <a:srgbClr val="000000"/>
                </a:solidFill>
                <a:latin typeface="微软雅黑"/>
              </a:rPr>
              <a:t>首先使用 arp–d 命令清空 arp 表</a:t>
            </a:r>
          </a:p>
          <a:p>
            <a:pPr marL="540000" lvl="2" indent="266700" algn="l">
              <a:lnSpc>
                <a:spcPct val="150000"/>
              </a:lnSpc>
              <a:buClr>
                <a:srgbClr val="000000"/>
              </a:buClr>
              <a:buChar char="•"/>
            </a:pPr>
            <a:r>
              <a:rPr lang="en-US" sz="2100" b="0" i="0" u="none" strike="noStrike">
                <a:solidFill>
                  <a:srgbClr val="000000"/>
                </a:solidFill>
                <a:latin typeface="微软雅黑"/>
              </a:rPr>
              <a:t>再使用 ping 命令测试到 PC2 的连通性（192.168.4.2），分析抓到的icmp 报文</a:t>
            </a:r>
          </a:p>
          <a:p>
            <a:pPr indent="0" algn="l">
              <a:lnSpc>
                <a:spcPct val="100000"/>
              </a:lnSpc>
            </a:pPr>
            <a:r>
              <a:rPr lang="en-US" sz="2400" b="0" i="0" u="none" strike="noStrike">
                <a:solidFill>
                  <a:srgbClr val="000000"/>
                </a:solidFill>
                <a:latin typeface="等线"/>
              </a:rPr>
              <a:t> </a:t>
            </a:r>
          </a:p>
        </p:txBody>
      </p:sp>
      <p:sp>
        <p:nvSpPr>
          <p:cNvPr id="6" name="AutoShape 6"/>
          <p:cNvSpPr/>
          <p:nvPr/>
        </p:nvSpPr>
        <p:spPr>
          <a:xfrm>
            <a:off x="627052" y="4572000"/>
            <a:ext cx="14964172" cy="1604029"/>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7.</a:t>
            </a:r>
            <a:r>
              <a:rPr lang="en-US" sz="2400" b="1" i="0" u="none" strike="noStrike">
                <a:solidFill>
                  <a:srgbClr val="000000"/>
                </a:solidFill>
                <a:latin typeface="Noto Sans SC"/>
              </a:rPr>
              <a:t>做完实验后，及时保存配置信息</a:t>
            </a:r>
            <a:endParaRPr lang="en-US" sz="1100"/>
          </a:p>
          <a:p>
            <a:pPr marL="540000" lvl="2" indent="266700" algn="l">
              <a:lnSpc>
                <a:spcPct val="150000"/>
              </a:lnSpc>
              <a:buClr>
                <a:srgbClr val="000000"/>
              </a:buClr>
              <a:buChar char="•"/>
            </a:pPr>
            <a:r>
              <a:rPr lang="en-US" sz="2100" b="0" i="0" u="none" strike="noStrike">
                <a:solidFill>
                  <a:srgbClr val="000000"/>
                </a:solidFill>
                <a:latin typeface="微软雅黑"/>
              </a:rPr>
              <a:t>return命令返回用户视图</a:t>
            </a:r>
          </a:p>
          <a:p>
            <a:pPr marL="540000" lvl="2" indent="266700" algn="l">
              <a:lnSpc>
                <a:spcPct val="150000"/>
              </a:lnSpc>
              <a:buClr>
                <a:srgbClr val="000000"/>
              </a:buClr>
              <a:buChar char="•"/>
            </a:pPr>
            <a:r>
              <a:rPr lang="en-US" sz="2100" b="0" i="0" u="none" strike="noStrike">
                <a:solidFill>
                  <a:srgbClr val="000000"/>
                </a:solidFill>
                <a:latin typeface="微软雅黑"/>
              </a:rPr>
              <a:t>save命令保存当前配置</a:t>
            </a:r>
          </a:p>
        </p:txBody>
      </p:sp>
      <p:pic>
        <p:nvPicPr>
          <p:cNvPr id="7" name="Picture 7"/>
          <p:cNvPicPr>
            <a:picLocks noChangeAspect="1"/>
          </p:cNvPicPr>
          <p:nvPr/>
        </p:nvPicPr>
        <p:blipFill>
          <a:blip r:embed="rId4"/>
          <a:srcRect t="21732" b="3408"/>
          <a:stretch>
            <a:fillRect/>
          </a:stretch>
        </p:blipFill>
        <p:spPr>
          <a:xfrm>
            <a:off x="1809585" y="6332844"/>
            <a:ext cx="12156687" cy="2175065"/>
          </a:xfrm>
          <a:prstGeom prst="rect">
            <a:avLst/>
          </a:prstGeom>
          <a:ln w="12700">
            <a:noFill/>
            <a:prstDash val="soli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实验3：3.2动态路由</a:t>
            </a:r>
            <a:endParaRPr lang="en-US" sz="1100"/>
          </a:p>
        </p:txBody>
      </p:sp>
      <p:sp>
        <p:nvSpPr>
          <p:cNvPr id="3" name="AutoShape 3"/>
          <p:cNvSpPr/>
          <p:nvPr/>
        </p:nvSpPr>
        <p:spPr>
          <a:xfrm>
            <a:off x="971591" y="1242201"/>
            <a:ext cx="13634587" cy="5782524"/>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动态路由表</a:t>
            </a:r>
            <a:endParaRPr lang="en-US" sz="1100"/>
          </a:p>
          <a:p>
            <a:pPr indent="0" algn="l">
              <a:lnSpc>
                <a:spcPct val="150000"/>
              </a:lnSpc>
            </a:pPr>
            <a:r>
              <a:rPr lang="en-US" sz="2400" b="0" i="0" u="none" strike="noStrike">
                <a:solidFill>
                  <a:srgbClr val="000000"/>
                </a:solidFill>
                <a:latin typeface="微软雅黑"/>
              </a:rPr>
              <a:t>与静态路由表相对，能够根据网络系统运行情况而进行自动调整，系统管理员不需要像管理静态路由表一样手工进行维护。动态路由表能够实时地适应网络结构变化，当网络发生变化时，路由器会启动其路由算法进行更新。</a:t>
            </a:r>
          </a:p>
          <a:p>
            <a:pPr indent="0" algn="l">
              <a:lnSpc>
                <a:spcPct val="150000"/>
              </a:lnSpc>
            </a:pPr>
            <a:r>
              <a:rPr lang="en-US" sz="2400" b="0" i="0" u="none" strike="noStrike">
                <a:solidFill>
                  <a:srgbClr val="000000"/>
                </a:solidFill>
                <a:latin typeface="微软雅黑"/>
              </a:rPr>
              <a:t>适用于网络规模大，网络拓扑结构复杂的网络，它的特点如下：</a:t>
            </a:r>
          </a:p>
          <a:p>
            <a:pPr indent="0" algn="l">
              <a:lnSpc>
                <a:spcPct val="150000"/>
              </a:lnSpc>
            </a:pPr>
            <a:r>
              <a:rPr lang="en-US" sz="2400" b="0" i="0" u="none" strike="noStrike">
                <a:solidFill>
                  <a:srgbClr val="000000"/>
                </a:solidFill>
                <a:latin typeface="微软雅黑"/>
              </a:rPr>
              <a:t>①节点增删时工作量少；</a:t>
            </a:r>
          </a:p>
          <a:p>
            <a:pPr indent="0" algn="l">
              <a:lnSpc>
                <a:spcPct val="150000"/>
              </a:lnSpc>
            </a:pPr>
            <a:r>
              <a:rPr lang="en-US" sz="2400" b="0" i="0" u="none" strike="noStrike">
                <a:solidFill>
                  <a:srgbClr val="000000"/>
                </a:solidFill>
                <a:latin typeface="微软雅黑"/>
              </a:rPr>
              <a:t>②网络拓扑变化，协议自动调整；</a:t>
            </a:r>
          </a:p>
          <a:p>
            <a:pPr indent="0" algn="l">
              <a:lnSpc>
                <a:spcPct val="150000"/>
              </a:lnSpc>
            </a:pPr>
            <a:r>
              <a:rPr lang="en-US" sz="2400" b="0" i="0" u="none" strike="noStrike">
                <a:solidFill>
                  <a:srgbClr val="000000"/>
                </a:solidFill>
                <a:latin typeface="微软雅黑"/>
              </a:rPr>
              <a:t>③配置不容易出错；</a:t>
            </a:r>
          </a:p>
          <a:p>
            <a:pPr indent="0" algn="l">
              <a:lnSpc>
                <a:spcPct val="150000"/>
              </a:lnSpc>
            </a:pPr>
            <a:r>
              <a:rPr lang="en-US" sz="2400" b="0" i="0" u="none" strike="noStrike">
                <a:solidFill>
                  <a:srgbClr val="000000"/>
                </a:solidFill>
                <a:latin typeface="微软雅黑"/>
              </a:rPr>
              <a:t>④对网络扩容性较好；</a:t>
            </a:r>
          </a:p>
          <a:p>
            <a:pPr indent="0" algn="l">
              <a:lnSpc>
                <a:spcPct val="150000"/>
              </a:lnSpc>
            </a:pPr>
            <a:r>
              <a:rPr lang="en-US" sz="2400" b="0" i="0" u="none" strike="noStrike">
                <a:solidFill>
                  <a:srgbClr val="000000"/>
                </a:solidFill>
                <a:latin typeface="微软雅黑"/>
              </a:rPr>
              <a:t>⑤需要占用相当的路由器资源。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实验3：3.2动态路由（RIP）</a:t>
            </a:r>
            <a:endParaRPr lang="en-US" sz="1100"/>
          </a:p>
        </p:txBody>
      </p:sp>
      <p:sp>
        <p:nvSpPr>
          <p:cNvPr id="3" name="AutoShape 3"/>
          <p:cNvSpPr/>
          <p:nvPr/>
        </p:nvSpPr>
        <p:spPr>
          <a:xfrm>
            <a:off x="651139" y="755553"/>
            <a:ext cx="14067341" cy="1504161"/>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50000"/>
              </a:lnSpc>
              <a:buClr>
                <a:srgbClr val="000000"/>
              </a:buClr>
              <a:buChar char="•"/>
            </a:pPr>
            <a:r>
              <a:rPr lang="en-US" sz="2400" b="1" i="0" u="none" strike="noStrike">
                <a:solidFill>
                  <a:srgbClr val="000000"/>
                </a:solidFill>
                <a:latin typeface="Noto Sans SC"/>
              </a:rPr>
              <a:t>硬件连接、</a:t>
            </a:r>
            <a:r>
              <a:rPr lang="en-US" sz="2400" b="1" i="0" u="none" strike="noStrike">
                <a:solidFill>
                  <a:srgbClr val="000000"/>
                </a:solidFill>
                <a:latin typeface="等线"/>
              </a:rPr>
              <a:t>PC</a:t>
            </a:r>
            <a:r>
              <a:rPr lang="en-US" sz="2400" b="1" i="0" u="none" strike="noStrike">
                <a:solidFill>
                  <a:srgbClr val="000000"/>
                </a:solidFill>
                <a:latin typeface="Noto Sans SC"/>
              </a:rPr>
              <a:t>设置、路由器命名、</a:t>
            </a:r>
            <a:r>
              <a:rPr lang="en-US" sz="2400" b="1" i="0" u="none" strike="noStrike">
                <a:solidFill>
                  <a:srgbClr val="000000"/>
                </a:solidFill>
                <a:latin typeface="等线"/>
              </a:rPr>
              <a:t>IP</a:t>
            </a:r>
            <a:r>
              <a:rPr lang="en-US" sz="2400" b="1" i="0" u="none" strike="noStrike">
                <a:solidFill>
                  <a:srgbClr val="000000"/>
                </a:solidFill>
                <a:latin typeface="Noto Sans SC"/>
              </a:rPr>
              <a:t>配置均与实验</a:t>
            </a:r>
            <a:r>
              <a:rPr lang="en-US" sz="2400" b="1" i="0" u="none" strike="noStrike">
                <a:solidFill>
                  <a:srgbClr val="000000"/>
                </a:solidFill>
                <a:latin typeface="等线"/>
              </a:rPr>
              <a:t>3.1</a:t>
            </a:r>
            <a:r>
              <a:rPr lang="en-US" sz="2400" b="1" i="0" u="none" strike="noStrike">
                <a:solidFill>
                  <a:srgbClr val="000000"/>
                </a:solidFill>
                <a:latin typeface="Noto Sans SC"/>
              </a:rPr>
              <a:t>相同，可以直接沿用</a:t>
            </a:r>
          </a:p>
          <a:p>
            <a:pPr marL="540000" lvl="2" indent="304800" algn="l">
              <a:lnSpc>
                <a:spcPct val="150000"/>
              </a:lnSpc>
              <a:buClr>
                <a:srgbClr val="000000"/>
              </a:buClr>
              <a:buChar char="•"/>
            </a:pPr>
            <a:r>
              <a:rPr lang="en-US" sz="2400" b="1" i="0" u="none" strike="noStrike">
                <a:solidFill>
                  <a:srgbClr val="000000"/>
                </a:solidFill>
                <a:latin typeface="Noto Sans SC"/>
              </a:rPr>
              <a:t>但需要删除实验</a:t>
            </a:r>
            <a:r>
              <a:rPr lang="en-US" sz="2400" b="1" i="0" u="none" strike="noStrike">
                <a:solidFill>
                  <a:srgbClr val="000000"/>
                </a:solidFill>
                <a:latin typeface="等线"/>
              </a:rPr>
              <a:t>3.1</a:t>
            </a:r>
            <a:r>
              <a:rPr lang="en-US" sz="2400" b="1" i="0" u="none" strike="noStrike">
                <a:solidFill>
                  <a:srgbClr val="000000"/>
                </a:solidFill>
                <a:latin typeface="Noto Sans SC"/>
              </a:rPr>
              <a:t>中每个路由器的静态路由配置</a:t>
            </a:r>
          </a:p>
        </p:txBody>
      </p:sp>
      <p:pic>
        <p:nvPicPr>
          <p:cNvPr id="4" name="Picture 4"/>
          <p:cNvPicPr>
            <a:picLocks noChangeAspect="1"/>
          </p:cNvPicPr>
          <p:nvPr/>
        </p:nvPicPr>
        <p:blipFill>
          <a:blip r:embed="rId3"/>
          <a:srcRect/>
          <a:stretch>
            <a:fillRect/>
          </a:stretch>
        </p:blipFill>
        <p:spPr>
          <a:xfrm>
            <a:off x="1898403" y="3705675"/>
            <a:ext cx="7007885" cy="5438325"/>
          </a:xfrm>
          <a:prstGeom prst="rect">
            <a:avLst/>
          </a:prstGeom>
          <a:ln w="12700">
            <a:noFill/>
            <a:prstDash val="solid"/>
          </a:ln>
        </p:spPr>
      </p:pic>
      <p:pic>
        <p:nvPicPr>
          <p:cNvPr id="5" name="Picture 5"/>
          <p:cNvPicPr>
            <a:picLocks noChangeAspect="1"/>
          </p:cNvPicPr>
          <p:nvPr/>
        </p:nvPicPr>
        <p:blipFill>
          <a:blip r:embed="rId4"/>
          <a:srcRect b="75668"/>
          <a:stretch>
            <a:fillRect/>
          </a:stretch>
        </p:blipFill>
        <p:spPr>
          <a:xfrm>
            <a:off x="1898403" y="2380780"/>
            <a:ext cx="12156687" cy="706967"/>
          </a:xfrm>
          <a:prstGeom prst="rect">
            <a:avLst/>
          </a:prstGeom>
          <a:ln w="12700">
            <a:noFill/>
            <a:prstDash val="solid"/>
          </a:ln>
        </p:spPr>
      </p:pic>
      <p:sp>
        <p:nvSpPr>
          <p:cNvPr id="6" name="AutoShape 6"/>
          <p:cNvSpPr/>
          <p:nvPr/>
        </p:nvSpPr>
        <p:spPr>
          <a:xfrm>
            <a:off x="707657" y="3087747"/>
            <a:ext cx="8742309" cy="620853"/>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进入每个路由器设置动态路由协议 rip，宣告相邻网段</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实验3：3.2动态路由（RIP）</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648447" y="531347"/>
            <a:ext cx="14250989" cy="141179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检查路由表</a:t>
            </a:r>
          </a:p>
        </p:txBody>
      </p:sp>
      <p:pic>
        <p:nvPicPr>
          <p:cNvPr id="4" name="Picture 4"/>
          <p:cNvPicPr>
            <a:picLocks noChangeAspect="1"/>
          </p:cNvPicPr>
          <p:nvPr/>
        </p:nvPicPr>
        <p:blipFill>
          <a:blip r:embed="rId3"/>
          <a:srcRect/>
          <a:stretch>
            <a:fillRect/>
          </a:stretch>
        </p:blipFill>
        <p:spPr>
          <a:xfrm>
            <a:off x="1710852" y="1665564"/>
            <a:ext cx="10793397" cy="7419879"/>
          </a:xfrm>
          <a:prstGeom prst="rect">
            <a:avLst/>
          </a:prstGeom>
          <a:ln w="12700">
            <a:noFill/>
            <a:prstDash val="soli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实验3：3.2动态路由（RIP）</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690620" y="838216"/>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如果路由命令输入错误，或者要删除</a:t>
            </a:r>
            <a:r>
              <a:rPr lang="en-US" sz="2400" b="1" i="0" u="none" strike="noStrike">
                <a:solidFill>
                  <a:srgbClr val="000000"/>
                </a:solidFill>
                <a:latin typeface="等线"/>
              </a:rPr>
              <a:t>rip</a:t>
            </a:r>
            <a:r>
              <a:rPr lang="en-US" sz="2400" b="1" i="0" u="none" strike="noStrike">
                <a:solidFill>
                  <a:srgbClr val="000000"/>
                </a:solidFill>
                <a:latin typeface="Noto Sans SC"/>
              </a:rPr>
              <a:t>配置，需要在输入命令前加</a:t>
            </a:r>
            <a:r>
              <a:rPr lang="en-US" sz="2400" b="1" i="0" u="none" strike="noStrike">
                <a:solidFill>
                  <a:srgbClr val="000000"/>
                </a:solidFill>
                <a:latin typeface="等线"/>
              </a:rPr>
              <a:t>undo</a:t>
            </a:r>
          </a:p>
        </p:txBody>
      </p:sp>
      <p:sp>
        <p:nvSpPr>
          <p:cNvPr id="4" name="AutoShape 4"/>
          <p:cNvSpPr/>
          <p:nvPr/>
        </p:nvSpPr>
        <p:spPr>
          <a:xfrm>
            <a:off x="690621" y="4356853"/>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endParaRPr lang="en-US" sz="1100"/>
          </a:p>
        </p:txBody>
      </p:sp>
      <p:pic>
        <p:nvPicPr>
          <p:cNvPr id="5" name="Picture 5"/>
          <p:cNvPicPr>
            <a:picLocks noChangeAspect="1"/>
          </p:cNvPicPr>
          <p:nvPr/>
        </p:nvPicPr>
        <p:blipFill>
          <a:blip r:embed="rId3"/>
          <a:srcRect/>
          <a:stretch>
            <a:fillRect/>
          </a:stretch>
        </p:blipFill>
        <p:spPr>
          <a:xfrm>
            <a:off x="1841481" y="5109025"/>
            <a:ext cx="6990685" cy="1188823"/>
          </a:xfrm>
          <a:prstGeom prst="rect">
            <a:avLst/>
          </a:prstGeom>
          <a:ln w="12700">
            <a:noFill/>
            <a:prstDash val="solid"/>
          </a:ln>
        </p:spPr>
      </p:pic>
      <p:sp>
        <p:nvSpPr>
          <p:cNvPr id="6" name="AutoShape 6"/>
          <p:cNvSpPr/>
          <p:nvPr/>
        </p:nvSpPr>
        <p:spPr>
          <a:xfrm>
            <a:off x="690621" y="6557577"/>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保存已配置命令和拓扑文件</a:t>
            </a:r>
            <a:endParaRPr lang="en-US" sz="1100"/>
          </a:p>
        </p:txBody>
      </p:sp>
      <p:pic>
        <p:nvPicPr>
          <p:cNvPr id="7" name="Picture 7"/>
          <p:cNvPicPr>
            <a:picLocks noChangeAspect="1"/>
          </p:cNvPicPr>
          <p:nvPr/>
        </p:nvPicPr>
        <p:blipFill>
          <a:blip r:embed="rId4"/>
          <a:srcRect b="17239"/>
          <a:stretch>
            <a:fillRect/>
          </a:stretch>
        </p:blipFill>
        <p:spPr>
          <a:xfrm>
            <a:off x="1841481" y="2287392"/>
            <a:ext cx="9599621" cy="644163"/>
          </a:xfrm>
          <a:prstGeom prst="rect">
            <a:avLst/>
          </a:prstGeom>
          <a:ln w="12700">
            <a:noFill/>
            <a:prstDash val="solid"/>
          </a:ln>
        </p:spPr>
      </p:pic>
      <p:sp>
        <p:nvSpPr>
          <p:cNvPr id="8" name="AutoShape 8"/>
          <p:cNvSpPr/>
          <p:nvPr/>
        </p:nvSpPr>
        <p:spPr>
          <a:xfrm>
            <a:off x="1778336" y="1742380"/>
            <a:ext cx="279972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删除所有rip配置</a:t>
            </a:r>
            <a:endParaRPr lang="en-US" sz="1100"/>
          </a:p>
        </p:txBody>
      </p:sp>
      <p:sp>
        <p:nvSpPr>
          <p:cNvPr id="9" name="AutoShape 9"/>
          <p:cNvSpPr/>
          <p:nvPr/>
        </p:nvSpPr>
        <p:spPr>
          <a:xfrm>
            <a:off x="1778336" y="3025161"/>
            <a:ext cx="279972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删除指定rip配置</a:t>
            </a:r>
            <a:endParaRPr lang="en-US" sz="1100"/>
          </a:p>
        </p:txBody>
      </p:sp>
      <p:pic>
        <p:nvPicPr>
          <p:cNvPr id="10" name="Picture 10"/>
          <p:cNvPicPr>
            <a:picLocks noChangeAspect="1"/>
          </p:cNvPicPr>
          <p:nvPr/>
        </p:nvPicPr>
        <p:blipFill>
          <a:blip r:embed="rId5"/>
          <a:srcRect t="10242" b="12379"/>
          <a:stretch>
            <a:fillRect/>
          </a:stretch>
        </p:blipFill>
        <p:spPr>
          <a:xfrm>
            <a:off x="1841480" y="3518245"/>
            <a:ext cx="7451892" cy="651395"/>
          </a:xfrm>
          <a:prstGeom prst="rect">
            <a:avLst/>
          </a:prstGeom>
          <a:ln w="12700">
            <a:noFill/>
            <a:prstDash val="soli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23805" y="1291704"/>
            <a:ext cx="14415267" cy="1504161"/>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50000"/>
              </a:lnSpc>
              <a:buClr>
                <a:srgbClr val="000000"/>
              </a:buClr>
              <a:buChar char="•"/>
            </a:pPr>
            <a:r>
              <a:rPr lang="en-US" sz="2400" b="1" i="0" u="none" strike="noStrike">
                <a:solidFill>
                  <a:srgbClr val="000000"/>
                </a:solidFill>
                <a:latin typeface="Noto Sans SC"/>
              </a:rPr>
              <a:t>硬件连接、</a:t>
            </a:r>
            <a:r>
              <a:rPr lang="en-US" sz="2400" b="1" i="0" u="none" strike="noStrike">
                <a:solidFill>
                  <a:srgbClr val="000000"/>
                </a:solidFill>
                <a:latin typeface="等线"/>
              </a:rPr>
              <a:t>PC</a:t>
            </a:r>
            <a:r>
              <a:rPr lang="en-US" sz="2400" b="1" i="0" u="none" strike="noStrike">
                <a:solidFill>
                  <a:srgbClr val="000000"/>
                </a:solidFill>
                <a:latin typeface="Noto Sans SC"/>
              </a:rPr>
              <a:t>设置、路由器命名、</a:t>
            </a:r>
            <a:r>
              <a:rPr lang="en-US" sz="2400" b="1" i="0" u="none" strike="noStrike">
                <a:solidFill>
                  <a:srgbClr val="000000"/>
                </a:solidFill>
                <a:latin typeface="等线"/>
              </a:rPr>
              <a:t>IP</a:t>
            </a:r>
            <a:r>
              <a:rPr lang="en-US" sz="2400" b="1" i="0" u="none" strike="noStrike">
                <a:solidFill>
                  <a:srgbClr val="000000"/>
                </a:solidFill>
                <a:latin typeface="Noto Sans SC"/>
              </a:rPr>
              <a:t>配置均与实验</a:t>
            </a:r>
            <a:r>
              <a:rPr lang="en-US" sz="2400" b="1" i="0" u="none" strike="noStrike">
                <a:solidFill>
                  <a:srgbClr val="000000"/>
                </a:solidFill>
                <a:latin typeface="等线"/>
              </a:rPr>
              <a:t>3.2</a:t>
            </a:r>
            <a:r>
              <a:rPr lang="en-US" sz="2400" b="1" i="0" u="none" strike="noStrike">
                <a:solidFill>
                  <a:srgbClr val="000000"/>
                </a:solidFill>
                <a:latin typeface="Noto Sans SC"/>
              </a:rPr>
              <a:t>相同，可以直接沿用</a:t>
            </a:r>
          </a:p>
          <a:p>
            <a:pPr marL="540000" lvl="2" indent="304800" algn="l">
              <a:lnSpc>
                <a:spcPct val="150000"/>
              </a:lnSpc>
              <a:buClr>
                <a:srgbClr val="000000"/>
              </a:buClr>
              <a:buChar char="•"/>
            </a:pPr>
            <a:r>
              <a:rPr lang="en-US" sz="2400" b="1" i="0" u="none" strike="noStrike">
                <a:solidFill>
                  <a:srgbClr val="000000"/>
                </a:solidFill>
                <a:latin typeface="等线"/>
              </a:rPr>
              <a:t>undo rip 1</a:t>
            </a:r>
            <a:r>
              <a:rPr lang="en-US" sz="2400" b="1" i="0" u="none" strike="noStrike">
                <a:solidFill>
                  <a:srgbClr val="000000"/>
                </a:solidFill>
                <a:latin typeface="Noto Sans SC"/>
              </a:rPr>
              <a:t>，删除每个路由器的动态路由</a:t>
            </a:r>
            <a:r>
              <a:rPr lang="en-US" sz="2400" b="1" i="0" u="none" strike="noStrike">
                <a:solidFill>
                  <a:srgbClr val="000000"/>
                </a:solidFill>
                <a:latin typeface="等线"/>
              </a:rPr>
              <a:t>rip</a:t>
            </a:r>
            <a:r>
              <a:rPr lang="en-US" sz="2400" b="1" i="0" u="none" strike="noStrike">
                <a:solidFill>
                  <a:srgbClr val="000000"/>
                </a:solidFill>
                <a:latin typeface="Noto Sans SC"/>
              </a:rPr>
              <a:t>配置</a:t>
            </a:r>
          </a:p>
          <a:p>
            <a:pPr marL="270000" lvl="1" indent="304800" algn="l">
              <a:lnSpc>
                <a:spcPct val="150000"/>
              </a:lnSpc>
              <a:buClr>
                <a:srgbClr val="000000"/>
              </a:buClr>
              <a:buChar char="•"/>
            </a:pPr>
            <a:r>
              <a:rPr lang="en-US" sz="2400" b="1" i="0" u="none" strike="noStrike">
                <a:solidFill>
                  <a:srgbClr val="000000"/>
                </a:solidFill>
                <a:latin typeface="等线"/>
              </a:rPr>
              <a:t>进入每个路由器</a:t>
            </a:r>
            <a:r>
              <a:rPr lang="en-US" sz="2400" b="1" i="0" u="none" strike="noStrike">
                <a:solidFill>
                  <a:srgbClr val="000000"/>
                </a:solidFill>
                <a:latin typeface="Noto Sans SC"/>
              </a:rPr>
              <a:t>配置动态路由协议 </a:t>
            </a:r>
            <a:r>
              <a:rPr lang="en-US" sz="2400" b="1" i="0" u="none" strike="noStrike">
                <a:solidFill>
                  <a:srgbClr val="000000"/>
                </a:solidFill>
                <a:latin typeface="等线"/>
              </a:rPr>
              <a:t>ospf </a:t>
            </a:r>
            <a:r>
              <a:rPr lang="en-US" sz="2400" b="1" i="0" u="none" strike="noStrike">
                <a:solidFill>
                  <a:srgbClr val="000000"/>
                </a:solidFill>
                <a:latin typeface="Noto Sans SC"/>
              </a:rPr>
              <a:t>，</a:t>
            </a:r>
            <a:r>
              <a:rPr lang="en-US" sz="2400" b="1" i="0" u="none" strike="noStrike">
                <a:solidFill>
                  <a:srgbClr val="000000"/>
                </a:solidFill>
                <a:latin typeface="等线"/>
              </a:rPr>
              <a:t>area </a:t>
            </a:r>
            <a:r>
              <a:rPr lang="en-US" sz="2400" b="1" i="0" u="none" strike="noStrike">
                <a:solidFill>
                  <a:srgbClr val="000000"/>
                </a:solidFill>
                <a:latin typeface="Noto Sans SC"/>
              </a:rPr>
              <a:t>命令用来创建 </a:t>
            </a:r>
            <a:r>
              <a:rPr lang="en-US" sz="2400" b="1" i="0" u="none" strike="noStrike">
                <a:solidFill>
                  <a:srgbClr val="000000"/>
                </a:solidFill>
                <a:latin typeface="等线"/>
              </a:rPr>
              <a:t>OSPF </a:t>
            </a:r>
            <a:r>
              <a:rPr lang="en-US" sz="2400" b="1" i="0" u="none" strike="noStrike">
                <a:solidFill>
                  <a:srgbClr val="000000"/>
                </a:solidFill>
                <a:latin typeface="Noto Sans SC"/>
              </a:rPr>
              <a:t>区域，并进入 </a:t>
            </a:r>
            <a:r>
              <a:rPr lang="en-US" sz="2400" b="1" i="0" u="none" strike="noStrike">
                <a:solidFill>
                  <a:srgbClr val="000000"/>
                </a:solidFill>
                <a:latin typeface="等线"/>
              </a:rPr>
              <a:t>OSPF </a:t>
            </a:r>
            <a:r>
              <a:rPr lang="en-US" sz="2400" b="1" i="0" u="none" strike="noStrike">
                <a:solidFill>
                  <a:srgbClr val="000000"/>
                </a:solidFill>
                <a:latin typeface="Noto Sans SC"/>
              </a:rPr>
              <a:t>区域视图。</a:t>
            </a:r>
          </a:p>
          <a:p>
            <a:pPr indent="0" algn="l">
              <a:lnSpc>
                <a:spcPct val="150000"/>
              </a:lnSpc>
            </a:pPr>
            <a:r>
              <a:rPr lang="en-US" sz="2400" b="0" i="0" u="none" strike="noStrike">
                <a:solidFill>
                  <a:srgbClr val="000000"/>
                </a:solidFill>
                <a:latin typeface="等线"/>
              </a:rPr>
              <a:t> </a:t>
            </a:r>
          </a:p>
        </p:txBody>
      </p:sp>
      <p:pic>
        <p:nvPicPr>
          <p:cNvPr id="4" name="Picture 4"/>
          <p:cNvPicPr>
            <a:picLocks noChangeAspect="1"/>
          </p:cNvPicPr>
          <p:nvPr/>
        </p:nvPicPr>
        <p:blipFill>
          <a:blip r:embed="rId3"/>
          <a:srcRect l="-906" t="-4572" r="906" b="64489"/>
          <a:stretch>
            <a:fillRect/>
          </a:stretch>
        </p:blipFill>
        <p:spPr>
          <a:xfrm>
            <a:off x="2096157" y="3123603"/>
            <a:ext cx="8913689" cy="1695941"/>
          </a:xfrm>
          <a:prstGeom prst="rect">
            <a:avLst/>
          </a:prstGeom>
          <a:ln w="12700">
            <a:noFill/>
            <a:prstDash val="solid"/>
          </a:ln>
        </p:spPr>
      </p:pic>
      <p:pic>
        <p:nvPicPr>
          <p:cNvPr id="5" name="Picture 5"/>
          <p:cNvPicPr>
            <a:picLocks noChangeAspect="1"/>
          </p:cNvPicPr>
          <p:nvPr/>
        </p:nvPicPr>
        <p:blipFill>
          <a:blip r:embed="rId4"/>
          <a:srcRect/>
          <a:stretch>
            <a:fillRect/>
          </a:stretch>
        </p:blipFill>
        <p:spPr>
          <a:xfrm>
            <a:off x="1865513" y="6713075"/>
            <a:ext cx="8841020" cy="2430925"/>
          </a:xfrm>
          <a:prstGeom prst="rect">
            <a:avLst/>
          </a:prstGeom>
          <a:ln w="12700">
            <a:noFill/>
            <a:prstDash val="solid"/>
          </a:ln>
        </p:spPr>
      </p:pic>
      <p:pic>
        <p:nvPicPr>
          <p:cNvPr id="6" name="Picture 6"/>
          <p:cNvPicPr>
            <a:picLocks noChangeAspect="1"/>
          </p:cNvPicPr>
          <p:nvPr/>
        </p:nvPicPr>
        <p:blipFill>
          <a:blip r:embed="rId3"/>
          <a:srcRect t="46814"/>
          <a:stretch>
            <a:fillRect/>
          </a:stretch>
        </p:blipFill>
        <p:spPr>
          <a:xfrm>
            <a:off x="1865513" y="4462705"/>
            <a:ext cx="8913689" cy="2250369"/>
          </a:xfrm>
          <a:prstGeom prst="rect">
            <a:avLst/>
          </a:prstGeom>
          <a:ln w="12700">
            <a:noFill/>
            <a:prstDash val="soli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4965" y="538416"/>
            <a:ext cx="3178711" cy="141179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检查路由表</a:t>
            </a:r>
          </a:p>
        </p:txBody>
      </p:sp>
      <p:pic>
        <p:nvPicPr>
          <p:cNvPr id="4" name="Picture 4"/>
          <p:cNvPicPr>
            <a:picLocks noChangeAspect="1"/>
          </p:cNvPicPr>
          <p:nvPr/>
        </p:nvPicPr>
        <p:blipFill>
          <a:blip r:embed="rId3"/>
          <a:srcRect b="6531"/>
          <a:stretch>
            <a:fillRect/>
          </a:stretch>
        </p:blipFill>
        <p:spPr>
          <a:xfrm>
            <a:off x="1422189" y="1668621"/>
            <a:ext cx="10198100" cy="7229116"/>
          </a:xfrm>
          <a:prstGeom prst="rect">
            <a:avLst/>
          </a:prstGeom>
          <a:ln w="12700">
            <a:noFill/>
            <a:prstDash val="soli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87512" y="860831"/>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如果路由命令输入错误，或者要删除</a:t>
            </a:r>
            <a:r>
              <a:rPr lang="en-US" sz="2400" b="1" i="0" u="none" strike="noStrike">
                <a:solidFill>
                  <a:srgbClr val="000000"/>
                </a:solidFill>
                <a:latin typeface="等线"/>
              </a:rPr>
              <a:t>ospf</a:t>
            </a:r>
            <a:r>
              <a:rPr lang="en-US" sz="2400" b="1" i="0" u="none" strike="noStrike">
                <a:solidFill>
                  <a:srgbClr val="000000"/>
                </a:solidFill>
                <a:latin typeface="Noto Sans SC"/>
              </a:rPr>
              <a:t>配置，需要在输入命令前加</a:t>
            </a:r>
            <a:r>
              <a:rPr lang="en-US" sz="2400" b="1" i="0" u="none" strike="noStrike">
                <a:solidFill>
                  <a:srgbClr val="000000"/>
                </a:solidFill>
                <a:latin typeface="等线"/>
              </a:rPr>
              <a:t>undo</a:t>
            </a:r>
          </a:p>
        </p:txBody>
      </p:sp>
      <p:sp>
        <p:nvSpPr>
          <p:cNvPr id="4" name="AutoShape 4"/>
          <p:cNvSpPr/>
          <p:nvPr/>
        </p:nvSpPr>
        <p:spPr>
          <a:xfrm>
            <a:off x="787512" y="2968097"/>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endParaRPr lang="en-US" sz="1100"/>
          </a:p>
        </p:txBody>
      </p:sp>
      <p:pic>
        <p:nvPicPr>
          <p:cNvPr id="5" name="Picture 5"/>
          <p:cNvPicPr>
            <a:picLocks noChangeAspect="1"/>
          </p:cNvPicPr>
          <p:nvPr/>
        </p:nvPicPr>
        <p:blipFill>
          <a:blip r:embed="rId3"/>
          <a:srcRect/>
          <a:stretch>
            <a:fillRect/>
          </a:stretch>
        </p:blipFill>
        <p:spPr>
          <a:xfrm>
            <a:off x="2228820" y="3824176"/>
            <a:ext cx="6990685" cy="1188823"/>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2228820" y="1928049"/>
            <a:ext cx="9126351" cy="660520"/>
          </a:xfrm>
          <a:prstGeom prst="rect">
            <a:avLst/>
          </a:prstGeom>
          <a:ln w="12700">
            <a:noFill/>
            <a:prstDash val="soli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问题汇总</a:t>
            </a:r>
            <a:endParaRPr lang="en-US" sz="1100"/>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实验过程中可能会出现的问题</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出现无限</a:t>
            </a:r>
            <a:r>
              <a:rPr lang="en-US" sz="2400" b="1" i="0" u="none" strike="noStrike">
                <a:solidFill>
                  <a:srgbClr val="000000"/>
                </a:solidFill>
                <a:latin typeface="等线"/>
              </a:rPr>
              <a:t>#</a:t>
            </a:r>
          </a:p>
        </p:txBody>
      </p:sp>
      <p:pic>
        <p:nvPicPr>
          <p:cNvPr id="4" name="Picture 4"/>
          <p:cNvPicPr>
            <a:picLocks noChangeAspect="1"/>
          </p:cNvPicPr>
          <p:nvPr/>
        </p:nvPicPr>
        <p:blipFill>
          <a:blip r:embed="rId3"/>
          <a:srcRect l="211" t="9013" r="4273" b="76683"/>
          <a:stretch>
            <a:fillRect/>
          </a:stretch>
        </p:blipFill>
        <p:spPr>
          <a:xfrm>
            <a:off x="1689620" y="1837864"/>
            <a:ext cx="9957325" cy="1225193"/>
          </a:xfrm>
          <a:prstGeom prst="rect">
            <a:avLst/>
          </a:prstGeom>
          <a:ln w="12700">
            <a:noFill/>
            <a:prstDash val="solid"/>
          </a:ln>
        </p:spPr>
      </p:pic>
      <p:sp>
        <p:nvSpPr>
          <p:cNvPr id="5" name="AutoShape 5"/>
          <p:cNvSpPr/>
          <p:nvPr/>
        </p:nvSpPr>
        <p:spPr>
          <a:xfrm>
            <a:off x="707657" y="3257583"/>
            <a:ext cx="8125608" cy="861775"/>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解决方法（先耐心等待几分钟）</a:t>
            </a:r>
            <a:endParaRPr lang="en-US" sz="1100"/>
          </a:p>
          <a:p>
            <a:pPr indent="0" algn="l">
              <a:lnSpc>
                <a:spcPct val="100000"/>
              </a:lnSpc>
            </a:pPr>
            <a:r>
              <a:rPr lang="en-US" sz="2400" b="0" i="0" u="none" strike="noStrike">
                <a:solidFill>
                  <a:srgbClr val="000000"/>
                </a:solidFill>
                <a:latin typeface="等线"/>
              </a:rPr>
              <a:t> </a:t>
            </a:r>
          </a:p>
        </p:txBody>
      </p:sp>
      <p:pic>
        <p:nvPicPr>
          <p:cNvPr id="6" name="Picture 6"/>
          <p:cNvPicPr>
            <a:picLocks noChangeAspect="1"/>
          </p:cNvPicPr>
          <p:nvPr/>
        </p:nvPicPr>
        <p:blipFill>
          <a:blip r:embed="rId4"/>
          <a:srcRect/>
          <a:stretch>
            <a:fillRect/>
          </a:stretch>
        </p:blipFill>
        <p:spPr>
          <a:xfrm>
            <a:off x="1689620" y="3914169"/>
            <a:ext cx="10066840" cy="4333548"/>
          </a:xfrm>
          <a:prstGeom prst="rect">
            <a:avLst/>
          </a:prstGeom>
          <a:ln w="12700">
            <a:noFill/>
            <a:prstDash val="solid"/>
          </a:ln>
        </p:spPr>
      </p:pic>
      <p:sp>
        <p:nvSpPr>
          <p:cNvPr id="7" name="AutoShape 7"/>
          <p:cNvSpPr/>
          <p:nvPr/>
        </p:nvSpPr>
        <p:spPr>
          <a:xfrm>
            <a:off x="1689620" y="8473884"/>
            <a:ext cx="8207395"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新建拓扑、重启软件、重新安装软件、重启电脑 …</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考核方法</a:t>
            </a:r>
            <a:endParaRPr lang="en-US" sz="1100"/>
          </a:p>
        </p:txBody>
      </p:sp>
      <p:pic>
        <p:nvPicPr>
          <p:cNvPr id="3" name="Picture 3"/>
          <p:cNvPicPr>
            <a:picLocks noChangeAspect="1"/>
          </p:cNvPicPr>
          <p:nvPr/>
        </p:nvPicPr>
        <p:blipFill>
          <a:blip r:embed="rId3"/>
          <a:srcRect/>
          <a:stretch>
            <a:fillRect/>
          </a:stretch>
        </p:blipFill>
        <p:spPr>
          <a:xfrm>
            <a:off x="561731" y="1181499"/>
            <a:ext cx="13088233" cy="7155715"/>
          </a:xfrm>
          <a:prstGeom prst="rect">
            <a:avLst/>
          </a:prstGeom>
          <a:ln w="12700">
            <a:noFill/>
            <a:prstDash val="solid"/>
          </a:ln>
        </p:spPr>
      </p:pic>
      <p:sp>
        <p:nvSpPr>
          <p:cNvPr id="4" name="矩形: 圆角 3">
            <a:extLst>
              <a:ext uri="{FF2B5EF4-FFF2-40B4-BE49-F238E27FC236}">
                <a16:creationId xmlns:a16="http://schemas.microsoft.com/office/drawing/2014/main" id="{DD9D1BA7-33AF-4274-92F2-F4ABC6E8C5AB}"/>
              </a:ext>
            </a:extLst>
          </p:cNvPr>
          <p:cNvSpPr/>
          <p:nvPr/>
        </p:nvSpPr>
        <p:spPr>
          <a:xfrm>
            <a:off x="681645" y="6600305"/>
            <a:ext cx="12020202" cy="465513"/>
          </a:xfrm>
          <a:prstGeom prst="roundRect">
            <a:avLst>
              <a:gd name="adj" fmla="val 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6C11CC86-2639-4EDB-9AF5-F2A08487D191}"/>
              </a:ext>
            </a:extLst>
          </p:cNvPr>
          <p:cNvSpPr txBox="1"/>
          <p:nvPr/>
        </p:nvSpPr>
        <p:spPr>
          <a:xfrm>
            <a:off x="731520" y="6600305"/>
            <a:ext cx="12070080" cy="461665"/>
          </a:xfrm>
          <a:prstGeom prst="rect">
            <a:avLst/>
          </a:prstGeom>
          <a:noFill/>
        </p:spPr>
        <p:txBody>
          <a:bodyPr wrap="square" rtlCol="0">
            <a:spAutoFit/>
          </a:bodyPr>
          <a:lstStyle/>
          <a:p>
            <a:r>
              <a:rPr lang="en-US" altLang="zh-CN" sz="2400" dirty="0">
                <a:hlinkClick r:id="rId4"/>
              </a:rPr>
              <a:t>2120240797@mail.nankai.edu.cn</a:t>
            </a:r>
            <a:r>
              <a:rPr lang="en-US" altLang="zh-CN" sz="2400" dirty="0"/>
              <a:t>  </a:t>
            </a:r>
            <a:r>
              <a:rPr lang="zh-CN" altLang="en-US" sz="2400" dirty="0"/>
              <a:t>截至时间为 </a:t>
            </a:r>
            <a:r>
              <a:rPr lang="en-US" altLang="zh-CN" sz="2400" dirty="0"/>
              <a:t>2024/12/2</a:t>
            </a:r>
            <a:endParaRPr lang="zh-CN" altLang="en-US" sz="24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2801</Words>
  <Application>Microsoft Office PowerPoint</Application>
  <PresentationFormat>自定义</PresentationFormat>
  <Paragraphs>375</Paragraphs>
  <Slides>25</Slides>
  <Notes>25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25</vt:i4>
      </vt:variant>
    </vt:vector>
  </HeadingPairs>
  <TitlesOfParts>
    <vt:vector size="35" baseType="lpstr">
      <vt:lpstr>Noto Sans SC</vt:lpstr>
      <vt:lpstr>PingFang SC</vt:lpstr>
      <vt:lpstr>等线</vt:lpstr>
      <vt:lpstr>宋体</vt:lpstr>
      <vt:lpstr>微软雅黑</vt:lpstr>
      <vt:lpstr>Arial</vt:lpstr>
      <vt:lpstr>Source Code Pro</vt:lpstr>
      <vt:lpstr>Times New Roman</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一珉 左</cp:lastModifiedBy>
  <cp:revision>4</cp:revision>
  <dcterms:modified xsi:type="dcterms:W3CDTF">2025-12-01T10:36:10Z</dcterms:modified>
</cp:coreProperties>
</file>