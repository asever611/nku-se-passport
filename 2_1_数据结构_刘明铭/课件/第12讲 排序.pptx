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.xml" ContentType="application/vnd.openxmlformats-officedocument.presentationml.notesSlide+xml"/>
  <Override PartName="/ppt/tags/tag60.xml" ContentType="application/vnd.openxmlformats-officedocument.presentationml.tags+xml"/>
  <Override PartName="/ppt/notesSlides/notesSlide3.xml" ContentType="application/vnd.openxmlformats-officedocument.presentationml.notesSlide+xml"/>
  <Override PartName="/ppt/tags/tag6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1.xml" ContentType="application/vnd.openxmlformats-officedocument.presentationml.notesSlide+xml"/>
  <Override PartName="/ppt/tags/tag69.xml" ContentType="application/vnd.openxmlformats-officedocument.presentationml.tags+xml"/>
  <Override PartName="/ppt/notesSlides/notesSlide2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24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84"/>
  </p:notesMasterIdLst>
  <p:handoutMasterIdLst>
    <p:handoutMasterId r:id="rId85"/>
  </p:handoutMasterIdLst>
  <p:sldIdLst>
    <p:sldId id="1464" r:id="rId3"/>
    <p:sldId id="1465" r:id="rId4"/>
    <p:sldId id="1532" r:id="rId5"/>
    <p:sldId id="1467" r:id="rId6"/>
    <p:sldId id="1468" r:id="rId7"/>
    <p:sldId id="1825" r:id="rId8"/>
    <p:sldId id="1469" r:id="rId9"/>
    <p:sldId id="1470" r:id="rId10"/>
    <p:sldId id="1471" r:id="rId11"/>
    <p:sldId id="1683" r:id="rId12"/>
    <p:sldId id="1472" r:id="rId13"/>
    <p:sldId id="1473" r:id="rId14"/>
    <p:sldId id="1684" r:id="rId15"/>
    <p:sldId id="1474" r:id="rId16"/>
    <p:sldId id="1760" r:id="rId17"/>
    <p:sldId id="1475" r:id="rId18"/>
    <p:sldId id="1761" r:id="rId19"/>
    <p:sldId id="1763" r:id="rId20"/>
    <p:sldId id="1762" r:id="rId21"/>
    <p:sldId id="1764" r:id="rId22"/>
    <p:sldId id="1765" r:id="rId23"/>
    <p:sldId id="1766" r:id="rId24"/>
    <p:sldId id="1767" r:id="rId25"/>
    <p:sldId id="1768" r:id="rId26"/>
    <p:sldId id="1907" r:id="rId27"/>
    <p:sldId id="1769" r:id="rId28"/>
    <p:sldId id="1770" r:id="rId29"/>
    <p:sldId id="1906" r:id="rId30"/>
    <p:sldId id="1774" r:id="rId31"/>
    <p:sldId id="1771" r:id="rId32"/>
    <p:sldId id="1772" r:id="rId33"/>
    <p:sldId id="1773" r:id="rId34"/>
    <p:sldId id="1775" r:id="rId35"/>
    <p:sldId id="1776" r:id="rId36"/>
    <p:sldId id="1480" r:id="rId37"/>
    <p:sldId id="1481" r:id="rId38"/>
    <p:sldId id="1826" r:id="rId39"/>
    <p:sldId id="1488" r:id="rId40"/>
    <p:sldId id="1489" r:id="rId41"/>
    <p:sldId id="1490" r:id="rId42"/>
    <p:sldId id="1491" r:id="rId43"/>
    <p:sldId id="1492" r:id="rId44"/>
    <p:sldId id="1493" r:id="rId45"/>
    <p:sldId id="1827" r:id="rId46"/>
    <p:sldId id="1494" r:id="rId47"/>
    <p:sldId id="1495" r:id="rId48"/>
    <p:sldId id="1496" r:id="rId49"/>
    <p:sldId id="1497" r:id="rId50"/>
    <p:sldId id="1498" r:id="rId51"/>
    <p:sldId id="1499" r:id="rId52"/>
    <p:sldId id="1500" r:id="rId53"/>
    <p:sldId id="1501" r:id="rId54"/>
    <p:sldId id="1502" r:id="rId55"/>
    <p:sldId id="1503" r:id="rId56"/>
    <p:sldId id="1504" r:id="rId57"/>
    <p:sldId id="1828" r:id="rId58"/>
    <p:sldId id="1505" r:id="rId59"/>
    <p:sldId id="1506" r:id="rId60"/>
    <p:sldId id="1507" r:id="rId61"/>
    <p:sldId id="1508" r:id="rId62"/>
    <p:sldId id="1509" r:id="rId63"/>
    <p:sldId id="1510" r:id="rId64"/>
    <p:sldId id="1511" r:id="rId65"/>
    <p:sldId id="1512" r:id="rId66"/>
    <p:sldId id="1513" r:id="rId67"/>
    <p:sldId id="1514" r:id="rId68"/>
    <p:sldId id="1515" r:id="rId69"/>
    <p:sldId id="1516" r:id="rId70"/>
    <p:sldId id="1517" r:id="rId71"/>
    <p:sldId id="1518" r:id="rId72"/>
    <p:sldId id="1519" r:id="rId73"/>
    <p:sldId id="1520" r:id="rId74"/>
    <p:sldId id="1521" r:id="rId75"/>
    <p:sldId id="1522" r:id="rId76"/>
    <p:sldId id="1523" r:id="rId77"/>
    <p:sldId id="1829" r:id="rId78"/>
    <p:sldId id="1679" r:id="rId79"/>
    <p:sldId id="1680" r:id="rId80"/>
    <p:sldId id="1681" r:id="rId81"/>
    <p:sldId id="1682" r:id="rId82"/>
    <p:sldId id="645" r:id="rId83"/>
  </p:sldIdLst>
  <p:sldSz cx="9144000" cy="6858000" type="screen4x3"/>
  <p:notesSz cx="7099300" cy="10234613"/>
  <p:custDataLst>
    <p:tags r:id="rId86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87" d="100"/>
          <a:sy n="87" d="100"/>
        </p:scale>
        <p:origin x="1552" y="52"/>
      </p:cViewPr>
      <p:guideLst>
        <p:guide orient="horz" pos="2209"/>
        <p:guide pos="29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bleStyles" Target="tableStyle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2024/12/17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2024/12/17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08050" y="4667250"/>
            <a:ext cx="4997450" cy="441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908050" y="4667250"/>
            <a:ext cx="4997450" cy="441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2024/12/17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2024/12/17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7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9" Type="http://schemas.openxmlformats.org/officeDocument/2006/relationships/image" Target="../media/image47.pn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42" Type="http://schemas.openxmlformats.org/officeDocument/2006/relationships/image" Target="../media/image50.png"/><Relationship Id="rId47" Type="http://schemas.openxmlformats.org/officeDocument/2006/relationships/image" Target="../media/image55.png"/><Relationship Id="rId50" Type="http://schemas.openxmlformats.org/officeDocument/2006/relationships/image" Target="../media/image58.png"/><Relationship Id="rId55" Type="http://schemas.openxmlformats.org/officeDocument/2006/relationships/image" Target="../media/image63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png"/><Relationship Id="rId29" Type="http://schemas.openxmlformats.org/officeDocument/2006/relationships/image" Target="../media/image37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40" Type="http://schemas.openxmlformats.org/officeDocument/2006/relationships/image" Target="../media/image48.png"/><Relationship Id="rId45" Type="http://schemas.openxmlformats.org/officeDocument/2006/relationships/image" Target="../media/image53.png"/><Relationship Id="rId53" Type="http://schemas.openxmlformats.org/officeDocument/2006/relationships/image" Target="../media/image61.png"/><Relationship Id="rId58" Type="http://schemas.openxmlformats.org/officeDocument/2006/relationships/image" Target="../media/image66.png"/><Relationship Id="rId5" Type="http://schemas.openxmlformats.org/officeDocument/2006/relationships/image" Target="../media/image13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43" Type="http://schemas.openxmlformats.org/officeDocument/2006/relationships/image" Target="../media/image51.png"/><Relationship Id="rId48" Type="http://schemas.openxmlformats.org/officeDocument/2006/relationships/image" Target="../media/image56.png"/><Relationship Id="rId56" Type="http://schemas.openxmlformats.org/officeDocument/2006/relationships/image" Target="../media/image64.png"/><Relationship Id="rId8" Type="http://schemas.openxmlformats.org/officeDocument/2006/relationships/image" Target="../media/image16.png"/><Relationship Id="rId51" Type="http://schemas.openxmlformats.org/officeDocument/2006/relationships/image" Target="../media/image59.png"/><Relationship Id="rId3" Type="http://schemas.openxmlformats.org/officeDocument/2006/relationships/notesSlide" Target="../notesSlides/notesSlide23.xml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46.png"/><Relationship Id="rId46" Type="http://schemas.openxmlformats.org/officeDocument/2006/relationships/image" Target="../media/image54.png"/><Relationship Id="rId59" Type="http://schemas.openxmlformats.org/officeDocument/2006/relationships/image" Target="../media/image67.png"/><Relationship Id="rId20" Type="http://schemas.openxmlformats.org/officeDocument/2006/relationships/image" Target="../media/image28.png"/><Relationship Id="rId41" Type="http://schemas.openxmlformats.org/officeDocument/2006/relationships/image" Target="../media/image49.png"/><Relationship Id="rId54" Type="http://schemas.openxmlformats.org/officeDocument/2006/relationships/image" Target="../media/image62.png"/><Relationship Id="rId1" Type="http://schemas.openxmlformats.org/officeDocument/2006/relationships/tags" Target="../tags/tag78.xml"/><Relationship Id="rId6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49" Type="http://schemas.openxmlformats.org/officeDocument/2006/relationships/image" Target="../media/image57.png"/><Relationship Id="rId57" Type="http://schemas.openxmlformats.org/officeDocument/2006/relationships/image" Target="../media/image65.png"/><Relationship Id="rId10" Type="http://schemas.openxmlformats.org/officeDocument/2006/relationships/image" Target="../media/image18.png"/><Relationship Id="rId31" Type="http://schemas.openxmlformats.org/officeDocument/2006/relationships/image" Target="../media/image39.png"/><Relationship Id="rId44" Type="http://schemas.openxmlformats.org/officeDocument/2006/relationships/image" Target="../media/image52.png"/><Relationship Id="rId52" Type="http://schemas.openxmlformats.org/officeDocument/2006/relationships/image" Target="../media/image60.png"/><Relationship Id="rId60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4" Type="http://schemas.openxmlformats.org/officeDocument/2006/relationships/image" Target="../media/image6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 排序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已经接触过的排序算法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887412" y="1690689"/>
            <a:ext cx="7369175" cy="4570412"/>
          </a:xfrm>
        </p:spPr>
        <p:txBody>
          <a:bodyPr/>
          <a:lstStyle/>
          <a:p>
            <a:r>
              <a:rPr lang="zh-CN" altLang="en-US" dirty="0"/>
              <a:t>选择排序</a:t>
            </a:r>
            <a:endParaRPr lang="en-US" altLang="zh-CN" dirty="0"/>
          </a:p>
          <a:p>
            <a:r>
              <a:rPr lang="zh-CN" altLang="en-US" dirty="0"/>
              <a:t>冒泡排序</a:t>
            </a:r>
            <a:endParaRPr lang="en-US" altLang="zh-CN" dirty="0"/>
          </a:p>
          <a:p>
            <a:r>
              <a:rPr lang="zh-CN" altLang="en-US" dirty="0"/>
              <a:t>插入排序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堆排序</a:t>
            </a:r>
          </a:p>
          <a:p>
            <a:endParaRPr lang="zh-CN" altLang="en-US" dirty="0"/>
          </a:p>
          <a:p>
            <a:r>
              <a:rPr lang="zh-CN" altLang="en-US" dirty="0"/>
              <a:t>箱子排序</a:t>
            </a:r>
            <a:endParaRPr lang="en-US" altLang="zh-CN" dirty="0"/>
          </a:p>
          <a:p>
            <a:r>
              <a:rPr lang="zh-CN" altLang="en-US" dirty="0"/>
              <a:t>基数排序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快速、希尔、堆、归并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按照排序时排序对象存放的设备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内部排序:排序过程中数据对象全部在内存中的排序。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外部排序:排序过程数据对象并非完全在内存中的排序</a:t>
            </a:r>
            <a:endParaRPr lang="zh-CN" altLang="en-US" sz="2400" dirty="0"/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sym typeface="+mn-ea"/>
              </a:rPr>
              <a:t>按照排序是的基本操作是否基于关键字的比较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基于比较：基本操作——关键字的比较和记录的移动，其最差时间下限已经被证明为Ω（nlogn）。</a:t>
            </a:r>
            <a:endParaRPr lang="zh-CN" altLang="en-US" sz="2400" dirty="0"/>
          </a:p>
          <a:p>
            <a:pPr marL="788035" lvl="2" indent="-170815">
              <a:lnSpc>
                <a:spcPts val="2730"/>
              </a:lnSpc>
              <a:spcBef>
                <a:spcPts val="835"/>
              </a:spcBef>
            </a:pP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交换排序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气泡、快速排序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）；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选择排序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直接选择排序、堆排序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）；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插入排序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直接插入、折半插入、希尔</a:t>
            </a:r>
            <a:r>
              <a:rPr lang="zh-CN" altLang="en-US" sz="2400" spc="-10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）、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归并排序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二路归并排序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）。</a:t>
            </a:r>
            <a:endParaRPr lang="zh-CN" altLang="en-US" sz="2400" dirty="0">
              <a:latin typeface="+mn-ea"/>
              <a:cs typeface="+mn-ea"/>
            </a:endParaRPr>
          </a:p>
          <a:p>
            <a:pPr marL="601980" marR="5080" lvl="0" indent="-250825">
              <a:lnSpc>
                <a:spcPct val="123000"/>
              </a:lnSpc>
              <a:spcBef>
                <a:spcPts val="70"/>
              </a:spcBef>
            </a:pPr>
            <a:r>
              <a:rPr lang="zh-CN" altLang="en-US" sz="2400" dirty="0">
                <a:sym typeface="+mn-ea"/>
              </a:rPr>
              <a:t>不基于比较：根据根据组成关键字的的分量及其分布特征，如基数排序(箱子排序)。</a:t>
            </a:r>
            <a:endParaRPr sz="2880" spc="-15" dirty="0">
              <a:latin typeface="+mn-ea"/>
              <a:cs typeface="+mn-ea"/>
            </a:endParaRPr>
          </a:p>
          <a:p>
            <a:endParaRPr lang="zh-CN" altLang="en-US"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排序算法性能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基本操作</a:t>
            </a:r>
            <a:endParaRPr lang="en-US" altLang="zh-CN" dirty="0"/>
          </a:p>
          <a:p>
            <a:pPr lvl="1"/>
            <a:r>
              <a:rPr lang="zh-CN" altLang="en-US" dirty="0"/>
              <a:t>比较</a:t>
            </a:r>
            <a:endParaRPr lang="en-US" altLang="zh-CN" dirty="0"/>
          </a:p>
          <a:p>
            <a:pPr lvl="1"/>
            <a:r>
              <a:rPr lang="zh-CN" altLang="en-US" dirty="0"/>
              <a:t>移动</a:t>
            </a:r>
            <a:endParaRPr lang="en-US" altLang="zh-CN" dirty="0"/>
          </a:p>
          <a:p>
            <a:r>
              <a:rPr lang="zh-CN" altLang="en-US" dirty="0"/>
              <a:t>辅助空间</a:t>
            </a:r>
            <a:endParaRPr lang="en-US" altLang="zh-CN" dirty="0"/>
          </a:p>
          <a:p>
            <a:pPr lvl="1"/>
            <a:r>
              <a:rPr lang="zh-CN" altLang="en-US" dirty="0"/>
              <a:t>在数据规模一定的条件下，除了存放待排序记录占用的存储空间之外，执行算法所需要的其他额外存储空间。</a:t>
            </a:r>
            <a:endParaRPr lang="en-US" altLang="zh-CN" dirty="0"/>
          </a:p>
          <a:p>
            <a:r>
              <a:rPr lang="zh-CN" altLang="en-US" dirty="0"/>
              <a:t>算法本身的复杂度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快速排序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基于 交换排序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气泡排序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45"/>
              </a:spcBef>
              <a:buNone/>
              <a:tabLst>
                <a:tab pos="723900" algn="l"/>
                <a:tab pos="2976245" algn="l"/>
                <a:tab pos="4221480" algn="l"/>
              </a:tabLst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void	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BubbleSort</a:t>
            </a:r>
            <a:r>
              <a:rPr lang="en-US" altLang="zh-CN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 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 n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, LIST	&amp;A 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2700" marR="735965" indent="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{	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fo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=1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&lt;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n-1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) </a:t>
            </a:r>
          </a:p>
          <a:p>
            <a:pPr marL="12700" marR="735965" indent="88138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fo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 j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=n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&gt;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i+1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j-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2700" marR="735965" indent="160655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A[j].key</a:t>
            </a:r>
            <a:r>
              <a:rPr lang="en-US" altLang="zh-CN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A[j-1].key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155700" indent="821055">
              <a:lnSpc>
                <a:spcPct val="100000"/>
              </a:lnSpc>
              <a:spcBef>
                <a:spcPts val="1005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swap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(A[j],</a:t>
            </a:r>
            <a:r>
              <a:rPr lang="en-US" altLang="zh-CN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A[j-1])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1005"/>
              </a:spcBef>
              <a:buNone/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}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6854"/>
            <a:ext cx="7886700" cy="5150069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最坏情况（反序）</a:t>
            </a:r>
            <a:endParaRPr lang="en-US" altLang="zh-CN" dirty="0"/>
          </a:p>
          <a:p>
            <a:pPr lvl="1"/>
            <a:r>
              <a:rPr lang="zh-CN" altLang="en-US" dirty="0"/>
              <a:t>比较次数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交换次数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时间复杂度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最好情况（正序）</a:t>
            </a:r>
            <a:endParaRPr lang="en-US" altLang="zh-CN" dirty="0"/>
          </a:p>
          <a:p>
            <a:pPr lvl="1"/>
            <a:r>
              <a:rPr lang="zh-CN" altLang="en-US" dirty="0"/>
              <a:t>比较次数 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ym typeface="+mn-ea"/>
              </a:rPr>
              <a:t>交换</a:t>
            </a:r>
            <a:r>
              <a:rPr lang="zh-CN" altLang="en-US" dirty="0"/>
              <a:t>次数  </a:t>
            </a:r>
            <a:r>
              <a:rPr lang="en-US" altLang="zh-CN" dirty="0"/>
              <a:t>0</a:t>
            </a:r>
          </a:p>
          <a:p>
            <a:pPr lvl="1"/>
            <a:r>
              <a:rPr lang="zh-CN" altLang="en-US" dirty="0"/>
              <a:t>时间复杂度</a:t>
            </a:r>
            <a:r>
              <a:rPr lang="en-US" altLang="zh-CN" dirty="0"/>
              <a:t>O(</a:t>
            </a:r>
            <a:r>
              <a:rPr lang="en-US" altLang="zh-CN" dirty="0">
                <a:sym typeface="+mn-ea"/>
              </a:rPr>
              <a:t>n</a:t>
            </a:r>
            <a:r>
              <a:rPr lang="en-US" altLang="zh-CN" baseline="30000" dirty="0">
                <a:sym typeface="+mn-ea"/>
              </a:rPr>
              <a:t>2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空间复杂度</a:t>
            </a:r>
            <a:r>
              <a:rPr lang="en-US" altLang="zh-CN" dirty="0"/>
              <a:t>S(1)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32355" y="1801495"/>
          <a:ext cx="166370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06500" imgH="431800" progId="Equation.KSEE3">
                  <p:embed/>
                </p:oleObj>
              </mc:Choice>
              <mc:Fallback>
                <p:oleObj r:id="rId3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2355" y="1801495"/>
                        <a:ext cx="166370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09190" y="2580640"/>
          <a:ext cx="1697355" cy="608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06500" imgH="431800" progId="Equation.KSEE3">
                  <p:embed/>
                </p:oleObj>
              </mc:Choice>
              <mc:Fallback>
                <p:oleObj r:id="rId3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09190" y="2580640"/>
                        <a:ext cx="1697355" cy="608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2225" y="4349750"/>
          <a:ext cx="172593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06500" imgH="431800" progId="Equation.KSEE3">
                  <p:embed/>
                </p:oleObj>
              </mc:Choice>
              <mc:Fallback>
                <p:oleObj r:id="rId3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2225" y="4349750"/>
                        <a:ext cx="1725930" cy="617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快速算法是对气泡排序的改进</a:t>
            </a:r>
            <a:endParaRPr lang="en-US" altLang="zh-CN" dirty="0"/>
          </a:p>
          <a:p>
            <a:pPr lvl="1"/>
            <a:r>
              <a:rPr lang="zh-CN" altLang="en-US" dirty="0"/>
              <a:t>在气泡排序中，记录的比较和移动是在相邻单元中进行 的，记录每次交换只能上移或下移一个单元，因而总的比较次数和移动次数较多。</a:t>
            </a:r>
          </a:p>
        </p:txBody>
      </p:sp>
      <p:sp>
        <p:nvSpPr>
          <p:cNvPr id="4" name="object 11"/>
          <p:cNvSpPr txBox="1"/>
          <p:nvPr/>
        </p:nvSpPr>
        <p:spPr>
          <a:xfrm>
            <a:off x="2551430" y="3378200"/>
            <a:ext cx="4116705" cy="3689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减少总的比较次数和移动次</a:t>
            </a:r>
            <a:r>
              <a:rPr lang="zh-CN"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</a:p>
        </p:txBody>
      </p:sp>
      <p:sp>
        <p:nvSpPr>
          <p:cNvPr id="5" name="object 12"/>
          <p:cNvSpPr/>
          <p:nvPr/>
        </p:nvSpPr>
        <p:spPr>
          <a:xfrm>
            <a:off x="4498923" y="3917101"/>
            <a:ext cx="360680" cy="539750"/>
          </a:xfrm>
          <a:custGeom>
            <a:avLst/>
            <a:gdLst/>
            <a:ahLst/>
            <a:cxnLst/>
            <a:rect l="l" t="t" r="r" b="b"/>
            <a:pathLst>
              <a:path w="360679" h="539750">
                <a:moveTo>
                  <a:pt x="360426" y="404622"/>
                </a:moveTo>
                <a:lnTo>
                  <a:pt x="270510" y="404622"/>
                </a:lnTo>
                <a:lnTo>
                  <a:pt x="270509" y="0"/>
                </a:lnTo>
                <a:lnTo>
                  <a:pt x="89915" y="0"/>
                </a:lnTo>
                <a:lnTo>
                  <a:pt x="89916" y="404622"/>
                </a:lnTo>
                <a:lnTo>
                  <a:pt x="0" y="404622"/>
                </a:lnTo>
                <a:lnTo>
                  <a:pt x="180594" y="539496"/>
                </a:lnTo>
                <a:lnTo>
                  <a:pt x="360426" y="40462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4"/>
          <p:cNvSpPr/>
          <p:nvPr/>
        </p:nvSpPr>
        <p:spPr>
          <a:xfrm>
            <a:off x="4519450" y="5070007"/>
            <a:ext cx="360680" cy="539750"/>
          </a:xfrm>
          <a:custGeom>
            <a:avLst/>
            <a:gdLst/>
            <a:ahLst/>
            <a:cxnLst/>
            <a:rect l="l" t="t" r="r" b="b"/>
            <a:pathLst>
              <a:path w="360679" h="539750">
                <a:moveTo>
                  <a:pt x="360426" y="404622"/>
                </a:moveTo>
                <a:lnTo>
                  <a:pt x="270510" y="404622"/>
                </a:lnTo>
                <a:lnTo>
                  <a:pt x="270509" y="0"/>
                </a:lnTo>
                <a:lnTo>
                  <a:pt x="89915" y="0"/>
                </a:lnTo>
                <a:lnTo>
                  <a:pt x="89916" y="404622"/>
                </a:lnTo>
                <a:lnTo>
                  <a:pt x="0" y="404622"/>
                </a:lnTo>
                <a:lnTo>
                  <a:pt x="180594" y="539496"/>
                </a:lnTo>
                <a:lnTo>
                  <a:pt x="360426" y="40462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6"/>
          <p:cNvSpPr txBox="1"/>
          <p:nvPr/>
        </p:nvSpPr>
        <p:spPr>
          <a:xfrm>
            <a:off x="2376817" y="5677304"/>
            <a:ext cx="4544695" cy="7385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92075" lvl="0" algn="l"/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较大记录从前面直接移动到后面 较小记录从后面直接移动到前面</a:t>
            </a:r>
          </a:p>
        </p:txBody>
      </p:sp>
      <p:sp>
        <p:nvSpPr>
          <p:cNvPr id="8" name="object 17"/>
          <p:cNvSpPr txBox="1"/>
          <p:nvPr/>
        </p:nvSpPr>
        <p:spPr>
          <a:xfrm>
            <a:off x="2690761" y="4524319"/>
            <a:ext cx="3977004" cy="3689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92075" lvl="0" algn="l"/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增大记录的比较和移动距离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84" name="AutoShap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构思</a:t>
            </a:r>
          </a:p>
        </p:txBody>
      </p:sp>
      <p:sp>
        <p:nvSpPr>
          <p:cNvPr id="114688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C. A. R. Hoare, 1962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，分治策略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将元素序列分为两个子序列：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= S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S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empus Sans ITC" panose="04020404030D07020202" pitchFamily="82" charset="0"/>
                <a:ea typeface="hakuyokaishu7000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empus Sans ITC" panose="04020404030D07020202" pitchFamily="82" charset="0"/>
                <a:ea typeface="hakuyokaishu7000" pitchFamily="2" charset="-122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子序列规模缩小，而且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各自内部的排序互相独立：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max(S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min(S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递归地对子序列分别排序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+ T(n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≈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T(n/2)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平凡解：只剩单个元素时，本身就是解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合并结果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</a:p>
        </p:txBody>
      </p:sp>
      <p:pic>
        <p:nvPicPr>
          <p:cNvPr id="4100" name="Picture 10" descr="022509_CACMp38_AnInterview_lar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2455863"/>
            <a:ext cx="2368550" cy="3709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/>
              <a:t>思想</a:t>
            </a:r>
            <a:endParaRPr lang="en-US" altLang="zh-CN" sz="2000" dirty="0"/>
          </a:p>
          <a:p>
            <a:pPr lvl="1"/>
            <a:r>
              <a:rPr lang="zh-CN" altLang="en-US" sz="2000" dirty="0"/>
              <a:t>采用的是分治策略</a:t>
            </a:r>
            <a:r>
              <a:rPr lang="en-US" altLang="zh-CN" sz="2000" dirty="0"/>
              <a:t>(</a:t>
            </a:r>
            <a:r>
              <a:rPr lang="zh-CN" altLang="en-US" sz="2000" dirty="0"/>
              <a:t>一般与递归技术结合使用</a:t>
            </a:r>
            <a:r>
              <a:rPr lang="en-US" altLang="zh-CN" sz="2000" dirty="0"/>
              <a:t>)</a:t>
            </a:r>
            <a:r>
              <a:rPr lang="zh-CN" altLang="en-US" sz="2000" dirty="0"/>
              <a:t>，以减少排序过程 中的比较次数。</a:t>
            </a:r>
            <a:endParaRPr lang="en-US" altLang="zh-CN" sz="2000" dirty="0"/>
          </a:p>
          <a:p>
            <a:pPr lvl="1"/>
            <a:r>
              <a:rPr lang="zh-CN" altLang="en-US" sz="2000" dirty="0"/>
              <a:t>通过一趟排序将要排序的数据分割成独立的两部分，其中 一部分的所有数据都比另外一不部分的所有数据都要小， 然后再按此方法对这两部分数据分别进行快速排序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在一个分区中，所有在</a:t>
            </a:r>
            <a:r>
              <a:rPr lang="en-US" altLang="zh-CN" sz="2000" dirty="0"/>
              <a:t>s</a:t>
            </a:r>
            <a:r>
              <a:rPr lang="zh-CN" altLang="en-US" sz="2000" dirty="0"/>
              <a:t>下标之前的元素都小于等于</a:t>
            </a:r>
            <a:r>
              <a:rPr lang="en-US" altLang="zh-CN" sz="2000" dirty="0"/>
              <a:t>A[s]</a:t>
            </a:r>
            <a:r>
              <a:rPr lang="zh-CN" altLang="en-US" sz="2000" dirty="0"/>
              <a:t>，所有在</a:t>
            </a:r>
            <a:r>
              <a:rPr lang="en-US" altLang="zh-CN" sz="2000" dirty="0"/>
              <a:t>s</a:t>
            </a:r>
            <a:r>
              <a:rPr lang="zh-CN" altLang="en-US" sz="2000" dirty="0"/>
              <a:t>下标之后的元素都大于等于</a:t>
            </a:r>
            <a:r>
              <a:rPr lang="en-US" altLang="zh-CN" sz="2000" dirty="0"/>
              <a:t>A[s]</a:t>
            </a:r>
          </a:p>
          <a:p>
            <a:pPr lvl="1" eaLnBrk="1" hangingPunct="1"/>
            <a:r>
              <a:rPr lang="zh-CN" altLang="en-US" sz="2000" dirty="0"/>
              <a:t>建立了一个分区以后，</a:t>
            </a:r>
            <a:r>
              <a:rPr lang="en-US" altLang="zh-CN" sz="2000" dirty="0"/>
              <a:t>A[s]</a:t>
            </a:r>
            <a:r>
              <a:rPr lang="zh-CN" altLang="en-US" sz="2000" dirty="0"/>
              <a:t>已经位于它在有序数组中的最终位置。接下来使用同样的方法继续对</a:t>
            </a:r>
            <a:r>
              <a:rPr lang="en-US" altLang="zh-CN" sz="2000" dirty="0"/>
              <a:t>A[s]</a:t>
            </a:r>
            <a:r>
              <a:rPr lang="zh-CN" altLang="en-US" sz="2000" dirty="0"/>
              <a:t>前和</a:t>
            </a:r>
            <a:r>
              <a:rPr lang="en-US" altLang="zh-CN" sz="2000" dirty="0"/>
              <a:t>A[s]</a:t>
            </a:r>
            <a:r>
              <a:rPr lang="zh-CN" altLang="en-US" sz="2000" dirty="0"/>
              <a:t>后的子数组分别进行排序</a:t>
            </a:r>
          </a:p>
        </p:txBody>
      </p:sp>
      <p:sp>
        <p:nvSpPr>
          <p:cNvPr id="20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快速排序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930083" y="5535930"/>
          <a:ext cx="46307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6865" imgH="304800" progId="Equation.3">
                  <p:embed/>
                </p:oleObj>
              </mc:Choice>
              <mc:Fallback>
                <p:oleObj name="Equation" r:id="rId3" imgW="1586865" imgH="304800" progId="Equation.3">
                  <p:embed/>
                  <p:pic>
                    <p:nvPicPr>
                      <p:cNvPr id="0" name="图片 4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083" y="5535930"/>
                        <a:ext cx="4630737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283" y="1513490"/>
            <a:ext cx="8599433" cy="4610922"/>
          </a:xfrm>
        </p:spPr>
        <p:txBody>
          <a:bodyPr>
            <a:normAutofit/>
          </a:bodyPr>
          <a:lstStyle/>
          <a:p>
            <a:r>
              <a:rPr lang="zh-CN" altLang="en-US" dirty="0"/>
              <a:t>算法实现</a:t>
            </a:r>
            <a:endParaRPr lang="en-US" altLang="zh-CN" dirty="0"/>
          </a:p>
          <a:p>
            <a:pPr lvl="1"/>
            <a:r>
              <a:rPr lang="zh-CN" altLang="en-US" dirty="0"/>
              <a:t>设被排序的无序区为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],……,A[j]</a:t>
            </a:r>
            <a:endParaRPr lang="zh-CN" altLang="en-US" dirty="0"/>
          </a:p>
          <a:p>
            <a:pPr marR="5080" lvl="1"/>
            <a:r>
              <a:rPr lang="zh-CN" altLang="en-US" dirty="0"/>
              <a:t>基准元素选取：选择其中的一个记录的关键字</a:t>
            </a:r>
            <a:r>
              <a:rPr lang="en-US" altLang="zh-CN" dirty="0"/>
              <a:t>v </a:t>
            </a:r>
            <a:r>
              <a:rPr lang="zh-CN" altLang="en-US" dirty="0"/>
              <a:t>作为基准元素</a:t>
            </a:r>
            <a:r>
              <a:rPr lang="en-US" altLang="zh-CN" dirty="0"/>
              <a:t>(</a:t>
            </a:r>
            <a:r>
              <a:rPr lang="zh-CN" altLang="en-US" dirty="0"/>
              <a:t>控制关键字</a:t>
            </a:r>
            <a:r>
              <a:rPr lang="en-US" altLang="zh-CN" dirty="0">
                <a:solidFill>
                  <a:srgbClr val="FF0000"/>
                </a:solidFill>
              </a:rPr>
              <a:t> (</a:t>
            </a:r>
            <a:r>
              <a:rPr lang="zh-CN" altLang="en-US" dirty="0">
                <a:solidFill>
                  <a:srgbClr val="FF0000"/>
                </a:solidFill>
              </a:rPr>
              <a:t>怎么选择？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  <a:p>
            <a:pPr marR="5080" lvl="1"/>
            <a:r>
              <a:rPr lang="zh-CN" altLang="en-US" dirty="0"/>
              <a:t>划分：通过基准元素</a:t>
            </a:r>
            <a:r>
              <a:rPr lang="en-US" altLang="zh-CN" dirty="0"/>
              <a:t>v </a:t>
            </a:r>
            <a:r>
              <a:rPr lang="zh-CN" altLang="en-US" dirty="0"/>
              <a:t>把无序区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],……,A[j]</a:t>
            </a:r>
            <a:r>
              <a:rPr lang="zh-CN" altLang="en-US" dirty="0"/>
              <a:t>划分成左、 右两部分，使得左边的各记录的关键字都小于</a:t>
            </a:r>
            <a:r>
              <a:rPr lang="en-US" altLang="zh-CN" dirty="0"/>
              <a:t>v </a:t>
            </a:r>
            <a:r>
              <a:rPr lang="zh-CN" altLang="en-US" dirty="0"/>
              <a:t>；右边的 各记录的关键字都大于等于</a:t>
            </a:r>
            <a:r>
              <a:rPr lang="en-US" altLang="zh-CN" dirty="0"/>
              <a:t>v </a:t>
            </a:r>
            <a:endParaRPr lang="zh-CN" altLang="en-US" dirty="0"/>
          </a:p>
          <a:p>
            <a:pPr marR="36195" lvl="1"/>
            <a:r>
              <a:rPr lang="zh-CN" altLang="en-US" dirty="0"/>
              <a:t>递归求解：重复</a:t>
            </a:r>
            <a:r>
              <a:rPr lang="en-US" altLang="zh-CN" dirty="0"/>
              <a:t>(1)~(2)</a:t>
            </a:r>
            <a:r>
              <a:rPr lang="zh-CN" altLang="en-US" dirty="0"/>
              <a:t>，分别对左边和右边部分递归地进 行快速排序；</a:t>
            </a:r>
          </a:p>
          <a:p>
            <a:pPr lvl="1"/>
            <a:r>
              <a:rPr lang="zh-CN" altLang="en-US" dirty="0"/>
              <a:t>组合：左、右两部分均有序，整个序列有序。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83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轴点</a:t>
            </a:r>
          </a:p>
        </p:txBody>
      </p:sp>
      <p:sp>
        <p:nvSpPr>
          <p:cNvPr id="15288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pivot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 序列中特殊的一类元素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其左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右侧的元素都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比它更大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亦即，轴点就是已经“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就位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”的元素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以轴点为界，原序列被分成左、右两个独立子序列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递归划分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如果子序列已各自排好，那么也就完成了整体排序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左右串接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实际上，一个序列完全有序，当且仅当其中所有元素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皆为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</a:p>
        </p:txBody>
      </p:sp>
      <p:sp>
        <p:nvSpPr>
          <p:cNvPr id="1528898" name="Rectangle 66"/>
          <p:cNvSpPr/>
          <p:nvPr/>
        </p:nvSpPr>
        <p:spPr>
          <a:xfrm>
            <a:off x="4572000" y="1989138"/>
            <a:ext cx="3671888" cy="1800225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28899" name="Rectangle 67"/>
          <p:cNvSpPr/>
          <p:nvPr/>
        </p:nvSpPr>
        <p:spPr>
          <a:xfrm>
            <a:off x="611188" y="2708275"/>
            <a:ext cx="3529012" cy="1081088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28900" name="AutoShape 68"/>
          <p:cNvSpPr/>
          <p:nvPr/>
        </p:nvSpPr>
        <p:spPr>
          <a:xfrm flipV="1">
            <a:off x="1042988" y="3286125"/>
            <a:ext cx="2665412" cy="503238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127" name="Rectangle 69"/>
          <p:cNvSpPr/>
          <p:nvPr/>
        </p:nvSpPr>
        <p:spPr>
          <a:xfrm>
            <a:off x="2309813" y="3816350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1528902" name="AutoShape 70"/>
          <p:cNvSpPr/>
          <p:nvPr/>
        </p:nvSpPr>
        <p:spPr>
          <a:xfrm>
            <a:off x="611188" y="2852738"/>
            <a:ext cx="431800" cy="9366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3" name="Oval 71"/>
          <p:cNvSpPr/>
          <p:nvPr/>
        </p:nvSpPr>
        <p:spPr>
          <a:xfrm>
            <a:off x="6111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lo</a:t>
            </a:r>
          </a:p>
        </p:txBody>
      </p:sp>
      <p:sp>
        <p:nvSpPr>
          <p:cNvPr id="1528904" name="AutoShape 72"/>
          <p:cNvSpPr/>
          <p:nvPr/>
        </p:nvSpPr>
        <p:spPr>
          <a:xfrm>
            <a:off x="3708400" y="3068638"/>
            <a:ext cx="431800" cy="7207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5" name="Oval 73"/>
          <p:cNvSpPr/>
          <p:nvPr/>
        </p:nvSpPr>
        <p:spPr>
          <a:xfrm>
            <a:off x="3708400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mi-1</a:t>
            </a:r>
          </a:p>
        </p:txBody>
      </p:sp>
      <p:sp>
        <p:nvSpPr>
          <p:cNvPr id="1528906" name="AutoShape 74"/>
          <p:cNvSpPr>
            <a:spLocks noChangeArrowheads="1"/>
          </p:cNvSpPr>
          <p:nvPr/>
        </p:nvSpPr>
        <p:spPr bwMode="auto">
          <a:xfrm>
            <a:off x="4140200" y="2708275"/>
            <a:ext cx="431800" cy="108108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EAEAEA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</a:t>
            </a:r>
          </a:p>
        </p:txBody>
      </p:sp>
      <p:sp>
        <p:nvSpPr>
          <p:cNvPr id="1528907" name="Oval 75"/>
          <p:cNvSpPr/>
          <p:nvPr/>
        </p:nvSpPr>
        <p:spPr>
          <a:xfrm>
            <a:off x="4140200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</a:t>
            </a:r>
          </a:p>
        </p:txBody>
      </p:sp>
      <p:sp>
        <p:nvSpPr>
          <p:cNvPr id="1528908" name="Rectangle 76"/>
          <p:cNvSpPr/>
          <p:nvPr/>
        </p:nvSpPr>
        <p:spPr>
          <a:xfrm>
            <a:off x="4572000" y="2708275"/>
            <a:ext cx="3600450" cy="1081088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28909" name="AutoShape 77"/>
          <p:cNvSpPr/>
          <p:nvPr/>
        </p:nvSpPr>
        <p:spPr>
          <a:xfrm flipV="1">
            <a:off x="5003800" y="2276475"/>
            <a:ext cx="2808288" cy="1512888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136" name="Rectangle 78"/>
          <p:cNvSpPr/>
          <p:nvPr/>
        </p:nvSpPr>
        <p:spPr>
          <a:xfrm>
            <a:off x="6411913" y="3816350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1528911" name="AutoShape 79"/>
          <p:cNvSpPr/>
          <p:nvPr/>
        </p:nvSpPr>
        <p:spPr>
          <a:xfrm>
            <a:off x="4572000" y="1989138"/>
            <a:ext cx="431800" cy="18002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2" name="Oval 80"/>
          <p:cNvSpPr/>
          <p:nvPr/>
        </p:nvSpPr>
        <p:spPr>
          <a:xfrm>
            <a:off x="45735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mi+1</a:t>
            </a:r>
          </a:p>
        </p:txBody>
      </p:sp>
      <p:sp>
        <p:nvSpPr>
          <p:cNvPr id="1528913" name="AutoShape 81"/>
          <p:cNvSpPr/>
          <p:nvPr/>
        </p:nvSpPr>
        <p:spPr>
          <a:xfrm>
            <a:off x="7808913" y="2420938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4" name="Oval 82"/>
          <p:cNvSpPr/>
          <p:nvPr/>
        </p:nvSpPr>
        <p:spPr>
          <a:xfrm>
            <a:off x="78120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hi-1</a:t>
            </a:r>
          </a:p>
        </p:txBody>
      </p:sp>
      <p:sp>
        <p:nvSpPr>
          <p:cNvPr id="1528915" name="Line 83"/>
          <p:cNvSpPr/>
          <p:nvPr/>
        </p:nvSpPr>
        <p:spPr>
          <a:xfrm>
            <a:off x="542925" y="2708275"/>
            <a:ext cx="77739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28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89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528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" fill="hold"/>
                                        <p:tgtEl>
                                          <p:spTgt spid="1528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300" fill="hold"/>
                                        <p:tgtEl>
                                          <p:spTgt spid="1528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28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528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1528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2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28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528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28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528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28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1528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5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28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28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6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528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28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7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528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528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9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528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28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528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528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2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28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28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28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528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4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28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898"/>
                  </p:tgtEl>
                </p:cond>
              </p:nextCondLst>
            </p:seq>
          </p:childTnLst>
        </p:cTn>
      </p:par>
    </p:tnLst>
    <p:bldLst>
      <p:bldP spid="1528898" grpId="0" bldLvl="0" animBg="1"/>
      <p:bldP spid="1528899" grpId="0" bldLvl="0" animBg="1"/>
      <p:bldP spid="1528902" grpId="0" bldLvl="0" animBg="1"/>
      <p:bldP spid="1528902" grpId="1" bldLvl="0" animBg="1"/>
      <p:bldP spid="1528902" grpId="2" bldLvl="0" animBg="1"/>
      <p:bldP spid="1528903" grpId="0"/>
      <p:bldP spid="1528903" grpId="1"/>
      <p:bldP spid="1528904" grpId="0" bldLvl="0" animBg="1"/>
      <p:bldP spid="1528904" grpId="1" bldLvl="0" animBg="1"/>
      <p:bldP spid="1528904" grpId="2" bldLvl="0" animBg="1"/>
      <p:bldP spid="1528905" grpId="0"/>
      <p:bldP spid="1528905" grpId="1"/>
      <p:bldP spid="1528906" grpId="0" bldLvl="0" animBg="1"/>
      <p:bldP spid="1528906" grpId="1" bldLvl="0" animBg="1"/>
      <p:bldP spid="1528906" grpId="2" bldLvl="0" animBg="1"/>
      <p:bldP spid="1528907" grpId="0"/>
      <p:bldP spid="1528907" grpId="1"/>
      <p:bldP spid="1528911" grpId="0" bldLvl="0" animBg="1"/>
      <p:bldP spid="1528911" grpId="1" bldLvl="0" animBg="1"/>
      <p:bldP spid="1528911" grpId="2" bldLvl="0" animBg="1"/>
      <p:bldP spid="1528912" grpId="0"/>
      <p:bldP spid="1528912" grpId="1"/>
      <p:bldP spid="1528913" grpId="0" bldLvl="0" animBg="1"/>
      <p:bldP spid="1528913" grpId="1" bldLvl="0" animBg="1"/>
      <p:bldP spid="1528913" grpId="2" bldLvl="0" animBg="1"/>
      <p:bldP spid="1528914" grpId="0"/>
      <p:bldP spid="152891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5368925" cy="4953000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//Quicksort[A[l…r]]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//input:</a:t>
            </a:r>
            <a:r>
              <a:rPr lang="zh-CN" altLang="en-US" sz="2000"/>
              <a:t>数组</a:t>
            </a:r>
            <a:r>
              <a:rPr lang="en-US" altLang="zh-CN" sz="2000"/>
              <a:t>A[0…n-1]</a:t>
            </a:r>
            <a:r>
              <a:rPr lang="zh-CN" altLang="en-US" sz="2000"/>
              <a:t>中的子数组</a:t>
            </a:r>
            <a:r>
              <a:rPr lang="en-US" altLang="zh-CN" sz="2000"/>
              <a:t>A[l…r]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//output:</a:t>
            </a:r>
            <a:r>
              <a:rPr lang="zh-CN" altLang="en-US" sz="2000"/>
              <a:t>排序后的数组</a:t>
            </a:r>
            <a:endParaRPr lang="en-US" altLang="zh-CN" sz="200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if l&lt;r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s</a:t>
            </a:r>
            <a:r>
              <a:rPr lang="en-US" altLang="zh-CN" sz="2000">
                <a:sym typeface="Wingdings" panose="05000000000000000000" pitchFamily="2" charset="2"/>
              </a:rPr>
              <a:t>Partition(A[l…r])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>
                <a:sym typeface="Wingdings" panose="05000000000000000000" pitchFamily="2" charset="2"/>
              </a:rPr>
              <a:t>	Quicksort(A[l…s-1])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>
                <a:sym typeface="Wingdings" panose="05000000000000000000" pitchFamily="2" charset="2"/>
              </a:rPr>
              <a:t>	Quicksort(A[s+1…r])</a:t>
            </a:r>
            <a:endParaRPr lang="zh-CN" altLang="en-US" sz="2000"/>
          </a:p>
          <a:p>
            <a:pPr eaLnBrk="1" hangingPunct="1">
              <a:buFont typeface="Wingdings 3" panose="05040102010807070707" pitchFamily="18" charset="2"/>
              <a:buNone/>
            </a:pPr>
            <a:endParaRPr lang="zh-CN" altLang="en-US" sz="2000"/>
          </a:p>
        </p:txBody>
      </p:sp>
      <p:sp>
        <p:nvSpPr>
          <p:cNvPr id="30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</a:t>
            </a:r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4081463" y="3657600"/>
            <a:ext cx="45339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ea typeface="黑体" panose="02010609060101010101" charset="-122"/>
              </a:rPr>
              <a:t>算法的前提是选择一个元素，根据该元素的值来划分子数组，这个元素就是中轴，我们暂时选择数组的第一个元素作为中轴，即</a:t>
            </a:r>
            <a:r>
              <a:rPr lang="en-US" altLang="zh-CN">
                <a:solidFill>
                  <a:srgbClr val="000000"/>
                </a:solidFill>
                <a:ea typeface="黑体" panose="02010609060101010101" charset="-122"/>
              </a:rPr>
              <a:t>p=A[l]</a:t>
            </a:r>
            <a:endParaRPr lang="zh-CN" altLang="en-US">
              <a:solidFill>
                <a:srgbClr val="000000"/>
              </a:solidFill>
              <a:ea typeface="黑体" panose="02010609060101010101" charset="-122"/>
            </a:endParaRPr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/>
        </p:nvGraphicFramePr>
        <p:xfrm>
          <a:off x="2206625" y="5510213"/>
          <a:ext cx="28892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8830" imgH="165100" progId="Equation.3">
                  <p:embed/>
                </p:oleObj>
              </mc:Choice>
              <mc:Fallback>
                <p:oleObj name="Equation" r:id="rId3" imgW="798830" imgH="165100" progId="Equation.3">
                  <p:embed/>
                  <p:pic>
                    <p:nvPicPr>
                      <p:cNvPr id="0" name="图片 5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5510213"/>
                        <a:ext cx="288925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/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快速排序</a:t>
            </a:r>
          </a:p>
        </p:txBody>
      </p:sp>
      <p:sp>
        <p:nvSpPr>
          <p:cNvPr id="157901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8187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Vector&lt;T&gt;::quickSort(Rank lo, Rank hi) {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if (hi==lo) return;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单元素区间自然有序，否则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Rank mi = partition(lo, hi 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构造轴点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quickSort(lo, mi-1);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quickSort(mi + 1, hi);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前缀、后缀递归排序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R="0" lvl="0" algn="l" defTabSz="193675" rtl="0" eaLnBrk="1" fontAlgn="base" latinLnBrk="0" hangingPunct="1">
              <a:lnSpc>
                <a:spcPct val="155000"/>
              </a:lnSpc>
              <a:spcBef>
                <a:spcPct val="4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79012" name="Rectangle 4"/>
          <p:cNvSpPr/>
          <p:nvPr/>
        </p:nvSpPr>
        <p:spPr>
          <a:xfrm>
            <a:off x="4604385" y="4227195"/>
            <a:ext cx="3671888" cy="1800225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79013" name="Rectangle 5"/>
          <p:cNvSpPr/>
          <p:nvPr/>
        </p:nvSpPr>
        <p:spPr>
          <a:xfrm>
            <a:off x="643573" y="4946333"/>
            <a:ext cx="3529012" cy="1081087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79014" name="AutoShape 6"/>
          <p:cNvSpPr/>
          <p:nvPr/>
        </p:nvSpPr>
        <p:spPr>
          <a:xfrm flipV="1">
            <a:off x="1075373" y="5524183"/>
            <a:ext cx="2665412" cy="503237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151" name="Rectangle 7"/>
          <p:cNvSpPr/>
          <p:nvPr/>
        </p:nvSpPr>
        <p:spPr>
          <a:xfrm>
            <a:off x="2342198" y="5903595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1579016" name="AutoShape 8"/>
          <p:cNvSpPr/>
          <p:nvPr/>
        </p:nvSpPr>
        <p:spPr>
          <a:xfrm>
            <a:off x="643573" y="5090795"/>
            <a:ext cx="431800" cy="9366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7" name="Oval 9"/>
          <p:cNvSpPr/>
          <p:nvPr/>
        </p:nvSpPr>
        <p:spPr>
          <a:xfrm>
            <a:off x="6435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lo</a:t>
            </a:r>
          </a:p>
        </p:txBody>
      </p:sp>
      <p:sp>
        <p:nvSpPr>
          <p:cNvPr id="1579018" name="AutoShape 10"/>
          <p:cNvSpPr/>
          <p:nvPr/>
        </p:nvSpPr>
        <p:spPr>
          <a:xfrm>
            <a:off x="3740785" y="5306695"/>
            <a:ext cx="431800" cy="7207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9" name="Oval 11"/>
          <p:cNvSpPr/>
          <p:nvPr/>
        </p:nvSpPr>
        <p:spPr>
          <a:xfrm>
            <a:off x="3740785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mi-1</a:t>
            </a:r>
          </a:p>
        </p:txBody>
      </p:sp>
      <p:sp>
        <p:nvSpPr>
          <p:cNvPr id="1579020" name="AutoShape 12"/>
          <p:cNvSpPr>
            <a:spLocks noChangeArrowheads="1"/>
          </p:cNvSpPr>
          <p:nvPr/>
        </p:nvSpPr>
        <p:spPr bwMode="auto">
          <a:xfrm>
            <a:off x="4172585" y="4946333"/>
            <a:ext cx="431800" cy="108108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EAEAEA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</a:t>
            </a:r>
          </a:p>
        </p:txBody>
      </p:sp>
      <p:sp>
        <p:nvSpPr>
          <p:cNvPr id="1579021" name="Oval 13"/>
          <p:cNvSpPr/>
          <p:nvPr/>
        </p:nvSpPr>
        <p:spPr>
          <a:xfrm>
            <a:off x="4172585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</a:t>
            </a:r>
          </a:p>
        </p:txBody>
      </p:sp>
      <p:sp>
        <p:nvSpPr>
          <p:cNvPr id="1579022" name="Rectangle 14"/>
          <p:cNvSpPr/>
          <p:nvPr/>
        </p:nvSpPr>
        <p:spPr>
          <a:xfrm>
            <a:off x="4604385" y="4946333"/>
            <a:ext cx="3600450" cy="1081087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79023" name="AutoShape 15"/>
          <p:cNvSpPr/>
          <p:nvPr/>
        </p:nvSpPr>
        <p:spPr>
          <a:xfrm flipV="1">
            <a:off x="5036185" y="4514533"/>
            <a:ext cx="2808288" cy="1512887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160" name="Rectangle 16"/>
          <p:cNvSpPr/>
          <p:nvPr/>
        </p:nvSpPr>
        <p:spPr>
          <a:xfrm>
            <a:off x="6444298" y="5903595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1579025" name="AutoShape 17"/>
          <p:cNvSpPr/>
          <p:nvPr/>
        </p:nvSpPr>
        <p:spPr>
          <a:xfrm>
            <a:off x="4604385" y="4227195"/>
            <a:ext cx="431800" cy="18002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6" name="Oval 18"/>
          <p:cNvSpPr/>
          <p:nvPr/>
        </p:nvSpPr>
        <p:spPr>
          <a:xfrm>
            <a:off x="46059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mi+1</a:t>
            </a:r>
          </a:p>
        </p:txBody>
      </p:sp>
      <p:sp>
        <p:nvSpPr>
          <p:cNvPr id="1579027" name="AutoShape 19"/>
          <p:cNvSpPr/>
          <p:nvPr/>
        </p:nvSpPr>
        <p:spPr>
          <a:xfrm>
            <a:off x="7841298" y="465899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8" name="Oval 20"/>
          <p:cNvSpPr/>
          <p:nvPr/>
        </p:nvSpPr>
        <p:spPr>
          <a:xfrm>
            <a:off x="78444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</a:t>
            </a:r>
          </a:p>
        </p:txBody>
      </p:sp>
      <p:sp>
        <p:nvSpPr>
          <p:cNvPr id="1579029" name="Line 21"/>
          <p:cNvSpPr/>
          <p:nvPr/>
        </p:nvSpPr>
        <p:spPr>
          <a:xfrm>
            <a:off x="575310" y="4946333"/>
            <a:ext cx="77739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79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579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" fill="hold"/>
                                        <p:tgtEl>
                                          <p:spTgt spid="1579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300" fill="hold"/>
                                        <p:tgtEl>
                                          <p:spTgt spid="1579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79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579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6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79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7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79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579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79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1579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9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79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79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579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79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579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579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3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579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79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579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579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6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79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79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7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79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579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79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2"/>
                  </p:tgtEl>
                </p:cond>
              </p:nextCondLst>
            </p:seq>
          </p:childTnLst>
        </p:cTn>
      </p:par>
    </p:tnLst>
    <p:bldLst>
      <p:bldP spid="1579012" grpId="0" bldLvl="0" animBg="1"/>
      <p:bldP spid="1579013" grpId="0" bldLvl="0" animBg="1"/>
      <p:bldP spid="1579016" grpId="0" bldLvl="0" animBg="1"/>
      <p:bldP spid="1579016" grpId="1" bldLvl="0" animBg="1"/>
      <p:bldP spid="1579016" grpId="2" bldLvl="0" animBg="1"/>
      <p:bldP spid="1579017" grpId="0"/>
      <p:bldP spid="1579017" grpId="1"/>
      <p:bldP spid="1579018" grpId="0" bldLvl="0" animBg="1"/>
      <p:bldP spid="1579018" grpId="1" bldLvl="0" animBg="1"/>
      <p:bldP spid="1579018" grpId="2" bldLvl="0" animBg="1"/>
      <p:bldP spid="1579019" grpId="0"/>
      <p:bldP spid="1579019" grpId="1"/>
      <p:bldP spid="1579020" grpId="0" bldLvl="0" animBg="1"/>
      <p:bldP spid="1579020" grpId="1" bldLvl="0" animBg="1"/>
      <p:bldP spid="1579020" grpId="2" bldLvl="0" animBg="1"/>
      <p:bldP spid="1579021" grpId="0"/>
      <p:bldP spid="1579021" grpId="1"/>
      <p:bldP spid="1579025" grpId="0" bldLvl="0" animBg="1"/>
      <p:bldP spid="1579025" grpId="1" bldLvl="0" animBg="1"/>
      <p:bldP spid="1579025" grpId="2" bldLvl="0" animBg="1"/>
      <p:bldP spid="1579026" grpId="0"/>
      <p:bldP spid="1579026" grpId="1"/>
      <p:bldP spid="1579027" grpId="0" bldLvl="0" animBg="1"/>
      <p:bldP spid="1579027" grpId="1" bldLvl="0" animBg="1"/>
      <p:bldP spid="1579027" grpId="2" bldLvl="0" animBg="1"/>
      <p:bldP spid="1579028" grpId="0"/>
      <p:bldP spid="157902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思想</a:t>
            </a:r>
            <a:endParaRPr lang="en-US" altLang="zh-CN"/>
          </a:p>
          <a:p>
            <a:pPr lvl="1" eaLnBrk="1" hangingPunct="1"/>
            <a:r>
              <a:rPr lang="zh-CN" altLang="en-US" sz="2000"/>
              <a:t>为了建立一个分区，有许多不同的方法对元素重新排列，其中一种是基于</a:t>
            </a:r>
            <a:r>
              <a:rPr lang="zh-CN" altLang="en-US" sz="2000">
                <a:solidFill>
                  <a:srgbClr val="FF0000"/>
                </a:solidFill>
              </a:rPr>
              <a:t>两次扫描</a:t>
            </a:r>
            <a:r>
              <a:rPr lang="zh-CN" altLang="en-US" sz="2000"/>
              <a:t>子数组的高效算法</a:t>
            </a:r>
            <a:endParaRPr lang="en-US" altLang="zh-CN" sz="2000"/>
          </a:p>
          <a:p>
            <a:pPr lvl="1" eaLnBrk="1" hangingPunct="1"/>
            <a:r>
              <a:rPr lang="zh-CN" altLang="en-US" sz="2000"/>
              <a:t>一次是从左到右，另一次是从右到左，每次都把子数组的元素和中轴进行比较</a:t>
            </a:r>
            <a:endParaRPr lang="en-US" altLang="zh-CN" sz="2000"/>
          </a:p>
          <a:p>
            <a:pPr lvl="1" eaLnBrk="1" hangingPunct="1"/>
            <a:r>
              <a:rPr lang="zh-CN" altLang="en-US" sz="2000"/>
              <a:t>从左到右的扫描（</a:t>
            </a:r>
            <a:r>
              <a:rPr lang="en-US" altLang="zh-CN" sz="2000"/>
              <a:t>i</a:t>
            </a:r>
            <a:r>
              <a:rPr lang="zh-CN" altLang="en-US" sz="2000"/>
              <a:t>）从第二个元素开始，因为我们希望小于中轴的元素位于子数组的第一部分，扫描会忽略小于中轴的元素，直到遇到第一个大于等于中轴的元素才会</a:t>
            </a:r>
            <a:r>
              <a:rPr lang="zh-CN" altLang="en-US" sz="2000">
                <a:solidFill>
                  <a:srgbClr val="0000CC"/>
                </a:solidFill>
              </a:rPr>
              <a:t>停止</a:t>
            </a:r>
            <a:endParaRPr lang="en-US" altLang="zh-CN" sz="200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000"/>
              <a:t>从右到左的扫描（</a:t>
            </a:r>
            <a:r>
              <a:rPr lang="en-US" altLang="zh-CN" sz="2000"/>
              <a:t>j</a:t>
            </a:r>
            <a:r>
              <a:rPr lang="zh-CN" altLang="en-US" sz="2000"/>
              <a:t>）从最后一个元素开始，扫描忽略大于中轴的元素，直到遇到第一个小于等于中轴的元素才会</a:t>
            </a:r>
            <a:r>
              <a:rPr lang="zh-CN" altLang="en-US" sz="2000">
                <a:solidFill>
                  <a:srgbClr val="0000CC"/>
                </a:solidFill>
              </a:rPr>
              <a:t>停止</a:t>
            </a:r>
            <a:endParaRPr lang="en-US" altLang="zh-CN" sz="200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000"/>
              <a:t>两次扫描停止后，取决于扫描的指针是否相交，会发生</a:t>
            </a:r>
            <a:r>
              <a:rPr lang="en-US" altLang="zh-CN" sz="2000"/>
              <a:t>3</a:t>
            </a:r>
            <a:r>
              <a:rPr lang="zh-CN" altLang="en-US" sz="2000"/>
              <a:t>种不同的情况</a:t>
            </a:r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Partition</a:t>
            </a:r>
            <a:r>
              <a:rPr lang="zh-CN" altLang="en-US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4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构造轴点</a:t>
            </a:r>
          </a:p>
        </p:txBody>
      </p:sp>
      <p:sp>
        <p:nvSpPr>
          <p:cNvPr id="15462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任取一候选者（比如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[0]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两个指针：将序列分为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左段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右段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中段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待确定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G = NULL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交替向内移动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检查所指元素：若更小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大，则转移归入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L/G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 = hi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时，只需将候选者嵌入于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之间，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它即是轴点！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整个过程中，各元素最多移动一次（候选者两次）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</a:p>
        </p:txBody>
      </p:sp>
      <p:sp>
        <p:nvSpPr>
          <p:cNvPr id="1546290" name="AutoShape 50"/>
          <p:cNvSpPr>
            <a:spLocks noChangeArrowheads="1"/>
          </p:cNvSpPr>
          <p:nvPr/>
        </p:nvSpPr>
        <p:spPr bwMode="auto">
          <a:xfrm>
            <a:off x="3924300" y="277971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 ≤ pivot</a:t>
            </a:r>
          </a:p>
        </p:txBody>
      </p:sp>
      <p:sp>
        <p:nvSpPr>
          <p:cNvPr id="1546291" name="Line 51"/>
          <p:cNvSpPr/>
          <p:nvPr/>
        </p:nvSpPr>
        <p:spPr>
          <a:xfrm>
            <a:off x="5365750" y="3067050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292" name="Rectangle 52"/>
          <p:cNvSpPr>
            <a:spLocks noChangeArrowheads="1"/>
          </p:cNvSpPr>
          <p:nvPr/>
        </p:nvSpPr>
        <p:spPr bwMode="auto">
          <a:xfrm>
            <a:off x="5221288" y="3254375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546293" name="AutoShape 53"/>
          <p:cNvSpPr>
            <a:spLocks noChangeArrowheads="1"/>
          </p:cNvSpPr>
          <p:nvPr/>
        </p:nvSpPr>
        <p:spPr bwMode="auto">
          <a:xfrm>
            <a:off x="7092950" y="277971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 ≤ G</a:t>
            </a:r>
          </a:p>
        </p:txBody>
      </p:sp>
      <p:sp>
        <p:nvSpPr>
          <p:cNvPr id="1546294" name="AutoShape 54"/>
          <p:cNvSpPr>
            <a:spLocks noChangeArrowheads="1"/>
          </p:cNvSpPr>
          <p:nvPr/>
        </p:nvSpPr>
        <p:spPr bwMode="auto">
          <a:xfrm>
            <a:off x="5365750" y="277971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46295" name="AutoShape 55"/>
          <p:cNvSpPr>
            <a:spLocks noChangeArrowheads="1"/>
          </p:cNvSpPr>
          <p:nvPr/>
        </p:nvSpPr>
        <p:spPr bwMode="auto">
          <a:xfrm>
            <a:off x="6805613" y="3932238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46296" name="Line 56"/>
          <p:cNvSpPr/>
          <p:nvPr/>
        </p:nvSpPr>
        <p:spPr>
          <a:xfrm>
            <a:off x="6661150" y="4219575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297" name="Rectangle 57"/>
          <p:cNvSpPr>
            <a:spLocks noChangeArrowheads="1"/>
          </p:cNvSpPr>
          <p:nvPr/>
        </p:nvSpPr>
        <p:spPr bwMode="auto">
          <a:xfrm>
            <a:off x="6518275" y="4406900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546298" name="AutoShape 58"/>
          <p:cNvSpPr>
            <a:spLocks noChangeArrowheads="1"/>
          </p:cNvSpPr>
          <p:nvPr/>
        </p:nvSpPr>
        <p:spPr bwMode="auto">
          <a:xfrm>
            <a:off x="3925888" y="3932238"/>
            <a:ext cx="25908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</a:t>
            </a:r>
          </a:p>
        </p:txBody>
      </p:sp>
      <p:sp>
        <p:nvSpPr>
          <p:cNvPr id="1546299" name="Line 59"/>
          <p:cNvSpPr/>
          <p:nvPr/>
        </p:nvSpPr>
        <p:spPr>
          <a:xfrm>
            <a:off x="6661150" y="371633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0" name="Rectangle 60"/>
          <p:cNvSpPr>
            <a:spLocks noChangeArrowheads="1"/>
          </p:cNvSpPr>
          <p:nvPr/>
        </p:nvSpPr>
        <p:spPr bwMode="auto">
          <a:xfrm>
            <a:off x="6518275" y="342741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546301" name="AutoShape 61"/>
          <p:cNvSpPr>
            <a:spLocks noChangeArrowheads="1"/>
          </p:cNvSpPr>
          <p:nvPr/>
        </p:nvSpPr>
        <p:spPr bwMode="auto">
          <a:xfrm>
            <a:off x="6518275" y="3932238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546302" name="AutoShape 62"/>
          <p:cNvSpPr>
            <a:spLocks noChangeArrowheads="1"/>
          </p:cNvSpPr>
          <p:nvPr/>
        </p:nvSpPr>
        <p:spPr bwMode="auto">
          <a:xfrm>
            <a:off x="3924300" y="12668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546303" name="AutoShape 63"/>
          <p:cNvSpPr>
            <a:spLocks noChangeArrowheads="1"/>
          </p:cNvSpPr>
          <p:nvPr/>
        </p:nvSpPr>
        <p:spPr bwMode="auto">
          <a:xfrm>
            <a:off x="3924300" y="1627188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</a:p>
        </p:txBody>
      </p:sp>
      <p:sp>
        <p:nvSpPr>
          <p:cNvPr id="1546304" name="Line 64"/>
          <p:cNvSpPr/>
          <p:nvPr/>
        </p:nvSpPr>
        <p:spPr>
          <a:xfrm>
            <a:off x="3924300" y="194468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305" name="Rectangle 65"/>
          <p:cNvSpPr>
            <a:spLocks noChangeArrowheads="1"/>
          </p:cNvSpPr>
          <p:nvPr/>
        </p:nvSpPr>
        <p:spPr bwMode="auto">
          <a:xfrm>
            <a:off x="3781425" y="213201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546306" name="Line 66"/>
          <p:cNvSpPr/>
          <p:nvPr/>
        </p:nvSpPr>
        <p:spPr>
          <a:xfrm>
            <a:off x="7092950" y="256381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7" name="Rectangle 67"/>
          <p:cNvSpPr>
            <a:spLocks noChangeArrowheads="1"/>
          </p:cNvSpPr>
          <p:nvPr/>
        </p:nvSpPr>
        <p:spPr bwMode="auto">
          <a:xfrm>
            <a:off x="6950075" y="227488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546308" name="Line 68"/>
          <p:cNvSpPr/>
          <p:nvPr/>
        </p:nvSpPr>
        <p:spPr>
          <a:xfrm>
            <a:off x="8534400" y="1412875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9" name="Rectangle 69"/>
          <p:cNvSpPr>
            <a:spLocks noChangeArrowheads="1"/>
          </p:cNvSpPr>
          <p:nvPr/>
        </p:nvSpPr>
        <p:spPr bwMode="auto">
          <a:xfrm>
            <a:off x="8389938" y="1123950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6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46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46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546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1546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546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46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4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46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546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546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46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46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7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46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8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546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546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9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546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546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46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46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46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46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546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4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46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46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46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546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46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546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7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1546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546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8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46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546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9"/>
                  </p:tgtEl>
                </p:cond>
              </p:nextCondLst>
            </p:seq>
          </p:childTnLst>
        </p:cTn>
      </p:par>
    </p:tnLst>
    <p:bldLst>
      <p:bldP spid="1546290" grpId="0" bldLvl="0" animBg="1"/>
      <p:bldP spid="1546292" grpId="0" bldLvl="0" animBg="1"/>
      <p:bldP spid="1546292" grpId="1" bldLvl="0" animBg="1"/>
      <p:bldP spid="1546293" grpId="0" bldLvl="0" animBg="1"/>
      <p:bldP spid="1546294" grpId="0" bldLvl="0" animBg="1"/>
      <p:bldP spid="1546295" grpId="0" bldLvl="0" animBg="1"/>
      <p:bldP spid="1546297" grpId="0" bldLvl="0" animBg="1"/>
      <p:bldP spid="1546297" grpId="1" bldLvl="0" animBg="1"/>
      <p:bldP spid="1546298" grpId="0" bldLvl="0" animBg="1"/>
      <p:bldP spid="1546300" grpId="0" bldLvl="0" animBg="1"/>
      <p:bldP spid="1546300" grpId="1" bldLvl="0" animBg="1"/>
      <p:bldP spid="1546301" grpId="0" bldLvl="0" animBg="1"/>
      <p:bldP spid="1546302" grpId="0" bldLvl="0" animBg="1"/>
      <p:bldP spid="1546303" grpId="0" bldLvl="0" animBg="1"/>
      <p:bldP spid="1546305" grpId="0" bldLvl="0" animBg="1"/>
      <p:bldP spid="1546305" grpId="1" bldLvl="0" animBg="1"/>
      <p:bldP spid="1546307" grpId="0" bldLvl="0" animBg="1"/>
      <p:bldP spid="1546307" grpId="1" bldLvl="0" animBg="1"/>
      <p:bldP spid="1546309" grpId="0" bldLvl="0" animBg="1"/>
      <p:bldP spid="1546309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78" name="AutoShape 14"/>
          <p:cNvSpPr>
            <a:spLocks noGrp="1" noChangeArrowheads="1"/>
          </p:cNvSpPr>
          <p:nvPr>
            <p:ph type="title" idx="4294967295"/>
          </p:nvPr>
        </p:nvSpPr>
        <p:spPr>
          <a:xfrm>
            <a:off x="867410" y="359093"/>
            <a:ext cx="17195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：过程</a:t>
            </a:r>
          </a:p>
        </p:txBody>
      </p:sp>
      <p:sp>
        <p:nvSpPr>
          <p:cNvPr id="1547352" name="AutoShape 88"/>
          <p:cNvSpPr/>
          <p:nvPr/>
        </p:nvSpPr>
        <p:spPr>
          <a:xfrm>
            <a:off x="7740650" y="12684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3" name="AutoShape 89"/>
          <p:cNvSpPr/>
          <p:nvPr/>
        </p:nvSpPr>
        <p:spPr>
          <a:xfrm>
            <a:off x="539750" y="12684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4" name="AutoShape 90"/>
          <p:cNvSpPr/>
          <p:nvPr/>
        </p:nvSpPr>
        <p:spPr>
          <a:xfrm>
            <a:off x="1692275" y="1268413"/>
            <a:ext cx="5761038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5" name="AutoShape 91"/>
          <p:cNvSpPr/>
          <p:nvPr/>
        </p:nvSpPr>
        <p:spPr>
          <a:xfrm>
            <a:off x="6443663" y="2259013"/>
            <a:ext cx="129698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6" name="AutoShape 92"/>
          <p:cNvSpPr/>
          <p:nvPr/>
        </p:nvSpPr>
        <p:spPr>
          <a:xfrm>
            <a:off x="539750" y="22590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7" name="AutoShape 93"/>
          <p:cNvSpPr/>
          <p:nvPr/>
        </p:nvSpPr>
        <p:spPr>
          <a:xfrm>
            <a:off x="1692275" y="2259013"/>
            <a:ext cx="4464050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8" name="AutoShape 94"/>
          <p:cNvSpPr/>
          <p:nvPr/>
        </p:nvSpPr>
        <p:spPr>
          <a:xfrm>
            <a:off x="2987675" y="4295775"/>
            <a:ext cx="31686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9" name="AutoShape 95"/>
          <p:cNvSpPr/>
          <p:nvPr/>
        </p:nvSpPr>
        <p:spPr>
          <a:xfrm>
            <a:off x="539750" y="429577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0" name="AutoShape 96"/>
          <p:cNvSpPr/>
          <p:nvPr/>
        </p:nvSpPr>
        <p:spPr>
          <a:xfrm>
            <a:off x="1403350" y="12684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61" name="AutoShape 97"/>
          <p:cNvSpPr/>
          <p:nvPr/>
        </p:nvSpPr>
        <p:spPr>
          <a:xfrm>
            <a:off x="1403350" y="22590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62" name="AutoShape 98"/>
          <p:cNvSpPr/>
          <p:nvPr/>
        </p:nvSpPr>
        <p:spPr>
          <a:xfrm>
            <a:off x="6443663" y="3286125"/>
            <a:ext cx="129698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3" name="AutoShape 99"/>
          <p:cNvSpPr/>
          <p:nvPr/>
        </p:nvSpPr>
        <p:spPr>
          <a:xfrm>
            <a:off x="539750" y="328612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4" name="AutoShape 100"/>
          <p:cNvSpPr/>
          <p:nvPr/>
        </p:nvSpPr>
        <p:spPr>
          <a:xfrm>
            <a:off x="1692275" y="3286125"/>
            <a:ext cx="44640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5" name="AutoShape 101"/>
          <p:cNvSpPr/>
          <p:nvPr/>
        </p:nvSpPr>
        <p:spPr>
          <a:xfrm>
            <a:off x="2987675" y="5302250"/>
            <a:ext cx="31686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6" name="AutoShape 102"/>
          <p:cNvSpPr/>
          <p:nvPr/>
        </p:nvSpPr>
        <p:spPr>
          <a:xfrm>
            <a:off x="539750" y="1772845"/>
            <a:ext cx="5279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while ((lo &lt; hi) &amp;&amp; (pivot &lt;= _elem[hi])) hi--;</a:t>
            </a:r>
          </a:p>
        </p:txBody>
      </p:sp>
      <p:cxnSp>
        <p:nvCxnSpPr>
          <p:cNvPr id="1547367" name="AutoShape 103"/>
          <p:cNvCxnSpPr>
            <a:stCxn id="1547380" idx="2"/>
            <a:endCxn id="1547389" idx="0"/>
          </p:cNvCxnSpPr>
          <p:nvPr/>
        </p:nvCxnSpPr>
        <p:spPr>
          <a:xfrm rot="5400000">
            <a:off x="3568700" y="539750"/>
            <a:ext cx="711200" cy="4752975"/>
          </a:xfrm>
          <a:prstGeom prst="curvedConnector3">
            <a:avLst>
              <a:gd name="adj1" fmla="val 49778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68" name="AutoShape 104"/>
          <p:cNvSpPr/>
          <p:nvPr/>
        </p:nvSpPr>
        <p:spPr>
          <a:xfrm>
            <a:off x="6083300" y="2780908"/>
            <a:ext cx="2485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_elem[lo] = _elem[hi];</a:t>
            </a:r>
          </a:p>
        </p:txBody>
      </p:sp>
      <p:cxnSp>
        <p:nvCxnSpPr>
          <p:cNvPr id="1547369" name="AutoShape 105"/>
          <p:cNvCxnSpPr>
            <a:stCxn id="1547388" idx="2"/>
            <a:endCxn id="1547383" idx="0"/>
          </p:cNvCxnSpPr>
          <p:nvPr/>
        </p:nvCxnSpPr>
        <p:spPr>
          <a:xfrm rot="-5400000" flipH="1">
            <a:off x="4227513" y="3214688"/>
            <a:ext cx="690562" cy="3455987"/>
          </a:xfrm>
          <a:prstGeom prst="curvedConnector3">
            <a:avLst>
              <a:gd name="adj1" fmla="val 4988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0" name="AutoShape 106"/>
          <p:cNvSpPr/>
          <p:nvPr/>
        </p:nvSpPr>
        <p:spPr>
          <a:xfrm>
            <a:off x="539750" y="4797033"/>
            <a:ext cx="2485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_elem[hi] = _elem[lo];</a:t>
            </a:r>
          </a:p>
        </p:txBody>
      </p:sp>
      <p:cxnSp>
        <p:nvCxnSpPr>
          <p:cNvPr id="1547371" name="AutoShape 107"/>
          <p:cNvCxnSpPr>
            <a:stCxn id="1547384" idx="2"/>
            <a:endCxn id="1547380" idx="0"/>
          </p:cNvCxnSpPr>
          <p:nvPr/>
        </p:nvCxnSpPr>
        <p:spPr>
          <a:xfrm rot="5400000">
            <a:off x="6611938" y="1258888"/>
            <a:ext cx="673100" cy="1296987"/>
          </a:xfrm>
          <a:prstGeom prst="curvedConnector3">
            <a:avLst>
              <a:gd name="adj1" fmla="val 4976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2" name="AutoShape 108"/>
          <p:cNvSpPr/>
          <p:nvPr/>
        </p:nvSpPr>
        <p:spPr>
          <a:xfrm>
            <a:off x="3348038" y="3788970"/>
            <a:ext cx="5279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while ((lo &lt; hi) &amp;&amp; (_elem[lo] &lt;= pivot)) lo++;</a:t>
            </a:r>
          </a:p>
        </p:txBody>
      </p:sp>
      <p:cxnSp>
        <p:nvCxnSpPr>
          <p:cNvPr id="1547373" name="AutoShape 109"/>
          <p:cNvCxnSpPr>
            <a:stCxn id="1547389" idx="2"/>
            <a:endCxn id="1547388" idx="0"/>
          </p:cNvCxnSpPr>
          <p:nvPr/>
        </p:nvCxnSpPr>
        <p:spPr>
          <a:xfrm rot="-5400000" flipH="1">
            <a:off x="1849438" y="3286125"/>
            <a:ext cx="693737" cy="1296988"/>
          </a:xfrm>
          <a:prstGeom prst="curvedConnector3">
            <a:avLst>
              <a:gd name="adj1" fmla="val 4988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4" name="AutoShape 110"/>
          <p:cNvSpPr/>
          <p:nvPr/>
        </p:nvSpPr>
        <p:spPr>
          <a:xfrm>
            <a:off x="7740650" y="22590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5" name="AutoShape 111"/>
          <p:cNvSpPr/>
          <p:nvPr/>
        </p:nvSpPr>
        <p:spPr>
          <a:xfrm>
            <a:off x="7740650" y="328612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6" name="AutoShape 112"/>
          <p:cNvSpPr/>
          <p:nvPr/>
        </p:nvSpPr>
        <p:spPr>
          <a:xfrm>
            <a:off x="6443663" y="4294188"/>
            <a:ext cx="129698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7" name="AutoShape 113"/>
          <p:cNvSpPr/>
          <p:nvPr/>
        </p:nvSpPr>
        <p:spPr>
          <a:xfrm>
            <a:off x="7740650" y="4294188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8" name="AutoShape 114"/>
          <p:cNvSpPr/>
          <p:nvPr/>
        </p:nvSpPr>
        <p:spPr>
          <a:xfrm>
            <a:off x="6443663" y="5302250"/>
            <a:ext cx="129698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9" name="AutoShape 115"/>
          <p:cNvSpPr/>
          <p:nvPr/>
        </p:nvSpPr>
        <p:spPr>
          <a:xfrm>
            <a:off x="7740650" y="5302250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0" name="AutoShape 116"/>
          <p:cNvSpPr/>
          <p:nvPr/>
        </p:nvSpPr>
        <p:spPr>
          <a:xfrm>
            <a:off x="6156325" y="22590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hi</a:t>
            </a:r>
          </a:p>
        </p:txBody>
      </p:sp>
      <p:sp>
        <p:nvSpPr>
          <p:cNvPr id="1547381" name="AutoShape 117"/>
          <p:cNvSpPr/>
          <p:nvPr/>
        </p:nvSpPr>
        <p:spPr>
          <a:xfrm>
            <a:off x="6156325" y="429577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2" name="AutoShape 118"/>
          <p:cNvSpPr/>
          <p:nvPr/>
        </p:nvSpPr>
        <p:spPr>
          <a:xfrm>
            <a:off x="6156325" y="3286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3" name="AutoShape 119"/>
          <p:cNvSpPr/>
          <p:nvPr/>
        </p:nvSpPr>
        <p:spPr>
          <a:xfrm>
            <a:off x="6156325" y="53022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buSzPct val="75000"/>
            </a:pPr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hi</a:t>
            </a:r>
          </a:p>
        </p:txBody>
      </p:sp>
      <p:sp useBgFill="1">
        <p:nvSpPr>
          <p:cNvPr id="1547384" name="AutoShape 120"/>
          <p:cNvSpPr/>
          <p:nvPr/>
        </p:nvSpPr>
        <p:spPr>
          <a:xfrm>
            <a:off x="7453313" y="12700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</a:t>
            </a:r>
          </a:p>
        </p:txBody>
      </p:sp>
      <p:sp>
        <p:nvSpPr>
          <p:cNvPr id="1547385" name="AutoShape 121"/>
          <p:cNvSpPr/>
          <p:nvPr/>
        </p:nvSpPr>
        <p:spPr>
          <a:xfrm>
            <a:off x="1403350" y="4295775"/>
            <a:ext cx="1296988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6" name="AutoShape 122"/>
          <p:cNvSpPr/>
          <p:nvPr/>
        </p:nvSpPr>
        <p:spPr>
          <a:xfrm>
            <a:off x="539750" y="5302250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7" name="AutoShape 123"/>
          <p:cNvSpPr/>
          <p:nvPr/>
        </p:nvSpPr>
        <p:spPr>
          <a:xfrm>
            <a:off x="1403350" y="5302250"/>
            <a:ext cx="1296988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8" name="AutoShape 124"/>
          <p:cNvSpPr/>
          <p:nvPr/>
        </p:nvSpPr>
        <p:spPr>
          <a:xfrm>
            <a:off x="2700338" y="4295775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buSzPct val="75000"/>
            </a:pPr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lo</a:t>
            </a:r>
          </a:p>
        </p:txBody>
      </p:sp>
      <p:sp>
        <p:nvSpPr>
          <p:cNvPr id="1547389" name="AutoShape 125"/>
          <p:cNvSpPr/>
          <p:nvPr/>
        </p:nvSpPr>
        <p:spPr>
          <a:xfrm>
            <a:off x="1403350" y="3286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lo</a:t>
            </a:r>
          </a:p>
        </p:txBody>
      </p:sp>
      <p:sp>
        <p:nvSpPr>
          <p:cNvPr id="1547390" name="AutoShape 126"/>
          <p:cNvSpPr/>
          <p:nvPr/>
        </p:nvSpPr>
        <p:spPr>
          <a:xfrm>
            <a:off x="2700338" y="530225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7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300" fill="hold"/>
                                        <p:tgtEl>
                                          <p:spTgt spid="154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47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547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547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47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547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0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547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6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47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547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7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547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0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547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2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1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1547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8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547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9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547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2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547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9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547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3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1547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4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1547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4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1547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8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3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547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0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90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547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5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1547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547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7"/>
                  </p:tgtEl>
                </p:cond>
              </p:nextCondLst>
            </p:seq>
            <p:seq concurrent="1" nextAc="seek">
              <p:cTn id="264" restart="whenNotActive" fill="hold" evtFilter="cancelBubble" nodeType="interactiveSeq">
                <p:stCondLst>
                  <p:cond evt="onClick" delay="0">
                    <p:tgtEl>
                      <p:spTgt spid="1547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5" fill="hold">
                      <p:stCondLst>
                        <p:cond delay="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1547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1800"/>
                                        <p:tgtEl>
                                          <p:spTgt spid="154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8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547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1547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9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1547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547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1800"/>
                                        <p:tgtEl>
                                          <p:spTgt spid="154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0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47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1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547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547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54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3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547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54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3" dur="1800"/>
                                        <p:tgtEl>
                                          <p:spTgt spid="154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6"/>
                  </p:tgtEl>
                </p:cond>
              </p:nextCondLst>
            </p:seq>
            <p:seq concurrent="1" nextAc="seek">
              <p:cTn id="324" restart="whenNotActive" fill="hold" evtFilter="cancelBubble" nodeType="interactiveSeq">
                <p:stCondLst>
                  <p:cond evt="onClick" delay="0">
                    <p:tgtEl>
                      <p:spTgt spid="1547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5" fill="hold">
                      <p:stCondLst>
                        <p:cond delay="0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54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1800"/>
                                        <p:tgtEl>
                                          <p:spTgt spid="154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2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547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547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5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547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6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547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547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547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547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547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4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6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1547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7"/>
                  </p:tgtEl>
                </p:cond>
              </p:nextCondLst>
            </p:seq>
          </p:childTnLst>
        </p:cTn>
      </p:par>
    </p:tnLst>
    <p:bldLst>
      <p:bldP spid="1547352" grpId="0" bldLvl="0" animBg="1"/>
      <p:bldP spid="1547353" grpId="0" bldLvl="0" animBg="1"/>
      <p:bldP spid="1547354" grpId="0" bldLvl="0" animBg="1"/>
      <p:bldP spid="1547355" grpId="0" bldLvl="0" animBg="1"/>
      <p:bldP spid="1547356" grpId="0" bldLvl="0" animBg="1"/>
      <p:bldP spid="1547357" grpId="0" bldLvl="0" animBg="1"/>
      <p:bldP spid="1547358" grpId="0" bldLvl="0" animBg="1"/>
      <p:bldP spid="1547359" grpId="0" bldLvl="0" animBg="1"/>
      <p:bldP spid="1547360" grpId="0" bldLvl="0" animBg="1"/>
      <p:bldP spid="1547361" grpId="0" bldLvl="0" animBg="1"/>
      <p:bldP spid="1547362" grpId="0" bldLvl="0" animBg="1"/>
      <p:bldP spid="1547363" grpId="0" bldLvl="0" animBg="1"/>
      <p:bldP spid="1547364" grpId="0" bldLvl="0" animBg="1"/>
      <p:bldP spid="1547365" grpId="0" bldLvl="0" animBg="1"/>
      <p:bldP spid="1547366" grpId="0"/>
      <p:bldP spid="1547366" grpId="1"/>
      <p:bldP spid="1547368" grpId="0"/>
      <p:bldP spid="1547368" grpId="1"/>
      <p:bldP spid="1547370" grpId="0"/>
      <p:bldP spid="1547370" grpId="1"/>
      <p:bldP spid="1547372" grpId="0"/>
      <p:bldP spid="1547372" grpId="1"/>
      <p:bldP spid="1547374" grpId="0" bldLvl="0" animBg="1"/>
      <p:bldP spid="1547375" grpId="0" bldLvl="0" animBg="1"/>
      <p:bldP spid="1547376" grpId="0" bldLvl="0" animBg="1"/>
      <p:bldP spid="1547377" grpId="0" bldLvl="0" animBg="1"/>
      <p:bldP spid="1547378" grpId="0" bldLvl="0" animBg="1"/>
      <p:bldP spid="1547379" grpId="0" bldLvl="0" animBg="1"/>
      <p:bldP spid="1547380" grpId="0" bldLvl="0" animBg="1"/>
      <p:bldP spid="1547381" grpId="0" bldLvl="0" animBg="1"/>
      <p:bldP spid="1547382" grpId="0" bldLvl="0" animBg="1"/>
      <p:bldP spid="1547383" grpId="0" bldLvl="0" animBg="1"/>
      <p:bldP spid="1547384" grpId="0" bldLvl="0" animBg="1"/>
      <p:bldP spid="1547384" grpId="1" bldLvl="0" animBg="1"/>
      <p:bldP spid="1547385" grpId="0" bldLvl="0" animBg="1"/>
      <p:bldP spid="1547386" grpId="0" bldLvl="0" animBg="1"/>
      <p:bldP spid="1547387" grpId="0" bldLvl="0" animBg="1"/>
      <p:bldP spid="1547388" grpId="0" bldLvl="0" animBg="1"/>
      <p:bldP spid="1547389" grpId="0" bldLvl="0" animBg="1"/>
      <p:bldP spid="154739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算法A：实现</a:t>
            </a:r>
          </a:p>
        </p:txBody>
      </p:sp>
      <p:sp>
        <p:nvSpPr>
          <p:cNvPr id="1454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&lt;= _elem[hi])) hi--;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_elem[lo] = _elem[hi];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&lt;= pivot)) lo++;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_elem[hi]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54105" name="Rectangle 25"/>
          <p:cNvSpPr/>
          <p:nvPr/>
        </p:nvSpPr>
        <p:spPr>
          <a:xfrm>
            <a:off x="741363" y="2020570"/>
            <a:ext cx="7773987" cy="7921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6" name="Rectangle 26"/>
          <p:cNvSpPr/>
          <p:nvPr/>
        </p:nvSpPr>
        <p:spPr>
          <a:xfrm>
            <a:off x="922020" y="3504248"/>
            <a:ext cx="7413625" cy="7921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7" name="Rectangle 27"/>
          <p:cNvSpPr/>
          <p:nvPr/>
        </p:nvSpPr>
        <p:spPr>
          <a:xfrm>
            <a:off x="922020" y="4296093"/>
            <a:ext cx="7413625" cy="7921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8" name="Rectangle 28"/>
          <p:cNvSpPr/>
          <p:nvPr/>
        </p:nvSpPr>
        <p:spPr>
          <a:xfrm>
            <a:off x="741363" y="5445443"/>
            <a:ext cx="7773987" cy="3587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45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45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1000"/>
                                        <p:tgtEl>
                                          <p:spTgt spid="145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145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54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5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454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54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54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8"/>
                  </p:tgtEl>
                </p:cond>
              </p:nextCondLst>
            </p:seq>
          </p:childTnLst>
        </p:cTn>
      </p:par>
    </p:tnLst>
    <p:bldLst>
      <p:bldP spid="1454105" grpId="0" bldLvl="0" animBg="1"/>
      <p:bldP spid="1454106" grpId="0" bldLvl="0" animBg="1"/>
      <p:bldP spid="1454107" grpId="0" bldLvl="0" animBg="1"/>
      <p:bldP spid="145410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7195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6</a:t>
            </a: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 useBgFill="1">
        <p:nvSpPr>
          <p:cNvPr id="1593359" name="AutoShape 15"/>
          <p:cNvSpPr/>
          <p:nvPr/>
        </p:nvSpPr>
        <p:spPr>
          <a:xfrm>
            <a:off x="6372225" y="18430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93360" name="AutoShape 16"/>
          <p:cNvSpPr/>
          <p:nvPr/>
        </p:nvSpPr>
        <p:spPr>
          <a:xfrm>
            <a:off x="2481263" y="18430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 useBgFill="1">
        <p:nvSpPr>
          <p:cNvPr id="1593361" name="AutoShape 17"/>
          <p:cNvSpPr/>
          <p:nvPr/>
        </p:nvSpPr>
        <p:spPr>
          <a:xfrm>
            <a:off x="2481263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62" name="AutoShape 18"/>
          <p:cNvSpPr/>
          <p:nvPr/>
        </p:nvSpPr>
        <p:spPr>
          <a:xfrm>
            <a:off x="29162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363" name="AutoShape 19"/>
          <p:cNvSpPr/>
          <p:nvPr/>
        </p:nvSpPr>
        <p:spPr>
          <a:xfrm>
            <a:off x="29162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364" name="AutoShape 20"/>
          <p:cNvSpPr/>
          <p:nvPr/>
        </p:nvSpPr>
        <p:spPr>
          <a:xfrm>
            <a:off x="33480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366" name="AutoShape 22"/>
          <p:cNvSpPr/>
          <p:nvPr/>
        </p:nvSpPr>
        <p:spPr>
          <a:xfrm>
            <a:off x="5508625" y="18430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367" name="AutoShape 23"/>
          <p:cNvSpPr/>
          <p:nvPr/>
        </p:nvSpPr>
        <p:spPr>
          <a:xfrm>
            <a:off x="42116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368" name="AutoShape 24"/>
          <p:cNvSpPr/>
          <p:nvPr/>
        </p:nvSpPr>
        <p:spPr>
          <a:xfrm>
            <a:off x="5942013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69" name="AutoShape 25"/>
          <p:cNvSpPr/>
          <p:nvPr/>
        </p:nvSpPr>
        <p:spPr>
          <a:xfrm>
            <a:off x="5076825" y="18430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370" name="AutoShape 26"/>
          <p:cNvSpPr/>
          <p:nvPr/>
        </p:nvSpPr>
        <p:spPr>
          <a:xfrm>
            <a:off x="4646613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371" name="AutoShape 27"/>
          <p:cNvSpPr/>
          <p:nvPr/>
        </p:nvSpPr>
        <p:spPr>
          <a:xfrm>
            <a:off x="37798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372" name="Line 28"/>
          <p:cNvSpPr/>
          <p:nvPr/>
        </p:nvSpPr>
        <p:spPr>
          <a:xfrm>
            <a:off x="2481263" y="1052513"/>
            <a:ext cx="4178300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93373" name="Line 29"/>
          <p:cNvSpPr/>
          <p:nvPr/>
        </p:nvSpPr>
        <p:spPr>
          <a:xfrm>
            <a:off x="2481263" y="1771650"/>
            <a:ext cx="3746500" cy="15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593374" name="AutoShape 30"/>
          <p:cNvSpPr/>
          <p:nvPr/>
        </p:nvSpPr>
        <p:spPr>
          <a:xfrm>
            <a:off x="6372225" y="2565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375" name="AutoShape 31"/>
          <p:cNvSpPr/>
          <p:nvPr/>
        </p:nvSpPr>
        <p:spPr>
          <a:xfrm>
            <a:off x="33480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377" name="AutoShape 33"/>
          <p:cNvSpPr/>
          <p:nvPr/>
        </p:nvSpPr>
        <p:spPr>
          <a:xfrm>
            <a:off x="5508625" y="2565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378" name="AutoShape 34"/>
          <p:cNvSpPr/>
          <p:nvPr/>
        </p:nvSpPr>
        <p:spPr>
          <a:xfrm>
            <a:off x="42116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379" name="AutoShape 35"/>
          <p:cNvSpPr/>
          <p:nvPr/>
        </p:nvSpPr>
        <p:spPr>
          <a:xfrm>
            <a:off x="5076825" y="2565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380" name="AutoShape 36"/>
          <p:cNvSpPr/>
          <p:nvPr/>
        </p:nvSpPr>
        <p:spPr>
          <a:xfrm>
            <a:off x="4646613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381" name="AutoShape 37"/>
          <p:cNvSpPr/>
          <p:nvPr/>
        </p:nvSpPr>
        <p:spPr>
          <a:xfrm>
            <a:off x="37798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382" name="AutoShape 38"/>
          <p:cNvSpPr/>
          <p:nvPr/>
        </p:nvSpPr>
        <p:spPr>
          <a:xfrm>
            <a:off x="5942013" y="256540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383" name="Line 39"/>
          <p:cNvSpPr/>
          <p:nvPr/>
        </p:nvSpPr>
        <p:spPr>
          <a:xfrm>
            <a:off x="3348038" y="2492375"/>
            <a:ext cx="287972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384" name="AutoShape 40"/>
          <p:cNvCxnSpPr>
            <a:stCxn id="1593368" idx="2"/>
            <a:endCxn id="1593361" idx="0"/>
          </p:cNvCxnSpPr>
          <p:nvPr/>
        </p:nvCxnSpPr>
        <p:spPr>
          <a:xfrm rot="5400000">
            <a:off x="4152900" y="617538"/>
            <a:ext cx="406400" cy="3460750"/>
          </a:xfrm>
          <a:prstGeom prst="bentConnector3">
            <a:avLst>
              <a:gd name="adj1" fmla="val 49611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385" name="AutoShape 41"/>
          <p:cNvSpPr/>
          <p:nvPr/>
        </p:nvSpPr>
        <p:spPr>
          <a:xfrm>
            <a:off x="248126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86" name="AutoShape 42"/>
          <p:cNvSpPr/>
          <p:nvPr/>
        </p:nvSpPr>
        <p:spPr>
          <a:xfrm>
            <a:off x="2916238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387" name="AutoShape 43"/>
          <p:cNvSpPr/>
          <p:nvPr/>
        </p:nvSpPr>
        <p:spPr>
          <a:xfrm>
            <a:off x="6372225" y="3286125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388" name="AutoShape 44"/>
          <p:cNvSpPr/>
          <p:nvPr/>
        </p:nvSpPr>
        <p:spPr>
          <a:xfrm>
            <a:off x="594201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390" name="AutoShape 46"/>
          <p:cNvSpPr/>
          <p:nvPr/>
        </p:nvSpPr>
        <p:spPr>
          <a:xfrm>
            <a:off x="5508625" y="3286125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391" name="AutoShape 47"/>
          <p:cNvSpPr/>
          <p:nvPr/>
        </p:nvSpPr>
        <p:spPr>
          <a:xfrm>
            <a:off x="4211638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392" name="AutoShape 48"/>
          <p:cNvSpPr/>
          <p:nvPr/>
        </p:nvSpPr>
        <p:spPr>
          <a:xfrm>
            <a:off x="5076825" y="3286125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393" name="AutoShape 49"/>
          <p:cNvSpPr/>
          <p:nvPr/>
        </p:nvSpPr>
        <p:spPr>
          <a:xfrm>
            <a:off x="464661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394" name="AutoShape 50"/>
          <p:cNvSpPr/>
          <p:nvPr/>
        </p:nvSpPr>
        <p:spPr>
          <a:xfrm>
            <a:off x="3779838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395" name="AutoShape 51"/>
          <p:cNvSpPr/>
          <p:nvPr/>
        </p:nvSpPr>
        <p:spPr>
          <a:xfrm>
            <a:off x="3348038" y="3286125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396" name="Line 52"/>
          <p:cNvSpPr/>
          <p:nvPr/>
        </p:nvSpPr>
        <p:spPr>
          <a:xfrm>
            <a:off x="3348038" y="3213100"/>
            <a:ext cx="244792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397" name="AutoShape 53"/>
          <p:cNvCxnSpPr>
            <a:stCxn id="1593375" idx="2"/>
            <a:endCxn id="1593388" idx="0"/>
          </p:cNvCxnSpPr>
          <p:nvPr/>
        </p:nvCxnSpPr>
        <p:spPr>
          <a:xfrm rot="-5400000" flipH="1">
            <a:off x="4586288" y="1771650"/>
            <a:ext cx="404812" cy="2593975"/>
          </a:xfrm>
          <a:prstGeom prst="bentConnector3">
            <a:avLst>
              <a:gd name="adj1" fmla="val 498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398" name="AutoShape 54"/>
          <p:cNvSpPr/>
          <p:nvPr/>
        </p:nvSpPr>
        <p:spPr>
          <a:xfrm>
            <a:off x="248126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99" name="AutoShape 55"/>
          <p:cNvSpPr/>
          <p:nvPr/>
        </p:nvSpPr>
        <p:spPr>
          <a:xfrm>
            <a:off x="29162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400" name="AutoShape 56"/>
          <p:cNvSpPr/>
          <p:nvPr/>
        </p:nvSpPr>
        <p:spPr>
          <a:xfrm>
            <a:off x="6372225" y="40052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401" name="AutoShape 57"/>
          <p:cNvSpPr/>
          <p:nvPr/>
        </p:nvSpPr>
        <p:spPr>
          <a:xfrm>
            <a:off x="594201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403" name="AutoShape 59"/>
          <p:cNvSpPr/>
          <p:nvPr/>
        </p:nvSpPr>
        <p:spPr>
          <a:xfrm>
            <a:off x="33480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404" name="AutoShape 60"/>
          <p:cNvSpPr/>
          <p:nvPr/>
        </p:nvSpPr>
        <p:spPr>
          <a:xfrm>
            <a:off x="42116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405" name="AutoShape 61"/>
          <p:cNvSpPr/>
          <p:nvPr/>
        </p:nvSpPr>
        <p:spPr>
          <a:xfrm>
            <a:off x="5076825" y="40052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406" name="AutoShape 62"/>
          <p:cNvSpPr/>
          <p:nvPr/>
        </p:nvSpPr>
        <p:spPr>
          <a:xfrm>
            <a:off x="464661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407" name="AutoShape 63"/>
          <p:cNvSpPr/>
          <p:nvPr/>
        </p:nvSpPr>
        <p:spPr>
          <a:xfrm>
            <a:off x="37798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408" name="AutoShape 64"/>
          <p:cNvSpPr/>
          <p:nvPr/>
        </p:nvSpPr>
        <p:spPr>
          <a:xfrm>
            <a:off x="5508625" y="400526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409" name="Line 65"/>
          <p:cNvSpPr/>
          <p:nvPr/>
        </p:nvSpPr>
        <p:spPr>
          <a:xfrm>
            <a:off x="4646613" y="3933825"/>
            <a:ext cx="1149350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10" name="AutoShape 66"/>
          <p:cNvCxnSpPr>
            <a:stCxn id="1593390" idx="2"/>
            <a:endCxn id="1593403" idx="0"/>
          </p:cNvCxnSpPr>
          <p:nvPr/>
        </p:nvCxnSpPr>
        <p:spPr>
          <a:xfrm rot="5400000">
            <a:off x="4370388" y="2708275"/>
            <a:ext cx="403225" cy="2160588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411" name="AutoShape 67"/>
          <p:cNvSpPr/>
          <p:nvPr/>
        </p:nvSpPr>
        <p:spPr>
          <a:xfrm>
            <a:off x="2481263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412" name="AutoShape 68"/>
          <p:cNvSpPr/>
          <p:nvPr/>
        </p:nvSpPr>
        <p:spPr>
          <a:xfrm>
            <a:off x="29162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413" name="AutoShape 69"/>
          <p:cNvSpPr/>
          <p:nvPr/>
        </p:nvSpPr>
        <p:spPr>
          <a:xfrm>
            <a:off x="63722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414" name="AutoShape 70"/>
          <p:cNvSpPr/>
          <p:nvPr/>
        </p:nvSpPr>
        <p:spPr>
          <a:xfrm>
            <a:off x="5942013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416" name="AutoShape 72"/>
          <p:cNvSpPr/>
          <p:nvPr/>
        </p:nvSpPr>
        <p:spPr>
          <a:xfrm>
            <a:off x="33480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417" name="AutoShape 73"/>
          <p:cNvSpPr/>
          <p:nvPr/>
        </p:nvSpPr>
        <p:spPr>
          <a:xfrm>
            <a:off x="42116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418" name="AutoShape 74"/>
          <p:cNvSpPr/>
          <p:nvPr/>
        </p:nvSpPr>
        <p:spPr>
          <a:xfrm>
            <a:off x="50768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419" name="AutoShape 75"/>
          <p:cNvSpPr/>
          <p:nvPr/>
        </p:nvSpPr>
        <p:spPr>
          <a:xfrm>
            <a:off x="55086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420" name="AutoShape 76"/>
          <p:cNvSpPr/>
          <p:nvPr/>
        </p:nvSpPr>
        <p:spPr>
          <a:xfrm>
            <a:off x="37798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421" name="AutoShape 77"/>
          <p:cNvSpPr/>
          <p:nvPr/>
        </p:nvSpPr>
        <p:spPr>
          <a:xfrm>
            <a:off x="4646613" y="472440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422" name="Line 78"/>
          <p:cNvSpPr/>
          <p:nvPr/>
        </p:nvSpPr>
        <p:spPr>
          <a:xfrm>
            <a:off x="4646613" y="4652963"/>
            <a:ext cx="57467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23" name="AutoShape 79"/>
          <p:cNvCxnSpPr>
            <a:stCxn id="1593406" idx="2"/>
            <a:endCxn id="1593419" idx="0"/>
          </p:cNvCxnSpPr>
          <p:nvPr/>
        </p:nvCxnSpPr>
        <p:spPr>
          <a:xfrm rot="-5400000" flipH="1">
            <a:off x="5019675" y="4076700"/>
            <a:ext cx="403225" cy="862013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424" name="AutoShape 80"/>
          <p:cNvSpPr/>
          <p:nvPr/>
        </p:nvSpPr>
        <p:spPr>
          <a:xfrm>
            <a:off x="248126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425" name="AutoShape 81"/>
          <p:cNvSpPr/>
          <p:nvPr/>
        </p:nvSpPr>
        <p:spPr>
          <a:xfrm>
            <a:off x="29162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 useBgFill="1">
        <p:nvSpPr>
          <p:cNvPr id="1593426" name="AutoShape 82"/>
          <p:cNvSpPr/>
          <p:nvPr/>
        </p:nvSpPr>
        <p:spPr>
          <a:xfrm>
            <a:off x="6372225" y="5443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 useBgFill="1">
        <p:nvSpPr>
          <p:cNvPr id="1593427" name="AutoShape 83"/>
          <p:cNvSpPr/>
          <p:nvPr/>
        </p:nvSpPr>
        <p:spPr>
          <a:xfrm>
            <a:off x="594201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 useBgFill="1">
        <p:nvSpPr>
          <p:cNvPr id="1593429" name="AutoShape 85"/>
          <p:cNvSpPr/>
          <p:nvPr/>
        </p:nvSpPr>
        <p:spPr>
          <a:xfrm>
            <a:off x="33480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 useBgFill="1">
        <p:nvSpPr>
          <p:cNvPr id="1593430" name="AutoShape 86"/>
          <p:cNvSpPr/>
          <p:nvPr/>
        </p:nvSpPr>
        <p:spPr>
          <a:xfrm>
            <a:off x="42116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 useBgFill="1">
        <p:nvSpPr>
          <p:cNvPr id="1593431" name="AutoShape 87"/>
          <p:cNvSpPr/>
          <p:nvPr/>
        </p:nvSpPr>
        <p:spPr>
          <a:xfrm>
            <a:off x="464661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 useBgFill="1">
        <p:nvSpPr>
          <p:cNvPr id="1593432" name="AutoShape 88"/>
          <p:cNvSpPr/>
          <p:nvPr/>
        </p:nvSpPr>
        <p:spPr>
          <a:xfrm>
            <a:off x="5508625" y="5443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 useBgFill="1">
        <p:nvSpPr>
          <p:cNvPr id="1593433" name="AutoShape 89"/>
          <p:cNvSpPr/>
          <p:nvPr/>
        </p:nvSpPr>
        <p:spPr>
          <a:xfrm>
            <a:off x="37798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93434" name="AutoShape 90"/>
          <p:cNvSpPr/>
          <p:nvPr/>
        </p:nvSpPr>
        <p:spPr>
          <a:xfrm>
            <a:off x="5076825" y="544353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593435" name="Line 91"/>
          <p:cNvSpPr/>
          <p:nvPr/>
        </p:nvSpPr>
        <p:spPr>
          <a:xfrm>
            <a:off x="5076825" y="537210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36" name="AutoShape 92"/>
          <p:cNvCxnSpPr>
            <a:stCxn id="1593418" idx="2"/>
            <a:endCxn id="1593431" idx="0"/>
          </p:cNvCxnSpPr>
          <p:nvPr/>
        </p:nvCxnSpPr>
        <p:spPr>
          <a:xfrm rot="5400000">
            <a:off x="4803775" y="5011738"/>
            <a:ext cx="403225" cy="430212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1593444" name="AutoShape 100"/>
          <p:cNvCxnSpPr>
            <a:stCxn id="1593348" idx="1"/>
            <a:endCxn id="1593434" idx="2"/>
          </p:cNvCxnSpPr>
          <p:nvPr/>
        </p:nvCxnSpPr>
        <p:spPr>
          <a:xfrm rot="10800000" flipH="1" flipV="1">
            <a:off x="2466975" y="1270000"/>
            <a:ext cx="2754313" cy="4475163"/>
          </a:xfrm>
          <a:prstGeom prst="bentConnector4">
            <a:avLst>
              <a:gd name="adj1" fmla="val -7782"/>
              <a:gd name="adj2" fmla="val 104755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93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93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593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93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3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93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593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6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593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593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593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593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593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93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900"/>
                                        <p:tgtEl>
                                          <p:spTgt spid="159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3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1593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4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1593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5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1593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7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593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8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593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9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593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1593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1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1593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4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2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593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159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3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593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593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593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4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593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593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6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593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7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593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8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593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593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593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593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593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593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5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93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500"/>
                            </p:stCondLst>
                            <p:childTnLst>
                              <p:par>
                                <p:cTn id="5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7" dur="900"/>
                                        <p:tgtEl>
                                          <p:spTgt spid="159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6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593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2" dur="300" fill="hold"/>
                                        <p:tgtEl>
                                          <p:spTgt spid="1593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3" dur="300" fill="hold"/>
                                        <p:tgtEl>
                                          <p:spTgt spid="1593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7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593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8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593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9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593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0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593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4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1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593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3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1593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4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593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5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593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2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6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593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7"/>
                  </p:tgtEl>
                </p:cond>
              </p:nextCondLst>
            </p:seq>
            <p:seq concurrent="1" nextAc="seek">
              <p:cTn id="642" restart="whenNotActive" fill="hold" evtFilter="cancelBubble" nodeType="interactiveSeq">
                <p:stCondLst>
                  <p:cond evt="onClick" delay="0">
                    <p:tgtEl>
                      <p:spTgt spid="1593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3" fill="hold">
                      <p:stCondLst>
                        <p:cond delay="0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6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3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8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1593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500"/>
                            </p:stCondLst>
                            <p:childTnLst>
                              <p:par>
                                <p:cTn id="6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3" dur="900"/>
                                        <p:tgtEl>
                                          <p:spTgt spid="159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9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1593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593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593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593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4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6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7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9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1"/>
                  </p:tgtEl>
                </p:cond>
              </p:nextCondLst>
            </p:seq>
            <p:seq concurrent="1" nextAc="seek">
              <p:cTn id="682" restart="whenNotActive" fill="hold" evtFilter="cancelBubble" nodeType="interactiveSeq">
                <p:stCondLst>
                  <p:cond evt="onClick" delay="0">
                    <p:tgtEl>
                      <p:spTgt spid="1593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8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9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1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2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1593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8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0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1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3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3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593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0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2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4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93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2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4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5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7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6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593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6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7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9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7"/>
                  </p:tgtEl>
                </p:cond>
              </p:nextCondLst>
            </p:seq>
            <p:seq concurrent="1" nextAc="seek">
              <p:cTn id="742" restart="whenNotActive" fill="hold" evtFilter="cancelBubble" nodeType="interactiveSeq">
                <p:stCondLst>
                  <p:cond evt="onClick" delay="0">
                    <p:tgtEl>
                      <p:spTgt spid="1593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6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8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9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1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8"/>
                  </p:tgtEl>
                </p:cond>
              </p:nextCondLst>
            </p:seq>
            <p:seq concurrent="1" nextAc="seek">
              <p:cTn id="754" restart="whenNotActive" fill="hold" evtFilter="cancelBubble" nodeType="interactiveSeq">
                <p:stCondLst>
                  <p:cond evt="onClick" delay="0">
                    <p:tgtEl>
                      <p:spTgt spid="1593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5" fill="hold">
                      <p:stCondLst>
                        <p:cond delay="0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8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0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1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3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9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593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0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2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3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5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0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93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2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3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1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593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4" dur="300" fill="hold"/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5" dur="300" fill="hold"/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6" fill="hold">
                            <p:stCondLst>
                              <p:cond delay="500"/>
                            </p:stCondLst>
                            <p:childTnLst>
                              <p:par>
                                <p:cTn id="7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9" dur="900"/>
                                        <p:tgtEl>
                                          <p:spTgt spid="159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2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593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593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593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593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4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93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5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593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6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593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7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593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593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0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93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2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4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5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7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8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1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593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4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6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7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9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0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2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593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6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1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2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593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2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5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4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593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2" fill="hold">
                            <p:stCondLst>
                              <p:cond delay="500"/>
                            </p:stCondLst>
                            <p:childTnLst>
                              <p:par>
                                <p:cTn id="9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5" dur="900"/>
                                        <p:tgtEl>
                                          <p:spTgt spid="159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5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1593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0" dur="300" fill="hold"/>
                                        <p:tgtEl>
                                          <p:spTgt spid="1593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1593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6"/>
                  </p:tgtEl>
                </p:cond>
              </p:nextCondLst>
            </p:seq>
            <p:seq concurrent="1" nextAc="seek">
              <p:cTn id="942" restart="whenNotActive" fill="hold" evtFilter="cancelBubble" nodeType="interactiveSeq">
                <p:stCondLst>
                  <p:cond evt="onClick" delay="0">
                    <p:tgtEl>
                      <p:spTgt spid="1593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3" fill="hold">
                      <p:stCondLst>
                        <p:cond delay="0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6" dur="300" fill="hold"/>
                                        <p:tgtEl>
                                          <p:spTgt spid="1593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593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44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59" grpId="0" bldLvl="0" animBg="1"/>
      <p:bldP spid="1593360" grpId="0" bldLvl="0" animBg="1"/>
      <p:bldP spid="1593361" grpId="0" bldLvl="0" animBg="1"/>
      <p:bldP spid="1593362" grpId="0" bldLvl="0" animBg="1"/>
      <p:bldP spid="1593363" grpId="0" bldLvl="0" animBg="1"/>
      <p:bldP spid="1593364" grpId="0" bldLvl="0" animBg="1"/>
      <p:bldP spid="1593366" grpId="0" bldLvl="0" animBg="1"/>
      <p:bldP spid="1593367" grpId="0" bldLvl="0" animBg="1"/>
      <p:bldP spid="1593368" grpId="0" bldLvl="0" animBg="1"/>
      <p:bldP spid="1593369" grpId="0" bldLvl="0" animBg="1"/>
      <p:bldP spid="1593370" grpId="0" bldLvl="0" animBg="1"/>
      <p:bldP spid="1593371" grpId="0" bldLvl="0" animBg="1"/>
      <p:bldP spid="1593372" grpId="0" bldLvl="0" animBg="1"/>
      <p:bldP spid="1593373" grpId="0" bldLvl="0" animBg="1"/>
      <p:bldP spid="1593374" grpId="0" bldLvl="0" animBg="1"/>
      <p:bldP spid="1593375" grpId="0" bldLvl="0" animBg="1"/>
      <p:bldP spid="1593377" grpId="0" bldLvl="0" animBg="1"/>
      <p:bldP spid="1593378" grpId="0" bldLvl="0" animBg="1"/>
      <p:bldP spid="1593379" grpId="0" bldLvl="0" animBg="1"/>
      <p:bldP spid="1593380" grpId="0" bldLvl="0" animBg="1"/>
      <p:bldP spid="1593381" grpId="0" bldLvl="0" animBg="1"/>
      <p:bldP spid="1593382" grpId="0" bldLvl="0" animBg="1"/>
      <p:bldP spid="1593383" grpId="0" bldLvl="0" animBg="1"/>
      <p:bldP spid="1593385" grpId="0" bldLvl="0" animBg="1"/>
      <p:bldP spid="1593386" grpId="0" bldLvl="0" animBg="1"/>
      <p:bldP spid="1593387" grpId="0" bldLvl="0" animBg="1"/>
      <p:bldP spid="1593388" grpId="0" bldLvl="0" animBg="1"/>
      <p:bldP spid="1593390" grpId="0" bldLvl="0" animBg="1"/>
      <p:bldP spid="1593391" grpId="0" bldLvl="0" animBg="1"/>
      <p:bldP spid="1593392" grpId="0" bldLvl="0" animBg="1"/>
      <p:bldP spid="1593393" grpId="0" bldLvl="0" animBg="1"/>
      <p:bldP spid="1593394" grpId="0" bldLvl="0" animBg="1"/>
      <p:bldP spid="1593395" grpId="0" bldLvl="0" animBg="1"/>
      <p:bldP spid="1593396" grpId="0" bldLvl="0" animBg="1"/>
      <p:bldP spid="1593398" grpId="0" bldLvl="0" animBg="1"/>
      <p:bldP spid="1593399" grpId="0" bldLvl="0" animBg="1"/>
      <p:bldP spid="1593400" grpId="0" bldLvl="0" animBg="1"/>
      <p:bldP spid="1593401" grpId="0" bldLvl="0" animBg="1"/>
      <p:bldP spid="1593403" grpId="0" bldLvl="0" animBg="1"/>
      <p:bldP spid="1593404" grpId="0" bldLvl="0" animBg="1"/>
      <p:bldP spid="1593405" grpId="0" bldLvl="0" animBg="1"/>
      <p:bldP spid="1593406" grpId="0" bldLvl="0" animBg="1"/>
      <p:bldP spid="1593407" grpId="0" bldLvl="0" animBg="1"/>
      <p:bldP spid="1593408" grpId="0" bldLvl="0" animBg="1"/>
      <p:bldP spid="1593409" grpId="0" bldLvl="0" animBg="1"/>
      <p:bldP spid="1593411" grpId="0" bldLvl="0" animBg="1"/>
      <p:bldP spid="1593412" grpId="0" bldLvl="0" animBg="1"/>
      <p:bldP spid="1593413" grpId="0" bldLvl="0" animBg="1"/>
      <p:bldP spid="1593414" grpId="0" bldLvl="0" animBg="1"/>
      <p:bldP spid="1593416" grpId="0" bldLvl="0" animBg="1"/>
      <p:bldP spid="1593417" grpId="0" bldLvl="0" animBg="1"/>
      <p:bldP spid="1593418" grpId="0" bldLvl="0" animBg="1"/>
      <p:bldP spid="1593419" grpId="0" bldLvl="0" animBg="1"/>
      <p:bldP spid="1593420" grpId="0" bldLvl="0" animBg="1"/>
      <p:bldP spid="1593421" grpId="0" bldLvl="0" animBg="1"/>
      <p:bldP spid="1593422" grpId="0" bldLvl="0" animBg="1"/>
      <p:bldP spid="1593424" grpId="0" bldLvl="0" animBg="1"/>
      <p:bldP spid="1593425" grpId="0" bldLvl="0" animBg="1"/>
      <p:bldP spid="1593426" grpId="0" bldLvl="0" animBg="1"/>
      <p:bldP spid="1593427" grpId="0" bldLvl="0" animBg="1"/>
      <p:bldP spid="1593429" grpId="0" bldLvl="0" animBg="1"/>
      <p:bldP spid="1593430" grpId="0" bldLvl="0" animBg="1"/>
      <p:bldP spid="1593431" grpId="0" bldLvl="0" animBg="1"/>
      <p:bldP spid="1593432" grpId="0" bldLvl="0" animBg="1"/>
      <p:bldP spid="1593433" grpId="0" bldLvl="0" animBg="1"/>
      <p:bldP spid="1593434" grpId="0" bldLvl="0" animBg="1"/>
      <p:bldP spid="159343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20" name="AutoShap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算法A：性能分析</a:t>
            </a:r>
          </a:p>
        </p:txBody>
      </p:sp>
      <p:sp>
        <p:nvSpPr>
          <p:cNvPr id="11612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不稳定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lo/hi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的移动方向相反，左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右侧的大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小重复元素被逆序转移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就地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：只需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时间呢？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最好情况：每次划分都（接近）平均，轴点总是（接近）中央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T(n) = 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T((n-1)/2) +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(nlogn)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到达下界！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最坏情况：每次划分都极不均衡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比如，轴点总是最小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大元素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T(n) = T(n-1) + T(0) +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30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与起泡排序相当！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即便采用随机选取、（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Unix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）三者取中之类的策略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也只能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降低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最坏情况的概率，而无法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杜绝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既然如此，为何还称作“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快速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”排序？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6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平均性能</a:t>
            </a:r>
          </a:p>
        </p:txBody>
      </p:sp>
      <p:sp>
        <p:nvSpPr>
          <p:cNvPr id="1562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80000"/>
          </a:bodyPr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快速排序的平均性能为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nlogn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以均匀独立分布为例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T(n)  =  (n+1) + (1/n)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(T(k) + T(n-1-k))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 (n+1) + (2/n)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T(k)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n  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 T(n)    =  (n+1)n + 2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T(k)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(n-1)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 T(n-1)  =  n(n-1) + 2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k=0,..,n-2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T(k)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nT(n) - (n-1)T(n-1)  =  2n + 2T(n-1)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T(n)/(n+1) = 2/(n+1) + T(n-1)/n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T(n-2)/(n-1) 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+ 2/(n-1) + T(n-3)/(n-2)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+ 2/(n-1) + ... + 2/3 + T(1)/2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2ln2</a:t>
            </a:r>
            <a:r>
              <a:rPr lang="zh-CN" altLang="en-US" sz="2000" kern="0" noProof="0">
                <a:ln>
                  <a:noFill/>
                </a:ln>
                <a:effectLst/>
                <a:uLnTx/>
                <a:uFillTx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logn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1.39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logn</a:t>
            </a:r>
          </a:p>
        </p:txBody>
      </p:sp>
      <p:sp>
        <p:nvSpPr>
          <p:cNvPr id="1562628" name="Rectangle 4"/>
          <p:cNvSpPr/>
          <p:nvPr/>
        </p:nvSpPr>
        <p:spPr>
          <a:xfrm>
            <a:off x="1563688" y="5787708"/>
            <a:ext cx="647700" cy="2873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6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626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2628"/>
                  </p:tgtEl>
                </p:cond>
              </p:nextCondLst>
            </p:seq>
          </p:childTnLst>
        </p:cTn>
      </p:par>
    </p:tnLst>
    <p:bldLst>
      <p:bldP spid="156262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5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重复元素</a:t>
            </a:r>
          </a:p>
        </p:txBody>
      </p:sp>
      <p:sp>
        <p:nvSpPr>
          <p:cNvPr id="1558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大量甚至全部元素重复时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轴点位置总是接近于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子序列的划分极不均匀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二分递归退化为线性递归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递归深度接近于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运行时间接近于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30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可以考虑：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移动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的过程中，同时比较相邻元素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若属于相邻的重复元素，则不再深入递归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但一般情况下，如此计算量反而增加，得不偿失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对算法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略做调整，即可解决重复元素集中问题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为便于对比，先给出等价形式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A1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</p:txBody>
      </p:sp>
      <p:sp>
        <p:nvSpPr>
          <p:cNvPr id="1558532" name="AutoShape 4"/>
          <p:cNvSpPr/>
          <p:nvPr/>
        </p:nvSpPr>
        <p:spPr>
          <a:xfrm>
            <a:off x="6878638" y="1987550"/>
            <a:ext cx="1222375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3" name="AutoShape 5"/>
          <p:cNvSpPr/>
          <p:nvPr/>
        </p:nvSpPr>
        <p:spPr>
          <a:xfrm>
            <a:off x="6591300" y="19875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4" name="AutoShape 6"/>
          <p:cNvSpPr/>
          <p:nvPr/>
        </p:nvSpPr>
        <p:spPr>
          <a:xfrm>
            <a:off x="7164388" y="2419350"/>
            <a:ext cx="936625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5" name="AutoShape 7"/>
          <p:cNvSpPr/>
          <p:nvPr/>
        </p:nvSpPr>
        <p:spPr>
          <a:xfrm>
            <a:off x="6877050" y="24193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6" name="AutoShape 8"/>
          <p:cNvSpPr/>
          <p:nvPr/>
        </p:nvSpPr>
        <p:spPr>
          <a:xfrm>
            <a:off x="7451725" y="2852738"/>
            <a:ext cx="649288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7" name="AutoShape 9"/>
          <p:cNvSpPr/>
          <p:nvPr/>
        </p:nvSpPr>
        <p:spPr>
          <a:xfrm>
            <a:off x="7164388" y="28527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8" name="AutoShape 10"/>
          <p:cNvSpPr/>
          <p:nvPr/>
        </p:nvSpPr>
        <p:spPr>
          <a:xfrm>
            <a:off x="7740650" y="3284538"/>
            <a:ext cx="360363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9" name="AutoShape 11"/>
          <p:cNvSpPr/>
          <p:nvPr/>
        </p:nvSpPr>
        <p:spPr>
          <a:xfrm>
            <a:off x="7453313" y="3284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40" name="AutoShape 12"/>
          <p:cNvSpPr/>
          <p:nvPr/>
        </p:nvSpPr>
        <p:spPr>
          <a:xfrm>
            <a:off x="6586538" y="1557338"/>
            <a:ext cx="1514475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41" name="AutoShape 13"/>
          <p:cNvSpPr/>
          <p:nvPr/>
        </p:nvSpPr>
        <p:spPr>
          <a:xfrm>
            <a:off x="6299200" y="155733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42" name="AutoShape 14"/>
          <p:cNvSpPr/>
          <p:nvPr/>
        </p:nvSpPr>
        <p:spPr>
          <a:xfrm>
            <a:off x="6297613" y="1123950"/>
            <a:ext cx="18034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43" name="AutoShape 15"/>
          <p:cNvSpPr/>
          <p:nvPr/>
        </p:nvSpPr>
        <p:spPr>
          <a:xfrm>
            <a:off x="6010275" y="11239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58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58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58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58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58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58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58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58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58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58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58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58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3"/>
                  </p:tgtEl>
                </p:cond>
              </p:nextCondLst>
            </p:seq>
          </p:childTnLst>
        </p:cTn>
      </p:par>
    </p:tnLst>
    <p:bldLst>
      <p:bldP spid="1558532" grpId="0" bldLvl="0" animBg="1"/>
      <p:bldP spid="1558533" grpId="0" bldLvl="0" animBg="1"/>
      <p:bldP spid="1558534" grpId="0" bldLvl="0" animBg="1"/>
      <p:bldP spid="1558535" grpId="0" bldLvl="0" animBg="1"/>
      <p:bldP spid="1558536" grpId="0" bldLvl="0" animBg="1"/>
      <p:bldP spid="1558537" grpId="0" bldLvl="0" animBg="1"/>
      <p:bldP spid="1558538" grpId="0" bldLvl="0" animBg="1"/>
      <p:bldP spid="1558539" grpId="0" bldLvl="0" animBg="1"/>
      <p:bldP spid="1558540" grpId="0" bldLvl="0" animBg="1"/>
      <p:bldP spid="1558541" grpId="0" bldLvl="0" animBg="1"/>
      <p:bldP spid="1558542" grpId="0" bldLvl="0" animBg="1"/>
      <p:bldP spid="155854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算法A1：实现</a:t>
            </a:r>
          </a:p>
        </p:txBody>
      </p:sp>
      <p:sp>
        <p:nvSpPr>
          <p:cNvPr id="1582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&lt;= _elem[hi])) hi--;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(lo &lt; hi)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_elem[lo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_elem[hi];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&lt;= pivot)) lo++;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(lo &lt; hi)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}......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82085" name="Rectangle 5"/>
          <p:cNvSpPr/>
          <p:nvPr/>
        </p:nvSpPr>
        <p:spPr>
          <a:xfrm>
            <a:off x="979805" y="3886200"/>
            <a:ext cx="7413625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82086" name="Rectangle 6"/>
          <p:cNvSpPr/>
          <p:nvPr/>
        </p:nvSpPr>
        <p:spPr>
          <a:xfrm>
            <a:off x="979805" y="4667250"/>
            <a:ext cx="7413625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8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58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820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2085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5820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2086"/>
                  </p:tgtEl>
                </p:cond>
              </p:nextCondLst>
            </p:seq>
          </p:childTnLst>
        </p:cTn>
      </p:par>
    </p:tnLst>
    <p:bldLst>
      <p:bldP spid="1582085" grpId="0" bldLvl="0" animBg="1"/>
      <p:bldP spid="158208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87515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A1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 flipV="1">
            <a:off x="3348355" y="1524635"/>
            <a:ext cx="33115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</a:p>
        </p:txBody>
      </p:sp>
      <p:sp useBgFill="1">
        <p:nvSpPr>
          <p:cNvPr id="27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780155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文本框 35"/>
          <p:cNvSpPr txBox="1"/>
          <p:nvPr/>
        </p:nvSpPr>
        <p:spPr>
          <a:xfrm>
            <a:off x="4290060" y="2547620"/>
            <a:ext cx="563880" cy="57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......</a:t>
            </a:r>
            <a:endParaRPr lang="zh-CN" altLang="en-US"/>
          </a:p>
        </p:txBody>
      </p:sp>
      <p:sp>
        <p:nvSpPr>
          <p:cNvPr id="37" name="AutoShape 4"/>
          <p:cNvSpPr/>
          <p:nvPr/>
        </p:nvSpPr>
        <p:spPr>
          <a:xfrm>
            <a:off x="248126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38" name="AutoShape 5"/>
          <p:cNvSpPr/>
          <p:nvPr/>
        </p:nvSpPr>
        <p:spPr>
          <a:xfrm>
            <a:off x="29162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</a:p>
        </p:txBody>
      </p:sp>
      <p:sp useBgFill="1">
        <p:nvSpPr>
          <p:cNvPr id="39" name="AutoShape 6"/>
          <p:cNvSpPr/>
          <p:nvPr/>
        </p:nvSpPr>
        <p:spPr>
          <a:xfrm>
            <a:off x="33480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40" name="AutoShape 8"/>
          <p:cNvSpPr/>
          <p:nvPr/>
        </p:nvSpPr>
        <p:spPr>
          <a:xfrm>
            <a:off x="55086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41" name="AutoShape 9"/>
          <p:cNvSpPr/>
          <p:nvPr/>
        </p:nvSpPr>
        <p:spPr>
          <a:xfrm>
            <a:off x="42116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</a:p>
        </p:txBody>
      </p:sp>
      <p:sp useBgFill="1">
        <p:nvSpPr>
          <p:cNvPr id="42" name="AutoShape 10"/>
          <p:cNvSpPr/>
          <p:nvPr/>
        </p:nvSpPr>
        <p:spPr>
          <a:xfrm>
            <a:off x="59420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43" name="AutoShape 11"/>
          <p:cNvSpPr/>
          <p:nvPr/>
        </p:nvSpPr>
        <p:spPr>
          <a:xfrm>
            <a:off x="63722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44" name="AutoShape 12"/>
          <p:cNvSpPr/>
          <p:nvPr/>
        </p:nvSpPr>
        <p:spPr>
          <a:xfrm>
            <a:off x="50768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sp useBgFill="1">
        <p:nvSpPr>
          <p:cNvPr id="45" name="AutoShape 13"/>
          <p:cNvSpPr/>
          <p:nvPr/>
        </p:nvSpPr>
        <p:spPr>
          <a:xfrm>
            <a:off x="46466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</a:p>
        </p:txBody>
      </p:sp>
      <p:sp useBgFill="1">
        <p:nvSpPr>
          <p:cNvPr id="46" name="AutoShape 14"/>
          <p:cNvSpPr/>
          <p:nvPr/>
        </p:nvSpPr>
        <p:spPr>
          <a:xfrm>
            <a:off x="37798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4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9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算法B1：实现</a:t>
            </a:r>
          </a:p>
        </p:txBody>
      </p:sp>
      <p:sp>
        <p:nvSpPr>
          <p:cNvPr id="1584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_elem[hi])) hi--;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if (lo &lt; hi) _elem[lo++] = _elem[hi];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pivot)) lo++;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if (lo &lt; hi) _elem[hi--] = _elem[lo]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1584134" name="Rectangle 6"/>
          <p:cNvSpPr/>
          <p:nvPr/>
        </p:nvSpPr>
        <p:spPr>
          <a:xfrm>
            <a:off x="2722880" y="3476625"/>
            <a:ext cx="3411855" cy="3606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84135" name="Rectangle 7"/>
          <p:cNvSpPr/>
          <p:nvPr/>
        </p:nvSpPr>
        <p:spPr>
          <a:xfrm>
            <a:off x="2723515" y="4272915"/>
            <a:ext cx="3411855" cy="3606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8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58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8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413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58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4135"/>
                  </p:tgtEl>
                </p:cond>
              </p:nextCondLst>
            </p:seq>
          </p:childTnLst>
        </p:cTn>
      </p:par>
    </p:tnLst>
    <p:bldLst>
      <p:bldP spid="1584134" grpId="0" bldLvl="0" animBg="1"/>
      <p:bldP spid="158413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10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算法B：实现</a:t>
            </a:r>
          </a:p>
        </p:txBody>
      </p:sp>
      <p:sp>
        <p:nvSpPr>
          <p:cNvPr id="15831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... ... */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(lo &lt; hi)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(pivot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_elem[hi]) hi--;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else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直至遇到不大于轴点者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_elem[lo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_elem[hi];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将其归入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(lo &lt; hi)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(_elem[lo]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pivot) lo++;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else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直至遇到不小于轴点者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_elem[hi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_elem[lo];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将其归入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/* ... ... */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87515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B1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>
            <a:off x="2917190" y="1532890"/>
            <a:ext cx="3312160" cy="889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350260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48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49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50" name="AutoShape 5"/>
          <p:cNvSpPr/>
          <p:nvPr/>
        </p:nvSpPr>
        <p:spPr>
          <a:xfrm>
            <a:off x="29168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51" name="AutoShape 8"/>
          <p:cNvSpPr/>
          <p:nvPr/>
        </p:nvSpPr>
        <p:spPr>
          <a:xfrm>
            <a:off x="55092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2" name="AutoShape 9"/>
          <p:cNvSpPr/>
          <p:nvPr/>
        </p:nvSpPr>
        <p:spPr>
          <a:xfrm>
            <a:off x="42122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3" name="AutoShape 10"/>
          <p:cNvSpPr/>
          <p:nvPr/>
        </p:nvSpPr>
        <p:spPr>
          <a:xfrm>
            <a:off x="5942648" y="25206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54" name="AutoShape 11"/>
          <p:cNvSpPr/>
          <p:nvPr/>
        </p:nvSpPr>
        <p:spPr>
          <a:xfrm>
            <a:off x="63728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5" name="AutoShape 12"/>
          <p:cNvSpPr/>
          <p:nvPr/>
        </p:nvSpPr>
        <p:spPr>
          <a:xfrm>
            <a:off x="50774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6" name="AutoShape 13"/>
          <p:cNvSpPr/>
          <p:nvPr/>
        </p:nvSpPr>
        <p:spPr>
          <a:xfrm>
            <a:off x="464724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7" name="AutoShape 14"/>
          <p:cNvSpPr/>
          <p:nvPr/>
        </p:nvSpPr>
        <p:spPr>
          <a:xfrm>
            <a:off x="37804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8" name="Line 28"/>
          <p:cNvSpPr/>
          <p:nvPr/>
        </p:nvSpPr>
        <p:spPr>
          <a:xfrm flipV="1">
            <a:off x="3350895" y="2448560"/>
            <a:ext cx="2518410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59" name="AutoShape 6"/>
          <p:cNvSpPr/>
          <p:nvPr/>
        </p:nvSpPr>
        <p:spPr>
          <a:xfrm>
            <a:off x="33486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0" name="AutoShape 4"/>
          <p:cNvSpPr/>
          <p:nvPr/>
        </p:nvSpPr>
        <p:spPr>
          <a:xfrm>
            <a:off x="248189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61" name="AutoShape 5"/>
          <p:cNvSpPr/>
          <p:nvPr/>
        </p:nvSpPr>
        <p:spPr>
          <a:xfrm>
            <a:off x="29175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62" name="AutoShape 8"/>
          <p:cNvSpPr/>
          <p:nvPr/>
        </p:nvSpPr>
        <p:spPr>
          <a:xfrm>
            <a:off x="55098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3" name="AutoShape 9"/>
          <p:cNvSpPr/>
          <p:nvPr/>
        </p:nvSpPr>
        <p:spPr>
          <a:xfrm>
            <a:off x="42129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4" name="AutoShape 10"/>
          <p:cNvSpPr/>
          <p:nvPr/>
        </p:nvSpPr>
        <p:spPr>
          <a:xfrm>
            <a:off x="59432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65" name="AutoShape 11"/>
          <p:cNvSpPr/>
          <p:nvPr/>
        </p:nvSpPr>
        <p:spPr>
          <a:xfrm>
            <a:off x="63734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6" name="AutoShape 12"/>
          <p:cNvSpPr/>
          <p:nvPr/>
        </p:nvSpPr>
        <p:spPr>
          <a:xfrm>
            <a:off x="50780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7" name="AutoShape 13"/>
          <p:cNvSpPr/>
          <p:nvPr/>
        </p:nvSpPr>
        <p:spPr>
          <a:xfrm>
            <a:off x="46478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8" name="AutoShape 14"/>
          <p:cNvSpPr/>
          <p:nvPr/>
        </p:nvSpPr>
        <p:spPr>
          <a:xfrm>
            <a:off x="37811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9" name="Line 28"/>
          <p:cNvSpPr/>
          <p:nvPr/>
        </p:nvSpPr>
        <p:spPr>
          <a:xfrm flipV="1">
            <a:off x="3721100" y="2945130"/>
            <a:ext cx="214820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70" name="AutoShape 6"/>
          <p:cNvSpPr/>
          <p:nvPr/>
        </p:nvSpPr>
        <p:spPr>
          <a:xfrm>
            <a:off x="3349308" y="301720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71" name="AutoShape 4"/>
          <p:cNvSpPr/>
          <p:nvPr/>
        </p:nvSpPr>
        <p:spPr>
          <a:xfrm>
            <a:off x="248253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72" name="AutoShape 5"/>
          <p:cNvSpPr/>
          <p:nvPr/>
        </p:nvSpPr>
        <p:spPr>
          <a:xfrm>
            <a:off x="29162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73" name="AutoShape 8"/>
          <p:cNvSpPr/>
          <p:nvPr/>
        </p:nvSpPr>
        <p:spPr>
          <a:xfrm>
            <a:off x="5508625" y="353091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74" name="AutoShape 9"/>
          <p:cNvSpPr/>
          <p:nvPr/>
        </p:nvSpPr>
        <p:spPr>
          <a:xfrm>
            <a:off x="42116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5" name="AutoShape 10"/>
          <p:cNvSpPr/>
          <p:nvPr/>
        </p:nvSpPr>
        <p:spPr>
          <a:xfrm>
            <a:off x="59420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76" name="AutoShape 11"/>
          <p:cNvSpPr/>
          <p:nvPr/>
        </p:nvSpPr>
        <p:spPr>
          <a:xfrm>
            <a:off x="63722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7" name="AutoShape 12"/>
          <p:cNvSpPr/>
          <p:nvPr/>
        </p:nvSpPr>
        <p:spPr>
          <a:xfrm>
            <a:off x="50768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8" name="AutoShape 13"/>
          <p:cNvSpPr/>
          <p:nvPr/>
        </p:nvSpPr>
        <p:spPr>
          <a:xfrm>
            <a:off x="46466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9" name="AutoShape 14"/>
          <p:cNvSpPr/>
          <p:nvPr/>
        </p:nvSpPr>
        <p:spPr>
          <a:xfrm>
            <a:off x="37798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0" name="Line 28"/>
          <p:cNvSpPr/>
          <p:nvPr/>
        </p:nvSpPr>
        <p:spPr>
          <a:xfrm>
            <a:off x="3719830" y="3475355"/>
            <a:ext cx="1788795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81" name="AutoShape 6"/>
          <p:cNvSpPr/>
          <p:nvPr/>
        </p:nvSpPr>
        <p:spPr>
          <a:xfrm>
            <a:off x="33480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82" name="AutoShape 4"/>
          <p:cNvSpPr/>
          <p:nvPr/>
        </p:nvSpPr>
        <p:spPr>
          <a:xfrm>
            <a:off x="248126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83" name="AutoShape 5"/>
          <p:cNvSpPr/>
          <p:nvPr/>
        </p:nvSpPr>
        <p:spPr>
          <a:xfrm>
            <a:off x="29175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84" name="AutoShape 8"/>
          <p:cNvSpPr/>
          <p:nvPr/>
        </p:nvSpPr>
        <p:spPr>
          <a:xfrm>
            <a:off x="55098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  <p:sp useBgFill="1">
        <p:nvSpPr>
          <p:cNvPr id="85" name="AutoShape 9"/>
          <p:cNvSpPr/>
          <p:nvPr/>
        </p:nvSpPr>
        <p:spPr>
          <a:xfrm>
            <a:off x="42129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6" name="AutoShape 10"/>
          <p:cNvSpPr/>
          <p:nvPr/>
        </p:nvSpPr>
        <p:spPr>
          <a:xfrm>
            <a:off x="59432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87" name="AutoShape 11"/>
          <p:cNvSpPr/>
          <p:nvPr/>
        </p:nvSpPr>
        <p:spPr>
          <a:xfrm>
            <a:off x="63734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8" name="AutoShape 12"/>
          <p:cNvSpPr/>
          <p:nvPr/>
        </p:nvSpPr>
        <p:spPr>
          <a:xfrm>
            <a:off x="50780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9" name="AutoShape 13"/>
          <p:cNvSpPr/>
          <p:nvPr/>
        </p:nvSpPr>
        <p:spPr>
          <a:xfrm>
            <a:off x="46478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0" name="AutoShape 14"/>
          <p:cNvSpPr/>
          <p:nvPr/>
        </p:nvSpPr>
        <p:spPr>
          <a:xfrm>
            <a:off x="3781108" y="399256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  <p:sp>
        <p:nvSpPr>
          <p:cNvPr id="91" name="Line 28"/>
          <p:cNvSpPr/>
          <p:nvPr/>
        </p:nvSpPr>
        <p:spPr>
          <a:xfrm>
            <a:off x="4133215" y="3928110"/>
            <a:ext cx="1376680" cy="952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92" name="AutoShape 6"/>
          <p:cNvSpPr/>
          <p:nvPr/>
        </p:nvSpPr>
        <p:spPr>
          <a:xfrm>
            <a:off x="33493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93" name="AutoShape 4"/>
          <p:cNvSpPr/>
          <p:nvPr/>
        </p:nvSpPr>
        <p:spPr>
          <a:xfrm>
            <a:off x="248253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94" name="AutoShape 5"/>
          <p:cNvSpPr/>
          <p:nvPr/>
        </p:nvSpPr>
        <p:spPr>
          <a:xfrm>
            <a:off x="29162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95" name="AutoShape 8"/>
          <p:cNvSpPr/>
          <p:nvPr/>
        </p:nvSpPr>
        <p:spPr>
          <a:xfrm>
            <a:off x="55086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  <p:sp useBgFill="1">
        <p:nvSpPr>
          <p:cNvPr id="96" name="AutoShape 9"/>
          <p:cNvSpPr/>
          <p:nvPr/>
        </p:nvSpPr>
        <p:spPr>
          <a:xfrm>
            <a:off x="42116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7" name="AutoShape 10"/>
          <p:cNvSpPr/>
          <p:nvPr/>
        </p:nvSpPr>
        <p:spPr>
          <a:xfrm>
            <a:off x="59420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98" name="AutoShape 11"/>
          <p:cNvSpPr/>
          <p:nvPr/>
        </p:nvSpPr>
        <p:spPr>
          <a:xfrm>
            <a:off x="63722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9" name="AutoShape 12"/>
          <p:cNvSpPr/>
          <p:nvPr/>
        </p:nvSpPr>
        <p:spPr>
          <a:xfrm>
            <a:off x="5076825" y="444595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sp useBgFill="1">
        <p:nvSpPr>
          <p:cNvPr id="100" name="AutoShape 13"/>
          <p:cNvSpPr/>
          <p:nvPr/>
        </p:nvSpPr>
        <p:spPr>
          <a:xfrm>
            <a:off x="46466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1" name="AutoShape 14"/>
          <p:cNvSpPr/>
          <p:nvPr/>
        </p:nvSpPr>
        <p:spPr>
          <a:xfrm>
            <a:off x="37798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sp>
        <p:nvSpPr>
          <p:cNvPr id="102" name="Line 28"/>
          <p:cNvSpPr/>
          <p:nvPr/>
        </p:nvSpPr>
        <p:spPr>
          <a:xfrm>
            <a:off x="4212590" y="4373245"/>
            <a:ext cx="78867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03" name="AutoShape 6"/>
          <p:cNvSpPr/>
          <p:nvPr/>
        </p:nvSpPr>
        <p:spPr>
          <a:xfrm>
            <a:off x="33480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104" name="AutoShape 4"/>
          <p:cNvSpPr/>
          <p:nvPr/>
        </p:nvSpPr>
        <p:spPr>
          <a:xfrm>
            <a:off x="248126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105" name="AutoShape 5"/>
          <p:cNvSpPr/>
          <p:nvPr/>
        </p:nvSpPr>
        <p:spPr>
          <a:xfrm>
            <a:off x="29162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106" name="AutoShape 8"/>
          <p:cNvSpPr/>
          <p:nvPr/>
        </p:nvSpPr>
        <p:spPr>
          <a:xfrm>
            <a:off x="55086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  <p:sp useBgFill="1">
        <p:nvSpPr>
          <p:cNvPr id="107" name="AutoShape 9"/>
          <p:cNvSpPr/>
          <p:nvPr/>
        </p:nvSpPr>
        <p:spPr>
          <a:xfrm>
            <a:off x="4211638" y="487394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</a:p>
        </p:txBody>
      </p:sp>
      <p:sp useBgFill="1">
        <p:nvSpPr>
          <p:cNvPr id="108" name="AutoShape 10"/>
          <p:cNvSpPr/>
          <p:nvPr/>
        </p:nvSpPr>
        <p:spPr>
          <a:xfrm>
            <a:off x="59420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109" name="AutoShape 11"/>
          <p:cNvSpPr/>
          <p:nvPr/>
        </p:nvSpPr>
        <p:spPr>
          <a:xfrm>
            <a:off x="63722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0" name="AutoShape 12"/>
          <p:cNvSpPr/>
          <p:nvPr/>
        </p:nvSpPr>
        <p:spPr>
          <a:xfrm>
            <a:off x="50768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</a:p>
        </p:txBody>
      </p:sp>
      <p:sp useBgFill="1">
        <p:nvSpPr>
          <p:cNvPr id="111" name="AutoShape 13"/>
          <p:cNvSpPr/>
          <p:nvPr/>
        </p:nvSpPr>
        <p:spPr>
          <a:xfrm>
            <a:off x="46466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2" name="AutoShape 14"/>
          <p:cNvSpPr/>
          <p:nvPr/>
        </p:nvSpPr>
        <p:spPr>
          <a:xfrm>
            <a:off x="37798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sp>
        <p:nvSpPr>
          <p:cNvPr id="113" name="Line 28"/>
          <p:cNvSpPr/>
          <p:nvPr/>
        </p:nvSpPr>
        <p:spPr>
          <a:xfrm>
            <a:off x="4646930" y="4801235"/>
            <a:ext cx="35433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14" name="AutoShape 6"/>
          <p:cNvSpPr/>
          <p:nvPr/>
        </p:nvSpPr>
        <p:spPr>
          <a:xfrm>
            <a:off x="33480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115" name="AutoShape 4"/>
          <p:cNvSpPr/>
          <p:nvPr/>
        </p:nvSpPr>
        <p:spPr>
          <a:xfrm>
            <a:off x="248126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sp useBgFill="1">
        <p:nvSpPr>
          <p:cNvPr id="116" name="AutoShape 5"/>
          <p:cNvSpPr/>
          <p:nvPr/>
        </p:nvSpPr>
        <p:spPr>
          <a:xfrm>
            <a:off x="29162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</a:p>
        </p:txBody>
      </p:sp>
      <p:sp useBgFill="1">
        <p:nvSpPr>
          <p:cNvPr id="117" name="AutoShape 8"/>
          <p:cNvSpPr/>
          <p:nvPr/>
        </p:nvSpPr>
        <p:spPr>
          <a:xfrm>
            <a:off x="55086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</a:p>
        </p:txBody>
      </p:sp>
      <p:sp useBgFill="1">
        <p:nvSpPr>
          <p:cNvPr id="118" name="AutoShape 9"/>
          <p:cNvSpPr/>
          <p:nvPr/>
        </p:nvSpPr>
        <p:spPr>
          <a:xfrm>
            <a:off x="42116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</a:p>
        </p:txBody>
      </p:sp>
      <p:sp useBgFill="1">
        <p:nvSpPr>
          <p:cNvPr id="119" name="AutoShape 10"/>
          <p:cNvSpPr/>
          <p:nvPr/>
        </p:nvSpPr>
        <p:spPr>
          <a:xfrm>
            <a:off x="594201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</a:p>
        </p:txBody>
      </p:sp>
      <p:sp useBgFill="1">
        <p:nvSpPr>
          <p:cNvPr id="120" name="AutoShape 11"/>
          <p:cNvSpPr/>
          <p:nvPr/>
        </p:nvSpPr>
        <p:spPr>
          <a:xfrm>
            <a:off x="63722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lstStyle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1" name="AutoShape 12"/>
          <p:cNvSpPr/>
          <p:nvPr/>
        </p:nvSpPr>
        <p:spPr>
          <a:xfrm>
            <a:off x="50768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</a:p>
        </p:txBody>
      </p:sp>
      <p:sp useBgFill="1">
        <p:nvSpPr>
          <p:cNvPr id="122" name="AutoShape 13"/>
          <p:cNvSpPr/>
          <p:nvPr/>
        </p:nvSpPr>
        <p:spPr>
          <a:xfrm>
            <a:off x="4646613" y="53019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</a:p>
        </p:txBody>
      </p:sp>
      <p:sp useBgFill="1">
        <p:nvSpPr>
          <p:cNvPr id="123" name="AutoShape 14"/>
          <p:cNvSpPr/>
          <p:nvPr/>
        </p:nvSpPr>
        <p:spPr>
          <a:xfrm>
            <a:off x="37798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</a:p>
        </p:txBody>
      </p:sp>
      <p:sp>
        <p:nvSpPr>
          <p:cNvPr id="124" name="Line 28"/>
          <p:cNvSpPr/>
          <p:nvPr/>
        </p:nvSpPr>
        <p:spPr>
          <a:xfrm rot="21300000">
            <a:off x="4646930" y="5220335"/>
            <a:ext cx="354330" cy="2667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25" name="AutoShape 6"/>
          <p:cNvSpPr/>
          <p:nvPr/>
        </p:nvSpPr>
        <p:spPr>
          <a:xfrm>
            <a:off x="33480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</a:p>
        </p:txBody>
      </p:sp>
      <p:sp useBgFill="1">
        <p:nvSpPr>
          <p:cNvPr id="126" name="AutoShape 4"/>
          <p:cNvSpPr/>
          <p:nvPr/>
        </p:nvSpPr>
        <p:spPr>
          <a:xfrm>
            <a:off x="248126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</a:p>
        </p:txBody>
      </p:sp>
      <p:cxnSp>
        <p:nvCxnSpPr>
          <p:cNvPr id="127" name="AutoShape 100"/>
          <p:cNvCxnSpPr>
            <a:stCxn id="1593348" idx="1"/>
            <a:endCxn id="122" idx="2"/>
          </p:cNvCxnSpPr>
          <p:nvPr/>
        </p:nvCxnSpPr>
        <p:spPr>
          <a:xfrm rot="10800000" flipH="1" flipV="1">
            <a:off x="2481580" y="1268730"/>
            <a:ext cx="2308860" cy="4319905"/>
          </a:xfrm>
          <a:prstGeom prst="bentConnector4">
            <a:avLst>
              <a:gd name="adj1" fmla="val -10314"/>
              <a:gd name="adj2" fmla="val 105512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4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500"/>
                            </p:stCondLst>
                            <p:childTnLst>
                              <p:par>
                                <p:cTn id="4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7" dur="9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4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2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500"/>
                            </p:stCondLst>
                            <p:childTnLst>
                              <p:par>
                                <p:cTn id="6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7" dur="9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1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65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0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2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6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9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1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1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3" fill="hold">
                      <p:stCondLst>
                        <p:cond delay="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6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1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72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5" fill="hold">
                      <p:stCondLst>
                        <p:cond delay="0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8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0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3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0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2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5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6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500"/>
                            </p:stCondLst>
                            <p:childTnLst>
                              <p:par>
                                <p:cTn id="7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7" dur="9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500"/>
                            </p:stCondLst>
                            <p:childTnLst>
                              <p:par>
                                <p:cTn id="8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7" dur="9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8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4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1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91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3" fill="hold">
                      <p:stCondLst>
                        <p:cond delay="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924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5" fill="hold">
                      <p:stCondLst>
                        <p:cond delay="0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5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0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948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9" fill="hold">
                      <p:stCondLst>
                        <p:cond delay="0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2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9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984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5" fill="hold">
                      <p:stCondLst>
                        <p:cond delay="0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99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7" fill="hold">
                      <p:stCondLst>
                        <p:cond delay="0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100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9" fill="hold">
                      <p:stCondLst>
                        <p:cond delay="0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2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500"/>
                            </p:stCondLst>
                            <p:childTnLst>
                              <p:par>
                                <p:cTn id="10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7" dur="9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018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9" fill="hold">
                      <p:stCondLst>
                        <p:cond delay="0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2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4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5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7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6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1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6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9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1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054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5" fill="hold">
                      <p:stCondLst>
                        <p:cond delay="0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8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1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3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4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066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7" fill="hold">
                      <p:stCondLst>
                        <p:cond delay="0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0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2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3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5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07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9" fill="hold">
                      <p:stCondLst>
                        <p:cond delay="0"/>
                      </p:stCondLst>
                      <p:childTnLst>
                        <p:par>
                          <p:cTn id="1080" fill="hold">
                            <p:stCondLst>
                              <p:cond delay="0"/>
                            </p:stCondLst>
                            <p:childTnLst>
                              <p:par>
                                <p:cTn id="10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2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4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7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>
                      <p:stCondLst>
                        <p:cond delay="0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4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6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102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3" fill="hold">
                      <p:stCondLst>
                        <p:cond delay="0"/>
                      </p:stCondLst>
                      <p:childTnLst>
                        <p:par>
                          <p:cTn id="1104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6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8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1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114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5" fill="hold">
                      <p:stCondLst>
                        <p:cond delay="0"/>
                      </p:stCondLst>
                      <p:childTnLst>
                        <p:par>
                          <p:cTn id="1116" fill="hold">
                            <p:stCondLst>
                              <p:cond delay="0"/>
                            </p:stCondLst>
                            <p:childTnLst>
                              <p:par>
                                <p:cTn id="1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8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0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1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3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4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0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2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5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138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9" fill="hold">
                      <p:stCondLst>
                        <p:cond delay="0"/>
                      </p:stCondLst>
                      <p:childTnLst>
                        <p:par>
                          <p:cTn id="1140" fill="hold">
                            <p:stCondLst>
                              <p:cond delay="0"/>
                            </p:stCondLst>
                            <p:childTnLst>
                              <p:par>
                                <p:cTn id="114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7" dur="9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7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8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9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1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6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8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9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1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2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184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5" fill="hold">
                      <p:stCondLst>
                        <p:cond delay="0"/>
                      </p:stCondLst>
                      <p:childTnLst>
                        <p:par>
                          <p:cTn id="1186" fill="hold">
                            <p:stCondLst>
                              <p:cond delay="0"/>
                            </p:stCondLst>
                            <p:childTnLst>
                              <p:par>
                                <p:cTn id="1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23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3" fill="hold">
                      <p:stCondLst>
                        <p:cond delay="0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1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2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244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5" fill="hold">
                      <p:stCondLst>
                        <p:cond delay="0"/>
                      </p:stCondLst>
                      <p:childTnLst>
                        <p:par>
                          <p:cTn id="1246" fill="hold">
                            <p:stCondLst>
                              <p:cond delay="0"/>
                            </p:stCondLst>
                            <p:childTnLst>
                              <p:par>
                                <p:cTn id="1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8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0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1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3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4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256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7" fill="hold">
                      <p:stCondLst>
                        <p:cond delay="0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id="1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0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2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3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5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6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268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9" fill="hold">
                      <p:stCondLst>
                        <p:cond delay="0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500"/>
                            </p:stCondLst>
                            <p:childTnLst>
                              <p:par>
                                <p:cTn id="12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7" dur="9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27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9" fill="hold">
                      <p:stCondLst>
                        <p:cond delay="0"/>
                      </p:stCondLst>
                      <p:childTnLst>
                        <p:par>
                          <p:cTn id="1280" fill="hold">
                            <p:stCondLst>
                              <p:cond delay="0"/>
                            </p:stCondLst>
                            <p:childTnLst>
                              <p:par>
                                <p:cTn id="1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290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1" fill="hold">
                      <p:stCondLst>
                        <p:cond delay="0"/>
                      </p:stCondLst>
                      <p:childTnLst>
                        <p:par>
                          <p:cTn id="1292" fill="hold">
                            <p:stCondLst>
                              <p:cond delay="0"/>
                            </p:stCondLst>
                            <p:childTnLst>
                              <p:par>
                                <p:cTn id="1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4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5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1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302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3" fill="hold">
                      <p:stCondLst>
                        <p:cond delay="0"/>
                      </p:stCondLst>
                      <p:childTnLst>
                        <p:par>
                          <p:cTn id="1304" fill="hold">
                            <p:stCondLst>
                              <p:cond delay="0"/>
                            </p:stCondLst>
                            <p:childTnLst>
                              <p:par>
                                <p:cTn id="1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6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7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6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6" grpId="0" bldLvl="0" animBg="1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820" y="80645"/>
            <a:ext cx="451993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&lt;= _elem[hi]))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hi--; 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_elem[lo] = _elem[hi];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小于归入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&lt;= pivot)) 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lo++; 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_elem[hi] = _elem[lo];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大于归入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3750" y="80645"/>
            <a:ext cx="445643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&lt;= _elem[hi]))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hi--; 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if (lo &lt; hi)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_elem[lo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++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_elem[hi];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&lt;= pivot))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lo++; 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if (lo &lt; hi)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--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_elem[lo];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820" y="3104515"/>
            <a:ext cx="438658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_elem[hi])) 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hi--;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向左拓展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>
                <a:ln>
                  <a:noFill/>
                </a:ln>
                <a:effectLst/>
                <a:uLnTx/>
                <a:uFillTx/>
                <a:sym typeface="+mn-ea"/>
              </a:rPr>
              <a:t>     if (lo &lt; hi) _elem[lo++] = _elem[hi];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pivot))</a:t>
            </a:r>
          </a:p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lo++;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向右拓展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>
                <a:ln>
                  <a:noFill/>
                </a:ln>
                <a:effectLst/>
                <a:uLnTx/>
                <a:uFillTx/>
                <a:sym typeface="+mn-ea"/>
              </a:rPr>
              <a:t>     if (lo &lt; hi) _elem[hi--] = _elem[lo]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70400" y="3016885"/>
            <a:ext cx="4558030" cy="31381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while (lo &lt; hi) {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(lo &lt; hi)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if (pivot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_elem[hi]) hi--;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向左拓展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else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直至遇到不大于轴点者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{ _elem[lo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++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_elem[hi];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break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} 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(lo &lt; hi)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if (_elem[lo]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pivot) lo++;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向右拓展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else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直至遇到不小于轴点者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{ _elem[hi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--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_elem[lo]; 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break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} </a:t>
            </a:r>
          </a:p>
          <a:p>
            <a:pPr algn="l"/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57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算法B：性能分析</a:t>
            </a:r>
          </a:p>
        </p:txBody>
      </p:sp>
      <p:sp>
        <p:nvSpPr>
          <p:cNvPr id="156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可以正确地处理一般情况，而且复杂度没有实质的提高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处理重复元素时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会交替移动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二者移动的距离相当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最终，轴点被安置于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(lo + hi)/2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处，实现划分均匀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相对于算法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的“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勤于拓展、懒于交换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”，转为“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懒于拓展、勤于交换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交换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操作有所增多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尤其是雷同元素，在版本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中多不移动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）更不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稳定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17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算法C：思路</a:t>
            </a:r>
          </a:p>
        </p:txBody>
      </p:sp>
      <p:sp>
        <p:nvSpPr>
          <p:cNvPr id="1586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[lo, hi] = [lo] + L(lo, mi] + G(mi, k) + U[k, hi]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考察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若小于轴点，则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swap(mi+1, k)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拓展、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平移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否则，直接拓展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</a:p>
        </p:txBody>
      </p:sp>
      <p:sp>
        <p:nvSpPr>
          <p:cNvPr id="1586180" name="AutoShape 4"/>
          <p:cNvSpPr>
            <a:spLocks noChangeArrowheads="1"/>
          </p:cNvSpPr>
          <p:nvPr/>
        </p:nvSpPr>
        <p:spPr bwMode="auto">
          <a:xfrm>
            <a:off x="2413000" y="4003675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81" name="AutoShape 5"/>
          <p:cNvSpPr>
            <a:spLocks noChangeArrowheads="1"/>
          </p:cNvSpPr>
          <p:nvPr/>
        </p:nvSpPr>
        <p:spPr bwMode="auto">
          <a:xfrm>
            <a:off x="3854450" y="4003675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82" name="AutoShape 6"/>
          <p:cNvSpPr>
            <a:spLocks noChangeArrowheads="1"/>
          </p:cNvSpPr>
          <p:nvPr/>
        </p:nvSpPr>
        <p:spPr bwMode="auto">
          <a:xfrm>
            <a:off x="5294313" y="4003675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83" name="Line 7"/>
          <p:cNvSpPr/>
          <p:nvPr/>
        </p:nvSpPr>
        <p:spPr>
          <a:xfrm>
            <a:off x="5437188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4" name="Rectangle 8"/>
          <p:cNvSpPr>
            <a:spLocks noChangeArrowheads="1"/>
          </p:cNvSpPr>
          <p:nvPr/>
        </p:nvSpPr>
        <p:spPr bwMode="auto">
          <a:xfrm>
            <a:off x="5294313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586185" name="AutoShape 9"/>
          <p:cNvSpPr>
            <a:spLocks noChangeArrowheads="1"/>
          </p:cNvSpPr>
          <p:nvPr/>
        </p:nvSpPr>
        <p:spPr bwMode="auto">
          <a:xfrm>
            <a:off x="5294313" y="42926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186" name="AutoShape 10"/>
          <p:cNvSpPr>
            <a:spLocks noChangeArrowheads="1"/>
          </p:cNvSpPr>
          <p:nvPr/>
        </p:nvSpPr>
        <p:spPr bwMode="auto">
          <a:xfrm>
            <a:off x="2125663" y="31416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187" name="AutoShape 11"/>
          <p:cNvSpPr>
            <a:spLocks noChangeArrowheads="1"/>
          </p:cNvSpPr>
          <p:nvPr/>
        </p:nvSpPr>
        <p:spPr bwMode="auto">
          <a:xfrm>
            <a:off x="2413000" y="3140075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</a:p>
        </p:txBody>
      </p:sp>
      <p:sp>
        <p:nvSpPr>
          <p:cNvPr id="1586188" name="Line 12"/>
          <p:cNvSpPr/>
          <p:nvPr/>
        </p:nvSpPr>
        <p:spPr>
          <a:xfrm>
            <a:off x="6878638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9" name="Rectangle 13"/>
          <p:cNvSpPr>
            <a:spLocks noChangeArrowheads="1"/>
          </p:cNvSpPr>
          <p:nvPr/>
        </p:nvSpPr>
        <p:spPr bwMode="auto">
          <a:xfrm>
            <a:off x="6734175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586190" name="Line 14"/>
          <p:cNvSpPr/>
          <p:nvPr/>
        </p:nvSpPr>
        <p:spPr>
          <a:xfrm>
            <a:off x="3709988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91" name="Rectangle 15"/>
          <p:cNvSpPr>
            <a:spLocks noChangeArrowheads="1"/>
          </p:cNvSpPr>
          <p:nvPr/>
        </p:nvSpPr>
        <p:spPr bwMode="auto">
          <a:xfrm>
            <a:off x="3567113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</a:t>
            </a:r>
          </a:p>
        </p:txBody>
      </p:sp>
      <p:sp>
        <p:nvSpPr>
          <p:cNvPr id="1586192" name="AutoShape 16"/>
          <p:cNvSpPr>
            <a:spLocks noChangeArrowheads="1"/>
          </p:cNvSpPr>
          <p:nvPr/>
        </p:nvSpPr>
        <p:spPr bwMode="auto">
          <a:xfrm>
            <a:off x="2413000" y="573246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93" name="AutoShape 17"/>
          <p:cNvSpPr>
            <a:spLocks noChangeArrowheads="1"/>
          </p:cNvSpPr>
          <p:nvPr/>
        </p:nvSpPr>
        <p:spPr bwMode="auto">
          <a:xfrm>
            <a:off x="3854450" y="573246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94" name="AutoShape 18"/>
          <p:cNvSpPr>
            <a:spLocks noChangeArrowheads="1"/>
          </p:cNvSpPr>
          <p:nvPr/>
        </p:nvSpPr>
        <p:spPr bwMode="auto">
          <a:xfrm>
            <a:off x="5583238" y="573246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95" name="AutoShape 19"/>
          <p:cNvSpPr>
            <a:spLocks noChangeArrowheads="1"/>
          </p:cNvSpPr>
          <p:nvPr/>
        </p:nvSpPr>
        <p:spPr bwMode="auto">
          <a:xfrm>
            <a:off x="2411413" y="4940300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96" name="AutoShape 20"/>
          <p:cNvSpPr>
            <a:spLocks noChangeArrowheads="1"/>
          </p:cNvSpPr>
          <p:nvPr/>
        </p:nvSpPr>
        <p:spPr bwMode="auto">
          <a:xfrm>
            <a:off x="4141788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97" name="AutoShape 21"/>
          <p:cNvSpPr>
            <a:spLocks noChangeArrowheads="1"/>
          </p:cNvSpPr>
          <p:nvPr/>
        </p:nvSpPr>
        <p:spPr bwMode="auto">
          <a:xfrm>
            <a:off x="5581650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98" name="AutoShape 22"/>
          <p:cNvSpPr>
            <a:spLocks noChangeArrowheads="1"/>
          </p:cNvSpPr>
          <p:nvPr/>
        </p:nvSpPr>
        <p:spPr bwMode="auto">
          <a:xfrm>
            <a:off x="5294313" y="6021388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199" name="AutoShape 23"/>
          <p:cNvSpPr>
            <a:spLocks noChangeArrowheads="1"/>
          </p:cNvSpPr>
          <p:nvPr/>
        </p:nvSpPr>
        <p:spPr bwMode="auto">
          <a:xfrm>
            <a:off x="3852863" y="46529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200" name="AutoShape 24"/>
          <p:cNvSpPr>
            <a:spLocks noChangeArrowheads="1"/>
          </p:cNvSpPr>
          <p:nvPr/>
        </p:nvSpPr>
        <p:spPr bwMode="auto">
          <a:xfrm>
            <a:off x="2125663" y="40052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1" name="AutoShape 25"/>
          <p:cNvSpPr>
            <a:spLocks noChangeArrowheads="1"/>
          </p:cNvSpPr>
          <p:nvPr/>
        </p:nvSpPr>
        <p:spPr bwMode="auto">
          <a:xfrm>
            <a:off x="2125663" y="57324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2" name="AutoShape 26"/>
          <p:cNvSpPr>
            <a:spLocks noChangeArrowheads="1"/>
          </p:cNvSpPr>
          <p:nvPr/>
        </p:nvSpPr>
        <p:spPr bwMode="auto">
          <a:xfrm>
            <a:off x="2124075" y="49403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3" name="Line 27"/>
          <p:cNvSpPr/>
          <p:nvPr/>
        </p:nvSpPr>
        <p:spPr>
          <a:xfrm>
            <a:off x="2270125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204" name="Rectangle 28"/>
          <p:cNvSpPr>
            <a:spLocks noChangeArrowheads="1"/>
          </p:cNvSpPr>
          <p:nvPr/>
        </p:nvSpPr>
        <p:spPr bwMode="auto">
          <a:xfrm>
            <a:off x="2125663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86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86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86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86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86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4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8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586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86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6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7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586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86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586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586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0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586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1586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86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86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86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586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86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86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586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2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8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586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4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9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586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0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586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1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586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2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586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58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4"/>
                  </p:tgtEl>
                </p:cond>
              </p:nextCondLst>
            </p:seq>
          </p:childTnLst>
        </p:cTn>
      </p:par>
    </p:tnLst>
    <p:bldLst>
      <p:bldP spid="1586180" grpId="0" bldLvl="0" animBg="1"/>
      <p:bldP spid="1586181" grpId="0" bldLvl="0" animBg="1"/>
      <p:bldP spid="1586182" grpId="0" bldLvl="0" animBg="1"/>
      <p:bldP spid="1586184" grpId="0" bldLvl="0" animBg="1"/>
      <p:bldP spid="1586184" grpId="1" bldLvl="0" animBg="1"/>
      <p:bldP spid="1586185" grpId="0" bldLvl="0" animBg="1"/>
      <p:bldP spid="1586186" grpId="0" bldLvl="0" animBg="1"/>
      <p:bldP spid="1586187" grpId="0" bldLvl="0" animBg="1"/>
      <p:bldP spid="1586189" grpId="0" bldLvl="0" animBg="1"/>
      <p:bldP spid="1586189" grpId="1" bldLvl="0" animBg="1"/>
      <p:bldP spid="1586191" grpId="0" bldLvl="0" animBg="1"/>
      <p:bldP spid="1586191" grpId="1" bldLvl="0" animBg="1"/>
      <p:bldP spid="1586192" grpId="0" bldLvl="0" animBg="1"/>
      <p:bldP spid="1586193" grpId="0" bldLvl="0" animBg="1"/>
      <p:bldP spid="1586194" grpId="0" bldLvl="0" animBg="1"/>
      <p:bldP spid="1586195" grpId="0" bldLvl="0" animBg="1"/>
      <p:bldP spid="1586196" grpId="0" bldLvl="0" animBg="1"/>
      <p:bldP spid="1586197" grpId="0" bldLvl="0" animBg="1"/>
      <p:bldP spid="1586198" grpId="0" bldLvl="0" animBg="1"/>
      <p:bldP spid="1586199" grpId="0" bldLvl="0" animBg="1"/>
      <p:bldP spid="1586200" grpId="0" bldLvl="0" animBg="1"/>
      <p:bldP spid="1586201" grpId="0" bldLvl="0" animBg="1"/>
      <p:bldP spid="1586202" grpId="0" bldLvl="0" animBg="1"/>
      <p:bldP spid="1586204" grpId="0" bldLvl="0" animBg="1"/>
      <p:bldP spid="1586204" grpId="1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1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算法C：实现</a:t>
            </a:r>
          </a:p>
        </p:txBody>
      </p:sp>
      <p:sp>
        <p:nvSpPr>
          <p:cNvPr id="1585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1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template &lt;typename T&gt;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swap(_elem[lo], _elem[lo + rand() % (hi - lo + 1)]);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T pivot = _elem[lo]; int mi = lo;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for (int k = lo + 1; k &lt;= hi; k++)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自左向右考察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if (_elem[k] &lt; pivot)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小于轴点，则将其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swap(_elem[++mi], _elem[k]);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[mi]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交换，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向右扩展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swap(_elem[lo], _elem[mi]);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mi;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返回轴点的秩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算法D：思路</a:t>
            </a:r>
          </a:p>
        </p:txBody>
      </p:sp>
      <p:sp>
        <p:nvSpPr>
          <p:cNvPr id="1586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[lo, hi] = L[lo, k) + E[k, mi] + G(mi, hi]</a:t>
            </a: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为等于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pivot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集合</a:t>
            </a:r>
          </a:p>
        </p:txBody>
      </p:sp>
      <p:sp>
        <p:nvSpPr>
          <p:cNvPr id="1586180" name="AutoShape 4"/>
          <p:cNvSpPr>
            <a:spLocks noChangeArrowheads="1"/>
          </p:cNvSpPr>
          <p:nvPr/>
        </p:nvSpPr>
        <p:spPr bwMode="auto">
          <a:xfrm>
            <a:off x="2413000" y="4003675"/>
            <a:ext cx="101346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81" name="AutoShape 5"/>
          <p:cNvSpPr>
            <a:spLocks noChangeArrowheads="1"/>
          </p:cNvSpPr>
          <p:nvPr/>
        </p:nvSpPr>
        <p:spPr bwMode="auto">
          <a:xfrm>
            <a:off x="5583555" y="400558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82" name="AutoShape 6"/>
          <p:cNvSpPr>
            <a:spLocks noChangeArrowheads="1"/>
          </p:cNvSpPr>
          <p:nvPr/>
        </p:nvSpPr>
        <p:spPr bwMode="auto">
          <a:xfrm>
            <a:off x="3856038" y="4003675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83" name="Line 7"/>
          <p:cNvSpPr/>
          <p:nvPr/>
        </p:nvSpPr>
        <p:spPr>
          <a:xfrm>
            <a:off x="3461703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4" name="Rectangle 8"/>
          <p:cNvSpPr>
            <a:spLocks noChangeArrowheads="1"/>
          </p:cNvSpPr>
          <p:nvPr/>
        </p:nvSpPr>
        <p:spPr bwMode="auto">
          <a:xfrm>
            <a:off x="3318828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586185" name="AutoShape 9"/>
          <p:cNvSpPr>
            <a:spLocks noChangeArrowheads="1"/>
          </p:cNvSpPr>
          <p:nvPr/>
        </p:nvSpPr>
        <p:spPr bwMode="auto">
          <a:xfrm>
            <a:off x="5294313" y="42926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186" name="AutoShape 10"/>
          <p:cNvSpPr>
            <a:spLocks noChangeArrowheads="1"/>
          </p:cNvSpPr>
          <p:nvPr/>
        </p:nvSpPr>
        <p:spPr bwMode="auto">
          <a:xfrm>
            <a:off x="2125663" y="31416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187" name="AutoShape 11"/>
          <p:cNvSpPr>
            <a:spLocks noChangeArrowheads="1"/>
          </p:cNvSpPr>
          <p:nvPr/>
        </p:nvSpPr>
        <p:spPr bwMode="auto">
          <a:xfrm>
            <a:off x="2413000" y="3140075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</a:p>
        </p:txBody>
      </p:sp>
      <p:sp>
        <p:nvSpPr>
          <p:cNvPr id="1586188" name="Line 12"/>
          <p:cNvSpPr/>
          <p:nvPr/>
        </p:nvSpPr>
        <p:spPr>
          <a:xfrm>
            <a:off x="6878638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9" name="Rectangle 13"/>
          <p:cNvSpPr>
            <a:spLocks noChangeArrowheads="1"/>
          </p:cNvSpPr>
          <p:nvPr/>
        </p:nvSpPr>
        <p:spPr bwMode="auto">
          <a:xfrm>
            <a:off x="6734175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586192" name="AutoShape 16"/>
          <p:cNvSpPr>
            <a:spLocks noChangeArrowheads="1"/>
          </p:cNvSpPr>
          <p:nvPr/>
        </p:nvSpPr>
        <p:spPr bwMode="auto">
          <a:xfrm>
            <a:off x="2413000" y="5732780"/>
            <a:ext cx="131953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93" name="AutoShape 17"/>
          <p:cNvSpPr>
            <a:spLocks noChangeArrowheads="1"/>
          </p:cNvSpPr>
          <p:nvPr/>
        </p:nvSpPr>
        <p:spPr bwMode="auto">
          <a:xfrm>
            <a:off x="5620385" y="5734050"/>
            <a:ext cx="136652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94" name="AutoShape 18"/>
          <p:cNvSpPr>
            <a:spLocks noChangeArrowheads="1"/>
          </p:cNvSpPr>
          <p:nvPr/>
        </p:nvSpPr>
        <p:spPr bwMode="auto">
          <a:xfrm>
            <a:off x="4173855" y="5732780"/>
            <a:ext cx="1428115" cy="28765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95" name="AutoShape 19"/>
          <p:cNvSpPr>
            <a:spLocks noChangeArrowheads="1"/>
          </p:cNvSpPr>
          <p:nvPr/>
        </p:nvSpPr>
        <p:spPr bwMode="auto">
          <a:xfrm>
            <a:off x="2411730" y="4940300"/>
            <a:ext cx="102616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86196" name="AutoShape 20"/>
          <p:cNvSpPr>
            <a:spLocks noChangeArrowheads="1"/>
          </p:cNvSpPr>
          <p:nvPr/>
        </p:nvSpPr>
        <p:spPr bwMode="auto">
          <a:xfrm>
            <a:off x="5583238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586197" name="AutoShape 21"/>
          <p:cNvSpPr>
            <a:spLocks noChangeArrowheads="1"/>
          </p:cNvSpPr>
          <p:nvPr/>
        </p:nvSpPr>
        <p:spPr bwMode="auto">
          <a:xfrm>
            <a:off x="4143375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586198" name="AutoShape 22"/>
          <p:cNvSpPr>
            <a:spLocks noChangeArrowheads="1"/>
          </p:cNvSpPr>
          <p:nvPr/>
        </p:nvSpPr>
        <p:spPr bwMode="auto">
          <a:xfrm flipH="1">
            <a:off x="3458845" y="5499100"/>
            <a:ext cx="283845" cy="23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199" name="AutoShape 23"/>
          <p:cNvSpPr>
            <a:spLocks noChangeArrowheads="1"/>
          </p:cNvSpPr>
          <p:nvPr/>
        </p:nvSpPr>
        <p:spPr bwMode="auto">
          <a:xfrm>
            <a:off x="3852863" y="460978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586200" name="AutoShape 24"/>
          <p:cNvSpPr>
            <a:spLocks noChangeArrowheads="1"/>
          </p:cNvSpPr>
          <p:nvPr/>
        </p:nvSpPr>
        <p:spPr bwMode="auto">
          <a:xfrm>
            <a:off x="2125663" y="40052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1" name="AutoShape 25"/>
          <p:cNvSpPr>
            <a:spLocks noChangeArrowheads="1"/>
          </p:cNvSpPr>
          <p:nvPr/>
        </p:nvSpPr>
        <p:spPr bwMode="auto">
          <a:xfrm>
            <a:off x="2125663" y="57324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2" name="AutoShape 26"/>
          <p:cNvSpPr>
            <a:spLocks noChangeArrowheads="1"/>
          </p:cNvSpPr>
          <p:nvPr/>
        </p:nvSpPr>
        <p:spPr bwMode="auto">
          <a:xfrm>
            <a:off x="2124075" y="49403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86203" name="Line 27"/>
          <p:cNvSpPr/>
          <p:nvPr/>
        </p:nvSpPr>
        <p:spPr>
          <a:xfrm>
            <a:off x="2270125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204" name="Rectangle 28"/>
          <p:cNvSpPr>
            <a:spLocks noChangeArrowheads="1"/>
          </p:cNvSpPr>
          <p:nvPr/>
        </p:nvSpPr>
        <p:spPr bwMode="auto">
          <a:xfrm>
            <a:off x="2125663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3409315" y="4005580"/>
            <a:ext cx="44386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" name="Line 27"/>
          <p:cNvSpPr/>
          <p:nvPr/>
        </p:nvSpPr>
        <p:spPr>
          <a:xfrm>
            <a:off x="3994785" y="379761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3850323" y="350869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5" name="Line 12"/>
          <p:cNvSpPr/>
          <p:nvPr/>
        </p:nvSpPr>
        <p:spPr>
          <a:xfrm>
            <a:off x="5440363" y="379761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5295900" y="350869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7" name="Line 7"/>
          <p:cNvSpPr/>
          <p:nvPr/>
        </p:nvSpPr>
        <p:spPr>
          <a:xfrm>
            <a:off x="3514408" y="472408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3462020" y="4940300"/>
            <a:ext cx="67627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39635" y="4859655"/>
            <a:ext cx="690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x==p</a:t>
            </a:r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370263" y="436530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" name="Line 27"/>
          <p:cNvSpPr/>
          <p:nvPr/>
        </p:nvSpPr>
        <p:spPr>
          <a:xfrm>
            <a:off x="4282440" y="472535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" name="Rectangle 28"/>
          <p:cNvSpPr>
            <a:spLocks noChangeArrowheads="1"/>
          </p:cNvSpPr>
          <p:nvPr/>
        </p:nvSpPr>
        <p:spPr bwMode="auto">
          <a:xfrm>
            <a:off x="4137978" y="443642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306310" y="5732780"/>
            <a:ext cx="557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x&lt;p</a:t>
            </a:r>
            <a:endParaRPr lang="zh-CN" altLang="en-US"/>
          </a:p>
        </p:txBody>
      </p:sp>
      <p:sp>
        <p:nvSpPr>
          <p:cNvPr id="14" name="Line 7"/>
          <p:cNvSpPr/>
          <p:nvPr/>
        </p:nvSpPr>
        <p:spPr>
          <a:xfrm>
            <a:off x="3853815" y="5516880"/>
            <a:ext cx="635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3749675" y="5732780"/>
            <a:ext cx="42481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749358" y="522890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86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586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1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86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586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3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586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8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586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7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6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86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86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8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86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586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86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86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1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4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86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586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6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586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7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7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586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9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8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86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1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9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586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3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0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586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5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1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586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7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2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1586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3"/>
                  </p:tgtEl>
                </p:cond>
              </p:nextCondLst>
            </p:seq>
            <p:seq concurrent="1" nextAc="seek">
              <p:cTn id="259" restart="whenNotActive" fill="hold" evtFilter="cancelBubble" nodeType="interactiveSeq">
                <p:stCondLst>
                  <p:cond evt="onClick" delay="0">
                    <p:tgtEl>
                      <p:spTgt spid="158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0" fill="hold">
                      <p:stCondLst>
                        <p:cond delay="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4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86180" grpId="0" bldLvl="0" animBg="1"/>
      <p:bldP spid="1586181" grpId="0" bldLvl="0" animBg="1"/>
      <p:bldP spid="1586182" grpId="0" bldLvl="0" animBg="1"/>
      <p:bldP spid="1586184" grpId="0" bldLvl="0" animBg="1"/>
      <p:bldP spid="1586184" grpId="1" bldLvl="0" animBg="1"/>
      <p:bldP spid="1586185" grpId="0" bldLvl="0" animBg="1"/>
      <p:bldP spid="1586186" grpId="0" bldLvl="0" animBg="1"/>
      <p:bldP spid="1586187" grpId="0" bldLvl="0" animBg="1"/>
      <p:bldP spid="1586189" grpId="0" bldLvl="0" animBg="1"/>
      <p:bldP spid="1586189" grpId="1" bldLvl="0" animBg="1"/>
      <p:bldP spid="1586192" grpId="0" bldLvl="0" animBg="1"/>
      <p:bldP spid="1586193" grpId="0" bldLvl="0" animBg="1"/>
      <p:bldP spid="1586194" grpId="0" bldLvl="0" animBg="1"/>
      <p:bldP spid="1586195" grpId="0" bldLvl="0" animBg="1"/>
      <p:bldP spid="1586196" grpId="0" bldLvl="0" animBg="1"/>
      <p:bldP spid="1586197" grpId="0" bldLvl="0" animBg="1"/>
      <p:bldP spid="1586198" grpId="0" bldLvl="0" animBg="1"/>
      <p:bldP spid="1586199" grpId="0" bldLvl="0" animBg="1"/>
      <p:bldP spid="1586200" grpId="0" bldLvl="0" animBg="1"/>
      <p:bldP spid="1586201" grpId="0" bldLvl="0" animBg="1"/>
      <p:bldP spid="1586202" grpId="0" bldLvl="0" animBg="1"/>
      <p:bldP spid="1586204" grpId="0" bldLvl="0" animBg="1"/>
      <p:bldP spid="1586204" grpId="1" bldLvl="0" animBg="1"/>
      <p:bldP spid="2" grpId="0" bldLvl="0" animBg="1"/>
      <p:bldP spid="4" grpId="0" bldLvl="0" animBg="1"/>
      <p:bldP spid="4" grpId="1" bldLvl="0" animBg="1"/>
      <p:bldP spid="6" grpId="0" bldLvl="0" animBg="1"/>
      <p:bldP spid="6" grpId="1" bldLvl="0" animBg="1"/>
      <p:bldP spid="8" grpId="0" bldLvl="0" animBg="1"/>
      <p:bldP spid="10" grpId="0" bldLvl="0" animBg="1"/>
      <p:bldP spid="10" grpId="1" bldLvl="0" animBg="1"/>
      <p:bldP spid="12" grpId="0" bldLvl="0" animBg="1"/>
      <p:bldP spid="12" grpId="1" bldLvl="0" animBg="1"/>
      <p:bldP spid="15" grpId="0" bldLvl="0" animBg="1"/>
      <p:bldP spid="16" grpId="0" bldLvl="0" animBg="1"/>
      <p:bldP spid="16" grpId="1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1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算法D：实现</a:t>
            </a:r>
          </a:p>
        </p:txBody>
      </p:sp>
      <p:sp>
        <p:nvSpPr>
          <p:cNvPr id="1585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7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int partition(int * _elem,int lo, int hi,int &amp; k) { //[lo, hi]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swap(_elem[lo], _elem[lo + rand() % (hi - lo + 1)]);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int  pivot = _elem[lo]; int mi = lo;k=mi;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while (lo &lt; hi) { //从两端交替地向中间扫描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while (lo &lt; hi)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if (pivot &lt; _elem[hi]) hi--; //向左拓展G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else //直至遇到不大于轴点者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   { _elem[lo++] = _elem[hi];//相等扩充E，小于</a:t>
            </a:r>
            <a:r>
              <a:rPr kumimoji="0" 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则</a:t>
            </a: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交换到L区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      if(_elem[lo]&lt;pivot){swap(_elem[k++],_elem[lo]);} break; } 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while (lo &lt; hi)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if (_elem[lo]==pivot) lo++; //向右拓展E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else if(_elem[lo]&lt;pivot) swap(_elem[k++],_elem[lo]);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else //直至遇到不小于轴点者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      { _elem[hi--] = _elem[lo]; break; } 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    } //assert: lo == hi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 _elem[lo] = pivot; return lo; //候选轴点归位；返回其秩</a:t>
            </a: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}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基准元素选择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基准元素的选取是任意的，但不同的选取方法对算法性能影响很大</a:t>
            </a:r>
            <a:endParaRPr lang="en-US" altLang="zh-CN" dirty="0"/>
          </a:p>
          <a:p>
            <a:r>
              <a:rPr lang="zh-CN" altLang="en-US" dirty="0"/>
              <a:t>一般原则：是每次都能将表划分为规模相等的两部分（最佳情况）。此时，划分次数为</a:t>
            </a:r>
            <a:r>
              <a:rPr lang="en-US" altLang="zh-CN" dirty="0"/>
              <a:t>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，全部比较次数</a:t>
            </a:r>
            <a:r>
              <a:rPr lang="en-US" altLang="zh-CN" dirty="0"/>
              <a:t>nlog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，交换次数</a:t>
            </a:r>
            <a:r>
              <a:rPr lang="en-US" altLang="zh-CN" dirty="0"/>
              <a:t>(n/2)log</a:t>
            </a:r>
            <a:r>
              <a:rPr lang="en-US" altLang="zh-CN" baseline="-25000" dirty="0"/>
              <a:t>2</a:t>
            </a:r>
            <a:r>
              <a:rPr lang="en-US" altLang="zh-CN" dirty="0"/>
              <a:t>n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常用取关键字方法：</a:t>
            </a:r>
            <a:endParaRPr lang="en-US" altLang="zh-CN" dirty="0"/>
          </a:p>
          <a:p>
            <a:pPr lvl="1"/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].key</a:t>
            </a:r>
            <a:r>
              <a:rPr lang="zh-CN" altLang="en-US" dirty="0"/>
              <a:t>，</a:t>
            </a:r>
            <a:r>
              <a:rPr lang="en-US" altLang="zh-CN" dirty="0"/>
              <a:t>A[(</a:t>
            </a:r>
            <a:r>
              <a:rPr lang="en-US" altLang="zh-CN" dirty="0" err="1"/>
              <a:t>i+j</a:t>
            </a:r>
            <a:r>
              <a:rPr lang="en-US" altLang="zh-CN" dirty="0"/>
              <a:t>)/2].key,  A[j].key</a:t>
            </a:r>
            <a:r>
              <a:rPr lang="zh-CN" altLang="en-US" dirty="0"/>
              <a:t>的中值 </a:t>
            </a:r>
            <a:endParaRPr lang="en-US" altLang="zh-CN" dirty="0"/>
          </a:p>
          <a:p>
            <a:pPr lvl="1"/>
            <a:r>
              <a:rPr lang="en-US" altLang="zh-CN" dirty="0"/>
              <a:t> A[</a:t>
            </a:r>
            <a:r>
              <a:rPr lang="en-US" altLang="zh-CN" dirty="0" err="1"/>
              <a:t>i</a:t>
            </a:r>
            <a:r>
              <a:rPr lang="en-US" altLang="zh-CN" dirty="0"/>
              <a:t>].key</a:t>
            </a:r>
            <a:r>
              <a:rPr lang="zh-CN" altLang="en-US" dirty="0"/>
              <a:t>到</a:t>
            </a:r>
            <a:r>
              <a:rPr lang="en-US" altLang="zh-CN" dirty="0"/>
              <a:t>A[j].key </a:t>
            </a:r>
            <a:r>
              <a:rPr lang="zh-CN" altLang="en-US" dirty="0"/>
              <a:t>最先找到的两个不同关键字中 的最大者。（若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].key,…A[j].key</a:t>
            </a:r>
            <a:r>
              <a:rPr lang="zh-CN" altLang="en-US" dirty="0"/>
              <a:t>之中至少有两个关键字不相同）优点：若无两个关键字不同，则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到</a:t>
            </a:r>
            <a:r>
              <a:rPr lang="en-US" altLang="zh-CN" dirty="0"/>
              <a:t>A[j] </a:t>
            </a:r>
            <a:r>
              <a:rPr lang="zh-CN" altLang="en-US" dirty="0"/>
              <a:t>已有序，排序结束。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改进</a:t>
            </a:r>
            <a:endParaRPr lang="en-US" altLang="zh-CN"/>
          </a:p>
          <a:p>
            <a:pPr lvl="1" eaLnBrk="1" hangingPunct="1"/>
            <a:r>
              <a:rPr lang="zh-CN" altLang="en-US"/>
              <a:t>随机数、两平均、三平均中轴选择算法</a:t>
            </a:r>
            <a:endParaRPr lang="en-US" altLang="zh-CN"/>
          </a:p>
          <a:p>
            <a:pPr lvl="1" eaLnBrk="1" hangingPunct="1"/>
            <a:r>
              <a:rPr lang="zh-CN" altLang="en-US"/>
              <a:t>当子数组足够小时改用最简单的排序算法</a:t>
            </a:r>
            <a:endParaRPr lang="en-US" altLang="zh-CN"/>
          </a:p>
          <a:p>
            <a:pPr lvl="1" eaLnBrk="1" hangingPunct="1"/>
            <a:r>
              <a:rPr lang="zh-CN" altLang="en-US"/>
              <a:t>综合运用这些措施，可缩减</a:t>
            </a:r>
            <a:r>
              <a:rPr lang="en-US" altLang="zh-CN"/>
              <a:t>20%</a:t>
            </a:r>
            <a:r>
              <a:rPr lang="zh-CN" altLang="en-US"/>
              <a:t>时间</a:t>
            </a:r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快速排序的改进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堆排序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基于选择排序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直接（简单）选择排序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选择排序的主要操作是选择，其主要思想是：每趟排序在当前待排序序列中选出关键字值最小（最大）的记录，添加到有序序列中。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直接选择排序，对待排序的记录序列进行</a:t>
            </a:r>
            <a:r>
              <a:rPr lang="en-US" altLang="zh-CN" dirty="0">
                <a:latin typeface="+mn-ea"/>
              </a:rPr>
              <a:t>n-1</a:t>
            </a:r>
            <a:r>
              <a:rPr lang="zh-CN" altLang="en-US" dirty="0">
                <a:latin typeface="+mn-ea"/>
              </a:rPr>
              <a:t>遍的处理， 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遍处理是将</a:t>
            </a:r>
            <a:r>
              <a:rPr lang="en-US" altLang="zh-CN" dirty="0">
                <a:latin typeface="+mn-ea"/>
              </a:rPr>
              <a:t>A[1…n]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A[1]</a:t>
            </a:r>
            <a:r>
              <a:rPr lang="zh-CN" altLang="en-US" dirty="0">
                <a:latin typeface="+mn-ea"/>
              </a:rPr>
              <a:t>交换位置，第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遍处 是将</a:t>
            </a:r>
            <a:r>
              <a:rPr lang="en-US" altLang="zh-CN" dirty="0">
                <a:latin typeface="+mn-ea"/>
              </a:rPr>
              <a:t>A[2…n]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A[2]</a:t>
            </a:r>
            <a:r>
              <a:rPr lang="zh-CN" altLang="en-US" dirty="0">
                <a:latin typeface="+mn-ea"/>
              </a:rPr>
              <a:t>交换位置，</a:t>
            </a:r>
            <a:r>
              <a:rPr lang="en-US" altLang="zh-CN" dirty="0">
                <a:latin typeface="+mn-ea"/>
              </a:rPr>
              <a:t>......</a:t>
            </a:r>
            <a:r>
              <a:rPr lang="zh-CN" altLang="en-US" dirty="0">
                <a:latin typeface="+mn-ea"/>
              </a:rPr>
              <a:t>，第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遍处理是 将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交换位置。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直接选择排序与气泡排序的区别在：气泡排序每次比较后，如果发现顺序不对立即进行交换，而选择排序不立即进行交换，而是找出最小关键字记录后再进行交换。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交换次数：</a:t>
            </a:r>
            <a:endParaRPr lang="en-US" altLang="zh-CN" dirty="0"/>
          </a:p>
          <a:p>
            <a:pPr lvl="1"/>
            <a:r>
              <a:rPr lang="zh-CN" altLang="en-US" dirty="0"/>
              <a:t>最好情况正序</a:t>
            </a:r>
            <a:r>
              <a:rPr lang="en-US" altLang="zh-CN" dirty="0"/>
              <a:t>0</a:t>
            </a:r>
            <a:r>
              <a:rPr lang="zh-CN" altLang="en-US" dirty="0"/>
              <a:t>次，最坏（</a:t>
            </a:r>
            <a:r>
              <a:rPr lang="en-US" altLang="zh-CN" dirty="0"/>
              <a:t>n-1</a:t>
            </a:r>
            <a:r>
              <a:rPr lang="zh-CN" altLang="en-US" dirty="0"/>
              <a:t>）次</a:t>
            </a:r>
            <a:endParaRPr lang="en-US" altLang="zh-CN" dirty="0"/>
          </a:p>
          <a:p>
            <a:r>
              <a:rPr lang="zh-CN" altLang="en-US" dirty="0"/>
              <a:t>比较次数：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时间复杂度：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空间复杂度：</a:t>
            </a:r>
            <a:r>
              <a:rPr lang="en-US" altLang="zh-CN" dirty="0"/>
              <a:t>S(1)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370330" y="3041650"/>
          <a:ext cx="3688715" cy="97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25600" imgH="431800" progId="Equation.KSEE3">
                  <p:embed/>
                </p:oleObj>
              </mc:Choice>
              <mc:Fallback>
                <p:oleObj r:id="rId3" imgW="16256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0330" y="3041650"/>
                        <a:ext cx="3688715" cy="979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如何减少关键字之间的比较次数。若能利用每趟比较后的结果，也就是在找出关键字值最小记录的同时，也找出关键字值较小的记录，则可减少后面的选择中所用的比较次数，从而提高整个排序过程的效率。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583010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9610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6441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5933"/>
                </a:lnTo>
                <a:lnTo>
                  <a:pt x="64866" y="22523"/>
                </a:lnTo>
                <a:lnTo>
                  <a:pt x="32120" y="47953"/>
                </a:lnTo>
                <a:lnTo>
                  <a:pt x="9727" y="80405"/>
                </a:lnTo>
                <a:lnTo>
                  <a:pt x="0" y="118064"/>
                </a:lnTo>
                <a:lnTo>
                  <a:pt x="765" y="132111"/>
                </a:lnTo>
                <a:lnTo>
                  <a:pt x="12123" y="170864"/>
                </a:lnTo>
                <a:lnTo>
                  <a:pt x="35374" y="203402"/>
                </a:lnTo>
                <a:lnTo>
                  <a:pt x="68336" y="228268"/>
                </a:lnTo>
                <a:lnTo>
                  <a:pt x="108827" y="244006"/>
                </a:lnTo>
                <a:lnTo>
                  <a:pt x="138926" y="248706"/>
                </a:lnTo>
                <a:lnTo>
                  <a:pt x="156558" y="248171"/>
                </a:lnTo>
                <a:lnTo>
                  <a:pt x="204877" y="239581"/>
                </a:lnTo>
                <a:lnTo>
                  <a:pt x="245238" y="221767"/>
                </a:lnTo>
                <a:lnTo>
                  <a:pt x="276233" y="196334"/>
                </a:lnTo>
                <a:lnTo>
                  <a:pt x="300556" y="153351"/>
                </a:lnTo>
                <a:lnTo>
                  <a:pt x="304492" y="129041"/>
                </a:lnTo>
                <a:lnTo>
                  <a:pt x="303697" y="115264"/>
                </a:lnTo>
                <a:lnTo>
                  <a:pt x="292220" y="77104"/>
                </a:lnTo>
                <a:lnTo>
                  <a:pt x="268761" y="44927"/>
                </a:lnTo>
                <a:lnTo>
                  <a:pt x="235449" y="20309"/>
                </a:lnTo>
                <a:lnTo>
                  <a:pt x="194413" y="4825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48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8681" y="129098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544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116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212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6181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2" y="0"/>
                </a:moveTo>
                <a:lnTo>
                  <a:pt x="105498" y="5979"/>
                </a:lnTo>
                <a:lnTo>
                  <a:pt x="64562" y="22643"/>
                </a:lnTo>
                <a:lnTo>
                  <a:pt x="31769" y="48082"/>
                </a:lnTo>
                <a:lnTo>
                  <a:pt x="9466" y="80385"/>
                </a:lnTo>
                <a:lnTo>
                  <a:pt x="0" y="117642"/>
                </a:lnTo>
                <a:lnTo>
                  <a:pt x="782" y="131544"/>
                </a:lnTo>
                <a:lnTo>
                  <a:pt x="12248" y="169980"/>
                </a:lnTo>
                <a:lnTo>
                  <a:pt x="35676" y="202324"/>
                </a:lnTo>
                <a:lnTo>
                  <a:pt x="68863" y="227058"/>
                </a:lnTo>
                <a:lnTo>
                  <a:pt x="109604" y="242662"/>
                </a:lnTo>
                <a:lnTo>
                  <a:pt x="139872" y="247243"/>
                </a:lnTo>
                <a:lnTo>
                  <a:pt x="157412" y="246693"/>
                </a:lnTo>
                <a:lnTo>
                  <a:pt x="205531" y="238018"/>
                </a:lnTo>
                <a:lnTo>
                  <a:pt x="245763" y="220070"/>
                </a:lnTo>
                <a:lnTo>
                  <a:pt x="276653" y="194469"/>
                </a:lnTo>
                <a:lnTo>
                  <a:pt x="300788" y="151233"/>
                </a:lnTo>
                <a:lnTo>
                  <a:pt x="304577" y="126796"/>
                </a:lnTo>
                <a:lnTo>
                  <a:pt x="303766" y="113323"/>
                </a:lnTo>
                <a:lnTo>
                  <a:pt x="292115" y="75831"/>
                </a:lnTo>
                <a:lnTo>
                  <a:pt x="268329" y="44058"/>
                </a:lnTo>
                <a:lnTo>
                  <a:pt x="234585" y="19708"/>
                </a:lnTo>
                <a:lnTo>
                  <a:pt x="193057" y="4487"/>
                </a:lnTo>
                <a:lnTo>
                  <a:pt x="15223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7241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2" y="132147"/>
                </a:lnTo>
                <a:lnTo>
                  <a:pt x="12070" y="170907"/>
                </a:lnTo>
                <a:lnTo>
                  <a:pt x="35226" y="203577"/>
                </a:lnTo>
                <a:lnTo>
                  <a:pt x="68060" y="228645"/>
                </a:lnTo>
                <a:lnTo>
                  <a:pt x="108406" y="244598"/>
                </a:lnTo>
                <a:lnTo>
                  <a:pt x="138405" y="249424"/>
                </a:lnTo>
                <a:lnTo>
                  <a:pt x="156052" y="248893"/>
                </a:lnTo>
                <a:lnTo>
                  <a:pt x="204395" y="240287"/>
                </a:lnTo>
                <a:lnTo>
                  <a:pt x="244777" y="222443"/>
                </a:lnTo>
                <a:lnTo>
                  <a:pt x="275828" y="197002"/>
                </a:lnTo>
                <a:lnTo>
                  <a:pt x="300345" y="154107"/>
                </a:lnTo>
                <a:lnTo>
                  <a:pt x="304454" y="129908"/>
                </a:lnTo>
                <a:lnTo>
                  <a:pt x="303670" y="116143"/>
                </a:lnTo>
                <a:lnTo>
                  <a:pt x="292274" y="77926"/>
                </a:lnTo>
                <a:lnTo>
                  <a:pt x="268952" y="45587"/>
                </a:lnTo>
                <a:lnTo>
                  <a:pt x="235815" y="20745"/>
                </a:lnTo>
                <a:lnTo>
                  <a:pt x="194975" y="5021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78241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6" y="132173"/>
                </a:lnTo>
                <a:lnTo>
                  <a:pt x="12128" y="170905"/>
                </a:lnTo>
                <a:lnTo>
                  <a:pt x="35389" y="203430"/>
                </a:lnTo>
                <a:lnTo>
                  <a:pt x="68365" y="228288"/>
                </a:lnTo>
                <a:lnTo>
                  <a:pt x="108871" y="244017"/>
                </a:lnTo>
                <a:lnTo>
                  <a:pt x="138980" y="248710"/>
                </a:lnTo>
                <a:lnTo>
                  <a:pt x="156606" y="248173"/>
                </a:lnTo>
                <a:lnTo>
                  <a:pt x="204913" y="239579"/>
                </a:lnTo>
                <a:lnTo>
                  <a:pt x="245266" y="221756"/>
                </a:lnTo>
                <a:lnTo>
                  <a:pt x="276255" y="196314"/>
                </a:lnTo>
                <a:lnTo>
                  <a:pt x="300566" y="153315"/>
                </a:lnTo>
                <a:lnTo>
                  <a:pt x="304493" y="128997"/>
                </a:lnTo>
                <a:lnTo>
                  <a:pt x="303698" y="115353"/>
                </a:lnTo>
                <a:lnTo>
                  <a:pt x="292217" y="77402"/>
                </a:lnTo>
                <a:lnTo>
                  <a:pt x="268751" y="45223"/>
                </a:lnTo>
                <a:lnTo>
                  <a:pt x="235431" y="20489"/>
                </a:lnTo>
                <a:lnTo>
                  <a:pt x="194384" y="4874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62081" y="1281844"/>
            <a:ext cx="685800" cy="783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  <a:tabLst>
                <a:tab pos="5454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5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508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081" y="178019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1081" y="176952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780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114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732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018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841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2215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3041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6381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9375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54810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21410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88241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5933"/>
                </a:lnTo>
                <a:lnTo>
                  <a:pt x="64866" y="22523"/>
                </a:lnTo>
                <a:lnTo>
                  <a:pt x="32120" y="47953"/>
                </a:lnTo>
                <a:lnTo>
                  <a:pt x="9727" y="80405"/>
                </a:lnTo>
                <a:lnTo>
                  <a:pt x="0" y="118064"/>
                </a:lnTo>
                <a:lnTo>
                  <a:pt x="765" y="132111"/>
                </a:lnTo>
                <a:lnTo>
                  <a:pt x="12123" y="170864"/>
                </a:lnTo>
                <a:lnTo>
                  <a:pt x="35374" y="203402"/>
                </a:lnTo>
                <a:lnTo>
                  <a:pt x="68336" y="228268"/>
                </a:lnTo>
                <a:lnTo>
                  <a:pt x="108827" y="244006"/>
                </a:lnTo>
                <a:lnTo>
                  <a:pt x="138926" y="248706"/>
                </a:lnTo>
                <a:lnTo>
                  <a:pt x="156558" y="248171"/>
                </a:lnTo>
                <a:lnTo>
                  <a:pt x="204877" y="239581"/>
                </a:lnTo>
                <a:lnTo>
                  <a:pt x="245238" y="221767"/>
                </a:lnTo>
                <a:lnTo>
                  <a:pt x="276233" y="196334"/>
                </a:lnTo>
                <a:lnTo>
                  <a:pt x="300556" y="153351"/>
                </a:lnTo>
                <a:lnTo>
                  <a:pt x="304492" y="129041"/>
                </a:lnTo>
                <a:lnTo>
                  <a:pt x="303697" y="115264"/>
                </a:lnTo>
                <a:lnTo>
                  <a:pt x="292220" y="77104"/>
                </a:lnTo>
                <a:lnTo>
                  <a:pt x="268761" y="44927"/>
                </a:lnTo>
                <a:lnTo>
                  <a:pt x="235449" y="20309"/>
                </a:lnTo>
                <a:lnTo>
                  <a:pt x="194413" y="4825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166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19531" y="1352304"/>
            <a:ext cx="11430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262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834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410081" y="1281844"/>
            <a:ext cx="60960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3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92997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47688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87981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2" y="0"/>
                </a:moveTo>
                <a:lnTo>
                  <a:pt x="105498" y="5979"/>
                </a:lnTo>
                <a:lnTo>
                  <a:pt x="64562" y="22643"/>
                </a:lnTo>
                <a:lnTo>
                  <a:pt x="31769" y="48082"/>
                </a:lnTo>
                <a:lnTo>
                  <a:pt x="9466" y="80385"/>
                </a:lnTo>
                <a:lnTo>
                  <a:pt x="0" y="117642"/>
                </a:lnTo>
                <a:lnTo>
                  <a:pt x="782" y="131544"/>
                </a:lnTo>
                <a:lnTo>
                  <a:pt x="12248" y="169980"/>
                </a:lnTo>
                <a:lnTo>
                  <a:pt x="35676" y="202324"/>
                </a:lnTo>
                <a:lnTo>
                  <a:pt x="68863" y="227058"/>
                </a:lnTo>
                <a:lnTo>
                  <a:pt x="109604" y="242662"/>
                </a:lnTo>
                <a:lnTo>
                  <a:pt x="139872" y="247243"/>
                </a:lnTo>
                <a:lnTo>
                  <a:pt x="157412" y="246693"/>
                </a:lnTo>
                <a:lnTo>
                  <a:pt x="205531" y="238018"/>
                </a:lnTo>
                <a:lnTo>
                  <a:pt x="245763" y="220070"/>
                </a:lnTo>
                <a:lnTo>
                  <a:pt x="276653" y="194469"/>
                </a:lnTo>
                <a:lnTo>
                  <a:pt x="300788" y="151233"/>
                </a:lnTo>
                <a:lnTo>
                  <a:pt x="304577" y="126796"/>
                </a:lnTo>
                <a:lnTo>
                  <a:pt x="303766" y="113323"/>
                </a:lnTo>
                <a:lnTo>
                  <a:pt x="292115" y="75831"/>
                </a:lnTo>
                <a:lnTo>
                  <a:pt x="268329" y="44058"/>
                </a:lnTo>
                <a:lnTo>
                  <a:pt x="234585" y="19708"/>
                </a:lnTo>
                <a:lnTo>
                  <a:pt x="193057" y="4487"/>
                </a:lnTo>
                <a:lnTo>
                  <a:pt x="15223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69041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2" y="132147"/>
                </a:lnTo>
                <a:lnTo>
                  <a:pt x="12070" y="170907"/>
                </a:lnTo>
                <a:lnTo>
                  <a:pt x="35226" y="203577"/>
                </a:lnTo>
                <a:lnTo>
                  <a:pt x="68060" y="228645"/>
                </a:lnTo>
                <a:lnTo>
                  <a:pt x="108406" y="244598"/>
                </a:lnTo>
                <a:lnTo>
                  <a:pt x="138405" y="249424"/>
                </a:lnTo>
                <a:lnTo>
                  <a:pt x="156052" y="248893"/>
                </a:lnTo>
                <a:lnTo>
                  <a:pt x="204395" y="240287"/>
                </a:lnTo>
                <a:lnTo>
                  <a:pt x="244777" y="222443"/>
                </a:lnTo>
                <a:lnTo>
                  <a:pt x="275828" y="197002"/>
                </a:lnTo>
                <a:lnTo>
                  <a:pt x="300345" y="154107"/>
                </a:lnTo>
                <a:lnTo>
                  <a:pt x="304454" y="129908"/>
                </a:lnTo>
                <a:lnTo>
                  <a:pt x="303670" y="116143"/>
                </a:lnTo>
                <a:lnTo>
                  <a:pt x="292274" y="77926"/>
                </a:lnTo>
                <a:lnTo>
                  <a:pt x="268952" y="45587"/>
                </a:lnTo>
                <a:lnTo>
                  <a:pt x="235815" y="20745"/>
                </a:lnTo>
                <a:lnTo>
                  <a:pt x="194975" y="5021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50041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6" y="132173"/>
                </a:lnTo>
                <a:lnTo>
                  <a:pt x="12128" y="170905"/>
                </a:lnTo>
                <a:lnTo>
                  <a:pt x="35389" y="203430"/>
                </a:lnTo>
                <a:lnTo>
                  <a:pt x="68365" y="228288"/>
                </a:lnTo>
                <a:lnTo>
                  <a:pt x="108871" y="244017"/>
                </a:lnTo>
                <a:lnTo>
                  <a:pt x="138980" y="248710"/>
                </a:lnTo>
                <a:lnTo>
                  <a:pt x="156606" y="248173"/>
                </a:lnTo>
                <a:lnTo>
                  <a:pt x="204913" y="239579"/>
                </a:lnTo>
                <a:lnTo>
                  <a:pt x="245266" y="221756"/>
                </a:lnTo>
                <a:lnTo>
                  <a:pt x="276255" y="196314"/>
                </a:lnTo>
                <a:lnTo>
                  <a:pt x="300566" y="153315"/>
                </a:lnTo>
                <a:lnTo>
                  <a:pt x="304493" y="128997"/>
                </a:lnTo>
                <a:lnTo>
                  <a:pt x="303698" y="115353"/>
                </a:lnTo>
                <a:lnTo>
                  <a:pt x="292217" y="77402"/>
                </a:lnTo>
                <a:lnTo>
                  <a:pt x="268751" y="45223"/>
                </a:lnTo>
                <a:lnTo>
                  <a:pt x="235431" y="20489"/>
                </a:lnTo>
                <a:lnTo>
                  <a:pt x="194384" y="4874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498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7832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450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1736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64021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89395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0221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3561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6555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246009" y="1187069"/>
            <a:ext cx="457200" cy="367665"/>
          </a:xfrm>
          <a:custGeom>
            <a:avLst/>
            <a:gdLst/>
            <a:ahLst/>
            <a:cxnLst/>
            <a:rect l="l" t="t" r="r" b="b"/>
            <a:pathLst>
              <a:path w="457200" h="367665">
                <a:moveTo>
                  <a:pt x="0" y="332232"/>
                </a:moveTo>
                <a:lnTo>
                  <a:pt x="4405" y="277749"/>
                </a:lnTo>
                <a:lnTo>
                  <a:pt x="14118" y="226283"/>
                </a:lnTo>
                <a:lnTo>
                  <a:pt x="28687" y="178475"/>
                </a:lnTo>
                <a:lnTo>
                  <a:pt x="47658" y="134965"/>
                </a:lnTo>
                <a:lnTo>
                  <a:pt x="70580" y="96393"/>
                </a:lnTo>
                <a:lnTo>
                  <a:pt x="96999" y="63398"/>
                </a:lnTo>
                <a:lnTo>
                  <a:pt x="126463" y="36621"/>
                </a:lnTo>
                <a:lnTo>
                  <a:pt x="175379" y="9515"/>
                </a:lnTo>
                <a:lnTo>
                  <a:pt x="228600" y="0"/>
                </a:lnTo>
                <a:lnTo>
                  <a:pt x="247381" y="1151"/>
                </a:lnTo>
                <a:lnTo>
                  <a:pt x="300947" y="17702"/>
                </a:lnTo>
                <a:lnTo>
                  <a:pt x="333760" y="38761"/>
                </a:lnTo>
                <a:lnTo>
                  <a:pt x="363711" y="67007"/>
                </a:lnTo>
                <a:lnTo>
                  <a:pt x="390334" y="101727"/>
                </a:lnTo>
                <a:lnTo>
                  <a:pt x="413162" y="142207"/>
                </a:lnTo>
                <a:lnTo>
                  <a:pt x="431729" y="187735"/>
                </a:lnTo>
                <a:lnTo>
                  <a:pt x="445568" y="237597"/>
                </a:lnTo>
                <a:lnTo>
                  <a:pt x="454214" y="291080"/>
                </a:lnTo>
                <a:lnTo>
                  <a:pt x="457200" y="347472"/>
                </a:lnTo>
                <a:lnTo>
                  <a:pt x="457200" y="353568"/>
                </a:lnTo>
                <a:lnTo>
                  <a:pt x="457200" y="360426"/>
                </a:lnTo>
                <a:lnTo>
                  <a:pt x="457200" y="36728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46009" y="1498727"/>
            <a:ext cx="0" cy="563245"/>
          </a:xfrm>
          <a:custGeom>
            <a:avLst/>
            <a:gdLst/>
            <a:ahLst/>
            <a:cxnLst/>
            <a:rect l="l" t="t" r="r" b="b"/>
            <a:pathLst>
              <a:path h="563244">
                <a:moveTo>
                  <a:pt x="0" y="0"/>
                </a:moveTo>
                <a:lnTo>
                  <a:pt x="0" y="563118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703209" y="1560449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5">
                <a:moveTo>
                  <a:pt x="0" y="0"/>
                </a:moveTo>
                <a:lnTo>
                  <a:pt x="0" y="439673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404688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71288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938119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4" y="0"/>
                </a:moveTo>
                <a:lnTo>
                  <a:pt x="105369" y="5933"/>
                </a:lnTo>
                <a:lnTo>
                  <a:pt x="64536" y="22523"/>
                </a:lnTo>
                <a:lnTo>
                  <a:pt x="31888" y="47953"/>
                </a:lnTo>
                <a:lnTo>
                  <a:pt x="9638" y="80405"/>
                </a:lnTo>
                <a:lnTo>
                  <a:pt x="0" y="118064"/>
                </a:lnTo>
                <a:lnTo>
                  <a:pt x="757" y="132111"/>
                </a:lnTo>
                <a:lnTo>
                  <a:pt x="12016" y="170864"/>
                </a:lnTo>
                <a:lnTo>
                  <a:pt x="35127" y="203403"/>
                </a:lnTo>
                <a:lnTo>
                  <a:pt x="68004" y="228269"/>
                </a:lnTo>
                <a:lnTo>
                  <a:pt x="108555" y="244006"/>
                </a:lnTo>
                <a:lnTo>
                  <a:pt x="138822" y="248706"/>
                </a:lnTo>
                <a:lnTo>
                  <a:pt x="156341" y="248171"/>
                </a:lnTo>
                <a:lnTo>
                  <a:pt x="204490" y="239588"/>
                </a:lnTo>
                <a:lnTo>
                  <a:pt x="244866" y="221788"/>
                </a:lnTo>
                <a:lnTo>
                  <a:pt x="275983" y="196374"/>
                </a:lnTo>
                <a:lnTo>
                  <a:pt x="300498" y="153419"/>
                </a:lnTo>
                <a:lnTo>
                  <a:pt x="304490" y="129124"/>
                </a:lnTo>
                <a:lnTo>
                  <a:pt x="303688" y="115335"/>
                </a:lnTo>
                <a:lnTo>
                  <a:pt x="292117" y="77151"/>
                </a:lnTo>
                <a:lnTo>
                  <a:pt x="268531" y="44960"/>
                </a:lnTo>
                <a:lnTo>
                  <a:pt x="235150" y="20332"/>
                </a:lnTo>
                <a:lnTo>
                  <a:pt x="194198" y="4838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566488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9" y="131857"/>
                </a:lnTo>
                <a:lnTo>
                  <a:pt x="12136" y="170421"/>
                </a:lnTo>
                <a:lnTo>
                  <a:pt x="35444" y="202715"/>
                </a:lnTo>
                <a:lnTo>
                  <a:pt x="68576" y="227303"/>
                </a:lnTo>
                <a:lnTo>
                  <a:pt x="109418" y="242749"/>
                </a:lnTo>
                <a:lnTo>
                  <a:pt x="139884" y="247257"/>
                </a:lnTo>
                <a:lnTo>
                  <a:pt x="157335" y="246710"/>
                </a:lnTo>
                <a:lnTo>
                  <a:pt x="205344" y="238097"/>
                </a:lnTo>
                <a:lnTo>
                  <a:pt x="245626" y="220251"/>
                </a:lnTo>
                <a:lnTo>
                  <a:pt x="276628" y="194748"/>
                </a:lnTo>
                <a:lnTo>
                  <a:pt x="300837" y="151555"/>
                </a:lnTo>
                <a:lnTo>
                  <a:pt x="304565" y="127071"/>
                </a:lnTo>
                <a:lnTo>
                  <a:pt x="303744" y="113560"/>
                </a:lnTo>
                <a:lnTo>
                  <a:pt x="292002" y="75984"/>
                </a:lnTo>
                <a:lnTo>
                  <a:pt x="268108" y="44159"/>
                </a:lnTo>
                <a:lnTo>
                  <a:pt x="234327" y="19776"/>
                </a:lnTo>
                <a:lnTo>
                  <a:pt x="192926" y="4525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650361" y="129098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176088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33288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9" y="131857"/>
                </a:lnTo>
                <a:lnTo>
                  <a:pt x="12136" y="170421"/>
                </a:lnTo>
                <a:lnTo>
                  <a:pt x="35444" y="202715"/>
                </a:lnTo>
                <a:lnTo>
                  <a:pt x="68576" y="227303"/>
                </a:lnTo>
                <a:lnTo>
                  <a:pt x="109418" y="242749"/>
                </a:lnTo>
                <a:lnTo>
                  <a:pt x="139884" y="247257"/>
                </a:lnTo>
                <a:lnTo>
                  <a:pt x="157335" y="246710"/>
                </a:lnTo>
                <a:lnTo>
                  <a:pt x="205344" y="238097"/>
                </a:lnTo>
                <a:lnTo>
                  <a:pt x="245626" y="220251"/>
                </a:lnTo>
                <a:lnTo>
                  <a:pt x="276628" y="194748"/>
                </a:lnTo>
                <a:lnTo>
                  <a:pt x="300837" y="151555"/>
                </a:lnTo>
                <a:lnTo>
                  <a:pt x="304565" y="127071"/>
                </a:lnTo>
                <a:lnTo>
                  <a:pt x="303744" y="113560"/>
                </a:lnTo>
                <a:lnTo>
                  <a:pt x="292002" y="75984"/>
                </a:lnTo>
                <a:lnTo>
                  <a:pt x="268108" y="44159"/>
                </a:lnTo>
                <a:lnTo>
                  <a:pt x="234327" y="19776"/>
                </a:lnTo>
                <a:lnTo>
                  <a:pt x="192926" y="4525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259961" y="1281844"/>
            <a:ext cx="60960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3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242888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32676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37859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3" y="0"/>
                </a:moveTo>
                <a:lnTo>
                  <a:pt x="105212" y="5979"/>
                </a:lnTo>
                <a:lnTo>
                  <a:pt x="64231" y="22643"/>
                </a:lnTo>
                <a:lnTo>
                  <a:pt x="31539" y="48082"/>
                </a:lnTo>
                <a:lnTo>
                  <a:pt x="9380" y="80385"/>
                </a:lnTo>
                <a:lnTo>
                  <a:pt x="0" y="117642"/>
                </a:lnTo>
                <a:lnTo>
                  <a:pt x="774" y="131545"/>
                </a:lnTo>
                <a:lnTo>
                  <a:pt x="12139" y="169980"/>
                </a:lnTo>
                <a:lnTo>
                  <a:pt x="35428" y="202325"/>
                </a:lnTo>
                <a:lnTo>
                  <a:pt x="68530" y="227059"/>
                </a:lnTo>
                <a:lnTo>
                  <a:pt x="109334" y="242663"/>
                </a:lnTo>
                <a:lnTo>
                  <a:pt x="139773" y="247243"/>
                </a:lnTo>
                <a:lnTo>
                  <a:pt x="157200" y="246693"/>
                </a:lnTo>
                <a:lnTo>
                  <a:pt x="205147" y="238025"/>
                </a:lnTo>
                <a:lnTo>
                  <a:pt x="245394" y="220090"/>
                </a:lnTo>
                <a:lnTo>
                  <a:pt x="276407" y="194506"/>
                </a:lnTo>
                <a:lnTo>
                  <a:pt x="300733" y="151297"/>
                </a:lnTo>
                <a:lnTo>
                  <a:pt x="304576" y="126874"/>
                </a:lnTo>
                <a:lnTo>
                  <a:pt x="303757" y="113391"/>
                </a:lnTo>
                <a:lnTo>
                  <a:pt x="292010" y="75876"/>
                </a:lnTo>
                <a:lnTo>
                  <a:pt x="268095" y="44088"/>
                </a:lnTo>
                <a:lnTo>
                  <a:pt x="234283" y="19729"/>
                </a:lnTo>
                <a:lnTo>
                  <a:pt x="192845" y="4499"/>
                </a:lnTo>
                <a:lnTo>
                  <a:pt x="15223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718919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4" y="0"/>
                </a:moveTo>
                <a:lnTo>
                  <a:pt x="105369" y="6002"/>
                </a:lnTo>
                <a:lnTo>
                  <a:pt x="64536" y="22733"/>
                </a:lnTo>
                <a:lnTo>
                  <a:pt x="31888" y="48276"/>
                </a:lnTo>
                <a:lnTo>
                  <a:pt x="9638" y="80715"/>
                </a:lnTo>
                <a:lnTo>
                  <a:pt x="0" y="118135"/>
                </a:lnTo>
                <a:lnTo>
                  <a:pt x="754" y="132147"/>
                </a:lnTo>
                <a:lnTo>
                  <a:pt x="11964" y="170908"/>
                </a:lnTo>
                <a:lnTo>
                  <a:pt x="34980" y="203578"/>
                </a:lnTo>
                <a:lnTo>
                  <a:pt x="67728" y="228645"/>
                </a:lnTo>
                <a:lnTo>
                  <a:pt x="108132" y="244599"/>
                </a:lnTo>
                <a:lnTo>
                  <a:pt x="138297" y="249424"/>
                </a:lnTo>
                <a:lnTo>
                  <a:pt x="155832" y="248893"/>
                </a:lnTo>
                <a:lnTo>
                  <a:pt x="204005" y="240295"/>
                </a:lnTo>
                <a:lnTo>
                  <a:pt x="244402" y="222464"/>
                </a:lnTo>
                <a:lnTo>
                  <a:pt x="275575" y="197043"/>
                </a:lnTo>
                <a:lnTo>
                  <a:pt x="300285" y="154176"/>
                </a:lnTo>
                <a:lnTo>
                  <a:pt x="304451" y="129992"/>
                </a:lnTo>
                <a:lnTo>
                  <a:pt x="303660" y="116216"/>
                </a:lnTo>
                <a:lnTo>
                  <a:pt x="292172" y="77975"/>
                </a:lnTo>
                <a:lnTo>
                  <a:pt x="268723" y="45621"/>
                </a:lnTo>
                <a:lnTo>
                  <a:pt x="235517" y="20770"/>
                </a:lnTo>
                <a:lnTo>
                  <a:pt x="194760" y="5035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099919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4" y="0"/>
                </a:moveTo>
                <a:lnTo>
                  <a:pt x="105369" y="6002"/>
                </a:lnTo>
                <a:lnTo>
                  <a:pt x="64536" y="22733"/>
                </a:lnTo>
                <a:lnTo>
                  <a:pt x="31888" y="48276"/>
                </a:lnTo>
                <a:lnTo>
                  <a:pt x="9638" y="80715"/>
                </a:lnTo>
                <a:lnTo>
                  <a:pt x="0" y="118135"/>
                </a:lnTo>
                <a:lnTo>
                  <a:pt x="758" y="132173"/>
                </a:lnTo>
                <a:lnTo>
                  <a:pt x="12021" y="170905"/>
                </a:lnTo>
                <a:lnTo>
                  <a:pt x="35143" y="203431"/>
                </a:lnTo>
                <a:lnTo>
                  <a:pt x="68032" y="228288"/>
                </a:lnTo>
                <a:lnTo>
                  <a:pt x="108599" y="244017"/>
                </a:lnTo>
                <a:lnTo>
                  <a:pt x="138876" y="248710"/>
                </a:lnTo>
                <a:lnTo>
                  <a:pt x="156390" y="248174"/>
                </a:lnTo>
                <a:lnTo>
                  <a:pt x="204526" y="239586"/>
                </a:lnTo>
                <a:lnTo>
                  <a:pt x="244895" y="221777"/>
                </a:lnTo>
                <a:lnTo>
                  <a:pt x="276005" y="196353"/>
                </a:lnTo>
                <a:lnTo>
                  <a:pt x="300509" y="153382"/>
                </a:lnTo>
                <a:lnTo>
                  <a:pt x="304492" y="129080"/>
                </a:lnTo>
                <a:lnTo>
                  <a:pt x="303689" y="115424"/>
                </a:lnTo>
                <a:lnTo>
                  <a:pt x="292114" y="77449"/>
                </a:lnTo>
                <a:lnTo>
                  <a:pt x="268521" y="45256"/>
                </a:lnTo>
                <a:lnTo>
                  <a:pt x="235131" y="20513"/>
                </a:lnTo>
                <a:lnTo>
                  <a:pt x="194169" y="4888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9969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3309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9489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02349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9009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74383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5209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78549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11543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379609" y="1254125"/>
            <a:ext cx="838200" cy="342900"/>
          </a:xfrm>
          <a:custGeom>
            <a:avLst/>
            <a:gdLst/>
            <a:ahLst/>
            <a:cxnLst/>
            <a:rect l="l" t="t" r="r" b="b"/>
            <a:pathLst>
              <a:path w="838200" h="342900">
                <a:moveTo>
                  <a:pt x="0" y="310134"/>
                </a:moveTo>
                <a:lnTo>
                  <a:pt x="8093" y="259232"/>
                </a:lnTo>
                <a:lnTo>
                  <a:pt x="25883" y="211165"/>
                </a:lnTo>
                <a:lnTo>
                  <a:pt x="52552" y="166527"/>
                </a:lnTo>
                <a:lnTo>
                  <a:pt x="87282" y="125912"/>
                </a:lnTo>
                <a:lnTo>
                  <a:pt x="129254" y="89916"/>
                </a:lnTo>
                <a:lnTo>
                  <a:pt x="177649" y="59131"/>
                </a:lnTo>
                <a:lnTo>
                  <a:pt x="231650" y="34152"/>
                </a:lnTo>
                <a:lnTo>
                  <a:pt x="290437" y="15575"/>
                </a:lnTo>
                <a:lnTo>
                  <a:pt x="353193" y="3992"/>
                </a:lnTo>
                <a:lnTo>
                  <a:pt x="419100" y="0"/>
                </a:lnTo>
                <a:lnTo>
                  <a:pt x="453497" y="1077"/>
                </a:lnTo>
                <a:lnTo>
                  <a:pt x="519874" y="9446"/>
                </a:lnTo>
                <a:lnTo>
                  <a:pt x="582310" y="25538"/>
                </a:lnTo>
                <a:lnTo>
                  <a:pt x="639946" y="48684"/>
                </a:lnTo>
                <a:lnTo>
                  <a:pt x="691921" y="78209"/>
                </a:lnTo>
                <a:lnTo>
                  <a:pt x="737377" y="113443"/>
                </a:lnTo>
                <a:lnTo>
                  <a:pt x="775453" y="153712"/>
                </a:lnTo>
                <a:lnTo>
                  <a:pt x="805291" y="198346"/>
                </a:lnTo>
                <a:lnTo>
                  <a:pt x="826030" y="246671"/>
                </a:lnTo>
                <a:lnTo>
                  <a:pt x="836812" y="298016"/>
                </a:lnTo>
                <a:lnTo>
                  <a:pt x="838200" y="324612"/>
                </a:lnTo>
                <a:lnTo>
                  <a:pt x="838200" y="330708"/>
                </a:lnTo>
                <a:lnTo>
                  <a:pt x="838200" y="336804"/>
                </a:lnTo>
                <a:lnTo>
                  <a:pt x="837438" y="3429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217809" y="1601597"/>
            <a:ext cx="0" cy="410209"/>
          </a:xfrm>
          <a:custGeom>
            <a:avLst/>
            <a:gdLst/>
            <a:ahLst/>
            <a:cxnLst/>
            <a:rect l="l" t="t" r="r" b="b"/>
            <a:pathLst>
              <a:path h="410210">
                <a:moveTo>
                  <a:pt x="0" y="0"/>
                </a:moveTo>
                <a:lnTo>
                  <a:pt x="0" y="409955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87621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57163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95423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30" y="130099"/>
                </a:lnTo>
                <a:lnTo>
                  <a:pt x="12765" y="167385"/>
                </a:lnTo>
                <a:lnTo>
                  <a:pt x="37055" y="198643"/>
                </a:lnTo>
                <a:lnTo>
                  <a:pt x="71369" y="222309"/>
                </a:lnTo>
                <a:lnTo>
                  <a:pt x="113377" y="236820"/>
                </a:lnTo>
                <a:lnTo>
                  <a:pt x="144505" y="240636"/>
                </a:lnTo>
                <a:lnTo>
                  <a:pt x="161756" y="240032"/>
                </a:lnTo>
                <a:lnTo>
                  <a:pt x="209299" y="231099"/>
                </a:lnTo>
                <a:lnTo>
                  <a:pt x="249144" y="212761"/>
                </a:lnTo>
                <a:lnTo>
                  <a:pt x="279510" y="186655"/>
                </a:lnTo>
                <a:lnTo>
                  <a:pt x="302178" y="142592"/>
                </a:lnTo>
                <a:lnTo>
                  <a:pt x="304223" y="130328"/>
                </a:lnTo>
                <a:lnTo>
                  <a:pt x="303512" y="116146"/>
                </a:lnTo>
                <a:lnTo>
                  <a:pt x="292333" y="77267"/>
                </a:lnTo>
                <a:lnTo>
                  <a:pt x="269225" y="44906"/>
                </a:lnTo>
                <a:lnTo>
                  <a:pt x="236298" y="20372"/>
                </a:lnTo>
                <a:lnTo>
                  <a:pt x="195661" y="497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3823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021058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2105031" y="29087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494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334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2590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7162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3258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20858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01821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82821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26683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002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40983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0483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8583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1827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7161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779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065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73163" y="3630803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6909" y="3630803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33516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86856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19850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68363" y="2822320"/>
            <a:ext cx="1371600" cy="503555"/>
          </a:xfrm>
          <a:custGeom>
            <a:avLst/>
            <a:gdLst/>
            <a:ahLst/>
            <a:cxnLst/>
            <a:rect l="l" t="t" r="r" b="b"/>
            <a:pathLst>
              <a:path w="1371600" h="503554">
                <a:moveTo>
                  <a:pt x="0" y="457200"/>
                </a:moveTo>
                <a:lnTo>
                  <a:pt x="4521" y="419224"/>
                </a:lnTo>
                <a:lnTo>
                  <a:pt x="25792" y="346182"/>
                </a:lnTo>
                <a:lnTo>
                  <a:pt x="42208" y="311334"/>
                </a:lnTo>
                <a:lnTo>
                  <a:pt x="62257" y="277748"/>
                </a:lnTo>
                <a:lnTo>
                  <a:pt x="85773" y="245534"/>
                </a:lnTo>
                <a:lnTo>
                  <a:pt x="112588" y="214801"/>
                </a:lnTo>
                <a:lnTo>
                  <a:pt x="142536" y="185659"/>
                </a:lnTo>
                <a:lnTo>
                  <a:pt x="175452" y="158218"/>
                </a:lnTo>
                <a:lnTo>
                  <a:pt x="211169" y="132587"/>
                </a:lnTo>
                <a:lnTo>
                  <a:pt x="249520" y="108877"/>
                </a:lnTo>
                <a:lnTo>
                  <a:pt x="290340" y="87197"/>
                </a:lnTo>
                <a:lnTo>
                  <a:pt x="333461" y="67656"/>
                </a:lnTo>
                <a:lnTo>
                  <a:pt x="378719" y="50365"/>
                </a:lnTo>
                <a:lnTo>
                  <a:pt x="425946" y="35432"/>
                </a:lnTo>
                <a:lnTo>
                  <a:pt x="474975" y="22969"/>
                </a:lnTo>
                <a:lnTo>
                  <a:pt x="525642" y="13085"/>
                </a:lnTo>
                <a:lnTo>
                  <a:pt x="577779" y="5888"/>
                </a:lnTo>
                <a:lnTo>
                  <a:pt x="631220" y="1490"/>
                </a:lnTo>
                <a:lnTo>
                  <a:pt x="685800" y="0"/>
                </a:lnTo>
                <a:lnTo>
                  <a:pt x="742040" y="1585"/>
                </a:lnTo>
                <a:lnTo>
                  <a:pt x="797029" y="6259"/>
                </a:lnTo>
                <a:lnTo>
                  <a:pt x="850591" y="13897"/>
                </a:lnTo>
                <a:lnTo>
                  <a:pt x="902549" y="24377"/>
                </a:lnTo>
                <a:lnTo>
                  <a:pt x="952726" y="37576"/>
                </a:lnTo>
                <a:lnTo>
                  <a:pt x="1000945" y="53368"/>
                </a:lnTo>
                <a:lnTo>
                  <a:pt x="1047031" y="71632"/>
                </a:lnTo>
                <a:lnTo>
                  <a:pt x="1090806" y="92244"/>
                </a:lnTo>
                <a:lnTo>
                  <a:pt x="1132093" y="115080"/>
                </a:lnTo>
                <a:lnTo>
                  <a:pt x="1170717" y="140017"/>
                </a:lnTo>
                <a:lnTo>
                  <a:pt x="1206501" y="166931"/>
                </a:lnTo>
                <a:lnTo>
                  <a:pt x="1239268" y="195699"/>
                </a:lnTo>
                <a:lnTo>
                  <a:pt x="1268841" y="226198"/>
                </a:lnTo>
                <a:lnTo>
                  <a:pt x="1295044" y="258304"/>
                </a:lnTo>
                <a:lnTo>
                  <a:pt x="1317700" y="291893"/>
                </a:lnTo>
                <a:lnTo>
                  <a:pt x="1336633" y="326843"/>
                </a:lnTo>
                <a:lnTo>
                  <a:pt x="1351666" y="363029"/>
                </a:lnTo>
                <a:lnTo>
                  <a:pt x="1362622" y="400328"/>
                </a:lnTo>
                <a:lnTo>
                  <a:pt x="1369326" y="438618"/>
                </a:lnTo>
                <a:lnTo>
                  <a:pt x="1371600" y="477773"/>
                </a:lnTo>
                <a:lnTo>
                  <a:pt x="1371524" y="490469"/>
                </a:lnTo>
                <a:lnTo>
                  <a:pt x="1370995" y="50316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68363" y="3249802"/>
            <a:ext cx="0" cy="775970"/>
          </a:xfrm>
          <a:custGeom>
            <a:avLst/>
            <a:gdLst/>
            <a:ahLst/>
            <a:cxnLst/>
            <a:rect l="l" t="t" r="r" b="b"/>
            <a:pathLst>
              <a:path h="775970">
                <a:moveTo>
                  <a:pt x="0" y="0"/>
                </a:moveTo>
                <a:lnTo>
                  <a:pt x="0" y="775715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639963" y="3336671"/>
            <a:ext cx="0" cy="603885"/>
          </a:xfrm>
          <a:custGeom>
            <a:avLst/>
            <a:gdLst/>
            <a:ahLst/>
            <a:cxnLst/>
            <a:rect l="l" t="t" r="r" b="b"/>
            <a:pathLst>
              <a:path h="603885">
                <a:moveTo>
                  <a:pt x="0" y="0"/>
                </a:moveTo>
                <a:lnTo>
                  <a:pt x="0" y="60350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459421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454343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392603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30" y="130099"/>
                </a:lnTo>
                <a:lnTo>
                  <a:pt x="12765" y="167385"/>
                </a:lnTo>
                <a:lnTo>
                  <a:pt x="37055" y="198643"/>
                </a:lnTo>
                <a:lnTo>
                  <a:pt x="71369" y="222309"/>
                </a:lnTo>
                <a:lnTo>
                  <a:pt x="113377" y="236820"/>
                </a:lnTo>
                <a:lnTo>
                  <a:pt x="144505" y="240636"/>
                </a:lnTo>
                <a:lnTo>
                  <a:pt x="161756" y="240032"/>
                </a:lnTo>
                <a:lnTo>
                  <a:pt x="209299" y="231099"/>
                </a:lnTo>
                <a:lnTo>
                  <a:pt x="249144" y="212761"/>
                </a:lnTo>
                <a:lnTo>
                  <a:pt x="279510" y="186655"/>
                </a:lnTo>
                <a:lnTo>
                  <a:pt x="302178" y="142592"/>
                </a:lnTo>
                <a:lnTo>
                  <a:pt x="304223" y="130328"/>
                </a:lnTo>
                <a:lnTo>
                  <a:pt x="303512" y="116146"/>
                </a:lnTo>
                <a:lnTo>
                  <a:pt x="292333" y="77267"/>
                </a:lnTo>
                <a:lnTo>
                  <a:pt x="269225" y="44906"/>
                </a:lnTo>
                <a:lnTo>
                  <a:pt x="236298" y="20372"/>
                </a:lnTo>
                <a:lnTo>
                  <a:pt x="195661" y="497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401003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992858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076831" y="29087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6212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37052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2308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6880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976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392658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773621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154621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423863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7720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38163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47663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85763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41545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6879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8497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0783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544963" y="3630803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798709" y="3630803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30696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84036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17030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558417" y="703198"/>
            <a:ext cx="1066800" cy="392430"/>
          </a:xfrm>
          <a:custGeom>
            <a:avLst/>
            <a:gdLst/>
            <a:ahLst/>
            <a:cxnLst/>
            <a:rect l="l" t="t" r="r" b="b"/>
            <a:pathLst>
              <a:path w="1066800" h="392430">
                <a:moveTo>
                  <a:pt x="0" y="355091"/>
                </a:moveTo>
                <a:lnTo>
                  <a:pt x="10158" y="296821"/>
                </a:lnTo>
                <a:lnTo>
                  <a:pt x="32639" y="241791"/>
                </a:lnTo>
                <a:lnTo>
                  <a:pt x="66414" y="190685"/>
                </a:lnTo>
                <a:lnTo>
                  <a:pt x="110454" y="144182"/>
                </a:lnTo>
                <a:lnTo>
                  <a:pt x="163729" y="102965"/>
                </a:lnTo>
                <a:lnTo>
                  <a:pt x="225213" y="67714"/>
                </a:lnTo>
                <a:lnTo>
                  <a:pt x="293874" y="39111"/>
                </a:lnTo>
                <a:lnTo>
                  <a:pt x="330575" y="27515"/>
                </a:lnTo>
                <a:lnTo>
                  <a:pt x="368684" y="17836"/>
                </a:lnTo>
                <a:lnTo>
                  <a:pt x="408074" y="10160"/>
                </a:lnTo>
                <a:lnTo>
                  <a:pt x="448615" y="4572"/>
                </a:lnTo>
                <a:lnTo>
                  <a:pt x="490179" y="1157"/>
                </a:lnTo>
                <a:lnTo>
                  <a:pt x="532638" y="0"/>
                </a:lnTo>
                <a:lnTo>
                  <a:pt x="576431" y="1229"/>
                </a:lnTo>
                <a:lnTo>
                  <a:pt x="619253" y="4856"/>
                </a:lnTo>
                <a:lnTo>
                  <a:pt x="660965" y="10783"/>
                </a:lnTo>
                <a:lnTo>
                  <a:pt x="701430" y="18915"/>
                </a:lnTo>
                <a:lnTo>
                  <a:pt x="740509" y="29158"/>
                </a:lnTo>
                <a:lnTo>
                  <a:pt x="778065" y="41415"/>
                </a:lnTo>
                <a:lnTo>
                  <a:pt x="813960" y="55591"/>
                </a:lnTo>
                <a:lnTo>
                  <a:pt x="880217" y="89319"/>
                </a:lnTo>
                <a:lnTo>
                  <a:pt x="938179" y="129578"/>
                </a:lnTo>
                <a:lnTo>
                  <a:pt x="986742" y="175604"/>
                </a:lnTo>
                <a:lnTo>
                  <a:pt x="1024806" y="226635"/>
                </a:lnTo>
                <a:lnTo>
                  <a:pt x="1051269" y="281906"/>
                </a:lnTo>
                <a:lnTo>
                  <a:pt x="1065028" y="340654"/>
                </a:lnTo>
                <a:lnTo>
                  <a:pt x="1066800" y="371093"/>
                </a:lnTo>
                <a:lnTo>
                  <a:pt x="1066800" y="377951"/>
                </a:lnTo>
                <a:lnTo>
                  <a:pt x="1066038" y="384809"/>
                </a:lnTo>
                <a:lnTo>
                  <a:pt x="1066038" y="392429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58417" y="1034669"/>
            <a:ext cx="0" cy="601980"/>
          </a:xfrm>
          <a:custGeom>
            <a:avLst/>
            <a:gdLst/>
            <a:ahLst/>
            <a:cxnLst/>
            <a:rect l="l" t="t" r="r" b="b"/>
            <a:pathLst>
              <a:path h="601980">
                <a:moveTo>
                  <a:pt x="0" y="0"/>
                </a:moveTo>
                <a:lnTo>
                  <a:pt x="0" y="60198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625217" y="1101725"/>
            <a:ext cx="0" cy="467995"/>
          </a:xfrm>
          <a:custGeom>
            <a:avLst/>
            <a:gdLst/>
            <a:ahLst/>
            <a:cxnLst/>
            <a:rect l="l" t="t" r="r" b="b"/>
            <a:pathLst>
              <a:path h="467994">
                <a:moveTo>
                  <a:pt x="0" y="0"/>
                </a:moveTo>
                <a:lnTo>
                  <a:pt x="0" y="46786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544963" y="2509901"/>
            <a:ext cx="2133600" cy="503555"/>
          </a:xfrm>
          <a:custGeom>
            <a:avLst/>
            <a:gdLst/>
            <a:ahLst/>
            <a:cxnLst/>
            <a:rect l="l" t="t" r="r" b="b"/>
            <a:pathLst>
              <a:path w="2133600" h="503555">
                <a:moveTo>
                  <a:pt x="0" y="456438"/>
                </a:moveTo>
                <a:lnTo>
                  <a:pt x="7066" y="418571"/>
                </a:lnTo>
                <a:lnTo>
                  <a:pt x="20549" y="381627"/>
                </a:lnTo>
                <a:lnTo>
                  <a:pt x="40191" y="345714"/>
                </a:lnTo>
                <a:lnTo>
                  <a:pt x="65733" y="310944"/>
                </a:lnTo>
                <a:lnTo>
                  <a:pt x="96916" y="277427"/>
                </a:lnTo>
                <a:lnTo>
                  <a:pt x="133484" y="245273"/>
                </a:lnTo>
                <a:lnTo>
                  <a:pt x="175176" y="214592"/>
                </a:lnTo>
                <a:lnTo>
                  <a:pt x="221735" y="185495"/>
                </a:lnTo>
                <a:lnTo>
                  <a:pt x="272903" y="158091"/>
                </a:lnTo>
                <a:lnTo>
                  <a:pt x="328422" y="132492"/>
                </a:lnTo>
                <a:lnTo>
                  <a:pt x="388032" y="108808"/>
                </a:lnTo>
                <a:lnTo>
                  <a:pt x="451475" y="87148"/>
                </a:lnTo>
                <a:lnTo>
                  <a:pt x="518494" y="67623"/>
                </a:lnTo>
                <a:lnTo>
                  <a:pt x="588830" y="50344"/>
                </a:lnTo>
                <a:lnTo>
                  <a:pt x="662225" y="35421"/>
                </a:lnTo>
                <a:lnTo>
                  <a:pt x="738420" y="22963"/>
                </a:lnTo>
                <a:lnTo>
                  <a:pt x="817157" y="13082"/>
                </a:lnTo>
                <a:lnTo>
                  <a:pt x="898178" y="5887"/>
                </a:lnTo>
                <a:lnTo>
                  <a:pt x="981224" y="1490"/>
                </a:lnTo>
                <a:lnTo>
                  <a:pt x="1066037" y="0"/>
                </a:lnTo>
                <a:lnTo>
                  <a:pt x="1153620" y="1579"/>
                </a:lnTo>
                <a:lnTo>
                  <a:pt x="1239247" y="6238"/>
                </a:lnTo>
                <a:lnTo>
                  <a:pt x="1322646" y="13854"/>
                </a:lnTo>
                <a:lnTo>
                  <a:pt x="1403541" y="24304"/>
                </a:lnTo>
                <a:lnTo>
                  <a:pt x="1481659" y="37468"/>
                </a:lnTo>
                <a:lnTo>
                  <a:pt x="1556725" y="53224"/>
                </a:lnTo>
                <a:lnTo>
                  <a:pt x="1628464" y="71450"/>
                </a:lnTo>
                <a:lnTo>
                  <a:pt x="1696603" y="92025"/>
                </a:lnTo>
                <a:lnTo>
                  <a:pt x="1760868" y="114826"/>
                </a:lnTo>
                <a:lnTo>
                  <a:pt x="1820983" y="139731"/>
                </a:lnTo>
                <a:lnTo>
                  <a:pt x="1876674" y="166620"/>
                </a:lnTo>
                <a:lnTo>
                  <a:pt x="1927668" y="195370"/>
                </a:lnTo>
                <a:lnTo>
                  <a:pt x="1973690" y="225860"/>
                </a:lnTo>
                <a:lnTo>
                  <a:pt x="2014466" y="257968"/>
                </a:lnTo>
                <a:lnTo>
                  <a:pt x="2049721" y="291572"/>
                </a:lnTo>
                <a:lnTo>
                  <a:pt x="2079181" y="326550"/>
                </a:lnTo>
                <a:lnTo>
                  <a:pt x="2102572" y="362781"/>
                </a:lnTo>
                <a:lnTo>
                  <a:pt x="2119620" y="400143"/>
                </a:lnTo>
                <a:lnTo>
                  <a:pt x="2130049" y="438515"/>
                </a:lnTo>
                <a:lnTo>
                  <a:pt x="2133587" y="477773"/>
                </a:lnTo>
                <a:lnTo>
                  <a:pt x="2133152" y="490462"/>
                </a:lnTo>
                <a:lnTo>
                  <a:pt x="2132175" y="5031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544963" y="2936620"/>
            <a:ext cx="0" cy="776605"/>
          </a:xfrm>
          <a:custGeom>
            <a:avLst/>
            <a:gdLst/>
            <a:ahLst/>
            <a:cxnLst/>
            <a:rect l="l" t="t" r="r" b="b"/>
            <a:pathLst>
              <a:path h="776604">
                <a:moveTo>
                  <a:pt x="0" y="0"/>
                </a:moveTo>
                <a:lnTo>
                  <a:pt x="0" y="77647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678551" y="3024251"/>
            <a:ext cx="0" cy="60325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2741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404550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748856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687116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21" y="130099"/>
                </a:lnTo>
                <a:lnTo>
                  <a:pt x="12652" y="167385"/>
                </a:lnTo>
                <a:lnTo>
                  <a:pt x="36800" y="198643"/>
                </a:lnTo>
                <a:lnTo>
                  <a:pt x="71033" y="222309"/>
                </a:lnTo>
                <a:lnTo>
                  <a:pt x="113120" y="236820"/>
                </a:lnTo>
                <a:lnTo>
                  <a:pt x="144439" y="240636"/>
                </a:lnTo>
                <a:lnTo>
                  <a:pt x="161571" y="240032"/>
                </a:lnTo>
                <a:lnTo>
                  <a:pt x="208934" y="231104"/>
                </a:lnTo>
                <a:lnTo>
                  <a:pt x="248798" y="212775"/>
                </a:lnTo>
                <a:lnTo>
                  <a:pt x="279291" y="186680"/>
                </a:lnTo>
                <a:lnTo>
                  <a:pt x="302142" y="142636"/>
                </a:lnTo>
                <a:lnTo>
                  <a:pt x="304213" y="130377"/>
                </a:lnTo>
                <a:lnTo>
                  <a:pt x="303496" y="116189"/>
                </a:lnTo>
                <a:lnTo>
                  <a:pt x="292225" y="77297"/>
                </a:lnTo>
                <a:lnTo>
                  <a:pt x="268988" y="44928"/>
                </a:lnTo>
                <a:lnTo>
                  <a:pt x="235987" y="20388"/>
                </a:lnTo>
                <a:lnTo>
                  <a:pt x="195424" y="4984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695516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7937987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6" y="0"/>
                </a:moveTo>
                <a:lnTo>
                  <a:pt x="104958" y="5907"/>
                </a:lnTo>
                <a:lnTo>
                  <a:pt x="63758" y="22395"/>
                </a:lnTo>
                <a:lnTo>
                  <a:pt x="31001" y="47614"/>
                </a:lnTo>
                <a:lnTo>
                  <a:pt x="8983" y="79714"/>
                </a:lnTo>
                <a:lnTo>
                  <a:pt x="0" y="116844"/>
                </a:lnTo>
                <a:lnTo>
                  <a:pt x="814" y="130284"/>
                </a:lnTo>
                <a:lnTo>
                  <a:pt x="12598" y="167530"/>
                </a:lnTo>
                <a:lnTo>
                  <a:pt x="36664" y="198896"/>
                </a:lnTo>
                <a:lnTo>
                  <a:pt x="70790" y="222749"/>
                </a:lnTo>
                <a:lnTo>
                  <a:pt x="112758" y="237459"/>
                </a:lnTo>
                <a:lnTo>
                  <a:pt x="143997" y="241378"/>
                </a:lnTo>
                <a:lnTo>
                  <a:pt x="161174" y="240772"/>
                </a:lnTo>
                <a:lnTo>
                  <a:pt x="208637" y="231781"/>
                </a:lnTo>
                <a:lnTo>
                  <a:pt x="248561" y="213375"/>
                </a:lnTo>
                <a:lnTo>
                  <a:pt x="279104" y="187276"/>
                </a:lnTo>
                <a:lnTo>
                  <a:pt x="302052" y="143486"/>
                </a:lnTo>
                <a:lnTo>
                  <a:pt x="304160" y="131358"/>
                </a:lnTo>
                <a:lnTo>
                  <a:pt x="303453" y="117042"/>
                </a:lnTo>
                <a:lnTo>
                  <a:pt x="292268" y="77865"/>
                </a:lnTo>
                <a:lnTo>
                  <a:pt x="269181" y="45320"/>
                </a:lnTo>
                <a:lnTo>
                  <a:pt x="236373" y="20660"/>
                </a:lnTo>
                <a:lnTo>
                  <a:pt x="196026" y="5139"/>
                </a:lnTo>
                <a:lnTo>
                  <a:pt x="152306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929498" y="2835275"/>
            <a:ext cx="337185" cy="425450"/>
          </a:xfrm>
          <a:custGeom>
            <a:avLst/>
            <a:gdLst/>
            <a:ahLst/>
            <a:cxnLst/>
            <a:rect l="l" t="t" r="r" b="b"/>
            <a:pathLst>
              <a:path w="337184" h="425450">
                <a:moveTo>
                  <a:pt x="0" y="0"/>
                </a:moveTo>
                <a:lnTo>
                  <a:pt x="0" y="425196"/>
                </a:lnTo>
                <a:lnTo>
                  <a:pt x="336803" y="425196"/>
                </a:lnTo>
                <a:lnTo>
                  <a:pt x="33680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8021961" y="2890807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6566350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665036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717596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17" y="130076"/>
                </a:lnTo>
                <a:lnTo>
                  <a:pt x="12593" y="167398"/>
                </a:lnTo>
                <a:lnTo>
                  <a:pt x="36631" y="198810"/>
                </a:lnTo>
                <a:lnTo>
                  <a:pt x="70719" y="222693"/>
                </a:lnTo>
                <a:lnTo>
                  <a:pt x="112640" y="237428"/>
                </a:lnTo>
                <a:lnTo>
                  <a:pt x="143846" y="241371"/>
                </a:lnTo>
                <a:lnTo>
                  <a:pt x="161004" y="240769"/>
                </a:lnTo>
                <a:lnTo>
                  <a:pt x="208411" y="231821"/>
                </a:lnTo>
                <a:lnTo>
                  <a:pt x="248304" y="213465"/>
                </a:lnTo>
                <a:lnTo>
                  <a:pt x="278865" y="187376"/>
                </a:lnTo>
                <a:lnTo>
                  <a:pt x="301950" y="143459"/>
                </a:lnTo>
                <a:lnTo>
                  <a:pt x="304119" y="131263"/>
                </a:lnTo>
                <a:lnTo>
                  <a:pt x="303423" y="116962"/>
                </a:lnTo>
                <a:lnTo>
                  <a:pt x="292261" y="77821"/>
                </a:lnTo>
                <a:lnTo>
                  <a:pt x="269184" y="45298"/>
                </a:lnTo>
                <a:lnTo>
                  <a:pt x="236379" y="20650"/>
                </a:lnTo>
                <a:lnTo>
                  <a:pt x="196030" y="5135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33150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24276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17" y="130076"/>
                </a:lnTo>
                <a:lnTo>
                  <a:pt x="12593" y="167398"/>
                </a:lnTo>
                <a:lnTo>
                  <a:pt x="36631" y="198810"/>
                </a:lnTo>
                <a:lnTo>
                  <a:pt x="70719" y="222693"/>
                </a:lnTo>
                <a:lnTo>
                  <a:pt x="112640" y="237428"/>
                </a:lnTo>
                <a:lnTo>
                  <a:pt x="143846" y="241371"/>
                </a:lnTo>
                <a:lnTo>
                  <a:pt x="161004" y="240769"/>
                </a:lnTo>
                <a:lnTo>
                  <a:pt x="208411" y="231821"/>
                </a:lnTo>
                <a:lnTo>
                  <a:pt x="248304" y="213465"/>
                </a:lnTo>
                <a:lnTo>
                  <a:pt x="278865" y="187376"/>
                </a:lnTo>
                <a:lnTo>
                  <a:pt x="301950" y="143459"/>
                </a:lnTo>
                <a:lnTo>
                  <a:pt x="304119" y="131263"/>
                </a:lnTo>
                <a:lnTo>
                  <a:pt x="303423" y="116962"/>
                </a:lnTo>
                <a:lnTo>
                  <a:pt x="292261" y="77821"/>
                </a:lnTo>
                <a:lnTo>
                  <a:pt x="269184" y="45298"/>
                </a:lnTo>
                <a:lnTo>
                  <a:pt x="236379" y="20650"/>
                </a:lnTo>
                <a:lnTo>
                  <a:pt x="196030" y="5135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337787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6" y="0"/>
                </a:moveTo>
                <a:lnTo>
                  <a:pt x="104958" y="5907"/>
                </a:lnTo>
                <a:lnTo>
                  <a:pt x="63758" y="22395"/>
                </a:lnTo>
                <a:lnTo>
                  <a:pt x="31001" y="47614"/>
                </a:lnTo>
                <a:lnTo>
                  <a:pt x="8983" y="79714"/>
                </a:lnTo>
                <a:lnTo>
                  <a:pt x="0" y="116844"/>
                </a:lnTo>
                <a:lnTo>
                  <a:pt x="814" y="130284"/>
                </a:lnTo>
                <a:lnTo>
                  <a:pt x="12598" y="167530"/>
                </a:lnTo>
                <a:lnTo>
                  <a:pt x="36664" y="198896"/>
                </a:lnTo>
                <a:lnTo>
                  <a:pt x="70790" y="222749"/>
                </a:lnTo>
                <a:lnTo>
                  <a:pt x="112758" y="237459"/>
                </a:lnTo>
                <a:lnTo>
                  <a:pt x="143997" y="241378"/>
                </a:lnTo>
                <a:lnTo>
                  <a:pt x="161174" y="240772"/>
                </a:lnTo>
                <a:lnTo>
                  <a:pt x="208637" y="231781"/>
                </a:lnTo>
                <a:lnTo>
                  <a:pt x="248561" y="213375"/>
                </a:lnTo>
                <a:lnTo>
                  <a:pt x="279104" y="187276"/>
                </a:lnTo>
                <a:lnTo>
                  <a:pt x="302052" y="143486"/>
                </a:lnTo>
                <a:lnTo>
                  <a:pt x="304160" y="131358"/>
                </a:lnTo>
                <a:lnTo>
                  <a:pt x="303453" y="117042"/>
                </a:lnTo>
                <a:lnTo>
                  <a:pt x="292268" y="77865"/>
                </a:lnTo>
                <a:lnTo>
                  <a:pt x="269181" y="45320"/>
                </a:lnTo>
                <a:lnTo>
                  <a:pt x="236373" y="20660"/>
                </a:lnTo>
                <a:lnTo>
                  <a:pt x="196026" y="5139"/>
                </a:lnTo>
                <a:lnTo>
                  <a:pt x="152306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718750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099750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718376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771716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32676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642176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680276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709969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63309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679489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702349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490093" y="3630802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743839" y="3630802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25209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78549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11543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211951" y="2733929"/>
            <a:ext cx="1371600" cy="502920"/>
          </a:xfrm>
          <a:custGeom>
            <a:avLst/>
            <a:gdLst/>
            <a:ahLst/>
            <a:cxnLst/>
            <a:rect l="l" t="t" r="r" b="b"/>
            <a:pathLst>
              <a:path w="1371600" h="502919">
                <a:moveTo>
                  <a:pt x="0" y="456438"/>
                </a:moveTo>
                <a:lnTo>
                  <a:pt x="4523" y="418571"/>
                </a:lnTo>
                <a:lnTo>
                  <a:pt x="25796" y="345714"/>
                </a:lnTo>
                <a:lnTo>
                  <a:pt x="42214" y="310944"/>
                </a:lnTo>
                <a:lnTo>
                  <a:pt x="62264" y="277427"/>
                </a:lnTo>
                <a:lnTo>
                  <a:pt x="85781" y="245273"/>
                </a:lnTo>
                <a:lnTo>
                  <a:pt x="112596" y="214592"/>
                </a:lnTo>
                <a:lnTo>
                  <a:pt x="142545" y="185495"/>
                </a:lnTo>
                <a:lnTo>
                  <a:pt x="175461" y="158091"/>
                </a:lnTo>
                <a:lnTo>
                  <a:pt x="211178" y="132492"/>
                </a:lnTo>
                <a:lnTo>
                  <a:pt x="249530" y="108808"/>
                </a:lnTo>
                <a:lnTo>
                  <a:pt x="290349" y="87148"/>
                </a:lnTo>
                <a:lnTo>
                  <a:pt x="333470" y="67623"/>
                </a:lnTo>
                <a:lnTo>
                  <a:pt x="378727" y="50344"/>
                </a:lnTo>
                <a:lnTo>
                  <a:pt x="425953" y="35421"/>
                </a:lnTo>
                <a:lnTo>
                  <a:pt x="474982" y="22963"/>
                </a:lnTo>
                <a:lnTo>
                  <a:pt x="525647" y="13082"/>
                </a:lnTo>
                <a:lnTo>
                  <a:pt x="577783" y="5887"/>
                </a:lnTo>
                <a:lnTo>
                  <a:pt x="631222" y="1490"/>
                </a:lnTo>
                <a:lnTo>
                  <a:pt x="685800" y="0"/>
                </a:lnTo>
                <a:lnTo>
                  <a:pt x="742042" y="1579"/>
                </a:lnTo>
                <a:lnTo>
                  <a:pt x="797032" y="6237"/>
                </a:lnTo>
                <a:lnTo>
                  <a:pt x="850595" y="13851"/>
                </a:lnTo>
                <a:lnTo>
                  <a:pt x="902554" y="24298"/>
                </a:lnTo>
                <a:lnTo>
                  <a:pt x="952731" y="37457"/>
                </a:lnTo>
                <a:lnTo>
                  <a:pt x="1000951" y="53204"/>
                </a:lnTo>
                <a:lnTo>
                  <a:pt x="1047036" y="71418"/>
                </a:lnTo>
                <a:lnTo>
                  <a:pt x="1090811" y="91976"/>
                </a:lnTo>
                <a:lnTo>
                  <a:pt x="1132098" y="114756"/>
                </a:lnTo>
                <a:lnTo>
                  <a:pt x="1170722" y="139636"/>
                </a:lnTo>
                <a:lnTo>
                  <a:pt x="1206505" y="166493"/>
                </a:lnTo>
                <a:lnTo>
                  <a:pt x="1239271" y="195206"/>
                </a:lnTo>
                <a:lnTo>
                  <a:pt x="1268844" y="225651"/>
                </a:lnTo>
                <a:lnTo>
                  <a:pt x="1295046" y="257706"/>
                </a:lnTo>
                <a:lnTo>
                  <a:pt x="1317702" y="291250"/>
                </a:lnTo>
                <a:lnTo>
                  <a:pt x="1336634" y="326160"/>
                </a:lnTo>
                <a:lnTo>
                  <a:pt x="1351667" y="362313"/>
                </a:lnTo>
                <a:lnTo>
                  <a:pt x="1362623" y="399588"/>
                </a:lnTo>
                <a:lnTo>
                  <a:pt x="1369326" y="437861"/>
                </a:lnTo>
                <a:lnTo>
                  <a:pt x="1371600" y="477011"/>
                </a:lnTo>
                <a:lnTo>
                  <a:pt x="1371524" y="489707"/>
                </a:lnTo>
                <a:lnTo>
                  <a:pt x="1370995" y="502402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211951" y="3160648"/>
            <a:ext cx="0" cy="776605"/>
          </a:xfrm>
          <a:custGeom>
            <a:avLst/>
            <a:gdLst/>
            <a:ahLst/>
            <a:cxnLst/>
            <a:rect l="l" t="t" r="r" b="b"/>
            <a:pathLst>
              <a:path h="776604">
                <a:moveTo>
                  <a:pt x="0" y="0"/>
                </a:moveTo>
                <a:lnTo>
                  <a:pt x="0" y="77647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583551" y="3248279"/>
            <a:ext cx="0" cy="60325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2741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4320394" y="4584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4403985" y="45950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3786994" y="4965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 txBox="1"/>
          <p:nvPr/>
        </p:nvSpPr>
        <p:spPr>
          <a:xfrm>
            <a:off x="3870585" y="49744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4853839" y="4957445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 txBox="1"/>
          <p:nvPr/>
        </p:nvSpPr>
        <p:spPr>
          <a:xfrm>
            <a:off x="4937385" y="49661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2" name="object 182"/>
          <p:cNvSpPr/>
          <p:nvPr/>
        </p:nvSpPr>
        <p:spPr>
          <a:xfrm>
            <a:off x="34822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 txBox="1"/>
          <p:nvPr/>
        </p:nvSpPr>
        <p:spPr>
          <a:xfrm>
            <a:off x="35657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40917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45490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1585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3253594" y="5820029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681"/>
                </a:lnTo>
                <a:lnTo>
                  <a:pt x="60291" y="21510"/>
                </a:lnTo>
                <a:lnTo>
                  <a:pt x="27232" y="45668"/>
                </a:lnTo>
                <a:lnTo>
                  <a:pt x="2211" y="87689"/>
                </a:lnTo>
                <a:lnTo>
                  <a:pt x="0" y="99496"/>
                </a:lnTo>
                <a:lnTo>
                  <a:pt x="778" y="112834"/>
                </a:lnTo>
                <a:lnTo>
                  <a:pt x="12888" y="149217"/>
                </a:lnTo>
                <a:lnTo>
                  <a:pt x="37804" y="179123"/>
                </a:lnTo>
                <a:lnTo>
                  <a:pt x="73146" y="201230"/>
                </a:lnTo>
                <a:lnTo>
                  <a:pt x="116531" y="214213"/>
                </a:lnTo>
                <a:lnTo>
                  <a:pt x="148746" y="217147"/>
                </a:lnTo>
                <a:lnTo>
                  <a:pt x="165934" y="216508"/>
                </a:lnTo>
                <a:lnTo>
                  <a:pt x="213632" y="207411"/>
                </a:lnTo>
                <a:lnTo>
                  <a:pt x="253648" y="188948"/>
                </a:lnTo>
                <a:lnTo>
                  <a:pt x="283551" y="162929"/>
                </a:lnTo>
                <a:lnTo>
                  <a:pt x="303493" y="119608"/>
                </a:lnTo>
                <a:lnTo>
                  <a:pt x="302782" y="105883"/>
                </a:lnTo>
                <a:lnTo>
                  <a:pt x="290889" y="68741"/>
                </a:lnTo>
                <a:lnTo>
                  <a:pt x="266260" y="38509"/>
                </a:lnTo>
                <a:lnTo>
                  <a:pt x="231342" y="16289"/>
                </a:lnTo>
                <a:lnTo>
                  <a:pt x="188583" y="3185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634639" y="58116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4015639" y="5827648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72" y="113140"/>
                </a:lnTo>
                <a:lnTo>
                  <a:pt x="12885" y="149403"/>
                </a:lnTo>
                <a:lnTo>
                  <a:pt x="37835" y="179238"/>
                </a:lnTo>
                <a:lnTo>
                  <a:pt x="73229" y="201300"/>
                </a:lnTo>
                <a:lnTo>
                  <a:pt x="116679" y="214247"/>
                </a:lnTo>
                <a:lnTo>
                  <a:pt x="148939" y="217150"/>
                </a:lnTo>
                <a:lnTo>
                  <a:pt x="166138" y="216507"/>
                </a:lnTo>
                <a:lnTo>
                  <a:pt x="213878" y="207364"/>
                </a:lnTo>
                <a:lnTo>
                  <a:pt x="253914" y="188852"/>
                </a:lnTo>
                <a:lnTo>
                  <a:pt x="283782" y="162833"/>
                </a:lnTo>
                <a:lnTo>
                  <a:pt x="303527" y="119689"/>
                </a:lnTo>
                <a:lnTo>
                  <a:pt x="302802" y="106079"/>
                </a:lnTo>
                <a:lnTo>
                  <a:pt x="290874" y="69097"/>
                </a:lnTo>
                <a:lnTo>
                  <a:pt x="266223" y="38826"/>
                </a:lnTo>
                <a:lnTo>
                  <a:pt x="231292" y="16468"/>
                </a:lnTo>
                <a:lnTo>
                  <a:pt x="188526" y="3227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 txBox="1"/>
          <p:nvPr/>
        </p:nvSpPr>
        <p:spPr>
          <a:xfrm>
            <a:off x="4099185" y="5393596"/>
            <a:ext cx="228600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6325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5242185" y="53935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3337185" y="5828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3718185" y="5817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5" name="object 195"/>
          <p:cNvSpPr/>
          <p:nvPr/>
        </p:nvSpPr>
        <p:spPr>
          <a:xfrm>
            <a:off x="40151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381000" y="0"/>
                </a:moveTo>
                <a:lnTo>
                  <a:pt x="0" y="163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45485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0" y="0"/>
                </a:moveTo>
                <a:lnTo>
                  <a:pt x="381000" y="1638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37103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2286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39389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0" y="0"/>
                </a:moveTo>
                <a:lnTo>
                  <a:pt x="2286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3405517" y="5618098"/>
            <a:ext cx="228600" cy="217170"/>
          </a:xfrm>
          <a:custGeom>
            <a:avLst/>
            <a:gdLst/>
            <a:ahLst/>
            <a:cxnLst/>
            <a:rect l="l" t="t" r="r" b="b"/>
            <a:pathLst>
              <a:path w="228600" h="217170">
                <a:moveTo>
                  <a:pt x="228600" y="0"/>
                </a:moveTo>
                <a:lnTo>
                  <a:pt x="0" y="21717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659263" y="5618098"/>
            <a:ext cx="152400" cy="217170"/>
          </a:xfrm>
          <a:custGeom>
            <a:avLst/>
            <a:gdLst/>
            <a:ahLst/>
            <a:cxnLst/>
            <a:rect l="l" t="t" r="r" b="b"/>
            <a:pathLst>
              <a:path w="152400" h="217170">
                <a:moveTo>
                  <a:pt x="0" y="0"/>
                </a:moveTo>
                <a:lnTo>
                  <a:pt x="152400" y="2171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4167517" y="5608192"/>
            <a:ext cx="76200" cy="218440"/>
          </a:xfrm>
          <a:custGeom>
            <a:avLst/>
            <a:gdLst/>
            <a:ahLst/>
            <a:cxnLst/>
            <a:rect l="l" t="t" r="r" b="b"/>
            <a:pathLst>
              <a:path w="76200" h="218439">
                <a:moveTo>
                  <a:pt x="762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4700917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3048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5030863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0" y="0"/>
                </a:moveTo>
                <a:lnTo>
                  <a:pt x="3048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3176917" y="5253101"/>
            <a:ext cx="838200" cy="317500"/>
          </a:xfrm>
          <a:custGeom>
            <a:avLst/>
            <a:gdLst/>
            <a:ahLst/>
            <a:cxnLst/>
            <a:rect l="l" t="t" r="r" b="b"/>
            <a:pathLst>
              <a:path w="838200" h="317500">
                <a:moveTo>
                  <a:pt x="0" y="287274"/>
                </a:moveTo>
                <a:lnTo>
                  <a:pt x="8071" y="240160"/>
                </a:lnTo>
                <a:lnTo>
                  <a:pt x="25804" y="195657"/>
                </a:lnTo>
                <a:lnTo>
                  <a:pt x="52388" y="154317"/>
                </a:lnTo>
                <a:lnTo>
                  <a:pt x="87014" y="116695"/>
                </a:lnTo>
                <a:lnTo>
                  <a:pt x="128873" y="83343"/>
                </a:lnTo>
                <a:lnTo>
                  <a:pt x="177155" y="54815"/>
                </a:lnTo>
                <a:lnTo>
                  <a:pt x="231052" y="31663"/>
                </a:lnTo>
                <a:lnTo>
                  <a:pt x="289755" y="14441"/>
                </a:lnTo>
                <a:lnTo>
                  <a:pt x="352453" y="3702"/>
                </a:lnTo>
                <a:lnTo>
                  <a:pt x="418338" y="0"/>
                </a:lnTo>
                <a:lnTo>
                  <a:pt x="452741" y="993"/>
                </a:lnTo>
                <a:lnTo>
                  <a:pt x="519159" y="8707"/>
                </a:lnTo>
                <a:lnTo>
                  <a:pt x="581667" y="23550"/>
                </a:lnTo>
                <a:lnTo>
                  <a:pt x="639398" y="44908"/>
                </a:lnTo>
                <a:lnTo>
                  <a:pt x="691483" y="72168"/>
                </a:lnTo>
                <a:lnTo>
                  <a:pt x="737053" y="104718"/>
                </a:lnTo>
                <a:lnTo>
                  <a:pt x="775238" y="141945"/>
                </a:lnTo>
                <a:lnTo>
                  <a:pt x="805172" y="183237"/>
                </a:lnTo>
                <a:lnTo>
                  <a:pt x="825984" y="227980"/>
                </a:lnTo>
                <a:lnTo>
                  <a:pt x="836806" y="275563"/>
                </a:lnTo>
                <a:lnTo>
                  <a:pt x="838200" y="300228"/>
                </a:lnTo>
                <a:lnTo>
                  <a:pt x="838200" y="306324"/>
                </a:lnTo>
                <a:lnTo>
                  <a:pt x="837438" y="311658"/>
                </a:lnTo>
                <a:lnTo>
                  <a:pt x="837438" y="316992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3176917" y="5522848"/>
            <a:ext cx="0" cy="489584"/>
          </a:xfrm>
          <a:custGeom>
            <a:avLst/>
            <a:gdLst/>
            <a:ahLst/>
            <a:cxnLst/>
            <a:rect l="l" t="t" r="r" b="b"/>
            <a:pathLst>
              <a:path h="489585">
                <a:moveTo>
                  <a:pt x="0" y="0"/>
                </a:moveTo>
                <a:lnTo>
                  <a:pt x="0" y="489203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4015117" y="557695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368394" y="4584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 txBox="1"/>
          <p:nvPr/>
        </p:nvSpPr>
        <p:spPr>
          <a:xfrm>
            <a:off x="7451985" y="45950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9" name="object 209"/>
          <p:cNvSpPr/>
          <p:nvPr/>
        </p:nvSpPr>
        <p:spPr>
          <a:xfrm>
            <a:off x="6834994" y="4965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 txBox="1"/>
          <p:nvPr/>
        </p:nvSpPr>
        <p:spPr>
          <a:xfrm>
            <a:off x="6918585" y="49744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1" name="object 211"/>
          <p:cNvSpPr/>
          <p:nvPr/>
        </p:nvSpPr>
        <p:spPr>
          <a:xfrm>
            <a:off x="7901839" y="4957445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 txBox="1"/>
          <p:nvPr/>
        </p:nvSpPr>
        <p:spPr>
          <a:xfrm>
            <a:off x="7985385" y="49661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3" name="object 213"/>
          <p:cNvSpPr/>
          <p:nvPr/>
        </p:nvSpPr>
        <p:spPr>
          <a:xfrm>
            <a:off x="65302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 txBox="1"/>
          <p:nvPr/>
        </p:nvSpPr>
        <p:spPr>
          <a:xfrm>
            <a:off x="66137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5" name="object 215"/>
          <p:cNvSpPr/>
          <p:nvPr/>
        </p:nvSpPr>
        <p:spPr>
          <a:xfrm>
            <a:off x="71397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75970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2065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6301594" y="5820029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681"/>
                </a:lnTo>
                <a:lnTo>
                  <a:pt x="60291" y="21510"/>
                </a:lnTo>
                <a:lnTo>
                  <a:pt x="27232" y="45668"/>
                </a:lnTo>
                <a:lnTo>
                  <a:pt x="2211" y="87689"/>
                </a:lnTo>
                <a:lnTo>
                  <a:pt x="0" y="99496"/>
                </a:lnTo>
                <a:lnTo>
                  <a:pt x="778" y="112834"/>
                </a:lnTo>
                <a:lnTo>
                  <a:pt x="12888" y="149217"/>
                </a:lnTo>
                <a:lnTo>
                  <a:pt x="37804" y="179123"/>
                </a:lnTo>
                <a:lnTo>
                  <a:pt x="73146" y="201230"/>
                </a:lnTo>
                <a:lnTo>
                  <a:pt x="116531" y="214213"/>
                </a:lnTo>
                <a:lnTo>
                  <a:pt x="148746" y="217147"/>
                </a:lnTo>
                <a:lnTo>
                  <a:pt x="165934" y="216508"/>
                </a:lnTo>
                <a:lnTo>
                  <a:pt x="213632" y="207411"/>
                </a:lnTo>
                <a:lnTo>
                  <a:pt x="253648" y="188948"/>
                </a:lnTo>
                <a:lnTo>
                  <a:pt x="283551" y="162929"/>
                </a:lnTo>
                <a:lnTo>
                  <a:pt x="303493" y="119608"/>
                </a:lnTo>
                <a:lnTo>
                  <a:pt x="302782" y="105883"/>
                </a:lnTo>
                <a:lnTo>
                  <a:pt x="290889" y="68741"/>
                </a:lnTo>
                <a:lnTo>
                  <a:pt x="266260" y="38509"/>
                </a:lnTo>
                <a:lnTo>
                  <a:pt x="231342" y="16289"/>
                </a:lnTo>
                <a:lnTo>
                  <a:pt x="188583" y="3185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682639" y="58116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7063639" y="5827648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72" y="113140"/>
                </a:lnTo>
                <a:lnTo>
                  <a:pt x="12885" y="149403"/>
                </a:lnTo>
                <a:lnTo>
                  <a:pt x="37835" y="179238"/>
                </a:lnTo>
                <a:lnTo>
                  <a:pt x="73229" y="201300"/>
                </a:lnTo>
                <a:lnTo>
                  <a:pt x="116679" y="214247"/>
                </a:lnTo>
                <a:lnTo>
                  <a:pt x="148939" y="217150"/>
                </a:lnTo>
                <a:lnTo>
                  <a:pt x="166138" y="216507"/>
                </a:lnTo>
                <a:lnTo>
                  <a:pt x="213878" y="207364"/>
                </a:lnTo>
                <a:lnTo>
                  <a:pt x="253914" y="188852"/>
                </a:lnTo>
                <a:lnTo>
                  <a:pt x="283782" y="162833"/>
                </a:lnTo>
                <a:lnTo>
                  <a:pt x="303527" y="119689"/>
                </a:lnTo>
                <a:lnTo>
                  <a:pt x="302802" y="106079"/>
                </a:lnTo>
                <a:lnTo>
                  <a:pt x="290874" y="69097"/>
                </a:lnTo>
                <a:lnTo>
                  <a:pt x="266223" y="38826"/>
                </a:lnTo>
                <a:lnTo>
                  <a:pt x="231292" y="16468"/>
                </a:lnTo>
                <a:lnTo>
                  <a:pt x="188526" y="3227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 txBox="1"/>
          <p:nvPr/>
        </p:nvSpPr>
        <p:spPr>
          <a:xfrm>
            <a:off x="7147185" y="5393596"/>
            <a:ext cx="228600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76805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8290185" y="53935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6385185" y="5828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6766185" y="5817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70631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381000" y="0"/>
                </a:moveTo>
                <a:lnTo>
                  <a:pt x="0" y="163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75965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0" y="0"/>
                </a:moveTo>
                <a:lnTo>
                  <a:pt x="381000" y="1638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67583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2286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69869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0" y="0"/>
                </a:moveTo>
                <a:lnTo>
                  <a:pt x="2286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453517" y="5618098"/>
            <a:ext cx="228600" cy="217170"/>
          </a:xfrm>
          <a:custGeom>
            <a:avLst/>
            <a:gdLst/>
            <a:ahLst/>
            <a:cxnLst/>
            <a:rect l="l" t="t" r="r" b="b"/>
            <a:pathLst>
              <a:path w="228600" h="217170">
                <a:moveTo>
                  <a:pt x="228600" y="0"/>
                </a:moveTo>
                <a:lnTo>
                  <a:pt x="0" y="21717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707263" y="5618098"/>
            <a:ext cx="152400" cy="217170"/>
          </a:xfrm>
          <a:custGeom>
            <a:avLst/>
            <a:gdLst/>
            <a:ahLst/>
            <a:cxnLst/>
            <a:rect l="l" t="t" r="r" b="b"/>
            <a:pathLst>
              <a:path w="152400" h="217170">
                <a:moveTo>
                  <a:pt x="0" y="0"/>
                </a:moveTo>
                <a:lnTo>
                  <a:pt x="152400" y="2171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7215517" y="5608192"/>
            <a:ext cx="76200" cy="218440"/>
          </a:xfrm>
          <a:custGeom>
            <a:avLst/>
            <a:gdLst/>
            <a:ahLst/>
            <a:cxnLst/>
            <a:rect l="l" t="t" r="r" b="b"/>
            <a:pathLst>
              <a:path w="76200" h="218439">
                <a:moveTo>
                  <a:pt x="762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7748917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3048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8078863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0" y="0"/>
                </a:moveTo>
                <a:lnTo>
                  <a:pt x="3048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 txBox="1"/>
          <p:nvPr/>
        </p:nvSpPr>
        <p:spPr>
          <a:xfrm>
            <a:off x="166688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113348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2200281" y="79416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463868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410528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5172081" y="79264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748856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695516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8021961" y="79264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9" name="object 249"/>
          <p:cNvSpPr txBox="1"/>
          <p:nvPr/>
        </p:nvSpPr>
        <p:spPr>
          <a:xfrm>
            <a:off x="347345" y="5270500"/>
            <a:ext cx="2310765" cy="3689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ct val="100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初始建堆过</a:t>
            </a:r>
            <a:r>
              <a:rPr lang="zh-CN"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</a:t>
            </a:r>
          </a:p>
        </p:txBody>
      </p:sp>
      <p:graphicFrame>
        <p:nvGraphicFramePr>
          <p:cNvPr id="235" name="object 235"/>
          <p:cNvGraphicFramePr>
            <a:graphicFrameLocks noGrp="1"/>
          </p:cNvGraphicFramePr>
          <p:nvPr/>
        </p:nvGraphicFramePr>
        <p:xfrm>
          <a:off x="185125" y="6177024"/>
          <a:ext cx="8739369" cy="49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23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27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0"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0">
                  <a:txBody>
                    <a:bodyPr/>
                    <a:lstStyle/>
                    <a:p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9" name="object 239"/>
          <p:cNvGraphicFramePr>
            <a:graphicFrameLocks noGrp="1"/>
          </p:cNvGraphicFramePr>
          <p:nvPr/>
        </p:nvGraphicFramePr>
        <p:xfrm>
          <a:off x="273126" y="2186152"/>
          <a:ext cx="2895596" cy="288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888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tabLst>
                          <a:tab pos="385445" algn="l"/>
                        </a:tabLst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	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3" name="object 243"/>
          <p:cNvGraphicFramePr>
            <a:graphicFrameLocks noGrp="1"/>
          </p:cNvGraphicFramePr>
          <p:nvPr/>
        </p:nvGraphicFramePr>
        <p:xfrm>
          <a:off x="3244926" y="1760092"/>
          <a:ext cx="5745475" cy="729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0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620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88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176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424014"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1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tabLst>
                          <a:tab pos="571500" algn="l"/>
                          <a:tab pos="952500" algn="l"/>
                          <a:tab pos="3040380" algn="l"/>
                          <a:tab pos="3420745" algn="l"/>
                          <a:tab pos="3801745" algn="l"/>
                        </a:tabLst>
                      </a:pPr>
                      <a:r>
                        <a:rPr sz="3000" b="1" baseline="1000" dirty="0">
                          <a:latin typeface="Times New Roman" panose="02020603050405020304"/>
                          <a:cs typeface="Times New Roman" panose="02020603050405020304"/>
                        </a:rPr>
                        <a:t>6	</a:t>
                      </a:r>
                      <a:r>
                        <a:rPr sz="3000" b="1" baseline="4000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3000" b="1" baseline="1000" dirty="0">
                          <a:latin typeface="Times New Roman" panose="02020603050405020304"/>
                          <a:cs typeface="Times New Roman" panose="02020603050405020304"/>
                        </a:rPr>
                        <a:t>6	</a:t>
                      </a:r>
                      <a:r>
                        <a:rPr sz="3000" b="1" baseline="4000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220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7" name="object 247"/>
          <p:cNvGraphicFramePr>
            <a:graphicFrameLocks noGrp="1"/>
          </p:cNvGraphicFramePr>
          <p:nvPr/>
        </p:nvGraphicFramePr>
        <p:xfrm>
          <a:off x="177876" y="4154487"/>
          <a:ext cx="2895597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8" name="object 248"/>
          <p:cNvGraphicFramePr>
            <a:graphicFrameLocks noGrp="1"/>
          </p:cNvGraphicFramePr>
          <p:nvPr/>
        </p:nvGraphicFramePr>
        <p:xfrm>
          <a:off x="3149676" y="4154487"/>
          <a:ext cx="5840724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5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192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88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176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517787" y="540893"/>
            <a:ext cx="1390650" cy="486409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ct val="100000"/>
              </a:lnSpc>
            </a:pPr>
            <a:r>
              <a:rPr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堆排序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58323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41735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4923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08335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91723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175135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012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0353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2972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1313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8692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7033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9652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7993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1523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4935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72523" y="204965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5935" y="206137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53523" y="20717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36935" y="20834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5286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8626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4806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7666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3267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97013" y="1777619"/>
            <a:ext cx="160020" cy="300355"/>
          </a:xfrm>
          <a:custGeom>
            <a:avLst/>
            <a:gdLst/>
            <a:ahLst/>
            <a:cxnLst/>
            <a:rect l="l" t="t" r="r" b="b"/>
            <a:pathLst>
              <a:path w="160019" h="300355">
                <a:moveTo>
                  <a:pt x="0" y="0"/>
                </a:moveTo>
                <a:lnTo>
                  <a:pt x="160020" y="30022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05267" y="1765426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38667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6861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11073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594485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977673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061085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44473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127885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7287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75628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28247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36588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3967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82308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34927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43268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444273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527685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25273" y="204965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908685" y="206137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20561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73901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0081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2941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596017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49763" y="1777619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91417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22136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481349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564761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947949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031361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014749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8098161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643149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726561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252749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336161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709949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7793361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319549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8402961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414549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6497961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175893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709293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871093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099693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566293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86169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191639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558323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641735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024923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08335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2091723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2175135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201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035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3297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4131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7869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8703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23965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24799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12528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7862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480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1766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938667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268613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530123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4613535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3996723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4080135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5063523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146935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6919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37753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3015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43849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47587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48421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2246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7580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9198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1484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910467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544589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7628007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7011189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7094607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8077989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180" y="303784"/>
                </a:lnTo>
                <a:lnTo>
                  <a:pt x="200452" y="294648"/>
                </a:lnTo>
                <a:lnTo>
                  <a:pt x="238442" y="275657"/>
                </a:lnTo>
                <a:lnTo>
                  <a:pt x="268915" y="248396"/>
                </a:lnTo>
                <a:lnTo>
                  <a:pt x="290640" y="214451"/>
                </a:lnTo>
                <a:lnTo>
                  <a:pt x="302381" y="175408"/>
                </a:lnTo>
                <a:lnTo>
                  <a:pt x="303863" y="161535"/>
                </a:lnTo>
                <a:lnTo>
                  <a:pt x="303246" y="145732"/>
                </a:lnTo>
                <a:lnTo>
                  <a:pt x="293901" y="101836"/>
                </a:lnTo>
                <a:lnTo>
                  <a:pt x="274577" y="64195"/>
                </a:lnTo>
                <a:lnTo>
                  <a:pt x="246896" y="34076"/>
                </a:lnTo>
                <a:lnTo>
                  <a:pt x="212476" y="12745"/>
                </a:lnTo>
                <a:lnTo>
                  <a:pt x="172938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8161407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6706389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180" y="303784"/>
                </a:lnTo>
                <a:lnTo>
                  <a:pt x="200452" y="294648"/>
                </a:lnTo>
                <a:lnTo>
                  <a:pt x="238442" y="275657"/>
                </a:lnTo>
                <a:lnTo>
                  <a:pt x="268915" y="248396"/>
                </a:lnTo>
                <a:lnTo>
                  <a:pt x="290640" y="214451"/>
                </a:lnTo>
                <a:lnTo>
                  <a:pt x="302381" y="175408"/>
                </a:lnTo>
                <a:lnTo>
                  <a:pt x="303863" y="161535"/>
                </a:lnTo>
                <a:lnTo>
                  <a:pt x="303246" y="145732"/>
                </a:lnTo>
                <a:lnTo>
                  <a:pt x="293901" y="101836"/>
                </a:lnTo>
                <a:lnTo>
                  <a:pt x="274577" y="64195"/>
                </a:lnTo>
                <a:lnTo>
                  <a:pt x="246896" y="34076"/>
                </a:lnTo>
                <a:lnTo>
                  <a:pt x="212476" y="12745"/>
                </a:lnTo>
                <a:lnTo>
                  <a:pt x="172938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6789807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315989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 txBox="1"/>
          <p:nvPr/>
        </p:nvSpPr>
        <p:spPr>
          <a:xfrm>
            <a:off x="7399407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723912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77252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93432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16292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248527" y="4520819"/>
            <a:ext cx="2895600" cy="395605"/>
          </a:xfrm>
          <a:custGeom>
            <a:avLst/>
            <a:gdLst/>
            <a:ahLst/>
            <a:cxnLst/>
            <a:rect l="l" t="t" r="r" b="b"/>
            <a:pathLst>
              <a:path w="2895600" h="395604">
                <a:moveTo>
                  <a:pt x="0" y="0"/>
                </a:moveTo>
                <a:lnTo>
                  <a:pt x="0" y="395477"/>
                </a:lnTo>
                <a:lnTo>
                  <a:pt x="2895473" y="395477"/>
                </a:lnTo>
              </a:path>
              <a:path w="2895600" h="395604">
                <a:moveTo>
                  <a:pt x="2895473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6340989" y="4605348"/>
            <a:ext cx="27114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  <a:tab pos="583565" algn="l"/>
                <a:tab pos="869315" algn="l"/>
                <a:tab pos="1155065" algn="l"/>
                <a:tab pos="1440815" algn="l"/>
                <a:tab pos="1725930" algn="l"/>
                <a:tab pos="2011680" algn="l"/>
                <a:tab pos="2298065" algn="l"/>
                <a:tab pos="258381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4	5	9	5	6	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	3	2	1	1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65312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8101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1149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73945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6742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9790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2579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5375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8423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005873" y="5046598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402"/>
                </a:lnTo>
                <a:lnTo>
                  <a:pt x="9328" y="199319"/>
                </a:lnTo>
                <a:lnTo>
                  <a:pt x="27805" y="237729"/>
                </a:lnTo>
                <a:lnTo>
                  <a:pt x="54475" y="268510"/>
                </a:lnTo>
                <a:lnTo>
                  <a:pt x="87857" y="290543"/>
                </a:lnTo>
                <a:lnTo>
                  <a:pt x="126469" y="302705"/>
                </a:lnTo>
                <a:lnTo>
                  <a:pt x="140246" y="304373"/>
                </a:lnTo>
                <a:lnTo>
                  <a:pt x="156187" y="303790"/>
                </a:lnTo>
                <a:lnTo>
                  <a:pt x="200459" y="294651"/>
                </a:lnTo>
                <a:lnTo>
                  <a:pt x="238450" y="275657"/>
                </a:lnTo>
                <a:lnTo>
                  <a:pt x="268924" y="248395"/>
                </a:lnTo>
                <a:lnTo>
                  <a:pt x="290648" y="214449"/>
                </a:lnTo>
                <a:lnTo>
                  <a:pt x="302389" y="175404"/>
                </a:lnTo>
                <a:lnTo>
                  <a:pt x="303871" y="161531"/>
                </a:lnTo>
                <a:lnTo>
                  <a:pt x="303253" y="145844"/>
                </a:lnTo>
                <a:lnTo>
                  <a:pt x="293908" y="102144"/>
                </a:lnTo>
                <a:lnTo>
                  <a:pt x="274584" y="64522"/>
                </a:lnTo>
                <a:lnTo>
                  <a:pt x="246901" y="34314"/>
                </a:lnTo>
                <a:lnTo>
                  <a:pt x="212480" y="12857"/>
                </a:lnTo>
                <a:lnTo>
                  <a:pt x="172942" y="1485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 txBox="1"/>
          <p:nvPr/>
        </p:nvSpPr>
        <p:spPr>
          <a:xfrm>
            <a:off x="1089285" y="50583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472473" y="5579998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402"/>
                </a:lnTo>
                <a:lnTo>
                  <a:pt x="9328" y="199319"/>
                </a:lnTo>
                <a:lnTo>
                  <a:pt x="27805" y="237729"/>
                </a:lnTo>
                <a:lnTo>
                  <a:pt x="54475" y="268510"/>
                </a:lnTo>
                <a:lnTo>
                  <a:pt x="87857" y="290543"/>
                </a:lnTo>
                <a:lnTo>
                  <a:pt x="126469" y="302705"/>
                </a:lnTo>
                <a:lnTo>
                  <a:pt x="140246" y="304373"/>
                </a:lnTo>
                <a:lnTo>
                  <a:pt x="156187" y="303790"/>
                </a:lnTo>
                <a:lnTo>
                  <a:pt x="200459" y="294651"/>
                </a:lnTo>
                <a:lnTo>
                  <a:pt x="238450" y="275657"/>
                </a:lnTo>
                <a:lnTo>
                  <a:pt x="268924" y="248395"/>
                </a:lnTo>
                <a:lnTo>
                  <a:pt x="290648" y="214449"/>
                </a:lnTo>
                <a:lnTo>
                  <a:pt x="302389" y="175404"/>
                </a:lnTo>
                <a:lnTo>
                  <a:pt x="303871" y="161531"/>
                </a:lnTo>
                <a:lnTo>
                  <a:pt x="303253" y="145844"/>
                </a:lnTo>
                <a:lnTo>
                  <a:pt x="293908" y="102144"/>
                </a:lnTo>
                <a:lnTo>
                  <a:pt x="274584" y="64522"/>
                </a:lnTo>
                <a:lnTo>
                  <a:pt x="246901" y="34314"/>
                </a:lnTo>
                <a:lnTo>
                  <a:pt x="212480" y="12857"/>
                </a:lnTo>
                <a:lnTo>
                  <a:pt x="172942" y="1485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555885" y="55917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1539273" y="556856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1622685" y="558104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9" name="object 159"/>
          <p:cNvSpPr/>
          <p:nvPr/>
        </p:nvSpPr>
        <p:spPr>
          <a:xfrm>
            <a:off x="167673" y="617816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 txBox="1"/>
          <p:nvPr/>
        </p:nvSpPr>
        <p:spPr>
          <a:xfrm>
            <a:off x="251085" y="619064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700417" y="5351398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233817" y="5351398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395617" y="588479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764826" y="50161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4848231" y="50285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4231426" y="55495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4314831" y="55619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298226" y="55388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296" y="303784"/>
                </a:lnTo>
                <a:lnTo>
                  <a:pt x="200762" y="294648"/>
                </a:lnTo>
                <a:lnTo>
                  <a:pt x="238772" y="275657"/>
                </a:lnTo>
                <a:lnTo>
                  <a:pt x="269159" y="248396"/>
                </a:lnTo>
                <a:lnTo>
                  <a:pt x="290757" y="214451"/>
                </a:lnTo>
                <a:lnTo>
                  <a:pt x="302399" y="175408"/>
                </a:lnTo>
                <a:lnTo>
                  <a:pt x="303866" y="161535"/>
                </a:lnTo>
                <a:lnTo>
                  <a:pt x="303255" y="145732"/>
                </a:lnTo>
                <a:lnTo>
                  <a:pt x="293994" y="101835"/>
                </a:lnTo>
                <a:lnTo>
                  <a:pt x="274797" y="64194"/>
                </a:lnTo>
                <a:lnTo>
                  <a:pt x="247215" y="34075"/>
                </a:lnTo>
                <a:lnTo>
                  <a:pt x="212799" y="12745"/>
                </a:lnTo>
                <a:lnTo>
                  <a:pt x="173100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5381631" y="55505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4459363" y="53209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4992763" y="53209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274336" y="49909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6357753" y="50026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5728749" y="55243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5824353" y="55360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5968873" y="5295772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248527" y="5410072"/>
            <a:ext cx="2895600" cy="395605"/>
          </a:xfrm>
          <a:custGeom>
            <a:avLst/>
            <a:gdLst/>
            <a:ahLst/>
            <a:cxnLst/>
            <a:rect l="l" t="t" r="r" b="b"/>
            <a:pathLst>
              <a:path w="2895600" h="395604">
                <a:moveTo>
                  <a:pt x="0" y="0"/>
                </a:moveTo>
                <a:lnTo>
                  <a:pt x="0" y="395477"/>
                </a:lnTo>
                <a:lnTo>
                  <a:pt x="2895473" y="395477"/>
                </a:lnTo>
              </a:path>
              <a:path w="2895600" h="395604">
                <a:moveTo>
                  <a:pt x="2895473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 txBox="1"/>
          <p:nvPr/>
        </p:nvSpPr>
        <p:spPr>
          <a:xfrm>
            <a:off x="6340989" y="5494602"/>
            <a:ext cx="27114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  <a:tab pos="583565" algn="l"/>
                <a:tab pos="869315" algn="l"/>
                <a:tab pos="1155065" algn="l"/>
                <a:tab pos="1440815" algn="l"/>
                <a:tab pos="1725930" algn="l"/>
                <a:tab pos="2011680" algn="l"/>
                <a:tab pos="2298065" algn="l"/>
                <a:tab pos="258381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6	9	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5	5	4	3	3	2	1	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65312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8101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1149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3945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6742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9790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2579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5375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8423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031526" y="60577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 txBox="1"/>
          <p:nvPr/>
        </p:nvSpPr>
        <p:spPr>
          <a:xfrm>
            <a:off x="5114931" y="60694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247980" y="2446083"/>
          <a:ext cx="5848343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27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object 88"/>
          <p:cNvGraphicFramePr>
            <a:graphicFrameLocks noGrp="1"/>
          </p:cNvGraphicFramePr>
          <p:nvPr/>
        </p:nvGraphicFramePr>
        <p:xfrm>
          <a:off x="6171006" y="2446083"/>
          <a:ext cx="2895598" cy="395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" name="object 109"/>
          <p:cNvGraphicFramePr>
            <a:graphicFrameLocks noGrp="1"/>
          </p:cNvGraphicFramePr>
          <p:nvPr/>
        </p:nvGraphicFramePr>
        <p:xfrm>
          <a:off x="247980" y="4506531"/>
          <a:ext cx="2895595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" name="object 127"/>
          <p:cNvGraphicFramePr>
            <a:graphicFrameLocks noGrp="1"/>
          </p:cNvGraphicFramePr>
          <p:nvPr/>
        </p:nvGraphicFramePr>
        <p:xfrm>
          <a:off x="3219780" y="4506531"/>
          <a:ext cx="2895596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3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0673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067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4" name="object 164"/>
          <p:cNvGraphicFramePr>
            <a:graphicFrameLocks noGrp="1"/>
          </p:cNvGraphicFramePr>
          <p:nvPr/>
        </p:nvGraphicFramePr>
        <p:xfrm>
          <a:off x="552780" y="5946711"/>
          <a:ext cx="2895596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3" name="object 173"/>
          <p:cNvGraphicFramePr>
            <a:graphicFrameLocks noGrp="1"/>
          </p:cNvGraphicFramePr>
          <p:nvPr/>
        </p:nvGraphicFramePr>
        <p:xfrm>
          <a:off x="1631772" y="5024691"/>
          <a:ext cx="2895597" cy="394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47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2" name="object 192"/>
          <p:cNvGraphicFramePr>
            <a:graphicFrameLocks noGrp="1"/>
          </p:cNvGraphicFramePr>
          <p:nvPr/>
        </p:nvGraphicFramePr>
        <p:xfrm>
          <a:off x="5410530" y="6005385"/>
          <a:ext cx="2895597" cy="395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17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547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根据完全二叉树的特点</a:t>
            </a:r>
            <a:endParaRPr lang="en-US" altLang="zh-CN" dirty="0"/>
          </a:p>
          <a:p>
            <a:pPr lvl="1"/>
            <a:r>
              <a:rPr lang="zh-CN" altLang="en-US" dirty="0"/>
              <a:t>最好，最差平均的时间复杂度均为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空间复杂度为</a:t>
            </a:r>
            <a:r>
              <a:rPr lang="en-US" altLang="zh-CN" dirty="0"/>
              <a:t>S(1)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希尔排序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基于插入的排序</a:t>
            </a: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直接（简单）插入排序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算法的基本思想：</a:t>
            </a:r>
            <a:br>
              <a:rPr lang="en-US" altLang="zh-CN" dirty="0"/>
            </a:br>
            <a:r>
              <a:rPr lang="zh-CN" altLang="en-US" dirty="0"/>
              <a:t>每次将一个 待排序的记录按其关键字的大小插入到一个已经排好序的 有序序列中，直到全部记录排好序为止。</a:t>
            </a:r>
            <a:br>
              <a:rPr lang="en-US" altLang="zh-CN" dirty="0"/>
            </a:br>
            <a:r>
              <a:rPr lang="zh-CN" altLang="en-US" dirty="0"/>
              <a:t>经过</a:t>
            </a:r>
            <a:r>
              <a:rPr lang="en-US" altLang="zh-CN" dirty="0"/>
              <a:t>i-1</a:t>
            </a:r>
            <a:r>
              <a:rPr lang="zh-CN" altLang="en-US" dirty="0"/>
              <a:t>遍处理后，</a:t>
            </a:r>
            <a:r>
              <a:rPr lang="en-US" altLang="zh-CN" dirty="0"/>
              <a:t>A[1…i-1]</a:t>
            </a:r>
            <a:r>
              <a:rPr lang="zh-CN" altLang="en-US" dirty="0"/>
              <a:t>己排好序。第</a:t>
            </a:r>
            <a:r>
              <a:rPr lang="en-US" altLang="zh-CN" dirty="0" err="1"/>
              <a:t>i</a:t>
            </a:r>
            <a:r>
              <a:rPr lang="zh-CN" altLang="en-US" dirty="0"/>
              <a:t>遍处理仅将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插入</a:t>
            </a:r>
            <a:r>
              <a:rPr lang="en-US" altLang="zh-CN" dirty="0"/>
              <a:t>A[1…i-1,i]</a:t>
            </a:r>
            <a:r>
              <a:rPr lang="zh-CN" altLang="en-US" dirty="0"/>
              <a:t>的适当位置，使得</a:t>
            </a:r>
            <a:r>
              <a:rPr lang="en-US" altLang="zh-CN" dirty="0"/>
              <a:t>A[1…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又是排好序的序 列。</a:t>
            </a:r>
            <a:endParaRPr lang="en-US" altLang="zh-CN" dirty="0"/>
          </a:p>
          <a:p>
            <a:r>
              <a:rPr lang="zh-CN" altLang="en-US" dirty="0"/>
              <a:t>实现方法：</a:t>
            </a:r>
            <a:endParaRPr lang="en-US" altLang="zh-CN" dirty="0"/>
          </a:p>
          <a:p>
            <a:pPr lvl="1"/>
            <a:r>
              <a:rPr lang="zh-CN" altLang="en-US" dirty="0"/>
              <a:t>首先比较 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A[i-1]</a:t>
            </a:r>
            <a:r>
              <a:rPr lang="zh-CN" altLang="en-US" dirty="0"/>
              <a:t>的关键字，如果</a:t>
            </a:r>
            <a:r>
              <a:rPr lang="en-US" altLang="zh-CN" dirty="0"/>
              <a:t>A[i-1].</a:t>
            </a:r>
            <a:r>
              <a:rPr lang="en-US" altLang="zh-CN" dirty="0" err="1"/>
              <a:t>key≤A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].key</a:t>
            </a:r>
            <a:r>
              <a:rPr lang="zh-CN" altLang="en-US" dirty="0"/>
              <a:t>，由于 </a:t>
            </a:r>
            <a:r>
              <a:rPr lang="en-US" altLang="zh-CN" dirty="0"/>
              <a:t>A[1…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已排好序，第</a:t>
            </a:r>
            <a:r>
              <a:rPr lang="en-US" altLang="zh-CN" dirty="0" err="1"/>
              <a:t>i</a:t>
            </a:r>
            <a:r>
              <a:rPr lang="zh-CN" altLang="en-US" dirty="0"/>
              <a:t>遍处理就结束了；否则交换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与 </a:t>
            </a:r>
            <a:r>
              <a:rPr lang="en-US" altLang="zh-CN" dirty="0"/>
              <a:t>A[i-1]</a:t>
            </a:r>
            <a:r>
              <a:rPr lang="zh-CN" altLang="en-US" dirty="0"/>
              <a:t>的位置，继续比较</a:t>
            </a:r>
            <a:r>
              <a:rPr lang="en-US" altLang="zh-CN" dirty="0"/>
              <a:t>A[i-1]</a:t>
            </a:r>
            <a:r>
              <a:rPr lang="zh-CN" altLang="en-US" dirty="0"/>
              <a:t>和</a:t>
            </a:r>
            <a:r>
              <a:rPr lang="en-US" altLang="zh-CN" dirty="0"/>
              <a:t>A[i-2]</a:t>
            </a:r>
            <a:r>
              <a:rPr lang="zh-CN" altLang="en-US" dirty="0"/>
              <a:t>的关键字，直到找 到某一个位置</a:t>
            </a:r>
            <a:r>
              <a:rPr lang="en-US" altLang="zh-CN" dirty="0"/>
              <a:t>j(1≤j≤i-1)</a:t>
            </a:r>
            <a:r>
              <a:rPr lang="zh-CN" altLang="en-US" dirty="0"/>
              <a:t>，使得</a:t>
            </a:r>
            <a:r>
              <a:rPr lang="en-US" altLang="zh-CN" dirty="0"/>
              <a:t>A[j].</a:t>
            </a:r>
            <a:r>
              <a:rPr lang="en-US" altLang="zh-CN" dirty="0" err="1"/>
              <a:t>key≤A</a:t>
            </a:r>
            <a:r>
              <a:rPr lang="en-US" altLang="zh-CN" dirty="0"/>
              <a:t>[j+1].key</a:t>
            </a:r>
            <a:r>
              <a:rPr lang="zh-CN" altLang="en-US" dirty="0"/>
              <a:t>时为 止。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算法的实现</a:t>
            </a:r>
            <a:endParaRPr lang="zh-CN" altLang="en-US" dirty="0"/>
          </a:p>
        </p:txBody>
      </p:sp>
      <p:sp>
        <p:nvSpPr>
          <p:cNvPr id="4" name="object 9"/>
          <p:cNvSpPr txBox="1"/>
          <p:nvPr/>
        </p:nvSpPr>
        <p:spPr>
          <a:xfrm>
            <a:off x="797650" y="1501503"/>
            <a:ext cx="8056880" cy="498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72453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void	InsertSort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(int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n, LIST A )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60680" algn="l"/>
                <a:tab pos="86931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 marL="317500" marR="4929505">
              <a:lnSpc>
                <a:spcPct val="125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A[0].key = -</a:t>
            </a:r>
            <a:r>
              <a:rPr sz="2400" spc="-25" dirty="0">
                <a:latin typeface="宋体" panose="02010600030101010101" pitchFamily="2" charset="-122"/>
                <a:cs typeface="宋体" panose="02010600030101010101" pitchFamily="2" charset="-122"/>
              </a:rPr>
              <a:t>∞</a:t>
            </a:r>
            <a:r>
              <a:rPr sz="2400" spc="-6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;//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哨兵</a:t>
            </a:r>
            <a:b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</a:b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for(i=1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i&lt;=n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i++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</a:p>
          <a:p>
            <a:pPr marL="62230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j=i;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927100" marR="5080" indent="-304800">
              <a:lnSpc>
                <a:spcPct val="125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while(A[j].key&lt;A[j-1].key) { /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不必检查当前位置是否为</a:t>
            </a:r>
            <a:r>
              <a:rPr sz="2400" dirty="0">
                <a:latin typeface="Arial" panose="020B0604020202020204"/>
                <a:cs typeface="Arial" panose="020B0604020202020204"/>
              </a:rPr>
              <a:t>1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swap(A[j],A[j-1]) ;</a:t>
            </a:r>
          </a:p>
          <a:p>
            <a:pPr marL="92710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j=j-1;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</a:p>
          <a:p>
            <a:pPr marL="3175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直接插入排序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59410" y="1476798"/>
            <a:ext cx="7886700" cy="468683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    最好情况下（正序）：</a:t>
            </a:r>
          </a:p>
          <a:p>
            <a:pPr lvl="1"/>
            <a:r>
              <a:rPr lang="zh-CN" altLang="en-US"/>
              <a:t>比较次数：n-1</a:t>
            </a:r>
          </a:p>
          <a:p>
            <a:pPr lvl="1"/>
            <a:r>
              <a:rPr lang="zh-CN" altLang="en-US"/>
              <a:t>移动次数：0</a:t>
            </a:r>
          </a:p>
          <a:p>
            <a:pPr lvl="1"/>
            <a:r>
              <a:rPr lang="zh-CN" altLang="en-US"/>
              <a:t>时间复杂度为O(n)。</a:t>
            </a:r>
          </a:p>
          <a:p>
            <a:r>
              <a:rPr lang="zh-CN" altLang="en-US"/>
              <a:t>最坏情况下（反序）：</a:t>
            </a:r>
          </a:p>
          <a:p>
            <a:pPr lvl="1" algn="l">
              <a:lnSpc>
                <a:spcPct val="200000"/>
              </a:lnSpc>
              <a:buClrTx/>
              <a:buSzTx/>
            </a:pPr>
            <a:r>
              <a:rPr lang="zh-CN" altLang="en-US">
                <a:sym typeface="+mn-ea"/>
              </a:rPr>
              <a:t>比较次数：                          移动次数：</a:t>
            </a:r>
          </a:p>
          <a:p>
            <a:pPr lvl="1" algn="l">
              <a:buClrTx/>
              <a:buSzTx/>
            </a:pPr>
            <a:r>
              <a:rPr lang="zh-CN" altLang="en-US">
                <a:sym typeface="+mn-ea"/>
              </a:rPr>
              <a:t>时间复杂度为O(n</a:t>
            </a:r>
            <a:r>
              <a:rPr lang="zh-CN" altLang="en-US" baseline="30000">
                <a:sym typeface="+mn-ea"/>
              </a:rPr>
              <a:t>2</a:t>
            </a:r>
            <a:r>
              <a:rPr lang="zh-CN" altLang="en-US">
                <a:sym typeface="+mn-ea"/>
              </a:rPr>
              <a:t>)。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平均情况下（随机排列）	</a:t>
            </a:r>
            <a:endParaRPr lang="zh-CN" altLang="en-US"/>
          </a:p>
          <a:p>
            <a:pPr lvl="1" algn="l">
              <a:lnSpc>
                <a:spcPct val="220000"/>
              </a:lnSpc>
              <a:buClrTx/>
              <a:buSzTx/>
            </a:pPr>
            <a:r>
              <a:rPr lang="zh-CN" altLang="en-US">
                <a:sym typeface="+mn-ea"/>
              </a:rPr>
              <a:t>比较次数：                         移动次数：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>
                <a:sym typeface="+mn-ea"/>
              </a:rPr>
              <a:t>时间复杂度为O(n</a:t>
            </a:r>
            <a:r>
              <a:rPr lang="zh-CN" altLang="en-US" baseline="30000">
                <a:sym typeface="+mn-ea"/>
              </a:rPr>
              <a:t>2</a:t>
            </a:r>
            <a:r>
              <a:rPr lang="zh-CN" altLang="en-US">
                <a:sym typeface="+mn-ea"/>
              </a:rPr>
              <a:t>)。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86598" y="3637280"/>
          <a:ext cx="162877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1100" imgH="431800" progId="Equation.KSEE3">
                  <p:embed/>
                </p:oleObj>
              </mc:Choice>
              <mc:Fallback>
                <p:oleObj r:id="rId3" imgW="11811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6598" y="3637280"/>
                        <a:ext cx="1628775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79036" y="3695065"/>
          <a:ext cx="138303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2665" imgH="431800" progId="Equation.KSEE3">
                  <p:embed/>
                </p:oleObj>
              </mc:Choice>
              <mc:Fallback>
                <p:oleObj r:id="rId5" imgW="1002665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79036" y="3695065"/>
                        <a:ext cx="138303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39621" y="5149850"/>
          <a:ext cx="152400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04900" imgH="431800" progId="Equation.KSEE3">
                  <p:embed/>
                </p:oleObj>
              </mc:Choice>
              <mc:Fallback>
                <p:oleObj r:id="rId7" imgW="11049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39621" y="5149850"/>
                        <a:ext cx="152400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04729" y="5149850"/>
          <a:ext cx="131381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52500" imgH="431800" progId="Equation.KSEE3">
                  <p:embed/>
                </p:oleObj>
              </mc:Choice>
              <mc:Fallback>
                <p:oleObj r:id="rId9" imgW="952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4729" y="5149850"/>
                        <a:ext cx="1313815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算法的性能分析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2065" marR="5233035" indent="0">
              <a:lnSpc>
                <a:spcPct val="129000"/>
              </a:lnSpc>
              <a:buNone/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空间复杂度：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O(1)</a:t>
            </a:r>
            <a:endParaRPr lang="zh-CN" altLang="en-US" dirty="0">
              <a:latin typeface="Times New Roman" panose="02020603050405020304"/>
              <a:cs typeface="Times New Roman" panose="02020603050405020304"/>
            </a:endParaRPr>
          </a:p>
          <a:p>
            <a:pPr marL="469265" marR="5080">
              <a:lnSpc>
                <a:spcPct val="100000"/>
              </a:lnSpc>
              <a:spcBef>
                <a:spcPts val="117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直接插入排序算法简单、容易实现，适用于待排序记录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本有序或待排序记录较小时。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265" marR="5080">
              <a:lnSpc>
                <a:spcPct val="100000"/>
              </a:lnSpc>
              <a:spcBef>
                <a:spcPts val="101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当待排序的记录个数较多时，大量的比较和移动操作使直 接插入排序算法的效率降低。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265" marR="5080" indent="-457200">
              <a:lnSpc>
                <a:spcPts val="3890"/>
              </a:lnSpc>
              <a:spcBef>
                <a:spcPts val="13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改进的直接插入排</a:t>
            </a:r>
            <a:r>
              <a:rPr lang="zh-CN" altLang="en-US" spc="5" dirty="0">
                <a:latin typeface="微软雅黑" panose="020B0503020204020204" pitchFamily="34" charset="-122"/>
                <a:cs typeface="微软雅黑" panose="020B0503020204020204" pitchFamily="34" charset="-122"/>
              </a:rPr>
              <a:t>序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----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折半插入排序</a:t>
            </a:r>
            <a:br>
              <a:rPr lang="en-US" altLang="zh-CN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直接插入排序，在插入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zh-CN" altLang="en-US" spc="-1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i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i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＞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）个记录时，前面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-1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i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个记录已经排好序，则在寻找插入位置时，可以用折半查找来代替顺序查找，从而较少比较次数。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希尔排序</a:t>
            </a:r>
            <a:r>
              <a:rPr lang="en-US" altLang="zh-CN" dirty="0"/>
              <a:t>----</a:t>
            </a:r>
            <a:r>
              <a:rPr lang="zh-CN" altLang="en-US" dirty="0"/>
              <a:t>分组插入排序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Donald L.Shell 1959</a:t>
            </a:r>
            <a:endParaRPr lang="zh-CN" altLang="en-US" dirty="0"/>
          </a:p>
          <a:p>
            <a:r>
              <a:rPr lang="zh-CN" altLang="en-US" dirty="0"/>
              <a:t>若待排序记录按关键字值基本有序时，直接插入排序的效 率可以大大提高； 由于直接插入排序算法简单，则在待排序记录数量</a:t>
            </a:r>
            <a:r>
              <a:rPr lang="en-US" altLang="zh-CN" dirty="0"/>
              <a:t>n</a:t>
            </a:r>
            <a:r>
              <a:rPr lang="zh-CN" altLang="en-US" dirty="0"/>
              <a:t>较小时效率也很高。</a:t>
            </a:r>
            <a:endParaRPr lang="en-US" altLang="zh-CN" dirty="0"/>
          </a:p>
          <a:p>
            <a:r>
              <a:rPr lang="zh-CN" altLang="en-US" dirty="0"/>
              <a:t>希尔排序的基本思想：将整个待排序记录分割成若干个子序列，在子序列内分别 进行直接插入排序，待整个序列中的记录基本有序时，对 全体记录进行直接插入排序。</a:t>
            </a:r>
            <a:endParaRPr lang="en-US" altLang="zh-CN" dirty="0"/>
          </a:p>
          <a:p>
            <a:r>
              <a:rPr lang="zh-CN" altLang="en-US" dirty="0"/>
              <a:t>需解决的关键问题？</a:t>
            </a:r>
            <a:endParaRPr lang="en-US" altLang="zh-CN" dirty="0"/>
          </a:p>
          <a:p>
            <a:pPr lvl="1"/>
            <a:r>
              <a:rPr lang="zh-CN" altLang="en-US" dirty="0"/>
              <a:t>分组：应如何分割待排序记录，才能保证整个序列逐步向 基本有序发展？</a:t>
            </a:r>
            <a:endParaRPr lang="en-US" altLang="zh-CN" dirty="0"/>
          </a:p>
          <a:p>
            <a:pPr lvl="1"/>
            <a:r>
              <a:rPr lang="zh-CN" altLang="en-US" dirty="0"/>
              <a:t>组内直接插入排序：子序列内如何进行直接插入排序？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希尔排序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又叫缩小增量排序</a:t>
            </a:r>
            <a:endParaRPr lang="en-US" altLang="zh-CN"/>
          </a:p>
          <a:p>
            <a:r>
              <a:rPr lang="zh-CN" altLang="en-US"/>
              <a:t>算法思想：设待排序列含</a:t>
            </a:r>
            <a:r>
              <a:rPr lang="en-US" altLang="zh-CN"/>
              <a:t>n</a:t>
            </a:r>
            <a:r>
              <a:rPr lang="zh-CN" altLang="en-US"/>
              <a:t>个元素</a:t>
            </a:r>
            <a:endParaRPr lang="en-US" altLang="zh-CN"/>
          </a:p>
          <a:p>
            <a:pPr lvl="1"/>
            <a:r>
              <a:rPr lang="zh-CN" altLang="en-US"/>
              <a:t>取整数</a:t>
            </a:r>
            <a:r>
              <a:rPr lang="en-US" altLang="zh-CN"/>
              <a:t>gap=floor(n/3)+1</a:t>
            </a:r>
            <a:r>
              <a:rPr lang="zh-CN" altLang="en-US"/>
              <a:t>，将每隔</a:t>
            </a:r>
            <a:r>
              <a:rPr lang="en-US" altLang="zh-CN"/>
              <a:t>gap</a:t>
            </a:r>
            <a:r>
              <a:rPr lang="zh-CN" altLang="en-US"/>
              <a:t>的元素放在一个子序列中，对子序列插入排序</a:t>
            </a:r>
            <a:endParaRPr lang="en-US" altLang="zh-CN"/>
          </a:p>
          <a:p>
            <a:pPr lvl="1"/>
            <a:r>
              <a:rPr lang="zh-CN" altLang="en-US"/>
              <a:t>然后缩小间隔，令</a:t>
            </a:r>
            <a:r>
              <a:rPr lang="en-US" altLang="zh-CN"/>
              <a:t>gap=floor(gap/3)+1</a:t>
            </a:r>
            <a:r>
              <a:rPr lang="zh-CN" altLang="en-US"/>
              <a:t>，对新的子序列插入排序</a:t>
            </a:r>
            <a:endParaRPr lang="en-US" altLang="zh-CN"/>
          </a:p>
          <a:p>
            <a:pPr lvl="1"/>
            <a:r>
              <a:rPr lang="zh-CN" altLang="en-US"/>
              <a:t>重复上述过程，直至</a:t>
            </a:r>
            <a:r>
              <a:rPr lang="en-US" altLang="zh-CN"/>
              <a:t>gap=1</a:t>
            </a:r>
            <a:r>
              <a:rPr lang="zh-CN" altLang="en-US"/>
              <a:t>时最后执行一次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442861" y="1220215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E0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664" y="1152207"/>
            <a:ext cx="278257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40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示例：缩小增量排序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0537" y="1859152"/>
            <a:ext cx="5334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70525" y="1859152"/>
            <a:ext cx="533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46159" y="1859152"/>
            <a:ext cx="533400" cy="53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13493" y="1859152"/>
            <a:ext cx="53340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94543" y="1859152"/>
            <a:ext cx="533400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37493" y="1859152"/>
            <a:ext cx="533400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85393" y="1853819"/>
            <a:ext cx="533400" cy="533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51575" y="1853819"/>
            <a:ext cx="533400" cy="5334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62633" y="1860676"/>
            <a:ext cx="533387" cy="533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43011" y="2473325"/>
            <a:ext cx="533400" cy="533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53011" y="2473325"/>
            <a:ext cx="533387" cy="5333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28633" y="2473325"/>
            <a:ext cx="533399" cy="533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5967" y="2473325"/>
            <a:ext cx="533400" cy="5334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77017" y="2473325"/>
            <a:ext cx="533400" cy="5334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19967" y="2473325"/>
            <a:ext cx="533400" cy="5334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67867" y="2468752"/>
            <a:ext cx="533400" cy="53339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34048" y="2468752"/>
            <a:ext cx="533400" cy="53339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48917" y="2461895"/>
            <a:ext cx="533400" cy="53339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727079" y="1514930"/>
            <a:ext cx="6485890" cy="146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333365" algn="l"/>
                <a:tab pos="6095365" algn="l"/>
              </a:tabLst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1	2	3	4	5	6	7	8	9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 algn="ctr">
              <a:lnSpc>
                <a:spcPct val="100000"/>
              </a:lnSpc>
              <a:spcBef>
                <a:spcPts val="805"/>
              </a:spcBef>
              <a:tabLst>
                <a:tab pos="803275" algn="l"/>
                <a:tab pos="1570355" algn="l"/>
                <a:tab pos="2292350" algn="l"/>
                <a:tab pos="3094355" algn="l"/>
                <a:tab pos="3827145" algn="l"/>
                <a:tab pos="4608195" algn="l"/>
                <a:tab pos="5342255" algn="l"/>
                <a:tab pos="612013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25	49	25*	16	21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30	</a:t>
            </a: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R="6350" algn="ctr">
              <a:lnSpc>
                <a:spcPct val="100000"/>
              </a:lnSpc>
              <a:spcBef>
                <a:spcPts val="1950"/>
              </a:spcBef>
              <a:tabLst>
                <a:tab pos="786130" algn="l"/>
                <a:tab pos="1552575" algn="l"/>
                <a:tab pos="2275205" algn="l"/>
                <a:tab pos="3076575" algn="l"/>
                <a:tab pos="3809365" algn="l"/>
                <a:tab pos="4590415" algn="l"/>
                <a:tab pos="5324475" algn="l"/>
                <a:tab pos="610552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25	49	25*	16	21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30	</a:t>
            </a:r>
            <a:r>
              <a:rPr sz="3600" b="1" baseline="2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605" y="2002853"/>
            <a:ext cx="1250950" cy="965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初始序列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8275">
              <a:lnSpc>
                <a:spcPct val="100000"/>
              </a:lnSpc>
              <a:spcBef>
                <a:spcPts val="1770"/>
              </a:spcBef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49963" y="3153029"/>
            <a:ext cx="533387" cy="5334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25585" y="3153029"/>
            <a:ext cx="533399" cy="5334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73969" y="3153029"/>
            <a:ext cx="533400" cy="5334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64819" y="3147695"/>
            <a:ext cx="533400" cy="5334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92919" y="3153029"/>
            <a:ext cx="533400" cy="5334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31001" y="3147695"/>
            <a:ext cx="533400" cy="5334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39963" y="3153029"/>
            <a:ext cx="533400" cy="5334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716919" y="3153029"/>
            <a:ext cx="533400" cy="5334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724031" y="3273583"/>
            <a:ext cx="417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	21	08	25*	16	25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45869" y="3141598"/>
            <a:ext cx="533400" cy="5334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315081" y="3262915"/>
            <a:ext cx="188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6125" algn="l"/>
                <a:tab pos="152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	30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6053" y="3956530"/>
            <a:ext cx="6731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646059" y="3873119"/>
            <a:ext cx="533400" cy="5334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456059" y="3873119"/>
            <a:ext cx="533387" cy="5334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32443" y="3873119"/>
            <a:ext cx="533399" cy="53340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99015" y="3873119"/>
            <a:ext cx="533400" cy="5334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80065" y="3873119"/>
            <a:ext cx="533400" cy="53340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3015" y="3873119"/>
            <a:ext cx="533400" cy="5334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970915" y="3868546"/>
            <a:ext cx="533400" cy="5334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237096" y="3868546"/>
            <a:ext cx="533400" cy="53340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751965" y="3862451"/>
            <a:ext cx="533400" cy="53340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730889" y="3983766"/>
            <a:ext cx="647065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4640" algn="l"/>
                <a:tab pos="2286635" algn="l"/>
                <a:tab pos="3088640" algn="l"/>
                <a:tab pos="3822065" algn="l"/>
                <a:tab pos="4603115" algn="l"/>
                <a:tab pos="5336540" algn="l"/>
                <a:tab pos="611759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	21	08	25*	16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	30	</a:t>
            </a:r>
            <a:r>
              <a:rPr sz="3600" b="1" baseline="2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449963" y="4503292"/>
            <a:ext cx="533387" cy="53340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25585" y="4503292"/>
            <a:ext cx="533399" cy="5334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73969" y="4503292"/>
            <a:ext cx="533400" cy="5334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964819" y="4498721"/>
            <a:ext cx="533400" cy="5334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39963" y="4503292"/>
            <a:ext cx="533400" cy="53340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92919" y="4503292"/>
            <a:ext cx="533400" cy="5334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716919" y="4503292"/>
            <a:ext cx="533400" cy="5334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231001" y="4498721"/>
            <a:ext cx="533400" cy="5334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724031" y="4620036"/>
            <a:ext cx="569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  <a:tab pos="4603115" algn="l"/>
                <a:tab pos="533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21	13	25*	16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30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45869" y="4492625"/>
            <a:ext cx="533400" cy="53340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829937" y="4613941"/>
            <a:ext cx="36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6053" y="5261836"/>
            <a:ext cx="6731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639963" y="5134228"/>
            <a:ext cx="533400" cy="53340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49963" y="5134228"/>
            <a:ext cx="533387" cy="53340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425585" y="5134228"/>
            <a:ext cx="533399" cy="53340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192919" y="5134228"/>
            <a:ext cx="533400" cy="5334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973969" y="5134228"/>
            <a:ext cx="533400" cy="53340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716919" y="5134228"/>
            <a:ext cx="533400" cy="53340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724031" y="5254783"/>
            <a:ext cx="417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21	13	25*	16	25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964819" y="5128895"/>
            <a:ext cx="533400" cy="53340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31001" y="5128895"/>
            <a:ext cx="533400" cy="53340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745869" y="5122798"/>
            <a:ext cx="533400" cy="5334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315081" y="5244115"/>
            <a:ext cx="188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6125" algn="l"/>
                <a:tab pos="152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30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46059" y="5788025"/>
            <a:ext cx="533400" cy="533400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456059" y="5788025"/>
            <a:ext cx="533387" cy="533400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432443" y="5788025"/>
            <a:ext cx="533400" cy="53340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199015" y="5788025"/>
            <a:ext cx="533400" cy="533400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980065" y="5788025"/>
            <a:ext cx="533400" cy="533400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723015" y="5788025"/>
            <a:ext cx="533400" cy="533400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970915" y="5783452"/>
            <a:ext cx="533400" cy="533400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237096" y="5783452"/>
            <a:ext cx="533400" cy="533400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1730889" y="5904007"/>
            <a:ext cx="56896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4640" algn="l"/>
                <a:tab pos="2345690" algn="l"/>
                <a:tab pos="3029585" algn="l"/>
                <a:tab pos="3822065" algn="l"/>
                <a:tab pos="4603115" algn="l"/>
                <a:tab pos="533654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13	16	21	25*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30	40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751965" y="5776595"/>
            <a:ext cx="533400" cy="53340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836033" y="5897909"/>
            <a:ext cx="36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算法实现</a:t>
            </a:r>
          </a:p>
        </p:txBody>
      </p:sp>
      <p:sp>
        <p:nvSpPr>
          <p:cNvPr id="4" name="矩形 3"/>
          <p:cNvSpPr/>
          <p:nvPr/>
        </p:nvSpPr>
        <p:spPr>
          <a:xfrm>
            <a:off x="-662152" y="2064582"/>
            <a:ext cx="98061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ShellSort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kern="0" dirty="0" err="1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n, List A)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b="1" kern="0" dirty="0" err="1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j, d;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(d = n / 2; d &gt;= 1; d = d / 2)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d + 1;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&lt;= n;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++) { </a:t>
            </a:r>
            <a:b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将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A[</a:t>
            </a:r>
            <a:r>
              <a:rPr lang="en-US" altLang="zh-CN" kern="0" dirty="0" err="1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插入到所属的子序列中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A[0].key = A[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].key;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暂存待插入记录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j =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- d;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j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指向所属子序列的最后一个记录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(j &gt; 0 &amp;&amp; A[0].key &lt; A[j].key)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	A[j + d] = A[j];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记录后移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个位置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	j = j - d;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比较同一子序列的前一个记录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A[j + d] = A[0];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Shell</a:t>
            </a:r>
            <a:r>
              <a:rPr lang="zh-CN" altLang="en-US"/>
              <a:t>排序例</a:t>
            </a:r>
          </a:p>
        </p:txBody>
      </p:sp>
      <p:pic>
        <p:nvPicPr>
          <p:cNvPr id="49155" name="Picture 4" descr="8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823325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Shell</a:t>
            </a:r>
            <a:r>
              <a:rPr lang="zh-CN" altLang="en-US"/>
              <a:t>排序例（续）</a:t>
            </a:r>
          </a:p>
        </p:txBody>
      </p:sp>
      <p:pic>
        <p:nvPicPr>
          <p:cNvPr id="50179" name="Picture 4" descr="8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01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希尔排序开始时增量较大，每个子序列中的记录个数较少，从而排序速度较快；当增量较小时，虽然每个子序列中记录个数较多，但整个序列已基本有序，排序速度也较快。</a:t>
            </a:r>
          </a:p>
          <a:p>
            <a:r>
              <a:rPr lang="zh-CN" altLang="en-US"/>
              <a:t>希尔排序算法的时间性能是所取增量的函数，而到目前为 止尚未有人求得一种最好的增量序列。</a:t>
            </a:r>
          </a:p>
          <a:p>
            <a:r>
              <a:rPr lang="zh-CN" altLang="en-US"/>
              <a:t>研究表明，希尔排序的时间性能在O(n</a:t>
            </a:r>
            <a:r>
              <a:rPr lang="zh-CN" altLang="en-US" baseline="30000"/>
              <a:t>2</a:t>
            </a:r>
            <a:r>
              <a:rPr lang="zh-CN" altLang="en-US"/>
              <a:t>)和O(nlog</a:t>
            </a:r>
            <a:r>
              <a:rPr lang="zh-CN" altLang="en-US" baseline="-25000"/>
              <a:t>2</a:t>
            </a:r>
            <a:r>
              <a:rPr lang="zh-CN" altLang="en-US"/>
              <a:t>n)之间 当n在某个特定范围内，希尔排序所需的比较次数和记录 的移动次数约为O(n</a:t>
            </a:r>
            <a:r>
              <a:rPr lang="zh-CN" altLang="en-US" baseline="30000"/>
              <a:t>1.3</a:t>
            </a:r>
            <a:r>
              <a:rPr lang="zh-CN" altLang="en-US"/>
              <a:t>  ) 。</a:t>
            </a:r>
          </a:p>
        </p:txBody>
      </p:sp>
      <p:sp>
        <p:nvSpPr>
          <p:cNvPr id="4" name="object 13"/>
          <p:cNvSpPr txBox="1"/>
          <p:nvPr/>
        </p:nvSpPr>
        <p:spPr>
          <a:xfrm>
            <a:off x="628650" y="1866190"/>
            <a:ext cx="81407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5460" marR="5080" indent="-342900">
              <a:spcBef>
                <a:spcPts val="1170"/>
              </a:spcBef>
              <a:buFont typeface="Arial" panose="020B0604020202020204" pitchFamily="34" charset="0"/>
              <a:buChar char="•"/>
            </a:pP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归并排序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外排序</a:t>
            </a: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归并排序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考虑用分治方法解决排序问题</a:t>
            </a:r>
          </a:p>
          <a:p>
            <a:pPr lvl="1"/>
            <a:r>
              <a:rPr lang="zh-CN" altLang="en-US"/>
              <a:t>原子问题</a:t>
            </a:r>
            <a:r>
              <a:rPr lang="en-US" altLang="zh-CN"/>
              <a:t>——n=1</a:t>
            </a:r>
          </a:p>
          <a:p>
            <a:pPr lvl="1"/>
            <a:r>
              <a:rPr lang="zh-CN" altLang="en-US"/>
              <a:t>分解方法一</a:t>
            </a:r>
          </a:p>
          <a:p>
            <a:pPr lvl="2"/>
            <a:r>
              <a:rPr lang="zh-CN" altLang="en-US"/>
              <a:t>前</a:t>
            </a:r>
            <a:r>
              <a:rPr lang="en-US" altLang="zh-CN"/>
              <a:t>n-1</a:t>
            </a:r>
            <a:r>
              <a:rPr lang="zh-CN" altLang="en-US"/>
              <a:t>个元素为集合</a:t>
            </a:r>
            <a:r>
              <a:rPr lang="en-US" altLang="zh-CN"/>
              <a:t>A</a:t>
            </a:r>
            <a:r>
              <a:rPr lang="zh-CN" altLang="en-US"/>
              <a:t>，最后一个为集合</a:t>
            </a:r>
            <a:r>
              <a:rPr lang="en-US" altLang="zh-CN"/>
              <a:t>B</a:t>
            </a:r>
          </a:p>
          <a:p>
            <a:pPr lvl="2"/>
            <a:r>
              <a:rPr lang="zh-CN" altLang="en-US"/>
              <a:t>对</a:t>
            </a:r>
            <a:r>
              <a:rPr lang="en-US" altLang="zh-CN"/>
              <a:t>A</a:t>
            </a:r>
            <a:r>
              <a:rPr lang="zh-CN" altLang="en-US"/>
              <a:t>递归地使用分治方法进行排序，</a:t>
            </a:r>
            <a:r>
              <a:rPr lang="en-US" altLang="zh-CN"/>
              <a:t>B</a:t>
            </a:r>
            <a:r>
              <a:rPr lang="zh-CN" altLang="en-US"/>
              <a:t>自然有序</a:t>
            </a:r>
          </a:p>
          <a:p>
            <a:pPr lvl="2"/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合并</a:t>
            </a:r>
            <a:r>
              <a:rPr lang="en-US" altLang="zh-CN"/>
              <a:t>——</a:t>
            </a:r>
          </a:p>
        </p:txBody>
      </p:sp>
      <p:sp>
        <p:nvSpPr>
          <p:cNvPr id="1636356" name="Rectangle 4"/>
          <p:cNvSpPr>
            <a:spLocks noChangeArrowheads="1"/>
          </p:cNvSpPr>
          <p:nvPr/>
        </p:nvSpPr>
        <p:spPr bwMode="ltGray">
          <a:xfrm>
            <a:off x="4343400" y="3857625"/>
            <a:ext cx="1173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插入排序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6356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简单分治排序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/>
              <a:t>分解方法二</a:t>
            </a:r>
          </a:p>
          <a:p>
            <a:pPr lvl="2"/>
            <a:r>
              <a:rPr lang="zh-CN" altLang="en-US"/>
              <a:t>选出最大的元素作为</a:t>
            </a:r>
            <a:r>
              <a:rPr lang="en-US" altLang="zh-CN"/>
              <a:t>B</a:t>
            </a:r>
            <a:r>
              <a:rPr lang="zh-CN" altLang="en-US"/>
              <a:t>，剩余的作为</a:t>
            </a:r>
            <a:r>
              <a:rPr lang="en-US" altLang="zh-CN"/>
              <a:t>A</a:t>
            </a:r>
          </a:p>
          <a:p>
            <a:pPr lvl="2"/>
            <a:r>
              <a:rPr lang="zh-CN" altLang="en-US"/>
              <a:t>对</a:t>
            </a:r>
            <a:r>
              <a:rPr lang="en-US" altLang="zh-CN"/>
              <a:t>A</a:t>
            </a:r>
            <a:r>
              <a:rPr lang="zh-CN" altLang="en-US"/>
              <a:t>递归地进行排序</a:t>
            </a:r>
          </a:p>
          <a:p>
            <a:pPr lvl="2"/>
            <a:r>
              <a:rPr lang="zh-CN" altLang="en-US"/>
              <a:t>无需合并</a:t>
            </a:r>
            <a:r>
              <a:rPr lang="en-US" altLang="zh-CN"/>
              <a:t>——</a:t>
            </a:r>
          </a:p>
          <a:p>
            <a:r>
              <a:rPr lang="zh-CN" altLang="en-US"/>
              <a:t>性能差</a:t>
            </a:r>
            <a:r>
              <a:rPr lang="en-US" altLang="zh-CN"/>
              <a:t>——</a:t>
            </a:r>
            <a:r>
              <a:rPr lang="zh-CN" altLang="en-US"/>
              <a:t>划分不平衡</a:t>
            </a:r>
          </a:p>
        </p:txBody>
      </p:sp>
      <p:sp>
        <p:nvSpPr>
          <p:cNvPr id="1705988" name="Rectangle 4"/>
          <p:cNvSpPr>
            <a:spLocks noChangeArrowheads="1"/>
          </p:cNvSpPr>
          <p:nvPr/>
        </p:nvSpPr>
        <p:spPr bwMode="ltGray">
          <a:xfrm>
            <a:off x="3426372" y="3777456"/>
            <a:ext cx="1325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选择排序！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598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平衡划分</a:t>
            </a:r>
            <a:r>
              <a:rPr lang="en-US" altLang="zh-CN"/>
              <a:t>——</a:t>
            </a:r>
            <a:r>
              <a:rPr lang="zh-CN" altLang="en-US"/>
              <a:t>归并排序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A——n/k</a:t>
            </a:r>
            <a:r>
              <a:rPr lang="zh-CN" altLang="en-US"/>
              <a:t>个元素，</a:t>
            </a:r>
            <a:r>
              <a:rPr lang="en-US" altLang="zh-CN"/>
              <a:t>B——n - n/k</a:t>
            </a:r>
            <a:r>
              <a:rPr lang="zh-CN" altLang="en-US"/>
              <a:t>个元素</a:t>
            </a:r>
          </a:p>
          <a:p>
            <a:r>
              <a:rPr lang="en-US" altLang="zh-CN"/>
              <a:t>k=2</a:t>
            </a:r>
            <a:r>
              <a:rPr lang="zh-CN" altLang="en-US"/>
              <a:t>时，均匀划分</a:t>
            </a:r>
          </a:p>
          <a:p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排序完成后，合并（</a:t>
            </a:r>
            <a:r>
              <a:rPr lang="en-US" altLang="zh-CN">
                <a:solidFill>
                  <a:schemeClr val="hlink"/>
                </a:solidFill>
              </a:rPr>
              <a:t>merge</a:t>
            </a:r>
            <a:r>
              <a:rPr lang="zh-CN" altLang="en-US"/>
              <a:t>）它们</a:t>
            </a: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思想</a:t>
            </a:r>
            <a:endParaRPr lang="en-US" altLang="zh-CN"/>
          </a:p>
          <a:p>
            <a:pPr lvl="1" eaLnBrk="1" hangingPunct="1"/>
            <a:r>
              <a:rPr lang="zh-CN" altLang="en-US"/>
              <a:t>对于一个需要排序的数组</a:t>
            </a:r>
            <a:r>
              <a:rPr lang="en-US" altLang="zh-CN"/>
              <a:t>A[0…n-1]</a:t>
            </a:r>
            <a:r>
              <a:rPr lang="zh-CN" altLang="en-US"/>
              <a:t>，把它一分为二：</a:t>
            </a:r>
            <a:r>
              <a:rPr lang="en-US" altLang="zh-CN"/>
              <a:t> A[0…n/2-1]</a:t>
            </a:r>
            <a:r>
              <a:rPr lang="zh-CN" altLang="en-US"/>
              <a:t>和</a:t>
            </a:r>
            <a:r>
              <a:rPr lang="en-US" altLang="zh-CN"/>
              <a:t>A[n/2…n-1]</a:t>
            </a:r>
            <a:r>
              <a:rPr lang="zh-CN" altLang="en-US"/>
              <a:t>，并对每个子数组递归排序</a:t>
            </a:r>
            <a:endParaRPr lang="en-US" altLang="zh-CN"/>
          </a:p>
          <a:p>
            <a:pPr lvl="1" eaLnBrk="1" hangingPunct="1"/>
            <a:r>
              <a:rPr lang="zh-CN" altLang="en-US"/>
              <a:t>然后把这两个排好序的子数组合并为一个有序数组</a:t>
            </a:r>
            <a:endParaRPr lang="en-US" altLang="zh-CN"/>
          </a:p>
        </p:txBody>
      </p:sp>
      <p:sp>
        <p:nvSpPr>
          <p:cNvPr id="317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归并排序</a:t>
            </a:r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//Mergesort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if n&gt;1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copy A[0…n/2-1] to B[0…n/2-1]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copy A[n/2…n-1] to C[0…n/2-1]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Mergesort(B[0…n/2-1])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Mergesort(C[0…n/2-1])</a:t>
            </a:r>
            <a:endParaRPr lang="zh-CN" altLang="en-US" sz="200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/>
              <a:t>	Merge(B,C,A)</a:t>
            </a:r>
            <a:endParaRPr lang="zh-CN" altLang="en-US" sz="2000"/>
          </a:p>
        </p:txBody>
      </p:sp>
      <p:sp>
        <p:nvSpPr>
          <p:cNvPr id="10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</a:t>
            </a:r>
          </a:p>
        </p:txBody>
      </p:sp>
      <p:sp>
        <p:nvSpPr>
          <p:cNvPr id="1029" name="TextBox 5"/>
          <p:cNvSpPr txBox="1">
            <a:spLocks noChangeArrowheads="1"/>
          </p:cNvSpPr>
          <p:nvPr/>
        </p:nvSpPr>
        <p:spPr bwMode="auto">
          <a:xfrm>
            <a:off x="4562475" y="3902075"/>
            <a:ext cx="39846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ea typeface="黑体" panose="02010609060101010101" charset="-122"/>
              </a:rPr>
              <a:t>时间代价较小，空间消耗较多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803525" y="4759325"/>
          <a:ext cx="28892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8830" imgH="165100" progId="Equation.3">
                  <p:embed/>
                </p:oleObj>
              </mc:Choice>
              <mc:Fallback>
                <p:oleObj name="Equation" r:id="rId3" imgW="798830" imgH="165100" progId="Equation.3">
                  <p:embed/>
                  <p:pic>
                    <p:nvPicPr>
                      <p:cNvPr id="0" name="图片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4759325"/>
                        <a:ext cx="2889250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思想</a:t>
            </a:r>
            <a:endParaRPr lang="en-US" altLang="zh-CN"/>
          </a:p>
          <a:p>
            <a:pPr lvl="1" eaLnBrk="1" hangingPunct="1"/>
            <a:r>
              <a:rPr lang="zh-CN" altLang="en-US"/>
              <a:t>对两个有序数组的合并</a:t>
            </a:r>
            <a:endParaRPr lang="en-US" altLang="zh-CN"/>
          </a:p>
          <a:p>
            <a:pPr lvl="1" eaLnBrk="1" hangingPunct="1"/>
            <a:r>
              <a:rPr lang="zh-CN" altLang="en-US"/>
              <a:t>初始状态下，关注两个待合并数组的第一个元素</a:t>
            </a:r>
            <a:endParaRPr lang="en-US" altLang="zh-CN"/>
          </a:p>
          <a:p>
            <a:pPr lvl="1" eaLnBrk="1" hangingPunct="1"/>
            <a:r>
              <a:rPr lang="zh-CN" altLang="en-US"/>
              <a:t>然后比较这两个元素的大小，将较小的元素添加到一个新创建的数组中</a:t>
            </a:r>
            <a:endParaRPr lang="en-US" altLang="zh-CN"/>
          </a:p>
          <a:p>
            <a:pPr lvl="1" eaLnBrk="1" hangingPunct="1"/>
            <a:r>
              <a:rPr lang="zh-CN" altLang="en-US"/>
              <a:t>接着被复制数组中的下标后移，指向该较小元素的后继元素</a:t>
            </a:r>
            <a:endParaRPr lang="en-US" altLang="zh-CN"/>
          </a:p>
          <a:p>
            <a:pPr lvl="1" eaLnBrk="1" hangingPunct="1"/>
            <a:r>
              <a:rPr lang="zh-CN" altLang="en-US"/>
              <a:t>上述操作一直持续到两个数组中的一个被处理完为止</a:t>
            </a:r>
            <a:endParaRPr lang="en-US" altLang="zh-CN"/>
          </a:p>
          <a:p>
            <a:pPr lvl="1" eaLnBrk="1" hangingPunct="1"/>
            <a:r>
              <a:rPr lang="zh-CN" altLang="en-US"/>
              <a:t>然后在未处理完的数组中，剩下的元素被复制到新数组的尾部</a:t>
            </a:r>
          </a:p>
        </p:txBody>
      </p:sp>
      <p:sp>
        <p:nvSpPr>
          <p:cNvPr id="3277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Merge</a:t>
            </a:r>
            <a:r>
              <a:rPr lang="zh-CN" altLang="en-US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457200" y="1346200"/>
            <a:ext cx="8229600" cy="4953000"/>
          </a:xfrm>
        </p:spPr>
        <p:txBody>
          <a:bodyPr>
            <a:normAutofit lnSpcReduction="10000"/>
          </a:bodyPr>
          <a:lstStyle/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</a:rPr>
              <a:t>//Merge(B[0…p-1],C[0…q-1],A[0…p+q-1])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</a:rPr>
              <a:t>i</a:t>
            </a: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0,j0,k0</a:t>
            </a:r>
            <a:endParaRPr lang="en-US" altLang="zh-CN" sz="1700">
              <a:latin typeface="Verdana" panose="020B0604030504040204" pitchFamily="34" charset="0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</a:rPr>
              <a:t>while i&lt;p and j&lt;q do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</a:rPr>
              <a:t>	if B[i]&lt;=C[j]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</a:rPr>
              <a:t>		A[k]</a:t>
            </a: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B[i]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	ii+1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else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	A[k]C[j]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	jj+1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kk+1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if i=p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copy C[j…q-1] to A[k…p+q-1]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else</a:t>
            </a: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>
                <a:latin typeface="Verdana" panose="020B0604030504040204" pitchFamily="34" charset="0"/>
                <a:sym typeface="Wingdings" panose="05000000000000000000" pitchFamily="2" charset="2"/>
              </a:rPr>
              <a:t>	copy B[i…p-1] to A[k…p+q-1]</a:t>
            </a:r>
            <a:endParaRPr lang="zh-CN" altLang="en-US" sz="1700">
              <a:latin typeface="Verdana" panose="020B0604030504040204" pitchFamily="34" charset="0"/>
            </a:endParaRPr>
          </a:p>
        </p:txBody>
      </p:sp>
      <p:sp>
        <p:nvSpPr>
          <p:cNvPr id="337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Merge</a:t>
            </a:r>
            <a:r>
              <a:rPr lang="zh-CN" altLang="en-US"/>
              <a:t>算法描述</a:t>
            </a:r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48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算法演示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98" y="419100"/>
            <a:ext cx="7126287" cy="614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有</a:t>
            </a:r>
            <a:r>
              <a:rPr lang="en-US" altLang="zh-CN"/>
              <a:t>8</a:t>
            </a:r>
            <a:r>
              <a:rPr lang="zh-CN" altLang="en-US"/>
              <a:t>个关键字</a:t>
            </a:r>
            <a:r>
              <a:rPr lang="en-US" altLang="zh-CN"/>
              <a:t>8,3,2,9,7,1,5,4</a:t>
            </a:r>
            <a:r>
              <a:rPr lang="zh-CN" altLang="en-US"/>
              <a:t>，使用归并排序方法将其排列为升序序列，给出排序过程</a:t>
            </a:r>
            <a:endParaRPr lang="en-US" altLang="zh-CN"/>
          </a:p>
          <a:p>
            <a:pPr>
              <a:buFontTx/>
              <a:buNone/>
            </a:pPr>
            <a:r>
              <a:rPr lang="zh-CN" altLang="en-US"/>
              <a:t>解：</a:t>
            </a:r>
            <a:endParaRPr lang="en-US" altLang="zh-CN"/>
          </a:p>
          <a:p>
            <a:pPr>
              <a:buFontTx/>
              <a:buNone/>
            </a:pPr>
            <a:r>
              <a:rPr lang="zh-CN" altLang="en-US"/>
              <a:t>初  始：</a:t>
            </a:r>
            <a:r>
              <a:rPr lang="en-US" altLang="zh-CN"/>
              <a:t> 8, 3, 2, 9, 7, 1, 5, 4</a:t>
            </a:r>
          </a:p>
          <a:p>
            <a:pPr>
              <a:buFontTx/>
              <a:buNone/>
            </a:pPr>
            <a:r>
              <a:rPr lang="zh-CN" altLang="en-US"/>
              <a:t>第一趟： </a:t>
            </a:r>
            <a:r>
              <a:rPr lang="en-US" altLang="zh-CN"/>
              <a:t>3, 8, 2, 9, 1, 7, 4, 5</a:t>
            </a:r>
          </a:p>
          <a:p>
            <a:pPr>
              <a:buFontTx/>
              <a:buNone/>
            </a:pPr>
            <a:r>
              <a:rPr lang="zh-CN" altLang="en-US"/>
              <a:t>第二趟： </a:t>
            </a:r>
            <a:r>
              <a:rPr lang="en-US" altLang="zh-CN"/>
              <a:t>2, 3, 8, 9, 1, 4, 5, 7</a:t>
            </a:r>
          </a:p>
          <a:p>
            <a:pPr>
              <a:buFontTx/>
              <a:buNone/>
            </a:pPr>
            <a:r>
              <a:rPr lang="zh-CN" altLang="en-US"/>
              <a:t>第三趟： </a:t>
            </a:r>
            <a:r>
              <a:rPr lang="en-US" altLang="zh-CN"/>
              <a:t>1, 2, 3, 4, 5, 7, 8, 9</a:t>
            </a:r>
          </a:p>
          <a:p>
            <a:pPr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排序结束。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自然归并排序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hlink"/>
                </a:solidFill>
              </a:rPr>
              <a:t>natural merge sort</a:t>
            </a:r>
          </a:p>
          <a:p>
            <a:r>
              <a:rPr lang="zh-CN" altLang="en-US"/>
              <a:t>进一步改进：若原始序列中存在有序子序列，则不进行分解</a:t>
            </a:r>
          </a:p>
          <a:p>
            <a:r>
              <a:rPr lang="en-US" altLang="zh-CN"/>
              <a:t>[4, 8, 3, 7, 1, 5, 6, 2]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[4, 8], [3, 7], [1, 5, 6], [2]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[3, 4, 7, 8], [1, 2, 5, 6]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[1, 2, 3, 4, 5, 6, 7, 8]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时间复杂度比较</a:t>
            </a:r>
          </a:p>
        </p:txBody>
      </p:sp>
      <p:pic>
        <p:nvPicPr>
          <p:cNvPr id="55300" name="Picture 4" descr="compar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863" y="1814513"/>
            <a:ext cx="7369175" cy="2573337"/>
          </a:xfrm>
          <a:noFill/>
        </p:spPr>
      </p:pic>
      <p:sp>
        <p:nvSpPr>
          <p:cNvPr id="55301" name="圆角矩形 5"/>
          <p:cNvSpPr>
            <a:spLocks noChangeArrowheads="1"/>
          </p:cNvSpPr>
          <p:nvPr/>
        </p:nvSpPr>
        <p:spPr bwMode="auto">
          <a:xfrm>
            <a:off x="4033838" y="3967163"/>
            <a:ext cx="896937" cy="35877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8" name="直接箭头连接符 7"/>
          <p:cNvCxnSpPr/>
          <p:nvPr/>
        </p:nvCxnSpPr>
        <p:spPr bwMode="auto">
          <a:xfrm rot="5400000">
            <a:off x="3675063" y="4325938"/>
            <a:ext cx="538162" cy="53816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03" name="TextBox 8"/>
          <p:cNvSpPr txBox="1">
            <a:spLocks noChangeArrowheads="1"/>
          </p:cNvSpPr>
          <p:nvPr/>
        </p:nvSpPr>
        <p:spPr bwMode="auto">
          <a:xfrm>
            <a:off x="3188970" y="4864100"/>
            <a:ext cx="94424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</a:rPr>
              <a:t>pivot?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部分结论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）平均来看，快排最优，但若初始序列有序，则快排性能降至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zh-CN" altLang="en-US"/>
              <a:t>级。使用三平均选中轴法可避免最差情况，结合插入排序效果更好。</a:t>
            </a:r>
            <a:endParaRPr lang="en-US" altLang="zh-CN"/>
          </a:p>
          <a:p>
            <a:pPr>
              <a:buFontTx/>
              <a:buNone/>
            </a:pPr>
            <a:endParaRPr lang="en-US" altLang="zh-CN"/>
          </a:p>
          <a:p>
            <a:pPr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）插入、选择、冒泡都属“简单排序”，复杂度是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zh-CN" altLang="en-US"/>
              <a:t>，它们中间当待排序列基本有序或</a:t>
            </a:r>
            <a:r>
              <a:rPr lang="en-US" altLang="zh-CN"/>
              <a:t>n</a:t>
            </a:r>
            <a:r>
              <a:rPr lang="zh-CN" altLang="en-US"/>
              <a:t>较小时，插入排序更好。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部分结论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）稳定排序算法有：插入、冒泡、归并、基数</a:t>
            </a:r>
            <a:endParaRPr lang="en-US" altLang="zh-CN"/>
          </a:p>
          <a:p>
            <a:pPr>
              <a:buFontTx/>
              <a:buNone/>
            </a:pPr>
            <a:endParaRPr lang="en-US" altLang="zh-CN"/>
          </a:p>
          <a:p>
            <a:pPr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）不稳定排序算法有：简单选择、希尔、快速、堆排序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对排序算法应该从以下几个方面综合考虑：</a:t>
            </a:r>
          </a:p>
          <a:p>
            <a:pPr marL="457200" lvl="1" indent="0">
              <a:buNone/>
            </a:pPr>
            <a:r>
              <a:rPr lang="zh-CN" altLang="en-US"/>
              <a:t>⑴时间复杂度；</a:t>
            </a:r>
          </a:p>
          <a:p>
            <a:pPr marL="457200" lvl="1" indent="0">
              <a:buNone/>
            </a:pPr>
            <a:r>
              <a:rPr lang="zh-CN" altLang="en-US"/>
              <a:t>⑵空间复杂度；</a:t>
            </a:r>
          </a:p>
          <a:p>
            <a:pPr marL="457200" lvl="1" indent="0">
              <a:buNone/>
            </a:pPr>
            <a:r>
              <a:rPr lang="zh-CN" altLang="en-US"/>
              <a:t>⑶稳定性；</a:t>
            </a:r>
          </a:p>
          <a:p>
            <a:pPr marL="457200" lvl="1" indent="0">
              <a:buNone/>
            </a:pPr>
            <a:r>
              <a:rPr lang="zh-CN" altLang="en-US"/>
              <a:t>⑷算法简单性；</a:t>
            </a:r>
          </a:p>
          <a:p>
            <a:pPr marL="457200" lvl="1" indent="0">
              <a:buNone/>
            </a:pPr>
            <a:r>
              <a:rPr lang="zh-CN" altLang="en-US"/>
              <a:t>⑸待排序记录个数n的大小；</a:t>
            </a:r>
          </a:p>
          <a:p>
            <a:pPr marL="457200" lvl="1" indent="0">
              <a:buNone/>
            </a:pPr>
            <a:r>
              <a:rPr lang="zh-CN" altLang="en-US"/>
              <a:t>⑹记录本身信息量的大小；</a:t>
            </a:r>
          </a:p>
          <a:p>
            <a:pPr marL="457200" lvl="1" indent="0">
              <a:buNone/>
            </a:pPr>
            <a:r>
              <a:rPr lang="zh-CN" altLang="en-US"/>
              <a:t>⑺关键字值的分布情况。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graphicFrame>
        <p:nvGraphicFramePr>
          <p:cNvPr id="4" name="object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37946" y="1576450"/>
          <a:ext cx="7769344" cy="5215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2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5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16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平均情况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最好情况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最坏情况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54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希尔排序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1.</a:t>
                      </a:r>
                      <a:r>
                        <a:rPr sz="2400" b="1" spc="-7" baseline="240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7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快速排序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512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 err="1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归并排序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664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基数排序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空间复杂度和稳定性</a:t>
            </a:r>
          </a:p>
        </p:txBody>
      </p:sp>
      <p:graphicFrame>
        <p:nvGraphicFramePr>
          <p:cNvPr id="4" name="object 9"/>
          <p:cNvGraphicFramePr>
            <a:graphicFrameLocks noGrp="1"/>
          </p:cNvGraphicFramePr>
          <p:nvPr/>
        </p:nvGraphicFramePr>
        <p:xfrm>
          <a:off x="686130" y="1557400"/>
          <a:ext cx="7972036" cy="5242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0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6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54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辅助空间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稳定</a:t>
                      </a:r>
                      <a:r>
                        <a:rPr sz="2400" b="1" spc="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性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不稳定举例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73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希尔排序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/3,2,2’(d=2,d=1)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快速排序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(lo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~</a:t>
                      </a: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/2,2’,1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4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/2,2’,1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/1,2,2’</a:t>
                      </a:r>
                      <a:r>
                        <a:rPr sz="2400" b="1" dirty="0"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最小</a:t>
                      </a:r>
                      <a:r>
                        <a:rPr sz="2400" b="1" spc="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</a:t>
                      </a:r>
                      <a:r>
                        <a:rPr sz="2400" b="1" dirty="0"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78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二</a:t>
                      </a:r>
                      <a:r>
                        <a:rPr sz="2400" b="1" spc="1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路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归并排序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49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基数排序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n+</a:t>
                      </a: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r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⑷算法简单性比较：从算法简单性看，</a:t>
            </a:r>
          </a:p>
          <a:p>
            <a:pPr lvl="1"/>
            <a:r>
              <a:rPr lang="zh-CN" altLang="en-US"/>
              <a:t>一类是简单算法，包括直接插入排序、直接选择排序和起泡排序；</a:t>
            </a:r>
          </a:p>
          <a:p>
            <a:pPr lvl="1"/>
            <a:r>
              <a:rPr lang="zh-CN" altLang="en-US"/>
              <a:t>另一类是改进后的算法，包括希尔排序、堆排序、快速排序和归并排序，这些算法都很复杂。</a:t>
            </a:r>
          </a:p>
          <a:p>
            <a:pPr marL="0" indent="0">
              <a:buNone/>
            </a:pPr>
            <a:r>
              <a:rPr lang="zh-CN" altLang="en-US"/>
              <a:t>⑸待排序的记录个数比较：从待排序的记录个数n的大小看， n越小，采用简单排序方法越合适； n越大，采用改进的排序方法越合适。</a:t>
            </a:r>
          </a:p>
          <a:p>
            <a:pPr lvl="1" algn="l">
              <a:buClrTx/>
              <a:buSzTx/>
            </a:pPr>
            <a:r>
              <a:rPr lang="zh-CN" altLang="en-US"/>
              <a:t>因为n越小，O(n</a:t>
            </a:r>
            <a:r>
              <a:rPr lang="zh-CN" altLang="en-US" baseline="30000"/>
              <a:t>2</a:t>
            </a:r>
            <a:r>
              <a:rPr lang="zh-CN" altLang="en-US"/>
              <a:t>)同O(nlog</a:t>
            </a:r>
            <a:r>
              <a:rPr lang="zh-CN" altLang="en-US" baseline="-25000"/>
              <a:t>2</a:t>
            </a:r>
            <a:r>
              <a:rPr lang="zh-CN" altLang="en-US"/>
              <a:t>n)的差距越小，并且输入和调试简单算法比输入和调试改进算法要少用许多时间。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移动记录信息量比较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5" dirty="0">
                <a:latin typeface="宋体" panose="02010600030101010101" pitchFamily="2" charset="-122"/>
                <a:cs typeface="宋体" panose="02010600030101010101" pitchFamily="2" charset="-122"/>
              </a:rPr>
              <a:t>记录本身信息量越大，移动记录所花费的时间就越多，所以对记录的移动次数较多的算法不利。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object 11"/>
          <p:cNvGraphicFramePr>
            <a:graphicFrameLocks noGrp="1"/>
          </p:cNvGraphicFramePr>
          <p:nvPr/>
        </p:nvGraphicFramePr>
        <p:xfrm>
          <a:off x="787660" y="2946080"/>
          <a:ext cx="7618468" cy="3149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7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最好情况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最坏情况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平均情况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0545" indent="-536575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54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关键值分布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当待排序记录按关键值有序时：</a:t>
            </a:r>
          </a:p>
          <a:p>
            <a:r>
              <a:rPr lang="zh-CN" altLang="en-US" dirty="0"/>
              <a:t>插入排序能达到O(n)的时间复杂度；</a:t>
            </a:r>
          </a:p>
          <a:p>
            <a:r>
              <a:rPr lang="zh-CN" altLang="en-US" dirty="0"/>
              <a:t>对于快速排序而言，这是最坏的情况，此时的时间性可能退化为O(n2)；</a:t>
            </a:r>
          </a:p>
          <a:p>
            <a:r>
              <a:rPr lang="zh-CN" altLang="en-US" dirty="0"/>
              <a:t>简单冒泡、选择排序、堆排序和归并排序的时间性能不随记录序列中关键字的分布而改变。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基数排序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回顾</a:t>
            </a: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12700" marR="155575">
              <a:lnSpc>
                <a:spcPts val="2720"/>
              </a:lnSpc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理论上可以证明，对于基于关键字之间比较的排序，无论用 什么方法都至少需要进</a:t>
            </a:r>
            <a:r>
              <a:rPr lang="zh-CN" altLang="en-US" spc="5" dirty="0"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lo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pc="5" dirty="0">
                <a:latin typeface="Times New Roman" panose="02020603050405020304"/>
                <a:cs typeface="Times New Roman" panose="02020603050405020304"/>
              </a:rPr>
              <a:t>!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次比较。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 lo</a:t>
            </a:r>
            <a:r>
              <a:rPr lang="en-US" altLang="zh-CN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!</a:t>
            </a:r>
            <a:r>
              <a:rPr lang="zh-CN" altLang="en-US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dirty="0">
                <a:latin typeface="Symbol" panose="05050102010706020507"/>
                <a:cs typeface="Symbol" panose="05050102010706020507"/>
              </a:rPr>
              <a:t>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nlog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n-1.44n+O(log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n)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。不存在时 间复杂性低于此下界的基于关键字比较的排序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.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marR="110490" algn="just">
              <a:lnSpc>
                <a:spcPct val="89000"/>
              </a:lnSpc>
              <a:spcBef>
                <a:spcPts val="1070"/>
              </a:spcBef>
            </a:pP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基数排序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（时间复杂性可达到线性级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O(n))</a:t>
            </a:r>
            <a:endParaRPr lang="zh-CN" altLang="en-US" dirty="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2730"/>
              </a:lnSpc>
              <a:spcBef>
                <a:spcPts val="85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不比较关键字的大小，而根据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构成关键字的每个分量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的值，排列记录顺序的方法，称为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分配法排序（基数排序）。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900" marR="6350">
              <a:lnSpc>
                <a:spcPts val="2590"/>
              </a:lnSpc>
              <a:spcBef>
                <a:spcPts val="105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而把关键字各个分量所有可能的取值范围的最大值称为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桶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箱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，因此基数排序又称为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桶排序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469900" indent="-457200">
              <a:lnSpc>
                <a:spcPct val="100000"/>
              </a:lnSpc>
              <a:spcBef>
                <a:spcPts val="680"/>
              </a:spcBef>
            </a:pP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基数排序的适用范围：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900" marR="5080">
              <a:lnSpc>
                <a:spcPts val="2580"/>
              </a:lnSpc>
              <a:spcBef>
                <a:spcPts val="105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显然，要求关键字分量的取值范围必须是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有限的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，否则可</a:t>
            </a:r>
            <a:r>
              <a:rPr lang="zh-CN" altLang="en-US" u="sng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能要无限的箱。</a:t>
            </a:r>
            <a:r>
              <a:rPr lang="zh-CN" altLang="en-US" u="sng" spc="475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算法的基本思想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zh-CN" altLang="en-US"/>
              <a:t>设待排序的序列的关键字都是位相同的整数（不相同时,取位数的最大值），其位数为figure，每个关键字可以各自 含有figure个分量，每个分量的值取值范围为0,1,…,9即基数为10。依次从低位考查，每个分量。</a:t>
            </a:r>
          </a:p>
          <a:p>
            <a:r>
              <a:rPr lang="zh-CN" altLang="en-US"/>
              <a:t>首先把全部数据装入一个队列A，然后按下列步骤进行: </a:t>
            </a:r>
          </a:p>
          <a:p>
            <a:r>
              <a:rPr lang="zh-CN" altLang="en-US"/>
              <a:t>1.初态:设置10个队列，分别为Q[0],Q[1],…,Q[9]，并且均为空</a:t>
            </a:r>
          </a:p>
          <a:p>
            <a:r>
              <a:rPr lang="zh-CN" altLang="en-US"/>
              <a:t>2.分配:依次从队列中取出每个数据data；第pass遍处时，考查 data.key右起第pass位数字，设其为r，把data插入队列Q[r]， 取尽A，则全部数据被分配到Q[0],Q[1],…,Q[9].</a:t>
            </a:r>
          </a:p>
          <a:p>
            <a:r>
              <a:rPr lang="zh-CN" altLang="en-US"/>
              <a:t>3.收集:从Q[0]开始，依次取出Q[0],Q[1],…,Q[9]中的全部数据，并按照取出顺序，把每个数据插入排队A。</a:t>
            </a:r>
          </a:p>
          <a:p>
            <a:r>
              <a:rPr lang="zh-CN" altLang="en-US"/>
              <a:t>4.重复1,2,3步，对于关键字中有figure位数字的数据进行figure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360750" y="1776248"/>
          <a:ext cx="4816298" cy="3129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7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94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Q[0]:901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109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Q[0]:012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Q[1]:210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Q[1]:109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Q[2]:321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Q[2]:210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Q[3]:432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Q[3]:321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Q[4]:543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Q[4]:432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Q[5]:543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Q[6]:678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Q[7]:678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Q[7]:765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789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Q[8]:986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987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789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Q[8]:890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25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Q[9]:890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986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987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17772" y="1050172"/>
            <a:ext cx="8530590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25"/>
              </a:lnSpc>
              <a:tabLst>
                <a:tab pos="1598930" algn="l"/>
                <a:tab pos="2169795" algn="l"/>
                <a:tab pos="2741295" algn="l"/>
                <a:tab pos="3312160" algn="l"/>
                <a:tab pos="3883025" algn="l"/>
                <a:tab pos="4454525" algn="l"/>
                <a:tab pos="7056755" algn="l"/>
                <a:tab pos="8135620" algn="l"/>
              </a:tabLst>
            </a:pP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325"/>
              </a:lnSpc>
              <a:tabLst>
                <a:tab pos="1598930" algn="l"/>
                <a:tab pos="2169795" algn="l"/>
                <a:tab pos="2741295" algn="l"/>
                <a:tab pos="3312160" algn="l"/>
                <a:tab pos="3883025" algn="l"/>
                <a:tab pos="4454525" algn="l"/>
                <a:tab pos="7056755" algn="l"/>
                <a:tab pos="8135620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321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986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123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432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543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765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678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987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789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098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890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109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901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210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012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75037" y="1721992"/>
            <a:ext cx="2310130" cy="3169285"/>
          </a:xfrm>
          <a:custGeom>
            <a:avLst/>
            <a:gdLst/>
            <a:ahLst/>
            <a:cxnLst/>
            <a:rect l="l" t="t" r="r" b="b"/>
            <a:pathLst>
              <a:path w="2310129" h="3169285">
                <a:moveTo>
                  <a:pt x="0" y="0"/>
                </a:moveTo>
                <a:lnTo>
                  <a:pt x="0" y="3169158"/>
                </a:lnTo>
                <a:lnTo>
                  <a:pt x="2309622" y="3169158"/>
                </a:lnTo>
                <a:lnTo>
                  <a:pt x="230962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70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2139" y="4900295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139" y="5243195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26372" y="5229479"/>
            <a:ext cx="13335" cy="623570"/>
          </a:xfrm>
          <a:custGeom>
            <a:avLst/>
            <a:gdLst/>
            <a:ahLst/>
            <a:cxnLst/>
            <a:rect l="l" t="t" r="r" b="b"/>
            <a:pathLst>
              <a:path w="13334" h="623570">
                <a:moveTo>
                  <a:pt x="0" y="0"/>
                </a:moveTo>
                <a:lnTo>
                  <a:pt x="12954" y="623316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127" y="5810122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85344" y="86106"/>
                </a:moveTo>
                <a:lnTo>
                  <a:pt x="85344" y="0"/>
                </a:lnTo>
                <a:lnTo>
                  <a:pt x="0" y="42672"/>
                </a:lnTo>
                <a:lnTo>
                  <a:pt x="85344" y="86106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8903" y="5733077"/>
            <a:ext cx="49771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43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65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67727" y="4913248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7727" y="5065648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78772" y="5077079"/>
            <a:ext cx="13335" cy="1221105"/>
          </a:xfrm>
          <a:custGeom>
            <a:avLst/>
            <a:gdLst/>
            <a:ahLst/>
            <a:cxnLst/>
            <a:rect l="l" t="t" r="r" b="b"/>
            <a:pathLst>
              <a:path w="13334" h="1221104">
                <a:moveTo>
                  <a:pt x="0" y="0"/>
                </a:moveTo>
                <a:lnTo>
                  <a:pt x="12954" y="1220724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63127" y="6254369"/>
            <a:ext cx="228600" cy="86360"/>
          </a:xfrm>
          <a:custGeom>
            <a:avLst/>
            <a:gdLst/>
            <a:ahLst/>
            <a:cxnLst/>
            <a:rect l="l" t="t" r="r" b="b"/>
            <a:pathLst>
              <a:path w="228600" h="86360">
                <a:moveTo>
                  <a:pt x="85344" y="28955"/>
                </a:moveTo>
                <a:lnTo>
                  <a:pt x="85344" y="0"/>
                </a:lnTo>
                <a:lnTo>
                  <a:pt x="0" y="43433"/>
                </a:lnTo>
                <a:lnTo>
                  <a:pt x="71627" y="79247"/>
                </a:lnTo>
                <a:lnTo>
                  <a:pt x="71627" y="28955"/>
                </a:lnTo>
                <a:lnTo>
                  <a:pt x="85344" y="28955"/>
                </a:lnTo>
                <a:close/>
              </a:path>
              <a:path w="228600" h="86360">
                <a:moveTo>
                  <a:pt x="228600" y="57150"/>
                </a:moveTo>
                <a:lnTo>
                  <a:pt x="228600" y="28955"/>
                </a:lnTo>
                <a:lnTo>
                  <a:pt x="71627" y="28955"/>
                </a:lnTo>
                <a:lnTo>
                  <a:pt x="71627" y="57150"/>
                </a:lnTo>
                <a:lnTo>
                  <a:pt x="228600" y="57150"/>
                </a:lnTo>
                <a:close/>
              </a:path>
              <a:path w="228600" h="86360">
                <a:moveTo>
                  <a:pt x="85344" y="86105"/>
                </a:moveTo>
                <a:lnTo>
                  <a:pt x="85344" y="57150"/>
                </a:lnTo>
                <a:lnTo>
                  <a:pt x="71627" y="57150"/>
                </a:lnTo>
                <a:lnTo>
                  <a:pt x="71627" y="79247"/>
                </a:lnTo>
                <a:lnTo>
                  <a:pt x="85344" y="86105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70304" y="5316932"/>
            <a:ext cx="3275329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">
              <a:lnSpc>
                <a:spcPct val="100000"/>
              </a:lnSpc>
              <a:tabLst>
                <a:tab pos="594995" algn="l"/>
                <a:tab pos="1166495" algn="l"/>
                <a:tab pos="1737360" algn="l"/>
                <a:tab pos="2309495" algn="l"/>
                <a:tab pos="288099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098	78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583565" algn="l"/>
                <a:tab pos="286956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86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98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3176" y="5733077"/>
            <a:ext cx="14865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9156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87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90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77632" y="5316932"/>
            <a:ext cx="24390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76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1693" y="542759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344" y="42671"/>
                </a:moveTo>
                <a:lnTo>
                  <a:pt x="0" y="0"/>
                </a:lnTo>
                <a:lnTo>
                  <a:pt x="0" y="85344"/>
                </a:lnTo>
                <a:lnTo>
                  <a:pt x="85344" y="42671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9635" y="6152037"/>
            <a:ext cx="6762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795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012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2739" y="6152037"/>
            <a:ext cx="49758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018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098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109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123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310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321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432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543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678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765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42694" y="6152037"/>
            <a:ext cx="40703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789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76882" y="6152037"/>
            <a:ext cx="142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890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901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986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36550" y="1706183"/>
          <a:ext cx="2641082" cy="4103937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95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515">
                <a:tc rowSpan="10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Q[0]:890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210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Q[1]:321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901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Q[2]:432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Q[3]:123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543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Q[6]:986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Q[7]:987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Q[8]:018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678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69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Q[9]:789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109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328">
                <a:tc gridSpan="2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  <a:lnB w="28575">
                      <a:solidFill>
                        <a:srgbClr val="FF0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FF"/>
                      </a:solidFill>
                      <a:prstDash val="soli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9771">
                <a:tc gridSpan="5">
                  <a:txBody>
                    <a:bodyPr/>
                    <a:lstStyle/>
                    <a:p>
                      <a:pPr marL="85090">
                        <a:lnSpc>
                          <a:spcPts val="16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89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32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FF"/>
                      </a:solidFill>
                      <a:prstDash val="solid"/>
                    </a:lnL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0" name="标题 29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算法示例：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算法性能分析</a:t>
            </a:r>
            <a:br>
              <a:rPr lang="zh-CN" altLang="en-US"/>
            </a:br>
            <a:r>
              <a:rPr lang="zh-CN" altLang="en-US"/>
              <a:t>n----记录数，d----关键字（分量）个数，r----基数</a:t>
            </a:r>
          </a:p>
          <a:p>
            <a:r>
              <a:rPr lang="zh-CN" altLang="en-US"/>
              <a:t>时间复杂度：分配操作：O（n）,收集操作O(r)，需进行d 趟分配和收集。时间复杂度：O(d(n+r))</a:t>
            </a:r>
          </a:p>
          <a:p>
            <a:r>
              <a:rPr lang="zh-CN" altLang="en-US"/>
              <a:t>空间复杂度：所需辅助空间为队首和队尾指针2r个，此外 还有为每个记录增加的链域空间n个。空间复杂度O((n+r))</a:t>
            </a:r>
          </a:p>
          <a:p>
            <a:r>
              <a:rPr lang="zh-CN" altLang="en-US"/>
              <a:t>算法的推广</a:t>
            </a:r>
          </a:p>
          <a:p>
            <a:pPr lvl="1"/>
            <a:r>
              <a:rPr lang="zh-CN" altLang="en-US"/>
              <a:t>若被排序的数据关键字由若干域组成，可以把每个域看成 一个分量按照每个域进行基数排序。</a:t>
            </a:r>
          </a:p>
          <a:p>
            <a:pPr lvl="1"/>
            <a:r>
              <a:rPr lang="zh-CN" altLang="en-US"/>
              <a:t>若关键字各分量不是整数，则把各分量所有可以取值与一 组自然数对应。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81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YwYjU2MzQxMWU3OWZjNzk4OWUyOWM0NDJmODEwZTYifQ=="/>
  <p:tag name="KSO_WPP_MARK_KEY" val="04418cb7-6c00-4fb7-833c-1942a8788c4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6aad71a-79aa-42aa-aeba-f1c9afe55a34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8441</Words>
  <Application>Microsoft Office PowerPoint</Application>
  <PresentationFormat>全屏显示(4:3)</PresentationFormat>
  <Paragraphs>1166</Paragraphs>
  <Slides>81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103" baseType="lpstr">
      <vt:lpstr>Arial Unicode MS</vt:lpstr>
      <vt:lpstr>BrushScript BT</vt:lpstr>
      <vt:lpstr>Microsoft YaHei UI</vt:lpstr>
      <vt:lpstr>等线</vt:lpstr>
      <vt:lpstr>黑体</vt:lpstr>
      <vt:lpstr>宋体</vt:lpstr>
      <vt:lpstr>微软雅黑</vt:lpstr>
      <vt:lpstr>Arial</vt:lpstr>
      <vt:lpstr>Brush Script MT</vt:lpstr>
      <vt:lpstr>Calibri</vt:lpstr>
      <vt:lpstr>Consolas</vt:lpstr>
      <vt:lpstr>Courier New</vt:lpstr>
      <vt:lpstr>Symbol</vt:lpstr>
      <vt:lpstr>Tempus Sans ITC</vt:lpstr>
      <vt:lpstr>Times New Roman</vt:lpstr>
      <vt:lpstr>Verdana</vt:lpstr>
      <vt:lpstr>Wingdings</vt:lpstr>
      <vt:lpstr>Wingdings 3</vt:lpstr>
      <vt:lpstr>basetag20163155_docer802382.通用教学课件</vt:lpstr>
      <vt:lpstr>1_Office 主题​​</vt:lpstr>
      <vt:lpstr>Equation.KSEE3</vt:lpstr>
      <vt:lpstr>Equation</vt:lpstr>
      <vt:lpstr>第12讲  排序</vt:lpstr>
      <vt:lpstr>已经接触过的排序算法</vt:lpstr>
      <vt:lpstr>排序</vt:lpstr>
      <vt:lpstr>排序分类</vt:lpstr>
      <vt:lpstr>排序算法性能</vt:lpstr>
      <vt:lpstr>快速排序</vt:lpstr>
      <vt:lpstr>气泡排序</vt:lpstr>
      <vt:lpstr>性能分析</vt:lpstr>
      <vt:lpstr>快速排序</vt:lpstr>
      <vt:lpstr>构思</vt:lpstr>
      <vt:lpstr>快速排序</vt:lpstr>
      <vt:lpstr>算法实现</vt:lpstr>
      <vt:lpstr>轴点</vt:lpstr>
      <vt:lpstr>算法描述</vt:lpstr>
      <vt:lpstr>快速排序</vt:lpstr>
      <vt:lpstr>Partition算法</vt:lpstr>
      <vt:lpstr>构造轴点</vt:lpstr>
      <vt:lpstr>算法A：过程</vt:lpstr>
      <vt:lpstr>算法A：实现</vt:lpstr>
      <vt:lpstr>算法A：实例</vt:lpstr>
      <vt:lpstr>算法A：性能分析</vt:lpstr>
      <vt:lpstr>平均性能</vt:lpstr>
      <vt:lpstr>重复元素</vt:lpstr>
      <vt:lpstr>算法A1：实现</vt:lpstr>
      <vt:lpstr>算法A1：实例</vt:lpstr>
      <vt:lpstr>算法B1：实现</vt:lpstr>
      <vt:lpstr>算法B：实现</vt:lpstr>
      <vt:lpstr>算法B1：实例</vt:lpstr>
      <vt:lpstr>PowerPoint 演示文稿</vt:lpstr>
      <vt:lpstr>算法B：性能分析</vt:lpstr>
      <vt:lpstr>算法C：思路</vt:lpstr>
      <vt:lpstr>算法C：实现</vt:lpstr>
      <vt:lpstr>算法D：思路</vt:lpstr>
      <vt:lpstr>算法D：实现</vt:lpstr>
      <vt:lpstr>基准元素选择</vt:lpstr>
      <vt:lpstr>快速排序的改进</vt:lpstr>
      <vt:lpstr>堆排序</vt:lpstr>
      <vt:lpstr>直接（简单）选择排序</vt:lpstr>
      <vt:lpstr>性能分析</vt:lpstr>
      <vt:lpstr>堆排序</vt:lpstr>
      <vt:lpstr>PowerPoint 演示文稿</vt:lpstr>
      <vt:lpstr>PowerPoint 演示文稿</vt:lpstr>
      <vt:lpstr>性能分析</vt:lpstr>
      <vt:lpstr>希尔排序</vt:lpstr>
      <vt:lpstr>直接（简单）插入排序</vt:lpstr>
      <vt:lpstr>算法的实现</vt:lpstr>
      <vt:lpstr>直接插入排序</vt:lpstr>
      <vt:lpstr>算法的性能分析</vt:lpstr>
      <vt:lpstr>希尔排序----分组插入排序</vt:lpstr>
      <vt:lpstr>希尔排序</vt:lpstr>
      <vt:lpstr>PowerPoint 演示文稿</vt:lpstr>
      <vt:lpstr>算法实现</vt:lpstr>
      <vt:lpstr>Shell排序例</vt:lpstr>
      <vt:lpstr>Shell排序例（续）</vt:lpstr>
      <vt:lpstr>性能分析</vt:lpstr>
      <vt:lpstr>归并排序</vt:lpstr>
      <vt:lpstr>归并排序</vt:lpstr>
      <vt:lpstr>简单分治排序</vt:lpstr>
      <vt:lpstr>平衡划分——归并排序</vt:lpstr>
      <vt:lpstr>归并排序</vt:lpstr>
      <vt:lpstr>算法描述</vt:lpstr>
      <vt:lpstr>Merge算法</vt:lpstr>
      <vt:lpstr>Merge算法描述</vt:lpstr>
      <vt:lpstr>算法演示</vt:lpstr>
      <vt:lpstr>例题</vt:lpstr>
      <vt:lpstr>自然归并排序</vt:lpstr>
      <vt:lpstr>时间复杂度比较</vt:lpstr>
      <vt:lpstr>部分结论</vt:lpstr>
      <vt:lpstr>部分结论</vt:lpstr>
      <vt:lpstr>小结</vt:lpstr>
      <vt:lpstr>时间复杂度</vt:lpstr>
      <vt:lpstr>空间复杂度和稳定性</vt:lpstr>
      <vt:lpstr>简单性</vt:lpstr>
      <vt:lpstr>移动记录信息量比较</vt:lpstr>
      <vt:lpstr>关键值分布</vt:lpstr>
      <vt:lpstr>基数排序</vt:lpstr>
      <vt:lpstr>基数排序</vt:lpstr>
      <vt:lpstr>算法的基本思想</vt:lpstr>
      <vt:lpstr>算法示例：</vt:lpstr>
      <vt:lpstr>性能分析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149</cp:revision>
  <cp:lastPrinted>2017-09-11T08:45:00Z</cp:lastPrinted>
  <dcterms:created xsi:type="dcterms:W3CDTF">2017-09-04T08:16:00Z</dcterms:created>
  <dcterms:modified xsi:type="dcterms:W3CDTF">2024-12-17T05:40:02Z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2052-11.1.0.12763</vt:lpwstr>
  </property>
  <property fmtid="{D5CDD505-2E9C-101B-9397-08002B2CF9AE}" pid="13" name="ICV">
    <vt:lpwstr>1D4AB45CFD4C4C40A13A95B42E91D801</vt:lpwstr>
  </property>
</Properties>
</file>