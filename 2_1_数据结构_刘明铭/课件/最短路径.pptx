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heme/theme2.xml" ContentType="application/vnd.openxmlformats-officedocument.theme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notesSlides/notesSlide1.xml" ContentType="application/vnd.openxmlformats-officedocument.presentationml.notesSlide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notesSlides/notesSlide2.xml" ContentType="application/vnd.openxmlformats-officedocument.presentationml.notesSlide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409" r:id="rId2"/>
    <p:sldId id="424" r:id="rId3"/>
    <p:sldId id="421" r:id="rId4"/>
    <p:sldId id="420" r:id="rId5"/>
    <p:sldId id="422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16">
          <p15:clr>
            <a:srgbClr val="A4A3A4"/>
          </p15:clr>
        </p15:guide>
        <p15:guide id="2" pos="383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9998D"/>
    <a:srgbClr val="D4330E"/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72" d="100"/>
          <a:sy n="72" d="100"/>
        </p:scale>
        <p:origin x="272" y="48"/>
      </p:cViewPr>
      <p:guideLst>
        <p:guide orient="horz" pos="2216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2024/12/3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8.xml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0.xml"/><Relationship Id="rId4" Type="http://schemas.openxmlformats.org/officeDocument/2006/relationships/tags" Target="../tags/tag9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5.xml"/><Relationship Id="rId4" Type="http://schemas.openxmlformats.org/officeDocument/2006/relationships/tags" Target="../tags/tag14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20.xml"/><Relationship Id="rId4" Type="http://schemas.openxmlformats.org/officeDocument/2006/relationships/tags" Target="../tags/tag19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23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2.xml"/><Relationship Id="rId1" Type="http://schemas.openxmlformats.org/officeDocument/2006/relationships/tags" Target="../tags/tag21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34.xml"/><Relationship Id="rId3" Type="http://schemas.openxmlformats.org/officeDocument/2006/relationships/tags" Target="../tags/tag29.xml"/><Relationship Id="rId7" Type="http://schemas.openxmlformats.org/officeDocument/2006/relationships/tags" Target="../tags/tag33.xml"/><Relationship Id="rId2" Type="http://schemas.openxmlformats.org/officeDocument/2006/relationships/tags" Target="../tags/tag28.xml"/><Relationship Id="rId1" Type="http://schemas.openxmlformats.org/officeDocument/2006/relationships/tags" Target="../tags/tag27.xml"/><Relationship Id="rId6" Type="http://schemas.openxmlformats.org/officeDocument/2006/relationships/tags" Target="../tags/tag32.xml"/><Relationship Id="rId5" Type="http://schemas.openxmlformats.org/officeDocument/2006/relationships/tags" Target="../tags/tag31.xml"/><Relationship Id="rId4" Type="http://schemas.openxmlformats.org/officeDocument/2006/relationships/tags" Target="../tags/tag30.xml"/><Relationship Id="rId9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37.xml"/><Relationship Id="rId2" Type="http://schemas.openxmlformats.org/officeDocument/2006/relationships/tags" Target="../tags/tag36.xml"/><Relationship Id="rId1" Type="http://schemas.openxmlformats.org/officeDocument/2006/relationships/tags" Target="../tags/tag35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38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41.xml"/><Relationship Id="rId2" Type="http://schemas.openxmlformats.org/officeDocument/2006/relationships/tags" Target="../tags/tag40.xml"/><Relationship Id="rId1" Type="http://schemas.openxmlformats.org/officeDocument/2006/relationships/tags" Target="../tags/tag39.xml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44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43.xml"/><Relationship Id="rId1" Type="http://schemas.openxmlformats.org/officeDocument/2006/relationships/tags" Target="../tags/tag42.xml"/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50.xml"/><Relationship Id="rId2" Type="http://schemas.openxmlformats.org/officeDocument/2006/relationships/tags" Target="../tags/tag49.xml"/><Relationship Id="rId1" Type="http://schemas.openxmlformats.org/officeDocument/2006/relationships/tags" Target="../tags/tag48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2.xml"/><Relationship Id="rId4" Type="http://schemas.openxmlformats.org/officeDocument/2006/relationships/tags" Target="../tags/tag5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55.xml"/><Relationship Id="rId2" Type="http://schemas.openxmlformats.org/officeDocument/2006/relationships/tags" Target="../tags/tag54.xml"/><Relationship Id="rId1" Type="http://schemas.openxmlformats.org/officeDocument/2006/relationships/tags" Target="../tags/tag53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56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tags" Target="../tags/tag59.xml"/><Relationship Id="rId2" Type="http://schemas.openxmlformats.org/officeDocument/2006/relationships/tags" Target="../tags/tag58.xml"/><Relationship Id="rId1" Type="http://schemas.openxmlformats.org/officeDocument/2006/relationships/tags" Target="../tags/tag57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61.xml"/><Relationship Id="rId4" Type="http://schemas.openxmlformats.org/officeDocument/2006/relationships/tags" Target="../tags/tag60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2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2024/12/3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  <a:lvl6pPr marL="2286000" indent="0">
              <a:buNone/>
              <a:defRPr/>
            </a:lvl6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2024/12/3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 b="1" i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 eaLnBrk="1" fontAlgn="auto" latinLnBrk="0" hangingPunct="1">
              <a:lnSpc>
                <a:spcPct val="130000"/>
              </a:lnSpc>
              <a:buNone/>
              <a:defRPr kumimoji="0" lang="zh-CN" altLang="en-US" sz="1800" b="0" i="0" u="none" strike="noStrike" kern="1200" cap="none" spc="150" normalizeH="0" baseline="0" noProof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2024/12/3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lnSpc>
                <a:spcPct val="120000"/>
              </a:lnSpc>
              <a:defRPr sz="1400"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2024/12/3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2024/12/3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2024/12/3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2024/12/3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 defTabSz="914400" eaLnBrk="1" fontAlgn="auto" latinLnBrk="0" hangingPunct="1"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eaLnBrk="1" fontAlgn="auto" latinLnBrk="0" hangingPunct="1">
              <a:buFont typeface="Arial" panose="020B0604020202020204" pitchFamily="34" charset="0"/>
              <a:buChar char="●"/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2024/12/3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1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8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2024/12/3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2024/12/3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>
            <a:lvl1pPr marL="228600" indent="-228600" eaLnBrk="1" fontAlgn="auto" latinLnBrk="0" hangingPunct="1">
              <a:lnSpc>
                <a:spcPct val="13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2024/12/3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tags" Target="../tags/tag5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3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2024/12/3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3.xml"/><Relationship Id="rId1" Type="http://schemas.openxmlformats.org/officeDocument/2006/relationships/tags" Target="../tags/tag6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66.xml"/><Relationship Id="rId7" Type="http://schemas.openxmlformats.org/officeDocument/2006/relationships/notesSlide" Target="../notesSlides/notesSlide1.xml"/><Relationship Id="rId2" Type="http://schemas.openxmlformats.org/officeDocument/2006/relationships/tags" Target="../tags/tag65.xml"/><Relationship Id="rId1" Type="http://schemas.openxmlformats.org/officeDocument/2006/relationships/tags" Target="../tags/tag64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68.xml"/><Relationship Id="rId4" Type="http://schemas.openxmlformats.org/officeDocument/2006/relationships/tags" Target="../tags/tag6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71.xml"/><Relationship Id="rId2" Type="http://schemas.openxmlformats.org/officeDocument/2006/relationships/tags" Target="../tags/tag70.xml"/><Relationship Id="rId1" Type="http://schemas.openxmlformats.org/officeDocument/2006/relationships/tags" Target="../tags/tag69.xml"/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tags" Target="../tags/tag75.xml"/><Relationship Id="rId2" Type="http://schemas.openxmlformats.org/officeDocument/2006/relationships/tags" Target="../tags/tag74.xml"/><Relationship Id="rId1" Type="http://schemas.openxmlformats.org/officeDocument/2006/relationships/tags" Target="../tags/tag73.xml"/><Relationship Id="rId4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zh-CN"/>
              <a:t>最短路径算法</a:t>
            </a:r>
          </a:p>
        </p:txBody>
      </p:sp>
      <p:sp>
        <p:nvSpPr>
          <p:cNvPr id="4" name="副标题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AutoShape 3"/>
          <p:cNvSpPr/>
          <p:nvPr/>
        </p:nvSpPr>
        <p:spPr>
          <a:xfrm>
            <a:off x="1854835" y="2950845"/>
            <a:ext cx="323850" cy="323850"/>
          </a:xfrm>
          <a:prstGeom prst="roundRect">
            <a:avLst>
              <a:gd name="adj" fmla="val 16667"/>
            </a:avLst>
          </a:prstGeom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 anchor="ctr" anchorCtr="1"/>
          <a:lstStyle/>
          <a:p>
            <a:pPr algn="ctr"/>
            <a:r>
              <a:rPr lang="en-US" altLang="zh-CN" sz="900" b="1" dirty="0">
                <a:solidFill>
                  <a:schemeClr val="tx1"/>
                </a:solidFill>
                <a:latin typeface="微软雅黑" panose="020B0503020204020204" pitchFamily="34" charset="-122"/>
              </a:rPr>
              <a:t>1</a:t>
            </a:r>
          </a:p>
        </p:txBody>
      </p:sp>
      <p:sp>
        <p:nvSpPr>
          <p:cNvPr id="65" name="AutoShape 4"/>
          <p:cNvSpPr/>
          <p:nvPr/>
        </p:nvSpPr>
        <p:spPr>
          <a:xfrm>
            <a:off x="2233295" y="2950845"/>
            <a:ext cx="323850" cy="323850"/>
          </a:xfrm>
          <a:prstGeom prst="roundRect">
            <a:avLst>
              <a:gd name="adj" fmla="val 16667"/>
            </a:avLst>
          </a:prstGeom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 anchor="ctr" anchorCtr="1"/>
          <a:lstStyle/>
          <a:p>
            <a:pPr algn="ctr"/>
            <a:r>
              <a:rPr lang="en-US" altLang="zh-CN" sz="900" b="1" dirty="0">
                <a:solidFill>
                  <a:schemeClr val="tx1"/>
                </a:solidFill>
                <a:latin typeface="微软雅黑" panose="020B0503020204020204" pitchFamily="34" charset="-122"/>
              </a:rPr>
              <a:t>2</a:t>
            </a:r>
          </a:p>
        </p:txBody>
      </p:sp>
      <p:sp>
        <p:nvSpPr>
          <p:cNvPr id="66" name="AutoShape 5"/>
          <p:cNvSpPr/>
          <p:nvPr/>
        </p:nvSpPr>
        <p:spPr>
          <a:xfrm>
            <a:off x="2611755" y="2950845"/>
            <a:ext cx="323850" cy="323850"/>
          </a:xfrm>
          <a:prstGeom prst="roundRect">
            <a:avLst>
              <a:gd name="adj" fmla="val 16667"/>
            </a:avLst>
          </a:prstGeom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 anchor="ctr" anchorCtr="1"/>
          <a:lstStyle/>
          <a:p>
            <a:pPr algn="ctr"/>
            <a:r>
              <a:rPr lang="en-US" altLang="zh-CN" sz="900" b="1" dirty="0">
                <a:solidFill>
                  <a:schemeClr val="tx1"/>
                </a:solidFill>
                <a:latin typeface="微软雅黑" panose="020B0503020204020204" pitchFamily="34" charset="-122"/>
              </a:rPr>
              <a:t>3</a:t>
            </a:r>
          </a:p>
        </p:txBody>
      </p:sp>
      <p:sp>
        <p:nvSpPr>
          <p:cNvPr id="67" name="AutoShape 6"/>
          <p:cNvSpPr/>
          <p:nvPr/>
        </p:nvSpPr>
        <p:spPr>
          <a:xfrm>
            <a:off x="2989580" y="2950845"/>
            <a:ext cx="323850" cy="323850"/>
          </a:xfrm>
          <a:prstGeom prst="roundRect">
            <a:avLst>
              <a:gd name="adj" fmla="val 16667"/>
            </a:avLst>
          </a:prstGeom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 anchor="ctr" anchorCtr="1"/>
          <a:lstStyle/>
          <a:p>
            <a:pPr algn="ctr"/>
            <a:r>
              <a:rPr lang="en-US" altLang="zh-CN" sz="900" b="1" dirty="0">
                <a:solidFill>
                  <a:schemeClr val="tx1"/>
                </a:solidFill>
                <a:latin typeface="微软雅黑" panose="020B0503020204020204" pitchFamily="34" charset="-122"/>
              </a:rPr>
              <a:t>4</a:t>
            </a:r>
          </a:p>
        </p:txBody>
      </p:sp>
      <p:sp>
        <p:nvSpPr>
          <p:cNvPr id="68" name="AutoShape 7"/>
          <p:cNvSpPr/>
          <p:nvPr/>
        </p:nvSpPr>
        <p:spPr>
          <a:xfrm>
            <a:off x="3368040" y="2950845"/>
            <a:ext cx="323850" cy="323850"/>
          </a:xfrm>
          <a:prstGeom prst="roundRect">
            <a:avLst>
              <a:gd name="adj" fmla="val 16667"/>
            </a:avLst>
          </a:prstGeom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 anchor="ctr" anchorCtr="1"/>
          <a:lstStyle/>
          <a:p>
            <a:pPr algn="ctr"/>
            <a:r>
              <a:rPr lang="en-US" altLang="zh-CN" sz="900" b="1" dirty="0">
                <a:solidFill>
                  <a:schemeClr val="tx1"/>
                </a:solidFill>
                <a:latin typeface="微软雅黑" panose="020B0503020204020204" pitchFamily="34" charset="-122"/>
              </a:rPr>
              <a:t>5</a:t>
            </a:r>
          </a:p>
        </p:txBody>
      </p:sp>
      <p:sp>
        <p:nvSpPr>
          <p:cNvPr id="69" name="AutoShape 8"/>
          <p:cNvSpPr/>
          <p:nvPr/>
        </p:nvSpPr>
        <p:spPr>
          <a:xfrm>
            <a:off x="3746500" y="2950845"/>
            <a:ext cx="323850" cy="323850"/>
          </a:xfrm>
          <a:prstGeom prst="roundRect">
            <a:avLst>
              <a:gd name="adj" fmla="val 16667"/>
            </a:avLst>
          </a:prstGeom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 anchor="ctr" anchorCtr="1"/>
          <a:lstStyle/>
          <a:p>
            <a:pPr algn="ctr"/>
            <a:r>
              <a:rPr lang="en-US" altLang="zh-CN" sz="900" b="1" dirty="0">
                <a:solidFill>
                  <a:schemeClr val="tx1"/>
                </a:solidFill>
                <a:latin typeface="微软雅黑" panose="020B0503020204020204" pitchFamily="34" charset="-122"/>
              </a:rPr>
              <a:t>6</a:t>
            </a:r>
          </a:p>
        </p:txBody>
      </p:sp>
      <p:sp>
        <p:nvSpPr>
          <p:cNvPr id="70" name="AutoShape 9"/>
          <p:cNvSpPr/>
          <p:nvPr/>
        </p:nvSpPr>
        <p:spPr>
          <a:xfrm>
            <a:off x="4123055" y="2950845"/>
            <a:ext cx="323850" cy="323850"/>
          </a:xfrm>
          <a:prstGeom prst="roundRect">
            <a:avLst>
              <a:gd name="adj" fmla="val 16667"/>
            </a:avLst>
          </a:prstGeom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 anchor="ctr" anchorCtr="1"/>
          <a:lstStyle/>
          <a:p>
            <a:pPr algn="ctr"/>
            <a:r>
              <a:rPr lang="en-US" altLang="zh-CN" sz="900" b="1" dirty="0">
                <a:solidFill>
                  <a:schemeClr val="tx1"/>
                </a:solidFill>
                <a:latin typeface="微软雅黑" panose="020B0503020204020204" pitchFamily="34" charset="-122"/>
              </a:rPr>
              <a:t>7</a:t>
            </a:r>
          </a:p>
        </p:txBody>
      </p:sp>
      <p:sp>
        <p:nvSpPr>
          <p:cNvPr id="71" name="AutoShape 14"/>
          <p:cNvSpPr/>
          <p:nvPr/>
        </p:nvSpPr>
        <p:spPr>
          <a:xfrm>
            <a:off x="5213350" y="2950845"/>
            <a:ext cx="323850" cy="323850"/>
          </a:xfrm>
          <a:prstGeom prst="roundRect">
            <a:avLst>
              <a:gd name="adj" fmla="val 16667"/>
            </a:avLst>
          </a:prstGeom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 anchor="ctr" anchorCtr="1"/>
          <a:lstStyle/>
          <a:p>
            <a:pPr algn="ctr"/>
            <a:r>
              <a:rPr lang="en-US" altLang="zh-CN" sz="900" b="1" dirty="0">
                <a:solidFill>
                  <a:schemeClr val="tx1"/>
                </a:solidFill>
                <a:latin typeface="微软雅黑" panose="020B0503020204020204" pitchFamily="34" charset="-122"/>
              </a:rPr>
              <a:t>10</a:t>
            </a:r>
          </a:p>
        </p:txBody>
      </p:sp>
      <p:sp>
        <p:nvSpPr>
          <p:cNvPr id="72" name="AutoShape 9"/>
          <p:cNvSpPr/>
          <p:nvPr/>
        </p:nvSpPr>
        <p:spPr>
          <a:xfrm>
            <a:off x="4493260" y="2950845"/>
            <a:ext cx="323850" cy="323850"/>
          </a:xfrm>
          <a:prstGeom prst="roundRect">
            <a:avLst>
              <a:gd name="adj" fmla="val 16667"/>
            </a:avLst>
          </a:prstGeom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 anchor="ctr" anchorCtr="1"/>
          <a:lstStyle/>
          <a:p>
            <a:pPr algn="ctr"/>
            <a:r>
              <a:rPr lang="en-US" altLang="zh-CN" sz="900" b="1" dirty="0">
                <a:solidFill>
                  <a:schemeClr val="tx1"/>
                </a:solidFill>
                <a:latin typeface="微软雅黑" panose="020B0503020204020204" pitchFamily="34" charset="-122"/>
              </a:rPr>
              <a:t>8</a:t>
            </a:r>
          </a:p>
        </p:txBody>
      </p:sp>
      <p:sp>
        <p:nvSpPr>
          <p:cNvPr id="73" name="AutoShape 9"/>
          <p:cNvSpPr/>
          <p:nvPr/>
        </p:nvSpPr>
        <p:spPr>
          <a:xfrm>
            <a:off x="4855210" y="2950845"/>
            <a:ext cx="323850" cy="323850"/>
          </a:xfrm>
          <a:prstGeom prst="roundRect">
            <a:avLst>
              <a:gd name="adj" fmla="val 16667"/>
            </a:avLst>
          </a:prstGeom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 anchor="ctr" anchorCtr="1"/>
          <a:lstStyle/>
          <a:p>
            <a:pPr algn="ctr"/>
            <a:r>
              <a:rPr lang="en-US" altLang="zh-CN" sz="900" b="1" dirty="0">
                <a:solidFill>
                  <a:schemeClr val="tx1"/>
                </a:solidFill>
                <a:latin typeface="微软雅黑" panose="020B0503020204020204" pitchFamily="34" charset="-122"/>
              </a:rPr>
              <a:t>9</a:t>
            </a:r>
          </a:p>
        </p:txBody>
      </p:sp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Dijkstra</a:t>
            </a:r>
            <a:r>
              <a:rPr lang="zh-CN" altLang="en-US"/>
              <a:t>算法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>
                <a:sym typeface="Wingdings" panose="05000000000000000000" pitchFamily="2" charset="2"/>
              </a:rPr>
              <a:t>考虑图</a:t>
            </a:r>
          </a:p>
          <a:p>
            <a:pPr lvl="1"/>
            <a:r>
              <a:rPr lang="en-US" altLang="zh-CN">
                <a:sym typeface="Wingdings" panose="05000000000000000000" pitchFamily="2" charset="2"/>
              </a:rPr>
              <a:t>s=3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  <a:t>2</a:t>
            </a:fld>
            <a:endParaRPr lang="zh-CN" altLang="en-US" noProof="0" dirty="0"/>
          </a:p>
        </p:txBody>
      </p:sp>
      <p:sp>
        <p:nvSpPr>
          <p:cNvPr id="1054746" name="Oval 26"/>
          <p:cNvSpPr>
            <a:spLocks noChangeArrowheads="1"/>
          </p:cNvSpPr>
          <p:nvPr/>
        </p:nvSpPr>
        <p:spPr bwMode="auto">
          <a:xfrm flipH="1">
            <a:off x="5682298" y="1770063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1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54747" name="Oval 27"/>
          <p:cNvSpPr>
            <a:spLocks noChangeArrowheads="1"/>
          </p:cNvSpPr>
          <p:nvPr/>
        </p:nvSpPr>
        <p:spPr bwMode="auto">
          <a:xfrm flipH="1">
            <a:off x="7107873" y="1770063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3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54779" name="AutoShape 59"/>
          <p:cNvCxnSpPr>
            <a:stCxn id="1054746" idx="2"/>
            <a:endCxn id="1054747" idx="6"/>
          </p:cNvCxnSpPr>
          <p:nvPr/>
        </p:nvCxnSpPr>
        <p:spPr>
          <a:xfrm>
            <a:off x="5969635" y="1915160"/>
            <a:ext cx="1137920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triangle" w="med" len="med"/>
            <a:tailEnd type="none" w="med" len="med"/>
          </a:ln>
        </p:spPr>
      </p:cxnSp>
      <p:sp useBgFill="1">
        <p:nvSpPr>
          <p:cNvPr id="1054780" name="Oval 60"/>
          <p:cNvSpPr/>
          <p:nvPr/>
        </p:nvSpPr>
        <p:spPr>
          <a:xfrm>
            <a:off x="6401435" y="1770063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lstStyle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4" name="Oval 27"/>
          <p:cNvSpPr>
            <a:spLocks noChangeArrowheads="1"/>
          </p:cNvSpPr>
          <p:nvPr/>
        </p:nvSpPr>
        <p:spPr bwMode="auto">
          <a:xfrm flipH="1">
            <a:off x="7107238" y="1114743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2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AutoShape 59"/>
          <p:cNvCxnSpPr>
            <a:stCxn id="1054746" idx="1"/>
            <a:endCxn id="4" idx="6"/>
          </p:cNvCxnSpPr>
          <p:nvPr/>
        </p:nvCxnSpPr>
        <p:spPr>
          <a:xfrm flipV="1">
            <a:off x="5927725" y="1259840"/>
            <a:ext cx="1179195" cy="55308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6" name="Oval 60"/>
          <p:cNvSpPr/>
          <p:nvPr/>
        </p:nvSpPr>
        <p:spPr>
          <a:xfrm>
            <a:off x="6373495" y="1417003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lstStyle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7" name="Oval 27"/>
          <p:cNvSpPr>
            <a:spLocks noChangeArrowheads="1"/>
          </p:cNvSpPr>
          <p:nvPr/>
        </p:nvSpPr>
        <p:spPr bwMode="auto">
          <a:xfrm flipH="1">
            <a:off x="8541068" y="1114743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5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8" name="AutoShape 59"/>
          <p:cNvCxnSpPr>
            <a:endCxn id="7" idx="6"/>
          </p:cNvCxnSpPr>
          <p:nvPr/>
        </p:nvCxnSpPr>
        <p:spPr>
          <a:xfrm>
            <a:off x="7402830" y="1259840"/>
            <a:ext cx="1137920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9" name="Oval 60"/>
          <p:cNvSpPr/>
          <p:nvPr/>
        </p:nvSpPr>
        <p:spPr>
          <a:xfrm>
            <a:off x="7834630" y="1114743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lstStyle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0" name="Oval 27"/>
          <p:cNvSpPr>
            <a:spLocks noChangeArrowheads="1"/>
          </p:cNvSpPr>
          <p:nvPr/>
        </p:nvSpPr>
        <p:spPr bwMode="auto">
          <a:xfrm flipH="1">
            <a:off x="8541068" y="1770698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6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1" name="AutoShape 59"/>
          <p:cNvCxnSpPr>
            <a:endCxn id="10" idx="6"/>
          </p:cNvCxnSpPr>
          <p:nvPr/>
        </p:nvCxnSpPr>
        <p:spPr>
          <a:xfrm>
            <a:off x="7402830" y="1915795"/>
            <a:ext cx="1137920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triangle" w="med" len="med"/>
            <a:tailEnd type="none" w="med" len="med"/>
          </a:ln>
        </p:spPr>
      </p:cxnSp>
      <p:sp useBgFill="1">
        <p:nvSpPr>
          <p:cNvPr id="12" name="Oval 60"/>
          <p:cNvSpPr/>
          <p:nvPr/>
        </p:nvSpPr>
        <p:spPr>
          <a:xfrm>
            <a:off x="7834630" y="1770698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lstStyle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3" name="Oval 27"/>
          <p:cNvSpPr>
            <a:spLocks noChangeArrowheads="1"/>
          </p:cNvSpPr>
          <p:nvPr/>
        </p:nvSpPr>
        <p:spPr bwMode="auto">
          <a:xfrm flipH="1">
            <a:off x="9967278" y="1768158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8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4" name="AutoShape 59"/>
          <p:cNvCxnSpPr>
            <a:endCxn id="13" idx="6"/>
          </p:cNvCxnSpPr>
          <p:nvPr/>
        </p:nvCxnSpPr>
        <p:spPr>
          <a:xfrm>
            <a:off x="8829040" y="1913255"/>
            <a:ext cx="1137920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triangle" w="med" len="med"/>
            <a:tailEnd type="none" w="med" len="med"/>
          </a:ln>
        </p:spPr>
      </p:cxnSp>
      <p:sp useBgFill="1">
        <p:nvSpPr>
          <p:cNvPr id="15" name="Oval 60"/>
          <p:cNvSpPr/>
          <p:nvPr/>
        </p:nvSpPr>
        <p:spPr>
          <a:xfrm>
            <a:off x="9260840" y="1768158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lstStyle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16" name="Oval 27"/>
          <p:cNvSpPr>
            <a:spLocks noChangeArrowheads="1"/>
          </p:cNvSpPr>
          <p:nvPr/>
        </p:nvSpPr>
        <p:spPr bwMode="auto">
          <a:xfrm flipH="1">
            <a:off x="7114858" y="2691448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4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7" name="AutoShape 59"/>
          <p:cNvCxnSpPr>
            <a:stCxn id="1054746" idx="3"/>
            <a:endCxn id="16" idx="6"/>
          </p:cNvCxnSpPr>
          <p:nvPr/>
        </p:nvCxnSpPr>
        <p:spPr>
          <a:xfrm>
            <a:off x="5927725" y="2016760"/>
            <a:ext cx="1186815" cy="81978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18" name="Oval 60"/>
          <p:cNvSpPr/>
          <p:nvPr/>
        </p:nvSpPr>
        <p:spPr>
          <a:xfrm>
            <a:off x="6408420" y="2404428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lstStyle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20</a:t>
            </a:r>
          </a:p>
        </p:txBody>
      </p:sp>
      <p:cxnSp>
        <p:nvCxnSpPr>
          <p:cNvPr id="19" name="直接箭头连接符 18"/>
          <p:cNvCxnSpPr>
            <a:stCxn id="16" idx="0"/>
            <a:endCxn id="1054747" idx="4"/>
          </p:cNvCxnSpPr>
          <p:nvPr/>
        </p:nvCxnSpPr>
        <p:spPr>
          <a:xfrm flipH="1" flipV="1">
            <a:off x="7251065" y="2059305"/>
            <a:ext cx="6985" cy="63246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20" name="Oval 60"/>
          <p:cNvSpPr/>
          <p:nvPr/>
        </p:nvSpPr>
        <p:spPr>
          <a:xfrm>
            <a:off x="7106920" y="2283460"/>
            <a:ext cx="287655" cy="287020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lstStyle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8</a:t>
            </a:r>
          </a:p>
        </p:txBody>
      </p:sp>
      <p:sp>
        <p:nvSpPr>
          <p:cNvPr id="21" name="Oval 27"/>
          <p:cNvSpPr>
            <a:spLocks noChangeArrowheads="1"/>
          </p:cNvSpPr>
          <p:nvPr/>
        </p:nvSpPr>
        <p:spPr bwMode="auto">
          <a:xfrm flipH="1">
            <a:off x="8541068" y="2691448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7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22" name="Oval 27"/>
          <p:cNvSpPr>
            <a:spLocks noChangeArrowheads="1"/>
          </p:cNvSpPr>
          <p:nvPr/>
        </p:nvSpPr>
        <p:spPr bwMode="auto">
          <a:xfrm flipH="1">
            <a:off x="9967278" y="2691448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9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23" name="Oval 27"/>
          <p:cNvSpPr>
            <a:spLocks noChangeArrowheads="1"/>
          </p:cNvSpPr>
          <p:nvPr/>
        </p:nvSpPr>
        <p:spPr bwMode="auto">
          <a:xfrm flipH="1">
            <a:off x="11289348" y="1128078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10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24" name="直接箭头连接符 23"/>
          <p:cNvCxnSpPr>
            <a:stCxn id="7" idx="2"/>
            <a:endCxn id="13" idx="7"/>
          </p:cNvCxnSpPr>
          <p:nvPr/>
        </p:nvCxnSpPr>
        <p:spPr>
          <a:xfrm>
            <a:off x="8828405" y="1259840"/>
            <a:ext cx="1180465" cy="55118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25" name="直接箭头连接符 24"/>
          <p:cNvCxnSpPr>
            <a:stCxn id="13" idx="1"/>
            <a:endCxn id="23" idx="6"/>
          </p:cNvCxnSpPr>
          <p:nvPr/>
        </p:nvCxnSpPr>
        <p:spPr>
          <a:xfrm flipV="1">
            <a:off x="10212705" y="1273175"/>
            <a:ext cx="1076325" cy="53784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26" name="直接箭头连接符 25"/>
          <p:cNvCxnSpPr>
            <a:stCxn id="23" idx="5"/>
            <a:endCxn id="22" idx="1"/>
          </p:cNvCxnSpPr>
          <p:nvPr/>
        </p:nvCxnSpPr>
        <p:spPr>
          <a:xfrm flipH="1">
            <a:off x="10212705" y="1374775"/>
            <a:ext cx="1118235" cy="135953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27" name="直接箭头连接符 26"/>
          <p:cNvCxnSpPr>
            <a:stCxn id="22" idx="6"/>
            <a:endCxn id="21" idx="2"/>
          </p:cNvCxnSpPr>
          <p:nvPr/>
        </p:nvCxnSpPr>
        <p:spPr>
          <a:xfrm flipH="1">
            <a:off x="8828405" y="2836545"/>
            <a:ext cx="1138555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28" name="直接箭头连接符 27"/>
          <p:cNvCxnSpPr>
            <a:stCxn id="16" idx="2"/>
            <a:endCxn id="21" idx="6"/>
          </p:cNvCxnSpPr>
          <p:nvPr/>
        </p:nvCxnSpPr>
        <p:spPr>
          <a:xfrm>
            <a:off x="7402195" y="2836545"/>
            <a:ext cx="1138555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29" name="直接箭头连接符 28"/>
          <p:cNvCxnSpPr>
            <a:stCxn id="16" idx="1"/>
            <a:endCxn id="10" idx="5"/>
          </p:cNvCxnSpPr>
          <p:nvPr/>
        </p:nvCxnSpPr>
        <p:spPr>
          <a:xfrm flipV="1">
            <a:off x="7360285" y="2017395"/>
            <a:ext cx="1222375" cy="71691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30" name="直接箭头连接符 29"/>
          <p:cNvCxnSpPr>
            <a:stCxn id="21" idx="1"/>
            <a:endCxn id="13" idx="5"/>
          </p:cNvCxnSpPr>
          <p:nvPr/>
        </p:nvCxnSpPr>
        <p:spPr>
          <a:xfrm flipV="1">
            <a:off x="8786495" y="2014855"/>
            <a:ext cx="1222375" cy="71945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31" name="Oval 60"/>
          <p:cNvSpPr/>
          <p:nvPr/>
        </p:nvSpPr>
        <p:spPr>
          <a:xfrm>
            <a:off x="9253855" y="1417003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lstStyle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3</a:t>
            </a:r>
          </a:p>
        </p:txBody>
      </p:sp>
      <p:sp useBgFill="1">
        <p:nvSpPr>
          <p:cNvPr id="32" name="Oval 60"/>
          <p:cNvSpPr/>
          <p:nvPr/>
        </p:nvSpPr>
        <p:spPr>
          <a:xfrm>
            <a:off x="10607040" y="1417003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lstStyle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2</a:t>
            </a:r>
          </a:p>
        </p:txBody>
      </p:sp>
      <p:sp useBgFill="1">
        <p:nvSpPr>
          <p:cNvPr id="33" name="Oval 60"/>
          <p:cNvSpPr/>
          <p:nvPr/>
        </p:nvSpPr>
        <p:spPr>
          <a:xfrm>
            <a:off x="10607040" y="1915478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lstStyle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1</a:t>
            </a:r>
          </a:p>
        </p:txBody>
      </p:sp>
      <p:sp useBgFill="1">
        <p:nvSpPr>
          <p:cNvPr id="34" name="Oval 60"/>
          <p:cNvSpPr/>
          <p:nvPr/>
        </p:nvSpPr>
        <p:spPr>
          <a:xfrm>
            <a:off x="9336405" y="2693353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lstStyle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2</a:t>
            </a:r>
          </a:p>
        </p:txBody>
      </p:sp>
      <p:sp useBgFill="1">
        <p:nvSpPr>
          <p:cNvPr id="35" name="Oval 60"/>
          <p:cNvSpPr/>
          <p:nvPr/>
        </p:nvSpPr>
        <p:spPr>
          <a:xfrm>
            <a:off x="9274810" y="2202498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lstStyle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1</a:t>
            </a:r>
          </a:p>
        </p:txBody>
      </p:sp>
      <p:sp useBgFill="1">
        <p:nvSpPr>
          <p:cNvPr id="36" name="Oval 60"/>
          <p:cNvSpPr/>
          <p:nvPr/>
        </p:nvSpPr>
        <p:spPr>
          <a:xfrm>
            <a:off x="7943215" y="2158683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lstStyle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6</a:t>
            </a:r>
          </a:p>
        </p:txBody>
      </p:sp>
      <p:sp useBgFill="1">
        <p:nvSpPr>
          <p:cNvPr id="37" name="Oval 60"/>
          <p:cNvSpPr/>
          <p:nvPr/>
        </p:nvSpPr>
        <p:spPr>
          <a:xfrm>
            <a:off x="7834630" y="2733358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lstStyle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4</a:t>
            </a:r>
          </a:p>
        </p:txBody>
      </p:sp>
      <p:cxnSp>
        <p:nvCxnSpPr>
          <p:cNvPr id="38" name="直接箭头连接符 37"/>
          <p:cNvCxnSpPr>
            <a:stCxn id="7" idx="5"/>
            <a:endCxn id="1054747" idx="1"/>
          </p:cNvCxnSpPr>
          <p:nvPr/>
        </p:nvCxnSpPr>
        <p:spPr>
          <a:xfrm flipH="1">
            <a:off x="7353300" y="1361440"/>
            <a:ext cx="1229360" cy="45148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39" name="Oval 60"/>
          <p:cNvSpPr/>
          <p:nvPr/>
        </p:nvSpPr>
        <p:spPr>
          <a:xfrm>
            <a:off x="7943215" y="1443038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lstStyle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7</a:t>
            </a:r>
          </a:p>
        </p:txBody>
      </p:sp>
      <p:sp>
        <p:nvSpPr>
          <p:cNvPr id="3" name="AutoShape 3"/>
          <p:cNvSpPr/>
          <p:nvPr>
            <p:custDataLst>
              <p:tags r:id="rId2"/>
            </p:custDataLst>
          </p:nvPr>
        </p:nvSpPr>
        <p:spPr>
          <a:xfrm>
            <a:off x="2206625" y="319214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-1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40" name="AutoShape 4"/>
          <p:cNvSpPr/>
          <p:nvPr/>
        </p:nvSpPr>
        <p:spPr>
          <a:xfrm>
            <a:off x="2585085" y="319214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-1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41" name="AutoShape 5"/>
          <p:cNvSpPr/>
          <p:nvPr/>
        </p:nvSpPr>
        <p:spPr>
          <a:xfrm>
            <a:off x="2963545" y="319214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-1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42" name="AutoShape 6"/>
          <p:cNvSpPr/>
          <p:nvPr/>
        </p:nvSpPr>
        <p:spPr>
          <a:xfrm>
            <a:off x="3342005" y="319214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-1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43" name="AutoShape 7"/>
          <p:cNvSpPr/>
          <p:nvPr/>
        </p:nvSpPr>
        <p:spPr>
          <a:xfrm>
            <a:off x="3720465" y="319214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5</a:t>
            </a:r>
          </a:p>
        </p:txBody>
      </p:sp>
      <p:sp>
        <p:nvSpPr>
          <p:cNvPr id="44" name="AutoShape 8"/>
          <p:cNvSpPr/>
          <p:nvPr/>
        </p:nvSpPr>
        <p:spPr>
          <a:xfrm>
            <a:off x="4098925" y="319214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-1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45" name="AutoShape 9"/>
          <p:cNvSpPr/>
          <p:nvPr/>
        </p:nvSpPr>
        <p:spPr>
          <a:xfrm>
            <a:off x="4477385" y="319214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7</a:t>
            </a:r>
          </a:p>
        </p:txBody>
      </p:sp>
      <p:sp>
        <p:nvSpPr>
          <p:cNvPr id="46" name="AutoShape 14"/>
          <p:cNvSpPr/>
          <p:nvPr/>
        </p:nvSpPr>
        <p:spPr>
          <a:xfrm>
            <a:off x="1833801" y="319214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-1</a:t>
            </a:r>
          </a:p>
        </p:txBody>
      </p:sp>
      <p:sp>
        <p:nvSpPr>
          <p:cNvPr id="48" name="AutoShape 9"/>
          <p:cNvSpPr/>
          <p:nvPr/>
        </p:nvSpPr>
        <p:spPr>
          <a:xfrm>
            <a:off x="4854893" y="319214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-1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47" name="AutoShape 9"/>
          <p:cNvSpPr/>
          <p:nvPr/>
        </p:nvSpPr>
        <p:spPr>
          <a:xfrm>
            <a:off x="5213033" y="319214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-1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49" name="AutoShape 7"/>
          <p:cNvSpPr/>
          <p:nvPr/>
        </p:nvSpPr>
        <p:spPr>
          <a:xfrm>
            <a:off x="3724275" y="318198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-1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543560" y="3169920"/>
            <a:ext cx="88138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>
                <a:sym typeface="+mn-ea"/>
              </a:rPr>
              <a:t>path[n]</a:t>
            </a:r>
          </a:p>
        </p:txBody>
      </p:sp>
      <p:sp>
        <p:nvSpPr>
          <p:cNvPr id="51" name="AutoShape 3"/>
          <p:cNvSpPr/>
          <p:nvPr>
            <p:custDataLst>
              <p:tags r:id="rId3"/>
            </p:custDataLst>
          </p:nvPr>
        </p:nvSpPr>
        <p:spPr>
          <a:xfrm>
            <a:off x="2206625" y="353822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∞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52" name="AutoShape 4"/>
          <p:cNvSpPr/>
          <p:nvPr/>
        </p:nvSpPr>
        <p:spPr>
          <a:xfrm>
            <a:off x="2585085" y="353822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</a:p>
        </p:txBody>
      </p:sp>
      <p:sp>
        <p:nvSpPr>
          <p:cNvPr id="53" name="AutoShape 5"/>
          <p:cNvSpPr/>
          <p:nvPr/>
        </p:nvSpPr>
        <p:spPr>
          <a:xfrm>
            <a:off x="2963545" y="353822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∞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54" name="AutoShape 6"/>
          <p:cNvSpPr/>
          <p:nvPr/>
        </p:nvSpPr>
        <p:spPr>
          <a:xfrm>
            <a:off x="3342005" y="353822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∞</a:t>
            </a:r>
          </a:p>
        </p:txBody>
      </p:sp>
      <p:sp>
        <p:nvSpPr>
          <p:cNvPr id="55" name="AutoShape 7"/>
          <p:cNvSpPr/>
          <p:nvPr/>
        </p:nvSpPr>
        <p:spPr>
          <a:xfrm>
            <a:off x="3720465" y="353822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5</a:t>
            </a:r>
          </a:p>
        </p:txBody>
      </p:sp>
      <p:sp>
        <p:nvSpPr>
          <p:cNvPr id="56" name="AutoShape 8"/>
          <p:cNvSpPr/>
          <p:nvPr/>
        </p:nvSpPr>
        <p:spPr>
          <a:xfrm>
            <a:off x="4098925" y="353822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∞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57" name="AutoShape 9"/>
          <p:cNvSpPr/>
          <p:nvPr/>
        </p:nvSpPr>
        <p:spPr>
          <a:xfrm>
            <a:off x="4477385" y="353822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∞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58" name="AutoShape 14"/>
          <p:cNvSpPr/>
          <p:nvPr/>
        </p:nvSpPr>
        <p:spPr>
          <a:xfrm>
            <a:off x="1833801" y="353822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∞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59" name="AutoShape 9"/>
          <p:cNvSpPr/>
          <p:nvPr/>
        </p:nvSpPr>
        <p:spPr>
          <a:xfrm>
            <a:off x="4854893" y="353822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∞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60" name="AutoShape 9"/>
          <p:cNvSpPr/>
          <p:nvPr/>
        </p:nvSpPr>
        <p:spPr>
          <a:xfrm>
            <a:off x="5213033" y="353822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∞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61" name="AutoShape 7"/>
          <p:cNvSpPr/>
          <p:nvPr/>
        </p:nvSpPr>
        <p:spPr>
          <a:xfrm>
            <a:off x="3724275" y="352806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∞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608330" y="3538220"/>
            <a:ext cx="79248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>
                <a:sym typeface="+mn-ea"/>
              </a:rPr>
              <a:t>dist[n]</a:t>
            </a:r>
          </a:p>
        </p:txBody>
      </p:sp>
      <p:sp>
        <p:nvSpPr>
          <p:cNvPr id="63" name="AutoShape 9"/>
          <p:cNvSpPr/>
          <p:nvPr/>
        </p:nvSpPr>
        <p:spPr>
          <a:xfrm>
            <a:off x="4458335" y="318516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-1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74" name="AutoShape 14"/>
          <p:cNvSpPr/>
          <p:nvPr/>
        </p:nvSpPr>
        <p:spPr>
          <a:xfrm>
            <a:off x="1833801" y="353060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3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75" name="AutoShape 3"/>
          <p:cNvSpPr/>
          <p:nvPr>
            <p:custDataLst>
              <p:tags r:id="rId4"/>
            </p:custDataLst>
          </p:nvPr>
        </p:nvSpPr>
        <p:spPr>
          <a:xfrm>
            <a:off x="2206625" y="353822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5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76" name="AutoShape 5"/>
          <p:cNvSpPr/>
          <p:nvPr/>
        </p:nvSpPr>
        <p:spPr>
          <a:xfrm>
            <a:off x="2963545" y="353822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20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77" name="AutoShape 3"/>
          <p:cNvSpPr/>
          <p:nvPr>
            <p:custDataLst>
              <p:tags r:id="rId5"/>
            </p:custDataLst>
          </p:nvPr>
        </p:nvSpPr>
        <p:spPr>
          <a:xfrm>
            <a:off x="2206625" y="320167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1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78" name="AutoShape 5"/>
          <p:cNvSpPr/>
          <p:nvPr/>
        </p:nvSpPr>
        <p:spPr>
          <a:xfrm>
            <a:off x="2963545" y="320167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1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79" name="AutoShape 14"/>
          <p:cNvSpPr/>
          <p:nvPr/>
        </p:nvSpPr>
        <p:spPr>
          <a:xfrm>
            <a:off x="1833801" y="320167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3</a:t>
            </a:r>
          </a:p>
        </p:txBody>
      </p:sp>
      <p:sp>
        <p:nvSpPr>
          <p:cNvPr id="80" name="AutoShape 6"/>
          <p:cNvSpPr/>
          <p:nvPr/>
        </p:nvSpPr>
        <p:spPr>
          <a:xfrm>
            <a:off x="3341370" y="353631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6</a:t>
            </a:r>
          </a:p>
        </p:txBody>
      </p:sp>
      <p:sp>
        <p:nvSpPr>
          <p:cNvPr id="81" name="AutoShape 6"/>
          <p:cNvSpPr/>
          <p:nvPr/>
        </p:nvSpPr>
        <p:spPr>
          <a:xfrm>
            <a:off x="3342005" y="319278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2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82" name="AutoShape 9"/>
          <p:cNvSpPr/>
          <p:nvPr/>
        </p:nvSpPr>
        <p:spPr>
          <a:xfrm>
            <a:off x="4473575" y="318262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5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83" name="AutoShape 9"/>
          <p:cNvSpPr/>
          <p:nvPr/>
        </p:nvSpPr>
        <p:spPr>
          <a:xfrm>
            <a:off x="4473575" y="352869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9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84" name="AutoShape 7"/>
          <p:cNvSpPr/>
          <p:nvPr/>
        </p:nvSpPr>
        <p:spPr>
          <a:xfrm>
            <a:off x="3724275" y="319214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8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85" name="AutoShape 7"/>
          <p:cNvSpPr/>
          <p:nvPr/>
        </p:nvSpPr>
        <p:spPr>
          <a:xfrm>
            <a:off x="3724275" y="353822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11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86" name="AutoShape 9"/>
          <p:cNvSpPr/>
          <p:nvPr/>
        </p:nvSpPr>
        <p:spPr>
          <a:xfrm>
            <a:off x="5220018" y="318897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8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87" name="AutoShape 9"/>
          <p:cNvSpPr/>
          <p:nvPr/>
        </p:nvSpPr>
        <p:spPr>
          <a:xfrm>
            <a:off x="5212398" y="353504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11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88" name="AutoShape 9"/>
          <p:cNvSpPr/>
          <p:nvPr/>
        </p:nvSpPr>
        <p:spPr>
          <a:xfrm>
            <a:off x="4854893" y="319214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10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89" name="AutoShape 9"/>
          <p:cNvSpPr/>
          <p:nvPr/>
        </p:nvSpPr>
        <p:spPr>
          <a:xfrm>
            <a:off x="4854893" y="353822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12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90" name="AutoShape 8"/>
          <p:cNvSpPr/>
          <p:nvPr/>
        </p:nvSpPr>
        <p:spPr>
          <a:xfrm>
            <a:off x="4083050" y="319532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9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91" name="AutoShape 8"/>
          <p:cNvSpPr/>
          <p:nvPr/>
        </p:nvSpPr>
        <p:spPr>
          <a:xfrm>
            <a:off x="4083050" y="354139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14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1000" fill="hold"/>
                                        <p:tgtEl>
                                          <p:spTgt spid="105474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7" dur="1000" fill="hold"/>
                                        <p:tgtEl>
                                          <p:spTgt spid="105474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1000" fill="hold"/>
                                        <p:tgtEl>
                                          <p:spTgt spid="105474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3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xit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18" dur="500"/>
                                        <p:tgtEl>
                                          <p:spTgt spid="10547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54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1054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7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" dur="1000" fill="hold"/>
                                        <p:tgtEl>
                                          <p:spTgt spid="105477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27" dur="1000" fill="hold"/>
                                        <p:tgtEl>
                                          <p:spTgt spid="105477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" dur="1000" fill="hold"/>
                                        <p:tgtEl>
                                          <p:spTgt spid="105474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32" dur="1000" fill="hold"/>
                                        <p:tgtEl>
                                          <p:spTgt spid="105474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3" dur="1000" fill="hold"/>
                                        <p:tgtEl>
                                          <p:spTgt spid="105474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1" dur="1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42" dur="1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3" dur="1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4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22" presetClass="exit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5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000"/>
                            </p:stCondLst>
                            <p:childTnLst>
                              <p:par>
                                <p:cTn id="60" presetID="7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6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6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8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7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88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9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9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500"/>
                            </p:stCondLst>
                            <p:childTnLst>
                              <p:par>
                                <p:cTn id="9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0" presetID="7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0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2" dur="1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13" dur="1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4" dur="1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2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" presetID="22" presetClass="exit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2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>
                            <p:stCondLst>
                              <p:cond delay="500"/>
                            </p:stCondLst>
                            <p:childTnLst>
                              <p:par>
                                <p:cTn id="13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9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40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2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43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3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4330E"/>
                                      </p:to>
                                    </p:animClr>
                                    <p:set>
                                      <p:cBhvr>
                                        <p:cTn id="154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5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4" dur="10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65" dur="10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6" dur="10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22" presetClass="exit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17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2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7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5" fill="hold">
                            <p:stCondLst>
                              <p:cond delay="500"/>
                            </p:stCondLst>
                            <p:childTnLst>
                              <p:par>
                                <p:cTn id="176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2" fill="hold">
                            <p:stCondLst>
                              <p:cond delay="1000"/>
                            </p:stCondLst>
                            <p:childTnLst>
                              <p:par>
                                <p:cTn id="183" presetID="7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8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6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7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8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5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6" dur="1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97" dur="1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8" dur="1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2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20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4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" fill="hold">
                      <p:stCondLst>
                        <p:cond delay="indefinite"/>
                      </p:stCondLst>
                      <p:childTnLst>
                        <p:par>
                          <p:cTn id="206" fill="hold">
                            <p:stCondLst>
                              <p:cond delay="0"/>
                            </p:stCondLst>
                            <p:childTnLst>
                              <p:par>
                                <p:cTn id="207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8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4330E"/>
                                      </p:to>
                                    </p:animClr>
                                    <p:set>
                                      <p:cBhvr>
                                        <p:cTn id="209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0" fill="hold">
                      <p:stCondLst>
                        <p:cond delay="indefinite"/>
                      </p:stCondLst>
                      <p:childTnLst>
                        <p:par>
                          <p:cTn id="211" fill="hold">
                            <p:stCondLst>
                              <p:cond delay="0"/>
                            </p:stCondLst>
                            <p:childTnLst>
                              <p:par>
                                <p:cTn id="2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6" fill="hold">
                      <p:stCondLst>
                        <p:cond delay="indefinite"/>
                      </p:stCondLst>
                      <p:childTnLst>
                        <p:par>
                          <p:cTn id="217" fill="hold">
                            <p:stCondLst>
                              <p:cond delay="0"/>
                            </p:stCondLst>
                            <p:childTnLst>
                              <p:par>
                                <p:cTn id="218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9" dur="10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220" dur="10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1" dur="10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2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22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5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6" fill="hold">
                      <p:stCondLst>
                        <p:cond delay="indefinite"/>
                      </p:stCondLst>
                      <p:childTnLst>
                        <p:par>
                          <p:cTn id="227" fill="hold">
                            <p:stCondLst>
                              <p:cond delay="0"/>
                            </p:stCondLst>
                            <p:childTnLst>
                              <p:par>
                                <p:cTn id="228" presetID="2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22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1" fill="hold">
                            <p:stCondLst>
                              <p:cond delay="500"/>
                            </p:stCondLst>
                            <p:childTnLst>
                              <p:par>
                                <p:cTn id="23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5" fill="hold">
                            <p:stCondLst>
                              <p:cond delay="1000"/>
                            </p:stCondLst>
                            <p:childTnLst>
                              <p:par>
                                <p:cTn id="236" presetID="7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7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238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9" fill="hold">
                      <p:stCondLst>
                        <p:cond delay="indefinite"/>
                      </p:stCondLst>
                      <p:childTnLst>
                        <p:par>
                          <p:cTn id="240" fill="hold">
                            <p:stCondLst>
                              <p:cond delay="0"/>
                            </p:stCondLst>
                            <p:childTnLst>
                              <p:par>
                                <p:cTn id="241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24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5" fill="hold">
                      <p:stCondLst>
                        <p:cond delay="indefinite"/>
                      </p:stCondLst>
                      <p:childTnLst>
                        <p:par>
                          <p:cTn id="246" fill="hold">
                            <p:stCondLst>
                              <p:cond delay="0"/>
                            </p:stCondLst>
                            <p:childTnLst>
                              <p:par>
                                <p:cTn id="2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1" fill="hold">
                      <p:stCondLst>
                        <p:cond delay="indefinite"/>
                      </p:stCondLst>
                      <p:childTnLst>
                        <p:par>
                          <p:cTn id="252" fill="hold">
                            <p:stCondLst>
                              <p:cond delay="0"/>
                            </p:stCondLst>
                            <p:childTnLst>
                              <p:par>
                                <p:cTn id="253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4" dur="10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255" dur="10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56" dur="10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7" fill="hold">
                      <p:stCondLst>
                        <p:cond delay="indefinite"/>
                      </p:stCondLst>
                      <p:childTnLst>
                        <p:par>
                          <p:cTn id="258" fill="hold">
                            <p:stCondLst>
                              <p:cond delay="0"/>
                            </p:stCondLst>
                            <p:childTnLst>
                              <p:par>
                                <p:cTn id="259" presetID="22" presetClass="exit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26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2" fill="hold">
                            <p:stCondLst>
                              <p:cond delay="500"/>
                            </p:stCondLst>
                            <p:childTnLst>
                              <p:par>
                                <p:cTn id="26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6" fill="hold">
                      <p:stCondLst>
                        <p:cond delay="indefinite"/>
                      </p:stCondLst>
                      <p:childTnLst>
                        <p:par>
                          <p:cTn id="267" fill="hold">
                            <p:stCondLst>
                              <p:cond delay="0"/>
                            </p:stCondLst>
                            <p:childTnLst>
                              <p:par>
                                <p:cTn id="26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2" fill="hold">
                      <p:stCondLst>
                        <p:cond delay="indefinite"/>
                      </p:stCondLst>
                      <p:childTnLst>
                        <p:par>
                          <p:cTn id="273" fill="hold">
                            <p:stCondLst>
                              <p:cond delay="0"/>
                            </p:stCondLst>
                            <p:childTnLst>
                              <p:par>
                                <p:cTn id="274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5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27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77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8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9" dur="10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280" dur="10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81" dur="10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2" fill="hold">
                      <p:stCondLst>
                        <p:cond delay="indefinite"/>
                      </p:stCondLst>
                      <p:childTnLst>
                        <p:par>
                          <p:cTn id="283" fill="hold">
                            <p:stCondLst>
                              <p:cond delay="0"/>
                            </p:stCondLst>
                            <p:childTnLst>
                              <p:par>
                                <p:cTn id="284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5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4330E"/>
                                      </p:to>
                                    </p:animClr>
                                    <p:set>
                                      <p:cBhvr>
                                        <p:cTn id="286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7" fill="hold">
                      <p:stCondLst>
                        <p:cond delay="indefinite"/>
                      </p:stCondLst>
                      <p:childTnLst>
                        <p:par>
                          <p:cTn id="288" fill="hold">
                            <p:stCondLst>
                              <p:cond delay="0"/>
                            </p:stCondLst>
                            <p:childTnLst>
                              <p:par>
                                <p:cTn id="289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0" dur="1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291" dur="1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92" dur="1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29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9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" grpId="0" bldLvl="0" animBg="1"/>
      <p:bldP spid="75" grpId="0" bldLvl="0" animBg="1"/>
      <p:bldP spid="76" grpId="0" bldLvl="0" animBg="1"/>
      <p:bldP spid="77" grpId="0" bldLvl="0" animBg="1"/>
      <p:bldP spid="78" grpId="0" bldLvl="0" animBg="1"/>
      <p:bldP spid="80" grpId="0" bldLvl="0" animBg="1"/>
      <p:bldP spid="81" grpId="0" bldLvl="0" animBg="1"/>
      <p:bldP spid="82" grpId="0" bldLvl="0" animBg="1"/>
      <p:bldP spid="83" grpId="0" bldLvl="0" animBg="1"/>
      <p:bldP spid="84" grpId="0" bldLvl="0" animBg="1"/>
      <p:bldP spid="85" grpId="0" bldLvl="0" animBg="1"/>
      <p:bldP spid="86" grpId="0" bldLvl="0" animBg="1"/>
      <p:bldP spid="87" grpId="0" bldLvl="0" animBg="1"/>
      <p:bldP spid="88" grpId="0" bldLvl="0" animBg="1"/>
      <p:bldP spid="89" grpId="0" bldLvl="0" animBg="1"/>
      <p:bldP spid="90" grpId="0" bldLvl="0" animBg="1"/>
      <p:bldP spid="91" grpId="0" bldLvl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AutoShape 3"/>
          <p:cNvSpPr/>
          <p:nvPr/>
        </p:nvSpPr>
        <p:spPr>
          <a:xfrm>
            <a:off x="1854835" y="2950845"/>
            <a:ext cx="323850" cy="323850"/>
          </a:xfrm>
          <a:prstGeom prst="roundRect">
            <a:avLst>
              <a:gd name="adj" fmla="val 16667"/>
            </a:avLst>
          </a:prstGeom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 anchor="ctr" anchorCtr="1"/>
          <a:lstStyle/>
          <a:p>
            <a:pPr algn="ctr"/>
            <a:r>
              <a:rPr lang="en-US" altLang="zh-CN" sz="900" b="1" dirty="0">
                <a:solidFill>
                  <a:schemeClr val="tx1"/>
                </a:solidFill>
                <a:latin typeface="微软雅黑" panose="020B0503020204020204" pitchFamily="34" charset="-122"/>
              </a:rPr>
              <a:t>1</a:t>
            </a:r>
          </a:p>
        </p:txBody>
      </p:sp>
      <p:sp>
        <p:nvSpPr>
          <p:cNvPr id="65" name="AutoShape 4"/>
          <p:cNvSpPr/>
          <p:nvPr/>
        </p:nvSpPr>
        <p:spPr>
          <a:xfrm>
            <a:off x="2233295" y="2950845"/>
            <a:ext cx="323850" cy="323850"/>
          </a:xfrm>
          <a:prstGeom prst="roundRect">
            <a:avLst>
              <a:gd name="adj" fmla="val 16667"/>
            </a:avLst>
          </a:prstGeom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 anchor="ctr" anchorCtr="1"/>
          <a:lstStyle/>
          <a:p>
            <a:pPr algn="ctr"/>
            <a:r>
              <a:rPr lang="en-US" altLang="zh-CN" sz="900" b="1" dirty="0">
                <a:solidFill>
                  <a:schemeClr val="tx1"/>
                </a:solidFill>
                <a:latin typeface="微软雅黑" panose="020B0503020204020204" pitchFamily="34" charset="-122"/>
              </a:rPr>
              <a:t>2</a:t>
            </a:r>
          </a:p>
        </p:txBody>
      </p:sp>
      <p:sp>
        <p:nvSpPr>
          <p:cNvPr id="66" name="AutoShape 5"/>
          <p:cNvSpPr/>
          <p:nvPr/>
        </p:nvSpPr>
        <p:spPr>
          <a:xfrm>
            <a:off x="2611755" y="2950845"/>
            <a:ext cx="323850" cy="323850"/>
          </a:xfrm>
          <a:prstGeom prst="roundRect">
            <a:avLst>
              <a:gd name="adj" fmla="val 16667"/>
            </a:avLst>
          </a:prstGeom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 anchor="ctr" anchorCtr="1"/>
          <a:lstStyle/>
          <a:p>
            <a:pPr algn="ctr"/>
            <a:r>
              <a:rPr lang="en-US" altLang="zh-CN" sz="900" b="1" dirty="0">
                <a:solidFill>
                  <a:schemeClr val="tx1"/>
                </a:solidFill>
                <a:latin typeface="微软雅黑" panose="020B0503020204020204" pitchFamily="34" charset="-122"/>
              </a:rPr>
              <a:t>3</a:t>
            </a:r>
          </a:p>
        </p:txBody>
      </p:sp>
      <p:sp>
        <p:nvSpPr>
          <p:cNvPr id="67" name="AutoShape 6"/>
          <p:cNvSpPr/>
          <p:nvPr/>
        </p:nvSpPr>
        <p:spPr>
          <a:xfrm>
            <a:off x="2989580" y="2950845"/>
            <a:ext cx="323850" cy="323850"/>
          </a:xfrm>
          <a:prstGeom prst="roundRect">
            <a:avLst>
              <a:gd name="adj" fmla="val 16667"/>
            </a:avLst>
          </a:prstGeom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 anchor="ctr" anchorCtr="1"/>
          <a:lstStyle/>
          <a:p>
            <a:pPr algn="ctr"/>
            <a:r>
              <a:rPr lang="en-US" altLang="zh-CN" sz="900" b="1" dirty="0">
                <a:solidFill>
                  <a:schemeClr val="tx1"/>
                </a:solidFill>
                <a:latin typeface="微软雅黑" panose="020B0503020204020204" pitchFamily="34" charset="-122"/>
              </a:rPr>
              <a:t>4</a:t>
            </a:r>
          </a:p>
        </p:txBody>
      </p:sp>
      <p:sp>
        <p:nvSpPr>
          <p:cNvPr id="68" name="AutoShape 7"/>
          <p:cNvSpPr/>
          <p:nvPr/>
        </p:nvSpPr>
        <p:spPr>
          <a:xfrm>
            <a:off x="3368040" y="2950845"/>
            <a:ext cx="323850" cy="323850"/>
          </a:xfrm>
          <a:prstGeom prst="roundRect">
            <a:avLst>
              <a:gd name="adj" fmla="val 16667"/>
            </a:avLst>
          </a:prstGeom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 anchor="ctr" anchorCtr="1"/>
          <a:lstStyle/>
          <a:p>
            <a:pPr algn="ctr"/>
            <a:r>
              <a:rPr lang="en-US" altLang="zh-CN" sz="900" b="1" dirty="0">
                <a:solidFill>
                  <a:schemeClr val="tx1"/>
                </a:solidFill>
                <a:latin typeface="微软雅黑" panose="020B0503020204020204" pitchFamily="34" charset="-122"/>
              </a:rPr>
              <a:t>5</a:t>
            </a:r>
          </a:p>
        </p:txBody>
      </p:sp>
      <p:sp>
        <p:nvSpPr>
          <p:cNvPr id="69" name="AutoShape 8"/>
          <p:cNvSpPr/>
          <p:nvPr/>
        </p:nvSpPr>
        <p:spPr>
          <a:xfrm>
            <a:off x="3746500" y="2950845"/>
            <a:ext cx="323850" cy="323850"/>
          </a:xfrm>
          <a:prstGeom prst="roundRect">
            <a:avLst>
              <a:gd name="adj" fmla="val 16667"/>
            </a:avLst>
          </a:prstGeom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 anchor="ctr" anchorCtr="1"/>
          <a:lstStyle/>
          <a:p>
            <a:pPr algn="ctr"/>
            <a:r>
              <a:rPr lang="en-US" altLang="zh-CN" sz="900" b="1" dirty="0">
                <a:solidFill>
                  <a:schemeClr val="tx1"/>
                </a:solidFill>
                <a:latin typeface="微软雅黑" panose="020B0503020204020204" pitchFamily="34" charset="-122"/>
              </a:rPr>
              <a:t>6</a:t>
            </a:r>
          </a:p>
        </p:txBody>
      </p:sp>
      <p:sp>
        <p:nvSpPr>
          <p:cNvPr id="70" name="AutoShape 9"/>
          <p:cNvSpPr/>
          <p:nvPr/>
        </p:nvSpPr>
        <p:spPr>
          <a:xfrm>
            <a:off x="4123055" y="2950845"/>
            <a:ext cx="323850" cy="323850"/>
          </a:xfrm>
          <a:prstGeom prst="roundRect">
            <a:avLst>
              <a:gd name="adj" fmla="val 16667"/>
            </a:avLst>
          </a:prstGeom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 anchor="ctr" anchorCtr="1"/>
          <a:lstStyle/>
          <a:p>
            <a:pPr algn="ctr"/>
            <a:r>
              <a:rPr lang="en-US" altLang="zh-CN" sz="900" b="1" dirty="0">
                <a:solidFill>
                  <a:schemeClr val="tx1"/>
                </a:solidFill>
                <a:latin typeface="微软雅黑" panose="020B0503020204020204" pitchFamily="34" charset="-122"/>
              </a:rPr>
              <a:t>7</a:t>
            </a:r>
          </a:p>
        </p:txBody>
      </p:sp>
      <p:sp>
        <p:nvSpPr>
          <p:cNvPr id="71" name="AutoShape 14"/>
          <p:cNvSpPr/>
          <p:nvPr/>
        </p:nvSpPr>
        <p:spPr>
          <a:xfrm>
            <a:off x="5213350" y="2950845"/>
            <a:ext cx="323850" cy="323850"/>
          </a:xfrm>
          <a:prstGeom prst="roundRect">
            <a:avLst>
              <a:gd name="adj" fmla="val 16667"/>
            </a:avLst>
          </a:prstGeom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 anchor="ctr" anchorCtr="1"/>
          <a:lstStyle/>
          <a:p>
            <a:pPr algn="ctr"/>
            <a:r>
              <a:rPr lang="en-US" altLang="zh-CN" sz="900" b="1" dirty="0">
                <a:solidFill>
                  <a:schemeClr val="tx1"/>
                </a:solidFill>
                <a:latin typeface="微软雅黑" panose="020B0503020204020204" pitchFamily="34" charset="-122"/>
              </a:rPr>
              <a:t>10</a:t>
            </a:r>
          </a:p>
        </p:txBody>
      </p:sp>
      <p:sp>
        <p:nvSpPr>
          <p:cNvPr id="72" name="AutoShape 9"/>
          <p:cNvSpPr/>
          <p:nvPr/>
        </p:nvSpPr>
        <p:spPr>
          <a:xfrm>
            <a:off x="4493260" y="2950845"/>
            <a:ext cx="323850" cy="323850"/>
          </a:xfrm>
          <a:prstGeom prst="roundRect">
            <a:avLst>
              <a:gd name="adj" fmla="val 16667"/>
            </a:avLst>
          </a:prstGeom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 anchor="ctr" anchorCtr="1"/>
          <a:lstStyle/>
          <a:p>
            <a:pPr algn="ctr"/>
            <a:r>
              <a:rPr lang="en-US" altLang="zh-CN" sz="900" b="1" dirty="0">
                <a:solidFill>
                  <a:schemeClr val="tx1"/>
                </a:solidFill>
                <a:latin typeface="微软雅黑" panose="020B0503020204020204" pitchFamily="34" charset="-122"/>
              </a:rPr>
              <a:t>8</a:t>
            </a:r>
          </a:p>
        </p:txBody>
      </p:sp>
      <p:sp>
        <p:nvSpPr>
          <p:cNvPr id="73" name="AutoShape 9"/>
          <p:cNvSpPr/>
          <p:nvPr/>
        </p:nvSpPr>
        <p:spPr>
          <a:xfrm>
            <a:off x="4855210" y="2950845"/>
            <a:ext cx="323850" cy="323850"/>
          </a:xfrm>
          <a:prstGeom prst="roundRect">
            <a:avLst>
              <a:gd name="adj" fmla="val 16667"/>
            </a:avLst>
          </a:prstGeom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 anchor="ctr" anchorCtr="1"/>
          <a:lstStyle/>
          <a:p>
            <a:pPr algn="ctr"/>
            <a:r>
              <a:rPr lang="en-US" altLang="zh-CN" sz="900" b="1" dirty="0">
                <a:solidFill>
                  <a:schemeClr val="tx1"/>
                </a:solidFill>
                <a:latin typeface="微软雅黑" panose="020B0503020204020204" pitchFamily="34" charset="-122"/>
              </a:rPr>
              <a:t>9</a:t>
            </a:r>
          </a:p>
        </p:txBody>
      </p:sp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Dijkstra</a:t>
            </a:r>
            <a:r>
              <a:rPr lang="zh-CN" altLang="en-US"/>
              <a:t>算法求路径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  <a:t>3</a:t>
            </a:fld>
            <a:endParaRPr lang="zh-CN" altLang="en-US" noProof="0" dirty="0"/>
          </a:p>
        </p:txBody>
      </p:sp>
      <p:sp>
        <p:nvSpPr>
          <p:cNvPr id="1054746" name="Oval 26"/>
          <p:cNvSpPr>
            <a:spLocks noChangeArrowheads="1"/>
          </p:cNvSpPr>
          <p:nvPr/>
        </p:nvSpPr>
        <p:spPr bwMode="auto">
          <a:xfrm flipH="1">
            <a:off x="5682298" y="1770063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1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54747" name="Oval 27"/>
          <p:cNvSpPr>
            <a:spLocks noChangeArrowheads="1"/>
          </p:cNvSpPr>
          <p:nvPr/>
        </p:nvSpPr>
        <p:spPr bwMode="auto">
          <a:xfrm flipH="1">
            <a:off x="7107873" y="1770063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3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54779" name="AutoShape 59"/>
          <p:cNvCxnSpPr>
            <a:stCxn id="1054746" idx="2"/>
            <a:endCxn id="1054747" idx="6"/>
          </p:cNvCxnSpPr>
          <p:nvPr/>
        </p:nvCxnSpPr>
        <p:spPr>
          <a:xfrm>
            <a:off x="5969635" y="1915160"/>
            <a:ext cx="1137920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triangle" w="med" len="med"/>
            <a:tailEnd type="none" w="med" len="med"/>
          </a:ln>
        </p:spPr>
      </p:cxnSp>
      <p:sp useBgFill="1">
        <p:nvSpPr>
          <p:cNvPr id="1054780" name="Oval 60"/>
          <p:cNvSpPr/>
          <p:nvPr/>
        </p:nvSpPr>
        <p:spPr>
          <a:xfrm>
            <a:off x="6401435" y="1770063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lstStyle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4" name="Oval 27"/>
          <p:cNvSpPr>
            <a:spLocks noChangeArrowheads="1"/>
          </p:cNvSpPr>
          <p:nvPr/>
        </p:nvSpPr>
        <p:spPr bwMode="auto">
          <a:xfrm flipH="1">
            <a:off x="7107238" y="1114743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2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AutoShape 59"/>
          <p:cNvCxnSpPr>
            <a:stCxn id="1054746" idx="1"/>
            <a:endCxn id="4" idx="6"/>
          </p:cNvCxnSpPr>
          <p:nvPr/>
        </p:nvCxnSpPr>
        <p:spPr>
          <a:xfrm flipV="1">
            <a:off x="5927725" y="1259840"/>
            <a:ext cx="1179195" cy="55308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6" name="Oval 60"/>
          <p:cNvSpPr/>
          <p:nvPr/>
        </p:nvSpPr>
        <p:spPr>
          <a:xfrm>
            <a:off x="6373495" y="1417003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lstStyle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7" name="Oval 27"/>
          <p:cNvSpPr>
            <a:spLocks noChangeArrowheads="1"/>
          </p:cNvSpPr>
          <p:nvPr/>
        </p:nvSpPr>
        <p:spPr bwMode="auto">
          <a:xfrm flipH="1">
            <a:off x="8541068" y="1114743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5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8" name="AutoShape 59"/>
          <p:cNvCxnSpPr>
            <a:endCxn id="7" idx="6"/>
          </p:cNvCxnSpPr>
          <p:nvPr/>
        </p:nvCxnSpPr>
        <p:spPr>
          <a:xfrm>
            <a:off x="7402830" y="1259840"/>
            <a:ext cx="1137920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9" name="Oval 60"/>
          <p:cNvSpPr/>
          <p:nvPr/>
        </p:nvSpPr>
        <p:spPr>
          <a:xfrm>
            <a:off x="7834630" y="1114743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lstStyle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0" name="Oval 27"/>
          <p:cNvSpPr>
            <a:spLocks noChangeArrowheads="1"/>
          </p:cNvSpPr>
          <p:nvPr/>
        </p:nvSpPr>
        <p:spPr bwMode="auto">
          <a:xfrm flipH="1">
            <a:off x="8541068" y="1770698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6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1" name="AutoShape 59"/>
          <p:cNvCxnSpPr>
            <a:endCxn id="10" idx="6"/>
          </p:cNvCxnSpPr>
          <p:nvPr/>
        </p:nvCxnSpPr>
        <p:spPr>
          <a:xfrm>
            <a:off x="7402830" y="1915795"/>
            <a:ext cx="1137920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triangle" w="med" len="med"/>
            <a:tailEnd type="none" w="med" len="med"/>
          </a:ln>
        </p:spPr>
      </p:cxnSp>
      <p:sp useBgFill="1">
        <p:nvSpPr>
          <p:cNvPr id="12" name="Oval 60"/>
          <p:cNvSpPr/>
          <p:nvPr/>
        </p:nvSpPr>
        <p:spPr>
          <a:xfrm>
            <a:off x="7834630" y="1770698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lstStyle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3" name="Oval 27"/>
          <p:cNvSpPr>
            <a:spLocks noChangeArrowheads="1"/>
          </p:cNvSpPr>
          <p:nvPr/>
        </p:nvSpPr>
        <p:spPr bwMode="auto">
          <a:xfrm flipH="1">
            <a:off x="9967278" y="1768158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8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4" name="AutoShape 59"/>
          <p:cNvCxnSpPr>
            <a:endCxn id="13" idx="6"/>
          </p:cNvCxnSpPr>
          <p:nvPr/>
        </p:nvCxnSpPr>
        <p:spPr>
          <a:xfrm>
            <a:off x="8829040" y="1913255"/>
            <a:ext cx="1137920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triangle" w="med" len="med"/>
            <a:tailEnd type="none" w="med" len="med"/>
          </a:ln>
        </p:spPr>
      </p:cxnSp>
      <p:sp useBgFill="1">
        <p:nvSpPr>
          <p:cNvPr id="15" name="Oval 60"/>
          <p:cNvSpPr/>
          <p:nvPr/>
        </p:nvSpPr>
        <p:spPr>
          <a:xfrm>
            <a:off x="9260840" y="1768158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lstStyle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16" name="Oval 27"/>
          <p:cNvSpPr>
            <a:spLocks noChangeArrowheads="1"/>
          </p:cNvSpPr>
          <p:nvPr/>
        </p:nvSpPr>
        <p:spPr bwMode="auto">
          <a:xfrm flipH="1">
            <a:off x="7114858" y="2691448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4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7" name="AutoShape 59"/>
          <p:cNvCxnSpPr>
            <a:stCxn id="1054746" idx="3"/>
            <a:endCxn id="16" idx="6"/>
          </p:cNvCxnSpPr>
          <p:nvPr/>
        </p:nvCxnSpPr>
        <p:spPr>
          <a:xfrm>
            <a:off x="5927725" y="2016760"/>
            <a:ext cx="1186815" cy="81978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18" name="Oval 60"/>
          <p:cNvSpPr/>
          <p:nvPr/>
        </p:nvSpPr>
        <p:spPr>
          <a:xfrm>
            <a:off x="6408420" y="2404428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lstStyle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20</a:t>
            </a:r>
          </a:p>
        </p:txBody>
      </p:sp>
      <p:cxnSp>
        <p:nvCxnSpPr>
          <p:cNvPr id="19" name="直接箭头连接符 18"/>
          <p:cNvCxnSpPr>
            <a:stCxn id="16" idx="0"/>
            <a:endCxn id="1054747" idx="4"/>
          </p:cNvCxnSpPr>
          <p:nvPr/>
        </p:nvCxnSpPr>
        <p:spPr>
          <a:xfrm flipH="1" flipV="1">
            <a:off x="7251065" y="2059305"/>
            <a:ext cx="6985" cy="63246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20" name="Oval 60"/>
          <p:cNvSpPr/>
          <p:nvPr/>
        </p:nvSpPr>
        <p:spPr>
          <a:xfrm>
            <a:off x="7106920" y="2283460"/>
            <a:ext cx="287655" cy="287020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lstStyle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8</a:t>
            </a:r>
          </a:p>
        </p:txBody>
      </p:sp>
      <p:sp>
        <p:nvSpPr>
          <p:cNvPr id="21" name="Oval 27"/>
          <p:cNvSpPr>
            <a:spLocks noChangeArrowheads="1"/>
          </p:cNvSpPr>
          <p:nvPr/>
        </p:nvSpPr>
        <p:spPr bwMode="auto">
          <a:xfrm flipH="1">
            <a:off x="8541068" y="2691448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7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22" name="Oval 27"/>
          <p:cNvSpPr>
            <a:spLocks noChangeArrowheads="1"/>
          </p:cNvSpPr>
          <p:nvPr/>
        </p:nvSpPr>
        <p:spPr bwMode="auto">
          <a:xfrm flipH="1">
            <a:off x="9967278" y="2691448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9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23" name="Oval 27"/>
          <p:cNvSpPr>
            <a:spLocks noChangeArrowheads="1"/>
          </p:cNvSpPr>
          <p:nvPr/>
        </p:nvSpPr>
        <p:spPr bwMode="auto">
          <a:xfrm flipH="1">
            <a:off x="11289348" y="1128078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10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24" name="直接箭头连接符 23"/>
          <p:cNvCxnSpPr>
            <a:stCxn id="7" idx="2"/>
            <a:endCxn id="13" idx="7"/>
          </p:cNvCxnSpPr>
          <p:nvPr/>
        </p:nvCxnSpPr>
        <p:spPr>
          <a:xfrm>
            <a:off x="8828405" y="1259840"/>
            <a:ext cx="1180465" cy="55118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25" name="直接箭头连接符 24"/>
          <p:cNvCxnSpPr>
            <a:stCxn id="13" idx="1"/>
            <a:endCxn id="23" idx="6"/>
          </p:cNvCxnSpPr>
          <p:nvPr/>
        </p:nvCxnSpPr>
        <p:spPr>
          <a:xfrm flipV="1">
            <a:off x="10212705" y="1273175"/>
            <a:ext cx="1076325" cy="53784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26" name="直接箭头连接符 25"/>
          <p:cNvCxnSpPr>
            <a:stCxn id="23" idx="5"/>
            <a:endCxn id="22" idx="1"/>
          </p:cNvCxnSpPr>
          <p:nvPr/>
        </p:nvCxnSpPr>
        <p:spPr>
          <a:xfrm flipH="1">
            <a:off x="10212705" y="1374775"/>
            <a:ext cx="1118235" cy="135953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27" name="直接箭头连接符 26"/>
          <p:cNvCxnSpPr>
            <a:stCxn id="22" idx="6"/>
            <a:endCxn id="21" idx="2"/>
          </p:cNvCxnSpPr>
          <p:nvPr/>
        </p:nvCxnSpPr>
        <p:spPr>
          <a:xfrm flipH="1">
            <a:off x="8828405" y="2836545"/>
            <a:ext cx="1138555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28" name="直接箭头连接符 27"/>
          <p:cNvCxnSpPr>
            <a:stCxn id="16" idx="2"/>
            <a:endCxn id="21" idx="6"/>
          </p:cNvCxnSpPr>
          <p:nvPr/>
        </p:nvCxnSpPr>
        <p:spPr>
          <a:xfrm>
            <a:off x="7402195" y="2836545"/>
            <a:ext cx="1138555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29" name="直接箭头连接符 28"/>
          <p:cNvCxnSpPr>
            <a:stCxn id="16" idx="1"/>
            <a:endCxn id="10" idx="5"/>
          </p:cNvCxnSpPr>
          <p:nvPr/>
        </p:nvCxnSpPr>
        <p:spPr>
          <a:xfrm flipV="1">
            <a:off x="7360285" y="2017395"/>
            <a:ext cx="1222375" cy="71691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30" name="直接箭头连接符 29"/>
          <p:cNvCxnSpPr>
            <a:stCxn id="21" idx="1"/>
            <a:endCxn id="13" idx="5"/>
          </p:cNvCxnSpPr>
          <p:nvPr/>
        </p:nvCxnSpPr>
        <p:spPr>
          <a:xfrm flipV="1">
            <a:off x="8786495" y="2014855"/>
            <a:ext cx="1222375" cy="71945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31" name="Oval 60"/>
          <p:cNvSpPr/>
          <p:nvPr/>
        </p:nvSpPr>
        <p:spPr>
          <a:xfrm>
            <a:off x="9253855" y="1417003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lstStyle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3</a:t>
            </a:r>
          </a:p>
        </p:txBody>
      </p:sp>
      <p:sp useBgFill="1">
        <p:nvSpPr>
          <p:cNvPr id="32" name="Oval 60"/>
          <p:cNvSpPr/>
          <p:nvPr/>
        </p:nvSpPr>
        <p:spPr>
          <a:xfrm>
            <a:off x="10607040" y="1417003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lstStyle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2</a:t>
            </a:r>
          </a:p>
        </p:txBody>
      </p:sp>
      <p:sp useBgFill="1">
        <p:nvSpPr>
          <p:cNvPr id="33" name="Oval 60"/>
          <p:cNvSpPr/>
          <p:nvPr/>
        </p:nvSpPr>
        <p:spPr>
          <a:xfrm>
            <a:off x="10607040" y="1915478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lstStyle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1</a:t>
            </a:r>
          </a:p>
        </p:txBody>
      </p:sp>
      <p:sp useBgFill="1">
        <p:nvSpPr>
          <p:cNvPr id="34" name="Oval 60"/>
          <p:cNvSpPr/>
          <p:nvPr/>
        </p:nvSpPr>
        <p:spPr>
          <a:xfrm>
            <a:off x="9336405" y="2693353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lstStyle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2</a:t>
            </a:r>
          </a:p>
        </p:txBody>
      </p:sp>
      <p:sp useBgFill="1">
        <p:nvSpPr>
          <p:cNvPr id="35" name="Oval 60"/>
          <p:cNvSpPr/>
          <p:nvPr/>
        </p:nvSpPr>
        <p:spPr>
          <a:xfrm>
            <a:off x="9274810" y="2202498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lstStyle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1</a:t>
            </a:r>
          </a:p>
        </p:txBody>
      </p:sp>
      <p:sp useBgFill="1">
        <p:nvSpPr>
          <p:cNvPr id="36" name="Oval 60"/>
          <p:cNvSpPr/>
          <p:nvPr/>
        </p:nvSpPr>
        <p:spPr>
          <a:xfrm>
            <a:off x="7943215" y="2158683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lstStyle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6</a:t>
            </a:r>
          </a:p>
        </p:txBody>
      </p:sp>
      <p:sp useBgFill="1">
        <p:nvSpPr>
          <p:cNvPr id="37" name="Oval 60"/>
          <p:cNvSpPr/>
          <p:nvPr/>
        </p:nvSpPr>
        <p:spPr>
          <a:xfrm>
            <a:off x="7834630" y="2733358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lstStyle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4</a:t>
            </a:r>
          </a:p>
        </p:txBody>
      </p:sp>
      <p:cxnSp>
        <p:nvCxnSpPr>
          <p:cNvPr id="38" name="直接箭头连接符 37"/>
          <p:cNvCxnSpPr>
            <a:stCxn id="7" idx="5"/>
            <a:endCxn id="1054747" idx="1"/>
          </p:cNvCxnSpPr>
          <p:nvPr/>
        </p:nvCxnSpPr>
        <p:spPr>
          <a:xfrm flipH="1">
            <a:off x="7353300" y="1361440"/>
            <a:ext cx="1229360" cy="45148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39" name="Oval 60"/>
          <p:cNvSpPr/>
          <p:nvPr/>
        </p:nvSpPr>
        <p:spPr>
          <a:xfrm>
            <a:off x="7943215" y="1443038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lstStyle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7</a:t>
            </a:r>
          </a:p>
        </p:txBody>
      </p:sp>
      <p:sp>
        <p:nvSpPr>
          <p:cNvPr id="3" name="AutoShape 3"/>
          <p:cNvSpPr/>
          <p:nvPr>
            <p:custDataLst>
              <p:tags r:id="rId2"/>
            </p:custDataLst>
          </p:nvPr>
        </p:nvSpPr>
        <p:spPr>
          <a:xfrm>
            <a:off x="2206625" y="319214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-1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40" name="AutoShape 4"/>
          <p:cNvSpPr/>
          <p:nvPr/>
        </p:nvSpPr>
        <p:spPr>
          <a:xfrm>
            <a:off x="2585085" y="319214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-1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41" name="AutoShape 5"/>
          <p:cNvSpPr/>
          <p:nvPr/>
        </p:nvSpPr>
        <p:spPr>
          <a:xfrm>
            <a:off x="2963545" y="319214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-1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42" name="AutoShape 6"/>
          <p:cNvSpPr/>
          <p:nvPr/>
        </p:nvSpPr>
        <p:spPr>
          <a:xfrm>
            <a:off x="3342005" y="319214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-1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43" name="AutoShape 7"/>
          <p:cNvSpPr/>
          <p:nvPr/>
        </p:nvSpPr>
        <p:spPr>
          <a:xfrm>
            <a:off x="3720465" y="319214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5</a:t>
            </a:r>
          </a:p>
        </p:txBody>
      </p:sp>
      <p:sp>
        <p:nvSpPr>
          <p:cNvPr id="44" name="AutoShape 8"/>
          <p:cNvSpPr/>
          <p:nvPr/>
        </p:nvSpPr>
        <p:spPr>
          <a:xfrm>
            <a:off x="4098925" y="319214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-1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45" name="AutoShape 9"/>
          <p:cNvSpPr/>
          <p:nvPr/>
        </p:nvSpPr>
        <p:spPr>
          <a:xfrm>
            <a:off x="4477385" y="319214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7</a:t>
            </a:r>
          </a:p>
        </p:txBody>
      </p:sp>
      <p:sp>
        <p:nvSpPr>
          <p:cNvPr id="46" name="AutoShape 14"/>
          <p:cNvSpPr/>
          <p:nvPr/>
        </p:nvSpPr>
        <p:spPr>
          <a:xfrm>
            <a:off x="1833801" y="319214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-1</a:t>
            </a:r>
          </a:p>
        </p:txBody>
      </p:sp>
      <p:sp>
        <p:nvSpPr>
          <p:cNvPr id="48" name="AutoShape 9"/>
          <p:cNvSpPr/>
          <p:nvPr/>
        </p:nvSpPr>
        <p:spPr>
          <a:xfrm>
            <a:off x="4854893" y="319214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-1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47" name="AutoShape 9"/>
          <p:cNvSpPr/>
          <p:nvPr/>
        </p:nvSpPr>
        <p:spPr>
          <a:xfrm>
            <a:off x="5213033" y="319214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-1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49" name="AutoShape 7"/>
          <p:cNvSpPr/>
          <p:nvPr/>
        </p:nvSpPr>
        <p:spPr>
          <a:xfrm>
            <a:off x="3724275" y="318198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-1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543560" y="3169920"/>
            <a:ext cx="88138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>
                <a:sym typeface="+mn-ea"/>
              </a:rPr>
              <a:t>path[n]</a:t>
            </a:r>
          </a:p>
        </p:txBody>
      </p:sp>
      <p:sp>
        <p:nvSpPr>
          <p:cNvPr id="63" name="AutoShape 9"/>
          <p:cNvSpPr/>
          <p:nvPr/>
        </p:nvSpPr>
        <p:spPr>
          <a:xfrm>
            <a:off x="4458335" y="318516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-1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77" name="AutoShape 3"/>
          <p:cNvSpPr/>
          <p:nvPr>
            <p:custDataLst>
              <p:tags r:id="rId3"/>
            </p:custDataLst>
          </p:nvPr>
        </p:nvSpPr>
        <p:spPr>
          <a:xfrm>
            <a:off x="2206625" y="320167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1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78" name="AutoShape 5"/>
          <p:cNvSpPr/>
          <p:nvPr/>
        </p:nvSpPr>
        <p:spPr>
          <a:xfrm>
            <a:off x="2963545" y="320167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1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79" name="AutoShape 14"/>
          <p:cNvSpPr/>
          <p:nvPr/>
        </p:nvSpPr>
        <p:spPr>
          <a:xfrm>
            <a:off x="1833801" y="320167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3</a:t>
            </a:r>
          </a:p>
        </p:txBody>
      </p:sp>
      <p:sp>
        <p:nvSpPr>
          <p:cNvPr id="81" name="AutoShape 6"/>
          <p:cNvSpPr/>
          <p:nvPr/>
        </p:nvSpPr>
        <p:spPr>
          <a:xfrm>
            <a:off x="3342005" y="319278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2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82" name="AutoShape 9"/>
          <p:cNvSpPr/>
          <p:nvPr/>
        </p:nvSpPr>
        <p:spPr>
          <a:xfrm>
            <a:off x="4473575" y="318262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5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84" name="AutoShape 7"/>
          <p:cNvSpPr/>
          <p:nvPr/>
        </p:nvSpPr>
        <p:spPr>
          <a:xfrm>
            <a:off x="3724275" y="319214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8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86" name="AutoShape 9"/>
          <p:cNvSpPr/>
          <p:nvPr/>
        </p:nvSpPr>
        <p:spPr>
          <a:xfrm>
            <a:off x="5220018" y="318897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8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88" name="AutoShape 9"/>
          <p:cNvSpPr/>
          <p:nvPr/>
        </p:nvSpPr>
        <p:spPr>
          <a:xfrm>
            <a:off x="4854893" y="319214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10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90" name="AutoShape 8"/>
          <p:cNvSpPr/>
          <p:nvPr/>
        </p:nvSpPr>
        <p:spPr>
          <a:xfrm>
            <a:off x="4083050" y="319532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9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92" name="文本框 91"/>
          <p:cNvSpPr txBox="1"/>
          <p:nvPr/>
        </p:nvSpPr>
        <p:spPr>
          <a:xfrm>
            <a:off x="797560" y="4641215"/>
            <a:ext cx="115443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>
                <a:sym typeface="+mn-ea"/>
              </a:rPr>
              <a:t>path 3-&gt;9</a:t>
            </a:r>
            <a:endParaRPr lang="en-US" altLang="zh-CN">
              <a:sym typeface="+mn-ea"/>
            </a:endParaRPr>
          </a:p>
        </p:txBody>
      </p:sp>
      <p:sp>
        <p:nvSpPr>
          <p:cNvPr id="915473" name="AutoShape 17"/>
          <p:cNvSpPr/>
          <p:nvPr/>
        </p:nvSpPr>
        <p:spPr>
          <a:xfrm>
            <a:off x="3723958" y="4298315"/>
            <a:ext cx="431800" cy="2016125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endParaRPr lang="en-US" altLang="zh-CN" sz="1400" b="1" dirty="0">
              <a:latin typeface="Consolas" panose="020B0609020204030204" pitchFamily="49" charset="0"/>
              <a:ea typeface="黑体" panose="02010609060101010101" pitchFamily="49" charset="-122"/>
            </a:endParaRPr>
          </a:p>
        </p:txBody>
      </p:sp>
      <p:sp>
        <p:nvSpPr>
          <p:cNvPr id="915475" name="Oval 19"/>
          <p:cNvSpPr>
            <a:spLocks noChangeArrowheads="1"/>
          </p:cNvSpPr>
          <p:nvPr/>
        </p:nvSpPr>
        <p:spPr bwMode="auto">
          <a:xfrm flipH="1">
            <a:off x="3796983" y="5595303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8</a:t>
            </a:r>
          </a:p>
        </p:txBody>
      </p:sp>
      <p:sp>
        <p:nvSpPr>
          <p:cNvPr id="915477" name="Oval 21"/>
          <p:cNvSpPr>
            <a:spLocks noChangeArrowheads="1"/>
          </p:cNvSpPr>
          <p:nvPr/>
        </p:nvSpPr>
        <p:spPr bwMode="auto">
          <a:xfrm flipH="1">
            <a:off x="3796983" y="5019040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915522" name="Oval 66"/>
          <p:cNvSpPr>
            <a:spLocks noChangeArrowheads="1"/>
          </p:cNvSpPr>
          <p:nvPr/>
        </p:nvSpPr>
        <p:spPr bwMode="auto">
          <a:xfrm flipH="1">
            <a:off x="3796983" y="5306378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93" name="Oval 21"/>
          <p:cNvSpPr>
            <a:spLocks noChangeArrowheads="1"/>
          </p:cNvSpPr>
          <p:nvPr/>
        </p:nvSpPr>
        <p:spPr bwMode="auto">
          <a:xfrm flipH="1">
            <a:off x="3794443" y="4713605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94" name="Oval 21"/>
          <p:cNvSpPr>
            <a:spLocks noChangeArrowheads="1"/>
          </p:cNvSpPr>
          <p:nvPr/>
        </p:nvSpPr>
        <p:spPr bwMode="auto">
          <a:xfrm flipH="1">
            <a:off x="3794443" y="4425315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102" name="Oval 19"/>
          <p:cNvSpPr>
            <a:spLocks noChangeArrowheads="1"/>
          </p:cNvSpPr>
          <p:nvPr/>
        </p:nvSpPr>
        <p:spPr bwMode="auto">
          <a:xfrm flipH="1">
            <a:off x="3792538" y="5917248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10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10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7" dur="10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10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" dur="10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6" dur="10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" dur="10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" dur="1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25" dur="1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6" dur="1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" dur="2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34" dur="2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5" dur="2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000"/>
                            </p:stCondLst>
                            <p:childTnLst>
                              <p:par>
                                <p:cTn id="3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" dur="1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43" dur="1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" dur="1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000"/>
                            </p:stCondLst>
                            <p:childTnLst>
                              <p:par>
                                <p:cTn id="4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1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52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3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000"/>
                            </p:stCondLst>
                            <p:childTnLst>
                              <p:par>
                                <p:cTn id="5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000 0.000000 L 0.197083 -0.023704 " pathEditMode="relative" ptsTypes="">
                                      <p:cBhvr>
                                        <p:cTn id="60" dur="20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2000"/>
                            </p:stCondLst>
                            <p:childTnLst>
                              <p:par>
                                <p:cTn id="62" presetID="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000 0.000000 L 0.245000 -0.066296 " pathEditMode="relative" ptsTypes="">
                                      <p:cBhvr>
                                        <p:cTn id="63" dur="20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4000"/>
                            </p:stCondLst>
                            <p:childTnLst>
                              <p:par>
                                <p:cTn id="65" presetID="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000 0.000000 L 0.292969 -0.113611 " pathEditMode="relative" ptsTypes="">
                                      <p:cBhvr>
                                        <p:cTn id="66" dur="2000" fill="hold"/>
                                        <p:tgtEl>
                                          <p:spTgt spid="91547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6000"/>
                            </p:stCondLst>
                            <p:childTnLst>
                              <p:par>
                                <p:cTn id="68" presetID="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3906 0.004167 L 0.338802 -0.156759 " pathEditMode="relative" rAng="0" ptsTypes="">
                                      <p:cBhvr>
                                        <p:cTn id="69" dur="2000" fill="hold"/>
                                        <p:tgtEl>
                                          <p:spTgt spid="9155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900" y="-78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8000"/>
                            </p:stCondLst>
                            <p:childTnLst>
                              <p:par>
                                <p:cTn id="71" presetID="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000 0.000000 L 0.380833 -0.198889 " pathEditMode="relative" ptsTypes="">
                                      <p:cBhvr>
                                        <p:cTn id="72" dur="2000" fill="hold"/>
                                        <p:tgtEl>
                                          <p:spTgt spid="91547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10000"/>
                            </p:stCondLst>
                            <p:childTnLst>
                              <p:par>
                                <p:cTn id="74" presetID="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000 0.000000 L 0.424375 -0.250556 " pathEditMode="relative" rAng="0" ptsTypes="">
                                      <p:cBhvr>
                                        <p:cTn id="75" dur="20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000" y="-99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79" dur="500"/>
                                        <p:tgtEl>
                                          <p:spTgt spid="10547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54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500"/>
                            </p:stCondLst>
                            <p:childTnLst>
                              <p:par>
                                <p:cTn id="8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4" dur="500"/>
                                        <p:tgtEl>
                                          <p:spTgt spid="1054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8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500"/>
                            </p:stCondLst>
                            <p:childTnLst>
                              <p:par>
                                <p:cTn id="9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9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500"/>
                            </p:stCondLst>
                            <p:childTnLst>
                              <p:par>
                                <p:cTn id="10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0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500"/>
                            </p:stCondLst>
                            <p:childTnLst>
                              <p:par>
                                <p:cTn id="10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500"/>
                            </p:stCondLst>
                            <p:childTnLst>
                              <p:par>
                                <p:cTn id="11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2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>
                            <p:stCondLst>
                              <p:cond delay="500"/>
                            </p:stCondLst>
                            <p:childTnLst>
                              <p:par>
                                <p:cTn id="12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 animBg="1"/>
      <p:bldP spid="915475" grpId="0" animBg="1"/>
      <p:bldP spid="915475" grpId="1" animBg="1"/>
      <p:bldP spid="915477" grpId="0" animBg="1"/>
      <p:bldP spid="915477" grpId="1" animBg="1"/>
      <p:bldP spid="915522" grpId="0" animBg="1"/>
      <p:bldP spid="915522" grpId="1" animBg="1"/>
      <p:bldP spid="93" grpId="0" bldLvl="0" animBg="1"/>
      <p:bldP spid="93" grpId="1" animBg="1"/>
      <p:bldP spid="94" grpId="0" animBg="1"/>
      <p:bldP spid="94" grpId="1" animBg="1"/>
      <p:bldP spid="102" grpId="0" bldLvl="0" animBg="1"/>
      <p:bldP spid="102" grpId="1" bldLvl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Floyd</a:t>
            </a:r>
            <a:r>
              <a:rPr lang="zh-CN" altLang="en-US"/>
              <a:t>算法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idx="1"/>
          </p:nvPr>
        </p:nvSpPr>
        <p:spPr>
          <a:xfrm>
            <a:off x="611575" y="1313870"/>
            <a:ext cx="10969200" cy="4759200"/>
          </a:xfrm>
        </p:spPr>
        <p:txBody>
          <a:bodyPr/>
          <a:lstStyle/>
          <a:p>
            <a:r>
              <a:rPr lang="zh-CN" altLang="en-US">
                <a:sym typeface="Wingdings" panose="05000000000000000000" pitchFamily="2" charset="2"/>
              </a:rPr>
              <a:t>初始化：</a:t>
            </a:r>
            <a:r>
              <a:rPr lang="en-US" altLang="zh-CN">
                <a:sym typeface="Wingdings" panose="05000000000000000000" pitchFamily="2" charset="2"/>
              </a:rPr>
              <a:t>c(i,j,-1)</a:t>
            </a:r>
            <a:r>
              <a:rPr>
                <a:sym typeface="Wingdings" panose="05000000000000000000" pitchFamily="2" charset="2"/>
              </a:rPr>
              <a:t>为</a:t>
            </a:r>
            <a:r>
              <a:rPr lang="en-US" altLang="zh-CN">
                <a:sym typeface="Wingdings" panose="05000000000000000000" pitchFamily="2" charset="2"/>
              </a:rPr>
              <a:t>+</a:t>
            </a:r>
            <a:r>
              <a:rPr lang="en-US" altLang="zh-CN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Wingdings" panose="05000000000000000000" pitchFamily="2" charset="2"/>
              </a:rPr>
              <a:t>∞</a:t>
            </a:r>
            <a:r>
              <a:rPr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Wingdings" panose="05000000000000000000" pitchFamily="2" charset="2"/>
              </a:rPr>
              <a:t>，</a:t>
            </a:r>
            <a:r>
              <a:rPr>
                <a:sym typeface="Wingdings" panose="05000000000000000000" pitchFamily="2" charset="2"/>
              </a:rPr>
              <a:t>设置为具有的边长度</a:t>
            </a:r>
            <a:r>
              <a:rPr lang="en-US" altLang="zh-CN">
                <a:sym typeface="Wingdings" panose="05000000000000000000" pitchFamily="2" charset="2"/>
              </a:rPr>
              <a:t>,path(i,j)=j</a:t>
            </a:r>
            <a:r>
              <a:rPr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Wingdings" panose="05000000000000000000" pitchFamily="2" charset="2"/>
              </a:rPr>
              <a:t>。</a:t>
            </a:r>
            <a:endParaRPr lang="zh-CN" altLang="en-US">
              <a:sym typeface="Wingdings" panose="05000000000000000000" pitchFamily="2" charset="2"/>
            </a:endParaRPr>
          </a:p>
          <a:p>
            <a:pPr lvl="1"/>
            <a:r>
              <a:rPr lang="en-US" altLang="zh-CN">
                <a:sym typeface="Wingdings" panose="05000000000000000000" pitchFamily="2" charset="2"/>
              </a:rPr>
              <a:t>k=0, 1, 2, 3</a:t>
            </a:r>
            <a:r>
              <a:rPr lang="zh-CN" altLang="en-US">
                <a:sym typeface="Wingdings" panose="05000000000000000000" pitchFamily="2" charset="2"/>
              </a:rPr>
              <a:t>，</a:t>
            </a:r>
            <a:r>
              <a:rPr lang="en-US" altLang="zh-CN">
                <a:sym typeface="Wingdings" panose="05000000000000000000" pitchFamily="2" charset="2"/>
              </a:rPr>
              <a:t>c(1, 3, k)= +</a:t>
            </a:r>
            <a:r>
              <a:rPr lang="en-US" altLang="zh-CN" sz="240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Wingdings" panose="05000000000000000000" pitchFamily="2" charset="2"/>
              </a:rPr>
              <a:t>∞,</a:t>
            </a:r>
            <a:r>
              <a:rPr lang="en-US" altLang="zh-CN">
                <a:sym typeface="Wingdings" panose="05000000000000000000" pitchFamily="2" charset="2"/>
              </a:rPr>
              <a:t> path(1,3)=3</a:t>
            </a:r>
            <a:r>
              <a:rPr lang="zh-CN" altLang="en-US">
                <a:sym typeface="Wingdings" panose="05000000000000000000" pitchFamily="2" charset="2"/>
              </a:rPr>
              <a:t>；</a:t>
            </a:r>
            <a:r>
              <a:rPr lang="en-US" altLang="zh-CN">
                <a:sym typeface="Wingdings" panose="05000000000000000000" pitchFamily="2" charset="2"/>
              </a:rPr>
              <a:t>c(1, 3, 4)=28,path(1,3)=4;</a:t>
            </a:r>
          </a:p>
          <a:p>
            <a:pPr lvl="1"/>
            <a:r>
              <a:rPr lang="en-US" altLang="zh-CN">
                <a:sym typeface="Wingdings" panose="05000000000000000000" pitchFamily="2" charset="2"/>
              </a:rPr>
              <a:t>k=5, 6, 7</a:t>
            </a:r>
            <a:r>
              <a:rPr lang="zh-CN" altLang="en-US">
                <a:sym typeface="Wingdings" panose="05000000000000000000" pitchFamily="2" charset="2"/>
              </a:rPr>
              <a:t>，</a:t>
            </a:r>
            <a:r>
              <a:rPr lang="en-US" altLang="zh-CN">
                <a:sym typeface="Wingdings" panose="05000000000000000000" pitchFamily="2" charset="2"/>
              </a:rPr>
              <a:t>c(1, 3, k)=10</a:t>
            </a:r>
            <a:r>
              <a:rPr lang="zh-CN" altLang="en-US">
                <a:sym typeface="Wingdings" panose="05000000000000000000" pitchFamily="2" charset="2"/>
              </a:rPr>
              <a:t>；</a:t>
            </a:r>
            <a:r>
              <a:rPr lang="en-US" altLang="zh-CN">
                <a:sym typeface="Wingdings" panose="05000000000000000000" pitchFamily="2" charset="2"/>
              </a:rPr>
              <a:t>path(1,3)=path(1,5)=2</a:t>
            </a:r>
          </a:p>
          <a:p>
            <a:pPr lvl="1"/>
            <a:r>
              <a:rPr lang="en-US" altLang="zh-CN">
                <a:sym typeface="Wingdings" panose="05000000000000000000" pitchFamily="2" charset="2"/>
              </a:rPr>
              <a:t>k=8, 9, 10</a:t>
            </a:r>
            <a:r>
              <a:rPr lang="zh-CN" altLang="en-US">
                <a:sym typeface="Wingdings" panose="05000000000000000000" pitchFamily="2" charset="2"/>
              </a:rPr>
              <a:t>，</a:t>
            </a:r>
            <a:r>
              <a:rPr lang="en-US" altLang="zh-CN">
                <a:sym typeface="Wingdings" panose="05000000000000000000" pitchFamily="2" charset="2"/>
              </a:rPr>
              <a:t>c(1, 3, k)=9——</a:t>
            </a:r>
            <a:r>
              <a:rPr lang="zh-CN" altLang="en-US">
                <a:sym typeface="Wingdings" panose="05000000000000000000" pitchFamily="2" charset="2"/>
              </a:rPr>
              <a:t>最短路径</a:t>
            </a:r>
            <a:r>
              <a:rPr lang="en-US" altLang="zh-CN">
                <a:sym typeface="Wingdings" panose="05000000000000000000" pitchFamily="2" charset="2"/>
              </a:rPr>
              <a:t>path(1,3)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  <a:t>4</a:t>
            </a:fld>
            <a:endParaRPr lang="zh-CN" altLang="en-US" noProof="0" dirty="0"/>
          </a:p>
        </p:txBody>
      </p:sp>
      <p:sp>
        <p:nvSpPr>
          <p:cNvPr id="1054746" name="Oval 26"/>
          <p:cNvSpPr>
            <a:spLocks noChangeArrowheads="1"/>
          </p:cNvSpPr>
          <p:nvPr/>
        </p:nvSpPr>
        <p:spPr bwMode="auto">
          <a:xfrm flipH="1">
            <a:off x="2995613" y="3683953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1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54747" name="Oval 27"/>
          <p:cNvSpPr>
            <a:spLocks noChangeArrowheads="1"/>
          </p:cNvSpPr>
          <p:nvPr/>
        </p:nvSpPr>
        <p:spPr bwMode="auto">
          <a:xfrm flipH="1">
            <a:off x="4421188" y="3683953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3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54779" name="AutoShape 59"/>
          <p:cNvCxnSpPr>
            <a:stCxn id="1054746" idx="2"/>
            <a:endCxn id="1054747" idx="6"/>
          </p:cNvCxnSpPr>
          <p:nvPr/>
        </p:nvCxnSpPr>
        <p:spPr>
          <a:xfrm>
            <a:off x="3282950" y="3839845"/>
            <a:ext cx="1137920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triangle" w="med" len="med"/>
            <a:tailEnd type="none" w="med" len="med"/>
          </a:ln>
        </p:spPr>
      </p:cxnSp>
      <p:sp useBgFill="1">
        <p:nvSpPr>
          <p:cNvPr id="1054780" name="Oval 60"/>
          <p:cNvSpPr/>
          <p:nvPr/>
        </p:nvSpPr>
        <p:spPr>
          <a:xfrm>
            <a:off x="3714750" y="3683953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lstStyle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4" name="Oval 27"/>
          <p:cNvSpPr>
            <a:spLocks noChangeArrowheads="1"/>
          </p:cNvSpPr>
          <p:nvPr/>
        </p:nvSpPr>
        <p:spPr bwMode="auto">
          <a:xfrm flipH="1">
            <a:off x="4420553" y="3028633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2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AutoShape 59"/>
          <p:cNvCxnSpPr>
            <a:stCxn id="1054746" idx="1"/>
            <a:endCxn id="4" idx="6"/>
          </p:cNvCxnSpPr>
          <p:nvPr/>
        </p:nvCxnSpPr>
        <p:spPr>
          <a:xfrm flipV="1">
            <a:off x="3241040" y="3184525"/>
            <a:ext cx="1179195" cy="55308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6" name="Oval 60"/>
          <p:cNvSpPr/>
          <p:nvPr/>
        </p:nvSpPr>
        <p:spPr>
          <a:xfrm>
            <a:off x="3686810" y="3330893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lstStyle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7" name="Oval 27"/>
          <p:cNvSpPr>
            <a:spLocks noChangeArrowheads="1"/>
          </p:cNvSpPr>
          <p:nvPr/>
        </p:nvSpPr>
        <p:spPr bwMode="auto">
          <a:xfrm flipH="1">
            <a:off x="5854383" y="3028633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5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8" name="AutoShape 59"/>
          <p:cNvCxnSpPr>
            <a:endCxn id="7" idx="6"/>
          </p:cNvCxnSpPr>
          <p:nvPr/>
        </p:nvCxnSpPr>
        <p:spPr>
          <a:xfrm>
            <a:off x="4716145" y="3184525"/>
            <a:ext cx="1137920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9" name="Oval 60"/>
          <p:cNvSpPr/>
          <p:nvPr/>
        </p:nvSpPr>
        <p:spPr>
          <a:xfrm>
            <a:off x="5147945" y="3028633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lstStyle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0" name="Oval 27"/>
          <p:cNvSpPr>
            <a:spLocks noChangeArrowheads="1"/>
          </p:cNvSpPr>
          <p:nvPr/>
        </p:nvSpPr>
        <p:spPr bwMode="auto">
          <a:xfrm flipH="1">
            <a:off x="5854383" y="3684588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6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1" name="AutoShape 59"/>
          <p:cNvCxnSpPr>
            <a:endCxn id="10" idx="6"/>
          </p:cNvCxnSpPr>
          <p:nvPr/>
        </p:nvCxnSpPr>
        <p:spPr>
          <a:xfrm>
            <a:off x="4716145" y="3840480"/>
            <a:ext cx="1137920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triangle" w="med" len="med"/>
            <a:tailEnd type="none" w="med" len="med"/>
          </a:ln>
        </p:spPr>
      </p:cxnSp>
      <p:sp useBgFill="1">
        <p:nvSpPr>
          <p:cNvPr id="12" name="Oval 60"/>
          <p:cNvSpPr/>
          <p:nvPr/>
        </p:nvSpPr>
        <p:spPr>
          <a:xfrm>
            <a:off x="5147945" y="3684588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lstStyle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3" name="Oval 27"/>
          <p:cNvSpPr>
            <a:spLocks noChangeArrowheads="1"/>
          </p:cNvSpPr>
          <p:nvPr/>
        </p:nvSpPr>
        <p:spPr bwMode="auto">
          <a:xfrm flipH="1">
            <a:off x="7280593" y="3682048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8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4" name="AutoShape 59"/>
          <p:cNvCxnSpPr>
            <a:endCxn id="13" idx="6"/>
          </p:cNvCxnSpPr>
          <p:nvPr/>
        </p:nvCxnSpPr>
        <p:spPr>
          <a:xfrm>
            <a:off x="6142355" y="3837940"/>
            <a:ext cx="1137920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triangle" w="med" len="med"/>
            <a:tailEnd type="none" w="med" len="med"/>
          </a:ln>
        </p:spPr>
      </p:cxnSp>
      <p:sp useBgFill="1">
        <p:nvSpPr>
          <p:cNvPr id="15" name="Oval 60"/>
          <p:cNvSpPr/>
          <p:nvPr/>
        </p:nvSpPr>
        <p:spPr>
          <a:xfrm>
            <a:off x="6574155" y="3682048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lstStyle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16" name="Oval 27"/>
          <p:cNvSpPr>
            <a:spLocks noChangeArrowheads="1"/>
          </p:cNvSpPr>
          <p:nvPr/>
        </p:nvSpPr>
        <p:spPr bwMode="auto">
          <a:xfrm flipH="1">
            <a:off x="4428173" y="4605338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4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7" name="AutoShape 59"/>
          <p:cNvCxnSpPr>
            <a:stCxn id="1054746" idx="3"/>
            <a:endCxn id="16" idx="6"/>
          </p:cNvCxnSpPr>
          <p:nvPr/>
        </p:nvCxnSpPr>
        <p:spPr>
          <a:xfrm>
            <a:off x="3241040" y="3941445"/>
            <a:ext cx="1186815" cy="81978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18" name="Oval 60"/>
          <p:cNvSpPr/>
          <p:nvPr/>
        </p:nvSpPr>
        <p:spPr>
          <a:xfrm>
            <a:off x="3721735" y="4318318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lstStyle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20</a:t>
            </a:r>
          </a:p>
        </p:txBody>
      </p:sp>
      <p:cxnSp>
        <p:nvCxnSpPr>
          <p:cNvPr id="19" name="直接箭头连接符 18"/>
          <p:cNvCxnSpPr>
            <a:stCxn id="16" idx="0"/>
            <a:endCxn id="1054747" idx="4"/>
          </p:cNvCxnSpPr>
          <p:nvPr/>
        </p:nvCxnSpPr>
        <p:spPr>
          <a:xfrm flipH="1" flipV="1">
            <a:off x="4564380" y="3983990"/>
            <a:ext cx="6985" cy="63246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20" name="Oval 60"/>
          <p:cNvSpPr/>
          <p:nvPr/>
        </p:nvSpPr>
        <p:spPr>
          <a:xfrm>
            <a:off x="4420235" y="4197350"/>
            <a:ext cx="287655" cy="287020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lstStyle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8</a:t>
            </a:r>
          </a:p>
        </p:txBody>
      </p:sp>
      <p:sp>
        <p:nvSpPr>
          <p:cNvPr id="21" name="Oval 27"/>
          <p:cNvSpPr>
            <a:spLocks noChangeArrowheads="1"/>
          </p:cNvSpPr>
          <p:nvPr/>
        </p:nvSpPr>
        <p:spPr bwMode="auto">
          <a:xfrm flipH="1">
            <a:off x="5854383" y="4605338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7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22" name="Oval 27"/>
          <p:cNvSpPr>
            <a:spLocks noChangeArrowheads="1"/>
          </p:cNvSpPr>
          <p:nvPr/>
        </p:nvSpPr>
        <p:spPr bwMode="auto">
          <a:xfrm flipH="1">
            <a:off x="7280593" y="4605338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9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23" name="Oval 27"/>
          <p:cNvSpPr>
            <a:spLocks noChangeArrowheads="1"/>
          </p:cNvSpPr>
          <p:nvPr/>
        </p:nvSpPr>
        <p:spPr bwMode="auto">
          <a:xfrm flipH="1">
            <a:off x="8602663" y="3041968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10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24" name="直接箭头连接符 23"/>
          <p:cNvCxnSpPr>
            <a:stCxn id="7" idx="2"/>
            <a:endCxn id="13" idx="7"/>
          </p:cNvCxnSpPr>
          <p:nvPr/>
        </p:nvCxnSpPr>
        <p:spPr>
          <a:xfrm>
            <a:off x="6141720" y="3184525"/>
            <a:ext cx="1180465" cy="55118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25" name="直接箭头连接符 24"/>
          <p:cNvCxnSpPr>
            <a:stCxn id="13" idx="1"/>
            <a:endCxn id="23" idx="6"/>
          </p:cNvCxnSpPr>
          <p:nvPr/>
        </p:nvCxnSpPr>
        <p:spPr>
          <a:xfrm flipV="1">
            <a:off x="7526020" y="3197860"/>
            <a:ext cx="1076325" cy="53784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26" name="直接箭头连接符 25"/>
          <p:cNvCxnSpPr>
            <a:stCxn id="23" idx="5"/>
            <a:endCxn id="22" idx="1"/>
          </p:cNvCxnSpPr>
          <p:nvPr/>
        </p:nvCxnSpPr>
        <p:spPr>
          <a:xfrm flipH="1">
            <a:off x="7526020" y="3299460"/>
            <a:ext cx="1118235" cy="135953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27" name="直接箭头连接符 26"/>
          <p:cNvCxnSpPr>
            <a:stCxn id="22" idx="6"/>
            <a:endCxn id="21" idx="2"/>
          </p:cNvCxnSpPr>
          <p:nvPr/>
        </p:nvCxnSpPr>
        <p:spPr>
          <a:xfrm flipH="1">
            <a:off x="6141720" y="4761230"/>
            <a:ext cx="1138555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28" name="直接箭头连接符 27"/>
          <p:cNvCxnSpPr>
            <a:stCxn id="16" idx="2"/>
            <a:endCxn id="21" idx="6"/>
          </p:cNvCxnSpPr>
          <p:nvPr/>
        </p:nvCxnSpPr>
        <p:spPr>
          <a:xfrm>
            <a:off x="4715510" y="4761230"/>
            <a:ext cx="1138555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29" name="直接箭头连接符 28"/>
          <p:cNvCxnSpPr>
            <a:stCxn id="16" idx="1"/>
            <a:endCxn id="10" idx="5"/>
          </p:cNvCxnSpPr>
          <p:nvPr/>
        </p:nvCxnSpPr>
        <p:spPr>
          <a:xfrm flipV="1">
            <a:off x="4673600" y="3942080"/>
            <a:ext cx="1222375" cy="71691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30" name="直接箭头连接符 29"/>
          <p:cNvCxnSpPr>
            <a:stCxn id="21" idx="1"/>
            <a:endCxn id="13" idx="5"/>
          </p:cNvCxnSpPr>
          <p:nvPr/>
        </p:nvCxnSpPr>
        <p:spPr>
          <a:xfrm flipV="1">
            <a:off x="6099810" y="3939540"/>
            <a:ext cx="1222375" cy="71945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31" name="Oval 60"/>
          <p:cNvSpPr/>
          <p:nvPr/>
        </p:nvSpPr>
        <p:spPr>
          <a:xfrm>
            <a:off x="6567170" y="3330893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lstStyle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3</a:t>
            </a:r>
          </a:p>
        </p:txBody>
      </p:sp>
      <p:sp useBgFill="1">
        <p:nvSpPr>
          <p:cNvPr id="32" name="Oval 60"/>
          <p:cNvSpPr/>
          <p:nvPr/>
        </p:nvSpPr>
        <p:spPr>
          <a:xfrm>
            <a:off x="7920355" y="3330893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lstStyle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2</a:t>
            </a:r>
          </a:p>
        </p:txBody>
      </p:sp>
      <p:sp useBgFill="1">
        <p:nvSpPr>
          <p:cNvPr id="33" name="Oval 60"/>
          <p:cNvSpPr/>
          <p:nvPr/>
        </p:nvSpPr>
        <p:spPr>
          <a:xfrm>
            <a:off x="7920355" y="3829368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lstStyle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1</a:t>
            </a:r>
          </a:p>
        </p:txBody>
      </p:sp>
      <p:sp useBgFill="1">
        <p:nvSpPr>
          <p:cNvPr id="34" name="Oval 60"/>
          <p:cNvSpPr/>
          <p:nvPr/>
        </p:nvSpPr>
        <p:spPr>
          <a:xfrm>
            <a:off x="6649720" y="4607243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lstStyle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2</a:t>
            </a:r>
          </a:p>
        </p:txBody>
      </p:sp>
      <p:sp useBgFill="1">
        <p:nvSpPr>
          <p:cNvPr id="35" name="Oval 60"/>
          <p:cNvSpPr/>
          <p:nvPr/>
        </p:nvSpPr>
        <p:spPr>
          <a:xfrm>
            <a:off x="6588125" y="4116388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lstStyle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1</a:t>
            </a:r>
          </a:p>
        </p:txBody>
      </p:sp>
      <p:sp useBgFill="1">
        <p:nvSpPr>
          <p:cNvPr id="36" name="Oval 60"/>
          <p:cNvSpPr/>
          <p:nvPr/>
        </p:nvSpPr>
        <p:spPr>
          <a:xfrm>
            <a:off x="5256530" y="4072573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lstStyle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6</a:t>
            </a:r>
          </a:p>
        </p:txBody>
      </p:sp>
      <p:sp useBgFill="1">
        <p:nvSpPr>
          <p:cNvPr id="37" name="Oval 60"/>
          <p:cNvSpPr/>
          <p:nvPr/>
        </p:nvSpPr>
        <p:spPr>
          <a:xfrm>
            <a:off x="5147945" y="4647248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lstStyle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4</a:t>
            </a:r>
          </a:p>
        </p:txBody>
      </p:sp>
      <p:cxnSp>
        <p:nvCxnSpPr>
          <p:cNvPr id="38" name="直接箭头连接符 37"/>
          <p:cNvCxnSpPr>
            <a:stCxn id="7" idx="5"/>
            <a:endCxn id="1054747" idx="1"/>
          </p:cNvCxnSpPr>
          <p:nvPr/>
        </p:nvCxnSpPr>
        <p:spPr>
          <a:xfrm flipH="1">
            <a:off x="4666615" y="3286125"/>
            <a:ext cx="1229360" cy="45148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39" name="Oval 60"/>
          <p:cNvSpPr/>
          <p:nvPr/>
        </p:nvSpPr>
        <p:spPr>
          <a:xfrm>
            <a:off x="5256530" y="3356928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lstStyle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7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1263015" y="5133340"/>
            <a:ext cx="10234930" cy="1020445"/>
          </a:xfrm>
          <a:prstGeom prst="rect">
            <a:avLst/>
          </a:prstGeom>
          <a:noFill/>
        </p:spPr>
        <p:txBody>
          <a:bodyPr wrap="square" lIns="0" rtlCol="0" anchor="t">
            <a:spAutoFit/>
          </a:bodyPr>
          <a:lstStyle/>
          <a:p>
            <a:pPr marL="476885" lvl="1" indent="-291465" algn="l" defTabSz="91440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>
                <a:tab pos="1609725" algn="l"/>
              </a:tabLst>
            </a:pPr>
            <a:r>
              <a:rPr lang="en-US" altLang="zh-CN" sz="1400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路径不包含k，c(i, j, k)=c(i, j, k-1)                         -&gt;path(i,j)=path(i,j)</a:t>
            </a:r>
            <a:endParaRPr lang="en-US" altLang="zh-CN" sz="1400" spc="150">
              <a:solidFill>
                <a:schemeClr val="tx1">
                  <a:lumMod val="65000"/>
                  <a:lumOff val="3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marL="476885" lvl="1" indent="-291465" algn="l" defTabSz="91440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>
                <a:tab pos="1609725" algn="l"/>
              </a:tabLst>
            </a:pPr>
            <a:r>
              <a:rPr lang="en-US" altLang="zh-CN" sz="1400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包含k，c(i, j, k)=c(i, k, k-1) + c(k, j, k-1)              -&gt;path(i,j)=path(i,k)</a:t>
            </a:r>
            <a:endParaRPr lang="en-US" altLang="zh-CN" sz="1400" spc="150">
              <a:solidFill>
                <a:schemeClr val="tx1">
                  <a:lumMod val="65000"/>
                  <a:lumOff val="3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marL="476885" lvl="1" indent="-291465" algn="l" defTabSz="91440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>
                <a:tab pos="1609725" algn="l"/>
              </a:tabLst>
            </a:pPr>
            <a:r>
              <a:rPr lang="en-US" altLang="zh-CN" sz="1400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Wingdings" panose="05000000000000000000" pitchFamily="2" charset="2"/>
              </a:rPr>
              <a:t>c(i,j,k)=min{c(i,j,k-1), </a:t>
            </a:r>
            <a:r>
              <a:rPr lang="en-US" altLang="zh-CN" sz="1400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c(i,k,k-1)+c(k,j,k-1)}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" dur="1000" fill="hold"/>
                                        <p:tgtEl>
                                          <p:spTgt spid="105474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A4436"/>
                                      </p:to>
                                    </p:animClr>
                                    <p:set>
                                      <p:cBhvr>
                                        <p:cTn id="15" dur="1000" fill="hold"/>
                                        <p:tgtEl>
                                          <p:spTgt spid="105474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" dur="1000" fill="hold"/>
                                        <p:tgtEl>
                                          <p:spTgt spid="105474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A4436"/>
                                      </p:to>
                                    </p:animClr>
                                    <p:set>
                                      <p:cBhvr>
                                        <p:cTn id="1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" dur="1000" fill="hold"/>
                                        <p:tgtEl>
                                          <p:spTgt spid="105474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A4436"/>
                                      </p:to>
                                    </p:animClr>
                                    <p:set>
                                      <p:cBhvr>
                                        <p:cTn id="23" dur="1000" fill="hold"/>
                                        <p:tgtEl>
                                          <p:spTgt spid="105474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" dur="1000" fill="hold"/>
                                        <p:tgtEl>
                                          <p:spTgt spid="105474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A4436"/>
                                      </p:to>
                                    </p:animClr>
                                    <p:set>
                                      <p:cBhvr>
                                        <p:cTn id="2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7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3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A4436"/>
                                      </p:to>
                                    </p:animClr>
                                    <p:set>
                                      <p:cBhvr>
                                        <p:cTn id="5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A4436"/>
                                      </p:to>
                                    </p:animClr>
                                    <p:set>
                                      <p:cBhvr>
                                        <p:cTn id="5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A4436"/>
                                      </p:to>
                                    </p:animClr>
                                    <p:set>
                                      <p:cBhvr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7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1000"/>
                            </p:stCondLst>
                            <p:childTnLst>
                              <p:par>
                                <p:cTn id="70" presetID="7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7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7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7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78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A4436"/>
                                      </p:to>
                                    </p:animClr>
                                    <p:set>
                                      <p:cBhvr>
                                        <p:cTn id="8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A4436"/>
                                      </p:to>
                                    </p:animClr>
                                    <p:set>
                                      <p:cBhvr>
                                        <p:cTn id="87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0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A4436"/>
                                      </p:to>
                                    </p:animClr>
                                    <p:set>
                                      <p:cBhvr>
                                        <p:cTn id="9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2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2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3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7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08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0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11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3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14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6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17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9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20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表格 5"/>
          <p:cNvGraphicFramePr/>
          <p:nvPr>
            <p:custDataLst>
              <p:tags r:id="rId2"/>
            </p:custDataLst>
          </p:nvPr>
        </p:nvGraphicFramePr>
        <p:xfrm>
          <a:off x="706755" y="443230"/>
          <a:ext cx="5257800" cy="29895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latin typeface="黑体" panose="02010609060101010101" pitchFamily="49" charset="-122"/>
                        </a:rPr>
                        <a:t>c()</a:t>
                      </a:r>
                      <a:endParaRPr lang="en-US" altLang="en-US" sz="1400" b="1">
                        <a:solidFill>
                          <a:srgbClr val="FFFFFF"/>
                        </a:solidFill>
                        <a:latin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latin typeface="黑体" panose="02010609060101010101" pitchFamily="49" charset="-122"/>
                        </a:rPr>
                        <a:t>1</a:t>
                      </a:r>
                      <a:endParaRPr lang="en-US" altLang="en-US" sz="1400" b="1">
                        <a:solidFill>
                          <a:srgbClr val="FFFFFF"/>
                        </a:solidFill>
                        <a:latin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latin typeface="黑体" panose="02010609060101010101" pitchFamily="49" charset="-122"/>
                        </a:rPr>
                        <a:t>2</a:t>
                      </a:r>
                      <a:endParaRPr lang="en-US" altLang="en-US" sz="1400" b="1">
                        <a:solidFill>
                          <a:srgbClr val="FFFFFF"/>
                        </a:solidFill>
                        <a:latin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latin typeface="黑体" panose="02010609060101010101" pitchFamily="49" charset="-122"/>
                        </a:rPr>
                        <a:t>3</a:t>
                      </a:r>
                      <a:endParaRPr lang="en-US" altLang="en-US" sz="1400" b="1">
                        <a:solidFill>
                          <a:srgbClr val="FFFFFF"/>
                        </a:solidFill>
                        <a:latin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latin typeface="黑体" panose="02010609060101010101" pitchFamily="49" charset="-122"/>
                        </a:rPr>
                        <a:t>4</a:t>
                      </a:r>
                      <a:endParaRPr lang="en-US" altLang="en-US" sz="1400" b="1">
                        <a:solidFill>
                          <a:srgbClr val="FFFFFF"/>
                        </a:solidFill>
                        <a:latin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latin typeface="黑体" panose="02010609060101010101" pitchFamily="49" charset="-122"/>
                        </a:rPr>
                        <a:t>5</a:t>
                      </a:r>
                      <a:endParaRPr lang="en-US" altLang="en-US" sz="1400" b="1">
                        <a:solidFill>
                          <a:srgbClr val="FFFFFF"/>
                        </a:solidFill>
                        <a:latin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latin typeface="黑体" panose="02010609060101010101" pitchFamily="49" charset="-122"/>
                        </a:rPr>
                        <a:t>6</a:t>
                      </a:r>
                      <a:endParaRPr lang="en-US" altLang="en-US" sz="1400" b="1">
                        <a:solidFill>
                          <a:srgbClr val="FFFFFF"/>
                        </a:solidFill>
                        <a:latin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latin typeface="黑体" panose="02010609060101010101" pitchFamily="49" charset="-122"/>
                        </a:rPr>
                        <a:t>7</a:t>
                      </a:r>
                      <a:endParaRPr lang="en-US" altLang="en-US" sz="1400" b="1">
                        <a:solidFill>
                          <a:srgbClr val="FFFFFF"/>
                        </a:solidFill>
                        <a:latin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latin typeface="黑体" panose="02010609060101010101" pitchFamily="49" charset="-122"/>
                        </a:rPr>
                        <a:t>8</a:t>
                      </a:r>
                      <a:endParaRPr lang="en-US" altLang="en-US" sz="1400" b="1">
                        <a:solidFill>
                          <a:srgbClr val="FFFFFF"/>
                        </a:solidFill>
                        <a:latin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latin typeface="黑体" panose="02010609060101010101" pitchFamily="49" charset="-122"/>
                        </a:rPr>
                        <a:t>9</a:t>
                      </a:r>
                      <a:endParaRPr lang="en-US" altLang="en-US" sz="1400" b="1">
                        <a:solidFill>
                          <a:srgbClr val="FFFFFF"/>
                        </a:solidFill>
                        <a:latin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latin typeface="黑体" panose="02010609060101010101" pitchFamily="49" charset="-122"/>
                        </a:rPr>
                        <a:t>10</a:t>
                      </a:r>
                      <a:endParaRPr lang="en-US" altLang="en-US" sz="1400" b="1">
                        <a:solidFill>
                          <a:srgbClr val="FFFFFF"/>
                        </a:solidFill>
                        <a:latin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latin typeface="黑体" panose="02010609060101010101" pitchFamily="49" charset="-122"/>
                        </a:rPr>
                        <a:t>1</a:t>
                      </a:r>
                      <a:endParaRPr lang="en-US" altLang="en-US" sz="1400" b="1">
                        <a:solidFill>
                          <a:srgbClr val="FFFFFF"/>
                        </a:solidFill>
                        <a:latin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</a:rPr>
                        <a:t>0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</a:rPr>
                        <a:t>2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</a:rPr>
                        <a:t>9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</a:rPr>
                        <a:t>20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</a:rPr>
                        <a:t>3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</a:rPr>
                        <a:t>8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</a:rPr>
                        <a:t>11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</a:rPr>
                        <a:t>6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</a:rPr>
                        <a:t>9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</a:rPr>
                        <a:t>8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latin typeface="黑体" panose="02010609060101010101" pitchFamily="49" charset="-122"/>
                        </a:rPr>
                        <a:t>2</a:t>
                      </a:r>
                      <a:endParaRPr lang="en-US" altLang="en-US" sz="1400" b="1">
                        <a:solidFill>
                          <a:srgbClr val="FFFFFF"/>
                        </a:solidFill>
                        <a:latin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</a:rPr>
                        <a:t>10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</a:rPr>
                        <a:t>0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</a:rPr>
                        <a:t>7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</a:rPr>
                        <a:t>30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</a:rPr>
                        <a:t>1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</a:rPr>
                        <a:t>6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</a:rPr>
                        <a:t>9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</a:rPr>
                        <a:t>4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</a:rPr>
                        <a:t>7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</a:rPr>
                        <a:t>6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latin typeface="黑体" panose="02010609060101010101" pitchFamily="49" charset="-122"/>
                        </a:rPr>
                        <a:t>3</a:t>
                      </a:r>
                      <a:endParaRPr lang="en-US" altLang="en-US" sz="1400" b="1">
                        <a:solidFill>
                          <a:srgbClr val="FFFFFF"/>
                        </a:solidFill>
                        <a:latin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</a:rPr>
                        <a:t>3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</a:rPr>
                        <a:t>5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</a:rPr>
                        <a:t>0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</a:rPr>
                        <a:t>23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</a:rPr>
                        <a:t>6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</a:rPr>
                        <a:t>11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</a:rPr>
                        <a:t>14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</a:rPr>
                        <a:t>9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</a:rPr>
                        <a:t>12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</a:rPr>
                        <a:t>11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latin typeface="黑体" panose="02010609060101010101" pitchFamily="49" charset="-122"/>
                        </a:rPr>
                        <a:t>4</a:t>
                      </a:r>
                      <a:endParaRPr lang="en-US" altLang="en-US" sz="1400" b="1">
                        <a:solidFill>
                          <a:srgbClr val="FFFFFF"/>
                        </a:solidFill>
                        <a:latin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</a:rPr>
                        <a:t>10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</a:rPr>
                        <a:t>12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</a:rPr>
                        <a:t>7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</a:rPr>
                        <a:t>0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</a:rPr>
                        <a:t>13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</a:rPr>
                        <a:t>6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</a:rPr>
                        <a:t>4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</a:rPr>
                        <a:t>5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</a:rPr>
                        <a:t>8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</a:rPr>
                        <a:t>7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latin typeface="黑体" panose="02010609060101010101" pitchFamily="49" charset="-122"/>
                        </a:rPr>
                        <a:t>5</a:t>
                      </a:r>
                      <a:endParaRPr lang="en-US" altLang="en-US" sz="1400" b="1">
                        <a:solidFill>
                          <a:srgbClr val="FFFFFF"/>
                        </a:solidFill>
                        <a:latin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</a:rPr>
                        <a:t>9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</a:rPr>
                        <a:t>11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</a:rPr>
                        <a:t>6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</a:rPr>
                        <a:t>29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</a:rPr>
                        <a:t>0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</a:rPr>
                        <a:t>5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</a:rPr>
                        <a:t>8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</a:rPr>
                        <a:t>3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</a:rPr>
                        <a:t>6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</a:rPr>
                        <a:t>5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latin typeface="黑体" panose="02010609060101010101" pitchFamily="49" charset="-122"/>
                        </a:rPr>
                        <a:t>6</a:t>
                      </a:r>
                      <a:endParaRPr lang="en-US" altLang="en-US" sz="1400" b="1">
                        <a:solidFill>
                          <a:srgbClr val="FFFFFF"/>
                        </a:solidFill>
                        <a:latin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</a:rPr>
                        <a:t>4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</a:rPr>
                        <a:t>6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</a:rPr>
                        <a:t>1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</a:rPr>
                        <a:t>24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</a:rPr>
                        <a:t>7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</a:rPr>
                        <a:t>0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</a:rPr>
                        <a:t>15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</a:rPr>
                        <a:t>10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</a:rPr>
                        <a:t>13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</a:rPr>
                        <a:t>12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latin typeface="黑体" panose="02010609060101010101" pitchFamily="49" charset="-122"/>
                        </a:rPr>
                        <a:t>7</a:t>
                      </a:r>
                      <a:endParaRPr lang="en-US" altLang="en-US" sz="1400" b="1">
                        <a:solidFill>
                          <a:srgbClr val="FFFFFF"/>
                        </a:solidFill>
                        <a:latin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</a:rPr>
                        <a:t>7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</a:rPr>
                        <a:t>9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</a:rPr>
                        <a:t>4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</a:rPr>
                        <a:t>27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</a:rPr>
                        <a:t>10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</a:rPr>
                        <a:t>3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</a:rPr>
                        <a:t>0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</a:rPr>
                        <a:t>1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</a:rPr>
                        <a:t>4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</a:rPr>
                        <a:t>3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latin typeface="黑体" panose="02010609060101010101" pitchFamily="49" charset="-122"/>
                        </a:rPr>
                        <a:t>8</a:t>
                      </a:r>
                      <a:endParaRPr lang="en-US" altLang="en-US" sz="1400" b="1">
                        <a:solidFill>
                          <a:srgbClr val="FFFFFF"/>
                        </a:solidFill>
                        <a:latin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</a:rPr>
                        <a:t>6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</a:rPr>
                        <a:t>8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</a:rPr>
                        <a:t>3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</a:rPr>
                        <a:t>26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</a:rPr>
                        <a:t>9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</a:rPr>
                        <a:t>2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</a:rPr>
                        <a:t>5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</a:rPr>
                        <a:t>0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</a:rPr>
                        <a:t>3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</a:rPr>
                        <a:t>2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latin typeface="黑体" panose="02010609060101010101" pitchFamily="49" charset="-122"/>
                        </a:rPr>
                        <a:t>9</a:t>
                      </a:r>
                      <a:endParaRPr lang="en-US" altLang="en-US" sz="1400" b="1">
                        <a:solidFill>
                          <a:srgbClr val="FFFFFF"/>
                        </a:solidFill>
                        <a:latin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</a:rPr>
                        <a:t>9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</a:rPr>
                        <a:t>11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</a:rPr>
                        <a:t>6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</a:rPr>
                        <a:t>29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</a:rPr>
                        <a:t>12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</a:rPr>
                        <a:t>5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</a:rPr>
                        <a:t>2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</a:rPr>
                        <a:t>3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</a:rPr>
                        <a:t>0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</a:rPr>
                        <a:t>5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latin typeface="黑体" panose="02010609060101010101" pitchFamily="49" charset="-122"/>
                        </a:rPr>
                        <a:t>10</a:t>
                      </a:r>
                      <a:endParaRPr lang="en-US" altLang="en-US" sz="1400" b="1">
                        <a:solidFill>
                          <a:srgbClr val="FFFFFF"/>
                        </a:solidFill>
                        <a:latin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</a:rPr>
                        <a:t>10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</a:rPr>
                        <a:t>12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</a:rPr>
                        <a:t>7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</a:rPr>
                        <a:t>30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</a:rPr>
                        <a:t>13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</a:rPr>
                        <a:t>6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</a:rPr>
                        <a:t>3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</a:rPr>
                        <a:t>4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</a:rPr>
                        <a:t>1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</a:rPr>
                        <a:t>0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7" name="表格 6"/>
          <p:cNvGraphicFramePr/>
          <p:nvPr>
            <p:custDataLst>
              <p:tags r:id="rId3"/>
            </p:custDataLst>
          </p:nvPr>
        </p:nvGraphicFramePr>
        <p:xfrm>
          <a:off x="6162040" y="443230"/>
          <a:ext cx="5257800" cy="29895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latin typeface="黑体" panose="02010609060101010101" pitchFamily="49" charset="-122"/>
                        </a:rPr>
                        <a:t>path()</a:t>
                      </a:r>
                      <a:endParaRPr lang="en-US" altLang="en-US" sz="1400" b="1">
                        <a:solidFill>
                          <a:srgbClr val="FFFFFF"/>
                        </a:solidFill>
                        <a:latin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latin typeface="黑体" panose="02010609060101010101" pitchFamily="49" charset="-122"/>
                        </a:rPr>
                        <a:t>1</a:t>
                      </a:r>
                      <a:endParaRPr lang="en-US" altLang="en-US" sz="1400" b="1">
                        <a:solidFill>
                          <a:srgbClr val="FFFFFF"/>
                        </a:solidFill>
                        <a:latin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latin typeface="黑体" panose="02010609060101010101" pitchFamily="49" charset="-122"/>
                        </a:rPr>
                        <a:t>2</a:t>
                      </a:r>
                      <a:endParaRPr lang="en-US" altLang="en-US" sz="1400" b="1">
                        <a:solidFill>
                          <a:srgbClr val="FFFFFF"/>
                        </a:solidFill>
                        <a:latin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latin typeface="黑体" panose="02010609060101010101" pitchFamily="49" charset="-122"/>
                        </a:rPr>
                        <a:t>3</a:t>
                      </a:r>
                      <a:endParaRPr lang="en-US" altLang="en-US" sz="1400" b="1">
                        <a:solidFill>
                          <a:srgbClr val="FFFFFF"/>
                        </a:solidFill>
                        <a:latin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latin typeface="黑体" panose="02010609060101010101" pitchFamily="49" charset="-122"/>
                        </a:rPr>
                        <a:t>4</a:t>
                      </a:r>
                      <a:endParaRPr lang="en-US" altLang="en-US" sz="1400" b="1">
                        <a:solidFill>
                          <a:srgbClr val="FFFFFF"/>
                        </a:solidFill>
                        <a:latin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latin typeface="黑体" panose="02010609060101010101" pitchFamily="49" charset="-122"/>
                        </a:rPr>
                        <a:t>5</a:t>
                      </a:r>
                      <a:endParaRPr lang="en-US" altLang="en-US" sz="1400" b="1">
                        <a:solidFill>
                          <a:srgbClr val="FFFFFF"/>
                        </a:solidFill>
                        <a:latin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latin typeface="黑体" panose="02010609060101010101" pitchFamily="49" charset="-122"/>
                        </a:rPr>
                        <a:t>6</a:t>
                      </a:r>
                      <a:endParaRPr lang="en-US" altLang="en-US" sz="1400" b="1">
                        <a:solidFill>
                          <a:srgbClr val="FFFFFF"/>
                        </a:solidFill>
                        <a:latin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latin typeface="黑体" panose="02010609060101010101" pitchFamily="49" charset="-122"/>
                        </a:rPr>
                        <a:t>7</a:t>
                      </a:r>
                      <a:endParaRPr lang="en-US" altLang="en-US" sz="1400" b="1">
                        <a:solidFill>
                          <a:srgbClr val="FFFFFF"/>
                        </a:solidFill>
                        <a:latin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latin typeface="黑体" panose="02010609060101010101" pitchFamily="49" charset="-122"/>
                        </a:rPr>
                        <a:t>8</a:t>
                      </a:r>
                      <a:endParaRPr lang="en-US" altLang="en-US" sz="1400" b="1">
                        <a:solidFill>
                          <a:srgbClr val="FFFFFF"/>
                        </a:solidFill>
                        <a:latin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latin typeface="黑体" panose="02010609060101010101" pitchFamily="49" charset="-122"/>
                        </a:rPr>
                        <a:t>9</a:t>
                      </a:r>
                      <a:endParaRPr lang="en-US" altLang="en-US" sz="1400" b="1">
                        <a:solidFill>
                          <a:srgbClr val="FFFFFF"/>
                        </a:solidFill>
                        <a:latin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latin typeface="黑体" panose="02010609060101010101" pitchFamily="49" charset="-122"/>
                        </a:rPr>
                        <a:t>10</a:t>
                      </a:r>
                      <a:endParaRPr lang="en-US" altLang="en-US" sz="1400" b="1">
                        <a:solidFill>
                          <a:srgbClr val="FFFFFF"/>
                        </a:solidFill>
                        <a:latin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latin typeface="黑体" panose="02010609060101010101" pitchFamily="49" charset="-122"/>
                        </a:rPr>
                        <a:t>1</a:t>
                      </a:r>
                      <a:endParaRPr lang="en-US" altLang="en-US" sz="1400" b="1">
                        <a:solidFill>
                          <a:srgbClr val="FFFFFF"/>
                        </a:solidFill>
                        <a:latin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</a:rPr>
                        <a:t>1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</a:rPr>
                        <a:t>2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</a:rPr>
                        <a:t>2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</a:rPr>
                        <a:t>4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</a:rPr>
                        <a:t>2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</a:rPr>
                        <a:t>2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</a:rPr>
                        <a:t>2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</a:rPr>
                        <a:t>2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FF0000"/>
                          </a:solidFill>
                          <a:latin typeface="黑体" panose="02010609060101010101" pitchFamily="49" charset="-122"/>
                        </a:rPr>
                        <a:t>2</a:t>
                      </a:r>
                      <a:endParaRPr lang="en-US" altLang="en-US" sz="1400" b="0">
                        <a:solidFill>
                          <a:srgbClr val="FF0000"/>
                        </a:solidFill>
                        <a:latin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</a:rPr>
                        <a:t>2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latin typeface="黑体" panose="02010609060101010101" pitchFamily="49" charset="-122"/>
                        </a:rPr>
                        <a:t>2</a:t>
                      </a:r>
                      <a:endParaRPr lang="en-US" altLang="en-US" sz="1400" b="1">
                        <a:solidFill>
                          <a:srgbClr val="FFFFFF"/>
                        </a:solidFill>
                        <a:latin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</a:rPr>
                        <a:t>5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</a:rPr>
                        <a:t>2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</a:rPr>
                        <a:t>5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</a:rPr>
                        <a:t>5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</a:rPr>
                        <a:t>5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</a:rPr>
                        <a:t>5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</a:rPr>
                        <a:t>5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</a:rPr>
                        <a:t>5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FF0000"/>
                          </a:solidFill>
                          <a:latin typeface="黑体" panose="02010609060101010101" pitchFamily="49" charset="-122"/>
                        </a:rPr>
                        <a:t>5</a:t>
                      </a:r>
                      <a:endParaRPr lang="en-US" altLang="en-US" sz="1400" b="0">
                        <a:solidFill>
                          <a:srgbClr val="FF0000"/>
                        </a:solidFill>
                        <a:latin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</a:rPr>
                        <a:t>5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latin typeface="黑体" panose="02010609060101010101" pitchFamily="49" charset="-122"/>
                        </a:rPr>
                        <a:t>3</a:t>
                      </a:r>
                      <a:endParaRPr lang="en-US" altLang="en-US" sz="1400" b="1">
                        <a:solidFill>
                          <a:srgbClr val="FFFFFF"/>
                        </a:solidFill>
                        <a:latin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</a:rPr>
                        <a:t>1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</a:rPr>
                        <a:t>1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</a:rPr>
                        <a:t>3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</a:rPr>
                        <a:t>1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</a:rPr>
                        <a:t>1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</a:rPr>
                        <a:t>1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</a:rPr>
                        <a:t>1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</a:rPr>
                        <a:t>1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</a:rPr>
                        <a:t>1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</a:rPr>
                        <a:t>1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latin typeface="黑体" panose="02010609060101010101" pitchFamily="49" charset="-122"/>
                        </a:rPr>
                        <a:t>4</a:t>
                      </a:r>
                      <a:endParaRPr lang="en-US" altLang="en-US" sz="1400" b="1">
                        <a:solidFill>
                          <a:srgbClr val="FFFFFF"/>
                        </a:solidFill>
                        <a:latin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</a:rPr>
                        <a:t>6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</a:rPr>
                        <a:t>6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</a:rPr>
                        <a:t>6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</a:rPr>
                        <a:t>4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</a:rPr>
                        <a:t>6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</a:rPr>
                        <a:t>6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</a:rPr>
                        <a:t>7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</a:rPr>
                        <a:t>7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</a:rPr>
                        <a:t>7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</a:rPr>
                        <a:t>7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latin typeface="黑体" panose="02010609060101010101" pitchFamily="49" charset="-122"/>
                        </a:rPr>
                        <a:t>5</a:t>
                      </a:r>
                      <a:endParaRPr lang="en-US" altLang="en-US" sz="1400" b="1">
                        <a:solidFill>
                          <a:srgbClr val="FFFFFF"/>
                        </a:solidFill>
                        <a:latin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</a:rPr>
                        <a:t>8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</a:rPr>
                        <a:t>8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</a:rPr>
                        <a:t>8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</a:rPr>
                        <a:t>8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</a:rPr>
                        <a:t>5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</a:rPr>
                        <a:t>8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</a:rPr>
                        <a:t>8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</a:rPr>
                        <a:t>8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FF0000"/>
                          </a:solidFill>
                          <a:latin typeface="黑体" panose="02010609060101010101" pitchFamily="49" charset="-122"/>
                        </a:rPr>
                        <a:t>8</a:t>
                      </a:r>
                      <a:endParaRPr lang="en-US" altLang="en-US" sz="1400" b="0">
                        <a:solidFill>
                          <a:srgbClr val="FF0000"/>
                        </a:solidFill>
                        <a:latin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</a:rPr>
                        <a:t>8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latin typeface="黑体" panose="02010609060101010101" pitchFamily="49" charset="-122"/>
                        </a:rPr>
                        <a:t>6</a:t>
                      </a:r>
                      <a:endParaRPr lang="en-US" altLang="en-US" sz="1400" b="1">
                        <a:solidFill>
                          <a:srgbClr val="FFFFFF"/>
                        </a:solidFill>
                        <a:latin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</a:rPr>
                        <a:t>3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</a:rPr>
                        <a:t>3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</a:rPr>
                        <a:t>3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</a:rPr>
                        <a:t>3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</a:rPr>
                        <a:t>3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</a:rPr>
                        <a:t>6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</a:rPr>
                        <a:t>3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</a:rPr>
                        <a:t>3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</a:rPr>
                        <a:t>3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</a:rPr>
                        <a:t>3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latin typeface="黑体" panose="02010609060101010101" pitchFamily="49" charset="-122"/>
                        </a:rPr>
                        <a:t>7</a:t>
                      </a:r>
                      <a:endParaRPr lang="en-US" altLang="en-US" sz="1400" b="1">
                        <a:solidFill>
                          <a:srgbClr val="FFFFFF"/>
                        </a:solidFill>
                        <a:latin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</a:rPr>
                        <a:t>8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</a:rPr>
                        <a:t>8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</a:rPr>
                        <a:t>8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</a:rPr>
                        <a:t>8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</a:rPr>
                        <a:t>8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</a:rPr>
                        <a:t>8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</a:rPr>
                        <a:t>7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</a:rPr>
                        <a:t>8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</a:rPr>
                        <a:t>8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</a:rPr>
                        <a:t>8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latin typeface="黑体" panose="02010609060101010101" pitchFamily="49" charset="-122"/>
                        </a:rPr>
                        <a:t>8</a:t>
                      </a:r>
                      <a:endParaRPr lang="en-US" altLang="en-US" sz="1400" b="1">
                        <a:solidFill>
                          <a:srgbClr val="FFFFFF"/>
                        </a:solidFill>
                        <a:latin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</a:rPr>
                        <a:t>6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</a:rPr>
                        <a:t>6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</a:rPr>
                        <a:t>6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</a:rPr>
                        <a:t>6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</a:rPr>
                        <a:t>6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</a:rPr>
                        <a:t>6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</a:rPr>
                        <a:t>10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</a:rPr>
                        <a:t>8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FF0000"/>
                          </a:solidFill>
                          <a:latin typeface="黑体" panose="02010609060101010101" pitchFamily="49" charset="-122"/>
                        </a:rPr>
                        <a:t>10</a:t>
                      </a:r>
                      <a:endParaRPr lang="en-US" altLang="en-US" sz="1400" b="0">
                        <a:solidFill>
                          <a:srgbClr val="FF0000"/>
                        </a:solidFill>
                        <a:latin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</a:rPr>
                        <a:t>10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latin typeface="黑体" panose="02010609060101010101" pitchFamily="49" charset="-122"/>
                        </a:rPr>
                        <a:t>9</a:t>
                      </a:r>
                      <a:endParaRPr lang="en-US" altLang="en-US" sz="1400" b="1">
                        <a:solidFill>
                          <a:srgbClr val="FFFFFF"/>
                        </a:solidFill>
                        <a:latin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</a:rPr>
                        <a:t>7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</a:rPr>
                        <a:t>7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</a:rPr>
                        <a:t>7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</a:rPr>
                        <a:t>7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</a:rPr>
                        <a:t>7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</a:rPr>
                        <a:t>7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</a:rPr>
                        <a:t>7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</a:rPr>
                        <a:t>7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</a:rPr>
                        <a:t>9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</a:rPr>
                        <a:t>7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latin typeface="黑体" panose="02010609060101010101" pitchFamily="49" charset="-122"/>
                        </a:rPr>
                        <a:t>10</a:t>
                      </a:r>
                      <a:endParaRPr lang="en-US" altLang="en-US" sz="1400" b="1">
                        <a:solidFill>
                          <a:srgbClr val="FFFFFF"/>
                        </a:solidFill>
                        <a:latin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</a:rPr>
                        <a:t>9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</a:rPr>
                        <a:t>9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</a:rPr>
                        <a:t>9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</a:rPr>
                        <a:t>9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</a:rPr>
                        <a:t>9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</a:rPr>
                        <a:t>9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</a:rPr>
                        <a:t>9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</a:rPr>
                        <a:t>9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FF0000"/>
                          </a:solidFill>
                          <a:latin typeface="黑体" panose="02010609060101010101" pitchFamily="49" charset="-122"/>
                        </a:rPr>
                        <a:t>9</a:t>
                      </a:r>
                      <a:endParaRPr lang="en-US" altLang="en-US" sz="1400" b="0">
                        <a:solidFill>
                          <a:srgbClr val="FF0000"/>
                        </a:solidFill>
                        <a:latin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</a:rPr>
                        <a:t>10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5B9BD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054746" name="Oval 26"/>
          <p:cNvSpPr>
            <a:spLocks noChangeArrowheads="1"/>
          </p:cNvSpPr>
          <p:nvPr/>
        </p:nvSpPr>
        <p:spPr bwMode="auto">
          <a:xfrm flipH="1">
            <a:off x="2995613" y="4623118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1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54747" name="Oval 27"/>
          <p:cNvSpPr>
            <a:spLocks noChangeArrowheads="1"/>
          </p:cNvSpPr>
          <p:nvPr/>
        </p:nvSpPr>
        <p:spPr bwMode="auto">
          <a:xfrm flipH="1">
            <a:off x="4421188" y="4623118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3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54779" name="AutoShape 59"/>
          <p:cNvCxnSpPr>
            <a:stCxn id="1054746" idx="2"/>
            <a:endCxn id="1054747" idx="6"/>
          </p:cNvCxnSpPr>
          <p:nvPr/>
        </p:nvCxnSpPr>
        <p:spPr>
          <a:xfrm>
            <a:off x="3282950" y="4779010"/>
            <a:ext cx="1137920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triangle" w="med" len="med"/>
            <a:tailEnd type="none" w="med" len="med"/>
          </a:ln>
        </p:spPr>
      </p:cxnSp>
      <p:sp useBgFill="1">
        <p:nvSpPr>
          <p:cNvPr id="1054780" name="Oval 60"/>
          <p:cNvSpPr/>
          <p:nvPr/>
        </p:nvSpPr>
        <p:spPr>
          <a:xfrm>
            <a:off x="3714750" y="4623118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lstStyle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8" name="Oval 27"/>
          <p:cNvSpPr>
            <a:spLocks noChangeArrowheads="1"/>
          </p:cNvSpPr>
          <p:nvPr/>
        </p:nvSpPr>
        <p:spPr bwMode="auto">
          <a:xfrm flipH="1">
            <a:off x="4420553" y="3967798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2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9" name="AutoShape 59"/>
          <p:cNvCxnSpPr>
            <a:stCxn id="1054746" idx="1"/>
            <a:endCxn id="8" idx="6"/>
          </p:cNvCxnSpPr>
          <p:nvPr/>
        </p:nvCxnSpPr>
        <p:spPr>
          <a:xfrm flipV="1">
            <a:off x="3241040" y="4123690"/>
            <a:ext cx="1179195" cy="55308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10" name="Oval 60"/>
          <p:cNvSpPr/>
          <p:nvPr/>
        </p:nvSpPr>
        <p:spPr>
          <a:xfrm>
            <a:off x="3686810" y="4270058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lstStyle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11" name="Oval 27"/>
          <p:cNvSpPr>
            <a:spLocks noChangeArrowheads="1"/>
          </p:cNvSpPr>
          <p:nvPr/>
        </p:nvSpPr>
        <p:spPr bwMode="auto">
          <a:xfrm flipH="1">
            <a:off x="5854383" y="3967798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5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2" name="AutoShape 59"/>
          <p:cNvCxnSpPr>
            <a:endCxn id="11" idx="6"/>
          </p:cNvCxnSpPr>
          <p:nvPr/>
        </p:nvCxnSpPr>
        <p:spPr>
          <a:xfrm>
            <a:off x="4716145" y="4123690"/>
            <a:ext cx="1137920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13" name="Oval 60"/>
          <p:cNvSpPr/>
          <p:nvPr/>
        </p:nvSpPr>
        <p:spPr>
          <a:xfrm>
            <a:off x="5147945" y="3967798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lstStyle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4" name="Oval 27"/>
          <p:cNvSpPr>
            <a:spLocks noChangeArrowheads="1"/>
          </p:cNvSpPr>
          <p:nvPr/>
        </p:nvSpPr>
        <p:spPr bwMode="auto">
          <a:xfrm flipH="1">
            <a:off x="5854383" y="4623753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6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5" name="AutoShape 59"/>
          <p:cNvCxnSpPr>
            <a:endCxn id="14" idx="6"/>
          </p:cNvCxnSpPr>
          <p:nvPr/>
        </p:nvCxnSpPr>
        <p:spPr>
          <a:xfrm>
            <a:off x="4716145" y="4779645"/>
            <a:ext cx="1137920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triangle" w="med" len="med"/>
            <a:tailEnd type="none" w="med" len="med"/>
          </a:ln>
        </p:spPr>
      </p:cxnSp>
      <p:sp useBgFill="1">
        <p:nvSpPr>
          <p:cNvPr id="16" name="Oval 60"/>
          <p:cNvSpPr/>
          <p:nvPr/>
        </p:nvSpPr>
        <p:spPr>
          <a:xfrm>
            <a:off x="5147945" y="4623753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lstStyle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7" name="Oval 27"/>
          <p:cNvSpPr>
            <a:spLocks noChangeArrowheads="1"/>
          </p:cNvSpPr>
          <p:nvPr/>
        </p:nvSpPr>
        <p:spPr bwMode="auto">
          <a:xfrm flipH="1">
            <a:off x="7280593" y="4621213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8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8" name="AutoShape 59"/>
          <p:cNvCxnSpPr>
            <a:endCxn id="17" idx="6"/>
          </p:cNvCxnSpPr>
          <p:nvPr/>
        </p:nvCxnSpPr>
        <p:spPr>
          <a:xfrm>
            <a:off x="6142355" y="4777105"/>
            <a:ext cx="1137920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triangle" w="med" len="med"/>
            <a:tailEnd type="none" w="med" len="med"/>
          </a:ln>
        </p:spPr>
      </p:cxnSp>
      <p:sp useBgFill="1">
        <p:nvSpPr>
          <p:cNvPr id="19" name="Oval 60"/>
          <p:cNvSpPr/>
          <p:nvPr/>
        </p:nvSpPr>
        <p:spPr>
          <a:xfrm>
            <a:off x="6574155" y="4621213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lstStyle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20" name="Oval 27"/>
          <p:cNvSpPr>
            <a:spLocks noChangeArrowheads="1"/>
          </p:cNvSpPr>
          <p:nvPr/>
        </p:nvSpPr>
        <p:spPr bwMode="auto">
          <a:xfrm flipH="1">
            <a:off x="4428173" y="5544503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4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21" name="AutoShape 59"/>
          <p:cNvCxnSpPr>
            <a:stCxn id="1054746" idx="3"/>
            <a:endCxn id="20" idx="6"/>
          </p:cNvCxnSpPr>
          <p:nvPr/>
        </p:nvCxnSpPr>
        <p:spPr>
          <a:xfrm>
            <a:off x="3241040" y="4880610"/>
            <a:ext cx="1186815" cy="81978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22" name="Oval 60"/>
          <p:cNvSpPr/>
          <p:nvPr/>
        </p:nvSpPr>
        <p:spPr>
          <a:xfrm>
            <a:off x="3721735" y="5257483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lstStyle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20</a:t>
            </a:r>
          </a:p>
        </p:txBody>
      </p:sp>
      <p:cxnSp>
        <p:nvCxnSpPr>
          <p:cNvPr id="23" name="直接箭头连接符 22"/>
          <p:cNvCxnSpPr>
            <a:stCxn id="20" idx="0"/>
            <a:endCxn id="1054747" idx="4"/>
          </p:cNvCxnSpPr>
          <p:nvPr/>
        </p:nvCxnSpPr>
        <p:spPr>
          <a:xfrm flipH="1" flipV="1">
            <a:off x="4564380" y="4923155"/>
            <a:ext cx="6985" cy="63246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24" name="Oval 60"/>
          <p:cNvSpPr/>
          <p:nvPr/>
        </p:nvSpPr>
        <p:spPr>
          <a:xfrm>
            <a:off x="4420235" y="5136515"/>
            <a:ext cx="287655" cy="287020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lstStyle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8</a:t>
            </a:r>
          </a:p>
        </p:txBody>
      </p:sp>
      <p:sp>
        <p:nvSpPr>
          <p:cNvPr id="25" name="Oval 27"/>
          <p:cNvSpPr>
            <a:spLocks noChangeArrowheads="1"/>
          </p:cNvSpPr>
          <p:nvPr/>
        </p:nvSpPr>
        <p:spPr bwMode="auto">
          <a:xfrm flipH="1">
            <a:off x="5854383" y="5544503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7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26" name="Oval 27"/>
          <p:cNvSpPr>
            <a:spLocks noChangeArrowheads="1"/>
          </p:cNvSpPr>
          <p:nvPr/>
        </p:nvSpPr>
        <p:spPr bwMode="auto">
          <a:xfrm flipH="1">
            <a:off x="7280593" y="5544503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9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27" name="Oval 27"/>
          <p:cNvSpPr>
            <a:spLocks noChangeArrowheads="1"/>
          </p:cNvSpPr>
          <p:nvPr/>
        </p:nvSpPr>
        <p:spPr bwMode="auto">
          <a:xfrm flipH="1">
            <a:off x="8602663" y="3981133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10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28" name="直接箭头连接符 27"/>
          <p:cNvCxnSpPr>
            <a:stCxn id="11" idx="2"/>
            <a:endCxn id="17" idx="7"/>
          </p:cNvCxnSpPr>
          <p:nvPr/>
        </p:nvCxnSpPr>
        <p:spPr>
          <a:xfrm>
            <a:off x="6141720" y="4123690"/>
            <a:ext cx="1180465" cy="55118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29" name="直接箭头连接符 28"/>
          <p:cNvCxnSpPr>
            <a:stCxn id="17" idx="1"/>
            <a:endCxn id="27" idx="6"/>
          </p:cNvCxnSpPr>
          <p:nvPr/>
        </p:nvCxnSpPr>
        <p:spPr>
          <a:xfrm flipV="1">
            <a:off x="7526020" y="4137025"/>
            <a:ext cx="1076325" cy="53784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30" name="直接箭头连接符 29"/>
          <p:cNvCxnSpPr>
            <a:stCxn id="27" idx="5"/>
            <a:endCxn id="26" idx="1"/>
          </p:cNvCxnSpPr>
          <p:nvPr/>
        </p:nvCxnSpPr>
        <p:spPr>
          <a:xfrm flipH="1">
            <a:off x="7526020" y="4238625"/>
            <a:ext cx="1118235" cy="135953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31" name="直接箭头连接符 30"/>
          <p:cNvCxnSpPr>
            <a:stCxn id="26" idx="6"/>
            <a:endCxn id="25" idx="2"/>
          </p:cNvCxnSpPr>
          <p:nvPr/>
        </p:nvCxnSpPr>
        <p:spPr>
          <a:xfrm flipH="1">
            <a:off x="6141720" y="5700395"/>
            <a:ext cx="1138555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32" name="直接箭头连接符 31"/>
          <p:cNvCxnSpPr>
            <a:stCxn id="20" idx="2"/>
            <a:endCxn id="25" idx="6"/>
          </p:cNvCxnSpPr>
          <p:nvPr/>
        </p:nvCxnSpPr>
        <p:spPr>
          <a:xfrm>
            <a:off x="4715510" y="5700395"/>
            <a:ext cx="1138555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33" name="直接箭头连接符 32"/>
          <p:cNvCxnSpPr>
            <a:stCxn id="20" idx="1"/>
            <a:endCxn id="14" idx="5"/>
          </p:cNvCxnSpPr>
          <p:nvPr/>
        </p:nvCxnSpPr>
        <p:spPr>
          <a:xfrm flipV="1">
            <a:off x="4673600" y="4881245"/>
            <a:ext cx="1222375" cy="71691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34" name="直接箭头连接符 33"/>
          <p:cNvCxnSpPr>
            <a:stCxn id="25" idx="1"/>
            <a:endCxn id="17" idx="5"/>
          </p:cNvCxnSpPr>
          <p:nvPr/>
        </p:nvCxnSpPr>
        <p:spPr>
          <a:xfrm flipV="1">
            <a:off x="6099810" y="4878705"/>
            <a:ext cx="1222375" cy="71945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35" name="Oval 60"/>
          <p:cNvSpPr/>
          <p:nvPr/>
        </p:nvSpPr>
        <p:spPr>
          <a:xfrm>
            <a:off x="6567170" y="4270058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lstStyle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3</a:t>
            </a:r>
          </a:p>
        </p:txBody>
      </p:sp>
      <p:sp useBgFill="1">
        <p:nvSpPr>
          <p:cNvPr id="36" name="Oval 60"/>
          <p:cNvSpPr/>
          <p:nvPr/>
        </p:nvSpPr>
        <p:spPr>
          <a:xfrm>
            <a:off x="7920355" y="4270058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lstStyle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2</a:t>
            </a:r>
          </a:p>
        </p:txBody>
      </p:sp>
      <p:sp useBgFill="1">
        <p:nvSpPr>
          <p:cNvPr id="37" name="Oval 60"/>
          <p:cNvSpPr/>
          <p:nvPr/>
        </p:nvSpPr>
        <p:spPr>
          <a:xfrm>
            <a:off x="7920355" y="4768533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lstStyle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1</a:t>
            </a:r>
          </a:p>
        </p:txBody>
      </p:sp>
      <p:sp useBgFill="1">
        <p:nvSpPr>
          <p:cNvPr id="38" name="Oval 60"/>
          <p:cNvSpPr/>
          <p:nvPr/>
        </p:nvSpPr>
        <p:spPr>
          <a:xfrm>
            <a:off x="6649720" y="5546408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lstStyle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2</a:t>
            </a:r>
          </a:p>
        </p:txBody>
      </p:sp>
      <p:sp useBgFill="1">
        <p:nvSpPr>
          <p:cNvPr id="39" name="Oval 60"/>
          <p:cNvSpPr/>
          <p:nvPr/>
        </p:nvSpPr>
        <p:spPr>
          <a:xfrm>
            <a:off x="6588125" y="5055553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lstStyle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1</a:t>
            </a:r>
          </a:p>
        </p:txBody>
      </p:sp>
      <p:sp useBgFill="1">
        <p:nvSpPr>
          <p:cNvPr id="40" name="Oval 60"/>
          <p:cNvSpPr/>
          <p:nvPr/>
        </p:nvSpPr>
        <p:spPr>
          <a:xfrm>
            <a:off x="5256530" y="5011738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lstStyle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6</a:t>
            </a:r>
          </a:p>
        </p:txBody>
      </p:sp>
      <p:sp useBgFill="1">
        <p:nvSpPr>
          <p:cNvPr id="41" name="Oval 60"/>
          <p:cNvSpPr/>
          <p:nvPr/>
        </p:nvSpPr>
        <p:spPr>
          <a:xfrm>
            <a:off x="5147945" y="5586413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lstStyle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4</a:t>
            </a:r>
          </a:p>
        </p:txBody>
      </p:sp>
      <p:cxnSp>
        <p:nvCxnSpPr>
          <p:cNvPr id="42" name="直接箭头连接符 41"/>
          <p:cNvCxnSpPr>
            <a:stCxn id="11" idx="5"/>
            <a:endCxn id="1054747" idx="1"/>
          </p:cNvCxnSpPr>
          <p:nvPr/>
        </p:nvCxnSpPr>
        <p:spPr>
          <a:xfrm flipH="1">
            <a:off x="4666615" y="4225290"/>
            <a:ext cx="1229360" cy="45148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43" name="Oval 60"/>
          <p:cNvSpPr/>
          <p:nvPr/>
        </p:nvSpPr>
        <p:spPr>
          <a:xfrm>
            <a:off x="5256530" y="4296093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lstStyle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7</a:t>
            </a: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空白演示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IAGRAM_MODELTYPE" val="dynamicNum"/>
  <p:tag name="KSO_WM_BEAUTIFY_FLAG" val="#wm#"/>
  <p:tag name="KSO_WM_UNIT_TYPE" val="ζ_h_f"/>
  <p:tag name="KSO_WM_UNIT_DYNMNUM_TYPE" val="1"/>
  <p:tag name="KSO_WM_DYNAMICNUM_SPEED" val="3"/>
  <p:tag name="KSO_WM_UNIT_DYNMNUM_DGM_ANIMTYPE" val="5"/>
  <p:tag name="KSO_WM_UNIT_INDEX" val="1602574885561_1_1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IAGRAM_MODELTYPE" val="dynamicNum"/>
  <p:tag name="KSO_WM_BEAUTIFY_FLAG" val="#wm#"/>
  <p:tag name="KSO_WM_UNIT_TYPE" val="ζ_h_f"/>
  <p:tag name="KSO_WM_UNIT_DYNMNUM_TYPE" val="1"/>
  <p:tag name="KSO_WM_DYNAMICNUM_SPEED" val="3"/>
  <p:tag name="KSO_WM_UNIT_DYNMNUM_DGM_ANIMTYPE" val="5"/>
  <p:tag name="KSO_WM_UNIT_INDEX" val="1602574885561_1_1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IAGRAM_MODELTYPE" val="dynamicNum"/>
  <p:tag name="KSO_WM_BEAUTIFY_FLAG" val="#wm#"/>
  <p:tag name="KSO_WM_UNIT_TYPE" val="ζ_h_f"/>
  <p:tag name="KSO_WM_UNIT_DYNMNUM_TYPE" val="1"/>
  <p:tag name="KSO_WM_DYNAMICNUM_SPEED" val="3"/>
  <p:tag name="KSO_WM_UNIT_DYNMNUM_DGM_ANIMTYPE" val="5"/>
  <p:tag name="KSO_WM_UNIT_INDEX" val="1602574885561_1_1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IAGRAM_MODELTYPE" val="dynamicNum"/>
  <p:tag name="KSO_WM_BEAUTIFY_FLAG" val="#wm#"/>
  <p:tag name="KSO_WM_UNIT_TYPE" val="ζ_h_f"/>
  <p:tag name="KSO_WM_UNIT_DYNMNUM_TYPE" val="1"/>
  <p:tag name="KSO_WM_DYNAMICNUM_SPEED" val="3"/>
  <p:tag name="KSO_WM_UNIT_DYNMNUM_DGM_ANIMTYPE" val="5"/>
  <p:tag name="KSO_WM_UNIT_INDEX" val="1602574885561_1_1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IAGRAM_MODELTYPE" val="dynamicNum"/>
  <p:tag name="KSO_WM_BEAUTIFY_FLAG" val="#wm#"/>
  <p:tag name="KSO_WM_UNIT_TYPE" val="ζ_h_f"/>
  <p:tag name="KSO_WM_UNIT_DYNMNUM_TYPE" val="1"/>
  <p:tag name="KSO_WM_DYNAMICNUM_SPEED" val="3"/>
  <p:tag name="KSO_WM_UNIT_DYNMNUM_DGM_ANIMTYPE" val="5"/>
  <p:tag name="KSO_WM_UNIT_INDEX" val="1602574885561_1_1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IAGRAM_MODELTYPE" val="dynamicNum"/>
  <p:tag name="KSO_WM_BEAUTIFY_FLAG" val="#wm#"/>
  <p:tag name="KSO_WM_UNIT_TYPE" val="ζ_h_f"/>
  <p:tag name="KSO_WM_UNIT_DYNMNUM_TYPE" val="1"/>
  <p:tag name="KSO_WM_DYNAMICNUM_SPEED" val="3"/>
  <p:tag name="KSO_WM_UNIT_DYNMNUM_DGM_ANIMTYPE" val="5"/>
  <p:tag name="KSO_WM_UNIT_INDEX" val="1602574885561_1_1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basetag"/>
  <p:tag name="KSO_WM_TEMPLATE_INDEX" val="20164241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ed04c75e-262a-477e-a22d-833c4327a253}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d4ee5347-a9a2-4d2d-8277-b9112a793246}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 w="31750">
          <a:solidFill>
            <a:schemeClr val="tx2"/>
          </a:solidFill>
          <a:headEnd type="none" w="med" len="med"/>
          <a:tailEnd type="none" w="med" len="med"/>
        </a:ln>
      </a:spPr>
      <a:bodyPr/>
      <a:lstStyle/>
      <a:style>
        <a:lnRef idx="3">
          <a:schemeClr val="accent6"/>
        </a:lnRef>
        <a:fillRef idx="0">
          <a:schemeClr val="accent6"/>
        </a:fillRef>
        <a:effectRef idx="2">
          <a:schemeClr val="accent6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715</Words>
  <Application>Microsoft Office PowerPoint</Application>
  <PresentationFormat>宽屏</PresentationFormat>
  <Paragraphs>450</Paragraphs>
  <Slides>5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3" baseType="lpstr">
      <vt:lpstr>Arial Unicode MS</vt:lpstr>
      <vt:lpstr>黑体</vt:lpstr>
      <vt:lpstr>微软雅黑</vt:lpstr>
      <vt:lpstr>Arial</vt:lpstr>
      <vt:lpstr>Calibri</vt:lpstr>
      <vt:lpstr>Consolas</vt:lpstr>
      <vt:lpstr>Wingdings</vt:lpstr>
      <vt:lpstr>Office 主题​​</vt:lpstr>
      <vt:lpstr>最短路径算法</vt:lpstr>
      <vt:lpstr>Dijkstra算法</vt:lpstr>
      <vt:lpstr>Dijkstra算法求路径</vt:lpstr>
      <vt:lpstr>Floyd算法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李尔里德</dc:creator>
  <cp:lastModifiedBy>尔里德 李</cp:lastModifiedBy>
  <cp:revision>166</cp:revision>
  <dcterms:created xsi:type="dcterms:W3CDTF">2019-06-19T02:08:00Z</dcterms:created>
  <dcterms:modified xsi:type="dcterms:W3CDTF">2024-12-03T15:37:20Z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2052-11.1.0.9513</vt:lpwstr>
  </property>
</Properties>
</file>