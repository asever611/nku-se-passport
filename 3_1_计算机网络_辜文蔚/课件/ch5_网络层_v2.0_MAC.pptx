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06"/>
  </p:notesMasterIdLst>
  <p:sldIdLst>
    <p:sldId id="1014" r:id="rId2"/>
    <p:sldId id="1015" r:id="rId3"/>
    <p:sldId id="1304" r:id="rId4"/>
    <p:sldId id="1506" r:id="rId5"/>
    <p:sldId id="1507" r:id="rId6"/>
    <p:sldId id="1508" r:id="rId7"/>
    <p:sldId id="1509" r:id="rId8"/>
    <p:sldId id="1510" r:id="rId9"/>
    <p:sldId id="1511" r:id="rId10"/>
    <p:sldId id="1512" r:id="rId11"/>
    <p:sldId id="1621" r:id="rId12"/>
    <p:sldId id="1622" r:id="rId13"/>
    <p:sldId id="1513" r:id="rId14"/>
    <p:sldId id="1629" r:id="rId15"/>
    <p:sldId id="1504" r:id="rId16"/>
    <p:sldId id="1464" r:id="rId17"/>
    <p:sldId id="1691" r:id="rId18"/>
    <p:sldId id="1692" r:id="rId19"/>
    <p:sldId id="1693" r:id="rId20"/>
    <p:sldId id="1468" r:id="rId21"/>
    <p:sldId id="1469" r:id="rId22"/>
    <p:sldId id="1694" r:id="rId23"/>
    <p:sldId id="1471" r:id="rId24"/>
    <p:sldId id="1718" r:id="rId25"/>
    <p:sldId id="1472" r:id="rId26"/>
    <p:sldId id="1473" r:id="rId27"/>
    <p:sldId id="1505" r:id="rId28"/>
    <p:sldId id="1695" r:id="rId29"/>
    <p:sldId id="1476" r:id="rId30"/>
    <p:sldId id="1477" r:id="rId31"/>
    <p:sldId id="1683" r:id="rId32"/>
    <p:sldId id="1488" r:id="rId33"/>
    <p:sldId id="1684" r:id="rId34"/>
    <p:sldId id="1685" r:id="rId35"/>
    <p:sldId id="1479" r:id="rId36"/>
    <p:sldId id="1719" r:id="rId37"/>
    <p:sldId id="1491" r:id="rId38"/>
    <p:sldId id="1480" r:id="rId39"/>
    <p:sldId id="1492" r:id="rId40"/>
    <p:sldId id="1493" r:id="rId41"/>
    <p:sldId id="1494" r:id="rId42"/>
    <p:sldId id="1495" r:id="rId43"/>
    <p:sldId id="1496" r:id="rId44"/>
    <p:sldId id="1481" r:id="rId45"/>
    <p:sldId id="1482" r:id="rId46"/>
    <p:sldId id="1484" r:id="rId47"/>
    <p:sldId id="1483" r:id="rId48"/>
    <p:sldId id="1497" r:id="rId49"/>
    <p:sldId id="1498" r:id="rId50"/>
    <p:sldId id="1499" r:id="rId51"/>
    <p:sldId id="1501" r:id="rId52"/>
    <p:sldId id="1686" r:id="rId53"/>
    <p:sldId id="1503" r:id="rId54"/>
    <p:sldId id="1631" r:id="rId55"/>
    <p:sldId id="1632" r:id="rId56"/>
    <p:sldId id="1633" r:id="rId57"/>
    <p:sldId id="1634" r:id="rId58"/>
    <p:sldId id="1635" r:id="rId59"/>
    <p:sldId id="1636" r:id="rId60"/>
    <p:sldId id="1637" r:id="rId61"/>
    <p:sldId id="1638" r:id="rId62"/>
    <p:sldId id="1639" r:id="rId63"/>
    <p:sldId id="1640" r:id="rId64"/>
    <p:sldId id="1641" r:id="rId65"/>
    <p:sldId id="1642" r:id="rId66"/>
    <p:sldId id="1643" r:id="rId67"/>
    <p:sldId id="1644" r:id="rId68"/>
    <p:sldId id="1645" r:id="rId69"/>
    <p:sldId id="1646" r:id="rId70"/>
    <p:sldId id="1647" r:id="rId71"/>
    <p:sldId id="1648" r:id="rId72"/>
    <p:sldId id="1649" r:id="rId73"/>
    <p:sldId id="1650" r:id="rId74"/>
    <p:sldId id="1651" r:id="rId75"/>
    <p:sldId id="1652" r:id="rId76"/>
    <p:sldId id="1653" r:id="rId77"/>
    <p:sldId id="1654" r:id="rId78"/>
    <p:sldId id="1655" r:id="rId79"/>
    <p:sldId id="1656" r:id="rId80"/>
    <p:sldId id="1657" r:id="rId81"/>
    <p:sldId id="1567" r:id="rId82"/>
    <p:sldId id="1530" r:id="rId83"/>
    <p:sldId id="1531" r:id="rId84"/>
    <p:sldId id="1536" r:id="rId85"/>
    <p:sldId id="1537" r:id="rId86"/>
    <p:sldId id="1538" r:id="rId87"/>
    <p:sldId id="1541" r:id="rId88"/>
    <p:sldId id="1542" r:id="rId89"/>
    <p:sldId id="1543" r:id="rId90"/>
    <p:sldId id="1546" r:id="rId91"/>
    <p:sldId id="1547" r:id="rId92"/>
    <p:sldId id="1548" r:id="rId93"/>
    <p:sldId id="1687" r:id="rId94"/>
    <p:sldId id="1550" r:id="rId95"/>
    <p:sldId id="1551" r:id="rId96"/>
    <p:sldId id="1688" r:id="rId97"/>
    <p:sldId id="1407" r:id="rId98"/>
    <p:sldId id="1353" r:id="rId99"/>
    <p:sldId id="1354" r:id="rId100"/>
    <p:sldId id="1355" r:id="rId101"/>
    <p:sldId id="1356" r:id="rId102"/>
    <p:sldId id="1357" r:id="rId103"/>
    <p:sldId id="1717" r:id="rId104"/>
    <p:sldId id="1716" r:id="rId10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a:srgbClr val="5B307E"/>
    <a:srgbClr val="FDCB0B"/>
    <a:srgbClr val="FFD700"/>
    <a:srgbClr val="F9BC12"/>
    <a:srgbClr val="FFD801"/>
    <a:srgbClr val="EFB914"/>
    <a:srgbClr val="F5BD15"/>
    <a:srgbClr val="F8BF15"/>
    <a:srgbClr val="FEC60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110" autoAdjust="0"/>
    <p:restoredTop sz="70976" autoAdjust="0"/>
  </p:normalViewPr>
  <p:slideViewPr>
    <p:cSldViewPr snapToGrid="0" snapToObjects="1">
      <p:cViewPr varScale="1">
        <p:scale>
          <a:sx n="60" d="100"/>
          <a:sy n="60" d="100"/>
        </p:scale>
        <p:origin x="1090" y="43"/>
      </p:cViewPr>
      <p:guideLst/>
    </p:cSldViewPr>
  </p:slideViewPr>
  <p:outlineViewPr>
    <p:cViewPr>
      <p:scale>
        <a:sx n="33" d="100"/>
        <a:sy n="33" d="100"/>
      </p:scale>
      <p:origin x="0" y="-2640"/>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presProps" Target="pres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5E8472-67E5-DE40-B53F-0C0FEA434AA0}" type="datetimeFigureOut">
              <a:rPr kumimoji="1" lang="zh-CN" altLang="en-US" smtClean="0"/>
              <a:t>2025/10/19</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0B8802-914A-7C41-BC77-CC54DEE99EEF}" type="slidenum">
              <a:rPr kumimoji="1" lang="zh-CN" altLang="en-US" smtClean="0"/>
              <a:t>‹#›</a:t>
            </a:fld>
            <a:endParaRPr kumimoji="1" lang="zh-CN" altLang="en-US"/>
          </a:p>
        </p:txBody>
      </p:sp>
    </p:spTree>
    <p:extLst>
      <p:ext uri="{BB962C8B-B14F-4D97-AF65-F5344CB8AC3E}">
        <p14:creationId xmlns:p14="http://schemas.microsoft.com/office/powerpoint/2010/main" val="3956025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6</a:t>
            </a:fld>
            <a:endParaRPr kumimoji="1" lang="zh-CN" altLang="en-US"/>
          </a:p>
        </p:txBody>
      </p:sp>
    </p:spTree>
    <p:extLst>
      <p:ext uri="{BB962C8B-B14F-4D97-AF65-F5344CB8AC3E}">
        <p14:creationId xmlns:p14="http://schemas.microsoft.com/office/powerpoint/2010/main" val="9094663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a:lnSpc>
                <a:spcPct val="120000"/>
              </a:lnSpc>
              <a:buClr>
                <a:srgbClr val="0070C0"/>
              </a:buCl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a:t>
            </a:fld>
            <a:endParaRPr kumimoji="1" lang="zh-CN" altLang="en-US"/>
          </a:p>
        </p:txBody>
      </p:sp>
    </p:spTree>
    <p:extLst>
      <p:ext uri="{BB962C8B-B14F-4D97-AF65-F5344CB8AC3E}">
        <p14:creationId xmlns:p14="http://schemas.microsoft.com/office/powerpoint/2010/main" val="18681216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11</a:t>
            </a:fld>
            <a:endParaRPr kumimoji="1" lang="zh-CN" altLang="en-US"/>
          </a:p>
        </p:txBody>
      </p:sp>
    </p:spTree>
    <p:extLst>
      <p:ext uri="{BB962C8B-B14F-4D97-AF65-F5344CB8AC3E}">
        <p14:creationId xmlns:p14="http://schemas.microsoft.com/office/powerpoint/2010/main" val="1604602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12</a:t>
            </a:fld>
            <a:endParaRPr kumimoji="1" lang="zh-CN" altLang="en-US"/>
          </a:p>
        </p:txBody>
      </p:sp>
    </p:spTree>
    <p:extLst>
      <p:ext uri="{BB962C8B-B14F-4D97-AF65-F5344CB8AC3E}">
        <p14:creationId xmlns:p14="http://schemas.microsoft.com/office/powerpoint/2010/main" val="917212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14</a:t>
            </a:fld>
            <a:endParaRPr kumimoji="1" lang="zh-CN" altLang="en-US"/>
          </a:p>
        </p:txBody>
      </p:sp>
    </p:spTree>
    <p:extLst>
      <p:ext uri="{BB962C8B-B14F-4D97-AF65-F5344CB8AC3E}">
        <p14:creationId xmlns:p14="http://schemas.microsoft.com/office/powerpoint/2010/main" val="201192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16</a:t>
            </a:fld>
            <a:endParaRPr kumimoji="1" lang="zh-CN" altLang="en-US"/>
          </a:p>
        </p:txBody>
      </p:sp>
    </p:spTree>
    <p:extLst>
      <p:ext uri="{BB962C8B-B14F-4D97-AF65-F5344CB8AC3E}">
        <p14:creationId xmlns:p14="http://schemas.microsoft.com/office/powerpoint/2010/main" val="2859631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18</a:t>
            </a:fld>
            <a:endParaRPr kumimoji="1" lang="zh-CN" altLang="en-US"/>
          </a:p>
        </p:txBody>
      </p:sp>
    </p:spTree>
    <p:extLst>
      <p:ext uri="{BB962C8B-B14F-4D97-AF65-F5344CB8AC3E}">
        <p14:creationId xmlns:p14="http://schemas.microsoft.com/office/powerpoint/2010/main" val="6644712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19</a:t>
            </a:fld>
            <a:endParaRPr kumimoji="1" lang="zh-CN" altLang="en-US"/>
          </a:p>
        </p:txBody>
      </p:sp>
    </p:spTree>
    <p:extLst>
      <p:ext uri="{BB962C8B-B14F-4D97-AF65-F5344CB8AC3E}">
        <p14:creationId xmlns:p14="http://schemas.microsoft.com/office/powerpoint/2010/main" val="42865583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22</a:t>
            </a:fld>
            <a:endParaRPr kumimoji="1" lang="zh-CN" altLang="en-US"/>
          </a:p>
        </p:txBody>
      </p:sp>
    </p:spTree>
    <p:extLst>
      <p:ext uri="{BB962C8B-B14F-4D97-AF65-F5344CB8AC3E}">
        <p14:creationId xmlns:p14="http://schemas.microsoft.com/office/powerpoint/2010/main" val="12816460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30</a:t>
            </a:fld>
            <a:endParaRPr kumimoji="1" lang="zh-CN" altLang="en-US"/>
          </a:p>
        </p:txBody>
      </p:sp>
    </p:spTree>
    <p:extLst>
      <p:ext uri="{BB962C8B-B14F-4D97-AF65-F5344CB8AC3E}">
        <p14:creationId xmlns:p14="http://schemas.microsoft.com/office/powerpoint/2010/main" val="32294231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Clr>
                <a:srgbClr val="C00000"/>
              </a:buClr>
              <a:buSzPct val="90000"/>
            </a:pPr>
            <a:endParaRPr lang="en-US" altLang="zh-CN"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32</a:t>
            </a:fld>
            <a:endParaRPr kumimoji="1" lang="zh-CN" altLang="en-US"/>
          </a:p>
        </p:txBody>
      </p:sp>
    </p:spTree>
    <p:extLst>
      <p:ext uri="{BB962C8B-B14F-4D97-AF65-F5344CB8AC3E}">
        <p14:creationId xmlns:p14="http://schemas.microsoft.com/office/powerpoint/2010/main" val="30398006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buClr>
                <a:srgbClr val="0070C0"/>
              </a:buClr>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33</a:t>
            </a:fld>
            <a:endParaRPr kumimoji="1" lang="zh-CN" altLang="en-US"/>
          </a:p>
        </p:txBody>
      </p:sp>
    </p:spTree>
    <p:extLst>
      <p:ext uri="{BB962C8B-B14F-4D97-AF65-F5344CB8AC3E}">
        <p14:creationId xmlns:p14="http://schemas.microsoft.com/office/powerpoint/2010/main" val="11594680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41</a:t>
            </a:fld>
            <a:endParaRPr kumimoji="1" lang="zh-CN" altLang="en-US"/>
          </a:p>
        </p:txBody>
      </p:sp>
    </p:spTree>
    <p:extLst>
      <p:ext uri="{BB962C8B-B14F-4D97-AF65-F5344CB8AC3E}">
        <p14:creationId xmlns:p14="http://schemas.microsoft.com/office/powerpoint/2010/main" val="29961044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t>43</a:t>
            </a:fld>
            <a:endParaRPr kumimoji="1" lang="zh-CN" altLang="en-US"/>
          </a:p>
        </p:txBody>
      </p:sp>
    </p:spTree>
    <p:extLst>
      <p:ext uri="{BB962C8B-B14F-4D97-AF65-F5344CB8AC3E}">
        <p14:creationId xmlns:p14="http://schemas.microsoft.com/office/powerpoint/2010/main" val="38461430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48</a:t>
            </a:fld>
            <a:endParaRPr kumimoji="1" lang="zh-CN" altLang="en-US"/>
          </a:p>
        </p:txBody>
      </p:sp>
    </p:spTree>
    <p:extLst>
      <p:ext uri="{BB962C8B-B14F-4D97-AF65-F5344CB8AC3E}">
        <p14:creationId xmlns:p14="http://schemas.microsoft.com/office/powerpoint/2010/main" val="13880644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49</a:t>
            </a:fld>
            <a:endParaRPr kumimoji="1" lang="zh-CN" altLang="en-US"/>
          </a:p>
        </p:txBody>
      </p:sp>
    </p:spTree>
    <p:extLst>
      <p:ext uri="{BB962C8B-B14F-4D97-AF65-F5344CB8AC3E}">
        <p14:creationId xmlns:p14="http://schemas.microsoft.com/office/powerpoint/2010/main" val="2892850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840B8802-914A-7C41-BC77-CC54DEE99EEF}" type="slidenum">
              <a:rPr kumimoji="1" lang="zh-CN" altLang="en-US" smtClean="0"/>
              <a:t>50</a:t>
            </a:fld>
            <a:endParaRPr kumimoji="1" lang="zh-CN" altLang="en-US"/>
          </a:p>
        </p:txBody>
      </p:sp>
    </p:spTree>
    <p:extLst>
      <p:ext uri="{BB962C8B-B14F-4D97-AF65-F5344CB8AC3E}">
        <p14:creationId xmlns:p14="http://schemas.microsoft.com/office/powerpoint/2010/main" val="25994816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51</a:t>
            </a:fld>
            <a:endParaRPr kumimoji="1" lang="zh-CN" altLang="en-US"/>
          </a:p>
        </p:txBody>
      </p:sp>
    </p:spTree>
    <p:extLst>
      <p:ext uri="{BB962C8B-B14F-4D97-AF65-F5344CB8AC3E}">
        <p14:creationId xmlns:p14="http://schemas.microsoft.com/office/powerpoint/2010/main" val="26046575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52</a:t>
            </a:fld>
            <a:endParaRPr kumimoji="1" lang="zh-CN" altLang="en-US"/>
          </a:p>
        </p:txBody>
      </p:sp>
    </p:spTree>
    <p:extLst>
      <p:ext uri="{BB962C8B-B14F-4D97-AF65-F5344CB8AC3E}">
        <p14:creationId xmlns:p14="http://schemas.microsoft.com/office/powerpoint/2010/main" val="41434476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spcBef>
                <a:spcPts val="600"/>
              </a:spcBef>
            </a:pPr>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53</a:t>
            </a:fld>
            <a:endParaRPr kumimoji="1" lang="zh-CN" altLang="en-US"/>
          </a:p>
        </p:txBody>
      </p:sp>
    </p:spTree>
    <p:extLst>
      <p:ext uri="{BB962C8B-B14F-4D97-AF65-F5344CB8AC3E}">
        <p14:creationId xmlns:p14="http://schemas.microsoft.com/office/powerpoint/2010/main" val="26228157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1038740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endParaRPr lang="zh-CN" altLang="en-US" dirty="0"/>
          </a:p>
        </p:txBody>
      </p:sp>
    </p:spTree>
    <p:extLst>
      <p:ext uri="{BB962C8B-B14F-4D97-AF65-F5344CB8AC3E}">
        <p14:creationId xmlns:p14="http://schemas.microsoft.com/office/powerpoint/2010/main" val="30192800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extLst>
      <p:ext uri="{BB962C8B-B14F-4D97-AF65-F5344CB8AC3E}">
        <p14:creationId xmlns:p14="http://schemas.microsoft.com/office/powerpoint/2010/main" val="10507547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40108379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60</a:t>
            </a:fld>
            <a:endParaRPr kumimoji="1" lang="zh-CN" altLang="en-US"/>
          </a:p>
        </p:txBody>
      </p:sp>
    </p:spTree>
    <p:extLst>
      <p:ext uri="{BB962C8B-B14F-4D97-AF65-F5344CB8AC3E}">
        <p14:creationId xmlns:p14="http://schemas.microsoft.com/office/powerpoint/2010/main" val="20500306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62</a:t>
            </a:fld>
            <a:endParaRPr kumimoji="1" lang="zh-CN" altLang="en-US"/>
          </a:p>
        </p:txBody>
      </p:sp>
    </p:spTree>
    <p:extLst>
      <p:ext uri="{BB962C8B-B14F-4D97-AF65-F5344CB8AC3E}">
        <p14:creationId xmlns:p14="http://schemas.microsoft.com/office/powerpoint/2010/main" val="64401031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pPr/>
              <a:t>63</a:t>
            </a:fld>
            <a:endParaRPr kumimoji="1" lang="zh-CN" altLang="en-US"/>
          </a:p>
        </p:txBody>
      </p:sp>
    </p:spTree>
    <p:extLst>
      <p:ext uri="{BB962C8B-B14F-4D97-AF65-F5344CB8AC3E}">
        <p14:creationId xmlns:p14="http://schemas.microsoft.com/office/powerpoint/2010/main" val="6936178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840B8802-914A-7C41-BC77-CC54DEE99EEF}" type="slidenum">
              <a:rPr kumimoji="1" lang="zh-CN" altLang="en-US" smtClean="0"/>
              <a:t>65</a:t>
            </a:fld>
            <a:endParaRPr kumimoji="1" lang="zh-CN" altLang="en-US"/>
          </a:p>
        </p:txBody>
      </p:sp>
    </p:spTree>
    <p:extLst>
      <p:ext uri="{BB962C8B-B14F-4D97-AF65-F5344CB8AC3E}">
        <p14:creationId xmlns:p14="http://schemas.microsoft.com/office/powerpoint/2010/main" val="1559670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75</a:t>
            </a:fld>
            <a:endParaRPr kumimoji="1" lang="zh-CN" altLang="en-US"/>
          </a:p>
        </p:txBody>
      </p:sp>
    </p:spTree>
    <p:extLst>
      <p:ext uri="{BB962C8B-B14F-4D97-AF65-F5344CB8AC3E}">
        <p14:creationId xmlns:p14="http://schemas.microsoft.com/office/powerpoint/2010/main" val="42942218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76</a:t>
            </a:fld>
            <a:endParaRPr kumimoji="1" lang="zh-CN" altLang="en-US"/>
          </a:p>
        </p:txBody>
      </p:sp>
    </p:spTree>
    <p:extLst>
      <p:ext uri="{BB962C8B-B14F-4D97-AF65-F5344CB8AC3E}">
        <p14:creationId xmlns:p14="http://schemas.microsoft.com/office/powerpoint/2010/main" val="42651917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77</a:t>
            </a:fld>
            <a:endParaRPr kumimoji="1" lang="zh-CN" altLang="en-US"/>
          </a:p>
        </p:txBody>
      </p:sp>
    </p:spTree>
    <p:extLst>
      <p:ext uri="{BB962C8B-B14F-4D97-AF65-F5344CB8AC3E}">
        <p14:creationId xmlns:p14="http://schemas.microsoft.com/office/powerpoint/2010/main" val="40117490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78</a:t>
            </a:fld>
            <a:endParaRPr kumimoji="1" lang="zh-CN" altLang="en-US"/>
          </a:p>
        </p:txBody>
      </p:sp>
    </p:spTree>
    <p:extLst>
      <p:ext uri="{BB962C8B-B14F-4D97-AF65-F5344CB8AC3E}">
        <p14:creationId xmlns:p14="http://schemas.microsoft.com/office/powerpoint/2010/main" val="1378333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79</a:t>
            </a:fld>
            <a:endParaRPr kumimoji="1" lang="zh-CN" altLang="en-US"/>
          </a:p>
        </p:txBody>
      </p:sp>
    </p:spTree>
    <p:extLst>
      <p:ext uri="{BB962C8B-B14F-4D97-AF65-F5344CB8AC3E}">
        <p14:creationId xmlns:p14="http://schemas.microsoft.com/office/powerpoint/2010/main" val="13169436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40B8802-914A-7C41-BC77-CC54DEE99EEF}" type="slidenum">
              <a:rPr kumimoji="1" lang="zh-CN" altLang="en-US" smtClean="0"/>
              <a:pPr/>
              <a:t>80</a:t>
            </a:fld>
            <a:endParaRPr kumimoji="1" lang="zh-CN" altLang="en-US"/>
          </a:p>
        </p:txBody>
      </p:sp>
    </p:spTree>
    <p:extLst>
      <p:ext uri="{BB962C8B-B14F-4D97-AF65-F5344CB8AC3E}">
        <p14:creationId xmlns:p14="http://schemas.microsoft.com/office/powerpoint/2010/main" val="27197461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84</a:t>
            </a:fld>
            <a:endParaRPr kumimoji="1" lang="zh-CN" altLang="en-US"/>
          </a:p>
        </p:txBody>
      </p:sp>
    </p:spTree>
    <p:extLst>
      <p:ext uri="{BB962C8B-B14F-4D97-AF65-F5344CB8AC3E}">
        <p14:creationId xmlns:p14="http://schemas.microsoft.com/office/powerpoint/2010/main" val="30415231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85</a:t>
            </a:fld>
            <a:endParaRPr kumimoji="1" lang="zh-CN" altLang="en-US"/>
          </a:p>
        </p:txBody>
      </p:sp>
    </p:spTree>
    <p:extLst>
      <p:ext uri="{BB962C8B-B14F-4D97-AF65-F5344CB8AC3E}">
        <p14:creationId xmlns:p14="http://schemas.microsoft.com/office/powerpoint/2010/main" val="41377541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86</a:t>
            </a:fld>
            <a:endParaRPr kumimoji="1" lang="zh-CN" altLang="en-US"/>
          </a:p>
        </p:txBody>
      </p:sp>
    </p:spTree>
    <p:extLst>
      <p:ext uri="{BB962C8B-B14F-4D97-AF65-F5344CB8AC3E}">
        <p14:creationId xmlns:p14="http://schemas.microsoft.com/office/powerpoint/2010/main" val="4480852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87</a:t>
            </a:fld>
            <a:endParaRPr kumimoji="1" lang="zh-CN" altLang="en-US"/>
          </a:p>
        </p:txBody>
      </p:sp>
    </p:spTree>
    <p:extLst>
      <p:ext uri="{BB962C8B-B14F-4D97-AF65-F5344CB8AC3E}">
        <p14:creationId xmlns:p14="http://schemas.microsoft.com/office/powerpoint/2010/main" val="28193177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88</a:t>
            </a:fld>
            <a:endParaRPr kumimoji="1" lang="zh-CN" altLang="en-US"/>
          </a:p>
        </p:txBody>
      </p:sp>
    </p:spTree>
    <p:extLst>
      <p:ext uri="{BB962C8B-B14F-4D97-AF65-F5344CB8AC3E}">
        <p14:creationId xmlns:p14="http://schemas.microsoft.com/office/powerpoint/2010/main" val="370218421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89</a:t>
            </a:fld>
            <a:endParaRPr kumimoji="1" lang="zh-CN" altLang="en-US"/>
          </a:p>
        </p:txBody>
      </p:sp>
    </p:spTree>
    <p:extLst>
      <p:ext uri="{BB962C8B-B14F-4D97-AF65-F5344CB8AC3E}">
        <p14:creationId xmlns:p14="http://schemas.microsoft.com/office/powerpoint/2010/main" val="403116712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90</a:t>
            </a:fld>
            <a:endParaRPr kumimoji="1" lang="zh-CN" altLang="en-US"/>
          </a:p>
        </p:txBody>
      </p:sp>
    </p:spTree>
    <p:extLst>
      <p:ext uri="{BB962C8B-B14F-4D97-AF65-F5344CB8AC3E}">
        <p14:creationId xmlns:p14="http://schemas.microsoft.com/office/powerpoint/2010/main" val="244364086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98</a:t>
            </a:fld>
            <a:endParaRPr kumimoji="1" lang="zh-CN" altLang="en-US"/>
          </a:p>
        </p:txBody>
      </p:sp>
    </p:spTree>
    <p:extLst>
      <p:ext uri="{BB962C8B-B14F-4D97-AF65-F5344CB8AC3E}">
        <p14:creationId xmlns:p14="http://schemas.microsoft.com/office/powerpoint/2010/main" val="405075397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99</a:t>
            </a:fld>
            <a:endParaRPr kumimoji="1" lang="zh-CN" altLang="en-US"/>
          </a:p>
        </p:txBody>
      </p:sp>
    </p:spTree>
    <p:extLst>
      <p:ext uri="{BB962C8B-B14F-4D97-AF65-F5344CB8AC3E}">
        <p14:creationId xmlns:p14="http://schemas.microsoft.com/office/powerpoint/2010/main" val="10109768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100</a:t>
            </a:fld>
            <a:endParaRPr kumimoji="1" lang="zh-CN" altLang="en-US"/>
          </a:p>
        </p:txBody>
      </p:sp>
    </p:spTree>
    <p:extLst>
      <p:ext uri="{BB962C8B-B14F-4D97-AF65-F5344CB8AC3E}">
        <p14:creationId xmlns:p14="http://schemas.microsoft.com/office/powerpoint/2010/main" val="82015660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101</a:t>
            </a:fld>
            <a:endParaRPr kumimoji="1" lang="zh-CN" altLang="en-US"/>
          </a:p>
        </p:txBody>
      </p:sp>
    </p:spTree>
    <p:extLst>
      <p:ext uri="{BB962C8B-B14F-4D97-AF65-F5344CB8AC3E}">
        <p14:creationId xmlns:p14="http://schemas.microsoft.com/office/powerpoint/2010/main" val="279057747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840B8802-914A-7C41-BC77-CC54DEE99EEF}" type="slidenum">
              <a:rPr kumimoji="1" lang="zh-CN" altLang="en-US" smtClean="0"/>
              <a:t>102</a:t>
            </a:fld>
            <a:endParaRPr kumimoji="1" lang="zh-CN" altLang="en-US"/>
          </a:p>
        </p:txBody>
      </p:sp>
    </p:spTree>
    <p:extLst>
      <p:ext uri="{BB962C8B-B14F-4D97-AF65-F5344CB8AC3E}">
        <p14:creationId xmlns:p14="http://schemas.microsoft.com/office/powerpoint/2010/main" val="3913153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F97C75-78EB-4043-953B-95F867F42CEE}"/>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dirty="0"/>
              <a:t>单击此处编辑母版标题样式</a:t>
            </a:r>
          </a:p>
        </p:txBody>
      </p:sp>
      <p:sp>
        <p:nvSpPr>
          <p:cNvPr id="3" name="副标题 2">
            <a:extLst>
              <a:ext uri="{FF2B5EF4-FFF2-40B4-BE49-F238E27FC236}">
                <a16:creationId xmlns:a16="http://schemas.microsoft.com/office/drawing/2014/main" id="{421C1163-5F70-9046-86B2-81951DCE1A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dirty="0"/>
              <a:t>单击此处编辑母版副标题样式</a:t>
            </a:r>
          </a:p>
        </p:txBody>
      </p:sp>
      <p:sp>
        <p:nvSpPr>
          <p:cNvPr id="7" name="矩形 6">
            <a:extLst>
              <a:ext uri="{FF2B5EF4-FFF2-40B4-BE49-F238E27FC236}">
                <a16:creationId xmlns:a16="http://schemas.microsoft.com/office/drawing/2014/main" id="{B6F9E280-F138-8142-8DB1-324EA9F38324}"/>
              </a:ext>
            </a:extLst>
          </p:cNvPr>
          <p:cNvSpPr/>
          <p:nvPr userDrawn="1"/>
        </p:nvSpPr>
        <p:spPr>
          <a:xfrm>
            <a:off x="-9939" y="-8627"/>
            <a:ext cx="9307502" cy="567811"/>
          </a:xfrm>
          <a:prstGeom prst="rect">
            <a:avLst/>
          </a:prstGeom>
          <a:solidFill>
            <a:srgbClr val="5B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0" spc="600" dirty="0">
                <a:solidFill>
                  <a:schemeClr val="bg1"/>
                </a:solidFill>
                <a:latin typeface="等线" panose="02010600030101010101" pitchFamily="2" charset="-122"/>
                <a:ea typeface="等线" panose="02010600030101010101" pitchFamily="2" charset="-122"/>
              </a:rPr>
              <a:t>计算机网络</a:t>
            </a:r>
          </a:p>
        </p:txBody>
      </p:sp>
    </p:spTree>
    <p:extLst>
      <p:ext uri="{BB962C8B-B14F-4D97-AF65-F5344CB8AC3E}">
        <p14:creationId xmlns:p14="http://schemas.microsoft.com/office/powerpoint/2010/main" val="849744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9" name="矩形 38">
            <a:extLst>
              <a:ext uri="{FF2B5EF4-FFF2-40B4-BE49-F238E27FC236}">
                <a16:creationId xmlns:a16="http://schemas.microsoft.com/office/drawing/2014/main" id="{FBB5D1D6-FEDC-364E-ADD0-80C842FD6986}"/>
              </a:ext>
            </a:extLst>
          </p:cNvPr>
          <p:cNvSpPr/>
          <p:nvPr userDrawn="1"/>
        </p:nvSpPr>
        <p:spPr>
          <a:xfrm>
            <a:off x="667831" y="541554"/>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sp>
        <p:nvSpPr>
          <p:cNvPr id="2" name="标题 1">
            <a:extLst>
              <a:ext uri="{FF2B5EF4-FFF2-40B4-BE49-F238E27FC236}">
                <a16:creationId xmlns:a16="http://schemas.microsoft.com/office/drawing/2014/main" id="{223457C5-5D0E-4F46-9D0B-7EA2985DFFE7}"/>
              </a:ext>
            </a:extLst>
          </p:cNvPr>
          <p:cNvSpPr>
            <a:spLocks noGrp="1"/>
          </p:cNvSpPr>
          <p:nvPr>
            <p:ph type="title"/>
          </p:nvPr>
        </p:nvSpPr>
        <p:spPr/>
        <p:txBody>
          <a:bodyPr>
            <a:normAutofit/>
          </a:bodyPr>
          <a:lstStyle>
            <a:lvl1pPr>
              <a:defRPr sz="4000"/>
            </a:lvl1p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D2FA45BE-434F-B44C-99F8-C563AC076A02}"/>
              </a:ext>
            </a:extLst>
          </p:cNvPr>
          <p:cNvSpPr>
            <a:spLocks noGrp="1"/>
          </p:cNvSpPr>
          <p:nvPr>
            <p:ph idx="1"/>
          </p:nvPr>
        </p:nvSpPr>
        <p:spPr>
          <a:xfrm>
            <a:off x="838200" y="1510758"/>
            <a:ext cx="10515600" cy="4586694"/>
          </a:xfrm>
        </p:spPr>
        <p:txBody>
          <a:bodyPr/>
          <a:lstStyle>
            <a:lvl1pPr marL="360363" indent="-360363">
              <a:lnSpc>
                <a:spcPct val="100000"/>
              </a:lnSpc>
              <a:spcBef>
                <a:spcPts val="600"/>
              </a:spcBef>
              <a:buFont typeface="Wingdings" pitchFamily="2" charset="2"/>
              <a:buChar char="Ø"/>
              <a:tabLst/>
              <a:defRPr/>
            </a:lvl1pPr>
            <a:lvl2pPr>
              <a:lnSpc>
                <a:spcPct val="100000"/>
              </a:lnSpc>
              <a:spcBef>
                <a:spcPts val="600"/>
              </a:spcBef>
              <a:buFont typeface="Arial" panose="020B0604020202020204" pitchFamily="34" charset="0"/>
              <a:buChar char="•"/>
              <a:defRPr/>
            </a:lvl2pPr>
            <a:lvl3pPr>
              <a:lnSpc>
                <a:spcPct val="100000"/>
              </a:lnSpc>
              <a:spcBef>
                <a:spcPts val="600"/>
              </a:spcBef>
              <a:defRPr/>
            </a:lvl3pPr>
            <a:lvl4pPr>
              <a:lnSpc>
                <a:spcPct val="100000"/>
              </a:lnSpc>
              <a:spcBef>
                <a:spcPts val="600"/>
              </a:spcBef>
              <a:defRPr/>
            </a:lvl4pPr>
            <a:lvl5pPr>
              <a:lnSpc>
                <a:spcPct val="100000"/>
              </a:lnSpc>
              <a:spcBef>
                <a:spcPts val="600"/>
              </a:spcBef>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日期占位符 3">
            <a:extLst>
              <a:ext uri="{FF2B5EF4-FFF2-40B4-BE49-F238E27FC236}">
                <a16:creationId xmlns:a16="http://schemas.microsoft.com/office/drawing/2014/main" id="{5A1C8C13-A111-E44B-BB6E-32C9AFF870A6}"/>
              </a:ext>
            </a:extLst>
          </p:cNvPr>
          <p:cNvSpPr>
            <a:spLocks noGrp="1"/>
          </p:cNvSpPr>
          <p:nvPr>
            <p:ph type="dt" sz="half" idx="10"/>
          </p:nvPr>
        </p:nvSpPr>
        <p:spPr>
          <a:xfrm>
            <a:off x="197335" y="6489303"/>
            <a:ext cx="2743200" cy="365125"/>
          </a:xfrm>
          <a:prstGeom prst="rect">
            <a:avLst/>
          </a:prstGeom>
        </p:spPr>
        <p:txBody>
          <a:bodyPr/>
          <a:lstStyle/>
          <a:p>
            <a:r>
              <a:rPr kumimoji="1" lang="en-US" altLang="zh-CN" dirty="0">
                <a:latin typeface="DengXian" panose="02010600030101010101" pitchFamily="2" charset="-122"/>
                <a:ea typeface="DengXian" panose="02010600030101010101" pitchFamily="2" charset="-122"/>
              </a:rPr>
              <a:t>5.3 </a:t>
            </a:r>
            <a:r>
              <a:rPr kumimoji="1" lang="zh-CN" altLang="en-US" dirty="0">
                <a:latin typeface="DengXian" panose="02010600030101010101" pitchFamily="2" charset="-122"/>
                <a:ea typeface="DengXian" panose="02010600030101010101" pitchFamily="2" charset="-122"/>
              </a:rPr>
              <a:t>网络互联</a:t>
            </a:r>
          </a:p>
        </p:txBody>
      </p:sp>
      <p:sp>
        <p:nvSpPr>
          <p:cNvPr id="5" name="页脚占位符 4">
            <a:extLst>
              <a:ext uri="{FF2B5EF4-FFF2-40B4-BE49-F238E27FC236}">
                <a16:creationId xmlns:a16="http://schemas.microsoft.com/office/drawing/2014/main" id="{3A7B7B75-EEC1-2D4D-AB7C-5A3514969529}"/>
              </a:ext>
            </a:extLst>
          </p:cNvPr>
          <p:cNvSpPr>
            <a:spLocks noGrp="1"/>
          </p:cNvSpPr>
          <p:nvPr>
            <p:ph type="ftr" sz="quarter" idx="11"/>
          </p:nvPr>
        </p:nvSpPr>
        <p:spPr>
          <a:xfrm>
            <a:off x="4038600" y="6489303"/>
            <a:ext cx="4114800" cy="365125"/>
          </a:xfrm>
          <a:prstGeom prst="rect">
            <a:avLst/>
          </a:prstGeom>
        </p:spPr>
        <p:txBody>
          <a:bodyPr/>
          <a:lstStyle/>
          <a:p>
            <a:r>
              <a:rPr kumimoji="1" lang="zh-CN" altLang="en-US" dirty="0">
                <a:latin typeface="DengXian" panose="02010600030101010101" pitchFamily="2" charset="-122"/>
                <a:ea typeface="DengXian" panose="02010600030101010101" pitchFamily="2" charset="-122"/>
              </a:rPr>
              <a:t>引自：</a:t>
            </a:r>
            <a:r>
              <a:rPr kumimoji="1" lang="en-US" altLang="zh-CN" dirty="0">
                <a:latin typeface="DengXian" panose="02010600030101010101" pitchFamily="2" charset="-122"/>
                <a:ea typeface="DengXian" panose="02010600030101010101" pitchFamily="2" charset="-122"/>
              </a:rPr>
              <a:t>XXXXX</a:t>
            </a:r>
            <a:r>
              <a:rPr kumimoji="1" lang="zh-CN" altLang="en-US" dirty="0">
                <a:latin typeface="DengXian" panose="02010600030101010101" pitchFamily="2" charset="-122"/>
                <a:ea typeface="DengXian" panose="02010600030101010101" pitchFamily="2" charset="-122"/>
              </a:rPr>
              <a:t>（如果需要）</a:t>
            </a:r>
          </a:p>
        </p:txBody>
      </p:sp>
      <p:sp>
        <p:nvSpPr>
          <p:cNvPr id="6" name="灯片编号占位符 5">
            <a:extLst>
              <a:ext uri="{FF2B5EF4-FFF2-40B4-BE49-F238E27FC236}">
                <a16:creationId xmlns:a16="http://schemas.microsoft.com/office/drawing/2014/main" id="{8FDBE6BC-6A1B-1944-BBB6-30FD8C33B360}"/>
              </a:ext>
            </a:extLst>
          </p:cNvPr>
          <p:cNvSpPr>
            <a:spLocks noGrp="1"/>
          </p:cNvSpPr>
          <p:nvPr>
            <p:ph type="sldNum" sz="quarter" idx="12"/>
          </p:nvPr>
        </p:nvSpPr>
        <p:spPr>
          <a:xfrm>
            <a:off x="8686810" y="6489303"/>
            <a:ext cx="3319670" cy="365125"/>
          </a:xfrm>
          <a:prstGeom prst="rect">
            <a:avLst/>
          </a:prstGeom>
        </p:spPr>
        <p:txBody>
          <a:bodyPr/>
          <a:lstStyle/>
          <a:p>
            <a:fld id="{8D4D1E41-7A09-AB4A-A4E1-09765ADA2698}" type="slidenum">
              <a:rPr kumimoji="1" lang="zh-CN" altLang="en-US" smtClean="0"/>
              <a:t>‹#›</a:t>
            </a:fld>
            <a:endParaRPr kumimoji="1" lang="zh-CN" altLang="en-US" dirty="0"/>
          </a:p>
        </p:txBody>
      </p:sp>
      <p:cxnSp>
        <p:nvCxnSpPr>
          <p:cNvPr id="40" name="直线连接符 39">
            <a:extLst>
              <a:ext uri="{FF2B5EF4-FFF2-40B4-BE49-F238E27FC236}">
                <a16:creationId xmlns:a16="http://schemas.microsoft.com/office/drawing/2014/main" id="{9E7AFED4-5702-094E-A3B8-21EB069F234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71" name="组合 70">
            <a:extLst>
              <a:ext uri="{FF2B5EF4-FFF2-40B4-BE49-F238E27FC236}">
                <a16:creationId xmlns:a16="http://schemas.microsoft.com/office/drawing/2014/main" id="{C1D75728-DE08-814F-9EF0-7E9AFB999FE6}"/>
              </a:ext>
            </a:extLst>
          </p:cNvPr>
          <p:cNvGrpSpPr/>
          <p:nvPr userDrawn="1"/>
        </p:nvGrpSpPr>
        <p:grpSpPr>
          <a:xfrm>
            <a:off x="715452" y="634525"/>
            <a:ext cx="403039" cy="321898"/>
            <a:chOff x="1368170" y="664579"/>
            <a:chExt cx="550582" cy="439737"/>
          </a:xfrm>
          <a:solidFill>
            <a:schemeClr val="bg1"/>
          </a:solidFill>
        </p:grpSpPr>
        <p:sp>
          <p:nvSpPr>
            <p:cNvPr id="72" name="Freeform 1">
              <a:extLst>
                <a:ext uri="{FF2B5EF4-FFF2-40B4-BE49-F238E27FC236}">
                  <a16:creationId xmlns:a16="http://schemas.microsoft.com/office/drawing/2014/main" id="{53F1A011-1E52-3140-9C21-8911AB32201B}"/>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3" name="Freeform 2">
              <a:extLst>
                <a:ext uri="{FF2B5EF4-FFF2-40B4-BE49-F238E27FC236}">
                  <a16:creationId xmlns:a16="http://schemas.microsoft.com/office/drawing/2014/main" id="{364873AD-F7AE-3D48-84F0-C71836518975}"/>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4" name="Freeform 3">
              <a:extLst>
                <a:ext uri="{FF2B5EF4-FFF2-40B4-BE49-F238E27FC236}">
                  <a16:creationId xmlns:a16="http://schemas.microsoft.com/office/drawing/2014/main" id="{5B03D593-4A0D-DF4E-8474-4FAD50C6BCB7}"/>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5" name="Freeform 4">
              <a:extLst>
                <a:ext uri="{FF2B5EF4-FFF2-40B4-BE49-F238E27FC236}">
                  <a16:creationId xmlns:a16="http://schemas.microsoft.com/office/drawing/2014/main" id="{1A0E5E70-2235-6044-9E4C-A8D32092980C}"/>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6" name="Freeform 5">
              <a:extLst>
                <a:ext uri="{FF2B5EF4-FFF2-40B4-BE49-F238E27FC236}">
                  <a16:creationId xmlns:a16="http://schemas.microsoft.com/office/drawing/2014/main" id="{9F25C08B-5CAA-1D40-B768-CF07CC9095C1}"/>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7" name="Freeform 6">
              <a:extLst>
                <a:ext uri="{FF2B5EF4-FFF2-40B4-BE49-F238E27FC236}">
                  <a16:creationId xmlns:a16="http://schemas.microsoft.com/office/drawing/2014/main" id="{A1A66D2D-2EC2-AA45-8DA4-4B543D6DB3C7}"/>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8" name="Freeform 7">
              <a:extLst>
                <a:ext uri="{FF2B5EF4-FFF2-40B4-BE49-F238E27FC236}">
                  <a16:creationId xmlns:a16="http://schemas.microsoft.com/office/drawing/2014/main" id="{BF5A2635-9D3C-B746-B7BB-00E1B5440D84}"/>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79" name="Freeform 8">
              <a:extLst>
                <a:ext uri="{FF2B5EF4-FFF2-40B4-BE49-F238E27FC236}">
                  <a16:creationId xmlns:a16="http://schemas.microsoft.com/office/drawing/2014/main" id="{9A427AEE-5F0B-1D43-8127-A5A07CDC3AC8}"/>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0" name="Freeform 9">
              <a:extLst>
                <a:ext uri="{FF2B5EF4-FFF2-40B4-BE49-F238E27FC236}">
                  <a16:creationId xmlns:a16="http://schemas.microsoft.com/office/drawing/2014/main" id="{E60E42BA-4A46-4D41-AA72-E2F725048BE0}"/>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1" name="Freeform 10">
              <a:extLst>
                <a:ext uri="{FF2B5EF4-FFF2-40B4-BE49-F238E27FC236}">
                  <a16:creationId xmlns:a16="http://schemas.microsoft.com/office/drawing/2014/main" id="{5B1734EF-4E6E-164F-849F-5F01256562DA}"/>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82" name="Freeform 11">
              <a:extLst>
                <a:ext uri="{FF2B5EF4-FFF2-40B4-BE49-F238E27FC236}">
                  <a16:creationId xmlns:a16="http://schemas.microsoft.com/office/drawing/2014/main" id="{8623BE8B-4483-AE4A-A6EA-432CBE50BCAC}"/>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2402532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04CA6BC-3A36-834A-8A46-510CF743F360}"/>
              </a:ext>
            </a:extLst>
          </p:cNvPr>
          <p:cNvSpPr>
            <a:spLocks noGrp="1"/>
          </p:cNvSpPr>
          <p:nvPr>
            <p:ph type="title"/>
          </p:nvPr>
        </p:nvSpPr>
        <p:spPr/>
        <p:txBody>
          <a:bodyPr/>
          <a:lstStyle/>
          <a:p>
            <a:r>
              <a:rPr kumimoji="1" lang="zh-CN" altLang="en-US" dirty="0"/>
              <a:t>单击此处编辑母版标题样式</a:t>
            </a:r>
          </a:p>
        </p:txBody>
      </p:sp>
      <p:sp>
        <p:nvSpPr>
          <p:cNvPr id="3" name="内容占位符 2">
            <a:extLst>
              <a:ext uri="{FF2B5EF4-FFF2-40B4-BE49-F238E27FC236}">
                <a16:creationId xmlns:a16="http://schemas.microsoft.com/office/drawing/2014/main" id="{E9F4A777-4880-8640-83A6-327323A56F12}"/>
              </a:ext>
            </a:extLst>
          </p:cNvPr>
          <p:cNvSpPr>
            <a:spLocks noGrp="1"/>
          </p:cNvSpPr>
          <p:nvPr>
            <p:ph sz="half" idx="1"/>
          </p:nvPr>
        </p:nvSpPr>
        <p:spPr>
          <a:xfrm>
            <a:off x="838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4" name="内容占位符 3">
            <a:extLst>
              <a:ext uri="{FF2B5EF4-FFF2-40B4-BE49-F238E27FC236}">
                <a16:creationId xmlns:a16="http://schemas.microsoft.com/office/drawing/2014/main" id="{27E2510C-46FB-B140-83A3-4B9EF1B4C9DF}"/>
              </a:ext>
            </a:extLst>
          </p:cNvPr>
          <p:cNvSpPr>
            <a:spLocks noGrp="1"/>
          </p:cNvSpPr>
          <p:nvPr>
            <p:ph sz="half" idx="2"/>
          </p:nvPr>
        </p:nvSpPr>
        <p:spPr>
          <a:xfrm>
            <a:off x="6172200" y="1825625"/>
            <a:ext cx="5181600" cy="4351338"/>
          </a:xfrm>
        </p:spPr>
        <p:txBody>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5" name="日期占位符 4">
            <a:extLst>
              <a:ext uri="{FF2B5EF4-FFF2-40B4-BE49-F238E27FC236}">
                <a16:creationId xmlns:a16="http://schemas.microsoft.com/office/drawing/2014/main" id="{C459310F-E4CA-E54F-B1B1-7656B1F4AAA8}"/>
              </a:ext>
            </a:extLst>
          </p:cNvPr>
          <p:cNvSpPr>
            <a:spLocks noGrp="1"/>
          </p:cNvSpPr>
          <p:nvPr>
            <p:ph type="dt" sz="half" idx="10"/>
          </p:nvPr>
        </p:nvSpPr>
        <p:spPr>
          <a:xfrm>
            <a:off x="158699" y="6498018"/>
            <a:ext cx="2743200" cy="365125"/>
          </a:xfrm>
          <a:prstGeom prst="rect">
            <a:avLst/>
          </a:prstGeom>
        </p:spPr>
        <p:txBody>
          <a:bodyPr/>
          <a:lstStyle>
            <a:lvl1pPr>
              <a:defRPr>
                <a:latin typeface="+mn-ea"/>
                <a:ea typeface="+mn-ea"/>
              </a:defRPr>
            </a:lvl1pPr>
          </a:lstStyle>
          <a:p>
            <a:r>
              <a:rPr kumimoji="1" lang="en-US" altLang="zh-CN" dirty="0"/>
              <a:t>5.3 </a:t>
            </a:r>
            <a:r>
              <a:rPr kumimoji="1" lang="zh-CN" altLang="en-US" dirty="0"/>
              <a:t>网络互联</a:t>
            </a:r>
          </a:p>
        </p:txBody>
      </p:sp>
      <p:sp>
        <p:nvSpPr>
          <p:cNvPr id="6" name="页脚占位符 5">
            <a:extLst>
              <a:ext uri="{FF2B5EF4-FFF2-40B4-BE49-F238E27FC236}">
                <a16:creationId xmlns:a16="http://schemas.microsoft.com/office/drawing/2014/main" id="{D8A41358-8B3C-CE4B-B391-06B0FF85E814}"/>
              </a:ext>
            </a:extLst>
          </p:cNvPr>
          <p:cNvSpPr>
            <a:spLocks noGrp="1"/>
          </p:cNvSpPr>
          <p:nvPr>
            <p:ph type="ftr" sz="quarter" idx="11"/>
          </p:nvPr>
        </p:nvSpPr>
        <p:spPr>
          <a:xfrm>
            <a:off x="4038600" y="6498019"/>
            <a:ext cx="4114800" cy="365125"/>
          </a:xfrm>
          <a:prstGeom prst="rect">
            <a:avLst/>
          </a:prstGeom>
        </p:spPr>
        <p:txBody>
          <a:bodyPr/>
          <a:lstStyle/>
          <a:p>
            <a:r>
              <a:rPr kumimoji="1" lang="zh-CN" altLang="en-US" dirty="0">
                <a:latin typeface="DengXian" panose="02010600030101010101" pitchFamily="2" charset="-122"/>
                <a:ea typeface="DengXian" panose="02010600030101010101" pitchFamily="2" charset="-122"/>
              </a:rPr>
              <a:t>引自：</a:t>
            </a:r>
            <a:r>
              <a:rPr kumimoji="1" lang="en-US" altLang="zh-CN" dirty="0">
                <a:latin typeface="DengXian" panose="02010600030101010101" pitchFamily="2" charset="-122"/>
                <a:ea typeface="DengXian" panose="02010600030101010101" pitchFamily="2" charset="-122"/>
              </a:rPr>
              <a:t>XXXXX</a:t>
            </a:r>
            <a:r>
              <a:rPr kumimoji="1" lang="zh-CN" altLang="en-US" dirty="0">
                <a:latin typeface="DengXian" panose="02010600030101010101" pitchFamily="2" charset="-122"/>
                <a:ea typeface="DengXian" panose="02010600030101010101" pitchFamily="2" charset="-122"/>
              </a:rPr>
              <a:t>（如果需要）</a:t>
            </a:r>
          </a:p>
        </p:txBody>
      </p:sp>
      <p:sp>
        <p:nvSpPr>
          <p:cNvPr id="7" name="灯片编号占位符 6">
            <a:extLst>
              <a:ext uri="{FF2B5EF4-FFF2-40B4-BE49-F238E27FC236}">
                <a16:creationId xmlns:a16="http://schemas.microsoft.com/office/drawing/2014/main" id="{FDFB6C4E-D29D-9647-82C6-2B183C588D14}"/>
              </a:ext>
            </a:extLst>
          </p:cNvPr>
          <p:cNvSpPr>
            <a:spLocks noGrp="1"/>
          </p:cNvSpPr>
          <p:nvPr>
            <p:ph type="sldNum" sz="quarter" idx="12"/>
          </p:nvPr>
        </p:nvSpPr>
        <p:spPr>
          <a:xfrm>
            <a:off x="8610600" y="6498019"/>
            <a:ext cx="3319670" cy="365125"/>
          </a:xfrm>
          <a:prstGeom prst="rect">
            <a:avLst/>
          </a:prstGeom>
        </p:spPr>
        <p:txBody>
          <a:bodyPr/>
          <a:lstStyle/>
          <a:p>
            <a:fld id="{8D4D1E41-7A09-AB4A-A4E1-09765ADA2698}" type="slidenum">
              <a:rPr kumimoji="1" lang="zh-CN" altLang="en-US" smtClean="0"/>
              <a:t>‹#›</a:t>
            </a:fld>
            <a:endParaRPr kumimoji="1" lang="zh-CN" altLang="en-US"/>
          </a:p>
        </p:txBody>
      </p:sp>
      <p:sp>
        <p:nvSpPr>
          <p:cNvPr id="8" name="矩形 7">
            <a:extLst>
              <a:ext uri="{FF2B5EF4-FFF2-40B4-BE49-F238E27FC236}">
                <a16:creationId xmlns:a16="http://schemas.microsoft.com/office/drawing/2014/main" id="{6EA401A9-3F89-014C-9A94-02FD1A5217FC}"/>
              </a:ext>
            </a:extLst>
          </p:cNvPr>
          <p:cNvSpPr/>
          <p:nvPr userDrawn="1"/>
        </p:nvSpPr>
        <p:spPr>
          <a:xfrm>
            <a:off x="667831" y="553426"/>
            <a:ext cx="509313" cy="498948"/>
          </a:xfrm>
          <a:prstGeom prst="rect">
            <a:avLst/>
          </a:prstGeom>
          <a:solidFill>
            <a:srgbClr val="5C30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5C307E"/>
              </a:solidFill>
            </a:endParaRPr>
          </a:p>
        </p:txBody>
      </p:sp>
      <p:cxnSp>
        <p:nvCxnSpPr>
          <p:cNvPr id="9" name="直线连接符 8">
            <a:extLst>
              <a:ext uri="{FF2B5EF4-FFF2-40B4-BE49-F238E27FC236}">
                <a16:creationId xmlns:a16="http://schemas.microsoft.com/office/drawing/2014/main" id="{2D64F221-C9B8-444F-9076-736EED2DA56E}"/>
              </a:ext>
            </a:extLst>
          </p:cNvPr>
          <p:cNvCxnSpPr>
            <a:cxnSpLocks/>
          </p:cNvCxnSpPr>
          <p:nvPr userDrawn="1"/>
        </p:nvCxnSpPr>
        <p:spPr>
          <a:xfrm>
            <a:off x="1314788" y="1244212"/>
            <a:ext cx="7295812" cy="0"/>
          </a:xfrm>
          <a:prstGeom prst="line">
            <a:avLst/>
          </a:prstGeom>
          <a:ln w="19050">
            <a:solidFill>
              <a:srgbClr val="5C307E"/>
            </a:solidFill>
          </a:ln>
        </p:spPr>
        <p:style>
          <a:lnRef idx="1">
            <a:schemeClr val="accent1"/>
          </a:lnRef>
          <a:fillRef idx="0">
            <a:schemeClr val="accent1"/>
          </a:fillRef>
          <a:effectRef idx="0">
            <a:schemeClr val="accent1"/>
          </a:effectRef>
          <a:fontRef idx="minor">
            <a:schemeClr val="tx1"/>
          </a:fontRef>
        </p:style>
      </p:cxnSp>
      <p:grpSp>
        <p:nvGrpSpPr>
          <p:cNvPr id="40" name="组合 39">
            <a:extLst>
              <a:ext uri="{FF2B5EF4-FFF2-40B4-BE49-F238E27FC236}">
                <a16:creationId xmlns:a16="http://schemas.microsoft.com/office/drawing/2014/main" id="{7BC00378-4A1A-AF4A-9DA5-0E40AABBEE09}"/>
              </a:ext>
            </a:extLst>
          </p:cNvPr>
          <p:cNvGrpSpPr/>
          <p:nvPr userDrawn="1"/>
        </p:nvGrpSpPr>
        <p:grpSpPr>
          <a:xfrm>
            <a:off x="715452" y="646397"/>
            <a:ext cx="403039" cy="321898"/>
            <a:chOff x="1368170" y="664579"/>
            <a:chExt cx="550582" cy="439737"/>
          </a:xfrm>
          <a:solidFill>
            <a:schemeClr val="bg1"/>
          </a:solidFill>
        </p:grpSpPr>
        <p:sp>
          <p:nvSpPr>
            <p:cNvPr id="41" name="Freeform 1">
              <a:extLst>
                <a:ext uri="{FF2B5EF4-FFF2-40B4-BE49-F238E27FC236}">
                  <a16:creationId xmlns:a16="http://schemas.microsoft.com/office/drawing/2014/main" id="{219E963A-769E-B14C-9175-00DF37C8C685}"/>
                </a:ext>
              </a:extLst>
            </p:cNvPr>
            <p:cNvSpPr>
              <a:spLocks noChangeArrowheads="1"/>
            </p:cNvSpPr>
            <p:nvPr/>
          </p:nvSpPr>
          <p:spPr bwMode="auto">
            <a:xfrm>
              <a:off x="1481203" y="771778"/>
              <a:ext cx="437549" cy="332538"/>
            </a:xfrm>
            <a:custGeom>
              <a:avLst/>
              <a:gdLst>
                <a:gd name="T0" fmla="*/ 25 w 2647"/>
                <a:gd name="T1" fmla="*/ 1478 h 2011"/>
                <a:gd name="T2" fmla="*/ 525 w 2647"/>
                <a:gd name="T3" fmla="*/ 1865 h 2011"/>
                <a:gd name="T4" fmla="*/ 736 w 2647"/>
                <a:gd name="T5" fmla="*/ 1972 h 2011"/>
                <a:gd name="T6" fmla="*/ 940 w 2647"/>
                <a:gd name="T7" fmla="*/ 2010 h 2011"/>
                <a:gd name="T8" fmla="*/ 1078 w 2647"/>
                <a:gd name="T9" fmla="*/ 1991 h 2011"/>
                <a:gd name="T10" fmla="*/ 1286 w 2647"/>
                <a:gd name="T11" fmla="*/ 1894 h 2011"/>
                <a:gd name="T12" fmla="*/ 1506 w 2647"/>
                <a:gd name="T13" fmla="*/ 1715 h 2011"/>
                <a:gd name="T14" fmla="*/ 1506 w 2647"/>
                <a:gd name="T15" fmla="*/ 1715 h 2011"/>
                <a:gd name="T16" fmla="*/ 2630 w 2647"/>
                <a:gd name="T17" fmla="*/ 624 h 2011"/>
                <a:gd name="T18" fmla="*/ 2646 w 2647"/>
                <a:gd name="T19" fmla="*/ 586 h 2011"/>
                <a:gd name="T20" fmla="*/ 2630 w 2647"/>
                <a:gd name="T21" fmla="*/ 548 h 2011"/>
                <a:gd name="T22" fmla="*/ 2090 w 2647"/>
                <a:gd name="T23" fmla="*/ 21 h 2011"/>
                <a:gd name="T24" fmla="*/ 2016 w 2647"/>
                <a:gd name="T25" fmla="*/ 22 h 2011"/>
                <a:gd name="T26" fmla="*/ 2017 w 2647"/>
                <a:gd name="T27" fmla="*/ 96 h 2011"/>
                <a:gd name="T28" fmla="*/ 2518 w 2647"/>
                <a:gd name="T29" fmla="*/ 586 h 2011"/>
                <a:gd name="T30" fmla="*/ 1433 w 2647"/>
                <a:gd name="T31" fmla="*/ 1639 h 2011"/>
                <a:gd name="T32" fmla="*/ 1433 w 2647"/>
                <a:gd name="T33" fmla="*/ 1639 h 2011"/>
                <a:gd name="T34" fmla="*/ 1167 w 2647"/>
                <a:gd name="T35" fmla="*/ 1843 h 2011"/>
                <a:gd name="T36" fmla="*/ 1051 w 2647"/>
                <a:gd name="T37" fmla="*/ 1889 h 2011"/>
                <a:gd name="T38" fmla="*/ 940 w 2647"/>
                <a:gd name="T39" fmla="*/ 1904 h 2011"/>
                <a:gd name="T40" fmla="*/ 772 w 2647"/>
                <a:gd name="T41" fmla="*/ 1872 h 2011"/>
                <a:gd name="T42" fmla="*/ 474 w 2647"/>
                <a:gd name="T43" fmla="*/ 1704 h 2011"/>
                <a:gd name="T44" fmla="*/ 93 w 2647"/>
                <a:gd name="T45" fmla="*/ 1398 h 2011"/>
                <a:gd name="T46" fmla="*/ 19 w 2647"/>
                <a:gd name="T47" fmla="*/ 1404 h 2011"/>
                <a:gd name="T48" fmla="*/ 25 w 2647"/>
                <a:gd name="T49" fmla="*/ 1478 h 20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47" h="2011">
                  <a:moveTo>
                    <a:pt x="25" y="1478"/>
                  </a:moveTo>
                  <a:cubicBezTo>
                    <a:pt x="219" y="1643"/>
                    <a:pt x="380" y="1773"/>
                    <a:pt x="525" y="1865"/>
                  </a:cubicBezTo>
                  <a:cubicBezTo>
                    <a:pt x="598" y="1911"/>
                    <a:pt x="668" y="1947"/>
                    <a:pt x="736" y="1972"/>
                  </a:cubicBezTo>
                  <a:cubicBezTo>
                    <a:pt x="805" y="1996"/>
                    <a:pt x="872" y="2010"/>
                    <a:pt x="940" y="2010"/>
                  </a:cubicBezTo>
                  <a:cubicBezTo>
                    <a:pt x="986" y="2010"/>
                    <a:pt x="1032" y="2004"/>
                    <a:pt x="1078" y="1991"/>
                  </a:cubicBezTo>
                  <a:cubicBezTo>
                    <a:pt x="1147" y="1973"/>
                    <a:pt x="1216" y="1940"/>
                    <a:pt x="1286" y="1894"/>
                  </a:cubicBezTo>
                  <a:cubicBezTo>
                    <a:pt x="1357" y="1848"/>
                    <a:pt x="1429" y="1789"/>
                    <a:pt x="1506" y="1715"/>
                  </a:cubicBezTo>
                  <a:lnTo>
                    <a:pt x="1506" y="1715"/>
                  </a:lnTo>
                  <a:lnTo>
                    <a:pt x="2630" y="624"/>
                  </a:lnTo>
                  <a:cubicBezTo>
                    <a:pt x="2640" y="614"/>
                    <a:pt x="2646" y="600"/>
                    <a:pt x="2646" y="586"/>
                  </a:cubicBezTo>
                  <a:cubicBezTo>
                    <a:pt x="2646" y="572"/>
                    <a:pt x="2641" y="558"/>
                    <a:pt x="2630" y="548"/>
                  </a:cubicBezTo>
                  <a:lnTo>
                    <a:pt x="2090" y="21"/>
                  </a:lnTo>
                  <a:cubicBezTo>
                    <a:pt x="2069" y="0"/>
                    <a:pt x="2036" y="1"/>
                    <a:pt x="2016" y="22"/>
                  </a:cubicBezTo>
                  <a:cubicBezTo>
                    <a:pt x="1995" y="42"/>
                    <a:pt x="1996" y="76"/>
                    <a:pt x="2017" y="96"/>
                  </a:cubicBezTo>
                  <a:lnTo>
                    <a:pt x="2518" y="586"/>
                  </a:lnTo>
                  <a:lnTo>
                    <a:pt x="1433" y="1639"/>
                  </a:lnTo>
                  <a:lnTo>
                    <a:pt x="1433" y="1639"/>
                  </a:lnTo>
                  <a:cubicBezTo>
                    <a:pt x="1335" y="1733"/>
                    <a:pt x="1247" y="1800"/>
                    <a:pt x="1167" y="1843"/>
                  </a:cubicBezTo>
                  <a:cubicBezTo>
                    <a:pt x="1127" y="1864"/>
                    <a:pt x="1088" y="1879"/>
                    <a:pt x="1051" y="1889"/>
                  </a:cubicBezTo>
                  <a:cubicBezTo>
                    <a:pt x="1013" y="1899"/>
                    <a:pt x="977" y="1904"/>
                    <a:pt x="940" y="1904"/>
                  </a:cubicBezTo>
                  <a:cubicBezTo>
                    <a:pt x="886" y="1904"/>
                    <a:pt x="831" y="1894"/>
                    <a:pt x="772" y="1872"/>
                  </a:cubicBezTo>
                  <a:cubicBezTo>
                    <a:pt x="683" y="1840"/>
                    <a:pt x="586" y="1784"/>
                    <a:pt x="474" y="1704"/>
                  </a:cubicBezTo>
                  <a:cubicBezTo>
                    <a:pt x="363" y="1624"/>
                    <a:pt x="238" y="1521"/>
                    <a:pt x="93" y="1398"/>
                  </a:cubicBezTo>
                  <a:cubicBezTo>
                    <a:pt x="71" y="1379"/>
                    <a:pt x="38" y="1382"/>
                    <a:pt x="19" y="1404"/>
                  </a:cubicBezTo>
                  <a:cubicBezTo>
                    <a:pt x="0" y="1426"/>
                    <a:pt x="3" y="1459"/>
                    <a:pt x="25" y="147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2" name="Freeform 2">
              <a:extLst>
                <a:ext uri="{FF2B5EF4-FFF2-40B4-BE49-F238E27FC236}">
                  <a16:creationId xmlns:a16="http://schemas.microsoft.com/office/drawing/2014/main" id="{935EF8B9-88D2-6C42-BF9B-2AD28DBBD77F}"/>
                </a:ext>
              </a:extLst>
            </p:cNvPr>
            <p:cNvSpPr>
              <a:spLocks noChangeArrowheads="1"/>
            </p:cNvSpPr>
            <p:nvPr/>
          </p:nvSpPr>
          <p:spPr bwMode="auto">
            <a:xfrm>
              <a:off x="1511832" y="868769"/>
              <a:ext cx="356603" cy="190334"/>
            </a:xfrm>
            <a:custGeom>
              <a:avLst/>
              <a:gdLst>
                <a:gd name="T0" fmla="*/ 15 w 2158"/>
                <a:gd name="T1" fmla="*/ 713 h 1152"/>
                <a:gd name="T2" fmla="*/ 432 w 2158"/>
                <a:gd name="T3" fmla="*/ 1033 h 1152"/>
                <a:gd name="T4" fmla="*/ 605 w 2158"/>
                <a:gd name="T5" fmla="*/ 1120 h 1152"/>
                <a:gd name="T6" fmla="*/ 771 w 2158"/>
                <a:gd name="T7" fmla="*/ 1151 h 1152"/>
                <a:gd name="T8" fmla="*/ 896 w 2158"/>
                <a:gd name="T9" fmla="*/ 1132 h 1152"/>
                <a:gd name="T10" fmla="*/ 1089 w 2158"/>
                <a:gd name="T11" fmla="*/ 1036 h 1152"/>
                <a:gd name="T12" fmla="*/ 1305 w 2158"/>
                <a:gd name="T13" fmla="*/ 856 h 1152"/>
                <a:gd name="T14" fmla="*/ 1305 w 2158"/>
                <a:gd name="T15" fmla="*/ 856 h 1152"/>
                <a:gd name="T16" fmla="*/ 2144 w 2158"/>
                <a:gd name="T17" fmla="*/ 57 h 1152"/>
                <a:gd name="T18" fmla="*/ 2145 w 2158"/>
                <a:gd name="T19" fmla="*/ 13 h 1152"/>
                <a:gd name="T20" fmla="*/ 2100 w 2158"/>
                <a:gd name="T21" fmla="*/ 12 h 1152"/>
                <a:gd name="T22" fmla="*/ 1262 w 2158"/>
                <a:gd name="T23" fmla="*/ 811 h 1152"/>
                <a:gd name="T24" fmla="*/ 1262 w 2158"/>
                <a:gd name="T25" fmla="*/ 811 h 1152"/>
                <a:gd name="T26" fmla="*/ 993 w 2158"/>
                <a:gd name="T27" fmla="*/ 1023 h 1152"/>
                <a:gd name="T28" fmla="*/ 878 w 2158"/>
                <a:gd name="T29" fmla="*/ 1072 h 1152"/>
                <a:gd name="T30" fmla="*/ 771 w 2158"/>
                <a:gd name="T31" fmla="*/ 1088 h 1152"/>
                <a:gd name="T32" fmla="*/ 626 w 2158"/>
                <a:gd name="T33" fmla="*/ 1061 h 1152"/>
                <a:gd name="T34" fmla="*/ 376 w 2158"/>
                <a:gd name="T35" fmla="*/ 920 h 1152"/>
                <a:gd name="T36" fmla="*/ 55 w 2158"/>
                <a:gd name="T37" fmla="*/ 665 h 1152"/>
                <a:gd name="T38" fmla="*/ 11 w 2158"/>
                <a:gd name="T39" fmla="*/ 669 h 1152"/>
                <a:gd name="T40" fmla="*/ 15 w 2158"/>
                <a:gd name="T41" fmla="*/ 713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15" y="713"/>
                  </a:moveTo>
                  <a:cubicBezTo>
                    <a:pt x="179" y="850"/>
                    <a:pt x="312" y="958"/>
                    <a:pt x="432" y="1033"/>
                  </a:cubicBezTo>
                  <a:cubicBezTo>
                    <a:pt x="492" y="1071"/>
                    <a:pt x="549" y="1100"/>
                    <a:pt x="605" y="1120"/>
                  </a:cubicBezTo>
                  <a:cubicBezTo>
                    <a:pt x="661" y="1140"/>
                    <a:pt x="716" y="1151"/>
                    <a:pt x="771" y="1151"/>
                  </a:cubicBezTo>
                  <a:cubicBezTo>
                    <a:pt x="812" y="1151"/>
                    <a:pt x="854" y="1145"/>
                    <a:pt x="896" y="1132"/>
                  </a:cubicBezTo>
                  <a:cubicBezTo>
                    <a:pt x="959" y="1114"/>
                    <a:pt x="1022" y="1082"/>
                    <a:pt x="1089" y="1036"/>
                  </a:cubicBezTo>
                  <a:cubicBezTo>
                    <a:pt x="1156" y="990"/>
                    <a:pt x="1227" y="931"/>
                    <a:pt x="1305" y="856"/>
                  </a:cubicBezTo>
                  <a:lnTo>
                    <a:pt x="1305" y="856"/>
                  </a:lnTo>
                  <a:lnTo>
                    <a:pt x="2144" y="57"/>
                  </a:lnTo>
                  <a:cubicBezTo>
                    <a:pt x="2156" y="45"/>
                    <a:pt x="2157" y="25"/>
                    <a:pt x="2145" y="13"/>
                  </a:cubicBezTo>
                  <a:cubicBezTo>
                    <a:pt x="2133" y="0"/>
                    <a:pt x="2113" y="0"/>
                    <a:pt x="2100" y="12"/>
                  </a:cubicBezTo>
                  <a:lnTo>
                    <a:pt x="1262" y="811"/>
                  </a:lnTo>
                  <a:lnTo>
                    <a:pt x="1262" y="811"/>
                  </a:lnTo>
                  <a:cubicBezTo>
                    <a:pt x="1160" y="908"/>
                    <a:pt x="1072" y="978"/>
                    <a:pt x="993" y="1023"/>
                  </a:cubicBezTo>
                  <a:cubicBezTo>
                    <a:pt x="953" y="1045"/>
                    <a:pt x="915" y="1062"/>
                    <a:pt x="878" y="1072"/>
                  </a:cubicBezTo>
                  <a:cubicBezTo>
                    <a:pt x="842" y="1083"/>
                    <a:pt x="806" y="1088"/>
                    <a:pt x="771" y="1088"/>
                  </a:cubicBezTo>
                  <a:cubicBezTo>
                    <a:pt x="724" y="1088"/>
                    <a:pt x="677" y="1079"/>
                    <a:pt x="626" y="1061"/>
                  </a:cubicBezTo>
                  <a:cubicBezTo>
                    <a:pt x="551" y="1034"/>
                    <a:pt x="469" y="987"/>
                    <a:pt x="376" y="920"/>
                  </a:cubicBezTo>
                  <a:cubicBezTo>
                    <a:pt x="282" y="853"/>
                    <a:pt x="177" y="767"/>
                    <a:pt x="55" y="665"/>
                  </a:cubicBezTo>
                  <a:cubicBezTo>
                    <a:pt x="42" y="654"/>
                    <a:pt x="22" y="656"/>
                    <a:pt x="11" y="669"/>
                  </a:cubicBezTo>
                  <a:cubicBezTo>
                    <a:pt x="0" y="682"/>
                    <a:pt x="1" y="702"/>
                    <a:pt x="15" y="71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3" name="Freeform 3">
              <a:extLst>
                <a:ext uri="{FF2B5EF4-FFF2-40B4-BE49-F238E27FC236}">
                  <a16:creationId xmlns:a16="http://schemas.microsoft.com/office/drawing/2014/main" id="{10E28FF9-5CED-394E-AF38-301649539D3C}"/>
                </a:ext>
              </a:extLst>
            </p:cNvPr>
            <p:cNvSpPr>
              <a:spLocks noChangeArrowheads="1"/>
            </p:cNvSpPr>
            <p:nvPr/>
          </p:nvSpPr>
          <p:spPr bwMode="auto">
            <a:xfrm>
              <a:off x="1540273" y="847620"/>
              <a:ext cx="304826" cy="169186"/>
            </a:xfrm>
            <a:custGeom>
              <a:avLst/>
              <a:gdLst>
                <a:gd name="T0" fmla="*/ 12 w 1845"/>
                <a:gd name="T1" fmla="*/ 672 h 1022"/>
                <a:gd name="T2" fmla="*/ 350 w 1845"/>
                <a:gd name="T3" fmla="*/ 928 h 1022"/>
                <a:gd name="T4" fmla="*/ 488 w 1845"/>
                <a:gd name="T5" fmla="*/ 997 h 1022"/>
                <a:gd name="T6" fmla="*/ 620 w 1845"/>
                <a:gd name="T7" fmla="*/ 1021 h 1022"/>
                <a:gd name="T8" fmla="*/ 734 w 1845"/>
                <a:gd name="T9" fmla="*/ 1003 h 1022"/>
                <a:gd name="T10" fmla="*/ 915 w 1845"/>
                <a:gd name="T11" fmla="*/ 905 h 1022"/>
                <a:gd name="T12" fmla="*/ 1129 w 1845"/>
                <a:gd name="T13" fmla="*/ 720 h 1022"/>
                <a:gd name="T14" fmla="*/ 1129 w 1845"/>
                <a:gd name="T15" fmla="*/ 720 h 1022"/>
                <a:gd name="T16" fmla="*/ 1834 w 1845"/>
                <a:gd name="T17" fmla="*/ 42 h 1022"/>
                <a:gd name="T18" fmla="*/ 1835 w 1845"/>
                <a:gd name="T19" fmla="*/ 10 h 1022"/>
                <a:gd name="T20" fmla="*/ 1802 w 1845"/>
                <a:gd name="T21" fmla="*/ 9 h 1022"/>
                <a:gd name="T22" fmla="*/ 1097 w 1845"/>
                <a:gd name="T23" fmla="*/ 687 h 1022"/>
                <a:gd name="T24" fmla="*/ 1097 w 1845"/>
                <a:gd name="T25" fmla="*/ 687 h 1022"/>
                <a:gd name="T26" fmla="*/ 828 w 1845"/>
                <a:gd name="T27" fmla="*/ 907 h 1022"/>
                <a:gd name="T28" fmla="*/ 720 w 1845"/>
                <a:gd name="T29" fmla="*/ 959 h 1022"/>
                <a:gd name="T30" fmla="*/ 620 w 1845"/>
                <a:gd name="T31" fmla="*/ 975 h 1022"/>
                <a:gd name="T32" fmla="*/ 504 w 1845"/>
                <a:gd name="T33" fmla="*/ 954 h 1022"/>
                <a:gd name="T34" fmla="*/ 302 w 1845"/>
                <a:gd name="T35" fmla="*/ 841 h 1022"/>
                <a:gd name="T36" fmla="*/ 41 w 1845"/>
                <a:gd name="T37" fmla="*/ 636 h 1022"/>
                <a:gd name="T38" fmla="*/ 9 w 1845"/>
                <a:gd name="T39" fmla="*/ 640 h 1022"/>
                <a:gd name="T40" fmla="*/ 12 w 1845"/>
                <a:gd name="T41" fmla="*/ 672 h 10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5" h="1022">
                  <a:moveTo>
                    <a:pt x="12" y="672"/>
                  </a:moveTo>
                  <a:cubicBezTo>
                    <a:pt x="146" y="782"/>
                    <a:pt x="254" y="868"/>
                    <a:pt x="350" y="928"/>
                  </a:cubicBezTo>
                  <a:cubicBezTo>
                    <a:pt x="398" y="958"/>
                    <a:pt x="444" y="981"/>
                    <a:pt x="488" y="997"/>
                  </a:cubicBezTo>
                  <a:cubicBezTo>
                    <a:pt x="533" y="1013"/>
                    <a:pt x="576" y="1021"/>
                    <a:pt x="620" y="1021"/>
                  </a:cubicBezTo>
                  <a:cubicBezTo>
                    <a:pt x="658" y="1021"/>
                    <a:pt x="695" y="1015"/>
                    <a:pt x="734" y="1003"/>
                  </a:cubicBezTo>
                  <a:cubicBezTo>
                    <a:pt x="791" y="984"/>
                    <a:pt x="850" y="952"/>
                    <a:pt x="915" y="905"/>
                  </a:cubicBezTo>
                  <a:cubicBezTo>
                    <a:pt x="980" y="858"/>
                    <a:pt x="1050" y="797"/>
                    <a:pt x="1129" y="720"/>
                  </a:cubicBezTo>
                  <a:lnTo>
                    <a:pt x="1129" y="720"/>
                  </a:lnTo>
                  <a:lnTo>
                    <a:pt x="1834" y="42"/>
                  </a:lnTo>
                  <a:cubicBezTo>
                    <a:pt x="1843" y="34"/>
                    <a:pt x="1844" y="19"/>
                    <a:pt x="1835" y="10"/>
                  </a:cubicBezTo>
                  <a:cubicBezTo>
                    <a:pt x="1826" y="1"/>
                    <a:pt x="1811" y="0"/>
                    <a:pt x="1802" y="9"/>
                  </a:cubicBezTo>
                  <a:lnTo>
                    <a:pt x="1097" y="687"/>
                  </a:lnTo>
                  <a:lnTo>
                    <a:pt x="1097" y="687"/>
                  </a:lnTo>
                  <a:cubicBezTo>
                    <a:pt x="992" y="788"/>
                    <a:pt x="905" y="861"/>
                    <a:pt x="828" y="907"/>
                  </a:cubicBezTo>
                  <a:cubicBezTo>
                    <a:pt x="790" y="931"/>
                    <a:pt x="754" y="948"/>
                    <a:pt x="720" y="959"/>
                  </a:cubicBezTo>
                  <a:cubicBezTo>
                    <a:pt x="685" y="970"/>
                    <a:pt x="653" y="975"/>
                    <a:pt x="620" y="975"/>
                  </a:cubicBezTo>
                  <a:cubicBezTo>
                    <a:pt x="582" y="975"/>
                    <a:pt x="544" y="968"/>
                    <a:pt x="504" y="954"/>
                  </a:cubicBezTo>
                  <a:cubicBezTo>
                    <a:pt x="443" y="932"/>
                    <a:pt x="378" y="894"/>
                    <a:pt x="302" y="841"/>
                  </a:cubicBezTo>
                  <a:cubicBezTo>
                    <a:pt x="227" y="787"/>
                    <a:pt x="141" y="718"/>
                    <a:pt x="41" y="636"/>
                  </a:cubicBezTo>
                  <a:cubicBezTo>
                    <a:pt x="31" y="628"/>
                    <a:pt x="17" y="630"/>
                    <a:pt x="9" y="640"/>
                  </a:cubicBezTo>
                  <a:cubicBezTo>
                    <a:pt x="0" y="649"/>
                    <a:pt x="2" y="664"/>
                    <a:pt x="12" y="67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4" name="Freeform 4">
              <a:extLst>
                <a:ext uri="{FF2B5EF4-FFF2-40B4-BE49-F238E27FC236}">
                  <a16:creationId xmlns:a16="http://schemas.microsoft.com/office/drawing/2014/main" id="{6E5EA531-DEFC-144D-8545-1DECEBA97224}"/>
                </a:ext>
              </a:extLst>
            </p:cNvPr>
            <p:cNvSpPr>
              <a:spLocks noChangeArrowheads="1"/>
            </p:cNvSpPr>
            <p:nvPr/>
          </p:nvSpPr>
          <p:spPr bwMode="auto">
            <a:xfrm>
              <a:off x="1568713" y="826472"/>
              <a:ext cx="253050" cy="148037"/>
            </a:xfrm>
            <a:custGeom>
              <a:avLst/>
              <a:gdLst>
                <a:gd name="T0" fmla="*/ 8 w 1531"/>
                <a:gd name="T1" fmla="*/ 630 h 895"/>
                <a:gd name="T2" fmla="*/ 269 w 1531"/>
                <a:gd name="T3" fmla="*/ 824 h 895"/>
                <a:gd name="T4" fmla="*/ 374 w 1531"/>
                <a:gd name="T5" fmla="*/ 876 h 895"/>
                <a:gd name="T6" fmla="*/ 473 w 1531"/>
                <a:gd name="T7" fmla="*/ 894 h 895"/>
                <a:gd name="T8" fmla="*/ 573 w 1531"/>
                <a:gd name="T9" fmla="*/ 875 h 895"/>
                <a:gd name="T10" fmla="*/ 739 w 1531"/>
                <a:gd name="T11" fmla="*/ 775 h 895"/>
                <a:gd name="T12" fmla="*/ 953 w 1531"/>
                <a:gd name="T13" fmla="*/ 584 h 895"/>
                <a:gd name="T14" fmla="*/ 953 w 1531"/>
                <a:gd name="T15" fmla="*/ 584 h 895"/>
                <a:gd name="T16" fmla="*/ 1524 w 1531"/>
                <a:gd name="T17" fmla="*/ 27 h 895"/>
                <a:gd name="T18" fmla="*/ 1524 w 1531"/>
                <a:gd name="T19" fmla="*/ 6 h 895"/>
                <a:gd name="T20" fmla="*/ 1503 w 1531"/>
                <a:gd name="T21" fmla="*/ 6 h 895"/>
                <a:gd name="T22" fmla="*/ 932 w 1531"/>
                <a:gd name="T23" fmla="*/ 563 h 895"/>
                <a:gd name="T24" fmla="*/ 932 w 1531"/>
                <a:gd name="T25" fmla="*/ 563 h 895"/>
                <a:gd name="T26" fmla="*/ 663 w 1531"/>
                <a:gd name="T27" fmla="*/ 793 h 895"/>
                <a:gd name="T28" fmla="*/ 562 w 1531"/>
                <a:gd name="T29" fmla="*/ 847 h 895"/>
                <a:gd name="T30" fmla="*/ 473 w 1531"/>
                <a:gd name="T31" fmla="*/ 865 h 895"/>
                <a:gd name="T32" fmla="*/ 384 w 1531"/>
                <a:gd name="T33" fmla="*/ 848 h 895"/>
                <a:gd name="T34" fmla="*/ 229 w 1531"/>
                <a:gd name="T35" fmla="*/ 762 h 895"/>
                <a:gd name="T36" fmla="*/ 26 w 1531"/>
                <a:gd name="T37" fmla="*/ 607 h 895"/>
                <a:gd name="T38" fmla="*/ 5 w 1531"/>
                <a:gd name="T39" fmla="*/ 609 h 895"/>
                <a:gd name="T40" fmla="*/ 8 w 1531"/>
                <a:gd name="T41" fmla="*/ 630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1" h="895">
                  <a:moveTo>
                    <a:pt x="8" y="630"/>
                  </a:moveTo>
                  <a:cubicBezTo>
                    <a:pt x="113" y="714"/>
                    <a:pt x="196" y="779"/>
                    <a:pt x="269" y="824"/>
                  </a:cubicBezTo>
                  <a:cubicBezTo>
                    <a:pt x="306" y="847"/>
                    <a:pt x="340" y="864"/>
                    <a:pt x="374" y="876"/>
                  </a:cubicBezTo>
                  <a:cubicBezTo>
                    <a:pt x="407" y="888"/>
                    <a:pt x="440" y="894"/>
                    <a:pt x="473" y="894"/>
                  </a:cubicBezTo>
                  <a:cubicBezTo>
                    <a:pt x="506" y="894"/>
                    <a:pt x="539" y="888"/>
                    <a:pt x="573" y="875"/>
                  </a:cubicBezTo>
                  <a:cubicBezTo>
                    <a:pt x="624" y="856"/>
                    <a:pt x="678" y="823"/>
                    <a:pt x="739" y="775"/>
                  </a:cubicBezTo>
                  <a:cubicBezTo>
                    <a:pt x="801" y="727"/>
                    <a:pt x="870" y="663"/>
                    <a:pt x="953" y="584"/>
                  </a:cubicBezTo>
                  <a:lnTo>
                    <a:pt x="953" y="584"/>
                  </a:lnTo>
                  <a:lnTo>
                    <a:pt x="1524" y="27"/>
                  </a:lnTo>
                  <a:cubicBezTo>
                    <a:pt x="1529" y="21"/>
                    <a:pt x="1530" y="12"/>
                    <a:pt x="1524" y="6"/>
                  </a:cubicBezTo>
                  <a:cubicBezTo>
                    <a:pt x="1518" y="0"/>
                    <a:pt x="1509" y="0"/>
                    <a:pt x="1503" y="6"/>
                  </a:cubicBezTo>
                  <a:lnTo>
                    <a:pt x="932" y="563"/>
                  </a:lnTo>
                  <a:lnTo>
                    <a:pt x="932" y="563"/>
                  </a:lnTo>
                  <a:cubicBezTo>
                    <a:pt x="823" y="668"/>
                    <a:pt x="737" y="744"/>
                    <a:pt x="663" y="793"/>
                  </a:cubicBezTo>
                  <a:cubicBezTo>
                    <a:pt x="627" y="818"/>
                    <a:pt x="594" y="836"/>
                    <a:pt x="562" y="847"/>
                  </a:cubicBezTo>
                  <a:cubicBezTo>
                    <a:pt x="531" y="859"/>
                    <a:pt x="502" y="865"/>
                    <a:pt x="473" y="865"/>
                  </a:cubicBezTo>
                  <a:cubicBezTo>
                    <a:pt x="444" y="865"/>
                    <a:pt x="415" y="859"/>
                    <a:pt x="384" y="848"/>
                  </a:cubicBezTo>
                  <a:cubicBezTo>
                    <a:pt x="338" y="832"/>
                    <a:pt x="288" y="803"/>
                    <a:pt x="229" y="762"/>
                  </a:cubicBezTo>
                  <a:cubicBezTo>
                    <a:pt x="171" y="722"/>
                    <a:pt x="105" y="669"/>
                    <a:pt x="26" y="607"/>
                  </a:cubicBezTo>
                  <a:cubicBezTo>
                    <a:pt x="20" y="602"/>
                    <a:pt x="10" y="603"/>
                    <a:pt x="5" y="609"/>
                  </a:cubicBezTo>
                  <a:cubicBezTo>
                    <a:pt x="0" y="615"/>
                    <a:pt x="1" y="625"/>
                    <a:pt x="8" y="6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5" name="Freeform 5">
              <a:extLst>
                <a:ext uri="{FF2B5EF4-FFF2-40B4-BE49-F238E27FC236}">
                  <a16:creationId xmlns:a16="http://schemas.microsoft.com/office/drawing/2014/main" id="{F39A9FAC-3BBF-CD45-BC62-06EF846D77A9}"/>
                </a:ext>
              </a:extLst>
            </p:cNvPr>
            <p:cNvSpPr>
              <a:spLocks noChangeArrowheads="1"/>
            </p:cNvSpPr>
            <p:nvPr/>
          </p:nvSpPr>
          <p:spPr bwMode="auto">
            <a:xfrm>
              <a:off x="1596425" y="805324"/>
              <a:ext cx="201273" cy="127619"/>
            </a:xfrm>
            <a:custGeom>
              <a:avLst/>
              <a:gdLst>
                <a:gd name="T0" fmla="*/ 4 w 1217"/>
                <a:gd name="T1" fmla="*/ 588 h 773"/>
                <a:gd name="T2" fmla="*/ 193 w 1217"/>
                <a:gd name="T3" fmla="*/ 724 h 773"/>
                <a:gd name="T4" fmla="*/ 332 w 1217"/>
                <a:gd name="T5" fmla="*/ 772 h 773"/>
                <a:gd name="T6" fmla="*/ 415 w 1217"/>
                <a:gd name="T7" fmla="*/ 752 h 773"/>
                <a:gd name="T8" fmla="*/ 563 w 1217"/>
                <a:gd name="T9" fmla="*/ 648 h 773"/>
                <a:gd name="T10" fmla="*/ 776 w 1217"/>
                <a:gd name="T11" fmla="*/ 448 h 773"/>
                <a:gd name="T12" fmla="*/ 776 w 1217"/>
                <a:gd name="T13" fmla="*/ 448 h 773"/>
                <a:gd name="T14" fmla="*/ 1213 w 1217"/>
                <a:gd name="T15" fmla="*/ 12 h 773"/>
                <a:gd name="T16" fmla="*/ 1213 w 1217"/>
                <a:gd name="T17" fmla="*/ 2 h 773"/>
                <a:gd name="T18" fmla="*/ 1204 w 1217"/>
                <a:gd name="T19" fmla="*/ 2 h 773"/>
                <a:gd name="T20" fmla="*/ 767 w 1217"/>
                <a:gd name="T21" fmla="*/ 439 h 773"/>
                <a:gd name="T22" fmla="*/ 500 w 1217"/>
                <a:gd name="T23" fmla="*/ 682 h 773"/>
                <a:gd name="T24" fmla="*/ 410 w 1217"/>
                <a:gd name="T25" fmla="*/ 740 h 773"/>
                <a:gd name="T26" fmla="*/ 332 w 1217"/>
                <a:gd name="T27" fmla="*/ 759 h 773"/>
                <a:gd name="T28" fmla="*/ 199 w 1217"/>
                <a:gd name="T29" fmla="*/ 712 h 773"/>
                <a:gd name="T30" fmla="*/ 12 w 1217"/>
                <a:gd name="T31" fmla="*/ 577 h 773"/>
                <a:gd name="T32" fmla="*/ 2 w 1217"/>
                <a:gd name="T33" fmla="*/ 578 h 773"/>
                <a:gd name="T34" fmla="*/ 4 w 1217"/>
                <a:gd name="T35" fmla="*/ 588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4" y="588"/>
                  </a:moveTo>
                  <a:cubicBezTo>
                    <a:pt x="81" y="647"/>
                    <a:pt x="141" y="692"/>
                    <a:pt x="193" y="724"/>
                  </a:cubicBezTo>
                  <a:cubicBezTo>
                    <a:pt x="244" y="755"/>
                    <a:pt x="288" y="772"/>
                    <a:pt x="332" y="772"/>
                  </a:cubicBezTo>
                  <a:cubicBezTo>
                    <a:pt x="359" y="772"/>
                    <a:pt x="386" y="765"/>
                    <a:pt x="415" y="752"/>
                  </a:cubicBezTo>
                  <a:cubicBezTo>
                    <a:pt x="458" y="733"/>
                    <a:pt x="505" y="698"/>
                    <a:pt x="563" y="648"/>
                  </a:cubicBezTo>
                  <a:cubicBezTo>
                    <a:pt x="620" y="597"/>
                    <a:pt x="689" y="531"/>
                    <a:pt x="776" y="448"/>
                  </a:cubicBezTo>
                  <a:lnTo>
                    <a:pt x="776" y="448"/>
                  </a:lnTo>
                  <a:lnTo>
                    <a:pt x="1213" y="12"/>
                  </a:lnTo>
                  <a:cubicBezTo>
                    <a:pt x="1216" y="9"/>
                    <a:pt x="1216" y="5"/>
                    <a:pt x="1213" y="2"/>
                  </a:cubicBezTo>
                  <a:cubicBezTo>
                    <a:pt x="1210" y="0"/>
                    <a:pt x="1206" y="0"/>
                    <a:pt x="1204" y="2"/>
                  </a:cubicBezTo>
                  <a:lnTo>
                    <a:pt x="767" y="439"/>
                  </a:lnTo>
                  <a:cubicBezTo>
                    <a:pt x="651" y="549"/>
                    <a:pt x="568" y="630"/>
                    <a:pt x="500" y="682"/>
                  </a:cubicBezTo>
                  <a:cubicBezTo>
                    <a:pt x="466" y="709"/>
                    <a:pt x="437" y="728"/>
                    <a:pt x="410" y="740"/>
                  </a:cubicBezTo>
                  <a:cubicBezTo>
                    <a:pt x="382" y="753"/>
                    <a:pt x="357" y="759"/>
                    <a:pt x="332" y="759"/>
                  </a:cubicBezTo>
                  <a:cubicBezTo>
                    <a:pt x="291" y="759"/>
                    <a:pt x="250" y="743"/>
                    <a:pt x="199" y="712"/>
                  </a:cubicBezTo>
                  <a:cubicBezTo>
                    <a:pt x="149" y="682"/>
                    <a:pt x="89" y="636"/>
                    <a:pt x="12" y="577"/>
                  </a:cubicBezTo>
                  <a:cubicBezTo>
                    <a:pt x="9" y="575"/>
                    <a:pt x="4" y="575"/>
                    <a:pt x="2" y="578"/>
                  </a:cubicBezTo>
                  <a:cubicBezTo>
                    <a:pt x="0" y="581"/>
                    <a:pt x="1" y="585"/>
                    <a:pt x="4" y="58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6" name="Freeform 6">
              <a:extLst>
                <a:ext uri="{FF2B5EF4-FFF2-40B4-BE49-F238E27FC236}">
                  <a16:creationId xmlns:a16="http://schemas.microsoft.com/office/drawing/2014/main" id="{4A2E4B78-1C39-A943-B2AE-B76B55EBA492}"/>
                </a:ext>
              </a:extLst>
            </p:cNvPr>
            <p:cNvSpPr>
              <a:spLocks noChangeArrowheads="1"/>
            </p:cNvSpPr>
            <p:nvPr/>
          </p:nvSpPr>
          <p:spPr bwMode="auto">
            <a:xfrm>
              <a:off x="1368170" y="664579"/>
              <a:ext cx="439737" cy="330350"/>
            </a:xfrm>
            <a:custGeom>
              <a:avLst/>
              <a:gdLst>
                <a:gd name="T0" fmla="*/ 2631 w 2657"/>
                <a:gd name="T1" fmla="*/ 532 h 1998"/>
                <a:gd name="T2" fmla="*/ 2130 w 2657"/>
                <a:gd name="T3" fmla="*/ 145 h 1998"/>
                <a:gd name="T4" fmla="*/ 1920 w 2657"/>
                <a:gd name="T5" fmla="*/ 38 h 1998"/>
                <a:gd name="T6" fmla="*/ 1715 w 2657"/>
                <a:gd name="T7" fmla="*/ 0 h 1998"/>
                <a:gd name="T8" fmla="*/ 1578 w 2657"/>
                <a:gd name="T9" fmla="*/ 19 h 1998"/>
                <a:gd name="T10" fmla="*/ 1370 w 2657"/>
                <a:gd name="T11" fmla="*/ 116 h 1998"/>
                <a:gd name="T12" fmla="*/ 1150 w 2657"/>
                <a:gd name="T13" fmla="*/ 295 h 1998"/>
                <a:gd name="T14" fmla="*/ 1150 w 2657"/>
                <a:gd name="T15" fmla="*/ 295 h 1998"/>
                <a:gd name="T16" fmla="*/ 16 w 2657"/>
                <a:gd name="T17" fmla="*/ 1368 h 1998"/>
                <a:gd name="T18" fmla="*/ 0 w 2657"/>
                <a:gd name="T19" fmla="*/ 1406 h 1998"/>
                <a:gd name="T20" fmla="*/ 16 w 2657"/>
                <a:gd name="T21" fmla="*/ 1444 h 1998"/>
                <a:gd name="T22" fmla="*/ 566 w 2657"/>
                <a:gd name="T23" fmla="*/ 1977 h 1998"/>
                <a:gd name="T24" fmla="*/ 640 w 2657"/>
                <a:gd name="T25" fmla="*/ 1976 h 1998"/>
                <a:gd name="T26" fmla="*/ 639 w 2657"/>
                <a:gd name="T27" fmla="*/ 1901 h 1998"/>
                <a:gd name="T28" fmla="*/ 129 w 2657"/>
                <a:gd name="T29" fmla="*/ 1406 h 1998"/>
                <a:gd name="T30" fmla="*/ 1223 w 2657"/>
                <a:gd name="T31" fmla="*/ 371 h 1998"/>
                <a:gd name="T32" fmla="*/ 1223 w 2657"/>
                <a:gd name="T33" fmla="*/ 371 h 1998"/>
                <a:gd name="T34" fmla="*/ 1489 w 2657"/>
                <a:gd name="T35" fmla="*/ 167 h 1998"/>
                <a:gd name="T36" fmla="*/ 1605 w 2657"/>
                <a:gd name="T37" fmla="*/ 121 h 1998"/>
                <a:gd name="T38" fmla="*/ 1715 w 2657"/>
                <a:gd name="T39" fmla="*/ 106 h 1998"/>
                <a:gd name="T40" fmla="*/ 1884 w 2657"/>
                <a:gd name="T41" fmla="*/ 138 h 1998"/>
                <a:gd name="T42" fmla="*/ 2181 w 2657"/>
                <a:gd name="T43" fmla="*/ 306 h 1998"/>
                <a:gd name="T44" fmla="*/ 2562 w 2657"/>
                <a:gd name="T45" fmla="*/ 612 h 1998"/>
                <a:gd name="T46" fmla="*/ 2637 w 2657"/>
                <a:gd name="T47" fmla="*/ 606 h 1998"/>
                <a:gd name="T48" fmla="*/ 2631 w 2657"/>
                <a:gd name="T49" fmla="*/ 532 h 1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57" h="1998">
                  <a:moveTo>
                    <a:pt x="2631" y="532"/>
                  </a:moveTo>
                  <a:cubicBezTo>
                    <a:pt x="2437" y="367"/>
                    <a:pt x="2276" y="237"/>
                    <a:pt x="2130" y="145"/>
                  </a:cubicBezTo>
                  <a:cubicBezTo>
                    <a:pt x="2058" y="99"/>
                    <a:pt x="1988" y="63"/>
                    <a:pt x="1920" y="38"/>
                  </a:cubicBezTo>
                  <a:cubicBezTo>
                    <a:pt x="1851" y="14"/>
                    <a:pt x="1783" y="0"/>
                    <a:pt x="1715" y="0"/>
                  </a:cubicBezTo>
                  <a:cubicBezTo>
                    <a:pt x="1669" y="0"/>
                    <a:pt x="1623" y="6"/>
                    <a:pt x="1578" y="19"/>
                  </a:cubicBezTo>
                  <a:cubicBezTo>
                    <a:pt x="1509" y="37"/>
                    <a:pt x="1440" y="70"/>
                    <a:pt x="1370" y="116"/>
                  </a:cubicBezTo>
                  <a:cubicBezTo>
                    <a:pt x="1299" y="162"/>
                    <a:pt x="1227" y="221"/>
                    <a:pt x="1150" y="295"/>
                  </a:cubicBezTo>
                  <a:lnTo>
                    <a:pt x="1150" y="295"/>
                  </a:lnTo>
                  <a:lnTo>
                    <a:pt x="16" y="1368"/>
                  </a:lnTo>
                  <a:cubicBezTo>
                    <a:pt x="6" y="1378"/>
                    <a:pt x="0" y="1391"/>
                    <a:pt x="0" y="1406"/>
                  </a:cubicBezTo>
                  <a:cubicBezTo>
                    <a:pt x="0" y="1420"/>
                    <a:pt x="6" y="1434"/>
                    <a:pt x="16" y="1444"/>
                  </a:cubicBezTo>
                  <a:lnTo>
                    <a:pt x="566" y="1977"/>
                  </a:lnTo>
                  <a:cubicBezTo>
                    <a:pt x="587" y="1997"/>
                    <a:pt x="619" y="1997"/>
                    <a:pt x="640" y="1976"/>
                  </a:cubicBezTo>
                  <a:cubicBezTo>
                    <a:pt x="660" y="1955"/>
                    <a:pt x="660" y="1921"/>
                    <a:pt x="639" y="1901"/>
                  </a:cubicBezTo>
                  <a:lnTo>
                    <a:pt x="129" y="1406"/>
                  </a:lnTo>
                  <a:lnTo>
                    <a:pt x="1223" y="371"/>
                  </a:lnTo>
                  <a:lnTo>
                    <a:pt x="1223" y="371"/>
                  </a:lnTo>
                  <a:cubicBezTo>
                    <a:pt x="1321" y="277"/>
                    <a:pt x="1409" y="210"/>
                    <a:pt x="1489" y="167"/>
                  </a:cubicBezTo>
                  <a:cubicBezTo>
                    <a:pt x="1529" y="146"/>
                    <a:pt x="1568" y="131"/>
                    <a:pt x="1605" y="121"/>
                  </a:cubicBezTo>
                  <a:cubicBezTo>
                    <a:pt x="1642" y="111"/>
                    <a:pt x="1679" y="106"/>
                    <a:pt x="1715" y="106"/>
                  </a:cubicBezTo>
                  <a:cubicBezTo>
                    <a:pt x="1770" y="106"/>
                    <a:pt x="1825" y="116"/>
                    <a:pt x="1884" y="138"/>
                  </a:cubicBezTo>
                  <a:cubicBezTo>
                    <a:pt x="1972" y="170"/>
                    <a:pt x="2070" y="226"/>
                    <a:pt x="2181" y="306"/>
                  </a:cubicBezTo>
                  <a:cubicBezTo>
                    <a:pt x="2293" y="387"/>
                    <a:pt x="2418" y="490"/>
                    <a:pt x="2562" y="612"/>
                  </a:cubicBezTo>
                  <a:cubicBezTo>
                    <a:pt x="2585" y="631"/>
                    <a:pt x="2618" y="628"/>
                    <a:pt x="2637" y="606"/>
                  </a:cubicBezTo>
                  <a:cubicBezTo>
                    <a:pt x="2656" y="584"/>
                    <a:pt x="2653" y="551"/>
                    <a:pt x="2631" y="532"/>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7" name="Freeform 7">
              <a:extLst>
                <a:ext uri="{FF2B5EF4-FFF2-40B4-BE49-F238E27FC236}">
                  <a16:creationId xmlns:a16="http://schemas.microsoft.com/office/drawing/2014/main" id="{E34B0E8F-7C29-3241-8B05-8DB5DF4ED827}"/>
                </a:ext>
              </a:extLst>
            </p:cNvPr>
            <p:cNvSpPr>
              <a:spLocks noChangeArrowheads="1"/>
            </p:cNvSpPr>
            <p:nvPr/>
          </p:nvSpPr>
          <p:spPr bwMode="auto">
            <a:xfrm>
              <a:off x="1419946" y="709792"/>
              <a:ext cx="356603" cy="190334"/>
            </a:xfrm>
            <a:custGeom>
              <a:avLst/>
              <a:gdLst>
                <a:gd name="T0" fmla="*/ 2142 w 2158"/>
                <a:gd name="T1" fmla="*/ 438 h 1152"/>
                <a:gd name="T2" fmla="*/ 1725 w 2158"/>
                <a:gd name="T3" fmla="*/ 118 h 1152"/>
                <a:gd name="T4" fmla="*/ 1552 w 2158"/>
                <a:gd name="T5" fmla="*/ 31 h 1152"/>
                <a:gd name="T6" fmla="*/ 1386 w 2158"/>
                <a:gd name="T7" fmla="*/ 0 h 1152"/>
                <a:gd name="T8" fmla="*/ 1261 w 2158"/>
                <a:gd name="T9" fmla="*/ 19 h 1152"/>
                <a:gd name="T10" fmla="*/ 1068 w 2158"/>
                <a:gd name="T11" fmla="*/ 115 h 1152"/>
                <a:gd name="T12" fmla="*/ 852 w 2158"/>
                <a:gd name="T13" fmla="*/ 295 h 1152"/>
                <a:gd name="T14" fmla="*/ 852 w 2158"/>
                <a:gd name="T15" fmla="*/ 295 h 1152"/>
                <a:gd name="T16" fmla="*/ 13 w 2158"/>
                <a:gd name="T17" fmla="*/ 1094 h 1152"/>
                <a:gd name="T18" fmla="*/ 12 w 2158"/>
                <a:gd name="T19" fmla="*/ 1138 h 1152"/>
                <a:gd name="T20" fmla="*/ 56 w 2158"/>
                <a:gd name="T21" fmla="*/ 1139 h 1152"/>
                <a:gd name="T22" fmla="*/ 895 w 2158"/>
                <a:gd name="T23" fmla="*/ 340 h 1152"/>
                <a:gd name="T24" fmla="*/ 895 w 2158"/>
                <a:gd name="T25" fmla="*/ 340 h 1152"/>
                <a:gd name="T26" fmla="*/ 1164 w 2158"/>
                <a:gd name="T27" fmla="*/ 128 h 1152"/>
                <a:gd name="T28" fmla="*/ 1279 w 2158"/>
                <a:gd name="T29" fmla="*/ 79 h 1152"/>
                <a:gd name="T30" fmla="*/ 1386 w 2158"/>
                <a:gd name="T31" fmla="*/ 63 h 1152"/>
                <a:gd name="T32" fmla="*/ 1531 w 2158"/>
                <a:gd name="T33" fmla="*/ 90 h 1152"/>
                <a:gd name="T34" fmla="*/ 1781 w 2158"/>
                <a:gd name="T35" fmla="*/ 231 h 1152"/>
                <a:gd name="T36" fmla="*/ 2102 w 2158"/>
                <a:gd name="T37" fmla="*/ 486 h 1152"/>
                <a:gd name="T38" fmla="*/ 2146 w 2158"/>
                <a:gd name="T39" fmla="*/ 482 h 1152"/>
                <a:gd name="T40" fmla="*/ 2142 w 2158"/>
                <a:gd name="T41" fmla="*/ 438 h 1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58" h="1152">
                  <a:moveTo>
                    <a:pt x="2142" y="438"/>
                  </a:moveTo>
                  <a:cubicBezTo>
                    <a:pt x="1978" y="301"/>
                    <a:pt x="1845" y="193"/>
                    <a:pt x="1725" y="118"/>
                  </a:cubicBezTo>
                  <a:cubicBezTo>
                    <a:pt x="1664" y="80"/>
                    <a:pt x="1608" y="51"/>
                    <a:pt x="1552" y="31"/>
                  </a:cubicBezTo>
                  <a:cubicBezTo>
                    <a:pt x="1496" y="11"/>
                    <a:pt x="1441" y="0"/>
                    <a:pt x="1386" y="0"/>
                  </a:cubicBezTo>
                  <a:cubicBezTo>
                    <a:pt x="1344" y="0"/>
                    <a:pt x="1303" y="6"/>
                    <a:pt x="1261" y="19"/>
                  </a:cubicBezTo>
                  <a:cubicBezTo>
                    <a:pt x="1198" y="37"/>
                    <a:pt x="1135" y="69"/>
                    <a:pt x="1068" y="115"/>
                  </a:cubicBezTo>
                  <a:cubicBezTo>
                    <a:pt x="1000" y="161"/>
                    <a:pt x="930" y="220"/>
                    <a:pt x="852" y="295"/>
                  </a:cubicBezTo>
                  <a:lnTo>
                    <a:pt x="852" y="295"/>
                  </a:lnTo>
                  <a:lnTo>
                    <a:pt x="13" y="1094"/>
                  </a:lnTo>
                  <a:cubicBezTo>
                    <a:pt x="1" y="1106"/>
                    <a:pt x="0" y="1126"/>
                    <a:pt x="12" y="1138"/>
                  </a:cubicBezTo>
                  <a:cubicBezTo>
                    <a:pt x="24" y="1151"/>
                    <a:pt x="44" y="1151"/>
                    <a:pt x="56" y="1139"/>
                  </a:cubicBezTo>
                  <a:lnTo>
                    <a:pt x="895" y="340"/>
                  </a:lnTo>
                  <a:lnTo>
                    <a:pt x="895" y="340"/>
                  </a:lnTo>
                  <a:cubicBezTo>
                    <a:pt x="997" y="243"/>
                    <a:pt x="1085" y="173"/>
                    <a:pt x="1164" y="128"/>
                  </a:cubicBezTo>
                  <a:cubicBezTo>
                    <a:pt x="1204" y="106"/>
                    <a:pt x="1242" y="89"/>
                    <a:pt x="1279" y="79"/>
                  </a:cubicBezTo>
                  <a:cubicBezTo>
                    <a:pt x="1315" y="68"/>
                    <a:pt x="1351" y="63"/>
                    <a:pt x="1386" y="63"/>
                  </a:cubicBezTo>
                  <a:cubicBezTo>
                    <a:pt x="1433" y="63"/>
                    <a:pt x="1480" y="72"/>
                    <a:pt x="1531" y="90"/>
                  </a:cubicBezTo>
                  <a:cubicBezTo>
                    <a:pt x="1606" y="117"/>
                    <a:pt x="1688" y="164"/>
                    <a:pt x="1781" y="231"/>
                  </a:cubicBezTo>
                  <a:cubicBezTo>
                    <a:pt x="1874" y="298"/>
                    <a:pt x="1979" y="384"/>
                    <a:pt x="2102" y="486"/>
                  </a:cubicBezTo>
                  <a:cubicBezTo>
                    <a:pt x="2115" y="497"/>
                    <a:pt x="2135" y="495"/>
                    <a:pt x="2146" y="482"/>
                  </a:cubicBezTo>
                  <a:cubicBezTo>
                    <a:pt x="2157" y="469"/>
                    <a:pt x="2155" y="449"/>
                    <a:pt x="2142" y="43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8" name="Freeform 8">
              <a:extLst>
                <a:ext uri="{FF2B5EF4-FFF2-40B4-BE49-F238E27FC236}">
                  <a16:creationId xmlns:a16="http://schemas.microsoft.com/office/drawing/2014/main" id="{08D4B6E4-213B-E84A-9B55-3121DC89C5CA}"/>
                </a:ext>
              </a:extLst>
            </p:cNvPr>
            <p:cNvSpPr>
              <a:spLocks noChangeArrowheads="1"/>
            </p:cNvSpPr>
            <p:nvPr/>
          </p:nvSpPr>
          <p:spPr bwMode="auto">
            <a:xfrm>
              <a:off x="1444012" y="752818"/>
              <a:ext cx="304826" cy="169186"/>
            </a:xfrm>
            <a:custGeom>
              <a:avLst/>
              <a:gdLst>
                <a:gd name="T0" fmla="*/ 1832 w 1844"/>
                <a:gd name="T1" fmla="*/ 349 h 1021"/>
                <a:gd name="T2" fmla="*/ 1494 w 1844"/>
                <a:gd name="T3" fmla="*/ 93 h 1021"/>
                <a:gd name="T4" fmla="*/ 1356 w 1844"/>
                <a:gd name="T5" fmla="*/ 24 h 1021"/>
                <a:gd name="T6" fmla="*/ 1224 w 1844"/>
                <a:gd name="T7" fmla="*/ 0 h 1021"/>
                <a:gd name="T8" fmla="*/ 1110 w 1844"/>
                <a:gd name="T9" fmla="*/ 18 h 1021"/>
                <a:gd name="T10" fmla="*/ 929 w 1844"/>
                <a:gd name="T11" fmla="*/ 116 h 1021"/>
                <a:gd name="T12" fmla="*/ 715 w 1844"/>
                <a:gd name="T13" fmla="*/ 301 h 1021"/>
                <a:gd name="T14" fmla="*/ 714 w 1844"/>
                <a:gd name="T15" fmla="*/ 301 h 1021"/>
                <a:gd name="T16" fmla="*/ 10 w 1844"/>
                <a:gd name="T17" fmla="*/ 978 h 1021"/>
                <a:gd name="T18" fmla="*/ 9 w 1844"/>
                <a:gd name="T19" fmla="*/ 1011 h 1021"/>
                <a:gd name="T20" fmla="*/ 42 w 1844"/>
                <a:gd name="T21" fmla="*/ 1012 h 1021"/>
                <a:gd name="T22" fmla="*/ 746 w 1844"/>
                <a:gd name="T23" fmla="*/ 334 h 1021"/>
                <a:gd name="T24" fmla="*/ 746 w 1844"/>
                <a:gd name="T25" fmla="*/ 334 h 1021"/>
                <a:gd name="T26" fmla="*/ 1016 w 1844"/>
                <a:gd name="T27" fmla="*/ 114 h 1021"/>
                <a:gd name="T28" fmla="*/ 1124 w 1844"/>
                <a:gd name="T29" fmla="*/ 62 h 1021"/>
                <a:gd name="T30" fmla="*/ 1224 w 1844"/>
                <a:gd name="T31" fmla="*/ 46 h 1021"/>
                <a:gd name="T32" fmla="*/ 1340 w 1844"/>
                <a:gd name="T33" fmla="*/ 67 h 1021"/>
                <a:gd name="T34" fmla="*/ 1542 w 1844"/>
                <a:gd name="T35" fmla="*/ 180 h 1021"/>
                <a:gd name="T36" fmla="*/ 1803 w 1844"/>
                <a:gd name="T37" fmla="*/ 385 h 1021"/>
                <a:gd name="T38" fmla="*/ 1835 w 1844"/>
                <a:gd name="T39" fmla="*/ 381 h 1021"/>
                <a:gd name="T40" fmla="*/ 1832 w 1844"/>
                <a:gd name="T41" fmla="*/ 349 h 10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844" h="1021">
                  <a:moveTo>
                    <a:pt x="1832" y="349"/>
                  </a:moveTo>
                  <a:cubicBezTo>
                    <a:pt x="1698" y="239"/>
                    <a:pt x="1590" y="153"/>
                    <a:pt x="1494" y="93"/>
                  </a:cubicBezTo>
                  <a:cubicBezTo>
                    <a:pt x="1446" y="63"/>
                    <a:pt x="1400" y="40"/>
                    <a:pt x="1356" y="24"/>
                  </a:cubicBezTo>
                  <a:cubicBezTo>
                    <a:pt x="1311" y="8"/>
                    <a:pt x="1268" y="0"/>
                    <a:pt x="1224" y="0"/>
                  </a:cubicBezTo>
                  <a:cubicBezTo>
                    <a:pt x="1186" y="0"/>
                    <a:pt x="1148" y="6"/>
                    <a:pt x="1110" y="18"/>
                  </a:cubicBezTo>
                  <a:cubicBezTo>
                    <a:pt x="1052" y="37"/>
                    <a:pt x="993" y="69"/>
                    <a:pt x="929" y="116"/>
                  </a:cubicBezTo>
                  <a:cubicBezTo>
                    <a:pt x="864" y="163"/>
                    <a:pt x="794" y="224"/>
                    <a:pt x="715" y="301"/>
                  </a:cubicBezTo>
                  <a:lnTo>
                    <a:pt x="714" y="301"/>
                  </a:lnTo>
                  <a:lnTo>
                    <a:pt x="10" y="978"/>
                  </a:lnTo>
                  <a:cubicBezTo>
                    <a:pt x="1" y="987"/>
                    <a:pt x="0" y="1002"/>
                    <a:pt x="9" y="1011"/>
                  </a:cubicBezTo>
                  <a:cubicBezTo>
                    <a:pt x="18" y="1020"/>
                    <a:pt x="33" y="1020"/>
                    <a:pt x="42" y="1012"/>
                  </a:cubicBezTo>
                  <a:lnTo>
                    <a:pt x="746" y="334"/>
                  </a:lnTo>
                  <a:lnTo>
                    <a:pt x="746" y="334"/>
                  </a:lnTo>
                  <a:cubicBezTo>
                    <a:pt x="851" y="233"/>
                    <a:pt x="939" y="160"/>
                    <a:pt x="1016" y="114"/>
                  </a:cubicBezTo>
                  <a:cubicBezTo>
                    <a:pt x="1054" y="90"/>
                    <a:pt x="1090" y="73"/>
                    <a:pt x="1124" y="62"/>
                  </a:cubicBezTo>
                  <a:cubicBezTo>
                    <a:pt x="1159" y="51"/>
                    <a:pt x="1191" y="46"/>
                    <a:pt x="1224" y="46"/>
                  </a:cubicBezTo>
                  <a:cubicBezTo>
                    <a:pt x="1262" y="46"/>
                    <a:pt x="1300" y="53"/>
                    <a:pt x="1340" y="67"/>
                  </a:cubicBezTo>
                  <a:cubicBezTo>
                    <a:pt x="1401" y="89"/>
                    <a:pt x="1466" y="127"/>
                    <a:pt x="1542" y="180"/>
                  </a:cubicBezTo>
                  <a:cubicBezTo>
                    <a:pt x="1617" y="234"/>
                    <a:pt x="1702" y="303"/>
                    <a:pt x="1803" y="385"/>
                  </a:cubicBezTo>
                  <a:cubicBezTo>
                    <a:pt x="1813" y="393"/>
                    <a:pt x="1827" y="391"/>
                    <a:pt x="1835" y="381"/>
                  </a:cubicBezTo>
                  <a:cubicBezTo>
                    <a:pt x="1843" y="372"/>
                    <a:pt x="1842" y="357"/>
                    <a:pt x="1832" y="349"/>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49" name="Freeform 9">
              <a:extLst>
                <a:ext uri="{FF2B5EF4-FFF2-40B4-BE49-F238E27FC236}">
                  <a16:creationId xmlns:a16="http://schemas.microsoft.com/office/drawing/2014/main" id="{3073A429-8658-EC43-92EE-0AD58A5391AE}"/>
                </a:ext>
              </a:extLst>
            </p:cNvPr>
            <p:cNvSpPr>
              <a:spLocks noChangeArrowheads="1"/>
            </p:cNvSpPr>
            <p:nvPr/>
          </p:nvSpPr>
          <p:spPr bwMode="auto">
            <a:xfrm>
              <a:off x="1467348" y="795114"/>
              <a:ext cx="253049" cy="148038"/>
            </a:xfrm>
            <a:custGeom>
              <a:avLst/>
              <a:gdLst>
                <a:gd name="T0" fmla="*/ 1522 w 1530"/>
                <a:gd name="T1" fmla="*/ 264 h 895"/>
                <a:gd name="T2" fmla="*/ 1260 w 1530"/>
                <a:gd name="T3" fmla="*/ 70 h 895"/>
                <a:gd name="T4" fmla="*/ 1156 w 1530"/>
                <a:gd name="T5" fmla="*/ 18 h 895"/>
                <a:gd name="T6" fmla="*/ 1057 w 1530"/>
                <a:gd name="T7" fmla="*/ 0 h 895"/>
                <a:gd name="T8" fmla="*/ 957 w 1530"/>
                <a:gd name="T9" fmla="*/ 19 h 895"/>
                <a:gd name="T10" fmla="*/ 791 w 1530"/>
                <a:gd name="T11" fmla="*/ 119 h 895"/>
                <a:gd name="T12" fmla="*/ 577 w 1530"/>
                <a:gd name="T13" fmla="*/ 310 h 895"/>
                <a:gd name="T14" fmla="*/ 577 w 1530"/>
                <a:gd name="T15" fmla="*/ 310 h 895"/>
                <a:gd name="T16" fmla="*/ 6 w 1530"/>
                <a:gd name="T17" fmla="*/ 867 h 895"/>
                <a:gd name="T18" fmla="*/ 6 w 1530"/>
                <a:gd name="T19" fmla="*/ 888 h 895"/>
                <a:gd name="T20" fmla="*/ 27 w 1530"/>
                <a:gd name="T21" fmla="*/ 888 h 895"/>
                <a:gd name="T22" fmla="*/ 598 w 1530"/>
                <a:gd name="T23" fmla="*/ 331 h 895"/>
                <a:gd name="T24" fmla="*/ 598 w 1530"/>
                <a:gd name="T25" fmla="*/ 331 h 895"/>
                <a:gd name="T26" fmla="*/ 866 w 1530"/>
                <a:gd name="T27" fmla="*/ 101 h 895"/>
                <a:gd name="T28" fmla="*/ 968 w 1530"/>
                <a:gd name="T29" fmla="*/ 47 h 895"/>
                <a:gd name="T30" fmla="*/ 1057 w 1530"/>
                <a:gd name="T31" fmla="*/ 29 h 895"/>
                <a:gd name="T32" fmla="*/ 1146 w 1530"/>
                <a:gd name="T33" fmla="*/ 46 h 895"/>
                <a:gd name="T34" fmla="*/ 1300 w 1530"/>
                <a:gd name="T35" fmla="*/ 132 h 895"/>
                <a:gd name="T36" fmla="*/ 1504 w 1530"/>
                <a:gd name="T37" fmla="*/ 287 h 895"/>
                <a:gd name="T38" fmla="*/ 1524 w 1530"/>
                <a:gd name="T39" fmla="*/ 285 h 895"/>
                <a:gd name="T40" fmla="*/ 1522 w 1530"/>
                <a:gd name="T41" fmla="*/ 264 h 8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30" h="895">
                  <a:moveTo>
                    <a:pt x="1522" y="264"/>
                  </a:moveTo>
                  <a:cubicBezTo>
                    <a:pt x="1417" y="180"/>
                    <a:pt x="1334" y="115"/>
                    <a:pt x="1260" y="70"/>
                  </a:cubicBezTo>
                  <a:cubicBezTo>
                    <a:pt x="1224" y="47"/>
                    <a:pt x="1189" y="30"/>
                    <a:pt x="1156" y="18"/>
                  </a:cubicBezTo>
                  <a:cubicBezTo>
                    <a:pt x="1123" y="6"/>
                    <a:pt x="1090" y="0"/>
                    <a:pt x="1057" y="0"/>
                  </a:cubicBezTo>
                  <a:cubicBezTo>
                    <a:pt x="1024" y="0"/>
                    <a:pt x="991" y="6"/>
                    <a:pt x="957" y="19"/>
                  </a:cubicBezTo>
                  <a:cubicBezTo>
                    <a:pt x="906" y="38"/>
                    <a:pt x="852" y="71"/>
                    <a:pt x="791" y="119"/>
                  </a:cubicBezTo>
                  <a:cubicBezTo>
                    <a:pt x="729" y="167"/>
                    <a:pt x="660" y="231"/>
                    <a:pt x="577" y="310"/>
                  </a:cubicBezTo>
                  <a:lnTo>
                    <a:pt x="577" y="310"/>
                  </a:lnTo>
                  <a:lnTo>
                    <a:pt x="6" y="867"/>
                  </a:lnTo>
                  <a:cubicBezTo>
                    <a:pt x="0" y="873"/>
                    <a:pt x="0" y="882"/>
                    <a:pt x="6" y="888"/>
                  </a:cubicBezTo>
                  <a:cubicBezTo>
                    <a:pt x="12" y="894"/>
                    <a:pt x="21" y="894"/>
                    <a:pt x="27" y="888"/>
                  </a:cubicBezTo>
                  <a:lnTo>
                    <a:pt x="598" y="331"/>
                  </a:lnTo>
                  <a:lnTo>
                    <a:pt x="598" y="331"/>
                  </a:lnTo>
                  <a:cubicBezTo>
                    <a:pt x="707" y="226"/>
                    <a:pt x="793" y="150"/>
                    <a:pt x="866" y="101"/>
                  </a:cubicBezTo>
                  <a:cubicBezTo>
                    <a:pt x="903" y="76"/>
                    <a:pt x="936" y="58"/>
                    <a:pt x="968" y="47"/>
                  </a:cubicBezTo>
                  <a:cubicBezTo>
                    <a:pt x="999" y="35"/>
                    <a:pt x="1028" y="29"/>
                    <a:pt x="1057" y="29"/>
                  </a:cubicBezTo>
                  <a:cubicBezTo>
                    <a:pt x="1086" y="29"/>
                    <a:pt x="1115" y="35"/>
                    <a:pt x="1146" y="46"/>
                  </a:cubicBezTo>
                  <a:cubicBezTo>
                    <a:pt x="1192" y="62"/>
                    <a:pt x="1242" y="91"/>
                    <a:pt x="1300" y="132"/>
                  </a:cubicBezTo>
                  <a:cubicBezTo>
                    <a:pt x="1359" y="172"/>
                    <a:pt x="1425" y="225"/>
                    <a:pt x="1504" y="287"/>
                  </a:cubicBezTo>
                  <a:cubicBezTo>
                    <a:pt x="1510" y="292"/>
                    <a:pt x="1518" y="291"/>
                    <a:pt x="1524" y="285"/>
                  </a:cubicBezTo>
                  <a:cubicBezTo>
                    <a:pt x="1529" y="279"/>
                    <a:pt x="1528" y="269"/>
                    <a:pt x="1522" y="26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0" name="Freeform 10">
              <a:extLst>
                <a:ext uri="{FF2B5EF4-FFF2-40B4-BE49-F238E27FC236}">
                  <a16:creationId xmlns:a16="http://schemas.microsoft.com/office/drawing/2014/main" id="{7B9CB57C-5EF1-7045-A70B-14CD6B5A98B9}"/>
                </a:ext>
              </a:extLst>
            </p:cNvPr>
            <p:cNvSpPr>
              <a:spLocks noChangeArrowheads="1"/>
            </p:cNvSpPr>
            <p:nvPr/>
          </p:nvSpPr>
          <p:spPr bwMode="auto">
            <a:xfrm>
              <a:off x="1491413" y="835952"/>
              <a:ext cx="201273" cy="127619"/>
            </a:xfrm>
            <a:custGeom>
              <a:avLst/>
              <a:gdLst>
                <a:gd name="T0" fmla="*/ 1212 w 1217"/>
                <a:gd name="T1" fmla="*/ 184 h 773"/>
                <a:gd name="T2" fmla="*/ 1023 w 1217"/>
                <a:gd name="T3" fmla="*/ 48 h 773"/>
                <a:gd name="T4" fmla="*/ 884 w 1217"/>
                <a:gd name="T5" fmla="*/ 0 h 773"/>
                <a:gd name="T6" fmla="*/ 801 w 1217"/>
                <a:gd name="T7" fmla="*/ 20 h 773"/>
                <a:gd name="T8" fmla="*/ 653 w 1217"/>
                <a:gd name="T9" fmla="*/ 124 h 773"/>
                <a:gd name="T10" fmla="*/ 440 w 1217"/>
                <a:gd name="T11" fmla="*/ 324 h 773"/>
                <a:gd name="T12" fmla="*/ 440 w 1217"/>
                <a:gd name="T13" fmla="*/ 324 h 773"/>
                <a:gd name="T14" fmla="*/ 3 w 1217"/>
                <a:gd name="T15" fmla="*/ 760 h 773"/>
                <a:gd name="T16" fmla="*/ 3 w 1217"/>
                <a:gd name="T17" fmla="*/ 770 h 773"/>
                <a:gd name="T18" fmla="*/ 12 w 1217"/>
                <a:gd name="T19" fmla="*/ 770 h 773"/>
                <a:gd name="T20" fmla="*/ 449 w 1217"/>
                <a:gd name="T21" fmla="*/ 333 h 773"/>
                <a:gd name="T22" fmla="*/ 716 w 1217"/>
                <a:gd name="T23" fmla="*/ 90 h 773"/>
                <a:gd name="T24" fmla="*/ 806 w 1217"/>
                <a:gd name="T25" fmla="*/ 32 h 773"/>
                <a:gd name="T26" fmla="*/ 884 w 1217"/>
                <a:gd name="T27" fmla="*/ 13 h 773"/>
                <a:gd name="T28" fmla="*/ 1016 w 1217"/>
                <a:gd name="T29" fmla="*/ 60 h 773"/>
                <a:gd name="T30" fmla="*/ 1204 w 1217"/>
                <a:gd name="T31" fmla="*/ 195 h 773"/>
                <a:gd name="T32" fmla="*/ 1214 w 1217"/>
                <a:gd name="T33" fmla="*/ 194 h 773"/>
                <a:gd name="T34" fmla="*/ 1212 w 1217"/>
                <a:gd name="T35" fmla="*/ 184 h 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17" h="773">
                  <a:moveTo>
                    <a:pt x="1212" y="184"/>
                  </a:moveTo>
                  <a:cubicBezTo>
                    <a:pt x="1135" y="125"/>
                    <a:pt x="1075" y="80"/>
                    <a:pt x="1023" y="48"/>
                  </a:cubicBezTo>
                  <a:cubicBezTo>
                    <a:pt x="971" y="17"/>
                    <a:pt x="928" y="0"/>
                    <a:pt x="884" y="0"/>
                  </a:cubicBezTo>
                  <a:cubicBezTo>
                    <a:pt x="856" y="0"/>
                    <a:pt x="829" y="7"/>
                    <a:pt x="801" y="20"/>
                  </a:cubicBezTo>
                  <a:cubicBezTo>
                    <a:pt x="758" y="39"/>
                    <a:pt x="711" y="74"/>
                    <a:pt x="653" y="124"/>
                  </a:cubicBezTo>
                  <a:cubicBezTo>
                    <a:pt x="595" y="175"/>
                    <a:pt x="527" y="241"/>
                    <a:pt x="440" y="324"/>
                  </a:cubicBezTo>
                  <a:lnTo>
                    <a:pt x="440" y="324"/>
                  </a:lnTo>
                  <a:lnTo>
                    <a:pt x="3" y="760"/>
                  </a:lnTo>
                  <a:cubicBezTo>
                    <a:pt x="0" y="763"/>
                    <a:pt x="0" y="767"/>
                    <a:pt x="3" y="770"/>
                  </a:cubicBezTo>
                  <a:cubicBezTo>
                    <a:pt x="5" y="772"/>
                    <a:pt x="10" y="772"/>
                    <a:pt x="12" y="770"/>
                  </a:cubicBezTo>
                  <a:lnTo>
                    <a:pt x="449" y="333"/>
                  </a:lnTo>
                  <a:cubicBezTo>
                    <a:pt x="565" y="223"/>
                    <a:pt x="648" y="142"/>
                    <a:pt x="716" y="90"/>
                  </a:cubicBezTo>
                  <a:cubicBezTo>
                    <a:pt x="749" y="63"/>
                    <a:pt x="778" y="44"/>
                    <a:pt x="806" y="32"/>
                  </a:cubicBezTo>
                  <a:cubicBezTo>
                    <a:pt x="833" y="19"/>
                    <a:pt x="859" y="13"/>
                    <a:pt x="884" y="13"/>
                  </a:cubicBezTo>
                  <a:cubicBezTo>
                    <a:pt x="924" y="13"/>
                    <a:pt x="966" y="29"/>
                    <a:pt x="1016" y="60"/>
                  </a:cubicBezTo>
                  <a:cubicBezTo>
                    <a:pt x="1067" y="90"/>
                    <a:pt x="1127" y="136"/>
                    <a:pt x="1204" y="195"/>
                  </a:cubicBezTo>
                  <a:cubicBezTo>
                    <a:pt x="1207" y="197"/>
                    <a:pt x="1211" y="197"/>
                    <a:pt x="1214" y="194"/>
                  </a:cubicBezTo>
                  <a:cubicBezTo>
                    <a:pt x="1216" y="191"/>
                    <a:pt x="1215" y="187"/>
                    <a:pt x="1212" y="184"/>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51" name="Freeform 11">
              <a:extLst>
                <a:ext uri="{FF2B5EF4-FFF2-40B4-BE49-F238E27FC236}">
                  <a16:creationId xmlns:a16="http://schemas.microsoft.com/office/drawing/2014/main" id="{9187B6AA-F9BB-264E-BDCA-C7E0AC3A676B}"/>
                </a:ext>
              </a:extLst>
            </p:cNvPr>
            <p:cNvSpPr>
              <a:spLocks noChangeArrowheads="1"/>
            </p:cNvSpPr>
            <p:nvPr/>
          </p:nvSpPr>
          <p:spPr bwMode="auto">
            <a:xfrm>
              <a:off x="1608093" y="858559"/>
              <a:ext cx="72925" cy="48130"/>
            </a:xfrm>
            <a:custGeom>
              <a:avLst/>
              <a:gdLst>
                <a:gd name="T0" fmla="*/ 49 w 442"/>
                <a:gd name="T1" fmla="*/ 200 h 293"/>
                <a:gd name="T2" fmla="*/ 0 w 442"/>
                <a:gd name="T3" fmla="*/ 156 h 293"/>
                <a:gd name="T4" fmla="*/ 45 w 442"/>
                <a:gd name="T5" fmla="*/ 107 h 293"/>
                <a:gd name="T6" fmla="*/ 392 w 442"/>
                <a:gd name="T7" fmla="*/ 91 h 293"/>
                <a:gd name="T8" fmla="*/ 441 w 442"/>
                <a:gd name="T9" fmla="*/ 137 h 293"/>
                <a:gd name="T10" fmla="*/ 396 w 442"/>
                <a:gd name="T11" fmla="*/ 185 h 293"/>
                <a:gd name="T12" fmla="*/ 49 w 442"/>
                <a:gd name="T13" fmla="*/ 200 h 293"/>
              </a:gdLst>
              <a:ahLst/>
              <a:cxnLst>
                <a:cxn ang="0">
                  <a:pos x="T0" y="T1"/>
                </a:cxn>
                <a:cxn ang="0">
                  <a:pos x="T2" y="T3"/>
                </a:cxn>
                <a:cxn ang="0">
                  <a:pos x="T4" y="T5"/>
                </a:cxn>
                <a:cxn ang="0">
                  <a:pos x="T6" y="T7"/>
                </a:cxn>
                <a:cxn ang="0">
                  <a:pos x="T8" y="T9"/>
                </a:cxn>
                <a:cxn ang="0">
                  <a:pos x="T10" y="T11"/>
                </a:cxn>
                <a:cxn ang="0">
                  <a:pos x="T12" y="T13"/>
                </a:cxn>
              </a:cxnLst>
              <a:rect l="0" t="0" r="r" b="b"/>
              <a:pathLst>
                <a:path w="442" h="293">
                  <a:moveTo>
                    <a:pt x="49" y="200"/>
                  </a:moveTo>
                  <a:lnTo>
                    <a:pt x="0" y="156"/>
                  </a:lnTo>
                  <a:lnTo>
                    <a:pt x="45" y="107"/>
                  </a:lnTo>
                  <a:cubicBezTo>
                    <a:pt x="136" y="7"/>
                    <a:pt x="292" y="0"/>
                    <a:pt x="392" y="91"/>
                  </a:cubicBezTo>
                  <a:lnTo>
                    <a:pt x="441" y="137"/>
                  </a:lnTo>
                  <a:lnTo>
                    <a:pt x="396" y="185"/>
                  </a:lnTo>
                  <a:cubicBezTo>
                    <a:pt x="304" y="285"/>
                    <a:pt x="149" y="292"/>
                    <a:pt x="49" y="20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4872756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AAA80D-F069-DE49-8F34-B637A12CB530}"/>
              </a:ext>
            </a:extLst>
          </p:cNvPr>
          <p:cNvSpPr>
            <a:spLocks noGrp="1"/>
          </p:cNvSpPr>
          <p:nvPr>
            <p:ph type="title"/>
          </p:nvPr>
        </p:nvSpPr>
        <p:spPr>
          <a:xfrm>
            <a:off x="1307508" y="365126"/>
            <a:ext cx="8220812" cy="879086"/>
          </a:xfrm>
          <a:prstGeom prst="rect">
            <a:avLst/>
          </a:prstGeom>
        </p:spPr>
        <p:txBody>
          <a:bodyPr vert="horz" lIns="91440" tIns="45720" rIns="91440" bIns="45720" rtlCol="0" anchor="ctr">
            <a:normAutofit/>
          </a:bodyPr>
          <a:lstStyle/>
          <a:p>
            <a:r>
              <a:rPr kumimoji="1" lang="zh-CN" altLang="en-US" dirty="0"/>
              <a:t>单击此处编辑母版标题样式</a:t>
            </a:r>
          </a:p>
        </p:txBody>
      </p:sp>
      <p:sp>
        <p:nvSpPr>
          <p:cNvPr id="3" name="文本占位符 2">
            <a:extLst>
              <a:ext uri="{FF2B5EF4-FFF2-40B4-BE49-F238E27FC236}">
                <a16:creationId xmlns:a16="http://schemas.microsoft.com/office/drawing/2014/main" id="{A2AAAE3F-F071-E445-8B18-8EAF3979328E}"/>
              </a:ext>
            </a:extLst>
          </p:cNvPr>
          <p:cNvSpPr>
            <a:spLocks noGrp="1"/>
          </p:cNvSpPr>
          <p:nvPr>
            <p:ph type="body" idx="1"/>
          </p:nvPr>
        </p:nvSpPr>
        <p:spPr>
          <a:xfrm>
            <a:off x="838200" y="1590270"/>
            <a:ext cx="10515600" cy="4586694"/>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7" name="日期占位符 3">
            <a:extLst>
              <a:ext uri="{FF2B5EF4-FFF2-40B4-BE49-F238E27FC236}">
                <a16:creationId xmlns:a16="http://schemas.microsoft.com/office/drawing/2014/main" id="{EB21E25C-9464-224B-A47F-E3D24E9CD74A}"/>
              </a:ext>
            </a:extLst>
          </p:cNvPr>
          <p:cNvSpPr>
            <a:spLocks noGrp="1"/>
          </p:cNvSpPr>
          <p:nvPr>
            <p:ph type="dt" sz="half" idx="2"/>
          </p:nvPr>
        </p:nvSpPr>
        <p:spPr>
          <a:xfrm>
            <a:off x="158698" y="6476424"/>
            <a:ext cx="2743200" cy="365125"/>
          </a:xfrm>
          <a:prstGeom prst="rect">
            <a:avLst/>
          </a:prstGeom>
        </p:spPr>
        <p:txBody>
          <a:bodyPr/>
          <a:lstStyle>
            <a:lvl1pPr>
              <a:defRPr sz="1600">
                <a:solidFill>
                  <a:schemeClr val="bg1">
                    <a:lumMod val="65000"/>
                  </a:schemeClr>
                </a:solidFill>
                <a:latin typeface="Microsoft YaHei" panose="020B0503020204020204" pitchFamily="34" charset="-122"/>
                <a:ea typeface="Microsoft YaHei" panose="020B0503020204020204" pitchFamily="34" charset="-122"/>
              </a:defRPr>
            </a:lvl1pPr>
          </a:lstStyle>
          <a:p>
            <a:r>
              <a:rPr kumimoji="1" lang="en-US" altLang="zh-CN" dirty="0">
                <a:latin typeface="DengXian" panose="02010600030101010101" pitchFamily="2" charset="-122"/>
                <a:ea typeface="DengXian" panose="02010600030101010101" pitchFamily="2" charset="-122"/>
              </a:rPr>
              <a:t>5.3 </a:t>
            </a:r>
            <a:r>
              <a:rPr kumimoji="1" lang="zh-CN" altLang="en-US" dirty="0">
                <a:latin typeface="DengXian" panose="02010600030101010101" pitchFamily="2" charset="-122"/>
                <a:ea typeface="DengXian" panose="02010600030101010101" pitchFamily="2" charset="-122"/>
              </a:rPr>
              <a:t>网络互联</a:t>
            </a:r>
          </a:p>
        </p:txBody>
      </p:sp>
      <p:sp>
        <p:nvSpPr>
          <p:cNvPr id="8" name="页脚占位符 4">
            <a:extLst>
              <a:ext uri="{FF2B5EF4-FFF2-40B4-BE49-F238E27FC236}">
                <a16:creationId xmlns:a16="http://schemas.microsoft.com/office/drawing/2014/main" id="{A9B84893-18EE-FF43-9533-BF8DF0782CA4}"/>
              </a:ext>
            </a:extLst>
          </p:cNvPr>
          <p:cNvSpPr>
            <a:spLocks noGrp="1"/>
          </p:cNvSpPr>
          <p:nvPr>
            <p:ph type="ftr" sz="quarter" idx="3"/>
          </p:nvPr>
        </p:nvSpPr>
        <p:spPr>
          <a:xfrm>
            <a:off x="4038600" y="6476424"/>
            <a:ext cx="4114800" cy="365125"/>
          </a:xfrm>
          <a:prstGeom prst="rect">
            <a:avLst/>
          </a:prstGeom>
        </p:spPr>
        <p:txBody>
          <a:bodyPr/>
          <a:lstStyle>
            <a:lvl1pPr algn="ctr">
              <a:defRPr sz="1600">
                <a:solidFill>
                  <a:schemeClr val="bg1">
                    <a:lumMod val="65000"/>
                  </a:schemeClr>
                </a:solidFill>
                <a:latin typeface="Microsoft YaHei" panose="020B0503020204020204" pitchFamily="34" charset="-122"/>
                <a:ea typeface="Microsoft YaHei" panose="020B0503020204020204" pitchFamily="34" charset="-122"/>
              </a:defRPr>
            </a:lvl1pPr>
          </a:lstStyle>
          <a:p>
            <a:r>
              <a:rPr kumimoji="1" lang="zh-CN" altLang="en-US" dirty="0">
                <a:latin typeface="DengXian" panose="02010600030101010101" pitchFamily="2" charset="-122"/>
                <a:ea typeface="DengXian" panose="02010600030101010101" pitchFamily="2" charset="-122"/>
              </a:rPr>
              <a:t>引自：</a:t>
            </a:r>
            <a:r>
              <a:rPr kumimoji="1" lang="en-US" altLang="zh-CN" dirty="0">
                <a:latin typeface="DengXian" panose="02010600030101010101" pitchFamily="2" charset="-122"/>
                <a:ea typeface="DengXian" panose="02010600030101010101" pitchFamily="2" charset="-122"/>
              </a:rPr>
              <a:t>XXXXX</a:t>
            </a:r>
            <a:r>
              <a:rPr kumimoji="1" lang="zh-CN" altLang="en-US" dirty="0">
                <a:latin typeface="DengXian" panose="02010600030101010101" pitchFamily="2" charset="-122"/>
                <a:ea typeface="DengXian" panose="02010600030101010101" pitchFamily="2" charset="-122"/>
              </a:rPr>
              <a:t>（如果需要）</a:t>
            </a:r>
          </a:p>
        </p:txBody>
      </p:sp>
      <p:sp>
        <p:nvSpPr>
          <p:cNvPr id="9" name="灯片编号占位符 5">
            <a:extLst>
              <a:ext uri="{FF2B5EF4-FFF2-40B4-BE49-F238E27FC236}">
                <a16:creationId xmlns:a16="http://schemas.microsoft.com/office/drawing/2014/main" id="{A375705C-8722-064B-8FCF-B9180D154A69}"/>
              </a:ext>
            </a:extLst>
          </p:cNvPr>
          <p:cNvSpPr>
            <a:spLocks noGrp="1"/>
          </p:cNvSpPr>
          <p:nvPr>
            <p:ph type="sldNum" sz="quarter" idx="4"/>
          </p:nvPr>
        </p:nvSpPr>
        <p:spPr>
          <a:xfrm>
            <a:off x="8686810" y="6476424"/>
            <a:ext cx="3319670" cy="365125"/>
          </a:xfrm>
          <a:prstGeom prst="rect">
            <a:avLst/>
          </a:prstGeom>
        </p:spPr>
        <p:txBody>
          <a:bodyPr/>
          <a:lstStyle>
            <a:lvl1pPr algn="r">
              <a:defRPr sz="1600" b="0" i="0">
                <a:solidFill>
                  <a:schemeClr val="bg1">
                    <a:lumMod val="65000"/>
                  </a:schemeClr>
                </a:solidFill>
                <a:latin typeface="DengXian" panose="02010600030101010101" pitchFamily="2" charset="-122"/>
                <a:ea typeface="DengXian" panose="02010600030101010101" pitchFamily="2" charset="-122"/>
              </a:defRPr>
            </a:lvl1pPr>
          </a:lstStyle>
          <a:p>
            <a:fld id="{8D4D1E41-7A09-AB4A-A4E1-09765ADA2698}" type="slidenum">
              <a:rPr kumimoji="1" lang="zh-CN" altLang="en-US" smtClean="0"/>
              <a:pPr/>
              <a:t>‹#›</a:t>
            </a:fld>
            <a:endParaRPr kumimoji="1" lang="zh-CN" altLang="en-US" dirty="0"/>
          </a:p>
        </p:txBody>
      </p:sp>
      <p:pic>
        <p:nvPicPr>
          <p:cNvPr id="10" name="图片 9">
            <a:extLst>
              <a:ext uri="{FF2B5EF4-FFF2-40B4-BE49-F238E27FC236}">
                <a16:creationId xmlns:a16="http://schemas.microsoft.com/office/drawing/2014/main" id="{5313615A-D112-41CA-98ED-CE3E190817B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88640" y="413466"/>
            <a:ext cx="1036530" cy="1029540"/>
          </a:xfrm>
          <a:prstGeom prst="rect">
            <a:avLst/>
          </a:prstGeom>
        </p:spPr>
      </p:pic>
    </p:spTree>
    <p:extLst>
      <p:ext uri="{BB962C8B-B14F-4D97-AF65-F5344CB8AC3E}">
        <p14:creationId xmlns:p14="http://schemas.microsoft.com/office/powerpoint/2010/main" val="22665348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hf hdr="0" ftr="0"/>
  <p:txStyles>
    <p:titleStyle>
      <a:lvl1pPr algn="l" defTabSz="914400" rtl="0" eaLnBrk="1" latinLnBrk="0" hangingPunct="1">
        <a:lnSpc>
          <a:spcPct val="90000"/>
        </a:lnSpc>
        <a:spcBef>
          <a:spcPct val="0"/>
        </a:spcBef>
        <a:buNone/>
        <a:defRPr sz="4400" kern="1200">
          <a:solidFill>
            <a:schemeClr val="tx1"/>
          </a:solidFill>
          <a:latin typeface="SimHei" panose="02010609060101010101" pitchFamily="49" charset="-122"/>
          <a:ea typeface="SimHei" panose="02010609060101010101" pitchFamily="49" charset="-122"/>
          <a:cs typeface="+mj-cs"/>
        </a:defRPr>
      </a:lvl1pPr>
    </p:titleStyle>
    <p:body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18" Type="http://schemas.openxmlformats.org/officeDocument/2006/relationships/image" Target="../media/image19.png"/><Relationship Id="rId3" Type="http://schemas.openxmlformats.org/officeDocument/2006/relationships/image" Target="../media/image4.pn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png"/><Relationship Id="rId17" Type="http://schemas.openxmlformats.org/officeDocument/2006/relationships/image" Target="../media/image18.png"/><Relationship Id="rId2" Type="http://schemas.openxmlformats.org/officeDocument/2006/relationships/notesSlide" Target="../notesSlides/notesSlide1.xml"/><Relationship Id="rId16" Type="http://schemas.openxmlformats.org/officeDocument/2006/relationships/image" Target="../media/image17.png"/><Relationship Id="rId20"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png"/><Relationship Id="rId19" Type="http://schemas.openxmlformats.org/officeDocument/2006/relationships/image" Target="../media/image20.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30.emf"/><Relationship Id="rId7" Type="http://schemas.openxmlformats.org/officeDocument/2006/relationships/image" Target="../media/image33.e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oleObject" Target="???"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25.wmf"/><Relationship Id="rId4"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5.w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2.bin"/><Relationship Id="rId1" Type="http://schemas.openxmlformats.org/officeDocument/2006/relationships/slideLayout" Target="../slideLayouts/slideLayout2.xml"/><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oleObject" Target="../embeddings/oleObject5.bin"/><Relationship Id="rId1" Type="http://schemas.openxmlformats.org/officeDocument/2006/relationships/slideLayout" Target="../slideLayouts/slideLayout2.xml"/><Relationship Id="rId4" Type="http://schemas.openxmlformats.org/officeDocument/2006/relationships/image" Target="../media/image48.png"/></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5.wmf"/></Relationships>
</file>

<file path=ppt/slides/_rels/slide53.xml.rels><?xml version="1.0" encoding="UTF-8" standalone="yes"?>
<Relationships xmlns="http://schemas.openxmlformats.org/package/2006/relationships"><Relationship Id="rId3" Type="http://schemas.openxmlformats.org/officeDocument/2006/relationships/hyperlink" Target="http://www.taobao.com/"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6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61.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2.wmf"/></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52.wmf"/></Relationships>
</file>

<file path=ppt/slides/_rels/slide64.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6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2.wmf"/><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52.wmf"/><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8.png"/></Relationships>
</file>

<file path=ppt/slides/_rels/slide76.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8.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80.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8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8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BF4557-9C48-9D4D-A8AC-E1BCC4493B84}"/>
              </a:ext>
            </a:extLst>
          </p:cNvPr>
          <p:cNvSpPr>
            <a:spLocks noGrp="1"/>
          </p:cNvSpPr>
          <p:nvPr>
            <p:ph type="ctrTitle"/>
          </p:nvPr>
        </p:nvSpPr>
        <p:spPr>
          <a:xfrm>
            <a:off x="1524000" y="891254"/>
            <a:ext cx="9144000" cy="2002674"/>
          </a:xfrm>
        </p:spPr>
        <p:txBody>
          <a:bodyPr/>
          <a:lstStyle/>
          <a:p>
            <a:r>
              <a:rPr kumimoji="1" lang="zh-CN" altLang="en-US" dirty="0"/>
              <a:t>第五章 网络层</a:t>
            </a:r>
          </a:p>
        </p:txBody>
      </p:sp>
      <p:sp>
        <p:nvSpPr>
          <p:cNvPr id="3" name="副标题 2">
            <a:extLst>
              <a:ext uri="{FF2B5EF4-FFF2-40B4-BE49-F238E27FC236}">
                <a16:creationId xmlns:a16="http://schemas.microsoft.com/office/drawing/2014/main" id="{1BAADDAC-3DB3-ED4C-BCFE-CFA6839907EE}"/>
              </a:ext>
            </a:extLst>
          </p:cNvPr>
          <p:cNvSpPr>
            <a:spLocks noGrp="1"/>
          </p:cNvSpPr>
          <p:nvPr>
            <p:ph type="subTitle" idx="1"/>
          </p:nvPr>
        </p:nvSpPr>
        <p:spPr>
          <a:xfrm>
            <a:off x="1524000" y="3727942"/>
            <a:ext cx="9144000" cy="1657977"/>
          </a:xfrm>
        </p:spPr>
        <p:txBody>
          <a:bodyPr>
            <a:normAutofit/>
          </a:bodyPr>
          <a:lstStyle/>
          <a:p>
            <a:pPr>
              <a:lnSpc>
                <a:spcPct val="150000"/>
              </a:lnSpc>
            </a:pPr>
            <a:r>
              <a:rPr kumimoji="1" lang="zh-CN" altLang="en-US" sz="3200" dirty="0"/>
              <a:t>授课教师：辜文蔚</a:t>
            </a:r>
            <a:endParaRPr kumimoji="1" lang="en-US" altLang="zh-CN" sz="3200" dirty="0"/>
          </a:p>
          <a:p>
            <a:pPr>
              <a:lnSpc>
                <a:spcPct val="150000"/>
              </a:lnSpc>
            </a:pPr>
            <a:r>
              <a:rPr kumimoji="1" lang="zh-CN" altLang="en-US" sz="3200" dirty="0"/>
              <a:t>南开大学</a:t>
            </a:r>
            <a:endParaRPr kumimoji="1" lang="en-US" altLang="zh-CN" sz="3200" dirty="0"/>
          </a:p>
        </p:txBody>
      </p:sp>
    </p:spTree>
    <p:extLst>
      <p:ext uri="{BB962C8B-B14F-4D97-AF65-F5344CB8AC3E}">
        <p14:creationId xmlns:p14="http://schemas.microsoft.com/office/powerpoint/2010/main" val="26201568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lang="zh-CN" altLang="en-US" dirty="0"/>
              <a:t>本章目标</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a:xfrm>
            <a:off x="838200" y="1510758"/>
            <a:ext cx="10515600" cy="5079228"/>
          </a:xfrm>
        </p:spPr>
        <p:txBody>
          <a:bodyPr>
            <a:normAutofit/>
          </a:bodyPr>
          <a:lstStyle/>
          <a:p>
            <a:pPr marL="514350" indent="-514350">
              <a:lnSpc>
                <a:spcPct val="120000"/>
              </a:lnSpc>
              <a:buFont typeface="+mj-lt"/>
              <a:buAutoNum type="arabicPeriod"/>
            </a:pPr>
            <a:r>
              <a:rPr kumimoji="1" lang="zh-CN" altLang="en-US" dirty="0"/>
              <a:t>学习网络层服务：</a:t>
            </a:r>
            <a:r>
              <a:rPr kumimoji="1" lang="zh-CN" altLang="en-US" dirty="0">
                <a:solidFill>
                  <a:srgbClr val="C00000"/>
                </a:solidFill>
              </a:rPr>
              <a:t>无连接和面向连接服务</a:t>
            </a:r>
            <a:r>
              <a:rPr kumimoji="1" lang="zh-CN" altLang="en-US" dirty="0"/>
              <a:t>，数据包和虚电路网络</a:t>
            </a:r>
            <a:endParaRPr kumimoji="1" lang="en-US" altLang="zh-CN" dirty="0"/>
          </a:p>
          <a:p>
            <a:pPr marL="514350" indent="-514350">
              <a:lnSpc>
                <a:spcPct val="120000"/>
              </a:lnSpc>
              <a:buFont typeface="+mj-lt"/>
              <a:buAutoNum type="arabicPeriod"/>
            </a:pPr>
            <a:r>
              <a:rPr kumimoji="1" lang="zh-CN" altLang="en-US" dirty="0"/>
              <a:t>学习</a:t>
            </a:r>
            <a:r>
              <a:rPr kumimoji="1" lang="en-US" altLang="zh-CN" dirty="0"/>
              <a:t>Internet</a:t>
            </a:r>
            <a:r>
              <a:rPr kumimoji="1" lang="zh-CN" altLang="en-US" dirty="0"/>
              <a:t>网络层协议：</a:t>
            </a:r>
            <a:r>
              <a:rPr kumimoji="1" lang="en-US" altLang="zh-CN" dirty="0">
                <a:solidFill>
                  <a:srgbClr val="C00000"/>
                </a:solidFill>
              </a:rPr>
              <a:t>IPv4/IPv6, ICMP, DHCP, NAT, ARP</a:t>
            </a:r>
          </a:p>
          <a:p>
            <a:pPr marL="514350" indent="-514350">
              <a:lnSpc>
                <a:spcPct val="120000"/>
              </a:lnSpc>
              <a:buFont typeface="+mj-lt"/>
              <a:buAutoNum type="arabicPeriod"/>
            </a:pPr>
            <a:r>
              <a:rPr kumimoji="1" lang="zh-CN" altLang="en-US" dirty="0"/>
              <a:t>掌握</a:t>
            </a:r>
            <a:r>
              <a:rPr kumimoji="1" lang="zh-CN" altLang="en-US" dirty="0">
                <a:solidFill>
                  <a:srgbClr val="C00000"/>
                </a:solidFill>
              </a:rPr>
              <a:t>链路状态、距离矢量</a:t>
            </a:r>
            <a:r>
              <a:rPr kumimoji="1" lang="zh-CN" altLang="en-US" dirty="0"/>
              <a:t>等路由算法，了解层次路由结构</a:t>
            </a:r>
            <a:endParaRPr kumimoji="1" lang="en-US" altLang="zh-CN" dirty="0"/>
          </a:p>
          <a:p>
            <a:pPr marL="514350" indent="-514350">
              <a:lnSpc>
                <a:spcPct val="120000"/>
              </a:lnSpc>
              <a:buFont typeface="+mj-lt"/>
              <a:buAutoNum type="arabicPeriod"/>
            </a:pPr>
            <a:r>
              <a:rPr kumimoji="1" lang="zh-CN" altLang="en-US" dirty="0"/>
              <a:t>掌握</a:t>
            </a:r>
            <a:r>
              <a:rPr kumimoji="1" lang="en-US" altLang="zh-CN" dirty="0"/>
              <a:t>Internet</a:t>
            </a:r>
            <a:r>
              <a:rPr kumimoji="1" lang="zh-CN" altLang="en-US" dirty="0"/>
              <a:t>路由协议：</a:t>
            </a:r>
            <a:r>
              <a:rPr kumimoji="1" lang="en-US" altLang="zh-CN" dirty="0">
                <a:solidFill>
                  <a:srgbClr val="C00000"/>
                </a:solidFill>
              </a:rPr>
              <a:t>OSPF</a:t>
            </a:r>
            <a:r>
              <a:rPr kumimoji="1" lang="zh-CN" altLang="en-US" dirty="0">
                <a:solidFill>
                  <a:srgbClr val="C00000"/>
                </a:solidFill>
              </a:rPr>
              <a:t>、</a:t>
            </a:r>
            <a:r>
              <a:rPr kumimoji="1" lang="en-US" altLang="zh-CN" dirty="0">
                <a:solidFill>
                  <a:srgbClr val="C00000"/>
                </a:solidFill>
              </a:rPr>
              <a:t>RIP</a:t>
            </a:r>
            <a:r>
              <a:rPr kumimoji="1" lang="zh-CN" altLang="en-US" dirty="0">
                <a:solidFill>
                  <a:srgbClr val="C00000"/>
                </a:solidFill>
              </a:rPr>
              <a:t>、</a:t>
            </a:r>
            <a:r>
              <a:rPr kumimoji="1" lang="en-US" altLang="zh-CN" dirty="0">
                <a:solidFill>
                  <a:srgbClr val="C00000"/>
                </a:solidFill>
              </a:rPr>
              <a:t>BGP</a:t>
            </a:r>
            <a:endParaRPr kumimoji="1" lang="zh-CN" altLang="en-US" dirty="0"/>
          </a:p>
          <a:p>
            <a:pPr marL="514350" indent="-514350">
              <a:lnSpc>
                <a:spcPct val="120000"/>
              </a:lnSpc>
              <a:buFont typeface="+mj-lt"/>
              <a:buAutoNum type="arabicPeriod"/>
            </a:pPr>
            <a:r>
              <a:rPr kumimoji="1" lang="zh-CN" altLang="en-US" dirty="0"/>
              <a:t>了解路由器工作原理：控制层和数据层，报文转发机制，交换结构</a:t>
            </a:r>
          </a:p>
        </p:txBody>
      </p:sp>
      <p:sp>
        <p:nvSpPr>
          <p:cNvPr id="10" name="灯片编号占位符 9">
            <a:extLst>
              <a:ext uri="{FF2B5EF4-FFF2-40B4-BE49-F238E27FC236}">
                <a16:creationId xmlns:a16="http://schemas.microsoft.com/office/drawing/2014/main" id="{E4DA8857-A0B9-004B-97F3-80764C9D31C3}"/>
              </a:ext>
            </a:extLst>
          </p:cNvPr>
          <p:cNvSpPr>
            <a:spLocks noGrp="1"/>
          </p:cNvSpPr>
          <p:nvPr>
            <p:ph type="sldNum" sz="quarter" idx="12"/>
          </p:nvPr>
        </p:nvSpPr>
        <p:spPr/>
        <p:txBody>
          <a:bodyPr/>
          <a:lstStyle/>
          <a:p>
            <a:fld id="{8D4D1E41-7A09-AB4A-A4E1-09765ADA2698}" type="slidenum">
              <a:rPr kumimoji="1" lang="zh-CN" altLang="en-US" smtClean="0"/>
              <a:t>2</a:t>
            </a:fld>
            <a:endParaRPr kumimoji="1" lang="zh-CN" altLang="en-US" dirty="0"/>
          </a:p>
        </p:txBody>
      </p:sp>
    </p:spTree>
    <p:extLst>
      <p:ext uri="{BB962C8B-B14F-4D97-AF65-F5344CB8AC3E}">
        <p14:creationId xmlns:p14="http://schemas.microsoft.com/office/powerpoint/2010/main" val="1342620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510758"/>
            <a:ext cx="10046292" cy="5183956"/>
          </a:xfrm>
        </p:spPr>
        <p:txBody>
          <a:bodyPr>
            <a:normAutofit/>
          </a:bodyPr>
          <a:lstStyle/>
          <a:p>
            <a:pPr marL="0" indent="0">
              <a:lnSpc>
                <a:spcPct val="130000"/>
              </a:lnSpc>
              <a:buNone/>
            </a:pPr>
            <a:r>
              <a:rPr lang="en-US" altLang="zh-CN" dirty="0"/>
              <a:t>5.1 </a:t>
            </a:r>
            <a:r>
              <a:rPr lang="zh-CN" altLang="zh-CN" dirty="0">
                <a:sym typeface="+mn-ea"/>
              </a:rPr>
              <a:t>网络层服务</a:t>
            </a:r>
            <a:endParaRPr kumimoji="1" lang="zh-CN" altLang="en-US" dirty="0"/>
          </a:p>
          <a:p>
            <a:pPr marL="0" indent="0">
              <a:lnSpc>
                <a:spcPct val="130000"/>
              </a:lnSpc>
              <a:buNone/>
            </a:pPr>
            <a:r>
              <a:rPr kumimoji="1" lang="en-US" altLang="zh-CN" dirty="0">
                <a:sym typeface="+mn-ea"/>
              </a:rPr>
              <a:t>5.2</a:t>
            </a:r>
            <a:r>
              <a:rPr kumimoji="1" lang="zh-CN" altLang="en-US" dirty="0">
                <a:sym typeface="+mn-ea"/>
              </a:rPr>
              <a:t> </a:t>
            </a:r>
            <a:r>
              <a:rPr kumimoji="1" lang="en-US" altLang="zh-CN" dirty="0">
                <a:sym typeface="+mn-ea"/>
              </a:rPr>
              <a:t>Internet</a:t>
            </a:r>
            <a:r>
              <a:rPr kumimoji="1" lang="zh-CN" altLang="en-US" dirty="0">
                <a:sym typeface="+mn-ea"/>
              </a:rPr>
              <a:t>网际协议</a:t>
            </a:r>
            <a:endParaRPr kumimoji="1" lang="en-US" altLang="zh-CN" dirty="0"/>
          </a:p>
          <a:p>
            <a:pPr marL="0" indent="0">
              <a:lnSpc>
                <a:spcPct val="130000"/>
              </a:lnSpc>
              <a:buNone/>
            </a:pPr>
            <a:r>
              <a:rPr kumimoji="1" lang="en-US" altLang="zh-CN" dirty="0">
                <a:sym typeface="+mn-ea"/>
              </a:rPr>
              <a:t>5.3</a:t>
            </a:r>
            <a:r>
              <a:rPr kumimoji="1" lang="zh-CN" altLang="en-US" dirty="0">
                <a:sym typeface="+mn-ea"/>
              </a:rPr>
              <a:t> 路由算法</a:t>
            </a:r>
            <a:endParaRPr kumimoji="1" lang="en-US" altLang="zh-CN" dirty="0"/>
          </a:p>
          <a:p>
            <a:pPr marL="0" indent="0">
              <a:lnSpc>
                <a:spcPct val="130000"/>
              </a:lnSpc>
              <a:buNone/>
            </a:pPr>
            <a:r>
              <a:rPr kumimoji="1" lang="en-US" altLang="zh-CN" dirty="0">
                <a:sym typeface="+mn-ea"/>
              </a:rPr>
              <a:t>5.4</a:t>
            </a:r>
            <a:r>
              <a:rPr kumimoji="1" lang="zh-CN" altLang="en-US" dirty="0">
                <a:sym typeface="+mn-ea"/>
              </a:rPr>
              <a:t> </a:t>
            </a:r>
            <a:r>
              <a:rPr kumimoji="1" lang="en-US" altLang="zh-CN" dirty="0">
                <a:sym typeface="+mn-ea"/>
              </a:rPr>
              <a:t>Internet</a:t>
            </a:r>
            <a:r>
              <a:rPr kumimoji="1" lang="zh-CN" altLang="en-US" dirty="0">
                <a:sym typeface="+mn-ea"/>
              </a:rPr>
              <a:t>路由协议</a:t>
            </a:r>
            <a:endParaRPr kumimoji="1" lang="en-US" altLang="zh-CN" dirty="0"/>
          </a:p>
          <a:p>
            <a:pPr marL="0" indent="0">
              <a:lnSpc>
                <a:spcPct val="130000"/>
              </a:lnSpc>
              <a:buNone/>
            </a:pPr>
            <a:r>
              <a:rPr kumimoji="1" lang="en-US" altLang="zh-CN" dirty="0">
                <a:sym typeface="+mn-ea"/>
              </a:rPr>
              <a:t>5.5</a:t>
            </a:r>
            <a:r>
              <a:rPr kumimoji="1" lang="zh-CN" altLang="en-US" dirty="0">
                <a:sym typeface="+mn-ea"/>
              </a:rPr>
              <a:t> 路由器工作原理</a:t>
            </a:r>
            <a:endParaRPr kumimoji="1" lang="en-US" altLang="zh-CN" dirty="0"/>
          </a:p>
        </p:txBody>
      </p:sp>
      <p:sp>
        <p:nvSpPr>
          <p:cNvPr id="10" name="灯片编号占位符 9">
            <a:extLst>
              <a:ext uri="{FF2B5EF4-FFF2-40B4-BE49-F238E27FC236}">
                <a16:creationId xmlns:a16="http://schemas.microsoft.com/office/drawing/2014/main" id="{81955D56-458B-2941-A60C-A60B6824D7F3}"/>
              </a:ext>
            </a:extLst>
          </p:cNvPr>
          <p:cNvSpPr>
            <a:spLocks noGrp="1"/>
          </p:cNvSpPr>
          <p:nvPr>
            <p:ph type="sldNum" sz="quarter" idx="12"/>
          </p:nvPr>
        </p:nvSpPr>
        <p:spPr/>
        <p:txBody>
          <a:bodyPr/>
          <a:lstStyle/>
          <a:p>
            <a:fld id="{8D4D1E41-7A09-AB4A-A4E1-09765ADA2698}" type="slidenum">
              <a:rPr kumimoji="1" lang="zh-CN" altLang="en-US" smtClean="0"/>
              <a:t>3</a:t>
            </a:fld>
            <a:endParaRPr kumimoji="1" lang="zh-CN" altLang="en-US" dirty="0"/>
          </a:p>
        </p:txBody>
      </p:sp>
    </p:spTree>
    <p:extLst>
      <p:ext uri="{BB962C8B-B14F-4D97-AF65-F5344CB8AC3E}">
        <p14:creationId xmlns:p14="http://schemas.microsoft.com/office/powerpoint/2010/main" val="9725015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510758"/>
            <a:ext cx="10046292" cy="5183956"/>
          </a:xfrm>
        </p:spPr>
        <p:txBody>
          <a:bodyPr>
            <a:normAutofit/>
          </a:bodyPr>
          <a:lstStyle/>
          <a:p>
            <a:pPr marL="0" indent="0">
              <a:lnSpc>
                <a:spcPct val="130000"/>
              </a:lnSpc>
              <a:buNone/>
            </a:pPr>
            <a:r>
              <a:rPr lang="en-US" altLang="zh-CN" dirty="0">
                <a:solidFill>
                  <a:srgbClr val="C00000"/>
                </a:solidFill>
              </a:rPr>
              <a:t>5.1 </a:t>
            </a:r>
            <a:r>
              <a:rPr lang="zh-CN" altLang="zh-CN" dirty="0">
                <a:solidFill>
                  <a:srgbClr val="C00000"/>
                </a:solidFill>
                <a:sym typeface="+mn-ea"/>
              </a:rPr>
              <a:t>网络层服务</a:t>
            </a:r>
            <a:endParaRPr kumimoji="1" lang="zh-CN" altLang="en-US" dirty="0">
              <a:solidFill>
                <a:srgbClr val="C00000"/>
              </a:solidFill>
            </a:endParaRPr>
          </a:p>
          <a:p>
            <a:pPr marL="0" indent="0">
              <a:lnSpc>
                <a:spcPct val="130000"/>
              </a:lnSpc>
              <a:buNone/>
            </a:pPr>
            <a:r>
              <a:rPr kumimoji="1" lang="en-US" altLang="zh-CN" dirty="0">
                <a:sym typeface="+mn-ea"/>
              </a:rPr>
              <a:t>5.2</a:t>
            </a:r>
            <a:r>
              <a:rPr kumimoji="1" lang="zh-CN" altLang="en-US" dirty="0">
                <a:sym typeface="+mn-ea"/>
              </a:rPr>
              <a:t> </a:t>
            </a:r>
            <a:r>
              <a:rPr kumimoji="1" lang="en-US" altLang="zh-CN" dirty="0">
                <a:sym typeface="+mn-ea"/>
              </a:rPr>
              <a:t>Internet</a:t>
            </a:r>
            <a:r>
              <a:rPr kumimoji="1" lang="zh-CN" altLang="en-US" dirty="0">
                <a:sym typeface="+mn-ea"/>
              </a:rPr>
              <a:t>网际协议</a:t>
            </a:r>
            <a:endParaRPr kumimoji="1" lang="en-US" altLang="zh-CN" dirty="0"/>
          </a:p>
          <a:p>
            <a:pPr marL="0" indent="0">
              <a:lnSpc>
                <a:spcPct val="130000"/>
              </a:lnSpc>
              <a:buNone/>
            </a:pPr>
            <a:r>
              <a:rPr kumimoji="1" lang="en-US" altLang="zh-CN" dirty="0">
                <a:sym typeface="+mn-ea"/>
              </a:rPr>
              <a:t>5.3</a:t>
            </a:r>
            <a:r>
              <a:rPr kumimoji="1" lang="zh-CN" altLang="en-US" dirty="0">
                <a:sym typeface="+mn-ea"/>
              </a:rPr>
              <a:t> 路由算法</a:t>
            </a:r>
            <a:endParaRPr kumimoji="1" lang="en-US" altLang="zh-CN" dirty="0"/>
          </a:p>
          <a:p>
            <a:pPr marL="0" indent="0">
              <a:lnSpc>
                <a:spcPct val="130000"/>
              </a:lnSpc>
              <a:buNone/>
            </a:pPr>
            <a:r>
              <a:rPr kumimoji="1" lang="en-US" altLang="zh-CN" dirty="0">
                <a:sym typeface="+mn-ea"/>
              </a:rPr>
              <a:t>5.4</a:t>
            </a:r>
            <a:r>
              <a:rPr kumimoji="1" lang="zh-CN" altLang="en-US" dirty="0">
                <a:sym typeface="+mn-ea"/>
              </a:rPr>
              <a:t> </a:t>
            </a:r>
            <a:r>
              <a:rPr kumimoji="1" lang="en-US" altLang="zh-CN" dirty="0">
                <a:sym typeface="+mn-ea"/>
              </a:rPr>
              <a:t>Internet</a:t>
            </a:r>
            <a:r>
              <a:rPr kumimoji="1" lang="zh-CN" altLang="en-US" dirty="0">
                <a:sym typeface="+mn-ea"/>
              </a:rPr>
              <a:t>路由协议</a:t>
            </a:r>
            <a:endParaRPr kumimoji="1" lang="en-US" altLang="zh-CN" dirty="0"/>
          </a:p>
          <a:p>
            <a:pPr marL="0" indent="0">
              <a:lnSpc>
                <a:spcPct val="130000"/>
              </a:lnSpc>
              <a:buNone/>
            </a:pPr>
            <a:r>
              <a:rPr kumimoji="1" lang="en-US" altLang="zh-CN" dirty="0">
                <a:sym typeface="+mn-ea"/>
              </a:rPr>
              <a:t>5.5</a:t>
            </a:r>
            <a:r>
              <a:rPr kumimoji="1" lang="zh-CN" altLang="en-US" dirty="0">
                <a:sym typeface="+mn-ea"/>
              </a:rPr>
              <a:t> 路由器工作原理</a:t>
            </a:r>
            <a:endParaRPr kumimoji="1" lang="en-US" altLang="zh-CN" dirty="0"/>
          </a:p>
        </p:txBody>
      </p:sp>
      <p:sp>
        <p:nvSpPr>
          <p:cNvPr id="10" name="灯片编号占位符 9">
            <a:extLst>
              <a:ext uri="{FF2B5EF4-FFF2-40B4-BE49-F238E27FC236}">
                <a16:creationId xmlns:a16="http://schemas.microsoft.com/office/drawing/2014/main" id="{81955D56-458B-2941-A60C-A60B6824D7F3}"/>
              </a:ext>
            </a:extLst>
          </p:cNvPr>
          <p:cNvSpPr>
            <a:spLocks noGrp="1"/>
          </p:cNvSpPr>
          <p:nvPr>
            <p:ph type="sldNum" sz="quarter" idx="12"/>
          </p:nvPr>
        </p:nvSpPr>
        <p:spPr/>
        <p:txBody>
          <a:bodyPr/>
          <a:lstStyle/>
          <a:p>
            <a:fld id="{8D4D1E41-7A09-AB4A-A4E1-09765ADA2698}" type="slidenum">
              <a:rPr kumimoji="1" lang="zh-CN" altLang="en-US" smtClean="0"/>
              <a:t>4</a:t>
            </a:fld>
            <a:endParaRPr kumimoji="1" lang="zh-CN" altLang="en-US" dirty="0"/>
          </a:p>
        </p:txBody>
      </p:sp>
      <p:sp>
        <p:nvSpPr>
          <p:cNvPr id="6" name="矩形标注 5"/>
          <p:cNvSpPr/>
          <p:nvPr/>
        </p:nvSpPr>
        <p:spPr>
          <a:xfrm>
            <a:off x="5179052" y="1510758"/>
            <a:ext cx="4556097" cy="2182136"/>
          </a:xfrm>
          <a:prstGeom prst="wedgeRectCallout">
            <a:avLst>
              <a:gd name="adj1" fmla="val -79688"/>
              <a:gd name="adj2" fmla="val -37441"/>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587375" indent="-438150">
              <a:lnSpc>
                <a:spcPct val="120000"/>
              </a:lnSpc>
              <a:spcBef>
                <a:spcPts val="600"/>
              </a:spcBef>
              <a:buFont typeface="+mj-lt"/>
              <a:buAutoNum type="arabicPeriod"/>
            </a:pPr>
            <a:r>
              <a:rPr kumimoji="1" lang="zh-CN" altLang="en-US" sz="2400" dirty="0">
                <a:solidFill>
                  <a:prstClr val="black"/>
                </a:solidFill>
                <a:latin typeface="等线" panose="02010600030101010101" pitchFamily="2" charset="-122"/>
                <a:ea typeface="等线" panose="02010600030101010101" pitchFamily="2" charset="-122"/>
              </a:rPr>
              <a:t>网络层服务概述</a:t>
            </a:r>
            <a:endParaRPr kumimoji="1" lang="en-US" altLang="zh-CN" sz="2400" dirty="0">
              <a:solidFill>
                <a:prstClr val="black"/>
              </a:solidFill>
              <a:latin typeface="等线" panose="02010600030101010101" pitchFamily="2" charset="-122"/>
              <a:ea typeface="等线" panose="02010600030101010101" pitchFamily="2" charset="-122"/>
            </a:endParaRPr>
          </a:p>
          <a:p>
            <a:pPr marL="587375" indent="-438150">
              <a:lnSpc>
                <a:spcPct val="120000"/>
              </a:lnSpc>
              <a:spcBef>
                <a:spcPts val="600"/>
              </a:spcBef>
              <a:buFont typeface="+mj-lt"/>
              <a:buAutoNum type="arabicPeriod"/>
            </a:pPr>
            <a:r>
              <a:rPr kumimoji="1" lang="zh-CN" altLang="zh-CN" sz="2400" dirty="0">
                <a:solidFill>
                  <a:prstClr val="black"/>
                </a:solidFill>
                <a:latin typeface="等线" panose="02010600030101010101" pitchFamily="2" charset="-122"/>
                <a:ea typeface="等线" panose="02010600030101010101" pitchFamily="2" charset="-122"/>
              </a:rPr>
              <a:t>无连接服务的实现</a:t>
            </a:r>
          </a:p>
          <a:p>
            <a:pPr marL="587375" indent="-438150">
              <a:lnSpc>
                <a:spcPct val="120000"/>
              </a:lnSpc>
              <a:spcBef>
                <a:spcPts val="600"/>
              </a:spcBef>
              <a:buFont typeface="+mj-lt"/>
              <a:buAutoNum type="arabicPeriod"/>
            </a:pPr>
            <a:r>
              <a:rPr kumimoji="1" lang="zh-CN" altLang="zh-CN" sz="2400" dirty="0">
                <a:solidFill>
                  <a:prstClr val="black"/>
                </a:solidFill>
                <a:latin typeface="等线" panose="02010600030101010101" pitchFamily="2" charset="-122"/>
                <a:ea typeface="等线" panose="02010600030101010101" pitchFamily="2" charset="-122"/>
              </a:rPr>
              <a:t>面向连接服务的实现</a:t>
            </a:r>
          </a:p>
          <a:p>
            <a:pPr marL="587375" indent="-438150">
              <a:lnSpc>
                <a:spcPct val="120000"/>
              </a:lnSpc>
              <a:spcBef>
                <a:spcPts val="600"/>
              </a:spcBef>
              <a:buFont typeface="+mj-lt"/>
              <a:buAutoNum type="arabicPeriod"/>
            </a:pPr>
            <a:r>
              <a:rPr kumimoji="1" lang="zh-CN" altLang="zh-CN" sz="2400" dirty="0">
                <a:solidFill>
                  <a:prstClr val="black"/>
                </a:solidFill>
                <a:latin typeface="等线" panose="02010600030101010101" pitchFamily="2" charset="-122"/>
                <a:ea typeface="等线" panose="02010600030101010101" pitchFamily="2" charset="-122"/>
              </a:rPr>
              <a:t>虚电路与</a:t>
            </a:r>
            <a:r>
              <a:rPr kumimoji="1" lang="zh-CN" altLang="en-US" sz="2400" dirty="0">
                <a:solidFill>
                  <a:prstClr val="black"/>
                </a:solidFill>
                <a:latin typeface="等线" panose="02010600030101010101" pitchFamily="2" charset="-122"/>
                <a:ea typeface="等线" panose="02010600030101010101" pitchFamily="2" charset="-122"/>
              </a:rPr>
              <a:t>数据包</a:t>
            </a:r>
            <a:r>
              <a:rPr kumimoji="1" lang="zh-CN" altLang="zh-CN" sz="2400" dirty="0">
                <a:solidFill>
                  <a:prstClr val="black"/>
                </a:solidFill>
                <a:latin typeface="等线" panose="02010600030101010101" pitchFamily="2" charset="-122"/>
                <a:ea typeface="等线" panose="02010600030101010101" pitchFamily="2" charset="-122"/>
              </a:rPr>
              <a:t>网络的比较</a:t>
            </a:r>
          </a:p>
          <a:p>
            <a:pPr marL="587375" indent="-438150">
              <a:lnSpc>
                <a:spcPct val="120000"/>
              </a:lnSpc>
              <a:spcBef>
                <a:spcPts val="600"/>
              </a:spcBef>
              <a:buFont typeface="+mj-lt"/>
              <a:buAutoNum type="arabicPeriod"/>
            </a:pPr>
            <a:endParaRPr kumimoji="1" lang="zh-CN" altLang="en-US" sz="2400" dirty="0">
              <a:solidFill>
                <a:prstClr val="black"/>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6475893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kumimoji="1" lang="zh-CN" altLang="en-US" dirty="0">
                <a:sym typeface="+mn-ea"/>
              </a:rPr>
              <a:t>网络层服务概述</a:t>
            </a:r>
          </a:p>
        </p:txBody>
      </p:sp>
      <p:sp>
        <p:nvSpPr>
          <p:cNvPr id="4" name="灯片编号占位符 3"/>
          <p:cNvSpPr>
            <a:spLocks noGrp="1"/>
          </p:cNvSpPr>
          <p:nvPr>
            <p:ph type="sldNum" sz="quarter" idx="12"/>
          </p:nvPr>
        </p:nvSpPr>
        <p:spPr>
          <a:xfrm>
            <a:off x="9299575" y="6499860"/>
            <a:ext cx="2743200" cy="365125"/>
          </a:xfrm>
        </p:spPr>
        <p:txBody>
          <a:bodyPr/>
          <a:lstStyle/>
          <a:p>
            <a:fld id="{8D4D1E41-7A09-AB4A-A4E1-09765ADA2698}" type="slidenum">
              <a:rPr kumimoji="1" lang="zh-CN" altLang="en-US" smtClean="0"/>
              <a:t>5</a:t>
            </a:fld>
            <a:endParaRPr kumimoji="1" lang="zh-CN" altLang="en-US" dirty="0"/>
          </a:p>
        </p:txBody>
      </p:sp>
      <p:sp>
        <p:nvSpPr>
          <p:cNvPr id="62" name="Line 27"/>
          <p:cNvSpPr>
            <a:spLocks noChangeShapeType="1"/>
          </p:cNvSpPr>
          <p:nvPr/>
        </p:nvSpPr>
        <p:spPr bwMode="auto">
          <a:xfrm>
            <a:off x="3458210" y="423449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63" name="Line 28"/>
          <p:cNvSpPr>
            <a:spLocks noChangeShapeType="1"/>
          </p:cNvSpPr>
          <p:nvPr/>
        </p:nvSpPr>
        <p:spPr bwMode="auto">
          <a:xfrm>
            <a:off x="3458210" y="476789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65" name="Line 29"/>
          <p:cNvSpPr>
            <a:spLocks noChangeShapeType="1"/>
          </p:cNvSpPr>
          <p:nvPr/>
        </p:nvSpPr>
        <p:spPr bwMode="auto">
          <a:xfrm>
            <a:off x="3458210" y="530129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66" name="Line 30"/>
          <p:cNvSpPr>
            <a:spLocks noChangeShapeType="1"/>
          </p:cNvSpPr>
          <p:nvPr/>
        </p:nvSpPr>
        <p:spPr bwMode="auto">
          <a:xfrm>
            <a:off x="7877810" y="423449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67" name="Line 31"/>
          <p:cNvSpPr>
            <a:spLocks noChangeShapeType="1"/>
          </p:cNvSpPr>
          <p:nvPr/>
        </p:nvSpPr>
        <p:spPr bwMode="auto">
          <a:xfrm>
            <a:off x="7877810" y="476789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68" name="Line 32"/>
          <p:cNvSpPr>
            <a:spLocks noChangeShapeType="1"/>
          </p:cNvSpPr>
          <p:nvPr/>
        </p:nvSpPr>
        <p:spPr bwMode="auto">
          <a:xfrm>
            <a:off x="7877810" y="5301298"/>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69" name="Line 33"/>
          <p:cNvSpPr>
            <a:spLocks noChangeShapeType="1"/>
          </p:cNvSpPr>
          <p:nvPr/>
        </p:nvSpPr>
        <p:spPr bwMode="auto">
          <a:xfrm>
            <a:off x="2653358" y="5917247"/>
            <a:ext cx="1544627"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70" name="Line 34"/>
          <p:cNvSpPr>
            <a:spLocks noChangeShapeType="1"/>
          </p:cNvSpPr>
          <p:nvPr/>
        </p:nvSpPr>
        <p:spPr bwMode="auto">
          <a:xfrm flipV="1">
            <a:off x="5144134" y="5899786"/>
            <a:ext cx="1357311" cy="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71" name="Line 35"/>
          <p:cNvSpPr>
            <a:spLocks noChangeShapeType="1"/>
          </p:cNvSpPr>
          <p:nvPr/>
        </p:nvSpPr>
        <p:spPr bwMode="auto">
          <a:xfrm>
            <a:off x="7442832" y="5899786"/>
            <a:ext cx="1566848" cy="0"/>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72" name="Line 36"/>
          <p:cNvSpPr>
            <a:spLocks noChangeShapeType="1"/>
          </p:cNvSpPr>
          <p:nvPr/>
        </p:nvSpPr>
        <p:spPr bwMode="auto">
          <a:xfrm flipV="1">
            <a:off x="2653358" y="5606098"/>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73" name="Line 37"/>
          <p:cNvSpPr>
            <a:spLocks noChangeShapeType="1"/>
          </p:cNvSpPr>
          <p:nvPr/>
        </p:nvSpPr>
        <p:spPr bwMode="auto">
          <a:xfrm flipV="1">
            <a:off x="4197985" y="5594986"/>
            <a:ext cx="0" cy="32861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74" name="Line 38"/>
          <p:cNvSpPr>
            <a:spLocks noChangeShapeType="1"/>
          </p:cNvSpPr>
          <p:nvPr/>
        </p:nvSpPr>
        <p:spPr bwMode="auto">
          <a:xfrm flipV="1">
            <a:off x="5144135" y="5606098"/>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75" name="Line 39"/>
          <p:cNvSpPr>
            <a:spLocks noChangeShapeType="1"/>
          </p:cNvSpPr>
          <p:nvPr/>
        </p:nvSpPr>
        <p:spPr bwMode="auto">
          <a:xfrm flipV="1">
            <a:off x="6501448" y="5594986"/>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76" name="Line 40"/>
          <p:cNvSpPr>
            <a:spLocks noChangeShapeType="1"/>
          </p:cNvSpPr>
          <p:nvPr/>
        </p:nvSpPr>
        <p:spPr bwMode="auto">
          <a:xfrm flipV="1">
            <a:off x="7442835" y="5594986"/>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78" name="Text Box 46"/>
          <p:cNvSpPr txBox="1">
            <a:spLocks noChangeArrowheads="1"/>
          </p:cNvSpPr>
          <p:nvPr/>
        </p:nvSpPr>
        <p:spPr bwMode="auto">
          <a:xfrm>
            <a:off x="4197985" y="3610610"/>
            <a:ext cx="9486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b="1" dirty="0">
                <a:solidFill>
                  <a:srgbClr val="000099"/>
                </a:solidFill>
                <a:latin typeface="等线" panose="02010600030101010101" pitchFamily="2" charset="-122"/>
                <a:ea typeface="等线" panose="02010600030101010101" pitchFamily="2" charset="-122"/>
              </a:rPr>
              <a:t>路由器</a:t>
            </a:r>
          </a:p>
        </p:txBody>
      </p:sp>
      <p:sp>
        <p:nvSpPr>
          <p:cNvPr id="81" name="Rectangle 9"/>
          <p:cNvSpPr>
            <a:spLocks noChangeArrowheads="1"/>
          </p:cNvSpPr>
          <p:nvPr/>
        </p:nvSpPr>
        <p:spPr bwMode="auto">
          <a:xfrm>
            <a:off x="1799282" y="1883410"/>
            <a:ext cx="1676400" cy="1589088"/>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b="1" dirty="0">
                <a:latin typeface="等线" panose="02010600030101010101" pitchFamily="2" charset="-122"/>
                <a:ea typeface="等线" panose="02010600030101010101" pitchFamily="2" charset="-122"/>
              </a:rPr>
              <a:t>应用层</a:t>
            </a:r>
          </a:p>
        </p:txBody>
      </p:sp>
      <p:sp>
        <p:nvSpPr>
          <p:cNvPr id="82" name="Rectangle 11"/>
          <p:cNvSpPr>
            <a:spLocks noChangeArrowheads="1"/>
          </p:cNvSpPr>
          <p:nvPr/>
        </p:nvSpPr>
        <p:spPr bwMode="auto">
          <a:xfrm>
            <a:off x="1799282" y="3472498"/>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b="1" dirty="0">
                <a:latin typeface="等线" panose="02010600030101010101" pitchFamily="2" charset="-122"/>
                <a:ea typeface="等线" panose="02010600030101010101" pitchFamily="2" charset="-122"/>
              </a:rPr>
              <a:t>传输层</a:t>
            </a:r>
          </a:p>
        </p:txBody>
      </p:sp>
      <p:sp>
        <p:nvSpPr>
          <p:cNvPr id="83" name="Rectangle 12"/>
          <p:cNvSpPr>
            <a:spLocks noChangeArrowheads="1"/>
          </p:cNvSpPr>
          <p:nvPr/>
        </p:nvSpPr>
        <p:spPr bwMode="auto">
          <a:xfrm>
            <a:off x="1799282" y="4005898"/>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网络层</a:t>
            </a:r>
          </a:p>
        </p:txBody>
      </p:sp>
      <p:sp>
        <p:nvSpPr>
          <p:cNvPr id="84" name="Rectangle 13"/>
          <p:cNvSpPr>
            <a:spLocks noChangeArrowheads="1"/>
          </p:cNvSpPr>
          <p:nvPr/>
        </p:nvSpPr>
        <p:spPr bwMode="auto">
          <a:xfrm>
            <a:off x="1799282" y="4539298"/>
            <a:ext cx="1676400" cy="1066800"/>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接口层</a:t>
            </a:r>
          </a:p>
        </p:txBody>
      </p:sp>
      <p:sp>
        <p:nvSpPr>
          <p:cNvPr id="85" name="Rectangle 9"/>
          <p:cNvSpPr>
            <a:spLocks noChangeArrowheads="1"/>
          </p:cNvSpPr>
          <p:nvPr/>
        </p:nvSpPr>
        <p:spPr bwMode="auto">
          <a:xfrm>
            <a:off x="8166726" y="1886585"/>
            <a:ext cx="1676400" cy="1589088"/>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b="1" dirty="0">
                <a:latin typeface="等线" panose="02010600030101010101" pitchFamily="2" charset="-122"/>
                <a:ea typeface="等线" panose="02010600030101010101" pitchFamily="2" charset="-122"/>
              </a:rPr>
              <a:t>应用层</a:t>
            </a:r>
          </a:p>
        </p:txBody>
      </p:sp>
      <p:sp>
        <p:nvSpPr>
          <p:cNvPr id="86" name="Rectangle 11"/>
          <p:cNvSpPr>
            <a:spLocks noChangeArrowheads="1"/>
          </p:cNvSpPr>
          <p:nvPr/>
        </p:nvSpPr>
        <p:spPr bwMode="auto">
          <a:xfrm>
            <a:off x="8166726" y="3475673"/>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b="1" dirty="0">
                <a:latin typeface="等线" panose="02010600030101010101" pitchFamily="2" charset="-122"/>
                <a:ea typeface="等线" panose="02010600030101010101" pitchFamily="2" charset="-122"/>
              </a:rPr>
              <a:t>传输层</a:t>
            </a:r>
          </a:p>
        </p:txBody>
      </p:sp>
      <p:sp>
        <p:nvSpPr>
          <p:cNvPr id="87" name="Rectangle 12"/>
          <p:cNvSpPr>
            <a:spLocks noChangeArrowheads="1"/>
          </p:cNvSpPr>
          <p:nvPr/>
        </p:nvSpPr>
        <p:spPr bwMode="auto">
          <a:xfrm>
            <a:off x="8166726" y="4009073"/>
            <a:ext cx="1676400" cy="53340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网络层</a:t>
            </a:r>
          </a:p>
        </p:txBody>
      </p:sp>
      <p:sp>
        <p:nvSpPr>
          <p:cNvPr id="88" name="Rectangle 13"/>
          <p:cNvSpPr>
            <a:spLocks noChangeArrowheads="1"/>
          </p:cNvSpPr>
          <p:nvPr/>
        </p:nvSpPr>
        <p:spPr bwMode="auto">
          <a:xfrm>
            <a:off x="8166726" y="4542473"/>
            <a:ext cx="1676400" cy="1066800"/>
          </a:xfrm>
          <a:prstGeom prst="rect">
            <a:avLst/>
          </a:prstGeom>
          <a:solidFill>
            <a:schemeClr val="accent4">
              <a:lumMod val="40000"/>
              <a:lumOff val="6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接口层</a:t>
            </a:r>
          </a:p>
        </p:txBody>
      </p:sp>
      <p:sp>
        <p:nvSpPr>
          <p:cNvPr id="89" name="Line 40"/>
          <p:cNvSpPr>
            <a:spLocks noChangeShapeType="1"/>
          </p:cNvSpPr>
          <p:nvPr/>
        </p:nvSpPr>
        <p:spPr bwMode="auto">
          <a:xfrm flipV="1">
            <a:off x="9011285" y="5606098"/>
            <a:ext cx="0" cy="304800"/>
          </a:xfrm>
          <a:prstGeom prst="line">
            <a:avLst/>
          </a:prstGeom>
          <a:noFill/>
          <a:ln w="190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nvGrpSpPr>
          <p:cNvPr id="97" name="组合 96"/>
          <p:cNvGrpSpPr/>
          <p:nvPr/>
        </p:nvGrpSpPr>
        <p:grpSpPr>
          <a:xfrm>
            <a:off x="5601461" y="4240055"/>
            <a:ext cx="433189" cy="1066800"/>
            <a:chOff x="4668856" y="4067970"/>
            <a:chExt cx="304800" cy="1066800"/>
          </a:xfrm>
        </p:grpSpPr>
        <p:sp>
          <p:nvSpPr>
            <p:cNvPr id="98" name="Line 30"/>
            <p:cNvSpPr>
              <a:spLocks noChangeShapeType="1"/>
            </p:cNvSpPr>
            <p:nvPr/>
          </p:nvSpPr>
          <p:spPr bwMode="auto">
            <a:xfrm>
              <a:off x="4668856" y="40679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06" name="Line 31"/>
            <p:cNvSpPr>
              <a:spLocks noChangeShapeType="1"/>
            </p:cNvSpPr>
            <p:nvPr/>
          </p:nvSpPr>
          <p:spPr bwMode="auto">
            <a:xfrm>
              <a:off x="4668856" y="46013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sp>
          <p:nvSpPr>
            <p:cNvPr id="107" name="Line 32"/>
            <p:cNvSpPr>
              <a:spLocks noChangeShapeType="1"/>
            </p:cNvSpPr>
            <p:nvPr/>
          </p:nvSpPr>
          <p:spPr bwMode="auto">
            <a:xfrm>
              <a:off x="4668856" y="5134770"/>
              <a:ext cx="304800" cy="0"/>
            </a:xfrm>
            <a:prstGeom prst="line">
              <a:avLst/>
            </a:prstGeom>
            <a:noFill/>
            <a:ln w="1905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zh-CN" altLang="en-US" dirty="0">
                <a:latin typeface="等线" panose="02010600030101010101" pitchFamily="2" charset="-122"/>
                <a:ea typeface="等线" panose="02010600030101010101" pitchFamily="2" charset="-122"/>
              </a:endParaRPr>
            </a:p>
          </p:txBody>
        </p:sp>
      </p:grpSp>
      <p:sp>
        <p:nvSpPr>
          <p:cNvPr id="108" name="Rectangle 12"/>
          <p:cNvSpPr>
            <a:spLocks noChangeArrowheads="1"/>
          </p:cNvSpPr>
          <p:nvPr/>
        </p:nvSpPr>
        <p:spPr bwMode="auto">
          <a:xfrm>
            <a:off x="3759919" y="4005898"/>
            <a:ext cx="1844633" cy="53340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网络层</a:t>
            </a:r>
          </a:p>
        </p:txBody>
      </p:sp>
      <p:sp>
        <p:nvSpPr>
          <p:cNvPr id="109" name="Rectangle 13"/>
          <p:cNvSpPr>
            <a:spLocks noChangeArrowheads="1"/>
          </p:cNvSpPr>
          <p:nvPr/>
        </p:nvSpPr>
        <p:spPr bwMode="auto">
          <a:xfrm>
            <a:off x="3759920" y="4539298"/>
            <a:ext cx="928692" cy="1066800"/>
          </a:xfrm>
          <a:prstGeom prst="rect">
            <a:avLst/>
          </a:prstGeom>
          <a:solidFill>
            <a:schemeClr val="accent2">
              <a:lumMod val="20000"/>
              <a:lumOff val="8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接口层</a:t>
            </a:r>
          </a:p>
        </p:txBody>
      </p:sp>
      <p:sp>
        <p:nvSpPr>
          <p:cNvPr id="112" name="Rectangle 13"/>
          <p:cNvSpPr>
            <a:spLocks noChangeArrowheads="1"/>
          </p:cNvSpPr>
          <p:nvPr/>
        </p:nvSpPr>
        <p:spPr bwMode="auto">
          <a:xfrm>
            <a:off x="4677477" y="4539298"/>
            <a:ext cx="928692" cy="1066800"/>
          </a:xfrm>
          <a:prstGeom prst="rect">
            <a:avLst/>
          </a:prstGeom>
          <a:solidFill>
            <a:schemeClr val="accent6">
              <a:lumMod val="40000"/>
              <a:lumOff val="6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接口层</a:t>
            </a:r>
          </a:p>
        </p:txBody>
      </p:sp>
      <p:sp>
        <p:nvSpPr>
          <p:cNvPr id="113" name="Rectangle 12"/>
          <p:cNvSpPr>
            <a:spLocks noChangeArrowheads="1"/>
          </p:cNvSpPr>
          <p:nvPr/>
        </p:nvSpPr>
        <p:spPr bwMode="auto">
          <a:xfrm>
            <a:off x="6036268" y="4009074"/>
            <a:ext cx="1844633" cy="533400"/>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网络层</a:t>
            </a:r>
          </a:p>
        </p:txBody>
      </p:sp>
      <p:sp>
        <p:nvSpPr>
          <p:cNvPr id="114" name="Rectangle 13"/>
          <p:cNvSpPr>
            <a:spLocks noChangeArrowheads="1"/>
          </p:cNvSpPr>
          <p:nvPr/>
        </p:nvSpPr>
        <p:spPr bwMode="auto">
          <a:xfrm>
            <a:off x="6036269" y="4542474"/>
            <a:ext cx="928692" cy="1066800"/>
          </a:xfrm>
          <a:prstGeom prst="rect">
            <a:avLst/>
          </a:prstGeom>
          <a:solidFill>
            <a:schemeClr val="accent6">
              <a:lumMod val="40000"/>
              <a:lumOff val="6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接口层</a:t>
            </a:r>
          </a:p>
        </p:txBody>
      </p:sp>
      <p:sp>
        <p:nvSpPr>
          <p:cNvPr id="115" name="Rectangle 13"/>
          <p:cNvSpPr>
            <a:spLocks noChangeArrowheads="1"/>
          </p:cNvSpPr>
          <p:nvPr/>
        </p:nvSpPr>
        <p:spPr bwMode="auto">
          <a:xfrm>
            <a:off x="6953826" y="4542474"/>
            <a:ext cx="928692" cy="1066800"/>
          </a:xfrm>
          <a:prstGeom prst="rect">
            <a:avLst/>
          </a:prstGeom>
          <a:solidFill>
            <a:schemeClr val="accent4">
              <a:lumMod val="40000"/>
              <a:lumOff val="60000"/>
            </a:schemeClr>
          </a:solidFill>
          <a:ln w="9525">
            <a:solidFill>
              <a:schemeClr val="tx1"/>
            </a:solidFill>
            <a:miter lim="800000"/>
          </a:ln>
        </p:spPr>
        <p:txBody>
          <a:bodyPr wrap="none" anchor="ct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a:spcBef>
                <a:spcPct val="0"/>
              </a:spcBef>
              <a:buNone/>
            </a:pPr>
            <a:r>
              <a:rPr lang="zh-CN" altLang="en-US" sz="2000" b="1" dirty="0">
                <a:latin typeface="等线" panose="02010600030101010101" pitchFamily="2" charset="-122"/>
                <a:ea typeface="等线" panose="02010600030101010101" pitchFamily="2" charset="-122"/>
              </a:rPr>
              <a:t>接口层</a:t>
            </a:r>
          </a:p>
        </p:txBody>
      </p:sp>
      <p:sp>
        <p:nvSpPr>
          <p:cNvPr id="116" name="Text Box 46"/>
          <p:cNvSpPr txBox="1">
            <a:spLocks noChangeArrowheads="1"/>
          </p:cNvSpPr>
          <p:nvPr/>
        </p:nvSpPr>
        <p:spPr bwMode="auto">
          <a:xfrm>
            <a:off x="6471200" y="3626428"/>
            <a:ext cx="94869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spcBef>
                <a:spcPct val="0"/>
              </a:spcBef>
              <a:buFontTx/>
              <a:buNone/>
            </a:pPr>
            <a:r>
              <a:rPr kumimoji="0" lang="zh-CN" altLang="en-US" sz="2000" b="1" dirty="0">
                <a:solidFill>
                  <a:srgbClr val="000099"/>
                </a:solidFill>
                <a:latin typeface="等线" panose="02010600030101010101" pitchFamily="2" charset="-122"/>
                <a:ea typeface="等线" panose="02010600030101010101" pitchFamily="2" charset="-122"/>
              </a:rPr>
              <a:t>路由器</a:t>
            </a:r>
          </a:p>
        </p:txBody>
      </p:sp>
      <p:sp>
        <p:nvSpPr>
          <p:cNvPr id="117" name="Text Box 42"/>
          <p:cNvSpPr txBox="1">
            <a:spLocks noChangeArrowheads="1"/>
          </p:cNvSpPr>
          <p:nvPr/>
        </p:nvSpPr>
        <p:spPr bwMode="auto">
          <a:xfrm>
            <a:off x="1875247" y="1400730"/>
            <a:ext cx="15178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b="1" dirty="0">
                <a:solidFill>
                  <a:schemeClr val="accent1">
                    <a:lumMod val="75000"/>
                  </a:schemeClr>
                </a:solidFill>
                <a:latin typeface="等线" panose="02010600030101010101" pitchFamily="2" charset="-122"/>
                <a:ea typeface="等线" panose="02010600030101010101" pitchFamily="2" charset="-122"/>
              </a:rPr>
              <a:t>主机</a:t>
            </a:r>
            <a:r>
              <a:rPr kumimoji="0" lang="en-US" altLang="zh-CN" sz="2000" b="1" dirty="0">
                <a:solidFill>
                  <a:schemeClr val="accent1">
                    <a:lumMod val="75000"/>
                  </a:schemeClr>
                </a:solidFill>
                <a:latin typeface="等线" panose="02010600030101010101" pitchFamily="2" charset="-122"/>
                <a:ea typeface="等线" panose="02010600030101010101" pitchFamily="2" charset="-122"/>
              </a:rPr>
              <a:t>A</a:t>
            </a:r>
          </a:p>
        </p:txBody>
      </p:sp>
      <p:sp>
        <p:nvSpPr>
          <p:cNvPr id="118" name="Text Box 42"/>
          <p:cNvSpPr txBox="1">
            <a:spLocks noChangeArrowheads="1"/>
          </p:cNvSpPr>
          <p:nvPr/>
        </p:nvSpPr>
        <p:spPr bwMode="auto">
          <a:xfrm>
            <a:off x="8226256" y="1410180"/>
            <a:ext cx="151787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3200">
                <a:solidFill>
                  <a:schemeClr val="tx1"/>
                </a:solidFill>
                <a:latin typeface="Times New Roman" panose="02020603050405020304" pitchFamily="18" charset="0"/>
                <a:ea typeface="Gulim" pitchFamily="34" charset="-127"/>
              </a:defRPr>
            </a:lvl1pPr>
            <a:lvl2pPr marL="742950" indent="-285750">
              <a:spcBef>
                <a:spcPct val="20000"/>
              </a:spcBef>
              <a:buBlip>
                <a:blip r:embed="rId3"/>
              </a:buBlip>
              <a:defRPr sz="2800">
                <a:solidFill>
                  <a:schemeClr val="tx1"/>
                </a:solidFill>
                <a:latin typeface="Times New Roman" panose="02020603050405020304" pitchFamily="18" charset="0"/>
                <a:ea typeface="Gulim" pitchFamily="34" charset="-127"/>
              </a:defRPr>
            </a:lvl2pPr>
            <a:lvl3pPr marL="1143000" indent="-228600">
              <a:spcBef>
                <a:spcPct val="20000"/>
              </a:spcBef>
              <a:buFont typeface="Times New Roman" panose="02020603050405020304" pitchFamily="18" charset="0"/>
              <a:buChar char="–"/>
              <a:defRPr sz="2400">
                <a:solidFill>
                  <a:schemeClr val="tx1"/>
                </a:solidFill>
                <a:latin typeface="Times New Roman" panose="02020603050405020304" pitchFamily="18" charset="0"/>
                <a:ea typeface="Gulim" pitchFamily="34" charset="-127"/>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Gulim" pitchFamily="34" charset="-127"/>
              </a:defRPr>
            </a:lvl4pPr>
            <a:lvl5pPr marL="2057400" indent="-228600">
              <a:spcBef>
                <a:spcPct val="20000"/>
              </a:spcBef>
              <a:buChar char="»"/>
              <a:defRPr sz="2000">
                <a:solidFill>
                  <a:schemeClr val="tx1"/>
                </a:solidFill>
                <a:latin typeface="Times New Roman" panose="02020603050405020304" pitchFamily="18" charset="0"/>
                <a:ea typeface="Gulim"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Gulim" pitchFamily="34" charset="-127"/>
              </a:defRPr>
            </a:lvl9pPr>
          </a:lstStyle>
          <a:p>
            <a:pPr algn="ctr" eaLnBrk="1" hangingPunct="1">
              <a:spcBef>
                <a:spcPct val="0"/>
              </a:spcBef>
              <a:buFontTx/>
              <a:buNone/>
            </a:pPr>
            <a:r>
              <a:rPr kumimoji="0" lang="zh-CN" altLang="en-US" sz="2000" b="1" dirty="0">
                <a:solidFill>
                  <a:schemeClr val="accent1">
                    <a:lumMod val="75000"/>
                  </a:schemeClr>
                </a:solidFill>
                <a:latin typeface="等线" panose="02010600030101010101" pitchFamily="2" charset="-122"/>
                <a:ea typeface="等线" panose="02010600030101010101" pitchFamily="2" charset="-122"/>
              </a:rPr>
              <a:t>主机</a:t>
            </a:r>
            <a:r>
              <a:rPr kumimoji="0" lang="en-US" altLang="zh-CN" sz="2000" b="1" dirty="0">
                <a:solidFill>
                  <a:schemeClr val="accent1">
                    <a:lumMod val="75000"/>
                  </a:schemeClr>
                </a:solidFill>
                <a:latin typeface="等线" panose="02010600030101010101" pitchFamily="2" charset="-122"/>
                <a:ea typeface="等线" panose="02010600030101010101" pitchFamily="2" charset="-122"/>
              </a:rPr>
              <a:t>B</a:t>
            </a:r>
          </a:p>
        </p:txBody>
      </p:sp>
      <p:sp>
        <p:nvSpPr>
          <p:cNvPr id="120" name="矩形 119"/>
          <p:cNvSpPr/>
          <p:nvPr/>
        </p:nvSpPr>
        <p:spPr bwMode="auto">
          <a:xfrm>
            <a:off x="1770576" y="4013294"/>
            <a:ext cx="8094958" cy="540836"/>
          </a:xfrm>
          <a:prstGeom prst="rect">
            <a:avLst/>
          </a:prstGeom>
          <a:solidFill>
            <a:schemeClr val="accent6">
              <a:lumMod val="75000"/>
              <a:alpha val="32000"/>
            </a:schemeClr>
          </a:solidFill>
          <a:ln w="28575" cap="flat" cmpd="sng" algn="ctr">
            <a:solidFill>
              <a:srgbClr val="C00000"/>
            </a:solid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anose="05050102010706020507" pitchFamily="18" charset="2"/>
              <a:buBlip>
                <a:blip r:embed="rId2"/>
              </a:buBlip>
            </a:pPr>
            <a:endParaRPr kumimoji="1" lang="zh-CN" altLang="en-US" sz="2800" b="1"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p:txBody>
      </p:sp>
      <p:sp>
        <p:nvSpPr>
          <p:cNvPr id="5" name="矩形 4"/>
          <p:cNvSpPr/>
          <p:nvPr/>
        </p:nvSpPr>
        <p:spPr bwMode="auto">
          <a:xfrm>
            <a:off x="1951152" y="3418533"/>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marR="0" indent="-342900" algn="ctr" defTabSz="914400" rtl="0" eaLnBrk="1" fontAlgn="base" latinLnBrk="0" hangingPunct="1">
              <a:lnSpc>
                <a:spcPct val="120000"/>
              </a:lnSpc>
              <a:spcBef>
                <a:spcPct val="10000"/>
              </a:spcBef>
              <a:spcAft>
                <a:spcPct val="0"/>
              </a:spcAft>
              <a:buClr>
                <a:schemeClr val="tx1"/>
              </a:buClr>
              <a:buSzTx/>
              <a:buFont typeface="Symbol" panose="05050102010706020507" pitchFamily="18" charset="2"/>
              <a:buBlip>
                <a:blip r:embed="rId2"/>
              </a:buBlip>
            </a:pPr>
            <a:endParaRPr kumimoji="1" lang="zh-CN" altLang="en-US" sz="2800" b="1" i="0" u="none" strike="noStrike" cap="none" normalizeH="0" baseline="0" dirty="0">
              <a:ln>
                <a:noFill/>
              </a:ln>
              <a:solidFill>
                <a:schemeClr val="tx1"/>
              </a:solidFill>
              <a:effectLst/>
              <a:latin typeface="等线" panose="02010600030101010101" pitchFamily="2" charset="-122"/>
              <a:ea typeface="等线" panose="02010600030101010101" pitchFamily="2" charset="-122"/>
            </a:endParaRPr>
          </a:p>
        </p:txBody>
      </p:sp>
      <p:sp>
        <p:nvSpPr>
          <p:cNvPr id="6" name="矩形 5"/>
          <p:cNvSpPr/>
          <p:nvPr/>
        </p:nvSpPr>
        <p:spPr bwMode="auto">
          <a:xfrm>
            <a:off x="2696637" y="3416344"/>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b="1" dirty="0">
              <a:latin typeface="等线" panose="02010600030101010101" pitchFamily="2" charset="-122"/>
              <a:ea typeface="等线" panose="02010600030101010101" pitchFamily="2" charset="-122"/>
            </a:endParaRPr>
          </a:p>
        </p:txBody>
      </p:sp>
      <p:sp>
        <p:nvSpPr>
          <p:cNvPr id="7" name="矩形 6"/>
          <p:cNvSpPr/>
          <p:nvPr/>
        </p:nvSpPr>
        <p:spPr bwMode="auto">
          <a:xfrm>
            <a:off x="3074481" y="3413771"/>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b="1" dirty="0">
              <a:latin typeface="等线" panose="02010600030101010101" pitchFamily="2" charset="-122"/>
              <a:ea typeface="等线" panose="02010600030101010101" pitchFamily="2" charset="-122"/>
            </a:endParaRPr>
          </a:p>
        </p:txBody>
      </p:sp>
      <p:sp>
        <p:nvSpPr>
          <p:cNvPr id="8" name="矩形 7"/>
          <p:cNvSpPr/>
          <p:nvPr/>
        </p:nvSpPr>
        <p:spPr bwMode="auto">
          <a:xfrm>
            <a:off x="2326750" y="3413771"/>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b="1" dirty="0">
              <a:latin typeface="等线" panose="02010600030101010101" pitchFamily="2" charset="-122"/>
              <a:ea typeface="等线" panose="02010600030101010101" pitchFamily="2" charset="-122"/>
            </a:endParaRPr>
          </a:p>
        </p:txBody>
      </p:sp>
      <p:sp>
        <p:nvSpPr>
          <p:cNvPr id="9" name="矩形 8"/>
          <p:cNvSpPr/>
          <p:nvPr/>
        </p:nvSpPr>
        <p:spPr bwMode="auto">
          <a:xfrm>
            <a:off x="8340685" y="3416555"/>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b="1" dirty="0">
              <a:latin typeface="等线" panose="02010600030101010101" pitchFamily="2" charset="-122"/>
              <a:ea typeface="等线" panose="02010600030101010101" pitchFamily="2" charset="-122"/>
            </a:endParaRPr>
          </a:p>
        </p:txBody>
      </p:sp>
      <p:sp>
        <p:nvSpPr>
          <p:cNvPr id="10" name="矩形 9"/>
          <p:cNvSpPr/>
          <p:nvPr/>
        </p:nvSpPr>
        <p:spPr bwMode="auto">
          <a:xfrm>
            <a:off x="9086170" y="3414366"/>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b="1" dirty="0">
              <a:latin typeface="等线" panose="02010600030101010101" pitchFamily="2" charset="-122"/>
              <a:ea typeface="等线" panose="02010600030101010101" pitchFamily="2" charset="-122"/>
            </a:endParaRPr>
          </a:p>
        </p:txBody>
      </p:sp>
      <p:sp>
        <p:nvSpPr>
          <p:cNvPr id="11" name="矩形 10"/>
          <p:cNvSpPr/>
          <p:nvPr/>
        </p:nvSpPr>
        <p:spPr bwMode="auto">
          <a:xfrm>
            <a:off x="9464014" y="3411793"/>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b="1" dirty="0">
              <a:latin typeface="等线" panose="02010600030101010101" pitchFamily="2" charset="-122"/>
              <a:ea typeface="等线" panose="02010600030101010101" pitchFamily="2" charset="-122"/>
            </a:endParaRPr>
          </a:p>
        </p:txBody>
      </p:sp>
      <p:sp>
        <p:nvSpPr>
          <p:cNvPr id="12" name="矩形 11"/>
          <p:cNvSpPr/>
          <p:nvPr/>
        </p:nvSpPr>
        <p:spPr bwMode="auto">
          <a:xfrm>
            <a:off x="8716283" y="3411793"/>
            <a:ext cx="222250" cy="114298"/>
          </a:xfrm>
          <a:prstGeom prst="rect">
            <a:avLst/>
          </a:prstGeom>
          <a:solidFill>
            <a:schemeClr val="accent2">
              <a:lumMod val="7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342900" indent="-342900" algn="ctr" fontAlgn="base">
              <a:lnSpc>
                <a:spcPct val="120000"/>
              </a:lnSpc>
              <a:spcBef>
                <a:spcPct val="10000"/>
              </a:spcBef>
              <a:spcAft>
                <a:spcPct val="0"/>
              </a:spcAft>
              <a:buClr>
                <a:schemeClr val="tx1"/>
              </a:buClr>
              <a:buBlip>
                <a:blip r:embed="rId2"/>
              </a:buBlip>
            </a:pPr>
            <a:endParaRPr kumimoji="1" lang="zh-CN" altLang="en-US" sz="2800" b="1" dirty="0">
              <a:latin typeface="等线" panose="02010600030101010101" pitchFamily="2" charset="-122"/>
              <a:ea typeface="等线" panose="02010600030101010101" pitchFamily="2" charset="-122"/>
            </a:endParaRPr>
          </a:p>
        </p:txBody>
      </p:sp>
      <p:sp>
        <p:nvSpPr>
          <p:cNvPr id="13" name="矩形 12"/>
          <p:cNvSpPr/>
          <p:nvPr/>
        </p:nvSpPr>
        <p:spPr>
          <a:xfrm>
            <a:off x="3671060" y="6190298"/>
            <a:ext cx="3860800" cy="368300"/>
          </a:xfrm>
          <a:prstGeom prst="rect">
            <a:avLst/>
          </a:prstGeom>
          <a:solidFill>
            <a:schemeClr val="accent1">
              <a:lumMod val="40000"/>
              <a:lumOff val="60000"/>
            </a:schemeClr>
          </a:solidFill>
          <a:ln>
            <a:solidFill>
              <a:schemeClr val="accent2"/>
            </a:solidFill>
          </a:ln>
        </p:spPr>
        <p:txBody>
          <a:bodyPr wrap="none">
            <a:spAutoFit/>
          </a:bodyPr>
          <a:lstStyle/>
          <a:p>
            <a:pPr algn="ctr">
              <a:spcBef>
                <a:spcPct val="0"/>
              </a:spcBef>
              <a:buNone/>
            </a:pPr>
            <a:r>
              <a:rPr lang="zh-CN" altLang="en-US" b="1" dirty="0">
                <a:latin typeface="等线" panose="02010600030101010101" pitchFamily="2" charset="-122"/>
                <a:ea typeface="等线" panose="02010600030101010101" pitchFamily="2" charset="-122"/>
              </a:rPr>
              <a:t>接口层通常包括数据链路层和物理层</a:t>
            </a:r>
          </a:p>
        </p:txBody>
      </p:sp>
      <p:sp>
        <p:nvSpPr>
          <p:cNvPr id="3" name="日期占位符 9"/>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sym typeface="+mn-ea"/>
              </a:rPr>
              <a:t>5.1.1 </a:t>
            </a:r>
            <a:r>
              <a:rPr kumimoji="1" lang="zh-CN" altLang="en-US" dirty="0">
                <a:latin typeface="DengXian" panose="02010600030101010101" pitchFamily="2" charset="-122"/>
                <a:ea typeface="DengXian" panose="02010600030101010101" pitchFamily="2" charset="-122"/>
                <a:sym typeface="+mn-ea"/>
              </a:rPr>
              <a:t>网络层服务概述</a:t>
            </a:r>
            <a:endParaRPr kumimoji="1"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0387180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kumimoji="1" lang="zh-CN" altLang="zh-CN" dirty="0">
                <a:solidFill>
                  <a:prstClr val="black"/>
                </a:solidFill>
                <a:sym typeface="+mn-ea"/>
              </a:rPr>
              <a:t>网络层服务的实现</a:t>
            </a:r>
            <a:endParaRPr kumimoji="1" lang="zh-CN" altLang="en-US" dirty="0"/>
          </a:p>
        </p:txBody>
      </p:sp>
      <p:sp>
        <p:nvSpPr>
          <p:cNvPr id="4" name="灯片编号占位符 3"/>
          <p:cNvSpPr>
            <a:spLocks noGrp="1"/>
          </p:cNvSpPr>
          <p:nvPr>
            <p:ph type="sldNum" sz="quarter" idx="12"/>
          </p:nvPr>
        </p:nvSpPr>
        <p:spPr>
          <a:xfrm>
            <a:off x="9317990" y="6551930"/>
            <a:ext cx="2743200" cy="365125"/>
          </a:xfrm>
        </p:spPr>
        <p:txBody>
          <a:bodyPr/>
          <a:lstStyle/>
          <a:p>
            <a:fld id="{8D4D1E41-7A09-AB4A-A4E1-09765ADA2698}" type="slidenum">
              <a:rPr kumimoji="1" lang="zh-CN" altLang="en-US" smtClean="0"/>
              <a:t>6</a:t>
            </a:fld>
            <a:endParaRPr kumimoji="1" lang="zh-CN" altLang="en-US" dirty="0"/>
          </a:p>
        </p:txBody>
      </p:sp>
      <p:sp>
        <p:nvSpPr>
          <p:cNvPr id="5" name="Freeform 1285"/>
          <p:cNvSpPr/>
          <p:nvPr/>
        </p:nvSpPr>
        <p:spPr bwMode="auto">
          <a:xfrm>
            <a:off x="8749465" y="4017328"/>
            <a:ext cx="1314450" cy="674687"/>
          </a:xfrm>
          <a:custGeom>
            <a:avLst/>
            <a:gdLst>
              <a:gd name="T0" fmla="*/ 2147483647 w 828"/>
              <a:gd name="T1" fmla="*/ 2147483647 h 425"/>
              <a:gd name="T2" fmla="*/ 2147483647 w 828"/>
              <a:gd name="T3" fmla="*/ 2147483647 h 425"/>
              <a:gd name="T4" fmla="*/ 2147483647 w 828"/>
              <a:gd name="T5" fmla="*/ 2147483647 h 425"/>
              <a:gd name="T6" fmla="*/ 2147483647 w 828"/>
              <a:gd name="T7" fmla="*/ 2147483647 h 425"/>
              <a:gd name="T8" fmla="*/ 2147483647 w 828"/>
              <a:gd name="T9" fmla="*/ 2147483647 h 425"/>
              <a:gd name="T10" fmla="*/ 2147483647 w 828"/>
              <a:gd name="T11" fmla="*/ 2147483647 h 425"/>
              <a:gd name="T12" fmla="*/ 2147483647 w 828"/>
              <a:gd name="T13" fmla="*/ 2147483647 h 425"/>
              <a:gd name="T14" fmla="*/ 2147483647 w 828"/>
              <a:gd name="T15" fmla="*/ 2147483647 h 425"/>
              <a:gd name="T16" fmla="*/ 2147483647 w 828"/>
              <a:gd name="T17" fmla="*/ 2147483647 h 425"/>
              <a:gd name="T18" fmla="*/ 2147483647 w 828"/>
              <a:gd name="T19" fmla="*/ 2147483647 h 425"/>
              <a:gd name="T20" fmla="*/ 2147483647 w 828"/>
              <a:gd name="T21" fmla="*/ 2147483647 h 425"/>
              <a:gd name="T22" fmla="*/ 2147483647 w 828"/>
              <a:gd name="T23" fmla="*/ 2147483647 h 42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8"/>
              <a:gd name="T37" fmla="*/ 0 h 425"/>
              <a:gd name="T38" fmla="*/ 828 w 828"/>
              <a:gd name="T39" fmla="*/ 425 h 42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8" h="425">
                <a:moveTo>
                  <a:pt x="382" y="30"/>
                </a:moveTo>
                <a:cubicBezTo>
                  <a:pt x="350" y="29"/>
                  <a:pt x="413" y="30"/>
                  <a:pt x="370" y="30"/>
                </a:cubicBezTo>
                <a:cubicBezTo>
                  <a:pt x="327" y="30"/>
                  <a:pt x="187" y="16"/>
                  <a:pt x="126" y="32"/>
                </a:cubicBezTo>
                <a:cubicBezTo>
                  <a:pt x="65" y="48"/>
                  <a:pt x="12" y="86"/>
                  <a:pt x="6" y="126"/>
                </a:cubicBezTo>
                <a:cubicBezTo>
                  <a:pt x="0" y="166"/>
                  <a:pt x="44" y="231"/>
                  <a:pt x="92" y="274"/>
                </a:cubicBezTo>
                <a:cubicBezTo>
                  <a:pt x="140" y="317"/>
                  <a:pt x="217" y="360"/>
                  <a:pt x="292" y="384"/>
                </a:cubicBezTo>
                <a:cubicBezTo>
                  <a:pt x="367" y="408"/>
                  <a:pt x="472" y="425"/>
                  <a:pt x="540" y="416"/>
                </a:cubicBezTo>
                <a:cubicBezTo>
                  <a:pt x="608" y="407"/>
                  <a:pt x="659" y="371"/>
                  <a:pt x="698" y="330"/>
                </a:cubicBezTo>
                <a:cubicBezTo>
                  <a:pt x="737" y="289"/>
                  <a:pt x="760" y="221"/>
                  <a:pt x="776" y="170"/>
                </a:cubicBezTo>
                <a:cubicBezTo>
                  <a:pt x="792" y="119"/>
                  <a:pt x="828" y="44"/>
                  <a:pt x="792" y="22"/>
                </a:cubicBezTo>
                <a:cubicBezTo>
                  <a:pt x="756" y="0"/>
                  <a:pt x="630" y="37"/>
                  <a:pt x="560" y="38"/>
                </a:cubicBezTo>
                <a:cubicBezTo>
                  <a:pt x="490" y="39"/>
                  <a:pt x="414" y="31"/>
                  <a:pt x="382" y="30"/>
                </a:cubicBezTo>
                <a:close/>
              </a:path>
            </a:pathLst>
          </a:custGeom>
          <a:solidFill>
            <a:srgbClr val="00CC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6" name="Freeform 1286"/>
          <p:cNvSpPr/>
          <p:nvPr/>
        </p:nvSpPr>
        <p:spPr bwMode="auto">
          <a:xfrm>
            <a:off x="8768515" y="2491740"/>
            <a:ext cx="1730375" cy="1125538"/>
          </a:xfrm>
          <a:custGeom>
            <a:avLst/>
            <a:gdLst>
              <a:gd name="T0" fmla="*/ 2147483647 w 765"/>
              <a:gd name="T1" fmla="*/ 2147483647 h 459"/>
              <a:gd name="T2" fmla="*/ 2147483647 w 765"/>
              <a:gd name="T3" fmla="*/ 2147483647 h 459"/>
              <a:gd name="T4" fmla="*/ 2147483647 w 765"/>
              <a:gd name="T5" fmla="*/ 2147483647 h 459"/>
              <a:gd name="T6" fmla="*/ 2147483647 w 765"/>
              <a:gd name="T7" fmla="*/ 2147483647 h 459"/>
              <a:gd name="T8" fmla="*/ 2147483647 w 765"/>
              <a:gd name="T9" fmla="*/ 2147483647 h 459"/>
              <a:gd name="T10" fmla="*/ 2147483647 w 765"/>
              <a:gd name="T11" fmla="*/ 2147483647 h 459"/>
              <a:gd name="T12" fmla="*/ 2147483647 w 765"/>
              <a:gd name="T13" fmla="*/ 2147483647 h 459"/>
              <a:gd name="T14" fmla="*/ 2147483647 w 765"/>
              <a:gd name="T15" fmla="*/ 2147483647 h 459"/>
              <a:gd name="T16" fmla="*/ 2147483647 w 765"/>
              <a:gd name="T17" fmla="*/ 2147483647 h 459"/>
              <a:gd name="T18" fmla="*/ 2147483647 w 765"/>
              <a:gd name="T19" fmla="*/ 2147483647 h 459"/>
              <a:gd name="T20" fmla="*/ 2147483647 w 765"/>
              <a:gd name="T21" fmla="*/ 2147483647 h 459"/>
              <a:gd name="T22" fmla="*/ 2147483647 w 765"/>
              <a:gd name="T23" fmla="*/ 2147483647 h 45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765"/>
              <a:gd name="T37" fmla="*/ 0 h 459"/>
              <a:gd name="T38" fmla="*/ 765 w 765"/>
              <a:gd name="T39" fmla="*/ 459 h 45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765" h="459">
                <a:moveTo>
                  <a:pt x="424" y="10"/>
                </a:moveTo>
                <a:cubicBezTo>
                  <a:pt x="362" y="16"/>
                  <a:pt x="343" y="55"/>
                  <a:pt x="288" y="70"/>
                </a:cubicBezTo>
                <a:cubicBezTo>
                  <a:pt x="233" y="85"/>
                  <a:pt x="142" y="56"/>
                  <a:pt x="96" y="100"/>
                </a:cubicBezTo>
                <a:cubicBezTo>
                  <a:pt x="50" y="144"/>
                  <a:pt x="0" y="279"/>
                  <a:pt x="14" y="336"/>
                </a:cubicBezTo>
                <a:cubicBezTo>
                  <a:pt x="28" y="393"/>
                  <a:pt x="125" y="429"/>
                  <a:pt x="180" y="444"/>
                </a:cubicBezTo>
                <a:cubicBezTo>
                  <a:pt x="235" y="459"/>
                  <a:pt x="279" y="426"/>
                  <a:pt x="346" y="426"/>
                </a:cubicBezTo>
                <a:cubicBezTo>
                  <a:pt x="413" y="426"/>
                  <a:pt x="525" y="443"/>
                  <a:pt x="584" y="444"/>
                </a:cubicBezTo>
                <a:cubicBezTo>
                  <a:pt x="643" y="445"/>
                  <a:pt x="670" y="446"/>
                  <a:pt x="698" y="434"/>
                </a:cubicBezTo>
                <a:cubicBezTo>
                  <a:pt x="726" y="422"/>
                  <a:pt x="743" y="418"/>
                  <a:pt x="752" y="372"/>
                </a:cubicBezTo>
                <a:cubicBezTo>
                  <a:pt x="761" y="326"/>
                  <a:pt x="765" y="214"/>
                  <a:pt x="750" y="158"/>
                </a:cubicBezTo>
                <a:cubicBezTo>
                  <a:pt x="735" y="102"/>
                  <a:pt x="716" y="58"/>
                  <a:pt x="662" y="34"/>
                </a:cubicBezTo>
                <a:cubicBezTo>
                  <a:pt x="608" y="10"/>
                  <a:pt x="505" y="0"/>
                  <a:pt x="424" y="10"/>
                </a:cubicBezTo>
                <a:close/>
              </a:path>
            </a:pathLst>
          </a:custGeom>
          <a:gradFill rotWithShape="1">
            <a:gsLst>
              <a:gs pos="0">
                <a:srgbClr val="00CCFF"/>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7" name="Freeform 1287"/>
          <p:cNvSpPr/>
          <p:nvPr/>
        </p:nvSpPr>
        <p:spPr bwMode="auto">
          <a:xfrm>
            <a:off x="6947652" y="2199640"/>
            <a:ext cx="1736725" cy="1071563"/>
          </a:xfrm>
          <a:custGeom>
            <a:avLst/>
            <a:gdLst>
              <a:gd name="T0" fmla="*/ 2147483647 w 1036"/>
              <a:gd name="T1" fmla="*/ 2147483647 h 675"/>
              <a:gd name="T2" fmla="*/ 2147483647 w 1036"/>
              <a:gd name="T3" fmla="*/ 2147483647 h 675"/>
              <a:gd name="T4" fmla="*/ 2147483647 w 1036"/>
              <a:gd name="T5" fmla="*/ 2147483647 h 675"/>
              <a:gd name="T6" fmla="*/ 2147483647 w 1036"/>
              <a:gd name="T7" fmla="*/ 2147483647 h 675"/>
              <a:gd name="T8" fmla="*/ 2147483647 w 1036"/>
              <a:gd name="T9" fmla="*/ 2147483647 h 675"/>
              <a:gd name="T10" fmla="*/ 2147483647 w 1036"/>
              <a:gd name="T11" fmla="*/ 2147483647 h 675"/>
              <a:gd name="T12" fmla="*/ 2147483647 w 1036"/>
              <a:gd name="T13" fmla="*/ 2147483647 h 675"/>
              <a:gd name="T14" fmla="*/ 2147483647 w 1036"/>
              <a:gd name="T15" fmla="*/ 2147483647 h 675"/>
              <a:gd name="T16" fmla="*/ 2147483647 w 1036"/>
              <a:gd name="T17" fmla="*/ 2147483647 h 675"/>
              <a:gd name="T18" fmla="*/ 2147483647 w 1036"/>
              <a:gd name="T19" fmla="*/ 2147483647 h 675"/>
              <a:gd name="T20" fmla="*/ 2147483647 w 1036"/>
              <a:gd name="T21" fmla="*/ 2147483647 h 675"/>
              <a:gd name="T22" fmla="*/ 2147483647 w 1036"/>
              <a:gd name="T23" fmla="*/ 2147483647 h 675"/>
              <a:gd name="T24" fmla="*/ 2147483647 w 1036"/>
              <a:gd name="T25" fmla="*/ 2147483647 h 675"/>
              <a:gd name="T26" fmla="*/ 2147483647 w 1036"/>
              <a:gd name="T27" fmla="*/ 2147483647 h 675"/>
              <a:gd name="T28" fmla="*/ 2147483647 w 1036"/>
              <a:gd name="T29" fmla="*/ 2147483647 h 675"/>
              <a:gd name="T30" fmla="*/ 2147483647 w 1036"/>
              <a:gd name="T31" fmla="*/ 2147483647 h 675"/>
              <a:gd name="T32" fmla="*/ 2147483647 w 1036"/>
              <a:gd name="T33" fmla="*/ 2147483647 h 675"/>
              <a:gd name="T34" fmla="*/ 2147483647 w 1036"/>
              <a:gd name="T35" fmla="*/ 2147483647 h 67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6"/>
              <a:gd name="T55" fmla="*/ 0 h 675"/>
              <a:gd name="T56" fmla="*/ 1036 w 1036"/>
              <a:gd name="T57" fmla="*/ 675 h 675"/>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6" h="675">
                <a:moveTo>
                  <a:pt x="648" y="11"/>
                </a:moveTo>
                <a:cubicBezTo>
                  <a:pt x="584" y="19"/>
                  <a:pt x="464" y="33"/>
                  <a:pt x="390" y="53"/>
                </a:cubicBezTo>
                <a:cubicBezTo>
                  <a:pt x="316" y="73"/>
                  <a:pt x="246" y="100"/>
                  <a:pt x="206" y="129"/>
                </a:cubicBezTo>
                <a:cubicBezTo>
                  <a:pt x="166" y="158"/>
                  <a:pt x="183" y="201"/>
                  <a:pt x="152" y="229"/>
                </a:cubicBezTo>
                <a:cubicBezTo>
                  <a:pt x="121" y="257"/>
                  <a:pt x="44" y="259"/>
                  <a:pt x="22" y="297"/>
                </a:cubicBezTo>
                <a:cubicBezTo>
                  <a:pt x="0" y="335"/>
                  <a:pt x="0" y="427"/>
                  <a:pt x="18" y="459"/>
                </a:cubicBezTo>
                <a:cubicBezTo>
                  <a:pt x="36" y="491"/>
                  <a:pt x="59" y="484"/>
                  <a:pt x="132" y="489"/>
                </a:cubicBezTo>
                <a:cubicBezTo>
                  <a:pt x="205" y="494"/>
                  <a:pt x="380" y="478"/>
                  <a:pt x="458" y="489"/>
                </a:cubicBezTo>
                <a:cubicBezTo>
                  <a:pt x="536" y="500"/>
                  <a:pt x="549" y="527"/>
                  <a:pt x="598" y="555"/>
                </a:cubicBezTo>
                <a:cubicBezTo>
                  <a:pt x="647" y="583"/>
                  <a:pt x="707" y="639"/>
                  <a:pt x="752" y="657"/>
                </a:cubicBezTo>
                <a:cubicBezTo>
                  <a:pt x="797" y="675"/>
                  <a:pt x="837" y="670"/>
                  <a:pt x="870" y="661"/>
                </a:cubicBezTo>
                <a:cubicBezTo>
                  <a:pt x="903" y="652"/>
                  <a:pt x="932" y="639"/>
                  <a:pt x="952" y="603"/>
                </a:cubicBezTo>
                <a:cubicBezTo>
                  <a:pt x="972" y="567"/>
                  <a:pt x="981" y="497"/>
                  <a:pt x="992" y="445"/>
                </a:cubicBezTo>
                <a:cubicBezTo>
                  <a:pt x="1003" y="393"/>
                  <a:pt x="1013" y="347"/>
                  <a:pt x="1018" y="291"/>
                </a:cubicBezTo>
                <a:cubicBezTo>
                  <a:pt x="1023" y="235"/>
                  <a:pt x="1036" y="153"/>
                  <a:pt x="1022" y="107"/>
                </a:cubicBezTo>
                <a:cubicBezTo>
                  <a:pt x="1008" y="61"/>
                  <a:pt x="975" y="34"/>
                  <a:pt x="934" y="17"/>
                </a:cubicBezTo>
                <a:cubicBezTo>
                  <a:pt x="893" y="0"/>
                  <a:pt x="824" y="4"/>
                  <a:pt x="776" y="3"/>
                </a:cubicBezTo>
                <a:cubicBezTo>
                  <a:pt x="728" y="2"/>
                  <a:pt x="712" y="3"/>
                  <a:pt x="648" y="11"/>
                </a:cubicBezTo>
                <a:close/>
              </a:path>
            </a:pathLst>
          </a:custGeom>
          <a:solidFill>
            <a:srgbClr val="00CC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nvGrpSpPr>
          <p:cNvPr id="8" name="Group 1288"/>
          <p:cNvGrpSpPr/>
          <p:nvPr/>
        </p:nvGrpSpPr>
        <p:grpSpPr bwMode="auto">
          <a:xfrm>
            <a:off x="7023852" y="3464878"/>
            <a:ext cx="1458913" cy="933450"/>
            <a:chOff x="2889" y="1631"/>
            <a:chExt cx="980" cy="743"/>
          </a:xfrm>
        </p:grpSpPr>
        <p:sp>
          <p:nvSpPr>
            <p:cNvPr id="9" name="Rectangle 1289"/>
            <p:cNvSpPr>
              <a:spLocks noChangeArrowheads="1"/>
            </p:cNvSpPr>
            <p:nvPr/>
          </p:nvSpPr>
          <p:spPr bwMode="auto">
            <a:xfrm>
              <a:off x="3046" y="1841"/>
              <a:ext cx="663" cy="533"/>
            </a:xfrm>
            <a:prstGeom prst="rect">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10" name="AutoShape 1290"/>
            <p:cNvSpPr>
              <a:spLocks noChangeArrowheads="1"/>
            </p:cNvSpPr>
            <p:nvPr/>
          </p:nvSpPr>
          <p:spPr bwMode="auto">
            <a:xfrm>
              <a:off x="2889" y="1631"/>
              <a:ext cx="980" cy="253"/>
            </a:xfrm>
            <a:prstGeom prst="triangle">
              <a:avLst>
                <a:gd name="adj" fmla="val 50000"/>
              </a:avLst>
            </a:prstGeom>
            <a:solidFill>
              <a:srgbClr val="00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solidFill>
                  <a:srgbClr val="00CCFF"/>
                </a:solidFill>
              </a:endParaRPr>
            </a:p>
          </p:txBody>
        </p:sp>
      </p:grpSp>
      <p:sp>
        <p:nvSpPr>
          <p:cNvPr id="11" name="Line 1291"/>
          <p:cNvSpPr>
            <a:spLocks noChangeShapeType="1"/>
          </p:cNvSpPr>
          <p:nvPr/>
        </p:nvSpPr>
        <p:spPr bwMode="auto">
          <a:xfrm>
            <a:off x="9141577" y="4303078"/>
            <a:ext cx="163513" cy="1206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2" name="Line 1292"/>
          <p:cNvSpPr>
            <a:spLocks noChangeShapeType="1"/>
          </p:cNvSpPr>
          <p:nvPr/>
        </p:nvSpPr>
        <p:spPr bwMode="auto">
          <a:xfrm>
            <a:off x="9238415" y="4223703"/>
            <a:ext cx="2794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3" name="Line 1293"/>
          <p:cNvSpPr>
            <a:spLocks noChangeShapeType="1"/>
          </p:cNvSpPr>
          <p:nvPr/>
        </p:nvSpPr>
        <p:spPr bwMode="auto">
          <a:xfrm flipV="1">
            <a:off x="9474952" y="4309428"/>
            <a:ext cx="134938" cy="1047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4" name="Line 1294"/>
          <p:cNvSpPr>
            <a:spLocks noChangeShapeType="1"/>
          </p:cNvSpPr>
          <p:nvPr/>
        </p:nvSpPr>
        <p:spPr bwMode="auto">
          <a:xfrm>
            <a:off x="8173202" y="4230053"/>
            <a:ext cx="6794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5" name="Line 1295"/>
          <p:cNvSpPr>
            <a:spLocks noChangeShapeType="1"/>
          </p:cNvSpPr>
          <p:nvPr/>
        </p:nvSpPr>
        <p:spPr bwMode="auto">
          <a:xfrm>
            <a:off x="8468477" y="3077528"/>
            <a:ext cx="509588" cy="31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6" name="Line 1296"/>
          <p:cNvSpPr>
            <a:spLocks noChangeShapeType="1"/>
          </p:cNvSpPr>
          <p:nvPr/>
        </p:nvSpPr>
        <p:spPr bwMode="auto">
          <a:xfrm>
            <a:off x="8035090" y="2893378"/>
            <a:ext cx="152400" cy="952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7" name="Freeform 1297"/>
          <p:cNvSpPr/>
          <p:nvPr/>
        </p:nvSpPr>
        <p:spPr bwMode="auto">
          <a:xfrm>
            <a:off x="7242927" y="4868228"/>
            <a:ext cx="3079750" cy="1665287"/>
          </a:xfrm>
          <a:custGeom>
            <a:avLst/>
            <a:gdLst>
              <a:gd name="T0" fmla="*/ 2147483647 w 1940"/>
              <a:gd name="T1" fmla="*/ 2147483647 h 1049"/>
              <a:gd name="T2" fmla="*/ 2147483647 w 1940"/>
              <a:gd name="T3" fmla="*/ 2147483647 h 1049"/>
              <a:gd name="T4" fmla="*/ 2147483647 w 1940"/>
              <a:gd name="T5" fmla="*/ 2147483647 h 1049"/>
              <a:gd name="T6" fmla="*/ 2147483647 w 1940"/>
              <a:gd name="T7" fmla="*/ 2147483647 h 1049"/>
              <a:gd name="T8" fmla="*/ 2147483647 w 1940"/>
              <a:gd name="T9" fmla="*/ 2147483647 h 1049"/>
              <a:gd name="T10" fmla="*/ 2147483647 w 1940"/>
              <a:gd name="T11" fmla="*/ 2147483647 h 1049"/>
              <a:gd name="T12" fmla="*/ 2147483647 w 1940"/>
              <a:gd name="T13" fmla="*/ 2147483647 h 1049"/>
              <a:gd name="T14" fmla="*/ 2147483647 w 1940"/>
              <a:gd name="T15" fmla="*/ 2147483647 h 1049"/>
              <a:gd name="T16" fmla="*/ 2147483647 w 1940"/>
              <a:gd name="T17" fmla="*/ 2147483647 h 1049"/>
              <a:gd name="T18" fmla="*/ 2147483647 w 1940"/>
              <a:gd name="T19" fmla="*/ 2147483647 h 1049"/>
              <a:gd name="T20" fmla="*/ 2147483647 w 1940"/>
              <a:gd name="T21" fmla="*/ 2147483647 h 1049"/>
              <a:gd name="T22" fmla="*/ 2147483647 w 1940"/>
              <a:gd name="T23" fmla="*/ 2147483647 h 1049"/>
              <a:gd name="T24" fmla="*/ 2147483647 w 1940"/>
              <a:gd name="T25" fmla="*/ 2147483647 h 1049"/>
              <a:gd name="T26" fmla="*/ 2147483647 w 1940"/>
              <a:gd name="T27" fmla="*/ 2147483647 h 1049"/>
              <a:gd name="T28" fmla="*/ 2147483647 w 1940"/>
              <a:gd name="T29" fmla="*/ 2147483647 h 1049"/>
              <a:gd name="T30" fmla="*/ 2147483647 w 1940"/>
              <a:gd name="T31" fmla="*/ 2147483647 h 10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940"/>
              <a:gd name="T49" fmla="*/ 0 h 1049"/>
              <a:gd name="T50" fmla="*/ 1940 w 1940"/>
              <a:gd name="T51" fmla="*/ 1049 h 10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940" h="1049">
                <a:moveTo>
                  <a:pt x="952" y="26"/>
                </a:moveTo>
                <a:cubicBezTo>
                  <a:pt x="867" y="45"/>
                  <a:pt x="832" y="118"/>
                  <a:pt x="755" y="125"/>
                </a:cubicBezTo>
                <a:cubicBezTo>
                  <a:pt x="678" y="132"/>
                  <a:pt x="587" y="72"/>
                  <a:pt x="488" y="68"/>
                </a:cubicBezTo>
                <a:cubicBezTo>
                  <a:pt x="389" y="64"/>
                  <a:pt x="237" y="48"/>
                  <a:pt x="158" y="101"/>
                </a:cubicBezTo>
                <a:cubicBezTo>
                  <a:pt x="79" y="154"/>
                  <a:pt x="28" y="298"/>
                  <a:pt x="14" y="389"/>
                </a:cubicBezTo>
                <a:cubicBezTo>
                  <a:pt x="0" y="480"/>
                  <a:pt x="25" y="595"/>
                  <a:pt x="71" y="648"/>
                </a:cubicBezTo>
                <a:cubicBezTo>
                  <a:pt x="117" y="701"/>
                  <a:pt x="205" y="665"/>
                  <a:pt x="288" y="706"/>
                </a:cubicBezTo>
                <a:cubicBezTo>
                  <a:pt x="371" y="747"/>
                  <a:pt x="450" y="842"/>
                  <a:pt x="568" y="893"/>
                </a:cubicBezTo>
                <a:cubicBezTo>
                  <a:pt x="686" y="944"/>
                  <a:pt x="852" y="991"/>
                  <a:pt x="996" y="1014"/>
                </a:cubicBezTo>
                <a:cubicBezTo>
                  <a:pt x="1140" y="1036"/>
                  <a:pt x="1309" y="1049"/>
                  <a:pt x="1433" y="1031"/>
                </a:cubicBezTo>
                <a:cubicBezTo>
                  <a:pt x="1557" y="1012"/>
                  <a:pt x="1657" y="960"/>
                  <a:pt x="1739" y="907"/>
                </a:cubicBezTo>
                <a:cubicBezTo>
                  <a:pt x="1821" y="855"/>
                  <a:pt x="1906" y="824"/>
                  <a:pt x="1923" y="714"/>
                </a:cubicBezTo>
                <a:cubicBezTo>
                  <a:pt x="1940" y="604"/>
                  <a:pt x="1898" y="350"/>
                  <a:pt x="1839" y="251"/>
                </a:cubicBezTo>
                <a:cubicBezTo>
                  <a:pt x="1780" y="151"/>
                  <a:pt x="1662" y="153"/>
                  <a:pt x="1566" y="114"/>
                </a:cubicBezTo>
                <a:cubicBezTo>
                  <a:pt x="1470" y="76"/>
                  <a:pt x="1365" y="30"/>
                  <a:pt x="1263" y="15"/>
                </a:cubicBezTo>
                <a:cubicBezTo>
                  <a:pt x="1161" y="0"/>
                  <a:pt x="1037" y="8"/>
                  <a:pt x="952" y="26"/>
                </a:cubicBezTo>
                <a:close/>
              </a:path>
            </a:pathLst>
          </a:custGeom>
          <a:solidFill>
            <a:srgbClr val="00CCFF"/>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18" name="Line 1298"/>
          <p:cNvSpPr>
            <a:spLocks noChangeShapeType="1"/>
          </p:cNvSpPr>
          <p:nvPr/>
        </p:nvSpPr>
        <p:spPr bwMode="auto">
          <a:xfrm rot="16200000" flipV="1">
            <a:off x="9542421" y="5740559"/>
            <a:ext cx="474662" cy="63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19" name="Line 1299"/>
          <p:cNvSpPr>
            <a:spLocks noChangeShapeType="1"/>
          </p:cNvSpPr>
          <p:nvPr/>
        </p:nvSpPr>
        <p:spPr bwMode="auto">
          <a:xfrm rot="5400000" flipV="1">
            <a:off x="9736890" y="5930265"/>
            <a:ext cx="3175" cy="85725"/>
          </a:xfrm>
          <a:prstGeom prst="line">
            <a:avLst/>
          </a:prstGeom>
          <a:noFill/>
          <a:ln w="12700">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20" name="Line 1300"/>
          <p:cNvSpPr>
            <a:spLocks noChangeShapeType="1"/>
          </p:cNvSpPr>
          <p:nvPr/>
        </p:nvSpPr>
        <p:spPr bwMode="auto">
          <a:xfrm rot="16200000" flipH="1">
            <a:off x="9844839" y="5528628"/>
            <a:ext cx="193675" cy="7620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21" name="Line 1301"/>
          <p:cNvSpPr>
            <a:spLocks noChangeShapeType="1"/>
          </p:cNvSpPr>
          <p:nvPr/>
        </p:nvSpPr>
        <p:spPr bwMode="auto">
          <a:xfrm>
            <a:off x="9103477" y="5187315"/>
            <a:ext cx="390525" cy="1841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22" name="Line 1302"/>
          <p:cNvSpPr>
            <a:spLocks noChangeShapeType="1"/>
          </p:cNvSpPr>
          <p:nvPr/>
        </p:nvSpPr>
        <p:spPr bwMode="auto">
          <a:xfrm flipV="1">
            <a:off x="8482765" y="5174615"/>
            <a:ext cx="322262" cy="198438"/>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23" name="Line 1303"/>
          <p:cNvSpPr>
            <a:spLocks noChangeShapeType="1"/>
          </p:cNvSpPr>
          <p:nvPr/>
        </p:nvSpPr>
        <p:spPr bwMode="auto">
          <a:xfrm flipV="1">
            <a:off x="8525627" y="5466715"/>
            <a:ext cx="97155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24" name="Line 1305"/>
          <p:cNvSpPr>
            <a:spLocks noChangeShapeType="1"/>
          </p:cNvSpPr>
          <p:nvPr/>
        </p:nvSpPr>
        <p:spPr bwMode="auto">
          <a:xfrm>
            <a:off x="7846177" y="5263515"/>
            <a:ext cx="233363" cy="952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25" name="Line 1306"/>
          <p:cNvSpPr>
            <a:spLocks noChangeShapeType="1"/>
          </p:cNvSpPr>
          <p:nvPr/>
        </p:nvSpPr>
        <p:spPr bwMode="auto">
          <a:xfrm flipV="1">
            <a:off x="7587415" y="5500053"/>
            <a:ext cx="403225" cy="1000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26" name="Line 1309"/>
          <p:cNvSpPr>
            <a:spLocks noChangeShapeType="1"/>
          </p:cNvSpPr>
          <p:nvPr/>
        </p:nvSpPr>
        <p:spPr bwMode="auto">
          <a:xfrm flipH="1">
            <a:off x="8012865" y="5555615"/>
            <a:ext cx="177800" cy="203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27" name="Line 1310"/>
          <p:cNvSpPr>
            <a:spLocks noChangeShapeType="1"/>
          </p:cNvSpPr>
          <p:nvPr/>
        </p:nvSpPr>
        <p:spPr bwMode="auto">
          <a:xfrm flipH="1" flipV="1">
            <a:off x="8406565" y="5539740"/>
            <a:ext cx="1587" cy="2206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28" name="Line 1311"/>
          <p:cNvSpPr>
            <a:spLocks noChangeShapeType="1"/>
          </p:cNvSpPr>
          <p:nvPr/>
        </p:nvSpPr>
        <p:spPr bwMode="auto">
          <a:xfrm>
            <a:off x="8489115" y="5542915"/>
            <a:ext cx="503237" cy="2698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29" name="Line 1313"/>
          <p:cNvSpPr>
            <a:spLocks noChangeShapeType="1"/>
          </p:cNvSpPr>
          <p:nvPr/>
        </p:nvSpPr>
        <p:spPr bwMode="auto">
          <a:xfrm>
            <a:off x="8027152" y="4012565"/>
            <a:ext cx="0" cy="1317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0" name="Line 1314"/>
          <p:cNvSpPr>
            <a:spLocks noChangeShapeType="1"/>
          </p:cNvSpPr>
          <p:nvPr/>
        </p:nvSpPr>
        <p:spPr bwMode="auto">
          <a:xfrm flipV="1">
            <a:off x="9322552" y="2982278"/>
            <a:ext cx="123825" cy="8731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1" name="Line 1315"/>
          <p:cNvSpPr>
            <a:spLocks noChangeShapeType="1"/>
          </p:cNvSpPr>
          <p:nvPr/>
        </p:nvSpPr>
        <p:spPr bwMode="auto">
          <a:xfrm>
            <a:off x="9151102" y="3155315"/>
            <a:ext cx="0" cy="825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2" name="Line 1316"/>
          <p:cNvSpPr>
            <a:spLocks noChangeShapeType="1"/>
          </p:cNvSpPr>
          <p:nvPr/>
        </p:nvSpPr>
        <p:spPr bwMode="auto">
          <a:xfrm flipV="1">
            <a:off x="9322552" y="3052128"/>
            <a:ext cx="263525" cy="28892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3" name="Line 1317"/>
          <p:cNvSpPr>
            <a:spLocks noChangeShapeType="1"/>
          </p:cNvSpPr>
          <p:nvPr/>
        </p:nvSpPr>
        <p:spPr bwMode="auto">
          <a:xfrm>
            <a:off x="9687677" y="3050540"/>
            <a:ext cx="0" cy="1968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4" name="Line 1318"/>
          <p:cNvSpPr>
            <a:spLocks noChangeShapeType="1"/>
          </p:cNvSpPr>
          <p:nvPr/>
        </p:nvSpPr>
        <p:spPr bwMode="auto">
          <a:xfrm>
            <a:off x="9341602" y="3356928"/>
            <a:ext cx="18891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5" name="Line 1319"/>
          <p:cNvSpPr>
            <a:spLocks noChangeShapeType="1"/>
          </p:cNvSpPr>
          <p:nvPr/>
        </p:nvSpPr>
        <p:spPr bwMode="auto">
          <a:xfrm flipV="1">
            <a:off x="7636627" y="4223703"/>
            <a:ext cx="168275" cy="31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6" name="Line 1320"/>
          <p:cNvSpPr>
            <a:spLocks noChangeShapeType="1"/>
          </p:cNvSpPr>
          <p:nvPr/>
        </p:nvSpPr>
        <p:spPr bwMode="auto">
          <a:xfrm>
            <a:off x="9895640" y="3347403"/>
            <a:ext cx="1778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7" name="Line 1321"/>
          <p:cNvSpPr>
            <a:spLocks noChangeShapeType="1"/>
          </p:cNvSpPr>
          <p:nvPr/>
        </p:nvSpPr>
        <p:spPr bwMode="auto">
          <a:xfrm flipH="1">
            <a:off x="9041565" y="3423603"/>
            <a:ext cx="98425" cy="70485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8" name="Line 1322"/>
          <p:cNvSpPr>
            <a:spLocks noChangeShapeType="1"/>
          </p:cNvSpPr>
          <p:nvPr/>
        </p:nvSpPr>
        <p:spPr bwMode="auto">
          <a:xfrm flipH="1">
            <a:off x="9633702" y="3423603"/>
            <a:ext cx="111125" cy="727075"/>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39" name="Line 1323"/>
          <p:cNvSpPr>
            <a:spLocks noChangeShapeType="1"/>
          </p:cNvSpPr>
          <p:nvPr/>
        </p:nvSpPr>
        <p:spPr bwMode="auto">
          <a:xfrm flipV="1">
            <a:off x="9017752" y="4565015"/>
            <a:ext cx="227013" cy="436563"/>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nvGrpSpPr>
          <p:cNvPr id="40" name="Group 1324"/>
          <p:cNvGrpSpPr/>
          <p:nvPr/>
        </p:nvGrpSpPr>
        <p:grpSpPr bwMode="auto">
          <a:xfrm flipH="1">
            <a:off x="7520740" y="5023803"/>
            <a:ext cx="414337" cy="373062"/>
            <a:chOff x="2839" y="3501"/>
            <a:chExt cx="755" cy="803"/>
          </a:xfrm>
        </p:grpSpPr>
        <p:pic>
          <p:nvPicPr>
            <p:cNvPr id="41" name="Picture 1325"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Freeform 1326"/>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sz="900"/>
            </a:p>
          </p:txBody>
        </p:sp>
      </p:grpSp>
      <p:grpSp>
        <p:nvGrpSpPr>
          <p:cNvPr id="43" name="Group 1327"/>
          <p:cNvGrpSpPr/>
          <p:nvPr/>
        </p:nvGrpSpPr>
        <p:grpSpPr bwMode="auto">
          <a:xfrm flipH="1">
            <a:off x="7203240" y="5444490"/>
            <a:ext cx="482600" cy="406400"/>
            <a:chOff x="2839" y="3501"/>
            <a:chExt cx="755" cy="803"/>
          </a:xfrm>
        </p:grpSpPr>
        <p:pic>
          <p:nvPicPr>
            <p:cNvPr id="44" name="Picture 1328" descr="desktop_computer_stylized_medium"/>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Freeform 1329"/>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sz="900"/>
            </a:p>
          </p:txBody>
        </p:sp>
      </p:grpSp>
      <p:grpSp>
        <p:nvGrpSpPr>
          <p:cNvPr id="46" name="Group 1330"/>
          <p:cNvGrpSpPr/>
          <p:nvPr/>
        </p:nvGrpSpPr>
        <p:grpSpPr bwMode="auto">
          <a:xfrm flipH="1">
            <a:off x="7681077" y="5746115"/>
            <a:ext cx="427038" cy="349250"/>
            <a:chOff x="2839" y="3501"/>
            <a:chExt cx="755" cy="803"/>
          </a:xfrm>
        </p:grpSpPr>
        <p:pic>
          <p:nvPicPr>
            <p:cNvPr id="47" name="Picture 1331" descr="desktop_computer_stylized_medium"/>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Freeform 1332"/>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sz="900"/>
            </a:p>
          </p:txBody>
        </p:sp>
      </p:grpSp>
      <p:grpSp>
        <p:nvGrpSpPr>
          <p:cNvPr id="49" name="Group 1333"/>
          <p:cNvGrpSpPr/>
          <p:nvPr/>
        </p:nvGrpSpPr>
        <p:grpSpPr bwMode="auto">
          <a:xfrm>
            <a:off x="8295440" y="5728653"/>
            <a:ext cx="427037" cy="350837"/>
            <a:chOff x="2839" y="3501"/>
            <a:chExt cx="755" cy="803"/>
          </a:xfrm>
        </p:grpSpPr>
        <p:pic>
          <p:nvPicPr>
            <p:cNvPr id="50" name="Picture 1334" descr="desktop_computer_stylized_medium"/>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 name="Freeform 1335"/>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sz="900"/>
            </a:p>
          </p:txBody>
        </p:sp>
      </p:grpSp>
      <p:pic>
        <p:nvPicPr>
          <p:cNvPr id="52" name="Picture 1336" descr="car_icon_small"/>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087477" y="2210753"/>
            <a:ext cx="849313" cy="16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3" name="Group 1337"/>
          <p:cNvGrpSpPr/>
          <p:nvPr/>
        </p:nvGrpSpPr>
        <p:grpSpPr bwMode="auto">
          <a:xfrm>
            <a:off x="7358815" y="2036128"/>
            <a:ext cx="415925" cy="385762"/>
            <a:chOff x="2751" y="1851"/>
            <a:chExt cx="462" cy="478"/>
          </a:xfrm>
        </p:grpSpPr>
        <p:pic>
          <p:nvPicPr>
            <p:cNvPr id="54" name="Picture 1338" descr="iphone_stylized_small"/>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28" y="1922"/>
              <a:ext cx="1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 name="Picture 1339" descr="antenna_radiation_stylized"/>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51" y="1851"/>
              <a:ext cx="462" cy="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6" name="Group 1340"/>
          <p:cNvGrpSpPr/>
          <p:nvPr/>
        </p:nvGrpSpPr>
        <p:grpSpPr bwMode="auto">
          <a:xfrm>
            <a:off x="9435265" y="2885440"/>
            <a:ext cx="390525" cy="169863"/>
            <a:chOff x="4650" y="1129"/>
            <a:chExt cx="246" cy="95"/>
          </a:xfrm>
        </p:grpSpPr>
        <p:sp>
          <p:nvSpPr>
            <p:cNvPr id="57"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58"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59"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60" name="Group 1344"/>
            <p:cNvGrpSpPr/>
            <p:nvPr/>
          </p:nvGrpSpPr>
          <p:grpSpPr bwMode="auto">
            <a:xfrm>
              <a:off x="4699" y="1145"/>
              <a:ext cx="138" cy="29"/>
              <a:chOff x="2468" y="1332"/>
              <a:chExt cx="310" cy="60"/>
            </a:xfrm>
          </p:grpSpPr>
          <p:sp>
            <p:nvSpPr>
              <p:cNvPr id="61" name="Freeform 1345"/>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62" name="Freeform 1346"/>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63" name="Line 1347"/>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64" name="Line 1348"/>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65" name="Group 1349"/>
          <p:cNvGrpSpPr/>
          <p:nvPr/>
        </p:nvGrpSpPr>
        <p:grpSpPr bwMode="auto">
          <a:xfrm>
            <a:off x="9508290" y="3247390"/>
            <a:ext cx="390525" cy="176213"/>
            <a:chOff x="4650" y="1129"/>
            <a:chExt cx="246" cy="95"/>
          </a:xfrm>
        </p:grpSpPr>
        <p:sp>
          <p:nvSpPr>
            <p:cNvPr id="66"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67"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68"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69" name="Group 1353"/>
            <p:cNvGrpSpPr/>
            <p:nvPr/>
          </p:nvGrpSpPr>
          <p:grpSpPr bwMode="auto">
            <a:xfrm>
              <a:off x="4699" y="1145"/>
              <a:ext cx="138" cy="29"/>
              <a:chOff x="2468" y="1332"/>
              <a:chExt cx="310" cy="60"/>
            </a:xfrm>
          </p:grpSpPr>
          <p:sp>
            <p:nvSpPr>
              <p:cNvPr id="70" name="Freeform 1354"/>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71" name="Freeform 1355"/>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72" name="Line 1356"/>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73" name="Line 1357"/>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74" name="Group 1358"/>
          <p:cNvGrpSpPr/>
          <p:nvPr/>
        </p:nvGrpSpPr>
        <p:grpSpPr bwMode="auto">
          <a:xfrm>
            <a:off x="8949490" y="2983865"/>
            <a:ext cx="390525" cy="169863"/>
            <a:chOff x="4650" y="1129"/>
            <a:chExt cx="246" cy="95"/>
          </a:xfrm>
        </p:grpSpPr>
        <p:sp>
          <p:nvSpPr>
            <p:cNvPr id="75"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76"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77"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78" name="Group 1362"/>
            <p:cNvGrpSpPr/>
            <p:nvPr/>
          </p:nvGrpSpPr>
          <p:grpSpPr bwMode="auto">
            <a:xfrm>
              <a:off x="4699" y="1145"/>
              <a:ext cx="138" cy="29"/>
              <a:chOff x="2468" y="1332"/>
              <a:chExt cx="310" cy="60"/>
            </a:xfrm>
          </p:grpSpPr>
          <p:sp>
            <p:nvSpPr>
              <p:cNvPr id="79" name="Freeform 1363"/>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80" name="Freeform 1364"/>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81" name="Line 1365"/>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82" name="Line 1366"/>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83" name="Group 1367"/>
          <p:cNvGrpSpPr/>
          <p:nvPr/>
        </p:nvGrpSpPr>
        <p:grpSpPr bwMode="auto">
          <a:xfrm>
            <a:off x="8960602" y="3247390"/>
            <a:ext cx="390525" cy="169863"/>
            <a:chOff x="4650" y="1129"/>
            <a:chExt cx="246" cy="95"/>
          </a:xfrm>
        </p:grpSpPr>
        <p:sp>
          <p:nvSpPr>
            <p:cNvPr id="8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8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8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87" name="Group 1371"/>
            <p:cNvGrpSpPr/>
            <p:nvPr/>
          </p:nvGrpSpPr>
          <p:grpSpPr bwMode="auto">
            <a:xfrm>
              <a:off x="4699" y="1145"/>
              <a:ext cx="138" cy="29"/>
              <a:chOff x="2468" y="1332"/>
              <a:chExt cx="310" cy="60"/>
            </a:xfrm>
          </p:grpSpPr>
          <p:sp>
            <p:nvSpPr>
              <p:cNvPr id="88" name="Freeform 1372"/>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89" name="Freeform 1373"/>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90" name="Line 1374"/>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91" name="Line 1375"/>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sp>
        <p:nvSpPr>
          <p:cNvPr id="92" name="Line 1376"/>
          <p:cNvSpPr>
            <a:spLocks noChangeShapeType="1"/>
          </p:cNvSpPr>
          <p:nvPr/>
        </p:nvSpPr>
        <p:spPr bwMode="auto">
          <a:xfrm>
            <a:off x="10090902" y="3345815"/>
            <a:ext cx="177800" cy="0"/>
          </a:xfrm>
          <a:prstGeom prst="line">
            <a:avLst/>
          </a:prstGeom>
          <a:noFill/>
          <a:ln w="9525">
            <a:solidFill>
              <a:schemeClr val="bg2"/>
            </a:solidFill>
            <a:prstDash val="dash"/>
            <a:round/>
          </a:ln>
          <a:extLst>
            <a:ext uri="{909E8E84-426E-40DD-AFC4-6F175D3DCCD1}">
              <a14:hiddenFill xmlns:a14="http://schemas.microsoft.com/office/drawing/2010/main">
                <a:noFill/>
              </a14:hiddenFill>
            </a:ext>
          </a:extLst>
        </p:spPr>
        <p:txBody>
          <a:bodyPr/>
          <a:lstStyle/>
          <a:p>
            <a:endParaRPr lang="zh-CN" altLang="en-US" sz="900"/>
          </a:p>
        </p:txBody>
      </p:sp>
      <p:grpSp>
        <p:nvGrpSpPr>
          <p:cNvPr id="93" name="Group 1377"/>
          <p:cNvGrpSpPr/>
          <p:nvPr/>
        </p:nvGrpSpPr>
        <p:grpSpPr bwMode="auto">
          <a:xfrm>
            <a:off x="9146340" y="4401503"/>
            <a:ext cx="485775" cy="203200"/>
            <a:chOff x="4650" y="1129"/>
            <a:chExt cx="246" cy="95"/>
          </a:xfrm>
        </p:grpSpPr>
        <p:sp>
          <p:nvSpPr>
            <p:cNvPr id="94"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95"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96"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97" name="Group 1381"/>
            <p:cNvGrpSpPr/>
            <p:nvPr/>
          </p:nvGrpSpPr>
          <p:grpSpPr bwMode="auto">
            <a:xfrm>
              <a:off x="4699" y="1145"/>
              <a:ext cx="138" cy="29"/>
              <a:chOff x="2468" y="1332"/>
              <a:chExt cx="310" cy="60"/>
            </a:xfrm>
          </p:grpSpPr>
          <p:sp>
            <p:nvSpPr>
              <p:cNvPr id="98" name="Freeform 1382"/>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99" name="Freeform 1383"/>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100" name="Line 1384"/>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01" name="Line 1385"/>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102" name="Group 1386"/>
          <p:cNvGrpSpPr/>
          <p:nvPr/>
        </p:nvGrpSpPr>
        <p:grpSpPr bwMode="auto">
          <a:xfrm>
            <a:off x="8827252" y="4120515"/>
            <a:ext cx="485775" cy="203200"/>
            <a:chOff x="4650" y="1129"/>
            <a:chExt cx="246" cy="95"/>
          </a:xfrm>
        </p:grpSpPr>
        <p:sp>
          <p:nvSpPr>
            <p:cNvPr id="103"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104"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105"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106" name="Group 1390"/>
            <p:cNvGrpSpPr/>
            <p:nvPr/>
          </p:nvGrpSpPr>
          <p:grpSpPr bwMode="auto">
            <a:xfrm>
              <a:off x="4699" y="1145"/>
              <a:ext cx="138" cy="29"/>
              <a:chOff x="2468" y="1332"/>
              <a:chExt cx="310" cy="60"/>
            </a:xfrm>
          </p:grpSpPr>
          <p:sp>
            <p:nvSpPr>
              <p:cNvPr id="107" name="Freeform 1391"/>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108" name="Freeform 1392"/>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109" name="Line 1393"/>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10" name="Line 1394"/>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111" name="Group 1395"/>
          <p:cNvGrpSpPr/>
          <p:nvPr/>
        </p:nvGrpSpPr>
        <p:grpSpPr bwMode="auto">
          <a:xfrm>
            <a:off x="9489240" y="4133215"/>
            <a:ext cx="485775" cy="203200"/>
            <a:chOff x="4650" y="1129"/>
            <a:chExt cx="246" cy="95"/>
          </a:xfrm>
        </p:grpSpPr>
        <p:sp>
          <p:nvSpPr>
            <p:cNvPr id="112"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113"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114"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115" name="Group 1399"/>
            <p:cNvGrpSpPr/>
            <p:nvPr/>
          </p:nvGrpSpPr>
          <p:grpSpPr bwMode="auto">
            <a:xfrm>
              <a:off x="4699" y="1145"/>
              <a:ext cx="138" cy="29"/>
              <a:chOff x="2468" y="1332"/>
              <a:chExt cx="310" cy="60"/>
            </a:xfrm>
          </p:grpSpPr>
          <p:sp>
            <p:nvSpPr>
              <p:cNvPr id="116" name="Freeform 1400"/>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117" name="Freeform 1401"/>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118" name="Line 1402"/>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19" name="Line 1403"/>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120" name="Group 1404"/>
          <p:cNvGrpSpPr/>
          <p:nvPr/>
        </p:nvGrpSpPr>
        <p:grpSpPr bwMode="auto">
          <a:xfrm>
            <a:off x="8708190" y="4995228"/>
            <a:ext cx="619125" cy="242887"/>
            <a:chOff x="4650" y="1129"/>
            <a:chExt cx="246" cy="95"/>
          </a:xfrm>
        </p:grpSpPr>
        <p:sp>
          <p:nvSpPr>
            <p:cNvPr id="121"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122"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123"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124" name="Group 1408"/>
            <p:cNvGrpSpPr/>
            <p:nvPr/>
          </p:nvGrpSpPr>
          <p:grpSpPr bwMode="auto">
            <a:xfrm>
              <a:off x="4699" y="1145"/>
              <a:ext cx="138" cy="29"/>
              <a:chOff x="2468" y="1332"/>
              <a:chExt cx="310" cy="60"/>
            </a:xfrm>
          </p:grpSpPr>
          <p:sp>
            <p:nvSpPr>
              <p:cNvPr id="125" name="Freeform 1409"/>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126" name="Freeform 1410"/>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127" name="Line 1411"/>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28" name="Line 1412"/>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129" name="Group 1413"/>
          <p:cNvGrpSpPr/>
          <p:nvPr/>
        </p:nvGrpSpPr>
        <p:grpSpPr bwMode="auto">
          <a:xfrm>
            <a:off x="9341602" y="5293678"/>
            <a:ext cx="619125" cy="242887"/>
            <a:chOff x="4650" y="1129"/>
            <a:chExt cx="246" cy="95"/>
          </a:xfrm>
        </p:grpSpPr>
        <p:sp>
          <p:nvSpPr>
            <p:cNvPr id="130"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131"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132"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133" name="Group 1417"/>
            <p:cNvGrpSpPr/>
            <p:nvPr/>
          </p:nvGrpSpPr>
          <p:grpSpPr bwMode="auto">
            <a:xfrm>
              <a:off x="4699" y="1145"/>
              <a:ext cx="138" cy="29"/>
              <a:chOff x="2468" y="1332"/>
              <a:chExt cx="310" cy="60"/>
            </a:xfrm>
          </p:grpSpPr>
          <p:sp>
            <p:nvSpPr>
              <p:cNvPr id="134" name="Freeform 1418"/>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135" name="Freeform 1419"/>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136" name="Line 1420"/>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37" name="Line 1421"/>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138" name="Group 1422"/>
          <p:cNvGrpSpPr/>
          <p:nvPr/>
        </p:nvGrpSpPr>
        <p:grpSpPr bwMode="auto">
          <a:xfrm>
            <a:off x="7992227" y="5338128"/>
            <a:ext cx="619125" cy="242887"/>
            <a:chOff x="4650" y="1129"/>
            <a:chExt cx="246" cy="95"/>
          </a:xfrm>
        </p:grpSpPr>
        <p:sp>
          <p:nvSpPr>
            <p:cNvPr id="139"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140"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141"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142" name="Group 1426"/>
            <p:cNvGrpSpPr/>
            <p:nvPr/>
          </p:nvGrpSpPr>
          <p:grpSpPr bwMode="auto">
            <a:xfrm>
              <a:off x="4699" y="1145"/>
              <a:ext cx="138" cy="29"/>
              <a:chOff x="2468" y="1332"/>
              <a:chExt cx="310" cy="60"/>
            </a:xfrm>
          </p:grpSpPr>
          <p:sp>
            <p:nvSpPr>
              <p:cNvPr id="143" name="Freeform 1427"/>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144" name="Freeform 1428"/>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145" name="Line 1429"/>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46" name="Line 1430"/>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147" name="Group 1431"/>
          <p:cNvGrpSpPr/>
          <p:nvPr/>
        </p:nvGrpSpPr>
        <p:grpSpPr bwMode="auto">
          <a:xfrm>
            <a:off x="7798552" y="4130040"/>
            <a:ext cx="390525" cy="169863"/>
            <a:chOff x="4650" y="1129"/>
            <a:chExt cx="246" cy="95"/>
          </a:xfrm>
        </p:grpSpPr>
        <p:sp>
          <p:nvSpPr>
            <p:cNvPr id="148"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149"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150"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151" name="Group 1435"/>
            <p:cNvGrpSpPr/>
            <p:nvPr/>
          </p:nvGrpSpPr>
          <p:grpSpPr bwMode="auto">
            <a:xfrm>
              <a:off x="4699" y="1145"/>
              <a:ext cx="138" cy="29"/>
              <a:chOff x="2468" y="1332"/>
              <a:chExt cx="310" cy="60"/>
            </a:xfrm>
          </p:grpSpPr>
          <p:sp>
            <p:nvSpPr>
              <p:cNvPr id="152" name="Freeform 1436"/>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153" name="Freeform 1437"/>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154" name="Line 1438"/>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55" name="Line 1439"/>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156" name="Group 1440"/>
          <p:cNvGrpSpPr/>
          <p:nvPr/>
        </p:nvGrpSpPr>
        <p:grpSpPr bwMode="auto">
          <a:xfrm>
            <a:off x="8098590" y="2977515"/>
            <a:ext cx="390525" cy="169863"/>
            <a:chOff x="4650" y="1129"/>
            <a:chExt cx="246" cy="95"/>
          </a:xfrm>
        </p:grpSpPr>
        <p:sp>
          <p:nvSpPr>
            <p:cNvPr id="157" name="Oval 407"/>
            <p:cNvSpPr>
              <a:spLocks noChangeArrowheads="1"/>
            </p:cNvSpPr>
            <p:nvPr/>
          </p:nvSpPr>
          <p:spPr bwMode="auto">
            <a:xfrm>
              <a:off x="4651" y="1171"/>
              <a:ext cx="244" cy="53"/>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sp>
          <p:nvSpPr>
            <p:cNvPr id="158" name="Rectangle 410"/>
            <p:cNvSpPr>
              <a:spLocks noChangeArrowheads="1"/>
            </p:cNvSpPr>
            <p:nvPr/>
          </p:nvSpPr>
          <p:spPr bwMode="auto">
            <a:xfrm>
              <a:off x="4651" y="1165"/>
              <a:ext cx="245" cy="33"/>
            </a:xfrm>
            <a:prstGeom prst="rect">
              <a:avLst/>
            </a:prstGeom>
            <a:gradFill rotWithShape="1">
              <a:gsLst>
                <a:gs pos="0">
                  <a:schemeClr val="hlink"/>
                </a:gs>
                <a:gs pos="100000">
                  <a:srgbClr val="FFFFFF"/>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latin typeface="Times New Roman" panose="02020603050405020304" pitchFamily="18" charset="0"/>
                <a:cs typeface="Arial" panose="020B0604020202020204" pitchFamily="34" charset="0"/>
              </a:endParaRPr>
            </a:p>
          </p:txBody>
        </p:sp>
        <p:sp>
          <p:nvSpPr>
            <p:cNvPr id="159" name="Oval 411"/>
            <p:cNvSpPr>
              <a:spLocks noChangeArrowheads="1"/>
            </p:cNvSpPr>
            <p:nvPr/>
          </p:nvSpPr>
          <p:spPr bwMode="auto">
            <a:xfrm>
              <a:off x="4650" y="1129"/>
              <a:ext cx="244" cy="62"/>
            </a:xfrm>
            <a:prstGeom prst="ellipse">
              <a:avLst/>
            </a:prstGeom>
            <a:gradFill rotWithShape="1">
              <a:gsLst>
                <a:gs pos="0">
                  <a:schemeClr val="hlink"/>
                </a:gs>
                <a:gs pos="100000">
                  <a:srgbClr val="FFFFFF"/>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latin typeface="Times New Roman" panose="02020603050405020304" pitchFamily="18" charset="0"/>
                <a:cs typeface="Arial" panose="020B0604020202020204" pitchFamily="34" charset="0"/>
              </a:endParaRPr>
            </a:p>
          </p:txBody>
        </p:sp>
        <p:grpSp>
          <p:nvGrpSpPr>
            <p:cNvPr id="160" name="Group 1444"/>
            <p:cNvGrpSpPr/>
            <p:nvPr/>
          </p:nvGrpSpPr>
          <p:grpSpPr bwMode="auto">
            <a:xfrm>
              <a:off x="4699" y="1145"/>
              <a:ext cx="138" cy="29"/>
              <a:chOff x="2468" y="1332"/>
              <a:chExt cx="310" cy="60"/>
            </a:xfrm>
          </p:grpSpPr>
          <p:sp>
            <p:nvSpPr>
              <p:cNvPr id="161" name="Freeform 1445"/>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sp>
            <p:nvSpPr>
              <p:cNvPr id="162" name="Freeform 1446"/>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12700" cmpd="sng">
                <a:solidFill>
                  <a:schemeClr val="tx1"/>
                </a:solidFill>
                <a:round/>
              </a:ln>
              <a:extLst>
                <a:ext uri="{909E8E84-426E-40DD-AFC4-6F175D3DCCD1}">
                  <a14:hiddenFill xmlns:a14="http://schemas.microsoft.com/office/drawing/2010/main">
                    <a:solidFill>
                      <a:srgbClr val="FFFFFF"/>
                    </a:solidFill>
                  </a14:hiddenFill>
                </a:ext>
              </a:extLst>
            </p:spPr>
            <p:txBody>
              <a:bodyPr/>
              <a:lstStyle/>
              <a:p>
                <a:endParaRPr lang="zh-CN" altLang="en-US" sz="900"/>
              </a:p>
            </p:txBody>
          </p:sp>
        </p:grpSp>
        <p:sp>
          <p:nvSpPr>
            <p:cNvPr id="163" name="Line 1447"/>
            <p:cNvSpPr>
              <a:spLocks noChangeShapeType="1"/>
            </p:cNvSpPr>
            <p:nvPr/>
          </p:nvSpPr>
          <p:spPr bwMode="auto">
            <a:xfrm>
              <a:off x="4651" y="1158"/>
              <a:ext cx="0" cy="4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sp>
          <p:nvSpPr>
            <p:cNvPr id="164" name="Line 1448"/>
            <p:cNvSpPr>
              <a:spLocks noChangeShapeType="1"/>
            </p:cNvSpPr>
            <p:nvPr/>
          </p:nvSpPr>
          <p:spPr bwMode="auto">
            <a:xfrm>
              <a:off x="4894" y="1160"/>
              <a:ext cx="0" cy="41"/>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sz="900"/>
            </a:p>
          </p:txBody>
        </p:sp>
      </p:grpSp>
      <p:grpSp>
        <p:nvGrpSpPr>
          <p:cNvPr id="165" name="Group 1449"/>
          <p:cNvGrpSpPr/>
          <p:nvPr/>
        </p:nvGrpSpPr>
        <p:grpSpPr bwMode="auto">
          <a:xfrm>
            <a:off x="7357227" y="3990340"/>
            <a:ext cx="506413" cy="352425"/>
            <a:chOff x="2967" y="478"/>
            <a:chExt cx="788" cy="625"/>
          </a:xfrm>
        </p:grpSpPr>
        <p:pic>
          <p:nvPicPr>
            <p:cNvPr id="166" name="Picture 1450" descr="access_point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7" name="Picture 1451" descr="antenna_radiation_stylized"/>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68" name="Group 1452"/>
          <p:cNvGrpSpPr/>
          <p:nvPr/>
        </p:nvGrpSpPr>
        <p:grpSpPr bwMode="auto">
          <a:xfrm>
            <a:off x="8878052" y="5493703"/>
            <a:ext cx="563563" cy="420687"/>
            <a:chOff x="2967" y="478"/>
            <a:chExt cx="788" cy="625"/>
          </a:xfrm>
        </p:grpSpPr>
        <p:pic>
          <p:nvPicPr>
            <p:cNvPr id="169" name="Picture 1453" descr="access_point_stylized_small"/>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12" y="559"/>
              <a:ext cx="576" cy="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0" name="Picture 1454" descr="antenna_radiation_stylized"/>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67" y="478"/>
              <a:ext cx="788"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71" name="Group 1455"/>
          <p:cNvGrpSpPr/>
          <p:nvPr/>
        </p:nvGrpSpPr>
        <p:grpSpPr bwMode="auto">
          <a:xfrm>
            <a:off x="7806490" y="2334578"/>
            <a:ext cx="457200" cy="631825"/>
            <a:chOff x="742" y="2409"/>
            <a:chExt cx="576" cy="881"/>
          </a:xfrm>
        </p:grpSpPr>
        <p:grpSp>
          <p:nvGrpSpPr>
            <p:cNvPr id="172" name="Group 1456"/>
            <p:cNvGrpSpPr/>
            <p:nvPr/>
          </p:nvGrpSpPr>
          <p:grpSpPr bwMode="auto">
            <a:xfrm>
              <a:off x="832" y="2643"/>
              <a:ext cx="376" cy="647"/>
              <a:chOff x="3130" y="3288"/>
              <a:chExt cx="410" cy="742"/>
            </a:xfrm>
          </p:grpSpPr>
          <p:sp>
            <p:nvSpPr>
              <p:cNvPr id="173" name="Line 270"/>
              <p:cNvSpPr>
                <a:spLocks noChangeShapeType="1"/>
              </p:cNvSpPr>
              <p:nvPr/>
            </p:nvSpPr>
            <p:spPr bwMode="auto">
              <a:xfrm flipH="1">
                <a:off x="3130" y="3288"/>
                <a:ext cx="205" cy="6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74" name="Line 271"/>
              <p:cNvSpPr>
                <a:spLocks noChangeShapeType="1"/>
              </p:cNvSpPr>
              <p:nvPr/>
            </p:nvSpPr>
            <p:spPr bwMode="auto">
              <a:xfrm>
                <a:off x="3335" y="3288"/>
                <a:ext cx="205" cy="6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75" name="Line 272"/>
              <p:cNvSpPr>
                <a:spLocks noChangeShapeType="1"/>
              </p:cNvSpPr>
              <p:nvPr/>
            </p:nvSpPr>
            <p:spPr bwMode="auto">
              <a:xfrm>
                <a:off x="3130"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76" name="Line 273"/>
              <p:cNvSpPr>
                <a:spLocks noChangeShapeType="1"/>
              </p:cNvSpPr>
              <p:nvPr/>
            </p:nvSpPr>
            <p:spPr bwMode="auto">
              <a:xfrm flipH="1">
                <a:off x="3335" y="3957"/>
                <a:ext cx="205" cy="73"/>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77" name="Line 274"/>
              <p:cNvSpPr>
                <a:spLocks noChangeShapeType="1"/>
              </p:cNvSpPr>
              <p:nvPr/>
            </p:nvSpPr>
            <p:spPr bwMode="auto">
              <a:xfrm>
                <a:off x="3335" y="3303"/>
                <a:ext cx="0" cy="7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78" name="Line 275"/>
              <p:cNvSpPr>
                <a:spLocks noChangeShapeType="1"/>
              </p:cNvSpPr>
              <p:nvPr/>
            </p:nvSpPr>
            <p:spPr bwMode="auto">
              <a:xfrm flipV="1">
                <a:off x="3130" y="3888"/>
                <a:ext cx="205" cy="72"/>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79" name="Line 276"/>
              <p:cNvSpPr>
                <a:spLocks noChangeShapeType="1"/>
              </p:cNvSpPr>
              <p:nvPr/>
            </p:nvSpPr>
            <p:spPr bwMode="auto">
              <a:xfrm flipH="1" flipV="1">
                <a:off x="3335" y="3888"/>
                <a:ext cx="205" cy="69"/>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80" name="Line 277"/>
              <p:cNvSpPr>
                <a:spLocks noChangeShapeType="1"/>
              </p:cNvSpPr>
              <p:nvPr/>
            </p:nvSpPr>
            <p:spPr bwMode="auto">
              <a:xfrm>
                <a:off x="3217" y="3668"/>
                <a:ext cx="118"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81" name="Line 278"/>
              <p:cNvSpPr>
                <a:spLocks noChangeShapeType="1"/>
              </p:cNvSpPr>
              <p:nvPr/>
            </p:nvSpPr>
            <p:spPr bwMode="auto">
              <a:xfrm flipV="1">
                <a:off x="3335" y="3668"/>
                <a:ext cx="124" cy="5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82" name="Line 279"/>
              <p:cNvSpPr>
                <a:spLocks noChangeShapeType="1"/>
              </p:cNvSpPr>
              <p:nvPr/>
            </p:nvSpPr>
            <p:spPr bwMode="auto">
              <a:xfrm>
                <a:off x="3178" y="3766"/>
                <a:ext cx="152" cy="75"/>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83" name="Line 280"/>
              <p:cNvSpPr>
                <a:spLocks noChangeShapeType="1"/>
              </p:cNvSpPr>
              <p:nvPr/>
            </p:nvSpPr>
            <p:spPr bwMode="auto">
              <a:xfrm flipV="1">
                <a:off x="3335" y="3781"/>
                <a:ext cx="153" cy="6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84" name="Line 281"/>
              <p:cNvSpPr>
                <a:spLocks noChangeShapeType="1"/>
              </p:cNvSpPr>
              <p:nvPr/>
            </p:nvSpPr>
            <p:spPr bwMode="auto">
              <a:xfrm flipV="1">
                <a:off x="3335" y="3567"/>
                <a:ext cx="78" cy="27"/>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85" name="Line 282"/>
              <p:cNvSpPr>
                <a:spLocks noChangeShapeType="1"/>
              </p:cNvSpPr>
              <p:nvPr/>
            </p:nvSpPr>
            <p:spPr bwMode="auto">
              <a:xfrm flipV="1">
                <a:off x="3335" y="3428"/>
                <a:ext cx="49" cy="21"/>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86" name="Line 283"/>
              <p:cNvSpPr>
                <a:spLocks noChangeShapeType="1"/>
              </p:cNvSpPr>
              <p:nvPr/>
            </p:nvSpPr>
            <p:spPr bwMode="auto">
              <a:xfrm>
                <a:off x="3247" y="3558"/>
                <a:ext cx="9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sp>
            <p:nvSpPr>
              <p:cNvPr id="187" name="Line 284"/>
              <p:cNvSpPr>
                <a:spLocks noChangeShapeType="1"/>
              </p:cNvSpPr>
              <p:nvPr/>
            </p:nvSpPr>
            <p:spPr bwMode="auto">
              <a:xfrm>
                <a:off x="3289" y="3422"/>
                <a:ext cx="55" cy="36"/>
              </a:xfrm>
              <a:prstGeom prst="line">
                <a:avLst/>
              </a:prstGeom>
              <a:noFill/>
              <a:ln w="19050">
                <a:solidFill>
                  <a:schemeClr val="tx1"/>
                </a:solidFill>
                <a:round/>
              </a:ln>
              <a:extLst>
                <a:ext uri="{909E8E84-426E-40DD-AFC4-6F175D3DCCD1}">
                  <a14:hiddenFill xmlns:a14="http://schemas.microsoft.com/office/drawing/2010/main">
                    <a:noFill/>
                  </a14:hiddenFill>
                </a:ext>
              </a:extLst>
            </p:spPr>
            <p:txBody>
              <a:bodyPr wrap="none"/>
              <a:lstStyle/>
              <a:p>
                <a:endParaRPr lang="zh-CN" altLang="en-US" sz="900"/>
              </a:p>
            </p:txBody>
          </p:sp>
        </p:grpSp>
        <p:pic>
          <p:nvPicPr>
            <p:cNvPr id="188" name="Picture 1472" descr="cell_tower_radiation copy"/>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2" y="2409"/>
              <a:ext cx="576" cy="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 name="Oval 1473"/>
            <p:cNvSpPr>
              <a:spLocks noChangeArrowheads="1"/>
            </p:cNvSpPr>
            <p:nvPr/>
          </p:nvSpPr>
          <p:spPr bwMode="auto">
            <a:xfrm>
              <a:off x="986" y="2597"/>
              <a:ext cx="66" cy="69"/>
            </a:xfrm>
            <a:prstGeom prst="ellipse">
              <a:avLst/>
            </a:prstGeom>
            <a:solidFill>
              <a:schemeClr val="tx2"/>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grpSp>
        <p:nvGrpSpPr>
          <p:cNvPr id="190" name="Group 1474"/>
          <p:cNvGrpSpPr/>
          <p:nvPr/>
        </p:nvGrpSpPr>
        <p:grpSpPr bwMode="auto">
          <a:xfrm>
            <a:off x="9986127" y="5492115"/>
            <a:ext cx="227013" cy="481013"/>
            <a:chOff x="4140" y="429"/>
            <a:chExt cx="1425" cy="2396"/>
          </a:xfrm>
        </p:grpSpPr>
        <p:sp>
          <p:nvSpPr>
            <p:cNvPr id="191" name="Freeform 1475"/>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192" name="Rectangle 1476"/>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193" name="Freeform 1477"/>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194" name="Freeform 1478"/>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195" name="Rectangle 1479"/>
            <p:cNvSpPr>
              <a:spLocks noChangeArrowheads="1"/>
            </p:cNvSpPr>
            <p:nvPr/>
          </p:nvSpPr>
          <p:spPr bwMode="auto">
            <a:xfrm>
              <a:off x="4210" y="690"/>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196" name="Group 1480"/>
            <p:cNvGrpSpPr/>
            <p:nvPr/>
          </p:nvGrpSpPr>
          <p:grpSpPr bwMode="auto">
            <a:xfrm>
              <a:off x="4749" y="668"/>
              <a:ext cx="581" cy="145"/>
              <a:chOff x="614" y="2568"/>
              <a:chExt cx="725" cy="139"/>
            </a:xfrm>
          </p:grpSpPr>
          <p:sp>
            <p:nvSpPr>
              <p:cNvPr id="197" name="AutoShape 1481"/>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198" name="AutoShape 1482"/>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sp>
          <p:nvSpPr>
            <p:cNvPr id="199" name="Rectangle 1483"/>
            <p:cNvSpPr>
              <a:spLocks noChangeArrowheads="1"/>
            </p:cNvSpPr>
            <p:nvPr/>
          </p:nvSpPr>
          <p:spPr bwMode="auto">
            <a:xfrm>
              <a:off x="4220" y="1022"/>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200" name="Group 1484"/>
            <p:cNvGrpSpPr/>
            <p:nvPr/>
          </p:nvGrpSpPr>
          <p:grpSpPr bwMode="auto">
            <a:xfrm>
              <a:off x="4747" y="994"/>
              <a:ext cx="581" cy="134"/>
              <a:chOff x="614" y="2568"/>
              <a:chExt cx="725" cy="139"/>
            </a:xfrm>
          </p:grpSpPr>
          <p:sp>
            <p:nvSpPr>
              <p:cNvPr id="201" name="AutoShape 1485"/>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02" name="AutoShape 1486"/>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sp>
          <p:nvSpPr>
            <p:cNvPr id="203" name="Rectangle 1487"/>
            <p:cNvSpPr>
              <a:spLocks noChangeArrowheads="1"/>
            </p:cNvSpPr>
            <p:nvPr/>
          </p:nvSpPr>
          <p:spPr bwMode="auto">
            <a:xfrm>
              <a:off x="4220" y="1354"/>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04" name="Rectangle 1488"/>
            <p:cNvSpPr>
              <a:spLocks noChangeArrowheads="1"/>
            </p:cNvSpPr>
            <p:nvPr/>
          </p:nvSpPr>
          <p:spPr bwMode="auto">
            <a:xfrm>
              <a:off x="4230" y="1655"/>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205" name="Group 1489"/>
            <p:cNvGrpSpPr/>
            <p:nvPr/>
          </p:nvGrpSpPr>
          <p:grpSpPr bwMode="auto">
            <a:xfrm>
              <a:off x="4735" y="1627"/>
              <a:ext cx="582" cy="151"/>
              <a:chOff x="614" y="2568"/>
              <a:chExt cx="725" cy="139"/>
            </a:xfrm>
          </p:grpSpPr>
          <p:sp>
            <p:nvSpPr>
              <p:cNvPr id="206" name="AutoShape 1490"/>
              <p:cNvSpPr>
                <a:spLocks noChangeArrowheads="1"/>
              </p:cNvSpPr>
              <p:nvPr/>
            </p:nvSpPr>
            <p:spPr bwMode="auto">
              <a:xfrm>
                <a:off x="618" y="2579"/>
                <a:ext cx="720" cy="13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07" name="AutoShape 1491"/>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sp>
          <p:nvSpPr>
            <p:cNvPr id="208" name="Freeform 1492"/>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nvGrpSpPr>
            <p:cNvPr id="209" name="Group 1493"/>
            <p:cNvGrpSpPr/>
            <p:nvPr/>
          </p:nvGrpSpPr>
          <p:grpSpPr bwMode="auto">
            <a:xfrm>
              <a:off x="4739" y="1327"/>
              <a:ext cx="582" cy="139"/>
              <a:chOff x="614" y="2568"/>
              <a:chExt cx="725" cy="139"/>
            </a:xfrm>
          </p:grpSpPr>
          <p:sp>
            <p:nvSpPr>
              <p:cNvPr id="210" name="AutoShape 1494"/>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11" name="AutoShape 1495"/>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sp>
          <p:nvSpPr>
            <p:cNvPr id="212" name="Rectangle 1496"/>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13" name="Freeform 1497"/>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14" name="Freeform 1498"/>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15" name="Oval 1499"/>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16" name="Freeform 1500"/>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17" name="AutoShape 1501"/>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18" name="AutoShape 1502"/>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19" name="Oval 1503"/>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20" name="Oval 1504"/>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900">
                <a:solidFill>
                  <a:srgbClr val="FF0000"/>
                </a:solidFill>
                <a:cs typeface="Arial" panose="020B0604020202020204" pitchFamily="34" charset="0"/>
              </a:endParaRPr>
            </a:p>
          </p:txBody>
        </p:sp>
        <p:sp>
          <p:nvSpPr>
            <p:cNvPr id="221" name="Oval 1505"/>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22" name="Rectangle 1506"/>
            <p:cNvSpPr>
              <a:spLocks noChangeArrowheads="1"/>
            </p:cNvSpPr>
            <p:nvPr/>
          </p:nvSpPr>
          <p:spPr bwMode="auto">
            <a:xfrm>
              <a:off x="5067" y="1837"/>
              <a:ext cx="80" cy="759"/>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grpSp>
        <p:nvGrpSpPr>
          <p:cNvPr id="223" name="Group 1507"/>
          <p:cNvGrpSpPr/>
          <p:nvPr/>
        </p:nvGrpSpPr>
        <p:grpSpPr bwMode="auto">
          <a:xfrm>
            <a:off x="9670215" y="5793740"/>
            <a:ext cx="227012" cy="481013"/>
            <a:chOff x="4140" y="429"/>
            <a:chExt cx="1425" cy="2396"/>
          </a:xfrm>
        </p:grpSpPr>
        <p:sp>
          <p:nvSpPr>
            <p:cNvPr id="224" name="Freeform 1508"/>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25" name="Rectangle 1509"/>
            <p:cNvSpPr>
              <a:spLocks noChangeArrowheads="1"/>
            </p:cNvSpPr>
            <p:nvPr/>
          </p:nvSpPr>
          <p:spPr bwMode="auto">
            <a:xfrm>
              <a:off x="4210" y="429"/>
              <a:ext cx="1046" cy="2285"/>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26" name="Freeform 1510"/>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27" name="Freeform 1511"/>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28" name="Rectangle 1512"/>
            <p:cNvSpPr>
              <a:spLocks noChangeArrowheads="1"/>
            </p:cNvSpPr>
            <p:nvPr/>
          </p:nvSpPr>
          <p:spPr bwMode="auto">
            <a:xfrm>
              <a:off x="4210" y="690"/>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229" name="Group 1513"/>
            <p:cNvGrpSpPr/>
            <p:nvPr/>
          </p:nvGrpSpPr>
          <p:grpSpPr bwMode="auto">
            <a:xfrm>
              <a:off x="4749" y="668"/>
              <a:ext cx="581" cy="145"/>
              <a:chOff x="614" y="2568"/>
              <a:chExt cx="725" cy="139"/>
            </a:xfrm>
          </p:grpSpPr>
          <p:sp>
            <p:nvSpPr>
              <p:cNvPr id="230" name="AutoShape 1514"/>
              <p:cNvSpPr>
                <a:spLocks noChangeArrowheads="1"/>
              </p:cNvSpPr>
              <p:nvPr/>
            </p:nvSpPr>
            <p:spPr bwMode="auto">
              <a:xfrm>
                <a:off x="613" y="2566"/>
                <a:ext cx="721" cy="14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31" name="AutoShape 1515"/>
              <p:cNvSpPr>
                <a:spLocks noChangeArrowheads="1"/>
              </p:cNvSpPr>
              <p:nvPr/>
            </p:nvSpPr>
            <p:spPr bwMode="auto">
              <a:xfrm>
                <a:off x="625" y="2581"/>
                <a:ext cx="696" cy="11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sp>
          <p:nvSpPr>
            <p:cNvPr id="232" name="Rectangle 1516"/>
            <p:cNvSpPr>
              <a:spLocks noChangeArrowheads="1"/>
            </p:cNvSpPr>
            <p:nvPr/>
          </p:nvSpPr>
          <p:spPr bwMode="auto">
            <a:xfrm>
              <a:off x="4220" y="1022"/>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233" name="Group 1517"/>
            <p:cNvGrpSpPr/>
            <p:nvPr/>
          </p:nvGrpSpPr>
          <p:grpSpPr bwMode="auto">
            <a:xfrm>
              <a:off x="4747" y="994"/>
              <a:ext cx="581" cy="134"/>
              <a:chOff x="614" y="2568"/>
              <a:chExt cx="725" cy="139"/>
            </a:xfrm>
          </p:grpSpPr>
          <p:sp>
            <p:nvSpPr>
              <p:cNvPr id="234" name="AutoShape 1518"/>
              <p:cNvSpPr>
                <a:spLocks noChangeArrowheads="1"/>
              </p:cNvSpPr>
              <p:nvPr/>
            </p:nvSpPr>
            <p:spPr bwMode="auto">
              <a:xfrm>
                <a:off x="615" y="2564"/>
                <a:ext cx="721" cy="139"/>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35" name="AutoShape 1519"/>
              <p:cNvSpPr>
                <a:spLocks noChangeArrowheads="1"/>
              </p:cNvSpPr>
              <p:nvPr/>
            </p:nvSpPr>
            <p:spPr bwMode="auto">
              <a:xfrm>
                <a:off x="628" y="2581"/>
                <a:ext cx="696" cy="107"/>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sp>
          <p:nvSpPr>
            <p:cNvPr id="236" name="Rectangle 1520"/>
            <p:cNvSpPr>
              <a:spLocks noChangeArrowheads="1"/>
            </p:cNvSpPr>
            <p:nvPr/>
          </p:nvSpPr>
          <p:spPr bwMode="auto">
            <a:xfrm>
              <a:off x="4220" y="1354"/>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37" name="Rectangle 1521"/>
            <p:cNvSpPr>
              <a:spLocks noChangeArrowheads="1"/>
            </p:cNvSpPr>
            <p:nvPr/>
          </p:nvSpPr>
          <p:spPr bwMode="auto">
            <a:xfrm>
              <a:off x="4230" y="1655"/>
              <a:ext cx="598" cy="47"/>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238" name="Group 1522"/>
            <p:cNvGrpSpPr/>
            <p:nvPr/>
          </p:nvGrpSpPr>
          <p:grpSpPr bwMode="auto">
            <a:xfrm>
              <a:off x="4735" y="1627"/>
              <a:ext cx="582" cy="151"/>
              <a:chOff x="614" y="2568"/>
              <a:chExt cx="725" cy="139"/>
            </a:xfrm>
          </p:grpSpPr>
          <p:sp>
            <p:nvSpPr>
              <p:cNvPr id="239" name="AutoShape 1523"/>
              <p:cNvSpPr>
                <a:spLocks noChangeArrowheads="1"/>
              </p:cNvSpPr>
              <p:nvPr/>
            </p:nvSpPr>
            <p:spPr bwMode="auto">
              <a:xfrm>
                <a:off x="618" y="2579"/>
                <a:ext cx="720" cy="131"/>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40" name="AutoShape 1524"/>
              <p:cNvSpPr>
                <a:spLocks noChangeArrowheads="1"/>
              </p:cNvSpPr>
              <p:nvPr/>
            </p:nvSpPr>
            <p:spPr bwMode="auto">
              <a:xfrm>
                <a:off x="630" y="2586"/>
                <a:ext cx="695"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sp>
          <p:nvSpPr>
            <p:cNvPr id="241" name="Freeform 1525"/>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nvGrpSpPr>
            <p:cNvPr id="242" name="Group 1526"/>
            <p:cNvGrpSpPr/>
            <p:nvPr/>
          </p:nvGrpSpPr>
          <p:grpSpPr bwMode="auto">
            <a:xfrm>
              <a:off x="4739" y="1327"/>
              <a:ext cx="582" cy="139"/>
              <a:chOff x="614" y="2568"/>
              <a:chExt cx="725" cy="139"/>
            </a:xfrm>
          </p:grpSpPr>
          <p:sp>
            <p:nvSpPr>
              <p:cNvPr id="243" name="AutoShape 1527"/>
              <p:cNvSpPr>
                <a:spLocks noChangeArrowheads="1"/>
              </p:cNvSpPr>
              <p:nvPr/>
            </p:nvSpPr>
            <p:spPr bwMode="auto">
              <a:xfrm>
                <a:off x="613" y="2571"/>
                <a:ext cx="732" cy="134"/>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44" name="AutoShape 1528"/>
              <p:cNvSpPr>
                <a:spLocks noChangeArrowheads="1"/>
              </p:cNvSpPr>
              <p:nvPr/>
            </p:nvSpPr>
            <p:spPr bwMode="auto">
              <a:xfrm>
                <a:off x="625" y="2587"/>
                <a:ext cx="720" cy="103"/>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sp>
          <p:nvSpPr>
            <p:cNvPr id="245" name="Rectangle 1529"/>
            <p:cNvSpPr>
              <a:spLocks noChangeArrowheads="1"/>
            </p:cNvSpPr>
            <p:nvPr/>
          </p:nvSpPr>
          <p:spPr bwMode="auto">
            <a:xfrm>
              <a:off x="5246" y="429"/>
              <a:ext cx="70" cy="2285"/>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46" name="Freeform 1530"/>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47" name="Freeform 1531"/>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48" name="Oval 1532"/>
            <p:cNvSpPr>
              <a:spLocks noChangeArrowheads="1"/>
            </p:cNvSpPr>
            <p:nvPr/>
          </p:nvSpPr>
          <p:spPr bwMode="auto">
            <a:xfrm>
              <a:off x="5515" y="2611"/>
              <a:ext cx="50" cy="95"/>
            </a:xfrm>
            <a:prstGeom prst="ellipse">
              <a:avLst/>
            </a:pr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49" name="Freeform 1533"/>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50" name="AutoShape 1534"/>
            <p:cNvSpPr>
              <a:spLocks noChangeArrowheads="1"/>
            </p:cNvSpPr>
            <p:nvPr/>
          </p:nvSpPr>
          <p:spPr bwMode="auto">
            <a:xfrm>
              <a:off x="4140" y="2675"/>
              <a:ext cx="1196" cy="150"/>
            </a:xfrm>
            <a:prstGeom prst="roundRect">
              <a:avLst>
                <a:gd name="adj" fmla="val 50000"/>
              </a:avLst>
            </a:prstGeom>
            <a:solidFill>
              <a:srgbClr val="DDDDDD"/>
            </a:soli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51" name="AutoShape 1535"/>
            <p:cNvSpPr>
              <a:spLocks noChangeArrowheads="1"/>
            </p:cNvSpPr>
            <p:nvPr/>
          </p:nvSpPr>
          <p:spPr bwMode="auto">
            <a:xfrm>
              <a:off x="4210" y="2714"/>
              <a:ext cx="1066" cy="79"/>
            </a:xfrm>
            <a:prstGeom prst="roundRect">
              <a:avLst>
                <a:gd name="adj" fmla="val 50000"/>
              </a:avLst>
            </a:prstGeom>
            <a:gradFill rotWithShape="1">
              <a:gsLst>
                <a:gs pos="0">
                  <a:schemeClr val="tx2"/>
                </a:gs>
                <a:gs pos="100000">
                  <a:schemeClr val="bg2"/>
                </a:gs>
              </a:gsLst>
              <a:lin ang="0" scaled="1"/>
            </a:gradFill>
            <a:ln w="9525">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52" name="Oval 1536"/>
            <p:cNvSpPr>
              <a:spLocks noChangeArrowheads="1"/>
            </p:cNvSpPr>
            <p:nvPr/>
          </p:nvSpPr>
          <p:spPr bwMode="auto">
            <a:xfrm>
              <a:off x="4309"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53" name="Oval 1537"/>
            <p:cNvSpPr>
              <a:spLocks noChangeArrowheads="1"/>
            </p:cNvSpPr>
            <p:nvPr/>
          </p:nvSpPr>
          <p:spPr bwMode="auto">
            <a:xfrm>
              <a:off x="4489" y="2382"/>
              <a:ext cx="159"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900">
                <a:solidFill>
                  <a:srgbClr val="FF0000"/>
                </a:solidFill>
                <a:cs typeface="Arial" panose="020B0604020202020204" pitchFamily="34" charset="0"/>
              </a:endParaRPr>
            </a:p>
          </p:txBody>
        </p:sp>
        <p:sp>
          <p:nvSpPr>
            <p:cNvPr id="254" name="Oval 1538"/>
            <p:cNvSpPr>
              <a:spLocks noChangeArrowheads="1"/>
            </p:cNvSpPr>
            <p:nvPr/>
          </p:nvSpPr>
          <p:spPr bwMode="auto">
            <a:xfrm>
              <a:off x="4658" y="2382"/>
              <a:ext cx="159"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255" name="Rectangle 1539"/>
            <p:cNvSpPr>
              <a:spLocks noChangeArrowheads="1"/>
            </p:cNvSpPr>
            <p:nvPr/>
          </p:nvSpPr>
          <p:spPr bwMode="auto">
            <a:xfrm>
              <a:off x="5067" y="1837"/>
              <a:ext cx="80" cy="759"/>
            </a:xfrm>
            <a:prstGeom prst="rect">
              <a:avLst/>
            </a:prstGeom>
            <a:solidFill>
              <a:srgbClr val="292929"/>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grpSp>
        <p:nvGrpSpPr>
          <p:cNvPr id="256" name="Group 1540"/>
          <p:cNvGrpSpPr/>
          <p:nvPr/>
        </p:nvGrpSpPr>
        <p:grpSpPr bwMode="auto">
          <a:xfrm>
            <a:off x="7047665" y="2533015"/>
            <a:ext cx="534987" cy="407988"/>
            <a:chOff x="877" y="1008"/>
            <a:chExt cx="2747" cy="2591"/>
          </a:xfrm>
        </p:grpSpPr>
        <p:pic>
          <p:nvPicPr>
            <p:cNvPr id="257" name="Picture 1541" descr="antenna_stylized"/>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8" name="Picture 1542" descr="laptop_keyboard"/>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9" name="Freeform 1543"/>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sz="900"/>
            </a:p>
          </p:txBody>
        </p:sp>
        <p:pic>
          <p:nvPicPr>
            <p:cNvPr id="260" name="Picture 1544" descr="screen"/>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 name="Freeform 1545"/>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62" name="Freeform 1546"/>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63" name="Freeform 1547"/>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64" name="Freeform 1548"/>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65" name="Freeform 1549"/>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66" name="Freeform 1550"/>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nvGrpSpPr>
            <p:cNvPr id="267" name="Group 1551"/>
            <p:cNvGrpSpPr/>
            <p:nvPr/>
          </p:nvGrpSpPr>
          <p:grpSpPr bwMode="auto">
            <a:xfrm>
              <a:off x="1709" y="3008"/>
              <a:ext cx="507" cy="234"/>
              <a:chOff x="1740" y="2642"/>
              <a:chExt cx="752" cy="327"/>
            </a:xfrm>
          </p:grpSpPr>
          <p:sp>
            <p:nvSpPr>
              <p:cNvPr id="268" name="Freeform 1552"/>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69" name="Freeform 1553"/>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70" name="Freeform 1554"/>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71" name="Freeform 1555"/>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72" name="Freeform 1556"/>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73" name="Freeform 1557"/>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sp>
          <p:nvSpPr>
            <p:cNvPr id="274" name="Freeform 1558"/>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75" name="Freeform 1559"/>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76" name="Freeform 1560"/>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77" name="Freeform 1561"/>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78" name="Freeform 1562"/>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79" name="Freeform 1563"/>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grpSp>
        <p:nvGrpSpPr>
          <p:cNvPr id="280" name="Group 1564"/>
          <p:cNvGrpSpPr/>
          <p:nvPr/>
        </p:nvGrpSpPr>
        <p:grpSpPr bwMode="auto">
          <a:xfrm>
            <a:off x="8617702" y="5976303"/>
            <a:ext cx="474663" cy="407987"/>
            <a:chOff x="877" y="1008"/>
            <a:chExt cx="2747" cy="2591"/>
          </a:xfrm>
        </p:grpSpPr>
        <p:pic>
          <p:nvPicPr>
            <p:cNvPr id="281" name="Picture 1565" descr="antenna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2" name="Picture 1566" descr="laptop_keyboard"/>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3" name="Freeform 1567"/>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sz="900"/>
            </a:p>
          </p:txBody>
        </p:sp>
        <p:pic>
          <p:nvPicPr>
            <p:cNvPr id="284" name="Picture 1568" descr="screen"/>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5" name="Freeform 1569"/>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86" name="Freeform 1570"/>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87" name="Freeform 1571"/>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88" name="Freeform 1572"/>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89" name="Freeform 1573"/>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90" name="Freeform 1574"/>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nvGrpSpPr>
            <p:cNvPr id="291" name="Group 1575"/>
            <p:cNvGrpSpPr/>
            <p:nvPr/>
          </p:nvGrpSpPr>
          <p:grpSpPr bwMode="auto">
            <a:xfrm>
              <a:off x="1709" y="3008"/>
              <a:ext cx="507" cy="234"/>
              <a:chOff x="1740" y="2642"/>
              <a:chExt cx="752" cy="327"/>
            </a:xfrm>
          </p:grpSpPr>
          <p:sp>
            <p:nvSpPr>
              <p:cNvPr id="292" name="Freeform 1576"/>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93" name="Freeform 1577"/>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94" name="Freeform 1578"/>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95" name="Freeform 1579"/>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96" name="Freeform 1580"/>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97" name="Freeform 1581"/>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sp>
          <p:nvSpPr>
            <p:cNvPr id="298" name="Freeform 1582"/>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299" name="Freeform 1583"/>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00" name="Freeform 1584"/>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01" name="Freeform 1585"/>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02" name="Freeform 1586"/>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03" name="Freeform 1587"/>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grpSp>
        <p:nvGrpSpPr>
          <p:cNvPr id="304" name="Group 1588"/>
          <p:cNvGrpSpPr/>
          <p:nvPr/>
        </p:nvGrpSpPr>
        <p:grpSpPr bwMode="auto">
          <a:xfrm>
            <a:off x="7306427" y="3531553"/>
            <a:ext cx="444500" cy="407987"/>
            <a:chOff x="877" y="1008"/>
            <a:chExt cx="2747" cy="2591"/>
          </a:xfrm>
        </p:grpSpPr>
        <p:pic>
          <p:nvPicPr>
            <p:cNvPr id="305" name="Picture 1589" descr="antenna_stylized"/>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6" name="Picture 1590" descr="laptop_keyboard"/>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 name="Freeform 1591"/>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sz="900"/>
            </a:p>
          </p:txBody>
        </p:sp>
        <p:pic>
          <p:nvPicPr>
            <p:cNvPr id="308" name="Picture 1592" descr="screen"/>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9" name="Freeform 1593"/>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10" name="Freeform 1594"/>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11" name="Freeform 1595"/>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12" name="Freeform 1596"/>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13" name="Freeform 1597"/>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14" name="Freeform 1598"/>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nvGrpSpPr>
            <p:cNvPr id="315" name="Group 1599"/>
            <p:cNvGrpSpPr/>
            <p:nvPr/>
          </p:nvGrpSpPr>
          <p:grpSpPr bwMode="auto">
            <a:xfrm>
              <a:off x="1709" y="3008"/>
              <a:ext cx="507" cy="234"/>
              <a:chOff x="1740" y="2642"/>
              <a:chExt cx="752" cy="327"/>
            </a:xfrm>
          </p:grpSpPr>
          <p:sp>
            <p:nvSpPr>
              <p:cNvPr id="316" name="Freeform 1600"/>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17" name="Freeform 1601"/>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18" name="Freeform 1602"/>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19" name="Freeform 1603"/>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20" name="Freeform 1604"/>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21" name="Freeform 1605"/>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sp>
          <p:nvSpPr>
            <p:cNvPr id="322" name="Freeform 1606"/>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23" name="Freeform 1607"/>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24" name="Freeform 1608"/>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25" name="Freeform 1609"/>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26" name="Freeform 1610"/>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27" name="Freeform 1611"/>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grpSp>
        <p:nvGrpSpPr>
          <p:cNvPr id="328" name="Group 1612"/>
          <p:cNvGrpSpPr/>
          <p:nvPr/>
        </p:nvGrpSpPr>
        <p:grpSpPr bwMode="auto">
          <a:xfrm flipH="1">
            <a:off x="7685840" y="3712528"/>
            <a:ext cx="414337" cy="373062"/>
            <a:chOff x="2839" y="3501"/>
            <a:chExt cx="755" cy="803"/>
          </a:xfrm>
        </p:grpSpPr>
        <p:pic>
          <p:nvPicPr>
            <p:cNvPr id="329" name="Picture 1613" descr="desktop_computer_stylized_medium"/>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39" y="3501"/>
              <a:ext cx="755" cy="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0" name="Freeform 1614"/>
            <p:cNvSpPr/>
            <p:nvPr/>
          </p:nvSpPr>
          <p:spPr bwMode="auto">
            <a:xfrm>
              <a:off x="2916" y="3578"/>
              <a:ext cx="356" cy="368"/>
            </a:xfrm>
            <a:custGeom>
              <a:avLst/>
              <a:gdLst>
                <a:gd name="T0" fmla="*/ 0 w 356"/>
                <a:gd name="T1" fmla="*/ 0 h 368"/>
                <a:gd name="T2" fmla="*/ 300 w 356"/>
                <a:gd name="T3" fmla="*/ 14 h 368"/>
                <a:gd name="T4" fmla="*/ 356 w 356"/>
                <a:gd name="T5" fmla="*/ 294 h 368"/>
                <a:gd name="T6" fmla="*/ 78 w 356"/>
                <a:gd name="T7" fmla="*/ 368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a:solidFill>
                    <a:srgbClr val="000000"/>
                  </a:solidFill>
                  <a:prstDash val="solid"/>
                  <a:round/>
                </a14:hiddenLine>
              </a:ext>
            </a:extLst>
          </p:spPr>
          <p:txBody>
            <a:bodyPr wrap="none"/>
            <a:lstStyle/>
            <a:p>
              <a:endParaRPr lang="zh-CN" altLang="en-US" sz="900"/>
            </a:p>
          </p:txBody>
        </p:sp>
      </p:grpSp>
      <p:grpSp>
        <p:nvGrpSpPr>
          <p:cNvPr id="331" name="Group 1615"/>
          <p:cNvGrpSpPr/>
          <p:nvPr/>
        </p:nvGrpSpPr>
        <p:grpSpPr bwMode="auto">
          <a:xfrm>
            <a:off x="9052677" y="5912803"/>
            <a:ext cx="474663" cy="407987"/>
            <a:chOff x="877" y="1008"/>
            <a:chExt cx="2747" cy="2591"/>
          </a:xfrm>
        </p:grpSpPr>
        <p:pic>
          <p:nvPicPr>
            <p:cNvPr id="332" name="Picture 1616" descr="antenna_stylized"/>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7" y="1008"/>
              <a:ext cx="2725" cy="1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3" name="Picture 1617" descr="laptop_keyboard"/>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rot="109064" flipH="1">
              <a:off x="1009" y="2586"/>
              <a:ext cx="2245" cy="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4" name="Freeform 1618"/>
            <p:cNvSpPr/>
            <p:nvPr/>
          </p:nvSpPr>
          <p:spPr bwMode="auto">
            <a:xfrm>
              <a:off x="1753" y="1603"/>
              <a:ext cx="1807" cy="1322"/>
            </a:xfrm>
            <a:custGeom>
              <a:avLst/>
              <a:gdLst>
                <a:gd name="T0" fmla="*/ 1 w 2982"/>
                <a:gd name="T1" fmla="*/ 0 h 2442"/>
                <a:gd name="T2" fmla="*/ 0 w 2982"/>
                <a:gd name="T3" fmla="*/ 1 h 2442"/>
                <a:gd name="T4" fmla="*/ 2 w 2982"/>
                <a:gd name="T5" fmla="*/ 1 h 2442"/>
                <a:gd name="T6" fmla="*/ 2 w 2982"/>
                <a:gd name="T7" fmla="*/ 1 h 2442"/>
                <a:gd name="T8" fmla="*/ 1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ln>
          </p:spPr>
          <p:txBody>
            <a:bodyPr/>
            <a:lstStyle/>
            <a:p>
              <a:endParaRPr lang="zh-CN" altLang="en-US" sz="900"/>
            </a:p>
          </p:txBody>
        </p:sp>
        <p:pic>
          <p:nvPicPr>
            <p:cNvPr id="335" name="Picture 1619" descr="screen"/>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842" y="1637"/>
              <a:ext cx="1642" cy="1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6" name="Freeform 1620"/>
            <p:cNvSpPr/>
            <p:nvPr/>
          </p:nvSpPr>
          <p:spPr bwMode="auto">
            <a:xfrm>
              <a:off x="2082" y="1564"/>
              <a:ext cx="1531" cy="246"/>
            </a:xfrm>
            <a:custGeom>
              <a:avLst/>
              <a:gdLst>
                <a:gd name="T0" fmla="*/ 1 w 2528"/>
                <a:gd name="T1" fmla="*/ 0 h 455"/>
                <a:gd name="T2" fmla="*/ 2 w 2528"/>
                <a:gd name="T3" fmla="*/ 1 h 455"/>
                <a:gd name="T4" fmla="*/ 2 w 2528"/>
                <a:gd name="T5" fmla="*/ 1 h 455"/>
                <a:gd name="T6" fmla="*/ 0 w 2528"/>
                <a:gd name="T7" fmla="*/ 1 h 455"/>
                <a:gd name="T8" fmla="*/ 1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37" name="Freeform 1621"/>
            <p:cNvSpPr/>
            <p:nvPr/>
          </p:nvSpPr>
          <p:spPr bwMode="auto">
            <a:xfrm>
              <a:off x="1737" y="1562"/>
              <a:ext cx="425" cy="1024"/>
            </a:xfrm>
            <a:custGeom>
              <a:avLst/>
              <a:gdLst>
                <a:gd name="T0" fmla="*/ 1 w 702"/>
                <a:gd name="T1" fmla="*/ 0 h 1893"/>
                <a:gd name="T2" fmla="*/ 0 w 702"/>
                <a:gd name="T3" fmla="*/ 1 h 1893"/>
                <a:gd name="T4" fmla="*/ 1 w 702"/>
                <a:gd name="T5" fmla="*/ 1 h 1893"/>
                <a:gd name="T6" fmla="*/ 1 w 702"/>
                <a:gd name="T7" fmla="*/ 1 h 1893"/>
                <a:gd name="T8" fmla="*/ 1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38" name="Freeform 1622"/>
            <p:cNvSpPr/>
            <p:nvPr/>
          </p:nvSpPr>
          <p:spPr bwMode="auto">
            <a:xfrm>
              <a:off x="3144" y="1745"/>
              <a:ext cx="458" cy="1182"/>
            </a:xfrm>
            <a:custGeom>
              <a:avLst/>
              <a:gdLst>
                <a:gd name="T0" fmla="*/ 1 w 756"/>
                <a:gd name="T1" fmla="*/ 0 h 2184"/>
                <a:gd name="T2" fmla="*/ 1 w 756"/>
                <a:gd name="T3" fmla="*/ 1 h 2184"/>
                <a:gd name="T4" fmla="*/ 0 w 756"/>
                <a:gd name="T5" fmla="*/ 1 h 2184"/>
                <a:gd name="T6" fmla="*/ 1 w 756"/>
                <a:gd name="T7" fmla="*/ 1 h 2184"/>
                <a:gd name="T8" fmla="*/ 1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39" name="Freeform 1623"/>
            <p:cNvSpPr/>
            <p:nvPr/>
          </p:nvSpPr>
          <p:spPr bwMode="auto">
            <a:xfrm>
              <a:off x="1732" y="2534"/>
              <a:ext cx="1680" cy="399"/>
            </a:xfrm>
            <a:custGeom>
              <a:avLst/>
              <a:gdLst>
                <a:gd name="T0" fmla="*/ 1 w 2773"/>
                <a:gd name="T1" fmla="*/ 0 h 738"/>
                <a:gd name="T2" fmla="*/ 0 w 2773"/>
                <a:gd name="T3" fmla="*/ 1 h 738"/>
                <a:gd name="T4" fmla="*/ 2 w 2773"/>
                <a:gd name="T5" fmla="*/ 1 h 738"/>
                <a:gd name="T6" fmla="*/ 2 w 2773"/>
                <a:gd name="T7" fmla="*/ 1 h 738"/>
                <a:gd name="T8" fmla="*/ 1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40" name="Freeform 1624"/>
            <p:cNvSpPr/>
            <p:nvPr/>
          </p:nvSpPr>
          <p:spPr bwMode="auto">
            <a:xfrm>
              <a:off x="3195" y="1755"/>
              <a:ext cx="429" cy="1187"/>
            </a:xfrm>
            <a:custGeom>
              <a:avLst/>
              <a:gdLst>
                <a:gd name="T0" fmla="*/ 2 w 637"/>
                <a:gd name="T1" fmla="*/ 0 h 1659"/>
                <a:gd name="T2" fmla="*/ 2 w 637"/>
                <a:gd name="T3" fmla="*/ 0 h 1659"/>
                <a:gd name="T4" fmla="*/ 1 w 637"/>
                <a:gd name="T5" fmla="*/ 15 h 1659"/>
                <a:gd name="T6" fmla="*/ 0 w 637"/>
                <a:gd name="T7" fmla="*/ 15 h 1659"/>
                <a:gd name="T8" fmla="*/ 2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41" name="Freeform 1625"/>
            <p:cNvSpPr/>
            <p:nvPr/>
          </p:nvSpPr>
          <p:spPr bwMode="auto">
            <a:xfrm>
              <a:off x="1734" y="2587"/>
              <a:ext cx="1494" cy="394"/>
            </a:xfrm>
            <a:custGeom>
              <a:avLst/>
              <a:gdLst>
                <a:gd name="T0" fmla="*/ 0 w 2216"/>
                <a:gd name="T1" fmla="*/ 0 h 550"/>
                <a:gd name="T2" fmla="*/ 1 w 2216"/>
                <a:gd name="T3" fmla="*/ 1 h 550"/>
                <a:gd name="T4" fmla="*/ 9 w 2216"/>
                <a:gd name="T5" fmla="*/ 5 h 550"/>
                <a:gd name="T6" fmla="*/ 9 w 2216"/>
                <a:gd name="T7" fmla="*/ 4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nvGrpSpPr>
            <p:cNvPr id="342" name="Group 1626"/>
            <p:cNvGrpSpPr/>
            <p:nvPr/>
          </p:nvGrpSpPr>
          <p:grpSpPr bwMode="auto">
            <a:xfrm>
              <a:off x="1709" y="3008"/>
              <a:ext cx="507" cy="234"/>
              <a:chOff x="1740" y="2642"/>
              <a:chExt cx="752" cy="327"/>
            </a:xfrm>
          </p:grpSpPr>
          <p:sp>
            <p:nvSpPr>
              <p:cNvPr id="343" name="Freeform 1627"/>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44" name="Freeform 1628"/>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45" name="Freeform 1629"/>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46" name="Freeform 1630"/>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47" name="Freeform 1631"/>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48" name="Freeform 1632"/>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sp>
          <p:nvSpPr>
            <p:cNvPr id="349" name="Freeform 1633"/>
            <p:cNvSpPr/>
            <p:nvPr/>
          </p:nvSpPr>
          <p:spPr bwMode="auto">
            <a:xfrm>
              <a:off x="2577" y="3043"/>
              <a:ext cx="614" cy="514"/>
            </a:xfrm>
            <a:custGeom>
              <a:avLst/>
              <a:gdLst>
                <a:gd name="T0" fmla="*/ 1 w 990"/>
                <a:gd name="T1" fmla="*/ 2 h 792"/>
                <a:gd name="T2" fmla="*/ 1 w 990"/>
                <a:gd name="T3" fmla="*/ 0 h 792"/>
                <a:gd name="T4" fmla="*/ 1 w 990"/>
                <a:gd name="T5" fmla="*/ 1 h 792"/>
                <a:gd name="T6" fmla="*/ 0 w 990"/>
                <a:gd name="T7" fmla="*/ 2 h 792"/>
                <a:gd name="T8" fmla="*/ 1 w 990"/>
                <a:gd name="T9" fmla="*/ 2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50" name="Freeform 1634"/>
            <p:cNvSpPr/>
            <p:nvPr/>
          </p:nvSpPr>
          <p:spPr bwMode="auto">
            <a:xfrm>
              <a:off x="1010" y="3084"/>
              <a:ext cx="1571" cy="469"/>
            </a:xfrm>
            <a:custGeom>
              <a:avLst/>
              <a:gdLst>
                <a:gd name="T0" fmla="*/ 1 w 2532"/>
                <a:gd name="T1" fmla="*/ 0 h 723"/>
                <a:gd name="T2" fmla="*/ 1 w 2532"/>
                <a:gd name="T3" fmla="*/ 0 h 723"/>
                <a:gd name="T4" fmla="*/ 4 w 2532"/>
                <a:gd name="T5" fmla="*/ 2 h 723"/>
                <a:gd name="T6" fmla="*/ 4 w 2532"/>
                <a:gd name="T7" fmla="*/ 2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51" name="Freeform 1635"/>
            <p:cNvSpPr/>
            <p:nvPr/>
          </p:nvSpPr>
          <p:spPr bwMode="auto">
            <a:xfrm>
              <a:off x="1011" y="2998"/>
              <a:ext cx="17" cy="95"/>
            </a:xfrm>
            <a:custGeom>
              <a:avLst/>
              <a:gdLst>
                <a:gd name="T0" fmla="*/ 1 w 26"/>
                <a:gd name="T1" fmla="*/ 1 h 147"/>
                <a:gd name="T2" fmla="*/ 1 w 26"/>
                <a:gd name="T3" fmla="*/ 1 h 147"/>
                <a:gd name="T4" fmla="*/ 0 w 26"/>
                <a:gd name="T5" fmla="*/ 1 h 147"/>
                <a:gd name="T6" fmla="*/ 1 w 26"/>
                <a:gd name="T7" fmla="*/ 0 h 147"/>
                <a:gd name="T8" fmla="*/ 1 w 26"/>
                <a:gd name="T9" fmla="*/ 1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52" name="Freeform 1636"/>
            <p:cNvSpPr/>
            <p:nvPr/>
          </p:nvSpPr>
          <p:spPr bwMode="auto">
            <a:xfrm>
              <a:off x="1012" y="2611"/>
              <a:ext cx="730" cy="393"/>
            </a:xfrm>
            <a:custGeom>
              <a:avLst/>
              <a:gdLst>
                <a:gd name="T0" fmla="*/ 1 w 1176"/>
                <a:gd name="T1" fmla="*/ 0 h 606"/>
                <a:gd name="T2" fmla="*/ 0 w 1176"/>
                <a:gd name="T3" fmla="*/ 1 h 606"/>
                <a:gd name="T4" fmla="*/ 1 w 1176"/>
                <a:gd name="T5" fmla="*/ 1 h 606"/>
                <a:gd name="T6" fmla="*/ 1 w 1176"/>
                <a:gd name="T7" fmla="*/ 1 h 606"/>
                <a:gd name="T8" fmla="*/ 1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53" name="Freeform 1637"/>
            <p:cNvSpPr/>
            <p:nvPr/>
          </p:nvSpPr>
          <p:spPr bwMode="auto">
            <a:xfrm>
              <a:off x="1061" y="3018"/>
              <a:ext cx="1490" cy="451"/>
            </a:xfrm>
            <a:custGeom>
              <a:avLst/>
              <a:gdLst>
                <a:gd name="T0" fmla="*/ 1 w 2532"/>
                <a:gd name="T1" fmla="*/ 0 h 723"/>
                <a:gd name="T2" fmla="*/ 1 w 2532"/>
                <a:gd name="T3" fmla="*/ 0 h 723"/>
                <a:gd name="T4" fmla="*/ 1 w 2532"/>
                <a:gd name="T5" fmla="*/ 1 h 723"/>
                <a:gd name="T6" fmla="*/ 1 w 2532"/>
                <a:gd name="T7" fmla="*/ 1 h 723"/>
                <a:gd name="T8" fmla="*/ 0 w 2532"/>
                <a:gd name="T9" fmla="*/ 1 h 723"/>
                <a:gd name="T10" fmla="*/ 1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sp>
          <p:nvSpPr>
            <p:cNvPr id="354" name="Freeform 1638"/>
            <p:cNvSpPr/>
            <p:nvPr/>
          </p:nvSpPr>
          <p:spPr bwMode="auto">
            <a:xfrm flipV="1">
              <a:off x="2549" y="2986"/>
              <a:ext cx="608" cy="467"/>
            </a:xfrm>
            <a:custGeom>
              <a:avLst/>
              <a:gdLst>
                <a:gd name="T0" fmla="*/ 0 w 2532"/>
                <a:gd name="T1" fmla="*/ 0 h 723"/>
                <a:gd name="T2" fmla="*/ 0 w 2532"/>
                <a:gd name="T3" fmla="*/ 0 h 723"/>
                <a:gd name="T4" fmla="*/ 0 w 2532"/>
                <a:gd name="T5" fmla="*/ 2 h 723"/>
                <a:gd name="T6" fmla="*/ 0 w 2532"/>
                <a:gd name="T7" fmla="*/ 2 h 723"/>
                <a:gd name="T8" fmla="*/ 0 w 2532"/>
                <a:gd name="T9" fmla="*/ 1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900"/>
            </a:p>
          </p:txBody>
        </p:sp>
      </p:grpSp>
      <p:sp>
        <p:nvSpPr>
          <p:cNvPr id="355" name="Rectangle 3"/>
          <p:cNvSpPr>
            <a:spLocks noGrp="1" noChangeArrowheads="1"/>
          </p:cNvSpPr>
          <p:nvPr/>
        </p:nvSpPr>
        <p:spPr>
          <a:xfrm>
            <a:off x="413385" y="1517015"/>
            <a:ext cx="6175317" cy="501650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lnSpc>
                <a:spcPct val="120000"/>
              </a:lnSpc>
              <a:spcBef>
                <a:spcPts val="600"/>
              </a:spcBef>
              <a:buFont typeface="Wingdings" panose="05000000000000000000" pitchFamily="2" charset="2"/>
              <a:buChar char="Ø"/>
            </a:pPr>
            <a:r>
              <a:rPr lang="zh-CN" altLang="en-US" dirty="0">
                <a:latin typeface="+mn-ea"/>
              </a:rPr>
              <a:t>网络层实现端系统间</a:t>
            </a:r>
            <a:r>
              <a:rPr lang="zh-CN" altLang="en-US" dirty="0">
                <a:solidFill>
                  <a:srgbClr val="C00000"/>
                </a:solidFill>
                <a:latin typeface="+mn-ea"/>
              </a:rPr>
              <a:t>多跳传输</a:t>
            </a:r>
            <a:r>
              <a:rPr lang="zh-CN" altLang="en-US" dirty="0">
                <a:latin typeface="+mn-ea"/>
              </a:rPr>
              <a:t>可达</a:t>
            </a:r>
            <a:endParaRPr lang="en-US" altLang="zh-CN" sz="2800" dirty="0">
              <a:latin typeface="+mn-ea"/>
            </a:endParaRPr>
          </a:p>
          <a:p>
            <a:pPr algn="l" fontAlgn="base">
              <a:lnSpc>
                <a:spcPct val="120000"/>
              </a:lnSpc>
              <a:spcBef>
                <a:spcPts val="600"/>
              </a:spcBef>
              <a:buClrTx/>
              <a:buSzTx/>
              <a:buFont typeface="Wingdings" panose="05000000000000000000" pitchFamily="2" charset="2"/>
              <a:buChar char="Ø"/>
            </a:pPr>
            <a:r>
              <a:rPr lang="zh-CN" altLang="en-US" sz="2800" dirty="0">
                <a:latin typeface="+mn-ea"/>
              </a:rPr>
              <a:t>网络层功能存在每台主机和路由器</a:t>
            </a:r>
            <a:r>
              <a:rPr lang="zh-CN" altLang="en-US" dirty="0">
                <a:latin typeface="+mn-ea"/>
              </a:rPr>
              <a:t>中</a:t>
            </a:r>
            <a:endParaRPr lang="zh-CN" altLang="en-US" sz="2800" dirty="0">
              <a:latin typeface="+mn-ea"/>
            </a:endParaRPr>
          </a:p>
          <a:p>
            <a:pPr lvl="1" algn="l">
              <a:lnSpc>
                <a:spcPct val="160000"/>
              </a:lnSpc>
              <a:spcBef>
                <a:spcPts val="600"/>
              </a:spcBef>
              <a:buClrTx/>
              <a:buSzTx/>
            </a:pPr>
            <a:r>
              <a:rPr kumimoji="1" lang="zh-CN" altLang="en-US" dirty="0">
                <a:solidFill>
                  <a:srgbClr val="C00000"/>
                </a:solidFill>
                <a:latin typeface="+mn-ea"/>
              </a:rPr>
              <a:t>发送端：</a:t>
            </a:r>
            <a:r>
              <a:rPr lang="zh-CN" altLang="en-US" dirty="0">
                <a:latin typeface="+mn-ea"/>
              </a:rPr>
              <a:t>将传输层数据单元封装在数据包中</a:t>
            </a:r>
          </a:p>
          <a:p>
            <a:pPr lvl="1" algn="l">
              <a:lnSpc>
                <a:spcPct val="160000"/>
              </a:lnSpc>
              <a:spcBef>
                <a:spcPts val="600"/>
              </a:spcBef>
              <a:buClrTx/>
              <a:buSzTx/>
            </a:pPr>
            <a:r>
              <a:rPr kumimoji="1" lang="zh-CN" altLang="en-US" dirty="0">
                <a:solidFill>
                  <a:srgbClr val="C00000"/>
                </a:solidFill>
                <a:latin typeface="+mn-ea"/>
              </a:rPr>
              <a:t>接收端：</a:t>
            </a:r>
            <a:r>
              <a:rPr lang="zh-CN" altLang="en-US" dirty="0">
                <a:latin typeface="+mn-ea"/>
              </a:rPr>
              <a:t>解析接收的数据包中，取出传输层数据单元，交付给传输层</a:t>
            </a:r>
          </a:p>
          <a:p>
            <a:pPr lvl="1" algn="l">
              <a:lnSpc>
                <a:spcPct val="160000"/>
              </a:lnSpc>
              <a:spcBef>
                <a:spcPts val="600"/>
              </a:spcBef>
              <a:buClrTx/>
              <a:buSzTx/>
            </a:pPr>
            <a:r>
              <a:rPr kumimoji="1" lang="zh-CN" altLang="en-US" dirty="0">
                <a:solidFill>
                  <a:srgbClr val="C00000"/>
                </a:solidFill>
                <a:latin typeface="+mn-ea"/>
              </a:rPr>
              <a:t>路由器：</a:t>
            </a:r>
            <a:r>
              <a:rPr lang="zh-CN" altLang="en-US" dirty="0">
                <a:latin typeface="+mn-ea"/>
              </a:rPr>
              <a:t>检查数据包首部，转发数据包</a:t>
            </a:r>
          </a:p>
        </p:txBody>
      </p:sp>
      <p:grpSp>
        <p:nvGrpSpPr>
          <p:cNvPr id="356" name="Group 1046"/>
          <p:cNvGrpSpPr/>
          <p:nvPr/>
        </p:nvGrpSpPr>
        <p:grpSpPr bwMode="auto">
          <a:xfrm>
            <a:off x="7401677" y="1642428"/>
            <a:ext cx="1047750" cy="996950"/>
            <a:chOff x="3402" y="719"/>
            <a:chExt cx="660" cy="628"/>
          </a:xfrm>
        </p:grpSpPr>
        <p:sp>
          <p:nvSpPr>
            <p:cNvPr id="357" name="Freeform 1030"/>
            <p:cNvSpPr/>
            <p:nvPr/>
          </p:nvSpPr>
          <p:spPr bwMode="auto">
            <a:xfrm>
              <a:off x="3402" y="753"/>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prstDash val="solid"/>
                  <a:round/>
                </a14:hiddenLine>
              </a:ext>
            </a:extLst>
          </p:spPr>
          <p:txBody>
            <a:bodyPr/>
            <a:lstStyle/>
            <a:p>
              <a:endParaRPr lang="zh-CN" altLang="en-US" sz="900"/>
            </a:p>
          </p:txBody>
        </p:sp>
        <p:grpSp>
          <p:nvGrpSpPr>
            <p:cNvPr id="358" name="Group 310"/>
            <p:cNvGrpSpPr/>
            <p:nvPr/>
          </p:nvGrpSpPr>
          <p:grpSpPr bwMode="auto">
            <a:xfrm>
              <a:off x="3549" y="719"/>
              <a:ext cx="513" cy="552"/>
              <a:chOff x="2956" y="969"/>
              <a:chExt cx="513" cy="552"/>
            </a:xfrm>
          </p:grpSpPr>
          <p:sp>
            <p:nvSpPr>
              <p:cNvPr id="359" name="Rectangle 311"/>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60" name="Rectangle 312"/>
              <p:cNvSpPr>
                <a:spLocks noChangeArrowheads="1"/>
              </p:cNvSpPr>
              <p:nvPr/>
            </p:nvSpPr>
            <p:spPr bwMode="auto">
              <a:xfrm>
                <a:off x="2997" y="984"/>
                <a:ext cx="435" cy="504"/>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61" name="Rectangle 313"/>
              <p:cNvSpPr>
                <a:spLocks noChangeArrowheads="1"/>
              </p:cNvSpPr>
              <p:nvPr/>
            </p:nvSpPr>
            <p:spPr bwMode="auto">
              <a:xfrm>
                <a:off x="3000" y="1185"/>
                <a:ext cx="432" cy="10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62" name="Text Box 314"/>
              <p:cNvSpPr txBox="1">
                <a:spLocks noChangeArrowheads="1"/>
              </p:cNvSpPr>
              <p:nvPr/>
            </p:nvSpPr>
            <p:spPr bwMode="auto">
              <a:xfrm>
                <a:off x="2956" y="978"/>
                <a:ext cx="513"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zh-CN" altLang="en-US" sz="900" dirty="0"/>
                  <a:t>应用层</a:t>
                </a:r>
                <a:endParaRPr lang="en-US" altLang="zh-CN" sz="900" dirty="0"/>
              </a:p>
              <a:p>
                <a:pPr algn="ctr"/>
                <a:r>
                  <a:rPr lang="zh-CN" altLang="en-US" sz="900" dirty="0"/>
                  <a:t>传输层</a:t>
                </a: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sp>
            <p:nvSpPr>
              <p:cNvPr id="363" name="Line 315"/>
              <p:cNvSpPr>
                <a:spLocks noChangeShapeType="1"/>
              </p:cNvSpPr>
              <p:nvPr/>
            </p:nvSpPr>
            <p:spPr bwMode="auto">
              <a:xfrm>
                <a:off x="2997" y="1194"/>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64" name="Line 316"/>
              <p:cNvSpPr>
                <a:spLocks noChangeShapeType="1"/>
              </p:cNvSpPr>
              <p:nvPr/>
            </p:nvSpPr>
            <p:spPr bwMode="auto">
              <a:xfrm>
                <a:off x="3003" y="1290"/>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65" name="Line 317"/>
              <p:cNvSpPr>
                <a:spLocks noChangeShapeType="1"/>
              </p:cNvSpPr>
              <p:nvPr/>
            </p:nvSpPr>
            <p:spPr bwMode="auto">
              <a:xfrm>
                <a:off x="3003" y="1374"/>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66" name="Line 318"/>
              <p:cNvSpPr>
                <a:spLocks noChangeShapeType="1"/>
              </p:cNvSpPr>
              <p:nvPr/>
            </p:nvSpPr>
            <p:spPr bwMode="auto">
              <a:xfrm>
                <a:off x="3003" y="1092"/>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grpSp>
        <p:nvGrpSpPr>
          <p:cNvPr id="367" name="Group 1047"/>
          <p:cNvGrpSpPr/>
          <p:nvPr/>
        </p:nvGrpSpPr>
        <p:grpSpPr bwMode="auto">
          <a:xfrm>
            <a:off x="10097252" y="4649153"/>
            <a:ext cx="1047750" cy="996950"/>
            <a:chOff x="3402" y="719"/>
            <a:chExt cx="660" cy="628"/>
          </a:xfrm>
        </p:grpSpPr>
        <p:sp>
          <p:nvSpPr>
            <p:cNvPr id="368" name="Freeform 1048"/>
            <p:cNvSpPr/>
            <p:nvPr/>
          </p:nvSpPr>
          <p:spPr bwMode="auto">
            <a:xfrm>
              <a:off x="3402" y="753"/>
              <a:ext cx="192" cy="594"/>
            </a:xfrm>
            <a:custGeom>
              <a:avLst/>
              <a:gdLst>
                <a:gd name="T0" fmla="*/ 0 w 192"/>
                <a:gd name="T1" fmla="*/ 594 h 594"/>
                <a:gd name="T2" fmla="*/ 192 w 192"/>
                <a:gd name="T3" fmla="*/ 0 h 594"/>
                <a:gd name="T4" fmla="*/ 192 w 192"/>
                <a:gd name="T5" fmla="*/ 515 h 594"/>
                <a:gd name="T6" fmla="*/ 0 w 192"/>
                <a:gd name="T7" fmla="*/ 594 h 594"/>
                <a:gd name="T8" fmla="*/ 0 60000 65536"/>
                <a:gd name="T9" fmla="*/ 0 60000 65536"/>
                <a:gd name="T10" fmla="*/ 0 60000 65536"/>
                <a:gd name="T11" fmla="*/ 0 60000 65536"/>
                <a:gd name="T12" fmla="*/ 0 w 192"/>
                <a:gd name="T13" fmla="*/ 0 h 594"/>
                <a:gd name="T14" fmla="*/ 192 w 192"/>
                <a:gd name="T15" fmla="*/ 594 h 594"/>
              </a:gdLst>
              <a:ahLst/>
              <a:cxnLst>
                <a:cxn ang="T8">
                  <a:pos x="T0" y="T1"/>
                </a:cxn>
                <a:cxn ang="T9">
                  <a:pos x="T2" y="T3"/>
                </a:cxn>
                <a:cxn ang="T10">
                  <a:pos x="T4" y="T5"/>
                </a:cxn>
                <a:cxn ang="T11">
                  <a:pos x="T6" y="T7"/>
                </a:cxn>
              </a:cxnLst>
              <a:rect l="T12" t="T13" r="T14" b="T15"/>
              <a:pathLst>
                <a:path w="192" h="594">
                  <a:moveTo>
                    <a:pt x="0" y="594"/>
                  </a:moveTo>
                  <a:lnTo>
                    <a:pt x="192" y="0"/>
                  </a:lnTo>
                  <a:lnTo>
                    <a:pt x="192" y="515"/>
                  </a:lnTo>
                  <a:lnTo>
                    <a:pt x="0" y="594"/>
                  </a:lnTo>
                  <a:close/>
                </a:path>
              </a:pathLst>
            </a:custGeom>
            <a:gradFill rotWithShape="1">
              <a:gsLst>
                <a:gs pos="0">
                  <a:schemeClr val="bg1"/>
                </a:gs>
                <a:gs pos="100000">
                  <a:srgbClr val="CC0000"/>
                </a:gs>
              </a:gsLst>
              <a:lin ang="0" scaled="1"/>
            </a:gradFill>
            <a:ln>
              <a:noFill/>
            </a:ln>
            <a:extLst>
              <a:ext uri="{91240B29-F687-4F45-9708-019B960494DF}">
                <a14:hiddenLine xmlns:a14="http://schemas.microsoft.com/office/drawing/2010/main" w="9525">
                  <a:solidFill>
                    <a:srgbClr val="000000"/>
                  </a:solidFill>
                  <a:prstDash val="solid"/>
                  <a:round/>
                </a14:hiddenLine>
              </a:ext>
            </a:extLst>
          </p:spPr>
          <p:txBody>
            <a:bodyPr/>
            <a:lstStyle/>
            <a:p>
              <a:endParaRPr lang="zh-CN" altLang="en-US" sz="900"/>
            </a:p>
          </p:txBody>
        </p:sp>
        <p:grpSp>
          <p:nvGrpSpPr>
            <p:cNvPr id="369" name="Group 1049"/>
            <p:cNvGrpSpPr/>
            <p:nvPr/>
          </p:nvGrpSpPr>
          <p:grpSpPr bwMode="auto">
            <a:xfrm>
              <a:off x="3549" y="719"/>
              <a:ext cx="513" cy="552"/>
              <a:chOff x="2956" y="969"/>
              <a:chExt cx="513" cy="552"/>
            </a:xfrm>
          </p:grpSpPr>
          <p:sp>
            <p:nvSpPr>
              <p:cNvPr id="370" name="Rectangle 1050"/>
              <p:cNvSpPr>
                <a:spLocks noChangeArrowheads="1"/>
              </p:cNvSpPr>
              <p:nvPr/>
            </p:nvSpPr>
            <p:spPr bwMode="auto">
              <a:xfrm>
                <a:off x="3018" y="969"/>
                <a:ext cx="426" cy="489"/>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71" name="Rectangle 1051"/>
              <p:cNvSpPr>
                <a:spLocks noChangeArrowheads="1"/>
              </p:cNvSpPr>
              <p:nvPr/>
            </p:nvSpPr>
            <p:spPr bwMode="auto">
              <a:xfrm>
                <a:off x="2997" y="984"/>
                <a:ext cx="435" cy="504"/>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72" name="Rectangle 1052"/>
              <p:cNvSpPr>
                <a:spLocks noChangeArrowheads="1"/>
              </p:cNvSpPr>
              <p:nvPr/>
            </p:nvSpPr>
            <p:spPr bwMode="auto">
              <a:xfrm>
                <a:off x="3000" y="1185"/>
                <a:ext cx="432" cy="108"/>
              </a:xfrm>
              <a:prstGeom prst="rect">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73" name="Text Box 1053"/>
              <p:cNvSpPr txBox="1">
                <a:spLocks noChangeArrowheads="1"/>
              </p:cNvSpPr>
              <p:nvPr/>
            </p:nvSpPr>
            <p:spPr bwMode="auto">
              <a:xfrm>
                <a:off x="2956" y="978"/>
                <a:ext cx="513"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zh-CN" altLang="en-US" sz="900" dirty="0"/>
                  <a:t>应用层</a:t>
                </a:r>
                <a:endParaRPr lang="en-US" altLang="zh-CN" sz="900" dirty="0"/>
              </a:p>
              <a:p>
                <a:pPr algn="ctr"/>
                <a:r>
                  <a:rPr lang="zh-CN" altLang="en-US" sz="900" dirty="0"/>
                  <a:t>传输层</a:t>
                </a: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sp>
            <p:nvSpPr>
              <p:cNvPr id="374" name="Line 1054"/>
              <p:cNvSpPr>
                <a:spLocks noChangeShapeType="1"/>
              </p:cNvSpPr>
              <p:nvPr/>
            </p:nvSpPr>
            <p:spPr bwMode="auto">
              <a:xfrm>
                <a:off x="2997" y="1194"/>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75" name="Line 1055"/>
              <p:cNvSpPr>
                <a:spLocks noChangeShapeType="1"/>
              </p:cNvSpPr>
              <p:nvPr/>
            </p:nvSpPr>
            <p:spPr bwMode="auto">
              <a:xfrm>
                <a:off x="3003" y="1290"/>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76" name="Line 1056"/>
              <p:cNvSpPr>
                <a:spLocks noChangeShapeType="1"/>
              </p:cNvSpPr>
              <p:nvPr/>
            </p:nvSpPr>
            <p:spPr bwMode="auto">
              <a:xfrm>
                <a:off x="3003" y="1374"/>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77" name="Line 1057"/>
              <p:cNvSpPr>
                <a:spLocks noChangeShapeType="1"/>
              </p:cNvSpPr>
              <p:nvPr/>
            </p:nvSpPr>
            <p:spPr bwMode="auto">
              <a:xfrm>
                <a:off x="3003" y="1092"/>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grpSp>
        <p:nvGrpSpPr>
          <p:cNvPr id="378" name="Group 1278"/>
          <p:cNvGrpSpPr/>
          <p:nvPr/>
        </p:nvGrpSpPr>
        <p:grpSpPr bwMode="auto">
          <a:xfrm>
            <a:off x="7854115" y="2240918"/>
            <a:ext cx="2546350" cy="3475040"/>
            <a:chOff x="3674" y="1133"/>
            <a:chExt cx="1604" cy="2189"/>
          </a:xfrm>
        </p:grpSpPr>
        <p:grpSp>
          <p:nvGrpSpPr>
            <p:cNvPr id="379" name="Group 433"/>
            <p:cNvGrpSpPr/>
            <p:nvPr/>
          </p:nvGrpSpPr>
          <p:grpSpPr bwMode="auto">
            <a:xfrm>
              <a:off x="3701" y="1305"/>
              <a:ext cx="513" cy="456"/>
              <a:chOff x="3937" y="633"/>
              <a:chExt cx="513" cy="456"/>
            </a:xfrm>
          </p:grpSpPr>
          <p:sp>
            <p:nvSpPr>
              <p:cNvPr id="380" name="Line 434"/>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81" name="Line 435"/>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82" name="Oval 436"/>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83" name="Line 437"/>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84" name="Line 438"/>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85" name="Rectangle 439"/>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386" name="Oval 440"/>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387" name="Group 441"/>
              <p:cNvGrpSpPr/>
              <p:nvPr/>
            </p:nvGrpSpPr>
            <p:grpSpPr bwMode="auto">
              <a:xfrm>
                <a:off x="4120" y="809"/>
                <a:ext cx="156" cy="55"/>
                <a:chOff x="2848" y="848"/>
                <a:chExt cx="140" cy="98"/>
              </a:xfrm>
            </p:grpSpPr>
            <p:sp>
              <p:nvSpPr>
                <p:cNvPr id="388" name="Line 442"/>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89" name="Line 443"/>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90" name="Line 444"/>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391" name="Group 445"/>
              <p:cNvGrpSpPr/>
              <p:nvPr/>
            </p:nvGrpSpPr>
            <p:grpSpPr bwMode="auto">
              <a:xfrm flipV="1">
                <a:off x="4120" y="808"/>
                <a:ext cx="156" cy="56"/>
                <a:chOff x="2848" y="848"/>
                <a:chExt cx="140" cy="98"/>
              </a:xfrm>
            </p:grpSpPr>
            <p:sp>
              <p:nvSpPr>
                <p:cNvPr id="392" name="Line 446"/>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93" name="Line 447"/>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94" name="Line 448"/>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395" name="Rectangle 449"/>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96" name="Rectangle 450"/>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97" name="Line 451"/>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98" name="Line 452"/>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399" name="Rectangle 453"/>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solidFill>
                    <a:srgbClr val="CC0000"/>
                  </a:solidFill>
                  <a:latin typeface="Comic Sans MS" panose="030F0702030302020204" pitchFamily="66" charset="0"/>
                </a:endParaRPr>
              </a:p>
            </p:txBody>
          </p:sp>
          <p:sp>
            <p:nvSpPr>
              <p:cNvPr id="400" name="Text Box 454"/>
              <p:cNvSpPr txBox="1">
                <a:spLocks noChangeArrowheads="1"/>
              </p:cNvSpPr>
              <p:nvPr/>
            </p:nvSpPr>
            <p:spPr bwMode="auto">
              <a:xfrm>
                <a:off x="3937" y="633"/>
                <a:ext cx="513"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401" name="Group 1058"/>
            <p:cNvGrpSpPr/>
            <p:nvPr/>
          </p:nvGrpSpPr>
          <p:grpSpPr bwMode="auto">
            <a:xfrm>
              <a:off x="4207" y="1532"/>
              <a:ext cx="513" cy="456"/>
              <a:chOff x="3937" y="633"/>
              <a:chExt cx="513" cy="456"/>
            </a:xfrm>
          </p:grpSpPr>
          <p:sp>
            <p:nvSpPr>
              <p:cNvPr id="402" name="Line 1059"/>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03" name="Line 1060"/>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04" name="Oval 1061"/>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05" name="Line 1062"/>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06" name="Line 1063"/>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07" name="Rectangle 1064"/>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408" name="Oval 1065"/>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409" name="Group 1066"/>
              <p:cNvGrpSpPr/>
              <p:nvPr/>
            </p:nvGrpSpPr>
            <p:grpSpPr bwMode="auto">
              <a:xfrm>
                <a:off x="4120" y="809"/>
                <a:ext cx="156" cy="55"/>
                <a:chOff x="2848" y="848"/>
                <a:chExt cx="140" cy="98"/>
              </a:xfrm>
            </p:grpSpPr>
            <p:sp>
              <p:nvSpPr>
                <p:cNvPr id="410" name="Line 1067"/>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11" name="Line 1068"/>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12" name="Line 1069"/>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413" name="Group 1070"/>
              <p:cNvGrpSpPr/>
              <p:nvPr/>
            </p:nvGrpSpPr>
            <p:grpSpPr bwMode="auto">
              <a:xfrm flipV="1">
                <a:off x="4120" y="808"/>
                <a:ext cx="156" cy="56"/>
                <a:chOff x="2848" y="848"/>
                <a:chExt cx="140" cy="98"/>
              </a:xfrm>
            </p:grpSpPr>
            <p:sp>
              <p:nvSpPr>
                <p:cNvPr id="414" name="Line 1071"/>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15" name="Line 1072"/>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16" name="Line 1073"/>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417" name="Rectangle 1074"/>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18" name="Rectangle 1075"/>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19" name="Line 1076"/>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20" name="Line 1077"/>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21" name="Rectangle 1078"/>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22" name="Text Box 1079"/>
              <p:cNvSpPr txBox="1">
                <a:spLocks noChangeArrowheads="1"/>
              </p:cNvSpPr>
              <p:nvPr/>
            </p:nvSpPr>
            <p:spPr bwMode="auto">
              <a:xfrm>
                <a:off x="3937" y="633"/>
                <a:ext cx="513"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423" name="Group 1080"/>
            <p:cNvGrpSpPr/>
            <p:nvPr/>
          </p:nvGrpSpPr>
          <p:grpSpPr bwMode="auto">
            <a:xfrm>
              <a:off x="4661" y="1133"/>
              <a:ext cx="513" cy="465"/>
              <a:chOff x="3937" y="618"/>
              <a:chExt cx="513" cy="465"/>
            </a:xfrm>
          </p:grpSpPr>
          <p:sp>
            <p:nvSpPr>
              <p:cNvPr id="424" name="Line 1081"/>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25" name="Line 1082"/>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26" name="Oval 1083"/>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27" name="Line 1084"/>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28" name="Line 1085"/>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29" name="Rectangle 1086"/>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430" name="Oval 1087"/>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431" name="Group 1088"/>
              <p:cNvGrpSpPr/>
              <p:nvPr/>
            </p:nvGrpSpPr>
            <p:grpSpPr bwMode="auto">
              <a:xfrm>
                <a:off x="4120" y="809"/>
                <a:ext cx="156" cy="55"/>
                <a:chOff x="2848" y="848"/>
                <a:chExt cx="140" cy="98"/>
              </a:xfrm>
            </p:grpSpPr>
            <p:sp>
              <p:nvSpPr>
                <p:cNvPr id="432" name="Line 1089"/>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33" name="Line 1090"/>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34" name="Line 1091"/>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435" name="Group 1092"/>
              <p:cNvGrpSpPr/>
              <p:nvPr/>
            </p:nvGrpSpPr>
            <p:grpSpPr bwMode="auto">
              <a:xfrm flipV="1">
                <a:off x="4120" y="808"/>
                <a:ext cx="156" cy="56"/>
                <a:chOff x="2848" y="848"/>
                <a:chExt cx="140" cy="98"/>
              </a:xfrm>
            </p:grpSpPr>
            <p:sp>
              <p:nvSpPr>
                <p:cNvPr id="436" name="Line 1093"/>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37" name="Line 1094"/>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38" name="Line 1095"/>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439" name="Rectangle 1096"/>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40" name="Rectangle 1097"/>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41" name="Line 1098"/>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42" name="Line 1099"/>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43" name="Rectangle 1100"/>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44" name="Text Box 1101"/>
              <p:cNvSpPr txBox="1">
                <a:spLocks noChangeArrowheads="1"/>
              </p:cNvSpPr>
              <p:nvPr/>
            </p:nvSpPr>
            <p:spPr bwMode="auto">
              <a:xfrm>
                <a:off x="3937" y="618"/>
                <a:ext cx="513"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445" name="Group 1102"/>
            <p:cNvGrpSpPr/>
            <p:nvPr/>
          </p:nvGrpSpPr>
          <p:grpSpPr bwMode="auto">
            <a:xfrm>
              <a:off x="4702" y="1523"/>
              <a:ext cx="513" cy="456"/>
              <a:chOff x="3937" y="633"/>
              <a:chExt cx="513" cy="456"/>
            </a:xfrm>
          </p:grpSpPr>
          <p:sp>
            <p:nvSpPr>
              <p:cNvPr id="446" name="Line 1103"/>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47" name="Line 1104"/>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48" name="Oval 1105"/>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49" name="Line 1106"/>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50" name="Line 1107"/>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51" name="Rectangle 1108"/>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452" name="Oval 1109"/>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453" name="Group 1110"/>
              <p:cNvGrpSpPr/>
              <p:nvPr/>
            </p:nvGrpSpPr>
            <p:grpSpPr bwMode="auto">
              <a:xfrm>
                <a:off x="4120" y="809"/>
                <a:ext cx="156" cy="55"/>
                <a:chOff x="2848" y="848"/>
                <a:chExt cx="140" cy="98"/>
              </a:xfrm>
            </p:grpSpPr>
            <p:sp>
              <p:nvSpPr>
                <p:cNvPr id="454" name="Line 1111"/>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55" name="Line 1112"/>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56" name="Line 1113"/>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457" name="Group 1114"/>
              <p:cNvGrpSpPr/>
              <p:nvPr/>
            </p:nvGrpSpPr>
            <p:grpSpPr bwMode="auto">
              <a:xfrm flipV="1">
                <a:off x="4120" y="808"/>
                <a:ext cx="156" cy="56"/>
                <a:chOff x="2848" y="848"/>
                <a:chExt cx="140" cy="98"/>
              </a:xfrm>
            </p:grpSpPr>
            <p:sp>
              <p:nvSpPr>
                <p:cNvPr id="458" name="Line 1115"/>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59" name="Line 1116"/>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60" name="Line 1117"/>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461" name="Rectangle 1118"/>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62" name="Rectangle 1119"/>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63" name="Line 1120"/>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64" name="Line 1121"/>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65" name="Rectangle 1122"/>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66" name="Text Box 1123"/>
              <p:cNvSpPr txBox="1">
                <a:spLocks noChangeArrowheads="1"/>
              </p:cNvSpPr>
              <p:nvPr/>
            </p:nvSpPr>
            <p:spPr bwMode="auto">
              <a:xfrm>
                <a:off x="3937" y="633"/>
                <a:ext cx="513"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467" name="Group 1124"/>
            <p:cNvGrpSpPr/>
            <p:nvPr/>
          </p:nvGrpSpPr>
          <p:grpSpPr bwMode="auto">
            <a:xfrm>
              <a:off x="4197" y="1139"/>
              <a:ext cx="513" cy="465"/>
              <a:chOff x="3937" y="615"/>
              <a:chExt cx="513" cy="465"/>
            </a:xfrm>
          </p:grpSpPr>
          <p:sp>
            <p:nvSpPr>
              <p:cNvPr id="468" name="Line 1125"/>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69" name="Line 1126"/>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70" name="Oval 1127"/>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71" name="Line 1128"/>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72" name="Line 1129"/>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73" name="Rectangle 1130"/>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474" name="Oval 1131"/>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475" name="Group 1132"/>
              <p:cNvGrpSpPr/>
              <p:nvPr/>
            </p:nvGrpSpPr>
            <p:grpSpPr bwMode="auto">
              <a:xfrm>
                <a:off x="4120" y="809"/>
                <a:ext cx="156" cy="55"/>
                <a:chOff x="2848" y="848"/>
                <a:chExt cx="140" cy="98"/>
              </a:xfrm>
            </p:grpSpPr>
            <p:sp>
              <p:nvSpPr>
                <p:cNvPr id="476" name="Line 1133"/>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77" name="Line 1134"/>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78" name="Line 1135"/>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479" name="Group 1136"/>
              <p:cNvGrpSpPr/>
              <p:nvPr/>
            </p:nvGrpSpPr>
            <p:grpSpPr bwMode="auto">
              <a:xfrm flipV="1">
                <a:off x="4120" y="808"/>
                <a:ext cx="156" cy="56"/>
                <a:chOff x="2848" y="848"/>
                <a:chExt cx="140" cy="98"/>
              </a:xfrm>
            </p:grpSpPr>
            <p:sp>
              <p:nvSpPr>
                <p:cNvPr id="480" name="Line 1137"/>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81" name="Line 1138"/>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82" name="Line 1139"/>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483" name="Rectangle 1140"/>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84" name="Rectangle 1141"/>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85" name="Line 1142"/>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86" name="Line 1143"/>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87" name="Rectangle 1144"/>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88" name="Text Box 1145"/>
              <p:cNvSpPr txBox="1">
                <a:spLocks noChangeArrowheads="1"/>
              </p:cNvSpPr>
              <p:nvPr/>
            </p:nvSpPr>
            <p:spPr bwMode="auto">
              <a:xfrm>
                <a:off x="3937" y="615"/>
                <a:ext cx="513"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489" name="Group 1146"/>
            <p:cNvGrpSpPr/>
            <p:nvPr/>
          </p:nvGrpSpPr>
          <p:grpSpPr bwMode="auto">
            <a:xfrm>
              <a:off x="4389" y="2239"/>
              <a:ext cx="513" cy="456"/>
              <a:chOff x="3937" y="633"/>
              <a:chExt cx="513" cy="456"/>
            </a:xfrm>
          </p:grpSpPr>
          <p:sp>
            <p:nvSpPr>
              <p:cNvPr id="490" name="Line 1147"/>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91" name="Line 1148"/>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92" name="Oval 1149"/>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493" name="Line 1150"/>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94" name="Line 1151"/>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95" name="Rectangle 1152"/>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496" name="Oval 1153"/>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497" name="Group 1154"/>
              <p:cNvGrpSpPr/>
              <p:nvPr/>
            </p:nvGrpSpPr>
            <p:grpSpPr bwMode="auto">
              <a:xfrm>
                <a:off x="4120" y="809"/>
                <a:ext cx="156" cy="55"/>
                <a:chOff x="2848" y="848"/>
                <a:chExt cx="140" cy="98"/>
              </a:xfrm>
            </p:grpSpPr>
            <p:sp>
              <p:nvSpPr>
                <p:cNvPr id="498" name="Line 1155"/>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499" name="Line 1156"/>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00" name="Line 1157"/>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501" name="Group 1158"/>
              <p:cNvGrpSpPr/>
              <p:nvPr/>
            </p:nvGrpSpPr>
            <p:grpSpPr bwMode="auto">
              <a:xfrm flipV="1">
                <a:off x="4120" y="808"/>
                <a:ext cx="156" cy="56"/>
                <a:chOff x="2848" y="848"/>
                <a:chExt cx="140" cy="98"/>
              </a:xfrm>
            </p:grpSpPr>
            <p:sp>
              <p:nvSpPr>
                <p:cNvPr id="502" name="Line 1159"/>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03" name="Line 1160"/>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04" name="Line 1161"/>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505" name="Rectangle 1162"/>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06" name="Rectangle 1163"/>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07" name="Line 1164"/>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08" name="Line 1165"/>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09" name="Rectangle 1166"/>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10" name="Text Box 1167"/>
              <p:cNvSpPr txBox="1">
                <a:spLocks noChangeArrowheads="1"/>
              </p:cNvSpPr>
              <p:nvPr/>
            </p:nvSpPr>
            <p:spPr bwMode="auto">
              <a:xfrm>
                <a:off x="3937" y="633"/>
                <a:ext cx="513"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511" name="Group 1168"/>
            <p:cNvGrpSpPr/>
            <p:nvPr/>
          </p:nvGrpSpPr>
          <p:grpSpPr bwMode="auto">
            <a:xfrm>
              <a:off x="4765" y="1995"/>
              <a:ext cx="513" cy="456"/>
              <a:chOff x="3937" y="633"/>
              <a:chExt cx="513" cy="456"/>
            </a:xfrm>
          </p:grpSpPr>
          <p:sp>
            <p:nvSpPr>
              <p:cNvPr id="512" name="Line 1169"/>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13" name="Line 1170"/>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14" name="Oval 1171"/>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15" name="Line 1172"/>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16" name="Line 1173"/>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17" name="Rectangle 1174"/>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518" name="Oval 1175"/>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519" name="Group 1176"/>
              <p:cNvGrpSpPr/>
              <p:nvPr/>
            </p:nvGrpSpPr>
            <p:grpSpPr bwMode="auto">
              <a:xfrm>
                <a:off x="4120" y="809"/>
                <a:ext cx="156" cy="55"/>
                <a:chOff x="2848" y="848"/>
                <a:chExt cx="140" cy="98"/>
              </a:xfrm>
            </p:grpSpPr>
            <p:sp>
              <p:nvSpPr>
                <p:cNvPr id="520" name="Line 1177"/>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21" name="Line 1178"/>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22" name="Line 1179"/>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523" name="Group 1180"/>
              <p:cNvGrpSpPr/>
              <p:nvPr/>
            </p:nvGrpSpPr>
            <p:grpSpPr bwMode="auto">
              <a:xfrm flipV="1">
                <a:off x="4120" y="808"/>
                <a:ext cx="156" cy="56"/>
                <a:chOff x="2848" y="848"/>
                <a:chExt cx="140" cy="98"/>
              </a:xfrm>
            </p:grpSpPr>
            <p:sp>
              <p:nvSpPr>
                <p:cNvPr id="524" name="Line 1181"/>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25" name="Line 1182"/>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26" name="Line 1183"/>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527" name="Rectangle 1184"/>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28" name="Rectangle 1185"/>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29" name="Line 1186"/>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30" name="Line 1187"/>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31" name="Rectangle 1188"/>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32" name="Text Box 1189"/>
              <p:cNvSpPr txBox="1">
                <a:spLocks noChangeArrowheads="1"/>
              </p:cNvSpPr>
              <p:nvPr/>
            </p:nvSpPr>
            <p:spPr bwMode="auto">
              <a:xfrm>
                <a:off x="3937" y="633"/>
                <a:ext cx="513"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533" name="Group 1190"/>
            <p:cNvGrpSpPr/>
            <p:nvPr/>
          </p:nvGrpSpPr>
          <p:grpSpPr bwMode="auto">
            <a:xfrm>
              <a:off x="4128" y="2003"/>
              <a:ext cx="513" cy="456"/>
              <a:chOff x="3937" y="633"/>
              <a:chExt cx="513" cy="456"/>
            </a:xfrm>
          </p:grpSpPr>
          <p:sp>
            <p:nvSpPr>
              <p:cNvPr id="534" name="Line 1191"/>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35" name="Line 1192"/>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36" name="Oval 1193"/>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37" name="Line 1194"/>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38" name="Line 1195"/>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39" name="Rectangle 1196"/>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540" name="Oval 1197"/>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541" name="Group 1198"/>
              <p:cNvGrpSpPr/>
              <p:nvPr/>
            </p:nvGrpSpPr>
            <p:grpSpPr bwMode="auto">
              <a:xfrm>
                <a:off x="4120" y="809"/>
                <a:ext cx="156" cy="55"/>
                <a:chOff x="2848" y="848"/>
                <a:chExt cx="140" cy="98"/>
              </a:xfrm>
            </p:grpSpPr>
            <p:sp>
              <p:nvSpPr>
                <p:cNvPr id="542" name="Line 1199"/>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43" name="Line 1200"/>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44" name="Line 1201"/>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545" name="Group 1202"/>
              <p:cNvGrpSpPr/>
              <p:nvPr/>
            </p:nvGrpSpPr>
            <p:grpSpPr bwMode="auto">
              <a:xfrm flipV="1">
                <a:off x="4120" y="808"/>
                <a:ext cx="156" cy="56"/>
                <a:chOff x="2848" y="848"/>
                <a:chExt cx="140" cy="98"/>
              </a:xfrm>
            </p:grpSpPr>
            <p:sp>
              <p:nvSpPr>
                <p:cNvPr id="546" name="Line 1203"/>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47" name="Line 1204"/>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48" name="Line 1205"/>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549" name="Rectangle 1206"/>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50" name="Rectangle 1207"/>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51" name="Line 1208"/>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52" name="Line 1209"/>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53" name="Rectangle 1210"/>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54" name="Text Box 1211"/>
              <p:cNvSpPr txBox="1">
                <a:spLocks noChangeArrowheads="1"/>
              </p:cNvSpPr>
              <p:nvPr/>
            </p:nvSpPr>
            <p:spPr bwMode="auto">
              <a:xfrm>
                <a:off x="3937" y="633"/>
                <a:ext cx="513"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555" name="Group 1212"/>
            <p:cNvGrpSpPr/>
            <p:nvPr/>
          </p:nvGrpSpPr>
          <p:grpSpPr bwMode="auto">
            <a:xfrm>
              <a:off x="4608" y="2771"/>
              <a:ext cx="513" cy="456"/>
              <a:chOff x="3937" y="633"/>
              <a:chExt cx="513" cy="456"/>
            </a:xfrm>
          </p:grpSpPr>
          <p:sp>
            <p:nvSpPr>
              <p:cNvPr id="556" name="Line 1213"/>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57" name="Line 1214"/>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58" name="Oval 1215"/>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59" name="Line 1216"/>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60" name="Line 1217"/>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61" name="Rectangle 1218"/>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562" name="Oval 1219"/>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563" name="Group 1220"/>
              <p:cNvGrpSpPr/>
              <p:nvPr/>
            </p:nvGrpSpPr>
            <p:grpSpPr bwMode="auto">
              <a:xfrm>
                <a:off x="4120" y="809"/>
                <a:ext cx="156" cy="55"/>
                <a:chOff x="2848" y="848"/>
                <a:chExt cx="140" cy="98"/>
              </a:xfrm>
            </p:grpSpPr>
            <p:sp>
              <p:nvSpPr>
                <p:cNvPr id="564" name="Line 1221"/>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65" name="Line 1222"/>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66" name="Line 1223"/>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567" name="Group 1224"/>
              <p:cNvGrpSpPr/>
              <p:nvPr/>
            </p:nvGrpSpPr>
            <p:grpSpPr bwMode="auto">
              <a:xfrm flipV="1">
                <a:off x="4120" y="808"/>
                <a:ext cx="156" cy="56"/>
                <a:chOff x="2848" y="848"/>
                <a:chExt cx="140" cy="98"/>
              </a:xfrm>
            </p:grpSpPr>
            <p:sp>
              <p:nvSpPr>
                <p:cNvPr id="568" name="Line 1225"/>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69" name="Line 1226"/>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70" name="Line 1227"/>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571" name="Rectangle 1228"/>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72" name="Rectangle 1229"/>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73" name="Line 1230"/>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74" name="Line 1231"/>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75" name="Rectangle 1232"/>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76" name="Text Box 1233"/>
              <p:cNvSpPr txBox="1">
                <a:spLocks noChangeArrowheads="1"/>
              </p:cNvSpPr>
              <p:nvPr/>
            </p:nvSpPr>
            <p:spPr bwMode="auto">
              <a:xfrm>
                <a:off x="3937" y="633"/>
                <a:ext cx="513"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577" name="Group 1234"/>
            <p:cNvGrpSpPr/>
            <p:nvPr/>
          </p:nvGrpSpPr>
          <p:grpSpPr bwMode="auto">
            <a:xfrm>
              <a:off x="4119" y="2640"/>
              <a:ext cx="513" cy="456"/>
              <a:chOff x="3937" y="633"/>
              <a:chExt cx="513" cy="456"/>
            </a:xfrm>
          </p:grpSpPr>
          <p:sp>
            <p:nvSpPr>
              <p:cNvPr id="578" name="Line 1235"/>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79" name="Line 1236"/>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80" name="Oval 1237"/>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81" name="Line 1238"/>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82" name="Line 1239"/>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83" name="Rectangle 1240"/>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584" name="Oval 1241"/>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585" name="Group 1242"/>
              <p:cNvGrpSpPr/>
              <p:nvPr/>
            </p:nvGrpSpPr>
            <p:grpSpPr bwMode="auto">
              <a:xfrm>
                <a:off x="4120" y="809"/>
                <a:ext cx="156" cy="55"/>
                <a:chOff x="2848" y="848"/>
                <a:chExt cx="140" cy="98"/>
              </a:xfrm>
            </p:grpSpPr>
            <p:sp>
              <p:nvSpPr>
                <p:cNvPr id="586" name="Line 1243"/>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87" name="Line 1244"/>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88" name="Line 1245"/>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589" name="Group 1246"/>
              <p:cNvGrpSpPr/>
              <p:nvPr/>
            </p:nvGrpSpPr>
            <p:grpSpPr bwMode="auto">
              <a:xfrm flipV="1">
                <a:off x="4120" y="808"/>
                <a:ext cx="156" cy="56"/>
                <a:chOff x="2848" y="848"/>
                <a:chExt cx="140" cy="98"/>
              </a:xfrm>
            </p:grpSpPr>
            <p:sp>
              <p:nvSpPr>
                <p:cNvPr id="590" name="Line 1247"/>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91" name="Line 1248"/>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92" name="Line 1249"/>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593" name="Rectangle 1250"/>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94" name="Rectangle 1251"/>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95" name="Line 1252"/>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96" name="Line 1253"/>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597" name="Rectangle 1254"/>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598" name="Text Box 1255"/>
              <p:cNvSpPr txBox="1">
                <a:spLocks noChangeArrowheads="1"/>
              </p:cNvSpPr>
              <p:nvPr/>
            </p:nvSpPr>
            <p:spPr bwMode="auto">
              <a:xfrm>
                <a:off x="3937" y="633"/>
                <a:ext cx="513"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nvGrpSpPr>
            <p:cNvPr id="599" name="Group 1256"/>
            <p:cNvGrpSpPr/>
            <p:nvPr/>
          </p:nvGrpSpPr>
          <p:grpSpPr bwMode="auto">
            <a:xfrm>
              <a:off x="3674" y="2866"/>
              <a:ext cx="513" cy="456"/>
              <a:chOff x="3937" y="633"/>
              <a:chExt cx="513" cy="456"/>
            </a:xfrm>
          </p:grpSpPr>
          <p:sp>
            <p:nvSpPr>
              <p:cNvPr id="600" name="Line 1257"/>
              <p:cNvSpPr>
                <a:spLocks noChangeShapeType="1"/>
              </p:cNvSpPr>
              <p:nvPr/>
            </p:nvSpPr>
            <p:spPr bwMode="auto">
              <a:xfrm>
                <a:off x="4061" y="1035"/>
                <a:ext cx="312" cy="1"/>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01" name="Line 1258"/>
              <p:cNvSpPr>
                <a:spLocks noChangeShapeType="1"/>
              </p:cNvSpPr>
              <p:nvPr/>
            </p:nvSpPr>
            <p:spPr bwMode="auto">
              <a:xfrm flipV="1">
                <a:off x="4212" y="929"/>
                <a:ext cx="1" cy="10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02" name="Oval 1259"/>
              <p:cNvSpPr>
                <a:spLocks noChangeArrowheads="1"/>
              </p:cNvSpPr>
              <p:nvPr/>
            </p:nvSpPr>
            <p:spPr bwMode="auto">
              <a:xfrm>
                <a:off x="4048" y="854"/>
                <a:ext cx="313" cy="81"/>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603" name="Line 1260"/>
              <p:cNvSpPr>
                <a:spLocks noChangeShapeType="1"/>
              </p:cNvSpPr>
              <p:nvPr/>
            </p:nvSpPr>
            <p:spPr bwMode="auto">
              <a:xfrm>
                <a:off x="4048"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04" name="Line 1261"/>
              <p:cNvSpPr>
                <a:spLocks noChangeShapeType="1"/>
              </p:cNvSpPr>
              <p:nvPr/>
            </p:nvSpPr>
            <p:spPr bwMode="auto">
              <a:xfrm>
                <a:off x="4361" y="847"/>
                <a:ext cx="0" cy="5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05" name="Rectangle 1262"/>
              <p:cNvSpPr>
                <a:spLocks noChangeArrowheads="1"/>
              </p:cNvSpPr>
              <p:nvPr/>
            </p:nvSpPr>
            <p:spPr bwMode="auto">
              <a:xfrm>
                <a:off x="4048" y="847"/>
                <a:ext cx="310" cy="49"/>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900"/>
              </a:p>
            </p:txBody>
          </p:sp>
          <p:sp>
            <p:nvSpPr>
              <p:cNvPr id="606" name="Oval 1263"/>
              <p:cNvSpPr>
                <a:spLocks noChangeArrowheads="1"/>
              </p:cNvSpPr>
              <p:nvPr/>
            </p:nvSpPr>
            <p:spPr bwMode="auto">
              <a:xfrm>
                <a:off x="4045" y="788"/>
                <a:ext cx="313" cy="95"/>
              </a:xfrm>
              <a:prstGeom prst="ellipse">
                <a:avLst/>
              </a:prstGeom>
              <a:solidFill>
                <a:schemeClr val="hlink"/>
              </a:solidFill>
              <a:ln w="12700">
                <a:solidFill>
                  <a:schemeClr val="tx1"/>
                </a:solidFill>
                <a:rou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grpSp>
            <p:nvGrpSpPr>
              <p:cNvPr id="607" name="Group 1264"/>
              <p:cNvGrpSpPr/>
              <p:nvPr/>
            </p:nvGrpSpPr>
            <p:grpSpPr bwMode="auto">
              <a:xfrm>
                <a:off x="4120" y="809"/>
                <a:ext cx="156" cy="55"/>
                <a:chOff x="2848" y="848"/>
                <a:chExt cx="140" cy="98"/>
              </a:xfrm>
            </p:grpSpPr>
            <p:sp>
              <p:nvSpPr>
                <p:cNvPr id="608" name="Line 1265"/>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09" name="Line 1266"/>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10" name="Line 1267"/>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grpSp>
            <p:nvGrpSpPr>
              <p:cNvPr id="611" name="Group 1268"/>
              <p:cNvGrpSpPr/>
              <p:nvPr/>
            </p:nvGrpSpPr>
            <p:grpSpPr bwMode="auto">
              <a:xfrm flipV="1">
                <a:off x="4120" y="808"/>
                <a:ext cx="156" cy="56"/>
                <a:chOff x="2848" y="848"/>
                <a:chExt cx="140" cy="98"/>
              </a:xfrm>
            </p:grpSpPr>
            <p:sp>
              <p:nvSpPr>
                <p:cNvPr id="612" name="Line 1269"/>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13" name="Line 1270"/>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14" name="Line 1271"/>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grpSp>
          <p:sp>
            <p:nvSpPr>
              <p:cNvPr id="615" name="Rectangle 1272"/>
              <p:cNvSpPr>
                <a:spLocks noChangeArrowheads="1"/>
              </p:cNvSpPr>
              <p:nvPr/>
            </p:nvSpPr>
            <p:spPr bwMode="auto">
              <a:xfrm>
                <a:off x="3996" y="732"/>
                <a:ext cx="426" cy="306"/>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616" name="Rectangle 1273"/>
              <p:cNvSpPr>
                <a:spLocks noChangeArrowheads="1"/>
              </p:cNvSpPr>
              <p:nvPr/>
            </p:nvSpPr>
            <p:spPr bwMode="auto">
              <a:xfrm>
                <a:off x="3969" y="753"/>
                <a:ext cx="435" cy="312"/>
              </a:xfrm>
              <a:prstGeom prst="rect">
                <a:avLst/>
              </a:prstGeom>
              <a:solidFill>
                <a:schemeClr val="bg1"/>
              </a:solidFill>
              <a:ln w="12700">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617" name="Line 1274"/>
              <p:cNvSpPr>
                <a:spLocks noChangeShapeType="1"/>
              </p:cNvSpPr>
              <p:nvPr/>
            </p:nvSpPr>
            <p:spPr bwMode="auto">
              <a:xfrm>
                <a:off x="3966" y="945"/>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18" name="Line 1275"/>
              <p:cNvSpPr>
                <a:spLocks noChangeShapeType="1"/>
              </p:cNvSpPr>
              <p:nvPr/>
            </p:nvSpPr>
            <p:spPr bwMode="auto">
              <a:xfrm>
                <a:off x="3972" y="849"/>
                <a:ext cx="435" cy="3"/>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900"/>
              </a:p>
            </p:txBody>
          </p:sp>
          <p:sp>
            <p:nvSpPr>
              <p:cNvPr id="619" name="Rectangle 1276"/>
              <p:cNvSpPr>
                <a:spLocks noChangeArrowheads="1"/>
              </p:cNvSpPr>
              <p:nvPr/>
            </p:nvSpPr>
            <p:spPr bwMode="auto">
              <a:xfrm>
                <a:off x="3966" y="756"/>
                <a:ext cx="435" cy="93"/>
              </a:xfrm>
              <a:prstGeom prst="rect">
                <a:avLst/>
              </a:prstGeom>
              <a:solidFill>
                <a:srgbClr val="CC0000"/>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620" name="Text Box 1277"/>
              <p:cNvSpPr txBox="1">
                <a:spLocks noChangeArrowheads="1"/>
              </p:cNvSpPr>
              <p:nvPr/>
            </p:nvSpPr>
            <p:spPr bwMode="auto">
              <a:xfrm>
                <a:off x="3937" y="633"/>
                <a:ext cx="513" cy="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zh-CN" sz="900" dirty="0"/>
              </a:p>
              <a:p>
                <a:pPr algn="ctr">
                  <a:spcBef>
                    <a:spcPts val="150"/>
                  </a:spcBef>
                </a:pPr>
                <a:r>
                  <a:rPr lang="zh-CN" altLang="en-US" sz="900" dirty="0">
                    <a:solidFill>
                      <a:schemeClr val="bg1"/>
                    </a:solidFill>
                  </a:rPr>
                  <a:t>网络层</a:t>
                </a:r>
                <a:endParaRPr lang="en-US" altLang="zh-CN" sz="900" dirty="0">
                  <a:solidFill>
                    <a:schemeClr val="bg1"/>
                  </a:solidFill>
                </a:endParaRPr>
              </a:p>
              <a:p>
                <a:pPr algn="ctr">
                  <a:spcBef>
                    <a:spcPts val="150"/>
                  </a:spcBef>
                </a:pPr>
                <a:r>
                  <a:rPr lang="zh-CN" altLang="en-US" sz="900" dirty="0"/>
                  <a:t>数据链路层</a:t>
                </a:r>
                <a:endParaRPr lang="en-US" altLang="zh-CN" sz="900" dirty="0"/>
              </a:p>
              <a:p>
                <a:pPr algn="ctr">
                  <a:spcBef>
                    <a:spcPts val="150"/>
                  </a:spcBef>
                </a:pPr>
                <a:r>
                  <a:rPr lang="zh-CN" altLang="en-US" sz="900" dirty="0"/>
                  <a:t>物理层</a:t>
                </a:r>
                <a:endParaRPr lang="en-US" altLang="zh-CN" sz="900" dirty="0"/>
              </a:p>
            </p:txBody>
          </p:sp>
        </p:grpSp>
      </p:grpSp>
      <p:sp>
        <p:nvSpPr>
          <p:cNvPr id="621" name="Rectangle 1280"/>
          <p:cNvSpPr>
            <a:spLocks noChangeArrowheads="1"/>
          </p:cNvSpPr>
          <p:nvPr/>
        </p:nvSpPr>
        <p:spPr bwMode="auto">
          <a:xfrm>
            <a:off x="7722352" y="1359853"/>
            <a:ext cx="388938" cy="138112"/>
          </a:xfrm>
          <a:prstGeom prst="rect">
            <a:avLst/>
          </a:prstGeom>
          <a:solidFill>
            <a:schemeClr val="accent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622" name="Rectangle 1281"/>
          <p:cNvSpPr>
            <a:spLocks noChangeArrowheads="1"/>
          </p:cNvSpPr>
          <p:nvPr/>
        </p:nvSpPr>
        <p:spPr bwMode="auto">
          <a:xfrm>
            <a:off x="7652502" y="2010728"/>
            <a:ext cx="596900" cy="138112"/>
          </a:xfrm>
          <a:prstGeom prst="rect">
            <a:avLst/>
          </a:prstGeom>
          <a:solidFill>
            <a:schemeClr val="accent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623" name="Rectangle 1282"/>
          <p:cNvSpPr>
            <a:spLocks noChangeArrowheads="1"/>
          </p:cNvSpPr>
          <p:nvPr/>
        </p:nvSpPr>
        <p:spPr bwMode="auto">
          <a:xfrm>
            <a:off x="10478252" y="4988878"/>
            <a:ext cx="388938" cy="138112"/>
          </a:xfrm>
          <a:prstGeom prst="rect">
            <a:avLst/>
          </a:prstGeom>
          <a:solidFill>
            <a:schemeClr val="accent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endParaRPr lang="zh-CN" altLang="zh-CN" sz="900"/>
          </a:p>
        </p:txBody>
      </p:sp>
      <p:sp>
        <p:nvSpPr>
          <p:cNvPr id="3" name="日期占位符 9"/>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sym typeface="+mn-ea"/>
              </a:rPr>
              <a:t>5.1.1 </a:t>
            </a:r>
            <a:r>
              <a:rPr kumimoji="1" lang="zh-CN" altLang="en-US" dirty="0">
                <a:latin typeface="DengXian" panose="02010600030101010101" pitchFamily="2" charset="-122"/>
                <a:ea typeface="DengXian" panose="02010600030101010101" pitchFamily="2" charset="-122"/>
                <a:sym typeface="+mn-ea"/>
              </a:rPr>
              <a:t>网络层服务概述</a:t>
            </a:r>
            <a:endParaRPr kumimoji="1"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5099682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56"/>
                                        </p:tgtEl>
                                        <p:attrNameLst>
                                          <p:attrName>style.visibility</p:attrName>
                                        </p:attrNameLst>
                                      </p:cBhvr>
                                      <p:to>
                                        <p:strVal val="visible"/>
                                      </p:to>
                                    </p:set>
                                    <p:animEffect transition="in" filter="wipe(left)">
                                      <p:cBhvr>
                                        <p:cTn id="7" dur="500"/>
                                        <p:tgtEl>
                                          <p:spTgt spid="356"/>
                                        </p:tgtEl>
                                      </p:cBhvr>
                                    </p:animEffect>
                                  </p:childTnLst>
                                </p:cTn>
                              </p:par>
                              <p:par>
                                <p:cTn id="8" presetID="22" presetClass="entr" presetSubtype="8" fill="hold" nodeType="withEffect">
                                  <p:stCondLst>
                                    <p:cond delay="0"/>
                                  </p:stCondLst>
                                  <p:childTnLst>
                                    <p:set>
                                      <p:cBhvr>
                                        <p:cTn id="9" dur="1" fill="hold">
                                          <p:stCondLst>
                                            <p:cond delay="0"/>
                                          </p:stCondLst>
                                        </p:cTn>
                                        <p:tgtEl>
                                          <p:spTgt spid="367"/>
                                        </p:tgtEl>
                                        <p:attrNameLst>
                                          <p:attrName>style.visibility</p:attrName>
                                        </p:attrNameLst>
                                      </p:cBhvr>
                                      <p:to>
                                        <p:strVal val="visible"/>
                                      </p:to>
                                    </p:set>
                                    <p:animEffect transition="in" filter="wipe(left)">
                                      <p:cBhvr>
                                        <p:cTn id="10" dur="500"/>
                                        <p:tgtEl>
                                          <p:spTgt spid="367"/>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78"/>
                                        </p:tgtEl>
                                        <p:attrNameLst>
                                          <p:attrName>style.visibility</p:attrName>
                                        </p:attrNameLst>
                                      </p:cBhvr>
                                      <p:to>
                                        <p:strVal val="visible"/>
                                      </p:to>
                                    </p:set>
                                    <p:animEffect transition="in" filter="dissolve">
                                      <p:cBhvr>
                                        <p:cTn id="15" dur="1000"/>
                                        <p:tgtEl>
                                          <p:spTgt spid="37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621"/>
                                        </p:tgtEl>
                                        <p:attrNameLst>
                                          <p:attrName>style.visibility</p:attrName>
                                        </p:attrNameLst>
                                      </p:cBhvr>
                                      <p:to>
                                        <p:strVal val="visible"/>
                                      </p:to>
                                    </p:set>
                                  </p:childTnLst>
                                </p:cTn>
                              </p:par>
                            </p:childTnLst>
                          </p:cTn>
                        </p:par>
                        <p:par>
                          <p:cTn id="20" fill="hold">
                            <p:stCondLst>
                              <p:cond delay="0"/>
                            </p:stCondLst>
                            <p:childTnLst>
                              <p:par>
                                <p:cTn id="21" presetID="42" presetClass="path" presetSubtype="0" accel="50000" decel="50000" fill="hold" grpId="1" nodeType="afterEffect">
                                  <p:stCondLst>
                                    <p:cond delay="0"/>
                                  </p:stCondLst>
                                  <p:childTnLst>
                                    <p:animMotion origin="layout" path="M 0.00244 0.01227 L 0.00382 0.0949 " pathEditMode="relative" rAng="0" ptsTypes="AA">
                                      <p:cBhvr>
                                        <p:cTn id="22" dur="2000" fill="hold"/>
                                        <p:tgtEl>
                                          <p:spTgt spid="621"/>
                                        </p:tgtEl>
                                        <p:attrNameLst>
                                          <p:attrName>ppt_x</p:attrName>
                                          <p:attrName>ppt_y</p:attrName>
                                        </p:attrNameLst>
                                      </p:cBhvr>
                                      <p:rCtr x="69" y="4120"/>
                                    </p:animMotion>
                                  </p:childTnLst>
                                </p:cTn>
                              </p:par>
                            </p:childTnLst>
                          </p:cTn>
                        </p:par>
                        <p:par>
                          <p:cTn id="23" fill="hold">
                            <p:stCondLst>
                              <p:cond delay="2000"/>
                            </p:stCondLst>
                            <p:childTnLst>
                              <p:par>
                                <p:cTn id="24" presetID="1" presetClass="exit" presetSubtype="0" fill="hold" grpId="2" nodeType="afterEffect">
                                  <p:stCondLst>
                                    <p:cond delay="0"/>
                                  </p:stCondLst>
                                  <p:childTnLst>
                                    <p:set>
                                      <p:cBhvr>
                                        <p:cTn id="25" dur="1" fill="hold">
                                          <p:stCondLst>
                                            <p:cond delay="0"/>
                                          </p:stCondLst>
                                        </p:cTn>
                                        <p:tgtEl>
                                          <p:spTgt spid="621"/>
                                        </p:tgtEl>
                                        <p:attrNameLst>
                                          <p:attrName>style.visibility</p:attrName>
                                        </p:attrNameLst>
                                      </p:cBhvr>
                                      <p:to>
                                        <p:strVal val="hidden"/>
                                      </p:to>
                                    </p:set>
                                  </p:childTnLst>
                                </p:cTn>
                              </p:par>
                            </p:childTnLst>
                          </p:cTn>
                        </p:par>
                        <p:par>
                          <p:cTn id="26" fill="hold">
                            <p:stCondLst>
                              <p:cond delay="2000"/>
                            </p:stCondLst>
                            <p:childTnLst>
                              <p:par>
                                <p:cTn id="27" presetID="1" presetClass="entr" presetSubtype="0" fill="hold" grpId="0" nodeType="afterEffect">
                                  <p:stCondLst>
                                    <p:cond delay="0"/>
                                  </p:stCondLst>
                                  <p:childTnLst>
                                    <p:set>
                                      <p:cBhvr>
                                        <p:cTn id="28" dur="1" fill="hold">
                                          <p:stCondLst>
                                            <p:cond delay="0"/>
                                          </p:stCondLst>
                                        </p:cTn>
                                        <p:tgtEl>
                                          <p:spTgt spid="622"/>
                                        </p:tgtEl>
                                        <p:attrNameLst>
                                          <p:attrName>style.visibility</p:attrName>
                                        </p:attrNameLst>
                                      </p:cBhvr>
                                      <p:to>
                                        <p:strVal val="visible"/>
                                      </p:to>
                                    </p:set>
                                  </p:childTnLst>
                                </p:cTn>
                              </p:par>
                            </p:childTnLst>
                          </p:cTn>
                        </p:par>
                        <p:par>
                          <p:cTn id="29" fill="hold">
                            <p:stCondLst>
                              <p:cond delay="2000"/>
                            </p:stCondLst>
                            <p:childTnLst>
                              <p:par>
                                <p:cTn id="30" presetID="0" presetClass="path" presetSubtype="0" accel="50000" decel="50000" fill="hold" grpId="1" nodeType="afterEffect">
                                  <p:stCondLst>
                                    <p:cond delay="0"/>
                                  </p:stCondLst>
                                  <p:childTnLst>
                                    <p:animMotion origin="layout" path="M 2.5E-6 -1.48148E-6 L 2.5E-6 0.07269 L 0.02726 0.18982 L 0.02726 0.1132 L 0.07118 0.11112 L 0.07257 0.18982 L 0.11667 0.14144 L 0.11667 0.07871 L 0.16059 0.07686 L 0.10903 0.23426 L 0.11511 0.15949 L 0.1559 0.15949 L 0.15747 0.23635 L 0.1059 0.34537 L 0.10295 0.27061 L 0.14236 0.26875 L 0.14688 0.39584 L 0.1559 0.3213 L 0.19236 0.31922 L 0.19688 0.39792 L 0.1059 0.49908 L 0.1059 0.41621 L 0.14236 0.41621 L 0.14236 0.49699 L 0.18785 0.53542 L 0.18785 0.44653 L 0.2257 0.44653 L 0.22865 0.52732 L 0.31198 0.50301 L 0.31198 0.43843 " pathEditMode="relative" ptsTypes="AAAAAAAAAAAAAAAAAAAAAAAAAAAAAA">
                                      <p:cBhvr>
                                        <p:cTn id="31" dur="5000" fill="hold"/>
                                        <p:tgtEl>
                                          <p:spTgt spid="622"/>
                                        </p:tgtEl>
                                        <p:attrNameLst>
                                          <p:attrName>ppt_x</p:attrName>
                                          <p:attrName>ppt_y</p:attrName>
                                        </p:attrNameLst>
                                      </p:cBhvr>
                                    </p:animMotion>
                                  </p:childTnLst>
                                </p:cTn>
                              </p:par>
                            </p:childTnLst>
                          </p:cTn>
                        </p:par>
                        <p:par>
                          <p:cTn id="32" fill="hold">
                            <p:stCondLst>
                              <p:cond delay="7000"/>
                            </p:stCondLst>
                            <p:childTnLst>
                              <p:par>
                                <p:cTn id="33" presetID="1" presetClass="exit" presetSubtype="0" fill="hold" grpId="2" nodeType="afterEffect">
                                  <p:stCondLst>
                                    <p:cond delay="0"/>
                                  </p:stCondLst>
                                  <p:childTnLst>
                                    <p:set>
                                      <p:cBhvr>
                                        <p:cTn id="34" dur="1" fill="hold">
                                          <p:stCondLst>
                                            <p:cond delay="0"/>
                                          </p:stCondLst>
                                        </p:cTn>
                                        <p:tgtEl>
                                          <p:spTgt spid="622"/>
                                        </p:tgtEl>
                                        <p:attrNameLst>
                                          <p:attrName>style.visibility</p:attrName>
                                        </p:attrNameLst>
                                      </p:cBhvr>
                                      <p:to>
                                        <p:strVal val="hidden"/>
                                      </p:to>
                                    </p:set>
                                  </p:childTnLst>
                                </p:cTn>
                              </p:par>
                            </p:childTnLst>
                          </p:cTn>
                        </p:par>
                        <p:par>
                          <p:cTn id="35" fill="hold">
                            <p:stCondLst>
                              <p:cond delay="7000"/>
                            </p:stCondLst>
                            <p:childTnLst>
                              <p:par>
                                <p:cTn id="36" presetID="1" presetClass="entr" presetSubtype="0" fill="hold" grpId="0" nodeType="afterEffect">
                                  <p:stCondLst>
                                    <p:cond delay="0"/>
                                  </p:stCondLst>
                                  <p:childTnLst>
                                    <p:set>
                                      <p:cBhvr>
                                        <p:cTn id="37" dur="1" fill="hold">
                                          <p:stCondLst>
                                            <p:cond delay="0"/>
                                          </p:stCondLst>
                                        </p:cTn>
                                        <p:tgtEl>
                                          <p:spTgt spid="623"/>
                                        </p:tgtEl>
                                        <p:attrNameLst>
                                          <p:attrName>style.visibility</p:attrName>
                                        </p:attrNameLst>
                                      </p:cBhvr>
                                      <p:to>
                                        <p:strVal val="visible"/>
                                      </p:to>
                                    </p:set>
                                  </p:childTnLst>
                                </p:cTn>
                              </p:par>
                            </p:childTnLst>
                          </p:cTn>
                        </p:par>
                        <p:par>
                          <p:cTn id="38" fill="hold">
                            <p:stCondLst>
                              <p:cond delay="7000"/>
                            </p:stCondLst>
                            <p:childTnLst>
                              <p:par>
                                <p:cTn id="39" presetID="1" presetClass="entr" presetSubtype="0" fill="hold" grpId="1" nodeType="afterEffect">
                                  <p:stCondLst>
                                    <p:cond delay="0"/>
                                  </p:stCondLst>
                                  <p:childTnLst>
                                    <p:set>
                                      <p:cBhvr>
                                        <p:cTn id="40" dur="1" fill="hold">
                                          <p:stCondLst>
                                            <p:cond delay="0"/>
                                          </p:stCondLst>
                                        </p:cTn>
                                        <p:tgtEl>
                                          <p:spTgt spid="623"/>
                                        </p:tgtEl>
                                        <p:attrNameLst>
                                          <p:attrName>style.visibility</p:attrName>
                                        </p:attrNameLst>
                                      </p:cBhvr>
                                      <p:to>
                                        <p:strVal val="visible"/>
                                      </p:to>
                                    </p:set>
                                  </p:childTnLst>
                                </p:cTn>
                              </p:par>
                            </p:childTnLst>
                          </p:cTn>
                        </p:par>
                        <p:par>
                          <p:cTn id="41" fill="hold">
                            <p:stCondLst>
                              <p:cond delay="7000"/>
                            </p:stCondLst>
                            <p:childTnLst>
                              <p:par>
                                <p:cTn id="42" presetID="42" presetClass="path" presetSubtype="0" accel="50000" decel="50000" fill="hold" grpId="2" nodeType="afterEffect">
                                  <p:stCondLst>
                                    <p:cond delay="0"/>
                                  </p:stCondLst>
                                  <p:childTnLst>
                                    <p:animMotion origin="layout" path="M -3.05556E-6 0 L -0.00156 -0.07106 " pathEditMode="relative" rAng="0" ptsTypes="AA">
                                      <p:cBhvr>
                                        <p:cTn id="43" dur="2000" fill="hold"/>
                                        <p:tgtEl>
                                          <p:spTgt spid="623"/>
                                        </p:tgtEl>
                                        <p:attrNameLst>
                                          <p:attrName>ppt_x</p:attrName>
                                          <p:attrName>ppt_y</p:attrName>
                                        </p:attrNameLst>
                                      </p:cBhvr>
                                      <p:rCtr x="-87" y="-35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1" grpId="0" bldLvl="0" animBg="1"/>
      <p:bldP spid="621" grpId="1" bldLvl="0" animBg="1"/>
      <p:bldP spid="621" grpId="2" bldLvl="0" animBg="1"/>
      <p:bldP spid="622" grpId="0" bldLvl="0" animBg="1"/>
      <p:bldP spid="622" grpId="1" bldLvl="0" animBg="1"/>
      <p:bldP spid="622" grpId="2" bldLvl="0" animBg="1"/>
      <p:bldP spid="623" grpId="0" bldLvl="0" animBg="1"/>
      <p:bldP spid="623" grpId="1" bldLvl="0" animBg="1"/>
      <p:bldP spid="623" grpId="2"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kumimoji="1" lang="zh-CN" altLang="en-US" dirty="0">
                <a:sym typeface="+mn-ea"/>
              </a:rPr>
              <a:t>网络层关键功能</a:t>
            </a:r>
            <a:endParaRPr kumimoji="1" lang="zh-CN" altLang="en-US" dirty="0"/>
          </a:p>
        </p:txBody>
      </p:sp>
      <p:sp>
        <p:nvSpPr>
          <p:cNvPr id="4" name="灯片编号占位符 3"/>
          <p:cNvSpPr>
            <a:spLocks noGrp="1"/>
          </p:cNvSpPr>
          <p:nvPr>
            <p:ph type="sldNum" sz="quarter" idx="12"/>
          </p:nvPr>
        </p:nvSpPr>
        <p:spPr>
          <a:xfrm>
            <a:off x="9308465" y="6478905"/>
            <a:ext cx="2743200" cy="365125"/>
          </a:xfrm>
        </p:spPr>
        <p:txBody>
          <a:bodyPr/>
          <a:lstStyle/>
          <a:p>
            <a:fld id="{8D4D1E41-7A09-AB4A-A4E1-09765ADA2698}" type="slidenum">
              <a:rPr kumimoji="1" lang="zh-CN" altLang="en-US" smtClean="0"/>
              <a:t>7</a:t>
            </a:fld>
            <a:endParaRPr kumimoji="1" lang="zh-CN" altLang="en-US" dirty="0"/>
          </a:p>
        </p:txBody>
      </p:sp>
      <p:grpSp>
        <p:nvGrpSpPr>
          <p:cNvPr id="7" name="Group 166"/>
          <p:cNvGrpSpPr/>
          <p:nvPr/>
        </p:nvGrpSpPr>
        <p:grpSpPr bwMode="auto">
          <a:xfrm>
            <a:off x="6009957" y="1380773"/>
            <a:ext cx="5300663" cy="5111750"/>
            <a:chOff x="543" y="213"/>
            <a:chExt cx="3339" cy="3220"/>
          </a:xfrm>
        </p:grpSpPr>
        <p:sp>
          <p:nvSpPr>
            <p:cNvPr id="8" name="Freeform 2"/>
            <p:cNvSpPr/>
            <p:nvPr/>
          </p:nvSpPr>
          <p:spPr bwMode="auto">
            <a:xfrm>
              <a:off x="2031" y="2058"/>
              <a:ext cx="1794" cy="933"/>
            </a:xfrm>
            <a:custGeom>
              <a:avLst/>
              <a:gdLst>
                <a:gd name="T0" fmla="*/ 6 w 1794"/>
                <a:gd name="T1" fmla="*/ 483 h 933"/>
                <a:gd name="T2" fmla="*/ 108 w 1794"/>
                <a:gd name="T3" fmla="*/ 125 h 933"/>
                <a:gd name="T4" fmla="*/ 559 w 1794"/>
                <a:gd name="T5" fmla="*/ 100 h 933"/>
                <a:gd name="T6" fmla="*/ 1128 w 1794"/>
                <a:gd name="T7" fmla="*/ 29 h 933"/>
                <a:gd name="T8" fmla="*/ 1716 w 1794"/>
                <a:gd name="T9" fmla="*/ 275 h 933"/>
                <a:gd name="T10" fmla="*/ 1596 w 1794"/>
                <a:gd name="T11" fmla="*/ 827 h 933"/>
                <a:gd name="T12" fmla="*/ 1380 w 1794"/>
                <a:gd name="T13" fmla="*/ 911 h 933"/>
                <a:gd name="T14" fmla="*/ 840 w 1794"/>
                <a:gd name="T15" fmla="*/ 929 h 933"/>
                <a:gd name="T16" fmla="*/ 414 w 1794"/>
                <a:gd name="T17" fmla="*/ 911 h 933"/>
                <a:gd name="T18" fmla="*/ 143 w 1794"/>
                <a:gd name="T19" fmla="*/ 832 h 933"/>
                <a:gd name="T20" fmla="*/ 6 w 1794"/>
                <a:gd name="T21" fmla="*/ 483 h 9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94"/>
                <a:gd name="T34" fmla="*/ 0 h 933"/>
                <a:gd name="T35" fmla="*/ 1794 w 1794"/>
                <a:gd name="T36" fmla="*/ 933 h 93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94" h="933">
                  <a:moveTo>
                    <a:pt x="6" y="483"/>
                  </a:moveTo>
                  <a:cubicBezTo>
                    <a:pt x="0" y="365"/>
                    <a:pt x="16" y="189"/>
                    <a:pt x="108" y="125"/>
                  </a:cubicBezTo>
                  <a:cubicBezTo>
                    <a:pt x="200" y="61"/>
                    <a:pt x="389" y="116"/>
                    <a:pt x="559" y="100"/>
                  </a:cubicBezTo>
                  <a:cubicBezTo>
                    <a:pt x="729" y="84"/>
                    <a:pt x="935" y="0"/>
                    <a:pt x="1128" y="29"/>
                  </a:cubicBezTo>
                  <a:cubicBezTo>
                    <a:pt x="1321" y="58"/>
                    <a:pt x="1638" y="142"/>
                    <a:pt x="1716" y="275"/>
                  </a:cubicBezTo>
                  <a:cubicBezTo>
                    <a:pt x="1794" y="408"/>
                    <a:pt x="1652" y="721"/>
                    <a:pt x="1596" y="827"/>
                  </a:cubicBezTo>
                  <a:cubicBezTo>
                    <a:pt x="1540" y="933"/>
                    <a:pt x="1506" y="894"/>
                    <a:pt x="1380" y="911"/>
                  </a:cubicBezTo>
                  <a:cubicBezTo>
                    <a:pt x="1254" y="928"/>
                    <a:pt x="1001" y="929"/>
                    <a:pt x="840" y="929"/>
                  </a:cubicBezTo>
                  <a:cubicBezTo>
                    <a:pt x="679" y="929"/>
                    <a:pt x="530" y="927"/>
                    <a:pt x="414" y="911"/>
                  </a:cubicBezTo>
                  <a:cubicBezTo>
                    <a:pt x="298" y="895"/>
                    <a:pt x="211" y="903"/>
                    <a:pt x="143" y="832"/>
                  </a:cubicBezTo>
                  <a:cubicBezTo>
                    <a:pt x="75" y="761"/>
                    <a:pt x="4" y="624"/>
                    <a:pt x="6" y="483"/>
                  </a:cubicBezTo>
                  <a:close/>
                </a:path>
              </a:pathLst>
            </a:custGeom>
            <a:solidFill>
              <a:srgbClr val="66CCFF"/>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endParaRPr lang="zh-CN" altLang="en-US"/>
            </a:p>
          </p:txBody>
        </p:sp>
        <p:sp>
          <p:nvSpPr>
            <p:cNvPr id="9" name="Freeform 3"/>
            <p:cNvSpPr/>
            <p:nvPr/>
          </p:nvSpPr>
          <p:spPr bwMode="auto">
            <a:xfrm>
              <a:off x="1090" y="1594"/>
              <a:ext cx="1443" cy="816"/>
            </a:xfrm>
            <a:custGeom>
              <a:avLst/>
              <a:gdLst>
                <a:gd name="T0" fmla="*/ 0 w 1443"/>
                <a:gd name="T1" fmla="*/ 0 h 816"/>
                <a:gd name="T2" fmla="*/ 1076 w 1443"/>
                <a:gd name="T3" fmla="*/ 782 h 816"/>
                <a:gd name="T4" fmla="*/ 1320 w 1443"/>
                <a:gd name="T5" fmla="*/ 788 h 816"/>
                <a:gd name="T6" fmla="*/ 1443 w 1443"/>
                <a:gd name="T7" fmla="*/ 5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0" name="Rectangle 4"/>
            <p:cNvSpPr>
              <a:spLocks noChangeArrowheads="1"/>
            </p:cNvSpPr>
            <p:nvPr/>
          </p:nvSpPr>
          <p:spPr bwMode="auto">
            <a:xfrm>
              <a:off x="1084" y="213"/>
              <a:ext cx="1460" cy="1386"/>
            </a:xfrm>
            <a:prstGeom prst="rect">
              <a:avLst/>
            </a:prstGeom>
            <a:solidFill>
              <a:schemeClr val="accent1"/>
            </a:solidFill>
            <a:ln w="19050">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11" name="Oval 5"/>
            <p:cNvSpPr>
              <a:spLocks noChangeArrowheads="1"/>
            </p:cNvSpPr>
            <p:nvPr/>
          </p:nvSpPr>
          <p:spPr bwMode="auto">
            <a:xfrm>
              <a:off x="1163" y="258"/>
              <a:ext cx="1320" cy="285"/>
            </a:xfrm>
            <a:prstGeom prst="ellipse">
              <a:avLst/>
            </a:prstGeom>
            <a:solidFill>
              <a:schemeClr val="bg1"/>
            </a:solidFill>
            <a:ln w="9525">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12" name="Freeform 6"/>
            <p:cNvSpPr/>
            <p:nvPr/>
          </p:nvSpPr>
          <p:spPr bwMode="auto">
            <a:xfrm>
              <a:off x="2433" y="2249"/>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nvGrpSpPr>
            <p:cNvPr id="13" name="Group 7"/>
            <p:cNvGrpSpPr/>
            <p:nvPr/>
          </p:nvGrpSpPr>
          <p:grpSpPr bwMode="auto">
            <a:xfrm>
              <a:off x="2122" y="2359"/>
              <a:ext cx="316" cy="147"/>
              <a:chOff x="3600" y="219"/>
              <a:chExt cx="360" cy="175"/>
            </a:xfrm>
          </p:grpSpPr>
          <p:sp>
            <p:nvSpPr>
              <p:cNvPr id="158" name="Oval 8"/>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159" name="Line 9"/>
              <p:cNvSpPr>
                <a:spLocks noChangeShapeType="1"/>
              </p:cNvSpPr>
              <p:nvPr/>
            </p:nvSpPr>
            <p:spPr bwMode="auto">
              <a:xfrm>
                <a:off x="3603"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0" name="Line 10"/>
              <p:cNvSpPr>
                <a:spLocks noChangeShapeType="1"/>
              </p:cNvSpPr>
              <p:nvPr/>
            </p:nvSpPr>
            <p:spPr bwMode="auto">
              <a:xfrm>
                <a:off x="3960"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1" name="Rectangle 11"/>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2400"/>
              </a:p>
            </p:txBody>
          </p:sp>
          <p:sp>
            <p:nvSpPr>
              <p:cNvPr id="162" name="Oval 12"/>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nvGrpSpPr>
              <p:cNvPr id="163" name="Group 13"/>
              <p:cNvGrpSpPr/>
              <p:nvPr/>
            </p:nvGrpSpPr>
            <p:grpSpPr bwMode="auto">
              <a:xfrm>
                <a:off x="3686" y="244"/>
                <a:ext cx="177" cy="66"/>
                <a:chOff x="2848" y="848"/>
                <a:chExt cx="140" cy="98"/>
              </a:xfrm>
            </p:grpSpPr>
            <p:sp>
              <p:nvSpPr>
                <p:cNvPr id="168" name="Line 14"/>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 name="Line 15"/>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0" name="Line 16"/>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64" name="Group 17"/>
              <p:cNvGrpSpPr/>
              <p:nvPr/>
            </p:nvGrpSpPr>
            <p:grpSpPr bwMode="auto">
              <a:xfrm flipV="1">
                <a:off x="3686" y="243"/>
                <a:ext cx="177" cy="66"/>
                <a:chOff x="2848" y="848"/>
                <a:chExt cx="140" cy="98"/>
              </a:xfrm>
            </p:grpSpPr>
            <p:sp>
              <p:nvSpPr>
                <p:cNvPr id="165" name="Line 18"/>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6" name="Line 19"/>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7" name="Line 20"/>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4" name="Group 21"/>
            <p:cNvGrpSpPr/>
            <p:nvPr/>
          </p:nvGrpSpPr>
          <p:grpSpPr bwMode="auto">
            <a:xfrm>
              <a:off x="2344" y="2761"/>
              <a:ext cx="316" cy="147"/>
              <a:chOff x="3600" y="219"/>
              <a:chExt cx="360" cy="175"/>
            </a:xfrm>
          </p:grpSpPr>
          <p:sp>
            <p:nvSpPr>
              <p:cNvPr id="145" name="Oval 22"/>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146" name="Line 23"/>
              <p:cNvSpPr>
                <a:spLocks noChangeShapeType="1"/>
              </p:cNvSpPr>
              <p:nvPr/>
            </p:nvSpPr>
            <p:spPr bwMode="auto">
              <a:xfrm>
                <a:off x="3603"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7" name="Line 24"/>
              <p:cNvSpPr>
                <a:spLocks noChangeShapeType="1"/>
              </p:cNvSpPr>
              <p:nvPr/>
            </p:nvSpPr>
            <p:spPr bwMode="auto">
              <a:xfrm>
                <a:off x="3960"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8" name="Rectangle 25"/>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2400"/>
              </a:p>
            </p:txBody>
          </p:sp>
          <p:sp>
            <p:nvSpPr>
              <p:cNvPr id="149" name="Oval 26"/>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nvGrpSpPr>
              <p:cNvPr id="150" name="Group 27"/>
              <p:cNvGrpSpPr/>
              <p:nvPr/>
            </p:nvGrpSpPr>
            <p:grpSpPr bwMode="auto">
              <a:xfrm>
                <a:off x="3686" y="244"/>
                <a:ext cx="177" cy="66"/>
                <a:chOff x="2848" y="848"/>
                <a:chExt cx="140" cy="98"/>
              </a:xfrm>
            </p:grpSpPr>
            <p:sp>
              <p:nvSpPr>
                <p:cNvPr id="155" name="Line 28"/>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 name="Line 29"/>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7" name="Line 30"/>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1" name="Group 31"/>
              <p:cNvGrpSpPr/>
              <p:nvPr/>
            </p:nvGrpSpPr>
            <p:grpSpPr bwMode="auto">
              <a:xfrm flipV="1">
                <a:off x="3686" y="243"/>
                <a:ext cx="177" cy="66"/>
                <a:chOff x="2848" y="848"/>
                <a:chExt cx="140" cy="98"/>
              </a:xfrm>
            </p:grpSpPr>
            <p:sp>
              <p:nvSpPr>
                <p:cNvPr id="152" name="Line 32"/>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3" name="Line 33"/>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4" name="Line 34"/>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5" name="Group 35"/>
            <p:cNvGrpSpPr/>
            <p:nvPr/>
          </p:nvGrpSpPr>
          <p:grpSpPr bwMode="auto">
            <a:xfrm>
              <a:off x="2769" y="2167"/>
              <a:ext cx="316" cy="147"/>
              <a:chOff x="3600" y="219"/>
              <a:chExt cx="360" cy="175"/>
            </a:xfrm>
          </p:grpSpPr>
          <p:sp>
            <p:nvSpPr>
              <p:cNvPr id="132" name="Oval 36"/>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133" name="Line 37"/>
              <p:cNvSpPr>
                <a:spLocks noChangeShapeType="1"/>
              </p:cNvSpPr>
              <p:nvPr/>
            </p:nvSpPr>
            <p:spPr bwMode="auto">
              <a:xfrm>
                <a:off x="3603"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Line 38"/>
              <p:cNvSpPr>
                <a:spLocks noChangeShapeType="1"/>
              </p:cNvSpPr>
              <p:nvPr/>
            </p:nvSpPr>
            <p:spPr bwMode="auto">
              <a:xfrm>
                <a:off x="3960"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5" name="Rectangle 39"/>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2400"/>
              </a:p>
            </p:txBody>
          </p:sp>
          <p:sp>
            <p:nvSpPr>
              <p:cNvPr id="136" name="Oval 40"/>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nvGrpSpPr>
              <p:cNvPr id="137" name="Group 41"/>
              <p:cNvGrpSpPr/>
              <p:nvPr/>
            </p:nvGrpSpPr>
            <p:grpSpPr bwMode="auto">
              <a:xfrm>
                <a:off x="3686" y="244"/>
                <a:ext cx="177" cy="66"/>
                <a:chOff x="2848" y="848"/>
                <a:chExt cx="140" cy="98"/>
              </a:xfrm>
            </p:grpSpPr>
            <p:sp>
              <p:nvSpPr>
                <p:cNvPr id="142" name="Line 42"/>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 name="Line 43"/>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4" name="Line 44"/>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8" name="Group 45"/>
              <p:cNvGrpSpPr/>
              <p:nvPr/>
            </p:nvGrpSpPr>
            <p:grpSpPr bwMode="auto">
              <a:xfrm flipV="1">
                <a:off x="3686" y="243"/>
                <a:ext cx="177" cy="66"/>
                <a:chOff x="2848" y="848"/>
                <a:chExt cx="140" cy="98"/>
              </a:xfrm>
            </p:grpSpPr>
            <p:sp>
              <p:nvSpPr>
                <p:cNvPr id="139" name="Line 46"/>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47"/>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1" name="Line 48"/>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6" name="Group 49"/>
            <p:cNvGrpSpPr/>
            <p:nvPr/>
          </p:nvGrpSpPr>
          <p:grpSpPr bwMode="auto">
            <a:xfrm>
              <a:off x="2720" y="2586"/>
              <a:ext cx="315" cy="147"/>
              <a:chOff x="3600" y="219"/>
              <a:chExt cx="360" cy="175"/>
            </a:xfrm>
          </p:grpSpPr>
          <p:sp>
            <p:nvSpPr>
              <p:cNvPr id="119" name="Oval 50"/>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120" name="Line 51"/>
              <p:cNvSpPr>
                <a:spLocks noChangeShapeType="1"/>
              </p:cNvSpPr>
              <p:nvPr/>
            </p:nvSpPr>
            <p:spPr bwMode="auto">
              <a:xfrm>
                <a:off x="3603"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1" name="Line 52"/>
              <p:cNvSpPr>
                <a:spLocks noChangeShapeType="1"/>
              </p:cNvSpPr>
              <p:nvPr/>
            </p:nvSpPr>
            <p:spPr bwMode="auto">
              <a:xfrm>
                <a:off x="3960"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2" name="Rectangle 53"/>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2400"/>
              </a:p>
            </p:txBody>
          </p:sp>
          <p:sp>
            <p:nvSpPr>
              <p:cNvPr id="123" name="Oval 54"/>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nvGrpSpPr>
              <p:cNvPr id="124" name="Group 55"/>
              <p:cNvGrpSpPr/>
              <p:nvPr/>
            </p:nvGrpSpPr>
            <p:grpSpPr bwMode="auto">
              <a:xfrm>
                <a:off x="3686" y="244"/>
                <a:ext cx="177" cy="66"/>
                <a:chOff x="2848" y="848"/>
                <a:chExt cx="140" cy="98"/>
              </a:xfrm>
            </p:grpSpPr>
            <p:sp>
              <p:nvSpPr>
                <p:cNvPr id="129" name="Line 56"/>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0" name="Line 57"/>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1" name="Line 58"/>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5" name="Group 59"/>
              <p:cNvGrpSpPr/>
              <p:nvPr/>
            </p:nvGrpSpPr>
            <p:grpSpPr bwMode="auto">
              <a:xfrm flipV="1">
                <a:off x="3686" y="243"/>
                <a:ext cx="177" cy="66"/>
                <a:chOff x="2848" y="848"/>
                <a:chExt cx="140" cy="98"/>
              </a:xfrm>
            </p:grpSpPr>
            <p:sp>
              <p:nvSpPr>
                <p:cNvPr id="126" name="Line 60"/>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7" name="Line 61"/>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 name="Line 62"/>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7" name="Group 63"/>
            <p:cNvGrpSpPr/>
            <p:nvPr/>
          </p:nvGrpSpPr>
          <p:grpSpPr bwMode="auto">
            <a:xfrm>
              <a:off x="3120" y="2773"/>
              <a:ext cx="316" cy="147"/>
              <a:chOff x="3600" y="219"/>
              <a:chExt cx="360" cy="175"/>
            </a:xfrm>
          </p:grpSpPr>
          <p:sp>
            <p:nvSpPr>
              <p:cNvPr id="106" name="Oval 64"/>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107" name="Line 65"/>
              <p:cNvSpPr>
                <a:spLocks noChangeShapeType="1"/>
              </p:cNvSpPr>
              <p:nvPr/>
            </p:nvSpPr>
            <p:spPr bwMode="auto">
              <a:xfrm>
                <a:off x="3603"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8" name="Line 66"/>
              <p:cNvSpPr>
                <a:spLocks noChangeShapeType="1"/>
              </p:cNvSpPr>
              <p:nvPr/>
            </p:nvSpPr>
            <p:spPr bwMode="auto">
              <a:xfrm>
                <a:off x="3960"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9" name="Rectangle 67"/>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2400"/>
              </a:p>
            </p:txBody>
          </p:sp>
          <p:sp>
            <p:nvSpPr>
              <p:cNvPr id="110" name="Oval 68"/>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nvGrpSpPr>
              <p:cNvPr id="111" name="Group 69"/>
              <p:cNvGrpSpPr/>
              <p:nvPr/>
            </p:nvGrpSpPr>
            <p:grpSpPr bwMode="auto">
              <a:xfrm>
                <a:off x="3686" y="244"/>
                <a:ext cx="177" cy="66"/>
                <a:chOff x="2848" y="848"/>
                <a:chExt cx="140" cy="98"/>
              </a:xfrm>
            </p:grpSpPr>
            <p:sp>
              <p:nvSpPr>
                <p:cNvPr id="116" name="Line 70"/>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7" name="Line 71"/>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8" name="Line 72"/>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12" name="Group 73"/>
              <p:cNvGrpSpPr/>
              <p:nvPr/>
            </p:nvGrpSpPr>
            <p:grpSpPr bwMode="auto">
              <a:xfrm flipV="1">
                <a:off x="3686" y="243"/>
                <a:ext cx="177" cy="66"/>
                <a:chOff x="2848" y="848"/>
                <a:chExt cx="140" cy="98"/>
              </a:xfrm>
            </p:grpSpPr>
            <p:sp>
              <p:nvSpPr>
                <p:cNvPr id="113" name="Line 74"/>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75"/>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Line 76"/>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8" name="Group 77"/>
            <p:cNvGrpSpPr/>
            <p:nvPr/>
          </p:nvGrpSpPr>
          <p:grpSpPr bwMode="auto">
            <a:xfrm>
              <a:off x="3400" y="2360"/>
              <a:ext cx="316" cy="147"/>
              <a:chOff x="3600" y="219"/>
              <a:chExt cx="360" cy="175"/>
            </a:xfrm>
          </p:grpSpPr>
          <p:sp>
            <p:nvSpPr>
              <p:cNvPr id="93" name="Oval 78"/>
              <p:cNvSpPr>
                <a:spLocks noChangeArrowheads="1"/>
              </p:cNvSpPr>
              <p:nvPr/>
            </p:nvSpPr>
            <p:spPr bwMode="auto">
              <a:xfrm>
                <a:off x="3603" y="297"/>
                <a:ext cx="357" cy="97"/>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94" name="Line 79"/>
              <p:cNvSpPr>
                <a:spLocks noChangeShapeType="1"/>
              </p:cNvSpPr>
              <p:nvPr/>
            </p:nvSpPr>
            <p:spPr bwMode="auto">
              <a:xfrm>
                <a:off x="3603"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5" name="Line 80"/>
              <p:cNvSpPr>
                <a:spLocks noChangeShapeType="1"/>
              </p:cNvSpPr>
              <p:nvPr/>
            </p:nvSpPr>
            <p:spPr bwMode="auto">
              <a:xfrm>
                <a:off x="3960" y="289"/>
                <a:ext cx="0" cy="6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6" name="Rectangle 81"/>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2400"/>
              </a:p>
            </p:txBody>
          </p:sp>
          <p:sp>
            <p:nvSpPr>
              <p:cNvPr id="97" name="Oval 82"/>
              <p:cNvSpPr>
                <a:spLocks noChangeArrowheads="1"/>
              </p:cNvSpPr>
              <p:nvPr/>
            </p:nvSpPr>
            <p:spPr bwMode="auto">
              <a:xfrm>
                <a:off x="3600" y="219"/>
                <a:ext cx="357" cy="113"/>
              </a:xfrm>
              <a:prstGeom prst="ellipse">
                <a:avLst/>
              </a:prstGeom>
              <a:solidFill>
                <a:schemeClr val="hlink"/>
              </a:solidFill>
              <a:ln w="12700">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nvGrpSpPr>
              <p:cNvPr id="98" name="Group 83"/>
              <p:cNvGrpSpPr/>
              <p:nvPr/>
            </p:nvGrpSpPr>
            <p:grpSpPr bwMode="auto">
              <a:xfrm>
                <a:off x="3686" y="244"/>
                <a:ext cx="177" cy="66"/>
                <a:chOff x="2848" y="848"/>
                <a:chExt cx="140" cy="98"/>
              </a:xfrm>
            </p:grpSpPr>
            <p:sp>
              <p:nvSpPr>
                <p:cNvPr id="103" name="Line 84"/>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85"/>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86"/>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99" name="Group 87"/>
              <p:cNvGrpSpPr/>
              <p:nvPr/>
            </p:nvGrpSpPr>
            <p:grpSpPr bwMode="auto">
              <a:xfrm flipV="1">
                <a:off x="3686" y="243"/>
                <a:ext cx="177" cy="66"/>
                <a:chOff x="2848" y="848"/>
                <a:chExt cx="140" cy="98"/>
              </a:xfrm>
            </p:grpSpPr>
            <p:sp>
              <p:nvSpPr>
                <p:cNvPr id="100" name="Line 88"/>
                <p:cNvSpPr>
                  <a:spLocks noChangeShapeType="1"/>
                </p:cNvSpPr>
                <p:nvPr/>
              </p:nvSpPr>
              <p:spPr bwMode="auto">
                <a:xfrm flipV="1">
                  <a:off x="2848" y="848"/>
                  <a:ext cx="50" cy="2"/>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89"/>
                <p:cNvSpPr>
                  <a:spLocks noChangeShapeType="1"/>
                </p:cNvSpPr>
                <p:nvPr/>
              </p:nvSpPr>
              <p:spPr bwMode="auto">
                <a:xfrm>
                  <a:off x="2944" y="946"/>
                  <a:ext cx="44" cy="0"/>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2" name="Line 90"/>
                <p:cNvSpPr>
                  <a:spLocks noChangeShapeType="1"/>
                </p:cNvSpPr>
                <p:nvPr/>
              </p:nvSpPr>
              <p:spPr bwMode="auto">
                <a:xfrm>
                  <a:off x="2894" y="850"/>
                  <a:ext cx="52" cy="96"/>
                </a:xfrm>
                <a:prstGeom prst="line">
                  <a:avLst/>
                </a:prstGeom>
                <a:noFill/>
                <a:ln w="2857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9" name="Freeform 91"/>
            <p:cNvSpPr/>
            <p:nvPr/>
          </p:nvSpPr>
          <p:spPr bwMode="auto">
            <a:xfrm>
              <a:off x="3089" y="2245"/>
              <a:ext cx="318" cy="194"/>
            </a:xfrm>
            <a:custGeom>
              <a:avLst/>
              <a:gdLst>
                <a:gd name="T0" fmla="*/ 0 w 318"/>
                <a:gd name="T1" fmla="*/ 0 h 194"/>
                <a:gd name="T2" fmla="*/ 318 w 318"/>
                <a:gd name="T3" fmla="*/ 194 h 194"/>
                <a:gd name="T4" fmla="*/ 0 60000 65536"/>
                <a:gd name="T5" fmla="*/ 0 60000 65536"/>
                <a:gd name="T6" fmla="*/ 0 w 318"/>
                <a:gd name="T7" fmla="*/ 0 h 194"/>
                <a:gd name="T8" fmla="*/ 318 w 318"/>
                <a:gd name="T9" fmla="*/ 194 h 194"/>
              </a:gdLst>
              <a:ahLst/>
              <a:cxnLst>
                <a:cxn ang="T4">
                  <a:pos x="T0" y="T1"/>
                </a:cxn>
                <a:cxn ang="T5">
                  <a:pos x="T2" y="T3"/>
                </a:cxn>
              </a:cxnLst>
              <a:rect l="T6" t="T7" r="T8" b="T9"/>
              <a:pathLst>
                <a:path w="318" h="194">
                  <a:moveTo>
                    <a:pt x="0" y="0"/>
                  </a:moveTo>
                  <a:lnTo>
                    <a:pt x="318" y="194"/>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0" name="Freeform 92"/>
            <p:cNvSpPr/>
            <p:nvPr/>
          </p:nvSpPr>
          <p:spPr bwMode="auto">
            <a:xfrm>
              <a:off x="2418" y="2492"/>
              <a:ext cx="303" cy="150"/>
            </a:xfrm>
            <a:custGeom>
              <a:avLst/>
              <a:gdLst>
                <a:gd name="T0" fmla="*/ 0 w 294"/>
                <a:gd name="T1" fmla="*/ 0 h 174"/>
                <a:gd name="T2" fmla="*/ 570 w 294"/>
                <a:gd name="T3" fmla="*/ 7 h 174"/>
                <a:gd name="T4" fmla="*/ 0 60000 65536"/>
                <a:gd name="T5" fmla="*/ 0 60000 65536"/>
                <a:gd name="T6" fmla="*/ 0 w 294"/>
                <a:gd name="T7" fmla="*/ 0 h 174"/>
                <a:gd name="T8" fmla="*/ 294 w 294"/>
                <a:gd name="T9" fmla="*/ 174 h 174"/>
              </a:gdLst>
              <a:ahLst/>
              <a:cxnLst>
                <a:cxn ang="T4">
                  <a:pos x="T0" y="T1"/>
                </a:cxn>
                <a:cxn ang="T5">
                  <a:pos x="T2" y="T3"/>
                </a:cxn>
              </a:cxnLst>
              <a:rect l="T6" t="T7" r="T8" b="T9"/>
              <a:pathLst>
                <a:path w="294" h="174">
                  <a:moveTo>
                    <a:pt x="0" y="0"/>
                  </a:moveTo>
                  <a:lnTo>
                    <a:pt x="294" y="174"/>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1" name="Freeform 93"/>
            <p:cNvSpPr/>
            <p:nvPr/>
          </p:nvSpPr>
          <p:spPr bwMode="auto">
            <a:xfrm>
              <a:off x="3015" y="2477"/>
              <a:ext cx="396" cy="156"/>
            </a:xfrm>
            <a:custGeom>
              <a:avLst/>
              <a:gdLst>
                <a:gd name="T0" fmla="*/ 0 w 378"/>
                <a:gd name="T1" fmla="*/ 16 h 174"/>
                <a:gd name="T2" fmla="*/ 105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2" name="Freeform 94"/>
            <p:cNvSpPr/>
            <p:nvPr/>
          </p:nvSpPr>
          <p:spPr bwMode="auto">
            <a:xfrm>
              <a:off x="3435" y="2511"/>
              <a:ext cx="130" cy="320"/>
            </a:xfrm>
            <a:custGeom>
              <a:avLst/>
              <a:gdLst>
                <a:gd name="T0" fmla="*/ 0 w 118"/>
                <a:gd name="T1" fmla="*/ 1 h 500"/>
                <a:gd name="T2" fmla="*/ 1003 w 118"/>
                <a:gd name="T3" fmla="*/ 0 h 500"/>
                <a:gd name="T4" fmla="*/ 0 60000 65536"/>
                <a:gd name="T5" fmla="*/ 0 60000 65536"/>
                <a:gd name="T6" fmla="*/ 0 w 118"/>
                <a:gd name="T7" fmla="*/ 0 h 500"/>
                <a:gd name="T8" fmla="*/ 118 w 118"/>
                <a:gd name="T9" fmla="*/ 500 h 500"/>
              </a:gdLst>
              <a:ahLst/>
              <a:cxnLst>
                <a:cxn ang="T4">
                  <a:pos x="T0" y="T1"/>
                </a:cxn>
                <a:cxn ang="T5">
                  <a:pos x="T2" y="T3"/>
                </a:cxn>
              </a:cxnLst>
              <a:rect l="T6" t="T7" r="T8" b="T9"/>
              <a:pathLst>
                <a:path w="118" h="500">
                  <a:moveTo>
                    <a:pt x="0" y="500"/>
                  </a:moveTo>
                  <a:lnTo>
                    <a:pt x="118"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3" name="Freeform 95"/>
            <p:cNvSpPr/>
            <p:nvPr/>
          </p:nvSpPr>
          <p:spPr bwMode="auto">
            <a:xfrm>
              <a:off x="2657" y="2847"/>
              <a:ext cx="464" cy="47"/>
            </a:xfrm>
            <a:custGeom>
              <a:avLst/>
              <a:gdLst>
                <a:gd name="T0" fmla="*/ 53780 w 370"/>
                <a:gd name="T1" fmla="*/ 149780 h 32"/>
                <a:gd name="T2" fmla="*/ 0 w 370"/>
                <a:gd name="T3" fmla="*/ 0 h 32"/>
                <a:gd name="T4" fmla="*/ 0 60000 65536"/>
                <a:gd name="T5" fmla="*/ 0 60000 65536"/>
                <a:gd name="T6" fmla="*/ 0 w 370"/>
                <a:gd name="T7" fmla="*/ 0 h 32"/>
                <a:gd name="T8" fmla="*/ 370 w 370"/>
                <a:gd name="T9" fmla="*/ 32 h 32"/>
              </a:gdLst>
              <a:ahLst/>
              <a:cxnLst>
                <a:cxn ang="T4">
                  <a:pos x="T0" y="T1"/>
                </a:cxn>
                <a:cxn ang="T5">
                  <a:pos x="T2" y="T3"/>
                </a:cxn>
              </a:cxnLst>
              <a:rect l="T6" t="T7" r="T8" b="T9"/>
              <a:pathLst>
                <a:path w="370" h="32">
                  <a:moveTo>
                    <a:pt x="370" y="32"/>
                  </a:moveTo>
                  <a:lnTo>
                    <a:pt x="0"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 name="Freeform 96"/>
            <p:cNvSpPr/>
            <p:nvPr/>
          </p:nvSpPr>
          <p:spPr bwMode="auto">
            <a:xfrm>
              <a:off x="2319" y="2507"/>
              <a:ext cx="122" cy="268"/>
            </a:xfrm>
            <a:custGeom>
              <a:avLst/>
              <a:gdLst>
                <a:gd name="T0" fmla="*/ 1 w 176"/>
                <a:gd name="T1" fmla="*/ 1 h 412"/>
                <a:gd name="T2" fmla="*/ 1 w 176"/>
                <a:gd name="T3" fmla="*/ 1 h 412"/>
                <a:gd name="T4" fmla="*/ 0 w 176"/>
                <a:gd name="T5" fmla="*/ 0 h 412"/>
                <a:gd name="T6" fmla="*/ 0 60000 65536"/>
                <a:gd name="T7" fmla="*/ 0 60000 65536"/>
                <a:gd name="T8" fmla="*/ 0 60000 65536"/>
                <a:gd name="T9" fmla="*/ 0 w 176"/>
                <a:gd name="T10" fmla="*/ 0 h 412"/>
                <a:gd name="T11" fmla="*/ 176 w 176"/>
                <a:gd name="T12" fmla="*/ 412 h 412"/>
              </a:gdLst>
              <a:ahLst/>
              <a:cxnLst>
                <a:cxn ang="T6">
                  <a:pos x="T0" y="T1"/>
                </a:cxn>
                <a:cxn ang="T7">
                  <a:pos x="T2" y="T3"/>
                </a:cxn>
                <a:cxn ang="T8">
                  <a:pos x="T4" y="T5"/>
                </a:cxn>
              </a:cxnLst>
              <a:rect l="T9" t="T10" r="T11" b="T12"/>
              <a:pathLst>
                <a:path w="176" h="412">
                  <a:moveTo>
                    <a:pt x="162" y="408"/>
                  </a:moveTo>
                  <a:lnTo>
                    <a:pt x="176" y="412"/>
                  </a:lnTo>
                  <a:lnTo>
                    <a:pt x="0" y="0"/>
                  </a:lnTo>
                </a:path>
              </a:pathLst>
            </a:custGeom>
            <a:noFill/>
            <a:ln w="12700">
              <a:solidFill>
                <a:schemeClr val="tx1"/>
              </a:solidFill>
              <a:rou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 name="Rectangle 97"/>
            <p:cNvSpPr>
              <a:spLocks noChangeArrowheads="1"/>
            </p:cNvSpPr>
            <p:nvPr/>
          </p:nvSpPr>
          <p:spPr bwMode="auto">
            <a:xfrm>
              <a:off x="1128" y="2264"/>
              <a:ext cx="728" cy="15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26" name="Rectangle 98"/>
            <p:cNvSpPr>
              <a:spLocks noChangeArrowheads="1"/>
            </p:cNvSpPr>
            <p:nvPr/>
          </p:nvSpPr>
          <p:spPr bwMode="auto">
            <a:xfrm>
              <a:off x="1113" y="2279"/>
              <a:ext cx="723" cy="150"/>
            </a:xfrm>
            <a:prstGeom prst="rect">
              <a:avLst/>
            </a:prstGeom>
            <a:solidFill>
              <a:schemeClr val="accent2"/>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27" name="Line 99"/>
            <p:cNvSpPr>
              <a:spLocks noChangeShapeType="1"/>
            </p:cNvSpPr>
            <p:nvPr/>
          </p:nvSpPr>
          <p:spPr bwMode="auto">
            <a:xfrm>
              <a:off x="1759" y="2362"/>
              <a:ext cx="266" cy="0"/>
            </a:xfrm>
            <a:prstGeom prst="line">
              <a:avLst/>
            </a:prstGeom>
            <a:noFill/>
            <a:ln w="9525">
              <a:solidFill>
                <a:schemeClr val="accent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Text Box 100"/>
            <p:cNvSpPr txBox="1">
              <a:spLocks noChangeArrowheads="1"/>
            </p:cNvSpPr>
            <p:nvPr/>
          </p:nvSpPr>
          <p:spPr bwMode="auto">
            <a:xfrm>
              <a:off x="2394" y="2183"/>
              <a:ext cx="188"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en-US" altLang="zh-CN" sz="1600">
                  <a:latin typeface="Arial" panose="020B0604020202020204" pitchFamily="34" charset="0"/>
                </a:rPr>
                <a:t>1</a:t>
              </a:r>
            </a:p>
          </p:txBody>
        </p:sp>
        <p:sp>
          <p:nvSpPr>
            <p:cNvPr id="29" name="Text Box 101"/>
            <p:cNvSpPr txBox="1">
              <a:spLocks noChangeArrowheads="1"/>
            </p:cNvSpPr>
            <p:nvPr/>
          </p:nvSpPr>
          <p:spPr bwMode="auto">
            <a:xfrm>
              <a:off x="2335" y="2459"/>
              <a:ext cx="18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en-US" altLang="zh-CN" sz="1600">
                  <a:latin typeface="Arial" panose="020B0604020202020204" pitchFamily="34" charset="0"/>
                </a:rPr>
                <a:t>2</a:t>
              </a:r>
            </a:p>
          </p:txBody>
        </p:sp>
        <p:sp>
          <p:nvSpPr>
            <p:cNvPr id="30" name="Text Box 102"/>
            <p:cNvSpPr txBox="1">
              <a:spLocks noChangeArrowheads="1"/>
            </p:cNvSpPr>
            <p:nvPr/>
          </p:nvSpPr>
          <p:spPr bwMode="auto">
            <a:xfrm>
              <a:off x="2177" y="2505"/>
              <a:ext cx="18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en-US" altLang="zh-CN" sz="1600">
                  <a:latin typeface="Arial" panose="020B0604020202020204" pitchFamily="34" charset="0"/>
                </a:rPr>
                <a:t>3</a:t>
              </a:r>
            </a:p>
          </p:txBody>
        </p:sp>
        <p:sp>
          <p:nvSpPr>
            <p:cNvPr id="31" name="Rectangle 104"/>
            <p:cNvSpPr>
              <a:spLocks noChangeArrowheads="1"/>
            </p:cNvSpPr>
            <p:nvPr/>
          </p:nvSpPr>
          <p:spPr bwMode="auto">
            <a:xfrm>
              <a:off x="1509" y="2281"/>
              <a:ext cx="269" cy="151"/>
            </a:xfrm>
            <a:prstGeom prst="rect">
              <a:avLst/>
            </a:prstGeom>
            <a:solidFill>
              <a:schemeClr val="accent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32" name="Text Box 105"/>
            <p:cNvSpPr txBox="1">
              <a:spLocks noChangeArrowheads="1"/>
            </p:cNvSpPr>
            <p:nvPr/>
          </p:nvSpPr>
          <p:spPr bwMode="auto">
            <a:xfrm>
              <a:off x="1485" y="2264"/>
              <a:ext cx="316" cy="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en-US" altLang="zh-CN" sz="1200">
                  <a:latin typeface="Arial" panose="020B0604020202020204" pitchFamily="34" charset="0"/>
                </a:rPr>
                <a:t>0111</a:t>
              </a:r>
            </a:p>
          </p:txBody>
        </p:sp>
        <p:sp>
          <p:nvSpPr>
            <p:cNvPr id="33" name="Text Box 106"/>
            <p:cNvSpPr txBox="1">
              <a:spLocks noChangeArrowheads="1"/>
            </p:cNvSpPr>
            <p:nvPr/>
          </p:nvSpPr>
          <p:spPr bwMode="auto">
            <a:xfrm>
              <a:off x="543" y="2669"/>
              <a:ext cx="1150" cy="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zh-CN" altLang="en-US" sz="1600" dirty="0">
                  <a:latin typeface="Arial" panose="020B0604020202020204" pitchFamily="34" charset="0"/>
                </a:rPr>
                <a:t>到达的数据包首部</a:t>
              </a:r>
              <a:endParaRPr lang="en-US" altLang="zh-CN" sz="1600" dirty="0">
                <a:latin typeface="Arial" panose="020B0604020202020204" pitchFamily="34" charset="0"/>
              </a:endParaRPr>
            </a:p>
            <a:p>
              <a:pPr algn="ctr" eaLnBrk="1" hangingPunct="1">
                <a:lnSpc>
                  <a:spcPct val="120000"/>
                </a:lnSpc>
                <a:spcBef>
                  <a:spcPct val="10000"/>
                </a:spcBef>
                <a:buClr>
                  <a:schemeClr val="tx1"/>
                </a:buClr>
                <a:buFont typeface="Symbol" panose="05050102010706020507" pitchFamily="18" charset="2"/>
                <a:buNone/>
              </a:pPr>
              <a:r>
                <a:rPr lang="zh-CN" altLang="en-US" sz="1600" dirty="0">
                  <a:latin typeface="Arial" panose="020B0604020202020204" pitchFamily="34" charset="0"/>
                </a:rPr>
                <a:t>寻址信息</a:t>
              </a:r>
              <a:endParaRPr lang="en-US" altLang="zh-CN" sz="1600" dirty="0">
                <a:latin typeface="Arial" panose="020B0604020202020204" pitchFamily="34" charset="0"/>
              </a:endParaRPr>
            </a:p>
          </p:txBody>
        </p:sp>
        <p:sp>
          <p:nvSpPr>
            <p:cNvPr id="34" name="Line 107"/>
            <p:cNvSpPr>
              <a:spLocks noChangeShapeType="1"/>
            </p:cNvSpPr>
            <p:nvPr/>
          </p:nvSpPr>
          <p:spPr bwMode="auto">
            <a:xfrm flipH="1" flipV="1">
              <a:off x="1090" y="2452"/>
              <a:ext cx="1026" cy="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35" name="Text Box 108"/>
            <p:cNvSpPr txBox="1">
              <a:spLocks noChangeArrowheads="1"/>
            </p:cNvSpPr>
            <p:nvPr/>
          </p:nvSpPr>
          <p:spPr bwMode="auto">
            <a:xfrm>
              <a:off x="1233" y="292"/>
              <a:ext cx="1174"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zh-CN" altLang="en-US" sz="1400" dirty="0">
                  <a:latin typeface="Arial" panose="020B0604020202020204" pitchFamily="34" charset="0"/>
                </a:rPr>
                <a:t>路由算法</a:t>
              </a:r>
              <a:endParaRPr lang="en-US" altLang="zh-CN" sz="1400" dirty="0">
                <a:latin typeface="Arial" panose="020B0604020202020204" pitchFamily="34" charset="0"/>
              </a:endParaRPr>
            </a:p>
          </p:txBody>
        </p:sp>
        <p:sp>
          <p:nvSpPr>
            <p:cNvPr id="36" name="Rectangle 109"/>
            <p:cNvSpPr>
              <a:spLocks noChangeArrowheads="1"/>
            </p:cNvSpPr>
            <p:nvPr/>
          </p:nvSpPr>
          <p:spPr bwMode="auto">
            <a:xfrm>
              <a:off x="1197" y="732"/>
              <a:ext cx="1263" cy="806"/>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37" name="Text Box 110"/>
            <p:cNvSpPr txBox="1">
              <a:spLocks noChangeArrowheads="1"/>
            </p:cNvSpPr>
            <p:nvPr/>
          </p:nvSpPr>
          <p:spPr bwMode="auto">
            <a:xfrm>
              <a:off x="1606" y="696"/>
              <a:ext cx="456"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zh-CN" altLang="en-US" sz="1400" dirty="0">
                  <a:latin typeface="Arial" panose="020B0604020202020204" pitchFamily="34" charset="0"/>
                </a:rPr>
                <a:t>转发表</a:t>
              </a:r>
              <a:endParaRPr lang="en-US" altLang="zh-CN" sz="1400" dirty="0">
                <a:latin typeface="Arial" panose="020B0604020202020204" pitchFamily="34" charset="0"/>
              </a:endParaRPr>
            </a:p>
          </p:txBody>
        </p:sp>
        <p:sp>
          <p:nvSpPr>
            <p:cNvPr id="38" name="Text Box 111"/>
            <p:cNvSpPr txBox="1">
              <a:spLocks noChangeArrowheads="1"/>
            </p:cNvSpPr>
            <p:nvPr/>
          </p:nvSpPr>
          <p:spPr bwMode="auto">
            <a:xfrm>
              <a:off x="1150" y="846"/>
              <a:ext cx="788" cy="2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zh-CN" altLang="en-US" sz="1400" dirty="0">
                  <a:latin typeface="Arial" panose="020B0604020202020204" pitchFamily="34" charset="0"/>
                </a:rPr>
                <a:t>首部寻址信息</a:t>
              </a:r>
              <a:endParaRPr lang="en-US" altLang="zh-CN" sz="1400" dirty="0">
                <a:latin typeface="Arial" panose="020B0604020202020204" pitchFamily="34" charset="0"/>
              </a:endParaRPr>
            </a:p>
          </p:txBody>
        </p:sp>
        <p:sp>
          <p:nvSpPr>
            <p:cNvPr id="39" name="Text Box 112"/>
            <p:cNvSpPr txBox="1">
              <a:spLocks noChangeArrowheads="1"/>
            </p:cNvSpPr>
            <p:nvPr/>
          </p:nvSpPr>
          <p:spPr bwMode="auto">
            <a:xfrm>
              <a:off x="1846" y="844"/>
              <a:ext cx="656"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None/>
              </a:pPr>
              <a:r>
                <a:rPr lang="zh-CN" altLang="en-US" sz="1400" dirty="0">
                  <a:latin typeface="Arial" panose="020B0604020202020204" pitchFamily="34" charset="0"/>
                </a:rPr>
                <a:t>输出链路</a:t>
              </a:r>
              <a:endParaRPr lang="en-US" altLang="zh-CN" sz="1400" dirty="0">
                <a:latin typeface="Arial" panose="020B0604020202020204" pitchFamily="34" charset="0"/>
              </a:endParaRPr>
            </a:p>
          </p:txBody>
        </p:sp>
        <p:sp>
          <p:nvSpPr>
            <p:cNvPr id="40" name="Line 113"/>
            <p:cNvSpPr>
              <a:spLocks noChangeShapeType="1"/>
            </p:cNvSpPr>
            <p:nvPr/>
          </p:nvSpPr>
          <p:spPr bwMode="auto">
            <a:xfrm>
              <a:off x="1908" y="866"/>
              <a:ext cx="5" cy="672"/>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1" name="Text Box 114"/>
            <p:cNvSpPr txBox="1">
              <a:spLocks noChangeArrowheads="1"/>
            </p:cNvSpPr>
            <p:nvPr/>
          </p:nvSpPr>
          <p:spPr bwMode="auto">
            <a:xfrm>
              <a:off x="1369" y="1037"/>
              <a:ext cx="40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r" eaLnBrk="1" hangingPunct="1">
                <a:spcBef>
                  <a:spcPct val="0"/>
                </a:spcBef>
                <a:buClr>
                  <a:schemeClr val="tx1"/>
                </a:buClr>
                <a:buFont typeface="Symbol" panose="05050102010706020507" pitchFamily="18" charset="2"/>
                <a:buNone/>
              </a:pPr>
              <a:r>
                <a:rPr lang="en-US" altLang="zh-CN" sz="1200" dirty="0">
                  <a:latin typeface="Arial" panose="020B0604020202020204" pitchFamily="34" charset="0"/>
                </a:rPr>
                <a:t>0100</a:t>
              </a:r>
            </a:p>
            <a:p>
              <a:pPr algn="r" eaLnBrk="1" hangingPunct="1">
                <a:spcBef>
                  <a:spcPct val="0"/>
                </a:spcBef>
                <a:buClr>
                  <a:schemeClr val="tx1"/>
                </a:buClr>
                <a:buFont typeface="Symbol" panose="05050102010706020507" pitchFamily="18" charset="2"/>
                <a:buNone/>
              </a:pPr>
              <a:r>
                <a:rPr lang="en-US" altLang="zh-CN" sz="1200" dirty="0">
                  <a:latin typeface="Arial" panose="020B0604020202020204" pitchFamily="34" charset="0"/>
                </a:rPr>
                <a:t>0101</a:t>
              </a:r>
            </a:p>
            <a:p>
              <a:pPr algn="r" eaLnBrk="1" hangingPunct="1">
                <a:spcBef>
                  <a:spcPct val="0"/>
                </a:spcBef>
                <a:buClr>
                  <a:schemeClr val="tx1"/>
                </a:buClr>
                <a:buFont typeface="Symbol" panose="05050102010706020507" pitchFamily="18" charset="2"/>
                <a:buNone/>
              </a:pPr>
              <a:r>
                <a:rPr lang="en-US" altLang="zh-CN" sz="1200" dirty="0">
                  <a:latin typeface="Arial" panose="020B0604020202020204" pitchFamily="34" charset="0"/>
                </a:rPr>
                <a:t>0111</a:t>
              </a:r>
            </a:p>
            <a:p>
              <a:pPr algn="r" eaLnBrk="1" hangingPunct="1">
                <a:spcBef>
                  <a:spcPct val="0"/>
                </a:spcBef>
                <a:buClr>
                  <a:schemeClr val="tx1"/>
                </a:buClr>
                <a:buFont typeface="Symbol" panose="05050102010706020507" pitchFamily="18" charset="2"/>
                <a:buNone/>
              </a:pPr>
              <a:r>
                <a:rPr lang="en-US" altLang="zh-CN" sz="1200" dirty="0">
                  <a:latin typeface="Arial" panose="020B0604020202020204" pitchFamily="34" charset="0"/>
                </a:rPr>
                <a:t>1001</a:t>
              </a:r>
            </a:p>
          </p:txBody>
        </p:sp>
        <p:sp>
          <p:nvSpPr>
            <p:cNvPr id="42" name="Text Box 115"/>
            <p:cNvSpPr txBox="1">
              <a:spLocks noChangeArrowheads="1"/>
            </p:cNvSpPr>
            <p:nvPr/>
          </p:nvSpPr>
          <p:spPr bwMode="auto">
            <a:xfrm>
              <a:off x="2050" y="1029"/>
              <a:ext cx="17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spcBef>
                  <a:spcPct val="0"/>
                </a:spcBef>
                <a:buClr>
                  <a:schemeClr val="tx1"/>
                </a:buClr>
                <a:buFont typeface="Symbol" panose="05050102010706020507" pitchFamily="18" charset="2"/>
                <a:buNone/>
              </a:pPr>
              <a:r>
                <a:rPr lang="en-US" altLang="zh-CN" sz="1200">
                  <a:latin typeface="Arial" panose="020B0604020202020204" pitchFamily="34" charset="0"/>
                </a:rPr>
                <a:t>3</a:t>
              </a:r>
            </a:p>
            <a:p>
              <a:pPr algn="ctr" eaLnBrk="1" hangingPunct="1">
                <a:spcBef>
                  <a:spcPct val="0"/>
                </a:spcBef>
                <a:buClr>
                  <a:schemeClr val="tx1"/>
                </a:buClr>
                <a:buFont typeface="Symbol" panose="05050102010706020507" pitchFamily="18" charset="2"/>
                <a:buNone/>
              </a:pPr>
              <a:r>
                <a:rPr lang="en-US" altLang="zh-CN" sz="1200">
                  <a:latin typeface="Arial" panose="020B0604020202020204" pitchFamily="34" charset="0"/>
                </a:rPr>
                <a:t>2</a:t>
              </a:r>
            </a:p>
            <a:p>
              <a:pPr algn="ctr" eaLnBrk="1" hangingPunct="1">
                <a:spcBef>
                  <a:spcPct val="0"/>
                </a:spcBef>
                <a:buClr>
                  <a:schemeClr val="tx1"/>
                </a:buClr>
                <a:buFont typeface="Symbol" panose="05050102010706020507" pitchFamily="18" charset="2"/>
                <a:buNone/>
              </a:pPr>
              <a:r>
                <a:rPr lang="en-US" altLang="zh-CN" sz="1200">
                  <a:latin typeface="Arial" panose="020B0604020202020204" pitchFamily="34" charset="0"/>
                </a:rPr>
                <a:t>2</a:t>
              </a:r>
            </a:p>
            <a:p>
              <a:pPr algn="ctr" eaLnBrk="1" hangingPunct="1">
                <a:spcBef>
                  <a:spcPct val="0"/>
                </a:spcBef>
                <a:buClr>
                  <a:schemeClr val="tx1"/>
                </a:buClr>
                <a:buFont typeface="Symbol" panose="05050102010706020507" pitchFamily="18" charset="2"/>
                <a:buNone/>
              </a:pPr>
              <a:r>
                <a:rPr lang="en-US" altLang="zh-CN" sz="1200">
                  <a:latin typeface="Arial" panose="020B0604020202020204" pitchFamily="34" charset="0"/>
                </a:rPr>
                <a:t>1</a:t>
              </a:r>
            </a:p>
          </p:txBody>
        </p:sp>
        <p:sp>
          <p:nvSpPr>
            <p:cNvPr id="43" name="Line 116"/>
            <p:cNvSpPr>
              <a:spLocks noChangeShapeType="1"/>
            </p:cNvSpPr>
            <p:nvPr/>
          </p:nvSpPr>
          <p:spPr bwMode="auto">
            <a:xfrm>
              <a:off x="1197" y="1028"/>
              <a:ext cx="126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4" name="Line 117"/>
            <p:cNvSpPr>
              <a:spLocks noChangeShapeType="1"/>
            </p:cNvSpPr>
            <p:nvPr/>
          </p:nvSpPr>
          <p:spPr bwMode="auto">
            <a:xfrm>
              <a:off x="1192" y="872"/>
              <a:ext cx="1264"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45" name="AutoShape 118"/>
            <p:cNvSpPr>
              <a:spLocks noChangeArrowheads="1"/>
            </p:cNvSpPr>
            <p:nvPr/>
          </p:nvSpPr>
          <p:spPr bwMode="auto">
            <a:xfrm rot="5400000">
              <a:off x="1763" y="548"/>
              <a:ext cx="151" cy="172"/>
            </a:xfrm>
            <a:prstGeom prst="rightArrow">
              <a:avLst>
                <a:gd name="adj1" fmla="val 51167"/>
                <a:gd name="adj2" fmla="val 39736"/>
              </a:avLst>
            </a:prstGeom>
            <a:solidFill>
              <a:schemeClr val="accent2"/>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46" name="Line 119"/>
            <p:cNvSpPr>
              <a:spLocks noChangeShapeType="1"/>
            </p:cNvSpPr>
            <p:nvPr/>
          </p:nvSpPr>
          <p:spPr bwMode="auto">
            <a:xfrm flipV="1">
              <a:off x="1285" y="2432"/>
              <a:ext cx="319" cy="262"/>
            </a:xfrm>
            <a:prstGeom prst="line">
              <a:avLst/>
            </a:prstGeom>
            <a:noFill/>
            <a:ln w="9525">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7" name="Freeform 120"/>
            <p:cNvSpPr/>
            <p:nvPr/>
          </p:nvSpPr>
          <p:spPr bwMode="auto">
            <a:xfrm>
              <a:off x="2047" y="2395"/>
              <a:ext cx="554" cy="167"/>
            </a:xfrm>
            <a:custGeom>
              <a:avLst/>
              <a:gdLst>
                <a:gd name="T0" fmla="*/ 0 w 554"/>
                <a:gd name="T1" fmla="*/ 10 h 167"/>
                <a:gd name="T2" fmla="*/ 324 w 554"/>
                <a:gd name="T3" fmla="*/ 26 h 167"/>
                <a:gd name="T4" fmla="*/ 554 w 554"/>
                <a:gd name="T5" fmla="*/ 167 h 167"/>
                <a:gd name="T6" fmla="*/ 0 60000 65536"/>
                <a:gd name="T7" fmla="*/ 0 60000 65536"/>
                <a:gd name="T8" fmla="*/ 0 60000 65536"/>
                <a:gd name="T9" fmla="*/ 0 w 554"/>
                <a:gd name="T10" fmla="*/ 0 h 167"/>
                <a:gd name="T11" fmla="*/ 554 w 554"/>
                <a:gd name="T12" fmla="*/ 167 h 167"/>
              </a:gdLst>
              <a:ahLst/>
              <a:cxnLst>
                <a:cxn ang="T6">
                  <a:pos x="T0" y="T1"/>
                </a:cxn>
                <a:cxn ang="T7">
                  <a:pos x="T2" y="T3"/>
                </a:cxn>
                <a:cxn ang="T8">
                  <a:pos x="T4" y="T5"/>
                </a:cxn>
              </a:cxnLst>
              <a:rect l="T9" t="T10" r="T11" b="T12"/>
              <a:pathLst>
                <a:path w="554" h="167">
                  <a:moveTo>
                    <a:pt x="0" y="10"/>
                  </a:moveTo>
                  <a:cubicBezTo>
                    <a:pt x="102" y="0"/>
                    <a:pt x="240" y="5"/>
                    <a:pt x="324" y="26"/>
                  </a:cubicBezTo>
                  <a:cubicBezTo>
                    <a:pt x="416" y="52"/>
                    <a:pt x="502" y="120"/>
                    <a:pt x="554" y="167"/>
                  </a:cubicBezTo>
                </a:path>
              </a:pathLst>
            </a:custGeom>
            <a:noFill/>
            <a:ln w="57150">
              <a:solidFill>
                <a:srgbClr val="FF3300"/>
              </a:solidFill>
              <a:rou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8" name="Freeform 121"/>
            <p:cNvSpPr/>
            <p:nvPr/>
          </p:nvSpPr>
          <p:spPr bwMode="auto">
            <a:xfrm flipH="1">
              <a:off x="3518" y="2127"/>
              <a:ext cx="364"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49" name="Freeform 122"/>
            <p:cNvSpPr/>
            <p:nvPr/>
          </p:nvSpPr>
          <p:spPr bwMode="auto">
            <a:xfrm flipH="1">
              <a:off x="2881" y="1948"/>
              <a:ext cx="364"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0" name="Freeform 123"/>
            <p:cNvSpPr/>
            <p:nvPr/>
          </p:nvSpPr>
          <p:spPr bwMode="auto">
            <a:xfrm flipH="1" flipV="1">
              <a:off x="3302" y="2922"/>
              <a:ext cx="342"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1" name="Freeform 124"/>
            <p:cNvSpPr/>
            <p:nvPr/>
          </p:nvSpPr>
          <p:spPr bwMode="auto">
            <a:xfrm flipH="1" flipV="1">
              <a:off x="2452" y="2912"/>
              <a:ext cx="342" cy="234"/>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52" name="Freeform 125"/>
            <p:cNvSpPr/>
            <p:nvPr/>
          </p:nvSpPr>
          <p:spPr bwMode="auto">
            <a:xfrm flipH="1" flipV="1">
              <a:off x="2855" y="2728"/>
              <a:ext cx="342" cy="285"/>
            </a:xfrm>
            <a:custGeom>
              <a:avLst/>
              <a:gdLst>
                <a:gd name="T0" fmla="*/ 0 w 1443"/>
                <a:gd name="T1" fmla="*/ 0 h 816"/>
                <a:gd name="T2" fmla="*/ 0 w 1443"/>
                <a:gd name="T3" fmla="*/ 0 h 816"/>
                <a:gd name="T4" fmla="*/ 0 w 1443"/>
                <a:gd name="T5" fmla="*/ 0 h 816"/>
                <a:gd name="T6" fmla="*/ 0 w 1443"/>
                <a:gd name="T7" fmla="*/ 0 h 816"/>
                <a:gd name="T8" fmla="*/ 0 w 1443"/>
                <a:gd name="T9" fmla="*/ 0 h 816"/>
                <a:gd name="T10" fmla="*/ 0 60000 65536"/>
                <a:gd name="T11" fmla="*/ 0 60000 65536"/>
                <a:gd name="T12" fmla="*/ 0 60000 65536"/>
                <a:gd name="T13" fmla="*/ 0 60000 65536"/>
                <a:gd name="T14" fmla="*/ 0 60000 65536"/>
                <a:gd name="T15" fmla="*/ 0 w 1443"/>
                <a:gd name="T16" fmla="*/ 0 h 816"/>
                <a:gd name="T17" fmla="*/ 1443 w 1443"/>
                <a:gd name="T18" fmla="*/ 816 h 816"/>
              </a:gdLst>
              <a:ahLst/>
              <a:cxnLst>
                <a:cxn ang="T10">
                  <a:pos x="T0" y="T1"/>
                </a:cxn>
                <a:cxn ang="T11">
                  <a:pos x="T2" y="T3"/>
                </a:cxn>
                <a:cxn ang="T12">
                  <a:pos x="T4" y="T5"/>
                </a:cxn>
                <a:cxn ang="T13">
                  <a:pos x="T6" y="T7"/>
                </a:cxn>
                <a:cxn ang="T14">
                  <a:pos x="T8" y="T9"/>
                </a:cxn>
              </a:cxnLst>
              <a:rect l="T15" t="T16" r="T17" b="T18"/>
              <a:pathLst>
                <a:path w="1443" h="816">
                  <a:moveTo>
                    <a:pt x="0" y="0"/>
                  </a:moveTo>
                  <a:cubicBezTo>
                    <a:pt x="571" y="285"/>
                    <a:pt x="856" y="408"/>
                    <a:pt x="1076" y="782"/>
                  </a:cubicBezTo>
                  <a:cubicBezTo>
                    <a:pt x="1185" y="775"/>
                    <a:pt x="1220" y="816"/>
                    <a:pt x="1320" y="788"/>
                  </a:cubicBezTo>
                  <a:cubicBezTo>
                    <a:pt x="1264" y="347"/>
                    <a:pt x="1276" y="352"/>
                    <a:pt x="1443" y="5"/>
                  </a:cubicBezTo>
                  <a:cubicBezTo>
                    <a:pt x="867" y="5"/>
                    <a:pt x="233" y="0"/>
                    <a:pt x="0" y="0"/>
                  </a:cubicBez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grpSp>
          <p:nvGrpSpPr>
            <p:cNvPr id="53" name="Group 126"/>
            <p:cNvGrpSpPr/>
            <p:nvPr/>
          </p:nvGrpSpPr>
          <p:grpSpPr bwMode="auto">
            <a:xfrm>
              <a:off x="2886" y="1668"/>
              <a:ext cx="347" cy="285"/>
              <a:chOff x="2886" y="1668"/>
              <a:chExt cx="347" cy="285"/>
            </a:xfrm>
          </p:grpSpPr>
          <p:sp>
            <p:nvSpPr>
              <p:cNvPr id="86" name="Rectangle 127"/>
              <p:cNvSpPr>
                <a:spLocks noChangeArrowheads="1"/>
              </p:cNvSpPr>
              <p:nvPr/>
            </p:nvSpPr>
            <p:spPr bwMode="auto">
              <a:xfrm>
                <a:off x="2886" y="1668"/>
                <a:ext cx="347" cy="285"/>
              </a:xfrm>
              <a:prstGeom prst="rect">
                <a:avLst/>
              </a:prstGeom>
              <a:solidFill>
                <a:schemeClr val="accent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87" name="Oval 128"/>
              <p:cNvSpPr>
                <a:spLocks noChangeArrowheads="1"/>
              </p:cNvSpPr>
              <p:nvPr/>
            </p:nvSpPr>
            <p:spPr bwMode="auto">
              <a:xfrm>
                <a:off x="2905" y="1674"/>
                <a:ext cx="314" cy="74"/>
              </a:xfrm>
              <a:prstGeom prst="ellipse">
                <a:avLst/>
              </a:prstGeom>
              <a:solidFill>
                <a:schemeClr val="bg1"/>
              </a:solidFill>
              <a:ln w="9525">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88" name="Rectangle 129"/>
              <p:cNvSpPr>
                <a:spLocks noChangeArrowheads="1"/>
              </p:cNvSpPr>
              <p:nvPr/>
            </p:nvSpPr>
            <p:spPr bwMode="auto">
              <a:xfrm>
                <a:off x="2913" y="1785"/>
                <a:ext cx="300" cy="156"/>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89" name="Line 130"/>
              <p:cNvSpPr>
                <a:spLocks noChangeShapeType="1"/>
              </p:cNvSpPr>
              <p:nvPr/>
            </p:nvSpPr>
            <p:spPr bwMode="auto">
              <a:xfrm>
                <a:off x="3082" y="1811"/>
                <a:ext cx="1" cy="13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0" name="Line 131"/>
              <p:cNvSpPr>
                <a:spLocks noChangeShapeType="1"/>
              </p:cNvSpPr>
              <p:nvPr/>
            </p:nvSpPr>
            <p:spPr bwMode="auto">
              <a:xfrm>
                <a:off x="2913" y="184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1" name="Line 132"/>
              <p:cNvSpPr>
                <a:spLocks noChangeShapeType="1"/>
              </p:cNvSpPr>
              <p:nvPr/>
            </p:nvSpPr>
            <p:spPr bwMode="auto">
              <a:xfrm>
                <a:off x="2912" y="181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92" name="AutoShape 133"/>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grpSp>
          <p:nvGrpSpPr>
            <p:cNvPr id="54" name="Group 134"/>
            <p:cNvGrpSpPr/>
            <p:nvPr/>
          </p:nvGrpSpPr>
          <p:grpSpPr bwMode="auto">
            <a:xfrm>
              <a:off x="3524" y="1840"/>
              <a:ext cx="347" cy="285"/>
              <a:chOff x="2886" y="1668"/>
              <a:chExt cx="347" cy="285"/>
            </a:xfrm>
          </p:grpSpPr>
          <p:sp>
            <p:nvSpPr>
              <p:cNvPr id="79" name="Rectangle 135"/>
              <p:cNvSpPr>
                <a:spLocks noChangeArrowheads="1"/>
              </p:cNvSpPr>
              <p:nvPr/>
            </p:nvSpPr>
            <p:spPr bwMode="auto">
              <a:xfrm>
                <a:off x="2886" y="1668"/>
                <a:ext cx="347" cy="285"/>
              </a:xfrm>
              <a:prstGeom prst="rect">
                <a:avLst/>
              </a:prstGeom>
              <a:solidFill>
                <a:schemeClr val="accent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80" name="Oval 136"/>
              <p:cNvSpPr>
                <a:spLocks noChangeArrowheads="1"/>
              </p:cNvSpPr>
              <p:nvPr/>
            </p:nvSpPr>
            <p:spPr bwMode="auto">
              <a:xfrm>
                <a:off x="2905" y="1674"/>
                <a:ext cx="314" cy="74"/>
              </a:xfrm>
              <a:prstGeom prst="ellipse">
                <a:avLst/>
              </a:prstGeom>
              <a:solidFill>
                <a:schemeClr val="bg1"/>
              </a:solidFill>
              <a:ln w="9525">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81" name="Rectangle 137"/>
              <p:cNvSpPr>
                <a:spLocks noChangeArrowheads="1"/>
              </p:cNvSpPr>
              <p:nvPr/>
            </p:nvSpPr>
            <p:spPr bwMode="auto">
              <a:xfrm>
                <a:off x="2913" y="1785"/>
                <a:ext cx="300" cy="156"/>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82" name="Line 138"/>
              <p:cNvSpPr>
                <a:spLocks noChangeShapeType="1"/>
              </p:cNvSpPr>
              <p:nvPr/>
            </p:nvSpPr>
            <p:spPr bwMode="auto">
              <a:xfrm>
                <a:off x="3082" y="1811"/>
                <a:ext cx="1" cy="13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3" name="Line 139"/>
              <p:cNvSpPr>
                <a:spLocks noChangeShapeType="1"/>
              </p:cNvSpPr>
              <p:nvPr/>
            </p:nvSpPr>
            <p:spPr bwMode="auto">
              <a:xfrm>
                <a:off x="2913" y="184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4" name="Line 140"/>
              <p:cNvSpPr>
                <a:spLocks noChangeShapeType="1"/>
              </p:cNvSpPr>
              <p:nvPr/>
            </p:nvSpPr>
            <p:spPr bwMode="auto">
              <a:xfrm>
                <a:off x="2912" y="181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85" name="AutoShape 141"/>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grpSp>
          <p:nvGrpSpPr>
            <p:cNvPr id="55" name="Group 142"/>
            <p:cNvGrpSpPr/>
            <p:nvPr/>
          </p:nvGrpSpPr>
          <p:grpSpPr bwMode="auto">
            <a:xfrm>
              <a:off x="3291" y="3148"/>
              <a:ext cx="347" cy="285"/>
              <a:chOff x="2886" y="1668"/>
              <a:chExt cx="347" cy="285"/>
            </a:xfrm>
          </p:grpSpPr>
          <p:sp>
            <p:nvSpPr>
              <p:cNvPr id="72" name="Rectangle 143"/>
              <p:cNvSpPr>
                <a:spLocks noChangeArrowheads="1"/>
              </p:cNvSpPr>
              <p:nvPr/>
            </p:nvSpPr>
            <p:spPr bwMode="auto">
              <a:xfrm>
                <a:off x="2886" y="1668"/>
                <a:ext cx="347" cy="285"/>
              </a:xfrm>
              <a:prstGeom prst="rect">
                <a:avLst/>
              </a:prstGeom>
              <a:solidFill>
                <a:schemeClr val="accent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73" name="Oval 144"/>
              <p:cNvSpPr>
                <a:spLocks noChangeArrowheads="1"/>
              </p:cNvSpPr>
              <p:nvPr/>
            </p:nvSpPr>
            <p:spPr bwMode="auto">
              <a:xfrm>
                <a:off x="2905" y="1674"/>
                <a:ext cx="314" cy="74"/>
              </a:xfrm>
              <a:prstGeom prst="ellipse">
                <a:avLst/>
              </a:prstGeom>
              <a:solidFill>
                <a:schemeClr val="bg1"/>
              </a:solidFill>
              <a:ln w="9525">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74" name="Rectangle 145"/>
              <p:cNvSpPr>
                <a:spLocks noChangeArrowheads="1"/>
              </p:cNvSpPr>
              <p:nvPr/>
            </p:nvSpPr>
            <p:spPr bwMode="auto">
              <a:xfrm>
                <a:off x="2913" y="1785"/>
                <a:ext cx="300" cy="156"/>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75" name="Line 146"/>
              <p:cNvSpPr>
                <a:spLocks noChangeShapeType="1"/>
              </p:cNvSpPr>
              <p:nvPr/>
            </p:nvSpPr>
            <p:spPr bwMode="auto">
              <a:xfrm>
                <a:off x="3082" y="1811"/>
                <a:ext cx="1" cy="13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 name="Line 147"/>
              <p:cNvSpPr>
                <a:spLocks noChangeShapeType="1"/>
              </p:cNvSpPr>
              <p:nvPr/>
            </p:nvSpPr>
            <p:spPr bwMode="auto">
              <a:xfrm>
                <a:off x="2913" y="184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7" name="Line 148"/>
              <p:cNvSpPr>
                <a:spLocks noChangeShapeType="1"/>
              </p:cNvSpPr>
              <p:nvPr/>
            </p:nvSpPr>
            <p:spPr bwMode="auto">
              <a:xfrm>
                <a:off x="2912" y="181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8" name="AutoShape 149"/>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grpSp>
          <p:nvGrpSpPr>
            <p:cNvPr id="56" name="Group 150"/>
            <p:cNvGrpSpPr/>
            <p:nvPr/>
          </p:nvGrpSpPr>
          <p:grpSpPr bwMode="auto">
            <a:xfrm>
              <a:off x="2853" y="3010"/>
              <a:ext cx="347" cy="285"/>
              <a:chOff x="2886" y="1668"/>
              <a:chExt cx="347" cy="285"/>
            </a:xfrm>
          </p:grpSpPr>
          <p:sp>
            <p:nvSpPr>
              <p:cNvPr id="65" name="Rectangle 151"/>
              <p:cNvSpPr>
                <a:spLocks noChangeArrowheads="1"/>
              </p:cNvSpPr>
              <p:nvPr/>
            </p:nvSpPr>
            <p:spPr bwMode="auto">
              <a:xfrm>
                <a:off x="2886" y="1668"/>
                <a:ext cx="347" cy="285"/>
              </a:xfrm>
              <a:prstGeom prst="rect">
                <a:avLst/>
              </a:prstGeom>
              <a:solidFill>
                <a:schemeClr val="accent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66" name="Oval 152"/>
              <p:cNvSpPr>
                <a:spLocks noChangeArrowheads="1"/>
              </p:cNvSpPr>
              <p:nvPr/>
            </p:nvSpPr>
            <p:spPr bwMode="auto">
              <a:xfrm>
                <a:off x="2905" y="1674"/>
                <a:ext cx="314" cy="74"/>
              </a:xfrm>
              <a:prstGeom prst="ellipse">
                <a:avLst/>
              </a:prstGeom>
              <a:solidFill>
                <a:schemeClr val="bg1"/>
              </a:solidFill>
              <a:ln w="9525">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67" name="Rectangle 153"/>
              <p:cNvSpPr>
                <a:spLocks noChangeArrowheads="1"/>
              </p:cNvSpPr>
              <p:nvPr/>
            </p:nvSpPr>
            <p:spPr bwMode="auto">
              <a:xfrm>
                <a:off x="2913" y="1785"/>
                <a:ext cx="300" cy="156"/>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68" name="Line 154"/>
              <p:cNvSpPr>
                <a:spLocks noChangeShapeType="1"/>
              </p:cNvSpPr>
              <p:nvPr/>
            </p:nvSpPr>
            <p:spPr bwMode="auto">
              <a:xfrm>
                <a:off x="3082" y="1811"/>
                <a:ext cx="1" cy="13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9" name="Line 155"/>
              <p:cNvSpPr>
                <a:spLocks noChangeShapeType="1"/>
              </p:cNvSpPr>
              <p:nvPr/>
            </p:nvSpPr>
            <p:spPr bwMode="auto">
              <a:xfrm>
                <a:off x="2913" y="184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0" name="Line 156"/>
              <p:cNvSpPr>
                <a:spLocks noChangeShapeType="1"/>
              </p:cNvSpPr>
              <p:nvPr/>
            </p:nvSpPr>
            <p:spPr bwMode="auto">
              <a:xfrm>
                <a:off x="2912" y="181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71" name="AutoShape 157"/>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grpSp>
          <p:nvGrpSpPr>
            <p:cNvPr id="57" name="Group 158"/>
            <p:cNvGrpSpPr/>
            <p:nvPr/>
          </p:nvGrpSpPr>
          <p:grpSpPr bwMode="auto">
            <a:xfrm>
              <a:off x="2440" y="3131"/>
              <a:ext cx="347" cy="285"/>
              <a:chOff x="2886" y="1668"/>
              <a:chExt cx="347" cy="285"/>
            </a:xfrm>
          </p:grpSpPr>
          <p:sp>
            <p:nvSpPr>
              <p:cNvPr id="58" name="Rectangle 159"/>
              <p:cNvSpPr>
                <a:spLocks noChangeArrowheads="1"/>
              </p:cNvSpPr>
              <p:nvPr/>
            </p:nvSpPr>
            <p:spPr bwMode="auto">
              <a:xfrm>
                <a:off x="2886" y="1668"/>
                <a:ext cx="347" cy="285"/>
              </a:xfrm>
              <a:prstGeom prst="rect">
                <a:avLst/>
              </a:prstGeom>
              <a:solidFill>
                <a:schemeClr val="accent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59" name="Oval 160"/>
              <p:cNvSpPr>
                <a:spLocks noChangeArrowheads="1"/>
              </p:cNvSpPr>
              <p:nvPr/>
            </p:nvSpPr>
            <p:spPr bwMode="auto">
              <a:xfrm>
                <a:off x="2905" y="1674"/>
                <a:ext cx="314" cy="74"/>
              </a:xfrm>
              <a:prstGeom prst="ellipse">
                <a:avLst/>
              </a:prstGeom>
              <a:solidFill>
                <a:schemeClr val="bg1"/>
              </a:solidFill>
              <a:ln w="9525">
                <a:solidFill>
                  <a:schemeClr val="tx1"/>
                </a:solidFill>
                <a:rou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60" name="Rectangle 161"/>
              <p:cNvSpPr>
                <a:spLocks noChangeArrowheads="1"/>
              </p:cNvSpPr>
              <p:nvPr/>
            </p:nvSpPr>
            <p:spPr bwMode="auto">
              <a:xfrm>
                <a:off x="2913" y="1785"/>
                <a:ext cx="300" cy="156"/>
              </a:xfrm>
              <a:prstGeom prst="rect">
                <a:avLst/>
              </a:prstGeom>
              <a:solidFill>
                <a:schemeClr val="bg1"/>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sp>
            <p:nvSpPr>
              <p:cNvPr id="61" name="Line 162"/>
              <p:cNvSpPr>
                <a:spLocks noChangeShapeType="1"/>
              </p:cNvSpPr>
              <p:nvPr/>
            </p:nvSpPr>
            <p:spPr bwMode="auto">
              <a:xfrm>
                <a:off x="3082" y="1811"/>
                <a:ext cx="1" cy="13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2" name="Line 163"/>
              <p:cNvSpPr>
                <a:spLocks noChangeShapeType="1"/>
              </p:cNvSpPr>
              <p:nvPr/>
            </p:nvSpPr>
            <p:spPr bwMode="auto">
              <a:xfrm>
                <a:off x="2913" y="184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3" name="Line 164"/>
              <p:cNvSpPr>
                <a:spLocks noChangeShapeType="1"/>
              </p:cNvSpPr>
              <p:nvPr/>
            </p:nvSpPr>
            <p:spPr bwMode="auto">
              <a:xfrm>
                <a:off x="2912" y="1812"/>
                <a:ext cx="30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endParaRPr lang="zh-CN" altLang="en-US"/>
              </a:p>
            </p:txBody>
          </p:sp>
          <p:sp>
            <p:nvSpPr>
              <p:cNvPr id="64" name="AutoShape 165"/>
              <p:cNvSpPr>
                <a:spLocks noChangeArrowheads="1"/>
              </p:cNvSpPr>
              <p:nvPr/>
            </p:nvSpPr>
            <p:spPr bwMode="auto">
              <a:xfrm rot="5400000">
                <a:off x="3051" y="1745"/>
                <a:ext cx="29" cy="41"/>
              </a:xfrm>
              <a:prstGeom prst="rightArrow">
                <a:avLst>
                  <a:gd name="adj1" fmla="val 51167"/>
                  <a:gd name="adj2" fmla="val 39736"/>
                </a:avLst>
              </a:prstGeom>
              <a:solidFill>
                <a:schemeClr val="accent2"/>
              </a:solidFill>
              <a:ln w="9525">
                <a:solidFill>
                  <a:schemeClr val="tx1"/>
                </a:solidFill>
                <a:miter lim="800000"/>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latin typeface="Comic Sans MS" panose="030F0702030302020204" pitchFamily="66" charset="0"/>
                  <a:ea typeface="楷体_GB2312" pitchFamily="49" charset="-122"/>
                </a:endParaRPr>
              </a:p>
            </p:txBody>
          </p:sp>
        </p:grpSp>
      </p:grpSp>
      <p:sp>
        <p:nvSpPr>
          <p:cNvPr id="6" name="内容占位符 5"/>
          <p:cNvSpPr>
            <a:spLocks noGrp="1"/>
          </p:cNvSpPr>
          <p:nvPr>
            <p:ph idx="1"/>
          </p:nvPr>
        </p:nvSpPr>
        <p:spPr>
          <a:xfrm>
            <a:off x="751840" y="1339215"/>
            <a:ext cx="6085840" cy="4758055"/>
          </a:xfrm>
        </p:spPr>
        <p:txBody>
          <a:bodyPr/>
          <a:lstStyle/>
          <a:p>
            <a:pPr>
              <a:lnSpc>
                <a:spcPct val="160000"/>
              </a:lnSpc>
            </a:pPr>
            <a:r>
              <a:rPr lang="en-US" altLang="zh-CN" dirty="0">
                <a:sym typeface="+mn-ea"/>
              </a:rPr>
              <a:t>路由</a:t>
            </a:r>
            <a:r>
              <a:rPr lang="zh-CN" altLang="en-US" dirty="0">
                <a:sym typeface="+mn-ea"/>
              </a:rPr>
              <a:t>（控制面）</a:t>
            </a:r>
            <a:endParaRPr lang="en-US" altLang="zh-CN" dirty="0"/>
          </a:p>
          <a:p>
            <a:pPr lvl="1" algn="l">
              <a:lnSpc>
                <a:spcPct val="160000"/>
              </a:lnSpc>
              <a:buClrTx/>
              <a:buSzTx/>
            </a:pPr>
            <a:r>
              <a:rPr lang="zh-CN" altLang="en-US" dirty="0">
                <a:sym typeface="+mn-ea"/>
              </a:rPr>
              <a:t>选择数据包从源端到目的端的路径</a:t>
            </a:r>
          </a:p>
          <a:p>
            <a:pPr lvl="1" algn="l">
              <a:lnSpc>
                <a:spcPct val="160000"/>
              </a:lnSpc>
              <a:buClrTx/>
              <a:buSzTx/>
            </a:pPr>
            <a:r>
              <a:rPr kumimoji="1" lang="zh-CN" altLang="en-US" dirty="0">
                <a:sym typeface="+mn-ea"/>
              </a:rPr>
              <a:t>核心</a:t>
            </a:r>
            <a:r>
              <a:rPr lang="zh-CN" altLang="en-US" dirty="0">
                <a:sym typeface="+mn-ea"/>
              </a:rPr>
              <a:t>：</a:t>
            </a:r>
            <a:r>
              <a:rPr lang="zh-CN" altLang="en-US" dirty="0">
                <a:solidFill>
                  <a:srgbClr val="C00000"/>
                </a:solidFill>
                <a:sym typeface="+mn-ea"/>
              </a:rPr>
              <a:t>路由算法与协议</a:t>
            </a:r>
            <a:endParaRPr lang="zh-CN" altLang="en-US" dirty="0">
              <a:solidFill>
                <a:srgbClr val="C00000"/>
              </a:solidFill>
            </a:endParaRPr>
          </a:p>
          <a:p>
            <a:pPr algn="l">
              <a:lnSpc>
                <a:spcPct val="160000"/>
              </a:lnSpc>
              <a:buClrTx/>
              <a:buSzTx/>
            </a:pPr>
            <a:r>
              <a:rPr lang="zh-CN" altLang="en-US" dirty="0">
                <a:sym typeface="+mn-ea"/>
              </a:rPr>
              <a:t>转发（数据面）</a:t>
            </a:r>
            <a:endParaRPr lang="zh-CN" altLang="en-US" dirty="0"/>
          </a:p>
          <a:p>
            <a:pPr lvl="1" algn="l">
              <a:lnSpc>
                <a:spcPct val="160000"/>
              </a:lnSpc>
              <a:buClrTx/>
              <a:buSzTx/>
            </a:pPr>
            <a:r>
              <a:rPr lang="zh-CN" altLang="en-US" dirty="0">
                <a:sym typeface="+mn-ea"/>
              </a:rPr>
              <a:t>将数据包从路由器的输入接口传送到正确的输出接口</a:t>
            </a:r>
            <a:endParaRPr lang="zh-CN" altLang="en-US" dirty="0"/>
          </a:p>
          <a:p>
            <a:pPr marL="457200" lvl="1" indent="0" algn="l">
              <a:lnSpc>
                <a:spcPct val="160000"/>
              </a:lnSpc>
              <a:buClrTx/>
              <a:buSzTx/>
              <a:buNone/>
            </a:pPr>
            <a:endParaRPr lang="zh-CN" altLang="en-US" dirty="0"/>
          </a:p>
          <a:p>
            <a:pPr marL="0" indent="0">
              <a:buNone/>
            </a:pPr>
            <a:endParaRPr kumimoji="1" lang="zh-CN" altLang="en-US" dirty="0"/>
          </a:p>
        </p:txBody>
      </p:sp>
      <p:sp>
        <p:nvSpPr>
          <p:cNvPr id="171" name="日期占位符 9"/>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sym typeface="+mn-ea"/>
              </a:rPr>
              <a:t>5.1.1 </a:t>
            </a:r>
            <a:r>
              <a:rPr kumimoji="1" lang="zh-CN" altLang="en-US" dirty="0">
                <a:latin typeface="DengXian" panose="02010600030101010101" pitchFamily="2" charset="-122"/>
                <a:ea typeface="DengXian" panose="02010600030101010101" pitchFamily="2" charset="-122"/>
                <a:sym typeface="+mn-ea"/>
              </a:rPr>
              <a:t>网络层服务概述</a:t>
            </a:r>
            <a:endParaRPr kumimoji="1"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34859635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algn="l">
              <a:buClrTx/>
              <a:buSzTx/>
              <a:buFontTx/>
            </a:pPr>
            <a:r>
              <a:rPr kumimoji="1" lang="zh-CN" altLang="zh-CN" dirty="0">
                <a:solidFill>
                  <a:prstClr val="black"/>
                </a:solidFill>
                <a:sym typeface="+mn-ea"/>
              </a:rPr>
              <a:t>提供给传输层的服务</a:t>
            </a:r>
            <a:endParaRPr kumimoji="1" lang="zh-CN" altLang="en-US" dirty="0"/>
          </a:p>
        </p:txBody>
      </p:sp>
      <p:sp>
        <p:nvSpPr>
          <p:cNvPr id="3" name="内容占位符 2"/>
          <p:cNvSpPr>
            <a:spLocks noGrp="1"/>
          </p:cNvSpPr>
          <p:nvPr>
            <p:ph idx="1"/>
          </p:nvPr>
        </p:nvSpPr>
        <p:spPr/>
        <p:txBody>
          <a:bodyPr/>
          <a:lstStyle/>
          <a:p>
            <a:pPr>
              <a:lnSpc>
                <a:spcPct val="210000"/>
              </a:lnSpc>
            </a:pPr>
            <a:r>
              <a:rPr lang="zh-CN" altLang="en-US" dirty="0">
                <a:sym typeface="+mn-ea"/>
              </a:rPr>
              <a:t>网络通信的可靠交付服务，</a:t>
            </a:r>
            <a:r>
              <a:rPr kumimoji="1" lang="zh-CN" altLang="en-US" dirty="0">
                <a:solidFill>
                  <a:srgbClr val="C00000"/>
                </a:solidFill>
                <a:sym typeface="+mn-ea"/>
              </a:rPr>
              <a:t>谁来负责？</a:t>
            </a:r>
            <a:endParaRPr lang="zh-CN" altLang="en-US" dirty="0">
              <a:solidFill>
                <a:schemeClr val="hlink"/>
              </a:solidFill>
              <a:sym typeface="+mn-ea"/>
            </a:endParaRPr>
          </a:p>
          <a:p>
            <a:pPr marL="0" indent="0">
              <a:lnSpc>
                <a:spcPct val="210000"/>
              </a:lnSpc>
              <a:buNone/>
            </a:pPr>
            <a:r>
              <a:rPr lang="zh-CN" altLang="en-US" dirty="0">
                <a:solidFill>
                  <a:schemeClr val="hlink"/>
                </a:solidFill>
                <a:sym typeface="+mn-ea"/>
              </a:rPr>
              <a:t>   </a:t>
            </a:r>
            <a:r>
              <a:rPr kumimoji="1" lang="zh-CN" altLang="en-US" b="1" dirty="0">
                <a:solidFill>
                  <a:srgbClr val="5B307E"/>
                </a:solidFill>
                <a:sym typeface="+mn-ea"/>
              </a:rPr>
              <a:t>“</a:t>
            </a:r>
            <a:r>
              <a:rPr kumimoji="1" lang="zh-CN" altLang="en-US" sz="2800" b="1" dirty="0">
                <a:solidFill>
                  <a:srgbClr val="5B307E"/>
                </a:solidFill>
                <a:sym typeface="+mn-ea"/>
              </a:rPr>
              <a:t>网络</a:t>
            </a:r>
            <a:r>
              <a:rPr kumimoji="1" lang="zh-CN" altLang="en-US" b="1" dirty="0">
                <a:solidFill>
                  <a:srgbClr val="5B307E"/>
                </a:solidFill>
                <a:sym typeface="+mn-ea"/>
              </a:rPr>
              <a:t>”</a:t>
            </a:r>
            <a:r>
              <a:rPr lang="en-US" altLang="zh-CN" dirty="0">
                <a:sym typeface="+mn-ea"/>
              </a:rPr>
              <a:t>OR</a:t>
            </a:r>
            <a:r>
              <a:rPr kumimoji="1" lang="zh-CN" altLang="en-US" b="1" dirty="0">
                <a:solidFill>
                  <a:srgbClr val="5B307E"/>
                </a:solidFill>
                <a:sym typeface="+mn-ea"/>
              </a:rPr>
              <a:t>“端系统”</a:t>
            </a:r>
            <a:endParaRPr lang="zh-CN" altLang="en-US" dirty="0">
              <a:sym typeface="+mn-ea"/>
            </a:endParaRPr>
          </a:p>
          <a:p>
            <a:pPr>
              <a:lnSpc>
                <a:spcPct val="210000"/>
              </a:lnSpc>
            </a:pPr>
            <a:r>
              <a:rPr lang="zh-CN" altLang="en-US" dirty="0">
                <a:sym typeface="+mn-ea"/>
              </a:rPr>
              <a:t>网络层应该向传输层提供怎样的服务？</a:t>
            </a:r>
          </a:p>
          <a:p>
            <a:pPr marL="0" indent="0">
              <a:lnSpc>
                <a:spcPct val="210000"/>
              </a:lnSpc>
              <a:buNone/>
            </a:pPr>
            <a:r>
              <a:rPr lang="zh-CN" altLang="en-US" dirty="0">
                <a:sym typeface="+mn-ea"/>
              </a:rPr>
              <a:t>   </a:t>
            </a:r>
            <a:r>
              <a:rPr kumimoji="1" lang="zh-CN" altLang="en-US" b="1" dirty="0">
                <a:solidFill>
                  <a:srgbClr val="5B307E"/>
                </a:solidFill>
                <a:sym typeface="+mn-ea"/>
              </a:rPr>
              <a:t>“面向连接”</a:t>
            </a:r>
            <a:r>
              <a:rPr kumimoji="1" lang="zh-CN" altLang="en-US" dirty="0">
                <a:solidFill>
                  <a:srgbClr val="C00000"/>
                </a:solidFill>
                <a:sym typeface="+mn-ea"/>
              </a:rPr>
              <a:t>(虚电路）</a:t>
            </a:r>
            <a:r>
              <a:rPr lang="en-US" altLang="zh-CN" dirty="0">
                <a:sym typeface="+mn-ea"/>
              </a:rPr>
              <a:t>OR</a:t>
            </a:r>
            <a:r>
              <a:rPr kumimoji="1" lang="zh-CN" altLang="en-US" b="1" dirty="0">
                <a:solidFill>
                  <a:srgbClr val="5B307E"/>
                </a:solidFill>
                <a:sym typeface="+mn-ea"/>
              </a:rPr>
              <a:t>“无连接“</a:t>
            </a:r>
            <a:r>
              <a:rPr kumimoji="1" lang="zh-CN" altLang="en-US" dirty="0">
                <a:solidFill>
                  <a:srgbClr val="C00000"/>
                </a:solidFill>
                <a:sym typeface="+mn-ea"/>
              </a:rPr>
              <a:t>（数据包）</a:t>
            </a:r>
            <a:endParaRPr lang="zh-CN" altLang="en-US" dirty="0">
              <a:sym typeface="+mn-ea"/>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8</a:t>
            </a:fld>
            <a:endParaRPr kumimoji="1" lang="zh-CN" altLang="en-US" dirty="0"/>
          </a:p>
        </p:txBody>
      </p:sp>
      <p:sp>
        <p:nvSpPr>
          <p:cNvPr id="6" name="日期占位符 9"/>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5.1.1 </a:t>
            </a:r>
            <a:r>
              <a:rPr kumimoji="1" lang="zh-CN" altLang="en-US" dirty="0">
                <a:latin typeface="DengXian" panose="02010600030101010101" pitchFamily="2" charset="-122"/>
                <a:ea typeface="DengXian" panose="02010600030101010101" pitchFamily="2" charset="-122"/>
              </a:rPr>
              <a:t>网络层服务概述</a:t>
            </a:r>
          </a:p>
        </p:txBody>
      </p:sp>
    </p:spTree>
    <p:extLst>
      <p:ext uri="{BB962C8B-B14F-4D97-AF65-F5344CB8AC3E}">
        <p14:creationId xmlns:p14="http://schemas.microsoft.com/office/powerpoint/2010/main" val="30636595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0"/>
            <a:r>
              <a:rPr lang="en-US" altLang="zh-CN" dirty="0" err="1">
                <a:solidFill>
                  <a:schemeClr val="dk1"/>
                </a:solidFill>
              </a:rPr>
              <a:t>无连接服务的实现</a:t>
            </a:r>
            <a:endParaRPr lang="zh-CN" altLang="en-US" dirty="0"/>
          </a:p>
        </p:txBody>
      </p:sp>
      <p:sp>
        <p:nvSpPr>
          <p:cNvPr id="3" name="内容占位符 2"/>
          <p:cNvSpPr>
            <a:spLocks noGrp="1"/>
          </p:cNvSpPr>
          <p:nvPr>
            <p:ph idx="1"/>
          </p:nvPr>
        </p:nvSpPr>
        <p:spPr/>
        <p:txBody>
          <a:bodyPr>
            <a:normAutofit fontScale="92500" lnSpcReduction="10000"/>
          </a:bodyPr>
          <a:lstStyle/>
          <a:p>
            <a:pPr marL="228600" lvl="1">
              <a:lnSpc>
                <a:spcPct val="120000"/>
              </a:lnSpc>
              <a:buFont typeface="Wingdings" panose="05000000000000000000" pitchFamily="2" charset="2"/>
              <a:buChar char="Ø"/>
            </a:pPr>
            <a:r>
              <a:rPr lang="zh-CN" altLang="en-US" sz="2600" dirty="0">
                <a:cs typeface="Times New Roman" panose="02020603050405020304" pitchFamily="18" charset="0"/>
                <a:sym typeface="Symbol" panose="05050102010706020507" pitchFamily="18" charset="2"/>
              </a:rPr>
              <a:t>无连接服务：如寄信</a:t>
            </a:r>
            <a:endParaRPr lang="en-US" altLang="zh-CN" sz="2600" dirty="0">
              <a:cs typeface="Times New Roman" panose="02020603050405020304" pitchFamily="18" charset="0"/>
              <a:sym typeface="Symbol" panose="05050102010706020507" pitchFamily="18" charset="2"/>
            </a:endParaRPr>
          </a:p>
          <a:p>
            <a:pPr lvl="1">
              <a:lnSpc>
                <a:spcPct val="120000"/>
              </a:lnSpc>
            </a:pPr>
            <a:r>
              <a:rPr lang="zh-CN" altLang="en-US" dirty="0"/>
              <a:t>不需要提前建立连接</a:t>
            </a:r>
            <a:endParaRPr lang="en-US" altLang="zh-CN" dirty="0"/>
          </a:p>
          <a:p>
            <a:pPr marL="228600" lvl="1">
              <a:lnSpc>
                <a:spcPct val="120000"/>
              </a:lnSpc>
              <a:buFont typeface="Wingdings" panose="05000000000000000000" pitchFamily="2" charset="2"/>
              <a:buChar char="Ø"/>
            </a:pPr>
            <a:r>
              <a:rPr lang="zh-CN" altLang="en-US" sz="2600" dirty="0">
                <a:cs typeface="Times New Roman" panose="02020603050405020304" pitchFamily="18" charset="0"/>
              </a:rPr>
              <a:t>数据包服务</a:t>
            </a:r>
            <a:endParaRPr lang="en-US" altLang="zh-CN" sz="2600" dirty="0">
              <a:cs typeface="Times New Roman" panose="02020603050405020304" pitchFamily="18" charset="0"/>
            </a:endParaRPr>
          </a:p>
          <a:p>
            <a:pPr lvl="1">
              <a:lnSpc>
                <a:spcPct val="120000"/>
              </a:lnSpc>
            </a:pPr>
            <a:r>
              <a:rPr lang="zh-CN" altLang="en-US" dirty="0"/>
              <a:t>网络层向上只提供简单灵活</a:t>
            </a:r>
            <a:r>
              <a:rPr lang="zh-CN" altLang="en-US" dirty="0">
                <a:solidFill>
                  <a:srgbClr val="C00000"/>
                </a:solidFill>
              </a:rPr>
              <a:t>无连接的、尽最大努力交付</a:t>
            </a:r>
            <a:r>
              <a:rPr lang="zh-CN" altLang="en-US" dirty="0"/>
              <a:t>的</a:t>
            </a:r>
            <a:r>
              <a:rPr lang="zh-CN" altLang="en-US" dirty="0">
                <a:solidFill>
                  <a:srgbClr val="C00000"/>
                </a:solidFill>
              </a:rPr>
              <a:t>数据包服务</a:t>
            </a:r>
          </a:p>
          <a:p>
            <a:pPr lvl="1">
              <a:lnSpc>
                <a:spcPct val="120000"/>
              </a:lnSpc>
            </a:pPr>
            <a:r>
              <a:rPr lang="zh-CN" altLang="en-US" dirty="0"/>
              <a:t>发送数据包时不需要先建立连接，每个数据包独立发送</a:t>
            </a:r>
            <a:endParaRPr lang="en-US" altLang="zh-CN" dirty="0"/>
          </a:p>
          <a:p>
            <a:pPr lvl="1">
              <a:lnSpc>
                <a:spcPct val="120000"/>
              </a:lnSpc>
            </a:pPr>
            <a:r>
              <a:rPr lang="zh-CN" altLang="en-US" dirty="0"/>
              <a:t>数据包独立转发，相同源-目的的数据包可能经过不同的路径</a:t>
            </a:r>
          </a:p>
          <a:p>
            <a:pPr lvl="1">
              <a:lnSpc>
                <a:spcPct val="120000"/>
              </a:lnSpc>
              <a:buClr>
                <a:schemeClr val="tx1"/>
              </a:buClr>
            </a:pPr>
            <a:r>
              <a:rPr lang="zh-CN" altLang="en-US" dirty="0">
                <a:solidFill>
                  <a:srgbClr val="C00000"/>
                </a:solidFill>
              </a:rPr>
              <a:t>网络层不提供服务质量的承诺 </a:t>
            </a:r>
          </a:p>
          <a:p>
            <a:pPr marL="228600" lvl="1">
              <a:lnSpc>
                <a:spcPct val="120000"/>
              </a:lnSpc>
              <a:buFont typeface="Wingdings" panose="05000000000000000000" pitchFamily="2" charset="2"/>
              <a:buChar char="Ø"/>
            </a:pPr>
            <a:r>
              <a:rPr lang="zh-CN" altLang="en-US" sz="2600" dirty="0">
                <a:cs typeface="Times New Roman" panose="02020603050405020304" pitchFamily="18" charset="0"/>
              </a:rPr>
              <a:t>尽力而为交付</a:t>
            </a:r>
            <a:endParaRPr lang="en-US" altLang="zh-CN" sz="2600" dirty="0">
              <a:cs typeface="Times New Roman" panose="02020603050405020304" pitchFamily="18" charset="0"/>
            </a:endParaRPr>
          </a:p>
          <a:p>
            <a:pPr lvl="1">
              <a:lnSpc>
                <a:spcPct val="120000"/>
              </a:lnSpc>
            </a:pPr>
            <a:r>
              <a:rPr lang="zh-CN" altLang="en-US" dirty="0"/>
              <a:t>传输网络</a:t>
            </a:r>
            <a:r>
              <a:rPr lang="zh-CN" altLang="en-US" dirty="0">
                <a:solidFill>
                  <a:srgbClr val="C00000"/>
                </a:solidFill>
              </a:rPr>
              <a:t>不提供</a:t>
            </a:r>
            <a:r>
              <a:rPr lang="zh-CN" altLang="en-US" dirty="0"/>
              <a:t>端到端的可靠传输服务：丢包、乱序、错误</a:t>
            </a:r>
            <a:endParaRPr lang="en-US" altLang="zh-CN" dirty="0"/>
          </a:p>
          <a:p>
            <a:pPr lvl="1">
              <a:lnSpc>
                <a:spcPct val="120000"/>
              </a:lnSpc>
            </a:pPr>
            <a:r>
              <a:rPr lang="zh-CN" altLang="en-US" dirty="0">
                <a:latin typeface="+mn-ea"/>
              </a:rPr>
              <a:t>优点：</a:t>
            </a:r>
            <a:r>
              <a:rPr lang="zh-CN" altLang="en-US" dirty="0">
                <a:solidFill>
                  <a:srgbClr val="C00000"/>
                </a:solidFill>
              </a:rPr>
              <a:t>网络的造价大大降低，运行方式灵活，能够适应多种应用</a:t>
            </a:r>
            <a:endParaRPr lang="en-US" altLang="zh-CN" dirty="0">
              <a:solidFill>
                <a:srgbClr val="C00000"/>
              </a:solidFill>
            </a:endParaRPr>
          </a:p>
          <a:p>
            <a:pPr marL="0" lvl="1" indent="0">
              <a:buNone/>
            </a:pPr>
            <a:endParaRPr lang="en-US" altLang="zh-CN" sz="2600" dirty="0">
              <a:cs typeface="Times New Roman" panose="02020603050405020304" pitchFamily="18" charset="0"/>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a:t>
            </a:fld>
            <a:endParaRPr kumimoji="1" lang="zh-CN" altLang="en-US" dirty="0"/>
          </a:p>
        </p:txBody>
      </p:sp>
      <p:sp>
        <p:nvSpPr>
          <p:cNvPr id="5" name="日期占位符 4"/>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5.1.2 </a:t>
            </a:r>
            <a:r>
              <a:rPr kumimoji="1" lang="zh-CN" altLang="en-US" dirty="0">
                <a:latin typeface="DengXian" panose="02010600030101010101" pitchFamily="2" charset="-122"/>
                <a:ea typeface="DengXian" panose="02010600030101010101" pitchFamily="2" charset="-122"/>
              </a:rPr>
              <a:t>无连接服务的实现</a:t>
            </a:r>
          </a:p>
        </p:txBody>
      </p:sp>
    </p:spTree>
    <p:extLst>
      <p:ext uri="{BB962C8B-B14F-4D97-AF65-F5344CB8AC3E}">
        <p14:creationId xmlns:p14="http://schemas.microsoft.com/office/powerpoint/2010/main" val="33105593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solidFill>
                  <a:schemeClr val="dk1"/>
                </a:solidFill>
              </a:rPr>
              <a:t>无连接服务的实现</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10</a:t>
            </a:fld>
            <a:endParaRPr kumimoji="1" lang="zh-CN" altLang="en-US" dirty="0"/>
          </a:p>
        </p:txBody>
      </p:sp>
      <p:sp>
        <p:nvSpPr>
          <p:cNvPr id="5" name="Rectangle 10"/>
          <p:cNvSpPr>
            <a:spLocks noChangeArrowheads="1"/>
          </p:cNvSpPr>
          <p:nvPr/>
        </p:nvSpPr>
        <p:spPr bwMode="auto">
          <a:xfrm>
            <a:off x="1564982" y="2586713"/>
            <a:ext cx="1606303" cy="1673195"/>
          </a:xfrm>
          <a:prstGeom prst="rect">
            <a:avLst/>
          </a:prstGeom>
          <a:solidFill>
            <a:srgbClr val="99FFCC"/>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defTabSz="1219200">
              <a:defRPr/>
            </a:pPr>
            <a:endParaRPr lang="zh-CN" altLang="en-US" sz="2400" b="1" kern="0">
              <a:solidFill>
                <a:srgbClr val="000099"/>
              </a:solidFill>
              <a:ea typeface="黑体" panose="02010609060101010101" pitchFamily="49" charset="-122"/>
            </a:endParaRPr>
          </a:p>
        </p:txBody>
      </p:sp>
      <p:sp>
        <p:nvSpPr>
          <p:cNvPr id="6" name="Rectangle 15"/>
          <p:cNvSpPr>
            <a:spLocks noChangeArrowheads="1"/>
          </p:cNvSpPr>
          <p:nvPr/>
        </p:nvSpPr>
        <p:spPr bwMode="auto">
          <a:xfrm>
            <a:off x="9186693" y="2685033"/>
            <a:ext cx="1604301" cy="1673195"/>
          </a:xfrm>
          <a:prstGeom prst="rect">
            <a:avLst/>
          </a:prstGeom>
          <a:solidFill>
            <a:srgbClr val="00FFFF"/>
          </a:solidFill>
          <a:ln w="28575">
            <a:solidFill>
              <a:srgbClr val="00000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defTabSz="1219200">
              <a:defRPr/>
            </a:pPr>
            <a:endParaRPr lang="zh-CN" altLang="en-US" sz="2400" b="1" kern="0">
              <a:solidFill>
                <a:srgbClr val="000099"/>
              </a:solidFill>
              <a:ea typeface="黑体" panose="02010609060101010101" pitchFamily="49" charset="-122"/>
            </a:endParaRPr>
          </a:p>
        </p:txBody>
      </p:sp>
      <p:sp>
        <p:nvSpPr>
          <p:cNvPr id="7" name="Rectangle 2"/>
          <p:cNvSpPr>
            <a:spLocks noChangeArrowheads="1"/>
          </p:cNvSpPr>
          <p:nvPr/>
        </p:nvSpPr>
        <p:spPr bwMode="auto">
          <a:xfrm>
            <a:off x="9207761" y="3360982"/>
            <a:ext cx="1564293" cy="354653"/>
          </a:xfrm>
          <a:prstGeom prst="rect">
            <a:avLst/>
          </a:prstGeom>
          <a:solidFill>
            <a:srgbClr val="FFFF00"/>
          </a:solidFill>
          <a:ln>
            <a:noFill/>
          </a:ln>
          <a:effectLst/>
        </p:spPr>
        <p:txBody>
          <a:bodyPr wrap="none" lIns="121917" tIns="60958" rIns="121917" bIns="60958" anchor="ctr"/>
          <a:lstStyle/>
          <a:p>
            <a:pPr defTabSz="1219200">
              <a:defRPr/>
            </a:pPr>
            <a:endParaRPr lang="zh-CN" altLang="en-US" sz="2400" b="1" kern="0">
              <a:solidFill>
                <a:srgbClr val="000099"/>
              </a:solidFill>
              <a:ea typeface="黑体" panose="02010609060101010101" pitchFamily="49" charset="-122"/>
            </a:endParaRPr>
          </a:p>
        </p:txBody>
      </p:sp>
      <p:sp>
        <p:nvSpPr>
          <p:cNvPr id="8" name="Rectangle 4"/>
          <p:cNvSpPr>
            <a:spLocks noChangeArrowheads="1"/>
          </p:cNvSpPr>
          <p:nvPr/>
        </p:nvSpPr>
        <p:spPr bwMode="auto">
          <a:xfrm>
            <a:off x="1587808" y="3262662"/>
            <a:ext cx="1564293" cy="354653"/>
          </a:xfrm>
          <a:prstGeom prst="rect">
            <a:avLst/>
          </a:prstGeom>
          <a:solidFill>
            <a:srgbClr val="FFFF00"/>
          </a:solidFill>
          <a:ln>
            <a:noFill/>
          </a:ln>
          <a:effectLst/>
        </p:spPr>
        <p:txBody>
          <a:bodyPr wrap="none" lIns="121917" tIns="60958" rIns="121917" bIns="60958" anchor="ctr"/>
          <a:lstStyle/>
          <a:p>
            <a:pPr defTabSz="1219200">
              <a:defRPr/>
            </a:pPr>
            <a:endParaRPr lang="zh-CN" altLang="en-US" sz="2400" b="1" kern="0">
              <a:solidFill>
                <a:srgbClr val="000099"/>
              </a:solidFill>
              <a:ea typeface="黑体" panose="02010609060101010101" pitchFamily="49" charset="-122"/>
            </a:endParaRPr>
          </a:p>
        </p:txBody>
      </p:sp>
      <p:sp>
        <p:nvSpPr>
          <p:cNvPr id="9" name="Line 7"/>
          <p:cNvSpPr>
            <a:spLocks noChangeShapeType="1"/>
          </p:cNvSpPr>
          <p:nvPr/>
        </p:nvSpPr>
        <p:spPr bwMode="auto">
          <a:xfrm>
            <a:off x="6237097" y="2834269"/>
            <a:ext cx="59695" cy="642591"/>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10" name="AutoShape 8"/>
          <p:cNvSpPr>
            <a:spLocks noChangeArrowheads="1"/>
          </p:cNvSpPr>
          <p:nvPr/>
        </p:nvSpPr>
        <p:spPr bwMode="auto">
          <a:xfrm>
            <a:off x="5136985" y="4062609"/>
            <a:ext cx="904131" cy="840109"/>
          </a:xfrm>
          <a:prstGeom prst="irregularSeal2">
            <a:avLst/>
          </a:prstGeom>
          <a:solidFill>
            <a:srgbClr val="00FFFF"/>
          </a:solidFill>
          <a:ln w="9525">
            <a:solidFill>
              <a:srgbClr val="000000"/>
            </a:solidFill>
            <a:miter lim="800000"/>
          </a:ln>
          <a:effectLst/>
        </p:spPr>
        <p:txBody>
          <a:bodyPr wrap="none" lIns="121917" tIns="60958" rIns="121917" bIns="60958" anchor="ctr"/>
          <a:lstStyle/>
          <a:p>
            <a:pPr defTabSz="1219200">
              <a:defRPr/>
            </a:pPr>
            <a:endParaRPr lang="zh-CN" altLang="en-US" sz="2400" b="1" kern="0">
              <a:solidFill>
                <a:srgbClr val="000099"/>
              </a:solidFill>
              <a:ea typeface="黑体" panose="02010609060101010101" pitchFamily="49" charset="-122"/>
            </a:endParaRPr>
          </a:p>
        </p:txBody>
      </p:sp>
      <p:sp>
        <p:nvSpPr>
          <p:cNvPr id="11" name="Line 9"/>
          <p:cNvSpPr>
            <a:spLocks noChangeShapeType="1"/>
          </p:cNvSpPr>
          <p:nvPr/>
        </p:nvSpPr>
        <p:spPr bwMode="auto">
          <a:xfrm>
            <a:off x="3517500" y="3828002"/>
            <a:ext cx="528469" cy="296715"/>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2100" b="1" kern="0" dirty="0">
              <a:solidFill>
                <a:srgbClr val="000099"/>
              </a:solidFill>
              <a:latin typeface="等线" panose="02010600030101010101" pitchFamily="2" charset="-122"/>
              <a:ea typeface="等线" panose="02010600030101010101" pitchFamily="2" charset="-122"/>
            </a:endParaRPr>
          </a:p>
        </p:txBody>
      </p:sp>
      <p:sp>
        <p:nvSpPr>
          <p:cNvPr id="12" name="Line 11"/>
          <p:cNvSpPr>
            <a:spLocks noChangeShapeType="1"/>
          </p:cNvSpPr>
          <p:nvPr/>
        </p:nvSpPr>
        <p:spPr bwMode="auto">
          <a:xfrm>
            <a:off x="1564982" y="2943123"/>
            <a:ext cx="16063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13" name="Line 12"/>
          <p:cNvSpPr>
            <a:spLocks noChangeShapeType="1"/>
          </p:cNvSpPr>
          <p:nvPr/>
        </p:nvSpPr>
        <p:spPr bwMode="auto">
          <a:xfrm>
            <a:off x="1564982" y="3273197"/>
            <a:ext cx="16063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14" name="Line 13"/>
          <p:cNvSpPr>
            <a:spLocks noChangeShapeType="1"/>
          </p:cNvSpPr>
          <p:nvPr/>
        </p:nvSpPr>
        <p:spPr bwMode="auto">
          <a:xfrm>
            <a:off x="1564982" y="3603270"/>
            <a:ext cx="16063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15" name="Line 14"/>
          <p:cNvSpPr>
            <a:spLocks noChangeShapeType="1"/>
          </p:cNvSpPr>
          <p:nvPr/>
        </p:nvSpPr>
        <p:spPr bwMode="auto">
          <a:xfrm>
            <a:off x="1564982" y="3936855"/>
            <a:ext cx="1606303"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16" name="Line 16"/>
          <p:cNvSpPr>
            <a:spLocks noChangeShapeType="1"/>
          </p:cNvSpPr>
          <p:nvPr/>
        </p:nvSpPr>
        <p:spPr bwMode="auto">
          <a:xfrm>
            <a:off x="9186693" y="3041442"/>
            <a:ext cx="160430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17" name="Line 17"/>
          <p:cNvSpPr>
            <a:spLocks noChangeShapeType="1"/>
          </p:cNvSpPr>
          <p:nvPr/>
        </p:nvSpPr>
        <p:spPr bwMode="auto">
          <a:xfrm>
            <a:off x="9186693" y="3371517"/>
            <a:ext cx="160430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18" name="Line 18"/>
          <p:cNvSpPr>
            <a:spLocks noChangeShapeType="1"/>
          </p:cNvSpPr>
          <p:nvPr/>
        </p:nvSpPr>
        <p:spPr bwMode="auto">
          <a:xfrm>
            <a:off x="9186693" y="3701590"/>
            <a:ext cx="160430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19" name="Line 19"/>
          <p:cNvSpPr>
            <a:spLocks noChangeShapeType="1"/>
          </p:cNvSpPr>
          <p:nvPr/>
        </p:nvSpPr>
        <p:spPr bwMode="auto">
          <a:xfrm>
            <a:off x="9186693" y="4035175"/>
            <a:ext cx="1604301" cy="0"/>
          </a:xfrm>
          <a:prstGeom prst="line">
            <a:avLst/>
          </a:prstGeom>
          <a:noFill/>
          <a:ln w="9525">
            <a:solidFill>
              <a:srgbClr val="00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20" name="Text Box 20"/>
          <p:cNvSpPr txBox="1">
            <a:spLocks noChangeArrowheads="1"/>
          </p:cNvSpPr>
          <p:nvPr/>
        </p:nvSpPr>
        <p:spPr bwMode="auto">
          <a:xfrm>
            <a:off x="3341927" y="2709173"/>
            <a:ext cx="555595" cy="446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defTabSz="1219200">
              <a:defRPr/>
            </a:pPr>
            <a:r>
              <a:rPr lang="en-US" altLang="zh-CN" sz="2100" b="1" kern="0" dirty="0">
                <a:latin typeface="等线" panose="02010600030101010101" pitchFamily="2" charset="-122"/>
                <a:ea typeface="等线" panose="02010600030101010101" pitchFamily="2" charset="-122"/>
              </a:rPr>
              <a:t>H</a:t>
            </a:r>
            <a:r>
              <a:rPr lang="en-US" altLang="zh-CN" sz="2100" b="1" kern="0" baseline="-25000" dirty="0">
                <a:latin typeface="等线" panose="02010600030101010101" pitchFamily="2" charset="-122"/>
                <a:ea typeface="等线" panose="02010600030101010101" pitchFamily="2" charset="-122"/>
              </a:rPr>
              <a:t>1</a:t>
            </a:r>
          </a:p>
        </p:txBody>
      </p:sp>
      <p:sp>
        <p:nvSpPr>
          <p:cNvPr id="21" name="Line 22"/>
          <p:cNvSpPr>
            <a:spLocks noChangeShapeType="1"/>
          </p:cNvSpPr>
          <p:nvPr/>
        </p:nvSpPr>
        <p:spPr bwMode="auto">
          <a:xfrm>
            <a:off x="4397110" y="4124717"/>
            <a:ext cx="1671437" cy="693507"/>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2100" b="1" kern="0" dirty="0">
              <a:solidFill>
                <a:srgbClr val="000099"/>
              </a:solidFill>
              <a:latin typeface="等线" panose="02010600030101010101" pitchFamily="2" charset="-122"/>
              <a:ea typeface="等线" panose="02010600030101010101" pitchFamily="2" charset="-122"/>
            </a:endParaRPr>
          </a:p>
        </p:txBody>
      </p:sp>
      <p:sp>
        <p:nvSpPr>
          <p:cNvPr id="22" name="Line 23"/>
          <p:cNvSpPr>
            <a:spLocks noChangeShapeType="1"/>
          </p:cNvSpPr>
          <p:nvPr/>
        </p:nvSpPr>
        <p:spPr bwMode="auto">
          <a:xfrm flipV="1">
            <a:off x="4309325" y="3627851"/>
            <a:ext cx="1936551" cy="496865"/>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2100" b="1" kern="0" dirty="0">
              <a:solidFill>
                <a:srgbClr val="000099"/>
              </a:solidFill>
              <a:latin typeface="等线" panose="02010600030101010101" pitchFamily="2" charset="-122"/>
              <a:ea typeface="等线" panose="02010600030101010101" pitchFamily="2" charset="-122"/>
            </a:endParaRPr>
          </a:p>
        </p:txBody>
      </p:sp>
      <p:sp>
        <p:nvSpPr>
          <p:cNvPr id="23" name="Line 24"/>
          <p:cNvSpPr>
            <a:spLocks noChangeShapeType="1"/>
          </p:cNvSpPr>
          <p:nvPr/>
        </p:nvSpPr>
        <p:spPr bwMode="auto">
          <a:xfrm>
            <a:off x="6419690" y="3627851"/>
            <a:ext cx="1585408" cy="595185"/>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2100" b="1" kern="0" dirty="0">
              <a:solidFill>
                <a:srgbClr val="000099"/>
              </a:solidFill>
              <a:latin typeface="等线" panose="02010600030101010101" pitchFamily="2" charset="-122"/>
              <a:ea typeface="等线" panose="02010600030101010101" pitchFamily="2" charset="-122"/>
            </a:endParaRPr>
          </a:p>
        </p:txBody>
      </p:sp>
      <p:sp>
        <p:nvSpPr>
          <p:cNvPr id="24" name="Line 25"/>
          <p:cNvSpPr>
            <a:spLocks noChangeShapeType="1"/>
          </p:cNvSpPr>
          <p:nvPr/>
        </p:nvSpPr>
        <p:spPr bwMode="auto">
          <a:xfrm flipV="1">
            <a:off x="6245875" y="4323113"/>
            <a:ext cx="1759224" cy="495111"/>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2100" b="1" kern="0" dirty="0">
              <a:solidFill>
                <a:srgbClr val="000099"/>
              </a:solidFill>
              <a:latin typeface="等线" panose="02010600030101010101" pitchFamily="2" charset="-122"/>
              <a:ea typeface="等线" panose="02010600030101010101" pitchFamily="2" charset="-122"/>
            </a:endParaRPr>
          </a:p>
        </p:txBody>
      </p:sp>
      <p:sp>
        <p:nvSpPr>
          <p:cNvPr id="25" name="Line 26"/>
          <p:cNvSpPr>
            <a:spLocks noChangeShapeType="1"/>
          </p:cNvSpPr>
          <p:nvPr/>
        </p:nvSpPr>
        <p:spPr bwMode="auto">
          <a:xfrm flipV="1">
            <a:off x="8091129" y="3828002"/>
            <a:ext cx="704041" cy="395035"/>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2100" b="1" kern="0" dirty="0">
              <a:solidFill>
                <a:srgbClr val="000099"/>
              </a:solidFill>
              <a:latin typeface="等线" panose="02010600030101010101" pitchFamily="2" charset="-122"/>
              <a:ea typeface="等线" panose="02010600030101010101" pitchFamily="2" charset="-122"/>
            </a:endParaRPr>
          </a:p>
        </p:txBody>
      </p:sp>
      <p:sp>
        <p:nvSpPr>
          <p:cNvPr id="26" name="Text Box 28"/>
          <p:cNvSpPr txBox="1">
            <a:spLocks noChangeArrowheads="1"/>
          </p:cNvSpPr>
          <p:nvPr/>
        </p:nvSpPr>
        <p:spPr bwMode="auto">
          <a:xfrm>
            <a:off x="8399021" y="2709174"/>
            <a:ext cx="629333" cy="446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defTabSz="1219200">
              <a:defRPr/>
            </a:pPr>
            <a:r>
              <a:rPr lang="en-US" altLang="zh-CN" sz="2100" b="1" kern="0" dirty="0">
                <a:latin typeface="等线" panose="02010600030101010101" pitchFamily="2" charset="-122"/>
                <a:ea typeface="等线" panose="02010600030101010101" pitchFamily="2" charset="-122"/>
              </a:rPr>
              <a:t> H</a:t>
            </a:r>
            <a:r>
              <a:rPr lang="en-US" altLang="zh-CN" sz="2100" b="1" kern="0" baseline="-25000" dirty="0">
                <a:latin typeface="等线" panose="02010600030101010101" pitchFamily="2" charset="-122"/>
                <a:ea typeface="等线" panose="02010600030101010101" pitchFamily="2" charset="-122"/>
              </a:rPr>
              <a:t>2</a:t>
            </a:r>
          </a:p>
        </p:txBody>
      </p:sp>
      <p:sp>
        <p:nvSpPr>
          <p:cNvPr id="27" name="Line 30"/>
          <p:cNvSpPr>
            <a:spLocks noChangeShapeType="1"/>
          </p:cNvSpPr>
          <p:nvPr/>
        </p:nvSpPr>
        <p:spPr bwMode="auto">
          <a:xfrm flipV="1">
            <a:off x="4309326" y="2735949"/>
            <a:ext cx="1847009" cy="1290448"/>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2100" b="1" kern="0" dirty="0">
              <a:solidFill>
                <a:srgbClr val="000099"/>
              </a:solidFill>
              <a:latin typeface="等线" panose="02010600030101010101" pitchFamily="2" charset="-122"/>
              <a:ea typeface="等线" panose="02010600030101010101" pitchFamily="2" charset="-122"/>
            </a:endParaRPr>
          </a:p>
        </p:txBody>
      </p:sp>
      <p:sp>
        <p:nvSpPr>
          <p:cNvPr id="28" name="Line 31"/>
          <p:cNvSpPr>
            <a:spLocks noChangeShapeType="1"/>
          </p:cNvSpPr>
          <p:nvPr/>
        </p:nvSpPr>
        <p:spPr bwMode="auto">
          <a:xfrm>
            <a:off x="6331905" y="2735949"/>
            <a:ext cx="1759224" cy="1388768"/>
          </a:xfrm>
          <a:prstGeom prst="line">
            <a:avLst/>
          </a:prstGeom>
          <a:noFill/>
          <a:ln w="19050">
            <a:solidFill>
              <a:srgbClr val="0000FF"/>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2100" b="1" kern="0" dirty="0">
              <a:solidFill>
                <a:srgbClr val="000099"/>
              </a:solidFill>
              <a:latin typeface="等线" panose="02010600030101010101" pitchFamily="2" charset="-122"/>
              <a:ea typeface="等线" panose="02010600030101010101" pitchFamily="2" charset="-122"/>
            </a:endParaRPr>
          </a:p>
        </p:txBody>
      </p:sp>
      <p:pic>
        <p:nvPicPr>
          <p:cNvPr id="29" name="Picture 3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37114" y="3926322"/>
            <a:ext cx="635568" cy="395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0" name="Picture 3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80763" y="3431211"/>
            <a:ext cx="637324" cy="396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1" name="Picture 3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5191" y="4621583"/>
            <a:ext cx="635568" cy="395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2" name="Picture 3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39987" y="4026397"/>
            <a:ext cx="637324" cy="395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33" name="Picture 3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91222" y="2537553"/>
            <a:ext cx="637323" cy="3950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grpSp>
        <p:nvGrpSpPr>
          <p:cNvPr id="34" name="Group 37"/>
          <p:cNvGrpSpPr/>
          <p:nvPr/>
        </p:nvGrpSpPr>
        <p:grpSpPr bwMode="auto">
          <a:xfrm rot="1386369">
            <a:off x="3605285" y="4024641"/>
            <a:ext cx="331829" cy="143968"/>
            <a:chOff x="2064" y="1776"/>
            <a:chExt cx="171" cy="66"/>
          </a:xfrm>
          <a:solidFill>
            <a:srgbClr val="CC00CC"/>
          </a:solidFill>
        </p:grpSpPr>
        <p:sp>
          <p:nvSpPr>
            <p:cNvPr id="35" name="Rectangle 38"/>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36" name="Line 39"/>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grpSp>
        <p:nvGrpSpPr>
          <p:cNvPr id="37" name="Group 40"/>
          <p:cNvGrpSpPr/>
          <p:nvPr/>
        </p:nvGrpSpPr>
        <p:grpSpPr bwMode="auto">
          <a:xfrm rot="20724003">
            <a:off x="6772589" y="4421433"/>
            <a:ext cx="331829" cy="143968"/>
            <a:chOff x="2064" y="1776"/>
            <a:chExt cx="171" cy="66"/>
          </a:xfrm>
          <a:solidFill>
            <a:srgbClr val="CC00CC"/>
          </a:solidFill>
        </p:grpSpPr>
        <p:sp>
          <p:nvSpPr>
            <p:cNvPr id="38" name="Rectangle 41"/>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39" name="Line 42"/>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grpSp>
        <p:nvGrpSpPr>
          <p:cNvPr id="40" name="Group 43"/>
          <p:cNvGrpSpPr/>
          <p:nvPr/>
        </p:nvGrpSpPr>
        <p:grpSpPr bwMode="auto">
          <a:xfrm rot="20084499">
            <a:off x="8268456" y="3828002"/>
            <a:ext cx="331829" cy="143968"/>
            <a:chOff x="2064" y="1776"/>
            <a:chExt cx="171" cy="66"/>
          </a:xfrm>
          <a:solidFill>
            <a:srgbClr val="CC00CC"/>
          </a:solidFill>
        </p:grpSpPr>
        <p:sp>
          <p:nvSpPr>
            <p:cNvPr id="41" name="Rectangle 44"/>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42" name="Line 45"/>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grpSp>
        <p:nvGrpSpPr>
          <p:cNvPr id="43" name="Group 46"/>
          <p:cNvGrpSpPr/>
          <p:nvPr/>
        </p:nvGrpSpPr>
        <p:grpSpPr bwMode="auto">
          <a:xfrm rot="19662556">
            <a:off x="5013366" y="3132739"/>
            <a:ext cx="331829" cy="143968"/>
            <a:chOff x="2064" y="1776"/>
            <a:chExt cx="171" cy="66"/>
          </a:xfrm>
          <a:solidFill>
            <a:srgbClr val="CC00CC"/>
          </a:solidFill>
        </p:grpSpPr>
        <p:sp>
          <p:nvSpPr>
            <p:cNvPr id="44" name="Rectangle 47"/>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45" name="Line 48"/>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grpSp>
        <p:nvGrpSpPr>
          <p:cNvPr id="46" name="Group 49"/>
          <p:cNvGrpSpPr/>
          <p:nvPr/>
        </p:nvGrpSpPr>
        <p:grpSpPr bwMode="auto">
          <a:xfrm rot="2078388">
            <a:off x="6860374" y="3032664"/>
            <a:ext cx="331829" cy="145724"/>
            <a:chOff x="2064" y="1776"/>
            <a:chExt cx="171" cy="66"/>
          </a:xfrm>
          <a:solidFill>
            <a:srgbClr val="CC00CC"/>
          </a:solidFill>
        </p:grpSpPr>
        <p:sp>
          <p:nvSpPr>
            <p:cNvPr id="47" name="Rectangle 50"/>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48" name="Line 51"/>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grpSp>
        <p:nvGrpSpPr>
          <p:cNvPr id="49" name="Group 52"/>
          <p:cNvGrpSpPr/>
          <p:nvPr/>
        </p:nvGrpSpPr>
        <p:grpSpPr bwMode="auto">
          <a:xfrm rot="1117181">
            <a:off x="5452294" y="4421433"/>
            <a:ext cx="331829" cy="143968"/>
            <a:chOff x="2064" y="1776"/>
            <a:chExt cx="171" cy="66"/>
          </a:xfrm>
          <a:solidFill>
            <a:srgbClr val="CC00CC"/>
          </a:solidFill>
        </p:grpSpPr>
        <p:sp>
          <p:nvSpPr>
            <p:cNvPr id="50" name="Rectangle 53"/>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51" name="Line 54"/>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grpSp>
        <p:nvGrpSpPr>
          <p:cNvPr id="52" name="Group 55"/>
          <p:cNvGrpSpPr/>
          <p:nvPr/>
        </p:nvGrpSpPr>
        <p:grpSpPr bwMode="auto">
          <a:xfrm rot="20669726">
            <a:off x="5561148" y="3529530"/>
            <a:ext cx="330073" cy="143968"/>
            <a:chOff x="2064" y="1776"/>
            <a:chExt cx="171" cy="66"/>
          </a:xfrm>
          <a:solidFill>
            <a:srgbClr val="CC00CC"/>
          </a:solidFill>
        </p:grpSpPr>
        <p:sp>
          <p:nvSpPr>
            <p:cNvPr id="53" name="Rectangle 56"/>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54" name="Line 57"/>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grpSp>
        <p:nvGrpSpPr>
          <p:cNvPr id="55" name="Group 58"/>
          <p:cNvGrpSpPr/>
          <p:nvPr/>
        </p:nvGrpSpPr>
        <p:grpSpPr bwMode="auto">
          <a:xfrm rot="1197535">
            <a:off x="4750009" y="4124717"/>
            <a:ext cx="331829" cy="143968"/>
            <a:chOff x="2064" y="1776"/>
            <a:chExt cx="171" cy="66"/>
          </a:xfrm>
          <a:solidFill>
            <a:srgbClr val="CC00CC"/>
          </a:solidFill>
        </p:grpSpPr>
        <p:sp>
          <p:nvSpPr>
            <p:cNvPr id="56" name="Rectangle 59"/>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57" name="Line 60"/>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sp>
        <p:nvSpPr>
          <p:cNvPr id="58" name="Line 61"/>
          <p:cNvSpPr>
            <a:spLocks noChangeShapeType="1"/>
          </p:cNvSpPr>
          <p:nvPr/>
        </p:nvSpPr>
        <p:spPr bwMode="auto">
          <a:xfrm>
            <a:off x="2786958" y="3529531"/>
            <a:ext cx="774432" cy="536252"/>
          </a:xfrm>
          <a:prstGeom prst="line">
            <a:avLst/>
          </a:prstGeom>
          <a:noFill/>
          <a:ln w="38100">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grpSp>
        <p:nvGrpSpPr>
          <p:cNvPr id="59" name="Group 62"/>
          <p:cNvGrpSpPr/>
          <p:nvPr/>
        </p:nvGrpSpPr>
        <p:grpSpPr bwMode="auto">
          <a:xfrm rot="1022761">
            <a:off x="7035946" y="3726170"/>
            <a:ext cx="331829" cy="143968"/>
            <a:chOff x="2064" y="1776"/>
            <a:chExt cx="171" cy="66"/>
          </a:xfrm>
          <a:solidFill>
            <a:srgbClr val="CC00CC"/>
          </a:solidFill>
        </p:grpSpPr>
        <p:sp>
          <p:nvSpPr>
            <p:cNvPr id="60" name="Rectangle 63"/>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61" name="Line 64"/>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sp>
        <p:nvSpPr>
          <p:cNvPr id="62" name="Line 65"/>
          <p:cNvSpPr>
            <a:spLocks noChangeShapeType="1"/>
          </p:cNvSpPr>
          <p:nvPr/>
        </p:nvSpPr>
        <p:spPr bwMode="auto">
          <a:xfrm flipV="1">
            <a:off x="8268456" y="3529531"/>
            <a:ext cx="1144724" cy="791825"/>
          </a:xfrm>
          <a:prstGeom prst="line">
            <a:avLst/>
          </a:prstGeom>
          <a:noFill/>
          <a:ln w="38100">
            <a:solidFill>
              <a:srgbClr val="FF00FF"/>
            </a:solidFill>
            <a:rou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pPr defTabSz="1219200">
              <a:defRPr/>
            </a:pPr>
            <a:endParaRPr lang="zh-CN" altLang="en-US" sz="2400" b="1" kern="0">
              <a:solidFill>
                <a:srgbClr val="000099"/>
              </a:solidFill>
              <a:ea typeface="黑体" panose="02010609060101010101" pitchFamily="49" charset="-122"/>
            </a:endParaRPr>
          </a:p>
        </p:txBody>
      </p:sp>
      <p:sp>
        <p:nvSpPr>
          <p:cNvPr id="63" name="Text Box 66"/>
          <p:cNvSpPr txBox="1">
            <a:spLocks noChangeArrowheads="1"/>
          </p:cNvSpPr>
          <p:nvPr/>
        </p:nvSpPr>
        <p:spPr bwMode="auto">
          <a:xfrm>
            <a:off x="4226807" y="2714881"/>
            <a:ext cx="1363509" cy="446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defTabSz="1219200">
              <a:defRPr/>
            </a:pPr>
            <a:r>
              <a:rPr lang="en-US" altLang="zh-CN" sz="2100" b="1" kern="0" dirty="0">
                <a:latin typeface="等线" panose="02010600030101010101" pitchFamily="2" charset="-122"/>
                <a:ea typeface="等线" panose="02010600030101010101" pitchFamily="2" charset="-122"/>
              </a:rPr>
              <a:t>IP </a:t>
            </a:r>
            <a:r>
              <a:rPr lang="zh-CN" altLang="en-US" sz="2100" kern="0" dirty="0">
                <a:latin typeface="等线" panose="02010600030101010101" pitchFamily="2" charset="-122"/>
                <a:ea typeface="等线" panose="02010600030101010101" pitchFamily="2" charset="-122"/>
              </a:rPr>
              <a:t>数据包</a:t>
            </a:r>
            <a:endParaRPr lang="zh-CN" altLang="en-US" sz="2100" kern="0" baseline="-25000" dirty="0">
              <a:latin typeface="等线" panose="02010600030101010101" pitchFamily="2" charset="-122"/>
              <a:ea typeface="等线" panose="02010600030101010101" pitchFamily="2" charset="-122"/>
            </a:endParaRPr>
          </a:p>
        </p:txBody>
      </p:sp>
      <p:sp>
        <p:nvSpPr>
          <p:cNvPr id="64" name="Text Box 67"/>
          <p:cNvSpPr txBox="1">
            <a:spLocks noChangeArrowheads="1"/>
          </p:cNvSpPr>
          <p:nvPr/>
        </p:nvSpPr>
        <p:spPr bwMode="auto">
          <a:xfrm>
            <a:off x="5875420" y="4100137"/>
            <a:ext cx="793380" cy="451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defTabSz="1219200">
              <a:defRPr/>
            </a:pPr>
            <a:r>
              <a:rPr lang="zh-CN" altLang="en-US" sz="2100" kern="0" dirty="0">
                <a:latin typeface="等线" panose="02010600030101010101" pitchFamily="2" charset="-122"/>
                <a:ea typeface="等线" panose="02010600030101010101" pitchFamily="2" charset="-122"/>
              </a:rPr>
              <a:t>丢失</a:t>
            </a:r>
          </a:p>
        </p:txBody>
      </p:sp>
      <p:grpSp>
        <p:nvGrpSpPr>
          <p:cNvPr id="65" name="Group 68"/>
          <p:cNvGrpSpPr/>
          <p:nvPr/>
        </p:nvGrpSpPr>
        <p:grpSpPr bwMode="auto">
          <a:xfrm rot="5035623">
            <a:off x="6200228" y="3099381"/>
            <a:ext cx="373967" cy="128167"/>
            <a:chOff x="2064" y="1776"/>
            <a:chExt cx="171" cy="66"/>
          </a:xfrm>
          <a:solidFill>
            <a:srgbClr val="CC00CC"/>
          </a:solidFill>
        </p:grpSpPr>
        <p:sp>
          <p:nvSpPr>
            <p:cNvPr id="66" name="Rectangle 69"/>
            <p:cNvSpPr>
              <a:spLocks noChangeArrowheads="1"/>
            </p:cNvSpPr>
            <p:nvPr/>
          </p:nvSpPr>
          <p:spPr bwMode="auto">
            <a:xfrm>
              <a:off x="2064" y="1776"/>
              <a:ext cx="90" cy="66"/>
            </a:xfrm>
            <a:prstGeom prst="rect">
              <a:avLst/>
            </a:prstGeom>
            <a:grpFill/>
            <a:ln w="9525">
              <a:solidFill>
                <a:srgbClr val="CC00CC"/>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defTabSz="1219200">
                <a:defRPr/>
              </a:pPr>
              <a:endParaRPr lang="zh-CN" altLang="en-US" sz="2400" b="1" kern="0">
                <a:solidFill>
                  <a:srgbClr val="000099"/>
                </a:solidFill>
                <a:ea typeface="黑体" panose="02010609060101010101" pitchFamily="49" charset="-122"/>
              </a:endParaRPr>
            </a:p>
          </p:txBody>
        </p:sp>
        <p:sp>
          <p:nvSpPr>
            <p:cNvPr id="67" name="Line 70"/>
            <p:cNvSpPr>
              <a:spLocks noChangeShapeType="1"/>
            </p:cNvSpPr>
            <p:nvPr/>
          </p:nvSpPr>
          <p:spPr bwMode="auto">
            <a:xfrm flipV="1">
              <a:off x="2118" y="1808"/>
              <a:ext cx="117" cy="3"/>
            </a:xfrm>
            <a:prstGeom prst="line">
              <a:avLst/>
            </a:prstGeom>
            <a:grpFill/>
            <a:ln w="9525">
              <a:solidFill>
                <a:srgbClr val="CC00CC"/>
              </a:solidFill>
              <a:round/>
              <a:tailEnd type="triangle" w="sm"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1219200">
                <a:defRPr/>
              </a:pPr>
              <a:endParaRPr lang="zh-CN" altLang="en-US" sz="2400" b="1" kern="0">
                <a:solidFill>
                  <a:srgbClr val="000099"/>
                </a:solidFill>
                <a:ea typeface="黑体" panose="02010609060101010101" pitchFamily="49" charset="-122"/>
              </a:endParaRPr>
            </a:p>
          </p:txBody>
        </p:sp>
      </p:grpSp>
      <p:sp>
        <p:nvSpPr>
          <p:cNvPr id="68" name="Text Box 5"/>
          <p:cNvSpPr txBox="1">
            <a:spLocks noChangeArrowheads="1"/>
          </p:cNvSpPr>
          <p:nvPr/>
        </p:nvSpPr>
        <p:spPr bwMode="auto">
          <a:xfrm>
            <a:off x="1472644" y="2588908"/>
            <a:ext cx="1858724" cy="174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pPr algn="ctr">
              <a:lnSpc>
                <a:spcPts val="2535"/>
              </a:lnSpc>
              <a:defRPr/>
            </a:pPr>
            <a:r>
              <a:rPr lang="zh-CN" altLang="en-US" sz="1700" kern="0" dirty="0">
                <a:latin typeface="等线" panose="02010600030101010101" pitchFamily="2" charset="-122"/>
                <a:ea typeface="等线" panose="02010600030101010101" pitchFamily="2" charset="-122"/>
              </a:rPr>
              <a:t> </a:t>
            </a:r>
          </a:p>
          <a:p>
            <a:pPr algn="ctr">
              <a:lnSpc>
                <a:spcPts val="2535"/>
              </a:lnSpc>
              <a:defRPr/>
            </a:pPr>
            <a:r>
              <a:rPr lang="zh-CN" altLang="en-US" sz="1700" kern="0" dirty="0">
                <a:latin typeface="等线" panose="02010600030101010101" pitchFamily="2" charset="-122"/>
                <a:ea typeface="等线" panose="02010600030101010101" pitchFamily="2" charset="-122"/>
              </a:rPr>
              <a:t> </a:t>
            </a:r>
          </a:p>
          <a:p>
            <a:pPr algn="ctr">
              <a:lnSpc>
                <a:spcPts val="2535"/>
              </a:lnSpc>
              <a:defRPr/>
            </a:pPr>
            <a:r>
              <a:rPr lang="zh-CN" altLang="en-US" sz="2000" kern="0" dirty="0">
                <a:latin typeface="等线" panose="02010600030101010101" pitchFamily="2" charset="-122"/>
                <a:ea typeface="等线" panose="02010600030101010101" pitchFamily="2" charset="-122"/>
              </a:rPr>
              <a:t>网络层</a:t>
            </a:r>
          </a:p>
          <a:p>
            <a:pPr algn="ctr">
              <a:lnSpc>
                <a:spcPts val="2535"/>
              </a:lnSpc>
              <a:defRPr/>
            </a:pPr>
            <a:r>
              <a:rPr lang="zh-CN" altLang="en-US" sz="1700" kern="0" dirty="0">
                <a:latin typeface="等线" panose="02010600030101010101" pitchFamily="2" charset="-122"/>
                <a:ea typeface="等线" panose="02010600030101010101" pitchFamily="2" charset="-122"/>
              </a:rPr>
              <a:t> </a:t>
            </a:r>
          </a:p>
          <a:p>
            <a:pPr algn="ctr">
              <a:lnSpc>
                <a:spcPts val="2535"/>
              </a:lnSpc>
              <a:defRPr/>
            </a:pPr>
            <a:r>
              <a:rPr lang="zh-CN" altLang="en-US" sz="1700" kern="0" dirty="0">
                <a:latin typeface="等线" panose="02010600030101010101" pitchFamily="2" charset="-122"/>
                <a:ea typeface="等线" panose="02010600030101010101" pitchFamily="2" charset="-122"/>
              </a:rPr>
              <a:t> </a:t>
            </a:r>
          </a:p>
        </p:txBody>
      </p:sp>
      <p:pic>
        <p:nvPicPr>
          <p:cNvPr id="69"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28773" y="3106650"/>
            <a:ext cx="761800" cy="761800"/>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71019" y="3106650"/>
            <a:ext cx="761800" cy="761800"/>
          </a:xfrm>
          <a:prstGeom prst="rect">
            <a:avLst/>
          </a:prstGeom>
          <a:noFill/>
          <a:extLst>
            <a:ext uri="{909E8E84-426E-40DD-AFC4-6F175D3DCCD1}">
              <a14:hiddenFill xmlns:a14="http://schemas.microsoft.com/office/drawing/2010/main">
                <a:solidFill>
                  <a:srgbClr val="FFFFFF"/>
                </a:solidFill>
              </a14:hiddenFill>
            </a:ext>
          </a:extLst>
        </p:spPr>
      </p:pic>
      <p:sp>
        <p:nvSpPr>
          <p:cNvPr id="71" name="Text Box 3"/>
          <p:cNvSpPr txBox="1">
            <a:spLocks noChangeArrowheads="1"/>
          </p:cNvSpPr>
          <p:nvPr/>
        </p:nvSpPr>
        <p:spPr bwMode="auto">
          <a:xfrm>
            <a:off x="9090841" y="2669671"/>
            <a:ext cx="1858724" cy="1747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pPr algn="ctr">
              <a:lnSpc>
                <a:spcPts val="2535"/>
              </a:lnSpc>
              <a:defRPr/>
            </a:pPr>
            <a:r>
              <a:rPr lang="zh-CN" altLang="en-US" sz="1700" kern="0" dirty="0">
                <a:latin typeface="等线" panose="02010600030101010101" pitchFamily="2" charset="-122"/>
                <a:ea typeface="等线" panose="02010600030101010101" pitchFamily="2" charset="-122"/>
              </a:rPr>
              <a:t> </a:t>
            </a:r>
          </a:p>
          <a:p>
            <a:pPr algn="ctr">
              <a:lnSpc>
                <a:spcPts val="2535"/>
              </a:lnSpc>
              <a:defRPr/>
            </a:pPr>
            <a:r>
              <a:rPr lang="zh-CN" altLang="en-US" sz="1700" kern="0" dirty="0">
                <a:latin typeface="等线" panose="02010600030101010101" pitchFamily="2" charset="-122"/>
                <a:ea typeface="等线" panose="02010600030101010101" pitchFamily="2" charset="-122"/>
              </a:rPr>
              <a:t> </a:t>
            </a:r>
          </a:p>
          <a:p>
            <a:pPr algn="ctr">
              <a:lnSpc>
                <a:spcPts val="2535"/>
              </a:lnSpc>
              <a:defRPr/>
            </a:pPr>
            <a:r>
              <a:rPr lang="zh-CN" altLang="en-US" sz="2000" kern="0" dirty="0">
                <a:latin typeface="等线" panose="02010600030101010101" pitchFamily="2" charset="-122"/>
                <a:ea typeface="等线" panose="02010600030101010101" pitchFamily="2" charset="-122"/>
              </a:rPr>
              <a:t>网络层</a:t>
            </a:r>
          </a:p>
          <a:p>
            <a:pPr algn="ctr">
              <a:lnSpc>
                <a:spcPts val="2535"/>
              </a:lnSpc>
              <a:defRPr/>
            </a:pPr>
            <a:r>
              <a:rPr lang="zh-CN" altLang="en-US" sz="1700" kern="0" dirty="0">
                <a:latin typeface="等线" panose="02010600030101010101" pitchFamily="2" charset="-122"/>
                <a:ea typeface="等线" panose="02010600030101010101" pitchFamily="2" charset="-122"/>
              </a:rPr>
              <a:t> </a:t>
            </a:r>
          </a:p>
          <a:p>
            <a:pPr algn="ctr">
              <a:lnSpc>
                <a:spcPts val="2535"/>
              </a:lnSpc>
              <a:defRPr/>
            </a:pPr>
            <a:r>
              <a:rPr lang="zh-CN" altLang="en-US" sz="1700" kern="0" dirty="0">
                <a:latin typeface="等线" panose="02010600030101010101" pitchFamily="2" charset="-122"/>
                <a:ea typeface="等线" panose="02010600030101010101" pitchFamily="2" charset="-122"/>
              </a:rPr>
              <a:t> </a:t>
            </a:r>
          </a:p>
        </p:txBody>
      </p:sp>
      <p:sp>
        <p:nvSpPr>
          <p:cNvPr id="72" name="Text Box 38"/>
          <p:cNvSpPr txBox="1">
            <a:spLocks noChangeArrowheads="1"/>
          </p:cNvSpPr>
          <p:nvPr/>
        </p:nvSpPr>
        <p:spPr bwMode="auto">
          <a:xfrm>
            <a:off x="3374705" y="5373469"/>
            <a:ext cx="5443152" cy="738660"/>
          </a:xfrm>
          <a:prstGeom prst="rect">
            <a:avLst/>
          </a:prstGeom>
          <a:noFill/>
          <a:ln w="9525">
            <a:solidFill>
              <a:srgbClr val="3333CC"/>
            </a:solidFill>
            <a:miter lim="800000"/>
          </a:ln>
          <a:effectLst/>
        </p:spPr>
        <p:txBody>
          <a:bodyPr wrap="none" lIns="121917" tIns="60958" rIns="121917" bIns="60958">
            <a:spAutoFit/>
          </a:bodyPr>
          <a:lstStyle/>
          <a:p>
            <a:pPr lvl="0" algn="ctr">
              <a:defRPr/>
            </a:pPr>
            <a:r>
              <a:rPr lang="en-US" altLang="zh-CN" sz="2000" kern="0" dirty="0">
                <a:latin typeface="等线" panose="02010600030101010101" pitchFamily="2" charset="-122"/>
                <a:ea typeface="等线" panose="02010600030101010101" pitchFamily="2" charset="-122"/>
              </a:rPr>
              <a:t>H1 </a:t>
            </a:r>
            <a:r>
              <a:rPr lang="zh-CN" altLang="en-US" sz="2000" kern="0" dirty="0">
                <a:latin typeface="等线" panose="02010600030101010101" pitchFamily="2" charset="-122"/>
                <a:ea typeface="等线" panose="02010600030101010101" pitchFamily="2" charset="-122"/>
              </a:rPr>
              <a:t>发送给 </a:t>
            </a:r>
            <a:r>
              <a:rPr lang="en-US" altLang="zh-CN" sz="2000" kern="0" dirty="0">
                <a:latin typeface="等线" panose="02010600030101010101" pitchFamily="2" charset="-122"/>
                <a:ea typeface="等线" panose="02010600030101010101" pitchFamily="2" charset="-122"/>
              </a:rPr>
              <a:t>H2 </a:t>
            </a:r>
            <a:r>
              <a:rPr lang="zh-CN" altLang="en-US" sz="2000" kern="0" dirty="0">
                <a:latin typeface="等线" panose="02010600030101010101" pitchFamily="2" charset="-122"/>
                <a:ea typeface="等线" panose="02010600030101010101" pitchFamily="2" charset="-122"/>
              </a:rPr>
              <a:t>的数据包可能沿着不同路径传送</a:t>
            </a:r>
            <a:endParaRPr lang="en-US" altLang="zh-CN" sz="2000" kern="0" dirty="0">
              <a:latin typeface="等线" panose="02010600030101010101" pitchFamily="2" charset="-122"/>
              <a:ea typeface="等线" panose="02010600030101010101" pitchFamily="2" charset="-122"/>
            </a:endParaRPr>
          </a:p>
          <a:p>
            <a:pPr lvl="0" algn="ctr">
              <a:defRPr/>
            </a:pPr>
            <a:r>
              <a:rPr lang="zh-CN" altLang="en-US" sz="2000" kern="0" dirty="0">
                <a:latin typeface="等线" panose="02010600030101010101" pitchFamily="2" charset="-122"/>
                <a:ea typeface="等线" panose="02010600030101010101" pitchFamily="2" charset="-122"/>
              </a:rPr>
              <a:t>在数据包分片的情况下，尽量还是沿相同路径</a:t>
            </a:r>
          </a:p>
        </p:txBody>
      </p:sp>
      <p:sp>
        <p:nvSpPr>
          <p:cNvPr id="73" name="日期占位符 72"/>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5.1.2 </a:t>
            </a:r>
            <a:r>
              <a:rPr kumimoji="1" lang="zh-CN" altLang="en-US" dirty="0">
                <a:latin typeface="DengXian" panose="02010600030101010101" pitchFamily="2" charset="-122"/>
                <a:ea typeface="DengXian" panose="02010600030101010101" pitchFamily="2" charset="-122"/>
              </a:rPr>
              <a:t>无连接服务的实现</a:t>
            </a:r>
          </a:p>
        </p:txBody>
      </p:sp>
    </p:spTree>
    <p:extLst>
      <p:ext uri="{BB962C8B-B14F-4D97-AF65-F5344CB8AC3E}">
        <p14:creationId xmlns:p14="http://schemas.microsoft.com/office/powerpoint/2010/main" val="32581839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996950" y="2149475"/>
            <a:ext cx="10153650" cy="3000375"/>
            <a:chOff x="1570" y="3369"/>
            <a:chExt cx="15990" cy="4725"/>
          </a:xfrm>
        </p:grpSpPr>
        <p:grpSp>
          <p:nvGrpSpPr>
            <p:cNvPr id="55" name="组合 54"/>
            <p:cNvGrpSpPr/>
            <p:nvPr/>
          </p:nvGrpSpPr>
          <p:grpSpPr>
            <a:xfrm>
              <a:off x="1570" y="3369"/>
              <a:ext cx="1933" cy="3057"/>
              <a:chOff x="357711" y="2619024"/>
              <a:chExt cx="1227578" cy="1940916"/>
            </a:xfrm>
          </p:grpSpPr>
          <p:sp>
            <p:nvSpPr>
              <p:cNvPr id="56" name="矩形 55"/>
              <p:cNvSpPr/>
              <p:nvPr/>
            </p:nvSpPr>
            <p:spPr>
              <a:xfrm>
                <a:off x="485070" y="2731140"/>
                <a:ext cx="1100219" cy="1828800"/>
              </a:xfrm>
              <a:prstGeom prst="rect">
                <a:avLst/>
              </a:prstGeom>
              <a:solidFill>
                <a:srgbClr val="5C307E"/>
              </a:solidFill>
              <a:ln>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p:cNvSpPr/>
              <p:nvPr/>
            </p:nvSpPr>
            <p:spPr>
              <a:xfrm>
                <a:off x="364467" y="3706299"/>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58" name="矩形 57"/>
              <p:cNvSpPr/>
              <p:nvPr/>
            </p:nvSpPr>
            <p:spPr>
              <a:xfrm>
                <a:off x="364466" y="2982091"/>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59" name="矩形 58"/>
              <p:cNvSpPr/>
              <p:nvPr/>
            </p:nvSpPr>
            <p:spPr>
              <a:xfrm>
                <a:off x="364598" y="4072287"/>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61" name="矩形 60"/>
              <p:cNvSpPr/>
              <p:nvPr/>
            </p:nvSpPr>
            <p:spPr>
              <a:xfrm>
                <a:off x="364598" y="2619024"/>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63" name="矩形 62"/>
              <p:cNvSpPr/>
              <p:nvPr/>
            </p:nvSpPr>
            <p:spPr>
              <a:xfrm>
                <a:off x="360055" y="3351649"/>
                <a:ext cx="1113061"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64" name="矩形 63"/>
              <p:cNvSpPr/>
              <p:nvPr/>
            </p:nvSpPr>
            <p:spPr>
              <a:xfrm>
                <a:off x="357711" y="3355911"/>
                <a:ext cx="1113727" cy="367456"/>
              </a:xfrm>
              <a:prstGeom prst="rect">
                <a:avLst/>
              </a:prstGeom>
              <a:solidFill>
                <a:srgbClr val="5C307E">
                  <a:alpha val="48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等线" panose="02010600030101010101" pitchFamily="2" charset="-122"/>
                    <a:ea typeface="等线" panose="02010600030101010101" pitchFamily="2" charset="-122"/>
                  </a:rPr>
                  <a:t>网络层</a:t>
                </a:r>
              </a:p>
            </p:txBody>
          </p:sp>
        </p:grpSp>
        <p:grpSp>
          <p:nvGrpSpPr>
            <p:cNvPr id="65" name="组合 64"/>
            <p:cNvGrpSpPr/>
            <p:nvPr/>
          </p:nvGrpSpPr>
          <p:grpSpPr>
            <a:xfrm>
              <a:off x="15627" y="3543"/>
              <a:ext cx="1933" cy="3057"/>
              <a:chOff x="357711" y="2619024"/>
              <a:chExt cx="1227578" cy="1940916"/>
            </a:xfrm>
          </p:grpSpPr>
          <p:sp>
            <p:nvSpPr>
              <p:cNvPr id="66" name="矩形 65"/>
              <p:cNvSpPr/>
              <p:nvPr/>
            </p:nvSpPr>
            <p:spPr>
              <a:xfrm>
                <a:off x="485070" y="2731140"/>
                <a:ext cx="1100219" cy="1828800"/>
              </a:xfrm>
              <a:prstGeom prst="rect">
                <a:avLst/>
              </a:prstGeom>
              <a:solidFill>
                <a:srgbClr val="5C307E"/>
              </a:solidFill>
              <a:ln>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矩形 67"/>
              <p:cNvSpPr/>
              <p:nvPr/>
            </p:nvSpPr>
            <p:spPr>
              <a:xfrm>
                <a:off x="364467" y="3706299"/>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70" name="矩形 69"/>
              <p:cNvSpPr/>
              <p:nvPr/>
            </p:nvSpPr>
            <p:spPr>
              <a:xfrm>
                <a:off x="364466" y="2982091"/>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73" name="矩形 72"/>
              <p:cNvSpPr/>
              <p:nvPr/>
            </p:nvSpPr>
            <p:spPr>
              <a:xfrm>
                <a:off x="364598" y="4072287"/>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76" name="矩形 75"/>
              <p:cNvSpPr/>
              <p:nvPr/>
            </p:nvSpPr>
            <p:spPr>
              <a:xfrm>
                <a:off x="364598" y="2619024"/>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77" name="矩形 76"/>
              <p:cNvSpPr/>
              <p:nvPr/>
            </p:nvSpPr>
            <p:spPr>
              <a:xfrm>
                <a:off x="360055" y="3351649"/>
                <a:ext cx="1113061"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78" name="矩形 77"/>
              <p:cNvSpPr/>
              <p:nvPr/>
            </p:nvSpPr>
            <p:spPr>
              <a:xfrm>
                <a:off x="357711" y="3355911"/>
                <a:ext cx="1113727" cy="367456"/>
              </a:xfrm>
              <a:prstGeom prst="rect">
                <a:avLst/>
              </a:prstGeom>
              <a:solidFill>
                <a:srgbClr val="5C307E">
                  <a:alpha val="48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等线" panose="02010600030101010101" pitchFamily="2" charset="-122"/>
                    <a:ea typeface="等线" panose="02010600030101010101" pitchFamily="2" charset="-122"/>
                  </a:rPr>
                  <a:t>网络层</a:t>
                </a:r>
              </a:p>
            </p:txBody>
          </p:sp>
        </p:grpSp>
        <p:grpSp>
          <p:nvGrpSpPr>
            <p:cNvPr id="79" name="组合 78"/>
            <p:cNvGrpSpPr/>
            <p:nvPr/>
          </p:nvGrpSpPr>
          <p:grpSpPr>
            <a:xfrm>
              <a:off x="3333" y="3816"/>
              <a:ext cx="12445" cy="4278"/>
              <a:chOff x="1280664" y="3160857"/>
              <a:chExt cx="9581222" cy="3333678"/>
            </a:xfrm>
          </p:grpSpPr>
          <p:grpSp>
            <p:nvGrpSpPr>
              <p:cNvPr id="80" name="组合 79"/>
              <p:cNvGrpSpPr/>
              <p:nvPr/>
            </p:nvGrpSpPr>
            <p:grpSpPr>
              <a:xfrm>
                <a:off x="1546275" y="3160857"/>
                <a:ext cx="9041239" cy="2843922"/>
                <a:chOff x="1546275" y="3160857"/>
                <a:chExt cx="9041239" cy="2843922"/>
              </a:xfrm>
            </p:grpSpPr>
            <p:cxnSp>
              <p:nvCxnSpPr>
                <p:cNvPr id="81" name="直接连接符 80"/>
                <p:cNvCxnSpPr/>
                <p:nvPr/>
              </p:nvCxnSpPr>
              <p:spPr>
                <a:xfrm>
                  <a:off x="2042438" y="3866383"/>
                  <a:ext cx="1858443" cy="677352"/>
                </a:xfrm>
                <a:prstGeom prst="line">
                  <a:avLst/>
                </a:prstGeom>
                <a:ln w="76200"/>
              </p:spPr>
              <p:style>
                <a:lnRef idx="1">
                  <a:schemeClr val="dk1"/>
                </a:lnRef>
                <a:fillRef idx="0">
                  <a:schemeClr val="dk1"/>
                </a:fillRef>
                <a:effectRef idx="0">
                  <a:schemeClr val="dk1"/>
                </a:effectRef>
                <a:fontRef idx="minor">
                  <a:schemeClr val="tx1"/>
                </a:fontRef>
              </p:style>
            </p:cxnSp>
            <p:cxnSp>
              <p:nvCxnSpPr>
                <p:cNvPr id="82" name="直接连接符 81"/>
                <p:cNvCxnSpPr/>
                <p:nvPr/>
              </p:nvCxnSpPr>
              <p:spPr>
                <a:xfrm flipV="1">
                  <a:off x="4009938" y="3429000"/>
                  <a:ext cx="2189526" cy="975220"/>
                </a:xfrm>
                <a:prstGeom prst="line">
                  <a:avLst/>
                </a:prstGeom>
                <a:ln w="12700"/>
              </p:spPr>
              <p:style>
                <a:lnRef idx="1">
                  <a:schemeClr val="dk1"/>
                </a:lnRef>
                <a:fillRef idx="0">
                  <a:schemeClr val="dk1"/>
                </a:fillRef>
                <a:effectRef idx="0">
                  <a:schemeClr val="dk1"/>
                </a:effectRef>
                <a:fontRef idx="minor">
                  <a:schemeClr val="tx1"/>
                </a:fontRef>
              </p:style>
            </p:cxnSp>
            <p:cxnSp>
              <p:nvCxnSpPr>
                <p:cNvPr id="83" name="直接连接符 82"/>
                <p:cNvCxnSpPr/>
                <p:nvPr/>
              </p:nvCxnSpPr>
              <p:spPr>
                <a:xfrm>
                  <a:off x="6441987" y="3399201"/>
                  <a:ext cx="1541004" cy="1076978"/>
                </a:xfrm>
                <a:prstGeom prst="line">
                  <a:avLst/>
                </a:prstGeom>
                <a:ln w="12700"/>
              </p:spPr>
              <p:style>
                <a:lnRef idx="1">
                  <a:schemeClr val="dk1"/>
                </a:lnRef>
                <a:fillRef idx="0">
                  <a:schemeClr val="dk1"/>
                </a:fillRef>
                <a:effectRef idx="0">
                  <a:schemeClr val="dk1"/>
                </a:effectRef>
                <a:fontRef idx="minor">
                  <a:schemeClr val="tx1"/>
                </a:fontRef>
              </p:style>
            </p:cxnSp>
            <p:cxnSp>
              <p:nvCxnSpPr>
                <p:cNvPr id="84" name="直接连接符 83"/>
                <p:cNvCxnSpPr/>
                <p:nvPr/>
              </p:nvCxnSpPr>
              <p:spPr>
                <a:xfrm>
                  <a:off x="4009938" y="4532281"/>
                  <a:ext cx="1887918" cy="1"/>
                </a:xfrm>
                <a:prstGeom prst="line">
                  <a:avLst/>
                </a:prstGeom>
                <a:ln w="12700"/>
              </p:spPr>
              <p:style>
                <a:lnRef idx="1">
                  <a:schemeClr val="dk1"/>
                </a:lnRef>
                <a:fillRef idx="0">
                  <a:schemeClr val="dk1"/>
                </a:fillRef>
                <a:effectRef idx="0">
                  <a:schemeClr val="dk1"/>
                </a:effectRef>
                <a:fontRef idx="minor">
                  <a:schemeClr val="tx1"/>
                </a:fontRef>
              </p:style>
            </p:cxnSp>
            <p:cxnSp>
              <p:nvCxnSpPr>
                <p:cNvPr id="85" name="直接连接符 84"/>
                <p:cNvCxnSpPr/>
                <p:nvPr/>
              </p:nvCxnSpPr>
              <p:spPr>
                <a:xfrm>
                  <a:off x="6095846" y="4543735"/>
                  <a:ext cx="1812726"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86" name="直接连接符 85"/>
                <p:cNvCxnSpPr/>
                <p:nvPr/>
              </p:nvCxnSpPr>
              <p:spPr>
                <a:xfrm flipV="1">
                  <a:off x="8047601" y="3964096"/>
                  <a:ext cx="2038167" cy="568185"/>
                </a:xfrm>
                <a:prstGeom prst="line">
                  <a:avLst/>
                </a:prstGeom>
                <a:ln w="76200"/>
              </p:spPr>
              <p:style>
                <a:lnRef idx="1">
                  <a:schemeClr val="dk1"/>
                </a:lnRef>
                <a:fillRef idx="0">
                  <a:schemeClr val="dk1"/>
                </a:fillRef>
                <a:effectRef idx="0">
                  <a:schemeClr val="dk1"/>
                </a:effectRef>
                <a:fontRef idx="minor">
                  <a:schemeClr val="tx1"/>
                </a:fontRef>
              </p:style>
            </p:cxnSp>
            <p:cxnSp>
              <p:nvCxnSpPr>
                <p:cNvPr id="87" name="直接连接符 86"/>
                <p:cNvCxnSpPr/>
                <p:nvPr/>
              </p:nvCxnSpPr>
              <p:spPr>
                <a:xfrm flipV="1">
                  <a:off x="5919106" y="4682048"/>
                  <a:ext cx="132793" cy="953515"/>
                </a:xfrm>
                <a:prstGeom prst="line">
                  <a:avLst/>
                </a:prstGeom>
                <a:ln w="12700"/>
              </p:spPr>
              <p:style>
                <a:lnRef idx="1">
                  <a:schemeClr val="dk1"/>
                </a:lnRef>
                <a:fillRef idx="0">
                  <a:schemeClr val="dk1"/>
                </a:fillRef>
                <a:effectRef idx="0">
                  <a:schemeClr val="dk1"/>
                </a:effectRef>
                <a:fontRef idx="minor">
                  <a:schemeClr val="tx1"/>
                </a:fontRef>
              </p:style>
            </p:cxnSp>
            <p:cxnSp>
              <p:nvCxnSpPr>
                <p:cNvPr id="88" name="直接连接符 87"/>
                <p:cNvCxnSpPr/>
                <p:nvPr/>
              </p:nvCxnSpPr>
              <p:spPr>
                <a:xfrm>
                  <a:off x="3972587" y="4584299"/>
                  <a:ext cx="1676794" cy="1198169"/>
                </a:xfrm>
                <a:prstGeom prst="line">
                  <a:avLst/>
                </a:prstGeom>
                <a:ln w="76200"/>
              </p:spPr>
              <p:style>
                <a:lnRef idx="1">
                  <a:schemeClr val="dk1"/>
                </a:lnRef>
                <a:fillRef idx="0">
                  <a:schemeClr val="dk1"/>
                </a:fillRef>
                <a:effectRef idx="0">
                  <a:schemeClr val="dk1"/>
                </a:effectRef>
                <a:fontRef idx="minor">
                  <a:schemeClr val="tx1"/>
                </a:fontRef>
              </p:style>
            </p:cxnSp>
            <p:cxnSp>
              <p:nvCxnSpPr>
                <p:cNvPr id="89" name="直接连接符 88"/>
                <p:cNvCxnSpPr/>
                <p:nvPr/>
              </p:nvCxnSpPr>
              <p:spPr>
                <a:xfrm flipV="1">
                  <a:off x="5793465" y="4532281"/>
                  <a:ext cx="2189526" cy="1274527"/>
                </a:xfrm>
                <a:prstGeom prst="line">
                  <a:avLst/>
                </a:prstGeom>
                <a:ln w="76200"/>
              </p:spPr>
              <p:style>
                <a:lnRef idx="1">
                  <a:schemeClr val="dk1"/>
                </a:lnRef>
                <a:fillRef idx="0">
                  <a:schemeClr val="dk1"/>
                </a:fillRef>
                <a:effectRef idx="0">
                  <a:schemeClr val="dk1"/>
                </a:effectRef>
                <a:fontRef idx="minor">
                  <a:schemeClr val="tx1"/>
                </a:fontRef>
              </p:style>
            </p:cxnSp>
            <p:pic>
              <p:nvPicPr>
                <p:cNvPr id="90"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0604" y="4233839"/>
                  <a:ext cx="657604" cy="484683"/>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9" descr="服务器终端"/>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6275" y="3417875"/>
                  <a:ext cx="822310" cy="872331"/>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9" descr="服务器终端"/>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5204" y="3555213"/>
                  <a:ext cx="822310" cy="872331"/>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913" y="3160857"/>
                  <a:ext cx="657604" cy="484683"/>
                </a:xfrm>
                <a:prstGeom prst="rect">
                  <a:avLst/>
                </a:prstGeom>
                <a:noFill/>
                <a:extLst>
                  <a:ext uri="{909E8E84-426E-40DD-AFC4-6F175D3DCCD1}">
                    <a14:hiddenFill xmlns:a14="http://schemas.microsoft.com/office/drawing/2010/main">
                      <a:solidFill>
                        <a:srgbClr val="FFFFFF"/>
                      </a:solidFill>
                    </a14:hiddenFill>
                  </a:ext>
                </a:extLst>
              </p:spPr>
            </p:pic>
            <p:pic>
              <p:nvPicPr>
                <p:cNvPr id="94"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189" y="4233838"/>
                  <a:ext cx="657604" cy="484683"/>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899" y="5520096"/>
                  <a:ext cx="657604" cy="484683"/>
                </a:xfrm>
                <a:prstGeom prst="rect">
                  <a:avLst/>
                </a:prstGeom>
                <a:noFill/>
                <a:extLst>
                  <a:ext uri="{909E8E84-426E-40DD-AFC4-6F175D3DCCD1}">
                    <a14:hiddenFill xmlns:a14="http://schemas.microsoft.com/office/drawing/2010/main">
                      <a:solidFill>
                        <a:srgbClr val="FFFFFF"/>
                      </a:solidFill>
                    </a14:hiddenFill>
                  </a:ext>
                </a:extLst>
              </p:spPr>
            </p:pic>
            <p:pic>
              <p:nvPicPr>
                <p:cNvPr id="96"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1292" y="4289940"/>
                  <a:ext cx="657604" cy="484683"/>
                </a:xfrm>
                <a:prstGeom prst="rect">
                  <a:avLst/>
                </a:prstGeom>
                <a:noFill/>
                <a:extLst>
                  <a:ext uri="{909E8E84-426E-40DD-AFC4-6F175D3DCCD1}">
                    <a14:hiddenFill xmlns:a14="http://schemas.microsoft.com/office/drawing/2010/main">
                      <a:solidFill>
                        <a:srgbClr val="FFFFFF"/>
                      </a:solidFill>
                    </a14:hiddenFill>
                  </a:ext>
                </a:extLst>
              </p:spPr>
            </p:pic>
          </p:grpSp>
          <p:sp>
            <p:nvSpPr>
              <p:cNvPr id="97" name="文本框 96"/>
              <p:cNvSpPr txBox="1"/>
              <p:nvPr/>
            </p:nvSpPr>
            <p:spPr>
              <a:xfrm>
                <a:off x="1280664" y="4396765"/>
                <a:ext cx="1558248" cy="489376"/>
              </a:xfrm>
              <a:prstGeom prst="rect">
                <a:avLst/>
              </a:prstGeom>
              <a:noFill/>
            </p:spPr>
            <p:txBody>
              <a:bodyPr wrap="square" rtlCol="0">
                <a:spAutoFit/>
              </a:bodyPr>
              <a:lstStyle/>
              <a:p>
                <a:r>
                  <a:rPr lang="zh-CN" altLang="en-US" sz="2000" dirty="0">
                    <a:latin typeface="等线" panose="02010600030101010101" pitchFamily="2" charset="-122"/>
                    <a:ea typeface="等线" panose="02010600030101010101" pitchFamily="2" charset="-122"/>
                  </a:rPr>
                  <a:t>发送方</a:t>
                </a:r>
                <a:r>
                  <a:rPr lang="en-US" altLang="zh-CN" sz="2000" dirty="0">
                    <a:latin typeface="等线" panose="02010600030101010101" pitchFamily="2" charset="-122"/>
                    <a:ea typeface="等线" panose="02010600030101010101" pitchFamily="2" charset="-122"/>
                  </a:rPr>
                  <a:t>A</a:t>
                </a:r>
                <a:endParaRPr lang="zh-CN" altLang="en-US" sz="2000" dirty="0">
                  <a:latin typeface="等线" panose="02010600030101010101" pitchFamily="2" charset="-122"/>
                  <a:ea typeface="等线" panose="02010600030101010101" pitchFamily="2" charset="-122"/>
                </a:endParaRPr>
              </a:p>
            </p:txBody>
          </p:sp>
          <p:sp>
            <p:nvSpPr>
              <p:cNvPr id="98" name="文本框 97"/>
              <p:cNvSpPr txBox="1"/>
              <p:nvPr/>
            </p:nvSpPr>
            <p:spPr>
              <a:xfrm>
                <a:off x="9491490" y="4396765"/>
                <a:ext cx="1370396" cy="489376"/>
              </a:xfrm>
              <a:prstGeom prst="rect">
                <a:avLst/>
              </a:prstGeom>
              <a:noFill/>
            </p:spPr>
            <p:txBody>
              <a:bodyPr wrap="square" rtlCol="0">
                <a:spAutoFit/>
              </a:bodyPr>
              <a:lstStyle/>
              <a:p>
                <a:r>
                  <a:rPr lang="zh-CN" altLang="en-US" sz="2000" dirty="0">
                    <a:latin typeface="等线" panose="02010600030101010101" pitchFamily="2" charset="-122"/>
                    <a:ea typeface="等线" panose="02010600030101010101" pitchFamily="2" charset="-122"/>
                  </a:rPr>
                  <a:t>接收方</a:t>
                </a:r>
                <a:r>
                  <a:rPr lang="en-US" altLang="zh-CN" sz="2000" dirty="0">
                    <a:latin typeface="等线" panose="02010600030101010101" pitchFamily="2" charset="-122"/>
                    <a:ea typeface="等线" panose="02010600030101010101" pitchFamily="2" charset="-122"/>
                  </a:rPr>
                  <a:t>B</a:t>
                </a:r>
                <a:endParaRPr lang="zh-CN" altLang="en-US" sz="2000" dirty="0">
                  <a:latin typeface="等线" panose="02010600030101010101" pitchFamily="2" charset="-122"/>
                  <a:ea typeface="等线" panose="02010600030101010101" pitchFamily="2" charset="-122"/>
                </a:endParaRPr>
              </a:p>
            </p:txBody>
          </p:sp>
          <p:sp>
            <p:nvSpPr>
              <p:cNvPr id="99" name="文本框 98"/>
              <p:cNvSpPr txBox="1"/>
              <p:nvPr/>
            </p:nvSpPr>
            <p:spPr>
              <a:xfrm>
                <a:off x="3640362" y="4645349"/>
                <a:ext cx="768345"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sp>
            <p:nvSpPr>
              <p:cNvPr id="100" name="文本框 99"/>
              <p:cNvSpPr txBox="1"/>
              <p:nvPr/>
            </p:nvSpPr>
            <p:spPr>
              <a:xfrm>
                <a:off x="6051643" y="3645557"/>
                <a:ext cx="655172"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sp>
            <p:nvSpPr>
              <p:cNvPr id="101" name="文本框 100"/>
              <p:cNvSpPr txBox="1"/>
              <p:nvPr/>
            </p:nvSpPr>
            <p:spPr>
              <a:xfrm>
                <a:off x="6051643" y="4625867"/>
                <a:ext cx="702905"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R3</a:t>
                </a:r>
                <a:endParaRPr lang="zh-CN" altLang="en-US" sz="2000" dirty="0">
                  <a:latin typeface="等线" panose="02010600030101010101" pitchFamily="2" charset="-122"/>
                  <a:ea typeface="等线" panose="02010600030101010101" pitchFamily="2" charset="-122"/>
                </a:endParaRPr>
              </a:p>
            </p:txBody>
          </p:sp>
          <p:sp>
            <p:nvSpPr>
              <p:cNvPr id="102" name="文本框 101"/>
              <p:cNvSpPr txBox="1"/>
              <p:nvPr/>
            </p:nvSpPr>
            <p:spPr>
              <a:xfrm>
                <a:off x="5569695" y="6005159"/>
                <a:ext cx="628996"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R4</a:t>
                </a:r>
                <a:endParaRPr lang="zh-CN" altLang="en-US" sz="2000" dirty="0">
                  <a:latin typeface="等线" panose="02010600030101010101" pitchFamily="2" charset="-122"/>
                  <a:ea typeface="等线" panose="02010600030101010101" pitchFamily="2" charset="-122"/>
                </a:endParaRPr>
              </a:p>
            </p:txBody>
          </p:sp>
          <p:sp>
            <p:nvSpPr>
              <p:cNvPr id="103" name="文本框 102"/>
              <p:cNvSpPr txBox="1"/>
              <p:nvPr/>
            </p:nvSpPr>
            <p:spPr>
              <a:xfrm>
                <a:off x="7654544" y="4708469"/>
                <a:ext cx="790672"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R5</a:t>
                </a:r>
                <a:endParaRPr lang="zh-CN" altLang="en-US" sz="2000" dirty="0">
                  <a:latin typeface="等线" panose="02010600030101010101" pitchFamily="2" charset="-122"/>
                  <a:ea typeface="等线" panose="02010600030101010101" pitchFamily="2" charset="-122"/>
                </a:endParaRPr>
              </a:p>
            </p:txBody>
          </p:sp>
        </p:grpSp>
      </p:grpSp>
      <p:sp>
        <p:nvSpPr>
          <p:cNvPr id="2" name="标题 1"/>
          <p:cNvSpPr>
            <a:spLocks noGrp="1"/>
          </p:cNvSpPr>
          <p:nvPr>
            <p:ph type="title"/>
          </p:nvPr>
        </p:nvSpPr>
        <p:spPr/>
        <p:txBody>
          <a:bodyPr>
            <a:normAutofit/>
          </a:bodyPr>
          <a:lstStyle/>
          <a:p>
            <a:r>
              <a:rPr kumimoji="1" lang="zh-CN" altLang="en-US" dirty="0"/>
              <a:t>无连接的数据包</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11</a:t>
            </a:fld>
            <a:endParaRPr kumimoji="1" lang="zh-CN" altLang="en-US" dirty="0"/>
          </a:p>
        </p:txBody>
      </p:sp>
      <p:grpSp>
        <p:nvGrpSpPr>
          <p:cNvPr id="74" name="组合 73"/>
          <p:cNvGrpSpPr/>
          <p:nvPr/>
        </p:nvGrpSpPr>
        <p:grpSpPr>
          <a:xfrm>
            <a:off x="2406650" y="2592705"/>
            <a:ext cx="7208520" cy="2092325"/>
            <a:chOff x="1555630" y="2663153"/>
            <a:chExt cx="9022580" cy="2204325"/>
          </a:xfrm>
        </p:grpSpPr>
        <p:cxnSp>
          <p:nvCxnSpPr>
            <p:cNvPr id="71" name="直接箭头连接符 70"/>
            <p:cNvCxnSpPr/>
            <p:nvPr/>
          </p:nvCxnSpPr>
          <p:spPr>
            <a:xfrm>
              <a:off x="6877617" y="2663153"/>
              <a:ext cx="1026088" cy="624838"/>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cxnSp>
          <p:nvCxnSpPr>
            <p:cNvPr id="72" name="直接箭头连接符 71"/>
            <p:cNvCxnSpPr/>
            <p:nvPr/>
          </p:nvCxnSpPr>
          <p:spPr>
            <a:xfrm>
              <a:off x="6528699" y="3539531"/>
              <a:ext cx="1243863" cy="0"/>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cxnSp>
          <p:nvCxnSpPr>
            <p:cNvPr id="67" name="直接箭头连接符 66"/>
            <p:cNvCxnSpPr/>
            <p:nvPr/>
          </p:nvCxnSpPr>
          <p:spPr>
            <a:xfrm flipV="1">
              <a:off x="4297693" y="2725369"/>
              <a:ext cx="1437795" cy="528503"/>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cxnSp>
          <p:nvCxnSpPr>
            <p:cNvPr id="69" name="直接箭头连接符 68"/>
            <p:cNvCxnSpPr/>
            <p:nvPr/>
          </p:nvCxnSpPr>
          <p:spPr>
            <a:xfrm>
              <a:off x="4414119" y="3530514"/>
              <a:ext cx="1204987" cy="8483"/>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cxnSp>
          <p:nvCxnSpPr>
            <p:cNvPr id="21" name="直接箭头连接符 20"/>
            <p:cNvCxnSpPr/>
            <p:nvPr/>
          </p:nvCxnSpPr>
          <p:spPr>
            <a:xfrm>
              <a:off x="1555630" y="3249858"/>
              <a:ext cx="1990976" cy="624169"/>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cxnSp>
          <p:nvCxnSpPr>
            <p:cNvPr id="47" name="直接箭头连接符 46"/>
            <p:cNvCxnSpPr/>
            <p:nvPr/>
          </p:nvCxnSpPr>
          <p:spPr>
            <a:xfrm>
              <a:off x="4187216" y="4164135"/>
              <a:ext cx="1180279" cy="703343"/>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cxnSp>
          <p:nvCxnSpPr>
            <p:cNvPr id="48" name="直接箭头连接符 47"/>
            <p:cNvCxnSpPr/>
            <p:nvPr/>
          </p:nvCxnSpPr>
          <p:spPr>
            <a:xfrm flipV="1">
              <a:off x="6422196" y="4159285"/>
              <a:ext cx="1224788" cy="645828"/>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cxnSp>
          <p:nvCxnSpPr>
            <p:cNvPr id="49" name="直接箭头连接符 48"/>
            <p:cNvCxnSpPr/>
            <p:nvPr/>
          </p:nvCxnSpPr>
          <p:spPr>
            <a:xfrm flipV="1">
              <a:off x="8545109" y="3358929"/>
              <a:ext cx="2033101" cy="489915"/>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grpSp>
      <p:sp>
        <p:nvSpPr>
          <p:cNvPr id="50" name="矩形 49"/>
          <p:cNvSpPr/>
          <p:nvPr/>
        </p:nvSpPr>
        <p:spPr>
          <a:xfrm>
            <a:off x="3790104" y="3266506"/>
            <a:ext cx="189902" cy="317060"/>
          </a:xfrm>
          <a:prstGeom prst="rect">
            <a:avLst/>
          </a:prstGeom>
          <a:solidFill>
            <a:srgbClr val="FAF4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等线" panose="02010600030101010101" pitchFamily="2" charset="-122"/>
                <a:ea typeface="等线" panose="02010600030101010101" pitchFamily="2" charset="-122"/>
              </a:rPr>
              <a:t>1</a:t>
            </a:r>
            <a:endParaRPr lang="zh-CN" altLang="en-US" dirty="0">
              <a:solidFill>
                <a:schemeClr val="tx1"/>
              </a:solidFill>
              <a:latin typeface="等线" panose="02010600030101010101" pitchFamily="2" charset="-122"/>
              <a:ea typeface="等线" panose="02010600030101010101" pitchFamily="2" charset="-122"/>
            </a:endParaRPr>
          </a:p>
        </p:txBody>
      </p:sp>
      <p:sp>
        <p:nvSpPr>
          <p:cNvPr id="51" name="矩形 50"/>
          <p:cNvSpPr/>
          <p:nvPr/>
        </p:nvSpPr>
        <p:spPr>
          <a:xfrm>
            <a:off x="3456032" y="3149605"/>
            <a:ext cx="189902" cy="317060"/>
          </a:xfrm>
          <a:prstGeom prst="rect">
            <a:avLst/>
          </a:prstGeom>
          <a:solidFill>
            <a:srgbClr val="E7D1E7"/>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等线" panose="02010600030101010101" pitchFamily="2" charset="-122"/>
                <a:ea typeface="等线" panose="02010600030101010101" pitchFamily="2" charset="-122"/>
              </a:rPr>
              <a:t>2</a:t>
            </a:r>
            <a:endParaRPr lang="zh-CN" altLang="en-US" dirty="0">
              <a:solidFill>
                <a:schemeClr val="tx1"/>
              </a:solidFill>
              <a:latin typeface="等线" panose="02010600030101010101" pitchFamily="2" charset="-122"/>
              <a:ea typeface="等线" panose="02010600030101010101" pitchFamily="2" charset="-122"/>
            </a:endParaRPr>
          </a:p>
        </p:txBody>
      </p:sp>
      <p:sp>
        <p:nvSpPr>
          <p:cNvPr id="52" name="矩形 51"/>
          <p:cNvSpPr/>
          <p:nvPr/>
        </p:nvSpPr>
        <p:spPr>
          <a:xfrm>
            <a:off x="3143346" y="3012642"/>
            <a:ext cx="189902" cy="317060"/>
          </a:xfrm>
          <a:prstGeom prst="rect">
            <a:avLst/>
          </a:prstGeom>
          <a:solidFill>
            <a:srgbClr val="D9A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等线" panose="02010600030101010101" pitchFamily="2" charset="-122"/>
                <a:ea typeface="等线" panose="02010600030101010101" pitchFamily="2" charset="-122"/>
              </a:rPr>
              <a:t>3</a:t>
            </a:r>
            <a:endParaRPr lang="zh-CN" altLang="en-US" dirty="0">
              <a:solidFill>
                <a:schemeClr val="tx1"/>
              </a:solidFill>
              <a:latin typeface="等线" panose="02010600030101010101" pitchFamily="2" charset="-122"/>
              <a:ea typeface="等线" panose="02010600030101010101" pitchFamily="2" charset="-122"/>
            </a:endParaRPr>
          </a:p>
        </p:txBody>
      </p:sp>
      <p:sp>
        <p:nvSpPr>
          <p:cNvPr id="53" name="矩形 52"/>
          <p:cNvSpPr/>
          <p:nvPr/>
        </p:nvSpPr>
        <p:spPr>
          <a:xfrm>
            <a:off x="2824119" y="2868885"/>
            <a:ext cx="189902" cy="317060"/>
          </a:xfrm>
          <a:prstGeom prst="rect">
            <a:avLst/>
          </a:prstGeom>
          <a:solidFill>
            <a:srgbClr val="5C307E"/>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chemeClr val="tx1"/>
                </a:solidFill>
                <a:latin typeface="等线" panose="02010600030101010101" pitchFamily="2" charset="-122"/>
                <a:ea typeface="等线" panose="02010600030101010101" pitchFamily="2" charset="-122"/>
              </a:rPr>
              <a:t>4</a:t>
            </a:r>
            <a:endParaRPr lang="zh-CN" altLang="en-US" dirty="0">
              <a:solidFill>
                <a:schemeClr val="tx1"/>
              </a:solidFill>
              <a:latin typeface="等线" panose="02010600030101010101" pitchFamily="2" charset="-122"/>
              <a:ea typeface="等线" panose="02010600030101010101" pitchFamily="2" charset="-122"/>
            </a:endParaRPr>
          </a:p>
        </p:txBody>
      </p:sp>
      <p:sp>
        <p:nvSpPr>
          <p:cNvPr id="75" name="文本框 74"/>
          <p:cNvSpPr txBox="1"/>
          <p:nvPr/>
        </p:nvSpPr>
        <p:spPr>
          <a:xfrm>
            <a:off x="8189726" y="2592895"/>
            <a:ext cx="697627" cy="400110"/>
          </a:xfrm>
          <a:prstGeom prst="rect">
            <a:avLst/>
          </a:prstGeom>
          <a:noFill/>
        </p:spPr>
        <p:txBody>
          <a:bodyPr wrap="none" rtlCol="0">
            <a:spAutoFit/>
          </a:bodyPr>
          <a:lstStyle/>
          <a:p>
            <a:r>
              <a:rPr lang="zh-CN" altLang="en-US" sz="2000" dirty="0">
                <a:solidFill>
                  <a:srgbClr val="C00000"/>
                </a:solidFill>
                <a:latin typeface="等线" panose="02010600030101010101" pitchFamily="2" charset="-122"/>
                <a:ea typeface="等线" panose="02010600030101010101" pitchFamily="2" charset="-122"/>
              </a:rPr>
              <a:t>失序</a:t>
            </a:r>
          </a:p>
        </p:txBody>
      </p:sp>
      <p:sp>
        <p:nvSpPr>
          <p:cNvPr id="60" name="日期占位符 9"/>
          <p:cNvSpPr>
            <a:spLocks noGrp="1"/>
          </p:cNvSpPr>
          <p:nvPr>
            <p:ph type="dt" sz="half" idx="10"/>
          </p:nvPr>
        </p:nvSpPr>
        <p:spPr>
          <a:xfrm>
            <a:off x="197485" y="6489065"/>
            <a:ext cx="3448685" cy="365125"/>
          </a:xfrm>
        </p:spPr>
        <p:txBody>
          <a:bodyPr/>
          <a:lstStyle/>
          <a:p>
            <a:r>
              <a:rPr kumimoji="1" lang="en-US" altLang="zh-CN" dirty="0">
                <a:latin typeface="DengXian" panose="02010600030101010101" pitchFamily="2" charset="-122"/>
                <a:ea typeface="DengXian" panose="02010600030101010101" pitchFamily="2" charset="-122"/>
              </a:rPr>
              <a:t>5.1.4 </a:t>
            </a:r>
            <a:r>
              <a:rPr kumimoji="1" lang="zh-CN" altLang="en-US" dirty="0">
                <a:latin typeface="DengXian" panose="02010600030101010101" pitchFamily="2" charset="-122"/>
                <a:ea typeface="DengXian" panose="02010600030101010101" pitchFamily="2" charset="-122"/>
              </a:rPr>
              <a:t>虚电路与数据包网络的比较</a:t>
            </a:r>
          </a:p>
        </p:txBody>
      </p:sp>
      <p:sp>
        <p:nvSpPr>
          <p:cNvPr id="54" name="文本框 53"/>
          <p:cNvSpPr txBox="1"/>
          <p:nvPr/>
        </p:nvSpPr>
        <p:spPr>
          <a:xfrm>
            <a:off x="1609090" y="5152390"/>
            <a:ext cx="9116695" cy="1087755"/>
          </a:xfrm>
          <a:prstGeom prst="rect">
            <a:avLst/>
          </a:prstGeom>
          <a:noFill/>
          <a:ln>
            <a:solidFill>
              <a:srgbClr val="5C307E"/>
            </a:solidFill>
          </a:ln>
        </p:spPr>
        <p:txBody>
          <a:bodyPr wrap="square" rtlCol="0">
            <a:spAutoFit/>
          </a:bodyPr>
          <a:lstStyle/>
          <a:p>
            <a:pPr algn="just">
              <a:lnSpc>
                <a:spcPct val="120000"/>
              </a:lnSpc>
            </a:pPr>
            <a:r>
              <a:rPr kumimoji="1" lang="zh-CN" altLang="en-US" dirty="0">
                <a:latin typeface="等线" panose="02010600030101010101" pitchFamily="2" charset="-122"/>
                <a:ea typeface="等线" panose="02010600030101010101" pitchFamily="2" charset="-122"/>
              </a:rPr>
              <a:t>无连接的方法允许数据包有选择不同路径的可能性，但这样可能会导致接收数据的失序；</a:t>
            </a:r>
            <a:endParaRPr kumimoji="1" lang="en-US" altLang="zh-CN" dirty="0">
              <a:latin typeface="等线" panose="02010600030101010101" pitchFamily="2" charset="-122"/>
              <a:ea typeface="等线" panose="02010600030101010101" pitchFamily="2" charset="-122"/>
            </a:endParaRPr>
          </a:p>
          <a:p>
            <a:pPr algn="just">
              <a:lnSpc>
                <a:spcPct val="120000"/>
              </a:lnSpc>
            </a:pPr>
            <a:r>
              <a:rPr kumimoji="1" lang="zh-CN" altLang="en-US" dirty="0">
                <a:latin typeface="等线" panose="02010600030101010101" pitchFamily="2" charset="-122"/>
                <a:ea typeface="等线" panose="02010600030101010101" pitchFamily="2" charset="-122"/>
              </a:rPr>
              <a:t>需要说明的是，为避免增加额外的开销进行数据排序，网络并不会完全随意地发送数据，</a:t>
            </a:r>
            <a:endParaRPr kumimoji="1" lang="en-US" altLang="zh-CN" dirty="0">
              <a:latin typeface="等线" panose="02010600030101010101" pitchFamily="2" charset="-122"/>
              <a:ea typeface="等线" panose="02010600030101010101" pitchFamily="2" charset="-122"/>
            </a:endParaRPr>
          </a:p>
          <a:p>
            <a:pPr marL="342900" indent="-342900" algn="just">
              <a:lnSpc>
                <a:spcPct val="120000"/>
              </a:lnSpc>
            </a:pPr>
            <a:r>
              <a:rPr kumimoji="1" lang="zh-CN" altLang="en-US" dirty="0">
                <a:latin typeface="等线" panose="02010600030101010101" pitchFamily="2" charset="-122"/>
                <a:ea typeface="等线" panose="02010600030101010101" pitchFamily="2" charset="-122"/>
              </a:rPr>
              <a:t>在大多数情况下，仍然是会尽量沿着某一条路径发送。</a:t>
            </a:r>
          </a:p>
        </p:txBody>
      </p:sp>
      <p:sp>
        <p:nvSpPr>
          <p:cNvPr id="62" name="内容占位符 2"/>
          <p:cNvSpPr txBox="1"/>
          <p:nvPr/>
        </p:nvSpPr>
        <p:spPr>
          <a:xfrm>
            <a:off x="838200" y="1417272"/>
            <a:ext cx="10515600" cy="873457"/>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anose="05000000000000000000" pitchFamily="2" charset="2"/>
              <a:buChar char="Ø"/>
              <a:defRPr sz="28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pPr>
            <a:r>
              <a:rPr kumimoji="1" lang="zh-CN" altLang="en-US" sz="2400" dirty="0">
                <a:solidFill>
                  <a:srgbClr val="C00000"/>
                </a:solidFill>
                <a:latin typeface="等线" panose="02010600030101010101" pitchFamily="2" charset="-122"/>
                <a:ea typeface="等线" panose="02010600030101010101" pitchFamily="2" charset="-122"/>
              </a:rPr>
              <a:t>数据包</a:t>
            </a:r>
            <a:r>
              <a:rPr kumimoji="1" lang="zh-CN" altLang="en-US" sz="2400" dirty="0">
                <a:latin typeface="等线" panose="02010600030101010101" pitchFamily="2" charset="-122"/>
                <a:ea typeface="等线" panose="02010600030101010101" pitchFamily="2" charset="-122"/>
              </a:rPr>
              <a:t>：无连接的方法</a:t>
            </a:r>
            <a:endParaRPr kumimoji="1" lang="en-US" altLang="zh-CN" sz="2400"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0926945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wipe(left)">
                                      <p:cBhvr>
                                        <p:cTn id="7" dur="2000"/>
                                        <p:tgtEl>
                                          <p:spTgt spid="74"/>
                                        </p:tgtEl>
                                      </p:cBhvr>
                                    </p:animEffect>
                                  </p:childTnLst>
                                </p:cTn>
                              </p:par>
                              <p:par>
                                <p:cTn id="8" presetID="0" presetClass="path" presetSubtype="0" accel="50000" decel="50000" fill="hold" grpId="0" nodeType="withEffect">
                                  <p:stCondLst>
                                    <p:cond delay="0"/>
                                  </p:stCondLst>
                                  <p:childTnLst>
                                    <p:animMotion origin="layout" path="M 2.08333E-7 4.44444E-6 L 2.08333E-7 0.00023 C 0.00456 0.0155 0.00169 0.0125 0.00599 0.0155 C 0.0069 0.01689 0.00768 0.01805 0.00859 0.01944 C 0.00898 0.02013 0.00937 0.02129 0.00977 0.02199 C 0.01055 0.02314 0.01133 0.02361 0.01211 0.02453 C 0.01406 0.02685 0.01419 0.02847 0.01641 0.02847 L 0.15182 0.02986 C 0.16341 0.03472 0.1513 0.02986 0.17943 0.0324 C 0.18138 0.03263 0.1832 0.03333 0.18516 0.03379 L 0.29388 0.0324 C 0.29479 0.0324 0.29557 0.03148 0.29648 0.03101 C 0.29805 0.03055 0.29974 0.03032 0.30143 0.02986 L 0.30573 0.02847 C 0.30924 0.02592 0.30586 0.02824 0.3112 0.02592 C 0.32161 0.02152 0.31224 0.02384 0.32721 0.02199 C 0.32878 0.02152 0.33047 0.02129 0.33203 0.02083 C 0.33398 0.02013 0.33568 0.01875 0.3375 0.01805 C 0.33997 0.01736 0.34219 0.01736 0.3444 0.01689 C 0.34557 0.01666 0.34687 0.01597 0.34818 0.0155 C 0.34987 0.01504 0.35182 0.01481 0.35365 0.01435 C 0.35807 0.01111 0.3526 0.01504 0.35794 0.01157 C 0.35859 0.01134 0.35911 0.01064 0.3599 0.01041 C 0.36081 0.00995 0.36185 0.00972 0.36289 0.00902 C 0.36341 0.00879 0.36419 0.0081 0.36484 0.00787 C 0.36615 0.00717 0.36758 0.00694 0.36914 0.00648 C 0.37005 0.00625 0.37096 0.00555 0.37214 0.00532 C 0.37253 0.00439 0.37279 0.003 0.37344 0.00254 C 0.37773 -0.00116 0.37552 0.00463 0.38008 -0.00116 C 0.38125 -0.00255 0.38203 -0.00417 0.3832 -0.0051 C 0.38437 -0.00625 0.38568 -0.00695 0.38685 -0.00764 L 0.38867 -0.00903 C 0.38906 -0.00996 0.38932 -0.01088 0.38997 -0.01158 C 0.39102 -0.01274 0.39349 -0.01459 0.39492 -0.01551 C 0.39661 -0.01899 0.39544 -0.01806 0.39805 -0.01806 " pathEditMode="relative" rAng="0" ptsTypes="AAAAAAAAAAAAAAAAAAAAAAAAAAAAAAAAAAA">
                                      <p:cBhvr>
                                        <p:cTn id="9" dur="2600" fill="hold"/>
                                        <p:tgtEl>
                                          <p:spTgt spid="50"/>
                                        </p:tgtEl>
                                        <p:attrNameLst>
                                          <p:attrName>ppt_x</p:attrName>
                                          <p:attrName>ppt_y</p:attrName>
                                        </p:attrNameLst>
                                      </p:cBhvr>
                                      <p:rCtr x="19896" y="764"/>
                                    </p:animMotion>
                                  </p:childTnLst>
                                </p:cTn>
                              </p:par>
                              <p:par>
                                <p:cTn id="10" presetID="0" presetClass="path" presetSubtype="0" accel="50000" decel="50000" fill="hold" grpId="0" nodeType="withEffect">
                                  <p:stCondLst>
                                    <p:cond delay="400"/>
                                  </p:stCondLst>
                                  <p:childTnLst>
                                    <p:animMotion origin="layout" path="M 0.0026 -0.01227 L 0.0026 -0.01204 C 0.01393 -0.00047 0.00312 -0.0125 0.01185 -0.00047 C 0.01679 0.00602 0.01302 0.00023 0.0181 0.00532 C 0.0194 0.00671 0.02044 0.00926 0.02187 0.00995 L 0.02565 0.01227 C 0.02604 0.01319 0.02643 0.01435 0.02695 0.01481 C 0.04062 0.02754 0.02851 0.01551 0.03567 0.0206 C 0.03658 0.02129 0.03724 0.02268 0.03802 0.02291 C 0.04101 0.02407 0.04401 0.02453 0.04687 0.02546 C 0.05286 0.02477 0.05963 0.02523 0.06562 0.02176 C 0.06705 0.02106 0.0681 0.01944 0.0694 0.01828 C 0.0707 0.01713 0.072 0.0169 0.07304 0.01597 C 0.075 0.01458 0.07643 0.0125 0.07812 0.01111 C 0.07929 0.01041 0.08033 0.00972 0.08125 0.00879 C 0.08255 0.00764 0.08385 0.00625 0.08515 0.00532 C 0.08645 0.0044 0.08789 0.00393 0.08945 0.00301 C 0.09036 0.00231 0.09101 0.00115 0.09192 0.00046 C 0.09349 -0.00047 0.09687 -0.00139 0.09817 -0.00185 C 0.10169 -0.00625 0.09974 -0.00417 0.10638 -0.00764 C 0.11106 -0.01019 0.11093 -0.00972 0.11497 -0.01111 C 0.11653 -0.01227 0.11796 -0.01366 0.1194 -0.01482 C 0.12109 -0.01574 0.12291 -0.01597 0.12448 -0.01713 C 0.1263 -0.01829 0.12773 -0.02037 0.12955 -0.02176 C 0.13099 -0.02315 0.13242 -0.02431 0.13385 -0.02547 C 0.1358 -0.02685 0.13632 -0.02593 0.13828 -0.02778 C 0.14075 -0.0301 0.14336 -0.03241 0.1457 -0.03496 C 0.147 -0.03588 0.1483 -0.03704 0.14948 -0.0382 C 0.15924 -0.04931 0.14713 -0.03565 0.15507 -0.04422 C 0.15625 -0.04537 0.15716 -0.04676 0.1582 -0.04769 C 0.16237 -0.0507 0.16367 -0.04908 0.16757 -0.05232 C 0.16914 -0.05371 0.17044 -0.05579 0.172 -0.05718 C 0.17356 -0.05857 0.17539 -0.05926 0.17708 -0.06088 C 0.17877 -0.06204 0.18033 -0.06412 0.18203 -0.06551 C 0.18385 -0.0669 0.1858 -0.0676 0.18776 -0.06898 C 0.18893 -0.06991 0.1901 -0.07153 0.19127 -0.07269 C 0.19283 -0.07338 0.19427 -0.07408 0.19583 -0.075 C 0.19908 -0.07639 0.2026 -0.07755 0.20586 -0.07963 C 0.20872 -0.08125 0.21276 -0.08334 0.21588 -0.08542 C 0.21692 -0.08611 0.21783 -0.08704 0.21888 -0.08773 C 0.22031 -0.08866 0.22187 -0.08935 0.2233 -0.09005 C 0.22421 -0.09051 0.225 -0.09074 0.22578 -0.09144 C 0.22669 -0.0919 0.22747 -0.09306 0.22838 -0.09375 C 0.22981 -0.09468 0.23242 -0.09537 0.23398 -0.09607 C 0.23515 -0.09653 0.23645 -0.09769 0.23776 -0.09838 C 0.24557 -0.09699 0.25937 -0.09861 0.26823 -0.09005 C 0.26914 -0.08935 0.27408 -0.08264 0.27526 -0.08195 C 0.27682 -0.08079 0.27825 -0.0801 0.27968 -0.07824 C 0.28151 -0.0757 0.28333 -0.07269 0.28515 -0.07014 C 0.28645 -0.06852 0.28776 -0.06713 0.28906 -0.06551 C 0.28984 -0.06389 0.29049 -0.06204 0.29153 -0.06088 C 0.29231 -0.05972 0.29323 -0.05926 0.29401 -0.05834 C 0.29596 -0.05602 0.29791 -0.05371 0.29961 -0.05139 C 0.30065 -0.04954 0.30169 -0.04792 0.30273 -0.04676 C 0.3039 -0.04514 0.30533 -0.04445 0.30651 -0.04306 C 0.30807 -0.04097 0.30937 -0.0382 0.31093 -0.03588 C 0.31614 -0.02847 0.31302 -0.0338 0.31849 -0.02778 C 0.32278 -0.02292 0.31927 -0.0257 0.32278 -0.0206 C 0.3233 -0.01991 0.32877 -0.0132 0.32968 -0.01227 C 0.33073 -0.01158 0.33164 -0.01111 0.33281 -0.00996 C 0.34062 -0.00255 0.33242 -0.00972 0.33776 -0.00417 C 0.3427 0.00092 0.3414 2.59259E-6 0.34518 0.00185 C 0.34622 0.00301 0.347 0.0044 0.34791 0.00532 C 0.34856 0.00625 0.34948 0.00671 0.35039 0.00764 C 0.35455 0.01319 0.35 0.00995 0.3539 0.01227 C 0.35468 0.01319 0.35533 0.01412 0.35599 0.01481 C 0.35651 0.01528 0.35729 0.01528 0.35781 0.01597 C 0.35859 0.0169 0.35911 0.01828 0.35976 0.01944 C 0.3681 0.01921 0.3763 0.01944 0.38463 0.01828 C 0.3858 0.01805 0.39166 0.01435 0.39283 0.01365 C 0.40208 0.0081 0.39205 0.01435 0.40221 0.00879 C 0.41276 0.00301 0.40078 0.00903 0.40846 0.00532 C 0.4095 0.00416 0.41054 0.00254 0.41158 0.00185 C 0.41289 0.00092 0.41458 0.00092 0.41601 0.00046 C 0.41718 0.00023 0.41849 -0.00023 0.41979 -0.00047 C 0.42304 -0.00301 0.42395 -0.00417 0.42786 -0.00533 C 0.42994 -0.00602 0.43216 -0.00625 0.43411 -0.00648 C 0.43997 -0.01019 0.43567 -0.00787 0.44101 -0.00996 C 0.44283 -0.01088 0.44479 -0.01204 0.44661 -0.01227 C 0.44752 -0.0125 0.4483 -0.01227 0.44921 -0.01227 " pathEditMode="relative" rAng="0" ptsTypes="AAAAAAAAAAAAAAAAAAAAAAAAAAAAAAAAAAAAAAAAAAAAAAAAAAAAAAAAAAAAAAAAAAAAAAAAAAAAAAAA">
                                      <p:cBhvr>
                                        <p:cTn id="11" dur="2000" fill="hold"/>
                                        <p:tgtEl>
                                          <p:spTgt spid="51"/>
                                        </p:tgtEl>
                                        <p:attrNameLst>
                                          <p:attrName>ppt_x</p:attrName>
                                          <p:attrName>ppt_y</p:attrName>
                                        </p:attrNameLst>
                                      </p:cBhvr>
                                      <p:rCtr x="22331" y="-2431"/>
                                    </p:animMotion>
                                  </p:childTnLst>
                                </p:cTn>
                              </p:par>
                              <p:par>
                                <p:cTn id="12" presetID="0" presetClass="path" presetSubtype="0" accel="50000" decel="50000" fill="hold" grpId="0" nodeType="withEffect">
                                  <p:stCondLst>
                                    <p:cond delay="800"/>
                                  </p:stCondLst>
                                  <p:childTnLst>
                                    <p:animMotion origin="layout" path="M -0.0013 0.00092 C 0.00156 0.00162 0.00443 0.00185 0.0073 0.00324 C 0.00821 0.0037 0.00873 0.00579 0.00964 0.00648 C 0.01133 0.00833 0.01329 0.00972 0.01511 0.01134 C 0.02318 0.01829 0.0168 0.01389 0.02553 0.01944 C 0.02943 0.0243 0.03425 0.03055 0.03829 0.03333 C 0.04076 0.03495 0.04336 0.03588 0.04571 0.03796 C 0.04753 0.03958 0.04935 0.0412 0.05105 0.04259 C 0.0517 0.04305 0.05235 0.04329 0.053 0.04375 C 0.05717 0.04768 0.05222 0.04491 0.05717 0.04722 C 0.05847 0.04884 0.05964 0.05046 0.06094 0.05185 C 0.06224 0.05324 0.06381 0.05417 0.06524 0.05532 C 0.06641 0.05648 0.06771 0.05741 0.06889 0.05879 C 0.07071 0.06065 0.07253 0.06296 0.07435 0.06458 C 0.08321 0.07292 0.07396 0.06319 0.08347 0.07153 C 0.0849 0.07292 0.08633 0.07454 0.08777 0.07616 C 0.08868 0.07708 0.08933 0.07893 0.09011 0.07963 C 0.09089 0.08032 0.0918 0.08055 0.09271 0.08079 C 0.09428 0.08241 0.09584 0.08403 0.09753 0.08542 C 0.09896 0.0868 0.1004 0.0875 0.10183 0.08889 C 0.11784 0.10509 0.10118 0.08866 0.11107 0.10046 C 0.11211 0.10185 0.11355 0.10254 0.11459 0.10393 C 0.11589 0.10579 0.11706 0.1081 0.11836 0.10972 C 0.11902 0.11065 0.11993 0.11111 0.12071 0.11227 C 0.12188 0.11342 0.12266 0.11551 0.12383 0.11667 C 0.12527 0.11852 0.12722 0.11944 0.12865 0.12129 C 0.12995 0.12292 0.13099 0.12546 0.1323 0.12708 C 0.13555 0.13171 0.13933 0.13449 0.14206 0.13981 C 0.14727 0.14977 0.1448 0.14537 0.153 0.15833 C 0.15417 0.15995 0.15508 0.16134 0.15612 0.16319 C 0.15743 0.16504 0.15834 0.16736 0.15977 0.16898 C 0.16081 0.16991 0.16185 0.17106 0.1629 0.17245 C 0.16368 0.17361 0.16433 0.17569 0.16524 0.17708 C 0.16654 0.17893 0.16823 0.17986 0.16954 0.18148 C 0.17175 0.18449 0.17357 0.18796 0.17566 0.19097 C 0.17709 0.19282 0.17852 0.19467 0.17982 0.19676 C 0.18047 0.19722 0.1806 0.19838 0.18126 0.19884 C 0.18321 0.20139 0.18529 0.20324 0.18724 0.20602 C 0.18803 0.20694 0.18894 0.2081 0.18972 0.20949 C 0.19037 0.21065 0.19076 0.21204 0.19154 0.21273 C 0.19232 0.21389 0.19323 0.21435 0.19402 0.21528 C 0.19584 0.21713 0.19597 0.21852 0.19818 0.21991 C 0.19922 0.22037 0.20027 0.2206 0.20131 0.22106 C 0.20547 0.21898 0.20248 0.22129 0.20612 0.21528 C 0.20821 0.21204 0.20769 0.21412 0.20925 0.21065 C 0.20964 0.20949 0.21003 0.20833 0.21042 0.20694 C 0.2112 0.20509 0.21211 0.20324 0.2129 0.20116 C 0.21303 0.19977 0.21316 0.19815 0.21355 0.19676 C 0.21381 0.19537 0.21459 0.19467 0.21472 0.19305 C 0.21524 0.18773 0.21498 0.18241 0.21537 0.17708 C 0.21602 0.16528 0.21628 0.16157 0.21771 0.15162 C 0.21849 0.14606 0.21902 0.14051 0.22032 0.13518 C 0.22383 0.11805 0.21862 0.14352 0.22266 0.12129 C 0.2237 0.11504 0.22631 0.10278 0.22631 0.10301 C 0.22735 0.0912 0.22605 0.10023 0.22878 0.09004 C 0.23034 0.08449 0.22943 0.08426 0.23178 0.07963 C 0.23399 0.07546 0.23594 0.07685 0.2392 0.07616 C 0.24154 0.07546 0.24389 0.07384 0.24649 0.07384 L 0.28737 0.07268 L 0.3142 0.07153 C 0.31667 0.07083 0.31902 0.06967 0.32149 0.06921 C 0.32474 0.06852 0.32813 0.06852 0.33126 0.06805 L 0.33985 0.0669 C 0.35105 0.06088 0.33425 0.06944 0.35508 0.06227 C 0.36342 0.05926 0.35951 0.06042 0.36667 0.05879 C 0.36745 0.05833 0.36836 0.05787 0.36915 0.05764 C 0.3724 0.05648 0.37422 0.05625 0.37761 0.05532 C 0.38204 0.05417 0.38672 0.05347 0.39102 0.05185 C 0.39558 0.05 0.3931 0.05092 0.39844 0.0493 C 0.40196 0.04606 0.40001 0.04722 0.40456 0.04722 " pathEditMode="relative" rAng="0" ptsTypes="AAAAAAAAAAAAAAAAAAAAAAAAAAAAAAAAAAAAAAAAAAAAAAAAAAAAAAAAAAAAAAAAAAAAAA">
                                      <p:cBhvr>
                                        <p:cTn id="13" dur="2700" fill="hold"/>
                                        <p:tgtEl>
                                          <p:spTgt spid="52"/>
                                        </p:tgtEl>
                                        <p:attrNameLst>
                                          <p:attrName>ppt_x</p:attrName>
                                          <p:attrName>ppt_y</p:attrName>
                                        </p:attrNameLst>
                                      </p:cBhvr>
                                      <p:rCtr x="20286" y="10995"/>
                                    </p:animMotion>
                                  </p:childTnLst>
                                </p:cTn>
                              </p:par>
                              <p:par>
                                <p:cTn id="14" presetID="0" presetClass="path" presetSubtype="0" accel="50000" decel="50000" fill="hold" grpId="0" nodeType="withEffect">
                                  <p:stCondLst>
                                    <p:cond delay="1100"/>
                                  </p:stCondLst>
                                  <p:childTnLst>
                                    <p:animMotion origin="layout" path="M -0.0013 -0.00996 L -0.0013 -0.00973 C 0.00118 -0.00811 0.00352 -0.00602 0.00612 -0.00417 C 0.0069 -0.00325 0.00769 -0.00232 0.0086 -0.00139 C 0.01094 0.00046 0.01354 0.00254 0.01602 0.00462 C 0.01758 0.00601 0.0194 0.0081 0.0211 0.00949 C 0.02422 0.01273 0.02748 0.01597 0.03086 0.01805 C 0.03151 0.01851 0.03229 0.01875 0.03282 0.01944 L 0.05026 0.03425 C 0.05235 0.03611 0.05456 0.03703 0.05651 0.03912 C 0.05808 0.04097 0.05964 0.04305 0.06146 0.04421 C 0.06354 0.0456 0.06615 0.0456 0.06836 0.04652 C 0.07097 0.04791 0.07383 0.04953 0.07644 0.05138 C 0.0793 0.0537 0.08229 0.05578 0.08503 0.05902 C 0.08737 0.06134 0.08946 0.06412 0.0918 0.0662 C 0.09506 0.06875 0.0987 0.06967 0.10183 0.07245 C 0.10404 0.0743 0.10599 0.07754 0.10808 0.07986 C 0.1099 0.08194 0.11172 0.08379 0.11368 0.08611 C 0.11472 0.08726 0.11563 0.08888 0.1168 0.08958 C 0.11927 0.09143 0.11966 0.09143 0.1224 0.09467 C 0.13308 0.10717 0.12735 0.10416 0.13425 0.10694 C 0.13568 0.10995 0.13685 0.11296 0.13868 0.1155 C 0.14024 0.11851 0.14232 0.12037 0.14414 0.12291 C 0.15248 0.13472 0.14571 0.12638 0.15352 0.13518 C 0.15521 0.14074 0.15469 0.13935 0.15782 0.14513 C 0.15938 0.14768 0.16081 0.14976 0.16211 0.15254 C 0.16276 0.15347 0.16289 0.15532 0.16341 0.15625 C 0.16537 0.15995 0.16563 0.15972 0.16784 0.16111 C 0.16888 0.16319 0.16966 0.1655 0.17084 0.16736 C 0.17136 0.16805 0.17227 0.16805 0.17279 0.16851 C 0.1737 0.16944 0.17435 0.17013 0.17526 0.17083 C 0.17631 0.17222 0.17722 0.17384 0.17839 0.17453 C 0.17917 0.17523 0.18008 0.17546 0.18086 0.17592 C 0.1819 0.17754 0.18282 0.17939 0.18399 0.18078 C 0.18555 0.18287 0.18763 0.18333 0.18894 0.18587 C 0.18998 0.18796 0.19076 0.19027 0.19219 0.19212 C 0.19349 0.19398 0.19545 0.19513 0.19688 0.19699 C 0.19805 0.19791 0.19909 0.1993 0.20013 0.20069 C 0.20104 0.20162 0.20183 0.20208 0.20261 0.203 C 0.2043 0.20532 0.20586 0.20856 0.20756 0.21041 L 0.21263 0.2155 C 0.21563 0.22152 0.21159 0.21435 0.21563 0.21921 C 0.21615 0.21967 0.21641 0.22083 0.2168 0.22152 C 0.21745 0.22245 0.2181 0.22314 0.21888 0.22407 C 0.21927 0.22476 0.21953 0.22569 0.22006 0.22638 C 0.22058 0.22708 0.22136 0.22731 0.22188 0.22777 C 0.22644 0.23101 0.22331 0.22962 0.22813 0.23148 L 0.25482 0.22777 C 0.2569 0.22731 0.25912 0.22754 0.26107 0.22638 C 0.26224 0.22569 0.26315 0.22384 0.26407 0.22268 C 0.26706 0.22013 0.26784 0.21944 0.27032 0.21782 C 0.28086 0.20393 0.26537 0.2243 0.28047 0.20694 C 0.28086 0.20625 0.28099 0.20486 0.28164 0.20416 C 0.29076 0.19629 0.28086 0.20879 0.29089 0.19699 C 0.29258 0.19513 0.29375 0.19282 0.29532 0.19074 C 0.29831 0.1868 0.30157 0.18333 0.30456 0.17962 C 0.30612 0.178 0.30769 0.17662 0.30899 0.17453 C 0.31055 0.17222 0.31211 0.16898 0.31407 0.16736 C 0.31537 0.16597 0.3168 0.16504 0.31836 0.16365 C 0.31901 0.16296 0.31953 0.1618 0.32019 0.16111 C 0.32175 0.15972 0.32357 0.15925 0.32513 0.1574 C 0.32696 0.15555 0.32839 0.15231 0.33008 0.15 C 0.33177 0.14768 0.33334 0.14583 0.33516 0.14375 C 0.33568 0.14328 0.33633 0.14328 0.33698 0.14259 C 0.33854 0.1412 0.33998 0.13958 0.34141 0.13796 C 0.34271 0.13587 0.34401 0.13333 0.34571 0.13171 C 0.34883 0.128 0.35235 0.125 0.3556 0.12175 C 0.35638 0.12083 0.35716 0.1199 0.35808 0.11944 C 0.35912 0.11851 0.36016 0.11759 0.3612 0.11666 C 0.36185 0.1162 0.3625 0.1162 0.36302 0.1155 C 0.36407 0.11458 0.36524 0.11296 0.36615 0.1118 C 0.36784 0.11018 0.3694 0.10949 0.3711 0.1081 C 0.37383 0.10578 0.37409 0.10486 0.3767 0.10185 C 0.37839 0.10023 0.38021 0.09884 0.38177 0.09699 C 0.38282 0.09606 0.38373 0.09444 0.38477 0.09328 C 0.38607 0.09189 0.38737 0.0912 0.38854 0.08958 C 0.39024 0.08773 0.39193 0.08541 0.39349 0.08333 C 0.40222 0.0743 0.39401 0.08356 0.40104 0.07847 C 0.41563 0.06805 0.4069 0.07152 0.41524 0.06875 C 0.41628 0.06805 0.4224 0.06342 0.42396 0.0625 C 0.42552 0.0618 0.42696 0.0618 0.42839 0.06134 C 0.42982 0.05995 0.43112 0.05833 0.43282 0.05763 C 0.43451 0.05671 0.43646 0.05694 0.43841 0.05625 C 0.44753 0.05347 0.4418 0.05532 0.44649 0.05277 C 0.4474 0.05208 0.44974 0.05115 0.45078 0.05023 C 0.45091 0.05 0.45118 0.04953 0.45157 0.04907 " pathEditMode="relative" rAng="0" ptsTypes="AAAAAAAAAAAAAAAAAAAAAAAAAAAAAAAAAAAAAAAAAAAAAAAAAAAAAAAAAAAAAAAAAAAAAAAAAAAAAAAAAAAAAA">
                                      <p:cBhvr>
                                        <p:cTn id="15" dur="2000" fill="hold"/>
                                        <p:tgtEl>
                                          <p:spTgt spid="53"/>
                                        </p:tgtEl>
                                        <p:attrNameLst>
                                          <p:attrName>ppt_x</p:attrName>
                                          <p:attrName>ppt_y</p:attrName>
                                        </p:attrNameLst>
                                      </p:cBhvr>
                                      <p:rCtr x="22643" y="12060"/>
                                    </p:animMotion>
                                  </p:childTnLst>
                                </p:cTn>
                              </p:par>
                            </p:childTnLst>
                          </p:cTn>
                        </p:par>
                        <p:par>
                          <p:cTn id="16" fill="hold">
                            <p:stCondLst>
                              <p:cond delay="2000"/>
                            </p:stCondLst>
                            <p:childTnLst>
                              <p:par>
                                <p:cTn id="17" presetID="10" presetClass="entr" presetSubtype="0" fill="hold" grpId="0" nodeType="afterEffect">
                                  <p:stCondLst>
                                    <p:cond delay="0"/>
                                  </p:stCondLst>
                                  <p:childTnLst>
                                    <p:set>
                                      <p:cBhvr>
                                        <p:cTn id="18" dur="1" fill="hold">
                                          <p:stCondLst>
                                            <p:cond delay="0"/>
                                          </p:stCondLst>
                                        </p:cTn>
                                        <p:tgtEl>
                                          <p:spTgt spid="75"/>
                                        </p:tgtEl>
                                        <p:attrNameLst>
                                          <p:attrName>style.visibility</p:attrName>
                                        </p:attrNameLst>
                                      </p:cBhvr>
                                      <p:to>
                                        <p:strVal val="visible"/>
                                      </p:to>
                                    </p:set>
                                    <p:animEffect transition="in" filter="fade">
                                      <p:cBhvr>
                                        <p:cTn id="19" dur="500"/>
                                        <p:tgtEl>
                                          <p:spTgt spid="75"/>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54"/>
                                        </p:tgtEl>
                                        <p:attrNameLst>
                                          <p:attrName>style.visibility</p:attrName>
                                        </p:attrNameLst>
                                      </p:cBhvr>
                                      <p:to>
                                        <p:strVal val="visible"/>
                                      </p:to>
                                    </p:set>
                                    <p:animEffect transition="in" filter="blinds(horizontal)">
                                      <p:cBhvr>
                                        <p:cTn id="24"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bldLvl="0" animBg="1"/>
      <p:bldP spid="51" grpId="0" bldLvl="0" animBg="1"/>
      <p:bldP spid="52" grpId="0" bldLvl="0" animBg="1"/>
      <p:bldP spid="53" grpId="0" bldLvl="0" animBg="1"/>
      <p:bldP spid="75" grpId="0"/>
      <p:bldP spid="54"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数据包的转发策略</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12</a:t>
            </a:fld>
            <a:endParaRPr kumimoji="1" lang="zh-CN" altLang="en-US" dirty="0"/>
          </a:p>
        </p:txBody>
      </p:sp>
      <p:sp>
        <p:nvSpPr>
          <p:cNvPr id="57" name="内容占位符 2"/>
          <p:cNvSpPr>
            <a:spLocks noGrp="1"/>
          </p:cNvSpPr>
          <p:nvPr>
            <p:ph idx="1"/>
          </p:nvPr>
        </p:nvSpPr>
        <p:spPr>
          <a:xfrm>
            <a:off x="838200" y="1417272"/>
            <a:ext cx="10515600" cy="873457"/>
          </a:xfrm>
        </p:spPr>
        <p:txBody>
          <a:bodyPr>
            <a:normAutofit/>
          </a:bodyPr>
          <a:lstStyle/>
          <a:p>
            <a:pPr>
              <a:lnSpc>
                <a:spcPct val="120000"/>
              </a:lnSpc>
            </a:pPr>
            <a:r>
              <a:rPr kumimoji="1" lang="zh-CN" altLang="en-US" sz="2400" dirty="0"/>
              <a:t>数据包转发策略：数据包转发决策基于数据包的目的地址</a:t>
            </a:r>
            <a:endParaRPr kumimoji="1" lang="en-US" altLang="zh-CN" sz="2400" dirty="0"/>
          </a:p>
        </p:txBody>
      </p:sp>
      <p:cxnSp>
        <p:nvCxnSpPr>
          <p:cNvPr id="71" name="直接箭头连接符 70"/>
          <p:cNvCxnSpPr/>
          <p:nvPr/>
        </p:nvCxnSpPr>
        <p:spPr>
          <a:xfrm>
            <a:off x="4574540" y="3970655"/>
            <a:ext cx="908685" cy="643255"/>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cxnSp>
        <p:nvCxnSpPr>
          <p:cNvPr id="73" name="直接箭头连接符 72"/>
          <p:cNvCxnSpPr/>
          <p:nvPr/>
        </p:nvCxnSpPr>
        <p:spPr>
          <a:xfrm flipV="1">
            <a:off x="6233323" y="3886500"/>
            <a:ext cx="1204526" cy="727857"/>
          </a:xfrm>
          <a:prstGeom prst="straightConnector1">
            <a:avLst/>
          </a:prstGeom>
          <a:ln w="28575">
            <a:solidFill>
              <a:srgbClr val="E7D1E7"/>
            </a:solidFill>
            <a:tailEnd type="triangle"/>
          </a:ln>
        </p:spPr>
        <p:style>
          <a:lnRef idx="1">
            <a:schemeClr val="accent3"/>
          </a:lnRef>
          <a:fillRef idx="0">
            <a:schemeClr val="accent3"/>
          </a:fillRef>
          <a:effectRef idx="0">
            <a:schemeClr val="accent3"/>
          </a:effectRef>
          <a:fontRef idx="minor">
            <a:schemeClr val="tx1"/>
          </a:fontRef>
        </p:style>
      </p:cxnSp>
      <p:graphicFrame>
        <p:nvGraphicFramePr>
          <p:cNvPr id="122" name="表格 121"/>
          <p:cNvGraphicFramePr>
            <a:graphicFrameLocks noGrp="1"/>
          </p:cNvGraphicFramePr>
          <p:nvPr/>
        </p:nvGraphicFramePr>
        <p:xfrm>
          <a:off x="4586826" y="5221059"/>
          <a:ext cx="2948372" cy="1112520"/>
        </p:xfrm>
        <a:graphic>
          <a:graphicData uri="http://schemas.openxmlformats.org/drawingml/2006/table">
            <a:tbl>
              <a:tblPr firstRow="1" bandRow="1">
                <a:tableStyleId>{5C22544A-7EE6-4342-B048-85BDC9FD1C3A}</a:tableStyleId>
              </a:tblPr>
              <a:tblGrid>
                <a:gridCol w="1474186">
                  <a:extLst>
                    <a:ext uri="{9D8B030D-6E8A-4147-A177-3AD203B41FA5}">
                      <a16:colId xmlns:a16="http://schemas.microsoft.com/office/drawing/2014/main" val="20000"/>
                    </a:ext>
                  </a:extLst>
                </a:gridCol>
                <a:gridCol w="1474186">
                  <a:extLst>
                    <a:ext uri="{9D8B030D-6E8A-4147-A177-3AD203B41FA5}">
                      <a16:colId xmlns:a16="http://schemas.microsoft.com/office/drawing/2014/main" val="20001"/>
                    </a:ext>
                  </a:extLst>
                </a:gridCol>
              </a:tblGrid>
              <a:tr h="370840">
                <a:tc>
                  <a:txBody>
                    <a:bodyPr/>
                    <a:lstStyle/>
                    <a:p>
                      <a:pPr algn="ctr"/>
                      <a:r>
                        <a:rPr lang="zh-CN" altLang="en-US" b="0" dirty="0">
                          <a:solidFill>
                            <a:schemeClr val="tx1"/>
                          </a:solidFill>
                          <a:latin typeface="等线" panose="02010600030101010101" pitchFamily="2" charset="-122"/>
                          <a:ea typeface="等线" panose="02010600030101010101" pitchFamily="2" charset="-122"/>
                        </a:rPr>
                        <a:t>目的地址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zh-CN" altLang="en-US" b="0" dirty="0">
                          <a:solidFill>
                            <a:schemeClr val="tx1"/>
                          </a:solidFill>
                          <a:latin typeface="等线" panose="02010600030101010101" pitchFamily="2" charset="-122"/>
                          <a:ea typeface="等线" panose="02010600030101010101" pitchFamily="2" charset="-122"/>
                        </a:rPr>
                        <a:t>输出端口</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70840">
                <a:tc>
                  <a:txBody>
                    <a:bodyPr/>
                    <a:lstStyle/>
                    <a:p>
                      <a:pPr algn="ctr"/>
                      <a:r>
                        <a:rPr lang="en-US" altLang="zh-CN" b="0" dirty="0">
                          <a:solidFill>
                            <a:schemeClr val="tx1"/>
                          </a:solidFill>
                          <a:latin typeface="等线" panose="02010600030101010101" pitchFamily="2" charset="-122"/>
                          <a:ea typeface="等线" panose="02010600030101010101" pitchFamily="2" charset="-122"/>
                        </a:rPr>
                        <a:t>A</a:t>
                      </a:r>
                      <a:endParaRPr lang="zh-CN" altLang="en-US" b="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等线" panose="02010600030101010101" pitchFamily="2" charset="-122"/>
                          <a:ea typeface="等线" panose="02010600030101010101" pitchFamily="2" charset="-122"/>
                        </a:rPr>
                        <a:t>1</a:t>
                      </a:r>
                      <a:endParaRPr lang="zh-CN" altLang="en-US" b="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70840">
                <a:tc>
                  <a:txBody>
                    <a:bodyPr/>
                    <a:lstStyle/>
                    <a:p>
                      <a:pPr algn="ctr"/>
                      <a:r>
                        <a:rPr lang="en-US" altLang="zh-CN" b="0" dirty="0">
                          <a:solidFill>
                            <a:schemeClr val="tx1"/>
                          </a:solidFill>
                          <a:latin typeface="等线" panose="02010600030101010101" pitchFamily="2" charset="-122"/>
                          <a:ea typeface="等线" panose="02010600030101010101" pitchFamily="2" charset="-122"/>
                        </a:rPr>
                        <a:t>B</a:t>
                      </a:r>
                      <a:endParaRPr lang="zh-CN" altLang="en-US" b="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b="0" dirty="0">
                          <a:solidFill>
                            <a:schemeClr val="tx1"/>
                          </a:solidFill>
                          <a:latin typeface="等线" panose="02010600030101010101" pitchFamily="2" charset="-122"/>
                          <a:ea typeface="等线" panose="02010600030101010101" pitchFamily="2" charset="-122"/>
                        </a:rPr>
                        <a:t>3</a:t>
                      </a:r>
                      <a:endParaRPr lang="zh-CN" altLang="en-US" b="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cxnSp>
        <p:nvCxnSpPr>
          <p:cNvPr id="138" name="连接符: 肘形 137"/>
          <p:cNvCxnSpPr/>
          <p:nvPr/>
        </p:nvCxnSpPr>
        <p:spPr>
          <a:xfrm rot="16200000" flipH="1">
            <a:off x="3183873" y="4844494"/>
            <a:ext cx="1599048" cy="1163678"/>
          </a:xfrm>
          <a:prstGeom prst="bentConnector3">
            <a:avLst>
              <a:gd name="adj1" fmla="val 99967"/>
            </a:avLst>
          </a:prstGeom>
          <a:ln w="28575">
            <a:tailEnd type="triangle"/>
          </a:ln>
        </p:spPr>
        <p:style>
          <a:lnRef idx="1">
            <a:schemeClr val="dk1"/>
          </a:lnRef>
          <a:fillRef idx="0">
            <a:schemeClr val="dk1"/>
          </a:fillRef>
          <a:effectRef idx="0">
            <a:schemeClr val="dk1"/>
          </a:effectRef>
          <a:fontRef idx="minor">
            <a:schemeClr val="tx1"/>
          </a:fontRef>
        </p:style>
      </p:cxnSp>
      <p:cxnSp>
        <p:nvCxnSpPr>
          <p:cNvPr id="141" name="连接符: 肘形 140"/>
          <p:cNvCxnSpPr/>
          <p:nvPr/>
        </p:nvCxnSpPr>
        <p:spPr>
          <a:xfrm rot="5400000" flipH="1" flipV="1">
            <a:off x="7215214" y="5016700"/>
            <a:ext cx="1480054" cy="819515"/>
          </a:xfrm>
          <a:prstGeom prst="bentConnector3">
            <a:avLst>
              <a:gd name="adj1" fmla="val -385"/>
            </a:avLst>
          </a:prstGeom>
          <a:ln w="28575">
            <a:tailEnd type="triangle"/>
          </a:ln>
        </p:spPr>
        <p:style>
          <a:lnRef idx="1">
            <a:schemeClr val="dk1"/>
          </a:lnRef>
          <a:fillRef idx="0">
            <a:schemeClr val="dk1"/>
          </a:fillRef>
          <a:effectRef idx="0">
            <a:schemeClr val="dk1"/>
          </a:effectRef>
          <a:fontRef idx="minor">
            <a:schemeClr val="tx1"/>
          </a:fontRef>
        </p:style>
      </p:cxnSp>
      <p:sp>
        <p:nvSpPr>
          <p:cNvPr id="70" name="日期占位符 9"/>
          <p:cNvSpPr>
            <a:spLocks noGrp="1"/>
          </p:cNvSpPr>
          <p:nvPr>
            <p:ph type="dt" sz="half" idx="10"/>
          </p:nvPr>
        </p:nvSpPr>
        <p:spPr>
          <a:xfrm>
            <a:off x="197485" y="6489065"/>
            <a:ext cx="3204845" cy="365125"/>
          </a:xfrm>
        </p:spPr>
        <p:txBody>
          <a:bodyPr/>
          <a:lstStyle/>
          <a:p>
            <a:r>
              <a:rPr kumimoji="1" lang="en-US" altLang="zh-CN" dirty="0">
                <a:latin typeface="DengXian" panose="02010600030101010101" pitchFamily="2" charset="-122"/>
                <a:ea typeface="DengXian" panose="02010600030101010101" pitchFamily="2" charset="-122"/>
              </a:rPr>
              <a:t>5.1.4 </a:t>
            </a:r>
            <a:r>
              <a:rPr kumimoji="1" lang="zh-CN" altLang="en-US" dirty="0">
                <a:latin typeface="DengXian" panose="02010600030101010101" pitchFamily="2" charset="-122"/>
                <a:ea typeface="DengXian" panose="02010600030101010101" pitchFamily="2" charset="-122"/>
              </a:rPr>
              <a:t>虚电路与数据包网络的比较</a:t>
            </a:r>
          </a:p>
        </p:txBody>
      </p:sp>
      <p:grpSp>
        <p:nvGrpSpPr>
          <p:cNvPr id="15" name="组合 14"/>
          <p:cNvGrpSpPr/>
          <p:nvPr/>
        </p:nvGrpSpPr>
        <p:grpSpPr>
          <a:xfrm>
            <a:off x="996950" y="2149475"/>
            <a:ext cx="10153015" cy="3000375"/>
            <a:chOff x="1570" y="3369"/>
            <a:chExt cx="15989" cy="4725"/>
          </a:xfrm>
        </p:grpSpPr>
        <p:sp>
          <p:nvSpPr>
            <p:cNvPr id="3" name="文本框 2"/>
            <p:cNvSpPr txBox="1"/>
            <p:nvPr/>
          </p:nvSpPr>
          <p:spPr>
            <a:xfrm>
              <a:off x="8546" y="6455"/>
              <a:ext cx="476" cy="531"/>
            </a:xfrm>
            <a:prstGeom prst="rect">
              <a:avLst/>
            </a:prstGeom>
            <a:noFill/>
          </p:spPr>
          <p:txBody>
            <a:bodyPr wrap="none" rtlCol="0">
              <a:spAutoFit/>
            </a:bodyPr>
            <a:lstStyle/>
            <a:p>
              <a:r>
                <a:rPr lang="en-US" altLang="zh-CN" sz="1600" dirty="0">
                  <a:solidFill>
                    <a:srgbClr val="5C307E"/>
                  </a:solidFill>
                  <a:latin typeface="等线" panose="02010600030101010101" pitchFamily="2" charset="-122"/>
                  <a:ea typeface="等线" panose="02010600030101010101" pitchFamily="2" charset="-122"/>
                </a:rPr>
                <a:t>1</a:t>
              </a:r>
            </a:p>
          </p:txBody>
        </p:sp>
        <p:sp>
          <p:nvSpPr>
            <p:cNvPr id="10" name="文本框 9"/>
            <p:cNvSpPr txBox="1"/>
            <p:nvPr/>
          </p:nvSpPr>
          <p:spPr>
            <a:xfrm>
              <a:off x="9042" y="6377"/>
              <a:ext cx="476" cy="531"/>
            </a:xfrm>
            <a:prstGeom prst="rect">
              <a:avLst/>
            </a:prstGeom>
            <a:noFill/>
          </p:spPr>
          <p:txBody>
            <a:bodyPr wrap="none" rtlCol="0">
              <a:spAutoFit/>
            </a:bodyPr>
            <a:lstStyle/>
            <a:p>
              <a:r>
                <a:rPr lang="en-US" altLang="zh-CN" sz="1600" dirty="0">
                  <a:solidFill>
                    <a:srgbClr val="5C307E"/>
                  </a:solidFill>
                  <a:latin typeface="等线" panose="02010600030101010101" pitchFamily="2" charset="-122"/>
                  <a:ea typeface="等线" panose="02010600030101010101" pitchFamily="2" charset="-122"/>
                </a:rPr>
                <a:t>2</a:t>
              </a:r>
            </a:p>
          </p:txBody>
        </p:sp>
        <p:sp>
          <p:nvSpPr>
            <p:cNvPr id="13" name="文本框 12"/>
            <p:cNvSpPr txBox="1"/>
            <p:nvPr/>
          </p:nvSpPr>
          <p:spPr>
            <a:xfrm>
              <a:off x="9428" y="6430"/>
              <a:ext cx="476" cy="531"/>
            </a:xfrm>
            <a:prstGeom prst="rect">
              <a:avLst/>
            </a:prstGeom>
            <a:noFill/>
          </p:spPr>
          <p:txBody>
            <a:bodyPr wrap="none" rtlCol="0">
              <a:spAutoFit/>
            </a:bodyPr>
            <a:lstStyle/>
            <a:p>
              <a:r>
                <a:rPr lang="en-US" altLang="zh-CN" sz="1600" dirty="0">
                  <a:solidFill>
                    <a:srgbClr val="5C307E"/>
                  </a:solidFill>
                  <a:latin typeface="等线" panose="02010600030101010101" pitchFamily="2" charset="-122"/>
                  <a:ea typeface="等线" panose="02010600030101010101" pitchFamily="2" charset="-122"/>
                </a:rPr>
                <a:t>3</a:t>
              </a:r>
            </a:p>
          </p:txBody>
        </p:sp>
        <p:grpSp>
          <p:nvGrpSpPr>
            <p:cNvPr id="18" name="组合 17"/>
            <p:cNvGrpSpPr/>
            <p:nvPr/>
          </p:nvGrpSpPr>
          <p:grpSpPr>
            <a:xfrm>
              <a:off x="1570" y="3369"/>
              <a:ext cx="1933" cy="3057"/>
              <a:chOff x="357711" y="2619024"/>
              <a:chExt cx="1227578" cy="1940916"/>
            </a:xfrm>
          </p:grpSpPr>
          <p:sp>
            <p:nvSpPr>
              <p:cNvPr id="20" name="矩形 19"/>
              <p:cNvSpPr/>
              <p:nvPr/>
            </p:nvSpPr>
            <p:spPr>
              <a:xfrm>
                <a:off x="485070" y="2731140"/>
                <a:ext cx="1100219" cy="1828800"/>
              </a:xfrm>
              <a:prstGeom prst="rect">
                <a:avLst/>
              </a:prstGeom>
              <a:solidFill>
                <a:srgbClr val="5C307E"/>
              </a:solidFill>
              <a:ln>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364467" y="3706299"/>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23" name="矩形 22"/>
              <p:cNvSpPr/>
              <p:nvPr/>
            </p:nvSpPr>
            <p:spPr>
              <a:xfrm>
                <a:off x="364466" y="2982091"/>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25" name="矩形 24"/>
              <p:cNvSpPr/>
              <p:nvPr/>
            </p:nvSpPr>
            <p:spPr>
              <a:xfrm>
                <a:off x="364598" y="4072287"/>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26" name="矩形 25"/>
              <p:cNvSpPr/>
              <p:nvPr/>
            </p:nvSpPr>
            <p:spPr>
              <a:xfrm>
                <a:off x="364598" y="2619024"/>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27" name="矩形 26"/>
              <p:cNvSpPr/>
              <p:nvPr/>
            </p:nvSpPr>
            <p:spPr>
              <a:xfrm>
                <a:off x="360055" y="3351649"/>
                <a:ext cx="1113061"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29" name="矩形 28"/>
              <p:cNvSpPr/>
              <p:nvPr/>
            </p:nvSpPr>
            <p:spPr>
              <a:xfrm>
                <a:off x="357711" y="3355911"/>
                <a:ext cx="1113727" cy="367456"/>
              </a:xfrm>
              <a:prstGeom prst="rect">
                <a:avLst/>
              </a:prstGeom>
              <a:solidFill>
                <a:srgbClr val="5C307E">
                  <a:alpha val="48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等线" panose="02010600030101010101" pitchFamily="2" charset="-122"/>
                    <a:ea typeface="等线" panose="02010600030101010101" pitchFamily="2" charset="-122"/>
                  </a:rPr>
                  <a:t>网络层</a:t>
                </a:r>
              </a:p>
            </p:txBody>
          </p:sp>
        </p:grpSp>
        <p:grpSp>
          <p:nvGrpSpPr>
            <p:cNvPr id="31" name="组合 30"/>
            <p:cNvGrpSpPr/>
            <p:nvPr/>
          </p:nvGrpSpPr>
          <p:grpSpPr>
            <a:xfrm>
              <a:off x="15627" y="3543"/>
              <a:ext cx="1933" cy="3057"/>
              <a:chOff x="357711" y="2619024"/>
              <a:chExt cx="1227578" cy="1940916"/>
            </a:xfrm>
          </p:grpSpPr>
          <p:sp>
            <p:nvSpPr>
              <p:cNvPr id="33" name="矩形 32"/>
              <p:cNvSpPr/>
              <p:nvPr/>
            </p:nvSpPr>
            <p:spPr>
              <a:xfrm>
                <a:off x="485070" y="2731140"/>
                <a:ext cx="1100219" cy="1828800"/>
              </a:xfrm>
              <a:prstGeom prst="rect">
                <a:avLst/>
              </a:prstGeom>
              <a:solidFill>
                <a:srgbClr val="5C307E"/>
              </a:solidFill>
              <a:ln>
                <a:solidFill>
                  <a:srgbClr val="5C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364467" y="3706299"/>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35" name="矩形 34"/>
              <p:cNvSpPr/>
              <p:nvPr/>
            </p:nvSpPr>
            <p:spPr>
              <a:xfrm>
                <a:off x="364466" y="2982091"/>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36" name="矩形 35"/>
              <p:cNvSpPr/>
              <p:nvPr/>
            </p:nvSpPr>
            <p:spPr>
              <a:xfrm>
                <a:off x="364598" y="4072287"/>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37" name="矩形 36"/>
              <p:cNvSpPr/>
              <p:nvPr/>
            </p:nvSpPr>
            <p:spPr>
              <a:xfrm>
                <a:off x="364598" y="2619024"/>
                <a:ext cx="1100219"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44" name="矩形 43"/>
              <p:cNvSpPr/>
              <p:nvPr/>
            </p:nvSpPr>
            <p:spPr>
              <a:xfrm>
                <a:off x="360055" y="3351649"/>
                <a:ext cx="1113061" cy="36745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solidFill>
                    <a:schemeClr val="tx1"/>
                  </a:solidFill>
                  <a:latin typeface="等线" panose="02010600030101010101" pitchFamily="2" charset="-122"/>
                  <a:ea typeface="等线" panose="02010600030101010101" pitchFamily="2" charset="-122"/>
                </a:endParaRPr>
              </a:p>
            </p:txBody>
          </p:sp>
          <p:sp>
            <p:nvSpPr>
              <p:cNvPr id="45" name="矩形 44"/>
              <p:cNvSpPr/>
              <p:nvPr/>
            </p:nvSpPr>
            <p:spPr>
              <a:xfrm>
                <a:off x="357711" y="3355911"/>
                <a:ext cx="1113727" cy="367456"/>
              </a:xfrm>
              <a:prstGeom prst="rect">
                <a:avLst/>
              </a:prstGeom>
              <a:solidFill>
                <a:srgbClr val="5C307E">
                  <a:alpha val="48000"/>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latin typeface="等线" panose="02010600030101010101" pitchFamily="2" charset="-122"/>
                    <a:ea typeface="等线" panose="02010600030101010101" pitchFamily="2" charset="-122"/>
                  </a:rPr>
                  <a:t>网络层</a:t>
                </a:r>
              </a:p>
            </p:txBody>
          </p:sp>
        </p:grpSp>
        <p:grpSp>
          <p:nvGrpSpPr>
            <p:cNvPr id="58" name="组合 57"/>
            <p:cNvGrpSpPr/>
            <p:nvPr/>
          </p:nvGrpSpPr>
          <p:grpSpPr>
            <a:xfrm>
              <a:off x="3333" y="3816"/>
              <a:ext cx="12445" cy="4278"/>
              <a:chOff x="1280664" y="3160857"/>
              <a:chExt cx="9581222" cy="3333678"/>
            </a:xfrm>
          </p:grpSpPr>
          <p:grpSp>
            <p:nvGrpSpPr>
              <p:cNvPr id="59" name="组合 58"/>
              <p:cNvGrpSpPr/>
              <p:nvPr/>
            </p:nvGrpSpPr>
            <p:grpSpPr>
              <a:xfrm>
                <a:off x="1546275" y="3160857"/>
                <a:ext cx="9041239" cy="2843922"/>
                <a:chOff x="1546275" y="3160857"/>
                <a:chExt cx="9041239" cy="2843922"/>
              </a:xfrm>
            </p:grpSpPr>
            <p:cxnSp>
              <p:nvCxnSpPr>
                <p:cNvPr id="60" name="直接连接符 59"/>
                <p:cNvCxnSpPr/>
                <p:nvPr/>
              </p:nvCxnSpPr>
              <p:spPr>
                <a:xfrm>
                  <a:off x="2042438" y="3866383"/>
                  <a:ext cx="1858443" cy="677352"/>
                </a:xfrm>
                <a:prstGeom prst="line">
                  <a:avLst/>
                </a:prstGeom>
                <a:ln w="76200"/>
              </p:spPr>
              <p:style>
                <a:lnRef idx="1">
                  <a:schemeClr val="dk1"/>
                </a:lnRef>
                <a:fillRef idx="0">
                  <a:schemeClr val="dk1"/>
                </a:fillRef>
                <a:effectRef idx="0">
                  <a:schemeClr val="dk1"/>
                </a:effectRef>
                <a:fontRef idx="minor">
                  <a:schemeClr val="tx1"/>
                </a:fontRef>
              </p:style>
            </p:cxnSp>
            <p:cxnSp>
              <p:nvCxnSpPr>
                <p:cNvPr id="61" name="直接连接符 60"/>
                <p:cNvCxnSpPr/>
                <p:nvPr/>
              </p:nvCxnSpPr>
              <p:spPr>
                <a:xfrm flipV="1">
                  <a:off x="4009938" y="3429000"/>
                  <a:ext cx="2189526" cy="975220"/>
                </a:xfrm>
                <a:prstGeom prst="line">
                  <a:avLst/>
                </a:prstGeom>
                <a:ln w="12700"/>
              </p:spPr>
              <p:style>
                <a:lnRef idx="1">
                  <a:schemeClr val="dk1"/>
                </a:lnRef>
                <a:fillRef idx="0">
                  <a:schemeClr val="dk1"/>
                </a:fillRef>
                <a:effectRef idx="0">
                  <a:schemeClr val="dk1"/>
                </a:effectRef>
                <a:fontRef idx="minor">
                  <a:schemeClr val="tx1"/>
                </a:fontRef>
              </p:style>
            </p:cxnSp>
            <p:cxnSp>
              <p:nvCxnSpPr>
                <p:cNvPr id="72" name="直接连接符 71"/>
                <p:cNvCxnSpPr/>
                <p:nvPr/>
              </p:nvCxnSpPr>
              <p:spPr>
                <a:xfrm>
                  <a:off x="6441987" y="3399201"/>
                  <a:ext cx="1541004" cy="1076978"/>
                </a:xfrm>
                <a:prstGeom prst="line">
                  <a:avLst/>
                </a:prstGeom>
                <a:ln w="12700"/>
              </p:spPr>
              <p:style>
                <a:lnRef idx="1">
                  <a:schemeClr val="dk1"/>
                </a:lnRef>
                <a:fillRef idx="0">
                  <a:schemeClr val="dk1"/>
                </a:fillRef>
                <a:effectRef idx="0">
                  <a:schemeClr val="dk1"/>
                </a:effectRef>
                <a:fontRef idx="minor">
                  <a:schemeClr val="tx1"/>
                </a:fontRef>
              </p:style>
            </p:cxnSp>
            <p:cxnSp>
              <p:nvCxnSpPr>
                <p:cNvPr id="74" name="直接连接符 73"/>
                <p:cNvCxnSpPr/>
                <p:nvPr/>
              </p:nvCxnSpPr>
              <p:spPr>
                <a:xfrm>
                  <a:off x="4009938" y="4532281"/>
                  <a:ext cx="1887918" cy="1"/>
                </a:xfrm>
                <a:prstGeom prst="line">
                  <a:avLst/>
                </a:prstGeom>
                <a:ln w="12700"/>
              </p:spPr>
              <p:style>
                <a:lnRef idx="1">
                  <a:schemeClr val="dk1"/>
                </a:lnRef>
                <a:fillRef idx="0">
                  <a:schemeClr val="dk1"/>
                </a:fillRef>
                <a:effectRef idx="0">
                  <a:schemeClr val="dk1"/>
                </a:effectRef>
                <a:fontRef idx="minor">
                  <a:schemeClr val="tx1"/>
                </a:fontRef>
              </p:style>
            </p:cxnSp>
            <p:cxnSp>
              <p:nvCxnSpPr>
                <p:cNvPr id="75" name="直接连接符 74"/>
                <p:cNvCxnSpPr/>
                <p:nvPr/>
              </p:nvCxnSpPr>
              <p:spPr>
                <a:xfrm>
                  <a:off x="6095846" y="4543735"/>
                  <a:ext cx="1812726" cy="0"/>
                </a:xfrm>
                <a:prstGeom prst="line">
                  <a:avLst/>
                </a:prstGeom>
                <a:ln w="12700"/>
              </p:spPr>
              <p:style>
                <a:lnRef idx="1">
                  <a:schemeClr val="dk1"/>
                </a:lnRef>
                <a:fillRef idx="0">
                  <a:schemeClr val="dk1"/>
                </a:fillRef>
                <a:effectRef idx="0">
                  <a:schemeClr val="dk1"/>
                </a:effectRef>
                <a:fontRef idx="minor">
                  <a:schemeClr val="tx1"/>
                </a:fontRef>
              </p:style>
            </p:cxnSp>
            <p:cxnSp>
              <p:nvCxnSpPr>
                <p:cNvPr id="76" name="直接连接符 75"/>
                <p:cNvCxnSpPr/>
                <p:nvPr/>
              </p:nvCxnSpPr>
              <p:spPr>
                <a:xfrm flipV="1">
                  <a:off x="8047601" y="3964096"/>
                  <a:ext cx="2038167" cy="568185"/>
                </a:xfrm>
                <a:prstGeom prst="line">
                  <a:avLst/>
                </a:prstGeom>
                <a:ln w="76200"/>
              </p:spPr>
              <p:style>
                <a:lnRef idx="1">
                  <a:schemeClr val="dk1"/>
                </a:lnRef>
                <a:fillRef idx="0">
                  <a:schemeClr val="dk1"/>
                </a:fillRef>
                <a:effectRef idx="0">
                  <a:schemeClr val="dk1"/>
                </a:effectRef>
                <a:fontRef idx="minor">
                  <a:schemeClr val="tx1"/>
                </a:fontRef>
              </p:style>
            </p:cxnSp>
            <p:cxnSp>
              <p:nvCxnSpPr>
                <p:cNvPr id="78" name="直接连接符 77"/>
                <p:cNvCxnSpPr/>
                <p:nvPr/>
              </p:nvCxnSpPr>
              <p:spPr>
                <a:xfrm flipV="1">
                  <a:off x="5919106" y="4682048"/>
                  <a:ext cx="132793" cy="953515"/>
                </a:xfrm>
                <a:prstGeom prst="line">
                  <a:avLst/>
                </a:prstGeom>
                <a:ln w="12700"/>
              </p:spPr>
              <p:style>
                <a:lnRef idx="1">
                  <a:schemeClr val="dk1"/>
                </a:lnRef>
                <a:fillRef idx="0">
                  <a:schemeClr val="dk1"/>
                </a:fillRef>
                <a:effectRef idx="0">
                  <a:schemeClr val="dk1"/>
                </a:effectRef>
                <a:fontRef idx="minor">
                  <a:schemeClr val="tx1"/>
                </a:fontRef>
              </p:style>
            </p:cxnSp>
            <p:cxnSp>
              <p:nvCxnSpPr>
                <p:cNvPr id="79" name="直接连接符 78"/>
                <p:cNvCxnSpPr/>
                <p:nvPr/>
              </p:nvCxnSpPr>
              <p:spPr>
                <a:xfrm>
                  <a:off x="3972587" y="4584299"/>
                  <a:ext cx="1676794" cy="1198169"/>
                </a:xfrm>
                <a:prstGeom prst="line">
                  <a:avLst/>
                </a:prstGeom>
                <a:ln w="76200"/>
              </p:spPr>
              <p:style>
                <a:lnRef idx="1">
                  <a:schemeClr val="dk1"/>
                </a:lnRef>
                <a:fillRef idx="0">
                  <a:schemeClr val="dk1"/>
                </a:fillRef>
                <a:effectRef idx="0">
                  <a:schemeClr val="dk1"/>
                </a:effectRef>
                <a:fontRef idx="minor">
                  <a:schemeClr val="tx1"/>
                </a:fontRef>
              </p:style>
            </p:cxnSp>
            <p:cxnSp>
              <p:nvCxnSpPr>
                <p:cNvPr id="80" name="直接连接符 79"/>
                <p:cNvCxnSpPr/>
                <p:nvPr/>
              </p:nvCxnSpPr>
              <p:spPr>
                <a:xfrm flipV="1">
                  <a:off x="5793465" y="4532281"/>
                  <a:ext cx="2189526" cy="1274527"/>
                </a:xfrm>
                <a:prstGeom prst="line">
                  <a:avLst/>
                </a:prstGeom>
                <a:ln w="76200"/>
              </p:spPr>
              <p:style>
                <a:lnRef idx="1">
                  <a:schemeClr val="dk1"/>
                </a:lnRef>
                <a:fillRef idx="0">
                  <a:schemeClr val="dk1"/>
                </a:fillRef>
                <a:effectRef idx="0">
                  <a:schemeClr val="dk1"/>
                </a:effectRef>
                <a:fontRef idx="minor">
                  <a:schemeClr val="tx1"/>
                </a:fontRef>
              </p:style>
            </p:cxnSp>
            <p:pic>
              <p:nvPicPr>
                <p:cNvPr id="81"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0604" y="4233839"/>
                  <a:ext cx="657604" cy="484683"/>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9" descr="服务器终端"/>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6275" y="3417875"/>
                  <a:ext cx="822310" cy="872331"/>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9" descr="服务器终端"/>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65204" y="3555213"/>
                  <a:ext cx="822310" cy="872331"/>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06913" y="3160857"/>
                  <a:ext cx="657604" cy="484683"/>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54189" y="4233838"/>
                  <a:ext cx="657604" cy="484683"/>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0899" y="5520096"/>
                  <a:ext cx="657604" cy="484683"/>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57" descr="通用路由器"/>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81292" y="4289940"/>
                  <a:ext cx="657604" cy="484683"/>
                </a:xfrm>
                <a:prstGeom prst="rect">
                  <a:avLst/>
                </a:prstGeom>
                <a:noFill/>
                <a:extLst>
                  <a:ext uri="{909E8E84-426E-40DD-AFC4-6F175D3DCCD1}">
                    <a14:hiddenFill xmlns:a14="http://schemas.microsoft.com/office/drawing/2010/main">
                      <a:solidFill>
                        <a:srgbClr val="FFFFFF"/>
                      </a:solidFill>
                    </a14:hiddenFill>
                  </a:ext>
                </a:extLst>
              </p:spPr>
            </p:pic>
          </p:grpSp>
          <p:sp>
            <p:nvSpPr>
              <p:cNvPr id="88" name="文本框 87"/>
              <p:cNvSpPr txBox="1"/>
              <p:nvPr/>
            </p:nvSpPr>
            <p:spPr>
              <a:xfrm>
                <a:off x="1280664" y="4396765"/>
                <a:ext cx="1558248" cy="489376"/>
              </a:xfrm>
              <a:prstGeom prst="rect">
                <a:avLst/>
              </a:prstGeom>
              <a:noFill/>
            </p:spPr>
            <p:txBody>
              <a:bodyPr wrap="square" rtlCol="0">
                <a:spAutoFit/>
              </a:bodyPr>
              <a:lstStyle/>
              <a:p>
                <a:r>
                  <a:rPr lang="zh-CN" altLang="en-US" sz="2000" dirty="0">
                    <a:latin typeface="等线" panose="02010600030101010101" pitchFamily="2" charset="-122"/>
                    <a:ea typeface="等线" panose="02010600030101010101" pitchFamily="2" charset="-122"/>
                  </a:rPr>
                  <a:t>发送方</a:t>
                </a:r>
                <a:r>
                  <a:rPr lang="en-US" altLang="zh-CN" sz="2000" dirty="0">
                    <a:latin typeface="等线" panose="02010600030101010101" pitchFamily="2" charset="-122"/>
                    <a:ea typeface="等线" panose="02010600030101010101" pitchFamily="2" charset="-122"/>
                  </a:rPr>
                  <a:t>A</a:t>
                </a:r>
                <a:endParaRPr lang="zh-CN" altLang="en-US" sz="2000" dirty="0">
                  <a:latin typeface="等线" panose="02010600030101010101" pitchFamily="2" charset="-122"/>
                  <a:ea typeface="等线" panose="02010600030101010101" pitchFamily="2" charset="-122"/>
                </a:endParaRPr>
              </a:p>
            </p:txBody>
          </p:sp>
          <p:sp>
            <p:nvSpPr>
              <p:cNvPr id="89" name="文本框 88"/>
              <p:cNvSpPr txBox="1"/>
              <p:nvPr/>
            </p:nvSpPr>
            <p:spPr>
              <a:xfrm>
                <a:off x="9491490" y="4396765"/>
                <a:ext cx="1370396" cy="489376"/>
              </a:xfrm>
              <a:prstGeom prst="rect">
                <a:avLst/>
              </a:prstGeom>
              <a:noFill/>
            </p:spPr>
            <p:txBody>
              <a:bodyPr wrap="square" rtlCol="0">
                <a:spAutoFit/>
              </a:bodyPr>
              <a:lstStyle/>
              <a:p>
                <a:r>
                  <a:rPr lang="zh-CN" altLang="en-US" sz="2000" dirty="0">
                    <a:latin typeface="等线" panose="02010600030101010101" pitchFamily="2" charset="-122"/>
                    <a:ea typeface="等线" panose="02010600030101010101" pitchFamily="2" charset="-122"/>
                  </a:rPr>
                  <a:t>接收方</a:t>
                </a:r>
                <a:r>
                  <a:rPr lang="en-US" altLang="zh-CN" sz="2000" dirty="0">
                    <a:latin typeface="等线" panose="02010600030101010101" pitchFamily="2" charset="-122"/>
                    <a:ea typeface="等线" panose="02010600030101010101" pitchFamily="2" charset="-122"/>
                  </a:rPr>
                  <a:t>B</a:t>
                </a:r>
                <a:endParaRPr lang="zh-CN" altLang="en-US" sz="2000" dirty="0">
                  <a:latin typeface="等线" panose="02010600030101010101" pitchFamily="2" charset="-122"/>
                  <a:ea typeface="等线" panose="02010600030101010101" pitchFamily="2" charset="-122"/>
                </a:endParaRPr>
              </a:p>
            </p:txBody>
          </p:sp>
          <p:sp>
            <p:nvSpPr>
              <p:cNvPr id="90" name="文本框 89"/>
              <p:cNvSpPr txBox="1"/>
              <p:nvPr/>
            </p:nvSpPr>
            <p:spPr>
              <a:xfrm>
                <a:off x="3640362" y="4645349"/>
                <a:ext cx="768345"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sp>
            <p:nvSpPr>
              <p:cNvPr id="91" name="文本框 90"/>
              <p:cNvSpPr txBox="1"/>
              <p:nvPr/>
            </p:nvSpPr>
            <p:spPr>
              <a:xfrm>
                <a:off x="6051643" y="3645557"/>
                <a:ext cx="655172"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sp>
            <p:nvSpPr>
              <p:cNvPr id="92" name="文本框 91"/>
              <p:cNvSpPr txBox="1"/>
              <p:nvPr/>
            </p:nvSpPr>
            <p:spPr>
              <a:xfrm>
                <a:off x="6051643" y="4625867"/>
                <a:ext cx="702905"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R3</a:t>
                </a:r>
                <a:endParaRPr lang="zh-CN" altLang="en-US" sz="2000" dirty="0">
                  <a:latin typeface="等线" panose="02010600030101010101" pitchFamily="2" charset="-122"/>
                  <a:ea typeface="等线" panose="02010600030101010101" pitchFamily="2" charset="-122"/>
                </a:endParaRPr>
              </a:p>
            </p:txBody>
          </p:sp>
          <p:sp>
            <p:nvSpPr>
              <p:cNvPr id="93" name="文本框 92"/>
              <p:cNvSpPr txBox="1"/>
              <p:nvPr/>
            </p:nvSpPr>
            <p:spPr>
              <a:xfrm>
                <a:off x="5569695" y="6005159"/>
                <a:ext cx="628996"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R4</a:t>
                </a:r>
                <a:endParaRPr lang="zh-CN" altLang="en-US" sz="2000" dirty="0">
                  <a:latin typeface="等线" panose="02010600030101010101" pitchFamily="2" charset="-122"/>
                  <a:ea typeface="等线" panose="02010600030101010101" pitchFamily="2" charset="-122"/>
                </a:endParaRPr>
              </a:p>
            </p:txBody>
          </p:sp>
          <p:sp>
            <p:nvSpPr>
              <p:cNvPr id="94" name="文本框 93"/>
              <p:cNvSpPr txBox="1"/>
              <p:nvPr/>
            </p:nvSpPr>
            <p:spPr>
              <a:xfrm>
                <a:off x="7654544" y="4708469"/>
                <a:ext cx="790672" cy="4893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R5</a:t>
                </a:r>
                <a:endParaRPr lang="zh-CN" altLang="en-US" sz="2000" dirty="0">
                  <a:latin typeface="等线" panose="02010600030101010101" pitchFamily="2" charset="-122"/>
                  <a:ea typeface="等线" panose="02010600030101010101" pitchFamily="2" charset="-122"/>
                </a:endParaRPr>
              </a:p>
            </p:txBody>
          </p:sp>
        </p:grpSp>
      </p:grpSp>
      <p:graphicFrame>
        <p:nvGraphicFramePr>
          <p:cNvPr id="64" name="表格 63"/>
          <p:cNvGraphicFramePr>
            <a:graphicFrameLocks noGrp="1"/>
          </p:cNvGraphicFramePr>
          <p:nvPr/>
        </p:nvGraphicFramePr>
        <p:xfrm>
          <a:off x="2307023" y="4254782"/>
          <a:ext cx="2568824" cy="370840"/>
        </p:xfrm>
        <a:graphic>
          <a:graphicData uri="http://schemas.openxmlformats.org/drawingml/2006/table">
            <a:tbl>
              <a:tblPr firstRow="1" bandRow="1">
                <a:tableStyleId>{5C22544A-7EE6-4342-B048-85BDC9FD1C3A}</a:tableStyleId>
              </a:tblPr>
              <a:tblGrid>
                <a:gridCol w="681658">
                  <a:extLst>
                    <a:ext uri="{9D8B030D-6E8A-4147-A177-3AD203B41FA5}">
                      <a16:colId xmlns:a16="http://schemas.microsoft.com/office/drawing/2014/main" val="20000"/>
                    </a:ext>
                  </a:extLst>
                </a:gridCol>
                <a:gridCol w="1040860">
                  <a:extLst>
                    <a:ext uri="{9D8B030D-6E8A-4147-A177-3AD203B41FA5}">
                      <a16:colId xmlns:a16="http://schemas.microsoft.com/office/drawing/2014/main" val="20001"/>
                    </a:ext>
                  </a:extLst>
                </a:gridCol>
                <a:gridCol w="846306">
                  <a:extLst>
                    <a:ext uri="{9D8B030D-6E8A-4147-A177-3AD203B41FA5}">
                      <a16:colId xmlns:a16="http://schemas.microsoft.com/office/drawing/2014/main" val="20002"/>
                    </a:ext>
                  </a:extLst>
                </a:gridCol>
              </a:tblGrid>
              <a:tr h="370840">
                <a:tc>
                  <a:txBody>
                    <a:bodyPr/>
                    <a:lstStyle/>
                    <a:p>
                      <a:pPr marL="0" algn="ctr" defTabSz="914400" rtl="0" eaLnBrk="1" latinLnBrk="0" hangingPunct="1"/>
                      <a:r>
                        <a:rPr lang="zh-CN" altLang="en-US" sz="1600" b="0" kern="1200" dirty="0">
                          <a:solidFill>
                            <a:schemeClr val="tx1"/>
                          </a:solidFill>
                          <a:latin typeface="等线" panose="02010600030101010101" pitchFamily="2" charset="-122"/>
                          <a:ea typeface="等线" panose="02010600030101010101" pitchFamily="2" charset="-122"/>
                          <a:cs typeface="+mn-cs"/>
                        </a:rPr>
                        <a:t>数据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zh-CN" altLang="en-US" sz="1600" b="0" kern="1200" dirty="0">
                          <a:solidFill>
                            <a:schemeClr val="tx1"/>
                          </a:solidFill>
                          <a:latin typeface="等线" panose="02010600030101010101" pitchFamily="2" charset="-122"/>
                          <a:ea typeface="等线" panose="02010600030101010101" pitchFamily="2" charset="-122"/>
                          <a:cs typeface="+mn-cs"/>
                        </a:rPr>
                        <a:t>目的地址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zh-CN" altLang="en-US" sz="1600" b="0" kern="1200" dirty="0">
                          <a:solidFill>
                            <a:schemeClr val="tx1"/>
                          </a:solidFill>
                          <a:latin typeface="等线" panose="02010600030101010101" pitchFamily="2" charset="-122"/>
                          <a:ea typeface="等线" panose="02010600030101010101" pitchFamily="2" charset="-122"/>
                          <a:cs typeface="+mn-cs"/>
                        </a:rPr>
                        <a:t>源地址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65" name="表格 64"/>
          <p:cNvGraphicFramePr>
            <a:graphicFrameLocks noGrp="1"/>
          </p:cNvGraphicFramePr>
          <p:nvPr/>
        </p:nvGraphicFramePr>
        <p:xfrm>
          <a:off x="6887152" y="4297027"/>
          <a:ext cx="2568824" cy="370840"/>
        </p:xfrm>
        <a:graphic>
          <a:graphicData uri="http://schemas.openxmlformats.org/drawingml/2006/table">
            <a:tbl>
              <a:tblPr firstRow="1" bandRow="1">
                <a:tableStyleId>{5C22544A-7EE6-4342-B048-85BDC9FD1C3A}</a:tableStyleId>
              </a:tblPr>
              <a:tblGrid>
                <a:gridCol w="681658">
                  <a:extLst>
                    <a:ext uri="{9D8B030D-6E8A-4147-A177-3AD203B41FA5}">
                      <a16:colId xmlns:a16="http://schemas.microsoft.com/office/drawing/2014/main" val="20000"/>
                    </a:ext>
                  </a:extLst>
                </a:gridCol>
                <a:gridCol w="1040860">
                  <a:extLst>
                    <a:ext uri="{9D8B030D-6E8A-4147-A177-3AD203B41FA5}">
                      <a16:colId xmlns:a16="http://schemas.microsoft.com/office/drawing/2014/main" val="20001"/>
                    </a:ext>
                  </a:extLst>
                </a:gridCol>
                <a:gridCol w="846306">
                  <a:extLst>
                    <a:ext uri="{9D8B030D-6E8A-4147-A177-3AD203B41FA5}">
                      <a16:colId xmlns:a16="http://schemas.microsoft.com/office/drawing/2014/main" val="20002"/>
                    </a:ext>
                  </a:extLst>
                </a:gridCol>
              </a:tblGrid>
              <a:tr h="370840">
                <a:tc>
                  <a:txBody>
                    <a:bodyPr/>
                    <a:lstStyle/>
                    <a:p>
                      <a:pPr marL="0" algn="ctr" defTabSz="914400" rtl="0" eaLnBrk="1" latinLnBrk="0" hangingPunct="1"/>
                      <a:r>
                        <a:rPr lang="zh-CN" altLang="en-US" sz="1600" b="0" kern="1200" dirty="0">
                          <a:solidFill>
                            <a:schemeClr val="tx1"/>
                          </a:solidFill>
                          <a:latin typeface="等线" panose="02010600030101010101" pitchFamily="2" charset="-122"/>
                          <a:ea typeface="等线" panose="02010600030101010101" pitchFamily="2" charset="-122"/>
                          <a:cs typeface="+mn-cs"/>
                        </a:rPr>
                        <a:t>数据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zh-CN" altLang="en-US" sz="1600" b="0" kern="1200" dirty="0">
                          <a:solidFill>
                            <a:schemeClr val="tx1"/>
                          </a:solidFill>
                          <a:latin typeface="等线" panose="02010600030101010101" pitchFamily="2" charset="-122"/>
                          <a:ea typeface="等线" panose="02010600030101010101" pitchFamily="2" charset="-122"/>
                          <a:cs typeface="+mn-cs"/>
                        </a:rPr>
                        <a:t>目的地址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zh-CN" altLang="en-US" sz="1600" b="0" kern="1200" dirty="0">
                          <a:solidFill>
                            <a:schemeClr val="tx1"/>
                          </a:solidFill>
                          <a:latin typeface="等线" panose="02010600030101010101" pitchFamily="2" charset="-122"/>
                          <a:ea typeface="等线" panose="02010600030101010101" pitchFamily="2" charset="-122"/>
                          <a:cs typeface="+mn-cs"/>
                        </a:rPr>
                        <a:t>源地址</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132468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wipe(left)">
                                      <p:cBhvr>
                                        <p:cTn id="7" dur="500"/>
                                        <p:tgtEl>
                                          <p:spTgt spid="71"/>
                                        </p:tgtEl>
                                      </p:cBhvr>
                                    </p:animEffect>
                                  </p:childTnLst>
                                </p:cTn>
                              </p:par>
                              <p:par>
                                <p:cTn id="8" presetID="22" presetClass="entr" presetSubtype="2" fill="hold" nodeType="withEffect">
                                  <p:stCondLst>
                                    <p:cond delay="0"/>
                                  </p:stCondLst>
                                  <p:childTnLst>
                                    <p:set>
                                      <p:cBhvr>
                                        <p:cTn id="9" dur="1" fill="hold">
                                          <p:stCondLst>
                                            <p:cond delay="0"/>
                                          </p:stCondLst>
                                        </p:cTn>
                                        <p:tgtEl>
                                          <p:spTgt spid="64"/>
                                        </p:tgtEl>
                                        <p:attrNameLst>
                                          <p:attrName>style.visibility</p:attrName>
                                        </p:attrNameLst>
                                      </p:cBhvr>
                                      <p:to>
                                        <p:strVal val="visible"/>
                                      </p:to>
                                    </p:set>
                                    <p:animEffect transition="in" filter="wipe(right)">
                                      <p:cBhvr>
                                        <p:cTn id="10" dur="500"/>
                                        <p:tgtEl>
                                          <p:spTgt spid="6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138"/>
                                        </p:tgtEl>
                                        <p:attrNameLst>
                                          <p:attrName>style.visibility</p:attrName>
                                        </p:attrNameLst>
                                      </p:cBhvr>
                                      <p:to>
                                        <p:strVal val="visible"/>
                                      </p:to>
                                    </p:set>
                                    <p:animEffect transition="in" filter="wipe(left)">
                                      <p:cBhvr>
                                        <p:cTn id="15" dur="500"/>
                                        <p:tgtEl>
                                          <p:spTgt spid="138"/>
                                        </p:tgtEl>
                                      </p:cBhvr>
                                    </p:animEffect>
                                  </p:childTnLst>
                                </p:cTn>
                              </p:par>
                            </p:childTnLst>
                          </p:cTn>
                        </p:par>
                        <p:par>
                          <p:cTn id="16" fill="hold">
                            <p:stCondLst>
                              <p:cond delay="500"/>
                            </p:stCondLst>
                            <p:childTnLst>
                              <p:par>
                                <p:cTn id="17" presetID="22" presetClass="entr" presetSubtype="8" fill="hold" nodeType="afterEffect">
                                  <p:stCondLst>
                                    <p:cond delay="0"/>
                                  </p:stCondLst>
                                  <p:childTnLst>
                                    <p:set>
                                      <p:cBhvr>
                                        <p:cTn id="18" dur="1" fill="hold">
                                          <p:stCondLst>
                                            <p:cond delay="0"/>
                                          </p:stCondLst>
                                        </p:cTn>
                                        <p:tgtEl>
                                          <p:spTgt spid="122"/>
                                        </p:tgtEl>
                                        <p:attrNameLst>
                                          <p:attrName>style.visibility</p:attrName>
                                        </p:attrNameLst>
                                      </p:cBhvr>
                                      <p:to>
                                        <p:strVal val="visible"/>
                                      </p:to>
                                    </p:set>
                                    <p:animEffect transition="in" filter="wipe(left)">
                                      <p:cBhvr>
                                        <p:cTn id="19" dur="500"/>
                                        <p:tgtEl>
                                          <p:spTgt spid="12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73"/>
                                        </p:tgtEl>
                                        <p:attrNameLst>
                                          <p:attrName>style.visibility</p:attrName>
                                        </p:attrNameLst>
                                      </p:cBhvr>
                                      <p:to>
                                        <p:strVal val="visible"/>
                                      </p:to>
                                    </p:set>
                                    <p:animEffect transition="in" filter="wipe(left)">
                                      <p:cBhvr>
                                        <p:cTn id="24" dur="500"/>
                                        <p:tgtEl>
                                          <p:spTgt spid="73"/>
                                        </p:tgtEl>
                                      </p:cBhvr>
                                    </p:animEffect>
                                  </p:childTnLst>
                                </p:cTn>
                              </p:par>
                              <p:par>
                                <p:cTn id="25" presetID="22" presetClass="entr" presetSubtype="8" fill="hold" nodeType="withEffect">
                                  <p:stCondLst>
                                    <p:cond delay="0"/>
                                  </p:stCondLst>
                                  <p:childTnLst>
                                    <p:set>
                                      <p:cBhvr>
                                        <p:cTn id="26" dur="1" fill="hold">
                                          <p:stCondLst>
                                            <p:cond delay="0"/>
                                          </p:stCondLst>
                                        </p:cTn>
                                        <p:tgtEl>
                                          <p:spTgt spid="141"/>
                                        </p:tgtEl>
                                        <p:attrNameLst>
                                          <p:attrName>style.visibility</p:attrName>
                                        </p:attrNameLst>
                                      </p:cBhvr>
                                      <p:to>
                                        <p:strVal val="visible"/>
                                      </p:to>
                                    </p:set>
                                    <p:animEffect transition="in" filter="wipe(left)">
                                      <p:cBhvr>
                                        <p:cTn id="27" dur="500"/>
                                        <p:tgtEl>
                                          <p:spTgt spid="141"/>
                                        </p:tgtEl>
                                      </p:cBhvr>
                                    </p:animEffect>
                                  </p:childTnLst>
                                </p:cTn>
                              </p:par>
                            </p:childTnLst>
                          </p:cTn>
                        </p:par>
                        <p:par>
                          <p:cTn id="28" fill="hold">
                            <p:stCondLst>
                              <p:cond delay="500"/>
                            </p:stCondLst>
                            <p:childTnLst>
                              <p:par>
                                <p:cTn id="29" presetID="22" presetClass="entr" presetSubtype="2" fill="hold" nodeType="afterEffect">
                                  <p:stCondLst>
                                    <p:cond delay="0"/>
                                  </p:stCondLst>
                                  <p:childTnLst>
                                    <p:set>
                                      <p:cBhvr>
                                        <p:cTn id="30" dur="1" fill="hold">
                                          <p:stCondLst>
                                            <p:cond delay="0"/>
                                          </p:stCondLst>
                                        </p:cTn>
                                        <p:tgtEl>
                                          <p:spTgt spid="65"/>
                                        </p:tgtEl>
                                        <p:attrNameLst>
                                          <p:attrName>style.visibility</p:attrName>
                                        </p:attrNameLst>
                                      </p:cBhvr>
                                      <p:to>
                                        <p:strVal val="visible"/>
                                      </p:to>
                                    </p:set>
                                    <p:animEffect transition="in" filter="wipe(right)">
                                      <p:cBhvr>
                                        <p:cTn id="31" dur="5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solidFill>
                  <a:schemeClr val="dk1"/>
                </a:solidFill>
              </a:rPr>
              <a:t>面向连接服务的实现</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13</a:t>
            </a:fld>
            <a:endParaRPr kumimoji="1" lang="zh-CN" altLang="en-US" dirty="0"/>
          </a:p>
        </p:txBody>
      </p:sp>
      <p:sp>
        <p:nvSpPr>
          <p:cNvPr id="73" name="内容占位符 2"/>
          <p:cNvSpPr>
            <a:spLocks noGrp="1"/>
          </p:cNvSpPr>
          <p:nvPr>
            <p:ph idx="1"/>
          </p:nvPr>
        </p:nvSpPr>
        <p:spPr>
          <a:xfrm>
            <a:off x="838200" y="1510758"/>
            <a:ext cx="10515600" cy="4586694"/>
          </a:xfrm>
        </p:spPr>
        <p:txBody>
          <a:bodyPr>
            <a:normAutofit/>
          </a:bodyPr>
          <a:lstStyle/>
          <a:p>
            <a:pPr>
              <a:lnSpc>
                <a:spcPct val="140000"/>
              </a:lnSpc>
            </a:pPr>
            <a:r>
              <a:rPr lang="zh-CN" altLang="en-US" sz="2400" dirty="0"/>
              <a:t>面向连接服务：如打电话</a:t>
            </a:r>
            <a:endParaRPr lang="en-US" altLang="zh-CN" sz="2400" dirty="0"/>
          </a:p>
          <a:p>
            <a:pPr lvl="1">
              <a:lnSpc>
                <a:spcPct val="140000"/>
              </a:lnSpc>
            </a:pPr>
            <a:r>
              <a:rPr lang="zh-CN" altLang="en-US" sz="2200" dirty="0"/>
              <a:t>通信之间先建立</a:t>
            </a:r>
            <a:r>
              <a:rPr lang="zh-CN" altLang="en-US" sz="2200" dirty="0">
                <a:solidFill>
                  <a:srgbClr val="C00000"/>
                </a:solidFill>
              </a:rPr>
              <a:t>逻辑连接：</a:t>
            </a:r>
            <a:r>
              <a:rPr lang="zh-CN" altLang="en-US" sz="2200" dirty="0"/>
              <a:t>在此过程中，如有需要，可以预留网络资源</a:t>
            </a:r>
          </a:p>
          <a:p>
            <a:pPr lvl="1">
              <a:lnSpc>
                <a:spcPct val="140000"/>
              </a:lnSpc>
            </a:pPr>
            <a:r>
              <a:rPr lang="zh-CN" altLang="en-US" sz="2200" dirty="0"/>
              <a:t>结合使用可靠传输的网络协议，保证所发送的数据包无差错按序到达终点</a:t>
            </a:r>
            <a:endParaRPr lang="en-US" altLang="zh-CN" sz="2200" dirty="0"/>
          </a:p>
          <a:p>
            <a:pPr>
              <a:lnSpc>
                <a:spcPct val="140000"/>
              </a:lnSpc>
            </a:pPr>
            <a:r>
              <a:rPr lang="zh-CN" altLang="en-US" sz="2400" dirty="0"/>
              <a:t>虚电路是逻辑连接</a:t>
            </a:r>
            <a:endParaRPr lang="en-US" altLang="zh-CN" sz="2400" dirty="0"/>
          </a:p>
          <a:p>
            <a:pPr lvl="1">
              <a:lnSpc>
                <a:spcPct val="140000"/>
              </a:lnSpc>
            </a:pPr>
            <a:r>
              <a:rPr lang="zh-CN" altLang="en-US" sz="2200" dirty="0"/>
              <a:t>虚电路只是一条</a:t>
            </a:r>
            <a:r>
              <a:rPr lang="zh-CN" altLang="en-US" sz="2200" dirty="0">
                <a:solidFill>
                  <a:srgbClr val="C00000"/>
                </a:solidFill>
              </a:rPr>
              <a:t>逻辑上的连接</a:t>
            </a:r>
            <a:r>
              <a:rPr lang="zh-CN" altLang="en-US" sz="2200" dirty="0"/>
              <a:t>，数据包都沿着这条逻辑连接</a:t>
            </a:r>
            <a:r>
              <a:rPr lang="zh-CN" altLang="en-US" sz="2200" dirty="0">
                <a:solidFill>
                  <a:srgbClr val="C00000"/>
                </a:solidFill>
              </a:rPr>
              <a:t>按照存储转发方式传送</a:t>
            </a:r>
            <a:r>
              <a:rPr lang="zh-CN" altLang="en-US" sz="2200" dirty="0"/>
              <a:t>，而并不是真正建立了一条物理连接</a:t>
            </a:r>
          </a:p>
          <a:p>
            <a:pPr lvl="1">
              <a:lnSpc>
                <a:spcPct val="140000"/>
              </a:lnSpc>
            </a:pPr>
            <a:r>
              <a:rPr lang="zh-CN" altLang="en-US" sz="2200" dirty="0"/>
              <a:t>注意，电路交换的电话通信是先建立了一条</a:t>
            </a:r>
            <a:r>
              <a:rPr lang="zh-CN" altLang="en-US" sz="2200" dirty="0">
                <a:solidFill>
                  <a:srgbClr val="C00000"/>
                </a:solidFill>
              </a:rPr>
              <a:t>真正的连接</a:t>
            </a:r>
          </a:p>
          <a:p>
            <a:pPr lvl="1">
              <a:lnSpc>
                <a:spcPct val="140000"/>
              </a:lnSpc>
            </a:pPr>
            <a:r>
              <a:rPr lang="zh-CN" altLang="en-US" sz="2200" dirty="0"/>
              <a:t>因此数据包交换的虚连接和电路交换的连接只是类似，但并不完全相同</a:t>
            </a:r>
            <a:endParaRPr lang="en-US" altLang="zh-CN" sz="2200" dirty="0"/>
          </a:p>
          <a:p>
            <a:endParaRPr lang="en-US" altLang="zh-CN" dirty="0"/>
          </a:p>
          <a:p>
            <a:endParaRPr lang="zh-CN" altLang="en-US" dirty="0"/>
          </a:p>
        </p:txBody>
      </p:sp>
      <p:sp>
        <p:nvSpPr>
          <p:cNvPr id="5" name="日期占位符 4"/>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5.1.3 </a:t>
            </a:r>
            <a:r>
              <a:rPr kumimoji="1" lang="zh-CN" altLang="en-US" dirty="0">
                <a:latin typeface="DengXian" panose="02010600030101010101" pitchFamily="2" charset="-122"/>
                <a:ea typeface="DengXian" panose="02010600030101010101" pitchFamily="2" charset="-122"/>
              </a:rPr>
              <a:t>面向连接服务的实现</a:t>
            </a:r>
          </a:p>
        </p:txBody>
      </p:sp>
    </p:spTree>
    <p:extLst>
      <p:ext uri="{BB962C8B-B14F-4D97-AF65-F5344CB8AC3E}">
        <p14:creationId xmlns:p14="http://schemas.microsoft.com/office/powerpoint/2010/main" val="2778264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虚电路与数据包网络的发展历史</a:t>
            </a:r>
            <a:endParaRPr lang="zh-CN" altLang="en-US" dirty="0"/>
          </a:p>
        </p:txBody>
      </p:sp>
      <p:sp>
        <p:nvSpPr>
          <p:cNvPr id="3" name="内容占位符 2"/>
          <p:cNvSpPr>
            <a:spLocks noGrp="1"/>
          </p:cNvSpPr>
          <p:nvPr>
            <p:ph idx="1"/>
          </p:nvPr>
        </p:nvSpPr>
        <p:spPr>
          <a:xfrm>
            <a:off x="838200" y="1493339"/>
            <a:ext cx="10515600" cy="5210717"/>
          </a:xfrm>
        </p:spPr>
        <p:txBody>
          <a:bodyPr>
            <a:normAutofit/>
          </a:bodyPr>
          <a:lstStyle/>
          <a:p>
            <a:pPr>
              <a:lnSpc>
                <a:spcPct val="110000"/>
              </a:lnSpc>
            </a:pPr>
            <a:r>
              <a:rPr lang="en-US" altLang="zh-CN" sz="2400" dirty="0"/>
              <a:t>70-80</a:t>
            </a:r>
            <a:r>
              <a:rPr lang="zh-CN" altLang="en-US" sz="2400" dirty="0"/>
              <a:t>年代：数据包交换</a:t>
            </a:r>
            <a:endParaRPr lang="en-US" altLang="zh-CN" sz="2000" dirty="0"/>
          </a:p>
          <a:p>
            <a:pPr>
              <a:lnSpc>
                <a:spcPct val="110000"/>
              </a:lnSpc>
            </a:pPr>
            <a:r>
              <a:rPr lang="en-US" altLang="zh-CN" sz="2400" dirty="0"/>
              <a:t>80</a:t>
            </a:r>
            <a:r>
              <a:rPr lang="zh-CN" altLang="en-US" sz="2400" dirty="0"/>
              <a:t>年代末</a:t>
            </a:r>
            <a:r>
              <a:rPr lang="en-US" altLang="zh-CN" sz="2400" dirty="0"/>
              <a:t>-90</a:t>
            </a:r>
            <a:r>
              <a:rPr lang="zh-CN" altLang="en-US" sz="2400" dirty="0"/>
              <a:t>年代：研究人员和工业应用认为电路交换更好</a:t>
            </a:r>
            <a:endParaRPr lang="en-US" altLang="zh-CN" sz="2400" dirty="0"/>
          </a:p>
          <a:p>
            <a:pPr lvl="1">
              <a:lnSpc>
                <a:spcPct val="110000"/>
              </a:lnSpc>
            </a:pPr>
            <a:r>
              <a:rPr lang="zh-CN" altLang="en-US" sz="2000" dirty="0"/>
              <a:t>认为语音</a:t>
            </a:r>
            <a:r>
              <a:rPr lang="en-US" altLang="zh-CN" sz="2000" dirty="0"/>
              <a:t>/</a:t>
            </a:r>
            <a:r>
              <a:rPr lang="zh-CN" altLang="en-US" sz="2000" dirty="0"/>
              <a:t>电视直播将成为互联网真正的杀手级应用</a:t>
            </a:r>
            <a:endParaRPr lang="en-US" altLang="zh-CN" sz="2000" dirty="0"/>
          </a:p>
          <a:p>
            <a:pPr>
              <a:lnSpc>
                <a:spcPct val="110000"/>
              </a:lnSpc>
            </a:pPr>
            <a:r>
              <a:rPr lang="zh-CN" altLang="en-US" sz="2400" dirty="0"/>
              <a:t>数据包交换已经成为互联网的实际服务方式，电路交换最终没有广泛应用于互联网</a:t>
            </a:r>
            <a:r>
              <a:rPr lang="en-US" altLang="zh-CN" sz="2400" dirty="0"/>
              <a:t>…Why</a:t>
            </a:r>
            <a:r>
              <a:rPr lang="zh-CN" altLang="en-US" sz="2400" dirty="0"/>
              <a:t>？</a:t>
            </a:r>
            <a:endParaRPr lang="en-US" altLang="zh-CN" sz="2400" dirty="0"/>
          </a:p>
          <a:p>
            <a:pPr lvl="1">
              <a:lnSpc>
                <a:spcPct val="110000"/>
              </a:lnSpc>
            </a:pPr>
            <a:r>
              <a:rPr lang="zh-CN" altLang="en-US" sz="2000" dirty="0"/>
              <a:t>电路交换需要人们重新编写应用程序以适应网络（数据包交换的应用程序并不需要保证带宽</a:t>
            </a:r>
            <a:r>
              <a:rPr lang="en-US" altLang="zh-CN" sz="2000" dirty="0"/>
              <a:t>)</a:t>
            </a:r>
          </a:p>
          <a:p>
            <a:pPr lvl="1">
              <a:lnSpc>
                <a:spcPct val="110000"/>
              </a:lnSpc>
            </a:pPr>
            <a:r>
              <a:rPr lang="en-US" altLang="zh-CN" sz="2000" dirty="0"/>
              <a:t>Email</a:t>
            </a:r>
            <a:r>
              <a:rPr lang="zh-CN" altLang="en-US" sz="2000" dirty="0"/>
              <a:t>和</a:t>
            </a:r>
            <a:r>
              <a:rPr lang="en-US" altLang="zh-CN" sz="2000" dirty="0"/>
              <a:t>Web</a:t>
            </a:r>
            <a:r>
              <a:rPr lang="zh-CN" altLang="en-US" sz="2000" dirty="0"/>
              <a:t>广泛应用（突发流量）</a:t>
            </a:r>
            <a:endParaRPr lang="en-US" altLang="zh-CN" sz="2000" dirty="0"/>
          </a:p>
          <a:p>
            <a:pPr>
              <a:lnSpc>
                <a:spcPct val="110000"/>
              </a:lnSpc>
            </a:pPr>
            <a:r>
              <a:rPr lang="zh-CN" altLang="en-US" sz="2400" dirty="0"/>
              <a:t>虚电路仍有使用（</a:t>
            </a:r>
            <a:r>
              <a:rPr lang="en-US" altLang="zh-CN" sz="2400" dirty="0"/>
              <a:t>MPLS, </a:t>
            </a:r>
            <a:r>
              <a:rPr lang="en-US" sz="2400" dirty="0">
                <a:latin typeface="DengXian" panose="02010600030101010101" pitchFamily="2" charset="-122"/>
                <a:ea typeface="DengXian" panose="02010600030101010101" pitchFamily="2" charset="-122"/>
              </a:rPr>
              <a:t>Multiprotocol Label Switching</a:t>
            </a:r>
            <a:r>
              <a:rPr lang="zh-CN" altLang="en-US" sz="2400" dirty="0">
                <a:latin typeface="DengXian" panose="02010600030101010101" pitchFamily="2" charset="-122"/>
                <a:ea typeface="DengXian" panose="02010600030101010101" pitchFamily="2" charset="-122"/>
              </a:rPr>
              <a:t>，</a:t>
            </a:r>
            <a:r>
              <a:rPr lang="zh-CN" altLang="en-US" sz="2400" dirty="0"/>
              <a:t>租用专线等）</a:t>
            </a:r>
            <a:endParaRPr lang="en-US" altLang="zh-CN" sz="2400" dirty="0"/>
          </a:p>
          <a:p>
            <a:pPr lvl="1">
              <a:lnSpc>
                <a:spcPct val="110000"/>
              </a:lnSpc>
            </a:pPr>
            <a:r>
              <a:rPr lang="zh-CN" altLang="en-US" sz="2000" dirty="0"/>
              <a:t>企业分支结构之间</a:t>
            </a:r>
            <a:endParaRPr lang="en-US" altLang="zh-CN" sz="2000" dirty="0"/>
          </a:p>
          <a:p>
            <a:pPr lvl="1">
              <a:lnSpc>
                <a:spcPct val="110000"/>
              </a:lnSpc>
            </a:pPr>
            <a:r>
              <a:rPr lang="zh-CN" altLang="en-US" sz="2000" dirty="0"/>
              <a:t>昂贵，通常是静态设置（而非最初所希望的动态预留资源）</a:t>
            </a:r>
            <a:endParaRPr lang="en-US" altLang="zh-CN" sz="20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14</a:t>
            </a:fld>
            <a:endParaRPr kumimoji="1" lang="zh-CN" altLang="en-US" dirty="0"/>
          </a:p>
        </p:txBody>
      </p:sp>
      <p:sp>
        <p:nvSpPr>
          <p:cNvPr id="5" name="日期占位符 9"/>
          <p:cNvSpPr>
            <a:spLocks noGrp="1"/>
          </p:cNvSpPr>
          <p:nvPr>
            <p:ph type="dt" sz="half" idx="10"/>
          </p:nvPr>
        </p:nvSpPr>
        <p:spPr>
          <a:xfrm>
            <a:off x="197485" y="6489065"/>
            <a:ext cx="3373120" cy="365125"/>
          </a:xfrm>
        </p:spPr>
        <p:txBody>
          <a:bodyPr/>
          <a:lstStyle/>
          <a:p>
            <a:r>
              <a:rPr kumimoji="1" lang="en-US" altLang="zh-CN" dirty="0">
                <a:latin typeface="DengXian" panose="02010600030101010101" pitchFamily="2" charset="-122"/>
                <a:ea typeface="DengXian" panose="02010600030101010101" pitchFamily="2" charset="-122"/>
                <a:sym typeface="+mn-ea"/>
              </a:rPr>
              <a:t>5.1.4 </a:t>
            </a:r>
            <a:r>
              <a:rPr kumimoji="1" lang="zh-CN" altLang="en-US" dirty="0">
                <a:latin typeface="DengXian" panose="02010600030101010101" pitchFamily="2" charset="-122"/>
                <a:ea typeface="DengXian" panose="02010600030101010101" pitchFamily="2" charset="-122"/>
                <a:sym typeface="+mn-ea"/>
              </a:rPr>
              <a:t>虚电路与数据包网络的比较</a:t>
            </a:r>
            <a:endParaRPr kumimoji="1"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31644251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510758"/>
            <a:ext cx="10046292" cy="5183956"/>
          </a:xfrm>
        </p:spPr>
        <p:txBody>
          <a:bodyPr>
            <a:normAutofit/>
          </a:bodyPr>
          <a:lstStyle/>
          <a:p>
            <a:pPr marL="0" indent="0">
              <a:lnSpc>
                <a:spcPct val="130000"/>
              </a:lnSpc>
              <a:buNone/>
            </a:pPr>
            <a:r>
              <a:rPr lang="en-US" altLang="zh-CN" dirty="0"/>
              <a:t>5.1 </a:t>
            </a:r>
            <a:r>
              <a:rPr lang="zh-CN" altLang="zh-CN" dirty="0">
                <a:sym typeface="+mn-ea"/>
              </a:rPr>
              <a:t>网络层服务</a:t>
            </a:r>
            <a:endParaRPr kumimoji="1" lang="zh-CN" altLang="en-US" dirty="0"/>
          </a:p>
          <a:p>
            <a:pPr marL="0" indent="0">
              <a:lnSpc>
                <a:spcPct val="130000"/>
              </a:lnSpc>
              <a:buNone/>
            </a:pPr>
            <a:r>
              <a:rPr kumimoji="1" lang="en-US" altLang="zh-CN" dirty="0">
                <a:solidFill>
                  <a:srgbClr val="C00000"/>
                </a:solidFill>
                <a:sym typeface="+mn-ea"/>
              </a:rPr>
              <a:t>5.2</a:t>
            </a:r>
            <a:r>
              <a:rPr kumimoji="1" lang="zh-CN" altLang="en-US" dirty="0">
                <a:solidFill>
                  <a:srgbClr val="C00000"/>
                </a:solidFill>
                <a:sym typeface="+mn-ea"/>
              </a:rPr>
              <a:t> </a:t>
            </a:r>
            <a:r>
              <a:rPr kumimoji="1" lang="en-US" altLang="zh-CN" dirty="0">
                <a:solidFill>
                  <a:srgbClr val="C00000"/>
                </a:solidFill>
                <a:sym typeface="+mn-ea"/>
              </a:rPr>
              <a:t>Internet</a:t>
            </a:r>
            <a:r>
              <a:rPr kumimoji="1" lang="zh-CN" altLang="en-US" dirty="0">
                <a:solidFill>
                  <a:srgbClr val="C00000"/>
                </a:solidFill>
                <a:sym typeface="+mn-ea"/>
              </a:rPr>
              <a:t>网际协议</a:t>
            </a:r>
            <a:endParaRPr kumimoji="1" lang="en-US" altLang="zh-CN" dirty="0">
              <a:solidFill>
                <a:srgbClr val="C00000"/>
              </a:solidFill>
            </a:endParaRPr>
          </a:p>
          <a:p>
            <a:pPr marL="0" indent="0">
              <a:lnSpc>
                <a:spcPct val="130000"/>
              </a:lnSpc>
              <a:buNone/>
            </a:pPr>
            <a:r>
              <a:rPr kumimoji="1" lang="en-US" altLang="zh-CN" dirty="0">
                <a:sym typeface="+mn-ea"/>
              </a:rPr>
              <a:t>5.3</a:t>
            </a:r>
            <a:r>
              <a:rPr kumimoji="1" lang="zh-CN" altLang="en-US" dirty="0">
                <a:sym typeface="+mn-ea"/>
              </a:rPr>
              <a:t> 路由算法</a:t>
            </a:r>
            <a:endParaRPr kumimoji="1" lang="en-US" altLang="zh-CN" dirty="0"/>
          </a:p>
          <a:p>
            <a:pPr marL="0" indent="0">
              <a:lnSpc>
                <a:spcPct val="130000"/>
              </a:lnSpc>
              <a:buNone/>
            </a:pPr>
            <a:r>
              <a:rPr kumimoji="1" lang="en-US" altLang="zh-CN" dirty="0">
                <a:sym typeface="+mn-ea"/>
              </a:rPr>
              <a:t>5.4</a:t>
            </a:r>
            <a:r>
              <a:rPr kumimoji="1" lang="zh-CN" altLang="en-US" dirty="0">
                <a:sym typeface="+mn-ea"/>
              </a:rPr>
              <a:t> </a:t>
            </a:r>
            <a:r>
              <a:rPr kumimoji="1" lang="en-US" altLang="zh-CN" dirty="0">
                <a:sym typeface="+mn-ea"/>
              </a:rPr>
              <a:t>Internet</a:t>
            </a:r>
            <a:r>
              <a:rPr kumimoji="1" lang="zh-CN" altLang="en-US" dirty="0">
                <a:sym typeface="+mn-ea"/>
              </a:rPr>
              <a:t>路由协议</a:t>
            </a:r>
            <a:endParaRPr kumimoji="1" lang="en-US" altLang="zh-CN" dirty="0"/>
          </a:p>
          <a:p>
            <a:pPr marL="0" indent="0">
              <a:lnSpc>
                <a:spcPct val="130000"/>
              </a:lnSpc>
              <a:buNone/>
            </a:pPr>
            <a:r>
              <a:rPr kumimoji="1" lang="en-US" altLang="zh-CN" dirty="0">
                <a:sym typeface="+mn-ea"/>
              </a:rPr>
              <a:t>5.5</a:t>
            </a:r>
            <a:r>
              <a:rPr kumimoji="1" lang="zh-CN" altLang="en-US" dirty="0">
                <a:sym typeface="+mn-ea"/>
              </a:rPr>
              <a:t> 路由器工作原理</a:t>
            </a:r>
            <a:endParaRPr kumimoji="1" lang="en-US" altLang="zh-CN" dirty="0"/>
          </a:p>
        </p:txBody>
      </p:sp>
      <p:sp>
        <p:nvSpPr>
          <p:cNvPr id="10" name="灯片编号占位符 9">
            <a:extLst>
              <a:ext uri="{FF2B5EF4-FFF2-40B4-BE49-F238E27FC236}">
                <a16:creationId xmlns:a16="http://schemas.microsoft.com/office/drawing/2014/main" id="{81955D56-458B-2941-A60C-A60B6824D7F3}"/>
              </a:ext>
            </a:extLst>
          </p:cNvPr>
          <p:cNvSpPr>
            <a:spLocks noGrp="1"/>
          </p:cNvSpPr>
          <p:nvPr>
            <p:ph type="sldNum" sz="quarter" idx="12"/>
          </p:nvPr>
        </p:nvSpPr>
        <p:spPr/>
        <p:txBody>
          <a:bodyPr/>
          <a:lstStyle/>
          <a:p>
            <a:fld id="{8D4D1E41-7A09-AB4A-A4E1-09765ADA2698}" type="slidenum">
              <a:rPr kumimoji="1" lang="zh-CN" altLang="en-US" smtClean="0"/>
              <a:t>15</a:t>
            </a:fld>
            <a:endParaRPr kumimoji="1" lang="zh-CN" altLang="en-US" dirty="0"/>
          </a:p>
        </p:txBody>
      </p:sp>
      <p:sp>
        <p:nvSpPr>
          <p:cNvPr id="7" name="矩形标注 6">
            <a:extLst>
              <a:ext uri="{FF2B5EF4-FFF2-40B4-BE49-F238E27FC236}">
                <a16:creationId xmlns:a16="http://schemas.microsoft.com/office/drawing/2014/main" id="{E4BFCB96-0FA1-7740-8F94-683CEFB67F89}"/>
              </a:ext>
            </a:extLst>
          </p:cNvPr>
          <p:cNvSpPr/>
          <p:nvPr/>
        </p:nvSpPr>
        <p:spPr>
          <a:xfrm>
            <a:off x="6330654" y="1543993"/>
            <a:ext cx="3901140" cy="3511483"/>
          </a:xfrm>
          <a:prstGeom prst="wedgeRectCallout">
            <a:avLst>
              <a:gd name="adj1" fmla="val -91324"/>
              <a:gd name="adj2" fmla="val -26653"/>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457200" indent="-457200">
              <a:lnSpc>
                <a:spcPct val="130000"/>
              </a:lnSpc>
              <a:spcBef>
                <a:spcPts val="600"/>
              </a:spcBef>
              <a:buFont typeface="+mj-lt"/>
              <a:buAutoNum type="arabicPeriod"/>
            </a:pPr>
            <a:r>
              <a:rPr lang="en-US" altLang="zh-CN" sz="2400" dirty="0">
                <a:solidFill>
                  <a:schemeClr val="tx1"/>
                </a:solidFill>
                <a:latin typeface="等线" panose="02010600030101010101" pitchFamily="2" charset="-122"/>
                <a:ea typeface="等线" panose="02010600030101010101" pitchFamily="2" charset="-122"/>
              </a:rPr>
              <a:t>IPv4</a:t>
            </a:r>
            <a:r>
              <a:rPr lang="zh-CN" altLang="zh-CN" sz="2400" dirty="0">
                <a:solidFill>
                  <a:schemeClr val="tx1"/>
                </a:solidFill>
                <a:latin typeface="等线" panose="02010600030101010101" pitchFamily="2" charset="-122"/>
                <a:ea typeface="等线" panose="02010600030101010101" pitchFamily="2" charset="-122"/>
              </a:rPr>
              <a:t>协议  </a:t>
            </a:r>
          </a:p>
          <a:p>
            <a:pPr marL="457200" indent="-457200">
              <a:lnSpc>
                <a:spcPct val="130000"/>
              </a:lnSpc>
              <a:spcBef>
                <a:spcPts val="600"/>
              </a:spcBef>
              <a:buFont typeface="+mj-lt"/>
              <a:buAutoNum type="arabicPeriod"/>
            </a:pPr>
            <a:r>
              <a:rPr lang="en-US" altLang="zh-CN" sz="2400" dirty="0">
                <a:solidFill>
                  <a:schemeClr val="tx1"/>
                </a:solidFill>
                <a:latin typeface="等线" panose="02010600030101010101" pitchFamily="2" charset="-122"/>
                <a:ea typeface="等线" panose="02010600030101010101" pitchFamily="2" charset="-122"/>
              </a:rPr>
              <a:t>IP</a:t>
            </a:r>
            <a:r>
              <a:rPr lang="zh-CN" altLang="zh-CN" sz="2400" dirty="0">
                <a:solidFill>
                  <a:schemeClr val="tx1"/>
                </a:solidFill>
                <a:latin typeface="等线" panose="02010600030101010101" pitchFamily="2" charset="-122"/>
                <a:ea typeface="等线" panose="02010600030101010101" pitchFamily="2" charset="-122"/>
              </a:rPr>
              <a:t>地址 </a:t>
            </a:r>
            <a:r>
              <a:rPr lang="en-US" altLang="zh-CN" sz="2400" dirty="0">
                <a:solidFill>
                  <a:schemeClr val="tx1"/>
                </a:solidFill>
                <a:latin typeface="等线" panose="02010600030101010101" pitchFamily="2" charset="-122"/>
                <a:ea typeface="等线" panose="02010600030101010101" pitchFamily="2" charset="-122"/>
              </a:rPr>
              <a:t>  </a:t>
            </a:r>
          </a:p>
          <a:p>
            <a:pPr marL="457200" indent="-457200">
              <a:lnSpc>
                <a:spcPct val="130000"/>
              </a:lnSpc>
              <a:spcBef>
                <a:spcPts val="600"/>
              </a:spcBef>
              <a:buFont typeface="+mj-lt"/>
              <a:buAutoNum type="arabicPeriod"/>
            </a:pPr>
            <a:r>
              <a:rPr lang="en-US" altLang="zh-CN" sz="2400" dirty="0">
                <a:solidFill>
                  <a:schemeClr val="tx1"/>
                </a:solidFill>
                <a:latin typeface="等线" panose="02010600030101010101" pitchFamily="2" charset="-122"/>
                <a:ea typeface="等线" panose="02010600030101010101" pitchFamily="2" charset="-122"/>
              </a:rPr>
              <a:t>ARP</a:t>
            </a:r>
          </a:p>
          <a:p>
            <a:pPr marL="457200" indent="-457200">
              <a:lnSpc>
                <a:spcPct val="130000"/>
              </a:lnSpc>
              <a:spcBef>
                <a:spcPts val="600"/>
              </a:spcBef>
              <a:buFont typeface="+mj-lt"/>
              <a:buAutoNum type="arabicPeriod"/>
            </a:pPr>
            <a:r>
              <a:rPr lang="en-US" altLang="zh-CN" sz="2400" dirty="0">
                <a:solidFill>
                  <a:schemeClr val="tx1"/>
                </a:solidFill>
                <a:latin typeface="等线" panose="02010600030101010101" pitchFamily="2" charset="-122"/>
                <a:ea typeface="等线" panose="02010600030101010101" pitchFamily="2" charset="-122"/>
              </a:rPr>
              <a:t>NAT </a:t>
            </a:r>
            <a:r>
              <a:rPr lang="zh-CN" altLang="zh-CN" sz="2400" dirty="0">
                <a:solidFill>
                  <a:schemeClr val="tx1"/>
                </a:solidFill>
                <a:latin typeface="等线" panose="02010600030101010101" pitchFamily="2" charset="-122"/>
                <a:ea typeface="等线" panose="02010600030101010101" pitchFamily="2" charset="-122"/>
              </a:rPr>
              <a:t> </a:t>
            </a:r>
            <a:endParaRPr lang="en-US" altLang="zh-CN" sz="2400" dirty="0">
              <a:solidFill>
                <a:schemeClr val="tx1"/>
              </a:solidFill>
              <a:latin typeface="等线" panose="02010600030101010101" pitchFamily="2" charset="-122"/>
              <a:ea typeface="等线" panose="02010600030101010101" pitchFamily="2" charset="-122"/>
            </a:endParaRPr>
          </a:p>
          <a:p>
            <a:pPr marL="457200" indent="-457200">
              <a:lnSpc>
                <a:spcPct val="130000"/>
              </a:lnSpc>
              <a:spcBef>
                <a:spcPts val="600"/>
              </a:spcBef>
              <a:buFont typeface="+mj-lt"/>
              <a:buAutoNum type="arabicPeriod"/>
            </a:pPr>
            <a:r>
              <a:rPr lang="en-US" altLang="zh-CN" sz="2400" dirty="0">
                <a:solidFill>
                  <a:schemeClr val="tx1"/>
                </a:solidFill>
                <a:latin typeface="等线" panose="02010600030101010101" pitchFamily="2" charset="-122"/>
              </a:rPr>
              <a:t>DHCP</a:t>
            </a:r>
            <a:endParaRPr lang="zh-CN" altLang="zh-CN" sz="2400" dirty="0">
              <a:solidFill>
                <a:schemeClr val="tx1"/>
              </a:solidFill>
              <a:latin typeface="等线" panose="02010600030101010101" pitchFamily="2" charset="-122"/>
              <a:ea typeface="等线" panose="02010600030101010101" pitchFamily="2" charset="-122"/>
            </a:endParaRPr>
          </a:p>
          <a:p>
            <a:pPr marL="457200" indent="-457200">
              <a:lnSpc>
                <a:spcPct val="130000"/>
              </a:lnSpc>
              <a:spcBef>
                <a:spcPts val="600"/>
              </a:spcBef>
              <a:buFont typeface="+mj-lt"/>
              <a:buAutoNum type="arabicPeriod"/>
            </a:pPr>
            <a:r>
              <a:rPr lang="en-US" altLang="zh-CN" sz="2400" dirty="0">
                <a:solidFill>
                  <a:schemeClr val="tx1"/>
                </a:solidFill>
                <a:latin typeface="等线" panose="02010600030101010101" pitchFamily="2" charset="-122"/>
                <a:ea typeface="等线" panose="02010600030101010101" pitchFamily="2" charset="-122"/>
              </a:rPr>
              <a:t>Internet</a:t>
            </a:r>
            <a:r>
              <a:rPr lang="zh-CN" altLang="zh-CN" sz="2400" dirty="0">
                <a:solidFill>
                  <a:schemeClr val="tx1"/>
                </a:solidFill>
                <a:latin typeface="等线" panose="02010600030101010101" pitchFamily="2" charset="-122"/>
                <a:ea typeface="等线" panose="02010600030101010101" pitchFamily="2" charset="-122"/>
              </a:rPr>
              <a:t>控制报文协议</a:t>
            </a:r>
            <a:endParaRPr lang="en-US" altLang="zh-CN" sz="2400" dirty="0">
              <a:solidFill>
                <a:schemeClr val="tx1"/>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237804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IPv4</a:t>
            </a:r>
            <a:r>
              <a:rPr lang="zh-CN" altLang="en-US" dirty="0"/>
              <a:t>协议</a:t>
            </a:r>
          </a:p>
        </p:txBody>
      </p:sp>
      <p:sp>
        <p:nvSpPr>
          <p:cNvPr id="3" name="内容占位符 2"/>
          <p:cNvSpPr>
            <a:spLocks noGrp="1"/>
          </p:cNvSpPr>
          <p:nvPr>
            <p:ph idx="1"/>
          </p:nvPr>
        </p:nvSpPr>
        <p:spPr>
          <a:xfrm>
            <a:off x="838200" y="1510758"/>
            <a:ext cx="10515600" cy="4586694"/>
          </a:xfrm>
        </p:spPr>
        <p:txBody>
          <a:bodyPr>
            <a:normAutofit/>
          </a:bodyPr>
          <a:lstStyle/>
          <a:p>
            <a:pPr fontAlgn="base">
              <a:lnSpc>
                <a:spcPct val="120000"/>
              </a:lnSpc>
            </a:pPr>
            <a:r>
              <a:rPr lang="en-US" sz="2400" dirty="0"/>
              <a:t>IPv4</a:t>
            </a:r>
            <a:r>
              <a:rPr lang="zh-CN" altLang="en-US" sz="2400" dirty="0"/>
              <a:t>协议，网际协议版本</a:t>
            </a:r>
            <a:r>
              <a:rPr lang="en-US" altLang="zh-CN" sz="2400" dirty="0"/>
              <a:t>4</a:t>
            </a:r>
            <a:r>
              <a:rPr lang="zh-CN" altLang="en-US" sz="2400" dirty="0"/>
              <a:t>，一种无连接的协议，是互联网的核心，也是使用最广泛的网际协议版本，其后继版本为</a:t>
            </a:r>
            <a:r>
              <a:rPr lang="en-US" altLang="zh-CN" sz="2400" dirty="0"/>
              <a:t>IPv6</a:t>
            </a:r>
          </a:p>
          <a:p>
            <a:pPr fontAlgn="base">
              <a:lnSpc>
                <a:spcPct val="120000"/>
              </a:lnSpc>
            </a:pPr>
            <a:endParaRPr lang="en-US" altLang="zh-CN" sz="2400" dirty="0"/>
          </a:p>
          <a:p>
            <a:pPr fontAlgn="base">
              <a:lnSpc>
                <a:spcPct val="120000"/>
              </a:lnSpc>
            </a:pPr>
            <a:r>
              <a:rPr lang="en-US" sz="2400" dirty="0"/>
              <a:t>Internet</a:t>
            </a:r>
            <a:r>
              <a:rPr lang="zh-CN" altLang="en-US" sz="2400" dirty="0"/>
              <a:t>协议执行两个基本功能</a:t>
            </a:r>
            <a:endParaRPr lang="en-US" altLang="zh-CN" sz="2400" dirty="0"/>
          </a:p>
          <a:p>
            <a:pPr lvl="1"/>
            <a:r>
              <a:rPr lang="zh-CN" altLang="en-US" dirty="0"/>
              <a:t>寻址</a:t>
            </a:r>
            <a:r>
              <a:rPr lang="en-US" altLang="zh-CN" dirty="0"/>
              <a:t>(</a:t>
            </a:r>
            <a:r>
              <a:rPr lang="en-US" dirty="0"/>
              <a:t>addressing)</a:t>
            </a:r>
            <a:endParaRPr lang="en-US" altLang="zh-CN" dirty="0">
              <a:solidFill>
                <a:srgbClr val="C00000"/>
              </a:solidFill>
            </a:endParaRPr>
          </a:p>
          <a:p>
            <a:pPr lvl="1"/>
            <a:r>
              <a:rPr lang="zh-CN" altLang="en-US" dirty="0"/>
              <a:t>分片</a:t>
            </a:r>
            <a:r>
              <a:rPr lang="en-US" altLang="zh-CN" dirty="0"/>
              <a:t>(</a:t>
            </a:r>
            <a:r>
              <a:rPr lang="en-US" dirty="0"/>
              <a:t>fragmentation)</a:t>
            </a:r>
            <a:endParaRPr lang="zh-CN" altLang="en-US" dirty="0"/>
          </a:p>
        </p:txBody>
      </p:sp>
      <p:sp>
        <p:nvSpPr>
          <p:cNvPr id="7"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.1</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IPv4</a:t>
            </a:r>
            <a:r>
              <a:rPr lang="zh-CN" altLang="en-US" dirty="0">
                <a:latin typeface="DengXian" panose="02010600030101010101" pitchFamily="2" charset="-122"/>
                <a:ea typeface="DengXian" panose="02010600030101010101" pitchFamily="2" charset="-122"/>
              </a:rPr>
              <a:t>协议</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8"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16</a:t>
            </a:fld>
            <a:endParaRPr kumimoji="1" lang="zh-CN" altLang="en-US" dirty="0"/>
          </a:p>
        </p:txBody>
      </p:sp>
      <p:pic>
        <p:nvPicPr>
          <p:cNvPr id="47105" name="Picture 1"/>
          <p:cNvPicPr>
            <a:picLocks noChangeAspect="1" noChangeArrowheads="1"/>
          </p:cNvPicPr>
          <p:nvPr/>
        </p:nvPicPr>
        <p:blipFill>
          <a:blip r:embed="rId3"/>
          <a:srcRect/>
          <a:stretch>
            <a:fillRect/>
          </a:stretch>
        </p:blipFill>
        <p:spPr bwMode="auto">
          <a:xfrm>
            <a:off x="5761259" y="2466578"/>
            <a:ext cx="5287032" cy="3657600"/>
          </a:xfrm>
          <a:prstGeom prst="rect">
            <a:avLst/>
          </a:prstGeom>
          <a:noFill/>
          <a:ln w="9525">
            <a:noFill/>
            <a:miter lim="800000"/>
            <a:headEnd/>
            <a:tailEnd/>
          </a:ln>
          <a:effectLst/>
        </p:spPr>
      </p:pic>
      <p:sp>
        <p:nvSpPr>
          <p:cNvPr id="10" name="矩形 9"/>
          <p:cNvSpPr/>
          <p:nvPr/>
        </p:nvSpPr>
        <p:spPr>
          <a:xfrm>
            <a:off x="7281231" y="6044801"/>
            <a:ext cx="2247089" cy="44450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dirty="0">
                <a:solidFill>
                  <a:schemeClr val="tx1"/>
                </a:solidFill>
              </a:rPr>
              <a:t>RFC 791</a:t>
            </a:r>
            <a:endParaRPr lang="zh-CN" altLang="en-US" sz="2000" dirty="0">
              <a:solidFill>
                <a:schemeClr val="tx1"/>
              </a:solidFill>
            </a:endParaRPr>
          </a:p>
        </p:txBody>
      </p:sp>
    </p:spTree>
    <p:extLst>
      <p:ext uri="{BB962C8B-B14F-4D97-AF65-F5344CB8AC3E}">
        <p14:creationId xmlns:p14="http://schemas.microsoft.com/office/powerpoint/2010/main" val="1853284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IPv4</a:t>
            </a:r>
            <a:r>
              <a:rPr lang="zh-CN" altLang="en-US" dirty="0"/>
              <a:t>数据包格式</a:t>
            </a:r>
          </a:p>
        </p:txBody>
      </p:sp>
      <p:sp>
        <p:nvSpPr>
          <p:cNvPr id="7" name="内容占位符 2">
            <a:extLst>
              <a:ext uri="{FF2B5EF4-FFF2-40B4-BE49-F238E27FC236}">
                <a16:creationId xmlns:a16="http://schemas.microsoft.com/office/drawing/2014/main" id="{F088ADF8-202B-CD4A-A707-9886A69D1A4C}"/>
              </a:ext>
            </a:extLst>
          </p:cNvPr>
          <p:cNvSpPr txBox="1">
            <a:spLocks/>
          </p:cNvSpPr>
          <p:nvPr/>
        </p:nvSpPr>
        <p:spPr>
          <a:xfrm>
            <a:off x="353920" y="1620830"/>
            <a:ext cx="5886869" cy="446134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zh-CN" altLang="en-US" sz="2000" dirty="0">
                <a:solidFill>
                  <a:srgbClr val="C00000"/>
                </a:solidFill>
                <a:latin typeface="DengXian" panose="02010600030101010101" pitchFamily="2" charset="-122"/>
                <a:ea typeface="DengXian" panose="02010600030101010101" pitchFamily="2" charset="-122"/>
              </a:rPr>
              <a:t>版本</a:t>
            </a:r>
            <a:r>
              <a:rPr lang="zh-CN" altLang="en-US" sz="2000" dirty="0">
                <a:latin typeface="DengXian" panose="02010600030101010101" pitchFamily="2" charset="-122"/>
                <a:ea typeface="DengXian" panose="02010600030101010101" pitchFamily="2" charset="-122"/>
              </a:rPr>
              <a:t>： </a:t>
            </a:r>
            <a:r>
              <a:rPr lang="en-US" altLang="zh-CN" sz="2000" dirty="0">
                <a:latin typeface="DengXian" panose="02010600030101010101" pitchFamily="2" charset="-122"/>
                <a:ea typeface="DengXian" panose="02010600030101010101" pitchFamily="2" charset="-122"/>
              </a:rPr>
              <a:t>4bit</a:t>
            </a:r>
            <a:r>
              <a:rPr lang="zh-CN" altLang="en-US" sz="2000" dirty="0">
                <a:latin typeface="DengXian" panose="02010600030101010101" pitchFamily="2" charset="-122"/>
                <a:ea typeface="DengXian" panose="02010600030101010101" pitchFamily="2" charset="-122"/>
              </a:rPr>
              <a:t> ，表示采用的</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协议版本</a:t>
            </a:r>
            <a:endParaRPr lang="en-US" altLang="zh-CN" sz="2000" dirty="0">
              <a:latin typeface="DengXian" panose="02010600030101010101" pitchFamily="2" charset="-122"/>
              <a:ea typeface="DengXian" panose="02010600030101010101" pitchFamily="2" charset="-122"/>
            </a:endParaRPr>
          </a:p>
          <a:p>
            <a:pPr algn="just"/>
            <a:r>
              <a:rPr lang="zh-CN" altLang="en-US" sz="2000" dirty="0">
                <a:solidFill>
                  <a:srgbClr val="C00000"/>
                </a:solidFill>
                <a:latin typeface="DengXian" panose="02010600030101010101" pitchFamily="2" charset="-122"/>
                <a:ea typeface="DengXian" panose="02010600030101010101" pitchFamily="2" charset="-122"/>
              </a:rPr>
              <a:t>首部长度</a:t>
            </a:r>
            <a:r>
              <a:rPr lang="zh-CN" altLang="en-US" sz="2000" dirty="0">
                <a:latin typeface="DengXian" panose="02010600030101010101" pitchFamily="2" charset="-122"/>
                <a:ea typeface="DengXian" panose="02010600030101010101" pitchFamily="2" charset="-122"/>
              </a:rPr>
              <a:t>： </a:t>
            </a:r>
            <a:r>
              <a:rPr lang="en-US" altLang="zh-CN" sz="2000" dirty="0">
                <a:latin typeface="DengXian" panose="02010600030101010101" pitchFamily="2" charset="-122"/>
                <a:ea typeface="DengXian" panose="02010600030101010101" pitchFamily="2" charset="-122"/>
              </a:rPr>
              <a:t>4bit</a:t>
            </a:r>
            <a:r>
              <a:rPr lang="zh-CN" altLang="en-US" sz="2000" dirty="0">
                <a:latin typeface="DengXian" panose="02010600030101010101" pitchFamily="2" charset="-122"/>
                <a:ea typeface="DengXian" panose="02010600030101010101" pitchFamily="2" charset="-122"/>
              </a:rPr>
              <a:t>，表示整个</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数据包首部的长度</a:t>
            </a:r>
            <a:endParaRPr lang="en-US" altLang="zh-CN" sz="2000" dirty="0">
              <a:latin typeface="DengXian" panose="02010600030101010101" pitchFamily="2" charset="-122"/>
              <a:ea typeface="DengXian" panose="02010600030101010101" pitchFamily="2" charset="-122"/>
            </a:endParaRPr>
          </a:p>
          <a:p>
            <a:pPr algn="just"/>
            <a:r>
              <a:rPr lang="zh-CN" altLang="en-US" sz="2000" dirty="0">
                <a:solidFill>
                  <a:srgbClr val="C00000"/>
                </a:solidFill>
                <a:latin typeface="DengXian" panose="02010600030101010101" pitchFamily="2" charset="-122"/>
                <a:ea typeface="DengXian" panose="02010600030101010101" pitchFamily="2" charset="-122"/>
              </a:rPr>
              <a:t>区分服务</a:t>
            </a:r>
            <a:r>
              <a:rPr lang="zh-CN" altLang="en-US" sz="2000" dirty="0">
                <a:latin typeface="DengXian" panose="02010600030101010101" pitchFamily="2" charset="-122"/>
                <a:ea typeface="DengXian" panose="02010600030101010101" pitchFamily="2" charset="-122"/>
              </a:rPr>
              <a:t>： </a:t>
            </a:r>
            <a:r>
              <a:rPr lang="en-US" altLang="zh-CN" sz="2000" dirty="0">
                <a:latin typeface="DengXian" panose="02010600030101010101" pitchFamily="2" charset="-122"/>
                <a:ea typeface="DengXian" panose="02010600030101010101" pitchFamily="2" charset="-122"/>
              </a:rPr>
              <a:t>8bit</a:t>
            </a:r>
            <a:r>
              <a:rPr lang="zh-CN" altLang="en-US" sz="2000" dirty="0">
                <a:latin typeface="DengXian" panose="02010600030101010101" pitchFamily="2" charset="-122"/>
                <a:ea typeface="DengXian" panose="02010600030101010101" pitchFamily="2" charset="-122"/>
              </a:rPr>
              <a:t> ，该字段一般情况下不使用</a:t>
            </a:r>
            <a:endParaRPr lang="en-US" altLang="zh-CN" sz="2000" dirty="0">
              <a:latin typeface="DengXian" panose="02010600030101010101" pitchFamily="2" charset="-122"/>
              <a:ea typeface="DengXian" panose="02010600030101010101" pitchFamily="2" charset="-122"/>
            </a:endParaRPr>
          </a:p>
          <a:p>
            <a:pPr algn="just"/>
            <a:r>
              <a:rPr lang="zh-CN" altLang="en-US" sz="2000" dirty="0">
                <a:solidFill>
                  <a:srgbClr val="C00000"/>
                </a:solidFill>
                <a:latin typeface="DengXian" panose="02010600030101010101" pitchFamily="2" charset="-122"/>
                <a:ea typeface="DengXian" panose="02010600030101010101" pitchFamily="2" charset="-122"/>
              </a:rPr>
              <a:t>总长度</a:t>
            </a:r>
            <a:r>
              <a:rPr lang="zh-CN" altLang="en-US" sz="2000" dirty="0">
                <a:latin typeface="DengXian" panose="02010600030101010101" pitchFamily="2" charset="-122"/>
                <a:ea typeface="DengXian" panose="02010600030101010101" pitchFamily="2" charset="-122"/>
              </a:rPr>
              <a:t>： </a:t>
            </a:r>
            <a:r>
              <a:rPr lang="en-US" altLang="zh-CN" sz="2000" dirty="0">
                <a:latin typeface="DengXian" panose="02010600030101010101" pitchFamily="2" charset="-122"/>
                <a:ea typeface="DengXian" panose="02010600030101010101" pitchFamily="2" charset="-122"/>
              </a:rPr>
              <a:t>16bit</a:t>
            </a:r>
            <a:r>
              <a:rPr lang="zh-CN" altLang="en-US" sz="2000" dirty="0">
                <a:latin typeface="DengXian" panose="02010600030101010101" pitchFamily="2" charset="-122"/>
                <a:ea typeface="DengXian" panose="02010600030101010101" pitchFamily="2" charset="-122"/>
              </a:rPr>
              <a:t> ，表示整个</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报文的长度</a:t>
            </a:r>
            <a:r>
              <a:rPr lang="en-US" altLang="zh-CN" sz="2000" dirty="0">
                <a:latin typeface="DengXian" panose="02010600030101010101" pitchFamily="2" charset="-122"/>
                <a:ea typeface="DengXian" panose="02010600030101010101" pitchFamily="2" charset="-122"/>
              </a:rPr>
              <a:t>,</a:t>
            </a:r>
            <a:r>
              <a:rPr lang="zh-CN" altLang="en-US" sz="2000" dirty="0">
                <a:latin typeface="DengXian" panose="02010600030101010101" pitchFamily="2" charset="-122"/>
                <a:ea typeface="DengXian" panose="02010600030101010101" pitchFamily="2" charset="-122"/>
              </a:rPr>
              <a:t>能表示的最大字节为</a:t>
            </a:r>
            <a:r>
              <a:rPr lang="en-US" altLang="zh-CN" sz="2000" dirty="0">
                <a:latin typeface="DengXian" panose="02010600030101010101" pitchFamily="2" charset="-122"/>
                <a:ea typeface="DengXian" panose="02010600030101010101" pitchFamily="2" charset="-122"/>
              </a:rPr>
              <a:t>2^16-1=65535</a:t>
            </a:r>
            <a:r>
              <a:rPr lang="zh-CN" altLang="en-US" sz="2000" dirty="0">
                <a:latin typeface="DengXian" panose="02010600030101010101" pitchFamily="2" charset="-122"/>
                <a:ea typeface="DengXian" panose="02010600030101010101" pitchFamily="2" charset="-122"/>
              </a:rPr>
              <a:t>字节</a:t>
            </a:r>
            <a:endParaRPr lang="en-US" altLang="zh-CN" sz="2000" dirty="0">
              <a:latin typeface="DengXian" panose="02010600030101010101" pitchFamily="2" charset="-122"/>
              <a:ea typeface="DengXian" panose="02010600030101010101" pitchFamily="2" charset="-122"/>
            </a:endParaRPr>
          </a:p>
          <a:p>
            <a:pPr algn="just"/>
            <a:r>
              <a:rPr lang="zh-CN" altLang="en-US" sz="2000" dirty="0">
                <a:solidFill>
                  <a:srgbClr val="C00000"/>
                </a:solidFill>
                <a:latin typeface="DengXian" panose="02010600030101010101" pitchFamily="2" charset="-122"/>
                <a:ea typeface="DengXian" panose="02010600030101010101" pitchFamily="2" charset="-122"/>
              </a:rPr>
              <a:t>标识</a:t>
            </a:r>
            <a:r>
              <a:rPr lang="zh-CN" altLang="en-US" sz="2000" dirty="0">
                <a:latin typeface="DengXian" panose="02010600030101010101" pitchFamily="2" charset="-122"/>
                <a:ea typeface="DengXian" panose="02010600030101010101" pitchFamily="2" charset="-122"/>
              </a:rPr>
              <a:t>： </a:t>
            </a:r>
            <a:r>
              <a:rPr lang="en-US" altLang="zh-CN" sz="2000" dirty="0">
                <a:latin typeface="DengXian" panose="02010600030101010101" pitchFamily="2" charset="-122"/>
                <a:ea typeface="DengXian" panose="02010600030101010101" pitchFamily="2" charset="-122"/>
              </a:rPr>
              <a:t>16bit</a:t>
            </a:r>
            <a:r>
              <a:rPr lang="zh-CN" altLang="en-US" sz="2000" dirty="0">
                <a:latin typeface="DengXian" panose="02010600030101010101" pitchFamily="2" charset="-122"/>
                <a:ea typeface="DengXian" panose="02010600030101010101" pitchFamily="2" charset="-122"/>
              </a:rPr>
              <a:t> ，</a:t>
            </a:r>
            <a:r>
              <a:rPr lang="en-US" altLang="zh-CN" sz="2000" dirty="0">
                <a:latin typeface="DengXian" panose="02010600030101010101" pitchFamily="2" charset="-122"/>
                <a:ea typeface="DengXian" panose="02010600030101010101" pitchFamily="2" charset="-122"/>
              </a:rPr>
              <a:t> IP</a:t>
            </a:r>
            <a:r>
              <a:rPr lang="zh-CN" altLang="en-US" sz="2000" dirty="0">
                <a:latin typeface="DengXian" panose="02010600030101010101" pitchFamily="2" charset="-122"/>
                <a:ea typeface="DengXian" panose="02010600030101010101" pitchFamily="2" charset="-122"/>
              </a:rPr>
              <a:t>软件通过计数器自动产生，每产生</a:t>
            </a:r>
            <a:r>
              <a:rPr lang="en-US" altLang="zh-CN" sz="2000" dirty="0">
                <a:latin typeface="DengXian" panose="02010600030101010101" pitchFamily="2" charset="-122"/>
                <a:ea typeface="DengXian" panose="02010600030101010101" pitchFamily="2" charset="-122"/>
              </a:rPr>
              <a:t>1</a:t>
            </a:r>
            <a:r>
              <a:rPr lang="zh-CN" altLang="en-US" sz="2000" dirty="0">
                <a:latin typeface="DengXian" panose="02010600030101010101" pitchFamily="2" charset="-122"/>
                <a:ea typeface="DengXian" panose="02010600030101010101" pitchFamily="2" charset="-122"/>
              </a:rPr>
              <a:t>个数据包计数器加</a:t>
            </a:r>
            <a:r>
              <a:rPr lang="en-US" altLang="zh-CN" sz="2000" dirty="0">
                <a:latin typeface="DengXian" panose="02010600030101010101" pitchFamily="2" charset="-122"/>
                <a:ea typeface="DengXian" panose="02010600030101010101" pitchFamily="2" charset="-122"/>
              </a:rPr>
              <a:t>1</a:t>
            </a:r>
            <a:r>
              <a:rPr lang="zh-CN" altLang="en-US" sz="2000" dirty="0">
                <a:latin typeface="DengXian" panose="02010600030101010101" pitchFamily="2" charset="-122"/>
                <a:ea typeface="DengXian" panose="02010600030101010101" pitchFamily="2" charset="-122"/>
              </a:rPr>
              <a:t>；在</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分片以后，用来标识同一片分片</a:t>
            </a:r>
            <a:endParaRPr lang="en-US" altLang="zh-CN" sz="2000" dirty="0">
              <a:latin typeface="DengXian" panose="02010600030101010101" pitchFamily="2" charset="-122"/>
              <a:ea typeface="DengXian" panose="02010600030101010101" pitchFamily="2" charset="-122"/>
            </a:endParaRPr>
          </a:p>
          <a:p>
            <a:pPr algn="just"/>
            <a:r>
              <a:rPr lang="zh-CN" altLang="en-US" sz="2000" dirty="0">
                <a:solidFill>
                  <a:srgbClr val="C00000"/>
                </a:solidFill>
                <a:latin typeface="DengXian" panose="02010600030101010101" pitchFamily="2" charset="-122"/>
                <a:ea typeface="DengXian" panose="02010600030101010101" pitchFamily="2" charset="-122"/>
              </a:rPr>
              <a:t>标志</a:t>
            </a:r>
            <a:r>
              <a:rPr lang="zh-CN" altLang="en-US" sz="2000" dirty="0">
                <a:latin typeface="DengXian" panose="02010600030101010101" pitchFamily="2" charset="-122"/>
                <a:ea typeface="DengXian" panose="02010600030101010101" pitchFamily="2" charset="-122"/>
              </a:rPr>
              <a:t>： </a:t>
            </a:r>
            <a:r>
              <a:rPr lang="en-US" altLang="zh-CN" sz="2000" dirty="0">
                <a:latin typeface="DengXian" panose="02010600030101010101" pitchFamily="2" charset="-122"/>
                <a:ea typeface="DengXian" panose="02010600030101010101" pitchFamily="2" charset="-122"/>
              </a:rPr>
              <a:t>3bit</a:t>
            </a:r>
            <a:r>
              <a:rPr lang="zh-CN" altLang="en-US" sz="2000" dirty="0">
                <a:latin typeface="DengXian" panose="02010600030101010101" pitchFamily="2" charset="-122"/>
                <a:ea typeface="DengXian" panose="02010600030101010101" pitchFamily="2" charset="-122"/>
              </a:rPr>
              <a:t>，目前只有两位有意义；</a:t>
            </a:r>
            <a:r>
              <a:rPr lang="en-US" altLang="zh-CN" sz="2000" dirty="0">
                <a:latin typeface="DengXian" panose="02010600030101010101" pitchFamily="2" charset="-122"/>
                <a:ea typeface="DengXian" panose="02010600030101010101" pitchFamily="2" charset="-122"/>
              </a:rPr>
              <a:t> MF</a:t>
            </a:r>
            <a:r>
              <a:rPr lang="zh-CN" altLang="en-US" sz="2000" dirty="0">
                <a:latin typeface="DengXian" panose="02010600030101010101" pitchFamily="2" charset="-122"/>
                <a:ea typeface="DengXian" panose="02010600030101010101" pitchFamily="2" charset="-122"/>
              </a:rPr>
              <a:t>，置</a:t>
            </a:r>
            <a:r>
              <a:rPr lang="en-US" altLang="zh-CN" sz="2000" dirty="0">
                <a:latin typeface="DengXian" panose="02010600030101010101" pitchFamily="2" charset="-122"/>
                <a:ea typeface="DengXian" panose="02010600030101010101" pitchFamily="2" charset="-122"/>
              </a:rPr>
              <a:t>1</a:t>
            </a:r>
            <a:r>
              <a:rPr lang="zh-CN" altLang="en-US" sz="2000" dirty="0">
                <a:latin typeface="DengXian" panose="02010600030101010101" pitchFamily="2" charset="-122"/>
                <a:ea typeface="DengXian" panose="02010600030101010101" pitchFamily="2" charset="-122"/>
              </a:rPr>
              <a:t>表示后面还有分片，置</a:t>
            </a:r>
            <a:r>
              <a:rPr lang="en-US" altLang="zh-CN" sz="2000" dirty="0">
                <a:latin typeface="DengXian" panose="02010600030101010101" pitchFamily="2" charset="-122"/>
                <a:ea typeface="DengXian" panose="02010600030101010101" pitchFamily="2" charset="-122"/>
              </a:rPr>
              <a:t>0</a:t>
            </a:r>
            <a:r>
              <a:rPr lang="zh-CN" altLang="en-US" sz="2000" dirty="0">
                <a:latin typeface="DengXian" panose="02010600030101010101" pitchFamily="2" charset="-122"/>
                <a:ea typeface="DengXian" panose="02010600030101010101" pitchFamily="2" charset="-122"/>
              </a:rPr>
              <a:t>表示这是数据包片的最后</a:t>
            </a:r>
            <a:r>
              <a:rPr lang="en-US" altLang="zh-CN" sz="2000" dirty="0">
                <a:latin typeface="DengXian" panose="02010600030101010101" pitchFamily="2" charset="-122"/>
                <a:ea typeface="DengXian" panose="02010600030101010101" pitchFamily="2" charset="-122"/>
              </a:rPr>
              <a:t>1</a:t>
            </a:r>
            <a:r>
              <a:rPr lang="zh-CN" altLang="en-US" sz="2000" dirty="0">
                <a:latin typeface="DengXian" panose="02010600030101010101" pitchFamily="2" charset="-122"/>
                <a:ea typeface="DengXian" panose="02010600030101010101" pitchFamily="2" charset="-122"/>
              </a:rPr>
              <a:t>个；</a:t>
            </a:r>
            <a:r>
              <a:rPr lang="en-US" altLang="zh-CN" sz="2000" dirty="0">
                <a:latin typeface="DengXian" panose="02010600030101010101" pitchFamily="2" charset="-122"/>
                <a:ea typeface="DengXian" panose="02010600030101010101" pitchFamily="2" charset="-122"/>
              </a:rPr>
              <a:t>DF</a:t>
            </a:r>
            <a:r>
              <a:rPr lang="zh-CN" altLang="en-US" sz="2000" dirty="0">
                <a:latin typeface="DengXian" panose="02010600030101010101" pitchFamily="2" charset="-122"/>
                <a:ea typeface="DengXian" panose="02010600030101010101" pitchFamily="2" charset="-122"/>
              </a:rPr>
              <a:t>，不能分片标志，置</a:t>
            </a:r>
            <a:r>
              <a:rPr lang="en-US" altLang="zh-CN" sz="2000" dirty="0">
                <a:latin typeface="DengXian" panose="02010600030101010101" pitchFamily="2" charset="-122"/>
                <a:ea typeface="DengXian" panose="02010600030101010101" pitchFamily="2" charset="-122"/>
              </a:rPr>
              <a:t>0</a:t>
            </a:r>
            <a:r>
              <a:rPr lang="zh-CN" altLang="en-US" sz="2000" dirty="0">
                <a:latin typeface="DengXian" panose="02010600030101010101" pitchFamily="2" charset="-122"/>
                <a:ea typeface="DengXian" panose="02010600030101010101" pitchFamily="2" charset="-122"/>
              </a:rPr>
              <a:t>时表示允许分片</a:t>
            </a:r>
            <a:endParaRPr lang="en-US" altLang="zh-CN" sz="2000" dirty="0">
              <a:latin typeface="DengXian" panose="02010600030101010101" pitchFamily="2" charset="-122"/>
              <a:ea typeface="DengXian" panose="02010600030101010101" pitchFamily="2" charset="-122"/>
            </a:endParaRPr>
          </a:p>
          <a:p>
            <a:pPr algn="just"/>
            <a:r>
              <a:rPr lang="zh-CN" altLang="en-US" sz="2000" dirty="0">
                <a:solidFill>
                  <a:srgbClr val="C00000"/>
                </a:solidFill>
                <a:latin typeface="DengXian" panose="02010600030101010101" pitchFamily="2" charset="-122"/>
                <a:ea typeface="DengXian" panose="02010600030101010101" pitchFamily="2" charset="-122"/>
              </a:rPr>
              <a:t>片偏移</a:t>
            </a:r>
            <a:r>
              <a:rPr lang="zh-CN" altLang="en-US" sz="2000" dirty="0">
                <a:latin typeface="DengXian" panose="02010600030101010101" pitchFamily="2" charset="-122"/>
                <a:ea typeface="DengXian" panose="02010600030101010101" pitchFamily="2" charset="-122"/>
              </a:rPr>
              <a:t>： </a:t>
            </a:r>
            <a:r>
              <a:rPr lang="en-US" altLang="zh-CN" sz="2000" dirty="0">
                <a:latin typeface="DengXian" panose="02010600030101010101" pitchFamily="2" charset="-122"/>
                <a:ea typeface="DengXian" panose="02010600030101010101" pitchFamily="2" charset="-122"/>
              </a:rPr>
              <a:t>13bit</a:t>
            </a:r>
            <a:r>
              <a:rPr lang="zh-CN" altLang="en-US" sz="2000" dirty="0">
                <a:latin typeface="DengXian" panose="02010600030101010101" pitchFamily="2" charset="-122"/>
                <a:ea typeface="DengXian" panose="02010600030101010101" pitchFamily="2" charset="-122"/>
              </a:rPr>
              <a:t>，表示</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分片后，相应的</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片在总的</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片的相对位置</a:t>
            </a:r>
            <a:endParaRPr lang="en-US" altLang="zh-CN" sz="2000" dirty="0">
              <a:latin typeface="DengXian" panose="02010600030101010101" pitchFamily="2" charset="-122"/>
              <a:ea typeface="DengXian" panose="02010600030101010101" pitchFamily="2" charset="-122"/>
            </a:endParaRPr>
          </a:p>
        </p:txBody>
      </p:sp>
      <p:sp>
        <p:nvSpPr>
          <p:cNvPr id="8" name="内容占位符 2">
            <a:extLst>
              <a:ext uri="{FF2B5EF4-FFF2-40B4-BE49-F238E27FC236}">
                <a16:creationId xmlns:a16="http://schemas.microsoft.com/office/drawing/2014/main" id="{F088ADF8-202B-CD4A-A707-9886A69D1A4C}"/>
              </a:ext>
            </a:extLst>
          </p:cNvPr>
          <p:cNvSpPr txBox="1">
            <a:spLocks/>
          </p:cNvSpPr>
          <p:nvPr/>
        </p:nvSpPr>
        <p:spPr>
          <a:xfrm>
            <a:off x="707841" y="4178005"/>
            <a:ext cx="5243715" cy="40539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altLang="zh-CN" sz="1800" dirty="0">
              <a:latin typeface="DengXian" panose="02010600030101010101" pitchFamily="2" charset="-122"/>
              <a:ea typeface="DengXian" panose="02010600030101010101" pitchFamily="2" charset="-122"/>
            </a:endParaRPr>
          </a:p>
        </p:txBody>
      </p:sp>
      <p:sp>
        <p:nvSpPr>
          <p:cNvPr id="10" name="内容占位符 2">
            <a:extLst>
              <a:ext uri="{FF2B5EF4-FFF2-40B4-BE49-F238E27FC236}">
                <a16:creationId xmlns:a16="http://schemas.microsoft.com/office/drawing/2014/main" id="{F088ADF8-202B-CD4A-A707-9886A69D1A4C}"/>
              </a:ext>
            </a:extLst>
          </p:cNvPr>
          <p:cNvSpPr txBox="1">
            <a:spLocks/>
          </p:cNvSpPr>
          <p:nvPr/>
        </p:nvSpPr>
        <p:spPr>
          <a:xfrm>
            <a:off x="707842" y="4572832"/>
            <a:ext cx="5243714" cy="37209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sz="1800" dirty="0">
              <a:latin typeface="DengXian" panose="02010600030101010101" pitchFamily="2" charset="-122"/>
              <a:ea typeface="DengXian" panose="02010600030101010101" pitchFamily="2" charset="-122"/>
            </a:endParaRPr>
          </a:p>
        </p:txBody>
      </p:sp>
      <p:sp>
        <p:nvSpPr>
          <p:cNvPr id="12" name="内容占位符 2">
            <a:extLst>
              <a:ext uri="{FF2B5EF4-FFF2-40B4-BE49-F238E27FC236}">
                <a16:creationId xmlns:a16="http://schemas.microsoft.com/office/drawing/2014/main" id="{F088ADF8-202B-CD4A-A707-9886A69D1A4C}"/>
              </a:ext>
            </a:extLst>
          </p:cNvPr>
          <p:cNvSpPr txBox="1">
            <a:spLocks/>
          </p:cNvSpPr>
          <p:nvPr/>
        </p:nvSpPr>
        <p:spPr>
          <a:xfrm>
            <a:off x="688335" y="4944923"/>
            <a:ext cx="5421064" cy="93166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sz="1800" dirty="0">
              <a:latin typeface="DengXian" panose="02010600030101010101" pitchFamily="2" charset="-122"/>
              <a:ea typeface="DengXian" panose="02010600030101010101" pitchFamily="2" charset="-122"/>
            </a:endParaRPr>
          </a:p>
        </p:txBody>
      </p:sp>
      <p:grpSp>
        <p:nvGrpSpPr>
          <p:cNvPr id="4" name="组合 13"/>
          <p:cNvGrpSpPr/>
          <p:nvPr/>
        </p:nvGrpSpPr>
        <p:grpSpPr>
          <a:xfrm>
            <a:off x="6516611" y="2090211"/>
            <a:ext cx="4987191" cy="3394593"/>
            <a:chOff x="6363706" y="1291648"/>
            <a:chExt cx="5581099" cy="3794703"/>
          </a:xfrm>
        </p:grpSpPr>
        <p:grpSp>
          <p:nvGrpSpPr>
            <p:cNvPr id="5" name="组合 22"/>
            <p:cNvGrpSpPr/>
            <p:nvPr/>
          </p:nvGrpSpPr>
          <p:grpSpPr>
            <a:xfrm>
              <a:off x="6363706" y="2162217"/>
              <a:ext cx="5581099" cy="2924134"/>
              <a:chOff x="6190733" y="1722254"/>
              <a:chExt cx="5581099" cy="2924134"/>
            </a:xfrm>
          </p:grpSpPr>
          <p:sp>
            <p:nvSpPr>
              <p:cNvPr id="23" name="矩形 22"/>
              <p:cNvSpPr/>
              <p:nvPr/>
            </p:nvSpPr>
            <p:spPr>
              <a:xfrm>
                <a:off x="6190733" y="1722254"/>
                <a:ext cx="923941"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版本</a:t>
                </a:r>
              </a:p>
            </p:txBody>
          </p:sp>
          <p:sp>
            <p:nvSpPr>
              <p:cNvPr id="24" name="矩形 23"/>
              <p:cNvSpPr/>
              <p:nvPr/>
            </p:nvSpPr>
            <p:spPr>
              <a:xfrm>
                <a:off x="7114674" y="1725066"/>
                <a:ext cx="1193787"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rtlCol="0" anchor="ctr"/>
              <a:lstStyle/>
              <a:p>
                <a:pPr algn="ctr"/>
                <a:r>
                  <a:rPr lang="zh-CN" altLang="en-US" sz="1600" b="1" dirty="0">
                    <a:solidFill>
                      <a:srgbClr val="002060"/>
                    </a:solidFill>
                  </a:rPr>
                  <a:t>首部长度 </a:t>
                </a:r>
              </a:p>
            </p:txBody>
          </p:sp>
          <p:sp>
            <p:nvSpPr>
              <p:cNvPr id="25" name="矩形 24"/>
              <p:cNvSpPr/>
              <p:nvPr/>
            </p:nvSpPr>
            <p:spPr>
              <a:xfrm>
                <a:off x="8308461" y="1725066"/>
                <a:ext cx="1211787"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区分服务</a:t>
                </a:r>
              </a:p>
            </p:txBody>
          </p:sp>
          <p:sp>
            <p:nvSpPr>
              <p:cNvPr id="26" name="矩形 25"/>
              <p:cNvSpPr/>
              <p:nvPr/>
            </p:nvSpPr>
            <p:spPr>
              <a:xfrm>
                <a:off x="9519037" y="1725066"/>
                <a:ext cx="2250228"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总长度</a:t>
                </a:r>
              </a:p>
            </p:txBody>
          </p:sp>
          <p:sp>
            <p:nvSpPr>
              <p:cNvPr id="27" name="矩形 26"/>
              <p:cNvSpPr/>
              <p:nvPr/>
            </p:nvSpPr>
            <p:spPr>
              <a:xfrm>
                <a:off x="6190733" y="2094343"/>
                <a:ext cx="2399404"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标识</a:t>
                </a:r>
              </a:p>
            </p:txBody>
          </p:sp>
          <p:sp>
            <p:nvSpPr>
              <p:cNvPr id="28" name="矩形 27"/>
              <p:cNvSpPr/>
              <p:nvPr/>
            </p:nvSpPr>
            <p:spPr>
              <a:xfrm>
                <a:off x="8590137" y="2091529"/>
                <a:ext cx="929011" cy="402432"/>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标志</a:t>
                </a:r>
              </a:p>
            </p:txBody>
          </p:sp>
          <p:sp>
            <p:nvSpPr>
              <p:cNvPr id="29" name="矩形 28"/>
              <p:cNvSpPr/>
              <p:nvPr/>
            </p:nvSpPr>
            <p:spPr>
              <a:xfrm>
                <a:off x="9516051" y="2094343"/>
                <a:ext cx="2253214"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片偏移</a:t>
                </a:r>
              </a:p>
            </p:txBody>
          </p:sp>
          <p:sp>
            <p:nvSpPr>
              <p:cNvPr id="30" name="矩形 29"/>
              <p:cNvSpPr/>
              <p:nvPr/>
            </p:nvSpPr>
            <p:spPr>
              <a:xfrm>
                <a:off x="6190733" y="2463620"/>
                <a:ext cx="2399404"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生存时间</a:t>
                </a:r>
              </a:p>
            </p:txBody>
          </p:sp>
          <p:sp>
            <p:nvSpPr>
              <p:cNvPr id="31" name="矩形 30"/>
              <p:cNvSpPr/>
              <p:nvPr/>
            </p:nvSpPr>
            <p:spPr>
              <a:xfrm>
                <a:off x="6190733" y="2830085"/>
                <a:ext cx="5581099"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源地址</a:t>
                </a:r>
              </a:p>
            </p:txBody>
          </p:sp>
          <p:sp>
            <p:nvSpPr>
              <p:cNvPr id="32" name="矩形 31"/>
              <p:cNvSpPr/>
              <p:nvPr/>
            </p:nvSpPr>
            <p:spPr>
              <a:xfrm>
                <a:off x="6190733" y="3199362"/>
                <a:ext cx="5578909"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目的地址</a:t>
                </a:r>
              </a:p>
            </p:txBody>
          </p:sp>
          <p:sp>
            <p:nvSpPr>
              <p:cNvPr id="33" name="矩形 32"/>
              <p:cNvSpPr/>
              <p:nvPr/>
            </p:nvSpPr>
            <p:spPr>
              <a:xfrm>
                <a:off x="6190733" y="3568639"/>
                <a:ext cx="4384040"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可选字段（长度可变）</a:t>
                </a:r>
              </a:p>
            </p:txBody>
          </p:sp>
          <p:sp>
            <p:nvSpPr>
              <p:cNvPr id="34" name="矩形 33"/>
              <p:cNvSpPr/>
              <p:nvPr/>
            </p:nvSpPr>
            <p:spPr>
              <a:xfrm>
                <a:off x="6190733" y="3568638"/>
                <a:ext cx="1216082"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填充</a:t>
                </a:r>
              </a:p>
            </p:txBody>
          </p:sp>
          <p:sp>
            <p:nvSpPr>
              <p:cNvPr id="35" name="矩形 34"/>
              <p:cNvSpPr/>
              <p:nvPr/>
            </p:nvSpPr>
            <p:spPr>
              <a:xfrm>
                <a:off x="6190733" y="3918866"/>
                <a:ext cx="5578532" cy="727522"/>
              </a:xfrm>
              <a:prstGeom prst="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数据部分</a:t>
                </a:r>
              </a:p>
            </p:txBody>
          </p:sp>
          <p:sp>
            <p:nvSpPr>
              <p:cNvPr id="36" name="矩形 35"/>
              <p:cNvSpPr/>
              <p:nvPr/>
            </p:nvSpPr>
            <p:spPr>
              <a:xfrm>
                <a:off x="8592223" y="2454095"/>
                <a:ext cx="935606"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协议</a:t>
                </a:r>
              </a:p>
            </p:txBody>
          </p:sp>
          <p:sp>
            <p:nvSpPr>
              <p:cNvPr id="37" name="矩形 36"/>
              <p:cNvSpPr/>
              <p:nvPr/>
            </p:nvSpPr>
            <p:spPr>
              <a:xfrm>
                <a:off x="9527829" y="2463620"/>
                <a:ext cx="2241436"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首部校验和</a:t>
                </a:r>
              </a:p>
            </p:txBody>
          </p:sp>
          <p:sp>
            <p:nvSpPr>
              <p:cNvPr id="38" name="矩形 37"/>
              <p:cNvSpPr/>
              <p:nvPr/>
            </p:nvSpPr>
            <p:spPr>
              <a:xfrm>
                <a:off x="6190733" y="2820575"/>
                <a:ext cx="5581099"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源地址</a:t>
                </a:r>
              </a:p>
            </p:txBody>
          </p:sp>
          <p:sp>
            <p:nvSpPr>
              <p:cNvPr id="39" name="矩形 38"/>
              <p:cNvSpPr/>
              <p:nvPr/>
            </p:nvSpPr>
            <p:spPr>
              <a:xfrm>
                <a:off x="6190733" y="3192695"/>
                <a:ext cx="5578909"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目的地址</a:t>
                </a:r>
              </a:p>
            </p:txBody>
          </p:sp>
          <p:sp>
            <p:nvSpPr>
              <p:cNvPr id="40" name="矩形 39"/>
              <p:cNvSpPr/>
              <p:nvPr/>
            </p:nvSpPr>
            <p:spPr>
              <a:xfrm>
                <a:off x="6190733" y="3556863"/>
                <a:ext cx="4384040"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选项（长度可变）</a:t>
                </a:r>
              </a:p>
            </p:txBody>
          </p:sp>
          <p:sp>
            <p:nvSpPr>
              <p:cNvPr id="41" name="矩形 40"/>
              <p:cNvSpPr/>
              <p:nvPr/>
            </p:nvSpPr>
            <p:spPr>
              <a:xfrm>
                <a:off x="10553183" y="3555104"/>
                <a:ext cx="1216082"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填充</a:t>
                </a:r>
              </a:p>
            </p:txBody>
          </p:sp>
        </p:grpSp>
        <p:sp>
          <p:nvSpPr>
            <p:cNvPr id="16" name="矩形 15"/>
            <p:cNvSpPr/>
            <p:nvPr/>
          </p:nvSpPr>
          <p:spPr>
            <a:xfrm>
              <a:off x="6750563" y="1291648"/>
              <a:ext cx="4992769" cy="447270"/>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square">
              <a:spAutoFit/>
            </a:bodyPr>
            <a:lstStyle/>
            <a:p>
              <a:r>
                <a:rPr lang="en-US" altLang="zh-CN" sz="2000" b="1" dirty="0">
                  <a:solidFill>
                    <a:srgbClr val="C00000"/>
                  </a:solidFill>
                  <a:latin typeface="Arial" pitchFamily="34" charset="0"/>
                  <a:ea typeface="黑体" pitchFamily="2" charset="-122"/>
                </a:rPr>
                <a:t>IP </a:t>
              </a:r>
              <a:r>
                <a:rPr lang="zh-CN" altLang="en-US" sz="2000" b="1" dirty="0">
                  <a:solidFill>
                    <a:srgbClr val="C00000"/>
                  </a:solidFill>
                  <a:latin typeface="Arial" pitchFamily="34" charset="0"/>
                  <a:ea typeface="黑体" pitchFamily="2" charset="-122"/>
                </a:rPr>
                <a:t>数据包由首部和数据两部数据包成</a:t>
              </a:r>
            </a:p>
          </p:txBody>
        </p:sp>
        <p:grpSp>
          <p:nvGrpSpPr>
            <p:cNvPr id="6" name="组合 44"/>
            <p:cNvGrpSpPr/>
            <p:nvPr/>
          </p:nvGrpSpPr>
          <p:grpSpPr>
            <a:xfrm>
              <a:off x="6363707" y="1740176"/>
              <a:ext cx="5578532" cy="424853"/>
              <a:chOff x="6363707" y="1740176"/>
              <a:chExt cx="5578532" cy="424853"/>
            </a:xfrm>
          </p:grpSpPr>
          <p:cxnSp>
            <p:nvCxnSpPr>
              <p:cNvPr id="18" name="直接连接符 17"/>
              <p:cNvCxnSpPr/>
              <p:nvPr/>
            </p:nvCxnSpPr>
            <p:spPr>
              <a:xfrm rot="5400000">
                <a:off x="6163208" y="1940675"/>
                <a:ext cx="402585"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5400000">
                <a:off x="11740152" y="1960130"/>
                <a:ext cx="402585"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rot="10800000">
                <a:off x="6363708" y="1962149"/>
                <a:ext cx="2399402"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286749" y="1764919"/>
                <a:ext cx="1714501" cy="400110"/>
              </a:xfrm>
              <a:prstGeom prst="rect">
                <a:avLst/>
              </a:prstGeom>
              <a:noFill/>
            </p:spPr>
            <p:txBody>
              <a:bodyPr wrap="square" rtlCol="0">
                <a:spAutoFit/>
              </a:bodyPr>
              <a:lstStyle/>
              <a:p>
                <a:pPr algn="ctr"/>
                <a:r>
                  <a:rPr lang="en-US" altLang="zh-CN" sz="2000" b="1" dirty="0">
                    <a:solidFill>
                      <a:srgbClr val="C00000"/>
                    </a:solidFill>
                    <a:latin typeface="Arial" pitchFamily="34" charset="0"/>
                    <a:ea typeface="黑体" pitchFamily="2" charset="-122"/>
                  </a:rPr>
                  <a:t>32bit</a:t>
                </a:r>
                <a:endParaRPr lang="zh-CN" altLang="en-US" sz="2000" b="1" dirty="0">
                  <a:solidFill>
                    <a:srgbClr val="C00000"/>
                  </a:solidFill>
                  <a:latin typeface="Arial" pitchFamily="34" charset="0"/>
                  <a:ea typeface="黑体" pitchFamily="2" charset="-122"/>
                </a:endParaRPr>
              </a:p>
            </p:txBody>
          </p:sp>
          <p:cxnSp>
            <p:nvCxnSpPr>
              <p:cNvPr id="22" name="直接箭头连接符 21"/>
              <p:cNvCxnSpPr/>
              <p:nvPr/>
            </p:nvCxnSpPr>
            <p:spPr>
              <a:xfrm>
                <a:off x="9528320" y="1962148"/>
                <a:ext cx="2412330" cy="159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
        <p:nvSpPr>
          <p:cNvPr id="42"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.1</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IPv4</a:t>
            </a:r>
            <a:r>
              <a:rPr lang="zh-CN" altLang="en-US" dirty="0">
                <a:latin typeface="DengXian" panose="02010600030101010101" pitchFamily="2" charset="-122"/>
                <a:ea typeface="DengXian" panose="02010600030101010101" pitchFamily="2" charset="-122"/>
              </a:rPr>
              <a:t>协议</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43"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17</a:t>
            </a:fld>
            <a:endParaRPr kumimoji="1" lang="zh-CN" altLang="en-US" dirty="0"/>
          </a:p>
        </p:txBody>
      </p:sp>
      <p:sp>
        <p:nvSpPr>
          <p:cNvPr id="3" name="矩形 2"/>
          <p:cNvSpPr/>
          <p:nvPr/>
        </p:nvSpPr>
        <p:spPr>
          <a:xfrm>
            <a:off x="6518031" y="2871504"/>
            <a:ext cx="824201" cy="327824"/>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p:nvSpPr>
        <p:spPr>
          <a:xfrm>
            <a:off x="7342781" y="2875987"/>
            <a:ext cx="1066202" cy="323341"/>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8409577" y="2880470"/>
            <a:ext cx="1089016" cy="323341"/>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9489819" y="2871506"/>
            <a:ext cx="2010269" cy="32782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6522515" y="3199328"/>
            <a:ext cx="2138169" cy="340659"/>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8665319" y="3203810"/>
            <a:ext cx="839947" cy="33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9501427" y="3203811"/>
            <a:ext cx="1998662" cy="340659"/>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TextBox 49">
            <a:extLst>
              <a:ext uri="{FF2B5EF4-FFF2-40B4-BE49-F238E27FC236}">
                <a16:creationId xmlns:a16="http://schemas.microsoft.com/office/drawing/2014/main" id="{A131A9BE-65D9-874C-B371-1B1663701161}"/>
              </a:ext>
            </a:extLst>
          </p:cNvPr>
          <p:cNvSpPr txBox="1"/>
          <p:nvPr/>
        </p:nvSpPr>
        <p:spPr>
          <a:xfrm>
            <a:off x="7342232" y="5759009"/>
            <a:ext cx="2310539" cy="646331"/>
          </a:xfrm>
          <a:prstGeom prst="rect">
            <a:avLst/>
          </a:prstGeom>
          <a:noFill/>
        </p:spPr>
        <p:txBody>
          <a:bodyPr wrap="square" rtlCol="0">
            <a:spAutoFit/>
          </a:bodyPr>
          <a:lstStyle/>
          <a:p>
            <a:r>
              <a:rPr lang="en-US" altLang="zh-CN" dirty="0">
                <a:latin typeface="DengXian" panose="02010600030101010101" pitchFamily="2" charset="-122"/>
                <a:ea typeface="DengXian" panose="02010600030101010101" pitchFamily="2" charset="-122"/>
              </a:rPr>
              <a:t>DF:</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Do</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not</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fragment</a:t>
            </a:r>
          </a:p>
          <a:p>
            <a:r>
              <a:rPr lang="en-US" altLang="zh-CN" dirty="0">
                <a:latin typeface="DengXian" panose="02010600030101010101" pitchFamily="2" charset="-122"/>
                <a:ea typeface="DengXian" panose="02010600030101010101" pitchFamily="2" charset="-122"/>
              </a:rPr>
              <a:t>MF:</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More</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fragment</a:t>
            </a:r>
            <a:endParaRPr lang="en-CN"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9125534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xit" presetSubtype="0" fill="hold" grpId="1" nodeType="clickEffect">
                                  <p:stCondLst>
                                    <p:cond delay="0"/>
                                  </p:stCondLst>
                                  <p:childTnLst>
                                    <p:set>
                                      <p:cBhvr>
                                        <p:cTn id="13" dur="1" fill="hold">
                                          <p:stCondLst>
                                            <p:cond delay="0"/>
                                          </p:stCondLst>
                                        </p:cTn>
                                        <p:tgtEl>
                                          <p:spTgt spid="3"/>
                                        </p:tgtEl>
                                        <p:attrNameLst>
                                          <p:attrName>style.visibility</p:attrName>
                                        </p:attrNameLst>
                                      </p:cBhvr>
                                      <p:to>
                                        <p:strVal val="hidden"/>
                                      </p:to>
                                    </p:set>
                                  </p:childTnLst>
                                </p:cTn>
                              </p:par>
                            </p:childTnLst>
                          </p:cTn>
                        </p:par>
                        <p:par>
                          <p:cTn id="14" fill="hold">
                            <p:stCondLst>
                              <p:cond delay="0"/>
                            </p:stCondLst>
                            <p:childTnLst>
                              <p:par>
                                <p:cTn id="15" presetID="1" presetClass="entr" presetSubtype="0" fill="hold" grpId="1" nodeType="after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0" nodeType="clickEffect">
                                  <p:stCondLst>
                                    <p:cond delay="0"/>
                                  </p:stCondLst>
                                  <p:childTnLst>
                                    <p:set>
                                      <p:cBhvr>
                                        <p:cTn id="23" dur="1" fill="hold">
                                          <p:stCondLst>
                                            <p:cond delay="0"/>
                                          </p:stCondLst>
                                        </p:cTn>
                                        <p:tgtEl>
                                          <p:spTgt spid="44"/>
                                        </p:tgtEl>
                                        <p:attrNameLst>
                                          <p:attrName>style.visibility</p:attrName>
                                        </p:attrNameLst>
                                      </p:cBhvr>
                                      <p:to>
                                        <p:strVal val="hidden"/>
                                      </p:to>
                                    </p:set>
                                  </p:childTnLst>
                                </p:cTn>
                              </p:par>
                            </p:childTnLst>
                          </p:cTn>
                        </p:par>
                        <p:par>
                          <p:cTn id="24" fill="hold">
                            <p:stCondLst>
                              <p:cond delay="0"/>
                            </p:stCondLst>
                            <p:childTnLst>
                              <p:par>
                                <p:cTn id="25" presetID="1" presetClass="entr" presetSubtype="0" fill="hold" grpId="0" nodeType="after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par>
                          <p:cTn id="27" fill="hold">
                            <p:stCondLst>
                              <p:cond delay="0"/>
                            </p:stCondLst>
                            <p:childTnLst>
                              <p:par>
                                <p:cTn id="28" presetID="1" presetClass="entr" presetSubtype="0" fill="hold" nodeType="afterEffect">
                                  <p:stCondLst>
                                    <p:cond delay="0"/>
                                  </p:stCondLst>
                                  <p:childTnLst>
                                    <p:set>
                                      <p:cBhvr>
                                        <p:cTn id="29"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xit" presetSubtype="0" fill="hold" grpId="1" nodeType="clickEffect">
                                  <p:stCondLst>
                                    <p:cond delay="0"/>
                                  </p:stCondLst>
                                  <p:childTnLst>
                                    <p:set>
                                      <p:cBhvr>
                                        <p:cTn id="33" dur="1" fill="hold">
                                          <p:stCondLst>
                                            <p:cond delay="0"/>
                                          </p:stCondLst>
                                        </p:cTn>
                                        <p:tgtEl>
                                          <p:spTgt spid="45"/>
                                        </p:tgtEl>
                                        <p:attrNameLst>
                                          <p:attrName>style.visibility</p:attrName>
                                        </p:attrNameLst>
                                      </p:cBhvr>
                                      <p:to>
                                        <p:strVal val="hidden"/>
                                      </p:to>
                                    </p:set>
                                  </p:childTnLst>
                                </p:cTn>
                              </p:par>
                            </p:childTnLst>
                          </p:cTn>
                        </p:par>
                        <p:par>
                          <p:cTn id="34" fill="hold">
                            <p:stCondLst>
                              <p:cond delay="0"/>
                            </p:stCondLst>
                            <p:childTnLst>
                              <p:par>
                                <p:cTn id="35" presetID="1" presetClass="entr" presetSubtype="0" fill="hold" grpId="1" nodeType="after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par>
                          <p:cTn id="37" fill="hold">
                            <p:stCondLst>
                              <p:cond delay="0"/>
                            </p:stCondLst>
                            <p:childTnLst>
                              <p:par>
                                <p:cTn id="38" presetID="1" presetClass="entr" presetSubtype="0" fill="hold" nodeType="afterEffect">
                                  <p:stCondLst>
                                    <p:cond delay="0"/>
                                  </p:stCondLst>
                                  <p:childTnLst>
                                    <p:set>
                                      <p:cBhvr>
                                        <p:cTn id="39"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xit" presetSubtype="0" fill="hold" grpId="0" nodeType="clickEffect">
                                  <p:stCondLst>
                                    <p:cond delay="0"/>
                                  </p:stCondLst>
                                  <p:childTnLst>
                                    <p:set>
                                      <p:cBhvr>
                                        <p:cTn id="43" dur="1" fill="hold">
                                          <p:stCondLst>
                                            <p:cond delay="0"/>
                                          </p:stCondLst>
                                        </p:cTn>
                                        <p:tgtEl>
                                          <p:spTgt spid="46"/>
                                        </p:tgtEl>
                                        <p:attrNameLst>
                                          <p:attrName>style.visibility</p:attrName>
                                        </p:attrNameLst>
                                      </p:cBhvr>
                                      <p:to>
                                        <p:strVal val="hidden"/>
                                      </p:to>
                                    </p:set>
                                  </p:childTnLst>
                                </p:cTn>
                              </p:par>
                            </p:childTnLst>
                          </p:cTn>
                        </p:par>
                        <p:par>
                          <p:cTn id="44" fill="hold">
                            <p:stCondLst>
                              <p:cond delay="0"/>
                            </p:stCondLst>
                            <p:childTnLst>
                              <p:par>
                                <p:cTn id="45" presetID="1" presetClass="entr" presetSubtype="0" fill="hold" grpId="0" nodeType="after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47"/>
                                        </p:tgtEl>
                                        <p:attrNameLst>
                                          <p:attrName>style.visibility</p:attrName>
                                        </p:attrNameLst>
                                      </p:cBhvr>
                                      <p:to>
                                        <p:strVal val="hidden"/>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48"/>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nodeType="afterEffect">
                                  <p:stCondLst>
                                    <p:cond delay="0"/>
                                  </p:stCondLst>
                                  <p:childTnLst>
                                    <p:set>
                                      <p:cBhvr>
                                        <p:cTn id="5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xit" presetSubtype="0" fill="hold" grpId="1" nodeType="clickEffect">
                                  <p:stCondLst>
                                    <p:cond delay="0"/>
                                  </p:stCondLst>
                                  <p:childTnLst>
                                    <p:set>
                                      <p:cBhvr>
                                        <p:cTn id="62" dur="1" fill="hold">
                                          <p:stCondLst>
                                            <p:cond delay="0"/>
                                          </p:stCondLst>
                                        </p:cTn>
                                        <p:tgtEl>
                                          <p:spTgt spid="48"/>
                                        </p:tgtEl>
                                        <p:attrNameLst>
                                          <p:attrName>style.visibility</p:attrName>
                                        </p:attrNameLst>
                                      </p:cBhvr>
                                      <p:to>
                                        <p:strVal val="hidden"/>
                                      </p:to>
                                    </p:set>
                                  </p:childTnLst>
                                </p:cTn>
                              </p:par>
                            </p:childTnLst>
                          </p:cTn>
                        </p:par>
                        <p:par>
                          <p:cTn id="63" fill="hold">
                            <p:stCondLst>
                              <p:cond delay="0"/>
                            </p:stCondLst>
                            <p:childTnLst>
                              <p:par>
                                <p:cTn id="64" presetID="1" presetClass="entr" presetSubtype="0" fill="hold" grpId="0" nodeType="afterEffect">
                                  <p:stCondLst>
                                    <p:cond delay="0"/>
                                  </p:stCondLst>
                                  <p:childTnLst>
                                    <p:set>
                                      <p:cBhvr>
                                        <p:cTn id="65" dur="1" fill="hold">
                                          <p:stCondLst>
                                            <p:cond delay="0"/>
                                          </p:stCondLst>
                                        </p:cTn>
                                        <p:tgtEl>
                                          <p:spTgt spid="49"/>
                                        </p:tgtEl>
                                        <p:attrNameLst>
                                          <p:attrName>style.visibility</p:attrName>
                                        </p:attrNameLst>
                                      </p:cBhvr>
                                      <p:to>
                                        <p:strVal val="visible"/>
                                      </p:to>
                                    </p:set>
                                  </p:childTnLst>
                                </p:cTn>
                              </p:par>
                            </p:childTnLst>
                          </p:cTn>
                        </p:par>
                        <p:par>
                          <p:cTn id="66" fill="hold">
                            <p:stCondLst>
                              <p:cond delay="0"/>
                            </p:stCondLst>
                            <p:childTnLst>
                              <p:par>
                                <p:cTn id="67" presetID="1" presetClass="entr" presetSubtype="0" fill="hold" nodeType="afterEffect">
                                  <p:stCondLst>
                                    <p:cond delay="0"/>
                                  </p:stCondLst>
                                  <p:childTnLst>
                                    <p:set>
                                      <p:cBhvr>
                                        <p:cTn id="68"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4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3" grpId="1" animBg="1"/>
      <p:bldP spid="44" grpId="0" animBg="1"/>
      <p:bldP spid="44" grpId="1"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IPv4</a:t>
            </a:r>
            <a:r>
              <a:rPr lang="zh-CN" altLang="en-US" dirty="0"/>
              <a:t>数据包格式</a:t>
            </a:r>
          </a:p>
        </p:txBody>
      </p:sp>
      <p:sp>
        <p:nvSpPr>
          <p:cNvPr id="7" name="内容占位符 2">
            <a:extLst>
              <a:ext uri="{FF2B5EF4-FFF2-40B4-BE49-F238E27FC236}">
                <a16:creationId xmlns:a16="http://schemas.microsoft.com/office/drawing/2014/main" id="{F088ADF8-202B-CD4A-A707-9886A69D1A4C}"/>
              </a:ext>
            </a:extLst>
          </p:cNvPr>
          <p:cNvSpPr txBox="1">
            <a:spLocks/>
          </p:cNvSpPr>
          <p:nvPr/>
        </p:nvSpPr>
        <p:spPr>
          <a:xfrm>
            <a:off x="353920" y="1620830"/>
            <a:ext cx="5886869" cy="4461345"/>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000" dirty="0">
                <a:solidFill>
                  <a:srgbClr val="C00000"/>
                </a:solidFill>
                <a:latin typeface="DengXian" panose="02010600030101010101" pitchFamily="2" charset="-122"/>
                <a:ea typeface="DengXian" panose="02010600030101010101" pitchFamily="2" charset="-122"/>
              </a:rPr>
              <a:t>生存时间</a:t>
            </a:r>
            <a:r>
              <a:rPr lang="en-US" altLang="zh-CN" sz="2000" dirty="0">
                <a:solidFill>
                  <a:srgbClr val="C00000"/>
                </a:solidFill>
                <a:latin typeface="DengXian" panose="02010600030101010101" pitchFamily="2" charset="-122"/>
                <a:ea typeface="DengXian" panose="02010600030101010101" pitchFamily="2" charset="-122"/>
              </a:rPr>
              <a:t>TTL(Time To Live)</a:t>
            </a:r>
            <a:r>
              <a:rPr lang="zh-CN" altLang="en-US" sz="2000" dirty="0">
                <a:solidFill>
                  <a:srgbClr val="C00000"/>
                </a:solidFill>
                <a:latin typeface="DengXian" panose="02010600030101010101" pitchFamily="2" charset="-122"/>
                <a:ea typeface="DengXian" panose="02010600030101010101" pitchFamily="2" charset="-122"/>
              </a:rPr>
              <a:t> </a:t>
            </a:r>
            <a:r>
              <a:rPr lang="zh-CN" altLang="en-US" sz="2000" dirty="0">
                <a:latin typeface="DengXian" panose="02010600030101010101" pitchFamily="2" charset="-122"/>
                <a:ea typeface="DengXian" panose="02010600030101010101" pitchFamily="2" charset="-122"/>
              </a:rPr>
              <a:t>：</a:t>
            </a:r>
            <a:r>
              <a:rPr lang="en-US" altLang="zh-CN" sz="2000" dirty="0">
                <a:latin typeface="DengXian" panose="02010600030101010101" pitchFamily="2" charset="-122"/>
                <a:ea typeface="DengXian" panose="02010600030101010101" pitchFamily="2" charset="-122"/>
              </a:rPr>
              <a:t>8bit,</a:t>
            </a:r>
            <a:r>
              <a:rPr lang="zh-CN" altLang="en-US" sz="2000" dirty="0">
                <a:latin typeface="DengXian" panose="02010600030101010101" pitchFamily="2" charset="-122"/>
                <a:ea typeface="DengXian" panose="02010600030101010101" pitchFamily="2" charset="-122"/>
              </a:rPr>
              <a:t>表示数据包在网络中的生命周期，用通过路由器的数量来计量，即跳数（每经过一个路由器会减</a:t>
            </a:r>
            <a:r>
              <a:rPr lang="en-US" altLang="zh-CN" sz="2000" dirty="0">
                <a:latin typeface="DengXian" panose="02010600030101010101" pitchFamily="2" charset="-122"/>
                <a:ea typeface="DengXian" panose="02010600030101010101" pitchFamily="2" charset="-122"/>
              </a:rPr>
              <a:t>1</a:t>
            </a:r>
            <a:r>
              <a:rPr lang="zh-CN" altLang="en-US" sz="2000" dirty="0">
                <a:latin typeface="DengXian" panose="02010600030101010101" pitchFamily="2" charset="-122"/>
                <a:ea typeface="DengXian" panose="02010600030101010101" pitchFamily="2" charset="-122"/>
              </a:rPr>
              <a:t>）</a:t>
            </a:r>
            <a:endParaRPr lang="en-US" altLang="zh-CN" sz="2000" dirty="0">
              <a:latin typeface="DengXian" panose="02010600030101010101" pitchFamily="2" charset="-122"/>
              <a:ea typeface="DengXian" panose="02010600030101010101" pitchFamily="2" charset="-122"/>
            </a:endParaRPr>
          </a:p>
          <a:p>
            <a:r>
              <a:rPr lang="zh-CN" altLang="en-US" sz="2000" dirty="0">
                <a:solidFill>
                  <a:srgbClr val="C00000"/>
                </a:solidFill>
                <a:latin typeface="DengXian" panose="02010600030101010101" pitchFamily="2" charset="-122"/>
                <a:ea typeface="DengXian" panose="02010600030101010101" pitchFamily="2" charset="-122"/>
              </a:rPr>
              <a:t>协议</a:t>
            </a:r>
            <a:r>
              <a:rPr lang="zh-CN" altLang="en-US" sz="2000" dirty="0">
                <a:latin typeface="DengXian" panose="02010600030101010101" pitchFamily="2" charset="-122"/>
                <a:ea typeface="DengXian" panose="02010600030101010101" pitchFamily="2" charset="-122"/>
              </a:rPr>
              <a:t>：</a:t>
            </a:r>
            <a:r>
              <a:rPr lang="en-US" altLang="zh-CN" sz="2000" dirty="0">
                <a:latin typeface="DengXian" panose="02010600030101010101" pitchFamily="2" charset="-122"/>
                <a:ea typeface="DengXian" panose="02010600030101010101" pitchFamily="2" charset="-122"/>
              </a:rPr>
              <a:t>8bit</a:t>
            </a:r>
            <a:r>
              <a:rPr lang="zh-CN" altLang="en-US" sz="2000" dirty="0">
                <a:latin typeface="DengXian" panose="02010600030101010101" pitchFamily="2" charset="-122"/>
                <a:ea typeface="DengXian" panose="02010600030101010101" pitchFamily="2" charset="-122"/>
              </a:rPr>
              <a:t>，标识上层协议（</a:t>
            </a:r>
            <a:r>
              <a:rPr lang="en-US" altLang="zh-CN" sz="2000" dirty="0">
                <a:latin typeface="DengXian" panose="02010600030101010101" pitchFamily="2" charset="-122"/>
                <a:ea typeface="DengXian" panose="02010600030101010101" pitchFamily="2" charset="-122"/>
              </a:rPr>
              <a:t>TCP/UDP/ICMP…</a:t>
            </a:r>
            <a:r>
              <a:rPr lang="zh-CN" altLang="en-US" sz="2000" dirty="0">
                <a:latin typeface="DengXian" panose="02010600030101010101" pitchFamily="2" charset="-122"/>
                <a:ea typeface="DengXian" panose="02010600030101010101" pitchFamily="2" charset="-122"/>
              </a:rPr>
              <a:t>）</a:t>
            </a:r>
            <a:endParaRPr lang="en-US" altLang="zh-CN" sz="2000" dirty="0">
              <a:latin typeface="DengXian" panose="02010600030101010101" pitchFamily="2" charset="-122"/>
              <a:ea typeface="DengXian" panose="02010600030101010101" pitchFamily="2" charset="-122"/>
            </a:endParaRPr>
          </a:p>
          <a:p>
            <a:r>
              <a:rPr lang="zh-CN" altLang="en-US" sz="2000" dirty="0">
                <a:solidFill>
                  <a:srgbClr val="C00000"/>
                </a:solidFill>
                <a:latin typeface="DengXian" panose="02010600030101010101" pitchFamily="2" charset="-122"/>
                <a:ea typeface="DengXian" panose="02010600030101010101" pitchFamily="2" charset="-122"/>
              </a:rPr>
              <a:t>首部校验和</a:t>
            </a:r>
            <a:r>
              <a:rPr lang="zh-CN" altLang="en-US" sz="2000" dirty="0">
                <a:latin typeface="DengXian" panose="02010600030101010101" pitchFamily="2" charset="-122"/>
                <a:ea typeface="DengXian" panose="02010600030101010101" pitchFamily="2" charset="-122"/>
              </a:rPr>
              <a:t>：</a:t>
            </a:r>
            <a:r>
              <a:rPr lang="en-US" altLang="zh-CN" sz="2000" dirty="0">
                <a:latin typeface="DengXian" panose="02010600030101010101" pitchFamily="2" charset="-122"/>
                <a:ea typeface="DengXian" panose="02010600030101010101" pitchFamily="2" charset="-122"/>
              </a:rPr>
              <a:t>16bit</a:t>
            </a:r>
            <a:r>
              <a:rPr lang="zh-CN" altLang="en-US" sz="2000" dirty="0">
                <a:latin typeface="DengXian" panose="02010600030101010101" pitchFamily="2" charset="-122"/>
                <a:ea typeface="DengXian" panose="02010600030101010101" pitchFamily="2" charset="-122"/>
              </a:rPr>
              <a:t> ，对数据包首部进行校验，不包括数据部分</a:t>
            </a:r>
            <a:endParaRPr lang="en-US" altLang="zh-CN" sz="2000" dirty="0">
              <a:latin typeface="DengXian" panose="02010600030101010101" pitchFamily="2" charset="-122"/>
              <a:ea typeface="DengXian" panose="02010600030101010101" pitchFamily="2" charset="-122"/>
            </a:endParaRPr>
          </a:p>
          <a:p>
            <a:r>
              <a:rPr lang="zh-CN" altLang="en-US" sz="2000" dirty="0">
                <a:solidFill>
                  <a:srgbClr val="C00000"/>
                </a:solidFill>
                <a:latin typeface="DengXian" panose="02010600030101010101" pitchFamily="2" charset="-122"/>
                <a:ea typeface="DengXian" panose="02010600030101010101" pitchFamily="2" charset="-122"/>
              </a:rPr>
              <a:t>源地址</a:t>
            </a:r>
            <a:r>
              <a:rPr lang="zh-CN" altLang="en-US" sz="2000" dirty="0">
                <a:latin typeface="DengXian" panose="02010600030101010101" pitchFamily="2" charset="-122"/>
                <a:ea typeface="DengXian" panose="02010600030101010101" pitchFamily="2" charset="-122"/>
              </a:rPr>
              <a:t>：</a:t>
            </a:r>
            <a:r>
              <a:rPr lang="en-US" altLang="zh-CN" sz="2000" dirty="0">
                <a:latin typeface="DengXian" panose="02010600030101010101" pitchFamily="2" charset="-122"/>
                <a:ea typeface="DengXian" panose="02010600030101010101" pitchFamily="2" charset="-122"/>
              </a:rPr>
              <a:t>32bit</a:t>
            </a:r>
            <a:r>
              <a:rPr lang="zh-CN" altLang="en-US" sz="2000" dirty="0">
                <a:latin typeface="DengXian" panose="02010600030101010101" pitchFamily="2" charset="-122"/>
                <a:ea typeface="DengXian" panose="02010600030101010101" pitchFamily="2" charset="-122"/>
              </a:rPr>
              <a:t>，标识</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片的发送源</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地址</a:t>
            </a:r>
            <a:endParaRPr lang="en-US" altLang="zh-CN" sz="2000" dirty="0">
              <a:latin typeface="DengXian" panose="02010600030101010101" pitchFamily="2" charset="-122"/>
              <a:ea typeface="DengXian" panose="02010600030101010101" pitchFamily="2" charset="-122"/>
            </a:endParaRPr>
          </a:p>
          <a:p>
            <a:r>
              <a:rPr lang="zh-CN" altLang="en-US" sz="2000" dirty="0">
                <a:solidFill>
                  <a:srgbClr val="C00000"/>
                </a:solidFill>
                <a:latin typeface="DengXian" panose="02010600030101010101" pitchFamily="2" charset="-122"/>
                <a:ea typeface="DengXian" panose="02010600030101010101" pitchFamily="2" charset="-122"/>
              </a:rPr>
              <a:t>目的地址</a:t>
            </a:r>
            <a:r>
              <a:rPr lang="zh-CN" altLang="en-US" sz="2000" dirty="0">
                <a:latin typeface="DengXian" panose="02010600030101010101" pitchFamily="2" charset="-122"/>
                <a:ea typeface="DengXian" panose="02010600030101010101" pitchFamily="2" charset="-122"/>
              </a:rPr>
              <a:t>：</a:t>
            </a:r>
            <a:r>
              <a:rPr lang="en-US" altLang="zh-CN" sz="2000" dirty="0">
                <a:latin typeface="DengXian" panose="02010600030101010101" pitchFamily="2" charset="-122"/>
                <a:ea typeface="DengXian" panose="02010600030101010101" pitchFamily="2" charset="-122"/>
              </a:rPr>
              <a:t>32bit</a:t>
            </a:r>
            <a:r>
              <a:rPr lang="zh-CN" altLang="en-US" sz="2000" dirty="0">
                <a:latin typeface="DengXian" panose="02010600030101010101" pitchFamily="2" charset="-122"/>
                <a:ea typeface="DengXian" panose="02010600030101010101" pitchFamily="2" charset="-122"/>
              </a:rPr>
              <a:t>，标识</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片的目的地</a:t>
            </a:r>
            <a:r>
              <a:rPr lang="en-US" altLang="zh-CN" sz="2000" dirty="0">
                <a:latin typeface="DengXian" panose="02010600030101010101" pitchFamily="2" charset="-122"/>
                <a:ea typeface="DengXian" panose="02010600030101010101" pitchFamily="2" charset="-122"/>
              </a:rPr>
              <a:t>IP</a:t>
            </a:r>
            <a:r>
              <a:rPr lang="zh-CN" altLang="en-US" sz="2000" dirty="0">
                <a:latin typeface="DengXian" panose="02010600030101010101" pitchFamily="2" charset="-122"/>
                <a:ea typeface="DengXian" panose="02010600030101010101" pitchFamily="2" charset="-122"/>
              </a:rPr>
              <a:t>地址</a:t>
            </a:r>
            <a:endParaRPr lang="en-US" altLang="zh-CN" sz="2000" dirty="0">
              <a:latin typeface="DengXian" panose="02010600030101010101" pitchFamily="2" charset="-122"/>
              <a:ea typeface="DengXian" panose="02010600030101010101" pitchFamily="2" charset="-122"/>
            </a:endParaRPr>
          </a:p>
          <a:p>
            <a:r>
              <a:rPr lang="zh-CN" altLang="en-US" sz="2000" dirty="0">
                <a:solidFill>
                  <a:srgbClr val="C00000"/>
                </a:solidFill>
                <a:latin typeface="DengXian" panose="02010600030101010101" pitchFamily="2" charset="-122"/>
                <a:ea typeface="DengXian" panose="02010600030101010101" pitchFamily="2" charset="-122"/>
              </a:rPr>
              <a:t>选项</a:t>
            </a:r>
            <a:r>
              <a:rPr lang="zh-CN" altLang="en-US" sz="2000" dirty="0">
                <a:latin typeface="DengXian" panose="02010600030101010101" pitchFamily="2" charset="-122"/>
                <a:ea typeface="DengXian" panose="02010600030101010101" pitchFamily="2" charset="-122"/>
              </a:rPr>
              <a:t>：可扩充部分，具有可变长度，定义了安全性、严格源路由、松散源路由、记录路由、时间戳等选项</a:t>
            </a:r>
            <a:endParaRPr lang="en-US" altLang="zh-CN" sz="2000" dirty="0">
              <a:latin typeface="DengXian" panose="02010600030101010101" pitchFamily="2" charset="-122"/>
              <a:ea typeface="DengXian" panose="02010600030101010101" pitchFamily="2" charset="-122"/>
            </a:endParaRPr>
          </a:p>
          <a:p>
            <a:r>
              <a:rPr lang="zh-CN" altLang="en-US" sz="2000" dirty="0">
                <a:solidFill>
                  <a:srgbClr val="C00000"/>
                </a:solidFill>
                <a:latin typeface="DengXian" panose="02010600030101010101" pitchFamily="2" charset="-122"/>
                <a:ea typeface="DengXian" panose="02010600030101010101" pitchFamily="2" charset="-122"/>
              </a:rPr>
              <a:t>填充</a:t>
            </a:r>
            <a:r>
              <a:rPr lang="zh-CN" altLang="en-US" sz="2000" dirty="0">
                <a:latin typeface="DengXian" panose="02010600030101010101" pitchFamily="2" charset="-122"/>
                <a:ea typeface="DengXian" panose="02010600030101010101" pitchFamily="2" charset="-122"/>
              </a:rPr>
              <a:t>：用全</a:t>
            </a:r>
            <a:r>
              <a:rPr lang="en-US" altLang="zh-CN" sz="2000" dirty="0">
                <a:latin typeface="DengXian" panose="02010600030101010101" pitchFamily="2" charset="-122"/>
                <a:ea typeface="DengXian" panose="02010600030101010101" pitchFamily="2" charset="-122"/>
              </a:rPr>
              <a:t>0</a:t>
            </a:r>
            <a:r>
              <a:rPr lang="zh-CN" altLang="en-US" sz="2000" dirty="0">
                <a:latin typeface="DengXian" panose="02010600030101010101" pitchFamily="2" charset="-122"/>
                <a:ea typeface="DengXian" panose="02010600030101010101" pitchFamily="2" charset="-122"/>
              </a:rPr>
              <a:t>的填充字段补齐为</a:t>
            </a:r>
            <a:r>
              <a:rPr lang="en-US" altLang="zh-CN" sz="2000" dirty="0">
                <a:latin typeface="DengXian" panose="02010600030101010101" pitchFamily="2" charset="-122"/>
                <a:ea typeface="DengXian" panose="02010600030101010101" pitchFamily="2" charset="-122"/>
              </a:rPr>
              <a:t>4</a:t>
            </a:r>
            <a:r>
              <a:rPr lang="zh-CN" altLang="en-US" sz="2000" dirty="0">
                <a:latin typeface="DengXian" panose="02010600030101010101" pitchFamily="2" charset="-122"/>
                <a:ea typeface="DengXian" panose="02010600030101010101" pitchFamily="2" charset="-122"/>
              </a:rPr>
              <a:t>字节的整数倍</a:t>
            </a:r>
            <a:endParaRPr lang="en-US" altLang="zh-CN" sz="2000" dirty="0">
              <a:latin typeface="DengXian" panose="02010600030101010101" pitchFamily="2" charset="-122"/>
              <a:ea typeface="DengXian" panose="02010600030101010101" pitchFamily="2" charset="-122"/>
            </a:endParaRPr>
          </a:p>
          <a:p>
            <a:pPr marL="0" indent="0">
              <a:buNone/>
            </a:pPr>
            <a:endParaRPr lang="en-US" altLang="zh-CN" sz="2000" dirty="0">
              <a:latin typeface="DengXian" panose="02010600030101010101" pitchFamily="2" charset="-122"/>
              <a:ea typeface="DengXian" panose="02010600030101010101" pitchFamily="2" charset="-122"/>
            </a:endParaRPr>
          </a:p>
          <a:p>
            <a:endParaRPr lang="en-US" altLang="zh-CN" sz="2000" dirty="0">
              <a:latin typeface="DengXian" panose="02010600030101010101" pitchFamily="2" charset="-122"/>
              <a:ea typeface="DengXian" panose="02010600030101010101" pitchFamily="2" charset="-122"/>
            </a:endParaRPr>
          </a:p>
          <a:p>
            <a:endParaRPr lang="en-US" altLang="zh-CN" sz="2000" dirty="0">
              <a:latin typeface="DengXian" panose="02010600030101010101" pitchFamily="2" charset="-122"/>
              <a:ea typeface="DengXian" panose="02010600030101010101" pitchFamily="2" charset="-122"/>
            </a:endParaRPr>
          </a:p>
          <a:p>
            <a:endParaRPr lang="en-US" altLang="zh-CN" sz="2000" dirty="0">
              <a:latin typeface="DengXian" panose="02010600030101010101" pitchFamily="2" charset="-122"/>
              <a:ea typeface="DengXian" panose="02010600030101010101" pitchFamily="2" charset="-122"/>
            </a:endParaRPr>
          </a:p>
        </p:txBody>
      </p:sp>
      <p:sp>
        <p:nvSpPr>
          <p:cNvPr id="8" name="内容占位符 2">
            <a:extLst>
              <a:ext uri="{FF2B5EF4-FFF2-40B4-BE49-F238E27FC236}">
                <a16:creationId xmlns:a16="http://schemas.microsoft.com/office/drawing/2014/main" id="{F088ADF8-202B-CD4A-A707-9886A69D1A4C}"/>
              </a:ext>
            </a:extLst>
          </p:cNvPr>
          <p:cNvSpPr txBox="1">
            <a:spLocks/>
          </p:cNvSpPr>
          <p:nvPr/>
        </p:nvSpPr>
        <p:spPr>
          <a:xfrm>
            <a:off x="707841" y="4178005"/>
            <a:ext cx="5243715" cy="405398"/>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lvl="1" indent="0">
              <a:buNone/>
            </a:pPr>
            <a:endParaRPr lang="en-US" altLang="zh-CN" sz="1800" dirty="0">
              <a:latin typeface="DengXian" panose="02010600030101010101" pitchFamily="2" charset="-122"/>
              <a:ea typeface="DengXian" panose="02010600030101010101" pitchFamily="2" charset="-122"/>
            </a:endParaRPr>
          </a:p>
        </p:txBody>
      </p:sp>
      <p:sp>
        <p:nvSpPr>
          <p:cNvPr id="10" name="内容占位符 2">
            <a:extLst>
              <a:ext uri="{FF2B5EF4-FFF2-40B4-BE49-F238E27FC236}">
                <a16:creationId xmlns:a16="http://schemas.microsoft.com/office/drawing/2014/main" id="{F088ADF8-202B-CD4A-A707-9886A69D1A4C}"/>
              </a:ext>
            </a:extLst>
          </p:cNvPr>
          <p:cNvSpPr txBox="1">
            <a:spLocks/>
          </p:cNvSpPr>
          <p:nvPr/>
        </p:nvSpPr>
        <p:spPr>
          <a:xfrm>
            <a:off x="707842" y="4572832"/>
            <a:ext cx="5243714" cy="37209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ltLang="zh-CN" sz="1800" dirty="0">
              <a:latin typeface="DengXian" panose="02010600030101010101" pitchFamily="2" charset="-122"/>
              <a:ea typeface="DengXian" panose="02010600030101010101" pitchFamily="2" charset="-122"/>
            </a:endParaRPr>
          </a:p>
        </p:txBody>
      </p:sp>
      <p:grpSp>
        <p:nvGrpSpPr>
          <p:cNvPr id="3" name="组合 13"/>
          <p:cNvGrpSpPr/>
          <p:nvPr/>
        </p:nvGrpSpPr>
        <p:grpSpPr>
          <a:xfrm>
            <a:off x="6516611" y="2090211"/>
            <a:ext cx="4987191" cy="3394593"/>
            <a:chOff x="6363706" y="1291648"/>
            <a:chExt cx="5581099" cy="3794703"/>
          </a:xfrm>
        </p:grpSpPr>
        <p:grpSp>
          <p:nvGrpSpPr>
            <p:cNvPr id="4" name="组合 22"/>
            <p:cNvGrpSpPr/>
            <p:nvPr/>
          </p:nvGrpSpPr>
          <p:grpSpPr>
            <a:xfrm>
              <a:off x="6363706" y="2162217"/>
              <a:ext cx="5581099" cy="2924134"/>
              <a:chOff x="6190733" y="1722254"/>
              <a:chExt cx="5581099" cy="2924134"/>
            </a:xfrm>
          </p:grpSpPr>
          <p:sp>
            <p:nvSpPr>
              <p:cNvPr id="23" name="矩形 22"/>
              <p:cNvSpPr/>
              <p:nvPr/>
            </p:nvSpPr>
            <p:spPr>
              <a:xfrm>
                <a:off x="6190733" y="1722254"/>
                <a:ext cx="923941"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版本</a:t>
                </a:r>
              </a:p>
            </p:txBody>
          </p:sp>
          <p:sp>
            <p:nvSpPr>
              <p:cNvPr id="24" name="矩形 23"/>
              <p:cNvSpPr/>
              <p:nvPr/>
            </p:nvSpPr>
            <p:spPr>
              <a:xfrm>
                <a:off x="7114674" y="1725066"/>
                <a:ext cx="1193787"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108000" rtlCol="0" anchor="ctr"/>
              <a:lstStyle/>
              <a:p>
                <a:pPr algn="ctr"/>
                <a:r>
                  <a:rPr lang="zh-CN" altLang="en-US" sz="1600" b="1" dirty="0">
                    <a:solidFill>
                      <a:srgbClr val="002060"/>
                    </a:solidFill>
                  </a:rPr>
                  <a:t>首部长度 </a:t>
                </a:r>
              </a:p>
            </p:txBody>
          </p:sp>
          <p:sp>
            <p:nvSpPr>
              <p:cNvPr id="25" name="矩形 24"/>
              <p:cNvSpPr/>
              <p:nvPr/>
            </p:nvSpPr>
            <p:spPr>
              <a:xfrm>
                <a:off x="8308461" y="1725066"/>
                <a:ext cx="1211787"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区分服务</a:t>
                </a:r>
              </a:p>
            </p:txBody>
          </p:sp>
          <p:sp>
            <p:nvSpPr>
              <p:cNvPr id="26" name="矩形 25"/>
              <p:cNvSpPr/>
              <p:nvPr/>
            </p:nvSpPr>
            <p:spPr>
              <a:xfrm>
                <a:off x="9519037" y="1725066"/>
                <a:ext cx="2250228"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总长度</a:t>
                </a:r>
              </a:p>
            </p:txBody>
          </p:sp>
          <p:sp>
            <p:nvSpPr>
              <p:cNvPr id="27" name="矩形 26"/>
              <p:cNvSpPr/>
              <p:nvPr/>
            </p:nvSpPr>
            <p:spPr>
              <a:xfrm>
                <a:off x="6190733" y="2094343"/>
                <a:ext cx="2399404"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标识</a:t>
                </a:r>
              </a:p>
            </p:txBody>
          </p:sp>
          <p:sp>
            <p:nvSpPr>
              <p:cNvPr id="28" name="矩形 27"/>
              <p:cNvSpPr/>
              <p:nvPr/>
            </p:nvSpPr>
            <p:spPr>
              <a:xfrm>
                <a:off x="8590137" y="2091530"/>
                <a:ext cx="929011"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标志</a:t>
                </a:r>
              </a:p>
            </p:txBody>
          </p:sp>
          <p:sp>
            <p:nvSpPr>
              <p:cNvPr id="29" name="矩形 28"/>
              <p:cNvSpPr/>
              <p:nvPr/>
            </p:nvSpPr>
            <p:spPr>
              <a:xfrm>
                <a:off x="9516051" y="2094343"/>
                <a:ext cx="2253214"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片偏移</a:t>
                </a:r>
              </a:p>
            </p:txBody>
          </p:sp>
          <p:sp>
            <p:nvSpPr>
              <p:cNvPr id="30" name="矩形 29"/>
              <p:cNvSpPr/>
              <p:nvPr/>
            </p:nvSpPr>
            <p:spPr>
              <a:xfrm>
                <a:off x="6190733" y="2463620"/>
                <a:ext cx="2399404"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生存时间</a:t>
                </a:r>
              </a:p>
            </p:txBody>
          </p:sp>
          <p:sp>
            <p:nvSpPr>
              <p:cNvPr id="31" name="矩形 30"/>
              <p:cNvSpPr/>
              <p:nvPr/>
            </p:nvSpPr>
            <p:spPr>
              <a:xfrm>
                <a:off x="6190733" y="2830085"/>
                <a:ext cx="5581099"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源地址</a:t>
                </a:r>
              </a:p>
            </p:txBody>
          </p:sp>
          <p:sp>
            <p:nvSpPr>
              <p:cNvPr id="32" name="矩形 31"/>
              <p:cNvSpPr/>
              <p:nvPr/>
            </p:nvSpPr>
            <p:spPr>
              <a:xfrm>
                <a:off x="6190733" y="3199362"/>
                <a:ext cx="5578909"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目的地址</a:t>
                </a:r>
              </a:p>
            </p:txBody>
          </p:sp>
          <p:sp>
            <p:nvSpPr>
              <p:cNvPr id="33" name="矩形 32"/>
              <p:cNvSpPr/>
              <p:nvPr/>
            </p:nvSpPr>
            <p:spPr>
              <a:xfrm>
                <a:off x="6190733" y="3568639"/>
                <a:ext cx="4384040"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可选字段（长度可变）</a:t>
                </a:r>
              </a:p>
            </p:txBody>
          </p:sp>
          <p:sp>
            <p:nvSpPr>
              <p:cNvPr id="34" name="矩形 33"/>
              <p:cNvSpPr/>
              <p:nvPr/>
            </p:nvSpPr>
            <p:spPr>
              <a:xfrm>
                <a:off x="6190733" y="3568638"/>
                <a:ext cx="1216082"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填充</a:t>
                </a:r>
              </a:p>
            </p:txBody>
          </p:sp>
          <p:sp>
            <p:nvSpPr>
              <p:cNvPr id="35" name="矩形 34"/>
              <p:cNvSpPr/>
              <p:nvPr/>
            </p:nvSpPr>
            <p:spPr>
              <a:xfrm>
                <a:off x="6190733" y="3918866"/>
                <a:ext cx="5578532" cy="727522"/>
              </a:xfrm>
              <a:prstGeom prst="rect">
                <a:avLst/>
              </a:prstGeom>
              <a:solidFill>
                <a:srgbClr val="FFFF00"/>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数据部分</a:t>
                </a:r>
              </a:p>
            </p:txBody>
          </p:sp>
          <p:sp>
            <p:nvSpPr>
              <p:cNvPr id="36" name="矩形 35"/>
              <p:cNvSpPr/>
              <p:nvPr/>
            </p:nvSpPr>
            <p:spPr>
              <a:xfrm>
                <a:off x="8592223" y="2454095"/>
                <a:ext cx="935606"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协议</a:t>
                </a:r>
              </a:p>
            </p:txBody>
          </p:sp>
          <p:sp>
            <p:nvSpPr>
              <p:cNvPr id="37" name="矩形 36"/>
              <p:cNvSpPr/>
              <p:nvPr/>
            </p:nvSpPr>
            <p:spPr>
              <a:xfrm>
                <a:off x="9527829" y="2463620"/>
                <a:ext cx="2241435"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首部校验和</a:t>
                </a:r>
              </a:p>
            </p:txBody>
          </p:sp>
          <p:sp>
            <p:nvSpPr>
              <p:cNvPr id="38" name="矩形 37"/>
              <p:cNvSpPr/>
              <p:nvPr/>
            </p:nvSpPr>
            <p:spPr>
              <a:xfrm>
                <a:off x="6190733" y="2820575"/>
                <a:ext cx="5581099"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源地址</a:t>
                </a:r>
              </a:p>
            </p:txBody>
          </p:sp>
          <p:sp>
            <p:nvSpPr>
              <p:cNvPr id="39" name="矩形 38"/>
              <p:cNvSpPr/>
              <p:nvPr/>
            </p:nvSpPr>
            <p:spPr>
              <a:xfrm>
                <a:off x="6190733" y="3192695"/>
                <a:ext cx="5578909"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目的地址</a:t>
                </a:r>
              </a:p>
            </p:txBody>
          </p:sp>
          <p:sp>
            <p:nvSpPr>
              <p:cNvPr id="40" name="矩形 39"/>
              <p:cNvSpPr/>
              <p:nvPr/>
            </p:nvSpPr>
            <p:spPr>
              <a:xfrm>
                <a:off x="6190733" y="3556864"/>
                <a:ext cx="4362451" cy="381053"/>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选项（长度可变）</a:t>
                </a:r>
              </a:p>
            </p:txBody>
          </p:sp>
          <p:sp>
            <p:nvSpPr>
              <p:cNvPr id="41" name="矩形 40"/>
              <p:cNvSpPr/>
              <p:nvPr/>
            </p:nvSpPr>
            <p:spPr>
              <a:xfrm>
                <a:off x="10553184" y="3555104"/>
                <a:ext cx="1216082" cy="369277"/>
              </a:xfrm>
              <a:prstGeom prst="rect">
                <a:avLst/>
              </a:prstGeom>
              <a:solidFill>
                <a:srgbClr val="CCECFF"/>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solidFill>
                      <a:srgbClr val="002060"/>
                    </a:solidFill>
                  </a:rPr>
                  <a:t>填充</a:t>
                </a:r>
              </a:p>
            </p:txBody>
          </p:sp>
        </p:grpSp>
        <p:sp>
          <p:nvSpPr>
            <p:cNvPr id="16" name="矩形 15"/>
            <p:cNvSpPr/>
            <p:nvPr/>
          </p:nvSpPr>
          <p:spPr>
            <a:xfrm>
              <a:off x="6750563" y="1291648"/>
              <a:ext cx="4992769" cy="447270"/>
            </a:xfrm>
            <a:prstGeom prst="rect">
              <a:avLst/>
            </a:prstGeom>
            <a:solidFill>
              <a:srgbClr val="FFFFCC"/>
            </a:solidFill>
            <a:ln w="9525">
              <a:solidFill>
                <a:schemeClr val="folHlink"/>
              </a:solidFill>
              <a:miter lim="800000"/>
              <a:headEnd/>
              <a:tailEnd/>
            </a:ln>
            <a:effectLst>
              <a:outerShdw dist="35921" dir="2700000" algn="ctr" rotWithShape="0">
                <a:schemeClr val="bg2"/>
              </a:outerShdw>
            </a:effectLst>
          </p:spPr>
          <p:txBody>
            <a:bodyPr wrap="square">
              <a:spAutoFit/>
            </a:bodyPr>
            <a:lstStyle/>
            <a:p>
              <a:r>
                <a:rPr lang="en-US" altLang="zh-CN" sz="2000" b="1" dirty="0">
                  <a:solidFill>
                    <a:srgbClr val="C00000"/>
                  </a:solidFill>
                  <a:latin typeface="Arial" pitchFamily="34" charset="0"/>
                  <a:ea typeface="黑体" pitchFamily="2" charset="-122"/>
                </a:rPr>
                <a:t>IP </a:t>
              </a:r>
              <a:r>
                <a:rPr lang="zh-CN" altLang="en-US" sz="2000" b="1" dirty="0">
                  <a:solidFill>
                    <a:srgbClr val="C00000"/>
                  </a:solidFill>
                  <a:latin typeface="Arial" pitchFamily="34" charset="0"/>
                  <a:ea typeface="黑体" pitchFamily="2" charset="-122"/>
                </a:rPr>
                <a:t>数据包由首部和数据两部数据包成</a:t>
              </a:r>
            </a:p>
          </p:txBody>
        </p:sp>
        <p:grpSp>
          <p:nvGrpSpPr>
            <p:cNvPr id="5" name="组合 44"/>
            <p:cNvGrpSpPr/>
            <p:nvPr/>
          </p:nvGrpSpPr>
          <p:grpSpPr>
            <a:xfrm>
              <a:off x="6363707" y="1740176"/>
              <a:ext cx="5578532" cy="424853"/>
              <a:chOff x="6363707" y="1740176"/>
              <a:chExt cx="5578532" cy="424853"/>
            </a:xfrm>
          </p:grpSpPr>
          <p:cxnSp>
            <p:nvCxnSpPr>
              <p:cNvPr id="18" name="直接连接符 17"/>
              <p:cNvCxnSpPr/>
              <p:nvPr/>
            </p:nvCxnSpPr>
            <p:spPr>
              <a:xfrm rot="5400000">
                <a:off x="6163208" y="1940675"/>
                <a:ext cx="402585"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rot="5400000">
                <a:off x="11740152" y="1960130"/>
                <a:ext cx="402585" cy="158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rot="10800000">
                <a:off x="6363708" y="1962149"/>
                <a:ext cx="2399402" cy="1588"/>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8286749" y="1764919"/>
                <a:ext cx="1714501" cy="400110"/>
              </a:xfrm>
              <a:prstGeom prst="rect">
                <a:avLst/>
              </a:prstGeom>
              <a:noFill/>
            </p:spPr>
            <p:txBody>
              <a:bodyPr wrap="square" rtlCol="0">
                <a:spAutoFit/>
              </a:bodyPr>
              <a:lstStyle/>
              <a:p>
                <a:pPr algn="ctr"/>
                <a:r>
                  <a:rPr lang="en-US" altLang="zh-CN" sz="2000" b="1" dirty="0">
                    <a:solidFill>
                      <a:srgbClr val="C00000"/>
                    </a:solidFill>
                    <a:latin typeface="Arial" pitchFamily="34" charset="0"/>
                    <a:ea typeface="黑体" pitchFamily="2" charset="-122"/>
                  </a:rPr>
                  <a:t>32bit</a:t>
                </a:r>
                <a:endParaRPr lang="zh-CN" altLang="en-US" sz="2000" b="1" dirty="0">
                  <a:solidFill>
                    <a:srgbClr val="C00000"/>
                  </a:solidFill>
                  <a:latin typeface="Arial" pitchFamily="34" charset="0"/>
                  <a:ea typeface="黑体" pitchFamily="2" charset="-122"/>
                </a:endParaRPr>
              </a:p>
            </p:txBody>
          </p:sp>
          <p:cxnSp>
            <p:nvCxnSpPr>
              <p:cNvPr id="22" name="直接箭头连接符 21"/>
              <p:cNvCxnSpPr/>
              <p:nvPr/>
            </p:nvCxnSpPr>
            <p:spPr>
              <a:xfrm>
                <a:off x="9528320" y="1962148"/>
                <a:ext cx="2412330" cy="1590"/>
              </a:xfrm>
              <a:prstGeom prst="straightConnector1">
                <a:avLst/>
              </a:prstGeom>
              <a:ln w="22225">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
        <p:nvSpPr>
          <p:cNvPr id="42"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.1</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IPv4</a:t>
            </a:r>
            <a:r>
              <a:rPr lang="zh-CN" altLang="en-US" dirty="0">
                <a:latin typeface="DengXian" panose="02010600030101010101" pitchFamily="2" charset="-122"/>
                <a:ea typeface="DengXian" panose="02010600030101010101" pitchFamily="2" charset="-122"/>
              </a:rPr>
              <a:t>协议</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43"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18</a:t>
            </a:fld>
            <a:endParaRPr kumimoji="1" lang="zh-CN" altLang="en-US" dirty="0"/>
          </a:p>
        </p:txBody>
      </p:sp>
      <p:sp>
        <p:nvSpPr>
          <p:cNvPr id="44" name="矩形 43"/>
          <p:cNvSpPr/>
          <p:nvPr/>
        </p:nvSpPr>
        <p:spPr>
          <a:xfrm>
            <a:off x="6518030" y="3532184"/>
            <a:ext cx="2142653" cy="327825"/>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p:cNvSpPr/>
          <p:nvPr/>
        </p:nvSpPr>
        <p:spPr>
          <a:xfrm>
            <a:off x="8665318" y="3527240"/>
            <a:ext cx="835200" cy="3276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9499495" y="3531724"/>
            <a:ext cx="2001600" cy="3240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6516611" y="3858154"/>
            <a:ext cx="4983478" cy="329278"/>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p:cNvSpPr/>
          <p:nvPr/>
        </p:nvSpPr>
        <p:spPr>
          <a:xfrm>
            <a:off x="6521094" y="4185365"/>
            <a:ext cx="4983478" cy="329278"/>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a:off x="6515908" y="4505740"/>
            <a:ext cx="3913033" cy="345293"/>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矩形 49"/>
          <p:cNvSpPr/>
          <p:nvPr/>
        </p:nvSpPr>
        <p:spPr>
          <a:xfrm>
            <a:off x="10420564" y="4510223"/>
            <a:ext cx="1080000" cy="334800"/>
          </a:xfrm>
          <a:prstGeom prst="rect">
            <a:avLst/>
          </a:pr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32197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4"/>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45"/>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nodeType="after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45"/>
                                        </p:tgtEl>
                                        <p:attrNameLst>
                                          <p:attrName>style.visibility</p:attrName>
                                        </p:attrNameLst>
                                      </p:cBhvr>
                                      <p:to>
                                        <p:strVal val="hidden"/>
                                      </p:to>
                                    </p:set>
                                  </p:childTnLst>
                                </p:cTn>
                              </p:par>
                            </p:childTnLst>
                          </p:cTn>
                        </p:par>
                        <p:par>
                          <p:cTn id="17" fill="hold">
                            <p:stCondLst>
                              <p:cond delay="0"/>
                            </p:stCondLst>
                            <p:childTnLst>
                              <p:par>
                                <p:cTn id="18" presetID="1" presetClass="entr" presetSubtype="0" fill="hold" grpId="0" nodeType="afterEffect">
                                  <p:stCondLst>
                                    <p:cond delay="0"/>
                                  </p:stCondLst>
                                  <p:childTnLst>
                                    <p:set>
                                      <p:cBhvr>
                                        <p:cTn id="19" dur="1" fill="hold">
                                          <p:stCondLst>
                                            <p:cond delay="0"/>
                                          </p:stCondLst>
                                        </p:cTn>
                                        <p:tgtEl>
                                          <p:spTgt spid="46"/>
                                        </p:tgtEl>
                                        <p:attrNameLst>
                                          <p:attrName>style.visibility</p:attrName>
                                        </p:attrNameLst>
                                      </p:cBhvr>
                                      <p:to>
                                        <p:strVal val="visible"/>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grpId="1" nodeType="clickEffect">
                                  <p:stCondLst>
                                    <p:cond delay="0"/>
                                  </p:stCondLst>
                                  <p:childTnLst>
                                    <p:set>
                                      <p:cBhvr>
                                        <p:cTn id="26" dur="1" fill="hold">
                                          <p:stCondLst>
                                            <p:cond delay="0"/>
                                          </p:stCondLst>
                                        </p:cTn>
                                        <p:tgtEl>
                                          <p:spTgt spid="46"/>
                                        </p:tgtEl>
                                        <p:attrNameLst>
                                          <p:attrName>style.visibility</p:attrName>
                                        </p:attrNameLst>
                                      </p:cBhvr>
                                      <p:to>
                                        <p:strVal val="hidden"/>
                                      </p:to>
                                    </p:set>
                                  </p:childTnLst>
                                </p:cTn>
                              </p:par>
                            </p:childTnLst>
                          </p:cTn>
                        </p:par>
                        <p:par>
                          <p:cTn id="27" fill="hold">
                            <p:stCondLst>
                              <p:cond delay="0"/>
                            </p:stCondLst>
                            <p:childTnLst>
                              <p:par>
                                <p:cTn id="28" presetID="1" presetClass="entr" presetSubtype="0" fill="hold" grpId="0" nodeType="afterEffect">
                                  <p:stCondLst>
                                    <p:cond delay="0"/>
                                  </p:stCondLst>
                                  <p:childTnLst>
                                    <p:set>
                                      <p:cBhvr>
                                        <p:cTn id="29" dur="1" fill="hold">
                                          <p:stCondLst>
                                            <p:cond delay="0"/>
                                          </p:stCondLst>
                                        </p:cTn>
                                        <p:tgtEl>
                                          <p:spTgt spid="47"/>
                                        </p:tgtEl>
                                        <p:attrNameLst>
                                          <p:attrName>style.visibility</p:attrName>
                                        </p:attrNameLst>
                                      </p:cBhvr>
                                      <p:to>
                                        <p:strVal val="visible"/>
                                      </p:to>
                                    </p:set>
                                  </p:childTnLst>
                                </p:cTn>
                              </p:par>
                            </p:childTnLst>
                          </p:cTn>
                        </p:par>
                        <p:par>
                          <p:cTn id="30" fill="hold">
                            <p:stCondLst>
                              <p:cond delay="0"/>
                            </p:stCondLst>
                            <p:childTnLst>
                              <p:par>
                                <p:cTn id="31" presetID="1" presetClass="entr" presetSubtype="0" fill="hold" nodeType="afterEffect">
                                  <p:stCondLst>
                                    <p:cond delay="0"/>
                                  </p:stCondLst>
                                  <p:childTnLst>
                                    <p:set>
                                      <p:cBhvr>
                                        <p:cTn id="3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xit" presetSubtype="0" fill="hold" grpId="1" nodeType="clickEffect">
                                  <p:stCondLst>
                                    <p:cond delay="0"/>
                                  </p:stCondLst>
                                  <p:childTnLst>
                                    <p:set>
                                      <p:cBhvr>
                                        <p:cTn id="36" dur="1" fill="hold">
                                          <p:stCondLst>
                                            <p:cond delay="0"/>
                                          </p:stCondLst>
                                        </p:cTn>
                                        <p:tgtEl>
                                          <p:spTgt spid="47"/>
                                        </p:tgtEl>
                                        <p:attrNameLst>
                                          <p:attrName>style.visibility</p:attrName>
                                        </p:attrNameLst>
                                      </p:cBhvr>
                                      <p:to>
                                        <p:strVal val="hidden"/>
                                      </p:to>
                                    </p:set>
                                  </p:childTnLst>
                                </p:cTn>
                              </p:par>
                            </p:childTnLst>
                          </p:cTn>
                        </p:par>
                        <p:par>
                          <p:cTn id="37" fill="hold">
                            <p:stCondLst>
                              <p:cond delay="0"/>
                            </p:stCondLst>
                            <p:childTnLst>
                              <p:par>
                                <p:cTn id="38" presetID="1" presetClass="entr" presetSubtype="0" fill="hold" grpId="0" nodeType="afterEffect">
                                  <p:stCondLst>
                                    <p:cond delay="0"/>
                                  </p:stCondLst>
                                  <p:childTnLst>
                                    <p:set>
                                      <p:cBhvr>
                                        <p:cTn id="39" dur="1" fill="hold">
                                          <p:stCondLst>
                                            <p:cond delay="0"/>
                                          </p:stCondLst>
                                        </p:cTn>
                                        <p:tgtEl>
                                          <p:spTgt spid="48"/>
                                        </p:tgtEl>
                                        <p:attrNameLst>
                                          <p:attrName>style.visibility</p:attrName>
                                        </p:attrNameLst>
                                      </p:cBhvr>
                                      <p:to>
                                        <p:strVal val="visible"/>
                                      </p:to>
                                    </p:set>
                                  </p:childTnLst>
                                </p:cTn>
                              </p:par>
                            </p:childTnLst>
                          </p:cTn>
                        </p:par>
                        <p:par>
                          <p:cTn id="40" fill="hold">
                            <p:stCondLst>
                              <p:cond delay="0"/>
                            </p:stCondLst>
                            <p:childTnLst>
                              <p:par>
                                <p:cTn id="41" presetID="1" presetClass="entr" presetSubtype="0" fill="hold" nodeType="afterEffect">
                                  <p:stCondLst>
                                    <p:cond delay="0"/>
                                  </p:stCondLst>
                                  <p:childTnLst>
                                    <p:set>
                                      <p:cBhvr>
                                        <p:cTn id="4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48"/>
                                        </p:tgtEl>
                                        <p:attrNameLst>
                                          <p:attrName>style.visibility</p:attrName>
                                        </p:attrNameLst>
                                      </p:cBhvr>
                                      <p:to>
                                        <p:strVal val="hidden"/>
                                      </p:to>
                                    </p:set>
                                  </p:childTnLst>
                                </p:cTn>
                              </p:par>
                            </p:childTnLst>
                          </p:cTn>
                        </p:par>
                        <p:par>
                          <p:cTn id="47" fill="hold">
                            <p:stCondLst>
                              <p:cond delay="0"/>
                            </p:stCondLst>
                            <p:childTnLst>
                              <p:par>
                                <p:cTn id="48" presetID="1" presetClass="entr" presetSubtype="0" fill="hold" grpId="0" nodeType="afterEffect">
                                  <p:stCondLst>
                                    <p:cond delay="0"/>
                                  </p:stCondLst>
                                  <p:childTnLst>
                                    <p:set>
                                      <p:cBhvr>
                                        <p:cTn id="49" dur="1" fill="hold">
                                          <p:stCondLst>
                                            <p:cond delay="0"/>
                                          </p:stCondLst>
                                        </p:cTn>
                                        <p:tgtEl>
                                          <p:spTgt spid="49"/>
                                        </p:tgtEl>
                                        <p:attrNameLst>
                                          <p:attrName>style.visibility</p:attrName>
                                        </p:attrNameLst>
                                      </p:cBhvr>
                                      <p:to>
                                        <p:strVal val="visible"/>
                                      </p:to>
                                    </p:set>
                                  </p:childTnLst>
                                </p:cTn>
                              </p:par>
                            </p:childTnLst>
                          </p:cTn>
                        </p:par>
                        <p:par>
                          <p:cTn id="50" fill="hold">
                            <p:stCondLst>
                              <p:cond delay="0"/>
                            </p:stCondLst>
                            <p:childTnLst>
                              <p:par>
                                <p:cTn id="51" presetID="1" presetClass="entr" presetSubtype="0" fill="hold" nodeType="afterEffect">
                                  <p:stCondLst>
                                    <p:cond delay="0"/>
                                  </p:stCondLst>
                                  <p:childTnLst>
                                    <p:set>
                                      <p:cBhvr>
                                        <p:cTn id="5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xit" presetSubtype="0" fill="hold" grpId="1" nodeType="clickEffect">
                                  <p:stCondLst>
                                    <p:cond delay="0"/>
                                  </p:stCondLst>
                                  <p:childTnLst>
                                    <p:set>
                                      <p:cBhvr>
                                        <p:cTn id="56" dur="1" fill="hold">
                                          <p:stCondLst>
                                            <p:cond delay="0"/>
                                          </p:stCondLst>
                                        </p:cTn>
                                        <p:tgtEl>
                                          <p:spTgt spid="49"/>
                                        </p:tgtEl>
                                        <p:attrNameLst>
                                          <p:attrName>style.visibility</p:attrName>
                                        </p:attrNameLst>
                                      </p:cBhvr>
                                      <p:to>
                                        <p:strVal val="hidden"/>
                                      </p:to>
                                    </p:set>
                                  </p:childTnLst>
                                </p:cTn>
                              </p:par>
                            </p:childTnLst>
                          </p:cTn>
                        </p:par>
                        <p:par>
                          <p:cTn id="57" fill="hold">
                            <p:stCondLst>
                              <p:cond delay="0"/>
                            </p:stCondLst>
                            <p:childTnLst>
                              <p:par>
                                <p:cTn id="58" presetID="1" presetClass="entr" presetSubtype="0" fill="hold" grpId="0" nodeType="afterEffect">
                                  <p:stCondLst>
                                    <p:cond delay="0"/>
                                  </p:stCondLst>
                                  <p:childTnLst>
                                    <p:set>
                                      <p:cBhvr>
                                        <p:cTn id="59" dur="1" fill="hold">
                                          <p:stCondLst>
                                            <p:cond delay="0"/>
                                          </p:stCondLst>
                                        </p:cTn>
                                        <p:tgtEl>
                                          <p:spTgt spid="50"/>
                                        </p:tgtEl>
                                        <p:attrNameLst>
                                          <p:attrName>style.visibility</p:attrName>
                                        </p:attrNameLst>
                                      </p:cBhvr>
                                      <p:to>
                                        <p:strVal val="visible"/>
                                      </p:to>
                                    </p:set>
                                  </p:childTnLst>
                                </p:cTn>
                              </p:par>
                            </p:childTnLst>
                          </p:cTn>
                        </p:par>
                        <p:par>
                          <p:cTn id="60" fill="hold">
                            <p:stCondLst>
                              <p:cond delay="0"/>
                            </p:stCondLst>
                            <p:childTnLst>
                              <p:par>
                                <p:cTn id="61" presetID="1" presetClass="entr" presetSubtype="0" fill="hold" nodeType="afterEffect">
                                  <p:stCondLst>
                                    <p:cond delay="0"/>
                                  </p:stCondLst>
                                  <p:childTnLst>
                                    <p:set>
                                      <p:cBhvr>
                                        <p:cTn id="6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animBg="1"/>
      <p:bldP spid="45" grpId="0" animBg="1"/>
      <p:bldP spid="45" grpId="1" animBg="1"/>
      <p:bldP spid="46" grpId="0" animBg="1"/>
      <p:bldP spid="46" grpId="1" animBg="1"/>
      <p:bldP spid="47" grpId="0" animBg="1"/>
      <p:bldP spid="47" grpId="1" animBg="1"/>
      <p:bldP spid="48" grpId="0" animBg="1"/>
      <p:bldP spid="48" grpId="1" animBg="1"/>
      <p:bldP spid="49" grpId="0" animBg="1"/>
      <p:bldP spid="49" grpId="1" animBg="1"/>
      <p:bldP spid="50"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数据包分片</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838200" y="1510757"/>
            <a:ext cx="10799618" cy="4954697"/>
          </a:xfrm>
        </p:spPr>
        <p:txBody>
          <a:bodyPr>
            <a:normAutofit/>
          </a:bodyPr>
          <a:lstStyle/>
          <a:p>
            <a:r>
              <a:rPr lang="en-US" altLang="zh-CN" dirty="0"/>
              <a:t>MTU</a:t>
            </a:r>
            <a:r>
              <a:rPr lang="zh-CN" altLang="en-US" dirty="0"/>
              <a:t>（</a:t>
            </a:r>
            <a:r>
              <a:rPr lang="en-US" altLang="zh-CN" dirty="0"/>
              <a:t>Maximum Transmission Unit</a:t>
            </a:r>
            <a:r>
              <a:rPr lang="zh-CN" altLang="en-US" dirty="0"/>
              <a:t>）</a:t>
            </a:r>
            <a:r>
              <a:rPr lang="en-US" altLang="zh-CN" dirty="0"/>
              <a:t>, </a:t>
            </a:r>
            <a:r>
              <a:rPr lang="zh-CN" altLang="en-US" dirty="0"/>
              <a:t>最大传输单元</a:t>
            </a:r>
            <a:endParaRPr lang="en-US" altLang="zh-CN" dirty="0"/>
          </a:p>
          <a:p>
            <a:pPr lvl="1"/>
            <a:r>
              <a:rPr lang="zh-CN" altLang="en-US" dirty="0"/>
              <a:t>链路</a:t>
            </a:r>
            <a:r>
              <a:rPr lang="en-US" altLang="zh-CN" dirty="0"/>
              <a:t>MTU</a:t>
            </a:r>
          </a:p>
          <a:p>
            <a:pPr lvl="1"/>
            <a:r>
              <a:rPr lang="zh-CN" altLang="en-US" dirty="0"/>
              <a:t>路径</a:t>
            </a:r>
            <a:r>
              <a:rPr lang="en-US" altLang="zh-CN" dirty="0"/>
              <a:t>MTU (Path MTU)</a:t>
            </a:r>
          </a:p>
          <a:p>
            <a:r>
              <a:rPr lang="zh-CN" altLang="en-US" dirty="0"/>
              <a:t>分片策略</a:t>
            </a:r>
            <a:endParaRPr lang="en-US" altLang="zh-CN" dirty="0"/>
          </a:p>
          <a:p>
            <a:pPr lvl="1"/>
            <a:r>
              <a:rPr lang="zh-CN" altLang="en-US" dirty="0"/>
              <a:t>允许途中分片：根据下一跳链路的</a:t>
            </a:r>
            <a:r>
              <a:rPr lang="en-US" altLang="zh-CN" dirty="0"/>
              <a:t>MTU</a:t>
            </a:r>
            <a:r>
              <a:rPr lang="zh-CN" altLang="en-US" dirty="0"/>
              <a:t>实施分片</a:t>
            </a:r>
            <a:endParaRPr lang="en-US" altLang="zh-CN" dirty="0"/>
          </a:p>
          <a:p>
            <a:pPr lvl="1"/>
            <a:r>
              <a:rPr lang="zh-CN" altLang="en-US" dirty="0"/>
              <a:t>不允许途中分片：发出的数据包长度小于路径</a:t>
            </a:r>
            <a:r>
              <a:rPr lang="en-US" altLang="zh-CN" dirty="0"/>
              <a:t>MTU</a:t>
            </a:r>
            <a:r>
              <a:rPr lang="zh-CN" altLang="en-US" dirty="0"/>
              <a:t>（路径</a:t>
            </a:r>
            <a:r>
              <a:rPr lang="en-US" altLang="zh-CN" dirty="0"/>
              <a:t>MTU</a:t>
            </a:r>
            <a:r>
              <a:rPr lang="zh-CN" altLang="en-US" dirty="0"/>
              <a:t>发现机制）</a:t>
            </a:r>
            <a:r>
              <a:rPr lang="en-US" altLang="zh-CN" dirty="0"/>
              <a:t> </a:t>
            </a:r>
          </a:p>
          <a:p>
            <a:r>
              <a:rPr lang="zh-CN" altLang="en-US" dirty="0"/>
              <a:t>重组策略</a:t>
            </a:r>
            <a:endParaRPr lang="en-US" altLang="zh-CN" dirty="0"/>
          </a:p>
          <a:p>
            <a:pPr lvl="1"/>
            <a:r>
              <a:rPr lang="zh-CN" altLang="en-US" dirty="0"/>
              <a:t>途中重组，实施难度太大</a:t>
            </a:r>
            <a:endParaRPr lang="en-US" altLang="zh-CN" dirty="0"/>
          </a:p>
          <a:p>
            <a:pPr lvl="1"/>
            <a:r>
              <a:rPr lang="zh-CN" altLang="en-US" dirty="0"/>
              <a:t>目的端重组</a:t>
            </a:r>
            <a:r>
              <a:rPr lang="zh-CN" altLang="en-US" dirty="0">
                <a:solidFill>
                  <a:srgbClr val="C00000"/>
                </a:solidFill>
              </a:rPr>
              <a:t>（互联网采用的策略）</a:t>
            </a:r>
            <a:endParaRPr lang="en-US" altLang="zh-CN" dirty="0">
              <a:solidFill>
                <a:srgbClr val="C00000"/>
              </a:solidFill>
            </a:endParaRPr>
          </a:p>
          <a:p>
            <a:pPr lvl="1"/>
            <a:r>
              <a:rPr lang="zh-CN" altLang="en-US" dirty="0"/>
              <a:t>重组所需信息：原始数据包编号、分片偏移量、是否收集所有分片</a:t>
            </a:r>
            <a:endParaRPr lang="zh-CN" altLang="zh-CN"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pPr/>
              <a:t>19</a:t>
            </a:fld>
            <a:endParaRPr kumimoji="1" lang="zh-CN" altLang="en-US" dirty="0"/>
          </a:p>
        </p:txBody>
      </p:sp>
      <p:sp>
        <p:nvSpPr>
          <p:cNvPr id="5" name="日期占位符 4"/>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5.2.1 IPv4</a:t>
            </a:r>
            <a:r>
              <a:rPr kumimoji="1" lang="zh-CN" altLang="en-US" dirty="0">
                <a:latin typeface="DengXian" panose="02010600030101010101" pitchFamily="2" charset="-122"/>
                <a:ea typeface="DengXian" panose="02010600030101010101" pitchFamily="2" charset="-122"/>
              </a:rPr>
              <a:t>协议</a:t>
            </a:r>
          </a:p>
        </p:txBody>
      </p:sp>
    </p:spTree>
    <p:extLst>
      <p:ext uri="{BB962C8B-B14F-4D97-AF65-F5344CB8AC3E}">
        <p14:creationId xmlns:p14="http://schemas.microsoft.com/office/powerpoint/2010/main" val="41453066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latin typeface="DengXian" panose="02010600030101010101" pitchFamily="2" charset="-122"/>
                <a:ea typeface="DengXian" panose="02010600030101010101" pitchFamily="2" charset="-122"/>
              </a:rPr>
              <a:t>数据包分片</a:t>
            </a:r>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pPr/>
              <a:t>20</a:t>
            </a:fld>
            <a:endParaRPr kumimoji="1" lang="zh-CN" altLang="en-US" dirty="0"/>
          </a:p>
        </p:txBody>
      </p:sp>
      <p:sp>
        <p:nvSpPr>
          <p:cNvPr id="6" name="Rectangle 4"/>
          <p:cNvSpPr>
            <a:spLocks noChangeArrowheads="1"/>
          </p:cNvSpPr>
          <p:nvPr/>
        </p:nvSpPr>
        <p:spPr bwMode="auto">
          <a:xfrm>
            <a:off x="4289426" y="2239963"/>
            <a:ext cx="4830763" cy="463550"/>
          </a:xfrm>
          <a:prstGeom prst="rect">
            <a:avLst/>
          </a:prstGeom>
          <a:solidFill>
            <a:srgbClr val="DDDDDD"/>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latin typeface="DengXian" panose="02010600030101010101" pitchFamily="2" charset="-122"/>
              <a:ea typeface="DengXian" panose="02010600030101010101" pitchFamily="2" charset="-122"/>
            </a:endParaRPr>
          </a:p>
        </p:txBody>
      </p:sp>
      <p:sp>
        <p:nvSpPr>
          <p:cNvPr id="7" name="Text Box 5"/>
          <p:cNvSpPr txBox="1">
            <a:spLocks noChangeArrowheads="1"/>
          </p:cNvSpPr>
          <p:nvPr/>
        </p:nvSpPr>
        <p:spPr bwMode="auto">
          <a:xfrm>
            <a:off x="2095501" y="5840413"/>
            <a:ext cx="169790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dirty="0">
                <a:latin typeface="DengXian" panose="02010600030101010101" pitchFamily="2" charset="-122"/>
                <a:ea typeface="DengXian" panose="02010600030101010101" pitchFamily="2" charset="-122"/>
              </a:rPr>
              <a:t>偏移 </a:t>
            </a:r>
            <a:r>
              <a:rPr kumimoji="1" lang="en-US" altLang="zh-CN" sz="1800" dirty="0">
                <a:latin typeface="DengXian" panose="02010600030101010101" pitchFamily="2" charset="-122"/>
                <a:ea typeface="DengXian" panose="02010600030101010101" pitchFamily="2" charset="-122"/>
              </a:rPr>
              <a:t>= 0/8 = 0</a:t>
            </a:r>
          </a:p>
        </p:txBody>
      </p:sp>
      <p:sp>
        <p:nvSpPr>
          <p:cNvPr id="8" name="Rectangle 6"/>
          <p:cNvSpPr>
            <a:spLocks noChangeArrowheads="1"/>
          </p:cNvSpPr>
          <p:nvPr/>
        </p:nvSpPr>
        <p:spPr bwMode="auto">
          <a:xfrm>
            <a:off x="3411538" y="2239963"/>
            <a:ext cx="5708650" cy="463550"/>
          </a:xfrm>
          <a:prstGeom prst="rect">
            <a:avLst/>
          </a:prstGeom>
          <a:solidFill>
            <a:srgbClr val="CCECFF"/>
          </a:solidFill>
          <a:ln w="19050">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latin typeface="DengXian" panose="02010600030101010101" pitchFamily="2" charset="-122"/>
              <a:ea typeface="DengXian" panose="02010600030101010101" pitchFamily="2" charset="-122"/>
            </a:endParaRPr>
          </a:p>
        </p:txBody>
      </p:sp>
      <p:sp>
        <p:nvSpPr>
          <p:cNvPr id="9" name="Line 7"/>
          <p:cNvSpPr>
            <a:spLocks noChangeShapeType="1"/>
          </p:cNvSpPr>
          <p:nvPr/>
        </p:nvSpPr>
        <p:spPr bwMode="auto">
          <a:xfrm>
            <a:off x="4465638" y="22399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10" name="Line 8"/>
          <p:cNvSpPr>
            <a:spLocks noChangeShapeType="1"/>
          </p:cNvSpPr>
          <p:nvPr/>
        </p:nvSpPr>
        <p:spPr bwMode="auto">
          <a:xfrm>
            <a:off x="4641850" y="22399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11" name="Line 9"/>
          <p:cNvSpPr>
            <a:spLocks noChangeShapeType="1"/>
          </p:cNvSpPr>
          <p:nvPr/>
        </p:nvSpPr>
        <p:spPr bwMode="auto">
          <a:xfrm>
            <a:off x="4818063" y="22399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12" name="Line 10"/>
          <p:cNvSpPr>
            <a:spLocks noChangeShapeType="1"/>
          </p:cNvSpPr>
          <p:nvPr/>
        </p:nvSpPr>
        <p:spPr bwMode="auto">
          <a:xfrm>
            <a:off x="8943975" y="22399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13" name="Rectangle 11"/>
          <p:cNvSpPr>
            <a:spLocks noChangeArrowheads="1"/>
          </p:cNvSpPr>
          <p:nvPr/>
        </p:nvSpPr>
        <p:spPr bwMode="auto">
          <a:xfrm>
            <a:off x="2535239" y="4192588"/>
            <a:ext cx="1754187" cy="463550"/>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latin typeface="DengXian" panose="02010600030101010101" pitchFamily="2" charset="-122"/>
              <a:ea typeface="DengXian" panose="02010600030101010101" pitchFamily="2" charset="-122"/>
            </a:endParaRPr>
          </a:p>
        </p:txBody>
      </p:sp>
      <p:sp>
        <p:nvSpPr>
          <p:cNvPr id="14" name="Line 12"/>
          <p:cNvSpPr>
            <a:spLocks noChangeShapeType="1"/>
          </p:cNvSpPr>
          <p:nvPr/>
        </p:nvSpPr>
        <p:spPr bwMode="auto">
          <a:xfrm>
            <a:off x="2709863"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15" name="Line 13"/>
          <p:cNvSpPr>
            <a:spLocks noChangeShapeType="1"/>
          </p:cNvSpPr>
          <p:nvPr/>
        </p:nvSpPr>
        <p:spPr bwMode="auto">
          <a:xfrm>
            <a:off x="2886075"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16" name="Line 14"/>
          <p:cNvSpPr>
            <a:spLocks noChangeShapeType="1"/>
          </p:cNvSpPr>
          <p:nvPr/>
        </p:nvSpPr>
        <p:spPr bwMode="auto">
          <a:xfrm>
            <a:off x="3062288"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17" name="Line 15"/>
          <p:cNvSpPr>
            <a:spLocks noChangeShapeType="1"/>
          </p:cNvSpPr>
          <p:nvPr/>
        </p:nvSpPr>
        <p:spPr bwMode="auto">
          <a:xfrm>
            <a:off x="4113213"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18" name="Text Box 16"/>
          <p:cNvSpPr txBox="1">
            <a:spLocks noChangeArrowheads="1"/>
          </p:cNvSpPr>
          <p:nvPr/>
        </p:nvSpPr>
        <p:spPr bwMode="auto">
          <a:xfrm>
            <a:off x="9144001" y="2133601"/>
            <a:ext cx="1301959" cy="618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偏移 </a:t>
            </a:r>
            <a:r>
              <a:rPr kumimoji="1" lang="en-US" altLang="zh-CN" sz="1800">
                <a:latin typeface="DengXian" panose="02010600030101010101" pitchFamily="2" charset="-122"/>
                <a:ea typeface="DengXian" panose="02010600030101010101" pitchFamily="2" charset="-122"/>
              </a:rPr>
              <a:t>= 0/8</a:t>
            </a:r>
          </a:p>
          <a:p>
            <a:pPr>
              <a:lnSpc>
                <a:spcPct val="90000"/>
              </a:lnSpc>
              <a:spcBef>
                <a:spcPct val="0"/>
              </a:spcBef>
              <a:buClrTx/>
              <a:buSzTx/>
              <a:buFontTx/>
              <a:buNone/>
            </a:pPr>
            <a:r>
              <a:rPr kumimoji="1" lang="en-US" altLang="zh-CN" sz="1800">
                <a:latin typeface="DengXian" panose="02010600030101010101" pitchFamily="2" charset="-122"/>
                <a:ea typeface="DengXian" panose="02010600030101010101" pitchFamily="2" charset="-122"/>
              </a:rPr>
              <a:t>= 0</a:t>
            </a:r>
          </a:p>
        </p:txBody>
      </p:sp>
      <p:sp>
        <p:nvSpPr>
          <p:cNvPr id="19" name="Text Box 17"/>
          <p:cNvSpPr txBox="1">
            <a:spLocks noChangeArrowheads="1"/>
          </p:cNvSpPr>
          <p:nvPr/>
        </p:nvSpPr>
        <p:spPr bwMode="auto">
          <a:xfrm>
            <a:off x="4818063" y="5840413"/>
            <a:ext cx="232948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偏移 </a:t>
            </a:r>
            <a:r>
              <a:rPr kumimoji="1" lang="en-US" altLang="zh-CN" sz="1800">
                <a:latin typeface="DengXian" panose="02010600030101010101" pitchFamily="2" charset="-122"/>
                <a:ea typeface="DengXian" panose="02010600030101010101" pitchFamily="2" charset="-122"/>
              </a:rPr>
              <a:t>= 1400/8 = 175</a:t>
            </a:r>
          </a:p>
        </p:txBody>
      </p:sp>
      <p:sp>
        <p:nvSpPr>
          <p:cNvPr id="20" name="Text Box 18"/>
          <p:cNvSpPr txBox="1">
            <a:spLocks noChangeArrowheads="1"/>
          </p:cNvSpPr>
          <p:nvPr/>
        </p:nvSpPr>
        <p:spPr bwMode="auto">
          <a:xfrm>
            <a:off x="7888288" y="5840413"/>
            <a:ext cx="226536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偏移 </a:t>
            </a:r>
            <a:r>
              <a:rPr kumimoji="1" lang="en-US" altLang="zh-CN" sz="1800">
                <a:latin typeface="DengXian" panose="02010600030101010101" pitchFamily="2" charset="-122"/>
                <a:ea typeface="DengXian" panose="02010600030101010101" pitchFamily="2" charset="-122"/>
              </a:rPr>
              <a:t>= 2800/8 = 350</a:t>
            </a:r>
          </a:p>
        </p:txBody>
      </p:sp>
      <p:sp>
        <p:nvSpPr>
          <p:cNvPr id="21" name="Line 19"/>
          <p:cNvSpPr>
            <a:spLocks noChangeShapeType="1"/>
          </p:cNvSpPr>
          <p:nvPr/>
        </p:nvSpPr>
        <p:spPr bwMode="auto">
          <a:xfrm flipV="1">
            <a:off x="9017000" y="2703514"/>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22" name="Line 20"/>
          <p:cNvSpPr>
            <a:spLocks noChangeShapeType="1"/>
          </p:cNvSpPr>
          <p:nvPr/>
        </p:nvSpPr>
        <p:spPr bwMode="auto">
          <a:xfrm flipV="1">
            <a:off x="4373563" y="2703514"/>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23" name="Line 21"/>
          <p:cNvSpPr>
            <a:spLocks noChangeShapeType="1"/>
          </p:cNvSpPr>
          <p:nvPr/>
        </p:nvSpPr>
        <p:spPr bwMode="auto">
          <a:xfrm flipV="1">
            <a:off x="4202113" y="4656139"/>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24" name="Line 22"/>
          <p:cNvSpPr>
            <a:spLocks noChangeShapeType="1"/>
          </p:cNvSpPr>
          <p:nvPr/>
        </p:nvSpPr>
        <p:spPr bwMode="auto">
          <a:xfrm flipV="1">
            <a:off x="5694363" y="4656139"/>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25" name="Line 23"/>
          <p:cNvSpPr>
            <a:spLocks noChangeShapeType="1"/>
          </p:cNvSpPr>
          <p:nvPr/>
        </p:nvSpPr>
        <p:spPr bwMode="auto">
          <a:xfrm flipV="1">
            <a:off x="7275513" y="4656139"/>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26" name="Line 24"/>
          <p:cNvSpPr>
            <a:spLocks noChangeShapeType="1"/>
          </p:cNvSpPr>
          <p:nvPr/>
        </p:nvSpPr>
        <p:spPr bwMode="auto">
          <a:xfrm flipV="1">
            <a:off x="8840788" y="4656139"/>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27" name="Line 25"/>
          <p:cNvSpPr>
            <a:spLocks noChangeShapeType="1"/>
          </p:cNvSpPr>
          <p:nvPr/>
        </p:nvSpPr>
        <p:spPr bwMode="auto">
          <a:xfrm flipV="1">
            <a:off x="9998075" y="4656139"/>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28" name="Text Box 26"/>
          <p:cNvSpPr txBox="1">
            <a:spLocks noChangeArrowheads="1"/>
          </p:cNvSpPr>
          <p:nvPr/>
        </p:nvSpPr>
        <p:spPr bwMode="auto">
          <a:xfrm>
            <a:off x="5307013" y="4932363"/>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latin typeface="DengXian" panose="02010600030101010101" pitchFamily="2" charset="-122"/>
                <a:ea typeface="DengXian" panose="02010600030101010101" pitchFamily="2" charset="-122"/>
              </a:rPr>
              <a:t>1400</a:t>
            </a:r>
          </a:p>
        </p:txBody>
      </p:sp>
      <p:sp>
        <p:nvSpPr>
          <p:cNvPr id="29" name="Text Box 27"/>
          <p:cNvSpPr txBox="1">
            <a:spLocks noChangeArrowheads="1"/>
          </p:cNvSpPr>
          <p:nvPr/>
        </p:nvSpPr>
        <p:spPr bwMode="auto">
          <a:xfrm>
            <a:off x="8467726" y="4932363"/>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latin typeface="DengXian" panose="02010600030101010101" pitchFamily="2" charset="-122"/>
                <a:ea typeface="DengXian" panose="02010600030101010101" pitchFamily="2" charset="-122"/>
              </a:rPr>
              <a:t>2800</a:t>
            </a:r>
          </a:p>
        </p:txBody>
      </p:sp>
      <p:sp>
        <p:nvSpPr>
          <p:cNvPr id="30" name="Text Box 28"/>
          <p:cNvSpPr txBox="1">
            <a:spLocks noChangeArrowheads="1"/>
          </p:cNvSpPr>
          <p:nvPr/>
        </p:nvSpPr>
        <p:spPr bwMode="auto">
          <a:xfrm>
            <a:off x="9610726" y="4910138"/>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latin typeface="DengXian" panose="02010600030101010101" pitchFamily="2" charset="-122"/>
                <a:ea typeface="DengXian" panose="02010600030101010101" pitchFamily="2" charset="-122"/>
              </a:rPr>
              <a:t>3799</a:t>
            </a:r>
          </a:p>
        </p:txBody>
      </p:sp>
      <p:sp>
        <p:nvSpPr>
          <p:cNvPr id="31" name="Text Box 29"/>
          <p:cNvSpPr txBox="1">
            <a:spLocks noChangeArrowheads="1"/>
          </p:cNvSpPr>
          <p:nvPr/>
        </p:nvSpPr>
        <p:spPr bwMode="auto">
          <a:xfrm>
            <a:off x="6884989" y="4910138"/>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latin typeface="DengXian" panose="02010600030101010101" pitchFamily="2" charset="-122"/>
                <a:ea typeface="DengXian" panose="02010600030101010101" pitchFamily="2" charset="-122"/>
              </a:rPr>
              <a:t>2799</a:t>
            </a:r>
          </a:p>
        </p:txBody>
      </p:sp>
      <p:sp>
        <p:nvSpPr>
          <p:cNvPr id="32" name="Text Box 30"/>
          <p:cNvSpPr txBox="1">
            <a:spLocks noChangeArrowheads="1"/>
          </p:cNvSpPr>
          <p:nvPr/>
        </p:nvSpPr>
        <p:spPr bwMode="auto">
          <a:xfrm>
            <a:off x="3814763" y="4910138"/>
            <a:ext cx="67197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latin typeface="DengXian" panose="02010600030101010101" pitchFamily="2" charset="-122"/>
                <a:ea typeface="DengXian" panose="02010600030101010101" pitchFamily="2" charset="-122"/>
              </a:rPr>
              <a:t>1399</a:t>
            </a:r>
          </a:p>
        </p:txBody>
      </p:sp>
      <p:sp>
        <p:nvSpPr>
          <p:cNvPr id="33" name="Text Box 31"/>
          <p:cNvSpPr txBox="1">
            <a:spLocks noChangeArrowheads="1"/>
          </p:cNvSpPr>
          <p:nvPr/>
        </p:nvSpPr>
        <p:spPr bwMode="auto">
          <a:xfrm>
            <a:off x="8643939" y="2957513"/>
            <a:ext cx="671979"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latin typeface="DengXian" panose="02010600030101010101" pitchFamily="2" charset="-122"/>
                <a:ea typeface="DengXian" panose="02010600030101010101" pitchFamily="2" charset="-122"/>
              </a:rPr>
              <a:t>3799</a:t>
            </a:r>
          </a:p>
        </p:txBody>
      </p:sp>
      <p:sp>
        <p:nvSpPr>
          <p:cNvPr id="34" name="Text Box 32"/>
          <p:cNvSpPr txBox="1">
            <a:spLocks noChangeArrowheads="1"/>
          </p:cNvSpPr>
          <p:nvPr/>
        </p:nvSpPr>
        <p:spPr bwMode="auto">
          <a:xfrm>
            <a:off x="2133640" y="2060576"/>
            <a:ext cx="1107996"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kumimoji="1" lang="zh-CN" altLang="en-US" sz="1800" dirty="0">
                <a:latin typeface="DengXian" panose="02010600030101010101" pitchFamily="2" charset="-122"/>
                <a:ea typeface="DengXian" panose="02010600030101010101" pitchFamily="2" charset="-122"/>
              </a:rPr>
              <a:t>需分片的</a:t>
            </a:r>
          </a:p>
          <a:p>
            <a:pPr algn="ctr">
              <a:spcBef>
                <a:spcPct val="0"/>
              </a:spcBef>
              <a:buClrTx/>
              <a:buSzTx/>
              <a:buFontTx/>
              <a:buNone/>
            </a:pPr>
            <a:r>
              <a:rPr kumimoji="1" lang="zh-CN" altLang="en-US" sz="1800" dirty="0">
                <a:latin typeface="DengXian" panose="02010600030101010101" pitchFamily="2" charset="-122"/>
                <a:ea typeface="DengXian" panose="02010600030101010101" pitchFamily="2" charset="-122"/>
              </a:rPr>
              <a:t>数据包</a:t>
            </a:r>
          </a:p>
        </p:txBody>
      </p:sp>
      <p:sp>
        <p:nvSpPr>
          <p:cNvPr id="35" name="Rectangle 76"/>
          <p:cNvSpPr>
            <a:spLocks noChangeArrowheads="1"/>
          </p:cNvSpPr>
          <p:nvPr/>
        </p:nvSpPr>
        <p:spPr bwMode="auto">
          <a:xfrm>
            <a:off x="3432176" y="2260600"/>
            <a:ext cx="854075" cy="431800"/>
          </a:xfrm>
          <a:prstGeom prst="rect">
            <a:avLst/>
          </a:prstGeom>
          <a:solidFill>
            <a:srgbClr val="FF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latin typeface="DengXian" panose="02010600030101010101" pitchFamily="2" charset="-122"/>
              <a:ea typeface="DengXian" panose="02010600030101010101" pitchFamily="2" charset="-122"/>
            </a:endParaRPr>
          </a:p>
        </p:txBody>
      </p:sp>
      <p:sp>
        <p:nvSpPr>
          <p:cNvPr id="36" name="Text Box 33"/>
          <p:cNvSpPr txBox="1">
            <a:spLocks noChangeArrowheads="1"/>
          </p:cNvSpPr>
          <p:nvPr/>
        </p:nvSpPr>
        <p:spPr bwMode="auto">
          <a:xfrm>
            <a:off x="2359025" y="5395913"/>
            <a:ext cx="128112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dirty="0">
                <a:latin typeface="DengXian" panose="02010600030101010101" pitchFamily="2" charset="-122"/>
                <a:ea typeface="DengXian" panose="02010600030101010101" pitchFamily="2" charset="-122"/>
              </a:rPr>
              <a:t>数据包片 </a:t>
            </a:r>
            <a:r>
              <a:rPr kumimoji="1" lang="en-US" altLang="zh-CN" sz="1800" dirty="0">
                <a:latin typeface="DengXian" panose="02010600030101010101" pitchFamily="2" charset="-122"/>
                <a:ea typeface="DengXian" panose="02010600030101010101" pitchFamily="2" charset="-122"/>
              </a:rPr>
              <a:t>1</a:t>
            </a:r>
          </a:p>
        </p:txBody>
      </p:sp>
      <p:sp>
        <p:nvSpPr>
          <p:cNvPr id="37" name="Text Box 34"/>
          <p:cNvSpPr txBox="1">
            <a:spLocks noChangeArrowheads="1"/>
          </p:cNvSpPr>
          <p:nvPr/>
        </p:nvSpPr>
        <p:spPr bwMode="auto">
          <a:xfrm>
            <a:off x="3516314" y="2257425"/>
            <a:ext cx="6463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首部</a:t>
            </a:r>
          </a:p>
        </p:txBody>
      </p:sp>
      <p:sp>
        <p:nvSpPr>
          <p:cNvPr id="38" name="Line 35"/>
          <p:cNvSpPr>
            <a:spLocks noChangeShapeType="1"/>
          </p:cNvSpPr>
          <p:nvPr/>
        </p:nvSpPr>
        <p:spPr bwMode="auto">
          <a:xfrm>
            <a:off x="4289425" y="22399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39" name="Rectangle 36"/>
          <p:cNvSpPr>
            <a:spLocks noChangeArrowheads="1"/>
          </p:cNvSpPr>
          <p:nvPr/>
        </p:nvSpPr>
        <p:spPr bwMode="auto">
          <a:xfrm>
            <a:off x="1657350" y="4192588"/>
            <a:ext cx="877888" cy="46355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latin typeface="DengXian" panose="02010600030101010101" pitchFamily="2" charset="-122"/>
              <a:ea typeface="DengXian" panose="02010600030101010101" pitchFamily="2" charset="-122"/>
            </a:endParaRPr>
          </a:p>
        </p:txBody>
      </p:sp>
      <p:sp>
        <p:nvSpPr>
          <p:cNvPr id="40" name="Line 37"/>
          <p:cNvSpPr>
            <a:spLocks noChangeShapeType="1"/>
          </p:cNvSpPr>
          <p:nvPr/>
        </p:nvSpPr>
        <p:spPr bwMode="auto">
          <a:xfrm>
            <a:off x="6046788" y="22399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41" name="Line 38"/>
          <p:cNvSpPr>
            <a:spLocks noChangeShapeType="1"/>
          </p:cNvSpPr>
          <p:nvPr/>
        </p:nvSpPr>
        <p:spPr bwMode="auto">
          <a:xfrm>
            <a:off x="7802563" y="22399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42" name="Line 39"/>
          <p:cNvSpPr>
            <a:spLocks noChangeShapeType="1"/>
          </p:cNvSpPr>
          <p:nvPr/>
        </p:nvSpPr>
        <p:spPr bwMode="auto">
          <a:xfrm flipV="1">
            <a:off x="2535239" y="2703514"/>
            <a:ext cx="1754187"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43" name="Line 40"/>
          <p:cNvSpPr>
            <a:spLocks noChangeShapeType="1"/>
          </p:cNvSpPr>
          <p:nvPr/>
        </p:nvSpPr>
        <p:spPr bwMode="auto">
          <a:xfrm flipV="1">
            <a:off x="4289426" y="2703514"/>
            <a:ext cx="1757363"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44" name="Rectangle 41"/>
          <p:cNvSpPr>
            <a:spLocks noChangeArrowheads="1"/>
          </p:cNvSpPr>
          <p:nvPr/>
        </p:nvSpPr>
        <p:spPr bwMode="auto">
          <a:xfrm>
            <a:off x="5608639" y="4192588"/>
            <a:ext cx="1754187" cy="463550"/>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latin typeface="DengXian" panose="02010600030101010101" pitchFamily="2" charset="-122"/>
              <a:ea typeface="DengXian" panose="02010600030101010101" pitchFamily="2" charset="-122"/>
            </a:endParaRPr>
          </a:p>
        </p:txBody>
      </p:sp>
      <p:sp>
        <p:nvSpPr>
          <p:cNvPr id="45" name="Line 42"/>
          <p:cNvSpPr>
            <a:spLocks noChangeShapeType="1"/>
          </p:cNvSpPr>
          <p:nvPr/>
        </p:nvSpPr>
        <p:spPr bwMode="auto">
          <a:xfrm>
            <a:off x="5783263"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46" name="Line 43"/>
          <p:cNvSpPr>
            <a:spLocks noChangeShapeType="1"/>
          </p:cNvSpPr>
          <p:nvPr/>
        </p:nvSpPr>
        <p:spPr bwMode="auto">
          <a:xfrm>
            <a:off x="5957888"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47" name="Line 44"/>
          <p:cNvSpPr>
            <a:spLocks noChangeShapeType="1"/>
          </p:cNvSpPr>
          <p:nvPr/>
        </p:nvSpPr>
        <p:spPr bwMode="auto">
          <a:xfrm>
            <a:off x="6134100"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48" name="Line 45"/>
          <p:cNvSpPr>
            <a:spLocks noChangeShapeType="1"/>
          </p:cNvSpPr>
          <p:nvPr/>
        </p:nvSpPr>
        <p:spPr bwMode="auto">
          <a:xfrm>
            <a:off x="7186613"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49" name="Rectangle 46"/>
          <p:cNvSpPr>
            <a:spLocks noChangeArrowheads="1"/>
          </p:cNvSpPr>
          <p:nvPr/>
        </p:nvSpPr>
        <p:spPr bwMode="auto">
          <a:xfrm>
            <a:off x="4730750" y="4192588"/>
            <a:ext cx="877888" cy="46355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latin typeface="DengXian" panose="02010600030101010101" pitchFamily="2" charset="-122"/>
              <a:ea typeface="DengXian" panose="02010600030101010101" pitchFamily="2" charset="-122"/>
            </a:endParaRPr>
          </a:p>
        </p:txBody>
      </p:sp>
      <p:sp>
        <p:nvSpPr>
          <p:cNvPr id="50" name="Line 47"/>
          <p:cNvSpPr>
            <a:spLocks noChangeShapeType="1"/>
          </p:cNvSpPr>
          <p:nvPr/>
        </p:nvSpPr>
        <p:spPr bwMode="auto">
          <a:xfrm flipV="1">
            <a:off x="5608638" y="2703514"/>
            <a:ext cx="438150"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51" name="Line 48"/>
          <p:cNvSpPr>
            <a:spLocks noChangeShapeType="1"/>
          </p:cNvSpPr>
          <p:nvPr/>
        </p:nvSpPr>
        <p:spPr bwMode="auto">
          <a:xfrm flipV="1">
            <a:off x="7362825" y="2703514"/>
            <a:ext cx="439738"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52" name="Rectangle 49"/>
          <p:cNvSpPr>
            <a:spLocks noChangeArrowheads="1"/>
          </p:cNvSpPr>
          <p:nvPr/>
        </p:nvSpPr>
        <p:spPr bwMode="auto">
          <a:xfrm>
            <a:off x="8767764" y="4192588"/>
            <a:ext cx="1317625" cy="463550"/>
          </a:xfrm>
          <a:prstGeom prst="rect">
            <a:avLst/>
          </a:prstGeom>
          <a:solidFill>
            <a:srgbClr val="CCECFF"/>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latin typeface="DengXian" panose="02010600030101010101" pitchFamily="2" charset="-122"/>
              <a:ea typeface="DengXian" panose="02010600030101010101" pitchFamily="2" charset="-122"/>
            </a:endParaRPr>
          </a:p>
        </p:txBody>
      </p:sp>
      <p:sp>
        <p:nvSpPr>
          <p:cNvPr id="53" name="Line 50"/>
          <p:cNvSpPr>
            <a:spLocks noChangeShapeType="1"/>
          </p:cNvSpPr>
          <p:nvPr/>
        </p:nvSpPr>
        <p:spPr bwMode="auto">
          <a:xfrm>
            <a:off x="8943975"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54" name="Line 51"/>
          <p:cNvSpPr>
            <a:spLocks noChangeShapeType="1"/>
          </p:cNvSpPr>
          <p:nvPr/>
        </p:nvSpPr>
        <p:spPr bwMode="auto">
          <a:xfrm>
            <a:off x="9120188"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55" name="Line 52"/>
          <p:cNvSpPr>
            <a:spLocks noChangeShapeType="1"/>
          </p:cNvSpPr>
          <p:nvPr/>
        </p:nvSpPr>
        <p:spPr bwMode="auto">
          <a:xfrm>
            <a:off x="9296400"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56" name="Line 53"/>
          <p:cNvSpPr>
            <a:spLocks noChangeShapeType="1"/>
          </p:cNvSpPr>
          <p:nvPr/>
        </p:nvSpPr>
        <p:spPr bwMode="auto">
          <a:xfrm>
            <a:off x="9910763" y="4192588"/>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57" name="Rectangle 54"/>
          <p:cNvSpPr>
            <a:spLocks noChangeArrowheads="1"/>
          </p:cNvSpPr>
          <p:nvPr/>
        </p:nvSpPr>
        <p:spPr bwMode="auto">
          <a:xfrm>
            <a:off x="7891463" y="4192588"/>
            <a:ext cx="876300" cy="463550"/>
          </a:xfrm>
          <a:prstGeom prst="rect">
            <a:avLst/>
          </a:prstGeom>
          <a:solidFill>
            <a:srgbClr val="FFFF99"/>
          </a:solidFill>
          <a:ln w="9525">
            <a:solidFill>
              <a:schemeClr val="tx1"/>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a:latin typeface="DengXian" panose="02010600030101010101" pitchFamily="2" charset="-122"/>
              <a:ea typeface="DengXian" panose="02010600030101010101" pitchFamily="2" charset="-122"/>
            </a:endParaRPr>
          </a:p>
        </p:txBody>
      </p:sp>
      <p:sp>
        <p:nvSpPr>
          <p:cNvPr id="58" name="Line 55"/>
          <p:cNvSpPr>
            <a:spLocks noChangeShapeType="1"/>
          </p:cNvSpPr>
          <p:nvPr/>
        </p:nvSpPr>
        <p:spPr bwMode="auto">
          <a:xfrm flipH="1" flipV="1">
            <a:off x="9120188" y="2703514"/>
            <a:ext cx="965200"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59" name="Line 56"/>
          <p:cNvSpPr>
            <a:spLocks noChangeShapeType="1"/>
          </p:cNvSpPr>
          <p:nvPr/>
        </p:nvSpPr>
        <p:spPr bwMode="auto">
          <a:xfrm flipH="1" flipV="1">
            <a:off x="7802563" y="2703514"/>
            <a:ext cx="965200" cy="1489075"/>
          </a:xfrm>
          <a:prstGeom prst="line">
            <a:avLst/>
          </a:prstGeom>
          <a:noFill/>
          <a:ln w="9525">
            <a:solidFill>
              <a:schemeClr val="folHlink"/>
            </a:solidFill>
            <a:prstDash val="dash"/>
            <a:round/>
            <a:headEnd type="triangle" w="sm" len="me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60" name="Line 57"/>
          <p:cNvSpPr>
            <a:spLocks noChangeShapeType="1"/>
          </p:cNvSpPr>
          <p:nvPr/>
        </p:nvSpPr>
        <p:spPr bwMode="auto">
          <a:xfrm>
            <a:off x="4273551" y="2014538"/>
            <a:ext cx="4829175" cy="0"/>
          </a:xfrm>
          <a:prstGeom prst="line">
            <a:avLst/>
          </a:prstGeom>
          <a:noFill/>
          <a:ln w="9525">
            <a:solidFill>
              <a:schemeClr val="tx1"/>
            </a:solidFill>
            <a:round/>
            <a:headEnd type="triangle" w="sm" len="me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61" name="Text Box 58"/>
          <p:cNvSpPr txBox="1">
            <a:spLocks noChangeArrowheads="1"/>
          </p:cNvSpPr>
          <p:nvPr/>
        </p:nvSpPr>
        <p:spPr bwMode="auto">
          <a:xfrm>
            <a:off x="5170488" y="1808163"/>
            <a:ext cx="2502608"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数据部分共 </a:t>
            </a:r>
            <a:r>
              <a:rPr kumimoji="1" lang="en-US" altLang="zh-CN" sz="1800">
                <a:latin typeface="DengXian" panose="02010600030101010101" pitchFamily="2" charset="-122"/>
                <a:ea typeface="DengXian" panose="02010600030101010101" pitchFamily="2" charset="-122"/>
              </a:rPr>
              <a:t>3800 </a:t>
            </a:r>
            <a:r>
              <a:rPr kumimoji="1" lang="zh-CN" altLang="en-US" sz="1800">
                <a:latin typeface="DengXian" panose="02010600030101010101" pitchFamily="2" charset="-122"/>
                <a:ea typeface="DengXian" panose="02010600030101010101" pitchFamily="2" charset="-122"/>
              </a:rPr>
              <a:t>字节</a:t>
            </a:r>
          </a:p>
        </p:txBody>
      </p:sp>
      <p:sp>
        <p:nvSpPr>
          <p:cNvPr id="62" name="Text Box 59"/>
          <p:cNvSpPr txBox="1">
            <a:spLocks noChangeArrowheads="1"/>
          </p:cNvSpPr>
          <p:nvPr/>
        </p:nvSpPr>
        <p:spPr bwMode="auto">
          <a:xfrm>
            <a:off x="1657351" y="4192588"/>
            <a:ext cx="83067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首部 </a:t>
            </a:r>
            <a:r>
              <a:rPr kumimoji="1" lang="en-US" altLang="zh-CN" sz="1800">
                <a:latin typeface="DengXian" panose="02010600030101010101" pitchFamily="2" charset="-122"/>
                <a:ea typeface="DengXian" panose="02010600030101010101" pitchFamily="2" charset="-122"/>
              </a:rPr>
              <a:t>1</a:t>
            </a:r>
          </a:p>
        </p:txBody>
      </p:sp>
      <p:sp>
        <p:nvSpPr>
          <p:cNvPr id="63" name="Text Box 60"/>
          <p:cNvSpPr txBox="1">
            <a:spLocks noChangeArrowheads="1"/>
          </p:cNvSpPr>
          <p:nvPr/>
        </p:nvSpPr>
        <p:spPr bwMode="auto">
          <a:xfrm>
            <a:off x="4700589" y="4192588"/>
            <a:ext cx="856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首部 </a:t>
            </a:r>
            <a:r>
              <a:rPr kumimoji="1" lang="en-US" altLang="zh-CN" sz="1800">
                <a:latin typeface="DengXian" panose="02010600030101010101" pitchFamily="2" charset="-122"/>
                <a:ea typeface="DengXian" panose="02010600030101010101" pitchFamily="2" charset="-122"/>
              </a:rPr>
              <a:t>2</a:t>
            </a:r>
          </a:p>
        </p:txBody>
      </p:sp>
      <p:sp>
        <p:nvSpPr>
          <p:cNvPr id="64" name="Text Box 61"/>
          <p:cNvSpPr txBox="1">
            <a:spLocks noChangeArrowheads="1"/>
          </p:cNvSpPr>
          <p:nvPr/>
        </p:nvSpPr>
        <p:spPr bwMode="auto">
          <a:xfrm>
            <a:off x="7861301" y="4192588"/>
            <a:ext cx="856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首部 </a:t>
            </a:r>
            <a:r>
              <a:rPr kumimoji="1" lang="en-US" altLang="zh-CN" sz="1800">
                <a:latin typeface="DengXian" panose="02010600030101010101" pitchFamily="2" charset="-122"/>
                <a:ea typeface="DengXian" panose="02010600030101010101" pitchFamily="2" charset="-122"/>
              </a:rPr>
              <a:t>3</a:t>
            </a:r>
          </a:p>
        </p:txBody>
      </p:sp>
      <p:sp>
        <p:nvSpPr>
          <p:cNvPr id="65" name="Line 62"/>
          <p:cNvSpPr>
            <a:spLocks noChangeShapeType="1"/>
          </p:cNvSpPr>
          <p:nvPr/>
        </p:nvSpPr>
        <p:spPr bwMode="auto">
          <a:xfrm flipV="1">
            <a:off x="2617788" y="4656139"/>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66" name="Text Box 63"/>
          <p:cNvSpPr txBox="1">
            <a:spLocks noChangeArrowheads="1"/>
          </p:cNvSpPr>
          <p:nvPr/>
        </p:nvSpPr>
        <p:spPr bwMode="auto">
          <a:xfrm>
            <a:off x="1860551" y="4949825"/>
            <a:ext cx="8563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字节 </a:t>
            </a:r>
            <a:r>
              <a:rPr kumimoji="1" lang="en-US" altLang="zh-CN" sz="1800">
                <a:latin typeface="DengXian" panose="02010600030101010101" pitchFamily="2" charset="-122"/>
                <a:ea typeface="DengXian" panose="02010600030101010101" pitchFamily="2" charset="-122"/>
              </a:rPr>
              <a:t>0</a:t>
            </a:r>
          </a:p>
        </p:txBody>
      </p:sp>
      <p:sp>
        <p:nvSpPr>
          <p:cNvPr id="67" name="Text Box 64"/>
          <p:cNvSpPr txBox="1">
            <a:spLocks noChangeArrowheads="1"/>
          </p:cNvSpPr>
          <p:nvPr/>
        </p:nvSpPr>
        <p:spPr bwMode="auto">
          <a:xfrm>
            <a:off x="5372100" y="5391150"/>
            <a:ext cx="1317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dirty="0">
                <a:latin typeface="DengXian" panose="02010600030101010101" pitchFamily="2" charset="-122"/>
                <a:ea typeface="DengXian" panose="02010600030101010101" pitchFamily="2" charset="-122"/>
              </a:rPr>
              <a:t>数据包片 </a:t>
            </a:r>
            <a:r>
              <a:rPr kumimoji="1" lang="en-US" altLang="zh-CN" sz="1800" dirty="0">
                <a:latin typeface="DengXian" panose="02010600030101010101" pitchFamily="2" charset="-122"/>
                <a:ea typeface="DengXian" panose="02010600030101010101" pitchFamily="2" charset="-122"/>
              </a:rPr>
              <a:t>2</a:t>
            </a:r>
          </a:p>
        </p:txBody>
      </p:sp>
      <p:sp>
        <p:nvSpPr>
          <p:cNvPr id="68" name="Text Box 65"/>
          <p:cNvSpPr txBox="1">
            <a:spLocks noChangeArrowheads="1"/>
          </p:cNvSpPr>
          <p:nvPr/>
        </p:nvSpPr>
        <p:spPr bwMode="auto">
          <a:xfrm>
            <a:off x="8270875" y="5391150"/>
            <a:ext cx="13179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dirty="0">
                <a:latin typeface="DengXian" panose="02010600030101010101" pitchFamily="2" charset="-122"/>
                <a:ea typeface="DengXian" panose="02010600030101010101" pitchFamily="2" charset="-122"/>
              </a:rPr>
              <a:t>数据包片 </a:t>
            </a:r>
            <a:r>
              <a:rPr kumimoji="1" lang="en-US" altLang="zh-CN" sz="1800" dirty="0">
                <a:latin typeface="DengXian" panose="02010600030101010101" pitchFamily="2" charset="-122"/>
                <a:ea typeface="DengXian" panose="02010600030101010101" pitchFamily="2" charset="-122"/>
              </a:rPr>
              <a:t>3</a:t>
            </a:r>
          </a:p>
        </p:txBody>
      </p:sp>
      <p:sp>
        <p:nvSpPr>
          <p:cNvPr id="69" name="Line 66"/>
          <p:cNvSpPr>
            <a:spLocks noChangeShapeType="1"/>
          </p:cNvSpPr>
          <p:nvPr/>
        </p:nvSpPr>
        <p:spPr bwMode="auto">
          <a:xfrm flipV="1">
            <a:off x="6118225" y="2703514"/>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70" name="Text Box 67"/>
          <p:cNvSpPr txBox="1">
            <a:spLocks noChangeArrowheads="1"/>
          </p:cNvSpPr>
          <p:nvPr/>
        </p:nvSpPr>
        <p:spPr bwMode="auto">
          <a:xfrm>
            <a:off x="5730875" y="2976563"/>
            <a:ext cx="671979"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latin typeface="DengXian" panose="02010600030101010101" pitchFamily="2" charset="-122"/>
                <a:ea typeface="DengXian" panose="02010600030101010101" pitchFamily="2" charset="-122"/>
              </a:rPr>
              <a:t>1400</a:t>
            </a:r>
          </a:p>
        </p:txBody>
      </p:sp>
      <p:sp>
        <p:nvSpPr>
          <p:cNvPr id="71" name="Line 68"/>
          <p:cNvSpPr>
            <a:spLocks noChangeShapeType="1"/>
          </p:cNvSpPr>
          <p:nvPr/>
        </p:nvSpPr>
        <p:spPr bwMode="auto">
          <a:xfrm flipV="1">
            <a:off x="7875588" y="2703514"/>
            <a:ext cx="0" cy="369887"/>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72" name="Text Box 69"/>
          <p:cNvSpPr txBox="1">
            <a:spLocks noChangeArrowheads="1"/>
          </p:cNvSpPr>
          <p:nvPr/>
        </p:nvSpPr>
        <p:spPr bwMode="auto">
          <a:xfrm>
            <a:off x="7502526" y="2976563"/>
            <a:ext cx="671979"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en-US" altLang="zh-CN" sz="1800">
                <a:latin typeface="DengXian" panose="02010600030101010101" pitchFamily="2" charset="-122"/>
                <a:ea typeface="DengXian" panose="02010600030101010101" pitchFamily="2" charset="-122"/>
              </a:rPr>
              <a:t>2800</a:t>
            </a:r>
          </a:p>
        </p:txBody>
      </p:sp>
      <p:sp>
        <p:nvSpPr>
          <p:cNvPr id="73" name="Line 70"/>
          <p:cNvSpPr>
            <a:spLocks noChangeShapeType="1"/>
          </p:cNvSpPr>
          <p:nvPr/>
        </p:nvSpPr>
        <p:spPr bwMode="auto">
          <a:xfrm>
            <a:off x="7977188" y="22399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74" name="Line 71"/>
          <p:cNvSpPr>
            <a:spLocks noChangeShapeType="1"/>
          </p:cNvSpPr>
          <p:nvPr/>
        </p:nvSpPr>
        <p:spPr bwMode="auto">
          <a:xfrm>
            <a:off x="6223000" y="2239963"/>
            <a:ext cx="0" cy="4635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latin typeface="DengXian" panose="02010600030101010101" pitchFamily="2" charset="-122"/>
              <a:ea typeface="DengXian" panose="02010600030101010101" pitchFamily="2" charset="-122"/>
            </a:endParaRPr>
          </a:p>
        </p:txBody>
      </p:sp>
      <p:sp>
        <p:nvSpPr>
          <p:cNvPr id="75" name="Text Box 72"/>
          <p:cNvSpPr txBox="1">
            <a:spLocks noChangeArrowheads="1"/>
          </p:cNvSpPr>
          <p:nvPr/>
        </p:nvSpPr>
        <p:spPr bwMode="auto">
          <a:xfrm>
            <a:off x="3617914" y="2997200"/>
            <a:ext cx="856325" cy="36933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r>
              <a:rPr kumimoji="1" lang="zh-CN" altLang="en-US" sz="1800">
                <a:latin typeface="DengXian" panose="02010600030101010101" pitchFamily="2" charset="-122"/>
                <a:ea typeface="DengXian" panose="02010600030101010101" pitchFamily="2" charset="-122"/>
              </a:rPr>
              <a:t>字节 </a:t>
            </a:r>
            <a:r>
              <a:rPr kumimoji="1" lang="en-US" altLang="zh-CN" sz="1800">
                <a:latin typeface="DengXian" panose="02010600030101010101" pitchFamily="2" charset="-122"/>
                <a:ea typeface="DengXian" panose="02010600030101010101" pitchFamily="2" charset="-122"/>
              </a:rPr>
              <a:t>0</a:t>
            </a:r>
          </a:p>
        </p:txBody>
      </p:sp>
      <p:sp>
        <p:nvSpPr>
          <p:cNvPr id="76" name="TextBox 74"/>
          <p:cNvSpPr txBox="1"/>
          <p:nvPr/>
        </p:nvSpPr>
        <p:spPr>
          <a:xfrm>
            <a:off x="3200400" y="1676400"/>
            <a:ext cx="1220206" cy="369332"/>
          </a:xfrm>
          <a:prstGeom prst="rect">
            <a:avLst/>
          </a:prstGeom>
          <a:solidFill>
            <a:srgbClr val="FFC000"/>
          </a:solidFill>
        </p:spPr>
        <p:txBody>
          <a:bodyPr wrap="none">
            <a:spAutoFit/>
          </a:bodyPr>
          <a:lstStyle/>
          <a:p>
            <a:pPr>
              <a:defRPr/>
            </a:pPr>
            <a:r>
              <a:rPr lang="en-US" altLang="zh-CN" b="1" dirty="0">
                <a:latin typeface="DengXian" panose="02010600030101010101" pitchFamily="2" charset="-122"/>
                <a:ea typeface="DengXian" panose="02010600030101010101" pitchFamily="2" charset="-122"/>
                <a:cs typeface="楷体_GB2312"/>
              </a:rPr>
              <a:t>DF</a:t>
            </a:r>
            <a:r>
              <a:rPr lang="zh-CN" altLang="en-US" b="1" dirty="0">
                <a:latin typeface="DengXian" panose="02010600030101010101" pitchFamily="2" charset="-122"/>
                <a:ea typeface="DengXian" panose="02010600030101010101" pitchFamily="2" charset="-122"/>
                <a:cs typeface="楷体_GB2312"/>
              </a:rPr>
              <a:t>标志</a:t>
            </a:r>
            <a:r>
              <a:rPr lang="en-US" altLang="zh-CN" b="1" dirty="0">
                <a:latin typeface="DengXian" panose="02010600030101010101" pitchFamily="2" charset="-122"/>
                <a:ea typeface="DengXian" panose="02010600030101010101" pitchFamily="2" charset="-122"/>
                <a:cs typeface="楷体_GB2312"/>
              </a:rPr>
              <a:t>=0</a:t>
            </a:r>
            <a:endParaRPr lang="zh-CN" altLang="en-US" b="1" dirty="0">
              <a:latin typeface="DengXian" panose="02010600030101010101" pitchFamily="2" charset="-122"/>
              <a:ea typeface="DengXian" panose="02010600030101010101" pitchFamily="2" charset="-122"/>
              <a:cs typeface="楷体_GB2312"/>
            </a:endParaRPr>
          </a:p>
        </p:txBody>
      </p:sp>
      <p:sp>
        <p:nvSpPr>
          <p:cNvPr id="77" name="TextBox 75"/>
          <p:cNvSpPr txBox="1"/>
          <p:nvPr/>
        </p:nvSpPr>
        <p:spPr>
          <a:xfrm>
            <a:off x="1752600" y="3733800"/>
            <a:ext cx="1263487" cy="369332"/>
          </a:xfrm>
          <a:prstGeom prst="rect">
            <a:avLst/>
          </a:prstGeom>
          <a:solidFill>
            <a:srgbClr val="92D050"/>
          </a:solidFill>
        </p:spPr>
        <p:txBody>
          <a:bodyPr wrap="none">
            <a:spAutoFit/>
          </a:bodyPr>
          <a:lstStyle/>
          <a:p>
            <a:pPr>
              <a:defRPr/>
            </a:pPr>
            <a:r>
              <a:rPr lang="en-US" altLang="zh-CN" b="1" dirty="0">
                <a:latin typeface="DengXian" panose="02010600030101010101" pitchFamily="2" charset="-122"/>
                <a:ea typeface="DengXian" panose="02010600030101010101" pitchFamily="2" charset="-122"/>
                <a:cs typeface="楷体_GB2312"/>
              </a:rPr>
              <a:t>MF</a:t>
            </a:r>
            <a:r>
              <a:rPr lang="zh-CN" altLang="en-US" b="1" dirty="0">
                <a:latin typeface="DengXian" panose="02010600030101010101" pitchFamily="2" charset="-122"/>
                <a:ea typeface="DengXian" panose="02010600030101010101" pitchFamily="2" charset="-122"/>
                <a:cs typeface="楷体_GB2312"/>
              </a:rPr>
              <a:t>标志</a:t>
            </a:r>
            <a:r>
              <a:rPr lang="en-US" altLang="zh-CN" b="1" dirty="0">
                <a:latin typeface="DengXian" panose="02010600030101010101" pitchFamily="2" charset="-122"/>
                <a:ea typeface="DengXian" panose="02010600030101010101" pitchFamily="2" charset="-122"/>
                <a:cs typeface="楷体_GB2312"/>
              </a:rPr>
              <a:t>=1</a:t>
            </a:r>
            <a:endParaRPr lang="zh-CN" altLang="en-US" b="1" dirty="0">
              <a:latin typeface="DengXian" panose="02010600030101010101" pitchFamily="2" charset="-122"/>
              <a:ea typeface="DengXian" panose="02010600030101010101" pitchFamily="2" charset="-122"/>
              <a:cs typeface="楷体_GB2312"/>
            </a:endParaRPr>
          </a:p>
        </p:txBody>
      </p:sp>
      <p:sp>
        <p:nvSpPr>
          <p:cNvPr id="78" name="TextBox 76"/>
          <p:cNvSpPr txBox="1"/>
          <p:nvPr/>
        </p:nvSpPr>
        <p:spPr>
          <a:xfrm>
            <a:off x="4648200" y="3733800"/>
            <a:ext cx="1263487" cy="369332"/>
          </a:xfrm>
          <a:prstGeom prst="rect">
            <a:avLst/>
          </a:prstGeom>
          <a:solidFill>
            <a:srgbClr val="92D050"/>
          </a:solidFill>
        </p:spPr>
        <p:txBody>
          <a:bodyPr wrap="none">
            <a:spAutoFit/>
          </a:bodyPr>
          <a:lstStyle/>
          <a:p>
            <a:pPr>
              <a:defRPr/>
            </a:pPr>
            <a:r>
              <a:rPr lang="en-US" altLang="zh-CN" b="1" dirty="0">
                <a:latin typeface="DengXian" panose="02010600030101010101" pitchFamily="2" charset="-122"/>
                <a:ea typeface="DengXian" panose="02010600030101010101" pitchFamily="2" charset="-122"/>
                <a:cs typeface="楷体_GB2312"/>
              </a:rPr>
              <a:t>MF</a:t>
            </a:r>
            <a:r>
              <a:rPr lang="zh-CN" altLang="en-US" b="1" dirty="0">
                <a:latin typeface="DengXian" panose="02010600030101010101" pitchFamily="2" charset="-122"/>
                <a:ea typeface="DengXian" panose="02010600030101010101" pitchFamily="2" charset="-122"/>
                <a:cs typeface="楷体_GB2312"/>
              </a:rPr>
              <a:t>标志</a:t>
            </a:r>
            <a:r>
              <a:rPr lang="en-US" altLang="zh-CN" b="1" dirty="0">
                <a:latin typeface="DengXian" panose="02010600030101010101" pitchFamily="2" charset="-122"/>
                <a:ea typeface="DengXian" panose="02010600030101010101" pitchFamily="2" charset="-122"/>
                <a:cs typeface="楷体_GB2312"/>
              </a:rPr>
              <a:t>=1</a:t>
            </a:r>
            <a:endParaRPr lang="zh-CN" altLang="en-US" b="1" dirty="0">
              <a:latin typeface="DengXian" panose="02010600030101010101" pitchFamily="2" charset="-122"/>
              <a:ea typeface="DengXian" panose="02010600030101010101" pitchFamily="2" charset="-122"/>
              <a:cs typeface="楷体_GB2312"/>
            </a:endParaRPr>
          </a:p>
        </p:txBody>
      </p:sp>
      <p:sp>
        <p:nvSpPr>
          <p:cNvPr id="79" name="TextBox 77"/>
          <p:cNvSpPr txBox="1"/>
          <p:nvPr/>
        </p:nvSpPr>
        <p:spPr>
          <a:xfrm>
            <a:off x="7696200" y="3733800"/>
            <a:ext cx="1263487" cy="369332"/>
          </a:xfrm>
          <a:prstGeom prst="rect">
            <a:avLst/>
          </a:prstGeom>
          <a:solidFill>
            <a:srgbClr val="92D050"/>
          </a:solidFill>
        </p:spPr>
        <p:txBody>
          <a:bodyPr wrap="none">
            <a:spAutoFit/>
          </a:bodyPr>
          <a:lstStyle/>
          <a:p>
            <a:pPr>
              <a:defRPr/>
            </a:pPr>
            <a:r>
              <a:rPr lang="en-US" altLang="zh-CN" b="1" dirty="0">
                <a:latin typeface="DengXian" panose="02010600030101010101" pitchFamily="2" charset="-122"/>
                <a:ea typeface="DengXian" panose="02010600030101010101" pitchFamily="2" charset="-122"/>
                <a:cs typeface="楷体_GB2312"/>
              </a:rPr>
              <a:t>MF</a:t>
            </a:r>
            <a:r>
              <a:rPr lang="zh-CN" altLang="en-US" b="1" dirty="0">
                <a:latin typeface="DengXian" panose="02010600030101010101" pitchFamily="2" charset="-122"/>
                <a:ea typeface="DengXian" panose="02010600030101010101" pitchFamily="2" charset="-122"/>
                <a:cs typeface="楷体_GB2312"/>
              </a:rPr>
              <a:t>标志</a:t>
            </a:r>
            <a:r>
              <a:rPr lang="en-US" altLang="zh-CN" b="1" dirty="0">
                <a:latin typeface="DengXian" panose="02010600030101010101" pitchFamily="2" charset="-122"/>
                <a:ea typeface="DengXian" panose="02010600030101010101" pitchFamily="2" charset="-122"/>
                <a:cs typeface="楷体_GB2312"/>
              </a:rPr>
              <a:t>=0</a:t>
            </a:r>
            <a:endParaRPr lang="zh-CN" altLang="en-US" b="1" dirty="0">
              <a:latin typeface="DengXian" panose="02010600030101010101" pitchFamily="2" charset="-122"/>
              <a:ea typeface="DengXian" panose="02010600030101010101" pitchFamily="2" charset="-122"/>
              <a:cs typeface="楷体_GB2312"/>
            </a:endParaRPr>
          </a:p>
        </p:txBody>
      </p:sp>
      <p:sp>
        <p:nvSpPr>
          <p:cNvPr id="80" name="TextBox 78"/>
          <p:cNvSpPr txBox="1"/>
          <p:nvPr/>
        </p:nvSpPr>
        <p:spPr>
          <a:xfrm>
            <a:off x="3411538" y="6279079"/>
            <a:ext cx="5798382" cy="369332"/>
          </a:xfrm>
          <a:prstGeom prst="rect">
            <a:avLst/>
          </a:prstGeom>
          <a:solidFill>
            <a:srgbClr val="0000FF"/>
          </a:solidFill>
        </p:spPr>
        <p:txBody>
          <a:bodyPr wrap="none">
            <a:spAutoFit/>
          </a:bodyPr>
          <a:lstStyle/>
          <a:p>
            <a:pPr algn="ctr">
              <a:defRPr/>
            </a:pPr>
            <a:r>
              <a:rPr lang="zh-CN" altLang="en-US" b="1" dirty="0">
                <a:solidFill>
                  <a:schemeClr val="bg1"/>
                </a:solidFill>
                <a:latin typeface="DengXian" panose="02010600030101010101" pitchFamily="2" charset="-122"/>
                <a:ea typeface="DengXian" panose="02010600030101010101" pitchFamily="2" charset="-122"/>
                <a:cs typeface="楷体_GB2312"/>
              </a:rPr>
              <a:t>原始报文和分片报文具有相同的</a:t>
            </a:r>
            <a:r>
              <a:rPr lang="en-US" altLang="zh-CN" b="1" dirty="0">
                <a:solidFill>
                  <a:schemeClr val="bg1"/>
                </a:solidFill>
                <a:latin typeface="DengXian" panose="02010600030101010101" pitchFamily="2" charset="-122"/>
                <a:ea typeface="DengXian" panose="02010600030101010101" pitchFamily="2" charset="-122"/>
                <a:cs typeface="楷体_GB2312"/>
              </a:rPr>
              <a:t>IP</a:t>
            </a:r>
            <a:r>
              <a:rPr lang="zh-CN" altLang="en-US" b="1" dirty="0">
                <a:solidFill>
                  <a:schemeClr val="bg1"/>
                </a:solidFill>
                <a:latin typeface="DengXian" panose="02010600030101010101" pitchFamily="2" charset="-122"/>
                <a:ea typeface="DengXian" panose="02010600030101010101" pitchFamily="2" charset="-122"/>
                <a:cs typeface="楷体_GB2312"/>
              </a:rPr>
              <a:t>标识（</a:t>
            </a:r>
            <a:r>
              <a:rPr lang="en-US" altLang="zh-CN" b="1" dirty="0">
                <a:solidFill>
                  <a:schemeClr val="bg1"/>
                </a:solidFill>
                <a:latin typeface="DengXian" panose="02010600030101010101" pitchFamily="2" charset="-122"/>
                <a:ea typeface="DengXian" panose="02010600030101010101" pitchFamily="2" charset="-122"/>
                <a:cs typeface="楷体_GB2312"/>
              </a:rPr>
              <a:t>IP</a:t>
            </a:r>
            <a:r>
              <a:rPr lang="zh-CN" altLang="en-US" b="1" dirty="0">
                <a:solidFill>
                  <a:schemeClr val="bg1"/>
                </a:solidFill>
                <a:latin typeface="DengXian" panose="02010600030101010101" pitchFamily="2" charset="-122"/>
                <a:ea typeface="DengXian" panose="02010600030101010101" pitchFamily="2" charset="-122"/>
                <a:cs typeface="楷体_GB2312"/>
              </a:rPr>
              <a:t>头部字段）</a:t>
            </a:r>
          </a:p>
        </p:txBody>
      </p:sp>
      <p:sp>
        <p:nvSpPr>
          <p:cNvPr id="3" name="日期占位符 2"/>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5.2.1 IPv4</a:t>
            </a:r>
            <a:r>
              <a:rPr kumimoji="1" lang="zh-CN" altLang="en-US" dirty="0">
                <a:latin typeface="DengXian" panose="02010600030101010101" pitchFamily="2" charset="-122"/>
                <a:ea typeface="DengXian" panose="02010600030101010101" pitchFamily="2" charset="-122"/>
              </a:rPr>
              <a:t>协议</a:t>
            </a:r>
          </a:p>
        </p:txBody>
      </p:sp>
      <p:sp>
        <p:nvSpPr>
          <p:cNvPr id="5" name="TextBox 4">
            <a:extLst>
              <a:ext uri="{FF2B5EF4-FFF2-40B4-BE49-F238E27FC236}">
                <a16:creationId xmlns:a16="http://schemas.microsoft.com/office/drawing/2014/main" id="{FC8A5A03-6074-854F-AF13-61BE930A75BF}"/>
              </a:ext>
            </a:extLst>
          </p:cNvPr>
          <p:cNvSpPr txBox="1"/>
          <p:nvPr/>
        </p:nvSpPr>
        <p:spPr>
          <a:xfrm>
            <a:off x="62775" y="2848429"/>
            <a:ext cx="2310539" cy="646331"/>
          </a:xfrm>
          <a:prstGeom prst="rect">
            <a:avLst/>
          </a:prstGeom>
          <a:noFill/>
        </p:spPr>
        <p:txBody>
          <a:bodyPr wrap="square" rtlCol="0">
            <a:spAutoFit/>
          </a:bodyPr>
          <a:lstStyle/>
          <a:p>
            <a:r>
              <a:rPr lang="en-US" altLang="zh-CN" dirty="0">
                <a:latin typeface="DengXian" panose="02010600030101010101" pitchFamily="2" charset="-122"/>
                <a:ea typeface="DengXian" panose="02010600030101010101" pitchFamily="2" charset="-122"/>
              </a:rPr>
              <a:t>DF:</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Do</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not</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fragment</a:t>
            </a:r>
          </a:p>
          <a:p>
            <a:r>
              <a:rPr lang="en-US" altLang="zh-CN" dirty="0">
                <a:latin typeface="DengXian" panose="02010600030101010101" pitchFamily="2" charset="-122"/>
                <a:ea typeface="DengXian" panose="02010600030101010101" pitchFamily="2" charset="-122"/>
              </a:rPr>
              <a:t>MF:</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More</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fragment</a:t>
            </a:r>
            <a:endParaRPr lang="en-CN"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696259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blinds(horizontal)">
                                      <p:cBhvr>
                                        <p:cTn id="7" dur="500"/>
                                        <p:tgtEl>
                                          <p:spTgt spid="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7"/>
                                        </p:tgtEl>
                                        <p:attrNameLst>
                                          <p:attrName>style.visibility</p:attrName>
                                        </p:attrNameLst>
                                      </p:cBhvr>
                                      <p:to>
                                        <p:strVal val="visible"/>
                                      </p:to>
                                    </p:set>
                                    <p:animEffect transition="in" filter="blinds(horizontal)">
                                      <p:cBhvr>
                                        <p:cTn id="12" dur="500"/>
                                        <p:tgtEl>
                                          <p:spTgt spid="77"/>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8"/>
                                        </p:tgtEl>
                                        <p:attrNameLst>
                                          <p:attrName>style.visibility</p:attrName>
                                        </p:attrNameLst>
                                      </p:cBhvr>
                                      <p:to>
                                        <p:strVal val="visible"/>
                                      </p:to>
                                    </p:set>
                                    <p:animEffect transition="in" filter="blinds(horizontal)">
                                      <p:cBhvr>
                                        <p:cTn id="17" dur="500"/>
                                        <p:tgtEl>
                                          <p:spTgt spid="7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blinds(horizontal)">
                                      <p:cBhvr>
                                        <p:cTn id="22" dur="500"/>
                                        <p:tgtEl>
                                          <p:spTgt spid="7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0"/>
                                        </p:tgtEl>
                                        <p:attrNameLst>
                                          <p:attrName>style.visibility</p:attrName>
                                        </p:attrNameLst>
                                      </p:cBhvr>
                                      <p:to>
                                        <p:strVal val="visible"/>
                                      </p:to>
                                    </p:set>
                                    <p:animEffect transition="in" filter="blinds(horizontal)">
                                      <p:cBhvr>
                                        <p:cTn id="27"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7" grpId="0" animBg="1"/>
      <p:bldP spid="78" grpId="0" animBg="1"/>
      <p:bldP spid="79" grpId="0" animBg="1"/>
      <p:bldP spid="8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数据包分片</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935665" y="3717673"/>
            <a:ext cx="9941442" cy="2954192"/>
          </a:xfrm>
        </p:spPr>
        <p:txBody>
          <a:bodyPr>
            <a:normAutofit/>
          </a:bodyPr>
          <a:lstStyle/>
          <a:p>
            <a:r>
              <a:rPr lang="en-US" altLang="zh-CN" sz="2400" dirty="0"/>
              <a:t>IPv4</a:t>
            </a:r>
            <a:r>
              <a:rPr lang="zh-CN" altLang="en-US" sz="2400" dirty="0"/>
              <a:t>数据包在传输途中可以多次分片</a:t>
            </a:r>
            <a:endParaRPr lang="en-US" altLang="zh-CN" sz="2400" dirty="0"/>
          </a:p>
          <a:p>
            <a:pPr lvl="1"/>
            <a:r>
              <a:rPr lang="zh-CN" altLang="en-US" sz="2000" dirty="0"/>
              <a:t>源端系统，中间路由器（可通过标志位设定是否允许路由器分片）</a:t>
            </a:r>
          </a:p>
          <a:p>
            <a:r>
              <a:rPr lang="en-US" altLang="zh-CN" sz="2400" dirty="0"/>
              <a:t>IPv4</a:t>
            </a:r>
            <a:r>
              <a:rPr lang="zh-CN" altLang="en-US" sz="2400" dirty="0"/>
              <a:t>分片只在目的</a:t>
            </a:r>
            <a:r>
              <a:rPr lang="en-US" altLang="zh-CN" sz="2400" dirty="0"/>
              <a:t>IP</a:t>
            </a:r>
            <a:r>
              <a:rPr lang="zh-CN" altLang="en-US" sz="2400" dirty="0"/>
              <a:t>对应的目的端系统进行重组</a:t>
            </a:r>
            <a:endParaRPr lang="en-US" altLang="zh-CN" sz="2400" dirty="0"/>
          </a:p>
          <a:p>
            <a:r>
              <a:rPr lang="en-US" altLang="zh-CN" sz="2400" dirty="0"/>
              <a:t>IPv4</a:t>
            </a:r>
            <a:r>
              <a:rPr lang="zh-CN" altLang="en-US" sz="2400" dirty="0"/>
              <a:t>分片、重组字段在基本</a:t>
            </a:r>
            <a:r>
              <a:rPr lang="en-US" altLang="zh-CN" sz="2400" dirty="0"/>
              <a:t>IP</a:t>
            </a:r>
            <a:r>
              <a:rPr lang="zh-CN" altLang="en-US" sz="2400" dirty="0"/>
              <a:t>头部</a:t>
            </a:r>
            <a:endParaRPr lang="en-US" altLang="zh-CN" sz="2400" dirty="0"/>
          </a:p>
          <a:p>
            <a:pPr lvl="1"/>
            <a:r>
              <a:rPr lang="zh-CN" altLang="en-US" sz="2000" dirty="0"/>
              <a:t>标识、标志、片偏移</a:t>
            </a:r>
            <a:endParaRPr lang="en-US" altLang="zh-CN" sz="2000" dirty="0"/>
          </a:p>
        </p:txBody>
      </p:sp>
      <p:sp>
        <p:nvSpPr>
          <p:cNvPr id="4" name="灯片编号占位符 3">
            <a:extLst>
              <a:ext uri="{FF2B5EF4-FFF2-40B4-BE49-F238E27FC236}">
                <a16:creationId xmlns:a16="http://schemas.microsoft.com/office/drawing/2014/main" id="{E852B801-B608-C343-9A93-C7F2EAAC62BE}"/>
              </a:ext>
            </a:extLst>
          </p:cNvPr>
          <p:cNvSpPr>
            <a:spLocks noGrp="1"/>
          </p:cNvSpPr>
          <p:nvPr>
            <p:ph type="sldNum" sz="quarter" idx="12"/>
          </p:nvPr>
        </p:nvSpPr>
        <p:spPr/>
        <p:txBody>
          <a:bodyPr/>
          <a:lstStyle/>
          <a:p>
            <a:fld id="{8D4D1E41-7A09-AB4A-A4E1-09765ADA2698}" type="slidenum">
              <a:rPr kumimoji="1" lang="zh-CN" altLang="en-US" smtClean="0"/>
              <a:pPr/>
              <a:t>21</a:t>
            </a:fld>
            <a:endParaRPr kumimoji="1" lang="zh-CN" altLang="en-US" dirty="0"/>
          </a:p>
        </p:txBody>
      </p:sp>
      <p:graphicFrame>
        <p:nvGraphicFramePr>
          <p:cNvPr id="5" name="Object 6"/>
          <p:cNvGraphicFramePr>
            <a:graphicFrameLocks noChangeAspect="1"/>
          </p:cNvGraphicFramePr>
          <p:nvPr>
            <p:extLst>
              <p:ext uri="{D42A27DB-BD31-4B8C-83A1-F6EECF244321}">
                <p14:modId xmlns:p14="http://schemas.microsoft.com/office/powerpoint/2010/main" val="3973610968"/>
              </p:ext>
            </p:extLst>
          </p:nvPr>
        </p:nvGraphicFramePr>
        <p:xfrm>
          <a:off x="1427163" y="2203450"/>
          <a:ext cx="8756650" cy="1177925"/>
        </p:xfrm>
        <a:graphic>
          <a:graphicData uri="http://schemas.openxmlformats.org/presentationml/2006/ole">
            <mc:AlternateContent xmlns:mc="http://schemas.openxmlformats.org/markup-compatibility/2006">
              <mc:Choice xmlns:v="urn:schemas-microsoft-com:vml" Requires="v">
                <p:oleObj name="Visio" r:id="rId2" imgW="4851417" imgH="641350" progId="">
                  <p:embed/>
                </p:oleObj>
              </mc:Choice>
              <mc:Fallback>
                <p:oleObj name="Visio" r:id="rId2" imgW="4851417" imgH="641350" progId="">
                  <p:embed/>
                  <p:pic>
                    <p:nvPicPr>
                      <p:cNvPr id="5"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7163" y="2203450"/>
                        <a:ext cx="8756650" cy="1177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2402371585"/>
              </p:ext>
            </p:extLst>
          </p:nvPr>
        </p:nvGraphicFramePr>
        <p:xfrm>
          <a:off x="2424114" y="1803433"/>
          <a:ext cx="820737" cy="400050"/>
        </p:xfrm>
        <a:graphic>
          <a:graphicData uri="http://schemas.openxmlformats.org/presentationml/2006/ole">
            <mc:AlternateContent xmlns:mc="http://schemas.openxmlformats.org/markup-compatibility/2006">
              <mc:Choice xmlns:v="urn:schemas-microsoft-com:vml" Requires="v">
                <p:oleObj name="Visio" r:id="rId4" imgW="472575" imgH="229573" progId="Visio.Drawing.11">
                  <p:link updateAutomatic="1"/>
                </p:oleObj>
              </mc:Choice>
              <mc:Fallback>
                <p:oleObj name="Visio" r:id="rId4" imgW="472575" imgH="229573" progId="Visio.Drawing.11">
                  <p:link updateAutomatic="1"/>
                  <p:pic>
                    <p:nvPicPr>
                      <p:cNvPr id="6"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24114" y="1803433"/>
                        <a:ext cx="820737"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7A5C"/>
                              </a:outerShdw>
                            </a:effectLst>
                          </a14:hiddenEffects>
                        </a:ext>
                      </a:extLst>
                    </p:spPr>
                  </p:pic>
                </p:oleObj>
              </mc:Fallback>
            </mc:AlternateContent>
          </a:graphicData>
        </a:graphic>
      </p:graphicFrame>
      <p:graphicFrame>
        <p:nvGraphicFramePr>
          <p:cNvPr id="7" name="Object 8"/>
          <p:cNvGraphicFramePr>
            <a:graphicFrameLocks noChangeAspect="1"/>
          </p:cNvGraphicFramePr>
          <p:nvPr>
            <p:extLst>
              <p:ext uri="{D42A27DB-BD31-4B8C-83A1-F6EECF244321}">
                <p14:modId xmlns:p14="http://schemas.microsoft.com/office/powerpoint/2010/main" val="3333322148"/>
              </p:ext>
            </p:extLst>
          </p:nvPr>
        </p:nvGraphicFramePr>
        <p:xfrm>
          <a:off x="4002089" y="1789147"/>
          <a:ext cx="898525" cy="414337"/>
        </p:xfrm>
        <a:graphic>
          <a:graphicData uri="http://schemas.openxmlformats.org/presentationml/2006/ole">
            <mc:AlternateContent xmlns:mc="http://schemas.openxmlformats.org/markup-compatibility/2006">
              <mc:Choice xmlns:v="urn:schemas-microsoft-com:vml" Requires="v">
                <p:oleObj name="Visio" r:id="rId4" imgW="499548" imgH="229573" progId="Visio.Drawing.11">
                  <p:link updateAutomatic="1"/>
                </p:oleObj>
              </mc:Choice>
              <mc:Fallback>
                <p:oleObj name="Visio" r:id="rId4" imgW="499548" imgH="229573" progId="Visio.Drawing.11">
                  <p:link updateAutomatic="1"/>
                  <p:pic>
                    <p:nvPicPr>
                      <p:cNvPr id="7"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2089" y="1789147"/>
                        <a:ext cx="898525"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7A5C"/>
                              </a:outerShdw>
                            </a:effectLst>
                          </a14:hiddenEffects>
                        </a:ext>
                      </a:extLst>
                    </p:spPr>
                  </p:pic>
                </p:oleObj>
              </mc:Fallback>
            </mc:AlternateContent>
          </a:graphicData>
        </a:graphic>
      </p:graphicFrame>
      <p:graphicFrame>
        <p:nvGraphicFramePr>
          <p:cNvPr id="8" name="Object 9"/>
          <p:cNvGraphicFramePr>
            <a:graphicFrameLocks noChangeAspect="1"/>
          </p:cNvGraphicFramePr>
          <p:nvPr>
            <p:extLst>
              <p:ext uri="{D42A27DB-BD31-4B8C-83A1-F6EECF244321}">
                <p14:modId xmlns:p14="http://schemas.microsoft.com/office/powerpoint/2010/main" val="2247047156"/>
              </p:ext>
            </p:extLst>
          </p:nvPr>
        </p:nvGraphicFramePr>
        <p:xfrm>
          <a:off x="5595939" y="1789147"/>
          <a:ext cx="898525" cy="414337"/>
        </p:xfrm>
        <a:graphic>
          <a:graphicData uri="http://schemas.openxmlformats.org/presentationml/2006/ole">
            <mc:AlternateContent xmlns:mc="http://schemas.openxmlformats.org/markup-compatibility/2006">
              <mc:Choice xmlns:v="urn:schemas-microsoft-com:vml" Requires="v">
                <p:oleObj name="Visio" r:id="rId4" imgW="499548" imgH="229573" progId="Visio.Drawing.11">
                  <p:link updateAutomatic="1"/>
                </p:oleObj>
              </mc:Choice>
              <mc:Fallback>
                <p:oleObj name="Visio" r:id="rId4" imgW="499548" imgH="229573" progId="Visio.Drawing.11">
                  <p:link updateAutomatic="1"/>
                  <p:pic>
                    <p:nvPicPr>
                      <p:cNvPr id="8"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5939" y="1789147"/>
                        <a:ext cx="898525" cy="414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7A5C"/>
                              </a:outerShdw>
                            </a:effectLst>
                          </a14:hiddenEffects>
                        </a:ext>
                      </a:extLst>
                    </p:spPr>
                  </p:pic>
                </p:oleObj>
              </mc:Fallback>
            </mc:AlternateContent>
          </a:graphicData>
        </a:graphic>
      </p:graphicFrame>
      <p:graphicFrame>
        <p:nvGraphicFramePr>
          <p:cNvPr id="9" name="Object 10"/>
          <p:cNvGraphicFramePr>
            <a:graphicFrameLocks noChangeAspect="1"/>
          </p:cNvGraphicFramePr>
          <p:nvPr>
            <p:extLst>
              <p:ext uri="{D42A27DB-BD31-4B8C-83A1-F6EECF244321}">
                <p14:modId xmlns:p14="http://schemas.microsoft.com/office/powerpoint/2010/main" val="1067101512"/>
              </p:ext>
            </p:extLst>
          </p:nvPr>
        </p:nvGraphicFramePr>
        <p:xfrm>
          <a:off x="3946525" y="2800384"/>
          <a:ext cx="889000" cy="409575"/>
        </p:xfrm>
        <a:graphic>
          <a:graphicData uri="http://schemas.openxmlformats.org/presentationml/2006/ole">
            <mc:AlternateContent xmlns:mc="http://schemas.openxmlformats.org/markup-compatibility/2006">
              <mc:Choice xmlns:v="urn:schemas-microsoft-com:vml" Requires="v">
                <p:oleObj name="Visio" r:id="rId4" imgW="499548" imgH="229573" progId="Visio.Drawing.11">
                  <p:link updateAutomatic="1"/>
                </p:oleObj>
              </mc:Choice>
              <mc:Fallback>
                <p:oleObj name="Visio" r:id="rId4" imgW="499548" imgH="229573" progId="Visio.Drawing.11">
                  <p:link updateAutomatic="1"/>
                  <p:pic>
                    <p:nvPicPr>
                      <p:cNvPr id="9"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46525" y="2800384"/>
                        <a:ext cx="8890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7A5C"/>
                              </a:outerShdw>
                            </a:effectLst>
                          </a14:hiddenEffects>
                        </a:ext>
                      </a:extLst>
                    </p:spPr>
                  </p:pic>
                </p:oleObj>
              </mc:Fallback>
            </mc:AlternateContent>
          </a:graphicData>
        </a:graphic>
      </p:graphicFrame>
      <p:graphicFrame>
        <p:nvGraphicFramePr>
          <p:cNvPr id="10" name="Object 11"/>
          <p:cNvGraphicFramePr>
            <a:graphicFrameLocks noChangeAspect="1"/>
          </p:cNvGraphicFramePr>
          <p:nvPr>
            <p:extLst>
              <p:ext uri="{D42A27DB-BD31-4B8C-83A1-F6EECF244321}">
                <p14:modId xmlns:p14="http://schemas.microsoft.com/office/powerpoint/2010/main" val="434346756"/>
              </p:ext>
            </p:extLst>
          </p:nvPr>
        </p:nvGraphicFramePr>
        <p:xfrm>
          <a:off x="5583238" y="2814672"/>
          <a:ext cx="887412" cy="409575"/>
        </p:xfrm>
        <a:graphic>
          <a:graphicData uri="http://schemas.openxmlformats.org/presentationml/2006/ole">
            <mc:AlternateContent xmlns:mc="http://schemas.openxmlformats.org/markup-compatibility/2006">
              <mc:Choice xmlns:v="urn:schemas-microsoft-com:vml" Requires="v">
                <p:oleObj name="Visio" r:id="rId4" imgW="499548" imgH="229573" progId="Visio.Drawing.11">
                  <p:link updateAutomatic="1"/>
                </p:oleObj>
              </mc:Choice>
              <mc:Fallback>
                <p:oleObj name="Visio" r:id="rId4" imgW="499548" imgH="229573" progId="Visio.Drawing.11">
                  <p:link updateAutomatic="1"/>
                  <p:pic>
                    <p:nvPicPr>
                      <p:cNvPr id="1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3238" y="2814672"/>
                        <a:ext cx="887412"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7A5C"/>
                              </a:outerShdw>
                            </a:effectLst>
                          </a14:hiddenEffects>
                        </a:ext>
                      </a:extLst>
                    </p:spPr>
                  </p:pic>
                </p:oleObj>
              </mc:Fallback>
            </mc:AlternateContent>
          </a:graphicData>
        </a:graphic>
      </p:graphicFrame>
      <p:pic>
        <p:nvPicPr>
          <p:cNvPr id="11"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85038" y="1805021"/>
            <a:ext cx="1858962"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2" name="Object 13"/>
          <p:cNvGraphicFramePr>
            <a:graphicFrameLocks noChangeAspect="1"/>
          </p:cNvGraphicFramePr>
          <p:nvPr>
            <p:extLst>
              <p:ext uri="{D42A27DB-BD31-4B8C-83A1-F6EECF244321}">
                <p14:modId xmlns:p14="http://schemas.microsoft.com/office/powerpoint/2010/main" val="2545235522"/>
              </p:ext>
            </p:extLst>
          </p:nvPr>
        </p:nvGraphicFramePr>
        <p:xfrm>
          <a:off x="7688263" y="2801972"/>
          <a:ext cx="887412" cy="409575"/>
        </p:xfrm>
        <a:graphic>
          <a:graphicData uri="http://schemas.openxmlformats.org/presentationml/2006/ole">
            <mc:AlternateContent xmlns:mc="http://schemas.openxmlformats.org/markup-compatibility/2006">
              <mc:Choice xmlns:v="urn:schemas-microsoft-com:vml" Requires="v">
                <p:oleObj name="Visio" r:id="rId4" imgW="499548" imgH="229573" progId="Visio.Drawing.11">
                  <p:link updateAutomatic="1"/>
                </p:oleObj>
              </mc:Choice>
              <mc:Fallback>
                <p:oleObj name="Visio" r:id="rId4" imgW="499548" imgH="229573" progId="Visio.Drawing.11">
                  <p:link updateAutomatic="1"/>
                  <p:pic>
                    <p:nvPicPr>
                      <p:cNvPr id="12"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8263" y="2801972"/>
                        <a:ext cx="887412"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7A5C"/>
                              </a:outerShdw>
                            </a:effectLst>
                          </a14:hiddenEffects>
                        </a:ext>
                      </a:extLst>
                    </p:spPr>
                  </p:pic>
                </p:oleObj>
              </mc:Fallback>
            </mc:AlternateContent>
          </a:graphicData>
        </a:graphic>
      </p:graphicFrame>
      <p:graphicFrame>
        <p:nvGraphicFramePr>
          <p:cNvPr id="13" name="Object 14"/>
          <p:cNvGraphicFramePr>
            <a:graphicFrameLocks noChangeAspect="1"/>
          </p:cNvGraphicFramePr>
          <p:nvPr>
            <p:extLst>
              <p:ext uri="{D42A27DB-BD31-4B8C-83A1-F6EECF244321}">
                <p14:modId xmlns:p14="http://schemas.microsoft.com/office/powerpoint/2010/main" val="672229492"/>
              </p:ext>
            </p:extLst>
          </p:nvPr>
        </p:nvGraphicFramePr>
        <p:xfrm>
          <a:off x="9555163" y="1747872"/>
          <a:ext cx="906462" cy="441325"/>
        </p:xfrm>
        <a:graphic>
          <a:graphicData uri="http://schemas.openxmlformats.org/presentationml/2006/ole">
            <mc:AlternateContent xmlns:mc="http://schemas.openxmlformats.org/markup-compatibility/2006">
              <mc:Choice xmlns:v="urn:schemas-microsoft-com:vml" Requires="v">
                <p:oleObj name="Visio" r:id="rId4" imgW="472575" imgH="229573" progId="Visio.Drawing.11">
                  <p:link updateAutomatic="1"/>
                </p:oleObj>
              </mc:Choice>
              <mc:Fallback>
                <p:oleObj name="Visio" r:id="rId4" imgW="472575" imgH="229573" progId="Visio.Drawing.11">
                  <p:link updateAutomatic="1"/>
                  <p:pic>
                    <p:nvPicPr>
                      <p:cNvPr id="13"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55163" y="1747872"/>
                        <a:ext cx="906462" cy="44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007A5C"/>
                              </a:outerShdw>
                            </a:effectLst>
                          </a14:hiddenEffects>
                        </a:ext>
                      </a:extLst>
                    </p:spPr>
                  </p:pic>
                </p:oleObj>
              </mc:Fallback>
            </mc:AlternateContent>
          </a:graphicData>
        </a:graphic>
      </p:graphicFrame>
      <p:sp>
        <p:nvSpPr>
          <p:cNvPr id="16" name="日期占位符 15"/>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5.2.1 IPv4</a:t>
            </a:r>
            <a:r>
              <a:rPr kumimoji="1" lang="zh-CN" altLang="en-US" dirty="0">
                <a:latin typeface="DengXian" panose="02010600030101010101" pitchFamily="2" charset="-122"/>
                <a:ea typeface="DengXian" panose="02010600030101010101" pitchFamily="2" charset="-122"/>
              </a:rPr>
              <a:t>协议</a:t>
            </a:r>
          </a:p>
        </p:txBody>
      </p:sp>
      <p:sp>
        <p:nvSpPr>
          <p:cNvPr id="17" name="TextBox 16">
            <a:extLst>
              <a:ext uri="{FF2B5EF4-FFF2-40B4-BE49-F238E27FC236}">
                <a16:creationId xmlns:a16="http://schemas.microsoft.com/office/drawing/2014/main" id="{05BDF125-0FCB-F009-24A1-DEA8482F2941}"/>
              </a:ext>
            </a:extLst>
          </p:cNvPr>
          <p:cNvSpPr txBox="1"/>
          <p:nvPr/>
        </p:nvSpPr>
        <p:spPr>
          <a:xfrm>
            <a:off x="1734331" y="2754130"/>
            <a:ext cx="887412" cy="369332"/>
          </a:xfrm>
          <a:prstGeom prst="rect">
            <a:avLst/>
          </a:prstGeom>
          <a:solidFill>
            <a:schemeClr val="bg1"/>
          </a:solidFill>
        </p:spPr>
        <p:txBody>
          <a:bodyPr wrap="square" rtlCol="0">
            <a:spAutoFit/>
          </a:bodyPr>
          <a:lstStyle/>
          <a:p>
            <a:r>
              <a:rPr lang="en-CN" dirty="0"/>
              <a:t>源主机</a:t>
            </a:r>
          </a:p>
        </p:txBody>
      </p:sp>
      <p:sp>
        <p:nvSpPr>
          <p:cNvPr id="18" name="TextBox 17">
            <a:extLst>
              <a:ext uri="{FF2B5EF4-FFF2-40B4-BE49-F238E27FC236}">
                <a16:creationId xmlns:a16="http://schemas.microsoft.com/office/drawing/2014/main" id="{483E9676-0D7E-FE1C-3DD0-4EBCF7F09895}"/>
              </a:ext>
            </a:extLst>
          </p:cNvPr>
          <p:cNvSpPr txBox="1"/>
          <p:nvPr/>
        </p:nvSpPr>
        <p:spPr>
          <a:xfrm>
            <a:off x="9084613" y="2768769"/>
            <a:ext cx="1099199" cy="369332"/>
          </a:xfrm>
          <a:prstGeom prst="rect">
            <a:avLst/>
          </a:prstGeom>
          <a:solidFill>
            <a:schemeClr val="bg1"/>
          </a:solidFill>
        </p:spPr>
        <p:txBody>
          <a:bodyPr wrap="square" rtlCol="0">
            <a:spAutoFit/>
          </a:bodyPr>
          <a:lstStyle/>
          <a:p>
            <a:r>
              <a:rPr lang="en-CN" dirty="0"/>
              <a:t>目的主机</a:t>
            </a:r>
          </a:p>
        </p:txBody>
      </p:sp>
    </p:spTree>
    <p:extLst>
      <p:ext uri="{BB962C8B-B14F-4D97-AF65-F5344CB8AC3E}">
        <p14:creationId xmlns:p14="http://schemas.microsoft.com/office/powerpoint/2010/main" val="28234127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normAutofit/>
          </a:bodyPr>
          <a:lstStyle/>
          <a:p>
            <a:r>
              <a:rPr kumimoji="1" lang="en-US" altLang="zh-CN" dirty="0"/>
              <a:t>IP</a:t>
            </a:r>
            <a:r>
              <a:rPr kumimoji="1" lang="zh-CN" altLang="en-US" dirty="0"/>
              <a:t>协议功能及报头字段总结</a:t>
            </a:r>
          </a:p>
        </p:txBody>
      </p:sp>
      <p:sp>
        <p:nvSpPr>
          <p:cNvPr id="8" name="内容占位符 2">
            <a:extLst>
              <a:ext uri="{FF2B5EF4-FFF2-40B4-BE49-F238E27FC236}">
                <a16:creationId xmlns:a16="http://schemas.microsoft.com/office/drawing/2014/main" id="{DB830B1C-0706-7E41-AE1A-DEBBD115D846}"/>
              </a:ext>
            </a:extLst>
          </p:cNvPr>
          <p:cNvSpPr>
            <a:spLocks noGrp="1"/>
          </p:cNvSpPr>
          <p:nvPr>
            <p:ph idx="1"/>
          </p:nvPr>
        </p:nvSpPr>
        <p:spPr>
          <a:xfrm>
            <a:off x="573609" y="1430455"/>
            <a:ext cx="10966750" cy="5163371"/>
          </a:xfrm>
        </p:spPr>
        <p:txBody>
          <a:bodyPr>
            <a:normAutofit/>
          </a:bodyPr>
          <a:lstStyle/>
          <a:p>
            <a:pPr marL="0" indent="0">
              <a:buNone/>
            </a:pPr>
            <a:r>
              <a:rPr lang="zh-CN" altLang="en-US" b="1" dirty="0"/>
              <a:t>网络层基本功能</a:t>
            </a:r>
            <a:endParaRPr lang="en-US" altLang="zh-CN" b="1" dirty="0"/>
          </a:p>
          <a:p>
            <a:r>
              <a:rPr lang="zh-CN" altLang="en-US" dirty="0"/>
              <a:t>支持多跳寻路将</a:t>
            </a:r>
            <a:r>
              <a:rPr lang="en-US" altLang="zh-CN" dirty="0"/>
              <a:t>IP</a:t>
            </a:r>
            <a:r>
              <a:rPr lang="zh-CN" altLang="en-US" dirty="0"/>
              <a:t>数据包送达目的端：</a:t>
            </a:r>
            <a:r>
              <a:rPr lang="zh-CN" altLang="en-US" i="1" dirty="0">
                <a:solidFill>
                  <a:srgbClr val="C00000"/>
                </a:solidFill>
              </a:rPr>
              <a:t>目的</a:t>
            </a:r>
            <a:r>
              <a:rPr lang="en-US" altLang="zh-CN" i="1" dirty="0">
                <a:solidFill>
                  <a:srgbClr val="C00000"/>
                </a:solidFill>
              </a:rPr>
              <a:t>IP</a:t>
            </a:r>
            <a:r>
              <a:rPr lang="zh-CN" altLang="en-US" i="1" dirty="0">
                <a:solidFill>
                  <a:srgbClr val="C00000"/>
                </a:solidFill>
              </a:rPr>
              <a:t>地址</a:t>
            </a:r>
            <a:endParaRPr lang="en-US" altLang="zh-CN" i="1" dirty="0">
              <a:solidFill>
                <a:srgbClr val="C00000"/>
              </a:solidFill>
            </a:endParaRPr>
          </a:p>
          <a:p>
            <a:r>
              <a:rPr lang="zh-CN" altLang="en-US" dirty="0"/>
              <a:t>表明发送端身份：</a:t>
            </a:r>
            <a:r>
              <a:rPr lang="zh-CN" altLang="en-US" i="1" dirty="0">
                <a:solidFill>
                  <a:srgbClr val="C00000"/>
                </a:solidFill>
              </a:rPr>
              <a:t>源</a:t>
            </a:r>
            <a:r>
              <a:rPr lang="en-US" altLang="zh-CN" i="1" dirty="0">
                <a:solidFill>
                  <a:srgbClr val="C00000"/>
                </a:solidFill>
              </a:rPr>
              <a:t>IP</a:t>
            </a:r>
            <a:r>
              <a:rPr lang="zh-CN" altLang="en-US" i="1" dirty="0">
                <a:solidFill>
                  <a:srgbClr val="C00000"/>
                </a:solidFill>
              </a:rPr>
              <a:t>地址</a:t>
            </a:r>
            <a:endParaRPr lang="en-US" altLang="zh-CN" i="1" dirty="0">
              <a:solidFill>
                <a:srgbClr val="C00000"/>
              </a:solidFill>
            </a:endParaRPr>
          </a:p>
          <a:p>
            <a:r>
              <a:rPr lang="zh-CN" altLang="en-US" dirty="0"/>
              <a:t>根据</a:t>
            </a:r>
            <a:r>
              <a:rPr lang="en-US" altLang="zh-CN" dirty="0"/>
              <a:t>IP</a:t>
            </a:r>
            <a:r>
              <a:rPr lang="zh-CN" altLang="en-US" dirty="0"/>
              <a:t>头部协议类型，提交给不同上层协议处理：</a:t>
            </a:r>
            <a:r>
              <a:rPr lang="zh-CN" altLang="en-US" i="1" dirty="0">
                <a:solidFill>
                  <a:srgbClr val="C00000"/>
                </a:solidFill>
              </a:rPr>
              <a:t>协议</a:t>
            </a:r>
            <a:endParaRPr lang="en-US" altLang="zh-CN" i="1" dirty="0">
              <a:solidFill>
                <a:srgbClr val="C00000"/>
              </a:solidFill>
            </a:endParaRPr>
          </a:p>
          <a:p>
            <a:pPr marL="0" indent="0">
              <a:spcBef>
                <a:spcPts val="1800"/>
              </a:spcBef>
              <a:buNone/>
            </a:pPr>
            <a:r>
              <a:rPr lang="zh-CN" altLang="en-US" b="1" dirty="0"/>
              <a:t>其它相关问题</a:t>
            </a:r>
            <a:endParaRPr lang="en-US" altLang="zh-CN" b="1" dirty="0"/>
          </a:p>
          <a:p>
            <a:r>
              <a:rPr lang="zh-CN" altLang="en-US" dirty="0"/>
              <a:t>数据包长度大于传输链路的</a:t>
            </a:r>
            <a:r>
              <a:rPr lang="en-US" altLang="zh-CN" dirty="0"/>
              <a:t>MTU</a:t>
            </a:r>
            <a:r>
              <a:rPr lang="zh-CN" altLang="en-US" dirty="0"/>
              <a:t>的问题，通过分片机制解决：</a:t>
            </a:r>
            <a:r>
              <a:rPr lang="zh-CN" altLang="en-US" i="1" dirty="0">
                <a:solidFill>
                  <a:srgbClr val="C00000"/>
                </a:solidFill>
              </a:rPr>
              <a:t>标识、标志、片偏移</a:t>
            </a:r>
            <a:endParaRPr lang="en-US" altLang="zh-CN" i="1" dirty="0">
              <a:solidFill>
                <a:srgbClr val="C00000"/>
              </a:solidFill>
            </a:endParaRPr>
          </a:p>
          <a:p>
            <a:r>
              <a:rPr lang="zh-CN" altLang="en-US" dirty="0"/>
              <a:t>防止循环转发浪费网络资源（路由错误、设备故障</a:t>
            </a:r>
            <a:r>
              <a:rPr lang="en-US" altLang="zh-CN" dirty="0"/>
              <a:t>…</a:t>
            </a:r>
            <a:r>
              <a:rPr lang="zh-CN" altLang="en-US" dirty="0"/>
              <a:t>），通过跳数限制解决：</a:t>
            </a:r>
            <a:r>
              <a:rPr lang="zh-CN" altLang="en-US" i="1" dirty="0">
                <a:solidFill>
                  <a:srgbClr val="C00000"/>
                </a:solidFill>
              </a:rPr>
              <a:t>生存时间</a:t>
            </a:r>
            <a:r>
              <a:rPr lang="en-US" altLang="zh-CN" i="1" dirty="0">
                <a:solidFill>
                  <a:srgbClr val="C00000"/>
                </a:solidFill>
              </a:rPr>
              <a:t>TTL</a:t>
            </a:r>
          </a:p>
          <a:p>
            <a:r>
              <a:rPr lang="en-US" altLang="zh-CN" dirty="0"/>
              <a:t>IP</a:t>
            </a:r>
            <a:r>
              <a:rPr lang="zh-CN" altLang="en-US" dirty="0"/>
              <a:t>报头错误导致无效传输，通过头部校验解决：</a:t>
            </a:r>
            <a:r>
              <a:rPr lang="zh-CN" altLang="en-US" i="1" dirty="0">
                <a:solidFill>
                  <a:srgbClr val="C00000"/>
                </a:solidFill>
              </a:rPr>
              <a:t>首部校验和</a:t>
            </a:r>
            <a:endParaRPr lang="en-US" altLang="zh-CN" i="1" dirty="0">
              <a:solidFill>
                <a:srgbClr val="C00000"/>
              </a:solidFill>
            </a:endParaRPr>
          </a:p>
        </p:txBody>
      </p:sp>
      <p:sp>
        <p:nvSpPr>
          <p:cNvPr id="7" name="日期占位符 5"/>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5.2.1 IPv4</a:t>
            </a:r>
            <a:r>
              <a:rPr kumimoji="1" lang="zh-CN" altLang="en-US" dirty="0">
                <a:latin typeface="DengXian" panose="02010600030101010101" pitchFamily="2" charset="-122"/>
                <a:ea typeface="DengXian" panose="02010600030101010101" pitchFamily="2" charset="-122"/>
              </a:rPr>
              <a:t>协议</a:t>
            </a:r>
          </a:p>
        </p:txBody>
      </p:sp>
      <p:sp>
        <p:nvSpPr>
          <p:cNvPr id="6" name="灯片编号占位符 3">
            <a:extLst>
              <a:ext uri="{FF2B5EF4-FFF2-40B4-BE49-F238E27FC236}">
                <a16:creationId xmlns:a16="http://schemas.microsoft.com/office/drawing/2014/main" id="{764333B1-4408-A54F-8435-0FEAABA16DED}"/>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22</a:t>
            </a:fld>
            <a:endParaRPr kumimoji="1" lang="zh-CN" altLang="en-US" dirty="0"/>
          </a:p>
        </p:txBody>
      </p:sp>
    </p:spTree>
    <p:extLst>
      <p:ext uri="{BB962C8B-B14F-4D97-AF65-F5344CB8AC3E}">
        <p14:creationId xmlns:p14="http://schemas.microsoft.com/office/powerpoint/2010/main" val="27512881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地址</a:t>
            </a:r>
          </a:p>
        </p:txBody>
      </p:sp>
      <p:sp>
        <p:nvSpPr>
          <p:cNvPr id="3" name="内容占位符 2"/>
          <p:cNvSpPr>
            <a:spLocks noGrp="1"/>
          </p:cNvSpPr>
          <p:nvPr>
            <p:ph idx="1"/>
          </p:nvPr>
        </p:nvSpPr>
        <p:spPr/>
        <p:txBody>
          <a:bodyPr/>
          <a:lstStyle/>
          <a:p>
            <a:r>
              <a:rPr kumimoji="1" lang="en-US" altLang="zh-CN" dirty="0">
                <a:solidFill>
                  <a:srgbClr val="C00000"/>
                </a:solidFill>
              </a:rPr>
              <a:t>IP</a:t>
            </a:r>
            <a:r>
              <a:rPr kumimoji="1" lang="zh-CN" altLang="en-US" dirty="0">
                <a:solidFill>
                  <a:srgbClr val="C00000"/>
                </a:solidFill>
              </a:rPr>
              <a:t>地址</a:t>
            </a:r>
            <a:r>
              <a:rPr kumimoji="1" lang="zh-CN" altLang="en-US" dirty="0"/>
              <a:t>，网络上的每一台主机（或路由器）的每一个接口都会分配一个全球唯一的</a:t>
            </a:r>
            <a:r>
              <a:rPr kumimoji="1" lang="en-US" altLang="zh-CN" dirty="0"/>
              <a:t>32</a:t>
            </a:r>
            <a:r>
              <a:rPr kumimoji="1" lang="zh-CN" altLang="en-US" dirty="0"/>
              <a:t>位的标识符</a:t>
            </a:r>
            <a:endParaRPr kumimoji="1" lang="en-US" altLang="zh-CN" dirty="0"/>
          </a:p>
        </p:txBody>
      </p:sp>
      <p:pic>
        <p:nvPicPr>
          <p:cNvPr id="62" name="Picture 3"/>
          <p:cNvPicPr>
            <a:picLocks noChangeAspect="1" noChangeArrowheads="1"/>
          </p:cNvPicPr>
          <p:nvPr/>
        </p:nvPicPr>
        <p:blipFill>
          <a:blip r:embed="rId2"/>
          <a:srcRect/>
          <a:stretch>
            <a:fillRect/>
          </a:stretch>
        </p:blipFill>
        <p:spPr bwMode="auto">
          <a:xfrm>
            <a:off x="4961415" y="3883092"/>
            <a:ext cx="1750973" cy="1020567"/>
          </a:xfrm>
          <a:prstGeom prst="rect">
            <a:avLst/>
          </a:prstGeom>
          <a:noFill/>
          <a:ln w="9525">
            <a:noFill/>
            <a:miter lim="800000"/>
            <a:headEnd/>
            <a:tailEnd/>
          </a:ln>
          <a:effectLst/>
        </p:spPr>
      </p:pic>
      <p:grpSp>
        <p:nvGrpSpPr>
          <p:cNvPr id="63" name="组合 62"/>
          <p:cNvGrpSpPr/>
          <p:nvPr/>
        </p:nvGrpSpPr>
        <p:grpSpPr>
          <a:xfrm>
            <a:off x="1798045" y="3586890"/>
            <a:ext cx="3163370" cy="1208654"/>
            <a:chOff x="1457267" y="1600803"/>
            <a:chExt cx="3163370" cy="1208654"/>
          </a:xfrm>
        </p:grpSpPr>
        <p:pic>
          <p:nvPicPr>
            <p:cNvPr id="64" name="Picture 8" descr="C:\Users\Administrator\AppData\Local\Microsoft\Windows\INetCache\IE\090YFLBZ\293995[1].png"/>
            <p:cNvPicPr>
              <a:picLocks noChangeAspect="1" noChangeArrowheads="1"/>
            </p:cNvPicPr>
            <p:nvPr/>
          </p:nvPicPr>
          <p:blipFill>
            <a:blip r:embed="rId3"/>
            <a:srcRect/>
            <a:stretch>
              <a:fillRect/>
            </a:stretch>
          </p:blipFill>
          <p:spPr bwMode="auto">
            <a:xfrm rot="20935708">
              <a:off x="1457267" y="1600803"/>
              <a:ext cx="604327" cy="1208654"/>
            </a:xfrm>
            <a:prstGeom prst="rect">
              <a:avLst/>
            </a:prstGeom>
            <a:noFill/>
          </p:spPr>
        </p:pic>
        <p:cxnSp>
          <p:nvCxnSpPr>
            <p:cNvPr id="65" name="曲线连接符 64"/>
            <p:cNvCxnSpPr/>
            <p:nvPr/>
          </p:nvCxnSpPr>
          <p:spPr>
            <a:xfrm flipV="1">
              <a:off x="1911835" y="2407289"/>
              <a:ext cx="2708802" cy="369510"/>
            </a:xfrm>
            <a:prstGeom prst="curvedConnector3">
              <a:avLst>
                <a:gd name="adj1" fmla="val 68486"/>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6" name="组合 65"/>
          <p:cNvGrpSpPr/>
          <p:nvPr/>
        </p:nvGrpSpPr>
        <p:grpSpPr>
          <a:xfrm>
            <a:off x="6668845" y="3586890"/>
            <a:ext cx="2859475" cy="1316769"/>
            <a:chOff x="6328067" y="1600803"/>
            <a:chExt cx="2859475" cy="1316769"/>
          </a:xfrm>
        </p:grpSpPr>
        <p:pic>
          <p:nvPicPr>
            <p:cNvPr id="67" name="Picture 8" descr="C:\Users\Administrator\AppData\Local\Microsoft\Windows\INetCache\IE\090YFLBZ\293995[1].png"/>
            <p:cNvPicPr>
              <a:picLocks noChangeAspect="1" noChangeArrowheads="1"/>
            </p:cNvPicPr>
            <p:nvPr/>
          </p:nvPicPr>
          <p:blipFill>
            <a:blip r:embed="rId3"/>
            <a:srcRect/>
            <a:stretch>
              <a:fillRect/>
            </a:stretch>
          </p:blipFill>
          <p:spPr bwMode="auto">
            <a:xfrm rot="958872" flipH="1">
              <a:off x="8488368" y="1600803"/>
              <a:ext cx="699174" cy="1316769"/>
            </a:xfrm>
            <a:prstGeom prst="rect">
              <a:avLst/>
            </a:prstGeom>
            <a:noFill/>
          </p:spPr>
        </p:pic>
        <p:cxnSp>
          <p:nvCxnSpPr>
            <p:cNvPr id="68" name="曲线连接符 67"/>
            <p:cNvCxnSpPr/>
            <p:nvPr/>
          </p:nvCxnSpPr>
          <p:spPr>
            <a:xfrm rot="10800000">
              <a:off x="6328067" y="2407289"/>
              <a:ext cx="2285077" cy="452180"/>
            </a:xfrm>
            <a:prstGeom prst="curvedConnector3">
              <a:avLst>
                <a:gd name="adj1" fmla="val 50000"/>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矩形 68"/>
          <p:cNvSpPr/>
          <p:nvPr/>
        </p:nvSpPr>
        <p:spPr>
          <a:xfrm>
            <a:off x="2855378" y="3636847"/>
            <a:ext cx="1838610" cy="4924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dirty="0">
                <a:solidFill>
                  <a:srgbClr val="C00000"/>
                </a:solidFill>
                <a:latin typeface="等线" panose="02010600030101010101" pitchFamily="2" charset="-122"/>
                <a:ea typeface="等线" panose="02010600030101010101" pitchFamily="2" charset="-122"/>
              </a:rPr>
              <a:t>电话号码</a:t>
            </a:r>
          </a:p>
        </p:txBody>
      </p:sp>
      <p:grpSp>
        <p:nvGrpSpPr>
          <p:cNvPr id="70" name="组合 69"/>
          <p:cNvGrpSpPr/>
          <p:nvPr/>
        </p:nvGrpSpPr>
        <p:grpSpPr>
          <a:xfrm>
            <a:off x="1202389" y="3469890"/>
            <a:ext cx="8756453" cy="2190668"/>
            <a:chOff x="1202389" y="3970646"/>
            <a:chExt cx="8756453" cy="2190668"/>
          </a:xfrm>
        </p:grpSpPr>
        <p:pic>
          <p:nvPicPr>
            <p:cNvPr id="71" name="Picture 14"/>
            <p:cNvPicPr>
              <a:picLocks noChangeAspect="1" noChangeArrowheads="1"/>
            </p:cNvPicPr>
            <p:nvPr/>
          </p:nvPicPr>
          <p:blipFill>
            <a:blip r:embed="rId4"/>
            <a:srcRect/>
            <a:stretch>
              <a:fillRect/>
            </a:stretch>
          </p:blipFill>
          <p:spPr bwMode="auto">
            <a:xfrm>
              <a:off x="8451240" y="4727615"/>
              <a:ext cx="1507602" cy="1030927"/>
            </a:xfrm>
            <a:prstGeom prst="rect">
              <a:avLst/>
            </a:prstGeom>
            <a:noFill/>
            <a:ln w="9525">
              <a:noFill/>
              <a:miter lim="800000"/>
              <a:headEnd/>
              <a:tailEnd/>
            </a:ln>
            <a:effectLst/>
          </p:spPr>
        </p:pic>
        <p:sp>
          <p:nvSpPr>
            <p:cNvPr id="72" name="云形 71"/>
            <p:cNvSpPr/>
            <p:nvPr/>
          </p:nvSpPr>
          <p:spPr>
            <a:xfrm>
              <a:off x="3842073" y="3970646"/>
              <a:ext cx="3625527" cy="2190668"/>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3" name="Picture 6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53209" y="4921364"/>
              <a:ext cx="534856"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4" name="Picture 6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99887" y="5410880"/>
              <a:ext cx="534856"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5" name="Picture 6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299887" y="4379953"/>
              <a:ext cx="534856"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6" name="Picture 68"/>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84523" y="4747874"/>
              <a:ext cx="534856" cy="34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77" name="Picture 10" descr="C:\Users\Administrator\AppData\Local\Microsoft\Windows\INetCache\IE\090YFLBZ\ABUIABACGAAg29yGxwUotO79rgEw9AM42wI[1].jpg"/>
            <p:cNvPicPr>
              <a:picLocks noChangeAspect="1" noChangeArrowheads="1"/>
            </p:cNvPicPr>
            <p:nvPr/>
          </p:nvPicPr>
          <p:blipFill>
            <a:blip r:embed="rId6"/>
            <a:srcRect/>
            <a:stretch>
              <a:fillRect/>
            </a:stretch>
          </p:blipFill>
          <p:spPr bwMode="auto">
            <a:xfrm>
              <a:off x="1202389" y="4589687"/>
              <a:ext cx="1738146" cy="1206273"/>
            </a:xfrm>
            <a:prstGeom prst="rect">
              <a:avLst/>
            </a:prstGeom>
            <a:noFill/>
          </p:spPr>
        </p:pic>
        <p:cxnSp>
          <p:nvCxnSpPr>
            <p:cNvPr id="78" name="曲线连接符 77"/>
            <p:cNvCxnSpPr>
              <a:stCxn id="73" idx="1"/>
            </p:cNvCxnSpPr>
            <p:nvPr/>
          </p:nvCxnSpPr>
          <p:spPr>
            <a:xfrm rot="10800000" flipV="1">
              <a:off x="2677887" y="5095194"/>
              <a:ext cx="1675323" cy="315685"/>
            </a:xfrm>
            <a:prstGeom prst="curvedConnector3">
              <a:avLst>
                <a:gd name="adj1"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曲线连接符 78"/>
            <p:cNvCxnSpPr/>
            <p:nvPr/>
          </p:nvCxnSpPr>
          <p:spPr>
            <a:xfrm>
              <a:off x="6770914" y="4899933"/>
              <a:ext cx="1907546" cy="510947"/>
            </a:xfrm>
            <a:prstGeom prst="curvedConnector3">
              <a:avLst>
                <a:gd name="adj1" fmla="val 50000"/>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云形 79"/>
            <p:cNvSpPr/>
            <p:nvPr/>
          </p:nvSpPr>
          <p:spPr>
            <a:xfrm>
              <a:off x="6042141" y="4359694"/>
              <a:ext cx="484763" cy="367921"/>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云形 80"/>
            <p:cNvSpPr/>
            <p:nvPr/>
          </p:nvSpPr>
          <p:spPr>
            <a:xfrm>
              <a:off x="4620637" y="5269026"/>
              <a:ext cx="484763" cy="367921"/>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云形 81"/>
            <p:cNvSpPr/>
            <p:nvPr/>
          </p:nvSpPr>
          <p:spPr>
            <a:xfrm>
              <a:off x="5377545" y="4899933"/>
              <a:ext cx="484763" cy="367921"/>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云形 82"/>
            <p:cNvSpPr/>
            <p:nvPr/>
          </p:nvSpPr>
          <p:spPr>
            <a:xfrm>
              <a:off x="4650400" y="4405726"/>
              <a:ext cx="484763" cy="367921"/>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云形 83"/>
            <p:cNvSpPr/>
            <p:nvPr/>
          </p:nvSpPr>
          <p:spPr>
            <a:xfrm>
              <a:off x="6085685" y="5226919"/>
              <a:ext cx="484763" cy="367921"/>
            </a:xfrm>
            <a:prstGeom prst="cloud">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5" name="矩形 84"/>
          <p:cNvSpPr/>
          <p:nvPr/>
        </p:nvSpPr>
        <p:spPr>
          <a:xfrm>
            <a:off x="7077102" y="3596441"/>
            <a:ext cx="1838610" cy="4924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400" dirty="0">
                <a:solidFill>
                  <a:srgbClr val="C00000"/>
                </a:solidFill>
                <a:latin typeface="等线" panose="02010600030101010101" pitchFamily="2" charset="-122"/>
                <a:ea typeface="等线" panose="02010600030101010101" pitchFamily="2" charset="-122"/>
              </a:rPr>
              <a:t>IP</a:t>
            </a:r>
            <a:r>
              <a:rPr lang="zh-CN" altLang="en-US" sz="2400" dirty="0">
                <a:solidFill>
                  <a:srgbClr val="C00000"/>
                </a:solidFill>
                <a:latin typeface="等线" panose="02010600030101010101" pitchFamily="2" charset="-122"/>
                <a:ea typeface="等线" panose="02010600030101010101" pitchFamily="2" charset="-122"/>
              </a:rPr>
              <a:t>地址</a:t>
            </a:r>
          </a:p>
        </p:txBody>
      </p:sp>
      <p:sp>
        <p:nvSpPr>
          <p:cNvPr id="97"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98"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23</a:t>
            </a:fld>
            <a:endParaRPr kumimoji="1" lang="zh-CN" altLang="en-US" dirty="0"/>
          </a:p>
        </p:txBody>
      </p:sp>
    </p:spTree>
    <p:extLst>
      <p:ext uri="{BB962C8B-B14F-4D97-AF65-F5344CB8AC3E}">
        <p14:creationId xmlns:p14="http://schemas.microsoft.com/office/powerpoint/2010/main" val="3339720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69"/>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62"/>
                                        </p:tgtEl>
                                        <p:attrNameLst>
                                          <p:attrName>style.visibility</p:attrName>
                                        </p:attrNameLst>
                                      </p:cBhvr>
                                      <p:to>
                                        <p:strVal val="hidden"/>
                                      </p:to>
                                    </p:set>
                                  </p:childTnLst>
                                </p:cTn>
                              </p:par>
                              <p:par>
                                <p:cTn id="18" presetID="1" presetClass="exit" presetSubtype="0" fill="hold" nodeType="withEffect">
                                  <p:stCondLst>
                                    <p:cond delay="0"/>
                                  </p:stCondLst>
                                  <p:childTnLst>
                                    <p:set>
                                      <p:cBhvr>
                                        <p:cTn id="19" dur="1" fill="hold">
                                          <p:stCondLst>
                                            <p:cond delay="0"/>
                                          </p:stCondLst>
                                        </p:cTn>
                                        <p:tgtEl>
                                          <p:spTgt spid="63"/>
                                        </p:tgtEl>
                                        <p:attrNameLst>
                                          <p:attrName>style.visibility</p:attrName>
                                        </p:attrNameLst>
                                      </p:cBhvr>
                                      <p:to>
                                        <p:strVal val="hidden"/>
                                      </p:to>
                                    </p:set>
                                  </p:childTnLst>
                                </p:cTn>
                              </p:par>
                              <p:par>
                                <p:cTn id="20" presetID="1" presetClass="exit" presetSubtype="0" fill="hold" nodeType="withEffect">
                                  <p:stCondLst>
                                    <p:cond delay="0"/>
                                  </p:stCondLst>
                                  <p:childTnLst>
                                    <p:set>
                                      <p:cBhvr>
                                        <p:cTn id="21" dur="1" fill="hold">
                                          <p:stCondLst>
                                            <p:cond delay="0"/>
                                          </p:stCondLst>
                                        </p:cTn>
                                        <p:tgtEl>
                                          <p:spTgt spid="66"/>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69"/>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0"/>
                                        </p:tgtEl>
                                        <p:attrNameLst>
                                          <p:attrName>style.visibility</p:attrName>
                                        </p:attrNameLst>
                                      </p:cBhvr>
                                      <p:to>
                                        <p:strVal val="visible"/>
                                      </p:to>
                                    </p:set>
                                  </p:childTnLst>
                                </p:cTn>
                              </p:par>
                            </p:childTnLst>
                          </p:cTn>
                        </p:par>
                        <p:par>
                          <p:cTn id="28" fill="hold">
                            <p:stCondLst>
                              <p:cond delay="0"/>
                            </p:stCondLst>
                            <p:childTnLst>
                              <p:par>
                                <p:cTn id="29" presetID="1" presetClass="entr" presetSubtype="0" fill="hold" grpId="0" nodeType="afterEffect">
                                  <p:stCondLst>
                                    <p:cond delay="0"/>
                                  </p:stCondLst>
                                  <p:childTnLst>
                                    <p:set>
                                      <p:cBhvr>
                                        <p:cTn id="30" dur="1" fill="hold">
                                          <p:stCondLst>
                                            <p:cond delay="0"/>
                                          </p:stCondLst>
                                        </p:cTn>
                                        <p:tgtEl>
                                          <p:spTgt spid="8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70"/>
                                        </p:tgtEl>
                                        <p:attrNameLst>
                                          <p:attrName>style.visibility</p:attrName>
                                        </p:attrNameLst>
                                      </p:cBhvr>
                                      <p:to>
                                        <p:strVal val="hidden"/>
                                      </p:to>
                                    </p:set>
                                  </p:childTnLst>
                                </p:cTn>
                              </p:par>
                              <p:par>
                                <p:cTn id="35" presetID="1" presetClass="exit" presetSubtype="0" fill="hold" grpId="1" nodeType="withEffect">
                                  <p:stCondLst>
                                    <p:cond delay="0"/>
                                  </p:stCondLst>
                                  <p:childTnLst>
                                    <p:set>
                                      <p:cBhvr>
                                        <p:cTn id="36" dur="1" fill="hold">
                                          <p:stCondLst>
                                            <p:cond delay="0"/>
                                          </p:stCondLst>
                                        </p:cTn>
                                        <p:tgtEl>
                                          <p:spTgt spid="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69" grpId="1"/>
      <p:bldP spid="85" grpId="0"/>
      <p:bldP spid="85" grpId="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地址</a:t>
            </a:r>
          </a:p>
        </p:txBody>
      </p:sp>
      <p:sp>
        <p:nvSpPr>
          <p:cNvPr id="3" name="内容占位符 2"/>
          <p:cNvSpPr>
            <a:spLocks noGrp="1"/>
          </p:cNvSpPr>
          <p:nvPr>
            <p:ph idx="1"/>
          </p:nvPr>
        </p:nvSpPr>
        <p:spPr/>
        <p:txBody>
          <a:bodyPr/>
          <a:lstStyle/>
          <a:p>
            <a:r>
              <a:rPr kumimoji="1" lang="en-US" altLang="zh-CN" dirty="0">
                <a:solidFill>
                  <a:srgbClr val="C00000"/>
                </a:solidFill>
              </a:rPr>
              <a:t>IP</a:t>
            </a:r>
            <a:r>
              <a:rPr kumimoji="1" lang="zh-CN" altLang="en-US" dirty="0">
                <a:solidFill>
                  <a:srgbClr val="C00000"/>
                </a:solidFill>
              </a:rPr>
              <a:t>地址</a:t>
            </a:r>
            <a:r>
              <a:rPr kumimoji="1" lang="zh-CN" altLang="en-US" dirty="0"/>
              <a:t>，网络上的每一台主机（或路由器）的每一个接口都会分配一个全球唯一的</a:t>
            </a:r>
            <a:r>
              <a:rPr kumimoji="1" lang="en-US" altLang="zh-CN" dirty="0"/>
              <a:t>32</a:t>
            </a:r>
            <a:r>
              <a:rPr kumimoji="1" lang="zh-CN" altLang="en-US" dirty="0"/>
              <a:t>位的标识符</a:t>
            </a:r>
            <a:endParaRPr kumimoji="1" lang="en-US" altLang="zh-CN" dirty="0"/>
          </a:p>
          <a:p>
            <a:pPr lvl="0"/>
            <a:r>
              <a:rPr lang="zh-CN" altLang="en-US" dirty="0"/>
              <a:t>将</a:t>
            </a:r>
            <a:r>
              <a:rPr lang="en-US" altLang="zh-CN" dirty="0"/>
              <a:t>IP</a:t>
            </a:r>
            <a:r>
              <a:rPr lang="zh-CN" altLang="en-US" dirty="0"/>
              <a:t>地址划分为固定的类，每一类都由两个字段组成</a:t>
            </a:r>
            <a:endParaRPr lang="en-US" altLang="zh-CN" dirty="0"/>
          </a:p>
          <a:p>
            <a:r>
              <a:rPr lang="zh-CN" altLang="en-US" dirty="0"/>
              <a:t>网络号相同的这块连续</a:t>
            </a:r>
            <a:r>
              <a:rPr lang="en-US" altLang="zh-CN" dirty="0"/>
              <a:t>IP</a:t>
            </a:r>
            <a:r>
              <a:rPr lang="zh-CN" altLang="en-US" dirty="0"/>
              <a:t>地址空间称为地址的</a:t>
            </a:r>
            <a:r>
              <a:rPr lang="zh-CN" altLang="en-US" dirty="0">
                <a:solidFill>
                  <a:srgbClr val="C00000"/>
                </a:solidFill>
              </a:rPr>
              <a:t>前缀，</a:t>
            </a:r>
            <a:r>
              <a:rPr lang="zh-CN" altLang="en-US" dirty="0"/>
              <a:t>或</a:t>
            </a:r>
            <a:r>
              <a:rPr lang="zh-CN" altLang="en-US" dirty="0">
                <a:solidFill>
                  <a:srgbClr val="C00000"/>
                </a:solidFill>
              </a:rPr>
              <a:t>网络前缀</a:t>
            </a:r>
            <a:endParaRPr lang="en-US" altLang="zh-CN" dirty="0">
              <a:solidFill>
                <a:srgbClr val="C00000"/>
              </a:solidFill>
            </a:endParaRPr>
          </a:p>
          <a:p>
            <a:pPr lvl="0"/>
            <a:endParaRPr lang="en-US" altLang="zh-CN" dirty="0"/>
          </a:p>
          <a:p>
            <a:endParaRPr lang="zh-CN" altLang="en-US" dirty="0"/>
          </a:p>
        </p:txBody>
      </p:sp>
      <p:grpSp>
        <p:nvGrpSpPr>
          <p:cNvPr id="86" name="组合 6"/>
          <p:cNvGrpSpPr/>
          <p:nvPr/>
        </p:nvGrpSpPr>
        <p:grpSpPr>
          <a:xfrm>
            <a:off x="3399695" y="4477908"/>
            <a:ext cx="4781550" cy="616176"/>
            <a:chOff x="1839416" y="3856622"/>
            <a:chExt cx="4562105" cy="1666302"/>
          </a:xfrm>
        </p:grpSpPr>
        <p:grpSp>
          <p:nvGrpSpPr>
            <p:cNvPr id="87" name="Group 21"/>
            <p:cNvGrpSpPr>
              <a:grpSpLocks/>
            </p:cNvGrpSpPr>
            <p:nvPr/>
          </p:nvGrpSpPr>
          <p:grpSpPr bwMode="auto">
            <a:xfrm>
              <a:off x="1839416" y="4780192"/>
              <a:ext cx="4533900" cy="742732"/>
              <a:chOff x="737" y="4722472"/>
              <a:chExt cx="2856" cy="742732"/>
            </a:xfrm>
          </p:grpSpPr>
          <p:sp>
            <p:nvSpPr>
              <p:cNvPr id="92" name="Line 9"/>
              <p:cNvSpPr>
                <a:spLocks noChangeShapeType="1"/>
              </p:cNvSpPr>
              <p:nvPr/>
            </p:nvSpPr>
            <p:spPr bwMode="auto">
              <a:xfrm>
                <a:off x="737" y="5419215"/>
                <a:ext cx="285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93" name="Text Box 10"/>
              <p:cNvSpPr txBox="1">
                <a:spLocks noChangeArrowheads="1"/>
              </p:cNvSpPr>
              <p:nvPr/>
            </p:nvSpPr>
            <p:spPr bwMode="auto">
              <a:xfrm>
                <a:off x="1989" y="4722472"/>
                <a:ext cx="554" cy="742732"/>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rPr>
                  <a:t> 32</a:t>
                </a: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位</a:t>
                </a:r>
              </a:p>
            </p:txBody>
          </p:sp>
        </p:grpSp>
        <p:grpSp>
          <p:nvGrpSpPr>
            <p:cNvPr id="88" name="Group 18"/>
            <p:cNvGrpSpPr>
              <a:grpSpLocks/>
            </p:cNvGrpSpPr>
            <p:nvPr/>
          </p:nvGrpSpPr>
          <p:grpSpPr bwMode="auto">
            <a:xfrm>
              <a:off x="1839416" y="3856622"/>
              <a:ext cx="4562105" cy="1069978"/>
              <a:chOff x="737" y="2336"/>
              <a:chExt cx="3240" cy="674"/>
            </a:xfrm>
          </p:grpSpPr>
          <p:sp>
            <p:nvSpPr>
              <p:cNvPr id="89" name="Rectangle 6"/>
              <p:cNvSpPr>
                <a:spLocks noChangeArrowheads="1"/>
              </p:cNvSpPr>
              <p:nvPr/>
            </p:nvSpPr>
            <p:spPr bwMode="auto">
              <a:xfrm>
                <a:off x="737" y="2411"/>
                <a:ext cx="1650" cy="599"/>
              </a:xfrm>
              <a:prstGeom prst="rect">
                <a:avLst/>
              </a:prstGeom>
              <a:solidFill>
                <a:srgbClr val="FFFF66"/>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b="1" i="0" u="none" strike="noStrike" kern="0" cap="none" spc="0" normalizeH="0" baseline="0" noProof="0" dirty="0">
                    <a:ln>
                      <a:noFill/>
                    </a:ln>
                    <a:solidFill>
                      <a:sysClr val="windowText" lastClr="000000"/>
                    </a:solidFill>
                    <a:effectLst/>
                    <a:uLnTx/>
                    <a:uFillTx/>
                    <a:latin typeface="+mn-lt"/>
                    <a:ea typeface="黑体" pitchFamily="2" charset="-122"/>
                  </a:rPr>
                  <a:t>网络</a:t>
                </a:r>
                <a:r>
                  <a:rPr lang="zh-CN" altLang="en-US" b="1" kern="0" dirty="0">
                    <a:solidFill>
                      <a:sysClr val="windowText" lastClr="000000"/>
                    </a:solidFill>
                    <a:ea typeface="黑体" pitchFamily="2" charset="-122"/>
                  </a:rPr>
                  <a:t>号</a:t>
                </a:r>
                <a:endParaRPr kumimoji="0" lang="en-US" altLang="zh-CN" b="1" i="0" u="none" strike="noStrike" kern="0" cap="none" spc="0" normalizeH="0" baseline="0" noProof="0" dirty="0">
                  <a:ln>
                    <a:noFill/>
                  </a:ln>
                  <a:solidFill>
                    <a:sysClr val="windowText" lastClr="000000"/>
                  </a:solidFill>
                  <a:effectLst/>
                  <a:uLnTx/>
                  <a:uFillTx/>
                  <a:latin typeface="+mn-lt"/>
                  <a:ea typeface="黑体" pitchFamily="2" charset="-122"/>
                </a:endParaRPr>
              </a:p>
            </p:txBody>
          </p:sp>
          <p:sp>
            <p:nvSpPr>
              <p:cNvPr id="90" name="Rectangle 7"/>
              <p:cNvSpPr>
                <a:spLocks noChangeArrowheads="1"/>
              </p:cNvSpPr>
              <p:nvPr/>
            </p:nvSpPr>
            <p:spPr bwMode="auto">
              <a:xfrm>
                <a:off x="2387" y="2412"/>
                <a:ext cx="1590" cy="598"/>
              </a:xfrm>
              <a:prstGeom prst="rect">
                <a:avLst/>
              </a:prstGeom>
              <a:solidFill>
                <a:srgbClr val="66FFFF"/>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2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91" name="Rectangle 11"/>
              <p:cNvSpPr>
                <a:spLocks noChangeArrowheads="1"/>
              </p:cNvSpPr>
              <p:nvPr/>
            </p:nvSpPr>
            <p:spPr bwMode="auto">
              <a:xfrm>
                <a:off x="2754" y="2336"/>
                <a:ext cx="967" cy="374"/>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b="1" i="0" u="none" strike="noStrike" kern="0" cap="none" spc="0" normalizeH="0" baseline="0" noProof="0" dirty="0">
                    <a:ln>
                      <a:noFill/>
                    </a:ln>
                    <a:solidFill>
                      <a:sysClr val="windowText" lastClr="000000"/>
                    </a:solidFill>
                    <a:effectLst/>
                    <a:uLnTx/>
                    <a:uFillTx/>
                    <a:latin typeface="+mn-lt"/>
                    <a:ea typeface="黑体" pitchFamily="2" charset="-122"/>
                  </a:rPr>
                  <a:t>主机号</a:t>
                </a:r>
                <a:endParaRPr kumimoji="0" lang="en-US" altLang="zh-CN" b="1" i="0" u="none" strike="noStrike" kern="0" cap="none" spc="0" normalizeH="0" baseline="0" noProof="0" dirty="0">
                  <a:ln>
                    <a:noFill/>
                  </a:ln>
                  <a:solidFill>
                    <a:sysClr val="windowText" lastClr="000000"/>
                  </a:solidFill>
                  <a:effectLst/>
                  <a:uLnTx/>
                  <a:uFillTx/>
                  <a:latin typeface="+mn-lt"/>
                  <a:ea typeface="黑体" pitchFamily="2" charset="-122"/>
                </a:endParaRPr>
              </a:p>
            </p:txBody>
          </p:sp>
        </p:grpSp>
      </p:grpSp>
      <p:grpSp>
        <p:nvGrpSpPr>
          <p:cNvPr id="94" name="组合 93"/>
          <p:cNvGrpSpPr/>
          <p:nvPr/>
        </p:nvGrpSpPr>
        <p:grpSpPr>
          <a:xfrm>
            <a:off x="3399694" y="4116519"/>
            <a:ext cx="2435049" cy="400301"/>
            <a:chOff x="6321049" y="1535134"/>
            <a:chExt cx="2435049" cy="289041"/>
          </a:xfrm>
        </p:grpSpPr>
        <p:sp>
          <p:nvSpPr>
            <p:cNvPr id="95" name="左大括号 94"/>
            <p:cNvSpPr/>
            <p:nvPr/>
          </p:nvSpPr>
          <p:spPr>
            <a:xfrm rot="5400000">
              <a:off x="7432154" y="500230"/>
              <a:ext cx="212840" cy="2435049"/>
            </a:xfrm>
            <a:prstGeom prst="leftBrace">
              <a:avLst/>
            </a:prstGeom>
            <a:ln w="2222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96" name="矩形 95"/>
            <p:cNvSpPr/>
            <p:nvPr/>
          </p:nvSpPr>
          <p:spPr>
            <a:xfrm>
              <a:off x="7140200" y="1535134"/>
              <a:ext cx="857250" cy="2128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hangingPunct="0">
                <a:defRPr/>
              </a:pPr>
              <a:r>
                <a:rPr lang="zh-CN" altLang="en-US" b="1" kern="0" dirty="0">
                  <a:solidFill>
                    <a:sysClr val="windowText" lastClr="000000"/>
                  </a:solidFill>
                  <a:ea typeface="黑体" pitchFamily="2" charset="-122"/>
                </a:rPr>
                <a:t>前缀</a:t>
              </a:r>
            </a:p>
          </p:txBody>
        </p:sp>
      </p:grpSp>
      <p:sp>
        <p:nvSpPr>
          <p:cNvPr id="97"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98"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24</a:t>
            </a:fld>
            <a:endParaRPr kumimoji="1" lang="zh-CN" altLang="en-US" dirty="0"/>
          </a:p>
        </p:txBody>
      </p:sp>
    </p:spTree>
    <p:extLst>
      <p:ext uri="{BB962C8B-B14F-4D97-AF65-F5344CB8AC3E}">
        <p14:creationId xmlns:p14="http://schemas.microsoft.com/office/powerpoint/2010/main" val="35839662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分类的</a:t>
            </a:r>
            <a:r>
              <a:rPr lang="en-US" altLang="zh-CN" dirty="0"/>
              <a:t>IP</a:t>
            </a:r>
            <a:r>
              <a:rPr lang="zh-CN" altLang="en-US" dirty="0"/>
              <a:t>地址</a:t>
            </a:r>
          </a:p>
        </p:txBody>
      </p:sp>
      <p:sp>
        <p:nvSpPr>
          <p:cNvPr id="7" name="内容占位符 2"/>
          <p:cNvSpPr txBox="1">
            <a:spLocks/>
          </p:cNvSpPr>
          <p:nvPr/>
        </p:nvSpPr>
        <p:spPr>
          <a:xfrm>
            <a:off x="728029" y="1576860"/>
            <a:ext cx="10614885" cy="4457860"/>
          </a:xfrm>
          <a:prstGeom prst="rect">
            <a:avLst/>
          </a:prstGeom>
        </p:spPr>
        <p:txBody>
          <a:bodyPr vert="horz" lIns="91440" tIns="45720" rIns="91440" bIns="45720" rtlCol="0">
            <a:normAutofit/>
          </a:bodyPr>
          <a:lstStyle/>
          <a:p>
            <a:pPr marL="360363" marR="0" lvl="0" indent="-360363" algn="l" defTabSz="914400" rtl="0" eaLnBrk="1" fontAlgn="auto" latinLnBrk="0" hangingPunct="1">
              <a:lnSpc>
                <a:spcPct val="100000"/>
              </a:lnSpc>
              <a:spcBef>
                <a:spcPts val="600"/>
              </a:spcBef>
              <a:spcAft>
                <a:spcPts val="0"/>
              </a:spcAft>
              <a:buClrTx/>
              <a:buSzTx/>
              <a:buFont typeface="Wingdings" pitchFamily="2" charset="2"/>
              <a:buChar char="Ø"/>
              <a:tabLst/>
              <a:defRPr/>
            </a:pP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IP</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地址共分为</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A</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B</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C</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D</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E</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五类，</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A</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类、</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B</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类、</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C</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类为单播地址</a:t>
            </a:r>
            <a:endPar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endParaRPr>
          </a:p>
          <a:p>
            <a:pPr marL="228600" marR="0" lvl="1" indent="-228600" algn="l" defTabSz="914400" rtl="0" eaLnBrk="1" fontAlgn="auto" latinLnBrk="0" hangingPunct="1">
              <a:lnSpc>
                <a:spcPct val="100000"/>
              </a:lnSpc>
              <a:spcBef>
                <a:spcPts val="600"/>
              </a:spcBef>
              <a:spcAft>
                <a:spcPts val="0"/>
              </a:spcAft>
              <a:buClrTx/>
              <a:buSzTx/>
              <a:buFont typeface="Wingdings" pitchFamily="2" charset="2"/>
              <a:buChar char="Ø"/>
              <a:tabLst/>
              <a:defRPr/>
            </a:pP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 IP</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地址的书写采用</a:t>
            </a:r>
            <a:r>
              <a:rPr kumimoji="0" lang="zh-CN" altLang="en-US" sz="2400" u="none" strike="noStrike" kern="1200" cap="none" spc="0" normalizeH="0" baseline="0" noProof="0" dirty="0">
                <a:ln>
                  <a:noFill/>
                </a:ln>
                <a:solidFill>
                  <a:srgbClr val="C00000"/>
                </a:solidFill>
                <a:effectLst/>
                <a:uLnTx/>
                <a:uFillTx/>
                <a:latin typeface="DengXian" panose="02010600030101010101" pitchFamily="2" charset="-122"/>
                <a:ea typeface="DengXian" panose="02010600030101010101" pitchFamily="2" charset="-122"/>
                <a:cs typeface="+mn-cs"/>
              </a:rPr>
              <a:t>点分十进制</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记法，其中每一段取值范围为</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0</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到</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rPr>
              <a:t>255</a:t>
            </a:r>
            <a:endParaRPr kumimoji="0" lang="en-US" altLang="zh-CN" sz="28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cs typeface="+mn-cs"/>
            </a:endParaRPr>
          </a:p>
        </p:txBody>
      </p:sp>
      <p:pic>
        <p:nvPicPr>
          <p:cNvPr id="16" name="Picture 2" descr="https://imgconvert.csdnimg.cn/aHR0cHM6Ly9zMS5heDF4LmNvbS8yMDE4LzExLzE4L2l6YkJNcS5qcGc?x-oss-process=image/format,png#shadow"/>
          <p:cNvPicPr>
            <a:picLocks noChangeAspect="1" noChangeArrowheads="1"/>
          </p:cNvPicPr>
          <p:nvPr/>
        </p:nvPicPr>
        <p:blipFill>
          <a:blip r:embed="rId2"/>
          <a:srcRect/>
          <a:stretch>
            <a:fillRect/>
          </a:stretch>
        </p:blipFill>
        <p:spPr bwMode="auto">
          <a:xfrm>
            <a:off x="1220420" y="2568190"/>
            <a:ext cx="5410200" cy="3466530"/>
          </a:xfrm>
          <a:prstGeom prst="rect">
            <a:avLst/>
          </a:prstGeom>
          <a:noFill/>
        </p:spPr>
      </p:pic>
      <p:sp>
        <p:nvSpPr>
          <p:cNvPr id="32"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33"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25</a:t>
            </a:fld>
            <a:endParaRPr kumimoji="1" lang="zh-CN" altLang="en-US" dirty="0"/>
          </a:p>
        </p:txBody>
      </p:sp>
      <p:sp>
        <p:nvSpPr>
          <p:cNvPr id="3" name="矩形 2"/>
          <p:cNvSpPr/>
          <p:nvPr/>
        </p:nvSpPr>
        <p:spPr>
          <a:xfrm>
            <a:off x="10683240" y="3958509"/>
            <a:ext cx="1323240" cy="1158779"/>
          </a:xfrm>
          <a:prstGeom prst="rect">
            <a:avLst/>
          </a:prstGeom>
        </p:spPr>
        <p:txBody>
          <a:bodyPr wrap="square">
            <a:spAutoFit/>
          </a:bodyPr>
          <a:lstStyle/>
          <a:p>
            <a:pPr lvl="0" defTabSz="1028700">
              <a:lnSpc>
                <a:spcPct val="95000"/>
              </a:lnSpc>
              <a:spcBef>
                <a:spcPct val="50000"/>
              </a:spcBef>
              <a:buSzPct val="100000"/>
            </a:pPr>
            <a:r>
              <a:rPr lang="en-US" altLang="zh-CN" b="1" dirty="0">
                <a:solidFill>
                  <a:srgbClr val="5B307E"/>
                </a:solidFill>
                <a:latin typeface="等线" panose="02010600030101010101" pitchFamily="2" charset="-122"/>
                <a:ea typeface="等线" panose="02010600030101010101" pitchFamily="2" charset="-122"/>
              </a:rPr>
              <a:t>A</a:t>
            </a:r>
            <a:r>
              <a:rPr lang="zh-CN" altLang="en-US" b="1" dirty="0">
                <a:solidFill>
                  <a:srgbClr val="5B307E"/>
                </a:solidFill>
                <a:latin typeface="等线" panose="02010600030101010101" pitchFamily="2" charset="-122"/>
                <a:ea typeface="等线" panose="02010600030101010101" pitchFamily="2" charset="-122"/>
              </a:rPr>
              <a:t>类</a:t>
            </a:r>
            <a:endParaRPr lang="en-US" altLang="zh-CN" b="1" dirty="0">
              <a:solidFill>
                <a:srgbClr val="5B307E"/>
              </a:solidFill>
              <a:latin typeface="等线" panose="02010600030101010101" pitchFamily="2" charset="-122"/>
              <a:ea typeface="等线" panose="02010600030101010101" pitchFamily="2" charset="-122"/>
            </a:endParaRPr>
          </a:p>
          <a:p>
            <a:pPr lvl="0" defTabSz="1028700">
              <a:lnSpc>
                <a:spcPct val="95000"/>
              </a:lnSpc>
              <a:spcBef>
                <a:spcPct val="50000"/>
              </a:spcBef>
              <a:buSzPct val="100000"/>
            </a:pPr>
            <a:r>
              <a:rPr lang="en-US" altLang="zh-CN" b="1" dirty="0">
                <a:solidFill>
                  <a:srgbClr val="5B307E"/>
                </a:solidFill>
                <a:latin typeface="等线" panose="02010600030101010101" pitchFamily="2" charset="-122"/>
                <a:ea typeface="等线" panose="02010600030101010101" pitchFamily="2" charset="-122"/>
              </a:rPr>
              <a:t>B</a:t>
            </a:r>
            <a:r>
              <a:rPr lang="zh-CN" altLang="en-US" b="1" dirty="0">
                <a:solidFill>
                  <a:srgbClr val="5B307E"/>
                </a:solidFill>
                <a:latin typeface="等线" panose="02010600030101010101" pitchFamily="2" charset="-122"/>
                <a:ea typeface="等线" panose="02010600030101010101" pitchFamily="2" charset="-122"/>
              </a:rPr>
              <a:t>类</a:t>
            </a:r>
            <a:endParaRPr lang="en-US" altLang="zh-CN" b="1" dirty="0">
              <a:solidFill>
                <a:srgbClr val="5B307E"/>
              </a:solidFill>
              <a:latin typeface="等线" panose="02010600030101010101" pitchFamily="2" charset="-122"/>
              <a:ea typeface="等线" panose="02010600030101010101" pitchFamily="2" charset="-122"/>
            </a:endParaRPr>
          </a:p>
          <a:p>
            <a:pPr lvl="0" defTabSz="1028700">
              <a:lnSpc>
                <a:spcPct val="95000"/>
              </a:lnSpc>
              <a:spcBef>
                <a:spcPct val="50000"/>
              </a:spcBef>
              <a:buSzPct val="100000"/>
            </a:pPr>
            <a:r>
              <a:rPr lang="en-US" altLang="zh-CN" b="1" dirty="0">
                <a:solidFill>
                  <a:srgbClr val="5B307E"/>
                </a:solidFill>
                <a:latin typeface="等线" panose="02010600030101010101" pitchFamily="2" charset="-122"/>
                <a:ea typeface="等线" panose="02010600030101010101" pitchFamily="2" charset="-122"/>
              </a:rPr>
              <a:t>C</a:t>
            </a:r>
            <a:r>
              <a:rPr lang="zh-CN" altLang="en-US" b="1" dirty="0">
                <a:solidFill>
                  <a:srgbClr val="5B307E"/>
                </a:solidFill>
                <a:latin typeface="等线" panose="02010600030101010101" pitchFamily="2" charset="-122"/>
                <a:ea typeface="等线" panose="02010600030101010101" pitchFamily="2" charset="-122"/>
              </a:rPr>
              <a:t>类</a:t>
            </a:r>
            <a:endParaRPr lang="en-US" altLang="zh-CN" b="1" dirty="0">
              <a:solidFill>
                <a:srgbClr val="5B307E"/>
              </a:solidFill>
              <a:latin typeface="等线" panose="02010600030101010101" pitchFamily="2" charset="-122"/>
              <a:ea typeface="等线" panose="02010600030101010101" pitchFamily="2" charset="-122"/>
            </a:endParaRPr>
          </a:p>
        </p:txBody>
      </p:sp>
      <p:sp>
        <p:nvSpPr>
          <p:cNvPr id="28" name="矩形 27"/>
          <p:cNvSpPr/>
          <p:nvPr/>
        </p:nvSpPr>
        <p:spPr>
          <a:xfrm>
            <a:off x="7176120" y="3958509"/>
            <a:ext cx="3021379" cy="1158779"/>
          </a:xfrm>
          <a:prstGeom prst="rect">
            <a:avLst/>
          </a:prstGeom>
        </p:spPr>
        <p:txBody>
          <a:bodyPr wrap="square">
            <a:spAutoFit/>
          </a:bodyPr>
          <a:lstStyle/>
          <a:p>
            <a:pPr lvl="0" defTabSz="1028700">
              <a:lnSpc>
                <a:spcPct val="95000"/>
              </a:lnSpc>
              <a:spcBef>
                <a:spcPct val="50000"/>
              </a:spcBef>
              <a:buSzPct val="100000"/>
            </a:pPr>
            <a:r>
              <a:rPr lang="en-US" altLang="zh-CN" dirty="0"/>
              <a:t>1.0.0.0~127. 255.255.255</a:t>
            </a:r>
            <a:endParaRPr lang="en-US" altLang="zh-CN" dirty="0">
              <a:latin typeface="等线" panose="02010600030101010101" pitchFamily="2" charset="-122"/>
              <a:ea typeface="等线" panose="02010600030101010101" pitchFamily="2" charset="-122"/>
            </a:endParaRPr>
          </a:p>
          <a:p>
            <a:pPr defTabSz="1028700">
              <a:lnSpc>
                <a:spcPct val="95000"/>
              </a:lnSpc>
              <a:spcBef>
                <a:spcPct val="50000"/>
              </a:spcBef>
              <a:buSzPct val="100000"/>
            </a:pPr>
            <a:r>
              <a:rPr lang="en-US" altLang="zh-CN" dirty="0"/>
              <a:t>128.0.0.0~191.255.255.255</a:t>
            </a:r>
          </a:p>
          <a:p>
            <a:pPr defTabSz="1028700">
              <a:lnSpc>
                <a:spcPct val="95000"/>
              </a:lnSpc>
              <a:spcBef>
                <a:spcPct val="50000"/>
              </a:spcBef>
              <a:buSzPct val="100000"/>
            </a:pPr>
            <a:r>
              <a:rPr lang="en-US" altLang="zh-CN" dirty="0"/>
              <a:t>192.0.0.0~223.255.255.255</a:t>
            </a:r>
          </a:p>
        </p:txBody>
      </p:sp>
    </p:spTree>
    <p:extLst>
      <p:ext uri="{BB962C8B-B14F-4D97-AF65-F5344CB8AC3E}">
        <p14:creationId xmlns:p14="http://schemas.microsoft.com/office/powerpoint/2010/main" val="1799515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IP</a:t>
            </a:r>
            <a:r>
              <a:rPr lang="zh-CN" altLang="en-US" dirty="0"/>
              <a:t>特殊地址</a:t>
            </a:r>
          </a:p>
        </p:txBody>
      </p:sp>
      <p:sp>
        <p:nvSpPr>
          <p:cNvPr id="6"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7"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26</a:t>
            </a:fld>
            <a:endParaRPr kumimoji="1" lang="zh-CN" altLang="en-US" dirty="0"/>
          </a:p>
        </p:txBody>
      </p:sp>
      <p:graphicFrame>
        <p:nvGraphicFramePr>
          <p:cNvPr id="8" name="表格 6"/>
          <p:cNvGraphicFramePr/>
          <p:nvPr>
            <p:extLst>
              <p:ext uri="{D42A27DB-BD31-4B8C-83A1-F6EECF244321}">
                <p14:modId xmlns:p14="http://schemas.microsoft.com/office/powerpoint/2010/main" val="1526931187"/>
              </p:ext>
            </p:extLst>
          </p:nvPr>
        </p:nvGraphicFramePr>
        <p:xfrm>
          <a:off x="984120" y="1802598"/>
          <a:ext cx="10235119" cy="3972754"/>
        </p:xfrm>
        <a:graphic>
          <a:graphicData uri="http://schemas.openxmlformats.org/drawingml/2006/table">
            <a:tbl>
              <a:tblPr firstRow="1" bandRow="1">
                <a:tableStyleId>{21E4AEA4-8DFA-4A89-87EB-49C32662AFE0}</a:tableStyleId>
              </a:tblPr>
              <a:tblGrid>
                <a:gridCol w="2926399">
                  <a:extLst>
                    <a:ext uri="{9D8B030D-6E8A-4147-A177-3AD203B41FA5}">
                      <a16:colId xmlns:a16="http://schemas.microsoft.com/office/drawing/2014/main" val="20000"/>
                    </a:ext>
                  </a:extLst>
                </a:gridCol>
                <a:gridCol w="7308720">
                  <a:extLst>
                    <a:ext uri="{9D8B030D-6E8A-4147-A177-3AD203B41FA5}">
                      <a16:colId xmlns:a16="http://schemas.microsoft.com/office/drawing/2014/main" val="20001"/>
                    </a:ext>
                  </a:extLst>
                </a:gridCol>
              </a:tblGrid>
              <a:tr h="478783">
                <a:tc>
                  <a:txBody>
                    <a:bodyPr/>
                    <a:lstStyle/>
                    <a:p>
                      <a:pPr algn="ctr">
                        <a:lnSpc>
                          <a:spcPct val="150000"/>
                        </a:lnSpc>
                        <a:spcBef>
                          <a:spcPts val="600"/>
                        </a:spcBef>
                        <a:spcAft>
                          <a:spcPts val="600"/>
                        </a:spcAft>
                      </a:pPr>
                      <a:r>
                        <a:rPr lang="zh-CN" altLang="en-US" sz="2000" b="0" dirty="0">
                          <a:latin typeface="等线" panose="02010600030101010101" pitchFamily="2" charset="-122"/>
                          <a:ea typeface="等线" panose="02010600030101010101" pitchFamily="2" charset="-122"/>
                        </a:rPr>
                        <a:t>地址</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5B307E"/>
                    </a:solidFill>
                  </a:tcPr>
                </a:tc>
                <a:tc>
                  <a:txBody>
                    <a:bodyPr/>
                    <a:lstStyle/>
                    <a:p>
                      <a:pPr marL="0" algn="ctr" defTabSz="914400" rtl="0" eaLnBrk="1" latinLnBrk="0" hangingPunct="1">
                        <a:lnSpc>
                          <a:spcPct val="150000"/>
                        </a:lnSpc>
                        <a:spcBef>
                          <a:spcPts val="600"/>
                        </a:spcBef>
                        <a:spcAft>
                          <a:spcPts val="600"/>
                        </a:spcAft>
                      </a:pPr>
                      <a:r>
                        <a:rPr lang="zh-CN" altLang="en-US" sz="2000" b="0" kern="1200" dirty="0">
                          <a:solidFill>
                            <a:schemeClr val="lt1"/>
                          </a:solidFill>
                          <a:latin typeface="等线" panose="02010600030101010101" pitchFamily="2" charset="-122"/>
                          <a:ea typeface="等线" panose="02010600030101010101" pitchFamily="2" charset="-122"/>
                          <a:cs typeface="+mn-cs"/>
                        </a:rPr>
                        <a:t>用途</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5B307E"/>
                    </a:solidFill>
                  </a:tcPr>
                </a:tc>
                <a:extLst>
                  <a:ext uri="{0D108BD9-81ED-4DB2-BD59-A6C34878D82A}">
                    <a16:rowId xmlns:a16="http://schemas.microsoft.com/office/drawing/2014/main" val="10000"/>
                  </a:ext>
                </a:extLst>
              </a:tr>
              <a:tr h="478783">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等线" panose="02010600030101010101" pitchFamily="2" charset="-122"/>
                          <a:ea typeface="等线" panose="02010600030101010101" pitchFamily="2" charset="-122"/>
                          <a:cs typeface="+mn-cs"/>
                        </a:rPr>
                        <a:t>全</a:t>
                      </a:r>
                      <a:r>
                        <a:rPr lang="en-US" altLang="zh-CN" sz="2000" b="0" kern="1200" dirty="0">
                          <a:solidFill>
                            <a:schemeClr val="tx1"/>
                          </a:solidFill>
                          <a:latin typeface="等线" panose="02010600030101010101" pitchFamily="2" charset="-122"/>
                          <a:ea typeface="等线" panose="02010600030101010101" pitchFamily="2" charset="-122"/>
                          <a:cs typeface="+mn-cs"/>
                        </a:rPr>
                        <a:t>0</a:t>
                      </a:r>
                      <a:r>
                        <a:rPr lang="zh-CN" altLang="en-US" sz="2000" b="0" kern="1200" dirty="0">
                          <a:solidFill>
                            <a:srgbClr val="FF0000"/>
                          </a:solidFill>
                          <a:latin typeface="等线" panose="02010600030101010101" pitchFamily="2" charset="-122"/>
                          <a:ea typeface="等线" panose="02010600030101010101" pitchFamily="2" charset="-122"/>
                          <a:cs typeface="+mn-cs"/>
                        </a:rPr>
                        <a:t>网络地址</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等线" panose="02010600030101010101" pitchFamily="2" charset="-122"/>
                          <a:ea typeface="等线" panose="02010600030101010101" pitchFamily="2" charset="-122"/>
                          <a:cs typeface="+mn-cs"/>
                        </a:rPr>
                        <a:t>只在系统启动时有效，用于启动时临时通信，又叫主机地址</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78783">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等线" panose="02010600030101010101" pitchFamily="2" charset="-122"/>
                          <a:ea typeface="等线" panose="02010600030101010101" pitchFamily="2" charset="-122"/>
                          <a:cs typeface="+mn-cs"/>
                        </a:rPr>
                        <a:t>127.X.X.X</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AF4FF"/>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等线" panose="02010600030101010101" pitchFamily="2" charset="-122"/>
                          <a:ea typeface="等线" panose="02010600030101010101" pitchFamily="2" charset="-122"/>
                          <a:cs typeface="+mn-cs"/>
                        </a:rPr>
                        <a:t>指本地节点</a:t>
                      </a:r>
                      <a:r>
                        <a:rPr lang="en-US" altLang="zh-CN" sz="2000" b="0" kern="1200" dirty="0">
                          <a:solidFill>
                            <a:schemeClr val="tx1"/>
                          </a:solidFill>
                          <a:latin typeface="等线" panose="02010600030101010101" pitchFamily="2" charset="-122"/>
                          <a:ea typeface="等线" panose="02010600030101010101" pitchFamily="2" charset="-122"/>
                          <a:cs typeface="+mn-cs"/>
                        </a:rPr>
                        <a:t>(</a:t>
                      </a:r>
                      <a:r>
                        <a:rPr lang="zh-CN" altLang="en-US" sz="2000" b="0" kern="1200" dirty="0">
                          <a:solidFill>
                            <a:schemeClr val="tx1"/>
                          </a:solidFill>
                          <a:latin typeface="等线" panose="02010600030101010101" pitchFamily="2" charset="-122"/>
                          <a:ea typeface="等线" panose="02010600030101010101" pitchFamily="2" charset="-122"/>
                          <a:cs typeface="+mn-cs"/>
                        </a:rPr>
                        <a:t>一般为</a:t>
                      </a:r>
                      <a:r>
                        <a:rPr lang="en-US" altLang="zh-CN" sz="2000" b="0" kern="1200" dirty="0">
                          <a:solidFill>
                            <a:schemeClr val="tx1"/>
                          </a:solidFill>
                          <a:latin typeface="等线" panose="02010600030101010101" pitchFamily="2" charset="-122"/>
                          <a:ea typeface="等线" panose="02010600030101010101" pitchFamily="2" charset="-122"/>
                          <a:cs typeface="+mn-cs"/>
                        </a:rPr>
                        <a:t>127.0.0.1)</a:t>
                      </a:r>
                      <a:r>
                        <a:rPr lang="zh-CN" altLang="en-US" sz="2000" b="0" kern="1200" dirty="0">
                          <a:solidFill>
                            <a:schemeClr val="tx1"/>
                          </a:solidFill>
                          <a:latin typeface="等线" panose="02010600030101010101" pitchFamily="2" charset="-122"/>
                          <a:ea typeface="等线" panose="02010600030101010101" pitchFamily="2" charset="-122"/>
                          <a:cs typeface="+mn-cs"/>
                        </a:rPr>
                        <a:t>，用于测试网卡及</a:t>
                      </a:r>
                      <a:r>
                        <a:rPr lang="en-US" altLang="zh-CN" sz="2000" b="0" kern="1200" dirty="0">
                          <a:solidFill>
                            <a:schemeClr val="tx1"/>
                          </a:solidFill>
                          <a:latin typeface="等线" panose="02010600030101010101" pitchFamily="2" charset="-122"/>
                          <a:ea typeface="等线" panose="02010600030101010101" pitchFamily="2" charset="-122"/>
                          <a:cs typeface="+mn-cs"/>
                        </a:rPr>
                        <a:t>TCP/IP</a:t>
                      </a:r>
                      <a:r>
                        <a:rPr lang="zh-CN" altLang="en-US" sz="2000" b="0" kern="1200" dirty="0">
                          <a:solidFill>
                            <a:schemeClr val="tx1"/>
                          </a:solidFill>
                          <a:latin typeface="等线" panose="02010600030101010101" pitchFamily="2" charset="-122"/>
                          <a:ea typeface="等线" panose="02010600030101010101" pitchFamily="2" charset="-122"/>
                          <a:cs typeface="+mn-cs"/>
                        </a:rPr>
                        <a:t>软件，这样浪费了</a:t>
                      </a:r>
                      <a:r>
                        <a:rPr lang="en-US" altLang="zh-CN" sz="2000" b="0" kern="1200" dirty="0">
                          <a:solidFill>
                            <a:schemeClr val="tx1"/>
                          </a:solidFill>
                          <a:latin typeface="等线" panose="02010600030101010101" pitchFamily="2" charset="-122"/>
                          <a:ea typeface="等线" panose="02010600030101010101" pitchFamily="2" charset="-122"/>
                          <a:cs typeface="+mn-cs"/>
                        </a:rPr>
                        <a:t>1700</a:t>
                      </a:r>
                      <a:r>
                        <a:rPr lang="zh-CN" altLang="en-US" sz="2000" b="0" kern="1200" dirty="0">
                          <a:solidFill>
                            <a:schemeClr val="tx1"/>
                          </a:solidFill>
                          <a:latin typeface="等线" panose="02010600030101010101" pitchFamily="2" charset="-122"/>
                          <a:ea typeface="等线" panose="02010600030101010101" pitchFamily="2" charset="-122"/>
                          <a:cs typeface="+mn-cs"/>
                        </a:rPr>
                        <a:t>万个地址</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AF4FF"/>
                    </a:solidFill>
                  </a:tcPr>
                </a:tc>
                <a:extLst>
                  <a:ext uri="{0D108BD9-81ED-4DB2-BD59-A6C34878D82A}">
                    <a16:rowId xmlns:a16="http://schemas.microsoft.com/office/drawing/2014/main" val="10002"/>
                  </a:ext>
                </a:extLst>
              </a:tr>
              <a:tr h="478783">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等线" panose="02010600030101010101" pitchFamily="2" charset="-122"/>
                          <a:ea typeface="等线" panose="02010600030101010101" pitchFamily="2" charset="-122"/>
                          <a:cs typeface="+mn-cs"/>
                        </a:rPr>
                        <a:t>全</a:t>
                      </a:r>
                      <a:r>
                        <a:rPr lang="en-US" altLang="zh-CN" sz="2000" b="0" kern="1200" dirty="0">
                          <a:solidFill>
                            <a:schemeClr val="tx1"/>
                          </a:solidFill>
                          <a:latin typeface="等线" panose="02010600030101010101" pitchFamily="2" charset="-122"/>
                          <a:ea typeface="等线" panose="02010600030101010101" pitchFamily="2" charset="-122"/>
                          <a:cs typeface="+mn-cs"/>
                        </a:rPr>
                        <a:t>0</a:t>
                      </a:r>
                      <a:r>
                        <a:rPr lang="zh-CN" altLang="en-US" sz="2000" b="0" kern="1200" dirty="0">
                          <a:solidFill>
                            <a:srgbClr val="FF0000"/>
                          </a:solidFill>
                          <a:latin typeface="等线" panose="02010600030101010101" pitchFamily="2" charset="-122"/>
                          <a:ea typeface="等线" panose="02010600030101010101" pitchFamily="2" charset="-122"/>
                          <a:cs typeface="+mn-cs"/>
                        </a:rPr>
                        <a:t>主机地址</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等线" panose="02010600030101010101" pitchFamily="2" charset="-122"/>
                          <a:ea typeface="等线" panose="02010600030101010101" pitchFamily="2" charset="-122"/>
                          <a:cs typeface="+mn-cs"/>
                        </a:rPr>
                        <a:t>用于指定网络本身，称之为网络地址或者网络号</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78783">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等线" panose="02010600030101010101" pitchFamily="2" charset="-122"/>
                          <a:ea typeface="等线" panose="02010600030101010101" pitchFamily="2" charset="-122"/>
                          <a:cs typeface="+mn-cs"/>
                        </a:rPr>
                        <a:t>全</a:t>
                      </a:r>
                      <a:r>
                        <a:rPr lang="en-US" altLang="zh-CN" sz="2000" b="0" kern="1200" dirty="0">
                          <a:solidFill>
                            <a:schemeClr val="tx1"/>
                          </a:solidFill>
                          <a:latin typeface="等线" panose="02010600030101010101" pitchFamily="2" charset="-122"/>
                          <a:ea typeface="等线" panose="02010600030101010101" pitchFamily="2" charset="-122"/>
                          <a:cs typeface="+mn-cs"/>
                        </a:rPr>
                        <a:t>1</a:t>
                      </a:r>
                      <a:r>
                        <a:rPr lang="zh-CN" altLang="en-US" sz="2000" b="0" kern="1200" dirty="0">
                          <a:solidFill>
                            <a:srgbClr val="FF0000"/>
                          </a:solidFill>
                          <a:latin typeface="等线" panose="02010600030101010101" pitchFamily="2" charset="-122"/>
                          <a:ea typeface="等线" panose="02010600030101010101" pitchFamily="2" charset="-122"/>
                          <a:cs typeface="+mn-cs"/>
                        </a:rPr>
                        <a:t>主机地址</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AF4FF"/>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等线" panose="02010600030101010101" pitchFamily="2" charset="-122"/>
                          <a:ea typeface="等线" panose="02010600030101010101" pitchFamily="2" charset="-122"/>
                          <a:cs typeface="+mn-cs"/>
                        </a:rPr>
                        <a:t>用于广播，也称定向广播，需要指定目标网络</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AF4FF"/>
                    </a:solidFill>
                  </a:tcPr>
                </a:tc>
                <a:extLst>
                  <a:ext uri="{0D108BD9-81ED-4DB2-BD59-A6C34878D82A}">
                    <a16:rowId xmlns:a16="http://schemas.microsoft.com/office/drawing/2014/main" val="10004"/>
                  </a:ext>
                </a:extLst>
              </a:tr>
              <a:tr h="478783">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等线" panose="02010600030101010101" pitchFamily="2" charset="-122"/>
                          <a:ea typeface="等线" panose="02010600030101010101" pitchFamily="2" charset="-122"/>
                          <a:cs typeface="+mn-cs"/>
                        </a:rPr>
                        <a:t>0.0.0.0</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等线" panose="02010600030101010101" pitchFamily="2" charset="-122"/>
                          <a:ea typeface="等线" panose="02010600030101010101" pitchFamily="2" charset="-122"/>
                          <a:cs typeface="+mn-cs"/>
                        </a:rPr>
                        <a:t>指任意地址</a:t>
                      </a:r>
                      <a:endParaRPr lang="en-US" altLang="zh-CN" sz="2000" b="0" kern="1200" dirty="0">
                        <a:solidFill>
                          <a:schemeClr val="tx1"/>
                        </a:solidFill>
                        <a:latin typeface="等线" panose="02010600030101010101" pitchFamily="2" charset="-122"/>
                        <a:ea typeface="等线" panose="02010600030101010101" pitchFamily="2" charset="-122"/>
                        <a:cs typeface="+mn-cs"/>
                      </a:endParaRP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78783">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en-US" altLang="zh-CN" sz="2000" b="0" kern="1200" dirty="0">
                          <a:solidFill>
                            <a:schemeClr val="tx1"/>
                          </a:solidFill>
                          <a:latin typeface="等线" panose="02010600030101010101" pitchFamily="2" charset="-122"/>
                          <a:ea typeface="等线" panose="02010600030101010101" pitchFamily="2" charset="-122"/>
                          <a:cs typeface="+mn-cs"/>
                        </a:rPr>
                        <a:t>255.255.255.255</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AF4FF"/>
                    </a:solidFill>
                  </a:tcPr>
                </a:tc>
                <a:tc>
                  <a:txBody>
                    <a:bodyPr/>
                    <a:lstStyle/>
                    <a:p>
                      <a:pPr marL="0" marR="0" lvl="0" indent="0" algn="ctr" defTabSz="914400" rtl="0" eaLnBrk="1" fontAlgn="auto" latinLnBrk="0" hangingPunct="1">
                        <a:lnSpc>
                          <a:spcPct val="150000"/>
                        </a:lnSpc>
                        <a:spcBef>
                          <a:spcPts val="600"/>
                        </a:spcBef>
                        <a:spcAft>
                          <a:spcPts val="600"/>
                        </a:spcAft>
                        <a:buClrTx/>
                        <a:buSzTx/>
                        <a:buFontTx/>
                        <a:buNone/>
                        <a:tabLst/>
                        <a:defRPr/>
                      </a:pPr>
                      <a:r>
                        <a:rPr lang="zh-CN" altLang="en-US" sz="2000" b="0" kern="1200" dirty="0">
                          <a:solidFill>
                            <a:schemeClr val="tx1"/>
                          </a:solidFill>
                          <a:latin typeface="等线" panose="02010600030101010101" pitchFamily="2" charset="-122"/>
                          <a:ea typeface="等线" panose="02010600030101010101" pitchFamily="2" charset="-122"/>
                          <a:cs typeface="+mn-cs"/>
                        </a:rPr>
                        <a:t>用于本地广播，也称有限</a:t>
                      </a:r>
                      <a:r>
                        <a:rPr lang="en-US" altLang="zh-CN" sz="2000" b="0" kern="1200" dirty="0">
                          <a:solidFill>
                            <a:schemeClr val="tx1"/>
                          </a:solidFill>
                          <a:latin typeface="等线" panose="02010600030101010101" pitchFamily="2" charset="-122"/>
                          <a:ea typeface="等线" panose="02010600030101010101" pitchFamily="2" charset="-122"/>
                          <a:cs typeface="+mn-cs"/>
                        </a:rPr>
                        <a:t>/</a:t>
                      </a:r>
                      <a:r>
                        <a:rPr lang="zh-CN" altLang="en-US" sz="2000" b="0" kern="1200" dirty="0">
                          <a:solidFill>
                            <a:schemeClr val="tx1"/>
                          </a:solidFill>
                          <a:latin typeface="等线" panose="02010600030101010101" pitchFamily="2" charset="-122"/>
                          <a:ea typeface="等线" panose="02010600030101010101" pitchFamily="2" charset="-122"/>
                          <a:cs typeface="+mn-cs"/>
                        </a:rPr>
                        <a:t>受限广播，无须知道本地网络地址</a:t>
                      </a:r>
                    </a:p>
                  </a:txBody>
                  <a:tcPr>
                    <a:lnL w="12700" cap="flat" cmpd="sng" algn="ctr">
                      <a:solidFill>
                        <a:srgbClr val="7030A0"/>
                      </a:solidFill>
                      <a:prstDash val="solid"/>
                      <a:round/>
                      <a:headEnd type="none" w="med" len="med"/>
                      <a:tailEnd type="none" w="med" len="med"/>
                    </a:lnL>
                    <a:lnR w="12700" cap="flat" cmpd="sng" algn="ctr">
                      <a:solidFill>
                        <a:srgbClr val="7030A0"/>
                      </a:solidFill>
                      <a:prstDash val="solid"/>
                      <a:round/>
                      <a:headEnd type="none" w="med" len="med"/>
                      <a:tailEnd type="none" w="med" len="med"/>
                    </a:lnR>
                    <a:lnT w="12700" cap="flat" cmpd="sng" algn="ctr">
                      <a:solidFill>
                        <a:srgbClr val="7030A0"/>
                      </a:solidFill>
                      <a:prstDash val="solid"/>
                      <a:round/>
                      <a:headEnd type="none" w="med" len="med"/>
                      <a:tailEnd type="none" w="med" len="med"/>
                    </a:lnT>
                    <a:lnB w="12700" cap="flat" cmpd="sng" algn="ctr">
                      <a:solidFill>
                        <a:srgbClr val="7030A0"/>
                      </a:solidFill>
                      <a:prstDash val="solid"/>
                      <a:round/>
                      <a:headEnd type="none" w="med" len="med"/>
                      <a:tailEnd type="none" w="med" len="med"/>
                    </a:lnB>
                    <a:solidFill>
                      <a:srgbClr val="FAF4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781989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子网划分</a:t>
            </a:r>
          </a:p>
        </p:txBody>
      </p:sp>
      <p:sp>
        <p:nvSpPr>
          <p:cNvPr id="3" name="内容占位符 2"/>
          <p:cNvSpPr>
            <a:spLocks noGrp="1"/>
          </p:cNvSpPr>
          <p:nvPr>
            <p:ph idx="1"/>
          </p:nvPr>
        </p:nvSpPr>
        <p:spPr/>
        <p:txBody>
          <a:bodyPr/>
          <a:lstStyle/>
          <a:p>
            <a:pPr marL="228600" lvl="1">
              <a:buFont typeface="Wingdings" pitchFamily="2" charset="2"/>
              <a:buChar char="Ø"/>
            </a:pPr>
            <a:r>
              <a:rPr lang="zh-CN" altLang="en-US" sz="2000" dirty="0">
                <a:solidFill>
                  <a:srgbClr val="C00000"/>
                </a:solidFill>
              </a:rPr>
              <a:t>子网划分 </a:t>
            </a:r>
            <a:r>
              <a:rPr lang="en-US" altLang="zh-CN" sz="2000" dirty="0">
                <a:solidFill>
                  <a:srgbClr val="C00000"/>
                </a:solidFill>
              </a:rPr>
              <a:t>(subnetting)</a:t>
            </a:r>
            <a:r>
              <a:rPr lang="zh-CN" altLang="en-US" sz="2000" dirty="0"/>
              <a:t>，在</a:t>
            </a:r>
            <a:r>
              <a:rPr lang="zh-CN" altLang="en-US" sz="2000" dirty="0">
                <a:solidFill>
                  <a:srgbClr val="C00000"/>
                </a:solidFill>
              </a:rPr>
              <a:t>网络内部</a:t>
            </a:r>
            <a:r>
              <a:rPr lang="zh-CN" altLang="en-US" sz="2000" dirty="0"/>
              <a:t>将一个网络块进行划分以供多个内部网络使用，对外仍是一个网络</a:t>
            </a:r>
            <a:endParaRPr lang="en-US" altLang="zh-CN" sz="2000" dirty="0"/>
          </a:p>
          <a:p>
            <a:pPr marL="228600" lvl="1">
              <a:buFont typeface="Wingdings" pitchFamily="2" charset="2"/>
              <a:buChar char="Ø"/>
            </a:pPr>
            <a:r>
              <a:rPr lang="zh-CN" altLang="en-US" sz="2000" dirty="0">
                <a:solidFill>
                  <a:srgbClr val="C00000"/>
                </a:solidFill>
              </a:rPr>
              <a:t>子网</a:t>
            </a:r>
            <a:r>
              <a:rPr lang="en-US" altLang="zh-CN" sz="2000" dirty="0">
                <a:solidFill>
                  <a:srgbClr val="C00000"/>
                </a:solidFill>
              </a:rPr>
              <a:t>(subnet )</a:t>
            </a:r>
            <a:r>
              <a:rPr lang="zh-CN" altLang="en-US" sz="2000" dirty="0"/>
              <a:t>，一个网络进行子网划分后得到的一系列结果网络称为子网</a:t>
            </a:r>
            <a:endParaRPr lang="en-US" altLang="zh-CN" sz="2000" dirty="0"/>
          </a:p>
          <a:p>
            <a:pPr marL="228600" lvl="1">
              <a:buFont typeface="Wingdings" pitchFamily="2" charset="2"/>
              <a:buChar char="Ø"/>
            </a:pPr>
            <a:r>
              <a:rPr lang="zh-CN" altLang="en-US" sz="2000" dirty="0">
                <a:solidFill>
                  <a:srgbClr val="C00000"/>
                </a:solidFill>
              </a:rPr>
              <a:t>子网掩码</a:t>
            </a:r>
            <a:r>
              <a:rPr lang="en-US" altLang="zh-CN" sz="2000" dirty="0">
                <a:solidFill>
                  <a:srgbClr val="C00000"/>
                </a:solidFill>
              </a:rPr>
              <a:t>(subnet mask )</a:t>
            </a:r>
            <a:r>
              <a:rPr lang="zh-CN" altLang="en-US" sz="2000" dirty="0"/>
              <a:t>，是</a:t>
            </a:r>
            <a:r>
              <a:rPr lang="en-US" altLang="zh-CN" sz="2000" dirty="0"/>
              <a:t>32 bit </a:t>
            </a:r>
            <a:r>
              <a:rPr lang="zh-CN" altLang="en-US" sz="2000" dirty="0"/>
              <a:t>的二进制数，置</a:t>
            </a:r>
            <a:r>
              <a:rPr lang="en-US" altLang="zh-CN" sz="2000" dirty="0"/>
              <a:t>1</a:t>
            </a:r>
            <a:r>
              <a:rPr lang="zh-CN" altLang="en-US" sz="2000" dirty="0"/>
              <a:t>表示网络位，置</a:t>
            </a:r>
            <a:r>
              <a:rPr lang="en-US" altLang="zh-CN" sz="2000" dirty="0"/>
              <a:t>0</a:t>
            </a:r>
            <a:r>
              <a:rPr lang="zh-CN" altLang="en-US" sz="2000" dirty="0"/>
              <a:t>表示主机位</a:t>
            </a:r>
            <a:endParaRPr lang="en-US" altLang="zh-CN" sz="2000" dirty="0">
              <a:solidFill>
                <a:srgbClr val="FF0000"/>
              </a:solidFill>
            </a:endParaRPr>
          </a:p>
          <a:p>
            <a:pPr marL="228600" lvl="1">
              <a:buFont typeface="Wingdings" pitchFamily="2" charset="2"/>
              <a:buChar char="Ø"/>
            </a:pPr>
            <a:r>
              <a:rPr lang="zh-CN" altLang="en-US" sz="2000" dirty="0"/>
              <a:t>子网划分</a:t>
            </a:r>
            <a:r>
              <a:rPr lang="zh-CN" altLang="en-US" sz="2000" dirty="0">
                <a:solidFill>
                  <a:schemeClr val="tx1">
                    <a:lumMod val="95000"/>
                    <a:lumOff val="5000"/>
                  </a:schemeClr>
                </a:solidFill>
              </a:rPr>
              <a:t>减少了 </a:t>
            </a:r>
            <a:r>
              <a:rPr lang="en-US" altLang="zh-CN" sz="2000" dirty="0">
                <a:solidFill>
                  <a:schemeClr val="tx1">
                    <a:lumMod val="95000"/>
                    <a:lumOff val="5000"/>
                  </a:schemeClr>
                </a:solidFill>
              </a:rPr>
              <a:t>IP </a:t>
            </a:r>
            <a:r>
              <a:rPr lang="zh-CN" altLang="en-US" sz="2000" dirty="0">
                <a:solidFill>
                  <a:schemeClr val="tx1">
                    <a:lumMod val="95000"/>
                    <a:lumOff val="5000"/>
                  </a:schemeClr>
                </a:solidFill>
              </a:rPr>
              <a:t>地址的浪费，网络的组织更加灵活，便于维护和管理</a:t>
            </a:r>
            <a:endParaRPr lang="zh-CN" altLang="en-US" sz="2000" dirty="0">
              <a:solidFill>
                <a:srgbClr val="FF0000"/>
              </a:solidFill>
            </a:endParaRPr>
          </a:p>
          <a:p>
            <a:endParaRPr lang="zh-CN" altLang="en-US" dirty="0"/>
          </a:p>
        </p:txBody>
      </p:sp>
      <p:sp>
        <p:nvSpPr>
          <p:cNvPr id="8" name="Rectangle 2"/>
          <p:cNvSpPr>
            <a:spLocks noChangeArrowheads="1"/>
          </p:cNvSpPr>
          <p:nvPr/>
        </p:nvSpPr>
        <p:spPr bwMode="auto">
          <a:xfrm>
            <a:off x="2912084" y="4159531"/>
            <a:ext cx="7842492" cy="286062"/>
          </a:xfrm>
          <a:prstGeom prst="rect">
            <a:avLst/>
          </a:prstGeom>
          <a:solidFill>
            <a:srgbClr val="CCEC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9" name="Rectangle 3"/>
          <p:cNvSpPr>
            <a:spLocks noChangeArrowheads="1"/>
          </p:cNvSpPr>
          <p:nvPr/>
        </p:nvSpPr>
        <p:spPr bwMode="auto">
          <a:xfrm>
            <a:off x="2920744" y="3707574"/>
            <a:ext cx="7833832" cy="273054"/>
          </a:xfrm>
          <a:prstGeom prst="rect">
            <a:avLst/>
          </a:prstGeom>
          <a:solidFill>
            <a:srgbClr val="CCECFF"/>
          </a:solidFill>
          <a:ln w="317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0" name="Line 5"/>
          <p:cNvSpPr>
            <a:spLocks noChangeShapeType="1"/>
          </p:cNvSpPr>
          <p:nvPr/>
        </p:nvSpPr>
        <p:spPr bwMode="auto">
          <a:xfrm flipV="1">
            <a:off x="2950187" y="4639669"/>
            <a:ext cx="3794752"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11" name="Line 6"/>
          <p:cNvSpPr>
            <a:spLocks noChangeShapeType="1"/>
          </p:cNvSpPr>
          <p:nvPr/>
        </p:nvSpPr>
        <p:spPr bwMode="auto">
          <a:xfrm flipV="1">
            <a:off x="8707264" y="4639669"/>
            <a:ext cx="1939810" cy="0"/>
          </a:xfrm>
          <a:prstGeom prst="line">
            <a:avLst/>
          </a:prstGeom>
          <a:noFill/>
          <a:ln w="12700">
            <a:solidFill>
              <a:schemeClr val="tx2"/>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12" name="Line 7"/>
          <p:cNvSpPr>
            <a:spLocks noChangeShapeType="1"/>
          </p:cNvSpPr>
          <p:nvPr/>
        </p:nvSpPr>
        <p:spPr bwMode="auto">
          <a:xfrm flipV="1">
            <a:off x="6744940" y="4639669"/>
            <a:ext cx="1953665" cy="0"/>
          </a:xfrm>
          <a:prstGeom prst="line">
            <a:avLst/>
          </a:prstGeom>
          <a:noFill/>
          <a:ln w="12700">
            <a:solidFill>
              <a:schemeClr val="tx1"/>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13" name="Rectangle 8"/>
          <p:cNvSpPr>
            <a:spLocks noChangeArrowheads="1"/>
          </p:cNvSpPr>
          <p:nvPr/>
        </p:nvSpPr>
        <p:spPr bwMode="auto">
          <a:xfrm>
            <a:off x="2944074" y="3720714"/>
            <a:ext cx="3808607" cy="255685"/>
          </a:xfrm>
          <a:prstGeom prst="rect">
            <a:avLst/>
          </a:prstGeom>
          <a:solidFill>
            <a:srgbClr val="FFFF99"/>
          </a:solidFill>
          <a:ln w="31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a:solidFill>
                <a:srgbClr val="0000CC"/>
              </a:solidFill>
              <a:latin typeface="+mn-lt"/>
              <a:ea typeface="黑体" pitchFamily="2" charset="-122"/>
            </a:endParaRPr>
          </a:p>
        </p:txBody>
      </p:sp>
      <p:sp>
        <p:nvSpPr>
          <p:cNvPr id="14" name="Rectangle 9"/>
          <p:cNvSpPr>
            <a:spLocks noChangeArrowheads="1"/>
          </p:cNvSpPr>
          <p:nvPr/>
        </p:nvSpPr>
        <p:spPr bwMode="auto">
          <a:xfrm>
            <a:off x="4268219" y="3665790"/>
            <a:ext cx="956994"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latin typeface="+mn-lt"/>
                <a:ea typeface="黑体" pitchFamily="2" charset="-122"/>
              </a:rPr>
              <a:t>网络号</a:t>
            </a:r>
          </a:p>
        </p:txBody>
      </p:sp>
      <p:sp>
        <p:nvSpPr>
          <p:cNvPr id="15" name="Rectangle 10"/>
          <p:cNvSpPr>
            <a:spLocks noChangeArrowheads="1"/>
          </p:cNvSpPr>
          <p:nvPr/>
        </p:nvSpPr>
        <p:spPr bwMode="auto">
          <a:xfrm>
            <a:off x="8203312" y="3659219"/>
            <a:ext cx="956994"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latin typeface="+mn-lt"/>
                <a:ea typeface="黑体" pitchFamily="2" charset="-122"/>
              </a:rPr>
              <a:t>主机号</a:t>
            </a:r>
          </a:p>
        </p:txBody>
      </p:sp>
      <p:sp>
        <p:nvSpPr>
          <p:cNvPr id="16" name="Rectangle 11"/>
          <p:cNvSpPr>
            <a:spLocks noChangeArrowheads="1"/>
          </p:cNvSpPr>
          <p:nvPr/>
        </p:nvSpPr>
        <p:spPr bwMode="auto">
          <a:xfrm>
            <a:off x="1296310" y="3667382"/>
            <a:ext cx="1604866" cy="253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latin typeface="+mn-lt"/>
                <a:ea typeface="黑体" pitchFamily="2" charset="-122"/>
              </a:rPr>
              <a:t>两级 </a:t>
            </a:r>
            <a:r>
              <a:rPr kumimoji="1" lang="en-US" altLang="zh-CN" sz="2000" b="1" dirty="0">
                <a:solidFill>
                  <a:srgbClr val="0000CC"/>
                </a:solidFill>
                <a:latin typeface="+mn-lt"/>
                <a:ea typeface="黑体" pitchFamily="2" charset="-122"/>
              </a:rPr>
              <a:t>IP </a:t>
            </a:r>
            <a:r>
              <a:rPr kumimoji="1" lang="zh-CN" altLang="en-US" sz="2000" b="1" dirty="0">
                <a:solidFill>
                  <a:srgbClr val="0000CC"/>
                </a:solidFill>
                <a:latin typeface="+mn-lt"/>
                <a:ea typeface="黑体" pitchFamily="2" charset="-122"/>
              </a:rPr>
              <a:t>地址</a:t>
            </a:r>
          </a:p>
        </p:txBody>
      </p:sp>
      <p:sp>
        <p:nvSpPr>
          <p:cNvPr id="17" name="Rectangle 12"/>
          <p:cNvSpPr>
            <a:spLocks noChangeArrowheads="1"/>
          </p:cNvSpPr>
          <p:nvPr/>
        </p:nvSpPr>
        <p:spPr bwMode="auto">
          <a:xfrm>
            <a:off x="4176424" y="4572956"/>
            <a:ext cx="1266072" cy="16678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8" name="Line 13"/>
          <p:cNvSpPr>
            <a:spLocks noChangeShapeType="1"/>
          </p:cNvSpPr>
          <p:nvPr/>
        </p:nvSpPr>
        <p:spPr bwMode="auto">
          <a:xfrm>
            <a:off x="6760512" y="3707573"/>
            <a:ext cx="0" cy="28909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19" name="Rectangle 14"/>
          <p:cNvSpPr>
            <a:spLocks noChangeArrowheads="1"/>
          </p:cNvSpPr>
          <p:nvPr/>
        </p:nvSpPr>
        <p:spPr bwMode="auto">
          <a:xfrm>
            <a:off x="4268219" y="4523425"/>
            <a:ext cx="958929" cy="253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网络号</a:t>
            </a:r>
          </a:p>
        </p:txBody>
      </p:sp>
      <p:sp>
        <p:nvSpPr>
          <p:cNvPr id="20" name="Rectangle 15"/>
          <p:cNvSpPr>
            <a:spLocks noChangeArrowheads="1"/>
          </p:cNvSpPr>
          <p:nvPr/>
        </p:nvSpPr>
        <p:spPr bwMode="auto">
          <a:xfrm>
            <a:off x="2925940" y="4150207"/>
            <a:ext cx="3819000" cy="328742"/>
          </a:xfrm>
          <a:prstGeom prst="rect">
            <a:avLst/>
          </a:prstGeom>
          <a:solidFill>
            <a:srgbClr val="FFFF99"/>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1" name="Rectangle 16"/>
          <p:cNvSpPr>
            <a:spLocks noChangeArrowheads="1"/>
          </p:cNvSpPr>
          <p:nvPr/>
        </p:nvSpPr>
        <p:spPr bwMode="auto">
          <a:xfrm>
            <a:off x="1282294" y="4117317"/>
            <a:ext cx="1604866" cy="253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latin typeface="+mn-lt"/>
                <a:ea typeface="黑体" pitchFamily="2" charset="-122"/>
              </a:rPr>
              <a:t>三级 </a:t>
            </a:r>
            <a:r>
              <a:rPr kumimoji="1" lang="en-US" altLang="zh-CN" sz="2000" b="1" dirty="0">
                <a:solidFill>
                  <a:srgbClr val="0000CC"/>
                </a:solidFill>
                <a:latin typeface="+mn-lt"/>
                <a:ea typeface="黑体" pitchFamily="2" charset="-122"/>
              </a:rPr>
              <a:t>IP </a:t>
            </a:r>
            <a:r>
              <a:rPr kumimoji="1" lang="zh-CN" altLang="en-US" sz="2000" b="1" dirty="0">
                <a:solidFill>
                  <a:srgbClr val="0000CC"/>
                </a:solidFill>
                <a:latin typeface="+mn-lt"/>
                <a:ea typeface="黑体" pitchFamily="2" charset="-122"/>
              </a:rPr>
              <a:t>地址</a:t>
            </a:r>
          </a:p>
        </p:txBody>
      </p:sp>
      <p:sp>
        <p:nvSpPr>
          <p:cNvPr id="22" name="Rectangle 17"/>
          <p:cNvSpPr>
            <a:spLocks noChangeArrowheads="1"/>
          </p:cNvSpPr>
          <p:nvPr/>
        </p:nvSpPr>
        <p:spPr bwMode="auto">
          <a:xfrm>
            <a:off x="9287475" y="4572955"/>
            <a:ext cx="969904" cy="1819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3" name="Line 18"/>
          <p:cNvSpPr>
            <a:spLocks noChangeShapeType="1"/>
          </p:cNvSpPr>
          <p:nvPr/>
        </p:nvSpPr>
        <p:spPr bwMode="auto">
          <a:xfrm>
            <a:off x="6744940" y="4165595"/>
            <a:ext cx="0" cy="28707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4" name="Rectangle 19"/>
          <p:cNvSpPr>
            <a:spLocks noChangeArrowheads="1"/>
          </p:cNvSpPr>
          <p:nvPr/>
        </p:nvSpPr>
        <p:spPr bwMode="auto">
          <a:xfrm>
            <a:off x="9188753" y="4516349"/>
            <a:ext cx="958929" cy="253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主机号</a:t>
            </a:r>
          </a:p>
        </p:txBody>
      </p:sp>
      <p:sp>
        <p:nvSpPr>
          <p:cNvPr id="25" name="Rectangle 20"/>
          <p:cNvSpPr>
            <a:spLocks noChangeArrowheads="1"/>
          </p:cNvSpPr>
          <p:nvPr/>
        </p:nvSpPr>
        <p:spPr bwMode="auto">
          <a:xfrm>
            <a:off x="7273191" y="4565879"/>
            <a:ext cx="969904" cy="18194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6" name="Line 21"/>
          <p:cNvSpPr>
            <a:spLocks noChangeShapeType="1"/>
          </p:cNvSpPr>
          <p:nvPr/>
        </p:nvSpPr>
        <p:spPr bwMode="auto">
          <a:xfrm>
            <a:off x="8707264" y="4157508"/>
            <a:ext cx="0" cy="28808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27" name="Rectangle 23"/>
          <p:cNvSpPr>
            <a:spLocks noChangeArrowheads="1"/>
          </p:cNvSpPr>
          <p:nvPr/>
        </p:nvSpPr>
        <p:spPr bwMode="auto">
          <a:xfrm>
            <a:off x="4289003" y="4103469"/>
            <a:ext cx="956994"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ea typeface="黑体" pitchFamily="2" charset="-122"/>
              </a:rPr>
              <a:t>网络号</a:t>
            </a:r>
          </a:p>
        </p:txBody>
      </p:sp>
      <p:sp>
        <p:nvSpPr>
          <p:cNvPr id="28" name="Rectangle 24"/>
          <p:cNvSpPr>
            <a:spLocks noChangeArrowheads="1"/>
          </p:cNvSpPr>
          <p:nvPr/>
        </p:nvSpPr>
        <p:spPr bwMode="auto">
          <a:xfrm>
            <a:off x="9164505" y="4106503"/>
            <a:ext cx="956994"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ea typeface="黑体" pitchFamily="2" charset="-122"/>
              </a:rPr>
              <a:t>主机号</a:t>
            </a:r>
          </a:p>
        </p:txBody>
      </p:sp>
      <p:sp>
        <p:nvSpPr>
          <p:cNvPr id="29" name="Rectangle 25"/>
          <p:cNvSpPr>
            <a:spLocks noChangeArrowheads="1"/>
          </p:cNvSpPr>
          <p:nvPr/>
        </p:nvSpPr>
        <p:spPr bwMode="auto">
          <a:xfrm>
            <a:off x="7267995" y="4106503"/>
            <a:ext cx="956994"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ea typeface="黑体" pitchFamily="2" charset="-122"/>
              </a:rPr>
              <a:t>子网号</a:t>
            </a:r>
          </a:p>
        </p:txBody>
      </p:sp>
      <p:sp>
        <p:nvSpPr>
          <p:cNvPr id="30" name="Rectangle 26"/>
          <p:cNvSpPr>
            <a:spLocks noChangeArrowheads="1"/>
          </p:cNvSpPr>
          <p:nvPr/>
        </p:nvSpPr>
        <p:spPr bwMode="auto">
          <a:xfrm>
            <a:off x="7160613" y="4523425"/>
            <a:ext cx="958929" cy="2531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a:solidFill>
                  <a:srgbClr val="0000CC"/>
                </a:solidFill>
                <a:latin typeface="+mn-lt"/>
                <a:ea typeface="黑体" pitchFamily="2" charset="-122"/>
              </a:rPr>
              <a:t>子网号</a:t>
            </a:r>
          </a:p>
        </p:txBody>
      </p:sp>
      <p:sp>
        <p:nvSpPr>
          <p:cNvPr id="31" name="Line 28"/>
          <p:cNvSpPr>
            <a:spLocks noChangeShapeType="1"/>
          </p:cNvSpPr>
          <p:nvPr/>
        </p:nvSpPr>
        <p:spPr bwMode="auto">
          <a:xfrm>
            <a:off x="8707264" y="4478949"/>
            <a:ext cx="0" cy="2769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b="1">
              <a:solidFill>
                <a:srgbClr val="0000CC"/>
              </a:solidFill>
              <a:latin typeface="+mn-lt"/>
              <a:ea typeface="黑体" pitchFamily="2" charset="-122"/>
            </a:endParaRPr>
          </a:p>
        </p:txBody>
      </p:sp>
      <p:sp>
        <p:nvSpPr>
          <p:cNvPr id="32" name="Rectangle 29"/>
          <p:cNvSpPr>
            <a:spLocks noChangeArrowheads="1"/>
          </p:cNvSpPr>
          <p:nvPr/>
        </p:nvSpPr>
        <p:spPr bwMode="auto">
          <a:xfrm>
            <a:off x="1290930" y="4706502"/>
            <a:ext cx="1596230" cy="705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2000" b="1" dirty="0">
                <a:solidFill>
                  <a:srgbClr val="0000CC"/>
                </a:solidFill>
                <a:latin typeface="+mn-lt"/>
                <a:ea typeface="黑体" pitchFamily="2" charset="-122"/>
              </a:rPr>
              <a:t>三级 </a:t>
            </a:r>
            <a:r>
              <a:rPr kumimoji="1" lang="en-US" altLang="zh-CN" sz="2000" b="1" dirty="0">
                <a:solidFill>
                  <a:srgbClr val="0000CC"/>
                </a:solidFill>
                <a:latin typeface="+mn-lt"/>
                <a:ea typeface="黑体" pitchFamily="2" charset="-122"/>
              </a:rPr>
              <a:t>IP </a:t>
            </a:r>
            <a:r>
              <a:rPr kumimoji="1" lang="zh-CN" altLang="en-US" sz="2000" b="1" dirty="0">
                <a:solidFill>
                  <a:srgbClr val="0000CC"/>
                </a:solidFill>
                <a:latin typeface="+mn-lt"/>
                <a:ea typeface="黑体" pitchFamily="2" charset="-122"/>
              </a:rPr>
              <a:t>地址</a:t>
            </a:r>
          </a:p>
          <a:p>
            <a:pPr defTabSz="762000" eaLnBrk="0" hangingPunct="0"/>
            <a:r>
              <a:rPr kumimoji="1" lang="zh-CN" altLang="en-US" sz="2000" b="1" dirty="0">
                <a:solidFill>
                  <a:srgbClr val="0000CC"/>
                </a:solidFill>
                <a:latin typeface="+mn-lt"/>
                <a:ea typeface="黑体" pitchFamily="2" charset="-122"/>
              </a:rPr>
              <a:t>的子网掩码</a:t>
            </a:r>
          </a:p>
        </p:txBody>
      </p:sp>
      <p:sp>
        <p:nvSpPr>
          <p:cNvPr id="33" name="Line 44"/>
          <p:cNvSpPr>
            <a:spLocks noChangeShapeType="1"/>
          </p:cNvSpPr>
          <p:nvPr/>
        </p:nvSpPr>
        <p:spPr bwMode="auto">
          <a:xfrm>
            <a:off x="6744940" y="4512307"/>
            <a:ext cx="0" cy="28909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4" name="Rectangle 46"/>
          <p:cNvSpPr>
            <a:spLocks noChangeArrowheads="1"/>
          </p:cNvSpPr>
          <p:nvPr/>
        </p:nvSpPr>
        <p:spPr bwMode="auto">
          <a:xfrm>
            <a:off x="838200" y="5419368"/>
            <a:ext cx="2087740" cy="397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eaLnBrk="0" hangingPunct="0"/>
            <a:r>
              <a:rPr kumimoji="1" lang="zh-CN" altLang="en-US" sz="2000" b="1" dirty="0">
                <a:solidFill>
                  <a:srgbClr val="0000CC"/>
                </a:solidFill>
                <a:latin typeface="+mn-lt"/>
                <a:ea typeface="黑体" pitchFamily="2" charset="-122"/>
              </a:rPr>
              <a:t>子网的网络地址</a:t>
            </a:r>
          </a:p>
        </p:txBody>
      </p:sp>
      <p:sp>
        <p:nvSpPr>
          <p:cNvPr id="35" name="Rectangle 47"/>
          <p:cNvSpPr>
            <a:spLocks noChangeArrowheads="1"/>
          </p:cNvSpPr>
          <p:nvPr/>
        </p:nvSpPr>
        <p:spPr bwMode="auto">
          <a:xfrm>
            <a:off x="8662710" y="4887256"/>
            <a:ext cx="2091866" cy="30937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6" name="Rectangle 48"/>
          <p:cNvSpPr>
            <a:spLocks noChangeArrowheads="1"/>
          </p:cNvSpPr>
          <p:nvPr/>
        </p:nvSpPr>
        <p:spPr bwMode="auto">
          <a:xfrm>
            <a:off x="2922121" y="4887319"/>
            <a:ext cx="5736293" cy="32043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grpSp>
        <p:nvGrpSpPr>
          <p:cNvPr id="37" name="Group 49"/>
          <p:cNvGrpSpPr>
            <a:grpSpLocks/>
          </p:cNvGrpSpPr>
          <p:nvPr/>
        </p:nvGrpSpPr>
        <p:grpSpPr bwMode="auto">
          <a:xfrm>
            <a:off x="2993133" y="4854983"/>
            <a:ext cx="7577381" cy="408372"/>
            <a:chOff x="1197" y="2990"/>
            <a:chExt cx="4375" cy="404"/>
          </a:xfrm>
        </p:grpSpPr>
        <p:sp>
          <p:nvSpPr>
            <p:cNvPr id="46" name="Rectangle 50"/>
            <p:cNvSpPr>
              <a:spLocks noChangeArrowheads="1"/>
            </p:cNvSpPr>
            <p:nvPr/>
          </p:nvSpPr>
          <p:spPr bwMode="auto">
            <a:xfrm>
              <a:off x="1197" y="3001"/>
              <a:ext cx="3060" cy="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CC"/>
                  </a:solidFill>
                  <a:ea typeface="黑体" pitchFamily="2" charset="-122"/>
                </a:rPr>
                <a:t>1 1 1 1 1 1 1 1 1 1 1 1 1 1 1 1  1 1 1 1 1 1 1 1</a:t>
              </a:r>
            </a:p>
          </p:txBody>
        </p:sp>
        <p:sp>
          <p:nvSpPr>
            <p:cNvPr id="47" name="Rectangle 51"/>
            <p:cNvSpPr>
              <a:spLocks noChangeArrowheads="1"/>
            </p:cNvSpPr>
            <p:nvPr/>
          </p:nvSpPr>
          <p:spPr bwMode="auto">
            <a:xfrm>
              <a:off x="4522" y="2990"/>
              <a:ext cx="1050" cy="39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CC"/>
                  </a:solidFill>
                  <a:ea typeface="黑体" pitchFamily="2" charset="-122"/>
                </a:rPr>
                <a:t>0 0 0 0 0 0 0 0</a:t>
              </a:r>
            </a:p>
          </p:txBody>
        </p:sp>
      </p:grpSp>
      <p:sp>
        <p:nvSpPr>
          <p:cNvPr id="38" name="Rectangle 53"/>
          <p:cNvSpPr>
            <a:spLocks noChangeArrowheads="1"/>
          </p:cNvSpPr>
          <p:nvPr/>
        </p:nvSpPr>
        <p:spPr bwMode="auto">
          <a:xfrm>
            <a:off x="8658415" y="5437204"/>
            <a:ext cx="2105767" cy="320432"/>
          </a:xfrm>
          <a:prstGeom prst="rect">
            <a:avLst/>
          </a:prstGeom>
          <a:solidFill>
            <a:srgbClr val="CCE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39" name="Rectangle 54"/>
          <p:cNvSpPr>
            <a:spLocks noChangeArrowheads="1"/>
          </p:cNvSpPr>
          <p:nvPr/>
        </p:nvSpPr>
        <p:spPr bwMode="auto">
          <a:xfrm>
            <a:off x="2922121" y="5437205"/>
            <a:ext cx="5736293" cy="320430"/>
          </a:xfrm>
          <a:prstGeom prst="rect">
            <a:avLst/>
          </a:prstGeom>
          <a:solidFill>
            <a:srgbClr val="FF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0" name="Line 55"/>
          <p:cNvSpPr>
            <a:spLocks noChangeShapeType="1"/>
          </p:cNvSpPr>
          <p:nvPr/>
        </p:nvSpPr>
        <p:spPr bwMode="auto">
          <a:xfrm>
            <a:off x="6713410" y="5437205"/>
            <a:ext cx="1731" cy="32043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b="1">
              <a:solidFill>
                <a:srgbClr val="0000CC"/>
              </a:solidFill>
              <a:latin typeface="+mn-lt"/>
              <a:ea typeface="黑体" pitchFamily="2" charset="-122"/>
            </a:endParaRPr>
          </a:p>
        </p:txBody>
      </p:sp>
      <p:sp>
        <p:nvSpPr>
          <p:cNvPr id="41" name="Rectangle 57"/>
          <p:cNvSpPr>
            <a:spLocks noChangeArrowheads="1"/>
          </p:cNvSpPr>
          <p:nvPr/>
        </p:nvSpPr>
        <p:spPr bwMode="auto">
          <a:xfrm>
            <a:off x="4337143" y="5412175"/>
            <a:ext cx="956994"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ea typeface="黑体" pitchFamily="2" charset="-122"/>
              </a:rPr>
              <a:t>网络号</a:t>
            </a:r>
          </a:p>
        </p:txBody>
      </p:sp>
      <p:sp>
        <p:nvSpPr>
          <p:cNvPr id="42" name="Rectangle 58"/>
          <p:cNvSpPr>
            <a:spLocks noChangeArrowheads="1"/>
          </p:cNvSpPr>
          <p:nvPr/>
        </p:nvSpPr>
        <p:spPr bwMode="auto">
          <a:xfrm>
            <a:off x="7156795" y="5402127"/>
            <a:ext cx="956994" cy="397545"/>
          </a:xfrm>
          <a:prstGeom prst="rect">
            <a:avLst/>
          </a:prstGeom>
          <a:noFill/>
          <a:ln>
            <a:noFill/>
          </a:ln>
          <a:effectLst/>
          <a:extLst>
            <a:ext uri="{909E8E84-426E-40DD-AFC4-6F175D3DCCD1}">
              <a14:hiddenFill xmlns:a14="http://schemas.microsoft.com/office/drawing/2010/main">
                <a:solidFill>
                  <a:srgbClr val="EAEAEA"/>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zh-CN" altLang="en-US" sz="2000" b="1" dirty="0">
                <a:solidFill>
                  <a:srgbClr val="0000CC"/>
                </a:solidFill>
                <a:ea typeface="黑体" pitchFamily="2" charset="-122"/>
              </a:rPr>
              <a:t>子网号</a:t>
            </a:r>
          </a:p>
        </p:txBody>
      </p:sp>
      <p:sp>
        <p:nvSpPr>
          <p:cNvPr id="43" name="Rectangle 59"/>
          <p:cNvSpPr>
            <a:spLocks noChangeArrowheads="1"/>
          </p:cNvSpPr>
          <p:nvPr/>
        </p:nvSpPr>
        <p:spPr bwMode="auto">
          <a:xfrm>
            <a:off x="9484565" y="5402127"/>
            <a:ext cx="325411" cy="39754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defTabSz="762000" eaLnBrk="0" hangingPunct="0"/>
            <a:r>
              <a:rPr kumimoji="1" lang="en-US" altLang="zh-CN" sz="2000" b="1" dirty="0">
                <a:solidFill>
                  <a:srgbClr val="0000CC"/>
                </a:solidFill>
                <a:ea typeface="黑体" pitchFamily="2" charset="-122"/>
              </a:rPr>
              <a:t>0</a:t>
            </a:r>
          </a:p>
        </p:txBody>
      </p:sp>
      <p:sp>
        <p:nvSpPr>
          <p:cNvPr id="44" name="Rectangle 60"/>
          <p:cNvSpPr>
            <a:spLocks noChangeArrowheads="1"/>
          </p:cNvSpPr>
          <p:nvPr/>
        </p:nvSpPr>
        <p:spPr bwMode="auto">
          <a:xfrm>
            <a:off x="2925940" y="4565879"/>
            <a:ext cx="7838242" cy="291116"/>
          </a:xfrm>
          <a:prstGeom prst="rect">
            <a:avLst/>
          </a:prstGeom>
          <a:solidFill>
            <a:srgbClr val="66FF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zh-CN" altLang="en-US" sz="2400" b="1" dirty="0">
                <a:solidFill>
                  <a:srgbClr val="C00000"/>
                </a:solidFill>
                <a:latin typeface="+mn-lt"/>
                <a:ea typeface="黑体" pitchFamily="2" charset="-122"/>
              </a:rPr>
              <a:t>逐位进行 </a:t>
            </a:r>
            <a:r>
              <a:rPr lang="en-US" altLang="zh-CN" sz="2400" b="1" dirty="0">
                <a:solidFill>
                  <a:srgbClr val="C00000"/>
                </a:solidFill>
                <a:latin typeface="+mn-lt"/>
                <a:ea typeface="黑体" pitchFamily="2" charset="-122"/>
              </a:rPr>
              <a:t>AND </a:t>
            </a:r>
            <a:r>
              <a:rPr lang="zh-CN" altLang="en-US" sz="2400" b="1" dirty="0">
                <a:solidFill>
                  <a:srgbClr val="C00000"/>
                </a:solidFill>
                <a:latin typeface="+mn-lt"/>
                <a:ea typeface="黑体" pitchFamily="2" charset="-122"/>
              </a:rPr>
              <a:t>运算</a:t>
            </a:r>
          </a:p>
        </p:txBody>
      </p:sp>
      <p:sp>
        <p:nvSpPr>
          <p:cNvPr id="45" name="AutoShape 61"/>
          <p:cNvSpPr>
            <a:spLocks noChangeArrowheads="1"/>
          </p:cNvSpPr>
          <p:nvPr/>
        </p:nvSpPr>
        <p:spPr bwMode="auto">
          <a:xfrm>
            <a:off x="6538279" y="5200086"/>
            <a:ext cx="361628" cy="243164"/>
          </a:xfrm>
          <a:prstGeom prst="downArrow">
            <a:avLst>
              <a:gd name="adj1" fmla="val 50000"/>
              <a:gd name="adj2" fmla="val 25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zh-CN" altLang="en-US" b="1">
              <a:solidFill>
                <a:srgbClr val="0000CC"/>
              </a:solidFill>
              <a:latin typeface="+mn-lt"/>
              <a:ea typeface="黑体" pitchFamily="2" charset="-122"/>
            </a:endParaRPr>
          </a:p>
        </p:txBody>
      </p:sp>
      <p:sp>
        <p:nvSpPr>
          <p:cNvPr id="48"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49"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27</a:t>
            </a:fld>
            <a:endParaRPr kumimoji="1" lang="zh-CN" altLang="en-US" dirty="0"/>
          </a:p>
        </p:txBody>
      </p:sp>
    </p:spTree>
    <p:extLst>
      <p:ext uri="{BB962C8B-B14F-4D97-AF65-F5344CB8AC3E}">
        <p14:creationId xmlns:p14="http://schemas.microsoft.com/office/powerpoint/2010/main" val="25508721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子网划分</a:t>
            </a:r>
          </a:p>
        </p:txBody>
      </p:sp>
      <p:grpSp>
        <p:nvGrpSpPr>
          <p:cNvPr id="3" name="组合 25"/>
          <p:cNvGrpSpPr/>
          <p:nvPr/>
        </p:nvGrpSpPr>
        <p:grpSpPr>
          <a:xfrm>
            <a:off x="1943634" y="1809350"/>
            <a:ext cx="7490138" cy="283447"/>
            <a:chOff x="1943634" y="1809350"/>
            <a:chExt cx="7490138" cy="283447"/>
          </a:xfrm>
        </p:grpSpPr>
        <p:sp>
          <p:nvSpPr>
            <p:cNvPr id="7" name="Rectangle 4"/>
            <p:cNvSpPr/>
            <p:nvPr/>
          </p:nvSpPr>
          <p:spPr>
            <a:xfrm>
              <a:off x="1943634" y="1809350"/>
              <a:ext cx="1493925" cy="283446"/>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ct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172</a:t>
              </a:r>
            </a:p>
          </p:txBody>
        </p:sp>
        <p:sp>
          <p:nvSpPr>
            <p:cNvPr id="8" name="Rectangle 4"/>
            <p:cNvSpPr/>
            <p:nvPr/>
          </p:nvSpPr>
          <p:spPr>
            <a:xfrm>
              <a:off x="4070108" y="1809350"/>
              <a:ext cx="1493925" cy="283446"/>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ct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16</a:t>
              </a:r>
            </a:p>
          </p:txBody>
        </p:sp>
        <p:sp>
          <p:nvSpPr>
            <p:cNvPr id="9" name="Rectangle 4"/>
            <p:cNvSpPr/>
            <p:nvPr/>
          </p:nvSpPr>
          <p:spPr>
            <a:xfrm>
              <a:off x="6166709" y="1809350"/>
              <a:ext cx="1493925" cy="283446"/>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ct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2</a:t>
              </a:r>
            </a:p>
          </p:txBody>
        </p:sp>
        <p:sp>
          <p:nvSpPr>
            <p:cNvPr id="10" name="Rectangle 4"/>
            <p:cNvSpPr/>
            <p:nvPr/>
          </p:nvSpPr>
          <p:spPr>
            <a:xfrm>
              <a:off x="7939847" y="1809350"/>
              <a:ext cx="1493925" cy="283447"/>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ct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160</a:t>
              </a:r>
            </a:p>
          </p:txBody>
        </p:sp>
      </p:grpSp>
      <p:grpSp>
        <p:nvGrpSpPr>
          <p:cNvPr id="4" name="组合 28"/>
          <p:cNvGrpSpPr/>
          <p:nvPr/>
        </p:nvGrpSpPr>
        <p:grpSpPr>
          <a:xfrm>
            <a:off x="2064605" y="2262483"/>
            <a:ext cx="7282320" cy="316382"/>
            <a:chOff x="2083588" y="3065503"/>
            <a:chExt cx="7282320" cy="316382"/>
          </a:xfrm>
        </p:grpSpPr>
        <p:sp>
          <p:nvSpPr>
            <p:cNvPr id="12" name="Rectangle 4"/>
            <p:cNvSpPr/>
            <p:nvPr/>
          </p:nvSpPr>
          <p:spPr>
            <a:xfrm>
              <a:off x="2083588" y="3065503"/>
              <a:ext cx="1285875" cy="288483"/>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ct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255</a:t>
              </a:r>
            </a:p>
          </p:txBody>
        </p:sp>
        <p:sp>
          <p:nvSpPr>
            <p:cNvPr id="13" name="Rectangle 4"/>
            <p:cNvSpPr/>
            <p:nvPr/>
          </p:nvSpPr>
          <p:spPr>
            <a:xfrm>
              <a:off x="4219790" y="3065503"/>
              <a:ext cx="1285875" cy="290161"/>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ct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255</a:t>
              </a:r>
            </a:p>
          </p:txBody>
        </p:sp>
        <p:sp>
          <p:nvSpPr>
            <p:cNvPr id="14" name="Rectangle 4"/>
            <p:cNvSpPr/>
            <p:nvPr/>
          </p:nvSpPr>
          <p:spPr>
            <a:xfrm>
              <a:off x="6374759" y="3065503"/>
              <a:ext cx="1285875" cy="290161"/>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ct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255</a:t>
              </a:r>
            </a:p>
          </p:txBody>
        </p:sp>
        <p:sp>
          <p:nvSpPr>
            <p:cNvPr id="15" name="Rectangle 4"/>
            <p:cNvSpPr/>
            <p:nvPr/>
          </p:nvSpPr>
          <p:spPr>
            <a:xfrm>
              <a:off x="8080033" y="3065503"/>
              <a:ext cx="1285875" cy="316382"/>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ct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192</a:t>
              </a:r>
            </a:p>
          </p:txBody>
        </p:sp>
      </p:grpSp>
      <p:grpSp>
        <p:nvGrpSpPr>
          <p:cNvPr id="5" name="组合 27"/>
          <p:cNvGrpSpPr/>
          <p:nvPr/>
        </p:nvGrpSpPr>
        <p:grpSpPr>
          <a:xfrm>
            <a:off x="1786644" y="2734973"/>
            <a:ext cx="8049119" cy="307333"/>
            <a:chOff x="1789892" y="2433440"/>
            <a:chExt cx="8049119" cy="307333"/>
          </a:xfrm>
        </p:grpSpPr>
        <p:sp>
          <p:nvSpPr>
            <p:cNvPr id="17" name="Rectangle 4"/>
            <p:cNvSpPr/>
            <p:nvPr/>
          </p:nvSpPr>
          <p:spPr>
            <a:xfrm>
              <a:off x="1789892" y="2433440"/>
              <a:ext cx="1764403" cy="289398"/>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10101100</a:t>
              </a:r>
            </a:p>
          </p:txBody>
        </p:sp>
        <p:sp>
          <p:nvSpPr>
            <p:cNvPr id="18" name="Rectangle 7"/>
            <p:cNvSpPr/>
            <p:nvPr/>
          </p:nvSpPr>
          <p:spPr>
            <a:xfrm>
              <a:off x="3987327" y="2433440"/>
              <a:ext cx="1728192" cy="289399"/>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00010000</a:t>
              </a:r>
            </a:p>
          </p:txBody>
        </p:sp>
        <p:sp>
          <p:nvSpPr>
            <p:cNvPr id="19" name="Rectangle 15"/>
            <p:cNvSpPr/>
            <p:nvPr/>
          </p:nvSpPr>
          <p:spPr>
            <a:xfrm>
              <a:off x="5935652" y="2433440"/>
              <a:ext cx="1916643" cy="289398"/>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  00000010</a:t>
              </a:r>
            </a:p>
          </p:txBody>
        </p:sp>
        <p:sp>
          <p:nvSpPr>
            <p:cNvPr id="20" name="Rectangle 12"/>
            <p:cNvSpPr/>
            <p:nvPr/>
          </p:nvSpPr>
          <p:spPr>
            <a:xfrm>
              <a:off x="8082814" y="2433440"/>
              <a:ext cx="1756197" cy="307333"/>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10100000</a:t>
              </a:r>
            </a:p>
          </p:txBody>
        </p:sp>
      </p:grpSp>
      <p:grpSp>
        <p:nvGrpSpPr>
          <p:cNvPr id="6" name="组合 29"/>
          <p:cNvGrpSpPr/>
          <p:nvPr/>
        </p:nvGrpSpPr>
        <p:grpSpPr>
          <a:xfrm>
            <a:off x="1819076" y="3253146"/>
            <a:ext cx="8052162" cy="436839"/>
            <a:chOff x="1819076" y="3647479"/>
            <a:chExt cx="8052162" cy="436839"/>
          </a:xfrm>
        </p:grpSpPr>
        <p:sp>
          <p:nvSpPr>
            <p:cNvPr id="22" name="Rectangle 4"/>
            <p:cNvSpPr/>
            <p:nvPr/>
          </p:nvSpPr>
          <p:spPr>
            <a:xfrm>
              <a:off x="1819076" y="3647479"/>
              <a:ext cx="1728967" cy="385763"/>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11111111</a:t>
              </a:r>
            </a:p>
          </p:txBody>
        </p:sp>
        <p:sp>
          <p:nvSpPr>
            <p:cNvPr id="23" name="Rectangle 7"/>
            <p:cNvSpPr/>
            <p:nvPr/>
          </p:nvSpPr>
          <p:spPr>
            <a:xfrm>
              <a:off x="6085722" y="3647479"/>
              <a:ext cx="1851172" cy="385763"/>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11111111</a:t>
              </a:r>
            </a:p>
          </p:txBody>
        </p:sp>
        <p:sp>
          <p:nvSpPr>
            <p:cNvPr id="24" name="Rectangle 15"/>
            <p:cNvSpPr/>
            <p:nvPr/>
          </p:nvSpPr>
          <p:spPr>
            <a:xfrm>
              <a:off x="3957134" y="3647479"/>
              <a:ext cx="1746308" cy="385763"/>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  11111111</a:t>
              </a:r>
            </a:p>
          </p:txBody>
        </p:sp>
        <p:sp>
          <p:nvSpPr>
            <p:cNvPr id="25" name="Rectangle 12"/>
            <p:cNvSpPr/>
            <p:nvPr/>
          </p:nvSpPr>
          <p:spPr>
            <a:xfrm>
              <a:off x="8093402" y="3647479"/>
              <a:ext cx="1777836" cy="436839"/>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11000000</a:t>
              </a:r>
            </a:p>
          </p:txBody>
        </p:sp>
      </p:grpSp>
      <p:grpSp>
        <p:nvGrpSpPr>
          <p:cNvPr id="11" name="组合 30"/>
          <p:cNvGrpSpPr/>
          <p:nvPr/>
        </p:nvGrpSpPr>
        <p:grpSpPr>
          <a:xfrm>
            <a:off x="1805498" y="3863519"/>
            <a:ext cx="8049119" cy="307333"/>
            <a:chOff x="1789892" y="2433440"/>
            <a:chExt cx="8049119" cy="307333"/>
          </a:xfrm>
        </p:grpSpPr>
        <p:sp>
          <p:nvSpPr>
            <p:cNvPr id="32" name="Rectangle 4"/>
            <p:cNvSpPr/>
            <p:nvPr/>
          </p:nvSpPr>
          <p:spPr>
            <a:xfrm>
              <a:off x="1789892" y="2433440"/>
              <a:ext cx="1764403" cy="289398"/>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10101100</a:t>
              </a:r>
            </a:p>
          </p:txBody>
        </p:sp>
        <p:sp>
          <p:nvSpPr>
            <p:cNvPr id="33" name="Rectangle 7"/>
            <p:cNvSpPr/>
            <p:nvPr/>
          </p:nvSpPr>
          <p:spPr>
            <a:xfrm>
              <a:off x="3987327" y="2433440"/>
              <a:ext cx="1728192" cy="289399"/>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00010000</a:t>
              </a:r>
            </a:p>
          </p:txBody>
        </p:sp>
        <p:sp>
          <p:nvSpPr>
            <p:cNvPr id="34" name="Rectangle 15"/>
            <p:cNvSpPr/>
            <p:nvPr/>
          </p:nvSpPr>
          <p:spPr>
            <a:xfrm>
              <a:off x="5935652" y="2433440"/>
              <a:ext cx="1916643" cy="289398"/>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  00000010</a:t>
              </a:r>
            </a:p>
          </p:txBody>
        </p:sp>
        <p:sp>
          <p:nvSpPr>
            <p:cNvPr id="35" name="Rectangle 12"/>
            <p:cNvSpPr/>
            <p:nvPr/>
          </p:nvSpPr>
          <p:spPr>
            <a:xfrm>
              <a:off x="8082814" y="2433440"/>
              <a:ext cx="1756197" cy="307333"/>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10000000</a:t>
              </a:r>
            </a:p>
          </p:txBody>
        </p:sp>
      </p:grpSp>
      <p:grpSp>
        <p:nvGrpSpPr>
          <p:cNvPr id="16" name="组合 35"/>
          <p:cNvGrpSpPr/>
          <p:nvPr/>
        </p:nvGrpSpPr>
        <p:grpSpPr>
          <a:xfrm>
            <a:off x="1802852" y="4329924"/>
            <a:ext cx="8049119" cy="307333"/>
            <a:chOff x="1789892" y="2433440"/>
            <a:chExt cx="8049119" cy="307333"/>
          </a:xfrm>
        </p:grpSpPr>
        <p:sp>
          <p:nvSpPr>
            <p:cNvPr id="37" name="Rectangle 4"/>
            <p:cNvSpPr/>
            <p:nvPr/>
          </p:nvSpPr>
          <p:spPr>
            <a:xfrm>
              <a:off x="1789892" y="2433440"/>
              <a:ext cx="1764403" cy="289398"/>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10101100</a:t>
              </a:r>
            </a:p>
          </p:txBody>
        </p:sp>
        <p:sp>
          <p:nvSpPr>
            <p:cNvPr id="38" name="Rectangle 7"/>
            <p:cNvSpPr/>
            <p:nvPr/>
          </p:nvSpPr>
          <p:spPr>
            <a:xfrm>
              <a:off x="3987327" y="2433440"/>
              <a:ext cx="1728192" cy="289399"/>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00010000</a:t>
              </a:r>
            </a:p>
          </p:txBody>
        </p:sp>
        <p:sp>
          <p:nvSpPr>
            <p:cNvPr id="39" name="Rectangle 15"/>
            <p:cNvSpPr/>
            <p:nvPr/>
          </p:nvSpPr>
          <p:spPr>
            <a:xfrm>
              <a:off x="5935652" y="2433440"/>
              <a:ext cx="1916643" cy="289398"/>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  00000010</a:t>
              </a:r>
            </a:p>
          </p:txBody>
        </p:sp>
        <p:sp>
          <p:nvSpPr>
            <p:cNvPr id="40" name="Rectangle 12"/>
            <p:cNvSpPr/>
            <p:nvPr/>
          </p:nvSpPr>
          <p:spPr>
            <a:xfrm>
              <a:off x="8082814" y="2433440"/>
              <a:ext cx="1756197" cy="307333"/>
            </a:xfrm>
            <a:prstGeom prst="rect">
              <a:avLst/>
            </a:prstGeom>
            <a:noFill/>
            <a:ln w="9525">
              <a:noFill/>
            </a:ln>
          </p:spPr>
          <p:txBody>
            <a:bodyPr wrap="none" lIns="21431" tIns="30362" rIns="21431" bIns="30362"/>
            <a:lstStyle>
              <a:lvl1pPr marL="342900" indent="-342900" algn="l" rtl="0" eaLnBrk="0" fontAlgn="base" hangingPunct="0">
                <a:lnSpc>
                  <a:spcPct val="130000"/>
                </a:lnSpc>
                <a:spcBef>
                  <a:spcPct val="20000"/>
                </a:spcBef>
                <a:spcAft>
                  <a:spcPct val="0"/>
                </a:spcAft>
                <a:buClr>
                  <a:srgbClr val="008FD4"/>
                </a:buClr>
                <a:buSzPct val="70000"/>
                <a:buFont typeface="Wingdings" panose="05000000000000000000" pitchFamily="2" charset="2"/>
                <a:buChar char="n"/>
                <a:defRPr>
                  <a:solidFill>
                    <a:srgbClr val="404040"/>
                  </a:solidFill>
                  <a:latin typeface="微软雅黑" panose="020B0503020204020204" charset="-122"/>
                  <a:ea typeface="微软雅黑" panose="020B0503020204020204" charset="-122"/>
                  <a:cs typeface="+mn-cs"/>
                </a:defRPr>
              </a:lvl1pPr>
              <a:lvl2pPr marL="742950" indent="-285750" algn="l" rtl="0" eaLnBrk="0" fontAlgn="base" hangingPunct="0">
                <a:lnSpc>
                  <a:spcPct val="130000"/>
                </a:lnSpc>
                <a:spcBef>
                  <a:spcPct val="20000"/>
                </a:spcBef>
                <a:spcAft>
                  <a:spcPct val="0"/>
                </a:spcAft>
                <a:buClr>
                  <a:srgbClr val="008FD4"/>
                </a:buClr>
                <a:buSzPct val="60000"/>
                <a:buFont typeface="Wingdings" panose="05000000000000000000" pitchFamily="2" charset="2"/>
                <a:buChar char="l"/>
                <a:defRPr sz="1400">
                  <a:solidFill>
                    <a:srgbClr val="404040"/>
                  </a:solidFill>
                  <a:latin typeface="微软雅黑" panose="020B0503020204020204" charset="-122"/>
                  <a:ea typeface="微软雅黑" panose="020B0503020204020204" charset="-122"/>
                </a:defRPr>
              </a:lvl2pPr>
              <a:lvl3pPr marL="1143000" indent="-228600" algn="l" rtl="0" eaLnBrk="0" fontAlgn="base" hangingPunct="0">
                <a:spcBef>
                  <a:spcPct val="20000"/>
                </a:spcBef>
                <a:spcAft>
                  <a:spcPct val="0"/>
                </a:spcAft>
                <a:buClr>
                  <a:schemeClr val="tx2"/>
                </a:buClr>
                <a:buSzPct val="45000"/>
                <a:buFont typeface="Wingdings" panose="05000000000000000000" pitchFamily="2" charset="2"/>
                <a:buChar char="n"/>
                <a:defRPr sz="1300">
                  <a:solidFill>
                    <a:srgbClr val="404040"/>
                  </a:solidFill>
                  <a:latin typeface="微软雅黑" panose="020B0503020204020204" charset="-122"/>
                  <a:ea typeface="微软雅黑" panose="020B0503020204020204" charset="-122"/>
                </a:defRPr>
              </a:lvl3pPr>
              <a:lvl4pPr marL="1600200" indent="-228600" algn="l" rtl="0" eaLnBrk="0" fontAlgn="base" hangingPunct="0">
                <a:spcBef>
                  <a:spcPct val="20000"/>
                </a:spcBef>
                <a:spcAft>
                  <a:spcPct val="0"/>
                </a:spcAft>
                <a:buClr>
                  <a:schemeClr val="tx2"/>
                </a:buClr>
                <a:buFont typeface="Arial" panose="020B0604020202020204" pitchFamily="34" charset="0"/>
                <a:buChar char="–"/>
                <a:defRPr sz="1200">
                  <a:solidFill>
                    <a:srgbClr val="404040"/>
                  </a:solidFill>
                  <a:latin typeface="微软雅黑" panose="020B0503020204020204" charset="-122"/>
                  <a:ea typeface="微软雅黑" panose="020B0503020204020204" charset="-122"/>
                </a:defRPr>
              </a:lvl4pPr>
              <a:lvl5pPr marL="2057400" indent="-228600" algn="l" rtl="0" eaLnBrk="0" fontAlgn="base" hangingPunct="0">
                <a:spcBef>
                  <a:spcPct val="20000"/>
                </a:spcBef>
                <a:spcAft>
                  <a:spcPct val="0"/>
                </a:spcAft>
                <a:buClr>
                  <a:schemeClr val="tx2"/>
                </a:buClr>
                <a:buFont typeface="Arial" panose="020B0604020202020204" pitchFamily="34" charset="0"/>
                <a:buChar char="»"/>
                <a:defRPr>
                  <a:solidFill>
                    <a:srgbClr val="404040"/>
                  </a:solidFill>
                  <a:latin typeface="微软雅黑" panose="020B0503020204020204" charset="-122"/>
                  <a:ea typeface="微软雅黑" panose="020B0503020204020204" charset="-122"/>
                </a:defRPr>
              </a:lvl5pPr>
            </a:lstStyle>
            <a:p>
              <a:pPr marL="0" lvl="0" indent="0" algn="r" defTabSz="1028700">
                <a:lnSpc>
                  <a:spcPts val="2140"/>
                </a:lnSpc>
                <a:spcBef>
                  <a:spcPct val="0"/>
                </a:spcBef>
                <a:buClrTx/>
                <a:buSzPct val="100000"/>
                <a:buNone/>
                <a:tabLst>
                  <a:tab pos="514350" algn="l"/>
                  <a:tab pos="1028700" algn="l"/>
                  <a:tab pos="1543050" algn="l"/>
                </a:tabLst>
              </a:pPr>
              <a:r>
                <a:rPr lang="en-US" altLang="zh-CN" sz="3200" dirty="0">
                  <a:solidFill>
                    <a:schemeClr val="tx1"/>
                  </a:solidFill>
                  <a:latin typeface="+mn-lt"/>
                  <a:ea typeface="+mn-ea"/>
                </a:rPr>
                <a:t>10111111</a:t>
              </a:r>
            </a:p>
          </p:txBody>
        </p:sp>
      </p:grpSp>
      <p:sp>
        <p:nvSpPr>
          <p:cNvPr id="44" name="矩形 43"/>
          <p:cNvSpPr/>
          <p:nvPr/>
        </p:nvSpPr>
        <p:spPr>
          <a:xfrm>
            <a:off x="1200720" y="3544777"/>
            <a:ext cx="703626" cy="251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ea typeface="黑体" pitchFamily="2" charset="-122"/>
              </a:rPr>
              <a:t>前缀</a:t>
            </a:r>
          </a:p>
        </p:txBody>
      </p:sp>
      <p:sp>
        <p:nvSpPr>
          <p:cNvPr id="45" name="矩形 44"/>
          <p:cNvSpPr/>
          <p:nvPr/>
        </p:nvSpPr>
        <p:spPr>
          <a:xfrm>
            <a:off x="9764226" y="3516195"/>
            <a:ext cx="985740" cy="2512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ea typeface="黑体" pitchFamily="2" charset="-122"/>
              </a:rPr>
              <a:t>主机位</a:t>
            </a:r>
          </a:p>
        </p:txBody>
      </p:sp>
      <p:sp>
        <p:nvSpPr>
          <p:cNvPr id="46" name="矩形 45"/>
          <p:cNvSpPr/>
          <p:nvPr/>
        </p:nvSpPr>
        <p:spPr>
          <a:xfrm>
            <a:off x="957893" y="4922178"/>
            <a:ext cx="2777528" cy="5836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ea typeface="黑体" pitchFamily="2" charset="-122"/>
              </a:rPr>
              <a:t>主机位全</a:t>
            </a:r>
            <a:r>
              <a:rPr lang="en-US" altLang="zh-CN" sz="2000" b="1" dirty="0">
                <a:solidFill>
                  <a:srgbClr val="C00000"/>
                </a:solidFill>
                <a:ea typeface="黑体" pitchFamily="2" charset="-122"/>
              </a:rPr>
              <a:t>0</a:t>
            </a:r>
            <a:r>
              <a:rPr lang="zh-CN" altLang="en-US" sz="2000" b="1" dirty="0">
                <a:solidFill>
                  <a:srgbClr val="C00000"/>
                </a:solidFill>
                <a:ea typeface="黑体" pitchFamily="2" charset="-122"/>
              </a:rPr>
              <a:t>，子网地址</a:t>
            </a:r>
            <a:endParaRPr lang="en-US" altLang="zh-CN" sz="2000" b="1" dirty="0">
              <a:solidFill>
                <a:srgbClr val="C00000"/>
              </a:solidFill>
              <a:ea typeface="黑体" pitchFamily="2" charset="-122"/>
            </a:endParaRPr>
          </a:p>
          <a:p>
            <a:pPr algn="ctr"/>
            <a:r>
              <a:rPr lang="en-US" altLang="zh-CN" sz="2000" b="1" dirty="0">
                <a:solidFill>
                  <a:srgbClr val="C00000"/>
                </a:solidFill>
                <a:ea typeface="黑体" pitchFamily="2" charset="-122"/>
              </a:rPr>
              <a:t>172.16.2.128</a:t>
            </a:r>
            <a:endParaRPr lang="zh-CN" altLang="en-US" sz="2000" b="1" dirty="0">
              <a:solidFill>
                <a:srgbClr val="C00000"/>
              </a:solidFill>
              <a:ea typeface="黑体" pitchFamily="2" charset="-122"/>
            </a:endParaRPr>
          </a:p>
        </p:txBody>
      </p:sp>
      <p:sp>
        <p:nvSpPr>
          <p:cNvPr id="47" name="矩形 46"/>
          <p:cNvSpPr/>
          <p:nvPr/>
        </p:nvSpPr>
        <p:spPr>
          <a:xfrm>
            <a:off x="3639573" y="4922178"/>
            <a:ext cx="2777528" cy="58366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ea typeface="黑体" pitchFamily="2" charset="-122"/>
              </a:rPr>
              <a:t>主机位全</a:t>
            </a:r>
            <a:r>
              <a:rPr lang="en-US" altLang="zh-CN" sz="2000" b="1" dirty="0">
                <a:solidFill>
                  <a:srgbClr val="C00000"/>
                </a:solidFill>
                <a:ea typeface="黑体" pitchFamily="2" charset="-122"/>
              </a:rPr>
              <a:t>1</a:t>
            </a:r>
            <a:r>
              <a:rPr lang="zh-CN" altLang="en-US" sz="2000" b="1" dirty="0">
                <a:solidFill>
                  <a:srgbClr val="C00000"/>
                </a:solidFill>
                <a:ea typeface="黑体" pitchFamily="2" charset="-122"/>
              </a:rPr>
              <a:t>，广播地址</a:t>
            </a:r>
            <a:endParaRPr lang="en-US" altLang="zh-CN" sz="2000" b="1" dirty="0">
              <a:solidFill>
                <a:srgbClr val="C00000"/>
              </a:solidFill>
              <a:ea typeface="黑体" pitchFamily="2" charset="-122"/>
            </a:endParaRPr>
          </a:p>
          <a:p>
            <a:pPr algn="ctr"/>
            <a:r>
              <a:rPr lang="en-US" altLang="zh-CN" sz="2000" b="1" dirty="0">
                <a:solidFill>
                  <a:srgbClr val="C00000"/>
                </a:solidFill>
                <a:ea typeface="黑体" pitchFamily="2" charset="-122"/>
              </a:rPr>
              <a:t>172.16.2.191</a:t>
            </a:r>
            <a:endParaRPr lang="zh-CN" altLang="en-US" sz="2000" b="1" dirty="0">
              <a:solidFill>
                <a:srgbClr val="C00000"/>
              </a:solidFill>
              <a:ea typeface="黑体" pitchFamily="2" charset="-122"/>
            </a:endParaRPr>
          </a:p>
        </p:txBody>
      </p:sp>
      <p:sp>
        <p:nvSpPr>
          <p:cNvPr id="48" name="矩形 47"/>
          <p:cNvSpPr/>
          <p:nvPr/>
        </p:nvSpPr>
        <p:spPr>
          <a:xfrm>
            <a:off x="6264992" y="4922178"/>
            <a:ext cx="2777528" cy="91116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ea typeface="黑体" pitchFamily="2" charset="-122"/>
              </a:rPr>
              <a:t>可分配</a:t>
            </a:r>
            <a:r>
              <a:rPr lang="en-US" altLang="zh-CN" sz="2000" b="1" dirty="0">
                <a:solidFill>
                  <a:srgbClr val="C00000"/>
                </a:solidFill>
                <a:ea typeface="黑体" pitchFamily="2" charset="-122"/>
              </a:rPr>
              <a:t>IP</a:t>
            </a:r>
            <a:r>
              <a:rPr lang="zh-CN" altLang="en-US" sz="2000" b="1" dirty="0">
                <a:solidFill>
                  <a:srgbClr val="C00000"/>
                </a:solidFill>
                <a:ea typeface="黑体" pitchFamily="2" charset="-122"/>
              </a:rPr>
              <a:t>地址范围</a:t>
            </a:r>
            <a:r>
              <a:rPr lang="en-US" altLang="zh-CN" sz="2000" b="1" dirty="0">
                <a:solidFill>
                  <a:srgbClr val="C00000"/>
                </a:solidFill>
                <a:ea typeface="黑体" pitchFamily="2" charset="-122"/>
              </a:rPr>
              <a:t>172.16.2.128+1~</a:t>
            </a:r>
          </a:p>
          <a:p>
            <a:r>
              <a:rPr lang="en-US" altLang="zh-CN" sz="2000" b="1" dirty="0">
                <a:solidFill>
                  <a:srgbClr val="C00000"/>
                </a:solidFill>
                <a:ea typeface="黑体" pitchFamily="2" charset="-122"/>
              </a:rPr>
              <a:t>     172.16.2.191-1</a:t>
            </a:r>
            <a:endParaRPr lang="zh-CN" altLang="en-US" sz="2000" b="1" dirty="0">
              <a:solidFill>
                <a:srgbClr val="C00000"/>
              </a:solidFill>
              <a:ea typeface="黑体" pitchFamily="2" charset="-122"/>
            </a:endParaRPr>
          </a:p>
        </p:txBody>
      </p:sp>
      <p:sp>
        <p:nvSpPr>
          <p:cNvPr id="49" name="矩形 48"/>
          <p:cNvSpPr/>
          <p:nvPr/>
        </p:nvSpPr>
        <p:spPr>
          <a:xfrm>
            <a:off x="8881353" y="4865616"/>
            <a:ext cx="2344612" cy="7004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ea typeface="黑体" pitchFamily="2" charset="-122"/>
              </a:rPr>
              <a:t>子网拥有主机数量</a:t>
            </a:r>
            <a:endParaRPr lang="en-US" altLang="zh-CN" sz="2000" b="1" dirty="0">
              <a:solidFill>
                <a:srgbClr val="C00000"/>
              </a:solidFill>
              <a:ea typeface="黑体" pitchFamily="2" charset="-122"/>
            </a:endParaRPr>
          </a:p>
          <a:p>
            <a:pPr algn="ctr"/>
            <a:r>
              <a:rPr lang="en-US" altLang="zh-CN" sz="2000" b="1" dirty="0">
                <a:solidFill>
                  <a:srgbClr val="C00000"/>
                </a:solidFill>
                <a:ea typeface="黑体" pitchFamily="2" charset="-122"/>
              </a:rPr>
              <a:t>2</a:t>
            </a:r>
            <a:r>
              <a:rPr lang="en-US" altLang="zh-CN" sz="2000" b="1" baseline="30000" dirty="0">
                <a:solidFill>
                  <a:srgbClr val="C00000"/>
                </a:solidFill>
                <a:ea typeface="黑体" pitchFamily="2" charset="-122"/>
              </a:rPr>
              <a:t>n</a:t>
            </a:r>
            <a:r>
              <a:rPr lang="en-US" altLang="zh-CN" sz="2000" b="1" dirty="0">
                <a:solidFill>
                  <a:srgbClr val="C00000"/>
                </a:solidFill>
                <a:ea typeface="黑体" pitchFamily="2" charset="-122"/>
              </a:rPr>
              <a:t>-2=62</a:t>
            </a:r>
            <a:r>
              <a:rPr lang="zh-CN" altLang="en-US" sz="2000" b="1" dirty="0">
                <a:solidFill>
                  <a:srgbClr val="C00000"/>
                </a:solidFill>
                <a:ea typeface="黑体" pitchFamily="2" charset="-122"/>
              </a:rPr>
              <a:t>（</a:t>
            </a:r>
            <a:r>
              <a:rPr lang="en-US" altLang="zh-CN" sz="2000" b="1" dirty="0">
                <a:solidFill>
                  <a:srgbClr val="C00000"/>
                </a:solidFill>
                <a:ea typeface="黑体" pitchFamily="2" charset="-122"/>
              </a:rPr>
              <a:t>n=6</a:t>
            </a:r>
            <a:r>
              <a:rPr lang="zh-CN" altLang="en-US" sz="2000" b="1" dirty="0">
                <a:solidFill>
                  <a:srgbClr val="C00000"/>
                </a:solidFill>
                <a:ea typeface="黑体" pitchFamily="2" charset="-122"/>
              </a:rPr>
              <a:t>）</a:t>
            </a:r>
          </a:p>
        </p:txBody>
      </p:sp>
      <p:sp>
        <p:nvSpPr>
          <p:cNvPr id="5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51"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28</a:t>
            </a:fld>
            <a:endParaRPr kumimoji="1" lang="zh-CN" altLang="en-US" dirty="0"/>
          </a:p>
        </p:txBody>
      </p:sp>
      <p:cxnSp>
        <p:nvCxnSpPr>
          <p:cNvPr id="53" name="直接连接符 52"/>
          <p:cNvCxnSpPr/>
          <p:nvPr/>
        </p:nvCxnSpPr>
        <p:spPr>
          <a:xfrm rot="5400000">
            <a:off x="7584377" y="3644154"/>
            <a:ext cx="1912628" cy="1"/>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直接箭头连接符 57"/>
          <p:cNvCxnSpPr/>
          <p:nvPr/>
        </p:nvCxnSpPr>
        <p:spPr>
          <a:xfrm rot="10800000">
            <a:off x="1814925" y="3638909"/>
            <a:ext cx="6725764" cy="158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a:off x="8540689" y="3638909"/>
            <a:ext cx="1295074" cy="1588"/>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a:xfrm>
            <a:off x="9908946" y="2765068"/>
            <a:ext cx="1560867" cy="554476"/>
            <a:chOff x="9908946" y="2765068"/>
            <a:chExt cx="1560867" cy="554476"/>
          </a:xfrm>
        </p:grpSpPr>
        <p:sp>
          <p:nvSpPr>
            <p:cNvPr id="27" name="矩形 26"/>
            <p:cNvSpPr/>
            <p:nvPr/>
          </p:nvSpPr>
          <p:spPr>
            <a:xfrm>
              <a:off x="10030119" y="2765068"/>
              <a:ext cx="1439694" cy="554476"/>
            </a:xfrm>
            <a:prstGeom prst="rect">
              <a:avLst/>
            </a:prstGeom>
            <a:no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rgbClr val="C00000"/>
                  </a:solidFill>
                  <a:ea typeface="黑体" pitchFamily="2" charset="-122"/>
                </a:rPr>
                <a:t>逐位进行 </a:t>
              </a:r>
              <a:r>
                <a:rPr lang="en-US" altLang="zh-CN" sz="2000" b="1" dirty="0">
                  <a:solidFill>
                    <a:srgbClr val="C00000"/>
                  </a:solidFill>
                  <a:ea typeface="黑体" pitchFamily="2" charset="-122"/>
                </a:rPr>
                <a:t>AND </a:t>
              </a:r>
              <a:r>
                <a:rPr lang="zh-CN" altLang="en-US" sz="2000" b="1" dirty="0">
                  <a:solidFill>
                    <a:srgbClr val="C00000"/>
                  </a:solidFill>
                  <a:ea typeface="黑体" pitchFamily="2" charset="-122"/>
                </a:rPr>
                <a:t>运算</a:t>
              </a:r>
            </a:p>
          </p:txBody>
        </p:sp>
        <p:sp>
          <p:nvSpPr>
            <p:cNvPr id="62" name="右箭头 61"/>
            <p:cNvSpPr/>
            <p:nvPr/>
          </p:nvSpPr>
          <p:spPr>
            <a:xfrm>
              <a:off x="9908946" y="2911247"/>
              <a:ext cx="281430" cy="228775"/>
            </a:xfrm>
            <a:prstGeom prst="right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48">
            <a:extLst>
              <a:ext uri="{FF2B5EF4-FFF2-40B4-BE49-F238E27FC236}">
                <a16:creationId xmlns:a16="http://schemas.microsoft.com/office/drawing/2014/main" id="{1C4188BE-299E-17CD-E320-94C9B6D0D34C}"/>
              </a:ext>
            </a:extLst>
          </p:cNvPr>
          <p:cNvSpPr/>
          <p:nvPr/>
        </p:nvSpPr>
        <p:spPr>
          <a:xfrm>
            <a:off x="60248" y="1658302"/>
            <a:ext cx="2344612" cy="4686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C00000"/>
                </a:solidFill>
                <a:ea typeface="黑体" pitchFamily="2" charset="-122"/>
              </a:rPr>
              <a:t>IP</a:t>
            </a:r>
            <a:r>
              <a:rPr lang="zh-CN" altLang="en-US" sz="2000" b="1" dirty="0">
                <a:solidFill>
                  <a:srgbClr val="C00000"/>
                </a:solidFill>
                <a:ea typeface="黑体" pitchFamily="2" charset="-122"/>
              </a:rPr>
              <a:t>地址</a:t>
            </a:r>
          </a:p>
        </p:txBody>
      </p:sp>
      <p:sp>
        <p:nvSpPr>
          <p:cNvPr id="26" name="矩形 48">
            <a:extLst>
              <a:ext uri="{FF2B5EF4-FFF2-40B4-BE49-F238E27FC236}">
                <a16:creationId xmlns:a16="http://schemas.microsoft.com/office/drawing/2014/main" id="{CB834525-CC77-1B98-507F-A8FB77072C31}"/>
              </a:ext>
            </a:extLst>
          </p:cNvPr>
          <p:cNvSpPr/>
          <p:nvPr/>
        </p:nvSpPr>
        <p:spPr>
          <a:xfrm>
            <a:off x="60248" y="2146550"/>
            <a:ext cx="2344612" cy="46869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CN" sz="2000" b="1" dirty="0">
                <a:solidFill>
                  <a:srgbClr val="C00000"/>
                </a:solidFill>
                <a:ea typeface="黑体" pitchFamily="2" charset="-122"/>
              </a:rPr>
              <a:t>子网掩码</a:t>
            </a:r>
            <a:endParaRPr lang="zh-CN" altLang="en-US" sz="2000" b="1" dirty="0">
              <a:solidFill>
                <a:srgbClr val="C00000"/>
              </a:solidFill>
              <a:ea typeface="黑体" pitchFamily="2" charset="-122"/>
            </a:endParaRPr>
          </a:p>
        </p:txBody>
      </p:sp>
    </p:spTree>
    <p:extLst>
      <p:ext uri="{BB962C8B-B14F-4D97-AF65-F5344CB8AC3E}">
        <p14:creationId xmlns:p14="http://schemas.microsoft.com/office/powerpoint/2010/main" val="1862254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3"/>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nodeType="afterEffect">
                                  <p:stCondLst>
                                    <p:cond delay="0"/>
                                  </p:stCondLst>
                                  <p:childTnLst>
                                    <p:set>
                                      <p:cBhvr>
                                        <p:cTn id="15" dur="1" fill="hold">
                                          <p:stCondLst>
                                            <p:cond delay="0"/>
                                          </p:stCondLst>
                                        </p:cTn>
                                        <p:tgtEl>
                                          <p:spTgt spid="58"/>
                                        </p:tgtEl>
                                        <p:attrNameLst>
                                          <p:attrName>style.visibility</p:attrName>
                                        </p:attrNameLst>
                                      </p:cBhvr>
                                      <p:to>
                                        <p:strVal val="visible"/>
                                      </p:to>
                                    </p:set>
                                  </p:childTnLst>
                                </p:cTn>
                              </p:par>
                            </p:childTnLst>
                          </p:cTn>
                        </p:par>
                        <p:par>
                          <p:cTn id="16" fill="hold">
                            <p:stCondLst>
                              <p:cond delay="0"/>
                            </p:stCondLst>
                            <p:childTnLst>
                              <p:par>
                                <p:cTn id="17" presetID="1" presetClass="entr" presetSubtype="0" fill="hold" grpId="0" nodeType="after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60"/>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grpId="0" nodeType="after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 grpId="0"/>
      <p:bldP spid="45" grpId="0"/>
      <p:bldP spid="46" grpId="0"/>
      <p:bldP spid="47" grpId="0"/>
      <p:bldP spid="48" grpId="0"/>
      <p:bldP spid="4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无类域间路由</a:t>
            </a:r>
          </a:p>
        </p:txBody>
      </p:sp>
      <p:sp>
        <p:nvSpPr>
          <p:cNvPr id="3" name="内容占位符 2"/>
          <p:cNvSpPr>
            <a:spLocks noGrp="1"/>
          </p:cNvSpPr>
          <p:nvPr>
            <p:ph idx="1"/>
          </p:nvPr>
        </p:nvSpPr>
        <p:spPr>
          <a:xfrm>
            <a:off x="838200" y="1510757"/>
            <a:ext cx="10515600" cy="4978545"/>
          </a:xfrm>
        </p:spPr>
        <p:txBody>
          <a:bodyPr>
            <a:normAutofit lnSpcReduction="10000"/>
          </a:bodyPr>
          <a:lstStyle/>
          <a:p>
            <a:r>
              <a:rPr lang="en-US" altLang="zh-CN" dirty="0">
                <a:solidFill>
                  <a:srgbClr val="C00000"/>
                </a:solidFill>
              </a:rPr>
              <a:t>CIDR</a:t>
            </a:r>
            <a:r>
              <a:rPr lang="zh-CN" altLang="en-US" dirty="0"/>
              <a:t>（</a:t>
            </a:r>
            <a:r>
              <a:rPr lang="en-US" altLang="zh-CN" dirty="0"/>
              <a:t> Classless Inter-Domain Routing </a:t>
            </a:r>
            <a:r>
              <a:rPr lang="zh-CN" altLang="en-US" dirty="0"/>
              <a:t>）</a:t>
            </a:r>
            <a:endParaRPr lang="en-US" altLang="zh-CN" dirty="0"/>
          </a:p>
          <a:p>
            <a:pPr lvl="1"/>
            <a:r>
              <a:rPr lang="zh-CN" altLang="en-US" dirty="0"/>
              <a:t>将</a:t>
            </a:r>
            <a:r>
              <a:rPr lang="en-US" altLang="zh-CN" dirty="0"/>
              <a:t>32</a:t>
            </a:r>
            <a:r>
              <a:rPr lang="zh-CN" altLang="en-US" dirty="0"/>
              <a:t>位的</a:t>
            </a:r>
            <a:r>
              <a:rPr lang="en-US" altLang="zh-CN" dirty="0"/>
              <a:t>IP</a:t>
            </a:r>
            <a:r>
              <a:rPr lang="zh-CN" altLang="en-US" dirty="0"/>
              <a:t>地址划分为前后两个部分，并采用</a:t>
            </a:r>
            <a:r>
              <a:rPr lang="zh-CN" altLang="en-US" dirty="0">
                <a:solidFill>
                  <a:srgbClr val="C00000"/>
                </a:solidFill>
              </a:rPr>
              <a:t>斜线记法</a:t>
            </a:r>
            <a:r>
              <a:rPr lang="zh-CN" altLang="en-US" dirty="0"/>
              <a:t>，即在</a:t>
            </a:r>
            <a:r>
              <a:rPr lang="en-US" altLang="zh-CN" dirty="0"/>
              <a:t>IP</a:t>
            </a:r>
            <a:r>
              <a:rPr lang="zh-CN" altLang="en-US" dirty="0"/>
              <a:t>地址后加上“</a:t>
            </a:r>
            <a:r>
              <a:rPr lang="en-US" altLang="zh-CN" dirty="0"/>
              <a:t>/</a:t>
            </a:r>
            <a:r>
              <a:rPr lang="zh-CN" altLang="en-US" dirty="0"/>
              <a:t>”，然后再写上</a:t>
            </a:r>
            <a:r>
              <a:rPr lang="zh-CN" altLang="en-US" dirty="0">
                <a:solidFill>
                  <a:srgbClr val="FF0000"/>
                </a:solidFill>
              </a:rPr>
              <a:t>网络前缀所占位数</a:t>
            </a:r>
            <a:endParaRPr lang="en-US" altLang="zh-CN" dirty="0">
              <a:solidFill>
                <a:srgbClr val="FF0000"/>
              </a:solidFill>
            </a:endParaRPr>
          </a:p>
          <a:p>
            <a:pPr lvl="1"/>
            <a:endParaRPr lang="en-US" altLang="zh-CN" dirty="0"/>
          </a:p>
          <a:p>
            <a:pPr lvl="1"/>
            <a:endParaRPr lang="en-US" altLang="zh-CN" dirty="0"/>
          </a:p>
          <a:p>
            <a:pPr lvl="1">
              <a:buNone/>
            </a:pPr>
            <a:endParaRPr lang="en-US" altLang="zh-CN" dirty="0"/>
          </a:p>
          <a:p>
            <a:pPr lvl="1">
              <a:buNone/>
            </a:pPr>
            <a:endParaRPr lang="en-US" altLang="zh-CN" dirty="0"/>
          </a:p>
          <a:p>
            <a:pPr lvl="1"/>
            <a:endParaRPr lang="en-US" altLang="zh-CN" dirty="0"/>
          </a:p>
          <a:p>
            <a:pPr lvl="1"/>
            <a:r>
              <a:rPr lang="zh-CN" altLang="en-US" dirty="0"/>
              <a:t>一个 </a:t>
            </a:r>
            <a:r>
              <a:rPr lang="en-US" altLang="zh-CN" dirty="0"/>
              <a:t>CIDR </a:t>
            </a:r>
            <a:r>
              <a:rPr lang="zh-CN" altLang="en-US" dirty="0"/>
              <a:t>地址块可以表示很多地址，这种地址的聚合常称为</a:t>
            </a:r>
            <a:r>
              <a:rPr lang="zh-CN" altLang="en-US" dirty="0">
                <a:solidFill>
                  <a:srgbClr val="C00000"/>
                </a:solidFill>
              </a:rPr>
              <a:t>路由聚合</a:t>
            </a:r>
            <a:r>
              <a:rPr lang="zh-CN" altLang="en-US" dirty="0"/>
              <a:t>（</a:t>
            </a:r>
            <a:r>
              <a:rPr lang="en-US" altLang="zh-CN" dirty="0"/>
              <a:t>route aggregation</a:t>
            </a:r>
            <a:r>
              <a:rPr lang="zh-CN" altLang="en-US" dirty="0"/>
              <a:t>），也称为</a:t>
            </a:r>
            <a:r>
              <a:rPr lang="zh-CN" altLang="en-US" dirty="0">
                <a:solidFill>
                  <a:srgbClr val="C00000"/>
                </a:solidFill>
              </a:rPr>
              <a:t>构成超网 </a:t>
            </a:r>
            <a:r>
              <a:rPr lang="en-US" altLang="zh-CN" dirty="0">
                <a:solidFill>
                  <a:srgbClr val="C00000"/>
                </a:solidFill>
              </a:rPr>
              <a:t>(</a:t>
            </a:r>
            <a:r>
              <a:rPr lang="en-US" altLang="zh-CN" dirty="0" err="1">
                <a:solidFill>
                  <a:srgbClr val="C00000"/>
                </a:solidFill>
              </a:rPr>
              <a:t>supernet</a:t>
            </a:r>
            <a:r>
              <a:rPr lang="en-US" altLang="zh-CN" dirty="0">
                <a:solidFill>
                  <a:srgbClr val="C00000"/>
                </a:solidFill>
              </a:rPr>
              <a:t>)</a:t>
            </a:r>
          </a:p>
          <a:p>
            <a:pPr lvl="1"/>
            <a:r>
              <a:rPr lang="zh-CN" altLang="en-US" dirty="0"/>
              <a:t>聚合技术在</a:t>
            </a:r>
            <a:r>
              <a:rPr lang="en-US" altLang="zh-CN" dirty="0"/>
              <a:t>Internet</a:t>
            </a:r>
            <a:r>
              <a:rPr lang="zh-CN" altLang="en-US" dirty="0"/>
              <a:t>中大量使用，它允许前缀重叠，数据包按具体路由的方向发送，即具有最少</a:t>
            </a:r>
            <a:r>
              <a:rPr lang="en-US" altLang="zh-CN" dirty="0"/>
              <a:t>IP</a:t>
            </a:r>
            <a:r>
              <a:rPr lang="zh-CN" altLang="en-US" dirty="0"/>
              <a:t>地址的</a:t>
            </a:r>
            <a:r>
              <a:rPr lang="zh-CN" altLang="en-US" dirty="0">
                <a:solidFill>
                  <a:srgbClr val="C00000"/>
                </a:solidFill>
              </a:rPr>
              <a:t>最长匹配前缀</a:t>
            </a:r>
            <a:endParaRPr lang="en-US" altLang="zh-CN" dirty="0">
              <a:solidFill>
                <a:srgbClr val="C00000"/>
              </a:solidFill>
            </a:endParaRPr>
          </a:p>
          <a:p>
            <a:endParaRPr lang="zh-CN" altLang="en-US" dirty="0"/>
          </a:p>
        </p:txBody>
      </p:sp>
      <p:grpSp>
        <p:nvGrpSpPr>
          <p:cNvPr id="23" name="组合 6"/>
          <p:cNvGrpSpPr/>
          <p:nvPr/>
        </p:nvGrpSpPr>
        <p:grpSpPr>
          <a:xfrm>
            <a:off x="3586359" y="2916138"/>
            <a:ext cx="4166752" cy="810441"/>
            <a:chOff x="1839309" y="4105855"/>
            <a:chExt cx="4562582" cy="1147677"/>
          </a:xfrm>
        </p:grpSpPr>
        <p:grpSp>
          <p:nvGrpSpPr>
            <p:cNvPr id="24" name="Group 21"/>
            <p:cNvGrpSpPr>
              <a:grpSpLocks/>
            </p:cNvGrpSpPr>
            <p:nvPr/>
          </p:nvGrpSpPr>
          <p:grpSpPr bwMode="auto">
            <a:xfrm>
              <a:off x="1867991" y="4855707"/>
              <a:ext cx="4533900" cy="291"/>
              <a:chOff x="755" y="4797987"/>
              <a:chExt cx="2856" cy="291"/>
            </a:xfrm>
          </p:grpSpPr>
          <p:sp>
            <p:nvSpPr>
              <p:cNvPr id="32" name="Line 9"/>
              <p:cNvSpPr>
                <a:spLocks noChangeShapeType="1"/>
              </p:cNvSpPr>
              <p:nvPr/>
            </p:nvSpPr>
            <p:spPr bwMode="auto">
              <a:xfrm>
                <a:off x="755" y="4798175"/>
                <a:ext cx="2856" cy="0"/>
              </a:xfrm>
              <a:prstGeom prst="line">
                <a:avLst/>
              </a:prstGeom>
              <a:noFill/>
              <a:ln w="28575">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3" name="Text Box 10"/>
              <p:cNvSpPr txBox="1">
                <a:spLocks noChangeArrowheads="1"/>
              </p:cNvSpPr>
              <p:nvPr/>
            </p:nvSpPr>
            <p:spPr bwMode="auto">
              <a:xfrm>
                <a:off x="1950" y="4797987"/>
                <a:ext cx="527" cy="291"/>
              </a:xfrm>
              <a:prstGeom prst="rect">
                <a:avLst/>
              </a:prstGeom>
              <a:solidFill>
                <a:srgbClr val="FFFFF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defTabSz="914400" eaLnBrk="0" fontAlgn="auto" latinLnBrk="0" hangingPunct="0">
                  <a:lnSpc>
                    <a:spcPct val="100000"/>
                  </a:lnSpc>
                  <a:spcBef>
                    <a:spcPts val="0"/>
                  </a:spcBef>
                  <a:spcAft>
                    <a:spcPts val="0"/>
                  </a:spcAft>
                  <a:buClrTx/>
                  <a:buSzTx/>
                  <a:buFontTx/>
                  <a:buNone/>
                  <a:tabLst/>
                  <a:defRPr/>
                </a:pPr>
                <a:r>
                  <a:rPr kumimoji="0" lang="en-US" altLang="zh-CN" sz="2400" b="1" i="0" u="none" strike="noStrike" kern="0" cap="none" spc="0" normalizeH="0" baseline="0" noProof="0" dirty="0">
                    <a:ln>
                      <a:noFill/>
                    </a:ln>
                    <a:solidFill>
                      <a:sysClr val="windowText" lastClr="000000"/>
                    </a:solidFill>
                    <a:effectLst/>
                    <a:uLnTx/>
                    <a:uFillTx/>
                    <a:latin typeface="+mn-lt"/>
                    <a:ea typeface="黑体" pitchFamily="2" charset="-122"/>
                  </a:rPr>
                  <a:t>32</a:t>
                </a:r>
                <a:r>
                  <a:rPr kumimoji="0" lang="zh-CN" altLang="en-US" sz="2400" b="1" i="0" u="none" strike="noStrike" kern="0" cap="none" spc="0" normalizeH="0" baseline="0" noProof="0" dirty="0">
                    <a:ln>
                      <a:noFill/>
                    </a:ln>
                    <a:solidFill>
                      <a:sysClr val="windowText" lastClr="000000"/>
                    </a:solidFill>
                    <a:effectLst/>
                    <a:uLnTx/>
                    <a:uFillTx/>
                    <a:latin typeface="+mn-lt"/>
                    <a:ea typeface="黑体" pitchFamily="2" charset="-122"/>
                  </a:rPr>
                  <a:t>位</a:t>
                </a:r>
              </a:p>
            </p:txBody>
          </p:sp>
        </p:grpSp>
        <p:sp>
          <p:nvSpPr>
            <p:cNvPr id="31" name="Line 17"/>
            <p:cNvSpPr>
              <a:spLocks noChangeShapeType="1"/>
            </p:cNvSpPr>
            <p:nvPr/>
          </p:nvSpPr>
          <p:spPr bwMode="auto">
            <a:xfrm>
              <a:off x="1839309" y="4643921"/>
              <a:ext cx="0" cy="609611"/>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grpSp>
          <p:nvGrpSpPr>
            <p:cNvPr id="26" name="Group 18"/>
            <p:cNvGrpSpPr>
              <a:grpSpLocks/>
            </p:cNvGrpSpPr>
            <p:nvPr/>
          </p:nvGrpSpPr>
          <p:grpSpPr bwMode="auto">
            <a:xfrm>
              <a:off x="1839416" y="4105855"/>
              <a:ext cx="4562105" cy="679451"/>
              <a:chOff x="737" y="2493"/>
              <a:chExt cx="3240" cy="428"/>
            </a:xfrm>
          </p:grpSpPr>
          <p:sp>
            <p:nvSpPr>
              <p:cNvPr id="27" name="Rectangle 6"/>
              <p:cNvSpPr>
                <a:spLocks noChangeArrowheads="1"/>
              </p:cNvSpPr>
              <p:nvPr/>
            </p:nvSpPr>
            <p:spPr bwMode="auto">
              <a:xfrm>
                <a:off x="737" y="2493"/>
                <a:ext cx="1650" cy="386"/>
              </a:xfrm>
              <a:prstGeom prst="rect">
                <a:avLst/>
              </a:prstGeom>
              <a:solidFill>
                <a:srgbClr val="FFFF66"/>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b="1" i="0" u="none" strike="noStrike" kern="0" cap="none" spc="0" normalizeH="0" baseline="0" noProof="0" dirty="0">
                    <a:ln>
                      <a:noFill/>
                    </a:ln>
                    <a:solidFill>
                      <a:sysClr val="windowText" lastClr="000000"/>
                    </a:solidFill>
                    <a:effectLst/>
                    <a:uLnTx/>
                    <a:uFillTx/>
                    <a:latin typeface="+mn-lt"/>
                    <a:ea typeface="黑体" pitchFamily="2" charset="-122"/>
                  </a:rPr>
                  <a:t>网络前缀</a:t>
                </a:r>
                <a:endParaRPr kumimoji="0" lang="en-US" altLang="zh-CN" b="1" i="0" u="none" strike="noStrike" kern="0" cap="none" spc="0" normalizeH="0" baseline="0" noProof="0" dirty="0">
                  <a:ln>
                    <a:noFill/>
                  </a:ln>
                  <a:solidFill>
                    <a:sysClr val="windowText" lastClr="000000"/>
                  </a:solidFill>
                  <a:effectLst/>
                  <a:uLnTx/>
                  <a:uFillTx/>
                  <a:latin typeface="+mn-lt"/>
                  <a:ea typeface="黑体" pitchFamily="2" charset="-122"/>
                </a:endParaRPr>
              </a:p>
            </p:txBody>
          </p:sp>
          <p:sp>
            <p:nvSpPr>
              <p:cNvPr id="28" name="Rectangle 7"/>
              <p:cNvSpPr>
                <a:spLocks noChangeArrowheads="1"/>
              </p:cNvSpPr>
              <p:nvPr/>
            </p:nvSpPr>
            <p:spPr bwMode="auto">
              <a:xfrm>
                <a:off x="2387" y="2494"/>
                <a:ext cx="1590" cy="385"/>
              </a:xfrm>
              <a:prstGeom prst="rect">
                <a:avLst/>
              </a:prstGeom>
              <a:solidFill>
                <a:srgbClr val="66FFFF"/>
              </a:solidFill>
              <a:ln w="19050" algn="ctr">
                <a:solidFill>
                  <a:schemeClr val="tx1"/>
                </a:solidFill>
                <a:miter lim="800000"/>
                <a:headEnd/>
                <a:tailEnd/>
              </a:ln>
              <a:effectLst>
                <a:outerShdw dist="107763" dir="2700000" algn="ctr" rotWithShape="0">
                  <a:srgbClr val="1C1C1C">
                    <a:alpha val="50000"/>
                  </a:srgbClr>
                </a:outerShdw>
              </a:effectLst>
            </p:spPr>
            <p:txBody>
              <a:bodyPr wrap="none" anchor="ctr"/>
              <a:lstStyle/>
              <a:p>
                <a:pPr marL="0" marR="0" lvl="0" indent="0" algn="ctr" defTabSz="914400" eaLnBrk="0" fontAlgn="auto" latinLnBrk="0" hangingPunct="0">
                  <a:lnSpc>
                    <a:spcPct val="100000"/>
                  </a:lnSpc>
                  <a:spcBef>
                    <a:spcPts val="0"/>
                  </a:spcBef>
                  <a:spcAft>
                    <a:spcPts val="0"/>
                  </a:spcAft>
                  <a:buClrTx/>
                  <a:buSzTx/>
                  <a:buFontTx/>
                  <a:buNone/>
                  <a:tabLst/>
                  <a:defRPr/>
                </a:pPr>
                <a:endParaRPr kumimoji="0" lang="zh-CN" altLang="zh-CN" sz="28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29" name="Rectangle 11"/>
              <p:cNvSpPr>
                <a:spLocks noChangeArrowheads="1"/>
              </p:cNvSpPr>
              <p:nvPr/>
            </p:nvSpPr>
            <p:spPr bwMode="auto">
              <a:xfrm>
                <a:off x="2754" y="2547"/>
                <a:ext cx="967" cy="374"/>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ctr" defTabSz="914400" eaLnBrk="0" fontAlgn="auto" latinLnBrk="0" hangingPunct="0">
                  <a:lnSpc>
                    <a:spcPct val="100000"/>
                  </a:lnSpc>
                  <a:spcBef>
                    <a:spcPts val="0"/>
                  </a:spcBef>
                  <a:spcAft>
                    <a:spcPts val="0"/>
                  </a:spcAft>
                  <a:buClrTx/>
                  <a:buSzTx/>
                  <a:buFontTx/>
                  <a:buNone/>
                  <a:tabLst/>
                  <a:defRPr/>
                </a:pPr>
                <a:r>
                  <a:rPr kumimoji="0" lang="zh-CN" altLang="en-US" b="1" i="0" u="none" strike="noStrike" kern="0" cap="none" spc="0" normalizeH="0" baseline="0" noProof="0" dirty="0">
                    <a:ln>
                      <a:noFill/>
                    </a:ln>
                    <a:solidFill>
                      <a:sysClr val="windowText" lastClr="000000"/>
                    </a:solidFill>
                    <a:effectLst/>
                    <a:uLnTx/>
                    <a:uFillTx/>
                    <a:latin typeface="+mn-lt"/>
                    <a:ea typeface="黑体" pitchFamily="2" charset="-122"/>
                  </a:rPr>
                  <a:t>主机号</a:t>
                </a:r>
                <a:endParaRPr kumimoji="0" lang="en-US" altLang="zh-CN" b="1" i="0" u="none" strike="noStrike" kern="0" cap="none" spc="0" normalizeH="0" baseline="0" noProof="0" dirty="0">
                  <a:ln>
                    <a:noFill/>
                  </a:ln>
                  <a:solidFill>
                    <a:sysClr val="windowText" lastClr="000000"/>
                  </a:solidFill>
                  <a:effectLst/>
                  <a:uLnTx/>
                  <a:uFillTx/>
                  <a:latin typeface="+mn-lt"/>
                  <a:ea typeface="黑体" pitchFamily="2" charset="-122"/>
                </a:endParaRPr>
              </a:p>
            </p:txBody>
          </p:sp>
        </p:grpSp>
      </p:grpSp>
      <p:sp>
        <p:nvSpPr>
          <p:cNvPr id="34" name="Line 17"/>
          <p:cNvSpPr>
            <a:spLocks noChangeShapeType="1"/>
          </p:cNvSpPr>
          <p:nvPr/>
        </p:nvSpPr>
        <p:spPr bwMode="auto">
          <a:xfrm>
            <a:off x="7743063" y="3319427"/>
            <a:ext cx="0" cy="430905"/>
          </a:xfrm>
          <a:prstGeom prst="line">
            <a:avLst/>
          </a:prstGeom>
          <a:noFill/>
          <a:ln w="285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600" b="1" i="0" u="none" strike="noStrike" kern="0" cap="none" spc="0" normalizeH="0" baseline="0" noProof="0">
              <a:ln>
                <a:noFill/>
              </a:ln>
              <a:solidFill>
                <a:sysClr val="windowText" lastClr="000000"/>
              </a:solidFill>
              <a:effectLst/>
              <a:uLnTx/>
              <a:uFillTx/>
              <a:latin typeface="+mn-lt"/>
              <a:ea typeface="黑体" pitchFamily="2" charset="-122"/>
            </a:endParaRPr>
          </a:p>
        </p:txBody>
      </p:sp>
      <p:sp>
        <p:nvSpPr>
          <p:cNvPr id="35"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36"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29</a:t>
            </a:fld>
            <a:endParaRPr kumimoji="1" lang="zh-CN" altLang="en-US" dirty="0"/>
          </a:p>
        </p:txBody>
      </p:sp>
    </p:spTree>
    <p:extLst>
      <p:ext uri="{BB962C8B-B14F-4D97-AF65-F5344CB8AC3E}">
        <p14:creationId xmlns:p14="http://schemas.microsoft.com/office/powerpoint/2010/main" val="2778006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最长前缀匹配</a:t>
            </a:r>
          </a:p>
        </p:txBody>
      </p:sp>
      <p:sp>
        <p:nvSpPr>
          <p:cNvPr id="35"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36"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30</a:t>
            </a:fld>
            <a:endParaRPr kumimoji="1" lang="zh-CN" altLang="en-US" dirty="0"/>
          </a:p>
        </p:txBody>
      </p:sp>
      <p:sp>
        <p:nvSpPr>
          <p:cNvPr id="5" name="矩形 4"/>
          <p:cNvSpPr/>
          <p:nvPr/>
        </p:nvSpPr>
        <p:spPr>
          <a:xfrm>
            <a:off x="841421" y="1352551"/>
            <a:ext cx="10531547" cy="3062377"/>
          </a:xfrm>
          <a:prstGeom prst="rect">
            <a:avLst/>
          </a:prstGeom>
        </p:spPr>
        <p:txBody>
          <a:bodyPr wrap="square">
            <a:spAutoFit/>
          </a:bodyPr>
          <a:lstStyle/>
          <a:p>
            <a:pPr lvl="0">
              <a:spcBef>
                <a:spcPts val="600"/>
              </a:spcBef>
            </a:pPr>
            <a:r>
              <a:rPr lang="zh-CN" altLang="en-US" sz="2400" dirty="0">
                <a:solidFill>
                  <a:srgbClr val="C00000"/>
                </a:solidFill>
                <a:latin typeface="DengXian" panose="02010600030101010101" pitchFamily="2" charset="-122"/>
                <a:ea typeface="DengXian" panose="02010600030101010101" pitchFamily="2" charset="-122"/>
              </a:rPr>
              <a:t>最长前缀匹配（</a:t>
            </a:r>
            <a:r>
              <a:rPr lang="en-US" altLang="zh-CN" sz="2400" dirty="0">
                <a:solidFill>
                  <a:srgbClr val="C00000"/>
                </a:solidFill>
                <a:latin typeface="DengXian" panose="02010600030101010101" pitchFamily="2" charset="-122"/>
                <a:ea typeface="DengXian" panose="02010600030101010101" pitchFamily="2" charset="-122"/>
              </a:rPr>
              <a:t>Longest prefix match</a:t>
            </a:r>
            <a:r>
              <a:rPr lang="zh-CN" altLang="en-US" sz="2400" dirty="0">
                <a:solidFill>
                  <a:srgbClr val="C00000"/>
                </a:solidFill>
                <a:latin typeface="DengXian" panose="02010600030101010101" pitchFamily="2" charset="-122"/>
                <a:ea typeface="DengXian" panose="02010600030101010101" pitchFamily="2" charset="-122"/>
              </a:rPr>
              <a:t>）</a:t>
            </a:r>
            <a:endParaRPr lang="en-US" altLang="zh-CN" sz="2400" dirty="0">
              <a:solidFill>
                <a:srgbClr val="C00000"/>
              </a:solidFill>
              <a:latin typeface="DengXian" panose="02010600030101010101" pitchFamily="2" charset="-122"/>
              <a:ea typeface="DengXian" panose="02010600030101010101" pitchFamily="2" charset="-122"/>
            </a:endParaRPr>
          </a:p>
          <a:p>
            <a:pPr marL="360363" indent="-360363">
              <a:spcBef>
                <a:spcPts val="600"/>
              </a:spcBef>
              <a:buFont typeface="Wingdings" pitchFamily="2" charset="2"/>
              <a:buChar char="Ø"/>
            </a:pPr>
            <a:r>
              <a:rPr lang="en-US" altLang="zh-CN" sz="2400" dirty="0">
                <a:solidFill>
                  <a:prstClr val="black"/>
                </a:solidFill>
                <a:latin typeface="DengXian" panose="02010600030101010101" pitchFamily="2" charset="-122"/>
                <a:ea typeface="DengXian" panose="02010600030101010101" pitchFamily="2" charset="-122"/>
              </a:rPr>
              <a:t>CIDR</a:t>
            </a:r>
            <a:r>
              <a:rPr lang="zh-CN" altLang="en-US" sz="2400" dirty="0">
                <a:solidFill>
                  <a:prstClr val="black"/>
                </a:solidFill>
                <a:latin typeface="DengXian" panose="02010600030101010101" pitchFamily="2" charset="-122"/>
                <a:ea typeface="DengXian" panose="02010600030101010101" pitchFamily="2" charset="-122"/>
              </a:rPr>
              <a:t>可变长子网掩码以及路由聚合，需要最长前缀匹配来实现最精确匹配</a:t>
            </a:r>
          </a:p>
          <a:p>
            <a:pPr marL="360363" lvl="0" indent="-360363">
              <a:spcBef>
                <a:spcPts val="600"/>
              </a:spcBef>
              <a:buFont typeface="Wingdings" pitchFamily="2" charset="2"/>
              <a:buChar char="Ø"/>
            </a:pPr>
            <a:r>
              <a:rPr lang="en-US" altLang="zh-CN" sz="2400" dirty="0">
                <a:solidFill>
                  <a:prstClr val="black"/>
                </a:solidFill>
                <a:latin typeface="DengXian" panose="02010600030101010101" pitchFamily="2" charset="-122"/>
                <a:ea typeface="DengXian" panose="02010600030101010101" pitchFamily="2" charset="-122"/>
              </a:rPr>
              <a:t>IP</a:t>
            </a:r>
            <a:r>
              <a:rPr lang="zh-CN" altLang="en-US" sz="2400" dirty="0">
                <a:solidFill>
                  <a:prstClr val="black"/>
                </a:solidFill>
                <a:latin typeface="DengXian" panose="02010600030101010101" pitchFamily="2" charset="-122"/>
                <a:ea typeface="DengXian" panose="02010600030101010101" pitchFamily="2" charset="-122"/>
              </a:rPr>
              <a:t>地址与</a:t>
            </a:r>
            <a:r>
              <a:rPr lang="en-US" altLang="zh-CN" sz="2400" dirty="0">
                <a:solidFill>
                  <a:prstClr val="black"/>
                </a:solidFill>
                <a:latin typeface="DengXian" panose="02010600030101010101" pitchFamily="2" charset="-122"/>
                <a:ea typeface="DengXian" panose="02010600030101010101" pitchFamily="2" charset="-122"/>
              </a:rPr>
              <a:t>IP</a:t>
            </a:r>
            <a:r>
              <a:rPr lang="zh-CN" altLang="en-US" sz="2400" dirty="0">
                <a:solidFill>
                  <a:prstClr val="black"/>
                </a:solidFill>
                <a:latin typeface="DengXian" panose="02010600030101010101" pitchFamily="2" charset="-122"/>
                <a:ea typeface="DengXian" panose="02010600030101010101" pitchFamily="2" charset="-122"/>
              </a:rPr>
              <a:t>前缀匹配时，总是选取</a:t>
            </a:r>
            <a:r>
              <a:rPr lang="zh-CN" altLang="en-US" sz="2400" dirty="0">
                <a:solidFill>
                  <a:srgbClr val="C00000"/>
                </a:solidFill>
                <a:latin typeface="DengXian" panose="02010600030101010101" pitchFamily="2" charset="-122"/>
                <a:ea typeface="DengXian" panose="02010600030101010101" pitchFamily="2" charset="-122"/>
              </a:rPr>
              <a:t>子网掩码最长</a:t>
            </a:r>
            <a:r>
              <a:rPr lang="zh-CN" altLang="en-US" sz="2400" dirty="0">
                <a:solidFill>
                  <a:prstClr val="black"/>
                </a:solidFill>
                <a:latin typeface="DengXian" panose="02010600030101010101" pitchFamily="2" charset="-122"/>
                <a:ea typeface="DengXian" panose="02010600030101010101" pitchFamily="2" charset="-122"/>
              </a:rPr>
              <a:t>的匹配项</a:t>
            </a:r>
            <a:endParaRPr lang="en-US" altLang="zh-CN" sz="2400" dirty="0">
              <a:solidFill>
                <a:prstClr val="black"/>
              </a:solidFill>
              <a:latin typeface="DengXian" panose="02010600030101010101" pitchFamily="2" charset="-122"/>
              <a:ea typeface="DengXian" panose="02010600030101010101" pitchFamily="2" charset="-122"/>
            </a:endParaRPr>
          </a:p>
          <a:p>
            <a:pPr marL="360363" lvl="0" indent="-360363">
              <a:spcBef>
                <a:spcPts val="600"/>
              </a:spcBef>
              <a:buFont typeface="Wingdings" pitchFamily="2" charset="2"/>
              <a:buChar char="Ø"/>
            </a:pPr>
            <a:r>
              <a:rPr lang="zh-CN" altLang="en-US" sz="2400" dirty="0">
                <a:solidFill>
                  <a:prstClr val="black"/>
                </a:solidFill>
                <a:latin typeface="DengXian" panose="02010600030101010101" pitchFamily="2" charset="-122"/>
                <a:ea typeface="DengXian" panose="02010600030101010101" pitchFamily="2" charset="-122"/>
              </a:rPr>
              <a:t>主要用于路由器转发表项的匹配，也应用于</a:t>
            </a:r>
            <a:r>
              <a:rPr lang="en-US" altLang="zh-CN" sz="2400" dirty="0">
                <a:solidFill>
                  <a:prstClr val="black"/>
                </a:solidFill>
                <a:latin typeface="DengXian" panose="02010600030101010101" pitchFamily="2" charset="-122"/>
                <a:ea typeface="DengXian" panose="02010600030101010101" pitchFamily="2" charset="-122"/>
              </a:rPr>
              <a:t>ACL</a:t>
            </a:r>
            <a:r>
              <a:rPr lang="zh-CN" altLang="en-US" sz="2400" dirty="0">
                <a:solidFill>
                  <a:prstClr val="black"/>
                </a:solidFill>
                <a:latin typeface="DengXian" panose="02010600030101010101" pitchFamily="2" charset="-122"/>
                <a:ea typeface="DengXian" panose="02010600030101010101" pitchFamily="2" charset="-122"/>
              </a:rPr>
              <a:t>（</a:t>
            </a:r>
            <a:r>
              <a:rPr lang="en-US" altLang="zh-CN" sz="2400" dirty="0">
                <a:solidFill>
                  <a:prstClr val="black"/>
                </a:solidFill>
                <a:latin typeface="DengXian" panose="02010600030101010101" pitchFamily="2" charset="-122"/>
                <a:ea typeface="DengXian" panose="02010600030101010101" pitchFamily="2" charset="-122"/>
              </a:rPr>
              <a:t>access</a:t>
            </a:r>
            <a:r>
              <a:rPr lang="zh-CN" altLang="en-US" sz="2400" dirty="0">
                <a:solidFill>
                  <a:prstClr val="black"/>
                </a:solidFill>
                <a:latin typeface="DengXian" panose="02010600030101010101" pitchFamily="2" charset="-122"/>
                <a:ea typeface="DengXian" panose="02010600030101010101" pitchFamily="2" charset="-122"/>
              </a:rPr>
              <a:t> </a:t>
            </a:r>
            <a:r>
              <a:rPr lang="en-US" altLang="zh-CN" sz="2400" dirty="0">
                <a:solidFill>
                  <a:prstClr val="black"/>
                </a:solidFill>
                <a:latin typeface="DengXian" panose="02010600030101010101" pitchFamily="2" charset="-122"/>
                <a:ea typeface="DengXian" panose="02010600030101010101" pitchFamily="2" charset="-122"/>
              </a:rPr>
              <a:t>control</a:t>
            </a:r>
            <a:r>
              <a:rPr lang="zh-CN" altLang="en-US" sz="2400" dirty="0">
                <a:solidFill>
                  <a:prstClr val="black"/>
                </a:solidFill>
                <a:latin typeface="DengXian" panose="02010600030101010101" pitchFamily="2" charset="-122"/>
                <a:ea typeface="DengXian" panose="02010600030101010101" pitchFamily="2" charset="-122"/>
              </a:rPr>
              <a:t> </a:t>
            </a:r>
            <a:r>
              <a:rPr lang="en-US" altLang="zh-CN" sz="2400" dirty="0">
                <a:solidFill>
                  <a:prstClr val="black"/>
                </a:solidFill>
                <a:latin typeface="DengXian" panose="02010600030101010101" pitchFamily="2" charset="-122"/>
                <a:ea typeface="DengXian" panose="02010600030101010101" pitchFamily="2" charset="-122"/>
              </a:rPr>
              <a:t>list</a:t>
            </a:r>
            <a:r>
              <a:rPr lang="zh-CN" altLang="en-US" sz="2400" dirty="0">
                <a:solidFill>
                  <a:prstClr val="black"/>
                </a:solidFill>
                <a:latin typeface="DengXian" panose="02010600030101010101" pitchFamily="2" charset="-122"/>
                <a:ea typeface="DengXian" panose="02010600030101010101" pitchFamily="2" charset="-122"/>
              </a:rPr>
              <a:t>）规则匹配等</a:t>
            </a:r>
          </a:p>
          <a:p>
            <a:pPr marL="360363" lvl="0" indent="-360363">
              <a:spcBef>
                <a:spcPts val="600"/>
              </a:spcBef>
              <a:buFont typeface="Wingdings" pitchFamily="2" charset="2"/>
              <a:buChar char="Ø"/>
            </a:pPr>
            <a:endParaRPr lang="zh-CN" altLang="en-US" sz="2400" dirty="0">
              <a:solidFill>
                <a:prstClr val="black"/>
              </a:solidFill>
              <a:latin typeface="DengXian" panose="02010600030101010101" pitchFamily="2" charset="-122"/>
              <a:ea typeface="DengXian" panose="02010600030101010101" pitchFamily="2" charset="-122"/>
            </a:endParaRPr>
          </a:p>
          <a:p>
            <a:pPr lvl="0">
              <a:spcBef>
                <a:spcPts val="600"/>
              </a:spcBef>
            </a:pPr>
            <a:endParaRPr lang="en-US" altLang="zh-CN" sz="2400" dirty="0">
              <a:solidFill>
                <a:prstClr val="black"/>
              </a:solidFill>
              <a:latin typeface="DengXian" panose="02010600030101010101" pitchFamily="2" charset="-122"/>
              <a:ea typeface="DengXian" panose="02010600030101010101" pitchFamily="2" charset="-122"/>
            </a:endParaRPr>
          </a:p>
        </p:txBody>
      </p:sp>
      <p:graphicFrame>
        <p:nvGraphicFramePr>
          <p:cNvPr id="21" name="表格 20"/>
          <p:cNvGraphicFramePr>
            <a:graphicFrameLocks noGrp="1"/>
          </p:cNvGraphicFramePr>
          <p:nvPr>
            <p:extLst>
              <p:ext uri="{D42A27DB-BD31-4B8C-83A1-F6EECF244321}">
                <p14:modId xmlns:p14="http://schemas.microsoft.com/office/powerpoint/2010/main" val="809944030"/>
              </p:ext>
            </p:extLst>
          </p:nvPr>
        </p:nvGraphicFramePr>
        <p:xfrm>
          <a:off x="959064" y="3513782"/>
          <a:ext cx="9911256" cy="1981200"/>
        </p:xfrm>
        <a:graphic>
          <a:graphicData uri="http://schemas.openxmlformats.org/drawingml/2006/table">
            <a:tbl>
              <a:tblPr firstRow="1" bandRow="1">
                <a:tableStyleId>{5C22544A-7EE6-4342-B048-85BDC9FD1C3A}</a:tableStyleId>
              </a:tblPr>
              <a:tblGrid>
                <a:gridCol w="3058509">
                  <a:extLst>
                    <a:ext uri="{9D8B030D-6E8A-4147-A177-3AD203B41FA5}">
                      <a16:colId xmlns:a16="http://schemas.microsoft.com/office/drawing/2014/main" val="3525241146"/>
                    </a:ext>
                  </a:extLst>
                </a:gridCol>
                <a:gridCol w="5411903">
                  <a:extLst>
                    <a:ext uri="{9D8B030D-6E8A-4147-A177-3AD203B41FA5}">
                      <a16:colId xmlns:a16="http://schemas.microsoft.com/office/drawing/2014/main" val="3338336265"/>
                    </a:ext>
                  </a:extLst>
                </a:gridCol>
                <a:gridCol w="1440844">
                  <a:extLst>
                    <a:ext uri="{9D8B030D-6E8A-4147-A177-3AD203B41FA5}">
                      <a16:colId xmlns:a16="http://schemas.microsoft.com/office/drawing/2014/main" val="3315553543"/>
                    </a:ext>
                  </a:extLst>
                </a:gridCol>
              </a:tblGrid>
              <a:tr h="370840">
                <a:tc gridSpan="2">
                  <a:txBody>
                    <a:bodyPr/>
                    <a:lstStyle/>
                    <a:p>
                      <a:pPr algn="ctr"/>
                      <a:r>
                        <a:rPr lang="en-US" altLang="zh-CN" sz="2000" dirty="0">
                          <a:latin typeface="等线" panose="02010600030101010101" pitchFamily="2" charset="-122"/>
                          <a:ea typeface="等线" panose="02010600030101010101" pitchFamily="2" charset="-122"/>
                        </a:rPr>
                        <a:t>IP</a:t>
                      </a:r>
                      <a:r>
                        <a:rPr lang="zh-CN" altLang="en-US" sz="2000" dirty="0">
                          <a:latin typeface="等线" panose="02010600030101010101" pitchFamily="2" charset="-122"/>
                          <a:ea typeface="等线" panose="02010600030101010101" pitchFamily="2" charset="-122"/>
                        </a:rPr>
                        <a:t>前缀（</a:t>
                      </a:r>
                      <a:r>
                        <a:rPr lang="en-US" altLang="zh-CN" sz="2000" dirty="0">
                          <a:latin typeface="等线" panose="02010600030101010101" pitchFamily="2" charset="-122"/>
                          <a:ea typeface="等线" panose="02010600030101010101" pitchFamily="2" charset="-122"/>
                        </a:rPr>
                        <a:t>2</a:t>
                      </a:r>
                      <a:r>
                        <a:rPr lang="zh-CN" altLang="en-US" sz="2000" dirty="0">
                          <a:latin typeface="等线" panose="02010600030101010101" pitchFamily="2" charset="-122"/>
                          <a:ea typeface="等线" panose="02010600030101010101" pitchFamily="2" charset="-122"/>
                        </a:rPr>
                        <a:t>种描述方式）</a:t>
                      </a:r>
                    </a:p>
                  </a:txBody>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2400" dirty="0"/>
                    </a:p>
                  </a:txBody>
                  <a:tcPr/>
                </a:tc>
                <a:tc>
                  <a:txBody>
                    <a:bodyPr/>
                    <a:lstStyle/>
                    <a:p>
                      <a:r>
                        <a:rPr lang="zh-CN" altLang="en-US" sz="2000" dirty="0">
                          <a:latin typeface="等线" panose="02010600030101010101" pitchFamily="2" charset="-122"/>
                          <a:ea typeface="等线" panose="02010600030101010101" pitchFamily="2" charset="-122"/>
                        </a:rPr>
                        <a:t>出接口号</a:t>
                      </a:r>
                    </a:p>
                  </a:txBody>
                  <a:tcPr/>
                </a:tc>
                <a:extLst>
                  <a:ext uri="{0D108BD9-81ED-4DB2-BD59-A6C34878D82A}">
                    <a16:rowId xmlns:a16="http://schemas.microsoft.com/office/drawing/2014/main" val="257205593"/>
                  </a:ext>
                </a:extLst>
              </a:tr>
              <a:tr h="370840">
                <a:tc>
                  <a:txBody>
                    <a:bodyPr/>
                    <a:lstStyle/>
                    <a:p>
                      <a:pPr algn="ctr"/>
                      <a:r>
                        <a:rPr lang="en-US" altLang="zh-CN" sz="2000" dirty="0">
                          <a:latin typeface="等线" panose="02010600030101010101" pitchFamily="2" charset="-122"/>
                          <a:ea typeface="等线" panose="02010600030101010101" pitchFamily="2" charset="-122"/>
                        </a:rPr>
                        <a:t>200.23.16.0/21</a:t>
                      </a:r>
                      <a:endParaRPr lang="zh-CN" altLang="en-US" sz="2000" dirty="0">
                        <a:latin typeface="等线" panose="02010600030101010101" pitchFamily="2" charset="-122"/>
                        <a:ea typeface="等线" panose="02010600030101010101" pitchFamily="2" charset="-122"/>
                      </a:endParaRPr>
                    </a:p>
                  </a:txBody>
                  <a:tcPr/>
                </a:tc>
                <a:tc>
                  <a:txBody>
                    <a:bodyPr/>
                    <a:lstStyle/>
                    <a:p>
                      <a:r>
                        <a:rPr lang="en-US" altLang="zh-CN" sz="2000" dirty="0">
                          <a:latin typeface="等线" panose="02010600030101010101" pitchFamily="2" charset="-122"/>
                          <a:ea typeface="等线" panose="02010600030101010101" pitchFamily="2" charset="-122"/>
                        </a:rPr>
                        <a:t>11001000 00010111 00010</a:t>
                      </a:r>
                      <a:endParaRPr lang="zh-CN" altLang="en-US" sz="2000" dirty="0">
                        <a:latin typeface="等线" panose="02010600030101010101" pitchFamily="2" charset="-122"/>
                        <a:ea typeface="等线" panose="02010600030101010101" pitchFamily="2" charset="-122"/>
                      </a:endParaRPr>
                    </a:p>
                  </a:txBody>
                  <a:tcPr/>
                </a:tc>
                <a:tc>
                  <a:txBody>
                    <a:bodyPr/>
                    <a:lstStyle/>
                    <a:p>
                      <a:pPr algn="ctr"/>
                      <a:r>
                        <a:rPr lang="en-US" altLang="zh-CN" sz="2000" dirty="0">
                          <a:latin typeface="等线" panose="02010600030101010101" pitchFamily="2" charset="-122"/>
                          <a:ea typeface="等线" panose="02010600030101010101" pitchFamily="2" charset="-122"/>
                        </a:rPr>
                        <a:t>0</a:t>
                      </a:r>
                      <a:endParaRPr lang="zh-CN" altLang="en-US" sz="20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4472901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等线" panose="02010600030101010101" pitchFamily="2" charset="-122"/>
                          <a:ea typeface="等线" panose="02010600030101010101" pitchFamily="2" charset="-122"/>
                        </a:rPr>
                        <a:t>200.23.24.0/24</a:t>
                      </a:r>
                      <a:endParaRPr lang="zh-CN" altLang="en-US" sz="2000" dirty="0">
                        <a:latin typeface="等线" panose="02010600030101010101" pitchFamily="2" charset="-122"/>
                        <a:ea typeface="等线" panose="02010600030101010101" pitchFamily="2" charset="-122"/>
                      </a:endParaRPr>
                    </a:p>
                  </a:txBody>
                  <a:tcPr/>
                </a:tc>
                <a:tc>
                  <a:txBody>
                    <a:bodyPr/>
                    <a:lstStyle/>
                    <a:p>
                      <a:r>
                        <a:rPr lang="en-US" altLang="zh-CN" sz="2000" dirty="0">
                          <a:latin typeface="等线" panose="02010600030101010101" pitchFamily="2" charset="-122"/>
                          <a:ea typeface="等线" panose="02010600030101010101" pitchFamily="2" charset="-122"/>
                        </a:rPr>
                        <a:t>11001000 00010111 00011000</a:t>
                      </a:r>
                      <a:endParaRPr lang="zh-CN" altLang="en-US" sz="2000" dirty="0">
                        <a:latin typeface="等线" panose="02010600030101010101" pitchFamily="2" charset="-122"/>
                        <a:ea typeface="等线" panose="02010600030101010101" pitchFamily="2" charset="-122"/>
                      </a:endParaRPr>
                    </a:p>
                  </a:txBody>
                  <a:tcPr/>
                </a:tc>
                <a:tc>
                  <a:txBody>
                    <a:bodyPr/>
                    <a:lstStyle/>
                    <a:p>
                      <a:pPr algn="ctr"/>
                      <a:r>
                        <a:rPr lang="en-US" altLang="zh-CN" sz="2000" dirty="0">
                          <a:latin typeface="等线" panose="02010600030101010101" pitchFamily="2" charset="-122"/>
                          <a:ea typeface="等线" panose="02010600030101010101" pitchFamily="2" charset="-122"/>
                        </a:rPr>
                        <a:t>1</a:t>
                      </a:r>
                      <a:endParaRPr lang="zh-CN" altLang="en-US" sz="20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267498272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latin typeface="等线" panose="02010600030101010101" pitchFamily="2" charset="-122"/>
                          <a:ea typeface="等线" panose="02010600030101010101" pitchFamily="2" charset="-122"/>
                        </a:rPr>
                        <a:t>200.23.24.0/21</a:t>
                      </a:r>
                      <a:endParaRPr lang="zh-CN" altLang="en-US" sz="2000" dirty="0">
                        <a:latin typeface="等线" panose="02010600030101010101" pitchFamily="2" charset="-122"/>
                        <a:ea typeface="等线" panose="02010600030101010101" pitchFamily="2" charset="-122"/>
                      </a:endParaRPr>
                    </a:p>
                  </a:txBody>
                  <a:tcPr/>
                </a:tc>
                <a:tc>
                  <a:txBody>
                    <a:bodyPr/>
                    <a:lstStyle/>
                    <a:p>
                      <a:r>
                        <a:rPr lang="en-US" altLang="zh-CN" sz="2000" dirty="0">
                          <a:latin typeface="等线" panose="02010600030101010101" pitchFamily="2" charset="-122"/>
                          <a:ea typeface="等线" panose="02010600030101010101" pitchFamily="2" charset="-122"/>
                        </a:rPr>
                        <a:t>11001000 00010111 00011</a:t>
                      </a:r>
                      <a:endParaRPr lang="zh-CN" altLang="en-US" sz="2000" dirty="0">
                        <a:latin typeface="等线" panose="02010600030101010101" pitchFamily="2" charset="-122"/>
                        <a:ea typeface="等线" panose="02010600030101010101" pitchFamily="2" charset="-122"/>
                      </a:endParaRPr>
                    </a:p>
                  </a:txBody>
                  <a:tcPr/>
                </a:tc>
                <a:tc>
                  <a:txBody>
                    <a:bodyPr/>
                    <a:lstStyle/>
                    <a:p>
                      <a:pPr algn="ctr"/>
                      <a:r>
                        <a:rPr lang="en-US" altLang="zh-CN" sz="2000" dirty="0">
                          <a:latin typeface="等线" panose="02010600030101010101" pitchFamily="2" charset="-122"/>
                          <a:ea typeface="等线" panose="02010600030101010101" pitchFamily="2" charset="-122"/>
                        </a:rPr>
                        <a:t>2</a:t>
                      </a:r>
                      <a:endParaRPr lang="zh-CN" altLang="en-US" sz="20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3676229166"/>
                  </a:ext>
                </a:extLst>
              </a:tr>
              <a:tr h="370840">
                <a:tc>
                  <a:txBody>
                    <a:bodyPr/>
                    <a:lstStyle/>
                    <a:p>
                      <a:pPr algn="ctr"/>
                      <a:r>
                        <a:rPr lang="en-US" altLang="zh-CN" sz="2000" dirty="0">
                          <a:latin typeface="等线" panose="02010600030101010101" pitchFamily="2" charset="-122"/>
                          <a:ea typeface="等线" panose="02010600030101010101" pitchFamily="2" charset="-122"/>
                        </a:rPr>
                        <a:t>Otherwise</a:t>
                      </a:r>
                      <a:r>
                        <a:rPr lang="en-US" altLang="zh-CN" sz="2000" baseline="0" dirty="0">
                          <a:latin typeface="等线" panose="02010600030101010101" pitchFamily="2" charset="-122"/>
                          <a:ea typeface="等线" panose="02010600030101010101" pitchFamily="2" charset="-122"/>
                        </a:rPr>
                        <a:t> 0.0.0.0/0</a:t>
                      </a:r>
                      <a:endParaRPr lang="zh-CN" altLang="en-US" sz="2000" dirty="0">
                        <a:latin typeface="等线" panose="02010600030101010101" pitchFamily="2" charset="-122"/>
                        <a:ea typeface="等线" panose="02010600030101010101" pitchFamily="2" charset="-122"/>
                      </a:endParaRPr>
                    </a:p>
                  </a:txBody>
                  <a:tcPr/>
                </a:tc>
                <a:tc>
                  <a:txBody>
                    <a:bodyPr/>
                    <a:lstStyle/>
                    <a:p>
                      <a:r>
                        <a:rPr lang="en-US" altLang="zh-CN" sz="2000" dirty="0">
                          <a:latin typeface="等线" panose="02010600030101010101" pitchFamily="2" charset="-122"/>
                          <a:ea typeface="等线" panose="02010600030101010101" pitchFamily="2" charset="-122"/>
                        </a:rPr>
                        <a:t>--</a:t>
                      </a:r>
                      <a:endParaRPr lang="zh-CN" altLang="en-US" sz="2000" dirty="0">
                        <a:latin typeface="等线" panose="02010600030101010101" pitchFamily="2" charset="-122"/>
                        <a:ea typeface="等线" panose="02010600030101010101" pitchFamily="2" charset="-122"/>
                      </a:endParaRPr>
                    </a:p>
                  </a:txBody>
                  <a:tcPr/>
                </a:tc>
                <a:tc>
                  <a:txBody>
                    <a:bodyPr/>
                    <a:lstStyle/>
                    <a:p>
                      <a:pPr algn="ctr"/>
                      <a:r>
                        <a:rPr lang="en-US" altLang="zh-CN" sz="2000" dirty="0">
                          <a:latin typeface="等线" panose="02010600030101010101" pitchFamily="2" charset="-122"/>
                          <a:ea typeface="等线" panose="02010600030101010101" pitchFamily="2" charset="-122"/>
                        </a:rPr>
                        <a:t>3</a:t>
                      </a:r>
                      <a:endParaRPr lang="zh-CN" altLang="en-US" sz="20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3439016825"/>
                  </a:ext>
                </a:extLst>
              </a:tr>
            </a:tbl>
          </a:graphicData>
        </a:graphic>
      </p:graphicFrame>
      <p:sp>
        <p:nvSpPr>
          <p:cNvPr id="22" name="内容占位符 2">
            <a:extLst>
              <a:ext uri="{FF2B5EF4-FFF2-40B4-BE49-F238E27FC236}">
                <a16:creationId xmlns:a16="http://schemas.microsoft.com/office/drawing/2014/main" id="{DB830B1C-0706-7E41-AE1A-DEBBD115D846}"/>
              </a:ext>
            </a:extLst>
          </p:cNvPr>
          <p:cNvSpPr txBox="1">
            <a:spLocks/>
          </p:cNvSpPr>
          <p:nvPr/>
        </p:nvSpPr>
        <p:spPr>
          <a:xfrm>
            <a:off x="682861" y="5739509"/>
            <a:ext cx="10690107" cy="874475"/>
          </a:xfrm>
          <a:prstGeom prst="rect">
            <a:avLst/>
          </a:prstGeom>
          <a:noFill/>
        </p:spPr>
        <p:txBody>
          <a:bodyPr vert="horz" lIns="91440" tIns="45720" rIns="91440" bIns="45720" rtlCol="0">
            <a:no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2200" dirty="0">
                <a:solidFill>
                  <a:srgbClr val="7030A0"/>
                </a:solidFill>
                <a:latin typeface="DengXian" panose="02010600030101010101" pitchFamily="2" charset="-122"/>
                <a:ea typeface="DengXian" panose="02010600030101010101" pitchFamily="2" charset="-122"/>
              </a:rPr>
              <a:t>IP</a:t>
            </a:r>
            <a:r>
              <a:rPr lang="zh-CN" altLang="en-US" sz="2200" dirty="0">
                <a:solidFill>
                  <a:srgbClr val="7030A0"/>
                </a:solidFill>
                <a:latin typeface="DengXian" panose="02010600030101010101" pitchFamily="2" charset="-122"/>
                <a:ea typeface="DengXian" panose="02010600030101010101" pitchFamily="2" charset="-122"/>
              </a:rPr>
              <a:t>地址：</a:t>
            </a:r>
            <a:r>
              <a:rPr lang="en-US" altLang="zh-CN" sz="2200" dirty="0">
                <a:solidFill>
                  <a:srgbClr val="7030A0"/>
                </a:solidFill>
                <a:latin typeface="DengXian" panose="02010600030101010101" pitchFamily="2" charset="-122"/>
                <a:ea typeface="DengXian" panose="02010600030101010101" pitchFamily="2" charset="-122"/>
              </a:rPr>
              <a:t>200.23.22.161 </a:t>
            </a:r>
            <a:r>
              <a:rPr lang="zh-CN" altLang="en-US" sz="2200" dirty="0">
                <a:solidFill>
                  <a:srgbClr val="7030A0"/>
                </a:solidFill>
                <a:latin typeface="DengXian" panose="02010600030101010101" pitchFamily="2" charset="-122"/>
                <a:ea typeface="DengXian" panose="02010600030101010101" pitchFamily="2" charset="-122"/>
              </a:rPr>
              <a:t>（</a:t>
            </a:r>
            <a:r>
              <a:rPr lang="en-US" altLang="zh-CN" sz="2200" dirty="0">
                <a:solidFill>
                  <a:srgbClr val="7030A0"/>
                </a:solidFill>
                <a:latin typeface="DengXian" panose="02010600030101010101" pitchFamily="2" charset="-122"/>
                <a:ea typeface="宋体" panose="02010600030101010101" pitchFamily="2" charset="-122"/>
              </a:rPr>
              <a:t> 11001000  00010111  00010110  10100001 </a:t>
            </a:r>
            <a:r>
              <a:rPr lang="zh-CN" altLang="en-US" sz="2200" dirty="0">
                <a:solidFill>
                  <a:srgbClr val="7030A0"/>
                </a:solidFill>
                <a:latin typeface="DengXian" panose="02010600030101010101" pitchFamily="2" charset="-122"/>
                <a:ea typeface="DengXian" panose="02010600030101010101" pitchFamily="2" charset="-122"/>
              </a:rPr>
              <a:t>），接口</a:t>
            </a:r>
            <a:r>
              <a:rPr lang="en-US" altLang="zh-CN" sz="2200" dirty="0">
                <a:solidFill>
                  <a:srgbClr val="7030A0"/>
                </a:solidFill>
                <a:latin typeface="DengXian" panose="02010600030101010101" pitchFamily="2" charset="-122"/>
                <a:ea typeface="DengXian" panose="02010600030101010101" pitchFamily="2" charset="-122"/>
              </a:rPr>
              <a:t>0</a:t>
            </a:r>
          </a:p>
          <a:p>
            <a:pPr marL="0" indent="0">
              <a:buNone/>
            </a:pPr>
            <a:r>
              <a:rPr lang="en-US" altLang="zh-CN" sz="2200" dirty="0">
                <a:solidFill>
                  <a:srgbClr val="7030A0"/>
                </a:solidFill>
                <a:latin typeface="DengXian" panose="02010600030101010101" pitchFamily="2" charset="-122"/>
                <a:ea typeface="DengXian" panose="02010600030101010101" pitchFamily="2" charset="-122"/>
              </a:rPr>
              <a:t>IP</a:t>
            </a:r>
            <a:r>
              <a:rPr lang="zh-CN" altLang="en-US" sz="2200" dirty="0">
                <a:solidFill>
                  <a:srgbClr val="7030A0"/>
                </a:solidFill>
                <a:latin typeface="DengXian" panose="02010600030101010101" pitchFamily="2" charset="-122"/>
                <a:ea typeface="DengXian" panose="02010600030101010101" pitchFamily="2" charset="-122"/>
              </a:rPr>
              <a:t>地址：</a:t>
            </a:r>
            <a:r>
              <a:rPr lang="en-US" altLang="zh-CN" sz="2200" dirty="0">
                <a:solidFill>
                  <a:srgbClr val="7030A0"/>
                </a:solidFill>
                <a:latin typeface="DengXian" panose="02010600030101010101" pitchFamily="2" charset="-122"/>
                <a:ea typeface="DengXian" panose="02010600030101010101" pitchFamily="2" charset="-122"/>
              </a:rPr>
              <a:t>200.23.24.170 </a:t>
            </a:r>
            <a:r>
              <a:rPr lang="zh-CN" altLang="en-US" sz="2200" dirty="0">
                <a:solidFill>
                  <a:srgbClr val="7030A0"/>
                </a:solidFill>
                <a:latin typeface="DengXian" panose="02010600030101010101" pitchFamily="2" charset="-122"/>
                <a:ea typeface="DengXian" panose="02010600030101010101" pitchFamily="2" charset="-122"/>
              </a:rPr>
              <a:t>（</a:t>
            </a:r>
            <a:r>
              <a:rPr lang="en-US" altLang="zh-CN" sz="2200" dirty="0">
                <a:solidFill>
                  <a:srgbClr val="7030A0"/>
                </a:solidFill>
                <a:latin typeface="DengXian" panose="02010600030101010101" pitchFamily="2" charset="-122"/>
                <a:ea typeface="宋体" panose="02010600030101010101" pitchFamily="2" charset="-122"/>
              </a:rPr>
              <a:t> 11001000  00010111  00011000  10101010 </a:t>
            </a:r>
            <a:r>
              <a:rPr lang="zh-CN" altLang="en-US" sz="2200" dirty="0">
                <a:solidFill>
                  <a:srgbClr val="7030A0"/>
                </a:solidFill>
                <a:latin typeface="DengXian" panose="02010600030101010101" pitchFamily="2" charset="-122"/>
                <a:ea typeface="DengXian" panose="02010600030101010101" pitchFamily="2" charset="-122"/>
              </a:rPr>
              <a:t>），接口</a:t>
            </a:r>
            <a:r>
              <a:rPr lang="en-US" altLang="zh-CN" sz="2200" dirty="0">
                <a:solidFill>
                  <a:srgbClr val="7030A0"/>
                </a:solidFill>
                <a:latin typeface="DengXian" panose="02010600030101010101" pitchFamily="2" charset="-122"/>
                <a:ea typeface="DengXian" panose="02010600030101010101" pitchFamily="2" charset="-122"/>
              </a:rPr>
              <a:t>1</a:t>
            </a:r>
          </a:p>
        </p:txBody>
      </p:sp>
    </p:spTree>
    <p:extLst>
      <p:ext uri="{BB962C8B-B14F-4D97-AF65-F5344CB8AC3E}">
        <p14:creationId xmlns:p14="http://schemas.microsoft.com/office/powerpoint/2010/main" val="1757173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等线" panose="02010600030101010101" pitchFamily="2" charset="-122"/>
                <a:ea typeface="等线" panose="02010600030101010101" pitchFamily="2" charset="-122"/>
              </a:rPr>
              <a:t>IP</a:t>
            </a:r>
            <a:r>
              <a:rPr lang="zh-CN" altLang="en-US" dirty="0">
                <a:latin typeface="等线" panose="02010600030101010101" pitchFamily="2" charset="-122"/>
                <a:ea typeface="等线" panose="02010600030101010101" pitchFamily="2" charset="-122"/>
              </a:rPr>
              <a:t> 与 </a:t>
            </a:r>
            <a:r>
              <a:rPr lang="en-US" altLang="zh-CN" dirty="0">
                <a:latin typeface="等线" panose="02010600030101010101" pitchFamily="2" charset="-122"/>
                <a:ea typeface="等线" panose="02010600030101010101" pitchFamily="2" charset="-122"/>
              </a:rPr>
              <a:t>MAC</a:t>
            </a:r>
            <a:r>
              <a:rPr lang="zh-CN" altLang="en-US" dirty="0">
                <a:latin typeface="等线" panose="02010600030101010101" pitchFamily="2" charset="-122"/>
                <a:ea typeface="等线" panose="02010600030101010101" pitchFamily="2" charset="-122"/>
              </a:rPr>
              <a:t>地址</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31</a:t>
            </a:fld>
            <a:endParaRPr kumimoji="1" lang="zh-CN" altLang="en-US" dirty="0"/>
          </a:p>
        </p:txBody>
      </p:sp>
      <p:grpSp>
        <p:nvGrpSpPr>
          <p:cNvPr id="120" name="组合 119"/>
          <p:cNvGrpSpPr/>
          <p:nvPr/>
        </p:nvGrpSpPr>
        <p:grpSpPr>
          <a:xfrm>
            <a:off x="1159933" y="3046061"/>
            <a:ext cx="9076267" cy="3211339"/>
            <a:chOff x="39556" y="1952011"/>
            <a:chExt cx="9881923" cy="4425021"/>
          </a:xfrm>
        </p:grpSpPr>
        <p:sp>
          <p:nvSpPr>
            <p:cNvPr id="121" name="Freeform 77"/>
            <p:cNvSpPr>
              <a:spLocks/>
            </p:cNvSpPr>
            <p:nvPr/>
          </p:nvSpPr>
          <p:spPr bwMode="auto">
            <a:xfrm>
              <a:off x="2559050" y="5160963"/>
              <a:ext cx="428229" cy="2794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99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22" name="Freeform 78"/>
            <p:cNvSpPr>
              <a:spLocks/>
            </p:cNvSpPr>
            <p:nvPr/>
          </p:nvSpPr>
          <p:spPr bwMode="auto">
            <a:xfrm>
              <a:off x="5364031" y="5159375"/>
              <a:ext cx="428228" cy="2794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99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23" name="Line 79"/>
            <p:cNvSpPr>
              <a:spLocks noChangeShapeType="1"/>
            </p:cNvSpPr>
            <p:nvPr/>
          </p:nvSpPr>
          <p:spPr bwMode="auto">
            <a:xfrm rot="-5400000">
              <a:off x="8812081" y="5171943"/>
              <a:ext cx="533400" cy="344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24" name="Line 80"/>
            <p:cNvSpPr>
              <a:spLocks noChangeShapeType="1"/>
            </p:cNvSpPr>
            <p:nvPr/>
          </p:nvSpPr>
          <p:spPr bwMode="auto">
            <a:xfrm rot="-5400000">
              <a:off x="230320" y="5171943"/>
              <a:ext cx="533400" cy="3440"/>
            </a:xfrm>
            <a:prstGeom prst="line">
              <a:avLst/>
            </a:prstGeom>
            <a:noFill/>
            <a:ln w="28575">
              <a:solidFill>
                <a:srgbClr val="3333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25" name="AutoShape 81"/>
            <p:cNvSpPr>
              <a:spLocks noChangeArrowheads="1"/>
            </p:cNvSpPr>
            <p:nvPr/>
          </p:nvSpPr>
          <p:spPr bwMode="auto">
            <a:xfrm>
              <a:off x="247650" y="3306763"/>
              <a:ext cx="742950" cy="1905000"/>
            </a:xfrm>
            <a:prstGeom prst="cube">
              <a:avLst>
                <a:gd name="adj" fmla="val 25000"/>
              </a:avLst>
            </a:prstGeom>
            <a:solidFill>
              <a:srgbClr val="92D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26" name="AutoShape 82"/>
            <p:cNvSpPr>
              <a:spLocks noChangeArrowheads="1"/>
            </p:cNvSpPr>
            <p:nvPr/>
          </p:nvSpPr>
          <p:spPr bwMode="auto">
            <a:xfrm>
              <a:off x="2889250" y="3382963"/>
              <a:ext cx="742950" cy="1905000"/>
            </a:xfrm>
            <a:prstGeom prst="cube">
              <a:avLst>
                <a:gd name="adj" fmla="val 25000"/>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27" name="AutoShape 83"/>
            <p:cNvSpPr>
              <a:spLocks noChangeArrowheads="1"/>
            </p:cNvSpPr>
            <p:nvPr/>
          </p:nvSpPr>
          <p:spPr bwMode="auto">
            <a:xfrm>
              <a:off x="8832850" y="3306763"/>
              <a:ext cx="742950" cy="1905000"/>
            </a:xfrm>
            <a:prstGeom prst="cube">
              <a:avLst>
                <a:gd name="adj" fmla="val 25000"/>
              </a:avLst>
            </a:prstGeom>
            <a:solidFill>
              <a:srgbClr val="92D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28" name="AutoShape 84"/>
            <p:cNvSpPr>
              <a:spLocks noChangeArrowheads="1"/>
            </p:cNvSpPr>
            <p:nvPr/>
          </p:nvSpPr>
          <p:spPr bwMode="auto">
            <a:xfrm>
              <a:off x="5776781" y="3611563"/>
              <a:ext cx="742950" cy="1676400"/>
            </a:xfrm>
            <a:prstGeom prst="cube">
              <a:avLst>
                <a:gd name="adj" fmla="val 25000"/>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nvGrpSpPr>
            <p:cNvPr id="129" name="Group 85"/>
            <p:cNvGrpSpPr>
              <a:grpSpLocks/>
            </p:cNvGrpSpPr>
            <p:nvPr/>
          </p:nvGrpSpPr>
          <p:grpSpPr bwMode="auto">
            <a:xfrm>
              <a:off x="39556" y="2420938"/>
              <a:ext cx="9881923" cy="2438400"/>
              <a:chOff x="96" y="1056"/>
              <a:chExt cx="5472" cy="1536"/>
            </a:xfrm>
            <a:solidFill>
              <a:srgbClr val="FFFF66"/>
            </a:solidFill>
          </p:grpSpPr>
          <p:sp>
            <p:nvSpPr>
              <p:cNvPr id="188" name="Oval 86"/>
              <p:cNvSpPr>
                <a:spLocks noChangeArrowheads="1"/>
              </p:cNvSpPr>
              <p:nvPr/>
            </p:nvSpPr>
            <p:spPr bwMode="auto">
              <a:xfrm>
                <a:off x="3662" y="1674"/>
                <a:ext cx="1906" cy="756"/>
              </a:xfrm>
              <a:prstGeom prst="ellipse">
                <a:avLst/>
              </a:prstGeom>
              <a:solidFill>
                <a:schemeClr val="bg1"/>
              </a:solidFill>
              <a:ln w="12700">
                <a:solidFill>
                  <a:srgbClr val="0000CC"/>
                </a:solidFill>
                <a:round/>
                <a:headEnd/>
                <a:tailEnd/>
              </a:ln>
            </p:spPr>
            <p:txBody>
              <a:bodyP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89" name="Oval 87"/>
              <p:cNvSpPr>
                <a:spLocks noChangeArrowheads="1"/>
              </p:cNvSpPr>
              <p:nvPr/>
            </p:nvSpPr>
            <p:spPr bwMode="auto">
              <a:xfrm>
                <a:off x="96" y="1430"/>
                <a:ext cx="1870" cy="760"/>
              </a:xfrm>
              <a:prstGeom prst="ellipse">
                <a:avLst/>
              </a:prstGeom>
              <a:solidFill>
                <a:schemeClr val="bg1"/>
              </a:solidFill>
              <a:ln w="12700">
                <a:solidFill>
                  <a:srgbClr val="0000CC"/>
                </a:solidFill>
                <a:round/>
                <a:headEnd/>
                <a:tailEnd/>
              </a:ln>
            </p:spPr>
            <p:txBody>
              <a:bodyP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90" name="Oval 88"/>
              <p:cNvSpPr>
                <a:spLocks noChangeArrowheads="1"/>
              </p:cNvSpPr>
              <p:nvPr/>
            </p:nvSpPr>
            <p:spPr bwMode="auto">
              <a:xfrm>
                <a:off x="3365" y="1163"/>
                <a:ext cx="1903" cy="731"/>
              </a:xfrm>
              <a:prstGeom prst="ellipse">
                <a:avLst/>
              </a:prstGeom>
              <a:solidFill>
                <a:schemeClr val="bg1"/>
              </a:solidFill>
              <a:ln w="12700">
                <a:solidFill>
                  <a:srgbClr val="0000CC"/>
                </a:solidFill>
                <a:round/>
                <a:headEnd/>
                <a:tailEnd/>
              </a:ln>
            </p:spPr>
            <p:txBody>
              <a:bodyP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91" name="Oval 89"/>
              <p:cNvSpPr>
                <a:spLocks noChangeArrowheads="1"/>
              </p:cNvSpPr>
              <p:nvPr/>
            </p:nvSpPr>
            <p:spPr bwMode="auto">
              <a:xfrm>
                <a:off x="2365" y="1821"/>
                <a:ext cx="1900" cy="771"/>
              </a:xfrm>
              <a:prstGeom prst="ellipse">
                <a:avLst/>
              </a:prstGeom>
              <a:solidFill>
                <a:schemeClr val="bg1"/>
              </a:solidFill>
              <a:ln w="12700">
                <a:solidFill>
                  <a:srgbClr val="0000CC"/>
                </a:solidFill>
                <a:round/>
                <a:headEnd/>
                <a:tailEnd/>
              </a:ln>
            </p:spPr>
            <p:txBody>
              <a:bodyP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92" name="Oval 90"/>
              <p:cNvSpPr>
                <a:spLocks noChangeArrowheads="1"/>
              </p:cNvSpPr>
              <p:nvPr/>
            </p:nvSpPr>
            <p:spPr bwMode="auto">
              <a:xfrm>
                <a:off x="729" y="1752"/>
                <a:ext cx="1900" cy="731"/>
              </a:xfrm>
              <a:prstGeom prst="ellipse">
                <a:avLst/>
              </a:prstGeom>
              <a:solidFill>
                <a:schemeClr val="bg1"/>
              </a:solidFill>
              <a:ln w="12700">
                <a:solidFill>
                  <a:srgbClr val="0000CC"/>
                </a:solidFill>
                <a:round/>
                <a:headEnd/>
                <a:tailEnd/>
              </a:ln>
            </p:spPr>
            <p:txBody>
              <a:bodyP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93" name="Oval 91"/>
              <p:cNvSpPr>
                <a:spLocks noChangeArrowheads="1"/>
              </p:cNvSpPr>
              <p:nvPr/>
            </p:nvSpPr>
            <p:spPr bwMode="auto">
              <a:xfrm>
                <a:off x="2197" y="1056"/>
                <a:ext cx="1870" cy="758"/>
              </a:xfrm>
              <a:prstGeom prst="ellipse">
                <a:avLst/>
              </a:prstGeom>
              <a:solidFill>
                <a:schemeClr val="bg1"/>
              </a:solidFill>
              <a:ln w="12700">
                <a:solidFill>
                  <a:srgbClr val="0000CC"/>
                </a:solidFill>
                <a:round/>
                <a:headEnd/>
                <a:tailEnd/>
              </a:ln>
            </p:spPr>
            <p:txBody>
              <a:bodyP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94" name="Oval 92"/>
              <p:cNvSpPr>
                <a:spLocks noChangeArrowheads="1"/>
              </p:cNvSpPr>
              <p:nvPr/>
            </p:nvSpPr>
            <p:spPr bwMode="auto">
              <a:xfrm>
                <a:off x="996" y="1056"/>
                <a:ext cx="1867" cy="731"/>
              </a:xfrm>
              <a:prstGeom prst="ellipse">
                <a:avLst/>
              </a:prstGeom>
              <a:solidFill>
                <a:schemeClr val="bg1"/>
              </a:solidFill>
              <a:ln w="12700">
                <a:solidFill>
                  <a:srgbClr val="0000CC"/>
                </a:solidFill>
                <a:round/>
                <a:headEnd/>
                <a:tailEnd/>
              </a:ln>
            </p:spPr>
            <p:txBody>
              <a:bodyP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95" name="Oval 93"/>
              <p:cNvSpPr>
                <a:spLocks noChangeArrowheads="1"/>
              </p:cNvSpPr>
              <p:nvPr/>
            </p:nvSpPr>
            <p:spPr bwMode="auto">
              <a:xfrm>
                <a:off x="597" y="1226"/>
                <a:ext cx="4536" cy="1060"/>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sp>
          <p:nvSpPr>
            <p:cNvPr id="130" name="Line 94"/>
            <p:cNvSpPr>
              <a:spLocks noChangeShapeType="1"/>
            </p:cNvSpPr>
            <p:nvPr/>
          </p:nvSpPr>
          <p:spPr bwMode="auto">
            <a:xfrm>
              <a:off x="165100" y="5440363"/>
              <a:ext cx="2806700" cy="0"/>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nvGrpSpPr>
            <p:cNvPr id="131" name="Group 95"/>
            <p:cNvGrpSpPr>
              <a:grpSpLocks/>
            </p:cNvGrpSpPr>
            <p:nvPr/>
          </p:nvGrpSpPr>
          <p:grpSpPr bwMode="auto">
            <a:xfrm>
              <a:off x="247650" y="2420938"/>
              <a:ext cx="742950" cy="1447800"/>
              <a:chOff x="672" y="528"/>
              <a:chExt cx="432" cy="912"/>
            </a:xfrm>
          </p:grpSpPr>
          <p:sp>
            <p:nvSpPr>
              <p:cNvPr id="185" name="AutoShape 96"/>
              <p:cNvSpPr>
                <a:spLocks noChangeArrowheads="1"/>
              </p:cNvSpPr>
              <p:nvPr/>
            </p:nvSpPr>
            <p:spPr bwMode="auto">
              <a:xfrm>
                <a:off x="672" y="1008"/>
                <a:ext cx="432" cy="432"/>
              </a:xfrm>
              <a:prstGeom prst="cube">
                <a:avLst>
                  <a:gd name="adj" fmla="val 25000"/>
                </a:avLst>
              </a:prstGeom>
              <a:solidFill>
                <a:srgbClr val="92D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86" name="AutoShape 97"/>
              <p:cNvSpPr>
                <a:spLocks noChangeArrowheads="1"/>
              </p:cNvSpPr>
              <p:nvPr/>
            </p:nvSpPr>
            <p:spPr bwMode="auto">
              <a:xfrm>
                <a:off x="672" y="720"/>
                <a:ext cx="432" cy="432"/>
              </a:xfrm>
              <a:prstGeom prst="cube">
                <a:avLst>
                  <a:gd name="adj" fmla="val 25000"/>
                </a:avLst>
              </a:prstGeom>
              <a:solidFill>
                <a:srgbClr val="92D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87" name="AutoShape 98"/>
              <p:cNvSpPr>
                <a:spLocks noChangeArrowheads="1"/>
              </p:cNvSpPr>
              <p:nvPr/>
            </p:nvSpPr>
            <p:spPr bwMode="auto">
              <a:xfrm>
                <a:off x="672" y="528"/>
                <a:ext cx="432" cy="432"/>
              </a:xfrm>
              <a:prstGeom prst="cube">
                <a:avLst>
                  <a:gd name="adj" fmla="val 25000"/>
                </a:avLst>
              </a:prstGeom>
              <a:solidFill>
                <a:srgbClr val="92D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sp>
          <p:nvSpPr>
            <p:cNvPr id="132" name="Text Box 99"/>
            <p:cNvSpPr txBox="1">
              <a:spLocks noChangeArrowheads="1"/>
            </p:cNvSpPr>
            <p:nvPr/>
          </p:nvSpPr>
          <p:spPr bwMode="auto">
            <a:xfrm>
              <a:off x="287207" y="3430588"/>
              <a:ext cx="469833"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latin typeface="等线" panose="02010600030101010101" pitchFamily="2" charset="-122"/>
                  <a:ea typeface="等线" panose="02010600030101010101" pitchFamily="2" charset="-122"/>
                </a:rPr>
                <a:t>IP</a:t>
              </a:r>
              <a:r>
                <a:rPr kumimoji="1" lang="en-US" altLang="zh-CN" sz="1500" b="1" baseline="-25000" dirty="0">
                  <a:latin typeface="等线" panose="02010600030101010101" pitchFamily="2" charset="-122"/>
                  <a:ea typeface="等线" panose="02010600030101010101" pitchFamily="2" charset="-122"/>
                </a:rPr>
                <a:t>1</a:t>
              </a:r>
              <a:endParaRPr kumimoji="1" lang="en-US" altLang="zh-CN" sz="1500" b="1" dirty="0">
                <a:latin typeface="等线" panose="02010600030101010101" pitchFamily="2" charset="-122"/>
                <a:ea typeface="等线" panose="02010600030101010101" pitchFamily="2" charset="-122"/>
              </a:endParaRPr>
            </a:p>
          </p:txBody>
        </p:sp>
        <p:sp>
          <p:nvSpPr>
            <p:cNvPr id="133" name="Text Box 100"/>
            <p:cNvSpPr txBox="1">
              <a:spLocks noChangeArrowheads="1"/>
            </p:cNvSpPr>
            <p:nvPr/>
          </p:nvSpPr>
          <p:spPr bwMode="auto">
            <a:xfrm>
              <a:off x="233892" y="4783283"/>
              <a:ext cx="581532"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latin typeface="等线" panose="02010600030101010101" pitchFamily="2" charset="-122"/>
                  <a:ea typeface="等线" panose="02010600030101010101" pitchFamily="2" charset="-122"/>
                </a:rPr>
                <a:t>HA</a:t>
              </a:r>
              <a:r>
                <a:rPr kumimoji="1" lang="en-US" altLang="zh-CN" sz="1500" b="1" baseline="-25000" dirty="0">
                  <a:latin typeface="等线" panose="02010600030101010101" pitchFamily="2" charset="-122"/>
                  <a:ea typeface="等线" panose="02010600030101010101" pitchFamily="2" charset="-122"/>
                </a:rPr>
                <a:t>1</a:t>
              </a:r>
              <a:endParaRPr kumimoji="1" lang="en-US" altLang="zh-CN" sz="1500" b="1" dirty="0">
                <a:latin typeface="等线" panose="02010600030101010101" pitchFamily="2" charset="-122"/>
                <a:ea typeface="等线" panose="02010600030101010101" pitchFamily="2" charset="-122"/>
              </a:endParaRPr>
            </a:p>
          </p:txBody>
        </p:sp>
        <p:sp>
          <p:nvSpPr>
            <p:cNvPr id="134" name="Text Box 101"/>
            <p:cNvSpPr txBox="1">
              <a:spLocks noChangeArrowheads="1"/>
            </p:cNvSpPr>
            <p:nvPr/>
          </p:nvSpPr>
          <p:spPr bwMode="auto">
            <a:xfrm>
              <a:off x="5154860" y="4745182"/>
              <a:ext cx="581532"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5</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135" name="Text Box 102"/>
            <p:cNvSpPr txBox="1">
              <a:spLocks noChangeArrowheads="1"/>
            </p:cNvSpPr>
            <p:nvPr/>
          </p:nvSpPr>
          <p:spPr bwMode="auto">
            <a:xfrm>
              <a:off x="3533095" y="4738834"/>
              <a:ext cx="581532"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4</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136" name="Text Box 103"/>
            <p:cNvSpPr txBox="1">
              <a:spLocks noChangeArrowheads="1"/>
            </p:cNvSpPr>
            <p:nvPr/>
          </p:nvSpPr>
          <p:spPr bwMode="auto">
            <a:xfrm>
              <a:off x="2239811" y="4738834"/>
              <a:ext cx="581532"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3</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137" name="Line 104"/>
            <p:cNvSpPr>
              <a:spLocks noChangeShapeType="1"/>
            </p:cNvSpPr>
            <p:nvPr/>
          </p:nvSpPr>
          <p:spPr bwMode="auto">
            <a:xfrm>
              <a:off x="908050" y="3611563"/>
              <a:ext cx="2063750" cy="0"/>
            </a:xfrm>
            <a:prstGeom prst="line">
              <a:avLst/>
            </a:prstGeom>
            <a:noFill/>
            <a:ln w="28575">
              <a:solidFill>
                <a:srgbClr val="3399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38" name="Line 105"/>
            <p:cNvSpPr>
              <a:spLocks noChangeShapeType="1"/>
            </p:cNvSpPr>
            <p:nvPr/>
          </p:nvSpPr>
          <p:spPr bwMode="auto">
            <a:xfrm>
              <a:off x="6438900" y="5440363"/>
              <a:ext cx="3219450" cy="0"/>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39" name="Text Box 106"/>
            <p:cNvSpPr txBox="1">
              <a:spLocks noChangeArrowheads="1"/>
            </p:cNvSpPr>
            <p:nvPr/>
          </p:nvSpPr>
          <p:spPr bwMode="auto">
            <a:xfrm>
              <a:off x="6436103" y="4732483"/>
              <a:ext cx="581532"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6</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140" name="Text Box 107"/>
            <p:cNvSpPr txBox="1">
              <a:spLocks noChangeArrowheads="1"/>
            </p:cNvSpPr>
            <p:nvPr/>
          </p:nvSpPr>
          <p:spPr bwMode="auto">
            <a:xfrm>
              <a:off x="8805333" y="4748357"/>
              <a:ext cx="581532"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latin typeface="等线" panose="02010600030101010101" pitchFamily="2" charset="-122"/>
                  <a:ea typeface="等线" panose="02010600030101010101" pitchFamily="2" charset="-122"/>
                </a:rPr>
                <a:t>HA</a:t>
              </a:r>
              <a:r>
                <a:rPr kumimoji="1" lang="en-US" altLang="zh-CN" sz="1500" b="1" baseline="-25000" dirty="0">
                  <a:latin typeface="等线" panose="02010600030101010101" pitchFamily="2" charset="-122"/>
                  <a:ea typeface="等线" panose="02010600030101010101" pitchFamily="2" charset="-122"/>
                </a:rPr>
                <a:t>2</a:t>
              </a:r>
              <a:endParaRPr kumimoji="1" lang="en-US" altLang="zh-CN" sz="1500" b="1" dirty="0">
                <a:latin typeface="等线" panose="02010600030101010101" pitchFamily="2" charset="-122"/>
                <a:ea typeface="等线" panose="02010600030101010101" pitchFamily="2" charset="-122"/>
              </a:endParaRPr>
            </a:p>
          </p:txBody>
        </p:sp>
        <p:sp>
          <p:nvSpPr>
            <p:cNvPr id="141" name="Text Box 108"/>
            <p:cNvSpPr txBox="1">
              <a:spLocks noChangeArrowheads="1"/>
            </p:cNvSpPr>
            <p:nvPr/>
          </p:nvSpPr>
          <p:spPr bwMode="auto">
            <a:xfrm>
              <a:off x="6393151" y="3709988"/>
              <a:ext cx="469833"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IP</a:t>
              </a:r>
              <a:r>
                <a:rPr kumimoji="1" lang="en-US" altLang="zh-CN" sz="1500" b="1" baseline="-25000" dirty="0">
                  <a:solidFill>
                    <a:srgbClr val="0000CC"/>
                  </a:solidFill>
                  <a:latin typeface="等线" panose="02010600030101010101" pitchFamily="2" charset="-122"/>
                  <a:ea typeface="等线" panose="02010600030101010101" pitchFamily="2" charset="-122"/>
                </a:rPr>
                <a:t>6</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142" name="Text Box 109"/>
            <p:cNvSpPr txBox="1">
              <a:spLocks noChangeArrowheads="1"/>
            </p:cNvSpPr>
            <p:nvPr/>
          </p:nvSpPr>
          <p:spPr bwMode="auto">
            <a:xfrm>
              <a:off x="116947" y="1977411"/>
              <a:ext cx="935827"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500" b="1" dirty="0">
                  <a:latin typeface="等线" panose="02010600030101010101" pitchFamily="2" charset="-122"/>
                  <a:ea typeface="等线" panose="02010600030101010101" pitchFamily="2" charset="-122"/>
                </a:rPr>
                <a:t>主机 </a:t>
              </a:r>
              <a:r>
                <a:rPr kumimoji="1" lang="en-US" altLang="zh-CN" sz="1500" b="1" dirty="0">
                  <a:latin typeface="等线" panose="02010600030101010101" pitchFamily="2" charset="-122"/>
                  <a:ea typeface="等线" panose="02010600030101010101" pitchFamily="2" charset="-122"/>
                </a:rPr>
                <a:t>H</a:t>
              </a:r>
              <a:r>
                <a:rPr kumimoji="1" lang="en-US" altLang="zh-CN" sz="1500" b="1" baseline="-25000" dirty="0">
                  <a:latin typeface="等线" panose="02010600030101010101" pitchFamily="2" charset="-122"/>
                  <a:ea typeface="等线" panose="02010600030101010101" pitchFamily="2" charset="-122"/>
                </a:rPr>
                <a:t>1</a:t>
              </a:r>
              <a:endParaRPr kumimoji="1" lang="en-US" altLang="zh-CN" sz="1500" b="1" dirty="0">
                <a:latin typeface="等线" panose="02010600030101010101" pitchFamily="2" charset="-122"/>
                <a:ea typeface="等线" panose="02010600030101010101" pitchFamily="2" charset="-122"/>
              </a:endParaRPr>
            </a:p>
          </p:txBody>
        </p:sp>
        <p:sp>
          <p:nvSpPr>
            <p:cNvPr id="143" name="Text Box 110"/>
            <p:cNvSpPr txBox="1">
              <a:spLocks noChangeArrowheads="1"/>
            </p:cNvSpPr>
            <p:nvPr/>
          </p:nvSpPr>
          <p:spPr bwMode="auto">
            <a:xfrm>
              <a:off x="8716466" y="1952011"/>
              <a:ext cx="935827"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500" b="1" dirty="0">
                  <a:latin typeface="等线" panose="02010600030101010101" pitchFamily="2" charset="-122"/>
                  <a:ea typeface="等线" panose="02010600030101010101" pitchFamily="2" charset="-122"/>
                </a:rPr>
                <a:t>主机 </a:t>
              </a:r>
              <a:r>
                <a:rPr kumimoji="1" lang="en-US" altLang="zh-CN" sz="1500" b="1" dirty="0">
                  <a:latin typeface="等线" panose="02010600030101010101" pitchFamily="2" charset="-122"/>
                  <a:ea typeface="等线" panose="02010600030101010101" pitchFamily="2" charset="-122"/>
                </a:rPr>
                <a:t>H</a:t>
              </a:r>
              <a:r>
                <a:rPr kumimoji="1" lang="en-US" altLang="zh-CN" sz="1500" b="1" baseline="-25000" dirty="0">
                  <a:latin typeface="等线" panose="02010600030101010101" pitchFamily="2" charset="-122"/>
                  <a:ea typeface="等线" panose="02010600030101010101" pitchFamily="2" charset="-122"/>
                </a:rPr>
                <a:t>2</a:t>
              </a:r>
              <a:endParaRPr kumimoji="1" lang="en-US" altLang="zh-CN" sz="1500" b="1" dirty="0">
                <a:latin typeface="等线" panose="02010600030101010101" pitchFamily="2" charset="-122"/>
                <a:ea typeface="等线" panose="02010600030101010101" pitchFamily="2" charset="-122"/>
              </a:endParaRPr>
            </a:p>
          </p:txBody>
        </p:sp>
        <p:sp>
          <p:nvSpPr>
            <p:cNvPr id="144" name="AutoShape 111"/>
            <p:cNvSpPr>
              <a:spLocks noChangeArrowheads="1"/>
            </p:cNvSpPr>
            <p:nvPr/>
          </p:nvSpPr>
          <p:spPr bwMode="auto">
            <a:xfrm>
              <a:off x="2889250" y="3259138"/>
              <a:ext cx="742950" cy="609600"/>
            </a:xfrm>
            <a:prstGeom prst="cube">
              <a:avLst>
                <a:gd name="adj" fmla="val 25000"/>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45" name="Text Box 112"/>
            <p:cNvSpPr txBox="1">
              <a:spLocks noChangeArrowheads="1"/>
            </p:cNvSpPr>
            <p:nvPr/>
          </p:nvSpPr>
          <p:spPr bwMode="auto">
            <a:xfrm>
              <a:off x="2791265" y="2804500"/>
              <a:ext cx="1134790"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500" b="1" dirty="0">
                  <a:latin typeface="等线" panose="02010600030101010101" pitchFamily="2" charset="-122"/>
                  <a:ea typeface="等线" panose="02010600030101010101" pitchFamily="2" charset="-122"/>
                </a:rPr>
                <a:t>路由器 </a:t>
              </a:r>
              <a:r>
                <a:rPr kumimoji="1" lang="en-US" altLang="zh-CN" sz="1500" b="1" dirty="0">
                  <a:latin typeface="等线" panose="02010600030101010101" pitchFamily="2" charset="-122"/>
                  <a:ea typeface="等线" panose="02010600030101010101" pitchFamily="2" charset="-122"/>
                </a:rPr>
                <a:t>R1</a:t>
              </a:r>
            </a:p>
          </p:txBody>
        </p:sp>
        <p:sp>
          <p:nvSpPr>
            <p:cNvPr id="146" name="Text Box 113"/>
            <p:cNvSpPr txBox="1">
              <a:spLocks noChangeArrowheads="1"/>
            </p:cNvSpPr>
            <p:nvPr/>
          </p:nvSpPr>
          <p:spPr bwMode="auto">
            <a:xfrm>
              <a:off x="4875356" y="4119709"/>
              <a:ext cx="1798001" cy="466506"/>
            </a:xfrm>
            <a:prstGeom prst="rect">
              <a:avLst/>
            </a:prstGeom>
            <a:solidFill>
              <a:srgbClr val="0000FF"/>
            </a:solidFill>
            <a:ln w="9525">
              <a:solidFill>
                <a:srgbClr val="3333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en-US" altLang="zh-CN" sz="1600" b="1" dirty="0">
                  <a:solidFill>
                    <a:schemeClr val="bg1"/>
                  </a:solidFill>
                  <a:latin typeface="等线" panose="02010600030101010101" pitchFamily="2" charset="-122"/>
                  <a:ea typeface="等线" panose="02010600030101010101" pitchFamily="2" charset="-122"/>
                </a:rPr>
                <a:t>IP </a:t>
              </a:r>
              <a:r>
                <a:rPr kumimoji="1" lang="zh-CN" altLang="en-US" sz="1600" b="1" dirty="0">
                  <a:solidFill>
                    <a:schemeClr val="bg1"/>
                  </a:solidFill>
                  <a:latin typeface="等线" panose="02010600030101010101" pitchFamily="2" charset="-122"/>
                  <a:ea typeface="等线" panose="02010600030101010101" pitchFamily="2" charset="-122"/>
                </a:rPr>
                <a:t>层上的互联网</a:t>
              </a:r>
            </a:p>
          </p:txBody>
        </p:sp>
        <p:sp>
          <p:nvSpPr>
            <p:cNvPr id="147" name="Text Box 114"/>
            <p:cNvSpPr txBox="1">
              <a:spLocks noChangeArrowheads="1"/>
            </p:cNvSpPr>
            <p:nvPr/>
          </p:nvSpPr>
          <p:spPr bwMode="auto">
            <a:xfrm>
              <a:off x="987245" y="5931731"/>
              <a:ext cx="934081"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latin typeface="等线" panose="02010600030101010101" pitchFamily="2" charset="-122"/>
                  <a:ea typeface="等线" panose="02010600030101010101" pitchFamily="2" charset="-122"/>
                </a:rPr>
                <a:t>MAC </a:t>
              </a:r>
              <a:r>
                <a:rPr kumimoji="1" lang="zh-CN" altLang="en-US" sz="1500" b="1" dirty="0">
                  <a:latin typeface="等线" panose="02010600030101010101" pitchFamily="2" charset="-122"/>
                  <a:ea typeface="等线" panose="02010600030101010101" pitchFamily="2" charset="-122"/>
                </a:rPr>
                <a:t>帧</a:t>
              </a:r>
            </a:p>
          </p:txBody>
        </p:sp>
        <p:grpSp>
          <p:nvGrpSpPr>
            <p:cNvPr id="148" name="Group 115"/>
            <p:cNvGrpSpPr>
              <a:grpSpLocks/>
            </p:cNvGrpSpPr>
            <p:nvPr/>
          </p:nvGrpSpPr>
          <p:grpSpPr bwMode="auto">
            <a:xfrm>
              <a:off x="8832850" y="2420938"/>
              <a:ext cx="742950" cy="1447800"/>
              <a:chOff x="672" y="528"/>
              <a:chExt cx="432" cy="912"/>
            </a:xfrm>
          </p:grpSpPr>
          <p:sp>
            <p:nvSpPr>
              <p:cNvPr id="182" name="AutoShape 116"/>
              <p:cNvSpPr>
                <a:spLocks noChangeArrowheads="1"/>
              </p:cNvSpPr>
              <p:nvPr/>
            </p:nvSpPr>
            <p:spPr bwMode="auto">
              <a:xfrm>
                <a:off x="672" y="1008"/>
                <a:ext cx="432" cy="432"/>
              </a:xfrm>
              <a:prstGeom prst="cube">
                <a:avLst>
                  <a:gd name="adj" fmla="val 25000"/>
                </a:avLst>
              </a:prstGeom>
              <a:solidFill>
                <a:srgbClr val="92D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83" name="AutoShape 117"/>
              <p:cNvSpPr>
                <a:spLocks noChangeArrowheads="1"/>
              </p:cNvSpPr>
              <p:nvPr/>
            </p:nvSpPr>
            <p:spPr bwMode="auto">
              <a:xfrm>
                <a:off x="672" y="720"/>
                <a:ext cx="432" cy="432"/>
              </a:xfrm>
              <a:prstGeom prst="cube">
                <a:avLst>
                  <a:gd name="adj" fmla="val 25000"/>
                </a:avLst>
              </a:prstGeom>
              <a:solidFill>
                <a:srgbClr val="92D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84" name="AutoShape 118"/>
              <p:cNvSpPr>
                <a:spLocks noChangeArrowheads="1"/>
              </p:cNvSpPr>
              <p:nvPr/>
            </p:nvSpPr>
            <p:spPr bwMode="auto">
              <a:xfrm>
                <a:off x="672" y="528"/>
                <a:ext cx="432" cy="432"/>
              </a:xfrm>
              <a:prstGeom prst="cube">
                <a:avLst>
                  <a:gd name="adj" fmla="val 25000"/>
                </a:avLst>
              </a:prstGeom>
              <a:solidFill>
                <a:srgbClr val="92D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sp>
          <p:nvSpPr>
            <p:cNvPr id="149" name="Text Box 119"/>
            <p:cNvSpPr txBox="1">
              <a:spLocks noChangeArrowheads="1"/>
            </p:cNvSpPr>
            <p:nvPr/>
          </p:nvSpPr>
          <p:spPr bwMode="auto">
            <a:xfrm>
              <a:off x="8886167" y="3435350"/>
              <a:ext cx="469833" cy="445301"/>
            </a:xfrm>
            <a:prstGeom prst="rect">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latin typeface="等线" panose="02010600030101010101" pitchFamily="2" charset="-122"/>
                  <a:ea typeface="等线" panose="02010600030101010101" pitchFamily="2" charset="-122"/>
                </a:rPr>
                <a:t>IP</a:t>
              </a:r>
              <a:r>
                <a:rPr kumimoji="1" lang="en-US" altLang="zh-CN" sz="1500" b="1" baseline="-25000" dirty="0">
                  <a:latin typeface="等线" panose="02010600030101010101" pitchFamily="2" charset="-122"/>
                  <a:ea typeface="等线" panose="02010600030101010101" pitchFamily="2" charset="-122"/>
                </a:rPr>
                <a:t>2</a:t>
              </a:r>
              <a:endParaRPr kumimoji="1" lang="en-US" altLang="zh-CN" sz="1500" b="1" dirty="0">
                <a:latin typeface="等线" panose="02010600030101010101" pitchFamily="2" charset="-122"/>
                <a:ea typeface="等线" panose="02010600030101010101" pitchFamily="2" charset="-122"/>
              </a:endParaRPr>
            </a:p>
          </p:txBody>
        </p:sp>
        <p:sp>
          <p:nvSpPr>
            <p:cNvPr id="150" name="Text Box 120"/>
            <p:cNvSpPr txBox="1">
              <a:spLocks noChangeArrowheads="1"/>
            </p:cNvSpPr>
            <p:nvPr/>
          </p:nvSpPr>
          <p:spPr bwMode="auto">
            <a:xfrm>
              <a:off x="3597805" y="3697289"/>
              <a:ext cx="469833"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IP</a:t>
              </a:r>
              <a:r>
                <a:rPr kumimoji="1" lang="en-US" altLang="zh-CN" sz="1500" b="1" baseline="-25000" dirty="0">
                  <a:solidFill>
                    <a:srgbClr val="0000CC"/>
                  </a:solidFill>
                  <a:latin typeface="等线" panose="02010600030101010101" pitchFamily="2" charset="-122"/>
                  <a:ea typeface="等线" panose="02010600030101010101" pitchFamily="2" charset="-122"/>
                </a:rPr>
                <a:t>4</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151" name="Text Box 121"/>
            <p:cNvSpPr txBox="1">
              <a:spLocks noChangeArrowheads="1"/>
            </p:cNvSpPr>
            <p:nvPr/>
          </p:nvSpPr>
          <p:spPr bwMode="auto">
            <a:xfrm>
              <a:off x="2476499" y="3697289"/>
              <a:ext cx="469833"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IP</a:t>
              </a:r>
              <a:r>
                <a:rPr kumimoji="1" lang="en-US" altLang="zh-CN" sz="1500" b="1" baseline="-25000" dirty="0">
                  <a:solidFill>
                    <a:srgbClr val="0000CC"/>
                  </a:solidFill>
                  <a:latin typeface="等线" panose="02010600030101010101" pitchFamily="2" charset="-122"/>
                  <a:ea typeface="等线" panose="02010600030101010101" pitchFamily="2" charset="-122"/>
                </a:rPr>
                <a:t>3</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152" name="Line 122"/>
            <p:cNvSpPr>
              <a:spLocks noChangeShapeType="1"/>
            </p:cNvSpPr>
            <p:nvPr/>
          </p:nvSpPr>
          <p:spPr bwMode="auto">
            <a:xfrm>
              <a:off x="3549650" y="3611563"/>
              <a:ext cx="2228850" cy="0"/>
            </a:xfrm>
            <a:prstGeom prst="line">
              <a:avLst/>
            </a:prstGeom>
            <a:noFill/>
            <a:ln w="28575">
              <a:solidFill>
                <a:srgbClr val="3399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53" name="AutoShape 123"/>
            <p:cNvSpPr>
              <a:spLocks noChangeArrowheads="1"/>
            </p:cNvSpPr>
            <p:nvPr/>
          </p:nvSpPr>
          <p:spPr bwMode="auto">
            <a:xfrm>
              <a:off x="5776781" y="3230563"/>
              <a:ext cx="742950" cy="609600"/>
            </a:xfrm>
            <a:prstGeom prst="cube">
              <a:avLst>
                <a:gd name="adj" fmla="val 25000"/>
              </a:avLst>
            </a:prstGeom>
            <a:solidFill>
              <a:srgbClr val="00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54" name="Line 124"/>
            <p:cNvSpPr>
              <a:spLocks noChangeShapeType="1"/>
            </p:cNvSpPr>
            <p:nvPr/>
          </p:nvSpPr>
          <p:spPr bwMode="auto">
            <a:xfrm>
              <a:off x="6438900" y="3611563"/>
              <a:ext cx="2393950" cy="0"/>
            </a:xfrm>
            <a:prstGeom prst="line">
              <a:avLst/>
            </a:prstGeom>
            <a:noFill/>
            <a:ln w="28575">
              <a:solidFill>
                <a:srgbClr val="3399FF"/>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55" name="Text Box 125"/>
            <p:cNvSpPr txBox="1">
              <a:spLocks noChangeArrowheads="1"/>
            </p:cNvSpPr>
            <p:nvPr/>
          </p:nvSpPr>
          <p:spPr bwMode="auto">
            <a:xfrm>
              <a:off x="5365753" y="3697289"/>
              <a:ext cx="469833"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IP</a:t>
              </a:r>
              <a:r>
                <a:rPr kumimoji="1" lang="en-US" altLang="zh-CN" sz="1500" b="1" baseline="-25000" dirty="0">
                  <a:solidFill>
                    <a:srgbClr val="0000CC"/>
                  </a:solidFill>
                  <a:latin typeface="等线" panose="02010600030101010101" pitchFamily="2" charset="-122"/>
                  <a:ea typeface="等线" panose="02010600030101010101" pitchFamily="2" charset="-122"/>
                </a:rPr>
                <a:t>5</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156" name="Line 126"/>
            <p:cNvSpPr>
              <a:spLocks noChangeShapeType="1"/>
            </p:cNvSpPr>
            <p:nvPr/>
          </p:nvSpPr>
          <p:spPr bwMode="auto">
            <a:xfrm>
              <a:off x="3632200" y="5440363"/>
              <a:ext cx="2063750" cy="0"/>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57" name="Freeform 127"/>
            <p:cNvSpPr>
              <a:spLocks/>
            </p:cNvSpPr>
            <p:nvPr/>
          </p:nvSpPr>
          <p:spPr bwMode="auto">
            <a:xfrm flipH="1">
              <a:off x="6414823" y="5156201"/>
              <a:ext cx="369756" cy="284163"/>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99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58" name="Freeform 128"/>
            <p:cNvSpPr>
              <a:spLocks/>
            </p:cNvSpPr>
            <p:nvPr/>
          </p:nvSpPr>
          <p:spPr bwMode="auto">
            <a:xfrm flipH="1">
              <a:off x="3503216" y="5162550"/>
              <a:ext cx="459184" cy="2794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99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59" name="Text Box 129"/>
            <p:cNvSpPr txBox="1">
              <a:spLocks noChangeArrowheads="1"/>
            </p:cNvSpPr>
            <p:nvPr/>
          </p:nvSpPr>
          <p:spPr bwMode="auto">
            <a:xfrm>
              <a:off x="5610004" y="2779098"/>
              <a:ext cx="1134790"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1500" b="1" dirty="0">
                  <a:latin typeface="等线" panose="02010600030101010101" pitchFamily="2" charset="-122"/>
                  <a:ea typeface="等线" panose="02010600030101010101" pitchFamily="2" charset="-122"/>
                </a:rPr>
                <a:t>路由器 </a:t>
              </a:r>
              <a:r>
                <a:rPr kumimoji="1" lang="en-US" altLang="zh-CN" sz="1500" b="1" dirty="0">
                  <a:latin typeface="等线" panose="02010600030101010101" pitchFamily="2" charset="-122"/>
                  <a:ea typeface="等线" panose="02010600030101010101" pitchFamily="2" charset="-122"/>
                </a:rPr>
                <a:t>R2</a:t>
              </a:r>
            </a:p>
          </p:txBody>
        </p:sp>
        <p:grpSp>
          <p:nvGrpSpPr>
            <p:cNvPr id="160" name="Group 130"/>
            <p:cNvGrpSpPr>
              <a:grpSpLocks/>
            </p:cNvGrpSpPr>
            <p:nvPr/>
          </p:nvGrpSpPr>
          <p:grpSpPr bwMode="auto">
            <a:xfrm>
              <a:off x="1238250" y="3154363"/>
              <a:ext cx="1568450" cy="381000"/>
              <a:chOff x="1632" y="2688"/>
              <a:chExt cx="912" cy="240"/>
            </a:xfrm>
          </p:grpSpPr>
          <p:sp>
            <p:nvSpPr>
              <p:cNvPr id="180" name="Rectangle 131"/>
              <p:cNvSpPr>
                <a:spLocks noChangeArrowheads="1"/>
              </p:cNvSpPr>
              <p:nvPr/>
            </p:nvSpPr>
            <p:spPr bwMode="auto">
              <a:xfrm>
                <a:off x="1632" y="2688"/>
                <a:ext cx="720" cy="240"/>
              </a:xfrm>
              <a:prstGeom prst="rect">
                <a:avLst/>
              </a:prstGeom>
              <a:solidFill>
                <a:srgbClr val="99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dirty="0">
                    <a:latin typeface="等线" panose="02010600030101010101" pitchFamily="2" charset="-122"/>
                    <a:ea typeface="等线" panose="02010600030101010101" pitchFamily="2" charset="-122"/>
                  </a:rPr>
                  <a:t>  IP</a:t>
                </a:r>
                <a:r>
                  <a:rPr kumimoji="1" lang="en-US" altLang="zh-CN" sz="1600" b="1" baseline="-25000" dirty="0">
                    <a:latin typeface="等线" panose="02010600030101010101" pitchFamily="2" charset="-122"/>
                    <a:ea typeface="等线" panose="02010600030101010101" pitchFamily="2" charset="-122"/>
                  </a:rPr>
                  <a:t>1</a:t>
                </a:r>
                <a:r>
                  <a:rPr kumimoji="1" lang="en-US" altLang="zh-CN" sz="1600" b="1" dirty="0">
                    <a:latin typeface="等线" panose="02010600030101010101" pitchFamily="2" charset="-122"/>
                    <a:ea typeface="等线" panose="02010600030101010101" pitchFamily="2" charset="-122"/>
                  </a:rPr>
                  <a:t> → IP</a:t>
                </a:r>
                <a:r>
                  <a:rPr kumimoji="1" lang="en-US" altLang="zh-CN" sz="1600" b="1" baseline="-25000" dirty="0">
                    <a:latin typeface="等线" panose="02010600030101010101" pitchFamily="2" charset="-122"/>
                    <a:ea typeface="等线" panose="02010600030101010101" pitchFamily="2" charset="-122"/>
                  </a:rPr>
                  <a:t>2</a:t>
                </a:r>
              </a:p>
            </p:txBody>
          </p:sp>
          <p:sp>
            <p:nvSpPr>
              <p:cNvPr id="181" name="AutoShape 132"/>
              <p:cNvSpPr>
                <a:spLocks noChangeArrowheads="1"/>
              </p:cNvSpPr>
              <p:nvPr/>
            </p:nvSpPr>
            <p:spPr bwMode="auto">
              <a:xfrm>
                <a:off x="2352" y="2736"/>
                <a:ext cx="192" cy="144"/>
              </a:xfrm>
              <a:prstGeom prst="rightArrow">
                <a:avLst>
                  <a:gd name="adj1" fmla="val 50000"/>
                  <a:gd name="adj2" fmla="val 54167"/>
                </a:avLst>
              </a:prstGeom>
              <a:solidFill>
                <a:srgbClr val="99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grpSp>
          <p:nvGrpSpPr>
            <p:cNvPr id="161" name="Group 133"/>
            <p:cNvGrpSpPr>
              <a:grpSpLocks/>
            </p:cNvGrpSpPr>
            <p:nvPr/>
          </p:nvGrpSpPr>
          <p:grpSpPr bwMode="auto">
            <a:xfrm>
              <a:off x="4044950" y="3154363"/>
              <a:ext cx="1568450" cy="381000"/>
              <a:chOff x="1632" y="2688"/>
              <a:chExt cx="912" cy="240"/>
            </a:xfrm>
          </p:grpSpPr>
          <p:sp>
            <p:nvSpPr>
              <p:cNvPr id="178" name="Rectangle 134"/>
              <p:cNvSpPr>
                <a:spLocks noChangeArrowheads="1"/>
              </p:cNvSpPr>
              <p:nvPr/>
            </p:nvSpPr>
            <p:spPr bwMode="auto">
              <a:xfrm>
                <a:off x="1632" y="2688"/>
                <a:ext cx="720" cy="240"/>
              </a:xfrm>
              <a:prstGeom prst="rect">
                <a:avLst/>
              </a:prstGeom>
              <a:solidFill>
                <a:srgbClr val="99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dirty="0">
                    <a:latin typeface="等线" panose="02010600030101010101" pitchFamily="2" charset="-122"/>
                    <a:ea typeface="等线" panose="02010600030101010101" pitchFamily="2" charset="-122"/>
                  </a:rPr>
                  <a:t>IP</a:t>
                </a:r>
                <a:r>
                  <a:rPr kumimoji="1" lang="en-US" altLang="zh-CN" sz="1600" b="1" baseline="-25000" dirty="0">
                    <a:latin typeface="等线" panose="02010600030101010101" pitchFamily="2" charset="-122"/>
                    <a:ea typeface="等线" panose="02010600030101010101" pitchFamily="2" charset="-122"/>
                  </a:rPr>
                  <a:t>1</a:t>
                </a:r>
                <a:r>
                  <a:rPr kumimoji="1" lang="en-US" altLang="zh-CN" sz="1600" b="1" dirty="0">
                    <a:latin typeface="等线" panose="02010600030101010101" pitchFamily="2" charset="-122"/>
                    <a:ea typeface="等线" panose="02010600030101010101" pitchFamily="2" charset="-122"/>
                  </a:rPr>
                  <a:t> → IP</a:t>
                </a:r>
                <a:r>
                  <a:rPr kumimoji="1" lang="en-US" altLang="zh-CN" sz="1600" b="1" baseline="-25000" dirty="0">
                    <a:latin typeface="等线" panose="02010600030101010101" pitchFamily="2" charset="-122"/>
                    <a:ea typeface="等线" panose="02010600030101010101" pitchFamily="2" charset="-122"/>
                  </a:rPr>
                  <a:t>2</a:t>
                </a:r>
              </a:p>
            </p:txBody>
          </p:sp>
          <p:sp>
            <p:nvSpPr>
              <p:cNvPr id="179" name="AutoShape 135"/>
              <p:cNvSpPr>
                <a:spLocks noChangeArrowheads="1"/>
              </p:cNvSpPr>
              <p:nvPr/>
            </p:nvSpPr>
            <p:spPr bwMode="auto">
              <a:xfrm>
                <a:off x="2352" y="2736"/>
                <a:ext cx="192" cy="144"/>
              </a:xfrm>
              <a:prstGeom prst="rightArrow">
                <a:avLst>
                  <a:gd name="adj1" fmla="val 50000"/>
                  <a:gd name="adj2" fmla="val 54167"/>
                </a:avLst>
              </a:prstGeom>
              <a:solidFill>
                <a:srgbClr val="99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grpSp>
          <p:nvGrpSpPr>
            <p:cNvPr id="162" name="Group 136"/>
            <p:cNvGrpSpPr>
              <a:grpSpLocks/>
            </p:cNvGrpSpPr>
            <p:nvPr/>
          </p:nvGrpSpPr>
          <p:grpSpPr bwMode="auto">
            <a:xfrm>
              <a:off x="7016750" y="3154363"/>
              <a:ext cx="1568450" cy="381000"/>
              <a:chOff x="1632" y="2688"/>
              <a:chExt cx="912" cy="240"/>
            </a:xfrm>
          </p:grpSpPr>
          <p:sp>
            <p:nvSpPr>
              <p:cNvPr id="176" name="Rectangle 137"/>
              <p:cNvSpPr>
                <a:spLocks noChangeArrowheads="1"/>
              </p:cNvSpPr>
              <p:nvPr/>
            </p:nvSpPr>
            <p:spPr bwMode="auto">
              <a:xfrm>
                <a:off x="1632" y="2688"/>
                <a:ext cx="720" cy="240"/>
              </a:xfrm>
              <a:prstGeom prst="rect">
                <a:avLst/>
              </a:prstGeom>
              <a:solidFill>
                <a:srgbClr val="99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en-US" altLang="zh-CN" sz="1600" b="1" dirty="0">
                    <a:latin typeface="等线" panose="02010600030101010101" pitchFamily="2" charset="-122"/>
                    <a:ea typeface="等线" panose="02010600030101010101" pitchFamily="2" charset="-122"/>
                  </a:rPr>
                  <a:t>IP</a:t>
                </a:r>
                <a:r>
                  <a:rPr kumimoji="1" lang="en-US" altLang="zh-CN" sz="1600" b="1" baseline="-25000" dirty="0">
                    <a:latin typeface="等线" panose="02010600030101010101" pitchFamily="2" charset="-122"/>
                    <a:ea typeface="等线" panose="02010600030101010101" pitchFamily="2" charset="-122"/>
                  </a:rPr>
                  <a:t>1</a:t>
                </a:r>
                <a:r>
                  <a:rPr kumimoji="1" lang="en-US" altLang="zh-CN" sz="1600" b="1" dirty="0">
                    <a:latin typeface="等线" panose="02010600030101010101" pitchFamily="2" charset="-122"/>
                    <a:ea typeface="等线" panose="02010600030101010101" pitchFamily="2" charset="-122"/>
                  </a:rPr>
                  <a:t> → IP</a:t>
                </a:r>
                <a:r>
                  <a:rPr kumimoji="1" lang="en-US" altLang="zh-CN" sz="1600" b="1" baseline="-25000" dirty="0">
                    <a:latin typeface="等线" panose="02010600030101010101" pitchFamily="2" charset="-122"/>
                    <a:ea typeface="等线" panose="02010600030101010101" pitchFamily="2" charset="-122"/>
                  </a:rPr>
                  <a:t>2</a:t>
                </a:r>
              </a:p>
            </p:txBody>
          </p:sp>
          <p:sp>
            <p:nvSpPr>
              <p:cNvPr id="177" name="AutoShape 138"/>
              <p:cNvSpPr>
                <a:spLocks noChangeArrowheads="1"/>
              </p:cNvSpPr>
              <p:nvPr/>
            </p:nvSpPr>
            <p:spPr bwMode="auto">
              <a:xfrm>
                <a:off x="2352" y="2736"/>
                <a:ext cx="192" cy="144"/>
              </a:xfrm>
              <a:prstGeom prst="rightArrow">
                <a:avLst>
                  <a:gd name="adj1" fmla="val 50000"/>
                  <a:gd name="adj2" fmla="val 54167"/>
                </a:avLst>
              </a:prstGeom>
              <a:solidFill>
                <a:srgbClr val="99FFCC"/>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grpSp>
          <p:nvGrpSpPr>
            <p:cNvPr id="163" name="Group 139"/>
            <p:cNvGrpSpPr>
              <a:grpSpLocks/>
            </p:cNvGrpSpPr>
            <p:nvPr/>
          </p:nvGrpSpPr>
          <p:grpSpPr bwMode="auto">
            <a:xfrm>
              <a:off x="660400" y="5576888"/>
              <a:ext cx="2146300" cy="381000"/>
              <a:chOff x="480" y="3110"/>
              <a:chExt cx="1248" cy="240"/>
            </a:xfrm>
          </p:grpSpPr>
          <p:sp>
            <p:nvSpPr>
              <p:cNvPr id="174" name="Rectangle 140"/>
              <p:cNvSpPr>
                <a:spLocks noChangeArrowheads="1"/>
              </p:cNvSpPr>
              <p:nvPr/>
            </p:nvSpPr>
            <p:spPr bwMode="auto">
              <a:xfrm>
                <a:off x="480" y="3110"/>
                <a:ext cx="1056" cy="240"/>
              </a:xfrm>
              <a:prstGeom prst="rect">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500" b="1" dirty="0">
                    <a:latin typeface="等线" panose="02010600030101010101" pitchFamily="2" charset="-122"/>
                    <a:ea typeface="等线" panose="02010600030101010101" pitchFamily="2" charset="-122"/>
                  </a:rPr>
                  <a:t>从 </a:t>
                </a:r>
                <a:r>
                  <a:rPr kumimoji="1" lang="en-US" altLang="zh-CN" sz="1500" b="1" dirty="0">
                    <a:latin typeface="等线" panose="02010600030101010101" pitchFamily="2" charset="-122"/>
                    <a:ea typeface="等线" panose="02010600030101010101" pitchFamily="2" charset="-122"/>
                  </a:rPr>
                  <a:t>HA</a:t>
                </a:r>
                <a:r>
                  <a:rPr kumimoji="1" lang="en-US" altLang="zh-CN" sz="1500" b="1" baseline="-25000" dirty="0">
                    <a:latin typeface="等线" panose="02010600030101010101" pitchFamily="2" charset="-122"/>
                    <a:ea typeface="等线" panose="02010600030101010101" pitchFamily="2" charset="-122"/>
                  </a:rPr>
                  <a:t>1</a:t>
                </a:r>
                <a:r>
                  <a:rPr kumimoji="1" lang="en-US" altLang="zh-CN" sz="1500" b="1" dirty="0">
                    <a:latin typeface="等线" panose="02010600030101010101" pitchFamily="2" charset="-122"/>
                    <a:ea typeface="等线" panose="02010600030101010101" pitchFamily="2" charset="-122"/>
                  </a:rPr>
                  <a:t> </a:t>
                </a:r>
                <a:r>
                  <a:rPr kumimoji="1" lang="zh-CN" altLang="en-US" sz="1500" b="1" dirty="0">
                    <a:latin typeface="等线" panose="02010600030101010101" pitchFamily="2" charset="-122"/>
                    <a:ea typeface="等线" panose="02010600030101010101" pitchFamily="2" charset="-122"/>
                  </a:rPr>
                  <a:t>到 </a:t>
                </a:r>
                <a:r>
                  <a:rPr kumimoji="1" lang="en-US" altLang="zh-CN" sz="1500" b="1" dirty="0">
                    <a:latin typeface="等线" panose="02010600030101010101" pitchFamily="2" charset="-122"/>
                    <a:ea typeface="等线" panose="02010600030101010101" pitchFamily="2" charset="-122"/>
                  </a:rPr>
                  <a:t>HA</a:t>
                </a:r>
                <a:r>
                  <a:rPr kumimoji="1" lang="en-US" altLang="zh-CN" sz="1500" b="1" baseline="-25000" dirty="0">
                    <a:latin typeface="等线" panose="02010600030101010101" pitchFamily="2" charset="-122"/>
                    <a:ea typeface="等线" panose="02010600030101010101" pitchFamily="2" charset="-122"/>
                  </a:rPr>
                  <a:t>3</a:t>
                </a:r>
              </a:p>
            </p:txBody>
          </p:sp>
          <p:sp>
            <p:nvSpPr>
              <p:cNvPr id="175" name="AutoShape 141"/>
              <p:cNvSpPr>
                <a:spLocks noChangeArrowheads="1"/>
              </p:cNvSpPr>
              <p:nvPr/>
            </p:nvSpPr>
            <p:spPr bwMode="auto">
              <a:xfrm>
                <a:off x="1536" y="3168"/>
                <a:ext cx="192" cy="144"/>
              </a:xfrm>
              <a:prstGeom prst="rightArrow">
                <a:avLst>
                  <a:gd name="adj1" fmla="val 50000"/>
                  <a:gd name="adj2" fmla="val 541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grpSp>
          <p:nvGrpSpPr>
            <p:cNvPr id="164" name="Group 142"/>
            <p:cNvGrpSpPr>
              <a:grpSpLocks/>
            </p:cNvGrpSpPr>
            <p:nvPr/>
          </p:nvGrpSpPr>
          <p:grpSpPr bwMode="auto">
            <a:xfrm>
              <a:off x="3797300" y="5576888"/>
              <a:ext cx="2146300" cy="381000"/>
              <a:chOff x="480" y="3110"/>
              <a:chExt cx="1248" cy="240"/>
            </a:xfrm>
          </p:grpSpPr>
          <p:sp>
            <p:nvSpPr>
              <p:cNvPr id="172" name="Rectangle 143"/>
              <p:cNvSpPr>
                <a:spLocks noChangeArrowheads="1"/>
              </p:cNvSpPr>
              <p:nvPr/>
            </p:nvSpPr>
            <p:spPr bwMode="auto">
              <a:xfrm>
                <a:off x="480" y="3110"/>
                <a:ext cx="1056" cy="240"/>
              </a:xfrm>
              <a:prstGeom prst="rect">
                <a:avLst/>
              </a:prstGeom>
              <a:solidFill>
                <a:srgbClr val="FFC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500" b="1" dirty="0">
                    <a:latin typeface="等线" panose="02010600030101010101" pitchFamily="2" charset="-122"/>
                    <a:ea typeface="等线" panose="02010600030101010101" pitchFamily="2" charset="-122"/>
                  </a:rPr>
                  <a:t>从 </a:t>
                </a:r>
                <a:r>
                  <a:rPr kumimoji="1" lang="en-US" altLang="zh-CN" sz="1500" b="1" dirty="0">
                    <a:latin typeface="等线" panose="02010600030101010101" pitchFamily="2" charset="-122"/>
                    <a:ea typeface="等线" panose="02010600030101010101" pitchFamily="2" charset="-122"/>
                  </a:rPr>
                  <a:t>HA</a:t>
                </a:r>
                <a:r>
                  <a:rPr kumimoji="1" lang="en-US" altLang="zh-CN" sz="1500" b="1" baseline="-25000" dirty="0">
                    <a:latin typeface="等线" panose="02010600030101010101" pitchFamily="2" charset="-122"/>
                    <a:ea typeface="等线" panose="02010600030101010101" pitchFamily="2" charset="-122"/>
                  </a:rPr>
                  <a:t>4</a:t>
                </a:r>
                <a:r>
                  <a:rPr kumimoji="1" lang="en-US" altLang="zh-CN" sz="1500" b="1" dirty="0">
                    <a:latin typeface="等线" panose="02010600030101010101" pitchFamily="2" charset="-122"/>
                    <a:ea typeface="等线" panose="02010600030101010101" pitchFamily="2" charset="-122"/>
                  </a:rPr>
                  <a:t> </a:t>
                </a:r>
                <a:r>
                  <a:rPr kumimoji="1" lang="zh-CN" altLang="en-US" sz="1500" b="1" dirty="0">
                    <a:latin typeface="等线" panose="02010600030101010101" pitchFamily="2" charset="-122"/>
                    <a:ea typeface="等线" panose="02010600030101010101" pitchFamily="2" charset="-122"/>
                  </a:rPr>
                  <a:t>到 </a:t>
                </a:r>
                <a:r>
                  <a:rPr kumimoji="1" lang="en-US" altLang="zh-CN" sz="1500" b="1" dirty="0">
                    <a:latin typeface="等线" panose="02010600030101010101" pitchFamily="2" charset="-122"/>
                    <a:ea typeface="等线" panose="02010600030101010101" pitchFamily="2" charset="-122"/>
                  </a:rPr>
                  <a:t>HA</a:t>
                </a:r>
                <a:r>
                  <a:rPr kumimoji="1" lang="en-US" altLang="zh-CN" sz="1500" b="1" baseline="-25000" dirty="0">
                    <a:latin typeface="等线" panose="02010600030101010101" pitchFamily="2" charset="-122"/>
                    <a:ea typeface="等线" panose="02010600030101010101" pitchFamily="2" charset="-122"/>
                  </a:rPr>
                  <a:t>5</a:t>
                </a:r>
              </a:p>
            </p:txBody>
          </p:sp>
          <p:sp>
            <p:nvSpPr>
              <p:cNvPr id="173" name="AutoShape 144"/>
              <p:cNvSpPr>
                <a:spLocks noChangeArrowheads="1"/>
              </p:cNvSpPr>
              <p:nvPr/>
            </p:nvSpPr>
            <p:spPr bwMode="auto">
              <a:xfrm>
                <a:off x="1536" y="3168"/>
                <a:ext cx="192" cy="144"/>
              </a:xfrm>
              <a:prstGeom prst="rightArrow">
                <a:avLst>
                  <a:gd name="adj1" fmla="val 50000"/>
                  <a:gd name="adj2" fmla="val 541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grpSp>
          <p:nvGrpSpPr>
            <p:cNvPr id="165" name="Group 145"/>
            <p:cNvGrpSpPr>
              <a:grpSpLocks/>
            </p:cNvGrpSpPr>
            <p:nvPr/>
          </p:nvGrpSpPr>
          <p:grpSpPr bwMode="auto">
            <a:xfrm>
              <a:off x="6934200" y="5576888"/>
              <a:ext cx="2146300" cy="381000"/>
              <a:chOff x="480" y="3110"/>
              <a:chExt cx="1248" cy="240"/>
            </a:xfrm>
          </p:grpSpPr>
          <p:sp>
            <p:nvSpPr>
              <p:cNvPr id="170" name="Rectangle 146"/>
              <p:cNvSpPr>
                <a:spLocks noChangeArrowheads="1"/>
              </p:cNvSpPr>
              <p:nvPr/>
            </p:nvSpPr>
            <p:spPr bwMode="auto">
              <a:xfrm>
                <a:off x="480" y="3110"/>
                <a:ext cx="1056" cy="240"/>
              </a:xfrm>
              <a:prstGeom prst="rect">
                <a:avLst/>
              </a:prstGeom>
              <a:solidFill>
                <a:srgbClr val="FFFF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kumimoji="1" lang="zh-CN" altLang="en-US" sz="1500" b="1" dirty="0">
                    <a:latin typeface="等线" panose="02010600030101010101" pitchFamily="2" charset="-122"/>
                    <a:ea typeface="等线" panose="02010600030101010101" pitchFamily="2" charset="-122"/>
                  </a:rPr>
                  <a:t>从 </a:t>
                </a:r>
                <a:r>
                  <a:rPr kumimoji="1" lang="en-US" altLang="zh-CN" sz="1500" b="1" dirty="0">
                    <a:latin typeface="等线" panose="02010600030101010101" pitchFamily="2" charset="-122"/>
                    <a:ea typeface="等线" panose="02010600030101010101" pitchFamily="2" charset="-122"/>
                  </a:rPr>
                  <a:t>HA</a:t>
                </a:r>
                <a:r>
                  <a:rPr kumimoji="1" lang="en-US" altLang="zh-CN" sz="1500" b="1" baseline="-25000" dirty="0">
                    <a:latin typeface="等线" panose="02010600030101010101" pitchFamily="2" charset="-122"/>
                    <a:ea typeface="等线" panose="02010600030101010101" pitchFamily="2" charset="-122"/>
                  </a:rPr>
                  <a:t>6</a:t>
                </a:r>
                <a:r>
                  <a:rPr kumimoji="1" lang="en-US" altLang="zh-CN" sz="1500" b="1" dirty="0">
                    <a:latin typeface="等线" panose="02010600030101010101" pitchFamily="2" charset="-122"/>
                    <a:ea typeface="等线" panose="02010600030101010101" pitchFamily="2" charset="-122"/>
                  </a:rPr>
                  <a:t> </a:t>
                </a:r>
                <a:r>
                  <a:rPr kumimoji="1" lang="zh-CN" altLang="en-US" sz="1500" b="1" dirty="0">
                    <a:latin typeface="等线" panose="02010600030101010101" pitchFamily="2" charset="-122"/>
                    <a:ea typeface="等线" panose="02010600030101010101" pitchFamily="2" charset="-122"/>
                  </a:rPr>
                  <a:t>到 </a:t>
                </a:r>
                <a:r>
                  <a:rPr kumimoji="1" lang="en-US" altLang="zh-CN" sz="1500" b="1" dirty="0">
                    <a:latin typeface="等线" panose="02010600030101010101" pitchFamily="2" charset="-122"/>
                    <a:ea typeface="等线" panose="02010600030101010101" pitchFamily="2" charset="-122"/>
                  </a:rPr>
                  <a:t>HA</a:t>
                </a:r>
                <a:r>
                  <a:rPr kumimoji="1" lang="en-US" altLang="zh-CN" sz="1500" b="1" baseline="-25000" dirty="0">
                    <a:latin typeface="等线" panose="02010600030101010101" pitchFamily="2" charset="-122"/>
                    <a:ea typeface="等线" panose="02010600030101010101" pitchFamily="2" charset="-122"/>
                  </a:rPr>
                  <a:t>2</a:t>
                </a:r>
              </a:p>
            </p:txBody>
          </p:sp>
          <p:sp>
            <p:nvSpPr>
              <p:cNvPr id="171" name="AutoShape 147"/>
              <p:cNvSpPr>
                <a:spLocks noChangeArrowheads="1"/>
              </p:cNvSpPr>
              <p:nvPr/>
            </p:nvSpPr>
            <p:spPr bwMode="auto">
              <a:xfrm>
                <a:off x="1536" y="3168"/>
                <a:ext cx="192" cy="144"/>
              </a:xfrm>
              <a:prstGeom prst="rightArrow">
                <a:avLst>
                  <a:gd name="adj1" fmla="val 50000"/>
                  <a:gd name="adj2" fmla="val 54167"/>
                </a:avLst>
              </a:prstGeom>
              <a:solidFill>
                <a:srgbClr val="00FFFF"/>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sp>
          <p:nvSpPr>
            <p:cNvPr id="166" name="Text Box 148"/>
            <p:cNvSpPr txBox="1">
              <a:spLocks noChangeArrowheads="1"/>
            </p:cNvSpPr>
            <p:nvPr/>
          </p:nvSpPr>
          <p:spPr bwMode="auto">
            <a:xfrm>
              <a:off x="7286323" y="5931731"/>
              <a:ext cx="934081"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latin typeface="等线" panose="02010600030101010101" pitchFamily="2" charset="-122"/>
                  <a:ea typeface="等线" panose="02010600030101010101" pitchFamily="2" charset="-122"/>
                </a:rPr>
                <a:t>MAC </a:t>
              </a:r>
              <a:r>
                <a:rPr kumimoji="1" lang="zh-CN" altLang="en-US" sz="1500" b="1" dirty="0">
                  <a:latin typeface="等线" panose="02010600030101010101" pitchFamily="2" charset="-122"/>
                  <a:ea typeface="等线" panose="02010600030101010101" pitchFamily="2" charset="-122"/>
                </a:rPr>
                <a:t>帧</a:t>
              </a:r>
            </a:p>
          </p:txBody>
        </p:sp>
        <p:sp>
          <p:nvSpPr>
            <p:cNvPr id="167" name="Text Box 149"/>
            <p:cNvSpPr txBox="1">
              <a:spLocks noChangeArrowheads="1"/>
            </p:cNvSpPr>
            <p:nvPr/>
          </p:nvSpPr>
          <p:spPr bwMode="auto">
            <a:xfrm>
              <a:off x="4150585" y="5931731"/>
              <a:ext cx="934081"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latin typeface="等线" panose="02010600030101010101" pitchFamily="2" charset="-122"/>
                  <a:ea typeface="等线" panose="02010600030101010101" pitchFamily="2" charset="-122"/>
                </a:rPr>
                <a:t>MAC </a:t>
              </a:r>
              <a:r>
                <a:rPr kumimoji="1" lang="zh-CN" altLang="en-US" sz="1500" b="1" dirty="0">
                  <a:latin typeface="等线" panose="02010600030101010101" pitchFamily="2" charset="-122"/>
                  <a:ea typeface="等线" panose="02010600030101010101" pitchFamily="2" charset="-122"/>
                </a:rPr>
                <a:t>帧</a:t>
              </a:r>
            </a:p>
          </p:txBody>
        </p:sp>
        <p:sp>
          <p:nvSpPr>
            <p:cNvPr id="168" name="AutoShape 150"/>
            <p:cNvSpPr>
              <a:spLocks noChangeArrowheads="1"/>
            </p:cNvSpPr>
            <p:nvPr/>
          </p:nvSpPr>
          <p:spPr bwMode="auto">
            <a:xfrm flipV="1">
              <a:off x="2228850" y="2292351"/>
              <a:ext cx="1320800" cy="377825"/>
            </a:xfrm>
            <a:prstGeom prst="wedgeRoundRectCallout">
              <a:avLst>
                <a:gd name="adj1" fmla="val -75782"/>
                <a:gd name="adj2" fmla="val -203782"/>
                <a:gd name="adj3" fmla="val 16667"/>
              </a:avLst>
            </a:prstGeom>
            <a:solidFill>
              <a:srgbClr val="66FF33"/>
            </a:solidFill>
            <a:ln w="9525">
              <a:solidFill>
                <a:schemeClr val="tx1"/>
              </a:solidFill>
              <a:miter lim="800000"/>
              <a:headEnd/>
              <a:tailEnd/>
            </a:ln>
            <a:effectLst/>
          </p:spPr>
          <p:txBody>
            <a:bodyPr rot="10800000" wrap="none" anchor="ctr"/>
            <a:lstStyle/>
            <a:p>
              <a:pPr algn="ctr"/>
              <a:endParaRPr kumimoji="1" lang="zh-CN" altLang="zh-CN" sz="1600" b="1" dirty="0">
                <a:solidFill>
                  <a:srgbClr val="0000CC"/>
                </a:solidFill>
                <a:latin typeface="等线" panose="02010600030101010101" pitchFamily="2" charset="-122"/>
                <a:ea typeface="等线" panose="02010600030101010101" pitchFamily="2" charset="-122"/>
              </a:endParaRPr>
            </a:p>
          </p:txBody>
        </p:sp>
        <p:sp>
          <p:nvSpPr>
            <p:cNvPr id="169" name="Text Box 151"/>
            <p:cNvSpPr txBox="1">
              <a:spLocks noChangeArrowheads="1"/>
            </p:cNvSpPr>
            <p:nvPr/>
          </p:nvSpPr>
          <p:spPr bwMode="auto">
            <a:xfrm>
              <a:off x="2270125" y="2249634"/>
              <a:ext cx="1070214" cy="445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1500" b="1" dirty="0">
                  <a:latin typeface="等线" panose="02010600030101010101" pitchFamily="2" charset="-122"/>
                  <a:ea typeface="等线" panose="02010600030101010101" pitchFamily="2" charset="-122"/>
                </a:rPr>
                <a:t>IP </a:t>
              </a:r>
              <a:r>
                <a:rPr kumimoji="1" lang="zh-CN" altLang="en-US" sz="1500" b="1" dirty="0">
                  <a:latin typeface="等线" panose="02010600030101010101" pitchFamily="2" charset="-122"/>
                  <a:ea typeface="等线" panose="02010600030101010101" pitchFamily="2" charset="-122"/>
                </a:rPr>
                <a:t>数据包</a:t>
              </a:r>
            </a:p>
          </p:txBody>
        </p:sp>
      </p:grpSp>
      <p:sp>
        <p:nvSpPr>
          <p:cNvPr id="197" name="Line 159"/>
          <p:cNvSpPr>
            <a:spLocks noChangeShapeType="1"/>
          </p:cNvSpPr>
          <p:nvPr/>
        </p:nvSpPr>
        <p:spPr bwMode="auto">
          <a:xfrm>
            <a:off x="1963775" y="3594900"/>
            <a:ext cx="0" cy="1934351"/>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98" name="Line 161"/>
          <p:cNvSpPr>
            <a:spLocks noChangeShapeType="1"/>
          </p:cNvSpPr>
          <p:nvPr/>
        </p:nvSpPr>
        <p:spPr bwMode="auto">
          <a:xfrm>
            <a:off x="1879757" y="5581094"/>
            <a:ext cx="1862324" cy="0"/>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99" name="Line 163"/>
          <p:cNvSpPr>
            <a:spLocks noChangeShapeType="1"/>
          </p:cNvSpPr>
          <p:nvPr/>
        </p:nvSpPr>
        <p:spPr bwMode="auto">
          <a:xfrm flipV="1">
            <a:off x="4132811" y="4169790"/>
            <a:ext cx="0" cy="1306464"/>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00" name="Line 164"/>
          <p:cNvSpPr>
            <a:spLocks noChangeShapeType="1"/>
          </p:cNvSpPr>
          <p:nvPr/>
        </p:nvSpPr>
        <p:spPr bwMode="auto">
          <a:xfrm>
            <a:off x="4329996" y="4169790"/>
            <a:ext cx="0" cy="1306464"/>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01" name="Line 165"/>
          <p:cNvSpPr>
            <a:spLocks noChangeShapeType="1"/>
          </p:cNvSpPr>
          <p:nvPr/>
        </p:nvSpPr>
        <p:spPr bwMode="auto">
          <a:xfrm>
            <a:off x="4576555" y="5581094"/>
            <a:ext cx="1862324" cy="0"/>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02" name="Line 168"/>
          <p:cNvSpPr>
            <a:spLocks noChangeShapeType="1"/>
          </p:cNvSpPr>
          <p:nvPr/>
        </p:nvSpPr>
        <p:spPr bwMode="auto">
          <a:xfrm flipV="1">
            <a:off x="6567176" y="4169790"/>
            <a:ext cx="0" cy="1306464"/>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03" name="Line 169"/>
          <p:cNvSpPr>
            <a:spLocks noChangeShapeType="1"/>
          </p:cNvSpPr>
          <p:nvPr/>
        </p:nvSpPr>
        <p:spPr bwMode="auto">
          <a:xfrm>
            <a:off x="6764361" y="4169790"/>
            <a:ext cx="0" cy="1306464"/>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04" name="Line 170"/>
          <p:cNvSpPr>
            <a:spLocks noChangeShapeType="1"/>
          </p:cNvSpPr>
          <p:nvPr/>
        </p:nvSpPr>
        <p:spPr bwMode="auto">
          <a:xfrm>
            <a:off x="7271900" y="5581094"/>
            <a:ext cx="1862325" cy="0"/>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05" name="Line 171"/>
          <p:cNvSpPr>
            <a:spLocks noChangeShapeType="1"/>
          </p:cNvSpPr>
          <p:nvPr/>
        </p:nvSpPr>
        <p:spPr bwMode="auto">
          <a:xfrm flipV="1">
            <a:off x="9197277" y="3646742"/>
            <a:ext cx="0" cy="1934351"/>
          </a:xfrm>
          <a:prstGeom prst="line">
            <a:avLst/>
          </a:prstGeom>
          <a:noFill/>
          <a:ln w="57150">
            <a:solidFill>
              <a:srgbClr val="CC00CC"/>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nvGrpSpPr>
          <p:cNvPr id="6" name="组合 5"/>
          <p:cNvGrpSpPr/>
          <p:nvPr/>
        </p:nvGrpSpPr>
        <p:grpSpPr>
          <a:xfrm>
            <a:off x="1577272" y="1653730"/>
            <a:ext cx="8325805" cy="1284702"/>
            <a:chOff x="1577272" y="1653730"/>
            <a:chExt cx="8325805" cy="1284702"/>
          </a:xfrm>
        </p:grpSpPr>
        <p:sp>
          <p:nvSpPr>
            <p:cNvPr id="212" name="Text Box 13"/>
            <p:cNvSpPr txBox="1">
              <a:spLocks noChangeArrowheads="1"/>
            </p:cNvSpPr>
            <p:nvPr/>
          </p:nvSpPr>
          <p:spPr bwMode="auto">
            <a:xfrm>
              <a:off x="1577272" y="1653730"/>
              <a:ext cx="1008706"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zh-CN" altLang="en-US" sz="1500" b="1" dirty="0">
                  <a:latin typeface="等线" panose="02010600030101010101" pitchFamily="2" charset="-122"/>
                  <a:ea typeface="等线" panose="02010600030101010101" pitchFamily="2" charset="-122"/>
                </a:rPr>
                <a:t>主机 </a:t>
              </a:r>
              <a:r>
                <a:rPr kumimoji="1" lang="en-US" altLang="zh-CN" sz="1500" b="1" dirty="0">
                  <a:latin typeface="等线" panose="02010600030101010101" pitchFamily="2" charset="-122"/>
                  <a:ea typeface="等线" panose="02010600030101010101" pitchFamily="2" charset="-122"/>
                </a:rPr>
                <a:t>H</a:t>
              </a:r>
              <a:r>
                <a:rPr kumimoji="1" lang="en-US" altLang="zh-CN" sz="1500" b="1" baseline="-25000" dirty="0">
                  <a:latin typeface="等线" panose="02010600030101010101" pitchFamily="2" charset="-122"/>
                  <a:ea typeface="等线" panose="02010600030101010101" pitchFamily="2" charset="-122"/>
                </a:rPr>
                <a:t>1</a:t>
              </a:r>
              <a:endParaRPr kumimoji="1" lang="en-US" altLang="zh-CN" sz="1500" b="1" dirty="0">
                <a:latin typeface="等线" panose="02010600030101010101" pitchFamily="2" charset="-122"/>
                <a:ea typeface="等线" panose="02010600030101010101" pitchFamily="2" charset="-122"/>
              </a:endParaRPr>
            </a:p>
          </p:txBody>
        </p:sp>
        <p:sp>
          <p:nvSpPr>
            <p:cNvPr id="213" name="Text Box 14"/>
            <p:cNvSpPr txBox="1">
              <a:spLocks noChangeArrowheads="1"/>
            </p:cNvSpPr>
            <p:nvPr/>
          </p:nvSpPr>
          <p:spPr bwMode="auto">
            <a:xfrm>
              <a:off x="8894371" y="1653730"/>
              <a:ext cx="1008706"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zh-CN" altLang="en-US" sz="1500" b="1" dirty="0">
                  <a:latin typeface="等线" panose="02010600030101010101" pitchFamily="2" charset="-122"/>
                  <a:ea typeface="等线" panose="02010600030101010101" pitchFamily="2" charset="-122"/>
                </a:rPr>
                <a:t>主机 </a:t>
              </a:r>
              <a:r>
                <a:rPr kumimoji="1" lang="en-US" altLang="zh-CN" sz="1500" b="1" dirty="0">
                  <a:latin typeface="等线" panose="02010600030101010101" pitchFamily="2" charset="-122"/>
                  <a:ea typeface="等线" panose="02010600030101010101" pitchFamily="2" charset="-122"/>
                </a:rPr>
                <a:t>H</a:t>
              </a:r>
              <a:r>
                <a:rPr kumimoji="1" lang="en-US" altLang="zh-CN" sz="1500" b="1" baseline="-25000" dirty="0">
                  <a:latin typeface="等线" panose="02010600030101010101" pitchFamily="2" charset="-122"/>
                  <a:ea typeface="等线" panose="02010600030101010101" pitchFamily="2" charset="-122"/>
                </a:rPr>
                <a:t>2</a:t>
              </a:r>
              <a:endParaRPr kumimoji="1" lang="en-US" altLang="zh-CN" sz="1500" b="1" dirty="0">
                <a:latin typeface="等线" panose="02010600030101010101" pitchFamily="2" charset="-122"/>
                <a:ea typeface="等线" panose="02010600030101010101" pitchFamily="2" charset="-122"/>
              </a:endParaRPr>
            </a:p>
          </p:txBody>
        </p:sp>
        <p:grpSp>
          <p:nvGrpSpPr>
            <p:cNvPr id="5" name="组合 4"/>
            <p:cNvGrpSpPr/>
            <p:nvPr/>
          </p:nvGrpSpPr>
          <p:grpSpPr>
            <a:xfrm>
              <a:off x="1631743" y="1974162"/>
              <a:ext cx="8175453" cy="964270"/>
              <a:chOff x="1631743" y="1974162"/>
              <a:chExt cx="8175453" cy="964270"/>
            </a:xfrm>
          </p:grpSpPr>
          <p:sp>
            <p:nvSpPr>
              <p:cNvPr id="206" name="Freeform 2"/>
              <p:cNvSpPr>
                <a:spLocks/>
              </p:cNvSpPr>
              <p:nvPr/>
            </p:nvSpPr>
            <p:spPr bwMode="auto">
              <a:xfrm>
                <a:off x="3886740" y="2529221"/>
                <a:ext cx="247993" cy="3871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99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07" name="Freeform 3"/>
              <p:cNvSpPr>
                <a:spLocks/>
              </p:cNvSpPr>
              <p:nvPr/>
            </p:nvSpPr>
            <p:spPr bwMode="auto">
              <a:xfrm>
                <a:off x="6397165" y="2529221"/>
                <a:ext cx="169016" cy="385948"/>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99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08" name="Line 4"/>
              <p:cNvSpPr>
                <a:spLocks noChangeShapeType="1"/>
              </p:cNvSpPr>
              <p:nvPr/>
            </p:nvSpPr>
            <p:spPr bwMode="auto">
              <a:xfrm rot="16200000">
                <a:off x="9218299" y="2721191"/>
                <a:ext cx="387100" cy="3160"/>
              </a:xfrm>
              <a:prstGeom prst="line">
                <a:avLst/>
              </a:prstGeom>
              <a:noFill/>
              <a:ln w="28575">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09" name="Line 5"/>
              <p:cNvSpPr>
                <a:spLocks noChangeShapeType="1"/>
              </p:cNvSpPr>
              <p:nvPr/>
            </p:nvSpPr>
            <p:spPr bwMode="auto">
              <a:xfrm rot="16200000">
                <a:off x="1771664" y="2721192"/>
                <a:ext cx="387100" cy="3158"/>
              </a:xfrm>
              <a:prstGeom prst="line">
                <a:avLst/>
              </a:prstGeom>
              <a:noFill/>
              <a:ln w="28575">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10" name="Line 6"/>
              <p:cNvSpPr>
                <a:spLocks noChangeShapeType="1"/>
              </p:cNvSpPr>
              <p:nvPr/>
            </p:nvSpPr>
            <p:spPr bwMode="auto">
              <a:xfrm>
                <a:off x="1633035" y="2916320"/>
                <a:ext cx="2574714" cy="0"/>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11" name="Line 11"/>
              <p:cNvSpPr>
                <a:spLocks noChangeShapeType="1"/>
              </p:cNvSpPr>
              <p:nvPr/>
            </p:nvSpPr>
            <p:spPr bwMode="auto">
              <a:xfrm>
                <a:off x="6919724" y="2916320"/>
                <a:ext cx="2887472" cy="0"/>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14" name="Line 15"/>
              <p:cNvSpPr>
                <a:spLocks noChangeShapeType="1"/>
              </p:cNvSpPr>
              <p:nvPr/>
            </p:nvSpPr>
            <p:spPr bwMode="auto">
              <a:xfrm>
                <a:off x="4441082" y="2916320"/>
                <a:ext cx="2261959" cy="0"/>
              </a:xfrm>
              <a:prstGeom prst="line">
                <a:avLst/>
              </a:prstGeom>
              <a:noFill/>
              <a:ln w="5715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15" name="Freeform 16"/>
              <p:cNvSpPr>
                <a:spLocks/>
              </p:cNvSpPr>
              <p:nvPr/>
            </p:nvSpPr>
            <p:spPr bwMode="auto">
              <a:xfrm flipH="1">
                <a:off x="7039441" y="2529221"/>
                <a:ext cx="233778" cy="387100"/>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99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16" name="Freeform 17"/>
              <p:cNvSpPr>
                <a:spLocks/>
              </p:cNvSpPr>
              <p:nvPr/>
            </p:nvSpPr>
            <p:spPr bwMode="auto">
              <a:xfrm flipH="1">
                <a:off x="4593429" y="2529221"/>
                <a:ext cx="170594" cy="388252"/>
              </a:xfrm>
              <a:custGeom>
                <a:avLst/>
                <a:gdLst>
                  <a:gd name="T0" fmla="*/ 0 w 249"/>
                  <a:gd name="T1" fmla="*/ 176 h 176"/>
                  <a:gd name="T2" fmla="*/ 1 w 249"/>
                  <a:gd name="T3" fmla="*/ 0 h 176"/>
                  <a:gd name="T4" fmla="*/ 249 w 249"/>
                  <a:gd name="T5" fmla="*/ 9 h 176"/>
                </a:gdLst>
                <a:ahLst/>
                <a:cxnLst>
                  <a:cxn ang="0">
                    <a:pos x="T0" y="T1"/>
                  </a:cxn>
                  <a:cxn ang="0">
                    <a:pos x="T2" y="T3"/>
                  </a:cxn>
                  <a:cxn ang="0">
                    <a:pos x="T4" y="T5"/>
                  </a:cxn>
                </a:cxnLst>
                <a:rect l="0" t="0" r="r" b="b"/>
                <a:pathLst>
                  <a:path w="249" h="176">
                    <a:moveTo>
                      <a:pt x="0" y="176"/>
                    </a:moveTo>
                    <a:lnTo>
                      <a:pt x="1" y="0"/>
                    </a:lnTo>
                    <a:lnTo>
                      <a:pt x="249" y="9"/>
                    </a:lnTo>
                  </a:path>
                </a:pathLst>
              </a:custGeom>
              <a:noFill/>
              <a:ln w="28575" cmpd="sng">
                <a:solidFill>
                  <a:srgbClr val="3399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217" name="Text Box 18"/>
              <p:cNvSpPr txBox="1">
                <a:spLocks noChangeArrowheads="1"/>
              </p:cNvSpPr>
              <p:nvPr/>
            </p:nvSpPr>
            <p:spPr bwMode="auto">
              <a:xfrm>
                <a:off x="3852814" y="2050111"/>
                <a:ext cx="1192078"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zh-CN" altLang="en-US" sz="1500" b="1" dirty="0">
                    <a:latin typeface="等线" panose="02010600030101010101" pitchFamily="2" charset="-122"/>
                    <a:ea typeface="等线" panose="02010600030101010101" pitchFamily="2" charset="-122"/>
                  </a:rPr>
                  <a:t>路由器 </a:t>
                </a:r>
                <a:r>
                  <a:rPr kumimoji="1" lang="en-US" altLang="zh-CN" sz="1500" b="1" dirty="0">
                    <a:latin typeface="等线" panose="02010600030101010101" pitchFamily="2" charset="-122"/>
                    <a:ea typeface="等线" panose="02010600030101010101" pitchFamily="2" charset="-122"/>
                  </a:rPr>
                  <a:t>R1</a:t>
                </a:r>
                <a:endParaRPr kumimoji="1" lang="en-US" altLang="zh-CN" sz="1500" b="1" baseline="-25000" dirty="0">
                  <a:latin typeface="等线" panose="02010600030101010101" pitchFamily="2" charset="-122"/>
                  <a:ea typeface="等线" panose="02010600030101010101" pitchFamily="2" charset="-122"/>
                </a:endParaRPr>
              </a:p>
            </p:txBody>
          </p:sp>
          <p:pic>
            <p:nvPicPr>
              <p:cNvPr id="218" name="Picture 20"/>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41202" y="2344887"/>
                <a:ext cx="767676" cy="315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pic>
            <p:nvPicPr>
              <p:cNvPr id="219" name="Picture 2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47460" y="2328758"/>
                <a:ext cx="766095" cy="315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pic>
          <p:sp>
            <p:nvSpPr>
              <p:cNvPr id="220" name="AutoShape 23"/>
              <p:cNvSpPr>
                <a:spLocks noChangeArrowheads="1"/>
              </p:cNvSpPr>
              <p:nvPr/>
            </p:nvSpPr>
            <p:spPr bwMode="auto">
              <a:xfrm flipV="1">
                <a:off x="2379327" y="2027629"/>
                <a:ext cx="1576933" cy="252739"/>
              </a:xfrm>
              <a:prstGeom prst="wedgeRoundRectCallout">
                <a:avLst>
                  <a:gd name="adj1" fmla="val -53217"/>
                  <a:gd name="adj2" fmla="val -195611"/>
                  <a:gd name="adj3" fmla="val 16667"/>
                </a:avLst>
              </a:prstGeom>
              <a:solidFill>
                <a:srgbClr val="66FFFF"/>
              </a:solidFill>
              <a:ln w="9525">
                <a:solidFill>
                  <a:schemeClr val="tx1"/>
                </a:solidFill>
                <a:miter lim="800000"/>
                <a:headEnd/>
                <a:tailEnd/>
              </a:ln>
              <a:effectLst/>
            </p:spPr>
            <p:txBody>
              <a:bodyPr rot="10800000" wrap="none" lIns="121917" tIns="60958" rIns="121917" bIns="60958" anchor="ctr"/>
              <a:lstStyle/>
              <a:p>
                <a:pPr algn="ctr"/>
                <a:r>
                  <a:rPr kumimoji="1" lang="en-US" altLang="zh-CN" sz="1500" b="1" dirty="0">
                    <a:latin typeface="等线" panose="02010600030101010101" pitchFamily="2" charset="-122"/>
                    <a:ea typeface="等线" panose="02010600030101010101" pitchFamily="2" charset="-122"/>
                  </a:rPr>
                  <a:t>HA </a:t>
                </a:r>
                <a:r>
                  <a:rPr kumimoji="1" lang="zh-CN" altLang="en-US" sz="1500" b="1" dirty="0">
                    <a:latin typeface="等线" panose="02010600030101010101" pitchFamily="2" charset="-122"/>
                    <a:ea typeface="等线" panose="02010600030101010101" pitchFamily="2" charset="-122"/>
                  </a:rPr>
                  <a:t>为硬件地址</a:t>
                </a:r>
              </a:p>
            </p:txBody>
          </p:sp>
          <p:sp>
            <p:nvSpPr>
              <p:cNvPr id="221" name="Text Box 25"/>
              <p:cNvSpPr txBox="1">
                <a:spLocks noChangeArrowheads="1"/>
              </p:cNvSpPr>
              <p:nvPr/>
            </p:nvSpPr>
            <p:spPr bwMode="auto">
              <a:xfrm>
                <a:off x="6301681" y="2054718"/>
                <a:ext cx="1192078"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zh-CN" altLang="en-US" sz="1500" b="1" dirty="0">
                    <a:latin typeface="等线" panose="02010600030101010101" pitchFamily="2" charset="-122"/>
                    <a:ea typeface="等线" panose="02010600030101010101" pitchFamily="2" charset="-122"/>
                  </a:rPr>
                  <a:t>路由器 </a:t>
                </a:r>
                <a:r>
                  <a:rPr kumimoji="1" lang="en-US" altLang="zh-CN" sz="1500" b="1" dirty="0">
                    <a:latin typeface="等线" panose="02010600030101010101" pitchFamily="2" charset="-122"/>
                    <a:ea typeface="等线" panose="02010600030101010101" pitchFamily="2" charset="-122"/>
                  </a:rPr>
                  <a:t>R2</a:t>
                </a:r>
                <a:endParaRPr kumimoji="1" lang="en-US" altLang="zh-CN" sz="1500" b="1" baseline="-25000" dirty="0">
                  <a:latin typeface="等线" panose="02010600030101010101" pitchFamily="2" charset="-122"/>
                  <a:ea typeface="等线" panose="02010600030101010101" pitchFamily="2" charset="-122"/>
                </a:endParaRPr>
              </a:p>
            </p:txBody>
          </p:sp>
          <p:sp>
            <p:nvSpPr>
              <p:cNvPr id="222" name="Text Box 29"/>
              <p:cNvSpPr txBox="1">
                <a:spLocks noChangeArrowheads="1"/>
              </p:cNvSpPr>
              <p:nvPr/>
            </p:nvSpPr>
            <p:spPr bwMode="auto">
              <a:xfrm>
                <a:off x="2546865" y="2569100"/>
                <a:ext cx="9388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zh-CN" altLang="en-US" sz="1600" b="1" dirty="0">
                    <a:latin typeface="等线" panose="02010600030101010101" pitchFamily="2" charset="-122"/>
                    <a:ea typeface="等线" panose="02010600030101010101" pitchFamily="2" charset="-122"/>
                  </a:rPr>
                  <a:t>局域网</a:t>
                </a:r>
                <a:endParaRPr kumimoji="1" lang="zh-CN" altLang="en-US" sz="1600" b="1" baseline="-25000" dirty="0">
                  <a:latin typeface="等线" panose="02010600030101010101" pitchFamily="2" charset="-122"/>
                  <a:ea typeface="等线" panose="02010600030101010101" pitchFamily="2" charset="-122"/>
                </a:endParaRPr>
              </a:p>
            </p:txBody>
          </p:sp>
          <p:sp>
            <p:nvSpPr>
              <p:cNvPr id="223" name="Text Box 30"/>
              <p:cNvSpPr txBox="1">
                <a:spLocks noChangeArrowheads="1"/>
              </p:cNvSpPr>
              <p:nvPr/>
            </p:nvSpPr>
            <p:spPr bwMode="auto">
              <a:xfrm>
                <a:off x="5126221" y="2569100"/>
                <a:ext cx="9388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zh-CN" altLang="en-US" sz="1600" b="1" dirty="0">
                    <a:latin typeface="等线" panose="02010600030101010101" pitchFamily="2" charset="-122"/>
                    <a:ea typeface="等线" panose="02010600030101010101" pitchFamily="2" charset="-122"/>
                  </a:rPr>
                  <a:t>局域网</a:t>
                </a:r>
                <a:endParaRPr kumimoji="1" lang="zh-CN" altLang="en-US" sz="1600" b="1" baseline="-25000" dirty="0">
                  <a:latin typeface="等线" panose="02010600030101010101" pitchFamily="2" charset="-122"/>
                  <a:ea typeface="等线" panose="02010600030101010101" pitchFamily="2" charset="-122"/>
                </a:endParaRPr>
              </a:p>
            </p:txBody>
          </p:sp>
          <p:sp>
            <p:nvSpPr>
              <p:cNvPr id="224" name="Text Box 31"/>
              <p:cNvSpPr txBox="1">
                <a:spLocks noChangeArrowheads="1"/>
              </p:cNvSpPr>
              <p:nvPr/>
            </p:nvSpPr>
            <p:spPr bwMode="auto">
              <a:xfrm>
                <a:off x="7878110" y="2569100"/>
                <a:ext cx="9388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zh-CN" altLang="en-US" sz="1600" b="1" dirty="0">
                    <a:latin typeface="等线" panose="02010600030101010101" pitchFamily="2" charset="-122"/>
                    <a:ea typeface="等线" panose="02010600030101010101" pitchFamily="2" charset="-122"/>
                  </a:rPr>
                  <a:t>局域网</a:t>
                </a:r>
                <a:endParaRPr kumimoji="1" lang="zh-CN" altLang="en-US" sz="1600" b="1" baseline="-25000" dirty="0">
                  <a:latin typeface="等线" panose="02010600030101010101" pitchFamily="2" charset="-122"/>
                  <a:ea typeface="等线" panose="02010600030101010101" pitchFamily="2" charset="-122"/>
                </a:endParaRPr>
              </a:p>
            </p:txBody>
          </p:sp>
          <p:sp>
            <p:nvSpPr>
              <p:cNvPr id="225" name="Text Box 7"/>
              <p:cNvSpPr txBox="1">
                <a:spLocks noChangeArrowheads="1"/>
              </p:cNvSpPr>
              <p:nvPr/>
            </p:nvSpPr>
            <p:spPr bwMode="auto">
              <a:xfrm>
                <a:off x="1879347" y="2543047"/>
                <a:ext cx="683879"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1</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226" name="Text Box 8"/>
              <p:cNvSpPr txBox="1">
                <a:spLocks noChangeArrowheads="1"/>
              </p:cNvSpPr>
              <p:nvPr/>
            </p:nvSpPr>
            <p:spPr bwMode="auto">
              <a:xfrm>
                <a:off x="5799851" y="2543046"/>
                <a:ext cx="683879"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5</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227" name="Text Box 9"/>
              <p:cNvSpPr txBox="1">
                <a:spLocks noChangeArrowheads="1"/>
              </p:cNvSpPr>
              <p:nvPr/>
            </p:nvSpPr>
            <p:spPr bwMode="auto">
              <a:xfrm>
                <a:off x="4642838" y="2543046"/>
                <a:ext cx="683879"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4</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228" name="Text Box 10"/>
              <p:cNvSpPr txBox="1">
                <a:spLocks noChangeArrowheads="1"/>
              </p:cNvSpPr>
              <p:nvPr/>
            </p:nvSpPr>
            <p:spPr bwMode="auto">
              <a:xfrm>
                <a:off x="3292991" y="2543046"/>
                <a:ext cx="683879"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3</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229" name="Text Box 12"/>
              <p:cNvSpPr txBox="1">
                <a:spLocks noChangeArrowheads="1"/>
              </p:cNvSpPr>
              <p:nvPr/>
            </p:nvSpPr>
            <p:spPr bwMode="auto">
              <a:xfrm>
                <a:off x="7149698" y="2543046"/>
                <a:ext cx="683879"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6</a:t>
                </a:r>
                <a:endParaRPr kumimoji="1" lang="en-US" altLang="zh-CN" sz="1500" b="1" dirty="0">
                  <a:solidFill>
                    <a:srgbClr val="0000CC"/>
                  </a:solidFill>
                  <a:latin typeface="等线" panose="02010600030101010101" pitchFamily="2" charset="-122"/>
                  <a:ea typeface="等线" panose="02010600030101010101" pitchFamily="2" charset="-122"/>
                </a:endParaRPr>
              </a:p>
            </p:txBody>
          </p:sp>
          <p:sp>
            <p:nvSpPr>
              <p:cNvPr id="230" name="Text Box 26"/>
              <p:cNvSpPr txBox="1">
                <a:spLocks noChangeArrowheads="1"/>
              </p:cNvSpPr>
              <p:nvPr/>
            </p:nvSpPr>
            <p:spPr bwMode="auto">
              <a:xfrm>
                <a:off x="8789525" y="2543046"/>
                <a:ext cx="683879" cy="3539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en-US" altLang="zh-CN" sz="1500" b="1" dirty="0">
                    <a:solidFill>
                      <a:srgbClr val="0000CC"/>
                    </a:solidFill>
                    <a:latin typeface="等线" panose="02010600030101010101" pitchFamily="2" charset="-122"/>
                    <a:ea typeface="等线" panose="02010600030101010101" pitchFamily="2" charset="-122"/>
                  </a:rPr>
                  <a:t>HA</a:t>
                </a:r>
                <a:r>
                  <a:rPr kumimoji="1" lang="en-US" altLang="zh-CN" sz="1500" b="1" baseline="-25000" dirty="0">
                    <a:solidFill>
                      <a:srgbClr val="0000CC"/>
                    </a:solidFill>
                    <a:latin typeface="等线" panose="02010600030101010101" pitchFamily="2" charset="-122"/>
                    <a:ea typeface="等线" panose="02010600030101010101" pitchFamily="2" charset="-122"/>
                  </a:rPr>
                  <a:t>2</a:t>
                </a:r>
                <a:endParaRPr kumimoji="1" lang="en-US" altLang="zh-CN" sz="1500" b="1" dirty="0">
                  <a:solidFill>
                    <a:srgbClr val="0000CC"/>
                  </a:solidFill>
                  <a:latin typeface="等线" panose="02010600030101010101" pitchFamily="2" charset="-122"/>
                  <a:ea typeface="等线" panose="02010600030101010101" pitchFamily="2" charset="-122"/>
                </a:endParaRPr>
              </a:p>
            </p:txBody>
          </p:sp>
          <p:pic>
            <p:nvPicPr>
              <p:cNvPr id="231"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31743" y="1974162"/>
                <a:ext cx="686830" cy="630439"/>
              </a:xfrm>
              <a:prstGeom prst="rect">
                <a:avLst/>
              </a:prstGeom>
              <a:noFill/>
              <a:extLst>
                <a:ext uri="{909E8E84-426E-40DD-AFC4-6F175D3DCCD1}">
                  <a14:hiddenFill xmlns:a14="http://schemas.microsoft.com/office/drawing/2010/main">
                    <a:solidFill>
                      <a:srgbClr val="FFFFFF"/>
                    </a:solidFill>
                  </a14:hiddenFill>
                </a:ext>
              </a:extLst>
            </p:spPr>
          </p:pic>
          <p:sp>
            <p:nvSpPr>
              <p:cNvPr id="232" name="Text Box 27"/>
              <p:cNvSpPr txBox="1">
                <a:spLocks noChangeArrowheads="1"/>
              </p:cNvSpPr>
              <p:nvPr/>
            </p:nvSpPr>
            <p:spPr bwMode="auto">
              <a:xfrm>
                <a:off x="1718226" y="2048684"/>
                <a:ext cx="5802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en-US" altLang="zh-CN" sz="1600" b="1" dirty="0">
                    <a:solidFill>
                      <a:schemeClr val="bg1"/>
                    </a:solidFill>
                    <a:latin typeface="等线" panose="02010600030101010101" pitchFamily="2" charset="-122"/>
                    <a:ea typeface="等线" panose="02010600030101010101" pitchFamily="2" charset="-122"/>
                  </a:rPr>
                  <a:t>IP</a:t>
                </a:r>
                <a:r>
                  <a:rPr kumimoji="1" lang="en-US" altLang="zh-CN" sz="1600" b="1" baseline="-25000" dirty="0">
                    <a:solidFill>
                      <a:schemeClr val="bg1"/>
                    </a:solidFill>
                    <a:latin typeface="等线" panose="02010600030101010101" pitchFamily="2" charset="-122"/>
                    <a:ea typeface="等线" panose="02010600030101010101" pitchFamily="2" charset="-122"/>
                  </a:rPr>
                  <a:t>1</a:t>
                </a:r>
                <a:endParaRPr kumimoji="1" lang="en-US" altLang="zh-CN" sz="1600" b="1" dirty="0">
                  <a:solidFill>
                    <a:schemeClr val="bg1"/>
                  </a:solidFill>
                  <a:latin typeface="等线" panose="02010600030101010101" pitchFamily="2" charset="-122"/>
                  <a:ea typeface="等线" panose="02010600030101010101" pitchFamily="2" charset="-122"/>
                </a:endParaRPr>
              </a:p>
            </p:txBody>
          </p:sp>
          <p:pic>
            <p:nvPicPr>
              <p:cNvPr id="233" name="Picture 246" descr="jisuanji"/>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66421" y="1974162"/>
                <a:ext cx="686830" cy="630439"/>
              </a:xfrm>
              <a:prstGeom prst="rect">
                <a:avLst/>
              </a:prstGeom>
              <a:noFill/>
              <a:extLst>
                <a:ext uri="{909E8E84-426E-40DD-AFC4-6F175D3DCCD1}">
                  <a14:hiddenFill xmlns:a14="http://schemas.microsoft.com/office/drawing/2010/main">
                    <a:solidFill>
                      <a:srgbClr val="FFFFFF"/>
                    </a:solidFill>
                  </a14:hiddenFill>
                </a:ext>
              </a:extLst>
            </p:spPr>
          </p:pic>
          <p:sp>
            <p:nvSpPr>
              <p:cNvPr id="234" name="Text Box 28"/>
              <p:cNvSpPr txBox="1">
                <a:spLocks noChangeArrowheads="1"/>
              </p:cNvSpPr>
              <p:nvPr/>
            </p:nvSpPr>
            <p:spPr bwMode="auto">
              <a:xfrm>
                <a:off x="9128011" y="2046916"/>
                <a:ext cx="58026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en-US" altLang="zh-CN" sz="1600" b="1" dirty="0">
                    <a:solidFill>
                      <a:schemeClr val="bg1"/>
                    </a:solidFill>
                    <a:latin typeface="等线" panose="02010600030101010101" pitchFamily="2" charset="-122"/>
                    <a:ea typeface="等线" panose="02010600030101010101" pitchFamily="2" charset="-122"/>
                  </a:rPr>
                  <a:t>IP</a:t>
                </a:r>
                <a:r>
                  <a:rPr kumimoji="1" lang="en-US" altLang="zh-CN" sz="1600" b="1" baseline="-25000" dirty="0">
                    <a:solidFill>
                      <a:schemeClr val="bg1"/>
                    </a:solidFill>
                    <a:latin typeface="等线" panose="02010600030101010101" pitchFamily="2" charset="-122"/>
                    <a:ea typeface="等线" panose="02010600030101010101" pitchFamily="2" charset="-122"/>
                  </a:rPr>
                  <a:t>2</a:t>
                </a:r>
                <a:endParaRPr kumimoji="1" lang="en-US" altLang="zh-CN" sz="1600" b="1" dirty="0">
                  <a:solidFill>
                    <a:schemeClr val="bg1"/>
                  </a:solidFill>
                  <a:latin typeface="等线" panose="02010600030101010101" pitchFamily="2" charset="-122"/>
                  <a:ea typeface="等线" panose="02010600030101010101" pitchFamily="2" charset="-122"/>
                </a:endParaRPr>
              </a:p>
            </p:txBody>
          </p:sp>
        </p:grpSp>
      </p:grpSp>
      <p:sp>
        <p:nvSpPr>
          <p:cNvPr id="118" name="矩形 117"/>
          <p:cNvSpPr/>
          <p:nvPr/>
        </p:nvSpPr>
        <p:spPr>
          <a:xfrm>
            <a:off x="4293045" y="1339608"/>
            <a:ext cx="4564181" cy="738660"/>
          </a:xfrm>
          <a:prstGeom prst="rect">
            <a:avLst/>
          </a:prstGeom>
          <a:solidFill>
            <a:schemeClr val="bg1"/>
          </a:solidFill>
        </p:spPr>
        <p:txBody>
          <a:bodyPr wrap="square" lIns="121917" tIns="60958" rIns="121917" bIns="60958">
            <a:spAutoFit/>
          </a:bodyPr>
          <a:lstStyle/>
          <a:p>
            <a:r>
              <a:rPr lang="en-US" altLang="zh-CN" sz="2000" dirty="0">
                <a:solidFill>
                  <a:srgbClr val="C00000"/>
                </a:solidFill>
                <a:latin typeface="等线" panose="02010600030101010101" pitchFamily="2" charset="-122"/>
                <a:ea typeface="等线" panose="02010600030101010101" pitchFamily="2" charset="-122"/>
              </a:rPr>
              <a:t>IP </a:t>
            </a:r>
            <a:r>
              <a:rPr lang="zh-CN" altLang="zh-CN" sz="2000" dirty="0">
                <a:solidFill>
                  <a:srgbClr val="C00000"/>
                </a:solidFill>
                <a:latin typeface="等线" panose="02010600030101010101" pitchFamily="2" charset="-122"/>
                <a:ea typeface="等线" panose="02010600030101010101" pitchFamily="2" charset="-122"/>
              </a:rPr>
              <a:t>地址放在</a:t>
            </a:r>
            <a:r>
              <a:rPr lang="en-US" altLang="zh-CN" sz="2000" dirty="0">
                <a:solidFill>
                  <a:srgbClr val="C00000"/>
                </a:solidFill>
                <a:latin typeface="等线" panose="02010600030101010101" pitchFamily="2" charset="-122"/>
                <a:ea typeface="等线" panose="02010600030101010101" pitchFamily="2" charset="-122"/>
              </a:rPr>
              <a:t> IP </a:t>
            </a:r>
            <a:r>
              <a:rPr lang="zh-CN" altLang="en-US" sz="2000" dirty="0">
                <a:solidFill>
                  <a:srgbClr val="C00000"/>
                </a:solidFill>
                <a:latin typeface="等线" panose="02010600030101010101" pitchFamily="2" charset="-122"/>
                <a:ea typeface="等线" panose="02010600030101010101" pitchFamily="2" charset="-122"/>
              </a:rPr>
              <a:t>数据包</a:t>
            </a:r>
            <a:r>
              <a:rPr lang="zh-CN" altLang="zh-CN" sz="2000" dirty="0">
                <a:solidFill>
                  <a:srgbClr val="C00000"/>
                </a:solidFill>
                <a:latin typeface="等线" panose="02010600030101010101" pitchFamily="2" charset="-122"/>
                <a:ea typeface="等线" panose="02010600030101010101" pitchFamily="2" charset="-122"/>
              </a:rPr>
              <a:t>的首部，而硬件地址则放在</a:t>
            </a:r>
            <a:r>
              <a:rPr lang="en-US" altLang="zh-CN" sz="2000" dirty="0">
                <a:solidFill>
                  <a:srgbClr val="C00000"/>
                </a:solidFill>
                <a:latin typeface="等线" panose="02010600030101010101" pitchFamily="2" charset="-122"/>
                <a:ea typeface="等线" panose="02010600030101010101" pitchFamily="2" charset="-122"/>
              </a:rPr>
              <a:t> MAC </a:t>
            </a:r>
            <a:r>
              <a:rPr lang="zh-CN" altLang="zh-CN" sz="2000" dirty="0">
                <a:solidFill>
                  <a:srgbClr val="C00000"/>
                </a:solidFill>
                <a:latin typeface="等线" panose="02010600030101010101" pitchFamily="2" charset="-122"/>
                <a:ea typeface="等线" panose="02010600030101010101" pitchFamily="2" charset="-122"/>
              </a:rPr>
              <a:t>帧的首部</a:t>
            </a:r>
            <a:endParaRPr lang="zh-CN" altLang="en-US" sz="2000" dirty="0">
              <a:solidFill>
                <a:srgbClr val="C00000"/>
              </a:solidFill>
              <a:latin typeface="等线" panose="02010600030101010101" pitchFamily="2" charset="-122"/>
              <a:ea typeface="等线" panose="02010600030101010101" pitchFamily="2" charset="-122"/>
            </a:endParaRPr>
          </a:p>
        </p:txBody>
      </p:sp>
      <p:sp>
        <p:nvSpPr>
          <p:cNvPr id="119" name="矩形 118"/>
          <p:cNvSpPr/>
          <p:nvPr/>
        </p:nvSpPr>
        <p:spPr>
          <a:xfrm>
            <a:off x="3549837" y="6002409"/>
            <a:ext cx="6158440" cy="738660"/>
          </a:xfrm>
          <a:prstGeom prst="rect">
            <a:avLst/>
          </a:prstGeom>
          <a:solidFill>
            <a:schemeClr val="bg1"/>
          </a:solidFill>
        </p:spPr>
        <p:txBody>
          <a:bodyPr wrap="square" lIns="121917" tIns="60958" rIns="121917" bIns="60958">
            <a:spAutoFit/>
          </a:bodyPr>
          <a:lstStyle/>
          <a:p>
            <a:r>
              <a:rPr lang="en-US" altLang="zh-CN" sz="2000" dirty="0">
                <a:solidFill>
                  <a:srgbClr val="C00000"/>
                </a:solidFill>
                <a:latin typeface="等线" panose="02010600030101010101" pitchFamily="2" charset="-122"/>
                <a:ea typeface="等线" panose="02010600030101010101" pitchFamily="2" charset="-122"/>
              </a:rPr>
              <a:t>IP</a:t>
            </a:r>
            <a:r>
              <a:rPr lang="zh-CN" altLang="en-US" sz="2000" dirty="0">
                <a:solidFill>
                  <a:srgbClr val="C00000"/>
                </a:solidFill>
                <a:latin typeface="等线" panose="02010600030101010101" pitchFamily="2" charset="-122"/>
                <a:ea typeface="等线" panose="02010600030101010101" pitchFamily="2" charset="-122"/>
              </a:rPr>
              <a:t>数据包经过不同链路时，</a:t>
            </a:r>
            <a:r>
              <a:rPr lang="en-US" altLang="zh-CN" sz="2000" dirty="0">
                <a:solidFill>
                  <a:srgbClr val="C00000"/>
                </a:solidFill>
                <a:latin typeface="等线" panose="02010600030101010101" pitchFamily="2" charset="-122"/>
                <a:ea typeface="等线" panose="02010600030101010101" pitchFamily="2" charset="-122"/>
              </a:rPr>
              <a:t>IP </a:t>
            </a:r>
            <a:r>
              <a:rPr lang="zh-CN" altLang="en-US" sz="2000" dirty="0">
                <a:solidFill>
                  <a:srgbClr val="C00000"/>
                </a:solidFill>
                <a:latin typeface="等线" panose="02010600030101010101" pitchFamily="2" charset="-122"/>
                <a:ea typeface="等线" panose="02010600030101010101" pitchFamily="2" charset="-122"/>
              </a:rPr>
              <a:t>数据包中封装的</a:t>
            </a:r>
            <a:r>
              <a:rPr lang="en-US" altLang="zh-CN" sz="2000" dirty="0">
                <a:solidFill>
                  <a:srgbClr val="C00000"/>
                </a:solidFill>
                <a:latin typeface="等线" panose="02010600030101010101" pitchFamily="2" charset="-122"/>
                <a:ea typeface="等线" panose="02010600030101010101" pitchFamily="2" charset="-122"/>
              </a:rPr>
              <a:t>IP</a:t>
            </a:r>
            <a:r>
              <a:rPr lang="zh-CN" altLang="zh-CN" sz="2000" dirty="0">
                <a:solidFill>
                  <a:srgbClr val="C00000"/>
                </a:solidFill>
                <a:latin typeface="等线" panose="02010600030101010101" pitchFamily="2" charset="-122"/>
                <a:ea typeface="等线" panose="02010600030101010101" pitchFamily="2" charset="-122"/>
              </a:rPr>
              <a:t>地址</a:t>
            </a:r>
            <a:r>
              <a:rPr lang="zh-CN" altLang="en-US" sz="2000" dirty="0">
                <a:solidFill>
                  <a:srgbClr val="C00000"/>
                </a:solidFill>
                <a:latin typeface="等线" panose="02010600030101010101" pitchFamily="2" charset="-122"/>
                <a:ea typeface="等线" panose="02010600030101010101" pitchFamily="2" charset="-122"/>
              </a:rPr>
              <a:t>不发生改变</a:t>
            </a:r>
            <a:r>
              <a:rPr lang="zh-CN" altLang="zh-CN" sz="2000" dirty="0">
                <a:solidFill>
                  <a:srgbClr val="C00000"/>
                </a:solidFill>
                <a:latin typeface="等线" panose="02010600030101010101" pitchFamily="2" charset="-122"/>
                <a:ea typeface="等线" panose="02010600030101010101" pitchFamily="2" charset="-122"/>
              </a:rPr>
              <a:t>，而</a:t>
            </a:r>
            <a:r>
              <a:rPr lang="en-US" altLang="zh-CN" sz="2000" dirty="0">
                <a:solidFill>
                  <a:srgbClr val="C00000"/>
                </a:solidFill>
                <a:latin typeface="等线" panose="02010600030101010101" pitchFamily="2" charset="-122"/>
                <a:ea typeface="等线" panose="02010600030101010101" pitchFamily="2" charset="-122"/>
              </a:rPr>
              <a:t>Mac</a:t>
            </a:r>
            <a:r>
              <a:rPr lang="zh-CN" altLang="en-US" sz="2000" dirty="0">
                <a:solidFill>
                  <a:srgbClr val="C00000"/>
                </a:solidFill>
                <a:latin typeface="等线" panose="02010600030101010101" pitchFamily="2" charset="-122"/>
                <a:ea typeface="等线" panose="02010600030101010101" pitchFamily="2" charset="-122"/>
              </a:rPr>
              <a:t>帧中的</a:t>
            </a:r>
            <a:r>
              <a:rPr lang="zh-CN" altLang="zh-CN" sz="2000" dirty="0">
                <a:solidFill>
                  <a:srgbClr val="C00000"/>
                </a:solidFill>
                <a:latin typeface="等线" panose="02010600030101010101" pitchFamily="2" charset="-122"/>
                <a:ea typeface="等线" panose="02010600030101010101" pitchFamily="2" charset="-122"/>
              </a:rPr>
              <a:t>硬件地址</a:t>
            </a:r>
            <a:r>
              <a:rPr lang="zh-CN" altLang="en-US" sz="2000" dirty="0">
                <a:solidFill>
                  <a:srgbClr val="C00000"/>
                </a:solidFill>
                <a:latin typeface="等线" panose="02010600030101010101" pitchFamily="2" charset="-122"/>
                <a:ea typeface="等线" panose="02010600030101010101" pitchFamily="2" charset="-122"/>
              </a:rPr>
              <a:t>是发生改变的</a:t>
            </a:r>
          </a:p>
        </p:txBody>
      </p:sp>
      <p:sp>
        <p:nvSpPr>
          <p:cNvPr id="3" name="日期占位符 2"/>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5.2.4 ARP</a:t>
            </a:r>
            <a:endParaRPr kumimoji="1" lang="zh-CN" altLang="en-US" dirty="0">
              <a:latin typeface="DengXian" panose="02010600030101010101" pitchFamily="2" charset="-122"/>
              <a:ea typeface="DengXian" panose="02010600030101010101" pitchFamily="2" charset="-122"/>
            </a:endParaRPr>
          </a:p>
        </p:txBody>
      </p:sp>
      <p:sp>
        <p:nvSpPr>
          <p:cNvPr id="7" name="TextBox 6"/>
          <p:cNvSpPr txBox="1"/>
          <p:nvPr/>
        </p:nvSpPr>
        <p:spPr>
          <a:xfrm>
            <a:off x="4644808" y="3117386"/>
            <a:ext cx="1901663" cy="430887"/>
          </a:xfrm>
          <a:prstGeom prst="rect">
            <a:avLst/>
          </a:prstGeom>
          <a:noFill/>
        </p:spPr>
        <p:txBody>
          <a:bodyPr wrap="square" rtlCol="0">
            <a:spAutoFit/>
          </a:bodyPr>
          <a:lstStyle/>
          <a:p>
            <a:r>
              <a:rPr lang="zh-CN" altLang="en-US" sz="2200" dirty="0">
                <a:solidFill>
                  <a:srgbClr val="C00000"/>
                </a:solidFill>
                <a:latin typeface="等线" panose="02010600030101010101" pitchFamily="2" charset="-122"/>
                <a:ea typeface="等线" panose="02010600030101010101" pitchFamily="2" charset="-122"/>
              </a:rPr>
              <a:t>数据实际流向</a:t>
            </a:r>
          </a:p>
        </p:txBody>
      </p:sp>
    </p:spTree>
    <p:extLst>
      <p:ext uri="{BB962C8B-B14F-4D97-AF65-F5344CB8AC3E}">
        <p14:creationId xmlns:p14="http://schemas.microsoft.com/office/powerpoint/2010/main" val="22069238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1" fill="hold" grpId="0" nodeType="clickEffect">
                                  <p:stCondLst>
                                    <p:cond delay="0"/>
                                  </p:stCondLst>
                                  <p:childTnLst>
                                    <p:set>
                                      <p:cBhvr>
                                        <p:cTn id="10" dur="1" fill="hold">
                                          <p:stCondLst>
                                            <p:cond delay="0"/>
                                          </p:stCondLst>
                                        </p:cTn>
                                        <p:tgtEl>
                                          <p:spTgt spid="197"/>
                                        </p:tgtEl>
                                        <p:attrNameLst>
                                          <p:attrName>style.visibility</p:attrName>
                                        </p:attrNameLst>
                                      </p:cBhvr>
                                      <p:to>
                                        <p:strVal val="visible"/>
                                      </p:to>
                                    </p:set>
                                    <p:animEffect transition="in" filter="wipe(up)">
                                      <p:cBhvr>
                                        <p:cTn id="11" dur="1000"/>
                                        <p:tgtEl>
                                          <p:spTgt spid="19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98"/>
                                        </p:tgtEl>
                                        <p:attrNameLst>
                                          <p:attrName>style.visibility</p:attrName>
                                        </p:attrNameLst>
                                      </p:cBhvr>
                                      <p:to>
                                        <p:strVal val="visible"/>
                                      </p:to>
                                    </p:set>
                                    <p:animEffect transition="in" filter="wipe(left)">
                                      <p:cBhvr>
                                        <p:cTn id="15" dur="1000"/>
                                        <p:tgtEl>
                                          <p:spTgt spid="198"/>
                                        </p:tgtEl>
                                      </p:cBhvr>
                                    </p:animEffect>
                                  </p:childTnLst>
                                </p:cTn>
                              </p:par>
                            </p:childTnLst>
                          </p:cTn>
                        </p:par>
                        <p:par>
                          <p:cTn id="16" fill="hold">
                            <p:stCondLst>
                              <p:cond delay="2000"/>
                            </p:stCondLst>
                            <p:childTnLst>
                              <p:par>
                                <p:cTn id="17" presetID="22" presetClass="entr" presetSubtype="4" fill="hold" grpId="0" nodeType="afterEffect">
                                  <p:stCondLst>
                                    <p:cond delay="0"/>
                                  </p:stCondLst>
                                  <p:childTnLst>
                                    <p:set>
                                      <p:cBhvr>
                                        <p:cTn id="18" dur="1" fill="hold">
                                          <p:stCondLst>
                                            <p:cond delay="0"/>
                                          </p:stCondLst>
                                        </p:cTn>
                                        <p:tgtEl>
                                          <p:spTgt spid="199"/>
                                        </p:tgtEl>
                                        <p:attrNameLst>
                                          <p:attrName>style.visibility</p:attrName>
                                        </p:attrNameLst>
                                      </p:cBhvr>
                                      <p:to>
                                        <p:strVal val="visible"/>
                                      </p:to>
                                    </p:set>
                                    <p:animEffect transition="in" filter="wipe(down)">
                                      <p:cBhvr>
                                        <p:cTn id="19" dur="1000"/>
                                        <p:tgtEl>
                                          <p:spTgt spid="199"/>
                                        </p:tgtEl>
                                      </p:cBhvr>
                                    </p:animEffect>
                                  </p:childTnLst>
                                </p:cTn>
                              </p:par>
                            </p:childTnLst>
                          </p:cTn>
                        </p:par>
                        <p:par>
                          <p:cTn id="20" fill="hold">
                            <p:stCondLst>
                              <p:cond delay="3000"/>
                            </p:stCondLst>
                            <p:childTnLst>
                              <p:par>
                                <p:cTn id="21" presetID="22" presetClass="entr" presetSubtype="1" fill="hold" grpId="0" nodeType="afterEffect">
                                  <p:stCondLst>
                                    <p:cond delay="0"/>
                                  </p:stCondLst>
                                  <p:childTnLst>
                                    <p:set>
                                      <p:cBhvr>
                                        <p:cTn id="22" dur="1" fill="hold">
                                          <p:stCondLst>
                                            <p:cond delay="0"/>
                                          </p:stCondLst>
                                        </p:cTn>
                                        <p:tgtEl>
                                          <p:spTgt spid="200"/>
                                        </p:tgtEl>
                                        <p:attrNameLst>
                                          <p:attrName>style.visibility</p:attrName>
                                        </p:attrNameLst>
                                      </p:cBhvr>
                                      <p:to>
                                        <p:strVal val="visible"/>
                                      </p:to>
                                    </p:set>
                                    <p:animEffect transition="in" filter="wipe(up)">
                                      <p:cBhvr>
                                        <p:cTn id="23" dur="1000"/>
                                        <p:tgtEl>
                                          <p:spTgt spid="200"/>
                                        </p:tgtEl>
                                      </p:cBhvr>
                                    </p:animEffect>
                                  </p:childTnLst>
                                </p:cTn>
                              </p:par>
                            </p:childTnLst>
                          </p:cTn>
                        </p:par>
                        <p:par>
                          <p:cTn id="24" fill="hold">
                            <p:stCondLst>
                              <p:cond delay="4000"/>
                            </p:stCondLst>
                            <p:childTnLst>
                              <p:par>
                                <p:cTn id="25" presetID="22" presetClass="entr" presetSubtype="8" fill="hold" grpId="0" nodeType="afterEffect">
                                  <p:stCondLst>
                                    <p:cond delay="0"/>
                                  </p:stCondLst>
                                  <p:childTnLst>
                                    <p:set>
                                      <p:cBhvr>
                                        <p:cTn id="26" dur="1" fill="hold">
                                          <p:stCondLst>
                                            <p:cond delay="0"/>
                                          </p:stCondLst>
                                        </p:cTn>
                                        <p:tgtEl>
                                          <p:spTgt spid="201"/>
                                        </p:tgtEl>
                                        <p:attrNameLst>
                                          <p:attrName>style.visibility</p:attrName>
                                        </p:attrNameLst>
                                      </p:cBhvr>
                                      <p:to>
                                        <p:strVal val="visible"/>
                                      </p:to>
                                    </p:set>
                                    <p:animEffect transition="in" filter="wipe(left)">
                                      <p:cBhvr>
                                        <p:cTn id="27" dur="1000"/>
                                        <p:tgtEl>
                                          <p:spTgt spid="201"/>
                                        </p:tgtEl>
                                      </p:cBhvr>
                                    </p:animEffect>
                                  </p:childTnLst>
                                </p:cTn>
                              </p:par>
                            </p:childTnLst>
                          </p:cTn>
                        </p:par>
                        <p:par>
                          <p:cTn id="28" fill="hold">
                            <p:stCondLst>
                              <p:cond delay="5000"/>
                            </p:stCondLst>
                            <p:childTnLst>
                              <p:par>
                                <p:cTn id="29" presetID="22" presetClass="entr" presetSubtype="4" fill="hold" grpId="0" nodeType="afterEffect">
                                  <p:stCondLst>
                                    <p:cond delay="0"/>
                                  </p:stCondLst>
                                  <p:childTnLst>
                                    <p:set>
                                      <p:cBhvr>
                                        <p:cTn id="30" dur="1" fill="hold">
                                          <p:stCondLst>
                                            <p:cond delay="0"/>
                                          </p:stCondLst>
                                        </p:cTn>
                                        <p:tgtEl>
                                          <p:spTgt spid="202"/>
                                        </p:tgtEl>
                                        <p:attrNameLst>
                                          <p:attrName>style.visibility</p:attrName>
                                        </p:attrNameLst>
                                      </p:cBhvr>
                                      <p:to>
                                        <p:strVal val="visible"/>
                                      </p:to>
                                    </p:set>
                                    <p:animEffect transition="in" filter="wipe(down)">
                                      <p:cBhvr>
                                        <p:cTn id="31" dur="1000"/>
                                        <p:tgtEl>
                                          <p:spTgt spid="202"/>
                                        </p:tgtEl>
                                      </p:cBhvr>
                                    </p:animEffect>
                                  </p:childTnLst>
                                </p:cTn>
                              </p:par>
                            </p:childTnLst>
                          </p:cTn>
                        </p:par>
                        <p:par>
                          <p:cTn id="32" fill="hold">
                            <p:stCondLst>
                              <p:cond delay="6000"/>
                            </p:stCondLst>
                            <p:childTnLst>
                              <p:par>
                                <p:cTn id="33" presetID="22" presetClass="entr" presetSubtype="1" fill="hold" grpId="0" nodeType="afterEffect">
                                  <p:stCondLst>
                                    <p:cond delay="0"/>
                                  </p:stCondLst>
                                  <p:childTnLst>
                                    <p:set>
                                      <p:cBhvr>
                                        <p:cTn id="34" dur="1" fill="hold">
                                          <p:stCondLst>
                                            <p:cond delay="0"/>
                                          </p:stCondLst>
                                        </p:cTn>
                                        <p:tgtEl>
                                          <p:spTgt spid="203"/>
                                        </p:tgtEl>
                                        <p:attrNameLst>
                                          <p:attrName>style.visibility</p:attrName>
                                        </p:attrNameLst>
                                      </p:cBhvr>
                                      <p:to>
                                        <p:strVal val="visible"/>
                                      </p:to>
                                    </p:set>
                                    <p:animEffect transition="in" filter="wipe(up)">
                                      <p:cBhvr>
                                        <p:cTn id="35" dur="1000"/>
                                        <p:tgtEl>
                                          <p:spTgt spid="203"/>
                                        </p:tgtEl>
                                      </p:cBhvr>
                                    </p:animEffect>
                                  </p:childTnLst>
                                </p:cTn>
                              </p:par>
                            </p:childTnLst>
                          </p:cTn>
                        </p:par>
                        <p:par>
                          <p:cTn id="36" fill="hold">
                            <p:stCondLst>
                              <p:cond delay="7000"/>
                            </p:stCondLst>
                            <p:childTnLst>
                              <p:par>
                                <p:cTn id="37" presetID="22" presetClass="entr" presetSubtype="8" fill="hold" grpId="0" nodeType="afterEffect">
                                  <p:stCondLst>
                                    <p:cond delay="0"/>
                                  </p:stCondLst>
                                  <p:childTnLst>
                                    <p:set>
                                      <p:cBhvr>
                                        <p:cTn id="38" dur="1" fill="hold">
                                          <p:stCondLst>
                                            <p:cond delay="0"/>
                                          </p:stCondLst>
                                        </p:cTn>
                                        <p:tgtEl>
                                          <p:spTgt spid="204"/>
                                        </p:tgtEl>
                                        <p:attrNameLst>
                                          <p:attrName>style.visibility</p:attrName>
                                        </p:attrNameLst>
                                      </p:cBhvr>
                                      <p:to>
                                        <p:strVal val="visible"/>
                                      </p:to>
                                    </p:set>
                                    <p:animEffect transition="in" filter="wipe(left)">
                                      <p:cBhvr>
                                        <p:cTn id="39" dur="1000"/>
                                        <p:tgtEl>
                                          <p:spTgt spid="204"/>
                                        </p:tgtEl>
                                      </p:cBhvr>
                                    </p:animEffect>
                                  </p:childTnLst>
                                </p:cTn>
                              </p:par>
                            </p:childTnLst>
                          </p:cTn>
                        </p:par>
                        <p:par>
                          <p:cTn id="40" fill="hold">
                            <p:stCondLst>
                              <p:cond delay="8000"/>
                            </p:stCondLst>
                            <p:childTnLst>
                              <p:par>
                                <p:cTn id="41" presetID="22" presetClass="entr" presetSubtype="4" fill="hold" grpId="0" nodeType="afterEffect">
                                  <p:stCondLst>
                                    <p:cond delay="0"/>
                                  </p:stCondLst>
                                  <p:childTnLst>
                                    <p:set>
                                      <p:cBhvr>
                                        <p:cTn id="42" dur="1" fill="hold">
                                          <p:stCondLst>
                                            <p:cond delay="0"/>
                                          </p:stCondLst>
                                        </p:cTn>
                                        <p:tgtEl>
                                          <p:spTgt spid="205"/>
                                        </p:tgtEl>
                                        <p:attrNameLst>
                                          <p:attrName>style.visibility</p:attrName>
                                        </p:attrNameLst>
                                      </p:cBhvr>
                                      <p:to>
                                        <p:strVal val="visible"/>
                                      </p:to>
                                    </p:set>
                                    <p:animEffect transition="in" filter="wipe(down)">
                                      <p:cBhvr>
                                        <p:cTn id="43" dur="1000"/>
                                        <p:tgtEl>
                                          <p:spTgt spid="20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7" grpId="0" animBg="1"/>
      <p:bldP spid="198" grpId="0" animBg="1"/>
      <p:bldP spid="199" grpId="0" animBg="1"/>
      <p:bldP spid="200" grpId="0" animBg="1"/>
      <p:bldP spid="201" grpId="0" animBg="1"/>
      <p:bldP spid="202" grpId="0" animBg="1"/>
      <p:bldP spid="203" grpId="0" animBg="1"/>
      <p:bldP spid="204" grpId="0" animBg="1"/>
      <p:bldP spid="205" grpId="0" animBg="1"/>
      <p:bldP spid="119" grpId="0" animBg="1"/>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418894"/>
            <a:ext cx="6134255" cy="1688374"/>
          </a:xfrm>
        </p:spPr>
        <p:txBody>
          <a:bodyPr>
            <a:normAutofit fontScale="70000" lnSpcReduction="20000"/>
          </a:bodyPr>
          <a:lstStyle/>
          <a:p>
            <a:pPr>
              <a:lnSpc>
                <a:spcPct val="130000"/>
              </a:lnSpc>
            </a:pPr>
            <a:r>
              <a:rPr lang="en-US" altLang="zh-CN" sz="3400" dirty="0">
                <a:latin typeface="等线" panose="02010600030101010101" pitchFamily="2" charset="-122"/>
                <a:ea typeface="等线" panose="02010600030101010101" pitchFamily="2" charset="-122"/>
              </a:rPr>
              <a:t>IP</a:t>
            </a:r>
            <a:r>
              <a:rPr lang="zh-CN" altLang="en-US" sz="3400" dirty="0">
                <a:latin typeface="等线" panose="02010600030101010101" pitchFamily="2" charset="-122"/>
                <a:ea typeface="等线" panose="02010600030101010101" pitchFamily="2" charset="-122"/>
              </a:rPr>
              <a:t>数据包转发：从主机</a:t>
            </a:r>
            <a:r>
              <a:rPr lang="en-US" altLang="zh-CN" sz="3400" dirty="0">
                <a:latin typeface="等线" panose="02010600030101010101" pitchFamily="2" charset="-122"/>
                <a:ea typeface="等线" panose="02010600030101010101" pitchFamily="2" charset="-122"/>
              </a:rPr>
              <a:t>A</a:t>
            </a:r>
            <a:r>
              <a:rPr lang="zh-CN" altLang="en-US" sz="3400" dirty="0">
                <a:latin typeface="等线" panose="02010600030101010101" pitchFamily="2" charset="-122"/>
                <a:ea typeface="等线" panose="02010600030101010101" pitchFamily="2" charset="-122"/>
              </a:rPr>
              <a:t>到主机</a:t>
            </a:r>
            <a:r>
              <a:rPr lang="en-US" altLang="zh-CN" sz="3400" dirty="0">
                <a:latin typeface="等线" panose="02010600030101010101" pitchFamily="2" charset="-122"/>
                <a:ea typeface="等线" panose="02010600030101010101" pitchFamily="2" charset="-122"/>
              </a:rPr>
              <a:t>B</a:t>
            </a:r>
          </a:p>
          <a:p>
            <a:pPr lvl="1">
              <a:lnSpc>
                <a:spcPct val="130000"/>
              </a:lnSpc>
            </a:pPr>
            <a:r>
              <a:rPr lang="zh-CN" altLang="en-US" sz="2600" dirty="0">
                <a:latin typeface="等线" panose="02010600030101010101" pitchFamily="2" charset="-122"/>
                <a:ea typeface="等线" panose="02010600030101010101" pitchFamily="2" charset="-122"/>
                <a:cs typeface="Times New Roman" panose="02020603050405020304" pitchFamily="18" charset="0"/>
              </a:rPr>
              <a:t>检查目的</a:t>
            </a:r>
            <a:r>
              <a:rPr lang="en-US" altLang="zh-CN" sz="2600" dirty="0">
                <a:latin typeface="等线" panose="02010600030101010101" pitchFamily="2" charset="-122"/>
                <a:ea typeface="等线" panose="02010600030101010101" pitchFamily="2" charset="-122"/>
                <a:cs typeface="Times New Roman" panose="02020603050405020304" pitchFamily="18" charset="0"/>
              </a:rPr>
              <a:t>IP</a:t>
            </a:r>
            <a:r>
              <a:rPr lang="zh-CN" altLang="en-US" sz="2600" dirty="0">
                <a:latin typeface="等线" panose="02010600030101010101" pitchFamily="2" charset="-122"/>
                <a:ea typeface="等线" panose="02010600030101010101" pitchFamily="2" charset="-122"/>
                <a:cs typeface="Times New Roman" panose="02020603050405020304" pitchFamily="18" charset="0"/>
              </a:rPr>
              <a:t>地址的网络号部分</a:t>
            </a:r>
            <a:endParaRPr lang="en-US" altLang="zh-CN" sz="2600" dirty="0">
              <a:latin typeface="等线" panose="02010600030101010101" pitchFamily="2" charset="-122"/>
              <a:ea typeface="等线" panose="02010600030101010101" pitchFamily="2" charset="-122"/>
              <a:cs typeface="Times New Roman" panose="02020603050405020304" pitchFamily="18" charset="0"/>
            </a:endParaRPr>
          </a:p>
          <a:p>
            <a:pPr lvl="1">
              <a:lnSpc>
                <a:spcPct val="130000"/>
              </a:lnSpc>
            </a:pPr>
            <a:r>
              <a:rPr lang="zh-CN" altLang="en-US" sz="2600" dirty="0">
                <a:latin typeface="等线" panose="02010600030101010101" pitchFamily="2" charset="-122"/>
                <a:ea typeface="等线" panose="02010600030101010101" pitchFamily="2" charset="-122"/>
                <a:cs typeface="Times New Roman" panose="02020603050405020304" pitchFamily="18" charset="0"/>
              </a:rPr>
              <a:t>确定主机</a:t>
            </a:r>
            <a:r>
              <a:rPr lang="en-US" altLang="zh-CN" sz="2600" dirty="0">
                <a:latin typeface="等线" panose="02010600030101010101" pitchFamily="2" charset="-122"/>
                <a:ea typeface="等线" panose="02010600030101010101" pitchFamily="2" charset="-122"/>
                <a:cs typeface="Times New Roman" panose="02020603050405020304" pitchFamily="18" charset="0"/>
              </a:rPr>
              <a:t>B</a:t>
            </a:r>
            <a:r>
              <a:rPr lang="zh-CN" altLang="en-US" sz="2600" dirty="0">
                <a:latin typeface="等线" panose="02010600030101010101" pitchFamily="2" charset="-122"/>
                <a:ea typeface="等线" panose="02010600030101010101" pitchFamily="2" charset="-122"/>
                <a:cs typeface="Times New Roman" panose="02020603050405020304" pitchFamily="18" charset="0"/>
              </a:rPr>
              <a:t>与主机</a:t>
            </a:r>
            <a:r>
              <a:rPr lang="en-US" altLang="zh-CN" sz="2600" dirty="0">
                <a:latin typeface="等线" panose="02010600030101010101" pitchFamily="2" charset="-122"/>
                <a:ea typeface="等线" panose="02010600030101010101" pitchFamily="2" charset="-122"/>
                <a:cs typeface="Times New Roman" panose="02020603050405020304" pitchFamily="18" charset="0"/>
              </a:rPr>
              <a:t>A</a:t>
            </a:r>
            <a:r>
              <a:rPr lang="zh-CN" altLang="en-US" sz="2600" dirty="0">
                <a:latin typeface="等线" panose="02010600030101010101" pitchFamily="2" charset="-122"/>
                <a:ea typeface="等线" panose="02010600030101010101" pitchFamily="2" charset="-122"/>
                <a:cs typeface="Times New Roman" panose="02020603050405020304" pitchFamily="18" charset="0"/>
              </a:rPr>
              <a:t>属相同</a:t>
            </a:r>
            <a:r>
              <a:rPr lang="en-US" altLang="zh-CN" sz="2600" dirty="0">
                <a:latin typeface="等线" panose="02010600030101010101" pitchFamily="2" charset="-122"/>
                <a:ea typeface="等线" panose="02010600030101010101" pitchFamily="2" charset="-122"/>
                <a:cs typeface="Times New Roman" panose="02020603050405020304" pitchFamily="18" charset="0"/>
              </a:rPr>
              <a:t>IP</a:t>
            </a:r>
            <a:r>
              <a:rPr lang="zh-CN" altLang="en-US" sz="2600" dirty="0">
                <a:latin typeface="等线" panose="02010600030101010101" pitchFamily="2" charset="-122"/>
                <a:ea typeface="等线" panose="02010600030101010101" pitchFamily="2" charset="-122"/>
                <a:cs typeface="Times New Roman" panose="02020603050405020304" pitchFamily="18" charset="0"/>
              </a:rPr>
              <a:t>网络</a:t>
            </a:r>
            <a:endParaRPr lang="en-US" altLang="zh-CN" sz="2600" dirty="0">
              <a:latin typeface="等线" panose="02010600030101010101" pitchFamily="2" charset="-122"/>
              <a:ea typeface="等线" panose="02010600030101010101" pitchFamily="2" charset="-122"/>
              <a:cs typeface="Times New Roman" panose="02020603050405020304" pitchFamily="18" charset="0"/>
            </a:endParaRPr>
          </a:p>
          <a:p>
            <a:pPr lvl="1">
              <a:lnSpc>
                <a:spcPct val="130000"/>
              </a:lnSpc>
            </a:pPr>
            <a:r>
              <a:rPr lang="zh-CN" altLang="en-US" sz="2600" dirty="0">
                <a:latin typeface="等线" panose="02010600030101010101" pitchFamily="2" charset="-122"/>
                <a:ea typeface="等线" panose="02010600030101010101" pitchFamily="2" charset="-122"/>
                <a:cs typeface="Times New Roman" panose="02020603050405020304" pitchFamily="18" charset="0"/>
              </a:rPr>
              <a:t>将</a:t>
            </a:r>
            <a:r>
              <a:rPr lang="en-US" altLang="zh-CN" sz="2600" dirty="0">
                <a:latin typeface="等线" panose="02010600030101010101" pitchFamily="2" charset="-122"/>
                <a:ea typeface="等线" panose="02010600030101010101" pitchFamily="2" charset="-122"/>
                <a:cs typeface="Times New Roman" panose="02020603050405020304" pitchFamily="18" charset="0"/>
              </a:rPr>
              <a:t>IP</a:t>
            </a:r>
            <a:r>
              <a:rPr lang="zh-CN" altLang="en-US" sz="2600" dirty="0">
                <a:latin typeface="等线" panose="02010600030101010101" pitchFamily="2" charset="-122"/>
                <a:ea typeface="等线" panose="02010600030101010101" pitchFamily="2" charset="-122"/>
                <a:cs typeface="Times New Roman" panose="02020603050405020304" pitchFamily="18" charset="0"/>
              </a:rPr>
              <a:t>数据包封装到链路层帧中，直接发送给主机</a:t>
            </a:r>
            <a:r>
              <a:rPr lang="en-US" altLang="zh-CN" sz="2600" dirty="0">
                <a:latin typeface="等线" panose="02010600030101010101" pitchFamily="2" charset="-122"/>
                <a:ea typeface="等线" panose="02010600030101010101" pitchFamily="2" charset="-122"/>
                <a:cs typeface="Times New Roman" panose="02020603050405020304" pitchFamily="18" charset="0"/>
              </a:rPr>
              <a:t>B </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32</a:t>
            </a:fld>
            <a:endParaRPr kumimoji="1" lang="zh-CN" altLang="en-US" dirty="0"/>
          </a:p>
        </p:txBody>
      </p:sp>
      <p:sp>
        <p:nvSpPr>
          <p:cNvPr id="6" name="标题 1"/>
          <p:cNvSpPr>
            <a:spLocks noGrp="1"/>
          </p:cNvSpPr>
          <p:nvPr>
            <p:ph type="title"/>
          </p:nvPr>
        </p:nvSpPr>
        <p:spPr/>
        <p:txBody>
          <a:bodyPr>
            <a:normAutofit/>
          </a:bodyPr>
          <a:lstStyle/>
          <a:p>
            <a:r>
              <a:rPr lang="en-US" altLang="zh-CN" dirty="0">
                <a:latin typeface="等线" panose="02010600030101010101" pitchFamily="2" charset="-122"/>
                <a:ea typeface="等线" panose="02010600030101010101" pitchFamily="2" charset="-122"/>
              </a:rPr>
              <a:t>ARP</a:t>
            </a:r>
            <a:r>
              <a:rPr lang="zh-CN" altLang="en-US" dirty="0">
                <a:latin typeface="等线" panose="02010600030101010101" pitchFamily="2" charset="-122"/>
                <a:ea typeface="等线" panose="02010600030101010101" pitchFamily="2" charset="-122"/>
              </a:rPr>
              <a:t>地址解析协议</a:t>
            </a:r>
            <a:endParaRPr lang="zh-CN" altLang="en-US" sz="3200" dirty="0"/>
          </a:p>
        </p:txBody>
      </p:sp>
      <p:grpSp>
        <p:nvGrpSpPr>
          <p:cNvPr id="55" name="组合 54"/>
          <p:cNvGrpSpPr/>
          <p:nvPr/>
        </p:nvGrpSpPr>
        <p:grpSpPr>
          <a:xfrm>
            <a:off x="994681" y="4398213"/>
            <a:ext cx="8115300" cy="1903478"/>
            <a:chOff x="848794" y="4316975"/>
            <a:chExt cx="8115300" cy="2277242"/>
          </a:xfrm>
        </p:grpSpPr>
        <p:sp>
          <p:nvSpPr>
            <p:cNvPr id="56" name="Rectangle 2"/>
            <p:cNvSpPr>
              <a:spLocks noChangeArrowheads="1"/>
            </p:cNvSpPr>
            <p:nvPr/>
          </p:nvSpPr>
          <p:spPr bwMode="auto">
            <a:xfrm>
              <a:off x="4428077" y="5064133"/>
              <a:ext cx="4536016" cy="669925"/>
            </a:xfrm>
            <a:prstGeom prst="rect">
              <a:avLst/>
            </a:prstGeom>
            <a:solidFill>
              <a:schemeClr val="accent6">
                <a:lumMod val="40000"/>
                <a:lumOff val="60000"/>
              </a:schemeClr>
            </a:solidFill>
            <a:ln w="9525">
              <a:solidFill>
                <a:schemeClr val="tx1"/>
              </a:solid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Text Box 66"/>
            <p:cNvSpPr txBox="1">
              <a:spLocks noChangeArrowheads="1"/>
            </p:cNvSpPr>
            <p:nvPr/>
          </p:nvSpPr>
          <p:spPr bwMode="auto">
            <a:xfrm>
              <a:off x="1301660" y="5081596"/>
              <a:ext cx="1136850" cy="773244"/>
            </a:xfrm>
            <a:prstGeom prst="rect">
              <a:avLst/>
            </a:prstGeom>
            <a:noFill/>
            <a:ln w="9525">
              <a:noFill/>
              <a:miter lim="800000"/>
              <a:headEnd/>
              <a:tailEnd/>
            </a:ln>
          </p:spPr>
          <p:txBody>
            <a:bodyPr wrap="none">
              <a:spAutoFit/>
            </a:bodyPr>
            <a:lstStyle/>
            <a:p>
              <a:pPr algn="ctr" eaLnBrk="0" hangingPunct="0"/>
              <a:r>
                <a:rPr kumimoji="0" lang="en-US" altLang="zh-CN" sz="1800" dirty="0">
                  <a:latin typeface="等线" panose="02010600030101010101" pitchFamily="2" charset="-122"/>
                  <a:ea typeface="等线" panose="02010600030101010101" pitchFamily="2" charset="-122"/>
                  <a:cs typeface="Times New Roman" panose="02020603050405020304" pitchFamily="18" charset="0"/>
                </a:rPr>
                <a:t>B</a:t>
              </a:r>
              <a:r>
                <a:rPr kumimoji="0" lang="zh-CN" altLang="en-US" sz="1800" dirty="0">
                  <a:latin typeface="等线" panose="02010600030101010101" pitchFamily="2" charset="-122"/>
                  <a:ea typeface="等线" panose="02010600030101010101" pitchFamily="2" charset="-122"/>
                  <a:cs typeface="Times New Roman" panose="02020603050405020304" pitchFamily="18" charset="0"/>
                </a:rPr>
                <a:t>的</a:t>
              </a:r>
              <a:endParaRPr kumimoji="0" lang="en-US" altLang="zh-CN" sz="1800" dirty="0">
                <a:latin typeface="等线" panose="02010600030101010101" pitchFamily="2" charset="-122"/>
                <a:ea typeface="等线" panose="02010600030101010101" pitchFamily="2" charset="-122"/>
                <a:cs typeface="Times New Roman" panose="02020603050405020304" pitchFamily="18" charset="0"/>
              </a:endParaRPr>
            </a:p>
            <a:p>
              <a:pPr algn="ctr" eaLnBrk="0" hangingPunct="0"/>
              <a:r>
                <a:rPr kumimoji="0" lang="en-US" altLang="zh-CN" sz="1800" dirty="0">
                  <a:latin typeface="等线" panose="02010600030101010101" pitchFamily="2" charset="-122"/>
                  <a:ea typeface="等线" panose="02010600030101010101" pitchFamily="2" charset="-122"/>
                  <a:cs typeface="Times New Roman" panose="02020603050405020304" pitchFamily="18" charset="0"/>
                </a:rPr>
                <a:t>MAC</a:t>
              </a:r>
              <a:r>
                <a:rPr kumimoji="0" lang="zh-CN" altLang="en-US" sz="1800" dirty="0">
                  <a:latin typeface="等线" panose="02010600030101010101" pitchFamily="2" charset="-122"/>
                  <a:ea typeface="等线" panose="02010600030101010101" pitchFamily="2" charset="-122"/>
                  <a:cs typeface="Times New Roman" panose="02020603050405020304" pitchFamily="18" charset="0"/>
                </a:rPr>
                <a:t>地址</a:t>
              </a:r>
              <a:endParaRPr kumimoji="0" lang="en-US" altLang="zh-CN" sz="1800" dirty="0">
                <a:latin typeface="等线" panose="02010600030101010101" pitchFamily="2" charset="-122"/>
                <a:ea typeface="等线" panose="02010600030101010101" pitchFamily="2" charset="-122"/>
                <a:cs typeface="Times New Roman" panose="02020603050405020304" pitchFamily="18" charset="0"/>
              </a:endParaRPr>
            </a:p>
          </p:txBody>
        </p:sp>
        <p:sp>
          <p:nvSpPr>
            <p:cNvPr id="58" name="Text Box 67"/>
            <p:cNvSpPr txBox="1">
              <a:spLocks noChangeArrowheads="1"/>
            </p:cNvSpPr>
            <p:nvPr/>
          </p:nvSpPr>
          <p:spPr bwMode="auto">
            <a:xfrm>
              <a:off x="2548478" y="5081596"/>
              <a:ext cx="1629833" cy="773244"/>
            </a:xfrm>
            <a:prstGeom prst="rect">
              <a:avLst/>
            </a:prstGeom>
            <a:noFill/>
            <a:ln w="9525">
              <a:noFill/>
              <a:miter lim="800000"/>
              <a:headEnd/>
              <a:tailEnd/>
            </a:ln>
          </p:spPr>
          <p:txBody>
            <a:bodyPr wrap="square">
              <a:spAutoFit/>
            </a:bodyPr>
            <a:lstStyle/>
            <a:p>
              <a:pPr algn="ctr" eaLnBrk="0" hangingPunct="0"/>
              <a:r>
                <a:rPr lang="en-US" altLang="zh-CN" dirty="0">
                  <a:latin typeface="等线" panose="02010600030101010101" pitchFamily="2" charset="-122"/>
                  <a:ea typeface="等线" panose="02010600030101010101" pitchFamily="2" charset="-122"/>
                  <a:cs typeface="Times New Roman" panose="02020603050405020304" pitchFamily="18" charset="0"/>
                </a:rPr>
                <a:t>A</a:t>
              </a:r>
              <a:r>
                <a:rPr lang="zh-CN" altLang="en-US" dirty="0">
                  <a:latin typeface="等线" panose="02010600030101010101" pitchFamily="2" charset="-122"/>
                  <a:ea typeface="等线" panose="02010600030101010101" pitchFamily="2" charset="-122"/>
                  <a:cs typeface="Times New Roman" panose="02020603050405020304" pitchFamily="18" charset="0"/>
                </a:rPr>
                <a:t>的</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algn="ctr" eaLnBrk="0" hangingPunct="0"/>
              <a:r>
                <a:rPr lang="en-US" altLang="zh-CN" dirty="0">
                  <a:latin typeface="等线" panose="02010600030101010101" pitchFamily="2" charset="-122"/>
                  <a:ea typeface="等线" panose="02010600030101010101" pitchFamily="2" charset="-122"/>
                  <a:cs typeface="Times New Roman" panose="02020603050405020304" pitchFamily="18" charset="0"/>
                </a:rPr>
                <a:t>MAC</a:t>
              </a:r>
              <a:r>
                <a:rPr lang="zh-CN" altLang="en-US" dirty="0">
                  <a:latin typeface="等线" panose="02010600030101010101" pitchFamily="2" charset="-122"/>
                  <a:ea typeface="等线" panose="02010600030101010101" pitchFamily="2" charset="-122"/>
                  <a:cs typeface="Times New Roman" panose="02020603050405020304" pitchFamily="18" charset="0"/>
                </a:rPr>
                <a:t>地址</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p:txBody>
        </p:sp>
        <p:sp>
          <p:nvSpPr>
            <p:cNvPr id="59" name="Text Box 68"/>
            <p:cNvSpPr txBox="1">
              <a:spLocks noChangeArrowheads="1"/>
            </p:cNvSpPr>
            <p:nvPr/>
          </p:nvSpPr>
          <p:spPr bwMode="auto">
            <a:xfrm>
              <a:off x="4428079" y="5064133"/>
              <a:ext cx="1274725" cy="773244"/>
            </a:xfrm>
            <a:prstGeom prst="rect">
              <a:avLst/>
            </a:prstGeom>
            <a:noFill/>
            <a:ln w="9525">
              <a:noFill/>
              <a:miter lim="800000"/>
              <a:headEnd/>
              <a:tailEnd/>
            </a:ln>
          </p:spPr>
          <p:txBody>
            <a:bodyPr wrap="square">
              <a:spAutoFit/>
            </a:bodyPr>
            <a:lstStyle/>
            <a:p>
              <a:pPr algn="ctr" eaLnBrk="0" hangingPunct="0"/>
              <a:r>
                <a:rPr lang="en-US" altLang="zh-CN" dirty="0">
                  <a:latin typeface="等线" panose="02010600030101010101" pitchFamily="2" charset="-122"/>
                  <a:ea typeface="等线" panose="02010600030101010101" pitchFamily="2" charset="-122"/>
                  <a:cs typeface="Times New Roman" panose="02020603050405020304" pitchFamily="18" charset="0"/>
                </a:rPr>
                <a:t>A</a:t>
              </a:r>
              <a:r>
                <a:rPr lang="zh-CN" altLang="en-US" dirty="0">
                  <a:latin typeface="等线" panose="02010600030101010101" pitchFamily="2" charset="-122"/>
                  <a:ea typeface="等线" panose="02010600030101010101" pitchFamily="2" charset="-122"/>
                  <a:cs typeface="Times New Roman" panose="02020603050405020304" pitchFamily="18" charset="0"/>
                </a:rPr>
                <a:t>的</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algn="ctr" eaLnBrk="0" hangingPunct="0"/>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地址</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p:txBody>
        </p:sp>
        <p:sp>
          <p:nvSpPr>
            <p:cNvPr id="60" name="Text Box 69"/>
            <p:cNvSpPr txBox="1">
              <a:spLocks noChangeArrowheads="1"/>
            </p:cNvSpPr>
            <p:nvPr/>
          </p:nvSpPr>
          <p:spPr bwMode="auto">
            <a:xfrm>
              <a:off x="5975053" y="5070483"/>
              <a:ext cx="851515" cy="773244"/>
            </a:xfrm>
            <a:prstGeom prst="rect">
              <a:avLst/>
            </a:prstGeom>
            <a:noFill/>
            <a:ln w="9525">
              <a:noFill/>
              <a:miter lim="800000"/>
              <a:headEnd/>
              <a:tailEnd/>
            </a:ln>
          </p:spPr>
          <p:txBody>
            <a:bodyPr wrap="none">
              <a:spAutoFit/>
            </a:bodyPr>
            <a:lstStyle/>
            <a:p>
              <a:pPr algn="ctr" eaLnBrk="0" hangingPunct="0"/>
              <a:r>
                <a:rPr lang="en-US" altLang="zh-CN" dirty="0">
                  <a:latin typeface="等线" panose="02010600030101010101" pitchFamily="2" charset="-122"/>
                  <a:ea typeface="等线" panose="02010600030101010101" pitchFamily="2" charset="-122"/>
                  <a:cs typeface="Times New Roman" panose="02020603050405020304" pitchFamily="18" charset="0"/>
                </a:rPr>
                <a:t>B</a:t>
              </a:r>
              <a:r>
                <a:rPr lang="zh-CN" altLang="en-US" dirty="0">
                  <a:latin typeface="等线" panose="02010600030101010101" pitchFamily="2" charset="-122"/>
                  <a:ea typeface="等线" panose="02010600030101010101" pitchFamily="2" charset="-122"/>
                  <a:cs typeface="Times New Roman" panose="02020603050405020304" pitchFamily="18" charset="0"/>
                </a:rPr>
                <a:t>的</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algn="ctr" eaLnBrk="0" hangingPunct="0"/>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地址</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p:txBody>
        </p:sp>
        <p:sp>
          <p:nvSpPr>
            <p:cNvPr id="61" name="Text Box 70"/>
            <p:cNvSpPr txBox="1">
              <a:spLocks noChangeArrowheads="1"/>
            </p:cNvSpPr>
            <p:nvPr/>
          </p:nvSpPr>
          <p:spPr bwMode="auto">
            <a:xfrm>
              <a:off x="7637694" y="5202246"/>
              <a:ext cx="851515" cy="441853"/>
            </a:xfrm>
            <a:prstGeom prst="rect">
              <a:avLst/>
            </a:prstGeom>
            <a:noFill/>
            <a:ln w="9525">
              <a:noFill/>
              <a:miter lim="800000"/>
              <a:headEnd/>
              <a:tailEnd/>
            </a:ln>
          </p:spPr>
          <p:txBody>
            <a:bodyPr wrap="none">
              <a:spAutoFit/>
            </a:bodyPr>
            <a:lstStyle/>
            <a:p>
              <a:pPr algn="ctr" eaLnBrk="0" hangingPunct="0"/>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载荷</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p:txBody>
        </p:sp>
        <p:sp>
          <p:nvSpPr>
            <p:cNvPr id="62" name="Rectangle 71"/>
            <p:cNvSpPr>
              <a:spLocks noChangeArrowheads="1"/>
            </p:cNvSpPr>
            <p:nvPr/>
          </p:nvSpPr>
          <p:spPr bwMode="auto">
            <a:xfrm>
              <a:off x="882661" y="5062546"/>
              <a:ext cx="8081433" cy="669925"/>
            </a:xfrm>
            <a:prstGeom prst="rect">
              <a:avLst/>
            </a:prstGeom>
            <a:noFill/>
            <a:ln w="28575">
              <a:solidFill>
                <a:srgbClr val="FF0000"/>
              </a:solid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Line 72"/>
            <p:cNvSpPr>
              <a:spLocks noChangeShapeType="1"/>
            </p:cNvSpPr>
            <p:nvPr/>
          </p:nvSpPr>
          <p:spPr bwMode="auto">
            <a:xfrm>
              <a:off x="2614093" y="5073658"/>
              <a:ext cx="0" cy="669925"/>
            </a:xfrm>
            <a:prstGeom prst="line">
              <a:avLst/>
            </a:prstGeom>
            <a:noFill/>
            <a:ln w="19050">
              <a:solidFill>
                <a:schemeClr val="tx1"/>
              </a:solidFill>
              <a:round/>
              <a:headEnd/>
              <a:tailEn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64" name="Line 73"/>
            <p:cNvSpPr>
              <a:spLocks noChangeShapeType="1"/>
            </p:cNvSpPr>
            <p:nvPr/>
          </p:nvSpPr>
          <p:spPr bwMode="auto">
            <a:xfrm>
              <a:off x="4074593" y="5068896"/>
              <a:ext cx="0" cy="669925"/>
            </a:xfrm>
            <a:prstGeom prst="line">
              <a:avLst/>
            </a:prstGeom>
            <a:noFill/>
            <a:ln w="19050">
              <a:solidFill>
                <a:schemeClr val="tx1"/>
              </a:solidFill>
              <a:round/>
              <a:headEnd/>
              <a:tailEn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Line 74"/>
            <p:cNvSpPr>
              <a:spLocks noChangeShapeType="1"/>
            </p:cNvSpPr>
            <p:nvPr/>
          </p:nvSpPr>
          <p:spPr bwMode="auto">
            <a:xfrm>
              <a:off x="4432311" y="5075246"/>
              <a:ext cx="0" cy="669925"/>
            </a:xfrm>
            <a:prstGeom prst="line">
              <a:avLst/>
            </a:prstGeom>
            <a:noFill/>
            <a:ln w="19050">
              <a:solidFill>
                <a:schemeClr val="tx1"/>
              </a:solidFill>
              <a:round/>
              <a:headEnd/>
              <a:tailEn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66" name="Rectangle 75"/>
            <p:cNvSpPr>
              <a:spLocks noChangeArrowheads="1"/>
            </p:cNvSpPr>
            <p:nvPr/>
          </p:nvSpPr>
          <p:spPr bwMode="auto">
            <a:xfrm>
              <a:off x="1066811" y="5011745"/>
              <a:ext cx="99483" cy="157162"/>
            </a:xfrm>
            <a:prstGeom prst="rect">
              <a:avLst/>
            </a:prstGeom>
            <a:solidFill>
              <a:schemeClr val="bg1"/>
            </a:solidFill>
            <a:ln w="9525">
              <a:no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Rectangle 76"/>
            <p:cNvSpPr>
              <a:spLocks noChangeArrowheads="1"/>
            </p:cNvSpPr>
            <p:nvPr/>
          </p:nvSpPr>
          <p:spPr bwMode="auto">
            <a:xfrm>
              <a:off x="1032944" y="5646745"/>
              <a:ext cx="99483" cy="157162"/>
            </a:xfrm>
            <a:prstGeom prst="rect">
              <a:avLst/>
            </a:prstGeom>
            <a:solidFill>
              <a:schemeClr val="bg1"/>
            </a:solidFill>
            <a:ln w="9525">
              <a:no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68" name="Rectangle 77"/>
            <p:cNvSpPr>
              <a:spLocks noChangeArrowheads="1"/>
            </p:cNvSpPr>
            <p:nvPr/>
          </p:nvSpPr>
          <p:spPr bwMode="auto">
            <a:xfrm>
              <a:off x="4195244" y="5014920"/>
              <a:ext cx="99483" cy="157162"/>
            </a:xfrm>
            <a:prstGeom prst="rect">
              <a:avLst/>
            </a:prstGeom>
            <a:solidFill>
              <a:schemeClr val="bg1"/>
            </a:solidFill>
            <a:ln w="9525">
              <a:no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Rectangle 78"/>
            <p:cNvSpPr>
              <a:spLocks noChangeArrowheads="1"/>
            </p:cNvSpPr>
            <p:nvPr/>
          </p:nvSpPr>
          <p:spPr bwMode="auto">
            <a:xfrm>
              <a:off x="4218527" y="5661033"/>
              <a:ext cx="99484" cy="157163"/>
            </a:xfrm>
            <a:prstGeom prst="rect">
              <a:avLst/>
            </a:prstGeom>
            <a:solidFill>
              <a:schemeClr val="bg1"/>
            </a:solidFill>
            <a:ln w="9525">
              <a:no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0" name="Text Box 79"/>
            <p:cNvSpPr txBox="1">
              <a:spLocks noChangeArrowheads="1"/>
            </p:cNvSpPr>
            <p:nvPr/>
          </p:nvSpPr>
          <p:spPr bwMode="auto">
            <a:xfrm>
              <a:off x="5772161" y="5857882"/>
              <a:ext cx="877163" cy="441853"/>
            </a:xfrm>
            <a:prstGeom prst="rect">
              <a:avLst/>
            </a:prstGeom>
            <a:noFill/>
            <a:ln w="9525">
              <a:noFill/>
              <a:miter lim="800000"/>
              <a:headEnd/>
              <a:tailEnd/>
            </a:ln>
          </p:spPr>
          <p:txBody>
            <a:bodyPr wrap="none">
              <a:spAutoFit/>
            </a:bodyPr>
            <a:lstStyle/>
            <a:p>
              <a:pPr algn="ctr" eaLnBrk="0" hangingPunct="0"/>
              <a:r>
                <a:rPr lang="zh-CN" altLang="en-US" dirty="0">
                  <a:latin typeface="等线" panose="02010600030101010101" pitchFamily="2" charset="-122"/>
                  <a:ea typeface="等线" panose="02010600030101010101" pitchFamily="2" charset="-122"/>
                  <a:cs typeface="Times New Roman" panose="02020603050405020304" pitchFamily="18" charset="0"/>
                </a:rPr>
                <a:t>数据包</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p:txBody>
        </p:sp>
        <p:sp>
          <p:nvSpPr>
            <p:cNvPr id="71" name="Text Box 80"/>
            <p:cNvSpPr txBox="1">
              <a:spLocks noChangeArrowheads="1"/>
            </p:cNvSpPr>
            <p:nvPr/>
          </p:nvSpPr>
          <p:spPr bwMode="auto">
            <a:xfrm>
              <a:off x="4070364" y="6152364"/>
              <a:ext cx="415498" cy="441853"/>
            </a:xfrm>
            <a:prstGeom prst="rect">
              <a:avLst/>
            </a:prstGeom>
            <a:noFill/>
            <a:ln w="9525">
              <a:noFill/>
              <a:miter lim="800000"/>
              <a:headEnd/>
              <a:tailEnd/>
            </a:ln>
          </p:spPr>
          <p:txBody>
            <a:bodyPr wrap="none">
              <a:spAutoFit/>
            </a:bodyPr>
            <a:lstStyle/>
            <a:p>
              <a:pPr algn="ctr" eaLnBrk="0" hangingPunct="0"/>
              <a:r>
                <a:rPr lang="zh-CN" altLang="en-US" dirty="0">
                  <a:latin typeface="等线" panose="02010600030101010101" pitchFamily="2" charset="-122"/>
                  <a:ea typeface="等线" panose="02010600030101010101" pitchFamily="2" charset="-122"/>
                  <a:cs typeface="Times New Roman" panose="02020603050405020304" pitchFamily="18" charset="0"/>
                </a:rPr>
                <a:t>帧</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p:txBody>
        </p:sp>
        <p:sp>
          <p:nvSpPr>
            <p:cNvPr id="72" name="Line 81"/>
            <p:cNvSpPr>
              <a:spLocks noChangeShapeType="1"/>
            </p:cNvSpPr>
            <p:nvPr/>
          </p:nvSpPr>
          <p:spPr bwMode="auto">
            <a:xfrm>
              <a:off x="7317327" y="6048382"/>
              <a:ext cx="1591733"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Line 82"/>
            <p:cNvSpPr>
              <a:spLocks noChangeShapeType="1"/>
            </p:cNvSpPr>
            <p:nvPr/>
          </p:nvSpPr>
          <p:spPr bwMode="auto">
            <a:xfrm flipH="1">
              <a:off x="4485227" y="6057907"/>
              <a:ext cx="1312333"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4" name="Line 83"/>
            <p:cNvSpPr>
              <a:spLocks noChangeShapeType="1"/>
            </p:cNvSpPr>
            <p:nvPr/>
          </p:nvSpPr>
          <p:spPr bwMode="auto">
            <a:xfrm flipH="1">
              <a:off x="848794" y="6346832"/>
              <a:ext cx="2973917"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 name="Line 84"/>
            <p:cNvSpPr>
              <a:spLocks noChangeShapeType="1"/>
            </p:cNvSpPr>
            <p:nvPr/>
          </p:nvSpPr>
          <p:spPr bwMode="auto">
            <a:xfrm>
              <a:off x="4868345" y="6369057"/>
              <a:ext cx="4034367" cy="0"/>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6" name="Text Box 85"/>
            <p:cNvSpPr txBox="1">
              <a:spLocks noChangeArrowheads="1"/>
            </p:cNvSpPr>
            <p:nvPr/>
          </p:nvSpPr>
          <p:spPr bwMode="auto">
            <a:xfrm>
              <a:off x="1332305" y="4316975"/>
              <a:ext cx="2236510" cy="478675"/>
            </a:xfrm>
            <a:prstGeom prst="rect">
              <a:avLst/>
            </a:prstGeom>
            <a:noFill/>
            <a:ln w="9525">
              <a:noFill/>
              <a:miter lim="800000"/>
              <a:headEnd/>
              <a:tailEnd/>
            </a:ln>
          </p:spPr>
          <p:txBody>
            <a:bodyPr wrap="none">
              <a:spAutoFit/>
            </a:bodyPr>
            <a:lstStyle/>
            <a:p>
              <a:pPr eaLnBrk="0" hangingPunct="0"/>
              <a:r>
                <a:rPr kumimoji="0" lang="zh-CN" altLang="en-US" sz="2000" dirty="0">
                  <a:latin typeface="等线" panose="02010600030101010101" pitchFamily="2" charset="-122"/>
                  <a:ea typeface="等线" panose="02010600030101010101" pitchFamily="2" charset="-122"/>
                  <a:cs typeface="Times New Roman" panose="02020603050405020304" pitchFamily="18" charset="0"/>
                </a:rPr>
                <a:t>帧的源和目的地址</a:t>
              </a:r>
              <a:endParaRPr kumimoji="0" lang="en-US" altLang="zh-CN" sz="20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7" name="Text Box 86"/>
            <p:cNvSpPr txBox="1">
              <a:spLocks noChangeArrowheads="1"/>
            </p:cNvSpPr>
            <p:nvPr/>
          </p:nvSpPr>
          <p:spPr bwMode="auto">
            <a:xfrm>
              <a:off x="4581986" y="4326500"/>
              <a:ext cx="2749471" cy="478675"/>
            </a:xfrm>
            <a:prstGeom prst="rect">
              <a:avLst/>
            </a:prstGeom>
            <a:noFill/>
            <a:ln w="9525">
              <a:noFill/>
              <a:miter lim="800000"/>
              <a:headEnd/>
              <a:tailEnd/>
            </a:ln>
          </p:spPr>
          <p:txBody>
            <a:bodyPr wrap="none">
              <a:spAutoFit/>
            </a:bodyPr>
            <a:lstStyle/>
            <a:p>
              <a:pPr algn="ctr" eaLnBrk="0" hangingPunct="0"/>
              <a:r>
                <a:rPr kumimoji="0" lang="zh-CN" altLang="en-US" sz="2000" dirty="0">
                  <a:latin typeface="等线" panose="02010600030101010101" pitchFamily="2" charset="-122"/>
                  <a:ea typeface="等线" panose="02010600030101010101" pitchFamily="2" charset="-122"/>
                  <a:cs typeface="Times New Roman" panose="02020603050405020304" pitchFamily="18" charset="0"/>
                </a:rPr>
                <a:t>数据包的源和目的地址</a:t>
              </a:r>
              <a:endParaRPr kumimoji="0" lang="en-US" altLang="zh-CN" sz="20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8" name="Line 87"/>
            <p:cNvSpPr>
              <a:spLocks noChangeShapeType="1"/>
            </p:cNvSpPr>
            <p:nvPr/>
          </p:nvSpPr>
          <p:spPr bwMode="auto">
            <a:xfrm flipH="1">
              <a:off x="1875378" y="4686307"/>
              <a:ext cx="656167" cy="325438"/>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79" name="Line 88"/>
            <p:cNvSpPr>
              <a:spLocks noChangeShapeType="1"/>
            </p:cNvSpPr>
            <p:nvPr/>
          </p:nvSpPr>
          <p:spPr bwMode="auto">
            <a:xfrm>
              <a:off x="2749560" y="4681546"/>
              <a:ext cx="586317" cy="325437"/>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0" name="Line 89"/>
            <p:cNvSpPr>
              <a:spLocks noChangeShapeType="1"/>
            </p:cNvSpPr>
            <p:nvPr/>
          </p:nvSpPr>
          <p:spPr bwMode="auto">
            <a:xfrm flipH="1">
              <a:off x="4995345" y="4691071"/>
              <a:ext cx="656167" cy="325437"/>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sp>
          <p:nvSpPr>
            <p:cNvPr id="81" name="Line 90"/>
            <p:cNvSpPr>
              <a:spLocks noChangeShapeType="1"/>
            </p:cNvSpPr>
            <p:nvPr/>
          </p:nvSpPr>
          <p:spPr bwMode="auto">
            <a:xfrm>
              <a:off x="5869527" y="4686307"/>
              <a:ext cx="586317" cy="325438"/>
            </a:xfrm>
            <a:prstGeom prst="line">
              <a:avLst/>
            </a:prstGeom>
            <a:noFill/>
            <a:ln w="9525">
              <a:solidFill>
                <a:schemeClr val="tx1"/>
              </a:solidFill>
              <a:round/>
              <a:headEnd/>
              <a:tailEnd type="triangle" w="med" len="med"/>
            </a:ln>
          </p:spPr>
          <p:txBody>
            <a:bodyPr wrap="none" anchor="ctr"/>
            <a:lstStyle/>
            <a:p>
              <a:endParaRPr lang="zh-CN" altLang="en-US">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7" name="组合 6"/>
          <p:cNvGrpSpPr/>
          <p:nvPr/>
        </p:nvGrpSpPr>
        <p:grpSpPr>
          <a:xfrm>
            <a:off x="6963588" y="1452135"/>
            <a:ext cx="4354342" cy="2976343"/>
            <a:chOff x="6963588" y="1452135"/>
            <a:chExt cx="4354342" cy="2976343"/>
          </a:xfrm>
        </p:grpSpPr>
        <p:grpSp>
          <p:nvGrpSpPr>
            <p:cNvPr id="82" name="组合 81"/>
            <p:cNvGrpSpPr/>
            <p:nvPr/>
          </p:nvGrpSpPr>
          <p:grpSpPr>
            <a:xfrm>
              <a:off x="6963588" y="1452135"/>
              <a:ext cx="4354342" cy="2976343"/>
              <a:chOff x="5600115" y="3078817"/>
              <a:chExt cx="4354342" cy="2976343"/>
            </a:xfrm>
          </p:grpSpPr>
          <p:pic>
            <p:nvPicPr>
              <p:cNvPr id="83" name="Picture 5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0704" y="4718428"/>
                <a:ext cx="757723" cy="674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4" name="Picture 5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93128" y="3428842"/>
                <a:ext cx="639123" cy="814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6" name="矩形 85"/>
              <p:cNvSpPr/>
              <p:nvPr/>
            </p:nvSpPr>
            <p:spPr>
              <a:xfrm>
                <a:off x="6787900" y="3496121"/>
                <a:ext cx="1687315" cy="415494"/>
              </a:xfrm>
              <a:prstGeom prst="rect">
                <a:avLst/>
              </a:prstGeom>
            </p:spPr>
            <p:txBody>
              <a:bodyPr wrap="none" lIns="121917" tIns="60958" rIns="121917" bIns="60958">
                <a:spAutoFit/>
              </a:bodyPr>
              <a:lstStyle/>
              <a:p>
                <a:r>
                  <a:rPr lang="en-US" altLang="zh-CN" sz="1900" dirty="0">
                    <a:latin typeface="等线" panose="02010600030101010101" pitchFamily="2" charset="-122"/>
                    <a:ea typeface="等线" panose="02010600030101010101" pitchFamily="2" charset="-122"/>
                  </a:rPr>
                  <a:t>220.168.10.10</a:t>
                </a:r>
                <a:endParaRPr lang="zh-CN" altLang="en-US" sz="1900" dirty="0">
                  <a:latin typeface="等线" panose="02010600030101010101" pitchFamily="2" charset="-122"/>
                  <a:ea typeface="等线" panose="02010600030101010101" pitchFamily="2" charset="-122"/>
                </a:endParaRPr>
              </a:p>
            </p:txBody>
          </p:sp>
          <p:sp>
            <p:nvSpPr>
              <p:cNvPr id="87" name="矩形 86"/>
              <p:cNvSpPr/>
              <p:nvPr/>
            </p:nvSpPr>
            <p:spPr>
              <a:xfrm>
                <a:off x="6787901" y="3823930"/>
                <a:ext cx="2484007" cy="415494"/>
              </a:xfrm>
              <a:prstGeom prst="rect">
                <a:avLst/>
              </a:prstGeom>
            </p:spPr>
            <p:txBody>
              <a:bodyPr wrap="none" lIns="121917" tIns="60958" rIns="121917" bIns="60958">
                <a:spAutoFit/>
              </a:bodyPr>
              <a:lstStyle/>
              <a:p>
                <a:r>
                  <a:rPr lang="en-US" altLang="zh-CN" sz="1900" dirty="0">
                    <a:latin typeface="等线" panose="02010600030101010101" pitchFamily="2" charset="-122"/>
                    <a:ea typeface="等线" panose="02010600030101010101" pitchFamily="2" charset="-122"/>
                  </a:rPr>
                  <a:t>00-15-C5-C6-CC-07</a:t>
                </a:r>
                <a:endParaRPr lang="zh-CN" altLang="en-US" sz="1900" dirty="0">
                  <a:latin typeface="等线" panose="02010600030101010101" pitchFamily="2" charset="-122"/>
                  <a:ea typeface="等线" panose="02010600030101010101" pitchFamily="2" charset="-122"/>
                </a:endParaRPr>
              </a:p>
            </p:txBody>
          </p:sp>
          <p:sp>
            <p:nvSpPr>
              <p:cNvPr id="88" name="矩形 87"/>
              <p:cNvSpPr/>
              <p:nvPr/>
            </p:nvSpPr>
            <p:spPr>
              <a:xfrm>
                <a:off x="7451023" y="5327501"/>
                <a:ext cx="1687315" cy="415494"/>
              </a:xfrm>
              <a:prstGeom prst="rect">
                <a:avLst/>
              </a:prstGeom>
            </p:spPr>
            <p:txBody>
              <a:bodyPr wrap="none" lIns="121917" tIns="60958" rIns="121917" bIns="60958">
                <a:spAutoFit/>
              </a:bodyPr>
              <a:lstStyle/>
              <a:p>
                <a:r>
                  <a:rPr lang="en-US" altLang="zh-CN" sz="1900" dirty="0">
                    <a:latin typeface="等线" panose="02010600030101010101" pitchFamily="2" charset="-122"/>
                    <a:ea typeface="等线" panose="02010600030101010101" pitchFamily="2" charset="-122"/>
                  </a:rPr>
                  <a:t>220.168.10.20</a:t>
                </a:r>
                <a:endParaRPr lang="zh-CN" altLang="en-US" sz="1900" dirty="0">
                  <a:latin typeface="等线" panose="02010600030101010101" pitchFamily="2" charset="-122"/>
                  <a:ea typeface="等线" panose="02010600030101010101" pitchFamily="2" charset="-122"/>
                </a:endParaRPr>
              </a:p>
            </p:txBody>
          </p:sp>
          <p:sp>
            <p:nvSpPr>
              <p:cNvPr id="89" name="矩形 88"/>
              <p:cNvSpPr/>
              <p:nvPr/>
            </p:nvSpPr>
            <p:spPr>
              <a:xfrm>
                <a:off x="7942343" y="5639666"/>
                <a:ext cx="977185" cy="415494"/>
              </a:xfrm>
              <a:prstGeom prst="rect">
                <a:avLst/>
              </a:prstGeom>
            </p:spPr>
            <p:txBody>
              <a:bodyPr wrap="none" lIns="121917" tIns="60958" rIns="121917" bIns="60958">
                <a:spAutoFit/>
              </a:bodyPr>
              <a:lstStyle/>
              <a:p>
                <a:pPr algn="ctr"/>
                <a:r>
                  <a:rPr lang="zh-CN" altLang="en-US" sz="1900" dirty="0">
                    <a:solidFill>
                      <a:srgbClr val="C00000"/>
                    </a:solidFill>
                    <a:latin typeface="等线" panose="02010600030101010101" pitchFamily="2" charset="-122"/>
                    <a:ea typeface="等线" panose="02010600030101010101" pitchFamily="2" charset="-122"/>
                  </a:rPr>
                  <a:t>？？？</a:t>
                </a:r>
              </a:p>
            </p:txBody>
          </p:sp>
          <p:sp>
            <p:nvSpPr>
              <p:cNvPr id="92" name="矩形标注 91"/>
              <p:cNvSpPr/>
              <p:nvPr/>
            </p:nvSpPr>
            <p:spPr bwMode="auto">
              <a:xfrm>
                <a:off x="7363515" y="3078817"/>
                <a:ext cx="959747" cy="336293"/>
              </a:xfrm>
              <a:prstGeom prst="wedgeRectCallout">
                <a:avLst>
                  <a:gd name="adj1" fmla="val -47726"/>
                  <a:gd name="adj2" fmla="val 100032"/>
                </a:avLst>
              </a:prstGeom>
              <a:solidFill>
                <a:srgbClr val="00FFFF"/>
              </a:solidFill>
              <a:ln w="9525" cap="flat" cmpd="sng" algn="ctr">
                <a:solidFill>
                  <a:schemeClr val="tx1"/>
                </a:solidFill>
                <a:prstDash val="solid"/>
                <a:round/>
                <a:headEnd type="none" w="med" len="med"/>
                <a:tailEnd type="none" w="med" len="med"/>
              </a:ln>
              <a:effectLst/>
            </p:spPr>
            <p:txBody>
              <a:bodyPr vert="horz" wrap="square" lIns="121917" tIns="60958" rIns="121917" bIns="60958" numCol="1" rtlCol="0" anchor="t" anchorCtr="0" compatLnSpc="1">
                <a:prstTxWarp prst="textNoShape">
                  <a:avLst/>
                </a:prstTxWarp>
              </a:bodyPr>
              <a:lstStyle/>
              <a:p>
                <a:pPr algn="ctr" defTabSz="1219170" eaLnBrk="0" fontAlgn="base" hangingPunct="0">
                  <a:spcBef>
                    <a:spcPct val="0"/>
                  </a:spcBef>
                  <a:spcAft>
                    <a:spcPct val="0"/>
                  </a:spcAft>
                </a:pPr>
                <a:r>
                  <a:rPr lang="en-US" altLang="zh-CN" sz="1600" dirty="0">
                    <a:latin typeface="等线" panose="02010600030101010101" pitchFamily="2" charset="-122"/>
                    <a:ea typeface="等线" panose="02010600030101010101" pitchFamily="2" charset="-122"/>
                  </a:rPr>
                  <a:t>IP </a:t>
                </a:r>
                <a:r>
                  <a:rPr lang="zh-CN" altLang="en-US" sz="1600" dirty="0">
                    <a:latin typeface="等线" panose="02010600030101010101" pitchFamily="2" charset="-122"/>
                    <a:ea typeface="等线" panose="02010600030101010101" pitchFamily="2" charset="-122"/>
                  </a:rPr>
                  <a:t>地址</a:t>
                </a:r>
              </a:p>
            </p:txBody>
          </p:sp>
          <p:sp>
            <p:nvSpPr>
              <p:cNvPr id="93" name="矩形标注 92"/>
              <p:cNvSpPr/>
              <p:nvPr/>
            </p:nvSpPr>
            <p:spPr bwMode="auto">
              <a:xfrm>
                <a:off x="8663546" y="3331464"/>
                <a:ext cx="1290911" cy="336293"/>
              </a:xfrm>
              <a:prstGeom prst="wedgeRectCallout">
                <a:avLst>
                  <a:gd name="adj1" fmla="val -64020"/>
                  <a:gd name="adj2" fmla="val 132276"/>
                </a:avLst>
              </a:prstGeom>
              <a:solidFill>
                <a:srgbClr val="00FFFF"/>
              </a:solidFill>
              <a:ln w="9525" cap="flat" cmpd="sng" algn="ctr">
                <a:solidFill>
                  <a:schemeClr val="tx1"/>
                </a:solidFill>
                <a:prstDash val="solid"/>
                <a:round/>
                <a:headEnd type="none" w="med" len="med"/>
                <a:tailEnd type="none" w="med" len="med"/>
              </a:ln>
              <a:effectLst/>
            </p:spPr>
            <p:txBody>
              <a:bodyPr vert="horz" wrap="square" lIns="121917" tIns="60958" rIns="121917" bIns="60958" numCol="1" rtlCol="0" anchor="t" anchorCtr="0" compatLnSpc="1">
                <a:prstTxWarp prst="textNoShape">
                  <a:avLst/>
                </a:prstTxWarp>
              </a:bodyPr>
              <a:lstStyle/>
              <a:p>
                <a:pPr algn="ctr" defTabSz="1219170" eaLnBrk="0" fontAlgn="base" hangingPunct="0">
                  <a:spcBef>
                    <a:spcPct val="0"/>
                  </a:spcBef>
                  <a:spcAft>
                    <a:spcPct val="0"/>
                  </a:spcAft>
                </a:pPr>
                <a:r>
                  <a:rPr lang="en-US" altLang="zh-CN" sz="1600" dirty="0">
                    <a:latin typeface="等线" panose="02010600030101010101" pitchFamily="2" charset="-122"/>
                    <a:ea typeface="等线" panose="02010600030101010101" pitchFamily="2" charset="-122"/>
                  </a:rPr>
                  <a:t>MAC </a:t>
                </a:r>
                <a:r>
                  <a:rPr lang="zh-CN" altLang="en-US" sz="1600" dirty="0">
                    <a:latin typeface="等线" panose="02010600030101010101" pitchFamily="2" charset="-122"/>
                    <a:ea typeface="等线" panose="02010600030101010101" pitchFamily="2" charset="-122"/>
                  </a:rPr>
                  <a:t>地址</a:t>
                </a:r>
              </a:p>
            </p:txBody>
          </p:sp>
          <p:cxnSp>
            <p:nvCxnSpPr>
              <p:cNvPr id="94" name="直接箭头连接符 93"/>
              <p:cNvCxnSpPr/>
              <p:nvPr/>
            </p:nvCxnSpPr>
            <p:spPr bwMode="auto">
              <a:xfrm flipH="1">
                <a:off x="6489186" y="3667757"/>
                <a:ext cx="338639" cy="0"/>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5" name="直接箭头连接符 94"/>
              <p:cNvCxnSpPr/>
              <p:nvPr/>
            </p:nvCxnSpPr>
            <p:spPr bwMode="auto">
              <a:xfrm flipH="1">
                <a:off x="6489186" y="4015152"/>
                <a:ext cx="338639" cy="0"/>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96" name="椭圆 95"/>
              <p:cNvSpPr/>
              <p:nvPr/>
            </p:nvSpPr>
            <p:spPr bwMode="auto">
              <a:xfrm>
                <a:off x="5600115" y="4576565"/>
                <a:ext cx="1597805" cy="958683"/>
              </a:xfrm>
              <a:prstGeom prst="ellipse">
                <a:avLst/>
              </a:prstGeom>
              <a:solidFill>
                <a:srgbClr val="99FFCC"/>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17" tIns="60958" rIns="121917" bIns="60958" numCol="1" rtlCol="0" anchor="ctr" anchorCtr="0" compatLnSpc="1">
                <a:prstTxWarp prst="textNoShape">
                  <a:avLst/>
                </a:prstTxWarp>
              </a:bodyPr>
              <a:lstStyle/>
              <a:p>
                <a:pPr algn="ctr" defTabSz="1219170" eaLnBrk="0" fontAlgn="base" hangingPunct="0">
                  <a:spcBef>
                    <a:spcPct val="0"/>
                  </a:spcBef>
                  <a:spcAft>
                    <a:spcPct val="0"/>
                  </a:spcAft>
                </a:pPr>
                <a:r>
                  <a:rPr lang="en-US" altLang="zh-CN" sz="1900" dirty="0">
                    <a:latin typeface="等线" panose="02010600030101010101" pitchFamily="2" charset="-122"/>
                    <a:ea typeface="等线" panose="02010600030101010101" pitchFamily="2" charset="-122"/>
                  </a:rPr>
                  <a:t>LAN</a:t>
                </a:r>
                <a:endParaRPr lang="zh-CN" altLang="en-US" sz="1900" dirty="0">
                  <a:latin typeface="等线" panose="02010600030101010101" pitchFamily="2" charset="-122"/>
                  <a:ea typeface="等线" panose="02010600030101010101" pitchFamily="2" charset="-122"/>
                </a:endParaRPr>
              </a:p>
            </p:txBody>
          </p:sp>
          <p:cxnSp>
            <p:nvCxnSpPr>
              <p:cNvPr id="98" name="直接连接符 97"/>
              <p:cNvCxnSpPr>
                <a:stCxn id="83" idx="1"/>
                <a:endCxn id="96" idx="6"/>
              </p:cNvCxnSpPr>
              <p:nvPr/>
            </p:nvCxnSpPr>
            <p:spPr bwMode="auto">
              <a:xfrm flipH="1" flipV="1">
                <a:off x="7197920" y="5055908"/>
                <a:ext cx="612784" cy="1"/>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9" name="直接连接符 98"/>
              <p:cNvCxnSpPr>
                <a:endCxn id="96" idx="0"/>
              </p:cNvCxnSpPr>
              <p:nvPr/>
            </p:nvCxnSpPr>
            <p:spPr bwMode="auto">
              <a:xfrm>
                <a:off x="6399017" y="4242968"/>
                <a:ext cx="0" cy="333597"/>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5" name="矩形 4"/>
            <p:cNvSpPr/>
            <p:nvPr/>
          </p:nvSpPr>
          <p:spPr>
            <a:xfrm>
              <a:off x="10040645" y="3058229"/>
              <a:ext cx="380232" cy="369332"/>
            </a:xfrm>
            <a:prstGeom prst="rect">
              <a:avLst/>
            </a:prstGeom>
          </p:spPr>
          <p:txBody>
            <a:bodyPr wrap="none">
              <a:spAutoFit/>
            </a:bodyPr>
            <a:lstStyle/>
            <a:p>
              <a:pPr algn="ctr"/>
              <a:r>
                <a:rPr lang="en-US" altLang="zh-CN" b="1" dirty="0">
                  <a:solidFill>
                    <a:srgbClr val="C00000"/>
                  </a:solidFill>
                  <a:latin typeface="等线" panose="02010600030101010101" pitchFamily="2" charset="-122"/>
                  <a:ea typeface="等线" panose="02010600030101010101" pitchFamily="2" charset="-122"/>
                </a:rPr>
                <a:t>B:</a:t>
              </a:r>
              <a:endParaRPr lang="zh-CN" altLang="en-US" b="1" dirty="0">
                <a:solidFill>
                  <a:srgbClr val="C00000"/>
                </a:solidFill>
                <a:latin typeface="等线" panose="02010600030101010101" pitchFamily="2" charset="-122"/>
                <a:ea typeface="等线" panose="02010600030101010101" pitchFamily="2" charset="-122"/>
              </a:endParaRPr>
            </a:p>
          </p:txBody>
        </p:sp>
        <p:sp>
          <p:nvSpPr>
            <p:cNvPr id="100" name="矩形 99"/>
            <p:cNvSpPr/>
            <p:nvPr/>
          </p:nvSpPr>
          <p:spPr>
            <a:xfrm>
              <a:off x="7932897" y="1603762"/>
              <a:ext cx="396262" cy="369332"/>
            </a:xfrm>
            <a:prstGeom prst="rect">
              <a:avLst/>
            </a:prstGeom>
          </p:spPr>
          <p:txBody>
            <a:bodyPr wrap="none">
              <a:spAutoFit/>
            </a:bodyPr>
            <a:lstStyle/>
            <a:p>
              <a:pPr algn="ctr"/>
              <a:r>
                <a:rPr lang="en-US" altLang="zh-CN" b="1" dirty="0">
                  <a:solidFill>
                    <a:srgbClr val="C00000"/>
                  </a:solidFill>
                  <a:latin typeface="等线" panose="02010600030101010101" pitchFamily="2" charset="-122"/>
                  <a:ea typeface="等线" panose="02010600030101010101" pitchFamily="2" charset="-122"/>
                </a:rPr>
                <a:t>A:</a:t>
              </a:r>
              <a:endParaRPr lang="zh-CN" altLang="en-US" b="1" dirty="0">
                <a:solidFill>
                  <a:srgbClr val="C00000"/>
                </a:solidFill>
                <a:latin typeface="等线" panose="02010600030101010101" pitchFamily="2" charset="-122"/>
                <a:ea typeface="等线" panose="02010600030101010101" pitchFamily="2" charset="-122"/>
              </a:endParaRPr>
            </a:p>
          </p:txBody>
        </p:sp>
      </p:grpSp>
      <p:grpSp>
        <p:nvGrpSpPr>
          <p:cNvPr id="102" name="Group 5"/>
          <p:cNvGrpSpPr>
            <a:grpSpLocks/>
          </p:cNvGrpSpPr>
          <p:nvPr/>
        </p:nvGrpSpPr>
        <p:grpSpPr bwMode="auto">
          <a:xfrm>
            <a:off x="896514" y="3179333"/>
            <a:ext cx="5597501" cy="1041398"/>
            <a:chOff x="297" y="3336"/>
            <a:chExt cx="2788" cy="805"/>
          </a:xfrm>
        </p:grpSpPr>
        <p:sp>
          <p:nvSpPr>
            <p:cNvPr id="103" name="Text Box 6"/>
            <p:cNvSpPr txBox="1">
              <a:spLocks noChangeArrowheads="1"/>
            </p:cNvSpPr>
            <p:nvPr/>
          </p:nvSpPr>
          <p:spPr bwMode="auto">
            <a:xfrm>
              <a:off x="370" y="3368"/>
              <a:ext cx="2715" cy="735"/>
            </a:xfrm>
            <a:prstGeom prst="rect">
              <a:avLst/>
            </a:prstGeom>
            <a:noFill/>
            <a:ln w="9525">
              <a:noFill/>
              <a:miter lim="800000"/>
              <a:headEnd/>
              <a:tailEnd/>
            </a:ln>
          </p:spPr>
          <p:txBody>
            <a:bodyPr wrap="square">
              <a:spAutoFit/>
            </a:bodyPr>
            <a:lstStyle/>
            <a:p>
              <a:pPr eaLnBrk="0" hangingPunct="0">
                <a:lnSpc>
                  <a:spcPts val="3500"/>
                </a:lnSpc>
              </a:pPr>
              <a:r>
                <a:rPr kumimoji="0"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问题：给定</a:t>
              </a:r>
              <a:r>
                <a:rPr kumimoji="0"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B</a:t>
              </a:r>
              <a:r>
                <a:rPr kumimoji="0"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的</a:t>
              </a:r>
              <a:r>
                <a:rPr kumimoji="0"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IP</a:t>
              </a:r>
              <a:r>
                <a:rPr kumimoji="0"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地址，如何获取</a:t>
              </a:r>
              <a:r>
                <a:rPr kumimoji="0"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B</a:t>
              </a:r>
              <a:r>
                <a:rPr kumimoji="0"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的</a:t>
              </a:r>
              <a:r>
                <a:rPr kumimoji="0"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MAC</a:t>
              </a:r>
              <a:r>
                <a:rPr kumimoji="0"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地址？</a:t>
              </a:r>
              <a:endParaRPr kumimoji="0"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104" name="Rectangle 7"/>
            <p:cNvSpPr>
              <a:spLocks noChangeArrowheads="1"/>
            </p:cNvSpPr>
            <p:nvPr/>
          </p:nvSpPr>
          <p:spPr bwMode="auto">
            <a:xfrm>
              <a:off x="297" y="3336"/>
              <a:ext cx="2788" cy="805"/>
            </a:xfrm>
            <a:prstGeom prst="rect">
              <a:avLst/>
            </a:prstGeom>
            <a:noFill/>
            <a:ln w="28575">
              <a:solidFill>
                <a:srgbClr val="FF0000"/>
              </a:solidFill>
              <a:miter lim="800000"/>
              <a:headEnd/>
              <a:tailEnd/>
            </a:ln>
          </p:spPr>
          <p:txBody>
            <a:bodyPr wrap="none" anchor="ctr"/>
            <a:lstStyle/>
            <a:p>
              <a:pPr algn="ctr">
                <a:lnSpc>
                  <a:spcPct val="120000"/>
                </a:lnSpc>
                <a:spcBef>
                  <a:spcPct val="10000"/>
                </a:spcBef>
                <a:buClr>
                  <a:schemeClr val="tx1"/>
                </a:buClr>
                <a:buFont typeface="Symbol" pitchFamily="18" charset="2"/>
                <a:buChar char="¾"/>
              </a:pPr>
              <a:endParaRPr lang="zh-CN" altLang="en-US">
                <a:latin typeface="Arial Unicode MS" pitchFamily="34" charset="-122"/>
                <a:ea typeface="Arial Unicode MS" pitchFamily="34" charset="-122"/>
                <a:cs typeface="Arial Unicode MS" pitchFamily="34" charset="-122"/>
              </a:endParaRPr>
            </a:p>
          </p:txBody>
        </p:sp>
      </p:grpSp>
      <p:sp>
        <p:nvSpPr>
          <p:cNvPr id="2" name="日期占位符 1"/>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5.2.4 ARP</a:t>
            </a:r>
            <a:endParaRPr kumimoji="1"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9093787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等线" panose="02010600030101010101" pitchFamily="2" charset="-122"/>
                <a:ea typeface="等线" panose="02010600030101010101" pitchFamily="2" charset="-122"/>
              </a:rPr>
              <a:t>ARP</a:t>
            </a:r>
            <a:r>
              <a:rPr lang="zh-CN" altLang="en-US" dirty="0">
                <a:latin typeface="等线" panose="02010600030101010101" pitchFamily="2" charset="-122"/>
                <a:ea typeface="等线" panose="02010600030101010101" pitchFamily="2" charset="-122"/>
              </a:rPr>
              <a:t>地址解析协议</a:t>
            </a:r>
            <a:endParaRPr lang="zh-CN" altLang="en-US" dirty="0"/>
          </a:p>
        </p:txBody>
      </p:sp>
      <p:sp>
        <p:nvSpPr>
          <p:cNvPr id="3" name="内容占位符 2"/>
          <p:cNvSpPr>
            <a:spLocks noGrp="1"/>
          </p:cNvSpPr>
          <p:nvPr>
            <p:ph idx="1"/>
          </p:nvPr>
        </p:nvSpPr>
        <p:spPr/>
        <p:txBody>
          <a:bodyPr>
            <a:normAutofit/>
          </a:bodyPr>
          <a:lstStyle/>
          <a:p>
            <a:pPr>
              <a:lnSpc>
                <a:spcPct val="120000"/>
              </a:lnSpc>
            </a:pPr>
            <a:r>
              <a:rPr lang="en-US" altLang="zh-CN" sz="2400" dirty="0">
                <a:latin typeface="等线" panose="02010600030101010101" pitchFamily="2" charset="-122"/>
                <a:ea typeface="等线" panose="02010600030101010101" pitchFamily="2" charset="-122"/>
                <a:cs typeface="Times New Roman" panose="02020603050405020304" pitchFamily="18" charset="0"/>
              </a:rPr>
              <a:t>A</a:t>
            </a:r>
            <a:r>
              <a:rPr lang="zh-CN" altLang="en-US" sz="2400" dirty="0">
                <a:latin typeface="等线" panose="02010600030101010101" pitchFamily="2" charset="-122"/>
                <a:ea typeface="等线" panose="02010600030101010101" pitchFamily="2" charset="-122"/>
                <a:cs typeface="Times New Roman" panose="02020603050405020304" pitchFamily="18" charset="0"/>
              </a:rPr>
              <a:t>已知</a:t>
            </a:r>
            <a:r>
              <a:rPr lang="en-US" altLang="zh-CN" sz="2400" dirty="0">
                <a:latin typeface="等线" panose="02010600030101010101" pitchFamily="2" charset="-122"/>
                <a:ea typeface="等线" panose="02010600030101010101" pitchFamily="2" charset="-122"/>
                <a:cs typeface="Times New Roman" panose="02020603050405020304" pitchFamily="18" charset="0"/>
              </a:rPr>
              <a:t>B</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a:t>
            </a:r>
            <a:r>
              <a:rPr lang="en-US" altLang="zh-CN" sz="2400" dirty="0">
                <a:latin typeface="等线" panose="02010600030101010101" pitchFamily="2" charset="-122"/>
                <a:ea typeface="等线" panose="02010600030101010101" pitchFamily="2" charset="-122"/>
                <a:cs typeface="Times New Roman" panose="02020603050405020304" pitchFamily="18" charset="0"/>
              </a:rPr>
              <a:t>IP</a:t>
            </a:r>
            <a:r>
              <a:rPr lang="zh-CN" altLang="en-US" sz="2400" dirty="0">
                <a:latin typeface="等线" panose="02010600030101010101" pitchFamily="2" charset="-122"/>
                <a:ea typeface="等线" panose="02010600030101010101" pitchFamily="2" charset="-122"/>
                <a:cs typeface="Times New Roman" panose="02020603050405020304" pitchFamily="18" charset="0"/>
              </a:rPr>
              <a:t>地址，需要获得</a:t>
            </a:r>
            <a:r>
              <a:rPr lang="en-US" altLang="zh-CN" sz="2400" dirty="0">
                <a:latin typeface="等线" panose="02010600030101010101" pitchFamily="2" charset="-122"/>
                <a:ea typeface="等线" panose="02010600030101010101" pitchFamily="2" charset="-122"/>
                <a:cs typeface="Times New Roman" panose="02020603050405020304" pitchFamily="18" charset="0"/>
              </a:rPr>
              <a:t>B</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a:t>
            </a:r>
            <a:r>
              <a:rPr lang="en-US" altLang="zh-CN" sz="2400" dirty="0">
                <a:latin typeface="等线" panose="02010600030101010101" pitchFamily="2" charset="-122"/>
                <a:ea typeface="等线" panose="02010600030101010101" pitchFamily="2" charset="-122"/>
                <a:cs typeface="Times New Roman" panose="02020603050405020304" pitchFamily="18" charset="0"/>
              </a:rPr>
              <a:t>MAC</a:t>
            </a:r>
            <a:r>
              <a:rPr lang="zh-CN" altLang="en-US" sz="2400" dirty="0">
                <a:latin typeface="等线" panose="02010600030101010101" pitchFamily="2" charset="-122"/>
                <a:ea typeface="等线" panose="02010600030101010101" pitchFamily="2" charset="-122"/>
                <a:cs typeface="Times New Roman" panose="02020603050405020304" pitchFamily="18" charset="0"/>
              </a:rPr>
              <a:t>地址（物理地址）</a:t>
            </a:r>
            <a:endParaRPr lang="en-US" altLang="zh-CN" sz="2400" dirty="0">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Clr>
                <a:schemeClr val="tx1"/>
              </a:buClr>
              <a:buSzPct val="90000"/>
            </a:pPr>
            <a:r>
              <a:rPr lang="zh-CN" altLang="en-US" sz="2400" dirty="0">
                <a:latin typeface="等线" panose="02010600030101010101" pitchFamily="2" charset="-122"/>
                <a:ea typeface="等线" panose="02010600030101010101" pitchFamily="2" charset="-122"/>
                <a:cs typeface="Times New Roman" panose="02020603050405020304" pitchFamily="18" charset="0"/>
              </a:rPr>
              <a:t>如果</a:t>
            </a:r>
            <a:r>
              <a:rPr lang="en-US" altLang="zh-CN" sz="2400" dirty="0">
                <a:latin typeface="等线" panose="02010600030101010101" pitchFamily="2" charset="-122"/>
                <a:ea typeface="等线" panose="02010600030101010101" pitchFamily="2" charset="-122"/>
                <a:cs typeface="Times New Roman" panose="02020603050405020304" pitchFamily="18" charset="0"/>
              </a:rPr>
              <a:t>A</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a:t>
            </a:r>
            <a:r>
              <a:rPr lang="en-US" altLang="zh-CN" sz="2400" dirty="0">
                <a:latin typeface="等线" panose="02010600030101010101" pitchFamily="2" charset="-122"/>
                <a:ea typeface="等线" panose="02010600030101010101" pitchFamily="2" charset="-122"/>
                <a:cs typeface="Times New Roman" panose="02020603050405020304" pitchFamily="18" charset="0"/>
              </a:rPr>
              <a:t>ARP</a:t>
            </a:r>
            <a:r>
              <a:rPr lang="zh-CN" altLang="en-US" sz="2400" dirty="0">
                <a:latin typeface="等线" panose="02010600030101010101" pitchFamily="2" charset="-122"/>
                <a:ea typeface="等线" panose="02010600030101010101" pitchFamily="2" charset="-122"/>
                <a:cs typeface="Times New Roman" panose="02020603050405020304" pitchFamily="18" charset="0"/>
              </a:rPr>
              <a:t>表中缓存有</a:t>
            </a:r>
            <a:r>
              <a:rPr lang="en-US" altLang="zh-CN" sz="2400" dirty="0">
                <a:latin typeface="等线" panose="02010600030101010101" pitchFamily="2" charset="-122"/>
                <a:ea typeface="等线" panose="02010600030101010101" pitchFamily="2" charset="-122"/>
                <a:cs typeface="Times New Roman" panose="02020603050405020304" pitchFamily="18" charset="0"/>
              </a:rPr>
              <a:t>B</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a:t>
            </a:r>
            <a:r>
              <a:rPr lang="en-US" altLang="zh-CN" sz="2400" dirty="0">
                <a:latin typeface="等线" panose="02010600030101010101" pitchFamily="2" charset="-122"/>
                <a:ea typeface="等线" panose="02010600030101010101" pitchFamily="2" charset="-122"/>
                <a:cs typeface="Times New Roman" panose="02020603050405020304" pitchFamily="18" charset="0"/>
              </a:rPr>
              <a:t>IP</a:t>
            </a:r>
            <a:r>
              <a:rPr lang="zh-CN" altLang="en-US" sz="2400" dirty="0">
                <a:latin typeface="等线" panose="02010600030101010101" pitchFamily="2" charset="-122"/>
                <a:ea typeface="等线" panose="02010600030101010101" pitchFamily="2" charset="-122"/>
                <a:cs typeface="Times New Roman" panose="02020603050405020304" pitchFamily="18" charset="0"/>
              </a:rPr>
              <a:t>地址与</a:t>
            </a:r>
            <a:r>
              <a:rPr lang="en-US" altLang="zh-CN" sz="2400" dirty="0">
                <a:latin typeface="等线" panose="02010600030101010101" pitchFamily="2" charset="-122"/>
                <a:ea typeface="等线" panose="02010600030101010101" pitchFamily="2" charset="-122"/>
                <a:cs typeface="Times New Roman" panose="02020603050405020304" pitchFamily="18" charset="0"/>
              </a:rPr>
              <a:t>MAC</a:t>
            </a:r>
            <a:r>
              <a:rPr lang="zh-CN" altLang="en-US" sz="2400" dirty="0">
                <a:latin typeface="等线" panose="02010600030101010101" pitchFamily="2" charset="-122"/>
                <a:ea typeface="等线" panose="02010600030101010101" pitchFamily="2" charset="-122"/>
                <a:cs typeface="Times New Roman" panose="02020603050405020304" pitchFamily="18" charset="0"/>
              </a:rPr>
              <a:t>地址的映射关系，则直接从</a:t>
            </a:r>
            <a:r>
              <a:rPr lang="en-US" altLang="zh-CN" sz="2400" dirty="0">
                <a:latin typeface="等线" panose="02010600030101010101" pitchFamily="2" charset="-122"/>
                <a:ea typeface="等线" panose="02010600030101010101" pitchFamily="2" charset="-122"/>
                <a:cs typeface="Times New Roman" panose="02020603050405020304" pitchFamily="18" charset="0"/>
              </a:rPr>
              <a:t>ARP</a:t>
            </a:r>
            <a:r>
              <a:rPr lang="zh-CN" altLang="en-US" sz="2400" dirty="0">
                <a:latin typeface="等线" panose="02010600030101010101" pitchFamily="2" charset="-122"/>
                <a:ea typeface="等线" panose="02010600030101010101" pitchFamily="2" charset="-122"/>
                <a:cs typeface="Times New Roman" panose="02020603050405020304" pitchFamily="18" charset="0"/>
              </a:rPr>
              <a:t>表获取</a:t>
            </a:r>
            <a:endParaRPr lang="en-US" altLang="zh-CN" sz="2400" dirty="0">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Clr>
                <a:schemeClr val="tx1"/>
              </a:buClr>
              <a:buSzPct val="90000"/>
            </a:pPr>
            <a:r>
              <a:rPr lang="zh-CN" altLang="en-US" sz="2400" dirty="0">
                <a:latin typeface="等线" panose="02010600030101010101" pitchFamily="2" charset="-122"/>
                <a:ea typeface="等线" panose="02010600030101010101" pitchFamily="2" charset="-122"/>
              </a:rPr>
              <a:t>如果</a:t>
            </a:r>
            <a:r>
              <a:rPr lang="en-US" altLang="zh-CN" sz="2400" dirty="0">
                <a:latin typeface="等线" panose="02010600030101010101" pitchFamily="2" charset="-122"/>
                <a:ea typeface="等线" panose="02010600030101010101" pitchFamily="2" charset="-122"/>
              </a:rPr>
              <a:t>A</a:t>
            </a:r>
            <a:r>
              <a:rPr lang="zh-CN" altLang="en-US" sz="2400" dirty="0">
                <a:latin typeface="等线" panose="02010600030101010101" pitchFamily="2" charset="-122"/>
                <a:ea typeface="等线" panose="02010600030101010101" pitchFamily="2" charset="-122"/>
              </a:rPr>
              <a:t>的</a:t>
            </a:r>
            <a:r>
              <a:rPr lang="en-US" altLang="zh-CN" sz="2400" dirty="0">
                <a:latin typeface="等线" panose="02010600030101010101" pitchFamily="2" charset="-122"/>
                <a:ea typeface="等线" panose="02010600030101010101" pitchFamily="2" charset="-122"/>
              </a:rPr>
              <a:t>ARP</a:t>
            </a:r>
            <a:r>
              <a:rPr lang="zh-CN" altLang="en-US" sz="2400" dirty="0">
                <a:latin typeface="等线" panose="02010600030101010101" pitchFamily="2" charset="-122"/>
                <a:ea typeface="等线" panose="02010600030101010101" pitchFamily="2" charset="-122"/>
              </a:rPr>
              <a:t>表中未缓存有</a:t>
            </a:r>
            <a:r>
              <a:rPr lang="en-US" altLang="zh-CN" sz="2400" dirty="0">
                <a:latin typeface="等线" panose="02010600030101010101" pitchFamily="2" charset="-122"/>
                <a:ea typeface="等线" panose="02010600030101010101" pitchFamily="2" charset="-122"/>
              </a:rPr>
              <a:t>B</a:t>
            </a:r>
            <a:r>
              <a:rPr lang="zh-CN" altLang="en-US" sz="2400" dirty="0">
                <a:latin typeface="等线" panose="02010600030101010101" pitchFamily="2" charset="-122"/>
                <a:ea typeface="等线" panose="02010600030101010101" pitchFamily="2" charset="-122"/>
              </a:rPr>
              <a:t>的</a:t>
            </a:r>
            <a:r>
              <a:rPr lang="en-US" altLang="zh-CN" sz="2400" dirty="0">
                <a:latin typeface="等线" panose="02010600030101010101" pitchFamily="2" charset="-122"/>
                <a:ea typeface="等线" panose="02010600030101010101" pitchFamily="2" charset="-122"/>
              </a:rPr>
              <a:t>IP</a:t>
            </a:r>
            <a:r>
              <a:rPr lang="zh-CN" altLang="en-US" sz="2400" dirty="0">
                <a:latin typeface="等线" panose="02010600030101010101" pitchFamily="2" charset="-122"/>
                <a:ea typeface="等线" panose="02010600030101010101" pitchFamily="2" charset="-122"/>
              </a:rPr>
              <a:t>地址与</a:t>
            </a:r>
            <a:r>
              <a:rPr lang="en-US" altLang="zh-CN" sz="2400" dirty="0">
                <a:latin typeface="等线" panose="02010600030101010101" pitchFamily="2" charset="-122"/>
                <a:ea typeface="等线" panose="02010600030101010101" pitchFamily="2" charset="-122"/>
              </a:rPr>
              <a:t>MAC</a:t>
            </a:r>
            <a:r>
              <a:rPr lang="zh-CN" altLang="en-US" sz="2400" dirty="0">
                <a:latin typeface="等线" panose="02010600030101010101" pitchFamily="2" charset="-122"/>
                <a:ea typeface="等线" panose="02010600030101010101" pitchFamily="2" charset="-122"/>
              </a:rPr>
              <a:t>地址的映射关系，则</a:t>
            </a:r>
            <a:r>
              <a:rPr lang="en-US" altLang="zh-CN" sz="2400" dirty="0">
                <a:latin typeface="等线" panose="02010600030101010101" pitchFamily="2" charset="-122"/>
                <a:ea typeface="等线" panose="02010600030101010101" pitchFamily="2" charset="-122"/>
              </a:rPr>
              <a:t>A</a:t>
            </a:r>
            <a:r>
              <a:rPr lang="zh-CN" altLang="en-US" sz="2400" dirty="0">
                <a:latin typeface="等线" panose="02010600030101010101" pitchFamily="2" charset="-122"/>
                <a:ea typeface="等线" panose="02010600030101010101" pitchFamily="2" charset="-122"/>
              </a:rPr>
              <a:t>广播包含</a:t>
            </a:r>
            <a:r>
              <a:rPr lang="en-US" altLang="zh-CN" sz="2400" dirty="0">
                <a:latin typeface="等线" panose="02010600030101010101" pitchFamily="2" charset="-122"/>
                <a:ea typeface="等线" panose="02010600030101010101" pitchFamily="2" charset="-122"/>
              </a:rPr>
              <a:t>B</a:t>
            </a:r>
            <a:r>
              <a:rPr lang="zh-CN" altLang="en-US" sz="2400" dirty="0">
                <a:latin typeface="等线" panose="02010600030101010101" pitchFamily="2" charset="-122"/>
                <a:ea typeface="等线" panose="02010600030101010101" pitchFamily="2" charset="-122"/>
              </a:rPr>
              <a:t>的</a:t>
            </a:r>
            <a:r>
              <a:rPr lang="en-US" altLang="zh-CN" sz="2400" dirty="0">
                <a:latin typeface="等线" panose="02010600030101010101" pitchFamily="2" charset="-122"/>
                <a:ea typeface="等线" panose="02010600030101010101" pitchFamily="2" charset="-122"/>
              </a:rPr>
              <a:t>IP</a:t>
            </a:r>
            <a:r>
              <a:rPr lang="zh-CN" altLang="en-US" sz="2400" dirty="0">
                <a:latin typeface="等线" panose="02010600030101010101" pitchFamily="2" charset="-122"/>
                <a:ea typeface="等线" panose="02010600030101010101" pitchFamily="2" charset="-122"/>
              </a:rPr>
              <a:t>地址的</a:t>
            </a:r>
            <a:r>
              <a:rPr lang="en-US" altLang="zh-CN" sz="2400" dirty="0">
                <a:latin typeface="等线" panose="02010600030101010101" pitchFamily="2" charset="-122"/>
                <a:ea typeface="等线" panose="02010600030101010101" pitchFamily="2" charset="-122"/>
              </a:rPr>
              <a:t>ARP query</a:t>
            </a:r>
            <a:r>
              <a:rPr lang="zh-CN" altLang="en-US" sz="2400" dirty="0">
                <a:latin typeface="等线" panose="02010600030101010101" pitchFamily="2" charset="-122"/>
                <a:ea typeface="等线" panose="02010600030101010101" pitchFamily="2" charset="-122"/>
              </a:rPr>
              <a:t>数据包</a:t>
            </a:r>
            <a:endParaRPr lang="en-US" altLang="zh-CN" sz="2400" dirty="0">
              <a:latin typeface="等线" panose="02010600030101010101" pitchFamily="2" charset="-122"/>
              <a:ea typeface="等线" panose="02010600030101010101" pitchFamily="2" charset="-122"/>
            </a:endParaRPr>
          </a:p>
          <a:p>
            <a:pPr lvl="1">
              <a:lnSpc>
                <a:spcPct val="120000"/>
              </a:lnSpc>
              <a:buClr>
                <a:schemeClr val="tx1"/>
              </a:buClr>
            </a:pPr>
            <a:r>
              <a:rPr lang="zh-CN" altLang="en-US" sz="2200" dirty="0">
                <a:latin typeface="等线" panose="02010600030101010101" pitchFamily="2" charset="-122"/>
                <a:ea typeface="等线" panose="02010600030101010101" pitchFamily="2" charset="-122"/>
                <a:cs typeface="Times New Roman" panose="02020603050405020304" pitchFamily="18" charset="0"/>
              </a:rPr>
              <a:t>在局域网上的所有节点都可以接收到</a:t>
            </a:r>
            <a:r>
              <a:rPr lang="en-US" altLang="zh-CN" sz="2200" dirty="0">
                <a:latin typeface="等线" panose="02010600030101010101" pitchFamily="2" charset="-122"/>
                <a:ea typeface="等线" panose="02010600030101010101" pitchFamily="2" charset="-122"/>
                <a:cs typeface="Times New Roman" panose="02020603050405020304" pitchFamily="18" charset="0"/>
              </a:rPr>
              <a:t>ARP query</a:t>
            </a:r>
          </a:p>
          <a:p>
            <a:pPr>
              <a:lnSpc>
                <a:spcPct val="120000"/>
              </a:lnSpc>
              <a:buSzPct val="90000"/>
            </a:pPr>
            <a:r>
              <a:rPr lang="en-US" altLang="zh-CN" sz="2400" dirty="0">
                <a:latin typeface="等线" panose="02010600030101010101" pitchFamily="2" charset="-122"/>
                <a:ea typeface="等线" panose="02010600030101010101" pitchFamily="2" charset="-122"/>
              </a:rPr>
              <a:t>B</a:t>
            </a:r>
            <a:r>
              <a:rPr lang="zh-CN" altLang="en-US" sz="2400" dirty="0">
                <a:latin typeface="等线" panose="02010600030101010101" pitchFamily="2" charset="-122"/>
                <a:ea typeface="等线" panose="02010600030101010101" pitchFamily="2" charset="-122"/>
              </a:rPr>
              <a:t>接收到</a:t>
            </a:r>
            <a:r>
              <a:rPr lang="en-US" altLang="zh-CN" sz="2400" dirty="0">
                <a:latin typeface="等线" panose="02010600030101010101" pitchFamily="2" charset="-122"/>
                <a:ea typeface="等线" panose="02010600030101010101" pitchFamily="2" charset="-122"/>
              </a:rPr>
              <a:t>ARP query</a:t>
            </a:r>
            <a:r>
              <a:rPr lang="zh-CN" altLang="en-US" sz="2400" dirty="0">
                <a:latin typeface="等线" panose="02010600030101010101" pitchFamily="2" charset="-122"/>
                <a:ea typeface="等线" panose="02010600030101010101" pitchFamily="2" charset="-122"/>
              </a:rPr>
              <a:t>数据包后，将自己的</a:t>
            </a:r>
            <a:r>
              <a:rPr lang="en-US" altLang="zh-CN" sz="2400" dirty="0">
                <a:latin typeface="等线" panose="02010600030101010101" pitchFamily="2" charset="-122"/>
                <a:ea typeface="等线" panose="02010600030101010101" pitchFamily="2" charset="-122"/>
              </a:rPr>
              <a:t>MAC</a:t>
            </a:r>
            <a:r>
              <a:rPr lang="zh-CN" altLang="en-US" sz="2400" dirty="0">
                <a:latin typeface="等线" panose="02010600030101010101" pitchFamily="2" charset="-122"/>
                <a:ea typeface="等线" panose="02010600030101010101" pitchFamily="2" charset="-122"/>
              </a:rPr>
              <a:t>地址发送给</a:t>
            </a:r>
            <a:r>
              <a:rPr lang="en-US" altLang="zh-CN" sz="2400" dirty="0">
                <a:latin typeface="等线" panose="02010600030101010101" pitchFamily="2" charset="-122"/>
                <a:ea typeface="等线" panose="02010600030101010101" pitchFamily="2" charset="-122"/>
              </a:rPr>
              <a:t>A</a:t>
            </a:r>
          </a:p>
          <a:p>
            <a:pPr>
              <a:lnSpc>
                <a:spcPct val="120000"/>
              </a:lnSpc>
              <a:buSzPct val="90000"/>
            </a:pPr>
            <a:r>
              <a:rPr lang="en-US" altLang="zh-CN" sz="2400" dirty="0">
                <a:latin typeface="等线" panose="02010600030101010101" pitchFamily="2" charset="-122"/>
                <a:ea typeface="等线" panose="02010600030101010101" pitchFamily="2" charset="-122"/>
              </a:rPr>
              <a:t>A</a:t>
            </a:r>
            <a:r>
              <a:rPr lang="zh-CN" altLang="en-US" sz="2400" dirty="0">
                <a:latin typeface="等线" panose="02010600030101010101" pitchFamily="2" charset="-122"/>
                <a:ea typeface="等线" panose="02010600030101010101" pitchFamily="2" charset="-122"/>
              </a:rPr>
              <a:t>在</a:t>
            </a:r>
            <a:r>
              <a:rPr lang="en-US" altLang="zh-CN" sz="2400" dirty="0">
                <a:latin typeface="等线" panose="02010600030101010101" pitchFamily="2" charset="-122"/>
                <a:ea typeface="等线" panose="02010600030101010101" pitchFamily="2" charset="-122"/>
              </a:rPr>
              <a:t>ARP</a:t>
            </a:r>
            <a:r>
              <a:rPr lang="zh-CN" altLang="en-US" sz="2400" dirty="0">
                <a:latin typeface="等线" panose="02010600030101010101" pitchFamily="2" charset="-122"/>
                <a:ea typeface="等线" panose="02010600030101010101" pitchFamily="2" charset="-122"/>
              </a:rPr>
              <a:t>表中缓存</a:t>
            </a:r>
            <a:r>
              <a:rPr lang="en-US" altLang="zh-CN" sz="2400" dirty="0">
                <a:latin typeface="等线" panose="02010600030101010101" pitchFamily="2" charset="-122"/>
                <a:ea typeface="等线" panose="02010600030101010101" pitchFamily="2" charset="-122"/>
              </a:rPr>
              <a:t>B</a:t>
            </a:r>
            <a:r>
              <a:rPr lang="zh-CN" altLang="en-US" sz="2400" dirty="0">
                <a:latin typeface="等线" panose="02010600030101010101" pitchFamily="2" charset="-122"/>
                <a:ea typeface="等线" panose="02010600030101010101" pitchFamily="2" charset="-122"/>
              </a:rPr>
              <a:t>的</a:t>
            </a:r>
            <a:r>
              <a:rPr lang="en-US" altLang="zh-CN" sz="2400" dirty="0">
                <a:latin typeface="等线" panose="02010600030101010101" pitchFamily="2" charset="-122"/>
                <a:ea typeface="等线" panose="02010600030101010101" pitchFamily="2" charset="-122"/>
              </a:rPr>
              <a:t>IP</a:t>
            </a:r>
            <a:r>
              <a:rPr lang="zh-CN" altLang="en-US" sz="2400" dirty="0">
                <a:latin typeface="等线" panose="02010600030101010101" pitchFamily="2" charset="-122"/>
                <a:ea typeface="等线" panose="02010600030101010101" pitchFamily="2" charset="-122"/>
              </a:rPr>
              <a:t>地址和</a:t>
            </a:r>
            <a:r>
              <a:rPr lang="en-US" altLang="zh-CN" sz="2400" dirty="0">
                <a:latin typeface="等线" panose="02010600030101010101" pitchFamily="2" charset="-122"/>
                <a:ea typeface="等线" panose="02010600030101010101" pitchFamily="2" charset="-122"/>
              </a:rPr>
              <a:t>MAC</a:t>
            </a:r>
            <a:r>
              <a:rPr lang="zh-CN" altLang="en-US" sz="2400" dirty="0">
                <a:latin typeface="等线" panose="02010600030101010101" pitchFamily="2" charset="-122"/>
                <a:ea typeface="等线" panose="02010600030101010101" pitchFamily="2" charset="-122"/>
              </a:rPr>
              <a:t>地址的映射关系</a:t>
            </a:r>
            <a:endParaRPr lang="en-US" altLang="zh-CN" sz="2400" dirty="0">
              <a:latin typeface="等线" panose="02010600030101010101" pitchFamily="2" charset="-122"/>
              <a:ea typeface="等线" panose="02010600030101010101" pitchFamily="2" charset="-122"/>
            </a:endParaRPr>
          </a:p>
          <a:p>
            <a:pPr lvl="1">
              <a:lnSpc>
                <a:spcPct val="120000"/>
              </a:lnSpc>
              <a:buClr>
                <a:schemeClr val="tx1"/>
              </a:buClr>
            </a:pPr>
            <a:r>
              <a:rPr lang="zh-CN" altLang="en-US" sz="2200" dirty="0">
                <a:latin typeface="等线" panose="02010600030101010101" pitchFamily="2" charset="-122"/>
                <a:ea typeface="等线" panose="02010600030101010101" pitchFamily="2" charset="-122"/>
                <a:cs typeface="Times New Roman" panose="02020603050405020304" pitchFamily="18" charset="0"/>
              </a:rPr>
              <a:t>超时删除</a:t>
            </a:r>
            <a:endParaRPr lang="en-US" altLang="zh-CN" sz="2200"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33</a:t>
            </a:fld>
            <a:endParaRPr kumimoji="1" lang="zh-CN" altLang="en-US" dirty="0"/>
          </a:p>
        </p:txBody>
      </p:sp>
      <p:sp>
        <p:nvSpPr>
          <p:cNvPr id="5" name="日期占位符 4"/>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5.2.4 ARP</a:t>
            </a:r>
            <a:endParaRPr kumimoji="1"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116418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ARP</a:t>
            </a:r>
            <a:r>
              <a:rPr lang="zh-CN" altLang="en-US" dirty="0"/>
              <a:t>协议工作过程</a:t>
            </a:r>
            <a:endParaRPr lang="zh-CN" altLang="en-US" sz="3200"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34</a:t>
            </a:fld>
            <a:endParaRPr kumimoji="1" lang="zh-CN" altLang="en-US" dirty="0"/>
          </a:p>
        </p:txBody>
      </p:sp>
      <p:sp>
        <p:nvSpPr>
          <p:cNvPr id="71" name="Line 74"/>
          <p:cNvSpPr>
            <a:spLocks noChangeShapeType="1"/>
          </p:cNvSpPr>
          <p:nvPr/>
        </p:nvSpPr>
        <p:spPr bwMode="auto">
          <a:xfrm rot="5400000">
            <a:off x="4421661" y="5298885"/>
            <a:ext cx="474783"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72" name="Line 75"/>
          <p:cNvSpPr>
            <a:spLocks noChangeShapeType="1"/>
          </p:cNvSpPr>
          <p:nvPr/>
        </p:nvSpPr>
        <p:spPr bwMode="auto">
          <a:xfrm rot="5400000">
            <a:off x="6186484" y="5291827"/>
            <a:ext cx="476067"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73" name="Line 76"/>
          <p:cNvSpPr>
            <a:spLocks noChangeShapeType="1"/>
          </p:cNvSpPr>
          <p:nvPr/>
        </p:nvSpPr>
        <p:spPr bwMode="auto">
          <a:xfrm rot="5400000">
            <a:off x="7703758" y="5298885"/>
            <a:ext cx="474783"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74" name="Line 77"/>
          <p:cNvSpPr>
            <a:spLocks noChangeShapeType="1"/>
          </p:cNvSpPr>
          <p:nvPr/>
        </p:nvSpPr>
        <p:spPr bwMode="auto">
          <a:xfrm rot="5400000">
            <a:off x="9492856" y="5298885"/>
            <a:ext cx="474783"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75" name="Line 78"/>
          <p:cNvSpPr>
            <a:spLocks noChangeShapeType="1"/>
          </p:cNvSpPr>
          <p:nvPr/>
        </p:nvSpPr>
        <p:spPr bwMode="auto">
          <a:xfrm rot="5400000">
            <a:off x="3276193" y="5298886"/>
            <a:ext cx="474783"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76" name="Line 8"/>
          <p:cNvSpPr>
            <a:spLocks noChangeShapeType="1"/>
          </p:cNvSpPr>
          <p:nvPr/>
        </p:nvSpPr>
        <p:spPr bwMode="auto">
          <a:xfrm rot="5400000">
            <a:off x="6166167" y="2906057"/>
            <a:ext cx="476065"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77" name="Line 9"/>
          <p:cNvSpPr>
            <a:spLocks noChangeShapeType="1"/>
          </p:cNvSpPr>
          <p:nvPr/>
        </p:nvSpPr>
        <p:spPr bwMode="auto">
          <a:xfrm rot="5400000">
            <a:off x="7683441" y="2913115"/>
            <a:ext cx="474783"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78" name="Line 10"/>
          <p:cNvSpPr>
            <a:spLocks noChangeShapeType="1"/>
          </p:cNvSpPr>
          <p:nvPr/>
        </p:nvSpPr>
        <p:spPr bwMode="auto">
          <a:xfrm rot="5400000">
            <a:off x="9472537" y="2913115"/>
            <a:ext cx="474783"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79" name="Line 11"/>
          <p:cNvSpPr>
            <a:spLocks noChangeShapeType="1"/>
          </p:cNvSpPr>
          <p:nvPr/>
        </p:nvSpPr>
        <p:spPr bwMode="auto">
          <a:xfrm rot="5400000">
            <a:off x="3255876" y="2913115"/>
            <a:ext cx="474783"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80" name="Line 16"/>
          <p:cNvSpPr>
            <a:spLocks noChangeShapeType="1"/>
          </p:cNvSpPr>
          <p:nvPr/>
        </p:nvSpPr>
        <p:spPr bwMode="auto">
          <a:xfrm>
            <a:off x="2826004" y="2675726"/>
            <a:ext cx="7516435" cy="16681"/>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81" name="Text Box 56"/>
          <p:cNvSpPr txBox="1">
            <a:spLocks noChangeArrowheads="1"/>
          </p:cNvSpPr>
          <p:nvPr/>
        </p:nvSpPr>
        <p:spPr bwMode="auto">
          <a:xfrm>
            <a:off x="7886080" y="2770680"/>
            <a:ext cx="1078174"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latin typeface="等线" panose="02010600030101010101" pitchFamily="2" charset="-122"/>
                <a:ea typeface="等线" panose="02010600030101010101" pitchFamily="2" charset="-122"/>
              </a:rPr>
              <a:t>209.0.0.6</a:t>
            </a:r>
          </a:p>
        </p:txBody>
      </p:sp>
      <p:grpSp>
        <p:nvGrpSpPr>
          <p:cNvPr id="82" name="组合 81"/>
          <p:cNvGrpSpPr/>
          <p:nvPr/>
        </p:nvGrpSpPr>
        <p:grpSpPr>
          <a:xfrm>
            <a:off x="3211893" y="3016412"/>
            <a:ext cx="6720993" cy="539449"/>
            <a:chOff x="2456122" y="1949511"/>
            <a:chExt cx="5040745" cy="404587"/>
          </a:xfrm>
        </p:grpSpPr>
        <p:pic>
          <p:nvPicPr>
            <p:cNvPr id="83"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56122"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12431"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4008"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6136"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92280" y="1949511"/>
              <a:ext cx="404587" cy="4045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8" name="组合 87"/>
          <p:cNvGrpSpPr/>
          <p:nvPr/>
        </p:nvGrpSpPr>
        <p:grpSpPr>
          <a:xfrm>
            <a:off x="3211893" y="5422527"/>
            <a:ext cx="6720993" cy="539449"/>
            <a:chOff x="2456122" y="1949511"/>
            <a:chExt cx="5040745" cy="404587"/>
          </a:xfrm>
        </p:grpSpPr>
        <p:pic>
          <p:nvPicPr>
            <p:cNvPr id="89"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56122"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12431"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4008"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796136" y="1949511"/>
              <a:ext cx="404587" cy="404587"/>
            </a:xfrm>
            <a:prstGeom prst="rect">
              <a:avLst/>
            </a:prstGeom>
            <a:noFill/>
            <a:extLst>
              <a:ext uri="{909E8E84-426E-40DD-AFC4-6F175D3DCCD1}">
                <a14:hiddenFill xmlns:a14="http://schemas.microsoft.com/office/drawing/2010/main">
                  <a:solidFill>
                    <a:srgbClr val="FFFFFF"/>
                  </a:solidFill>
                </a14:hiddenFill>
              </a:ext>
            </a:extLst>
          </p:spPr>
        </p:pic>
        <p:pic>
          <p:nvPicPr>
            <p:cNvPr id="93" name="Picture 246" descr="jisuanji"/>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092280" y="1949511"/>
              <a:ext cx="404587" cy="40458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4" name="Group 94"/>
          <p:cNvGrpSpPr>
            <a:grpSpLocks/>
          </p:cNvGrpSpPr>
          <p:nvPr/>
        </p:nvGrpSpPr>
        <p:grpSpPr bwMode="auto">
          <a:xfrm>
            <a:off x="6071425" y="4584143"/>
            <a:ext cx="1392911" cy="338764"/>
            <a:chOff x="249" y="627"/>
            <a:chExt cx="1002" cy="264"/>
          </a:xfrm>
          <a:solidFill>
            <a:srgbClr val="00FFFF"/>
          </a:solidFill>
        </p:grpSpPr>
        <p:sp>
          <p:nvSpPr>
            <p:cNvPr id="95" name="AutoShape 95"/>
            <p:cNvSpPr>
              <a:spLocks noChangeArrowheads="1"/>
            </p:cNvSpPr>
            <p:nvPr/>
          </p:nvSpPr>
          <p:spPr bwMode="auto">
            <a:xfrm flipH="1">
              <a:off x="249" y="709"/>
              <a:ext cx="138" cy="139"/>
            </a:xfrm>
            <a:prstGeom prst="rightArrow">
              <a:avLst>
                <a:gd name="adj1" fmla="val 50000"/>
                <a:gd name="adj2"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96" name="Text Box 96"/>
            <p:cNvSpPr txBox="1">
              <a:spLocks noChangeArrowheads="1"/>
            </p:cNvSpPr>
            <p:nvPr/>
          </p:nvSpPr>
          <p:spPr bwMode="auto">
            <a:xfrm flipH="1">
              <a:off x="386" y="627"/>
              <a:ext cx="865" cy="264"/>
            </a:xfrm>
            <a:prstGeom prst="rect">
              <a:avLst/>
            </a:prstGeom>
            <a:grpFill/>
            <a:ln w="12700">
              <a:solidFill>
                <a:schemeClr val="tx1"/>
              </a:solidFill>
              <a:miter lim="800000"/>
              <a:headEnd/>
              <a:tailEnd/>
            </a:ln>
            <a:effectLst/>
          </p:spPr>
          <p:txBody>
            <a:bodyPr>
              <a:spAutoFit/>
            </a:bodyPr>
            <a:lstStyle/>
            <a:p>
              <a:pPr algn="ctr"/>
              <a:r>
                <a:rPr kumimoji="1" lang="en-US" altLang="zh-CN" sz="1600" b="1" dirty="0">
                  <a:latin typeface="等线" panose="02010600030101010101" pitchFamily="2" charset="-122"/>
                  <a:ea typeface="等线" panose="02010600030101010101" pitchFamily="2" charset="-122"/>
                </a:rPr>
                <a:t>ARP </a:t>
              </a:r>
              <a:r>
                <a:rPr kumimoji="1" lang="zh-CN" altLang="en-US" sz="1600" b="1" dirty="0">
                  <a:latin typeface="等线" panose="02010600030101010101" pitchFamily="2" charset="-122"/>
                  <a:ea typeface="等线" panose="02010600030101010101" pitchFamily="2" charset="-122"/>
                </a:rPr>
                <a:t>响应</a:t>
              </a:r>
            </a:p>
          </p:txBody>
        </p:sp>
      </p:grpSp>
      <p:sp>
        <p:nvSpPr>
          <p:cNvPr id="97" name="Line 7"/>
          <p:cNvSpPr>
            <a:spLocks noChangeShapeType="1"/>
          </p:cNvSpPr>
          <p:nvPr/>
        </p:nvSpPr>
        <p:spPr bwMode="auto">
          <a:xfrm rot="5400000">
            <a:off x="4401342" y="2913115"/>
            <a:ext cx="474783" cy="0"/>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98" name="Text Box 17"/>
          <p:cNvSpPr txBox="1">
            <a:spLocks noChangeArrowheads="1"/>
          </p:cNvSpPr>
          <p:nvPr/>
        </p:nvSpPr>
        <p:spPr bwMode="auto">
          <a:xfrm>
            <a:off x="4812500" y="3088916"/>
            <a:ext cx="384073"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A</a:t>
            </a:r>
          </a:p>
        </p:txBody>
      </p:sp>
      <p:sp>
        <p:nvSpPr>
          <p:cNvPr id="99" name="Text Box 18"/>
          <p:cNvSpPr txBox="1">
            <a:spLocks noChangeArrowheads="1"/>
          </p:cNvSpPr>
          <p:nvPr/>
        </p:nvSpPr>
        <p:spPr bwMode="auto">
          <a:xfrm>
            <a:off x="6554332" y="2988825"/>
            <a:ext cx="379265"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Y</a:t>
            </a:r>
          </a:p>
        </p:txBody>
      </p:sp>
      <p:sp>
        <p:nvSpPr>
          <p:cNvPr id="100" name="Text Box 19"/>
          <p:cNvSpPr txBox="1">
            <a:spLocks noChangeArrowheads="1"/>
          </p:cNvSpPr>
          <p:nvPr/>
        </p:nvSpPr>
        <p:spPr bwMode="auto">
          <a:xfrm>
            <a:off x="3650350" y="2988825"/>
            <a:ext cx="372853"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X</a:t>
            </a:r>
          </a:p>
        </p:txBody>
      </p:sp>
      <p:sp>
        <p:nvSpPr>
          <p:cNvPr id="101" name="Text Box 20"/>
          <p:cNvSpPr txBox="1">
            <a:spLocks noChangeArrowheads="1"/>
          </p:cNvSpPr>
          <p:nvPr/>
        </p:nvSpPr>
        <p:spPr bwMode="auto">
          <a:xfrm>
            <a:off x="8077915" y="3088916"/>
            <a:ext cx="369647"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B</a:t>
            </a:r>
          </a:p>
        </p:txBody>
      </p:sp>
      <p:sp>
        <p:nvSpPr>
          <p:cNvPr id="102" name="Text Box 21"/>
          <p:cNvSpPr txBox="1">
            <a:spLocks noChangeArrowheads="1"/>
          </p:cNvSpPr>
          <p:nvPr/>
        </p:nvSpPr>
        <p:spPr bwMode="auto">
          <a:xfrm>
            <a:off x="9872572" y="2988825"/>
            <a:ext cx="379265"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Z</a:t>
            </a:r>
          </a:p>
        </p:txBody>
      </p:sp>
      <p:sp>
        <p:nvSpPr>
          <p:cNvPr id="103" name="Text Box 45"/>
          <p:cNvSpPr txBox="1">
            <a:spLocks noChangeArrowheads="1"/>
          </p:cNvSpPr>
          <p:nvPr/>
        </p:nvSpPr>
        <p:spPr bwMode="auto">
          <a:xfrm>
            <a:off x="1251731" y="3907294"/>
            <a:ext cx="2809423" cy="787904"/>
          </a:xfrm>
          <a:prstGeom prst="rect">
            <a:avLst/>
          </a:prstGeom>
          <a:solidFill>
            <a:schemeClr val="bg1"/>
          </a:solidFill>
          <a:ln w="9525">
            <a:solidFill>
              <a:schemeClr val="tx2"/>
            </a:solidFill>
            <a:miter lim="800000"/>
            <a:headEnd/>
            <a:tailEnd/>
          </a:ln>
          <a:effectLst/>
        </p:spPr>
        <p:txBody>
          <a:bodyPr wrap="square" lIns="121917" tIns="60958" rIns="121917" bIns="60958">
            <a:spAutoFit/>
          </a:bodyPr>
          <a:lstStyle/>
          <a:p>
            <a:pPr algn="ctr">
              <a:lnSpc>
                <a:spcPct val="90000"/>
              </a:lnSpc>
            </a:pPr>
            <a:r>
              <a:rPr kumimoji="1" lang="zh-CN" altLang="en-US" sz="2400" dirty="0">
                <a:solidFill>
                  <a:srgbClr val="C00000"/>
                </a:solidFill>
                <a:latin typeface="等线" panose="02010600030101010101" pitchFamily="2" charset="-122"/>
                <a:ea typeface="等线" panose="02010600030101010101" pitchFamily="2" charset="-122"/>
              </a:rPr>
              <a:t>主机</a:t>
            </a:r>
            <a:r>
              <a:rPr kumimoji="1" lang="en-US" altLang="zh-CN" sz="2400" dirty="0">
                <a:solidFill>
                  <a:srgbClr val="C00000"/>
                </a:solidFill>
                <a:latin typeface="等线" panose="02010600030101010101" pitchFamily="2" charset="-122"/>
                <a:ea typeface="等线" panose="02010600030101010101" pitchFamily="2" charset="-122"/>
              </a:rPr>
              <a:t>B</a:t>
            </a:r>
            <a:r>
              <a:rPr kumimoji="1" lang="zh-CN" altLang="en-US" sz="2400" dirty="0">
                <a:solidFill>
                  <a:srgbClr val="C00000"/>
                </a:solidFill>
                <a:latin typeface="等线" panose="02010600030101010101" pitchFamily="2" charset="-122"/>
                <a:ea typeface="等线" panose="02010600030101010101" pitchFamily="2" charset="-122"/>
              </a:rPr>
              <a:t>向</a:t>
            </a:r>
            <a:r>
              <a:rPr kumimoji="1" lang="en-US" altLang="zh-CN" sz="2400" dirty="0">
                <a:solidFill>
                  <a:srgbClr val="C00000"/>
                </a:solidFill>
                <a:latin typeface="等线" panose="02010600030101010101" pitchFamily="2" charset="-122"/>
                <a:ea typeface="等线" panose="02010600030101010101" pitchFamily="2" charset="-122"/>
              </a:rPr>
              <a:t>A</a:t>
            </a:r>
            <a:r>
              <a:rPr kumimoji="1" lang="zh-CN" altLang="en-US" sz="2400" dirty="0">
                <a:solidFill>
                  <a:srgbClr val="C00000"/>
                </a:solidFill>
                <a:latin typeface="等线" panose="02010600030101010101" pitchFamily="2" charset="-122"/>
                <a:ea typeface="等线" panose="02010600030101010101" pitchFamily="2" charset="-122"/>
              </a:rPr>
              <a:t>单播发送</a:t>
            </a:r>
            <a:r>
              <a:rPr kumimoji="1" lang="en-US" altLang="zh-CN" sz="2400" dirty="0">
                <a:solidFill>
                  <a:srgbClr val="C00000"/>
                </a:solidFill>
                <a:latin typeface="等线" panose="02010600030101010101" pitchFamily="2" charset="-122"/>
                <a:ea typeface="等线" panose="02010600030101010101" pitchFamily="2" charset="-122"/>
              </a:rPr>
              <a:t>ARP </a:t>
            </a:r>
            <a:r>
              <a:rPr kumimoji="1" lang="zh-CN" altLang="en-US" sz="2400" dirty="0">
                <a:solidFill>
                  <a:srgbClr val="C00000"/>
                </a:solidFill>
                <a:latin typeface="等线" panose="02010600030101010101" pitchFamily="2" charset="-122"/>
                <a:ea typeface="等线" panose="02010600030101010101" pitchFamily="2" charset="-122"/>
              </a:rPr>
              <a:t>响应数据包 </a:t>
            </a:r>
          </a:p>
        </p:txBody>
      </p:sp>
      <p:sp>
        <p:nvSpPr>
          <p:cNvPr id="104" name="Text Box 46"/>
          <p:cNvSpPr txBox="1">
            <a:spLocks noChangeArrowheads="1"/>
          </p:cNvSpPr>
          <p:nvPr/>
        </p:nvSpPr>
        <p:spPr bwMode="auto">
          <a:xfrm>
            <a:off x="1252800" y="1408350"/>
            <a:ext cx="2492023" cy="787904"/>
          </a:xfrm>
          <a:prstGeom prst="rect">
            <a:avLst/>
          </a:prstGeom>
          <a:solidFill>
            <a:schemeClr val="bg1"/>
          </a:solidFill>
          <a:ln w="9525">
            <a:solidFill>
              <a:schemeClr val="tx2"/>
            </a:solidFill>
            <a:miter lim="800000"/>
            <a:headEnd/>
            <a:tailEnd/>
          </a:ln>
          <a:effectLst/>
        </p:spPr>
        <p:txBody>
          <a:bodyPr wrap="none" lIns="121917" tIns="60958" rIns="121917" bIns="60958">
            <a:spAutoFit/>
          </a:bodyPr>
          <a:lstStyle/>
          <a:p>
            <a:pPr algn="ctr">
              <a:lnSpc>
                <a:spcPct val="90000"/>
              </a:lnSpc>
            </a:pPr>
            <a:r>
              <a:rPr kumimoji="1" lang="zh-CN" altLang="en-US" sz="2400" dirty="0">
                <a:solidFill>
                  <a:srgbClr val="C00000"/>
                </a:solidFill>
                <a:latin typeface="等线" panose="02010600030101010101" pitchFamily="2" charset="-122"/>
                <a:ea typeface="等线" panose="02010600030101010101" pitchFamily="2" charset="-122"/>
              </a:rPr>
              <a:t>主机 </a:t>
            </a:r>
            <a:r>
              <a:rPr kumimoji="1" lang="en-US" altLang="zh-CN" sz="2400" dirty="0">
                <a:solidFill>
                  <a:srgbClr val="C00000"/>
                </a:solidFill>
                <a:latin typeface="等线" panose="02010600030101010101" pitchFamily="2" charset="-122"/>
                <a:ea typeface="等线" panose="02010600030101010101" pitchFamily="2" charset="-122"/>
              </a:rPr>
              <a:t>A </a:t>
            </a:r>
            <a:r>
              <a:rPr kumimoji="1" lang="zh-CN" altLang="en-US" sz="2400" dirty="0">
                <a:solidFill>
                  <a:srgbClr val="C00000"/>
                </a:solidFill>
                <a:latin typeface="等线" panose="02010600030101010101" pitchFamily="2" charset="-122"/>
                <a:ea typeface="等线" panose="02010600030101010101" pitchFamily="2" charset="-122"/>
              </a:rPr>
              <a:t>广播发送</a:t>
            </a:r>
          </a:p>
          <a:p>
            <a:pPr algn="ctr">
              <a:lnSpc>
                <a:spcPct val="90000"/>
              </a:lnSpc>
            </a:pPr>
            <a:r>
              <a:rPr kumimoji="1" lang="en-US" altLang="zh-CN" sz="2400" dirty="0">
                <a:solidFill>
                  <a:srgbClr val="C00000"/>
                </a:solidFill>
                <a:latin typeface="等线" panose="02010600030101010101" pitchFamily="2" charset="-122"/>
                <a:ea typeface="等线" panose="02010600030101010101" pitchFamily="2" charset="-122"/>
              </a:rPr>
              <a:t>ARP </a:t>
            </a:r>
            <a:r>
              <a:rPr kumimoji="1" lang="zh-CN" altLang="en-US" sz="2400" dirty="0">
                <a:solidFill>
                  <a:srgbClr val="C00000"/>
                </a:solidFill>
                <a:latin typeface="等线" panose="02010600030101010101" pitchFamily="2" charset="-122"/>
                <a:ea typeface="等线" panose="02010600030101010101" pitchFamily="2" charset="-122"/>
              </a:rPr>
              <a:t>请求数据包 </a:t>
            </a:r>
          </a:p>
        </p:txBody>
      </p:sp>
      <p:sp>
        <p:nvSpPr>
          <p:cNvPr id="105" name="Text Box 48"/>
          <p:cNvSpPr txBox="1">
            <a:spLocks noChangeArrowheads="1"/>
          </p:cNvSpPr>
          <p:nvPr/>
        </p:nvSpPr>
        <p:spPr bwMode="auto">
          <a:xfrm>
            <a:off x="4909286" y="2235588"/>
            <a:ext cx="1099013" cy="369328"/>
          </a:xfrm>
          <a:prstGeom prst="rect">
            <a:avLst/>
          </a:prstGeom>
          <a:solidFill>
            <a:srgbClr val="99FFCC"/>
          </a:solidFill>
          <a:ln w="12700">
            <a:solidFill>
              <a:schemeClr val="tx1"/>
            </a:solidFill>
            <a:miter lim="800000"/>
            <a:headEnd/>
            <a:tailEnd/>
          </a:ln>
          <a:effectLst/>
        </p:spPr>
        <p:txBody>
          <a:bodyPr wrap="none" lIns="121917" tIns="60958" rIns="121917" bIns="60958">
            <a:spAutoFit/>
          </a:bodyPr>
          <a:lstStyle/>
          <a:p>
            <a:pPr algn="ctr"/>
            <a:r>
              <a:rPr kumimoji="1" lang="en-US" altLang="zh-CN" sz="1600" b="1" dirty="0">
                <a:latin typeface="等线" panose="02010600030101010101" pitchFamily="2" charset="-122"/>
                <a:ea typeface="等线" panose="02010600030101010101" pitchFamily="2" charset="-122"/>
              </a:rPr>
              <a:t>ARP </a:t>
            </a:r>
            <a:r>
              <a:rPr kumimoji="1" lang="zh-CN" altLang="en-US" sz="1600" b="1" dirty="0">
                <a:latin typeface="等线" panose="02010600030101010101" pitchFamily="2" charset="-122"/>
                <a:ea typeface="等线" panose="02010600030101010101" pitchFamily="2" charset="-122"/>
              </a:rPr>
              <a:t>请求</a:t>
            </a:r>
          </a:p>
        </p:txBody>
      </p:sp>
      <p:sp>
        <p:nvSpPr>
          <p:cNvPr id="106" name="AutoShape 49"/>
          <p:cNvSpPr>
            <a:spLocks noChangeArrowheads="1"/>
          </p:cNvSpPr>
          <p:nvPr/>
        </p:nvSpPr>
        <p:spPr bwMode="auto">
          <a:xfrm>
            <a:off x="6197070" y="2313863"/>
            <a:ext cx="190448" cy="165532"/>
          </a:xfrm>
          <a:prstGeom prst="rightArrow">
            <a:avLst>
              <a:gd name="adj1" fmla="val 50000"/>
              <a:gd name="adj2" fmla="val 26550"/>
            </a:avLst>
          </a:prstGeom>
          <a:solidFill>
            <a:srgbClr val="99FFCC"/>
          </a:solidFill>
          <a:ln w="9525">
            <a:solidFill>
              <a:schemeClr val="tx1"/>
            </a:solidFill>
            <a:miter lim="800000"/>
            <a:headEnd/>
            <a:tailEnd/>
          </a:ln>
          <a:effec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07" name="Text Box 50"/>
          <p:cNvSpPr txBox="1">
            <a:spLocks noChangeArrowheads="1"/>
          </p:cNvSpPr>
          <p:nvPr/>
        </p:nvSpPr>
        <p:spPr bwMode="auto">
          <a:xfrm>
            <a:off x="6594126" y="2235588"/>
            <a:ext cx="1099013" cy="369328"/>
          </a:xfrm>
          <a:prstGeom prst="rect">
            <a:avLst/>
          </a:prstGeom>
          <a:solidFill>
            <a:srgbClr val="99FFCC"/>
          </a:solidFill>
          <a:ln w="12700">
            <a:solidFill>
              <a:schemeClr val="tx1"/>
            </a:solidFill>
            <a:miter lim="800000"/>
            <a:headEnd/>
            <a:tailEnd/>
          </a:ln>
          <a:effectLst/>
        </p:spPr>
        <p:txBody>
          <a:bodyPr wrap="none" lIns="121917" tIns="60958" rIns="121917" bIns="60958">
            <a:spAutoFit/>
          </a:bodyPr>
          <a:lstStyle/>
          <a:p>
            <a:pPr algn="ctr"/>
            <a:r>
              <a:rPr kumimoji="1" lang="en-US" altLang="zh-CN" sz="1600" b="1" dirty="0">
                <a:latin typeface="等线" panose="02010600030101010101" pitchFamily="2" charset="-122"/>
                <a:ea typeface="等线" panose="02010600030101010101" pitchFamily="2" charset="-122"/>
              </a:rPr>
              <a:t>ARP </a:t>
            </a:r>
            <a:r>
              <a:rPr kumimoji="1" lang="zh-CN" altLang="en-US" sz="1600" b="1" dirty="0">
                <a:latin typeface="等线" panose="02010600030101010101" pitchFamily="2" charset="-122"/>
                <a:ea typeface="等线" panose="02010600030101010101" pitchFamily="2" charset="-122"/>
              </a:rPr>
              <a:t>请求</a:t>
            </a:r>
          </a:p>
        </p:txBody>
      </p:sp>
      <p:sp>
        <p:nvSpPr>
          <p:cNvPr id="108" name="AutoShape 51"/>
          <p:cNvSpPr>
            <a:spLocks noChangeArrowheads="1"/>
          </p:cNvSpPr>
          <p:nvPr/>
        </p:nvSpPr>
        <p:spPr bwMode="auto">
          <a:xfrm>
            <a:off x="7855494" y="2334393"/>
            <a:ext cx="190448" cy="178364"/>
          </a:xfrm>
          <a:prstGeom prst="rightArrow">
            <a:avLst>
              <a:gd name="adj1" fmla="val 50000"/>
              <a:gd name="adj2" fmla="val 25000"/>
            </a:avLst>
          </a:prstGeom>
          <a:solidFill>
            <a:srgbClr val="99FFCC"/>
          </a:solidFill>
          <a:ln w="9525">
            <a:solidFill>
              <a:schemeClr val="tx1"/>
            </a:solidFill>
            <a:miter lim="800000"/>
            <a:headEnd/>
            <a:tailEnd/>
          </a:ln>
          <a:effec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09" name="Text Box 52"/>
          <p:cNvSpPr txBox="1">
            <a:spLocks noChangeArrowheads="1"/>
          </p:cNvSpPr>
          <p:nvPr/>
        </p:nvSpPr>
        <p:spPr bwMode="auto">
          <a:xfrm>
            <a:off x="8245599" y="2235588"/>
            <a:ext cx="1099013" cy="369328"/>
          </a:xfrm>
          <a:prstGeom prst="rect">
            <a:avLst/>
          </a:prstGeom>
          <a:solidFill>
            <a:srgbClr val="99FFCC"/>
          </a:solidFill>
          <a:ln w="12700">
            <a:solidFill>
              <a:schemeClr val="tx1"/>
            </a:solidFill>
            <a:miter lim="800000"/>
            <a:headEnd/>
            <a:tailEnd/>
          </a:ln>
          <a:effectLst/>
        </p:spPr>
        <p:txBody>
          <a:bodyPr wrap="none" lIns="121917" tIns="60958" rIns="121917" bIns="60958">
            <a:spAutoFit/>
          </a:bodyPr>
          <a:lstStyle/>
          <a:p>
            <a:pPr algn="ctr"/>
            <a:r>
              <a:rPr kumimoji="1" lang="en-US" altLang="zh-CN" sz="1600" b="1" dirty="0">
                <a:latin typeface="等线" panose="02010600030101010101" pitchFamily="2" charset="-122"/>
                <a:ea typeface="等线" panose="02010600030101010101" pitchFamily="2" charset="-122"/>
              </a:rPr>
              <a:t>ARP </a:t>
            </a:r>
            <a:r>
              <a:rPr kumimoji="1" lang="zh-CN" altLang="en-US" sz="1600" b="1" dirty="0">
                <a:latin typeface="等线" panose="02010600030101010101" pitchFamily="2" charset="-122"/>
                <a:ea typeface="等线" panose="02010600030101010101" pitchFamily="2" charset="-122"/>
              </a:rPr>
              <a:t>请求</a:t>
            </a:r>
          </a:p>
        </p:txBody>
      </p:sp>
      <p:sp>
        <p:nvSpPr>
          <p:cNvPr id="110" name="AutoShape 53"/>
          <p:cNvSpPr>
            <a:spLocks noChangeArrowheads="1"/>
          </p:cNvSpPr>
          <p:nvPr/>
        </p:nvSpPr>
        <p:spPr bwMode="auto">
          <a:xfrm>
            <a:off x="9525042" y="2304879"/>
            <a:ext cx="190448" cy="178365"/>
          </a:xfrm>
          <a:prstGeom prst="rightArrow">
            <a:avLst>
              <a:gd name="adj1" fmla="val 50000"/>
              <a:gd name="adj2" fmla="val 25000"/>
            </a:avLst>
          </a:prstGeom>
          <a:solidFill>
            <a:srgbClr val="99FFCC"/>
          </a:solidFill>
          <a:ln w="9525">
            <a:solidFill>
              <a:schemeClr val="tx1"/>
            </a:solidFill>
            <a:miter lim="800000"/>
            <a:headEnd/>
            <a:tailEnd/>
          </a:ln>
          <a:effectLst/>
        </p:spPr>
        <p:txBody>
          <a:bodyPr wrap="none" lIns="121917" tIns="60958" rIns="121917" bIns="60958"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grpSp>
        <p:nvGrpSpPr>
          <p:cNvPr id="111" name="Group 93"/>
          <p:cNvGrpSpPr>
            <a:grpSpLocks/>
          </p:cNvGrpSpPr>
          <p:nvPr/>
        </p:nvGrpSpPr>
        <p:grpSpPr bwMode="auto">
          <a:xfrm>
            <a:off x="3172146" y="2245854"/>
            <a:ext cx="1392911" cy="338764"/>
            <a:chOff x="249" y="663"/>
            <a:chExt cx="1002" cy="264"/>
          </a:xfrm>
          <a:solidFill>
            <a:srgbClr val="99FFCC"/>
          </a:solidFill>
        </p:grpSpPr>
        <p:sp>
          <p:nvSpPr>
            <p:cNvPr id="112" name="AutoShape 5"/>
            <p:cNvSpPr>
              <a:spLocks noChangeArrowheads="1"/>
            </p:cNvSpPr>
            <p:nvPr/>
          </p:nvSpPr>
          <p:spPr bwMode="auto">
            <a:xfrm flipH="1">
              <a:off x="249" y="709"/>
              <a:ext cx="138" cy="139"/>
            </a:xfrm>
            <a:prstGeom prst="rightArrow">
              <a:avLst>
                <a:gd name="adj1" fmla="val 50000"/>
                <a:gd name="adj2" fmla="val 25000"/>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13" name="Text Box 54"/>
            <p:cNvSpPr txBox="1">
              <a:spLocks noChangeArrowheads="1"/>
            </p:cNvSpPr>
            <p:nvPr/>
          </p:nvSpPr>
          <p:spPr bwMode="auto">
            <a:xfrm flipH="1">
              <a:off x="386" y="663"/>
              <a:ext cx="865" cy="264"/>
            </a:xfrm>
            <a:prstGeom prst="rect">
              <a:avLst/>
            </a:prstGeom>
            <a:grp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kumimoji="1" lang="en-US" altLang="zh-CN" sz="1600" b="1" dirty="0">
                  <a:latin typeface="等线" panose="02010600030101010101" pitchFamily="2" charset="-122"/>
                  <a:ea typeface="等线" panose="02010600030101010101" pitchFamily="2" charset="-122"/>
                </a:rPr>
                <a:t>ARP </a:t>
              </a:r>
              <a:r>
                <a:rPr kumimoji="1" lang="zh-CN" altLang="en-US" sz="1600" b="1" dirty="0">
                  <a:latin typeface="等线" panose="02010600030101010101" pitchFamily="2" charset="-122"/>
                  <a:ea typeface="等线" panose="02010600030101010101" pitchFamily="2" charset="-122"/>
                </a:rPr>
                <a:t>请求</a:t>
              </a:r>
            </a:p>
          </p:txBody>
        </p:sp>
      </p:grpSp>
      <p:sp>
        <p:nvSpPr>
          <p:cNvPr id="114" name="Text Box 55"/>
          <p:cNvSpPr txBox="1">
            <a:spLocks noChangeArrowheads="1"/>
          </p:cNvSpPr>
          <p:nvPr/>
        </p:nvSpPr>
        <p:spPr bwMode="auto">
          <a:xfrm>
            <a:off x="4670709" y="2856655"/>
            <a:ext cx="1078174"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latin typeface="等线" panose="02010600030101010101" pitchFamily="2" charset="-122"/>
                <a:ea typeface="等线" panose="02010600030101010101" pitchFamily="2" charset="-122"/>
              </a:rPr>
              <a:t>209.0.0.5</a:t>
            </a:r>
          </a:p>
        </p:txBody>
      </p:sp>
      <p:sp>
        <p:nvSpPr>
          <p:cNvPr id="115" name="Text Box 57"/>
          <p:cNvSpPr txBox="1">
            <a:spLocks noChangeArrowheads="1"/>
          </p:cNvSpPr>
          <p:nvPr/>
        </p:nvSpPr>
        <p:spPr bwMode="auto">
          <a:xfrm>
            <a:off x="3543985" y="3474155"/>
            <a:ext cx="2197070"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latin typeface="等线" panose="02010600030101010101" pitchFamily="2" charset="-122"/>
                <a:ea typeface="等线" panose="02010600030101010101" pitchFamily="2" charset="-122"/>
              </a:rPr>
              <a:t>00-00-C0-15-AD-18</a:t>
            </a:r>
          </a:p>
        </p:txBody>
      </p:sp>
      <p:sp>
        <p:nvSpPr>
          <p:cNvPr id="116" name="Text Box 58"/>
          <p:cNvSpPr txBox="1">
            <a:spLocks noChangeArrowheads="1"/>
          </p:cNvSpPr>
          <p:nvPr/>
        </p:nvSpPr>
        <p:spPr bwMode="auto">
          <a:xfrm>
            <a:off x="6934186" y="5941615"/>
            <a:ext cx="2142568"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latin typeface="等线" panose="02010600030101010101" pitchFamily="2" charset="-122"/>
                <a:ea typeface="等线" panose="02010600030101010101" pitchFamily="2" charset="-122"/>
              </a:rPr>
              <a:t>08-00-2B-00-EE-0A</a:t>
            </a:r>
          </a:p>
        </p:txBody>
      </p:sp>
      <p:sp>
        <p:nvSpPr>
          <p:cNvPr id="117" name="AutoShape 59"/>
          <p:cNvSpPr>
            <a:spLocks noChangeArrowheads="1"/>
          </p:cNvSpPr>
          <p:nvPr/>
        </p:nvSpPr>
        <p:spPr bwMode="auto">
          <a:xfrm>
            <a:off x="5496445" y="1399901"/>
            <a:ext cx="4934663" cy="574111"/>
          </a:xfrm>
          <a:prstGeom prst="wedgeRoundRectCallout">
            <a:avLst>
              <a:gd name="adj1" fmla="val -53383"/>
              <a:gd name="adj2" fmla="val 101764"/>
              <a:gd name="adj3" fmla="val 16667"/>
            </a:avLst>
          </a:prstGeom>
          <a:solidFill>
            <a:srgbClr val="00FFFF"/>
          </a:solidFill>
          <a:ln w="9525">
            <a:solidFill>
              <a:schemeClr val="tx1"/>
            </a:solidFill>
            <a:miter lim="800000"/>
            <a:headEnd/>
            <a:tailEnd/>
          </a:ln>
          <a:effectLst/>
        </p:spPr>
        <p:txBody>
          <a:bodyPr lIns="121917" tIns="60958" rIns="121917" bIns="60958"/>
          <a:lstStyle/>
          <a:p>
            <a:pPr algn="ctr"/>
            <a:endParaRPr kumimoji="1" lang="zh-CN" altLang="zh-CN" sz="1600" b="1" dirty="0">
              <a:solidFill>
                <a:srgbClr val="0000CC"/>
              </a:solidFill>
              <a:latin typeface="等线" panose="02010600030101010101" pitchFamily="2" charset="-122"/>
              <a:ea typeface="等线" panose="02010600030101010101" pitchFamily="2" charset="-122"/>
            </a:endParaRPr>
          </a:p>
        </p:txBody>
      </p:sp>
      <p:sp>
        <p:nvSpPr>
          <p:cNvPr id="118" name="Text Box 60"/>
          <p:cNvSpPr txBox="1">
            <a:spLocks noChangeArrowheads="1"/>
          </p:cNvSpPr>
          <p:nvPr/>
        </p:nvSpPr>
        <p:spPr bwMode="auto">
          <a:xfrm>
            <a:off x="5571070" y="1375760"/>
            <a:ext cx="4933039" cy="677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21917" tIns="60958" rIns="121917" bIns="60958">
            <a:spAutoFit/>
          </a:bodyPr>
          <a:lstStyle/>
          <a:p>
            <a:r>
              <a:rPr kumimoji="1" lang="zh-CN" altLang="en-US" dirty="0">
                <a:latin typeface="等线" panose="02010600030101010101" pitchFamily="2" charset="-122"/>
                <a:ea typeface="等线" panose="02010600030101010101" pitchFamily="2" charset="-122"/>
              </a:rPr>
              <a:t>我是 </a:t>
            </a:r>
            <a:r>
              <a:rPr kumimoji="1" lang="en-US" altLang="zh-CN" dirty="0">
                <a:latin typeface="等线" panose="02010600030101010101" pitchFamily="2" charset="-122"/>
                <a:ea typeface="等线" panose="02010600030101010101" pitchFamily="2" charset="-122"/>
              </a:rPr>
              <a:t>209.0.0.5</a:t>
            </a:r>
            <a:r>
              <a:rPr kumimoji="1" lang="zh-CN" altLang="en-US" dirty="0">
                <a:latin typeface="等线" panose="02010600030101010101" pitchFamily="2" charset="-122"/>
                <a:ea typeface="等线" panose="02010600030101010101" pitchFamily="2" charset="-122"/>
              </a:rPr>
              <a:t>，硬件地址是 </a:t>
            </a:r>
            <a:r>
              <a:rPr kumimoji="1" lang="en-US" altLang="zh-CN" dirty="0">
                <a:latin typeface="等线" panose="02010600030101010101" pitchFamily="2" charset="-122"/>
                <a:ea typeface="等线" panose="02010600030101010101" pitchFamily="2" charset="-122"/>
              </a:rPr>
              <a:t>00-00-C0-15-AD-18</a:t>
            </a:r>
            <a:r>
              <a:rPr kumimoji="1" lang="zh-CN" altLang="en-US" dirty="0">
                <a:latin typeface="等线" panose="02010600030101010101" pitchFamily="2" charset="-122"/>
                <a:ea typeface="等线" panose="02010600030101010101" pitchFamily="2" charset="-122"/>
              </a:rPr>
              <a:t>，我想知道主机 </a:t>
            </a:r>
            <a:r>
              <a:rPr kumimoji="1" lang="en-US" altLang="zh-CN" dirty="0">
                <a:latin typeface="等线" panose="02010600030101010101" pitchFamily="2" charset="-122"/>
                <a:ea typeface="等线" panose="02010600030101010101" pitchFamily="2" charset="-122"/>
              </a:rPr>
              <a:t>209.0.0.6 </a:t>
            </a:r>
            <a:r>
              <a:rPr kumimoji="1" lang="zh-CN" altLang="en-US" dirty="0">
                <a:latin typeface="等线" panose="02010600030101010101" pitchFamily="2" charset="-122"/>
                <a:ea typeface="等线" panose="02010600030101010101" pitchFamily="2" charset="-122"/>
              </a:rPr>
              <a:t>的硬件地址</a:t>
            </a:r>
          </a:p>
        </p:txBody>
      </p:sp>
      <p:sp>
        <p:nvSpPr>
          <p:cNvPr id="119" name="AutoShape 61"/>
          <p:cNvSpPr>
            <a:spLocks noChangeArrowheads="1"/>
          </p:cNvSpPr>
          <p:nvPr/>
        </p:nvSpPr>
        <p:spPr bwMode="auto">
          <a:xfrm>
            <a:off x="7083440" y="3934847"/>
            <a:ext cx="3408599" cy="587704"/>
          </a:xfrm>
          <a:prstGeom prst="wedgeRoundRectCallout">
            <a:avLst>
              <a:gd name="adj1" fmla="val -41387"/>
              <a:gd name="adj2" fmla="val 83711"/>
              <a:gd name="adj3" fmla="val 16667"/>
            </a:avLst>
          </a:prstGeom>
          <a:solidFill>
            <a:srgbClr val="00FF99"/>
          </a:solidFill>
          <a:ln w="9525">
            <a:solidFill>
              <a:schemeClr val="tx1"/>
            </a:solidFill>
            <a:miter lim="800000"/>
            <a:headEnd/>
            <a:tailEnd/>
          </a:ln>
          <a:effectLst/>
        </p:spPr>
        <p:txBody>
          <a:bodyPr lIns="121917" tIns="60958" rIns="121917" bIns="60958"/>
          <a:lstStyle/>
          <a:p>
            <a:pPr algn="ctr"/>
            <a:endParaRPr kumimoji="1" lang="zh-CN" altLang="zh-CN" sz="1600" b="1" dirty="0">
              <a:solidFill>
                <a:srgbClr val="0000CC"/>
              </a:solidFill>
              <a:latin typeface="等线" panose="02010600030101010101" pitchFamily="2" charset="-122"/>
              <a:ea typeface="等线" panose="02010600030101010101" pitchFamily="2" charset="-122"/>
            </a:endParaRPr>
          </a:p>
        </p:txBody>
      </p:sp>
      <p:sp>
        <p:nvSpPr>
          <p:cNvPr id="120" name="Text Box 62"/>
          <p:cNvSpPr txBox="1">
            <a:spLocks noChangeArrowheads="1"/>
          </p:cNvSpPr>
          <p:nvPr/>
        </p:nvSpPr>
        <p:spPr bwMode="auto">
          <a:xfrm>
            <a:off x="7187327" y="3934847"/>
            <a:ext cx="3412768" cy="677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spAutoFit/>
          </a:bodyPr>
          <a:lstStyle/>
          <a:p>
            <a:r>
              <a:rPr kumimoji="1" lang="zh-CN" altLang="en-US" dirty="0">
                <a:latin typeface="等线" panose="02010600030101010101" pitchFamily="2" charset="-122"/>
                <a:ea typeface="等线" panose="02010600030101010101" pitchFamily="2" charset="-122"/>
              </a:rPr>
              <a:t>我是 </a:t>
            </a:r>
            <a:r>
              <a:rPr kumimoji="1" lang="en-US" altLang="zh-CN" dirty="0">
                <a:latin typeface="等线" panose="02010600030101010101" pitchFamily="2" charset="-122"/>
                <a:ea typeface="等线" panose="02010600030101010101" pitchFamily="2" charset="-122"/>
              </a:rPr>
              <a:t>209.0.0.6</a:t>
            </a:r>
            <a:r>
              <a:rPr kumimoji="1" lang="zh-CN" altLang="en-US" dirty="0">
                <a:latin typeface="等线" panose="02010600030101010101" pitchFamily="2" charset="-122"/>
                <a:ea typeface="等线" panose="02010600030101010101" pitchFamily="2" charset="-122"/>
              </a:rPr>
              <a:t>，硬件地址是 </a:t>
            </a:r>
            <a:r>
              <a:rPr kumimoji="1" lang="en-US" altLang="zh-CN" dirty="0">
                <a:latin typeface="等线" panose="02010600030101010101" pitchFamily="2" charset="-122"/>
                <a:ea typeface="等线" panose="02010600030101010101" pitchFamily="2" charset="-122"/>
              </a:rPr>
              <a:t>08-00-2B-00-EE-0A</a:t>
            </a:r>
          </a:p>
        </p:txBody>
      </p:sp>
      <p:sp>
        <p:nvSpPr>
          <p:cNvPr id="121" name="Line 83"/>
          <p:cNvSpPr>
            <a:spLocks noChangeShapeType="1"/>
          </p:cNvSpPr>
          <p:nvPr/>
        </p:nvSpPr>
        <p:spPr bwMode="auto">
          <a:xfrm>
            <a:off x="2846323" y="5061494"/>
            <a:ext cx="7516433" cy="16681"/>
          </a:xfrm>
          <a:prstGeom prst="line">
            <a:avLst/>
          </a:prstGeom>
          <a:noFill/>
          <a:ln w="38100">
            <a:solidFill>
              <a:srgbClr val="3399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22" name="Text Box 84"/>
          <p:cNvSpPr txBox="1">
            <a:spLocks noChangeArrowheads="1"/>
          </p:cNvSpPr>
          <p:nvPr/>
        </p:nvSpPr>
        <p:spPr bwMode="auto">
          <a:xfrm>
            <a:off x="4832819" y="5474684"/>
            <a:ext cx="384073"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A</a:t>
            </a:r>
          </a:p>
        </p:txBody>
      </p:sp>
      <p:sp>
        <p:nvSpPr>
          <p:cNvPr id="123" name="Text Box 85"/>
          <p:cNvSpPr txBox="1">
            <a:spLocks noChangeArrowheads="1"/>
          </p:cNvSpPr>
          <p:nvPr/>
        </p:nvSpPr>
        <p:spPr bwMode="auto">
          <a:xfrm>
            <a:off x="6574652" y="5374593"/>
            <a:ext cx="379265"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Y</a:t>
            </a:r>
          </a:p>
        </p:txBody>
      </p:sp>
      <p:sp>
        <p:nvSpPr>
          <p:cNvPr id="124" name="Text Box 86"/>
          <p:cNvSpPr txBox="1">
            <a:spLocks noChangeArrowheads="1"/>
          </p:cNvSpPr>
          <p:nvPr/>
        </p:nvSpPr>
        <p:spPr bwMode="auto">
          <a:xfrm>
            <a:off x="3670669" y="5374593"/>
            <a:ext cx="372853"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X</a:t>
            </a:r>
          </a:p>
        </p:txBody>
      </p:sp>
      <p:sp>
        <p:nvSpPr>
          <p:cNvPr id="125" name="Text Box 87"/>
          <p:cNvSpPr txBox="1">
            <a:spLocks noChangeArrowheads="1"/>
          </p:cNvSpPr>
          <p:nvPr/>
        </p:nvSpPr>
        <p:spPr bwMode="auto">
          <a:xfrm>
            <a:off x="8098234" y="5474684"/>
            <a:ext cx="369647"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B</a:t>
            </a:r>
          </a:p>
        </p:txBody>
      </p:sp>
      <p:sp>
        <p:nvSpPr>
          <p:cNvPr id="126" name="Text Box 88"/>
          <p:cNvSpPr txBox="1">
            <a:spLocks noChangeArrowheads="1"/>
          </p:cNvSpPr>
          <p:nvPr/>
        </p:nvSpPr>
        <p:spPr bwMode="auto">
          <a:xfrm>
            <a:off x="9892894" y="5374593"/>
            <a:ext cx="379265"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solidFill>
                  <a:srgbClr val="0000CC"/>
                </a:solidFill>
                <a:latin typeface="等线" panose="02010600030101010101" pitchFamily="2" charset="-122"/>
                <a:ea typeface="等线" panose="02010600030101010101" pitchFamily="2" charset="-122"/>
              </a:rPr>
              <a:t>Z</a:t>
            </a:r>
          </a:p>
        </p:txBody>
      </p:sp>
      <p:sp>
        <p:nvSpPr>
          <p:cNvPr id="127" name="Text Box 89"/>
          <p:cNvSpPr txBox="1">
            <a:spLocks noChangeArrowheads="1"/>
          </p:cNvSpPr>
          <p:nvPr/>
        </p:nvSpPr>
        <p:spPr bwMode="auto">
          <a:xfrm>
            <a:off x="4691026" y="5242425"/>
            <a:ext cx="1078174"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latin typeface="等线" panose="02010600030101010101" pitchFamily="2" charset="-122"/>
                <a:ea typeface="等线" panose="02010600030101010101" pitchFamily="2" charset="-122"/>
              </a:rPr>
              <a:t>209.0.0.5</a:t>
            </a:r>
          </a:p>
        </p:txBody>
      </p:sp>
      <p:sp>
        <p:nvSpPr>
          <p:cNvPr id="128" name="Text Box 91"/>
          <p:cNvSpPr txBox="1">
            <a:spLocks noChangeArrowheads="1"/>
          </p:cNvSpPr>
          <p:nvPr/>
        </p:nvSpPr>
        <p:spPr bwMode="auto">
          <a:xfrm>
            <a:off x="3453496" y="5968563"/>
            <a:ext cx="2197070"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latin typeface="等线" panose="02010600030101010101" pitchFamily="2" charset="-122"/>
                <a:ea typeface="等线" panose="02010600030101010101" pitchFamily="2" charset="-122"/>
              </a:rPr>
              <a:t>00-00-C0-15-AD-18</a:t>
            </a:r>
          </a:p>
        </p:txBody>
      </p:sp>
      <p:sp>
        <p:nvSpPr>
          <p:cNvPr id="129" name="Freeform 97"/>
          <p:cNvSpPr>
            <a:spLocks/>
          </p:cNvSpPr>
          <p:nvPr/>
        </p:nvSpPr>
        <p:spPr bwMode="auto">
          <a:xfrm>
            <a:off x="4623442" y="2738600"/>
            <a:ext cx="1701520" cy="555625"/>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30" name="Freeform 98"/>
          <p:cNvSpPr>
            <a:spLocks/>
          </p:cNvSpPr>
          <p:nvPr/>
        </p:nvSpPr>
        <p:spPr bwMode="auto">
          <a:xfrm>
            <a:off x="4622052" y="2738600"/>
            <a:ext cx="3216761" cy="555625"/>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31" name="Freeform 101"/>
          <p:cNvSpPr>
            <a:spLocks/>
          </p:cNvSpPr>
          <p:nvPr/>
        </p:nvSpPr>
        <p:spPr bwMode="auto">
          <a:xfrm>
            <a:off x="4622052" y="2738600"/>
            <a:ext cx="5108729" cy="555625"/>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32" name="Freeform 102"/>
          <p:cNvSpPr>
            <a:spLocks/>
          </p:cNvSpPr>
          <p:nvPr/>
        </p:nvSpPr>
        <p:spPr bwMode="auto">
          <a:xfrm flipH="1">
            <a:off x="3425150" y="2738600"/>
            <a:ext cx="1196901" cy="555625"/>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sp>
        <p:nvSpPr>
          <p:cNvPr id="133" name="Freeform 103"/>
          <p:cNvSpPr>
            <a:spLocks/>
          </p:cNvSpPr>
          <p:nvPr/>
        </p:nvSpPr>
        <p:spPr bwMode="auto">
          <a:xfrm flipH="1">
            <a:off x="4624299" y="5125654"/>
            <a:ext cx="3216761" cy="555625"/>
          </a:xfrm>
          <a:custGeom>
            <a:avLst/>
            <a:gdLst>
              <a:gd name="T0" fmla="*/ 6 w 1224"/>
              <a:gd name="T1" fmla="*/ 375 h 433"/>
              <a:gd name="T2" fmla="*/ 27 w 1224"/>
              <a:gd name="T3" fmla="*/ 126 h 433"/>
              <a:gd name="T4" fmla="*/ 171 w 1224"/>
              <a:gd name="T5" fmla="*/ 30 h 433"/>
              <a:gd name="T6" fmla="*/ 513 w 1224"/>
              <a:gd name="T7" fmla="*/ 3 h 433"/>
              <a:gd name="T8" fmla="*/ 852 w 1224"/>
              <a:gd name="T9" fmla="*/ 9 h 433"/>
              <a:gd name="T10" fmla="*/ 1041 w 1224"/>
              <a:gd name="T11" fmla="*/ 27 h 433"/>
              <a:gd name="T12" fmla="*/ 1167 w 1224"/>
              <a:gd name="T13" fmla="*/ 93 h 433"/>
              <a:gd name="T14" fmla="*/ 1215 w 1224"/>
              <a:gd name="T15" fmla="*/ 234 h 433"/>
              <a:gd name="T16" fmla="*/ 1224 w 1224"/>
              <a:gd name="T17" fmla="*/ 433 h 4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24" h="433">
                <a:moveTo>
                  <a:pt x="6" y="375"/>
                </a:moveTo>
                <a:cubicBezTo>
                  <a:pt x="9" y="334"/>
                  <a:pt x="0" y="183"/>
                  <a:pt x="27" y="126"/>
                </a:cubicBezTo>
                <a:cubicBezTo>
                  <a:pt x="54" y="69"/>
                  <a:pt x="90" y="50"/>
                  <a:pt x="171" y="30"/>
                </a:cubicBezTo>
                <a:cubicBezTo>
                  <a:pt x="252" y="10"/>
                  <a:pt x="400" y="6"/>
                  <a:pt x="513" y="3"/>
                </a:cubicBezTo>
                <a:cubicBezTo>
                  <a:pt x="626" y="0"/>
                  <a:pt x="764" y="5"/>
                  <a:pt x="852" y="9"/>
                </a:cubicBezTo>
                <a:cubicBezTo>
                  <a:pt x="940" y="13"/>
                  <a:pt x="989" y="13"/>
                  <a:pt x="1041" y="27"/>
                </a:cubicBezTo>
                <a:cubicBezTo>
                  <a:pt x="1093" y="41"/>
                  <a:pt x="1138" y="59"/>
                  <a:pt x="1167" y="93"/>
                </a:cubicBezTo>
                <a:cubicBezTo>
                  <a:pt x="1196" y="127"/>
                  <a:pt x="1206" y="177"/>
                  <a:pt x="1215" y="234"/>
                </a:cubicBezTo>
                <a:cubicBezTo>
                  <a:pt x="1224" y="291"/>
                  <a:pt x="1222" y="392"/>
                  <a:pt x="1224" y="433"/>
                </a:cubicBezTo>
              </a:path>
            </a:pathLst>
          </a:custGeom>
          <a:noFill/>
          <a:ln w="38100" cmpd="sng">
            <a:solidFill>
              <a:srgbClr val="CC00CC"/>
            </a:solidFill>
            <a:round/>
            <a:headEnd type="none" w="med" len="med"/>
            <a:tailEnd type="triangle" w="med"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121917" tIns="60958" rIns="121917" bIns="60958"/>
          <a:lstStyle/>
          <a:p>
            <a:endParaRPr lang="zh-CN" altLang="en-US" sz="1600" b="1" dirty="0">
              <a:solidFill>
                <a:srgbClr val="0000CC"/>
              </a:solidFill>
              <a:latin typeface="等线" panose="02010600030101010101" pitchFamily="2" charset="-122"/>
              <a:ea typeface="等线" panose="02010600030101010101" pitchFamily="2" charset="-122"/>
            </a:endParaRPr>
          </a:p>
        </p:txBody>
      </p:sp>
      <p:cxnSp>
        <p:nvCxnSpPr>
          <p:cNvPr id="134" name="直接连接符 133"/>
          <p:cNvCxnSpPr/>
          <p:nvPr/>
        </p:nvCxnSpPr>
        <p:spPr>
          <a:xfrm>
            <a:off x="922867" y="3794978"/>
            <a:ext cx="10058400" cy="0"/>
          </a:xfrm>
          <a:prstGeom prst="line">
            <a:avLst/>
          </a:prstGeom>
          <a:ln w="19050">
            <a:solidFill>
              <a:srgbClr val="0000FF"/>
            </a:solidFill>
          </a:ln>
        </p:spPr>
        <p:style>
          <a:lnRef idx="1">
            <a:schemeClr val="accent1"/>
          </a:lnRef>
          <a:fillRef idx="0">
            <a:schemeClr val="accent1"/>
          </a:fillRef>
          <a:effectRef idx="0">
            <a:schemeClr val="accent1"/>
          </a:effectRef>
          <a:fontRef idx="minor">
            <a:schemeClr val="tx1"/>
          </a:fontRef>
        </p:style>
      </p:cxnSp>
      <p:sp>
        <p:nvSpPr>
          <p:cNvPr id="135" name="Text Box 90"/>
          <p:cNvSpPr txBox="1">
            <a:spLocks noChangeArrowheads="1"/>
          </p:cNvSpPr>
          <p:nvPr/>
        </p:nvSpPr>
        <p:spPr bwMode="auto">
          <a:xfrm>
            <a:off x="7906396" y="5156451"/>
            <a:ext cx="1078174"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r>
              <a:rPr kumimoji="1" lang="en-US" altLang="zh-CN" sz="1600" b="1" dirty="0">
                <a:latin typeface="等线" panose="02010600030101010101" pitchFamily="2" charset="-122"/>
                <a:ea typeface="等线" panose="02010600030101010101" pitchFamily="2" charset="-122"/>
              </a:rPr>
              <a:t>209.0.0.6</a:t>
            </a:r>
          </a:p>
        </p:txBody>
      </p:sp>
      <p:sp>
        <p:nvSpPr>
          <p:cNvPr id="3" name="日期占位符 2"/>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5.2.4 ARP</a:t>
            </a:r>
            <a:endParaRPr kumimoji="1"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0905808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mph" presetSubtype="0" repeatCount="3000" fill="hold" grpId="0" nodeType="clickEffect">
                                  <p:stCondLst>
                                    <p:cond delay="0"/>
                                  </p:stCondLst>
                                  <p:childTnLst>
                                    <p:anim calcmode="discrete" valueType="str">
                                      <p:cBhvr>
                                        <p:cTn id="6" dur="1000" fill="hold"/>
                                        <p:tgtEl>
                                          <p:spTgt spid="104"/>
                                        </p:tgtEl>
                                        <p:attrNameLst>
                                          <p:attrName>style.visibility</p:attrName>
                                        </p:attrNameLst>
                                      </p:cBhvr>
                                      <p:tavLst>
                                        <p:tav tm="0">
                                          <p:val>
                                            <p:strVal val="hidden"/>
                                          </p:val>
                                        </p:tav>
                                        <p:tav tm="50000">
                                          <p:val>
                                            <p:strVal val="visible"/>
                                          </p:val>
                                        </p:tav>
                                      </p:tavLst>
                                    </p:anim>
                                  </p:childTnLst>
                                </p:cTn>
                              </p:par>
                            </p:childTnLst>
                          </p:cTn>
                        </p:par>
                        <p:par>
                          <p:cTn id="7" fill="hold">
                            <p:stCondLst>
                              <p:cond delay="3000"/>
                            </p:stCondLst>
                            <p:childTnLst>
                              <p:par>
                                <p:cTn id="8" presetID="22" presetClass="entr" presetSubtype="2" fill="hold" grpId="0" nodeType="afterEffect">
                                  <p:stCondLst>
                                    <p:cond delay="250"/>
                                  </p:stCondLst>
                                  <p:childTnLst>
                                    <p:set>
                                      <p:cBhvr>
                                        <p:cTn id="9" dur="1" fill="hold">
                                          <p:stCondLst>
                                            <p:cond delay="0"/>
                                          </p:stCondLst>
                                        </p:cTn>
                                        <p:tgtEl>
                                          <p:spTgt spid="132"/>
                                        </p:tgtEl>
                                        <p:attrNameLst>
                                          <p:attrName>style.visibility</p:attrName>
                                        </p:attrNameLst>
                                      </p:cBhvr>
                                      <p:to>
                                        <p:strVal val="visible"/>
                                      </p:to>
                                    </p:set>
                                    <p:animEffect transition="in" filter="wipe(right)">
                                      <p:cBhvr>
                                        <p:cTn id="10" dur="1000"/>
                                        <p:tgtEl>
                                          <p:spTgt spid="132"/>
                                        </p:tgtEl>
                                      </p:cBhvr>
                                    </p:animEffect>
                                  </p:childTnLst>
                                </p:cTn>
                              </p:par>
                              <p:par>
                                <p:cTn id="11" presetID="22" presetClass="entr" presetSubtype="8" fill="hold" grpId="0" nodeType="withEffect">
                                  <p:stCondLst>
                                    <p:cond delay="250"/>
                                  </p:stCondLst>
                                  <p:childTnLst>
                                    <p:set>
                                      <p:cBhvr>
                                        <p:cTn id="12" dur="1" fill="hold">
                                          <p:stCondLst>
                                            <p:cond delay="0"/>
                                          </p:stCondLst>
                                        </p:cTn>
                                        <p:tgtEl>
                                          <p:spTgt spid="129"/>
                                        </p:tgtEl>
                                        <p:attrNameLst>
                                          <p:attrName>style.visibility</p:attrName>
                                        </p:attrNameLst>
                                      </p:cBhvr>
                                      <p:to>
                                        <p:strVal val="visible"/>
                                      </p:to>
                                    </p:set>
                                    <p:animEffect transition="in" filter="wipe(left)">
                                      <p:cBhvr>
                                        <p:cTn id="13" dur="1000"/>
                                        <p:tgtEl>
                                          <p:spTgt spid="129"/>
                                        </p:tgtEl>
                                      </p:cBhvr>
                                    </p:animEffect>
                                  </p:childTnLst>
                                </p:cTn>
                              </p:par>
                              <p:par>
                                <p:cTn id="14" presetID="22" presetClass="entr" presetSubtype="8" fill="hold" grpId="0" nodeType="withEffect">
                                  <p:stCondLst>
                                    <p:cond delay="250"/>
                                  </p:stCondLst>
                                  <p:childTnLst>
                                    <p:set>
                                      <p:cBhvr>
                                        <p:cTn id="15" dur="1" fill="hold">
                                          <p:stCondLst>
                                            <p:cond delay="0"/>
                                          </p:stCondLst>
                                        </p:cTn>
                                        <p:tgtEl>
                                          <p:spTgt spid="130"/>
                                        </p:tgtEl>
                                        <p:attrNameLst>
                                          <p:attrName>style.visibility</p:attrName>
                                        </p:attrNameLst>
                                      </p:cBhvr>
                                      <p:to>
                                        <p:strVal val="visible"/>
                                      </p:to>
                                    </p:set>
                                    <p:animEffect transition="in" filter="wipe(left)">
                                      <p:cBhvr>
                                        <p:cTn id="16" dur="1250"/>
                                        <p:tgtEl>
                                          <p:spTgt spid="130"/>
                                        </p:tgtEl>
                                      </p:cBhvr>
                                    </p:animEffect>
                                  </p:childTnLst>
                                </p:cTn>
                              </p:par>
                              <p:par>
                                <p:cTn id="17" presetID="22" presetClass="entr" presetSubtype="8" fill="hold" grpId="0" nodeType="withEffect">
                                  <p:stCondLst>
                                    <p:cond delay="250"/>
                                  </p:stCondLst>
                                  <p:childTnLst>
                                    <p:set>
                                      <p:cBhvr>
                                        <p:cTn id="18" dur="1" fill="hold">
                                          <p:stCondLst>
                                            <p:cond delay="0"/>
                                          </p:stCondLst>
                                        </p:cTn>
                                        <p:tgtEl>
                                          <p:spTgt spid="131"/>
                                        </p:tgtEl>
                                        <p:attrNameLst>
                                          <p:attrName>style.visibility</p:attrName>
                                        </p:attrNameLst>
                                      </p:cBhvr>
                                      <p:to>
                                        <p:strVal val="visible"/>
                                      </p:to>
                                    </p:set>
                                    <p:animEffect transition="in" filter="wipe(left)">
                                      <p:cBhvr>
                                        <p:cTn id="19" dur="1500"/>
                                        <p:tgtEl>
                                          <p:spTgt spid="131"/>
                                        </p:tgtEl>
                                      </p:cBhvr>
                                    </p:animEffect>
                                  </p:childTnLst>
                                </p:cTn>
                              </p:par>
                            </p:childTnLst>
                          </p:cTn>
                        </p:par>
                      </p:childTnLst>
                    </p:cTn>
                  </p:par>
                  <p:par>
                    <p:cTn id="20" fill="hold">
                      <p:stCondLst>
                        <p:cond delay="indefinite"/>
                      </p:stCondLst>
                      <p:childTnLst>
                        <p:par>
                          <p:cTn id="21" fill="hold">
                            <p:stCondLst>
                              <p:cond delay="0"/>
                            </p:stCondLst>
                            <p:childTnLst>
                              <p:par>
                                <p:cTn id="22" presetID="35" presetClass="emph" presetSubtype="0" repeatCount="3000" fill="hold" grpId="0" nodeType="clickEffect">
                                  <p:stCondLst>
                                    <p:cond delay="0"/>
                                  </p:stCondLst>
                                  <p:childTnLst>
                                    <p:anim calcmode="discrete" valueType="str">
                                      <p:cBhvr>
                                        <p:cTn id="23" dur="1000" fill="hold"/>
                                        <p:tgtEl>
                                          <p:spTgt spid="103"/>
                                        </p:tgtEl>
                                        <p:attrNameLst>
                                          <p:attrName>style.visibility</p:attrName>
                                        </p:attrNameLst>
                                      </p:cBhvr>
                                      <p:tavLst>
                                        <p:tav tm="0">
                                          <p:val>
                                            <p:strVal val="hidden"/>
                                          </p:val>
                                        </p:tav>
                                        <p:tav tm="50000">
                                          <p:val>
                                            <p:strVal val="visible"/>
                                          </p:val>
                                        </p:tav>
                                      </p:tavLst>
                                    </p:anim>
                                  </p:childTnLst>
                                </p:cTn>
                              </p:par>
                            </p:childTnLst>
                          </p:cTn>
                        </p:par>
                        <p:par>
                          <p:cTn id="24" fill="hold">
                            <p:stCondLst>
                              <p:cond delay="3000"/>
                            </p:stCondLst>
                            <p:childTnLst>
                              <p:par>
                                <p:cTn id="25" presetID="22" presetClass="entr" presetSubtype="2" fill="hold" grpId="0" nodeType="afterEffect">
                                  <p:stCondLst>
                                    <p:cond delay="250"/>
                                  </p:stCondLst>
                                  <p:childTnLst>
                                    <p:set>
                                      <p:cBhvr>
                                        <p:cTn id="26" dur="1" fill="hold">
                                          <p:stCondLst>
                                            <p:cond delay="0"/>
                                          </p:stCondLst>
                                        </p:cTn>
                                        <p:tgtEl>
                                          <p:spTgt spid="133"/>
                                        </p:tgtEl>
                                        <p:attrNameLst>
                                          <p:attrName>style.visibility</p:attrName>
                                        </p:attrNameLst>
                                      </p:cBhvr>
                                      <p:to>
                                        <p:strVal val="visible"/>
                                      </p:to>
                                    </p:set>
                                    <p:animEffect transition="in" filter="wipe(right)">
                                      <p:cBhvr>
                                        <p:cTn id="27" dur="1250"/>
                                        <p:tgtEl>
                                          <p:spTgt spid="133"/>
                                        </p:tgtEl>
                                      </p:cBhvr>
                                    </p:animEffect>
                                  </p:childTnLst>
                                </p:cTn>
                              </p:par>
                            </p:childTnLst>
                          </p:cTn>
                        </p:par>
                        <p:par>
                          <p:cTn id="28" fill="hold">
                            <p:stCondLst>
                              <p:cond delay="4500"/>
                            </p:stCondLst>
                            <p:childTnLst>
                              <p:par>
                                <p:cTn id="29" presetID="35" presetClass="emph" presetSubtype="0" repeatCount="3000" fill="hold" grpId="0" nodeType="afterEffect">
                                  <p:stCondLst>
                                    <p:cond delay="250"/>
                                  </p:stCondLst>
                                  <p:childTnLst>
                                    <p:anim calcmode="discrete" valueType="str">
                                      <p:cBhvr>
                                        <p:cTn id="30" dur="1000" fill="hold"/>
                                        <p:tgtEl>
                                          <p:spTgt spid="11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04" grpId="0" animBg="1"/>
      <p:bldP spid="116" grpId="0"/>
      <p:bldP spid="129" grpId="0" animBg="1"/>
      <p:bldP spid="130" grpId="0" animBg="1"/>
      <p:bldP spid="131" grpId="0" animBg="1"/>
      <p:bldP spid="132" grpId="0" animBg="1"/>
      <p:bldP spid="133"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IP</a:t>
            </a:r>
            <a:r>
              <a:rPr lang="zh-CN" altLang="en-US" dirty="0"/>
              <a:t>包转发</a:t>
            </a:r>
          </a:p>
        </p:txBody>
      </p:sp>
      <p:sp>
        <p:nvSpPr>
          <p:cNvPr id="3" name="内容占位符 2"/>
          <p:cNvSpPr>
            <a:spLocks noGrp="1"/>
          </p:cNvSpPr>
          <p:nvPr>
            <p:ph idx="1"/>
          </p:nvPr>
        </p:nvSpPr>
        <p:spPr/>
        <p:txBody>
          <a:bodyPr/>
          <a:lstStyle/>
          <a:p>
            <a:r>
              <a:rPr lang="zh-CN" altLang="en-US" dirty="0">
                <a:solidFill>
                  <a:srgbClr val="C00000"/>
                </a:solidFill>
              </a:rPr>
              <a:t>直接交付</a:t>
            </a:r>
            <a:r>
              <a:rPr lang="zh-CN" altLang="en-US" dirty="0"/>
              <a:t>：与目的主机在同一个</a:t>
            </a:r>
            <a:r>
              <a:rPr lang="en-US" dirty="0"/>
              <a:t>IP</a:t>
            </a:r>
            <a:r>
              <a:rPr lang="zh-CN" altLang="en-US" dirty="0"/>
              <a:t>子网内</a:t>
            </a:r>
          </a:p>
        </p:txBody>
      </p:sp>
      <p:sp>
        <p:nvSpPr>
          <p:cNvPr id="7" name="Text Box 7"/>
          <p:cNvSpPr txBox="1">
            <a:spLocks noChangeArrowheads="1"/>
          </p:cNvSpPr>
          <p:nvPr/>
        </p:nvSpPr>
        <p:spPr bwMode="auto">
          <a:xfrm>
            <a:off x="7728587" y="5317138"/>
            <a:ext cx="3144000"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sz="1600" dirty="0">
                <a:solidFill>
                  <a:srgbClr val="000000"/>
                </a:solidFill>
                <a:latin typeface="等线" panose="02010600030101010101" pitchFamily="2" charset="-122"/>
                <a:ea typeface="等线" panose="02010600030101010101" pitchFamily="2" charset="-122"/>
              </a:rPr>
              <a:t>IP</a:t>
            </a:r>
            <a:r>
              <a:rPr lang="zh-CN" altLang="en-US" sz="1600" dirty="0">
                <a:solidFill>
                  <a:srgbClr val="000000"/>
                </a:solidFill>
                <a:latin typeface="等线" panose="02010600030101010101" pitchFamily="2" charset="-122"/>
                <a:ea typeface="等线" panose="02010600030101010101" pitchFamily="2" charset="-122"/>
              </a:rPr>
              <a:t>地址：	</a:t>
            </a:r>
            <a:r>
              <a:rPr lang="en-US" altLang="zh-CN" sz="1600" dirty="0">
                <a:solidFill>
                  <a:srgbClr val="000000"/>
                </a:solidFill>
                <a:latin typeface="等线" panose="02010600030101010101" pitchFamily="2" charset="-122"/>
                <a:ea typeface="等线" panose="02010600030101010101" pitchFamily="2" charset="-122"/>
              </a:rPr>
              <a:t>192.168.1.3</a:t>
            </a:r>
          </a:p>
          <a:p>
            <a:pPr algn="just" eaLnBrk="1"/>
            <a:r>
              <a:rPr lang="en-US" altLang="zh-CN" sz="1600" dirty="0">
                <a:solidFill>
                  <a:srgbClr val="000000"/>
                </a:solidFill>
                <a:latin typeface="等线" panose="02010600030101010101" pitchFamily="2" charset="-122"/>
                <a:ea typeface="等线" panose="02010600030101010101" pitchFamily="2" charset="-122"/>
              </a:rPr>
              <a:t>MAC</a:t>
            </a:r>
            <a:r>
              <a:rPr lang="zh-CN" altLang="en-US" sz="1600" dirty="0">
                <a:solidFill>
                  <a:srgbClr val="000000"/>
                </a:solidFill>
                <a:latin typeface="等线" panose="02010600030101010101" pitchFamily="2" charset="-122"/>
                <a:ea typeface="等线" panose="02010600030101010101" pitchFamily="2" charset="-122"/>
              </a:rPr>
              <a:t>地址：</a:t>
            </a:r>
            <a:r>
              <a:rPr lang="en-US" altLang="zh-CN" sz="1600" dirty="0">
                <a:solidFill>
                  <a:srgbClr val="000000"/>
                </a:solidFill>
                <a:latin typeface="等线" panose="02010600030101010101" pitchFamily="2" charset="-122"/>
                <a:ea typeface="等线" panose="02010600030101010101" pitchFamily="2" charset="-122"/>
              </a:rPr>
              <a:t>00:20:AF:00:00:03</a:t>
            </a:r>
          </a:p>
        </p:txBody>
      </p:sp>
      <p:sp>
        <p:nvSpPr>
          <p:cNvPr id="8" name="Text Box 9"/>
          <p:cNvSpPr txBox="1">
            <a:spLocks noChangeArrowheads="1"/>
          </p:cNvSpPr>
          <p:nvPr/>
        </p:nvSpPr>
        <p:spPr bwMode="auto">
          <a:xfrm>
            <a:off x="1668837" y="5340521"/>
            <a:ext cx="2562057"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en-US" altLang="zh-CN" sz="1600" dirty="0">
                <a:solidFill>
                  <a:srgbClr val="000000"/>
                </a:solidFill>
                <a:latin typeface="等线" panose="02010600030101010101" pitchFamily="2" charset="-122"/>
                <a:ea typeface="等线" panose="02010600030101010101" pitchFamily="2" charset="-122"/>
              </a:rPr>
              <a:t>IP</a:t>
            </a:r>
            <a:r>
              <a:rPr lang="zh-CN" altLang="en-US" sz="1600" dirty="0">
                <a:solidFill>
                  <a:srgbClr val="000000"/>
                </a:solidFill>
                <a:latin typeface="等线" panose="02010600030101010101" pitchFamily="2" charset="-122"/>
                <a:ea typeface="等线" panose="02010600030101010101" pitchFamily="2" charset="-122"/>
              </a:rPr>
              <a:t>：</a:t>
            </a:r>
            <a:r>
              <a:rPr lang="en-US" altLang="zh-CN" sz="1600" dirty="0">
                <a:solidFill>
                  <a:srgbClr val="000000"/>
                </a:solidFill>
                <a:latin typeface="等线" panose="02010600030101010101" pitchFamily="2" charset="-122"/>
                <a:ea typeface="等线" panose="02010600030101010101" pitchFamily="2" charset="-122"/>
              </a:rPr>
              <a:t>192.168.1.1</a:t>
            </a:r>
          </a:p>
          <a:p>
            <a:pPr algn="just"/>
            <a:r>
              <a:rPr lang="en-US" altLang="zh-CN" sz="1600" dirty="0">
                <a:solidFill>
                  <a:srgbClr val="000000"/>
                </a:solidFill>
                <a:latin typeface="等线" panose="02010600030101010101" pitchFamily="2" charset="-122"/>
                <a:ea typeface="等线" panose="02010600030101010101" pitchFamily="2" charset="-122"/>
              </a:rPr>
              <a:t>MAC</a:t>
            </a:r>
            <a:r>
              <a:rPr lang="zh-CN" altLang="en-US" sz="1600" dirty="0">
                <a:solidFill>
                  <a:srgbClr val="000000"/>
                </a:solidFill>
                <a:latin typeface="等线" panose="02010600030101010101" pitchFamily="2" charset="-122"/>
                <a:ea typeface="等线" panose="02010600030101010101" pitchFamily="2" charset="-122"/>
              </a:rPr>
              <a:t>：</a:t>
            </a:r>
            <a:r>
              <a:rPr lang="en-US" altLang="zh-CN" sz="1600" dirty="0">
                <a:solidFill>
                  <a:srgbClr val="000000"/>
                </a:solidFill>
                <a:latin typeface="等线" panose="02010600030101010101" pitchFamily="2" charset="-122"/>
                <a:ea typeface="等线" panose="02010600030101010101" pitchFamily="2" charset="-122"/>
              </a:rPr>
              <a:t>00:20:AF:00:00:01</a:t>
            </a:r>
          </a:p>
        </p:txBody>
      </p:sp>
      <p:pic>
        <p:nvPicPr>
          <p:cNvPr id="9" name="Picture 45" descr="图片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2578" y="3079898"/>
            <a:ext cx="1153211" cy="466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46"/>
          <p:cNvGrpSpPr>
            <a:grpSpLocks/>
          </p:cNvGrpSpPr>
          <p:nvPr/>
        </p:nvGrpSpPr>
        <p:grpSpPr bwMode="auto">
          <a:xfrm>
            <a:off x="3398647" y="4838007"/>
            <a:ext cx="503537" cy="438834"/>
            <a:chOff x="0" y="1872"/>
            <a:chExt cx="573" cy="518"/>
          </a:xfrm>
        </p:grpSpPr>
        <p:pic>
          <p:nvPicPr>
            <p:cNvPr id="35"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872"/>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48"/>
            <p:cNvSpPr>
              <a:spLocks noChangeArrowheads="1"/>
            </p:cNvSpPr>
            <p:nvPr/>
          </p:nvSpPr>
          <p:spPr bwMode="auto">
            <a:xfrm>
              <a:off x="115" y="1954"/>
              <a:ext cx="266"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tabLst>
                  <a:tab pos="514350" algn="l"/>
                  <a:tab pos="1028700" algn="l"/>
                  <a:tab pos="1543050" algn="l"/>
                </a:tabLst>
                <a:defRPr kumimoji="1">
                  <a:solidFill>
                    <a:schemeClr val="bg1"/>
                  </a:solidFill>
                  <a:latin typeface="Times New Roman" pitchFamily="18" charset="0"/>
                  <a:ea typeface="宋体" pitchFamily="2" charset="-122"/>
                </a:defRPr>
              </a:lvl1pPr>
              <a:lvl2pPr marL="742950" indent="-285750" defTabSz="1028700">
                <a:tabLst>
                  <a:tab pos="514350" algn="l"/>
                  <a:tab pos="1028700" algn="l"/>
                  <a:tab pos="1543050" algn="l"/>
                </a:tabLst>
                <a:defRPr kumimoji="1">
                  <a:solidFill>
                    <a:schemeClr val="bg1"/>
                  </a:solidFill>
                  <a:latin typeface="Times New Roman" pitchFamily="18" charset="0"/>
                  <a:ea typeface="宋体" pitchFamily="2" charset="-122"/>
                </a:defRPr>
              </a:lvl2pPr>
              <a:lvl3pPr marL="11430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3pPr>
              <a:lvl4pPr marL="16002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4pPr>
              <a:lvl5pPr marL="20574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5pPr>
              <a:lvl6pPr marL="25146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6pPr>
              <a:lvl7pPr marL="29718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7pPr>
              <a:lvl8pPr marL="34290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8pPr>
              <a:lvl9pPr marL="38862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9pPr>
            </a:lstStyle>
            <a:p>
              <a:pPr>
                <a:lnSpc>
                  <a:spcPts val="2138"/>
                </a:lnSpc>
              </a:pPr>
              <a:endParaRPr kumimoji="0" lang="zh-CN" altLang="zh-CN" sz="2000" b="1">
                <a:solidFill>
                  <a:srgbClr val="000000"/>
                </a:solidFill>
                <a:latin typeface="Helvetica" charset="0"/>
              </a:endParaRPr>
            </a:p>
          </p:txBody>
        </p:sp>
      </p:grpSp>
      <p:grpSp>
        <p:nvGrpSpPr>
          <p:cNvPr id="11" name="Group 49"/>
          <p:cNvGrpSpPr>
            <a:grpSpLocks/>
          </p:cNvGrpSpPr>
          <p:nvPr/>
        </p:nvGrpSpPr>
        <p:grpSpPr bwMode="auto">
          <a:xfrm>
            <a:off x="5919509" y="4839390"/>
            <a:ext cx="503536" cy="438835"/>
            <a:chOff x="0" y="1872"/>
            <a:chExt cx="573" cy="518"/>
          </a:xfrm>
        </p:grpSpPr>
        <p:pic>
          <p:nvPicPr>
            <p:cNvPr id="33"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872"/>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51"/>
            <p:cNvSpPr>
              <a:spLocks noChangeArrowheads="1"/>
            </p:cNvSpPr>
            <p:nvPr/>
          </p:nvSpPr>
          <p:spPr bwMode="auto">
            <a:xfrm>
              <a:off x="115" y="1954"/>
              <a:ext cx="266"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tabLst>
                  <a:tab pos="514350" algn="l"/>
                  <a:tab pos="1028700" algn="l"/>
                  <a:tab pos="1543050" algn="l"/>
                </a:tabLst>
                <a:defRPr kumimoji="1">
                  <a:solidFill>
                    <a:schemeClr val="bg1"/>
                  </a:solidFill>
                  <a:latin typeface="Times New Roman" pitchFamily="18" charset="0"/>
                  <a:ea typeface="宋体" pitchFamily="2" charset="-122"/>
                </a:defRPr>
              </a:lvl1pPr>
              <a:lvl2pPr marL="742950" indent="-285750" defTabSz="1028700">
                <a:tabLst>
                  <a:tab pos="514350" algn="l"/>
                  <a:tab pos="1028700" algn="l"/>
                  <a:tab pos="1543050" algn="l"/>
                </a:tabLst>
                <a:defRPr kumimoji="1">
                  <a:solidFill>
                    <a:schemeClr val="bg1"/>
                  </a:solidFill>
                  <a:latin typeface="Times New Roman" pitchFamily="18" charset="0"/>
                  <a:ea typeface="宋体" pitchFamily="2" charset="-122"/>
                </a:defRPr>
              </a:lvl2pPr>
              <a:lvl3pPr marL="11430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3pPr>
              <a:lvl4pPr marL="16002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4pPr>
              <a:lvl5pPr marL="20574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5pPr>
              <a:lvl6pPr marL="25146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6pPr>
              <a:lvl7pPr marL="29718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7pPr>
              <a:lvl8pPr marL="34290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8pPr>
              <a:lvl9pPr marL="38862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9pPr>
            </a:lstStyle>
            <a:p>
              <a:pPr>
                <a:lnSpc>
                  <a:spcPts val="2138"/>
                </a:lnSpc>
              </a:pPr>
              <a:endParaRPr kumimoji="0" lang="zh-CN" altLang="zh-CN" sz="2000" b="1">
                <a:solidFill>
                  <a:srgbClr val="000000"/>
                </a:solidFill>
                <a:latin typeface="Helvetica" charset="0"/>
              </a:endParaRPr>
            </a:p>
          </p:txBody>
        </p:sp>
      </p:grpSp>
      <p:grpSp>
        <p:nvGrpSpPr>
          <p:cNvPr id="12" name="Group 52"/>
          <p:cNvGrpSpPr>
            <a:grpSpLocks/>
          </p:cNvGrpSpPr>
          <p:nvPr/>
        </p:nvGrpSpPr>
        <p:grpSpPr bwMode="auto">
          <a:xfrm>
            <a:off x="8515027" y="4839390"/>
            <a:ext cx="503536" cy="438835"/>
            <a:chOff x="0" y="1872"/>
            <a:chExt cx="573" cy="518"/>
          </a:xfrm>
        </p:grpSpPr>
        <p:pic>
          <p:nvPicPr>
            <p:cNvPr id="31"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872"/>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Rectangle 54"/>
            <p:cNvSpPr>
              <a:spLocks noChangeArrowheads="1"/>
            </p:cNvSpPr>
            <p:nvPr/>
          </p:nvSpPr>
          <p:spPr bwMode="auto">
            <a:xfrm>
              <a:off x="115" y="1954"/>
              <a:ext cx="266"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tabLst>
                  <a:tab pos="514350" algn="l"/>
                  <a:tab pos="1028700" algn="l"/>
                  <a:tab pos="1543050" algn="l"/>
                </a:tabLst>
                <a:defRPr kumimoji="1">
                  <a:solidFill>
                    <a:schemeClr val="bg1"/>
                  </a:solidFill>
                  <a:latin typeface="Times New Roman" pitchFamily="18" charset="0"/>
                  <a:ea typeface="宋体" pitchFamily="2" charset="-122"/>
                </a:defRPr>
              </a:lvl1pPr>
              <a:lvl2pPr marL="742950" indent="-285750" defTabSz="1028700">
                <a:tabLst>
                  <a:tab pos="514350" algn="l"/>
                  <a:tab pos="1028700" algn="l"/>
                  <a:tab pos="1543050" algn="l"/>
                </a:tabLst>
                <a:defRPr kumimoji="1">
                  <a:solidFill>
                    <a:schemeClr val="bg1"/>
                  </a:solidFill>
                  <a:latin typeface="Times New Roman" pitchFamily="18" charset="0"/>
                  <a:ea typeface="宋体" pitchFamily="2" charset="-122"/>
                </a:defRPr>
              </a:lvl2pPr>
              <a:lvl3pPr marL="11430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3pPr>
              <a:lvl4pPr marL="16002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4pPr>
              <a:lvl5pPr marL="20574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5pPr>
              <a:lvl6pPr marL="25146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6pPr>
              <a:lvl7pPr marL="29718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7pPr>
              <a:lvl8pPr marL="34290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8pPr>
              <a:lvl9pPr marL="38862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9pPr>
            </a:lstStyle>
            <a:p>
              <a:pPr>
                <a:lnSpc>
                  <a:spcPts val="2138"/>
                </a:lnSpc>
              </a:pPr>
              <a:endParaRPr kumimoji="0" lang="zh-CN" altLang="zh-CN" sz="2000" b="1">
                <a:solidFill>
                  <a:srgbClr val="000000"/>
                </a:solidFill>
                <a:latin typeface="Helvetica" charset="0"/>
              </a:endParaRPr>
            </a:p>
          </p:txBody>
        </p:sp>
      </p:grpSp>
      <p:sp>
        <p:nvSpPr>
          <p:cNvPr id="13" name="Text Box 55"/>
          <p:cNvSpPr txBox="1">
            <a:spLocks noChangeArrowheads="1"/>
          </p:cNvSpPr>
          <p:nvPr/>
        </p:nvSpPr>
        <p:spPr bwMode="auto">
          <a:xfrm>
            <a:off x="5077230" y="5340520"/>
            <a:ext cx="2770336"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en-US" altLang="zh-CN" sz="1600" dirty="0">
                <a:solidFill>
                  <a:srgbClr val="000000"/>
                </a:solidFill>
                <a:latin typeface="等线" panose="02010600030101010101" pitchFamily="2" charset="-122"/>
                <a:ea typeface="等线" panose="02010600030101010101" pitchFamily="2" charset="-122"/>
              </a:rPr>
              <a:t>IP</a:t>
            </a:r>
            <a:r>
              <a:rPr lang="zh-CN" altLang="en-US" sz="1600" dirty="0">
                <a:solidFill>
                  <a:srgbClr val="000000"/>
                </a:solidFill>
                <a:latin typeface="等线" panose="02010600030101010101" pitchFamily="2" charset="-122"/>
                <a:ea typeface="等线" panose="02010600030101010101" pitchFamily="2" charset="-122"/>
              </a:rPr>
              <a:t>：</a:t>
            </a:r>
            <a:r>
              <a:rPr lang="en-US" altLang="zh-CN" sz="1600" dirty="0">
                <a:solidFill>
                  <a:srgbClr val="000000"/>
                </a:solidFill>
                <a:latin typeface="等线" panose="02010600030101010101" pitchFamily="2" charset="-122"/>
                <a:ea typeface="等线" panose="02010600030101010101" pitchFamily="2" charset="-122"/>
              </a:rPr>
              <a:t>192.168.1.2</a:t>
            </a:r>
          </a:p>
          <a:p>
            <a:pPr algn="just"/>
            <a:r>
              <a:rPr lang="en-US" altLang="zh-CN" sz="1600" dirty="0">
                <a:solidFill>
                  <a:srgbClr val="000000"/>
                </a:solidFill>
                <a:latin typeface="等线" panose="02010600030101010101" pitchFamily="2" charset="-122"/>
                <a:ea typeface="等线" panose="02010600030101010101" pitchFamily="2" charset="-122"/>
              </a:rPr>
              <a:t>MAC</a:t>
            </a:r>
            <a:r>
              <a:rPr lang="zh-CN" altLang="en-US" sz="1600" dirty="0">
                <a:solidFill>
                  <a:srgbClr val="000000"/>
                </a:solidFill>
                <a:latin typeface="等线" panose="02010600030101010101" pitchFamily="2" charset="-122"/>
                <a:ea typeface="等线" panose="02010600030101010101" pitchFamily="2" charset="-122"/>
              </a:rPr>
              <a:t>：</a:t>
            </a:r>
            <a:r>
              <a:rPr lang="en-US" altLang="zh-CN" sz="1600" dirty="0">
                <a:solidFill>
                  <a:srgbClr val="000000"/>
                </a:solidFill>
                <a:latin typeface="等线" panose="02010600030101010101" pitchFamily="2" charset="-122"/>
                <a:ea typeface="等线" panose="02010600030101010101" pitchFamily="2" charset="-122"/>
              </a:rPr>
              <a:t>00:20:AF:00:00:02</a:t>
            </a:r>
          </a:p>
        </p:txBody>
      </p:sp>
      <p:sp>
        <p:nvSpPr>
          <p:cNvPr id="14" name="Text Box 40"/>
          <p:cNvSpPr txBox="1">
            <a:spLocks noChangeArrowheads="1"/>
          </p:cNvSpPr>
          <p:nvPr/>
        </p:nvSpPr>
        <p:spPr bwMode="auto">
          <a:xfrm>
            <a:off x="3460791" y="4791519"/>
            <a:ext cx="357399" cy="375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b="1" dirty="0">
                <a:solidFill>
                  <a:srgbClr val="000000"/>
                </a:solidFill>
              </a:rPr>
              <a:t>A</a:t>
            </a:r>
          </a:p>
        </p:txBody>
      </p:sp>
      <p:sp>
        <p:nvSpPr>
          <p:cNvPr id="15" name="Text Box 56"/>
          <p:cNvSpPr txBox="1">
            <a:spLocks noChangeArrowheads="1"/>
          </p:cNvSpPr>
          <p:nvPr/>
        </p:nvSpPr>
        <p:spPr bwMode="auto">
          <a:xfrm>
            <a:off x="5984430" y="4804669"/>
            <a:ext cx="357400" cy="319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b="1" dirty="0">
                <a:solidFill>
                  <a:srgbClr val="000000"/>
                </a:solidFill>
              </a:rPr>
              <a:t>B</a:t>
            </a:r>
          </a:p>
        </p:txBody>
      </p:sp>
      <p:sp>
        <p:nvSpPr>
          <p:cNvPr id="16" name="Text Box 57"/>
          <p:cNvSpPr txBox="1">
            <a:spLocks noChangeArrowheads="1"/>
          </p:cNvSpPr>
          <p:nvPr/>
        </p:nvSpPr>
        <p:spPr bwMode="auto">
          <a:xfrm>
            <a:off x="8560487" y="4794941"/>
            <a:ext cx="357400" cy="319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b="1" dirty="0">
                <a:solidFill>
                  <a:srgbClr val="000000"/>
                </a:solidFill>
              </a:rPr>
              <a:t>C</a:t>
            </a:r>
          </a:p>
        </p:txBody>
      </p:sp>
      <p:sp>
        <p:nvSpPr>
          <p:cNvPr id="17" name="Line 58"/>
          <p:cNvSpPr>
            <a:spLocks noChangeShapeType="1"/>
          </p:cNvSpPr>
          <p:nvPr/>
        </p:nvSpPr>
        <p:spPr bwMode="auto">
          <a:xfrm flipH="1">
            <a:off x="3759225" y="3520118"/>
            <a:ext cx="2233353" cy="13178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rgbClr val="FFFFFF"/>
              </a:solidFill>
            </a:endParaRPr>
          </a:p>
        </p:txBody>
      </p:sp>
      <p:sp>
        <p:nvSpPr>
          <p:cNvPr id="18" name="Line 59"/>
          <p:cNvSpPr>
            <a:spLocks noChangeShapeType="1"/>
          </p:cNvSpPr>
          <p:nvPr/>
        </p:nvSpPr>
        <p:spPr bwMode="auto">
          <a:xfrm flipH="1">
            <a:off x="6208606" y="3582412"/>
            <a:ext cx="142960" cy="12555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rgbClr val="FFFFFF"/>
              </a:solidFill>
            </a:endParaRPr>
          </a:p>
        </p:txBody>
      </p:sp>
      <p:sp>
        <p:nvSpPr>
          <p:cNvPr id="19" name="Line 60"/>
          <p:cNvSpPr>
            <a:spLocks noChangeShapeType="1"/>
          </p:cNvSpPr>
          <p:nvPr/>
        </p:nvSpPr>
        <p:spPr bwMode="auto">
          <a:xfrm>
            <a:off x="7001239" y="3394143"/>
            <a:ext cx="1656748" cy="1443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rgbClr val="FFFFFF"/>
              </a:solidFill>
            </a:endParaRPr>
          </a:p>
        </p:txBody>
      </p:sp>
      <p:sp>
        <p:nvSpPr>
          <p:cNvPr id="20" name="Text Box 61"/>
          <p:cNvSpPr txBox="1">
            <a:spLocks noChangeArrowheads="1"/>
          </p:cNvSpPr>
          <p:nvPr/>
        </p:nvSpPr>
        <p:spPr bwMode="auto">
          <a:xfrm>
            <a:off x="5122105" y="3268168"/>
            <a:ext cx="94194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spcBef>
                <a:spcPct val="50000"/>
              </a:spcBef>
            </a:pPr>
            <a:r>
              <a:rPr lang="en-US" altLang="zh-CN" sz="1600" dirty="0">
                <a:solidFill>
                  <a:srgbClr val="000000"/>
                </a:solidFill>
                <a:latin typeface="等线" panose="02010600030101010101" pitchFamily="2" charset="-122"/>
                <a:ea typeface="等线" panose="02010600030101010101" pitchFamily="2" charset="-122"/>
              </a:rPr>
              <a:t>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1/1</a:t>
            </a:r>
          </a:p>
        </p:txBody>
      </p:sp>
      <p:sp>
        <p:nvSpPr>
          <p:cNvPr id="21" name="Text Box 62"/>
          <p:cNvSpPr txBox="1">
            <a:spLocks noChangeArrowheads="1"/>
          </p:cNvSpPr>
          <p:nvPr/>
        </p:nvSpPr>
        <p:spPr bwMode="auto">
          <a:xfrm>
            <a:off x="6280077" y="3504890"/>
            <a:ext cx="1008662"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spcBef>
                <a:spcPct val="50000"/>
              </a:spcBef>
            </a:pPr>
            <a:r>
              <a:rPr lang="en-US" altLang="zh-CN" sz="1600" dirty="0">
                <a:solidFill>
                  <a:srgbClr val="000000"/>
                </a:solidFill>
                <a:latin typeface="等线" panose="02010600030101010101" pitchFamily="2" charset="-122"/>
                <a:ea typeface="等线" panose="02010600030101010101" pitchFamily="2" charset="-122"/>
              </a:rPr>
              <a:t>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1/2</a:t>
            </a:r>
          </a:p>
        </p:txBody>
      </p:sp>
      <p:sp>
        <p:nvSpPr>
          <p:cNvPr id="22" name="Text Box 63"/>
          <p:cNvSpPr txBox="1">
            <a:spLocks noChangeArrowheads="1"/>
          </p:cNvSpPr>
          <p:nvPr/>
        </p:nvSpPr>
        <p:spPr bwMode="auto">
          <a:xfrm>
            <a:off x="7001230" y="3205873"/>
            <a:ext cx="1168287"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spcBef>
                <a:spcPct val="50000"/>
              </a:spcBef>
            </a:pPr>
            <a:r>
              <a:rPr lang="en-US" altLang="zh-CN" sz="1600" dirty="0">
                <a:solidFill>
                  <a:srgbClr val="000000"/>
                </a:solidFill>
                <a:latin typeface="等线" panose="02010600030101010101" pitchFamily="2" charset="-122"/>
                <a:ea typeface="等线" panose="02010600030101010101" pitchFamily="2" charset="-122"/>
              </a:rPr>
              <a:t>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1/3</a:t>
            </a:r>
          </a:p>
        </p:txBody>
      </p:sp>
      <p:sp>
        <p:nvSpPr>
          <p:cNvPr id="23" name="Text Box 64"/>
          <p:cNvSpPr txBox="1">
            <a:spLocks noChangeArrowheads="1"/>
          </p:cNvSpPr>
          <p:nvPr/>
        </p:nvSpPr>
        <p:spPr bwMode="auto">
          <a:xfrm>
            <a:off x="6064049" y="2703359"/>
            <a:ext cx="122468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spcBef>
                <a:spcPct val="50000"/>
              </a:spcBef>
            </a:pPr>
            <a:r>
              <a:rPr lang="en-US" altLang="zh-CN" sz="1600" dirty="0">
                <a:solidFill>
                  <a:srgbClr val="000000"/>
                </a:solidFill>
                <a:latin typeface="等线" panose="02010600030101010101" pitchFamily="2" charset="-122"/>
                <a:ea typeface="等线" panose="02010600030101010101" pitchFamily="2" charset="-122"/>
              </a:rPr>
              <a:t>Switch</a:t>
            </a:r>
          </a:p>
        </p:txBody>
      </p:sp>
      <p:sp>
        <p:nvSpPr>
          <p:cNvPr id="25" name="Rectangle 77"/>
          <p:cNvSpPr>
            <a:spLocks noChangeArrowheads="1"/>
          </p:cNvSpPr>
          <p:nvPr/>
        </p:nvSpPr>
        <p:spPr bwMode="auto">
          <a:xfrm>
            <a:off x="7865341" y="2153569"/>
            <a:ext cx="2689170" cy="1240573"/>
          </a:xfrm>
          <a:prstGeom prst="rect">
            <a:avLst/>
          </a:prstGeom>
          <a:solidFill>
            <a:srgbClr val="E7FFE7"/>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l"/>
            <a:r>
              <a:rPr lang="en-US" altLang="zh-CN" sz="1200" dirty="0">
                <a:solidFill>
                  <a:srgbClr val="000000"/>
                </a:solidFill>
              </a:rPr>
              <a:t>         </a:t>
            </a:r>
          </a:p>
          <a:p>
            <a:pPr algn="just"/>
            <a:r>
              <a:rPr lang="en-US" altLang="zh-CN" sz="1200" dirty="0">
                <a:solidFill>
                  <a:srgbClr val="000000"/>
                </a:solidFill>
              </a:rPr>
              <a:t>          </a:t>
            </a:r>
            <a:r>
              <a:rPr lang="en-US" altLang="zh-CN" sz="1600" dirty="0">
                <a:solidFill>
                  <a:srgbClr val="000000"/>
                </a:solidFill>
                <a:latin typeface="等线" panose="02010600030101010101" pitchFamily="2" charset="-122"/>
                <a:ea typeface="等线" panose="02010600030101010101" pitchFamily="2" charset="-122"/>
              </a:rPr>
              <a:t>MAC             Port</a:t>
            </a:r>
          </a:p>
          <a:p>
            <a:pPr algn="just"/>
            <a:r>
              <a:rPr lang="en-US" altLang="zh-CN" sz="1600" dirty="0">
                <a:solidFill>
                  <a:srgbClr val="000000"/>
                </a:solidFill>
                <a:latin typeface="等线" panose="02010600030101010101" pitchFamily="2" charset="-122"/>
                <a:ea typeface="等线" panose="02010600030101010101" pitchFamily="2" charset="-122"/>
              </a:rPr>
              <a:t>00:20:af:00:00:01   port</a:t>
            </a:r>
            <a:r>
              <a:rPr lang="zh-CN" altLang="en-US" sz="1600">
                <a:solidFill>
                  <a:srgbClr val="000000"/>
                </a:solidFill>
                <a:latin typeface="等线" panose="02010600030101010101" pitchFamily="2" charset="-122"/>
                <a:ea typeface="等线" panose="02010600030101010101" pitchFamily="2" charset="-122"/>
              </a:rPr>
              <a:t> </a:t>
            </a:r>
            <a:r>
              <a:rPr lang="en-US" altLang="zh-CN" sz="1600">
                <a:solidFill>
                  <a:srgbClr val="000000"/>
                </a:solidFill>
                <a:latin typeface="等线" panose="02010600030101010101" pitchFamily="2" charset="-122"/>
                <a:ea typeface="等线" panose="02010600030101010101" pitchFamily="2" charset="-122"/>
              </a:rPr>
              <a:t>1/1</a:t>
            </a:r>
            <a:endParaRPr lang="en-US" altLang="zh-CN" sz="1600" dirty="0">
              <a:solidFill>
                <a:srgbClr val="000000"/>
              </a:solidFill>
              <a:latin typeface="等线" panose="02010600030101010101" pitchFamily="2" charset="-122"/>
              <a:ea typeface="等线" panose="02010600030101010101" pitchFamily="2" charset="-122"/>
            </a:endParaRPr>
          </a:p>
          <a:p>
            <a:pPr algn="l"/>
            <a:endParaRPr lang="en-US" altLang="zh-CN" dirty="0">
              <a:solidFill>
                <a:srgbClr val="000000"/>
              </a:solidFill>
            </a:endParaRPr>
          </a:p>
          <a:p>
            <a:pPr algn="l"/>
            <a:endParaRPr lang="en-US" altLang="zh-CN" dirty="0">
              <a:solidFill>
                <a:srgbClr val="000000"/>
              </a:solidFill>
            </a:endParaRPr>
          </a:p>
          <a:p>
            <a:pPr algn="l"/>
            <a:endParaRPr lang="en-US" altLang="zh-CN" dirty="0">
              <a:solidFill>
                <a:srgbClr val="000000"/>
              </a:solidFill>
            </a:endParaRPr>
          </a:p>
        </p:txBody>
      </p:sp>
      <p:grpSp>
        <p:nvGrpSpPr>
          <p:cNvPr id="82" name="组合 81"/>
          <p:cNvGrpSpPr/>
          <p:nvPr/>
        </p:nvGrpSpPr>
        <p:grpSpPr>
          <a:xfrm>
            <a:off x="1309960" y="2463907"/>
            <a:ext cx="2728400" cy="2697712"/>
            <a:chOff x="1307508" y="2462403"/>
            <a:chExt cx="2728400" cy="2697712"/>
          </a:xfrm>
        </p:grpSpPr>
        <p:grpSp>
          <p:nvGrpSpPr>
            <p:cNvPr id="75" name="组合 74"/>
            <p:cNvGrpSpPr/>
            <p:nvPr/>
          </p:nvGrpSpPr>
          <p:grpSpPr>
            <a:xfrm>
              <a:off x="1307508" y="2462403"/>
              <a:ext cx="2728400" cy="1875579"/>
              <a:chOff x="2281479" y="2643509"/>
              <a:chExt cx="2728400" cy="1875579"/>
            </a:xfrm>
          </p:grpSpPr>
          <p:sp>
            <p:nvSpPr>
              <p:cNvPr id="76" name="Rectangle 28"/>
              <p:cNvSpPr>
                <a:spLocks noChangeArrowheads="1"/>
              </p:cNvSpPr>
              <p:nvPr/>
            </p:nvSpPr>
            <p:spPr bwMode="auto">
              <a:xfrm>
                <a:off x="2281479" y="2972504"/>
                <a:ext cx="2728400" cy="383468"/>
              </a:xfrm>
              <a:prstGeom prst="rect">
                <a:avLst/>
              </a:prstGeom>
              <a:solidFill>
                <a:srgbClr val="E7E7FF"/>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spcBef>
                    <a:spcPct val="50000"/>
                  </a:spcBef>
                </a:pPr>
                <a:r>
                  <a:rPr lang="zh-CN" altLang="en-US" sz="1600" dirty="0">
                    <a:solidFill>
                      <a:srgbClr val="000000"/>
                    </a:solidFill>
                    <a:latin typeface="等线" panose="02010600030101010101" pitchFamily="2" charset="-122"/>
                    <a:ea typeface="等线" panose="02010600030101010101" pitchFamily="2" charset="-122"/>
                  </a:rPr>
                  <a:t>目的</a:t>
                </a:r>
                <a:r>
                  <a:rPr lang="en-US" altLang="zh-CN" sz="1600" dirty="0">
                    <a:solidFill>
                      <a:srgbClr val="000000"/>
                    </a:solidFill>
                    <a:latin typeface="等线" panose="02010600030101010101" pitchFamily="2" charset="-122"/>
                    <a:ea typeface="等线" panose="02010600030101010101" pitchFamily="2" charset="-122"/>
                  </a:rPr>
                  <a:t>MAC: </a:t>
                </a:r>
                <a:r>
                  <a:rPr lang="en-US" altLang="zh-CN" sz="1600" dirty="0" err="1">
                    <a:solidFill>
                      <a:srgbClr val="000000"/>
                    </a:solidFill>
                    <a:latin typeface="等线" panose="02010600030101010101" pitchFamily="2" charset="-122"/>
                    <a:ea typeface="等线" panose="02010600030101010101" pitchFamily="2" charset="-122"/>
                  </a:rPr>
                  <a:t>ff:ff:ff:ff:ff:ff</a:t>
                </a:r>
                <a:endParaRPr lang="en-US" altLang="zh-CN" sz="1600" dirty="0">
                  <a:solidFill>
                    <a:srgbClr val="000000"/>
                  </a:solidFill>
                  <a:latin typeface="等线" panose="02010600030101010101" pitchFamily="2" charset="-122"/>
                  <a:ea typeface="等线" panose="02010600030101010101" pitchFamily="2" charset="-122"/>
                </a:endParaRPr>
              </a:p>
            </p:txBody>
          </p:sp>
          <p:sp>
            <p:nvSpPr>
              <p:cNvPr id="77" name="Rectangle 29"/>
              <p:cNvSpPr>
                <a:spLocks noChangeArrowheads="1"/>
              </p:cNvSpPr>
              <p:nvPr/>
            </p:nvSpPr>
            <p:spPr bwMode="auto">
              <a:xfrm>
                <a:off x="2281479" y="3368684"/>
                <a:ext cx="2728400" cy="383468"/>
              </a:xfrm>
              <a:prstGeom prst="rect">
                <a:avLst/>
              </a:prstGeom>
              <a:solidFill>
                <a:srgbClr val="E7E7FF"/>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zh-CN" altLang="en-US" sz="1600" dirty="0">
                    <a:solidFill>
                      <a:srgbClr val="000000"/>
                    </a:solidFill>
                    <a:latin typeface="等线" panose="02010600030101010101" pitchFamily="2" charset="-122"/>
                    <a:ea typeface="等线" panose="02010600030101010101" pitchFamily="2" charset="-122"/>
                  </a:rPr>
                  <a:t>源</a:t>
                </a:r>
                <a:r>
                  <a:rPr lang="en-US" altLang="zh-CN" sz="1600" dirty="0">
                    <a:solidFill>
                      <a:srgbClr val="000000"/>
                    </a:solidFill>
                    <a:latin typeface="等线" panose="02010600030101010101" pitchFamily="2" charset="-122"/>
                    <a:ea typeface="等线" panose="02010600030101010101" pitchFamily="2" charset="-122"/>
                  </a:rPr>
                  <a:t>MAC:00:20:af:00:00:01 </a:t>
                </a:r>
              </a:p>
            </p:txBody>
          </p:sp>
          <p:sp>
            <p:nvSpPr>
              <p:cNvPr id="78" name="Rectangle 30"/>
              <p:cNvSpPr>
                <a:spLocks noChangeArrowheads="1"/>
              </p:cNvSpPr>
              <p:nvPr/>
            </p:nvSpPr>
            <p:spPr bwMode="auto">
              <a:xfrm>
                <a:off x="2281479" y="3752152"/>
                <a:ext cx="2728392" cy="383468"/>
              </a:xfrm>
              <a:prstGeom prst="rect">
                <a:avLst/>
              </a:prstGeom>
              <a:solidFill>
                <a:srgbClr val="FFFFCC"/>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zh-CN" altLang="en-US" sz="1600" dirty="0">
                    <a:solidFill>
                      <a:srgbClr val="000000"/>
                    </a:solidFill>
                    <a:latin typeface="等线" panose="02010600030101010101" pitchFamily="2" charset="-122"/>
                    <a:ea typeface="等线" panose="02010600030101010101" pitchFamily="2" charset="-122"/>
                  </a:rPr>
                  <a:t>目的</a:t>
                </a:r>
                <a:r>
                  <a:rPr lang="en-US" altLang="zh-CN" sz="1600" dirty="0">
                    <a:solidFill>
                      <a:srgbClr val="000000"/>
                    </a:solidFill>
                    <a:latin typeface="等线" panose="02010600030101010101" pitchFamily="2" charset="-122"/>
                    <a:ea typeface="等线" panose="02010600030101010101" pitchFamily="2" charset="-122"/>
                  </a:rPr>
                  <a:t>IP: 192.169.1.2 </a:t>
                </a:r>
              </a:p>
            </p:txBody>
          </p:sp>
          <p:sp>
            <p:nvSpPr>
              <p:cNvPr id="79" name="Rectangle 31"/>
              <p:cNvSpPr>
                <a:spLocks noChangeArrowheads="1"/>
              </p:cNvSpPr>
              <p:nvPr/>
            </p:nvSpPr>
            <p:spPr bwMode="auto">
              <a:xfrm>
                <a:off x="2281479" y="4135620"/>
                <a:ext cx="2728392" cy="383468"/>
              </a:xfrm>
              <a:prstGeom prst="rect">
                <a:avLst/>
              </a:prstGeom>
              <a:solidFill>
                <a:srgbClr val="FFFFCC"/>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zh-CN" altLang="en-US" sz="1600" dirty="0">
                    <a:solidFill>
                      <a:srgbClr val="000000"/>
                    </a:solidFill>
                    <a:latin typeface="等线" panose="02010600030101010101" pitchFamily="2" charset="-122"/>
                    <a:ea typeface="等线" panose="02010600030101010101" pitchFamily="2" charset="-122"/>
                  </a:rPr>
                  <a:t>源</a:t>
                </a:r>
                <a:r>
                  <a:rPr lang="en-US" altLang="zh-CN" sz="1600" dirty="0">
                    <a:solidFill>
                      <a:srgbClr val="000000"/>
                    </a:solidFill>
                    <a:latin typeface="等线" panose="02010600030101010101" pitchFamily="2" charset="-122"/>
                    <a:ea typeface="等线" panose="02010600030101010101" pitchFamily="2" charset="-122"/>
                  </a:rPr>
                  <a:t>IP: 192.169.1.1</a:t>
                </a:r>
              </a:p>
            </p:txBody>
          </p:sp>
          <p:sp>
            <p:nvSpPr>
              <p:cNvPr id="80" name="Text Box 32"/>
              <p:cNvSpPr txBox="1">
                <a:spLocks noChangeArrowheads="1"/>
              </p:cNvSpPr>
              <p:nvPr/>
            </p:nvSpPr>
            <p:spPr bwMode="auto">
              <a:xfrm>
                <a:off x="2320702" y="2643509"/>
                <a:ext cx="2689170"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ctr">
                  <a:spcBef>
                    <a:spcPct val="50000"/>
                  </a:spcBef>
                </a:pPr>
                <a:r>
                  <a:rPr lang="en-US" altLang="zh-CN" sz="1600" dirty="0">
                    <a:solidFill>
                      <a:srgbClr val="000000"/>
                    </a:solidFill>
                    <a:latin typeface="等线" panose="02010600030101010101" pitchFamily="2" charset="-122"/>
                    <a:ea typeface="等线" panose="02010600030101010101" pitchFamily="2" charset="-122"/>
                  </a:rPr>
                  <a:t>ARP</a:t>
                </a:r>
                <a:r>
                  <a:rPr lang="zh-CN" altLang="en-US" sz="1600" dirty="0">
                    <a:solidFill>
                      <a:srgbClr val="000000"/>
                    </a:solidFill>
                    <a:latin typeface="等线" panose="02010600030101010101" pitchFamily="2" charset="-122"/>
                    <a:ea typeface="等线" panose="02010600030101010101" pitchFamily="2" charset="-122"/>
                  </a:rPr>
                  <a:t>（地址解析协议）请求</a:t>
                </a:r>
              </a:p>
            </p:txBody>
          </p:sp>
        </p:grpSp>
        <p:sp>
          <p:nvSpPr>
            <p:cNvPr id="81" name="Text Box 40"/>
            <p:cNvSpPr txBox="1">
              <a:spLocks noChangeArrowheads="1"/>
            </p:cNvSpPr>
            <p:nvPr/>
          </p:nvSpPr>
          <p:spPr bwMode="auto">
            <a:xfrm>
              <a:off x="3459443" y="4784632"/>
              <a:ext cx="357399" cy="375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b="1" dirty="0">
                  <a:solidFill>
                    <a:srgbClr val="C00000"/>
                  </a:solidFill>
                </a:rPr>
                <a:t>A</a:t>
              </a:r>
            </a:p>
          </p:txBody>
        </p:sp>
      </p:grpSp>
      <p:sp>
        <p:nvSpPr>
          <p:cNvPr id="89"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90"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35</a:t>
            </a:fld>
            <a:endParaRPr kumimoji="1" lang="zh-CN" altLang="en-US" dirty="0"/>
          </a:p>
        </p:txBody>
      </p:sp>
      <p:sp>
        <p:nvSpPr>
          <p:cNvPr id="4" name="TextBox 3">
            <a:extLst>
              <a:ext uri="{FF2B5EF4-FFF2-40B4-BE49-F238E27FC236}">
                <a16:creationId xmlns:a16="http://schemas.microsoft.com/office/drawing/2014/main" id="{7F688E7E-23AB-59DB-DF21-3A9497DAA57E}"/>
              </a:ext>
            </a:extLst>
          </p:cNvPr>
          <p:cNvSpPr txBox="1"/>
          <p:nvPr/>
        </p:nvSpPr>
        <p:spPr>
          <a:xfrm>
            <a:off x="3223647" y="6354305"/>
            <a:ext cx="3922142" cy="369332"/>
          </a:xfrm>
          <a:prstGeom prst="rect">
            <a:avLst/>
          </a:prstGeom>
          <a:noFill/>
        </p:spPr>
        <p:txBody>
          <a:bodyPr wrap="square" rtlCol="0">
            <a:spAutoFit/>
          </a:bodyPr>
          <a:lstStyle/>
          <a:p>
            <a:pPr algn="ctr"/>
            <a:r>
              <a:rPr lang="en-US" altLang="zh-CN" dirty="0"/>
              <a:t>ARP:</a:t>
            </a:r>
            <a:r>
              <a:rPr lang="zh-CN" altLang="en-US" dirty="0"/>
              <a:t> </a:t>
            </a:r>
            <a:r>
              <a:rPr lang="en-US" altLang="zh-CN" dirty="0"/>
              <a:t>Address</a:t>
            </a:r>
            <a:r>
              <a:rPr lang="zh-CN" altLang="en-US" dirty="0"/>
              <a:t> </a:t>
            </a:r>
            <a:r>
              <a:rPr lang="en-US" altLang="zh-CN" dirty="0"/>
              <a:t>Resolution</a:t>
            </a:r>
            <a:r>
              <a:rPr lang="zh-CN" altLang="en-US" dirty="0"/>
              <a:t> </a:t>
            </a:r>
            <a:r>
              <a:rPr lang="en-US" altLang="zh-CN" dirty="0"/>
              <a:t>Protocol</a:t>
            </a:r>
            <a:endParaRPr lang="en-CN" dirty="0"/>
          </a:p>
        </p:txBody>
      </p:sp>
    </p:spTree>
    <p:extLst>
      <p:ext uri="{BB962C8B-B14F-4D97-AF65-F5344CB8AC3E}">
        <p14:creationId xmlns:p14="http://schemas.microsoft.com/office/powerpoint/2010/main" val="39955195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IP</a:t>
            </a:r>
            <a:r>
              <a:rPr lang="zh-CN" altLang="en-US" dirty="0"/>
              <a:t>包转发</a:t>
            </a:r>
          </a:p>
        </p:txBody>
      </p:sp>
      <p:sp>
        <p:nvSpPr>
          <p:cNvPr id="3" name="内容占位符 2"/>
          <p:cNvSpPr>
            <a:spLocks noGrp="1"/>
          </p:cNvSpPr>
          <p:nvPr>
            <p:ph idx="1"/>
          </p:nvPr>
        </p:nvSpPr>
        <p:spPr/>
        <p:txBody>
          <a:bodyPr/>
          <a:lstStyle/>
          <a:p>
            <a:r>
              <a:rPr lang="zh-CN" altLang="en-US" dirty="0">
                <a:solidFill>
                  <a:srgbClr val="C00000"/>
                </a:solidFill>
              </a:rPr>
              <a:t>直接交付</a:t>
            </a:r>
            <a:r>
              <a:rPr lang="zh-CN" altLang="en-US" dirty="0"/>
              <a:t>：与目的主机在同一个</a:t>
            </a:r>
            <a:r>
              <a:rPr lang="en-US" dirty="0"/>
              <a:t>IP</a:t>
            </a:r>
            <a:r>
              <a:rPr lang="zh-CN" altLang="en-US" dirty="0"/>
              <a:t>子网内</a:t>
            </a:r>
          </a:p>
        </p:txBody>
      </p:sp>
      <p:sp>
        <p:nvSpPr>
          <p:cNvPr id="7" name="Text Box 7"/>
          <p:cNvSpPr txBox="1">
            <a:spLocks noChangeArrowheads="1"/>
          </p:cNvSpPr>
          <p:nvPr/>
        </p:nvSpPr>
        <p:spPr bwMode="auto">
          <a:xfrm>
            <a:off x="7728587" y="5317138"/>
            <a:ext cx="3144000"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sz="1600" dirty="0">
                <a:solidFill>
                  <a:srgbClr val="000000"/>
                </a:solidFill>
                <a:latin typeface="等线" panose="02010600030101010101" pitchFamily="2" charset="-122"/>
                <a:ea typeface="等线" panose="02010600030101010101" pitchFamily="2" charset="-122"/>
              </a:rPr>
              <a:t>IP</a:t>
            </a:r>
            <a:r>
              <a:rPr lang="zh-CN" altLang="en-US" sz="1600" dirty="0">
                <a:solidFill>
                  <a:srgbClr val="000000"/>
                </a:solidFill>
                <a:latin typeface="等线" panose="02010600030101010101" pitchFamily="2" charset="-122"/>
                <a:ea typeface="等线" panose="02010600030101010101" pitchFamily="2" charset="-122"/>
              </a:rPr>
              <a:t>地址：	</a:t>
            </a:r>
            <a:r>
              <a:rPr lang="en-US" altLang="zh-CN" sz="1600" dirty="0">
                <a:solidFill>
                  <a:srgbClr val="000000"/>
                </a:solidFill>
                <a:latin typeface="等线" panose="02010600030101010101" pitchFamily="2" charset="-122"/>
                <a:ea typeface="等线" panose="02010600030101010101" pitchFamily="2" charset="-122"/>
              </a:rPr>
              <a:t>192.168.1.3</a:t>
            </a:r>
          </a:p>
          <a:p>
            <a:pPr algn="just" eaLnBrk="1"/>
            <a:r>
              <a:rPr lang="en-US" altLang="zh-CN" sz="1600" dirty="0">
                <a:solidFill>
                  <a:srgbClr val="000000"/>
                </a:solidFill>
                <a:latin typeface="等线" panose="02010600030101010101" pitchFamily="2" charset="-122"/>
                <a:ea typeface="等线" panose="02010600030101010101" pitchFamily="2" charset="-122"/>
              </a:rPr>
              <a:t>MAC</a:t>
            </a:r>
            <a:r>
              <a:rPr lang="zh-CN" altLang="en-US" sz="1600" dirty="0">
                <a:solidFill>
                  <a:srgbClr val="000000"/>
                </a:solidFill>
                <a:latin typeface="等线" panose="02010600030101010101" pitchFamily="2" charset="-122"/>
                <a:ea typeface="等线" panose="02010600030101010101" pitchFamily="2" charset="-122"/>
              </a:rPr>
              <a:t>地址：</a:t>
            </a:r>
            <a:r>
              <a:rPr lang="en-US" altLang="zh-CN" sz="1600" dirty="0">
                <a:solidFill>
                  <a:srgbClr val="000000"/>
                </a:solidFill>
                <a:latin typeface="等线" panose="02010600030101010101" pitchFamily="2" charset="-122"/>
                <a:ea typeface="等线" panose="02010600030101010101" pitchFamily="2" charset="-122"/>
              </a:rPr>
              <a:t>00:20:AF:00:00:03</a:t>
            </a:r>
          </a:p>
        </p:txBody>
      </p:sp>
      <p:sp>
        <p:nvSpPr>
          <p:cNvPr id="8" name="Text Box 9"/>
          <p:cNvSpPr txBox="1">
            <a:spLocks noChangeArrowheads="1"/>
          </p:cNvSpPr>
          <p:nvPr/>
        </p:nvSpPr>
        <p:spPr bwMode="auto">
          <a:xfrm>
            <a:off x="1668837" y="5340521"/>
            <a:ext cx="2562057"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en-US" altLang="zh-CN" sz="1600" dirty="0">
                <a:solidFill>
                  <a:srgbClr val="000000"/>
                </a:solidFill>
                <a:latin typeface="等线" panose="02010600030101010101" pitchFamily="2" charset="-122"/>
                <a:ea typeface="等线" panose="02010600030101010101" pitchFamily="2" charset="-122"/>
              </a:rPr>
              <a:t>IP</a:t>
            </a:r>
            <a:r>
              <a:rPr lang="zh-CN" altLang="en-US" sz="1600" dirty="0">
                <a:solidFill>
                  <a:srgbClr val="000000"/>
                </a:solidFill>
                <a:latin typeface="等线" panose="02010600030101010101" pitchFamily="2" charset="-122"/>
                <a:ea typeface="等线" panose="02010600030101010101" pitchFamily="2" charset="-122"/>
              </a:rPr>
              <a:t>：</a:t>
            </a:r>
            <a:r>
              <a:rPr lang="en-US" altLang="zh-CN" sz="1600" dirty="0">
                <a:solidFill>
                  <a:srgbClr val="000000"/>
                </a:solidFill>
                <a:latin typeface="等线" panose="02010600030101010101" pitchFamily="2" charset="-122"/>
                <a:ea typeface="等线" panose="02010600030101010101" pitchFamily="2" charset="-122"/>
              </a:rPr>
              <a:t>192.168.1.1</a:t>
            </a:r>
          </a:p>
          <a:p>
            <a:pPr algn="just"/>
            <a:r>
              <a:rPr lang="en-US" altLang="zh-CN" sz="1600" dirty="0">
                <a:solidFill>
                  <a:srgbClr val="000000"/>
                </a:solidFill>
                <a:latin typeface="等线" panose="02010600030101010101" pitchFamily="2" charset="-122"/>
                <a:ea typeface="等线" panose="02010600030101010101" pitchFamily="2" charset="-122"/>
              </a:rPr>
              <a:t>MAC</a:t>
            </a:r>
            <a:r>
              <a:rPr lang="zh-CN" altLang="en-US" sz="1600" dirty="0">
                <a:solidFill>
                  <a:srgbClr val="000000"/>
                </a:solidFill>
                <a:latin typeface="等线" panose="02010600030101010101" pitchFamily="2" charset="-122"/>
                <a:ea typeface="等线" panose="02010600030101010101" pitchFamily="2" charset="-122"/>
              </a:rPr>
              <a:t>：</a:t>
            </a:r>
            <a:r>
              <a:rPr lang="en-US" altLang="zh-CN" sz="1600" dirty="0">
                <a:solidFill>
                  <a:srgbClr val="000000"/>
                </a:solidFill>
                <a:latin typeface="等线" panose="02010600030101010101" pitchFamily="2" charset="-122"/>
                <a:ea typeface="等线" panose="02010600030101010101" pitchFamily="2" charset="-122"/>
              </a:rPr>
              <a:t>00:20:AF:00:00:01</a:t>
            </a:r>
          </a:p>
        </p:txBody>
      </p:sp>
      <p:pic>
        <p:nvPicPr>
          <p:cNvPr id="9" name="Picture 45" descr="图片3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2578" y="3079898"/>
            <a:ext cx="1153211" cy="466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 name="Group 46"/>
          <p:cNvGrpSpPr>
            <a:grpSpLocks/>
          </p:cNvGrpSpPr>
          <p:nvPr/>
        </p:nvGrpSpPr>
        <p:grpSpPr bwMode="auto">
          <a:xfrm>
            <a:off x="3398647" y="4838007"/>
            <a:ext cx="503537" cy="438834"/>
            <a:chOff x="0" y="1872"/>
            <a:chExt cx="573" cy="518"/>
          </a:xfrm>
        </p:grpSpPr>
        <p:pic>
          <p:nvPicPr>
            <p:cNvPr id="35" name="Picture 4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872"/>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Rectangle 48"/>
            <p:cNvSpPr>
              <a:spLocks noChangeArrowheads="1"/>
            </p:cNvSpPr>
            <p:nvPr/>
          </p:nvSpPr>
          <p:spPr bwMode="auto">
            <a:xfrm>
              <a:off x="115" y="1954"/>
              <a:ext cx="266"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tabLst>
                  <a:tab pos="514350" algn="l"/>
                  <a:tab pos="1028700" algn="l"/>
                  <a:tab pos="1543050" algn="l"/>
                </a:tabLst>
                <a:defRPr kumimoji="1">
                  <a:solidFill>
                    <a:schemeClr val="bg1"/>
                  </a:solidFill>
                  <a:latin typeface="Times New Roman" pitchFamily="18" charset="0"/>
                  <a:ea typeface="宋体" pitchFamily="2" charset="-122"/>
                </a:defRPr>
              </a:lvl1pPr>
              <a:lvl2pPr marL="742950" indent="-285750" defTabSz="1028700">
                <a:tabLst>
                  <a:tab pos="514350" algn="l"/>
                  <a:tab pos="1028700" algn="l"/>
                  <a:tab pos="1543050" algn="l"/>
                </a:tabLst>
                <a:defRPr kumimoji="1">
                  <a:solidFill>
                    <a:schemeClr val="bg1"/>
                  </a:solidFill>
                  <a:latin typeface="Times New Roman" pitchFamily="18" charset="0"/>
                  <a:ea typeface="宋体" pitchFamily="2" charset="-122"/>
                </a:defRPr>
              </a:lvl2pPr>
              <a:lvl3pPr marL="11430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3pPr>
              <a:lvl4pPr marL="16002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4pPr>
              <a:lvl5pPr marL="20574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5pPr>
              <a:lvl6pPr marL="25146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6pPr>
              <a:lvl7pPr marL="29718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7pPr>
              <a:lvl8pPr marL="34290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8pPr>
              <a:lvl9pPr marL="38862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9pPr>
            </a:lstStyle>
            <a:p>
              <a:pPr>
                <a:lnSpc>
                  <a:spcPts val="2138"/>
                </a:lnSpc>
              </a:pPr>
              <a:endParaRPr kumimoji="0" lang="zh-CN" altLang="zh-CN" sz="2000" b="1">
                <a:solidFill>
                  <a:srgbClr val="000000"/>
                </a:solidFill>
                <a:latin typeface="Helvetica" charset="0"/>
              </a:endParaRPr>
            </a:p>
          </p:txBody>
        </p:sp>
      </p:grpSp>
      <p:grpSp>
        <p:nvGrpSpPr>
          <p:cNvPr id="11" name="Group 49"/>
          <p:cNvGrpSpPr>
            <a:grpSpLocks/>
          </p:cNvGrpSpPr>
          <p:nvPr/>
        </p:nvGrpSpPr>
        <p:grpSpPr bwMode="auto">
          <a:xfrm>
            <a:off x="5919509" y="4839390"/>
            <a:ext cx="503536" cy="438835"/>
            <a:chOff x="0" y="1872"/>
            <a:chExt cx="573" cy="518"/>
          </a:xfrm>
        </p:grpSpPr>
        <p:pic>
          <p:nvPicPr>
            <p:cNvPr id="33" name="Picture 5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872"/>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Rectangle 51"/>
            <p:cNvSpPr>
              <a:spLocks noChangeArrowheads="1"/>
            </p:cNvSpPr>
            <p:nvPr/>
          </p:nvSpPr>
          <p:spPr bwMode="auto">
            <a:xfrm>
              <a:off x="115" y="1954"/>
              <a:ext cx="266"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tabLst>
                  <a:tab pos="514350" algn="l"/>
                  <a:tab pos="1028700" algn="l"/>
                  <a:tab pos="1543050" algn="l"/>
                </a:tabLst>
                <a:defRPr kumimoji="1">
                  <a:solidFill>
                    <a:schemeClr val="bg1"/>
                  </a:solidFill>
                  <a:latin typeface="Times New Roman" pitchFamily="18" charset="0"/>
                  <a:ea typeface="宋体" pitchFamily="2" charset="-122"/>
                </a:defRPr>
              </a:lvl1pPr>
              <a:lvl2pPr marL="742950" indent="-285750" defTabSz="1028700">
                <a:tabLst>
                  <a:tab pos="514350" algn="l"/>
                  <a:tab pos="1028700" algn="l"/>
                  <a:tab pos="1543050" algn="l"/>
                </a:tabLst>
                <a:defRPr kumimoji="1">
                  <a:solidFill>
                    <a:schemeClr val="bg1"/>
                  </a:solidFill>
                  <a:latin typeface="Times New Roman" pitchFamily="18" charset="0"/>
                  <a:ea typeface="宋体" pitchFamily="2" charset="-122"/>
                </a:defRPr>
              </a:lvl2pPr>
              <a:lvl3pPr marL="11430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3pPr>
              <a:lvl4pPr marL="16002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4pPr>
              <a:lvl5pPr marL="20574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5pPr>
              <a:lvl6pPr marL="25146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6pPr>
              <a:lvl7pPr marL="29718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7pPr>
              <a:lvl8pPr marL="34290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8pPr>
              <a:lvl9pPr marL="38862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9pPr>
            </a:lstStyle>
            <a:p>
              <a:pPr>
                <a:lnSpc>
                  <a:spcPts val="2138"/>
                </a:lnSpc>
              </a:pPr>
              <a:endParaRPr kumimoji="0" lang="zh-CN" altLang="zh-CN" sz="2000" b="1">
                <a:solidFill>
                  <a:srgbClr val="000000"/>
                </a:solidFill>
                <a:latin typeface="Helvetica" charset="0"/>
              </a:endParaRPr>
            </a:p>
          </p:txBody>
        </p:sp>
      </p:grpSp>
      <p:grpSp>
        <p:nvGrpSpPr>
          <p:cNvPr id="12" name="Group 52"/>
          <p:cNvGrpSpPr>
            <a:grpSpLocks/>
          </p:cNvGrpSpPr>
          <p:nvPr/>
        </p:nvGrpSpPr>
        <p:grpSpPr bwMode="auto">
          <a:xfrm>
            <a:off x="8515027" y="4839390"/>
            <a:ext cx="503536" cy="438835"/>
            <a:chOff x="0" y="1872"/>
            <a:chExt cx="573" cy="518"/>
          </a:xfrm>
        </p:grpSpPr>
        <p:pic>
          <p:nvPicPr>
            <p:cNvPr id="31" name="Picture 5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1872"/>
              <a:ext cx="573"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Rectangle 54"/>
            <p:cNvSpPr>
              <a:spLocks noChangeArrowheads="1"/>
            </p:cNvSpPr>
            <p:nvPr/>
          </p:nvSpPr>
          <p:spPr bwMode="auto">
            <a:xfrm>
              <a:off x="115" y="1954"/>
              <a:ext cx="266" cy="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tabLst>
                  <a:tab pos="514350" algn="l"/>
                  <a:tab pos="1028700" algn="l"/>
                  <a:tab pos="1543050" algn="l"/>
                </a:tabLst>
                <a:defRPr kumimoji="1">
                  <a:solidFill>
                    <a:schemeClr val="bg1"/>
                  </a:solidFill>
                  <a:latin typeface="Times New Roman" pitchFamily="18" charset="0"/>
                  <a:ea typeface="宋体" pitchFamily="2" charset="-122"/>
                </a:defRPr>
              </a:lvl1pPr>
              <a:lvl2pPr marL="742950" indent="-285750" defTabSz="1028700">
                <a:tabLst>
                  <a:tab pos="514350" algn="l"/>
                  <a:tab pos="1028700" algn="l"/>
                  <a:tab pos="1543050" algn="l"/>
                </a:tabLst>
                <a:defRPr kumimoji="1">
                  <a:solidFill>
                    <a:schemeClr val="bg1"/>
                  </a:solidFill>
                  <a:latin typeface="Times New Roman" pitchFamily="18" charset="0"/>
                  <a:ea typeface="宋体" pitchFamily="2" charset="-122"/>
                </a:defRPr>
              </a:lvl2pPr>
              <a:lvl3pPr marL="11430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3pPr>
              <a:lvl4pPr marL="16002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4pPr>
              <a:lvl5pPr marL="20574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5pPr>
              <a:lvl6pPr marL="25146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6pPr>
              <a:lvl7pPr marL="29718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7pPr>
              <a:lvl8pPr marL="34290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8pPr>
              <a:lvl9pPr marL="38862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9pPr>
            </a:lstStyle>
            <a:p>
              <a:pPr>
                <a:lnSpc>
                  <a:spcPts val="2138"/>
                </a:lnSpc>
              </a:pPr>
              <a:endParaRPr kumimoji="0" lang="zh-CN" altLang="zh-CN" sz="2000" b="1">
                <a:solidFill>
                  <a:srgbClr val="000000"/>
                </a:solidFill>
                <a:latin typeface="Helvetica" charset="0"/>
              </a:endParaRPr>
            </a:p>
          </p:txBody>
        </p:sp>
      </p:grpSp>
      <p:sp>
        <p:nvSpPr>
          <p:cNvPr id="13" name="Text Box 55"/>
          <p:cNvSpPr txBox="1">
            <a:spLocks noChangeArrowheads="1"/>
          </p:cNvSpPr>
          <p:nvPr/>
        </p:nvSpPr>
        <p:spPr bwMode="auto">
          <a:xfrm>
            <a:off x="5077230" y="5340520"/>
            <a:ext cx="2770336" cy="584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en-US" altLang="zh-CN" sz="1600" dirty="0">
                <a:solidFill>
                  <a:srgbClr val="000000"/>
                </a:solidFill>
                <a:latin typeface="等线" panose="02010600030101010101" pitchFamily="2" charset="-122"/>
                <a:ea typeface="等线" panose="02010600030101010101" pitchFamily="2" charset="-122"/>
              </a:rPr>
              <a:t>IP</a:t>
            </a:r>
            <a:r>
              <a:rPr lang="zh-CN" altLang="en-US" sz="1600" dirty="0">
                <a:solidFill>
                  <a:srgbClr val="000000"/>
                </a:solidFill>
                <a:latin typeface="等线" panose="02010600030101010101" pitchFamily="2" charset="-122"/>
                <a:ea typeface="等线" panose="02010600030101010101" pitchFamily="2" charset="-122"/>
              </a:rPr>
              <a:t>：</a:t>
            </a:r>
            <a:r>
              <a:rPr lang="en-US" altLang="zh-CN" sz="1600" dirty="0">
                <a:solidFill>
                  <a:srgbClr val="000000"/>
                </a:solidFill>
                <a:latin typeface="等线" panose="02010600030101010101" pitchFamily="2" charset="-122"/>
                <a:ea typeface="等线" panose="02010600030101010101" pitchFamily="2" charset="-122"/>
              </a:rPr>
              <a:t>192.168.1.2</a:t>
            </a:r>
          </a:p>
          <a:p>
            <a:pPr algn="just"/>
            <a:r>
              <a:rPr lang="en-US" altLang="zh-CN" sz="1600" dirty="0">
                <a:solidFill>
                  <a:srgbClr val="000000"/>
                </a:solidFill>
                <a:latin typeface="等线" panose="02010600030101010101" pitchFamily="2" charset="-122"/>
                <a:ea typeface="等线" panose="02010600030101010101" pitchFamily="2" charset="-122"/>
              </a:rPr>
              <a:t>MAC</a:t>
            </a:r>
            <a:r>
              <a:rPr lang="zh-CN" altLang="en-US" sz="1600" dirty="0">
                <a:solidFill>
                  <a:srgbClr val="000000"/>
                </a:solidFill>
                <a:latin typeface="等线" panose="02010600030101010101" pitchFamily="2" charset="-122"/>
                <a:ea typeface="等线" panose="02010600030101010101" pitchFamily="2" charset="-122"/>
              </a:rPr>
              <a:t>：</a:t>
            </a:r>
            <a:r>
              <a:rPr lang="en-US" altLang="zh-CN" sz="1600" dirty="0">
                <a:solidFill>
                  <a:srgbClr val="000000"/>
                </a:solidFill>
                <a:latin typeface="等线" panose="02010600030101010101" pitchFamily="2" charset="-122"/>
                <a:ea typeface="等线" panose="02010600030101010101" pitchFamily="2" charset="-122"/>
              </a:rPr>
              <a:t>00:20:AF:00:00:02</a:t>
            </a:r>
          </a:p>
        </p:txBody>
      </p:sp>
      <p:sp>
        <p:nvSpPr>
          <p:cNvPr id="14" name="Text Box 40"/>
          <p:cNvSpPr txBox="1">
            <a:spLocks noChangeArrowheads="1"/>
          </p:cNvSpPr>
          <p:nvPr/>
        </p:nvSpPr>
        <p:spPr bwMode="auto">
          <a:xfrm>
            <a:off x="3460791" y="4791519"/>
            <a:ext cx="357399" cy="375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b="1" dirty="0">
                <a:solidFill>
                  <a:srgbClr val="000000"/>
                </a:solidFill>
              </a:rPr>
              <a:t>A</a:t>
            </a:r>
          </a:p>
        </p:txBody>
      </p:sp>
      <p:sp>
        <p:nvSpPr>
          <p:cNvPr id="15" name="Text Box 56"/>
          <p:cNvSpPr txBox="1">
            <a:spLocks noChangeArrowheads="1"/>
          </p:cNvSpPr>
          <p:nvPr/>
        </p:nvSpPr>
        <p:spPr bwMode="auto">
          <a:xfrm>
            <a:off x="5984430" y="4804669"/>
            <a:ext cx="357400" cy="319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b="1" dirty="0">
                <a:solidFill>
                  <a:srgbClr val="000000"/>
                </a:solidFill>
              </a:rPr>
              <a:t>B</a:t>
            </a:r>
          </a:p>
        </p:txBody>
      </p:sp>
      <p:sp>
        <p:nvSpPr>
          <p:cNvPr id="16" name="Text Box 57"/>
          <p:cNvSpPr txBox="1">
            <a:spLocks noChangeArrowheads="1"/>
          </p:cNvSpPr>
          <p:nvPr/>
        </p:nvSpPr>
        <p:spPr bwMode="auto">
          <a:xfrm>
            <a:off x="8560487" y="4794941"/>
            <a:ext cx="357400" cy="319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b="1" dirty="0">
                <a:solidFill>
                  <a:srgbClr val="000000"/>
                </a:solidFill>
              </a:rPr>
              <a:t>C</a:t>
            </a:r>
          </a:p>
        </p:txBody>
      </p:sp>
      <p:sp>
        <p:nvSpPr>
          <p:cNvPr id="17" name="Line 58"/>
          <p:cNvSpPr>
            <a:spLocks noChangeShapeType="1"/>
          </p:cNvSpPr>
          <p:nvPr/>
        </p:nvSpPr>
        <p:spPr bwMode="auto">
          <a:xfrm flipH="1">
            <a:off x="3759225" y="3520118"/>
            <a:ext cx="2233353" cy="1317889"/>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rgbClr val="FFFFFF"/>
              </a:solidFill>
            </a:endParaRPr>
          </a:p>
        </p:txBody>
      </p:sp>
      <p:sp>
        <p:nvSpPr>
          <p:cNvPr id="18" name="Line 59"/>
          <p:cNvSpPr>
            <a:spLocks noChangeShapeType="1"/>
          </p:cNvSpPr>
          <p:nvPr/>
        </p:nvSpPr>
        <p:spPr bwMode="auto">
          <a:xfrm flipH="1">
            <a:off x="6208606" y="3582412"/>
            <a:ext cx="142960" cy="125559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rgbClr val="FFFFFF"/>
              </a:solidFill>
            </a:endParaRPr>
          </a:p>
        </p:txBody>
      </p:sp>
      <p:sp>
        <p:nvSpPr>
          <p:cNvPr id="19" name="Line 60"/>
          <p:cNvSpPr>
            <a:spLocks noChangeShapeType="1"/>
          </p:cNvSpPr>
          <p:nvPr/>
        </p:nvSpPr>
        <p:spPr bwMode="auto">
          <a:xfrm>
            <a:off x="7001239" y="3394143"/>
            <a:ext cx="1656748" cy="144386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rgbClr val="FFFFFF"/>
              </a:solidFill>
            </a:endParaRPr>
          </a:p>
        </p:txBody>
      </p:sp>
      <p:sp>
        <p:nvSpPr>
          <p:cNvPr id="20" name="Text Box 61"/>
          <p:cNvSpPr txBox="1">
            <a:spLocks noChangeArrowheads="1"/>
          </p:cNvSpPr>
          <p:nvPr/>
        </p:nvSpPr>
        <p:spPr bwMode="auto">
          <a:xfrm>
            <a:off x="5122105" y="3268168"/>
            <a:ext cx="941945"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spcBef>
                <a:spcPct val="50000"/>
              </a:spcBef>
            </a:pPr>
            <a:r>
              <a:rPr lang="en-US" altLang="zh-CN" sz="1600" dirty="0">
                <a:solidFill>
                  <a:srgbClr val="000000"/>
                </a:solidFill>
                <a:latin typeface="等线" panose="02010600030101010101" pitchFamily="2" charset="-122"/>
                <a:ea typeface="等线" panose="02010600030101010101" pitchFamily="2" charset="-122"/>
              </a:rPr>
              <a:t>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1/1</a:t>
            </a:r>
          </a:p>
        </p:txBody>
      </p:sp>
      <p:sp>
        <p:nvSpPr>
          <p:cNvPr id="21" name="Text Box 62"/>
          <p:cNvSpPr txBox="1">
            <a:spLocks noChangeArrowheads="1"/>
          </p:cNvSpPr>
          <p:nvPr/>
        </p:nvSpPr>
        <p:spPr bwMode="auto">
          <a:xfrm>
            <a:off x="6280077" y="3504890"/>
            <a:ext cx="1008662"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spcBef>
                <a:spcPct val="50000"/>
              </a:spcBef>
            </a:pPr>
            <a:r>
              <a:rPr lang="en-US" altLang="zh-CN" sz="1600" dirty="0">
                <a:solidFill>
                  <a:srgbClr val="000000"/>
                </a:solidFill>
                <a:latin typeface="等线" panose="02010600030101010101" pitchFamily="2" charset="-122"/>
                <a:ea typeface="等线" panose="02010600030101010101" pitchFamily="2" charset="-122"/>
              </a:rPr>
              <a:t>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1/2</a:t>
            </a:r>
          </a:p>
        </p:txBody>
      </p:sp>
      <p:sp>
        <p:nvSpPr>
          <p:cNvPr id="22" name="Text Box 63"/>
          <p:cNvSpPr txBox="1">
            <a:spLocks noChangeArrowheads="1"/>
          </p:cNvSpPr>
          <p:nvPr/>
        </p:nvSpPr>
        <p:spPr bwMode="auto">
          <a:xfrm>
            <a:off x="7001230" y="3205873"/>
            <a:ext cx="1168287"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spcBef>
                <a:spcPct val="50000"/>
              </a:spcBef>
            </a:pPr>
            <a:r>
              <a:rPr lang="en-US" altLang="zh-CN" sz="1600" dirty="0">
                <a:solidFill>
                  <a:srgbClr val="000000"/>
                </a:solidFill>
                <a:latin typeface="等线" panose="02010600030101010101" pitchFamily="2" charset="-122"/>
                <a:ea typeface="等线" panose="02010600030101010101" pitchFamily="2" charset="-122"/>
              </a:rPr>
              <a:t>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1/3</a:t>
            </a:r>
          </a:p>
        </p:txBody>
      </p:sp>
      <p:sp>
        <p:nvSpPr>
          <p:cNvPr id="23" name="Text Box 64"/>
          <p:cNvSpPr txBox="1">
            <a:spLocks noChangeArrowheads="1"/>
          </p:cNvSpPr>
          <p:nvPr/>
        </p:nvSpPr>
        <p:spPr bwMode="auto">
          <a:xfrm>
            <a:off x="6064049" y="2703359"/>
            <a:ext cx="1224689" cy="340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spcBef>
                <a:spcPct val="50000"/>
              </a:spcBef>
            </a:pPr>
            <a:r>
              <a:rPr lang="en-US" altLang="zh-CN" sz="1600" dirty="0">
                <a:solidFill>
                  <a:srgbClr val="000000"/>
                </a:solidFill>
                <a:latin typeface="等线" panose="02010600030101010101" pitchFamily="2" charset="-122"/>
                <a:ea typeface="等线" panose="02010600030101010101" pitchFamily="2" charset="-122"/>
              </a:rPr>
              <a:t>Switch</a:t>
            </a:r>
          </a:p>
        </p:txBody>
      </p:sp>
      <p:grpSp>
        <p:nvGrpSpPr>
          <p:cNvPr id="85" name="组合 84"/>
          <p:cNvGrpSpPr/>
          <p:nvPr/>
        </p:nvGrpSpPr>
        <p:grpSpPr>
          <a:xfrm>
            <a:off x="1173776" y="2330473"/>
            <a:ext cx="5175008" cy="2843177"/>
            <a:chOff x="1173776" y="2330473"/>
            <a:chExt cx="5175008" cy="2843177"/>
          </a:xfrm>
        </p:grpSpPr>
        <p:grpSp>
          <p:nvGrpSpPr>
            <p:cNvPr id="74" name="组合 73"/>
            <p:cNvGrpSpPr/>
            <p:nvPr/>
          </p:nvGrpSpPr>
          <p:grpSpPr>
            <a:xfrm>
              <a:off x="1173776" y="2330473"/>
              <a:ext cx="2728400" cy="1887680"/>
              <a:chOff x="2281479" y="2631408"/>
              <a:chExt cx="2728400" cy="1887680"/>
            </a:xfrm>
          </p:grpSpPr>
          <p:sp>
            <p:nvSpPr>
              <p:cNvPr id="69" name="Rectangle 28"/>
              <p:cNvSpPr>
                <a:spLocks noChangeArrowheads="1"/>
              </p:cNvSpPr>
              <p:nvPr/>
            </p:nvSpPr>
            <p:spPr bwMode="auto">
              <a:xfrm>
                <a:off x="2281479" y="2972504"/>
                <a:ext cx="2728400" cy="383468"/>
              </a:xfrm>
              <a:prstGeom prst="rect">
                <a:avLst/>
              </a:prstGeom>
              <a:solidFill>
                <a:srgbClr val="E7E7FF"/>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spcBef>
                    <a:spcPct val="50000"/>
                  </a:spcBef>
                </a:pPr>
                <a:r>
                  <a:rPr lang="zh-CN" altLang="en-US" sz="1600" dirty="0">
                    <a:solidFill>
                      <a:srgbClr val="000000"/>
                    </a:solidFill>
                    <a:latin typeface="等线" panose="02010600030101010101" pitchFamily="2" charset="-122"/>
                    <a:ea typeface="等线" panose="02010600030101010101" pitchFamily="2" charset="-122"/>
                  </a:rPr>
                  <a:t>目的</a:t>
                </a:r>
                <a:r>
                  <a:rPr lang="en-US" altLang="zh-CN" sz="1600" dirty="0">
                    <a:solidFill>
                      <a:srgbClr val="000000"/>
                    </a:solidFill>
                    <a:latin typeface="等线" panose="02010600030101010101" pitchFamily="2" charset="-122"/>
                    <a:ea typeface="等线" panose="02010600030101010101" pitchFamily="2" charset="-122"/>
                  </a:rPr>
                  <a:t>MAC:00:20:af:00:00:01</a:t>
                </a:r>
              </a:p>
            </p:txBody>
          </p:sp>
          <p:sp>
            <p:nvSpPr>
              <p:cNvPr id="70" name="Rectangle 29"/>
              <p:cNvSpPr>
                <a:spLocks noChangeArrowheads="1"/>
              </p:cNvSpPr>
              <p:nvPr/>
            </p:nvSpPr>
            <p:spPr bwMode="auto">
              <a:xfrm>
                <a:off x="2281479" y="3368684"/>
                <a:ext cx="2728400" cy="383468"/>
              </a:xfrm>
              <a:prstGeom prst="rect">
                <a:avLst/>
              </a:prstGeom>
              <a:solidFill>
                <a:srgbClr val="E7E7FF"/>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spcBef>
                    <a:spcPct val="50000"/>
                  </a:spcBef>
                </a:pPr>
                <a:r>
                  <a:rPr lang="zh-CN" altLang="en-US" sz="1600" dirty="0">
                    <a:solidFill>
                      <a:srgbClr val="000000"/>
                    </a:solidFill>
                    <a:latin typeface="等线" panose="02010600030101010101" pitchFamily="2" charset="-122"/>
                    <a:ea typeface="等线" panose="02010600030101010101" pitchFamily="2" charset="-122"/>
                  </a:rPr>
                  <a:t>源</a:t>
                </a:r>
                <a:r>
                  <a:rPr lang="en-US" altLang="zh-CN" sz="1600" dirty="0">
                    <a:solidFill>
                      <a:srgbClr val="000000"/>
                    </a:solidFill>
                    <a:latin typeface="等线" panose="02010600030101010101" pitchFamily="2" charset="-122"/>
                    <a:ea typeface="等线" panose="02010600030101010101" pitchFamily="2" charset="-122"/>
                  </a:rPr>
                  <a:t>MAC:00:20:af:00:00:02 </a:t>
                </a:r>
              </a:p>
            </p:txBody>
          </p:sp>
          <p:sp>
            <p:nvSpPr>
              <p:cNvPr id="71" name="Rectangle 30"/>
              <p:cNvSpPr>
                <a:spLocks noChangeArrowheads="1"/>
              </p:cNvSpPr>
              <p:nvPr/>
            </p:nvSpPr>
            <p:spPr bwMode="auto">
              <a:xfrm>
                <a:off x="2281479" y="3752152"/>
                <a:ext cx="2728392" cy="383468"/>
              </a:xfrm>
              <a:prstGeom prst="rect">
                <a:avLst/>
              </a:prstGeom>
              <a:solidFill>
                <a:srgbClr val="FFFFCC"/>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spcBef>
                    <a:spcPct val="50000"/>
                  </a:spcBef>
                </a:pPr>
                <a:r>
                  <a:rPr lang="zh-CN" altLang="en-US" sz="1600" dirty="0">
                    <a:solidFill>
                      <a:srgbClr val="000000"/>
                    </a:solidFill>
                    <a:latin typeface="等线" panose="02010600030101010101" pitchFamily="2" charset="-122"/>
                    <a:ea typeface="等线" panose="02010600030101010101" pitchFamily="2" charset="-122"/>
                  </a:rPr>
                  <a:t>目的</a:t>
                </a:r>
                <a:r>
                  <a:rPr lang="en-US" altLang="zh-CN" sz="1600" dirty="0">
                    <a:solidFill>
                      <a:srgbClr val="000000"/>
                    </a:solidFill>
                    <a:latin typeface="等线" panose="02010600030101010101" pitchFamily="2" charset="-122"/>
                    <a:ea typeface="等线" panose="02010600030101010101" pitchFamily="2" charset="-122"/>
                  </a:rPr>
                  <a:t>IP: 192.169.1.1</a:t>
                </a:r>
              </a:p>
            </p:txBody>
          </p:sp>
          <p:sp>
            <p:nvSpPr>
              <p:cNvPr id="72" name="Rectangle 31"/>
              <p:cNvSpPr>
                <a:spLocks noChangeArrowheads="1"/>
              </p:cNvSpPr>
              <p:nvPr/>
            </p:nvSpPr>
            <p:spPr bwMode="auto">
              <a:xfrm>
                <a:off x="2281479" y="4135620"/>
                <a:ext cx="2728392" cy="383468"/>
              </a:xfrm>
              <a:prstGeom prst="rect">
                <a:avLst/>
              </a:prstGeom>
              <a:solidFill>
                <a:srgbClr val="FFFFCC"/>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spcBef>
                    <a:spcPct val="50000"/>
                  </a:spcBef>
                </a:pPr>
                <a:r>
                  <a:rPr lang="zh-CN" altLang="en-US" sz="1600" dirty="0">
                    <a:solidFill>
                      <a:srgbClr val="000000"/>
                    </a:solidFill>
                    <a:latin typeface="等线" panose="02010600030101010101" pitchFamily="2" charset="-122"/>
                    <a:ea typeface="等线" panose="02010600030101010101" pitchFamily="2" charset="-122"/>
                  </a:rPr>
                  <a:t>源</a:t>
                </a:r>
                <a:r>
                  <a:rPr lang="en-US" altLang="zh-CN" sz="1600" dirty="0">
                    <a:solidFill>
                      <a:srgbClr val="000000"/>
                    </a:solidFill>
                    <a:latin typeface="等线" panose="02010600030101010101" pitchFamily="2" charset="-122"/>
                    <a:ea typeface="等线" panose="02010600030101010101" pitchFamily="2" charset="-122"/>
                  </a:rPr>
                  <a:t>IP: 192.169.1.2</a:t>
                </a:r>
              </a:p>
            </p:txBody>
          </p:sp>
          <p:sp>
            <p:nvSpPr>
              <p:cNvPr id="73" name="Text Box 32"/>
              <p:cNvSpPr txBox="1">
                <a:spLocks noChangeArrowheads="1"/>
              </p:cNvSpPr>
              <p:nvPr/>
            </p:nvSpPr>
            <p:spPr bwMode="auto">
              <a:xfrm>
                <a:off x="2438632" y="2631408"/>
                <a:ext cx="2234221" cy="341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ctr">
                  <a:spcBef>
                    <a:spcPct val="50000"/>
                  </a:spcBef>
                </a:pPr>
                <a:r>
                  <a:rPr lang="en-US" altLang="zh-CN" sz="1600" dirty="0">
                    <a:solidFill>
                      <a:srgbClr val="000000"/>
                    </a:solidFill>
                    <a:latin typeface="等线" panose="02010600030101010101" pitchFamily="2" charset="-122"/>
                    <a:ea typeface="等线" panose="02010600030101010101" pitchFamily="2" charset="-122"/>
                  </a:rPr>
                  <a:t>ARP</a:t>
                </a:r>
                <a:r>
                  <a:rPr lang="zh-CN" altLang="en-US" sz="1600" dirty="0">
                    <a:solidFill>
                      <a:srgbClr val="000000"/>
                    </a:solidFill>
                    <a:latin typeface="等线" panose="02010600030101010101" pitchFamily="2" charset="-122"/>
                    <a:ea typeface="等线" panose="02010600030101010101" pitchFamily="2" charset="-122"/>
                  </a:rPr>
                  <a:t>响应</a:t>
                </a:r>
              </a:p>
            </p:txBody>
          </p:sp>
        </p:grpSp>
        <p:sp>
          <p:nvSpPr>
            <p:cNvPr id="83" name="Text Box 56"/>
            <p:cNvSpPr txBox="1">
              <a:spLocks noChangeArrowheads="1"/>
            </p:cNvSpPr>
            <p:nvPr/>
          </p:nvSpPr>
          <p:spPr bwMode="auto">
            <a:xfrm>
              <a:off x="5991384" y="4804326"/>
              <a:ext cx="357400" cy="369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eaLnBrk="1"/>
              <a:r>
                <a:rPr lang="en-US" altLang="zh-CN" b="1" dirty="0">
                  <a:solidFill>
                    <a:srgbClr val="C00000"/>
                  </a:solidFill>
                </a:rPr>
                <a:t>B</a:t>
              </a:r>
            </a:p>
          </p:txBody>
        </p:sp>
      </p:grpSp>
      <p:grpSp>
        <p:nvGrpSpPr>
          <p:cNvPr id="88" name="组合 87"/>
          <p:cNvGrpSpPr/>
          <p:nvPr/>
        </p:nvGrpSpPr>
        <p:grpSpPr>
          <a:xfrm>
            <a:off x="7963075" y="2454938"/>
            <a:ext cx="2689170" cy="1345317"/>
            <a:chOff x="7865341" y="3440819"/>
            <a:chExt cx="2689170" cy="1345317"/>
          </a:xfrm>
        </p:grpSpPr>
        <p:sp>
          <p:nvSpPr>
            <p:cNvPr id="86" name="Rectangle 33"/>
            <p:cNvSpPr>
              <a:spLocks noChangeArrowheads="1"/>
            </p:cNvSpPr>
            <p:nvPr/>
          </p:nvSpPr>
          <p:spPr bwMode="auto">
            <a:xfrm>
              <a:off x="7865341" y="3440819"/>
              <a:ext cx="2689170" cy="1345317"/>
            </a:xfrm>
            <a:prstGeom prst="rect">
              <a:avLst/>
            </a:prstGeom>
            <a:solidFill>
              <a:srgbClr val="E7FFE7"/>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l"/>
              <a:r>
                <a:rPr lang="en-US" altLang="zh-CN" sz="1200" dirty="0">
                  <a:solidFill>
                    <a:srgbClr val="000000"/>
                  </a:solidFill>
                </a:rPr>
                <a:t>         </a:t>
              </a:r>
            </a:p>
            <a:p>
              <a:pPr algn="l"/>
              <a:r>
                <a:rPr lang="en-US" altLang="zh-CN" sz="1200" dirty="0">
                  <a:solidFill>
                    <a:srgbClr val="000000"/>
                  </a:solidFill>
                </a:rPr>
                <a:t>          </a:t>
              </a:r>
              <a:r>
                <a:rPr lang="en-US" altLang="zh-CN" sz="1600" dirty="0">
                  <a:solidFill>
                    <a:srgbClr val="000000"/>
                  </a:solidFill>
                  <a:latin typeface="等线" panose="02010600030101010101" pitchFamily="2" charset="-122"/>
                  <a:ea typeface="等线" panose="02010600030101010101" pitchFamily="2" charset="-122"/>
                </a:rPr>
                <a:t>MAC             Port</a:t>
              </a:r>
            </a:p>
            <a:p>
              <a:pPr algn="l"/>
              <a:r>
                <a:rPr lang="en-US" altLang="zh-CN" sz="1600" dirty="0">
                  <a:solidFill>
                    <a:srgbClr val="000000"/>
                  </a:solidFill>
                  <a:latin typeface="等线" panose="02010600030101010101" pitchFamily="2" charset="-122"/>
                  <a:ea typeface="等线" panose="02010600030101010101" pitchFamily="2" charset="-122"/>
                </a:rPr>
                <a:t>00:20:af:00:00:01   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1/1</a:t>
              </a:r>
            </a:p>
            <a:p>
              <a:pPr algn="l"/>
              <a:r>
                <a:rPr lang="en-US" altLang="zh-CN" sz="1600" dirty="0">
                  <a:solidFill>
                    <a:srgbClr val="000000"/>
                  </a:solidFill>
                  <a:latin typeface="等线" panose="02010600030101010101" pitchFamily="2" charset="-122"/>
                  <a:ea typeface="等线" panose="02010600030101010101" pitchFamily="2" charset="-122"/>
                </a:rPr>
                <a:t>00:20:af:00:00:02   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1/2</a:t>
              </a:r>
            </a:p>
            <a:p>
              <a:pPr algn="l"/>
              <a:endParaRPr lang="en-US" altLang="zh-CN" dirty="0">
                <a:solidFill>
                  <a:srgbClr val="000000"/>
                </a:solidFill>
              </a:endParaRPr>
            </a:p>
            <a:p>
              <a:pPr algn="l"/>
              <a:endParaRPr lang="en-US" altLang="zh-CN" dirty="0">
                <a:solidFill>
                  <a:srgbClr val="000000"/>
                </a:solidFill>
              </a:endParaRPr>
            </a:p>
          </p:txBody>
        </p:sp>
        <p:sp>
          <p:nvSpPr>
            <p:cNvPr id="87" name="Rectangle 38"/>
            <p:cNvSpPr>
              <a:spLocks noChangeArrowheads="1"/>
            </p:cNvSpPr>
            <p:nvPr/>
          </p:nvSpPr>
          <p:spPr bwMode="auto">
            <a:xfrm>
              <a:off x="7949726" y="3781825"/>
              <a:ext cx="2488053" cy="527536"/>
            </a:xfrm>
            <a:prstGeom prst="rect">
              <a:avLst/>
            </a:prstGeom>
            <a:noFill/>
            <a:ln w="9525" algn="ctr">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endParaRPr lang="zh-CN" altLang="en-US">
                <a:solidFill>
                  <a:srgbClr val="FFFFFF"/>
                </a:solidFill>
              </a:endParaRPr>
            </a:p>
          </p:txBody>
        </p:sp>
      </p:grpSp>
      <p:sp>
        <p:nvSpPr>
          <p:cNvPr id="89"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90"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36</a:t>
            </a:fld>
            <a:endParaRPr kumimoji="1" lang="zh-CN" altLang="en-US" dirty="0"/>
          </a:p>
        </p:txBody>
      </p:sp>
    </p:spTree>
    <p:extLst>
      <p:ext uri="{BB962C8B-B14F-4D97-AF65-F5344CB8AC3E}">
        <p14:creationId xmlns:p14="http://schemas.microsoft.com/office/powerpoint/2010/main" val="37280275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等线" panose="02010600030101010101" pitchFamily="2" charset="-122"/>
                <a:ea typeface="等线" panose="02010600030101010101" pitchFamily="2" charset="-122"/>
                <a:cs typeface="Times New Roman" panose="02020603050405020304" pitchFamily="18" charset="0"/>
              </a:rPr>
              <a:t>路由到另一个局域网</a:t>
            </a:r>
            <a:endParaRPr lang="zh-CN" altLang="en-US" dirty="0"/>
          </a:p>
        </p:txBody>
      </p:sp>
      <p:sp>
        <p:nvSpPr>
          <p:cNvPr id="4" name="日期占位符 3"/>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5.2.4 ARP</a:t>
            </a:r>
            <a:endParaRPr kumimoji="1" lang="zh-CN" altLang="en-US" dirty="0">
              <a:latin typeface="DengXian" panose="02010600030101010101" pitchFamily="2" charset="-122"/>
              <a:ea typeface="DengXian" panose="02010600030101010101" pitchFamily="2" charset="-122"/>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t>37</a:t>
            </a:fld>
            <a:endParaRPr kumimoji="1" lang="zh-CN" altLang="en-US" dirty="0"/>
          </a:p>
        </p:txBody>
      </p:sp>
      <p:sp>
        <p:nvSpPr>
          <p:cNvPr id="6" name="内容占位符 2"/>
          <p:cNvSpPr txBox="1">
            <a:spLocks/>
          </p:cNvSpPr>
          <p:nvPr/>
        </p:nvSpPr>
        <p:spPr>
          <a:xfrm>
            <a:off x="838200" y="1510758"/>
            <a:ext cx="5587530" cy="2160452"/>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SzPct val="90000"/>
            </a:pPr>
            <a:r>
              <a:rPr lang="en-US" altLang="zh-CN" sz="2000" dirty="0">
                <a:latin typeface="等线" panose="02010600030101010101" pitchFamily="2" charset="-122"/>
                <a:ea typeface="等线" panose="02010600030101010101" pitchFamily="2" charset="-122"/>
                <a:cs typeface="Times New Roman" panose="02020603050405020304" pitchFamily="18" charset="0"/>
              </a:rPr>
              <a:t>A</a:t>
            </a:r>
            <a:r>
              <a:rPr lang="zh-CN" altLang="en-US" sz="2000" dirty="0">
                <a:latin typeface="等线" panose="02010600030101010101" pitchFamily="2" charset="-122"/>
                <a:ea typeface="等线" panose="02010600030101010101" pitchFamily="2" charset="-122"/>
                <a:cs typeface="Times New Roman" panose="02020603050405020304" pitchFamily="18" charset="0"/>
              </a:rPr>
              <a:t>创建</a:t>
            </a:r>
            <a:r>
              <a:rPr lang="en-US" altLang="zh-CN" sz="2000" dirty="0">
                <a:latin typeface="等线" panose="02010600030101010101" pitchFamily="2" charset="-122"/>
                <a:ea typeface="等线" panose="02010600030101010101" pitchFamily="2" charset="-122"/>
                <a:cs typeface="Times New Roman" panose="02020603050405020304" pitchFamily="18" charset="0"/>
              </a:rPr>
              <a:t>IP</a:t>
            </a:r>
            <a:r>
              <a:rPr lang="zh-CN" altLang="en-US" sz="2000" dirty="0">
                <a:latin typeface="等线" panose="02010600030101010101" pitchFamily="2" charset="-122"/>
                <a:ea typeface="等线" panose="02010600030101010101" pitchFamily="2" charset="-122"/>
                <a:cs typeface="Times New Roman" panose="02020603050405020304" pitchFamily="18" charset="0"/>
              </a:rPr>
              <a:t>数据包（源为</a:t>
            </a:r>
            <a:r>
              <a:rPr lang="en-US" altLang="zh-CN" sz="2000" dirty="0">
                <a:latin typeface="等线" panose="02010600030101010101" pitchFamily="2" charset="-122"/>
                <a:ea typeface="等线" panose="02010600030101010101" pitchFamily="2" charset="-122"/>
                <a:cs typeface="Times New Roman" panose="02020603050405020304" pitchFamily="18" charset="0"/>
              </a:rPr>
              <a:t>A</a:t>
            </a:r>
            <a:r>
              <a:rPr lang="zh-CN" altLang="en-US" sz="2000" dirty="0">
                <a:latin typeface="等线" panose="02010600030101010101" pitchFamily="2" charset="-122"/>
                <a:ea typeface="等线" panose="02010600030101010101" pitchFamily="2" charset="-122"/>
                <a:cs typeface="Times New Roman" panose="02020603050405020304" pitchFamily="18" charset="0"/>
              </a:rPr>
              <a:t>、目的为</a:t>
            </a:r>
            <a:r>
              <a:rPr lang="en-US" altLang="zh-CN" sz="2000" dirty="0">
                <a:latin typeface="等线" panose="02010600030101010101" pitchFamily="2" charset="-122"/>
                <a:ea typeface="等线" panose="02010600030101010101" pitchFamily="2" charset="-122"/>
                <a:cs typeface="Times New Roman" panose="02020603050405020304" pitchFamily="18" charset="0"/>
              </a:rPr>
              <a:t>E</a:t>
            </a:r>
            <a:r>
              <a:rPr lang="zh-CN" altLang="en-US" sz="2000" dirty="0">
                <a:latin typeface="等线" panose="02010600030101010101" pitchFamily="2" charset="-122"/>
                <a:ea typeface="等线" panose="02010600030101010101" pitchFamily="2" charset="-122"/>
                <a:cs typeface="Times New Roman" panose="02020603050405020304" pitchFamily="18" charset="0"/>
              </a:rPr>
              <a:t>）</a:t>
            </a:r>
            <a:endParaRPr lang="en-US" altLang="zh-CN" sz="2000" dirty="0">
              <a:latin typeface="等线" panose="02010600030101010101" pitchFamily="2" charset="-122"/>
              <a:ea typeface="等线" panose="02010600030101010101" pitchFamily="2" charset="-122"/>
              <a:cs typeface="Times New Roman" panose="02020603050405020304" pitchFamily="18" charset="0"/>
            </a:endParaRPr>
          </a:p>
          <a:p>
            <a:pPr>
              <a:lnSpc>
                <a:spcPct val="120000"/>
              </a:lnSpc>
              <a:buSzPct val="90000"/>
            </a:pPr>
            <a:r>
              <a:rPr lang="zh-CN" altLang="en-US" sz="2000" dirty="0">
                <a:latin typeface="等线" panose="02010600030101010101" pitchFamily="2" charset="-122"/>
                <a:ea typeface="等线" panose="02010600030101010101" pitchFamily="2" charset="-122"/>
                <a:cs typeface="Times New Roman" panose="02020603050405020304" pitchFamily="18" charset="0"/>
              </a:rPr>
              <a:t>在源主机</a:t>
            </a:r>
            <a:r>
              <a:rPr lang="en-US" altLang="zh-CN" sz="2000" dirty="0">
                <a:latin typeface="等线" panose="02010600030101010101" pitchFamily="2" charset="-122"/>
                <a:ea typeface="等线" panose="02010600030101010101" pitchFamily="2" charset="-122"/>
                <a:cs typeface="Times New Roman" panose="02020603050405020304" pitchFamily="18" charset="0"/>
              </a:rPr>
              <a:t>A</a:t>
            </a:r>
            <a:r>
              <a:rPr lang="zh-CN" altLang="en-US" sz="2000" dirty="0">
                <a:latin typeface="等线" panose="02010600030101010101" pitchFamily="2" charset="-122"/>
                <a:ea typeface="等线" panose="02010600030101010101" pitchFamily="2" charset="-122"/>
                <a:cs typeface="Times New Roman" panose="02020603050405020304" pitchFamily="18" charset="0"/>
              </a:rPr>
              <a:t>的路由表中找到路由器</a:t>
            </a:r>
            <a:r>
              <a:rPr lang="en-US" altLang="zh-CN" sz="2000" dirty="0">
                <a:latin typeface="等线" panose="02010600030101010101" pitchFamily="2" charset="-122"/>
                <a:ea typeface="等线" panose="02010600030101010101" pitchFamily="2" charset="-122"/>
                <a:cs typeface="Times New Roman" panose="02020603050405020304" pitchFamily="18" charset="0"/>
              </a:rPr>
              <a:t>R</a:t>
            </a:r>
            <a:r>
              <a:rPr lang="zh-CN" altLang="en-US" sz="2000" dirty="0">
                <a:latin typeface="等线" panose="02010600030101010101" pitchFamily="2" charset="-122"/>
                <a:ea typeface="等线" panose="02010600030101010101" pitchFamily="2" charset="-122"/>
                <a:cs typeface="Times New Roman" panose="02020603050405020304" pitchFamily="18" charset="0"/>
              </a:rPr>
              <a:t>的</a:t>
            </a:r>
            <a:r>
              <a:rPr lang="en-US" altLang="zh-CN" sz="2000" dirty="0">
                <a:latin typeface="等线" panose="02010600030101010101" pitchFamily="2" charset="-122"/>
                <a:ea typeface="等线" panose="02010600030101010101" pitchFamily="2" charset="-122"/>
                <a:cs typeface="Times New Roman" panose="02020603050405020304" pitchFamily="18" charset="0"/>
              </a:rPr>
              <a:t>IP</a:t>
            </a:r>
            <a:r>
              <a:rPr lang="zh-CN" altLang="en-US" sz="2000" dirty="0">
                <a:latin typeface="等线" panose="02010600030101010101" pitchFamily="2" charset="-122"/>
                <a:ea typeface="等线" panose="02010600030101010101" pitchFamily="2" charset="-122"/>
                <a:cs typeface="Times New Roman" panose="02020603050405020304" pitchFamily="18" charset="0"/>
              </a:rPr>
              <a:t>地址</a:t>
            </a:r>
            <a:r>
              <a:rPr lang="en-US" altLang="zh-CN" sz="2000" dirty="0">
                <a:latin typeface="等线" panose="02010600030101010101" pitchFamily="2" charset="-122"/>
                <a:ea typeface="等线" panose="02010600030101010101" pitchFamily="2" charset="-122"/>
                <a:cs typeface="Times New Roman" panose="02020603050405020304" pitchFamily="18" charset="0"/>
              </a:rPr>
              <a:t>223.1.1.4</a:t>
            </a:r>
          </a:p>
          <a:p>
            <a:pPr>
              <a:lnSpc>
                <a:spcPct val="120000"/>
              </a:lnSpc>
              <a:buSzPct val="90000"/>
            </a:pPr>
            <a:r>
              <a:rPr lang="en-US" altLang="zh-CN" sz="2000" dirty="0">
                <a:latin typeface="等线" panose="02010600030101010101" pitchFamily="2" charset="-122"/>
                <a:ea typeface="等线" panose="02010600030101010101" pitchFamily="2" charset="-122"/>
                <a:cs typeface="Times New Roman" panose="02020603050405020304" pitchFamily="18" charset="0"/>
              </a:rPr>
              <a:t>A</a:t>
            </a:r>
            <a:r>
              <a:rPr lang="zh-CN" altLang="en-US" sz="2000" dirty="0">
                <a:latin typeface="等线" panose="02010600030101010101" pitchFamily="2" charset="-122"/>
                <a:ea typeface="等线" panose="02010600030101010101" pitchFamily="2" charset="-122"/>
                <a:cs typeface="Times New Roman" panose="02020603050405020304" pitchFamily="18" charset="0"/>
              </a:rPr>
              <a:t>根据</a:t>
            </a:r>
            <a:r>
              <a:rPr lang="en-US" altLang="zh-CN" sz="2000" dirty="0">
                <a:latin typeface="等线" panose="02010600030101010101" pitchFamily="2" charset="-122"/>
                <a:ea typeface="等线" panose="02010600030101010101" pitchFamily="2" charset="-122"/>
                <a:cs typeface="Times New Roman" panose="02020603050405020304" pitchFamily="18" charset="0"/>
              </a:rPr>
              <a:t>R</a:t>
            </a:r>
            <a:r>
              <a:rPr lang="zh-CN" altLang="en-US" sz="2000" dirty="0">
                <a:latin typeface="等线" panose="02010600030101010101" pitchFamily="2" charset="-122"/>
                <a:ea typeface="等线" panose="02010600030101010101" pitchFamily="2" charset="-122"/>
                <a:cs typeface="Times New Roman" panose="02020603050405020304" pitchFamily="18" charset="0"/>
              </a:rPr>
              <a:t>的</a:t>
            </a:r>
            <a:r>
              <a:rPr lang="en-US" altLang="zh-CN" sz="2000" dirty="0">
                <a:latin typeface="等线" panose="02010600030101010101" pitchFamily="2" charset="-122"/>
                <a:ea typeface="等线" panose="02010600030101010101" pitchFamily="2" charset="-122"/>
                <a:cs typeface="Times New Roman" panose="02020603050405020304" pitchFamily="18" charset="0"/>
              </a:rPr>
              <a:t>IP</a:t>
            </a:r>
            <a:r>
              <a:rPr lang="zh-CN" altLang="en-US" sz="2000" dirty="0">
                <a:latin typeface="等线" panose="02010600030101010101" pitchFamily="2" charset="-122"/>
                <a:ea typeface="等线" panose="02010600030101010101" pitchFamily="2" charset="-122"/>
                <a:cs typeface="Times New Roman" panose="02020603050405020304" pitchFamily="18" charset="0"/>
              </a:rPr>
              <a:t>地址</a:t>
            </a:r>
            <a:r>
              <a:rPr lang="en-US" altLang="zh-CN" sz="2000" dirty="0">
                <a:latin typeface="等线" panose="02010600030101010101" pitchFamily="2" charset="-122"/>
                <a:ea typeface="等线" panose="02010600030101010101" pitchFamily="2" charset="-122"/>
                <a:cs typeface="Times New Roman" panose="02020603050405020304" pitchFamily="18" charset="0"/>
              </a:rPr>
              <a:t>223.1.1.4</a:t>
            </a:r>
            <a:r>
              <a:rPr lang="zh-CN" altLang="en-US" sz="2000" dirty="0">
                <a:latin typeface="等线" panose="02010600030101010101" pitchFamily="2" charset="-122"/>
                <a:ea typeface="等线" panose="02010600030101010101" pitchFamily="2" charset="-122"/>
                <a:cs typeface="Times New Roman" panose="02020603050405020304" pitchFamily="18" charset="0"/>
              </a:rPr>
              <a:t>，使用</a:t>
            </a:r>
            <a:r>
              <a:rPr lang="en-US" altLang="zh-CN" sz="2000" dirty="0">
                <a:latin typeface="等线" panose="02010600030101010101" pitchFamily="2" charset="-122"/>
                <a:ea typeface="等线" panose="02010600030101010101" pitchFamily="2" charset="-122"/>
                <a:cs typeface="Times New Roman" panose="02020603050405020304" pitchFamily="18" charset="0"/>
              </a:rPr>
              <a:t>ARP</a:t>
            </a:r>
            <a:r>
              <a:rPr lang="zh-CN" altLang="en-US" sz="2000" dirty="0">
                <a:latin typeface="等线" panose="02010600030101010101" pitchFamily="2" charset="-122"/>
                <a:ea typeface="等线" panose="02010600030101010101" pitchFamily="2" charset="-122"/>
                <a:cs typeface="Times New Roman" panose="02020603050405020304" pitchFamily="18" charset="0"/>
              </a:rPr>
              <a:t>协议获得</a:t>
            </a:r>
            <a:r>
              <a:rPr lang="en-US" altLang="zh-CN" sz="2000" dirty="0">
                <a:latin typeface="等线" panose="02010600030101010101" pitchFamily="2" charset="-122"/>
                <a:ea typeface="等线" panose="02010600030101010101" pitchFamily="2" charset="-122"/>
                <a:cs typeface="Times New Roman" panose="02020603050405020304" pitchFamily="18" charset="0"/>
              </a:rPr>
              <a:t>R</a:t>
            </a:r>
            <a:r>
              <a:rPr lang="zh-CN" altLang="en-US" sz="2000" dirty="0">
                <a:latin typeface="等线" panose="02010600030101010101" pitchFamily="2" charset="-122"/>
                <a:ea typeface="等线" panose="02010600030101010101" pitchFamily="2" charset="-122"/>
                <a:cs typeface="Times New Roman" panose="02020603050405020304" pitchFamily="18" charset="0"/>
              </a:rPr>
              <a:t>的</a:t>
            </a:r>
            <a:r>
              <a:rPr lang="en-US" altLang="zh-CN" sz="2000" dirty="0">
                <a:latin typeface="等线" panose="02010600030101010101" pitchFamily="2" charset="-122"/>
                <a:ea typeface="等线" panose="02010600030101010101" pitchFamily="2" charset="-122"/>
                <a:cs typeface="Times New Roman" panose="02020603050405020304" pitchFamily="18" charset="0"/>
              </a:rPr>
              <a:t>MAC</a:t>
            </a:r>
            <a:r>
              <a:rPr lang="zh-CN" altLang="en-US" sz="2000" dirty="0">
                <a:latin typeface="等线" panose="02010600030101010101" pitchFamily="2" charset="-122"/>
                <a:ea typeface="等线" panose="02010600030101010101" pitchFamily="2" charset="-122"/>
                <a:cs typeface="Times New Roman" panose="02020603050405020304" pitchFamily="18" charset="0"/>
              </a:rPr>
              <a:t>地址</a:t>
            </a:r>
            <a:endParaRPr lang="en-US" altLang="zh-CN" sz="2000" dirty="0">
              <a:latin typeface="等线" panose="02010600030101010101" pitchFamily="2" charset="-122"/>
              <a:ea typeface="等线" panose="02010600030101010101" pitchFamily="2" charset="-122"/>
              <a:cs typeface="Times New Roman" panose="02020603050405020304" pitchFamily="18" charset="0"/>
            </a:endParaRPr>
          </a:p>
        </p:txBody>
      </p:sp>
      <p:sp>
        <p:nvSpPr>
          <p:cNvPr id="7" name="Rectangle 4"/>
          <p:cNvSpPr txBox="1">
            <a:spLocks noChangeArrowheads="1"/>
          </p:cNvSpPr>
          <p:nvPr/>
        </p:nvSpPr>
        <p:spPr>
          <a:xfrm>
            <a:off x="6659598" y="1510758"/>
            <a:ext cx="4962188" cy="1681002"/>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ts val="3000"/>
              </a:lnSpc>
              <a:buSzPct val="90000"/>
            </a:pPr>
            <a:r>
              <a:rPr lang="en-US" altLang="zh-CN" sz="2000" dirty="0">
                <a:latin typeface="等线" panose="02010600030101010101" pitchFamily="2" charset="-122"/>
                <a:ea typeface="等线" panose="02010600030101010101" pitchFamily="2" charset="-122"/>
                <a:cs typeface="Times New Roman" panose="02020603050405020304" pitchFamily="18" charset="0"/>
              </a:rPr>
              <a:t>A</a:t>
            </a:r>
            <a:r>
              <a:rPr lang="zh-CN" altLang="en-US" sz="2000" dirty="0">
                <a:latin typeface="等线" panose="02010600030101010101" pitchFamily="2" charset="-122"/>
                <a:ea typeface="等线" panose="02010600030101010101" pitchFamily="2" charset="-122"/>
                <a:cs typeface="Times New Roman" panose="02020603050405020304" pitchFamily="18" charset="0"/>
              </a:rPr>
              <a:t>创建数据帧（目的地址为</a:t>
            </a:r>
            <a:r>
              <a:rPr lang="en-US" altLang="zh-CN" sz="2000" dirty="0">
                <a:latin typeface="等线" panose="02010600030101010101" pitchFamily="2" charset="-122"/>
                <a:ea typeface="等线" panose="02010600030101010101" pitchFamily="2" charset="-122"/>
                <a:cs typeface="Times New Roman" panose="02020603050405020304" pitchFamily="18" charset="0"/>
              </a:rPr>
              <a:t>R</a:t>
            </a:r>
            <a:r>
              <a:rPr lang="zh-CN" altLang="en-US" sz="2000" dirty="0">
                <a:latin typeface="等线" panose="02010600030101010101" pitchFamily="2" charset="-122"/>
                <a:ea typeface="等线" panose="02010600030101010101" pitchFamily="2" charset="-122"/>
                <a:cs typeface="Times New Roman" panose="02020603050405020304" pitchFamily="18" charset="0"/>
              </a:rPr>
              <a:t>的</a:t>
            </a:r>
            <a:r>
              <a:rPr lang="en-US" altLang="zh-CN" sz="2000" dirty="0">
                <a:latin typeface="等线" panose="02010600030101010101" pitchFamily="2" charset="-122"/>
                <a:ea typeface="等线" panose="02010600030101010101" pitchFamily="2" charset="-122"/>
                <a:cs typeface="Times New Roman" panose="02020603050405020304" pitchFamily="18" charset="0"/>
              </a:rPr>
              <a:t>MAC</a:t>
            </a:r>
            <a:r>
              <a:rPr lang="zh-CN" altLang="en-US" sz="2000" dirty="0">
                <a:latin typeface="等线" panose="02010600030101010101" pitchFamily="2" charset="-122"/>
                <a:ea typeface="等线" panose="02010600030101010101" pitchFamily="2" charset="-122"/>
                <a:cs typeface="Times New Roman" panose="02020603050405020304" pitchFamily="18" charset="0"/>
              </a:rPr>
              <a:t>地址）</a:t>
            </a:r>
            <a:endParaRPr lang="en-US" altLang="zh-CN" sz="2000" dirty="0">
              <a:latin typeface="等线" panose="02010600030101010101" pitchFamily="2" charset="-122"/>
              <a:ea typeface="等线" panose="02010600030101010101" pitchFamily="2" charset="-122"/>
              <a:cs typeface="Times New Roman" panose="02020603050405020304" pitchFamily="18" charset="0"/>
            </a:endParaRPr>
          </a:p>
          <a:p>
            <a:pPr>
              <a:lnSpc>
                <a:spcPts val="3000"/>
              </a:lnSpc>
              <a:buSzPct val="90000"/>
            </a:pPr>
            <a:r>
              <a:rPr lang="zh-CN" altLang="en-US" sz="2000" dirty="0">
                <a:latin typeface="等线" panose="02010600030101010101" pitchFamily="2" charset="-122"/>
                <a:ea typeface="等线" panose="02010600030101010101" pitchFamily="2" charset="-122"/>
                <a:cs typeface="Times New Roman" panose="02020603050405020304" pitchFamily="18" charset="0"/>
              </a:rPr>
              <a:t>数据帧中封装</a:t>
            </a:r>
            <a:r>
              <a:rPr lang="en-US" altLang="zh-CN" sz="2000" dirty="0">
                <a:latin typeface="等线" panose="02010600030101010101" pitchFamily="2" charset="-122"/>
                <a:ea typeface="等线" panose="02010600030101010101" pitchFamily="2" charset="-122"/>
                <a:cs typeface="Times New Roman" panose="02020603050405020304" pitchFamily="18" charset="0"/>
              </a:rPr>
              <a:t>A</a:t>
            </a:r>
            <a:r>
              <a:rPr lang="zh-CN" altLang="en-US" sz="2000" dirty="0">
                <a:latin typeface="等线" panose="02010600030101010101" pitchFamily="2" charset="-122"/>
                <a:ea typeface="等线" panose="02010600030101010101" pitchFamily="2" charset="-122"/>
                <a:cs typeface="Times New Roman" panose="02020603050405020304" pitchFamily="18" charset="0"/>
              </a:rPr>
              <a:t>到</a:t>
            </a:r>
            <a:r>
              <a:rPr lang="en-US" altLang="zh-CN" sz="2000" dirty="0">
                <a:latin typeface="等线" panose="02010600030101010101" pitchFamily="2" charset="-122"/>
                <a:ea typeface="等线" panose="02010600030101010101" pitchFamily="2" charset="-122"/>
                <a:cs typeface="Times New Roman" panose="02020603050405020304" pitchFamily="18" charset="0"/>
              </a:rPr>
              <a:t>E</a:t>
            </a:r>
            <a:r>
              <a:rPr lang="zh-CN" altLang="en-US" sz="2000" dirty="0">
                <a:latin typeface="等线" panose="02010600030101010101" pitchFamily="2" charset="-122"/>
                <a:ea typeface="等线" panose="02010600030101010101" pitchFamily="2" charset="-122"/>
                <a:cs typeface="Times New Roman" panose="02020603050405020304" pitchFamily="18" charset="0"/>
              </a:rPr>
              <a:t>的</a:t>
            </a:r>
            <a:r>
              <a:rPr lang="en-US" altLang="zh-CN" sz="2000" dirty="0">
                <a:latin typeface="等线" panose="02010600030101010101" pitchFamily="2" charset="-122"/>
                <a:ea typeface="等线" panose="02010600030101010101" pitchFamily="2" charset="-122"/>
                <a:cs typeface="Times New Roman" panose="02020603050405020304" pitchFamily="18" charset="0"/>
              </a:rPr>
              <a:t>IP</a:t>
            </a:r>
            <a:r>
              <a:rPr lang="zh-CN" altLang="en-US" sz="2000" dirty="0">
                <a:latin typeface="等线" panose="02010600030101010101" pitchFamily="2" charset="-122"/>
                <a:ea typeface="等线" panose="02010600030101010101" pitchFamily="2" charset="-122"/>
                <a:cs typeface="Times New Roman" panose="02020603050405020304" pitchFamily="18" charset="0"/>
              </a:rPr>
              <a:t>数据包</a:t>
            </a:r>
            <a:endParaRPr lang="en-US" altLang="zh-CN" sz="2000" dirty="0">
              <a:latin typeface="等线" panose="02010600030101010101" pitchFamily="2" charset="-122"/>
              <a:ea typeface="等线" panose="02010600030101010101" pitchFamily="2" charset="-122"/>
              <a:cs typeface="Times New Roman" panose="02020603050405020304" pitchFamily="18" charset="0"/>
            </a:endParaRPr>
          </a:p>
          <a:p>
            <a:pPr>
              <a:lnSpc>
                <a:spcPts val="3000"/>
              </a:lnSpc>
              <a:buSzPct val="90000"/>
            </a:pPr>
            <a:r>
              <a:rPr lang="en-US" altLang="zh-CN" sz="2000" dirty="0">
                <a:latin typeface="等线" panose="02010600030101010101" pitchFamily="2" charset="-122"/>
                <a:ea typeface="等线" panose="02010600030101010101" pitchFamily="2" charset="-122"/>
                <a:cs typeface="Times New Roman" panose="02020603050405020304" pitchFamily="18" charset="0"/>
              </a:rPr>
              <a:t>A</a:t>
            </a:r>
            <a:r>
              <a:rPr lang="zh-CN" altLang="en-US" sz="2000" dirty="0">
                <a:latin typeface="等线" panose="02010600030101010101" pitchFamily="2" charset="-122"/>
                <a:ea typeface="等线" panose="02010600030101010101" pitchFamily="2" charset="-122"/>
                <a:cs typeface="Times New Roman" panose="02020603050405020304" pitchFamily="18" charset="0"/>
              </a:rPr>
              <a:t>发送数据帧，</a:t>
            </a:r>
            <a:r>
              <a:rPr lang="en-US" altLang="zh-CN" sz="2000" dirty="0">
                <a:latin typeface="等线" panose="02010600030101010101" pitchFamily="2" charset="-122"/>
                <a:ea typeface="等线" panose="02010600030101010101" pitchFamily="2" charset="-122"/>
                <a:cs typeface="Times New Roman" panose="02020603050405020304" pitchFamily="18" charset="0"/>
              </a:rPr>
              <a:t>R</a:t>
            </a:r>
            <a:r>
              <a:rPr lang="zh-CN" altLang="en-US" sz="2000" dirty="0">
                <a:latin typeface="等线" panose="02010600030101010101" pitchFamily="2" charset="-122"/>
                <a:ea typeface="等线" panose="02010600030101010101" pitchFamily="2" charset="-122"/>
                <a:cs typeface="Times New Roman" panose="02020603050405020304" pitchFamily="18" charset="0"/>
              </a:rPr>
              <a:t>接收数据帧</a:t>
            </a:r>
            <a:endParaRPr lang="en-US" altLang="zh-CN" sz="2000" dirty="0">
              <a:latin typeface="等线" panose="02010600030101010101" pitchFamily="2" charset="-122"/>
              <a:ea typeface="等线" panose="02010600030101010101" pitchFamily="2" charset="-122"/>
              <a:cs typeface="Times New Roman" panose="02020603050405020304" pitchFamily="18" charset="0"/>
            </a:endParaRPr>
          </a:p>
        </p:txBody>
      </p:sp>
      <p:sp>
        <p:nvSpPr>
          <p:cNvPr id="8" name="矩形 7"/>
          <p:cNvSpPr/>
          <p:nvPr/>
        </p:nvSpPr>
        <p:spPr>
          <a:xfrm>
            <a:off x="1089195" y="3672748"/>
            <a:ext cx="2618024" cy="461665"/>
          </a:xfrm>
          <a:prstGeom prst="rect">
            <a:avLst/>
          </a:prstGeom>
        </p:spPr>
        <p:txBody>
          <a:bodyPr wrap="none">
            <a:spAutoFit/>
          </a:bodyPr>
          <a:lstStyle/>
          <a:p>
            <a:r>
              <a:rPr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例：从</a:t>
            </a:r>
            <a:r>
              <a:rPr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A</a:t>
            </a:r>
            <a:r>
              <a:rPr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经过</a:t>
            </a:r>
            <a:r>
              <a:rPr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R</a:t>
            </a:r>
            <a:r>
              <a:rPr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到</a:t>
            </a:r>
            <a:r>
              <a:rPr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E</a:t>
            </a:r>
          </a:p>
        </p:txBody>
      </p:sp>
      <p:sp>
        <p:nvSpPr>
          <p:cNvPr id="9" name="Text Box 29"/>
          <p:cNvSpPr txBox="1">
            <a:spLocks noChangeArrowheads="1"/>
          </p:cNvSpPr>
          <p:nvPr/>
        </p:nvSpPr>
        <p:spPr bwMode="auto">
          <a:xfrm>
            <a:off x="2108329" y="6203515"/>
            <a:ext cx="2108749" cy="28561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CC-49-DE-D0-AB-7D</a:t>
            </a:r>
          </a:p>
        </p:txBody>
      </p:sp>
      <p:sp>
        <p:nvSpPr>
          <p:cNvPr id="10" name="Text Box 41"/>
          <p:cNvSpPr txBox="1">
            <a:spLocks noChangeArrowheads="1"/>
          </p:cNvSpPr>
          <p:nvPr/>
        </p:nvSpPr>
        <p:spPr bwMode="auto">
          <a:xfrm>
            <a:off x="7617019" y="4128472"/>
            <a:ext cx="1941700" cy="28561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88-B2-2F-54-1A-0F</a:t>
            </a:r>
          </a:p>
        </p:txBody>
      </p:sp>
      <p:grpSp>
        <p:nvGrpSpPr>
          <p:cNvPr id="11" name="Group 8"/>
          <p:cNvGrpSpPr>
            <a:grpSpLocks/>
          </p:cNvGrpSpPr>
          <p:nvPr/>
        </p:nvGrpSpPr>
        <p:grpSpPr bwMode="auto">
          <a:xfrm>
            <a:off x="5337290" y="5027772"/>
            <a:ext cx="1218476" cy="291355"/>
            <a:chOff x="3600" y="219"/>
            <a:chExt cx="360" cy="175"/>
          </a:xfrm>
        </p:grpSpPr>
        <p:sp>
          <p:nvSpPr>
            <p:cNvPr id="12" name="Oval 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sz="1600"/>
            </a:p>
          </p:txBody>
        </p:sp>
        <p:sp>
          <p:nvSpPr>
            <p:cNvPr id="13" name="Line 10"/>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zh-CN" altLang="en-US"/>
            </a:p>
          </p:txBody>
        </p:sp>
        <p:sp>
          <p:nvSpPr>
            <p:cNvPr id="14" name="Line 11"/>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zh-CN" altLang="en-US"/>
            </a:p>
          </p:txBody>
        </p:sp>
        <p:sp>
          <p:nvSpPr>
            <p:cNvPr id="15" name="Rectangle 12"/>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zh-CN" altLang="zh-CN" sz="1600">
                <a:latin typeface="Times New Roman" pitchFamily="18" charset="0"/>
              </a:endParaRPr>
            </a:p>
          </p:txBody>
        </p:sp>
        <p:sp>
          <p:nvSpPr>
            <p:cNvPr id="16" name="Oval 1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sz="1600"/>
            </a:p>
          </p:txBody>
        </p:sp>
        <p:grpSp>
          <p:nvGrpSpPr>
            <p:cNvPr id="17" name="Group 14"/>
            <p:cNvGrpSpPr>
              <a:grpSpLocks/>
            </p:cNvGrpSpPr>
            <p:nvPr/>
          </p:nvGrpSpPr>
          <p:grpSpPr bwMode="auto">
            <a:xfrm>
              <a:off x="3713" y="244"/>
              <a:ext cx="168" cy="49"/>
              <a:chOff x="2851" y="1131"/>
              <a:chExt cx="132" cy="97"/>
            </a:xfrm>
          </p:grpSpPr>
          <p:sp>
            <p:nvSpPr>
              <p:cNvPr id="22" name="Line 15"/>
              <p:cNvSpPr>
                <a:spLocks noChangeShapeType="1"/>
              </p:cNvSpPr>
              <p:nvPr/>
            </p:nvSpPr>
            <p:spPr bwMode="auto">
              <a:xfrm flipV="1">
                <a:off x="2851" y="1131"/>
                <a:ext cx="49" cy="2"/>
              </a:xfrm>
              <a:prstGeom prst="line">
                <a:avLst/>
              </a:prstGeom>
              <a:noFill/>
              <a:ln w="28575">
                <a:solidFill>
                  <a:schemeClr val="tx1"/>
                </a:solidFill>
                <a:round/>
                <a:headEnd/>
                <a:tailEnd/>
              </a:ln>
            </p:spPr>
            <p:txBody>
              <a:bodyPr wrap="none" anchor="ctr"/>
              <a:lstStyle/>
              <a:p>
                <a:endParaRPr lang="zh-CN" altLang="en-US"/>
              </a:p>
            </p:txBody>
          </p:sp>
          <p:sp>
            <p:nvSpPr>
              <p:cNvPr id="23" name="Line 16"/>
              <p:cNvSpPr>
                <a:spLocks noChangeShapeType="1"/>
              </p:cNvSpPr>
              <p:nvPr/>
            </p:nvSpPr>
            <p:spPr bwMode="auto">
              <a:xfrm>
                <a:off x="2940" y="1228"/>
                <a:ext cx="43" cy="0"/>
              </a:xfrm>
              <a:prstGeom prst="line">
                <a:avLst/>
              </a:prstGeom>
              <a:noFill/>
              <a:ln w="28575">
                <a:solidFill>
                  <a:schemeClr val="tx1"/>
                </a:solidFill>
                <a:round/>
                <a:headEnd/>
                <a:tailEnd/>
              </a:ln>
            </p:spPr>
            <p:txBody>
              <a:bodyPr wrap="none" anchor="ctr"/>
              <a:lstStyle/>
              <a:p>
                <a:endParaRPr lang="zh-CN" altLang="en-US"/>
              </a:p>
            </p:txBody>
          </p:sp>
          <p:sp>
            <p:nvSpPr>
              <p:cNvPr id="24" name="Line 17"/>
              <p:cNvSpPr>
                <a:spLocks noChangeShapeType="1"/>
              </p:cNvSpPr>
              <p:nvPr/>
            </p:nvSpPr>
            <p:spPr bwMode="auto">
              <a:xfrm>
                <a:off x="2896" y="1133"/>
                <a:ext cx="51" cy="95"/>
              </a:xfrm>
              <a:prstGeom prst="line">
                <a:avLst/>
              </a:prstGeom>
              <a:noFill/>
              <a:ln w="28575">
                <a:solidFill>
                  <a:schemeClr val="tx1"/>
                </a:solidFill>
                <a:round/>
                <a:headEnd/>
                <a:tailEnd/>
              </a:ln>
            </p:spPr>
            <p:txBody>
              <a:bodyPr wrap="none" anchor="ctr"/>
              <a:lstStyle/>
              <a:p>
                <a:endParaRPr lang="zh-CN" altLang="en-US"/>
              </a:p>
            </p:txBody>
          </p:sp>
        </p:grpSp>
        <p:grpSp>
          <p:nvGrpSpPr>
            <p:cNvPr id="18" name="Group 18"/>
            <p:cNvGrpSpPr>
              <a:grpSpLocks/>
            </p:cNvGrpSpPr>
            <p:nvPr/>
          </p:nvGrpSpPr>
          <p:grpSpPr bwMode="auto">
            <a:xfrm flipV="1">
              <a:off x="3700" y="254"/>
              <a:ext cx="181" cy="52"/>
              <a:chOff x="2871" y="1102"/>
              <a:chExt cx="144" cy="100"/>
            </a:xfrm>
          </p:grpSpPr>
          <p:sp>
            <p:nvSpPr>
              <p:cNvPr id="19" name="Line 19"/>
              <p:cNvSpPr>
                <a:spLocks noChangeShapeType="1"/>
              </p:cNvSpPr>
              <p:nvPr/>
            </p:nvSpPr>
            <p:spPr bwMode="auto">
              <a:xfrm flipV="1">
                <a:off x="2871" y="1102"/>
                <a:ext cx="50" cy="2"/>
              </a:xfrm>
              <a:prstGeom prst="line">
                <a:avLst/>
              </a:prstGeom>
              <a:noFill/>
              <a:ln w="28575">
                <a:solidFill>
                  <a:schemeClr val="tx1"/>
                </a:solidFill>
                <a:round/>
                <a:headEnd/>
                <a:tailEnd/>
              </a:ln>
            </p:spPr>
            <p:txBody>
              <a:bodyPr wrap="none" anchor="ctr"/>
              <a:lstStyle/>
              <a:p>
                <a:endParaRPr lang="zh-CN" altLang="en-US"/>
              </a:p>
            </p:txBody>
          </p:sp>
          <p:sp>
            <p:nvSpPr>
              <p:cNvPr id="20" name="Line 20"/>
              <p:cNvSpPr>
                <a:spLocks noChangeShapeType="1"/>
              </p:cNvSpPr>
              <p:nvPr/>
            </p:nvSpPr>
            <p:spPr bwMode="auto">
              <a:xfrm>
                <a:off x="2971" y="1202"/>
                <a:ext cx="44" cy="0"/>
              </a:xfrm>
              <a:prstGeom prst="line">
                <a:avLst/>
              </a:prstGeom>
              <a:noFill/>
              <a:ln w="28575">
                <a:solidFill>
                  <a:schemeClr val="tx1"/>
                </a:solidFill>
                <a:round/>
                <a:headEnd/>
                <a:tailEnd/>
              </a:ln>
            </p:spPr>
            <p:txBody>
              <a:bodyPr wrap="none" anchor="ctr"/>
              <a:lstStyle/>
              <a:p>
                <a:endParaRPr lang="zh-CN" altLang="en-US"/>
              </a:p>
            </p:txBody>
          </p:sp>
          <p:sp>
            <p:nvSpPr>
              <p:cNvPr id="21" name="Line 21"/>
              <p:cNvSpPr>
                <a:spLocks noChangeShapeType="1"/>
              </p:cNvSpPr>
              <p:nvPr/>
            </p:nvSpPr>
            <p:spPr bwMode="auto">
              <a:xfrm>
                <a:off x="2921" y="1109"/>
                <a:ext cx="52" cy="92"/>
              </a:xfrm>
              <a:prstGeom prst="line">
                <a:avLst/>
              </a:prstGeom>
              <a:noFill/>
              <a:ln w="28575">
                <a:solidFill>
                  <a:schemeClr val="tx1"/>
                </a:solidFill>
                <a:round/>
                <a:headEnd/>
                <a:tailEnd/>
              </a:ln>
            </p:spPr>
            <p:txBody>
              <a:bodyPr wrap="none" anchor="ctr"/>
              <a:lstStyle/>
              <a:p>
                <a:endParaRPr lang="zh-CN" altLang="en-US"/>
              </a:p>
            </p:txBody>
          </p:sp>
        </p:grpSp>
      </p:grpSp>
      <p:sp>
        <p:nvSpPr>
          <p:cNvPr id="25" name="Rectangle 22"/>
          <p:cNvSpPr>
            <a:spLocks noChangeArrowheads="1"/>
          </p:cNvSpPr>
          <p:nvPr/>
        </p:nvSpPr>
        <p:spPr bwMode="auto">
          <a:xfrm rot="16200000">
            <a:off x="6622722" y="5054794"/>
            <a:ext cx="94059" cy="23386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26" name="Rectangle 23"/>
          <p:cNvSpPr>
            <a:spLocks noChangeArrowheads="1"/>
          </p:cNvSpPr>
          <p:nvPr/>
        </p:nvSpPr>
        <p:spPr bwMode="auto">
          <a:xfrm rot="16200000">
            <a:off x="5170378" y="5066265"/>
            <a:ext cx="94059" cy="23386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27" name="Text Box 24"/>
          <p:cNvSpPr txBox="1">
            <a:spLocks noChangeArrowheads="1"/>
          </p:cNvSpPr>
          <p:nvPr/>
        </p:nvSpPr>
        <p:spPr bwMode="auto">
          <a:xfrm>
            <a:off x="5158449" y="4637769"/>
            <a:ext cx="1998693" cy="28561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1A-23-F9-CD-06-9B</a:t>
            </a:r>
          </a:p>
        </p:txBody>
      </p:sp>
      <p:sp>
        <p:nvSpPr>
          <p:cNvPr id="28" name="Text Box 25"/>
          <p:cNvSpPr txBox="1">
            <a:spLocks noChangeArrowheads="1"/>
          </p:cNvSpPr>
          <p:nvPr/>
        </p:nvSpPr>
        <p:spPr bwMode="auto">
          <a:xfrm>
            <a:off x="6080167" y="5312244"/>
            <a:ext cx="1029809" cy="28561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223.1.2.9</a:t>
            </a:r>
          </a:p>
        </p:txBody>
      </p:sp>
      <p:sp>
        <p:nvSpPr>
          <p:cNvPr id="29" name="Text Box 27"/>
          <p:cNvSpPr txBox="1">
            <a:spLocks noChangeArrowheads="1"/>
          </p:cNvSpPr>
          <p:nvPr/>
        </p:nvSpPr>
        <p:spPr bwMode="auto">
          <a:xfrm>
            <a:off x="4541350" y="5312244"/>
            <a:ext cx="1029809" cy="28561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223.1.1.4</a:t>
            </a:r>
          </a:p>
        </p:txBody>
      </p:sp>
      <p:sp>
        <p:nvSpPr>
          <p:cNvPr id="30" name="Text Box 28"/>
          <p:cNvSpPr txBox="1">
            <a:spLocks noChangeArrowheads="1"/>
          </p:cNvSpPr>
          <p:nvPr/>
        </p:nvSpPr>
        <p:spPr bwMode="auto">
          <a:xfrm>
            <a:off x="4274071" y="4365915"/>
            <a:ext cx="1986902" cy="28561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E6-E9-00-17-BB-4B</a:t>
            </a:r>
          </a:p>
        </p:txBody>
      </p:sp>
      <p:sp>
        <p:nvSpPr>
          <p:cNvPr id="31" name="Text Box 30"/>
          <p:cNvSpPr txBox="1">
            <a:spLocks noChangeArrowheads="1"/>
          </p:cNvSpPr>
          <p:nvPr/>
        </p:nvSpPr>
        <p:spPr bwMode="auto">
          <a:xfrm>
            <a:off x="1422445" y="5555422"/>
            <a:ext cx="1029809" cy="28561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223.1.1.2</a:t>
            </a:r>
          </a:p>
        </p:txBody>
      </p:sp>
      <p:graphicFrame>
        <p:nvGraphicFramePr>
          <p:cNvPr id="32" name="Object 10"/>
          <p:cNvGraphicFramePr>
            <a:graphicFrameLocks noChangeAspect="1"/>
          </p:cNvGraphicFramePr>
          <p:nvPr/>
        </p:nvGraphicFramePr>
        <p:xfrm>
          <a:off x="1843016" y="5899542"/>
          <a:ext cx="825419" cy="381973"/>
        </p:xfrm>
        <a:graphic>
          <a:graphicData uri="http://schemas.openxmlformats.org/presentationml/2006/ole">
            <mc:AlternateContent xmlns:mc="http://schemas.openxmlformats.org/markup-compatibility/2006">
              <mc:Choice xmlns:v="urn:schemas-microsoft-com:vml" Requires="v">
                <p:oleObj name="Clip" r:id="rId2" imgW="1307079" imgH="1083682" progId="">
                  <p:embed/>
                </p:oleObj>
              </mc:Choice>
              <mc:Fallback>
                <p:oleObj name="Clip" r:id="rId2" imgW="1307079" imgH="1083682" progId="">
                  <p:embed/>
                  <p:pic>
                    <p:nvPicPr>
                      <p:cNvPr id="32"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3016" y="5899542"/>
                        <a:ext cx="825419" cy="381973"/>
                      </a:xfrm>
                      <a:prstGeom prst="rect">
                        <a:avLst/>
                      </a:prstGeom>
                      <a:noFill/>
                    </p:spPr>
                  </p:pic>
                </p:oleObj>
              </mc:Fallback>
            </mc:AlternateContent>
          </a:graphicData>
        </a:graphic>
      </p:graphicFrame>
      <p:sp>
        <p:nvSpPr>
          <p:cNvPr id="33" name="Rectangle 32"/>
          <p:cNvSpPr>
            <a:spLocks noChangeArrowheads="1"/>
          </p:cNvSpPr>
          <p:nvPr/>
        </p:nvSpPr>
        <p:spPr bwMode="auto">
          <a:xfrm rot="16200000">
            <a:off x="2700016" y="5902476"/>
            <a:ext cx="94059" cy="23386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34" name="Text Box 33"/>
          <p:cNvSpPr txBox="1">
            <a:spLocks noChangeArrowheads="1"/>
          </p:cNvSpPr>
          <p:nvPr/>
        </p:nvSpPr>
        <p:spPr bwMode="auto">
          <a:xfrm>
            <a:off x="1422445" y="4851124"/>
            <a:ext cx="1029809" cy="285619"/>
          </a:xfrm>
          <a:prstGeom prst="rect">
            <a:avLst/>
          </a:prstGeom>
          <a:noFill/>
          <a:ln w="9525">
            <a:noFill/>
            <a:miter lim="800000"/>
            <a:headEnd/>
            <a:tailEnd/>
          </a:ln>
        </p:spPr>
        <p:txBody>
          <a:bodyPr wrap="none">
            <a:spAutoFit/>
          </a:bodyPr>
          <a:lstStyle/>
          <a:p>
            <a:r>
              <a:rPr lang="en-US" altLang="zh-CN" sz="1600" dirty="0">
                <a:latin typeface="Arial" charset="0"/>
                <a:ea typeface="宋体" pitchFamily="2" charset="-122"/>
              </a:rPr>
              <a:t>223.1.1.1</a:t>
            </a:r>
          </a:p>
        </p:txBody>
      </p:sp>
      <p:grpSp>
        <p:nvGrpSpPr>
          <p:cNvPr id="35" name="Group 35"/>
          <p:cNvGrpSpPr>
            <a:grpSpLocks/>
          </p:cNvGrpSpPr>
          <p:nvPr/>
        </p:nvGrpSpPr>
        <p:grpSpPr bwMode="auto">
          <a:xfrm>
            <a:off x="1453890" y="4345271"/>
            <a:ext cx="1114316" cy="523063"/>
            <a:chOff x="1910" y="3481"/>
            <a:chExt cx="567" cy="456"/>
          </a:xfrm>
        </p:grpSpPr>
        <p:graphicFrame>
          <p:nvGraphicFramePr>
            <p:cNvPr id="36" name="Object 11"/>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name="Clip" r:id="rId4" imgW="1307079" imgH="1083682" progId="">
                    <p:embed/>
                  </p:oleObj>
                </mc:Choice>
                <mc:Fallback>
                  <p:oleObj name="Clip" r:id="rId4" imgW="1307079" imgH="1083682" progId="">
                    <p:embed/>
                    <p:pic>
                      <p:nvPicPr>
                        <p:cNvPr id="36"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 y="3487"/>
                          <a:ext cx="567" cy="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Text Box 5"/>
            <p:cNvSpPr txBox="1">
              <a:spLocks noChangeArrowheads="1"/>
            </p:cNvSpPr>
            <p:nvPr/>
          </p:nvSpPr>
          <p:spPr bwMode="auto">
            <a:xfrm>
              <a:off x="2096" y="3481"/>
              <a:ext cx="181" cy="349"/>
            </a:xfrm>
            <a:prstGeom prst="rect">
              <a:avLst/>
            </a:prstGeom>
            <a:noFill/>
            <a:ln w="9525">
              <a:noFill/>
              <a:miter lim="800000"/>
              <a:headEnd/>
              <a:tailEnd/>
            </a:ln>
          </p:spPr>
          <p:txBody>
            <a:bodyPr wrap="none">
              <a:spAutoFit/>
            </a:bodyPr>
            <a:lstStyle/>
            <a:p>
              <a:pPr>
                <a:spcBef>
                  <a:spcPct val="50000"/>
                </a:spcBef>
              </a:pPr>
              <a:r>
                <a:rPr lang="en-US" altLang="zh-CN" sz="2000" dirty="0">
                  <a:solidFill>
                    <a:srgbClr val="C00000"/>
                  </a:solidFill>
                  <a:latin typeface="Arial Unicode MS" pitchFamily="34" charset="-122"/>
                  <a:ea typeface="Arial Unicode MS" pitchFamily="34" charset="-122"/>
                  <a:cs typeface="Arial Unicode MS" pitchFamily="34" charset="-122"/>
                </a:rPr>
                <a:t>A</a:t>
              </a:r>
            </a:p>
          </p:txBody>
        </p:sp>
      </p:grpSp>
      <p:sp>
        <p:nvSpPr>
          <p:cNvPr id="38" name="Rectangle 36"/>
          <p:cNvSpPr>
            <a:spLocks noChangeArrowheads="1"/>
          </p:cNvSpPr>
          <p:nvPr/>
        </p:nvSpPr>
        <p:spPr bwMode="auto">
          <a:xfrm rot="16200000">
            <a:off x="2591926" y="4443408"/>
            <a:ext cx="94059" cy="23386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graphicFrame>
        <p:nvGraphicFramePr>
          <p:cNvPr id="39" name="Object 12"/>
          <p:cNvGraphicFramePr>
            <a:graphicFrameLocks noChangeAspect="1"/>
          </p:cNvGraphicFramePr>
          <p:nvPr/>
        </p:nvGraphicFramePr>
        <p:xfrm>
          <a:off x="9478142" y="4204178"/>
          <a:ext cx="921718" cy="427856"/>
        </p:xfrm>
        <a:graphic>
          <a:graphicData uri="http://schemas.openxmlformats.org/presentationml/2006/ole">
            <mc:AlternateContent xmlns:mc="http://schemas.openxmlformats.org/markup-compatibility/2006">
              <mc:Choice xmlns:v="urn:schemas-microsoft-com:vml" Requires="v">
                <p:oleObj name="Clip" r:id="rId2" imgW="1307079" imgH="1083682" progId="">
                  <p:embed/>
                </p:oleObj>
              </mc:Choice>
              <mc:Fallback>
                <p:oleObj name="Clip" r:id="rId2" imgW="1307079" imgH="1083682" progId="">
                  <p:embed/>
                  <p:pic>
                    <p:nvPicPr>
                      <p:cNvPr id="39"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78142" y="4204178"/>
                        <a:ext cx="921718" cy="427856"/>
                      </a:xfrm>
                      <a:prstGeom prst="rect">
                        <a:avLst/>
                      </a:prstGeom>
                      <a:noFill/>
                    </p:spPr>
                  </p:pic>
                </p:oleObj>
              </mc:Fallback>
            </mc:AlternateContent>
          </a:graphicData>
        </a:graphic>
      </p:graphicFrame>
      <p:sp>
        <p:nvSpPr>
          <p:cNvPr id="40" name="Rectangle 39"/>
          <p:cNvSpPr>
            <a:spLocks noChangeArrowheads="1"/>
          </p:cNvSpPr>
          <p:nvPr/>
        </p:nvSpPr>
        <p:spPr bwMode="auto">
          <a:xfrm rot="16200000">
            <a:off x="9368223" y="4386055"/>
            <a:ext cx="94059" cy="23386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41" name="Text Box 40"/>
          <p:cNvSpPr txBox="1">
            <a:spLocks noChangeArrowheads="1"/>
          </p:cNvSpPr>
          <p:nvPr/>
        </p:nvSpPr>
        <p:spPr bwMode="auto">
          <a:xfrm>
            <a:off x="9122426" y="4607945"/>
            <a:ext cx="1029809" cy="28561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223.1.2.1</a:t>
            </a:r>
          </a:p>
        </p:txBody>
      </p:sp>
      <p:grpSp>
        <p:nvGrpSpPr>
          <p:cNvPr id="42" name="Group 42"/>
          <p:cNvGrpSpPr>
            <a:grpSpLocks/>
          </p:cNvGrpSpPr>
          <p:nvPr/>
        </p:nvGrpSpPr>
        <p:grpSpPr bwMode="auto">
          <a:xfrm>
            <a:off x="9482073" y="5459069"/>
            <a:ext cx="1114316" cy="531092"/>
            <a:chOff x="1910" y="3474"/>
            <a:chExt cx="567" cy="463"/>
          </a:xfrm>
        </p:grpSpPr>
        <p:graphicFrame>
          <p:nvGraphicFramePr>
            <p:cNvPr id="43" name="Object 13"/>
            <p:cNvGraphicFramePr>
              <a:graphicFrameLocks noChangeAspect="1"/>
            </p:cNvGraphicFramePr>
            <p:nvPr/>
          </p:nvGraphicFramePr>
          <p:xfrm>
            <a:off x="1910" y="3487"/>
            <a:ext cx="567" cy="450"/>
          </p:xfrm>
          <a:graphic>
            <a:graphicData uri="http://schemas.openxmlformats.org/presentationml/2006/ole">
              <mc:AlternateContent xmlns:mc="http://schemas.openxmlformats.org/markup-compatibility/2006">
                <mc:Choice xmlns:v="urn:schemas-microsoft-com:vml" Requires="v">
                  <p:oleObj name="Clip" r:id="rId5" imgW="1307079" imgH="1083682" progId="">
                    <p:embed/>
                  </p:oleObj>
                </mc:Choice>
                <mc:Fallback>
                  <p:oleObj name="Clip" r:id="rId5" imgW="1307079" imgH="1083682" progId="">
                    <p:embed/>
                    <p:pic>
                      <p:nvPicPr>
                        <p:cNvPr id="43"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 y="3487"/>
                          <a:ext cx="567" cy="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Text Box 44"/>
            <p:cNvSpPr txBox="1">
              <a:spLocks noChangeArrowheads="1"/>
            </p:cNvSpPr>
            <p:nvPr/>
          </p:nvSpPr>
          <p:spPr bwMode="auto">
            <a:xfrm>
              <a:off x="2063" y="3474"/>
              <a:ext cx="181" cy="349"/>
            </a:xfrm>
            <a:prstGeom prst="rect">
              <a:avLst/>
            </a:prstGeom>
            <a:noFill/>
            <a:ln w="9525">
              <a:noFill/>
              <a:miter lim="800000"/>
              <a:headEnd/>
              <a:tailEnd/>
            </a:ln>
          </p:spPr>
          <p:txBody>
            <a:bodyPr wrap="none">
              <a:spAutoFit/>
            </a:bodyPr>
            <a:lstStyle/>
            <a:p>
              <a:pPr>
                <a:spcBef>
                  <a:spcPct val="50000"/>
                </a:spcBef>
              </a:pPr>
              <a:r>
                <a:rPr lang="en-US" altLang="zh-CN" sz="2000" dirty="0">
                  <a:solidFill>
                    <a:srgbClr val="C00000"/>
                  </a:solidFill>
                  <a:latin typeface="Arial Unicode MS" pitchFamily="34" charset="-122"/>
                  <a:ea typeface="Arial Unicode MS" pitchFamily="34" charset="-122"/>
                  <a:cs typeface="Arial Unicode MS" pitchFamily="34" charset="-122"/>
                </a:rPr>
                <a:t>E</a:t>
              </a:r>
            </a:p>
          </p:txBody>
        </p:sp>
      </p:grpSp>
      <p:sp>
        <p:nvSpPr>
          <p:cNvPr id="45" name="Text Box 45"/>
          <p:cNvSpPr txBox="1">
            <a:spLocks noChangeArrowheads="1"/>
          </p:cNvSpPr>
          <p:nvPr/>
        </p:nvSpPr>
        <p:spPr bwMode="auto">
          <a:xfrm>
            <a:off x="9218725" y="5214743"/>
            <a:ext cx="1029809" cy="28561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223.1.2.2</a:t>
            </a:r>
          </a:p>
        </p:txBody>
      </p:sp>
      <p:sp>
        <p:nvSpPr>
          <p:cNvPr id="46" name="Text Box 46"/>
          <p:cNvSpPr txBox="1">
            <a:spLocks noChangeArrowheads="1"/>
          </p:cNvSpPr>
          <p:nvPr/>
        </p:nvSpPr>
        <p:spPr bwMode="auto">
          <a:xfrm>
            <a:off x="8697925" y="5963778"/>
            <a:ext cx="2020311" cy="285619"/>
          </a:xfrm>
          <a:prstGeom prst="rect">
            <a:avLst/>
          </a:prstGeom>
          <a:noFill/>
          <a:ln w="9525">
            <a:noFill/>
            <a:miter lim="800000"/>
            <a:headEnd/>
            <a:tailEnd/>
          </a:ln>
        </p:spPr>
        <p:txBody>
          <a:bodyPr wrap="none">
            <a:spAutoFit/>
          </a:bodyPr>
          <a:lstStyle/>
          <a:p>
            <a:r>
              <a:rPr lang="en-US" altLang="zh-CN" sz="1600">
                <a:latin typeface="Arial" charset="0"/>
                <a:ea typeface="宋体" pitchFamily="2" charset="-122"/>
              </a:rPr>
              <a:t>49-BD-D2-C7-56-2A</a:t>
            </a:r>
          </a:p>
        </p:txBody>
      </p:sp>
      <p:sp>
        <p:nvSpPr>
          <p:cNvPr id="47" name="Rectangle 47"/>
          <p:cNvSpPr>
            <a:spLocks noChangeArrowheads="1"/>
          </p:cNvSpPr>
          <p:nvPr/>
        </p:nvSpPr>
        <p:spPr bwMode="auto">
          <a:xfrm rot="16200000">
            <a:off x="9429147" y="5552621"/>
            <a:ext cx="94059" cy="233869"/>
          </a:xfrm>
          <a:prstGeom prst="rect">
            <a:avLst/>
          </a:prstGeom>
          <a:solidFill>
            <a:schemeClr val="accent1"/>
          </a:solidFill>
          <a:ln w="9525">
            <a:solidFill>
              <a:schemeClr val="tx1"/>
            </a:solidFill>
            <a:miter lim="800000"/>
            <a:headEnd/>
            <a:tailEnd/>
          </a:ln>
        </p:spPr>
        <p:txBody>
          <a:bodyPr wrap="none" anchor="ctr"/>
          <a:lstStyle/>
          <a:p>
            <a:endParaRPr lang="zh-CN" altLang="en-US" sz="1600"/>
          </a:p>
        </p:txBody>
      </p:sp>
      <p:sp>
        <p:nvSpPr>
          <p:cNvPr id="48" name="Freeform 48"/>
          <p:cNvSpPr>
            <a:spLocks/>
          </p:cNvSpPr>
          <p:nvPr/>
        </p:nvSpPr>
        <p:spPr bwMode="auto">
          <a:xfrm>
            <a:off x="2955366" y="4590740"/>
            <a:ext cx="1774651" cy="1142478"/>
          </a:xfrm>
          <a:custGeom>
            <a:avLst/>
            <a:gdLst>
              <a:gd name="T0" fmla="*/ 55 w 1005"/>
              <a:gd name="T1" fmla="*/ 83 h 996"/>
              <a:gd name="T2" fmla="*/ 24 w 1005"/>
              <a:gd name="T3" fmla="*/ 227 h 996"/>
              <a:gd name="T4" fmla="*/ 4 w 1005"/>
              <a:gd name="T5" fmla="*/ 507 h 996"/>
              <a:gd name="T6" fmla="*/ 4 w 1005"/>
              <a:gd name="T7" fmla="*/ 716 h 996"/>
              <a:gd name="T8" fmla="*/ 15 w 1005"/>
              <a:gd name="T9" fmla="*/ 918 h 996"/>
              <a:gd name="T10" fmla="*/ 36 w 1005"/>
              <a:gd name="T11" fmla="*/ 990 h 996"/>
              <a:gd name="T12" fmla="*/ 71 w 1005"/>
              <a:gd name="T13" fmla="*/ 954 h 996"/>
              <a:gd name="T14" fmla="*/ 126 w 1005"/>
              <a:gd name="T15" fmla="*/ 947 h 996"/>
              <a:gd name="T16" fmla="*/ 160 w 1005"/>
              <a:gd name="T17" fmla="*/ 831 h 996"/>
              <a:gd name="T18" fmla="*/ 181 w 1005"/>
              <a:gd name="T19" fmla="*/ 543 h 996"/>
              <a:gd name="T20" fmla="*/ 168 w 1005"/>
              <a:gd name="T21" fmla="*/ 227 h 996"/>
              <a:gd name="T22" fmla="*/ 119 w 1005"/>
              <a:gd name="T23" fmla="*/ 25 h 996"/>
              <a:gd name="T24" fmla="*/ 55 w 1005"/>
              <a:gd name="T25" fmla="*/ 83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05"/>
              <a:gd name="T40" fmla="*/ 0 h 996"/>
              <a:gd name="T41" fmla="*/ 1005 w 1005"/>
              <a:gd name="T42" fmla="*/ 996 h 9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a:solidFill>
              <a:schemeClr val="tx1"/>
            </a:solidFill>
            <a:round/>
            <a:headEnd/>
            <a:tailEnd/>
          </a:ln>
        </p:spPr>
        <p:txBody>
          <a:bodyPr wrap="none"/>
          <a:lstStyle/>
          <a:p>
            <a:endParaRPr lang="zh-CN" altLang="en-US"/>
          </a:p>
        </p:txBody>
      </p:sp>
      <p:sp>
        <p:nvSpPr>
          <p:cNvPr id="49" name="Freeform 49"/>
          <p:cNvSpPr>
            <a:spLocks/>
          </p:cNvSpPr>
          <p:nvPr/>
        </p:nvSpPr>
        <p:spPr bwMode="auto">
          <a:xfrm>
            <a:off x="7328122" y="4633181"/>
            <a:ext cx="1975110" cy="1142478"/>
          </a:xfrm>
          <a:custGeom>
            <a:avLst/>
            <a:gdLst>
              <a:gd name="T0" fmla="*/ 307 w 1005"/>
              <a:gd name="T1" fmla="*/ 83 h 996"/>
              <a:gd name="T2" fmla="*/ 134 w 1005"/>
              <a:gd name="T3" fmla="*/ 227 h 996"/>
              <a:gd name="T4" fmla="*/ 19 w 1005"/>
              <a:gd name="T5" fmla="*/ 507 h 996"/>
              <a:gd name="T6" fmla="*/ 19 w 1005"/>
              <a:gd name="T7" fmla="*/ 716 h 996"/>
              <a:gd name="T8" fmla="*/ 84 w 1005"/>
              <a:gd name="T9" fmla="*/ 918 h 996"/>
              <a:gd name="T10" fmla="*/ 199 w 1005"/>
              <a:gd name="T11" fmla="*/ 990 h 996"/>
              <a:gd name="T12" fmla="*/ 393 w 1005"/>
              <a:gd name="T13" fmla="*/ 954 h 996"/>
              <a:gd name="T14" fmla="*/ 696 w 1005"/>
              <a:gd name="T15" fmla="*/ 947 h 996"/>
              <a:gd name="T16" fmla="*/ 883 w 1005"/>
              <a:gd name="T17" fmla="*/ 831 h 996"/>
              <a:gd name="T18" fmla="*/ 998 w 1005"/>
              <a:gd name="T19" fmla="*/ 543 h 996"/>
              <a:gd name="T20" fmla="*/ 926 w 1005"/>
              <a:gd name="T21" fmla="*/ 227 h 996"/>
              <a:gd name="T22" fmla="*/ 667 w 1005"/>
              <a:gd name="T23" fmla="*/ 25 h 996"/>
              <a:gd name="T24" fmla="*/ 307 w 1005"/>
              <a:gd name="T25" fmla="*/ 83 h 99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05"/>
              <a:gd name="T40" fmla="*/ 0 h 996"/>
              <a:gd name="T41" fmla="*/ 1005 w 1005"/>
              <a:gd name="T42" fmla="*/ 996 h 99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05" h="996">
                <a:moveTo>
                  <a:pt x="307" y="83"/>
                </a:moveTo>
                <a:cubicBezTo>
                  <a:pt x="218" y="117"/>
                  <a:pt x="182" y="156"/>
                  <a:pt x="134" y="227"/>
                </a:cubicBezTo>
                <a:cubicBezTo>
                  <a:pt x="86" y="298"/>
                  <a:pt x="38" y="426"/>
                  <a:pt x="19" y="507"/>
                </a:cubicBezTo>
                <a:cubicBezTo>
                  <a:pt x="0" y="588"/>
                  <a:pt x="8" y="648"/>
                  <a:pt x="19" y="716"/>
                </a:cubicBezTo>
                <a:cubicBezTo>
                  <a:pt x="30" y="784"/>
                  <a:pt x="54" y="873"/>
                  <a:pt x="84" y="918"/>
                </a:cubicBezTo>
                <a:cubicBezTo>
                  <a:pt x="114" y="963"/>
                  <a:pt x="148" y="984"/>
                  <a:pt x="199" y="990"/>
                </a:cubicBezTo>
                <a:cubicBezTo>
                  <a:pt x="250" y="996"/>
                  <a:pt x="310" y="961"/>
                  <a:pt x="393" y="954"/>
                </a:cubicBezTo>
                <a:cubicBezTo>
                  <a:pt x="476" y="947"/>
                  <a:pt x="614" y="967"/>
                  <a:pt x="696" y="947"/>
                </a:cubicBezTo>
                <a:cubicBezTo>
                  <a:pt x="778" y="927"/>
                  <a:pt x="833" y="898"/>
                  <a:pt x="883" y="831"/>
                </a:cubicBezTo>
                <a:cubicBezTo>
                  <a:pt x="933" y="764"/>
                  <a:pt x="991" y="644"/>
                  <a:pt x="998" y="543"/>
                </a:cubicBezTo>
                <a:cubicBezTo>
                  <a:pt x="1005" y="442"/>
                  <a:pt x="981" y="313"/>
                  <a:pt x="926" y="227"/>
                </a:cubicBezTo>
                <a:cubicBezTo>
                  <a:pt x="871" y="141"/>
                  <a:pt x="768" y="50"/>
                  <a:pt x="667" y="25"/>
                </a:cubicBezTo>
                <a:cubicBezTo>
                  <a:pt x="566" y="0"/>
                  <a:pt x="396" y="49"/>
                  <a:pt x="307" y="83"/>
                </a:cubicBezTo>
                <a:close/>
              </a:path>
            </a:pathLst>
          </a:custGeom>
          <a:solidFill>
            <a:srgbClr val="00FFFF"/>
          </a:solidFill>
          <a:ln w="9525">
            <a:solidFill>
              <a:schemeClr val="tx1"/>
            </a:solidFill>
            <a:round/>
            <a:headEnd/>
            <a:tailEnd/>
          </a:ln>
        </p:spPr>
        <p:txBody>
          <a:bodyPr wrap="none"/>
          <a:lstStyle/>
          <a:p>
            <a:endParaRPr lang="zh-CN" altLang="en-US"/>
          </a:p>
        </p:txBody>
      </p:sp>
      <p:sp>
        <p:nvSpPr>
          <p:cNvPr id="50" name="Line 50"/>
          <p:cNvSpPr>
            <a:spLocks noChangeShapeType="1"/>
          </p:cNvSpPr>
          <p:nvPr/>
        </p:nvSpPr>
        <p:spPr bwMode="auto">
          <a:xfrm>
            <a:off x="2754907" y="4565504"/>
            <a:ext cx="577793" cy="193854"/>
          </a:xfrm>
          <a:prstGeom prst="line">
            <a:avLst/>
          </a:prstGeom>
          <a:noFill/>
          <a:ln w="9525">
            <a:solidFill>
              <a:schemeClr val="tx1"/>
            </a:solidFill>
            <a:round/>
            <a:headEnd/>
            <a:tailEnd/>
          </a:ln>
        </p:spPr>
        <p:txBody>
          <a:bodyPr wrap="none"/>
          <a:lstStyle/>
          <a:p>
            <a:endParaRPr lang="zh-CN" altLang="en-US"/>
          </a:p>
        </p:txBody>
      </p:sp>
      <p:sp>
        <p:nvSpPr>
          <p:cNvPr id="51" name="Line 51"/>
          <p:cNvSpPr>
            <a:spLocks noChangeShapeType="1"/>
          </p:cNvSpPr>
          <p:nvPr/>
        </p:nvSpPr>
        <p:spPr bwMode="auto">
          <a:xfrm flipV="1">
            <a:off x="2855137" y="5713717"/>
            <a:ext cx="406814" cy="287914"/>
          </a:xfrm>
          <a:prstGeom prst="line">
            <a:avLst/>
          </a:prstGeom>
          <a:noFill/>
          <a:ln w="9525">
            <a:solidFill>
              <a:schemeClr val="tx1"/>
            </a:solidFill>
            <a:round/>
            <a:headEnd/>
            <a:tailEnd/>
          </a:ln>
        </p:spPr>
        <p:txBody>
          <a:bodyPr wrap="none"/>
          <a:lstStyle/>
          <a:p>
            <a:endParaRPr lang="zh-CN" altLang="en-US"/>
          </a:p>
        </p:txBody>
      </p:sp>
      <p:sp>
        <p:nvSpPr>
          <p:cNvPr id="52" name="Line 52"/>
          <p:cNvSpPr>
            <a:spLocks noChangeShapeType="1"/>
          </p:cNvSpPr>
          <p:nvPr/>
        </p:nvSpPr>
        <p:spPr bwMode="auto">
          <a:xfrm>
            <a:off x="4714295" y="5195243"/>
            <a:ext cx="381265" cy="8029"/>
          </a:xfrm>
          <a:prstGeom prst="line">
            <a:avLst/>
          </a:prstGeom>
          <a:noFill/>
          <a:ln w="9525">
            <a:solidFill>
              <a:schemeClr val="tx1"/>
            </a:solidFill>
            <a:round/>
            <a:headEnd/>
            <a:tailEnd/>
          </a:ln>
        </p:spPr>
        <p:txBody>
          <a:bodyPr wrap="none"/>
          <a:lstStyle/>
          <a:p>
            <a:endParaRPr lang="zh-CN" altLang="en-US"/>
          </a:p>
        </p:txBody>
      </p:sp>
      <p:sp>
        <p:nvSpPr>
          <p:cNvPr id="53" name="Line 53"/>
          <p:cNvSpPr>
            <a:spLocks noChangeShapeType="1"/>
          </p:cNvSpPr>
          <p:nvPr/>
        </p:nvSpPr>
        <p:spPr bwMode="auto">
          <a:xfrm flipV="1">
            <a:off x="6789634" y="5184920"/>
            <a:ext cx="593516" cy="2294"/>
          </a:xfrm>
          <a:prstGeom prst="line">
            <a:avLst/>
          </a:prstGeom>
          <a:noFill/>
          <a:ln w="9525">
            <a:solidFill>
              <a:schemeClr val="tx1"/>
            </a:solidFill>
            <a:round/>
            <a:headEnd/>
            <a:tailEnd/>
          </a:ln>
        </p:spPr>
        <p:txBody>
          <a:bodyPr wrap="none"/>
          <a:lstStyle/>
          <a:p>
            <a:endParaRPr lang="zh-CN" altLang="en-US"/>
          </a:p>
        </p:txBody>
      </p:sp>
      <p:sp>
        <p:nvSpPr>
          <p:cNvPr id="54" name="Line 54"/>
          <p:cNvSpPr>
            <a:spLocks noChangeShapeType="1"/>
          </p:cNvSpPr>
          <p:nvPr/>
        </p:nvSpPr>
        <p:spPr bwMode="auto">
          <a:xfrm>
            <a:off x="9089016" y="5557716"/>
            <a:ext cx="259417" cy="110118"/>
          </a:xfrm>
          <a:prstGeom prst="line">
            <a:avLst/>
          </a:prstGeom>
          <a:noFill/>
          <a:ln w="9525">
            <a:solidFill>
              <a:schemeClr val="tx1"/>
            </a:solidFill>
            <a:round/>
            <a:headEnd/>
            <a:tailEnd/>
          </a:ln>
        </p:spPr>
        <p:txBody>
          <a:bodyPr wrap="none"/>
          <a:lstStyle/>
          <a:p>
            <a:endParaRPr lang="zh-CN" altLang="en-US"/>
          </a:p>
        </p:txBody>
      </p:sp>
      <p:sp>
        <p:nvSpPr>
          <p:cNvPr id="55" name="Line 55"/>
          <p:cNvSpPr>
            <a:spLocks noChangeShapeType="1"/>
          </p:cNvSpPr>
          <p:nvPr/>
        </p:nvSpPr>
        <p:spPr bwMode="auto">
          <a:xfrm flipH="1">
            <a:off x="8843356" y="4511592"/>
            <a:ext cx="442189" cy="207619"/>
          </a:xfrm>
          <a:prstGeom prst="line">
            <a:avLst/>
          </a:prstGeom>
          <a:noFill/>
          <a:ln w="9525">
            <a:solidFill>
              <a:schemeClr val="tx1"/>
            </a:solidFill>
            <a:round/>
            <a:headEnd/>
            <a:tailEnd/>
          </a:ln>
        </p:spPr>
        <p:txBody>
          <a:bodyPr wrap="none"/>
          <a:lstStyle/>
          <a:p>
            <a:endParaRPr lang="zh-CN" altLang="en-US"/>
          </a:p>
        </p:txBody>
      </p:sp>
      <p:sp>
        <p:nvSpPr>
          <p:cNvPr id="56" name="Line 56"/>
          <p:cNvSpPr>
            <a:spLocks noChangeShapeType="1"/>
          </p:cNvSpPr>
          <p:nvPr/>
        </p:nvSpPr>
        <p:spPr bwMode="auto">
          <a:xfrm flipV="1">
            <a:off x="2745081" y="6081926"/>
            <a:ext cx="0" cy="137648"/>
          </a:xfrm>
          <a:prstGeom prst="line">
            <a:avLst/>
          </a:prstGeom>
          <a:noFill/>
          <a:ln w="9525">
            <a:solidFill>
              <a:schemeClr val="tx1"/>
            </a:solidFill>
            <a:round/>
            <a:headEnd/>
            <a:tailEnd type="triangle" w="med" len="med"/>
          </a:ln>
        </p:spPr>
        <p:txBody>
          <a:bodyPr wrap="none"/>
          <a:lstStyle/>
          <a:p>
            <a:endParaRPr lang="zh-CN" altLang="en-US"/>
          </a:p>
        </p:txBody>
      </p:sp>
      <p:sp>
        <p:nvSpPr>
          <p:cNvPr id="57" name="Line 57"/>
          <p:cNvSpPr>
            <a:spLocks noChangeShapeType="1"/>
          </p:cNvSpPr>
          <p:nvPr/>
        </p:nvSpPr>
        <p:spPr bwMode="auto">
          <a:xfrm>
            <a:off x="2627164" y="4347561"/>
            <a:ext cx="0" cy="151413"/>
          </a:xfrm>
          <a:prstGeom prst="line">
            <a:avLst/>
          </a:prstGeom>
          <a:noFill/>
          <a:ln w="9525">
            <a:solidFill>
              <a:schemeClr val="tx1"/>
            </a:solidFill>
            <a:round/>
            <a:headEnd/>
            <a:tailEnd type="triangle" w="med" len="med"/>
          </a:ln>
        </p:spPr>
        <p:txBody>
          <a:bodyPr wrap="none"/>
          <a:lstStyle/>
          <a:p>
            <a:endParaRPr lang="zh-CN" altLang="en-US"/>
          </a:p>
        </p:txBody>
      </p:sp>
      <p:sp>
        <p:nvSpPr>
          <p:cNvPr id="58" name="Line 58"/>
          <p:cNvSpPr>
            <a:spLocks noChangeShapeType="1"/>
          </p:cNvSpPr>
          <p:nvPr/>
        </p:nvSpPr>
        <p:spPr bwMode="auto">
          <a:xfrm>
            <a:off x="5209546" y="4746740"/>
            <a:ext cx="0" cy="368208"/>
          </a:xfrm>
          <a:prstGeom prst="line">
            <a:avLst/>
          </a:prstGeom>
          <a:noFill/>
          <a:ln w="9525">
            <a:solidFill>
              <a:schemeClr val="tx1"/>
            </a:solidFill>
            <a:round/>
            <a:headEnd/>
            <a:tailEnd type="triangle" w="med" len="med"/>
          </a:ln>
        </p:spPr>
        <p:txBody>
          <a:bodyPr wrap="none"/>
          <a:lstStyle/>
          <a:p>
            <a:endParaRPr lang="zh-CN" altLang="en-US"/>
          </a:p>
        </p:txBody>
      </p:sp>
      <p:sp>
        <p:nvSpPr>
          <p:cNvPr id="59" name="Line 59"/>
          <p:cNvSpPr>
            <a:spLocks noChangeShapeType="1"/>
          </p:cNvSpPr>
          <p:nvPr/>
        </p:nvSpPr>
        <p:spPr bwMode="auto">
          <a:xfrm>
            <a:off x="6624550" y="4915359"/>
            <a:ext cx="0" cy="175501"/>
          </a:xfrm>
          <a:prstGeom prst="line">
            <a:avLst/>
          </a:prstGeom>
          <a:noFill/>
          <a:ln w="9525">
            <a:solidFill>
              <a:schemeClr val="tx1"/>
            </a:solidFill>
            <a:round/>
            <a:headEnd/>
            <a:tailEnd type="triangle" w="med" len="med"/>
          </a:ln>
        </p:spPr>
        <p:txBody>
          <a:bodyPr wrap="none"/>
          <a:lstStyle/>
          <a:p>
            <a:endParaRPr lang="zh-CN" altLang="en-US"/>
          </a:p>
        </p:txBody>
      </p:sp>
      <p:sp>
        <p:nvSpPr>
          <p:cNvPr id="60" name="Line 60"/>
          <p:cNvSpPr>
            <a:spLocks noChangeShapeType="1"/>
          </p:cNvSpPr>
          <p:nvPr/>
        </p:nvSpPr>
        <p:spPr bwMode="auto">
          <a:xfrm flipV="1">
            <a:off x="9430975" y="5751570"/>
            <a:ext cx="0" cy="234001"/>
          </a:xfrm>
          <a:prstGeom prst="line">
            <a:avLst/>
          </a:prstGeom>
          <a:noFill/>
          <a:ln w="9525">
            <a:solidFill>
              <a:schemeClr val="tx1"/>
            </a:solidFill>
            <a:round/>
            <a:headEnd/>
            <a:tailEnd type="triangle" w="med" len="med"/>
          </a:ln>
        </p:spPr>
        <p:txBody>
          <a:bodyPr wrap="none"/>
          <a:lstStyle/>
          <a:p>
            <a:endParaRPr lang="zh-CN" altLang="en-US"/>
          </a:p>
        </p:txBody>
      </p:sp>
      <p:sp>
        <p:nvSpPr>
          <p:cNvPr id="61" name="Line 61"/>
          <p:cNvSpPr>
            <a:spLocks noChangeShapeType="1"/>
          </p:cNvSpPr>
          <p:nvPr/>
        </p:nvSpPr>
        <p:spPr bwMode="auto">
          <a:xfrm flipH="1">
            <a:off x="9407392" y="4271855"/>
            <a:ext cx="5896" cy="168619"/>
          </a:xfrm>
          <a:prstGeom prst="line">
            <a:avLst/>
          </a:prstGeom>
          <a:noFill/>
          <a:ln w="9525">
            <a:solidFill>
              <a:schemeClr val="tx1"/>
            </a:solidFill>
            <a:round/>
            <a:headEnd/>
            <a:tailEnd type="triangle" w="med" len="med"/>
          </a:ln>
        </p:spPr>
        <p:txBody>
          <a:bodyPr wrap="none"/>
          <a:lstStyle/>
          <a:p>
            <a:endParaRPr lang="zh-CN" altLang="en-US"/>
          </a:p>
        </p:txBody>
      </p:sp>
      <p:sp>
        <p:nvSpPr>
          <p:cNvPr id="62" name="Text Box 6"/>
          <p:cNvSpPr txBox="1">
            <a:spLocks noChangeArrowheads="1"/>
          </p:cNvSpPr>
          <p:nvPr/>
        </p:nvSpPr>
        <p:spPr bwMode="auto">
          <a:xfrm>
            <a:off x="5747863" y="5408325"/>
            <a:ext cx="407484" cy="461665"/>
          </a:xfrm>
          <a:prstGeom prst="rect">
            <a:avLst/>
          </a:prstGeom>
          <a:noFill/>
          <a:ln w="9525">
            <a:noFill/>
            <a:miter lim="800000"/>
            <a:headEnd/>
            <a:tailEnd/>
          </a:ln>
        </p:spPr>
        <p:txBody>
          <a:bodyPr wrap="none">
            <a:spAutoFit/>
          </a:bodyPr>
          <a:lstStyle/>
          <a:p>
            <a:pPr eaLnBrk="0" hangingPunct="0">
              <a:spcBef>
                <a:spcPct val="50000"/>
              </a:spcBef>
            </a:pPr>
            <a:r>
              <a:rPr kumimoji="0" lang="en-US" altLang="zh-CN" sz="2400" dirty="0">
                <a:solidFill>
                  <a:srgbClr val="C00000"/>
                </a:solidFill>
                <a:latin typeface="Arial Unicode MS" pitchFamily="34" charset="-122"/>
                <a:ea typeface="Arial Unicode MS" pitchFamily="34" charset="-122"/>
                <a:cs typeface="Arial Unicode MS" pitchFamily="34" charset="-122"/>
              </a:rPr>
              <a:t>R</a:t>
            </a:r>
            <a:endParaRPr kumimoji="0" lang="en-US" altLang="zh-CN" sz="1800" dirty="0">
              <a:solidFill>
                <a:srgbClr val="C00000"/>
              </a:solidFill>
              <a:latin typeface="Arial Unicode MS" pitchFamily="34" charset="-122"/>
              <a:ea typeface="Arial Unicode MS" pitchFamily="34" charset="-122"/>
              <a:cs typeface="Arial Unicode MS" pitchFamily="34" charset="-122"/>
            </a:endParaRPr>
          </a:p>
        </p:txBody>
      </p:sp>
      <p:sp>
        <p:nvSpPr>
          <p:cNvPr id="63" name="Text Box 5"/>
          <p:cNvSpPr txBox="1">
            <a:spLocks noChangeArrowheads="1"/>
          </p:cNvSpPr>
          <p:nvPr/>
        </p:nvSpPr>
        <p:spPr bwMode="auto">
          <a:xfrm>
            <a:off x="2082871" y="5850791"/>
            <a:ext cx="356188" cy="400110"/>
          </a:xfrm>
          <a:prstGeom prst="rect">
            <a:avLst/>
          </a:prstGeom>
          <a:noFill/>
          <a:ln w="9525">
            <a:noFill/>
            <a:miter lim="800000"/>
            <a:headEnd/>
            <a:tailEnd/>
          </a:ln>
        </p:spPr>
        <p:txBody>
          <a:bodyPr wrap="none">
            <a:spAutoFit/>
          </a:bodyPr>
          <a:lstStyle/>
          <a:p>
            <a:pPr>
              <a:spcBef>
                <a:spcPct val="50000"/>
              </a:spcBef>
            </a:pPr>
            <a:r>
              <a:rPr lang="en-US" altLang="zh-CN" sz="2000" dirty="0">
                <a:solidFill>
                  <a:srgbClr val="C00000"/>
                </a:solidFill>
                <a:latin typeface="Arial Unicode MS" pitchFamily="34" charset="-122"/>
                <a:ea typeface="Arial Unicode MS" pitchFamily="34" charset="-122"/>
                <a:cs typeface="Arial Unicode MS" pitchFamily="34" charset="-122"/>
              </a:rPr>
              <a:t>B</a:t>
            </a:r>
          </a:p>
        </p:txBody>
      </p:sp>
      <p:sp>
        <p:nvSpPr>
          <p:cNvPr id="64" name="Text Box 5"/>
          <p:cNvSpPr txBox="1">
            <a:spLocks noChangeArrowheads="1"/>
          </p:cNvSpPr>
          <p:nvPr/>
        </p:nvSpPr>
        <p:spPr bwMode="auto">
          <a:xfrm>
            <a:off x="9755232" y="4181493"/>
            <a:ext cx="370614" cy="400110"/>
          </a:xfrm>
          <a:prstGeom prst="rect">
            <a:avLst/>
          </a:prstGeom>
          <a:noFill/>
          <a:ln w="9525">
            <a:noFill/>
            <a:miter lim="800000"/>
            <a:headEnd/>
            <a:tailEnd/>
          </a:ln>
        </p:spPr>
        <p:txBody>
          <a:bodyPr wrap="none">
            <a:spAutoFit/>
          </a:bodyPr>
          <a:lstStyle/>
          <a:p>
            <a:pPr>
              <a:spcBef>
                <a:spcPct val="50000"/>
              </a:spcBef>
            </a:pPr>
            <a:r>
              <a:rPr lang="en-US" altLang="zh-CN" sz="2000" dirty="0">
                <a:solidFill>
                  <a:srgbClr val="C00000"/>
                </a:solidFill>
                <a:latin typeface="Arial Unicode MS" pitchFamily="34" charset="-122"/>
                <a:ea typeface="Arial Unicode MS" pitchFamily="34" charset="-122"/>
                <a:cs typeface="Arial Unicode MS" pitchFamily="34" charset="-122"/>
              </a:rPr>
              <a:t>D</a:t>
            </a:r>
          </a:p>
        </p:txBody>
      </p:sp>
      <p:sp>
        <p:nvSpPr>
          <p:cNvPr id="65" name="TextBox 64"/>
          <p:cNvSpPr txBox="1"/>
          <p:nvPr/>
        </p:nvSpPr>
        <p:spPr>
          <a:xfrm>
            <a:off x="3164365" y="5004794"/>
            <a:ext cx="1378647" cy="338554"/>
          </a:xfrm>
          <a:prstGeom prst="rect">
            <a:avLst/>
          </a:prstGeom>
          <a:noFill/>
        </p:spPr>
        <p:txBody>
          <a:bodyPr wrap="square" rtlCol="0">
            <a:spAutoFit/>
          </a:bodyPr>
          <a:lstStyle/>
          <a:p>
            <a:r>
              <a:rPr lang="en-US" altLang="zh-CN" sz="1600" dirty="0">
                <a:latin typeface="Arial" charset="0"/>
                <a:ea typeface="宋体" pitchFamily="2" charset="-122"/>
              </a:rPr>
              <a:t>223.1.1.0/24</a:t>
            </a:r>
            <a:endParaRPr lang="zh-CN" altLang="en-US" sz="1600" dirty="0">
              <a:latin typeface="Arial" charset="0"/>
              <a:ea typeface="宋体" pitchFamily="2" charset="-122"/>
            </a:endParaRPr>
          </a:p>
        </p:txBody>
      </p:sp>
      <p:sp>
        <p:nvSpPr>
          <p:cNvPr id="66" name="TextBox 65"/>
          <p:cNvSpPr txBox="1"/>
          <p:nvPr/>
        </p:nvSpPr>
        <p:spPr>
          <a:xfrm>
            <a:off x="7617019" y="5089228"/>
            <a:ext cx="1378647" cy="338554"/>
          </a:xfrm>
          <a:prstGeom prst="rect">
            <a:avLst/>
          </a:prstGeom>
          <a:noFill/>
        </p:spPr>
        <p:txBody>
          <a:bodyPr wrap="square" rtlCol="0">
            <a:spAutoFit/>
          </a:bodyPr>
          <a:lstStyle/>
          <a:p>
            <a:r>
              <a:rPr lang="en-US" altLang="zh-CN" sz="1600" dirty="0">
                <a:latin typeface="Arial" charset="0"/>
                <a:ea typeface="宋体" pitchFamily="2" charset="-122"/>
              </a:rPr>
              <a:t>223.1.2.0/24</a:t>
            </a:r>
            <a:endParaRPr lang="zh-CN" altLang="en-US" sz="1600" dirty="0">
              <a:latin typeface="Arial" charset="0"/>
              <a:ea typeface="宋体" pitchFamily="2" charset="-122"/>
            </a:endParaRPr>
          </a:p>
        </p:txBody>
      </p:sp>
    </p:spTree>
    <p:extLst>
      <p:ext uri="{BB962C8B-B14F-4D97-AF65-F5344CB8AC3E}">
        <p14:creationId xmlns:p14="http://schemas.microsoft.com/office/powerpoint/2010/main" val="7646034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dirty="0"/>
              <a:t>IP</a:t>
            </a:r>
            <a:r>
              <a:rPr lang="zh-CN" altLang="en-US" dirty="0"/>
              <a:t>包转发</a:t>
            </a:r>
          </a:p>
        </p:txBody>
      </p:sp>
      <p:sp>
        <p:nvSpPr>
          <p:cNvPr id="3" name="内容占位符 2"/>
          <p:cNvSpPr>
            <a:spLocks noGrp="1"/>
          </p:cNvSpPr>
          <p:nvPr>
            <p:ph idx="1"/>
          </p:nvPr>
        </p:nvSpPr>
        <p:spPr/>
        <p:txBody>
          <a:bodyPr/>
          <a:lstStyle/>
          <a:p>
            <a:r>
              <a:rPr lang="zh-CN" altLang="en-US" dirty="0">
                <a:solidFill>
                  <a:srgbClr val="C00000"/>
                </a:solidFill>
              </a:rPr>
              <a:t>间接交付</a:t>
            </a:r>
            <a:r>
              <a:rPr lang="zh-CN" altLang="en-US" dirty="0"/>
              <a:t>：与目的主机不在同一个</a:t>
            </a:r>
            <a:r>
              <a:rPr lang="en-US" dirty="0"/>
              <a:t>IP</a:t>
            </a:r>
            <a:r>
              <a:rPr lang="zh-CN" altLang="en-US" dirty="0"/>
              <a:t>子网内</a:t>
            </a:r>
          </a:p>
        </p:txBody>
      </p:sp>
      <p:sp>
        <p:nvSpPr>
          <p:cNvPr id="89"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a:t>
            </a:r>
            <a:r>
              <a:rPr lang="en-US" altLang="zh-CN" dirty="0">
                <a:latin typeface="等线" panose="02010600030101010101" pitchFamily="2" charset="-122"/>
                <a:ea typeface="等线" panose="02010600030101010101" pitchFamily="2" charset="-122"/>
              </a:rPr>
              <a:t>.2</a:t>
            </a:r>
            <a:r>
              <a:rPr lang="en-US" altLang="zh-CN" dirty="0">
                <a:solidFill>
                  <a:schemeClr val="bg1">
                    <a:lumMod val="65000"/>
                  </a:schemeClr>
                </a:solidFill>
                <a:latin typeface="等线" panose="02010600030101010101" pitchFamily="2" charset="-122"/>
                <a:ea typeface="等线" panose="02010600030101010101" pitchFamily="2" charset="-122"/>
              </a:rPr>
              <a:t> </a:t>
            </a:r>
            <a:r>
              <a:rPr lang="en-US" dirty="0">
                <a:latin typeface="DengXian" panose="02010600030101010101" pitchFamily="2" charset="-122"/>
                <a:ea typeface="DengXian" panose="02010600030101010101" pitchFamily="2" charset="-122"/>
              </a:rPr>
              <a:t>IP</a:t>
            </a:r>
            <a:r>
              <a:rPr lang="zh-CN" altLang="en-US" dirty="0">
                <a:latin typeface="DengXian" panose="02010600030101010101" pitchFamily="2" charset="-122"/>
                <a:ea typeface="DengXian" panose="02010600030101010101" pitchFamily="2" charset="-122"/>
              </a:rPr>
              <a:t>地址</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90"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38</a:t>
            </a:fld>
            <a:endParaRPr kumimoji="1" lang="zh-CN" altLang="en-US" dirty="0"/>
          </a:p>
        </p:txBody>
      </p:sp>
      <p:grpSp>
        <p:nvGrpSpPr>
          <p:cNvPr id="49" name="组合 48"/>
          <p:cNvGrpSpPr/>
          <p:nvPr/>
        </p:nvGrpSpPr>
        <p:grpSpPr>
          <a:xfrm>
            <a:off x="1143009" y="2110356"/>
            <a:ext cx="9635237" cy="3765260"/>
            <a:chOff x="177804" y="1557338"/>
            <a:chExt cx="8966195" cy="4369033"/>
          </a:xfrm>
        </p:grpSpPr>
        <p:sp>
          <p:nvSpPr>
            <p:cNvPr id="50" name="Text Box 34"/>
            <p:cNvSpPr txBox="1">
              <a:spLocks noChangeArrowheads="1"/>
            </p:cNvSpPr>
            <p:nvPr/>
          </p:nvSpPr>
          <p:spPr bwMode="auto">
            <a:xfrm>
              <a:off x="5907088" y="5533538"/>
              <a:ext cx="2514600" cy="39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ctr"/>
              <a:r>
                <a:rPr lang="en-US" altLang="zh-CN" sz="1600" dirty="0">
                  <a:solidFill>
                    <a:srgbClr val="000000"/>
                  </a:solidFill>
                  <a:latin typeface="等线" panose="02010600030101010101" pitchFamily="2" charset="-122"/>
                  <a:ea typeface="等线" panose="02010600030101010101" pitchFamily="2" charset="-122"/>
                </a:rPr>
                <a:t>C</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IP: 10.1.1.8/30</a:t>
              </a:r>
            </a:p>
          </p:txBody>
        </p:sp>
        <p:sp>
          <p:nvSpPr>
            <p:cNvPr id="96" name="Rectangle 38"/>
            <p:cNvSpPr>
              <a:spLocks noChangeArrowheads="1"/>
            </p:cNvSpPr>
            <p:nvPr/>
          </p:nvSpPr>
          <p:spPr bwMode="auto">
            <a:xfrm>
              <a:off x="2009174" y="4948526"/>
              <a:ext cx="233615" cy="147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tabLst>
                  <a:tab pos="514350" algn="l"/>
                  <a:tab pos="1028700" algn="l"/>
                  <a:tab pos="1543050" algn="l"/>
                </a:tabLst>
                <a:defRPr kumimoji="1">
                  <a:solidFill>
                    <a:schemeClr val="bg1"/>
                  </a:solidFill>
                  <a:latin typeface="Times New Roman" pitchFamily="18" charset="0"/>
                  <a:ea typeface="宋体" pitchFamily="2" charset="-122"/>
                </a:defRPr>
              </a:lvl1pPr>
              <a:lvl2pPr marL="742950" indent="-285750" defTabSz="1028700">
                <a:tabLst>
                  <a:tab pos="514350" algn="l"/>
                  <a:tab pos="1028700" algn="l"/>
                  <a:tab pos="1543050" algn="l"/>
                </a:tabLst>
                <a:defRPr kumimoji="1">
                  <a:solidFill>
                    <a:schemeClr val="bg1"/>
                  </a:solidFill>
                  <a:latin typeface="Times New Roman" pitchFamily="18" charset="0"/>
                  <a:ea typeface="宋体" pitchFamily="2" charset="-122"/>
                </a:defRPr>
              </a:lvl2pPr>
              <a:lvl3pPr marL="11430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3pPr>
              <a:lvl4pPr marL="16002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4pPr>
              <a:lvl5pPr marL="20574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5pPr>
              <a:lvl6pPr marL="25146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6pPr>
              <a:lvl7pPr marL="29718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7pPr>
              <a:lvl8pPr marL="34290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8pPr>
              <a:lvl9pPr marL="38862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9pPr>
            </a:lstStyle>
            <a:p>
              <a:pPr>
                <a:lnSpc>
                  <a:spcPts val="2138"/>
                </a:lnSpc>
              </a:pPr>
              <a:endParaRPr kumimoji="0" lang="zh-CN" altLang="zh-CN" sz="2000" b="1">
                <a:solidFill>
                  <a:srgbClr val="000000"/>
                </a:solidFill>
                <a:latin typeface="Helvetica" charset="0"/>
              </a:endParaRPr>
            </a:p>
          </p:txBody>
        </p:sp>
        <p:sp>
          <p:nvSpPr>
            <p:cNvPr id="94" name="Rectangle 41"/>
            <p:cNvSpPr>
              <a:spLocks noChangeArrowheads="1"/>
            </p:cNvSpPr>
            <p:nvPr/>
          </p:nvSpPr>
          <p:spPr bwMode="auto">
            <a:xfrm>
              <a:off x="4528537" y="4950109"/>
              <a:ext cx="233614" cy="147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tabLst>
                  <a:tab pos="514350" algn="l"/>
                  <a:tab pos="1028700" algn="l"/>
                  <a:tab pos="1543050" algn="l"/>
                </a:tabLst>
                <a:defRPr kumimoji="1">
                  <a:solidFill>
                    <a:schemeClr val="bg1"/>
                  </a:solidFill>
                  <a:latin typeface="Times New Roman" pitchFamily="18" charset="0"/>
                  <a:ea typeface="宋体" pitchFamily="2" charset="-122"/>
                </a:defRPr>
              </a:lvl1pPr>
              <a:lvl2pPr marL="742950" indent="-285750" defTabSz="1028700">
                <a:tabLst>
                  <a:tab pos="514350" algn="l"/>
                  <a:tab pos="1028700" algn="l"/>
                  <a:tab pos="1543050" algn="l"/>
                </a:tabLst>
                <a:defRPr kumimoji="1">
                  <a:solidFill>
                    <a:schemeClr val="bg1"/>
                  </a:solidFill>
                  <a:latin typeface="Times New Roman" pitchFamily="18" charset="0"/>
                  <a:ea typeface="宋体" pitchFamily="2" charset="-122"/>
                </a:defRPr>
              </a:lvl2pPr>
              <a:lvl3pPr marL="11430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3pPr>
              <a:lvl4pPr marL="16002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4pPr>
              <a:lvl5pPr marL="20574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5pPr>
              <a:lvl6pPr marL="25146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6pPr>
              <a:lvl7pPr marL="29718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7pPr>
              <a:lvl8pPr marL="34290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8pPr>
              <a:lvl9pPr marL="38862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9pPr>
            </a:lstStyle>
            <a:p>
              <a:pPr>
                <a:lnSpc>
                  <a:spcPts val="2138"/>
                </a:lnSpc>
              </a:pPr>
              <a:endParaRPr kumimoji="0" lang="zh-CN" altLang="zh-CN" sz="2000" b="1">
                <a:solidFill>
                  <a:srgbClr val="000000"/>
                </a:solidFill>
                <a:latin typeface="Helvetica" charset="0"/>
              </a:endParaRPr>
            </a:p>
          </p:txBody>
        </p:sp>
        <p:sp>
          <p:nvSpPr>
            <p:cNvPr id="92" name="Rectangle 44"/>
            <p:cNvSpPr>
              <a:spLocks noChangeArrowheads="1"/>
            </p:cNvSpPr>
            <p:nvPr/>
          </p:nvSpPr>
          <p:spPr bwMode="auto">
            <a:xfrm>
              <a:off x="7122512" y="4950109"/>
              <a:ext cx="233614" cy="147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21431" tIns="30362" rIns="21431" bIns="30362"/>
            <a:lstStyle>
              <a:lvl1pPr defTabSz="1028700">
                <a:tabLst>
                  <a:tab pos="514350" algn="l"/>
                  <a:tab pos="1028700" algn="l"/>
                  <a:tab pos="1543050" algn="l"/>
                </a:tabLst>
                <a:defRPr kumimoji="1">
                  <a:solidFill>
                    <a:schemeClr val="bg1"/>
                  </a:solidFill>
                  <a:latin typeface="Times New Roman" pitchFamily="18" charset="0"/>
                  <a:ea typeface="宋体" pitchFamily="2" charset="-122"/>
                </a:defRPr>
              </a:lvl1pPr>
              <a:lvl2pPr marL="742950" indent="-285750" defTabSz="1028700">
                <a:tabLst>
                  <a:tab pos="514350" algn="l"/>
                  <a:tab pos="1028700" algn="l"/>
                  <a:tab pos="1543050" algn="l"/>
                </a:tabLst>
                <a:defRPr kumimoji="1">
                  <a:solidFill>
                    <a:schemeClr val="bg1"/>
                  </a:solidFill>
                  <a:latin typeface="Times New Roman" pitchFamily="18" charset="0"/>
                  <a:ea typeface="宋体" pitchFamily="2" charset="-122"/>
                </a:defRPr>
              </a:lvl2pPr>
              <a:lvl3pPr marL="11430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3pPr>
              <a:lvl4pPr marL="16002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4pPr>
              <a:lvl5pPr marL="2057400" indent="-228600" defTabSz="1028700">
                <a:tabLst>
                  <a:tab pos="514350" algn="l"/>
                  <a:tab pos="1028700" algn="l"/>
                  <a:tab pos="1543050" algn="l"/>
                </a:tabLst>
                <a:defRPr kumimoji="1">
                  <a:solidFill>
                    <a:schemeClr val="bg1"/>
                  </a:solidFill>
                  <a:latin typeface="Times New Roman" pitchFamily="18" charset="0"/>
                  <a:ea typeface="宋体" pitchFamily="2" charset="-122"/>
                </a:defRPr>
              </a:lvl5pPr>
              <a:lvl6pPr marL="25146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6pPr>
              <a:lvl7pPr marL="29718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7pPr>
              <a:lvl8pPr marL="34290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8pPr>
              <a:lvl9pPr marL="3886200" indent="-228600" algn="ctr" defTabSz="1028700" eaLnBrk="0" fontAlgn="base" hangingPunct="0">
                <a:spcBef>
                  <a:spcPct val="0"/>
                </a:spcBef>
                <a:spcAft>
                  <a:spcPct val="0"/>
                </a:spcAft>
                <a:tabLst>
                  <a:tab pos="514350" algn="l"/>
                  <a:tab pos="1028700" algn="l"/>
                  <a:tab pos="1543050" algn="l"/>
                </a:tabLst>
                <a:defRPr kumimoji="1">
                  <a:solidFill>
                    <a:schemeClr val="bg1"/>
                  </a:solidFill>
                  <a:latin typeface="Times New Roman" pitchFamily="18" charset="0"/>
                  <a:ea typeface="宋体" pitchFamily="2" charset="-122"/>
                </a:defRPr>
              </a:lvl9pPr>
            </a:lstStyle>
            <a:p>
              <a:pPr>
                <a:lnSpc>
                  <a:spcPts val="2138"/>
                </a:lnSpc>
              </a:pPr>
              <a:endParaRPr kumimoji="0" lang="zh-CN" altLang="zh-CN" sz="2000" b="1">
                <a:solidFill>
                  <a:srgbClr val="000000"/>
                </a:solidFill>
                <a:latin typeface="Helvetica" charset="0"/>
              </a:endParaRPr>
            </a:p>
          </p:txBody>
        </p:sp>
        <p:sp>
          <p:nvSpPr>
            <p:cNvPr id="54" name="Text Box 45"/>
            <p:cNvSpPr txBox="1">
              <a:spLocks noChangeArrowheads="1"/>
            </p:cNvSpPr>
            <p:nvPr/>
          </p:nvSpPr>
          <p:spPr bwMode="auto">
            <a:xfrm>
              <a:off x="3435139" y="5518151"/>
              <a:ext cx="2514600" cy="39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ctr"/>
              <a:r>
                <a:rPr lang="en-US" altLang="zh-CN" sz="1600" dirty="0">
                  <a:solidFill>
                    <a:srgbClr val="000000"/>
                  </a:solidFill>
                  <a:latin typeface="等线" panose="02010600030101010101" pitchFamily="2" charset="-122"/>
                  <a:ea typeface="等线" panose="02010600030101010101" pitchFamily="2" charset="-122"/>
                </a:rPr>
                <a:t>B</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IP:10.1.1.4/30</a:t>
              </a:r>
            </a:p>
          </p:txBody>
        </p:sp>
        <p:sp>
          <p:nvSpPr>
            <p:cNvPr id="58" name="Line 49"/>
            <p:cNvSpPr>
              <a:spLocks noChangeShapeType="1"/>
            </p:cNvSpPr>
            <p:nvPr/>
          </p:nvSpPr>
          <p:spPr bwMode="auto">
            <a:xfrm flipH="1">
              <a:off x="2268538" y="3357563"/>
              <a:ext cx="2232025" cy="151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rgbClr val="FFFFFF"/>
                </a:solidFill>
              </a:endParaRPr>
            </a:p>
          </p:txBody>
        </p:sp>
        <p:sp>
          <p:nvSpPr>
            <p:cNvPr id="59" name="Line 50"/>
            <p:cNvSpPr>
              <a:spLocks noChangeShapeType="1"/>
            </p:cNvSpPr>
            <p:nvPr/>
          </p:nvSpPr>
          <p:spPr bwMode="auto">
            <a:xfrm flipH="1">
              <a:off x="4716463" y="3429000"/>
              <a:ext cx="142875" cy="14398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rgbClr val="FFFFFF"/>
                </a:solidFill>
              </a:endParaRPr>
            </a:p>
          </p:txBody>
        </p:sp>
        <p:sp>
          <p:nvSpPr>
            <p:cNvPr id="60" name="Line 51"/>
            <p:cNvSpPr>
              <a:spLocks noChangeShapeType="1"/>
            </p:cNvSpPr>
            <p:nvPr/>
          </p:nvSpPr>
          <p:spPr bwMode="auto">
            <a:xfrm>
              <a:off x="5508625" y="3213100"/>
              <a:ext cx="1655763" cy="1655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zh-CN" altLang="en-US">
                <a:solidFill>
                  <a:srgbClr val="FFFFFF"/>
                </a:solidFill>
              </a:endParaRPr>
            </a:p>
          </p:txBody>
        </p:sp>
        <p:sp>
          <p:nvSpPr>
            <p:cNvPr id="61" name="Text Box 55"/>
            <p:cNvSpPr txBox="1">
              <a:spLocks noChangeArrowheads="1"/>
            </p:cNvSpPr>
            <p:nvPr/>
          </p:nvSpPr>
          <p:spPr bwMode="auto">
            <a:xfrm>
              <a:off x="4356100" y="2276475"/>
              <a:ext cx="1223963" cy="3953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ctr">
                <a:spcBef>
                  <a:spcPct val="50000"/>
                </a:spcBef>
              </a:pPr>
              <a:r>
                <a:rPr lang="en-US" altLang="zh-CN" sz="1600" dirty="0">
                  <a:solidFill>
                    <a:srgbClr val="000000"/>
                  </a:solidFill>
                  <a:latin typeface="等线" panose="02010600030101010101" pitchFamily="2" charset="-122"/>
                  <a:ea typeface="等线" panose="02010600030101010101" pitchFamily="2" charset="-122"/>
                </a:rPr>
                <a:t>Router</a:t>
              </a:r>
            </a:p>
          </p:txBody>
        </p:sp>
        <p:pic>
          <p:nvPicPr>
            <p:cNvPr id="62" name="Picture 56" descr="图片3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2708275"/>
              <a:ext cx="935037"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 name="Text Box 57"/>
            <p:cNvSpPr txBox="1">
              <a:spLocks noChangeArrowheads="1"/>
            </p:cNvSpPr>
            <p:nvPr/>
          </p:nvSpPr>
          <p:spPr bwMode="auto">
            <a:xfrm>
              <a:off x="793754" y="5518151"/>
              <a:ext cx="2514600" cy="39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ctr" eaLnBrk="1"/>
              <a:r>
                <a:rPr lang="en-US" altLang="zh-CN" sz="1600" dirty="0">
                  <a:solidFill>
                    <a:srgbClr val="000000"/>
                  </a:solidFill>
                  <a:latin typeface="等线" panose="02010600030101010101" pitchFamily="2" charset="-122"/>
                  <a:ea typeface="等线" panose="02010600030101010101" pitchFamily="2" charset="-122"/>
                </a:rPr>
                <a:t>A</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IP: 10.1.1.0/30</a:t>
              </a:r>
            </a:p>
          </p:txBody>
        </p:sp>
        <p:sp>
          <p:nvSpPr>
            <p:cNvPr id="65" name="Text Box 62"/>
            <p:cNvSpPr txBox="1">
              <a:spLocks noChangeArrowheads="1"/>
            </p:cNvSpPr>
            <p:nvPr/>
          </p:nvSpPr>
          <p:spPr bwMode="auto">
            <a:xfrm>
              <a:off x="4787900" y="3500438"/>
              <a:ext cx="2514600" cy="39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en-US" altLang="zh-CN" sz="1600" dirty="0">
                  <a:solidFill>
                    <a:srgbClr val="000000"/>
                  </a:solidFill>
                  <a:latin typeface="等线" panose="02010600030101010101" pitchFamily="2" charset="-122"/>
                  <a:ea typeface="等线" panose="02010600030101010101" pitchFamily="2" charset="-122"/>
                </a:rPr>
                <a:t>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1/2</a:t>
              </a:r>
            </a:p>
          </p:txBody>
        </p:sp>
        <p:sp>
          <p:nvSpPr>
            <p:cNvPr id="66" name="Text Box 63"/>
            <p:cNvSpPr txBox="1">
              <a:spLocks noChangeArrowheads="1"/>
            </p:cNvSpPr>
            <p:nvPr/>
          </p:nvSpPr>
          <p:spPr bwMode="auto">
            <a:xfrm>
              <a:off x="5572425" y="3195858"/>
              <a:ext cx="1120775" cy="39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ctr"/>
              <a:r>
                <a:rPr lang="en-US" altLang="zh-CN" sz="1600" dirty="0">
                  <a:solidFill>
                    <a:srgbClr val="000000"/>
                  </a:solidFill>
                  <a:latin typeface="等线" panose="02010600030101010101" pitchFamily="2" charset="-122"/>
                  <a:ea typeface="等线" panose="02010600030101010101" pitchFamily="2" charset="-122"/>
                </a:rPr>
                <a:t>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1/3</a:t>
              </a:r>
            </a:p>
          </p:txBody>
        </p:sp>
        <p:grpSp>
          <p:nvGrpSpPr>
            <p:cNvPr id="67" name="Group 64"/>
            <p:cNvGrpSpPr>
              <a:grpSpLocks/>
            </p:cNvGrpSpPr>
            <p:nvPr/>
          </p:nvGrpSpPr>
          <p:grpSpPr bwMode="auto">
            <a:xfrm>
              <a:off x="177804" y="2492379"/>
              <a:ext cx="2557463" cy="1295404"/>
              <a:chOff x="112" y="799"/>
              <a:chExt cx="1611" cy="816"/>
            </a:xfrm>
          </p:grpSpPr>
          <p:sp>
            <p:nvSpPr>
              <p:cNvPr id="84" name="Rectangle 67"/>
              <p:cNvSpPr>
                <a:spLocks noChangeArrowheads="1"/>
              </p:cNvSpPr>
              <p:nvPr/>
            </p:nvSpPr>
            <p:spPr bwMode="auto">
              <a:xfrm>
                <a:off x="132" y="799"/>
                <a:ext cx="1591" cy="181"/>
              </a:xfrm>
              <a:prstGeom prst="rect">
                <a:avLst/>
              </a:prstGeom>
              <a:solidFill>
                <a:srgbClr val="FFFFCC"/>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zh-CN" altLang="en-US" sz="1600" dirty="0">
                    <a:solidFill>
                      <a:srgbClr val="000000"/>
                    </a:solidFill>
                    <a:latin typeface="等线" panose="02010600030101010101" pitchFamily="2" charset="-122"/>
                    <a:ea typeface="等线" panose="02010600030101010101" pitchFamily="2" charset="-122"/>
                  </a:rPr>
                  <a:t>目的</a:t>
                </a:r>
                <a:r>
                  <a:rPr lang="en-US" altLang="zh-CN" sz="1600" dirty="0">
                    <a:solidFill>
                      <a:srgbClr val="000000"/>
                    </a:solidFill>
                    <a:latin typeface="等线" panose="02010600030101010101" pitchFamily="2" charset="-122"/>
                    <a:ea typeface="等线" panose="02010600030101010101" pitchFamily="2" charset="-122"/>
                  </a:rPr>
                  <a:t>IP: 10.1.1.5 </a:t>
                </a:r>
              </a:p>
            </p:txBody>
          </p:sp>
          <p:sp>
            <p:nvSpPr>
              <p:cNvPr id="85" name="Rectangle 68"/>
              <p:cNvSpPr>
                <a:spLocks noChangeArrowheads="1"/>
              </p:cNvSpPr>
              <p:nvPr/>
            </p:nvSpPr>
            <p:spPr bwMode="auto">
              <a:xfrm>
                <a:off x="132" y="980"/>
                <a:ext cx="1591" cy="181"/>
              </a:xfrm>
              <a:prstGeom prst="rect">
                <a:avLst/>
              </a:prstGeom>
              <a:solidFill>
                <a:srgbClr val="FFFFCC"/>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just"/>
                <a:r>
                  <a:rPr lang="zh-CN" altLang="en-US" sz="1600" dirty="0">
                    <a:solidFill>
                      <a:srgbClr val="000000"/>
                    </a:solidFill>
                    <a:latin typeface="等线" panose="02010600030101010101" pitchFamily="2" charset="-122"/>
                    <a:ea typeface="等线" panose="02010600030101010101" pitchFamily="2" charset="-122"/>
                  </a:rPr>
                  <a:t>源    </a:t>
                </a:r>
                <a:r>
                  <a:rPr lang="en-US" altLang="zh-CN" sz="1600" dirty="0">
                    <a:solidFill>
                      <a:srgbClr val="000000"/>
                    </a:solidFill>
                    <a:latin typeface="等线" panose="02010600030101010101" pitchFamily="2" charset="-122"/>
                    <a:ea typeface="等线" panose="02010600030101010101" pitchFamily="2" charset="-122"/>
                  </a:rPr>
                  <a:t>IP: 10.1.1.1</a:t>
                </a:r>
              </a:p>
            </p:txBody>
          </p:sp>
          <p:sp>
            <p:nvSpPr>
              <p:cNvPr id="88" name="Text Box 69"/>
              <p:cNvSpPr txBox="1">
                <a:spLocks noChangeArrowheads="1"/>
              </p:cNvSpPr>
              <p:nvPr/>
            </p:nvSpPr>
            <p:spPr bwMode="auto">
              <a:xfrm>
                <a:off x="112" y="1423"/>
                <a:ext cx="11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spcBef>
                    <a:spcPct val="50000"/>
                  </a:spcBef>
                </a:pPr>
                <a:endParaRPr lang="zh-CN" altLang="zh-CN" sz="1400">
                  <a:solidFill>
                    <a:srgbClr val="000000"/>
                  </a:solidFill>
                  <a:latin typeface="宋体" pitchFamily="2" charset="-122"/>
                </a:endParaRPr>
              </a:p>
            </p:txBody>
          </p:sp>
        </p:grpSp>
        <p:sp>
          <p:nvSpPr>
            <p:cNvPr id="68" name="Rectangle 71"/>
            <p:cNvSpPr>
              <a:spLocks noChangeArrowheads="1"/>
            </p:cNvSpPr>
            <p:nvPr/>
          </p:nvSpPr>
          <p:spPr bwMode="auto">
            <a:xfrm>
              <a:off x="5580062" y="1557338"/>
              <a:ext cx="3563937" cy="1222379"/>
            </a:xfrm>
            <a:prstGeom prst="rect">
              <a:avLst/>
            </a:prstGeom>
            <a:solidFill>
              <a:srgbClr val="E7FFE7"/>
            </a:solidFill>
            <a:ln w="9525" algn="ctr">
              <a:solidFill>
                <a:schemeClr val="tx1"/>
              </a:solidFill>
              <a:miter lim="800000"/>
              <a:headEnd/>
              <a:tailEnd/>
            </a:ln>
          </p:spPr>
          <p:txBody>
            <a:bodyPr wrap="none" lIns="90000" tIns="46800" rIns="90000" bIns="46800" anchor="ct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l"/>
              <a:r>
                <a:rPr lang="en-US" altLang="zh-CN" sz="1200" dirty="0">
                  <a:solidFill>
                    <a:srgbClr val="000000"/>
                  </a:solidFill>
                </a:rPr>
                <a:t>         </a:t>
              </a:r>
            </a:p>
            <a:p>
              <a:pPr algn="just"/>
              <a:r>
                <a:rPr lang="en-US" altLang="zh-CN" sz="1600" dirty="0" err="1">
                  <a:solidFill>
                    <a:srgbClr val="000000"/>
                  </a:solidFill>
                  <a:latin typeface="等线" panose="02010600030101010101" pitchFamily="2" charset="-122"/>
                  <a:ea typeface="等线" panose="02010600030101010101" pitchFamily="2" charset="-122"/>
                </a:rPr>
                <a:t>Dest</a:t>
              </a:r>
              <a:r>
                <a:rPr lang="en-US" altLang="zh-CN" sz="1600" dirty="0">
                  <a:solidFill>
                    <a:srgbClr val="000000"/>
                  </a:solidFill>
                  <a:latin typeface="等线" panose="02010600030101010101" pitchFamily="2" charset="-122"/>
                  <a:ea typeface="等线" panose="02010600030101010101" pitchFamily="2" charset="-122"/>
                </a:rPr>
                <a:t>              network          interface</a:t>
              </a:r>
            </a:p>
            <a:p>
              <a:pPr algn="just"/>
              <a:r>
                <a:rPr lang="en-US" altLang="zh-CN" sz="1600" dirty="0">
                  <a:solidFill>
                    <a:srgbClr val="000000"/>
                  </a:solidFill>
                  <a:latin typeface="等线" panose="02010600030101010101" pitchFamily="2" charset="-122"/>
                  <a:ea typeface="等线" panose="02010600030101010101" pitchFamily="2" charset="-122"/>
                </a:rPr>
                <a:t>10.1.1.0  255.255.255.252  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1/1</a:t>
              </a:r>
            </a:p>
            <a:p>
              <a:pPr algn="just"/>
              <a:r>
                <a:rPr lang="en-US" altLang="zh-CN" sz="1600" dirty="0">
                  <a:solidFill>
                    <a:srgbClr val="000000"/>
                  </a:solidFill>
                  <a:latin typeface="等线" panose="02010600030101010101" pitchFamily="2" charset="-122"/>
                  <a:ea typeface="等线" panose="02010600030101010101" pitchFamily="2" charset="-122"/>
                </a:rPr>
                <a:t>10.1.1.4  255.255.255.252  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1/2</a:t>
              </a:r>
            </a:p>
            <a:p>
              <a:pPr algn="just"/>
              <a:r>
                <a:rPr lang="en-US" altLang="zh-CN" sz="1600" dirty="0">
                  <a:solidFill>
                    <a:srgbClr val="000000"/>
                  </a:solidFill>
                  <a:latin typeface="等线" panose="02010600030101010101" pitchFamily="2" charset="-122"/>
                  <a:ea typeface="等线" panose="02010600030101010101" pitchFamily="2" charset="-122"/>
                </a:rPr>
                <a:t>10.1.1.8  255.255.255.252  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1/3</a:t>
              </a:r>
            </a:p>
            <a:p>
              <a:pPr algn="just"/>
              <a:endParaRPr lang="en-US" altLang="zh-CN" sz="1600" dirty="0">
                <a:solidFill>
                  <a:srgbClr val="000000"/>
                </a:solidFill>
                <a:latin typeface="等线" panose="02010600030101010101" pitchFamily="2" charset="-122"/>
                <a:ea typeface="等线" panose="02010600030101010101" pitchFamily="2" charset="-122"/>
              </a:endParaRPr>
            </a:p>
          </p:txBody>
        </p:sp>
        <p:sp>
          <p:nvSpPr>
            <p:cNvPr id="64" name="Text Box 61"/>
            <p:cNvSpPr txBox="1">
              <a:spLocks noChangeArrowheads="1"/>
            </p:cNvSpPr>
            <p:nvPr/>
          </p:nvSpPr>
          <p:spPr bwMode="auto">
            <a:xfrm>
              <a:off x="2201863" y="3357563"/>
              <a:ext cx="2514600" cy="3928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a:defRPr kumimoji="1">
                  <a:solidFill>
                    <a:schemeClr val="bg1"/>
                  </a:solidFill>
                  <a:latin typeface="Times New Roman" pitchFamily="18" charset="0"/>
                  <a:ea typeface="宋体" pitchFamily="2" charset="-122"/>
                </a:defRPr>
              </a:lvl1pPr>
              <a:lvl2pPr marL="742950" indent="-285750">
                <a:defRPr kumimoji="1">
                  <a:solidFill>
                    <a:schemeClr val="bg1"/>
                  </a:solidFill>
                  <a:latin typeface="Times New Roman" pitchFamily="18" charset="0"/>
                  <a:ea typeface="宋体" pitchFamily="2" charset="-122"/>
                </a:defRPr>
              </a:lvl2pPr>
              <a:lvl3pPr marL="1143000" indent="-228600">
                <a:defRPr kumimoji="1">
                  <a:solidFill>
                    <a:schemeClr val="bg1"/>
                  </a:solidFill>
                  <a:latin typeface="Times New Roman" pitchFamily="18" charset="0"/>
                  <a:ea typeface="宋体" pitchFamily="2" charset="-122"/>
                </a:defRPr>
              </a:lvl3pPr>
              <a:lvl4pPr marL="1600200" indent="-228600">
                <a:defRPr kumimoji="1">
                  <a:solidFill>
                    <a:schemeClr val="bg1"/>
                  </a:solidFill>
                  <a:latin typeface="Times New Roman" pitchFamily="18" charset="0"/>
                  <a:ea typeface="宋体" pitchFamily="2" charset="-122"/>
                </a:defRPr>
              </a:lvl4pPr>
              <a:lvl5pPr marL="2057400" indent="-228600">
                <a:defRPr kumimoji="1">
                  <a:solidFill>
                    <a:schemeClr val="bg1"/>
                  </a:solidFill>
                  <a:latin typeface="Times New Roman" pitchFamily="18" charset="0"/>
                  <a:ea typeface="宋体" pitchFamily="2" charset="-122"/>
                </a:defRPr>
              </a:lvl5pPr>
              <a:lvl6pPr marL="25146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6pPr>
              <a:lvl7pPr marL="29718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7pPr>
              <a:lvl8pPr marL="34290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8pPr>
              <a:lvl9pPr marL="3886200" indent="-228600" algn="ctr" eaLnBrk="0" fontAlgn="base" hangingPunct="0">
                <a:spcBef>
                  <a:spcPct val="0"/>
                </a:spcBef>
                <a:spcAft>
                  <a:spcPct val="0"/>
                </a:spcAft>
                <a:defRPr kumimoji="1">
                  <a:solidFill>
                    <a:schemeClr val="bg1"/>
                  </a:solidFill>
                  <a:latin typeface="Times New Roman" pitchFamily="18" charset="0"/>
                  <a:ea typeface="宋体" pitchFamily="2" charset="-122"/>
                </a:defRPr>
              </a:lvl9pPr>
            </a:lstStyle>
            <a:p>
              <a:pPr algn="ctr"/>
              <a:r>
                <a:rPr lang="en-US" altLang="zh-CN" sz="1600" dirty="0">
                  <a:solidFill>
                    <a:srgbClr val="000000"/>
                  </a:solidFill>
                  <a:latin typeface="等线" panose="02010600030101010101" pitchFamily="2" charset="-122"/>
                  <a:ea typeface="等线" panose="02010600030101010101" pitchFamily="2" charset="-122"/>
                </a:rPr>
                <a:t>port</a:t>
              </a:r>
              <a:r>
                <a:rPr lang="zh-CN" altLang="en-US" sz="1600" dirty="0">
                  <a:solidFill>
                    <a:srgbClr val="000000"/>
                  </a:solidFill>
                  <a:latin typeface="等线" panose="02010600030101010101" pitchFamily="2" charset="-122"/>
                  <a:ea typeface="等线" panose="02010600030101010101" pitchFamily="2" charset="-122"/>
                </a:rPr>
                <a:t> </a:t>
              </a:r>
              <a:r>
                <a:rPr lang="en-US" altLang="zh-CN" sz="1600" dirty="0">
                  <a:solidFill>
                    <a:srgbClr val="000000"/>
                  </a:solidFill>
                  <a:latin typeface="等线" panose="02010600030101010101" pitchFamily="2" charset="-122"/>
                  <a:ea typeface="等线" panose="02010600030101010101" pitchFamily="2" charset="-122"/>
                </a:rPr>
                <a:t>1/1</a:t>
              </a:r>
            </a:p>
          </p:txBody>
        </p:sp>
      </p:grpSp>
      <p:sp>
        <p:nvSpPr>
          <p:cNvPr id="97" name="矩形 96"/>
          <p:cNvSpPr/>
          <p:nvPr/>
        </p:nvSpPr>
        <p:spPr>
          <a:xfrm>
            <a:off x="6987287" y="2610182"/>
            <a:ext cx="3547770" cy="247630"/>
          </a:xfrm>
          <a:prstGeom prst="rect">
            <a:avLst/>
          </a:prstGeom>
          <a:noFill/>
          <a:ln w="158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8" name="Picture 45" descr="图片35">
            <a:extLst>
              <a:ext uri="{FF2B5EF4-FFF2-40B4-BE49-F238E27FC236}">
                <a16:creationId xmlns:a16="http://schemas.microsoft.com/office/drawing/2014/main" id="{0BDC4BA7-25D8-D44F-8714-A6E670EAC9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8094" y="4969988"/>
            <a:ext cx="1153211" cy="466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45" descr="图片35">
            <a:extLst>
              <a:ext uri="{FF2B5EF4-FFF2-40B4-BE49-F238E27FC236}">
                <a16:creationId xmlns:a16="http://schemas.microsoft.com/office/drawing/2014/main" id="{64803A0C-8A63-F54D-9152-5AD0A6D4B1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7914" y="4969988"/>
            <a:ext cx="1153211" cy="466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45" descr="图片35">
            <a:extLst>
              <a:ext uri="{FF2B5EF4-FFF2-40B4-BE49-F238E27FC236}">
                <a16:creationId xmlns:a16="http://schemas.microsoft.com/office/drawing/2014/main" id="{60C0FAD1-0544-7B46-B5F2-E4007D3905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9313" y="4969988"/>
            <a:ext cx="1153211" cy="466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37945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网络地址转换</a:t>
            </a:r>
          </a:p>
        </p:txBody>
      </p:sp>
      <p:sp>
        <p:nvSpPr>
          <p:cNvPr id="8" name="内容占位符 5"/>
          <p:cNvSpPr txBox="1">
            <a:spLocks/>
          </p:cNvSpPr>
          <p:nvPr/>
        </p:nvSpPr>
        <p:spPr>
          <a:xfrm>
            <a:off x="838199" y="1345492"/>
            <a:ext cx="10515600" cy="2543336"/>
          </a:xfrm>
          <a:prstGeom prst="rect">
            <a:avLst/>
          </a:prstGeom>
        </p:spPr>
        <p:txBody>
          <a:bodyPr vert="horz" lIns="91440" tIns="45720" rIns="91440" bIns="45720" rtlCol="0">
            <a:normAutofit fontScale="92500" lnSpcReduction="10000"/>
          </a:bodyPr>
          <a:lstStyle/>
          <a:p>
            <a:pPr marL="360363" marR="0" lvl="0" indent="-360363" algn="l" defTabSz="914400" rtl="0" eaLnBrk="1" fontAlgn="auto" latinLnBrk="0" hangingPunct="1">
              <a:lnSpc>
                <a:spcPct val="110000"/>
              </a:lnSpc>
              <a:spcBef>
                <a:spcPts val="600"/>
              </a:spcBef>
              <a:spcAft>
                <a:spcPts val="0"/>
              </a:spcAft>
              <a:buClrTx/>
              <a:buSzTx/>
              <a:buFont typeface="Wingdings" pitchFamily="2" charset="2"/>
              <a:buChar char="Ø"/>
              <a:tabLst/>
              <a:defRPr/>
            </a:pPr>
            <a:r>
              <a:rPr kumimoji="0" lang="zh-CN" altLang="en-US" sz="2400" u="none" strike="noStrike" kern="1200" cap="none" spc="0" normalizeH="0" baseline="0" noProof="0" dirty="0">
                <a:ln>
                  <a:noFill/>
                </a:ln>
                <a:solidFill>
                  <a:srgbClr val="C00000"/>
                </a:solidFill>
                <a:effectLst/>
                <a:uLnTx/>
                <a:uFillTx/>
                <a:latin typeface="DengXian" panose="02010600030101010101" pitchFamily="2" charset="-122"/>
                <a:ea typeface="DengXian" panose="02010600030101010101" pitchFamily="2" charset="-122"/>
              </a:rPr>
              <a:t>网络地址转换</a:t>
            </a:r>
            <a:r>
              <a:rPr kumimoji="0" lang="en-US" altLang="zh-CN" sz="2400" u="none" strike="noStrike" kern="1200" cap="none" spc="0" normalizeH="0" baseline="0" noProof="0" dirty="0">
                <a:ln>
                  <a:noFill/>
                </a:ln>
                <a:solidFill>
                  <a:srgbClr val="C00000"/>
                </a:solidFill>
                <a:effectLst/>
                <a:uLnTx/>
                <a:uFillTx/>
                <a:latin typeface="DengXian" panose="02010600030101010101" pitchFamily="2" charset="-122"/>
                <a:ea typeface="DengXian" panose="02010600030101010101" pitchFamily="2" charset="-122"/>
              </a:rPr>
              <a:t>(NAT, </a:t>
            </a:r>
            <a:r>
              <a:rPr lang="en-US" sz="2400" dirty="0">
                <a:solidFill>
                  <a:srgbClr val="C00000"/>
                </a:solidFill>
                <a:latin typeface="DengXian" panose="02010600030101010101" pitchFamily="2" charset="-122"/>
                <a:ea typeface="DengXian" panose="02010600030101010101" pitchFamily="2" charset="-122"/>
              </a:rPr>
              <a:t>Network address translation</a:t>
            </a:r>
            <a:r>
              <a:rPr kumimoji="0" lang="en-US" altLang="zh-CN" sz="2400" u="none" strike="noStrike" kern="1200" cap="none" spc="0" normalizeH="0" baseline="0" noProof="0" dirty="0">
                <a:ln>
                  <a:noFill/>
                </a:ln>
                <a:solidFill>
                  <a:srgbClr val="C00000"/>
                </a:solidFill>
                <a:effectLst/>
                <a:uLnTx/>
                <a:uFillTx/>
                <a:latin typeface="DengXian" panose="02010600030101010101" pitchFamily="2" charset="-122"/>
                <a:ea typeface="DengXian" panose="02010600030101010101" pitchFamily="2" charset="-122"/>
              </a:rPr>
              <a:t>)</a:t>
            </a:r>
            <a:r>
              <a:rPr kumimoji="0" lang="zh-CN" altLang="en-US" sz="2400" u="none" strike="noStrike" kern="1200" cap="none" spc="0" normalizeH="0" baseline="0" noProof="0" dirty="0">
                <a:ln>
                  <a:noFill/>
                </a:ln>
                <a:effectLst/>
                <a:uLnTx/>
                <a:uFillTx/>
                <a:latin typeface="DengXian" panose="02010600030101010101" pitchFamily="2" charset="-122"/>
                <a:ea typeface="DengXian" panose="02010600030101010101" pitchFamily="2" charset="-122"/>
              </a:rPr>
              <a:t>用于解决</a:t>
            </a:r>
            <a:r>
              <a:rPr kumimoji="0" lang="en-US" altLang="zh-CN" sz="2400" u="none" strike="noStrike" kern="1200" cap="none" spc="0" normalizeH="0" baseline="0" noProof="0" dirty="0">
                <a:ln>
                  <a:noFill/>
                </a:ln>
                <a:effectLst/>
                <a:uLnTx/>
                <a:uFillTx/>
                <a:latin typeface="DengXian" panose="02010600030101010101" pitchFamily="2" charset="-122"/>
                <a:ea typeface="DengXian" panose="02010600030101010101" pitchFamily="2" charset="-122"/>
              </a:rPr>
              <a:t>IPv4</a:t>
            </a:r>
            <a:r>
              <a:rPr kumimoji="0" lang="zh-CN" altLang="en-US" sz="2400" u="none" strike="noStrike" kern="1200" cap="none" spc="0" normalizeH="0" baseline="0" noProof="0" dirty="0">
                <a:ln>
                  <a:noFill/>
                </a:ln>
                <a:effectLst/>
                <a:uLnTx/>
                <a:uFillTx/>
                <a:latin typeface="DengXian" panose="02010600030101010101" pitchFamily="2" charset="-122"/>
                <a:ea typeface="DengXian" panose="02010600030101010101" pitchFamily="2" charset="-122"/>
              </a:rPr>
              <a:t>地址不足的问题，</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rPr>
              <a:t>是一种将私有（保留）地址转化为公有</a:t>
            </a:r>
            <a:r>
              <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rPr>
              <a:t>IP</a:t>
            </a:r>
            <a:r>
              <a:rPr kumimoji="0" lang="zh-CN" altLang="en-US"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rPr>
              <a:t>地址的转换技术</a:t>
            </a:r>
            <a:endParaRPr kumimoji="0" lang="en-US" altLang="zh-CN" sz="2400" u="none" strike="noStrike" kern="1200" cap="none" spc="0" normalizeH="0" baseline="0" noProof="0" dirty="0">
              <a:ln>
                <a:noFill/>
              </a:ln>
              <a:solidFill>
                <a:schemeClr val="tx1"/>
              </a:solidFill>
              <a:effectLst/>
              <a:uLnTx/>
              <a:uFillTx/>
              <a:latin typeface="DengXian" panose="02010600030101010101" pitchFamily="2" charset="-122"/>
              <a:ea typeface="DengXian" panose="02010600030101010101" pitchFamily="2" charset="-122"/>
            </a:endParaRPr>
          </a:p>
          <a:p>
            <a:pPr marL="360363" lvl="0" indent="-360363">
              <a:spcBef>
                <a:spcPts val="600"/>
              </a:spcBef>
              <a:buFont typeface="Wingdings" pitchFamily="2" charset="2"/>
              <a:buChar char="Ø"/>
              <a:defRPr/>
            </a:pPr>
            <a:r>
              <a:rPr lang="zh-CN" altLang="en-US" sz="2400" dirty="0">
                <a:latin typeface="DengXian" panose="02010600030101010101" pitchFamily="2" charset="-122"/>
                <a:ea typeface="DengXian" panose="02010600030101010101" pitchFamily="2" charset="-122"/>
              </a:rPr>
              <a:t>私有</a:t>
            </a:r>
            <a:r>
              <a:rPr lang="en-US" altLang="zh-CN" sz="2400" dirty="0">
                <a:latin typeface="DengXian" panose="02010600030101010101" pitchFamily="2" charset="-122"/>
                <a:ea typeface="DengXian" panose="02010600030101010101" pitchFamily="2" charset="-122"/>
              </a:rPr>
              <a:t>IP</a:t>
            </a:r>
            <a:r>
              <a:rPr lang="zh-CN" altLang="en-US" sz="2400" dirty="0">
                <a:latin typeface="DengXian" panose="02010600030101010101" pitchFamily="2" charset="-122"/>
                <a:ea typeface="DengXian" panose="02010600030101010101" pitchFamily="2" charset="-122"/>
              </a:rPr>
              <a:t>地址：</a:t>
            </a:r>
            <a:endParaRPr lang="en-US" altLang="zh-CN" sz="2400" dirty="0">
              <a:latin typeface="DengXian" panose="02010600030101010101" pitchFamily="2" charset="-122"/>
              <a:ea typeface="DengXian" panose="02010600030101010101" pitchFamily="2" charset="-122"/>
            </a:endParaRPr>
          </a:p>
          <a:p>
            <a:pPr marL="685800" lvl="1" indent="-228600">
              <a:lnSpc>
                <a:spcPct val="130000"/>
              </a:lnSpc>
              <a:spcBef>
                <a:spcPts val="600"/>
              </a:spcBef>
              <a:buFont typeface="Arial" panose="020B0604020202020204" pitchFamily="34" charset="0"/>
              <a:buChar char="•"/>
            </a:pPr>
            <a:r>
              <a:rPr lang="en-US" altLang="zh-CN" sz="2000" dirty="0">
                <a:latin typeface="DengXian" panose="02010600030101010101" pitchFamily="2" charset="-122"/>
                <a:ea typeface="DengXian" panose="02010600030101010101" pitchFamily="2" charset="-122"/>
              </a:rPr>
              <a:t>A</a:t>
            </a:r>
            <a:r>
              <a:rPr lang="zh-CN" altLang="en-US" sz="2000" dirty="0">
                <a:latin typeface="DengXian" panose="02010600030101010101" pitchFamily="2" charset="-122"/>
                <a:ea typeface="DengXian" panose="02010600030101010101" pitchFamily="2" charset="-122"/>
              </a:rPr>
              <a:t>类地址：</a:t>
            </a:r>
            <a:r>
              <a:rPr lang="en-US" altLang="zh-CN" sz="2000" dirty="0">
                <a:latin typeface="DengXian" panose="02010600030101010101" pitchFamily="2" charset="-122"/>
                <a:ea typeface="DengXian" panose="02010600030101010101" pitchFamily="2" charset="-122"/>
              </a:rPr>
              <a:t>10.0.0.0--10.255.255.255 </a:t>
            </a:r>
          </a:p>
          <a:p>
            <a:pPr marL="685800" lvl="1" indent="-228600">
              <a:lnSpc>
                <a:spcPct val="130000"/>
              </a:lnSpc>
              <a:spcBef>
                <a:spcPts val="600"/>
              </a:spcBef>
              <a:buFont typeface="Arial" panose="020B0604020202020204" pitchFamily="34" charset="0"/>
              <a:buChar char="•"/>
            </a:pPr>
            <a:r>
              <a:rPr lang="en-US" altLang="zh-CN" sz="2000" dirty="0">
                <a:latin typeface="DengXian" panose="02010600030101010101" pitchFamily="2" charset="-122"/>
                <a:ea typeface="DengXian" panose="02010600030101010101" pitchFamily="2" charset="-122"/>
              </a:rPr>
              <a:t>B</a:t>
            </a:r>
            <a:r>
              <a:rPr lang="zh-CN" altLang="en-US" sz="2000" dirty="0">
                <a:latin typeface="DengXian" panose="02010600030101010101" pitchFamily="2" charset="-122"/>
                <a:ea typeface="DengXian" panose="02010600030101010101" pitchFamily="2" charset="-122"/>
              </a:rPr>
              <a:t>类地址：</a:t>
            </a:r>
            <a:r>
              <a:rPr lang="en-US" altLang="zh-CN" sz="2000" dirty="0">
                <a:latin typeface="DengXian" panose="02010600030101010101" pitchFamily="2" charset="-122"/>
                <a:ea typeface="DengXian" panose="02010600030101010101" pitchFamily="2" charset="-122"/>
              </a:rPr>
              <a:t>172.16.0.0--172.31.255.555</a:t>
            </a:r>
            <a:endParaRPr lang="en-US" altLang="zh-CN" sz="2400" dirty="0">
              <a:latin typeface="DengXian" panose="02010600030101010101" pitchFamily="2" charset="-122"/>
              <a:ea typeface="DengXian" panose="02010600030101010101" pitchFamily="2" charset="-122"/>
            </a:endParaRPr>
          </a:p>
          <a:p>
            <a:pPr marL="685800" lvl="1" indent="-228600">
              <a:lnSpc>
                <a:spcPct val="130000"/>
              </a:lnSpc>
              <a:spcBef>
                <a:spcPts val="600"/>
              </a:spcBef>
              <a:buFont typeface="Arial" panose="020B0604020202020204" pitchFamily="34" charset="0"/>
              <a:buChar char="•"/>
            </a:pPr>
            <a:r>
              <a:rPr lang="en-US" altLang="zh-CN" sz="2000" dirty="0">
                <a:latin typeface="DengXian" panose="02010600030101010101" pitchFamily="2" charset="-122"/>
                <a:ea typeface="DengXian" panose="02010600030101010101" pitchFamily="2" charset="-122"/>
              </a:rPr>
              <a:t>C</a:t>
            </a:r>
            <a:r>
              <a:rPr lang="zh-CN" altLang="en-US" sz="2000" dirty="0">
                <a:latin typeface="DengXian" panose="02010600030101010101" pitchFamily="2" charset="-122"/>
                <a:ea typeface="DengXian" panose="02010600030101010101" pitchFamily="2" charset="-122"/>
              </a:rPr>
              <a:t>类地址：</a:t>
            </a:r>
            <a:r>
              <a:rPr lang="en-US" altLang="zh-CN" sz="2000" dirty="0">
                <a:latin typeface="DengXian" panose="02010600030101010101" pitchFamily="2" charset="-122"/>
                <a:ea typeface="DengXian" panose="02010600030101010101" pitchFamily="2" charset="-122"/>
              </a:rPr>
              <a:t>192.168.0.0--192.168.255.255</a:t>
            </a: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40535" y="3783515"/>
            <a:ext cx="6816957" cy="2793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2"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5.2.5 NAT</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13"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39</a:t>
            </a:fld>
            <a:endParaRPr kumimoji="1" lang="zh-CN" altLang="en-US" dirty="0"/>
          </a:p>
        </p:txBody>
      </p:sp>
    </p:spTree>
    <p:extLst>
      <p:ext uri="{BB962C8B-B14F-4D97-AF65-F5344CB8AC3E}">
        <p14:creationId xmlns:p14="http://schemas.microsoft.com/office/powerpoint/2010/main" val="1722301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a:t>
            </a:r>
            <a:r>
              <a:rPr lang="zh-CN" altLang="en-US" dirty="0"/>
              <a:t>工作机制</a:t>
            </a:r>
          </a:p>
        </p:txBody>
      </p:sp>
      <p:sp>
        <p:nvSpPr>
          <p:cNvPr id="7" name="Freeform 2"/>
          <p:cNvSpPr>
            <a:spLocks/>
          </p:cNvSpPr>
          <p:nvPr/>
        </p:nvSpPr>
        <p:spPr bwMode="auto">
          <a:xfrm>
            <a:off x="5715000" y="1830388"/>
            <a:ext cx="3738563" cy="2697162"/>
          </a:xfrm>
          <a:custGeom>
            <a:avLst/>
            <a:gdLst>
              <a:gd name="T0" fmla="*/ 2147483646 w 2355"/>
              <a:gd name="T1" fmla="*/ 2147483646 h 1699"/>
              <a:gd name="T2" fmla="*/ 2147483646 w 2355"/>
              <a:gd name="T3" fmla="*/ 2147483646 h 1699"/>
              <a:gd name="T4" fmla="*/ 2147483646 w 2355"/>
              <a:gd name="T5" fmla="*/ 2147483646 h 1699"/>
              <a:gd name="T6" fmla="*/ 2147483646 w 2355"/>
              <a:gd name="T7" fmla="*/ 2147483646 h 1699"/>
              <a:gd name="T8" fmla="*/ 2147483646 w 2355"/>
              <a:gd name="T9" fmla="*/ 2147483646 h 1699"/>
              <a:gd name="T10" fmla="*/ 2147483646 w 2355"/>
              <a:gd name="T11" fmla="*/ 2147483646 h 1699"/>
              <a:gd name="T12" fmla="*/ 2147483646 w 2355"/>
              <a:gd name="T13" fmla="*/ 2147483646 h 1699"/>
              <a:gd name="T14" fmla="*/ 2147483646 w 2355"/>
              <a:gd name="T15" fmla="*/ 2147483646 h 1699"/>
              <a:gd name="T16" fmla="*/ 2147483646 w 2355"/>
              <a:gd name="T17" fmla="*/ 2147483646 h 1699"/>
              <a:gd name="T18" fmla="*/ 2147483646 w 2355"/>
              <a:gd name="T19" fmla="*/ 2147483646 h 1699"/>
              <a:gd name="T20" fmla="*/ 2147483646 w 2355"/>
              <a:gd name="T21" fmla="*/ 2147483646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solidFill>
          <a:ln w="9525">
            <a:noFill/>
            <a:round/>
            <a:headEnd/>
            <a:tailEnd/>
          </a:ln>
        </p:spPr>
        <p:txBody>
          <a:bodyPr wrap="none" anchor="ctr"/>
          <a:lstStyle/>
          <a:p>
            <a:endParaRPr lang="zh-CN" altLang="en-US"/>
          </a:p>
        </p:txBody>
      </p:sp>
      <p:sp>
        <p:nvSpPr>
          <p:cNvPr id="8" name="Freeform 4"/>
          <p:cNvSpPr>
            <a:spLocks/>
          </p:cNvSpPr>
          <p:nvPr/>
        </p:nvSpPr>
        <p:spPr bwMode="auto">
          <a:xfrm>
            <a:off x="3868738" y="2597150"/>
            <a:ext cx="1519237" cy="1355725"/>
          </a:xfrm>
          <a:custGeom>
            <a:avLst/>
            <a:gdLst>
              <a:gd name="T0" fmla="*/ 2147483646 w 2269"/>
              <a:gd name="T1" fmla="*/ 2147483646 h 854"/>
              <a:gd name="T2" fmla="*/ 2147483646 w 2269"/>
              <a:gd name="T3" fmla="*/ 2147483646 h 854"/>
              <a:gd name="T4" fmla="*/ 2147483646 w 2269"/>
              <a:gd name="T5" fmla="*/ 2147483646 h 854"/>
              <a:gd name="T6" fmla="*/ 2147483646 w 2269"/>
              <a:gd name="T7" fmla="*/ 2147483646 h 854"/>
              <a:gd name="T8" fmla="*/ 2147483646 w 2269"/>
              <a:gd name="T9" fmla="*/ 2147483646 h 854"/>
              <a:gd name="T10" fmla="*/ 2147483646 w 2269"/>
              <a:gd name="T11" fmla="*/ 2147483646 h 854"/>
              <a:gd name="T12" fmla="*/ 2147483646 w 2269"/>
              <a:gd name="T13" fmla="*/ 2147483646 h 854"/>
              <a:gd name="T14" fmla="*/ 0 60000 65536"/>
              <a:gd name="T15" fmla="*/ 0 60000 65536"/>
              <a:gd name="T16" fmla="*/ 0 60000 65536"/>
              <a:gd name="T17" fmla="*/ 0 60000 65536"/>
              <a:gd name="T18" fmla="*/ 0 60000 65536"/>
              <a:gd name="T19" fmla="*/ 0 60000 65536"/>
              <a:gd name="T20" fmla="*/ 0 60000 65536"/>
              <a:gd name="T21" fmla="*/ 0 w 2269"/>
              <a:gd name="T22" fmla="*/ 0 h 854"/>
              <a:gd name="T23" fmla="*/ 2269 w 2269"/>
              <a:gd name="T24" fmla="*/ 854 h 8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9" h="854">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rotWithShape="1">
            <a:gsLst>
              <a:gs pos="0">
                <a:srgbClr val="FFFFFF">
                  <a:alpha val="98000"/>
                </a:srgbClr>
              </a:gs>
              <a:gs pos="100000">
                <a:srgbClr val="66CCFF"/>
              </a:gs>
            </a:gsLst>
            <a:lin ang="0" scaled="1"/>
          </a:gradFill>
          <a:ln w="9525">
            <a:noFill/>
            <a:round/>
            <a:headEnd/>
            <a:tailEnd/>
          </a:ln>
        </p:spPr>
        <p:txBody>
          <a:bodyPr wrap="none" anchor="ctr"/>
          <a:lstStyle/>
          <a:p>
            <a:endParaRPr lang="zh-CN" altLang="en-US"/>
          </a:p>
        </p:txBody>
      </p:sp>
      <p:graphicFrame>
        <p:nvGraphicFramePr>
          <p:cNvPr id="9" name="Object 5"/>
          <p:cNvGraphicFramePr>
            <a:graphicFrameLocks noChangeAspect="1"/>
          </p:cNvGraphicFramePr>
          <p:nvPr/>
        </p:nvGraphicFramePr>
        <p:xfrm>
          <a:off x="8743950" y="2141538"/>
          <a:ext cx="555625" cy="463550"/>
        </p:xfrm>
        <a:graphic>
          <a:graphicData uri="http://schemas.openxmlformats.org/presentationml/2006/ole">
            <mc:AlternateContent xmlns:mc="http://schemas.openxmlformats.org/markup-compatibility/2006">
              <mc:Choice xmlns:v="urn:schemas-microsoft-com:vml" Requires="v">
                <p:oleObj name="Clip" r:id="rId2" imgW="1307263" imgH="1084139" progId="">
                  <p:embed/>
                </p:oleObj>
              </mc:Choice>
              <mc:Fallback>
                <p:oleObj name="Clip" r:id="rId2" imgW="1307263" imgH="1084139" progId="">
                  <p:embed/>
                  <p:pic>
                    <p:nvPicPr>
                      <p:cNvPr id="9"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3950" y="2141538"/>
                        <a:ext cx="555625"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6"/>
          <p:cNvGraphicFramePr>
            <a:graphicFrameLocks noChangeAspect="1"/>
          </p:cNvGraphicFramePr>
          <p:nvPr/>
        </p:nvGraphicFramePr>
        <p:xfrm>
          <a:off x="8793163" y="2930525"/>
          <a:ext cx="579437" cy="482600"/>
        </p:xfrm>
        <a:graphic>
          <a:graphicData uri="http://schemas.openxmlformats.org/presentationml/2006/ole">
            <mc:AlternateContent xmlns:mc="http://schemas.openxmlformats.org/markup-compatibility/2006">
              <mc:Choice xmlns:v="urn:schemas-microsoft-com:vml" Requires="v">
                <p:oleObj name="Clip" r:id="rId2" imgW="1307263" imgH="1084139" progId="">
                  <p:embed/>
                </p:oleObj>
              </mc:Choice>
              <mc:Fallback>
                <p:oleObj name="Clip" r:id="rId2" imgW="1307263" imgH="1084139" progId="">
                  <p:embed/>
                  <p:pic>
                    <p:nvPicPr>
                      <p:cNvPr id="1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93163" y="2930525"/>
                        <a:ext cx="579437"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7"/>
          <p:cNvGraphicFramePr>
            <a:graphicFrameLocks noChangeAspect="1"/>
          </p:cNvGraphicFramePr>
          <p:nvPr/>
        </p:nvGraphicFramePr>
        <p:xfrm>
          <a:off x="8764588" y="3695700"/>
          <a:ext cx="563562" cy="469900"/>
        </p:xfrm>
        <a:graphic>
          <a:graphicData uri="http://schemas.openxmlformats.org/presentationml/2006/ole">
            <mc:AlternateContent xmlns:mc="http://schemas.openxmlformats.org/markup-compatibility/2006">
              <mc:Choice xmlns:v="urn:schemas-microsoft-com:vml" Requires="v">
                <p:oleObj name="Clip" r:id="rId2" imgW="1307263" imgH="1084139" progId="">
                  <p:embed/>
                </p:oleObj>
              </mc:Choice>
              <mc:Fallback>
                <p:oleObj name="Clip" r:id="rId2" imgW="1307263" imgH="1084139" progId="">
                  <p:embed/>
                  <p:pic>
                    <p:nvPicPr>
                      <p:cNvPr id="11"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4588" y="3695700"/>
                        <a:ext cx="563562"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Line 8"/>
          <p:cNvSpPr>
            <a:spLocks noChangeShapeType="1"/>
          </p:cNvSpPr>
          <p:nvPr/>
        </p:nvSpPr>
        <p:spPr bwMode="auto">
          <a:xfrm>
            <a:off x="5829300" y="3152775"/>
            <a:ext cx="3025775" cy="6350"/>
          </a:xfrm>
          <a:prstGeom prst="line">
            <a:avLst/>
          </a:prstGeom>
          <a:noFill/>
          <a:ln w="19050">
            <a:solidFill>
              <a:schemeClr val="tx1"/>
            </a:solidFill>
            <a:round/>
            <a:headEnd/>
            <a:tailEnd/>
          </a:ln>
        </p:spPr>
        <p:txBody>
          <a:bodyPr wrap="none"/>
          <a:lstStyle/>
          <a:p>
            <a:endParaRPr lang="zh-CN" altLang="en-US"/>
          </a:p>
        </p:txBody>
      </p:sp>
      <p:sp>
        <p:nvSpPr>
          <p:cNvPr id="13" name="Line 9"/>
          <p:cNvSpPr>
            <a:spLocks noChangeShapeType="1"/>
          </p:cNvSpPr>
          <p:nvPr/>
        </p:nvSpPr>
        <p:spPr bwMode="auto">
          <a:xfrm flipH="1">
            <a:off x="8664575" y="2409825"/>
            <a:ext cx="9525" cy="1492250"/>
          </a:xfrm>
          <a:prstGeom prst="line">
            <a:avLst/>
          </a:prstGeom>
          <a:noFill/>
          <a:ln w="19050">
            <a:solidFill>
              <a:schemeClr val="tx1"/>
            </a:solidFill>
            <a:round/>
            <a:headEnd/>
            <a:tailEnd/>
          </a:ln>
        </p:spPr>
        <p:txBody>
          <a:bodyPr wrap="none"/>
          <a:lstStyle/>
          <a:p>
            <a:endParaRPr lang="zh-CN" altLang="en-US"/>
          </a:p>
        </p:txBody>
      </p:sp>
      <p:sp>
        <p:nvSpPr>
          <p:cNvPr id="14" name="Line 10"/>
          <p:cNvSpPr>
            <a:spLocks noChangeShapeType="1"/>
          </p:cNvSpPr>
          <p:nvPr/>
        </p:nvSpPr>
        <p:spPr bwMode="auto">
          <a:xfrm>
            <a:off x="8669338" y="2405063"/>
            <a:ext cx="133350" cy="6350"/>
          </a:xfrm>
          <a:prstGeom prst="line">
            <a:avLst/>
          </a:prstGeom>
          <a:noFill/>
          <a:ln w="19050">
            <a:solidFill>
              <a:schemeClr val="tx1"/>
            </a:solidFill>
            <a:round/>
            <a:headEnd/>
            <a:tailEnd/>
          </a:ln>
        </p:spPr>
        <p:txBody>
          <a:bodyPr wrap="none"/>
          <a:lstStyle/>
          <a:p>
            <a:endParaRPr lang="zh-CN" altLang="en-US"/>
          </a:p>
        </p:txBody>
      </p:sp>
      <p:sp>
        <p:nvSpPr>
          <p:cNvPr id="15" name="Line 11"/>
          <p:cNvSpPr>
            <a:spLocks noChangeShapeType="1"/>
          </p:cNvSpPr>
          <p:nvPr/>
        </p:nvSpPr>
        <p:spPr bwMode="auto">
          <a:xfrm flipV="1">
            <a:off x="8675688" y="3910013"/>
            <a:ext cx="171450" cy="0"/>
          </a:xfrm>
          <a:prstGeom prst="line">
            <a:avLst/>
          </a:prstGeom>
          <a:noFill/>
          <a:ln w="19050">
            <a:solidFill>
              <a:schemeClr val="tx1"/>
            </a:solidFill>
            <a:round/>
            <a:headEnd/>
            <a:tailEnd/>
          </a:ln>
        </p:spPr>
        <p:txBody>
          <a:bodyPr wrap="none"/>
          <a:lstStyle/>
          <a:p>
            <a:endParaRPr lang="zh-CN" altLang="en-US"/>
          </a:p>
        </p:txBody>
      </p:sp>
      <p:sp>
        <p:nvSpPr>
          <p:cNvPr id="16" name="Text Box 12"/>
          <p:cNvSpPr txBox="1">
            <a:spLocks noChangeArrowheads="1"/>
          </p:cNvSpPr>
          <p:nvPr/>
        </p:nvSpPr>
        <p:spPr bwMode="auto">
          <a:xfrm>
            <a:off x="9344506" y="2139950"/>
            <a:ext cx="1026243" cy="400110"/>
          </a:xfrm>
          <a:prstGeom prst="rect">
            <a:avLst/>
          </a:prstGeom>
          <a:noFill/>
          <a:ln w="9525">
            <a:noFill/>
            <a:miter lim="800000"/>
            <a:headEnd/>
            <a:tailEnd/>
          </a:ln>
        </p:spPr>
        <p:txBody>
          <a:bodyPr wrap="none">
            <a:spAutoFit/>
          </a:bodyPr>
          <a:lstStyle/>
          <a:p>
            <a:pPr algn="ctr"/>
            <a:r>
              <a:rPr lang="en-US" altLang="zh-CN" sz="2000" dirty="0">
                <a:latin typeface="等线" panose="02010600030101010101" pitchFamily="2" charset="-122"/>
                <a:ea typeface="等线" panose="02010600030101010101" pitchFamily="2" charset="-122"/>
              </a:rPr>
              <a:t>10.0.0.1</a:t>
            </a:r>
          </a:p>
        </p:txBody>
      </p:sp>
      <p:sp>
        <p:nvSpPr>
          <p:cNvPr id="17" name="Text Box 13"/>
          <p:cNvSpPr txBox="1">
            <a:spLocks noChangeArrowheads="1"/>
          </p:cNvSpPr>
          <p:nvPr/>
        </p:nvSpPr>
        <p:spPr bwMode="auto">
          <a:xfrm>
            <a:off x="9471506" y="2908300"/>
            <a:ext cx="1026243" cy="400110"/>
          </a:xfrm>
          <a:prstGeom prst="rect">
            <a:avLst/>
          </a:prstGeom>
          <a:noFill/>
          <a:ln w="9525">
            <a:noFill/>
            <a:miter lim="800000"/>
            <a:headEnd/>
            <a:tailEnd/>
          </a:ln>
        </p:spPr>
        <p:txBody>
          <a:bodyPr wrap="none">
            <a:spAutoFit/>
          </a:bodyPr>
          <a:lstStyle/>
          <a:p>
            <a:pPr algn="ctr"/>
            <a:r>
              <a:rPr lang="en-US" altLang="zh-CN" sz="2000" dirty="0">
                <a:latin typeface="等线" panose="02010600030101010101" pitchFamily="2" charset="-122"/>
                <a:ea typeface="等线" panose="02010600030101010101" pitchFamily="2" charset="-122"/>
              </a:rPr>
              <a:t>10.0.0.2</a:t>
            </a:r>
          </a:p>
        </p:txBody>
      </p:sp>
      <p:sp>
        <p:nvSpPr>
          <p:cNvPr id="18" name="Text Box 14"/>
          <p:cNvSpPr txBox="1">
            <a:spLocks noChangeArrowheads="1"/>
          </p:cNvSpPr>
          <p:nvPr/>
        </p:nvSpPr>
        <p:spPr bwMode="auto">
          <a:xfrm>
            <a:off x="9433406" y="3803650"/>
            <a:ext cx="1026243" cy="400110"/>
          </a:xfrm>
          <a:prstGeom prst="rect">
            <a:avLst/>
          </a:prstGeom>
          <a:noFill/>
          <a:ln w="9525">
            <a:noFill/>
            <a:miter lim="800000"/>
            <a:headEnd/>
            <a:tailEnd/>
          </a:ln>
        </p:spPr>
        <p:txBody>
          <a:bodyPr wrap="none">
            <a:spAutoFit/>
          </a:bodyPr>
          <a:lstStyle/>
          <a:p>
            <a:pPr algn="ctr"/>
            <a:r>
              <a:rPr lang="en-US" altLang="zh-CN" sz="2000" dirty="0">
                <a:latin typeface="等线" panose="02010600030101010101" pitchFamily="2" charset="-122"/>
                <a:ea typeface="等线" panose="02010600030101010101" pitchFamily="2" charset="-122"/>
              </a:rPr>
              <a:t>10.0.0.3</a:t>
            </a:r>
          </a:p>
        </p:txBody>
      </p:sp>
      <p:sp>
        <p:nvSpPr>
          <p:cNvPr id="19" name="Text Box 15"/>
          <p:cNvSpPr txBox="1">
            <a:spLocks noChangeArrowheads="1"/>
          </p:cNvSpPr>
          <p:nvPr/>
        </p:nvSpPr>
        <p:spPr bwMode="auto">
          <a:xfrm>
            <a:off x="5822950" y="2716213"/>
            <a:ext cx="923925" cy="336550"/>
          </a:xfrm>
          <a:prstGeom prst="rect">
            <a:avLst/>
          </a:prstGeom>
          <a:noFill/>
          <a:ln w="9525">
            <a:noFill/>
            <a:miter lim="800000"/>
            <a:headEnd/>
            <a:tailEnd/>
          </a:ln>
        </p:spPr>
        <p:txBody>
          <a:bodyPr wrap="none">
            <a:spAutoFit/>
          </a:bodyPr>
          <a:lstStyle/>
          <a:p>
            <a:r>
              <a:rPr lang="en-US" altLang="zh-CN" sz="1600">
                <a:ea typeface="宋体" charset="-122"/>
              </a:rPr>
              <a:t>10.0.0.4</a:t>
            </a:r>
          </a:p>
        </p:txBody>
      </p:sp>
      <p:sp>
        <p:nvSpPr>
          <p:cNvPr id="20" name="Line 16"/>
          <p:cNvSpPr>
            <a:spLocks noChangeShapeType="1"/>
          </p:cNvSpPr>
          <p:nvPr/>
        </p:nvSpPr>
        <p:spPr bwMode="auto">
          <a:xfrm flipH="1">
            <a:off x="5903913" y="2981325"/>
            <a:ext cx="85725" cy="128588"/>
          </a:xfrm>
          <a:prstGeom prst="line">
            <a:avLst/>
          </a:prstGeom>
          <a:noFill/>
          <a:ln w="19050">
            <a:solidFill>
              <a:schemeClr val="tx1"/>
            </a:solidFill>
            <a:round/>
            <a:headEnd/>
            <a:tailEnd type="triangle" w="med" len="med"/>
          </a:ln>
        </p:spPr>
        <p:txBody>
          <a:bodyPr wrap="none"/>
          <a:lstStyle/>
          <a:p>
            <a:endParaRPr lang="zh-CN" altLang="en-US"/>
          </a:p>
        </p:txBody>
      </p:sp>
      <p:sp>
        <p:nvSpPr>
          <p:cNvPr id="21" name="Text Box 17"/>
          <p:cNvSpPr txBox="1">
            <a:spLocks noChangeArrowheads="1"/>
          </p:cNvSpPr>
          <p:nvPr/>
        </p:nvSpPr>
        <p:spPr bwMode="auto">
          <a:xfrm>
            <a:off x="4507626" y="3343275"/>
            <a:ext cx="1430200" cy="400110"/>
          </a:xfrm>
          <a:prstGeom prst="rect">
            <a:avLst/>
          </a:prstGeom>
          <a:noFill/>
          <a:ln w="9525">
            <a:noFill/>
            <a:miter lim="800000"/>
            <a:headEnd/>
            <a:tailEnd/>
          </a:ln>
        </p:spPr>
        <p:txBody>
          <a:bodyPr wrap="none">
            <a:spAutoFit/>
          </a:bodyPr>
          <a:lstStyle/>
          <a:p>
            <a:pPr algn="ctr"/>
            <a:r>
              <a:rPr lang="en-US" altLang="zh-CN" sz="2000" dirty="0">
                <a:latin typeface="等线" panose="02010600030101010101" pitchFamily="2" charset="-122"/>
                <a:ea typeface="等线" panose="02010600030101010101" pitchFamily="2" charset="-122"/>
              </a:rPr>
              <a:t>138.76.29.7</a:t>
            </a:r>
          </a:p>
        </p:txBody>
      </p:sp>
      <p:sp>
        <p:nvSpPr>
          <p:cNvPr id="22" name="Line 18"/>
          <p:cNvSpPr>
            <a:spLocks noChangeShapeType="1"/>
          </p:cNvSpPr>
          <p:nvPr/>
        </p:nvSpPr>
        <p:spPr bwMode="auto">
          <a:xfrm flipH="1">
            <a:off x="5164138" y="3219450"/>
            <a:ext cx="85725" cy="128588"/>
          </a:xfrm>
          <a:prstGeom prst="line">
            <a:avLst/>
          </a:prstGeom>
          <a:noFill/>
          <a:ln w="19050">
            <a:solidFill>
              <a:schemeClr val="tx1"/>
            </a:solidFill>
            <a:round/>
            <a:headEnd type="triangle" w="med" len="med"/>
            <a:tailEnd/>
          </a:ln>
        </p:spPr>
        <p:txBody>
          <a:bodyPr wrap="none"/>
          <a:lstStyle/>
          <a:p>
            <a:endParaRPr lang="zh-CN" altLang="en-US"/>
          </a:p>
        </p:txBody>
      </p:sp>
      <p:grpSp>
        <p:nvGrpSpPr>
          <p:cNvPr id="23" name="Group 19"/>
          <p:cNvGrpSpPr>
            <a:grpSpLocks/>
          </p:cNvGrpSpPr>
          <p:nvPr/>
        </p:nvGrpSpPr>
        <p:grpSpPr bwMode="auto">
          <a:xfrm>
            <a:off x="5308600" y="3013075"/>
            <a:ext cx="555625" cy="307975"/>
            <a:chOff x="3600" y="219"/>
            <a:chExt cx="360" cy="175"/>
          </a:xfrm>
        </p:grpSpPr>
        <p:sp>
          <p:nvSpPr>
            <p:cNvPr id="24" name="Oval 20"/>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a:ea typeface="宋体" charset="-122"/>
              </a:endParaRPr>
            </a:p>
          </p:txBody>
        </p:sp>
        <p:sp>
          <p:nvSpPr>
            <p:cNvPr id="25" name="Line 21"/>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zh-CN" altLang="en-US"/>
            </a:p>
          </p:txBody>
        </p:sp>
        <p:sp>
          <p:nvSpPr>
            <p:cNvPr id="26" name="Line 22"/>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zh-CN" altLang="en-US"/>
            </a:p>
          </p:txBody>
        </p:sp>
        <p:sp>
          <p:nvSpPr>
            <p:cNvPr id="27" name="Rectangle 23"/>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zh-CN" altLang="en-US" sz="2400">
                <a:latin typeface="Times New Roman" pitchFamily="18" charset="0"/>
                <a:ea typeface="宋体" charset="-122"/>
              </a:endParaRPr>
            </a:p>
          </p:txBody>
        </p:sp>
        <p:sp>
          <p:nvSpPr>
            <p:cNvPr id="28" name="Oval 24"/>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a:ea typeface="宋体" charset="-122"/>
              </a:endParaRPr>
            </a:p>
          </p:txBody>
        </p:sp>
      </p:grpSp>
      <p:sp>
        <p:nvSpPr>
          <p:cNvPr id="29" name="Line 33"/>
          <p:cNvSpPr>
            <a:spLocks noChangeShapeType="1"/>
          </p:cNvSpPr>
          <p:nvPr/>
        </p:nvSpPr>
        <p:spPr bwMode="auto">
          <a:xfrm flipV="1">
            <a:off x="3995738" y="3187700"/>
            <a:ext cx="1298575" cy="0"/>
          </a:xfrm>
          <a:prstGeom prst="line">
            <a:avLst/>
          </a:prstGeom>
          <a:noFill/>
          <a:ln w="19050">
            <a:solidFill>
              <a:schemeClr val="tx1"/>
            </a:solidFill>
            <a:round/>
            <a:headEnd/>
            <a:tailEnd/>
          </a:ln>
        </p:spPr>
        <p:txBody>
          <a:bodyPr wrap="none"/>
          <a:lstStyle/>
          <a:p>
            <a:endParaRPr lang="zh-CN" altLang="en-US"/>
          </a:p>
        </p:txBody>
      </p:sp>
      <p:sp>
        <p:nvSpPr>
          <p:cNvPr id="30" name="Text Box 34"/>
          <p:cNvSpPr txBox="1">
            <a:spLocks noChangeArrowheads="1"/>
          </p:cNvSpPr>
          <p:nvPr/>
        </p:nvSpPr>
        <p:spPr bwMode="auto">
          <a:xfrm>
            <a:off x="6771149" y="1619250"/>
            <a:ext cx="1391728" cy="707886"/>
          </a:xfrm>
          <a:prstGeom prst="rect">
            <a:avLst/>
          </a:prstGeom>
          <a:noFill/>
          <a:ln w="9525">
            <a:noFill/>
            <a:miter lim="800000"/>
            <a:headEnd/>
            <a:tailEnd/>
          </a:ln>
        </p:spPr>
        <p:txBody>
          <a:bodyPr wrap="none">
            <a:spAutoFit/>
          </a:bodyPr>
          <a:lstStyle/>
          <a:p>
            <a:pPr algn="ctr"/>
            <a:r>
              <a:rPr lang="zh-CN" altLang="en-US" sz="2000" dirty="0">
                <a:latin typeface="等线" panose="02010600030101010101" pitchFamily="2" charset="-122"/>
                <a:ea typeface="等线" panose="02010600030101010101" pitchFamily="2" charset="-122"/>
              </a:rPr>
              <a:t>本地网络</a:t>
            </a:r>
          </a:p>
          <a:p>
            <a:pPr algn="ctr"/>
            <a:r>
              <a:rPr lang="en-US" altLang="zh-CN" sz="2000" dirty="0">
                <a:latin typeface="等线" panose="02010600030101010101" pitchFamily="2" charset="-122"/>
                <a:ea typeface="等线" panose="02010600030101010101" pitchFamily="2" charset="-122"/>
              </a:rPr>
              <a:t>10.0.0.0/24</a:t>
            </a:r>
          </a:p>
        </p:txBody>
      </p:sp>
      <p:sp>
        <p:nvSpPr>
          <p:cNvPr id="31" name="Line 35"/>
          <p:cNvSpPr>
            <a:spLocks noChangeShapeType="1"/>
          </p:cNvSpPr>
          <p:nvPr/>
        </p:nvSpPr>
        <p:spPr bwMode="auto">
          <a:xfrm>
            <a:off x="8547100" y="1858963"/>
            <a:ext cx="1385888" cy="0"/>
          </a:xfrm>
          <a:prstGeom prst="line">
            <a:avLst/>
          </a:prstGeom>
          <a:noFill/>
          <a:ln w="9525">
            <a:solidFill>
              <a:schemeClr val="tx1"/>
            </a:solidFill>
            <a:round/>
            <a:headEnd/>
            <a:tailEnd type="triangle" w="med" len="med"/>
          </a:ln>
        </p:spPr>
        <p:txBody>
          <a:bodyPr wrap="none"/>
          <a:lstStyle/>
          <a:p>
            <a:endParaRPr lang="zh-CN" altLang="en-US"/>
          </a:p>
        </p:txBody>
      </p:sp>
      <p:sp>
        <p:nvSpPr>
          <p:cNvPr id="32" name="Line 36"/>
          <p:cNvSpPr>
            <a:spLocks noChangeShapeType="1"/>
          </p:cNvSpPr>
          <p:nvPr/>
        </p:nvSpPr>
        <p:spPr bwMode="auto">
          <a:xfrm>
            <a:off x="5595938" y="1719263"/>
            <a:ext cx="0" cy="1081087"/>
          </a:xfrm>
          <a:prstGeom prst="line">
            <a:avLst/>
          </a:prstGeom>
          <a:noFill/>
          <a:ln w="9525">
            <a:solidFill>
              <a:schemeClr val="tx1"/>
            </a:solidFill>
            <a:round/>
            <a:headEnd/>
            <a:tailEnd/>
          </a:ln>
        </p:spPr>
        <p:txBody>
          <a:bodyPr wrap="none"/>
          <a:lstStyle/>
          <a:p>
            <a:endParaRPr lang="zh-CN" altLang="en-US"/>
          </a:p>
        </p:txBody>
      </p:sp>
      <p:sp>
        <p:nvSpPr>
          <p:cNvPr id="33" name="Line 37"/>
          <p:cNvSpPr>
            <a:spLocks noChangeShapeType="1"/>
          </p:cNvSpPr>
          <p:nvPr/>
        </p:nvSpPr>
        <p:spPr bwMode="auto">
          <a:xfrm flipH="1" flipV="1">
            <a:off x="5735638" y="1846263"/>
            <a:ext cx="898525" cy="0"/>
          </a:xfrm>
          <a:prstGeom prst="line">
            <a:avLst/>
          </a:prstGeom>
          <a:noFill/>
          <a:ln w="9525">
            <a:solidFill>
              <a:schemeClr val="tx1"/>
            </a:solidFill>
            <a:round/>
            <a:headEnd/>
            <a:tailEnd type="triangle" w="med" len="med"/>
          </a:ln>
        </p:spPr>
        <p:txBody>
          <a:bodyPr wrap="none"/>
          <a:lstStyle/>
          <a:p>
            <a:endParaRPr lang="zh-CN" altLang="en-US"/>
          </a:p>
        </p:txBody>
      </p:sp>
      <p:sp>
        <p:nvSpPr>
          <p:cNvPr id="34" name="Line 41"/>
          <p:cNvSpPr>
            <a:spLocks noChangeShapeType="1"/>
          </p:cNvSpPr>
          <p:nvPr/>
        </p:nvSpPr>
        <p:spPr bwMode="auto">
          <a:xfrm flipH="1" flipV="1">
            <a:off x="4381500" y="3603625"/>
            <a:ext cx="11113" cy="788988"/>
          </a:xfrm>
          <a:prstGeom prst="line">
            <a:avLst/>
          </a:prstGeom>
          <a:noFill/>
          <a:ln w="9525">
            <a:solidFill>
              <a:schemeClr val="tx1"/>
            </a:solidFill>
            <a:round/>
            <a:headEnd/>
            <a:tailEnd type="triangle" w="med" len="med"/>
          </a:ln>
        </p:spPr>
        <p:txBody>
          <a:bodyPr wrap="none"/>
          <a:lstStyle/>
          <a:p>
            <a:endParaRPr lang="zh-CN" altLang="en-US"/>
          </a:p>
        </p:txBody>
      </p:sp>
      <p:sp>
        <p:nvSpPr>
          <p:cNvPr id="35" name="Text Box 42"/>
          <p:cNvSpPr txBox="1">
            <a:spLocks noChangeArrowheads="1"/>
          </p:cNvSpPr>
          <p:nvPr/>
        </p:nvSpPr>
        <p:spPr bwMode="auto">
          <a:xfrm>
            <a:off x="6661150" y="4498975"/>
            <a:ext cx="3740150" cy="1015663"/>
          </a:xfrm>
          <a:prstGeom prst="rect">
            <a:avLst/>
          </a:prstGeom>
          <a:noFill/>
          <a:ln w="9525">
            <a:noFill/>
            <a:miter lim="800000"/>
            <a:headEnd/>
            <a:tailEnd/>
          </a:ln>
        </p:spPr>
        <p:txBody>
          <a:bodyPr>
            <a:spAutoFit/>
          </a:bodyPr>
          <a:lstStyle/>
          <a:p>
            <a:r>
              <a:rPr lang="zh-CN" altLang="en-US" sz="2000" dirty="0">
                <a:latin typeface="等线" panose="02010600030101010101" pitchFamily="2" charset="-122"/>
                <a:ea typeface="等线" panose="02010600030101010101" pitchFamily="2" charset="-122"/>
              </a:rPr>
              <a:t>报文的源地址</a:t>
            </a:r>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发出时</a:t>
            </a:r>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或目的地址</a:t>
            </a:r>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接收时</a:t>
            </a:r>
            <a:r>
              <a:rPr lang="en-US" altLang="zh-CN" sz="2000" dirty="0">
                <a:latin typeface="等线" panose="02010600030101010101" pitchFamily="2" charset="-122"/>
                <a:ea typeface="等线" panose="02010600030101010101" pitchFamily="2" charset="-122"/>
              </a:rPr>
              <a:t>)</a:t>
            </a:r>
            <a:r>
              <a:rPr lang="zh-CN" altLang="en-US" sz="2000" dirty="0">
                <a:latin typeface="等线" panose="02010600030101010101" pitchFamily="2" charset="-122"/>
                <a:ea typeface="等线" panose="02010600030101010101" pitchFamily="2" charset="-122"/>
              </a:rPr>
              <a:t>都属于</a:t>
            </a:r>
            <a:r>
              <a:rPr lang="en-US" altLang="zh-CN" sz="2000" dirty="0">
                <a:latin typeface="等线" panose="02010600030101010101" pitchFamily="2" charset="-122"/>
                <a:ea typeface="等线" panose="02010600030101010101" pitchFamily="2" charset="-122"/>
              </a:rPr>
              <a:t>10.0.0.0/24</a:t>
            </a:r>
            <a:r>
              <a:rPr lang="zh-CN" altLang="en-US" sz="2000" dirty="0">
                <a:latin typeface="等线" panose="02010600030101010101" pitchFamily="2" charset="-122"/>
                <a:ea typeface="等线" panose="02010600030101010101" pitchFamily="2" charset="-122"/>
              </a:rPr>
              <a:t>的地址</a:t>
            </a:r>
            <a:endParaRPr lang="en-US" altLang="zh-CN" sz="2000" dirty="0">
              <a:latin typeface="等线" panose="02010600030101010101" pitchFamily="2" charset="-122"/>
              <a:ea typeface="等线" panose="02010600030101010101" pitchFamily="2" charset="-122"/>
            </a:endParaRPr>
          </a:p>
        </p:txBody>
      </p:sp>
      <p:sp>
        <p:nvSpPr>
          <p:cNvPr id="36" name="Line 43"/>
          <p:cNvSpPr>
            <a:spLocks noChangeShapeType="1"/>
          </p:cNvSpPr>
          <p:nvPr/>
        </p:nvSpPr>
        <p:spPr bwMode="auto">
          <a:xfrm flipH="1" flipV="1">
            <a:off x="7400925" y="3409950"/>
            <a:ext cx="11113" cy="996950"/>
          </a:xfrm>
          <a:prstGeom prst="line">
            <a:avLst/>
          </a:prstGeom>
          <a:noFill/>
          <a:ln w="9525">
            <a:solidFill>
              <a:schemeClr val="tx1"/>
            </a:solidFill>
            <a:round/>
            <a:headEnd/>
            <a:tailEnd type="triangle" w="med" len="med"/>
          </a:ln>
        </p:spPr>
        <p:txBody>
          <a:bodyPr wrap="none"/>
          <a:lstStyle/>
          <a:p>
            <a:endParaRPr lang="zh-CN" altLang="en-US"/>
          </a:p>
        </p:txBody>
      </p:sp>
      <p:sp>
        <p:nvSpPr>
          <p:cNvPr id="37" name="Text Box 44"/>
          <p:cNvSpPr txBox="1">
            <a:spLocks noChangeArrowheads="1"/>
          </p:cNvSpPr>
          <p:nvPr/>
        </p:nvSpPr>
        <p:spPr bwMode="auto">
          <a:xfrm>
            <a:off x="1562100" y="4325938"/>
            <a:ext cx="4498975" cy="708025"/>
          </a:xfrm>
          <a:prstGeom prst="rect">
            <a:avLst/>
          </a:prstGeom>
          <a:noFill/>
          <a:ln w="9525">
            <a:noFill/>
            <a:miter lim="800000"/>
            <a:headEnd/>
            <a:tailEnd/>
          </a:ln>
        </p:spPr>
        <p:txBody>
          <a:bodyPr>
            <a:spAutoFit/>
          </a:bodyPr>
          <a:lstStyle/>
          <a:p>
            <a:pPr algn="ctr"/>
            <a:r>
              <a:rPr lang="zh-CN" altLang="en-US" sz="2000" dirty="0">
                <a:solidFill>
                  <a:srgbClr val="C00000"/>
                </a:solidFill>
                <a:latin typeface="等线" panose="02010600030101010101" pitchFamily="2" charset="-122"/>
                <a:ea typeface="等线" panose="02010600030101010101" pitchFamily="2" charset="-122"/>
              </a:rPr>
              <a:t>所有从</a:t>
            </a:r>
            <a:r>
              <a:rPr lang="zh-CN" altLang="en-US" sz="2000" dirty="0">
                <a:latin typeface="等线" panose="02010600030101010101" pitchFamily="2" charset="-122"/>
                <a:ea typeface="等线" panose="02010600030101010101" pitchFamily="2" charset="-122"/>
              </a:rPr>
              <a:t>本地网络发出的报文具有</a:t>
            </a:r>
            <a:r>
              <a:rPr lang="zh-CN" altLang="en-US" sz="2000" dirty="0">
                <a:solidFill>
                  <a:srgbClr val="C00000"/>
                </a:solidFill>
                <a:latin typeface="等线" panose="02010600030101010101" pitchFamily="2" charset="-122"/>
                <a:ea typeface="等线" panose="02010600030101010101" pitchFamily="2" charset="-122"/>
              </a:rPr>
              <a:t>相同</a:t>
            </a:r>
            <a:r>
              <a:rPr lang="zh-CN" altLang="en-US" sz="2000" dirty="0">
                <a:latin typeface="等线" panose="02010600030101010101" pitchFamily="2" charset="-122"/>
                <a:ea typeface="等线" panose="02010600030101010101" pitchFamily="2" charset="-122"/>
              </a:rPr>
              <a:t>的单一源</a:t>
            </a:r>
            <a:r>
              <a:rPr lang="en-US" altLang="zh-CN" sz="2000" dirty="0">
                <a:latin typeface="等线" panose="02010600030101010101" pitchFamily="2" charset="-122"/>
                <a:ea typeface="等线" panose="02010600030101010101" pitchFamily="2" charset="-122"/>
              </a:rPr>
              <a:t>IP</a:t>
            </a:r>
            <a:r>
              <a:rPr lang="zh-CN" altLang="en-US" sz="2000" dirty="0">
                <a:latin typeface="等线" panose="02010600030101010101" pitchFamily="2" charset="-122"/>
                <a:ea typeface="等线" panose="02010600030101010101" pitchFamily="2" charset="-122"/>
              </a:rPr>
              <a:t>地址</a:t>
            </a:r>
            <a:r>
              <a:rPr lang="en-US" altLang="zh-CN" sz="2000" dirty="0">
                <a:latin typeface="等线" panose="02010600030101010101" pitchFamily="2" charset="-122"/>
                <a:ea typeface="等线" panose="02010600030101010101" pitchFamily="2" charset="-122"/>
              </a:rPr>
              <a:t>: 138.76.29.7</a:t>
            </a:r>
          </a:p>
        </p:txBody>
      </p:sp>
      <p:pic>
        <p:nvPicPr>
          <p:cNvPr id="38" name="Picture 8"/>
          <p:cNvPicPr>
            <a:picLocks noChangeAspect="1" noChangeArrowheads="1"/>
          </p:cNvPicPr>
          <p:nvPr/>
        </p:nvPicPr>
        <p:blipFill>
          <a:blip r:embed="rId4"/>
          <a:srcRect/>
          <a:stretch>
            <a:fillRect/>
          </a:stretch>
        </p:blipFill>
        <p:spPr bwMode="auto">
          <a:xfrm>
            <a:off x="1987550" y="2405063"/>
            <a:ext cx="2459038" cy="1343025"/>
          </a:xfrm>
          <a:prstGeom prst="rect">
            <a:avLst/>
          </a:prstGeom>
          <a:noFill/>
          <a:ln w="9525">
            <a:noFill/>
            <a:miter lim="800000"/>
            <a:headEnd/>
            <a:tailEnd/>
          </a:ln>
        </p:spPr>
      </p:pic>
      <p:sp>
        <p:nvSpPr>
          <p:cNvPr id="39" name="Text Box 34"/>
          <p:cNvSpPr txBox="1">
            <a:spLocks noChangeArrowheads="1"/>
          </p:cNvSpPr>
          <p:nvPr/>
        </p:nvSpPr>
        <p:spPr bwMode="auto">
          <a:xfrm>
            <a:off x="2484438" y="2882900"/>
            <a:ext cx="1441450" cy="400110"/>
          </a:xfrm>
          <a:prstGeom prst="rect">
            <a:avLst/>
          </a:prstGeom>
          <a:noFill/>
          <a:ln w="9525">
            <a:noFill/>
            <a:miter lim="800000"/>
            <a:headEnd/>
            <a:tailEnd/>
          </a:ln>
        </p:spPr>
        <p:txBody>
          <a:bodyPr>
            <a:spAutoFit/>
          </a:bodyPr>
          <a:lstStyle/>
          <a:p>
            <a:pPr algn="ctr"/>
            <a:r>
              <a:rPr lang="zh-CN" altLang="en-US" sz="2000" dirty="0">
                <a:latin typeface="等线" panose="02010600030101010101" pitchFamily="2" charset="-122"/>
                <a:ea typeface="等线" panose="02010600030101010101" pitchFamily="2" charset="-122"/>
              </a:rPr>
              <a:t>互联网</a:t>
            </a:r>
            <a:endParaRPr lang="en-US" altLang="zh-CN" sz="2000" dirty="0">
              <a:latin typeface="等线" panose="02010600030101010101" pitchFamily="2" charset="-122"/>
              <a:ea typeface="等线" panose="02010600030101010101" pitchFamily="2" charset="-122"/>
            </a:endParaRPr>
          </a:p>
        </p:txBody>
      </p:sp>
      <p:sp>
        <p:nvSpPr>
          <p:cNvPr id="40" name="椭圆 90"/>
          <p:cNvSpPr>
            <a:spLocks noChangeArrowheads="1"/>
          </p:cNvSpPr>
          <p:nvPr/>
        </p:nvSpPr>
        <p:spPr bwMode="auto">
          <a:xfrm>
            <a:off x="2420938" y="5318125"/>
            <a:ext cx="2841625" cy="590550"/>
          </a:xfrm>
          <a:prstGeom prst="ellipse">
            <a:avLst/>
          </a:prstGeom>
          <a:solidFill>
            <a:srgbClr val="7030A0"/>
          </a:solidFill>
          <a:ln w="9525" algn="ctr">
            <a:solidFill>
              <a:schemeClr val="tx1"/>
            </a:solidFill>
            <a:round/>
            <a:headEnd/>
            <a:tailEnd/>
          </a:ln>
        </p:spPr>
        <p:txBody>
          <a:bodyPr wrap="none"/>
          <a:lstStyle/>
          <a:p>
            <a:pPr algn="ctr"/>
            <a:r>
              <a:rPr lang="zh-CN" altLang="en-US" sz="2000" b="1" dirty="0">
                <a:solidFill>
                  <a:srgbClr val="FFFFFF"/>
                </a:solidFill>
                <a:latin typeface="等线" panose="02010600030101010101" pitchFamily="2" charset="-122"/>
                <a:ea typeface="等线" panose="02010600030101010101" pitchFamily="2" charset="-122"/>
              </a:rPr>
              <a:t>不同的源端口号</a:t>
            </a:r>
          </a:p>
        </p:txBody>
      </p:sp>
      <p:grpSp>
        <p:nvGrpSpPr>
          <p:cNvPr id="41" name="组合 40"/>
          <p:cNvGrpSpPr/>
          <p:nvPr/>
        </p:nvGrpSpPr>
        <p:grpSpPr>
          <a:xfrm>
            <a:off x="5430440" y="3120582"/>
            <a:ext cx="284560" cy="91357"/>
            <a:chOff x="5127381" y="4571851"/>
            <a:chExt cx="284560" cy="91357"/>
          </a:xfrm>
        </p:grpSpPr>
        <p:grpSp>
          <p:nvGrpSpPr>
            <p:cNvPr id="42" name="组合 23"/>
            <p:cNvGrpSpPr/>
            <p:nvPr/>
          </p:nvGrpSpPr>
          <p:grpSpPr>
            <a:xfrm>
              <a:off x="5140302" y="4571851"/>
              <a:ext cx="243064" cy="81832"/>
              <a:chOff x="5140302" y="4571851"/>
              <a:chExt cx="243064" cy="81832"/>
            </a:xfrm>
          </p:grpSpPr>
          <p:sp>
            <p:nvSpPr>
              <p:cNvPr id="47" name="Line 17"/>
              <p:cNvSpPr>
                <a:spLocks noChangeShapeType="1"/>
              </p:cNvSpPr>
              <p:nvPr/>
            </p:nvSpPr>
            <p:spPr bwMode="auto">
              <a:xfrm flipV="1">
                <a:off x="5140302" y="4584742"/>
                <a:ext cx="97014" cy="1760"/>
              </a:xfrm>
              <a:prstGeom prst="line">
                <a:avLst/>
              </a:prstGeom>
              <a:noFill/>
              <a:ln w="28575">
                <a:solidFill>
                  <a:schemeClr val="tx1"/>
                </a:solidFill>
                <a:round/>
                <a:headEnd/>
                <a:tailEnd/>
              </a:ln>
            </p:spPr>
            <p:txBody>
              <a:bodyPr wrap="none" anchor="ctr"/>
              <a:lstStyle/>
              <a:p>
                <a:endParaRPr lang="zh-CN" altLang="en-US"/>
              </a:p>
            </p:txBody>
          </p:sp>
          <p:sp>
            <p:nvSpPr>
              <p:cNvPr id="48" name="Line 19"/>
              <p:cNvSpPr>
                <a:spLocks noChangeShapeType="1"/>
              </p:cNvSpPr>
              <p:nvPr/>
            </p:nvSpPr>
            <p:spPr bwMode="auto">
              <a:xfrm>
                <a:off x="5220030" y="4571851"/>
                <a:ext cx="100894" cy="81832"/>
              </a:xfrm>
              <a:prstGeom prst="line">
                <a:avLst/>
              </a:prstGeom>
              <a:noFill/>
              <a:ln w="28575">
                <a:solidFill>
                  <a:schemeClr val="tx1"/>
                </a:solidFill>
                <a:round/>
                <a:headEnd/>
                <a:tailEnd/>
              </a:ln>
            </p:spPr>
            <p:txBody>
              <a:bodyPr wrap="none" anchor="ctr"/>
              <a:lstStyle/>
              <a:p>
                <a:endParaRPr lang="zh-CN" altLang="en-US"/>
              </a:p>
            </p:txBody>
          </p:sp>
          <p:sp>
            <p:nvSpPr>
              <p:cNvPr id="49" name="Line 22"/>
              <p:cNvSpPr>
                <a:spLocks noChangeShapeType="1"/>
              </p:cNvSpPr>
              <p:nvPr/>
            </p:nvSpPr>
            <p:spPr bwMode="auto">
              <a:xfrm flipV="1">
                <a:off x="5297994" y="4644691"/>
                <a:ext cx="85372" cy="0"/>
              </a:xfrm>
              <a:prstGeom prst="line">
                <a:avLst/>
              </a:prstGeom>
              <a:noFill/>
              <a:ln w="28575">
                <a:solidFill>
                  <a:schemeClr val="tx1"/>
                </a:solidFill>
                <a:round/>
                <a:headEnd/>
                <a:tailEnd/>
              </a:ln>
            </p:spPr>
            <p:txBody>
              <a:bodyPr wrap="none" anchor="ctr"/>
              <a:lstStyle/>
              <a:p>
                <a:endParaRPr lang="zh-CN" altLang="en-US"/>
              </a:p>
            </p:txBody>
          </p:sp>
        </p:grpSp>
        <p:grpSp>
          <p:nvGrpSpPr>
            <p:cNvPr id="43" name="组合 27"/>
            <p:cNvGrpSpPr/>
            <p:nvPr/>
          </p:nvGrpSpPr>
          <p:grpSpPr>
            <a:xfrm>
              <a:off x="5127381" y="4574930"/>
              <a:ext cx="284560" cy="88278"/>
              <a:chOff x="5362432" y="4876278"/>
              <a:chExt cx="284560" cy="88278"/>
            </a:xfrm>
          </p:grpSpPr>
          <p:sp>
            <p:nvSpPr>
              <p:cNvPr id="44" name="Line 18"/>
              <p:cNvSpPr>
                <a:spLocks noChangeShapeType="1"/>
              </p:cNvSpPr>
              <p:nvPr/>
            </p:nvSpPr>
            <p:spPr bwMode="auto">
              <a:xfrm>
                <a:off x="5561646" y="4876278"/>
                <a:ext cx="85346" cy="0"/>
              </a:xfrm>
              <a:prstGeom prst="line">
                <a:avLst/>
              </a:prstGeom>
              <a:noFill/>
              <a:ln w="28575">
                <a:solidFill>
                  <a:schemeClr val="tx1"/>
                </a:solidFill>
                <a:round/>
                <a:headEnd/>
                <a:tailEnd/>
              </a:ln>
            </p:spPr>
            <p:txBody>
              <a:bodyPr wrap="none" anchor="ctr"/>
              <a:lstStyle/>
              <a:p>
                <a:endParaRPr lang="zh-CN" altLang="en-US"/>
              </a:p>
            </p:txBody>
          </p:sp>
          <p:sp>
            <p:nvSpPr>
              <p:cNvPr id="45" name="Line 21"/>
              <p:cNvSpPr>
                <a:spLocks noChangeShapeType="1"/>
              </p:cNvSpPr>
              <p:nvPr/>
            </p:nvSpPr>
            <p:spPr bwMode="auto">
              <a:xfrm>
                <a:off x="5362432" y="4962698"/>
                <a:ext cx="97334" cy="1858"/>
              </a:xfrm>
              <a:prstGeom prst="line">
                <a:avLst/>
              </a:prstGeom>
              <a:noFill/>
              <a:ln w="28575">
                <a:solidFill>
                  <a:schemeClr val="tx1"/>
                </a:solidFill>
                <a:round/>
                <a:headEnd/>
                <a:tailEnd/>
              </a:ln>
            </p:spPr>
            <p:txBody>
              <a:bodyPr wrap="none" anchor="ctr"/>
              <a:lstStyle/>
              <a:p>
                <a:endParaRPr lang="zh-CN" altLang="en-US"/>
              </a:p>
            </p:txBody>
          </p:sp>
          <p:sp>
            <p:nvSpPr>
              <p:cNvPr id="46" name="Line 23"/>
              <p:cNvSpPr>
                <a:spLocks noChangeShapeType="1"/>
              </p:cNvSpPr>
              <p:nvPr/>
            </p:nvSpPr>
            <p:spPr bwMode="auto">
              <a:xfrm flipV="1">
                <a:off x="5454621" y="4878178"/>
                <a:ext cx="103294" cy="84520"/>
              </a:xfrm>
              <a:prstGeom prst="line">
                <a:avLst/>
              </a:prstGeom>
              <a:noFill/>
              <a:ln w="28575">
                <a:solidFill>
                  <a:schemeClr val="tx1"/>
                </a:solidFill>
                <a:round/>
                <a:headEnd/>
                <a:tailEnd/>
              </a:ln>
            </p:spPr>
            <p:txBody>
              <a:bodyPr wrap="none" anchor="ctr"/>
              <a:lstStyle/>
              <a:p>
                <a:endParaRPr lang="zh-CN" altLang="en-US"/>
              </a:p>
            </p:txBody>
          </p:sp>
        </p:grpSp>
      </p:grpSp>
      <p:sp>
        <p:nvSpPr>
          <p:cNvPr id="5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5.2.5 NAT</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51"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40</a:t>
            </a:fld>
            <a:endParaRPr kumimoji="1" lang="zh-CN" altLang="en-US" dirty="0"/>
          </a:p>
        </p:txBody>
      </p:sp>
    </p:spTree>
    <p:extLst>
      <p:ext uri="{BB962C8B-B14F-4D97-AF65-F5344CB8AC3E}">
        <p14:creationId xmlns:p14="http://schemas.microsoft.com/office/powerpoint/2010/main" val="3196936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blinds(horizontal)">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a:t>
            </a:r>
            <a:r>
              <a:rPr lang="zh-CN" altLang="en-US" dirty="0"/>
              <a:t>工作机制</a:t>
            </a:r>
          </a:p>
        </p:txBody>
      </p:sp>
      <p:sp>
        <p:nvSpPr>
          <p:cNvPr id="5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5.2.5 NAT</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51"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41</a:t>
            </a:fld>
            <a:endParaRPr kumimoji="1" lang="zh-CN" altLang="en-US" dirty="0"/>
          </a:p>
        </p:txBody>
      </p:sp>
      <p:sp>
        <p:nvSpPr>
          <p:cNvPr id="55" name="Freeform 139"/>
          <p:cNvSpPr>
            <a:spLocks/>
          </p:cNvSpPr>
          <p:nvPr/>
        </p:nvSpPr>
        <p:spPr bwMode="auto">
          <a:xfrm>
            <a:off x="1317337" y="3549442"/>
            <a:ext cx="4089400" cy="1177960"/>
          </a:xfrm>
          <a:custGeom>
            <a:avLst/>
            <a:gdLst>
              <a:gd name="T0" fmla="*/ 2147483646 w 2269"/>
              <a:gd name="T1" fmla="*/ 2147483646 h 854"/>
              <a:gd name="T2" fmla="*/ 2147483646 w 2269"/>
              <a:gd name="T3" fmla="*/ 2147483646 h 854"/>
              <a:gd name="T4" fmla="*/ 2147483646 w 2269"/>
              <a:gd name="T5" fmla="*/ 2147483646 h 854"/>
              <a:gd name="T6" fmla="*/ 2147483646 w 2269"/>
              <a:gd name="T7" fmla="*/ 2147483646 h 854"/>
              <a:gd name="T8" fmla="*/ 2147483646 w 2269"/>
              <a:gd name="T9" fmla="*/ 2147483646 h 854"/>
              <a:gd name="T10" fmla="*/ 2147483646 w 2269"/>
              <a:gd name="T11" fmla="*/ 2147483646 h 854"/>
              <a:gd name="T12" fmla="*/ 2147483646 w 2269"/>
              <a:gd name="T13" fmla="*/ 2147483646 h 854"/>
              <a:gd name="T14" fmla="*/ 0 60000 65536"/>
              <a:gd name="T15" fmla="*/ 0 60000 65536"/>
              <a:gd name="T16" fmla="*/ 0 60000 65536"/>
              <a:gd name="T17" fmla="*/ 0 60000 65536"/>
              <a:gd name="T18" fmla="*/ 0 60000 65536"/>
              <a:gd name="T19" fmla="*/ 0 60000 65536"/>
              <a:gd name="T20" fmla="*/ 0 60000 65536"/>
              <a:gd name="T21" fmla="*/ 0 w 2269"/>
              <a:gd name="T22" fmla="*/ 0 h 854"/>
              <a:gd name="T23" fmla="*/ 2269 w 2269"/>
              <a:gd name="T24" fmla="*/ 854 h 8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69" h="854">
                <a:moveTo>
                  <a:pt x="1888" y="285"/>
                </a:moveTo>
                <a:cubicBezTo>
                  <a:pt x="1622" y="258"/>
                  <a:pt x="723" y="317"/>
                  <a:pt x="418" y="283"/>
                </a:cubicBezTo>
                <a:cubicBezTo>
                  <a:pt x="113" y="249"/>
                  <a:pt x="120" y="0"/>
                  <a:pt x="60" y="83"/>
                </a:cubicBezTo>
                <a:cubicBezTo>
                  <a:pt x="0" y="166"/>
                  <a:pt x="8" y="708"/>
                  <a:pt x="60" y="781"/>
                </a:cubicBezTo>
                <a:cubicBezTo>
                  <a:pt x="112" y="854"/>
                  <a:pt x="48" y="575"/>
                  <a:pt x="374" y="519"/>
                </a:cubicBezTo>
                <a:cubicBezTo>
                  <a:pt x="700" y="463"/>
                  <a:pt x="1765" y="486"/>
                  <a:pt x="2017" y="447"/>
                </a:cubicBezTo>
                <a:cubicBezTo>
                  <a:pt x="2269" y="408"/>
                  <a:pt x="2110" y="319"/>
                  <a:pt x="1888" y="285"/>
                </a:cubicBezTo>
                <a:close/>
              </a:path>
            </a:pathLst>
          </a:custGeom>
          <a:gradFill rotWithShape="1">
            <a:gsLst>
              <a:gs pos="0">
                <a:srgbClr val="FFFFFF">
                  <a:alpha val="98000"/>
                </a:srgbClr>
              </a:gs>
              <a:gs pos="100000">
                <a:srgbClr val="66CCFF"/>
              </a:gs>
            </a:gsLst>
            <a:lin ang="0" scaled="1"/>
          </a:gradFill>
          <a:ln w="9525">
            <a:noFill/>
            <a:round/>
            <a:headEnd/>
            <a:tailEnd/>
          </a:ln>
        </p:spPr>
        <p:txBody>
          <a:bodyPr wrap="none" anchor="ctr"/>
          <a:lstStyle/>
          <a:p>
            <a:endParaRPr lang="zh-CN" altLang="en-US"/>
          </a:p>
        </p:txBody>
      </p:sp>
      <p:sp>
        <p:nvSpPr>
          <p:cNvPr id="56" name="Freeform 29"/>
          <p:cNvSpPr>
            <a:spLocks/>
          </p:cNvSpPr>
          <p:nvPr/>
        </p:nvSpPr>
        <p:spPr bwMode="auto">
          <a:xfrm>
            <a:off x="5606762" y="2916324"/>
            <a:ext cx="3738562" cy="2343506"/>
          </a:xfrm>
          <a:custGeom>
            <a:avLst/>
            <a:gdLst>
              <a:gd name="T0" fmla="*/ 2147483646 w 2355"/>
              <a:gd name="T1" fmla="*/ 2147483646 h 1699"/>
              <a:gd name="T2" fmla="*/ 2147483646 w 2355"/>
              <a:gd name="T3" fmla="*/ 2147483646 h 1699"/>
              <a:gd name="T4" fmla="*/ 2147483646 w 2355"/>
              <a:gd name="T5" fmla="*/ 2147483646 h 1699"/>
              <a:gd name="T6" fmla="*/ 2147483646 w 2355"/>
              <a:gd name="T7" fmla="*/ 2147483646 h 1699"/>
              <a:gd name="T8" fmla="*/ 2147483646 w 2355"/>
              <a:gd name="T9" fmla="*/ 2147483646 h 1699"/>
              <a:gd name="T10" fmla="*/ 2147483646 w 2355"/>
              <a:gd name="T11" fmla="*/ 2147483646 h 1699"/>
              <a:gd name="T12" fmla="*/ 2147483646 w 2355"/>
              <a:gd name="T13" fmla="*/ 2147483646 h 1699"/>
              <a:gd name="T14" fmla="*/ 2147483646 w 2355"/>
              <a:gd name="T15" fmla="*/ 2147483646 h 1699"/>
              <a:gd name="T16" fmla="*/ 2147483646 w 2355"/>
              <a:gd name="T17" fmla="*/ 2147483646 h 1699"/>
              <a:gd name="T18" fmla="*/ 2147483646 w 2355"/>
              <a:gd name="T19" fmla="*/ 2147483646 h 1699"/>
              <a:gd name="T20" fmla="*/ 2147483646 w 2355"/>
              <a:gd name="T21" fmla="*/ 2147483646 h 169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355"/>
              <a:gd name="T34" fmla="*/ 0 h 1699"/>
              <a:gd name="T35" fmla="*/ 2355 w 2355"/>
              <a:gd name="T36" fmla="*/ 1699 h 169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355" h="1699">
                <a:moveTo>
                  <a:pt x="349" y="761"/>
                </a:moveTo>
                <a:cubicBezTo>
                  <a:pt x="587" y="729"/>
                  <a:pt x="1414" y="820"/>
                  <a:pt x="1651" y="732"/>
                </a:cubicBezTo>
                <a:cubicBezTo>
                  <a:pt x="1888" y="644"/>
                  <a:pt x="1710" y="351"/>
                  <a:pt x="1773" y="230"/>
                </a:cubicBezTo>
                <a:cubicBezTo>
                  <a:pt x="1836" y="109"/>
                  <a:pt x="1947" y="16"/>
                  <a:pt x="2029" y="8"/>
                </a:cubicBezTo>
                <a:cubicBezTo>
                  <a:pt x="2111" y="0"/>
                  <a:pt x="2213" y="27"/>
                  <a:pt x="2267" y="183"/>
                </a:cubicBezTo>
                <a:cubicBezTo>
                  <a:pt x="2321" y="339"/>
                  <a:pt x="2355" y="707"/>
                  <a:pt x="2355" y="942"/>
                </a:cubicBezTo>
                <a:cubicBezTo>
                  <a:pt x="2355" y="1177"/>
                  <a:pt x="2353" y="1485"/>
                  <a:pt x="2267" y="1592"/>
                </a:cubicBezTo>
                <a:cubicBezTo>
                  <a:pt x="2181" y="1699"/>
                  <a:pt x="1939" y="1680"/>
                  <a:pt x="1840" y="1586"/>
                </a:cubicBezTo>
                <a:cubicBezTo>
                  <a:pt x="1741" y="1492"/>
                  <a:pt x="1940" y="1135"/>
                  <a:pt x="1670" y="1025"/>
                </a:cubicBezTo>
                <a:cubicBezTo>
                  <a:pt x="1400" y="915"/>
                  <a:pt x="440" y="967"/>
                  <a:pt x="220" y="923"/>
                </a:cubicBezTo>
                <a:cubicBezTo>
                  <a:pt x="0" y="879"/>
                  <a:pt x="127" y="795"/>
                  <a:pt x="349" y="761"/>
                </a:cubicBezTo>
                <a:close/>
              </a:path>
            </a:pathLst>
          </a:custGeom>
          <a:solidFill>
            <a:srgbClr val="66CCFF"/>
          </a:solidFill>
          <a:ln w="9525">
            <a:noFill/>
            <a:round/>
            <a:headEnd/>
            <a:tailEnd/>
          </a:ln>
        </p:spPr>
        <p:txBody>
          <a:bodyPr wrap="none" anchor="ctr"/>
          <a:lstStyle/>
          <a:p>
            <a:endParaRPr lang="zh-CN" altLang="en-US"/>
          </a:p>
        </p:txBody>
      </p:sp>
      <p:graphicFrame>
        <p:nvGraphicFramePr>
          <p:cNvPr id="57" name="Object 27"/>
          <p:cNvGraphicFramePr>
            <a:graphicFrameLocks noGrp="1" noChangeAspect="1"/>
          </p:cNvGraphicFramePr>
          <p:nvPr>
            <p:ph sz="half" idx="4294967295"/>
          </p:nvPr>
        </p:nvGraphicFramePr>
        <p:xfrm>
          <a:off x="8635712" y="3186675"/>
          <a:ext cx="555625" cy="402769"/>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57" name="Object 27"/>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5712" y="3186675"/>
                        <a:ext cx="555625" cy="40276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8" name="Object 30"/>
          <p:cNvGraphicFramePr>
            <a:graphicFrameLocks noChangeAspect="1"/>
          </p:cNvGraphicFramePr>
          <p:nvPr/>
        </p:nvGraphicFramePr>
        <p:xfrm>
          <a:off x="8684924" y="3872209"/>
          <a:ext cx="579438" cy="419321"/>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58"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4924" y="3872209"/>
                        <a:ext cx="579438" cy="41932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 name="Object 31"/>
          <p:cNvGraphicFramePr>
            <a:graphicFrameLocks noChangeAspect="1"/>
          </p:cNvGraphicFramePr>
          <p:nvPr/>
        </p:nvGraphicFramePr>
        <p:xfrm>
          <a:off x="8656349" y="4537053"/>
          <a:ext cx="563563" cy="408286"/>
        </p:xfrm>
        <a:graphic>
          <a:graphicData uri="http://schemas.openxmlformats.org/presentationml/2006/ole">
            <mc:AlternateContent xmlns:mc="http://schemas.openxmlformats.org/markup-compatibility/2006">
              <mc:Choice xmlns:v="urn:schemas-microsoft-com:vml" Requires="v">
                <p:oleObj name="Clip" r:id="rId3" imgW="1307263" imgH="1084139" progId="">
                  <p:embed/>
                </p:oleObj>
              </mc:Choice>
              <mc:Fallback>
                <p:oleObj name="Clip" r:id="rId3" imgW="1307263" imgH="1084139" progId="">
                  <p:embed/>
                  <p:pic>
                    <p:nvPicPr>
                      <p:cNvPr id="59"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56349" y="4537053"/>
                        <a:ext cx="563563" cy="408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 name="Line 32"/>
          <p:cNvSpPr>
            <a:spLocks noChangeShapeType="1"/>
          </p:cNvSpPr>
          <p:nvPr/>
        </p:nvSpPr>
        <p:spPr bwMode="auto">
          <a:xfrm>
            <a:off x="5721062" y="4065317"/>
            <a:ext cx="3025775" cy="5517"/>
          </a:xfrm>
          <a:prstGeom prst="line">
            <a:avLst/>
          </a:prstGeom>
          <a:noFill/>
          <a:ln w="19050">
            <a:solidFill>
              <a:schemeClr val="tx1"/>
            </a:solidFill>
            <a:round/>
            <a:headEnd/>
            <a:tailEnd/>
          </a:ln>
        </p:spPr>
        <p:txBody>
          <a:bodyPr wrap="none"/>
          <a:lstStyle/>
          <a:p>
            <a:endParaRPr lang="zh-CN" altLang="en-US"/>
          </a:p>
        </p:txBody>
      </p:sp>
      <p:sp>
        <p:nvSpPr>
          <p:cNvPr id="61" name="Line 33"/>
          <p:cNvSpPr>
            <a:spLocks noChangeShapeType="1"/>
          </p:cNvSpPr>
          <p:nvPr/>
        </p:nvSpPr>
        <p:spPr bwMode="auto">
          <a:xfrm flipH="1">
            <a:off x="8556337" y="3419784"/>
            <a:ext cx="9525" cy="1296584"/>
          </a:xfrm>
          <a:prstGeom prst="line">
            <a:avLst/>
          </a:prstGeom>
          <a:noFill/>
          <a:ln w="19050">
            <a:solidFill>
              <a:schemeClr val="tx1"/>
            </a:solidFill>
            <a:round/>
            <a:headEnd/>
            <a:tailEnd/>
          </a:ln>
        </p:spPr>
        <p:txBody>
          <a:bodyPr wrap="none"/>
          <a:lstStyle/>
          <a:p>
            <a:endParaRPr lang="zh-CN" altLang="en-US"/>
          </a:p>
        </p:txBody>
      </p:sp>
      <p:sp>
        <p:nvSpPr>
          <p:cNvPr id="62" name="Line 34"/>
          <p:cNvSpPr>
            <a:spLocks noChangeShapeType="1"/>
          </p:cNvSpPr>
          <p:nvPr/>
        </p:nvSpPr>
        <p:spPr bwMode="auto">
          <a:xfrm>
            <a:off x="8561099" y="3415646"/>
            <a:ext cx="133350" cy="5517"/>
          </a:xfrm>
          <a:prstGeom prst="line">
            <a:avLst/>
          </a:prstGeom>
          <a:noFill/>
          <a:ln w="19050">
            <a:solidFill>
              <a:schemeClr val="tx1"/>
            </a:solidFill>
            <a:round/>
            <a:headEnd/>
            <a:tailEnd/>
          </a:ln>
        </p:spPr>
        <p:txBody>
          <a:bodyPr wrap="none"/>
          <a:lstStyle/>
          <a:p>
            <a:endParaRPr lang="zh-CN" altLang="en-US"/>
          </a:p>
        </p:txBody>
      </p:sp>
      <p:sp>
        <p:nvSpPr>
          <p:cNvPr id="63" name="Line 35"/>
          <p:cNvSpPr>
            <a:spLocks noChangeShapeType="1"/>
          </p:cNvSpPr>
          <p:nvPr/>
        </p:nvSpPr>
        <p:spPr bwMode="auto">
          <a:xfrm flipV="1">
            <a:off x="8567449" y="4723265"/>
            <a:ext cx="171450" cy="0"/>
          </a:xfrm>
          <a:prstGeom prst="line">
            <a:avLst/>
          </a:prstGeom>
          <a:noFill/>
          <a:ln w="19050">
            <a:solidFill>
              <a:schemeClr val="tx1"/>
            </a:solidFill>
            <a:round/>
            <a:headEnd/>
            <a:tailEnd/>
          </a:ln>
        </p:spPr>
        <p:txBody>
          <a:bodyPr wrap="none"/>
          <a:lstStyle/>
          <a:p>
            <a:endParaRPr lang="zh-CN" altLang="en-US"/>
          </a:p>
        </p:txBody>
      </p:sp>
      <p:sp>
        <p:nvSpPr>
          <p:cNvPr id="64" name="Text Box 36"/>
          <p:cNvSpPr txBox="1">
            <a:spLocks noChangeArrowheads="1"/>
          </p:cNvSpPr>
          <p:nvPr/>
        </p:nvSpPr>
        <p:spPr bwMode="auto">
          <a:xfrm>
            <a:off x="9186574" y="3185295"/>
            <a:ext cx="892175" cy="292421"/>
          </a:xfrm>
          <a:prstGeom prst="rect">
            <a:avLst/>
          </a:prstGeom>
          <a:noFill/>
          <a:ln w="9525">
            <a:noFill/>
            <a:miter lim="800000"/>
            <a:headEnd/>
            <a:tailEnd/>
          </a:ln>
        </p:spPr>
        <p:txBody>
          <a:bodyPr wrap="none">
            <a:spAutoFit/>
          </a:bodyPr>
          <a:lstStyle/>
          <a:p>
            <a:r>
              <a:rPr lang="en-US" altLang="zh-CN" sz="1600">
                <a:ea typeface="宋体" charset="-122"/>
              </a:rPr>
              <a:t>10.0.0.1</a:t>
            </a:r>
          </a:p>
        </p:txBody>
      </p:sp>
      <p:sp>
        <p:nvSpPr>
          <p:cNvPr id="65" name="Text Box 37"/>
          <p:cNvSpPr txBox="1">
            <a:spLocks noChangeArrowheads="1"/>
          </p:cNvSpPr>
          <p:nvPr/>
        </p:nvSpPr>
        <p:spPr bwMode="auto">
          <a:xfrm>
            <a:off x="9313574" y="3852898"/>
            <a:ext cx="923925" cy="292421"/>
          </a:xfrm>
          <a:prstGeom prst="rect">
            <a:avLst/>
          </a:prstGeom>
          <a:noFill/>
          <a:ln w="9525">
            <a:noFill/>
            <a:miter lim="800000"/>
            <a:headEnd/>
            <a:tailEnd/>
          </a:ln>
        </p:spPr>
        <p:txBody>
          <a:bodyPr wrap="none">
            <a:spAutoFit/>
          </a:bodyPr>
          <a:lstStyle/>
          <a:p>
            <a:r>
              <a:rPr lang="en-US" altLang="zh-CN" sz="1600">
                <a:ea typeface="宋体" charset="-122"/>
              </a:rPr>
              <a:t>10.0.0.2</a:t>
            </a:r>
          </a:p>
        </p:txBody>
      </p:sp>
      <p:sp>
        <p:nvSpPr>
          <p:cNvPr id="66" name="Text Box 38"/>
          <p:cNvSpPr txBox="1">
            <a:spLocks noChangeArrowheads="1"/>
          </p:cNvSpPr>
          <p:nvPr/>
        </p:nvSpPr>
        <p:spPr bwMode="auto">
          <a:xfrm>
            <a:off x="9275474" y="4630849"/>
            <a:ext cx="923925" cy="292421"/>
          </a:xfrm>
          <a:prstGeom prst="rect">
            <a:avLst/>
          </a:prstGeom>
          <a:noFill/>
          <a:ln w="9525">
            <a:noFill/>
            <a:miter lim="800000"/>
            <a:headEnd/>
            <a:tailEnd/>
          </a:ln>
        </p:spPr>
        <p:txBody>
          <a:bodyPr wrap="none">
            <a:spAutoFit/>
          </a:bodyPr>
          <a:lstStyle/>
          <a:p>
            <a:r>
              <a:rPr lang="en-US" altLang="zh-CN" sz="1600">
                <a:ea typeface="宋体" charset="-122"/>
              </a:rPr>
              <a:t>10.0.0.3</a:t>
            </a:r>
          </a:p>
        </p:txBody>
      </p:sp>
      <p:grpSp>
        <p:nvGrpSpPr>
          <p:cNvPr id="67" name="Group 88"/>
          <p:cNvGrpSpPr>
            <a:grpSpLocks/>
          </p:cNvGrpSpPr>
          <p:nvPr/>
        </p:nvGrpSpPr>
        <p:grpSpPr bwMode="auto">
          <a:xfrm>
            <a:off x="6773574" y="2862531"/>
            <a:ext cx="1871663" cy="897955"/>
            <a:chOff x="3550" y="2055"/>
            <a:chExt cx="1179" cy="651"/>
          </a:xfrm>
        </p:grpSpPr>
        <p:grpSp>
          <p:nvGrpSpPr>
            <p:cNvPr id="139" name="Group 50"/>
            <p:cNvGrpSpPr>
              <a:grpSpLocks/>
            </p:cNvGrpSpPr>
            <p:nvPr/>
          </p:nvGrpSpPr>
          <p:grpSpPr bwMode="auto">
            <a:xfrm>
              <a:off x="3550" y="2055"/>
              <a:ext cx="1179" cy="373"/>
              <a:chOff x="4381" y="786"/>
              <a:chExt cx="1108" cy="373"/>
            </a:xfrm>
          </p:grpSpPr>
          <p:sp>
            <p:nvSpPr>
              <p:cNvPr id="144" name="Rectangle 40"/>
              <p:cNvSpPr>
                <a:spLocks noChangeArrowheads="1"/>
              </p:cNvSpPr>
              <p:nvPr/>
            </p:nvSpPr>
            <p:spPr bwMode="auto">
              <a:xfrm>
                <a:off x="4385" y="860"/>
                <a:ext cx="1104" cy="299"/>
              </a:xfrm>
              <a:prstGeom prst="rect">
                <a:avLst/>
              </a:prstGeom>
              <a:solidFill>
                <a:schemeClr val="bg1"/>
              </a:solidFill>
              <a:ln w="9525">
                <a:solidFill>
                  <a:schemeClr val="tx1"/>
                </a:solidFill>
                <a:miter lim="800000"/>
                <a:headEnd/>
                <a:tailEnd/>
              </a:ln>
            </p:spPr>
            <p:txBody>
              <a:bodyPr wrap="none" anchor="ctr"/>
              <a:lstStyle/>
              <a:p>
                <a:endParaRPr lang="zh-CN" altLang="en-US">
                  <a:ea typeface="宋体" charset="-122"/>
                </a:endParaRPr>
              </a:p>
            </p:txBody>
          </p:sp>
          <p:sp>
            <p:nvSpPr>
              <p:cNvPr id="145" name="Text Box 39"/>
              <p:cNvSpPr txBox="1">
                <a:spLocks noChangeArrowheads="1"/>
              </p:cNvSpPr>
              <p:nvPr/>
            </p:nvSpPr>
            <p:spPr bwMode="auto">
              <a:xfrm>
                <a:off x="4381" y="849"/>
                <a:ext cx="1045" cy="288"/>
              </a:xfrm>
              <a:prstGeom prst="rect">
                <a:avLst/>
              </a:prstGeom>
              <a:noFill/>
              <a:ln w="9525">
                <a:noFill/>
                <a:miter lim="800000"/>
                <a:headEnd/>
                <a:tailEnd/>
              </a:ln>
            </p:spPr>
            <p:txBody>
              <a:bodyPr>
                <a:spAutoFit/>
              </a:bodyPr>
              <a:lstStyle/>
              <a:p>
                <a:r>
                  <a:rPr lang="en-US" altLang="zh-CN" sz="1200" dirty="0">
                    <a:ea typeface="宋体" charset="-122"/>
                  </a:rPr>
                  <a:t>S: 10.0.0.1, 3345</a:t>
                </a:r>
              </a:p>
              <a:p>
                <a:r>
                  <a:rPr lang="en-US" altLang="zh-CN" sz="1200" dirty="0">
                    <a:ea typeface="宋体" charset="-122"/>
                  </a:rPr>
                  <a:t>D: 128.119.40.186, 80</a:t>
                </a:r>
              </a:p>
            </p:txBody>
          </p:sp>
          <p:grpSp>
            <p:nvGrpSpPr>
              <p:cNvPr id="146" name="Group 44"/>
              <p:cNvGrpSpPr>
                <a:grpSpLocks/>
              </p:cNvGrpSpPr>
              <p:nvPr/>
            </p:nvGrpSpPr>
            <p:grpSpPr bwMode="auto">
              <a:xfrm>
                <a:off x="5394" y="786"/>
                <a:ext cx="48" cy="99"/>
                <a:chOff x="5508" y="1599"/>
                <a:chExt cx="48" cy="99"/>
              </a:xfrm>
            </p:grpSpPr>
            <p:sp>
              <p:nvSpPr>
                <p:cNvPr id="151" name="Freeform 43"/>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w="9525" cap="flat" cmpd="sng">
                  <a:noFill/>
                  <a:prstDash val="solid"/>
                  <a:round/>
                  <a:headEnd/>
                  <a:tailEnd/>
                </a:ln>
              </p:spPr>
              <p:txBody>
                <a:bodyPr wrap="none"/>
                <a:lstStyle/>
                <a:p>
                  <a:endParaRPr lang="zh-CN" altLang="en-US"/>
                </a:p>
              </p:txBody>
            </p:sp>
            <p:sp>
              <p:nvSpPr>
                <p:cNvPr id="152" name="Line 41"/>
                <p:cNvSpPr>
                  <a:spLocks noChangeShapeType="1"/>
                </p:cNvSpPr>
                <p:nvPr/>
              </p:nvSpPr>
              <p:spPr bwMode="auto">
                <a:xfrm flipH="1">
                  <a:off x="5512" y="1608"/>
                  <a:ext cx="20" cy="68"/>
                </a:xfrm>
                <a:prstGeom prst="line">
                  <a:avLst/>
                </a:prstGeom>
                <a:noFill/>
                <a:ln w="9525">
                  <a:solidFill>
                    <a:schemeClr val="tx1"/>
                  </a:solidFill>
                  <a:round/>
                  <a:headEnd/>
                  <a:tailEnd/>
                </a:ln>
              </p:spPr>
              <p:txBody>
                <a:bodyPr wrap="none"/>
                <a:lstStyle/>
                <a:p>
                  <a:endParaRPr lang="zh-CN" altLang="en-US"/>
                </a:p>
              </p:txBody>
            </p:sp>
            <p:sp>
              <p:nvSpPr>
                <p:cNvPr id="153" name="Line 42"/>
                <p:cNvSpPr>
                  <a:spLocks noChangeShapeType="1"/>
                </p:cNvSpPr>
                <p:nvPr/>
              </p:nvSpPr>
              <p:spPr bwMode="auto">
                <a:xfrm flipH="1">
                  <a:off x="5536" y="1620"/>
                  <a:ext cx="20" cy="68"/>
                </a:xfrm>
                <a:prstGeom prst="line">
                  <a:avLst/>
                </a:prstGeom>
                <a:noFill/>
                <a:ln w="9525">
                  <a:solidFill>
                    <a:schemeClr val="tx1"/>
                  </a:solidFill>
                  <a:round/>
                  <a:headEnd/>
                  <a:tailEnd/>
                </a:ln>
              </p:spPr>
              <p:txBody>
                <a:bodyPr wrap="none"/>
                <a:lstStyle/>
                <a:p>
                  <a:endParaRPr lang="zh-CN" altLang="en-US"/>
                </a:p>
              </p:txBody>
            </p:sp>
          </p:grpSp>
          <p:grpSp>
            <p:nvGrpSpPr>
              <p:cNvPr id="147" name="Group 45"/>
              <p:cNvGrpSpPr>
                <a:grpSpLocks/>
              </p:cNvGrpSpPr>
              <p:nvPr/>
            </p:nvGrpSpPr>
            <p:grpSpPr bwMode="auto">
              <a:xfrm>
                <a:off x="5382" y="1044"/>
                <a:ext cx="48" cy="99"/>
                <a:chOff x="5508" y="1599"/>
                <a:chExt cx="48" cy="99"/>
              </a:xfrm>
            </p:grpSpPr>
            <p:sp>
              <p:nvSpPr>
                <p:cNvPr id="148" name="Freeform 46"/>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w="9525" cap="flat" cmpd="sng">
                  <a:noFill/>
                  <a:prstDash val="solid"/>
                  <a:round/>
                  <a:headEnd/>
                  <a:tailEnd/>
                </a:ln>
              </p:spPr>
              <p:txBody>
                <a:bodyPr wrap="none"/>
                <a:lstStyle/>
                <a:p>
                  <a:endParaRPr lang="zh-CN" altLang="en-US"/>
                </a:p>
              </p:txBody>
            </p:sp>
            <p:sp>
              <p:nvSpPr>
                <p:cNvPr id="149" name="Line 47"/>
                <p:cNvSpPr>
                  <a:spLocks noChangeShapeType="1"/>
                </p:cNvSpPr>
                <p:nvPr/>
              </p:nvSpPr>
              <p:spPr bwMode="auto">
                <a:xfrm flipH="1">
                  <a:off x="5512" y="1608"/>
                  <a:ext cx="20" cy="68"/>
                </a:xfrm>
                <a:prstGeom prst="line">
                  <a:avLst/>
                </a:prstGeom>
                <a:noFill/>
                <a:ln w="9525">
                  <a:solidFill>
                    <a:schemeClr val="tx1"/>
                  </a:solidFill>
                  <a:round/>
                  <a:headEnd/>
                  <a:tailEnd/>
                </a:ln>
              </p:spPr>
              <p:txBody>
                <a:bodyPr wrap="none"/>
                <a:lstStyle/>
                <a:p>
                  <a:endParaRPr lang="zh-CN" altLang="en-US"/>
                </a:p>
              </p:txBody>
            </p:sp>
            <p:sp>
              <p:nvSpPr>
                <p:cNvPr id="150" name="Line 48"/>
                <p:cNvSpPr>
                  <a:spLocks noChangeShapeType="1"/>
                </p:cNvSpPr>
                <p:nvPr/>
              </p:nvSpPr>
              <p:spPr bwMode="auto">
                <a:xfrm flipH="1">
                  <a:off x="5536" y="1620"/>
                  <a:ext cx="20" cy="68"/>
                </a:xfrm>
                <a:prstGeom prst="line">
                  <a:avLst/>
                </a:prstGeom>
                <a:noFill/>
                <a:ln w="9525">
                  <a:solidFill>
                    <a:schemeClr val="tx1"/>
                  </a:solidFill>
                  <a:round/>
                  <a:headEnd/>
                  <a:tailEnd/>
                </a:ln>
              </p:spPr>
              <p:txBody>
                <a:bodyPr wrap="none"/>
                <a:lstStyle/>
                <a:p>
                  <a:endParaRPr lang="zh-CN" altLang="en-US"/>
                </a:p>
              </p:txBody>
            </p:sp>
          </p:grpSp>
        </p:grpSp>
        <p:sp>
          <p:nvSpPr>
            <p:cNvPr id="140" name="Freeform 51"/>
            <p:cNvSpPr>
              <a:spLocks/>
            </p:cNvSpPr>
            <p:nvPr/>
          </p:nvSpPr>
          <p:spPr bwMode="auto">
            <a:xfrm>
              <a:off x="3573" y="2364"/>
              <a:ext cx="564" cy="342"/>
            </a:xfrm>
            <a:custGeom>
              <a:avLst/>
              <a:gdLst>
                <a:gd name="T0" fmla="*/ 0 w 417"/>
                <a:gd name="T1" fmla="*/ 1755030 h 264"/>
                <a:gd name="T2" fmla="*/ 12002035 w 417"/>
                <a:gd name="T3" fmla="*/ 1755030 h 264"/>
                <a:gd name="T4" fmla="*/ 12002035 w 417"/>
                <a:gd name="T5" fmla="*/ 0 h 264"/>
                <a:gd name="T6" fmla="*/ 0 60000 65536"/>
                <a:gd name="T7" fmla="*/ 0 60000 65536"/>
                <a:gd name="T8" fmla="*/ 0 60000 65536"/>
                <a:gd name="T9" fmla="*/ 0 w 417"/>
                <a:gd name="T10" fmla="*/ 0 h 264"/>
                <a:gd name="T11" fmla="*/ 417 w 417"/>
                <a:gd name="T12" fmla="*/ 264 h 264"/>
              </a:gdLst>
              <a:ahLst/>
              <a:cxnLst>
                <a:cxn ang="T6">
                  <a:pos x="T0" y="T1"/>
                </a:cxn>
                <a:cxn ang="T7">
                  <a:pos x="T2" y="T3"/>
                </a:cxn>
                <a:cxn ang="T8">
                  <a:pos x="T4" y="T5"/>
                </a:cxn>
              </a:cxnLst>
              <a:rect l="T9" t="T10" r="T11" b="T12"/>
              <a:pathLst>
                <a:path w="417" h="264">
                  <a:moveTo>
                    <a:pt x="0" y="264"/>
                  </a:moveTo>
                  <a:lnTo>
                    <a:pt x="417" y="264"/>
                  </a:lnTo>
                  <a:lnTo>
                    <a:pt x="417" y="0"/>
                  </a:lnTo>
                </a:path>
              </a:pathLst>
            </a:custGeom>
            <a:noFill/>
            <a:ln w="28575" cap="flat" cmpd="sng">
              <a:solidFill>
                <a:schemeClr val="tx1"/>
              </a:solidFill>
              <a:prstDash val="solid"/>
              <a:round/>
              <a:headEnd type="triangle" w="med" len="med"/>
              <a:tailEnd type="none" w="med" len="med"/>
            </a:ln>
          </p:spPr>
          <p:txBody>
            <a:bodyPr wrap="none"/>
            <a:lstStyle/>
            <a:p>
              <a:endParaRPr lang="zh-CN" altLang="en-US"/>
            </a:p>
          </p:txBody>
        </p:sp>
        <p:grpSp>
          <p:nvGrpSpPr>
            <p:cNvPr id="141" name="Group 87"/>
            <p:cNvGrpSpPr>
              <a:grpSpLocks/>
            </p:cNvGrpSpPr>
            <p:nvPr/>
          </p:nvGrpSpPr>
          <p:grpSpPr bwMode="auto">
            <a:xfrm>
              <a:off x="4032" y="2419"/>
              <a:ext cx="240" cy="233"/>
              <a:chOff x="5140" y="403"/>
              <a:chExt cx="240" cy="233"/>
            </a:xfrm>
          </p:grpSpPr>
          <p:sp>
            <p:nvSpPr>
              <p:cNvPr id="142" name="Oval 86"/>
              <p:cNvSpPr>
                <a:spLocks noChangeArrowheads="1"/>
              </p:cNvSpPr>
              <p:nvPr/>
            </p:nvSpPr>
            <p:spPr bwMode="auto">
              <a:xfrm>
                <a:off x="5140" y="410"/>
                <a:ext cx="240" cy="226"/>
              </a:xfrm>
              <a:prstGeom prst="ellipse">
                <a:avLst/>
              </a:prstGeom>
              <a:solidFill>
                <a:schemeClr val="bg1"/>
              </a:solidFill>
              <a:ln w="9525">
                <a:solidFill>
                  <a:srgbClr val="C00000"/>
                </a:solidFill>
                <a:round/>
                <a:headEnd/>
                <a:tailEnd/>
              </a:ln>
            </p:spPr>
            <p:txBody>
              <a:bodyPr wrap="none" anchor="ctr"/>
              <a:lstStyle/>
              <a:p>
                <a:endParaRPr lang="zh-CN" altLang="en-US">
                  <a:ea typeface="宋体" charset="-122"/>
                </a:endParaRPr>
              </a:p>
            </p:txBody>
          </p:sp>
          <p:sp>
            <p:nvSpPr>
              <p:cNvPr id="143" name="Text Box 52"/>
              <p:cNvSpPr txBox="1">
                <a:spLocks noChangeArrowheads="1"/>
              </p:cNvSpPr>
              <p:nvPr/>
            </p:nvSpPr>
            <p:spPr bwMode="auto">
              <a:xfrm>
                <a:off x="5154" y="403"/>
                <a:ext cx="193" cy="233"/>
              </a:xfrm>
              <a:prstGeom prst="rect">
                <a:avLst/>
              </a:prstGeom>
              <a:noFill/>
              <a:ln w="9525">
                <a:noFill/>
                <a:miter lim="800000"/>
                <a:headEnd/>
                <a:tailEnd/>
              </a:ln>
            </p:spPr>
            <p:txBody>
              <a:bodyPr wrap="none">
                <a:spAutoFit/>
              </a:bodyPr>
              <a:lstStyle/>
              <a:p>
                <a:r>
                  <a:rPr lang="en-US" altLang="zh-CN" dirty="0">
                    <a:solidFill>
                      <a:srgbClr val="C00000"/>
                    </a:solidFill>
                    <a:ea typeface="宋体" charset="-122"/>
                  </a:rPr>
                  <a:t>1</a:t>
                </a:r>
              </a:p>
            </p:txBody>
          </p:sp>
        </p:grpSp>
      </p:grpSp>
      <p:sp>
        <p:nvSpPr>
          <p:cNvPr id="68" name="Text Box 54"/>
          <p:cNvSpPr txBox="1">
            <a:spLocks noChangeArrowheads="1"/>
          </p:cNvSpPr>
          <p:nvPr/>
        </p:nvSpPr>
        <p:spPr bwMode="auto">
          <a:xfrm>
            <a:off x="5671849" y="3698412"/>
            <a:ext cx="923925" cy="292421"/>
          </a:xfrm>
          <a:prstGeom prst="rect">
            <a:avLst/>
          </a:prstGeom>
          <a:noFill/>
          <a:ln w="9525">
            <a:noFill/>
            <a:miter lim="800000"/>
            <a:headEnd/>
            <a:tailEnd/>
          </a:ln>
        </p:spPr>
        <p:txBody>
          <a:bodyPr wrap="none">
            <a:spAutoFit/>
          </a:bodyPr>
          <a:lstStyle/>
          <a:p>
            <a:r>
              <a:rPr lang="en-US" altLang="zh-CN" sz="1600">
                <a:ea typeface="宋体" charset="-122"/>
              </a:rPr>
              <a:t>10.0.0.4</a:t>
            </a:r>
          </a:p>
        </p:txBody>
      </p:sp>
      <p:sp>
        <p:nvSpPr>
          <p:cNvPr id="69" name="Line 55"/>
          <p:cNvSpPr>
            <a:spLocks noChangeShapeType="1"/>
          </p:cNvSpPr>
          <p:nvPr/>
        </p:nvSpPr>
        <p:spPr bwMode="auto">
          <a:xfrm flipH="1">
            <a:off x="5795674" y="3916348"/>
            <a:ext cx="85725" cy="111727"/>
          </a:xfrm>
          <a:prstGeom prst="line">
            <a:avLst/>
          </a:prstGeom>
          <a:noFill/>
          <a:ln w="19050">
            <a:solidFill>
              <a:schemeClr val="tx1"/>
            </a:solidFill>
            <a:round/>
            <a:headEnd/>
            <a:tailEnd type="triangle" w="med" len="med"/>
          </a:ln>
        </p:spPr>
        <p:txBody>
          <a:bodyPr wrap="none"/>
          <a:lstStyle/>
          <a:p>
            <a:endParaRPr lang="zh-CN" altLang="en-US"/>
          </a:p>
        </p:txBody>
      </p:sp>
      <p:sp>
        <p:nvSpPr>
          <p:cNvPr id="70" name="Text Box 56"/>
          <p:cNvSpPr txBox="1">
            <a:spLocks noChangeArrowheads="1"/>
          </p:cNvSpPr>
          <p:nvPr/>
        </p:nvSpPr>
        <p:spPr bwMode="auto">
          <a:xfrm>
            <a:off x="3833524" y="4182562"/>
            <a:ext cx="1295400" cy="292421"/>
          </a:xfrm>
          <a:prstGeom prst="rect">
            <a:avLst/>
          </a:prstGeom>
          <a:noFill/>
          <a:ln w="9525">
            <a:noFill/>
            <a:miter lim="800000"/>
            <a:headEnd/>
            <a:tailEnd/>
          </a:ln>
        </p:spPr>
        <p:txBody>
          <a:bodyPr wrap="none">
            <a:spAutoFit/>
          </a:bodyPr>
          <a:lstStyle/>
          <a:p>
            <a:r>
              <a:rPr lang="en-US" altLang="zh-CN" sz="1600">
                <a:ea typeface="宋体" charset="-122"/>
              </a:rPr>
              <a:t>138.76.29.7</a:t>
            </a:r>
          </a:p>
        </p:txBody>
      </p:sp>
      <p:sp>
        <p:nvSpPr>
          <p:cNvPr id="71" name="Line 57"/>
          <p:cNvSpPr>
            <a:spLocks noChangeShapeType="1"/>
          </p:cNvSpPr>
          <p:nvPr/>
        </p:nvSpPr>
        <p:spPr bwMode="auto">
          <a:xfrm flipH="1">
            <a:off x="5055899" y="4123250"/>
            <a:ext cx="85725" cy="111727"/>
          </a:xfrm>
          <a:prstGeom prst="line">
            <a:avLst/>
          </a:prstGeom>
          <a:noFill/>
          <a:ln w="19050">
            <a:solidFill>
              <a:schemeClr val="tx1"/>
            </a:solidFill>
            <a:round/>
            <a:headEnd type="triangle" w="med" len="med"/>
            <a:tailEnd/>
          </a:ln>
        </p:spPr>
        <p:txBody>
          <a:bodyPr wrap="none"/>
          <a:lstStyle/>
          <a:p>
            <a:endParaRPr lang="zh-CN" altLang="en-US"/>
          </a:p>
        </p:txBody>
      </p:sp>
      <p:grpSp>
        <p:nvGrpSpPr>
          <p:cNvPr id="72" name="Group 59"/>
          <p:cNvGrpSpPr>
            <a:grpSpLocks/>
          </p:cNvGrpSpPr>
          <p:nvPr/>
        </p:nvGrpSpPr>
        <p:grpSpPr bwMode="auto">
          <a:xfrm>
            <a:off x="7607018" y="1716294"/>
            <a:ext cx="3702052" cy="1231754"/>
            <a:chOff x="3944" y="971"/>
            <a:chExt cx="2332" cy="893"/>
          </a:xfrm>
        </p:grpSpPr>
        <p:sp>
          <p:nvSpPr>
            <p:cNvPr id="137" name="Text Box 53"/>
            <p:cNvSpPr txBox="1">
              <a:spLocks noChangeArrowheads="1"/>
            </p:cNvSpPr>
            <p:nvPr/>
          </p:nvSpPr>
          <p:spPr bwMode="auto">
            <a:xfrm>
              <a:off x="4121" y="971"/>
              <a:ext cx="2155" cy="469"/>
            </a:xfrm>
            <a:prstGeom prst="rect">
              <a:avLst/>
            </a:prstGeom>
            <a:noFill/>
            <a:ln w="9525">
              <a:noFill/>
              <a:miter lim="800000"/>
              <a:headEnd/>
              <a:tailEnd/>
            </a:ln>
          </p:spPr>
          <p:txBody>
            <a:bodyPr wrap="none">
              <a:spAutoFit/>
            </a:bodyPr>
            <a:lstStyle/>
            <a:p>
              <a:r>
                <a:rPr lang="en-US" altLang="zh-CN" u="sng" dirty="0">
                  <a:solidFill>
                    <a:srgbClr val="C00000"/>
                  </a:solidFill>
                  <a:ea typeface="宋体" charset="-122"/>
                </a:rPr>
                <a:t>1: </a:t>
              </a:r>
              <a:r>
                <a:rPr lang="zh-CN" altLang="en-US" u="sng" dirty="0">
                  <a:solidFill>
                    <a:srgbClr val="C00000"/>
                  </a:solidFill>
                  <a:ea typeface="宋体" charset="-122"/>
                </a:rPr>
                <a:t>主机</a:t>
              </a:r>
              <a:r>
                <a:rPr lang="en-US" altLang="zh-CN" u="sng" dirty="0">
                  <a:solidFill>
                    <a:srgbClr val="C00000"/>
                  </a:solidFill>
                  <a:ea typeface="宋体" charset="-122"/>
                </a:rPr>
                <a:t>10.0.0.1 </a:t>
              </a:r>
            </a:p>
            <a:p>
              <a:r>
                <a:rPr lang="zh-CN" altLang="en-US" u="sng" dirty="0">
                  <a:solidFill>
                    <a:srgbClr val="C00000"/>
                  </a:solidFill>
                  <a:ea typeface="宋体" charset="-122"/>
                </a:rPr>
                <a:t>发送数据包到</a:t>
              </a:r>
              <a:r>
                <a:rPr lang="en-US" altLang="zh-CN" u="sng" dirty="0">
                  <a:solidFill>
                    <a:srgbClr val="C00000"/>
                  </a:solidFill>
                  <a:ea typeface="宋体" charset="-122"/>
                </a:rPr>
                <a:t>128.119.40.186, 80</a:t>
              </a:r>
            </a:p>
          </p:txBody>
        </p:sp>
        <p:sp>
          <p:nvSpPr>
            <p:cNvPr id="138" name="Line 58"/>
            <p:cNvSpPr>
              <a:spLocks noChangeShapeType="1"/>
            </p:cNvSpPr>
            <p:nvPr/>
          </p:nvSpPr>
          <p:spPr bwMode="auto">
            <a:xfrm flipH="1">
              <a:off x="3944" y="1105"/>
              <a:ext cx="197" cy="759"/>
            </a:xfrm>
            <a:prstGeom prst="line">
              <a:avLst/>
            </a:prstGeom>
            <a:noFill/>
            <a:ln w="19050">
              <a:solidFill>
                <a:srgbClr val="C00000"/>
              </a:solidFill>
              <a:round/>
              <a:headEnd/>
              <a:tailEnd type="triangle" w="med" len="med"/>
            </a:ln>
          </p:spPr>
          <p:txBody>
            <a:bodyPr wrap="none"/>
            <a:lstStyle/>
            <a:p>
              <a:endParaRPr lang="zh-CN" altLang="en-US"/>
            </a:p>
          </p:txBody>
        </p:sp>
      </p:grpSp>
      <p:sp>
        <p:nvSpPr>
          <p:cNvPr id="73" name="Freeform 67"/>
          <p:cNvSpPr>
            <a:spLocks/>
          </p:cNvSpPr>
          <p:nvPr/>
        </p:nvSpPr>
        <p:spPr bwMode="auto">
          <a:xfrm>
            <a:off x="3482687" y="2659765"/>
            <a:ext cx="3862387" cy="1331067"/>
          </a:xfrm>
          <a:custGeom>
            <a:avLst/>
            <a:gdLst>
              <a:gd name="T0" fmla="*/ 0 w 2433"/>
              <a:gd name="T1" fmla="*/ 2147483646 h 965"/>
              <a:gd name="T2" fmla="*/ 2147483646 w 2433"/>
              <a:gd name="T3" fmla="*/ 2147483646 h 965"/>
              <a:gd name="T4" fmla="*/ 2147483646 w 2433"/>
              <a:gd name="T5" fmla="*/ 2147483646 h 965"/>
              <a:gd name="T6" fmla="*/ 2147483646 w 2433"/>
              <a:gd name="T7" fmla="*/ 2147483646 h 965"/>
              <a:gd name="T8" fmla="*/ 2147483646 w 2433"/>
              <a:gd name="T9" fmla="*/ 2147483646 h 965"/>
              <a:gd name="T10" fmla="*/ 2147483646 w 2433"/>
              <a:gd name="T11" fmla="*/ 2147483646 h 965"/>
              <a:gd name="T12" fmla="*/ 0 w 2433"/>
              <a:gd name="T13" fmla="*/ 2147483646 h 965"/>
              <a:gd name="T14" fmla="*/ 0 60000 65536"/>
              <a:gd name="T15" fmla="*/ 0 60000 65536"/>
              <a:gd name="T16" fmla="*/ 0 60000 65536"/>
              <a:gd name="T17" fmla="*/ 0 60000 65536"/>
              <a:gd name="T18" fmla="*/ 0 60000 65536"/>
              <a:gd name="T19" fmla="*/ 0 60000 65536"/>
              <a:gd name="T20" fmla="*/ 0 60000 65536"/>
              <a:gd name="T21" fmla="*/ 0 w 2433"/>
              <a:gd name="T22" fmla="*/ 0 h 965"/>
              <a:gd name="T23" fmla="*/ 2433 w 2433"/>
              <a:gd name="T24" fmla="*/ 965 h 96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33" h="965">
                <a:moveTo>
                  <a:pt x="0" y="64"/>
                </a:moveTo>
                <a:cubicBezTo>
                  <a:pt x="0" y="64"/>
                  <a:pt x="2079" y="0"/>
                  <a:pt x="2352" y="64"/>
                </a:cubicBezTo>
                <a:cubicBezTo>
                  <a:pt x="2433" y="57"/>
                  <a:pt x="1814" y="309"/>
                  <a:pt x="1640" y="450"/>
                </a:cubicBezTo>
                <a:cubicBezTo>
                  <a:pt x="1466" y="591"/>
                  <a:pt x="1383" y="888"/>
                  <a:pt x="1308" y="965"/>
                </a:cubicBezTo>
                <a:lnTo>
                  <a:pt x="1159" y="965"/>
                </a:lnTo>
                <a:cubicBezTo>
                  <a:pt x="1078" y="870"/>
                  <a:pt x="1013" y="546"/>
                  <a:pt x="820" y="396"/>
                </a:cubicBezTo>
                <a:cubicBezTo>
                  <a:pt x="583" y="207"/>
                  <a:pt x="189" y="142"/>
                  <a:pt x="0" y="64"/>
                </a:cubicBezTo>
                <a:close/>
              </a:path>
            </a:pathLst>
          </a:custGeom>
          <a:gradFill rotWithShape="1">
            <a:gsLst>
              <a:gs pos="0">
                <a:schemeClr val="hlink"/>
              </a:gs>
              <a:gs pos="100000">
                <a:schemeClr val="bg1"/>
              </a:gs>
            </a:gsLst>
            <a:lin ang="5400000" scaled="1"/>
          </a:gradFill>
          <a:ln w="3175" cap="flat" cmpd="sng">
            <a:solidFill>
              <a:schemeClr val="hlink"/>
            </a:solidFill>
            <a:prstDash val="solid"/>
            <a:round/>
            <a:headEnd/>
            <a:tailEnd/>
          </a:ln>
        </p:spPr>
        <p:txBody>
          <a:bodyPr wrap="none"/>
          <a:lstStyle/>
          <a:p>
            <a:endParaRPr lang="zh-CN" altLang="en-US"/>
          </a:p>
        </p:txBody>
      </p:sp>
      <p:sp>
        <p:nvSpPr>
          <p:cNvPr id="74" name="Rectangle 62"/>
          <p:cNvSpPr>
            <a:spLocks noChangeArrowheads="1"/>
          </p:cNvSpPr>
          <p:nvPr/>
        </p:nvSpPr>
        <p:spPr bwMode="auto">
          <a:xfrm>
            <a:off x="3482687" y="1571462"/>
            <a:ext cx="3784600" cy="1176582"/>
          </a:xfrm>
          <a:prstGeom prst="rect">
            <a:avLst/>
          </a:prstGeom>
          <a:solidFill>
            <a:schemeClr val="bg1"/>
          </a:solidFill>
          <a:ln w="9525">
            <a:solidFill>
              <a:schemeClr val="tx1"/>
            </a:solidFill>
            <a:miter lim="800000"/>
            <a:headEnd/>
            <a:tailEnd/>
          </a:ln>
        </p:spPr>
        <p:txBody>
          <a:bodyPr wrap="none" anchor="ctr"/>
          <a:lstStyle/>
          <a:p>
            <a:endParaRPr lang="zh-CN" altLang="en-US">
              <a:ea typeface="宋体" charset="-122"/>
            </a:endParaRPr>
          </a:p>
        </p:txBody>
      </p:sp>
      <p:sp>
        <p:nvSpPr>
          <p:cNvPr id="75" name="Text Box 60"/>
          <p:cNvSpPr txBox="1">
            <a:spLocks noChangeArrowheads="1"/>
          </p:cNvSpPr>
          <p:nvPr/>
        </p:nvSpPr>
        <p:spPr bwMode="auto">
          <a:xfrm>
            <a:off x="3412429" y="1614222"/>
            <a:ext cx="3985386" cy="615553"/>
          </a:xfrm>
          <a:prstGeom prst="rect">
            <a:avLst/>
          </a:prstGeom>
          <a:noFill/>
          <a:ln w="9525">
            <a:noFill/>
            <a:miter lim="800000"/>
            <a:headEnd/>
            <a:tailEnd/>
          </a:ln>
        </p:spPr>
        <p:txBody>
          <a:bodyPr wrap="none">
            <a:spAutoFit/>
          </a:bodyPr>
          <a:lstStyle/>
          <a:p>
            <a:pPr algn="ctr"/>
            <a:r>
              <a:rPr lang="en-US" altLang="zh-CN" dirty="0">
                <a:ea typeface="宋体" charset="-122"/>
              </a:rPr>
              <a:t>NAT </a:t>
            </a:r>
            <a:r>
              <a:rPr lang="zh-CN" altLang="en-US" dirty="0">
                <a:ea typeface="宋体" charset="-122"/>
              </a:rPr>
              <a:t>转换表</a:t>
            </a:r>
            <a:endParaRPr lang="en-US" altLang="zh-CN" dirty="0">
              <a:ea typeface="宋体" charset="-122"/>
            </a:endParaRPr>
          </a:p>
          <a:p>
            <a:pPr algn="ctr"/>
            <a:r>
              <a:rPr lang="zh-CN" altLang="en-US" sz="1600" dirty="0">
                <a:ea typeface="宋体" charset="-122"/>
              </a:rPr>
              <a:t>广域网地址及端口</a:t>
            </a:r>
            <a:r>
              <a:rPr lang="en-US" altLang="zh-CN" sz="1600" dirty="0">
                <a:ea typeface="宋体" charset="-122"/>
              </a:rPr>
              <a:t>        </a:t>
            </a:r>
            <a:r>
              <a:rPr lang="zh-CN" altLang="en-US" sz="1600" dirty="0">
                <a:ea typeface="宋体" charset="-122"/>
              </a:rPr>
              <a:t>局域网地址及端口</a:t>
            </a:r>
            <a:endParaRPr lang="en-US" altLang="zh-CN" sz="1600" dirty="0">
              <a:ea typeface="宋体" charset="-122"/>
            </a:endParaRPr>
          </a:p>
        </p:txBody>
      </p:sp>
      <p:sp>
        <p:nvSpPr>
          <p:cNvPr id="76" name="Line 63"/>
          <p:cNvSpPr>
            <a:spLocks noChangeShapeType="1"/>
          </p:cNvSpPr>
          <p:nvPr/>
        </p:nvSpPr>
        <p:spPr bwMode="auto">
          <a:xfrm flipV="1">
            <a:off x="3482687" y="1895608"/>
            <a:ext cx="3790950" cy="9655"/>
          </a:xfrm>
          <a:prstGeom prst="line">
            <a:avLst/>
          </a:prstGeom>
          <a:noFill/>
          <a:ln w="9525">
            <a:solidFill>
              <a:schemeClr val="tx1"/>
            </a:solidFill>
            <a:round/>
            <a:headEnd/>
            <a:tailEnd/>
          </a:ln>
        </p:spPr>
        <p:txBody>
          <a:bodyPr wrap="none"/>
          <a:lstStyle/>
          <a:p>
            <a:endParaRPr lang="zh-CN" altLang="en-US"/>
          </a:p>
        </p:txBody>
      </p:sp>
      <p:sp>
        <p:nvSpPr>
          <p:cNvPr id="77" name="Line 64"/>
          <p:cNvSpPr>
            <a:spLocks noChangeShapeType="1"/>
          </p:cNvSpPr>
          <p:nvPr/>
        </p:nvSpPr>
        <p:spPr bwMode="auto">
          <a:xfrm flipV="1">
            <a:off x="3496974" y="2136993"/>
            <a:ext cx="3749675" cy="9656"/>
          </a:xfrm>
          <a:prstGeom prst="line">
            <a:avLst/>
          </a:prstGeom>
          <a:noFill/>
          <a:ln w="9525">
            <a:solidFill>
              <a:schemeClr val="tx1"/>
            </a:solidFill>
            <a:round/>
            <a:headEnd/>
            <a:tailEnd/>
          </a:ln>
        </p:spPr>
        <p:txBody>
          <a:bodyPr wrap="none"/>
          <a:lstStyle/>
          <a:p>
            <a:endParaRPr lang="zh-CN" altLang="en-US"/>
          </a:p>
        </p:txBody>
      </p:sp>
      <p:sp>
        <p:nvSpPr>
          <p:cNvPr id="78" name="Line 65"/>
          <p:cNvSpPr>
            <a:spLocks noChangeShapeType="1"/>
          </p:cNvSpPr>
          <p:nvPr/>
        </p:nvSpPr>
        <p:spPr bwMode="auto">
          <a:xfrm>
            <a:off x="5606762" y="1914919"/>
            <a:ext cx="3175" cy="830366"/>
          </a:xfrm>
          <a:prstGeom prst="line">
            <a:avLst/>
          </a:prstGeom>
          <a:noFill/>
          <a:ln w="9525">
            <a:solidFill>
              <a:schemeClr val="tx1"/>
            </a:solidFill>
            <a:round/>
            <a:headEnd/>
            <a:tailEnd/>
          </a:ln>
        </p:spPr>
        <p:txBody>
          <a:bodyPr wrap="none"/>
          <a:lstStyle/>
          <a:p>
            <a:endParaRPr lang="zh-CN" altLang="en-US"/>
          </a:p>
        </p:txBody>
      </p:sp>
      <p:grpSp>
        <p:nvGrpSpPr>
          <p:cNvPr id="79" name="Group 10"/>
          <p:cNvGrpSpPr>
            <a:grpSpLocks/>
          </p:cNvGrpSpPr>
          <p:nvPr/>
        </p:nvGrpSpPr>
        <p:grpSpPr bwMode="auto">
          <a:xfrm>
            <a:off x="5200373" y="3943928"/>
            <a:ext cx="555626" cy="267588"/>
            <a:chOff x="3600" y="219"/>
            <a:chExt cx="360" cy="175"/>
          </a:xfrm>
        </p:grpSpPr>
        <p:sp>
          <p:nvSpPr>
            <p:cNvPr id="132" name="Oval 11"/>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a:ea typeface="宋体" charset="-122"/>
              </a:endParaRPr>
            </a:p>
          </p:txBody>
        </p:sp>
        <p:sp>
          <p:nvSpPr>
            <p:cNvPr id="133" name="Line 12"/>
            <p:cNvSpPr>
              <a:spLocks noChangeShapeType="1"/>
            </p:cNvSpPr>
            <p:nvPr/>
          </p:nvSpPr>
          <p:spPr bwMode="auto">
            <a:xfrm>
              <a:off x="3603" y="289"/>
              <a:ext cx="0" cy="60"/>
            </a:xfrm>
            <a:prstGeom prst="line">
              <a:avLst/>
            </a:prstGeom>
            <a:noFill/>
            <a:ln w="12700">
              <a:solidFill>
                <a:schemeClr val="tx1"/>
              </a:solidFill>
              <a:round/>
              <a:headEnd/>
              <a:tailEnd/>
            </a:ln>
          </p:spPr>
          <p:txBody>
            <a:bodyPr wrap="none" anchor="ctr"/>
            <a:lstStyle/>
            <a:p>
              <a:endParaRPr lang="zh-CN" altLang="en-US"/>
            </a:p>
          </p:txBody>
        </p:sp>
        <p:sp>
          <p:nvSpPr>
            <p:cNvPr id="134" name="Line 13"/>
            <p:cNvSpPr>
              <a:spLocks noChangeShapeType="1"/>
            </p:cNvSpPr>
            <p:nvPr/>
          </p:nvSpPr>
          <p:spPr bwMode="auto">
            <a:xfrm>
              <a:off x="3960" y="289"/>
              <a:ext cx="0" cy="60"/>
            </a:xfrm>
            <a:prstGeom prst="line">
              <a:avLst/>
            </a:prstGeom>
            <a:noFill/>
            <a:ln w="12700">
              <a:solidFill>
                <a:schemeClr val="tx1"/>
              </a:solidFill>
              <a:round/>
              <a:headEnd/>
              <a:tailEnd/>
            </a:ln>
          </p:spPr>
          <p:txBody>
            <a:bodyPr wrap="none" anchor="ctr"/>
            <a:lstStyle/>
            <a:p>
              <a:endParaRPr lang="zh-CN" altLang="en-US"/>
            </a:p>
          </p:txBody>
        </p:sp>
        <p:sp>
          <p:nvSpPr>
            <p:cNvPr id="135" name="Rectangle 14"/>
            <p:cNvSpPr>
              <a:spLocks noChangeArrowheads="1"/>
            </p:cNvSpPr>
            <p:nvPr/>
          </p:nvSpPr>
          <p:spPr bwMode="auto">
            <a:xfrm>
              <a:off x="3603" y="289"/>
              <a:ext cx="354" cy="59"/>
            </a:xfrm>
            <a:prstGeom prst="rect">
              <a:avLst/>
            </a:prstGeom>
            <a:solidFill>
              <a:schemeClr val="hlink"/>
            </a:solidFill>
            <a:ln w="12700">
              <a:noFill/>
              <a:miter lim="800000"/>
              <a:headEnd/>
              <a:tailEnd/>
            </a:ln>
          </p:spPr>
          <p:txBody>
            <a:bodyPr wrap="none" anchor="ctr"/>
            <a:lstStyle/>
            <a:p>
              <a:pPr algn="ctr"/>
              <a:endParaRPr lang="zh-CN" altLang="zh-CN" sz="2400">
                <a:latin typeface="Times New Roman" pitchFamily="18" charset="0"/>
                <a:ea typeface="宋体" charset="-122"/>
              </a:endParaRPr>
            </a:p>
          </p:txBody>
        </p:sp>
        <p:sp>
          <p:nvSpPr>
            <p:cNvPr id="136" name="Oval 15"/>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a:ea typeface="宋体" charset="-122"/>
              </a:endParaRPr>
            </a:p>
          </p:txBody>
        </p:sp>
      </p:grpSp>
      <p:sp>
        <p:nvSpPr>
          <p:cNvPr id="80" name="Text Box 61"/>
          <p:cNvSpPr txBox="1">
            <a:spLocks noChangeArrowheads="1"/>
          </p:cNvSpPr>
          <p:nvPr/>
        </p:nvSpPr>
        <p:spPr bwMode="auto">
          <a:xfrm>
            <a:off x="3614449" y="2157684"/>
            <a:ext cx="3466013" cy="561583"/>
          </a:xfrm>
          <a:prstGeom prst="rect">
            <a:avLst/>
          </a:prstGeom>
          <a:noFill/>
          <a:ln w="9525">
            <a:noFill/>
            <a:miter lim="800000"/>
            <a:headEnd/>
            <a:tailEnd/>
          </a:ln>
        </p:spPr>
        <p:txBody>
          <a:bodyPr wrap="none">
            <a:spAutoFit/>
          </a:bodyPr>
          <a:lstStyle/>
          <a:p>
            <a:pPr algn="ctr"/>
            <a:r>
              <a:rPr lang="en-US" altLang="zh-CN" u="sng" dirty="0">
                <a:solidFill>
                  <a:srgbClr val="C00000"/>
                </a:solidFill>
                <a:ea typeface="宋体" charset="-122"/>
              </a:rPr>
              <a:t>138.76.29.7, 5001   10.0.0.1, 3345</a:t>
            </a:r>
          </a:p>
          <a:p>
            <a:pPr algn="ctr"/>
            <a:r>
              <a:rPr lang="en-US" altLang="zh-CN" dirty="0">
                <a:ea typeface="宋体" charset="-122"/>
              </a:rPr>
              <a:t>……                                         ……</a:t>
            </a:r>
          </a:p>
        </p:txBody>
      </p:sp>
      <p:grpSp>
        <p:nvGrpSpPr>
          <p:cNvPr id="81" name="Group 135"/>
          <p:cNvGrpSpPr>
            <a:grpSpLocks/>
          </p:cNvGrpSpPr>
          <p:nvPr/>
        </p:nvGrpSpPr>
        <p:grpSpPr bwMode="auto">
          <a:xfrm>
            <a:off x="5903625" y="3361856"/>
            <a:ext cx="2784476" cy="1417968"/>
            <a:chOff x="3002" y="2417"/>
            <a:chExt cx="1754" cy="1028"/>
          </a:xfrm>
        </p:grpSpPr>
        <p:sp>
          <p:nvSpPr>
            <p:cNvPr id="118" name="Rectangle 91"/>
            <p:cNvSpPr>
              <a:spLocks noChangeArrowheads="1"/>
            </p:cNvSpPr>
            <p:nvPr/>
          </p:nvSpPr>
          <p:spPr bwMode="auto">
            <a:xfrm>
              <a:off x="3002" y="3051"/>
              <a:ext cx="1175" cy="315"/>
            </a:xfrm>
            <a:prstGeom prst="rect">
              <a:avLst/>
            </a:prstGeom>
            <a:solidFill>
              <a:schemeClr val="bg1"/>
            </a:solidFill>
            <a:ln w="9525">
              <a:solidFill>
                <a:schemeClr val="tx1"/>
              </a:solidFill>
              <a:miter lim="800000"/>
              <a:headEnd/>
              <a:tailEnd/>
            </a:ln>
          </p:spPr>
          <p:txBody>
            <a:bodyPr wrap="none" anchor="ctr"/>
            <a:lstStyle/>
            <a:p>
              <a:endParaRPr lang="zh-CN" altLang="en-US">
                <a:ea typeface="宋体" charset="-122"/>
              </a:endParaRPr>
            </a:p>
          </p:txBody>
        </p:sp>
        <p:sp>
          <p:nvSpPr>
            <p:cNvPr id="119" name="Text Box 92"/>
            <p:cNvSpPr txBox="1">
              <a:spLocks noChangeArrowheads="1"/>
            </p:cNvSpPr>
            <p:nvPr/>
          </p:nvSpPr>
          <p:spPr bwMode="auto">
            <a:xfrm>
              <a:off x="3104" y="3042"/>
              <a:ext cx="1112" cy="403"/>
            </a:xfrm>
            <a:prstGeom prst="rect">
              <a:avLst/>
            </a:prstGeom>
            <a:noFill/>
            <a:ln w="9525">
              <a:noFill/>
              <a:miter lim="800000"/>
              <a:headEnd/>
              <a:tailEnd/>
            </a:ln>
          </p:spPr>
          <p:txBody>
            <a:bodyPr>
              <a:spAutoFit/>
            </a:bodyPr>
            <a:lstStyle/>
            <a:p>
              <a:r>
                <a:rPr lang="en-US" altLang="zh-CN" sz="1200">
                  <a:ea typeface="宋体" charset="-122"/>
                </a:rPr>
                <a:t>S: 128.119.40.186, 80 </a:t>
              </a:r>
            </a:p>
            <a:p>
              <a:r>
                <a:rPr lang="en-US" altLang="zh-CN" sz="1200">
                  <a:ea typeface="宋体" charset="-122"/>
                </a:rPr>
                <a:t>D: 10.0.0.1, 3345</a:t>
              </a:r>
            </a:p>
            <a:p>
              <a:endParaRPr lang="en-US" altLang="zh-CN" sz="1200">
                <a:ea typeface="宋体" charset="-122"/>
              </a:endParaRPr>
            </a:p>
          </p:txBody>
        </p:sp>
        <p:grpSp>
          <p:nvGrpSpPr>
            <p:cNvPr id="120" name="Group 93"/>
            <p:cNvGrpSpPr>
              <a:grpSpLocks/>
            </p:cNvGrpSpPr>
            <p:nvPr/>
          </p:nvGrpSpPr>
          <p:grpSpPr bwMode="auto">
            <a:xfrm>
              <a:off x="3054" y="3007"/>
              <a:ext cx="51" cy="99"/>
              <a:chOff x="5508" y="1599"/>
              <a:chExt cx="48" cy="99"/>
            </a:xfrm>
          </p:grpSpPr>
          <p:sp>
            <p:nvSpPr>
              <p:cNvPr id="129" name="Freeform 94"/>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w="9525" cap="flat" cmpd="sng">
                <a:noFill/>
                <a:prstDash val="solid"/>
                <a:round/>
                <a:headEnd/>
                <a:tailEnd/>
              </a:ln>
            </p:spPr>
            <p:txBody>
              <a:bodyPr wrap="none"/>
              <a:lstStyle/>
              <a:p>
                <a:endParaRPr lang="zh-CN" altLang="en-US"/>
              </a:p>
            </p:txBody>
          </p:sp>
          <p:sp>
            <p:nvSpPr>
              <p:cNvPr id="130" name="Line 95"/>
              <p:cNvSpPr>
                <a:spLocks noChangeShapeType="1"/>
              </p:cNvSpPr>
              <p:nvPr/>
            </p:nvSpPr>
            <p:spPr bwMode="auto">
              <a:xfrm flipH="1">
                <a:off x="5512" y="1608"/>
                <a:ext cx="20" cy="68"/>
              </a:xfrm>
              <a:prstGeom prst="line">
                <a:avLst/>
              </a:prstGeom>
              <a:noFill/>
              <a:ln w="9525">
                <a:solidFill>
                  <a:schemeClr val="tx1"/>
                </a:solidFill>
                <a:round/>
                <a:headEnd/>
                <a:tailEnd/>
              </a:ln>
            </p:spPr>
            <p:txBody>
              <a:bodyPr wrap="none"/>
              <a:lstStyle/>
              <a:p>
                <a:endParaRPr lang="zh-CN" altLang="en-US"/>
              </a:p>
            </p:txBody>
          </p:sp>
          <p:sp>
            <p:nvSpPr>
              <p:cNvPr id="131" name="Line 96"/>
              <p:cNvSpPr>
                <a:spLocks noChangeShapeType="1"/>
              </p:cNvSpPr>
              <p:nvPr/>
            </p:nvSpPr>
            <p:spPr bwMode="auto">
              <a:xfrm flipH="1">
                <a:off x="5536" y="1620"/>
                <a:ext cx="20" cy="68"/>
              </a:xfrm>
              <a:prstGeom prst="line">
                <a:avLst/>
              </a:prstGeom>
              <a:noFill/>
              <a:ln w="9525">
                <a:solidFill>
                  <a:schemeClr val="tx1"/>
                </a:solidFill>
                <a:round/>
                <a:headEnd/>
                <a:tailEnd/>
              </a:ln>
            </p:spPr>
            <p:txBody>
              <a:bodyPr wrap="none"/>
              <a:lstStyle/>
              <a:p>
                <a:endParaRPr lang="zh-CN" altLang="en-US"/>
              </a:p>
            </p:txBody>
          </p:sp>
        </p:grpSp>
        <p:grpSp>
          <p:nvGrpSpPr>
            <p:cNvPr id="121" name="Group 97"/>
            <p:cNvGrpSpPr>
              <a:grpSpLocks/>
            </p:cNvGrpSpPr>
            <p:nvPr/>
          </p:nvGrpSpPr>
          <p:grpSpPr bwMode="auto">
            <a:xfrm>
              <a:off x="3059" y="3248"/>
              <a:ext cx="51" cy="99"/>
              <a:chOff x="5508" y="1599"/>
              <a:chExt cx="48" cy="99"/>
            </a:xfrm>
          </p:grpSpPr>
          <p:sp>
            <p:nvSpPr>
              <p:cNvPr id="126" name="Freeform 98"/>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w="9525" cap="flat" cmpd="sng">
                <a:noFill/>
                <a:prstDash val="solid"/>
                <a:round/>
                <a:headEnd/>
                <a:tailEnd/>
              </a:ln>
            </p:spPr>
            <p:txBody>
              <a:bodyPr wrap="none"/>
              <a:lstStyle/>
              <a:p>
                <a:endParaRPr lang="zh-CN" altLang="en-US"/>
              </a:p>
            </p:txBody>
          </p:sp>
          <p:sp>
            <p:nvSpPr>
              <p:cNvPr id="127" name="Line 99"/>
              <p:cNvSpPr>
                <a:spLocks noChangeShapeType="1"/>
              </p:cNvSpPr>
              <p:nvPr/>
            </p:nvSpPr>
            <p:spPr bwMode="auto">
              <a:xfrm flipH="1">
                <a:off x="5512" y="1608"/>
                <a:ext cx="20" cy="68"/>
              </a:xfrm>
              <a:prstGeom prst="line">
                <a:avLst/>
              </a:prstGeom>
              <a:noFill/>
              <a:ln w="9525">
                <a:solidFill>
                  <a:schemeClr val="tx1"/>
                </a:solidFill>
                <a:round/>
                <a:headEnd/>
                <a:tailEnd/>
              </a:ln>
            </p:spPr>
            <p:txBody>
              <a:bodyPr wrap="none"/>
              <a:lstStyle/>
              <a:p>
                <a:endParaRPr lang="zh-CN" altLang="en-US"/>
              </a:p>
            </p:txBody>
          </p:sp>
          <p:sp>
            <p:nvSpPr>
              <p:cNvPr id="128" name="Line 100"/>
              <p:cNvSpPr>
                <a:spLocks noChangeShapeType="1"/>
              </p:cNvSpPr>
              <p:nvPr/>
            </p:nvSpPr>
            <p:spPr bwMode="auto">
              <a:xfrm flipH="1">
                <a:off x="5536" y="1620"/>
                <a:ext cx="20" cy="68"/>
              </a:xfrm>
              <a:prstGeom prst="line">
                <a:avLst/>
              </a:prstGeom>
              <a:noFill/>
              <a:ln w="9525">
                <a:solidFill>
                  <a:schemeClr val="tx1"/>
                </a:solidFill>
                <a:round/>
                <a:headEnd/>
                <a:tailEnd/>
              </a:ln>
            </p:spPr>
            <p:txBody>
              <a:bodyPr wrap="none"/>
              <a:lstStyle/>
              <a:p>
                <a:endParaRPr lang="zh-CN" altLang="en-US"/>
              </a:p>
            </p:txBody>
          </p:sp>
        </p:grpSp>
        <p:sp>
          <p:nvSpPr>
            <p:cNvPr id="122" name="Freeform 101"/>
            <p:cNvSpPr>
              <a:spLocks/>
            </p:cNvSpPr>
            <p:nvPr/>
          </p:nvSpPr>
          <p:spPr bwMode="auto">
            <a:xfrm>
              <a:off x="4179" y="2417"/>
              <a:ext cx="577" cy="768"/>
            </a:xfrm>
            <a:custGeom>
              <a:avLst/>
              <a:gdLst>
                <a:gd name="T0" fmla="*/ 577 w 577"/>
                <a:gd name="T1" fmla="*/ 0 h 768"/>
                <a:gd name="T2" fmla="*/ 342 w 577"/>
                <a:gd name="T3" fmla="*/ 0 h 768"/>
                <a:gd name="T4" fmla="*/ 342 w 577"/>
                <a:gd name="T5" fmla="*/ 768 h 768"/>
                <a:gd name="T6" fmla="*/ 0 w 577"/>
                <a:gd name="T7" fmla="*/ 760 h 768"/>
                <a:gd name="T8" fmla="*/ 0 60000 65536"/>
                <a:gd name="T9" fmla="*/ 0 60000 65536"/>
                <a:gd name="T10" fmla="*/ 0 60000 65536"/>
                <a:gd name="T11" fmla="*/ 0 60000 65536"/>
                <a:gd name="T12" fmla="*/ 0 w 577"/>
                <a:gd name="T13" fmla="*/ 0 h 768"/>
                <a:gd name="T14" fmla="*/ 577 w 577"/>
                <a:gd name="T15" fmla="*/ 768 h 768"/>
              </a:gdLst>
              <a:ahLst/>
              <a:cxnLst>
                <a:cxn ang="T8">
                  <a:pos x="T0" y="T1"/>
                </a:cxn>
                <a:cxn ang="T9">
                  <a:pos x="T2" y="T3"/>
                </a:cxn>
                <a:cxn ang="T10">
                  <a:pos x="T4" y="T5"/>
                </a:cxn>
                <a:cxn ang="T11">
                  <a:pos x="T6" y="T7"/>
                </a:cxn>
              </a:cxnLst>
              <a:rect l="T12" t="T13" r="T14" b="T15"/>
              <a:pathLst>
                <a:path w="577" h="768">
                  <a:moveTo>
                    <a:pt x="577" y="0"/>
                  </a:moveTo>
                  <a:lnTo>
                    <a:pt x="342" y="0"/>
                  </a:lnTo>
                  <a:lnTo>
                    <a:pt x="342" y="768"/>
                  </a:lnTo>
                  <a:lnTo>
                    <a:pt x="0" y="760"/>
                  </a:lnTo>
                </a:path>
              </a:pathLst>
            </a:custGeom>
            <a:noFill/>
            <a:ln w="28575" cap="flat" cmpd="sng">
              <a:solidFill>
                <a:schemeClr val="tx1"/>
              </a:solidFill>
              <a:prstDash val="solid"/>
              <a:round/>
              <a:headEnd type="triangle" w="med" len="med"/>
              <a:tailEnd type="none" w="med" len="med"/>
            </a:ln>
          </p:spPr>
          <p:txBody>
            <a:bodyPr wrap="none"/>
            <a:lstStyle/>
            <a:p>
              <a:endParaRPr lang="zh-CN" altLang="en-US"/>
            </a:p>
          </p:txBody>
        </p:sp>
        <p:grpSp>
          <p:nvGrpSpPr>
            <p:cNvPr id="123" name="Group 102"/>
            <p:cNvGrpSpPr>
              <a:grpSpLocks/>
            </p:cNvGrpSpPr>
            <p:nvPr/>
          </p:nvGrpSpPr>
          <p:grpSpPr bwMode="auto">
            <a:xfrm>
              <a:off x="4240" y="3064"/>
              <a:ext cx="218" cy="233"/>
              <a:chOff x="5140" y="403"/>
              <a:chExt cx="218" cy="233"/>
            </a:xfrm>
          </p:grpSpPr>
          <p:sp>
            <p:nvSpPr>
              <p:cNvPr id="124" name="Oval 103"/>
              <p:cNvSpPr>
                <a:spLocks noChangeArrowheads="1"/>
              </p:cNvSpPr>
              <p:nvPr/>
            </p:nvSpPr>
            <p:spPr bwMode="auto">
              <a:xfrm>
                <a:off x="5140" y="410"/>
                <a:ext cx="218" cy="218"/>
              </a:xfrm>
              <a:prstGeom prst="ellipse">
                <a:avLst/>
              </a:prstGeom>
              <a:solidFill>
                <a:schemeClr val="bg1"/>
              </a:solidFill>
              <a:ln w="9525">
                <a:solidFill>
                  <a:srgbClr val="C00000"/>
                </a:solidFill>
                <a:round/>
                <a:headEnd/>
                <a:tailEnd/>
              </a:ln>
            </p:spPr>
            <p:txBody>
              <a:bodyPr wrap="none" anchor="ctr"/>
              <a:lstStyle/>
              <a:p>
                <a:endParaRPr lang="zh-CN" altLang="en-US">
                  <a:ea typeface="宋体" charset="-122"/>
                </a:endParaRPr>
              </a:p>
            </p:txBody>
          </p:sp>
          <p:sp>
            <p:nvSpPr>
              <p:cNvPr id="125" name="Text Box 104"/>
              <p:cNvSpPr txBox="1">
                <a:spLocks noChangeArrowheads="1"/>
              </p:cNvSpPr>
              <p:nvPr/>
            </p:nvSpPr>
            <p:spPr bwMode="auto">
              <a:xfrm>
                <a:off x="5154" y="403"/>
                <a:ext cx="193" cy="233"/>
              </a:xfrm>
              <a:prstGeom prst="rect">
                <a:avLst/>
              </a:prstGeom>
              <a:noFill/>
              <a:ln w="9525">
                <a:noFill/>
                <a:miter lim="800000"/>
                <a:headEnd/>
                <a:tailEnd/>
              </a:ln>
            </p:spPr>
            <p:txBody>
              <a:bodyPr wrap="none">
                <a:spAutoFit/>
              </a:bodyPr>
              <a:lstStyle/>
              <a:p>
                <a:r>
                  <a:rPr lang="en-US" altLang="zh-CN" dirty="0">
                    <a:solidFill>
                      <a:srgbClr val="C00000"/>
                    </a:solidFill>
                    <a:ea typeface="宋体" charset="-122"/>
                  </a:rPr>
                  <a:t>4</a:t>
                </a:r>
              </a:p>
            </p:txBody>
          </p:sp>
        </p:grpSp>
      </p:grpSp>
      <p:grpSp>
        <p:nvGrpSpPr>
          <p:cNvPr id="82" name="Group 108"/>
          <p:cNvGrpSpPr>
            <a:grpSpLocks/>
          </p:cNvGrpSpPr>
          <p:nvPr/>
        </p:nvGrpSpPr>
        <p:grpSpPr bwMode="auto">
          <a:xfrm>
            <a:off x="2669887" y="3541167"/>
            <a:ext cx="2497137" cy="495185"/>
            <a:chOff x="1026" y="3559"/>
            <a:chExt cx="1573" cy="359"/>
          </a:xfrm>
        </p:grpSpPr>
        <p:sp>
          <p:nvSpPr>
            <p:cNvPr id="106" name="Line 79"/>
            <p:cNvSpPr>
              <a:spLocks noChangeShapeType="1"/>
            </p:cNvSpPr>
            <p:nvPr/>
          </p:nvSpPr>
          <p:spPr bwMode="auto">
            <a:xfrm flipH="1">
              <a:off x="1026" y="3729"/>
              <a:ext cx="376" cy="0"/>
            </a:xfrm>
            <a:prstGeom prst="line">
              <a:avLst/>
            </a:prstGeom>
            <a:noFill/>
            <a:ln w="19050">
              <a:solidFill>
                <a:schemeClr val="tx1"/>
              </a:solidFill>
              <a:round/>
              <a:headEnd/>
              <a:tailEnd type="triangle" w="med" len="med"/>
            </a:ln>
          </p:spPr>
          <p:txBody>
            <a:bodyPr wrap="none"/>
            <a:lstStyle/>
            <a:p>
              <a:endParaRPr lang="zh-CN" altLang="en-US"/>
            </a:p>
          </p:txBody>
        </p:sp>
        <p:grpSp>
          <p:nvGrpSpPr>
            <p:cNvPr id="107" name="Group 68"/>
            <p:cNvGrpSpPr>
              <a:grpSpLocks/>
            </p:cNvGrpSpPr>
            <p:nvPr/>
          </p:nvGrpSpPr>
          <p:grpSpPr bwMode="auto">
            <a:xfrm>
              <a:off x="1412" y="3559"/>
              <a:ext cx="1187" cy="359"/>
              <a:chOff x="4381" y="786"/>
              <a:chExt cx="1108" cy="359"/>
            </a:xfrm>
          </p:grpSpPr>
          <p:sp>
            <p:nvSpPr>
              <p:cNvPr id="108" name="Rectangle 69"/>
              <p:cNvSpPr>
                <a:spLocks noChangeArrowheads="1"/>
              </p:cNvSpPr>
              <p:nvPr/>
            </p:nvSpPr>
            <p:spPr bwMode="auto">
              <a:xfrm>
                <a:off x="4385" y="830"/>
                <a:ext cx="1104" cy="315"/>
              </a:xfrm>
              <a:prstGeom prst="rect">
                <a:avLst/>
              </a:prstGeom>
              <a:solidFill>
                <a:schemeClr val="bg1"/>
              </a:solidFill>
              <a:ln w="9525">
                <a:solidFill>
                  <a:schemeClr val="tx1"/>
                </a:solidFill>
                <a:miter lim="800000"/>
                <a:headEnd/>
                <a:tailEnd/>
              </a:ln>
            </p:spPr>
            <p:txBody>
              <a:bodyPr wrap="none" anchor="ctr"/>
              <a:lstStyle/>
              <a:p>
                <a:endParaRPr lang="zh-CN" altLang="en-US">
                  <a:ea typeface="宋体" charset="-122"/>
                </a:endParaRPr>
              </a:p>
            </p:txBody>
          </p:sp>
          <p:sp>
            <p:nvSpPr>
              <p:cNvPr id="109" name="Text Box 70"/>
              <p:cNvSpPr txBox="1">
                <a:spLocks noChangeArrowheads="1"/>
              </p:cNvSpPr>
              <p:nvPr/>
            </p:nvSpPr>
            <p:spPr bwMode="auto">
              <a:xfrm>
                <a:off x="4381" y="813"/>
                <a:ext cx="1045" cy="288"/>
              </a:xfrm>
              <a:prstGeom prst="rect">
                <a:avLst/>
              </a:prstGeom>
              <a:noFill/>
              <a:ln w="9525">
                <a:noFill/>
                <a:miter lim="800000"/>
                <a:headEnd/>
                <a:tailEnd/>
              </a:ln>
            </p:spPr>
            <p:txBody>
              <a:bodyPr>
                <a:spAutoFit/>
              </a:bodyPr>
              <a:lstStyle/>
              <a:p>
                <a:r>
                  <a:rPr lang="en-US" altLang="zh-CN" sz="1200" dirty="0">
                    <a:ea typeface="宋体" charset="-122"/>
                  </a:rPr>
                  <a:t>S: 138.76.29.7, 5001</a:t>
                </a:r>
              </a:p>
              <a:p>
                <a:r>
                  <a:rPr lang="en-US" altLang="zh-CN" sz="1200" dirty="0">
                    <a:ea typeface="宋体" charset="-122"/>
                  </a:rPr>
                  <a:t>D: 128.119.40.186, 80</a:t>
                </a:r>
              </a:p>
            </p:txBody>
          </p:sp>
          <p:grpSp>
            <p:nvGrpSpPr>
              <p:cNvPr id="110" name="Group 71"/>
              <p:cNvGrpSpPr>
                <a:grpSpLocks/>
              </p:cNvGrpSpPr>
              <p:nvPr/>
            </p:nvGrpSpPr>
            <p:grpSpPr bwMode="auto">
              <a:xfrm>
                <a:off x="5394" y="786"/>
                <a:ext cx="48" cy="99"/>
                <a:chOff x="5508" y="1599"/>
                <a:chExt cx="48" cy="99"/>
              </a:xfrm>
            </p:grpSpPr>
            <p:sp>
              <p:nvSpPr>
                <p:cNvPr id="115" name="Freeform 72"/>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w="9525" cap="flat" cmpd="sng">
                  <a:noFill/>
                  <a:prstDash val="solid"/>
                  <a:round/>
                  <a:headEnd/>
                  <a:tailEnd/>
                </a:ln>
              </p:spPr>
              <p:txBody>
                <a:bodyPr wrap="none"/>
                <a:lstStyle/>
                <a:p>
                  <a:endParaRPr lang="zh-CN" altLang="en-US"/>
                </a:p>
              </p:txBody>
            </p:sp>
            <p:sp>
              <p:nvSpPr>
                <p:cNvPr id="116" name="Line 73"/>
                <p:cNvSpPr>
                  <a:spLocks noChangeShapeType="1"/>
                </p:cNvSpPr>
                <p:nvPr/>
              </p:nvSpPr>
              <p:spPr bwMode="auto">
                <a:xfrm flipH="1">
                  <a:off x="5512" y="1608"/>
                  <a:ext cx="20" cy="68"/>
                </a:xfrm>
                <a:prstGeom prst="line">
                  <a:avLst/>
                </a:prstGeom>
                <a:noFill/>
                <a:ln w="9525">
                  <a:solidFill>
                    <a:schemeClr val="tx1"/>
                  </a:solidFill>
                  <a:round/>
                  <a:headEnd/>
                  <a:tailEnd/>
                </a:ln>
              </p:spPr>
              <p:txBody>
                <a:bodyPr wrap="none"/>
                <a:lstStyle/>
                <a:p>
                  <a:endParaRPr lang="zh-CN" altLang="en-US"/>
                </a:p>
              </p:txBody>
            </p:sp>
            <p:sp>
              <p:nvSpPr>
                <p:cNvPr id="117" name="Line 74"/>
                <p:cNvSpPr>
                  <a:spLocks noChangeShapeType="1"/>
                </p:cNvSpPr>
                <p:nvPr/>
              </p:nvSpPr>
              <p:spPr bwMode="auto">
                <a:xfrm flipH="1">
                  <a:off x="5536" y="1620"/>
                  <a:ext cx="20" cy="68"/>
                </a:xfrm>
                <a:prstGeom prst="line">
                  <a:avLst/>
                </a:prstGeom>
                <a:noFill/>
                <a:ln w="9525">
                  <a:solidFill>
                    <a:schemeClr val="tx1"/>
                  </a:solidFill>
                  <a:round/>
                  <a:headEnd/>
                  <a:tailEnd/>
                </a:ln>
              </p:spPr>
              <p:txBody>
                <a:bodyPr wrap="none"/>
                <a:lstStyle/>
                <a:p>
                  <a:endParaRPr lang="zh-CN" altLang="en-US"/>
                </a:p>
              </p:txBody>
            </p:sp>
          </p:grpSp>
          <p:grpSp>
            <p:nvGrpSpPr>
              <p:cNvPr id="111" name="Group 75"/>
              <p:cNvGrpSpPr>
                <a:grpSpLocks/>
              </p:cNvGrpSpPr>
              <p:nvPr/>
            </p:nvGrpSpPr>
            <p:grpSpPr bwMode="auto">
              <a:xfrm>
                <a:off x="5382" y="1044"/>
                <a:ext cx="48" cy="99"/>
                <a:chOff x="5508" y="1599"/>
                <a:chExt cx="48" cy="99"/>
              </a:xfrm>
            </p:grpSpPr>
            <p:sp>
              <p:nvSpPr>
                <p:cNvPr id="112" name="Freeform 76"/>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w="9525" cap="flat" cmpd="sng">
                  <a:noFill/>
                  <a:prstDash val="solid"/>
                  <a:round/>
                  <a:headEnd/>
                  <a:tailEnd/>
                </a:ln>
              </p:spPr>
              <p:txBody>
                <a:bodyPr wrap="none"/>
                <a:lstStyle/>
                <a:p>
                  <a:endParaRPr lang="zh-CN" altLang="en-US"/>
                </a:p>
              </p:txBody>
            </p:sp>
            <p:sp>
              <p:nvSpPr>
                <p:cNvPr id="113" name="Line 77"/>
                <p:cNvSpPr>
                  <a:spLocks noChangeShapeType="1"/>
                </p:cNvSpPr>
                <p:nvPr/>
              </p:nvSpPr>
              <p:spPr bwMode="auto">
                <a:xfrm flipH="1">
                  <a:off x="5512" y="1608"/>
                  <a:ext cx="20" cy="68"/>
                </a:xfrm>
                <a:prstGeom prst="line">
                  <a:avLst/>
                </a:prstGeom>
                <a:noFill/>
                <a:ln w="9525">
                  <a:solidFill>
                    <a:schemeClr val="tx1"/>
                  </a:solidFill>
                  <a:round/>
                  <a:headEnd/>
                  <a:tailEnd/>
                </a:ln>
              </p:spPr>
              <p:txBody>
                <a:bodyPr wrap="none"/>
                <a:lstStyle/>
                <a:p>
                  <a:endParaRPr lang="zh-CN" altLang="en-US"/>
                </a:p>
              </p:txBody>
            </p:sp>
            <p:sp>
              <p:nvSpPr>
                <p:cNvPr id="114" name="Line 78"/>
                <p:cNvSpPr>
                  <a:spLocks noChangeShapeType="1"/>
                </p:cNvSpPr>
                <p:nvPr/>
              </p:nvSpPr>
              <p:spPr bwMode="auto">
                <a:xfrm flipH="1">
                  <a:off x="5536" y="1620"/>
                  <a:ext cx="20" cy="68"/>
                </a:xfrm>
                <a:prstGeom prst="line">
                  <a:avLst/>
                </a:prstGeom>
                <a:noFill/>
                <a:ln w="9525">
                  <a:solidFill>
                    <a:schemeClr val="tx1"/>
                  </a:solidFill>
                  <a:round/>
                  <a:headEnd/>
                  <a:tailEnd/>
                </a:ln>
              </p:spPr>
              <p:txBody>
                <a:bodyPr wrap="none"/>
                <a:lstStyle/>
                <a:p>
                  <a:endParaRPr lang="zh-CN" altLang="en-US"/>
                </a:p>
              </p:txBody>
            </p:sp>
          </p:grpSp>
        </p:grpSp>
      </p:grpSp>
      <p:grpSp>
        <p:nvGrpSpPr>
          <p:cNvPr id="83" name="Group 112"/>
          <p:cNvGrpSpPr>
            <a:grpSpLocks/>
          </p:cNvGrpSpPr>
          <p:nvPr/>
        </p:nvGrpSpPr>
        <p:grpSpPr bwMode="auto">
          <a:xfrm>
            <a:off x="1209387" y="1716294"/>
            <a:ext cx="5083176" cy="1896600"/>
            <a:chOff x="45" y="1224"/>
            <a:chExt cx="3202" cy="1375"/>
          </a:xfrm>
        </p:grpSpPr>
        <p:sp>
          <p:nvSpPr>
            <p:cNvPr id="102" name="Text Box 82"/>
            <p:cNvSpPr txBox="1">
              <a:spLocks noChangeArrowheads="1"/>
            </p:cNvSpPr>
            <p:nvPr/>
          </p:nvSpPr>
          <p:spPr bwMode="auto">
            <a:xfrm>
              <a:off x="45" y="1224"/>
              <a:ext cx="1515" cy="1071"/>
            </a:xfrm>
            <a:prstGeom prst="rect">
              <a:avLst/>
            </a:prstGeom>
            <a:noFill/>
            <a:ln w="9525">
              <a:noFill/>
              <a:miter lim="800000"/>
              <a:headEnd/>
              <a:tailEnd/>
            </a:ln>
          </p:spPr>
          <p:txBody>
            <a:bodyPr>
              <a:spAutoFit/>
            </a:bodyPr>
            <a:lstStyle/>
            <a:p>
              <a:r>
                <a:rPr lang="en-US" altLang="zh-CN" u="sng" dirty="0">
                  <a:solidFill>
                    <a:srgbClr val="C00000"/>
                  </a:solidFill>
                  <a:ea typeface="宋体" charset="-122"/>
                </a:rPr>
                <a:t>2:</a:t>
              </a:r>
              <a:r>
                <a:rPr lang="en-US" altLang="zh-CN" dirty="0">
                  <a:solidFill>
                    <a:srgbClr val="C00000"/>
                  </a:solidFill>
                  <a:ea typeface="宋体" charset="-122"/>
                </a:rPr>
                <a:t> NAT</a:t>
              </a:r>
              <a:r>
                <a:rPr lang="zh-CN" altLang="en-US" dirty="0">
                  <a:solidFill>
                    <a:srgbClr val="C00000"/>
                  </a:solidFill>
                  <a:ea typeface="宋体" charset="-122"/>
                </a:rPr>
                <a:t>路由器将数据包的源地址和源端口号从</a:t>
              </a:r>
              <a:r>
                <a:rPr lang="en-US" altLang="zh-CN" dirty="0">
                  <a:solidFill>
                    <a:srgbClr val="C00000"/>
                  </a:solidFill>
                  <a:ea typeface="宋体" charset="-122"/>
                </a:rPr>
                <a:t>10.0.0.1, 3345</a:t>
              </a:r>
              <a:r>
                <a:rPr lang="zh-CN" altLang="en-US" dirty="0">
                  <a:solidFill>
                    <a:srgbClr val="C00000"/>
                  </a:solidFill>
                  <a:ea typeface="宋体" charset="-122"/>
                </a:rPr>
                <a:t>改为</a:t>
              </a:r>
              <a:r>
                <a:rPr lang="en-US" altLang="zh-CN" dirty="0">
                  <a:solidFill>
                    <a:srgbClr val="C00000"/>
                  </a:solidFill>
                  <a:ea typeface="宋体" charset="-122"/>
                </a:rPr>
                <a:t>138.76.29.7, 5001</a:t>
              </a:r>
              <a:r>
                <a:rPr lang="zh-CN" altLang="en-US" dirty="0">
                  <a:solidFill>
                    <a:srgbClr val="C00000"/>
                  </a:solidFill>
                  <a:ea typeface="宋体" charset="-122"/>
                </a:rPr>
                <a:t>，更新路由表。</a:t>
              </a:r>
              <a:endParaRPr lang="en-US" altLang="zh-CN" dirty="0">
                <a:solidFill>
                  <a:srgbClr val="C00000"/>
                </a:solidFill>
                <a:ea typeface="宋体" charset="-122"/>
              </a:endParaRPr>
            </a:p>
          </p:txBody>
        </p:sp>
        <p:sp>
          <p:nvSpPr>
            <p:cNvPr id="103" name="Line 83"/>
            <p:cNvSpPr>
              <a:spLocks noChangeShapeType="1"/>
            </p:cNvSpPr>
            <p:nvPr/>
          </p:nvSpPr>
          <p:spPr bwMode="auto">
            <a:xfrm>
              <a:off x="1285" y="2243"/>
              <a:ext cx="147" cy="356"/>
            </a:xfrm>
            <a:prstGeom prst="line">
              <a:avLst/>
            </a:prstGeom>
            <a:noFill/>
            <a:ln w="19050">
              <a:solidFill>
                <a:srgbClr val="C00000"/>
              </a:solidFill>
              <a:round/>
              <a:headEnd/>
              <a:tailEnd type="triangle" w="med" len="med"/>
            </a:ln>
          </p:spPr>
          <p:txBody>
            <a:bodyPr wrap="none"/>
            <a:lstStyle/>
            <a:p>
              <a:endParaRPr lang="zh-CN" altLang="en-US"/>
            </a:p>
          </p:txBody>
        </p:sp>
        <p:sp>
          <p:nvSpPr>
            <p:cNvPr id="104" name="Line 110"/>
            <p:cNvSpPr>
              <a:spLocks noChangeShapeType="1"/>
            </p:cNvSpPr>
            <p:nvPr/>
          </p:nvSpPr>
          <p:spPr bwMode="auto">
            <a:xfrm flipV="1">
              <a:off x="1275" y="1788"/>
              <a:ext cx="663" cy="455"/>
            </a:xfrm>
            <a:prstGeom prst="line">
              <a:avLst/>
            </a:prstGeom>
            <a:noFill/>
            <a:ln w="19050">
              <a:solidFill>
                <a:srgbClr val="C00000"/>
              </a:solidFill>
              <a:round/>
              <a:headEnd/>
              <a:tailEnd type="triangle" w="med" len="med"/>
            </a:ln>
          </p:spPr>
          <p:txBody>
            <a:bodyPr wrap="none"/>
            <a:lstStyle/>
            <a:p>
              <a:endParaRPr lang="zh-CN" altLang="en-US"/>
            </a:p>
          </p:txBody>
        </p:sp>
        <p:sp>
          <p:nvSpPr>
            <p:cNvPr id="105" name="Line 111"/>
            <p:cNvSpPr>
              <a:spLocks noChangeShapeType="1"/>
            </p:cNvSpPr>
            <p:nvPr/>
          </p:nvSpPr>
          <p:spPr bwMode="auto">
            <a:xfrm flipV="1">
              <a:off x="1275" y="1751"/>
              <a:ext cx="1972" cy="491"/>
            </a:xfrm>
            <a:prstGeom prst="line">
              <a:avLst/>
            </a:prstGeom>
            <a:noFill/>
            <a:ln w="19050">
              <a:solidFill>
                <a:srgbClr val="C00000"/>
              </a:solidFill>
              <a:round/>
              <a:headEnd/>
              <a:tailEnd type="triangle" w="med" len="med"/>
            </a:ln>
          </p:spPr>
          <p:txBody>
            <a:bodyPr wrap="none"/>
            <a:lstStyle/>
            <a:p>
              <a:endParaRPr lang="zh-CN" altLang="en-US"/>
            </a:p>
          </p:txBody>
        </p:sp>
      </p:grpSp>
      <p:grpSp>
        <p:nvGrpSpPr>
          <p:cNvPr id="84" name="Group 129"/>
          <p:cNvGrpSpPr>
            <a:grpSpLocks/>
          </p:cNvGrpSpPr>
          <p:nvPr/>
        </p:nvGrpSpPr>
        <p:grpSpPr bwMode="auto">
          <a:xfrm>
            <a:off x="2498437" y="4444646"/>
            <a:ext cx="2471735" cy="605533"/>
            <a:chOff x="1163" y="3752"/>
            <a:chExt cx="1557" cy="439"/>
          </a:xfrm>
        </p:grpSpPr>
        <p:sp>
          <p:nvSpPr>
            <p:cNvPr id="88" name="Rectangle 115"/>
            <p:cNvSpPr>
              <a:spLocks noChangeArrowheads="1"/>
            </p:cNvSpPr>
            <p:nvPr/>
          </p:nvSpPr>
          <p:spPr bwMode="auto">
            <a:xfrm>
              <a:off x="1163" y="3796"/>
              <a:ext cx="1183" cy="308"/>
            </a:xfrm>
            <a:prstGeom prst="rect">
              <a:avLst/>
            </a:prstGeom>
            <a:solidFill>
              <a:schemeClr val="bg1"/>
            </a:solidFill>
            <a:ln w="9525">
              <a:solidFill>
                <a:schemeClr val="tx1"/>
              </a:solidFill>
              <a:miter lim="800000"/>
              <a:headEnd/>
              <a:tailEnd/>
            </a:ln>
          </p:spPr>
          <p:txBody>
            <a:bodyPr wrap="none" anchor="ctr"/>
            <a:lstStyle/>
            <a:p>
              <a:endParaRPr lang="zh-CN" altLang="en-US">
                <a:ea typeface="宋体" charset="-122"/>
              </a:endParaRPr>
            </a:p>
          </p:txBody>
        </p:sp>
        <p:sp>
          <p:nvSpPr>
            <p:cNvPr id="89" name="Text Box 116"/>
            <p:cNvSpPr txBox="1">
              <a:spLocks noChangeArrowheads="1"/>
            </p:cNvSpPr>
            <p:nvPr/>
          </p:nvSpPr>
          <p:spPr bwMode="auto">
            <a:xfrm>
              <a:off x="1281" y="3788"/>
              <a:ext cx="1120" cy="403"/>
            </a:xfrm>
            <a:prstGeom prst="rect">
              <a:avLst/>
            </a:prstGeom>
            <a:noFill/>
            <a:ln w="9525">
              <a:noFill/>
              <a:miter lim="800000"/>
              <a:headEnd/>
              <a:tailEnd/>
            </a:ln>
          </p:spPr>
          <p:txBody>
            <a:bodyPr>
              <a:spAutoFit/>
            </a:bodyPr>
            <a:lstStyle/>
            <a:p>
              <a:r>
                <a:rPr lang="en-US" altLang="zh-CN" sz="1200" dirty="0">
                  <a:ea typeface="宋体" charset="-122"/>
                </a:rPr>
                <a:t>S: 128.119.40.186, 80 </a:t>
              </a:r>
            </a:p>
            <a:p>
              <a:r>
                <a:rPr lang="en-US" altLang="zh-CN" sz="1200" dirty="0">
                  <a:ea typeface="宋体" charset="-122"/>
                </a:rPr>
                <a:t>D: 138.76.29.7, 5001</a:t>
              </a:r>
            </a:p>
            <a:p>
              <a:endParaRPr lang="en-US" altLang="zh-CN" sz="1200" dirty="0">
                <a:ea typeface="宋体" charset="-122"/>
              </a:endParaRPr>
            </a:p>
          </p:txBody>
        </p:sp>
        <p:grpSp>
          <p:nvGrpSpPr>
            <p:cNvPr id="90" name="Group 117"/>
            <p:cNvGrpSpPr>
              <a:grpSpLocks/>
            </p:cNvGrpSpPr>
            <p:nvPr/>
          </p:nvGrpSpPr>
          <p:grpSpPr bwMode="auto">
            <a:xfrm>
              <a:off x="1214" y="3752"/>
              <a:ext cx="52" cy="99"/>
              <a:chOff x="5508" y="1599"/>
              <a:chExt cx="48" cy="99"/>
            </a:xfrm>
          </p:grpSpPr>
          <p:sp>
            <p:nvSpPr>
              <p:cNvPr id="99" name="Freeform 118"/>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w="9525" cap="flat" cmpd="sng">
                <a:noFill/>
                <a:prstDash val="solid"/>
                <a:round/>
                <a:headEnd/>
                <a:tailEnd/>
              </a:ln>
            </p:spPr>
            <p:txBody>
              <a:bodyPr wrap="none"/>
              <a:lstStyle/>
              <a:p>
                <a:endParaRPr lang="zh-CN" altLang="en-US"/>
              </a:p>
            </p:txBody>
          </p:sp>
          <p:sp>
            <p:nvSpPr>
              <p:cNvPr id="100" name="Line 119"/>
              <p:cNvSpPr>
                <a:spLocks noChangeShapeType="1"/>
              </p:cNvSpPr>
              <p:nvPr/>
            </p:nvSpPr>
            <p:spPr bwMode="auto">
              <a:xfrm flipH="1">
                <a:off x="5512" y="1608"/>
                <a:ext cx="20" cy="68"/>
              </a:xfrm>
              <a:prstGeom prst="line">
                <a:avLst/>
              </a:prstGeom>
              <a:noFill/>
              <a:ln w="9525">
                <a:solidFill>
                  <a:schemeClr val="tx1"/>
                </a:solidFill>
                <a:round/>
                <a:headEnd/>
                <a:tailEnd/>
              </a:ln>
            </p:spPr>
            <p:txBody>
              <a:bodyPr wrap="none"/>
              <a:lstStyle/>
              <a:p>
                <a:endParaRPr lang="zh-CN" altLang="en-US"/>
              </a:p>
            </p:txBody>
          </p:sp>
          <p:sp>
            <p:nvSpPr>
              <p:cNvPr id="101" name="Line 120"/>
              <p:cNvSpPr>
                <a:spLocks noChangeShapeType="1"/>
              </p:cNvSpPr>
              <p:nvPr/>
            </p:nvSpPr>
            <p:spPr bwMode="auto">
              <a:xfrm flipH="1">
                <a:off x="5536" y="1620"/>
                <a:ext cx="20" cy="68"/>
              </a:xfrm>
              <a:prstGeom prst="line">
                <a:avLst/>
              </a:prstGeom>
              <a:noFill/>
              <a:ln w="9525">
                <a:solidFill>
                  <a:schemeClr val="tx1"/>
                </a:solidFill>
                <a:round/>
                <a:headEnd/>
                <a:tailEnd/>
              </a:ln>
            </p:spPr>
            <p:txBody>
              <a:bodyPr wrap="none"/>
              <a:lstStyle/>
              <a:p>
                <a:endParaRPr lang="zh-CN" altLang="en-US"/>
              </a:p>
            </p:txBody>
          </p:sp>
        </p:grpSp>
        <p:grpSp>
          <p:nvGrpSpPr>
            <p:cNvPr id="91" name="Group 121"/>
            <p:cNvGrpSpPr>
              <a:grpSpLocks/>
            </p:cNvGrpSpPr>
            <p:nvPr/>
          </p:nvGrpSpPr>
          <p:grpSpPr bwMode="auto">
            <a:xfrm>
              <a:off x="1193" y="3984"/>
              <a:ext cx="52" cy="99"/>
              <a:chOff x="5508" y="1599"/>
              <a:chExt cx="48" cy="99"/>
            </a:xfrm>
          </p:grpSpPr>
          <p:sp>
            <p:nvSpPr>
              <p:cNvPr id="96" name="Freeform 122"/>
              <p:cNvSpPr>
                <a:spLocks/>
              </p:cNvSpPr>
              <p:nvPr/>
            </p:nvSpPr>
            <p:spPr bwMode="auto">
              <a:xfrm>
                <a:off x="5508" y="1599"/>
                <a:ext cx="48" cy="99"/>
              </a:xfrm>
              <a:custGeom>
                <a:avLst/>
                <a:gdLst>
                  <a:gd name="T0" fmla="*/ 21 w 48"/>
                  <a:gd name="T1" fmla="*/ 0 h 99"/>
                  <a:gd name="T2" fmla="*/ 0 w 48"/>
                  <a:gd name="T3" fmla="*/ 72 h 99"/>
                  <a:gd name="T4" fmla="*/ 27 w 48"/>
                  <a:gd name="T5" fmla="*/ 99 h 99"/>
                  <a:gd name="T6" fmla="*/ 48 w 48"/>
                  <a:gd name="T7" fmla="*/ 21 h 99"/>
                  <a:gd name="T8" fmla="*/ 21 w 48"/>
                  <a:gd name="T9" fmla="*/ 0 h 99"/>
                  <a:gd name="T10" fmla="*/ 0 60000 65536"/>
                  <a:gd name="T11" fmla="*/ 0 60000 65536"/>
                  <a:gd name="T12" fmla="*/ 0 60000 65536"/>
                  <a:gd name="T13" fmla="*/ 0 60000 65536"/>
                  <a:gd name="T14" fmla="*/ 0 60000 65536"/>
                  <a:gd name="T15" fmla="*/ 0 w 48"/>
                  <a:gd name="T16" fmla="*/ 0 h 99"/>
                  <a:gd name="T17" fmla="*/ 48 w 48"/>
                  <a:gd name="T18" fmla="*/ 99 h 99"/>
                </a:gdLst>
                <a:ahLst/>
                <a:cxnLst>
                  <a:cxn ang="T10">
                    <a:pos x="T0" y="T1"/>
                  </a:cxn>
                  <a:cxn ang="T11">
                    <a:pos x="T2" y="T3"/>
                  </a:cxn>
                  <a:cxn ang="T12">
                    <a:pos x="T4" y="T5"/>
                  </a:cxn>
                  <a:cxn ang="T13">
                    <a:pos x="T6" y="T7"/>
                  </a:cxn>
                  <a:cxn ang="T14">
                    <a:pos x="T8" y="T9"/>
                  </a:cxn>
                </a:cxnLst>
                <a:rect l="T15" t="T16" r="T17" b="T18"/>
                <a:pathLst>
                  <a:path w="48" h="99">
                    <a:moveTo>
                      <a:pt x="21" y="0"/>
                    </a:moveTo>
                    <a:lnTo>
                      <a:pt x="0" y="72"/>
                    </a:lnTo>
                    <a:lnTo>
                      <a:pt x="27" y="99"/>
                    </a:lnTo>
                    <a:lnTo>
                      <a:pt x="48" y="21"/>
                    </a:lnTo>
                    <a:lnTo>
                      <a:pt x="21" y="0"/>
                    </a:lnTo>
                    <a:close/>
                  </a:path>
                </a:pathLst>
              </a:custGeom>
              <a:solidFill>
                <a:schemeClr val="bg1"/>
              </a:solidFill>
              <a:ln w="9525" cap="flat" cmpd="sng">
                <a:noFill/>
                <a:prstDash val="solid"/>
                <a:round/>
                <a:headEnd/>
                <a:tailEnd/>
              </a:ln>
            </p:spPr>
            <p:txBody>
              <a:bodyPr wrap="none"/>
              <a:lstStyle/>
              <a:p>
                <a:endParaRPr lang="zh-CN" altLang="en-US"/>
              </a:p>
            </p:txBody>
          </p:sp>
          <p:sp>
            <p:nvSpPr>
              <p:cNvPr id="97" name="Line 123"/>
              <p:cNvSpPr>
                <a:spLocks noChangeShapeType="1"/>
              </p:cNvSpPr>
              <p:nvPr/>
            </p:nvSpPr>
            <p:spPr bwMode="auto">
              <a:xfrm flipH="1">
                <a:off x="5512" y="1608"/>
                <a:ext cx="20" cy="68"/>
              </a:xfrm>
              <a:prstGeom prst="line">
                <a:avLst/>
              </a:prstGeom>
              <a:noFill/>
              <a:ln w="9525">
                <a:solidFill>
                  <a:schemeClr val="tx1"/>
                </a:solidFill>
                <a:round/>
                <a:headEnd/>
                <a:tailEnd/>
              </a:ln>
            </p:spPr>
            <p:txBody>
              <a:bodyPr wrap="none"/>
              <a:lstStyle/>
              <a:p>
                <a:endParaRPr lang="zh-CN" altLang="en-US"/>
              </a:p>
            </p:txBody>
          </p:sp>
          <p:sp>
            <p:nvSpPr>
              <p:cNvPr id="98" name="Line 124"/>
              <p:cNvSpPr>
                <a:spLocks noChangeShapeType="1"/>
              </p:cNvSpPr>
              <p:nvPr/>
            </p:nvSpPr>
            <p:spPr bwMode="auto">
              <a:xfrm flipH="1">
                <a:off x="5536" y="1620"/>
                <a:ext cx="20" cy="68"/>
              </a:xfrm>
              <a:prstGeom prst="line">
                <a:avLst/>
              </a:prstGeom>
              <a:noFill/>
              <a:ln w="9525">
                <a:solidFill>
                  <a:schemeClr val="tx1"/>
                </a:solidFill>
                <a:round/>
                <a:headEnd/>
                <a:tailEnd/>
              </a:ln>
            </p:spPr>
            <p:txBody>
              <a:bodyPr wrap="none"/>
              <a:lstStyle/>
              <a:p>
                <a:endParaRPr lang="zh-CN" altLang="en-US"/>
              </a:p>
            </p:txBody>
          </p:sp>
        </p:grpSp>
        <p:sp>
          <p:nvSpPr>
            <p:cNvPr id="92" name="Line 125"/>
            <p:cNvSpPr>
              <a:spLocks noChangeShapeType="1"/>
            </p:cNvSpPr>
            <p:nvPr/>
          </p:nvSpPr>
          <p:spPr bwMode="auto">
            <a:xfrm flipH="1">
              <a:off x="2344" y="3931"/>
              <a:ext cx="376" cy="0"/>
            </a:xfrm>
            <a:prstGeom prst="line">
              <a:avLst/>
            </a:prstGeom>
            <a:noFill/>
            <a:ln w="19050">
              <a:solidFill>
                <a:schemeClr val="tx1"/>
              </a:solidFill>
              <a:round/>
              <a:headEnd type="triangle" w="med" len="med"/>
              <a:tailEnd/>
            </a:ln>
          </p:spPr>
          <p:txBody>
            <a:bodyPr wrap="none"/>
            <a:lstStyle/>
            <a:p>
              <a:endParaRPr lang="zh-CN" altLang="en-US"/>
            </a:p>
          </p:txBody>
        </p:sp>
        <p:grpSp>
          <p:nvGrpSpPr>
            <p:cNvPr id="93" name="Group 126"/>
            <p:cNvGrpSpPr>
              <a:grpSpLocks/>
            </p:cNvGrpSpPr>
            <p:nvPr/>
          </p:nvGrpSpPr>
          <p:grpSpPr bwMode="auto">
            <a:xfrm>
              <a:off x="2409" y="3818"/>
              <a:ext cx="218" cy="233"/>
              <a:chOff x="5140" y="403"/>
              <a:chExt cx="218" cy="233"/>
            </a:xfrm>
          </p:grpSpPr>
          <p:sp>
            <p:nvSpPr>
              <p:cNvPr id="94" name="Oval 127"/>
              <p:cNvSpPr>
                <a:spLocks noChangeArrowheads="1"/>
              </p:cNvSpPr>
              <p:nvPr/>
            </p:nvSpPr>
            <p:spPr bwMode="auto">
              <a:xfrm>
                <a:off x="5140" y="410"/>
                <a:ext cx="218" cy="218"/>
              </a:xfrm>
              <a:prstGeom prst="ellipse">
                <a:avLst/>
              </a:prstGeom>
              <a:solidFill>
                <a:schemeClr val="bg1"/>
              </a:solidFill>
              <a:ln w="9525">
                <a:solidFill>
                  <a:srgbClr val="C00000"/>
                </a:solidFill>
                <a:round/>
                <a:headEnd/>
                <a:tailEnd/>
              </a:ln>
            </p:spPr>
            <p:txBody>
              <a:bodyPr wrap="none" anchor="ctr"/>
              <a:lstStyle/>
              <a:p>
                <a:endParaRPr lang="zh-CN" altLang="en-US">
                  <a:ea typeface="宋体" charset="-122"/>
                </a:endParaRPr>
              </a:p>
            </p:txBody>
          </p:sp>
          <p:sp>
            <p:nvSpPr>
              <p:cNvPr id="95" name="Text Box 128"/>
              <p:cNvSpPr txBox="1">
                <a:spLocks noChangeArrowheads="1"/>
              </p:cNvSpPr>
              <p:nvPr/>
            </p:nvSpPr>
            <p:spPr bwMode="auto">
              <a:xfrm>
                <a:off x="5154" y="403"/>
                <a:ext cx="193" cy="233"/>
              </a:xfrm>
              <a:prstGeom prst="rect">
                <a:avLst/>
              </a:prstGeom>
              <a:noFill/>
              <a:ln w="9525">
                <a:noFill/>
                <a:miter lim="800000"/>
                <a:headEnd/>
                <a:tailEnd/>
              </a:ln>
            </p:spPr>
            <p:txBody>
              <a:bodyPr wrap="none">
                <a:spAutoFit/>
              </a:bodyPr>
              <a:lstStyle/>
              <a:p>
                <a:r>
                  <a:rPr lang="en-US" altLang="zh-CN" dirty="0">
                    <a:solidFill>
                      <a:srgbClr val="C00000"/>
                    </a:solidFill>
                    <a:ea typeface="宋体" charset="-122"/>
                  </a:rPr>
                  <a:t>3</a:t>
                </a:r>
              </a:p>
            </p:txBody>
          </p:sp>
        </p:grpSp>
      </p:grpSp>
      <p:sp>
        <p:nvSpPr>
          <p:cNvPr id="85" name="Text Box 131"/>
          <p:cNvSpPr txBox="1">
            <a:spLocks noChangeArrowheads="1"/>
          </p:cNvSpPr>
          <p:nvPr/>
        </p:nvSpPr>
        <p:spPr bwMode="auto">
          <a:xfrm>
            <a:off x="2386284" y="5034678"/>
            <a:ext cx="2728632" cy="646331"/>
          </a:xfrm>
          <a:prstGeom prst="rect">
            <a:avLst/>
          </a:prstGeom>
          <a:noFill/>
          <a:ln w="9525">
            <a:noFill/>
            <a:miter lim="800000"/>
            <a:headEnd/>
            <a:tailEnd/>
          </a:ln>
        </p:spPr>
        <p:txBody>
          <a:bodyPr wrap="none">
            <a:spAutoFit/>
          </a:bodyPr>
          <a:lstStyle/>
          <a:p>
            <a:r>
              <a:rPr lang="en-US" altLang="zh-CN" u="sng" dirty="0">
                <a:solidFill>
                  <a:srgbClr val="C00000"/>
                </a:solidFill>
                <a:ea typeface="宋体" charset="-122"/>
              </a:rPr>
              <a:t>3: </a:t>
            </a:r>
            <a:r>
              <a:rPr lang="zh-CN" altLang="en-US" u="sng" dirty="0">
                <a:solidFill>
                  <a:srgbClr val="C00000"/>
                </a:solidFill>
                <a:ea typeface="宋体" charset="-122"/>
              </a:rPr>
              <a:t>应答报文目的地址为：</a:t>
            </a:r>
            <a:endParaRPr lang="en-US" altLang="zh-CN" u="sng" dirty="0">
              <a:solidFill>
                <a:srgbClr val="C00000"/>
              </a:solidFill>
              <a:ea typeface="宋体" charset="-122"/>
            </a:endParaRPr>
          </a:p>
          <a:p>
            <a:r>
              <a:rPr lang="en-US" altLang="zh-CN" u="sng" dirty="0">
                <a:solidFill>
                  <a:srgbClr val="C00000"/>
                </a:solidFill>
                <a:ea typeface="宋体" charset="-122"/>
              </a:rPr>
              <a:t> 138.76.29.7, 5001</a:t>
            </a:r>
          </a:p>
        </p:txBody>
      </p:sp>
      <p:sp>
        <p:nvSpPr>
          <p:cNvPr id="86" name="Text Box 136"/>
          <p:cNvSpPr txBox="1">
            <a:spLocks noChangeArrowheads="1"/>
          </p:cNvSpPr>
          <p:nvPr/>
        </p:nvSpPr>
        <p:spPr bwMode="auto">
          <a:xfrm>
            <a:off x="5879813" y="4701196"/>
            <a:ext cx="2576512" cy="1477328"/>
          </a:xfrm>
          <a:prstGeom prst="rect">
            <a:avLst/>
          </a:prstGeom>
          <a:noFill/>
          <a:ln w="9525">
            <a:noFill/>
            <a:miter lim="800000"/>
            <a:headEnd/>
            <a:tailEnd/>
          </a:ln>
        </p:spPr>
        <p:txBody>
          <a:bodyPr wrap="square">
            <a:spAutoFit/>
          </a:bodyPr>
          <a:lstStyle/>
          <a:p>
            <a:r>
              <a:rPr lang="en-US" altLang="zh-CN" u="sng" dirty="0">
                <a:solidFill>
                  <a:srgbClr val="C00000"/>
                </a:solidFill>
                <a:ea typeface="宋体" charset="-122"/>
              </a:rPr>
              <a:t>4: NAT</a:t>
            </a:r>
            <a:r>
              <a:rPr lang="zh-CN" altLang="en-US" u="sng" dirty="0">
                <a:solidFill>
                  <a:srgbClr val="C00000"/>
                </a:solidFill>
                <a:ea typeface="宋体" charset="-122"/>
              </a:rPr>
              <a:t>路由器将数据包的目的地址从</a:t>
            </a:r>
            <a:r>
              <a:rPr lang="en-US" altLang="zh-CN" u="sng" dirty="0">
                <a:solidFill>
                  <a:srgbClr val="C00000"/>
                </a:solidFill>
                <a:ea typeface="宋体" charset="-122"/>
              </a:rPr>
              <a:t>138.76.29.7, 5001</a:t>
            </a:r>
            <a:r>
              <a:rPr lang="zh-CN" altLang="en-US" u="sng" dirty="0">
                <a:solidFill>
                  <a:srgbClr val="C00000"/>
                </a:solidFill>
                <a:ea typeface="宋体" charset="-122"/>
              </a:rPr>
              <a:t>更新为</a:t>
            </a:r>
            <a:r>
              <a:rPr lang="en-US" altLang="zh-CN" u="sng" dirty="0">
                <a:solidFill>
                  <a:srgbClr val="C00000"/>
                </a:solidFill>
                <a:ea typeface="宋体" charset="-122"/>
              </a:rPr>
              <a:t>10.0.0.1, 3345 </a:t>
            </a:r>
          </a:p>
          <a:p>
            <a:endParaRPr lang="en-US" altLang="zh-CN" dirty="0">
              <a:solidFill>
                <a:srgbClr val="FF0000"/>
              </a:solidFill>
              <a:ea typeface="宋体" charset="-122"/>
            </a:endParaRPr>
          </a:p>
        </p:txBody>
      </p:sp>
      <p:sp>
        <p:nvSpPr>
          <p:cNvPr id="87" name="Line 138"/>
          <p:cNvSpPr>
            <a:spLocks noChangeShapeType="1"/>
          </p:cNvSpPr>
          <p:nvPr/>
        </p:nvSpPr>
        <p:spPr bwMode="auto">
          <a:xfrm>
            <a:off x="2160299" y="4090146"/>
            <a:ext cx="3025775" cy="5517"/>
          </a:xfrm>
          <a:prstGeom prst="line">
            <a:avLst/>
          </a:prstGeom>
          <a:noFill/>
          <a:ln w="19050">
            <a:solidFill>
              <a:schemeClr val="tx1"/>
            </a:solidFill>
            <a:round/>
            <a:headEnd/>
            <a:tailEnd/>
          </a:ln>
        </p:spPr>
        <p:txBody>
          <a:bodyPr wrap="none"/>
          <a:lstStyle/>
          <a:p>
            <a:endParaRPr lang="zh-CN" altLang="en-US"/>
          </a:p>
        </p:txBody>
      </p:sp>
      <p:grpSp>
        <p:nvGrpSpPr>
          <p:cNvPr id="154" name="组合 690"/>
          <p:cNvGrpSpPr/>
          <p:nvPr/>
        </p:nvGrpSpPr>
        <p:grpSpPr>
          <a:xfrm>
            <a:off x="5348065" y="4033594"/>
            <a:ext cx="284560" cy="91357"/>
            <a:chOff x="5127381" y="4571851"/>
            <a:chExt cx="284560" cy="91357"/>
          </a:xfrm>
        </p:grpSpPr>
        <p:grpSp>
          <p:nvGrpSpPr>
            <p:cNvPr id="155" name="组合 23"/>
            <p:cNvGrpSpPr/>
            <p:nvPr/>
          </p:nvGrpSpPr>
          <p:grpSpPr>
            <a:xfrm>
              <a:off x="5140302" y="4571851"/>
              <a:ext cx="243064" cy="81832"/>
              <a:chOff x="5140302" y="4571851"/>
              <a:chExt cx="243064" cy="81832"/>
            </a:xfrm>
          </p:grpSpPr>
          <p:sp>
            <p:nvSpPr>
              <p:cNvPr id="160" name="Line 17"/>
              <p:cNvSpPr>
                <a:spLocks noChangeShapeType="1"/>
              </p:cNvSpPr>
              <p:nvPr/>
            </p:nvSpPr>
            <p:spPr bwMode="auto">
              <a:xfrm flipV="1">
                <a:off x="5140302" y="4584742"/>
                <a:ext cx="97014" cy="1760"/>
              </a:xfrm>
              <a:prstGeom prst="line">
                <a:avLst/>
              </a:prstGeom>
              <a:noFill/>
              <a:ln w="28575">
                <a:solidFill>
                  <a:schemeClr val="tx1"/>
                </a:solidFill>
                <a:round/>
                <a:headEnd/>
                <a:tailEnd/>
              </a:ln>
            </p:spPr>
            <p:txBody>
              <a:bodyPr wrap="none" anchor="ctr"/>
              <a:lstStyle/>
              <a:p>
                <a:endParaRPr lang="zh-CN" altLang="en-US"/>
              </a:p>
            </p:txBody>
          </p:sp>
          <p:sp>
            <p:nvSpPr>
              <p:cNvPr id="161" name="Line 19"/>
              <p:cNvSpPr>
                <a:spLocks noChangeShapeType="1"/>
              </p:cNvSpPr>
              <p:nvPr/>
            </p:nvSpPr>
            <p:spPr bwMode="auto">
              <a:xfrm>
                <a:off x="5220030" y="4571851"/>
                <a:ext cx="100894" cy="81832"/>
              </a:xfrm>
              <a:prstGeom prst="line">
                <a:avLst/>
              </a:prstGeom>
              <a:noFill/>
              <a:ln w="28575">
                <a:solidFill>
                  <a:schemeClr val="tx1"/>
                </a:solidFill>
                <a:round/>
                <a:headEnd/>
                <a:tailEnd/>
              </a:ln>
            </p:spPr>
            <p:txBody>
              <a:bodyPr wrap="none" anchor="ctr"/>
              <a:lstStyle/>
              <a:p>
                <a:endParaRPr lang="zh-CN" altLang="en-US"/>
              </a:p>
            </p:txBody>
          </p:sp>
          <p:sp>
            <p:nvSpPr>
              <p:cNvPr id="162" name="Line 22"/>
              <p:cNvSpPr>
                <a:spLocks noChangeShapeType="1"/>
              </p:cNvSpPr>
              <p:nvPr/>
            </p:nvSpPr>
            <p:spPr bwMode="auto">
              <a:xfrm flipV="1">
                <a:off x="5297994" y="4644691"/>
                <a:ext cx="85372" cy="0"/>
              </a:xfrm>
              <a:prstGeom prst="line">
                <a:avLst/>
              </a:prstGeom>
              <a:noFill/>
              <a:ln w="28575">
                <a:solidFill>
                  <a:schemeClr val="tx1"/>
                </a:solidFill>
                <a:round/>
                <a:headEnd/>
                <a:tailEnd/>
              </a:ln>
            </p:spPr>
            <p:txBody>
              <a:bodyPr wrap="none" anchor="ctr"/>
              <a:lstStyle/>
              <a:p>
                <a:endParaRPr lang="zh-CN" altLang="en-US"/>
              </a:p>
            </p:txBody>
          </p:sp>
        </p:grpSp>
        <p:grpSp>
          <p:nvGrpSpPr>
            <p:cNvPr id="156" name="组合 27"/>
            <p:cNvGrpSpPr/>
            <p:nvPr/>
          </p:nvGrpSpPr>
          <p:grpSpPr>
            <a:xfrm>
              <a:off x="5127381" y="4574930"/>
              <a:ext cx="284560" cy="88278"/>
              <a:chOff x="5362432" y="4876278"/>
              <a:chExt cx="284560" cy="88278"/>
            </a:xfrm>
          </p:grpSpPr>
          <p:sp>
            <p:nvSpPr>
              <p:cNvPr id="157" name="Line 18"/>
              <p:cNvSpPr>
                <a:spLocks noChangeShapeType="1"/>
              </p:cNvSpPr>
              <p:nvPr/>
            </p:nvSpPr>
            <p:spPr bwMode="auto">
              <a:xfrm>
                <a:off x="5561646" y="4876278"/>
                <a:ext cx="85346" cy="0"/>
              </a:xfrm>
              <a:prstGeom prst="line">
                <a:avLst/>
              </a:prstGeom>
              <a:noFill/>
              <a:ln w="28575">
                <a:solidFill>
                  <a:schemeClr val="tx1"/>
                </a:solidFill>
                <a:round/>
                <a:headEnd/>
                <a:tailEnd/>
              </a:ln>
            </p:spPr>
            <p:txBody>
              <a:bodyPr wrap="none" anchor="ctr"/>
              <a:lstStyle/>
              <a:p>
                <a:endParaRPr lang="zh-CN" altLang="en-US"/>
              </a:p>
            </p:txBody>
          </p:sp>
          <p:sp>
            <p:nvSpPr>
              <p:cNvPr id="158" name="Line 21"/>
              <p:cNvSpPr>
                <a:spLocks noChangeShapeType="1"/>
              </p:cNvSpPr>
              <p:nvPr/>
            </p:nvSpPr>
            <p:spPr bwMode="auto">
              <a:xfrm>
                <a:off x="5362432" y="4962698"/>
                <a:ext cx="97334" cy="1858"/>
              </a:xfrm>
              <a:prstGeom prst="line">
                <a:avLst/>
              </a:prstGeom>
              <a:noFill/>
              <a:ln w="28575">
                <a:solidFill>
                  <a:schemeClr val="tx1"/>
                </a:solidFill>
                <a:round/>
                <a:headEnd/>
                <a:tailEnd/>
              </a:ln>
            </p:spPr>
            <p:txBody>
              <a:bodyPr wrap="none" anchor="ctr"/>
              <a:lstStyle/>
              <a:p>
                <a:endParaRPr lang="zh-CN" altLang="en-US"/>
              </a:p>
            </p:txBody>
          </p:sp>
          <p:sp>
            <p:nvSpPr>
              <p:cNvPr id="159" name="Line 23"/>
              <p:cNvSpPr>
                <a:spLocks noChangeShapeType="1"/>
              </p:cNvSpPr>
              <p:nvPr/>
            </p:nvSpPr>
            <p:spPr bwMode="auto">
              <a:xfrm flipV="1">
                <a:off x="5454621" y="4878178"/>
                <a:ext cx="103294" cy="84520"/>
              </a:xfrm>
              <a:prstGeom prst="line">
                <a:avLst/>
              </a:prstGeom>
              <a:noFill/>
              <a:ln w="28575">
                <a:solidFill>
                  <a:schemeClr val="tx1"/>
                </a:solidFill>
                <a:round/>
                <a:headEnd/>
                <a:tailEnd/>
              </a:ln>
            </p:spPr>
            <p:txBody>
              <a:bodyPr wrap="none" anchor="ctr"/>
              <a:lstStyle/>
              <a:p>
                <a:endParaRPr lang="zh-CN" altLang="en-US"/>
              </a:p>
            </p:txBody>
          </p:sp>
        </p:grpSp>
      </p:grpSp>
      <p:grpSp>
        <p:nvGrpSpPr>
          <p:cNvPr id="163" name="组合 699"/>
          <p:cNvGrpSpPr/>
          <p:nvPr/>
        </p:nvGrpSpPr>
        <p:grpSpPr>
          <a:xfrm>
            <a:off x="2831812" y="3606823"/>
            <a:ext cx="346075" cy="373579"/>
            <a:chOff x="1524000" y="3906262"/>
            <a:chExt cx="346075" cy="373579"/>
          </a:xfrm>
          <a:solidFill>
            <a:schemeClr val="bg1"/>
          </a:solidFill>
        </p:grpSpPr>
        <p:sp>
          <p:nvSpPr>
            <p:cNvPr id="164" name="Text Box 107"/>
            <p:cNvSpPr txBox="1">
              <a:spLocks noChangeArrowheads="1"/>
            </p:cNvSpPr>
            <p:nvPr/>
          </p:nvSpPr>
          <p:spPr bwMode="auto">
            <a:xfrm>
              <a:off x="1533525" y="3910509"/>
              <a:ext cx="306494" cy="369332"/>
            </a:xfrm>
            <a:prstGeom prst="rect">
              <a:avLst/>
            </a:prstGeom>
            <a:grpFill/>
            <a:ln w="9525">
              <a:noFill/>
              <a:miter lim="800000"/>
              <a:headEnd/>
              <a:tailEnd/>
            </a:ln>
          </p:spPr>
          <p:txBody>
            <a:bodyPr wrap="none">
              <a:spAutoFit/>
            </a:bodyPr>
            <a:lstStyle/>
            <a:p>
              <a:r>
                <a:rPr lang="en-US" altLang="zh-CN" dirty="0">
                  <a:solidFill>
                    <a:srgbClr val="C00000"/>
                  </a:solidFill>
                  <a:ea typeface="宋体" charset="-122"/>
                </a:rPr>
                <a:t>2</a:t>
              </a:r>
            </a:p>
          </p:txBody>
        </p:sp>
        <p:sp>
          <p:nvSpPr>
            <p:cNvPr id="165" name="Oval 106"/>
            <p:cNvSpPr>
              <a:spLocks noChangeArrowheads="1"/>
            </p:cNvSpPr>
            <p:nvPr/>
          </p:nvSpPr>
          <p:spPr bwMode="auto">
            <a:xfrm>
              <a:off x="1524000" y="3906262"/>
              <a:ext cx="346075" cy="346075"/>
            </a:xfrm>
            <a:prstGeom prst="ellipse">
              <a:avLst/>
            </a:prstGeom>
            <a:grpFill/>
            <a:ln w="9525">
              <a:solidFill>
                <a:srgbClr val="C00000"/>
              </a:solidFill>
              <a:round/>
              <a:headEnd/>
              <a:tailEnd/>
            </a:ln>
          </p:spPr>
          <p:txBody>
            <a:bodyPr wrap="none" anchor="ctr"/>
            <a:lstStyle/>
            <a:p>
              <a:r>
                <a:rPr lang="en-US" altLang="zh-CN" dirty="0">
                  <a:solidFill>
                    <a:srgbClr val="C00000"/>
                  </a:solidFill>
                  <a:ea typeface="宋体" charset="-122"/>
                </a:rPr>
                <a:t>2</a:t>
              </a:r>
              <a:endParaRPr lang="zh-CN" altLang="en-US" dirty="0">
                <a:solidFill>
                  <a:srgbClr val="C00000"/>
                </a:solidFill>
                <a:ea typeface="宋体" charset="-122"/>
              </a:endParaRPr>
            </a:p>
          </p:txBody>
        </p:sp>
      </p:grpSp>
    </p:spTree>
    <p:extLst>
      <p:ext uri="{BB962C8B-B14F-4D97-AF65-F5344CB8AC3E}">
        <p14:creationId xmlns:p14="http://schemas.microsoft.com/office/powerpoint/2010/main" val="6908534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blinds(horizontal)">
                                      <p:cBhvr>
                                        <p:cTn id="7" dur="5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blinds(horizontal)">
                                      <p:cBhvr>
                                        <p:cTn id="12" dur="500"/>
                                        <p:tgtEl>
                                          <p:spTgt spid="8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5"/>
                                        </p:tgtEl>
                                        <p:attrNameLst>
                                          <p:attrName>style.visibility</p:attrName>
                                        </p:attrNameLst>
                                      </p:cBhvr>
                                      <p:to>
                                        <p:strVal val="visible"/>
                                      </p:to>
                                    </p:set>
                                    <p:animEffect transition="in" filter="blinds(horizontal)">
                                      <p:cBhvr>
                                        <p:cTn id="17" dur="500"/>
                                        <p:tgtEl>
                                          <p:spTgt spid="8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6"/>
                                        </p:tgtEl>
                                        <p:attrNameLst>
                                          <p:attrName>style.visibility</p:attrName>
                                        </p:attrNameLst>
                                      </p:cBhvr>
                                      <p:to>
                                        <p:strVal val="visible"/>
                                      </p:to>
                                    </p:set>
                                    <p:animEffect transition="in" filter="blinds(horizontal)">
                                      <p:cBhvr>
                                        <p:cTn id="22"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P spid="8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NAT</a:t>
            </a:r>
            <a:r>
              <a:rPr lang="zh-CN" altLang="en-US" dirty="0"/>
              <a:t>工作机制</a:t>
            </a:r>
          </a:p>
        </p:txBody>
      </p:sp>
      <p:sp>
        <p:nvSpPr>
          <p:cNvPr id="3" name="内容占位符 2"/>
          <p:cNvSpPr>
            <a:spLocks noGrp="1"/>
          </p:cNvSpPr>
          <p:nvPr>
            <p:ph idx="1"/>
          </p:nvPr>
        </p:nvSpPr>
        <p:spPr>
          <a:xfrm>
            <a:off x="540544" y="1893562"/>
            <a:ext cx="10806630" cy="3389637"/>
          </a:xfrm>
        </p:spPr>
        <p:txBody>
          <a:bodyPr>
            <a:normAutofit/>
          </a:bodyPr>
          <a:lstStyle/>
          <a:p>
            <a:pPr marL="457200" lvl="1" indent="-457200"/>
            <a:r>
              <a:rPr lang="zh-CN" altLang="en-US" sz="2800" dirty="0">
                <a:solidFill>
                  <a:srgbClr val="C00000"/>
                </a:solidFill>
              </a:rPr>
              <a:t>出数据包</a:t>
            </a:r>
            <a:r>
              <a:rPr lang="zh-CN" altLang="en-US" sz="2800" dirty="0">
                <a:latin typeface="等线" panose="02010600030101010101" pitchFamily="2" charset="-122"/>
                <a:ea typeface="等线" panose="02010600030101010101" pitchFamily="2" charset="-122"/>
              </a:rPr>
              <a:t>：外出数据包用</a:t>
            </a:r>
            <a:r>
              <a:rPr lang="en-US" altLang="zh-CN" sz="2800" dirty="0">
                <a:latin typeface="等线" panose="02010600030101010101" pitchFamily="2" charset="-122"/>
                <a:ea typeface="等线" panose="02010600030101010101" pitchFamily="2" charset="-122"/>
              </a:rPr>
              <a:t> NAT IP</a:t>
            </a:r>
            <a:r>
              <a:rPr lang="zh-CN" altLang="en-US" sz="2800" dirty="0">
                <a:latin typeface="等线" panose="02010600030101010101" pitchFamily="2" charset="-122"/>
                <a:ea typeface="等线" panose="02010600030101010101" pitchFamily="2" charset="-122"/>
              </a:rPr>
              <a:t>地址</a:t>
            </a:r>
            <a:r>
              <a:rPr lang="en-US" altLang="zh-CN" sz="2800" dirty="0">
                <a:latin typeface="等线" panose="02010600030101010101" pitchFamily="2" charset="-122"/>
                <a:ea typeface="等线" panose="02010600030101010101" pitchFamily="2" charset="-122"/>
              </a:rPr>
              <a:t>(</a:t>
            </a:r>
            <a:r>
              <a:rPr lang="zh-CN" altLang="en-US" sz="2800" dirty="0">
                <a:latin typeface="等线" panose="02010600030101010101" pitchFamily="2" charset="-122"/>
                <a:ea typeface="等线" panose="02010600030101010101" pitchFamily="2" charset="-122"/>
              </a:rPr>
              <a:t>全局</a:t>
            </a:r>
            <a:r>
              <a:rPr lang="en-US" altLang="zh-CN" sz="2800" dirty="0">
                <a:latin typeface="等线" panose="02010600030101010101" pitchFamily="2" charset="-122"/>
                <a:ea typeface="等线" panose="02010600030101010101" pitchFamily="2" charset="-122"/>
              </a:rPr>
              <a:t>), </a:t>
            </a:r>
            <a:r>
              <a:rPr lang="zh-CN" altLang="en-US" sz="2800" dirty="0">
                <a:latin typeface="等线" panose="02010600030101010101" pitchFamily="2" charset="-122"/>
                <a:ea typeface="等线" panose="02010600030101010101" pitchFamily="2" charset="-122"/>
              </a:rPr>
              <a:t>新</a:t>
            </a:r>
            <a:r>
              <a:rPr lang="en-US" altLang="zh-CN" sz="2800" dirty="0">
                <a:latin typeface="等线" panose="02010600030101010101" pitchFamily="2" charset="-122"/>
                <a:ea typeface="等线" panose="02010600030101010101" pitchFamily="2" charset="-122"/>
              </a:rPr>
              <a:t>port #</a:t>
            </a:r>
            <a:r>
              <a:rPr lang="zh-CN" altLang="en-US" sz="2800" dirty="0">
                <a:latin typeface="等线" panose="02010600030101010101" pitchFamily="2" charset="-122"/>
                <a:ea typeface="等线" panose="02010600030101010101" pitchFamily="2" charset="-122"/>
              </a:rPr>
              <a:t> </a:t>
            </a:r>
            <a:r>
              <a:rPr lang="zh-CN" altLang="en-US" sz="2800" dirty="0">
                <a:solidFill>
                  <a:srgbClr val="C00000"/>
                </a:solidFill>
              </a:rPr>
              <a:t>替代</a:t>
            </a:r>
            <a:r>
              <a:rPr lang="zh-CN" altLang="en-US" sz="2800" dirty="0">
                <a:solidFill>
                  <a:srgbClr val="0000CC"/>
                </a:solidFill>
                <a:latin typeface="等线" panose="02010600030101010101" pitchFamily="2" charset="-122"/>
                <a:ea typeface="等线" panose="02010600030101010101" pitchFamily="2" charset="-122"/>
              </a:rPr>
              <a:t> </a:t>
            </a:r>
            <a:r>
              <a:rPr lang="en-US" altLang="zh-CN" sz="2800" dirty="0">
                <a:latin typeface="等线" panose="02010600030101010101" pitchFamily="2" charset="-122"/>
                <a:ea typeface="等线" panose="02010600030101010101" pitchFamily="2" charset="-122"/>
              </a:rPr>
              <a:t> </a:t>
            </a:r>
            <a:r>
              <a:rPr lang="zh-CN" altLang="en-US" sz="2800" dirty="0">
                <a:latin typeface="等线" panose="02010600030101010101" pitchFamily="2" charset="-122"/>
                <a:ea typeface="等线" panose="02010600030101010101" pitchFamily="2" charset="-122"/>
              </a:rPr>
              <a:t>源</a:t>
            </a:r>
            <a:r>
              <a:rPr lang="en-US" altLang="zh-CN" sz="2800" dirty="0">
                <a:latin typeface="等线" panose="02010600030101010101" pitchFamily="2" charset="-122"/>
                <a:ea typeface="等线" panose="02010600030101010101" pitchFamily="2" charset="-122"/>
              </a:rPr>
              <a:t>IP</a:t>
            </a:r>
            <a:r>
              <a:rPr lang="zh-CN" altLang="en-US" sz="2800" dirty="0">
                <a:latin typeface="等线" panose="02010600030101010101" pitchFamily="2" charset="-122"/>
                <a:ea typeface="等线" panose="02010600030101010101" pitchFamily="2" charset="-122"/>
              </a:rPr>
              <a:t>地址</a:t>
            </a:r>
            <a:r>
              <a:rPr lang="en-US" altLang="zh-CN" sz="2800" dirty="0">
                <a:latin typeface="等线" panose="02010600030101010101" pitchFamily="2" charset="-122"/>
                <a:ea typeface="等线" panose="02010600030101010101" pitchFamily="2" charset="-122"/>
              </a:rPr>
              <a:t>(</a:t>
            </a:r>
            <a:r>
              <a:rPr lang="zh-CN" altLang="en-US" sz="2800" dirty="0">
                <a:latin typeface="等线" panose="02010600030101010101" pitchFamily="2" charset="-122"/>
                <a:ea typeface="等线" panose="02010600030101010101" pitchFamily="2" charset="-122"/>
              </a:rPr>
              <a:t>私有</a:t>
            </a:r>
            <a:r>
              <a:rPr lang="en-US" altLang="zh-CN" sz="2800" dirty="0">
                <a:latin typeface="等线" panose="02010600030101010101" pitchFamily="2" charset="-122"/>
                <a:ea typeface="等线" panose="02010600030101010101" pitchFamily="2" charset="-122"/>
              </a:rPr>
              <a:t>), port #</a:t>
            </a:r>
          </a:p>
          <a:p>
            <a:pPr marL="457200" lvl="1" indent="-457200"/>
            <a:r>
              <a:rPr lang="en-US" altLang="zh-CN" sz="2800" dirty="0">
                <a:solidFill>
                  <a:srgbClr val="C00000"/>
                </a:solidFill>
              </a:rPr>
              <a:t>NAT</a:t>
            </a:r>
            <a:r>
              <a:rPr lang="zh-CN" altLang="en-US" sz="2800" dirty="0">
                <a:solidFill>
                  <a:srgbClr val="C00000"/>
                </a:solidFill>
              </a:rPr>
              <a:t>转换表</a:t>
            </a:r>
            <a:r>
              <a:rPr lang="zh-CN" altLang="en-US" sz="2800" dirty="0">
                <a:latin typeface="等线" panose="02010600030101010101" pitchFamily="2" charset="-122"/>
                <a:ea typeface="等线" panose="02010600030101010101" pitchFamily="2" charset="-122"/>
              </a:rPr>
              <a:t>：每个 </a:t>
            </a:r>
            <a:r>
              <a:rPr lang="en-US" altLang="zh-CN" sz="2800" dirty="0">
                <a:latin typeface="等线" panose="02010600030101010101" pitchFamily="2" charset="-122"/>
                <a:ea typeface="等线" panose="02010600030101010101" pitchFamily="2" charset="-122"/>
              </a:rPr>
              <a:t>(</a:t>
            </a:r>
            <a:r>
              <a:rPr lang="zh-CN" altLang="en-US" sz="2800" dirty="0">
                <a:latin typeface="等线" panose="02010600030101010101" pitchFamily="2" charset="-122"/>
                <a:ea typeface="等线" panose="02010600030101010101" pitchFamily="2" charset="-122"/>
              </a:rPr>
              <a:t>源</a:t>
            </a:r>
            <a:r>
              <a:rPr lang="en-US" altLang="zh-CN" sz="2800" dirty="0">
                <a:latin typeface="等线" panose="02010600030101010101" pitchFamily="2" charset="-122"/>
                <a:ea typeface="等线" panose="02010600030101010101" pitchFamily="2" charset="-122"/>
              </a:rPr>
              <a:t>IP</a:t>
            </a:r>
            <a:r>
              <a:rPr lang="zh-CN" altLang="en-US" sz="2800" dirty="0">
                <a:latin typeface="等线" panose="02010600030101010101" pitchFamily="2" charset="-122"/>
                <a:ea typeface="等线" panose="02010600030101010101" pitchFamily="2" charset="-122"/>
              </a:rPr>
              <a:t>地址</a:t>
            </a:r>
            <a:r>
              <a:rPr lang="en-US" altLang="zh-CN" sz="2800" dirty="0">
                <a:latin typeface="等线" panose="02010600030101010101" pitchFamily="2" charset="-122"/>
                <a:ea typeface="等线" panose="02010600030101010101" pitchFamily="2" charset="-122"/>
              </a:rPr>
              <a:t>, port #)</a:t>
            </a:r>
            <a:r>
              <a:rPr lang="zh-CN" altLang="en-US" sz="2800" dirty="0">
                <a:latin typeface="等线" panose="02010600030101010101" pitchFamily="2" charset="-122"/>
                <a:ea typeface="等线" panose="02010600030101010101" pitchFamily="2" charset="-122"/>
              </a:rPr>
              <a:t>到</a:t>
            </a:r>
            <a:r>
              <a:rPr lang="en-US" altLang="zh-CN" sz="2800" dirty="0">
                <a:latin typeface="等线" panose="02010600030101010101" pitchFamily="2" charset="-122"/>
                <a:ea typeface="等线" panose="02010600030101010101" pitchFamily="2" charset="-122"/>
              </a:rPr>
              <a:t>(NAT IP</a:t>
            </a:r>
            <a:r>
              <a:rPr lang="zh-CN" altLang="en-US" sz="2800" dirty="0">
                <a:latin typeface="等线" panose="02010600030101010101" pitchFamily="2" charset="-122"/>
                <a:ea typeface="等线" panose="02010600030101010101" pitchFamily="2" charset="-122"/>
              </a:rPr>
              <a:t>地址</a:t>
            </a:r>
            <a:r>
              <a:rPr lang="en-US" altLang="zh-CN" sz="2800" dirty="0">
                <a:latin typeface="等线" panose="02010600030101010101" pitchFamily="2" charset="-122"/>
                <a:ea typeface="等线" panose="02010600030101010101" pitchFamily="2" charset="-122"/>
              </a:rPr>
              <a:t>, </a:t>
            </a:r>
            <a:r>
              <a:rPr lang="zh-CN" altLang="en-US" sz="2800" dirty="0">
                <a:latin typeface="等线" panose="02010600030101010101" pitchFamily="2" charset="-122"/>
                <a:ea typeface="等线" panose="02010600030101010101" pitchFamily="2" charset="-122"/>
              </a:rPr>
              <a:t>新</a:t>
            </a:r>
            <a:r>
              <a:rPr lang="en-US" altLang="zh-CN" sz="2800" dirty="0">
                <a:latin typeface="等线" panose="02010600030101010101" pitchFamily="2" charset="-122"/>
                <a:ea typeface="等线" panose="02010600030101010101" pitchFamily="2" charset="-122"/>
              </a:rPr>
              <a:t>port #) </a:t>
            </a:r>
            <a:r>
              <a:rPr lang="zh-CN" altLang="en-US" sz="2800" dirty="0">
                <a:latin typeface="等线" panose="02010600030101010101" pitchFamily="2" charset="-122"/>
                <a:ea typeface="等线" panose="02010600030101010101" pitchFamily="2" charset="-122"/>
              </a:rPr>
              <a:t>映射项</a:t>
            </a:r>
          </a:p>
          <a:p>
            <a:pPr marL="457200" lvl="1" indent="-457200"/>
            <a:r>
              <a:rPr lang="zh-CN" altLang="en-US" sz="2800" dirty="0">
                <a:solidFill>
                  <a:srgbClr val="C00000"/>
                </a:solidFill>
              </a:rPr>
              <a:t>入数据包</a:t>
            </a:r>
            <a:r>
              <a:rPr lang="zh-CN" altLang="en-US" sz="2800" dirty="0">
                <a:latin typeface="等线" panose="02010600030101010101" pitchFamily="2" charset="-122"/>
                <a:ea typeface="等线" panose="02010600030101010101" pitchFamily="2" charset="-122"/>
              </a:rPr>
              <a:t>：对每个入数据包的地址字段用存储在</a:t>
            </a:r>
            <a:r>
              <a:rPr lang="en-US" altLang="zh-CN" sz="2800" dirty="0">
                <a:latin typeface="等线" panose="02010600030101010101" pitchFamily="2" charset="-122"/>
                <a:ea typeface="等线" panose="02010600030101010101" pitchFamily="2" charset="-122"/>
              </a:rPr>
              <a:t>NAT</a:t>
            </a:r>
            <a:r>
              <a:rPr lang="zh-CN" altLang="en-US" sz="2800" dirty="0">
                <a:latin typeface="等线" panose="02010600030101010101" pitchFamily="2" charset="-122"/>
                <a:ea typeface="等线" panose="02010600030101010101" pitchFamily="2" charset="-122"/>
              </a:rPr>
              <a:t>表中的</a:t>
            </a:r>
            <a:r>
              <a:rPr lang="en-US" altLang="zh-CN" sz="2800" dirty="0">
                <a:latin typeface="等线" panose="02010600030101010101" pitchFamily="2" charset="-122"/>
                <a:ea typeface="等线" panose="02010600030101010101" pitchFamily="2" charset="-122"/>
              </a:rPr>
              <a:t>(</a:t>
            </a:r>
            <a:r>
              <a:rPr lang="zh-CN" altLang="en-US" sz="2800" dirty="0">
                <a:latin typeface="等线" panose="02010600030101010101" pitchFamily="2" charset="-122"/>
                <a:ea typeface="等线" panose="02010600030101010101" pitchFamily="2" charset="-122"/>
              </a:rPr>
              <a:t>源</a:t>
            </a:r>
            <a:r>
              <a:rPr lang="en-US" altLang="zh-CN" sz="2800" dirty="0">
                <a:latin typeface="等线" panose="02010600030101010101" pitchFamily="2" charset="-122"/>
                <a:ea typeface="等线" panose="02010600030101010101" pitchFamily="2" charset="-122"/>
              </a:rPr>
              <a:t>IP</a:t>
            </a:r>
            <a:r>
              <a:rPr lang="zh-CN" altLang="en-US" sz="2800" dirty="0">
                <a:latin typeface="等线" panose="02010600030101010101" pitchFamily="2" charset="-122"/>
                <a:ea typeface="等线" panose="02010600030101010101" pitchFamily="2" charset="-122"/>
              </a:rPr>
              <a:t>地址</a:t>
            </a:r>
            <a:r>
              <a:rPr lang="en-US" altLang="zh-CN" sz="2800" dirty="0">
                <a:latin typeface="等线" panose="02010600030101010101" pitchFamily="2" charset="-122"/>
                <a:ea typeface="等线" panose="02010600030101010101" pitchFamily="2" charset="-122"/>
              </a:rPr>
              <a:t>, port #)</a:t>
            </a:r>
            <a:r>
              <a:rPr lang="zh-CN" altLang="en-US" sz="2800" dirty="0">
                <a:solidFill>
                  <a:srgbClr val="C00000"/>
                </a:solidFill>
              </a:rPr>
              <a:t>替代</a:t>
            </a:r>
            <a:r>
              <a:rPr lang="zh-CN" altLang="en-US" sz="2800" dirty="0">
                <a:latin typeface="等线" panose="02010600030101010101" pitchFamily="2" charset="-122"/>
                <a:ea typeface="等线" panose="02010600030101010101" pitchFamily="2" charset="-122"/>
              </a:rPr>
              <a:t>对应的</a:t>
            </a:r>
            <a:r>
              <a:rPr lang="en-US" altLang="zh-CN" sz="2800" dirty="0">
                <a:solidFill>
                  <a:schemeClr val="accent2"/>
                </a:solidFill>
                <a:latin typeface="等线" panose="02010600030101010101" pitchFamily="2" charset="-122"/>
                <a:ea typeface="等线" panose="02010600030101010101" pitchFamily="2" charset="-122"/>
              </a:rPr>
              <a:t> </a:t>
            </a:r>
            <a:r>
              <a:rPr lang="en-US" altLang="zh-CN" sz="2800" dirty="0">
                <a:latin typeface="等线" panose="02010600030101010101" pitchFamily="2" charset="-122"/>
                <a:ea typeface="等线" panose="02010600030101010101" pitchFamily="2" charset="-122"/>
              </a:rPr>
              <a:t>(NAT IP</a:t>
            </a:r>
            <a:r>
              <a:rPr lang="zh-CN" altLang="en-US" sz="2800" dirty="0">
                <a:latin typeface="等线" panose="02010600030101010101" pitchFamily="2" charset="-122"/>
                <a:ea typeface="等线" panose="02010600030101010101" pitchFamily="2" charset="-122"/>
              </a:rPr>
              <a:t>地址</a:t>
            </a:r>
            <a:r>
              <a:rPr lang="en-US" altLang="zh-CN" sz="2800" dirty="0">
                <a:latin typeface="等线" panose="02010600030101010101" pitchFamily="2" charset="-122"/>
                <a:ea typeface="等线" panose="02010600030101010101" pitchFamily="2" charset="-122"/>
              </a:rPr>
              <a:t>, </a:t>
            </a:r>
            <a:r>
              <a:rPr lang="zh-CN" altLang="en-US" sz="2800" dirty="0">
                <a:latin typeface="等线" panose="02010600030101010101" pitchFamily="2" charset="-122"/>
                <a:ea typeface="等线" panose="02010600030101010101" pitchFamily="2" charset="-122"/>
              </a:rPr>
              <a:t>新</a:t>
            </a:r>
            <a:r>
              <a:rPr lang="en-US" altLang="zh-CN" sz="2800" dirty="0">
                <a:latin typeface="等线" panose="02010600030101010101" pitchFamily="2" charset="-122"/>
                <a:ea typeface="等线" panose="02010600030101010101" pitchFamily="2" charset="-122"/>
              </a:rPr>
              <a:t>port #) </a:t>
            </a:r>
            <a:endParaRPr lang="zh-CN" altLang="en-US" sz="2800" dirty="0">
              <a:latin typeface="等线" panose="02010600030101010101" pitchFamily="2" charset="-122"/>
              <a:ea typeface="等线" panose="02010600030101010101" pitchFamily="2" charset="-122"/>
            </a:endParaRPr>
          </a:p>
          <a:p>
            <a:pPr>
              <a:buFont typeface="Arial" panose="020B0604020202020204" pitchFamily="34" charset="0"/>
              <a:buChar char="•"/>
            </a:pPr>
            <a:endParaRPr lang="zh-CN" altLang="en-US" sz="3600" dirty="0"/>
          </a:p>
        </p:txBody>
      </p:sp>
      <p:sp>
        <p:nvSpPr>
          <p:cNvPr id="8"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5.2.5 NAT</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9"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42</a:t>
            </a:fld>
            <a:endParaRPr kumimoji="1" lang="zh-CN" altLang="en-US" dirty="0"/>
          </a:p>
        </p:txBody>
      </p:sp>
    </p:spTree>
    <p:extLst>
      <p:ext uri="{BB962C8B-B14F-4D97-AF65-F5344CB8AC3E}">
        <p14:creationId xmlns:p14="http://schemas.microsoft.com/office/powerpoint/2010/main" val="395128923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网络地址转换</a:t>
            </a:r>
          </a:p>
        </p:txBody>
      </p:sp>
      <p:sp>
        <p:nvSpPr>
          <p:cNvPr id="12"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2743200" cy="365125"/>
          </a:xfrm>
        </p:spPr>
        <p:txBody>
          <a:bodyPr/>
          <a:lstStyle/>
          <a:p>
            <a:r>
              <a:rPr lang="en-US" altLang="zh-CN" dirty="0">
                <a:solidFill>
                  <a:schemeClr val="bg1">
                    <a:lumMod val="65000"/>
                  </a:schemeClr>
                </a:solidFill>
                <a:latin typeface="等线" panose="02010600030101010101" pitchFamily="2" charset="-122"/>
                <a:ea typeface="等线" panose="02010600030101010101" pitchFamily="2" charset="-122"/>
              </a:rPr>
              <a:t>5.2.5 NAT</a:t>
            </a:r>
            <a:endParaRPr lang="zh-CN" altLang="en-US" dirty="0">
              <a:solidFill>
                <a:schemeClr val="bg1">
                  <a:lumMod val="65000"/>
                </a:schemeClr>
              </a:solidFill>
              <a:latin typeface="等线" panose="02010600030101010101" pitchFamily="2" charset="-122"/>
              <a:ea typeface="等线" panose="02010600030101010101" pitchFamily="2" charset="-122"/>
            </a:endParaRPr>
          </a:p>
        </p:txBody>
      </p:sp>
      <p:sp>
        <p:nvSpPr>
          <p:cNvPr id="13"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a:xfrm>
            <a:off x="8686810" y="6489303"/>
            <a:ext cx="3319670" cy="365125"/>
          </a:xfrm>
        </p:spPr>
        <p:txBody>
          <a:bodyPr/>
          <a:lstStyle/>
          <a:p>
            <a:fld id="{8D4D1E41-7A09-AB4A-A4E1-09765ADA2698}" type="slidenum">
              <a:rPr kumimoji="1" lang="zh-CN" altLang="en-US" smtClean="0"/>
              <a:pPr/>
              <a:t>43</a:t>
            </a:fld>
            <a:endParaRPr kumimoji="1" lang="zh-CN" altLang="en-US" dirty="0"/>
          </a:p>
        </p:txBody>
      </p:sp>
      <p:sp>
        <p:nvSpPr>
          <p:cNvPr id="14" name="内容占位符 2">
            <a:extLst>
              <a:ext uri="{FF2B5EF4-FFF2-40B4-BE49-F238E27FC236}">
                <a16:creationId xmlns:a16="http://schemas.microsoft.com/office/drawing/2014/main" id="{DB830B1C-0706-7E41-AE1A-DEBBD115D846}"/>
              </a:ext>
            </a:extLst>
          </p:cNvPr>
          <p:cNvSpPr>
            <a:spLocks noGrp="1"/>
          </p:cNvSpPr>
          <p:nvPr>
            <p:ph idx="1"/>
          </p:nvPr>
        </p:nvSpPr>
        <p:spPr>
          <a:xfrm>
            <a:off x="589856" y="1463276"/>
            <a:ext cx="6681275" cy="4706756"/>
          </a:xfrm>
        </p:spPr>
        <p:txBody>
          <a:bodyPr>
            <a:normAutofit/>
          </a:bodyPr>
          <a:lstStyle/>
          <a:p>
            <a:pPr>
              <a:lnSpc>
                <a:spcPct val="110000"/>
              </a:lnSpc>
            </a:pPr>
            <a:r>
              <a:rPr lang="en-US" altLang="zh-CN" sz="2400" dirty="0"/>
              <a:t>NAT</a:t>
            </a:r>
            <a:r>
              <a:rPr lang="zh-CN" altLang="en-US" sz="2400" dirty="0"/>
              <a:t>根据不同的</a:t>
            </a:r>
            <a:r>
              <a:rPr lang="en-US" altLang="zh-CN" sz="2400" dirty="0"/>
              <a:t>IP</a:t>
            </a:r>
            <a:r>
              <a:rPr lang="zh-CN" altLang="en-US" sz="2400" dirty="0"/>
              <a:t>上层协议进行</a:t>
            </a:r>
            <a:r>
              <a:rPr lang="en-US" altLang="zh-CN" sz="2400" dirty="0"/>
              <a:t>NAT</a:t>
            </a:r>
            <a:r>
              <a:rPr lang="zh-CN" altLang="en-US" sz="2400" dirty="0"/>
              <a:t>表项管理</a:t>
            </a:r>
          </a:p>
          <a:p>
            <a:pPr lvl="1">
              <a:lnSpc>
                <a:spcPct val="110000"/>
              </a:lnSpc>
            </a:pPr>
            <a:r>
              <a:rPr lang="en-US" altLang="zh-CN" sz="2000" dirty="0"/>
              <a:t>TCP</a:t>
            </a:r>
            <a:r>
              <a:rPr lang="zh-CN" altLang="en-US" sz="2000" dirty="0"/>
              <a:t>，</a:t>
            </a:r>
            <a:r>
              <a:rPr lang="en-US" altLang="zh-CN" sz="2000" dirty="0"/>
              <a:t>UDP</a:t>
            </a:r>
            <a:r>
              <a:rPr lang="zh-CN" altLang="en-US" sz="2000" dirty="0"/>
              <a:t>，</a:t>
            </a:r>
            <a:r>
              <a:rPr lang="en-US" altLang="zh-CN" sz="2000" dirty="0"/>
              <a:t>ICMP</a:t>
            </a:r>
          </a:p>
          <a:p>
            <a:pPr>
              <a:lnSpc>
                <a:spcPct val="110000"/>
              </a:lnSpc>
            </a:pPr>
            <a:r>
              <a:rPr lang="zh-CN" altLang="en-US" sz="2400" dirty="0"/>
              <a:t>传输层</a:t>
            </a:r>
            <a:r>
              <a:rPr lang="en-US" altLang="zh-CN" sz="2400" dirty="0"/>
              <a:t>TCP/UDP</a:t>
            </a:r>
            <a:r>
              <a:rPr lang="zh-CN" altLang="en-US" sz="2400" dirty="0"/>
              <a:t>拥有</a:t>
            </a:r>
            <a:r>
              <a:rPr lang="en-US" altLang="zh-CN" sz="2400" dirty="0"/>
              <a:t>16-bit </a:t>
            </a:r>
            <a:r>
              <a:rPr lang="zh-CN" altLang="en-US" sz="2400" dirty="0"/>
              <a:t>端口号字段</a:t>
            </a:r>
          </a:p>
          <a:p>
            <a:pPr lvl="1">
              <a:lnSpc>
                <a:spcPct val="110000"/>
              </a:lnSpc>
            </a:pPr>
            <a:r>
              <a:rPr lang="zh-CN" altLang="en-US" sz="2000" dirty="0"/>
              <a:t>所以一个</a:t>
            </a:r>
            <a:r>
              <a:rPr lang="en-US" altLang="zh-CN" sz="2000" dirty="0"/>
              <a:t>WAN</a:t>
            </a:r>
            <a:r>
              <a:rPr lang="zh-CN" altLang="en-US" sz="2000" dirty="0"/>
              <a:t>侧地址可支持</a:t>
            </a:r>
            <a:r>
              <a:rPr lang="en-US" altLang="zh-CN" sz="2000" dirty="0"/>
              <a:t>60,000</a:t>
            </a:r>
            <a:r>
              <a:rPr lang="zh-CN" altLang="en-US" sz="2000" dirty="0"/>
              <a:t>个并行连接</a:t>
            </a:r>
            <a:endParaRPr lang="en-US" altLang="zh-CN" sz="2000" dirty="0"/>
          </a:p>
          <a:p>
            <a:pPr marL="360363" lvl="1" indent="-360363">
              <a:lnSpc>
                <a:spcPct val="110000"/>
              </a:lnSpc>
              <a:buFont typeface="Wingdings" pitchFamily="2" charset="2"/>
              <a:buChar char="Ø"/>
            </a:pPr>
            <a:endParaRPr lang="en-US" altLang="zh-CN" dirty="0"/>
          </a:p>
          <a:p>
            <a:pPr marL="360363" lvl="1" indent="-360363">
              <a:lnSpc>
                <a:spcPct val="110000"/>
              </a:lnSpc>
              <a:buFont typeface="Wingdings" pitchFamily="2" charset="2"/>
              <a:buChar char="Ø"/>
            </a:pPr>
            <a:r>
              <a:rPr lang="en-US" altLang="zh-CN" dirty="0"/>
              <a:t>NAT</a:t>
            </a:r>
            <a:r>
              <a:rPr lang="zh-CN" altLang="en-US" dirty="0"/>
              <a:t>的优势</a:t>
            </a:r>
            <a:endParaRPr lang="en-US" altLang="zh-CN" dirty="0"/>
          </a:p>
          <a:p>
            <a:pPr marL="800100" lvl="1" indent="-342900" fontAlgn="b"/>
            <a:r>
              <a:rPr lang="zh-CN" altLang="zh-CN" sz="2000" dirty="0"/>
              <a:t>节省合法地址</a:t>
            </a:r>
            <a:r>
              <a:rPr lang="zh-CN" altLang="en-US" sz="2000" dirty="0"/>
              <a:t>，</a:t>
            </a:r>
            <a:r>
              <a:rPr lang="zh-CN" altLang="zh-CN" sz="2000" dirty="0"/>
              <a:t>减少地址冲突</a:t>
            </a:r>
          </a:p>
          <a:p>
            <a:pPr marL="800100" lvl="1" indent="-342900" fontAlgn="b"/>
            <a:r>
              <a:rPr lang="zh-CN" altLang="zh-CN" sz="2000" dirty="0"/>
              <a:t>灵活连接</a:t>
            </a:r>
            <a:r>
              <a:rPr lang="en-US" altLang="zh-CN" sz="2000" dirty="0"/>
              <a:t>Internet</a:t>
            </a:r>
            <a:endParaRPr lang="zh-CN" altLang="zh-CN" sz="2000" dirty="0"/>
          </a:p>
          <a:p>
            <a:pPr marL="800100" lvl="1" indent="-342900" fontAlgn="b"/>
            <a:r>
              <a:rPr lang="zh-CN" altLang="en-US" sz="2000" dirty="0"/>
              <a:t>保护</a:t>
            </a:r>
            <a:r>
              <a:rPr lang="zh-CN" altLang="zh-CN" sz="2000" dirty="0"/>
              <a:t>局域网的私密性</a:t>
            </a:r>
          </a:p>
          <a:p>
            <a:pPr marL="457200" lvl="1" indent="0">
              <a:lnSpc>
                <a:spcPct val="110000"/>
              </a:lnSpc>
              <a:buNone/>
            </a:pPr>
            <a:endParaRPr lang="zh-CN" altLang="en-US" sz="2000" dirty="0"/>
          </a:p>
        </p:txBody>
      </p:sp>
      <p:sp>
        <p:nvSpPr>
          <p:cNvPr id="15" name="内容占位符 2">
            <a:extLst>
              <a:ext uri="{FF2B5EF4-FFF2-40B4-BE49-F238E27FC236}">
                <a16:creationId xmlns:a16="http://schemas.microsoft.com/office/drawing/2014/main" id="{DB830B1C-0706-7E41-AE1A-DEBBD115D846}"/>
              </a:ext>
            </a:extLst>
          </p:cNvPr>
          <p:cNvSpPr txBox="1">
            <a:spLocks/>
          </p:cNvSpPr>
          <p:nvPr/>
        </p:nvSpPr>
        <p:spPr>
          <a:xfrm>
            <a:off x="5520611" y="3717501"/>
            <a:ext cx="6234387" cy="2553696"/>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0363" lvl="1" indent="-360363">
              <a:lnSpc>
                <a:spcPct val="110000"/>
              </a:lnSpc>
              <a:buFont typeface="Wingdings" pitchFamily="2" charset="2"/>
              <a:buChar char="Ø"/>
            </a:pPr>
            <a:r>
              <a:rPr lang="zh-CN" altLang="en-US" dirty="0">
                <a:latin typeface="DengXian" panose="02010600030101010101" pitchFamily="2" charset="-122"/>
                <a:ea typeface="DengXian" panose="02010600030101010101" pitchFamily="2" charset="-122"/>
              </a:rPr>
              <a:t>问题或缺点</a:t>
            </a:r>
            <a:endParaRPr lang="en-US" altLang="zh-CN" dirty="0">
              <a:latin typeface="DengXian" panose="02010600030101010101" pitchFamily="2" charset="-122"/>
              <a:ea typeface="DengXian" panose="02010600030101010101" pitchFamily="2" charset="-122"/>
            </a:endParaRPr>
          </a:p>
          <a:p>
            <a:pPr marL="800100" lvl="1" indent="-342900" fontAlgn="b"/>
            <a:r>
              <a:rPr kumimoji="1" lang="zh-CN" altLang="en-US" sz="2000" dirty="0">
                <a:solidFill>
                  <a:srgbClr val="000000"/>
                </a:solidFill>
                <a:latin typeface="等线" panose="02010600030101010101" pitchFamily="2" charset="-122"/>
                <a:ea typeface="等线" panose="02010600030101010101" pitchFamily="2" charset="-122"/>
              </a:rPr>
              <a:t>违反了</a:t>
            </a:r>
            <a:r>
              <a:rPr kumimoji="1" lang="en-US" altLang="zh-CN" sz="2000" dirty="0">
                <a:solidFill>
                  <a:srgbClr val="000000"/>
                </a:solidFill>
                <a:latin typeface="等线" panose="02010600030101010101" pitchFamily="2" charset="-122"/>
                <a:ea typeface="等线" panose="02010600030101010101" pitchFamily="2" charset="-122"/>
              </a:rPr>
              <a:t>IP</a:t>
            </a:r>
            <a:r>
              <a:rPr kumimoji="1" lang="zh-CN" altLang="en-US" sz="2000" dirty="0">
                <a:solidFill>
                  <a:srgbClr val="000000"/>
                </a:solidFill>
                <a:latin typeface="等线" panose="02010600030101010101" pitchFamily="2" charset="-122"/>
                <a:ea typeface="等线" panose="02010600030101010101" pitchFamily="2" charset="-122"/>
              </a:rPr>
              <a:t>的结构模型，路由器处理传输层协议</a:t>
            </a:r>
          </a:p>
          <a:p>
            <a:pPr marL="800100" lvl="1" indent="-342900" fontAlgn="b"/>
            <a:r>
              <a:rPr kumimoji="1" lang="zh-CN" altLang="en-US" sz="2000" dirty="0">
                <a:solidFill>
                  <a:srgbClr val="000000"/>
                </a:solidFill>
                <a:latin typeface="等线" panose="02010600030101010101" pitchFamily="2" charset="-122"/>
                <a:ea typeface="等线" panose="02010600030101010101" pitchFamily="2" charset="-122"/>
              </a:rPr>
              <a:t>违反了端到端的原则</a:t>
            </a:r>
            <a:endParaRPr kumimoji="1" lang="en-US" altLang="zh-CN" sz="2000" dirty="0">
              <a:solidFill>
                <a:srgbClr val="000000"/>
              </a:solidFill>
              <a:latin typeface="等线" panose="02010600030101010101" pitchFamily="2" charset="-122"/>
              <a:ea typeface="等线" panose="02010600030101010101" pitchFamily="2" charset="-122"/>
            </a:endParaRPr>
          </a:p>
          <a:p>
            <a:pPr marL="800100" lvl="1" indent="-342900" fontAlgn="b"/>
            <a:r>
              <a:rPr kumimoji="1" lang="zh-CN" altLang="en-US" sz="2000" dirty="0">
                <a:solidFill>
                  <a:srgbClr val="000000"/>
                </a:solidFill>
                <a:latin typeface="等线" panose="02010600030101010101" pitchFamily="2" charset="-122"/>
                <a:ea typeface="等线" panose="02010600030101010101" pitchFamily="2" charset="-122"/>
              </a:rPr>
              <a:t>违反了最基本的协议分层规则</a:t>
            </a:r>
            <a:endParaRPr kumimoji="1" lang="zh-CN" altLang="en-US" sz="2000" dirty="0">
              <a:latin typeface="等线" panose="02010600030101010101" pitchFamily="2" charset="-122"/>
              <a:ea typeface="等线" panose="02010600030101010101" pitchFamily="2" charset="-122"/>
            </a:endParaRPr>
          </a:p>
          <a:p>
            <a:pPr marL="800100" lvl="1" indent="-342900" fontAlgn="b"/>
            <a:endParaRPr lang="zh-CN" altLang="zh-CN" sz="2000" dirty="0">
              <a:latin typeface="DengXian" panose="02010600030101010101" pitchFamily="2" charset="-122"/>
              <a:ea typeface="DengXian" panose="02010600030101010101" pitchFamily="2" charset="-122"/>
            </a:endParaRPr>
          </a:p>
          <a:p>
            <a:pPr marL="457200" lvl="1" indent="0">
              <a:lnSpc>
                <a:spcPct val="110000"/>
              </a:lnSpc>
              <a:buFont typeface="Arial" panose="020B0604020202020204" pitchFamily="34" charset="0"/>
              <a:buNone/>
            </a:pPr>
            <a:endParaRPr lang="zh-CN" altLang="en-US" sz="2000"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39376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等线" panose="02010600030101010101" pitchFamily="2" charset="-122"/>
                <a:ea typeface="等线" panose="02010600030101010101" pitchFamily="2" charset="-122"/>
                <a:cs typeface="Times New Roman" panose="02020603050405020304" pitchFamily="18" charset="0"/>
              </a:rPr>
              <a:t>IPv4</a:t>
            </a:r>
            <a:r>
              <a:rPr lang="zh-CN" altLang="en-US" dirty="0">
                <a:latin typeface="等线" panose="02010600030101010101" pitchFamily="2" charset="-122"/>
                <a:ea typeface="等线" panose="02010600030101010101" pitchFamily="2" charset="-122"/>
                <a:cs typeface="Times New Roman" panose="02020603050405020304" pitchFamily="18" charset="0"/>
              </a:rPr>
              <a:t>地址如何获取</a:t>
            </a:r>
            <a:endParaRPr lang="zh-CN" altLang="en-US" dirty="0">
              <a:latin typeface="等线" panose="02010600030101010101" pitchFamily="2" charset="-122"/>
              <a:ea typeface="等线" panose="02010600030101010101" pitchFamily="2" charset="-122"/>
            </a:endParaRPr>
          </a:p>
        </p:txBody>
      </p:sp>
      <p:sp>
        <p:nvSpPr>
          <p:cNvPr id="3" name="内容占位符 2"/>
          <p:cNvSpPr>
            <a:spLocks noGrp="1"/>
          </p:cNvSpPr>
          <p:nvPr>
            <p:ph idx="1"/>
          </p:nvPr>
        </p:nvSpPr>
        <p:spPr/>
        <p:txBody>
          <a:bodyPr>
            <a:normAutofit fontScale="92500" lnSpcReduction="10000"/>
          </a:bodyPr>
          <a:lstStyle/>
          <a:p>
            <a:pPr>
              <a:lnSpc>
                <a:spcPct val="130000"/>
              </a:lnSpc>
            </a:pPr>
            <a:r>
              <a:rPr lang="zh-CN" altLang="en-US" dirty="0">
                <a:latin typeface="等线" panose="02010600030101010101" pitchFamily="2" charset="-122"/>
                <a:ea typeface="等线" panose="02010600030101010101" pitchFamily="2" charset="-122"/>
                <a:cs typeface="Times New Roman" panose="02020603050405020304" pitchFamily="18" charset="0"/>
              </a:rPr>
              <a:t>公有</a:t>
            </a:r>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地址要求全球唯一</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lvl="1">
              <a:lnSpc>
                <a:spcPct val="130000"/>
              </a:lnSpc>
            </a:pPr>
            <a:r>
              <a:rPr lang="en-US" altLang="zh-CN" dirty="0">
                <a:latin typeface="等线" panose="02010600030101010101" pitchFamily="2" charset="-122"/>
                <a:ea typeface="等线" panose="02010600030101010101" pitchFamily="2" charset="-122"/>
                <a:cs typeface="Times New Roman" panose="02020603050405020304" pitchFamily="18" charset="0"/>
              </a:rPr>
              <a:t> ICANN</a:t>
            </a:r>
            <a:r>
              <a:rPr lang="zh-CN" altLang="en-US" dirty="0">
                <a:latin typeface="等线" panose="02010600030101010101" pitchFamily="2" charset="-122"/>
                <a:ea typeface="等线" panose="02010600030101010101" pitchFamily="2" charset="-122"/>
                <a:cs typeface="Times New Roman" panose="02020603050405020304" pitchFamily="18" charset="0"/>
              </a:rPr>
              <a:t>（</a:t>
            </a:r>
            <a:r>
              <a:rPr lang="en-US" altLang="zh-CN" dirty="0">
                <a:latin typeface="等线" panose="02010600030101010101" pitchFamily="2" charset="-122"/>
                <a:ea typeface="等线" panose="02010600030101010101" pitchFamily="2" charset="-122"/>
                <a:cs typeface="Times New Roman" panose="02020603050405020304" pitchFamily="18" charset="0"/>
              </a:rPr>
              <a:t>Internet Corporation for Assigned Names and Numbers</a:t>
            </a:r>
            <a:r>
              <a:rPr lang="zh-CN" altLang="en-US" dirty="0">
                <a:latin typeface="等线" panose="02010600030101010101" pitchFamily="2" charset="-122"/>
                <a:ea typeface="等线" panose="02010600030101010101" pitchFamily="2" charset="-122"/>
                <a:cs typeface="Times New Roman" panose="02020603050405020304" pitchFamily="18" charset="0"/>
              </a:rPr>
              <a:t>）即互联网名字与编号分配机构向</a:t>
            </a:r>
            <a:r>
              <a:rPr lang="en-US" altLang="zh-CN" dirty="0">
                <a:latin typeface="等线" panose="02010600030101010101" pitchFamily="2" charset="-122"/>
                <a:ea typeface="等线" panose="02010600030101010101" pitchFamily="2" charset="-122"/>
                <a:cs typeface="Times New Roman" panose="02020603050405020304" pitchFamily="18" charset="0"/>
              </a:rPr>
              <a:t>ISP</a:t>
            </a:r>
            <a:r>
              <a:rPr lang="zh-CN" altLang="en-US" dirty="0">
                <a:latin typeface="等线" panose="02010600030101010101" pitchFamily="2" charset="-122"/>
                <a:ea typeface="等线" panose="02010600030101010101" pitchFamily="2" charset="-122"/>
                <a:cs typeface="Times New Roman" panose="02020603050405020304" pitchFamily="18" charset="0"/>
              </a:rPr>
              <a:t>分配，</a:t>
            </a:r>
            <a:r>
              <a:rPr lang="en-US" altLang="zh-CN" dirty="0">
                <a:latin typeface="等线" panose="02010600030101010101" pitchFamily="2" charset="-122"/>
                <a:ea typeface="等线" panose="02010600030101010101" pitchFamily="2" charset="-122"/>
                <a:cs typeface="Times New Roman" panose="02020603050405020304" pitchFamily="18" charset="0"/>
              </a:rPr>
              <a:t>ISP</a:t>
            </a:r>
            <a:r>
              <a:rPr lang="zh-CN" altLang="en-US" dirty="0">
                <a:latin typeface="等线" panose="02010600030101010101" pitchFamily="2" charset="-122"/>
                <a:ea typeface="等线" panose="02010600030101010101" pitchFamily="2" charset="-122"/>
                <a:cs typeface="Times New Roman" panose="02020603050405020304" pitchFamily="18" charset="0"/>
              </a:rPr>
              <a:t>再向所属机构或组织逐级分配</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a:lnSpc>
                <a:spcPct val="130000"/>
              </a:lnSpc>
            </a:pPr>
            <a:r>
              <a:rPr lang="zh-CN" altLang="en-US" dirty="0">
                <a:solidFill>
                  <a:srgbClr val="C00000"/>
                </a:solidFill>
                <a:latin typeface="等线" panose="02010600030101010101" pitchFamily="2" charset="-122"/>
                <a:ea typeface="等线" panose="02010600030101010101" pitchFamily="2" charset="-122"/>
                <a:cs typeface="Times New Roman" panose="02020603050405020304" pitchFamily="18" charset="0"/>
              </a:rPr>
              <a:t>静态设定</a:t>
            </a:r>
            <a:endParaRPr lang="en-US" altLang="zh-CN" dirty="0">
              <a:solidFill>
                <a:srgbClr val="C00000"/>
              </a:solidFill>
              <a:latin typeface="等线" panose="02010600030101010101" pitchFamily="2" charset="-122"/>
              <a:ea typeface="等线" panose="02010600030101010101" pitchFamily="2" charset="-122"/>
              <a:cs typeface="Times New Roman" panose="02020603050405020304" pitchFamily="18" charset="0"/>
            </a:endParaRPr>
          </a:p>
          <a:p>
            <a:pPr lvl="1">
              <a:lnSpc>
                <a:spcPct val="130000"/>
              </a:lnSpc>
            </a:pPr>
            <a:r>
              <a:rPr lang="zh-CN" altLang="en-US" dirty="0">
                <a:latin typeface="等线" panose="02010600030101010101" pitchFamily="2" charset="-122"/>
                <a:ea typeface="等线" panose="02010600030101010101" pitchFamily="2" charset="-122"/>
                <a:cs typeface="Times New Roman" panose="02020603050405020304" pitchFamily="18" charset="0"/>
              </a:rPr>
              <a:t>申请固定</a:t>
            </a:r>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地址，手工设定，如</a:t>
            </a:r>
            <a:r>
              <a:rPr lang="zh-CN" altLang="en-US" dirty="0">
                <a:solidFill>
                  <a:srgbClr val="C00000"/>
                </a:solidFill>
                <a:latin typeface="等线" panose="02010600030101010101" pitchFamily="2" charset="-122"/>
                <a:ea typeface="等线" panose="02010600030101010101" pitchFamily="2" charset="-122"/>
                <a:cs typeface="Times New Roman" panose="02020603050405020304" pitchFamily="18" charset="0"/>
              </a:rPr>
              <a:t>路由器、服务器</a:t>
            </a:r>
            <a:endParaRPr lang="en-US" altLang="zh-CN" b="1" dirty="0">
              <a:solidFill>
                <a:srgbClr val="C00000"/>
              </a:solidFill>
              <a:latin typeface="等线" panose="02010600030101010101" pitchFamily="2" charset="-122"/>
              <a:ea typeface="等线" panose="02010600030101010101" pitchFamily="2" charset="-122"/>
              <a:cs typeface="Times New Roman" panose="02020603050405020304" pitchFamily="18" charset="0"/>
            </a:endParaRPr>
          </a:p>
          <a:p>
            <a:pPr>
              <a:lnSpc>
                <a:spcPct val="130000"/>
              </a:lnSpc>
            </a:pPr>
            <a:r>
              <a:rPr lang="zh-CN" altLang="en-US" dirty="0">
                <a:solidFill>
                  <a:srgbClr val="C00000"/>
                </a:solidFill>
                <a:latin typeface="等线" panose="02010600030101010101" pitchFamily="2" charset="-122"/>
                <a:ea typeface="等线" panose="02010600030101010101" pitchFamily="2" charset="-122"/>
                <a:cs typeface="Times New Roman" panose="02020603050405020304" pitchFamily="18" charset="0"/>
              </a:rPr>
              <a:t>动态获取</a:t>
            </a:r>
            <a:endParaRPr lang="en-US" altLang="zh-CN" dirty="0">
              <a:solidFill>
                <a:srgbClr val="C00000"/>
              </a:solidFill>
              <a:latin typeface="等线" panose="02010600030101010101" pitchFamily="2" charset="-122"/>
              <a:ea typeface="等线" panose="02010600030101010101" pitchFamily="2" charset="-122"/>
              <a:cs typeface="Times New Roman" panose="02020603050405020304" pitchFamily="18" charset="0"/>
            </a:endParaRPr>
          </a:p>
          <a:p>
            <a:pPr lvl="1">
              <a:lnSpc>
                <a:spcPct val="130000"/>
              </a:lnSpc>
              <a:defRPr/>
            </a:pPr>
            <a:r>
              <a:rPr lang="zh-CN" altLang="en-US" dirty="0">
                <a:latin typeface="等线" panose="02010600030101010101" pitchFamily="2" charset="-122"/>
                <a:ea typeface="等线" panose="02010600030101010101" pitchFamily="2" charset="-122"/>
                <a:cs typeface="Times New Roman" panose="02020603050405020304" pitchFamily="18" charset="0"/>
              </a:rPr>
              <a:t>使用</a:t>
            </a:r>
            <a:r>
              <a:rPr lang="en-US" altLang="zh-CN" dirty="0">
                <a:latin typeface="等线" panose="02010600030101010101" pitchFamily="2" charset="-122"/>
                <a:ea typeface="等线" panose="02010600030101010101" pitchFamily="2" charset="-122"/>
                <a:cs typeface="Times New Roman" panose="02020603050405020304" pitchFamily="18" charset="0"/>
              </a:rPr>
              <a:t>DHCP</a:t>
            </a:r>
            <a:r>
              <a:rPr lang="zh-CN" altLang="en-US" dirty="0">
                <a:latin typeface="等线" panose="02010600030101010101" pitchFamily="2" charset="-122"/>
                <a:ea typeface="等线" panose="02010600030101010101" pitchFamily="2" charset="-122"/>
                <a:cs typeface="Times New Roman" panose="02020603050405020304" pitchFamily="18" charset="0"/>
              </a:rPr>
              <a:t>协议或其他动态配置协议</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lvl="1">
              <a:lnSpc>
                <a:spcPct val="130000"/>
              </a:lnSpc>
              <a:defRPr/>
            </a:pPr>
            <a:r>
              <a:rPr lang="zh-CN" altLang="en-US" dirty="0">
                <a:latin typeface="等线" panose="02010600030101010101" pitchFamily="2" charset="-122"/>
                <a:ea typeface="等线" panose="02010600030101010101" pitchFamily="2" charset="-122"/>
                <a:cs typeface="Times New Roman" panose="02020603050405020304" pitchFamily="18" charset="0"/>
              </a:rPr>
              <a:t>当</a:t>
            </a:r>
            <a:r>
              <a:rPr lang="zh-CN" altLang="en-US" dirty="0">
                <a:solidFill>
                  <a:srgbClr val="C00000"/>
                </a:solidFill>
                <a:latin typeface="等线" panose="02010600030101010101" pitchFamily="2" charset="-122"/>
                <a:ea typeface="等线" panose="02010600030101010101" pitchFamily="2" charset="-122"/>
                <a:cs typeface="Times New Roman" panose="02020603050405020304" pitchFamily="18" charset="0"/>
              </a:rPr>
              <a:t>主机</a:t>
            </a:r>
            <a:r>
              <a:rPr lang="zh-CN" altLang="en-US" dirty="0">
                <a:latin typeface="等线" panose="02010600030101010101" pitchFamily="2" charset="-122"/>
                <a:ea typeface="等线" panose="02010600030101010101" pitchFamily="2" charset="-122"/>
                <a:cs typeface="Times New Roman" panose="02020603050405020304" pitchFamily="18" charset="0"/>
              </a:rPr>
              <a:t>加入</a:t>
            </a:r>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网络，允许主机从</a:t>
            </a:r>
            <a:r>
              <a:rPr lang="en-US" altLang="zh-CN" dirty="0">
                <a:latin typeface="等线" panose="02010600030101010101" pitchFamily="2" charset="-122"/>
                <a:ea typeface="等线" panose="02010600030101010101" pitchFamily="2" charset="-122"/>
                <a:cs typeface="Times New Roman" panose="02020603050405020304" pitchFamily="18" charset="0"/>
              </a:rPr>
              <a:t>DHCP</a:t>
            </a:r>
            <a:r>
              <a:rPr lang="zh-CN" altLang="en-US" dirty="0">
                <a:latin typeface="等线" panose="02010600030101010101" pitchFamily="2" charset="-122"/>
                <a:ea typeface="等线" panose="02010600030101010101" pitchFamily="2" charset="-122"/>
                <a:cs typeface="Times New Roman" panose="02020603050405020304" pitchFamily="18" charset="0"/>
              </a:rPr>
              <a:t>服务器动态获取</a:t>
            </a:r>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地址</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lvl="1">
              <a:lnSpc>
                <a:spcPct val="130000"/>
              </a:lnSpc>
              <a:defRPr/>
            </a:pPr>
            <a:r>
              <a:rPr lang="zh-CN" altLang="en-US" dirty="0">
                <a:latin typeface="等线" panose="02010600030101010101" pitchFamily="2" charset="-122"/>
                <a:ea typeface="等线" panose="02010600030101010101" pitchFamily="2" charset="-122"/>
                <a:cs typeface="Times New Roman" panose="02020603050405020304" pitchFamily="18" charset="0"/>
              </a:rPr>
              <a:t>可以有效利用</a:t>
            </a:r>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地址，方便移动主机的地址获取</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marL="0" indent="0">
              <a:buNone/>
            </a:pP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dirty="0">
              <a:solidFill>
                <a:srgbClr val="FF0000"/>
              </a:solidFill>
              <a:latin typeface="Times New Roman" panose="02020603050405020304" pitchFamily="18" charset="0"/>
              <a:ea typeface="宋体" panose="02010600030101010101" pitchFamily="2" charset="-122"/>
              <a:cs typeface="Times New Roman" panose="02020603050405020304" pitchFamily="18" charset="0"/>
            </a:endParaRPr>
          </a:p>
          <a:p>
            <a:endParaRPr lang="zh-CN" altLang="en-US" dirty="0"/>
          </a:p>
        </p:txBody>
      </p:sp>
      <p:sp>
        <p:nvSpPr>
          <p:cNvPr id="4" name="日期占位符 3"/>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5.2.3 DHCP</a:t>
            </a:r>
            <a:endParaRPr kumimoji="1" lang="zh-CN" altLang="en-US" dirty="0">
              <a:latin typeface="DengXian" panose="02010600030101010101" pitchFamily="2" charset="-122"/>
              <a:ea typeface="DengXian" panose="02010600030101010101" pitchFamily="2" charset="-122"/>
            </a:endParaRP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t>44</a:t>
            </a:fld>
            <a:endParaRPr kumimoji="1" lang="zh-CN" altLang="en-US" dirty="0"/>
          </a:p>
        </p:txBody>
      </p:sp>
    </p:spTree>
    <p:extLst>
      <p:ext uri="{BB962C8B-B14F-4D97-AF65-F5344CB8AC3E}">
        <p14:creationId xmlns:p14="http://schemas.microsoft.com/office/powerpoint/2010/main" val="3226553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等线" panose="02010600030101010101" pitchFamily="2" charset="-122"/>
                <a:ea typeface="等线" panose="02010600030101010101" pitchFamily="2" charset="-122"/>
              </a:rPr>
              <a:t>DHCP</a:t>
            </a:r>
            <a:r>
              <a:rPr lang="zh-CN" altLang="en-US" dirty="0">
                <a:latin typeface="等线" panose="02010600030101010101" pitchFamily="2" charset="-122"/>
                <a:ea typeface="等线" panose="02010600030101010101" pitchFamily="2" charset="-122"/>
              </a:rPr>
              <a:t>动态主机配置协议</a:t>
            </a:r>
            <a:endParaRPr lang="zh-CN" altLang="en-US" sz="3200" dirty="0"/>
          </a:p>
        </p:txBody>
      </p:sp>
      <p:sp>
        <p:nvSpPr>
          <p:cNvPr id="3" name="内容占位符 2"/>
          <p:cNvSpPr>
            <a:spLocks noGrp="1"/>
          </p:cNvSpPr>
          <p:nvPr>
            <p:ph idx="1"/>
          </p:nvPr>
        </p:nvSpPr>
        <p:spPr>
          <a:xfrm>
            <a:off x="838200" y="1510758"/>
            <a:ext cx="10515600" cy="2604043"/>
          </a:xfrm>
        </p:spPr>
        <p:txBody>
          <a:bodyPr>
            <a:normAutofit fontScale="92500"/>
          </a:bodyPr>
          <a:lstStyle/>
          <a:p>
            <a:pPr eaLnBrk="0" hangingPunct="0">
              <a:lnSpc>
                <a:spcPct val="120000"/>
              </a:lnSpc>
            </a:pPr>
            <a:r>
              <a:rPr lang="en-US" altLang="zh-CN" dirty="0">
                <a:latin typeface="DengXian" panose="02010600030101010101" pitchFamily="2" charset="-122"/>
                <a:ea typeface="DengXian" panose="02010600030101010101" pitchFamily="2" charset="-122"/>
              </a:rPr>
              <a:t>DHCP (</a:t>
            </a:r>
            <a:r>
              <a:rPr lang="en-US" dirty="0">
                <a:latin typeface="DengXian" panose="02010600030101010101" pitchFamily="2" charset="-122"/>
                <a:ea typeface="DengXian" panose="02010600030101010101" pitchFamily="2" charset="-122"/>
              </a:rPr>
              <a:t>Dynamic Host Configuration Protocol)</a:t>
            </a:r>
            <a:r>
              <a:rPr lang="zh-CN" altLang="en-US" dirty="0">
                <a:solidFill>
                  <a:srgbClr val="C00000"/>
                </a:solidFill>
                <a:latin typeface="等线" panose="02010600030101010101" pitchFamily="2" charset="-122"/>
                <a:ea typeface="等线" panose="02010600030101010101" pitchFamily="2" charset="-122"/>
              </a:rPr>
              <a:t>：动态主机配置协议</a:t>
            </a:r>
            <a:endParaRPr lang="en-US" altLang="zh-CN" dirty="0">
              <a:solidFill>
                <a:srgbClr val="C00000"/>
              </a:solidFill>
              <a:latin typeface="等线" panose="02010600030101010101" pitchFamily="2" charset="-122"/>
              <a:ea typeface="等线" panose="02010600030101010101" pitchFamily="2" charset="-122"/>
            </a:endParaRPr>
          </a:p>
          <a:p>
            <a:pPr lvl="1">
              <a:lnSpc>
                <a:spcPct val="120000"/>
              </a:lnSpc>
              <a:defRPr/>
            </a:pPr>
            <a:r>
              <a:rPr lang="zh-CN" altLang="en-US" dirty="0">
                <a:latin typeface="等线" panose="02010600030101010101" pitchFamily="2" charset="-122"/>
                <a:ea typeface="等线" panose="02010600030101010101" pitchFamily="2" charset="-122"/>
                <a:cs typeface="Times New Roman" panose="02020603050405020304" pitchFamily="18" charset="0"/>
              </a:rPr>
              <a:t>当主机加入</a:t>
            </a:r>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网络，允许主机从</a:t>
            </a:r>
            <a:r>
              <a:rPr lang="en-US" altLang="zh-CN" dirty="0">
                <a:latin typeface="等线" panose="02010600030101010101" pitchFamily="2" charset="-122"/>
                <a:ea typeface="等线" panose="02010600030101010101" pitchFamily="2" charset="-122"/>
                <a:cs typeface="Times New Roman" panose="02020603050405020304" pitchFamily="18" charset="0"/>
              </a:rPr>
              <a:t>DHCP</a:t>
            </a:r>
            <a:r>
              <a:rPr lang="zh-CN" altLang="en-US" dirty="0">
                <a:latin typeface="等线" panose="02010600030101010101" pitchFamily="2" charset="-122"/>
                <a:ea typeface="等线" panose="02010600030101010101" pitchFamily="2" charset="-122"/>
                <a:cs typeface="Times New Roman" panose="02020603050405020304" pitchFamily="18" charset="0"/>
              </a:rPr>
              <a:t>服务器动态获取</a:t>
            </a:r>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地址</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lvl="1">
              <a:lnSpc>
                <a:spcPct val="120000"/>
              </a:lnSpc>
              <a:defRPr/>
            </a:pPr>
            <a:r>
              <a:rPr lang="zh-CN" altLang="en-US" dirty="0">
                <a:latin typeface="等线" panose="02010600030101010101" pitchFamily="2" charset="-122"/>
                <a:ea typeface="等线" panose="02010600030101010101" pitchFamily="2" charset="-122"/>
                <a:cs typeface="Times New Roman" panose="02020603050405020304" pitchFamily="18" charset="0"/>
              </a:rPr>
              <a:t>可以有效利用</a:t>
            </a:r>
            <a:r>
              <a:rPr lang="en-US" altLang="zh-CN" dirty="0">
                <a:latin typeface="等线" panose="02010600030101010101" pitchFamily="2" charset="-122"/>
                <a:ea typeface="等线" panose="02010600030101010101" pitchFamily="2" charset="-122"/>
                <a:cs typeface="Times New Roman" panose="02020603050405020304" pitchFamily="18" charset="0"/>
              </a:rPr>
              <a:t>IP</a:t>
            </a:r>
            <a:r>
              <a:rPr lang="zh-CN" altLang="en-US" dirty="0">
                <a:latin typeface="等线" panose="02010600030101010101" pitchFamily="2" charset="-122"/>
                <a:ea typeface="等线" panose="02010600030101010101" pitchFamily="2" charset="-122"/>
                <a:cs typeface="Times New Roman" panose="02020603050405020304" pitchFamily="18" charset="0"/>
              </a:rPr>
              <a:t>地址，方便移动主机的地址获取</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marL="228600" lvl="1" eaLnBrk="0" hangingPunct="0">
              <a:lnSpc>
                <a:spcPct val="120000"/>
              </a:lnSpc>
              <a:buFont typeface="Wingdings" pitchFamily="2" charset="2"/>
              <a:buChar char="Ø"/>
              <a:defRPr/>
            </a:pPr>
            <a:r>
              <a:rPr lang="zh-CN" altLang="en-US" sz="2800" dirty="0">
                <a:latin typeface="等线" panose="02010600030101010101" pitchFamily="2" charset="-122"/>
                <a:ea typeface="等线" panose="02010600030101010101" pitchFamily="2" charset="-122"/>
              </a:rPr>
              <a:t>工作模式</a:t>
            </a:r>
            <a:r>
              <a:rPr lang="zh-CN" altLang="en-US" sz="2800" dirty="0">
                <a:solidFill>
                  <a:srgbClr val="C00000"/>
                </a:solidFill>
                <a:latin typeface="等线" panose="02010600030101010101" pitchFamily="2" charset="-122"/>
                <a:ea typeface="等线" panose="02010600030101010101" pitchFamily="2" charset="-122"/>
              </a:rPr>
              <a:t>：客服</a:t>
            </a:r>
            <a:r>
              <a:rPr lang="en-US" altLang="zh-CN" sz="2800" dirty="0">
                <a:solidFill>
                  <a:srgbClr val="C00000"/>
                </a:solidFill>
                <a:latin typeface="等线" panose="02010600030101010101" pitchFamily="2" charset="-122"/>
                <a:ea typeface="等线" panose="02010600030101010101" pitchFamily="2" charset="-122"/>
              </a:rPr>
              <a:t>/</a:t>
            </a:r>
            <a:r>
              <a:rPr lang="zh-CN" altLang="en-US" sz="2800" dirty="0">
                <a:solidFill>
                  <a:srgbClr val="C00000"/>
                </a:solidFill>
                <a:latin typeface="等线" panose="02010600030101010101" pitchFamily="2" charset="-122"/>
                <a:ea typeface="等线" panose="02010600030101010101" pitchFamily="2" charset="-122"/>
              </a:rPr>
              <a:t>服务器模式（</a:t>
            </a:r>
            <a:r>
              <a:rPr lang="en-US" altLang="zh-CN" sz="2800" dirty="0">
                <a:solidFill>
                  <a:srgbClr val="C00000"/>
                </a:solidFill>
                <a:latin typeface="等线" panose="02010600030101010101" pitchFamily="2" charset="-122"/>
                <a:ea typeface="等线" panose="02010600030101010101" pitchFamily="2" charset="-122"/>
              </a:rPr>
              <a:t> C/S </a:t>
            </a:r>
            <a:r>
              <a:rPr lang="zh-CN" altLang="en-US" sz="2800" dirty="0">
                <a:solidFill>
                  <a:srgbClr val="C00000"/>
                </a:solidFill>
                <a:latin typeface="等线" panose="02010600030101010101" pitchFamily="2" charset="-122"/>
                <a:ea typeface="等线" panose="02010600030101010101" pitchFamily="2" charset="-122"/>
              </a:rPr>
              <a:t>）</a:t>
            </a:r>
            <a:endParaRPr lang="en-US" altLang="zh-CN" sz="2800" dirty="0">
              <a:solidFill>
                <a:srgbClr val="C00000"/>
              </a:solidFill>
              <a:latin typeface="等线" panose="02010600030101010101" pitchFamily="2" charset="-122"/>
              <a:ea typeface="等线" panose="02010600030101010101" pitchFamily="2" charset="-122"/>
            </a:endParaRPr>
          </a:p>
          <a:p>
            <a:pPr lvl="1">
              <a:lnSpc>
                <a:spcPct val="120000"/>
              </a:lnSpc>
              <a:defRPr/>
            </a:pPr>
            <a:r>
              <a:rPr lang="zh-CN" altLang="en-US" dirty="0">
                <a:latin typeface="等线" panose="02010600030101010101" pitchFamily="2" charset="-122"/>
                <a:ea typeface="等线" panose="02010600030101010101" pitchFamily="2" charset="-122"/>
                <a:cs typeface="Times New Roman" panose="02020603050405020304" pitchFamily="18" charset="0"/>
              </a:rPr>
              <a:t>基于 </a:t>
            </a:r>
            <a:r>
              <a:rPr lang="en-US" altLang="zh-CN" dirty="0">
                <a:latin typeface="等线" panose="02010600030101010101" pitchFamily="2" charset="-122"/>
                <a:ea typeface="等线" panose="02010600030101010101" pitchFamily="2" charset="-122"/>
                <a:cs typeface="Times New Roman" panose="02020603050405020304" pitchFamily="18" charset="0"/>
              </a:rPr>
              <a:t>UDP </a:t>
            </a:r>
            <a:r>
              <a:rPr lang="zh-CN" altLang="en-US" dirty="0">
                <a:latin typeface="等线" panose="02010600030101010101" pitchFamily="2" charset="-122"/>
                <a:ea typeface="等线" panose="02010600030101010101" pitchFamily="2" charset="-122"/>
                <a:cs typeface="Times New Roman" panose="02020603050405020304" pitchFamily="18" charset="0"/>
              </a:rPr>
              <a:t>工作，服务器运行在 </a:t>
            </a:r>
            <a:r>
              <a:rPr lang="en-US" altLang="zh-CN" dirty="0">
                <a:latin typeface="等线" panose="02010600030101010101" pitchFamily="2" charset="-122"/>
                <a:ea typeface="等线" panose="02010600030101010101" pitchFamily="2" charset="-122"/>
                <a:cs typeface="Times New Roman" panose="02020603050405020304" pitchFamily="18" charset="0"/>
              </a:rPr>
              <a:t>67 </a:t>
            </a:r>
            <a:r>
              <a:rPr lang="zh-CN" altLang="en-US" dirty="0">
                <a:latin typeface="等线" panose="02010600030101010101" pitchFamily="2" charset="-122"/>
                <a:ea typeface="等线" panose="02010600030101010101" pitchFamily="2" charset="-122"/>
                <a:cs typeface="Times New Roman" panose="02020603050405020304" pitchFamily="18" charset="0"/>
              </a:rPr>
              <a:t>号端口，</a:t>
            </a:r>
            <a:r>
              <a:rPr lang="en-US" altLang="zh-CN" dirty="0">
                <a:latin typeface="等线" panose="02010600030101010101" pitchFamily="2" charset="-122"/>
                <a:ea typeface="等线" panose="02010600030101010101" pitchFamily="2" charset="-122"/>
                <a:cs typeface="Times New Roman" panose="02020603050405020304" pitchFamily="18" charset="0"/>
              </a:rPr>
              <a:t> </a:t>
            </a:r>
            <a:r>
              <a:rPr lang="zh-CN" altLang="en-US" dirty="0">
                <a:latin typeface="等线" panose="02010600030101010101" pitchFamily="2" charset="-122"/>
                <a:ea typeface="等线" panose="02010600030101010101" pitchFamily="2" charset="-122"/>
                <a:cs typeface="Times New Roman" panose="02020603050405020304" pitchFamily="18" charset="0"/>
              </a:rPr>
              <a:t>客户端运行在 </a:t>
            </a:r>
            <a:r>
              <a:rPr lang="en-US" altLang="zh-CN" dirty="0">
                <a:latin typeface="等线" panose="02010600030101010101" pitchFamily="2" charset="-122"/>
                <a:ea typeface="等线" panose="02010600030101010101" pitchFamily="2" charset="-122"/>
                <a:cs typeface="Times New Roman" panose="02020603050405020304" pitchFamily="18" charset="0"/>
              </a:rPr>
              <a:t>68 </a:t>
            </a:r>
            <a:r>
              <a:rPr lang="zh-CN" altLang="en-US" dirty="0">
                <a:latin typeface="等线" panose="02010600030101010101" pitchFamily="2" charset="-122"/>
                <a:ea typeface="等线" panose="02010600030101010101" pitchFamily="2" charset="-122"/>
                <a:cs typeface="Times New Roman" panose="02020603050405020304" pitchFamily="18" charset="0"/>
              </a:rPr>
              <a:t>号端口</a:t>
            </a:r>
          </a:p>
          <a:p>
            <a:pPr marL="457200" lvl="2" indent="0" eaLnBrk="0" hangingPunct="0">
              <a:lnSpc>
                <a:spcPct val="120000"/>
              </a:lnSpc>
              <a:buClr>
                <a:srgbClr val="0070C0"/>
              </a:buClr>
              <a:buNone/>
              <a:defRPr/>
            </a:pPr>
            <a:endParaRPr lang="zh-CN" altLang="en-US" b="1" dirty="0">
              <a:solidFill>
                <a:srgbClr val="C00000"/>
              </a:solidFill>
              <a:latin typeface="等线" panose="02010600030101010101" pitchFamily="2" charset="-122"/>
              <a:ea typeface="等线" panose="02010600030101010101" pitchFamily="2" charset="-122"/>
            </a:endParaRPr>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45</a:t>
            </a:fld>
            <a:endParaRPr kumimoji="1" lang="zh-CN" altLang="en-US" dirty="0"/>
          </a:p>
        </p:txBody>
      </p:sp>
      <p:grpSp>
        <p:nvGrpSpPr>
          <p:cNvPr id="5" name="组合 4"/>
          <p:cNvGrpSpPr/>
          <p:nvPr/>
        </p:nvGrpSpPr>
        <p:grpSpPr>
          <a:xfrm>
            <a:off x="1862667" y="4114801"/>
            <a:ext cx="7730066" cy="2099732"/>
            <a:chOff x="1996962" y="2450061"/>
            <a:chExt cx="4918841" cy="1475407"/>
          </a:xfrm>
        </p:grpSpPr>
        <p:sp>
          <p:nvSpPr>
            <p:cNvPr id="6" name="矩形 5"/>
            <p:cNvSpPr/>
            <p:nvPr/>
          </p:nvSpPr>
          <p:spPr>
            <a:xfrm>
              <a:off x="1996962" y="2606571"/>
              <a:ext cx="998486" cy="252244"/>
            </a:xfrm>
            <a:prstGeom prst="rect">
              <a:avLst/>
            </a:prstGeom>
            <a:solidFill>
              <a:schemeClr val="bg1"/>
            </a:solidFill>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dirty="0">
                  <a:solidFill>
                    <a:schemeClr val="tx1"/>
                  </a:solidFill>
                  <a:latin typeface="等线" panose="02010600030101010101" pitchFamily="2" charset="-122"/>
                  <a:ea typeface="等线" panose="02010600030101010101" pitchFamily="2" charset="-122"/>
                </a:rPr>
                <a:t>DHCP </a:t>
              </a:r>
              <a:r>
                <a:rPr lang="zh-CN" altLang="en-US" sz="1600" dirty="0">
                  <a:solidFill>
                    <a:schemeClr val="tx1"/>
                  </a:solidFill>
                  <a:latin typeface="等线" panose="02010600030101010101" pitchFamily="2" charset="-122"/>
                  <a:ea typeface="等线" panose="02010600030101010101" pitchFamily="2" charset="-122"/>
                </a:rPr>
                <a:t>客户</a:t>
              </a:r>
            </a:p>
          </p:txBody>
        </p:sp>
        <p:sp>
          <p:nvSpPr>
            <p:cNvPr id="7" name="矩形 6"/>
            <p:cNvSpPr/>
            <p:nvPr/>
          </p:nvSpPr>
          <p:spPr>
            <a:xfrm>
              <a:off x="5917317" y="2606571"/>
              <a:ext cx="998486" cy="252244"/>
            </a:xfrm>
            <a:prstGeom prst="rect">
              <a:avLst/>
            </a:prstGeom>
            <a:solidFill>
              <a:schemeClr val="tx1"/>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dirty="0">
                  <a:solidFill>
                    <a:schemeClr val="bg1"/>
                  </a:solidFill>
                  <a:latin typeface="等线" panose="02010600030101010101" pitchFamily="2" charset="-122"/>
                  <a:ea typeface="等线" panose="02010600030101010101" pitchFamily="2" charset="-122"/>
                </a:rPr>
                <a:t>DHCP </a:t>
              </a:r>
              <a:r>
                <a:rPr lang="zh-CN" altLang="en-US" sz="1600" dirty="0">
                  <a:solidFill>
                    <a:schemeClr val="bg1"/>
                  </a:solidFill>
                  <a:latin typeface="等线" panose="02010600030101010101" pitchFamily="2" charset="-122"/>
                  <a:ea typeface="等线" panose="02010600030101010101" pitchFamily="2" charset="-122"/>
                </a:rPr>
                <a:t>服务器</a:t>
              </a:r>
            </a:p>
          </p:txBody>
        </p:sp>
        <p:sp>
          <p:nvSpPr>
            <p:cNvPr id="8" name="矩形 7"/>
            <p:cNvSpPr/>
            <p:nvPr/>
          </p:nvSpPr>
          <p:spPr>
            <a:xfrm>
              <a:off x="5496907" y="2680141"/>
              <a:ext cx="420410" cy="126122"/>
            </a:xfrm>
            <a:prstGeom prst="rect">
              <a:avLst/>
            </a:prstGeom>
            <a:solidFill>
              <a:srgbClr val="00CCFF"/>
            </a:solidFill>
            <a:ln>
              <a:solidFill>
                <a:schemeClr val="tx1"/>
              </a:solid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200" b="1" dirty="0">
                  <a:solidFill>
                    <a:schemeClr val="tx1"/>
                  </a:solidFill>
                  <a:latin typeface="等线" panose="02010600030101010101" pitchFamily="2" charset="-122"/>
                  <a:ea typeface="等线" panose="02010600030101010101" pitchFamily="2" charset="-122"/>
                </a:rPr>
                <a:t>67</a:t>
              </a:r>
              <a:endParaRPr lang="zh-CN" altLang="en-US" sz="1200" b="1" dirty="0">
                <a:solidFill>
                  <a:schemeClr val="tx1"/>
                </a:solidFill>
                <a:latin typeface="等线" panose="02010600030101010101" pitchFamily="2" charset="-122"/>
                <a:ea typeface="等线" panose="02010600030101010101" pitchFamily="2" charset="-122"/>
              </a:endParaRPr>
            </a:p>
          </p:txBody>
        </p:sp>
        <p:sp>
          <p:nvSpPr>
            <p:cNvPr id="9" name="矩形 8"/>
            <p:cNvSpPr/>
            <p:nvPr/>
          </p:nvSpPr>
          <p:spPr>
            <a:xfrm>
              <a:off x="1996962" y="3137195"/>
              <a:ext cx="998486" cy="252244"/>
            </a:xfrm>
            <a:prstGeom prst="rect">
              <a:avLst/>
            </a:prstGeom>
            <a:solidFill>
              <a:schemeClr val="bg1"/>
            </a:solidFill>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dirty="0">
                  <a:solidFill>
                    <a:schemeClr val="tx1"/>
                  </a:solidFill>
                  <a:latin typeface="等线" panose="02010600030101010101" pitchFamily="2" charset="-122"/>
                  <a:ea typeface="等线" panose="02010600030101010101" pitchFamily="2" charset="-122"/>
                </a:rPr>
                <a:t>DHCP </a:t>
              </a:r>
              <a:r>
                <a:rPr lang="zh-CN" altLang="en-US" sz="1600" dirty="0">
                  <a:solidFill>
                    <a:schemeClr val="tx1"/>
                  </a:solidFill>
                  <a:latin typeface="等线" panose="02010600030101010101" pitchFamily="2" charset="-122"/>
                  <a:ea typeface="等线" panose="02010600030101010101" pitchFamily="2" charset="-122"/>
                </a:rPr>
                <a:t>客户</a:t>
              </a:r>
            </a:p>
          </p:txBody>
        </p:sp>
        <p:sp>
          <p:nvSpPr>
            <p:cNvPr id="10" name="矩形 9"/>
            <p:cNvSpPr/>
            <p:nvPr/>
          </p:nvSpPr>
          <p:spPr>
            <a:xfrm>
              <a:off x="5917317" y="3137195"/>
              <a:ext cx="998486" cy="252244"/>
            </a:xfrm>
            <a:prstGeom prst="rect">
              <a:avLst/>
            </a:prstGeom>
            <a:solidFill>
              <a:schemeClr val="tx1"/>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dirty="0">
                  <a:solidFill>
                    <a:schemeClr val="bg1"/>
                  </a:solidFill>
                  <a:latin typeface="等线" panose="02010600030101010101" pitchFamily="2" charset="-122"/>
                  <a:ea typeface="等线" panose="02010600030101010101" pitchFamily="2" charset="-122"/>
                </a:rPr>
                <a:t>DHCP </a:t>
              </a:r>
              <a:r>
                <a:rPr lang="zh-CN" altLang="en-US" sz="1600" dirty="0">
                  <a:solidFill>
                    <a:schemeClr val="bg1"/>
                  </a:solidFill>
                  <a:latin typeface="等线" panose="02010600030101010101" pitchFamily="2" charset="-122"/>
                  <a:ea typeface="等线" panose="02010600030101010101" pitchFamily="2" charset="-122"/>
                </a:rPr>
                <a:t>服务器</a:t>
              </a:r>
            </a:p>
          </p:txBody>
        </p:sp>
        <p:sp>
          <p:nvSpPr>
            <p:cNvPr id="11" name="矩形 10"/>
            <p:cNvSpPr/>
            <p:nvPr/>
          </p:nvSpPr>
          <p:spPr>
            <a:xfrm>
              <a:off x="5496907" y="3210765"/>
              <a:ext cx="420410" cy="126122"/>
            </a:xfrm>
            <a:prstGeom prst="rect">
              <a:avLst/>
            </a:prstGeom>
            <a:solidFill>
              <a:srgbClr val="00CCFF"/>
            </a:solidFill>
            <a:ln>
              <a:solidFill>
                <a:schemeClr val="tx1"/>
              </a:solid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200" b="1" dirty="0">
                  <a:solidFill>
                    <a:schemeClr val="tx1"/>
                  </a:solidFill>
                  <a:latin typeface="等线" panose="02010600030101010101" pitchFamily="2" charset="-122"/>
                  <a:ea typeface="等线" panose="02010600030101010101" pitchFamily="2" charset="-122"/>
                </a:rPr>
                <a:t>67</a:t>
              </a:r>
              <a:endParaRPr lang="zh-CN" altLang="en-US" sz="1200" b="1" dirty="0">
                <a:solidFill>
                  <a:schemeClr val="tx1"/>
                </a:solidFill>
                <a:latin typeface="等线" panose="02010600030101010101" pitchFamily="2" charset="-122"/>
                <a:ea typeface="等线" panose="02010600030101010101" pitchFamily="2" charset="-122"/>
              </a:endParaRPr>
            </a:p>
          </p:txBody>
        </p:sp>
        <p:sp>
          <p:nvSpPr>
            <p:cNvPr id="12" name="矩形 11"/>
            <p:cNvSpPr/>
            <p:nvPr/>
          </p:nvSpPr>
          <p:spPr>
            <a:xfrm>
              <a:off x="2991405" y="3210765"/>
              <a:ext cx="420410" cy="126122"/>
            </a:xfrm>
            <a:prstGeom prst="rect">
              <a:avLst/>
            </a:prstGeom>
            <a:solidFill>
              <a:srgbClr val="66FF66"/>
            </a:solidFill>
            <a:ln>
              <a:solidFill>
                <a:schemeClr val="tx1"/>
              </a:solid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200" b="1" dirty="0">
                  <a:solidFill>
                    <a:schemeClr val="tx1"/>
                  </a:solidFill>
                  <a:latin typeface="等线" panose="02010600030101010101" pitchFamily="2" charset="-122"/>
                  <a:ea typeface="等线" panose="02010600030101010101" pitchFamily="2" charset="-122"/>
                </a:rPr>
                <a:t>68</a:t>
              </a:r>
              <a:endParaRPr lang="zh-CN" altLang="en-US" sz="1200" b="1" dirty="0">
                <a:solidFill>
                  <a:schemeClr val="tx1"/>
                </a:solidFill>
                <a:latin typeface="等线" panose="02010600030101010101" pitchFamily="2" charset="-122"/>
                <a:ea typeface="等线" panose="02010600030101010101" pitchFamily="2" charset="-122"/>
              </a:endParaRPr>
            </a:p>
          </p:txBody>
        </p:sp>
        <p:sp>
          <p:nvSpPr>
            <p:cNvPr id="13" name="矩形 12"/>
            <p:cNvSpPr/>
            <p:nvPr/>
          </p:nvSpPr>
          <p:spPr>
            <a:xfrm>
              <a:off x="1996962" y="3673224"/>
              <a:ext cx="998486" cy="252244"/>
            </a:xfrm>
            <a:prstGeom prst="rect">
              <a:avLst/>
            </a:prstGeom>
            <a:solidFill>
              <a:schemeClr val="bg1"/>
            </a:solidFill>
            <a:ln>
              <a:solidFill>
                <a:schemeClr val="tx1"/>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US" altLang="zh-CN" sz="1600" dirty="0">
                  <a:solidFill>
                    <a:schemeClr val="tx1"/>
                  </a:solidFill>
                  <a:latin typeface="等线" panose="02010600030101010101" pitchFamily="2" charset="-122"/>
                  <a:ea typeface="等线" panose="02010600030101010101" pitchFamily="2" charset="-122"/>
                </a:rPr>
                <a:t>DHCP </a:t>
              </a:r>
              <a:r>
                <a:rPr lang="zh-CN" altLang="en-US" sz="1600" dirty="0">
                  <a:solidFill>
                    <a:schemeClr val="tx1"/>
                  </a:solidFill>
                  <a:latin typeface="等线" panose="02010600030101010101" pitchFamily="2" charset="-122"/>
                  <a:ea typeface="等线" panose="02010600030101010101" pitchFamily="2" charset="-122"/>
                </a:rPr>
                <a:t>客户</a:t>
              </a:r>
            </a:p>
          </p:txBody>
        </p:sp>
        <p:sp>
          <p:nvSpPr>
            <p:cNvPr id="14" name="矩形 13"/>
            <p:cNvSpPr/>
            <p:nvPr/>
          </p:nvSpPr>
          <p:spPr>
            <a:xfrm>
              <a:off x="5917317" y="3673224"/>
              <a:ext cx="998486" cy="252244"/>
            </a:xfrm>
            <a:prstGeom prst="rect">
              <a:avLst/>
            </a:prstGeom>
            <a:solidFill>
              <a:schemeClr val="tx1"/>
            </a:solidFill>
            <a:ln>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600" dirty="0">
                  <a:solidFill>
                    <a:schemeClr val="bg1"/>
                  </a:solidFill>
                  <a:latin typeface="等线" panose="02010600030101010101" pitchFamily="2" charset="-122"/>
                  <a:ea typeface="等线" panose="02010600030101010101" pitchFamily="2" charset="-122"/>
                </a:rPr>
                <a:t>DHCP </a:t>
              </a:r>
              <a:r>
                <a:rPr lang="zh-CN" altLang="en-US" sz="1600" dirty="0">
                  <a:solidFill>
                    <a:schemeClr val="bg1"/>
                  </a:solidFill>
                  <a:latin typeface="等线" panose="02010600030101010101" pitchFamily="2" charset="-122"/>
                  <a:ea typeface="等线" panose="02010600030101010101" pitchFamily="2" charset="-122"/>
                </a:rPr>
                <a:t>服务器</a:t>
              </a:r>
            </a:p>
          </p:txBody>
        </p:sp>
        <p:sp>
          <p:nvSpPr>
            <p:cNvPr id="15" name="矩形 14"/>
            <p:cNvSpPr/>
            <p:nvPr/>
          </p:nvSpPr>
          <p:spPr>
            <a:xfrm>
              <a:off x="5496907" y="3746794"/>
              <a:ext cx="420410" cy="126122"/>
            </a:xfrm>
            <a:prstGeom prst="rect">
              <a:avLst/>
            </a:prstGeom>
            <a:solidFill>
              <a:srgbClr val="00CCFF"/>
            </a:solidFill>
            <a:ln>
              <a:solidFill>
                <a:schemeClr val="tx1"/>
              </a:solid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200" b="1" dirty="0">
                  <a:solidFill>
                    <a:schemeClr val="tx1"/>
                  </a:solidFill>
                  <a:latin typeface="等线" panose="02010600030101010101" pitchFamily="2" charset="-122"/>
                  <a:ea typeface="等线" panose="02010600030101010101" pitchFamily="2" charset="-122"/>
                </a:rPr>
                <a:t>67</a:t>
              </a:r>
              <a:endParaRPr lang="zh-CN" altLang="en-US" sz="1200" b="1" dirty="0">
                <a:solidFill>
                  <a:schemeClr val="tx1"/>
                </a:solidFill>
                <a:latin typeface="等线" panose="02010600030101010101" pitchFamily="2" charset="-122"/>
                <a:ea typeface="等线" panose="02010600030101010101" pitchFamily="2" charset="-122"/>
              </a:endParaRPr>
            </a:p>
          </p:txBody>
        </p:sp>
        <p:sp>
          <p:nvSpPr>
            <p:cNvPr id="16" name="矩形 15"/>
            <p:cNvSpPr/>
            <p:nvPr/>
          </p:nvSpPr>
          <p:spPr>
            <a:xfrm>
              <a:off x="2991405" y="3746794"/>
              <a:ext cx="420410" cy="126122"/>
            </a:xfrm>
            <a:prstGeom prst="rect">
              <a:avLst/>
            </a:prstGeom>
            <a:solidFill>
              <a:srgbClr val="66FF66"/>
            </a:solidFill>
            <a:ln>
              <a:solidFill>
                <a:schemeClr val="tx1"/>
              </a:solid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en-US" altLang="zh-CN" sz="1200" b="1" dirty="0">
                  <a:solidFill>
                    <a:schemeClr val="tx1"/>
                  </a:solidFill>
                  <a:latin typeface="等线" panose="02010600030101010101" pitchFamily="2" charset="-122"/>
                  <a:ea typeface="等线" panose="02010600030101010101" pitchFamily="2" charset="-122"/>
                </a:rPr>
                <a:t>68</a:t>
              </a:r>
              <a:endParaRPr lang="zh-CN" altLang="en-US" sz="1200" b="1" dirty="0">
                <a:solidFill>
                  <a:schemeClr val="tx1"/>
                </a:solidFill>
                <a:latin typeface="等线" panose="02010600030101010101" pitchFamily="2" charset="-122"/>
                <a:ea typeface="等线" panose="02010600030101010101" pitchFamily="2" charset="-122"/>
              </a:endParaRPr>
            </a:p>
          </p:txBody>
        </p:sp>
        <p:cxnSp>
          <p:nvCxnSpPr>
            <p:cNvPr id="17" name="直接箭头连接符 16"/>
            <p:cNvCxnSpPr>
              <a:stCxn id="12" idx="3"/>
              <a:endCxn id="11" idx="1"/>
            </p:cNvCxnSpPr>
            <p:nvPr/>
          </p:nvCxnSpPr>
          <p:spPr>
            <a:xfrm>
              <a:off x="3411815" y="3273826"/>
              <a:ext cx="2085092" cy="0"/>
            </a:xfrm>
            <a:prstGeom prst="straightConnector1">
              <a:avLst/>
            </a:prstGeom>
            <a:ln w="28575">
              <a:solidFill>
                <a:schemeClr val="tx1"/>
              </a:solidFill>
              <a:tailEnd type="triangle" w="med" len="lg"/>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3926822" y="3179235"/>
              <a:ext cx="1032035" cy="178674"/>
            </a:xfrm>
            <a:prstGeom prst="rect">
              <a:avLst/>
            </a:prstGeom>
            <a:solidFill>
              <a:srgbClr val="00FF99"/>
            </a:solid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600" dirty="0">
                  <a:solidFill>
                    <a:schemeClr val="tx1"/>
                  </a:solidFill>
                  <a:latin typeface="等线" panose="02010600030101010101" pitchFamily="2" charset="-122"/>
                  <a:ea typeface="等线" panose="02010600030101010101" pitchFamily="2" charset="-122"/>
                </a:rPr>
                <a:t>请求</a:t>
              </a:r>
            </a:p>
          </p:txBody>
        </p:sp>
        <p:cxnSp>
          <p:nvCxnSpPr>
            <p:cNvPr id="19" name="直接箭头连接符 18"/>
            <p:cNvCxnSpPr>
              <a:stCxn id="15" idx="1"/>
              <a:endCxn id="16" idx="3"/>
            </p:cNvCxnSpPr>
            <p:nvPr/>
          </p:nvCxnSpPr>
          <p:spPr>
            <a:xfrm flipH="1">
              <a:off x="3411815" y="3809855"/>
              <a:ext cx="2085092" cy="0"/>
            </a:xfrm>
            <a:prstGeom prst="straightConnector1">
              <a:avLst/>
            </a:prstGeom>
            <a:ln w="28575">
              <a:solidFill>
                <a:srgbClr val="C00000"/>
              </a:solidFill>
              <a:tailEnd type="triangle" w="med" len="lg"/>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flipH="1">
              <a:off x="3926822" y="3715264"/>
              <a:ext cx="1032035" cy="178674"/>
            </a:xfrm>
            <a:prstGeom prst="rect">
              <a:avLst/>
            </a:prstGeom>
            <a:solidFill>
              <a:srgbClr val="66FFFF"/>
            </a:solid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1600" dirty="0">
                  <a:solidFill>
                    <a:schemeClr val="tx1"/>
                  </a:solidFill>
                  <a:latin typeface="等线" panose="02010600030101010101" pitchFamily="2" charset="-122"/>
                  <a:ea typeface="等线" panose="02010600030101010101" pitchFamily="2" charset="-122"/>
                </a:rPr>
                <a:t>应答</a:t>
              </a:r>
            </a:p>
          </p:txBody>
        </p:sp>
        <p:sp>
          <p:nvSpPr>
            <p:cNvPr id="21" name="矩形 20"/>
            <p:cNvSpPr/>
            <p:nvPr/>
          </p:nvSpPr>
          <p:spPr>
            <a:xfrm>
              <a:off x="5231438" y="2450061"/>
              <a:ext cx="748923" cy="261610"/>
            </a:xfrm>
            <a:prstGeom prst="rect">
              <a:avLst/>
            </a:prstGeom>
            <a:noFill/>
            <a:ln>
              <a:noFill/>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dirty="0">
                  <a:latin typeface="等线" panose="02010600030101010101" pitchFamily="2" charset="-122"/>
                  <a:ea typeface="等线" panose="02010600030101010101" pitchFamily="2" charset="-122"/>
                </a:rPr>
                <a:t>被动打开</a:t>
              </a:r>
            </a:p>
          </p:txBody>
        </p:sp>
        <p:sp>
          <p:nvSpPr>
            <p:cNvPr id="22" name="矩形 21"/>
            <p:cNvSpPr/>
            <p:nvPr/>
          </p:nvSpPr>
          <p:spPr>
            <a:xfrm>
              <a:off x="5357557" y="2786820"/>
              <a:ext cx="622805" cy="261610"/>
            </a:xfrm>
            <a:prstGeom prst="rect">
              <a:avLst/>
            </a:prstGeom>
            <a:noFill/>
            <a:ln>
              <a:noFill/>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300" dirty="0">
                  <a:latin typeface="等线" panose="02010600030101010101" pitchFamily="2" charset="-122"/>
                  <a:ea typeface="等线" panose="02010600030101010101" pitchFamily="2" charset="-122"/>
                </a:rPr>
                <a:t>UDP</a:t>
              </a:r>
              <a:endParaRPr lang="zh-CN" altLang="en-US" sz="1300" dirty="0">
                <a:latin typeface="等线" panose="02010600030101010101" pitchFamily="2" charset="-122"/>
                <a:ea typeface="等线" panose="02010600030101010101" pitchFamily="2" charset="-122"/>
              </a:endParaRPr>
            </a:p>
          </p:txBody>
        </p:sp>
        <p:sp>
          <p:nvSpPr>
            <p:cNvPr id="23" name="矩形 22"/>
            <p:cNvSpPr/>
            <p:nvPr/>
          </p:nvSpPr>
          <p:spPr>
            <a:xfrm>
              <a:off x="2938855" y="2917625"/>
              <a:ext cx="748923" cy="261610"/>
            </a:xfrm>
            <a:prstGeom prst="rect">
              <a:avLst/>
            </a:prstGeom>
            <a:noFill/>
            <a:ln>
              <a:noFill/>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zh-CN" altLang="en-US" sz="1600" dirty="0">
                  <a:latin typeface="等线" panose="02010600030101010101" pitchFamily="2" charset="-122"/>
                  <a:ea typeface="等线" panose="02010600030101010101" pitchFamily="2" charset="-122"/>
                </a:rPr>
                <a:t>主动打开</a:t>
              </a:r>
            </a:p>
          </p:txBody>
        </p:sp>
        <p:sp>
          <p:nvSpPr>
            <p:cNvPr id="24" name="矩形 23"/>
            <p:cNvSpPr/>
            <p:nvPr/>
          </p:nvSpPr>
          <p:spPr>
            <a:xfrm>
              <a:off x="2915675" y="3336887"/>
              <a:ext cx="661910" cy="261610"/>
            </a:xfrm>
            <a:prstGeom prst="rect">
              <a:avLst/>
            </a:prstGeom>
            <a:noFill/>
            <a:ln>
              <a:noFill/>
            </a:ln>
            <a:effectLst/>
          </p:spPr>
          <p:style>
            <a:lnRef idx="1">
              <a:schemeClr val="accent5"/>
            </a:lnRef>
            <a:fillRef idx="2">
              <a:schemeClr val="accent5"/>
            </a:fillRef>
            <a:effectRef idx="1">
              <a:schemeClr val="accent5"/>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300" dirty="0">
                  <a:latin typeface="等线" panose="02010600030101010101" pitchFamily="2" charset="-122"/>
                  <a:ea typeface="等线" panose="02010600030101010101" pitchFamily="2" charset="-122"/>
                </a:rPr>
                <a:t>UDP</a:t>
              </a:r>
              <a:endParaRPr lang="zh-CN" altLang="en-US" sz="1300" dirty="0">
                <a:latin typeface="等线" panose="02010600030101010101" pitchFamily="2" charset="-122"/>
                <a:ea typeface="等线" panose="02010600030101010101" pitchFamily="2" charset="-122"/>
              </a:endParaRPr>
            </a:p>
          </p:txBody>
        </p:sp>
      </p:grpSp>
      <p:sp>
        <p:nvSpPr>
          <p:cNvPr id="26" name="日期占位符 25"/>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5.2.3 DHCP</a:t>
            </a:r>
            <a:endParaRPr kumimoji="1"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9251656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等线" panose="02010600030101010101" pitchFamily="2" charset="-122"/>
                <a:ea typeface="等线" panose="02010600030101010101" pitchFamily="2" charset="-122"/>
              </a:rPr>
              <a:t>DHCP </a:t>
            </a:r>
            <a:r>
              <a:rPr lang="zh-CN" altLang="en-US" dirty="0">
                <a:latin typeface="等线" panose="02010600030101010101" pitchFamily="2" charset="-122"/>
                <a:ea typeface="等线" panose="02010600030101010101" pitchFamily="2" charset="-122"/>
              </a:rPr>
              <a:t>工作过程</a:t>
            </a:r>
            <a:r>
              <a:rPr lang="zh-CN" altLang="en-US" b="1" dirty="0">
                <a:solidFill>
                  <a:schemeClr val="bg1"/>
                </a:solidFill>
                <a:latin typeface="等线" panose="02010600030101010101" pitchFamily="2" charset="-122"/>
                <a:ea typeface="等线" panose="02010600030101010101" pitchFamily="2" charset="-122"/>
              </a:rPr>
              <a:t>式</a:t>
            </a:r>
            <a:endParaRPr lang="zh-CN" altLang="en-US" dirty="0"/>
          </a:p>
        </p:txBody>
      </p:sp>
      <p:sp>
        <p:nvSpPr>
          <p:cNvPr id="3" name="内容占位符 2"/>
          <p:cNvSpPr>
            <a:spLocks noGrp="1"/>
          </p:cNvSpPr>
          <p:nvPr>
            <p:ph idx="1"/>
          </p:nvPr>
        </p:nvSpPr>
        <p:spPr/>
        <p:txBody>
          <a:bodyPr>
            <a:normAutofit/>
          </a:bodyPr>
          <a:lstStyle/>
          <a:p>
            <a:pPr eaLnBrk="0" hangingPunct="0">
              <a:lnSpc>
                <a:spcPct val="140000"/>
              </a:lnSpc>
            </a:pPr>
            <a:r>
              <a:rPr lang="en-US" altLang="zh-CN" sz="2600" dirty="0">
                <a:latin typeface="等线" panose="02010600030101010101" pitchFamily="2" charset="-122"/>
                <a:ea typeface="等线" panose="02010600030101010101" pitchFamily="2" charset="-122"/>
              </a:rPr>
              <a:t>DHCP </a:t>
            </a:r>
            <a:r>
              <a:rPr lang="zh-CN" altLang="en-US" sz="2600" dirty="0">
                <a:latin typeface="等线" panose="02010600030101010101" pitchFamily="2" charset="-122"/>
                <a:ea typeface="等线" panose="02010600030101010101" pitchFamily="2" charset="-122"/>
              </a:rPr>
              <a:t>客户从</a:t>
            </a:r>
            <a:r>
              <a:rPr lang="en-US" altLang="zh-CN" sz="2600" dirty="0">
                <a:latin typeface="等线" panose="02010600030101010101" pitchFamily="2" charset="-122"/>
                <a:ea typeface="等线" panose="02010600030101010101" pitchFamily="2" charset="-122"/>
              </a:rPr>
              <a:t>UDP</a:t>
            </a:r>
            <a:r>
              <a:rPr lang="zh-CN" altLang="en-US" sz="2600" dirty="0">
                <a:latin typeface="等线" panose="02010600030101010101" pitchFamily="2" charset="-122"/>
                <a:ea typeface="等线" panose="02010600030101010101" pitchFamily="2" charset="-122"/>
              </a:rPr>
              <a:t>端口</a:t>
            </a:r>
            <a:r>
              <a:rPr lang="en-US" altLang="zh-CN" sz="2600" dirty="0">
                <a:latin typeface="等线" panose="02010600030101010101" pitchFamily="2" charset="-122"/>
                <a:ea typeface="等线" panose="02010600030101010101" pitchFamily="2" charset="-122"/>
              </a:rPr>
              <a:t>68</a:t>
            </a:r>
            <a:r>
              <a:rPr lang="zh-CN" altLang="en-US" sz="2600" dirty="0">
                <a:latin typeface="等线" panose="02010600030101010101" pitchFamily="2" charset="-122"/>
                <a:ea typeface="等线" panose="02010600030101010101" pitchFamily="2" charset="-122"/>
              </a:rPr>
              <a:t>以</a:t>
            </a:r>
            <a:r>
              <a:rPr lang="zh-CN" altLang="en-US" sz="2600" dirty="0">
                <a:solidFill>
                  <a:srgbClr val="C00000"/>
                </a:solidFill>
                <a:latin typeface="等线" panose="02010600030101010101" pitchFamily="2" charset="-122"/>
                <a:ea typeface="等线" panose="02010600030101010101" pitchFamily="2" charset="-122"/>
              </a:rPr>
              <a:t>广播形式</a:t>
            </a:r>
            <a:r>
              <a:rPr lang="zh-CN" altLang="en-US" sz="2600" dirty="0">
                <a:latin typeface="等线" panose="02010600030101010101" pitchFamily="2" charset="-122"/>
                <a:ea typeface="等线" panose="02010600030101010101" pitchFamily="2" charset="-122"/>
              </a:rPr>
              <a:t>向服务器发送发现报文（</a:t>
            </a:r>
            <a:r>
              <a:rPr lang="en-US" altLang="zh-CN" sz="2600" dirty="0">
                <a:solidFill>
                  <a:srgbClr val="C00000"/>
                </a:solidFill>
                <a:latin typeface="等线" panose="02010600030101010101" pitchFamily="2" charset="-122"/>
                <a:ea typeface="等线" panose="02010600030101010101" pitchFamily="2" charset="-122"/>
              </a:rPr>
              <a:t>DHCPDISCOVER</a:t>
            </a:r>
            <a:r>
              <a:rPr lang="zh-CN" altLang="en-US" sz="2600" dirty="0">
                <a:latin typeface="等线" panose="02010600030101010101" pitchFamily="2" charset="-122"/>
                <a:ea typeface="等线" panose="02010600030101010101" pitchFamily="2" charset="-122"/>
              </a:rPr>
              <a:t>）</a:t>
            </a:r>
            <a:endParaRPr lang="en-US" altLang="zh-CN" sz="2600" dirty="0">
              <a:latin typeface="等线" panose="02010600030101010101" pitchFamily="2" charset="-122"/>
              <a:ea typeface="等线" panose="02010600030101010101" pitchFamily="2" charset="-122"/>
            </a:endParaRPr>
          </a:p>
          <a:p>
            <a:pPr eaLnBrk="0" hangingPunct="0">
              <a:lnSpc>
                <a:spcPct val="140000"/>
              </a:lnSpc>
            </a:pPr>
            <a:r>
              <a:rPr lang="en-US" altLang="zh-CN" sz="2600" dirty="0">
                <a:latin typeface="等线" panose="02010600030101010101" pitchFamily="2" charset="-122"/>
                <a:ea typeface="等线" panose="02010600030101010101" pitchFamily="2" charset="-122"/>
              </a:rPr>
              <a:t>DHCP </a:t>
            </a:r>
            <a:r>
              <a:rPr lang="zh-CN" altLang="en-US" sz="2600" dirty="0"/>
              <a:t>服务器以</a:t>
            </a:r>
            <a:r>
              <a:rPr lang="zh-CN" altLang="en-US" sz="2600" dirty="0">
                <a:solidFill>
                  <a:srgbClr val="C00000"/>
                </a:solidFill>
              </a:rPr>
              <a:t>广播形式</a:t>
            </a:r>
            <a:r>
              <a:rPr lang="zh-CN" altLang="en-US" sz="2600" dirty="0">
                <a:latin typeface="等线" panose="02010600030101010101" pitchFamily="2" charset="-122"/>
                <a:ea typeface="等线" panose="02010600030101010101" pitchFamily="2" charset="-122"/>
              </a:rPr>
              <a:t>发出提供报文（</a:t>
            </a:r>
            <a:r>
              <a:rPr lang="en-US" altLang="zh-CN" sz="2600" dirty="0">
                <a:solidFill>
                  <a:srgbClr val="C00000"/>
                </a:solidFill>
                <a:latin typeface="等线" panose="02010600030101010101" pitchFamily="2" charset="-122"/>
                <a:ea typeface="等线" panose="02010600030101010101" pitchFamily="2" charset="-122"/>
              </a:rPr>
              <a:t>DHCPOFFER</a:t>
            </a:r>
            <a:r>
              <a:rPr lang="zh-CN" altLang="en-US" sz="2600" dirty="0">
                <a:latin typeface="等线" panose="02010600030101010101" pitchFamily="2" charset="-122"/>
                <a:ea typeface="等线" panose="02010600030101010101" pitchFamily="2" charset="-122"/>
              </a:rPr>
              <a:t>）</a:t>
            </a:r>
            <a:endParaRPr lang="en-US" altLang="zh-CN" sz="2600" dirty="0">
              <a:latin typeface="等线" panose="02010600030101010101" pitchFamily="2" charset="-122"/>
              <a:ea typeface="等线" panose="02010600030101010101" pitchFamily="2" charset="-122"/>
            </a:endParaRPr>
          </a:p>
          <a:p>
            <a:pPr eaLnBrk="0" hangingPunct="0">
              <a:lnSpc>
                <a:spcPct val="140000"/>
              </a:lnSpc>
            </a:pPr>
            <a:r>
              <a:rPr lang="en-US" altLang="zh-CN" sz="2600" dirty="0">
                <a:latin typeface="等线" panose="02010600030101010101" pitchFamily="2" charset="-122"/>
                <a:ea typeface="等线" panose="02010600030101010101" pitchFamily="2" charset="-122"/>
              </a:rPr>
              <a:t>DHCP </a:t>
            </a:r>
            <a:r>
              <a:rPr lang="zh-CN" altLang="en-US" sz="2600" dirty="0">
                <a:latin typeface="等线" panose="02010600030101010101" pitchFamily="2" charset="-122"/>
                <a:ea typeface="等线" panose="02010600030101010101" pitchFamily="2" charset="-122"/>
              </a:rPr>
              <a:t>客户从多个</a:t>
            </a:r>
            <a:r>
              <a:rPr lang="en-US" altLang="zh-CN" sz="2600" dirty="0">
                <a:latin typeface="等线" panose="02010600030101010101" pitchFamily="2" charset="-122"/>
                <a:ea typeface="等线" panose="02010600030101010101" pitchFamily="2" charset="-122"/>
              </a:rPr>
              <a:t>DHCP</a:t>
            </a:r>
            <a:r>
              <a:rPr lang="zh-CN" altLang="en-US" sz="2600" dirty="0">
                <a:latin typeface="等线" panose="02010600030101010101" pitchFamily="2" charset="-122"/>
                <a:ea typeface="等线" panose="02010600030101010101" pitchFamily="2" charset="-122"/>
              </a:rPr>
              <a:t>服务器中选择一个，并向其</a:t>
            </a:r>
            <a:r>
              <a:rPr lang="zh-CN" altLang="en-US" sz="2600" dirty="0">
                <a:solidFill>
                  <a:srgbClr val="C00000"/>
                </a:solidFill>
                <a:latin typeface="等线" panose="02010600030101010101" pitchFamily="2" charset="-122"/>
                <a:ea typeface="等线" panose="02010600030101010101" pitchFamily="2" charset="-122"/>
              </a:rPr>
              <a:t>以广播形式</a:t>
            </a:r>
            <a:r>
              <a:rPr lang="zh-CN" altLang="en-US" sz="2600" dirty="0">
                <a:latin typeface="等线" panose="02010600030101010101" pitchFamily="2" charset="-122"/>
                <a:ea typeface="等线" panose="02010600030101010101" pitchFamily="2" charset="-122"/>
              </a:rPr>
              <a:t>发送</a:t>
            </a:r>
            <a:r>
              <a:rPr lang="en-US" altLang="zh-CN" sz="2600" dirty="0">
                <a:latin typeface="等线" panose="02010600030101010101" pitchFamily="2" charset="-122"/>
                <a:ea typeface="等线" panose="02010600030101010101" pitchFamily="2" charset="-122"/>
              </a:rPr>
              <a:t>DHCP</a:t>
            </a:r>
            <a:r>
              <a:rPr lang="zh-CN" altLang="en-US" sz="2600" dirty="0">
                <a:latin typeface="等线" panose="02010600030101010101" pitchFamily="2" charset="-122"/>
                <a:ea typeface="等线" panose="02010600030101010101" pitchFamily="2" charset="-122"/>
              </a:rPr>
              <a:t>请求报文（</a:t>
            </a:r>
            <a:r>
              <a:rPr lang="en-US" altLang="zh-CN" sz="2600" dirty="0">
                <a:solidFill>
                  <a:srgbClr val="C00000"/>
                </a:solidFill>
                <a:latin typeface="等线" panose="02010600030101010101" pitchFamily="2" charset="-122"/>
                <a:ea typeface="等线" panose="02010600030101010101" pitchFamily="2" charset="-122"/>
              </a:rPr>
              <a:t>DHCPREQUEST</a:t>
            </a:r>
            <a:r>
              <a:rPr lang="zh-CN" altLang="en-US" sz="2600" dirty="0">
                <a:latin typeface="等线" panose="02010600030101010101" pitchFamily="2" charset="-122"/>
                <a:ea typeface="等线" panose="02010600030101010101" pitchFamily="2" charset="-122"/>
              </a:rPr>
              <a:t>）</a:t>
            </a:r>
            <a:endParaRPr lang="en-US" altLang="zh-CN" sz="2600" dirty="0">
              <a:latin typeface="等线" panose="02010600030101010101" pitchFamily="2" charset="-122"/>
              <a:ea typeface="等线" panose="02010600030101010101" pitchFamily="2" charset="-122"/>
            </a:endParaRPr>
          </a:p>
          <a:p>
            <a:pPr eaLnBrk="0" hangingPunct="0">
              <a:lnSpc>
                <a:spcPct val="140000"/>
              </a:lnSpc>
            </a:pPr>
            <a:r>
              <a:rPr lang="zh-CN" altLang="en-US" sz="2600" dirty="0">
                <a:latin typeface="等线" panose="02010600030101010101" pitchFamily="2" charset="-122"/>
                <a:ea typeface="等线" panose="02010600030101010101" pitchFamily="2" charset="-122"/>
              </a:rPr>
              <a:t>被选择的</a:t>
            </a:r>
            <a:r>
              <a:rPr lang="en-US" altLang="zh-CN" sz="2600" dirty="0">
                <a:latin typeface="等线" panose="02010600030101010101" pitchFamily="2" charset="-122"/>
                <a:ea typeface="等线" panose="02010600030101010101" pitchFamily="2" charset="-122"/>
              </a:rPr>
              <a:t>DHCP</a:t>
            </a:r>
            <a:r>
              <a:rPr lang="zh-CN" altLang="en-US" sz="2600" dirty="0"/>
              <a:t>服务器以</a:t>
            </a:r>
            <a:r>
              <a:rPr lang="zh-CN" altLang="en-US" sz="2600" dirty="0">
                <a:solidFill>
                  <a:srgbClr val="C00000"/>
                </a:solidFill>
              </a:rPr>
              <a:t>广播形式</a:t>
            </a:r>
            <a:r>
              <a:rPr lang="zh-CN" altLang="en-US" sz="2600" dirty="0">
                <a:latin typeface="等线" panose="02010600030101010101" pitchFamily="2" charset="-122"/>
                <a:ea typeface="等线" panose="02010600030101010101" pitchFamily="2" charset="-122"/>
              </a:rPr>
              <a:t>发送确认报文（</a:t>
            </a:r>
            <a:r>
              <a:rPr lang="en-US" altLang="zh-CN" sz="2600" dirty="0">
                <a:solidFill>
                  <a:srgbClr val="C00000"/>
                </a:solidFill>
                <a:latin typeface="等线" panose="02010600030101010101" pitchFamily="2" charset="-122"/>
                <a:ea typeface="等线" panose="02010600030101010101" pitchFamily="2" charset="-122"/>
              </a:rPr>
              <a:t>DHCPACK</a:t>
            </a:r>
            <a:r>
              <a:rPr lang="zh-CN" altLang="en-US" sz="2600" dirty="0">
                <a:latin typeface="等线" panose="02010600030101010101" pitchFamily="2" charset="-122"/>
                <a:ea typeface="等线" panose="02010600030101010101" pitchFamily="2" charset="-122"/>
              </a:rPr>
              <a:t>）</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46</a:t>
            </a:fld>
            <a:endParaRPr kumimoji="1" lang="zh-CN" altLang="en-US" dirty="0"/>
          </a:p>
        </p:txBody>
      </p:sp>
      <p:sp>
        <p:nvSpPr>
          <p:cNvPr id="6" name="日期占位符 5"/>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5.2.3 DHCP</a:t>
            </a:r>
            <a:endParaRPr kumimoji="1"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696853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等线" panose="02010600030101010101" pitchFamily="2" charset="-122"/>
                <a:ea typeface="等线" panose="02010600030101010101" pitchFamily="2" charset="-122"/>
              </a:rPr>
              <a:t>DHCP </a:t>
            </a:r>
            <a:r>
              <a:rPr lang="zh-CN" altLang="en-US" dirty="0">
                <a:latin typeface="等线" panose="02010600030101010101" pitchFamily="2" charset="-122"/>
                <a:ea typeface="等线" panose="02010600030101010101" pitchFamily="2" charset="-122"/>
              </a:rPr>
              <a:t>工作过程</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47</a:t>
            </a:fld>
            <a:endParaRPr kumimoji="1" lang="zh-CN" altLang="en-US" dirty="0"/>
          </a:p>
        </p:txBody>
      </p:sp>
      <p:sp>
        <p:nvSpPr>
          <p:cNvPr id="150" name="Text Box 7">
            <a:extLst>
              <a:ext uri="{FF2B5EF4-FFF2-40B4-BE49-F238E27FC236}">
                <a16:creationId xmlns:a16="http://schemas.microsoft.com/office/drawing/2014/main" id="{9848C615-D54C-4988-AE59-F93BA8E03344}"/>
              </a:ext>
            </a:extLst>
          </p:cNvPr>
          <p:cNvSpPr txBox="1">
            <a:spLocks noChangeArrowheads="1"/>
          </p:cNvSpPr>
          <p:nvPr/>
        </p:nvSpPr>
        <p:spPr bwMode="auto">
          <a:xfrm>
            <a:off x="2177928" y="1626565"/>
            <a:ext cx="149660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600" dirty="0">
                <a:solidFill>
                  <a:srgbClr val="C00000"/>
                </a:solidFill>
                <a:latin typeface="等线" panose="02010600030101010101" pitchFamily="2" charset="-122"/>
                <a:ea typeface="等线" panose="02010600030101010101" pitchFamily="2" charset="-122"/>
              </a:rPr>
              <a:t>DHCP</a:t>
            </a:r>
            <a:r>
              <a:rPr lang="zh-CN" altLang="en-US" sz="1600" dirty="0">
                <a:solidFill>
                  <a:srgbClr val="C00000"/>
                </a:solidFill>
                <a:latin typeface="等线" panose="02010600030101010101" pitchFamily="2" charset="-122"/>
                <a:ea typeface="等线" panose="02010600030101010101" pitchFamily="2" charset="-122"/>
              </a:rPr>
              <a:t>服务器</a:t>
            </a:r>
            <a:r>
              <a:rPr lang="en-US" altLang="zh-CN" sz="1600" dirty="0">
                <a:solidFill>
                  <a:srgbClr val="C00000"/>
                </a:solidFill>
                <a:latin typeface="等线" panose="02010600030101010101" pitchFamily="2" charset="-122"/>
                <a:ea typeface="等线" panose="02010600030101010101" pitchFamily="2" charset="-122"/>
              </a:rPr>
              <a:t>: 223.1.2.5/24</a:t>
            </a:r>
          </a:p>
        </p:txBody>
      </p:sp>
      <p:sp>
        <p:nvSpPr>
          <p:cNvPr id="151" name="Text Box 8">
            <a:extLst>
              <a:ext uri="{FF2B5EF4-FFF2-40B4-BE49-F238E27FC236}">
                <a16:creationId xmlns:a16="http://schemas.microsoft.com/office/drawing/2014/main" id="{3F5D3525-3AF3-42B1-806B-793DF6E6145A}"/>
              </a:ext>
            </a:extLst>
          </p:cNvPr>
          <p:cNvSpPr txBox="1">
            <a:spLocks noChangeArrowheads="1"/>
          </p:cNvSpPr>
          <p:nvPr/>
        </p:nvSpPr>
        <p:spPr bwMode="auto">
          <a:xfrm>
            <a:off x="8093218" y="2324233"/>
            <a:ext cx="800219" cy="5109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lnSpc>
                <a:spcPct val="85000"/>
              </a:lnSpc>
            </a:pPr>
            <a:r>
              <a:rPr lang="zh-CN" altLang="en-US" sz="1600" dirty="0">
                <a:solidFill>
                  <a:srgbClr val="C00000"/>
                </a:solidFill>
                <a:latin typeface="等线" panose="02010600030101010101" pitchFamily="2" charset="-122"/>
                <a:ea typeface="等线" panose="02010600030101010101" pitchFamily="2" charset="-122"/>
              </a:rPr>
              <a:t>到达的</a:t>
            </a:r>
            <a:endParaRPr lang="en-US" altLang="zh-CN" sz="1600" dirty="0">
              <a:solidFill>
                <a:srgbClr val="C00000"/>
              </a:solidFill>
              <a:latin typeface="等线" panose="02010600030101010101" pitchFamily="2" charset="-122"/>
              <a:ea typeface="等线" panose="02010600030101010101" pitchFamily="2" charset="-122"/>
            </a:endParaRPr>
          </a:p>
          <a:p>
            <a:pPr algn="ctr">
              <a:lnSpc>
                <a:spcPct val="85000"/>
              </a:lnSpc>
            </a:pPr>
            <a:r>
              <a:rPr lang="zh-CN" altLang="en-US" sz="1600" dirty="0">
                <a:solidFill>
                  <a:srgbClr val="C00000"/>
                </a:solidFill>
                <a:latin typeface="等线" panose="02010600030101010101" pitchFamily="2" charset="-122"/>
                <a:ea typeface="等线" panose="02010600030101010101" pitchFamily="2" charset="-122"/>
              </a:rPr>
              <a:t>客户机</a:t>
            </a:r>
            <a:endParaRPr lang="en-US" altLang="zh-CN" sz="1600" dirty="0">
              <a:solidFill>
                <a:srgbClr val="C00000"/>
              </a:solidFill>
              <a:latin typeface="等线" panose="02010600030101010101" pitchFamily="2" charset="-122"/>
              <a:ea typeface="等线" panose="02010600030101010101" pitchFamily="2" charset="-122"/>
            </a:endParaRPr>
          </a:p>
        </p:txBody>
      </p:sp>
      <p:sp>
        <p:nvSpPr>
          <p:cNvPr id="152" name="Line 10">
            <a:extLst>
              <a:ext uri="{FF2B5EF4-FFF2-40B4-BE49-F238E27FC236}">
                <a16:creationId xmlns:a16="http://schemas.microsoft.com/office/drawing/2014/main" id="{97A1366A-7520-4EAF-986C-FE0DCD45331C}"/>
              </a:ext>
            </a:extLst>
          </p:cNvPr>
          <p:cNvSpPr>
            <a:spLocks noChangeShapeType="1"/>
          </p:cNvSpPr>
          <p:nvPr/>
        </p:nvSpPr>
        <p:spPr bwMode="auto">
          <a:xfrm flipH="1">
            <a:off x="1866247" y="2163764"/>
            <a:ext cx="18480" cy="42767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3" name="Line 11">
            <a:extLst>
              <a:ext uri="{FF2B5EF4-FFF2-40B4-BE49-F238E27FC236}">
                <a16:creationId xmlns:a16="http://schemas.microsoft.com/office/drawing/2014/main" id="{FC266A6D-EE9A-47A3-BD4B-4BDB3D81283B}"/>
              </a:ext>
            </a:extLst>
          </p:cNvPr>
          <p:cNvSpPr>
            <a:spLocks noChangeShapeType="1"/>
          </p:cNvSpPr>
          <p:nvPr/>
        </p:nvSpPr>
        <p:spPr bwMode="auto">
          <a:xfrm flipH="1">
            <a:off x="7904527" y="2239963"/>
            <a:ext cx="14816" cy="4140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4" name="Group 5">
            <a:extLst>
              <a:ext uri="{FF2B5EF4-FFF2-40B4-BE49-F238E27FC236}">
                <a16:creationId xmlns:a16="http://schemas.microsoft.com/office/drawing/2014/main" id="{0CE651CB-5A02-4AAB-8578-979EFA9E2393}"/>
              </a:ext>
            </a:extLst>
          </p:cNvPr>
          <p:cNvGrpSpPr>
            <a:grpSpLocks/>
          </p:cNvGrpSpPr>
          <p:nvPr/>
        </p:nvGrpSpPr>
        <p:grpSpPr bwMode="auto">
          <a:xfrm>
            <a:off x="1929176" y="1343026"/>
            <a:ext cx="5861051" cy="1401763"/>
            <a:chOff x="1860550" y="1343025"/>
            <a:chExt cx="4395788" cy="1401763"/>
          </a:xfrm>
        </p:grpSpPr>
        <p:sp>
          <p:nvSpPr>
            <p:cNvPr id="155" name="Line 9">
              <a:extLst>
                <a:ext uri="{FF2B5EF4-FFF2-40B4-BE49-F238E27FC236}">
                  <a16:creationId xmlns:a16="http://schemas.microsoft.com/office/drawing/2014/main" id="{DA76A483-639B-4366-8B77-2279F1F56CC1}"/>
                </a:ext>
              </a:extLst>
            </p:cNvPr>
            <p:cNvSpPr>
              <a:spLocks noChangeShapeType="1"/>
            </p:cNvSpPr>
            <p:nvPr/>
          </p:nvSpPr>
          <p:spPr bwMode="auto">
            <a:xfrm flipH="1">
              <a:off x="1860550" y="2208213"/>
              <a:ext cx="4395788" cy="53657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56" name="Group 23">
              <a:extLst>
                <a:ext uri="{FF2B5EF4-FFF2-40B4-BE49-F238E27FC236}">
                  <a16:creationId xmlns:a16="http://schemas.microsoft.com/office/drawing/2014/main" id="{6349C2EE-AF73-44C5-872C-973C3958A485}"/>
                </a:ext>
              </a:extLst>
            </p:cNvPr>
            <p:cNvGrpSpPr>
              <a:grpSpLocks/>
            </p:cNvGrpSpPr>
            <p:nvPr/>
          </p:nvGrpSpPr>
          <p:grpSpPr bwMode="auto">
            <a:xfrm>
              <a:off x="3389313" y="1343025"/>
              <a:ext cx="2673350" cy="1116013"/>
              <a:chOff x="11865" y="3885"/>
              <a:chExt cx="3720" cy="1260"/>
            </a:xfrm>
          </p:grpSpPr>
          <p:sp>
            <p:nvSpPr>
              <p:cNvPr id="157" name="Text Box 24">
                <a:extLst>
                  <a:ext uri="{FF2B5EF4-FFF2-40B4-BE49-F238E27FC236}">
                    <a16:creationId xmlns:a16="http://schemas.microsoft.com/office/drawing/2014/main" id="{F681FC1D-961F-44A6-8107-DFC09DDDC31F}"/>
                  </a:ext>
                </a:extLst>
              </p:cNvPr>
              <p:cNvSpPr txBox="1">
                <a:spLocks noChangeArrowheads="1"/>
              </p:cNvSpPr>
              <p:nvPr/>
            </p:nvSpPr>
            <p:spPr bwMode="auto">
              <a:xfrm>
                <a:off x="11865" y="3885"/>
                <a:ext cx="2062" cy="49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200" b="1">
                    <a:solidFill>
                      <a:srgbClr val="000000"/>
                    </a:solidFill>
                  </a:rPr>
                  <a:t>DHCP discover</a:t>
                </a:r>
                <a:endParaRPr lang="en-US" altLang="zh-CN" sz="1200" b="1">
                  <a:solidFill>
                    <a:srgbClr val="000000"/>
                  </a:solidFill>
                  <a:latin typeface="Comic Sans MS" panose="030F0702030302020204" pitchFamily="66" charset="0"/>
                </a:endParaRPr>
              </a:p>
            </p:txBody>
          </p:sp>
          <p:sp>
            <p:nvSpPr>
              <p:cNvPr id="158" name="Text Box 25">
                <a:extLst>
                  <a:ext uri="{FF2B5EF4-FFF2-40B4-BE49-F238E27FC236}">
                    <a16:creationId xmlns:a16="http://schemas.microsoft.com/office/drawing/2014/main" id="{BEEBCC01-89CB-4370-B40D-600C6D790463}"/>
                  </a:ext>
                </a:extLst>
              </p:cNvPr>
              <p:cNvSpPr txBox="1">
                <a:spLocks noChangeArrowheads="1"/>
              </p:cNvSpPr>
              <p:nvPr/>
            </p:nvSpPr>
            <p:spPr bwMode="auto">
              <a:xfrm>
                <a:off x="12015" y="4231"/>
                <a:ext cx="3570" cy="914"/>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200" dirty="0" err="1">
                    <a:solidFill>
                      <a:srgbClr val="000000"/>
                    </a:solidFill>
                  </a:rPr>
                  <a:t>src</a:t>
                </a:r>
                <a:r>
                  <a:rPr lang="en-US" altLang="zh-CN" sz="1200" dirty="0">
                    <a:solidFill>
                      <a:srgbClr val="000000"/>
                    </a:solidFill>
                  </a:rPr>
                  <a:t> : 0.0.0.0, 68     </a:t>
                </a:r>
              </a:p>
              <a:p>
                <a:pPr algn="ctr"/>
                <a:r>
                  <a:rPr lang="en-US" altLang="zh-CN" sz="1200" dirty="0" err="1">
                    <a:solidFill>
                      <a:srgbClr val="000000"/>
                    </a:solidFill>
                  </a:rPr>
                  <a:t>dest</a:t>
                </a:r>
                <a:r>
                  <a:rPr lang="en-US" altLang="zh-CN" sz="1200" dirty="0">
                    <a:solidFill>
                      <a:srgbClr val="000000"/>
                    </a:solidFill>
                  </a:rPr>
                  <a:t>.: 255.255.255.255,67</a:t>
                </a:r>
              </a:p>
              <a:p>
                <a:pPr algn="ctr"/>
                <a:r>
                  <a:rPr lang="en-US" altLang="zh-CN" sz="1200" dirty="0" err="1">
                    <a:solidFill>
                      <a:srgbClr val="000000"/>
                    </a:solidFill>
                  </a:rPr>
                  <a:t>yiaddr</a:t>
                </a:r>
                <a:r>
                  <a:rPr lang="en-US" altLang="zh-CN" sz="1200" dirty="0">
                    <a:solidFill>
                      <a:srgbClr val="000000"/>
                    </a:solidFill>
                  </a:rPr>
                  <a:t>:    0.0.0.0</a:t>
                </a:r>
              </a:p>
              <a:p>
                <a:pPr algn="ctr"/>
                <a:r>
                  <a:rPr lang="en-US" altLang="zh-CN" sz="1200" dirty="0">
                    <a:solidFill>
                      <a:srgbClr val="000000"/>
                    </a:solidFill>
                  </a:rPr>
                  <a:t>transaction ID: 654</a:t>
                </a:r>
                <a:endParaRPr lang="en-US" altLang="zh-CN" sz="1600" dirty="0">
                  <a:solidFill>
                    <a:srgbClr val="000000"/>
                  </a:solidFill>
                  <a:latin typeface="Comic Sans MS" panose="030F0702030302020204" pitchFamily="66" charset="0"/>
                </a:endParaRPr>
              </a:p>
            </p:txBody>
          </p:sp>
        </p:grpSp>
      </p:grpSp>
      <p:sp>
        <p:nvSpPr>
          <p:cNvPr id="159" name="Line 26">
            <a:extLst>
              <a:ext uri="{FF2B5EF4-FFF2-40B4-BE49-F238E27FC236}">
                <a16:creationId xmlns:a16="http://schemas.microsoft.com/office/drawing/2014/main" id="{B8AC32AC-C3F3-421B-B7C0-AF6A30414747}"/>
              </a:ext>
            </a:extLst>
          </p:cNvPr>
          <p:cNvSpPr>
            <a:spLocks noChangeShapeType="1"/>
          </p:cNvSpPr>
          <p:nvPr/>
        </p:nvSpPr>
        <p:spPr bwMode="auto">
          <a:xfrm>
            <a:off x="1986328" y="3194051"/>
            <a:ext cx="5861049" cy="538163"/>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0" name="Group 6">
            <a:extLst>
              <a:ext uri="{FF2B5EF4-FFF2-40B4-BE49-F238E27FC236}">
                <a16:creationId xmlns:a16="http://schemas.microsoft.com/office/drawing/2014/main" id="{0BFE06C1-DCC5-44E8-8543-79E25BAA17AB}"/>
              </a:ext>
            </a:extLst>
          </p:cNvPr>
          <p:cNvGrpSpPr>
            <a:grpSpLocks/>
          </p:cNvGrpSpPr>
          <p:nvPr/>
        </p:nvGrpSpPr>
        <p:grpSpPr bwMode="auto">
          <a:xfrm>
            <a:off x="4198243" y="2579688"/>
            <a:ext cx="3361267" cy="1447800"/>
            <a:chOff x="3562350" y="2579688"/>
            <a:chExt cx="2520950" cy="1447800"/>
          </a:xfrm>
        </p:grpSpPr>
        <p:sp>
          <p:nvSpPr>
            <p:cNvPr id="161" name="Text Box 27">
              <a:extLst>
                <a:ext uri="{FF2B5EF4-FFF2-40B4-BE49-F238E27FC236}">
                  <a16:creationId xmlns:a16="http://schemas.microsoft.com/office/drawing/2014/main" id="{2ECDBBF6-5606-4E24-A537-CA6839C8B9F8}"/>
                </a:ext>
              </a:extLst>
            </p:cNvPr>
            <p:cNvSpPr txBox="1">
              <a:spLocks noChangeArrowheads="1"/>
            </p:cNvSpPr>
            <p:nvPr/>
          </p:nvSpPr>
          <p:spPr bwMode="auto">
            <a:xfrm>
              <a:off x="3562350" y="2579688"/>
              <a:ext cx="1379538" cy="3302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200" b="1">
                  <a:solidFill>
                    <a:srgbClr val="000000"/>
                  </a:solidFill>
                </a:rPr>
                <a:t>DHCP offer</a:t>
              </a:r>
              <a:endParaRPr lang="en-US" altLang="zh-CN" sz="1600">
                <a:solidFill>
                  <a:srgbClr val="000000"/>
                </a:solidFill>
                <a:latin typeface="Comic Sans MS" panose="030F0702030302020204" pitchFamily="66" charset="0"/>
              </a:endParaRPr>
            </a:p>
          </p:txBody>
        </p:sp>
        <p:sp>
          <p:nvSpPr>
            <p:cNvPr id="162" name="Text Box 28">
              <a:extLst>
                <a:ext uri="{FF2B5EF4-FFF2-40B4-BE49-F238E27FC236}">
                  <a16:creationId xmlns:a16="http://schemas.microsoft.com/office/drawing/2014/main" id="{5ADFFB82-F7F5-4A4E-9655-EC28C30CC3CA}"/>
                </a:ext>
              </a:extLst>
            </p:cNvPr>
            <p:cNvSpPr txBox="1">
              <a:spLocks noChangeArrowheads="1"/>
            </p:cNvSpPr>
            <p:nvPr/>
          </p:nvSpPr>
          <p:spPr bwMode="auto">
            <a:xfrm>
              <a:off x="3659188" y="2832099"/>
              <a:ext cx="2424112" cy="1195389"/>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200" dirty="0" err="1">
                  <a:solidFill>
                    <a:srgbClr val="000000"/>
                  </a:solidFill>
                </a:rPr>
                <a:t>src</a:t>
              </a:r>
              <a:r>
                <a:rPr lang="en-US" altLang="zh-CN" sz="1200" dirty="0">
                  <a:solidFill>
                    <a:srgbClr val="000000"/>
                  </a:solidFill>
                </a:rPr>
                <a:t>: 223.1.2.5, 67      </a:t>
              </a:r>
            </a:p>
            <a:p>
              <a:pPr algn="ctr"/>
              <a:r>
                <a:rPr lang="en-US" altLang="zh-CN" sz="1200" dirty="0" err="1">
                  <a:solidFill>
                    <a:srgbClr val="000000"/>
                  </a:solidFill>
                </a:rPr>
                <a:t>dest</a:t>
              </a:r>
              <a:r>
                <a:rPr lang="en-US" altLang="zh-CN" sz="1200" dirty="0">
                  <a:solidFill>
                    <a:srgbClr val="000000"/>
                  </a:solidFill>
                </a:rPr>
                <a:t>:  255.255.255.255, 68</a:t>
              </a:r>
            </a:p>
            <a:p>
              <a:pPr algn="ctr"/>
              <a:r>
                <a:rPr lang="en-US" altLang="zh-CN" sz="1200" dirty="0" err="1">
                  <a:solidFill>
                    <a:srgbClr val="000000"/>
                  </a:solidFill>
                </a:rPr>
                <a:t>yiaddr</a:t>
              </a:r>
              <a:r>
                <a:rPr lang="en-US" altLang="zh-CN" sz="1200" dirty="0">
                  <a:solidFill>
                    <a:srgbClr val="000000"/>
                  </a:solidFill>
                </a:rPr>
                <a:t>: 223.1.2.4</a:t>
              </a:r>
            </a:p>
            <a:p>
              <a:pPr algn="ctr"/>
              <a:r>
                <a:rPr lang="en-US" altLang="zh-CN" sz="1200" dirty="0">
                  <a:solidFill>
                    <a:srgbClr val="000000"/>
                  </a:solidFill>
                </a:rPr>
                <a:t>transaction ID: 654</a:t>
              </a:r>
            </a:p>
            <a:p>
              <a:pPr algn="ctr"/>
              <a:r>
                <a:rPr lang="en-US" altLang="zh-CN" sz="1200" dirty="0">
                  <a:solidFill>
                    <a:srgbClr val="000000"/>
                  </a:solidFill>
                </a:rPr>
                <a:t>lifetime: 3600 secs</a:t>
              </a:r>
            </a:p>
            <a:p>
              <a:pPr algn="ctr"/>
              <a:r>
                <a:rPr lang="en-US" altLang="zh-CN" sz="1200" dirty="0">
                  <a:solidFill>
                    <a:srgbClr val="000000"/>
                  </a:solidFill>
                </a:rPr>
                <a:t>DHCP server</a:t>
              </a:r>
              <a:r>
                <a:rPr lang="zh-CN" altLang="en-US" sz="1200" dirty="0">
                  <a:solidFill>
                    <a:srgbClr val="000000"/>
                  </a:solidFill>
                </a:rPr>
                <a:t> </a:t>
              </a:r>
              <a:r>
                <a:rPr lang="en-US" altLang="zh-CN" sz="1200" dirty="0">
                  <a:solidFill>
                    <a:srgbClr val="000000"/>
                  </a:solidFill>
                </a:rPr>
                <a:t>identifier: 223.1.2.5, 67 </a:t>
              </a:r>
            </a:p>
          </p:txBody>
        </p:sp>
      </p:grpSp>
      <p:sp>
        <p:nvSpPr>
          <p:cNvPr id="163" name="Line 29">
            <a:extLst>
              <a:ext uri="{FF2B5EF4-FFF2-40B4-BE49-F238E27FC236}">
                <a16:creationId xmlns:a16="http://schemas.microsoft.com/office/drawing/2014/main" id="{74686320-E368-4490-9322-29275EF25B4E}"/>
              </a:ext>
            </a:extLst>
          </p:cNvPr>
          <p:cNvSpPr>
            <a:spLocks noChangeShapeType="1"/>
          </p:cNvSpPr>
          <p:nvPr/>
        </p:nvSpPr>
        <p:spPr bwMode="auto">
          <a:xfrm flipH="1">
            <a:off x="1842394" y="4422776"/>
            <a:ext cx="5861049" cy="536575"/>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4" name="Group 7">
            <a:extLst>
              <a:ext uri="{FF2B5EF4-FFF2-40B4-BE49-F238E27FC236}">
                <a16:creationId xmlns:a16="http://schemas.microsoft.com/office/drawing/2014/main" id="{20E78489-9117-4870-92A3-D33CCFBFB988}"/>
              </a:ext>
            </a:extLst>
          </p:cNvPr>
          <p:cNvGrpSpPr>
            <a:grpSpLocks/>
          </p:cNvGrpSpPr>
          <p:nvPr/>
        </p:nvGrpSpPr>
        <p:grpSpPr bwMode="auto">
          <a:xfrm>
            <a:off x="2070993" y="3765551"/>
            <a:ext cx="3850216" cy="1403349"/>
            <a:chOff x="1966913" y="3765550"/>
            <a:chExt cx="2887662" cy="1403349"/>
          </a:xfrm>
        </p:grpSpPr>
        <p:sp>
          <p:nvSpPr>
            <p:cNvPr id="165" name="Text Box 30">
              <a:extLst>
                <a:ext uri="{FF2B5EF4-FFF2-40B4-BE49-F238E27FC236}">
                  <a16:creationId xmlns:a16="http://schemas.microsoft.com/office/drawing/2014/main" id="{4DEC45E6-6738-4206-A08D-89C735585A70}"/>
                </a:ext>
              </a:extLst>
            </p:cNvPr>
            <p:cNvSpPr txBox="1">
              <a:spLocks noChangeArrowheads="1"/>
            </p:cNvSpPr>
            <p:nvPr/>
          </p:nvSpPr>
          <p:spPr bwMode="auto">
            <a:xfrm>
              <a:off x="1966913" y="3765550"/>
              <a:ext cx="1379537" cy="328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200" b="1">
                  <a:solidFill>
                    <a:srgbClr val="000000"/>
                  </a:solidFill>
                </a:rPr>
                <a:t>DHCP request</a:t>
              </a:r>
              <a:endParaRPr lang="en-US" altLang="zh-CN" sz="1600">
                <a:solidFill>
                  <a:srgbClr val="000000"/>
                </a:solidFill>
                <a:latin typeface="Comic Sans MS" panose="030F0702030302020204" pitchFamily="66" charset="0"/>
              </a:endParaRPr>
            </a:p>
          </p:txBody>
        </p:sp>
        <p:sp>
          <p:nvSpPr>
            <p:cNvPr id="166" name="Text Box 31">
              <a:extLst>
                <a:ext uri="{FF2B5EF4-FFF2-40B4-BE49-F238E27FC236}">
                  <a16:creationId xmlns:a16="http://schemas.microsoft.com/office/drawing/2014/main" id="{E28F1BDC-47B0-4614-B24C-34684564DCAE}"/>
                </a:ext>
              </a:extLst>
            </p:cNvPr>
            <p:cNvSpPr txBox="1">
              <a:spLocks noChangeArrowheads="1"/>
            </p:cNvSpPr>
            <p:nvPr/>
          </p:nvSpPr>
          <p:spPr bwMode="auto">
            <a:xfrm>
              <a:off x="2097088" y="4027488"/>
              <a:ext cx="2757487" cy="1141411"/>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200" dirty="0" err="1">
                  <a:solidFill>
                    <a:srgbClr val="000000"/>
                  </a:solidFill>
                </a:rPr>
                <a:t>src</a:t>
              </a:r>
              <a:r>
                <a:rPr lang="en-US" altLang="zh-CN" sz="1200" dirty="0">
                  <a:solidFill>
                    <a:srgbClr val="000000"/>
                  </a:solidFill>
                </a:rPr>
                <a:t>:  0.0.0.0, 68     </a:t>
              </a:r>
            </a:p>
            <a:p>
              <a:pPr algn="ctr"/>
              <a:r>
                <a:rPr lang="en-US" altLang="zh-CN" sz="1200" dirty="0" err="1">
                  <a:solidFill>
                    <a:srgbClr val="000000"/>
                  </a:solidFill>
                </a:rPr>
                <a:t>dest</a:t>
              </a:r>
              <a:r>
                <a:rPr lang="en-US" altLang="zh-CN" sz="1200" dirty="0">
                  <a:solidFill>
                    <a:srgbClr val="000000"/>
                  </a:solidFill>
                </a:rPr>
                <a:t>::  255.255.255.255, 67</a:t>
              </a:r>
            </a:p>
            <a:p>
              <a:pPr algn="ctr"/>
              <a:r>
                <a:rPr lang="en-US" altLang="zh-CN" sz="1200" dirty="0" err="1">
                  <a:solidFill>
                    <a:srgbClr val="000000"/>
                  </a:solidFill>
                </a:rPr>
                <a:t>yiaddr</a:t>
              </a:r>
              <a:r>
                <a:rPr lang="en-US" altLang="zh-CN" sz="1200" dirty="0">
                  <a:solidFill>
                    <a:srgbClr val="000000"/>
                  </a:solidFill>
                </a:rPr>
                <a:t>: 223.1.2.4</a:t>
              </a:r>
            </a:p>
            <a:p>
              <a:pPr algn="ctr"/>
              <a:r>
                <a:rPr lang="en-US" altLang="zh-CN" sz="1200" dirty="0">
                  <a:solidFill>
                    <a:srgbClr val="000000"/>
                  </a:solidFill>
                </a:rPr>
                <a:t>transaction ID: 655</a:t>
              </a:r>
            </a:p>
            <a:p>
              <a:pPr algn="ctr"/>
              <a:r>
                <a:rPr lang="en-US" altLang="zh-CN" sz="1200" dirty="0">
                  <a:solidFill>
                    <a:srgbClr val="000000"/>
                  </a:solidFill>
                </a:rPr>
                <a:t>lifetime: 3600 secs</a:t>
              </a:r>
            </a:p>
            <a:p>
              <a:pPr algn="ctr"/>
              <a:r>
                <a:rPr lang="en-US" altLang="zh-CN" sz="1200" dirty="0">
                  <a:solidFill>
                    <a:srgbClr val="000000"/>
                  </a:solidFill>
                </a:rPr>
                <a:t>DHCP server</a:t>
              </a:r>
              <a:r>
                <a:rPr lang="zh-CN" altLang="en-US" sz="1200" dirty="0">
                  <a:solidFill>
                    <a:srgbClr val="000000"/>
                  </a:solidFill>
                </a:rPr>
                <a:t> </a:t>
              </a:r>
              <a:r>
                <a:rPr lang="en-US" altLang="zh-CN" sz="1200" dirty="0">
                  <a:solidFill>
                    <a:srgbClr val="000000"/>
                  </a:solidFill>
                </a:rPr>
                <a:t>identifier: 223.1.2.5, 67 </a:t>
              </a:r>
            </a:p>
            <a:p>
              <a:pPr algn="ctr"/>
              <a:endParaRPr lang="en-US" altLang="zh-CN" sz="1600" dirty="0">
                <a:solidFill>
                  <a:srgbClr val="000000"/>
                </a:solidFill>
                <a:latin typeface="Comic Sans MS" panose="030F0702030302020204" pitchFamily="66" charset="0"/>
              </a:endParaRPr>
            </a:p>
          </p:txBody>
        </p:sp>
      </p:grpSp>
      <p:sp>
        <p:nvSpPr>
          <p:cNvPr id="167" name="Line 32">
            <a:extLst>
              <a:ext uri="{FF2B5EF4-FFF2-40B4-BE49-F238E27FC236}">
                <a16:creationId xmlns:a16="http://schemas.microsoft.com/office/drawing/2014/main" id="{974159A6-967F-40C3-BF08-88FA2B9B831D}"/>
              </a:ext>
            </a:extLst>
          </p:cNvPr>
          <p:cNvSpPr>
            <a:spLocks noChangeShapeType="1"/>
          </p:cNvSpPr>
          <p:nvPr/>
        </p:nvSpPr>
        <p:spPr bwMode="auto">
          <a:xfrm>
            <a:off x="1956694" y="5453063"/>
            <a:ext cx="5861049" cy="538162"/>
          </a:xfrm>
          <a:prstGeom prst="line">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68" name="Group 8">
            <a:extLst>
              <a:ext uri="{FF2B5EF4-FFF2-40B4-BE49-F238E27FC236}">
                <a16:creationId xmlns:a16="http://schemas.microsoft.com/office/drawing/2014/main" id="{6C47207D-7C19-4A6A-B48D-95C5D6074CDF}"/>
              </a:ext>
            </a:extLst>
          </p:cNvPr>
          <p:cNvGrpSpPr>
            <a:grpSpLocks/>
          </p:cNvGrpSpPr>
          <p:nvPr/>
        </p:nvGrpSpPr>
        <p:grpSpPr bwMode="auto">
          <a:xfrm>
            <a:off x="4141094" y="5168900"/>
            <a:ext cx="3346449" cy="1468438"/>
            <a:chOff x="3519488" y="5168900"/>
            <a:chExt cx="2509837" cy="1468438"/>
          </a:xfrm>
        </p:grpSpPr>
        <p:sp>
          <p:nvSpPr>
            <p:cNvPr id="169" name="Text Box 33">
              <a:extLst>
                <a:ext uri="{FF2B5EF4-FFF2-40B4-BE49-F238E27FC236}">
                  <a16:creationId xmlns:a16="http://schemas.microsoft.com/office/drawing/2014/main" id="{B290C8D7-1C55-46F3-B4F2-1490164E73FC}"/>
                </a:ext>
              </a:extLst>
            </p:cNvPr>
            <p:cNvSpPr txBox="1">
              <a:spLocks noChangeArrowheads="1"/>
            </p:cNvSpPr>
            <p:nvPr/>
          </p:nvSpPr>
          <p:spPr bwMode="auto">
            <a:xfrm>
              <a:off x="3519488" y="5168900"/>
              <a:ext cx="1379537" cy="3286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200" b="1">
                  <a:solidFill>
                    <a:srgbClr val="000000"/>
                  </a:solidFill>
                </a:rPr>
                <a:t>DHCP ACK</a:t>
              </a:r>
              <a:endParaRPr lang="en-US" altLang="zh-CN" sz="1600">
                <a:solidFill>
                  <a:srgbClr val="000000"/>
                </a:solidFill>
                <a:latin typeface="Comic Sans MS" panose="030F0702030302020204" pitchFamily="66" charset="0"/>
              </a:endParaRPr>
            </a:p>
          </p:txBody>
        </p:sp>
        <p:sp>
          <p:nvSpPr>
            <p:cNvPr id="170" name="Text Box 34">
              <a:extLst>
                <a:ext uri="{FF2B5EF4-FFF2-40B4-BE49-F238E27FC236}">
                  <a16:creationId xmlns:a16="http://schemas.microsoft.com/office/drawing/2014/main" id="{C5B44FA8-38E1-4510-8693-06567131DBCF}"/>
                </a:ext>
              </a:extLst>
            </p:cNvPr>
            <p:cNvSpPr txBox="1">
              <a:spLocks noChangeArrowheads="1"/>
            </p:cNvSpPr>
            <p:nvPr/>
          </p:nvSpPr>
          <p:spPr bwMode="auto">
            <a:xfrm>
              <a:off x="3616325" y="5421313"/>
              <a:ext cx="2413000" cy="1216025"/>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zh-CN" sz="1200" dirty="0" err="1">
                  <a:solidFill>
                    <a:srgbClr val="000000"/>
                  </a:solidFill>
                </a:rPr>
                <a:t>src</a:t>
              </a:r>
              <a:r>
                <a:rPr lang="en-US" altLang="zh-CN" sz="1200" dirty="0">
                  <a:solidFill>
                    <a:srgbClr val="000000"/>
                  </a:solidFill>
                </a:rPr>
                <a:t>: 223.1.2.5, 67      </a:t>
              </a:r>
            </a:p>
            <a:p>
              <a:pPr algn="ctr"/>
              <a:r>
                <a:rPr lang="en-US" altLang="zh-CN" sz="1200" dirty="0" err="1">
                  <a:solidFill>
                    <a:srgbClr val="000000"/>
                  </a:solidFill>
                </a:rPr>
                <a:t>dest</a:t>
              </a:r>
              <a:r>
                <a:rPr lang="en-US" altLang="zh-CN" sz="1200" dirty="0">
                  <a:solidFill>
                    <a:srgbClr val="000000"/>
                  </a:solidFill>
                </a:rPr>
                <a:t>:  255.255.255.255, 68</a:t>
              </a:r>
            </a:p>
            <a:p>
              <a:pPr algn="ctr"/>
              <a:r>
                <a:rPr lang="en-US" altLang="zh-CN" sz="1200" dirty="0" err="1">
                  <a:solidFill>
                    <a:srgbClr val="000000"/>
                  </a:solidFill>
                </a:rPr>
                <a:t>yiaddr</a:t>
              </a:r>
              <a:r>
                <a:rPr lang="en-US" altLang="zh-CN" sz="1200" dirty="0">
                  <a:solidFill>
                    <a:srgbClr val="000000"/>
                  </a:solidFill>
                </a:rPr>
                <a:t>: 223.1.2.4</a:t>
              </a:r>
            </a:p>
            <a:p>
              <a:pPr algn="ctr"/>
              <a:r>
                <a:rPr lang="en-US" altLang="zh-CN" sz="1200" dirty="0">
                  <a:solidFill>
                    <a:srgbClr val="000000"/>
                  </a:solidFill>
                </a:rPr>
                <a:t>transaction ID: 655</a:t>
              </a:r>
            </a:p>
            <a:p>
              <a:pPr algn="ctr"/>
              <a:r>
                <a:rPr lang="en-US" altLang="zh-CN" sz="1200" dirty="0">
                  <a:solidFill>
                    <a:srgbClr val="000000"/>
                  </a:solidFill>
                </a:rPr>
                <a:t>lifetime: 3600 secs</a:t>
              </a:r>
            </a:p>
            <a:p>
              <a:pPr algn="ctr"/>
              <a:r>
                <a:rPr lang="en-US" altLang="zh-CN" sz="1200" dirty="0">
                  <a:solidFill>
                    <a:srgbClr val="000000"/>
                  </a:solidFill>
                </a:rPr>
                <a:t>DHCP server</a:t>
              </a:r>
              <a:r>
                <a:rPr lang="zh-CN" altLang="en-US" sz="1200" dirty="0">
                  <a:solidFill>
                    <a:srgbClr val="000000"/>
                  </a:solidFill>
                </a:rPr>
                <a:t> </a:t>
              </a:r>
              <a:r>
                <a:rPr lang="en-US" altLang="zh-CN" sz="1200" dirty="0">
                  <a:solidFill>
                    <a:srgbClr val="000000"/>
                  </a:solidFill>
                </a:rPr>
                <a:t>identifier: 223.1.2.5, 67 </a:t>
              </a:r>
            </a:p>
            <a:p>
              <a:pPr algn="ctr"/>
              <a:endParaRPr lang="en-US" altLang="zh-CN" sz="1000" dirty="0">
                <a:solidFill>
                  <a:srgbClr val="000000"/>
                </a:solidFill>
                <a:latin typeface="Comic Sans MS" panose="030F0702030302020204" pitchFamily="66" charset="0"/>
              </a:endParaRPr>
            </a:p>
          </p:txBody>
        </p:sp>
      </p:grpSp>
      <p:grpSp>
        <p:nvGrpSpPr>
          <p:cNvPr id="171" name="Group 36">
            <a:extLst>
              <a:ext uri="{FF2B5EF4-FFF2-40B4-BE49-F238E27FC236}">
                <a16:creationId xmlns:a16="http://schemas.microsoft.com/office/drawing/2014/main" id="{876EC0D5-D696-4FD6-B343-99D2038018BA}"/>
              </a:ext>
            </a:extLst>
          </p:cNvPr>
          <p:cNvGrpSpPr>
            <a:grpSpLocks/>
          </p:cNvGrpSpPr>
          <p:nvPr/>
        </p:nvGrpSpPr>
        <p:grpSpPr bwMode="auto">
          <a:xfrm>
            <a:off x="7606072" y="1743073"/>
            <a:ext cx="1045633" cy="549275"/>
            <a:chOff x="4420" y="878"/>
            <a:chExt cx="614" cy="458"/>
          </a:xfrm>
        </p:grpSpPr>
        <p:pic>
          <p:nvPicPr>
            <p:cNvPr id="172" name="Picture 37" descr="laptop_keyboard">
              <a:extLst>
                <a:ext uri="{FF2B5EF4-FFF2-40B4-BE49-F238E27FC236}">
                  <a16:creationId xmlns:a16="http://schemas.microsoft.com/office/drawing/2014/main" id="{758B8132-D073-4C94-9A48-CB1233D5087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9064" flipH="1">
              <a:off x="4420" y="1108"/>
              <a:ext cx="527"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3" name="Freeform 38">
              <a:extLst>
                <a:ext uri="{FF2B5EF4-FFF2-40B4-BE49-F238E27FC236}">
                  <a16:creationId xmlns:a16="http://schemas.microsoft.com/office/drawing/2014/main" id="{679AC529-FB45-42E8-A775-31753CE201A6}"/>
                </a:ext>
              </a:extLst>
            </p:cNvPr>
            <p:cNvSpPr>
              <a:spLocks/>
            </p:cNvSpPr>
            <p:nvPr/>
          </p:nvSpPr>
          <p:spPr bwMode="auto">
            <a:xfrm>
              <a:off x="4595" y="888"/>
              <a:ext cx="424" cy="297"/>
            </a:xfrm>
            <a:custGeom>
              <a:avLst/>
              <a:gdLst>
                <a:gd name="T0" fmla="*/ 0 w 2982"/>
                <a:gd name="T1" fmla="*/ 0 h 2442"/>
                <a:gd name="T2" fmla="*/ 0 w 2982"/>
                <a:gd name="T3" fmla="*/ 0 h 2442"/>
                <a:gd name="T4" fmla="*/ 0 w 2982"/>
                <a:gd name="T5" fmla="*/ 0 h 2442"/>
                <a:gd name="T6" fmla="*/ 0 w 2982"/>
                <a:gd name="T7" fmla="*/ 0 h 2442"/>
                <a:gd name="T8" fmla="*/ 0 w 2982"/>
                <a:gd name="T9" fmla="*/ 0 h 2442"/>
                <a:gd name="T10" fmla="*/ 0 60000 65536"/>
                <a:gd name="T11" fmla="*/ 0 60000 65536"/>
                <a:gd name="T12" fmla="*/ 0 60000 65536"/>
                <a:gd name="T13" fmla="*/ 0 60000 65536"/>
                <a:gd name="T14" fmla="*/ 0 60000 65536"/>
                <a:gd name="T15" fmla="*/ 0 w 2982"/>
                <a:gd name="T16" fmla="*/ 0 h 2442"/>
                <a:gd name="T17" fmla="*/ 2982 w 2982"/>
                <a:gd name="T18" fmla="*/ 2442 h 2442"/>
              </a:gdLst>
              <a:ahLst/>
              <a:cxnLst>
                <a:cxn ang="T10">
                  <a:pos x="T0" y="T1"/>
                </a:cxn>
                <a:cxn ang="T11">
                  <a:pos x="T2" y="T3"/>
                </a:cxn>
                <a:cxn ang="T12">
                  <a:pos x="T4" y="T5"/>
                </a:cxn>
                <a:cxn ang="T13">
                  <a:pos x="T6" y="T7"/>
                </a:cxn>
                <a:cxn ang="T14">
                  <a:pos x="T8" y="T9"/>
                </a:cxn>
              </a:cxnLst>
              <a:rect l="T15" t="T16" r="T17" b="T18"/>
              <a:pathLst>
                <a:path w="2982" h="2442">
                  <a:moveTo>
                    <a:pt x="540" y="0"/>
                  </a:moveTo>
                  <a:lnTo>
                    <a:pt x="0" y="1734"/>
                  </a:lnTo>
                  <a:lnTo>
                    <a:pt x="2394" y="2442"/>
                  </a:lnTo>
                  <a:lnTo>
                    <a:pt x="2982" y="318"/>
                  </a:lnTo>
                  <a:lnTo>
                    <a:pt x="540" y="0"/>
                  </a:lnTo>
                  <a:close/>
                </a:path>
              </a:pathLst>
            </a:custGeom>
            <a:solidFill>
              <a:schemeClr val="tx1"/>
            </a:solidFill>
            <a:ln w="9525">
              <a:solidFill>
                <a:schemeClr val="tx1"/>
              </a:solidFill>
              <a:round/>
              <a:headEnd/>
              <a:tailEnd/>
            </a:ln>
          </p:spPr>
          <p:txBody>
            <a:bodyPr/>
            <a:lstStyle/>
            <a:p>
              <a:endParaRPr lang="zh-CN" altLang="en-US"/>
            </a:p>
          </p:txBody>
        </p:sp>
        <p:pic>
          <p:nvPicPr>
            <p:cNvPr id="174" name="Picture 39" descr="screen">
              <a:extLst>
                <a:ext uri="{FF2B5EF4-FFF2-40B4-BE49-F238E27FC236}">
                  <a16:creationId xmlns:a16="http://schemas.microsoft.com/office/drawing/2014/main" id="{E451F106-F819-4CA0-9985-75DDA3CF70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6" y="895"/>
              <a:ext cx="38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5" name="Freeform 40">
              <a:extLst>
                <a:ext uri="{FF2B5EF4-FFF2-40B4-BE49-F238E27FC236}">
                  <a16:creationId xmlns:a16="http://schemas.microsoft.com/office/drawing/2014/main" id="{109919B9-F479-4114-892C-BF3943516E9B}"/>
                </a:ext>
              </a:extLst>
            </p:cNvPr>
            <p:cNvSpPr>
              <a:spLocks/>
            </p:cNvSpPr>
            <p:nvPr/>
          </p:nvSpPr>
          <p:spPr bwMode="auto">
            <a:xfrm>
              <a:off x="4672" y="879"/>
              <a:ext cx="359" cy="55"/>
            </a:xfrm>
            <a:custGeom>
              <a:avLst/>
              <a:gdLst>
                <a:gd name="T0" fmla="*/ 0 w 2528"/>
                <a:gd name="T1" fmla="*/ 0 h 455"/>
                <a:gd name="T2" fmla="*/ 0 w 2528"/>
                <a:gd name="T3" fmla="*/ 0 h 455"/>
                <a:gd name="T4" fmla="*/ 0 w 2528"/>
                <a:gd name="T5" fmla="*/ 0 h 455"/>
                <a:gd name="T6" fmla="*/ 0 w 2528"/>
                <a:gd name="T7" fmla="*/ 0 h 455"/>
                <a:gd name="T8" fmla="*/ 0 w 2528"/>
                <a:gd name="T9" fmla="*/ 0 h 455"/>
                <a:gd name="T10" fmla="*/ 0 60000 65536"/>
                <a:gd name="T11" fmla="*/ 0 60000 65536"/>
                <a:gd name="T12" fmla="*/ 0 60000 65536"/>
                <a:gd name="T13" fmla="*/ 0 60000 65536"/>
                <a:gd name="T14" fmla="*/ 0 60000 65536"/>
                <a:gd name="T15" fmla="*/ 0 w 2528"/>
                <a:gd name="T16" fmla="*/ 0 h 455"/>
                <a:gd name="T17" fmla="*/ 2528 w 2528"/>
                <a:gd name="T18" fmla="*/ 455 h 455"/>
              </a:gdLst>
              <a:ahLst/>
              <a:cxnLst>
                <a:cxn ang="T10">
                  <a:pos x="T0" y="T1"/>
                </a:cxn>
                <a:cxn ang="T11">
                  <a:pos x="T2" y="T3"/>
                </a:cxn>
                <a:cxn ang="T12">
                  <a:pos x="T4" y="T5"/>
                </a:cxn>
                <a:cxn ang="T13">
                  <a:pos x="T6" y="T7"/>
                </a:cxn>
                <a:cxn ang="T14">
                  <a:pos x="T8" y="T9"/>
                </a:cxn>
              </a:cxnLst>
              <a:rect l="T15" t="T16" r="T17" b="T18"/>
              <a:pathLst>
                <a:path w="2528" h="455">
                  <a:moveTo>
                    <a:pt x="14" y="0"/>
                  </a:moveTo>
                  <a:lnTo>
                    <a:pt x="2528" y="341"/>
                  </a:lnTo>
                  <a:lnTo>
                    <a:pt x="2480" y="455"/>
                  </a:lnTo>
                  <a:lnTo>
                    <a:pt x="0" y="86"/>
                  </a:lnTo>
                  <a:lnTo>
                    <a:pt x="14" y="0"/>
                  </a:lnTo>
                  <a:close/>
                </a:path>
              </a:pathLst>
            </a:custGeom>
            <a:gradFill rotWithShape="1">
              <a:gsLst>
                <a:gs pos="0">
                  <a:srgbClr val="000099"/>
                </a:gs>
                <a:gs pos="100000">
                  <a:srgbClr val="EAEAEA"/>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6" name="Freeform 41">
              <a:extLst>
                <a:ext uri="{FF2B5EF4-FFF2-40B4-BE49-F238E27FC236}">
                  <a16:creationId xmlns:a16="http://schemas.microsoft.com/office/drawing/2014/main" id="{DF2066FC-8968-4618-BE9E-B86AB27FBB90}"/>
                </a:ext>
              </a:extLst>
            </p:cNvPr>
            <p:cNvSpPr>
              <a:spLocks/>
            </p:cNvSpPr>
            <p:nvPr/>
          </p:nvSpPr>
          <p:spPr bwMode="auto">
            <a:xfrm>
              <a:off x="4591" y="878"/>
              <a:ext cx="100" cy="230"/>
            </a:xfrm>
            <a:custGeom>
              <a:avLst/>
              <a:gdLst>
                <a:gd name="T0" fmla="*/ 0 w 702"/>
                <a:gd name="T1" fmla="*/ 0 h 1893"/>
                <a:gd name="T2" fmla="*/ 0 w 702"/>
                <a:gd name="T3" fmla="*/ 0 h 1893"/>
                <a:gd name="T4" fmla="*/ 0 w 702"/>
                <a:gd name="T5" fmla="*/ 0 h 1893"/>
                <a:gd name="T6" fmla="*/ 0 w 702"/>
                <a:gd name="T7" fmla="*/ 0 h 1893"/>
                <a:gd name="T8" fmla="*/ 0 w 702"/>
                <a:gd name="T9" fmla="*/ 0 h 1893"/>
                <a:gd name="T10" fmla="*/ 0 60000 65536"/>
                <a:gd name="T11" fmla="*/ 0 60000 65536"/>
                <a:gd name="T12" fmla="*/ 0 60000 65536"/>
                <a:gd name="T13" fmla="*/ 0 60000 65536"/>
                <a:gd name="T14" fmla="*/ 0 60000 65536"/>
                <a:gd name="T15" fmla="*/ 0 w 702"/>
                <a:gd name="T16" fmla="*/ 0 h 1893"/>
                <a:gd name="T17" fmla="*/ 702 w 702"/>
                <a:gd name="T18" fmla="*/ 1893 h 1893"/>
              </a:gdLst>
              <a:ahLst/>
              <a:cxnLst>
                <a:cxn ang="T10">
                  <a:pos x="T0" y="T1"/>
                </a:cxn>
                <a:cxn ang="T11">
                  <a:pos x="T2" y="T3"/>
                </a:cxn>
                <a:cxn ang="T12">
                  <a:pos x="T4" y="T5"/>
                </a:cxn>
                <a:cxn ang="T13">
                  <a:pos x="T6" y="T7"/>
                </a:cxn>
                <a:cxn ang="T14">
                  <a:pos x="T8" y="T9"/>
                </a:cxn>
              </a:cxnLst>
              <a:rect l="T15" t="T16" r="T17" b="T18"/>
              <a:pathLst>
                <a:path w="702" h="1893">
                  <a:moveTo>
                    <a:pt x="579" y="0"/>
                  </a:moveTo>
                  <a:lnTo>
                    <a:pt x="0" y="1869"/>
                  </a:lnTo>
                  <a:lnTo>
                    <a:pt x="114" y="1893"/>
                  </a:lnTo>
                  <a:lnTo>
                    <a:pt x="702" y="51"/>
                  </a:lnTo>
                  <a:lnTo>
                    <a:pt x="579"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7" name="Freeform 42">
              <a:extLst>
                <a:ext uri="{FF2B5EF4-FFF2-40B4-BE49-F238E27FC236}">
                  <a16:creationId xmlns:a16="http://schemas.microsoft.com/office/drawing/2014/main" id="{5B6AE9AB-F52E-4C23-9425-DFA1C972B8C6}"/>
                </a:ext>
              </a:extLst>
            </p:cNvPr>
            <p:cNvSpPr>
              <a:spLocks/>
            </p:cNvSpPr>
            <p:nvPr/>
          </p:nvSpPr>
          <p:spPr bwMode="auto">
            <a:xfrm>
              <a:off x="4921" y="920"/>
              <a:ext cx="108" cy="265"/>
            </a:xfrm>
            <a:custGeom>
              <a:avLst/>
              <a:gdLst>
                <a:gd name="T0" fmla="*/ 0 w 756"/>
                <a:gd name="T1" fmla="*/ 0 h 2184"/>
                <a:gd name="T2" fmla="*/ 0 w 756"/>
                <a:gd name="T3" fmla="*/ 0 h 2184"/>
                <a:gd name="T4" fmla="*/ 0 w 756"/>
                <a:gd name="T5" fmla="*/ 0 h 2184"/>
                <a:gd name="T6" fmla="*/ 0 w 756"/>
                <a:gd name="T7" fmla="*/ 0 h 2184"/>
                <a:gd name="T8" fmla="*/ 0 w 756"/>
                <a:gd name="T9" fmla="*/ 0 h 2184"/>
                <a:gd name="T10" fmla="*/ 0 60000 65536"/>
                <a:gd name="T11" fmla="*/ 0 60000 65536"/>
                <a:gd name="T12" fmla="*/ 0 60000 65536"/>
                <a:gd name="T13" fmla="*/ 0 60000 65536"/>
                <a:gd name="T14" fmla="*/ 0 60000 65536"/>
                <a:gd name="T15" fmla="*/ 0 w 756"/>
                <a:gd name="T16" fmla="*/ 0 h 2184"/>
                <a:gd name="T17" fmla="*/ 756 w 756"/>
                <a:gd name="T18" fmla="*/ 2184 h 2184"/>
              </a:gdLst>
              <a:ahLst/>
              <a:cxnLst>
                <a:cxn ang="T10">
                  <a:pos x="T0" y="T1"/>
                </a:cxn>
                <a:cxn ang="T11">
                  <a:pos x="T2" y="T3"/>
                </a:cxn>
                <a:cxn ang="T12">
                  <a:pos x="T4" y="T5"/>
                </a:cxn>
                <a:cxn ang="T13">
                  <a:pos x="T6" y="T7"/>
                </a:cxn>
                <a:cxn ang="T14">
                  <a:pos x="T8" y="T9"/>
                </a:cxn>
              </a:cxnLst>
              <a:rect l="T15" t="T16" r="T17" b="T18"/>
              <a:pathLst>
                <a:path w="756" h="2184">
                  <a:moveTo>
                    <a:pt x="756" y="0"/>
                  </a:moveTo>
                  <a:lnTo>
                    <a:pt x="138" y="2184"/>
                  </a:lnTo>
                  <a:lnTo>
                    <a:pt x="0" y="2148"/>
                  </a:lnTo>
                  <a:lnTo>
                    <a:pt x="606" y="78"/>
                  </a:lnTo>
                  <a:lnTo>
                    <a:pt x="756" y="0"/>
                  </a:lnTo>
                  <a:close/>
                </a:path>
              </a:pathLst>
            </a:custGeom>
            <a:gradFill rotWithShape="1">
              <a:gsLst>
                <a:gs pos="0">
                  <a:srgbClr val="DDDDDD"/>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8" name="Freeform 43">
              <a:extLst>
                <a:ext uri="{FF2B5EF4-FFF2-40B4-BE49-F238E27FC236}">
                  <a16:creationId xmlns:a16="http://schemas.microsoft.com/office/drawing/2014/main" id="{09DB3148-C6E2-4C93-804C-38A94F57C89F}"/>
                </a:ext>
              </a:extLst>
            </p:cNvPr>
            <p:cNvSpPr>
              <a:spLocks/>
            </p:cNvSpPr>
            <p:nvPr/>
          </p:nvSpPr>
          <p:spPr bwMode="auto">
            <a:xfrm>
              <a:off x="4590" y="1097"/>
              <a:ext cx="394" cy="89"/>
            </a:xfrm>
            <a:custGeom>
              <a:avLst/>
              <a:gdLst>
                <a:gd name="T0" fmla="*/ 0 w 2773"/>
                <a:gd name="T1" fmla="*/ 0 h 738"/>
                <a:gd name="T2" fmla="*/ 0 w 2773"/>
                <a:gd name="T3" fmla="*/ 0 h 738"/>
                <a:gd name="T4" fmla="*/ 0 w 2773"/>
                <a:gd name="T5" fmla="*/ 0 h 738"/>
                <a:gd name="T6" fmla="*/ 0 w 2773"/>
                <a:gd name="T7" fmla="*/ 0 h 738"/>
                <a:gd name="T8" fmla="*/ 0 w 2773"/>
                <a:gd name="T9" fmla="*/ 0 h 738"/>
                <a:gd name="T10" fmla="*/ 0 60000 65536"/>
                <a:gd name="T11" fmla="*/ 0 60000 65536"/>
                <a:gd name="T12" fmla="*/ 0 60000 65536"/>
                <a:gd name="T13" fmla="*/ 0 60000 65536"/>
                <a:gd name="T14" fmla="*/ 0 60000 65536"/>
                <a:gd name="T15" fmla="*/ 0 w 2773"/>
                <a:gd name="T16" fmla="*/ 0 h 738"/>
                <a:gd name="T17" fmla="*/ 2773 w 2773"/>
                <a:gd name="T18" fmla="*/ 738 h 738"/>
              </a:gdLst>
              <a:ahLst/>
              <a:cxnLst>
                <a:cxn ang="T10">
                  <a:pos x="T0" y="T1"/>
                </a:cxn>
                <a:cxn ang="T11">
                  <a:pos x="T2" y="T3"/>
                </a:cxn>
                <a:cxn ang="T12">
                  <a:pos x="T4" y="T5"/>
                </a:cxn>
                <a:cxn ang="T13">
                  <a:pos x="T6" y="T7"/>
                </a:cxn>
                <a:cxn ang="T14">
                  <a:pos x="T8" y="T9"/>
                </a:cxn>
              </a:cxnLst>
              <a:rect l="T15" t="T16" r="T17" b="T18"/>
              <a:pathLst>
                <a:path w="2773" h="738">
                  <a:moveTo>
                    <a:pt x="33" y="0"/>
                  </a:moveTo>
                  <a:lnTo>
                    <a:pt x="0" y="99"/>
                  </a:lnTo>
                  <a:lnTo>
                    <a:pt x="2436" y="738"/>
                  </a:lnTo>
                  <a:cubicBezTo>
                    <a:pt x="2499" y="501"/>
                    <a:pt x="2773" y="727"/>
                    <a:pt x="2373" y="603"/>
                  </a:cubicBezTo>
                  <a:lnTo>
                    <a:pt x="33" y="0"/>
                  </a:lnTo>
                  <a:close/>
                </a:path>
              </a:pathLst>
            </a:custGeom>
            <a:gradFill rotWithShape="1">
              <a:gsLst>
                <a:gs pos="0">
                  <a:srgbClr val="0000CC"/>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9" name="Freeform 44">
              <a:extLst>
                <a:ext uri="{FF2B5EF4-FFF2-40B4-BE49-F238E27FC236}">
                  <a16:creationId xmlns:a16="http://schemas.microsoft.com/office/drawing/2014/main" id="{B2ED08B0-B0CE-4186-8850-1B7FBDBA29A9}"/>
                </a:ext>
              </a:extLst>
            </p:cNvPr>
            <p:cNvSpPr>
              <a:spLocks/>
            </p:cNvSpPr>
            <p:nvPr/>
          </p:nvSpPr>
          <p:spPr bwMode="auto">
            <a:xfrm>
              <a:off x="4933" y="922"/>
              <a:ext cx="101" cy="266"/>
            </a:xfrm>
            <a:custGeom>
              <a:avLst/>
              <a:gdLst>
                <a:gd name="T0" fmla="*/ 0 w 637"/>
                <a:gd name="T1" fmla="*/ 0 h 1659"/>
                <a:gd name="T2" fmla="*/ 0 w 637"/>
                <a:gd name="T3" fmla="*/ 0 h 1659"/>
                <a:gd name="T4" fmla="*/ 0 w 637"/>
                <a:gd name="T5" fmla="*/ 0 h 1659"/>
                <a:gd name="T6" fmla="*/ 0 w 637"/>
                <a:gd name="T7" fmla="*/ 0 h 1659"/>
                <a:gd name="T8" fmla="*/ 0 w 637"/>
                <a:gd name="T9" fmla="*/ 0 h 1659"/>
                <a:gd name="T10" fmla="*/ 0 60000 65536"/>
                <a:gd name="T11" fmla="*/ 0 60000 65536"/>
                <a:gd name="T12" fmla="*/ 0 60000 65536"/>
                <a:gd name="T13" fmla="*/ 0 60000 65536"/>
                <a:gd name="T14" fmla="*/ 0 60000 65536"/>
                <a:gd name="T15" fmla="*/ 0 w 637"/>
                <a:gd name="T16" fmla="*/ 0 h 1659"/>
                <a:gd name="T17" fmla="*/ 637 w 637"/>
                <a:gd name="T18" fmla="*/ 1659 h 1659"/>
              </a:gdLst>
              <a:ahLst/>
              <a:cxnLst>
                <a:cxn ang="T10">
                  <a:pos x="T0" y="T1"/>
                </a:cxn>
                <a:cxn ang="T11">
                  <a:pos x="T2" y="T3"/>
                </a:cxn>
                <a:cxn ang="T12">
                  <a:pos x="T4" y="T5"/>
                </a:cxn>
                <a:cxn ang="T13">
                  <a:pos x="T6" y="T7"/>
                </a:cxn>
                <a:cxn ang="T14">
                  <a:pos x="T8" y="T9"/>
                </a:cxn>
              </a:cxnLst>
              <a:rect l="T15" t="T16" r="T17" b="T18"/>
              <a:pathLst>
                <a:path w="637" h="1659">
                  <a:moveTo>
                    <a:pt x="615" y="0"/>
                  </a:moveTo>
                  <a:lnTo>
                    <a:pt x="637" y="0"/>
                  </a:lnTo>
                  <a:lnTo>
                    <a:pt x="68" y="1659"/>
                  </a:lnTo>
                  <a:lnTo>
                    <a:pt x="0" y="1647"/>
                  </a:lnTo>
                  <a:lnTo>
                    <a:pt x="615" y="0"/>
                  </a:lnTo>
                  <a:close/>
                </a:path>
              </a:pathLst>
            </a:custGeom>
            <a:solidFill>
              <a:srgbClr val="4D4D4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0" name="Freeform 45">
              <a:extLst>
                <a:ext uri="{FF2B5EF4-FFF2-40B4-BE49-F238E27FC236}">
                  <a16:creationId xmlns:a16="http://schemas.microsoft.com/office/drawing/2014/main" id="{DFE66E2A-DB6E-43C6-9FCC-3E5321352D21}"/>
                </a:ext>
              </a:extLst>
            </p:cNvPr>
            <p:cNvSpPr>
              <a:spLocks/>
            </p:cNvSpPr>
            <p:nvPr/>
          </p:nvSpPr>
          <p:spPr bwMode="auto">
            <a:xfrm>
              <a:off x="4590" y="1109"/>
              <a:ext cx="351" cy="88"/>
            </a:xfrm>
            <a:custGeom>
              <a:avLst/>
              <a:gdLst>
                <a:gd name="T0" fmla="*/ 0 w 2216"/>
                <a:gd name="T1" fmla="*/ 0 h 550"/>
                <a:gd name="T2" fmla="*/ 0 w 2216"/>
                <a:gd name="T3" fmla="*/ 0 h 550"/>
                <a:gd name="T4" fmla="*/ 0 w 2216"/>
                <a:gd name="T5" fmla="*/ 0 h 550"/>
                <a:gd name="T6" fmla="*/ 0 w 2216"/>
                <a:gd name="T7" fmla="*/ 0 h 550"/>
                <a:gd name="T8" fmla="*/ 0 w 2216"/>
                <a:gd name="T9" fmla="*/ 0 h 550"/>
                <a:gd name="T10" fmla="*/ 0 60000 65536"/>
                <a:gd name="T11" fmla="*/ 0 60000 65536"/>
                <a:gd name="T12" fmla="*/ 0 60000 65536"/>
                <a:gd name="T13" fmla="*/ 0 60000 65536"/>
                <a:gd name="T14" fmla="*/ 0 60000 65536"/>
                <a:gd name="T15" fmla="*/ 0 w 2216"/>
                <a:gd name="T16" fmla="*/ 0 h 550"/>
                <a:gd name="T17" fmla="*/ 2216 w 2216"/>
                <a:gd name="T18" fmla="*/ 550 h 550"/>
              </a:gdLst>
              <a:ahLst/>
              <a:cxnLst>
                <a:cxn ang="T10">
                  <a:pos x="T0" y="T1"/>
                </a:cxn>
                <a:cxn ang="T11">
                  <a:pos x="T2" y="T3"/>
                </a:cxn>
                <a:cxn ang="T12">
                  <a:pos x="T4" y="T5"/>
                </a:cxn>
                <a:cxn ang="T13">
                  <a:pos x="T6" y="T7"/>
                </a:cxn>
                <a:cxn ang="T14">
                  <a:pos x="T8" y="T9"/>
                </a:cxn>
              </a:cxnLst>
              <a:rect l="T15" t="T16" r="T17" b="T18"/>
              <a:pathLst>
                <a:path w="2216" h="550">
                  <a:moveTo>
                    <a:pt x="0" y="0"/>
                  </a:moveTo>
                  <a:lnTo>
                    <a:pt x="9" y="57"/>
                  </a:lnTo>
                  <a:lnTo>
                    <a:pt x="2164" y="550"/>
                  </a:lnTo>
                  <a:lnTo>
                    <a:pt x="2216" y="496"/>
                  </a:lnTo>
                  <a:lnTo>
                    <a:pt x="0" y="0"/>
                  </a:lnTo>
                  <a:close/>
                </a:path>
              </a:pathLst>
            </a:custGeom>
            <a:gradFill rotWithShape="1">
              <a:gsLst>
                <a:gs pos="0">
                  <a:srgbClr val="00009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81" name="Group 46">
              <a:extLst>
                <a:ext uri="{FF2B5EF4-FFF2-40B4-BE49-F238E27FC236}">
                  <a16:creationId xmlns:a16="http://schemas.microsoft.com/office/drawing/2014/main" id="{EC24FB23-C392-414D-929B-BAECE4804884}"/>
                </a:ext>
              </a:extLst>
            </p:cNvPr>
            <p:cNvGrpSpPr>
              <a:grpSpLocks/>
            </p:cNvGrpSpPr>
            <p:nvPr/>
          </p:nvGrpSpPr>
          <p:grpSpPr bwMode="auto">
            <a:xfrm>
              <a:off x="4584" y="1203"/>
              <a:ext cx="119" cy="53"/>
              <a:chOff x="1740" y="2642"/>
              <a:chExt cx="752" cy="327"/>
            </a:xfrm>
          </p:grpSpPr>
          <p:sp>
            <p:nvSpPr>
              <p:cNvPr id="188" name="Freeform 47">
                <a:extLst>
                  <a:ext uri="{FF2B5EF4-FFF2-40B4-BE49-F238E27FC236}">
                    <a16:creationId xmlns:a16="http://schemas.microsoft.com/office/drawing/2014/main" id="{35DF325D-03A1-4C57-AC04-DC897FD2022A}"/>
                  </a:ext>
                </a:extLst>
              </p:cNvPr>
              <p:cNvSpPr>
                <a:spLocks/>
              </p:cNvSpPr>
              <p:nvPr/>
            </p:nvSpPr>
            <p:spPr bwMode="auto">
              <a:xfrm>
                <a:off x="1740" y="2642"/>
                <a:ext cx="752" cy="327"/>
              </a:xfrm>
              <a:custGeom>
                <a:avLst/>
                <a:gdLst>
                  <a:gd name="T0" fmla="*/ 293 w 752"/>
                  <a:gd name="T1" fmla="*/ 0 h 327"/>
                  <a:gd name="T2" fmla="*/ 752 w 752"/>
                  <a:gd name="T3" fmla="*/ 124 h 327"/>
                  <a:gd name="T4" fmla="*/ 470 w 752"/>
                  <a:gd name="T5" fmla="*/ 327 h 327"/>
                  <a:gd name="T6" fmla="*/ 0 w 752"/>
                  <a:gd name="T7" fmla="*/ 183 h 327"/>
                  <a:gd name="T8" fmla="*/ 293 w 752"/>
                  <a:gd name="T9" fmla="*/ 0 h 327"/>
                  <a:gd name="T10" fmla="*/ 0 60000 65536"/>
                  <a:gd name="T11" fmla="*/ 0 60000 65536"/>
                  <a:gd name="T12" fmla="*/ 0 60000 65536"/>
                  <a:gd name="T13" fmla="*/ 0 60000 65536"/>
                  <a:gd name="T14" fmla="*/ 0 60000 65536"/>
                  <a:gd name="T15" fmla="*/ 0 w 752"/>
                  <a:gd name="T16" fmla="*/ 0 h 327"/>
                  <a:gd name="T17" fmla="*/ 752 w 752"/>
                  <a:gd name="T18" fmla="*/ 327 h 327"/>
                </a:gdLst>
                <a:ahLst/>
                <a:cxnLst>
                  <a:cxn ang="T10">
                    <a:pos x="T0" y="T1"/>
                  </a:cxn>
                  <a:cxn ang="T11">
                    <a:pos x="T2" y="T3"/>
                  </a:cxn>
                  <a:cxn ang="T12">
                    <a:pos x="T4" y="T5"/>
                  </a:cxn>
                  <a:cxn ang="T13">
                    <a:pos x="T6" y="T7"/>
                  </a:cxn>
                  <a:cxn ang="T14">
                    <a:pos x="T8" y="T9"/>
                  </a:cxn>
                </a:cxnLst>
                <a:rect l="T15" t="T16" r="T17" b="T18"/>
                <a:pathLst>
                  <a:path w="752" h="327">
                    <a:moveTo>
                      <a:pt x="293" y="0"/>
                    </a:moveTo>
                    <a:lnTo>
                      <a:pt x="752" y="124"/>
                    </a:lnTo>
                    <a:lnTo>
                      <a:pt x="470" y="327"/>
                    </a:lnTo>
                    <a:lnTo>
                      <a:pt x="0" y="183"/>
                    </a:lnTo>
                    <a:lnTo>
                      <a:pt x="293"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9" name="Freeform 48">
                <a:extLst>
                  <a:ext uri="{FF2B5EF4-FFF2-40B4-BE49-F238E27FC236}">
                    <a16:creationId xmlns:a16="http://schemas.microsoft.com/office/drawing/2014/main" id="{E40DF27B-801C-4512-B722-6E02F8A7344E}"/>
                  </a:ext>
                </a:extLst>
              </p:cNvPr>
              <p:cNvSpPr>
                <a:spLocks/>
              </p:cNvSpPr>
              <p:nvPr/>
            </p:nvSpPr>
            <p:spPr bwMode="auto">
              <a:xfrm>
                <a:off x="1754" y="2649"/>
                <a:ext cx="726" cy="311"/>
              </a:xfrm>
              <a:custGeom>
                <a:avLst/>
                <a:gdLst>
                  <a:gd name="T0" fmla="*/ 282 w 726"/>
                  <a:gd name="T1" fmla="*/ 0 h 311"/>
                  <a:gd name="T2" fmla="*/ 726 w 726"/>
                  <a:gd name="T3" fmla="*/ 119 h 311"/>
                  <a:gd name="T4" fmla="*/ 457 w 726"/>
                  <a:gd name="T5" fmla="*/ 311 h 311"/>
                  <a:gd name="T6" fmla="*/ 0 w 726"/>
                  <a:gd name="T7" fmla="*/ 173 h 311"/>
                  <a:gd name="T8" fmla="*/ 282 w 726"/>
                  <a:gd name="T9" fmla="*/ 0 h 311"/>
                  <a:gd name="T10" fmla="*/ 0 60000 65536"/>
                  <a:gd name="T11" fmla="*/ 0 60000 65536"/>
                  <a:gd name="T12" fmla="*/ 0 60000 65536"/>
                  <a:gd name="T13" fmla="*/ 0 60000 65536"/>
                  <a:gd name="T14" fmla="*/ 0 60000 65536"/>
                  <a:gd name="T15" fmla="*/ 0 w 726"/>
                  <a:gd name="T16" fmla="*/ 0 h 311"/>
                  <a:gd name="T17" fmla="*/ 726 w 726"/>
                  <a:gd name="T18" fmla="*/ 311 h 311"/>
                </a:gdLst>
                <a:ahLst/>
                <a:cxnLst>
                  <a:cxn ang="T10">
                    <a:pos x="T0" y="T1"/>
                  </a:cxn>
                  <a:cxn ang="T11">
                    <a:pos x="T2" y="T3"/>
                  </a:cxn>
                  <a:cxn ang="T12">
                    <a:pos x="T4" y="T5"/>
                  </a:cxn>
                  <a:cxn ang="T13">
                    <a:pos x="T6" y="T7"/>
                  </a:cxn>
                  <a:cxn ang="T14">
                    <a:pos x="T8" y="T9"/>
                  </a:cxn>
                </a:cxnLst>
                <a:rect l="T15" t="T16" r="T17" b="T18"/>
                <a:pathLst>
                  <a:path w="726" h="311">
                    <a:moveTo>
                      <a:pt x="282" y="0"/>
                    </a:moveTo>
                    <a:lnTo>
                      <a:pt x="726" y="119"/>
                    </a:lnTo>
                    <a:lnTo>
                      <a:pt x="457" y="311"/>
                    </a:lnTo>
                    <a:lnTo>
                      <a:pt x="0" y="173"/>
                    </a:lnTo>
                    <a:lnTo>
                      <a:pt x="282" y="0"/>
                    </a:lnTo>
                    <a:close/>
                  </a:path>
                </a:pathLst>
              </a:custGeom>
              <a:gradFill rotWithShape="1">
                <a:gsLst>
                  <a:gs pos="0">
                    <a:srgbClr val="4D4D4D"/>
                  </a:gs>
                  <a:gs pos="100000">
                    <a:srgbClr val="DDDDDD"/>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0" name="Freeform 49">
                <a:extLst>
                  <a:ext uri="{FF2B5EF4-FFF2-40B4-BE49-F238E27FC236}">
                    <a16:creationId xmlns:a16="http://schemas.microsoft.com/office/drawing/2014/main" id="{1C006E17-C338-4363-9D9D-C10559995D91}"/>
                  </a:ext>
                </a:extLst>
              </p:cNvPr>
              <p:cNvSpPr>
                <a:spLocks/>
              </p:cNvSpPr>
              <p:nvPr/>
            </p:nvSpPr>
            <p:spPr bwMode="auto">
              <a:xfrm>
                <a:off x="1808" y="2770"/>
                <a:ext cx="258" cy="100"/>
              </a:xfrm>
              <a:custGeom>
                <a:avLst/>
                <a:gdLst>
                  <a:gd name="T0" fmla="*/ 0 w 258"/>
                  <a:gd name="T1" fmla="*/ 44 h 100"/>
                  <a:gd name="T2" fmla="*/ 75 w 258"/>
                  <a:gd name="T3" fmla="*/ 0 h 100"/>
                  <a:gd name="T4" fmla="*/ 258 w 258"/>
                  <a:gd name="T5" fmla="*/ 50 h 100"/>
                  <a:gd name="T6" fmla="*/ 183 w 258"/>
                  <a:gd name="T7" fmla="*/ 100 h 100"/>
                  <a:gd name="T8" fmla="*/ 0 w 258"/>
                  <a:gd name="T9" fmla="*/ 44 h 100"/>
                  <a:gd name="T10" fmla="*/ 0 60000 65536"/>
                  <a:gd name="T11" fmla="*/ 0 60000 65536"/>
                  <a:gd name="T12" fmla="*/ 0 60000 65536"/>
                  <a:gd name="T13" fmla="*/ 0 60000 65536"/>
                  <a:gd name="T14" fmla="*/ 0 60000 65536"/>
                  <a:gd name="T15" fmla="*/ 0 w 258"/>
                  <a:gd name="T16" fmla="*/ 0 h 100"/>
                  <a:gd name="T17" fmla="*/ 258 w 258"/>
                  <a:gd name="T18" fmla="*/ 100 h 100"/>
                </a:gdLst>
                <a:ahLst/>
                <a:cxnLst>
                  <a:cxn ang="T10">
                    <a:pos x="T0" y="T1"/>
                  </a:cxn>
                  <a:cxn ang="T11">
                    <a:pos x="T2" y="T3"/>
                  </a:cxn>
                  <a:cxn ang="T12">
                    <a:pos x="T4" y="T5"/>
                  </a:cxn>
                  <a:cxn ang="T13">
                    <a:pos x="T6" y="T7"/>
                  </a:cxn>
                  <a:cxn ang="T14">
                    <a:pos x="T8" y="T9"/>
                  </a:cxn>
                </a:cxnLst>
                <a:rect l="T15" t="T16" r="T17" b="T18"/>
                <a:pathLst>
                  <a:path w="258" h="100">
                    <a:moveTo>
                      <a:pt x="0" y="44"/>
                    </a:moveTo>
                    <a:lnTo>
                      <a:pt x="75" y="0"/>
                    </a:lnTo>
                    <a:lnTo>
                      <a:pt x="258" y="50"/>
                    </a:lnTo>
                    <a:lnTo>
                      <a:pt x="183" y="100"/>
                    </a:lnTo>
                    <a:lnTo>
                      <a:pt x="0" y="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1" name="Freeform 50">
                <a:extLst>
                  <a:ext uri="{FF2B5EF4-FFF2-40B4-BE49-F238E27FC236}">
                    <a16:creationId xmlns:a16="http://schemas.microsoft.com/office/drawing/2014/main" id="{D5A52164-53A3-44C9-ACE9-99E1F6E8C5B5}"/>
                  </a:ext>
                </a:extLst>
              </p:cNvPr>
              <p:cNvSpPr>
                <a:spLocks/>
              </p:cNvSpPr>
              <p:nvPr/>
            </p:nvSpPr>
            <p:spPr bwMode="auto">
              <a:xfrm>
                <a:off x="1799" y="2816"/>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2" name="Freeform 51">
                <a:extLst>
                  <a:ext uri="{FF2B5EF4-FFF2-40B4-BE49-F238E27FC236}">
                    <a16:creationId xmlns:a16="http://schemas.microsoft.com/office/drawing/2014/main" id="{81A8B0D2-6781-42AF-BDCB-B86BEEBE71B2}"/>
                  </a:ext>
                </a:extLst>
              </p:cNvPr>
              <p:cNvSpPr>
                <a:spLocks/>
              </p:cNvSpPr>
              <p:nvPr/>
            </p:nvSpPr>
            <p:spPr bwMode="auto">
              <a:xfrm>
                <a:off x="2020" y="2834"/>
                <a:ext cx="258" cy="102"/>
              </a:xfrm>
              <a:custGeom>
                <a:avLst/>
                <a:gdLst>
                  <a:gd name="T0" fmla="*/ 0 w 258"/>
                  <a:gd name="T1" fmla="*/ 46 h 102"/>
                  <a:gd name="T2" fmla="*/ 71 w 258"/>
                  <a:gd name="T3" fmla="*/ 0 h 102"/>
                  <a:gd name="T4" fmla="*/ 258 w 258"/>
                  <a:gd name="T5" fmla="*/ 52 h 102"/>
                  <a:gd name="T6" fmla="*/ 183 w 258"/>
                  <a:gd name="T7" fmla="*/ 102 h 102"/>
                  <a:gd name="T8" fmla="*/ 0 w 258"/>
                  <a:gd name="T9" fmla="*/ 46 h 102"/>
                  <a:gd name="T10" fmla="*/ 0 60000 65536"/>
                  <a:gd name="T11" fmla="*/ 0 60000 65536"/>
                  <a:gd name="T12" fmla="*/ 0 60000 65536"/>
                  <a:gd name="T13" fmla="*/ 0 60000 65536"/>
                  <a:gd name="T14" fmla="*/ 0 60000 65536"/>
                  <a:gd name="T15" fmla="*/ 0 w 258"/>
                  <a:gd name="T16" fmla="*/ 0 h 102"/>
                  <a:gd name="T17" fmla="*/ 258 w 258"/>
                  <a:gd name="T18" fmla="*/ 102 h 102"/>
                </a:gdLst>
                <a:ahLst/>
                <a:cxnLst>
                  <a:cxn ang="T10">
                    <a:pos x="T0" y="T1"/>
                  </a:cxn>
                  <a:cxn ang="T11">
                    <a:pos x="T2" y="T3"/>
                  </a:cxn>
                  <a:cxn ang="T12">
                    <a:pos x="T4" y="T5"/>
                  </a:cxn>
                  <a:cxn ang="T13">
                    <a:pos x="T6" y="T7"/>
                  </a:cxn>
                  <a:cxn ang="T14">
                    <a:pos x="T8" y="T9"/>
                  </a:cxn>
                </a:cxnLst>
                <a:rect l="T15" t="T16" r="T17" b="T18"/>
                <a:pathLst>
                  <a:path w="258" h="102">
                    <a:moveTo>
                      <a:pt x="0" y="46"/>
                    </a:moveTo>
                    <a:lnTo>
                      <a:pt x="71" y="0"/>
                    </a:lnTo>
                    <a:lnTo>
                      <a:pt x="258" y="52"/>
                    </a:lnTo>
                    <a:lnTo>
                      <a:pt x="183" y="102"/>
                    </a:lnTo>
                    <a:lnTo>
                      <a:pt x="0" y="46"/>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3" name="Freeform 52">
                <a:extLst>
                  <a:ext uri="{FF2B5EF4-FFF2-40B4-BE49-F238E27FC236}">
                    <a16:creationId xmlns:a16="http://schemas.microsoft.com/office/drawing/2014/main" id="{BDFB59C7-67F9-4050-940D-6DE8BD10F1A8}"/>
                  </a:ext>
                </a:extLst>
              </p:cNvPr>
              <p:cNvSpPr>
                <a:spLocks/>
              </p:cNvSpPr>
              <p:nvPr/>
            </p:nvSpPr>
            <p:spPr bwMode="auto">
              <a:xfrm>
                <a:off x="2011" y="2882"/>
                <a:ext cx="194" cy="63"/>
              </a:xfrm>
              <a:custGeom>
                <a:avLst/>
                <a:gdLst>
                  <a:gd name="T0" fmla="*/ 12 w 194"/>
                  <a:gd name="T1" fmla="*/ 0 h 63"/>
                  <a:gd name="T2" fmla="*/ 194 w 194"/>
                  <a:gd name="T3" fmla="*/ 53 h 63"/>
                  <a:gd name="T4" fmla="*/ 180 w 194"/>
                  <a:gd name="T5" fmla="*/ 63 h 63"/>
                  <a:gd name="T6" fmla="*/ 0 w 194"/>
                  <a:gd name="T7" fmla="*/ 9 h 63"/>
                  <a:gd name="T8" fmla="*/ 12 w 194"/>
                  <a:gd name="T9" fmla="*/ 0 h 63"/>
                  <a:gd name="T10" fmla="*/ 0 60000 65536"/>
                  <a:gd name="T11" fmla="*/ 0 60000 65536"/>
                  <a:gd name="T12" fmla="*/ 0 60000 65536"/>
                  <a:gd name="T13" fmla="*/ 0 60000 65536"/>
                  <a:gd name="T14" fmla="*/ 0 60000 65536"/>
                  <a:gd name="T15" fmla="*/ 0 w 194"/>
                  <a:gd name="T16" fmla="*/ 0 h 63"/>
                  <a:gd name="T17" fmla="*/ 194 w 194"/>
                  <a:gd name="T18" fmla="*/ 63 h 63"/>
                </a:gdLst>
                <a:ahLst/>
                <a:cxnLst>
                  <a:cxn ang="T10">
                    <a:pos x="T0" y="T1"/>
                  </a:cxn>
                  <a:cxn ang="T11">
                    <a:pos x="T2" y="T3"/>
                  </a:cxn>
                  <a:cxn ang="T12">
                    <a:pos x="T4" y="T5"/>
                  </a:cxn>
                  <a:cxn ang="T13">
                    <a:pos x="T6" y="T7"/>
                  </a:cxn>
                  <a:cxn ang="T14">
                    <a:pos x="T8" y="T9"/>
                  </a:cxn>
                </a:cxnLst>
                <a:rect l="T15" t="T16" r="T17" b="T18"/>
                <a:pathLst>
                  <a:path w="194" h="63">
                    <a:moveTo>
                      <a:pt x="12" y="0"/>
                    </a:moveTo>
                    <a:lnTo>
                      <a:pt x="194" y="53"/>
                    </a:lnTo>
                    <a:lnTo>
                      <a:pt x="180" y="63"/>
                    </a:lnTo>
                    <a:lnTo>
                      <a:pt x="0" y="9"/>
                    </a:lnTo>
                    <a:lnTo>
                      <a:pt x="12"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82" name="Freeform 53">
              <a:extLst>
                <a:ext uri="{FF2B5EF4-FFF2-40B4-BE49-F238E27FC236}">
                  <a16:creationId xmlns:a16="http://schemas.microsoft.com/office/drawing/2014/main" id="{D513917E-FD44-42E8-BEA2-B30A196C0B0E}"/>
                </a:ext>
              </a:extLst>
            </p:cNvPr>
            <p:cNvSpPr>
              <a:spLocks/>
            </p:cNvSpPr>
            <p:nvPr/>
          </p:nvSpPr>
          <p:spPr bwMode="auto">
            <a:xfrm>
              <a:off x="4788" y="1211"/>
              <a:ext cx="144" cy="116"/>
            </a:xfrm>
            <a:custGeom>
              <a:avLst/>
              <a:gdLst>
                <a:gd name="T0" fmla="*/ 0 w 990"/>
                <a:gd name="T1" fmla="*/ 0 h 792"/>
                <a:gd name="T2" fmla="*/ 0 w 990"/>
                <a:gd name="T3" fmla="*/ 0 h 792"/>
                <a:gd name="T4" fmla="*/ 0 w 990"/>
                <a:gd name="T5" fmla="*/ 0 h 792"/>
                <a:gd name="T6" fmla="*/ 0 w 990"/>
                <a:gd name="T7" fmla="*/ 0 h 792"/>
                <a:gd name="T8" fmla="*/ 0 w 990"/>
                <a:gd name="T9" fmla="*/ 0 h 792"/>
                <a:gd name="T10" fmla="*/ 0 60000 65536"/>
                <a:gd name="T11" fmla="*/ 0 60000 65536"/>
                <a:gd name="T12" fmla="*/ 0 60000 65536"/>
                <a:gd name="T13" fmla="*/ 0 60000 65536"/>
                <a:gd name="T14" fmla="*/ 0 60000 65536"/>
                <a:gd name="T15" fmla="*/ 0 w 990"/>
                <a:gd name="T16" fmla="*/ 0 h 792"/>
                <a:gd name="T17" fmla="*/ 990 w 990"/>
                <a:gd name="T18" fmla="*/ 792 h 792"/>
              </a:gdLst>
              <a:ahLst/>
              <a:cxnLst>
                <a:cxn ang="T10">
                  <a:pos x="T0" y="T1"/>
                </a:cxn>
                <a:cxn ang="T11">
                  <a:pos x="T2" y="T3"/>
                </a:cxn>
                <a:cxn ang="T12">
                  <a:pos x="T4" y="T5"/>
                </a:cxn>
                <a:cxn ang="T13">
                  <a:pos x="T6" y="T7"/>
                </a:cxn>
                <a:cxn ang="T14">
                  <a:pos x="T8" y="T9"/>
                </a:cxn>
              </a:cxnLst>
              <a:rect l="T15" t="T16" r="T17" b="T18"/>
              <a:pathLst>
                <a:path w="990" h="792">
                  <a:moveTo>
                    <a:pt x="3" y="738"/>
                  </a:moveTo>
                  <a:lnTo>
                    <a:pt x="990" y="0"/>
                  </a:lnTo>
                  <a:lnTo>
                    <a:pt x="987" y="60"/>
                  </a:lnTo>
                  <a:lnTo>
                    <a:pt x="0" y="792"/>
                  </a:lnTo>
                  <a:lnTo>
                    <a:pt x="3" y="738"/>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3" name="Freeform 54">
              <a:extLst>
                <a:ext uri="{FF2B5EF4-FFF2-40B4-BE49-F238E27FC236}">
                  <a16:creationId xmlns:a16="http://schemas.microsoft.com/office/drawing/2014/main" id="{CC8C8D54-BE37-462F-B0EA-5AF942142C72}"/>
                </a:ext>
              </a:extLst>
            </p:cNvPr>
            <p:cNvSpPr>
              <a:spLocks/>
            </p:cNvSpPr>
            <p:nvPr/>
          </p:nvSpPr>
          <p:spPr bwMode="auto">
            <a:xfrm>
              <a:off x="4420" y="1220"/>
              <a:ext cx="369" cy="106"/>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4" name="Freeform 55">
              <a:extLst>
                <a:ext uri="{FF2B5EF4-FFF2-40B4-BE49-F238E27FC236}">
                  <a16:creationId xmlns:a16="http://schemas.microsoft.com/office/drawing/2014/main" id="{D76CF10E-971A-431B-AABE-E3628D0A9B13}"/>
                </a:ext>
              </a:extLst>
            </p:cNvPr>
            <p:cNvSpPr>
              <a:spLocks/>
            </p:cNvSpPr>
            <p:nvPr/>
          </p:nvSpPr>
          <p:spPr bwMode="auto">
            <a:xfrm>
              <a:off x="4420" y="1201"/>
              <a:ext cx="4" cy="21"/>
            </a:xfrm>
            <a:custGeom>
              <a:avLst/>
              <a:gdLst>
                <a:gd name="T0" fmla="*/ 0 w 26"/>
                <a:gd name="T1" fmla="*/ 0 h 147"/>
                <a:gd name="T2" fmla="*/ 0 w 26"/>
                <a:gd name="T3" fmla="*/ 0 h 147"/>
                <a:gd name="T4" fmla="*/ 0 w 26"/>
                <a:gd name="T5" fmla="*/ 0 h 147"/>
                <a:gd name="T6" fmla="*/ 0 w 26"/>
                <a:gd name="T7" fmla="*/ 0 h 147"/>
                <a:gd name="T8" fmla="*/ 0 w 26"/>
                <a:gd name="T9" fmla="*/ 0 h 147"/>
                <a:gd name="T10" fmla="*/ 0 60000 65536"/>
                <a:gd name="T11" fmla="*/ 0 60000 65536"/>
                <a:gd name="T12" fmla="*/ 0 60000 65536"/>
                <a:gd name="T13" fmla="*/ 0 60000 65536"/>
                <a:gd name="T14" fmla="*/ 0 60000 65536"/>
                <a:gd name="T15" fmla="*/ 0 w 26"/>
                <a:gd name="T16" fmla="*/ 0 h 147"/>
                <a:gd name="T17" fmla="*/ 26 w 26"/>
                <a:gd name="T18" fmla="*/ 147 h 147"/>
              </a:gdLst>
              <a:ahLst/>
              <a:cxnLst>
                <a:cxn ang="T10">
                  <a:pos x="T0" y="T1"/>
                </a:cxn>
                <a:cxn ang="T11">
                  <a:pos x="T2" y="T3"/>
                </a:cxn>
                <a:cxn ang="T12">
                  <a:pos x="T4" y="T5"/>
                </a:cxn>
                <a:cxn ang="T13">
                  <a:pos x="T6" y="T7"/>
                </a:cxn>
                <a:cxn ang="T14">
                  <a:pos x="T8" y="T9"/>
                </a:cxn>
              </a:cxnLst>
              <a:rect l="T15" t="T16" r="T17" b="T18"/>
              <a:pathLst>
                <a:path w="26" h="147">
                  <a:moveTo>
                    <a:pt x="26" y="10"/>
                  </a:moveTo>
                  <a:lnTo>
                    <a:pt x="23" y="147"/>
                  </a:lnTo>
                  <a:lnTo>
                    <a:pt x="0" y="144"/>
                  </a:lnTo>
                  <a:lnTo>
                    <a:pt x="3" y="0"/>
                  </a:lnTo>
                  <a:lnTo>
                    <a:pt x="26" y="1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5" name="Freeform 56">
              <a:extLst>
                <a:ext uri="{FF2B5EF4-FFF2-40B4-BE49-F238E27FC236}">
                  <a16:creationId xmlns:a16="http://schemas.microsoft.com/office/drawing/2014/main" id="{0207D886-E918-4C16-B9BA-E9ADD02090E2}"/>
                </a:ext>
              </a:extLst>
            </p:cNvPr>
            <p:cNvSpPr>
              <a:spLocks/>
            </p:cNvSpPr>
            <p:nvPr/>
          </p:nvSpPr>
          <p:spPr bwMode="auto">
            <a:xfrm>
              <a:off x="4421" y="1114"/>
              <a:ext cx="171" cy="88"/>
            </a:xfrm>
            <a:custGeom>
              <a:avLst/>
              <a:gdLst>
                <a:gd name="T0" fmla="*/ 0 w 1176"/>
                <a:gd name="T1" fmla="*/ 0 h 606"/>
                <a:gd name="T2" fmla="*/ 0 w 1176"/>
                <a:gd name="T3" fmla="*/ 0 h 606"/>
                <a:gd name="T4" fmla="*/ 0 w 1176"/>
                <a:gd name="T5" fmla="*/ 0 h 606"/>
                <a:gd name="T6" fmla="*/ 0 w 1176"/>
                <a:gd name="T7" fmla="*/ 0 h 606"/>
                <a:gd name="T8" fmla="*/ 0 w 1176"/>
                <a:gd name="T9" fmla="*/ 0 h 606"/>
                <a:gd name="T10" fmla="*/ 0 60000 65536"/>
                <a:gd name="T11" fmla="*/ 0 60000 65536"/>
                <a:gd name="T12" fmla="*/ 0 60000 65536"/>
                <a:gd name="T13" fmla="*/ 0 60000 65536"/>
                <a:gd name="T14" fmla="*/ 0 60000 65536"/>
                <a:gd name="T15" fmla="*/ 0 w 1176"/>
                <a:gd name="T16" fmla="*/ 0 h 606"/>
                <a:gd name="T17" fmla="*/ 1176 w 1176"/>
                <a:gd name="T18" fmla="*/ 606 h 606"/>
              </a:gdLst>
              <a:ahLst/>
              <a:cxnLst>
                <a:cxn ang="T10">
                  <a:pos x="T0" y="T1"/>
                </a:cxn>
                <a:cxn ang="T11">
                  <a:pos x="T2" y="T3"/>
                </a:cxn>
                <a:cxn ang="T12">
                  <a:pos x="T4" y="T5"/>
                </a:cxn>
                <a:cxn ang="T13">
                  <a:pos x="T6" y="T7"/>
                </a:cxn>
                <a:cxn ang="T14">
                  <a:pos x="T8" y="T9"/>
                </a:cxn>
              </a:cxnLst>
              <a:rect l="T15" t="T16" r="T17" b="T18"/>
              <a:pathLst>
                <a:path w="1176" h="606">
                  <a:moveTo>
                    <a:pt x="1170" y="0"/>
                  </a:moveTo>
                  <a:lnTo>
                    <a:pt x="0" y="597"/>
                  </a:lnTo>
                  <a:lnTo>
                    <a:pt x="30" y="606"/>
                  </a:lnTo>
                  <a:lnTo>
                    <a:pt x="1176" y="18"/>
                  </a:lnTo>
                  <a:lnTo>
                    <a:pt x="1170"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6" name="Freeform 57">
              <a:extLst>
                <a:ext uri="{FF2B5EF4-FFF2-40B4-BE49-F238E27FC236}">
                  <a16:creationId xmlns:a16="http://schemas.microsoft.com/office/drawing/2014/main" id="{7024F4FF-2C5E-4D28-8B30-F21D9C578079}"/>
                </a:ext>
              </a:extLst>
            </p:cNvPr>
            <p:cNvSpPr>
              <a:spLocks/>
            </p:cNvSpPr>
            <p:nvPr/>
          </p:nvSpPr>
          <p:spPr bwMode="auto">
            <a:xfrm>
              <a:off x="4432" y="1205"/>
              <a:ext cx="350" cy="102"/>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7" name="Freeform 58">
              <a:extLst>
                <a:ext uri="{FF2B5EF4-FFF2-40B4-BE49-F238E27FC236}">
                  <a16:creationId xmlns:a16="http://schemas.microsoft.com/office/drawing/2014/main" id="{4B76EB35-09E0-4B35-AC83-E35C21DC36E8}"/>
                </a:ext>
              </a:extLst>
            </p:cNvPr>
            <p:cNvSpPr>
              <a:spLocks/>
            </p:cNvSpPr>
            <p:nvPr/>
          </p:nvSpPr>
          <p:spPr bwMode="auto">
            <a:xfrm flipV="1">
              <a:off x="4782" y="1198"/>
              <a:ext cx="142" cy="105"/>
            </a:xfrm>
            <a:custGeom>
              <a:avLst/>
              <a:gdLst>
                <a:gd name="T0" fmla="*/ 0 w 2532"/>
                <a:gd name="T1" fmla="*/ 0 h 723"/>
                <a:gd name="T2" fmla="*/ 0 w 2532"/>
                <a:gd name="T3" fmla="*/ 0 h 723"/>
                <a:gd name="T4" fmla="*/ 0 w 2532"/>
                <a:gd name="T5" fmla="*/ 0 h 723"/>
                <a:gd name="T6" fmla="*/ 0 w 2532"/>
                <a:gd name="T7" fmla="*/ 0 h 723"/>
                <a:gd name="T8" fmla="*/ 0 w 2532"/>
                <a:gd name="T9" fmla="*/ 0 h 723"/>
                <a:gd name="T10" fmla="*/ 0 w 2532"/>
                <a:gd name="T11" fmla="*/ 0 h 723"/>
                <a:gd name="T12" fmla="*/ 0 60000 65536"/>
                <a:gd name="T13" fmla="*/ 0 60000 65536"/>
                <a:gd name="T14" fmla="*/ 0 60000 65536"/>
                <a:gd name="T15" fmla="*/ 0 60000 65536"/>
                <a:gd name="T16" fmla="*/ 0 60000 65536"/>
                <a:gd name="T17" fmla="*/ 0 60000 65536"/>
                <a:gd name="T18" fmla="*/ 0 w 2532"/>
                <a:gd name="T19" fmla="*/ 0 h 723"/>
                <a:gd name="T20" fmla="*/ 2532 w 2532"/>
                <a:gd name="T21" fmla="*/ 723 h 723"/>
              </a:gdLst>
              <a:ahLst/>
              <a:cxnLst>
                <a:cxn ang="T12">
                  <a:pos x="T0" y="T1"/>
                </a:cxn>
                <a:cxn ang="T13">
                  <a:pos x="T2" y="T3"/>
                </a:cxn>
                <a:cxn ang="T14">
                  <a:pos x="T4" y="T5"/>
                </a:cxn>
                <a:cxn ang="T15">
                  <a:pos x="T6" y="T7"/>
                </a:cxn>
                <a:cxn ang="T16">
                  <a:pos x="T8" y="T9"/>
                </a:cxn>
                <a:cxn ang="T17">
                  <a:pos x="T10" y="T11"/>
                </a:cxn>
              </a:cxnLst>
              <a:rect l="T18" t="T19" r="T20" b="T21"/>
              <a:pathLst>
                <a:path w="2532" h="723">
                  <a:moveTo>
                    <a:pt x="6" y="0"/>
                  </a:moveTo>
                  <a:cubicBezTo>
                    <a:pt x="16" y="0"/>
                    <a:pt x="26" y="0"/>
                    <a:pt x="36" y="0"/>
                  </a:cubicBezTo>
                  <a:lnTo>
                    <a:pt x="2532" y="678"/>
                  </a:lnTo>
                  <a:lnTo>
                    <a:pt x="2529" y="723"/>
                  </a:lnTo>
                  <a:lnTo>
                    <a:pt x="0" y="24"/>
                  </a:lnTo>
                  <a:lnTo>
                    <a:pt x="6" y="0"/>
                  </a:lnTo>
                  <a:close/>
                </a:path>
              </a:pathLst>
            </a:custGeom>
            <a:solidFill>
              <a:srgbClr val="0000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94" name="Group 60">
            <a:extLst>
              <a:ext uri="{FF2B5EF4-FFF2-40B4-BE49-F238E27FC236}">
                <a16:creationId xmlns:a16="http://schemas.microsoft.com/office/drawing/2014/main" id="{CA0A30B2-F7FC-4EEB-8732-9F952F9F5CBD}"/>
              </a:ext>
            </a:extLst>
          </p:cNvPr>
          <p:cNvGrpSpPr>
            <a:grpSpLocks/>
          </p:cNvGrpSpPr>
          <p:nvPr/>
        </p:nvGrpSpPr>
        <p:grpSpPr bwMode="auto">
          <a:xfrm>
            <a:off x="1738677" y="1590676"/>
            <a:ext cx="446617" cy="536575"/>
            <a:chOff x="4140" y="429"/>
            <a:chExt cx="1425" cy="2396"/>
          </a:xfrm>
        </p:grpSpPr>
        <p:sp>
          <p:nvSpPr>
            <p:cNvPr id="195" name="Freeform 61">
              <a:extLst>
                <a:ext uri="{FF2B5EF4-FFF2-40B4-BE49-F238E27FC236}">
                  <a16:creationId xmlns:a16="http://schemas.microsoft.com/office/drawing/2014/main" id="{2F5D5305-4071-4CB4-9546-EE6BEC61F1F1}"/>
                </a:ext>
              </a:extLst>
            </p:cNvPr>
            <p:cNvSpPr>
              <a:spLocks/>
            </p:cNvSpPr>
            <p:nvPr/>
          </p:nvSpPr>
          <p:spPr bwMode="auto">
            <a:xfrm>
              <a:off x="5268" y="433"/>
              <a:ext cx="283" cy="2286"/>
            </a:xfrm>
            <a:custGeom>
              <a:avLst/>
              <a:gdLst>
                <a:gd name="T0" fmla="*/ 2 w 354"/>
                <a:gd name="T1" fmla="*/ 0 h 2742"/>
                <a:gd name="T2" fmla="*/ 12 w 354"/>
                <a:gd name="T3" fmla="*/ 23 h 2742"/>
                <a:gd name="T4" fmla="*/ 12 w 354"/>
                <a:gd name="T5" fmla="*/ 171 h 2742"/>
                <a:gd name="T6" fmla="*/ 0 w 354"/>
                <a:gd name="T7" fmla="*/ 179 h 2742"/>
                <a:gd name="T8" fmla="*/ 2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6" name="Rectangle 62">
              <a:extLst>
                <a:ext uri="{FF2B5EF4-FFF2-40B4-BE49-F238E27FC236}">
                  <a16:creationId xmlns:a16="http://schemas.microsoft.com/office/drawing/2014/main" id="{0EB5E935-A7BD-48BB-9DD9-0DCC7184CDE2}"/>
                </a:ext>
              </a:extLst>
            </p:cNvPr>
            <p:cNvSpPr>
              <a:spLocks noChangeArrowheads="1"/>
            </p:cNvSpPr>
            <p:nvPr/>
          </p:nvSpPr>
          <p:spPr bwMode="auto">
            <a:xfrm>
              <a:off x="4208" y="429"/>
              <a:ext cx="1047" cy="2283"/>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197" name="Freeform 63">
              <a:extLst>
                <a:ext uri="{FF2B5EF4-FFF2-40B4-BE49-F238E27FC236}">
                  <a16:creationId xmlns:a16="http://schemas.microsoft.com/office/drawing/2014/main" id="{FAD11F43-B180-476A-A775-BC01FE5FEC29}"/>
                </a:ext>
              </a:extLst>
            </p:cNvPr>
            <p:cNvSpPr>
              <a:spLocks/>
            </p:cNvSpPr>
            <p:nvPr/>
          </p:nvSpPr>
          <p:spPr bwMode="auto">
            <a:xfrm>
              <a:off x="5321" y="570"/>
              <a:ext cx="169" cy="2115"/>
            </a:xfrm>
            <a:custGeom>
              <a:avLst/>
              <a:gdLst>
                <a:gd name="T0" fmla="*/ 2 w 211"/>
                <a:gd name="T1" fmla="*/ 0 h 2537"/>
                <a:gd name="T2" fmla="*/ 7 w 211"/>
                <a:gd name="T3" fmla="*/ 15 h 2537"/>
                <a:gd name="T4" fmla="*/ 2 w 211"/>
                <a:gd name="T5" fmla="*/ 163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8" name="Freeform 64">
              <a:extLst>
                <a:ext uri="{FF2B5EF4-FFF2-40B4-BE49-F238E27FC236}">
                  <a16:creationId xmlns:a16="http://schemas.microsoft.com/office/drawing/2014/main" id="{6623ED7E-0B17-4F1E-9A1F-4B36C7F930EE}"/>
                </a:ext>
              </a:extLst>
            </p:cNvPr>
            <p:cNvSpPr>
              <a:spLocks/>
            </p:cNvSpPr>
            <p:nvPr/>
          </p:nvSpPr>
          <p:spPr bwMode="auto">
            <a:xfrm>
              <a:off x="5284" y="1640"/>
              <a:ext cx="263" cy="189"/>
            </a:xfrm>
            <a:custGeom>
              <a:avLst/>
              <a:gdLst>
                <a:gd name="T0" fmla="*/ 2 w 328"/>
                <a:gd name="T1" fmla="*/ 0 h 226"/>
                <a:gd name="T2" fmla="*/ 11 w 328"/>
                <a:gd name="T3" fmla="*/ 9 h 226"/>
                <a:gd name="T4" fmla="*/ 11 w 328"/>
                <a:gd name="T5" fmla="*/ 16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9" name="Rectangle 65">
              <a:extLst>
                <a:ext uri="{FF2B5EF4-FFF2-40B4-BE49-F238E27FC236}">
                  <a16:creationId xmlns:a16="http://schemas.microsoft.com/office/drawing/2014/main" id="{DE7F5611-B6EA-46C2-AD3B-840A21C8BF38}"/>
                </a:ext>
              </a:extLst>
            </p:cNvPr>
            <p:cNvSpPr>
              <a:spLocks noChangeArrowheads="1"/>
            </p:cNvSpPr>
            <p:nvPr/>
          </p:nvSpPr>
          <p:spPr bwMode="auto">
            <a:xfrm>
              <a:off x="4214" y="691"/>
              <a:ext cx="594"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grpSp>
          <p:nvGrpSpPr>
            <p:cNvPr id="200" name="Group 66">
              <a:extLst>
                <a:ext uri="{FF2B5EF4-FFF2-40B4-BE49-F238E27FC236}">
                  <a16:creationId xmlns:a16="http://schemas.microsoft.com/office/drawing/2014/main" id="{63CBAEA9-C2B3-48A2-B56C-F9CC3E25E42F}"/>
                </a:ext>
              </a:extLst>
            </p:cNvPr>
            <p:cNvGrpSpPr>
              <a:grpSpLocks/>
            </p:cNvGrpSpPr>
            <p:nvPr/>
          </p:nvGrpSpPr>
          <p:grpSpPr bwMode="auto">
            <a:xfrm>
              <a:off x="4749" y="668"/>
              <a:ext cx="581" cy="145"/>
              <a:chOff x="614" y="2568"/>
              <a:chExt cx="725" cy="139"/>
            </a:xfrm>
          </p:grpSpPr>
          <p:sp>
            <p:nvSpPr>
              <p:cNvPr id="225" name="AutoShape 67">
                <a:extLst>
                  <a:ext uri="{FF2B5EF4-FFF2-40B4-BE49-F238E27FC236}">
                    <a16:creationId xmlns:a16="http://schemas.microsoft.com/office/drawing/2014/main" id="{2031014F-B8D3-4E85-B44E-70B248339E6B}"/>
                  </a:ext>
                </a:extLst>
              </p:cNvPr>
              <p:cNvSpPr>
                <a:spLocks noChangeArrowheads="1"/>
              </p:cNvSpPr>
              <p:nvPr/>
            </p:nvSpPr>
            <p:spPr bwMode="auto">
              <a:xfrm>
                <a:off x="613" y="2570"/>
                <a:ext cx="725" cy="136"/>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26" name="AutoShape 68">
                <a:extLst>
                  <a:ext uri="{FF2B5EF4-FFF2-40B4-BE49-F238E27FC236}">
                    <a16:creationId xmlns:a16="http://schemas.microsoft.com/office/drawing/2014/main" id="{AAB13EE6-E337-4471-ABDE-8549FAE64ABE}"/>
                  </a:ext>
                </a:extLst>
              </p:cNvPr>
              <p:cNvSpPr>
                <a:spLocks noChangeArrowheads="1"/>
              </p:cNvSpPr>
              <p:nvPr/>
            </p:nvSpPr>
            <p:spPr bwMode="auto">
              <a:xfrm>
                <a:off x="629" y="2584"/>
                <a:ext cx="691" cy="109"/>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grpSp>
        <p:sp>
          <p:nvSpPr>
            <p:cNvPr id="201" name="Rectangle 69">
              <a:extLst>
                <a:ext uri="{FF2B5EF4-FFF2-40B4-BE49-F238E27FC236}">
                  <a16:creationId xmlns:a16="http://schemas.microsoft.com/office/drawing/2014/main" id="{3331D06D-FFFC-4B5E-A64A-889313CC492B}"/>
                </a:ext>
              </a:extLst>
            </p:cNvPr>
            <p:cNvSpPr>
              <a:spLocks noChangeArrowheads="1"/>
            </p:cNvSpPr>
            <p:nvPr/>
          </p:nvSpPr>
          <p:spPr bwMode="auto">
            <a:xfrm>
              <a:off x="4221" y="1017"/>
              <a:ext cx="601"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grpSp>
          <p:nvGrpSpPr>
            <p:cNvPr id="202" name="Group 70">
              <a:extLst>
                <a:ext uri="{FF2B5EF4-FFF2-40B4-BE49-F238E27FC236}">
                  <a16:creationId xmlns:a16="http://schemas.microsoft.com/office/drawing/2014/main" id="{BFA32730-5D8A-4446-8831-344E73C755FE}"/>
                </a:ext>
              </a:extLst>
            </p:cNvPr>
            <p:cNvGrpSpPr>
              <a:grpSpLocks/>
            </p:cNvGrpSpPr>
            <p:nvPr/>
          </p:nvGrpSpPr>
          <p:grpSpPr bwMode="auto">
            <a:xfrm>
              <a:off x="4747" y="994"/>
              <a:ext cx="581" cy="134"/>
              <a:chOff x="614" y="2568"/>
              <a:chExt cx="725" cy="139"/>
            </a:xfrm>
          </p:grpSpPr>
          <p:sp>
            <p:nvSpPr>
              <p:cNvPr id="223" name="AutoShape 71">
                <a:extLst>
                  <a:ext uri="{FF2B5EF4-FFF2-40B4-BE49-F238E27FC236}">
                    <a16:creationId xmlns:a16="http://schemas.microsoft.com/office/drawing/2014/main" id="{D1D645BF-33BB-4411-9BD3-C073D3150A74}"/>
                  </a:ext>
                </a:extLst>
              </p:cNvPr>
              <p:cNvSpPr>
                <a:spLocks noChangeArrowheads="1"/>
              </p:cNvSpPr>
              <p:nvPr/>
            </p:nvSpPr>
            <p:spPr bwMode="auto">
              <a:xfrm>
                <a:off x="615" y="2570"/>
                <a:ext cx="725" cy="140"/>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24" name="AutoShape 72">
                <a:extLst>
                  <a:ext uri="{FF2B5EF4-FFF2-40B4-BE49-F238E27FC236}">
                    <a16:creationId xmlns:a16="http://schemas.microsoft.com/office/drawing/2014/main" id="{22532DD6-B5A0-4EE1-83A4-1E4E78A9BBB2}"/>
                  </a:ext>
                </a:extLst>
              </p:cNvPr>
              <p:cNvSpPr>
                <a:spLocks noChangeArrowheads="1"/>
              </p:cNvSpPr>
              <p:nvPr/>
            </p:nvSpPr>
            <p:spPr bwMode="auto">
              <a:xfrm>
                <a:off x="632" y="2585"/>
                <a:ext cx="691"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grpSp>
        <p:sp>
          <p:nvSpPr>
            <p:cNvPr id="203" name="Rectangle 73">
              <a:extLst>
                <a:ext uri="{FF2B5EF4-FFF2-40B4-BE49-F238E27FC236}">
                  <a16:creationId xmlns:a16="http://schemas.microsoft.com/office/drawing/2014/main" id="{F027B375-77CB-4D26-9664-90404117045E}"/>
                </a:ext>
              </a:extLst>
            </p:cNvPr>
            <p:cNvSpPr>
              <a:spLocks noChangeArrowheads="1"/>
            </p:cNvSpPr>
            <p:nvPr/>
          </p:nvSpPr>
          <p:spPr bwMode="auto">
            <a:xfrm>
              <a:off x="4214" y="1358"/>
              <a:ext cx="601"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04" name="Rectangle 74">
              <a:extLst>
                <a:ext uri="{FF2B5EF4-FFF2-40B4-BE49-F238E27FC236}">
                  <a16:creationId xmlns:a16="http://schemas.microsoft.com/office/drawing/2014/main" id="{5052855C-6CB0-4FB1-92D3-2945581ADEA3}"/>
                </a:ext>
              </a:extLst>
            </p:cNvPr>
            <p:cNvSpPr>
              <a:spLocks noChangeArrowheads="1"/>
            </p:cNvSpPr>
            <p:nvPr/>
          </p:nvSpPr>
          <p:spPr bwMode="auto">
            <a:xfrm>
              <a:off x="4228" y="1655"/>
              <a:ext cx="594" cy="50"/>
            </a:xfrm>
            <a:prstGeom prst="rect">
              <a:avLst/>
            </a:prstGeom>
            <a:solidFill>
              <a:schemeClr val="tx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grpSp>
          <p:nvGrpSpPr>
            <p:cNvPr id="205" name="Group 75">
              <a:extLst>
                <a:ext uri="{FF2B5EF4-FFF2-40B4-BE49-F238E27FC236}">
                  <a16:creationId xmlns:a16="http://schemas.microsoft.com/office/drawing/2014/main" id="{C8176FAB-38A8-4D34-9511-CB1CCA8BCDDE}"/>
                </a:ext>
              </a:extLst>
            </p:cNvPr>
            <p:cNvGrpSpPr>
              <a:grpSpLocks/>
            </p:cNvGrpSpPr>
            <p:nvPr/>
          </p:nvGrpSpPr>
          <p:grpSpPr bwMode="auto">
            <a:xfrm>
              <a:off x="4735" y="1627"/>
              <a:ext cx="582" cy="151"/>
              <a:chOff x="614" y="2568"/>
              <a:chExt cx="725" cy="139"/>
            </a:xfrm>
          </p:grpSpPr>
          <p:sp>
            <p:nvSpPr>
              <p:cNvPr id="221" name="AutoShape 76">
                <a:extLst>
                  <a:ext uri="{FF2B5EF4-FFF2-40B4-BE49-F238E27FC236}">
                    <a16:creationId xmlns:a16="http://schemas.microsoft.com/office/drawing/2014/main" id="{A9C6B1B3-EB32-454C-AF81-DE9FDCFD52F6}"/>
                  </a:ext>
                </a:extLst>
              </p:cNvPr>
              <p:cNvSpPr>
                <a:spLocks noChangeArrowheads="1"/>
              </p:cNvSpPr>
              <p:nvPr/>
            </p:nvSpPr>
            <p:spPr bwMode="auto">
              <a:xfrm>
                <a:off x="613" y="2568"/>
                <a:ext cx="724" cy="137"/>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22" name="AutoShape 77">
                <a:extLst>
                  <a:ext uri="{FF2B5EF4-FFF2-40B4-BE49-F238E27FC236}">
                    <a16:creationId xmlns:a16="http://schemas.microsoft.com/office/drawing/2014/main" id="{957AC471-2D57-42B5-A755-B1024E855033}"/>
                  </a:ext>
                </a:extLst>
              </p:cNvPr>
              <p:cNvSpPr>
                <a:spLocks noChangeArrowheads="1"/>
              </p:cNvSpPr>
              <p:nvPr/>
            </p:nvSpPr>
            <p:spPr bwMode="auto">
              <a:xfrm>
                <a:off x="630" y="2581"/>
                <a:ext cx="690"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grpSp>
        <p:sp>
          <p:nvSpPr>
            <p:cNvPr id="206" name="Freeform 78">
              <a:extLst>
                <a:ext uri="{FF2B5EF4-FFF2-40B4-BE49-F238E27FC236}">
                  <a16:creationId xmlns:a16="http://schemas.microsoft.com/office/drawing/2014/main" id="{16E3AF93-536D-4E66-92A4-54C299817386}"/>
                </a:ext>
              </a:extLst>
            </p:cNvPr>
            <p:cNvSpPr>
              <a:spLocks/>
            </p:cNvSpPr>
            <p:nvPr/>
          </p:nvSpPr>
          <p:spPr bwMode="auto">
            <a:xfrm>
              <a:off x="5288" y="1354"/>
              <a:ext cx="263" cy="188"/>
            </a:xfrm>
            <a:custGeom>
              <a:avLst/>
              <a:gdLst>
                <a:gd name="T0" fmla="*/ 2 w 328"/>
                <a:gd name="T1" fmla="*/ 0 h 226"/>
                <a:gd name="T2" fmla="*/ 11 w 328"/>
                <a:gd name="T3" fmla="*/ 8 h 226"/>
                <a:gd name="T4" fmla="*/ 11 w 328"/>
                <a:gd name="T5" fmla="*/ 14 h 226"/>
                <a:gd name="T6" fmla="*/ 0 w 328"/>
                <a:gd name="T7" fmla="*/ 6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07" name="Group 79">
              <a:extLst>
                <a:ext uri="{FF2B5EF4-FFF2-40B4-BE49-F238E27FC236}">
                  <a16:creationId xmlns:a16="http://schemas.microsoft.com/office/drawing/2014/main" id="{3645980C-DF4B-4D14-8D42-34C0133B9708}"/>
                </a:ext>
              </a:extLst>
            </p:cNvPr>
            <p:cNvGrpSpPr>
              <a:grpSpLocks/>
            </p:cNvGrpSpPr>
            <p:nvPr/>
          </p:nvGrpSpPr>
          <p:grpSpPr bwMode="auto">
            <a:xfrm>
              <a:off x="4739" y="1327"/>
              <a:ext cx="582" cy="139"/>
              <a:chOff x="614" y="2568"/>
              <a:chExt cx="725" cy="139"/>
            </a:xfrm>
          </p:grpSpPr>
          <p:sp>
            <p:nvSpPr>
              <p:cNvPr id="219" name="AutoShape 80">
                <a:extLst>
                  <a:ext uri="{FF2B5EF4-FFF2-40B4-BE49-F238E27FC236}">
                    <a16:creationId xmlns:a16="http://schemas.microsoft.com/office/drawing/2014/main" id="{F3155CB5-C008-425C-9F9B-187FBB748CF2}"/>
                  </a:ext>
                </a:extLst>
              </p:cNvPr>
              <p:cNvSpPr>
                <a:spLocks noChangeArrowheads="1"/>
              </p:cNvSpPr>
              <p:nvPr/>
            </p:nvSpPr>
            <p:spPr bwMode="auto">
              <a:xfrm>
                <a:off x="617" y="2570"/>
                <a:ext cx="724" cy="135"/>
              </a:xfrm>
              <a:prstGeom prst="roundRect">
                <a:avLst>
                  <a:gd name="adj" fmla="val 50000"/>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20" name="AutoShape 81">
                <a:extLst>
                  <a:ext uri="{FF2B5EF4-FFF2-40B4-BE49-F238E27FC236}">
                    <a16:creationId xmlns:a16="http://schemas.microsoft.com/office/drawing/2014/main" id="{E18B42B3-4F63-4DA5-8D6B-3C76518D03EC}"/>
                  </a:ext>
                </a:extLst>
              </p:cNvPr>
              <p:cNvSpPr>
                <a:spLocks noChangeArrowheads="1"/>
              </p:cNvSpPr>
              <p:nvPr/>
            </p:nvSpPr>
            <p:spPr bwMode="auto">
              <a:xfrm>
                <a:off x="633" y="2584"/>
                <a:ext cx="690"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grpSp>
        <p:sp>
          <p:nvSpPr>
            <p:cNvPr id="208" name="Rectangle 82">
              <a:extLst>
                <a:ext uri="{FF2B5EF4-FFF2-40B4-BE49-F238E27FC236}">
                  <a16:creationId xmlns:a16="http://schemas.microsoft.com/office/drawing/2014/main" id="{015F8B08-3C7F-44DF-A566-D83BF50D1B67}"/>
                </a:ext>
              </a:extLst>
            </p:cNvPr>
            <p:cNvSpPr>
              <a:spLocks noChangeArrowheads="1"/>
            </p:cNvSpPr>
            <p:nvPr/>
          </p:nvSpPr>
          <p:spPr bwMode="auto">
            <a:xfrm>
              <a:off x="5248" y="429"/>
              <a:ext cx="68"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09" name="Freeform 83">
              <a:extLst>
                <a:ext uri="{FF2B5EF4-FFF2-40B4-BE49-F238E27FC236}">
                  <a16:creationId xmlns:a16="http://schemas.microsoft.com/office/drawing/2014/main" id="{BC3AB64D-4A95-486A-915D-5F833507B976}"/>
                </a:ext>
              </a:extLst>
            </p:cNvPr>
            <p:cNvSpPr>
              <a:spLocks/>
            </p:cNvSpPr>
            <p:nvPr/>
          </p:nvSpPr>
          <p:spPr bwMode="auto">
            <a:xfrm>
              <a:off x="5312" y="1007"/>
              <a:ext cx="237" cy="213"/>
            </a:xfrm>
            <a:custGeom>
              <a:avLst/>
              <a:gdLst>
                <a:gd name="T0" fmla="*/ 2 w 296"/>
                <a:gd name="T1" fmla="*/ 0 h 256"/>
                <a:gd name="T2" fmla="*/ 11 w 296"/>
                <a:gd name="T3" fmla="*/ 8 h 256"/>
                <a:gd name="T4" fmla="*/ 11 w 296"/>
                <a:gd name="T5" fmla="*/ 16 h 256"/>
                <a:gd name="T6" fmla="*/ 0 w 296"/>
                <a:gd name="T7" fmla="*/ 6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0" name="Freeform 84">
              <a:extLst>
                <a:ext uri="{FF2B5EF4-FFF2-40B4-BE49-F238E27FC236}">
                  <a16:creationId xmlns:a16="http://schemas.microsoft.com/office/drawing/2014/main" id="{E1346518-2392-4B49-AAFB-DD30788C684C}"/>
                </a:ext>
              </a:extLst>
            </p:cNvPr>
            <p:cNvSpPr>
              <a:spLocks/>
            </p:cNvSpPr>
            <p:nvPr/>
          </p:nvSpPr>
          <p:spPr bwMode="auto">
            <a:xfrm>
              <a:off x="5315" y="680"/>
              <a:ext cx="244" cy="240"/>
            </a:xfrm>
            <a:custGeom>
              <a:avLst/>
              <a:gdLst>
                <a:gd name="T0" fmla="*/ 0 w 304"/>
                <a:gd name="T1" fmla="*/ 0 h 288"/>
                <a:gd name="T2" fmla="*/ 11 w 304"/>
                <a:gd name="T3" fmla="*/ 11 h 288"/>
                <a:gd name="T4" fmla="*/ 10 w 304"/>
                <a:gd name="T5" fmla="*/ 19 h 288"/>
                <a:gd name="T6" fmla="*/ 2 w 304"/>
                <a:gd name="T7" fmla="*/ 8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1" name="Oval 85">
              <a:extLst>
                <a:ext uri="{FF2B5EF4-FFF2-40B4-BE49-F238E27FC236}">
                  <a16:creationId xmlns:a16="http://schemas.microsoft.com/office/drawing/2014/main" id="{E2113C33-EBA6-4D2A-8D70-4FCE3484A868}"/>
                </a:ext>
              </a:extLst>
            </p:cNvPr>
            <p:cNvSpPr>
              <a:spLocks noChangeArrowheads="1"/>
            </p:cNvSpPr>
            <p:nvPr/>
          </p:nvSpPr>
          <p:spPr bwMode="auto">
            <a:xfrm>
              <a:off x="5518" y="2612"/>
              <a:ext cx="47" cy="92"/>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12" name="Freeform 86">
              <a:extLst>
                <a:ext uri="{FF2B5EF4-FFF2-40B4-BE49-F238E27FC236}">
                  <a16:creationId xmlns:a16="http://schemas.microsoft.com/office/drawing/2014/main" id="{BFD83337-492D-4A19-81C0-0A57B7FF76F2}"/>
                </a:ext>
              </a:extLst>
            </p:cNvPr>
            <p:cNvSpPr>
              <a:spLocks/>
            </p:cNvSpPr>
            <p:nvPr/>
          </p:nvSpPr>
          <p:spPr bwMode="auto">
            <a:xfrm>
              <a:off x="5302" y="2614"/>
              <a:ext cx="245" cy="200"/>
            </a:xfrm>
            <a:custGeom>
              <a:avLst/>
              <a:gdLst>
                <a:gd name="T0" fmla="*/ 0 w 306"/>
                <a:gd name="T1" fmla="*/ 8 h 240"/>
                <a:gd name="T2" fmla="*/ 2 w 306"/>
                <a:gd name="T3" fmla="*/ 16 h 240"/>
                <a:gd name="T4" fmla="*/ 11 w 306"/>
                <a:gd name="T5" fmla="*/ 8 h 240"/>
                <a:gd name="T6" fmla="*/ 11 w 306"/>
                <a:gd name="T7" fmla="*/ 0 h 240"/>
                <a:gd name="T8" fmla="*/ 0 w 306"/>
                <a:gd name="T9" fmla="*/ 8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3" name="AutoShape 87">
              <a:extLst>
                <a:ext uri="{FF2B5EF4-FFF2-40B4-BE49-F238E27FC236}">
                  <a16:creationId xmlns:a16="http://schemas.microsoft.com/office/drawing/2014/main" id="{F4EA8859-9E6B-47B4-A6F6-AA29B1D394DC}"/>
                </a:ext>
              </a:extLst>
            </p:cNvPr>
            <p:cNvSpPr>
              <a:spLocks noChangeArrowheads="1"/>
            </p:cNvSpPr>
            <p:nvPr/>
          </p:nvSpPr>
          <p:spPr bwMode="auto">
            <a:xfrm>
              <a:off x="4140" y="2676"/>
              <a:ext cx="1202" cy="149"/>
            </a:xfrm>
            <a:prstGeom prst="roundRect">
              <a:avLst>
                <a:gd name="adj" fmla="val 50000"/>
              </a:avLst>
            </a:prstGeom>
            <a:solidFill>
              <a:srgbClr val="DDDDDD"/>
            </a:soli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14" name="AutoShape 88">
              <a:extLst>
                <a:ext uri="{FF2B5EF4-FFF2-40B4-BE49-F238E27FC236}">
                  <a16:creationId xmlns:a16="http://schemas.microsoft.com/office/drawing/2014/main" id="{365D5660-FF58-4904-AC92-49B20BD60423}"/>
                </a:ext>
              </a:extLst>
            </p:cNvPr>
            <p:cNvSpPr>
              <a:spLocks noChangeArrowheads="1"/>
            </p:cNvSpPr>
            <p:nvPr/>
          </p:nvSpPr>
          <p:spPr bwMode="auto">
            <a:xfrm>
              <a:off x="4208" y="2712"/>
              <a:ext cx="1067" cy="78"/>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15" name="Oval 89">
              <a:extLst>
                <a:ext uri="{FF2B5EF4-FFF2-40B4-BE49-F238E27FC236}">
                  <a16:creationId xmlns:a16="http://schemas.microsoft.com/office/drawing/2014/main" id="{7757A6DE-4116-4B76-BD48-482D13F0DEC2}"/>
                </a:ext>
              </a:extLst>
            </p:cNvPr>
            <p:cNvSpPr>
              <a:spLocks noChangeArrowheads="1"/>
            </p:cNvSpPr>
            <p:nvPr/>
          </p:nvSpPr>
          <p:spPr bwMode="auto">
            <a:xfrm>
              <a:off x="4309" y="2385"/>
              <a:ext cx="155"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16" name="Oval 90">
              <a:extLst>
                <a:ext uri="{FF2B5EF4-FFF2-40B4-BE49-F238E27FC236}">
                  <a16:creationId xmlns:a16="http://schemas.microsoft.com/office/drawing/2014/main" id="{E0B8BB70-E234-4669-B766-65C550A536F6}"/>
                </a:ext>
              </a:extLst>
            </p:cNvPr>
            <p:cNvSpPr>
              <a:spLocks noChangeArrowheads="1"/>
            </p:cNvSpPr>
            <p:nvPr/>
          </p:nvSpPr>
          <p:spPr bwMode="auto">
            <a:xfrm>
              <a:off x="4484" y="2385"/>
              <a:ext cx="162" cy="142"/>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eaLnBrk="1" hangingPunct="1"/>
              <a:endParaRPr lang="zh-CN" altLang="zh-CN" sz="1600">
                <a:solidFill>
                  <a:srgbClr val="FF0000"/>
                </a:solidFill>
                <a:latin typeface="Tahoma" panose="020B0604030504040204" pitchFamily="34" charset="0"/>
                <a:cs typeface="Arial" panose="020B0604020202020204" pitchFamily="34" charset="0"/>
              </a:endParaRPr>
            </a:p>
          </p:txBody>
        </p:sp>
        <p:sp>
          <p:nvSpPr>
            <p:cNvPr id="217" name="Oval 91">
              <a:extLst>
                <a:ext uri="{FF2B5EF4-FFF2-40B4-BE49-F238E27FC236}">
                  <a16:creationId xmlns:a16="http://schemas.microsoft.com/office/drawing/2014/main" id="{405577B3-B85F-4072-B70C-D6772E627605}"/>
                </a:ext>
              </a:extLst>
            </p:cNvPr>
            <p:cNvSpPr>
              <a:spLocks noChangeArrowheads="1"/>
            </p:cNvSpPr>
            <p:nvPr/>
          </p:nvSpPr>
          <p:spPr bwMode="auto">
            <a:xfrm>
              <a:off x="4660" y="2378"/>
              <a:ext cx="162" cy="142"/>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sp>
          <p:nvSpPr>
            <p:cNvPr id="218" name="Rectangle 92">
              <a:extLst>
                <a:ext uri="{FF2B5EF4-FFF2-40B4-BE49-F238E27FC236}">
                  <a16:creationId xmlns:a16="http://schemas.microsoft.com/office/drawing/2014/main" id="{8BF8D5F0-3465-4784-BC8C-67E11E92D17A}"/>
                </a:ext>
              </a:extLst>
            </p:cNvPr>
            <p:cNvSpPr>
              <a:spLocks noChangeArrowheads="1"/>
            </p:cNvSpPr>
            <p:nvPr/>
          </p:nvSpPr>
          <p:spPr bwMode="auto">
            <a:xfrm>
              <a:off x="5065" y="1833"/>
              <a:ext cx="81" cy="766"/>
            </a:xfrm>
            <a:prstGeom prst="rect">
              <a:avLst/>
            </a:prstGeom>
            <a:solidFill>
              <a:srgbClr val="292929"/>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zh-CN" altLang="zh-CN" sz="1600">
                <a:solidFill>
                  <a:srgbClr val="000000"/>
                </a:solidFill>
                <a:latin typeface="Tahoma" panose="020B0604030504040204" pitchFamily="34" charset="0"/>
              </a:endParaRPr>
            </a:p>
          </p:txBody>
        </p:sp>
      </p:grpSp>
      <p:sp>
        <p:nvSpPr>
          <p:cNvPr id="227" name="矩形 226">
            <a:extLst>
              <a:ext uri="{FF2B5EF4-FFF2-40B4-BE49-F238E27FC236}">
                <a16:creationId xmlns:a16="http://schemas.microsoft.com/office/drawing/2014/main" id="{5F4F2FD0-5803-48F3-A02B-09041F2BD430}"/>
              </a:ext>
            </a:extLst>
          </p:cNvPr>
          <p:cNvSpPr/>
          <p:nvPr/>
        </p:nvSpPr>
        <p:spPr>
          <a:xfrm>
            <a:off x="8093220" y="3846513"/>
            <a:ext cx="3116647" cy="1990288"/>
          </a:xfrm>
          <a:prstGeom prst="rect">
            <a:avLst/>
          </a:prstGeom>
          <a:solidFill>
            <a:schemeClr val="bg1"/>
          </a:solidFill>
          <a:ln w="12700">
            <a:solidFill>
              <a:schemeClr val="tx1"/>
            </a:solidFill>
          </a:ln>
        </p:spPr>
        <p:txBody>
          <a:bodyPr wrap="square">
            <a:spAutoFit/>
          </a:bodyPr>
          <a:lstStyle/>
          <a:p>
            <a:pPr>
              <a:lnSpc>
                <a:spcPts val="2600"/>
              </a:lnSpc>
              <a:spcBef>
                <a:spcPts val="600"/>
              </a:spcBef>
              <a:buFont typeface="Wingdings" charset="0"/>
              <a:buNone/>
              <a:defRPr/>
            </a:pPr>
            <a:r>
              <a:rPr lang="en-US" altLang="zh-CN" sz="2000" dirty="0">
                <a:solidFill>
                  <a:srgbClr val="C00000"/>
                </a:solidFill>
                <a:latin typeface="等线" panose="02010600030101010101" pitchFamily="2" charset="-122"/>
                <a:ea typeface="等线" panose="02010600030101010101" pitchFamily="2" charset="-122"/>
                <a:cs typeface="Times New Roman" panose="02020603050405020304" pitchFamily="18" charset="0"/>
              </a:rPr>
              <a:t>DHCP</a:t>
            </a:r>
            <a:r>
              <a:rPr lang="zh-CN" altLang="en-US" sz="2000" dirty="0">
                <a:solidFill>
                  <a:srgbClr val="C00000"/>
                </a:solidFill>
                <a:latin typeface="等线" panose="02010600030101010101" pitchFamily="2" charset="-122"/>
                <a:ea typeface="等线" panose="02010600030101010101" pitchFamily="2" charset="-122"/>
                <a:cs typeface="Times New Roman" panose="02020603050405020304" pitchFamily="18" charset="0"/>
              </a:rPr>
              <a:t>服务不只返回客户机所需的</a:t>
            </a:r>
            <a:r>
              <a:rPr lang="en-US" altLang="zh-CN" sz="2000" dirty="0">
                <a:solidFill>
                  <a:srgbClr val="C00000"/>
                </a:solidFill>
                <a:latin typeface="等线" panose="02010600030101010101" pitchFamily="2" charset="-122"/>
                <a:ea typeface="等线" panose="02010600030101010101" pitchFamily="2" charset="-122"/>
                <a:cs typeface="Times New Roman" panose="02020603050405020304" pitchFamily="18" charset="0"/>
              </a:rPr>
              <a:t>IP</a:t>
            </a:r>
            <a:r>
              <a:rPr lang="zh-CN" altLang="en-US" sz="2000" dirty="0">
                <a:solidFill>
                  <a:srgbClr val="C00000"/>
                </a:solidFill>
                <a:latin typeface="等线" panose="02010600030101010101" pitchFamily="2" charset="-122"/>
                <a:ea typeface="等线" panose="02010600030101010101" pitchFamily="2" charset="-122"/>
                <a:cs typeface="Times New Roman" panose="02020603050405020304" pitchFamily="18" charset="0"/>
              </a:rPr>
              <a:t>地址，还包括</a:t>
            </a:r>
            <a:r>
              <a:rPr lang="en-US" altLang="zh-CN" sz="2000" dirty="0">
                <a:solidFill>
                  <a:srgbClr val="C00000"/>
                </a:solidFill>
                <a:latin typeface="等线" panose="02010600030101010101" pitchFamily="2" charset="-122"/>
                <a:ea typeface="等线" panose="02010600030101010101" pitchFamily="2" charset="-122"/>
                <a:cs typeface="Times New Roman" panose="02020603050405020304" pitchFamily="18" charset="0"/>
              </a:rPr>
              <a:t>:</a:t>
            </a:r>
          </a:p>
          <a:p>
            <a:pPr marL="180975" lvl="1" indent="-180975">
              <a:lnSpc>
                <a:spcPts val="2600"/>
              </a:lnSpc>
              <a:spcBef>
                <a:spcPts val="600"/>
              </a:spcBef>
              <a:buFont typeface="Arial"/>
              <a:buChar char="•"/>
              <a:defRPr/>
            </a:pPr>
            <a:r>
              <a:rPr lang="zh-CN" altLang="en-US" sz="2000" dirty="0">
                <a:latin typeface="等线" panose="02010600030101010101" pitchFamily="2" charset="-122"/>
                <a:ea typeface="等线" panose="02010600030101010101" pitchFamily="2" charset="-122"/>
                <a:cs typeface="Times New Roman" panose="02020603050405020304" pitchFamily="18" charset="0"/>
              </a:rPr>
              <a:t>缺省路由器</a:t>
            </a:r>
            <a:r>
              <a:rPr lang="en-US" altLang="zh-CN" sz="2000" dirty="0">
                <a:latin typeface="等线" panose="02010600030101010101" pitchFamily="2" charset="-122"/>
                <a:ea typeface="等线" panose="02010600030101010101" pitchFamily="2" charset="-122"/>
                <a:cs typeface="Times New Roman" panose="02020603050405020304" pitchFamily="18" charset="0"/>
              </a:rPr>
              <a:t>IP</a:t>
            </a:r>
            <a:r>
              <a:rPr lang="zh-CN" altLang="en-US" sz="2000" dirty="0">
                <a:latin typeface="等线" panose="02010600030101010101" pitchFamily="2" charset="-122"/>
                <a:ea typeface="等线" panose="02010600030101010101" pitchFamily="2" charset="-122"/>
                <a:cs typeface="Times New Roman" panose="02020603050405020304" pitchFamily="18" charset="0"/>
              </a:rPr>
              <a:t>地址</a:t>
            </a:r>
            <a:endParaRPr lang="en-US" altLang="zh-CN" sz="2000" dirty="0">
              <a:latin typeface="等线" panose="02010600030101010101" pitchFamily="2" charset="-122"/>
              <a:ea typeface="等线" panose="02010600030101010101" pitchFamily="2" charset="-122"/>
              <a:cs typeface="Times New Roman" panose="02020603050405020304" pitchFamily="18" charset="0"/>
            </a:endParaRPr>
          </a:p>
          <a:p>
            <a:pPr marL="180975" lvl="1" indent="-180975">
              <a:lnSpc>
                <a:spcPts val="2600"/>
              </a:lnSpc>
              <a:spcBef>
                <a:spcPts val="600"/>
              </a:spcBef>
              <a:buFont typeface="Arial"/>
              <a:buChar char="•"/>
              <a:defRPr/>
            </a:pPr>
            <a:r>
              <a:rPr lang="en-US" altLang="zh-CN" sz="2000" dirty="0">
                <a:latin typeface="等线" panose="02010600030101010101" pitchFamily="2" charset="-122"/>
                <a:ea typeface="等线" panose="02010600030101010101" pitchFamily="2" charset="-122"/>
                <a:cs typeface="Times New Roman" panose="02020603050405020304" pitchFamily="18" charset="0"/>
              </a:rPr>
              <a:t>DNS</a:t>
            </a:r>
            <a:r>
              <a:rPr lang="zh-CN" altLang="en-US" sz="2000" dirty="0">
                <a:latin typeface="等线" panose="02010600030101010101" pitchFamily="2" charset="-122"/>
                <a:ea typeface="等线" panose="02010600030101010101" pitchFamily="2" charset="-122"/>
                <a:cs typeface="Times New Roman" panose="02020603050405020304" pitchFamily="18" charset="0"/>
              </a:rPr>
              <a:t>服务器</a:t>
            </a:r>
            <a:r>
              <a:rPr lang="en-US" altLang="zh-CN" sz="2000" dirty="0">
                <a:latin typeface="等线" panose="02010600030101010101" pitchFamily="2" charset="-122"/>
                <a:ea typeface="等线" panose="02010600030101010101" pitchFamily="2" charset="-122"/>
                <a:cs typeface="Times New Roman" panose="02020603050405020304" pitchFamily="18" charset="0"/>
              </a:rPr>
              <a:t>IP</a:t>
            </a:r>
            <a:r>
              <a:rPr lang="zh-CN" altLang="en-US" sz="2000" dirty="0">
                <a:latin typeface="等线" panose="02010600030101010101" pitchFamily="2" charset="-122"/>
                <a:ea typeface="等线" panose="02010600030101010101" pitchFamily="2" charset="-122"/>
                <a:cs typeface="Times New Roman" panose="02020603050405020304" pitchFamily="18" charset="0"/>
              </a:rPr>
              <a:t>地址</a:t>
            </a:r>
            <a:endParaRPr lang="en-US" altLang="zh-CN" sz="2000" dirty="0">
              <a:latin typeface="等线" panose="02010600030101010101" pitchFamily="2" charset="-122"/>
              <a:ea typeface="等线" panose="02010600030101010101" pitchFamily="2" charset="-122"/>
              <a:cs typeface="Times New Roman" panose="02020603050405020304" pitchFamily="18" charset="0"/>
            </a:endParaRPr>
          </a:p>
          <a:p>
            <a:pPr marL="180975" lvl="1" indent="-180975">
              <a:lnSpc>
                <a:spcPts val="2600"/>
              </a:lnSpc>
              <a:spcBef>
                <a:spcPts val="600"/>
              </a:spcBef>
              <a:buFont typeface="Arial"/>
              <a:buChar char="•"/>
              <a:defRPr/>
            </a:pPr>
            <a:r>
              <a:rPr lang="zh-CN" altLang="en-US" sz="2000" dirty="0">
                <a:latin typeface="等线" panose="02010600030101010101" pitchFamily="2" charset="-122"/>
                <a:ea typeface="等线" panose="02010600030101010101" pitchFamily="2" charset="-122"/>
                <a:cs typeface="Times New Roman" panose="02020603050405020304" pitchFamily="18" charset="0"/>
              </a:rPr>
              <a:t>网络掩码</a:t>
            </a:r>
          </a:p>
        </p:txBody>
      </p:sp>
      <p:sp>
        <p:nvSpPr>
          <p:cNvPr id="3" name="日期占位符 2"/>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5.2.3 DHCP</a:t>
            </a:r>
            <a:endParaRPr kumimoji="1" lang="zh-CN" altLang="en-US" dirty="0">
              <a:latin typeface="DengXian" panose="02010600030101010101" pitchFamily="2" charset="-122"/>
              <a:ea typeface="DengXian" panose="02010600030101010101" pitchFamily="2" charset="-122"/>
            </a:endParaRPr>
          </a:p>
        </p:txBody>
      </p:sp>
      <p:sp>
        <p:nvSpPr>
          <p:cNvPr id="5" name="TextBox 4">
            <a:extLst>
              <a:ext uri="{FF2B5EF4-FFF2-40B4-BE49-F238E27FC236}">
                <a16:creationId xmlns:a16="http://schemas.microsoft.com/office/drawing/2014/main" id="{D814B6C9-5E3D-4E49-9ED0-19BDC2BBA9FF}"/>
              </a:ext>
            </a:extLst>
          </p:cNvPr>
          <p:cNvSpPr txBox="1"/>
          <p:nvPr/>
        </p:nvSpPr>
        <p:spPr>
          <a:xfrm>
            <a:off x="9528320" y="2208214"/>
            <a:ext cx="1997825" cy="646331"/>
          </a:xfrm>
          <a:prstGeom prst="rect">
            <a:avLst/>
          </a:prstGeom>
          <a:noFill/>
        </p:spPr>
        <p:txBody>
          <a:bodyPr wrap="square" rtlCol="0">
            <a:spAutoFit/>
          </a:bodyPr>
          <a:lstStyle/>
          <a:p>
            <a:r>
              <a:rPr lang="en-US" dirty="0"/>
              <a:t>y</a:t>
            </a:r>
            <a:r>
              <a:rPr lang="en-CN" dirty="0"/>
              <a:t>iaddrr: </a:t>
            </a:r>
          </a:p>
          <a:p>
            <a:r>
              <a:rPr lang="en-CN" dirty="0"/>
              <a:t>your IP address </a:t>
            </a:r>
          </a:p>
        </p:txBody>
      </p:sp>
    </p:spTree>
    <p:extLst>
      <p:ext uri="{BB962C8B-B14F-4D97-AF65-F5344CB8AC3E}">
        <p14:creationId xmlns:p14="http://schemas.microsoft.com/office/powerpoint/2010/main" val="3409655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54"/>
                                        </p:tgtEl>
                                        <p:attrNameLst>
                                          <p:attrName>style.visibility</p:attrName>
                                        </p:attrNameLst>
                                      </p:cBhvr>
                                      <p:to>
                                        <p:strVal val="visible"/>
                                      </p:to>
                                    </p:set>
                                    <p:animEffect transition="in" filter="wipe(right)">
                                      <p:cBhvr>
                                        <p:cTn id="7" dur="500"/>
                                        <p:tgtEl>
                                          <p:spTgt spid="15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60"/>
                                        </p:tgtEl>
                                        <p:attrNameLst>
                                          <p:attrName>style.visibility</p:attrName>
                                        </p:attrNameLst>
                                      </p:cBhvr>
                                      <p:to>
                                        <p:strVal val="visible"/>
                                      </p:to>
                                    </p:set>
                                    <p:animEffect transition="in" filter="wipe(left)">
                                      <p:cBhvr>
                                        <p:cTn id="12" dur="500"/>
                                        <p:tgtEl>
                                          <p:spTgt spid="160"/>
                                        </p:tgtEl>
                                      </p:cBhvr>
                                    </p:animEffect>
                                  </p:childTnLst>
                                </p:cTn>
                              </p:par>
                              <p:par>
                                <p:cTn id="13" presetID="22" presetClass="entr" presetSubtype="8" fill="hold" nodeType="withEffect">
                                  <p:stCondLst>
                                    <p:cond delay="0"/>
                                  </p:stCondLst>
                                  <p:childTnLst>
                                    <p:set>
                                      <p:cBhvr>
                                        <p:cTn id="14" dur="1" fill="hold">
                                          <p:stCondLst>
                                            <p:cond delay="0"/>
                                          </p:stCondLst>
                                        </p:cTn>
                                        <p:tgtEl>
                                          <p:spTgt spid="159"/>
                                        </p:tgtEl>
                                        <p:attrNameLst>
                                          <p:attrName>style.visibility</p:attrName>
                                        </p:attrNameLst>
                                      </p:cBhvr>
                                      <p:to>
                                        <p:strVal val="visible"/>
                                      </p:to>
                                    </p:set>
                                    <p:animEffect transition="in" filter="wipe(left)">
                                      <p:cBhvr>
                                        <p:cTn id="15" dur="500"/>
                                        <p:tgtEl>
                                          <p:spTgt spid="15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164"/>
                                        </p:tgtEl>
                                        <p:attrNameLst>
                                          <p:attrName>style.visibility</p:attrName>
                                        </p:attrNameLst>
                                      </p:cBhvr>
                                      <p:to>
                                        <p:strVal val="visible"/>
                                      </p:to>
                                    </p:set>
                                    <p:animEffect transition="in" filter="wipe(right)">
                                      <p:cBhvr>
                                        <p:cTn id="20" dur="500"/>
                                        <p:tgtEl>
                                          <p:spTgt spid="164"/>
                                        </p:tgtEl>
                                      </p:cBhvr>
                                    </p:animEffect>
                                  </p:childTnLst>
                                </p:cTn>
                              </p:par>
                              <p:par>
                                <p:cTn id="21" presetID="22" presetClass="entr" presetSubtype="2" fill="hold" nodeType="withEffect">
                                  <p:stCondLst>
                                    <p:cond delay="0"/>
                                  </p:stCondLst>
                                  <p:childTnLst>
                                    <p:set>
                                      <p:cBhvr>
                                        <p:cTn id="22" dur="1" fill="hold">
                                          <p:stCondLst>
                                            <p:cond delay="0"/>
                                          </p:stCondLst>
                                        </p:cTn>
                                        <p:tgtEl>
                                          <p:spTgt spid="163"/>
                                        </p:tgtEl>
                                        <p:attrNameLst>
                                          <p:attrName>style.visibility</p:attrName>
                                        </p:attrNameLst>
                                      </p:cBhvr>
                                      <p:to>
                                        <p:strVal val="visible"/>
                                      </p:to>
                                    </p:set>
                                    <p:animEffect transition="in" filter="wipe(right)">
                                      <p:cBhvr>
                                        <p:cTn id="23" dur="500"/>
                                        <p:tgtEl>
                                          <p:spTgt spid="163"/>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68"/>
                                        </p:tgtEl>
                                        <p:attrNameLst>
                                          <p:attrName>style.visibility</p:attrName>
                                        </p:attrNameLst>
                                      </p:cBhvr>
                                      <p:to>
                                        <p:strVal val="visible"/>
                                      </p:to>
                                    </p:set>
                                    <p:animEffect transition="in" filter="wipe(left)">
                                      <p:cBhvr>
                                        <p:cTn id="28" dur="500"/>
                                        <p:tgtEl>
                                          <p:spTgt spid="168"/>
                                        </p:tgtEl>
                                      </p:cBhvr>
                                    </p:animEffect>
                                  </p:childTnLst>
                                </p:cTn>
                              </p:par>
                              <p:par>
                                <p:cTn id="29" presetID="22" presetClass="entr" presetSubtype="8" fill="hold" nodeType="withEffect">
                                  <p:stCondLst>
                                    <p:cond delay="0"/>
                                  </p:stCondLst>
                                  <p:childTnLst>
                                    <p:set>
                                      <p:cBhvr>
                                        <p:cTn id="30" dur="1" fill="hold">
                                          <p:stCondLst>
                                            <p:cond delay="0"/>
                                          </p:stCondLst>
                                        </p:cTn>
                                        <p:tgtEl>
                                          <p:spTgt spid="167"/>
                                        </p:tgtEl>
                                        <p:attrNameLst>
                                          <p:attrName>style.visibility</p:attrName>
                                        </p:attrNameLst>
                                      </p:cBhvr>
                                      <p:to>
                                        <p:strVal val="visible"/>
                                      </p:to>
                                    </p:set>
                                    <p:animEffect transition="in" filter="wipe(left)">
                                      <p:cBhvr>
                                        <p:cTn id="31" dur="500"/>
                                        <p:tgtEl>
                                          <p:spTgt spid="167"/>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ntr" presetSubtype="16" fill="hold" grpId="0" nodeType="clickEffect">
                                  <p:stCondLst>
                                    <p:cond delay="0"/>
                                  </p:stCondLst>
                                  <p:childTnLst>
                                    <p:set>
                                      <p:cBhvr>
                                        <p:cTn id="35" dur="1" fill="hold">
                                          <p:stCondLst>
                                            <p:cond delay="0"/>
                                          </p:stCondLst>
                                        </p:cTn>
                                        <p:tgtEl>
                                          <p:spTgt spid="227"/>
                                        </p:tgtEl>
                                        <p:attrNameLst>
                                          <p:attrName>style.visibility</p:attrName>
                                        </p:attrNameLst>
                                      </p:cBhvr>
                                      <p:to>
                                        <p:strVal val="visible"/>
                                      </p:to>
                                    </p:set>
                                    <p:animEffect transition="in" filter="circle(in)">
                                      <p:cBhvr>
                                        <p:cTn id="36" dur="2000"/>
                                        <p:tgtEl>
                                          <p:spTgt spid="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1" algn="l" rtl="0">
              <a:lnSpc>
                <a:spcPct val="120000"/>
              </a:lnSpc>
              <a:spcBef>
                <a:spcPct val="0"/>
              </a:spcBef>
            </a:pPr>
            <a:r>
              <a:rPr lang="en-US" altLang="zh-CN" sz="4000" dirty="0">
                <a:latin typeface="等线" panose="02010600030101010101" pitchFamily="2" charset="-122"/>
                <a:ea typeface="等线" panose="02010600030101010101" pitchFamily="2" charset="-122"/>
              </a:rPr>
              <a:t>ICMP</a:t>
            </a:r>
            <a:r>
              <a:rPr lang="zh-CN" altLang="en-US" sz="4000" dirty="0">
                <a:latin typeface="等线" panose="02010600030101010101" pitchFamily="2" charset="-122"/>
                <a:ea typeface="等线" panose="02010600030101010101" pitchFamily="2" charset="-122"/>
              </a:rPr>
              <a:t>协议</a:t>
            </a:r>
            <a:endParaRPr lang="en-US" altLang="zh-CN" sz="4000" dirty="0">
              <a:latin typeface="等线" panose="02010600030101010101" pitchFamily="2" charset="-122"/>
              <a:ea typeface="等线" panose="02010600030101010101" pitchFamily="2" charset="-122"/>
            </a:endParaRPr>
          </a:p>
        </p:txBody>
      </p:sp>
      <p:sp>
        <p:nvSpPr>
          <p:cNvPr id="3" name="内容占位符 2"/>
          <p:cNvSpPr>
            <a:spLocks noGrp="1"/>
          </p:cNvSpPr>
          <p:nvPr>
            <p:ph idx="1"/>
          </p:nvPr>
        </p:nvSpPr>
        <p:spPr>
          <a:xfrm>
            <a:off x="838198" y="1510758"/>
            <a:ext cx="10515602" cy="4586694"/>
          </a:xfrm>
        </p:spPr>
        <p:txBody>
          <a:bodyPr>
            <a:normAutofit/>
          </a:bodyPr>
          <a:lstStyle/>
          <a:p>
            <a:pPr marL="228600" lvl="1">
              <a:lnSpc>
                <a:spcPct val="120000"/>
              </a:lnSpc>
              <a:buFont typeface="Wingdings" panose="05000000000000000000" pitchFamily="2" charset="2"/>
              <a:buChar char="Ø"/>
            </a:pPr>
            <a:r>
              <a:rPr lang="en-US" altLang="zh-CN" sz="2600" dirty="0">
                <a:cs typeface="Times New Roman" panose="02020603050405020304" pitchFamily="18" charset="0"/>
              </a:rPr>
              <a:t>ICMP: </a:t>
            </a:r>
            <a:r>
              <a:rPr lang="zh-CN" altLang="en-US" sz="2600" dirty="0">
                <a:cs typeface="Times New Roman" panose="02020603050405020304" pitchFamily="18" charset="0"/>
              </a:rPr>
              <a:t>互联网控制报文协议</a:t>
            </a:r>
            <a:endParaRPr lang="en-US" altLang="zh-CN" sz="2600" dirty="0">
              <a:cs typeface="Times New Roman" panose="02020603050405020304" pitchFamily="18" charset="0"/>
            </a:endParaRPr>
          </a:p>
          <a:p>
            <a:pPr lvl="1">
              <a:lnSpc>
                <a:spcPct val="120000"/>
              </a:lnSpc>
            </a:pPr>
            <a:r>
              <a:rPr lang="en-US" altLang="zh-CN" sz="2200" dirty="0"/>
              <a:t>ICMP </a:t>
            </a:r>
            <a:r>
              <a:rPr lang="zh-CN" altLang="en-US" sz="2200" dirty="0"/>
              <a:t>允许主机或路由器报告差错情况和提供有关异常情况的报告</a:t>
            </a:r>
            <a:endParaRPr lang="en-US" altLang="zh-CN" sz="2200" dirty="0"/>
          </a:p>
          <a:p>
            <a:pPr lvl="1">
              <a:lnSpc>
                <a:spcPct val="120000"/>
              </a:lnSpc>
            </a:pPr>
            <a:r>
              <a:rPr lang="zh-CN" altLang="en-US" sz="2200" dirty="0"/>
              <a:t>由主机和路由器用于网络层信息的通信</a:t>
            </a:r>
          </a:p>
          <a:p>
            <a:pPr lvl="1">
              <a:lnSpc>
                <a:spcPct val="120000"/>
              </a:lnSpc>
            </a:pPr>
            <a:r>
              <a:rPr lang="en-US" altLang="zh-CN" sz="2200" dirty="0"/>
              <a:t>ICMP </a:t>
            </a:r>
            <a:r>
              <a:rPr lang="zh-CN" altLang="en-US" sz="2200" dirty="0"/>
              <a:t>报文携带在</a:t>
            </a:r>
            <a:r>
              <a:rPr lang="en-US" altLang="zh-CN" sz="2200" dirty="0"/>
              <a:t>IP </a:t>
            </a:r>
            <a:r>
              <a:rPr lang="zh-CN" altLang="en-US" sz="2200" dirty="0"/>
              <a:t>数据包中：</a:t>
            </a:r>
            <a:r>
              <a:rPr lang="en-US" altLang="zh-CN" sz="2200" dirty="0"/>
              <a:t> IP</a:t>
            </a:r>
            <a:r>
              <a:rPr lang="zh-CN" altLang="en-US" sz="2200" dirty="0"/>
              <a:t>上层协议号为</a:t>
            </a:r>
            <a:r>
              <a:rPr lang="en-US" altLang="zh-CN" sz="2200" dirty="0"/>
              <a:t>1</a:t>
            </a:r>
            <a:endParaRPr lang="zh-CN" altLang="en-US" sz="2200" dirty="0"/>
          </a:p>
          <a:p>
            <a:pPr marL="228600" lvl="1">
              <a:lnSpc>
                <a:spcPct val="120000"/>
              </a:lnSpc>
              <a:buFont typeface="Wingdings" panose="05000000000000000000" pitchFamily="2" charset="2"/>
              <a:buChar char="Ø"/>
            </a:pPr>
            <a:r>
              <a:rPr lang="en-US" altLang="zh-CN" sz="2600" dirty="0">
                <a:cs typeface="Times New Roman" panose="02020603050405020304" pitchFamily="18" charset="0"/>
              </a:rPr>
              <a:t>ICMP</a:t>
            </a:r>
            <a:r>
              <a:rPr lang="zh-CN" altLang="en-US" sz="2600" dirty="0">
                <a:cs typeface="Times New Roman" panose="02020603050405020304" pitchFamily="18" charset="0"/>
              </a:rPr>
              <a:t>报文类型</a:t>
            </a:r>
            <a:endParaRPr lang="en-US" altLang="zh-CN" sz="2600" dirty="0">
              <a:cs typeface="Times New Roman" panose="02020603050405020304" pitchFamily="18" charset="0"/>
            </a:endParaRPr>
          </a:p>
          <a:p>
            <a:pPr lvl="1">
              <a:lnSpc>
                <a:spcPct val="120000"/>
              </a:lnSpc>
            </a:pPr>
            <a:r>
              <a:rPr lang="en-US" altLang="zh-CN" sz="2200" dirty="0">
                <a:solidFill>
                  <a:srgbClr val="C00000"/>
                </a:solidFill>
              </a:rPr>
              <a:t>ICMP </a:t>
            </a:r>
            <a:r>
              <a:rPr lang="zh-CN" altLang="en-US" sz="2200" dirty="0">
                <a:solidFill>
                  <a:srgbClr val="C00000"/>
                </a:solidFill>
              </a:rPr>
              <a:t>差错报告报文</a:t>
            </a:r>
            <a:endParaRPr lang="en-US" altLang="zh-CN" sz="2200" dirty="0">
              <a:solidFill>
                <a:srgbClr val="C00000"/>
              </a:solidFill>
            </a:endParaRPr>
          </a:p>
          <a:p>
            <a:pPr lvl="2">
              <a:lnSpc>
                <a:spcPct val="120000"/>
              </a:lnSpc>
            </a:pPr>
            <a:r>
              <a:rPr lang="zh-CN" altLang="en-US" dirty="0"/>
              <a:t>终点不可达：不可达主机、不可达网络，无效端口、协议</a:t>
            </a:r>
            <a:endParaRPr lang="en-US" altLang="zh-CN" dirty="0"/>
          </a:p>
          <a:p>
            <a:pPr lvl="1">
              <a:lnSpc>
                <a:spcPct val="120000"/>
              </a:lnSpc>
            </a:pPr>
            <a:r>
              <a:rPr lang="en-US" altLang="zh-CN" sz="2200" dirty="0">
                <a:solidFill>
                  <a:srgbClr val="C00000"/>
                </a:solidFill>
              </a:rPr>
              <a:t>ICMP </a:t>
            </a:r>
            <a:r>
              <a:rPr lang="zh-CN" altLang="en-US" sz="2200" dirty="0">
                <a:solidFill>
                  <a:srgbClr val="C00000"/>
                </a:solidFill>
              </a:rPr>
              <a:t>询问报文</a:t>
            </a:r>
            <a:endParaRPr lang="en-US" altLang="zh-CN" sz="2200" dirty="0">
              <a:solidFill>
                <a:srgbClr val="C00000"/>
              </a:solidFill>
            </a:endParaRPr>
          </a:p>
          <a:p>
            <a:pPr lvl="2">
              <a:lnSpc>
                <a:spcPct val="120000"/>
              </a:lnSpc>
            </a:pPr>
            <a:r>
              <a:rPr lang="zh-CN" altLang="en-US" dirty="0"/>
              <a:t>回送请求</a:t>
            </a:r>
            <a:r>
              <a:rPr lang="en-US" altLang="zh-CN" dirty="0"/>
              <a:t>/</a:t>
            </a:r>
            <a:r>
              <a:rPr lang="zh-CN" altLang="en-US" dirty="0"/>
              <a:t>回答</a:t>
            </a:r>
            <a:r>
              <a:rPr lang="en-US" altLang="zh-CN" dirty="0"/>
              <a:t> (ping</a:t>
            </a:r>
            <a:r>
              <a:rPr lang="zh-CN" altLang="en-US" dirty="0"/>
              <a:t>使用</a:t>
            </a:r>
            <a:r>
              <a:rPr lang="en-US" altLang="zh-CN" dirty="0"/>
              <a:t>)</a:t>
            </a:r>
          </a:p>
          <a:p>
            <a:pPr marL="914400" lvl="2" indent="0" eaLnBrk="0" hangingPunct="0">
              <a:lnSpc>
                <a:spcPct val="130000"/>
              </a:lnSpc>
              <a:buClr>
                <a:srgbClr val="0070C0"/>
              </a:buClr>
              <a:buNone/>
            </a:pPr>
            <a:endParaRPr lang="en-US" altLang="zh-CN" sz="2200" dirty="0">
              <a:solidFill>
                <a:srgbClr val="C00000"/>
              </a:solidFill>
              <a:latin typeface="等线" panose="02010600030101010101" pitchFamily="2" charset="-122"/>
              <a:ea typeface="等线" panose="02010600030101010101" pitchFamily="2" charset="-122"/>
            </a:endParaRPr>
          </a:p>
          <a:p>
            <a:pPr lvl="2" eaLnBrk="0" hangingPunct="0">
              <a:lnSpc>
                <a:spcPct val="130000"/>
              </a:lnSpc>
              <a:buClr>
                <a:srgbClr val="0070C0"/>
              </a:buClr>
            </a:pPr>
            <a:endParaRPr lang="en-US" altLang="zh-CN" sz="2200" dirty="0">
              <a:solidFill>
                <a:srgbClr val="C00000"/>
              </a:solidFill>
              <a:latin typeface="等线" panose="02010600030101010101" pitchFamily="2" charset="-122"/>
              <a:ea typeface="等线" panose="02010600030101010101" pitchFamily="2" charset="-122"/>
            </a:endParaRPr>
          </a:p>
          <a:p>
            <a:pPr marL="914400" lvl="2" indent="0" eaLnBrk="0" hangingPunct="0">
              <a:lnSpc>
                <a:spcPct val="130000"/>
              </a:lnSpc>
              <a:buClr>
                <a:srgbClr val="0070C0"/>
              </a:buClr>
              <a:buNone/>
            </a:pPr>
            <a:endParaRPr lang="en-US" altLang="zh-CN" dirty="0">
              <a:latin typeface="等线" panose="02010600030101010101" pitchFamily="2" charset="-122"/>
              <a:ea typeface="等线" panose="02010600030101010101" pitchFamily="2" charset="-122"/>
            </a:endParaRPr>
          </a:p>
          <a:p>
            <a:pPr lvl="1" eaLnBrk="0" hangingPunct="0">
              <a:lnSpc>
                <a:spcPct val="130000"/>
              </a:lnSpc>
              <a:buClr>
                <a:srgbClr val="0070C0"/>
              </a:buClr>
              <a:buFont typeface="Wingdings" pitchFamily="2" charset="2"/>
              <a:buChar char="Ø"/>
            </a:pPr>
            <a:endParaRPr lang="en-US" altLang="zh-CN" sz="2800" dirty="0">
              <a:latin typeface="等线" panose="02010600030101010101" pitchFamily="2" charset="-122"/>
              <a:ea typeface="等线" panose="02010600030101010101" pitchFamily="2" charset="-122"/>
            </a:endParaRPr>
          </a:p>
          <a:p>
            <a:pPr lvl="1" eaLnBrk="0" hangingPunct="0">
              <a:lnSpc>
                <a:spcPct val="130000"/>
              </a:lnSpc>
              <a:buClr>
                <a:srgbClr val="0070C0"/>
              </a:buClr>
              <a:buFont typeface="Wingdings" pitchFamily="2" charset="2"/>
              <a:buChar char="Ø"/>
            </a:pPr>
            <a:endParaRPr lang="zh-CN" altLang="en-US" sz="2800" dirty="0">
              <a:latin typeface="等线" panose="02010600030101010101" pitchFamily="2" charset="-122"/>
              <a:ea typeface="等线" panose="02010600030101010101" pitchFamily="2" charset="-122"/>
            </a:endParaRPr>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48</a:t>
            </a:fld>
            <a:endParaRPr kumimoji="1" lang="zh-CN" altLang="en-US" dirty="0"/>
          </a:p>
        </p:txBody>
      </p:sp>
      <p:sp>
        <p:nvSpPr>
          <p:cNvPr id="5" name="日期占位符 4"/>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5.2.6 Internet</a:t>
            </a:r>
            <a:r>
              <a:rPr kumimoji="1" lang="zh-CN" altLang="en-US" dirty="0">
                <a:latin typeface="DengXian" panose="02010600030101010101" pitchFamily="2" charset="-122"/>
                <a:ea typeface="DengXian" panose="02010600030101010101" pitchFamily="2" charset="-122"/>
              </a:rPr>
              <a:t>控制报文协议</a:t>
            </a:r>
          </a:p>
        </p:txBody>
      </p:sp>
    </p:spTree>
    <p:extLst>
      <p:ext uri="{BB962C8B-B14F-4D97-AF65-F5344CB8AC3E}">
        <p14:creationId xmlns:p14="http://schemas.microsoft.com/office/powerpoint/2010/main" val="36623568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8D4D1E41-7A09-AB4A-A4E1-09765ADA2698}" type="slidenum">
              <a:rPr kumimoji="1" lang="zh-CN" altLang="en-US" smtClean="0"/>
              <a:t>49</a:t>
            </a:fld>
            <a:endParaRPr kumimoji="1" lang="zh-CN" altLang="en-US" dirty="0"/>
          </a:p>
        </p:txBody>
      </p:sp>
      <p:grpSp>
        <p:nvGrpSpPr>
          <p:cNvPr id="5" name="组合 4"/>
          <p:cNvGrpSpPr/>
          <p:nvPr/>
        </p:nvGrpSpPr>
        <p:grpSpPr>
          <a:xfrm>
            <a:off x="2163440" y="1306133"/>
            <a:ext cx="7922890" cy="4060219"/>
            <a:chOff x="3046627" y="1659155"/>
            <a:chExt cx="6966690" cy="4060219"/>
          </a:xfrm>
        </p:grpSpPr>
        <p:sp>
          <p:nvSpPr>
            <p:cNvPr id="9" name="AutoShape 31"/>
            <p:cNvSpPr>
              <a:spLocks noChangeArrowheads="1"/>
            </p:cNvSpPr>
            <p:nvPr/>
          </p:nvSpPr>
          <p:spPr bwMode="auto">
            <a:xfrm rot="5400000">
              <a:off x="3160823" y="4798117"/>
              <a:ext cx="302127" cy="530520"/>
            </a:xfrm>
            <a:prstGeom prst="downArrow">
              <a:avLst>
                <a:gd name="adj1" fmla="val 47222"/>
                <a:gd name="adj2" fmla="val 83745"/>
              </a:avLst>
            </a:prstGeom>
            <a:solidFill>
              <a:srgbClr val="00FFFF"/>
            </a:solidFill>
            <a:ln w="9525">
              <a:solidFill>
                <a:schemeClr val="tx1"/>
              </a:solidFill>
              <a:miter lim="800000"/>
              <a:headEnd/>
              <a:tailEnd/>
            </a:ln>
            <a:effectLst/>
          </p:spPr>
          <p:txBody>
            <a:bodyPr vert="eaVert"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10" name="Rectangle 2"/>
            <p:cNvSpPr>
              <a:spLocks noChangeArrowheads="1"/>
            </p:cNvSpPr>
            <p:nvPr/>
          </p:nvSpPr>
          <p:spPr bwMode="auto">
            <a:xfrm>
              <a:off x="3546574" y="4877454"/>
              <a:ext cx="4812447" cy="408369"/>
            </a:xfrm>
            <a:prstGeom prst="rect">
              <a:avLst/>
            </a:prstGeom>
            <a:solidFill>
              <a:srgbClr val="0000FF"/>
            </a:solidFill>
            <a:ln>
              <a:headEnd/>
              <a:tailEnd/>
            </a:ln>
          </p:spPr>
          <p:style>
            <a:lnRef idx="2">
              <a:schemeClr val="dk1"/>
            </a:lnRef>
            <a:fillRef idx="1">
              <a:schemeClr val="lt1"/>
            </a:fillRef>
            <a:effectRef idx="0">
              <a:schemeClr val="dk1"/>
            </a:effectRef>
            <a:fontRef idx="minor">
              <a:schemeClr val="dk1"/>
            </a:fontRef>
          </p:style>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11" name="Rectangle 4"/>
            <p:cNvSpPr>
              <a:spLocks noChangeArrowheads="1"/>
            </p:cNvSpPr>
            <p:nvPr/>
          </p:nvSpPr>
          <p:spPr bwMode="auto">
            <a:xfrm>
              <a:off x="4859387" y="4902354"/>
              <a:ext cx="3478053" cy="383468"/>
            </a:xfrm>
            <a:prstGeom prst="rect">
              <a:avLst/>
            </a:prstGeom>
            <a:solidFill>
              <a:srgbClr val="99FFCC"/>
            </a:solidFill>
            <a:ln>
              <a:noFill/>
            </a:ln>
            <a:effectLst/>
          </p:spPr>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12" name="Freeform 5"/>
            <p:cNvSpPr>
              <a:spLocks/>
            </p:cNvSpPr>
            <p:nvPr/>
          </p:nvSpPr>
          <p:spPr bwMode="auto">
            <a:xfrm>
              <a:off x="3573550" y="3600886"/>
              <a:ext cx="6359047" cy="489711"/>
            </a:xfrm>
            <a:custGeom>
              <a:avLst/>
              <a:gdLst>
                <a:gd name="T0" fmla="*/ 0 w 2790"/>
                <a:gd name="T1" fmla="*/ 6 h 279"/>
                <a:gd name="T2" fmla="*/ 561 w 2790"/>
                <a:gd name="T3" fmla="*/ 279 h 279"/>
                <a:gd name="T4" fmla="*/ 2100 w 2790"/>
                <a:gd name="T5" fmla="*/ 276 h 279"/>
                <a:gd name="T6" fmla="*/ 2790 w 2790"/>
                <a:gd name="T7" fmla="*/ 0 h 279"/>
                <a:gd name="T8" fmla="*/ 0 w 2790"/>
                <a:gd name="T9" fmla="*/ 6 h 279"/>
              </a:gdLst>
              <a:ahLst/>
              <a:cxnLst>
                <a:cxn ang="0">
                  <a:pos x="T0" y="T1"/>
                </a:cxn>
                <a:cxn ang="0">
                  <a:pos x="T2" y="T3"/>
                </a:cxn>
                <a:cxn ang="0">
                  <a:pos x="T4" y="T5"/>
                </a:cxn>
                <a:cxn ang="0">
                  <a:pos x="T6" y="T7"/>
                </a:cxn>
                <a:cxn ang="0">
                  <a:pos x="T8" y="T9"/>
                </a:cxn>
              </a:cxnLst>
              <a:rect l="0" t="0" r="r" b="b"/>
              <a:pathLst>
                <a:path w="2790" h="279">
                  <a:moveTo>
                    <a:pt x="0" y="6"/>
                  </a:moveTo>
                  <a:lnTo>
                    <a:pt x="561" y="279"/>
                  </a:lnTo>
                  <a:lnTo>
                    <a:pt x="2100" y="276"/>
                  </a:lnTo>
                  <a:lnTo>
                    <a:pt x="2790" y="0"/>
                  </a:lnTo>
                  <a:lnTo>
                    <a:pt x="0" y="6"/>
                  </a:lnTo>
                  <a:close/>
                </a:path>
              </a:pathLst>
            </a:custGeom>
            <a:gradFill flip="none" rotWithShape="1">
              <a:gsLst>
                <a:gs pos="0">
                  <a:srgbClr val="00B0F0"/>
                </a:gs>
                <a:gs pos="100000">
                  <a:srgbClr val="99FFCC"/>
                </a:gs>
              </a:gsLst>
              <a:lin ang="16200000" scaled="1"/>
              <a:tileRect/>
            </a:gradFill>
            <a:ln>
              <a:noFill/>
            </a:ln>
            <a:effectLst/>
          </p:spPr>
          <p:txBody>
            <a:bodyPr lIns="121917" tIns="60958" rIns="121917" bIns="60958"/>
            <a:lstStyle/>
            <a:p>
              <a:pPr algn="ctr"/>
              <a:endParaRPr lang="zh-CN" altLang="en-US" sz="1900" b="1" dirty="0">
                <a:latin typeface="等线" panose="02010600030101010101" pitchFamily="2" charset="-122"/>
                <a:ea typeface="等线" panose="02010600030101010101" pitchFamily="2" charset="-122"/>
              </a:endParaRPr>
            </a:p>
          </p:txBody>
        </p:sp>
        <p:sp>
          <p:nvSpPr>
            <p:cNvPr id="13" name="Line 6"/>
            <p:cNvSpPr>
              <a:spLocks noChangeShapeType="1"/>
            </p:cNvSpPr>
            <p:nvPr/>
          </p:nvSpPr>
          <p:spPr bwMode="auto">
            <a:xfrm>
              <a:off x="3546574" y="5529848"/>
              <a:ext cx="4812447" cy="0"/>
            </a:xfrm>
            <a:prstGeom prst="line">
              <a:avLst/>
            </a:prstGeom>
            <a:noFill/>
            <a:ln w="28575">
              <a:solidFill>
                <a:srgbClr val="0000FF"/>
              </a:solidFill>
              <a:round/>
              <a:headEnd type="triangle" w="sm" len="med"/>
              <a:tailEnd type="triangle" w="sm"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endParaRPr lang="zh-CN" altLang="en-US" sz="1900" dirty="0">
                <a:latin typeface="等线" panose="02010600030101010101" pitchFamily="2" charset="-122"/>
                <a:ea typeface="等线" panose="02010600030101010101" pitchFamily="2" charset="-122"/>
              </a:endParaRPr>
            </a:p>
          </p:txBody>
        </p:sp>
        <p:sp>
          <p:nvSpPr>
            <p:cNvPr id="14" name="Text Box 7"/>
            <p:cNvSpPr txBox="1">
              <a:spLocks noChangeArrowheads="1"/>
            </p:cNvSpPr>
            <p:nvPr/>
          </p:nvSpPr>
          <p:spPr bwMode="auto">
            <a:xfrm>
              <a:off x="3844049" y="4874134"/>
              <a:ext cx="763401" cy="415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algn="ctr"/>
              <a:r>
                <a:rPr kumimoji="1" lang="zh-CN" altLang="en-US" sz="1900" dirty="0">
                  <a:solidFill>
                    <a:schemeClr val="bg1"/>
                  </a:solidFill>
                  <a:latin typeface="等线" panose="02010600030101010101" pitchFamily="2" charset="-122"/>
                  <a:ea typeface="等线" panose="02010600030101010101" pitchFamily="2" charset="-122"/>
                </a:rPr>
                <a:t>首  部</a:t>
              </a:r>
            </a:p>
          </p:txBody>
        </p:sp>
        <p:sp>
          <p:nvSpPr>
            <p:cNvPr id="15" name="Rectangle 8"/>
            <p:cNvSpPr>
              <a:spLocks noChangeArrowheads="1"/>
            </p:cNvSpPr>
            <p:nvPr/>
          </p:nvSpPr>
          <p:spPr bwMode="auto">
            <a:xfrm>
              <a:off x="4859387" y="4065695"/>
              <a:ext cx="3499635" cy="410028"/>
            </a:xfrm>
            <a:prstGeom prst="rect">
              <a:avLst/>
            </a:prstGeom>
            <a:solidFill>
              <a:srgbClr val="99FFCC"/>
            </a:solidFill>
            <a:ln w="9525">
              <a:solidFill>
                <a:schemeClr val="tx1"/>
              </a:solidFill>
              <a:miter lim="800000"/>
              <a:headEnd/>
              <a:tailEnd/>
            </a:ln>
            <a:effectLst/>
          </p:spPr>
          <p:txBody>
            <a:bodyPr wrap="none" lIns="121917" tIns="60958" rIns="121917" bIns="60958" anchor="ctr"/>
            <a:lstStyle/>
            <a:p>
              <a:pPr algn="ctr"/>
              <a:r>
                <a:rPr kumimoji="1" lang="en-US" altLang="zh-CN" sz="1900" dirty="0">
                  <a:latin typeface="等线" panose="02010600030101010101" pitchFamily="2" charset="-122"/>
                  <a:ea typeface="等线" panose="02010600030101010101" pitchFamily="2" charset="-122"/>
                </a:rPr>
                <a:t>ICMP </a:t>
              </a:r>
              <a:r>
                <a:rPr kumimoji="1" lang="zh-CN" altLang="en-US" sz="1900" dirty="0">
                  <a:latin typeface="等线" panose="02010600030101010101" pitchFamily="2" charset="-122"/>
                  <a:ea typeface="等线" panose="02010600030101010101" pitchFamily="2" charset="-122"/>
                </a:rPr>
                <a:t>报文</a:t>
              </a:r>
            </a:p>
          </p:txBody>
        </p:sp>
        <p:sp>
          <p:nvSpPr>
            <p:cNvPr id="16" name="Text Box 9"/>
            <p:cNvSpPr txBox="1">
              <a:spLocks noChangeArrowheads="1"/>
            </p:cNvSpPr>
            <p:nvPr/>
          </p:nvSpPr>
          <p:spPr bwMode="auto">
            <a:xfrm>
              <a:off x="3410980" y="1659155"/>
              <a:ext cx="316577"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algn="ctr"/>
              <a:r>
                <a:rPr kumimoji="1" lang="en-US" altLang="zh-CN" sz="1600" b="1" dirty="0">
                  <a:solidFill>
                    <a:srgbClr val="0000FF"/>
                  </a:solidFill>
                  <a:latin typeface="等线" panose="02010600030101010101" pitchFamily="2" charset="-122"/>
                  <a:ea typeface="等线" panose="02010600030101010101" pitchFamily="2" charset="-122"/>
                </a:rPr>
                <a:t>0</a:t>
              </a:r>
            </a:p>
          </p:txBody>
        </p:sp>
        <p:sp>
          <p:nvSpPr>
            <p:cNvPr id="17" name="Line 10"/>
            <p:cNvSpPr>
              <a:spLocks noChangeShapeType="1"/>
            </p:cNvSpPr>
            <p:nvPr/>
          </p:nvSpPr>
          <p:spPr bwMode="auto">
            <a:xfrm>
              <a:off x="4859387" y="4877454"/>
              <a:ext cx="0" cy="4083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18" name="Text Box 11"/>
            <p:cNvSpPr txBox="1">
              <a:spLocks noChangeArrowheads="1"/>
            </p:cNvSpPr>
            <p:nvPr/>
          </p:nvSpPr>
          <p:spPr bwMode="auto">
            <a:xfrm>
              <a:off x="5973825" y="4874134"/>
              <a:ext cx="1428704" cy="415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algn="ctr"/>
              <a:r>
                <a:rPr kumimoji="1" lang="zh-CN" altLang="en-US" sz="1900" dirty="0">
                  <a:latin typeface="等线" panose="02010600030101010101" pitchFamily="2" charset="-122"/>
                  <a:ea typeface="等线" panose="02010600030101010101" pitchFamily="2" charset="-122"/>
                </a:rPr>
                <a:t>数  据  部  分</a:t>
              </a:r>
            </a:p>
          </p:txBody>
        </p:sp>
        <p:sp>
          <p:nvSpPr>
            <p:cNvPr id="19" name="AutoShape 12"/>
            <p:cNvSpPr>
              <a:spLocks noChangeArrowheads="1"/>
            </p:cNvSpPr>
            <p:nvPr/>
          </p:nvSpPr>
          <p:spPr bwMode="auto">
            <a:xfrm>
              <a:off x="6389801" y="4475725"/>
              <a:ext cx="327304" cy="489711"/>
            </a:xfrm>
            <a:prstGeom prst="downArrow">
              <a:avLst>
                <a:gd name="adj1" fmla="val 47222"/>
                <a:gd name="adj2" fmla="val 83746"/>
              </a:avLst>
            </a:prstGeom>
            <a:solidFill>
              <a:srgbClr val="FF99FF"/>
            </a:solidFill>
            <a:ln w="9525">
              <a:solidFill>
                <a:schemeClr val="tx1"/>
              </a:solidFill>
              <a:miter lim="800000"/>
              <a:headEnd/>
              <a:tailEnd/>
            </a:ln>
            <a:effectLst/>
          </p:spPr>
          <p:txBody>
            <a:bodyPr vert="eaVert"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20" name="Rectangle 13"/>
            <p:cNvSpPr>
              <a:spLocks noChangeArrowheads="1"/>
            </p:cNvSpPr>
            <p:nvPr/>
          </p:nvSpPr>
          <p:spPr bwMode="auto">
            <a:xfrm>
              <a:off x="3546574" y="1997291"/>
              <a:ext cx="6344660" cy="1635136"/>
            </a:xfrm>
            <a:prstGeom prst="rect">
              <a:avLst/>
            </a:prstGeom>
            <a:solidFill>
              <a:srgbClr val="99FFCC"/>
            </a:solidFill>
            <a:ln w="9525">
              <a:solidFill>
                <a:schemeClr val="tx1"/>
              </a:solidFill>
              <a:miter lim="800000"/>
              <a:headEnd/>
              <a:tailEnd/>
            </a:ln>
            <a:effectLst/>
          </p:spPr>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21" name="Line 14"/>
            <p:cNvSpPr>
              <a:spLocks noChangeShapeType="1"/>
            </p:cNvSpPr>
            <p:nvPr/>
          </p:nvSpPr>
          <p:spPr bwMode="auto">
            <a:xfrm rot="5400000" flipV="1">
              <a:off x="6718904" y="-798213"/>
              <a:ext cx="0" cy="63446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22" name="Line 15"/>
            <p:cNvSpPr>
              <a:spLocks noChangeShapeType="1"/>
            </p:cNvSpPr>
            <p:nvPr/>
          </p:nvSpPr>
          <p:spPr bwMode="auto">
            <a:xfrm flipV="1">
              <a:off x="5130940" y="1965750"/>
              <a:ext cx="0" cy="4083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23" name="Line 16"/>
            <p:cNvSpPr>
              <a:spLocks noChangeShapeType="1"/>
            </p:cNvSpPr>
            <p:nvPr/>
          </p:nvSpPr>
          <p:spPr bwMode="auto">
            <a:xfrm flipV="1">
              <a:off x="6717104" y="1965750"/>
              <a:ext cx="0" cy="4083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24" name="Line 17"/>
            <p:cNvSpPr>
              <a:spLocks noChangeShapeType="1"/>
            </p:cNvSpPr>
            <p:nvPr/>
          </p:nvSpPr>
          <p:spPr bwMode="auto">
            <a:xfrm flipV="1">
              <a:off x="6717104" y="1965750"/>
              <a:ext cx="0" cy="40836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25" name="Text Box 21"/>
            <p:cNvSpPr txBox="1">
              <a:spLocks noChangeArrowheads="1"/>
            </p:cNvSpPr>
            <p:nvPr/>
          </p:nvSpPr>
          <p:spPr bwMode="auto">
            <a:xfrm>
              <a:off x="4761266" y="2399430"/>
              <a:ext cx="4139247" cy="415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algn="ctr"/>
              <a:r>
                <a:rPr kumimoji="1" lang="zh-CN" altLang="en-US" sz="1900" dirty="0">
                  <a:latin typeface="等线" panose="02010600030101010101" pitchFamily="2" charset="-122"/>
                  <a:ea typeface="等线" panose="02010600030101010101" pitchFamily="2" charset="-122"/>
                </a:rPr>
                <a:t>（这 </a:t>
              </a:r>
              <a:r>
                <a:rPr kumimoji="1" lang="en-US" altLang="zh-CN" sz="1900" dirty="0">
                  <a:latin typeface="等线" panose="02010600030101010101" pitchFamily="2" charset="-122"/>
                  <a:ea typeface="等线" panose="02010600030101010101" pitchFamily="2" charset="-122"/>
                </a:rPr>
                <a:t>4 </a:t>
              </a:r>
              <a:r>
                <a:rPr kumimoji="1" lang="zh-CN" altLang="en-US" sz="1900" dirty="0">
                  <a:latin typeface="等线" panose="02010600030101010101" pitchFamily="2" charset="-122"/>
                  <a:ea typeface="等线" panose="02010600030101010101" pitchFamily="2" charset="-122"/>
                </a:rPr>
                <a:t>个字节取决于 </a:t>
              </a:r>
              <a:r>
                <a:rPr kumimoji="1" lang="en-US" altLang="zh-CN" sz="1900" dirty="0">
                  <a:latin typeface="等线" panose="02010600030101010101" pitchFamily="2" charset="-122"/>
                  <a:ea typeface="等线" panose="02010600030101010101" pitchFamily="2" charset="-122"/>
                </a:rPr>
                <a:t>ICMP </a:t>
              </a:r>
              <a:r>
                <a:rPr kumimoji="1" lang="zh-CN" altLang="en-US" sz="1900" dirty="0">
                  <a:latin typeface="等线" panose="02010600030101010101" pitchFamily="2" charset="-122"/>
                  <a:ea typeface="等线" panose="02010600030101010101" pitchFamily="2" charset="-122"/>
                </a:rPr>
                <a:t>报文的类型）</a:t>
              </a:r>
            </a:p>
          </p:txBody>
        </p:sp>
        <p:sp>
          <p:nvSpPr>
            <p:cNvPr id="26" name="Text Box 22"/>
            <p:cNvSpPr txBox="1">
              <a:spLocks noChangeArrowheads="1"/>
            </p:cNvSpPr>
            <p:nvPr/>
          </p:nvSpPr>
          <p:spPr bwMode="auto">
            <a:xfrm>
              <a:off x="4975567" y="1659155"/>
              <a:ext cx="316577"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algn="ctr"/>
              <a:r>
                <a:rPr kumimoji="1" lang="en-US" altLang="zh-CN" sz="1600" b="1" dirty="0">
                  <a:solidFill>
                    <a:srgbClr val="0000FF"/>
                  </a:solidFill>
                  <a:latin typeface="等线" panose="02010600030101010101" pitchFamily="2" charset="-122"/>
                  <a:ea typeface="等线" panose="02010600030101010101" pitchFamily="2" charset="-122"/>
                </a:rPr>
                <a:t>8</a:t>
              </a:r>
            </a:p>
          </p:txBody>
        </p:sp>
        <p:sp>
          <p:nvSpPr>
            <p:cNvPr id="27" name="Text Box 23"/>
            <p:cNvSpPr txBox="1">
              <a:spLocks noChangeArrowheads="1"/>
            </p:cNvSpPr>
            <p:nvPr/>
          </p:nvSpPr>
          <p:spPr bwMode="auto">
            <a:xfrm>
              <a:off x="6536563" y="1659155"/>
              <a:ext cx="416655"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algn="ctr"/>
              <a:r>
                <a:rPr kumimoji="1" lang="en-US" altLang="zh-CN" sz="1600" b="1" dirty="0">
                  <a:solidFill>
                    <a:srgbClr val="0000FF"/>
                  </a:solidFill>
                  <a:latin typeface="等线" panose="02010600030101010101" pitchFamily="2" charset="-122"/>
                  <a:ea typeface="等线" panose="02010600030101010101" pitchFamily="2" charset="-122"/>
                </a:rPr>
                <a:t>16</a:t>
              </a:r>
            </a:p>
          </p:txBody>
        </p:sp>
        <p:sp>
          <p:nvSpPr>
            <p:cNvPr id="28" name="Rectangle 24"/>
            <p:cNvSpPr>
              <a:spLocks noChangeArrowheads="1"/>
            </p:cNvSpPr>
            <p:nvPr/>
          </p:nvSpPr>
          <p:spPr bwMode="auto">
            <a:xfrm>
              <a:off x="5166909" y="5367165"/>
              <a:ext cx="1442295" cy="298807"/>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29" name="Text Box 25"/>
            <p:cNvSpPr txBox="1">
              <a:spLocks noChangeArrowheads="1"/>
            </p:cNvSpPr>
            <p:nvPr/>
          </p:nvSpPr>
          <p:spPr bwMode="auto">
            <a:xfrm>
              <a:off x="9596662" y="1659155"/>
              <a:ext cx="416655" cy="369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algn="ctr"/>
              <a:r>
                <a:rPr kumimoji="1" lang="en-US" altLang="zh-CN" sz="1600" b="1" dirty="0">
                  <a:solidFill>
                    <a:srgbClr val="0000FF"/>
                  </a:solidFill>
                  <a:latin typeface="等线" panose="02010600030101010101" pitchFamily="2" charset="-122"/>
                  <a:ea typeface="等线" panose="02010600030101010101" pitchFamily="2" charset="-122"/>
                </a:rPr>
                <a:t>31</a:t>
              </a:r>
            </a:p>
          </p:txBody>
        </p:sp>
        <p:sp>
          <p:nvSpPr>
            <p:cNvPr id="30" name="Text Box 26"/>
            <p:cNvSpPr txBox="1">
              <a:spLocks noChangeArrowheads="1"/>
            </p:cNvSpPr>
            <p:nvPr/>
          </p:nvSpPr>
          <p:spPr bwMode="auto">
            <a:xfrm>
              <a:off x="5370887" y="5303880"/>
              <a:ext cx="1090414" cy="415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algn="ctr"/>
              <a:r>
                <a:rPr kumimoji="1" lang="en-US" altLang="zh-CN" sz="1900" dirty="0">
                  <a:solidFill>
                    <a:srgbClr val="C00000"/>
                  </a:solidFill>
                  <a:latin typeface="等线" panose="02010600030101010101" pitchFamily="2" charset="-122"/>
                  <a:ea typeface="等线" panose="02010600030101010101" pitchFamily="2" charset="-122"/>
                </a:rPr>
                <a:t>IP </a:t>
              </a:r>
              <a:r>
                <a:rPr kumimoji="1" lang="zh-CN" altLang="en-US" sz="1900" dirty="0">
                  <a:solidFill>
                    <a:srgbClr val="C00000"/>
                  </a:solidFill>
                  <a:latin typeface="等线" panose="02010600030101010101" pitchFamily="2" charset="-122"/>
                  <a:ea typeface="等线" panose="02010600030101010101" pitchFamily="2" charset="-122"/>
                </a:rPr>
                <a:t>数据包</a:t>
              </a:r>
            </a:p>
          </p:txBody>
        </p:sp>
        <p:sp>
          <p:nvSpPr>
            <p:cNvPr id="31" name="Line 27"/>
            <p:cNvSpPr>
              <a:spLocks noChangeShapeType="1"/>
            </p:cNvSpPr>
            <p:nvPr/>
          </p:nvSpPr>
          <p:spPr bwMode="auto">
            <a:xfrm rot="16200000">
              <a:off x="6718904" y="-388182"/>
              <a:ext cx="0" cy="63446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nchor="ctr"/>
            <a:lstStyle/>
            <a:p>
              <a:pPr algn="ctr"/>
              <a:endParaRPr lang="zh-CN" altLang="en-US" sz="1900" b="1" dirty="0">
                <a:latin typeface="等线" panose="02010600030101010101" pitchFamily="2" charset="-122"/>
                <a:ea typeface="等线" panose="02010600030101010101" pitchFamily="2" charset="-122"/>
              </a:endParaRPr>
            </a:p>
          </p:txBody>
        </p:sp>
        <p:sp>
          <p:nvSpPr>
            <p:cNvPr id="32" name="Text Box 29"/>
            <p:cNvSpPr txBox="1">
              <a:spLocks noChangeArrowheads="1"/>
            </p:cNvSpPr>
            <p:nvPr/>
          </p:nvSpPr>
          <p:spPr bwMode="auto">
            <a:xfrm>
              <a:off x="5028968" y="2991653"/>
              <a:ext cx="3765720" cy="4154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21917" tIns="60958" rIns="121917" bIns="60958">
              <a:spAutoFit/>
            </a:bodyPr>
            <a:lstStyle/>
            <a:p>
              <a:pPr algn="ctr"/>
              <a:r>
                <a:rPr kumimoji="1" lang="en-US" altLang="zh-CN" sz="1900" dirty="0">
                  <a:latin typeface="等线" panose="02010600030101010101" pitchFamily="2" charset="-122"/>
                  <a:ea typeface="等线" panose="02010600030101010101" pitchFamily="2" charset="-122"/>
                </a:rPr>
                <a:t>ICMP </a:t>
              </a:r>
              <a:r>
                <a:rPr kumimoji="1" lang="zh-CN" altLang="en-US" sz="1900" dirty="0">
                  <a:latin typeface="等线" panose="02010600030101010101" pitchFamily="2" charset="-122"/>
                  <a:ea typeface="等线" panose="02010600030101010101" pitchFamily="2" charset="-122"/>
                </a:rPr>
                <a:t>的数据部分（长度取决于类型）</a:t>
              </a:r>
            </a:p>
          </p:txBody>
        </p:sp>
        <p:grpSp>
          <p:nvGrpSpPr>
            <p:cNvPr id="33" name="组合 32"/>
            <p:cNvGrpSpPr/>
            <p:nvPr/>
          </p:nvGrpSpPr>
          <p:grpSpPr>
            <a:xfrm>
              <a:off x="4043521" y="1984425"/>
              <a:ext cx="4697725" cy="384721"/>
              <a:chOff x="3032641" y="1488315"/>
              <a:chExt cx="3523294" cy="288540"/>
            </a:xfrm>
          </p:grpSpPr>
          <p:sp>
            <p:nvSpPr>
              <p:cNvPr id="34" name="Text Box 18"/>
              <p:cNvSpPr txBox="1">
                <a:spLocks noChangeArrowheads="1"/>
              </p:cNvSpPr>
              <p:nvPr/>
            </p:nvSpPr>
            <p:spPr bwMode="auto">
              <a:xfrm>
                <a:off x="5952088" y="1488315"/>
                <a:ext cx="603847" cy="288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900" dirty="0">
                    <a:latin typeface="等线" panose="02010600030101010101" pitchFamily="2" charset="-122"/>
                    <a:ea typeface="等线" panose="02010600030101010101" pitchFamily="2" charset="-122"/>
                  </a:rPr>
                  <a:t>检验和</a:t>
                </a:r>
              </a:p>
            </p:txBody>
          </p:sp>
          <p:sp>
            <p:nvSpPr>
              <p:cNvPr id="35" name="Text Box 19"/>
              <p:cNvSpPr txBox="1">
                <a:spLocks noChangeArrowheads="1"/>
              </p:cNvSpPr>
              <p:nvPr/>
            </p:nvSpPr>
            <p:spPr bwMode="auto">
              <a:xfrm>
                <a:off x="3032641" y="1488315"/>
                <a:ext cx="443159" cy="288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900" dirty="0">
                    <a:latin typeface="等线" panose="02010600030101010101" pitchFamily="2" charset="-122"/>
                    <a:ea typeface="等线" panose="02010600030101010101" pitchFamily="2" charset="-122"/>
                  </a:rPr>
                  <a:t>类型</a:t>
                </a:r>
              </a:p>
            </p:txBody>
          </p:sp>
          <p:sp>
            <p:nvSpPr>
              <p:cNvPr id="36" name="Text Box 20"/>
              <p:cNvSpPr txBox="1">
                <a:spLocks noChangeArrowheads="1"/>
              </p:cNvSpPr>
              <p:nvPr/>
            </p:nvSpPr>
            <p:spPr bwMode="auto">
              <a:xfrm>
                <a:off x="4289704" y="1488315"/>
                <a:ext cx="443159" cy="288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kumimoji="1" lang="zh-CN" altLang="en-US" sz="1900" dirty="0">
                    <a:latin typeface="等线" panose="02010600030101010101" pitchFamily="2" charset="-122"/>
                    <a:ea typeface="等线" panose="02010600030101010101" pitchFamily="2" charset="-122"/>
                  </a:rPr>
                  <a:t>代码</a:t>
                </a:r>
              </a:p>
            </p:txBody>
          </p:sp>
        </p:grpSp>
      </p:grpSp>
      <p:sp>
        <p:nvSpPr>
          <p:cNvPr id="39" name="标题 1"/>
          <p:cNvSpPr txBox="1">
            <a:spLocks/>
          </p:cNvSpPr>
          <p:nvPr/>
        </p:nvSpPr>
        <p:spPr>
          <a:xfrm>
            <a:off x="1294193" y="348193"/>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r>
              <a:rPr lang="en-US" altLang="zh-CN" dirty="0">
                <a:latin typeface="等线" panose="02010600030101010101" pitchFamily="2" charset="-122"/>
                <a:ea typeface="等线" panose="02010600030101010101" pitchFamily="2" charset="-122"/>
              </a:rPr>
              <a:t>ICMP </a:t>
            </a:r>
            <a:r>
              <a:rPr lang="zh-CN" altLang="en-US" dirty="0">
                <a:latin typeface="等线" panose="02010600030101010101" pitchFamily="2" charset="-122"/>
                <a:ea typeface="等线" panose="02010600030101010101" pitchFamily="2" charset="-122"/>
              </a:rPr>
              <a:t>报文格式 </a:t>
            </a:r>
            <a:r>
              <a:rPr lang="zh-CN" altLang="en-US" dirty="0">
                <a:solidFill>
                  <a:schemeClr val="bg1"/>
                </a:solidFill>
                <a:latin typeface="等线" panose="02010600030101010101" pitchFamily="2" charset="-122"/>
                <a:ea typeface="等线" panose="02010600030101010101" pitchFamily="2" charset="-122"/>
              </a:rPr>
              <a:t>格式 </a:t>
            </a:r>
          </a:p>
        </p:txBody>
      </p:sp>
      <p:sp>
        <p:nvSpPr>
          <p:cNvPr id="40" name="内容占位符 2"/>
          <p:cNvSpPr>
            <a:spLocks noGrp="1"/>
          </p:cNvSpPr>
          <p:nvPr>
            <p:ph idx="1"/>
          </p:nvPr>
        </p:nvSpPr>
        <p:spPr>
          <a:xfrm>
            <a:off x="838201" y="5366352"/>
            <a:ext cx="9921948" cy="882048"/>
          </a:xfrm>
        </p:spPr>
        <p:txBody>
          <a:bodyPr>
            <a:normAutofit fontScale="92500" lnSpcReduction="20000"/>
          </a:bodyPr>
          <a:lstStyle/>
          <a:p>
            <a:pPr>
              <a:lnSpc>
                <a:spcPct val="120000"/>
              </a:lnSpc>
            </a:pPr>
            <a:r>
              <a:rPr lang="en-US" altLang="zh-CN" sz="2400" dirty="0">
                <a:latin typeface="等线" panose="02010600030101010101" pitchFamily="2" charset="-122"/>
                <a:ea typeface="等线" panose="02010600030101010101" pitchFamily="2" charset="-122"/>
              </a:rPr>
              <a:t>ICMP</a:t>
            </a:r>
            <a:r>
              <a:rPr lang="zh-CN" altLang="en-US" sz="2400" dirty="0">
                <a:latin typeface="等线" panose="02010600030101010101" pitchFamily="2" charset="-122"/>
                <a:ea typeface="等线" panose="02010600030101010101" pitchFamily="2" charset="-122"/>
              </a:rPr>
              <a:t>报文的前 </a:t>
            </a:r>
            <a:r>
              <a:rPr lang="en-US" altLang="zh-CN" sz="2400" dirty="0">
                <a:latin typeface="等线" panose="02010600030101010101" pitchFamily="2" charset="-122"/>
                <a:ea typeface="等线" panose="02010600030101010101" pitchFamily="2" charset="-122"/>
              </a:rPr>
              <a:t>4 </a:t>
            </a:r>
            <a:r>
              <a:rPr lang="zh-CN" altLang="en-US" sz="2400" dirty="0">
                <a:latin typeface="等线" panose="02010600030101010101" pitchFamily="2" charset="-122"/>
                <a:ea typeface="等线" panose="02010600030101010101" pitchFamily="2" charset="-122"/>
              </a:rPr>
              <a:t>个字节包含格式统一的三个字段：类型、代码、检验和</a:t>
            </a:r>
            <a:endParaRPr lang="en-US" altLang="zh-CN" sz="2400" dirty="0">
              <a:latin typeface="等线" panose="02010600030101010101" pitchFamily="2" charset="-122"/>
              <a:ea typeface="等线" panose="02010600030101010101" pitchFamily="2" charset="-122"/>
            </a:endParaRPr>
          </a:p>
          <a:p>
            <a:pPr>
              <a:lnSpc>
                <a:spcPct val="120000"/>
              </a:lnSpc>
            </a:pPr>
            <a:r>
              <a:rPr lang="zh-CN" altLang="en-US" sz="2400" dirty="0">
                <a:latin typeface="等线" panose="02010600030101010101" pitchFamily="2" charset="-122"/>
                <a:ea typeface="等线" panose="02010600030101010101" pitchFamily="2" charset="-122"/>
              </a:rPr>
              <a:t>相邻的后四个字节内容与</a:t>
            </a:r>
            <a:r>
              <a:rPr lang="en-US" altLang="zh-CN" sz="2400" dirty="0">
                <a:latin typeface="等线" panose="02010600030101010101" pitchFamily="2" charset="-122"/>
                <a:ea typeface="等线" panose="02010600030101010101" pitchFamily="2" charset="-122"/>
              </a:rPr>
              <a:t>ICMP</a:t>
            </a:r>
            <a:r>
              <a:rPr lang="zh-CN" altLang="en-US" sz="2400" dirty="0">
                <a:latin typeface="等线" panose="02010600030101010101" pitchFamily="2" charset="-122"/>
                <a:ea typeface="等线" panose="02010600030101010101" pitchFamily="2" charset="-122"/>
              </a:rPr>
              <a:t>的报文类型有关</a:t>
            </a:r>
            <a:endParaRPr lang="en-US" altLang="zh-CN" dirty="0">
              <a:latin typeface="等线" panose="02010600030101010101" pitchFamily="2" charset="-122"/>
              <a:ea typeface="等线" panose="02010600030101010101" pitchFamily="2" charset="-122"/>
            </a:endParaRPr>
          </a:p>
          <a:p>
            <a:endParaRPr lang="en-US" altLang="zh-CN" dirty="0">
              <a:latin typeface="等线" panose="02010600030101010101" pitchFamily="2" charset="-122"/>
              <a:ea typeface="等线" panose="02010600030101010101" pitchFamily="2" charset="-122"/>
            </a:endParaRPr>
          </a:p>
          <a:p>
            <a:endParaRPr lang="en-US" altLang="zh-CN" dirty="0">
              <a:latin typeface="等线" panose="02010600030101010101" pitchFamily="2" charset="-122"/>
              <a:ea typeface="等线" panose="02010600030101010101" pitchFamily="2" charset="-122"/>
            </a:endParaRPr>
          </a:p>
          <a:p>
            <a:endParaRPr lang="zh-CN" altLang="en-US" dirty="0"/>
          </a:p>
        </p:txBody>
      </p:sp>
      <p:sp>
        <p:nvSpPr>
          <p:cNvPr id="2" name="日期占位符 1"/>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5.2.6 Internet</a:t>
            </a:r>
            <a:r>
              <a:rPr kumimoji="1" lang="zh-CN" altLang="en-US" dirty="0">
                <a:latin typeface="DengXian" panose="02010600030101010101" pitchFamily="2" charset="-122"/>
                <a:ea typeface="DengXian" panose="02010600030101010101" pitchFamily="2" charset="-122"/>
              </a:rPr>
              <a:t>控制报文协议</a:t>
            </a:r>
          </a:p>
        </p:txBody>
      </p:sp>
    </p:spTree>
    <p:extLst>
      <p:ext uri="{BB962C8B-B14F-4D97-AF65-F5344CB8AC3E}">
        <p14:creationId xmlns:p14="http://schemas.microsoft.com/office/powerpoint/2010/main" val="2752379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pPr lvl="1" algn="l" rtl="0">
              <a:lnSpc>
                <a:spcPct val="90000"/>
              </a:lnSpc>
              <a:spcBef>
                <a:spcPct val="0"/>
              </a:spcBef>
            </a:pPr>
            <a:r>
              <a:rPr lang="en-US" altLang="zh-CN" sz="4000" dirty="0">
                <a:latin typeface="等线" panose="02010600030101010101" pitchFamily="2" charset="-122"/>
                <a:ea typeface="等线" panose="02010600030101010101" pitchFamily="2" charset="-122"/>
              </a:rPr>
              <a:t>ICMP</a:t>
            </a:r>
            <a:r>
              <a:rPr lang="zh-CN" altLang="en-US" sz="4000" dirty="0">
                <a:latin typeface="等线" panose="02010600030101010101" pitchFamily="2" charset="-122"/>
                <a:ea typeface="等线" panose="02010600030101010101" pitchFamily="2" charset="-122"/>
              </a:rPr>
              <a:t>报文类型及功能</a:t>
            </a:r>
          </a:p>
        </p:txBody>
      </p:sp>
      <p:graphicFrame>
        <p:nvGraphicFramePr>
          <p:cNvPr id="6" name="内容占位符 5"/>
          <p:cNvGraphicFramePr>
            <a:graphicFrameLocks noGrp="1"/>
          </p:cNvGraphicFramePr>
          <p:nvPr>
            <p:ph idx="1"/>
            <p:extLst>
              <p:ext uri="{D42A27DB-BD31-4B8C-83A1-F6EECF244321}">
                <p14:modId xmlns:p14="http://schemas.microsoft.com/office/powerpoint/2010/main" val="3201853123"/>
              </p:ext>
            </p:extLst>
          </p:nvPr>
        </p:nvGraphicFramePr>
        <p:xfrm>
          <a:off x="2080767" y="2405020"/>
          <a:ext cx="7765361" cy="3277728"/>
        </p:xfrm>
        <a:graphic>
          <a:graphicData uri="http://schemas.openxmlformats.org/drawingml/2006/table">
            <a:tbl>
              <a:tblPr firstRow="1" bandRow="1">
                <a:tableStyleId>{5C22544A-7EE6-4342-B048-85BDC9FD1C3A}</a:tableStyleId>
              </a:tblPr>
              <a:tblGrid>
                <a:gridCol w="1608060">
                  <a:extLst>
                    <a:ext uri="{9D8B030D-6E8A-4147-A177-3AD203B41FA5}">
                      <a16:colId xmlns:a16="http://schemas.microsoft.com/office/drawing/2014/main" val="20000"/>
                    </a:ext>
                  </a:extLst>
                </a:gridCol>
                <a:gridCol w="1599747">
                  <a:extLst>
                    <a:ext uri="{9D8B030D-6E8A-4147-A177-3AD203B41FA5}">
                      <a16:colId xmlns:a16="http://schemas.microsoft.com/office/drawing/2014/main" val="20001"/>
                    </a:ext>
                  </a:extLst>
                </a:gridCol>
                <a:gridCol w="4557554">
                  <a:extLst>
                    <a:ext uri="{9D8B030D-6E8A-4147-A177-3AD203B41FA5}">
                      <a16:colId xmlns:a16="http://schemas.microsoft.com/office/drawing/2014/main" val="20002"/>
                    </a:ext>
                  </a:extLst>
                </a:gridCol>
              </a:tblGrid>
              <a:tr h="429448">
                <a:tc>
                  <a:txBody>
                    <a:bodyPr/>
                    <a:lstStyle/>
                    <a:p>
                      <a:pPr algn="ctr"/>
                      <a:r>
                        <a:rPr lang="en-US" altLang="zh-CN" sz="2000" dirty="0">
                          <a:latin typeface="等线" panose="02010600030101010101" pitchFamily="2" charset="-122"/>
                          <a:ea typeface="等线" panose="02010600030101010101" pitchFamily="2" charset="-122"/>
                        </a:rPr>
                        <a:t>ICMP</a:t>
                      </a:r>
                      <a:r>
                        <a:rPr lang="zh-CN" altLang="en-US" sz="2000" dirty="0">
                          <a:latin typeface="等线" panose="02010600030101010101" pitchFamily="2" charset="-122"/>
                          <a:ea typeface="等线" panose="02010600030101010101" pitchFamily="2" charset="-122"/>
                        </a:rPr>
                        <a:t>报文类型</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000" dirty="0">
                          <a:latin typeface="等线" panose="02010600030101010101" pitchFamily="2" charset="-122"/>
                          <a:ea typeface="等线" panose="02010600030101010101" pitchFamily="2" charset="-122"/>
                        </a:rPr>
                        <a:t>类型值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000" dirty="0">
                          <a:latin typeface="等线" panose="02010600030101010101" pitchFamily="2" charset="-122"/>
                          <a:ea typeface="等线" panose="02010600030101010101" pitchFamily="2" charset="-122"/>
                        </a:rPr>
                        <a:t>功能描述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29448">
                <a:tc rowSpan="4">
                  <a:txBody>
                    <a:bodyPr/>
                    <a:lstStyle/>
                    <a:p>
                      <a:pPr algn="ctr"/>
                      <a:r>
                        <a:rPr lang="zh-CN" altLang="en-US" b="0" dirty="0">
                          <a:latin typeface="等线" panose="02010600030101010101" pitchFamily="2" charset="-122"/>
                          <a:ea typeface="等线" panose="02010600030101010101" pitchFamily="2" charset="-122"/>
                        </a:rPr>
                        <a:t>差错报告报文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等线" panose="02010600030101010101" pitchFamily="2" charset="-122"/>
                          <a:ea typeface="等线" panose="02010600030101010101" pitchFamily="2" charset="-122"/>
                        </a:rPr>
                        <a:t>3</a:t>
                      </a:r>
                      <a:endParaRPr lang="zh-CN" altLang="en-US" dirty="0">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latin typeface="等线" panose="02010600030101010101" pitchFamily="2" charset="-122"/>
                          <a:ea typeface="等线" panose="02010600030101010101" pitchFamily="2" charset="-122"/>
                        </a:rPr>
                        <a:t>终点不可达</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29448">
                <a:tc vMerge="1">
                  <a:txBody>
                    <a:bodyPr/>
                    <a:lstStyle/>
                    <a:p>
                      <a:endParaRPr lang="zh-CN" altLang="en-US"/>
                    </a:p>
                  </a:txBody>
                  <a:tcPr/>
                </a:tc>
                <a:tc>
                  <a:txBody>
                    <a:bodyPr/>
                    <a:lstStyle/>
                    <a:p>
                      <a:pPr algn="ctr"/>
                      <a:r>
                        <a:rPr lang="en-US" altLang="zh-CN" dirty="0">
                          <a:latin typeface="等线" panose="02010600030101010101" pitchFamily="2" charset="-122"/>
                          <a:ea typeface="等线" panose="02010600030101010101" pitchFamily="2" charset="-122"/>
                        </a:rPr>
                        <a:t>5</a:t>
                      </a:r>
                      <a:endParaRPr lang="zh-CN" altLang="en-US" dirty="0">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latin typeface="等线" panose="02010600030101010101" pitchFamily="2" charset="-122"/>
                          <a:ea typeface="等线" panose="02010600030101010101" pitchFamily="2" charset="-122"/>
                        </a:rPr>
                        <a:t>重定向</a:t>
                      </a:r>
                      <a:r>
                        <a:rPr lang="en-US" altLang="zh-CN" dirty="0">
                          <a:latin typeface="等线" panose="02010600030101010101" pitchFamily="2" charset="-122"/>
                          <a:ea typeface="等线" panose="02010600030101010101" pitchFamily="2" charset="-122"/>
                        </a:rPr>
                        <a:t>(Redirect)</a:t>
                      </a:r>
                      <a:endParaRPr lang="zh-CN" altLang="en-US" dirty="0">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29448">
                <a:tc vMerge="1">
                  <a:txBody>
                    <a:bodyPr/>
                    <a:lstStyle/>
                    <a:p>
                      <a:endParaRPr lang="zh-CN" altLang="en-US"/>
                    </a:p>
                  </a:txBody>
                  <a:tcPr/>
                </a:tc>
                <a:tc>
                  <a:txBody>
                    <a:bodyPr/>
                    <a:lstStyle/>
                    <a:p>
                      <a:pPr algn="ctr"/>
                      <a:r>
                        <a:rPr lang="en-US" altLang="zh-CN" dirty="0">
                          <a:latin typeface="等线" panose="02010600030101010101" pitchFamily="2" charset="-122"/>
                          <a:ea typeface="等线" panose="02010600030101010101" pitchFamily="2" charset="-122"/>
                        </a:rPr>
                        <a:t>11</a:t>
                      </a:r>
                      <a:endParaRPr lang="zh-CN" altLang="en-US" dirty="0">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latin typeface="等线" panose="02010600030101010101" pitchFamily="2" charset="-122"/>
                          <a:ea typeface="等线" panose="02010600030101010101" pitchFamily="2" charset="-122"/>
                        </a:rPr>
                        <a:t>时间超时</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29448">
                <a:tc vMerge="1">
                  <a:txBody>
                    <a:bodyPr/>
                    <a:lstStyle/>
                    <a:p>
                      <a:endParaRPr lang="zh-CN" altLang="en-US"/>
                    </a:p>
                  </a:txBody>
                  <a:tcPr/>
                </a:tc>
                <a:tc>
                  <a:txBody>
                    <a:bodyPr/>
                    <a:lstStyle/>
                    <a:p>
                      <a:pPr algn="ctr"/>
                      <a:r>
                        <a:rPr lang="en-US" altLang="zh-CN" dirty="0">
                          <a:latin typeface="等线" panose="02010600030101010101" pitchFamily="2" charset="-122"/>
                          <a:ea typeface="等线" panose="02010600030101010101" pitchFamily="2" charset="-122"/>
                        </a:rPr>
                        <a:t>12</a:t>
                      </a:r>
                      <a:endParaRPr lang="zh-CN" altLang="en-US" dirty="0">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latin typeface="等线" panose="02010600030101010101" pitchFamily="2" charset="-122"/>
                          <a:ea typeface="等线" panose="02010600030101010101" pitchFamily="2" charset="-122"/>
                        </a:rPr>
                        <a:t>参数问题</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29448">
                <a:tc rowSpan="2">
                  <a:txBody>
                    <a:bodyPr/>
                    <a:lstStyle/>
                    <a:p>
                      <a:pPr algn="ctr"/>
                      <a:r>
                        <a:rPr lang="zh-CN" altLang="en-US" b="0" dirty="0">
                          <a:latin typeface="等线" panose="02010600030101010101" pitchFamily="2" charset="-122"/>
                          <a:ea typeface="等线" panose="02010600030101010101" pitchFamily="2" charset="-122"/>
                        </a:rPr>
                        <a:t>询问报文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latin typeface="等线" panose="02010600030101010101" pitchFamily="2" charset="-122"/>
                          <a:ea typeface="等线" panose="02010600030101010101" pitchFamily="2" charset="-122"/>
                        </a:rPr>
                        <a:t>8</a:t>
                      </a:r>
                      <a:r>
                        <a:rPr lang="zh-CN" altLang="en-US" dirty="0">
                          <a:latin typeface="等线" panose="02010600030101010101" pitchFamily="2" charset="-122"/>
                          <a:ea typeface="等线" panose="02010600030101010101" pitchFamily="2" charset="-122"/>
                        </a:rPr>
                        <a:t>或</a:t>
                      </a:r>
                      <a:r>
                        <a:rPr lang="en-US" altLang="zh-CN" dirty="0">
                          <a:latin typeface="等线" panose="02010600030101010101" pitchFamily="2" charset="-122"/>
                          <a:ea typeface="等线" panose="02010600030101010101" pitchFamily="2" charset="-122"/>
                        </a:rPr>
                        <a:t>0</a:t>
                      </a:r>
                      <a:endParaRPr lang="zh-CN" altLang="en-US" dirty="0">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latin typeface="等线" panose="02010600030101010101" pitchFamily="2" charset="-122"/>
                          <a:ea typeface="等线" panose="02010600030101010101" pitchFamily="2" charset="-122"/>
                        </a:rPr>
                        <a:t>回送</a:t>
                      </a:r>
                      <a:r>
                        <a:rPr lang="en-US" altLang="zh-CN" dirty="0">
                          <a:latin typeface="等线" panose="02010600030101010101" pitchFamily="2" charset="-122"/>
                          <a:ea typeface="等线" panose="02010600030101010101" pitchFamily="2" charset="-122"/>
                        </a:rPr>
                        <a:t>(Echo)</a:t>
                      </a:r>
                      <a:r>
                        <a:rPr lang="zh-CN" altLang="en-US" dirty="0">
                          <a:latin typeface="等线" panose="02010600030101010101" pitchFamily="2" charset="-122"/>
                          <a:ea typeface="等线" panose="02010600030101010101" pitchFamily="2" charset="-122"/>
                        </a:rPr>
                        <a:t>请求或应答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29448">
                <a:tc vMerge="1">
                  <a:txBody>
                    <a:bodyPr/>
                    <a:lstStyle/>
                    <a:p>
                      <a:endParaRPr lang="zh-CN" altLang="en-US" dirty="0"/>
                    </a:p>
                  </a:txBody>
                  <a:tcPr/>
                </a:tc>
                <a:tc>
                  <a:txBody>
                    <a:bodyPr/>
                    <a:lstStyle/>
                    <a:p>
                      <a:pPr algn="ctr"/>
                      <a:r>
                        <a:rPr lang="en-US" altLang="zh-CN" dirty="0">
                          <a:latin typeface="等线" panose="02010600030101010101" pitchFamily="2" charset="-122"/>
                          <a:ea typeface="等线" panose="02010600030101010101" pitchFamily="2" charset="-122"/>
                        </a:rPr>
                        <a:t>13</a:t>
                      </a:r>
                      <a:r>
                        <a:rPr lang="zh-CN" altLang="en-US" dirty="0">
                          <a:latin typeface="等线" panose="02010600030101010101" pitchFamily="2" charset="-122"/>
                          <a:ea typeface="等线" panose="02010600030101010101" pitchFamily="2" charset="-122"/>
                        </a:rPr>
                        <a:t>或</a:t>
                      </a:r>
                      <a:r>
                        <a:rPr lang="en-US" altLang="zh-CN" dirty="0">
                          <a:latin typeface="等线" panose="02010600030101010101" pitchFamily="2" charset="-122"/>
                          <a:ea typeface="等线" panose="02010600030101010101" pitchFamily="2" charset="-122"/>
                        </a:rPr>
                        <a:t>14</a:t>
                      </a:r>
                      <a:endParaRPr lang="zh-CN" altLang="en-US" dirty="0">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dirty="0">
                          <a:latin typeface="等线" panose="02010600030101010101" pitchFamily="2" charset="-122"/>
                          <a:ea typeface="等线" panose="02010600030101010101" pitchFamily="2" charset="-122"/>
                        </a:rPr>
                        <a:t>时间戳</a:t>
                      </a:r>
                      <a:r>
                        <a:rPr lang="en-US" altLang="zh-CN" dirty="0">
                          <a:latin typeface="等线" panose="02010600030101010101" pitchFamily="2" charset="-122"/>
                          <a:ea typeface="等线" panose="02010600030101010101" pitchFamily="2" charset="-122"/>
                        </a:rPr>
                        <a:t>(Timestamp)</a:t>
                      </a:r>
                      <a:r>
                        <a:rPr lang="zh-CN" altLang="en-US" dirty="0">
                          <a:latin typeface="等线" panose="02010600030101010101" pitchFamily="2" charset="-122"/>
                          <a:ea typeface="等线" panose="02010600030101010101" pitchFamily="2" charset="-122"/>
                        </a:rPr>
                        <a:t>请求或应答</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灯片编号占位符 3"/>
          <p:cNvSpPr>
            <a:spLocks noGrp="1"/>
          </p:cNvSpPr>
          <p:nvPr>
            <p:ph type="sldNum" sz="quarter" idx="12"/>
          </p:nvPr>
        </p:nvSpPr>
        <p:spPr/>
        <p:txBody>
          <a:bodyPr/>
          <a:lstStyle/>
          <a:p>
            <a:fld id="{8D4D1E41-7A09-AB4A-A4E1-09765ADA2698}" type="slidenum">
              <a:rPr kumimoji="1" lang="zh-CN" altLang="en-US" smtClean="0"/>
              <a:t>50</a:t>
            </a:fld>
            <a:endParaRPr kumimoji="1" lang="zh-CN" altLang="en-US" dirty="0"/>
          </a:p>
        </p:txBody>
      </p:sp>
      <p:sp>
        <p:nvSpPr>
          <p:cNvPr id="3" name="日期占位符 2"/>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5.2.6 Internet</a:t>
            </a:r>
            <a:r>
              <a:rPr kumimoji="1" lang="zh-CN" altLang="en-US" dirty="0">
                <a:latin typeface="DengXian" panose="02010600030101010101" pitchFamily="2" charset="-122"/>
                <a:ea typeface="DengXian" panose="02010600030101010101" pitchFamily="2" charset="-122"/>
              </a:rPr>
              <a:t>控制报文协议</a:t>
            </a:r>
          </a:p>
        </p:txBody>
      </p:sp>
    </p:spTree>
    <p:extLst>
      <p:ext uri="{BB962C8B-B14F-4D97-AF65-F5344CB8AC3E}">
        <p14:creationId xmlns:p14="http://schemas.microsoft.com/office/powerpoint/2010/main" val="2069998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defRPr/>
            </a:pPr>
            <a:r>
              <a:rPr lang="en-GB" altLang="zh-CN" kern="0" dirty="0">
                <a:latin typeface="等线" panose="02010600030101010101" pitchFamily="2" charset="-122"/>
                <a:ea typeface="等线" panose="02010600030101010101" pitchFamily="2" charset="-122"/>
              </a:rPr>
              <a:t>Ping</a:t>
            </a:r>
            <a:r>
              <a:rPr lang="zh-CN" altLang="en-US" kern="0" dirty="0">
                <a:latin typeface="等线" panose="02010600030101010101" pitchFamily="2" charset="-122"/>
                <a:ea typeface="等线" panose="02010600030101010101" pitchFamily="2" charset="-122"/>
              </a:rPr>
              <a:t>和</a:t>
            </a:r>
            <a:r>
              <a:rPr lang="en-GB" altLang="zh-CN" kern="0" dirty="0">
                <a:latin typeface="等线" panose="02010600030101010101" pitchFamily="2" charset="-122"/>
                <a:ea typeface="等线" panose="02010600030101010101" pitchFamily="2" charset="-122"/>
              </a:rPr>
              <a:t>ICMP</a:t>
            </a:r>
            <a:endParaRPr lang="en-US" altLang="zh-CN" sz="3200" kern="0" dirty="0">
              <a:latin typeface="等线" panose="02010600030101010101" pitchFamily="2" charset="-122"/>
              <a:ea typeface="等线" panose="02010600030101010101" pitchFamily="2" charset="-122"/>
            </a:endParaRPr>
          </a:p>
        </p:txBody>
      </p:sp>
      <p:sp>
        <p:nvSpPr>
          <p:cNvPr id="3" name="内容占位符 2"/>
          <p:cNvSpPr>
            <a:spLocks noGrp="1"/>
          </p:cNvSpPr>
          <p:nvPr>
            <p:ph idx="1"/>
          </p:nvPr>
        </p:nvSpPr>
        <p:spPr>
          <a:xfrm>
            <a:off x="838200" y="1510758"/>
            <a:ext cx="10515600" cy="4111109"/>
          </a:xfrm>
        </p:spPr>
        <p:txBody>
          <a:bodyPr/>
          <a:lstStyle/>
          <a:p>
            <a:pPr marL="228600" lvl="1">
              <a:lnSpc>
                <a:spcPct val="120000"/>
              </a:lnSpc>
              <a:buFont typeface="Wingdings" pitchFamily="2" charset="2"/>
              <a:buChar char="Ø"/>
            </a:pPr>
            <a:r>
              <a:rPr lang="en-US" altLang="zh-CN" dirty="0">
                <a:latin typeface="等线" panose="02010600030101010101" pitchFamily="2" charset="-122"/>
                <a:ea typeface="等线" panose="02010600030101010101" pitchFamily="2" charset="-122"/>
              </a:rPr>
              <a:t>PING (Packet </a:t>
            </a:r>
            <a:r>
              <a:rPr lang="en-US" altLang="zh-CN" dirty="0" err="1">
                <a:latin typeface="等线" panose="02010600030101010101" pitchFamily="2" charset="-122"/>
                <a:ea typeface="等线" panose="02010600030101010101" pitchFamily="2" charset="-122"/>
              </a:rPr>
              <a:t>InterNet</a:t>
            </a:r>
            <a:r>
              <a:rPr lang="en-US" altLang="zh-CN" dirty="0">
                <a:latin typeface="等线" panose="02010600030101010101" pitchFamily="2" charset="-122"/>
                <a:ea typeface="等线" panose="02010600030101010101" pitchFamily="2" charset="-122"/>
              </a:rPr>
              <a:t> Groper) </a:t>
            </a:r>
          </a:p>
          <a:p>
            <a:pPr lvl="1">
              <a:lnSpc>
                <a:spcPct val="120000"/>
              </a:lnSpc>
            </a:pPr>
            <a:r>
              <a:rPr lang="en-US" altLang="zh-CN" sz="2000" dirty="0">
                <a:solidFill>
                  <a:srgbClr val="C00000"/>
                </a:solidFill>
                <a:latin typeface="等线" panose="02010600030101010101" pitchFamily="2" charset="-122"/>
                <a:ea typeface="等线" panose="02010600030101010101" pitchFamily="2" charset="-122"/>
              </a:rPr>
              <a:t>PING </a:t>
            </a:r>
            <a:r>
              <a:rPr lang="zh-CN" altLang="en-US" sz="2000" dirty="0">
                <a:solidFill>
                  <a:srgbClr val="C00000"/>
                </a:solidFill>
                <a:latin typeface="等线" panose="02010600030101010101" pitchFamily="2" charset="-122"/>
                <a:ea typeface="等线" panose="02010600030101010101" pitchFamily="2" charset="-122"/>
              </a:rPr>
              <a:t>用来测试两个主机之间的连通性</a:t>
            </a:r>
          </a:p>
          <a:p>
            <a:pPr lvl="1">
              <a:lnSpc>
                <a:spcPct val="120000"/>
              </a:lnSpc>
            </a:pPr>
            <a:r>
              <a:rPr lang="en-US" altLang="zh-CN" sz="2000" dirty="0">
                <a:latin typeface="等线" panose="02010600030101010101" pitchFamily="2" charset="-122"/>
                <a:ea typeface="等线" panose="02010600030101010101" pitchFamily="2" charset="-122"/>
              </a:rPr>
              <a:t>PING </a:t>
            </a:r>
            <a:r>
              <a:rPr lang="zh-CN" altLang="en-US" sz="2000" dirty="0">
                <a:latin typeface="等线" panose="02010600030101010101" pitchFamily="2" charset="-122"/>
                <a:ea typeface="等线" panose="02010600030101010101" pitchFamily="2" charset="-122"/>
              </a:rPr>
              <a:t>使用了 </a:t>
            </a:r>
            <a:r>
              <a:rPr lang="en-US" altLang="zh-CN" sz="2000" dirty="0">
                <a:latin typeface="等线" panose="02010600030101010101" pitchFamily="2" charset="-122"/>
                <a:ea typeface="等线" panose="02010600030101010101" pitchFamily="2" charset="-122"/>
              </a:rPr>
              <a:t>ICMP </a:t>
            </a:r>
            <a:r>
              <a:rPr lang="zh-CN" altLang="en-US" sz="2000" dirty="0">
                <a:latin typeface="等线" panose="02010600030101010101" pitchFamily="2" charset="-122"/>
                <a:ea typeface="等线" panose="02010600030101010101" pitchFamily="2" charset="-122"/>
              </a:rPr>
              <a:t>回送请求与回送回答报文</a:t>
            </a:r>
            <a:endParaRPr lang="en-US" altLang="zh-CN" sz="2000" dirty="0">
              <a:latin typeface="等线" panose="02010600030101010101" pitchFamily="2" charset="-122"/>
              <a:ea typeface="等线" panose="02010600030101010101" pitchFamily="2" charset="-122"/>
            </a:endParaRPr>
          </a:p>
          <a:p>
            <a:pPr marL="457200" lvl="1" indent="0">
              <a:lnSpc>
                <a:spcPct val="120000"/>
              </a:lnSpc>
              <a:buClr>
                <a:srgbClr val="0070C0"/>
              </a:buClr>
              <a:buNone/>
            </a:pPr>
            <a:endParaRPr lang="zh-CN" altLang="en-US" dirty="0">
              <a:latin typeface="等线" panose="02010600030101010101" pitchFamily="2" charset="-122"/>
              <a:ea typeface="等线" panose="02010600030101010101" pitchFamily="2" charset="-122"/>
            </a:endParaRPr>
          </a:p>
          <a:p>
            <a:endParaRPr lang="zh-CN" altLang="en-US" dirty="0">
              <a:latin typeface="等线" panose="02010600030101010101" pitchFamily="2" charset="-122"/>
              <a:ea typeface="等线" panose="02010600030101010101" pitchFamily="2" charset="-122"/>
            </a:endParaRP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51</a:t>
            </a:fld>
            <a:endParaRPr kumimoji="1" lang="zh-CN" altLang="en-U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265" y="2946400"/>
            <a:ext cx="6005404" cy="253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TextBox 6"/>
          <p:cNvSpPr txBox="1">
            <a:spLocks noChangeArrowheads="1"/>
          </p:cNvSpPr>
          <p:nvPr/>
        </p:nvSpPr>
        <p:spPr bwMode="auto">
          <a:xfrm>
            <a:off x="1075265" y="5687592"/>
            <a:ext cx="1141412" cy="400110"/>
          </a:xfrm>
          <a:prstGeom prst="rect">
            <a:avLst/>
          </a:prstGeom>
          <a:solidFill>
            <a:srgbClr val="C00000"/>
          </a:solidFill>
          <a:ln>
            <a:noFill/>
          </a:ln>
        </p:spPr>
        <p:txBody>
          <a:bodyPr anchor="b" anchorCtr="0">
            <a:spAutoFit/>
          </a:bodyPr>
          <a:lstStyle>
            <a:lvl1pPr>
              <a:defRPr sz="2800">
                <a:solidFill>
                  <a:schemeClr val="tx1"/>
                </a:solidFill>
                <a:latin typeface="Comic Sans MS" pitchFamily="66" charset="0"/>
              </a:defRPr>
            </a:lvl1pPr>
            <a:lvl2pPr>
              <a:defRPr sz="2400">
                <a:solidFill>
                  <a:schemeClr val="tx1"/>
                </a:solidFill>
                <a:latin typeface="Comic Sans MS" pitchFamily="66" charset="0"/>
              </a:defRPr>
            </a:lvl2pPr>
            <a:lvl3pPr>
              <a:defRPr sz="2000">
                <a:solidFill>
                  <a:schemeClr val="tx1"/>
                </a:solidFill>
                <a:latin typeface="Comic Sans MS" pitchFamily="66"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a:defRPr sz="2000">
                <a:solidFill>
                  <a:schemeClr val="tx1"/>
                </a:solidFill>
                <a:latin typeface="Times New Roman" pitchFamily="18" charset="0"/>
              </a:defRPr>
            </a:lvl6pPr>
            <a:lvl7pPr>
              <a:defRPr sz="2000">
                <a:solidFill>
                  <a:schemeClr val="tx1"/>
                </a:solidFill>
                <a:latin typeface="Times New Roman" pitchFamily="18" charset="0"/>
              </a:defRPr>
            </a:lvl7pPr>
            <a:lvl8pPr>
              <a:defRPr sz="2000">
                <a:solidFill>
                  <a:schemeClr val="tx1"/>
                </a:solidFill>
                <a:latin typeface="Times New Roman" pitchFamily="18" charset="0"/>
              </a:defRPr>
            </a:lvl8pPr>
            <a:lvl9pPr>
              <a:defRPr sz="2000">
                <a:solidFill>
                  <a:schemeClr val="tx1"/>
                </a:solidFill>
                <a:latin typeface="Times New Roman" pitchFamily="18" charset="0"/>
              </a:defRPr>
            </a:lvl9pPr>
          </a:lstStyle>
          <a:p>
            <a:pPr algn="ctr"/>
            <a:r>
              <a:rPr lang="zh-CN" altLang="en-US" sz="2000" dirty="0">
                <a:solidFill>
                  <a:schemeClr val="bg1"/>
                </a:solidFill>
                <a:latin typeface="等线" panose="02010600030101010101" pitchFamily="2" charset="-122"/>
                <a:ea typeface="等线" panose="02010600030101010101" pitchFamily="2" charset="-122"/>
              </a:rPr>
              <a:t>连通性</a:t>
            </a:r>
          </a:p>
        </p:txBody>
      </p:sp>
      <p:sp>
        <p:nvSpPr>
          <p:cNvPr id="8" name="TextBox 7"/>
          <p:cNvSpPr txBox="1">
            <a:spLocks noChangeArrowheads="1"/>
          </p:cNvSpPr>
          <p:nvPr/>
        </p:nvSpPr>
        <p:spPr bwMode="auto">
          <a:xfrm>
            <a:off x="5593182" y="5687592"/>
            <a:ext cx="1487487" cy="400110"/>
          </a:xfrm>
          <a:prstGeom prst="rect">
            <a:avLst/>
          </a:prstGeom>
          <a:solidFill>
            <a:srgbClr val="C00000"/>
          </a:solidFill>
          <a:ln w="9525">
            <a:noFill/>
            <a:miter lim="800000"/>
            <a:headEnd/>
            <a:tailEnd/>
          </a:ln>
        </p:spPr>
        <p:txBody>
          <a:bodyPr anchor="b" anchorCtr="0">
            <a:spAutoFit/>
          </a:bodyPr>
          <a:lstStyle/>
          <a:p>
            <a:pPr algn="ctr">
              <a:defRPr/>
            </a:pPr>
            <a:r>
              <a:rPr lang="zh-CN" altLang="en-US" sz="2000" dirty="0">
                <a:solidFill>
                  <a:schemeClr val="bg1"/>
                </a:solidFill>
                <a:latin typeface="等线" panose="02010600030101010101" pitchFamily="2" charset="-122"/>
                <a:ea typeface="等线" panose="02010600030101010101" pitchFamily="2" charset="-122"/>
              </a:rPr>
              <a:t>往返时延</a:t>
            </a:r>
          </a:p>
        </p:txBody>
      </p:sp>
      <p:sp>
        <p:nvSpPr>
          <p:cNvPr id="5" name="日期占位符 4"/>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5.2.6 Internet</a:t>
            </a:r>
            <a:r>
              <a:rPr kumimoji="1" lang="zh-CN" altLang="en-US" dirty="0">
                <a:latin typeface="DengXian" panose="02010600030101010101" pitchFamily="2" charset="-122"/>
                <a:ea typeface="DengXian" panose="02010600030101010101" pitchFamily="2" charset="-122"/>
              </a:rPr>
              <a:t>控制报文协议</a:t>
            </a:r>
          </a:p>
        </p:txBody>
      </p:sp>
    </p:spTree>
    <p:extLst>
      <p:ext uri="{BB962C8B-B14F-4D97-AF65-F5344CB8AC3E}">
        <p14:creationId xmlns:p14="http://schemas.microsoft.com/office/powerpoint/2010/main" val="33598837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ea typeface="宋体" pitchFamily="2" charset="-122"/>
              </a:rPr>
              <a:t>Traceroute</a:t>
            </a:r>
            <a:r>
              <a:rPr lang="zh-CN" altLang="en-US" dirty="0">
                <a:ea typeface="宋体" pitchFamily="2" charset="-122"/>
              </a:rPr>
              <a:t>和</a:t>
            </a:r>
            <a:r>
              <a:rPr lang="en-US" altLang="zh-CN" dirty="0">
                <a:ea typeface="宋体" pitchFamily="2" charset="-122"/>
              </a:rPr>
              <a:t>ICMP</a:t>
            </a:r>
            <a:endParaRPr lang="zh-CN" altLang="en-US" dirty="0"/>
          </a:p>
        </p:txBody>
      </p:sp>
      <p:sp>
        <p:nvSpPr>
          <p:cNvPr id="4" name="日期占位符 3"/>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5.2.6 Internet</a:t>
            </a:r>
            <a:r>
              <a:rPr kumimoji="1" lang="zh-CN" altLang="en-US" dirty="0">
                <a:latin typeface="DengXian" panose="02010600030101010101" pitchFamily="2" charset="-122"/>
                <a:ea typeface="DengXian" panose="02010600030101010101" pitchFamily="2" charset="-122"/>
              </a:rPr>
              <a:t>控制报文协议</a:t>
            </a:r>
          </a:p>
        </p:txBody>
      </p:sp>
      <p:sp>
        <p:nvSpPr>
          <p:cNvPr id="5" name="灯片编号占位符 4"/>
          <p:cNvSpPr>
            <a:spLocks noGrp="1"/>
          </p:cNvSpPr>
          <p:nvPr>
            <p:ph type="sldNum" sz="quarter" idx="12"/>
          </p:nvPr>
        </p:nvSpPr>
        <p:spPr/>
        <p:txBody>
          <a:bodyPr/>
          <a:lstStyle/>
          <a:p>
            <a:fld id="{8D4D1E41-7A09-AB4A-A4E1-09765ADA2698}" type="slidenum">
              <a:rPr kumimoji="1" lang="zh-CN" altLang="en-US" smtClean="0"/>
              <a:t>52</a:t>
            </a:fld>
            <a:endParaRPr kumimoji="1" lang="zh-CN" altLang="en-US" dirty="0"/>
          </a:p>
        </p:txBody>
      </p:sp>
      <p:sp>
        <p:nvSpPr>
          <p:cNvPr id="6" name="内容占位符 2"/>
          <p:cNvSpPr txBox="1">
            <a:spLocks/>
          </p:cNvSpPr>
          <p:nvPr/>
        </p:nvSpPr>
        <p:spPr>
          <a:xfrm>
            <a:off x="838200" y="1510759"/>
            <a:ext cx="6060141" cy="523220"/>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zh-CN" dirty="0">
                <a:solidFill>
                  <a:srgbClr val="C00000"/>
                </a:solidFill>
                <a:latin typeface="DengXian" panose="02010600030101010101" pitchFamily="2" charset="-122"/>
                <a:ea typeface="DengXian" panose="02010600030101010101" pitchFamily="2" charset="-122"/>
              </a:rPr>
              <a:t>如何知道整个路径上路由器的地址？</a:t>
            </a:r>
            <a:endParaRPr lang="zh-CN" altLang="en-US" dirty="0">
              <a:solidFill>
                <a:srgbClr val="C00000"/>
              </a:solidFill>
              <a:latin typeface="DengXian" panose="02010600030101010101" pitchFamily="2" charset="-122"/>
              <a:ea typeface="DengXian" panose="02010600030101010101" pitchFamily="2" charset="-122"/>
            </a:endParaRPr>
          </a:p>
        </p:txBody>
      </p:sp>
      <p:sp>
        <p:nvSpPr>
          <p:cNvPr id="7" name="TextBox 6"/>
          <p:cNvSpPr txBox="1"/>
          <p:nvPr/>
        </p:nvSpPr>
        <p:spPr>
          <a:xfrm>
            <a:off x="7100047" y="1510758"/>
            <a:ext cx="3415553" cy="523220"/>
          </a:xfrm>
          <a:prstGeom prst="rect">
            <a:avLst/>
          </a:prstGeom>
          <a:noFill/>
        </p:spPr>
        <p:txBody>
          <a:bodyPr wrap="square" rtlCol="0">
            <a:spAutoFit/>
          </a:bodyPr>
          <a:lstStyle/>
          <a:p>
            <a:r>
              <a:rPr lang="zh-CN" altLang="en-US" sz="2800" dirty="0">
                <a:solidFill>
                  <a:srgbClr val="C00000"/>
                </a:solidFill>
                <a:latin typeface="等线" panose="02010600030101010101" pitchFamily="2" charset="-122"/>
                <a:ea typeface="等线" panose="02010600030101010101" pitchFamily="2" charset="-122"/>
              </a:rPr>
              <a:t>使用</a:t>
            </a:r>
            <a:r>
              <a:rPr lang="en-US" altLang="zh-CN" sz="2800" dirty="0" err="1">
                <a:solidFill>
                  <a:srgbClr val="C00000"/>
                </a:solidFill>
                <a:latin typeface="等线" panose="02010600030101010101" pitchFamily="2" charset="-122"/>
                <a:ea typeface="等线" panose="02010600030101010101" pitchFamily="2" charset="-122"/>
              </a:rPr>
              <a:t>TraceRT</a:t>
            </a:r>
            <a:r>
              <a:rPr lang="zh-CN" altLang="en-US" sz="2800" dirty="0">
                <a:solidFill>
                  <a:srgbClr val="C00000"/>
                </a:solidFill>
                <a:latin typeface="等线" panose="02010600030101010101" pitchFamily="2" charset="-122"/>
                <a:ea typeface="等线" panose="02010600030101010101" pitchFamily="2" charset="-122"/>
              </a:rPr>
              <a:t>命令</a:t>
            </a:r>
          </a:p>
        </p:txBody>
      </p:sp>
      <p:graphicFrame>
        <p:nvGraphicFramePr>
          <p:cNvPr id="96" name="Object 11"/>
          <p:cNvGraphicFramePr>
            <a:graphicFrameLocks noChangeAspect="1"/>
          </p:cNvGraphicFramePr>
          <p:nvPr/>
        </p:nvGraphicFramePr>
        <p:xfrm>
          <a:off x="1477800" y="2526807"/>
          <a:ext cx="554567" cy="319087"/>
        </p:xfrm>
        <a:graphic>
          <a:graphicData uri="http://schemas.openxmlformats.org/presentationml/2006/ole">
            <mc:AlternateContent xmlns:mc="http://schemas.openxmlformats.org/markup-compatibility/2006">
              <mc:Choice xmlns:v="urn:schemas-microsoft-com:vml" Requires="v">
                <p:oleObj name="Clip" r:id="rId3" imgW="1307263" imgH="1084139" progId="MS_ClipArt_Gallery.2">
                  <p:embed/>
                </p:oleObj>
              </mc:Choice>
              <mc:Fallback>
                <p:oleObj name="Clip" r:id="rId3" imgW="1307263" imgH="1084139" progId="MS_ClipArt_Gallery.2">
                  <p:embed/>
                  <p:pic>
                    <p:nvPicPr>
                      <p:cNvPr id="96"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7800" y="2526807"/>
                        <a:ext cx="554567" cy="319087"/>
                      </a:xfrm>
                      <a:prstGeom prst="rect">
                        <a:avLst/>
                      </a:prstGeom>
                      <a:noFill/>
                      <a:ln>
                        <a:noFill/>
                      </a:ln>
                      <a:effectLst/>
                    </p:spPr>
                  </p:pic>
                </p:oleObj>
              </mc:Fallback>
            </mc:AlternateContent>
          </a:graphicData>
        </a:graphic>
      </p:graphicFrame>
      <p:sp>
        <p:nvSpPr>
          <p:cNvPr id="97" name="Line 38"/>
          <p:cNvSpPr>
            <a:spLocks noChangeShapeType="1"/>
          </p:cNvSpPr>
          <p:nvPr/>
        </p:nvSpPr>
        <p:spPr bwMode="auto">
          <a:xfrm>
            <a:off x="1879967" y="2768106"/>
            <a:ext cx="385233" cy="2651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 name="Line 105"/>
          <p:cNvSpPr>
            <a:spLocks noChangeShapeType="1"/>
          </p:cNvSpPr>
          <p:nvPr/>
        </p:nvSpPr>
        <p:spPr bwMode="auto">
          <a:xfrm flipV="1">
            <a:off x="2938300" y="2818906"/>
            <a:ext cx="611716"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9" name="Line 106"/>
          <p:cNvSpPr>
            <a:spLocks noChangeShapeType="1"/>
          </p:cNvSpPr>
          <p:nvPr/>
        </p:nvSpPr>
        <p:spPr bwMode="auto">
          <a:xfrm>
            <a:off x="4185016" y="2803031"/>
            <a:ext cx="647700"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0" name="Line 108"/>
          <p:cNvSpPr>
            <a:spLocks noChangeShapeType="1"/>
          </p:cNvSpPr>
          <p:nvPr/>
        </p:nvSpPr>
        <p:spPr bwMode="auto">
          <a:xfrm flipH="1">
            <a:off x="3867516" y="2534743"/>
            <a:ext cx="465667"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1" name="Line 113"/>
          <p:cNvSpPr>
            <a:spLocks noChangeShapeType="1"/>
          </p:cNvSpPr>
          <p:nvPr/>
        </p:nvSpPr>
        <p:spPr bwMode="auto">
          <a:xfrm flipH="1">
            <a:off x="5486766" y="2863356"/>
            <a:ext cx="827616" cy="1444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02" name="Group 144"/>
          <p:cNvGrpSpPr>
            <a:grpSpLocks/>
          </p:cNvGrpSpPr>
          <p:nvPr/>
        </p:nvGrpSpPr>
        <p:grpSpPr bwMode="auto">
          <a:xfrm>
            <a:off x="2246149" y="2915744"/>
            <a:ext cx="668867" cy="233363"/>
            <a:chOff x="3600" y="219"/>
            <a:chExt cx="360" cy="175"/>
          </a:xfrm>
        </p:grpSpPr>
        <p:sp>
          <p:nvSpPr>
            <p:cNvPr id="103" name="Oval 145"/>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sp>
          <p:nvSpPr>
            <p:cNvPr id="104" name="Line 146"/>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147"/>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Rectangle 148"/>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pitchFamily="2" charset="-122"/>
              </a:endParaRPr>
            </a:p>
          </p:txBody>
        </p:sp>
        <p:sp>
          <p:nvSpPr>
            <p:cNvPr id="107" name="Oval 149"/>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grpSp>
          <p:nvGrpSpPr>
            <p:cNvPr id="108" name="Group 150"/>
            <p:cNvGrpSpPr>
              <a:grpSpLocks/>
            </p:cNvGrpSpPr>
            <p:nvPr/>
          </p:nvGrpSpPr>
          <p:grpSpPr bwMode="auto">
            <a:xfrm>
              <a:off x="3686" y="244"/>
              <a:ext cx="177" cy="66"/>
              <a:chOff x="2848" y="848"/>
              <a:chExt cx="140" cy="98"/>
            </a:xfrm>
          </p:grpSpPr>
          <p:sp>
            <p:nvSpPr>
              <p:cNvPr id="113" name="Line 151"/>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4" name="Line 152"/>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5" name="Line 153"/>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9" name="Group 154"/>
            <p:cNvGrpSpPr>
              <a:grpSpLocks/>
            </p:cNvGrpSpPr>
            <p:nvPr/>
          </p:nvGrpSpPr>
          <p:grpSpPr bwMode="auto">
            <a:xfrm flipV="1">
              <a:off x="3686" y="243"/>
              <a:ext cx="177" cy="66"/>
              <a:chOff x="2848" y="848"/>
              <a:chExt cx="140" cy="98"/>
            </a:xfrm>
          </p:grpSpPr>
          <p:sp>
            <p:nvSpPr>
              <p:cNvPr id="110" name="Line 15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1" name="Line 15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 name="Line 15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16" name="Group 158"/>
          <p:cNvGrpSpPr>
            <a:grpSpLocks/>
          </p:cNvGrpSpPr>
          <p:nvPr/>
        </p:nvGrpSpPr>
        <p:grpSpPr bwMode="auto">
          <a:xfrm>
            <a:off x="3516149" y="2687144"/>
            <a:ext cx="668867" cy="233363"/>
            <a:chOff x="3600" y="219"/>
            <a:chExt cx="360" cy="175"/>
          </a:xfrm>
        </p:grpSpPr>
        <p:sp>
          <p:nvSpPr>
            <p:cNvPr id="117" name="Oval 159"/>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sp>
          <p:nvSpPr>
            <p:cNvPr id="118" name="Line 160"/>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9" name="Line 161"/>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0" name="Rectangle 162"/>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pitchFamily="2" charset="-122"/>
              </a:endParaRPr>
            </a:p>
          </p:txBody>
        </p:sp>
        <p:sp>
          <p:nvSpPr>
            <p:cNvPr id="121" name="Oval 163"/>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grpSp>
          <p:nvGrpSpPr>
            <p:cNvPr id="122" name="Group 164"/>
            <p:cNvGrpSpPr>
              <a:grpSpLocks/>
            </p:cNvGrpSpPr>
            <p:nvPr/>
          </p:nvGrpSpPr>
          <p:grpSpPr bwMode="auto">
            <a:xfrm>
              <a:off x="3686" y="244"/>
              <a:ext cx="177" cy="66"/>
              <a:chOff x="2848" y="848"/>
              <a:chExt cx="140" cy="98"/>
            </a:xfrm>
          </p:grpSpPr>
          <p:sp>
            <p:nvSpPr>
              <p:cNvPr id="127" name="Line 165"/>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8" name="Line 166"/>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9" name="Line 167"/>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23" name="Group 168"/>
            <p:cNvGrpSpPr>
              <a:grpSpLocks/>
            </p:cNvGrpSpPr>
            <p:nvPr/>
          </p:nvGrpSpPr>
          <p:grpSpPr bwMode="auto">
            <a:xfrm flipV="1">
              <a:off x="3686" y="243"/>
              <a:ext cx="177" cy="66"/>
              <a:chOff x="2848" y="848"/>
              <a:chExt cx="140" cy="98"/>
            </a:xfrm>
          </p:grpSpPr>
          <p:sp>
            <p:nvSpPr>
              <p:cNvPr id="124" name="Line 16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5" name="Line 17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6" name="Line 17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30" name="Group 186"/>
          <p:cNvGrpSpPr>
            <a:grpSpLocks/>
          </p:cNvGrpSpPr>
          <p:nvPr/>
        </p:nvGrpSpPr>
        <p:grpSpPr bwMode="auto">
          <a:xfrm>
            <a:off x="4832716" y="2895106"/>
            <a:ext cx="666751" cy="233362"/>
            <a:chOff x="3600" y="219"/>
            <a:chExt cx="360" cy="175"/>
          </a:xfrm>
        </p:grpSpPr>
        <p:sp>
          <p:nvSpPr>
            <p:cNvPr id="131" name="Oval 18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sp>
          <p:nvSpPr>
            <p:cNvPr id="132" name="Line 18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3" name="Line 18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4" name="Rectangle 19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pitchFamily="2" charset="-122"/>
              </a:endParaRPr>
            </a:p>
          </p:txBody>
        </p:sp>
        <p:sp>
          <p:nvSpPr>
            <p:cNvPr id="135" name="Oval 19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grpSp>
          <p:nvGrpSpPr>
            <p:cNvPr id="136" name="Group 192"/>
            <p:cNvGrpSpPr>
              <a:grpSpLocks/>
            </p:cNvGrpSpPr>
            <p:nvPr/>
          </p:nvGrpSpPr>
          <p:grpSpPr bwMode="auto">
            <a:xfrm>
              <a:off x="3686" y="244"/>
              <a:ext cx="177" cy="66"/>
              <a:chOff x="2848" y="848"/>
              <a:chExt cx="140" cy="98"/>
            </a:xfrm>
          </p:grpSpPr>
          <p:sp>
            <p:nvSpPr>
              <p:cNvPr id="141" name="Line 19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2" name="Line 19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3" name="Line 19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37" name="Group 196"/>
            <p:cNvGrpSpPr>
              <a:grpSpLocks/>
            </p:cNvGrpSpPr>
            <p:nvPr/>
          </p:nvGrpSpPr>
          <p:grpSpPr bwMode="auto">
            <a:xfrm flipV="1">
              <a:off x="3686" y="243"/>
              <a:ext cx="177" cy="66"/>
              <a:chOff x="2848" y="848"/>
              <a:chExt cx="140" cy="98"/>
            </a:xfrm>
          </p:grpSpPr>
          <p:sp>
            <p:nvSpPr>
              <p:cNvPr id="138" name="Line 19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9" name="Line 19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0" name="Line 19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44" name="Line 260"/>
          <p:cNvSpPr>
            <a:spLocks noChangeShapeType="1"/>
          </p:cNvSpPr>
          <p:nvPr/>
        </p:nvSpPr>
        <p:spPr bwMode="auto">
          <a:xfrm>
            <a:off x="6979016" y="2828431"/>
            <a:ext cx="647700" cy="20796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5" name="Line 261"/>
          <p:cNvSpPr>
            <a:spLocks noChangeShapeType="1"/>
          </p:cNvSpPr>
          <p:nvPr/>
        </p:nvSpPr>
        <p:spPr bwMode="auto">
          <a:xfrm flipH="1">
            <a:off x="8229967" y="2774456"/>
            <a:ext cx="742949" cy="2778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46" name="Group 262"/>
          <p:cNvGrpSpPr>
            <a:grpSpLocks/>
          </p:cNvGrpSpPr>
          <p:nvPr/>
        </p:nvGrpSpPr>
        <p:grpSpPr bwMode="auto">
          <a:xfrm>
            <a:off x="6310149" y="2712544"/>
            <a:ext cx="668867" cy="233363"/>
            <a:chOff x="3600" y="219"/>
            <a:chExt cx="360" cy="175"/>
          </a:xfrm>
        </p:grpSpPr>
        <p:sp>
          <p:nvSpPr>
            <p:cNvPr id="147" name="Oval 263"/>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sp>
          <p:nvSpPr>
            <p:cNvPr id="148" name="Line 264"/>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9" name="Line 265"/>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0" name="Rectangle 266"/>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pitchFamily="2" charset="-122"/>
              </a:endParaRPr>
            </a:p>
          </p:txBody>
        </p:sp>
        <p:sp>
          <p:nvSpPr>
            <p:cNvPr id="151" name="Oval 267"/>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grpSp>
          <p:nvGrpSpPr>
            <p:cNvPr id="152" name="Group 268"/>
            <p:cNvGrpSpPr>
              <a:grpSpLocks/>
            </p:cNvGrpSpPr>
            <p:nvPr/>
          </p:nvGrpSpPr>
          <p:grpSpPr bwMode="auto">
            <a:xfrm>
              <a:off x="3686" y="244"/>
              <a:ext cx="177" cy="66"/>
              <a:chOff x="2848" y="848"/>
              <a:chExt cx="140" cy="98"/>
            </a:xfrm>
          </p:grpSpPr>
          <p:sp>
            <p:nvSpPr>
              <p:cNvPr id="157" name="Line 269"/>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8" name="Line 270"/>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9" name="Line 271"/>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53" name="Group 272"/>
            <p:cNvGrpSpPr>
              <a:grpSpLocks/>
            </p:cNvGrpSpPr>
            <p:nvPr/>
          </p:nvGrpSpPr>
          <p:grpSpPr bwMode="auto">
            <a:xfrm flipV="1">
              <a:off x="3686" y="243"/>
              <a:ext cx="177" cy="66"/>
              <a:chOff x="2848" y="848"/>
              <a:chExt cx="140" cy="98"/>
            </a:xfrm>
          </p:grpSpPr>
          <p:sp>
            <p:nvSpPr>
              <p:cNvPr id="154" name="Line 27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5" name="Line 27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6" name="Line 27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pSp>
        <p:nvGrpSpPr>
          <p:cNvPr id="160" name="Group 276"/>
          <p:cNvGrpSpPr>
            <a:grpSpLocks/>
          </p:cNvGrpSpPr>
          <p:nvPr/>
        </p:nvGrpSpPr>
        <p:grpSpPr bwMode="auto">
          <a:xfrm>
            <a:off x="7626716" y="2920506"/>
            <a:ext cx="666751" cy="233362"/>
            <a:chOff x="3600" y="219"/>
            <a:chExt cx="360" cy="175"/>
          </a:xfrm>
        </p:grpSpPr>
        <p:sp>
          <p:nvSpPr>
            <p:cNvPr id="161" name="Oval 277"/>
            <p:cNvSpPr>
              <a:spLocks noChangeArrowheads="1"/>
            </p:cNvSpPr>
            <p:nvPr/>
          </p:nvSpPr>
          <p:spPr bwMode="auto">
            <a:xfrm>
              <a:off x="3603" y="297"/>
              <a:ext cx="357" cy="97"/>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sp>
          <p:nvSpPr>
            <p:cNvPr id="162" name="Line 278"/>
            <p:cNvSpPr>
              <a:spLocks noChangeShapeType="1"/>
            </p:cNvSpPr>
            <p:nvPr/>
          </p:nvSpPr>
          <p:spPr bwMode="auto">
            <a:xfrm>
              <a:off x="3603"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3" name="Line 279"/>
            <p:cNvSpPr>
              <a:spLocks noChangeShapeType="1"/>
            </p:cNvSpPr>
            <p:nvPr/>
          </p:nvSpPr>
          <p:spPr bwMode="auto">
            <a:xfrm>
              <a:off x="3960" y="289"/>
              <a:ext cx="0" cy="6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4" name="Rectangle 280"/>
            <p:cNvSpPr>
              <a:spLocks noChangeArrowheads="1"/>
            </p:cNvSpPr>
            <p:nvPr/>
          </p:nvSpPr>
          <p:spPr bwMode="auto">
            <a:xfrm>
              <a:off x="3603" y="289"/>
              <a:ext cx="354" cy="5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p>
              <a:pPr algn="ctr"/>
              <a:endParaRPr lang="zh-CN" altLang="en-US">
                <a:ea typeface="宋体" pitchFamily="2" charset="-122"/>
              </a:endParaRPr>
            </a:p>
          </p:txBody>
        </p:sp>
        <p:sp>
          <p:nvSpPr>
            <p:cNvPr id="165" name="Oval 281"/>
            <p:cNvSpPr>
              <a:spLocks noChangeArrowheads="1"/>
            </p:cNvSpPr>
            <p:nvPr/>
          </p:nvSpPr>
          <p:spPr bwMode="auto">
            <a:xfrm>
              <a:off x="3600" y="219"/>
              <a:ext cx="357" cy="113"/>
            </a:xfrm>
            <a:prstGeom prst="ellipse">
              <a:avLst/>
            </a:prstGeom>
            <a:solidFill>
              <a:schemeClr val="hlink"/>
            </a:solidFill>
            <a:ln w="12700">
              <a:solidFill>
                <a:schemeClr val="tx1"/>
              </a:solidFill>
              <a:round/>
              <a:headEnd/>
              <a:tailEnd/>
            </a:ln>
          </p:spPr>
          <p:txBody>
            <a:bodyPr wrap="none" anchor="ctr"/>
            <a:lstStyle/>
            <a:p>
              <a:endParaRPr lang="zh-CN" altLang="en-US">
                <a:ea typeface="宋体" pitchFamily="2" charset="-122"/>
              </a:endParaRPr>
            </a:p>
          </p:txBody>
        </p:sp>
        <p:grpSp>
          <p:nvGrpSpPr>
            <p:cNvPr id="166" name="Group 282"/>
            <p:cNvGrpSpPr>
              <a:grpSpLocks/>
            </p:cNvGrpSpPr>
            <p:nvPr/>
          </p:nvGrpSpPr>
          <p:grpSpPr bwMode="auto">
            <a:xfrm>
              <a:off x="3686" y="244"/>
              <a:ext cx="177" cy="66"/>
              <a:chOff x="2848" y="848"/>
              <a:chExt cx="140" cy="98"/>
            </a:xfrm>
          </p:grpSpPr>
          <p:sp>
            <p:nvSpPr>
              <p:cNvPr id="171" name="Line 283"/>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2" name="Line 284"/>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3" name="Line 285"/>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67" name="Group 286"/>
            <p:cNvGrpSpPr>
              <a:grpSpLocks/>
            </p:cNvGrpSpPr>
            <p:nvPr/>
          </p:nvGrpSpPr>
          <p:grpSpPr bwMode="auto">
            <a:xfrm flipV="1">
              <a:off x="3686" y="243"/>
              <a:ext cx="177" cy="66"/>
              <a:chOff x="2848" y="848"/>
              <a:chExt cx="140" cy="98"/>
            </a:xfrm>
          </p:grpSpPr>
          <p:sp>
            <p:nvSpPr>
              <p:cNvPr id="168" name="Line 287"/>
              <p:cNvSpPr>
                <a:spLocks noChangeShapeType="1"/>
              </p:cNvSpPr>
              <p:nvPr/>
            </p:nvSpPr>
            <p:spPr bwMode="auto">
              <a:xfrm flipV="1">
                <a:off x="2848" y="848"/>
                <a:ext cx="50" cy="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9" name="Line 288"/>
              <p:cNvSpPr>
                <a:spLocks noChangeShapeType="1"/>
              </p:cNvSpPr>
              <p:nvPr/>
            </p:nvSpPr>
            <p:spPr bwMode="auto">
              <a:xfrm>
                <a:off x="2944" y="946"/>
                <a:ext cx="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0" name="Line 289"/>
              <p:cNvSpPr>
                <a:spLocks noChangeShapeType="1"/>
              </p:cNvSpPr>
              <p:nvPr/>
            </p:nvSpPr>
            <p:spPr bwMode="auto">
              <a:xfrm>
                <a:off x="2894" y="850"/>
                <a:ext cx="52" cy="9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graphicFrame>
        <p:nvGraphicFramePr>
          <p:cNvPr id="174" name="Object 290"/>
          <p:cNvGraphicFramePr>
            <a:graphicFrameLocks noChangeAspect="1"/>
          </p:cNvGraphicFramePr>
          <p:nvPr/>
        </p:nvGraphicFramePr>
        <p:xfrm>
          <a:off x="8962334" y="2628407"/>
          <a:ext cx="554567" cy="319087"/>
        </p:xfrm>
        <a:graphic>
          <a:graphicData uri="http://schemas.openxmlformats.org/presentationml/2006/ole">
            <mc:AlternateContent xmlns:mc="http://schemas.openxmlformats.org/markup-compatibility/2006">
              <mc:Choice xmlns:v="urn:schemas-microsoft-com:vml" Requires="v">
                <p:oleObj name="Clip" r:id="rId3" imgW="1307263" imgH="1084139" progId="MS_ClipArt_Gallery.2">
                  <p:embed/>
                </p:oleObj>
              </mc:Choice>
              <mc:Fallback>
                <p:oleObj name="Clip" r:id="rId3" imgW="1307263" imgH="1084139" progId="MS_ClipArt_Gallery.2">
                  <p:embed/>
                  <p:pic>
                    <p:nvPicPr>
                      <p:cNvPr id="174" name="Object 29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2334" y="2628407"/>
                        <a:ext cx="554567" cy="319087"/>
                      </a:xfrm>
                      <a:prstGeom prst="rect">
                        <a:avLst/>
                      </a:prstGeom>
                      <a:noFill/>
                      <a:ln>
                        <a:noFill/>
                      </a:ln>
                      <a:effectLst/>
                    </p:spPr>
                  </p:pic>
                </p:oleObj>
              </mc:Fallback>
            </mc:AlternateContent>
          </a:graphicData>
        </a:graphic>
      </p:graphicFrame>
      <p:sp>
        <p:nvSpPr>
          <p:cNvPr id="175" name="Line 291"/>
          <p:cNvSpPr>
            <a:spLocks noChangeShapeType="1"/>
          </p:cNvSpPr>
          <p:nvPr/>
        </p:nvSpPr>
        <p:spPr bwMode="auto">
          <a:xfrm>
            <a:off x="3825182" y="2934793"/>
            <a:ext cx="30480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6" name="Line 292"/>
          <p:cNvSpPr>
            <a:spLocks noChangeShapeType="1"/>
          </p:cNvSpPr>
          <p:nvPr/>
        </p:nvSpPr>
        <p:spPr bwMode="auto">
          <a:xfrm>
            <a:off x="6390582" y="2522043"/>
            <a:ext cx="304800" cy="3111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7" name="Line 294"/>
          <p:cNvSpPr>
            <a:spLocks noChangeShapeType="1"/>
          </p:cNvSpPr>
          <p:nvPr/>
        </p:nvSpPr>
        <p:spPr bwMode="auto">
          <a:xfrm flipH="1">
            <a:off x="4680316" y="3125293"/>
            <a:ext cx="465667" cy="152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8" name="Line 295"/>
          <p:cNvSpPr>
            <a:spLocks noChangeShapeType="1"/>
          </p:cNvSpPr>
          <p:nvPr/>
        </p:nvSpPr>
        <p:spPr bwMode="auto">
          <a:xfrm>
            <a:off x="5154449" y="2629993"/>
            <a:ext cx="8467" cy="2603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9" name="Freeform 299"/>
          <p:cNvSpPr>
            <a:spLocks/>
          </p:cNvSpPr>
          <p:nvPr/>
        </p:nvSpPr>
        <p:spPr bwMode="auto">
          <a:xfrm>
            <a:off x="1884200" y="2744293"/>
            <a:ext cx="558800" cy="419100"/>
          </a:xfrm>
          <a:custGeom>
            <a:avLst/>
            <a:gdLst>
              <a:gd name="T0" fmla="*/ 2147483646 w 264"/>
              <a:gd name="T1" fmla="*/ 0 h 264"/>
              <a:gd name="T2" fmla="*/ 2147483646 w 264"/>
              <a:gd name="T3" fmla="*/ 2147483646 h 264"/>
              <a:gd name="T4" fmla="*/ 0 w 264"/>
              <a:gd name="T5" fmla="*/ 2147483646 h 264"/>
              <a:gd name="T6" fmla="*/ 0 60000 65536"/>
              <a:gd name="T7" fmla="*/ 0 60000 65536"/>
              <a:gd name="T8" fmla="*/ 0 60000 65536"/>
              <a:gd name="T9" fmla="*/ 0 w 264"/>
              <a:gd name="T10" fmla="*/ 0 h 264"/>
              <a:gd name="T11" fmla="*/ 264 w 264"/>
              <a:gd name="T12" fmla="*/ 264 h 264"/>
            </a:gdLst>
            <a:ahLst/>
            <a:cxnLst>
              <a:cxn ang="T6">
                <a:pos x="T0" y="T1"/>
              </a:cxn>
              <a:cxn ang="T7">
                <a:pos x="T2" y="T3"/>
              </a:cxn>
              <a:cxn ang="T8">
                <a:pos x="T4" y="T5"/>
              </a:cxn>
            </a:cxnLst>
            <a:rect l="T9" t="T10" r="T11" b="T12"/>
            <a:pathLst>
              <a:path w="264" h="264">
                <a:moveTo>
                  <a:pt x="60" y="0"/>
                </a:moveTo>
                <a:cubicBezTo>
                  <a:pt x="86" y="31"/>
                  <a:pt x="264" y="176"/>
                  <a:pt x="228" y="220"/>
                </a:cubicBezTo>
                <a:cubicBezTo>
                  <a:pt x="192" y="264"/>
                  <a:pt x="60" y="109"/>
                  <a:pt x="0" y="88"/>
                </a:cubicBezTo>
              </a:path>
            </a:pathLst>
          </a:custGeom>
          <a:noFill/>
          <a:ln w="28575"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C00000"/>
              </a:solidFill>
            </a:endParaRPr>
          </a:p>
        </p:txBody>
      </p:sp>
      <p:sp>
        <p:nvSpPr>
          <p:cNvPr id="180" name="Text Box 300"/>
          <p:cNvSpPr txBox="1">
            <a:spLocks noChangeArrowheads="1"/>
          </p:cNvSpPr>
          <p:nvPr/>
        </p:nvSpPr>
        <p:spPr bwMode="auto">
          <a:xfrm>
            <a:off x="2015433" y="2487119"/>
            <a:ext cx="151195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Comic Sans MS" pitchFamily="66" charset="0"/>
              </a:defRPr>
            </a:lvl1pPr>
            <a:lvl2pPr>
              <a:defRPr sz="2400">
                <a:solidFill>
                  <a:schemeClr val="tx1"/>
                </a:solidFill>
                <a:latin typeface="Comic Sans MS" pitchFamily="66" charset="0"/>
              </a:defRPr>
            </a:lvl2pPr>
            <a:lvl3pPr>
              <a:defRPr sz="2000">
                <a:solidFill>
                  <a:schemeClr val="tx1"/>
                </a:solidFill>
                <a:latin typeface="Comic Sans MS" pitchFamily="66"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a:defRPr sz="2000">
                <a:solidFill>
                  <a:schemeClr val="tx1"/>
                </a:solidFill>
                <a:latin typeface="Times New Roman" pitchFamily="18" charset="0"/>
              </a:defRPr>
            </a:lvl6pPr>
            <a:lvl7pPr>
              <a:defRPr sz="2000">
                <a:solidFill>
                  <a:schemeClr val="tx1"/>
                </a:solidFill>
                <a:latin typeface="Times New Roman" pitchFamily="18" charset="0"/>
              </a:defRPr>
            </a:lvl7pPr>
            <a:lvl8pPr>
              <a:defRPr sz="2000">
                <a:solidFill>
                  <a:schemeClr val="tx1"/>
                </a:solidFill>
                <a:latin typeface="Times New Roman" pitchFamily="18" charset="0"/>
              </a:defRPr>
            </a:lvl8pPr>
            <a:lvl9pPr>
              <a:defRPr sz="2000">
                <a:solidFill>
                  <a:schemeClr val="tx1"/>
                </a:solidFill>
                <a:latin typeface="Times New Roman" pitchFamily="18" charset="0"/>
              </a:defRPr>
            </a:lvl9pPr>
          </a:lstStyle>
          <a:p>
            <a:r>
              <a:rPr lang="en-US" altLang="zh-CN" sz="1800" dirty="0">
                <a:solidFill>
                  <a:srgbClr val="C00000"/>
                </a:solidFill>
                <a:ea typeface="宋体" pitchFamily="2" charset="-122"/>
              </a:rPr>
              <a:t>1 </a:t>
            </a:r>
            <a:r>
              <a:rPr lang="zh-CN" altLang="en-US" sz="1800" dirty="0">
                <a:solidFill>
                  <a:srgbClr val="C00000"/>
                </a:solidFill>
                <a:ea typeface="宋体" pitchFamily="2" charset="-122"/>
              </a:rPr>
              <a:t>探测数据包</a:t>
            </a:r>
          </a:p>
        </p:txBody>
      </p:sp>
      <p:sp>
        <p:nvSpPr>
          <p:cNvPr id="181" name="Freeform 301"/>
          <p:cNvSpPr>
            <a:spLocks/>
          </p:cNvSpPr>
          <p:nvPr/>
        </p:nvSpPr>
        <p:spPr bwMode="auto">
          <a:xfrm>
            <a:off x="1875733" y="2668094"/>
            <a:ext cx="1794933" cy="474663"/>
          </a:xfrm>
          <a:custGeom>
            <a:avLst/>
            <a:gdLst>
              <a:gd name="T0" fmla="*/ 2147483646 w 848"/>
              <a:gd name="T1" fmla="*/ 2147483646 h 299"/>
              <a:gd name="T2" fmla="*/ 2147483646 w 848"/>
              <a:gd name="T3" fmla="*/ 2147483646 h 299"/>
              <a:gd name="T4" fmla="*/ 2147483646 w 848"/>
              <a:gd name="T5" fmla="*/ 2147483646 h 299"/>
              <a:gd name="T6" fmla="*/ 2147483646 w 848"/>
              <a:gd name="T7" fmla="*/ 2147483646 h 299"/>
              <a:gd name="T8" fmla="*/ 0 w 848"/>
              <a:gd name="T9" fmla="*/ 2147483646 h 299"/>
              <a:gd name="T10" fmla="*/ 0 60000 65536"/>
              <a:gd name="T11" fmla="*/ 0 60000 65536"/>
              <a:gd name="T12" fmla="*/ 0 60000 65536"/>
              <a:gd name="T13" fmla="*/ 0 60000 65536"/>
              <a:gd name="T14" fmla="*/ 0 60000 65536"/>
              <a:gd name="T15" fmla="*/ 0 w 848"/>
              <a:gd name="T16" fmla="*/ 0 h 299"/>
              <a:gd name="T17" fmla="*/ 848 w 848"/>
              <a:gd name="T18" fmla="*/ 299 h 299"/>
            </a:gdLst>
            <a:ahLst/>
            <a:cxnLst>
              <a:cxn ang="T10">
                <a:pos x="T0" y="T1"/>
              </a:cxn>
              <a:cxn ang="T11">
                <a:pos x="T2" y="T3"/>
              </a:cxn>
              <a:cxn ang="T12">
                <a:pos x="T4" y="T5"/>
              </a:cxn>
              <a:cxn ang="T13">
                <a:pos x="T6" y="T7"/>
              </a:cxn>
              <a:cxn ang="T14">
                <a:pos x="T8" y="T9"/>
              </a:cxn>
            </a:cxnLst>
            <a:rect l="T15" t="T16" r="T17" b="T18"/>
            <a:pathLst>
              <a:path w="848" h="299">
                <a:moveTo>
                  <a:pt x="76" y="76"/>
                </a:moveTo>
                <a:cubicBezTo>
                  <a:pt x="137" y="57"/>
                  <a:pt x="200" y="216"/>
                  <a:pt x="324" y="216"/>
                </a:cubicBezTo>
                <a:cubicBezTo>
                  <a:pt x="448" y="216"/>
                  <a:pt x="792" y="0"/>
                  <a:pt x="820" y="76"/>
                </a:cubicBezTo>
                <a:cubicBezTo>
                  <a:pt x="848" y="152"/>
                  <a:pt x="469" y="245"/>
                  <a:pt x="340" y="296"/>
                </a:cubicBezTo>
                <a:cubicBezTo>
                  <a:pt x="203" y="299"/>
                  <a:pt x="62" y="78"/>
                  <a:pt x="0" y="96"/>
                </a:cubicBezTo>
              </a:path>
            </a:pathLst>
          </a:custGeom>
          <a:noFill/>
          <a:ln w="28575"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C00000"/>
              </a:solidFill>
            </a:endParaRPr>
          </a:p>
        </p:txBody>
      </p:sp>
      <p:sp>
        <p:nvSpPr>
          <p:cNvPr id="182" name="Text Box 302"/>
          <p:cNvSpPr txBox="1">
            <a:spLocks noChangeArrowheads="1"/>
          </p:cNvSpPr>
          <p:nvPr/>
        </p:nvSpPr>
        <p:spPr bwMode="auto">
          <a:xfrm>
            <a:off x="2777433" y="2976069"/>
            <a:ext cx="15488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Comic Sans MS" pitchFamily="66" charset="0"/>
              </a:defRPr>
            </a:lvl1pPr>
            <a:lvl2pPr>
              <a:defRPr sz="2400">
                <a:solidFill>
                  <a:schemeClr val="tx1"/>
                </a:solidFill>
                <a:latin typeface="Comic Sans MS" pitchFamily="66" charset="0"/>
              </a:defRPr>
            </a:lvl2pPr>
            <a:lvl3pPr>
              <a:defRPr sz="2000">
                <a:solidFill>
                  <a:schemeClr val="tx1"/>
                </a:solidFill>
                <a:latin typeface="Comic Sans MS" pitchFamily="66"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a:defRPr sz="2000">
                <a:solidFill>
                  <a:schemeClr val="tx1"/>
                </a:solidFill>
                <a:latin typeface="Times New Roman" pitchFamily="18" charset="0"/>
              </a:defRPr>
            </a:lvl6pPr>
            <a:lvl7pPr>
              <a:defRPr sz="2000">
                <a:solidFill>
                  <a:schemeClr val="tx1"/>
                </a:solidFill>
                <a:latin typeface="Times New Roman" pitchFamily="18" charset="0"/>
              </a:defRPr>
            </a:lvl7pPr>
            <a:lvl8pPr>
              <a:defRPr sz="2000">
                <a:solidFill>
                  <a:schemeClr val="tx1"/>
                </a:solidFill>
                <a:latin typeface="Times New Roman" pitchFamily="18" charset="0"/>
              </a:defRPr>
            </a:lvl8pPr>
            <a:lvl9pPr>
              <a:defRPr sz="2000">
                <a:solidFill>
                  <a:schemeClr val="tx1"/>
                </a:solidFill>
                <a:latin typeface="Times New Roman" pitchFamily="18" charset="0"/>
              </a:defRPr>
            </a:lvl9pPr>
          </a:lstStyle>
          <a:p>
            <a:r>
              <a:rPr lang="en-US" altLang="zh-CN" sz="1800" dirty="0">
                <a:solidFill>
                  <a:srgbClr val="C00000"/>
                </a:solidFill>
                <a:ea typeface="宋体" pitchFamily="2" charset="-122"/>
              </a:rPr>
              <a:t>2 </a:t>
            </a:r>
            <a:r>
              <a:rPr lang="zh-CN" altLang="en-US" sz="1800" dirty="0">
                <a:solidFill>
                  <a:srgbClr val="C00000"/>
                </a:solidFill>
                <a:ea typeface="宋体" pitchFamily="2" charset="-122"/>
              </a:rPr>
              <a:t>探测数据包</a:t>
            </a:r>
          </a:p>
        </p:txBody>
      </p:sp>
      <p:sp>
        <p:nvSpPr>
          <p:cNvPr id="183" name="Freeform 303"/>
          <p:cNvSpPr>
            <a:spLocks/>
          </p:cNvSpPr>
          <p:nvPr/>
        </p:nvSpPr>
        <p:spPr bwMode="auto">
          <a:xfrm>
            <a:off x="1867266" y="2722069"/>
            <a:ext cx="2997200" cy="403225"/>
          </a:xfrm>
          <a:custGeom>
            <a:avLst/>
            <a:gdLst>
              <a:gd name="T0" fmla="*/ 2147483646 w 1416"/>
              <a:gd name="T1" fmla="*/ 2147483646 h 254"/>
              <a:gd name="T2" fmla="*/ 2147483646 w 1416"/>
              <a:gd name="T3" fmla="*/ 2147483646 h 254"/>
              <a:gd name="T4" fmla="*/ 2147483646 w 1416"/>
              <a:gd name="T5" fmla="*/ 2147483646 h 254"/>
              <a:gd name="T6" fmla="*/ 2147483646 w 1416"/>
              <a:gd name="T7" fmla="*/ 2147483646 h 254"/>
              <a:gd name="T8" fmla="*/ 2147483646 w 1416"/>
              <a:gd name="T9" fmla="*/ 2147483646 h 254"/>
              <a:gd name="T10" fmla="*/ 2147483646 w 1416"/>
              <a:gd name="T11" fmla="*/ 2147483646 h 254"/>
              <a:gd name="T12" fmla="*/ 0 w 1416"/>
              <a:gd name="T13" fmla="*/ 2147483646 h 254"/>
              <a:gd name="T14" fmla="*/ 0 60000 65536"/>
              <a:gd name="T15" fmla="*/ 0 60000 65536"/>
              <a:gd name="T16" fmla="*/ 0 60000 65536"/>
              <a:gd name="T17" fmla="*/ 0 60000 65536"/>
              <a:gd name="T18" fmla="*/ 0 60000 65536"/>
              <a:gd name="T19" fmla="*/ 0 60000 65536"/>
              <a:gd name="T20" fmla="*/ 0 60000 65536"/>
              <a:gd name="T21" fmla="*/ 0 w 1416"/>
              <a:gd name="T22" fmla="*/ 0 h 254"/>
              <a:gd name="T23" fmla="*/ 1416 w 1416"/>
              <a:gd name="T24" fmla="*/ 254 h 25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16" h="254">
                <a:moveTo>
                  <a:pt x="76" y="30"/>
                </a:moveTo>
                <a:cubicBezTo>
                  <a:pt x="137" y="11"/>
                  <a:pt x="200" y="170"/>
                  <a:pt x="324" y="170"/>
                </a:cubicBezTo>
                <a:cubicBezTo>
                  <a:pt x="461" y="165"/>
                  <a:pt x="717" y="0"/>
                  <a:pt x="896" y="2"/>
                </a:cubicBezTo>
                <a:cubicBezTo>
                  <a:pt x="1075" y="4"/>
                  <a:pt x="1416" y="122"/>
                  <a:pt x="1400" y="182"/>
                </a:cubicBezTo>
                <a:cubicBezTo>
                  <a:pt x="1384" y="242"/>
                  <a:pt x="1073" y="63"/>
                  <a:pt x="896" y="74"/>
                </a:cubicBezTo>
                <a:cubicBezTo>
                  <a:pt x="719" y="85"/>
                  <a:pt x="489" y="254"/>
                  <a:pt x="340" y="250"/>
                </a:cubicBezTo>
                <a:cubicBezTo>
                  <a:pt x="191" y="246"/>
                  <a:pt x="62" y="32"/>
                  <a:pt x="0" y="50"/>
                </a:cubicBezTo>
              </a:path>
            </a:pathLst>
          </a:custGeom>
          <a:noFill/>
          <a:ln w="28575" cmpd="sng">
            <a:solidFill>
              <a:srgbClr val="FF0000"/>
            </a:solidFill>
            <a:round/>
            <a:headEnd type="none" w="med" len="me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a:solidFill>
                <a:srgbClr val="C00000"/>
              </a:solidFill>
            </a:endParaRPr>
          </a:p>
        </p:txBody>
      </p:sp>
      <p:sp>
        <p:nvSpPr>
          <p:cNvPr id="184" name="Text Box 304"/>
          <p:cNvSpPr txBox="1">
            <a:spLocks noChangeArrowheads="1"/>
          </p:cNvSpPr>
          <p:nvPr/>
        </p:nvSpPr>
        <p:spPr bwMode="auto">
          <a:xfrm>
            <a:off x="4199833" y="2461719"/>
            <a:ext cx="154882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a:solidFill>
                  <a:schemeClr val="tx1"/>
                </a:solidFill>
                <a:latin typeface="Comic Sans MS" pitchFamily="66" charset="0"/>
              </a:defRPr>
            </a:lvl1pPr>
            <a:lvl2pPr>
              <a:defRPr sz="2400">
                <a:solidFill>
                  <a:schemeClr val="tx1"/>
                </a:solidFill>
                <a:latin typeface="Comic Sans MS" pitchFamily="66" charset="0"/>
              </a:defRPr>
            </a:lvl2pPr>
            <a:lvl3pPr>
              <a:defRPr sz="2000">
                <a:solidFill>
                  <a:schemeClr val="tx1"/>
                </a:solidFill>
                <a:latin typeface="Comic Sans MS" pitchFamily="66" charset="0"/>
              </a:defRPr>
            </a:lvl3pPr>
            <a:lvl4pPr>
              <a:defRPr sz="2000">
                <a:solidFill>
                  <a:schemeClr val="tx1"/>
                </a:solidFill>
                <a:latin typeface="Times New Roman" pitchFamily="18" charset="0"/>
              </a:defRPr>
            </a:lvl4pPr>
            <a:lvl5pPr>
              <a:defRPr sz="2000">
                <a:solidFill>
                  <a:schemeClr val="tx1"/>
                </a:solidFill>
                <a:latin typeface="Times New Roman" pitchFamily="18" charset="0"/>
              </a:defRPr>
            </a:lvl5pPr>
            <a:lvl6pPr>
              <a:defRPr sz="2000">
                <a:solidFill>
                  <a:schemeClr val="tx1"/>
                </a:solidFill>
                <a:latin typeface="Times New Roman" pitchFamily="18" charset="0"/>
              </a:defRPr>
            </a:lvl6pPr>
            <a:lvl7pPr>
              <a:defRPr sz="2000">
                <a:solidFill>
                  <a:schemeClr val="tx1"/>
                </a:solidFill>
                <a:latin typeface="Times New Roman" pitchFamily="18" charset="0"/>
              </a:defRPr>
            </a:lvl7pPr>
            <a:lvl8pPr>
              <a:defRPr sz="2000">
                <a:solidFill>
                  <a:schemeClr val="tx1"/>
                </a:solidFill>
                <a:latin typeface="Times New Roman" pitchFamily="18" charset="0"/>
              </a:defRPr>
            </a:lvl8pPr>
            <a:lvl9pPr>
              <a:defRPr sz="2000">
                <a:solidFill>
                  <a:schemeClr val="tx1"/>
                </a:solidFill>
                <a:latin typeface="Times New Roman" pitchFamily="18" charset="0"/>
              </a:defRPr>
            </a:lvl9pPr>
          </a:lstStyle>
          <a:p>
            <a:r>
              <a:rPr lang="en-US" altLang="zh-CN" sz="1800" dirty="0">
                <a:solidFill>
                  <a:srgbClr val="C00000"/>
                </a:solidFill>
                <a:ea typeface="宋体" pitchFamily="2" charset="-122"/>
              </a:rPr>
              <a:t>3 </a:t>
            </a:r>
            <a:r>
              <a:rPr lang="zh-CN" altLang="en-US" sz="1800" dirty="0">
                <a:solidFill>
                  <a:srgbClr val="C00000"/>
                </a:solidFill>
                <a:ea typeface="宋体" pitchFamily="2" charset="-122"/>
              </a:rPr>
              <a:t>探测数据包</a:t>
            </a:r>
          </a:p>
        </p:txBody>
      </p:sp>
      <p:sp>
        <p:nvSpPr>
          <p:cNvPr id="185" name="Rectangle 3"/>
          <p:cNvSpPr txBox="1">
            <a:spLocks noChangeArrowheads="1"/>
          </p:cNvSpPr>
          <p:nvPr/>
        </p:nvSpPr>
        <p:spPr>
          <a:xfrm>
            <a:off x="838200" y="3971586"/>
            <a:ext cx="5477933" cy="2161851"/>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CN" altLang="en-US" sz="2400" dirty="0">
                <a:latin typeface="等线" panose="02010600030101010101" pitchFamily="2" charset="-122"/>
                <a:ea typeface="等线" panose="02010600030101010101" pitchFamily="2" charset="-122"/>
              </a:rPr>
              <a:t>源向目的地发送一系列</a:t>
            </a:r>
            <a:r>
              <a:rPr lang="en-US" altLang="zh-CN" sz="2400" dirty="0">
                <a:latin typeface="等线" panose="02010600030101010101" pitchFamily="2" charset="-122"/>
                <a:ea typeface="等线" panose="02010600030101010101" pitchFamily="2" charset="-122"/>
              </a:rPr>
              <a:t>UDP</a:t>
            </a:r>
            <a:r>
              <a:rPr lang="zh-CN" altLang="en-US" sz="2400" dirty="0">
                <a:latin typeface="等线" panose="02010600030101010101" pitchFamily="2" charset="-122"/>
                <a:ea typeface="等线" panose="02010600030101010101" pitchFamily="2" charset="-122"/>
              </a:rPr>
              <a:t>段</a:t>
            </a:r>
            <a:r>
              <a:rPr lang="en-US" altLang="zh-CN" sz="2400" dirty="0">
                <a:latin typeface="等线" panose="02010600030101010101" pitchFamily="2" charset="-122"/>
                <a:ea typeface="等线" panose="02010600030101010101" pitchFamily="2" charset="-122"/>
              </a:rPr>
              <a:t>(</a:t>
            </a:r>
            <a:r>
              <a:rPr lang="zh-CN" altLang="en-US" sz="2400" dirty="0">
                <a:latin typeface="等线" panose="02010600030101010101" pitchFamily="2" charset="-122"/>
                <a:ea typeface="等线" panose="02010600030101010101" pitchFamily="2" charset="-122"/>
              </a:rPr>
              <a:t>不可能的端口号</a:t>
            </a:r>
            <a:r>
              <a:rPr lang="en-US" altLang="zh-CN" sz="2400" dirty="0">
                <a:latin typeface="等线" panose="02010600030101010101" pitchFamily="2" charset="-122"/>
                <a:ea typeface="等线" panose="02010600030101010101" pitchFamily="2" charset="-122"/>
              </a:rPr>
              <a:t>)</a:t>
            </a:r>
          </a:p>
          <a:p>
            <a:pPr lvl="1">
              <a:lnSpc>
                <a:spcPct val="110000"/>
              </a:lnSpc>
            </a:pPr>
            <a:r>
              <a:rPr lang="zh-CN" altLang="en-US" sz="2200" dirty="0">
                <a:latin typeface="等线" panose="02010600030101010101" pitchFamily="2" charset="-122"/>
                <a:ea typeface="等线" panose="02010600030101010101" pitchFamily="2" charset="-122"/>
              </a:rPr>
              <a:t>第一个 </a:t>
            </a:r>
            <a:r>
              <a:rPr lang="en-US" altLang="zh-CN" sz="2200" dirty="0">
                <a:latin typeface="等线" panose="02010600030101010101" pitchFamily="2" charset="-122"/>
                <a:ea typeface="等线" panose="02010600030101010101" pitchFamily="2" charset="-122"/>
              </a:rPr>
              <a:t>TTL =1</a:t>
            </a:r>
          </a:p>
          <a:p>
            <a:pPr lvl="1">
              <a:lnSpc>
                <a:spcPct val="110000"/>
              </a:lnSpc>
            </a:pPr>
            <a:r>
              <a:rPr lang="zh-CN" altLang="en-US" sz="2200" dirty="0">
                <a:latin typeface="等线" panose="02010600030101010101" pitchFamily="2" charset="-122"/>
                <a:ea typeface="等线" panose="02010600030101010101" pitchFamily="2" charset="-122"/>
              </a:rPr>
              <a:t>第二个 </a:t>
            </a:r>
            <a:r>
              <a:rPr lang="en-US" altLang="zh-CN" sz="2200" dirty="0">
                <a:latin typeface="等线" panose="02010600030101010101" pitchFamily="2" charset="-122"/>
                <a:ea typeface="等线" panose="02010600030101010101" pitchFamily="2" charset="-122"/>
              </a:rPr>
              <a:t>TTL=2, </a:t>
            </a:r>
            <a:r>
              <a:rPr lang="zh-CN" altLang="en-US" sz="2200" dirty="0">
                <a:latin typeface="等线" panose="02010600030101010101" pitchFamily="2" charset="-122"/>
                <a:ea typeface="等线" panose="02010600030101010101" pitchFamily="2" charset="-122"/>
              </a:rPr>
              <a:t>等</a:t>
            </a:r>
          </a:p>
        </p:txBody>
      </p:sp>
      <p:sp>
        <p:nvSpPr>
          <p:cNvPr id="186" name="Rectangle 3"/>
          <p:cNvSpPr txBox="1">
            <a:spLocks noChangeArrowheads="1"/>
          </p:cNvSpPr>
          <p:nvPr/>
        </p:nvSpPr>
        <p:spPr>
          <a:xfrm>
            <a:off x="6297448" y="3989736"/>
            <a:ext cx="5477933" cy="214370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zh-CN" altLang="en-US" sz="2400" dirty="0">
                <a:latin typeface="等线" panose="02010600030101010101" pitchFamily="2" charset="-122"/>
                <a:ea typeface="等线" panose="02010600030101010101" pitchFamily="2" charset="-122"/>
              </a:rPr>
              <a:t>当第</a:t>
            </a:r>
            <a:r>
              <a:rPr lang="en-US" altLang="zh-CN" sz="2400" dirty="0">
                <a:latin typeface="等线" panose="02010600030101010101" pitchFamily="2" charset="-122"/>
                <a:ea typeface="等线" panose="02010600030101010101" pitchFamily="2" charset="-122"/>
              </a:rPr>
              <a:t>n</a:t>
            </a:r>
            <a:r>
              <a:rPr lang="zh-CN" altLang="en-US" sz="2400" dirty="0">
                <a:latin typeface="等线" panose="02010600030101010101" pitchFamily="2" charset="-122"/>
                <a:ea typeface="等线" panose="02010600030101010101" pitchFamily="2" charset="-122"/>
              </a:rPr>
              <a:t>个数据包到达第</a:t>
            </a:r>
            <a:r>
              <a:rPr lang="en-US" altLang="zh-CN" sz="2400" dirty="0">
                <a:latin typeface="等线" panose="02010600030101010101" pitchFamily="2" charset="-122"/>
                <a:ea typeface="等线" panose="02010600030101010101" pitchFamily="2" charset="-122"/>
              </a:rPr>
              <a:t>n</a:t>
            </a:r>
            <a:r>
              <a:rPr lang="zh-CN" altLang="en-US" sz="2400" dirty="0">
                <a:latin typeface="等线" panose="02010600030101010101" pitchFamily="2" charset="-122"/>
                <a:ea typeface="等线" panose="02010600030101010101" pitchFamily="2" charset="-122"/>
              </a:rPr>
              <a:t>个路由器</a:t>
            </a:r>
            <a:r>
              <a:rPr lang="en-US" altLang="zh-CN" sz="2400" dirty="0">
                <a:latin typeface="等线" panose="02010600030101010101" pitchFamily="2" charset="-122"/>
                <a:ea typeface="等线" panose="02010600030101010101" pitchFamily="2" charset="-122"/>
              </a:rPr>
              <a:t>:</a:t>
            </a:r>
          </a:p>
          <a:p>
            <a:pPr lvl="1">
              <a:lnSpc>
                <a:spcPct val="110000"/>
              </a:lnSpc>
            </a:pPr>
            <a:r>
              <a:rPr lang="zh-CN" altLang="en-US" sz="2200" dirty="0">
                <a:latin typeface="等线" panose="02010600030101010101" pitchFamily="2" charset="-122"/>
                <a:ea typeface="等线" panose="02010600030101010101" pitchFamily="2" charset="-122"/>
              </a:rPr>
              <a:t>路由器丢弃数据包</a:t>
            </a:r>
          </a:p>
          <a:p>
            <a:pPr lvl="1">
              <a:lnSpc>
                <a:spcPct val="110000"/>
              </a:lnSpc>
            </a:pPr>
            <a:r>
              <a:rPr lang="zh-CN" altLang="en-US" sz="2200" dirty="0">
                <a:latin typeface="等线" panose="02010600030101010101" pitchFamily="2" charset="-122"/>
                <a:ea typeface="等线" panose="02010600030101010101" pitchFamily="2" charset="-122"/>
              </a:rPr>
              <a:t>并向源发送一个</a:t>
            </a:r>
            <a:r>
              <a:rPr lang="en-US" altLang="zh-CN" sz="2200" dirty="0">
                <a:latin typeface="等线" panose="02010600030101010101" pitchFamily="2" charset="-122"/>
                <a:ea typeface="等线" panose="02010600030101010101" pitchFamily="2" charset="-122"/>
              </a:rPr>
              <a:t>ICMP</a:t>
            </a:r>
            <a:r>
              <a:rPr lang="zh-CN" altLang="en-US" sz="2200" dirty="0">
                <a:latin typeface="等线" panose="02010600030101010101" pitchFamily="2" charset="-122"/>
                <a:ea typeface="等线" panose="02010600030101010101" pitchFamily="2" charset="-122"/>
              </a:rPr>
              <a:t>报文</a:t>
            </a:r>
            <a:endParaRPr lang="en-US" altLang="zh-CN" sz="2200" dirty="0">
              <a:latin typeface="等线" panose="02010600030101010101" pitchFamily="2" charset="-122"/>
              <a:ea typeface="等线" panose="02010600030101010101" pitchFamily="2" charset="-122"/>
            </a:endParaRPr>
          </a:p>
          <a:p>
            <a:pPr lvl="1">
              <a:lnSpc>
                <a:spcPct val="110000"/>
              </a:lnSpc>
            </a:pPr>
            <a:r>
              <a:rPr lang="zh-CN" altLang="en-US" sz="2200" dirty="0">
                <a:latin typeface="等线" panose="02010600030101010101" pitchFamily="2" charset="-122"/>
                <a:ea typeface="等线" panose="02010600030101010101" pitchFamily="2" charset="-122"/>
              </a:rPr>
              <a:t>报文的源</a:t>
            </a:r>
            <a:r>
              <a:rPr lang="en-US" altLang="zh-CN" sz="2200" dirty="0">
                <a:latin typeface="等线" panose="02010600030101010101" pitchFamily="2" charset="-122"/>
                <a:ea typeface="等线" panose="02010600030101010101" pitchFamily="2" charset="-122"/>
              </a:rPr>
              <a:t>IP</a:t>
            </a:r>
            <a:r>
              <a:rPr lang="zh-CN" altLang="en-US" sz="2200" dirty="0">
                <a:latin typeface="等线" panose="02010600030101010101" pitchFamily="2" charset="-122"/>
                <a:ea typeface="等线" panose="02010600030101010101" pitchFamily="2" charset="-122"/>
              </a:rPr>
              <a:t>地址就是该路由器的</a:t>
            </a:r>
            <a:r>
              <a:rPr lang="en-US" altLang="zh-CN" sz="2200" dirty="0">
                <a:latin typeface="等线" panose="02010600030101010101" pitchFamily="2" charset="-122"/>
                <a:ea typeface="等线" panose="02010600030101010101" pitchFamily="2" charset="-122"/>
              </a:rPr>
              <a:t>IP</a:t>
            </a:r>
            <a:r>
              <a:rPr lang="zh-CN" altLang="en-US" sz="2200" dirty="0">
                <a:latin typeface="等线" panose="02010600030101010101" pitchFamily="2" charset="-122"/>
                <a:ea typeface="等线" panose="02010600030101010101" pitchFamily="2" charset="-122"/>
              </a:rPr>
              <a:t>地址</a:t>
            </a:r>
          </a:p>
        </p:txBody>
      </p:sp>
    </p:spTree>
    <p:extLst>
      <p:ext uri="{BB962C8B-B14F-4D97-AF65-F5344CB8AC3E}">
        <p14:creationId xmlns:p14="http://schemas.microsoft.com/office/powerpoint/2010/main" val="18731500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childTnLst>
                                  <p:subTnLst>
                                    <p:set>
                                      <p:cBhvr override="childStyle">
                                        <p:cTn dur="1" fill="hold" display="0" masterRel="nextClick" afterEffect="1"/>
                                        <p:tgtEl>
                                          <p:spTgt spid="179"/>
                                        </p:tgtEl>
                                        <p:attrNameLst>
                                          <p:attrName>style.visibility</p:attrName>
                                        </p:attrNameLst>
                                      </p:cBhvr>
                                      <p:to>
                                        <p:strVal val="hidden"/>
                                      </p:to>
                                    </p:set>
                                  </p:subTnLst>
                                </p:cTn>
                              </p:par>
                              <p:par>
                                <p:cTn id="7" presetID="1" presetClass="entr" presetSubtype="0" fill="hold" grpId="0" nodeType="withEffect">
                                  <p:stCondLst>
                                    <p:cond delay="0"/>
                                  </p:stCondLst>
                                  <p:childTnLst>
                                    <p:set>
                                      <p:cBhvr>
                                        <p:cTn id="8" dur="1" fill="hold">
                                          <p:stCondLst>
                                            <p:cond delay="0"/>
                                          </p:stCondLst>
                                        </p:cTn>
                                        <p:tgtEl>
                                          <p:spTgt spid="180"/>
                                        </p:tgtEl>
                                        <p:attrNameLst>
                                          <p:attrName>style.visibility</p:attrName>
                                        </p:attrNameLst>
                                      </p:cBhvr>
                                      <p:to>
                                        <p:strVal val="visible"/>
                                      </p:to>
                                    </p:set>
                                  </p:childTnLst>
                                  <p:subTnLst>
                                    <p:set>
                                      <p:cBhvr override="childStyle">
                                        <p:cTn dur="1" fill="hold" display="0" masterRel="nextClick" afterEffect="1"/>
                                        <p:tgtEl>
                                          <p:spTgt spid="180"/>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1"/>
                                        </p:tgtEl>
                                        <p:attrNameLst>
                                          <p:attrName>style.visibility</p:attrName>
                                        </p:attrNameLst>
                                      </p:cBhvr>
                                      <p:to>
                                        <p:strVal val="visible"/>
                                      </p:to>
                                    </p:set>
                                  </p:childTnLst>
                                  <p:subTnLst>
                                    <p:set>
                                      <p:cBhvr override="childStyle">
                                        <p:cTn dur="1" fill="hold" display="0" masterRel="nextClick" afterEffect="1"/>
                                        <p:tgtEl>
                                          <p:spTgt spid="181"/>
                                        </p:tgtEl>
                                        <p:attrNameLst>
                                          <p:attrName>style.visibility</p:attrName>
                                        </p:attrNameLst>
                                      </p:cBhvr>
                                      <p:to>
                                        <p:strVal val="hidden"/>
                                      </p:to>
                                    </p:set>
                                  </p:subTnLst>
                                </p:cTn>
                              </p:par>
                              <p:par>
                                <p:cTn id="13" presetID="1" presetClass="entr" presetSubtype="0" fill="hold" grpId="0" nodeType="withEffect">
                                  <p:stCondLst>
                                    <p:cond delay="0"/>
                                  </p:stCondLst>
                                  <p:childTnLst>
                                    <p:set>
                                      <p:cBhvr>
                                        <p:cTn id="14" dur="1" fill="hold">
                                          <p:stCondLst>
                                            <p:cond delay="0"/>
                                          </p:stCondLst>
                                        </p:cTn>
                                        <p:tgtEl>
                                          <p:spTgt spid="182"/>
                                        </p:tgtEl>
                                        <p:attrNameLst>
                                          <p:attrName>style.visibility</p:attrName>
                                        </p:attrNameLst>
                                      </p:cBhvr>
                                      <p:to>
                                        <p:strVal val="visible"/>
                                      </p:to>
                                    </p:set>
                                  </p:childTnLst>
                                  <p:subTnLst>
                                    <p:set>
                                      <p:cBhvr override="childStyle">
                                        <p:cTn dur="1" fill="hold" display="0" masterRel="nextClick" afterEffect="1"/>
                                        <p:tgtEl>
                                          <p:spTgt spid="182"/>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animBg="1"/>
      <p:bldP spid="180" grpId="0"/>
      <p:bldP spid="181" grpId="0" animBg="1"/>
      <p:bldP spid="182" grpId="0"/>
      <p:bldP spid="183" grpId="0" animBg="1"/>
      <p:bldP spid="184"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ea typeface="宋体" pitchFamily="2" charset="-122"/>
              </a:rPr>
              <a:t>Traceroute</a:t>
            </a:r>
            <a:r>
              <a:rPr lang="zh-CN" altLang="en-US" dirty="0">
                <a:ea typeface="宋体" pitchFamily="2" charset="-122"/>
              </a:rPr>
              <a:t>和</a:t>
            </a:r>
            <a:r>
              <a:rPr lang="en-US" altLang="zh-CN" dirty="0">
                <a:ea typeface="宋体" pitchFamily="2" charset="-122"/>
              </a:rPr>
              <a:t>ICMP</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53</a:t>
            </a:fld>
            <a:endParaRPr kumimoji="1" lang="zh-CN" altLang="en-US" dirty="0"/>
          </a:p>
        </p:txBody>
      </p:sp>
      <p:sp>
        <p:nvSpPr>
          <p:cNvPr id="14" name="Rectangle 4">
            <a:extLst>
              <a:ext uri="{FF2B5EF4-FFF2-40B4-BE49-F238E27FC236}">
                <a16:creationId xmlns:a16="http://schemas.microsoft.com/office/drawing/2014/main" id="{FC811031-3315-0942-A8F2-880E674477A5}"/>
              </a:ext>
            </a:extLst>
          </p:cNvPr>
          <p:cNvSpPr txBox="1">
            <a:spLocks noChangeArrowheads="1"/>
          </p:cNvSpPr>
          <p:nvPr/>
        </p:nvSpPr>
        <p:spPr>
          <a:xfrm>
            <a:off x="6911937" y="2213510"/>
            <a:ext cx="3810000" cy="2005013"/>
          </a:xfrm>
          <a:prstGeom prst="rect">
            <a:avLst/>
          </a:prstGeom>
        </p:spPr>
        <p:txBody>
          <a:bodyPr/>
          <a:lstStyle>
            <a:lvl1pPr marL="352425" indent="-222250" algn="l" defTabSz="914400" rtl="0" eaLnBrk="1" latinLnBrk="0" hangingPunct="1">
              <a:lnSpc>
                <a:spcPct val="90000"/>
              </a:lnSpc>
              <a:spcBef>
                <a:spcPts val="1000"/>
              </a:spcBef>
              <a:buClr>
                <a:srgbClr val="0000A3"/>
              </a:buClr>
              <a:buFont typeface="Wingdings" pitchFamily="2" charset="2"/>
              <a:buChar char="§"/>
              <a:tabLst/>
              <a:defRPr sz="2800" kern="1200">
                <a:solidFill>
                  <a:schemeClr val="tx1"/>
                </a:solidFill>
                <a:latin typeface="+mn-lt"/>
                <a:ea typeface="+mn-ea"/>
                <a:cs typeface="+mn-cs"/>
              </a:defRPr>
            </a:lvl1pPr>
            <a:lvl2pPr marL="695325" indent="-231775" algn="l" defTabSz="914400" rtl="0" eaLnBrk="1" latinLnBrk="0" hangingPunct="1">
              <a:lnSpc>
                <a:spcPct val="90000"/>
              </a:lnSpc>
              <a:spcBef>
                <a:spcPts val="500"/>
              </a:spcBef>
              <a:buClr>
                <a:srgbClr val="0000A8"/>
              </a:buClr>
              <a:buFont typeface="Arial" panose="020B0604020202020204" pitchFamily="34" charset="0"/>
              <a:buChar char="•"/>
              <a:tabLst/>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2575" indent="-282575">
              <a:defRPr/>
            </a:pPr>
            <a:endParaRPr lang="en-US" sz="2400" dirty="0"/>
          </a:p>
        </p:txBody>
      </p:sp>
      <p:sp>
        <p:nvSpPr>
          <p:cNvPr id="320" name="内容占位符 2"/>
          <p:cNvSpPr txBox="1">
            <a:spLocks/>
          </p:cNvSpPr>
          <p:nvPr/>
        </p:nvSpPr>
        <p:spPr>
          <a:xfrm>
            <a:off x="876665" y="1391940"/>
            <a:ext cx="5029200" cy="4715809"/>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40000"/>
              </a:lnSpc>
              <a:spcBef>
                <a:spcPts val="0"/>
              </a:spcBef>
              <a:buFont typeface="Wingdings" pitchFamily="2" charset="2"/>
              <a:buNone/>
            </a:pPr>
            <a:endParaRPr lang="en-US" altLang="zh-CN" sz="4000" dirty="0">
              <a:latin typeface="DengXian" panose="02010600030101010101" pitchFamily="2" charset="-122"/>
              <a:ea typeface="DengXian" panose="02010600030101010101" pitchFamily="2" charset="-122"/>
            </a:endParaRP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C:\&gt;tracert </a:t>
            </a:r>
            <a:r>
              <a:rPr lang="en-US" altLang="zh-CN" sz="5600" dirty="0">
                <a:latin typeface="DengXian" panose="02010600030101010101" pitchFamily="2" charset="-122"/>
                <a:ea typeface="DengXian" panose="02010600030101010101" pitchFamily="2" charset="-122"/>
                <a:hlinkClick r:id="rId3"/>
              </a:rPr>
              <a:t>www.taobao.com</a:t>
            </a:r>
            <a:endParaRPr lang="en-US" altLang="zh-CN" sz="5600" dirty="0">
              <a:latin typeface="DengXian" panose="02010600030101010101" pitchFamily="2" charset="-122"/>
              <a:ea typeface="DengXian" panose="02010600030101010101" pitchFamily="2" charset="-122"/>
            </a:endParaRPr>
          </a:p>
          <a:p>
            <a:pPr marL="0" indent="0">
              <a:lnSpc>
                <a:spcPct val="140000"/>
              </a:lnSpc>
              <a:spcBef>
                <a:spcPts val="0"/>
              </a:spcBef>
              <a:buFont typeface="Wingdings" pitchFamily="2" charset="2"/>
              <a:buNone/>
            </a:pPr>
            <a:endParaRPr lang="en-US" altLang="zh-CN" sz="5600" dirty="0">
              <a:latin typeface="DengXian" panose="02010600030101010101" pitchFamily="2" charset="-122"/>
              <a:ea typeface="DengXian" panose="02010600030101010101" pitchFamily="2" charset="-122"/>
            </a:endParaRPr>
          </a:p>
          <a:p>
            <a:pPr marL="0" indent="0">
              <a:lnSpc>
                <a:spcPct val="140000"/>
              </a:lnSpc>
              <a:spcBef>
                <a:spcPts val="0"/>
              </a:spcBef>
              <a:buFont typeface="Wingdings" pitchFamily="2" charset="2"/>
              <a:buNone/>
            </a:pPr>
            <a:r>
              <a:rPr lang="zh-CN" altLang="en-US" sz="5600" dirty="0">
                <a:latin typeface="DengXian" panose="02010600030101010101" pitchFamily="2" charset="-122"/>
                <a:ea typeface="DengXian" panose="02010600030101010101" pitchFamily="2" charset="-122"/>
              </a:rPr>
              <a:t>通过最多 </a:t>
            </a:r>
            <a:r>
              <a:rPr lang="en-US" altLang="zh-CN" sz="5600" dirty="0">
                <a:latin typeface="DengXian" panose="02010600030101010101" pitchFamily="2" charset="-122"/>
                <a:ea typeface="DengXian" panose="02010600030101010101" pitchFamily="2" charset="-122"/>
              </a:rPr>
              <a:t>30 </a:t>
            </a:r>
            <a:r>
              <a:rPr lang="zh-CN" altLang="en-US" sz="5600" dirty="0">
                <a:latin typeface="DengXian" panose="02010600030101010101" pitchFamily="2" charset="-122"/>
                <a:ea typeface="DengXian" panose="02010600030101010101" pitchFamily="2" charset="-122"/>
              </a:rPr>
              <a:t>个跃点跟踪</a:t>
            </a:r>
          </a:p>
          <a:p>
            <a:pPr marL="0" indent="0">
              <a:lnSpc>
                <a:spcPct val="140000"/>
              </a:lnSpc>
              <a:spcBef>
                <a:spcPts val="0"/>
              </a:spcBef>
              <a:buFont typeface="Wingdings" pitchFamily="2" charset="2"/>
              <a:buNone/>
            </a:pPr>
            <a:r>
              <a:rPr lang="zh-CN" altLang="en-US" sz="5600" dirty="0">
                <a:latin typeface="DengXian" panose="02010600030101010101" pitchFamily="2" charset="-122"/>
                <a:ea typeface="DengXian" panose="02010600030101010101" pitchFamily="2" charset="-122"/>
              </a:rPr>
              <a:t>到 </a:t>
            </a:r>
            <a:r>
              <a:rPr lang="en-US" altLang="zh-CN" sz="5600" dirty="0">
                <a:latin typeface="DengXian" panose="02010600030101010101" pitchFamily="2" charset="-122"/>
                <a:ea typeface="DengXian" panose="02010600030101010101" pitchFamily="2" charset="-122"/>
              </a:rPr>
              <a:t>www.taobao.com.danuoyi.tbcache.com [27.211.197.171] </a:t>
            </a:r>
            <a:r>
              <a:rPr lang="zh-CN" altLang="en-US" sz="5600" dirty="0">
                <a:latin typeface="DengXian" panose="02010600030101010101" pitchFamily="2" charset="-122"/>
                <a:ea typeface="DengXian" panose="02010600030101010101" pitchFamily="2" charset="-122"/>
              </a:rPr>
              <a:t>的路由</a:t>
            </a:r>
            <a:r>
              <a:rPr lang="en-US" altLang="zh-CN" sz="5600" dirty="0">
                <a:latin typeface="DengXian" panose="02010600030101010101" pitchFamily="2" charset="-122"/>
                <a:ea typeface="DengXian" panose="02010600030101010101" pitchFamily="2" charset="-122"/>
              </a:rPr>
              <a:t>:</a:t>
            </a:r>
          </a:p>
          <a:p>
            <a:pPr marL="0" indent="0">
              <a:lnSpc>
                <a:spcPct val="140000"/>
              </a:lnSpc>
              <a:spcBef>
                <a:spcPts val="0"/>
              </a:spcBef>
              <a:buFont typeface="Wingdings" pitchFamily="2" charset="2"/>
              <a:buNone/>
            </a:pPr>
            <a:endParaRPr lang="en-US" altLang="zh-CN" sz="5600" dirty="0">
              <a:latin typeface="DengXian" panose="02010600030101010101" pitchFamily="2" charset="-122"/>
              <a:ea typeface="DengXian" panose="02010600030101010101" pitchFamily="2" charset="-122"/>
            </a:endParaRP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1     3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2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4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192.168.3.1</a:t>
            </a: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2     3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6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3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SMBSHARE [192.168.1.1]</a:t>
            </a: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3     6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9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5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27.215.136.1</a:t>
            </a: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4     6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11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7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61.162.199.89</a:t>
            </a: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5     7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18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21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61.162.199.9</a:t>
            </a: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6    23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29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22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61.156.223.69</a:t>
            </a: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7    28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31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20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112.230.160.54</a:t>
            </a: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8    19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27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36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60.208.64.230</a:t>
            </a: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9    15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15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16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119.164.254.86</a:t>
            </a:r>
          </a:p>
          <a:p>
            <a:pPr marL="0" indent="0">
              <a:lnSpc>
                <a:spcPct val="140000"/>
              </a:lnSpc>
              <a:spcBef>
                <a:spcPts val="0"/>
              </a:spcBef>
              <a:buFont typeface="Wingdings" pitchFamily="2" charset="2"/>
              <a:buNone/>
            </a:pPr>
            <a:r>
              <a:rPr lang="en-US" altLang="zh-CN" sz="5600" dirty="0">
                <a:latin typeface="DengXian" panose="02010600030101010101" pitchFamily="2" charset="-122"/>
                <a:ea typeface="DengXian" panose="02010600030101010101" pitchFamily="2" charset="-122"/>
              </a:rPr>
              <a:t> 10   19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13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13 </a:t>
            </a:r>
            <a:r>
              <a:rPr lang="en-US" altLang="zh-CN" sz="5600" dirty="0" err="1">
                <a:latin typeface="DengXian" panose="02010600030101010101" pitchFamily="2" charset="-122"/>
                <a:ea typeface="DengXian" panose="02010600030101010101" pitchFamily="2" charset="-122"/>
              </a:rPr>
              <a:t>ms</a:t>
            </a:r>
            <a:r>
              <a:rPr lang="en-US" altLang="zh-CN" sz="5600" dirty="0">
                <a:latin typeface="DengXian" panose="02010600030101010101" pitchFamily="2" charset="-122"/>
                <a:ea typeface="DengXian" panose="02010600030101010101" pitchFamily="2" charset="-122"/>
              </a:rPr>
              <a:t>  27.211.197.171</a:t>
            </a:r>
          </a:p>
          <a:p>
            <a:pPr marL="0" indent="0">
              <a:lnSpc>
                <a:spcPct val="140000"/>
              </a:lnSpc>
              <a:spcBef>
                <a:spcPts val="0"/>
              </a:spcBef>
              <a:buFont typeface="Wingdings" pitchFamily="2" charset="2"/>
              <a:buNone/>
            </a:pPr>
            <a:endParaRPr lang="en-US" altLang="zh-CN" sz="5600" dirty="0">
              <a:latin typeface="DengXian" panose="02010600030101010101" pitchFamily="2" charset="-122"/>
              <a:ea typeface="DengXian" panose="02010600030101010101" pitchFamily="2" charset="-122"/>
            </a:endParaRPr>
          </a:p>
          <a:p>
            <a:pPr marL="0" indent="0">
              <a:lnSpc>
                <a:spcPct val="140000"/>
              </a:lnSpc>
              <a:spcBef>
                <a:spcPts val="0"/>
              </a:spcBef>
              <a:buFont typeface="Wingdings" pitchFamily="2" charset="2"/>
              <a:buNone/>
            </a:pPr>
            <a:r>
              <a:rPr lang="zh-CN" altLang="en-US" sz="5600" dirty="0">
                <a:latin typeface="DengXian" panose="02010600030101010101" pitchFamily="2" charset="-122"/>
                <a:ea typeface="DengXian" panose="02010600030101010101" pitchFamily="2" charset="-122"/>
              </a:rPr>
              <a:t>跟踪完成。</a:t>
            </a:r>
          </a:p>
          <a:p>
            <a:endParaRPr lang="zh-CN" altLang="en-US" dirty="0">
              <a:latin typeface="DengXian" panose="02010600030101010101" pitchFamily="2" charset="-122"/>
              <a:ea typeface="DengXian" panose="02010600030101010101" pitchFamily="2" charset="-122"/>
            </a:endParaRPr>
          </a:p>
          <a:p>
            <a:pPr marL="0" indent="0">
              <a:buFont typeface="Wingdings" pitchFamily="2" charset="2"/>
              <a:buNone/>
            </a:pPr>
            <a:endParaRPr lang="zh-CN" altLang="en-US" dirty="0">
              <a:latin typeface="DengXian" panose="02010600030101010101" pitchFamily="2" charset="-122"/>
              <a:ea typeface="DengXian" panose="02010600030101010101" pitchFamily="2" charset="-122"/>
            </a:endParaRPr>
          </a:p>
        </p:txBody>
      </p:sp>
      <p:sp>
        <p:nvSpPr>
          <p:cNvPr id="3" name="日期占位符 2"/>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5.2.6 Internet</a:t>
            </a:r>
            <a:r>
              <a:rPr kumimoji="1" lang="zh-CN" altLang="en-US" dirty="0">
                <a:latin typeface="DengXian" panose="02010600030101010101" pitchFamily="2" charset="-122"/>
                <a:ea typeface="DengXian" panose="02010600030101010101" pitchFamily="2" charset="-122"/>
              </a:rPr>
              <a:t>控制报文协议</a:t>
            </a:r>
          </a:p>
        </p:txBody>
      </p:sp>
      <p:sp>
        <p:nvSpPr>
          <p:cNvPr id="98" name="Rectangle 4"/>
          <p:cNvSpPr txBox="1">
            <a:spLocks noChangeArrowheads="1"/>
          </p:cNvSpPr>
          <p:nvPr/>
        </p:nvSpPr>
        <p:spPr>
          <a:xfrm>
            <a:off x="6324562" y="1882587"/>
            <a:ext cx="4984749" cy="4343401"/>
          </a:xfrm>
          <a:prstGeom prst="rect">
            <a:avLst/>
          </a:prstGeom>
        </p:spPr>
        <p:txBody>
          <a:bodyPr/>
          <a:lstStyle>
            <a:lvl1pPr marL="228600" indent="-228600" algn="l" defTabSz="914400" rtl="0" eaLnBrk="1" latinLnBrk="0" hangingPunct="1">
              <a:lnSpc>
                <a:spcPct val="100000"/>
              </a:lnSpc>
              <a:spcBef>
                <a:spcPts val="600"/>
              </a:spcBef>
              <a:buFont typeface="Arial" panose="020B0604020202020204" pitchFamily="34" charset="0"/>
              <a:buChar char="•"/>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itchFamily="2" charset="2"/>
              <a:buChar char="Ø"/>
            </a:pPr>
            <a:r>
              <a:rPr lang="zh-CN" altLang="en-US" sz="2400" dirty="0">
                <a:latin typeface="等线" panose="02010600030101010101" pitchFamily="2" charset="-122"/>
                <a:ea typeface="等线" panose="02010600030101010101" pitchFamily="2" charset="-122"/>
              </a:rPr>
              <a:t>当源收到</a:t>
            </a:r>
            <a:r>
              <a:rPr lang="en-US" altLang="zh-CN" sz="2400" dirty="0">
                <a:latin typeface="等线" panose="02010600030101010101" pitchFamily="2" charset="-122"/>
                <a:ea typeface="等线" panose="02010600030101010101" pitchFamily="2" charset="-122"/>
              </a:rPr>
              <a:t>ICMP</a:t>
            </a:r>
            <a:r>
              <a:rPr lang="zh-CN" altLang="en-US" sz="2400" dirty="0">
                <a:latin typeface="等线" panose="02010600030101010101" pitchFamily="2" charset="-122"/>
                <a:ea typeface="等线" panose="02010600030101010101" pitchFamily="2" charset="-122"/>
              </a:rPr>
              <a:t>报文，计算 </a:t>
            </a:r>
            <a:r>
              <a:rPr lang="en-US" altLang="zh-CN" sz="2400" dirty="0">
                <a:latin typeface="等线" panose="02010600030101010101" pitchFamily="2" charset="-122"/>
                <a:ea typeface="等线" panose="02010600030101010101" pitchFamily="2" charset="-122"/>
              </a:rPr>
              <a:t>RTT</a:t>
            </a:r>
          </a:p>
          <a:p>
            <a:pPr>
              <a:lnSpc>
                <a:spcPct val="110000"/>
              </a:lnSpc>
              <a:buFont typeface="Wingdings" pitchFamily="2" charset="2"/>
              <a:buChar char="Ø"/>
            </a:pPr>
            <a:r>
              <a:rPr lang="en-US" altLang="zh-CN" sz="2400" dirty="0" err="1">
                <a:latin typeface="等线" panose="02010600030101010101" pitchFamily="2" charset="-122"/>
                <a:ea typeface="等线" panose="02010600030101010101" pitchFamily="2" charset="-122"/>
              </a:rPr>
              <a:t>Tracert</a:t>
            </a:r>
            <a:r>
              <a:rPr lang="zh-CN" altLang="en-US" sz="2400" dirty="0">
                <a:latin typeface="等线" panose="02010600030101010101" pitchFamily="2" charset="-122"/>
                <a:ea typeface="等线" panose="02010600030101010101" pitchFamily="2" charset="-122"/>
              </a:rPr>
              <a:t>针对同一</a:t>
            </a:r>
            <a:r>
              <a:rPr lang="en-US" altLang="zh-CN" sz="2400" dirty="0">
                <a:latin typeface="等线" panose="02010600030101010101" pitchFamily="2" charset="-122"/>
                <a:ea typeface="等线" panose="02010600030101010101" pitchFamily="2" charset="-122"/>
              </a:rPr>
              <a:t>RTT</a:t>
            </a:r>
            <a:r>
              <a:rPr lang="zh-CN" altLang="en-US" sz="2400" dirty="0">
                <a:latin typeface="等线" panose="02010600030101010101" pitchFamily="2" charset="-122"/>
                <a:ea typeface="等线" panose="02010600030101010101" pitchFamily="2" charset="-122"/>
              </a:rPr>
              <a:t>值执行上述过程</a:t>
            </a:r>
            <a:r>
              <a:rPr lang="en-US" altLang="zh-CN" sz="2400" dirty="0">
                <a:latin typeface="等线" panose="02010600030101010101" pitchFamily="2" charset="-122"/>
                <a:ea typeface="等线" panose="02010600030101010101" pitchFamily="2" charset="-122"/>
              </a:rPr>
              <a:t>3</a:t>
            </a:r>
            <a:r>
              <a:rPr lang="zh-CN" altLang="en-US" sz="2400" dirty="0">
                <a:latin typeface="等线" panose="02010600030101010101" pitchFamily="2" charset="-122"/>
                <a:ea typeface="等线" panose="02010600030101010101" pitchFamily="2" charset="-122"/>
              </a:rPr>
              <a:t>次</a:t>
            </a:r>
            <a:endParaRPr lang="en-US" altLang="zh-CN" sz="2400" dirty="0">
              <a:latin typeface="等线" panose="02010600030101010101" pitchFamily="2" charset="-122"/>
              <a:ea typeface="等线" panose="02010600030101010101" pitchFamily="2" charset="-122"/>
            </a:endParaRPr>
          </a:p>
          <a:p>
            <a:pPr>
              <a:lnSpc>
                <a:spcPct val="110000"/>
              </a:lnSpc>
              <a:buFont typeface="Wingdings" pitchFamily="2" charset="2"/>
              <a:buChar char="Ø"/>
            </a:pPr>
            <a:endParaRPr lang="en-US" altLang="zh-CN" sz="2400" dirty="0">
              <a:latin typeface="等线" panose="02010600030101010101" pitchFamily="2" charset="-122"/>
              <a:ea typeface="等线" panose="02010600030101010101" pitchFamily="2" charset="-122"/>
            </a:endParaRPr>
          </a:p>
          <a:p>
            <a:pPr>
              <a:lnSpc>
                <a:spcPct val="110000"/>
              </a:lnSpc>
              <a:buFont typeface="ZapfDingbats" pitchFamily="82" charset="2"/>
              <a:buNone/>
            </a:pPr>
            <a:r>
              <a:rPr lang="zh-CN" altLang="en-US" sz="3000" dirty="0">
                <a:solidFill>
                  <a:srgbClr val="C00000"/>
                </a:solidFill>
                <a:latin typeface="等线" panose="02010600030101010101" pitchFamily="2" charset="-122"/>
                <a:ea typeface="等线" panose="02010600030101010101" pitchFamily="2" charset="-122"/>
              </a:rPr>
              <a:t>停止条件</a:t>
            </a:r>
            <a:endParaRPr lang="en-US" altLang="zh-CN" sz="3000" dirty="0">
              <a:solidFill>
                <a:srgbClr val="C00000"/>
              </a:solidFill>
              <a:latin typeface="等线" panose="02010600030101010101" pitchFamily="2" charset="-122"/>
              <a:ea typeface="等线" panose="02010600030101010101" pitchFamily="2" charset="-122"/>
            </a:endParaRPr>
          </a:p>
          <a:p>
            <a:pPr>
              <a:lnSpc>
                <a:spcPct val="110000"/>
              </a:lnSpc>
              <a:buFont typeface="Wingdings" pitchFamily="2" charset="2"/>
              <a:buChar char="Ø"/>
            </a:pPr>
            <a:r>
              <a:rPr lang="en-US" altLang="zh-CN" sz="2400" dirty="0">
                <a:latin typeface="等线" panose="02010600030101010101" pitchFamily="2" charset="-122"/>
                <a:ea typeface="等线" panose="02010600030101010101" pitchFamily="2" charset="-122"/>
              </a:rPr>
              <a:t>UDP</a:t>
            </a:r>
            <a:r>
              <a:rPr lang="zh-CN" altLang="en-US" sz="2400" dirty="0">
                <a:latin typeface="等线" panose="02010600030101010101" pitchFamily="2" charset="-122"/>
                <a:ea typeface="等线" panose="02010600030101010101" pitchFamily="2" charset="-122"/>
              </a:rPr>
              <a:t>段最终到达目的主机，目的主机返回</a:t>
            </a:r>
            <a:r>
              <a:rPr lang="en-US" altLang="zh-CN" sz="2400" dirty="0">
                <a:latin typeface="等线" panose="02010600030101010101" pitchFamily="2" charset="-122"/>
                <a:ea typeface="等线" panose="02010600030101010101" pitchFamily="2" charset="-122"/>
              </a:rPr>
              <a:t>ICMP </a:t>
            </a:r>
            <a:r>
              <a:rPr lang="zh-CN" altLang="en-US" sz="2400" dirty="0">
                <a:latin typeface="等线" panose="02010600030101010101" pitchFamily="2" charset="-122"/>
                <a:ea typeface="等线" panose="02010600030101010101" pitchFamily="2" charset="-122"/>
              </a:rPr>
              <a:t>“端口不可达”数据包 </a:t>
            </a:r>
            <a:r>
              <a:rPr lang="en-US" altLang="zh-CN" sz="2400" dirty="0">
                <a:latin typeface="等线" panose="02010600030101010101" pitchFamily="2" charset="-122"/>
                <a:ea typeface="等线" panose="02010600030101010101" pitchFamily="2" charset="-122"/>
              </a:rPr>
              <a:t>(</a:t>
            </a:r>
            <a:r>
              <a:rPr lang="zh-CN" altLang="en-US" sz="2400" dirty="0">
                <a:latin typeface="等线" panose="02010600030101010101" pitchFamily="2" charset="-122"/>
                <a:ea typeface="等线" panose="02010600030101010101" pitchFamily="2" charset="-122"/>
              </a:rPr>
              <a:t>类型</a:t>
            </a:r>
            <a:r>
              <a:rPr lang="en-US" altLang="zh-CN" sz="2400" dirty="0">
                <a:latin typeface="等线" panose="02010600030101010101" pitchFamily="2" charset="-122"/>
                <a:ea typeface="等线" panose="02010600030101010101" pitchFamily="2" charset="-122"/>
              </a:rPr>
              <a:t>3, </a:t>
            </a:r>
            <a:r>
              <a:rPr lang="zh-CN" altLang="en-US" sz="2400" dirty="0">
                <a:latin typeface="等线" panose="02010600030101010101" pitchFamily="2" charset="-122"/>
                <a:ea typeface="等线" panose="02010600030101010101" pitchFamily="2" charset="-122"/>
              </a:rPr>
              <a:t>编码</a:t>
            </a:r>
            <a:r>
              <a:rPr lang="en-US" altLang="zh-CN" sz="2400" dirty="0">
                <a:latin typeface="等线" panose="02010600030101010101" pitchFamily="2" charset="-122"/>
                <a:ea typeface="等线" panose="02010600030101010101" pitchFamily="2" charset="-122"/>
              </a:rPr>
              <a:t>3)</a:t>
            </a:r>
            <a:r>
              <a:rPr lang="zh-CN" altLang="en-US" sz="2400" dirty="0">
                <a:latin typeface="等线" panose="02010600030101010101" pitchFamily="2" charset="-122"/>
                <a:ea typeface="等线" panose="02010600030101010101" pitchFamily="2" charset="-122"/>
              </a:rPr>
              <a:t>。当源得到该</a:t>
            </a:r>
            <a:r>
              <a:rPr lang="en-US" altLang="zh-CN" sz="2400" dirty="0">
                <a:latin typeface="等线" panose="02010600030101010101" pitchFamily="2" charset="-122"/>
                <a:ea typeface="等线" panose="02010600030101010101" pitchFamily="2" charset="-122"/>
              </a:rPr>
              <a:t>ICMP</a:t>
            </a:r>
            <a:r>
              <a:rPr lang="zh-CN" altLang="en-US" sz="2400" dirty="0">
                <a:latin typeface="等线" panose="02010600030101010101" pitchFamily="2" charset="-122"/>
                <a:ea typeface="等线" panose="02010600030101010101" pitchFamily="2" charset="-122"/>
              </a:rPr>
              <a:t>，停止</a:t>
            </a:r>
            <a:endParaRPr lang="en-US" altLang="zh-CN" sz="2400" dirty="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33528427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510758"/>
            <a:ext cx="10046292" cy="5183956"/>
          </a:xfrm>
        </p:spPr>
        <p:txBody>
          <a:bodyPr>
            <a:normAutofit/>
          </a:bodyPr>
          <a:lstStyle/>
          <a:p>
            <a:pPr marL="0" indent="0">
              <a:lnSpc>
                <a:spcPct val="130000"/>
              </a:lnSpc>
              <a:buNone/>
            </a:pPr>
            <a:r>
              <a:rPr lang="en-US" altLang="zh-CN" dirty="0"/>
              <a:t>5.1 </a:t>
            </a:r>
            <a:r>
              <a:rPr lang="zh-CN" altLang="zh-CN" dirty="0">
                <a:sym typeface="+mn-ea"/>
              </a:rPr>
              <a:t>网络层服务</a:t>
            </a:r>
            <a:endParaRPr kumimoji="1" lang="zh-CN" altLang="en-US" dirty="0"/>
          </a:p>
          <a:p>
            <a:pPr marL="0" indent="0">
              <a:lnSpc>
                <a:spcPct val="130000"/>
              </a:lnSpc>
              <a:buNone/>
            </a:pPr>
            <a:r>
              <a:rPr kumimoji="1" lang="en-US" altLang="zh-CN" dirty="0">
                <a:sym typeface="+mn-ea"/>
              </a:rPr>
              <a:t>5.2</a:t>
            </a:r>
            <a:r>
              <a:rPr kumimoji="1" lang="zh-CN" altLang="en-US" dirty="0">
                <a:sym typeface="+mn-ea"/>
              </a:rPr>
              <a:t> </a:t>
            </a:r>
            <a:r>
              <a:rPr kumimoji="1" lang="en-US" altLang="zh-CN" dirty="0">
                <a:sym typeface="+mn-ea"/>
              </a:rPr>
              <a:t>Internet</a:t>
            </a:r>
            <a:r>
              <a:rPr kumimoji="1" lang="zh-CN" altLang="en-US" dirty="0">
                <a:sym typeface="+mn-ea"/>
              </a:rPr>
              <a:t> 网际协议</a:t>
            </a:r>
            <a:endParaRPr kumimoji="1" lang="en-US" altLang="zh-CN" dirty="0"/>
          </a:p>
          <a:p>
            <a:pPr marL="0" indent="0">
              <a:lnSpc>
                <a:spcPct val="130000"/>
              </a:lnSpc>
              <a:buNone/>
            </a:pPr>
            <a:r>
              <a:rPr kumimoji="1" lang="en-US" altLang="zh-CN" dirty="0">
                <a:sym typeface="+mn-ea"/>
              </a:rPr>
              <a:t>5.3</a:t>
            </a:r>
            <a:r>
              <a:rPr kumimoji="1" lang="zh-CN" altLang="en-US" dirty="0">
                <a:sym typeface="+mn-ea"/>
              </a:rPr>
              <a:t> 路由算法</a:t>
            </a:r>
            <a:endParaRPr kumimoji="1" lang="en-US" altLang="zh-CN" dirty="0"/>
          </a:p>
          <a:p>
            <a:pPr marL="0" indent="0">
              <a:lnSpc>
                <a:spcPct val="130000"/>
              </a:lnSpc>
              <a:buNone/>
            </a:pPr>
            <a:r>
              <a:rPr kumimoji="1" lang="en-US" altLang="zh-CN" dirty="0">
                <a:sym typeface="+mn-ea"/>
              </a:rPr>
              <a:t>5.4</a:t>
            </a:r>
            <a:r>
              <a:rPr kumimoji="1" lang="zh-CN" altLang="en-US" dirty="0">
                <a:sym typeface="+mn-ea"/>
              </a:rPr>
              <a:t> </a:t>
            </a:r>
            <a:r>
              <a:rPr kumimoji="1" lang="en-US" altLang="zh-CN" dirty="0">
                <a:sym typeface="+mn-ea"/>
              </a:rPr>
              <a:t>Internet</a:t>
            </a:r>
            <a:r>
              <a:rPr kumimoji="1" lang="zh-CN" altLang="en-US" dirty="0">
                <a:sym typeface="+mn-ea"/>
              </a:rPr>
              <a:t>路由协议</a:t>
            </a:r>
            <a:endParaRPr kumimoji="1" lang="en-US" altLang="zh-CN" dirty="0"/>
          </a:p>
          <a:p>
            <a:pPr marL="0" indent="0">
              <a:lnSpc>
                <a:spcPct val="130000"/>
              </a:lnSpc>
              <a:buNone/>
            </a:pPr>
            <a:r>
              <a:rPr kumimoji="1" lang="en-US" altLang="zh-CN" dirty="0">
                <a:sym typeface="+mn-ea"/>
              </a:rPr>
              <a:t>5.5</a:t>
            </a:r>
            <a:r>
              <a:rPr kumimoji="1" lang="zh-CN" altLang="en-US" dirty="0">
                <a:sym typeface="+mn-ea"/>
              </a:rPr>
              <a:t> 路由器工作原理</a:t>
            </a:r>
            <a:endParaRPr kumimoji="1" lang="en-US" altLang="zh-CN" dirty="0"/>
          </a:p>
        </p:txBody>
      </p:sp>
      <p:sp>
        <p:nvSpPr>
          <p:cNvPr id="10" name="灯片编号占位符 9">
            <a:extLst>
              <a:ext uri="{FF2B5EF4-FFF2-40B4-BE49-F238E27FC236}">
                <a16:creationId xmlns:a16="http://schemas.microsoft.com/office/drawing/2014/main" id="{81955D56-458B-2941-A60C-A60B6824D7F3}"/>
              </a:ext>
            </a:extLst>
          </p:cNvPr>
          <p:cNvSpPr>
            <a:spLocks noGrp="1"/>
          </p:cNvSpPr>
          <p:nvPr>
            <p:ph type="sldNum" sz="quarter" idx="12"/>
          </p:nvPr>
        </p:nvSpPr>
        <p:spPr/>
        <p:txBody>
          <a:bodyPr/>
          <a:lstStyle/>
          <a:p>
            <a:fld id="{8D4D1E41-7A09-AB4A-A4E1-09765ADA2698}" type="slidenum">
              <a:rPr kumimoji="1" lang="zh-CN" altLang="en-US" smtClean="0"/>
              <a:pPr/>
              <a:t>54</a:t>
            </a:fld>
            <a:endParaRPr kumimoji="1" lang="zh-CN" altLang="en-US" dirty="0"/>
          </a:p>
        </p:txBody>
      </p:sp>
      <p:sp>
        <p:nvSpPr>
          <p:cNvPr id="6" name="矩形标注 5">
            <a:extLst>
              <a:ext uri="{FF2B5EF4-FFF2-40B4-BE49-F238E27FC236}">
                <a16:creationId xmlns:a16="http://schemas.microsoft.com/office/drawing/2014/main" id="{981187B3-3584-BA4E-A14C-4B26773516C6}"/>
              </a:ext>
            </a:extLst>
          </p:cNvPr>
          <p:cNvSpPr/>
          <p:nvPr/>
        </p:nvSpPr>
        <p:spPr>
          <a:xfrm>
            <a:off x="5930200" y="1507573"/>
            <a:ext cx="3466686" cy="3610527"/>
          </a:xfrm>
          <a:prstGeom prst="wedgeRectCallout">
            <a:avLst>
              <a:gd name="adj1" fmla="val -126005"/>
              <a:gd name="adj2" fmla="val -1276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schemeClr val="tx1"/>
                </a:solidFill>
                <a:latin typeface="DengXian" panose="02010600030101010101" pitchFamily="2" charset="-122"/>
                <a:ea typeface="DengXian" panose="02010600030101010101" pitchFamily="2" charset="-122"/>
              </a:rPr>
              <a:t>优化原则</a:t>
            </a:r>
            <a:endParaRPr kumimoji="1" lang="en-US" altLang="zh-CN" sz="2400" dirty="0">
              <a:solidFill>
                <a:schemeClr val="tx1"/>
              </a:solidFill>
              <a:latin typeface="DengXian" panose="02010600030101010101" pitchFamily="2" charset="-122"/>
              <a:ea typeface="DengXian" panose="02010600030101010101" pitchFamily="2"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DengXian" panose="02010600030101010101" pitchFamily="2" charset="-122"/>
                <a:ea typeface="DengXian" panose="02010600030101010101" pitchFamily="2" charset="-122"/>
              </a:rPr>
              <a:t>最短路径算法</a:t>
            </a:r>
            <a:endParaRPr kumimoji="1" lang="en-US" altLang="zh-CN" sz="2400" dirty="0">
              <a:solidFill>
                <a:schemeClr val="tx1"/>
              </a:solidFill>
              <a:latin typeface="DengXian" panose="02010600030101010101" pitchFamily="2" charset="-122"/>
              <a:ea typeface="DengXian" panose="02010600030101010101" pitchFamily="2"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DengXian" panose="02010600030101010101" pitchFamily="2" charset="-122"/>
                <a:ea typeface="DengXian" panose="02010600030101010101" pitchFamily="2" charset="-122"/>
              </a:rPr>
              <a:t>距离向量路由</a:t>
            </a:r>
            <a:endParaRPr kumimoji="1" lang="en-US" altLang="zh-CN" sz="2400" dirty="0">
              <a:solidFill>
                <a:schemeClr val="tx1"/>
              </a:solidFill>
              <a:latin typeface="DengXian" panose="02010600030101010101" pitchFamily="2" charset="-122"/>
              <a:ea typeface="DengXian" panose="02010600030101010101" pitchFamily="2"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DengXian" panose="02010600030101010101" pitchFamily="2" charset="-122"/>
                <a:ea typeface="DengXian" panose="02010600030101010101" pitchFamily="2" charset="-122"/>
              </a:rPr>
              <a:t>链路状态路由</a:t>
            </a:r>
            <a:endParaRPr kumimoji="1" lang="en-US" altLang="zh-CN" sz="2400" dirty="0">
              <a:solidFill>
                <a:schemeClr val="tx1"/>
              </a:solidFill>
              <a:latin typeface="DengXian" panose="02010600030101010101" pitchFamily="2" charset="-122"/>
              <a:ea typeface="DengXian" panose="02010600030101010101" pitchFamily="2"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DengXian" panose="02010600030101010101" pitchFamily="2" charset="-122"/>
                <a:ea typeface="DengXian" panose="02010600030101010101" pitchFamily="2" charset="-122"/>
              </a:rPr>
              <a:t>层次路由</a:t>
            </a:r>
            <a:endParaRPr kumimoji="1" lang="en-US" altLang="zh-CN" sz="2400" dirty="0">
              <a:solidFill>
                <a:schemeClr val="tx1"/>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4070801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路由算法</a:t>
            </a:r>
          </a:p>
        </p:txBody>
      </p:sp>
      <p:sp>
        <p:nvSpPr>
          <p:cNvPr id="3" name="内容占位符 2"/>
          <p:cNvSpPr>
            <a:spLocks noGrp="1"/>
          </p:cNvSpPr>
          <p:nvPr>
            <p:ph idx="1"/>
          </p:nvPr>
        </p:nvSpPr>
        <p:spPr>
          <a:xfrm>
            <a:off x="838200" y="1417272"/>
            <a:ext cx="10515600" cy="5131205"/>
          </a:xfrm>
        </p:spPr>
        <p:txBody>
          <a:bodyPr>
            <a:normAutofit/>
          </a:bodyPr>
          <a:lstStyle/>
          <a:p>
            <a:pPr>
              <a:lnSpc>
                <a:spcPct val="120000"/>
              </a:lnSpc>
            </a:pPr>
            <a:r>
              <a:rPr kumimoji="1" lang="zh-CN" altLang="en-US" dirty="0"/>
              <a:t>路由算法须满足的特性：</a:t>
            </a:r>
          </a:p>
          <a:p>
            <a:pPr lvl="1">
              <a:lnSpc>
                <a:spcPct val="120000"/>
              </a:lnSpc>
            </a:pPr>
            <a:r>
              <a:rPr kumimoji="1" lang="zh-CN" altLang="en-US" dirty="0"/>
              <a:t>正确性</a:t>
            </a:r>
            <a:endParaRPr kumimoji="1" lang="en-US" altLang="zh-CN" dirty="0"/>
          </a:p>
          <a:p>
            <a:pPr lvl="1">
              <a:lnSpc>
                <a:spcPct val="120000"/>
              </a:lnSpc>
            </a:pPr>
            <a:r>
              <a:rPr kumimoji="1" lang="zh-CN" altLang="en-US" dirty="0"/>
              <a:t>简单性</a:t>
            </a:r>
            <a:endParaRPr kumimoji="1" lang="en-US" altLang="zh-CN" dirty="0"/>
          </a:p>
          <a:p>
            <a:pPr lvl="1">
              <a:lnSpc>
                <a:spcPct val="120000"/>
              </a:lnSpc>
            </a:pPr>
            <a:r>
              <a:rPr kumimoji="1" lang="zh-CN" altLang="en-US" dirty="0"/>
              <a:t>鲁棒性</a:t>
            </a:r>
            <a:endParaRPr kumimoji="1" lang="en-US" altLang="zh-CN" dirty="0"/>
          </a:p>
          <a:p>
            <a:pPr lvl="1">
              <a:lnSpc>
                <a:spcPct val="120000"/>
              </a:lnSpc>
            </a:pPr>
            <a:r>
              <a:rPr kumimoji="1" lang="zh-CN" altLang="en-US" dirty="0"/>
              <a:t>稳定性</a:t>
            </a:r>
            <a:endParaRPr kumimoji="1" lang="en-US" altLang="zh-CN" dirty="0"/>
          </a:p>
          <a:p>
            <a:pPr lvl="1">
              <a:lnSpc>
                <a:spcPct val="120000"/>
              </a:lnSpc>
            </a:pPr>
            <a:r>
              <a:rPr kumimoji="1" lang="zh-CN" altLang="en-US" dirty="0"/>
              <a:t>公平性</a:t>
            </a:r>
            <a:endParaRPr kumimoji="1" lang="en-US" altLang="zh-CN" dirty="0"/>
          </a:p>
          <a:p>
            <a:pPr>
              <a:lnSpc>
                <a:spcPct val="120000"/>
              </a:lnSpc>
            </a:pPr>
            <a:r>
              <a:rPr kumimoji="1" lang="zh-CN" altLang="en-US" dirty="0"/>
              <a:t>根据路由算法是否随网络的通信量或拓扑自适应划分</a:t>
            </a:r>
          </a:p>
          <a:p>
            <a:pPr lvl="1">
              <a:lnSpc>
                <a:spcPct val="120000"/>
              </a:lnSpc>
            </a:pPr>
            <a:r>
              <a:rPr kumimoji="1" lang="zh-CN" altLang="en-US" dirty="0"/>
              <a:t>静态路由选择策略（非自适应路由选择）</a:t>
            </a:r>
            <a:endParaRPr kumimoji="1" lang="en-US" altLang="zh-CN" dirty="0"/>
          </a:p>
          <a:p>
            <a:pPr lvl="1">
              <a:lnSpc>
                <a:spcPct val="120000"/>
              </a:lnSpc>
            </a:pPr>
            <a:r>
              <a:rPr kumimoji="1" lang="zh-CN" altLang="en-US" dirty="0"/>
              <a:t>动态路由选择策略（自适应路由选择）</a:t>
            </a:r>
          </a:p>
          <a:p>
            <a:pPr marL="0" indent="0">
              <a:lnSpc>
                <a:spcPct val="120000"/>
              </a:lnSpc>
              <a:buNone/>
            </a:pPr>
            <a:endParaRPr kumimoji="1" lang="zh-CN" altLang="en-US" dirty="0"/>
          </a:p>
        </p:txBody>
      </p:sp>
      <p:cxnSp>
        <p:nvCxnSpPr>
          <p:cNvPr id="19" name="直接连接符 18"/>
          <p:cNvCxnSpPr/>
          <p:nvPr/>
        </p:nvCxnSpPr>
        <p:spPr>
          <a:xfrm flipH="1" flipV="1">
            <a:off x="5811520" y="5961380"/>
            <a:ext cx="29845" cy="6985"/>
          </a:xfrm>
          <a:prstGeom prst="line">
            <a:avLst/>
          </a:prstGeom>
        </p:spPr>
        <p:style>
          <a:lnRef idx="3">
            <a:schemeClr val="accent4"/>
          </a:lnRef>
          <a:fillRef idx="0">
            <a:schemeClr val="accent4"/>
          </a:fillRef>
          <a:effectRef idx="2">
            <a:schemeClr val="accent4"/>
          </a:effectRef>
          <a:fontRef idx="minor">
            <a:schemeClr val="tx1"/>
          </a:fontRef>
        </p:style>
      </p:cxnSp>
      <p:sp>
        <p:nvSpPr>
          <p:cNvPr id="6"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 </a:t>
            </a:r>
            <a:r>
              <a:rPr kumimoji="1" lang="zh-CN" altLang="en-US" dirty="0">
                <a:latin typeface="DengXian" panose="02010600030101010101" pitchFamily="2" charset="-122"/>
                <a:ea typeface="DengXian" panose="02010600030101010101" pitchFamily="2" charset="-122"/>
              </a:rPr>
              <a:t>路由算法</a:t>
            </a:r>
          </a:p>
        </p:txBody>
      </p:sp>
      <p:sp>
        <p:nvSpPr>
          <p:cNvPr id="7" name="灯片编号占位符 3">
            <a:extLst>
              <a:ext uri="{FF2B5EF4-FFF2-40B4-BE49-F238E27FC236}">
                <a16:creationId xmlns:a16="http://schemas.microsoft.com/office/drawing/2014/main" id="{E45CFB9C-E507-844B-BE18-1131E8DE0711}"/>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55</a:t>
            </a:fld>
            <a:endParaRPr kumimoji="1" lang="zh-CN" altLang="en-US" dirty="0"/>
          </a:p>
        </p:txBody>
      </p:sp>
    </p:spTree>
    <p:extLst>
      <p:ext uri="{BB962C8B-B14F-4D97-AF65-F5344CB8AC3E}">
        <p14:creationId xmlns:p14="http://schemas.microsoft.com/office/powerpoint/2010/main" val="185825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sym typeface="+mn-ea"/>
              </a:rPr>
              <a:t>优化原则</a:t>
            </a:r>
            <a:endParaRPr kumimoji="1" lang="zh-CN" altLang="en-US" dirty="0"/>
          </a:p>
        </p:txBody>
      </p:sp>
      <p:sp>
        <p:nvSpPr>
          <p:cNvPr id="3" name="内容占位符 2"/>
          <p:cNvSpPr>
            <a:spLocks noGrp="1"/>
          </p:cNvSpPr>
          <p:nvPr>
            <p:ph idx="1"/>
          </p:nvPr>
        </p:nvSpPr>
        <p:spPr>
          <a:xfrm>
            <a:off x="838200" y="1417320"/>
            <a:ext cx="10515600" cy="2239010"/>
          </a:xfrm>
        </p:spPr>
        <p:txBody>
          <a:bodyPr>
            <a:normAutofit/>
          </a:bodyPr>
          <a:lstStyle/>
          <a:p>
            <a:pPr>
              <a:lnSpc>
                <a:spcPct val="120000"/>
              </a:lnSpc>
            </a:pPr>
            <a:r>
              <a:rPr kumimoji="1" lang="zh-CN" altLang="en-US" dirty="0"/>
              <a:t>汇集树</a:t>
            </a:r>
            <a:r>
              <a:rPr kumimoji="1" lang="en-US" altLang="zh-CN" dirty="0"/>
              <a:t>(Sink Tree)</a:t>
            </a:r>
            <a:endParaRPr kumimoji="1" lang="zh-CN" altLang="en-US" dirty="0"/>
          </a:p>
          <a:p>
            <a:pPr lvl="1">
              <a:lnSpc>
                <a:spcPct val="120000"/>
              </a:lnSpc>
            </a:pPr>
            <a:r>
              <a:rPr kumimoji="1" lang="zh-CN" altLang="en-US" dirty="0">
                <a:solidFill>
                  <a:schemeClr val="tx1"/>
                </a:solidFill>
              </a:rPr>
              <a:t>所有的源节点到一个指定目标节点的最优路径的集合构成一棵以目标节点为根的树</a:t>
            </a:r>
          </a:p>
          <a:p>
            <a:pPr lvl="1">
              <a:lnSpc>
                <a:spcPct val="120000"/>
              </a:lnSpc>
            </a:pPr>
            <a:r>
              <a:rPr kumimoji="1" lang="zh-CN" altLang="en-US" dirty="0"/>
              <a:t>一棵</a:t>
            </a:r>
            <a:r>
              <a:rPr kumimoji="1" lang="zh-CN" altLang="en-US" dirty="0">
                <a:solidFill>
                  <a:srgbClr val="FF0000"/>
                </a:solidFill>
              </a:rPr>
              <a:t>路由器</a:t>
            </a:r>
            <a:r>
              <a:rPr kumimoji="1" lang="en-US" altLang="zh-CN" dirty="0">
                <a:solidFill>
                  <a:srgbClr val="FF0000"/>
                </a:solidFill>
              </a:rPr>
              <a:t>B</a:t>
            </a:r>
            <a:r>
              <a:rPr kumimoji="1" lang="zh-CN" altLang="en-US" dirty="0">
                <a:solidFill>
                  <a:srgbClr val="FF0000"/>
                </a:solidFill>
              </a:rPr>
              <a:t>的汇集树</a:t>
            </a:r>
            <a:r>
              <a:rPr kumimoji="1" lang="zh-CN" altLang="en-US" dirty="0"/>
              <a:t>（距离度量单位：步长数）</a:t>
            </a:r>
          </a:p>
          <a:p>
            <a:pPr marL="0" indent="0">
              <a:lnSpc>
                <a:spcPct val="120000"/>
              </a:lnSpc>
              <a:buNone/>
            </a:pPr>
            <a:endParaRPr kumimoji="1" lang="zh-CN" altLang="en-US" dirty="0"/>
          </a:p>
        </p:txBody>
      </p:sp>
      <p:sp>
        <p:nvSpPr>
          <p:cNvPr id="7" name="矩形 6"/>
          <p:cNvSpPr/>
          <p:nvPr/>
        </p:nvSpPr>
        <p:spPr>
          <a:xfrm>
            <a:off x="5414010" y="1417320"/>
            <a:ext cx="4625975" cy="460375"/>
          </a:xfrm>
          <a:prstGeom prst="rect">
            <a:avLst/>
          </a:prstGeom>
          <a:ln w="19050">
            <a:solidFill>
              <a:srgbClr val="7030A0"/>
            </a:solidFill>
          </a:ln>
        </p:spPr>
        <p:txBody>
          <a:bodyPr wrap="square">
            <a:spAutoFit/>
          </a:bodyPr>
          <a:lstStyle/>
          <a:p>
            <a:pPr algn="ctr"/>
            <a:r>
              <a:rPr lang="zh-CN" altLang="en-US" sz="2400" dirty="0">
                <a:latin typeface="等线" panose="02010600030101010101" pitchFamily="2" charset="-122"/>
                <a:ea typeface="等线" panose="02010600030101010101" pitchFamily="2" charset="-122"/>
              </a:rPr>
              <a:t>汇集树不是唯一的</a:t>
            </a:r>
          </a:p>
        </p:txBody>
      </p:sp>
      <p:cxnSp>
        <p:nvCxnSpPr>
          <p:cNvPr id="15" name="直接连接符 14"/>
          <p:cNvCxnSpPr/>
          <p:nvPr/>
        </p:nvCxnSpPr>
        <p:spPr>
          <a:xfrm flipH="1" flipV="1">
            <a:off x="208767" y="5427974"/>
            <a:ext cx="29845" cy="6985"/>
          </a:xfrm>
          <a:prstGeom prst="line">
            <a:avLst/>
          </a:prstGeom>
        </p:spPr>
        <p:style>
          <a:lnRef idx="3">
            <a:schemeClr val="accent4"/>
          </a:lnRef>
          <a:fillRef idx="0">
            <a:schemeClr val="accent4"/>
          </a:fillRef>
          <a:effectRef idx="2">
            <a:schemeClr val="accent4"/>
          </a:effectRef>
          <a:fontRef idx="minor">
            <a:schemeClr val="tx1"/>
          </a:fontRef>
        </p:style>
      </p:cxnSp>
      <p:sp>
        <p:nvSpPr>
          <p:cNvPr id="22" name="椭圆 21"/>
          <p:cNvSpPr/>
          <p:nvPr/>
        </p:nvSpPr>
        <p:spPr>
          <a:xfrm>
            <a:off x="839322" y="417135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23" name="直接连接符 22"/>
          <p:cNvCxnSpPr>
            <a:stCxn id="22" idx="7"/>
            <a:endCxn id="35" idx="2"/>
          </p:cNvCxnSpPr>
          <p:nvPr/>
        </p:nvCxnSpPr>
        <p:spPr>
          <a:xfrm flipV="1">
            <a:off x="1031727" y="3835435"/>
            <a:ext cx="1336040" cy="362585"/>
          </a:xfrm>
          <a:prstGeom prst="line">
            <a:avLst/>
          </a:prstGeom>
        </p:spPr>
        <p:style>
          <a:lnRef idx="3">
            <a:schemeClr val="dk1"/>
          </a:lnRef>
          <a:fillRef idx="0">
            <a:schemeClr val="dk1"/>
          </a:fillRef>
          <a:effectRef idx="2">
            <a:schemeClr val="dk1"/>
          </a:effectRef>
          <a:fontRef idx="minor">
            <a:schemeClr val="tx1"/>
          </a:fontRef>
        </p:style>
      </p:cxnSp>
      <p:cxnSp>
        <p:nvCxnSpPr>
          <p:cNvPr id="24" name="直接连接符 23"/>
          <p:cNvCxnSpPr>
            <a:stCxn id="22" idx="4"/>
            <a:endCxn id="37" idx="0"/>
          </p:cNvCxnSpPr>
          <p:nvPr/>
        </p:nvCxnSpPr>
        <p:spPr>
          <a:xfrm flipH="1">
            <a:off x="620882" y="4354865"/>
            <a:ext cx="331470" cy="678815"/>
          </a:xfrm>
          <a:prstGeom prst="line">
            <a:avLst/>
          </a:prstGeom>
        </p:spPr>
        <p:style>
          <a:lnRef idx="3">
            <a:schemeClr val="dk1"/>
          </a:lnRef>
          <a:fillRef idx="0">
            <a:schemeClr val="dk1"/>
          </a:fillRef>
          <a:effectRef idx="2">
            <a:schemeClr val="dk1"/>
          </a:effectRef>
          <a:fontRef idx="minor">
            <a:schemeClr val="tx1"/>
          </a:fontRef>
        </p:style>
      </p:cxnSp>
      <p:cxnSp>
        <p:nvCxnSpPr>
          <p:cNvPr id="25" name="直接连接符 24"/>
          <p:cNvCxnSpPr>
            <a:stCxn id="39" idx="4"/>
            <a:endCxn id="41" idx="0"/>
          </p:cNvCxnSpPr>
          <p:nvPr/>
        </p:nvCxnSpPr>
        <p:spPr>
          <a:xfrm>
            <a:off x="4488032" y="4083720"/>
            <a:ext cx="225425" cy="501650"/>
          </a:xfrm>
          <a:prstGeom prst="line">
            <a:avLst/>
          </a:prstGeom>
        </p:spPr>
        <p:style>
          <a:lnRef idx="3">
            <a:schemeClr val="dk1"/>
          </a:lnRef>
          <a:fillRef idx="0">
            <a:schemeClr val="dk1"/>
          </a:fillRef>
          <a:effectRef idx="2">
            <a:schemeClr val="dk1"/>
          </a:effectRef>
          <a:fontRef idx="minor">
            <a:schemeClr val="tx1"/>
          </a:fontRef>
        </p:style>
      </p:cxnSp>
      <p:cxnSp>
        <p:nvCxnSpPr>
          <p:cNvPr id="26" name="直接连接符 25"/>
          <p:cNvCxnSpPr>
            <a:stCxn id="35" idx="6"/>
            <a:endCxn id="39" idx="1"/>
          </p:cNvCxnSpPr>
          <p:nvPr/>
        </p:nvCxnSpPr>
        <p:spPr>
          <a:xfrm>
            <a:off x="2593192" y="3835435"/>
            <a:ext cx="1814830" cy="91440"/>
          </a:xfrm>
          <a:prstGeom prst="line">
            <a:avLst/>
          </a:prstGeom>
        </p:spPr>
        <p:style>
          <a:lnRef idx="3">
            <a:schemeClr val="dk1"/>
          </a:lnRef>
          <a:fillRef idx="0">
            <a:schemeClr val="dk1"/>
          </a:fillRef>
          <a:effectRef idx="2">
            <a:schemeClr val="dk1"/>
          </a:effectRef>
          <a:fontRef idx="minor">
            <a:schemeClr val="tx1"/>
          </a:fontRef>
        </p:style>
      </p:cxnSp>
      <p:sp>
        <p:nvSpPr>
          <p:cNvPr id="27" name="文本框 37"/>
          <p:cNvSpPr txBox="1"/>
          <p:nvPr/>
        </p:nvSpPr>
        <p:spPr>
          <a:xfrm>
            <a:off x="654537" y="3746332"/>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A</a:t>
            </a:r>
          </a:p>
        </p:txBody>
      </p:sp>
      <p:sp>
        <p:nvSpPr>
          <p:cNvPr id="28" name="文本框 38"/>
          <p:cNvSpPr txBox="1"/>
          <p:nvPr/>
        </p:nvSpPr>
        <p:spPr>
          <a:xfrm>
            <a:off x="2199492" y="337506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B</a:t>
            </a:r>
          </a:p>
        </p:txBody>
      </p:sp>
      <p:sp>
        <p:nvSpPr>
          <p:cNvPr id="29" name="文本框 39"/>
          <p:cNvSpPr txBox="1"/>
          <p:nvPr/>
        </p:nvSpPr>
        <p:spPr>
          <a:xfrm>
            <a:off x="4527402" y="373764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C</a:t>
            </a:r>
          </a:p>
        </p:txBody>
      </p:sp>
      <p:sp>
        <p:nvSpPr>
          <p:cNvPr id="30" name="文本框 40"/>
          <p:cNvSpPr txBox="1"/>
          <p:nvPr/>
        </p:nvSpPr>
        <p:spPr>
          <a:xfrm>
            <a:off x="2003277" y="415166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D</a:t>
            </a:r>
          </a:p>
        </p:txBody>
      </p:sp>
      <p:sp>
        <p:nvSpPr>
          <p:cNvPr id="31" name="文本框 41"/>
          <p:cNvSpPr txBox="1"/>
          <p:nvPr/>
        </p:nvSpPr>
        <p:spPr>
          <a:xfrm>
            <a:off x="183367" y="498732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F</a:t>
            </a:r>
          </a:p>
        </p:txBody>
      </p:sp>
      <p:sp>
        <p:nvSpPr>
          <p:cNvPr id="32" name="文本框 42"/>
          <p:cNvSpPr txBox="1"/>
          <p:nvPr/>
        </p:nvSpPr>
        <p:spPr>
          <a:xfrm>
            <a:off x="3360272" y="381765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E</a:t>
            </a:r>
          </a:p>
        </p:txBody>
      </p:sp>
      <p:sp>
        <p:nvSpPr>
          <p:cNvPr id="33" name="文本框 43"/>
          <p:cNvSpPr txBox="1"/>
          <p:nvPr/>
        </p:nvSpPr>
        <p:spPr>
          <a:xfrm>
            <a:off x="1330177" y="489525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G</a:t>
            </a:r>
          </a:p>
        </p:txBody>
      </p:sp>
      <p:sp>
        <p:nvSpPr>
          <p:cNvPr id="34" name="文本框 44"/>
          <p:cNvSpPr txBox="1"/>
          <p:nvPr/>
        </p:nvSpPr>
        <p:spPr>
          <a:xfrm>
            <a:off x="2637007" y="556200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H</a:t>
            </a:r>
          </a:p>
        </p:txBody>
      </p:sp>
      <p:sp>
        <p:nvSpPr>
          <p:cNvPr id="35" name="椭圆 34"/>
          <p:cNvSpPr/>
          <p:nvPr/>
        </p:nvSpPr>
        <p:spPr>
          <a:xfrm>
            <a:off x="2367767" y="374336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6" name="椭圆 35"/>
          <p:cNvSpPr/>
          <p:nvPr/>
        </p:nvSpPr>
        <p:spPr>
          <a:xfrm>
            <a:off x="2109322" y="449329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7" name="椭圆 36"/>
          <p:cNvSpPr/>
          <p:nvPr/>
        </p:nvSpPr>
        <p:spPr>
          <a:xfrm>
            <a:off x="507852" y="503368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8" name="椭圆 37"/>
          <p:cNvSpPr/>
          <p:nvPr/>
        </p:nvSpPr>
        <p:spPr>
          <a:xfrm>
            <a:off x="3683487" y="489525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9" name="椭圆 38"/>
          <p:cNvSpPr/>
          <p:nvPr/>
        </p:nvSpPr>
        <p:spPr>
          <a:xfrm>
            <a:off x="4375002" y="390020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0" name="椭圆 39"/>
          <p:cNvSpPr/>
          <p:nvPr/>
        </p:nvSpPr>
        <p:spPr>
          <a:xfrm>
            <a:off x="3491082" y="417135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41" name="椭圆 40"/>
          <p:cNvSpPr/>
          <p:nvPr/>
        </p:nvSpPr>
        <p:spPr>
          <a:xfrm>
            <a:off x="4600427" y="458537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42" name="直接连接符 41"/>
          <p:cNvCxnSpPr>
            <a:stCxn id="22" idx="5"/>
            <a:endCxn id="36" idx="2"/>
          </p:cNvCxnSpPr>
          <p:nvPr/>
        </p:nvCxnSpPr>
        <p:spPr>
          <a:xfrm>
            <a:off x="1031727" y="4328195"/>
            <a:ext cx="1077595" cy="257175"/>
          </a:xfrm>
          <a:prstGeom prst="line">
            <a:avLst/>
          </a:prstGeom>
        </p:spPr>
        <p:style>
          <a:lnRef idx="3">
            <a:schemeClr val="dk1"/>
          </a:lnRef>
          <a:fillRef idx="0">
            <a:schemeClr val="dk1"/>
          </a:fillRef>
          <a:effectRef idx="2">
            <a:schemeClr val="dk1"/>
          </a:effectRef>
          <a:fontRef idx="minor">
            <a:schemeClr val="tx1"/>
          </a:fontRef>
        </p:style>
      </p:cxnSp>
      <p:cxnSp>
        <p:nvCxnSpPr>
          <p:cNvPr id="43" name="直接连接符 42"/>
          <p:cNvCxnSpPr>
            <a:stCxn id="36" idx="5"/>
          </p:cNvCxnSpPr>
          <p:nvPr/>
        </p:nvCxnSpPr>
        <p:spPr>
          <a:xfrm>
            <a:off x="2301727" y="4650140"/>
            <a:ext cx="1381760" cy="337185"/>
          </a:xfrm>
          <a:prstGeom prst="line">
            <a:avLst/>
          </a:prstGeom>
        </p:spPr>
        <p:style>
          <a:lnRef idx="3">
            <a:schemeClr val="dk1"/>
          </a:lnRef>
          <a:fillRef idx="0">
            <a:schemeClr val="dk1"/>
          </a:fillRef>
          <a:effectRef idx="2">
            <a:schemeClr val="dk1"/>
          </a:effectRef>
          <a:fontRef idx="minor">
            <a:schemeClr val="tx1"/>
          </a:fontRef>
        </p:style>
      </p:cxnSp>
      <p:sp>
        <p:nvSpPr>
          <p:cNvPr id="44" name="文本框 66"/>
          <p:cNvSpPr txBox="1"/>
          <p:nvPr/>
        </p:nvSpPr>
        <p:spPr>
          <a:xfrm>
            <a:off x="892662" y="640210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K</a:t>
            </a:r>
          </a:p>
        </p:txBody>
      </p:sp>
      <p:sp>
        <p:nvSpPr>
          <p:cNvPr id="45" name="文本框 67"/>
          <p:cNvSpPr txBox="1"/>
          <p:nvPr/>
        </p:nvSpPr>
        <p:spPr>
          <a:xfrm>
            <a:off x="2106147" y="553914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L</a:t>
            </a:r>
          </a:p>
        </p:txBody>
      </p:sp>
      <p:sp>
        <p:nvSpPr>
          <p:cNvPr id="46" name="文本框 68"/>
          <p:cNvSpPr txBox="1"/>
          <p:nvPr/>
        </p:nvSpPr>
        <p:spPr>
          <a:xfrm>
            <a:off x="3245972" y="6328762"/>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M</a:t>
            </a:r>
          </a:p>
        </p:txBody>
      </p:sp>
      <p:sp>
        <p:nvSpPr>
          <p:cNvPr id="47" name="文本框 69"/>
          <p:cNvSpPr txBox="1"/>
          <p:nvPr/>
        </p:nvSpPr>
        <p:spPr>
          <a:xfrm>
            <a:off x="5173967" y="510226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N</a:t>
            </a:r>
          </a:p>
        </p:txBody>
      </p:sp>
      <p:sp>
        <p:nvSpPr>
          <p:cNvPr id="48" name="文本框 70"/>
          <p:cNvSpPr txBox="1"/>
          <p:nvPr/>
        </p:nvSpPr>
        <p:spPr>
          <a:xfrm>
            <a:off x="4670277" y="612080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O</a:t>
            </a:r>
          </a:p>
        </p:txBody>
      </p:sp>
      <p:sp>
        <p:nvSpPr>
          <p:cNvPr id="49" name="椭圆 48"/>
          <p:cNvSpPr/>
          <p:nvPr/>
        </p:nvSpPr>
        <p:spPr>
          <a:xfrm>
            <a:off x="1767692" y="505209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0" name="椭圆 49"/>
          <p:cNvSpPr/>
          <p:nvPr/>
        </p:nvSpPr>
        <p:spPr>
          <a:xfrm>
            <a:off x="2743052" y="535562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1" name="椭圆 50"/>
          <p:cNvSpPr/>
          <p:nvPr/>
        </p:nvSpPr>
        <p:spPr>
          <a:xfrm>
            <a:off x="1916917" y="593030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2" name="椭圆 51"/>
          <p:cNvSpPr/>
          <p:nvPr/>
        </p:nvSpPr>
        <p:spPr>
          <a:xfrm>
            <a:off x="3327252" y="612080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3" name="椭圆 52"/>
          <p:cNvSpPr/>
          <p:nvPr/>
        </p:nvSpPr>
        <p:spPr>
          <a:xfrm>
            <a:off x="4633447" y="589601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4" name="椭圆 53"/>
          <p:cNvSpPr/>
          <p:nvPr/>
        </p:nvSpPr>
        <p:spPr>
          <a:xfrm>
            <a:off x="4918562" y="535562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55" name="椭圆 54"/>
          <p:cNvSpPr/>
          <p:nvPr/>
        </p:nvSpPr>
        <p:spPr>
          <a:xfrm>
            <a:off x="1280647" y="637543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56" name="直接连接符 55"/>
          <p:cNvCxnSpPr>
            <a:stCxn id="37" idx="4"/>
            <a:endCxn id="55" idx="1"/>
          </p:cNvCxnSpPr>
          <p:nvPr/>
        </p:nvCxnSpPr>
        <p:spPr>
          <a:xfrm>
            <a:off x="620882" y="5217195"/>
            <a:ext cx="692785" cy="1184910"/>
          </a:xfrm>
          <a:prstGeom prst="line">
            <a:avLst/>
          </a:prstGeom>
        </p:spPr>
        <p:style>
          <a:lnRef idx="3">
            <a:schemeClr val="dk1"/>
          </a:lnRef>
          <a:fillRef idx="0">
            <a:schemeClr val="dk1"/>
          </a:fillRef>
          <a:effectRef idx="2">
            <a:schemeClr val="dk1"/>
          </a:effectRef>
          <a:fontRef idx="minor">
            <a:schemeClr val="tx1"/>
          </a:fontRef>
        </p:style>
      </p:cxnSp>
      <p:cxnSp>
        <p:nvCxnSpPr>
          <p:cNvPr id="57" name="直接连接符 56"/>
          <p:cNvCxnSpPr>
            <a:stCxn id="36" idx="3"/>
            <a:endCxn id="49" idx="0"/>
          </p:cNvCxnSpPr>
          <p:nvPr/>
        </p:nvCxnSpPr>
        <p:spPr>
          <a:xfrm flipH="1">
            <a:off x="1880722" y="4650140"/>
            <a:ext cx="261620" cy="401955"/>
          </a:xfrm>
          <a:prstGeom prst="line">
            <a:avLst/>
          </a:prstGeom>
        </p:spPr>
        <p:style>
          <a:lnRef idx="3">
            <a:schemeClr val="dk1"/>
          </a:lnRef>
          <a:fillRef idx="0">
            <a:schemeClr val="dk1"/>
          </a:fillRef>
          <a:effectRef idx="2">
            <a:schemeClr val="dk1"/>
          </a:effectRef>
          <a:fontRef idx="minor">
            <a:schemeClr val="tx1"/>
          </a:fontRef>
        </p:style>
      </p:cxnSp>
      <p:cxnSp>
        <p:nvCxnSpPr>
          <p:cNvPr id="58" name="直接连接符 57"/>
          <p:cNvCxnSpPr>
            <a:stCxn id="49" idx="5"/>
            <a:endCxn id="51" idx="0"/>
          </p:cNvCxnSpPr>
          <p:nvPr/>
        </p:nvCxnSpPr>
        <p:spPr>
          <a:xfrm>
            <a:off x="1960097" y="5208940"/>
            <a:ext cx="69850" cy="721360"/>
          </a:xfrm>
          <a:prstGeom prst="line">
            <a:avLst/>
          </a:prstGeom>
        </p:spPr>
        <p:style>
          <a:lnRef idx="3">
            <a:schemeClr val="dk1"/>
          </a:lnRef>
          <a:fillRef idx="0">
            <a:schemeClr val="dk1"/>
          </a:fillRef>
          <a:effectRef idx="2">
            <a:schemeClr val="dk1"/>
          </a:effectRef>
          <a:fontRef idx="minor">
            <a:schemeClr val="tx1"/>
          </a:fontRef>
        </p:style>
      </p:cxnSp>
      <p:cxnSp>
        <p:nvCxnSpPr>
          <p:cNvPr id="59" name="直接连接符 58"/>
          <p:cNvCxnSpPr>
            <a:stCxn id="55" idx="7"/>
            <a:endCxn id="51" idx="2"/>
          </p:cNvCxnSpPr>
          <p:nvPr/>
        </p:nvCxnSpPr>
        <p:spPr>
          <a:xfrm flipV="1">
            <a:off x="1473052" y="6022375"/>
            <a:ext cx="443865" cy="379730"/>
          </a:xfrm>
          <a:prstGeom prst="line">
            <a:avLst/>
          </a:prstGeom>
        </p:spPr>
        <p:style>
          <a:lnRef idx="3">
            <a:schemeClr val="dk1"/>
          </a:lnRef>
          <a:fillRef idx="0">
            <a:schemeClr val="dk1"/>
          </a:fillRef>
          <a:effectRef idx="2">
            <a:schemeClr val="dk1"/>
          </a:effectRef>
          <a:fontRef idx="minor">
            <a:schemeClr val="tx1"/>
          </a:fontRef>
        </p:style>
      </p:cxnSp>
      <p:cxnSp>
        <p:nvCxnSpPr>
          <p:cNvPr id="60" name="直接连接符 59"/>
          <p:cNvCxnSpPr>
            <a:stCxn id="36" idx="5"/>
            <a:endCxn id="50" idx="1"/>
          </p:cNvCxnSpPr>
          <p:nvPr/>
        </p:nvCxnSpPr>
        <p:spPr>
          <a:xfrm>
            <a:off x="2301727" y="4650140"/>
            <a:ext cx="474345" cy="732155"/>
          </a:xfrm>
          <a:prstGeom prst="line">
            <a:avLst/>
          </a:prstGeom>
        </p:spPr>
        <p:style>
          <a:lnRef idx="3">
            <a:schemeClr val="dk1"/>
          </a:lnRef>
          <a:fillRef idx="0">
            <a:schemeClr val="dk1"/>
          </a:fillRef>
          <a:effectRef idx="2">
            <a:schemeClr val="dk1"/>
          </a:effectRef>
          <a:fontRef idx="minor">
            <a:schemeClr val="tx1"/>
          </a:fontRef>
        </p:style>
      </p:cxnSp>
      <p:cxnSp>
        <p:nvCxnSpPr>
          <p:cNvPr id="61" name="直接连接符 60"/>
          <p:cNvCxnSpPr/>
          <p:nvPr/>
        </p:nvCxnSpPr>
        <p:spPr>
          <a:xfrm flipH="1">
            <a:off x="2931012" y="4323750"/>
            <a:ext cx="588645" cy="1054100"/>
          </a:xfrm>
          <a:prstGeom prst="line">
            <a:avLst/>
          </a:prstGeom>
        </p:spPr>
        <p:style>
          <a:lnRef idx="3">
            <a:schemeClr val="dk1"/>
          </a:lnRef>
          <a:fillRef idx="0">
            <a:schemeClr val="dk1"/>
          </a:fillRef>
          <a:effectRef idx="2">
            <a:schemeClr val="dk1"/>
          </a:effectRef>
          <a:fontRef idx="minor">
            <a:schemeClr val="tx1"/>
          </a:fontRef>
        </p:style>
      </p:cxnSp>
      <p:cxnSp>
        <p:nvCxnSpPr>
          <p:cNvPr id="62" name="直接连接符 61"/>
          <p:cNvCxnSpPr>
            <a:stCxn id="40" idx="6"/>
            <a:endCxn id="41" idx="1"/>
          </p:cNvCxnSpPr>
          <p:nvPr/>
        </p:nvCxnSpPr>
        <p:spPr>
          <a:xfrm>
            <a:off x="3716507" y="4263425"/>
            <a:ext cx="916940" cy="348615"/>
          </a:xfrm>
          <a:prstGeom prst="line">
            <a:avLst/>
          </a:prstGeom>
        </p:spPr>
        <p:style>
          <a:lnRef idx="3">
            <a:schemeClr val="dk1"/>
          </a:lnRef>
          <a:fillRef idx="0">
            <a:schemeClr val="dk1"/>
          </a:fillRef>
          <a:effectRef idx="2">
            <a:schemeClr val="dk1"/>
          </a:effectRef>
          <a:fontRef idx="minor">
            <a:schemeClr val="tx1"/>
          </a:fontRef>
        </p:style>
      </p:cxnSp>
      <p:cxnSp>
        <p:nvCxnSpPr>
          <p:cNvPr id="63" name="直接连接符 62"/>
          <p:cNvCxnSpPr>
            <a:stCxn id="39" idx="3"/>
          </p:cNvCxnSpPr>
          <p:nvPr/>
        </p:nvCxnSpPr>
        <p:spPr>
          <a:xfrm flipH="1">
            <a:off x="3875892" y="4057050"/>
            <a:ext cx="532130" cy="838200"/>
          </a:xfrm>
          <a:prstGeom prst="line">
            <a:avLst/>
          </a:prstGeom>
        </p:spPr>
        <p:style>
          <a:lnRef idx="3">
            <a:schemeClr val="dk1"/>
          </a:lnRef>
          <a:fillRef idx="0">
            <a:schemeClr val="dk1"/>
          </a:fillRef>
          <a:effectRef idx="2">
            <a:schemeClr val="dk1"/>
          </a:effectRef>
          <a:fontRef idx="minor">
            <a:schemeClr val="tx1"/>
          </a:fontRef>
        </p:style>
      </p:cxnSp>
      <p:cxnSp>
        <p:nvCxnSpPr>
          <p:cNvPr id="64" name="直接连接符 63"/>
          <p:cNvCxnSpPr>
            <a:stCxn id="52" idx="7"/>
            <a:endCxn id="54" idx="3"/>
          </p:cNvCxnSpPr>
          <p:nvPr/>
        </p:nvCxnSpPr>
        <p:spPr>
          <a:xfrm flipV="1">
            <a:off x="3519657" y="5512470"/>
            <a:ext cx="1431925" cy="635000"/>
          </a:xfrm>
          <a:prstGeom prst="line">
            <a:avLst/>
          </a:prstGeom>
        </p:spPr>
        <p:style>
          <a:lnRef idx="3">
            <a:schemeClr val="dk1"/>
          </a:lnRef>
          <a:fillRef idx="0">
            <a:schemeClr val="dk1"/>
          </a:fillRef>
          <a:effectRef idx="2">
            <a:schemeClr val="dk1"/>
          </a:effectRef>
          <a:fontRef idx="minor">
            <a:schemeClr val="tx1"/>
          </a:fontRef>
        </p:style>
      </p:cxnSp>
      <p:cxnSp>
        <p:nvCxnSpPr>
          <p:cNvPr id="65" name="直接连接符 64"/>
          <p:cNvCxnSpPr>
            <a:stCxn id="41" idx="5"/>
            <a:endCxn id="54" idx="0"/>
          </p:cNvCxnSpPr>
          <p:nvPr/>
        </p:nvCxnSpPr>
        <p:spPr>
          <a:xfrm>
            <a:off x="4792832" y="4742215"/>
            <a:ext cx="238760" cy="613410"/>
          </a:xfrm>
          <a:prstGeom prst="line">
            <a:avLst/>
          </a:prstGeom>
        </p:spPr>
        <p:style>
          <a:lnRef idx="3">
            <a:schemeClr val="dk1"/>
          </a:lnRef>
          <a:fillRef idx="0">
            <a:schemeClr val="dk1"/>
          </a:fillRef>
          <a:effectRef idx="2">
            <a:schemeClr val="dk1"/>
          </a:effectRef>
          <a:fontRef idx="minor">
            <a:schemeClr val="tx1"/>
          </a:fontRef>
        </p:style>
      </p:cxnSp>
      <p:cxnSp>
        <p:nvCxnSpPr>
          <p:cNvPr id="66" name="直接连接符 65"/>
          <p:cNvCxnSpPr>
            <a:stCxn id="37" idx="4"/>
            <a:endCxn id="50" idx="2"/>
          </p:cNvCxnSpPr>
          <p:nvPr/>
        </p:nvCxnSpPr>
        <p:spPr>
          <a:xfrm>
            <a:off x="620882" y="5217195"/>
            <a:ext cx="2122170" cy="230505"/>
          </a:xfrm>
          <a:prstGeom prst="line">
            <a:avLst/>
          </a:prstGeom>
        </p:spPr>
        <p:style>
          <a:lnRef idx="3">
            <a:schemeClr val="dk1"/>
          </a:lnRef>
          <a:fillRef idx="0">
            <a:schemeClr val="dk1"/>
          </a:fillRef>
          <a:effectRef idx="2">
            <a:schemeClr val="dk1"/>
          </a:effectRef>
          <a:fontRef idx="minor">
            <a:schemeClr val="tx1"/>
          </a:fontRef>
        </p:style>
      </p:cxnSp>
      <p:cxnSp>
        <p:nvCxnSpPr>
          <p:cNvPr id="67" name="直接连接符 66"/>
          <p:cNvCxnSpPr>
            <a:stCxn id="50" idx="6"/>
            <a:endCxn id="53" idx="2"/>
          </p:cNvCxnSpPr>
          <p:nvPr/>
        </p:nvCxnSpPr>
        <p:spPr>
          <a:xfrm>
            <a:off x="2968477" y="5447700"/>
            <a:ext cx="1664970" cy="540385"/>
          </a:xfrm>
          <a:prstGeom prst="line">
            <a:avLst/>
          </a:prstGeom>
        </p:spPr>
        <p:style>
          <a:lnRef idx="3">
            <a:schemeClr val="dk1"/>
          </a:lnRef>
          <a:fillRef idx="0">
            <a:schemeClr val="dk1"/>
          </a:fillRef>
          <a:effectRef idx="2">
            <a:schemeClr val="dk1"/>
          </a:effectRef>
          <a:fontRef idx="minor">
            <a:schemeClr val="tx1"/>
          </a:fontRef>
        </p:style>
      </p:cxnSp>
      <p:cxnSp>
        <p:nvCxnSpPr>
          <p:cNvPr id="68" name="直接连接符 67"/>
          <p:cNvCxnSpPr>
            <a:stCxn id="54" idx="4"/>
            <a:endCxn id="53" idx="0"/>
          </p:cNvCxnSpPr>
          <p:nvPr/>
        </p:nvCxnSpPr>
        <p:spPr>
          <a:xfrm flipH="1">
            <a:off x="4746477" y="5539140"/>
            <a:ext cx="285115" cy="356870"/>
          </a:xfrm>
          <a:prstGeom prst="line">
            <a:avLst/>
          </a:prstGeom>
        </p:spPr>
        <p:style>
          <a:lnRef idx="3">
            <a:schemeClr val="dk1"/>
          </a:lnRef>
          <a:fillRef idx="0">
            <a:schemeClr val="dk1"/>
          </a:fillRef>
          <a:effectRef idx="2">
            <a:schemeClr val="dk1"/>
          </a:effectRef>
          <a:fontRef idx="minor">
            <a:schemeClr val="tx1"/>
          </a:fontRef>
        </p:style>
      </p:cxnSp>
      <p:cxnSp>
        <p:nvCxnSpPr>
          <p:cNvPr id="69" name="直接连接符 68"/>
          <p:cNvCxnSpPr>
            <a:stCxn id="51" idx="5"/>
            <a:endCxn id="52" idx="3"/>
          </p:cNvCxnSpPr>
          <p:nvPr/>
        </p:nvCxnSpPr>
        <p:spPr>
          <a:xfrm>
            <a:off x="2109322" y="6087145"/>
            <a:ext cx="1250950" cy="190500"/>
          </a:xfrm>
          <a:prstGeom prst="line">
            <a:avLst/>
          </a:prstGeom>
        </p:spPr>
        <p:style>
          <a:lnRef idx="3">
            <a:schemeClr val="dk1"/>
          </a:lnRef>
          <a:fillRef idx="0">
            <a:schemeClr val="dk1"/>
          </a:fillRef>
          <a:effectRef idx="2">
            <a:schemeClr val="dk1"/>
          </a:effectRef>
          <a:fontRef idx="minor">
            <a:schemeClr val="tx1"/>
          </a:fontRef>
        </p:style>
      </p:cxnSp>
      <p:cxnSp>
        <p:nvCxnSpPr>
          <p:cNvPr id="70" name="直接连接符 69"/>
          <p:cNvCxnSpPr>
            <a:endCxn id="41" idx="3"/>
          </p:cNvCxnSpPr>
          <p:nvPr/>
        </p:nvCxnSpPr>
        <p:spPr>
          <a:xfrm flipV="1">
            <a:off x="3908912" y="4742215"/>
            <a:ext cx="724535" cy="245110"/>
          </a:xfrm>
          <a:prstGeom prst="line">
            <a:avLst/>
          </a:prstGeom>
        </p:spPr>
        <p:style>
          <a:lnRef idx="3">
            <a:schemeClr val="dk1"/>
          </a:lnRef>
          <a:fillRef idx="0">
            <a:schemeClr val="dk1"/>
          </a:fillRef>
          <a:effectRef idx="2">
            <a:schemeClr val="dk1"/>
          </a:effectRef>
          <a:fontRef idx="minor">
            <a:schemeClr val="tx1"/>
          </a:fontRef>
        </p:style>
      </p:cxnSp>
      <p:sp>
        <p:nvSpPr>
          <p:cNvPr id="71" name="文本框 94"/>
          <p:cNvSpPr txBox="1"/>
          <p:nvPr/>
        </p:nvSpPr>
        <p:spPr>
          <a:xfrm>
            <a:off x="4938882" y="443487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J</a:t>
            </a:r>
          </a:p>
        </p:txBody>
      </p:sp>
      <p:sp>
        <p:nvSpPr>
          <p:cNvPr id="72" name="文本框 150"/>
          <p:cNvSpPr txBox="1"/>
          <p:nvPr/>
        </p:nvSpPr>
        <p:spPr>
          <a:xfrm>
            <a:off x="3655547" y="503685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I</a:t>
            </a:r>
          </a:p>
        </p:txBody>
      </p:sp>
      <p:sp>
        <p:nvSpPr>
          <p:cNvPr id="77" name="椭圆 76"/>
          <p:cNvSpPr/>
          <p:nvPr/>
        </p:nvSpPr>
        <p:spPr>
          <a:xfrm>
            <a:off x="7058433" y="406415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78" name="直接连接符 77"/>
          <p:cNvCxnSpPr>
            <a:stCxn id="77" idx="7"/>
            <a:endCxn id="90" idx="2"/>
          </p:cNvCxnSpPr>
          <p:nvPr/>
        </p:nvCxnSpPr>
        <p:spPr>
          <a:xfrm flipV="1">
            <a:off x="7250838" y="3728235"/>
            <a:ext cx="1336040" cy="362585"/>
          </a:xfrm>
          <a:prstGeom prst="line">
            <a:avLst/>
          </a:prstGeom>
        </p:spPr>
        <p:style>
          <a:lnRef idx="3">
            <a:schemeClr val="dk1"/>
          </a:lnRef>
          <a:fillRef idx="0">
            <a:schemeClr val="dk1"/>
          </a:fillRef>
          <a:effectRef idx="2">
            <a:schemeClr val="dk1"/>
          </a:effectRef>
          <a:fontRef idx="minor">
            <a:schemeClr val="tx1"/>
          </a:fontRef>
        </p:style>
      </p:cxnSp>
      <p:cxnSp>
        <p:nvCxnSpPr>
          <p:cNvPr id="79" name="直接连接符 78"/>
          <p:cNvCxnSpPr>
            <a:stCxn id="77" idx="4"/>
            <a:endCxn id="92" idx="0"/>
          </p:cNvCxnSpPr>
          <p:nvPr/>
        </p:nvCxnSpPr>
        <p:spPr>
          <a:xfrm flipH="1">
            <a:off x="6839993" y="4247665"/>
            <a:ext cx="331470" cy="678815"/>
          </a:xfrm>
          <a:prstGeom prst="line">
            <a:avLst/>
          </a:prstGeom>
        </p:spPr>
        <p:style>
          <a:lnRef idx="3">
            <a:schemeClr val="dk1"/>
          </a:lnRef>
          <a:fillRef idx="0">
            <a:schemeClr val="dk1"/>
          </a:fillRef>
          <a:effectRef idx="2">
            <a:schemeClr val="dk1"/>
          </a:effectRef>
          <a:fontRef idx="minor">
            <a:schemeClr val="tx1"/>
          </a:fontRef>
        </p:style>
      </p:cxnSp>
      <p:cxnSp>
        <p:nvCxnSpPr>
          <p:cNvPr id="80" name="直接连接符 79"/>
          <p:cNvCxnSpPr>
            <a:stCxn id="94" idx="4"/>
            <a:endCxn id="96" idx="0"/>
          </p:cNvCxnSpPr>
          <p:nvPr/>
        </p:nvCxnSpPr>
        <p:spPr>
          <a:xfrm>
            <a:off x="10707143" y="3976520"/>
            <a:ext cx="225425" cy="501650"/>
          </a:xfrm>
          <a:prstGeom prst="line">
            <a:avLst/>
          </a:prstGeom>
        </p:spPr>
        <p:style>
          <a:lnRef idx="3">
            <a:schemeClr val="dk1"/>
          </a:lnRef>
          <a:fillRef idx="0">
            <a:schemeClr val="dk1"/>
          </a:fillRef>
          <a:effectRef idx="2">
            <a:schemeClr val="dk1"/>
          </a:effectRef>
          <a:fontRef idx="minor">
            <a:schemeClr val="tx1"/>
          </a:fontRef>
        </p:style>
      </p:cxnSp>
      <p:cxnSp>
        <p:nvCxnSpPr>
          <p:cNvPr id="81" name="直接连接符 80"/>
          <p:cNvCxnSpPr>
            <a:stCxn id="90" idx="6"/>
            <a:endCxn id="94" idx="1"/>
          </p:cNvCxnSpPr>
          <p:nvPr/>
        </p:nvCxnSpPr>
        <p:spPr>
          <a:xfrm>
            <a:off x="8812303" y="3728235"/>
            <a:ext cx="1814830" cy="91440"/>
          </a:xfrm>
          <a:prstGeom prst="line">
            <a:avLst/>
          </a:prstGeom>
        </p:spPr>
        <p:style>
          <a:lnRef idx="3">
            <a:schemeClr val="dk1"/>
          </a:lnRef>
          <a:fillRef idx="0">
            <a:schemeClr val="dk1"/>
          </a:fillRef>
          <a:effectRef idx="2">
            <a:schemeClr val="dk1"/>
          </a:effectRef>
          <a:fontRef idx="minor">
            <a:schemeClr val="tx1"/>
          </a:fontRef>
        </p:style>
      </p:cxnSp>
      <p:sp>
        <p:nvSpPr>
          <p:cNvPr id="82" name="文本框 102"/>
          <p:cNvSpPr txBox="1"/>
          <p:nvPr/>
        </p:nvSpPr>
        <p:spPr>
          <a:xfrm>
            <a:off x="6620918" y="392572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A</a:t>
            </a:r>
          </a:p>
        </p:txBody>
      </p:sp>
      <p:sp>
        <p:nvSpPr>
          <p:cNvPr id="83" name="文本框 103"/>
          <p:cNvSpPr txBox="1"/>
          <p:nvPr/>
        </p:nvSpPr>
        <p:spPr>
          <a:xfrm>
            <a:off x="8448583" y="326786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B</a:t>
            </a:r>
          </a:p>
        </p:txBody>
      </p:sp>
      <p:sp>
        <p:nvSpPr>
          <p:cNvPr id="84" name="文本框 104"/>
          <p:cNvSpPr txBox="1"/>
          <p:nvPr/>
        </p:nvSpPr>
        <p:spPr>
          <a:xfrm>
            <a:off x="10746513" y="363044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C</a:t>
            </a:r>
          </a:p>
        </p:txBody>
      </p:sp>
      <p:sp>
        <p:nvSpPr>
          <p:cNvPr id="85" name="文本框 105"/>
          <p:cNvSpPr txBox="1"/>
          <p:nvPr/>
        </p:nvSpPr>
        <p:spPr>
          <a:xfrm>
            <a:off x="8222388" y="404446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D</a:t>
            </a:r>
          </a:p>
        </p:txBody>
      </p:sp>
      <p:sp>
        <p:nvSpPr>
          <p:cNvPr id="86" name="文本框 106"/>
          <p:cNvSpPr txBox="1"/>
          <p:nvPr/>
        </p:nvSpPr>
        <p:spPr>
          <a:xfrm>
            <a:off x="6402478" y="494489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F</a:t>
            </a:r>
          </a:p>
        </p:txBody>
      </p:sp>
      <p:sp>
        <p:nvSpPr>
          <p:cNvPr id="87" name="文本框 107"/>
          <p:cNvSpPr txBox="1"/>
          <p:nvPr/>
        </p:nvSpPr>
        <p:spPr>
          <a:xfrm>
            <a:off x="9579383" y="371045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E</a:t>
            </a:r>
          </a:p>
        </p:txBody>
      </p:sp>
      <p:sp>
        <p:nvSpPr>
          <p:cNvPr id="88" name="文本框 108"/>
          <p:cNvSpPr txBox="1"/>
          <p:nvPr/>
        </p:nvSpPr>
        <p:spPr>
          <a:xfrm>
            <a:off x="7549288" y="478805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G</a:t>
            </a:r>
          </a:p>
        </p:txBody>
      </p:sp>
      <p:sp>
        <p:nvSpPr>
          <p:cNvPr id="89" name="文本框 109"/>
          <p:cNvSpPr txBox="1"/>
          <p:nvPr/>
        </p:nvSpPr>
        <p:spPr>
          <a:xfrm>
            <a:off x="8856118" y="545480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H</a:t>
            </a:r>
          </a:p>
        </p:txBody>
      </p:sp>
      <p:sp>
        <p:nvSpPr>
          <p:cNvPr id="90" name="椭圆 89"/>
          <p:cNvSpPr/>
          <p:nvPr/>
        </p:nvSpPr>
        <p:spPr>
          <a:xfrm>
            <a:off x="8586878" y="363616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1" name="椭圆 90"/>
          <p:cNvSpPr/>
          <p:nvPr/>
        </p:nvSpPr>
        <p:spPr>
          <a:xfrm>
            <a:off x="8328433" y="438609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2" name="椭圆 91"/>
          <p:cNvSpPr/>
          <p:nvPr/>
        </p:nvSpPr>
        <p:spPr>
          <a:xfrm>
            <a:off x="6726963" y="492648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3" name="椭圆 92"/>
          <p:cNvSpPr/>
          <p:nvPr/>
        </p:nvSpPr>
        <p:spPr>
          <a:xfrm>
            <a:off x="9902598" y="478805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4" name="椭圆 93"/>
          <p:cNvSpPr/>
          <p:nvPr/>
        </p:nvSpPr>
        <p:spPr>
          <a:xfrm>
            <a:off x="10594113" y="379300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5" name="椭圆 94"/>
          <p:cNvSpPr/>
          <p:nvPr/>
        </p:nvSpPr>
        <p:spPr>
          <a:xfrm>
            <a:off x="9710193" y="406415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6" name="椭圆 95"/>
          <p:cNvSpPr/>
          <p:nvPr/>
        </p:nvSpPr>
        <p:spPr>
          <a:xfrm>
            <a:off x="10819538" y="447817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97" name="直接连接符 96"/>
          <p:cNvCxnSpPr>
            <a:stCxn id="77" idx="5"/>
            <a:endCxn id="91" idx="2"/>
          </p:cNvCxnSpPr>
          <p:nvPr/>
        </p:nvCxnSpPr>
        <p:spPr>
          <a:xfrm>
            <a:off x="7250838" y="4220995"/>
            <a:ext cx="1077595" cy="257175"/>
          </a:xfrm>
          <a:prstGeom prst="line">
            <a:avLst/>
          </a:prstGeom>
        </p:spPr>
        <p:style>
          <a:lnRef idx="3">
            <a:schemeClr val="dk1"/>
          </a:lnRef>
          <a:fillRef idx="0">
            <a:schemeClr val="dk1"/>
          </a:fillRef>
          <a:effectRef idx="2">
            <a:schemeClr val="dk1"/>
          </a:effectRef>
          <a:fontRef idx="minor">
            <a:schemeClr val="tx1"/>
          </a:fontRef>
        </p:style>
      </p:cxnSp>
      <p:sp>
        <p:nvSpPr>
          <p:cNvPr id="98" name="文本框 119"/>
          <p:cNvSpPr txBox="1"/>
          <p:nvPr/>
        </p:nvSpPr>
        <p:spPr>
          <a:xfrm>
            <a:off x="7058433" y="647397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K</a:t>
            </a:r>
          </a:p>
        </p:txBody>
      </p:sp>
      <p:sp>
        <p:nvSpPr>
          <p:cNvPr id="99" name="文本框 120"/>
          <p:cNvSpPr txBox="1"/>
          <p:nvPr/>
        </p:nvSpPr>
        <p:spPr>
          <a:xfrm>
            <a:off x="8325258" y="543194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L</a:t>
            </a:r>
          </a:p>
        </p:txBody>
      </p:sp>
      <p:sp>
        <p:nvSpPr>
          <p:cNvPr id="100" name="文本框 121"/>
          <p:cNvSpPr txBox="1"/>
          <p:nvPr/>
        </p:nvSpPr>
        <p:spPr>
          <a:xfrm>
            <a:off x="9465083" y="619711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M</a:t>
            </a:r>
          </a:p>
        </p:txBody>
      </p:sp>
      <p:sp>
        <p:nvSpPr>
          <p:cNvPr id="101" name="文本框 122"/>
          <p:cNvSpPr txBox="1"/>
          <p:nvPr/>
        </p:nvSpPr>
        <p:spPr>
          <a:xfrm>
            <a:off x="11363098" y="499506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N</a:t>
            </a:r>
          </a:p>
        </p:txBody>
      </p:sp>
      <p:sp>
        <p:nvSpPr>
          <p:cNvPr id="102" name="文本框 123"/>
          <p:cNvSpPr txBox="1"/>
          <p:nvPr/>
        </p:nvSpPr>
        <p:spPr>
          <a:xfrm>
            <a:off x="10889388" y="601360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O</a:t>
            </a:r>
          </a:p>
        </p:txBody>
      </p:sp>
      <p:sp>
        <p:nvSpPr>
          <p:cNvPr id="103" name="椭圆 102"/>
          <p:cNvSpPr/>
          <p:nvPr/>
        </p:nvSpPr>
        <p:spPr>
          <a:xfrm>
            <a:off x="7986803" y="494489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4" name="椭圆 103"/>
          <p:cNvSpPr/>
          <p:nvPr/>
        </p:nvSpPr>
        <p:spPr>
          <a:xfrm>
            <a:off x="8962163" y="524842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5" name="椭圆 104"/>
          <p:cNvSpPr/>
          <p:nvPr/>
        </p:nvSpPr>
        <p:spPr>
          <a:xfrm>
            <a:off x="8136028" y="582310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6" name="椭圆 105"/>
          <p:cNvSpPr/>
          <p:nvPr/>
        </p:nvSpPr>
        <p:spPr>
          <a:xfrm>
            <a:off x="9546363" y="601360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7" name="椭圆 106"/>
          <p:cNvSpPr/>
          <p:nvPr/>
        </p:nvSpPr>
        <p:spPr>
          <a:xfrm>
            <a:off x="10852558" y="578881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8" name="椭圆 107"/>
          <p:cNvSpPr/>
          <p:nvPr/>
        </p:nvSpPr>
        <p:spPr>
          <a:xfrm>
            <a:off x="11137673" y="524842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09" name="椭圆 108"/>
          <p:cNvSpPr/>
          <p:nvPr/>
        </p:nvSpPr>
        <p:spPr>
          <a:xfrm>
            <a:off x="7499758" y="626823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0" name="直接连接符 109"/>
          <p:cNvCxnSpPr>
            <a:stCxn id="92" idx="4"/>
            <a:endCxn id="109" idx="1"/>
          </p:cNvCxnSpPr>
          <p:nvPr/>
        </p:nvCxnSpPr>
        <p:spPr>
          <a:xfrm>
            <a:off x="6839993" y="5109995"/>
            <a:ext cx="692785" cy="1184910"/>
          </a:xfrm>
          <a:prstGeom prst="line">
            <a:avLst/>
          </a:prstGeom>
        </p:spPr>
        <p:style>
          <a:lnRef idx="3">
            <a:schemeClr val="dk1"/>
          </a:lnRef>
          <a:fillRef idx="0">
            <a:schemeClr val="dk1"/>
          </a:fillRef>
          <a:effectRef idx="2">
            <a:schemeClr val="dk1"/>
          </a:effectRef>
          <a:fontRef idx="minor">
            <a:schemeClr val="tx1"/>
          </a:fontRef>
        </p:style>
      </p:cxnSp>
      <p:cxnSp>
        <p:nvCxnSpPr>
          <p:cNvPr id="111" name="直接连接符 110"/>
          <p:cNvCxnSpPr>
            <a:stCxn id="91" idx="3"/>
            <a:endCxn id="103" idx="0"/>
          </p:cNvCxnSpPr>
          <p:nvPr/>
        </p:nvCxnSpPr>
        <p:spPr>
          <a:xfrm flipH="1">
            <a:off x="8099833" y="4542940"/>
            <a:ext cx="261620" cy="401955"/>
          </a:xfrm>
          <a:prstGeom prst="line">
            <a:avLst/>
          </a:prstGeom>
        </p:spPr>
        <p:style>
          <a:lnRef idx="3">
            <a:schemeClr val="dk1"/>
          </a:lnRef>
          <a:fillRef idx="0">
            <a:schemeClr val="dk1"/>
          </a:fillRef>
          <a:effectRef idx="2">
            <a:schemeClr val="dk1"/>
          </a:effectRef>
          <a:fontRef idx="minor">
            <a:schemeClr val="tx1"/>
          </a:fontRef>
        </p:style>
      </p:cxnSp>
      <p:cxnSp>
        <p:nvCxnSpPr>
          <p:cNvPr id="112" name="直接连接符 111"/>
          <p:cNvCxnSpPr>
            <a:stCxn id="109" idx="7"/>
            <a:endCxn id="105" idx="2"/>
          </p:cNvCxnSpPr>
          <p:nvPr/>
        </p:nvCxnSpPr>
        <p:spPr>
          <a:xfrm flipV="1">
            <a:off x="7692163" y="5915175"/>
            <a:ext cx="443865" cy="379730"/>
          </a:xfrm>
          <a:prstGeom prst="line">
            <a:avLst/>
          </a:prstGeom>
        </p:spPr>
        <p:style>
          <a:lnRef idx="3">
            <a:schemeClr val="dk1"/>
          </a:lnRef>
          <a:fillRef idx="0">
            <a:schemeClr val="dk1"/>
          </a:fillRef>
          <a:effectRef idx="2">
            <a:schemeClr val="dk1"/>
          </a:effectRef>
          <a:fontRef idx="minor">
            <a:schemeClr val="tx1"/>
          </a:fontRef>
        </p:style>
      </p:cxnSp>
      <p:cxnSp>
        <p:nvCxnSpPr>
          <p:cNvPr id="113" name="直接连接符 112"/>
          <p:cNvCxnSpPr>
            <a:stCxn id="91" idx="5"/>
            <a:endCxn id="104" idx="1"/>
          </p:cNvCxnSpPr>
          <p:nvPr/>
        </p:nvCxnSpPr>
        <p:spPr>
          <a:xfrm>
            <a:off x="8520838" y="4542940"/>
            <a:ext cx="474345" cy="732155"/>
          </a:xfrm>
          <a:prstGeom prst="line">
            <a:avLst/>
          </a:prstGeom>
        </p:spPr>
        <p:style>
          <a:lnRef idx="3">
            <a:schemeClr val="dk1"/>
          </a:lnRef>
          <a:fillRef idx="0">
            <a:schemeClr val="dk1"/>
          </a:fillRef>
          <a:effectRef idx="2">
            <a:schemeClr val="dk1"/>
          </a:effectRef>
          <a:fontRef idx="minor">
            <a:schemeClr val="tx1"/>
          </a:fontRef>
        </p:style>
      </p:cxnSp>
      <p:cxnSp>
        <p:nvCxnSpPr>
          <p:cNvPr id="114" name="直接连接符 113"/>
          <p:cNvCxnSpPr>
            <a:stCxn id="95" idx="6"/>
            <a:endCxn id="96" idx="1"/>
          </p:cNvCxnSpPr>
          <p:nvPr/>
        </p:nvCxnSpPr>
        <p:spPr>
          <a:xfrm>
            <a:off x="9935618" y="4156225"/>
            <a:ext cx="916940" cy="348615"/>
          </a:xfrm>
          <a:prstGeom prst="line">
            <a:avLst/>
          </a:prstGeom>
        </p:spPr>
        <p:style>
          <a:lnRef idx="3">
            <a:schemeClr val="dk1"/>
          </a:lnRef>
          <a:fillRef idx="0">
            <a:schemeClr val="dk1"/>
          </a:fillRef>
          <a:effectRef idx="2">
            <a:schemeClr val="dk1"/>
          </a:effectRef>
          <a:fontRef idx="minor">
            <a:schemeClr val="tx1"/>
          </a:fontRef>
        </p:style>
      </p:cxnSp>
      <p:cxnSp>
        <p:nvCxnSpPr>
          <p:cNvPr id="115" name="直接连接符 114"/>
          <p:cNvCxnSpPr>
            <a:stCxn id="94" idx="3"/>
          </p:cNvCxnSpPr>
          <p:nvPr/>
        </p:nvCxnSpPr>
        <p:spPr>
          <a:xfrm flipH="1">
            <a:off x="10095003" y="3949850"/>
            <a:ext cx="532130" cy="838200"/>
          </a:xfrm>
          <a:prstGeom prst="line">
            <a:avLst/>
          </a:prstGeom>
        </p:spPr>
        <p:style>
          <a:lnRef idx="3">
            <a:schemeClr val="dk1"/>
          </a:lnRef>
          <a:fillRef idx="0">
            <a:schemeClr val="dk1"/>
          </a:fillRef>
          <a:effectRef idx="2">
            <a:schemeClr val="dk1"/>
          </a:effectRef>
          <a:fontRef idx="minor">
            <a:schemeClr val="tx1"/>
          </a:fontRef>
        </p:style>
      </p:cxnSp>
      <p:cxnSp>
        <p:nvCxnSpPr>
          <p:cNvPr id="116" name="直接连接符 115"/>
          <p:cNvCxnSpPr>
            <a:stCxn id="106" idx="7"/>
            <a:endCxn id="108" idx="3"/>
          </p:cNvCxnSpPr>
          <p:nvPr/>
        </p:nvCxnSpPr>
        <p:spPr>
          <a:xfrm flipV="1">
            <a:off x="9738768" y="5405270"/>
            <a:ext cx="1431925" cy="635000"/>
          </a:xfrm>
          <a:prstGeom prst="line">
            <a:avLst/>
          </a:prstGeom>
        </p:spPr>
        <p:style>
          <a:lnRef idx="3">
            <a:schemeClr val="dk1"/>
          </a:lnRef>
          <a:fillRef idx="0">
            <a:schemeClr val="dk1"/>
          </a:fillRef>
          <a:effectRef idx="2">
            <a:schemeClr val="dk1"/>
          </a:effectRef>
          <a:fontRef idx="minor">
            <a:schemeClr val="tx1"/>
          </a:fontRef>
        </p:style>
      </p:cxnSp>
      <p:cxnSp>
        <p:nvCxnSpPr>
          <p:cNvPr id="117" name="直接连接符 116"/>
          <p:cNvCxnSpPr>
            <a:stCxn id="96" idx="5"/>
            <a:endCxn id="108" idx="0"/>
          </p:cNvCxnSpPr>
          <p:nvPr/>
        </p:nvCxnSpPr>
        <p:spPr>
          <a:xfrm>
            <a:off x="11011943" y="4635015"/>
            <a:ext cx="238760" cy="613410"/>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a:stCxn id="108" idx="4"/>
            <a:endCxn id="107" idx="0"/>
          </p:cNvCxnSpPr>
          <p:nvPr/>
        </p:nvCxnSpPr>
        <p:spPr>
          <a:xfrm flipH="1">
            <a:off x="10965588" y="5431940"/>
            <a:ext cx="285115" cy="356870"/>
          </a:xfrm>
          <a:prstGeom prst="line">
            <a:avLst/>
          </a:prstGeom>
        </p:spPr>
        <p:style>
          <a:lnRef idx="3">
            <a:schemeClr val="dk1"/>
          </a:lnRef>
          <a:fillRef idx="0">
            <a:schemeClr val="dk1"/>
          </a:fillRef>
          <a:effectRef idx="2">
            <a:schemeClr val="dk1"/>
          </a:effectRef>
          <a:fontRef idx="minor">
            <a:schemeClr val="tx1"/>
          </a:fontRef>
        </p:style>
      </p:cxnSp>
      <p:sp>
        <p:nvSpPr>
          <p:cNvPr id="119" name="文本框 146"/>
          <p:cNvSpPr txBox="1"/>
          <p:nvPr/>
        </p:nvSpPr>
        <p:spPr>
          <a:xfrm>
            <a:off x="11157993" y="432767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J</a:t>
            </a:r>
          </a:p>
        </p:txBody>
      </p:sp>
      <p:sp>
        <p:nvSpPr>
          <p:cNvPr id="120" name="文本框 150"/>
          <p:cNvSpPr txBox="1"/>
          <p:nvPr/>
        </p:nvSpPr>
        <p:spPr>
          <a:xfrm>
            <a:off x="9894343" y="491060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I</a:t>
            </a:r>
          </a:p>
        </p:txBody>
      </p:sp>
      <p:sp>
        <p:nvSpPr>
          <p:cNvPr id="122"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5.3.1 </a:t>
            </a:r>
            <a:r>
              <a:rPr kumimoji="1" lang="zh-CN" altLang="en-US" dirty="0">
                <a:latin typeface="DengXian" panose="02010600030101010101" pitchFamily="2" charset="-122"/>
                <a:ea typeface="DengXian" panose="02010600030101010101" pitchFamily="2" charset="-122"/>
              </a:rPr>
              <a:t>优化原则</a:t>
            </a:r>
          </a:p>
        </p:txBody>
      </p:sp>
      <p:sp>
        <p:nvSpPr>
          <p:cNvPr id="121" name="灯片编号占位符 3">
            <a:extLst>
              <a:ext uri="{FF2B5EF4-FFF2-40B4-BE49-F238E27FC236}">
                <a16:creationId xmlns:a16="http://schemas.microsoft.com/office/drawing/2014/main" id="{E564528D-F198-8441-BAE3-BEF2C239A247}"/>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56</a:t>
            </a:fld>
            <a:endParaRPr kumimoji="1" lang="zh-CN" altLang="en-US" dirty="0"/>
          </a:p>
        </p:txBody>
      </p:sp>
      <p:sp>
        <p:nvSpPr>
          <p:cNvPr id="4" name="Right Arrow 3">
            <a:extLst>
              <a:ext uri="{FF2B5EF4-FFF2-40B4-BE49-F238E27FC236}">
                <a16:creationId xmlns:a16="http://schemas.microsoft.com/office/drawing/2014/main" id="{F461DCC2-3138-CF4B-AB36-92B181E6F587}"/>
              </a:ext>
            </a:extLst>
          </p:cNvPr>
          <p:cNvSpPr/>
          <p:nvPr/>
        </p:nvSpPr>
        <p:spPr>
          <a:xfrm>
            <a:off x="5715000" y="5048920"/>
            <a:ext cx="546100" cy="28352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 name="Rectangle 4">
            <a:extLst>
              <a:ext uri="{FF2B5EF4-FFF2-40B4-BE49-F238E27FC236}">
                <a16:creationId xmlns:a16="http://schemas.microsoft.com/office/drawing/2014/main" id="{DCD296DD-A948-AD45-8747-69025B725E95}"/>
              </a:ext>
            </a:extLst>
          </p:cNvPr>
          <p:cNvSpPr/>
          <p:nvPr/>
        </p:nvSpPr>
        <p:spPr>
          <a:xfrm>
            <a:off x="8696060" y="6394838"/>
            <a:ext cx="954107" cy="400110"/>
          </a:xfrm>
          <a:prstGeom prst="rect">
            <a:avLst/>
          </a:prstGeom>
        </p:spPr>
        <p:txBody>
          <a:bodyPr wrap="none">
            <a:spAutoFit/>
          </a:bodyPr>
          <a:lstStyle/>
          <a:p>
            <a:r>
              <a:rPr kumimoji="1" lang="zh-CN" altLang="en-US" sz="2000" dirty="0">
                <a:solidFill>
                  <a:srgbClr val="FF0000"/>
                </a:solidFill>
              </a:rPr>
              <a:t>汇集树</a:t>
            </a:r>
            <a:endParaRPr lang="en-CN" sz="2000" dirty="0">
              <a:solidFill>
                <a:srgbClr val="FF0000"/>
              </a:solidFill>
            </a:endParaRPr>
          </a:p>
        </p:txBody>
      </p:sp>
    </p:spTree>
    <p:extLst>
      <p:ext uri="{BB962C8B-B14F-4D97-AF65-F5344CB8AC3E}">
        <p14:creationId xmlns:p14="http://schemas.microsoft.com/office/powerpoint/2010/main" val="3612039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最短路径算法</a:t>
            </a:r>
          </a:p>
        </p:txBody>
      </p:sp>
      <p:sp>
        <p:nvSpPr>
          <p:cNvPr id="3" name="内容占位符 2"/>
          <p:cNvSpPr>
            <a:spLocks noGrp="1"/>
          </p:cNvSpPr>
          <p:nvPr>
            <p:ph idx="1"/>
          </p:nvPr>
        </p:nvSpPr>
        <p:spPr>
          <a:xfrm>
            <a:off x="838200" y="1376625"/>
            <a:ext cx="10515600" cy="5215094"/>
          </a:xfrm>
        </p:spPr>
        <p:txBody>
          <a:bodyPr>
            <a:normAutofit/>
          </a:bodyPr>
          <a:lstStyle/>
          <a:p>
            <a:pPr fontAlgn="base">
              <a:lnSpc>
                <a:spcPct val="120000"/>
              </a:lnSpc>
            </a:pPr>
            <a:r>
              <a:rPr lang="zh-CN" altLang="en-US" dirty="0"/>
              <a:t>定义</a:t>
            </a:r>
          </a:p>
          <a:p>
            <a:pPr lvl="1" fontAlgn="base">
              <a:lnSpc>
                <a:spcPct val="120000"/>
              </a:lnSpc>
            </a:pPr>
            <a:r>
              <a:rPr lang="en-US" altLang="zh-CN" dirty="0"/>
              <a:t>用于计算一个节点到其他所有节点的最短路径</a:t>
            </a:r>
            <a:r>
              <a:rPr lang="zh-CN" altLang="en-US" dirty="0"/>
              <a:t>，</a:t>
            </a:r>
            <a:r>
              <a:rPr lang="en-US" altLang="zh-CN" dirty="0" err="1"/>
              <a:t>主要特点是以起始点为中心向外</a:t>
            </a:r>
            <a:r>
              <a:rPr lang="zh-CN" altLang="en-US" dirty="0"/>
              <a:t>逐</a:t>
            </a:r>
            <a:r>
              <a:rPr lang="en-US" altLang="zh-CN" dirty="0" err="1"/>
              <a:t>层扩展，直到扩展到终点为止</a:t>
            </a:r>
            <a:endParaRPr lang="en-US" altLang="zh-CN" dirty="0"/>
          </a:p>
          <a:p>
            <a:pPr fontAlgn="base">
              <a:lnSpc>
                <a:spcPct val="120000"/>
              </a:lnSpc>
            </a:pPr>
            <a:r>
              <a:rPr lang="zh-CN" altLang="en-US" dirty="0"/>
              <a:t>Dijkstra算法思想</a:t>
            </a:r>
            <a:endParaRPr lang="en-US" altLang="zh-CN" dirty="0"/>
          </a:p>
          <a:p>
            <a:pPr lvl="1" fontAlgn="base">
              <a:lnSpc>
                <a:spcPct val="120000"/>
              </a:lnSpc>
            </a:pPr>
            <a:r>
              <a:rPr lang="zh-CN" altLang="en-US" dirty="0"/>
              <a:t>建立网络图</a:t>
            </a:r>
            <a:endParaRPr lang="en-US" altLang="zh-CN" dirty="0"/>
          </a:p>
          <a:p>
            <a:pPr lvl="2" fontAlgn="base">
              <a:lnSpc>
                <a:spcPct val="120000"/>
              </a:lnSpc>
            </a:pPr>
            <a:r>
              <a:rPr lang="zh-CN" altLang="en-US" dirty="0"/>
              <a:t>节点表示路由器</a:t>
            </a:r>
            <a:endParaRPr lang="en-US" altLang="zh-CN" dirty="0"/>
          </a:p>
          <a:p>
            <a:pPr lvl="2" fontAlgn="base">
              <a:lnSpc>
                <a:spcPct val="120000"/>
              </a:lnSpc>
            </a:pPr>
            <a:r>
              <a:rPr lang="zh-CN" altLang="en-US" dirty="0"/>
              <a:t>边表示通信线路</a:t>
            </a:r>
            <a:r>
              <a:rPr lang="en-US" altLang="zh-CN" dirty="0"/>
              <a:t>/</a:t>
            </a:r>
            <a:r>
              <a:rPr lang="zh-CN" altLang="en-US" dirty="0"/>
              <a:t>链路</a:t>
            </a:r>
            <a:endParaRPr lang="en-US" altLang="zh-CN" dirty="0"/>
          </a:p>
          <a:p>
            <a:pPr lvl="2" fontAlgn="base">
              <a:lnSpc>
                <a:spcPct val="120000"/>
              </a:lnSpc>
            </a:pPr>
            <a:r>
              <a:rPr lang="zh-CN" altLang="en-US" dirty="0"/>
              <a:t>链路代价表示链路上的距离、信道宽度或通信开销等参数</a:t>
            </a:r>
          </a:p>
          <a:p>
            <a:pPr lvl="1" fontAlgn="base">
              <a:lnSpc>
                <a:spcPct val="120000"/>
              </a:lnSpc>
            </a:pPr>
            <a:r>
              <a:rPr lang="zh-CN" altLang="en-US" dirty="0">
                <a:effectLst/>
              </a:rPr>
              <a:t>根据算法在网络图上为</a:t>
            </a:r>
            <a:r>
              <a:rPr lang="zh-CN" altLang="en-US" dirty="0"/>
              <a:t>某一对路由器找到</a:t>
            </a:r>
            <a:r>
              <a:rPr lang="zh-CN" altLang="en-US" dirty="0">
                <a:effectLst/>
              </a:rPr>
              <a:t>最短路径</a:t>
            </a:r>
          </a:p>
          <a:p>
            <a:pPr>
              <a:lnSpc>
                <a:spcPct val="120000"/>
              </a:lnSpc>
            </a:pPr>
            <a:endParaRPr kumimoji="1"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57</a:t>
            </a:fld>
            <a:endParaRPr kumimoji="1" lang="zh-CN" altLang="en-US" dirty="0"/>
          </a:p>
        </p:txBody>
      </p:sp>
      <p:sp>
        <p:nvSpPr>
          <p:cNvPr id="6"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5.3.2 </a:t>
            </a:r>
            <a:r>
              <a:rPr kumimoji="1" lang="zh-CN" altLang="en-US" dirty="0">
                <a:latin typeface="DengXian" panose="02010600030101010101" pitchFamily="2" charset="-122"/>
                <a:ea typeface="DengXian" panose="02010600030101010101" pitchFamily="2" charset="-122"/>
              </a:rPr>
              <a:t>最短路径算法</a:t>
            </a:r>
          </a:p>
        </p:txBody>
      </p:sp>
    </p:spTree>
    <p:extLst>
      <p:ext uri="{BB962C8B-B14F-4D97-AF65-F5344CB8AC3E}">
        <p14:creationId xmlns:p14="http://schemas.microsoft.com/office/powerpoint/2010/main" val="13454675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最短路径算法</a:t>
            </a:r>
          </a:p>
        </p:txBody>
      </p:sp>
      <p:sp>
        <p:nvSpPr>
          <p:cNvPr id="3" name="内容占位符 2"/>
          <p:cNvSpPr>
            <a:spLocks noGrp="1"/>
          </p:cNvSpPr>
          <p:nvPr>
            <p:ph idx="1"/>
          </p:nvPr>
        </p:nvSpPr>
        <p:spPr>
          <a:xfrm>
            <a:off x="838200" y="1376625"/>
            <a:ext cx="10515600" cy="5215094"/>
          </a:xfrm>
        </p:spPr>
        <p:txBody>
          <a:bodyPr>
            <a:normAutofit/>
          </a:bodyPr>
          <a:lstStyle/>
          <a:p>
            <a:pPr fontAlgn="base">
              <a:lnSpc>
                <a:spcPct val="120000"/>
              </a:lnSpc>
            </a:pPr>
            <a:r>
              <a:rPr lang="zh-CN" altLang="en-US" dirty="0"/>
              <a:t>具体例子（</a:t>
            </a:r>
            <a:r>
              <a:rPr lang="en-US" altLang="zh-CN" dirty="0"/>
              <a:t>A</a:t>
            </a:r>
            <a:r>
              <a:rPr lang="zh-CN" altLang="en-US" dirty="0"/>
              <a:t>到</a:t>
            </a:r>
            <a:r>
              <a:rPr lang="en-US" altLang="zh-CN" dirty="0"/>
              <a:t>D</a:t>
            </a:r>
            <a:r>
              <a:rPr lang="zh-CN" altLang="en-US" dirty="0"/>
              <a:t>的最短路径过程）</a:t>
            </a:r>
          </a:p>
          <a:p>
            <a:pPr marL="0" indent="0">
              <a:lnSpc>
                <a:spcPct val="120000"/>
              </a:lnSpc>
              <a:buNone/>
            </a:pPr>
            <a:endParaRPr kumimoji="1" lang="zh-CN" altLang="en-US" dirty="0"/>
          </a:p>
          <a:p>
            <a:pPr lvl="1" algn="l">
              <a:lnSpc>
                <a:spcPct val="120000"/>
              </a:lnSpc>
              <a:buClrTx/>
              <a:buSzTx/>
              <a:buFont typeface="Arial" panose="020B0604020202020204" pitchFamily="34" charset="0"/>
            </a:pPr>
            <a:endParaRPr kumimoji="1"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58</a:t>
            </a:fld>
            <a:endParaRPr kumimoji="1" lang="zh-CN" altLang="en-US" dirty="0"/>
          </a:p>
        </p:txBody>
      </p:sp>
      <p:sp>
        <p:nvSpPr>
          <p:cNvPr id="5" name="椭圆 4"/>
          <p:cNvSpPr/>
          <p:nvPr/>
        </p:nvSpPr>
        <p:spPr>
          <a:xfrm>
            <a:off x="1181100" y="290449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椭圆 5"/>
          <p:cNvSpPr/>
          <p:nvPr/>
        </p:nvSpPr>
        <p:spPr>
          <a:xfrm>
            <a:off x="1773555" y="232791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 name="椭圆 6"/>
          <p:cNvSpPr/>
          <p:nvPr/>
        </p:nvSpPr>
        <p:spPr>
          <a:xfrm>
            <a:off x="1773555" y="347408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椭圆 7"/>
          <p:cNvSpPr/>
          <p:nvPr/>
        </p:nvSpPr>
        <p:spPr>
          <a:xfrm>
            <a:off x="2353310" y="290449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 name="椭圆 8"/>
          <p:cNvSpPr/>
          <p:nvPr/>
        </p:nvSpPr>
        <p:spPr>
          <a:xfrm>
            <a:off x="3659505" y="290449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 name="椭圆 17"/>
          <p:cNvSpPr/>
          <p:nvPr/>
        </p:nvSpPr>
        <p:spPr>
          <a:xfrm>
            <a:off x="4369435" y="232791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 name="椭圆 18"/>
          <p:cNvSpPr/>
          <p:nvPr/>
        </p:nvSpPr>
        <p:spPr>
          <a:xfrm>
            <a:off x="4356735" y="347408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0" name="椭圆 19"/>
          <p:cNvSpPr/>
          <p:nvPr/>
        </p:nvSpPr>
        <p:spPr>
          <a:xfrm>
            <a:off x="4935220" y="292100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21" name="直接连接符 20"/>
          <p:cNvCxnSpPr>
            <a:stCxn id="5" idx="7"/>
            <a:endCxn id="6" idx="3"/>
          </p:cNvCxnSpPr>
          <p:nvPr/>
        </p:nvCxnSpPr>
        <p:spPr>
          <a:xfrm flipV="1">
            <a:off x="1373505" y="2498725"/>
            <a:ext cx="433070" cy="446405"/>
          </a:xfrm>
          <a:prstGeom prst="line">
            <a:avLst/>
          </a:prstGeom>
        </p:spPr>
        <p:style>
          <a:lnRef idx="3">
            <a:schemeClr val="dk1"/>
          </a:lnRef>
          <a:fillRef idx="0">
            <a:schemeClr val="dk1"/>
          </a:fillRef>
          <a:effectRef idx="2">
            <a:schemeClr val="dk1"/>
          </a:effectRef>
          <a:fontRef idx="minor">
            <a:schemeClr val="tx1"/>
          </a:fontRef>
        </p:style>
      </p:cxnSp>
      <p:cxnSp>
        <p:nvCxnSpPr>
          <p:cNvPr id="22" name="直接连接符 21"/>
          <p:cNvCxnSpPr>
            <a:stCxn id="5" idx="5"/>
            <a:endCxn id="7" idx="1"/>
          </p:cNvCxnSpPr>
          <p:nvPr/>
        </p:nvCxnSpPr>
        <p:spPr>
          <a:xfrm>
            <a:off x="1373505" y="3075305"/>
            <a:ext cx="433070" cy="439420"/>
          </a:xfrm>
          <a:prstGeom prst="line">
            <a:avLst/>
          </a:prstGeom>
        </p:spPr>
        <p:style>
          <a:lnRef idx="3">
            <a:schemeClr val="dk1"/>
          </a:lnRef>
          <a:fillRef idx="0">
            <a:schemeClr val="dk1"/>
          </a:fillRef>
          <a:effectRef idx="2">
            <a:schemeClr val="dk1"/>
          </a:effectRef>
          <a:fontRef idx="minor">
            <a:schemeClr val="tx1"/>
          </a:fontRef>
        </p:style>
      </p:cxnSp>
      <p:cxnSp>
        <p:nvCxnSpPr>
          <p:cNvPr id="32" name="直接连接符 31"/>
          <p:cNvCxnSpPr>
            <a:stCxn id="6" idx="5"/>
            <a:endCxn id="8" idx="1"/>
          </p:cNvCxnSpPr>
          <p:nvPr/>
        </p:nvCxnSpPr>
        <p:spPr>
          <a:xfrm>
            <a:off x="1965960" y="2498725"/>
            <a:ext cx="420370" cy="446405"/>
          </a:xfrm>
          <a:prstGeom prst="line">
            <a:avLst/>
          </a:prstGeom>
        </p:spPr>
        <p:style>
          <a:lnRef idx="3">
            <a:schemeClr val="dk1"/>
          </a:lnRef>
          <a:fillRef idx="0">
            <a:schemeClr val="dk1"/>
          </a:fillRef>
          <a:effectRef idx="2">
            <a:schemeClr val="dk1"/>
          </a:effectRef>
          <a:fontRef idx="minor">
            <a:schemeClr val="tx1"/>
          </a:fontRef>
        </p:style>
      </p:cxnSp>
      <p:cxnSp>
        <p:nvCxnSpPr>
          <p:cNvPr id="59" name="直接连接符 58"/>
          <p:cNvCxnSpPr>
            <a:stCxn id="8" idx="3"/>
            <a:endCxn id="7" idx="7"/>
          </p:cNvCxnSpPr>
          <p:nvPr/>
        </p:nvCxnSpPr>
        <p:spPr>
          <a:xfrm flipH="1">
            <a:off x="1965960" y="3075305"/>
            <a:ext cx="420370" cy="439420"/>
          </a:xfrm>
          <a:prstGeom prst="line">
            <a:avLst/>
          </a:prstGeom>
        </p:spPr>
        <p:style>
          <a:lnRef idx="3">
            <a:schemeClr val="dk1"/>
          </a:lnRef>
          <a:fillRef idx="0">
            <a:schemeClr val="dk1"/>
          </a:fillRef>
          <a:effectRef idx="2">
            <a:schemeClr val="dk1"/>
          </a:effectRef>
          <a:fontRef idx="minor">
            <a:schemeClr val="tx1"/>
          </a:fontRef>
        </p:style>
      </p:cxnSp>
      <p:cxnSp>
        <p:nvCxnSpPr>
          <p:cNvPr id="61" name="直接连接符 60"/>
          <p:cNvCxnSpPr>
            <a:stCxn id="8" idx="6"/>
            <a:endCxn id="9" idx="2"/>
          </p:cNvCxnSpPr>
          <p:nvPr/>
        </p:nvCxnSpPr>
        <p:spPr>
          <a:xfrm>
            <a:off x="2578735" y="3010535"/>
            <a:ext cx="1080770" cy="0"/>
          </a:xfrm>
          <a:prstGeom prst="line">
            <a:avLst/>
          </a:prstGeom>
        </p:spPr>
        <p:style>
          <a:lnRef idx="3">
            <a:schemeClr val="dk1"/>
          </a:lnRef>
          <a:fillRef idx="0">
            <a:schemeClr val="dk1"/>
          </a:fillRef>
          <a:effectRef idx="2">
            <a:schemeClr val="dk1"/>
          </a:effectRef>
          <a:fontRef idx="minor">
            <a:schemeClr val="tx1"/>
          </a:fontRef>
        </p:style>
      </p:cxnSp>
      <p:cxnSp>
        <p:nvCxnSpPr>
          <p:cNvPr id="68" name="直接连接符 67"/>
          <p:cNvCxnSpPr>
            <a:stCxn id="18" idx="5"/>
          </p:cNvCxnSpPr>
          <p:nvPr/>
        </p:nvCxnSpPr>
        <p:spPr>
          <a:xfrm>
            <a:off x="4561840" y="2498725"/>
            <a:ext cx="486410" cy="419735"/>
          </a:xfrm>
          <a:prstGeom prst="line">
            <a:avLst/>
          </a:prstGeom>
        </p:spPr>
        <p:style>
          <a:lnRef idx="3">
            <a:schemeClr val="dk1"/>
          </a:lnRef>
          <a:fillRef idx="0">
            <a:schemeClr val="dk1"/>
          </a:fillRef>
          <a:effectRef idx="2">
            <a:schemeClr val="dk1"/>
          </a:effectRef>
          <a:fontRef idx="minor">
            <a:schemeClr val="tx1"/>
          </a:fontRef>
        </p:style>
      </p:cxnSp>
      <p:cxnSp>
        <p:nvCxnSpPr>
          <p:cNvPr id="79" name="直接连接符 78"/>
          <p:cNvCxnSpPr>
            <a:stCxn id="18" idx="3"/>
            <a:endCxn id="9" idx="7"/>
          </p:cNvCxnSpPr>
          <p:nvPr/>
        </p:nvCxnSpPr>
        <p:spPr>
          <a:xfrm flipH="1">
            <a:off x="3851910" y="2498725"/>
            <a:ext cx="550545" cy="446405"/>
          </a:xfrm>
          <a:prstGeom prst="line">
            <a:avLst/>
          </a:prstGeom>
        </p:spPr>
        <p:style>
          <a:lnRef idx="3">
            <a:schemeClr val="dk1"/>
          </a:lnRef>
          <a:fillRef idx="0">
            <a:schemeClr val="dk1"/>
          </a:fillRef>
          <a:effectRef idx="2">
            <a:schemeClr val="dk1"/>
          </a:effectRef>
          <a:fontRef idx="minor">
            <a:schemeClr val="tx1"/>
          </a:fontRef>
        </p:style>
      </p:cxnSp>
      <p:cxnSp>
        <p:nvCxnSpPr>
          <p:cNvPr id="86" name="直接连接符 85"/>
          <p:cNvCxnSpPr>
            <a:stCxn id="20" idx="4"/>
            <a:endCxn id="19" idx="6"/>
          </p:cNvCxnSpPr>
          <p:nvPr/>
        </p:nvCxnSpPr>
        <p:spPr>
          <a:xfrm flipH="1">
            <a:off x="4582160" y="3118485"/>
            <a:ext cx="466090" cy="461645"/>
          </a:xfrm>
          <a:prstGeom prst="line">
            <a:avLst/>
          </a:prstGeom>
        </p:spPr>
        <p:style>
          <a:lnRef idx="3">
            <a:schemeClr val="dk1"/>
          </a:lnRef>
          <a:fillRef idx="0">
            <a:schemeClr val="dk1"/>
          </a:fillRef>
          <a:effectRef idx="2">
            <a:schemeClr val="dk1"/>
          </a:effectRef>
          <a:fontRef idx="minor">
            <a:schemeClr val="tx1"/>
          </a:fontRef>
        </p:style>
      </p:cxnSp>
      <p:cxnSp>
        <p:nvCxnSpPr>
          <p:cNvPr id="87" name="直接连接符 86"/>
          <p:cNvCxnSpPr>
            <a:stCxn id="9" idx="5"/>
            <a:endCxn id="19" idx="1"/>
          </p:cNvCxnSpPr>
          <p:nvPr/>
        </p:nvCxnSpPr>
        <p:spPr>
          <a:xfrm>
            <a:off x="3851910" y="3075305"/>
            <a:ext cx="537845" cy="439420"/>
          </a:xfrm>
          <a:prstGeom prst="line">
            <a:avLst/>
          </a:prstGeom>
        </p:spPr>
        <p:style>
          <a:lnRef idx="3">
            <a:schemeClr val="dk1"/>
          </a:lnRef>
          <a:fillRef idx="0">
            <a:schemeClr val="dk1"/>
          </a:fillRef>
          <a:effectRef idx="2">
            <a:schemeClr val="dk1"/>
          </a:effectRef>
          <a:fontRef idx="minor">
            <a:schemeClr val="tx1"/>
          </a:fontRef>
        </p:style>
      </p:cxnSp>
      <p:cxnSp>
        <p:nvCxnSpPr>
          <p:cNvPr id="88" name="直接连接符 87"/>
          <p:cNvCxnSpPr/>
          <p:nvPr/>
        </p:nvCxnSpPr>
        <p:spPr>
          <a:xfrm>
            <a:off x="1998980" y="2386330"/>
            <a:ext cx="2356485" cy="0"/>
          </a:xfrm>
          <a:prstGeom prst="line">
            <a:avLst/>
          </a:prstGeom>
        </p:spPr>
        <p:style>
          <a:lnRef idx="3">
            <a:schemeClr val="dk1"/>
          </a:lnRef>
          <a:fillRef idx="0">
            <a:schemeClr val="dk1"/>
          </a:fillRef>
          <a:effectRef idx="2">
            <a:schemeClr val="dk1"/>
          </a:effectRef>
          <a:fontRef idx="minor">
            <a:schemeClr val="tx1"/>
          </a:fontRef>
        </p:style>
      </p:cxnSp>
      <p:cxnSp>
        <p:nvCxnSpPr>
          <p:cNvPr id="89" name="直接连接符 88"/>
          <p:cNvCxnSpPr>
            <a:endCxn id="19" idx="2"/>
          </p:cNvCxnSpPr>
          <p:nvPr/>
        </p:nvCxnSpPr>
        <p:spPr>
          <a:xfrm flipV="1">
            <a:off x="2023745" y="3580130"/>
            <a:ext cx="2332990" cy="0"/>
          </a:xfrm>
          <a:prstGeom prst="line">
            <a:avLst/>
          </a:prstGeom>
        </p:spPr>
        <p:style>
          <a:lnRef idx="3">
            <a:schemeClr val="dk1"/>
          </a:lnRef>
          <a:fillRef idx="0">
            <a:schemeClr val="dk1"/>
          </a:fillRef>
          <a:effectRef idx="2">
            <a:schemeClr val="dk1"/>
          </a:effectRef>
          <a:fontRef idx="minor">
            <a:schemeClr val="tx1"/>
          </a:fontRef>
        </p:style>
      </p:cxnSp>
      <p:sp>
        <p:nvSpPr>
          <p:cNvPr id="90" name="文本框 89"/>
          <p:cNvSpPr txBox="1"/>
          <p:nvPr/>
        </p:nvSpPr>
        <p:spPr>
          <a:xfrm>
            <a:off x="743585" y="276606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A</a:t>
            </a:r>
          </a:p>
        </p:txBody>
      </p:sp>
      <p:sp>
        <p:nvSpPr>
          <p:cNvPr id="91" name="文本框 90"/>
          <p:cNvSpPr txBox="1"/>
          <p:nvPr/>
        </p:nvSpPr>
        <p:spPr>
          <a:xfrm>
            <a:off x="1628140" y="185102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B</a:t>
            </a:r>
          </a:p>
        </p:txBody>
      </p:sp>
      <p:sp>
        <p:nvSpPr>
          <p:cNvPr id="92" name="文本框 91"/>
          <p:cNvSpPr txBox="1"/>
          <p:nvPr/>
        </p:nvSpPr>
        <p:spPr>
          <a:xfrm>
            <a:off x="4250690" y="186753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C</a:t>
            </a:r>
          </a:p>
        </p:txBody>
      </p:sp>
      <p:sp>
        <p:nvSpPr>
          <p:cNvPr id="93" name="文本框 92"/>
          <p:cNvSpPr txBox="1"/>
          <p:nvPr/>
        </p:nvSpPr>
        <p:spPr>
          <a:xfrm>
            <a:off x="5146040" y="279717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D</a:t>
            </a:r>
          </a:p>
        </p:txBody>
      </p:sp>
      <p:sp>
        <p:nvSpPr>
          <p:cNvPr id="94" name="文本框 93"/>
          <p:cNvSpPr txBox="1"/>
          <p:nvPr/>
        </p:nvSpPr>
        <p:spPr>
          <a:xfrm>
            <a:off x="3351530" y="253619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F</a:t>
            </a:r>
          </a:p>
        </p:txBody>
      </p:sp>
      <p:sp>
        <p:nvSpPr>
          <p:cNvPr id="95" name="文本框 94"/>
          <p:cNvSpPr txBox="1"/>
          <p:nvPr/>
        </p:nvSpPr>
        <p:spPr>
          <a:xfrm>
            <a:off x="2353310" y="252793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E</a:t>
            </a:r>
          </a:p>
        </p:txBody>
      </p:sp>
      <p:sp>
        <p:nvSpPr>
          <p:cNvPr id="96" name="文本框 95"/>
          <p:cNvSpPr txBox="1"/>
          <p:nvPr/>
        </p:nvSpPr>
        <p:spPr>
          <a:xfrm>
            <a:off x="1671955" y="362839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G</a:t>
            </a:r>
          </a:p>
        </p:txBody>
      </p:sp>
      <p:sp>
        <p:nvSpPr>
          <p:cNvPr id="97" name="文本框 96"/>
          <p:cNvSpPr txBox="1"/>
          <p:nvPr/>
        </p:nvSpPr>
        <p:spPr>
          <a:xfrm>
            <a:off x="4389755" y="365760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H</a:t>
            </a:r>
          </a:p>
        </p:txBody>
      </p:sp>
      <p:sp>
        <p:nvSpPr>
          <p:cNvPr id="98" name="文本框 97"/>
          <p:cNvSpPr txBox="1"/>
          <p:nvPr/>
        </p:nvSpPr>
        <p:spPr>
          <a:xfrm>
            <a:off x="1181100" y="2386330"/>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2</a:t>
            </a:r>
          </a:p>
        </p:txBody>
      </p:sp>
      <p:sp>
        <p:nvSpPr>
          <p:cNvPr id="99" name="文本框 98"/>
          <p:cNvSpPr txBox="1"/>
          <p:nvPr/>
        </p:nvSpPr>
        <p:spPr>
          <a:xfrm>
            <a:off x="1181100" y="3340735"/>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6</a:t>
            </a:r>
          </a:p>
        </p:txBody>
      </p:sp>
      <p:sp>
        <p:nvSpPr>
          <p:cNvPr id="100" name="文本框 99"/>
          <p:cNvSpPr txBox="1"/>
          <p:nvPr/>
        </p:nvSpPr>
        <p:spPr>
          <a:xfrm>
            <a:off x="2914015" y="1867535"/>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7</a:t>
            </a:r>
          </a:p>
        </p:txBody>
      </p:sp>
      <p:sp>
        <p:nvSpPr>
          <p:cNvPr id="101" name="文本框 100"/>
          <p:cNvSpPr txBox="1"/>
          <p:nvPr/>
        </p:nvSpPr>
        <p:spPr>
          <a:xfrm>
            <a:off x="2900045" y="2665730"/>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2</a:t>
            </a:r>
          </a:p>
        </p:txBody>
      </p:sp>
      <p:sp>
        <p:nvSpPr>
          <p:cNvPr id="102" name="文本框 101"/>
          <p:cNvSpPr txBox="1"/>
          <p:nvPr/>
        </p:nvSpPr>
        <p:spPr>
          <a:xfrm>
            <a:off x="2900045" y="3657600"/>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4</a:t>
            </a:r>
          </a:p>
        </p:txBody>
      </p:sp>
      <p:sp>
        <p:nvSpPr>
          <p:cNvPr id="103" name="文本框 102"/>
          <p:cNvSpPr txBox="1"/>
          <p:nvPr/>
        </p:nvSpPr>
        <p:spPr>
          <a:xfrm>
            <a:off x="4750435" y="3183890"/>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2</a:t>
            </a:r>
          </a:p>
        </p:txBody>
      </p:sp>
      <p:sp>
        <p:nvSpPr>
          <p:cNvPr id="104" name="文本框 103"/>
          <p:cNvSpPr txBox="1"/>
          <p:nvPr/>
        </p:nvSpPr>
        <p:spPr>
          <a:xfrm>
            <a:off x="4723130" y="2386330"/>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3</a:t>
            </a:r>
          </a:p>
        </p:txBody>
      </p:sp>
      <p:sp>
        <p:nvSpPr>
          <p:cNvPr id="105" name="文本框 104"/>
          <p:cNvSpPr txBox="1"/>
          <p:nvPr/>
        </p:nvSpPr>
        <p:spPr>
          <a:xfrm>
            <a:off x="3858895" y="2356485"/>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3</a:t>
            </a:r>
          </a:p>
        </p:txBody>
      </p:sp>
      <p:sp>
        <p:nvSpPr>
          <p:cNvPr id="106" name="文本框 105"/>
          <p:cNvSpPr txBox="1"/>
          <p:nvPr/>
        </p:nvSpPr>
        <p:spPr>
          <a:xfrm>
            <a:off x="3789045" y="3126105"/>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2</a:t>
            </a:r>
          </a:p>
        </p:txBody>
      </p:sp>
      <p:sp>
        <p:nvSpPr>
          <p:cNvPr id="107" name="文本框 106"/>
          <p:cNvSpPr txBox="1"/>
          <p:nvPr/>
        </p:nvSpPr>
        <p:spPr>
          <a:xfrm>
            <a:off x="1862455" y="2556510"/>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2</a:t>
            </a:r>
          </a:p>
        </p:txBody>
      </p:sp>
      <p:sp>
        <p:nvSpPr>
          <p:cNvPr id="108" name="文本框 107"/>
          <p:cNvSpPr txBox="1"/>
          <p:nvPr/>
        </p:nvSpPr>
        <p:spPr>
          <a:xfrm>
            <a:off x="1862455" y="3016885"/>
            <a:ext cx="437515" cy="460375"/>
          </a:xfrm>
          <a:prstGeom prst="rect">
            <a:avLst/>
          </a:prstGeom>
          <a:noFill/>
        </p:spPr>
        <p:txBody>
          <a:bodyPr wrap="square" rtlCol="0">
            <a:spAutoFit/>
          </a:bodyPr>
          <a:lstStyle/>
          <a:p>
            <a:r>
              <a:rPr lang="en-US" altLang="zh-CN" sz="2400" b="1" dirty="0">
                <a:solidFill>
                  <a:srgbClr val="FC6C02"/>
                </a:solidFill>
                <a:latin typeface="等线" panose="02010600030101010101" pitchFamily="2" charset="-122"/>
                <a:ea typeface="等线" panose="02010600030101010101" pitchFamily="2" charset="-122"/>
              </a:rPr>
              <a:t>1</a:t>
            </a:r>
          </a:p>
        </p:txBody>
      </p:sp>
      <p:sp>
        <p:nvSpPr>
          <p:cNvPr id="109" name="椭圆 108"/>
          <p:cNvSpPr/>
          <p:nvPr/>
        </p:nvSpPr>
        <p:spPr>
          <a:xfrm>
            <a:off x="6518910" y="288544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0" name="椭圆 109"/>
          <p:cNvSpPr/>
          <p:nvPr/>
        </p:nvSpPr>
        <p:spPr>
          <a:xfrm>
            <a:off x="7111365" y="230886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1" name="椭圆 110"/>
          <p:cNvSpPr/>
          <p:nvPr/>
        </p:nvSpPr>
        <p:spPr>
          <a:xfrm>
            <a:off x="7111365" y="345503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2" name="椭圆 111"/>
          <p:cNvSpPr/>
          <p:nvPr/>
        </p:nvSpPr>
        <p:spPr>
          <a:xfrm>
            <a:off x="7691120" y="288544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3" name="椭圆 112"/>
          <p:cNvSpPr/>
          <p:nvPr/>
        </p:nvSpPr>
        <p:spPr>
          <a:xfrm>
            <a:off x="8997315" y="288544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4" name="椭圆 113"/>
          <p:cNvSpPr/>
          <p:nvPr/>
        </p:nvSpPr>
        <p:spPr>
          <a:xfrm>
            <a:off x="9707245" y="230886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5" name="椭圆 114"/>
          <p:cNvSpPr/>
          <p:nvPr/>
        </p:nvSpPr>
        <p:spPr>
          <a:xfrm>
            <a:off x="9694545" y="345503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16" name="椭圆 115"/>
          <p:cNvSpPr/>
          <p:nvPr/>
        </p:nvSpPr>
        <p:spPr>
          <a:xfrm>
            <a:off x="10273030" y="290195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17" name="直接连接符 116"/>
          <p:cNvCxnSpPr>
            <a:stCxn id="109" idx="7"/>
            <a:endCxn id="110" idx="3"/>
          </p:cNvCxnSpPr>
          <p:nvPr/>
        </p:nvCxnSpPr>
        <p:spPr>
          <a:xfrm flipV="1">
            <a:off x="6711315" y="2479675"/>
            <a:ext cx="433070" cy="446405"/>
          </a:xfrm>
          <a:prstGeom prst="line">
            <a:avLst/>
          </a:prstGeom>
        </p:spPr>
        <p:style>
          <a:lnRef idx="3">
            <a:schemeClr val="dk1"/>
          </a:lnRef>
          <a:fillRef idx="0">
            <a:schemeClr val="dk1"/>
          </a:fillRef>
          <a:effectRef idx="2">
            <a:schemeClr val="dk1"/>
          </a:effectRef>
          <a:fontRef idx="minor">
            <a:schemeClr val="tx1"/>
          </a:fontRef>
        </p:style>
      </p:cxnSp>
      <p:cxnSp>
        <p:nvCxnSpPr>
          <p:cNvPr id="118" name="直接连接符 117"/>
          <p:cNvCxnSpPr>
            <a:stCxn id="109" idx="5"/>
            <a:endCxn id="111" idx="1"/>
          </p:cNvCxnSpPr>
          <p:nvPr/>
        </p:nvCxnSpPr>
        <p:spPr>
          <a:xfrm>
            <a:off x="6711315" y="3056255"/>
            <a:ext cx="433070" cy="439420"/>
          </a:xfrm>
          <a:prstGeom prst="line">
            <a:avLst/>
          </a:prstGeom>
        </p:spPr>
        <p:style>
          <a:lnRef idx="3">
            <a:schemeClr val="dk1"/>
          </a:lnRef>
          <a:fillRef idx="0">
            <a:schemeClr val="dk1"/>
          </a:fillRef>
          <a:effectRef idx="2">
            <a:schemeClr val="dk1"/>
          </a:effectRef>
          <a:fontRef idx="minor">
            <a:schemeClr val="tx1"/>
          </a:fontRef>
        </p:style>
      </p:cxnSp>
      <p:cxnSp>
        <p:nvCxnSpPr>
          <p:cNvPr id="119" name="直接连接符 118"/>
          <p:cNvCxnSpPr>
            <a:stCxn id="110" idx="5"/>
            <a:endCxn id="112" idx="1"/>
          </p:cNvCxnSpPr>
          <p:nvPr/>
        </p:nvCxnSpPr>
        <p:spPr>
          <a:xfrm>
            <a:off x="7303770" y="2479675"/>
            <a:ext cx="420370" cy="446405"/>
          </a:xfrm>
          <a:prstGeom prst="line">
            <a:avLst/>
          </a:prstGeom>
        </p:spPr>
        <p:style>
          <a:lnRef idx="3">
            <a:schemeClr val="dk1"/>
          </a:lnRef>
          <a:fillRef idx="0">
            <a:schemeClr val="dk1"/>
          </a:fillRef>
          <a:effectRef idx="2">
            <a:schemeClr val="dk1"/>
          </a:effectRef>
          <a:fontRef idx="minor">
            <a:schemeClr val="tx1"/>
          </a:fontRef>
        </p:style>
      </p:cxnSp>
      <p:cxnSp>
        <p:nvCxnSpPr>
          <p:cNvPr id="120" name="直接连接符 119"/>
          <p:cNvCxnSpPr>
            <a:stCxn id="112" idx="3"/>
            <a:endCxn id="111" idx="7"/>
          </p:cNvCxnSpPr>
          <p:nvPr/>
        </p:nvCxnSpPr>
        <p:spPr>
          <a:xfrm flipH="1">
            <a:off x="7303770" y="3056255"/>
            <a:ext cx="420370" cy="439420"/>
          </a:xfrm>
          <a:prstGeom prst="line">
            <a:avLst/>
          </a:prstGeom>
        </p:spPr>
        <p:style>
          <a:lnRef idx="3">
            <a:schemeClr val="dk1"/>
          </a:lnRef>
          <a:fillRef idx="0">
            <a:schemeClr val="dk1"/>
          </a:fillRef>
          <a:effectRef idx="2">
            <a:schemeClr val="dk1"/>
          </a:effectRef>
          <a:fontRef idx="minor">
            <a:schemeClr val="tx1"/>
          </a:fontRef>
        </p:style>
      </p:cxnSp>
      <p:cxnSp>
        <p:nvCxnSpPr>
          <p:cNvPr id="121" name="直接连接符 120"/>
          <p:cNvCxnSpPr>
            <a:stCxn id="112" idx="6"/>
            <a:endCxn id="113" idx="2"/>
          </p:cNvCxnSpPr>
          <p:nvPr/>
        </p:nvCxnSpPr>
        <p:spPr>
          <a:xfrm>
            <a:off x="7916545" y="2991485"/>
            <a:ext cx="1080770" cy="0"/>
          </a:xfrm>
          <a:prstGeom prst="line">
            <a:avLst/>
          </a:prstGeom>
        </p:spPr>
        <p:style>
          <a:lnRef idx="3">
            <a:schemeClr val="dk1"/>
          </a:lnRef>
          <a:fillRef idx="0">
            <a:schemeClr val="dk1"/>
          </a:fillRef>
          <a:effectRef idx="2">
            <a:schemeClr val="dk1"/>
          </a:effectRef>
          <a:fontRef idx="minor">
            <a:schemeClr val="tx1"/>
          </a:fontRef>
        </p:style>
      </p:cxnSp>
      <p:cxnSp>
        <p:nvCxnSpPr>
          <p:cNvPr id="122" name="直接连接符 121"/>
          <p:cNvCxnSpPr>
            <a:stCxn id="114" idx="5"/>
          </p:cNvCxnSpPr>
          <p:nvPr/>
        </p:nvCxnSpPr>
        <p:spPr>
          <a:xfrm>
            <a:off x="9899650" y="2479675"/>
            <a:ext cx="486410" cy="419735"/>
          </a:xfrm>
          <a:prstGeom prst="line">
            <a:avLst/>
          </a:prstGeom>
        </p:spPr>
        <p:style>
          <a:lnRef idx="3">
            <a:schemeClr val="dk1"/>
          </a:lnRef>
          <a:fillRef idx="0">
            <a:schemeClr val="dk1"/>
          </a:fillRef>
          <a:effectRef idx="2">
            <a:schemeClr val="dk1"/>
          </a:effectRef>
          <a:fontRef idx="minor">
            <a:schemeClr val="tx1"/>
          </a:fontRef>
        </p:style>
      </p:cxnSp>
      <p:cxnSp>
        <p:nvCxnSpPr>
          <p:cNvPr id="123" name="直接连接符 122"/>
          <p:cNvCxnSpPr>
            <a:stCxn id="114" idx="3"/>
            <a:endCxn id="113" idx="7"/>
          </p:cNvCxnSpPr>
          <p:nvPr/>
        </p:nvCxnSpPr>
        <p:spPr>
          <a:xfrm flipH="1">
            <a:off x="9189720" y="2479675"/>
            <a:ext cx="550545" cy="446405"/>
          </a:xfrm>
          <a:prstGeom prst="line">
            <a:avLst/>
          </a:prstGeom>
        </p:spPr>
        <p:style>
          <a:lnRef idx="3">
            <a:schemeClr val="dk1"/>
          </a:lnRef>
          <a:fillRef idx="0">
            <a:schemeClr val="dk1"/>
          </a:fillRef>
          <a:effectRef idx="2">
            <a:schemeClr val="dk1"/>
          </a:effectRef>
          <a:fontRef idx="minor">
            <a:schemeClr val="tx1"/>
          </a:fontRef>
        </p:style>
      </p:cxnSp>
      <p:cxnSp>
        <p:nvCxnSpPr>
          <p:cNvPr id="124" name="直接连接符 123"/>
          <p:cNvCxnSpPr>
            <a:stCxn id="116" idx="4"/>
            <a:endCxn id="115" idx="6"/>
          </p:cNvCxnSpPr>
          <p:nvPr/>
        </p:nvCxnSpPr>
        <p:spPr>
          <a:xfrm flipH="1">
            <a:off x="9919970" y="3099435"/>
            <a:ext cx="466090" cy="461645"/>
          </a:xfrm>
          <a:prstGeom prst="line">
            <a:avLst/>
          </a:prstGeom>
        </p:spPr>
        <p:style>
          <a:lnRef idx="3">
            <a:schemeClr val="dk1"/>
          </a:lnRef>
          <a:fillRef idx="0">
            <a:schemeClr val="dk1"/>
          </a:fillRef>
          <a:effectRef idx="2">
            <a:schemeClr val="dk1"/>
          </a:effectRef>
          <a:fontRef idx="minor">
            <a:schemeClr val="tx1"/>
          </a:fontRef>
        </p:style>
      </p:cxnSp>
      <p:cxnSp>
        <p:nvCxnSpPr>
          <p:cNvPr id="125" name="直接连接符 124"/>
          <p:cNvCxnSpPr>
            <a:stCxn id="113" idx="5"/>
            <a:endCxn id="115" idx="1"/>
          </p:cNvCxnSpPr>
          <p:nvPr/>
        </p:nvCxnSpPr>
        <p:spPr>
          <a:xfrm>
            <a:off x="9189720" y="3056255"/>
            <a:ext cx="537845" cy="439420"/>
          </a:xfrm>
          <a:prstGeom prst="line">
            <a:avLst/>
          </a:prstGeom>
        </p:spPr>
        <p:style>
          <a:lnRef idx="3">
            <a:schemeClr val="dk1"/>
          </a:lnRef>
          <a:fillRef idx="0">
            <a:schemeClr val="dk1"/>
          </a:fillRef>
          <a:effectRef idx="2">
            <a:schemeClr val="dk1"/>
          </a:effectRef>
          <a:fontRef idx="minor">
            <a:schemeClr val="tx1"/>
          </a:fontRef>
        </p:style>
      </p:cxnSp>
      <p:cxnSp>
        <p:nvCxnSpPr>
          <p:cNvPr id="126" name="直接连接符 125"/>
          <p:cNvCxnSpPr/>
          <p:nvPr/>
        </p:nvCxnSpPr>
        <p:spPr>
          <a:xfrm>
            <a:off x="7336790" y="2367280"/>
            <a:ext cx="2356485" cy="0"/>
          </a:xfrm>
          <a:prstGeom prst="line">
            <a:avLst/>
          </a:prstGeom>
        </p:spPr>
        <p:style>
          <a:lnRef idx="3">
            <a:schemeClr val="dk1"/>
          </a:lnRef>
          <a:fillRef idx="0">
            <a:schemeClr val="dk1"/>
          </a:fillRef>
          <a:effectRef idx="2">
            <a:schemeClr val="dk1"/>
          </a:effectRef>
          <a:fontRef idx="minor">
            <a:schemeClr val="tx1"/>
          </a:fontRef>
        </p:style>
      </p:cxnSp>
      <p:cxnSp>
        <p:nvCxnSpPr>
          <p:cNvPr id="127" name="直接连接符 126"/>
          <p:cNvCxnSpPr>
            <a:endCxn id="115" idx="2"/>
          </p:cNvCxnSpPr>
          <p:nvPr/>
        </p:nvCxnSpPr>
        <p:spPr>
          <a:xfrm flipV="1">
            <a:off x="7361555" y="3561080"/>
            <a:ext cx="2332990" cy="0"/>
          </a:xfrm>
          <a:prstGeom prst="line">
            <a:avLst/>
          </a:prstGeom>
        </p:spPr>
        <p:style>
          <a:lnRef idx="3">
            <a:schemeClr val="dk1"/>
          </a:lnRef>
          <a:fillRef idx="0">
            <a:schemeClr val="dk1"/>
          </a:fillRef>
          <a:effectRef idx="2">
            <a:schemeClr val="dk1"/>
          </a:effectRef>
          <a:fontRef idx="minor">
            <a:schemeClr val="tx1"/>
          </a:fontRef>
        </p:style>
      </p:cxnSp>
      <p:sp>
        <p:nvSpPr>
          <p:cNvPr id="128" name="文本框 127"/>
          <p:cNvSpPr txBox="1"/>
          <p:nvPr/>
        </p:nvSpPr>
        <p:spPr>
          <a:xfrm>
            <a:off x="6081395" y="274701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A</a:t>
            </a:r>
          </a:p>
        </p:txBody>
      </p:sp>
      <p:sp>
        <p:nvSpPr>
          <p:cNvPr id="129" name="文本框 128"/>
          <p:cNvSpPr txBox="1"/>
          <p:nvPr/>
        </p:nvSpPr>
        <p:spPr>
          <a:xfrm>
            <a:off x="6979920" y="185293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B</a:t>
            </a:r>
          </a:p>
        </p:txBody>
      </p:sp>
      <p:sp>
        <p:nvSpPr>
          <p:cNvPr id="130" name="文本框 129"/>
          <p:cNvSpPr txBox="1"/>
          <p:nvPr/>
        </p:nvSpPr>
        <p:spPr>
          <a:xfrm>
            <a:off x="9588500" y="184848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C</a:t>
            </a:r>
          </a:p>
        </p:txBody>
      </p:sp>
      <p:sp>
        <p:nvSpPr>
          <p:cNvPr id="131" name="文本框 130"/>
          <p:cNvSpPr txBox="1"/>
          <p:nvPr/>
        </p:nvSpPr>
        <p:spPr>
          <a:xfrm>
            <a:off x="10581640" y="277812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D</a:t>
            </a:r>
          </a:p>
        </p:txBody>
      </p:sp>
      <p:sp>
        <p:nvSpPr>
          <p:cNvPr id="132" name="文本框 131"/>
          <p:cNvSpPr txBox="1"/>
          <p:nvPr/>
        </p:nvSpPr>
        <p:spPr>
          <a:xfrm>
            <a:off x="9225915" y="272351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F</a:t>
            </a:r>
          </a:p>
        </p:txBody>
      </p:sp>
      <p:sp>
        <p:nvSpPr>
          <p:cNvPr id="133" name="文本框 132"/>
          <p:cNvSpPr txBox="1"/>
          <p:nvPr/>
        </p:nvSpPr>
        <p:spPr>
          <a:xfrm>
            <a:off x="7551420" y="250888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E</a:t>
            </a:r>
          </a:p>
        </p:txBody>
      </p:sp>
      <p:sp>
        <p:nvSpPr>
          <p:cNvPr id="134" name="文本框 133"/>
          <p:cNvSpPr txBox="1"/>
          <p:nvPr/>
        </p:nvSpPr>
        <p:spPr>
          <a:xfrm>
            <a:off x="7009765" y="360934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G</a:t>
            </a:r>
          </a:p>
        </p:txBody>
      </p:sp>
      <p:sp>
        <p:nvSpPr>
          <p:cNvPr id="135" name="文本框 134"/>
          <p:cNvSpPr txBox="1"/>
          <p:nvPr/>
        </p:nvSpPr>
        <p:spPr>
          <a:xfrm>
            <a:off x="9727565" y="363855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H</a:t>
            </a:r>
          </a:p>
        </p:txBody>
      </p:sp>
      <p:sp>
        <p:nvSpPr>
          <p:cNvPr id="136" name="文本框 135"/>
          <p:cNvSpPr txBox="1"/>
          <p:nvPr/>
        </p:nvSpPr>
        <p:spPr>
          <a:xfrm>
            <a:off x="7192010" y="183451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C6C02"/>
                </a:solidFill>
                <a:latin typeface="等线" panose="02010600030101010101" pitchFamily="2" charset="-122"/>
                <a:ea typeface="等线" panose="02010600030101010101" pitchFamily="2" charset="-122"/>
              </a:rPr>
              <a:t>2,A</a:t>
            </a:r>
            <a:r>
              <a:rPr lang="en-US" altLang="zh-CN" sz="2400" b="1" dirty="0">
                <a:latin typeface="等线" panose="02010600030101010101" pitchFamily="2" charset="-122"/>
                <a:ea typeface="等线" panose="02010600030101010101" pitchFamily="2" charset="-122"/>
              </a:rPr>
              <a:t>)</a:t>
            </a:r>
          </a:p>
        </p:txBody>
      </p:sp>
      <p:sp>
        <p:nvSpPr>
          <p:cNvPr id="137" name="文本框 136"/>
          <p:cNvSpPr txBox="1"/>
          <p:nvPr/>
        </p:nvSpPr>
        <p:spPr>
          <a:xfrm>
            <a:off x="9829800" y="185102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sp>
        <p:nvSpPr>
          <p:cNvPr id="138" name="文本框 137"/>
          <p:cNvSpPr txBox="1"/>
          <p:nvPr/>
        </p:nvSpPr>
        <p:spPr>
          <a:xfrm>
            <a:off x="7277735" y="360045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C6C02"/>
                </a:solidFill>
                <a:latin typeface="等线" panose="02010600030101010101" pitchFamily="2" charset="-122"/>
                <a:ea typeface="等线" panose="02010600030101010101" pitchFamily="2" charset="-122"/>
              </a:rPr>
              <a:t>6,A</a:t>
            </a:r>
            <a:r>
              <a:rPr lang="en-US" altLang="zh-CN" sz="2400" b="1" dirty="0">
                <a:solidFill>
                  <a:schemeClr val="tx1"/>
                </a:solidFill>
                <a:latin typeface="等线" panose="02010600030101010101" pitchFamily="2" charset="-122"/>
                <a:ea typeface="等线" panose="02010600030101010101" pitchFamily="2" charset="-122"/>
              </a:rPr>
              <a:t>)</a:t>
            </a:r>
          </a:p>
        </p:txBody>
      </p:sp>
      <p:sp>
        <p:nvSpPr>
          <p:cNvPr id="139" name="文本框 138"/>
          <p:cNvSpPr txBox="1"/>
          <p:nvPr/>
        </p:nvSpPr>
        <p:spPr>
          <a:xfrm>
            <a:off x="9973310" y="360934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sp>
        <p:nvSpPr>
          <p:cNvPr id="140" name="文本框 139"/>
          <p:cNvSpPr txBox="1"/>
          <p:nvPr/>
        </p:nvSpPr>
        <p:spPr>
          <a:xfrm>
            <a:off x="10921365" y="276352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sp>
        <p:nvSpPr>
          <p:cNvPr id="141" name="文本框 140"/>
          <p:cNvSpPr txBox="1"/>
          <p:nvPr/>
        </p:nvSpPr>
        <p:spPr>
          <a:xfrm>
            <a:off x="7724140" y="251714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sp>
        <p:nvSpPr>
          <p:cNvPr id="142" name="文本框 141"/>
          <p:cNvSpPr txBox="1"/>
          <p:nvPr/>
        </p:nvSpPr>
        <p:spPr>
          <a:xfrm>
            <a:off x="9367520" y="272351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cxnSp>
        <p:nvCxnSpPr>
          <p:cNvPr id="143" name="直接箭头连接符 142"/>
          <p:cNvCxnSpPr/>
          <p:nvPr/>
        </p:nvCxnSpPr>
        <p:spPr>
          <a:xfrm flipV="1">
            <a:off x="6431915" y="2415540"/>
            <a:ext cx="490855" cy="889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144" name="椭圆 143"/>
          <p:cNvSpPr/>
          <p:nvPr/>
        </p:nvSpPr>
        <p:spPr>
          <a:xfrm>
            <a:off x="7111365" y="231330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5" name="文本框 144"/>
          <p:cNvSpPr txBox="1"/>
          <p:nvPr/>
        </p:nvSpPr>
        <p:spPr>
          <a:xfrm>
            <a:off x="7194550" y="183515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F0000"/>
                </a:solidFill>
                <a:latin typeface="等线" panose="02010600030101010101" pitchFamily="2" charset="-122"/>
                <a:ea typeface="等线" panose="02010600030101010101" pitchFamily="2" charset="-122"/>
              </a:rPr>
              <a:t>2,A</a:t>
            </a:r>
            <a:r>
              <a:rPr lang="en-US" altLang="zh-CN" sz="2400" b="1" dirty="0">
                <a:solidFill>
                  <a:schemeClr val="tx1"/>
                </a:solidFill>
                <a:latin typeface="等线" panose="02010600030101010101" pitchFamily="2" charset="-122"/>
                <a:ea typeface="等线" panose="02010600030101010101" pitchFamily="2" charset="-122"/>
              </a:rPr>
              <a:t>)</a:t>
            </a:r>
          </a:p>
        </p:txBody>
      </p:sp>
      <p:sp>
        <p:nvSpPr>
          <p:cNvPr id="146" name="椭圆 145"/>
          <p:cNvSpPr/>
          <p:nvPr/>
        </p:nvSpPr>
        <p:spPr>
          <a:xfrm>
            <a:off x="1148080" y="522287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7" name="椭圆 146"/>
          <p:cNvSpPr/>
          <p:nvPr/>
        </p:nvSpPr>
        <p:spPr>
          <a:xfrm>
            <a:off x="1740535" y="464629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8" name="椭圆 147"/>
          <p:cNvSpPr/>
          <p:nvPr/>
        </p:nvSpPr>
        <p:spPr>
          <a:xfrm>
            <a:off x="1740535" y="579247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49" name="椭圆 148"/>
          <p:cNvSpPr/>
          <p:nvPr/>
        </p:nvSpPr>
        <p:spPr>
          <a:xfrm>
            <a:off x="2320290" y="522287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0" name="椭圆 149"/>
          <p:cNvSpPr/>
          <p:nvPr/>
        </p:nvSpPr>
        <p:spPr>
          <a:xfrm>
            <a:off x="3626485" y="522287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1" name="椭圆 150"/>
          <p:cNvSpPr/>
          <p:nvPr/>
        </p:nvSpPr>
        <p:spPr>
          <a:xfrm>
            <a:off x="4336415" y="464629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2" name="椭圆 151"/>
          <p:cNvSpPr/>
          <p:nvPr/>
        </p:nvSpPr>
        <p:spPr>
          <a:xfrm>
            <a:off x="4323715" y="579247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53" name="椭圆 152"/>
          <p:cNvSpPr/>
          <p:nvPr/>
        </p:nvSpPr>
        <p:spPr>
          <a:xfrm>
            <a:off x="4902200" y="523938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54" name="直接连接符 153"/>
          <p:cNvCxnSpPr>
            <a:stCxn id="146" idx="7"/>
            <a:endCxn id="147" idx="3"/>
          </p:cNvCxnSpPr>
          <p:nvPr/>
        </p:nvCxnSpPr>
        <p:spPr>
          <a:xfrm flipV="1">
            <a:off x="1340485" y="4789170"/>
            <a:ext cx="433070" cy="446405"/>
          </a:xfrm>
          <a:prstGeom prst="line">
            <a:avLst/>
          </a:prstGeom>
        </p:spPr>
        <p:style>
          <a:lnRef idx="3">
            <a:schemeClr val="dk1"/>
          </a:lnRef>
          <a:fillRef idx="0">
            <a:schemeClr val="dk1"/>
          </a:fillRef>
          <a:effectRef idx="2">
            <a:schemeClr val="dk1"/>
          </a:effectRef>
          <a:fontRef idx="minor">
            <a:schemeClr val="tx1"/>
          </a:fontRef>
        </p:style>
      </p:cxnSp>
      <p:cxnSp>
        <p:nvCxnSpPr>
          <p:cNvPr id="155" name="直接连接符 154"/>
          <p:cNvCxnSpPr>
            <a:stCxn id="146" idx="5"/>
            <a:endCxn id="148" idx="1"/>
          </p:cNvCxnSpPr>
          <p:nvPr/>
        </p:nvCxnSpPr>
        <p:spPr>
          <a:xfrm>
            <a:off x="1340485" y="5365750"/>
            <a:ext cx="433070" cy="439420"/>
          </a:xfrm>
          <a:prstGeom prst="line">
            <a:avLst/>
          </a:prstGeom>
        </p:spPr>
        <p:style>
          <a:lnRef idx="3">
            <a:schemeClr val="dk1"/>
          </a:lnRef>
          <a:fillRef idx="0">
            <a:schemeClr val="dk1"/>
          </a:fillRef>
          <a:effectRef idx="2">
            <a:schemeClr val="dk1"/>
          </a:effectRef>
          <a:fontRef idx="minor">
            <a:schemeClr val="tx1"/>
          </a:fontRef>
        </p:style>
      </p:cxnSp>
      <p:cxnSp>
        <p:nvCxnSpPr>
          <p:cNvPr id="156" name="直接连接符 155"/>
          <p:cNvCxnSpPr>
            <a:stCxn id="147" idx="5"/>
            <a:endCxn id="149" idx="1"/>
          </p:cNvCxnSpPr>
          <p:nvPr/>
        </p:nvCxnSpPr>
        <p:spPr>
          <a:xfrm>
            <a:off x="1932940" y="4789170"/>
            <a:ext cx="420370" cy="446405"/>
          </a:xfrm>
          <a:prstGeom prst="line">
            <a:avLst/>
          </a:prstGeom>
        </p:spPr>
        <p:style>
          <a:lnRef idx="3">
            <a:schemeClr val="dk1"/>
          </a:lnRef>
          <a:fillRef idx="0">
            <a:schemeClr val="dk1"/>
          </a:fillRef>
          <a:effectRef idx="2">
            <a:schemeClr val="dk1"/>
          </a:effectRef>
          <a:fontRef idx="minor">
            <a:schemeClr val="tx1"/>
          </a:fontRef>
        </p:style>
      </p:cxnSp>
      <p:cxnSp>
        <p:nvCxnSpPr>
          <p:cNvPr id="157" name="直接连接符 156"/>
          <p:cNvCxnSpPr>
            <a:stCxn id="149" idx="3"/>
            <a:endCxn id="148" idx="7"/>
          </p:cNvCxnSpPr>
          <p:nvPr/>
        </p:nvCxnSpPr>
        <p:spPr>
          <a:xfrm flipH="1">
            <a:off x="1932940" y="5365750"/>
            <a:ext cx="420370" cy="439420"/>
          </a:xfrm>
          <a:prstGeom prst="line">
            <a:avLst/>
          </a:prstGeom>
        </p:spPr>
        <p:style>
          <a:lnRef idx="3">
            <a:schemeClr val="dk1"/>
          </a:lnRef>
          <a:fillRef idx="0">
            <a:schemeClr val="dk1"/>
          </a:fillRef>
          <a:effectRef idx="2">
            <a:schemeClr val="dk1"/>
          </a:effectRef>
          <a:fontRef idx="minor">
            <a:schemeClr val="tx1"/>
          </a:fontRef>
        </p:style>
      </p:cxnSp>
      <p:cxnSp>
        <p:nvCxnSpPr>
          <p:cNvPr id="158" name="直接连接符 157"/>
          <p:cNvCxnSpPr>
            <a:stCxn id="149" idx="6"/>
            <a:endCxn id="150" idx="2"/>
          </p:cNvCxnSpPr>
          <p:nvPr/>
        </p:nvCxnSpPr>
        <p:spPr>
          <a:xfrm>
            <a:off x="2545715" y="5300980"/>
            <a:ext cx="1080770" cy="0"/>
          </a:xfrm>
          <a:prstGeom prst="line">
            <a:avLst/>
          </a:prstGeom>
        </p:spPr>
        <p:style>
          <a:lnRef idx="3">
            <a:schemeClr val="dk1"/>
          </a:lnRef>
          <a:fillRef idx="0">
            <a:schemeClr val="dk1"/>
          </a:fillRef>
          <a:effectRef idx="2">
            <a:schemeClr val="dk1"/>
          </a:effectRef>
          <a:fontRef idx="minor">
            <a:schemeClr val="tx1"/>
          </a:fontRef>
        </p:style>
      </p:cxnSp>
      <p:cxnSp>
        <p:nvCxnSpPr>
          <p:cNvPr id="159" name="直接连接符 158"/>
          <p:cNvCxnSpPr>
            <a:stCxn id="151" idx="5"/>
          </p:cNvCxnSpPr>
          <p:nvPr/>
        </p:nvCxnSpPr>
        <p:spPr>
          <a:xfrm>
            <a:off x="4528820" y="4789170"/>
            <a:ext cx="486410" cy="419735"/>
          </a:xfrm>
          <a:prstGeom prst="line">
            <a:avLst/>
          </a:prstGeom>
        </p:spPr>
        <p:style>
          <a:lnRef idx="3">
            <a:schemeClr val="dk1"/>
          </a:lnRef>
          <a:fillRef idx="0">
            <a:schemeClr val="dk1"/>
          </a:fillRef>
          <a:effectRef idx="2">
            <a:schemeClr val="dk1"/>
          </a:effectRef>
          <a:fontRef idx="minor">
            <a:schemeClr val="tx1"/>
          </a:fontRef>
        </p:style>
      </p:cxnSp>
      <p:cxnSp>
        <p:nvCxnSpPr>
          <p:cNvPr id="160" name="直接连接符 159"/>
          <p:cNvCxnSpPr>
            <a:stCxn id="151" idx="3"/>
            <a:endCxn id="150" idx="7"/>
          </p:cNvCxnSpPr>
          <p:nvPr/>
        </p:nvCxnSpPr>
        <p:spPr>
          <a:xfrm flipH="1">
            <a:off x="3818890" y="4789170"/>
            <a:ext cx="550545" cy="446405"/>
          </a:xfrm>
          <a:prstGeom prst="line">
            <a:avLst/>
          </a:prstGeom>
        </p:spPr>
        <p:style>
          <a:lnRef idx="3">
            <a:schemeClr val="dk1"/>
          </a:lnRef>
          <a:fillRef idx="0">
            <a:schemeClr val="dk1"/>
          </a:fillRef>
          <a:effectRef idx="2">
            <a:schemeClr val="dk1"/>
          </a:effectRef>
          <a:fontRef idx="minor">
            <a:schemeClr val="tx1"/>
          </a:fontRef>
        </p:style>
      </p:cxnSp>
      <p:cxnSp>
        <p:nvCxnSpPr>
          <p:cNvPr id="161" name="直接连接符 160"/>
          <p:cNvCxnSpPr>
            <a:stCxn id="153" idx="4"/>
            <a:endCxn id="152" idx="6"/>
          </p:cNvCxnSpPr>
          <p:nvPr/>
        </p:nvCxnSpPr>
        <p:spPr>
          <a:xfrm flipH="1">
            <a:off x="4549140" y="5408930"/>
            <a:ext cx="466090" cy="461645"/>
          </a:xfrm>
          <a:prstGeom prst="line">
            <a:avLst/>
          </a:prstGeom>
        </p:spPr>
        <p:style>
          <a:lnRef idx="3">
            <a:schemeClr val="dk1"/>
          </a:lnRef>
          <a:fillRef idx="0">
            <a:schemeClr val="dk1"/>
          </a:fillRef>
          <a:effectRef idx="2">
            <a:schemeClr val="dk1"/>
          </a:effectRef>
          <a:fontRef idx="minor">
            <a:schemeClr val="tx1"/>
          </a:fontRef>
        </p:style>
      </p:cxnSp>
      <p:cxnSp>
        <p:nvCxnSpPr>
          <p:cNvPr id="162" name="直接连接符 161"/>
          <p:cNvCxnSpPr>
            <a:stCxn id="150" idx="5"/>
            <a:endCxn id="152" idx="1"/>
          </p:cNvCxnSpPr>
          <p:nvPr/>
        </p:nvCxnSpPr>
        <p:spPr>
          <a:xfrm>
            <a:off x="3818890" y="5365750"/>
            <a:ext cx="537845" cy="439420"/>
          </a:xfrm>
          <a:prstGeom prst="line">
            <a:avLst/>
          </a:prstGeom>
        </p:spPr>
        <p:style>
          <a:lnRef idx="3">
            <a:schemeClr val="dk1"/>
          </a:lnRef>
          <a:fillRef idx="0">
            <a:schemeClr val="dk1"/>
          </a:fillRef>
          <a:effectRef idx="2">
            <a:schemeClr val="dk1"/>
          </a:effectRef>
          <a:fontRef idx="minor">
            <a:schemeClr val="tx1"/>
          </a:fontRef>
        </p:style>
      </p:cxnSp>
      <p:cxnSp>
        <p:nvCxnSpPr>
          <p:cNvPr id="163" name="直接连接符 162"/>
          <p:cNvCxnSpPr/>
          <p:nvPr/>
        </p:nvCxnSpPr>
        <p:spPr>
          <a:xfrm>
            <a:off x="1965960" y="4704715"/>
            <a:ext cx="2356485" cy="0"/>
          </a:xfrm>
          <a:prstGeom prst="line">
            <a:avLst/>
          </a:prstGeom>
        </p:spPr>
        <p:style>
          <a:lnRef idx="3">
            <a:schemeClr val="dk1"/>
          </a:lnRef>
          <a:fillRef idx="0">
            <a:schemeClr val="dk1"/>
          </a:fillRef>
          <a:effectRef idx="2">
            <a:schemeClr val="dk1"/>
          </a:effectRef>
          <a:fontRef idx="minor">
            <a:schemeClr val="tx1"/>
          </a:fontRef>
        </p:style>
      </p:cxnSp>
      <p:cxnSp>
        <p:nvCxnSpPr>
          <p:cNvPr id="164" name="直接连接符 163"/>
          <p:cNvCxnSpPr>
            <a:endCxn id="152" idx="2"/>
          </p:cNvCxnSpPr>
          <p:nvPr/>
        </p:nvCxnSpPr>
        <p:spPr>
          <a:xfrm flipV="1">
            <a:off x="1990725" y="5870575"/>
            <a:ext cx="2332990" cy="0"/>
          </a:xfrm>
          <a:prstGeom prst="line">
            <a:avLst/>
          </a:prstGeom>
        </p:spPr>
        <p:style>
          <a:lnRef idx="3">
            <a:schemeClr val="dk1"/>
          </a:lnRef>
          <a:fillRef idx="0">
            <a:schemeClr val="dk1"/>
          </a:fillRef>
          <a:effectRef idx="2">
            <a:schemeClr val="dk1"/>
          </a:effectRef>
          <a:fontRef idx="minor">
            <a:schemeClr val="tx1"/>
          </a:fontRef>
        </p:style>
      </p:cxnSp>
      <p:sp>
        <p:nvSpPr>
          <p:cNvPr id="165" name="文本框 164"/>
          <p:cNvSpPr txBox="1"/>
          <p:nvPr/>
        </p:nvSpPr>
        <p:spPr>
          <a:xfrm>
            <a:off x="710565" y="508444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A</a:t>
            </a:r>
          </a:p>
        </p:txBody>
      </p:sp>
      <p:sp>
        <p:nvSpPr>
          <p:cNvPr id="166" name="文本框 165"/>
          <p:cNvSpPr txBox="1"/>
          <p:nvPr/>
        </p:nvSpPr>
        <p:spPr>
          <a:xfrm>
            <a:off x="1609090" y="419036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B</a:t>
            </a:r>
          </a:p>
        </p:txBody>
      </p:sp>
      <p:sp>
        <p:nvSpPr>
          <p:cNvPr id="167" name="文本框 166"/>
          <p:cNvSpPr txBox="1"/>
          <p:nvPr/>
        </p:nvSpPr>
        <p:spPr>
          <a:xfrm>
            <a:off x="4217670" y="418592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C</a:t>
            </a:r>
          </a:p>
        </p:txBody>
      </p:sp>
      <p:sp>
        <p:nvSpPr>
          <p:cNvPr id="168" name="文本框 167"/>
          <p:cNvSpPr txBox="1"/>
          <p:nvPr/>
        </p:nvSpPr>
        <p:spPr>
          <a:xfrm>
            <a:off x="5029200" y="511556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D</a:t>
            </a:r>
          </a:p>
        </p:txBody>
      </p:sp>
      <p:sp>
        <p:nvSpPr>
          <p:cNvPr id="169" name="文本框 168"/>
          <p:cNvSpPr txBox="1"/>
          <p:nvPr/>
        </p:nvSpPr>
        <p:spPr>
          <a:xfrm>
            <a:off x="3855085" y="506095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F</a:t>
            </a:r>
          </a:p>
        </p:txBody>
      </p:sp>
      <p:sp>
        <p:nvSpPr>
          <p:cNvPr id="170" name="文本框 169"/>
          <p:cNvSpPr txBox="1"/>
          <p:nvPr/>
        </p:nvSpPr>
        <p:spPr>
          <a:xfrm>
            <a:off x="2180590" y="484632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E</a:t>
            </a:r>
          </a:p>
        </p:txBody>
      </p:sp>
      <p:sp>
        <p:nvSpPr>
          <p:cNvPr id="171" name="文本框 170"/>
          <p:cNvSpPr txBox="1"/>
          <p:nvPr/>
        </p:nvSpPr>
        <p:spPr>
          <a:xfrm>
            <a:off x="1638935" y="594677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G</a:t>
            </a:r>
          </a:p>
        </p:txBody>
      </p:sp>
      <p:sp>
        <p:nvSpPr>
          <p:cNvPr id="172" name="文本框 171"/>
          <p:cNvSpPr txBox="1"/>
          <p:nvPr/>
        </p:nvSpPr>
        <p:spPr>
          <a:xfrm>
            <a:off x="4356735" y="597598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H</a:t>
            </a:r>
          </a:p>
        </p:txBody>
      </p:sp>
      <p:sp>
        <p:nvSpPr>
          <p:cNvPr id="173" name="文本框 172"/>
          <p:cNvSpPr txBox="1"/>
          <p:nvPr/>
        </p:nvSpPr>
        <p:spPr>
          <a:xfrm>
            <a:off x="1821180" y="417195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F0000"/>
                </a:solidFill>
                <a:latin typeface="等线" panose="02010600030101010101" pitchFamily="2" charset="-122"/>
                <a:ea typeface="等线" panose="02010600030101010101" pitchFamily="2" charset="-122"/>
              </a:rPr>
              <a:t>2,A</a:t>
            </a:r>
            <a:r>
              <a:rPr lang="en-US" altLang="zh-CN" sz="2400" b="1" dirty="0">
                <a:latin typeface="等线" panose="02010600030101010101" pitchFamily="2" charset="-122"/>
                <a:ea typeface="等线" panose="02010600030101010101" pitchFamily="2" charset="-122"/>
              </a:rPr>
              <a:t>)</a:t>
            </a:r>
          </a:p>
        </p:txBody>
      </p:sp>
      <p:sp>
        <p:nvSpPr>
          <p:cNvPr id="174" name="文本框 173"/>
          <p:cNvSpPr txBox="1"/>
          <p:nvPr/>
        </p:nvSpPr>
        <p:spPr>
          <a:xfrm>
            <a:off x="4458970" y="418846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C6C02"/>
                </a:solidFill>
                <a:latin typeface="等线" panose="02010600030101010101" pitchFamily="2" charset="-122"/>
                <a:ea typeface="等线" panose="02010600030101010101" pitchFamily="2" charset="-122"/>
              </a:rPr>
              <a:t>9,B</a:t>
            </a:r>
            <a:r>
              <a:rPr lang="en-US" altLang="zh-CN" sz="2400" b="1" dirty="0">
                <a:latin typeface="等线" panose="02010600030101010101" pitchFamily="2" charset="-122"/>
                <a:ea typeface="等线" panose="02010600030101010101" pitchFamily="2" charset="-122"/>
              </a:rPr>
              <a:t>)</a:t>
            </a:r>
          </a:p>
        </p:txBody>
      </p:sp>
      <p:sp>
        <p:nvSpPr>
          <p:cNvPr id="175" name="文本框 174"/>
          <p:cNvSpPr txBox="1"/>
          <p:nvPr/>
        </p:nvSpPr>
        <p:spPr>
          <a:xfrm>
            <a:off x="1906905" y="593788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(6</a:t>
            </a:r>
            <a:r>
              <a:rPr lang="en-US" altLang="zh-CN" sz="2400" b="1" dirty="0">
                <a:solidFill>
                  <a:schemeClr val="tx1"/>
                </a:solidFill>
                <a:latin typeface="等线" panose="02010600030101010101" pitchFamily="2" charset="-122"/>
                <a:ea typeface="等线" panose="02010600030101010101" pitchFamily="2" charset="-122"/>
              </a:rPr>
              <a:t>,A)</a:t>
            </a:r>
          </a:p>
        </p:txBody>
      </p:sp>
      <p:sp>
        <p:nvSpPr>
          <p:cNvPr id="176" name="文本框 175"/>
          <p:cNvSpPr txBox="1"/>
          <p:nvPr/>
        </p:nvSpPr>
        <p:spPr>
          <a:xfrm>
            <a:off x="4602480" y="594677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sp>
        <p:nvSpPr>
          <p:cNvPr id="177" name="文本框 176"/>
          <p:cNvSpPr txBox="1"/>
          <p:nvPr/>
        </p:nvSpPr>
        <p:spPr>
          <a:xfrm>
            <a:off x="2353310" y="485457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C6C02"/>
                </a:solidFill>
                <a:latin typeface="等线" panose="02010600030101010101" pitchFamily="2" charset="-122"/>
                <a:ea typeface="等线" panose="02010600030101010101" pitchFamily="2" charset="-122"/>
              </a:rPr>
              <a:t>4,B</a:t>
            </a:r>
            <a:r>
              <a:rPr lang="en-US" altLang="zh-CN" sz="2400" b="1" dirty="0">
                <a:latin typeface="等线" panose="02010600030101010101" pitchFamily="2" charset="-122"/>
                <a:ea typeface="等线" panose="02010600030101010101" pitchFamily="2" charset="-122"/>
              </a:rPr>
              <a:t>)</a:t>
            </a:r>
          </a:p>
        </p:txBody>
      </p:sp>
      <p:sp>
        <p:nvSpPr>
          <p:cNvPr id="178" name="文本框 177"/>
          <p:cNvSpPr txBox="1"/>
          <p:nvPr/>
        </p:nvSpPr>
        <p:spPr>
          <a:xfrm>
            <a:off x="3996690" y="506095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cxnSp>
        <p:nvCxnSpPr>
          <p:cNvPr id="179" name="直接箭头连接符 178"/>
          <p:cNvCxnSpPr/>
          <p:nvPr/>
        </p:nvCxnSpPr>
        <p:spPr>
          <a:xfrm flipV="1">
            <a:off x="1671955" y="5295265"/>
            <a:ext cx="490855" cy="889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180" name="椭圆 179"/>
          <p:cNvSpPr/>
          <p:nvPr/>
        </p:nvSpPr>
        <p:spPr>
          <a:xfrm>
            <a:off x="2320290" y="522287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1" name="文本框 180"/>
          <p:cNvSpPr txBox="1"/>
          <p:nvPr/>
        </p:nvSpPr>
        <p:spPr>
          <a:xfrm>
            <a:off x="2361565" y="485457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F0000"/>
                </a:solidFill>
                <a:latin typeface="等线" panose="02010600030101010101" pitchFamily="2" charset="-122"/>
                <a:ea typeface="等线" panose="02010600030101010101" pitchFamily="2" charset="-122"/>
              </a:rPr>
              <a:t>4,B</a:t>
            </a:r>
            <a:r>
              <a:rPr lang="en-US" altLang="zh-CN" sz="2400" b="1" dirty="0">
                <a:solidFill>
                  <a:schemeClr val="tx1"/>
                </a:solidFill>
                <a:latin typeface="等线" panose="02010600030101010101" pitchFamily="2" charset="-122"/>
                <a:ea typeface="等线" panose="02010600030101010101" pitchFamily="2" charset="-122"/>
              </a:rPr>
              <a:t>)</a:t>
            </a:r>
          </a:p>
        </p:txBody>
      </p:sp>
      <p:sp>
        <p:nvSpPr>
          <p:cNvPr id="182" name="椭圆 181"/>
          <p:cNvSpPr/>
          <p:nvPr/>
        </p:nvSpPr>
        <p:spPr>
          <a:xfrm>
            <a:off x="1734185" y="465074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3" name="文本框 182"/>
          <p:cNvSpPr txBox="1"/>
          <p:nvPr/>
        </p:nvSpPr>
        <p:spPr>
          <a:xfrm>
            <a:off x="5271135" y="511556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sp>
        <p:nvSpPr>
          <p:cNvPr id="184" name="椭圆 183"/>
          <p:cNvSpPr/>
          <p:nvPr/>
        </p:nvSpPr>
        <p:spPr>
          <a:xfrm>
            <a:off x="6586220" y="527558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5" name="椭圆 184"/>
          <p:cNvSpPr/>
          <p:nvPr/>
        </p:nvSpPr>
        <p:spPr>
          <a:xfrm>
            <a:off x="7178675" y="469900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6" name="椭圆 185"/>
          <p:cNvSpPr/>
          <p:nvPr/>
        </p:nvSpPr>
        <p:spPr>
          <a:xfrm>
            <a:off x="7178675" y="584517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7" name="椭圆 186"/>
          <p:cNvSpPr/>
          <p:nvPr/>
        </p:nvSpPr>
        <p:spPr>
          <a:xfrm>
            <a:off x="7758430" y="527558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8" name="椭圆 187"/>
          <p:cNvSpPr/>
          <p:nvPr/>
        </p:nvSpPr>
        <p:spPr>
          <a:xfrm>
            <a:off x="9064625" y="527558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89" name="椭圆 188"/>
          <p:cNvSpPr/>
          <p:nvPr/>
        </p:nvSpPr>
        <p:spPr>
          <a:xfrm>
            <a:off x="9774555" y="469900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0" name="椭圆 189"/>
          <p:cNvSpPr/>
          <p:nvPr/>
        </p:nvSpPr>
        <p:spPr>
          <a:xfrm>
            <a:off x="9761855" y="5845175"/>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191" name="椭圆 190"/>
          <p:cNvSpPr/>
          <p:nvPr/>
        </p:nvSpPr>
        <p:spPr>
          <a:xfrm>
            <a:off x="10340340" y="5292090"/>
            <a:ext cx="225425" cy="183515"/>
          </a:xfrm>
          <a:prstGeom prst="ellipse">
            <a:avLst/>
          </a:prstGeom>
          <a:noFill/>
          <a:extLst>
            <a:ext uri="{909E8E84-426E-40DD-AFC4-6F175D3DCCD1}">
              <a14:hiddenFill xmlns:a14="http://schemas.microsoft.com/office/drawing/2010/main">
                <a:solidFill>
                  <a:schemeClr val="dk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cxnSp>
        <p:nvCxnSpPr>
          <p:cNvPr id="192" name="直接连接符 191"/>
          <p:cNvCxnSpPr>
            <a:stCxn id="184" idx="7"/>
            <a:endCxn id="185" idx="3"/>
          </p:cNvCxnSpPr>
          <p:nvPr/>
        </p:nvCxnSpPr>
        <p:spPr>
          <a:xfrm flipV="1">
            <a:off x="6778625" y="4841875"/>
            <a:ext cx="433070" cy="446405"/>
          </a:xfrm>
          <a:prstGeom prst="line">
            <a:avLst/>
          </a:prstGeom>
        </p:spPr>
        <p:style>
          <a:lnRef idx="3">
            <a:schemeClr val="dk1"/>
          </a:lnRef>
          <a:fillRef idx="0">
            <a:schemeClr val="dk1"/>
          </a:fillRef>
          <a:effectRef idx="2">
            <a:schemeClr val="dk1"/>
          </a:effectRef>
          <a:fontRef idx="minor">
            <a:schemeClr val="tx1"/>
          </a:fontRef>
        </p:style>
      </p:cxnSp>
      <p:cxnSp>
        <p:nvCxnSpPr>
          <p:cNvPr id="193" name="直接连接符 192"/>
          <p:cNvCxnSpPr>
            <a:stCxn id="184" idx="5"/>
            <a:endCxn id="186" idx="1"/>
          </p:cNvCxnSpPr>
          <p:nvPr/>
        </p:nvCxnSpPr>
        <p:spPr>
          <a:xfrm>
            <a:off x="6778625" y="5418455"/>
            <a:ext cx="433070" cy="439420"/>
          </a:xfrm>
          <a:prstGeom prst="line">
            <a:avLst/>
          </a:prstGeom>
        </p:spPr>
        <p:style>
          <a:lnRef idx="3">
            <a:schemeClr val="dk1"/>
          </a:lnRef>
          <a:fillRef idx="0">
            <a:schemeClr val="dk1"/>
          </a:fillRef>
          <a:effectRef idx="2">
            <a:schemeClr val="dk1"/>
          </a:effectRef>
          <a:fontRef idx="minor">
            <a:schemeClr val="tx1"/>
          </a:fontRef>
        </p:style>
      </p:cxnSp>
      <p:cxnSp>
        <p:nvCxnSpPr>
          <p:cNvPr id="194" name="直接连接符 193"/>
          <p:cNvCxnSpPr>
            <a:stCxn id="185" idx="5"/>
            <a:endCxn id="187" idx="1"/>
          </p:cNvCxnSpPr>
          <p:nvPr/>
        </p:nvCxnSpPr>
        <p:spPr>
          <a:xfrm>
            <a:off x="7371080" y="4841875"/>
            <a:ext cx="420370" cy="446405"/>
          </a:xfrm>
          <a:prstGeom prst="line">
            <a:avLst/>
          </a:prstGeom>
        </p:spPr>
        <p:style>
          <a:lnRef idx="3">
            <a:schemeClr val="dk1"/>
          </a:lnRef>
          <a:fillRef idx="0">
            <a:schemeClr val="dk1"/>
          </a:fillRef>
          <a:effectRef idx="2">
            <a:schemeClr val="dk1"/>
          </a:effectRef>
          <a:fontRef idx="minor">
            <a:schemeClr val="tx1"/>
          </a:fontRef>
        </p:style>
      </p:cxnSp>
      <p:cxnSp>
        <p:nvCxnSpPr>
          <p:cNvPr id="195" name="直接连接符 194"/>
          <p:cNvCxnSpPr>
            <a:stCxn id="187" idx="3"/>
            <a:endCxn id="186" idx="7"/>
          </p:cNvCxnSpPr>
          <p:nvPr/>
        </p:nvCxnSpPr>
        <p:spPr>
          <a:xfrm flipH="1">
            <a:off x="7371080" y="5418455"/>
            <a:ext cx="420370" cy="439420"/>
          </a:xfrm>
          <a:prstGeom prst="line">
            <a:avLst/>
          </a:prstGeom>
        </p:spPr>
        <p:style>
          <a:lnRef idx="3">
            <a:schemeClr val="dk1"/>
          </a:lnRef>
          <a:fillRef idx="0">
            <a:schemeClr val="dk1"/>
          </a:fillRef>
          <a:effectRef idx="2">
            <a:schemeClr val="dk1"/>
          </a:effectRef>
          <a:fontRef idx="minor">
            <a:schemeClr val="tx1"/>
          </a:fontRef>
        </p:style>
      </p:cxnSp>
      <p:cxnSp>
        <p:nvCxnSpPr>
          <p:cNvPr id="196" name="直接连接符 195"/>
          <p:cNvCxnSpPr>
            <a:stCxn id="187" idx="6"/>
            <a:endCxn id="188" idx="2"/>
          </p:cNvCxnSpPr>
          <p:nvPr/>
        </p:nvCxnSpPr>
        <p:spPr>
          <a:xfrm>
            <a:off x="7983855" y="5353685"/>
            <a:ext cx="1080770" cy="0"/>
          </a:xfrm>
          <a:prstGeom prst="line">
            <a:avLst/>
          </a:prstGeom>
        </p:spPr>
        <p:style>
          <a:lnRef idx="3">
            <a:schemeClr val="dk1"/>
          </a:lnRef>
          <a:fillRef idx="0">
            <a:schemeClr val="dk1"/>
          </a:fillRef>
          <a:effectRef idx="2">
            <a:schemeClr val="dk1"/>
          </a:effectRef>
          <a:fontRef idx="minor">
            <a:schemeClr val="tx1"/>
          </a:fontRef>
        </p:style>
      </p:cxnSp>
      <p:cxnSp>
        <p:nvCxnSpPr>
          <p:cNvPr id="197" name="直接连接符 196"/>
          <p:cNvCxnSpPr>
            <a:stCxn id="189" idx="5"/>
          </p:cNvCxnSpPr>
          <p:nvPr/>
        </p:nvCxnSpPr>
        <p:spPr>
          <a:xfrm>
            <a:off x="9966960" y="4841875"/>
            <a:ext cx="486410" cy="419735"/>
          </a:xfrm>
          <a:prstGeom prst="line">
            <a:avLst/>
          </a:prstGeom>
        </p:spPr>
        <p:style>
          <a:lnRef idx="3">
            <a:schemeClr val="dk1"/>
          </a:lnRef>
          <a:fillRef idx="0">
            <a:schemeClr val="dk1"/>
          </a:fillRef>
          <a:effectRef idx="2">
            <a:schemeClr val="dk1"/>
          </a:effectRef>
          <a:fontRef idx="minor">
            <a:schemeClr val="tx1"/>
          </a:fontRef>
        </p:style>
      </p:cxnSp>
      <p:cxnSp>
        <p:nvCxnSpPr>
          <p:cNvPr id="198" name="直接连接符 197"/>
          <p:cNvCxnSpPr>
            <a:stCxn id="189" idx="3"/>
            <a:endCxn id="188" idx="7"/>
          </p:cNvCxnSpPr>
          <p:nvPr/>
        </p:nvCxnSpPr>
        <p:spPr>
          <a:xfrm flipH="1">
            <a:off x="9257030" y="4841875"/>
            <a:ext cx="550545" cy="446405"/>
          </a:xfrm>
          <a:prstGeom prst="line">
            <a:avLst/>
          </a:prstGeom>
        </p:spPr>
        <p:style>
          <a:lnRef idx="3">
            <a:schemeClr val="dk1"/>
          </a:lnRef>
          <a:fillRef idx="0">
            <a:schemeClr val="dk1"/>
          </a:fillRef>
          <a:effectRef idx="2">
            <a:schemeClr val="dk1"/>
          </a:effectRef>
          <a:fontRef idx="minor">
            <a:schemeClr val="tx1"/>
          </a:fontRef>
        </p:style>
      </p:cxnSp>
      <p:cxnSp>
        <p:nvCxnSpPr>
          <p:cNvPr id="199" name="直接连接符 198"/>
          <p:cNvCxnSpPr>
            <a:stCxn id="191" idx="4"/>
            <a:endCxn id="190" idx="6"/>
          </p:cNvCxnSpPr>
          <p:nvPr/>
        </p:nvCxnSpPr>
        <p:spPr>
          <a:xfrm flipH="1">
            <a:off x="9987280" y="5461635"/>
            <a:ext cx="466090" cy="461645"/>
          </a:xfrm>
          <a:prstGeom prst="line">
            <a:avLst/>
          </a:prstGeom>
        </p:spPr>
        <p:style>
          <a:lnRef idx="3">
            <a:schemeClr val="dk1"/>
          </a:lnRef>
          <a:fillRef idx="0">
            <a:schemeClr val="dk1"/>
          </a:fillRef>
          <a:effectRef idx="2">
            <a:schemeClr val="dk1"/>
          </a:effectRef>
          <a:fontRef idx="minor">
            <a:schemeClr val="tx1"/>
          </a:fontRef>
        </p:style>
      </p:cxnSp>
      <p:cxnSp>
        <p:nvCxnSpPr>
          <p:cNvPr id="200" name="直接连接符 199"/>
          <p:cNvCxnSpPr>
            <a:stCxn id="188" idx="5"/>
            <a:endCxn id="190" idx="1"/>
          </p:cNvCxnSpPr>
          <p:nvPr/>
        </p:nvCxnSpPr>
        <p:spPr>
          <a:xfrm>
            <a:off x="9257030" y="5418455"/>
            <a:ext cx="537845" cy="439420"/>
          </a:xfrm>
          <a:prstGeom prst="line">
            <a:avLst/>
          </a:prstGeom>
        </p:spPr>
        <p:style>
          <a:lnRef idx="3">
            <a:schemeClr val="dk1"/>
          </a:lnRef>
          <a:fillRef idx="0">
            <a:schemeClr val="dk1"/>
          </a:fillRef>
          <a:effectRef idx="2">
            <a:schemeClr val="dk1"/>
          </a:effectRef>
          <a:fontRef idx="minor">
            <a:schemeClr val="tx1"/>
          </a:fontRef>
        </p:style>
      </p:cxnSp>
      <p:cxnSp>
        <p:nvCxnSpPr>
          <p:cNvPr id="201" name="直接连接符 200"/>
          <p:cNvCxnSpPr/>
          <p:nvPr/>
        </p:nvCxnSpPr>
        <p:spPr>
          <a:xfrm>
            <a:off x="7404100" y="4757420"/>
            <a:ext cx="2356485" cy="0"/>
          </a:xfrm>
          <a:prstGeom prst="line">
            <a:avLst/>
          </a:prstGeom>
        </p:spPr>
        <p:style>
          <a:lnRef idx="3">
            <a:schemeClr val="dk1"/>
          </a:lnRef>
          <a:fillRef idx="0">
            <a:schemeClr val="dk1"/>
          </a:fillRef>
          <a:effectRef idx="2">
            <a:schemeClr val="dk1"/>
          </a:effectRef>
          <a:fontRef idx="minor">
            <a:schemeClr val="tx1"/>
          </a:fontRef>
        </p:style>
      </p:cxnSp>
      <p:cxnSp>
        <p:nvCxnSpPr>
          <p:cNvPr id="202" name="直接连接符 201"/>
          <p:cNvCxnSpPr>
            <a:endCxn id="190" idx="2"/>
          </p:cNvCxnSpPr>
          <p:nvPr/>
        </p:nvCxnSpPr>
        <p:spPr>
          <a:xfrm flipV="1">
            <a:off x="7428865" y="5923280"/>
            <a:ext cx="2332990" cy="0"/>
          </a:xfrm>
          <a:prstGeom prst="line">
            <a:avLst/>
          </a:prstGeom>
        </p:spPr>
        <p:style>
          <a:lnRef idx="3">
            <a:schemeClr val="dk1"/>
          </a:lnRef>
          <a:fillRef idx="0">
            <a:schemeClr val="dk1"/>
          </a:fillRef>
          <a:effectRef idx="2">
            <a:schemeClr val="dk1"/>
          </a:effectRef>
          <a:fontRef idx="minor">
            <a:schemeClr val="tx1"/>
          </a:fontRef>
        </p:style>
      </p:cxnSp>
      <p:sp>
        <p:nvSpPr>
          <p:cNvPr id="203" name="文本框 202"/>
          <p:cNvSpPr txBox="1"/>
          <p:nvPr/>
        </p:nvSpPr>
        <p:spPr>
          <a:xfrm>
            <a:off x="6148705" y="513715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A</a:t>
            </a:r>
          </a:p>
        </p:txBody>
      </p:sp>
      <p:sp>
        <p:nvSpPr>
          <p:cNvPr id="204" name="文本框 203"/>
          <p:cNvSpPr txBox="1"/>
          <p:nvPr/>
        </p:nvSpPr>
        <p:spPr>
          <a:xfrm>
            <a:off x="7047230" y="424307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B</a:t>
            </a:r>
          </a:p>
        </p:txBody>
      </p:sp>
      <p:sp>
        <p:nvSpPr>
          <p:cNvPr id="205" name="文本框 204"/>
          <p:cNvSpPr txBox="1"/>
          <p:nvPr/>
        </p:nvSpPr>
        <p:spPr>
          <a:xfrm>
            <a:off x="9655810" y="423862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C</a:t>
            </a:r>
          </a:p>
        </p:txBody>
      </p:sp>
      <p:sp>
        <p:nvSpPr>
          <p:cNvPr id="206" name="文本框 205"/>
          <p:cNvSpPr txBox="1"/>
          <p:nvPr/>
        </p:nvSpPr>
        <p:spPr>
          <a:xfrm>
            <a:off x="10467340" y="516826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D</a:t>
            </a:r>
          </a:p>
        </p:txBody>
      </p:sp>
      <p:sp>
        <p:nvSpPr>
          <p:cNvPr id="207" name="文本框 206"/>
          <p:cNvSpPr txBox="1"/>
          <p:nvPr/>
        </p:nvSpPr>
        <p:spPr>
          <a:xfrm>
            <a:off x="9293225" y="511365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F</a:t>
            </a:r>
          </a:p>
        </p:txBody>
      </p:sp>
      <p:sp>
        <p:nvSpPr>
          <p:cNvPr id="208" name="文本框 207"/>
          <p:cNvSpPr txBox="1"/>
          <p:nvPr/>
        </p:nvSpPr>
        <p:spPr>
          <a:xfrm>
            <a:off x="7618730" y="4899025"/>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E</a:t>
            </a:r>
          </a:p>
        </p:txBody>
      </p:sp>
      <p:sp>
        <p:nvSpPr>
          <p:cNvPr id="209" name="文本框 208"/>
          <p:cNvSpPr txBox="1"/>
          <p:nvPr/>
        </p:nvSpPr>
        <p:spPr>
          <a:xfrm>
            <a:off x="7077075" y="599948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G</a:t>
            </a:r>
          </a:p>
        </p:txBody>
      </p:sp>
      <p:sp>
        <p:nvSpPr>
          <p:cNvPr id="210" name="文本框 209"/>
          <p:cNvSpPr txBox="1"/>
          <p:nvPr/>
        </p:nvSpPr>
        <p:spPr>
          <a:xfrm>
            <a:off x="9794875" y="6028690"/>
            <a:ext cx="437515" cy="460375"/>
          </a:xfrm>
          <a:prstGeom prst="rect">
            <a:avLst/>
          </a:prstGeom>
          <a:noFill/>
        </p:spPr>
        <p:txBody>
          <a:bodyPr wrap="square" rtlCol="0">
            <a:spAutoFit/>
          </a:bodyPr>
          <a:lstStyle/>
          <a:p>
            <a:r>
              <a:rPr lang="en-US" altLang="zh-CN" sz="2400" b="1" dirty="0">
                <a:solidFill>
                  <a:srgbClr val="032AED"/>
                </a:solidFill>
                <a:latin typeface="等线" panose="02010600030101010101" pitchFamily="2" charset="-122"/>
                <a:ea typeface="等线" panose="02010600030101010101" pitchFamily="2" charset="-122"/>
              </a:rPr>
              <a:t>H</a:t>
            </a:r>
          </a:p>
        </p:txBody>
      </p:sp>
      <p:sp>
        <p:nvSpPr>
          <p:cNvPr id="211" name="文本框 210"/>
          <p:cNvSpPr txBox="1"/>
          <p:nvPr/>
        </p:nvSpPr>
        <p:spPr>
          <a:xfrm>
            <a:off x="7259320" y="422465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F0000"/>
                </a:solidFill>
                <a:latin typeface="等线" panose="02010600030101010101" pitchFamily="2" charset="-122"/>
                <a:ea typeface="等线" panose="02010600030101010101" pitchFamily="2" charset="-122"/>
              </a:rPr>
              <a:t>2,A</a:t>
            </a:r>
            <a:r>
              <a:rPr lang="en-US" altLang="zh-CN" sz="2400" b="1" dirty="0">
                <a:latin typeface="等线" panose="02010600030101010101" pitchFamily="2" charset="-122"/>
                <a:ea typeface="等线" panose="02010600030101010101" pitchFamily="2" charset="-122"/>
              </a:rPr>
              <a:t>)</a:t>
            </a:r>
          </a:p>
        </p:txBody>
      </p:sp>
      <p:sp>
        <p:nvSpPr>
          <p:cNvPr id="212" name="文本框 211"/>
          <p:cNvSpPr txBox="1"/>
          <p:nvPr/>
        </p:nvSpPr>
        <p:spPr>
          <a:xfrm>
            <a:off x="9897110" y="424116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(9</a:t>
            </a:r>
            <a:r>
              <a:rPr lang="en-US" altLang="zh-CN" sz="2400" b="1" dirty="0">
                <a:solidFill>
                  <a:schemeClr val="tx1"/>
                </a:solidFill>
                <a:latin typeface="等线" panose="02010600030101010101" pitchFamily="2" charset="-122"/>
                <a:ea typeface="等线" panose="02010600030101010101" pitchFamily="2" charset="-122"/>
              </a:rPr>
              <a:t>,B</a:t>
            </a:r>
            <a:r>
              <a:rPr lang="en-US" altLang="zh-CN" sz="2400" b="1" dirty="0">
                <a:latin typeface="等线" panose="02010600030101010101" pitchFamily="2" charset="-122"/>
                <a:ea typeface="等线" panose="02010600030101010101" pitchFamily="2" charset="-122"/>
              </a:rPr>
              <a:t>)</a:t>
            </a:r>
          </a:p>
        </p:txBody>
      </p:sp>
      <p:sp>
        <p:nvSpPr>
          <p:cNvPr id="213" name="文本框 212"/>
          <p:cNvSpPr txBox="1"/>
          <p:nvPr/>
        </p:nvSpPr>
        <p:spPr>
          <a:xfrm>
            <a:off x="7306310" y="600075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C6C02"/>
                </a:solidFill>
                <a:latin typeface="等线" panose="02010600030101010101" pitchFamily="2" charset="-122"/>
                <a:ea typeface="等线" panose="02010600030101010101" pitchFamily="2" charset="-122"/>
              </a:rPr>
              <a:t>5,E</a:t>
            </a:r>
            <a:r>
              <a:rPr lang="en-US" altLang="zh-CN" sz="2400" b="1" dirty="0">
                <a:solidFill>
                  <a:schemeClr val="tx1"/>
                </a:solidFill>
                <a:latin typeface="等线" panose="02010600030101010101" pitchFamily="2" charset="-122"/>
                <a:ea typeface="等线" panose="02010600030101010101" pitchFamily="2" charset="-122"/>
              </a:rPr>
              <a:t>)</a:t>
            </a:r>
          </a:p>
        </p:txBody>
      </p:sp>
      <p:sp>
        <p:nvSpPr>
          <p:cNvPr id="214" name="文本框 213"/>
          <p:cNvSpPr txBox="1"/>
          <p:nvPr/>
        </p:nvSpPr>
        <p:spPr>
          <a:xfrm>
            <a:off x="10040620" y="599948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sp>
        <p:nvSpPr>
          <p:cNvPr id="215" name="文本框 214"/>
          <p:cNvSpPr txBox="1"/>
          <p:nvPr/>
        </p:nvSpPr>
        <p:spPr>
          <a:xfrm>
            <a:off x="7791450" y="490728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F0000"/>
                </a:solidFill>
                <a:latin typeface="等线" panose="02010600030101010101" pitchFamily="2" charset="-122"/>
                <a:ea typeface="等线" panose="02010600030101010101" pitchFamily="2" charset="-122"/>
              </a:rPr>
              <a:t>4,B</a:t>
            </a:r>
            <a:r>
              <a:rPr lang="en-US" altLang="zh-CN" sz="2400" b="1" dirty="0">
                <a:latin typeface="等线" panose="02010600030101010101" pitchFamily="2" charset="-122"/>
                <a:ea typeface="等线" panose="02010600030101010101" pitchFamily="2" charset="-122"/>
              </a:rPr>
              <a:t>)</a:t>
            </a:r>
          </a:p>
        </p:txBody>
      </p:sp>
      <p:sp>
        <p:nvSpPr>
          <p:cNvPr id="216" name="文本框 215"/>
          <p:cNvSpPr txBox="1"/>
          <p:nvPr/>
        </p:nvSpPr>
        <p:spPr>
          <a:xfrm>
            <a:off x="9434830" y="511365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C6C02"/>
                </a:solidFill>
                <a:latin typeface="等线" panose="02010600030101010101" pitchFamily="2" charset="-122"/>
                <a:ea typeface="等线" panose="02010600030101010101" pitchFamily="2" charset="-122"/>
              </a:rPr>
              <a:t>6,E</a:t>
            </a:r>
            <a:r>
              <a:rPr lang="en-US" altLang="zh-CN" sz="2400" b="1" dirty="0">
                <a:latin typeface="等线" panose="02010600030101010101" pitchFamily="2" charset="-122"/>
                <a:ea typeface="等线" panose="02010600030101010101" pitchFamily="2" charset="-122"/>
              </a:rPr>
              <a:t>)</a:t>
            </a:r>
          </a:p>
        </p:txBody>
      </p:sp>
      <p:cxnSp>
        <p:nvCxnSpPr>
          <p:cNvPr id="217" name="直接箭头连接符 216"/>
          <p:cNvCxnSpPr/>
          <p:nvPr/>
        </p:nvCxnSpPr>
        <p:spPr>
          <a:xfrm flipV="1">
            <a:off x="6453505" y="5967095"/>
            <a:ext cx="490855" cy="8890"/>
          </a:xfrm>
          <a:prstGeom prst="straightConnector1">
            <a:avLst/>
          </a:prstGeom>
          <a:ln>
            <a:tailEnd type="arrow" w="med" len="med"/>
          </a:ln>
        </p:spPr>
        <p:style>
          <a:lnRef idx="3">
            <a:schemeClr val="dk1"/>
          </a:lnRef>
          <a:fillRef idx="0">
            <a:schemeClr val="dk1"/>
          </a:fillRef>
          <a:effectRef idx="2">
            <a:schemeClr val="dk1"/>
          </a:effectRef>
          <a:fontRef idx="minor">
            <a:schemeClr val="tx1"/>
          </a:fontRef>
        </p:style>
      </p:cxnSp>
      <p:sp>
        <p:nvSpPr>
          <p:cNvPr id="218" name="椭圆 217"/>
          <p:cNvSpPr/>
          <p:nvPr/>
        </p:nvSpPr>
        <p:spPr>
          <a:xfrm>
            <a:off x="7178040" y="584263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19" name="文本框 218"/>
          <p:cNvSpPr txBox="1"/>
          <p:nvPr/>
        </p:nvSpPr>
        <p:spPr>
          <a:xfrm>
            <a:off x="7308850" y="6014720"/>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solidFill>
                  <a:srgbClr val="FF0000"/>
                </a:solidFill>
                <a:latin typeface="等线" panose="02010600030101010101" pitchFamily="2" charset="-122"/>
                <a:ea typeface="等线" panose="02010600030101010101" pitchFamily="2" charset="-122"/>
              </a:rPr>
              <a:t>5,E</a:t>
            </a:r>
            <a:r>
              <a:rPr lang="en-US" altLang="zh-CN" sz="2400" b="1" dirty="0">
                <a:solidFill>
                  <a:schemeClr val="tx1"/>
                </a:solidFill>
                <a:latin typeface="等线" panose="02010600030101010101" pitchFamily="2" charset="-122"/>
                <a:ea typeface="等线" panose="02010600030101010101" pitchFamily="2" charset="-122"/>
              </a:rPr>
              <a:t>)</a:t>
            </a:r>
          </a:p>
        </p:txBody>
      </p:sp>
      <p:sp>
        <p:nvSpPr>
          <p:cNvPr id="220" name="椭圆 219"/>
          <p:cNvSpPr/>
          <p:nvPr/>
        </p:nvSpPr>
        <p:spPr>
          <a:xfrm>
            <a:off x="7172325" y="4703445"/>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21" name="文本框 220"/>
          <p:cNvSpPr txBox="1"/>
          <p:nvPr/>
        </p:nvSpPr>
        <p:spPr>
          <a:xfrm>
            <a:off x="10709275" y="5168265"/>
            <a:ext cx="962025" cy="460375"/>
          </a:xfrm>
          <a:prstGeom prst="rect">
            <a:avLst/>
          </a:prstGeom>
          <a:noFill/>
        </p:spPr>
        <p:txBody>
          <a:bodyPr wrap="square" rtlCol="0">
            <a:spAutoFit/>
          </a:bodyPr>
          <a:lstStyle/>
          <a:p>
            <a:r>
              <a:rPr lang="en-US" altLang="zh-CN" sz="2400" b="1" dirty="0">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sym typeface="+mn-ea"/>
              </a:rPr>
              <a:t>∞</a:t>
            </a:r>
            <a:r>
              <a:rPr lang="en-US" altLang="zh-CN" sz="2400" b="1" dirty="0">
                <a:solidFill>
                  <a:schemeClr val="tx1"/>
                </a:solidFill>
                <a:latin typeface="等线" panose="02010600030101010101" pitchFamily="2" charset="-122"/>
                <a:ea typeface="等线" panose="02010600030101010101" pitchFamily="2" charset="-122"/>
              </a:rPr>
              <a:t>,-</a:t>
            </a:r>
            <a:r>
              <a:rPr lang="en-US" altLang="zh-CN" sz="2400" b="1" dirty="0">
                <a:latin typeface="等线" panose="02010600030101010101" pitchFamily="2" charset="-122"/>
                <a:ea typeface="等线" panose="02010600030101010101" pitchFamily="2" charset="-122"/>
              </a:rPr>
              <a:t>)</a:t>
            </a:r>
          </a:p>
        </p:txBody>
      </p:sp>
      <p:sp>
        <p:nvSpPr>
          <p:cNvPr id="222" name="椭圆 221"/>
          <p:cNvSpPr/>
          <p:nvPr/>
        </p:nvSpPr>
        <p:spPr>
          <a:xfrm>
            <a:off x="7758430" y="5280660"/>
            <a:ext cx="225425" cy="183515"/>
          </a:xfrm>
          <a:prstGeom prst="ellipse">
            <a:avLst/>
          </a:prstGeom>
          <a:extLst>
            <a:ext uri="{909E8E84-426E-40DD-AFC4-6F175D3DCCD1}">
              <a14:hiddenFill xmlns:a14="http://schemas.microsoft.com/office/drawing/2010/main">
                <a:solidFill>
                  <a:schemeClr val="accent1"/>
                </a:solidFill>
              </a14:hiddenFill>
            </a:ext>
          </a:extLst>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224"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5.3.2 </a:t>
            </a:r>
            <a:r>
              <a:rPr kumimoji="1" lang="zh-CN" altLang="en-US" dirty="0">
                <a:latin typeface="DengXian" panose="02010600030101010101" pitchFamily="2" charset="-122"/>
                <a:ea typeface="DengXian" panose="02010600030101010101" pitchFamily="2" charset="-122"/>
              </a:rPr>
              <a:t>最短路径算法</a:t>
            </a:r>
          </a:p>
        </p:txBody>
      </p:sp>
    </p:spTree>
    <p:extLst>
      <p:ext uri="{BB962C8B-B14F-4D97-AF65-F5344CB8AC3E}">
        <p14:creationId xmlns:p14="http://schemas.microsoft.com/office/powerpoint/2010/main" val="13123034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09"/>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10"/>
                                        </p:tgtEl>
                                        <p:attrNameLst>
                                          <p:attrName>style.visibility</p:attrName>
                                        </p:attrNameLst>
                                      </p:cBhvr>
                                      <p:to>
                                        <p:strVal val="visible"/>
                                      </p:to>
                                    </p:set>
                                  </p:childTnLst>
                                </p:cTn>
                              </p:par>
                              <p:par>
                                <p:cTn id="9" presetID="1" presetClass="entr" presetSubtype="0" fill="hold" grpId="1" nodeType="withEffect">
                                  <p:stCondLst>
                                    <p:cond delay="0"/>
                                  </p:stCondLst>
                                  <p:childTnLst>
                                    <p:set>
                                      <p:cBhvr>
                                        <p:cTn id="10" dur="1" fill="hold">
                                          <p:stCondLst>
                                            <p:cond delay="0"/>
                                          </p:stCondLst>
                                        </p:cTn>
                                        <p:tgtEl>
                                          <p:spTgt spid="111"/>
                                        </p:tgtEl>
                                        <p:attrNameLst>
                                          <p:attrName>style.visibility</p:attrName>
                                        </p:attrNameLst>
                                      </p:cBhvr>
                                      <p:to>
                                        <p:strVal val="visible"/>
                                      </p:to>
                                    </p:set>
                                  </p:childTnLst>
                                </p:cTn>
                              </p:par>
                              <p:par>
                                <p:cTn id="11" presetID="1" presetClass="entr" presetSubtype="0" fill="hold" grpId="1" nodeType="withEffect">
                                  <p:stCondLst>
                                    <p:cond delay="0"/>
                                  </p:stCondLst>
                                  <p:childTnLst>
                                    <p:set>
                                      <p:cBhvr>
                                        <p:cTn id="12" dur="1" fill="hold">
                                          <p:stCondLst>
                                            <p:cond delay="0"/>
                                          </p:stCondLst>
                                        </p:cTn>
                                        <p:tgtEl>
                                          <p:spTgt spid="112"/>
                                        </p:tgtEl>
                                        <p:attrNameLst>
                                          <p:attrName>style.visibility</p:attrName>
                                        </p:attrNameLst>
                                      </p:cBhvr>
                                      <p:to>
                                        <p:strVal val="visible"/>
                                      </p:to>
                                    </p:set>
                                  </p:childTnLst>
                                </p:cTn>
                              </p:par>
                              <p:par>
                                <p:cTn id="13" presetID="1" presetClass="entr" presetSubtype="0" fill="hold" grpId="1" nodeType="withEffect">
                                  <p:stCondLst>
                                    <p:cond delay="0"/>
                                  </p:stCondLst>
                                  <p:childTnLst>
                                    <p:set>
                                      <p:cBhvr>
                                        <p:cTn id="14" dur="1" fill="hold">
                                          <p:stCondLst>
                                            <p:cond delay="0"/>
                                          </p:stCondLst>
                                        </p:cTn>
                                        <p:tgtEl>
                                          <p:spTgt spid="113"/>
                                        </p:tgtEl>
                                        <p:attrNameLst>
                                          <p:attrName>style.visibility</p:attrName>
                                        </p:attrNameLst>
                                      </p:cBhvr>
                                      <p:to>
                                        <p:strVal val="visible"/>
                                      </p:to>
                                    </p:set>
                                  </p:childTnLst>
                                </p:cTn>
                              </p:par>
                              <p:par>
                                <p:cTn id="15" presetID="1" presetClass="entr" presetSubtype="0" fill="hold" grpId="1" nodeType="withEffect">
                                  <p:stCondLst>
                                    <p:cond delay="0"/>
                                  </p:stCondLst>
                                  <p:childTnLst>
                                    <p:set>
                                      <p:cBhvr>
                                        <p:cTn id="16" dur="1" fill="hold">
                                          <p:stCondLst>
                                            <p:cond delay="0"/>
                                          </p:stCondLst>
                                        </p:cTn>
                                        <p:tgtEl>
                                          <p:spTgt spid="114"/>
                                        </p:tgtEl>
                                        <p:attrNameLst>
                                          <p:attrName>style.visibility</p:attrName>
                                        </p:attrNameLst>
                                      </p:cBhvr>
                                      <p:to>
                                        <p:strVal val="visible"/>
                                      </p:to>
                                    </p:set>
                                  </p:childTnLst>
                                </p:cTn>
                              </p:par>
                              <p:par>
                                <p:cTn id="17" presetID="1" presetClass="entr" presetSubtype="0" fill="hold" grpId="1" nodeType="withEffect">
                                  <p:stCondLst>
                                    <p:cond delay="0"/>
                                  </p:stCondLst>
                                  <p:childTnLst>
                                    <p:set>
                                      <p:cBhvr>
                                        <p:cTn id="18" dur="1" fill="hold">
                                          <p:stCondLst>
                                            <p:cond delay="0"/>
                                          </p:stCondLst>
                                        </p:cTn>
                                        <p:tgtEl>
                                          <p:spTgt spid="115"/>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1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4"/>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12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27"/>
                                        </p:tgtEl>
                                        <p:attrNameLst>
                                          <p:attrName>style.visibility</p:attrName>
                                        </p:attrNameLst>
                                      </p:cBhvr>
                                      <p:to>
                                        <p:strVal val="visible"/>
                                      </p:to>
                                    </p:set>
                                  </p:childTnLst>
                                </p:cTn>
                              </p:par>
                              <p:par>
                                <p:cTn id="43" presetID="1" presetClass="entr" presetSubtype="0" fill="hold" grpId="1" nodeType="withEffect">
                                  <p:stCondLst>
                                    <p:cond delay="0"/>
                                  </p:stCondLst>
                                  <p:childTnLst>
                                    <p:set>
                                      <p:cBhvr>
                                        <p:cTn id="44" dur="1" fill="hold">
                                          <p:stCondLst>
                                            <p:cond delay="0"/>
                                          </p:stCondLst>
                                        </p:cTn>
                                        <p:tgtEl>
                                          <p:spTgt spid="128"/>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129"/>
                                        </p:tgtEl>
                                        <p:attrNameLst>
                                          <p:attrName>style.visibility</p:attrName>
                                        </p:attrNameLst>
                                      </p:cBhvr>
                                      <p:to>
                                        <p:strVal val="visible"/>
                                      </p:to>
                                    </p:set>
                                  </p:childTnLst>
                                </p:cTn>
                              </p:par>
                              <p:par>
                                <p:cTn id="47" presetID="1" presetClass="entr" presetSubtype="0" fill="hold" grpId="1" nodeType="withEffect">
                                  <p:stCondLst>
                                    <p:cond delay="0"/>
                                  </p:stCondLst>
                                  <p:childTnLst>
                                    <p:set>
                                      <p:cBhvr>
                                        <p:cTn id="48" dur="1" fill="hold">
                                          <p:stCondLst>
                                            <p:cond delay="0"/>
                                          </p:stCondLst>
                                        </p:cTn>
                                        <p:tgtEl>
                                          <p:spTgt spid="130"/>
                                        </p:tgtEl>
                                        <p:attrNameLst>
                                          <p:attrName>style.visibility</p:attrName>
                                        </p:attrNameLst>
                                      </p:cBhvr>
                                      <p:to>
                                        <p:strVal val="visible"/>
                                      </p:to>
                                    </p:set>
                                  </p:childTnLst>
                                </p:cTn>
                              </p:par>
                              <p:par>
                                <p:cTn id="49" presetID="1" presetClass="entr" presetSubtype="0" fill="hold" grpId="1" nodeType="withEffect">
                                  <p:stCondLst>
                                    <p:cond delay="0"/>
                                  </p:stCondLst>
                                  <p:childTnLst>
                                    <p:set>
                                      <p:cBhvr>
                                        <p:cTn id="50" dur="1" fill="hold">
                                          <p:stCondLst>
                                            <p:cond delay="0"/>
                                          </p:stCondLst>
                                        </p:cTn>
                                        <p:tgtEl>
                                          <p:spTgt spid="131"/>
                                        </p:tgtEl>
                                        <p:attrNameLst>
                                          <p:attrName>style.visibility</p:attrName>
                                        </p:attrNameLst>
                                      </p:cBhvr>
                                      <p:to>
                                        <p:strVal val="visible"/>
                                      </p:to>
                                    </p:set>
                                  </p:childTnLst>
                                </p:cTn>
                              </p:par>
                              <p:par>
                                <p:cTn id="51" presetID="1" presetClass="entr" presetSubtype="0" fill="hold" grpId="1" nodeType="withEffect">
                                  <p:stCondLst>
                                    <p:cond delay="0"/>
                                  </p:stCondLst>
                                  <p:childTnLst>
                                    <p:set>
                                      <p:cBhvr>
                                        <p:cTn id="52" dur="1" fill="hold">
                                          <p:stCondLst>
                                            <p:cond delay="0"/>
                                          </p:stCondLst>
                                        </p:cTn>
                                        <p:tgtEl>
                                          <p:spTgt spid="132"/>
                                        </p:tgtEl>
                                        <p:attrNameLst>
                                          <p:attrName>style.visibility</p:attrName>
                                        </p:attrNameLst>
                                      </p:cBhvr>
                                      <p:to>
                                        <p:strVal val="visible"/>
                                      </p:to>
                                    </p:set>
                                  </p:childTnLst>
                                </p:cTn>
                              </p:par>
                              <p:par>
                                <p:cTn id="53" presetID="1" presetClass="entr" presetSubtype="0" fill="hold" grpId="1" nodeType="withEffect">
                                  <p:stCondLst>
                                    <p:cond delay="0"/>
                                  </p:stCondLst>
                                  <p:childTnLst>
                                    <p:set>
                                      <p:cBhvr>
                                        <p:cTn id="54" dur="1" fill="hold">
                                          <p:stCondLst>
                                            <p:cond delay="0"/>
                                          </p:stCondLst>
                                        </p:cTn>
                                        <p:tgtEl>
                                          <p:spTgt spid="133"/>
                                        </p:tgtEl>
                                        <p:attrNameLst>
                                          <p:attrName>style.visibility</p:attrName>
                                        </p:attrNameLst>
                                      </p:cBhvr>
                                      <p:to>
                                        <p:strVal val="visible"/>
                                      </p:to>
                                    </p:set>
                                  </p:childTnLst>
                                </p:cTn>
                              </p:par>
                              <p:par>
                                <p:cTn id="55" presetID="1" presetClass="entr" presetSubtype="0" fill="hold" grpId="1" nodeType="withEffect">
                                  <p:stCondLst>
                                    <p:cond delay="0"/>
                                  </p:stCondLst>
                                  <p:childTnLst>
                                    <p:set>
                                      <p:cBhvr>
                                        <p:cTn id="56" dur="1" fill="hold">
                                          <p:stCondLst>
                                            <p:cond delay="0"/>
                                          </p:stCondLst>
                                        </p:cTn>
                                        <p:tgtEl>
                                          <p:spTgt spid="134"/>
                                        </p:tgtEl>
                                        <p:attrNameLst>
                                          <p:attrName>style.visibility</p:attrName>
                                        </p:attrNameLst>
                                      </p:cBhvr>
                                      <p:to>
                                        <p:strVal val="visible"/>
                                      </p:to>
                                    </p:set>
                                  </p:childTnLst>
                                </p:cTn>
                              </p:par>
                              <p:par>
                                <p:cTn id="57" presetID="1" presetClass="entr" presetSubtype="0" fill="hold" grpId="1" nodeType="withEffect">
                                  <p:stCondLst>
                                    <p:cond delay="0"/>
                                  </p:stCondLst>
                                  <p:childTnLst>
                                    <p:set>
                                      <p:cBhvr>
                                        <p:cTn id="58" dur="1" fill="hold">
                                          <p:stCondLst>
                                            <p:cond delay="0"/>
                                          </p:stCondLst>
                                        </p:cTn>
                                        <p:tgtEl>
                                          <p:spTgt spid="135"/>
                                        </p:tgtEl>
                                        <p:attrNameLst>
                                          <p:attrName>style.visibility</p:attrName>
                                        </p:attrNameLst>
                                      </p:cBhvr>
                                      <p:to>
                                        <p:strVal val="visible"/>
                                      </p:to>
                                    </p:set>
                                  </p:childTnLst>
                                </p:cTn>
                              </p:par>
                              <p:par>
                                <p:cTn id="59" presetID="1" presetClass="entr" presetSubtype="0" fill="hold" grpId="2" nodeType="withEffect">
                                  <p:stCondLst>
                                    <p:cond delay="0"/>
                                  </p:stCondLst>
                                  <p:childTnLst>
                                    <p:set>
                                      <p:cBhvr>
                                        <p:cTn id="60" dur="1" fill="hold">
                                          <p:stCondLst>
                                            <p:cond delay="0"/>
                                          </p:stCondLst>
                                        </p:cTn>
                                        <p:tgtEl>
                                          <p:spTgt spid="136"/>
                                        </p:tgtEl>
                                        <p:attrNameLst>
                                          <p:attrName>style.visibility</p:attrName>
                                        </p:attrNameLst>
                                      </p:cBhvr>
                                      <p:to>
                                        <p:strVal val="visible"/>
                                      </p:to>
                                    </p:set>
                                  </p:childTnLst>
                                </p:cTn>
                              </p:par>
                              <p:par>
                                <p:cTn id="61" presetID="1" presetClass="entr" presetSubtype="0" fill="hold" grpId="2" nodeType="withEffect">
                                  <p:stCondLst>
                                    <p:cond delay="0"/>
                                  </p:stCondLst>
                                  <p:childTnLst>
                                    <p:set>
                                      <p:cBhvr>
                                        <p:cTn id="62" dur="1" fill="hold">
                                          <p:stCondLst>
                                            <p:cond delay="0"/>
                                          </p:stCondLst>
                                        </p:cTn>
                                        <p:tgtEl>
                                          <p:spTgt spid="137"/>
                                        </p:tgtEl>
                                        <p:attrNameLst>
                                          <p:attrName>style.visibility</p:attrName>
                                        </p:attrNameLst>
                                      </p:cBhvr>
                                      <p:to>
                                        <p:strVal val="visible"/>
                                      </p:to>
                                    </p:set>
                                  </p:childTnLst>
                                </p:cTn>
                              </p:par>
                              <p:par>
                                <p:cTn id="63" presetID="1" presetClass="entr" presetSubtype="0" fill="hold" grpId="2" nodeType="withEffect">
                                  <p:stCondLst>
                                    <p:cond delay="0"/>
                                  </p:stCondLst>
                                  <p:childTnLst>
                                    <p:set>
                                      <p:cBhvr>
                                        <p:cTn id="64" dur="1" fill="hold">
                                          <p:stCondLst>
                                            <p:cond delay="0"/>
                                          </p:stCondLst>
                                        </p:cTn>
                                        <p:tgtEl>
                                          <p:spTgt spid="138"/>
                                        </p:tgtEl>
                                        <p:attrNameLst>
                                          <p:attrName>style.visibility</p:attrName>
                                        </p:attrNameLst>
                                      </p:cBhvr>
                                      <p:to>
                                        <p:strVal val="visible"/>
                                      </p:to>
                                    </p:set>
                                  </p:childTnLst>
                                </p:cTn>
                              </p:par>
                              <p:par>
                                <p:cTn id="65" presetID="1" presetClass="entr" presetSubtype="0" fill="hold" grpId="2" nodeType="withEffect">
                                  <p:stCondLst>
                                    <p:cond delay="0"/>
                                  </p:stCondLst>
                                  <p:childTnLst>
                                    <p:set>
                                      <p:cBhvr>
                                        <p:cTn id="66" dur="1" fill="hold">
                                          <p:stCondLst>
                                            <p:cond delay="0"/>
                                          </p:stCondLst>
                                        </p:cTn>
                                        <p:tgtEl>
                                          <p:spTgt spid="139"/>
                                        </p:tgtEl>
                                        <p:attrNameLst>
                                          <p:attrName>style.visibility</p:attrName>
                                        </p:attrNameLst>
                                      </p:cBhvr>
                                      <p:to>
                                        <p:strVal val="visible"/>
                                      </p:to>
                                    </p:set>
                                  </p:childTnLst>
                                </p:cTn>
                              </p:par>
                              <p:par>
                                <p:cTn id="67" presetID="1" presetClass="entr" presetSubtype="0" fill="hold" grpId="2" nodeType="withEffect">
                                  <p:stCondLst>
                                    <p:cond delay="0"/>
                                  </p:stCondLst>
                                  <p:childTnLst>
                                    <p:set>
                                      <p:cBhvr>
                                        <p:cTn id="68" dur="1" fill="hold">
                                          <p:stCondLst>
                                            <p:cond delay="0"/>
                                          </p:stCondLst>
                                        </p:cTn>
                                        <p:tgtEl>
                                          <p:spTgt spid="140"/>
                                        </p:tgtEl>
                                        <p:attrNameLst>
                                          <p:attrName>style.visibility</p:attrName>
                                        </p:attrNameLst>
                                      </p:cBhvr>
                                      <p:to>
                                        <p:strVal val="visible"/>
                                      </p:to>
                                    </p:set>
                                  </p:childTnLst>
                                </p:cTn>
                              </p:par>
                              <p:par>
                                <p:cTn id="69" presetID="1" presetClass="entr" presetSubtype="0" fill="hold" grpId="2" nodeType="withEffect">
                                  <p:stCondLst>
                                    <p:cond delay="0"/>
                                  </p:stCondLst>
                                  <p:childTnLst>
                                    <p:set>
                                      <p:cBhvr>
                                        <p:cTn id="70" dur="1" fill="hold">
                                          <p:stCondLst>
                                            <p:cond delay="0"/>
                                          </p:stCondLst>
                                        </p:cTn>
                                        <p:tgtEl>
                                          <p:spTgt spid="141"/>
                                        </p:tgtEl>
                                        <p:attrNameLst>
                                          <p:attrName>style.visibility</p:attrName>
                                        </p:attrNameLst>
                                      </p:cBhvr>
                                      <p:to>
                                        <p:strVal val="visible"/>
                                      </p:to>
                                    </p:set>
                                  </p:childTnLst>
                                </p:cTn>
                              </p:par>
                              <p:par>
                                <p:cTn id="71" presetID="1" presetClass="entr" presetSubtype="0" fill="hold" grpId="2" nodeType="withEffect">
                                  <p:stCondLst>
                                    <p:cond delay="0"/>
                                  </p:stCondLst>
                                  <p:childTnLst>
                                    <p:set>
                                      <p:cBhvr>
                                        <p:cTn id="72" dur="1" fill="hold">
                                          <p:stCondLst>
                                            <p:cond delay="0"/>
                                          </p:stCondLst>
                                        </p:cTn>
                                        <p:tgtEl>
                                          <p:spTgt spid="14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2" nodeType="clickEffect">
                                  <p:stCondLst>
                                    <p:cond delay="0"/>
                                  </p:stCondLst>
                                  <p:childTnLst>
                                    <p:set>
                                      <p:cBhvr>
                                        <p:cTn id="76" dur="1" fill="hold">
                                          <p:stCondLst>
                                            <p:cond delay="0"/>
                                          </p:stCondLst>
                                        </p:cTn>
                                        <p:tgtEl>
                                          <p:spTgt spid="145"/>
                                        </p:tgtEl>
                                        <p:attrNameLst>
                                          <p:attrName>style.visibility</p:attrName>
                                        </p:attrNameLst>
                                      </p:cBhvr>
                                      <p:to>
                                        <p:strVal val="visible"/>
                                      </p:to>
                                    </p:set>
                                  </p:childTnLst>
                                </p:cTn>
                              </p:par>
                              <p:par>
                                <p:cTn id="77" presetID="1" presetClass="entr" presetSubtype="0" fill="hold" grpId="1" nodeType="withEffect">
                                  <p:stCondLst>
                                    <p:cond delay="0"/>
                                  </p:stCondLst>
                                  <p:childTnLst>
                                    <p:set>
                                      <p:cBhvr>
                                        <p:cTn id="78" dur="1" fill="hold">
                                          <p:stCondLst>
                                            <p:cond delay="0"/>
                                          </p:stCondLst>
                                        </p:cTn>
                                        <p:tgtEl>
                                          <p:spTgt spid="144"/>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143"/>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1" nodeType="clickEffect">
                                  <p:stCondLst>
                                    <p:cond delay="0"/>
                                  </p:stCondLst>
                                  <p:childTnLst>
                                    <p:set>
                                      <p:cBhvr>
                                        <p:cTn id="84" dur="1" fill="hold">
                                          <p:stCondLst>
                                            <p:cond delay="0"/>
                                          </p:stCondLst>
                                        </p:cTn>
                                        <p:tgtEl>
                                          <p:spTgt spid="146"/>
                                        </p:tgtEl>
                                        <p:attrNameLst>
                                          <p:attrName>style.visibility</p:attrName>
                                        </p:attrNameLst>
                                      </p:cBhvr>
                                      <p:to>
                                        <p:strVal val="visible"/>
                                      </p:to>
                                    </p:set>
                                  </p:childTnLst>
                                </p:cTn>
                              </p:par>
                              <p:par>
                                <p:cTn id="85" presetID="1" presetClass="entr" presetSubtype="0" fill="hold" grpId="1" nodeType="withEffect">
                                  <p:stCondLst>
                                    <p:cond delay="0"/>
                                  </p:stCondLst>
                                  <p:childTnLst>
                                    <p:set>
                                      <p:cBhvr>
                                        <p:cTn id="86" dur="1" fill="hold">
                                          <p:stCondLst>
                                            <p:cond delay="0"/>
                                          </p:stCondLst>
                                        </p:cTn>
                                        <p:tgtEl>
                                          <p:spTgt spid="147"/>
                                        </p:tgtEl>
                                        <p:attrNameLst>
                                          <p:attrName>style.visibility</p:attrName>
                                        </p:attrNameLst>
                                      </p:cBhvr>
                                      <p:to>
                                        <p:strVal val="visible"/>
                                      </p:to>
                                    </p:set>
                                  </p:childTnLst>
                                </p:cTn>
                              </p:par>
                              <p:par>
                                <p:cTn id="87" presetID="1" presetClass="entr" presetSubtype="0" fill="hold" grpId="1" nodeType="withEffect">
                                  <p:stCondLst>
                                    <p:cond delay="0"/>
                                  </p:stCondLst>
                                  <p:childTnLst>
                                    <p:set>
                                      <p:cBhvr>
                                        <p:cTn id="88" dur="1" fill="hold">
                                          <p:stCondLst>
                                            <p:cond delay="0"/>
                                          </p:stCondLst>
                                        </p:cTn>
                                        <p:tgtEl>
                                          <p:spTgt spid="148"/>
                                        </p:tgtEl>
                                        <p:attrNameLst>
                                          <p:attrName>style.visibility</p:attrName>
                                        </p:attrNameLst>
                                      </p:cBhvr>
                                      <p:to>
                                        <p:strVal val="visible"/>
                                      </p:to>
                                    </p:set>
                                  </p:childTnLst>
                                </p:cTn>
                              </p:par>
                              <p:par>
                                <p:cTn id="89" presetID="1" presetClass="entr" presetSubtype="0" fill="hold" grpId="1" nodeType="withEffect">
                                  <p:stCondLst>
                                    <p:cond delay="0"/>
                                  </p:stCondLst>
                                  <p:childTnLst>
                                    <p:set>
                                      <p:cBhvr>
                                        <p:cTn id="90" dur="1" fill="hold">
                                          <p:stCondLst>
                                            <p:cond delay="0"/>
                                          </p:stCondLst>
                                        </p:cTn>
                                        <p:tgtEl>
                                          <p:spTgt spid="149"/>
                                        </p:tgtEl>
                                        <p:attrNameLst>
                                          <p:attrName>style.visibility</p:attrName>
                                        </p:attrNameLst>
                                      </p:cBhvr>
                                      <p:to>
                                        <p:strVal val="visible"/>
                                      </p:to>
                                    </p:set>
                                  </p:childTnLst>
                                </p:cTn>
                              </p:par>
                              <p:par>
                                <p:cTn id="91" presetID="1" presetClass="entr" presetSubtype="0" fill="hold" grpId="1" nodeType="withEffect">
                                  <p:stCondLst>
                                    <p:cond delay="0"/>
                                  </p:stCondLst>
                                  <p:childTnLst>
                                    <p:set>
                                      <p:cBhvr>
                                        <p:cTn id="92" dur="1" fill="hold">
                                          <p:stCondLst>
                                            <p:cond delay="0"/>
                                          </p:stCondLst>
                                        </p:cTn>
                                        <p:tgtEl>
                                          <p:spTgt spid="150"/>
                                        </p:tgtEl>
                                        <p:attrNameLst>
                                          <p:attrName>style.visibility</p:attrName>
                                        </p:attrNameLst>
                                      </p:cBhvr>
                                      <p:to>
                                        <p:strVal val="visible"/>
                                      </p:to>
                                    </p:set>
                                  </p:childTnLst>
                                </p:cTn>
                              </p:par>
                              <p:par>
                                <p:cTn id="93" presetID="1" presetClass="entr" presetSubtype="0" fill="hold" grpId="1" nodeType="withEffect">
                                  <p:stCondLst>
                                    <p:cond delay="0"/>
                                  </p:stCondLst>
                                  <p:childTnLst>
                                    <p:set>
                                      <p:cBhvr>
                                        <p:cTn id="94" dur="1" fill="hold">
                                          <p:stCondLst>
                                            <p:cond delay="0"/>
                                          </p:stCondLst>
                                        </p:cTn>
                                        <p:tgtEl>
                                          <p:spTgt spid="151"/>
                                        </p:tgtEl>
                                        <p:attrNameLst>
                                          <p:attrName>style.visibility</p:attrName>
                                        </p:attrNameLst>
                                      </p:cBhvr>
                                      <p:to>
                                        <p:strVal val="visible"/>
                                      </p:to>
                                    </p:set>
                                  </p:childTnLst>
                                </p:cTn>
                              </p:par>
                              <p:par>
                                <p:cTn id="95" presetID="1" presetClass="entr" presetSubtype="0" fill="hold" grpId="1" nodeType="withEffect">
                                  <p:stCondLst>
                                    <p:cond delay="0"/>
                                  </p:stCondLst>
                                  <p:childTnLst>
                                    <p:set>
                                      <p:cBhvr>
                                        <p:cTn id="96" dur="1" fill="hold">
                                          <p:stCondLst>
                                            <p:cond delay="0"/>
                                          </p:stCondLst>
                                        </p:cTn>
                                        <p:tgtEl>
                                          <p:spTgt spid="152"/>
                                        </p:tgtEl>
                                        <p:attrNameLst>
                                          <p:attrName>style.visibility</p:attrName>
                                        </p:attrNameLst>
                                      </p:cBhvr>
                                      <p:to>
                                        <p:strVal val="visible"/>
                                      </p:to>
                                    </p:set>
                                  </p:childTnLst>
                                </p:cTn>
                              </p:par>
                              <p:par>
                                <p:cTn id="97" presetID="1" presetClass="entr" presetSubtype="0" fill="hold" grpId="1" nodeType="withEffect">
                                  <p:stCondLst>
                                    <p:cond delay="0"/>
                                  </p:stCondLst>
                                  <p:childTnLst>
                                    <p:set>
                                      <p:cBhvr>
                                        <p:cTn id="98" dur="1" fill="hold">
                                          <p:stCondLst>
                                            <p:cond delay="0"/>
                                          </p:stCondLst>
                                        </p:cTn>
                                        <p:tgtEl>
                                          <p:spTgt spid="153"/>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54"/>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5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56"/>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57"/>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5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59"/>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6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161"/>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62"/>
                                        </p:tgtEl>
                                        <p:attrNameLst>
                                          <p:attrName>style.visibility</p:attrName>
                                        </p:attrNameLst>
                                      </p:cBhvr>
                                      <p:to>
                                        <p:strVal val="visible"/>
                                      </p:to>
                                    </p:set>
                                  </p:childTnLst>
                                </p:cTn>
                              </p:par>
                              <p:par>
                                <p:cTn id="117" presetID="1" presetClass="entr" presetSubtype="0" fill="hold" nodeType="withEffect">
                                  <p:stCondLst>
                                    <p:cond delay="0"/>
                                  </p:stCondLst>
                                  <p:childTnLst>
                                    <p:set>
                                      <p:cBhvr>
                                        <p:cTn id="118" dur="1" fill="hold">
                                          <p:stCondLst>
                                            <p:cond delay="0"/>
                                          </p:stCondLst>
                                        </p:cTn>
                                        <p:tgtEl>
                                          <p:spTgt spid="163"/>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164"/>
                                        </p:tgtEl>
                                        <p:attrNameLst>
                                          <p:attrName>style.visibility</p:attrName>
                                        </p:attrNameLst>
                                      </p:cBhvr>
                                      <p:to>
                                        <p:strVal val="visible"/>
                                      </p:to>
                                    </p:set>
                                  </p:childTnLst>
                                </p:cTn>
                              </p:par>
                              <p:par>
                                <p:cTn id="121" presetID="1" presetClass="entr" presetSubtype="0" fill="hold" grpId="1" nodeType="withEffect">
                                  <p:stCondLst>
                                    <p:cond delay="0"/>
                                  </p:stCondLst>
                                  <p:childTnLst>
                                    <p:set>
                                      <p:cBhvr>
                                        <p:cTn id="122" dur="1" fill="hold">
                                          <p:stCondLst>
                                            <p:cond delay="0"/>
                                          </p:stCondLst>
                                        </p:cTn>
                                        <p:tgtEl>
                                          <p:spTgt spid="165"/>
                                        </p:tgtEl>
                                        <p:attrNameLst>
                                          <p:attrName>style.visibility</p:attrName>
                                        </p:attrNameLst>
                                      </p:cBhvr>
                                      <p:to>
                                        <p:strVal val="visible"/>
                                      </p:to>
                                    </p:set>
                                  </p:childTnLst>
                                </p:cTn>
                              </p:par>
                              <p:par>
                                <p:cTn id="123" presetID="1" presetClass="entr" presetSubtype="0" fill="hold" grpId="1" nodeType="withEffect">
                                  <p:stCondLst>
                                    <p:cond delay="0"/>
                                  </p:stCondLst>
                                  <p:childTnLst>
                                    <p:set>
                                      <p:cBhvr>
                                        <p:cTn id="124" dur="1" fill="hold">
                                          <p:stCondLst>
                                            <p:cond delay="0"/>
                                          </p:stCondLst>
                                        </p:cTn>
                                        <p:tgtEl>
                                          <p:spTgt spid="166"/>
                                        </p:tgtEl>
                                        <p:attrNameLst>
                                          <p:attrName>style.visibility</p:attrName>
                                        </p:attrNameLst>
                                      </p:cBhvr>
                                      <p:to>
                                        <p:strVal val="visible"/>
                                      </p:to>
                                    </p:set>
                                  </p:childTnLst>
                                </p:cTn>
                              </p:par>
                              <p:par>
                                <p:cTn id="125" presetID="1" presetClass="entr" presetSubtype="0" fill="hold" grpId="1" nodeType="withEffect">
                                  <p:stCondLst>
                                    <p:cond delay="0"/>
                                  </p:stCondLst>
                                  <p:childTnLst>
                                    <p:set>
                                      <p:cBhvr>
                                        <p:cTn id="126" dur="1" fill="hold">
                                          <p:stCondLst>
                                            <p:cond delay="0"/>
                                          </p:stCondLst>
                                        </p:cTn>
                                        <p:tgtEl>
                                          <p:spTgt spid="167"/>
                                        </p:tgtEl>
                                        <p:attrNameLst>
                                          <p:attrName>style.visibility</p:attrName>
                                        </p:attrNameLst>
                                      </p:cBhvr>
                                      <p:to>
                                        <p:strVal val="visible"/>
                                      </p:to>
                                    </p:set>
                                  </p:childTnLst>
                                </p:cTn>
                              </p:par>
                              <p:par>
                                <p:cTn id="127" presetID="1" presetClass="entr" presetSubtype="0" fill="hold" grpId="1" nodeType="withEffect">
                                  <p:stCondLst>
                                    <p:cond delay="0"/>
                                  </p:stCondLst>
                                  <p:childTnLst>
                                    <p:set>
                                      <p:cBhvr>
                                        <p:cTn id="128" dur="1" fill="hold">
                                          <p:stCondLst>
                                            <p:cond delay="0"/>
                                          </p:stCondLst>
                                        </p:cTn>
                                        <p:tgtEl>
                                          <p:spTgt spid="168"/>
                                        </p:tgtEl>
                                        <p:attrNameLst>
                                          <p:attrName>style.visibility</p:attrName>
                                        </p:attrNameLst>
                                      </p:cBhvr>
                                      <p:to>
                                        <p:strVal val="visible"/>
                                      </p:to>
                                    </p:set>
                                  </p:childTnLst>
                                </p:cTn>
                              </p:par>
                              <p:par>
                                <p:cTn id="129" presetID="1" presetClass="entr" presetSubtype="0" fill="hold" grpId="1" nodeType="withEffect">
                                  <p:stCondLst>
                                    <p:cond delay="0"/>
                                  </p:stCondLst>
                                  <p:childTnLst>
                                    <p:set>
                                      <p:cBhvr>
                                        <p:cTn id="130" dur="1" fill="hold">
                                          <p:stCondLst>
                                            <p:cond delay="0"/>
                                          </p:stCondLst>
                                        </p:cTn>
                                        <p:tgtEl>
                                          <p:spTgt spid="169"/>
                                        </p:tgtEl>
                                        <p:attrNameLst>
                                          <p:attrName>style.visibility</p:attrName>
                                        </p:attrNameLst>
                                      </p:cBhvr>
                                      <p:to>
                                        <p:strVal val="visible"/>
                                      </p:to>
                                    </p:set>
                                  </p:childTnLst>
                                </p:cTn>
                              </p:par>
                              <p:par>
                                <p:cTn id="131" presetID="1" presetClass="entr" presetSubtype="0" fill="hold" grpId="1" nodeType="withEffect">
                                  <p:stCondLst>
                                    <p:cond delay="0"/>
                                  </p:stCondLst>
                                  <p:childTnLst>
                                    <p:set>
                                      <p:cBhvr>
                                        <p:cTn id="132" dur="1" fill="hold">
                                          <p:stCondLst>
                                            <p:cond delay="0"/>
                                          </p:stCondLst>
                                        </p:cTn>
                                        <p:tgtEl>
                                          <p:spTgt spid="170"/>
                                        </p:tgtEl>
                                        <p:attrNameLst>
                                          <p:attrName>style.visibility</p:attrName>
                                        </p:attrNameLst>
                                      </p:cBhvr>
                                      <p:to>
                                        <p:strVal val="visible"/>
                                      </p:to>
                                    </p:set>
                                  </p:childTnLst>
                                </p:cTn>
                              </p:par>
                              <p:par>
                                <p:cTn id="133" presetID="1" presetClass="entr" presetSubtype="0" fill="hold" grpId="1" nodeType="withEffect">
                                  <p:stCondLst>
                                    <p:cond delay="0"/>
                                  </p:stCondLst>
                                  <p:childTnLst>
                                    <p:set>
                                      <p:cBhvr>
                                        <p:cTn id="134" dur="1" fill="hold">
                                          <p:stCondLst>
                                            <p:cond delay="0"/>
                                          </p:stCondLst>
                                        </p:cTn>
                                        <p:tgtEl>
                                          <p:spTgt spid="171"/>
                                        </p:tgtEl>
                                        <p:attrNameLst>
                                          <p:attrName>style.visibility</p:attrName>
                                        </p:attrNameLst>
                                      </p:cBhvr>
                                      <p:to>
                                        <p:strVal val="visible"/>
                                      </p:to>
                                    </p:set>
                                  </p:childTnLst>
                                </p:cTn>
                              </p:par>
                              <p:par>
                                <p:cTn id="135" presetID="1" presetClass="entr" presetSubtype="0" fill="hold" grpId="1" nodeType="withEffect">
                                  <p:stCondLst>
                                    <p:cond delay="0"/>
                                  </p:stCondLst>
                                  <p:childTnLst>
                                    <p:set>
                                      <p:cBhvr>
                                        <p:cTn id="136" dur="1" fill="hold">
                                          <p:stCondLst>
                                            <p:cond delay="0"/>
                                          </p:stCondLst>
                                        </p:cTn>
                                        <p:tgtEl>
                                          <p:spTgt spid="172"/>
                                        </p:tgtEl>
                                        <p:attrNameLst>
                                          <p:attrName>style.visibility</p:attrName>
                                        </p:attrNameLst>
                                      </p:cBhvr>
                                      <p:to>
                                        <p:strVal val="visible"/>
                                      </p:to>
                                    </p:set>
                                  </p:childTnLst>
                                </p:cTn>
                              </p:par>
                              <p:par>
                                <p:cTn id="137" presetID="1" presetClass="entr" presetSubtype="0" fill="hold" grpId="2" nodeType="withEffect">
                                  <p:stCondLst>
                                    <p:cond delay="0"/>
                                  </p:stCondLst>
                                  <p:childTnLst>
                                    <p:set>
                                      <p:cBhvr>
                                        <p:cTn id="138" dur="1" fill="hold">
                                          <p:stCondLst>
                                            <p:cond delay="0"/>
                                          </p:stCondLst>
                                        </p:cTn>
                                        <p:tgtEl>
                                          <p:spTgt spid="173"/>
                                        </p:tgtEl>
                                        <p:attrNameLst>
                                          <p:attrName>style.visibility</p:attrName>
                                        </p:attrNameLst>
                                      </p:cBhvr>
                                      <p:to>
                                        <p:strVal val="visible"/>
                                      </p:to>
                                    </p:set>
                                  </p:childTnLst>
                                </p:cTn>
                              </p:par>
                              <p:par>
                                <p:cTn id="139" presetID="1" presetClass="entr" presetSubtype="0" fill="hold" grpId="2" nodeType="withEffect">
                                  <p:stCondLst>
                                    <p:cond delay="0"/>
                                  </p:stCondLst>
                                  <p:childTnLst>
                                    <p:set>
                                      <p:cBhvr>
                                        <p:cTn id="140" dur="1" fill="hold">
                                          <p:stCondLst>
                                            <p:cond delay="0"/>
                                          </p:stCondLst>
                                        </p:cTn>
                                        <p:tgtEl>
                                          <p:spTgt spid="174"/>
                                        </p:tgtEl>
                                        <p:attrNameLst>
                                          <p:attrName>style.visibility</p:attrName>
                                        </p:attrNameLst>
                                      </p:cBhvr>
                                      <p:to>
                                        <p:strVal val="visible"/>
                                      </p:to>
                                    </p:set>
                                  </p:childTnLst>
                                </p:cTn>
                              </p:par>
                              <p:par>
                                <p:cTn id="141" presetID="1" presetClass="entr" presetSubtype="0" fill="hold" grpId="2" nodeType="withEffect">
                                  <p:stCondLst>
                                    <p:cond delay="0"/>
                                  </p:stCondLst>
                                  <p:childTnLst>
                                    <p:set>
                                      <p:cBhvr>
                                        <p:cTn id="142" dur="1" fill="hold">
                                          <p:stCondLst>
                                            <p:cond delay="0"/>
                                          </p:stCondLst>
                                        </p:cTn>
                                        <p:tgtEl>
                                          <p:spTgt spid="175"/>
                                        </p:tgtEl>
                                        <p:attrNameLst>
                                          <p:attrName>style.visibility</p:attrName>
                                        </p:attrNameLst>
                                      </p:cBhvr>
                                      <p:to>
                                        <p:strVal val="visible"/>
                                      </p:to>
                                    </p:set>
                                  </p:childTnLst>
                                </p:cTn>
                              </p:par>
                              <p:par>
                                <p:cTn id="143" presetID="1" presetClass="entr" presetSubtype="0" fill="hold" grpId="2" nodeType="withEffect">
                                  <p:stCondLst>
                                    <p:cond delay="0"/>
                                  </p:stCondLst>
                                  <p:childTnLst>
                                    <p:set>
                                      <p:cBhvr>
                                        <p:cTn id="144" dur="1" fill="hold">
                                          <p:stCondLst>
                                            <p:cond delay="0"/>
                                          </p:stCondLst>
                                        </p:cTn>
                                        <p:tgtEl>
                                          <p:spTgt spid="176"/>
                                        </p:tgtEl>
                                        <p:attrNameLst>
                                          <p:attrName>style.visibility</p:attrName>
                                        </p:attrNameLst>
                                      </p:cBhvr>
                                      <p:to>
                                        <p:strVal val="visible"/>
                                      </p:to>
                                    </p:set>
                                  </p:childTnLst>
                                </p:cTn>
                              </p:par>
                              <p:par>
                                <p:cTn id="145" presetID="1" presetClass="entr" presetSubtype="0" fill="hold" grpId="2" nodeType="withEffect">
                                  <p:stCondLst>
                                    <p:cond delay="0"/>
                                  </p:stCondLst>
                                  <p:childTnLst>
                                    <p:set>
                                      <p:cBhvr>
                                        <p:cTn id="146" dur="1" fill="hold">
                                          <p:stCondLst>
                                            <p:cond delay="0"/>
                                          </p:stCondLst>
                                        </p:cTn>
                                        <p:tgtEl>
                                          <p:spTgt spid="177"/>
                                        </p:tgtEl>
                                        <p:attrNameLst>
                                          <p:attrName>style.visibility</p:attrName>
                                        </p:attrNameLst>
                                      </p:cBhvr>
                                      <p:to>
                                        <p:strVal val="visible"/>
                                      </p:to>
                                    </p:set>
                                  </p:childTnLst>
                                </p:cTn>
                              </p:par>
                              <p:par>
                                <p:cTn id="147" presetID="1" presetClass="entr" presetSubtype="0" fill="hold" grpId="2" nodeType="withEffect">
                                  <p:stCondLst>
                                    <p:cond delay="0"/>
                                  </p:stCondLst>
                                  <p:childTnLst>
                                    <p:set>
                                      <p:cBhvr>
                                        <p:cTn id="148" dur="1" fill="hold">
                                          <p:stCondLst>
                                            <p:cond delay="0"/>
                                          </p:stCondLst>
                                        </p:cTn>
                                        <p:tgtEl>
                                          <p:spTgt spid="178"/>
                                        </p:tgtEl>
                                        <p:attrNameLst>
                                          <p:attrName>style.visibility</p:attrName>
                                        </p:attrNameLst>
                                      </p:cBhvr>
                                      <p:to>
                                        <p:strVal val="visible"/>
                                      </p:to>
                                    </p:set>
                                  </p:childTnLst>
                                </p:cTn>
                              </p:par>
                              <p:par>
                                <p:cTn id="149" presetID="1" presetClass="entr" presetSubtype="0" fill="hold" grpId="0" nodeType="withEffect">
                                  <p:stCondLst>
                                    <p:cond delay="0"/>
                                  </p:stCondLst>
                                  <p:childTnLst>
                                    <p:set>
                                      <p:cBhvr>
                                        <p:cTn id="150" dur="1" fill="hold">
                                          <p:stCondLst>
                                            <p:cond delay="0"/>
                                          </p:stCondLst>
                                        </p:cTn>
                                        <p:tgtEl>
                                          <p:spTgt spid="182"/>
                                        </p:tgtEl>
                                        <p:attrNameLst>
                                          <p:attrName>style.visibility</p:attrName>
                                        </p:attrNameLst>
                                      </p:cBhvr>
                                      <p:to>
                                        <p:strVal val="visible"/>
                                      </p:to>
                                    </p:set>
                                  </p:childTnLst>
                                </p:cTn>
                              </p:par>
                              <p:par>
                                <p:cTn id="151" presetID="1" presetClass="entr" presetSubtype="0" fill="hold" grpId="2" nodeType="withEffect">
                                  <p:stCondLst>
                                    <p:cond delay="0"/>
                                  </p:stCondLst>
                                  <p:childTnLst>
                                    <p:set>
                                      <p:cBhvr>
                                        <p:cTn id="152" dur="1" fill="hold">
                                          <p:stCondLst>
                                            <p:cond delay="0"/>
                                          </p:stCondLst>
                                        </p:cTn>
                                        <p:tgtEl>
                                          <p:spTgt spid="183"/>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2" nodeType="clickEffect">
                                  <p:stCondLst>
                                    <p:cond delay="0"/>
                                  </p:stCondLst>
                                  <p:childTnLst>
                                    <p:set>
                                      <p:cBhvr>
                                        <p:cTn id="156" dur="1" fill="hold">
                                          <p:stCondLst>
                                            <p:cond delay="0"/>
                                          </p:stCondLst>
                                        </p:cTn>
                                        <p:tgtEl>
                                          <p:spTgt spid="181"/>
                                        </p:tgtEl>
                                        <p:attrNameLst>
                                          <p:attrName>style.visibility</p:attrName>
                                        </p:attrNameLst>
                                      </p:cBhvr>
                                      <p:to>
                                        <p:strVal val="visible"/>
                                      </p:to>
                                    </p:set>
                                  </p:childTnLst>
                                </p:cTn>
                              </p:par>
                              <p:par>
                                <p:cTn id="157" presetID="1" presetClass="entr" presetSubtype="0" fill="hold" grpId="0" nodeType="withEffect">
                                  <p:stCondLst>
                                    <p:cond delay="0"/>
                                  </p:stCondLst>
                                  <p:childTnLst>
                                    <p:set>
                                      <p:cBhvr>
                                        <p:cTn id="158" dur="1" fill="hold">
                                          <p:stCondLst>
                                            <p:cond delay="0"/>
                                          </p:stCondLst>
                                        </p:cTn>
                                        <p:tgtEl>
                                          <p:spTgt spid="180"/>
                                        </p:tgtEl>
                                        <p:attrNameLst>
                                          <p:attrName>style.visibility</p:attrName>
                                        </p:attrNameLst>
                                      </p:cBhvr>
                                      <p:to>
                                        <p:strVal val="visible"/>
                                      </p:to>
                                    </p:set>
                                  </p:childTnLst>
                                </p:cTn>
                              </p:par>
                              <p:par>
                                <p:cTn id="159" presetID="1" presetClass="entr" presetSubtype="0" fill="hold" nodeType="withEffect">
                                  <p:stCondLst>
                                    <p:cond delay="0"/>
                                  </p:stCondLst>
                                  <p:childTnLst>
                                    <p:set>
                                      <p:cBhvr>
                                        <p:cTn id="160" dur="1" fill="hold">
                                          <p:stCondLst>
                                            <p:cond delay="0"/>
                                          </p:stCondLst>
                                        </p:cTn>
                                        <p:tgtEl>
                                          <p:spTgt spid="179"/>
                                        </p:tgtEl>
                                        <p:attrNameLst>
                                          <p:attrName>style.visibility</p:attrName>
                                        </p:attrNameLst>
                                      </p:cBhvr>
                                      <p:to>
                                        <p:strVal val="visible"/>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grpId="1" nodeType="clickEffect">
                                  <p:stCondLst>
                                    <p:cond delay="0"/>
                                  </p:stCondLst>
                                  <p:childTnLst>
                                    <p:set>
                                      <p:cBhvr>
                                        <p:cTn id="164" dur="1" fill="hold">
                                          <p:stCondLst>
                                            <p:cond delay="0"/>
                                          </p:stCondLst>
                                        </p:cTn>
                                        <p:tgtEl>
                                          <p:spTgt spid="184"/>
                                        </p:tgtEl>
                                        <p:attrNameLst>
                                          <p:attrName>style.visibility</p:attrName>
                                        </p:attrNameLst>
                                      </p:cBhvr>
                                      <p:to>
                                        <p:strVal val="visible"/>
                                      </p:to>
                                    </p:set>
                                  </p:childTnLst>
                                </p:cTn>
                              </p:par>
                              <p:par>
                                <p:cTn id="165" presetID="1" presetClass="entr" presetSubtype="0" fill="hold" grpId="1" nodeType="withEffect">
                                  <p:stCondLst>
                                    <p:cond delay="0"/>
                                  </p:stCondLst>
                                  <p:childTnLst>
                                    <p:set>
                                      <p:cBhvr>
                                        <p:cTn id="166" dur="1" fill="hold">
                                          <p:stCondLst>
                                            <p:cond delay="0"/>
                                          </p:stCondLst>
                                        </p:cTn>
                                        <p:tgtEl>
                                          <p:spTgt spid="185"/>
                                        </p:tgtEl>
                                        <p:attrNameLst>
                                          <p:attrName>style.visibility</p:attrName>
                                        </p:attrNameLst>
                                      </p:cBhvr>
                                      <p:to>
                                        <p:strVal val="visible"/>
                                      </p:to>
                                    </p:set>
                                  </p:childTnLst>
                                </p:cTn>
                              </p:par>
                              <p:par>
                                <p:cTn id="167" presetID="1" presetClass="entr" presetSubtype="0" fill="hold" grpId="1" nodeType="withEffect">
                                  <p:stCondLst>
                                    <p:cond delay="0"/>
                                  </p:stCondLst>
                                  <p:childTnLst>
                                    <p:set>
                                      <p:cBhvr>
                                        <p:cTn id="168" dur="1" fill="hold">
                                          <p:stCondLst>
                                            <p:cond delay="0"/>
                                          </p:stCondLst>
                                        </p:cTn>
                                        <p:tgtEl>
                                          <p:spTgt spid="186"/>
                                        </p:tgtEl>
                                        <p:attrNameLst>
                                          <p:attrName>style.visibility</p:attrName>
                                        </p:attrNameLst>
                                      </p:cBhvr>
                                      <p:to>
                                        <p:strVal val="visible"/>
                                      </p:to>
                                    </p:set>
                                  </p:childTnLst>
                                </p:cTn>
                              </p:par>
                              <p:par>
                                <p:cTn id="169" presetID="1" presetClass="entr" presetSubtype="0" fill="hold" grpId="1" nodeType="withEffect">
                                  <p:stCondLst>
                                    <p:cond delay="0"/>
                                  </p:stCondLst>
                                  <p:childTnLst>
                                    <p:set>
                                      <p:cBhvr>
                                        <p:cTn id="170" dur="1" fill="hold">
                                          <p:stCondLst>
                                            <p:cond delay="0"/>
                                          </p:stCondLst>
                                        </p:cTn>
                                        <p:tgtEl>
                                          <p:spTgt spid="187"/>
                                        </p:tgtEl>
                                        <p:attrNameLst>
                                          <p:attrName>style.visibility</p:attrName>
                                        </p:attrNameLst>
                                      </p:cBhvr>
                                      <p:to>
                                        <p:strVal val="visible"/>
                                      </p:to>
                                    </p:set>
                                  </p:childTnLst>
                                </p:cTn>
                              </p:par>
                              <p:par>
                                <p:cTn id="171" presetID="1" presetClass="entr" presetSubtype="0" fill="hold" grpId="1" nodeType="withEffect">
                                  <p:stCondLst>
                                    <p:cond delay="0"/>
                                  </p:stCondLst>
                                  <p:childTnLst>
                                    <p:set>
                                      <p:cBhvr>
                                        <p:cTn id="172" dur="1" fill="hold">
                                          <p:stCondLst>
                                            <p:cond delay="0"/>
                                          </p:stCondLst>
                                        </p:cTn>
                                        <p:tgtEl>
                                          <p:spTgt spid="188"/>
                                        </p:tgtEl>
                                        <p:attrNameLst>
                                          <p:attrName>style.visibility</p:attrName>
                                        </p:attrNameLst>
                                      </p:cBhvr>
                                      <p:to>
                                        <p:strVal val="visible"/>
                                      </p:to>
                                    </p:set>
                                  </p:childTnLst>
                                </p:cTn>
                              </p:par>
                              <p:par>
                                <p:cTn id="173" presetID="1" presetClass="entr" presetSubtype="0" fill="hold" grpId="1" nodeType="withEffect">
                                  <p:stCondLst>
                                    <p:cond delay="0"/>
                                  </p:stCondLst>
                                  <p:childTnLst>
                                    <p:set>
                                      <p:cBhvr>
                                        <p:cTn id="174" dur="1" fill="hold">
                                          <p:stCondLst>
                                            <p:cond delay="0"/>
                                          </p:stCondLst>
                                        </p:cTn>
                                        <p:tgtEl>
                                          <p:spTgt spid="189"/>
                                        </p:tgtEl>
                                        <p:attrNameLst>
                                          <p:attrName>style.visibility</p:attrName>
                                        </p:attrNameLst>
                                      </p:cBhvr>
                                      <p:to>
                                        <p:strVal val="visible"/>
                                      </p:to>
                                    </p:set>
                                  </p:childTnLst>
                                </p:cTn>
                              </p:par>
                              <p:par>
                                <p:cTn id="175" presetID="1" presetClass="entr" presetSubtype="0" fill="hold" grpId="1" nodeType="withEffect">
                                  <p:stCondLst>
                                    <p:cond delay="0"/>
                                  </p:stCondLst>
                                  <p:childTnLst>
                                    <p:set>
                                      <p:cBhvr>
                                        <p:cTn id="176" dur="1" fill="hold">
                                          <p:stCondLst>
                                            <p:cond delay="0"/>
                                          </p:stCondLst>
                                        </p:cTn>
                                        <p:tgtEl>
                                          <p:spTgt spid="190"/>
                                        </p:tgtEl>
                                        <p:attrNameLst>
                                          <p:attrName>style.visibility</p:attrName>
                                        </p:attrNameLst>
                                      </p:cBhvr>
                                      <p:to>
                                        <p:strVal val="visible"/>
                                      </p:to>
                                    </p:set>
                                  </p:childTnLst>
                                </p:cTn>
                              </p:par>
                              <p:par>
                                <p:cTn id="177" presetID="1" presetClass="entr" presetSubtype="0" fill="hold" grpId="1" nodeType="withEffect">
                                  <p:stCondLst>
                                    <p:cond delay="0"/>
                                  </p:stCondLst>
                                  <p:childTnLst>
                                    <p:set>
                                      <p:cBhvr>
                                        <p:cTn id="178" dur="1" fill="hold">
                                          <p:stCondLst>
                                            <p:cond delay="0"/>
                                          </p:stCondLst>
                                        </p:cTn>
                                        <p:tgtEl>
                                          <p:spTgt spid="191"/>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92"/>
                                        </p:tgtEl>
                                        <p:attrNameLst>
                                          <p:attrName>style.visibility</p:attrName>
                                        </p:attrNameLst>
                                      </p:cBhvr>
                                      <p:to>
                                        <p:strVal val="visible"/>
                                      </p:to>
                                    </p:set>
                                  </p:childTnLst>
                                </p:cTn>
                              </p:par>
                              <p:par>
                                <p:cTn id="181" presetID="1" presetClass="entr" presetSubtype="0" fill="hold" nodeType="withEffect">
                                  <p:stCondLst>
                                    <p:cond delay="0"/>
                                  </p:stCondLst>
                                  <p:childTnLst>
                                    <p:set>
                                      <p:cBhvr>
                                        <p:cTn id="182" dur="1" fill="hold">
                                          <p:stCondLst>
                                            <p:cond delay="0"/>
                                          </p:stCondLst>
                                        </p:cTn>
                                        <p:tgtEl>
                                          <p:spTgt spid="193"/>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194"/>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95"/>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96"/>
                                        </p:tgtEl>
                                        <p:attrNameLst>
                                          <p:attrName>style.visibility</p:attrName>
                                        </p:attrNameLst>
                                      </p:cBhvr>
                                      <p:to>
                                        <p:strVal val="visible"/>
                                      </p:to>
                                    </p:set>
                                  </p:childTnLst>
                                </p:cTn>
                              </p:par>
                              <p:par>
                                <p:cTn id="189" presetID="1" presetClass="entr" presetSubtype="0" fill="hold" nodeType="withEffect">
                                  <p:stCondLst>
                                    <p:cond delay="0"/>
                                  </p:stCondLst>
                                  <p:childTnLst>
                                    <p:set>
                                      <p:cBhvr>
                                        <p:cTn id="190" dur="1" fill="hold">
                                          <p:stCondLst>
                                            <p:cond delay="0"/>
                                          </p:stCondLst>
                                        </p:cTn>
                                        <p:tgtEl>
                                          <p:spTgt spid="197"/>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198"/>
                                        </p:tgtEl>
                                        <p:attrNameLst>
                                          <p:attrName>style.visibility</p:attrName>
                                        </p:attrNameLst>
                                      </p:cBhvr>
                                      <p:to>
                                        <p:strVal val="visible"/>
                                      </p:to>
                                    </p:set>
                                  </p:childTnLst>
                                </p:cTn>
                              </p:par>
                              <p:par>
                                <p:cTn id="193" presetID="1" presetClass="entr" presetSubtype="0" fill="hold" nodeType="withEffect">
                                  <p:stCondLst>
                                    <p:cond delay="0"/>
                                  </p:stCondLst>
                                  <p:childTnLst>
                                    <p:set>
                                      <p:cBhvr>
                                        <p:cTn id="194" dur="1" fill="hold">
                                          <p:stCondLst>
                                            <p:cond delay="0"/>
                                          </p:stCondLst>
                                        </p:cTn>
                                        <p:tgtEl>
                                          <p:spTgt spid="199"/>
                                        </p:tgtEl>
                                        <p:attrNameLst>
                                          <p:attrName>style.visibility</p:attrName>
                                        </p:attrNameLst>
                                      </p:cBhvr>
                                      <p:to>
                                        <p:strVal val="visible"/>
                                      </p:to>
                                    </p:set>
                                  </p:childTnLst>
                                </p:cTn>
                              </p:par>
                              <p:par>
                                <p:cTn id="195" presetID="1" presetClass="entr" presetSubtype="0" fill="hold" nodeType="withEffect">
                                  <p:stCondLst>
                                    <p:cond delay="0"/>
                                  </p:stCondLst>
                                  <p:childTnLst>
                                    <p:set>
                                      <p:cBhvr>
                                        <p:cTn id="196" dur="1" fill="hold">
                                          <p:stCondLst>
                                            <p:cond delay="0"/>
                                          </p:stCondLst>
                                        </p:cTn>
                                        <p:tgtEl>
                                          <p:spTgt spid="200"/>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201"/>
                                        </p:tgtEl>
                                        <p:attrNameLst>
                                          <p:attrName>style.visibility</p:attrName>
                                        </p:attrNameLst>
                                      </p:cBhvr>
                                      <p:to>
                                        <p:strVal val="visible"/>
                                      </p:to>
                                    </p:set>
                                  </p:childTnLst>
                                </p:cTn>
                              </p:par>
                              <p:par>
                                <p:cTn id="199" presetID="1" presetClass="entr" presetSubtype="0" fill="hold" nodeType="withEffect">
                                  <p:stCondLst>
                                    <p:cond delay="0"/>
                                  </p:stCondLst>
                                  <p:childTnLst>
                                    <p:set>
                                      <p:cBhvr>
                                        <p:cTn id="200" dur="1" fill="hold">
                                          <p:stCondLst>
                                            <p:cond delay="0"/>
                                          </p:stCondLst>
                                        </p:cTn>
                                        <p:tgtEl>
                                          <p:spTgt spid="202"/>
                                        </p:tgtEl>
                                        <p:attrNameLst>
                                          <p:attrName>style.visibility</p:attrName>
                                        </p:attrNameLst>
                                      </p:cBhvr>
                                      <p:to>
                                        <p:strVal val="visible"/>
                                      </p:to>
                                    </p:set>
                                  </p:childTnLst>
                                </p:cTn>
                              </p:par>
                              <p:par>
                                <p:cTn id="201" presetID="1" presetClass="entr" presetSubtype="0" fill="hold" grpId="1" nodeType="withEffect">
                                  <p:stCondLst>
                                    <p:cond delay="0"/>
                                  </p:stCondLst>
                                  <p:childTnLst>
                                    <p:set>
                                      <p:cBhvr>
                                        <p:cTn id="202" dur="1" fill="hold">
                                          <p:stCondLst>
                                            <p:cond delay="0"/>
                                          </p:stCondLst>
                                        </p:cTn>
                                        <p:tgtEl>
                                          <p:spTgt spid="203"/>
                                        </p:tgtEl>
                                        <p:attrNameLst>
                                          <p:attrName>style.visibility</p:attrName>
                                        </p:attrNameLst>
                                      </p:cBhvr>
                                      <p:to>
                                        <p:strVal val="visible"/>
                                      </p:to>
                                    </p:set>
                                  </p:childTnLst>
                                </p:cTn>
                              </p:par>
                              <p:par>
                                <p:cTn id="203" presetID="1" presetClass="entr" presetSubtype="0" fill="hold" grpId="1" nodeType="withEffect">
                                  <p:stCondLst>
                                    <p:cond delay="0"/>
                                  </p:stCondLst>
                                  <p:childTnLst>
                                    <p:set>
                                      <p:cBhvr>
                                        <p:cTn id="204" dur="1" fill="hold">
                                          <p:stCondLst>
                                            <p:cond delay="0"/>
                                          </p:stCondLst>
                                        </p:cTn>
                                        <p:tgtEl>
                                          <p:spTgt spid="204"/>
                                        </p:tgtEl>
                                        <p:attrNameLst>
                                          <p:attrName>style.visibility</p:attrName>
                                        </p:attrNameLst>
                                      </p:cBhvr>
                                      <p:to>
                                        <p:strVal val="visible"/>
                                      </p:to>
                                    </p:set>
                                  </p:childTnLst>
                                </p:cTn>
                              </p:par>
                              <p:par>
                                <p:cTn id="205" presetID="1" presetClass="entr" presetSubtype="0" fill="hold" grpId="1" nodeType="withEffect">
                                  <p:stCondLst>
                                    <p:cond delay="0"/>
                                  </p:stCondLst>
                                  <p:childTnLst>
                                    <p:set>
                                      <p:cBhvr>
                                        <p:cTn id="206" dur="1" fill="hold">
                                          <p:stCondLst>
                                            <p:cond delay="0"/>
                                          </p:stCondLst>
                                        </p:cTn>
                                        <p:tgtEl>
                                          <p:spTgt spid="205"/>
                                        </p:tgtEl>
                                        <p:attrNameLst>
                                          <p:attrName>style.visibility</p:attrName>
                                        </p:attrNameLst>
                                      </p:cBhvr>
                                      <p:to>
                                        <p:strVal val="visible"/>
                                      </p:to>
                                    </p:set>
                                  </p:childTnLst>
                                </p:cTn>
                              </p:par>
                              <p:par>
                                <p:cTn id="207" presetID="1" presetClass="entr" presetSubtype="0" fill="hold" grpId="1" nodeType="withEffect">
                                  <p:stCondLst>
                                    <p:cond delay="0"/>
                                  </p:stCondLst>
                                  <p:childTnLst>
                                    <p:set>
                                      <p:cBhvr>
                                        <p:cTn id="208" dur="1" fill="hold">
                                          <p:stCondLst>
                                            <p:cond delay="0"/>
                                          </p:stCondLst>
                                        </p:cTn>
                                        <p:tgtEl>
                                          <p:spTgt spid="206"/>
                                        </p:tgtEl>
                                        <p:attrNameLst>
                                          <p:attrName>style.visibility</p:attrName>
                                        </p:attrNameLst>
                                      </p:cBhvr>
                                      <p:to>
                                        <p:strVal val="visible"/>
                                      </p:to>
                                    </p:set>
                                  </p:childTnLst>
                                </p:cTn>
                              </p:par>
                              <p:par>
                                <p:cTn id="209" presetID="1" presetClass="entr" presetSubtype="0" fill="hold" grpId="1" nodeType="withEffect">
                                  <p:stCondLst>
                                    <p:cond delay="0"/>
                                  </p:stCondLst>
                                  <p:childTnLst>
                                    <p:set>
                                      <p:cBhvr>
                                        <p:cTn id="210" dur="1" fill="hold">
                                          <p:stCondLst>
                                            <p:cond delay="0"/>
                                          </p:stCondLst>
                                        </p:cTn>
                                        <p:tgtEl>
                                          <p:spTgt spid="207"/>
                                        </p:tgtEl>
                                        <p:attrNameLst>
                                          <p:attrName>style.visibility</p:attrName>
                                        </p:attrNameLst>
                                      </p:cBhvr>
                                      <p:to>
                                        <p:strVal val="visible"/>
                                      </p:to>
                                    </p:set>
                                  </p:childTnLst>
                                </p:cTn>
                              </p:par>
                              <p:par>
                                <p:cTn id="211" presetID="1" presetClass="entr" presetSubtype="0" fill="hold" grpId="1" nodeType="withEffect">
                                  <p:stCondLst>
                                    <p:cond delay="0"/>
                                  </p:stCondLst>
                                  <p:childTnLst>
                                    <p:set>
                                      <p:cBhvr>
                                        <p:cTn id="212" dur="1" fill="hold">
                                          <p:stCondLst>
                                            <p:cond delay="0"/>
                                          </p:stCondLst>
                                        </p:cTn>
                                        <p:tgtEl>
                                          <p:spTgt spid="208"/>
                                        </p:tgtEl>
                                        <p:attrNameLst>
                                          <p:attrName>style.visibility</p:attrName>
                                        </p:attrNameLst>
                                      </p:cBhvr>
                                      <p:to>
                                        <p:strVal val="visible"/>
                                      </p:to>
                                    </p:set>
                                  </p:childTnLst>
                                </p:cTn>
                              </p:par>
                              <p:par>
                                <p:cTn id="213" presetID="1" presetClass="entr" presetSubtype="0" fill="hold" grpId="1" nodeType="withEffect">
                                  <p:stCondLst>
                                    <p:cond delay="0"/>
                                  </p:stCondLst>
                                  <p:childTnLst>
                                    <p:set>
                                      <p:cBhvr>
                                        <p:cTn id="214" dur="1" fill="hold">
                                          <p:stCondLst>
                                            <p:cond delay="0"/>
                                          </p:stCondLst>
                                        </p:cTn>
                                        <p:tgtEl>
                                          <p:spTgt spid="209"/>
                                        </p:tgtEl>
                                        <p:attrNameLst>
                                          <p:attrName>style.visibility</p:attrName>
                                        </p:attrNameLst>
                                      </p:cBhvr>
                                      <p:to>
                                        <p:strVal val="visible"/>
                                      </p:to>
                                    </p:set>
                                  </p:childTnLst>
                                </p:cTn>
                              </p:par>
                              <p:par>
                                <p:cTn id="215" presetID="1" presetClass="entr" presetSubtype="0" fill="hold" grpId="1" nodeType="withEffect">
                                  <p:stCondLst>
                                    <p:cond delay="0"/>
                                  </p:stCondLst>
                                  <p:childTnLst>
                                    <p:set>
                                      <p:cBhvr>
                                        <p:cTn id="216" dur="1" fill="hold">
                                          <p:stCondLst>
                                            <p:cond delay="0"/>
                                          </p:stCondLst>
                                        </p:cTn>
                                        <p:tgtEl>
                                          <p:spTgt spid="210"/>
                                        </p:tgtEl>
                                        <p:attrNameLst>
                                          <p:attrName>style.visibility</p:attrName>
                                        </p:attrNameLst>
                                      </p:cBhvr>
                                      <p:to>
                                        <p:strVal val="visible"/>
                                      </p:to>
                                    </p:set>
                                  </p:childTnLst>
                                </p:cTn>
                              </p:par>
                              <p:par>
                                <p:cTn id="217" presetID="1" presetClass="entr" presetSubtype="0" fill="hold" grpId="2" nodeType="withEffect">
                                  <p:stCondLst>
                                    <p:cond delay="0"/>
                                  </p:stCondLst>
                                  <p:childTnLst>
                                    <p:set>
                                      <p:cBhvr>
                                        <p:cTn id="218" dur="1" fill="hold">
                                          <p:stCondLst>
                                            <p:cond delay="0"/>
                                          </p:stCondLst>
                                        </p:cTn>
                                        <p:tgtEl>
                                          <p:spTgt spid="211"/>
                                        </p:tgtEl>
                                        <p:attrNameLst>
                                          <p:attrName>style.visibility</p:attrName>
                                        </p:attrNameLst>
                                      </p:cBhvr>
                                      <p:to>
                                        <p:strVal val="visible"/>
                                      </p:to>
                                    </p:set>
                                  </p:childTnLst>
                                </p:cTn>
                              </p:par>
                              <p:par>
                                <p:cTn id="219" presetID="1" presetClass="entr" presetSubtype="0" fill="hold" grpId="2" nodeType="withEffect">
                                  <p:stCondLst>
                                    <p:cond delay="0"/>
                                  </p:stCondLst>
                                  <p:childTnLst>
                                    <p:set>
                                      <p:cBhvr>
                                        <p:cTn id="220" dur="1" fill="hold">
                                          <p:stCondLst>
                                            <p:cond delay="0"/>
                                          </p:stCondLst>
                                        </p:cTn>
                                        <p:tgtEl>
                                          <p:spTgt spid="212"/>
                                        </p:tgtEl>
                                        <p:attrNameLst>
                                          <p:attrName>style.visibility</p:attrName>
                                        </p:attrNameLst>
                                      </p:cBhvr>
                                      <p:to>
                                        <p:strVal val="visible"/>
                                      </p:to>
                                    </p:set>
                                  </p:childTnLst>
                                </p:cTn>
                              </p:par>
                              <p:par>
                                <p:cTn id="221" presetID="1" presetClass="entr" presetSubtype="0" fill="hold" grpId="2" nodeType="withEffect">
                                  <p:stCondLst>
                                    <p:cond delay="0"/>
                                  </p:stCondLst>
                                  <p:childTnLst>
                                    <p:set>
                                      <p:cBhvr>
                                        <p:cTn id="222" dur="1" fill="hold">
                                          <p:stCondLst>
                                            <p:cond delay="0"/>
                                          </p:stCondLst>
                                        </p:cTn>
                                        <p:tgtEl>
                                          <p:spTgt spid="213"/>
                                        </p:tgtEl>
                                        <p:attrNameLst>
                                          <p:attrName>style.visibility</p:attrName>
                                        </p:attrNameLst>
                                      </p:cBhvr>
                                      <p:to>
                                        <p:strVal val="visible"/>
                                      </p:to>
                                    </p:set>
                                  </p:childTnLst>
                                </p:cTn>
                              </p:par>
                              <p:par>
                                <p:cTn id="223" presetID="1" presetClass="entr" presetSubtype="0" fill="hold" grpId="2" nodeType="withEffect">
                                  <p:stCondLst>
                                    <p:cond delay="0"/>
                                  </p:stCondLst>
                                  <p:childTnLst>
                                    <p:set>
                                      <p:cBhvr>
                                        <p:cTn id="224" dur="1" fill="hold">
                                          <p:stCondLst>
                                            <p:cond delay="0"/>
                                          </p:stCondLst>
                                        </p:cTn>
                                        <p:tgtEl>
                                          <p:spTgt spid="214"/>
                                        </p:tgtEl>
                                        <p:attrNameLst>
                                          <p:attrName>style.visibility</p:attrName>
                                        </p:attrNameLst>
                                      </p:cBhvr>
                                      <p:to>
                                        <p:strVal val="visible"/>
                                      </p:to>
                                    </p:set>
                                  </p:childTnLst>
                                </p:cTn>
                              </p:par>
                              <p:par>
                                <p:cTn id="225" presetID="1" presetClass="entr" presetSubtype="0" fill="hold" grpId="2" nodeType="withEffect">
                                  <p:stCondLst>
                                    <p:cond delay="0"/>
                                  </p:stCondLst>
                                  <p:childTnLst>
                                    <p:set>
                                      <p:cBhvr>
                                        <p:cTn id="226" dur="1" fill="hold">
                                          <p:stCondLst>
                                            <p:cond delay="0"/>
                                          </p:stCondLst>
                                        </p:cTn>
                                        <p:tgtEl>
                                          <p:spTgt spid="215"/>
                                        </p:tgtEl>
                                        <p:attrNameLst>
                                          <p:attrName>style.visibility</p:attrName>
                                        </p:attrNameLst>
                                      </p:cBhvr>
                                      <p:to>
                                        <p:strVal val="visible"/>
                                      </p:to>
                                    </p:set>
                                  </p:childTnLst>
                                </p:cTn>
                              </p:par>
                              <p:par>
                                <p:cTn id="227" presetID="1" presetClass="entr" presetSubtype="0" fill="hold" grpId="2" nodeType="withEffect">
                                  <p:stCondLst>
                                    <p:cond delay="0"/>
                                  </p:stCondLst>
                                  <p:childTnLst>
                                    <p:set>
                                      <p:cBhvr>
                                        <p:cTn id="228" dur="1" fill="hold">
                                          <p:stCondLst>
                                            <p:cond delay="0"/>
                                          </p:stCondLst>
                                        </p:cTn>
                                        <p:tgtEl>
                                          <p:spTgt spid="216"/>
                                        </p:tgtEl>
                                        <p:attrNameLst>
                                          <p:attrName>style.visibility</p:attrName>
                                        </p:attrNameLst>
                                      </p:cBhvr>
                                      <p:to>
                                        <p:strVal val="visible"/>
                                      </p:to>
                                    </p:set>
                                  </p:childTnLst>
                                </p:cTn>
                              </p:par>
                              <p:par>
                                <p:cTn id="229" presetID="1" presetClass="entr" presetSubtype="0" fill="hold" grpId="0" nodeType="withEffect">
                                  <p:stCondLst>
                                    <p:cond delay="0"/>
                                  </p:stCondLst>
                                  <p:childTnLst>
                                    <p:set>
                                      <p:cBhvr>
                                        <p:cTn id="230" dur="1" fill="hold">
                                          <p:stCondLst>
                                            <p:cond delay="0"/>
                                          </p:stCondLst>
                                        </p:cTn>
                                        <p:tgtEl>
                                          <p:spTgt spid="222"/>
                                        </p:tgtEl>
                                        <p:attrNameLst>
                                          <p:attrName>style.visibility</p:attrName>
                                        </p:attrNameLst>
                                      </p:cBhvr>
                                      <p:to>
                                        <p:strVal val="visible"/>
                                      </p:to>
                                    </p:set>
                                  </p:childTnLst>
                                </p:cTn>
                              </p:par>
                              <p:par>
                                <p:cTn id="231" presetID="1" presetClass="entr" presetSubtype="0" fill="hold" grpId="0" nodeType="withEffect">
                                  <p:stCondLst>
                                    <p:cond delay="0"/>
                                  </p:stCondLst>
                                  <p:childTnLst>
                                    <p:set>
                                      <p:cBhvr>
                                        <p:cTn id="232" dur="1" fill="hold">
                                          <p:stCondLst>
                                            <p:cond delay="0"/>
                                          </p:stCondLst>
                                        </p:cTn>
                                        <p:tgtEl>
                                          <p:spTgt spid="220"/>
                                        </p:tgtEl>
                                        <p:attrNameLst>
                                          <p:attrName>style.visibility</p:attrName>
                                        </p:attrNameLst>
                                      </p:cBhvr>
                                      <p:to>
                                        <p:strVal val="visible"/>
                                      </p:to>
                                    </p:set>
                                  </p:childTnLst>
                                </p:cTn>
                              </p:par>
                              <p:par>
                                <p:cTn id="233" presetID="1" presetClass="entr" presetSubtype="0" fill="hold" grpId="2" nodeType="withEffect">
                                  <p:stCondLst>
                                    <p:cond delay="0"/>
                                  </p:stCondLst>
                                  <p:childTnLst>
                                    <p:set>
                                      <p:cBhvr>
                                        <p:cTn id="234" dur="1" fill="hold">
                                          <p:stCondLst>
                                            <p:cond delay="0"/>
                                          </p:stCondLst>
                                        </p:cTn>
                                        <p:tgtEl>
                                          <p:spTgt spid="221"/>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grpId="2" nodeType="clickEffect">
                                  <p:stCondLst>
                                    <p:cond delay="0"/>
                                  </p:stCondLst>
                                  <p:childTnLst>
                                    <p:set>
                                      <p:cBhvr>
                                        <p:cTn id="238" dur="1" fill="hold">
                                          <p:stCondLst>
                                            <p:cond delay="0"/>
                                          </p:stCondLst>
                                        </p:cTn>
                                        <p:tgtEl>
                                          <p:spTgt spid="219"/>
                                        </p:tgtEl>
                                        <p:attrNameLst>
                                          <p:attrName>style.visibility</p:attrName>
                                        </p:attrNameLst>
                                      </p:cBhvr>
                                      <p:to>
                                        <p:strVal val="visible"/>
                                      </p:to>
                                    </p:set>
                                  </p:childTnLst>
                                </p:cTn>
                              </p:par>
                              <p:par>
                                <p:cTn id="239" presetID="1" presetClass="entr" presetSubtype="0" fill="hold" grpId="0" nodeType="withEffect">
                                  <p:stCondLst>
                                    <p:cond delay="0"/>
                                  </p:stCondLst>
                                  <p:childTnLst>
                                    <p:set>
                                      <p:cBhvr>
                                        <p:cTn id="240" dur="1" fill="hold">
                                          <p:stCondLst>
                                            <p:cond delay="0"/>
                                          </p:stCondLst>
                                        </p:cTn>
                                        <p:tgtEl>
                                          <p:spTgt spid="218"/>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2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0"/>
      <p:bldP spid="98" grpId="1"/>
      <p:bldP spid="99" grpId="0"/>
      <p:bldP spid="99" grpId="1"/>
      <p:bldP spid="100" grpId="0"/>
      <p:bldP spid="101" grpId="0"/>
      <p:bldP spid="102" grpId="0"/>
      <p:bldP spid="103" grpId="0"/>
      <p:bldP spid="104" grpId="0"/>
      <p:bldP spid="105" grpId="0"/>
      <p:bldP spid="106" grpId="0"/>
      <p:bldP spid="107" grpId="0"/>
      <p:bldP spid="108" grpId="0"/>
      <p:bldP spid="109" grpId="0" animBg="1"/>
      <p:bldP spid="109" grpId="1" bldLvl="0" animBg="1"/>
      <p:bldP spid="110" grpId="0" animBg="1"/>
      <p:bldP spid="110" grpId="1" bldLvl="0" animBg="1"/>
      <p:bldP spid="111" grpId="0" animBg="1"/>
      <p:bldP spid="111" grpId="1" bldLvl="0" animBg="1"/>
      <p:bldP spid="112" grpId="0" animBg="1"/>
      <p:bldP spid="112" grpId="1" bldLvl="0" animBg="1"/>
      <p:bldP spid="113" grpId="0" animBg="1"/>
      <p:bldP spid="113" grpId="1" bldLvl="0" animBg="1"/>
      <p:bldP spid="114" grpId="0" animBg="1"/>
      <p:bldP spid="114" grpId="1" bldLvl="0" animBg="1"/>
      <p:bldP spid="115" grpId="0" animBg="1"/>
      <p:bldP spid="115" grpId="1" bldLvl="0" animBg="1"/>
      <p:bldP spid="116" grpId="0" animBg="1"/>
      <p:bldP spid="116" grpId="1" bldLvl="0" animBg="1"/>
      <p:bldP spid="128" grpId="0"/>
      <p:bldP spid="128" grpId="1"/>
      <p:bldP spid="129" grpId="0"/>
      <p:bldP spid="129" grpId="1"/>
      <p:bldP spid="130" grpId="0"/>
      <p:bldP spid="130" grpId="1"/>
      <p:bldP spid="131" grpId="0"/>
      <p:bldP spid="131" grpId="1"/>
      <p:bldP spid="132" grpId="0"/>
      <p:bldP spid="132" grpId="1"/>
      <p:bldP spid="133" grpId="0"/>
      <p:bldP spid="133" grpId="1"/>
      <p:bldP spid="134" grpId="0"/>
      <p:bldP spid="134" grpId="1"/>
      <p:bldP spid="135" grpId="0"/>
      <p:bldP spid="135" grpId="1"/>
      <p:bldP spid="136" grpId="0"/>
      <p:bldP spid="136" grpId="1"/>
      <p:bldP spid="136" grpId="2"/>
      <p:bldP spid="137" grpId="0"/>
      <p:bldP spid="137" grpId="1"/>
      <p:bldP spid="137" grpId="2"/>
      <p:bldP spid="138" grpId="0"/>
      <p:bldP spid="138" grpId="1"/>
      <p:bldP spid="138" grpId="2"/>
      <p:bldP spid="139" grpId="0"/>
      <p:bldP spid="139" grpId="1"/>
      <p:bldP spid="139" grpId="2"/>
      <p:bldP spid="140" grpId="0"/>
      <p:bldP spid="140" grpId="1"/>
      <p:bldP spid="140" grpId="2"/>
      <p:bldP spid="141" grpId="0"/>
      <p:bldP spid="141" grpId="1"/>
      <p:bldP spid="141" grpId="2"/>
      <p:bldP spid="142" grpId="0"/>
      <p:bldP spid="142" grpId="1"/>
      <p:bldP spid="142" grpId="2"/>
      <p:bldP spid="144" grpId="0" animBg="1"/>
      <p:bldP spid="144" grpId="1" bldLvl="0" animBg="1"/>
      <p:bldP spid="145" grpId="0"/>
      <p:bldP spid="145" grpId="1"/>
      <p:bldP spid="145" grpId="2"/>
      <p:bldP spid="146" grpId="0" bldLvl="0" animBg="1"/>
      <p:bldP spid="146" grpId="1" bldLvl="0" animBg="1"/>
      <p:bldP spid="147" grpId="0" bldLvl="0" animBg="1"/>
      <p:bldP spid="147" grpId="1" bldLvl="0" animBg="1"/>
      <p:bldP spid="148" grpId="0" bldLvl="0" animBg="1"/>
      <p:bldP spid="148" grpId="1" bldLvl="0" animBg="1"/>
      <p:bldP spid="149" grpId="0" bldLvl="0" animBg="1"/>
      <p:bldP spid="149" grpId="1" bldLvl="0" animBg="1"/>
      <p:bldP spid="150" grpId="0" bldLvl="0" animBg="1"/>
      <p:bldP spid="150" grpId="1" bldLvl="0" animBg="1"/>
      <p:bldP spid="151" grpId="0" bldLvl="0" animBg="1"/>
      <p:bldP spid="151" grpId="1" bldLvl="0" animBg="1"/>
      <p:bldP spid="152" grpId="0" bldLvl="0" animBg="1"/>
      <p:bldP spid="152" grpId="1" bldLvl="0" animBg="1"/>
      <p:bldP spid="153" grpId="0" bldLvl="0" animBg="1"/>
      <p:bldP spid="153" grpId="1" bldLvl="0" animBg="1"/>
      <p:bldP spid="165" grpId="0"/>
      <p:bldP spid="165" grpId="1"/>
      <p:bldP spid="166" grpId="0"/>
      <p:bldP spid="166" grpId="1"/>
      <p:bldP spid="167" grpId="0"/>
      <p:bldP spid="167" grpId="1"/>
      <p:bldP spid="168" grpId="0"/>
      <p:bldP spid="168" grpId="1"/>
      <p:bldP spid="169" grpId="0"/>
      <p:bldP spid="169" grpId="1"/>
      <p:bldP spid="170" grpId="0"/>
      <p:bldP spid="170" grpId="1"/>
      <p:bldP spid="171" grpId="0"/>
      <p:bldP spid="171" grpId="1"/>
      <p:bldP spid="172" grpId="0"/>
      <p:bldP spid="172" grpId="1"/>
      <p:bldP spid="173" grpId="0"/>
      <p:bldP spid="173" grpId="1"/>
      <p:bldP spid="173" grpId="2"/>
      <p:bldP spid="174" grpId="0"/>
      <p:bldP spid="174" grpId="1"/>
      <p:bldP spid="174" grpId="2"/>
      <p:bldP spid="175" grpId="0"/>
      <p:bldP spid="175" grpId="1"/>
      <p:bldP spid="175" grpId="2"/>
      <p:bldP spid="176" grpId="0"/>
      <p:bldP spid="176" grpId="1"/>
      <p:bldP spid="176" grpId="2"/>
      <p:bldP spid="177" grpId="0"/>
      <p:bldP spid="177" grpId="1"/>
      <p:bldP spid="177" grpId="2"/>
      <p:bldP spid="178" grpId="0"/>
      <p:bldP spid="178" grpId="1"/>
      <p:bldP spid="178" grpId="2"/>
      <p:bldP spid="180" grpId="0" bldLvl="0" animBg="1"/>
      <p:bldP spid="181" grpId="0"/>
      <p:bldP spid="181" grpId="1"/>
      <p:bldP spid="181" grpId="2"/>
      <p:bldP spid="182" grpId="0" bldLvl="0" animBg="1"/>
      <p:bldP spid="183" grpId="0"/>
      <p:bldP spid="183" grpId="1"/>
      <p:bldP spid="183" grpId="2"/>
      <p:bldP spid="184" grpId="0" bldLvl="0" animBg="1"/>
      <p:bldP spid="184" grpId="1" bldLvl="0" animBg="1"/>
      <p:bldP spid="185" grpId="0" bldLvl="0" animBg="1"/>
      <p:bldP spid="185" grpId="1" bldLvl="0" animBg="1"/>
      <p:bldP spid="186" grpId="0" bldLvl="0" animBg="1"/>
      <p:bldP spid="186" grpId="1" bldLvl="0" animBg="1"/>
      <p:bldP spid="187" grpId="0" bldLvl="0" animBg="1"/>
      <p:bldP spid="187" grpId="1" bldLvl="0" animBg="1"/>
      <p:bldP spid="188" grpId="0" bldLvl="0" animBg="1"/>
      <p:bldP spid="188" grpId="1" bldLvl="0" animBg="1"/>
      <p:bldP spid="189" grpId="0" bldLvl="0" animBg="1"/>
      <p:bldP spid="189" grpId="1" bldLvl="0" animBg="1"/>
      <p:bldP spid="190" grpId="0" bldLvl="0" animBg="1"/>
      <p:bldP spid="190" grpId="1" bldLvl="0" animBg="1"/>
      <p:bldP spid="191" grpId="0" bldLvl="0" animBg="1"/>
      <p:bldP spid="191" grpId="1" bldLvl="0" animBg="1"/>
      <p:bldP spid="203" grpId="0"/>
      <p:bldP spid="203" grpId="1"/>
      <p:bldP spid="204" grpId="0"/>
      <p:bldP spid="204" grpId="1"/>
      <p:bldP spid="205" grpId="0"/>
      <p:bldP spid="205" grpId="1"/>
      <p:bldP spid="206" grpId="0"/>
      <p:bldP spid="206" grpId="1"/>
      <p:bldP spid="207" grpId="0"/>
      <p:bldP spid="207" grpId="1"/>
      <p:bldP spid="208" grpId="0"/>
      <p:bldP spid="208" grpId="1"/>
      <p:bldP spid="209" grpId="0"/>
      <p:bldP spid="209" grpId="1"/>
      <p:bldP spid="210" grpId="0"/>
      <p:bldP spid="210" grpId="1"/>
      <p:bldP spid="211" grpId="0"/>
      <p:bldP spid="211" grpId="1"/>
      <p:bldP spid="211" grpId="2"/>
      <p:bldP spid="212" grpId="0"/>
      <p:bldP spid="212" grpId="1"/>
      <p:bldP spid="212" grpId="2"/>
      <p:bldP spid="213" grpId="0"/>
      <p:bldP spid="213" grpId="1"/>
      <p:bldP spid="213" grpId="2"/>
      <p:bldP spid="214" grpId="0"/>
      <p:bldP spid="214" grpId="1"/>
      <p:bldP spid="214" grpId="2"/>
      <p:bldP spid="215" grpId="0"/>
      <p:bldP spid="215" grpId="1"/>
      <p:bldP spid="215" grpId="2"/>
      <p:bldP spid="216" grpId="0"/>
      <p:bldP spid="216" grpId="1"/>
      <p:bldP spid="216" grpId="2"/>
      <p:bldP spid="218" grpId="0" bldLvl="0" animBg="1"/>
      <p:bldP spid="219" grpId="0"/>
      <p:bldP spid="219" grpId="1"/>
      <p:bldP spid="219" grpId="2"/>
      <p:bldP spid="220" grpId="0" bldLvl="0" animBg="1"/>
      <p:bldP spid="221" grpId="0"/>
      <p:bldP spid="221" grpId="1"/>
      <p:bldP spid="221" grpId="2"/>
      <p:bldP spid="222"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距离向量路由</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normAutofit fontScale="92500" lnSpcReduction="10000"/>
              </a:bodyPr>
              <a:lstStyle/>
              <a:p>
                <a:pPr>
                  <a:lnSpc>
                    <a:spcPct val="120000"/>
                  </a:lnSpc>
                </a:pPr>
                <a:r>
                  <a:rPr lang="en-US" altLang="zh-CN" sz="3000" dirty="0">
                    <a:latin typeface="Times New Roman" panose="02020603050405020304" pitchFamily="18" charset="0"/>
                    <a:ea typeface="等线" panose="02010600030101010101" pitchFamily="2" charset="-122"/>
                    <a:cs typeface="Times New Roman" panose="02020603050405020304" pitchFamily="18" charset="0"/>
                  </a:rPr>
                  <a:t>Bellman-Ford </a:t>
                </a:r>
                <a:r>
                  <a:rPr lang="zh-CN" altLang="en-US" sz="3000" dirty="0">
                    <a:latin typeface="Times New Roman" panose="02020603050405020304" pitchFamily="18" charset="0"/>
                    <a:ea typeface="等线" panose="02010600030101010101" pitchFamily="2" charset="-122"/>
                    <a:cs typeface="Times New Roman" panose="02020603050405020304" pitchFamily="18" charset="0"/>
                  </a:rPr>
                  <a:t>方程</a:t>
                </a:r>
                <a:endParaRPr lang="en-US" altLang="zh-CN" sz="3000" dirty="0">
                  <a:latin typeface="Times New Roman" panose="02020603050405020304" pitchFamily="18" charset="0"/>
                  <a:ea typeface="等线" panose="02010600030101010101" pitchFamily="2" charset="-122"/>
                  <a:cs typeface="Times New Roman" panose="02020603050405020304" pitchFamily="18" charset="0"/>
                </a:endParaRPr>
              </a:p>
              <a:p>
                <a:pPr lvl="1">
                  <a:lnSpc>
                    <a:spcPct val="120000"/>
                  </a:lnSpc>
                </a:pPr>
                <a:r>
                  <a:rPr lang="zh-CN" altLang="en-US" sz="2200" dirty="0">
                    <a:cs typeface="Times New Roman" panose="02020603050405020304" pitchFamily="18" charset="0"/>
                  </a:rPr>
                  <a:t>假设</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𝐷</m:t>
                    </m:r>
                    <m:r>
                      <a:rPr lang="en-US" altLang="zh-CN" sz="2200" i="1" baseline="-25000" dirty="0" err="1">
                        <a:latin typeface="Cambria Math" panose="02040503050406030204" pitchFamily="18" charset="0"/>
                        <a:cs typeface="Times New Roman" panose="02020603050405020304" pitchFamily="18" charset="0"/>
                      </a:rPr>
                      <m:t>𝑥</m:t>
                    </m:r>
                    <m:r>
                      <a:rPr lang="en-US" altLang="zh-CN" sz="2200" i="1" dirty="0">
                        <a:latin typeface="Cambria Math" panose="02040503050406030204" pitchFamily="18" charset="0"/>
                        <a:cs typeface="Times New Roman" panose="02020603050405020304" pitchFamily="18" charset="0"/>
                      </a:rPr>
                      <m:t>(</m:t>
                    </m:r>
                    <m:r>
                      <a:rPr lang="en-US" altLang="zh-CN" sz="2200" i="1" dirty="0">
                        <a:latin typeface="Cambria Math" panose="02040503050406030204" pitchFamily="18" charset="0"/>
                        <a:cs typeface="Times New Roman" panose="02020603050405020304" pitchFamily="18" charset="0"/>
                      </a:rPr>
                      <m:t>𝑦</m:t>
                    </m:r>
                    <m:r>
                      <a:rPr lang="en-US" altLang="zh-CN" sz="2200" i="1" dirty="0">
                        <a:latin typeface="Cambria Math" panose="02040503050406030204" pitchFamily="18" charset="0"/>
                        <a:cs typeface="Times New Roman" panose="02020603050405020304" pitchFamily="18" charset="0"/>
                      </a:rPr>
                      <m:t>) </m:t>
                    </m:r>
                  </m:oMath>
                </a14:m>
                <a:r>
                  <a:rPr lang="zh-CN" altLang="en-US" sz="2200" dirty="0">
                    <a:cs typeface="Times New Roman" panose="02020603050405020304" pitchFamily="18" charset="0"/>
                  </a:rPr>
                  <a:t>是</a:t>
                </a:r>
                <a:r>
                  <a:rPr lang="en-US" altLang="zh-CN" sz="2200" dirty="0">
                    <a:cs typeface="Times New Roman" panose="02020603050405020304" pitchFamily="18" charset="0"/>
                  </a:rPr>
                  <a:t> </a:t>
                </a:r>
                <a:r>
                  <a:rPr lang="zh-CN" altLang="en-US" sz="2200" dirty="0">
                    <a:cs typeface="Times New Roman" panose="02020603050405020304" pitchFamily="18" charset="0"/>
                  </a:rPr>
                  <a:t>从</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𝑥</m:t>
                    </m:r>
                  </m:oMath>
                </a14:m>
                <a:r>
                  <a:rPr lang="zh-CN" altLang="en-US" sz="2200" dirty="0">
                    <a:cs typeface="Times New Roman" panose="02020603050405020304" pitchFamily="18" charset="0"/>
                  </a:rPr>
                  <a:t>到</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𝑦</m:t>
                    </m:r>
                  </m:oMath>
                </a14:m>
                <a:r>
                  <a:rPr lang="zh-CN" altLang="en-US" sz="2200" dirty="0">
                    <a:cs typeface="Times New Roman" panose="02020603050405020304" pitchFamily="18" charset="0"/>
                  </a:rPr>
                  <a:t>最小代价路径的代价值</a:t>
                </a:r>
                <a:endParaRPr lang="en-US" altLang="zh-CN" sz="2200" dirty="0">
                  <a:cs typeface="Times New Roman" panose="02020603050405020304" pitchFamily="18" charset="0"/>
                </a:endParaRPr>
              </a:p>
              <a:p>
                <a:pPr lvl="1">
                  <a:lnSpc>
                    <a:spcPct val="120000"/>
                  </a:lnSpc>
                </a:pPr>
                <a:r>
                  <a:rPr lang="zh-CN" altLang="en-US" sz="2200" dirty="0">
                    <a:cs typeface="Times New Roman" panose="02020603050405020304" pitchFamily="18" charset="0"/>
                  </a:rPr>
                  <a:t>则：</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𝐷</m:t>
                    </m:r>
                    <m:r>
                      <a:rPr lang="en-US" altLang="zh-CN" sz="2200" i="1" baseline="-25000" dirty="0" err="1">
                        <a:latin typeface="Cambria Math" panose="02040503050406030204" pitchFamily="18" charset="0"/>
                        <a:cs typeface="Times New Roman" panose="02020603050405020304" pitchFamily="18" charset="0"/>
                      </a:rPr>
                      <m:t>𝑥</m:t>
                    </m:r>
                    <m:r>
                      <a:rPr lang="en-US" altLang="zh-CN" sz="2200" i="1" dirty="0">
                        <a:latin typeface="Cambria Math" panose="02040503050406030204" pitchFamily="18" charset="0"/>
                        <a:cs typeface="Times New Roman" panose="02020603050405020304" pitchFamily="18" charset="0"/>
                      </a:rPr>
                      <m:t>(</m:t>
                    </m:r>
                    <m:r>
                      <a:rPr lang="en-US" altLang="zh-CN" sz="2200" i="1" dirty="0">
                        <a:latin typeface="Cambria Math" panose="02040503050406030204" pitchFamily="18" charset="0"/>
                        <a:cs typeface="Times New Roman" panose="02020603050405020304" pitchFamily="18" charset="0"/>
                      </a:rPr>
                      <m:t>𝑦</m:t>
                    </m:r>
                    <m:r>
                      <a:rPr lang="en-US" altLang="zh-CN" sz="2200" i="1" dirty="0">
                        <a:latin typeface="Cambria Math" panose="02040503050406030204" pitchFamily="18" charset="0"/>
                        <a:cs typeface="Times New Roman" panose="02020603050405020304" pitchFamily="18" charset="0"/>
                      </a:rPr>
                      <m:t>) = </m:t>
                    </m:r>
                    <m:r>
                      <m:rPr>
                        <m:sty m:val="p"/>
                      </m:rPr>
                      <a:rPr lang="en-US" altLang="zh-CN" sz="2200" i="1" dirty="0">
                        <a:latin typeface="Cambria Math" panose="02040503050406030204" pitchFamily="18" charset="0"/>
                        <a:cs typeface="Times New Roman" panose="02020603050405020304" pitchFamily="18" charset="0"/>
                      </a:rPr>
                      <m:t>min</m:t>
                    </m:r>
                    <m:r>
                      <a:rPr lang="en-US" altLang="zh-CN" sz="2200" i="1" dirty="0">
                        <a:latin typeface="Cambria Math" panose="02040503050406030204" pitchFamily="18" charset="0"/>
                        <a:cs typeface="Times New Roman" panose="02020603050405020304" pitchFamily="18" charset="0"/>
                      </a:rPr>
                      <m:t>⁡{</m:t>
                    </m:r>
                    <m:r>
                      <a:rPr lang="en-US" altLang="zh-CN" sz="2200" i="1" dirty="0">
                        <a:latin typeface="Cambria Math" panose="02040503050406030204" pitchFamily="18" charset="0"/>
                        <a:cs typeface="Times New Roman" panose="02020603050405020304" pitchFamily="18" charset="0"/>
                      </a:rPr>
                      <m:t>𝑐</m:t>
                    </m:r>
                    <m:r>
                      <a:rPr lang="en-US" altLang="zh-CN" sz="2200" i="1" dirty="0">
                        <a:latin typeface="Cambria Math" panose="02040503050406030204" pitchFamily="18" charset="0"/>
                        <a:cs typeface="Times New Roman" panose="02020603050405020304" pitchFamily="18" charset="0"/>
                      </a:rPr>
                      <m:t>(</m:t>
                    </m:r>
                    <m:r>
                      <a:rPr lang="en-US" altLang="zh-CN" sz="2200" i="1" dirty="0" err="1">
                        <a:latin typeface="Cambria Math" panose="02040503050406030204" pitchFamily="18" charset="0"/>
                        <a:cs typeface="Times New Roman" panose="02020603050405020304" pitchFamily="18" charset="0"/>
                      </a:rPr>
                      <m:t>𝑥</m:t>
                    </m:r>
                    <m:r>
                      <a:rPr lang="en-US" altLang="zh-CN" sz="2200" i="1" dirty="0" err="1">
                        <a:latin typeface="Cambria Math" panose="02040503050406030204" pitchFamily="18" charset="0"/>
                        <a:cs typeface="Times New Roman" panose="02020603050405020304" pitchFamily="18" charset="0"/>
                      </a:rPr>
                      <m:t>,</m:t>
                    </m:r>
                    <m:r>
                      <a:rPr lang="en-US" altLang="zh-CN" sz="2200" i="1" dirty="0" err="1">
                        <a:latin typeface="Cambria Math" panose="02040503050406030204" pitchFamily="18" charset="0"/>
                        <a:cs typeface="Times New Roman" panose="02020603050405020304" pitchFamily="18" charset="0"/>
                      </a:rPr>
                      <m:t>𝑚</m:t>
                    </m:r>
                    <m:r>
                      <a:rPr lang="en-US" altLang="zh-CN" sz="2200" i="1" dirty="0">
                        <a:latin typeface="Cambria Math" panose="02040503050406030204" pitchFamily="18" charset="0"/>
                        <a:cs typeface="Times New Roman" panose="02020603050405020304" pitchFamily="18" charset="0"/>
                      </a:rPr>
                      <m:t>) + </m:t>
                    </m:r>
                    <m:r>
                      <a:rPr lang="en-US" altLang="zh-CN" sz="2200" i="1" dirty="0" err="1">
                        <a:latin typeface="Cambria Math" panose="02040503050406030204" pitchFamily="18" charset="0"/>
                        <a:cs typeface="Times New Roman" panose="02020603050405020304" pitchFamily="18" charset="0"/>
                      </a:rPr>
                      <m:t>𝐷</m:t>
                    </m:r>
                    <m:r>
                      <a:rPr lang="en-US" altLang="zh-CN" sz="2200" i="1" baseline="-25000" dirty="0" err="1">
                        <a:latin typeface="Cambria Math" panose="02040503050406030204" pitchFamily="18" charset="0"/>
                        <a:cs typeface="Times New Roman" panose="02020603050405020304" pitchFamily="18" charset="0"/>
                      </a:rPr>
                      <m:t>𝑚</m:t>
                    </m:r>
                    <m:r>
                      <a:rPr lang="en-US" altLang="zh-CN" sz="2200" i="1" dirty="0">
                        <a:latin typeface="Cambria Math" panose="02040503050406030204" pitchFamily="18" charset="0"/>
                        <a:cs typeface="Times New Roman" panose="02020603050405020304" pitchFamily="18" charset="0"/>
                      </a:rPr>
                      <m:t>(</m:t>
                    </m:r>
                    <m:r>
                      <a:rPr lang="en-US" altLang="zh-CN" sz="2200" i="1" dirty="0">
                        <a:latin typeface="Cambria Math" panose="02040503050406030204" pitchFamily="18" charset="0"/>
                        <a:cs typeface="Times New Roman" panose="02020603050405020304" pitchFamily="18" charset="0"/>
                      </a:rPr>
                      <m:t>𝑦</m:t>
                    </m:r>
                    <m:r>
                      <a:rPr lang="en-US" altLang="zh-CN" sz="2200" i="1" dirty="0">
                        <a:latin typeface="Cambria Math" panose="02040503050406030204" pitchFamily="18" charset="0"/>
                        <a:cs typeface="Times New Roman" panose="02020603050405020304" pitchFamily="18" charset="0"/>
                      </a:rPr>
                      <m:t>) }</m:t>
                    </m:r>
                  </m:oMath>
                </a14:m>
                <a:endParaRPr lang="en-US" altLang="zh-CN" sz="2200" dirty="0">
                  <a:cs typeface="Times New Roman" panose="02020603050405020304" pitchFamily="18" charset="0"/>
                </a:endParaRPr>
              </a:p>
              <a:p>
                <a:pPr marL="914400" lvl="2" indent="0">
                  <a:lnSpc>
                    <a:spcPct val="120000"/>
                  </a:lnSpc>
                  <a:buNone/>
                </a:pPr>
                <a:r>
                  <a:rPr lang="zh-CN" altLang="en-US" sz="2200" dirty="0">
                    <a:cs typeface="Times New Roman" panose="02020603050405020304" pitchFamily="18" charset="0"/>
                  </a:rPr>
                  <a:t>其中</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𝑚</m:t>
                    </m:r>
                  </m:oMath>
                </a14:m>
                <a:r>
                  <a:rPr lang="zh-CN" altLang="en-US" sz="2200" dirty="0">
                    <a:cs typeface="Times New Roman" panose="02020603050405020304" pitchFamily="18" charset="0"/>
                  </a:rPr>
                  <a:t>为</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𝑥</m:t>
                    </m:r>
                  </m:oMath>
                </a14:m>
                <a:r>
                  <a:rPr lang="zh-CN" altLang="en-US" sz="2200" dirty="0">
                    <a:cs typeface="Times New Roman" panose="02020603050405020304" pitchFamily="18" charset="0"/>
                  </a:rPr>
                  <a:t>的邻居</a:t>
                </a:r>
                <a:r>
                  <a:rPr lang="en-US" altLang="zh-CN" sz="2200" dirty="0">
                    <a:cs typeface="Times New Roman" panose="02020603050405020304" pitchFamily="18" charset="0"/>
                  </a:rPr>
                  <a:t>, </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𝑐</m:t>
                    </m:r>
                    <m:r>
                      <a:rPr lang="en-US" altLang="zh-CN" sz="2200" i="1" dirty="0" smtClean="0">
                        <a:latin typeface="Cambria Math" panose="02040503050406030204" pitchFamily="18" charset="0"/>
                        <a:cs typeface="Times New Roman" panose="02020603050405020304" pitchFamily="18" charset="0"/>
                      </a:rPr>
                      <m:t>(</m:t>
                    </m:r>
                    <m:r>
                      <a:rPr lang="en-US" altLang="zh-CN" sz="2200" i="1" dirty="0" err="1">
                        <a:latin typeface="Cambria Math" panose="02040503050406030204" pitchFamily="18" charset="0"/>
                        <a:cs typeface="Times New Roman" panose="02020603050405020304" pitchFamily="18" charset="0"/>
                      </a:rPr>
                      <m:t>𝑥</m:t>
                    </m:r>
                    <m:r>
                      <a:rPr lang="en-US" altLang="zh-CN" sz="2200" i="1" dirty="0" err="1">
                        <a:latin typeface="Cambria Math" panose="02040503050406030204" pitchFamily="18" charset="0"/>
                        <a:cs typeface="Times New Roman" panose="02020603050405020304" pitchFamily="18" charset="0"/>
                      </a:rPr>
                      <m:t>,</m:t>
                    </m:r>
                    <m:r>
                      <a:rPr lang="en-US" altLang="zh-CN" sz="2200" i="1" dirty="0" err="1">
                        <a:latin typeface="Cambria Math" panose="02040503050406030204" pitchFamily="18" charset="0"/>
                        <a:cs typeface="Times New Roman" panose="02020603050405020304" pitchFamily="18" charset="0"/>
                      </a:rPr>
                      <m:t>𝑚</m:t>
                    </m:r>
                    <m:r>
                      <a:rPr lang="en-US" altLang="zh-CN" sz="2200" i="1" dirty="0">
                        <a:latin typeface="Cambria Math" panose="02040503050406030204" pitchFamily="18" charset="0"/>
                        <a:cs typeface="Times New Roman" panose="02020603050405020304" pitchFamily="18" charset="0"/>
                      </a:rPr>
                      <m:t>)</m:t>
                    </m:r>
                  </m:oMath>
                </a14:m>
                <a:r>
                  <a:rPr lang="zh-CN" altLang="en-US" sz="2200" dirty="0">
                    <a:cs typeface="Times New Roman" panose="02020603050405020304" pitchFamily="18" charset="0"/>
                  </a:rPr>
                  <a:t>为</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𝑚</m:t>
                    </m:r>
                  </m:oMath>
                </a14:m>
                <a:r>
                  <a:rPr lang="zh-CN" altLang="en-US" sz="2200" dirty="0">
                    <a:cs typeface="Times New Roman" panose="02020603050405020304" pitchFamily="18" charset="0"/>
                  </a:rPr>
                  <a:t>到</a:t>
                </a:r>
                <a14:m>
                  <m:oMath xmlns:m="http://schemas.openxmlformats.org/officeDocument/2006/math">
                    <m:r>
                      <a:rPr lang="en-US" altLang="zh-CN" sz="2200" b="0" i="1" dirty="0" smtClean="0">
                        <a:latin typeface="Cambria Math" panose="02040503050406030204" pitchFamily="18" charset="0"/>
                        <a:cs typeface="Times New Roman" panose="02020603050405020304" pitchFamily="18" charset="0"/>
                      </a:rPr>
                      <m:t>𝑥</m:t>
                    </m:r>
                  </m:oMath>
                </a14:m>
                <a:r>
                  <a:rPr lang="zh-CN" altLang="en-US" sz="2200" dirty="0">
                    <a:cs typeface="Times New Roman" panose="02020603050405020304" pitchFamily="18" charset="0"/>
                  </a:rPr>
                  <a:t>的距离</a:t>
                </a:r>
                <a:endParaRPr lang="en-US" altLang="zh-CN" sz="2200" dirty="0">
                  <a:cs typeface="Times New Roman" panose="02020603050405020304" pitchFamily="18" charset="0"/>
                </a:endParaRPr>
              </a:p>
              <a:p>
                <a:pPr lvl="1">
                  <a:lnSpc>
                    <a:spcPct val="120000"/>
                  </a:lnSpc>
                  <a:spcBef>
                    <a:spcPts val="1800"/>
                  </a:spcBef>
                </a:pPr>
                <a:r>
                  <a:rPr lang="zh-CN" altLang="en-US" sz="2200" dirty="0">
                    <a:cs typeface="Times New Roman" panose="02020603050405020304" pitchFamily="18" charset="0"/>
                  </a:rPr>
                  <a:t>示例：</a:t>
                </a:r>
                <a:endParaRPr lang="en-US" altLang="zh-CN" sz="2200" dirty="0">
                  <a:cs typeface="Times New Roman" panose="02020603050405020304" pitchFamily="18" charset="0"/>
                </a:endParaRPr>
              </a:p>
              <a:p>
                <a:pPr lvl="2">
                  <a:lnSpc>
                    <a:spcPct val="120000"/>
                  </a:lnSpc>
                </a:pPr>
                <a:r>
                  <a:rPr lang="zh-CN" altLang="en-US" sz="2200" dirty="0">
                    <a:cs typeface="Times New Roman" panose="02020603050405020304" pitchFamily="18" charset="0"/>
                  </a:rPr>
                  <a:t>已获知</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𝐷</m:t>
                    </m:r>
                    <m:r>
                      <a:rPr lang="en-US" altLang="zh-CN" sz="2200" i="1" baseline="-25000" dirty="0" err="1">
                        <a:latin typeface="Cambria Math" panose="02040503050406030204" pitchFamily="18" charset="0"/>
                        <a:cs typeface="Times New Roman" panose="02020603050405020304" pitchFamily="18" charset="0"/>
                      </a:rPr>
                      <m:t>𝑣</m:t>
                    </m:r>
                    <m:r>
                      <a:rPr lang="en-US" altLang="zh-CN" sz="2200" i="1" dirty="0">
                        <a:latin typeface="Cambria Math" panose="02040503050406030204" pitchFamily="18" charset="0"/>
                        <a:cs typeface="Times New Roman" panose="02020603050405020304" pitchFamily="18" charset="0"/>
                      </a:rPr>
                      <m:t>(</m:t>
                    </m:r>
                    <m:r>
                      <a:rPr lang="en-US" altLang="zh-CN" sz="2200" i="1" dirty="0">
                        <a:latin typeface="Cambria Math" panose="02040503050406030204" pitchFamily="18" charset="0"/>
                        <a:cs typeface="Times New Roman" panose="02020603050405020304" pitchFamily="18" charset="0"/>
                      </a:rPr>
                      <m:t>𝑧</m:t>
                    </m:r>
                    <m:r>
                      <a:rPr lang="en-US" altLang="zh-CN" sz="2200" i="1" dirty="0">
                        <a:latin typeface="Cambria Math" panose="02040503050406030204" pitchFamily="18" charset="0"/>
                        <a:cs typeface="Times New Roman" panose="02020603050405020304" pitchFamily="18" charset="0"/>
                      </a:rPr>
                      <m:t>) = 5, </m:t>
                    </m:r>
                    <m:r>
                      <a:rPr lang="en-US" altLang="zh-CN" sz="2200" i="1" dirty="0" err="1">
                        <a:latin typeface="Cambria Math" panose="02040503050406030204" pitchFamily="18" charset="0"/>
                        <a:cs typeface="Times New Roman" panose="02020603050405020304" pitchFamily="18" charset="0"/>
                      </a:rPr>
                      <m:t>𝐷</m:t>
                    </m:r>
                    <m:r>
                      <a:rPr lang="en-US" altLang="zh-CN" sz="2200" i="1" baseline="-25000" dirty="0" err="1">
                        <a:latin typeface="Cambria Math" panose="02040503050406030204" pitchFamily="18" charset="0"/>
                        <a:cs typeface="Times New Roman" panose="02020603050405020304" pitchFamily="18" charset="0"/>
                      </a:rPr>
                      <m:t>𝑥</m:t>
                    </m:r>
                    <m:r>
                      <a:rPr lang="en-US" altLang="zh-CN" sz="2200" i="1" dirty="0">
                        <a:latin typeface="Cambria Math" panose="02040503050406030204" pitchFamily="18" charset="0"/>
                        <a:cs typeface="Times New Roman" panose="02020603050405020304" pitchFamily="18" charset="0"/>
                      </a:rPr>
                      <m:t>(</m:t>
                    </m:r>
                    <m:r>
                      <a:rPr lang="en-US" altLang="zh-CN" sz="2200" i="1" dirty="0">
                        <a:latin typeface="Cambria Math" panose="02040503050406030204" pitchFamily="18" charset="0"/>
                        <a:cs typeface="Times New Roman" panose="02020603050405020304" pitchFamily="18" charset="0"/>
                      </a:rPr>
                      <m:t>𝑧</m:t>
                    </m:r>
                    <m:r>
                      <a:rPr lang="en-US" altLang="zh-CN" sz="2200" i="1" dirty="0">
                        <a:latin typeface="Cambria Math" panose="02040503050406030204" pitchFamily="18" charset="0"/>
                        <a:cs typeface="Times New Roman" panose="02020603050405020304" pitchFamily="18" charset="0"/>
                      </a:rPr>
                      <m:t>) = 3, </m:t>
                    </m:r>
                    <m:r>
                      <a:rPr lang="en-US" altLang="zh-CN" sz="2200" i="1" dirty="0" err="1">
                        <a:latin typeface="Cambria Math" panose="02040503050406030204" pitchFamily="18" charset="0"/>
                        <a:cs typeface="Times New Roman" panose="02020603050405020304" pitchFamily="18" charset="0"/>
                      </a:rPr>
                      <m:t>𝐷</m:t>
                    </m:r>
                    <m:r>
                      <a:rPr lang="en-US" altLang="zh-CN" sz="2200" i="1" baseline="-25000" dirty="0" err="1">
                        <a:latin typeface="Cambria Math" panose="02040503050406030204" pitchFamily="18" charset="0"/>
                        <a:cs typeface="Times New Roman" panose="02020603050405020304" pitchFamily="18" charset="0"/>
                      </a:rPr>
                      <m:t>𝑤</m:t>
                    </m:r>
                    <m:r>
                      <a:rPr lang="en-US" altLang="zh-CN" sz="2200" i="1" dirty="0">
                        <a:latin typeface="Cambria Math" panose="02040503050406030204" pitchFamily="18" charset="0"/>
                        <a:cs typeface="Times New Roman" panose="02020603050405020304" pitchFamily="18" charset="0"/>
                      </a:rPr>
                      <m:t>(</m:t>
                    </m:r>
                    <m:r>
                      <a:rPr lang="en-US" altLang="zh-CN" sz="2200" i="1" dirty="0">
                        <a:latin typeface="Cambria Math" panose="02040503050406030204" pitchFamily="18" charset="0"/>
                        <a:cs typeface="Times New Roman" panose="02020603050405020304" pitchFamily="18" charset="0"/>
                      </a:rPr>
                      <m:t>𝑧</m:t>
                    </m:r>
                    <m:r>
                      <a:rPr lang="en-US" altLang="zh-CN" sz="2200" i="1" dirty="0">
                        <a:latin typeface="Cambria Math" panose="02040503050406030204" pitchFamily="18" charset="0"/>
                        <a:cs typeface="Times New Roman" panose="02020603050405020304" pitchFamily="18" charset="0"/>
                      </a:rPr>
                      <m:t>) = 3</m:t>
                    </m:r>
                  </m:oMath>
                </a14:m>
                <a:endParaRPr lang="en-US" altLang="zh-CN" sz="2200" dirty="0">
                  <a:cs typeface="Times New Roman" panose="02020603050405020304" pitchFamily="18" charset="0"/>
                </a:endParaRPr>
              </a:p>
              <a:p>
                <a:pPr lvl="2">
                  <a:lnSpc>
                    <a:spcPct val="120000"/>
                  </a:lnSpc>
                </a:pPr>
                <a14:m>
                  <m:oMath xmlns:m="http://schemas.openxmlformats.org/officeDocument/2006/math">
                    <m:r>
                      <a:rPr lang="en-US" altLang="zh-CN" sz="2200" i="1" dirty="0" smtClean="0">
                        <a:latin typeface="Cambria Math" panose="02040503050406030204" pitchFamily="18" charset="0"/>
                        <a:ea typeface="Arial Unicode MS" panose="020B0604020202020204" pitchFamily="34" charset="-122"/>
                        <a:cs typeface="Arial Unicode MS" panose="020B0604020202020204" pitchFamily="34" charset="-122"/>
                      </a:rPr>
                      <m:t>𝐷</m:t>
                    </m:r>
                    <m:r>
                      <a:rPr lang="en-US" altLang="zh-CN" sz="2200" i="1" baseline="-25000" dirty="0">
                        <a:latin typeface="Cambria Math" panose="02040503050406030204" pitchFamily="18" charset="0"/>
                        <a:ea typeface="Arial Unicode MS" panose="020B0604020202020204" pitchFamily="34" charset="-122"/>
                        <a:cs typeface="Arial Unicode MS" panose="020B0604020202020204" pitchFamily="34" charset="-122"/>
                      </a:rPr>
                      <m:t>𝑢</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𝑧</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 = </m:t>
                    </m:r>
                    <m:r>
                      <m:rPr>
                        <m:sty m:val="p"/>
                      </m:rP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min</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 </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𝑐</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i="1" dirty="0" err="1">
                        <a:latin typeface="Cambria Math" panose="02040503050406030204" pitchFamily="18" charset="0"/>
                        <a:ea typeface="Arial Unicode MS" panose="020B0604020202020204" pitchFamily="34" charset="-122"/>
                        <a:cs typeface="Arial Unicode MS" panose="020B0604020202020204" pitchFamily="34" charset="-122"/>
                      </a:rPr>
                      <m:t>𝑢</m:t>
                    </m:r>
                    <m:r>
                      <a:rPr lang="en-US" altLang="zh-CN" sz="2200" i="1" dirty="0" err="1">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i="1" dirty="0" err="1">
                        <a:latin typeface="Cambria Math" panose="02040503050406030204" pitchFamily="18" charset="0"/>
                        <a:ea typeface="Arial Unicode MS" panose="020B0604020202020204" pitchFamily="34" charset="-122"/>
                        <a:cs typeface="Arial Unicode MS" panose="020B0604020202020204" pitchFamily="34" charset="-122"/>
                      </a:rPr>
                      <m:t>𝑣</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 + </m:t>
                    </m:r>
                    <m:r>
                      <a:rPr lang="en-US" altLang="zh-CN" sz="2200" i="1" dirty="0" err="1">
                        <a:latin typeface="Cambria Math" panose="02040503050406030204" pitchFamily="18" charset="0"/>
                        <a:ea typeface="Arial Unicode MS" panose="020B0604020202020204" pitchFamily="34" charset="-122"/>
                        <a:cs typeface="Arial Unicode MS" panose="020B0604020202020204" pitchFamily="34" charset="-122"/>
                      </a:rPr>
                      <m:t>𝐷</m:t>
                    </m:r>
                    <m:r>
                      <a:rPr lang="en-US" altLang="zh-CN" sz="2200" i="1" baseline="-25000" dirty="0" err="1">
                        <a:latin typeface="Cambria Math" panose="02040503050406030204" pitchFamily="18" charset="0"/>
                        <a:ea typeface="Arial Unicode MS" panose="020B0604020202020204" pitchFamily="34" charset="-122"/>
                        <a:cs typeface="Arial Unicode MS" panose="020B0604020202020204" pitchFamily="34" charset="-122"/>
                      </a:rPr>
                      <m:t>𝑣</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𝑧</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 </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𝒄</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b="1" i="1" dirty="0" err="1">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𝒖</m:t>
                    </m:r>
                    <m:r>
                      <a:rPr lang="en-US" altLang="zh-CN" sz="2200" b="1" i="1" dirty="0" err="1">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b="1" i="1" dirty="0" err="1">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𝒙</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 + </m:t>
                    </m:r>
                    <m:r>
                      <a:rPr lang="en-US" altLang="zh-CN" sz="2200" i="1" dirty="0" err="1">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𝐷</m:t>
                    </m:r>
                    <m:r>
                      <a:rPr lang="en-US" altLang="zh-CN" sz="2200" b="1" i="1" baseline="-25000" dirty="0" err="1">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𝒙</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𝒛</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 </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𝑐</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i="1" dirty="0" err="1">
                        <a:latin typeface="Cambria Math" panose="02040503050406030204" pitchFamily="18" charset="0"/>
                        <a:ea typeface="Arial Unicode MS" panose="020B0604020202020204" pitchFamily="34" charset="-122"/>
                        <a:cs typeface="Arial Unicode MS" panose="020B0604020202020204" pitchFamily="34" charset="-122"/>
                      </a:rPr>
                      <m:t>𝑢</m:t>
                    </m:r>
                    <m:r>
                      <a:rPr lang="en-US" altLang="zh-CN" sz="2200" i="1" dirty="0" err="1">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i="1" dirty="0" err="1">
                        <a:latin typeface="Cambria Math" panose="02040503050406030204" pitchFamily="18" charset="0"/>
                        <a:ea typeface="Arial Unicode MS" panose="020B0604020202020204" pitchFamily="34" charset="-122"/>
                        <a:cs typeface="Arial Unicode MS" panose="020B0604020202020204" pitchFamily="34" charset="-122"/>
                      </a:rPr>
                      <m:t>𝑤</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 + </m:t>
                    </m:r>
                    <m:r>
                      <a:rPr lang="en-US" altLang="zh-CN" sz="2200" i="1" dirty="0" err="1">
                        <a:latin typeface="Cambria Math" panose="02040503050406030204" pitchFamily="18" charset="0"/>
                        <a:ea typeface="Arial Unicode MS" panose="020B0604020202020204" pitchFamily="34" charset="-122"/>
                        <a:cs typeface="Arial Unicode MS" panose="020B0604020202020204" pitchFamily="34" charset="-122"/>
                      </a:rPr>
                      <m:t>𝐷</m:t>
                    </m:r>
                    <m:r>
                      <a:rPr lang="en-US" altLang="zh-CN" sz="2200" i="1" baseline="-25000" dirty="0" err="1">
                        <a:latin typeface="Cambria Math" panose="02040503050406030204" pitchFamily="18" charset="0"/>
                        <a:ea typeface="Arial Unicode MS" panose="020B0604020202020204" pitchFamily="34" charset="-122"/>
                        <a:cs typeface="Arial Unicode MS" panose="020B0604020202020204" pitchFamily="34" charset="-122"/>
                      </a:rPr>
                      <m:t>𝑤</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𝑧</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 }</m:t>
                    </m:r>
                  </m:oMath>
                </a14:m>
                <a:endPar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914400" lvl="2" indent="0">
                  <a:lnSpc>
                    <a:spcPct val="120000"/>
                  </a:lnSpc>
                  <a:buNone/>
                </a:pPr>
                <a14:m>
                  <m:oMathPara xmlns:m="http://schemas.openxmlformats.org/officeDocument/2006/math">
                    <m:oMathParaPr>
                      <m:jc m:val="left"/>
                    </m:oMathParaPr>
                    <m:oMath xmlns:m="http://schemas.openxmlformats.org/officeDocument/2006/math">
                      <m:r>
                        <a:rPr lang="en-US" altLang="zh-CN" sz="2200" i="1" dirty="0" smtClean="0">
                          <a:latin typeface="Cambria Math" panose="02040503050406030204" pitchFamily="18" charset="0"/>
                          <a:ea typeface="Arial Unicode MS" panose="020B0604020202020204" pitchFamily="34" charset="-122"/>
                          <a:cs typeface="Arial Unicode MS" panose="020B0604020202020204" pitchFamily="34" charset="-122"/>
                        </a:rPr>
                        <m:t>           </m:t>
                      </m:r>
                      <m:r>
                        <a:rPr lang="zh-CN" altLang="en-US" sz="2200" b="0" i="1" dirty="0" smtClean="0">
                          <a:latin typeface="Cambria Math" panose="02040503050406030204" pitchFamily="18" charset="0"/>
                          <a:ea typeface="Arial Unicode MS" panose="020B0604020202020204" pitchFamily="34" charset="-122"/>
                          <a:cs typeface="Arial Unicode MS" panose="020B0604020202020204" pitchFamily="34" charset="-122"/>
                        </a:rPr>
                        <m:t>      </m:t>
                      </m:r>
                      <m:r>
                        <a:rPr lang="en-US" altLang="zh-CN" sz="2200" i="1" dirty="0" smtClean="0">
                          <a:latin typeface="Cambria Math" panose="02040503050406030204" pitchFamily="18" charset="0"/>
                          <a:ea typeface="Arial Unicode MS" panose="020B0604020202020204" pitchFamily="34" charset="-122"/>
                          <a:cs typeface="Arial Unicode MS" panose="020B0604020202020204" pitchFamily="34" charset="-122"/>
                        </a:rPr>
                        <m:t>= </m:t>
                      </m:r>
                      <m:r>
                        <m:rPr>
                          <m:sty m:val="p"/>
                        </m:rPr>
                        <a:rPr lang="en-US" altLang="zh-CN" sz="2200" i="1" dirty="0" smtClean="0">
                          <a:latin typeface="Cambria Math" panose="02040503050406030204" pitchFamily="18" charset="0"/>
                          <a:ea typeface="Arial Unicode MS" panose="020B0604020202020204" pitchFamily="34" charset="-122"/>
                          <a:cs typeface="Arial Unicode MS" panose="020B0604020202020204" pitchFamily="34" charset="-122"/>
                        </a:rPr>
                        <m:t>min</m:t>
                      </m:r>
                      <m:r>
                        <a:rPr lang="en-US" altLang="zh-CN" sz="2200" i="1" dirty="0" smtClean="0">
                          <a:latin typeface="Cambria Math" panose="02040503050406030204" pitchFamily="18" charset="0"/>
                          <a:ea typeface="Arial Unicode MS" panose="020B0604020202020204" pitchFamily="34" charset="-122"/>
                          <a:cs typeface="Arial Unicode MS" panose="020B0604020202020204" pitchFamily="34" charset="-122"/>
                        </a:rPr>
                        <m:t>⁡{2 + 5,</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𝟏</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 + </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𝟑</m:t>
                      </m:r>
                      <m:r>
                        <a:rPr lang="en-US" altLang="zh-CN" sz="2200" i="1" dirty="0">
                          <a:latin typeface="Cambria Math" panose="02040503050406030204" pitchFamily="18" charset="0"/>
                          <a:ea typeface="Arial Unicode MS" panose="020B0604020202020204" pitchFamily="34" charset="-122"/>
                          <a:cs typeface="Arial Unicode MS" panose="020B0604020202020204" pitchFamily="34" charset="-122"/>
                        </a:rPr>
                        <m:t>, 5 + 3}  </m:t>
                      </m:r>
                    </m:oMath>
                  </m:oMathPara>
                </a14:m>
                <a:endParaRPr lang="en-US" altLang="zh-CN" sz="2200" dirty="0">
                  <a:latin typeface="Arial Unicode MS" panose="020B0604020202020204" pitchFamily="34" charset="-122"/>
                  <a:ea typeface="Arial Unicode MS" panose="020B0604020202020204" pitchFamily="34" charset="-122"/>
                  <a:cs typeface="Arial Unicode MS" panose="020B0604020202020204" pitchFamily="34" charset="-122"/>
                </a:endParaRPr>
              </a:p>
              <a:p>
                <a:pPr marL="914400" lvl="2" indent="0">
                  <a:lnSpc>
                    <a:spcPct val="120000"/>
                  </a:lnSpc>
                  <a:buNone/>
                </a:pPr>
                <a14:m>
                  <m:oMathPara xmlns:m="http://schemas.openxmlformats.org/officeDocument/2006/math">
                    <m:oMathParaPr>
                      <m:jc m:val="left"/>
                    </m:oMathParaPr>
                    <m:oMath xmlns:m="http://schemas.openxmlformats.org/officeDocument/2006/math">
                      <m:r>
                        <a:rPr lang="en-US" altLang="zh-CN" sz="2200" i="1" dirty="0" smtClean="0">
                          <a:latin typeface="Cambria Math" panose="02040503050406030204" pitchFamily="18" charset="0"/>
                          <a:ea typeface="Arial Unicode MS" panose="020B0604020202020204" pitchFamily="34" charset="-122"/>
                          <a:cs typeface="Arial Unicode MS" panose="020B0604020202020204" pitchFamily="34" charset="-122"/>
                        </a:rPr>
                        <m:t>            </m:t>
                      </m:r>
                      <m:r>
                        <a:rPr lang="zh-CN" altLang="en-US" sz="2200" b="0" i="1" dirty="0" smtClean="0">
                          <a:latin typeface="Cambria Math" panose="02040503050406030204" pitchFamily="18" charset="0"/>
                          <a:ea typeface="Arial Unicode MS" panose="020B0604020202020204" pitchFamily="34" charset="-122"/>
                          <a:cs typeface="Arial Unicode MS" panose="020B0604020202020204" pitchFamily="34" charset="-122"/>
                        </a:rPr>
                        <m:t>     </m:t>
                      </m:r>
                      <m:r>
                        <a:rPr lang="en-US" altLang="zh-CN" sz="2200" i="1" dirty="0" smtClean="0">
                          <a:latin typeface="Cambria Math" panose="02040503050406030204" pitchFamily="18" charset="0"/>
                          <a:ea typeface="Arial Unicode MS" panose="020B0604020202020204" pitchFamily="34" charset="-122"/>
                          <a:cs typeface="Arial Unicode MS" panose="020B0604020202020204" pitchFamily="34" charset="-122"/>
                        </a:rPr>
                        <m:t>= </m:t>
                      </m:r>
                      <m:r>
                        <a:rPr lang="en-US" altLang="zh-CN" sz="2200" b="1" i="1" dirty="0">
                          <a:solidFill>
                            <a:srgbClr val="FF0000"/>
                          </a:solidFill>
                          <a:latin typeface="Cambria Math" panose="02040503050406030204" pitchFamily="18" charset="0"/>
                          <a:ea typeface="Arial Unicode MS" panose="020B0604020202020204" pitchFamily="34" charset="-122"/>
                          <a:cs typeface="Arial Unicode MS" panose="020B0604020202020204" pitchFamily="34" charset="-122"/>
                        </a:rPr>
                        <m:t>𝟒</m:t>
                      </m:r>
                    </m:oMath>
                  </m:oMathPara>
                </a14:m>
                <a:endParaRPr lang="en-US" altLang="zh-CN" sz="2200" b="1" dirty="0">
                  <a:solidFill>
                    <a:srgbClr val="FF000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lvl="1">
                  <a:lnSpc>
                    <a:spcPct val="120000"/>
                  </a:lnSpc>
                  <a:spcBef>
                    <a:spcPts val="1800"/>
                  </a:spcBef>
                  <a:buClrTx/>
                  <a:buSzTx/>
                </a:pPr>
                <a:r>
                  <a:rPr lang="zh-CN" altLang="en-US" sz="2200" dirty="0">
                    <a:cs typeface="Times New Roman" panose="02020603050405020304" pitchFamily="18" charset="0"/>
                  </a:rPr>
                  <a:t>计算出代价最小的节点，也就得到了对应转发项从</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𝑢</m:t>
                    </m:r>
                  </m:oMath>
                </a14:m>
                <a:r>
                  <a:rPr lang="zh-CN" altLang="en-US" sz="2200" dirty="0">
                    <a:cs typeface="Times New Roman" panose="02020603050405020304" pitchFamily="18" charset="0"/>
                  </a:rPr>
                  <a:t>去往</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𝑧</m:t>
                    </m:r>
                  </m:oMath>
                </a14:m>
                <a:r>
                  <a:rPr lang="zh-CN" altLang="en-US" sz="2200" dirty="0">
                    <a:cs typeface="Times New Roman" panose="02020603050405020304" pitchFamily="18" charset="0"/>
                  </a:rPr>
                  <a:t>，应从</a:t>
                </a:r>
                <a14:m>
                  <m:oMath xmlns:m="http://schemas.openxmlformats.org/officeDocument/2006/math">
                    <m:r>
                      <a:rPr lang="en-US" altLang="zh-CN" sz="2200" i="1" dirty="0" smtClean="0">
                        <a:latin typeface="Cambria Math" panose="02040503050406030204" pitchFamily="18" charset="0"/>
                        <a:cs typeface="Times New Roman" panose="02020603050405020304" pitchFamily="18" charset="0"/>
                      </a:rPr>
                      <m:t>𝑥</m:t>
                    </m:r>
                  </m:oMath>
                </a14:m>
                <a:r>
                  <a:rPr lang="zh-CN" altLang="en-US" sz="2200" dirty="0">
                    <a:cs typeface="Times New Roman" panose="02020603050405020304" pitchFamily="18" charset="0"/>
                  </a:rPr>
                  <a:t>转发</a:t>
                </a:r>
              </a:p>
              <a:p>
                <a:pPr marL="0" indent="0">
                  <a:lnSpc>
                    <a:spcPct val="150000"/>
                  </a:lnSpc>
                  <a:buNone/>
                </a:pPr>
                <a:endParaRPr lang="en-US" altLang="zh-CN" sz="2400" dirty="0">
                  <a:cs typeface="Times New Roman" panose="02020603050405020304" pitchFamily="18" charset="0"/>
                </a:endParaRPr>
              </a:p>
              <a:p>
                <a:pPr marL="0" indent="0">
                  <a:lnSpc>
                    <a:spcPts val="3300"/>
                  </a:lnSpc>
                  <a:buClr>
                    <a:srgbClr val="0070C0"/>
                  </a:buClr>
                  <a:buNone/>
                </a:pPr>
                <a:endParaRPr lang="zh-CN" altLang="en-US"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086" t="-1381"/>
                </a:stretch>
              </a:blipFill>
            </p:spPr>
            <p:txBody>
              <a:bodyPr/>
              <a:lstStyle/>
              <a:p>
                <a:r>
                  <a:rPr lang="en-CN">
                    <a:noFill/>
                  </a:rPr>
                  <a:t> </a:t>
                </a:r>
              </a:p>
            </p:txBody>
          </p:sp>
        </mc:Fallback>
      </mc:AlternateContent>
      <p:sp>
        <p:nvSpPr>
          <p:cNvPr id="4" name="灯片编号占位符 3"/>
          <p:cNvSpPr>
            <a:spLocks noGrp="1"/>
          </p:cNvSpPr>
          <p:nvPr>
            <p:ph type="sldNum" sz="quarter" idx="12"/>
          </p:nvPr>
        </p:nvSpPr>
        <p:spPr/>
        <p:txBody>
          <a:bodyPr/>
          <a:lstStyle/>
          <a:p>
            <a:fld id="{8D4D1E41-7A09-AB4A-A4E1-09765ADA2698}" type="slidenum">
              <a:rPr kumimoji="1" lang="zh-CN" altLang="en-US" smtClean="0"/>
              <a:pPr/>
              <a:t>59</a:t>
            </a:fld>
            <a:endParaRPr kumimoji="1" lang="zh-CN" altLang="en-US" dirty="0"/>
          </a:p>
        </p:txBody>
      </p:sp>
      <p:grpSp>
        <p:nvGrpSpPr>
          <p:cNvPr id="5" name="组合 78">
            <a:extLst>
              <a:ext uri="{FF2B5EF4-FFF2-40B4-BE49-F238E27FC236}">
                <a16:creationId xmlns:a16="http://schemas.microsoft.com/office/drawing/2014/main" id="{DBBA397F-7582-4C40-948F-4D266D32AE94}"/>
              </a:ext>
            </a:extLst>
          </p:cNvPr>
          <p:cNvGrpSpPr>
            <a:grpSpLocks/>
          </p:cNvGrpSpPr>
          <p:nvPr/>
        </p:nvGrpSpPr>
        <p:grpSpPr bwMode="auto">
          <a:xfrm>
            <a:off x="7785852" y="1832409"/>
            <a:ext cx="3571875" cy="2236787"/>
            <a:chOff x="5019675" y="1700213"/>
            <a:chExt cx="3571875" cy="2236787"/>
          </a:xfrm>
        </p:grpSpPr>
        <p:sp>
          <p:nvSpPr>
            <p:cNvPr id="6" name="Freeform 9">
              <a:extLst>
                <a:ext uri="{FF2B5EF4-FFF2-40B4-BE49-F238E27FC236}">
                  <a16:creationId xmlns:a16="http://schemas.microsoft.com/office/drawing/2014/main" id="{9CC34A6E-3834-4872-85DD-3149A8533C9D}"/>
                </a:ext>
              </a:extLst>
            </p:cNvPr>
            <p:cNvSpPr>
              <a:spLocks/>
            </p:cNvSpPr>
            <p:nvPr/>
          </p:nvSpPr>
          <p:spPr bwMode="auto">
            <a:xfrm>
              <a:off x="5019675" y="1700213"/>
              <a:ext cx="3571875" cy="2236787"/>
            </a:xfrm>
            <a:custGeom>
              <a:avLst/>
              <a:gdLst>
                <a:gd name="T0" fmla="*/ 0 w 2250"/>
                <a:gd name="T1" fmla="*/ 2147483646 h 1409"/>
                <a:gd name="T2" fmla="*/ 2147483646 w 2250"/>
                <a:gd name="T3" fmla="*/ 2147483646 h 1409"/>
                <a:gd name="T4" fmla="*/ 2147483646 w 2250"/>
                <a:gd name="T5" fmla="*/ 2147483646 h 1409"/>
                <a:gd name="T6" fmla="*/ 2147483646 w 2250"/>
                <a:gd name="T7" fmla="*/ 2147483646 h 1409"/>
                <a:gd name="T8" fmla="*/ 2147483646 w 2250"/>
                <a:gd name="T9" fmla="*/ 2147483646 h 1409"/>
                <a:gd name="T10" fmla="*/ 2147483646 w 2250"/>
                <a:gd name="T11" fmla="*/ 2147483646 h 1409"/>
                <a:gd name="T12" fmla="*/ 2147483646 w 2250"/>
                <a:gd name="T13" fmla="*/ 2147483646 h 1409"/>
                <a:gd name="T14" fmla="*/ 2147483646 w 2250"/>
                <a:gd name="T15" fmla="*/ 2147483646 h 1409"/>
                <a:gd name="T16" fmla="*/ 2147483646 w 2250"/>
                <a:gd name="T17" fmla="*/ 2147483646 h 1409"/>
                <a:gd name="T18" fmla="*/ 2147483646 w 2250"/>
                <a:gd name="T19" fmla="*/ 2147483646 h 1409"/>
                <a:gd name="T20" fmla="*/ 0 w 2250"/>
                <a:gd name="T21" fmla="*/ 2147483646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FA9CD"/>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7" name="Freeform 10">
              <a:extLst>
                <a:ext uri="{FF2B5EF4-FFF2-40B4-BE49-F238E27FC236}">
                  <a16:creationId xmlns:a16="http://schemas.microsoft.com/office/drawing/2014/main" id="{EB5C6171-2126-40AB-9FDD-EF62F464BAC6}"/>
                </a:ext>
              </a:extLst>
            </p:cNvPr>
            <p:cNvSpPr>
              <a:spLocks/>
            </p:cNvSpPr>
            <p:nvPr/>
          </p:nvSpPr>
          <p:spPr bwMode="auto">
            <a:xfrm>
              <a:off x="5553075" y="2571750"/>
              <a:ext cx="542925" cy="295275"/>
            </a:xfrm>
            <a:custGeom>
              <a:avLst/>
              <a:gdLst>
                <a:gd name="T0" fmla="*/ 0 w 342"/>
                <a:gd name="T1" fmla="*/ 2147483646 h 186"/>
                <a:gd name="T2" fmla="*/ 2147483646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8" name="Oval 11">
              <a:extLst>
                <a:ext uri="{FF2B5EF4-FFF2-40B4-BE49-F238E27FC236}">
                  <a16:creationId xmlns:a16="http://schemas.microsoft.com/office/drawing/2014/main" id="{F0B42B05-2C15-4C0A-8747-CF73CAA56FC2}"/>
                </a:ext>
              </a:extLst>
            </p:cNvPr>
            <p:cNvSpPr>
              <a:spLocks noChangeArrowheads="1"/>
            </p:cNvSpPr>
            <p:nvPr/>
          </p:nvSpPr>
          <p:spPr bwMode="auto">
            <a:xfrm>
              <a:off x="5140325" y="2955925"/>
              <a:ext cx="496888" cy="128588"/>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9" name="Line 12">
              <a:extLst>
                <a:ext uri="{FF2B5EF4-FFF2-40B4-BE49-F238E27FC236}">
                  <a16:creationId xmlns:a16="http://schemas.microsoft.com/office/drawing/2014/main" id="{4C4CA8FC-3796-4CA2-89EF-51F8283AD03F}"/>
                </a:ext>
              </a:extLst>
            </p:cNvPr>
            <p:cNvSpPr>
              <a:spLocks noChangeShapeType="1"/>
            </p:cNvSpPr>
            <p:nvPr/>
          </p:nvSpPr>
          <p:spPr bwMode="auto">
            <a:xfrm>
              <a:off x="5140325" y="29448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10" name="Line 13">
              <a:extLst>
                <a:ext uri="{FF2B5EF4-FFF2-40B4-BE49-F238E27FC236}">
                  <a16:creationId xmlns:a16="http://schemas.microsoft.com/office/drawing/2014/main" id="{DA444CB2-55AE-4ACD-95F5-A394E02E80BF}"/>
                </a:ext>
              </a:extLst>
            </p:cNvPr>
            <p:cNvSpPr>
              <a:spLocks noChangeShapeType="1"/>
            </p:cNvSpPr>
            <p:nvPr/>
          </p:nvSpPr>
          <p:spPr bwMode="auto">
            <a:xfrm>
              <a:off x="5637213" y="29448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11" name="Rectangle 14">
              <a:extLst>
                <a:ext uri="{FF2B5EF4-FFF2-40B4-BE49-F238E27FC236}">
                  <a16:creationId xmlns:a16="http://schemas.microsoft.com/office/drawing/2014/main" id="{5F22FFFD-048E-4572-BE22-F52B48EBDB4F}"/>
                </a:ext>
              </a:extLst>
            </p:cNvPr>
            <p:cNvSpPr>
              <a:spLocks noChangeArrowheads="1"/>
            </p:cNvSpPr>
            <p:nvPr/>
          </p:nvSpPr>
          <p:spPr bwMode="auto">
            <a:xfrm>
              <a:off x="5140325" y="29448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i="1">
                <a:solidFill>
                  <a:schemeClr val="bg1"/>
                </a:solidFill>
                <a:ea typeface="Arial Unicode MS" panose="020B0604020202020204" pitchFamily="34" charset="-122"/>
                <a:cs typeface="Times New Roman" panose="02020603050405020304" pitchFamily="18" charset="0"/>
              </a:endParaRPr>
            </a:p>
          </p:txBody>
        </p:sp>
        <p:sp>
          <p:nvSpPr>
            <p:cNvPr id="12" name="Oval 15">
              <a:extLst>
                <a:ext uri="{FF2B5EF4-FFF2-40B4-BE49-F238E27FC236}">
                  <a16:creationId xmlns:a16="http://schemas.microsoft.com/office/drawing/2014/main" id="{66F4F793-425D-4F2C-BECE-53A86FA32728}"/>
                </a:ext>
              </a:extLst>
            </p:cNvPr>
            <p:cNvSpPr>
              <a:spLocks noChangeArrowheads="1"/>
            </p:cNvSpPr>
            <p:nvPr/>
          </p:nvSpPr>
          <p:spPr bwMode="auto">
            <a:xfrm>
              <a:off x="5135563" y="2851150"/>
              <a:ext cx="496887" cy="1508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13" name="Oval 16">
              <a:extLst>
                <a:ext uri="{FF2B5EF4-FFF2-40B4-BE49-F238E27FC236}">
                  <a16:creationId xmlns:a16="http://schemas.microsoft.com/office/drawing/2014/main" id="{1014CE20-03BB-4779-A8DB-288EF106E449}"/>
                </a:ext>
              </a:extLst>
            </p:cNvPr>
            <p:cNvSpPr>
              <a:spLocks noChangeArrowheads="1"/>
            </p:cNvSpPr>
            <p:nvPr/>
          </p:nvSpPr>
          <p:spPr bwMode="auto">
            <a:xfrm>
              <a:off x="5892800" y="3570288"/>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14" name="Line 17">
              <a:extLst>
                <a:ext uri="{FF2B5EF4-FFF2-40B4-BE49-F238E27FC236}">
                  <a16:creationId xmlns:a16="http://schemas.microsoft.com/office/drawing/2014/main" id="{D9C10A8C-3272-4DAA-8737-E4A61660EE14}"/>
                </a:ext>
              </a:extLst>
            </p:cNvPr>
            <p:cNvSpPr>
              <a:spLocks noChangeShapeType="1"/>
            </p:cNvSpPr>
            <p:nvPr/>
          </p:nvSpPr>
          <p:spPr bwMode="auto">
            <a:xfrm>
              <a:off x="5892800" y="35591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15" name="Line 18">
              <a:extLst>
                <a:ext uri="{FF2B5EF4-FFF2-40B4-BE49-F238E27FC236}">
                  <a16:creationId xmlns:a16="http://schemas.microsoft.com/office/drawing/2014/main" id="{E51DCFAB-6243-41A7-9AA4-11D61D32A591}"/>
                </a:ext>
              </a:extLst>
            </p:cNvPr>
            <p:cNvSpPr>
              <a:spLocks noChangeShapeType="1"/>
            </p:cNvSpPr>
            <p:nvPr/>
          </p:nvSpPr>
          <p:spPr bwMode="auto">
            <a:xfrm>
              <a:off x="6389688" y="35591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16" name="Rectangle 19">
              <a:extLst>
                <a:ext uri="{FF2B5EF4-FFF2-40B4-BE49-F238E27FC236}">
                  <a16:creationId xmlns:a16="http://schemas.microsoft.com/office/drawing/2014/main" id="{DF802B28-39ED-4D27-8D54-5E5848AE044D}"/>
                </a:ext>
              </a:extLst>
            </p:cNvPr>
            <p:cNvSpPr>
              <a:spLocks noChangeArrowheads="1"/>
            </p:cNvSpPr>
            <p:nvPr/>
          </p:nvSpPr>
          <p:spPr bwMode="auto">
            <a:xfrm>
              <a:off x="5892800" y="3559175"/>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i="1">
                <a:solidFill>
                  <a:schemeClr val="bg1"/>
                </a:solidFill>
                <a:ea typeface="Arial Unicode MS" panose="020B0604020202020204" pitchFamily="34" charset="-122"/>
                <a:cs typeface="Times New Roman" panose="02020603050405020304" pitchFamily="18" charset="0"/>
              </a:endParaRPr>
            </a:p>
          </p:txBody>
        </p:sp>
        <p:sp>
          <p:nvSpPr>
            <p:cNvPr id="17" name="Oval 20">
              <a:extLst>
                <a:ext uri="{FF2B5EF4-FFF2-40B4-BE49-F238E27FC236}">
                  <a16:creationId xmlns:a16="http://schemas.microsoft.com/office/drawing/2014/main" id="{32A0D087-F570-42A5-A96E-AB7FBE91003F}"/>
                </a:ext>
              </a:extLst>
            </p:cNvPr>
            <p:cNvSpPr>
              <a:spLocks noChangeArrowheads="1"/>
            </p:cNvSpPr>
            <p:nvPr/>
          </p:nvSpPr>
          <p:spPr bwMode="auto">
            <a:xfrm>
              <a:off x="5888038" y="3465513"/>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18" name="Oval 21">
              <a:extLst>
                <a:ext uri="{FF2B5EF4-FFF2-40B4-BE49-F238E27FC236}">
                  <a16:creationId xmlns:a16="http://schemas.microsoft.com/office/drawing/2014/main" id="{2F8C836E-7CD9-4A9A-8F1A-7F79EC7F575F}"/>
                </a:ext>
              </a:extLst>
            </p:cNvPr>
            <p:cNvSpPr>
              <a:spLocks noChangeArrowheads="1"/>
            </p:cNvSpPr>
            <p:nvPr/>
          </p:nvSpPr>
          <p:spPr bwMode="auto">
            <a:xfrm>
              <a:off x="5886450" y="2474913"/>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19" name="Line 22">
              <a:extLst>
                <a:ext uri="{FF2B5EF4-FFF2-40B4-BE49-F238E27FC236}">
                  <a16:creationId xmlns:a16="http://schemas.microsoft.com/office/drawing/2014/main" id="{D7540300-FA49-4FAA-A3A4-CCB004C1D7D9}"/>
                </a:ext>
              </a:extLst>
            </p:cNvPr>
            <p:cNvSpPr>
              <a:spLocks noChangeShapeType="1"/>
            </p:cNvSpPr>
            <p:nvPr/>
          </p:nvSpPr>
          <p:spPr bwMode="auto">
            <a:xfrm>
              <a:off x="5886450" y="246380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20" name="Line 23">
              <a:extLst>
                <a:ext uri="{FF2B5EF4-FFF2-40B4-BE49-F238E27FC236}">
                  <a16:creationId xmlns:a16="http://schemas.microsoft.com/office/drawing/2014/main" id="{FE403ACE-4CBC-4F1F-A9DE-2945BF713A4A}"/>
                </a:ext>
              </a:extLst>
            </p:cNvPr>
            <p:cNvSpPr>
              <a:spLocks noChangeShapeType="1"/>
            </p:cNvSpPr>
            <p:nvPr/>
          </p:nvSpPr>
          <p:spPr bwMode="auto">
            <a:xfrm>
              <a:off x="6383338" y="246380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21" name="Rectangle 24">
              <a:extLst>
                <a:ext uri="{FF2B5EF4-FFF2-40B4-BE49-F238E27FC236}">
                  <a16:creationId xmlns:a16="http://schemas.microsoft.com/office/drawing/2014/main" id="{840E2C0D-891A-43F4-A467-7E691FAB5517}"/>
                </a:ext>
              </a:extLst>
            </p:cNvPr>
            <p:cNvSpPr>
              <a:spLocks noChangeArrowheads="1"/>
            </p:cNvSpPr>
            <p:nvPr/>
          </p:nvSpPr>
          <p:spPr bwMode="auto">
            <a:xfrm>
              <a:off x="5886450" y="2463800"/>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i="1">
                <a:solidFill>
                  <a:schemeClr val="bg1"/>
                </a:solidFill>
                <a:ea typeface="Arial Unicode MS" panose="020B0604020202020204" pitchFamily="34" charset="-122"/>
                <a:cs typeface="Times New Roman" panose="02020603050405020304" pitchFamily="18" charset="0"/>
              </a:endParaRPr>
            </a:p>
          </p:txBody>
        </p:sp>
        <p:sp>
          <p:nvSpPr>
            <p:cNvPr id="22" name="Oval 25">
              <a:extLst>
                <a:ext uri="{FF2B5EF4-FFF2-40B4-BE49-F238E27FC236}">
                  <a16:creationId xmlns:a16="http://schemas.microsoft.com/office/drawing/2014/main" id="{F9BEA45D-C48D-40CF-9ABD-8B9E99DEE4E0}"/>
                </a:ext>
              </a:extLst>
            </p:cNvPr>
            <p:cNvSpPr>
              <a:spLocks noChangeArrowheads="1"/>
            </p:cNvSpPr>
            <p:nvPr/>
          </p:nvSpPr>
          <p:spPr bwMode="auto">
            <a:xfrm>
              <a:off x="5881688" y="2370138"/>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23" name="Oval 26">
              <a:extLst>
                <a:ext uri="{FF2B5EF4-FFF2-40B4-BE49-F238E27FC236}">
                  <a16:creationId xmlns:a16="http://schemas.microsoft.com/office/drawing/2014/main" id="{D16E0190-BDCC-4F99-B7C5-50BE220D5B47}"/>
                </a:ext>
              </a:extLst>
            </p:cNvPr>
            <p:cNvSpPr>
              <a:spLocks noChangeArrowheads="1"/>
            </p:cNvSpPr>
            <p:nvPr/>
          </p:nvSpPr>
          <p:spPr bwMode="auto">
            <a:xfrm>
              <a:off x="6970713" y="2468563"/>
              <a:ext cx="495300"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24" name="Line 27">
              <a:extLst>
                <a:ext uri="{FF2B5EF4-FFF2-40B4-BE49-F238E27FC236}">
                  <a16:creationId xmlns:a16="http://schemas.microsoft.com/office/drawing/2014/main" id="{33BB7082-FCB5-4E26-A562-2874F76EE8DA}"/>
                </a:ext>
              </a:extLst>
            </p:cNvPr>
            <p:cNvSpPr>
              <a:spLocks noChangeShapeType="1"/>
            </p:cNvSpPr>
            <p:nvPr/>
          </p:nvSpPr>
          <p:spPr bwMode="auto">
            <a:xfrm>
              <a:off x="6970713" y="245745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25" name="Line 28">
              <a:extLst>
                <a:ext uri="{FF2B5EF4-FFF2-40B4-BE49-F238E27FC236}">
                  <a16:creationId xmlns:a16="http://schemas.microsoft.com/office/drawing/2014/main" id="{4796A46B-F82F-486E-B620-70EC3DE8B149}"/>
                </a:ext>
              </a:extLst>
            </p:cNvPr>
            <p:cNvSpPr>
              <a:spLocks noChangeShapeType="1"/>
            </p:cNvSpPr>
            <p:nvPr/>
          </p:nvSpPr>
          <p:spPr bwMode="auto">
            <a:xfrm>
              <a:off x="7466013" y="245745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26" name="Rectangle 29">
              <a:extLst>
                <a:ext uri="{FF2B5EF4-FFF2-40B4-BE49-F238E27FC236}">
                  <a16:creationId xmlns:a16="http://schemas.microsoft.com/office/drawing/2014/main" id="{65CB4D9E-A564-4454-8516-99F7979D6B13}"/>
                </a:ext>
              </a:extLst>
            </p:cNvPr>
            <p:cNvSpPr>
              <a:spLocks noChangeArrowheads="1"/>
            </p:cNvSpPr>
            <p:nvPr/>
          </p:nvSpPr>
          <p:spPr bwMode="auto">
            <a:xfrm>
              <a:off x="6970713" y="2457450"/>
              <a:ext cx="490537"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i="1">
                <a:solidFill>
                  <a:schemeClr val="bg1"/>
                </a:solidFill>
                <a:ea typeface="Arial Unicode MS" panose="020B0604020202020204" pitchFamily="34" charset="-122"/>
                <a:cs typeface="Times New Roman" panose="02020603050405020304" pitchFamily="18" charset="0"/>
              </a:endParaRPr>
            </a:p>
          </p:txBody>
        </p:sp>
        <p:sp>
          <p:nvSpPr>
            <p:cNvPr id="27" name="Oval 30">
              <a:extLst>
                <a:ext uri="{FF2B5EF4-FFF2-40B4-BE49-F238E27FC236}">
                  <a16:creationId xmlns:a16="http://schemas.microsoft.com/office/drawing/2014/main" id="{286D0597-528E-45BD-95DE-7C6D490D2067}"/>
                </a:ext>
              </a:extLst>
            </p:cNvPr>
            <p:cNvSpPr>
              <a:spLocks noChangeArrowheads="1"/>
            </p:cNvSpPr>
            <p:nvPr/>
          </p:nvSpPr>
          <p:spPr bwMode="auto">
            <a:xfrm>
              <a:off x="6975475" y="2368550"/>
              <a:ext cx="495300" cy="1508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28" name="Oval 31">
              <a:extLst>
                <a:ext uri="{FF2B5EF4-FFF2-40B4-BE49-F238E27FC236}">
                  <a16:creationId xmlns:a16="http://schemas.microsoft.com/office/drawing/2014/main" id="{F016FD59-DDA3-4230-8223-99BF3807DC7C}"/>
                </a:ext>
              </a:extLst>
            </p:cNvPr>
            <p:cNvSpPr>
              <a:spLocks noChangeArrowheads="1"/>
            </p:cNvSpPr>
            <p:nvPr/>
          </p:nvSpPr>
          <p:spPr bwMode="auto">
            <a:xfrm>
              <a:off x="6986588" y="3565525"/>
              <a:ext cx="496887" cy="128588"/>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29" name="Line 32">
              <a:extLst>
                <a:ext uri="{FF2B5EF4-FFF2-40B4-BE49-F238E27FC236}">
                  <a16:creationId xmlns:a16="http://schemas.microsoft.com/office/drawing/2014/main" id="{5F1F342C-6CE1-40E7-8AE4-0768458B85FD}"/>
                </a:ext>
              </a:extLst>
            </p:cNvPr>
            <p:cNvSpPr>
              <a:spLocks noChangeShapeType="1"/>
            </p:cNvSpPr>
            <p:nvPr/>
          </p:nvSpPr>
          <p:spPr bwMode="auto">
            <a:xfrm>
              <a:off x="6986588" y="35544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30" name="Line 33">
              <a:extLst>
                <a:ext uri="{FF2B5EF4-FFF2-40B4-BE49-F238E27FC236}">
                  <a16:creationId xmlns:a16="http://schemas.microsoft.com/office/drawing/2014/main" id="{AA91E514-F3AC-406F-B7EA-394B6588EAE7}"/>
                </a:ext>
              </a:extLst>
            </p:cNvPr>
            <p:cNvSpPr>
              <a:spLocks noChangeShapeType="1"/>
            </p:cNvSpPr>
            <p:nvPr/>
          </p:nvSpPr>
          <p:spPr bwMode="auto">
            <a:xfrm>
              <a:off x="7483475" y="35544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31" name="Rectangle 34">
              <a:extLst>
                <a:ext uri="{FF2B5EF4-FFF2-40B4-BE49-F238E27FC236}">
                  <a16:creationId xmlns:a16="http://schemas.microsoft.com/office/drawing/2014/main" id="{625A0985-BB2D-4788-9EE9-E52E0A07C485}"/>
                </a:ext>
              </a:extLst>
            </p:cNvPr>
            <p:cNvSpPr>
              <a:spLocks noChangeArrowheads="1"/>
            </p:cNvSpPr>
            <p:nvPr/>
          </p:nvSpPr>
          <p:spPr bwMode="auto">
            <a:xfrm>
              <a:off x="6986588" y="35544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i="1">
                <a:solidFill>
                  <a:schemeClr val="bg1"/>
                </a:solidFill>
                <a:ea typeface="Arial Unicode MS" panose="020B0604020202020204" pitchFamily="34" charset="-122"/>
                <a:cs typeface="Times New Roman" panose="02020603050405020304" pitchFamily="18" charset="0"/>
              </a:endParaRPr>
            </a:p>
          </p:txBody>
        </p:sp>
        <p:sp>
          <p:nvSpPr>
            <p:cNvPr id="32" name="Oval 35">
              <a:extLst>
                <a:ext uri="{FF2B5EF4-FFF2-40B4-BE49-F238E27FC236}">
                  <a16:creationId xmlns:a16="http://schemas.microsoft.com/office/drawing/2014/main" id="{A5B95350-8A71-4B5A-9F8A-1A992E5213A6}"/>
                </a:ext>
              </a:extLst>
            </p:cNvPr>
            <p:cNvSpPr>
              <a:spLocks noChangeArrowheads="1"/>
            </p:cNvSpPr>
            <p:nvPr/>
          </p:nvSpPr>
          <p:spPr bwMode="auto">
            <a:xfrm>
              <a:off x="6981825" y="3460750"/>
              <a:ext cx="496888" cy="1508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33" name="Oval 36">
              <a:extLst>
                <a:ext uri="{FF2B5EF4-FFF2-40B4-BE49-F238E27FC236}">
                  <a16:creationId xmlns:a16="http://schemas.microsoft.com/office/drawing/2014/main" id="{15A5E33A-530E-4EDC-9499-5BAF15D94CDB}"/>
                </a:ext>
              </a:extLst>
            </p:cNvPr>
            <p:cNvSpPr>
              <a:spLocks noChangeArrowheads="1"/>
            </p:cNvSpPr>
            <p:nvPr/>
          </p:nvSpPr>
          <p:spPr bwMode="auto">
            <a:xfrm>
              <a:off x="7883525" y="3024188"/>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34" name="Line 37">
              <a:extLst>
                <a:ext uri="{FF2B5EF4-FFF2-40B4-BE49-F238E27FC236}">
                  <a16:creationId xmlns:a16="http://schemas.microsoft.com/office/drawing/2014/main" id="{E8BF19CE-CC61-47C0-8DF0-D9A67E5FF0EB}"/>
                </a:ext>
              </a:extLst>
            </p:cNvPr>
            <p:cNvSpPr>
              <a:spLocks noChangeShapeType="1"/>
            </p:cNvSpPr>
            <p:nvPr/>
          </p:nvSpPr>
          <p:spPr bwMode="auto">
            <a:xfrm>
              <a:off x="7883525" y="30130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35" name="Line 38">
              <a:extLst>
                <a:ext uri="{FF2B5EF4-FFF2-40B4-BE49-F238E27FC236}">
                  <a16:creationId xmlns:a16="http://schemas.microsoft.com/office/drawing/2014/main" id="{E3C19A8A-1840-4AEF-87DC-4DDA9DE0E94D}"/>
                </a:ext>
              </a:extLst>
            </p:cNvPr>
            <p:cNvSpPr>
              <a:spLocks noChangeShapeType="1"/>
            </p:cNvSpPr>
            <p:nvPr/>
          </p:nvSpPr>
          <p:spPr bwMode="auto">
            <a:xfrm>
              <a:off x="8380413" y="30130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36" name="Rectangle 39">
              <a:extLst>
                <a:ext uri="{FF2B5EF4-FFF2-40B4-BE49-F238E27FC236}">
                  <a16:creationId xmlns:a16="http://schemas.microsoft.com/office/drawing/2014/main" id="{4D57E69B-D9E8-4038-B34B-BC5239CC56DF}"/>
                </a:ext>
              </a:extLst>
            </p:cNvPr>
            <p:cNvSpPr>
              <a:spLocks noChangeArrowheads="1"/>
            </p:cNvSpPr>
            <p:nvPr/>
          </p:nvSpPr>
          <p:spPr bwMode="auto">
            <a:xfrm>
              <a:off x="7883525" y="3013075"/>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i="1">
                <a:solidFill>
                  <a:schemeClr val="bg1"/>
                </a:solidFill>
                <a:ea typeface="Arial Unicode MS" panose="020B0604020202020204" pitchFamily="34" charset="-122"/>
                <a:cs typeface="Times New Roman" panose="02020603050405020304" pitchFamily="18" charset="0"/>
              </a:endParaRPr>
            </a:p>
          </p:txBody>
        </p:sp>
        <p:sp>
          <p:nvSpPr>
            <p:cNvPr id="37" name="Oval 40">
              <a:extLst>
                <a:ext uri="{FF2B5EF4-FFF2-40B4-BE49-F238E27FC236}">
                  <a16:creationId xmlns:a16="http://schemas.microsoft.com/office/drawing/2014/main" id="{419B4A40-66B2-4A2F-93CC-295B9BF1DBF3}"/>
                </a:ext>
              </a:extLst>
            </p:cNvPr>
            <p:cNvSpPr>
              <a:spLocks noChangeArrowheads="1"/>
            </p:cNvSpPr>
            <p:nvPr/>
          </p:nvSpPr>
          <p:spPr bwMode="auto">
            <a:xfrm>
              <a:off x="7878763" y="2919413"/>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38" name="Freeform 41">
              <a:extLst>
                <a:ext uri="{FF2B5EF4-FFF2-40B4-BE49-F238E27FC236}">
                  <a16:creationId xmlns:a16="http://schemas.microsoft.com/office/drawing/2014/main" id="{9CE5C7C6-B24A-4467-A29B-1E0842EEA6D6}"/>
                </a:ext>
              </a:extLst>
            </p:cNvPr>
            <p:cNvSpPr>
              <a:spLocks/>
            </p:cNvSpPr>
            <p:nvPr/>
          </p:nvSpPr>
          <p:spPr bwMode="auto">
            <a:xfrm>
              <a:off x="7234238" y="2614613"/>
              <a:ext cx="1587" cy="828675"/>
            </a:xfrm>
            <a:custGeom>
              <a:avLst/>
              <a:gdLst>
                <a:gd name="T0" fmla="*/ 0 w 1"/>
                <a:gd name="T1" fmla="*/ 0 h 522"/>
                <a:gd name="T2" fmla="*/ 0 w 1"/>
                <a:gd name="T3" fmla="*/ 2147483646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39" name="Freeform 42">
              <a:extLst>
                <a:ext uri="{FF2B5EF4-FFF2-40B4-BE49-F238E27FC236}">
                  <a16:creationId xmlns:a16="http://schemas.microsoft.com/office/drawing/2014/main" id="{25053EA3-EF7E-41E4-8D11-F856A039B0D3}"/>
                </a:ext>
              </a:extLst>
            </p:cNvPr>
            <p:cNvSpPr>
              <a:spLocks/>
            </p:cNvSpPr>
            <p:nvPr/>
          </p:nvSpPr>
          <p:spPr bwMode="auto">
            <a:xfrm>
              <a:off x="6134100" y="2624138"/>
              <a:ext cx="1588" cy="852487"/>
            </a:xfrm>
            <a:custGeom>
              <a:avLst/>
              <a:gdLst>
                <a:gd name="T0" fmla="*/ 0 w 1"/>
                <a:gd name="T1" fmla="*/ 0 h 537"/>
                <a:gd name="T2" fmla="*/ 0 w 1"/>
                <a:gd name="T3" fmla="*/ 2147483646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40" name="Freeform 43">
              <a:extLst>
                <a:ext uri="{FF2B5EF4-FFF2-40B4-BE49-F238E27FC236}">
                  <a16:creationId xmlns:a16="http://schemas.microsoft.com/office/drawing/2014/main" id="{D4CF10D5-93F8-46C8-A8C4-BFF226590AFA}"/>
                </a:ext>
              </a:extLst>
            </p:cNvPr>
            <p:cNvSpPr>
              <a:spLocks/>
            </p:cNvSpPr>
            <p:nvPr/>
          </p:nvSpPr>
          <p:spPr bwMode="auto">
            <a:xfrm>
              <a:off x="6396038" y="2600325"/>
              <a:ext cx="800100" cy="952500"/>
            </a:xfrm>
            <a:custGeom>
              <a:avLst/>
              <a:gdLst>
                <a:gd name="T0" fmla="*/ 0 w 378"/>
                <a:gd name="T1" fmla="*/ 2147483646 h 174"/>
                <a:gd name="T2" fmla="*/ 214748364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41" name="Freeform 44">
              <a:extLst>
                <a:ext uri="{FF2B5EF4-FFF2-40B4-BE49-F238E27FC236}">
                  <a16:creationId xmlns:a16="http://schemas.microsoft.com/office/drawing/2014/main" id="{F3240A99-C17E-40BB-8FF5-5BBB2DCD39C1}"/>
                </a:ext>
              </a:extLst>
            </p:cNvPr>
            <p:cNvSpPr>
              <a:spLocks/>
            </p:cNvSpPr>
            <p:nvPr/>
          </p:nvSpPr>
          <p:spPr bwMode="auto">
            <a:xfrm>
              <a:off x="7486650" y="3152775"/>
              <a:ext cx="581025" cy="428625"/>
            </a:xfrm>
            <a:custGeom>
              <a:avLst/>
              <a:gdLst>
                <a:gd name="T0" fmla="*/ 0 w 366"/>
                <a:gd name="T1" fmla="*/ 2147483646 h 270"/>
                <a:gd name="T2" fmla="*/ 214748364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42" name="Freeform 45">
              <a:extLst>
                <a:ext uri="{FF2B5EF4-FFF2-40B4-BE49-F238E27FC236}">
                  <a16:creationId xmlns:a16="http://schemas.microsoft.com/office/drawing/2014/main" id="{843644D9-7AB8-48A9-AA0D-4C70978367DA}"/>
                </a:ext>
              </a:extLst>
            </p:cNvPr>
            <p:cNvSpPr>
              <a:spLocks/>
            </p:cNvSpPr>
            <p:nvPr/>
          </p:nvSpPr>
          <p:spPr bwMode="auto">
            <a:xfrm>
              <a:off x="6405563" y="3600450"/>
              <a:ext cx="581025" cy="1588"/>
            </a:xfrm>
            <a:custGeom>
              <a:avLst/>
              <a:gdLst>
                <a:gd name="T0" fmla="*/ 214748364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43" name="Freeform 46">
              <a:extLst>
                <a:ext uri="{FF2B5EF4-FFF2-40B4-BE49-F238E27FC236}">
                  <a16:creationId xmlns:a16="http://schemas.microsoft.com/office/drawing/2014/main" id="{68366EED-0006-48DD-A30E-5D0843F1C825}"/>
                </a:ext>
              </a:extLst>
            </p:cNvPr>
            <p:cNvSpPr>
              <a:spLocks/>
            </p:cNvSpPr>
            <p:nvPr/>
          </p:nvSpPr>
          <p:spPr bwMode="auto">
            <a:xfrm>
              <a:off x="5467350" y="3086100"/>
              <a:ext cx="438150" cy="419100"/>
            </a:xfrm>
            <a:custGeom>
              <a:avLst/>
              <a:gdLst>
                <a:gd name="T0" fmla="*/ 2147483646 w 276"/>
                <a:gd name="T1" fmla="*/ 2147483646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44" name="Freeform 47">
              <a:extLst>
                <a:ext uri="{FF2B5EF4-FFF2-40B4-BE49-F238E27FC236}">
                  <a16:creationId xmlns:a16="http://schemas.microsoft.com/office/drawing/2014/main" id="{958A4C70-432A-4CA4-AE04-44F75AC0CDAC}"/>
                </a:ext>
              </a:extLst>
            </p:cNvPr>
            <p:cNvSpPr>
              <a:spLocks/>
            </p:cNvSpPr>
            <p:nvPr/>
          </p:nvSpPr>
          <p:spPr bwMode="auto">
            <a:xfrm>
              <a:off x="6396038" y="2505075"/>
              <a:ext cx="581025" cy="1588"/>
            </a:xfrm>
            <a:custGeom>
              <a:avLst/>
              <a:gdLst>
                <a:gd name="T0" fmla="*/ 214748364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45" name="Freeform 48">
              <a:extLst>
                <a:ext uri="{FF2B5EF4-FFF2-40B4-BE49-F238E27FC236}">
                  <a16:creationId xmlns:a16="http://schemas.microsoft.com/office/drawing/2014/main" id="{3E0BC0CD-B77B-4E3E-8517-998F95C0B8F0}"/>
                </a:ext>
              </a:extLst>
            </p:cNvPr>
            <p:cNvSpPr>
              <a:spLocks/>
            </p:cNvSpPr>
            <p:nvPr/>
          </p:nvSpPr>
          <p:spPr bwMode="auto">
            <a:xfrm>
              <a:off x="7467600" y="2500313"/>
              <a:ext cx="628650" cy="423862"/>
            </a:xfrm>
            <a:custGeom>
              <a:avLst/>
              <a:gdLst>
                <a:gd name="T0" fmla="*/ 2147483646 w 396"/>
                <a:gd name="T1" fmla="*/ 2147483646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sp>
          <p:nvSpPr>
            <p:cNvPr id="46" name="Freeform 49">
              <a:extLst>
                <a:ext uri="{FF2B5EF4-FFF2-40B4-BE49-F238E27FC236}">
                  <a16:creationId xmlns:a16="http://schemas.microsoft.com/office/drawing/2014/main" id="{513E34F0-832E-413F-A853-3FAB7CBA09DF}"/>
                </a:ext>
              </a:extLst>
            </p:cNvPr>
            <p:cNvSpPr>
              <a:spLocks/>
            </p:cNvSpPr>
            <p:nvPr/>
          </p:nvSpPr>
          <p:spPr bwMode="auto">
            <a:xfrm>
              <a:off x="5376863" y="1819275"/>
              <a:ext cx="1762125" cy="1023938"/>
            </a:xfrm>
            <a:custGeom>
              <a:avLst/>
              <a:gdLst>
                <a:gd name="T0" fmla="*/ 2147483646 w 1110"/>
                <a:gd name="T1" fmla="*/ 2147483646 h 645"/>
                <a:gd name="T2" fmla="*/ 0 w 1110"/>
                <a:gd name="T3" fmla="*/ 2147483646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solidFill>
                  <a:schemeClr val="bg1"/>
                </a:solidFill>
                <a:latin typeface="Times New Roman" panose="02020603050405020304" pitchFamily="18" charset="0"/>
                <a:cs typeface="Times New Roman" panose="02020603050405020304" pitchFamily="18" charset="0"/>
              </a:endParaRPr>
            </a:p>
          </p:txBody>
        </p:sp>
        <p:grpSp>
          <p:nvGrpSpPr>
            <p:cNvPr id="47" name="Group 50">
              <a:extLst>
                <a:ext uri="{FF2B5EF4-FFF2-40B4-BE49-F238E27FC236}">
                  <a16:creationId xmlns:a16="http://schemas.microsoft.com/office/drawing/2014/main" id="{0C3B8268-B637-4021-9EF2-BCC9BB42ED9B}"/>
                </a:ext>
              </a:extLst>
            </p:cNvPr>
            <p:cNvGrpSpPr>
              <a:grpSpLocks/>
            </p:cNvGrpSpPr>
            <p:nvPr/>
          </p:nvGrpSpPr>
          <p:grpSpPr bwMode="auto">
            <a:xfrm>
              <a:off x="5217838" y="2740029"/>
              <a:ext cx="327570" cy="400050"/>
              <a:chOff x="2954" y="2407"/>
              <a:chExt cx="209" cy="252"/>
            </a:xfrm>
          </p:grpSpPr>
          <p:sp>
            <p:nvSpPr>
              <p:cNvPr id="73" name="Rectangle 51">
                <a:extLst>
                  <a:ext uri="{FF2B5EF4-FFF2-40B4-BE49-F238E27FC236}">
                    <a16:creationId xmlns:a16="http://schemas.microsoft.com/office/drawing/2014/main" id="{FB20E169-3203-4D01-994F-093DEF0080A2}"/>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74" name="Text Box 52">
                <a:extLst>
                  <a:ext uri="{FF2B5EF4-FFF2-40B4-BE49-F238E27FC236}">
                    <a16:creationId xmlns:a16="http://schemas.microsoft.com/office/drawing/2014/main" id="{3622DE65-4E58-4FB1-ACBD-EA01579A8CE5}"/>
                  </a:ext>
                </a:extLst>
              </p:cNvPr>
              <p:cNvSpPr txBox="1">
                <a:spLocks noChangeArrowheads="1"/>
              </p:cNvSpPr>
              <p:nvPr/>
            </p:nvSpPr>
            <p:spPr bwMode="auto">
              <a:xfrm>
                <a:off x="2954" y="2407"/>
                <a:ext cx="2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b="1" i="1">
                    <a:solidFill>
                      <a:srgbClr val="FF0000"/>
                    </a:solidFill>
                    <a:ea typeface="Arial Unicode MS" panose="020B0604020202020204" pitchFamily="34" charset="-122"/>
                    <a:cs typeface="Times New Roman" panose="02020603050405020304" pitchFamily="18" charset="0"/>
                  </a:rPr>
                  <a:t>u</a:t>
                </a:r>
                <a:endParaRPr lang="en-US" altLang="zh-CN" sz="2400" b="1" i="1">
                  <a:solidFill>
                    <a:srgbClr val="FF0000"/>
                  </a:solidFill>
                  <a:ea typeface="Arial Unicode MS" panose="020B0604020202020204" pitchFamily="34" charset="-122"/>
                  <a:cs typeface="Times New Roman" panose="02020603050405020304" pitchFamily="18" charset="0"/>
                </a:endParaRPr>
              </a:p>
            </p:txBody>
          </p:sp>
        </p:grpSp>
        <p:grpSp>
          <p:nvGrpSpPr>
            <p:cNvPr id="48" name="Group 53">
              <a:extLst>
                <a:ext uri="{FF2B5EF4-FFF2-40B4-BE49-F238E27FC236}">
                  <a16:creationId xmlns:a16="http://schemas.microsoft.com/office/drawing/2014/main" id="{FFBAD6C0-AB67-431B-881D-ADFE460E3A82}"/>
                </a:ext>
              </a:extLst>
            </p:cNvPr>
            <p:cNvGrpSpPr>
              <a:grpSpLocks/>
            </p:cNvGrpSpPr>
            <p:nvPr/>
          </p:nvGrpSpPr>
          <p:grpSpPr bwMode="auto">
            <a:xfrm>
              <a:off x="7087869" y="3384554"/>
              <a:ext cx="299058" cy="400050"/>
              <a:chOff x="2962" y="2429"/>
              <a:chExt cx="191" cy="252"/>
            </a:xfrm>
          </p:grpSpPr>
          <p:sp>
            <p:nvSpPr>
              <p:cNvPr id="71" name="Rectangle 54">
                <a:extLst>
                  <a:ext uri="{FF2B5EF4-FFF2-40B4-BE49-F238E27FC236}">
                    <a16:creationId xmlns:a16="http://schemas.microsoft.com/office/drawing/2014/main" id="{A3E3DE69-3D13-44EC-B3CA-43B2AE39898B}"/>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72" name="Text Box 55">
                <a:extLst>
                  <a:ext uri="{FF2B5EF4-FFF2-40B4-BE49-F238E27FC236}">
                    <a16:creationId xmlns:a16="http://schemas.microsoft.com/office/drawing/2014/main" id="{E9B87707-6D57-4DCA-BE9F-16D57B23FE56}"/>
                  </a:ext>
                </a:extLst>
              </p:cNvPr>
              <p:cNvSpPr txBox="1">
                <a:spLocks noChangeArrowheads="1"/>
              </p:cNvSpPr>
              <p:nvPr/>
            </p:nvSpPr>
            <p:spPr bwMode="auto">
              <a:xfrm>
                <a:off x="2962" y="2429"/>
                <a:ext cx="1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i="1">
                    <a:solidFill>
                      <a:schemeClr val="bg1"/>
                    </a:solidFill>
                    <a:ea typeface="Arial Unicode MS" panose="020B0604020202020204" pitchFamily="34" charset="-122"/>
                    <a:cs typeface="Times New Roman" panose="02020603050405020304" pitchFamily="18" charset="0"/>
                  </a:rPr>
                  <a:t>y</a:t>
                </a:r>
                <a:endParaRPr lang="en-US" altLang="zh-CN" sz="2400" i="1">
                  <a:solidFill>
                    <a:schemeClr val="bg1"/>
                  </a:solidFill>
                  <a:ea typeface="Arial Unicode MS" panose="020B0604020202020204" pitchFamily="34" charset="-122"/>
                  <a:cs typeface="Times New Roman" panose="02020603050405020304" pitchFamily="18" charset="0"/>
                </a:endParaRPr>
              </a:p>
            </p:txBody>
          </p:sp>
        </p:grpSp>
        <p:grpSp>
          <p:nvGrpSpPr>
            <p:cNvPr id="49" name="Group 56">
              <a:extLst>
                <a:ext uri="{FF2B5EF4-FFF2-40B4-BE49-F238E27FC236}">
                  <a16:creationId xmlns:a16="http://schemas.microsoft.com/office/drawing/2014/main" id="{F9A3B716-6B83-43F5-BAB4-AB0065A6D141}"/>
                </a:ext>
              </a:extLst>
            </p:cNvPr>
            <p:cNvGrpSpPr>
              <a:grpSpLocks/>
            </p:cNvGrpSpPr>
            <p:nvPr/>
          </p:nvGrpSpPr>
          <p:grpSpPr bwMode="auto">
            <a:xfrm>
              <a:off x="6008247" y="3379792"/>
              <a:ext cx="297758" cy="400050"/>
              <a:chOff x="2963" y="2429"/>
              <a:chExt cx="190" cy="252"/>
            </a:xfrm>
          </p:grpSpPr>
          <p:sp>
            <p:nvSpPr>
              <p:cNvPr id="69" name="Rectangle 57">
                <a:extLst>
                  <a:ext uri="{FF2B5EF4-FFF2-40B4-BE49-F238E27FC236}">
                    <a16:creationId xmlns:a16="http://schemas.microsoft.com/office/drawing/2014/main" id="{5CE34FF6-82B3-4151-AA12-E52601E8217D}"/>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70" name="Text Box 58">
                <a:extLst>
                  <a:ext uri="{FF2B5EF4-FFF2-40B4-BE49-F238E27FC236}">
                    <a16:creationId xmlns:a16="http://schemas.microsoft.com/office/drawing/2014/main" id="{01CFA69D-406F-4124-83D7-B55DF27666A1}"/>
                  </a:ext>
                </a:extLst>
              </p:cNvPr>
              <p:cNvSpPr txBox="1">
                <a:spLocks noChangeArrowheads="1"/>
              </p:cNvSpPr>
              <p:nvPr/>
            </p:nvSpPr>
            <p:spPr bwMode="auto">
              <a:xfrm>
                <a:off x="2963" y="2429"/>
                <a:ext cx="19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i="1">
                    <a:solidFill>
                      <a:schemeClr val="bg1"/>
                    </a:solidFill>
                    <a:ea typeface="Arial Unicode MS" panose="020B0604020202020204" pitchFamily="34" charset="-122"/>
                    <a:cs typeface="Times New Roman" panose="02020603050405020304" pitchFamily="18" charset="0"/>
                  </a:rPr>
                  <a:t>x</a:t>
                </a:r>
                <a:endParaRPr lang="en-US" altLang="zh-CN" sz="2400" i="1">
                  <a:solidFill>
                    <a:schemeClr val="bg1"/>
                  </a:solidFill>
                  <a:ea typeface="Arial Unicode MS" panose="020B0604020202020204" pitchFamily="34" charset="-122"/>
                  <a:cs typeface="Times New Roman" panose="02020603050405020304" pitchFamily="18" charset="0"/>
                </a:endParaRPr>
              </a:p>
            </p:txBody>
          </p:sp>
        </p:grpSp>
        <p:grpSp>
          <p:nvGrpSpPr>
            <p:cNvPr id="50" name="Group 59">
              <a:extLst>
                <a:ext uri="{FF2B5EF4-FFF2-40B4-BE49-F238E27FC236}">
                  <a16:creationId xmlns:a16="http://schemas.microsoft.com/office/drawing/2014/main" id="{22172C8D-44B2-4269-BD77-5810CF7CA9EB}"/>
                </a:ext>
              </a:extLst>
            </p:cNvPr>
            <p:cNvGrpSpPr>
              <a:grpSpLocks/>
            </p:cNvGrpSpPr>
            <p:nvPr/>
          </p:nvGrpSpPr>
          <p:grpSpPr bwMode="auto">
            <a:xfrm>
              <a:off x="7051779" y="2289179"/>
              <a:ext cx="356899" cy="400050"/>
              <a:chOff x="2945" y="2429"/>
              <a:chExt cx="228" cy="252"/>
            </a:xfrm>
          </p:grpSpPr>
          <p:sp>
            <p:nvSpPr>
              <p:cNvPr id="67" name="Rectangle 60">
                <a:extLst>
                  <a:ext uri="{FF2B5EF4-FFF2-40B4-BE49-F238E27FC236}">
                    <a16:creationId xmlns:a16="http://schemas.microsoft.com/office/drawing/2014/main" id="{9D4AF961-3337-452B-8820-29574CD87A81}"/>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68" name="Text Box 61">
                <a:extLst>
                  <a:ext uri="{FF2B5EF4-FFF2-40B4-BE49-F238E27FC236}">
                    <a16:creationId xmlns:a16="http://schemas.microsoft.com/office/drawing/2014/main" id="{1DD528D5-4CFA-4CFD-97CC-C5A360444FAA}"/>
                  </a:ext>
                </a:extLst>
              </p:cNvPr>
              <p:cNvSpPr txBox="1">
                <a:spLocks noChangeArrowheads="1"/>
              </p:cNvSpPr>
              <p:nvPr/>
            </p:nvSpPr>
            <p:spPr bwMode="auto">
              <a:xfrm>
                <a:off x="2945" y="2429"/>
                <a:ext cx="22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i="1" dirty="0">
                    <a:solidFill>
                      <a:schemeClr val="bg1"/>
                    </a:solidFill>
                    <a:ea typeface="Arial Unicode MS" panose="020B0604020202020204" pitchFamily="34" charset="-122"/>
                    <a:cs typeface="Times New Roman" panose="02020603050405020304" pitchFamily="18" charset="0"/>
                  </a:rPr>
                  <a:t>w</a:t>
                </a:r>
                <a:endParaRPr lang="en-US" altLang="zh-CN" sz="2400" i="1" dirty="0">
                  <a:solidFill>
                    <a:schemeClr val="bg1"/>
                  </a:solidFill>
                  <a:ea typeface="Arial Unicode MS" panose="020B0604020202020204" pitchFamily="34" charset="-122"/>
                  <a:cs typeface="Times New Roman" panose="02020603050405020304" pitchFamily="18" charset="0"/>
                </a:endParaRPr>
              </a:p>
            </p:txBody>
          </p:sp>
        </p:grpSp>
        <p:grpSp>
          <p:nvGrpSpPr>
            <p:cNvPr id="51" name="Group 62">
              <a:extLst>
                <a:ext uri="{FF2B5EF4-FFF2-40B4-BE49-F238E27FC236}">
                  <a16:creationId xmlns:a16="http://schemas.microsoft.com/office/drawing/2014/main" id="{1D3CDC73-C279-4C24-A35E-788A39574224}"/>
                </a:ext>
              </a:extLst>
            </p:cNvPr>
            <p:cNvGrpSpPr>
              <a:grpSpLocks/>
            </p:cNvGrpSpPr>
            <p:nvPr/>
          </p:nvGrpSpPr>
          <p:grpSpPr bwMode="auto">
            <a:xfrm>
              <a:off x="5994055" y="2289179"/>
              <a:ext cx="299076" cy="400050"/>
              <a:chOff x="2963" y="2429"/>
              <a:chExt cx="191" cy="252"/>
            </a:xfrm>
          </p:grpSpPr>
          <p:sp>
            <p:nvSpPr>
              <p:cNvPr id="65" name="Rectangle 63">
                <a:extLst>
                  <a:ext uri="{FF2B5EF4-FFF2-40B4-BE49-F238E27FC236}">
                    <a16:creationId xmlns:a16="http://schemas.microsoft.com/office/drawing/2014/main" id="{D7B98E7B-66C6-4939-9A9B-730D9D5517CA}"/>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66" name="Text Box 64">
                <a:extLst>
                  <a:ext uri="{FF2B5EF4-FFF2-40B4-BE49-F238E27FC236}">
                    <a16:creationId xmlns:a16="http://schemas.microsoft.com/office/drawing/2014/main" id="{AF5448AE-45FD-4AA1-9A7D-8FF5C3777492}"/>
                  </a:ext>
                </a:extLst>
              </p:cNvPr>
              <p:cNvSpPr txBox="1">
                <a:spLocks noChangeArrowheads="1"/>
              </p:cNvSpPr>
              <p:nvPr/>
            </p:nvSpPr>
            <p:spPr bwMode="auto">
              <a:xfrm>
                <a:off x="2963" y="2429"/>
                <a:ext cx="19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i="1" dirty="0">
                    <a:solidFill>
                      <a:schemeClr val="bg1"/>
                    </a:solidFill>
                    <a:ea typeface="Arial Unicode MS" panose="020B0604020202020204" pitchFamily="34" charset="-122"/>
                    <a:cs typeface="Times New Roman" panose="02020603050405020304" pitchFamily="18" charset="0"/>
                  </a:rPr>
                  <a:t>v</a:t>
                </a:r>
                <a:endParaRPr lang="en-US" altLang="zh-CN" sz="2400" i="1" dirty="0">
                  <a:solidFill>
                    <a:schemeClr val="bg1"/>
                  </a:solidFill>
                  <a:ea typeface="Arial Unicode MS" panose="020B0604020202020204" pitchFamily="34" charset="-122"/>
                  <a:cs typeface="Times New Roman" panose="02020603050405020304" pitchFamily="18" charset="0"/>
                </a:endParaRPr>
              </a:p>
            </p:txBody>
          </p:sp>
        </p:grpSp>
        <p:grpSp>
          <p:nvGrpSpPr>
            <p:cNvPr id="52" name="Group 65">
              <a:extLst>
                <a:ext uri="{FF2B5EF4-FFF2-40B4-BE49-F238E27FC236}">
                  <a16:creationId xmlns:a16="http://schemas.microsoft.com/office/drawing/2014/main" id="{D9C6EE26-DFF5-4AD6-AC14-89F2B893B38D}"/>
                </a:ext>
              </a:extLst>
            </p:cNvPr>
            <p:cNvGrpSpPr>
              <a:grpSpLocks/>
            </p:cNvGrpSpPr>
            <p:nvPr/>
          </p:nvGrpSpPr>
          <p:grpSpPr bwMode="auto">
            <a:xfrm>
              <a:off x="8005362" y="2841629"/>
              <a:ext cx="283346" cy="400050"/>
              <a:chOff x="2967" y="2429"/>
              <a:chExt cx="181" cy="252"/>
            </a:xfrm>
          </p:grpSpPr>
          <p:sp>
            <p:nvSpPr>
              <p:cNvPr id="63" name="Rectangle 66">
                <a:extLst>
                  <a:ext uri="{FF2B5EF4-FFF2-40B4-BE49-F238E27FC236}">
                    <a16:creationId xmlns:a16="http://schemas.microsoft.com/office/drawing/2014/main" id="{B84CDCFF-D786-460B-8091-361E4771DCFB}"/>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i="1">
                  <a:solidFill>
                    <a:schemeClr val="bg1"/>
                  </a:solidFill>
                  <a:ea typeface="Arial Unicode MS" panose="020B0604020202020204" pitchFamily="34" charset="-122"/>
                  <a:cs typeface="Times New Roman" panose="02020603050405020304" pitchFamily="18" charset="0"/>
                </a:endParaRPr>
              </a:p>
            </p:txBody>
          </p:sp>
          <p:sp>
            <p:nvSpPr>
              <p:cNvPr id="64" name="Text Box 67">
                <a:extLst>
                  <a:ext uri="{FF2B5EF4-FFF2-40B4-BE49-F238E27FC236}">
                    <a16:creationId xmlns:a16="http://schemas.microsoft.com/office/drawing/2014/main" id="{E3C5B231-04D0-4DDB-9F0F-F114AFD7C884}"/>
                  </a:ext>
                </a:extLst>
              </p:cNvPr>
              <p:cNvSpPr txBox="1">
                <a:spLocks noChangeArrowheads="1"/>
              </p:cNvSpPr>
              <p:nvPr/>
            </p:nvSpPr>
            <p:spPr bwMode="auto">
              <a:xfrm>
                <a:off x="2967" y="2429"/>
                <a:ext cx="18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i="1">
                    <a:solidFill>
                      <a:schemeClr val="bg1"/>
                    </a:solidFill>
                    <a:ea typeface="Arial Unicode MS" panose="020B0604020202020204" pitchFamily="34" charset="-122"/>
                    <a:cs typeface="Times New Roman" panose="02020603050405020304" pitchFamily="18" charset="0"/>
                  </a:rPr>
                  <a:t>z</a:t>
                </a:r>
                <a:endParaRPr lang="en-US" altLang="zh-CN" sz="2400" i="1">
                  <a:solidFill>
                    <a:schemeClr val="bg1"/>
                  </a:solidFill>
                  <a:ea typeface="Arial Unicode MS" panose="020B0604020202020204" pitchFamily="34" charset="-122"/>
                  <a:cs typeface="Times New Roman" panose="02020603050405020304" pitchFamily="18" charset="0"/>
                </a:endParaRPr>
              </a:p>
            </p:txBody>
          </p:sp>
        </p:grpSp>
        <p:sp>
          <p:nvSpPr>
            <p:cNvPr id="53" name="Text Box 68">
              <a:extLst>
                <a:ext uri="{FF2B5EF4-FFF2-40B4-BE49-F238E27FC236}">
                  <a16:creationId xmlns:a16="http://schemas.microsoft.com/office/drawing/2014/main" id="{AAEA89BB-920C-4441-9A6B-0FF65B7890FF}"/>
                </a:ext>
              </a:extLst>
            </p:cNvPr>
            <p:cNvSpPr txBox="1">
              <a:spLocks noChangeArrowheads="1"/>
            </p:cNvSpPr>
            <p:nvPr/>
          </p:nvSpPr>
          <p:spPr bwMode="auto">
            <a:xfrm>
              <a:off x="5550672" y="2493963"/>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a:solidFill>
                    <a:schemeClr val="bg1"/>
                  </a:solidFill>
                  <a:ea typeface="Arial Unicode MS" panose="020B0604020202020204" pitchFamily="34" charset="-122"/>
                  <a:cs typeface="Times New Roman" panose="02020603050405020304" pitchFamily="18" charset="0"/>
                </a:rPr>
                <a:t>2</a:t>
              </a:r>
              <a:endParaRPr lang="en-US" altLang="zh-CN" sz="2400" i="1">
                <a:solidFill>
                  <a:schemeClr val="bg1"/>
                </a:solidFill>
                <a:ea typeface="Arial Unicode MS" panose="020B0604020202020204" pitchFamily="34" charset="-122"/>
                <a:cs typeface="Times New Roman" panose="02020603050405020304" pitchFamily="18" charset="0"/>
              </a:endParaRPr>
            </a:p>
          </p:txBody>
        </p:sp>
        <p:sp>
          <p:nvSpPr>
            <p:cNvPr id="54" name="Text Box 69">
              <a:extLst>
                <a:ext uri="{FF2B5EF4-FFF2-40B4-BE49-F238E27FC236}">
                  <a16:creationId xmlns:a16="http://schemas.microsoft.com/office/drawing/2014/main" id="{73DBB368-1564-4CB9-A417-0D520B58DAC7}"/>
                </a:ext>
              </a:extLst>
            </p:cNvPr>
            <p:cNvSpPr txBox="1">
              <a:spLocks noChangeArrowheads="1"/>
            </p:cNvSpPr>
            <p:nvPr/>
          </p:nvSpPr>
          <p:spPr bwMode="auto">
            <a:xfrm>
              <a:off x="6103122" y="2841625"/>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a:solidFill>
                    <a:schemeClr val="bg1"/>
                  </a:solidFill>
                  <a:ea typeface="Arial Unicode MS" panose="020B0604020202020204" pitchFamily="34" charset="-122"/>
                  <a:cs typeface="Times New Roman" panose="02020603050405020304" pitchFamily="18" charset="0"/>
                </a:rPr>
                <a:t>2</a:t>
              </a:r>
              <a:endParaRPr lang="en-US" altLang="zh-CN" sz="2400" i="1">
                <a:solidFill>
                  <a:schemeClr val="bg1"/>
                </a:solidFill>
                <a:ea typeface="Arial Unicode MS" panose="020B0604020202020204" pitchFamily="34" charset="-122"/>
                <a:cs typeface="Times New Roman" panose="02020603050405020304" pitchFamily="18" charset="0"/>
              </a:endParaRPr>
            </a:p>
          </p:txBody>
        </p:sp>
        <p:sp>
          <p:nvSpPr>
            <p:cNvPr id="55" name="Text Box 70">
              <a:extLst>
                <a:ext uri="{FF2B5EF4-FFF2-40B4-BE49-F238E27FC236}">
                  <a16:creationId xmlns:a16="http://schemas.microsoft.com/office/drawing/2014/main" id="{C7F4441A-B9D8-48ED-BBDD-1A869FACA581}"/>
                </a:ext>
              </a:extLst>
            </p:cNvPr>
            <p:cNvSpPr txBox="1">
              <a:spLocks noChangeArrowheads="1"/>
            </p:cNvSpPr>
            <p:nvPr/>
          </p:nvSpPr>
          <p:spPr bwMode="auto">
            <a:xfrm>
              <a:off x="5411765" y="3179763"/>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a:solidFill>
                    <a:schemeClr val="bg1"/>
                  </a:solidFill>
                  <a:ea typeface="Arial Unicode MS" panose="020B0604020202020204" pitchFamily="34" charset="-122"/>
                  <a:cs typeface="Times New Roman" panose="02020603050405020304" pitchFamily="18" charset="0"/>
                </a:rPr>
                <a:t>1</a:t>
              </a:r>
              <a:endParaRPr lang="en-US" altLang="zh-CN" sz="2400" i="1">
                <a:solidFill>
                  <a:schemeClr val="bg1"/>
                </a:solidFill>
                <a:ea typeface="Arial Unicode MS" panose="020B0604020202020204" pitchFamily="34" charset="-122"/>
                <a:cs typeface="Times New Roman" panose="02020603050405020304" pitchFamily="18" charset="0"/>
              </a:endParaRPr>
            </a:p>
          </p:txBody>
        </p:sp>
        <p:sp>
          <p:nvSpPr>
            <p:cNvPr id="56" name="Text Box 71">
              <a:extLst>
                <a:ext uri="{FF2B5EF4-FFF2-40B4-BE49-F238E27FC236}">
                  <a16:creationId xmlns:a16="http://schemas.microsoft.com/office/drawing/2014/main" id="{8CF25E4A-21F3-4C84-A01E-86231D417C1D}"/>
                </a:ext>
              </a:extLst>
            </p:cNvPr>
            <p:cNvSpPr txBox="1">
              <a:spLocks noChangeArrowheads="1"/>
            </p:cNvSpPr>
            <p:nvPr/>
          </p:nvSpPr>
          <p:spPr bwMode="auto">
            <a:xfrm>
              <a:off x="6712722" y="2989263"/>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dirty="0">
                  <a:solidFill>
                    <a:schemeClr val="bg1"/>
                  </a:solidFill>
                  <a:ea typeface="Arial Unicode MS" panose="020B0604020202020204" pitchFamily="34" charset="-122"/>
                  <a:cs typeface="Times New Roman" panose="02020603050405020304" pitchFamily="18" charset="0"/>
                </a:rPr>
                <a:t>3</a:t>
              </a:r>
              <a:endParaRPr lang="en-US" altLang="zh-CN" sz="2400" i="1" dirty="0">
                <a:solidFill>
                  <a:schemeClr val="bg1"/>
                </a:solidFill>
                <a:ea typeface="Arial Unicode MS" panose="020B0604020202020204" pitchFamily="34" charset="-122"/>
                <a:cs typeface="Times New Roman" panose="02020603050405020304" pitchFamily="18" charset="0"/>
              </a:endParaRPr>
            </a:p>
          </p:txBody>
        </p:sp>
        <p:sp>
          <p:nvSpPr>
            <p:cNvPr id="57" name="Text Box 72">
              <a:extLst>
                <a:ext uri="{FF2B5EF4-FFF2-40B4-BE49-F238E27FC236}">
                  <a16:creationId xmlns:a16="http://schemas.microsoft.com/office/drawing/2014/main" id="{22856281-3F71-49B4-B7D3-46CB0B9B2F52}"/>
                </a:ext>
              </a:extLst>
            </p:cNvPr>
            <p:cNvSpPr txBox="1">
              <a:spLocks noChangeArrowheads="1"/>
            </p:cNvSpPr>
            <p:nvPr/>
          </p:nvSpPr>
          <p:spPr bwMode="auto">
            <a:xfrm>
              <a:off x="6611915" y="355123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a:solidFill>
                    <a:schemeClr val="bg1"/>
                  </a:solidFill>
                  <a:ea typeface="Arial Unicode MS" panose="020B0604020202020204" pitchFamily="34" charset="-122"/>
                  <a:cs typeface="Times New Roman" panose="02020603050405020304" pitchFamily="18" charset="0"/>
                </a:rPr>
                <a:t>1</a:t>
              </a:r>
              <a:endParaRPr lang="en-US" altLang="zh-CN" sz="2400" i="1">
                <a:solidFill>
                  <a:schemeClr val="bg1"/>
                </a:solidFill>
                <a:ea typeface="Arial Unicode MS" panose="020B0604020202020204" pitchFamily="34" charset="-122"/>
                <a:cs typeface="Times New Roman" panose="02020603050405020304" pitchFamily="18" charset="0"/>
              </a:endParaRPr>
            </a:p>
          </p:txBody>
        </p:sp>
        <p:sp>
          <p:nvSpPr>
            <p:cNvPr id="58" name="Text Box 73">
              <a:extLst>
                <a:ext uri="{FF2B5EF4-FFF2-40B4-BE49-F238E27FC236}">
                  <a16:creationId xmlns:a16="http://schemas.microsoft.com/office/drawing/2014/main" id="{D9ECFD84-A970-4446-91EF-8ABD7DE8AAD1}"/>
                </a:ext>
              </a:extLst>
            </p:cNvPr>
            <p:cNvSpPr txBox="1">
              <a:spLocks noChangeArrowheads="1"/>
            </p:cNvSpPr>
            <p:nvPr/>
          </p:nvSpPr>
          <p:spPr bwMode="auto">
            <a:xfrm>
              <a:off x="7183415" y="2870200"/>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a:solidFill>
                    <a:schemeClr val="bg1"/>
                  </a:solidFill>
                  <a:ea typeface="Arial Unicode MS" panose="020B0604020202020204" pitchFamily="34" charset="-122"/>
                  <a:cs typeface="Times New Roman" panose="02020603050405020304" pitchFamily="18" charset="0"/>
                </a:rPr>
                <a:t>1</a:t>
              </a:r>
              <a:endParaRPr lang="en-US" altLang="zh-CN" sz="2400" i="1">
                <a:solidFill>
                  <a:schemeClr val="bg1"/>
                </a:solidFill>
                <a:ea typeface="Arial Unicode MS" panose="020B0604020202020204" pitchFamily="34" charset="-122"/>
                <a:cs typeface="Times New Roman" panose="02020603050405020304" pitchFamily="18" charset="0"/>
              </a:endParaRPr>
            </a:p>
          </p:txBody>
        </p:sp>
        <p:sp>
          <p:nvSpPr>
            <p:cNvPr id="59" name="Text Box 74">
              <a:extLst>
                <a:ext uri="{FF2B5EF4-FFF2-40B4-BE49-F238E27FC236}">
                  <a16:creationId xmlns:a16="http://schemas.microsoft.com/office/drawing/2014/main" id="{306DEE31-27B6-4827-AC95-5A18D85C125C}"/>
                </a:ext>
              </a:extLst>
            </p:cNvPr>
            <p:cNvSpPr txBox="1">
              <a:spLocks noChangeArrowheads="1"/>
            </p:cNvSpPr>
            <p:nvPr/>
          </p:nvSpPr>
          <p:spPr bwMode="auto">
            <a:xfrm>
              <a:off x="7755709" y="3289300"/>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a:solidFill>
                    <a:schemeClr val="bg1"/>
                  </a:solidFill>
                  <a:ea typeface="Arial Unicode MS" panose="020B0604020202020204" pitchFamily="34" charset="-122"/>
                  <a:cs typeface="Times New Roman" panose="02020603050405020304" pitchFamily="18" charset="0"/>
                </a:rPr>
                <a:t>2</a:t>
              </a:r>
              <a:endParaRPr lang="en-US" altLang="zh-CN" sz="2400" i="1">
                <a:solidFill>
                  <a:schemeClr val="bg1"/>
                </a:solidFill>
                <a:ea typeface="Arial Unicode MS" panose="020B0604020202020204" pitchFamily="34" charset="-122"/>
                <a:cs typeface="Times New Roman" panose="02020603050405020304" pitchFamily="18" charset="0"/>
              </a:endParaRPr>
            </a:p>
          </p:txBody>
        </p:sp>
        <p:sp>
          <p:nvSpPr>
            <p:cNvPr id="60" name="Text Box 75">
              <a:extLst>
                <a:ext uri="{FF2B5EF4-FFF2-40B4-BE49-F238E27FC236}">
                  <a16:creationId xmlns:a16="http://schemas.microsoft.com/office/drawing/2014/main" id="{2A8198C0-49A0-456B-8CC1-95210F52BB4A}"/>
                </a:ext>
              </a:extLst>
            </p:cNvPr>
            <p:cNvSpPr txBox="1">
              <a:spLocks noChangeArrowheads="1"/>
            </p:cNvSpPr>
            <p:nvPr/>
          </p:nvSpPr>
          <p:spPr bwMode="auto">
            <a:xfrm>
              <a:off x="7712847" y="2436813"/>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a:solidFill>
                    <a:schemeClr val="bg1"/>
                  </a:solidFill>
                  <a:ea typeface="Arial Unicode MS" panose="020B0604020202020204" pitchFamily="34" charset="-122"/>
                  <a:cs typeface="Times New Roman" panose="02020603050405020304" pitchFamily="18" charset="0"/>
                </a:rPr>
                <a:t>5</a:t>
              </a:r>
              <a:endParaRPr lang="en-US" altLang="zh-CN" sz="2400" i="1">
                <a:solidFill>
                  <a:schemeClr val="bg1"/>
                </a:solidFill>
                <a:ea typeface="Arial Unicode MS" panose="020B0604020202020204" pitchFamily="34" charset="-122"/>
                <a:cs typeface="Times New Roman" panose="02020603050405020304" pitchFamily="18" charset="0"/>
              </a:endParaRPr>
            </a:p>
          </p:txBody>
        </p:sp>
        <p:sp>
          <p:nvSpPr>
            <p:cNvPr id="61" name="Text Box 76">
              <a:extLst>
                <a:ext uri="{FF2B5EF4-FFF2-40B4-BE49-F238E27FC236}">
                  <a16:creationId xmlns:a16="http://schemas.microsoft.com/office/drawing/2014/main" id="{B1C95FB4-D7EA-4404-8D07-581FE4A0A0A7}"/>
                </a:ext>
              </a:extLst>
            </p:cNvPr>
            <p:cNvSpPr txBox="1">
              <a:spLocks noChangeArrowheads="1"/>
            </p:cNvSpPr>
            <p:nvPr/>
          </p:nvSpPr>
          <p:spPr bwMode="auto">
            <a:xfrm>
              <a:off x="6546034" y="2198688"/>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a:solidFill>
                    <a:schemeClr val="bg1"/>
                  </a:solidFill>
                  <a:ea typeface="Arial Unicode MS" panose="020B0604020202020204" pitchFamily="34" charset="-122"/>
                  <a:cs typeface="Times New Roman" panose="02020603050405020304" pitchFamily="18" charset="0"/>
                </a:rPr>
                <a:t>3</a:t>
              </a:r>
              <a:endParaRPr lang="en-US" altLang="zh-CN" sz="2400" i="1">
                <a:solidFill>
                  <a:schemeClr val="bg1"/>
                </a:solidFill>
                <a:ea typeface="Arial Unicode MS" panose="020B0604020202020204" pitchFamily="34" charset="-122"/>
                <a:cs typeface="Times New Roman" panose="02020603050405020304" pitchFamily="18" charset="0"/>
              </a:endParaRPr>
            </a:p>
          </p:txBody>
        </p:sp>
        <p:sp>
          <p:nvSpPr>
            <p:cNvPr id="62" name="Text Box 77">
              <a:extLst>
                <a:ext uri="{FF2B5EF4-FFF2-40B4-BE49-F238E27FC236}">
                  <a16:creationId xmlns:a16="http://schemas.microsoft.com/office/drawing/2014/main" id="{6D0CF229-145C-40C7-97A2-4F61ECF1E763}"/>
                </a:ext>
              </a:extLst>
            </p:cNvPr>
            <p:cNvSpPr txBox="1">
              <a:spLocks noChangeArrowheads="1"/>
            </p:cNvSpPr>
            <p:nvPr/>
          </p:nvSpPr>
          <p:spPr bwMode="auto">
            <a:xfrm>
              <a:off x="5988822" y="1774825"/>
              <a:ext cx="30008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4"/>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i="1">
                  <a:solidFill>
                    <a:schemeClr val="bg1"/>
                  </a:solidFill>
                  <a:ea typeface="Arial Unicode MS" panose="020B0604020202020204" pitchFamily="34" charset="-122"/>
                  <a:cs typeface="Times New Roman" panose="02020603050405020304" pitchFamily="18" charset="0"/>
                </a:rPr>
                <a:t>5</a:t>
              </a:r>
              <a:endParaRPr lang="en-US" altLang="zh-CN" sz="2400" i="1">
                <a:solidFill>
                  <a:schemeClr val="bg1"/>
                </a:solidFill>
                <a:ea typeface="Arial Unicode MS" panose="020B0604020202020204" pitchFamily="34" charset="-122"/>
                <a:cs typeface="Times New Roman" panose="02020603050405020304" pitchFamily="18" charset="0"/>
              </a:endParaRPr>
            </a:p>
          </p:txBody>
        </p:sp>
      </p:grpSp>
      <p:sp>
        <p:nvSpPr>
          <p:cNvPr id="75" name="矩形 74"/>
          <p:cNvSpPr/>
          <p:nvPr/>
        </p:nvSpPr>
        <p:spPr>
          <a:xfrm>
            <a:off x="1475160" y="5990187"/>
            <a:ext cx="6096000" cy="369332"/>
          </a:xfrm>
          <a:prstGeom prst="rect">
            <a:avLst/>
          </a:prstGeom>
        </p:spPr>
        <p:txBody>
          <a:bodyPr>
            <a:spAutoFit/>
          </a:bodyPr>
          <a:lstStyle/>
          <a:p>
            <a:pPr>
              <a:spcBef>
                <a:spcPct val="0"/>
              </a:spcBef>
              <a:buClrTx/>
              <a:buSzTx/>
              <a:buFontTx/>
              <a:buNone/>
            </a:pPr>
            <a:endParaRPr lang="zh-CN" altLang="en-US" dirty="0">
              <a:solidFill>
                <a:srgbClr val="0000CC"/>
              </a:solidFill>
              <a:ea typeface="宋体" panose="02010600030101010101" pitchFamily="2" charset="-122"/>
            </a:endParaRPr>
          </a:p>
        </p:txBody>
      </p:sp>
      <p:sp>
        <p:nvSpPr>
          <p:cNvPr id="78"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5.3.3 </a:t>
            </a:r>
            <a:r>
              <a:rPr kumimoji="1" lang="zh-CN" altLang="en-US" dirty="0">
                <a:latin typeface="DengXian" panose="02010600030101010101" pitchFamily="2" charset="-122"/>
                <a:ea typeface="DengXian" panose="02010600030101010101" pitchFamily="2" charset="-122"/>
              </a:rPr>
              <a:t>距离向量路由</a:t>
            </a:r>
          </a:p>
        </p:txBody>
      </p:sp>
    </p:spTree>
    <p:extLst>
      <p:ext uri="{BB962C8B-B14F-4D97-AF65-F5344CB8AC3E}">
        <p14:creationId xmlns:p14="http://schemas.microsoft.com/office/powerpoint/2010/main" val="22971238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距离向量路由</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38200" y="1510758"/>
                <a:ext cx="10515600" cy="5072922"/>
              </a:xfrm>
            </p:spPr>
            <p:txBody>
              <a:bodyPr>
                <a:normAutofit lnSpcReduction="10000"/>
              </a:bodyPr>
              <a:lstStyle/>
              <a:p>
                <a:pPr>
                  <a:defRPr/>
                </a:pPr>
                <a:r>
                  <a:rPr lang="zh-CN" altLang="en-US" dirty="0">
                    <a:latin typeface="等线" panose="02010600030101010101" pitchFamily="2" charset="-122"/>
                    <a:ea typeface="等线" panose="02010600030101010101" pitchFamily="2" charset="-122"/>
                  </a:rPr>
                  <a:t>距离向量</a:t>
                </a:r>
                <a:r>
                  <a:rPr kumimoji="1" lang="zh-CN" altLang="en-US" dirty="0"/>
                  <a:t>（</a:t>
                </a:r>
                <a:r>
                  <a:rPr lang="en-US" altLang="zh-CN" dirty="0"/>
                  <a:t>Distance Vector</a:t>
                </a:r>
                <a:r>
                  <a:rPr kumimoji="1" lang="zh-CN" altLang="en-US" dirty="0"/>
                  <a:t>）</a:t>
                </a:r>
                <a:r>
                  <a:rPr lang="zh-CN" altLang="en-US" dirty="0">
                    <a:latin typeface="等线" panose="02010600030101010101" pitchFamily="2" charset="-122"/>
                    <a:ea typeface="等线" panose="02010600030101010101" pitchFamily="2" charset="-122"/>
                  </a:rPr>
                  <a:t>算法基本思想</a:t>
                </a:r>
                <a:r>
                  <a:rPr lang="en-US" altLang="zh-CN" dirty="0">
                    <a:latin typeface="等线" panose="02010600030101010101" pitchFamily="2" charset="-122"/>
                    <a:ea typeface="等线" panose="02010600030101010101" pitchFamily="2" charset="-122"/>
                  </a:rPr>
                  <a:t>: </a:t>
                </a:r>
              </a:p>
              <a:p>
                <a:pPr lvl="1">
                  <a:defRPr/>
                </a:pPr>
                <a:r>
                  <a:rPr lang="zh-CN" altLang="en-US" dirty="0">
                    <a:latin typeface="等线" panose="02010600030101010101" pitchFamily="2" charset="-122"/>
                    <a:ea typeface="等线" panose="02010600030101010101" pitchFamily="2" charset="-122"/>
                  </a:rPr>
                  <a:t>每个节点周期性地向邻居发送它自己到某些节点的距离向量；</a:t>
                </a:r>
                <a:endParaRPr lang="en-US" altLang="zh-CN" dirty="0">
                  <a:latin typeface="等线" panose="02010600030101010101" pitchFamily="2" charset="-122"/>
                  <a:ea typeface="等线" panose="02010600030101010101" pitchFamily="2" charset="-122"/>
                </a:endParaRPr>
              </a:p>
              <a:p>
                <a:pPr lvl="1">
                  <a:defRPr/>
                </a:pPr>
                <a:r>
                  <a:rPr lang="zh-CN" altLang="en-US" dirty="0">
                    <a:latin typeface="等线" panose="02010600030101010101" pitchFamily="2" charset="-122"/>
                    <a:ea typeface="等线" panose="02010600030101010101" pitchFamily="2" charset="-122"/>
                  </a:rPr>
                  <a:t>当节点</a:t>
                </a:r>
                <a14:m>
                  <m:oMath xmlns:m="http://schemas.openxmlformats.org/officeDocument/2006/math">
                    <m:r>
                      <a:rPr lang="en-US" altLang="zh-CN" i="1" dirty="0" smtClean="0">
                        <a:latin typeface="Cambria Math" panose="02040503050406030204" pitchFamily="18" charset="0"/>
                        <a:ea typeface="等线" panose="02010600030101010101" pitchFamily="2" charset="-122"/>
                      </a:rPr>
                      <m:t>𝑥</m:t>
                    </m:r>
                  </m:oMath>
                </a14:m>
                <a:r>
                  <a:rPr lang="zh-CN" altLang="en-US" dirty="0">
                    <a:latin typeface="等线" panose="02010600030101010101" pitchFamily="2" charset="-122"/>
                    <a:ea typeface="等线" panose="02010600030101010101" pitchFamily="2" charset="-122"/>
                  </a:rPr>
                  <a:t>接收到来自邻居的新距离向量估计，它使用</a:t>
                </a:r>
                <a:r>
                  <a:rPr lang="en-US" altLang="zh-CN" dirty="0">
                    <a:latin typeface="Times New Roman" panose="02020603050405020304" pitchFamily="18" charset="0"/>
                    <a:cs typeface="Times New Roman" panose="02020603050405020304" pitchFamily="18" charset="0"/>
                  </a:rPr>
                  <a:t>Bellman-Ford</a:t>
                </a:r>
                <a:r>
                  <a:rPr lang="zh-CN" altLang="en-US" dirty="0">
                    <a:latin typeface="等线" panose="02010600030101010101" pitchFamily="2" charset="-122"/>
                    <a:ea typeface="等线" panose="02010600030101010101" pitchFamily="2" charset="-122"/>
                  </a:rPr>
                  <a:t>方程更新其自己的距离向量</a:t>
                </a:r>
                <a:r>
                  <a:rPr lang="en-US" altLang="zh-CN" dirty="0">
                    <a:latin typeface="等线" panose="02010600030101010101" pitchFamily="2" charset="-122"/>
                    <a:ea typeface="等线" panose="02010600030101010101" pitchFamily="2" charset="-122"/>
                  </a:rPr>
                  <a:t> :</a:t>
                </a:r>
              </a:p>
              <a:p>
                <a:pPr lvl="1">
                  <a:defRPr/>
                </a:pPr>
                <a:endParaRPr lang="en-US" altLang="zh-CN" dirty="0">
                  <a:ea typeface="宋体" charset="-122"/>
                </a:endParaRPr>
              </a:p>
              <a:p>
                <a:pPr lvl="1">
                  <a:defRPr/>
                </a:pPr>
                <a:endParaRPr lang="en-US" altLang="zh-CN" dirty="0">
                  <a:ea typeface="宋体" charset="-122"/>
                </a:endParaRPr>
              </a:p>
              <a:p>
                <a:pPr lvl="1">
                  <a:defRPr/>
                </a:pPr>
                <a:endParaRPr lang="en-US" altLang="zh-CN" dirty="0">
                  <a:latin typeface="等线" panose="02010600030101010101" pitchFamily="2" charset="-122"/>
                  <a:ea typeface="等线" panose="02010600030101010101" pitchFamily="2" charset="-122"/>
                </a:endParaRPr>
              </a:p>
              <a:p>
                <a:pPr lvl="1">
                  <a:defRPr/>
                </a:pPr>
                <a:r>
                  <a:rPr lang="zh-CN" altLang="en-US" dirty="0">
                    <a:latin typeface="等线" panose="02010600030101010101" pitchFamily="2" charset="-122"/>
                    <a:ea typeface="等线" panose="02010600030101010101" pitchFamily="2" charset="-122"/>
                  </a:rPr>
                  <a:t>上述过程迭代执行，</a:t>
                </a:r>
                <a14:m>
                  <m:oMath xmlns:m="http://schemas.openxmlformats.org/officeDocument/2006/math">
                    <m:r>
                      <a:rPr lang="en-US" altLang="zh-CN" i="1" dirty="0" smtClean="0">
                        <a:latin typeface="Cambria Math" panose="02040503050406030204" pitchFamily="18" charset="0"/>
                        <a:ea typeface="等线" panose="02010600030101010101" pitchFamily="2" charset="-122"/>
                        <a:cs typeface="Times New Roman" pitchFamily="18" charset="0"/>
                      </a:rPr>
                      <m:t>𝐷</m:t>
                    </m:r>
                    <m:r>
                      <a:rPr lang="en-US" altLang="zh-CN" i="1" baseline="-30000" dirty="0" err="1">
                        <a:latin typeface="Cambria Math" panose="02040503050406030204" pitchFamily="18" charset="0"/>
                        <a:ea typeface="等线" panose="02010600030101010101" pitchFamily="2" charset="-122"/>
                        <a:cs typeface="Times New Roman" pitchFamily="18" charset="0"/>
                      </a:rPr>
                      <m:t>𝑥</m:t>
                    </m:r>
                    <m:r>
                      <a:rPr lang="en-US" altLang="zh-CN" i="1" dirty="0">
                        <a:latin typeface="Cambria Math" panose="02040503050406030204" pitchFamily="18" charset="0"/>
                        <a:ea typeface="等线" panose="02010600030101010101" pitchFamily="2" charset="-122"/>
                        <a:cs typeface="Times New Roman" pitchFamily="18" charset="0"/>
                      </a:rPr>
                      <m:t>(</m:t>
                    </m:r>
                    <m:r>
                      <a:rPr lang="en-US" altLang="zh-CN" i="1" dirty="0">
                        <a:latin typeface="Cambria Math" panose="02040503050406030204" pitchFamily="18" charset="0"/>
                        <a:ea typeface="等线" panose="02010600030101010101" pitchFamily="2" charset="-122"/>
                        <a:cs typeface="Times New Roman" pitchFamily="18" charset="0"/>
                      </a:rPr>
                      <m:t>𝑦</m:t>
                    </m:r>
                    <m:r>
                      <a:rPr lang="en-US" altLang="zh-CN" i="1" dirty="0">
                        <a:latin typeface="Cambria Math" panose="02040503050406030204" pitchFamily="18" charset="0"/>
                        <a:ea typeface="等线" panose="02010600030101010101" pitchFamily="2" charset="-122"/>
                        <a:cs typeface="Times New Roman" pitchFamily="18" charset="0"/>
                      </a:rPr>
                      <m:t>)</m:t>
                    </m:r>
                  </m:oMath>
                </a14:m>
                <a:r>
                  <a:rPr lang="zh-CN" altLang="en-US" i="1" dirty="0">
                    <a:latin typeface="等线" panose="02010600030101010101" pitchFamily="2" charset="-122"/>
                    <a:ea typeface="等线" panose="02010600030101010101" pitchFamily="2" charset="-122"/>
                    <a:cs typeface="Times New Roman" pitchFamily="18" charset="0"/>
                  </a:rPr>
                  <a:t>收敛为实际最小费用 </a:t>
                </a:r>
                <a14:m>
                  <m:oMath xmlns:m="http://schemas.openxmlformats.org/officeDocument/2006/math">
                    <m:r>
                      <a:rPr lang="en-US" altLang="zh-CN" i="1" dirty="0" smtClean="0">
                        <a:latin typeface="Cambria Math" panose="02040503050406030204" pitchFamily="18" charset="0"/>
                        <a:ea typeface="等线" panose="02010600030101010101" pitchFamily="2" charset="-122"/>
                      </a:rPr>
                      <m:t>𝑑</m:t>
                    </m:r>
                    <m:r>
                      <a:rPr lang="en-US" altLang="zh-CN" i="1" baseline="-25000" dirty="0">
                        <a:latin typeface="Cambria Math" panose="02040503050406030204" pitchFamily="18" charset="0"/>
                        <a:ea typeface="等线" panose="02010600030101010101" pitchFamily="2" charset="-122"/>
                      </a:rPr>
                      <m:t>𝑥</m:t>
                    </m:r>
                    <m:r>
                      <a:rPr lang="en-US" altLang="zh-CN" i="1" dirty="0">
                        <a:latin typeface="Cambria Math" panose="02040503050406030204" pitchFamily="18" charset="0"/>
                        <a:ea typeface="等线" panose="02010600030101010101" pitchFamily="2" charset="-122"/>
                      </a:rPr>
                      <m:t>(</m:t>
                    </m:r>
                    <m:r>
                      <a:rPr lang="en-US" altLang="zh-CN" i="1" dirty="0">
                        <a:latin typeface="Cambria Math" panose="02040503050406030204" pitchFamily="18" charset="0"/>
                        <a:ea typeface="等线" panose="02010600030101010101" pitchFamily="2" charset="-122"/>
                      </a:rPr>
                      <m:t>𝑦</m:t>
                    </m:r>
                    <m:r>
                      <a:rPr lang="en-US" altLang="zh-CN" i="1" dirty="0">
                        <a:latin typeface="Cambria Math" panose="02040503050406030204" pitchFamily="18" charset="0"/>
                        <a:ea typeface="等线" panose="02010600030101010101" pitchFamily="2" charset="-122"/>
                      </a:rPr>
                      <m:t>)</m:t>
                    </m:r>
                  </m:oMath>
                </a14:m>
                <a:endParaRPr lang="en-US" altLang="zh-CN" dirty="0">
                  <a:latin typeface="等线" panose="02010600030101010101" pitchFamily="2" charset="-122"/>
                  <a:ea typeface="等线" panose="02010600030101010101" pitchFamily="2" charset="-122"/>
                </a:endParaRPr>
              </a:p>
              <a:p>
                <a:pPr>
                  <a:defRPr/>
                </a:pPr>
                <a:endParaRPr lang="en-US" altLang="zh-CN" dirty="0">
                  <a:latin typeface="等线" panose="02010600030101010101" pitchFamily="2" charset="-122"/>
                  <a:ea typeface="等线" panose="02010600030101010101" pitchFamily="2" charset="-122"/>
                </a:endParaRPr>
              </a:p>
              <a:p>
                <a:pPr>
                  <a:defRPr/>
                </a:pPr>
                <a:r>
                  <a:rPr lang="zh-CN" altLang="en-US" dirty="0">
                    <a:latin typeface="等线" panose="02010600030101010101" pitchFamily="2" charset="-122"/>
                    <a:ea typeface="等线" panose="02010600030101010101" pitchFamily="2" charset="-122"/>
                  </a:rPr>
                  <a:t>距离向量算法特点：迭代的、分布式的</a:t>
                </a:r>
                <a:endParaRPr lang="en-US" altLang="zh-CN" dirty="0">
                  <a:latin typeface="等线" panose="02010600030101010101" pitchFamily="2" charset="-122"/>
                  <a:ea typeface="等线" panose="02010600030101010101" pitchFamily="2" charset="-122"/>
                </a:endParaRPr>
              </a:p>
              <a:p>
                <a:pPr lvl="1">
                  <a:defRPr/>
                </a:pPr>
                <a:r>
                  <a:rPr lang="zh-CN" altLang="en-US" dirty="0">
                    <a:latin typeface="等线" panose="02010600030101010101" pitchFamily="2" charset="-122"/>
                    <a:ea typeface="等线" panose="02010600030101010101" pitchFamily="2" charset="-122"/>
                  </a:rPr>
                  <a:t>每次本地迭代由下列引起</a:t>
                </a:r>
                <a:r>
                  <a:rPr lang="en-US" altLang="zh-CN" dirty="0">
                    <a:latin typeface="等线" panose="02010600030101010101" pitchFamily="2" charset="-122"/>
                    <a:ea typeface="等线" panose="02010600030101010101" pitchFamily="2" charset="-122"/>
                  </a:rPr>
                  <a:t>: </a:t>
                </a:r>
                <a:r>
                  <a:rPr lang="zh-CN" altLang="en-US" dirty="0">
                    <a:latin typeface="等线" panose="02010600030101010101" pitchFamily="2" charset="-122"/>
                    <a:ea typeface="等线" panose="02010600030101010101" pitchFamily="2" charset="-122"/>
                  </a:rPr>
                  <a:t>本地链路费用改变、邻居更新报文</a:t>
                </a:r>
                <a:endParaRPr lang="en-US" altLang="zh-CN" dirty="0">
                  <a:latin typeface="等线" panose="02010600030101010101" pitchFamily="2" charset="-122"/>
                  <a:ea typeface="等线" panose="02010600030101010101" pitchFamily="2" charset="-122"/>
                </a:endParaRPr>
              </a:p>
              <a:p>
                <a:pPr lvl="1">
                  <a:defRPr/>
                </a:pPr>
                <a:r>
                  <a:rPr lang="zh-CN" altLang="en-US" dirty="0">
                    <a:latin typeface="等线" panose="02010600030101010101" pitchFamily="2" charset="-122"/>
                    <a:ea typeface="等线" panose="02010600030101010101" pitchFamily="2" charset="-122"/>
                  </a:rPr>
                  <a:t>分布式</a:t>
                </a:r>
                <a:r>
                  <a:rPr lang="en-US" altLang="zh-CN" dirty="0">
                    <a:latin typeface="等线" panose="02010600030101010101" pitchFamily="2" charset="-122"/>
                    <a:ea typeface="等线" panose="02010600030101010101" pitchFamily="2" charset="-122"/>
                  </a:rPr>
                  <a:t>:</a:t>
                </a:r>
                <a:r>
                  <a:rPr lang="zh-CN" altLang="en-US" dirty="0">
                    <a:latin typeface="等线" panose="02010600030101010101" pitchFamily="2" charset="-122"/>
                    <a:ea typeface="等线" panose="02010600030101010101" pitchFamily="2" charset="-122"/>
                  </a:rPr>
                  <a:t>各节点依次计算，相互依赖</a:t>
                </a:r>
                <a:endParaRPr lang="en-US" altLang="zh-CN" dirty="0">
                  <a:latin typeface="等线" panose="02010600030101010101" pitchFamily="2" charset="-122"/>
                  <a:ea typeface="等线" panose="02010600030101010101" pitchFamily="2" charset="-122"/>
                </a:endParaRPr>
              </a:p>
              <a:p>
                <a:pPr lvl="1">
                  <a:defRPr/>
                </a:pPr>
                <a:endParaRPr lang="en-US" altLang="zh-CN" dirty="0">
                  <a:ea typeface="宋体" charset="-122"/>
                </a:endParaRPr>
              </a:p>
              <a:p>
                <a:pPr lvl="1"/>
                <a:endParaRPr lang="zh-CN" altLang="en-US" sz="40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38200" y="1510758"/>
                <a:ext cx="10515600" cy="5072922"/>
              </a:xfrm>
              <a:blipFill>
                <a:blip r:embed="rId3"/>
                <a:stretch>
                  <a:fillRect l="-1086" t="-2250" b="-750"/>
                </a:stretch>
              </a:blipFill>
            </p:spPr>
            <p:txBody>
              <a:bodyPr/>
              <a:lstStyle/>
              <a:p>
                <a:r>
                  <a:rPr lang="en-CN">
                    <a:noFill/>
                  </a:rPr>
                  <a:t> </a:t>
                </a:r>
              </a:p>
            </p:txBody>
          </p:sp>
        </mc:Fallback>
      </mc:AlternateContent>
      <p:sp>
        <p:nvSpPr>
          <p:cNvPr id="4" name="灯片编号占位符 3"/>
          <p:cNvSpPr>
            <a:spLocks noGrp="1"/>
          </p:cNvSpPr>
          <p:nvPr>
            <p:ph type="sldNum" sz="quarter" idx="12"/>
          </p:nvPr>
        </p:nvSpPr>
        <p:spPr/>
        <p:txBody>
          <a:bodyPr/>
          <a:lstStyle/>
          <a:p>
            <a:fld id="{8D4D1E41-7A09-AB4A-A4E1-09765ADA2698}" type="slidenum">
              <a:rPr kumimoji="1" lang="zh-CN" altLang="en-US" smtClean="0"/>
              <a:pPr/>
              <a:t>60</a:t>
            </a:fld>
            <a:endParaRPr kumimoji="1" lang="zh-CN" altLang="en-US" dirty="0"/>
          </a:p>
        </p:txBody>
      </p:sp>
      <mc:AlternateContent xmlns:mc="http://schemas.openxmlformats.org/markup-compatibility/2006" xmlns:a14="http://schemas.microsoft.com/office/drawing/2010/main">
        <mc:Choice Requires="a14">
          <p:sp>
            <p:nvSpPr>
              <p:cNvPr id="5" name="Rectangle 4"/>
              <p:cNvSpPr>
                <a:spLocks noChangeArrowheads="1"/>
              </p:cNvSpPr>
              <p:nvPr/>
            </p:nvSpPr>
            <p:spPr bwMode="auto">
              <a:xfrm>
                <a:off x="652354" y="3348046"/>
                <a:ext cx="7780400" cy="4616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none" anchor="ctr">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14:m>
                  <m:oMathPara xmlns:m="http://schemas.openxmlformats.org/officeDocument/2006/math">
                    <m:oMathParaPr>
                      <m:jc m:val="centerGroup"/>
                    </m:oMathParaPr>
                    <m:oMath xmlns:m="http://schemas.openxmlformats.org/officeDocument/2006/math">
                      <m:r>
                        <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rPr>
                        <m:t>𝐷</m:t>
                      </m:r>
                      <m:r>
                        <a:rPr lang="en-US" altLang="zh-CN" sz="2400" i="1" baseline="-30000" dirty="0" err="1">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 ← </m:t>
                      </m:r>
                      <m:r>
                        <a:rPr lang="en-US" altLang="zh-CN" sz="2400" i="1" dirty="0" err="1">
                          <a:latin typeface="Cambria Math" panose="02040503050406030204" pitchFamily="18" charset="0"/>
                          <a:ea typeface="宋体" panose="02010600030101010101" pitchFamily="2" charset="-122"/>
                          <a:cs typeface="Times New Roman" panose="02020603050405020304" pitchFamily="18" charset="0"/>
                        </a:rPr>
                        <m:t>𝑚𝑖𝑛</m:t>
                      </m:r>
                      <m:r>
                        <a:rPr lang="en-US" altLang="zh-CN" sz="2400" i="1" baseline="-30000" dirty="0" err="1">
                          <a:latin typeface="Cambria Math" panose="02040503050406030204" pitchFamily="18" charset="0"/>
                          <a:ea typeface="宋体" panose="02010600030101010101" pitchFamily="2" charset="-122"/>
                          <a:cs typeface="Times New Roman" panose="02020603050405020304" pitchFamily="18" charset="0"/>
                        </a:rPr>
                        <m:t>𝑣</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𝑐</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dirty="0" err="1">
                          <a:latin typeface="Cambria Math" panose="02040503050406030204" pitchFamily="18" charset="0"/>
                          <a:ea typeface="宋体" panose="02010600030101010101" pitchFamily="2" charset="-122"/>
                          <a:cs typeface="Times New Roman" panose="02020603050405020304" pitchFamily="18" charset="0"/>
                        </a:rPr>
                        <m:t>𝑥</m:t>
                      </m:r>
                      <m:r>
                        <a:rPr lang="en-US" altLang="zh-CN" sz="2400" i="1" dirty="0" err="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dirty="0" err="1">
                          <a:latin typeface="Cambria Math" panose="02040503050406030204" pitchFamily="18" charset="0"/>
                          <a:ea typeface="宋体" panose="02010600030101010101" pitchFamily="2" charset="-122"/>
                          <a:cs typeface="Times New Roman" panose="02020603050405020304" pitchFamily="18" charset="0"/>
                        </a:rPr>
                        <m:t>𝑣</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 + </m:t>
                      </m:r>
                      <m:r>
                        <a:rPr lang="en-US" altLang="zh-CN" sz="2400" i="1" dirty="0" err="1">
                          <a:latin typeface="Cambria Math" panose="02040503050406030204" pitchFamily="18" charset="0"/>
                          <a:ea typeface="宋体" panose="02010600030101010101" pitchFamily="2" charset="-122"/>
                          <a:cs typeface="Times New Roman" panose="02020603050405020304" pitchFamily="18" charset="0"/>
                        </a:rPr>
                        <m:t>𝐷</m:t>
                      </m:r>
                      <m:r>
                        <a:rPr lang="en-US" altLang="zh-CN" sz="2400" i="1" baseline="-30000" dirty="0" err="1">
                          <a:latin typeface="Cambria Math" panose="02040503050406030204" pitchFamily="18" charset="0"/>
                          <a:ea typeface="宋体" panose="02010600030101010101" pitchFamily="2" charset="-122"/>
                          <a:cs typeface="Times New Roman" panose="02020603050405020304" pitchFamily="18" charset="0"/>
                        </a:rPr>
                        <m:t>𝑣</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𝑓𝑜𝑟</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𝑒𝑎𝑐h</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𝑛𝑜𝑑𝑒</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𝑦</m:t>
                      </m:r>
                      <m:r>
                        <a:rPr lang="en-US" altLang="zh-CN" sz="2400" i="1" dirty="0">
                          <a:latin typeface="Cambria Math" panose="02040503050406030204" pitchFamily="18" charset="0"/>
                          <a:ea typeface="宋体" panose="02010600030101010101" pitchFamily="2" charset="-122"/>
                          <a:cs typeface="Times New Roman" panose="02020603050405020304" pitchFamily="18" charset="0"/>
                        </a:rPr>
                        <m:t> ∊ </m:t>
                      </m:r>
                      <m:r>
                        <a:rPr lang="en-US" altLang="zh-CN" sz="2400" i="1" dirty="0">
                          <a:latin typeface="Cambria Math" panose="02040503050406030204" pitchFamily="18" charset="0"/>
                          <a:ea typeface="宋体" panose="02010600030101010101" pitchFamily="2" charset="-122"/>
                        </a:rPr>
                        <m:t>𝑁</m:t>
                      </m:r>
                    </m:oMath>
                  </m:oMathPara>
                </a14:m>
                <a:endParaRPr lang="en-US" altLang="zh-CN" sz="2400" i="1" dirty="0">
                  <a:latin typeface="Times" panose="02020603050405020304" pitchFamily="18" charset="0"/>
                  <a:ea typeface="宋体" panose="02010600030101010101" pitchFamily="2" charset="-122"/>
                </a:endParaRPr>
              </a:p>
            </p:txBody>
          </p:sp>
        </mc:Choice>
        <mc:Fallback xmlns="">
          <p:sp>
            <p:nvSpPr>
              <p:cNvPr id="5" name="Rectangle 4"/>
              <p:cNvSpPr>
                <a:spLocks noRot="1" noChangeAspect="1" noMove="1" noResize="1" noEditPoints="1" noAdjustHandles="1" noChangeArrowheads="1" noChangeShapeType="1" noTextEdit="1"/>
              </p:cNvSpPr>
              <p:nvPr/>
            </p:nvSpPr>
            <p:spPr bwMode="auto">
              <a:xfrm>
                <a:off x="652354" y="3348046"/>
                <a:ext cx="7780400" cy="461665"/>
              </a:xfrm>
              <a:prstGeom prst="rect">
                <a:avLst/>
              </a:prstGeom>
              <a:blipFill>
                <a:blip r:embed="rId4"/>
                <a:stretch>
                  <a:fillRect b="-216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N">
                    <a:noFill/>
                  </a:rPr>
                  <a:t> </a:t>
                </a:r>
              </a:p>
            </p:txBody>
          </p:sp>
        </mc:Fallback>
      </mc:AlternateContent>
      <p:grpSp>
        <p:nvGrpSpPr>
          <p:cNvPr id="6" name="Group 3"/>
          <p:cNvGrpSpPr>
            <a:grpSpLocks/>
          </p:cNvGrpSpPr>
          <p:nvPr/>
        </p:nvGrpSpPr>
        <p:grpSpPr bwMode="auto">
          <a:xfrm>
            <a:off x="8618600" y="2920961"/>
            <a:ext cx="3711575" cy="2532062"/>
            <a:chOff x="3162" y="1071"/>
            <a:chExt cx="2250" cy="1409"/>
          </a:xfrm>
        </p:grpSpPr>
        <p:sp>
          <p:nvSpPr>
            <p:cNvPr id="7" name="Freeform 4"/>
            <p:cNvSpPr>
              <a:spLocks/>
            </p:cNvSpPr>
            <p:nvPr/>
          </p:nvSpPr>
          <p:spPr bwMode="auto">
            <a:xfrm>
              <a:off x="3162" y="1071"/>
              <a:ext cx="2250" cy="1409"/>
            </a:xfrm>
            <a:custGeom>
              <a:avLst/>
              <a:gdLst>
                <a:gd name="T0" fmla="*/ 0 w 2250"/>
                <a:gd name="T1" fmla="*/ 624 h 1409"/>
                <a:gd name="T2" fmla="*/ 219 w 2250"/>
                <a:gd name="T3" fmla="*/ 321 h 1409"/>
                <a:gd name="T4" fmla="*/ 529 w 2250"/>
                <a:gd name="T5" fmla="*/ 35 h 1409"/>
                <a:gd name="T6" fmla="*/ 1551 w 2250"/>
                <a:gd name="T7" fmla="*/ 111 h 1409"/>
                <a:gd name="T8" fmla="*/ 1968 w 2250"/>
                <a:gd name="T9" fmla="*/ 483 h 1409"/>
                <a:gd name="T10" fmla="*/ 2199 w 2250"/>
                <a:gd name="T11" fmla="*/ 906 h 1409"/>
                <a:gd name="T12" fmla="*/ 1659 w 2250"/>
                <a:gd name="T13" fmla="*/ 1314 h 1409"/>
                <a:gd name="T14" fmla="*/ 993 w 2250"/>
                <a:gd name="T15" fmla="*/ 1386 h 1409"/>
                <a:gd name="T16" fmla="*/ 465 w 2250"/>
                <a:gd name="T17" fmla="*/ 1356 h 1409"/>
                <a:gd name="T18" fmla="*/ 102 w 2250"/>
                <a:gd name="T19" fmla="*/ 1068 h 1409"/>
                <a:gd name="T20" fmla="*/ 0 w 2250"/>
                <a:gd name="T21" fmla="*/ 624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8" name="Freeform 5"/>
            <p:cNvSpPr>
              <a:spLocks/>
            </p:cNvSpPr>
            <p:nvPr/>
          </p:nvSpPr>
          <p:spPr bwMode="auto">
            <a:xfrm>
              <a:off x="3498" y="1620"/>
              <a:ext cx="342" cy="186"/>
            </a:xfrm>
            <a:custGeom>
              <a:avLst/>
              <a:gdLst>
                <a:gd name="T0" fmla="*/ 0 w 342"/>
                <a:gd name="T1" fmla="*/ 186 h 186"/>
                <a:gd name="T2" fmla="*/ 342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9" name="Oval 6"/>
            <p:cNvSpPr>
              <a:spLocks noChangeArrowheads="1"/>
            </p:cNvSpPr>
            <p:nvPr/>
          </p:nvSpPr>
          <p:spPr bwMode="auto">
            <a:xfrm>
              <a:off x="3238" y="1862"/>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Line 7"/>
            <p:cNvSpPr>
              <a:spLocks noChangeShapeType="1"/>
            </p:cNvSpPr>
            <p:nvPr/>
          </p:nvSpPr>
          <p:spPr bwMode="auto">
            <a:xfrm>
              <a:off x="3238"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11" name="Line 8"/>
            <p:cNvSpPr>
              <a:spLocks noChangeShapeType="1"/>
            </p:cNvSpPr>
            <p:nvPr/>
          </p:nvSpPr>
          <p:spPr bwMode="auto">
            <a:xfrm>
              <a:off x="3551" y="1855"/>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12" name="Rectangle 9"/>
            <p:cNvSpPr>
              <a:spLocks noChangeArrowheads="1"/>
            </p:cNvSpPr>
            <p:nvPr/>
          </p:nvSpPr>
          <p:spPr bwMode="auto">
            <a:xfrm>
              <a:off x="3238" y="1855"/>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Oval 10"/>
            <p:cNvSpPr>
              <a:spLocks noChangeArrowheads="1"/>
            </p:cNvSpPr>
            <p:nvPr/>
          </p:nvSpPr>
          <p:spPr bwMode="auto">
            <a:xfrm>
              <a:off x="3235" y="1796"/>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4" name="Oval 11"/>
            <p:cNvSpPr>
              <a:spLocks noChangeArrowheads="1"/>
            </p:cNvSpPr>
            <p:nvPr/>
          </p:nvSpPr>
          <p:spPr bwMode="auto">
            <a:xfrm>
              <a:off x="3712" y="2249"/>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5" name="Line 12"/>
            <p:cNvSpPr>
              <a:spLocks noChangeShapeType="1"/>
            </p:cNvSpPr>
            <p:nvPr/>
          </p:nvSpPr>
          <p:spPr bwMode="auto">
            <a:xfrm>
              <a:off x="3712"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16" name="Line 13"/>
            <p:cNvSpPr>
              <a:spLocks noChangeShapeType="1"/>
            </p:cNvSpPr>
            <p:nvPr/>
          </p:nvSpPr>
          <p:spPr bwMode="auto">
            <a:xfrm>
              <a:off x="4025" y="224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17" name="Rectangle 14"/>
            <p:cNvSpPr>
              <a:spLocks noChangeArrowheads="1"/>
            </p:cNvSpPr>
            <p:nvPr/>
          </p:nvSpPr>
          <p:spPr bwMode="auto">
            <a:xfrm>
              <a:off x="3712" y="2242"/>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8" name="Oval 15"/>
            <p:cNvSpPr>
              <a:spLocks noChangeArrowheads="1"/>
            </p:cNvSpPr>
            <p:nvPr/>
          </p:nvSpPr>
          <p:spPr bwMode="auto">
            <a:xfrm>
              <a:off x="3709" y="2183"/>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19" name="Oval 16"/>
            <p:cNvSpPr>
              <a:spLocks noChangeArrowheads="1"/>
            </p:cNvSpPr>
            <p:nvPr/>
          </p:nvSpPr>
          <p:spPr bwMode="auto">
            <a:xfrm>
              <a:off x="3708" y="1559"/>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0" name="Line 17"/>
            <p:cNvSpPr>
              <a:spLocks noChangeShapeType="1"/>
            </p:cNvSpPr>
            <p:nvPr/>
          </p:nvSpPr>
          <p:spPr bwMode="auto">
            <a:xfrm>
              <a:off x="3708"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21" name="Line 18"/>
            <p:cNvSpPr>
              <a:spLocks noChangeShapeType="1"/>
            </p:cNvSpPr>
            <p:nvPr/>
          </p:nvSpPr>
          <p:spPr bwMode="auto">
            <a:xfrm>
              <a:off x="4021" y="1552"/>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22" name="Rectangle 19"/>
            <p:cNvSpPr>
              <a:spLocks noChangeArrowheads="1"/>
            </p:cNvSpPr>
            <p:nvPr/>
          </p:nvSpPr>
          <p:spPr bwMode="auto">
            <a:xfrm>
              <a:off x="3708" y="1552"/>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3" name="Oval 20"/>
            <p:cNvSpPr>
              <a:spLocks noChangeArrowheads="1"/>
            </p:cNvSpPr>
            <p:nvPr/>
          </p:nvSpPr>
          <p:spPr bwMode="auto">
            <a:xfrm>
              <a:off x="3705" y="1493"/>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4" name="Oval 21"/>
            <p:cNvSpPr>
              <a:spLocks noChangeArrowheads="1"/>
            </p:cNvSpPr>
            <p:nvPr/>
          </p:nvSpPr>
          <p:spPr bwMode="auto">
            <a:xfrm>
              <a:off x="4391" y="1555"/>
              <a:ext cx="312"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5" name="Line 22"/>
            <p:cNvSpPr>
              <a:spLocks noChangeShapeType="1"/>
            </p:cNvSpPr>
            <p:nvPr/>
          </p:nvSpPr>
          <p:spPr bwMode="auto">
            <a:xfrm>
              <a:off x="4391"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26" name="Line 23"/>
            <p:cNvSpPr>
              <a:spLocks noChangeShapeType="1"/>
            </p:cNvSpPr>
            <p:nvPr/>
          </p:nvSpPr>
          <p:spPr bwMode="auto">
            <a:xfrm>
              <a:off x="4703" y="154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27" name="Rectangle 24"/>
            <p:cNvSpPr>
              <a:spLocks noChangeArrowheads="1"/>
            </p:cNvSpPr>
            <p:nvPr/>
          </p:nvSpPr>
          <p:spPr bwMode="auto">
            <a:xfrm>
              <a:off x="4391" y="1548"/>
              <a:ext cx="309"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8" name="Oval 25"/>
            <p:cNvSpPr>
              <a:spLocks noChangeArrowheads="1"/>
            </p:cNvSpPr>
            <p:nvPr/>
          </p:nvSpPr>
          <p:spPr bwMode="auto">
            <a:xfrm>
              <a:off x="4394" y="1492"/>
              <a:ext cx="312"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29" name="Oval 26"/>
            <p:cNvSpPr>
              <a:spLocks noChangeArrowheads="1"/>
            </p:cNvSpPr>
            <p:nvPr/>
          </p:nvSpPr>
          <p:spPr bwMode="auto">
            <a:xfrm>
              <a:off x="4401" y="2246"/>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0" name="Line 27"/>
            <p:cNvSpPr>
              <a:spLocks noChangeShapeType="1"/>
            </p:cNvSpPr>
            <p:nvPr/>
          </p:nvSpPr>
          <p:spPr bwMode="auto">
            <a:xfrm>
              <a:off x="4401"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31" name="Line 28"/>
            <p:cNvSpPr>
              <a:spLocks noChangeShapeType="1"/>
            </p:cNvSpPr>
            <p:nvPr/>
          </p:nvSpPr>
          <p:spPr bwMode="auto">
            <a:xfrm>
              <a:off x="4714" y="2239"/>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32" name="Rectangle 29"/>
            <p:cNvSpPr>
              <a:spLocks noChangeArrowheads="1"/>
            </p:cNvSpPr>
            <p:nvPr/>
          </p:nvSpPr>
          <p:spPr bwMode="auto">
            <a:xfrm>
              <a:off x="4401" y="2239"/>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3" name="Oval 30"/>
            <p:cNvSpPr>
              <a:spLocks noChangeArrowheads="1"/>
            </p:cNvSpPr>
            <p:nvPr/>
          </p:nvSpPr>
          <p:spPr bwMode="auto">
            <a:xfrm>
              <a:off x="4398" y="2180"/>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4" name="Oval 31"/>
            <p:cNvSpPr>
              <a:spLocks noChangeArrowheads="1"/>
            </p:cNvSpPr>
            <p:nvPr/>
          </p:nvSpPr>
          <p:spPr bwMode="auto">
            <a:xfrm>
              <a:off x="4966" y="1905"/>
              <a:ext cx="313" cy="81"/>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5" name="Line 32"/>
            <p:cNvSpPr>
              <a:spLocks noChangeShapeType="1"/>
            </p:cNvSpPr>
            <p:nvPr/>
          </p:nvSpPr>
          <p:spPr bwMode="auto">
            <a:xfrm>
              <a:off x="4966"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36" name="Line 33"/>
            <p:cNvSpPr>
              <a:spLocks noChangeShapeType="1"/>
            </p:cNvSpPr>
            <p:nvPr/>
          </p:nvSpPr>
          <p:spPr bwMode="auto">
            <a:xfrm>
              <a:off x="5279" y="1898"/>
              <a:ext cx="0" cy="5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37" name="Rectangle 34"/>
            <p:cNvSpPr>
              <a:spLocks noChangeArrowheads="1"/>
            </p:cNvSpPr>
            <p:nvPr/>
          </p:nvSpPr>
          <p:spPr bwMode="auto">
            <a:xfrm>
              <a:off x="4966" y="1898"/>
              <a:ext cx="310" cy="49"/>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endParaRPr lang="zh-CN"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8" name="Oval 35"/>
            <p:cNvSpPr>
              <a:spLocks noChangeArrowheads="1"/>
            </p:cNvSpPr>
            <p:nvPr/>
          </p:nvSpPr>
          <p:spPr bwMode="auto">
            <a:xfrm>
              <a:off x="4963" y="1839"/>
              <a:ext cx="313" cy="95"/>
            </a:xfrm>
            <a:prstGeom prst="ellipse">
              <a:avLst/>
            </a:prstGeom>
            <a:solidFill>
              <a:schemeClr val="hlink"/>
            </a:solidFill>
            <a:ln w="12700">
              <a:solidFill>
                <a:schemeClr val="tx1"/>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39" name="Freeform 36"/>
            <p:cNvSpPr>
              <a:spLocks/>
            </p:cNvSpPr>
            <p:nvPr/>
          </p:nvSpPr>
          <p:spPr bwMode="auto">
            <a:xfrm>
              <a:off x="4557" y="1647"/>
              <a:ext cx="1" cy="522"/>
            </a:xfrm>
            <a:custGeom>
              <a:avLst/>
              <a:gdLst>
                <a:gd name="T0" fmla="*/ 0 w 1"/>
                <a:gd name="T1" fmla="*/ 0 h 522"/>
                <a:gd name="T2" fmla="*/ 0 w 1"/>
                <a:gd name="T3" fmla="*/ 522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40" name="Freeform 37"/>
            <p:cNvSpPr>
              <a:spLocks/>
            </p:cNvSpPr>
            <p:nvPr/>
          </p:nvSpPr>
          <p:spPr bwMode="auto">
            <a:xfrm>
              <a:off x="3864" y="1653"/>
              <a:ext cx="1" cy="537"/>
            </a:xfrm>
            <a:custGeom>
              <a:avLst/>
              <a:gdLst>
                <a:gd name="T0" fmla="*/ 0 w 1"/>
                <a:gd name="T1" fmla="*/ 0 h 537"/>
                <a:gd name="T2" fmla="*/ 0 w 1"/>
                <a:gd name="T3" fmla="*/ 537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41" name="Freeform 38"/>
            <p:cNvSpPr>
              <a:spLocks/>
            </p:cNvSpPr>
            <p:nvPr/>
          </p:nvSpPr>
          <p:spPr bwMode="auto">
            <a:xfrm>
              <a:off x="4029" y="1638"/>
              <a:ext cx="504" cy="600"/>
            </a:xfrm>
            <a:custGeom>
              <a:avLst/>
              <a:gdLst>
                <a:gd name="T0" fmla="*/ 0 w 378"/>
                <a:gd name="T1" fmla="*/ 2147483646 h 174"/>
                <a:gd name="T2" fmla="*/ 211931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42" name="Freeform 39"/>
            <p:cNvSpPr>
              <a:spLocks/>
            </p:cNvSpPr>
            <p:nvPr/>
          </p:nvSpPr>
          <p:spPr bwMode="auto">
            <a:xfrm>
              <a:off x="4716" y="1986"/>
              <a:ext cx="366" cy="270"/>
            </a:xfrm>
            <a:custGeom>
              <a:avLst/>
              <a:gdLst>
                <a:gd name="T0" fmla="*/ 0 w 366"/>
                <a:gd name="T1" fmla="*/ 270 h 270"/>
                <a:gd name="T2" fmla="*/ 36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43" name="Freeform 40"/>
            <p:cNvSpPr>
              <a:spLocks/>
            </p:cNvSpPr>
            <p:nvPr/>
          </p:nvSpPr>
          <p:spPr bwMode="auto">
            <a:xfrm>
              <a:off x="4035" y="226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44" name="Freeform 41"/>
            <p:cNvSpPr>
              <a:spLocks/>
            </p:cNvSpPr>
            <p:nvPr/>
          </p:nvSpPr>
          <p:spPr bwMode="auto">
            <a:xfrm>
              <a:off x="3444" y="1944"/>
              <a:ext cx="276" cy="264"/>
            </a:xfrm>
            <a:custGeom>
              <a:avLst/>
              <a:gdLst>
                <a:gd name="T0" fmla="*/ 276 w 276"/>
                <a:gd name="T1" fmla="*/ 264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45" name="Freeform 42"/>
            <p:cNvSpPr>
              <a:spLocks/>
            </p:cNvSpPr>
            <p:nvPr/>
          </p:nvSpPr>
          <p:spPr bwMode="auto">
            <a:xfrm>
              <a:off x="4029" y="1578"/>
              <a:ext cx="366" cy="1"/>
            </a:xfrm>
            <a:custGeom>
              <a:avLst/>
              <a:gdLst>
                <a:gd name="T0" fmla="*/ 36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46" name="Freeform 43"/>
            <p:cNvSpPr>
              <a:spLocks/>
            </p:cNvSpPr>
            <p:nvPr/>
          </p:nvSpPr>
          <p:spPr bwMode="auto">
            <a:xfrm>
              <a:off x="4704" y="1575"/>
              <a:ext cx="396" cy="267"/>
            </a:xfrm>
            <a:custGeom>
              <a:avLst/>
              <a:gdLst>
                <a:gd name="T0" fmla="*/ 396 w 396"/>
                <a:gd name="T1" fmla="*/ 267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sp>
          <p:nvSpPr>
            <p:cNvPr id="47" name="Freeform 44"/>
            <p:cNvSpPr>
              <a:spLocks/>
            </p:cNvSpPr>
            <p:nvPr/>
          </p:nvSpPr>
          <p:spPr bwMode="auto">
            <a:xfrm>
              <a:off x="3387" y="1146"/>
              <a:ext cx="1110" cy="645"/>
            </a:xfrm>
            <a:custGeom>
              <a:avLst/>
              <a:gdLst>
                <a:gd name="T0" fmla="*/ 1110 w 1110"/>
                <a:gd name="T1" fmla="*/ 342 h 645"/>
                <a:gd name="T2" fmla="*/ 0 w 1110"/>
                <a:gd name="T3" fmla="*/ 645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i="1">
                <a:latin typeface="Times New Roman" panose="02020603050405020304" pitchFamily="18" charset="0"/>
                <a:cs typeface="Times New Roman" panose="02020603050405020304" pitchFamily="18" charset="0"/>
              </a:endParaRPr>
            </a:p>
          </p:txBody>
        </p:sp>
        <p:grpSp>
          <p:nvGrpSpPr>
            <p:cNvPr id="48" name="Group 45"/>
            <p:cNvGrpSpPr>
              <a:grpSpLocks/>
            </p:cNvGrpSpPr>
            <p:nvPr/>
          </p:nvGrpSpPr>
          <p:grpSpPr bwMode="auto">
            <a:xfrm>
              <a:off x="3285" y="1721"/>
              <a:ext cx="205" cy="257"/>
              <a:chOff x="2950" y="2402"/>
              <a:chExt cx="208" cy="257"/>
            </a:xfrm>
          </p:grpSpPr>
          <p:sp>
            <p:nvSpPr>
              <p:cNvPr id="74" name="Rectangle 46"/>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75" name="Text Box 47"/>
              <p:cNvSpPr txBox="1">
                <a:spLocks noChangeArrowheads="1"/>
              </p:cNvSpPr>
              <p:nvPr/>
            </p:nvSpPr>
            <p:spPr bwMode="auto">
              <a:xfrm>
                <a:off x="2950" y="2402"/>
                <a:ext cx="208"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i="1">
                    <a:solidFill>
                      <a:srgbClr val="C00000"/>
                    </a:solidFill>
                    <a:latin typeface="Times New Roman" panose="02020603050405020304" pitchFamily="18" charset="0"/>
                    <a:ea typeface="宋体" panose="02010600030101010101" pitchFamily="2" charset="-122"/>
                    <a:cs typeface="Times New Roman" panose="02020603050405020304" pitchFamily="18" charset="0"/>
                  </a:rPr>
                  <a:t>u</a:t>
                </a:r>
              </a:p>
            </p:txBody>
          </p:sp>
        </p:grpSp>
        <p:grpSp>
          <p:nvGrpSpPr>
            <p:cNvPr id="49" name="Group 48"/>
            <p:cNvGrpSpPr>
              <a:grpSpLocks/>
            </p:cNvGrpSpPr>
            <p:nvPr/>
          </p:nvGrpSpPr>
          <p:grpSpPr bwMode="auto">
            <a:xfrm>
              <a:off x="4466" y="2132"/>
              <a:ext cx="181" cy="223"/>
              <a:chOff x="2967" y="2429"/>
              <a:chExt cx="184" cy="223"/>
            </a:xfrm>
          </p:grpSpPr>
          <p:sp>
            <p:nvSpPr>
              <p:cNvPr id="72" name="Rectangle 49"/>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73" name="Text Box 50"/>
              <p:cNvSpPr txBox="1">
                <a:spLocks noChangeArrowheads="1"/>
              </p:cNvSpPr>
              <p:nvPr/>
            </p:nvSpPr>
            <p:spPr bwMode="auto">
              <a:xfrm>
                <a:off x="2967" y="2429"/>
                <a:ext cx="18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i="1">
                    <a:latin typeface="Times New Roman" panose="02020603050405020304" pitchFamily="18" charset="0"/>
                    <a:ea typeface="宋体" panose="02010600030101010101" pitchFamily="2" charset="-122"/>
                    <a:cs typeface="Times New Roman" panose="02020603050405020304" pitchFamily="18" charset="0"/>
                  </a:rPr>
                  <a:t>y</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50" name="Group 51"/>
            <p:cNvGrpSpPr>
              <a:grpSpLocks/>
            </p:cNvGrpSpPr>
            <p:nvPr/>
          </p:nvGrpSpPr>
          <p:grpSpPr bwMode="auto">
            <a:xfrm>
              <a:off x="3778" y="2099"/>
              <a:ext cx="194" cy="257"/>
              <a:chOff x="2960" y="2399"/>
              <a:chExt cx="195" cy="257"/>
            </a:xfrm>
          </p:grpSpPr>
          <p:sp>
            <p:nvSpPr>
              <p:cNvPr id="70" name="Rectangle 52"/>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71" name="Text Box 53"/>
              <p:cNvSpPr txBox="1">
                <a:spLocks noChangeArrowheads="1"/>
              </p:cNvSpPr>
              <p:nvPr/>
            </p:nvSpPr>
            <p:spPr bwMode="auto">
              <a:xfrm>
                <a:off x="2960" y="2399"/>
                <a:ext cx="195"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x</a:t>
                </a:r>
              </a:p>
            </p:txBody>
          </p:sp>
        </p:grpSp>
        <p:grpSp>
          <p:nvGrpSpPr>
            <p:cNvPr id="51" name="Group 54"/>
            <p:cNvGrpSpPr>
              <a:grpSpLocks/>
            </p:cNvGrpSpPr>
            <p:nvPr/>
          </p:nvGrpSpPr>
          <p:grpSpPr bwMode="auto">
            <a:xfrm>
              <a:off x="4444" y="1442"/>
              <a:ext cx="216" cy="223"/>
              <a:chOff x="2949" y="2429"/>
              <a:chExt cx="219" cy="223"/>
            </a:xfrm>
          </p:grpSpPr>
          <p:sp>
            <p:nvSpPr>
              <p:cNvPr id="68" name="Rectangle 55"/>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9" name="Text Box 56"/>
              <p:cNvSpPr txBox="1">
                <a:spLocks noChangeArrowheads="1"/>
              </p:cNvSpPr>
              <p:nvPr/>
            </p:nvSpPr>
            <p:spPr bwMode="auto">
              <a:xfrm>
                <a:off x="2949" y="2429"/>
                <a:ext cx="219"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i="1">
                    <a:latin typeface="Times New Roman" panose="02020603050405020304" pitchFamily="18" charset="0"/>
                    <a:ea typeface="宋体" panose="02010600030101010101" pitchFamily="2" charset="-122"/>
                    <a:cs typeface="Times New Roman" panose="02020603050405020304" pitchFamily="18" charset="0"/>
                  </a:rPr>
                  <a:t>w</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52" name="Group 57"/>
            <p:cNvGrpSpPr>
              <a:grpSpLocks/>
            </p:cNvGrpSpPr>
            <p:nvPr/>
          </p:nvGrpSpPr>
          <p:grpSpPr bwMode="auto">
            <a:xfrm>
              <a:off x="3776" y="1442"/>
              <a:ext cx="181" cy="223"/>
              <a:chOff x="2966" y="2429"/>
              <a:chExt cx="184" cy="223"/>
            </a:xfrm>
          </p:grpSpPr>
          <p:sp>
            <p:nvSpPr>
              <p:cNvPr id="66" name="Rectangle 58"/>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7" name="Text Box 59"/>
              <p:cNvSpPr txBox="1">
                <a:spLocks noChangeArrowheads="1"/>
              </p:cNvSpPr>
              <p:nvPr/>
            </p:nvSpPr>
            <p:spPr bwMode="auto">
              <a:xfrm>
                <a:off x="2966" y="2429"/>
                <a:ext cx="184"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000" i="1" dirty="0">
                    <a:latin typeface="Times New Roman" panose="02020603050405020304" pitchFamily="18" charset="0"/>
                    <a:ea typeface="宋体" panose="02010600030101010101" pitchFamily="2" charset="-122"/>
                    <a:cs typeface="Times New Roman" panose="02020603050405020304" pitchFamily="18" charset="0"/>
                  </a:rPr>
                  <a:t>v</a:t>
                </a:r>
                <a:endParaRPr lang="en-US" altLang="zh-CN" sz="2400" i="1" dirty="0">
                  <a:latin typeface="Times New Roman" panose="02020603050405020304" pitchFamily="18" charset="0"/>
                  <a:ea typeface="宋体" panose="02010600030101010101" pitchFamily="2" charset="-122"/>
                  <a:cs typeface="Times New Roman" panose="02020603050405020304" pitchFamily="18" charset="0"/>
                </a:endParaRPr>
              </a:p>
            </p:txBody>
          </p:sp>
        </p:grpSp>
        <p:grpSp>
          <p:nvGrpSpPr>
            <p:cNvPr id="53" name="Group 60"/>
            <p:cNvGrpSpPr>
              <a:grpSpLocks/>
            </p:cNvGrpSpPr>
            <p:nvPr/>
          </p:nvGrpSpPr>
          <p:grpSpPr bwMode="auto">
            <a:xfrm>
              <a:off x="5033" y="1760"/>
              <a:ext cx="185" cy="257"/>
              <a:chOff x="2963" y="2399"/>
              <a:chExt cx="187" cy="257"/>
            </a:xfrm>
          </p:grpSpPr>
          <p:sp>
            <p:nvSpPr>
              <p:cNvPr id="64" name="Rectangle 61"/>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spcBef>
                    <a:spcPct val="0"/>
                  </a:spcBef>
                  <a:buClrTx/>
                  <a:buSzTx/>
                  <a:buFontTx/>
                  <a:buNone/>
                </a:pPr>
                <a:endParaRPr lang="zh-CN" altLang="en-US" sz="18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5" name="Text Box 62"/>
              <p:cNvSpPr txBox="1">
                <a:spLocks noChangeArrowheads="1"/>
              </p:cNvSpPr>
              <p:nvPr/>
            </p:nvSpPr>
            <p:spPr bwMode="auto">
              <a:xfrm>
                <a:off x="2963" y="2399"/>
                <a:ext cx="187"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2400" i="1">
                    <a:latin typeface="Times New Roman" panose="02020603050405020304" pitchFamily="18" charset="0"/>
                    <a:ea typeface="宋体" panose="02010600030101010101" pitchFamily="2" charset="-122"/>
                    <a:cs typeface="Times New Roman" panose="02020603050405020304" pitchFamily="18" charset="0"/>
                  </a:rPr>
                  <a:t>z</a:t>
                </a:r>
              </a:p>
            </p:txBody>
          </p:sp>
        </p:grpSp>
        <p:sp>
          <p:nvSpPr>
            <p:cNvPr id="54" name="Text Box 63"/>
            <p:cNvSpPr txBox="1">
              <a:spLocks noChangeArrowheads="1"/>
            </p:cNvSpPr>
            <p:nvPr/>
          </p:nvSpPr>
          <p:spPr bwMode="auto">
            <a:xfrm>
              <a:off x="3500" y="1571"/>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400" i="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5" name="Text Box 64"/>
            <p:cNvSpPr txBox="1">
              <a:spLocks noChangeArrowheads="1"/>
            </p:cNvSpPr>
            <p:nvPr/>
          </p:nvSpPr>
          <p:spPr bwMode="auto">
            <a:xfrm>
              <a:off x="3848" y="1790"/>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6" name="Text Box 65"/>
            <p:cNvSpPr txBox="1">
              <a:spLocks noChangeArrowheads="1"/>
            </p:cNvSpPr>
            <p:nvPr/>
          </p:nvSpPr>
          <p:spPr bwMode="auto">
            <a:xfrm>
              <a:off x="3413" y="2003"/>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7" name="Text Box 66"/>
            <p:cNvSpPr txBox="1">
              <a:spLocks noChangeArrowheads="1"/>
            </p:cNvSpPr>
            <p:nvPr/>
          </p:nvSpPr>
          <p:spPr bwMode="auto">
            <a:xfrm>
              <a:off x="4232" y="1883"/>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a:latin typeface="Times New Roman" panose="02020603050405020304" pitchFamily="18" charset="0"/>
                  <a:ea typeface="宋体" panose="02010600030101010101" pitchFamily="2" charset="-122"/>
                  <a:cs typeface="Times New Roman" panose="02020603050405020304" pitchFamily="18" charset="0"/>
                </a:rPr>
                <a:t>3</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58" name="Text Box 67"/>
            <p:cNvSpPr txBox="1">
              <a:spLocks noChangeArrowheads="1"/>
            </p:cNvSpPr>
            <p:nvPr/>
          </p:nvSpPr>
          <p:spPr bwMode="auto">
            <a:xfrm>
              <a:off x="4169" y="2237"/>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dirty="0">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400" i="1"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59" name="Text Box 68"/>
            <p:cNvSpPr txBox="1">
              <a:spLocks noChangeArrowheads="1"/>
            </p:cNvSpPr>
            <p:nvPr/>
          </p:nvSpPr>
          <p:spPr bwMode="auto">
            <a:xfrm>
              <a:off x="4529" y="1808"/>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a:latin typeface="Times New Roman" panose="02020603050405020304" pitchFamily="18" charset="0"/>
                  <a:ea typeface="宋体" panose="02010600030101010101" pitchFamily="2" charset="-122"/>
                  <a:cs typeface="Times New Roman" panose="02020603050405020304" pitchFamily="18" charset="0"/>
                </a:rPr>
                <a:t>1</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0" name="Text Box 69"/>
            <p:cNvSpPr txBox="1">
              <a:spLocks noChangeArrowheads="1"/>
            </p:cNvSpPr>
            <p:nvPr/>
          </p:nvSpPr>
          <p:spPr bwMode="auto">
            <a:xfrm>
              <a:off x="4889" y="2072"/>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a:latin typeface="Times New Roman" panose="02020603050405020304" pitchFamily="18" charset="0"/>
                  <a:ea typeface="宋体" panose="02010600030101010101" pitchFamily="2" charset="-122"/>
                  <a:cs typeface="Times New Roman" panose="02020603050405020304" pitchFamily="18" charset="0"/>
                </a:rPr>
                <a:t>2</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1" name="Text Box 70"/>
            <p:cNvSpPr txBox="1">
              <a:spLocks noChangeArrowheads="1"/>
            </p:cNvSpPr>
            <p:nvPr/>
          </p:nvSpPr>
          <p:spPr bwMode="auto">
            <a:xfrm>
              <a:off x="4862" y="1535"/>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a:latin typeface="Times New Roman" panose="02020603050405020304" pitchFamily="18" charset="0"/>
                  <a:ea typeface="宋体" panose="02010600030101010101" pitchFamily="2" charset="-122"/>
                  <a:cs typeface="Times New Roman" panose="02020603050405020304" pitchFamily="18" charset="0"/>
                </a:rPr>
                <a:t>5</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2" name="Text Box 71"/>
            <p:cNvSpPr txBox="1">
              <a:spLocks noChangeArrowheads="1"/>
            </p:cNvSpPr>
            <p:nvPr/>
          </p:nvSpPr>
          <p:spPr bwMode="auto">
            <a:xfrm>
              <a:off x="4127" y="1385"/>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a:latin typeface="Times New Roman" panose="02020603050405020304" pitchFamily="18" charset="0"/>
                  <a:ea typeface="宋体" panose="02010600030101010101" pitchFamily="2" charset="-122"/>
                  <a:cs typeface="Times New Roman" panose="02020603050405020304" pitchFamily="18" charset="0"/>
                </a:rPr>
                <a:t>3</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sp>
          <p:nvSpPr>
            <p:cNvPr id="63" name="Text Box 72"/>
            <p:cNvSpPr txBox="1">
              <a:spLocks noChangeArrowheads="1"/>
            </p:cNvSpPr>
            <p:nvPr/>
          </p:nvSpPr>
          <p:spPr bwMode="auto">
            <a:xfrm>
              <a:off x="3776" y="1118"/>
              <a:ext cx="182" cy="2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zh-CN" sz="1800" i="1">
                  <a:latin typeface="Times New Roman" panose="02020603050405020304" pitchFamily="18" charset="0"/>
                  <a:ea typeface="宋体" panose="02010600030101010101" pitchFamily="2" charset="-122"/>
                  <a:cs typeface="Times New Roman" panose="02020603050405020304" pitchFamily="18" charset="0"/>
                </a:rPr>
                <a:t>5</a:t>
              </a:r>
              <a:endParaRPr lang="en-US" altLang="zh-CN" sz="2400" i="1">
                <a:latin typeface="Times New Roman" panose="02020603050405020304" pitchFamily="18" charset="0"/>
                <a:ea typeface="宋体" panose="02010600030101010101" pitchFamily="2" charset="-122"/>
                <a:cs typeface="Times New Roman" panose="02020603050405020304" pitchFamily="18" charset="0"/>
              </a:endParaRPr>
            </a:p>
          </p:txBody>
        </p:sp>
      </p:grpSp>
      <p:sp>
        <p:nvSpPr>
          <p:cNvPr id="77"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5.3.3 </a:t>
            </a:r>
            <a:r>
              <a:rPr kumimoji="1" lang="zh-CN" altLang="en-US" dirty="0">
                <a:latin typeface="DengXian" panose="02010600030101010101" pitchFamily="2" charset="-122"/>
                <a:ea typeface="DengXian" panose="02010600030101010101" pitchFamily="2" charset="-122"/>
              </a:rPr>
              <a:t>距离向量路由</a:t>
            </a:r>
          </a:p>
        </p:txBody>
      </p:sp>
    </p:spTree>
    <p:extLst>
      <p:ext uri="{BB962C8B-B14F-4D97-AF65-F5344CB8AC3E}">
        <p14:creationId xmlns:p14="http://schemas.microsoft.com/office/powerpoint/2010/main" val="37211975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
                                            <p:txEl>
                                              <p:pRg st="8" end="8"/>
                                            </p:txEl>
                                          </p:spTgt>
                                        </p:tgtEl>
                                        <p:attrNameLst>
                                          <p:attrName>style.visibility</p:attrName>
                                        </p:attrNameLst>
                                      </p:cBhvr>
                                      <p:to>
                                        <p:strVal val="visible"/>
                                      </p:to>
                                    </p:set>
                                  </p:childTnLst>
                                </p:cTn>
                              </p:par>
                              <p:par>
                                <p:cTn id="16" presetID="1" presetClass="entr" presetSubtype="0" fill="hold" nodeType="withEffect">
                                  <p:stCondLst>
                                    <p:cond delay="0"/>
                                  </p:stCondLst>
                                  <p:childTnLst>
                                    <p:set>
                                      <p:cBhvr>
                                        <p:cTn id="17" dur="1" fill="hold">
                                          <p:stCondLst>
                                            <p:cond delay="0"/>
                                          </p:stCondLst>
                                        </p:cTn>
                                        <p:tgtEl>
                                          <p:spTgt spid="3">
                                            <p:txEl>
                                              <p:pRg st="9" end="9"/>
                                            </p:txEl>
                                          </p:spTgt>
                                        </p:tgtEl>
                                        <p:attrNameLst>
                                          <p:attrName>style.visibility</p:attrName>
                                        </p:attrNameLst>
                                      </p:cBhvr>
                                      <p:to>
                                        <p:strVal val="visible"/>
                                      </p:to>
                                    </p:set>
                                  </p:childTnLst>
                                </p:cTn>
                              </p:par>
                              <p:par>
                                <p:cTn id="18" presetID="1" presetClass="entr" presetSubtype="0" fill="hold" nodeType="withEffect">
                                  <p:stCondLst>
                                    <p:cond delay="0"/>
                                  </p:stCondLst>
                                  <p:childTnLst>
                                    <p:set>
                                      <p:cBhvr>
                                        <p:cTn id="19"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7508" y="365126"/>
            <a:ext cx="8458830" cy="879086"/>
          </a:xfrm>
        </p:spPr>
        <p:txBody>
          <a:bodyPr>
            <a:normAutofit/>
          </a:bodyPr>
          <a:lstStyle/>
          <a:p>
            <a:r>
              <a:rPr kumimoji="1" lang="zh-CN" altLang="en-US" dirty="0"/>
              <a:t>距离向量路由</a:t>
            </a:r>
            <a:endParaRPr lang="zh-CN" altLang="en-US" dirty="0"/>
          </a:p>
        </p:txBody>
      </p:sp>
      <p:sp>
        <p:nvSpPr>
          <p:cNvPr id="3" name="内容占位符 2"/>
          <p:cNvSpPr>
            <a:spLocks noGrp="1"/>
          </p:cNvSpPr>
          <p:nvPr>
            <p:ph idx="1"/>
          </p:nvPr>
        </p:nvSpPr>
        <p:spPr/>
        <p:txBody>
          <a:bodyPr/>
          <a:lstStyle/>
          <a:p>
            <a:r>
              <a:rPr lang="zh-CN" altLang="en-US"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rPr>
              <a:t>路由器启动时初始化自己的路由表</a:t>
            </a:r>
          </a:p>
          <a:p>
            <a:pPr lvl="1"/>
            <a:r>
              <a:rPr lang="zh-CN" altLang="en-US" dirty="0">
                <a:latin typeface="Times New Roman" panose="02020603050405020304" pitchFamily="18" charset="0"/>
                <a:ea typeface="等线" panose="02010600030101010101" pitchFamily="2" charset="-122"/>
                <a:cs typeface="Times New Roman" panose="02020603050405020304" pitchFamily="18" charset="0"/>
              </a:rPr>
              <a:t>初始路由表包含所有直接相连的网络路径，距离均为</a:t>
            </a:r>
            <a:r>
              <a:rPr lang="en-US" altLang="zh-CN" dirty="0">
                <a:latin typeface="Times New Roman" panose="02020603050405020304" pitchFamily="18" charset="0"/>
                <a:ea typeface="等线" panose="02010600030101010101" pitchFamily="2" charset="-122"/>
                <a:cs typeface="Times New Roman" panose="02020603050405020304" pitchFamily="18" charset="0"/>
              </a:rPr>
              <a:t>0</a:t>
            </a:r>
            <a:endParaRPr lang="zh-CN" altLang="en-US" dirty="0">
              <a:latin typeface="Times New Roman" panose="02020603050405020304" pitchFamily="18" charset="0"/>
              <a:ea typeface="等线" panose="02010600030101010101" pitchFamily="2" charset="-122"/>
              <a:cs typeface="Times New Roman" panose="02020603050405020304" pitchFamily="18" charset="0"/>
            </a:endParaRPr>
          </a:p>
          <a:p>
            <a:endParaRPr lang="zh-CN" altLang="en-US" dirty="0"/>
          </a:p>
        </p:txBody>
      </p:sp>
      <p:grpSp>
        <p:nvGrpSpPr>
          <p:cNvPr id="5" name="组合 4"/>
          <p:cNvGrpSpPr/>
          <p:nvPr/>
        </p:nvGrpSpPr>
        <p:grpSpPr>
          <a:xfrm>
            <a:off x="1725225" y="2724853"/>
            <a:ext cx="8485251" cy="2055338"/>
            <a:chOff x="226899" y="3749508"/>
            <a:chExt cx="8485251" cy="2055338"/>
          </a:xfrm>
        </p:grpSpPr>
        <p:sp>
          <p:nvSpPr>
            <p:cNvPr id="6" name="等腰三角形 5">
              <a:extLst>
                <a:ext uri="{FF2B5EF4-FFF2-40B4-BE49-F238E27FC236}">
                  <a16:creationId xmlns:a16="http://schemas.microsoft.com/office/drawing/2014/main" id="{76275D96-F6C9-4116-B972-EF65266DA46A}"/>
                </a:ext>
              </a:extLst>
            </p:cNvPr>
            <p:cNvSpPr/>
            <p:nvPr/>
          </p:nvSpPr>
          <p:spPr>
            <a:xfrm>
              <a:off x="5136477" y="4000558"/>
              <a:ext cx="1818282" cy="512310"/>
            </a:xfrm>
            <a:prstGeom prst="triangle">
              <a:avLst/>
            </a:prstGeom>
            <a:solidFill>
              <a:srgbClr val="FAF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7" name="文本框 6">
              <a:extLst>
                <a:ext uri="{FF2B5EF4-FFF2-40B4-BE49-F238E27FC236}">
                  <a16:creationId xmlns:a16="http://schemas.microsoft.com/office/drawing/2014/main" id="{75A86B75-EE45-4975-B050-5021B14CDFE8}"/>
                </a:ext>
              </a:extLst>
            </p:cNvPr>
            <p:cNvSpPr txBox="1"/>
            <p:nvPr/>
          </p:nvSpPr>
          <p:spPr>
            <a:xfrm>
              <a:off x="4700774" y="4621720"/>
              <a:ext cx="466794"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grpSp>
          <p:nvGrpSpPr>
            <p:cNvPr id="8" name="组合 7">
              <a:extLst>
                <a:ext uri="{FF2B5EF4-FFF2-40B4-BE49-F238E27FC236}">
                  <a16:creationId xmlns:a16="http://schemas.microsoft.com/office/drawing/2014/main" id="{E6F260F7-0E2B-4ABA-A8F6-D4966681030D}"/>
                </a:ext>
              </a:extLst>
            </p:cNvPr>
            <p:cNvGrpSpPr/>
            <p:nvPr/>
          </p:nvGrpSpPr>
          <p:grpSpPr>
            <a:xfrm>
              <a:off x="1375352" y="5050776"/>
              <a:ext cx="4728978" cy="499779"/>
              <a:chOff x="1126538" y="2159007"/>
              <a:chExt cx="4728978" cy="499779"/>
            </a:xfrm>
          </p:grpSpPr>
          <p:cxnSp>
            <p:nvCxnSpPr>
              <p:cNvPr id="27" name="直接连接符 26">
                <a:extLst>
                  <a:ext uri="{FF2B5EF4-FFF2-40B4-BE49-F238E27FC236}">
                    <a16:creationId xmlns:a16="http://schemas.microsoft.com/office/drawing/2014/main" id="{3628D4EC-0370-4825-851B-D0565AE7D8CE}"/>
                  </a:ext>
                </a:extLst>
              </p:cNvPr>
              <p:cNvCxnSpPr>
                <a:cxnSpLocks/>
              </p:cNvCxnSpPr>
              <p:nvPr/>
            </p:nvCxnSpPr>
            <p:spPr>
              <a:xfrm>
                <a:off x="2955901" y="2339641"/>
                <a:ext cx="2899615" cy="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28"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38" y="2159007"/>
                <a:ext cx="678086" cy="4997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组合 8">
              <a:extLst>
                <a:ext uri="{FF2B5EF4-FFF2-40B4-BE49-F238E27FC236}">
                  <a16:creationId xmlns:a16="http://schemas.microsoft.com/office/drawing/2014/main" id="{E3FB6F0E-FD32-40AB-90A7-0C7D39E2B023}"/>
                </a:ext>
              </a:extLst>
            </p:cNvPr>
            <p:cNvGrpSpPr/>
            <p:nvPr/>
          </p:nvGrpSpPr>
          <p:grpSpPr>
            <a:xfrm>
              <a:off x="6969469" y="3749508"/>
              <a:ext cx="1651003" cy="1481902"/>
              <a:chOff x="7402009" y="532714"/>
              <a:chExt cx="2779724" cy="1816458"/>
            </a:xfrm>
          </p:grpSpPr>
          <p:cxnSp>
            <p:nvCxnSpPr>
              <p:cNvPr id="23" name="直接连接符 22">
                <a:extLst>
                  <a:ext uri="{FF2B5EF4-FFF2-40B4-BE49-F238E27FC236}">
                    <a16:creationId xmlns:a16="http://schemas.microsoft.com/office/drawing/2014/main" id="{EDE78263-89CB-4EDD-93F1-65AD573E59F2}"/>
                  </a:ext>
                </a:extLst>
              </p:cNvPr>
              <p:cNvCxnSpPr>
                <a:cxnSpLocks/>
              </p:cNvCxnSpPr>
              <p:nvPr/>
            </p:nvCxnSpPr>
            <p:spPr>
              <a:xfrm flipV="1">
                <a:off x="8238057" y="2339641"/>
                <a:ext cx="1032996" cy="953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4" name="文本框 23">
                <a:extLst>
                  <a:ext uri="{FF2B5EF4-FFF2-40B4-BE49-F238E27FC236}">
                    <a16:creationId xmlns:a16="http://schemas.microsoft.com/office/drawing/2014/main" id="{C9D2448E-4DF6-4F3D-94D3-4044F9D944E6}"/>
                  </a:ext>
                </a:extLst>
              </p:cNvPr>
              <p:cNvSpPr txBox="1"/>
              <p:nvPr/>
            </p:nvSpPr>
            <p:spPr>
              <a:xfrm>
                <a:off x="9395812" y="1718278"/>
                <a:ext cx="785921" cy="490439"/>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R3</a:t>
                </a:r>
                <a:endParaRPr lang="zh-CN" altLang="en-US" sz="2000" dirty="0">
                  <a:latin typeface="等线" panose="02010600030101010101" pitchFamily="2" charset="-122"/>
                  <a:ea typeface="等线" panose="02010600030101010101" pitchFamily="2" charset="-122"/>
                </a:endParaRPr>
              </a:p>
            </p:txBody>
          </p:sp>
          <p:pic>
            <p:nvPicPr>
              <p:cNvPr id="25" name="Picture 14">
                <a:extLst>
                  <a:ext uri="{FF2B5EF4-FFF2-40B4-BE49-F238E27FC236}">
                    <a16:creationId xmlns:a16="http://schemas.microsoft.com/office/drawing/2014/main" id="{3C71C7CB-AEB0-40F0-9649-C11E9F5992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2009" y="532714"/>
                <a:ext cx="2665674" cy="93353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文本框 25">
                <a:extLst>
                  <a:ext uri="{FF2B5EF4-FFF2-40B4-BE49-F238E27FC236}">
                    <a16:creationId xmlns:a16="http://schemas.microsoft.com/office/drawing/2014/main" id="{0D4EC4C3-F2D0-4F3E-A7FD-03A7DC507C18}"/>
                  </a:ext>
                </a:extLst>
              </p:cNvPr>
              <p:cNvSpPr txBox="1"/>
              <p:nvPr/>
            </p:nvSpPr>
            <p:spPr>
              <a:xfrm>
                <a:off x="8238056" y="693598"/>
                <a:ext cx="1296563" cy="490439"/>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grpSp>
        <p:pic>
          <p:nvPicPr>
            <p:cNvPr id="10"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3436" y="4971990"/>
              <a:ext cx="678086" cy="499779"/>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a:extLst>
                <a:ext uri="{FF2B5EF4-FFF2-40B4-BE49-F238E27FC236}">
                  <a16:creationId xmlns:a16="http://schemas.microsoft.com/office/drawing/2014/main" id="{6371D84A-E35B-4B3D-923C-05925905383F}"/>
                </a:ext>
              </a:extLst>
            </p:cNvPr>
            <p:cNvCxnSpPr>
              <a:cxnSpLocks/>
              <a:stCxn id="25" idx="2"/>
            </p:cNvCxnSpPr>
            <p:nvPr/>
          </p:nvCxnSpPr>
          <p:spPr>
            <a:xfrm>
              <a:off x="7761099" y="4511102"/>
              <a:ext cx="475021" cy="58845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12"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4064" y="5026522"/>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4">
              <a:extLst>
                <a:ext uri="{FF2B5EF4-FFF2-40B4-BE49-F238E27FC236}">
                  <a16:creationId xmlns:a16="http://schemas.microsoft.com/office/drawing/2014/main" id="{3C71C7CB-AEB0-40F0-9649-C11E9F5992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9308" y="4778425"/>
              <a:ext cx="1457605" cy="86815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文本框 13">
              <a:extLst>
                <a:ext uri="{FF2B5EF4-FFF2-40B4-BE49-F238E27FC236}">
                  <a16:creationId xmlns:a16="http://schemas.microsoft.com/office/drawing/2014/main" id="{0D4EC4C3-F2D0-4F3E-A7FD-03A7DC507C18}"/>
                </a:ext>
              </a:extLst>
            </p:cNvPr>
            <p:cNvSpPr txBox="1"/>
            <p:nvPr/>
          </p:nvSpPr>
          <p:spPr>
            <a:xfrm>
              <a:off x="6383444" y="5046684"/>
              <a:ext cx="736322" cy="400110"/>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cxnSp>
          <p:nvCxnSpPr>
            <p:cNvPr id="15" name="直接连接符 14">
              <a:extLst>
                <a:ext uri="{FF2B5EF4-FFF2-40B4-BE49-F238E27FC236}">
                  <a16:creationId xmlns:a16="http://schemas.microsoft.com/office/drawing/2014/main" id="{3628D4EC-0370-4825-851B-D0565AE7D8CE}"/>
                </a:ext>
              </a:extLst>
            </p:cNvPr>
            <p:cNvCxnSpPr>
              <a:cxnSpLocks/>
            </p:cNvCxnSpPr>
            <p:nvPr/>
          </p:nvCxnSpPr>
          <p:spPr>
            <a:xfrm>
              <a:off x="2053438" y="5265808"/>
              <a:ext cx="69185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16"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399364" y="4686630"/>
              <a:ext cx="1395087" cy="1118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文本框 16">
              <a:extLst>
                <a:ext uri="{FF2B5EF4-FFF2-40B4-BE49-F238E27FC236}">
                  <a16:creationId xmlns:a16="http://schemas.microsoft.com/office/drawing/2014/main" id="{19570BD0-A1DE-4C6C-8D91-9749980155A1}"/>
                </a:ext>
              </a:extLst>
            </p:cNvPr>
            <p:cNvSpPr txBox="1"/>
            <p:nvPr/>
          </p:nvSpPr>
          <p:spPr>
            <a:xfrm>
              <a:off x="2757342" y="5038968"/>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grpSp>
          <p:nvGrpSpPr>
            <p:cNvPr id="18" name="组合 17">
              <a:extLst>
                <a:ext uri="{FF2B5EF4-FFF2-40B4-BE49-F238E27FC236}">
                  <a16:creationId xmlns:a16="http://schemas.microsoft.com/office/drawing/2014/main" id="{E3FB6F0E-FD32-40AB-90A7-0C7D39E2B023}"/>
                </a:ext>
              </a:extLst>
            </p:cNvPr>
            <p:cNvGrpSpPr/>
            <p:nvPr/>
          </p:nvGrpSpPr>
          <p:grpSpPr>
            <a:xfrm>
              <a:off x="226899" y="4000559"/>
              <a:ext cx="1651003" cy="1106090"/>
              <a:chOff x="7402009" y="852917"/>
              <a:chExt cx="2779724" cy="1355798"/>
            </a:xfrm>
          </p:grpSpPr>
          <p:sp>
            <p:nvSpPr>
              <p:cNvPr id="20" name="文本框 19">
                <a:extLst>
                  <a:ext uri="{FF2B5EF4-FFF2-40B4-BE49-F238E27FC236}">
                    <a16:creationId xmlns:a16="http://schemas.microsoft.com/office/drawing/2014/main" id="{C9D2448E-4DF6-4F3D-94D3-4044F9D944E6}"/>
                  </a:ext>
                </a:extLst>
              </p:cNvPr>
              <p:cNvSpPr txBox="1"/>
              <p:nvPr/>
            </p:nvSpPr>
            <p:spPr>
              <a:xfrm>
                <a:off x="9395812" y="1718277"/>
                <a:ext cx="785921" cy="490438"/>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pic>
            <p:nvPicPr>
              <p:cNvPr id="21" name="Picture 14">
                <a:extLst>
                  <a:ext uri="{FF2B5EF4-FFF2-40B4-BE49-F238E27FC236}">
                    <a16:creationId xmlns:a16="http://schemas.microsoft.com/office/drawing/2014/main" id="{3C71C7CB-AEB0-40F0-9649-C11E9F5992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2009" y="852917"/>
                <a:ext cx="2665673" cy="8386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本框 21">
                <a:extLst>
                  <a:ext uri="{FF2B5EF4-FFF2-40B4-BE49-F238E27FC236}">
                    <a16:creationId xmlns:a16="http://schemas.microsoft.com/office/drawing/2014/main" id="{0D4EC4C3-F2D0-4F3E-A7FD-03A7DC507C18}"/>
                  </a:ext>
                </a:extLst>
              </p:cNvPr>
              <p:cNvSpPr txBox="1"/>
              <p:nvPr/>
            </p:nvSpPr>
            <p:spPr>
              <a:xfrm>
                <a:off x="8275237" y="1060601"/>
                <a:ext cx="1296563" cy="490438"/>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net4</a:t>
                </a:r>
                <a:endParaRPr lang="zh-CN" altLang="en-US" sz="2000" dirty="0">
                  <a:latin typeface="等线" panose="02010600030101010101" pitchFamily="2" charset="-122"/>
                  <a:ea typeface="等线" panose="02010600030101010101" pitchFamily="2" charset="-122"/>
                </a:endParaRPr>
              </a:p>
            </p:txBody>
          </p:sp>
        </p:grpSp>
        <p:cxnSp>
          <p:nvCxnSpPr>
            <p:cNvPr id="19" name="直接连接符 18">
              <a:extLst>
                <a:ext uri="{FF2B5EF4-FFF2-40B4-BE49-F238E27FC236}">
                  <a16:creationId xmlns:a16="http://schemas.microsoft.com/office/drawing/2014/main" id="{6371D84A-E35B-4B3D-923C-05925905383F}"/>
                </a:ext>
              </a:extLst>
            </p:cNvPr>
            <p:cNvCxnSpPr>
              <a:cxnSpLocks/>
            </p:cNvCxnSpPr>
            <p:nvPr/>
          </p:nvCxnSpPr>
          <p:spPr>
            <a:xfrm>
              <a:off x="1018530" y="4647451"/>
              <a:ext cx="392577" cy="48009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p:graphicFrame>
        <p:nvGraphicFramePr>
          <p:cNvPr id="36" name="表格 35"/>
          <p:cNvGraphicFramePr>
            <a:graphicFrameLocks noGrp="1"/>
          </p:cNvGraphicFramePr>
          <p:nvPr/>
        </p:nvGraphicFramePr>
        <p:xfrm>
          <a:off x="1148081" y="4958305"/>
          <a:ext cx="2897438" cy="1188720"/>
        </p:xfrm>
        <a:graphic>
          <a:graphicData uri="http://schemas.openxmlformats.org/drawingml/2006/table">
            <a:tbl>
              <a:tblPr firstRow="1" bandRow="1">
                <a:tableStyleId>{69C7853C-536D-4A76-A0AE-DD22124D55A5}</a:tableStyleId>
              </a:tblPr>
              <a:tblGrid>
                <a:gridCol w="1119782">
                  <a:extLst>
                    <a:ext uri="{9D8B030D-6E8A-4147-A177-3AD203B41FA5}">
                      <a16:colId xmlns:a16="http://schemas.microsoft.com/office/drawing/2014/main" val="1374052009"/>
                    </a:ext>
                  </a:extLst>
                </a:gridCol>
                <a:gridCol w="714547">
                  <a:extLst>
                    <a:ext uri="{9D8B030D-6E8A-4147-A177-3AD203B41FA5}">
                      <a16:colId xmlns:a16="http://schemas.microsoft.com/office/drawing/2014/main" val="3577726301"/>
                    </a:ext>
                  </a:extLst>
                </a:gridCol>
                <a:gridCol w="1063109">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net1</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307701">
                <a:tc>
                  <a:txBody>
                    <a:bodyPr/>
                    <a:lstStyle/>
                    <a:p>
                      <a:pPr algn="ctr"/>
                      <a:r>
                        <a:rPr lang="en-US" altLang="zh-CN" sz="2000" dirty="0"/>
                        <a:t>net4</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bl>
          </a:graphicData>
        </a:graphic>
      </p:graphicFrame>
      <p:graphicFrame>
        <p:nvGraphicFramePr>
          <p:cNvPr id="37" name="表格 36"/>
          <p:cNvGraphicFramePr>
            <a:graphicFrameLocks noGrp="1"/>
          </p:cNvGraphicFramePr>
          <p:nvPr/>
        </p:nvGraphicFramePr>
        <p:xfrm>
          <a:off x="5150536" y="4950004"/>
          <a:ext cx="2818268" cy="1188720"/>
        </p:xfrm>
        <a:graphic>
          <a:graphicData uri="http://schemas.openxmlformats.org/drawingml/2006/table">
            <a:tbl>
              <a:tblPr firstRow="1" bandRow="1">
                <a:tableStyleId>{69C7853C-536D-4A76-A0AE-DD22124D55A5}</a:tableStyleId>
              </a:tblPr>
              <a:tblGrid>
                <a:gridCol w="1089185">
                  <a:extLst>
                    <a:ext uri="{9D8B030D-6E8A-4147-A177-3AD203B41FA5}">
                      <a16:colId xmlns:a16="http://schemas.microsoft.com/office/drawing/2014/main" val="1374052009"/>
                    </a:ext>
                  </a:extLst>
                </a:gridCol>
                <a:gridCol w="695023">
                  <a:extLst>
                    <a:ext uri="{9D8B030D-6E8A-4147-A177-3AD203B41FA5}">
                      <a16:colId xmlns:a16="http://schemas.microsoft.com/office/drawing/2014/main" val="3577726301"/>
                    </a:ext>
                  </a:extLst>
                </a:gridCol>
                <a:gridCol w="1034060">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net1</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307701">
                <a:tc>
                  <a:txBody>
                    <a:bodyPr/>
                    <a:lstStyle/>
                    <a:p>
                      <a:pPr algn="ctr"/>
                      <a:r>
                        <a:rPr lang="en-US" altLang="zh-CN" sz="2000" dirty="0"/>
                        <a:t>net2</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bl>
          </a:graphicData>
        </a:graphic>
      </p:graphicFrame>
      <p:graphicFrame>
        <p:nvGraphicFramePr>
          <p:cNvPr id="38" name="表格 37"/>
          <p:cNvGraphicFramePr>
            <a:graphicFrameLocks noGrp="1"/>
          </p:cNvGraphicFramePr>
          <p:nvPr/>
        </p:nvGraphicFramePr>
        <p:xfrm>
          <a:off x="8818882" y="4962248"/>
          <a:ext cx="2987038" cy="1188720"/>
        </p:xfrm>
        <a:graphic>
          <a:graphicData uri="http://schemas.openxmlformats.org/drawingml/2006/table">
            <a:tbl>
              <a:tblPr firstRow="1" bandRow="1">
                <a:tableStyleId>{69C7853C-536D-4A76-A0AE-DD22124D55A5}</a:tableStyleId>
              </a:tblPr>
              <a:tblGrid>
                <a:gridCol w="1154410">
                  <a:extLst>
                    <a:ext uri="{9D8B030D-6E8A-4147-A177-3AD203B41FA5}">
                      <a16:colId xmlns:a16="http://schemas.microsoft.com/office/drawing/2014/main" val="1374052009"/>
                    </a:ext>
                  </a:extLst>
                </a:gridCol>
                <a:gridCol w="736644">
                  <a:extLst>
                    <a:ext uri="{9D8B030D-6E8A-4147-A177-3AD203B41FA5}">
                      <a16:colId xmlns:a16="http://schemas.microsoft.com/office/drawing/2014/main" val="3577726301"/>
                    </a:ext>
                  </a:extLst>
                </a:gridCol>
                <a:gridCol w="1095984">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net2</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307701">
                <a:tc>
                  <a:txBody>
                    <a:bodyPr/>
                    <a:lstStyle/>
                    <a:p>
                      <a:pPr algn="ctr"/>
                      <a:r>
                        <a:rPr lang="en-US" altLang="zh-CN" sz="2000" dirty="0"/>
                        <a:t>net3</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bl>
          </a:graphicData>
        </a:graphic>
      </p:graphicFrame>
      <p:sp>
        <p:nvSpPr>
          <p:cNvPr id="33"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5.3.3 </a:t>
            </a:r>
            <a:r>
              <a:rPr kumimoji="1" lang="zh-CN" altLang="en-US" dirty="0">
                <a:latin typeface="DengXian" panose="02010600030101010101" pitchFamily="2" charset="-122"/>
                <a:ea typeface="DengXian" panose="02010600030101010101" pitchFamily="2" charset="-122"/>
              </a:rPr>
              <a:t>距离向量路由</a:t>
            </a:r>
          </a:p>
        </p:txBody>
      </p:sp>
      <p:sp>
        <p:nvSpPr>
          <p:cNvPr id="34" name="灯片编号占位符 3">
            <a:extLst>
              <a:ext uri="{FF2B5EF4-FFF2-40B4-BE49-F238E27FC236}">
                <a16:creationId xmlns:a16="http://schemas.microsoft.com/office/drawing/2014/main" id="{7D5B008F-81BF-EC4D-937B-567F983C8F24}"/>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61</a:t>
            </a:fld>
            <a:endParaRPr kumimoji="1" lang="zh-CN" altLang="en-US" dirty="0"/>
          </a:p>
        </p:txBody>
      </p:sp>
    </p:spTree>
    <p:extLst>
      <p:ext uri="{BB962C8B-B14F-4D97-AF65-F5344CB8AC3E}">
        <p14:creationId xmlns:p14="http://schemas.microsoft.com/office/powerpoint/2010/main" val="42659492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距离向量路由</a:t>
            </a:r>
            <a:endParaRPr lang="zh-CN" altLang="en-US" dirty="0"/>
          </a:p>
        </p:txBody>
      </p:sp>
      <p:sp>
        <p:nvSpPr>
          <p:cNvPr id="3" name="内容占位符 2"/>
          <p:cNvSpPr>
            <a:spLocks noGrp="1"/>
          </p:cNvSpPr>
          <p:nvPr>
            <p:ph idx="1"/>
          </p:nvPr>
        </p:nvSpPr>
        <p:spPr/>
        <p:txBody>
          <a:bodyPr/>
          <a:lstStyle/>
          <a:p>
            <a:r>
              <a:rPr lang="zh-CN" altLang="en-US"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rPr>
              <a:t>路由器周期性地向其相邻路由器广播自己知道的路由信息</a:t>
            </a:r>
            <a:endParaRPr lang="en-US" altLang="zh-CN"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rPr>
              <a:t>相邻路由器可以根据收到的路由信息修改和刷新自己的路由表</a:t>
            </a:r>
          </a:p>
        </p:txBody>
      </p:sp>
      <p:grpSp>
        <p:nvGrpSpPr>
          <p:cNvPr id="4" name="组合 69"/>
          <p:cNvGrpSpPr/>
          <p:nvPr/>
        </p:nvGrpSpPr>
        <p:grpSpPr>
          <a:xfrm>
            <a:off x="1416692" y="2570414"/>
            <a:ext cx="8485251" cy="1832912"/>
            <a:chOff x="226899" y="3971934"/>
            <a:chExt cx="8485251" cy="1832912"/>
          </a:xfrm>
        </p:grpSpPr>
        <p:sp>
          <p:nvSpPr>
            <p:cNvPr id="15" name="文本框 14">
              <a:extLst>
                <a:ext uri="{FF2B5EF4-FFF2-40B4-BE49-F238E27FC236}">
                  <a16:creationId xmlns:a16="http://schemas.microsoft.com/office/drawing/2014/main" id="{75A86B75-EE45-4975-B050-5021B14CDFE8}"/>
                </a:ext>
              </a:extLst>
            </p:cNvPr>
            <p:cNvSpPr txBox="1"/>
            <p:nvPr/>
          </p:nvSpPr>
          <p:spPr>
            <a:xfrm>
              <a:off x="4700774" y="4621720"/>
              <a:ext cx="466794"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grpSp>
          <p:nvGrpSpPr>
            <p:cNvPr id="5" name="组合 15">
              <a:extLst>
                <a:ext uri="{FF2B5EF4-FFF2-40B4-BE49-F238E27FC236}">
                  <a16:creationId xmlns:a16="http://schemas.microsoft.com/office/drawing/2014/main" id="{E6F260F7-0E2B-4ABA-A8F6-D4966681030D}"/>
                </a:ext>
              </a:extLst>
            </p:cNvPr>
            <p:cNvGrpSpPr/>
            <p:nvPr/>
          </p:nvGrpSpPr>
          <p:grpSpPr>
            <a:xfrm>
              <a:off x="1375352" y="5050776"/>
              <a:ext cx="4728978" cy="499779"/>
              <a:chOff x="1126538" y="2159007"/>
              <a:chExt cx="4728978" cy="499779"/>
            </a:xfrm>
          </p:grpSpPr>
          <p:cxnSp>
            <p:nvCxnSpPr>
              <p:cNvPr id="17" name="直接连接符 16">
                <a:extLst>
                  <a:ext uri="{FF2B5EF4-FFF2-40B4-BE49-F238E27FC236}">
                    <a16:creationId xmlns:a16="http://schemas.microsoft.com/office/drawing/2014/main" id="{3628D4EC-0370-4825-851B-D0565AE7D8CE}"/>
                  </a:ext>
                </a:extLst>
              </p:cNvPr>
              <p:cNvCxnSpPr>
                <a:cxnSpLocks/>
              </p:cNvCxnSpPr>
              <p:nvPr/>
            </p:nvCxnSpPr>
            <p:spPr>
              <a:xfrm>
                <a:off x="2955901" y="2339641"/>
                <a:ext cx="2899615" cy="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19"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38" y="2159007"/>
                <a:ext cx="678086" cy="4997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组合 24">
              <a:extLst>
                <a:ext uri="{FF2B5EF4-FFF2-40B4-BE49-F238E27FC236}">
                  <a16:creationId xmlns:a16="http://schemas.microsoft.com/office/drawing/2014/main" id="{E3FB6F0E-FD32-40AB-90A7-0C7D39E2B023}"/>
                </a:ext>
              </a:extLst>
            </p:cNvPr>
            <p:cNvGrpSpPr/>
            <p:nvPr/>
          </p:nvGrpSpPr>
          <p:grpSpPr>
            <a:xfrm>
              <a:off x="6969467" y="3971934"/>
              <a:ext cx="1651002" cy="1259476"/>
              <a:chOff x="7402010" y="805358"/>
              <a:chExt cx="2779724" cy="1543814"/>
            </a:xfrm>
          </p:grpSpPr>
          <p:cxnSp>
            <p:nvCxnSpPr>
              <p:cNvPr id="26" name="直接连接符 25">
                <a:extLst>
                  <a:ext uri="{FF2B5EF4-FFF2-40B4-BE49-F238E27FC236}">
                    <a16:creationId xmlns:a16="http://schemas.microsoft.com/office/drawing/2014/main" id="{EDE78263-89CB-4EDD-93F1-65AD573E59F2}"/>
                  </a:ext>
                </a:extLst>
              </p:cNvPr>
              <p:cNvCxnSpPr>
                <a:cxnSpLocks/>
              </p:cNvCxnSpPr>
              <p:nvPr/>
            </p:nvCxnSpPr>
            <p:spPr>
              <a:xfrm flipV="1">
                <a:off x="8238057" y="2339641"/>
                <a:ext cx="1032996" cy="953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7" name="文本框 26">
                <a:extLst>
                  <a:ext uri="{FF2B5EF4-FFF2-40B4-BE49-F238E27FC236}">
                    <a16:creationId xmlns:a16="http://schemas.microsoft.com/office/drawing/2014/main" id="{C9D2448E-4DF6-4F3D-94D3-4044F9D944E6}"/>
                  </a:ext>
                </a:extLst>
              </p:cNvPr>
              <p:cNvSpPr txBox="1"/>
              <p:nvPr/>
            </p:nvSpPr>
            <p:spPr>
              <a:xfrm>
                <a:off x="9395812" y="1718278"/>
                <a:ext cx="785922" cy="490438"/>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R3</a:t>
                </a:r>
                <a:endParaRPr lang="zh-CN" altLang="en-US" sz="2000" dirty="0">
                  <a:latin typeface="等线" panose="02010600030101010101" pitchFamily="2" charset="-122"/>
                  <a:ea typeface="等线" panose="02010600030101010101" pitchFamily="2" charset="-122"/>
                </a:endParaRPr>
              </a:p>
            </p:txBody>
          </p:sp>
          <p:pic>
            <p:nvPicPr>
              <p:cNvPr id="28" name="Picture 14">
                <a:extLst>
                  <a:ext uri="{FF2B5EF4-FFF2-40B4-BE49-F238E27FC236}">
                    <a16:creationId xmlns:a16="http://schemas.microsoft.com/office/drawing/2014/main" id="{3C71C7CB-AEB0-40F0-9649-C11E9F5992F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2010" y="805358"/>
                <a:ext cx="2665674" cy="93353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文本框 31">
                <a:extLst>
                  <a:ext uri="{FF2B5EF4-FFF2-40B4-BE49-F238E27FC236}">
                    <a16:creationId xmlns:a16="http://schemas.microsoft.com/office/drawing/2014/main" id="{0D4EC4C3-F2D0-4F3E-A7FD-03A7DC507C18}"/>
                  </a:ext>
                </a:extLst>
              </p:cNvPr>
              <p:cNvSpPr txBox="1"/>
              <p:nvPr/>
            </p:nvSpPr>
            <p:spPr>
              <a:xfrm>
                <a:off x="8127798" y="1041426"/>
                <a:ext cx="1296563" cy="490438"/>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grpSp>
        <p:pic>
          <p:nvPicPr>
            <p:cNvPr id="43"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3436" y="4971990"/>
              <a:ext cx="678086" cy="499779"/>
            </a:xfrm>
            <a:prstGeom prst="rect">
              <a:avLst/>
            </a:prstGeom>
            <a:noFill/>
            <a:extLst>
              <a:ext uri="{909E8E84-426E-40DD-AFC4-6F175D3DCCD1}">
                <a14:hiddenFill xmlns:a14="http://schemas.microsoft.com/office/drawing/2010/main">
                  <a:solidFill>
                    <a:srgbClr val="FFFFFF"/>
                  </a:solidFill>
                </a14:hiddenFill>
              </a:ext>
            </a:extLst>
          </p:spPr>
        </p:pic>
        <p:cxnSp>
          <p:nvCxnSpPr>
            <p:cNvPr id="46" name="直接连接符 45">
              <a:extLst>
                <a:ext uri="{FF2B5EF4-FFF2-40B4-BE49-F238E27FC236}">
                  <a16:creationId xmlns:a16="http://schemas.microsoft.com/office/drawing/2014/main" id="{6371D84A-E35B-4B3D-923C-05925905383F}"/>
                </a:ext>
              </a:extLst>
            </p:cNvPr>
            <p:cNvCxnSpPr>
              <a:cxnSpLocks/>
              <a:stCxn id="28" idx="2"/>
            </p:cNvCxnSpPr>
            <p:nvPr/>
          </p:nvCxnSpPr>
          <p:spPr>
            <a:xfrm>
              <a:off x="7761099" y="4733528"/>
              <a:ext cx="475021" cy="58845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48"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4064" y="5026522"/>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4">
              <a:extLst>
                <a:ext uri="{FF2B5EF4-FFF2-40B4-BE49-F238E27FC236}">
                  <a16:creationId xmlns:a16="http://schemas.microsoft.com/office/drawing/2014/main" id="{3C71C7CB-AEB0-40F0-9649-C11E9F5992F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9308" y="4778425"/>
              <a:ext cx="1457605" cy="86815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 name="文本框 55">
              <a:extLst>
                <a:ext uri="{FF2B5EF4-FFF2-40B4-BE49-F238E27FC236}">
                  <a16:creationId xmlns:a16="http://schemas.microsoft.com/office/drawing/2014/main" id="{0D4EC4C3-F2D0-4F3E-A7FD-03A7DC507C18}"/>
                </a:ext>
              </a:extLst>
            </p:cNvPr>
            <p:cNvSpPr txBox="1"/>
            <p:nvPr/>
          </p:nvSpPr>
          <p:spPr>
            <a:xfrm>
              <a:off x="6383444" y="5046684"/>
              <a:ext cx="736322" cy="400110"/>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cxnSp>
          <p:nvCxnSpPr>
            <p:cNvPr id="58" name="直接连接符 57">
              <a:extLst>
                <a:ext uri="{FF2B5EF4-FFF2-40B4-BE49-F238E27FC236}">
                  <a16:creationId xmlns:a16="http://schemas.microsoft.com/office/drawing/2014/main" id="{3628D4EC-0370-4825-851B-D0565AE7D8CE}"/>
                </a:ext>
              </a:extLst>
            </p:cNvPr>
            <p:cNvCxnSpPr>
              <a:cxnSpLocks/>
            </p:cNvCxnSpPr>
            <p:nvPr/>
          </p:nvCxnSpPr>
          <p:spPr>
            <a:xfrm>
              <a:off x="2053438" y="5265808"/>
              <a:ext cx="69185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60" name="Picture 14">
              <a:extLst>
                <a:ext uri="{FF2B5EF4-FFF2-40B4-BE49-F238E27FC236}">
                  <a16:creationId xmlns:a16="http://schemas.microsoft.com/office/drawing/2014/main" id="{1F0082C8-E1D0-4631-AFFC-26FD52012009}"/>
                </a:ext>
              </a:extLst>
            </p:cNvPr>
            <p:cNvPicPr>
              <a:picLocks noChangeArrowheads="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399364" y="4686630"/>
              <a:ext cx="1395087" cy="1118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 name="文本框 60">
              <a:extLst>
                <a:ext uri="{FF2B5EF4-FFF2-40B4-BE49-F238E27FC236}">
                  <a16:creationId xmlns:a16="http://schemas.microsoft.com/office/drawing/2014/main" id="{19570BD0-A1DE-4C6C-8D91-9749980155A1}"/>
                </a:ext>
              </a:extLst>
            </p:cNvPr>
            <p:cNvSpPr txBox="1"/>
            <p:nvPr/>
          </p:nvSpPr>
          <p:spPr>
            <a:xfrm>
              <a:off x="2757342" y="5038968"/>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grpSp>
          <p:nvGrpSpPr>
            <p:cNvPr id="7" name="组合 62">
              <a:extLst>
                <a:ext uri="{FF2B5EF4-FFF2-40B4-BE49-F238E27FC236}">
                  <a16:creationId xmlns:a16="http://schemas.microsoft.com/office/drawing/2014/main" id="{E3FB6F0E-FD32-40AB-90A7-0C7D39E2B023}"/>
                </a:ext>
              </a:extLst>
            </p:cNvPr>
            <p:cNvGrpSpPr/>
            <p:nvPr/>
          </p:nvGrpSpPr>
          <p:grpSpPr>
            <a:xfrm>
              <a:off x="226899" y="4000559"/>
              <a:ext cx="1651003" cy="1106090"/>
              <a:chOff x="7402009" y="852917"/>
              <a:chExt cx="2779724" cy="1355798"/>
            </a:xfrm>
          </p:grpSpPr>
          <p:sp>
            <p:nvSpPr>
              <p:cNvPr id="65" name="文本框 64">
                <a:extLst>
                  <a:ext uri="{FF2B5EF4-FFF2-40B4-BE49-F238E27FC236}">
                    <a16:creationId xmlns:a16="http://schemas.microsoft.com/office/drawing/2014/main" id="{C9D2448E-4DF6-4F3D-94D3-4044F9D944E6}"/>
                  </a:ext>
                </a:extLst>
              </p:cNvPr>
              <p:cNvSpPr txBox="1"/>
              <p:nvPr/>
            </p:nvSpPr>
            <p:spPr>
              <a:xfrm>
                <a:off x="9395812" y="1718277"/>
                <a:ext cx="785921" cy="490438"/>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pic>
            <p:nvPicPr>
              <p:cNvPr id="66" name="Picture 14">
                <a:extLst>
                  <a:ext uri="{FF2B5EF4-FFF2-40B4-BE49-F238E27FC236}">
                    <a16:creationId xmlns:a16="http://schemas.microsoft.com/office/drawing/2014/main" id="{3C71C7CB-AEB0-40F0-9649-C11E9F5992F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2009" y="852917"/>
                <a:ext cx="2665673" cy="8386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7" name="文本框 66">
                <a:extLst>
                  <a:ext uri="{FF2B5EF4-FFF2-40B4-BE49-F238E27FC236}">
                    <a16:creationId xmlns:a16="http://schemas.microsoft.com/office/drawing/2014/main" id="{0D4EC4C3-F2D0-4F3E-A7FD-03A7DC507C18}"/>
                  </a:ext>
                </a:extLst>
              </p:cNvPr>
              <p:cNvSpPr txBox="1"/>
              <p:nvPr/>
            </p:nvSpPr>
            <p:spPr>
              <a:xfrm>
                <a:off x="8275237" y="1060601"/>
                <a:ext cx="1296563" cy="490438"/>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net4</a:t>
                </a:r>
                <a:endParaRPr lang="zh-CN" altLang="en-US" sz="2000" dirty="0">
                  <a:latin typeface="等线" panose="02010600030101010101" pitchFamily="2" charset="-122"/>
                  <a:ea typeface="等线" panose="02010600030101010101" pitchFamily="2" charset="-122"/>
                </a:endParaRPr>
              </a:p>
            </p:txBody>
          </p:sp>
        </p:grpSp>
        <p:cxnSp>
          <p:nvCxnSpPr>
            <p:cNvPr id="68" name="直接连接符 67">
              <a:extLst>
                <a:ext uri="{FF2B5EF4-FFF2-40B4-BE49-F238E27FC236}">
                  <a16:creationId xmlns:a16="http://schemas.microsoft.com/office/drawing/2014/main" id="{6371D84A-E35B-4B3D-923C-05925905383F}"/>
                </a:ext>
              </a:extLst>
            </p:cNvPr>
            <p:cNvCxnSpPr>
              <a:cxnSpLocks/>
            </p:cNvCxnSpPr>
            <p:nvPr/>
          </p:nvCxnSpPr>
          <p:spPr>
            <a:xfrm>
              <a:off x="1018530" y="4647451"/>
              <a:ext cx="392577" cy="48009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p:grpSp>
        <p:nvGrpSpPr>
          <p:cNvPr id="8" name="组合 102"/>
          <p:cNvGrpSpPr/>
          <p:nvPr/>
        </p:nvGrpSpPr>
        <p:grpSpPr>
          <a:xfrm>
            <a:off x="2592308" y="4479284"/>
            <a:ext cx="1814196" cy="2088685"/>
            <a:chOff x="5970295" y="4855165"/>
            <a:chExt cx="1560339" cy="1921796"/>
          </a:xfrm>
        </p:grpSpPr>
        <p:sp>
          <p:nvSpPr>
            <p:cNvPr id="93" name="文本框 92">
              <a:extLst>
                <a:ext uri="{FF2B5EF4-FFF2-40B4-BE49-F238E27FC236}">
                  <a16:creationId xmlns:a16="http://schemas.microsoft.com/office/drawing/2014/main" id="{0D4EC4C3-F2D0-4F3E-A7FD-03A7DC507C18}"/>
                </a:ext>
              </a:extLst>
            </p:cNvPr>
            <p:cNvSpPr txBox="1"/>
            <p:nvPr/>
          </p:nvSpPr>
          <p:spPr>
            <a:xfrm>
              <a:off x="6153382" y="5957657"/>
              <a:ext cx="1343843" cy="651324"/>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R2</a:t>
              </a:r>
              <a:r>
                <a:rPr lang="zh-CN" altLang="en-US" sz="2000" dirty="0">
                  <a:latin typeface="等线" panose="02010600030101010101" pitchFamily="2" charset="-122"/>
                  <a:ea typeface="等线" panose="02010600030101010101" pitchFamily="2" charset="-122"/>
                </a:rPr>
                <a:t>将路由信息发送给</a:t>
              </a:r>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sp>
          <p:nvSpPr>
            <p:cNvPr id="94" name="椭圆形标注 93"/>
            <p:cNvSpPr/>
            <p:nvPr/>
          </p:nvSpPr>
          <p:spPr>
            <a:xfrm>
              <a:off x="5970295" y="5802924"/>
              <a:ext cx="1560339" cy="974037"/>
            </a:xfrm>
            <a:prstGeom prst="wedgeEllipseCallout">
              <a:avLst>
                <a:gd name="adj1" fmla="val 3789"/>
                <a:gd name="adj2" fmla="val -88399"/>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文本框 94">
              <a:extLst>
                <a:ext uri="{FF2B5EF4-FFF2-40B4-BE49-F238E27FC236}">
                  <a16:creationId xmlns:a16="http://schemas.microsoft.com/office/drawing/2014/main" id="{0D4EC4C3-F2D0-4F3E-A7FD-03A7DC507C18}"/>
                </a:ext>
              </a:extLst>
            </p:cNvPr>
            <p:cNvSpPr txBox="1"/>
            <p:nvPr/>
          </p:nvSpPr>
          <p:spPr>
            <a:xfrm>
              <a:off x="6633410" y="4855165"/>
              <a:ext cx="736322" cy="369332"/>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①</a:t>
              </a:r>
              <a:endParaRPr lang="zh-CN" altLang="en-US" sz="2000" dirty="0">
                <a:latin typeface="等线" panose="02010600030101010101" pitchFamily="2" charset="-122"/>
                <a:ea typeface="等线" panose="02010600030101010101" pitchFamily="2" charset="-122"/>
              </a:endParaRPr>
            </a:p>
          </p:txBody>
        </p:sp>
      </p:grpSp>
      <p:grpSp>
        <p:nvGrpSpPr>
          <p:cNvPr id="9" name="组合 103"/>
          <p:cNvGrpSpPr/>
          <p:nvPr/>
        </p:nvGrpSpPr>
        <p:grpSpPr>
          <a:xfrm>
            <a:off x="9901940" y="2832306"/>
            <a:ext cx="2371613" cy="1515243"/>
            <a:chOff x="9154784" y="3576232"/>
            <a:chExt cx="1992191" cy="1515243"/>
          </a:xfrm>
        </p:grpSpPr>
        <p:sp>
          <p:nvSpPr>
            <p:cNvPr id="96" name="椭圆形标注 95"/>
            <p:cNvSpPr/>
            <p:nvPr/>
          </p:nvSpPr>
          <p:spPr>
            <a:xfrm>
              <a:off x="9154784" y="3576232"/>
              <a:ext cx="1873558" cy="951150"/>
            </a:xfrm>
            <a:prstGeom prst="wedgeEllipseCallout">
              <a:avLst>
                <a:gd name="adj1" fmla="val -32783"/>
                <a:gd name="adj2" fmla="val 74140"/>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97" name="文本框 96">
              <a:extLst>
                <a:ext uri="{FF2B5EF4-FFF2-40B4-BE49-F238E27FC236}">
                  <a16:creationId xmlns:a16="http://schemas.microsoft.com/office/drawing/2014/main" id="{0D4EC4C3-F2D0-4F3E-A7FD-03A7DC507C18}"/>
                </a:ext>
              </a:extLst>
            </p:cNvPr>
            <p:cNvSpPr txBox="1"/>
            <p:nvPr/>
          </p:nvSpPr>
          <p:spPr>
            <a:xfrm>
              <a:off x="9274816" y="4691365"/>
              <a:ext cx="736322" cy="400110"/>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④</a:t>
              </a:r>
              <a:endParaRPr lang="zh-CN" altLang="en-US" sz="2000" dirty="0">
                <a:latin typeface="等线" panose="02010600030101010101" pitchFamily="2" charset="-122"/>
                <a:ea typeface="等线" panose="02010600030101010101" pitchFamily="2" charset="-122"/>
              </a:endParaRPr>
            </a:p>
          </p:txBody>
        </p:sp>
        <p:sp>
          <p:nvSpPr>
            <p:cNvPr id="99" name="文本框 98">
              <a:extLst>
                <a:ext uri="{FF2B5EF4-FFF2-40B4-BE49-F238E27FC236}">
                  <a16:creationId xmlns:a16="http://schemas.microsoft.com/office/drawing/2014/main" id="{0D4EC4C3-F2D0-4F3E-A7FD-03A7DC507C18}"/>
                </a:ext>
              </a:extLst>
            </p:cNvPr>
            <p:cNvSpPr txBox="1"/>
            <p:nvPr/>
          </p:nvSpPr>
          <p:spPr>
            <a:xfrm>
              <a:off x="9293212" y="3728812"/>
              <a:ext cx="1853763" cy="70788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R3</a:t>
              </a:r>
              <a:r>
                <a:rPr lang="zh-CN" altLang="en-US" sz="2000" dirty="0">
                  <a:latin typeface="等线" panose="02010600030101010101" pitchFamily="2" charset="-122"/>
                  <a:ea typeface="等线" panose="02010600030101010101" pitchFamily="2" charset="-122"/>
                </a:rPr>
                <a:t>收到路由信息后刷新路由表</a:t>
              </a:r>
            </a:p>
          </p:txBody>
        </p:sp>
      </p:grpSp>
      <p:grpSp>
        <p:nvGrpSpPr>
          <p:cNvPr id="10" name="组合 105"/>
          <p:cNvGrpSpPr/>
          <p:nvPr/>
        </p:nvGrpSpPr>
        <p:grpSpPr>
          <a:xfrm>
            <a:off x="7508570" y="4403817"/>
            <a:ext cx="1876763" cy="1624727"/>
            <a:chOff x="7219584" y="5110360"/>
            <a:chExt cx="1876763" cy="1624727"/>
          </a:xfrm>
        </p:grpSpPr>
        <p:sp>
          <p:nvSpPr>
            <p:cNvPr id="107" name="文本框 106">
              <a:extLst>
                <a:ext uri="{FF2B5EF4-FFF2-40B4-BE49-F238E27FC236}">
                  <a16:creationId xmlns:a16="http://schemas.microsoft.com/office/drawing/2014/main" id="{0D4EC4C3-F2D0-4F3E-A7FD-03A7DC507C18}"/>
                </a:ext>
              </a:extLst>
            </p:cNvPr>
            <p:cNvSpPr txBox="1"/>
            <p:nvPr/>
          </p:nvSpPr>
          <p:spPr>
            <a:xfrm>
              <a:off x="7383137" y="6006733"/>
              <a:ext cx="1574137" cy="70788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R1</a:t>
              </a:r>
              <a:r>
                <a:rPr lang="zh-CN" altLang="en-US" sz="2000" dirty="0">
                  <a:latin typeface="等线" panose="02010600030101010101" pitchFamily="2" charset="-122"/>
                  <a:ea typeface="等线" panose="02010600030101010101" pitchFamily="2" charset="-122"/>
                </a:rPr>
                <a:t>将路由信息发送给</a:t>
              </a:r>
              <a:r>
                <a:rPr lang="en-US" altLang="zh-CN" sz="2000" dirty="0">
                  <a:latin typeface="等线" panose="02010600030101010101" pitchFamily="2" charset="-122"/>
                  <a:ea typeface="等线" panose="02010600030101010101" pitchFamily="2" charset="-122"/>
                </a:rPr>
                <a:t>R3</a:t>
              </a:r>
              <a:endParaRPr lang="zh-CN" altLang="en-US" sz="2000" dirty="0">
                <a:latin typeface="等线" panose="02010600030101010101" pitchFamily="2" charset="-122"/>
                <a:ea typeface="等线" panose="02010600030101010101" pitchFamily="2" charset="-122"/>
              </a:endParaRPr>
            </a:p>
          </p:txBody>
        </p:sp>
        <p:sp>
          <p:nvSpPr>
            <p:cNvPr id="108" name="椭圆形标注 107"/>
            <p:cNvSpPr/>
            <p:nvPr/>
          </p:nvSpPr>
          <p:spPr>
            <a:xfrm>
              <a:off x="7219584" y="5946457"/>
              <a:ext cx="1876763" cy="788630"/>
            </a:xfrm>
            <a:prstGeom prst="wedgeEllipseCallout">
              <a:avLst>
                <a:gd name="adj1" fmla="val -16259"/>
                <a:gd name="adj2" fmla="val -8689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文本框 108">
              <a:extLst>
                <a:ext uri="{FF2B5EF4-FFF2-40B4-BE49-F238E27FC236}">
                  <a16:creationId xmlns:a16="http://schemas.microsoft.com/office/drawing/2014/main" id="{0D4EC4C3-F2D0-4F3E-A7FD-03A7DC507C18}"/>
                </a:ext>
              </a:extLst>
            </p:cNvPr>
            <p:cNvSpPr txBox="1"/>
            <p:nvPr/>
          </p:nvSpPr>
          <p:spPr>
            <a:xfrm>
              <a:off x="7634660" y="5110360"/>
              <a:ext cx="523305" cy="400110"/>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③</a:t>
              </a:r>
              <a:endParaRPr lang="zh-CN" altLang="en-US" sz="2000" dirty="0">
                <a:latin typeface="等线" panose="02010600030101010101" pitchFamily="2" charset="-122"/>
                <a:ea typeface="等线" panose="02010600030101010101" pitchFamily="2" charset="-122"/>
              </a:endParaRPr>
            </a:p>
          </p:txBody>
        </p:sp>
      </p:grpSp>
      <p:grpSp>
        <p:nvGrpSpPr>
          <p:cNvPr id="11" name="组合 116"/>
          <p:cNvGrpSpPr/>
          <p:nvPr/>
        </p:nvGrpSpPr>
        <p:grpSpPr>
          <a:xfrm>
            <a:off x="5408181" y="5874688"/>
            <a:ext cx="3100556" cy="878791"/>
            <a:chOff x="4471926" y="5614341"/>
            <a:chExt cx="1851930" cy="764319"/>
          </a:xfrm>
        </p:grpSpPr>
        <p:sp>
          <p:nvSpPr>
            <p:cNvPr id="114" name="椭圆形标注 113"/>
            <p:cNvSpPr/>
            <p:nvPr/>
          </p:nvSpPr>
          <p:spPr>
            <a:xfrm>
              <a:off x="4792249" y="5687194"/>
              <a:ext cx="1531607" cy="691466"/>
            </a:xfrm>
            <a:prstGeom prst="wedgeEllipseCallout">
              <a:avLst>
                <a:gd name="adj1" fmla="val -57360"/>
                <a:gd name="adj2" fmla="val -3007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p>
          </p:txBody>
        </p:sp>
        <p:sp>
          <p:nvSpPr>
            <p:cNvPr id="115" name="文本框 114">
              <a:extLst>
                <a:ext uri="{FF2B5EF4-FFF2-40B4-BE49-F238E27FC236}">
                  <a16:creationId xmlns:a16="http://schemas.microsoft.com/office/drawing/2014/main" id="{0D4EC4C3-F2D0-4F3E-A7FD-03A7DC507C18}"/>
                </a:ext>
              </a:extLst>
            </p:cNvPr>
            <p:cNvSpPr txBox="1"/>
            <p:nvPr/>
          </p:nvSpPr>
          <p:spPr>
            <a:xfrm>
              <a:off x="4471926" y="5614341"/>
              <a:ext cx="736322" cy="347991"/>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②</a:t>
              </a:r>
              <a:endParaRPr lang="zh-CN" altLang="en-US" sz="2000" dirty="0">
                <a:latin typeface="等线" panose="02010600030101010101" pitchFamily="2" charset="-122"/>
                <a:ea typeface="等线" panose="02010600030101010101" pitchFamily="2" charset="-122"/>
              </a:endParaRPr>
            </a:p>
          </p:txBody>
        </p:sp>
        <p:sp>
          <p:nvSpPr>
            <p:cNvPr id="116" name="文本框 115">
              <a:extLst>
                <a:ext uri="{FF2B5EF4-FFF2-40B4-BE49-F238E27FC236}">
                  <a16:creationId xmlns:a16="http://schemas.microsoft.com/office/drawing/2014/main" id="{0D4EC4C3-F2D0-4F3E-A7FD-03A7DC507C18}"/>
                </a:ext>
              </a:extLst>
            </p:cNvPr>
            <p:cNvSpPr txBox="1"/>
            <p:nvPr/>
          </p:nvSpPr>
          <p:spPr>
            <a:xfrm>
              <a:off x="5008192" y="5750692"/>
              <a:ext cx="1176904" cy="615676"/>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R1</a:t>
              </a:r>
              <a:r>
                <a:rPr lang="zh-CN" altLang="en-US" sz="2000" dirty="0">
                  <a:latin typeface="等线" panose="02010600030101010101" pitchFamily="2" charset="-122"/>
                  <a:ea typeface="等线" panose="02010600030101010101" pitchFamily="2" charset="-122"/>
                </a:rPr>
                <a:t>收到路由信息后刷新路由表</a:t>
              </a:r>
            </a:p>
          </p:txBody>
        </p:sp>
      </p:grpSp>
      <p:graphicFrame>
        <p:nvGraphicFramePr>
          <p:cNvPr id="119" name="表格 118"/>
          <p:cNvGraphicFramePr>
            <a:graphicFrameLocks noGrp="1"/>
          </p:cNvGraphicFramePr>
          <p:nvPr/>
        </p:nvGraphicFramePr>
        <p:xfrm>
          <a:off x="4600016" y="4353726"/>
          <a:ext cx="2706130" cy="1188720"/>
        </p:xfrm>
        <a:graphic>
          <a:graphicData uri="http://schemas.openxmlformats.org/drawingml/2006/table">
            <a:tbl>
              <a:tblPr firstRow="1" bandRow="1">
                <a:tableStyleId>{69C7853C-536D-4A76-A0AE-DD22124D55A5}</a:tableStyleId>
              </a:tblPr>
              <a:tblGrid>
                <a:gridCol w="1136822">
                  <a:extLst>
                    <a:ext uri="{9D8B030D-6E8A-4147-A177-3AD203B41FA5}">
                      <a16:colId xmlns:a16="http://schemas.microsoft.com/office/drawing/2014/main" val="1374052009"/>
                    </a:ext>
                  </a:extLst>
                </a:gridCol>
                <a:gridCol w="630195">
                  <a:extLst>
                    <a:ext uri="{9D8B030D-6E8A-4147-A177-3AD203B41FA5}">
                      <a16:colId xmlns:a16="http://schemas.microsoft.com/office/drawing/2014/main" val="3577726301"/>
                    </a:ext>
                  </a:extLst>
                </a:gridCol>
                <a:gridCol w="939113">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net1</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307701">
                <a:tc>
                  <a:txBody>
                    <a:bodyPr/>
                    <a:lstStyle/>
                    <a:p>
                      <a:pPr algn="ctr"/>
                      <a:r>
                        <a:rPr lang="en-US" altLang="zh-CN" sz="2000" dirty="0"/>
                        <a:t>net2</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bl>
          </a:graphicData>
        </a:graphic>
      </p:graphicFrame>
      <p:graphicFrame>
        <p:nvGraphicFramePr>
          <p:cNvPr id="120" name="表格 119"/>
          <p:cNvGraphicFramePr>
            <a:graphicFrameLocks noGrp="1"/>
          </p:cNvGraphicFramePr>
          <p:nvPr/>
        </p:nvGraphicFramePr>
        <p:xfrm>
          <a:off x="9446807" y="4378612"/>
          <a:ext cx="2551603" cy="1188720"/>
        </p:xfrm>
        <a:graphic>
          <a:graphicData uri="http://schemas.openxmlformats.org/drawingml/2006/table">
            <a:tbl>
              <a:tblPr firstRow="1" bandRow="1">
                <a:tableStyleId>{69C7853C-536D-4A76-A0AE-DD22124D55A5}</a:tableStyleId>
              </a:tblPr>
              <a:tblGrid>
                <a:gridCol w="1105862">
                  <a:extLst>
                    <a:ext uri="{9D8B030D-6E8A-4147-A177-3AD203B41FA5}">
                      <a16:colId xmlns:a16="http://schemas.microsoft.com/office/drawing/2014/main" val="1374052009"/>
                    </a:ext>
                  </a:extLst>
                </a:gridCol>
                <a:gridCol w="580768">
                  <a:extLst>
                    <a:ext uri="{9D8B030D-6E8A-4147-A177-3AD203B41FA5}">
                      <a16:colId xmlns:a16="http://schemas.microsoft.com/office/drawing/2014/main" val="3577726301"/>
                    </a:ext>
                  </a:extLst>
                </a:gridCol>
                <a:gridCol w="864973">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net2</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307701">
                <a:tc>
                  <a:txBody>
                    <a:bodyPr/>
                    <a:lstStyle/>
                    <a:p>
                      <a:pPr algn="ctr"/>
                      <a:r>
                        <a:rPr lang="en-US" altLang="zh-CN" sz="2000" dirty="0"/>
                        <a:t>net3</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bl>
          </a:graphicData>
        </a:graphic>
      </p:graphicFrame>
      <p:graphicFrame>
        <p:nvGraphicFramePr>
          <p:cNvPr id="121" name="表格 120"/>
          <p:cNvGraphicFramePr>
            <a:graphicFrameLocks noGrp="1"/>
          </p:cNvGraphicFramePr>
          <p:nvPr/>
        </p:nvGraphicFramePr>
        <p:xfrm>
          <a:off x="4602472" y="4356800"/>
          <a:ext cx="2712728" cy="1584960"/>
        </p:xfrm>
        <a:graphic>
          <a:graphicData uri="http://schemas.openxmlformats.org/drawingml/2006/table">
            <a:tbl>
              <a:tblPr firstRow="1" bandRow="1">
                <a:tableStyleId>{69C7853C-536D-4A76-A0AE-DD22124D55A5}</a:tableStyleId>
              </a:tblPr>
              <a:tblGrid>
                <a:gridCol w="1119490">
                  <a:extLst>
                    <a:ext uri="{9D8B030D-6E8A-4147-A177-3AD203B41FA5}">
                      <a16:colId xmlns:a16="http://schemas.microsoft.com/office/drawing/2014/main" val="1374052009"/>
                    </a:ext>
                  </a:extLst>
                </a:gridCol>
                <a:gridCol w="640068">
                  <a:extLst>
                    <a:ext uri="{9D8B030D-6E8A-4147-A177-3AD203B41FA5}">
                      <a16:colId xmlns:a16="http://schemas.microsoft.com/office/drawing/2014/main" val="3577726301"/>
                    </a:ext>
                  </a:extLst>
                </a:gridCol>
                <a:gridCol w="953170">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net1</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153851">
                <a:tc>
                  <a:txBody>
                    <a:bodyPr/>
                    <a:lstStyle/>
                    <a:p>
                      <a:pPr algn="ctr"/>
                      <a:r>
                        <a:rPr lang="en-US" altLang="zh-CN" sz="2000" dirty="0"/>
                        <a:t>net2</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r h="153851">
                <a:tc>
                  <a:txBody>
                    <a:bodyPr/>
                    <a:lstStyle/>
                    <a:p>
                      <a:pPr algn="ctr"/>
                      <a:r>
                        <a:rPr lang="en-US" altLang="zh-CN" sz="2000" dirty="0"/>
                        <a:t>net4</a:t>
                      </a:r>
                      <a:endParaRPr lang="zh-CN" altLang="en-US" sz="2000" dirty="0"/>
                    </a:p>
                  </a:txBody>
                  <a:tcPr marL="36000" marR="36000"/>
                </a:tc>
                <a:tc>
                  <a:txBody>
                    <a:bodyPr/>
                    <a:lstStyle/>
                    <a:p>
                      <a:pPr algn="ctr"/>
                      <a:r>
                        <a:rPr lang="en-US" altLang="zh-CN" sz="2000" dirty="0"/>
                        <a:t>1</a:t>
                      </a:r>
                      <a:endParaRPr lang="zh-CN" altLang="en-US" sz="2000" dirty="0"/>
                    </a:p>
                  </a:txBody>
                  <a:tcPr marL="36000" marR="36000"/>
                </a:tc>
                <a:tc>
                  <a:txBody>
                    <a:bodyPr/>
                    <a:lstStyle/>
                    <a:p>
                      <a:pPr algn="ctr"/>
                      <a:r>
                        <a:rPr lang="en-US" altLang="zh-CN" sz="2000" dirty="0"/>
                        <a:t>R2</a:t>
                      </a:r>
                      <a:endParaRPr lang="zh-CN" altLang="en-US" sz="2000" dirty="0"/>
                    </a:p>
                  </a:txBody>
                  <a:tcPr marL="36000" marR="36000"/>
                </a:tc>
                <a:extLst>
                  <a:ext uri="{0D108BD9-81ED-4DB2-BD59-A6C34878D82A}">
                    <a16:rowId xmlns:a16="http://schemas.microsoft.com/office/drawing/2014/main" val="62368846"/>
                  </a:ext>
                </a:extLst>
              </a:tr>
            </a:tbl>
          </a:graphicData>
        </a:graphic>
      </p:graphicFrame>
      <p:graphicFrame>
        <p:nvGraphicFramePr>
          <p:cNvPr id="122" name="表格 121"/>
          <p:cNvGraphicFramePr>
            <a:graphicFrameLocks noGrp="1"/>
          </p:cNvGraphicFramePr>
          <p:nvPr/>
        </p:nvGraphicFramePr>
        <p:xfrm>
          <a:off x="9446807" y="4366255"/>
          <a:ext cx="2573921" cy="1981200"/>
        </p:xfrm>
        <a:graphic>
          <a:graphicData uri="http://schemas.openxmlformats.org/drawingml/2006/table">
            <a:tbl>
              <a:tblPr firstRow="1" bandRow="1">
                <a:tableStyleId>{69C7853C-536D-4A76-A0AE-DD22124D55A5}</a:tableStyleId>
              </a:tblPr>
              <a:tblGrid>
                <a:gridCol w="1120920">
                  <a:extLst>
                    <a:ext uri="{9D8B030D-6E8A-4147-A177-3AD203B41FA5}">
                      <a16:colId xmlns:a16="http://schemas.microsoft.com/office/drawing/2014/main" val="1374052009"/>
                    </a:ext>
                  </a:extLst>
                </a:gridCol>
                <a:gridCol w="601320">
                  <a:extLst>
                    <a:ext uri="{9D8B030D-6E8A-4147-A177-3AD203B41FA5}">
                      <a16:colId xmlns:a16="http://schemas.microsoft.com/office/drawing/2014/main" val="3577726301"/>
                    </a:ext>
                  </a:extLst>
                </a:gridCol>
                <a:gridCol w="851681">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net2</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0">
                <a:tc>
                  <a:txBody>
                    <a:bodyPr/>
                    <a:lstStyle/>
                    <a:p>
                      <a:pPr algn="ctr"/>
                      <a:r>
                        <a:rPr lang="en-US" altLang="zh-CN" sz="2000" dirty="0"/>
                        <a:t>net3</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r h="171753">
                <a:tc>
                  <a:txBody>
                    <a:bodyPr/>
                    <a:lstStyle/>
                    <a:p>
                      <a:pPr algn="ctr"/>
                      <a:r>
                        <a:rPr lang="en-US" altLang="zh-CN" sz="2000" dirty="0"/>
                        <a:t>net1</a:t>
                      </a:r>
                      <a:endParaRPr lang="zh-CN" altLang="en-US" sz="2000" dirty="0"/>
                    </a:p>
                  </a:txBody>
                  <a:tcPr marL="36000" marR="36000"/>
                </a:tc>
                <a:tc>
                  <a:txBody>
                    <a:bodyPr/>
                    <a:lstStyle/>
                    <a:p>
                      <a:pPr algn="ctr"/>
                      <a:r>
                        <a:rPr lang="en-US" altLang="zh-CN" sz="2000" dirty="0"/>
                        <a:t>1</a:t>
                      </a:r>
                      <a:endParaRPr lang="zh-CN" altLang="en-US" sz="2000" dirty="0"/>
                    </a:p>
                  </a:txBody>
                  <a:tcPr marL="36000" marR="36000"/>
                </a:tc>
                <a:tc>
                  <a:txBody>
                    <a:bodyPr/>
                    <a:lstStyle/>
                    <a:p>
                      <a:pPr algn="ctr"/>
                      <a:r>
                        <a:rPr lang="en-US" altLang="zh-CN" sz="2000" dirty="0"/>
                        <a:t>R1</a:t>
                      </a:r>
                      <a:endParaRPr lang="zh-CN" altLang="en-US" sz="2000" dirty="0"/>
                    </a:p>
                  </a:txBody>
                  <a:tcPr marL="36000" marR="36000"/>
                </a:tc>
                <a:extLst>
                  <a:ext uri="{0D108BD9-81ED-4DB2-BD59-A6C34878D82A}">
                    <a16:rowId xmlns:a16="http://schemas.microsoft.com/office/drawing/2014/main" val="3802406786"/>
                  </a:ext>
                </a:extLst>
              </a:tr>
              <a:tr h="0">
                <a:tc>
                  <a:txBody>
                    <a:bodyPr/>
                    <a:lstStyle/>
                    <a:p>
                      <a:pPr algn="ctr"/>
                      <a:r>
                        <a:rPr lang="en-US" altLang="zh-CN" sz="2000" dirty="0"/>
                        <a:t>net4</a:t>
                      </a:r>
                      <a:endParaRPr lang="zh-CN" altLang="en-US" sz="2000" dirty="0"/>
                    </a:p>
                  </a:txBody>
                  <a:tcPr marL="36000" marR="36000"/>
                </a:tc>
                <a:tc>
                  <a:txBody>
                    <a:bodyPr/>
                    <a:lstStyle/>
                    <a:p>
                      <a:pPr algn="ctr"/>
                      <a:r>
                        <a:rPr lang="en-US" altLang="zh-CN" sz="2000" dirty="0"/>
                        <a:t>2</a:t>
                      </a:r>
                      <a:endParaRPr lang="zh-CN" altLang="en-US" sz="2000" dirty="0"/>
                    </a:p>
                  </a:txBody>
                  <a:tcPr marL="36000" marR="36000"/>
                </a:tc>
                <a:tc>
                  <a:txBody>
                    <a:bodyPr/>
                    <a:lstStyle/>
                    <a:p>
                      <a:pPr algn="ctr"/>
                      <a:r>
                        <a:rPr lang="en-US" altLang="zh-CN" sz="2000" dirty="0"/>
                        <a:t>R1</a:t>
                      </a:r>
                      <a:endParaRPr lang="zh-CN" altLang="en-US" sz="2000" dirty="0"/>
                    </a:p>
                  </a:txBody>
                  <a:tcPr marL="36000" marR="36000"/>
                </a:tc>
                <a:extLst>
                  <a:ext uri="{0D108BD9-81ED-4DB2-BD59-A6C34878D82A}">
                    <a16:rowId xmlns:a16="http://schemas.microsoft.com/office/drawing/2014/main" val="3216353289"/>
                  </a:ext>
                </a:extLst>
              </a:tr>
            </a:tbl>
          </a:graphicData>
        </a:graphic>
      </p:graphicFrame>
      <p:sp>
        <p:nvSpPr>
          <p:cNvPr id="12" name="右箭头 11"/>
          <p:cNvSpPr/>
          <p:nvPr/>
        </p:nvSpPr>
        <p:spPr>
          <a:xfrm>
            <a:off x="3279415" y="4828773"/>
            <a:ext cx="588266" cy="182066"/>
          </a:xfrm>
          <a:prstGeom prst="rightArrow">
            <a:avLst/>
          </a:prstGeom>
          <a:solidFill>
            <a:srgbClr val="5C6C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7" name="表格 56"/>
          <p:cNvGraphicFramePr>
            <a:graphicFrameLocks noGrp="1"/>
          </p:cNvGraphicFramePr>
          <p:nvPr/>
        </p:nvGraphicFramePr>
        <p:xfrm>
          <a:off x="195600" y="4376440"/>
          <a:ext cx="2695884" cy="1188720"/>
        </p:xfrm>
        <a:graphic>
          <a:graphicData uri="http://schemas.openxmlformats.org/drawingml/2006/table">
            <a:tbl>
              <a:tblPr firstRow="1" bandRow="1">
                <a:tableStyleId>{69C7853C-536D-4A76-A0AE-DD22124D55A5}</a:tableStyleId>
              </a:tblPr>
              <a:tblGrid>
                <a:gridCol w="1119782">
                  <a:extLst>
                    <a:ext uri="{9D8B030D-6E8A-4147-A177-3AD203B41FA5}">
                      <a16:colId xmlns:a16="http://schemas.microsoft.com/office/drawing/2014/main" val="1374052009"/>
                    </a:ext>
                  </a:extLst>
                </a:gridCol>
                <a:gridCol w="612275">
                  <a:extLst>
                    <a:ext uri="{9D8B030D-6E8A-4147-A177-3AD203B41FA5}">
                      <a16:colId xmlns:a16="http://schemas.microsoft.com/office/drawing/2014/main" val="3577726301"/>
                    </a:ext>
                  </a:extLst>
                </a:gridCol>
                <a:gridCol w="963827">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net1</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307701">
                <a:tc>
                  <a:txBody>
                    <a:bodyPr/>
                    <a:lstStyle/>
                    <a:p>
                      <a:pPr algn="ctr"/>
                      <a:r>
                        <a:rPr lang="en-US" altLang="zh-CN" sz="2000" dirty="0"/>
                        <a:t>net4</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bl>
          </a:graphicData>
        </a:graphic>
      </p:graphicFrame>
      <p:sp>
        <p:nvSpPr>
          <p:cNvPr id="59" name="右箭头 58"/>
          <p:cNvSpPr/>
          <p:nvPr/>
        </p:nvSpPr>
        <p:spPr>
          <a:xfrm>
            <a:off x="7902617" y="4755540"/>
            <a:ext cx="588266" cy="182066"/>
          </a:xfrm>
          <a:prstGeom prst="rightArrow">
            <a:avLst/>
          </a:prstGeom>
          <a:solidFill>
            <a:srgbClr val="5C6C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5.3.3 </a:t>
            </a:r>
            <a:r>
              <a:rPr kumimoji="1" lang="zh-CN" altLang="en-US" dirty="0">
                <a:latin typeface="DengXian" panose="02010600030101010101" pitchFamily="2" charset="-122"/>
                <a:ea typeface="DengXian" panose="02010600030101010101" pitchFamily="2" charset="-122"/>
              </a:rPr>
              <a:t>距离向量路由</a:t>
            </a:r>
          </a:p>
        </p:txBody>
      </p:sp>
      <p:sp>
        <p:nvSpPr>
          <p:cNvPr id="53" name="灯片编号占位符 3">
            <a:extLst>
              <a:ext uri="{FF2B5EF4-FFF2-40B4-BE49-F238E27FC236}">
                <a16:creationId xmlns:a16="http://schemas.microsoft.com/office/drawing/2014/main" id="{B728515E-26D1-9746-A925-8DA7AE9B42B9}"/>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62</a:t>
            </a:fld>
            <a:endParaRPr kumimoji="1" lang="zh-CN" altLang="en-US" dirty="0"/>
          </a:p>
        </p:txBody>
      </p:sp>
    </p:spTree>
    <p:extLst>
      <p:ext uri="{BB962C8B-B14F-4D97-AF65-F5344CB8AC3E}">
        <p14:creationId xmlns:p14="http://schemas.microsoft.com/office/powerpoint/2010/main" val="18975897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5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距离向量路由</a:t>
            </a:r>
            <a:endParaRPr lang="zh-CN" altLang="en-US" dirty="0"/>
          </a:p>
        </p:txBody>
      </p:sp>
      <p:sp>
        <p:nvSpPr>
          <p:cNvPr id="3" name="内容占位符 2"/>
          <p:cNvSpPr>
            <a:spLocks noGrp="1"/>
          </p:cNvSpPr>
          <p:nvPr>
            <p:ph idx="1"/>
          </p:nvPr>
        </p:nvSpPr>
        <p:spPr>
          <a:xfrm>
            <a:off x="838199" y="1510758"/>
            <a:ext cx="10864175" cy="4586694"/>
          </a:xfrm>
        </p:spPr>
        <p:txBody>
          <a:bodyPr/>
          <a:lstStyle/>
          <a:p>
            <a:r>
              <a:rPr lang="zh-CN" altLang="en-US"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rPr>
              <a:t>路由器经过若干次更新后，最终都会知道到达所有网络的最短距离</a:t>
            </a:r>
            <a:endParaRPr lang="en-US" altLang="zh-CN"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rPr>
              <a:t>所有的路由器都得到正确的路由选择信息时网络进入“收敛”（</a:t>
            </a:r>
            <a:r>
              <a:rPr lang="en-US" altLang="zh-CN"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rPr>
              <a:t>convergence</a:t>
            </a:r>
            <a:r>
              <a:rPr lang="zh-CN" altLang="en-US" dirty="0">
                <a:solidFill>
                  <a:schemeClr val="tx1">
                    <a:lumMod val="85000"/>
                    <a:lumOff val="15000"/>
                  </a:schemeClr>
                </a:solidFill>
                <a:latin typeface="Times New Roman" panose="02020603050405020304" pitchFamily="18" charset="0"/>
                <a:ea typeface="等线" panose="02010600030101010101" pitchFamily="2" charset="-122"/>
                <a:cs typeface="Times New Roman" panose="02020603050405020304" pitchFamily="18" charset="0"/>
              </a:rPr>
              <a:t>）状态</a:t>
            </a:r>
          </a:p>
        </p:txBody>
      </p:sp>
      <p:grpSp>
        <p:nvGrpSpPr>
          <p:cNvPr id="5" name="组合 4"/>
          <p:cNvGrpSpPr/>
          <p:nvPr/>
        </p:nvGrpSpPr>
        <p:grpSpPr>
          <a:xfrm>
            <a:off x="1168495" y="2658177"/>
            <a:ext cx="8485251" cy="2055338"/>
            <a:chOff x="226899" y="3749508"/>
            <a:chExt cx="8485251" cy="2055338"/>
          </a:xfrm>
        </p:grpSpPr>
        <p:sp>
          <p:nvSpPr>
            <p:cNvPr id="6" name="等腰三角形 5">
              <a:extLst>
                <a:ext uri="{FF2B5EF4-FFF2-40B4-BE49-F238E27FC236}">
                  <a16:creationId xmlns:a16="http://schemas.microsoft.com/office/drawing/2014/main" id="{76275D96-F6C9-4116-B972-EF65266DA46A}"/>
                </a:ext>
              </a:extLst>
            </p:cNvPr>
            <p:cNvSpPr/>
            <p:nvPr/>
          </p:nvSpPr>
          <p:spPr>
            <a:xfrm>
              <a:off x="5136477" y="4000558"/>
              <a:ext cx="1818282" cy="512310"/>
            </a:xfrm>
            <a:prstGeom prst="triangle">
              <a:avLst/>
            </a:prstGeom>
            <a:solidFill>
              <a:srgbClr val="FAF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7" name="文本框 6">
              <a:extLst>
                <a:ext uri="{FF2B5EF4-FFF2-40B4-BE49-F238E27FC236}">
                  <a16:creationId xmlns:a16="http://schemas.microsoft.com/office/drawing/2014/main" id="{75A86B75-EE45-4975-B050-5021B14CDFE8}"/>
                </a:ext>
              </a:extLst>
            </p:cNvPr>
            <p:cNvSpPr txBox="1"/>
            <p:nvPr/>
          </p:nvSpPr>
          <p:spPr>
            <a:xfrm>
              <a:off x="4700774" y="4621720"/>
              <a:ext cx="466794"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grpSp>
          <p:nvGrpSpPr>
            <p:cNvPr id="8" name="组合 7">
              <a:extLst>
                <a:ext uri="{FF2B5EF4-FFF2-40B4-BE49-F238E27FC236}">
                  <a16:creationId xmlns:a16="http://schemas.microsoft.com/office/drawing/2014/main" id="{E6F260F7-0E2B-4ABA-A8F6-D4966681030D}"/>
                </a:ext>
              </a:extLst>
            </p:cNvPr>
            <p:cNvGrpSpPr/>
            <p:nvPr/>
          </p:nvGrpSpPr>
          <p:grpSpPr>
            <a:xfrm>
              <a:off x="1375352" y="5050776"/>
              <a:ext cx="4728978" cy="499779"/>
              <a:chOff x="1126538" y="2159007"/>
              <a:chExt cx="4728978" cy="499779"/>
            </a:xfrm>
          </p:grpSpPr>
          <p:cxnSp>
            <p:nvCxnSpPr>
              <p:cNvPr id="27" name="直接连接符 26">
                <a:extLst>
                  <a:ext uri="{FF2B5EF4-FFF2-40B4-BE49-F238E27FC236}">
                    <a16:creationId xmlns:a16="http://schemas.microsoft.com/office/drawing/2014/main" id="{3628D4EC-0370-4825-851B-D0565AE7D8CE}"/>
                  </a:ext>
                </a:extLst>
              </p:cNvPr>
              <p:cNvCxnSpPr>
                <a:cxnSpLocks/>
              </p:cNvCxnSpPr>
              <p:nvPr/>
            </p:nvCxnSpPr>
            <p:spPr>
              <a:xfrm>
                <a:off x="2955901" y="2339641"/>
                <a:ext cx="2899615" cy="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28"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6538" y="2159007"/>
                <a:ext cx="678086" cy="4997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组合 8">
              <a:extLst>
                <a:ext uri="{FF2B5EF4-FFF2-40B4-BE49-F238E27FC236}">
                  <a16:creationId xmlns:a16="http://schemas.microsoft.com/office/drawing/2014/main" id="{E3FB6F0E-FD32-40AB-90A7-0C7D39E2B023}"/>
                </a:ext>
              </a:extLst>
            </p:cNvPr>
            <p:cNvGrpSpPr/>
            <p:nvPr/>
          </p:nvGrpSpPr>
          <p:grpSpPr>
            <a:xfrm>
              <a:off x="6969469" y="3749508"/>
              <a:ext cx="1651003" cy="1481902"/>
              <a:chOff x="7402009" y="532714"/>
              <a:chExt cx="2779724" cy="1816458"/>
            </a:xfrm>
          </p:grpSpPr>
          <p:cxnSp>
            <p:nvCxnSpPr>
              <p:cNvPr id="23" name="直接连接符 22">
                <a:extLst>
                  <a:ext uri="{FF2B5EF4-FFF2-40B4-BE49-F238E27FC236}">
                    <a16:creationId xmlns:a16="http://schemas.microsoft.com/office/drawing/2014/main" id="{EDE78263-89CB-4EDD-93F1-65AD573E59F2}"/>
                  </a:ext>
                </a:extLst>
              </p:cNvPr>
              <p:cNvCxnSpPr>
                <a:cxnSpLocks/>
              </p:cNvCxnSpPr>
              <p:nvPr/>
            </p:nvCxnSpPr>
            <p:spPr>
              <a:xfrm flipV="1">
                <a:off x="8238057" y="2339641"/>
                <a:ext cx="1032996" cy="953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4" name="文本框 23">
                <a:extLst>
                  <a:ext uri="{FF2B5EF4-FFF2-40B4-BE49-F238E27FC236}">
                    <a16:creationId xmlns:a16="http://schemas.microsoft.com/office/drawing/2014/main" id="{C9D2448E-4DF6-4F3D-94D3-4044F9D944E6}"/>
                  </a:ext>
                </a:extLst>
              </p:cNvPr>
              <p:cNvSpPr txBox="1"/>
              <p:nvPr/>
            </p:nvSpPr>
            <p:spPr>
              <a:xfrm>
                <a:off x="9395812" y="1718278"/>
                <a:ext cx="785921" cy="490439"/>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R3</a:t>
                </a:r>
                <a:endParaRPr lang="zh-CN" altLang="en-US" sz="2000" dirty="0">
                  <a:latin typeface="等线" panose="02010600030101010101" pitchFamily="2" charset="-122"/>
                  <a:ea typeface="等线" panose="02010600030101010101" pitchFamily="2" charset="-122"/>
                </a:endParaRPr>
              </a:p>
            </p:txBody>
          </p:sp>
          <p:pic>
            <p:nvPicPr>
              <p:cNvPr id="25" name="Picture 14">
                <a:extLst>
                  <a:ext uri="{FF2B5EF4-FFF2-40B4-BE49-F238E27FC236}">
                    <a16:creationId xmlns:a16="http://schemas.microsoft.com/office/drawing/2014/main" id="{3C71C7CB-AEB0-40F0-9649-C11E9F5992F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2009" y="532714"/>
                <a:ext cx="2665674" cy="93353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 name="文本框 25">
                <a:extLst>
                  <a:ext uri="{FF2B5EF4-FFF2-40B4-BE49-F238E27FC236}">
                    <a16:creationId xmlns:a16="http://schemas.microsoft.com/office/drawing/2014/main" id="{0D4EC4C3-F2D0-4F3E-A7FD-03A7DC507C18}"/>
                  </a:ext>
                </a:extLst>
              </p:cNvPr>
              <p:cNvSpPr txBox="1"/>
              <p:nvPr/>
            </p:nvSpPr>
            <p:spPr>
              <a:xfrm>
                <a:off x="8238056" y="693598"/>
                <a:ext cx="1296563" cy="490439"/>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grpSp>
        <p:pic>
          <p:nvPicPr>
            <p:cNvPr id="10"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3436" y="4971990"/>
              <a:ext cx="678086" cy="499779"/>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a:extLst>
                <a:ext uri="{FF2B5EF4-FFF2-40B4-BE49-F238E27FC236}">
                  <a16:creationId xmlns:a16="http://schemas.microsoft.com/office/drawing/2014/main" id="{6371D84A-E35B-4B3D-923C-05925905383F}"/>
                </a:ext>
              </a:extLst>
            </p:cNvPr>
            <p:cNvCxnSpPr>
              <a:cxnSpLocks/>
              <a:stCxn id="25" idx="2"/>
            </p:cNvCxnSpPr>
            <p:nvPr/>
          </p:nvCxnSpPr>
          <p:spPr>
            <a:xfrm>
              <a:off x="7761099" y="4511102"/>
              <a:ext cx="475021" cy="58845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12"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34064" y="5026522"/>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4">
              <a:extLst>
                <a:ext uri="{FF2B5EF4-FFF2-40B4-BE49-F238E27FC236}">
                  <a16:creationId xmlns:a16="http://schemas.microsoft.com/office/drawing/2014/main" id="{3C71C7CB-AEB0-40F0-9649-C11E9F5992F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29308" y="4778425"/>
              <a:ext cx="1457605" cy="86815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文本框 13">
              <a:extLst>
                <a:ext uri="{FF2B5EF4-FFF2-40B4-BE49-F238E27FC236}">
                  <a16:creationId xmlns:a16="http://schemas.microsoft.com/office/drawing/2014/main" id="{0D4EC4C3-F2D0-4F3E-A7FD-03A7DC507C18}"/>
                </a:ext>
              </a:extLst>
            </p:cNvPr>
            <p:cNvSpPr txBox="1"/>
            <p:nvPr/>
          </p:nvSpPr>
          <p:spPr>
            <a:xfrm>
              <a:off x="6383444" y="5046684"/>
              <a:ext cx="736322" cy="400110"/>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cxnSp>
          <p:nvCxnSpPr>
            <p:cNvPr id="15" name="直接连接符 14">
              <a:extLst>
                <a:ext uri="{FF2B5EF4-FFF2-40B4-BE49-F238E27FC236}">
                  <a16:creationId xmlns:a16="http://schemas.microsoft.com/office/drawing/2014/main" id="{3628D4EC-0370-4825-851B-D0565AE7D8CE}"/>
                </a:ext>
              </a:extLst>
            </p:cNvPr>
            <p:cNvCxnSpPr>
              <a:cxnSpLocks/>
            </p:cNvCxnSpPr>
            <p:nvPr/>
          </p:nvCxnSpPr>
          <p:spPr>
            <a:xfrm>
              <a:off x="2053438" y="5265808"/>
              <a:ext cx="69185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16" name="Picture 14">
              <a:extLst>
                <a:ext uri="{FF2B5EF4-FFF2-40B4-BE49-F238E27FC236}">
                  <a16:creationId xmlns:a16="http://schemas.microsoft.com/office/drawing/2014/main" id="{1F0082C8-E1D0-4631-AFFC-26FD52012009}"/>
                </a:ext>
              </a:extLst>
            </p:cNvPr>
            <p:cNvPicPr>
              <a:picLocks noChangeArrowheads="1"/>
            </p:cNvPicPr>
            <p:nvPr/>
          </p:nvPicPr>
          <p:blipFill>
            <a:blip r:embed="rId4">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399364" y="4686630"/>
              <a:ext cx="1395087" cy="1118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文本框 16">
              <a:extLst>
                <a:ext uri="{FF2B5EF4-FFF2-40B4-BE49-F238E27FC236}">
                  <a16:creationId xmlns:a16="http://schemas.microsoft.com/office/drawing/2014/main" id="{19570BD0-A1DE-4C6C-8D91-9749980155A1}"/>
                </a:ext>
              </a:extLst>
            </p:cNvPr>
            <p:cNvSpPr txBox="1"/>
            <p:nvPr/>
          </p:nvSpPr>
          <p:spPr>
            <a:xfrm>
              <a:off x="2757342" y="5038968"/>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grpSp>
          <p:nvGrpSpPr>
            <p:cNvPr id="18" name="组合 17">
              <a:extLst>
                <a:ext uri="{FF2B5EF4-FFF2-40B4-BE49-F238E27FC236}">
                  <a16:creationId xmlns:a16="http://schemas.microsoft.com/office/drawing/2014/main" id="{E3FB6F0E-FD32-40AB-90A7-0C7D39E2B023}"/>
                </a:ext>
              </a:extLst>
            </p:cNvPr>
            <p:cNvGrpSpPr/>
            <p:nvPr/>
          </p:nvGrpSpPr>
          <p:grpSpPr>
            <a:xfrm>
              <a:off x="226899" y="4000559"/>
              <a:ext cx="1651003" cy="1106090"/>
              <a:chOff x="7402009" y="852917"/>
              <a:chExt cx="2779724" cy="1355798"/>
            </a:xfrm>
          </p:grpSpPr>
          <p:sp>
            <p:nvSpPr>
              <p:cNvPr id="20" name="文本框 19">
                <a:extLst>
                  <a:ext uri="{FF2B5EF4-FFF2-40B4-BE49-F238E27FC236}">
                    <a16:creationId xmlns:a16="http://schemas.microsoft.com/office/drawing/2014/main" id="{C9D2448E-4DF6-4F3D-94D3-4044F9D944E6}"/>
                  </a:ext>
                </a:extLst>
              </p:cNvPr>
              <p:cNvSpPr txBox="1"/>
              <p:nvPr/>
            </p:nvSpPr>
            <p:spPr>
              <a:xfrm>
                <a:off x="9395812" y="1718277"/>
                <a:ext cx="785921" cy="490438"/>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pic>
            <p:nvPicPr>
              <p:cNvPr id="21" name="Picture 14">
                <a:extLst>
                  <a:ext uri="{FF2B5EF4-FFF2-40B4-BE49-F238E27FC236}">
                    <a16:creationId xmlns:a16="http://schemas.microsoft.com/office/drawing/2014/main" id="{3C71C7CB-AEB0-40F0-9649-C11E9F5992F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2009" y="852917"/>
                <a:ext cx="2665673" cy="8386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 name="文本框 21">
                <a:extLst>
                  <a:ext uri="{FF2B5EF4-FFF2-40B4-BE49-F238E27FC236}">
                    <a16:creationId xmlns:a16="http://schemas.microsoft.com/office/drawing/2014/main" id="{0D4EC4C3-F2D0-4F3E-A7FD-03A7DC507C18}"/>
                  </a:ext>
                </a:extLst>
              </p:cNvPr>
              <p:cNvSpPr txBox="1"/>
              <p:nvPr/>
            </p:nvSpPr>
            <p:spPr>
              <a:xfrm>
                <a:off x="8275237" y="1060601"/>
                <a:ext cx="1296563" cy="490438"/>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net4</a:t>
                </a:r>
                <a:endParaRPr lang="zh-CN" altLang="en-US" sz="2000" dirty="0">
                  <a:latin typeface="等线" panose="02010600030101010101" pitchFamily="2" charset="-122"/>
                  <a:ea typeface="等线" panose="02010600030101010101" pitchFamily="2" charset="-122"/>
                </a:endParaRPr>
              </a:p>
            </p:txBody>
          </p:sp>
        </p:grpSp>
        <p:cxnSp>
          <p:nvCxnSpPr>
            <p:cNvPr id="19" name="直接连接符 18">
              <a:extLst>
                <a:ext uri="{FF2B5EF4-FFF2-40B4-BE49-F238E27FC236}">
                  <a16:creationId xmlns:a16="http://schemas.microsoft.com/office/drawing/2014/main" id="{6371D84A-E35B-4B3D-923C-05925905383F}"/>
                </a:ext>
              </a:extLst>
            </p:cNvPr>
            <p:cNvCxnSpPr>
              <a:cxnSpLocks/>
              <a:stCxn id="21" idx="2"/>
            </p:cNvCxnSpPr>
            <p:nvPr/>
          </p:nvCxnSpPr>
          <p:spPr>
            <a:xfrm>
              <a:off x="1018530" y="4684778"/>
              <a:ext cx="392577" cy="4427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p:graphicFrame>
        <p:nvGraphicFramePr>
          <p:cNvPr id="48" name="表格 47"/>
          <p:cNvGraphicFramePr>
            <a:graphicFrameLocks noGrp="1"/>
          </p:cNvGraphicFramePr>
          <p:nvPr/>
        </p:nvGraphicFramePr>
        <p:xfrm>
          <a:off x="834011" y="4555252"/>
          <a:ext cx="2539384" cy="1981200"/>
        </p:xfrm>
        <a:graphic>
          <a:graphicData uri="http://schemas.openxmlformats.org/drawingml/2006/table">
            <a:tbl>
              <a:tblPr firstRow="1" bandRow="1">
                <a:tableStyleId>{69C7853C-536D-4A76-A0AE-DD22124D55A5}</a:tableStyleId>
              </a:tblPr>
              <a:tblGrid>
                <a:gridCol w="1116377">
                  <a:extLst>
                    <a:ext uri="{9D8B030D-6E8A-4147-A177-3AD203B41FA5}">
                      <a16:colId xmlns:a16="http://schemas.microsoft.com/office/drawing/2014/main" val="1374052009"/>
                    </a:ext>
                  </a:extLst>
                </a:gridCol>
                <a:gridCol w="582747">
                  <a:extLst>
                    <a:ext uri="{9D8B030D-6E8A-4147-A177-3AD203B41FA5}">
                      <a16:colId xmlns:a16="http://schemas.microsoft.com/office/drawing/2014/main" val="3577726301"/>
                    </a:ext>
                  </a:extLst>
                </a:gridCol>
                <a:gridCol w="840260">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net1</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0">
                <a:tc>
                  <a:txBody>
                    <a:bodyPr/>
                    <a:lstStyle/>
                    <a:p>
                      <a:pPr algn="ctr"/>
                      <a:r>
                        <a:rPr lang="en-US" altLang="zh-CN" sz="2000" dirty="0"/>
                        <a:t>net4</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r h="1717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net2</a:t>
                      </a:r>
                      <a:endParaRPr lang="zh-CN" altLang="en-US" sz="2000" dirty="0"/>
                    </a:p>
                  </a:txBody>
                  <a:tcPr marL="36000" marR="36000"/>
                </a:tc>
                <a:tc>
                  <a:txBody>
                    <a:bodyPr/>
                    <a:lstStyle/>
                    <a:p>
                      <a:pPr algn="ctr"/>
                      <a:r>
                        <a:rPr lang="en-US" altLang="zh-CN" sz="2000" dirty="0"/>
                        <a:t>1</a:t>
                      </a:r>
                      <a:endParaRPr lang="zh-CN" altLang="en-US" sz="2000" dirty="0"/>
                    </a:p>
                  </a:txBody>
                  <a:tcPr marL="36000" marR="36000"/>
                </a:tc>
                <a:tc>
                  <a:txBody>
                    <a:bodyPr/>
                    <a:lstStyle/>
                    <a:p>
                      <a:pPr algn="ctr"/>
                      <a:r>
                        <a:rPr lang="en-US" altLang="zh-CN" sz="2000" dirty="0"/>
                        <a:t>R1</a:t>
                      </a:r>
                      <a:endParaRPr lang="zh-CN" altLang="en-US" sz="2000" dirty="0"/>
                    </a:p>
                  </a:txBody>
                  <a:tcPr marL="36000" marR="36000"/>
                </a:tc>
                <a:extLst>
                  <a:ext uri="{0D108BD9-81ED-4DB2-BD59-A6C34878D82A}">
                    <a16:rowId xmlns:a16="http://schemas.microsoft.com/office/drawing/2014/main" val="304157684"/>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net3</a:t>
                      </a:r>
                      <a:endParaRPr lang="zh-CN" altLang="en-US" sz="2000" dirty="0"/>
                    </a:p>
                  </a:txBody>
                  <a:tcPr marL="36000" marR="36000"/>
                </a:tc>
                <a:tc>
                  <a:txBody>
                    <a:bodyPr/>
                    <a:lstStyle/>
                    <a:p>
                      <a:pPr algn="ctr"/>
                      <a:r>
                        <a:rPr lang="en-US" altLang="zh-CN" sz="2000" dirty="0"/>
                        <a:t>2</a:t>
                      </a:r>
                      <a:endParaRPr lang="zh-CN" altLang="en-US" sz="2000" dirty="0"/>
                    </a:p>
                  </a:txBody>
                  <a:tcPr marL="36000" marR="36000"/>
                </a:tc>
                <a:tc>
                  <a:txBody>
                    <a:bodyPr/>
                    <a:lstStyle/>
                    <a:p>
                      <a:pPr algn="ctr"/>
                      <a:r>
                        <a:rPr lang="en-US" altLang="zh-CN" sz="2000" dirty="0"/>
                        <a:t>R1</a:t>
                      </a:r>
                      <a:endParaRPr lang="zh-CN" altLang="en-US" sz="2000" dirty="0"/>
                    </a:p>
                  </a:txBody>
                  <a:tcPr marL="36000" marR="36000"/>
                </a:tc>
                <a:extLst>
                  <a:ext uri="{0D108BD9-81ED-4DB2-BD59-A6C34878D82A}">
                    <a16:rowId xmlns:a16="http://schemas.microsoft.com/office/drawing/2014/main" val="355289036"/>
                  </a:ext>
                </a:extLst>
              </a:tr>
            </a:tbl>
          </a:graphicData>
        </a:graphic>
      </p:graphicFrame>
      <p:graphicFrame>
        <p:nvGraphicFramePr>
          <p:cNvPr id="51" name="表格 50"/>
          <p:cNvGraphicFramePr>
            <a:graphicFrameLocks noGrp="1"/>
          </p:cNvGraphicFramePr>
          <p:nvPr/>
        </p:nvGraphicFramePr>
        <p:xfrm>
          <a:off x="4736047" y="4544347"/>
          <a:ext cx="2554439" cy="1981200"/>
        </p:xfrm>
        <a:graphic>
          <a:graphicData uri="http://schemas.openxmlformats.org/drawingml/2006/table">
            <a:tbl>
              <a:tblPr firstRow="1" bandRow="1">
                <a:tableStyleId>{69C7853C-536D-4A76-A0AE-DD22124D55A5}</a:tableStyleId>
              </a:tblPr>
              <a:tblGrid>
                <a:gridCol w="1114470">
                  <a:extLst>
                    <a:ext uri="{9D8B030D-6E8A-4147-A177-3AD203B41FA5}">
                      <a16:colId xmlns:a16="http://schemas.microsoft.com/office/drawing/2014/main" val="1374052009"/>
                    </a:ext>
                  </a:extLst>
                </a:gridCol>
                <a:gridCol w="599710">
                  <a:extLst>
                    <a:ext uri="{9D8B030D-6E8A-4147-A177-3AD203B41FA5}">
                      <a16:colId xmlns:a16="http://schemas.microsoft.com/office/drawing/2014/main" val="3577726301"/>
                    </a:ext>
                  </a:extLst>
                </a:gridCol>
                <a:gridCol w="840259">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net1</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1538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net2</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r h="137160">
                <a:tc>
                  <a:txBody>
                    <a:bodyPr/>
                    <a:lstStyle/>
                    <a:p>
                      <a:pPr algn="ctr"/>
                      <a:r>
                        <a:rPr lang="en-US" altLang="zh-CN" sz="2000" dirty="0"/>
                        <a:t>net4</a:t>
                      </a:r>
                      <a:endParaRPr lang="zh-CN" altLang="en-US" sz="2000" dirty="0"/>
                    </a:p>
                  </a:txBody>
                  <a:tcPr marL="36000" marR="36000"/>
                </a:tc>
                <a:tc>
                  <a:txBody>
                    <a:bodyPr/>
                    <a:lstStyle/>
                    <a:p>
                      <a:pPr algn="ctr"/>
                      <a:r>
                        <a:rPr lang="en-US" altLang="zh-CN" sz="2000" dirty="0"/>
                        <a:t>1</a:t>
                      </a:r>
                      <a:endParaRPr lang="zh-CN" altLang="en-US" sz="2000" dirty="0"/>
                    </a:p>
                  </a:txBody>
                  <a:tcPr marL="36000" marR="36000"/>
                </a:tc>
                <a:tc>
                  <a:txBody>
                    <a:bodyPr/>
                    <a:lstStyle/>
                    <a:p>
                      <a:pPr algn="ctr"/>
                      <a:r>
                        <a:rPr lang="en-US" altLang="zh-CN" sz="2000" dirty="0"/>
                        <a:t>R2</a:t>
                      </a:r>
                      <a:endParaRPr lang="zh-CN" altLang="en-US" sz="2000" dirty="0"/>
                    </a:p>
                  </a:txBody>
                  <a:tcPr marL="36000" marR="36000"/>
                </a:tc>
                <a:extLst>
                  <a:ext uri="{0D108BD9-81ED-4DB2-BD59-A6C34878D82A}">
                    <a16:rowId xmlns:a16="http://schemas.microsoft.com/office/drawing/2014/main" val="62368846"/>
                  </a:ext>
                </a:extLst>
              </a:tr>
              <a:tr h="137160">
                <a:tc>
                  <a:txBody>
                    <a:bodyPr/>
                    <a:lstStyle/>
                    <a:p>
                      <a:pPr algn="ctr"/>
                      <a:r>
                        <a:rPr lang="en-US" altLang="zh-CN" sz="2000" dirty="0"/>
                        <a:t>net3</a:t>
                      </a:r>
                      <a:endParaRPr lang="zh-CN" altLang="en-US" sz="2000" dirty="0"/>
                    </a:p>
                  </a:txBody>
                  <a:tcPr marL="36000" marR="36000"/>
                </a:tc>
                <a:tc>
                  <a:txBody>
                    <a:bodyPr/>
                    <a:lstStyle/>
                    <a:p>
                      <a:pPr algn="ctr"/>
                      <a:r>
                        <a:rPr lang="en-US" altLang="zh-CN" sz="2000" dirty="0"/>
                        <a:t>1</a:t>
                      </a:r>
                      <a:endParaRPr lang="zh-CN" altLang="en-US" sz="2000" dirty="0"/>
                    </a:p>
                  </a:txBody>
                  <a:tcPr marL="36000" marR="36000"/>
                </a:tc>
                <a:tc>
                  <a:txBody>
                    <a:bodyPr/>
                    <a:lstStyle/>
                    <a:p>
                      <a:pPr algn="ctr"/>
                      <a:r>
                        <a:rPr lang="en-US" altLang="zh-CN" sz="2000" dirty="0"/>
                        <a:t>R3</a:t>
                      </a:r>
                      <a:endParaRPr lang="zh-CN" altLang="en-US" sz="2000" dirty="0"/>
                    </a:p>
                  </a:txBody>
                  <a:tcPr marL="36000" marR="36000"/>
                </a:tc>
                <a:extLst>
                  <a:ext uri="{0D108BD9-81ED-4DB2-BD59-A6C34878D82A}">
                    <a16:rowId xmlns:a16="http://schemas.microsoft.com/office/drawing/2014/main" val="1979529601"/>
                  </a:ext>
                </a:extLst>
              </a:tr>
            </a:tbl>
          </a:graphicData>
        </a:graphic>
      </p:graphicFrame>
      <p:graphicFrame>
        <p:nvGraphicFramePr>
          <p:cNvPr id="52" name="表格 51"/>
          <p:cNvGraphicFramePr>
            <a:graphicFrameLocks noGrp="1"/>
          </p:cNvGraphicFramePr>
          <p:nvPr/>
        </p:nvGraphicFramePr>
        <p:xfrm>
          <a:off x="8435860" y="4523645"/>
          <a:ext cx="2604218" cy="1981200"/>
        </p:xfrm>
        <a:graphic>
          <a:graphicData uri="http://schemas.openxmlformats.org/drawingml/2006/table">
            <a:tbl>
              <a:tblPr firstRow="1" bandRow="1">
                <a:tableStyleId>{69C7853C-536D-4A76-A0AE-DD22124D55A5}</a:tableStyleId>
              </a:tblPr>
              <a:tblGrid>
                <a:gridCol w="1121407">
                  <a:extLst>
                    <a:ext uri="{9D8B030D-6E8A-4147-A177-3AD203B41FA5}">
                      <a16:colId xmlns:a16="http://schemas.microsoft.com/office/drawing/2014/main" val="1374052009"/>
                    </a:ext>
                  </a:extLst>
                </a:gridCol>
                <a:gridCol w="580767">
                  <a:extLst>
                    <a:ext uri="{9D8B030D-6E8A-4147-A177-3AD203B41FA5}">
                      <a16:colId xmlns:a16="http://schemas.microsoft.com/office/drawing/2014/main" val="3577726301"/>
                    </a:ext>
                  </a:extLst>
                </a:gridCol>
                <a:gridCol w="902044">
                  <a:extLst>
                    <a:ext uri="{9D8B030D-6E8A-4147-A177-3AD203B41FA5}">
                      <a16:colId xmlns:a16="http://schemas.microsoft.com/office/drawing/2014/main" val="3546960123"/>
                    </a:ext>
                  </a:extLst>
                </a:gridCol>
              </a:tblGrid>
              <a:tr h="307701">
                <a:tc>
                  <a:txBody>
                    <a:bodyPr/>
                    <a:lstStyle/>
                    <a:p>
                      <a:pPr algn="ctr"/>
                      <a:r>
                        <a:rPr lang="zh-CN" altLang="en-US" sz="2000" dirty="0"/>
                        <a:t>目的网络</a:t>
                      </a:r>
                      <a:endParaRPr lang="zh-CN" altLang="en-US" sz="2000" dirty="0">
                        <a:solidFill>
                          <a:schemeClr val="tx1"/>
                        </a:solidFill>
                      </a:endParaRPr>
                    </a:p>
                  </a:txBody>
                  <a:tcPr marL="36000" marR="36000">
                    <a:solidFill>
                      <a:srgbClr val="5C6CAB"/>
                    </a:solidFill>
                  </a:tcPr>
                </a:tc>
                <a:tc>
                  <a:txBody>
                    <a:bodyPr/>
                    <a:lstStyle/>
                    <a:p>
                      <a:pPr algn="ctr"/>
                      <a:r>
                        <a:rPr lang="zh-CN" altLang="en-US" sz="2000" dirty="0"/>
                        <a:t>距离</a:t>
                      </a:r>
                      <a:endParaRPr lang="zh-CN" altLang="en-US" sz="2000" dirty="0">
                        <a:solidFill>
                          <a:schemeClr val="tx1"/>
                        </a:solidFill>
                      </a:endParaRPr>
                    </a:p>
                  </a:txBody>
                  <a:tcPr marL="36000" marR="36000">
                    <a:solidFill>
                      <a:srgbClr val="5C6CAB"/>
                    </a:solidFill>
                  </a:tcPr>
                </a:tc>
                <a:tc>
                  <a:txBody>
                    <a:bodyPr/>
                    <a:lstStyle/>
                    <a:p>
                      <a:pPr marL="0" algn="ctr" defTabSz="914400" rtl="0" eaLnBrk="1" latinLnBrk="0" hangingPunct="1"/>
                      <a:r>
                        <a:rPr lang="zh-CN" altLang="en-US" sz="2000" b="1" kern="1200" dirty="0">
                          <a:solidFill>
                            <a:schemeClr val="lt1"/>
                          </a:solidFill>
                          <a:latin typeface="+mn-lt"/>
                          <a:ea typeface="+mn-ea"/>
                          <a:cs typeface="+mn-cs"/>
                        </a:rPr>
                        <a:t>下一跳</a:t>
                      </a:r>
                    </a:p>
                  </a:txBody>
                  <a:tcPr marL="36000" marR="36000">
                    <a:solidFill>
                      <a:srgbClr val="5C6CAB"/>
                    </a:solidFill>
                  </a:tcPr>
                </a:tc>
                <a:extLst>
                  <a:ext uri="{0D108BD9-81ED-4DB2-BD59-A6C34878D82A}">
                    <a16:rowId xmlns:a16="http://schemas.microsoft.com/office/drawing/2014/main" val="60612440"/>
                  </a:ext>
                </a:extLst>
              </a:tr>
              <a:tr h="307701">
                <a:tc>
                  <a:txBody>
                    <a:bodyPr/>
                    <a:lstStyle/>
                    <a:p>
                      <a:pPr algn="ctr"/>
                      <a:r>
                        <a:rPr lang="en-US" altLang="zh-CN" sz="2000" dirty="0"/>
                        <a:t>net2</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60645854"/>
                  </a:ext>
                </a:extLst>
              </a:tr>
              <a:tr h="0">
                <a:tc>
                  <a:txBody>
                    <a:bodyPr/>
                    <a:lstStyle/>
                    <a:p>
                      <a:pPr algn="ctr"/>
                      <a:r>
                        <a:rPr lang="en-US" altLang="zh-CN" sz="2000" dirty="0"/>
                        <a:t>net3</a:t>
                      </a:r>
                      <a:endParaRPr lang="zh-CN" altLang="en-US" sz="2000" dirty="0"/>
                    </a:p>
                  </a:txBody>
                  <a:tcPr marL="36000" marR="36000"/>
                </a:tc>
                <a:tc>
                  <a:txBody>
                    <a:bodyPr/>
                    <a:lstStyle/>
                    <a:p>
                      <a:pPr algn="ctr"/>
                      <a:r>
                        <a:rPr lang="en-US" altLang="zh-CN" sz="2000" dirty="0"/>
                        <a:t>0</a:t>
                      </a:r>
                      <a:endParaRPr lang="zh-CN" altLang="en-US" sz="2000" dirty="0"/>
                    </a:p>
                  </a:txBody>
                  <a:tcPr marL="36000" marR="36000"/>
                </a:tc>
                <a:tc>
                  <a:txBody>
                    <a:bodyPr/>
                    <a:lstStyle/>
                    <a:p>
                      <a:pPr algn="ctr"/>
                      <a:r>
                        <a:rPr lang="en-US" altLang="zh-CN" sz="2000" dirty="0"/>
                        <a:t>--</a:t>
                      </a:r>
                      <a:endParaRPr lang="zh-CN" altLang="en-US" sz="2000" dirty="0"/>
                    </a:p>
                  </a:txBody>
                  <a:tcPr marL="36000" marR="36000"/>
                </a:tc>
                <a:extLst>
                  <a:ext uri="{0D108BD9-81ED-4DB2-BD59-A6C34878D82A}">
                    <a16:rowId xmlns:a16="http://schemas.microsoft.com/office/drawing/2014/main" val="1886338093"/>
                  </a:ext>
                </a:extLst>
              </a:tr>
              <a:tr h="171753">
                <a:tc>
                  <a:txBody>
                    <a:bodyPr/>
                    <a:lstStyle/>
                    <a:p>
                      <a:pPr algn="ctr"/>
                      <a:r>
                        <a:rPr lang="en-US" altLang="zh-CN" sz="2000" dirty="0"/>
                        <a:t>net1</a:t>
                      </a:r>
                      <a:endParaRPr lang="zh-CN" altLang="en-US" sz="2000" dirty="0"/>
                    </a:p>
                  </a:txBody>
                  <a:tcPr marL="36000" marR="36000"/>
                </a:tc>
                <a:tc>
                  <a:txBody>
                    <a:bodyPr/>
                    <a:lstStyle/>
                    <a:p>
                      <a:pPr algn="ctr"/>
                      <a:r>
                        <a:rPr lang="en-US" altLang="zh-CN" sz="2000" dirty="0"/>
                        <a:t>1</a:t>
                      </a:r>
                      <a:endParaRPr lang="zh-CN" altLang="en-US" sz="2000" dirty="0"/>
                    </a:p>
                  </a:txBody>
                  <a:tcPr marL="36000" marR="36000"/>
                </a:tc>
                <a:tc>
                  <a:txBody>
                    <a:bodyPr/>
                    <a:lstStyle/>
                    <a:p>
                      <a:pPr algn="ctr"/>
                      <a:r>
                        <a:rPr lang="en-US" altLang="zh-CN" sz="2000" dirty="0"/>
                        <a:t>R1</a:t>
                      </a:r>
                      <a:endParaRPr lang="zh-CN" altLang="en-US" sz="2000" dirty="0"/>
                    </a:p>
                  </a:txBody>
                  <a:tcPr marL="36000" marR="36000"/>
                </a:tc>
                <a:extLst>
                  <a:ext uri="{0D108BD9-81ED-4DB2-BD59-A6C34878D82A}">
                    <a16:rowId xmlns:a16="http://schemas.microsoft.com/office/drawing/2014/main" val="3802406786"/>
                  </a:ext>
                </a:extLst>
              </a:tr>
              <a:tr h="0">
                <a:tc>
                  <a:txBody>
                    <a:bodyPr/>
                    <a:lstStyle/>
                    <a:p>
                      <a:pPr algn="ctr"/>
                      <a:r>
                        <a:rPr lang="en-US" altLang="zh-CN" sz="2000" dirty="0"/>
                        <a:t>net4</a:t>
                      </a:r>
                      <a:endParaRPr lang="zh-CN" altLang="en-US" sz="2000" dirty="0"/>
                    </a:p>
                  </a:txBody>
                  <a:tcPr marL="36000" marR="36000"/>
                </a:tc>
                <a:tc>
                  <a:txBody>
                    <a:bodyPr/>
                    <a:lstStyle/>
                    <a:p>
                      <a:pPr algn="ctr"/>
                      <a:r>
                        <a:rPr lang="en-US" altLang="zh-CN" sz="2000" dirty="0"/>
                        <a:t>2</a:t>
                      </a:r>
                      <a:endParaRPr lang="zh-CN" altLang="en-US" sz="2000" dirty="0"/>
                    </a:p>
                  </a:txBody>
                  <a:tcPr marL="36000" marR="36000"/>
                </a:tc>
                <a:tc>
                  <a:txBody>
                    <a:bodyPr/>
                    <a:lstStyle/>
                    <a:p>
                      <a:pPr algn="ctr"/>
                      <a:r>
                        <a:rPr lang="en-US" altLang="zh-CN" sz="2000" dirty="0"/>
                        <a:t>R1</a:t>
                      </a:r>
                      <a:endParaRPr lang="zh-CN" altLang="en-US" sz="2000" dirty="0"/>
                    </a:p>
                  </a:txBody>
                  <a:tcPr marL="36000" marR="36000"/>
                </a:tc>
                <a:extLst>
                  <a:ext uri="{0D108BD9-81ED-4DB2-BD59-A6C34878D82A}">
                    <a16:rowId xmlns:a16="http://schemas.microsoft.com/office/drawing/2014/main" val="3216353289"/>
                  </a:ext>
                </a:extLst>
              </a:tr>
            </a:tbl>
          </a:graphicData>
        </a:graphic>
      </p:graphicFrame>
      <p:sp>
        <p:nvSpPr>
          <p:cNvPr id="33"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5.3.3 </a:t>
            </a:r>
            <a:r>
              <a:rPr kumimoji="1" lang="zh-CN" altLang="en-US" dirty="0">
                <a:latin typeface="DengXian" panose="02010600030101010101" pitchFamily="2" charset="-122"/>
                <a:ea typeface="DengXian" panose="02010600030101010101" pitchFamily="2" charset="-122"/>
              </a:rPr>
              <a:t>距离向量路由</a:t>
            </a:r>
          </a:p>
        </p:txBody>
      </p:sp>
      <p:sp>
        <p:nvSpPr>
          <p:cNvPr id="34" name="灯片编号占位符 3">
            <a:extLst>
              <a:ext uri="{FF2B5EF4-FFF2-40B4-BE49-F238E27FC236}">
                <a16:creationId xmlns:a16="http://schemas.microsoft.com/office/drawing/2014/main" id="{91C94D6C-D63E-B242-A7E0-D84C0DDDFF4D}"/>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63</a:t>
            </a:fld>
            <a:endParaRPr kumimoji="1" lang="zh-CN" altLang="en-US" dirty="0"/>
          </a:p>
        </p:txBody>
      </p:sp>
    </p:spTree>
    <p:extLst>
      <p:ext uri="{BB962C8B-B14F-4D97-AF65-F5344CB8AC3E}">
        <p14:creationId xmlns:p14="http://schemas.microsoft.com/office/powerpoint/2010/main" val="477942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距离向量路由</a:t>
            </a:r>
            <a:endParaRPr lang="zh-CN" altLang="en-US" dirty="0"/>
          </a:p>
        </p:txBody>
      </p:sp>
      <p:sp>
        <p:nvSpPr>
          <p:cNvPr id="3" name="内容占位符 2"/>
          <p:cNvSpPr>
            <a:spLocks noGrp="1"/>
          </p:cNvSpPr>
          <p:nvPr>
            <p:ph idx="1"/>
          </p:nvPr>
        </p:nvSpPr>
        <p:spPr/>
        <p:txBody>
          <a:bodyPr/>
          <a:lstStyle/>
          <a:p>
            <a:r>
              <a:rPr lang="zh-CN" altLang="en-US" dirty="0">
                <a:latin typeface="等线" panose="02010600030101010101" pitchFamily="2" charset="-122"/>
                <a:ea typeface="等线" panose="02010600030101010101" pitchFamily="2" charset="-122"/>
                <a:cs typeface="Times New Roman" panose="02020603050405020304" pitchFamily="18" charset="0"/>
              </a:rPr>
              <a:t>计数到无穷问题（</a:t>
            </a:r>
            <a:r>
              <a:rPr lang="en-US" altLang="zh-CN" dirty="0">
                <a:latin typeface="等线" panose="02010600030101010101" pitchFamily="2" charset="-122"/>
                <a:ea typeface="等线" panose="02010600030101010101" pitchFamily="2" charset="-122"/>
                <a:cs typeface="Times New Roman" panose="02020603050405020304" pitchFamily="18" charset="0"/>
              </a:rPr>
              <a:t>The Count-to-Infinity Problem</a:t>
            </a:r>
            <a:r>
              <a:rPr lang="zh-CN" altLang="en-US" dirty="0">
                <a:latin typeface="等线" panose="02010600030101010101" pitchFamily="2" charset="-122"/>
                <a:ea typeface="等线" panose="02010600030101010101" pitchFamily="2" charset="-122"/>
                <a:cs typeface="Times New Roman" panose="02020603050405020304" pitchFamily="18" charset="0"/>
              </a:rPr>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64</a:t>
            </a:fld>
            <a:endParaRPr kumimoji="1" lang="zh-CN" altLang="en-US" dirty="0"/>
          </a:p>
        </p:txBody>
      </p:sp>
      <p:sp>
        <p:nvSpPr>
          <p:cNvPr id="6" name="Line 2"/>
          <p:cNvSpPr>
            <a:spLocks noChangeShapeType="1"/>
          </p:cNvSpPr>
          <p:nvPr/>
        </p:nvSpPr>
        <p:spPr bwMode="auto">
          <a:xfrm>
            <a:off x="3283843" y="2841633"/>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dirty="0">
              <a:latin typeface="等线" panose="02010600030101010101" pitchFamily="2" charset="-122"/>
              <a:ea typeface="等线" panose="02010600030101010101" pitchFamily="2" charset="-122"/>
            </a:endParaRPr>
          </a:p>
        </p:txBody>
      </p:sp>
      <p:sp>
        <p:nvSpPr>
          <p:cNvPr id="8" name="Text Box 4"/>
          <p:cNvSpPr txBox="1">
            <a:spLocks noChangeArrowheads="1"/>
          </p:cNvSpPr>
          <p:nvPr/>
        </p:nvSpPr>
        <p:spPr bwMode="auto">
          <a:xfrm>
            <a:off x="6436337" y="2991512"/>
            <a:ext cx="4667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sp>
        <p:nvSpPr>
          <p:cNvPr id="9" name="Text Box 5"/>
          <p:cNvSpPr txBox="1">
            <a:spLocks noChangeArrowheads="1"/>
          </p:cNvSpPr>
          <p:nvPr/>
        </p:nvSpPr>
        <p:spPr bwMode="auto">
          <a:xfrm>
            <a:off x="4011697" y="2954291"/>
            <a:ext cx="5095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grpSp>
        <p:nvGrpSpPr>
          <p:cNvPr id="5" name="组合 75"/>
          <p:cNvGrpSpPr/>
          <p:nvPr/>
        </p:nvGrpSpPr>
        <p:grpSpPr>
          <a:xfrm>
            <a:off x="3406811" y="2256444"/>
            <a:ext cx="1831097" cy="344184"/>
            <a:chOff x="3009761" y="2442912"/>
            <a:chExt cx="1831097" cy="344184"/>
          </a:xfrm>
        </p:grpSpPr>
        <p:grpSp>
          <p:nvGrpSpPr>
            <p:cNvPr id="7"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55"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56"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57"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0 -- </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0" name="组合 76"/>
          <p:cNvGrpSpPr/>
          <p:nvPr/>
        </p:nvGrpSpPr>
        <p:grpSpPr>
          <a:xfrm>
            <a:off x="5996632" y="2219155"/>
            <a:ext cx="1713657" cy="369304"/>
            <a:chOff x="5987294" y="2424341"/>
            <a:chExt cx="1781296" cy="403018"/>
          </a:xfrm>
          <a:solidFill>
            <a:schemeClr val="accent6">
              <a:lumMod val="60000"/>
              <a:lumOff val="40000"/>
            </a:schemeClr>
          </a:solidFill>
        </p:grpSpPr>
        <p:grpSp>
          <p:nvGrpSpPr>
            <p:cNvPr id="11" name="Group 111"/>
            <p:cNvGrpSpPr>
              <a:grpSpLocks/>
            </p:cNvGrpSpPr>
            <p:nvPr/>
          </p:nvGrpSpPr>
          <p:grpSpPr bwMode="auto">
            <a:xfrm flipH="1">
              <a:off x="5987294" y="2424341"/>
              <a:ext cx="1781296" cy="341718"/>
              <a:chOff x="1209" y="157"/>
              <a:chExt cx="1135" cy="328"/>
            </a:xfrm>
            <a:grpFill/>
          </p:grpSpPr>
          <p:sp>
            <p:nvSpPr>
              <p:cNvPr id="59"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b="1" dirty="0">
                  <a:latin typeface="等线" panose="02010600030101010101" pitchFamily="2" charset="-122"/>
                  <a:ea typeface="等线" panose="02010600030101010101" pitchFamily="2" charset="-122"/>
                </a:endParaRPr>
              </a:p>
            </p:txBody>
          </p:sp>
          <p:sp>
            <p:nvSpPr>
              <p:cNvPr id="60"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b="1" dirty="0">
                  <a:latin typeface="等线" panose="02010600030101010101" pitchFamily="2" charset="-122"/>
                  <a:ea typeface="等线" panose="02010600030101010101" pitchFamily="2" charset="-122"/>
                </a:endParaRPr>
              </a:p>
            </p:txBody>
          </p:sp>
        </p:grpSp>
        <p:sp>
          <p:nvSpPr>
            <p:cNvPr id="61"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sp>
        <p:nvSpPr>
          <p:cNvPr id="62" name="Text Box 120"/>
          <p:cNvSpPr txBox="1">
            <a:spLocks noChangeArrowheads="1"/>
          </p:cNvSpPr>
          <p:nvPr/>
        </p:nvSpPr>
        <p:spPr bwMode="auto">
          <a:xfrm>
            <a:off x="6443099" y="3901641"/>
            <a:ext cx="3875634" cy="707886"/>
          </a:xfrm>
          <a:prstGeom prst="rect">
            <a:avLst/>
          </a:prstGeom>
          <a:solidFill>
            <a:schemeClr val="accent6">
              <a:lumMod val="60000"/>
              <a:lumOff val="40000"/>
            </a:schemeClr>
          </a:solidFill>
          <a:ln w="9525">
            <a:solidFill>
              <a:schemeClr val="tx2"/>
            </a:solidFill>
            <a:miter lim="800000"/>
            <a:headEnd/>
            <a:tailEnd/>
          </a:ln>
          <a:effectLst/>
        </p:spPr>
        <p:txBody>
          <a:bodyPr wrap="square">
            <a:spAutoFit/>
          </a:bodyPr>
          <a:lstStyle/>
          <a:p>
            <a:r>
              <a:rPr kumimoji="1" lang="en-US" altLang="zh-CN" sz="2000" dirty="0">
                <a:latin typeface="等线" panose="02010600030101010101" pitchFamily="2" charset="-122"/>
                <a:ea typeface="等线" panose="02010600030101010101" pitchFamily="2" charset="-122"/>
              </a:rPr>
              <a:t>R2 </a:t>
            </a:r>
            <a:r>
              <a:rPr kumimoji="1" lang="zh-CN" altLang="en-US" sz="2000" dirty="0">
                <a:latin typeface="等线" panose="02010600030101010101" pitchFamily="2" charset="-122"/>
                <a:ea typeface="等线" panose="02010600030101010101" pitchFamily="2" charset="-122"/>
              </a:rPr>
              <a:t>说：“我到</a:t>
            </a:r>
            <a:r>
              <a:rPr kumimoji="1" lang="en-US" altLang="zh-CN" sz="2000" dirty="0">
                <a:latin typeface="等线" panose="02010600030101010101" pitchFamily="2" charset="-122"/>
                <a:ea typeface="等线" panose="02010600030101010101" pitchFamily="2" charset="-122"/>
              </a:rPr>
              <a:t>net1 </a:t>
            </a:r>
            <a:r>
              <a:rPr kumimoji="1" lang="zh-CN" altLang="en-US" sz="2000" dirty="0">
                <a:latin typeface="等线" panose="02010600030101010101" pitchFamily="2" charset="-122"/>
                <a:ea typeface="等线" panose="02010600030101010101" pitchFamily="2" charset="-122"/>
              </a:rPr>
              <a:t>的距离是 </a:t>
            </a:r>
            <a:r>
              <a:rPr kumimoji="1" lang="en-US" altLang="zh-CN" sz="2000" dirty="0">
                <a:latin typeface="等线" panose="02010600030101010101" pitchFamily="2" charset="-122"/>
                <a:ea typeface="等线" panose="02010600030101010101" pitchFamily="2" charset="-122"/>
              </a:rPr>
              <a:t>1</a:t>
            </a:r>
            <a:r>
              <a:rPr kumimoji="1" lang="zh-CN" altLang="en-US" sz="2000" dirty="0">
                <a:latin typeface="等线" panose="02010600030101010101" pitchFamily="2" charset="-122"/>
                <a:ea typeface="等线" panose="02010600030101010101" pitchFamily="2" charset="-122"/>
              </a:rPr>
              <a:t>，经过 </a:t>
            </a:r>
            <a:r>
              <a:rPr kumimoji="1" lang="en-US" altLang="zh-CN" sz="2000" dirty="0">
                <a:latin typeface="等线" panose="02010600030101010101" pitchFamily="2" charset="-122"/>
                <a:ea typeface="等线" panose="02010600030101010101" pitchFamily="2" charset="-122"/>
              </a:rPr>
              <a:t>R1</a:t>
            </a:r>
            <a:r>
              <a:rPr kumimoji="1" lang="zh-CN" altLang="en-US" sz="2000" dirty="0">
                <a:latin typeface="等线" panose="02010600030101010101" pitchFamily="2" charset="-122"/>
                <a:ea typeface="等线" panose="02010600030101010101" pitchFamily="2" charset="-122"/>
              </a:rPr>
              <a:t>。”</a:t>
            </a:r>
          </a:p>
        </p:txBody>
      </p:sp>
      <p:pic>
        <p:nvPicPr>
          <p:cNvPr id="66"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6753" y="2630485"/>
            <a:ext cx="561215" cy="398265"/>
          </a:xfrm>
          <a:prstGeom prst="rect">
            <a:avLst/>
          </a:prstGeom>
          <a:noFill/>
          <a:extLst>
            <a:ext uri="{909E8E84-426E-40DD-AFC4-6F175D3DCCD1}">
              <a14:hiddenFill xmlns:a14="http://schemas.microsoft.com/office/drawing/2010/main">
                <a:solidFill>
                  <a:srgbClr val="FFFFFF"/>
                </a:solidFill>
              </a14:hiddenFill>
            </a:ext>
          </a:extLst>
        </p:spPr>
      </p:pic>
      <p:pic>
        <p:nvPicPr>
          <p:cNvPr id="67"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43099" y="2650006"/>
            <a:ext cx="574247" cy="407513"/>
          </a:xfrm>
          <a:prstGeom prst="rect">
            <a:avLst/>
          </a:prstGeom>
          <a:noFill/>
          <a:extLst>
            <a:ext uri="{909E8E84-426E-40DD-AFC4-6F175D3DCCD1}">
              <a14:hiddenFill xmlns:a14="http://schemas.microsoft.com/office/drawing/2010/main">
                <a:solidFill>
                  <a:srgbClr val="FFFFFF"/>
                </a:solidFill>
              </a14:hiddenFill>
            </a:ext>
          </a:extLst>
        </p:spPr>
      </p:pic>
      <p:pic>
        <p:nvPicPr>
          <p:cNvPr id="68"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67612" y="2561382"/>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59144" y="2582272"/>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86737" y="2556125"/>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 name="文本框 72">
            <a:extLst>
              <a:ext uri="{FF2B5EF4-FFF2-40B4-BE49-F238E27FC236}">
                <a16:creationId xmlns:a16="http://schemas.microsoft.com/office/drawing/2014/main" id="{19570BD0-A1DE-4C6C-8D91-9749980155A1}"/>
              </a:ext>
            </a:extLst>
          </p:cNvPr>
          <p:cNvSpPr txBox="1"/>
          <p:nvPr/>
        </p:nvSpPr>
        <p:spPr>
          <a:xfrm>
            <a:off x="2813274" y="2671888"/>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sp>
        <p:nvSpPr>
          <p:cNvPr id="74" name="文本框 73">
            <a:extLst>
              <a:ext uri="{FF2B5EF4-FFF2-40B4-BE49-F238E27FC236}">
                <a16:creationId xmlns:a16="http://schemas.microsoft.com/office/drawing/2014/main" id="{19570BD0-A1DE-4C6C-8D91-9749980155A1}"/>
              </a:ext>
            </a:extLst>
          </p:cNvPr>
          <p:cNvSpPr txBox="1"/>
          <p:nvPr/>
        </p:nvSpPr>
        <p:spPr>
          <a:xfrm>
            <a:off x="5162315" y="2628900"/>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sp>
        <p:nvSpPr>
          <p:cNvPr id="75" name="文本框 74">
            <a:extLst>
              <a:ext uri="{FF2B5EF4-FFF2-40B4-BE49-F238E27FC236}">
                <a16:creationId xmlns:a16="http://schemas.microsoft.com/office/drawing/2014/main" id="{19570BD0-A1DE-4C6C-8D91-9749980155A1}"/>
              </a:ext>
            </a:extLst>
          </p:cNvPr>
          <p:cNvSpPr txBox="1"/>
          <p:nvPr/>
        </p:nvSpPr>
        <p:spPr>
          <a:xfrm>
            <a:off x="7578043" y="2648260"/>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sp>
        <p:nvSpPr>
          <p:cNvPr id="78" name="Text Box 120"/>
          <p:cNvSpPr txBox="1">
            <a:spLocks noChangeArrowheads="1"/>
          </p:cNvSpPr>
          <p:nvPr/>
        </p:nvSpPr>
        <p:spPr bwMode="auto">
          <a:xfrm>
            <a:off x="1198605" y="3641913"/>
            <a:ext cx="3963710" cy="707886"/>
          </a:xfrm>
          <a:prstGeom prst="rect">
            <a:avLst/>
          </a:prstGeom>
          <a:solidFill>
            <a:schemeClr val="accent5">
              <a:lumMod val="60000"/>
              <a:lumOff val="40000"/>
            </a:schemeClr>
          </a:solidFill>
          <a:ln w="9525">
            <a:solidFill>
              <a:schemeClr val="tx2"/>
            </a:solidFill>
            <a:miter lim="800000"/>
            <a:headEnd/>
            <a:tailEnd/>
          </a:ln>
          <a:effectLst/>
        </p:spPr>
        <p:txBody>
          <a:bodyPr wrap="square">
            <a:spAutoFit/>
          </a:bodyPr>
          <a:lstStyle/>
          <a:p>
            <a:r>
              <a:rPr kumimoji="1" lang="en-US" altLang="zh-CN" sz="2000" dirty="0">
                <a:latin typeface="等线" panose="02010600030101010101" pitchFamily="2" charset="-122"/>
                <a:ea typeface="等线" panose="02010600030101010101" pitchFamily="2" charset="-122"/>
              </a:rPr>
              <a:t>R1 </a:t>
            </a:r>
            <a:r>
              <a:rPr kumimoji="1" lang="zh-CN" altLang="en-US" sz="2000" dirty="0">
                <a:latin typeface="等线" panose="02010600030101010101" pitchFamily="2" charset="-122"/>
                <a:ea typeface="等线" panose="02010600030101010101" pitchFamily="2" charset="-122"/>
              </a:rPr>
              <a:t>说：“我到</a:t>
            </a:r>
            <a:r>
              <a:rPr kumimoji="1" lang="en-US" altLang="zh-CN" sz="2000" dirty="0">
                <a:latin typeface="等线" panose="02010600030101010101" pitchFamily="2" charset="-122"/>
                <a:ea typeface="等线" panose="02010600030101010101" pitchFamily="2" charset="-122"/>
              </a:rPr>
              <a:t>net1 </a:t>
            </a:r>
            <a:r>
              <a:rPr kumimoji="1" lang="zh-CN" altLang="en-US" sz="2000" dirty="0">
                <a:latin typeface="等线" panose="02010600030101010101" pitchFamily="2" charset="-122"/>
                <a:ea typeface="等线" panose="02010600030101010101" pitchFamily="2" charset="-122"/>
              </a:rPr>
              <a:t>的距离是 </a:t>
            </a:r>
            <a:r>
              <a:rPr kumimoji="1" lang="en-US" altLang="zh-CN" sz="2000" dirty="0">
                <a:latin typeface="等线" panose="02010600030101010101" pitchFamily="2" charset="-122"/>
                <a:ea typeface="等线" panose="02010600030101010101" pitchFamily="2" charset="-122"/>
              </a:rPr>
              <a:t>0</a:t>
            </a:r>
            <a:r>
              <a:rPr kumimoji="1" lang="zh-CN" altLang="en-US" sz="2000" dirty="0">
                <a:latin typeface="等线" panose="02010600030101010101" pitchFamily="2" charset="-122"/>
                <a:ea typeface="等线" panose="02010600030101010101" pitchFamily="2" charset="-122"/>
              </a:rPr>
              <a:t>，是直接交付。”</a:t>
            </a:r>
          </a:p>
        </p:txBody>
      </p:sp>
      <p:sp>
        <p:nvSpPr>
          <p:cNvPr id="79" name="Text Box 101"/>
          <p:cNvSpPr txBox="1">
            <a:spLocks noChangeArrowheads="1"/>
          </p:cNvSpPr>
          <p:nvPr/>
        </p:nvSpPr>
        <p:spPr bwMode="auto">
          <a:xfrm>
            <a:off x="842303" y="2637449"/>
            <a:ext cx="1278461"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dirty="0">
                <a:solidFill>
                  <a:srgbClr val="5C307E"/>
                </a:solidFill>
                <a:latin typeface="等线" panose="02010600030101010101" pitchFamily="2" charset="-122"/>
                <a:ea typeface="等线" panose="02010600030101010101" pitchFamily="2" charset="-122"/>
              </a:rPr>
              <a:t>正常情况</a:t>
            </a:r>
          </a:p>
        </p:txBody>
      </p:sp>
      <p:sp>
        <p:nvSpPr>
          <p:cNvPr id="30"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5.3.3 </a:t>
            </a:r>
            <a:r>
              <a:rPr kumimoji="1" lang="zh-CN" altLang="en-US" dirty="0">
                <a:latin typeface="DengXian" panose="02010600030101010101" pitchFamily="2" charset="-122"/>
                <a:ea typeface="DengXian" panose="02010600030101010101" pitchFamily="2" charset="-122"/>
              </a:rPr>
              <a:t>距离向量路由</a:t>
            </a:r>
          </a:p>
        </p:txBody>
      </p:sp>
    </p:spTree>
    <p:extLst>
      <p:ext uri="{BB962C8B-B14F-4D97-AF65-F5344CB8AC3E}">
        <p14:creationId xmlns:p14="http://schemas.microsoft.com/office/powerpoint/2010/main" val="39452024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78"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距离向量路由</a:t>
            </a:r>
            <a:endParaRPr lang="zh-CN" altLang="en-US" dirty="0"/>
          </a:p>
        </p:txBody>
      </p:sp>
      <p:sp>
        <p:nvSpPr>
          <p:cNvPr id="3" name="内容占位符 2"/>
          <p:cNvSpPr>
            <a:spLocks noGrp="1"/>
          </p:cNvSpPr>
          <p:nvPr>
            <p:ph idx="1"/>
          </p:nvPr>
        </p:nvSpPr>
        <p:spPr/>
        <p:txBody>
          <a:bodyPr/>
          <a:lstStyle/>
          <a:p>
            <a:r>
              <a:rPr lang="zh-CN" altLang="en-US" dirty="0">
                <a:latin typeface="等线" panose="02010600030101010101" pitchFamily="2" charset="-122"/>
                <a:ea typeface="等线" panose="02010600030101010101" pitchFamily="2" charset="-122"/>
                <a:cs typeface="Times New Roman" panose="02020603050405020304" pitchFamily="18" charset="0"/>
              </a:rPr>
              <a:t>计数到无穷问题（</a:t>
            </a:r>
            <a:r>
              <a:rPr lang="en-US" altLang="zh-CN" dirty="0">
                <a:latin typeface="等线" panose="02010600030101010101" pitchFamily="2" charset="-122"/>
                <a:ea typeface="等线" panose="02010600030101010101" pitchFamily="2" charset="-122"/>
                <a:cs typeface="Times New Roman" panose="02020603050405020304" pitchFamily="18" charset="0"/>
              </a:rPr>
              <a:t>The Count-to-Infinity Problem</a:t>
            </a:r>
            <a:r>
              <a:rPr lang="zh-CN" altLang="en-US" dirty="0">
                <a:latin typeface="等线" panose="02010600030101010101" pitchFamily="2" charset="-122"/>
                <a:ea typeface="等线" panose="02010600030101010101" pitchFamily="2" charset="-122"/>
                <a:cs typeface="Times New Roman" panose="02020603050405020304" pitchFamily="18" charset="0"/>
              </a:rPr>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65</a:t>
            </a:fld>
            <a:endParaRPr kumimoji="1" lang="zh-CN" altLang="en-US" dirty="0"/>
          </a:p>
        </p:txBody>
      </p:sp>
      <p:sp>
        <p:nvSpPr>
          <p:cNvPr id="6" name="Line 2"/>
          <p:cNvSpPr>
            <a:spLocks noChangeShapeType="1"/>
          </p:cNvSpPr>
          <p:nvPr/>
        </p:nvSpPr>
        <p:spPr bwMode="auto">
          <a:xfrm>
            <a:off x="3283843" y="2841633"/>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sp>
        <p:nvSpPr>
          <p:cNvPr id="8" name="Text Box 4"/>
          <p:cNvSpPr txBox="1">
            <a:spLocks noChangeArrowheads="1"/>
          </p:cNvSpPr>
          <p:nvPr/>
        </p:nvSpPr>
        <p:spPr bwMode="auto">
          <a:xfrm>
            <a:off x="6436337" y="2991512"/>
            <a:ext cx="4667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sp>
        <p:nvSpPr>
          <p:cNvPr id="9" name="Text Box 5"/>
          <p:cNvSpPr txBox="1">
            <a:spLocks noChangeArrowheads="1"/>
          </p:cNvSpPr>
          <p:nvPr/>
        </p:nvSpPr>
        <p:spPr bwMode="auto">
          <a:xfrm>
            <a:off x="4011698" y="2966648"/>
            <a:ext cx="6126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pic>
        <p:nvPicPr>
          <p:cNvPr id="68"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67612" y="2561382"/>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59144" y="2582272"/>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86737" y="2556125"/>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 name="文本框 72">
            <a:extLst>
              <a:ext uri="{FF2B5EF4-FFF2-40B4-BE49-F238E27FC236}">
                <a16:creationId xmlns:a16="http://schemas.microsoft.com/office/drawing/2014/main" id="{19570BD0-A1DE-4C6C-8D91-9749980155A1}"/>
              </a:ext>
            </a:extLst>
          </p:cNvPr>
          <p:cNvSpPr txBox="1"/>
          <p:nvPr/>
        </p:nvSpPr>
        <p:spPr>
          <a:xfrm>
            <a:off x="2813274" y="2671888"/>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sp>
        <p:nvSpPr>
          <p:cNvPr id="74" name="文本框 73">
            <a:extLst>
              <a:ext uri="{FF2B5EF4-FFF2-40B4-BE49-F238E27FC236}">
                <a16:creationId xmlns:a16="http://schemas.microsoft.com/office/drawing/2014/main" id="{19570BD0-A1DE-4C6C-8D91-9749980155A1}"/>
              </a:ext>
            </a:extLst>
          </p:cNvPr>
          <p:cNvSpPr txBox="1"/>
          <p:nvPr/>
        </p:nvSpPr>
        <p:spPr>
          <a:xfrm>
            <a:off x="5162315" y="2628900"/>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sp>
        <p:nvSpPr>
          <p:cNvPr id="75" name="文本框 74">
            <a:extLst>
              <a:ext uri="{FF2B5EF4-FFF2-40B4-BE49-F238E27FC236}">
                <a16:creationId xmlns:a16="http://schemas.microsoft.com/office/drawing/2014/main" id="{19570BD0-A1DE-4C6C-8D91-9749980155A1}"/>
              </a:ext>
            </a:extLst>
          </p:cNvPr>
          <p:cNvSpPr txBox="1"/>
          <p:nvPr/>
        </p:nvSpPr>
        <p:spPr>
          <a:xfrm>
            <a:off x="7578043" y="2648260"/>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sp>
        <p:nvSpPr>
          <p:cNvPr id="79" name="Text Box 101"/>
          <p:cNvSpPr txBox="1">
            <a:spLocks noChangeArrowheads="1"/>
          </p:cNvSpPr>
          <p:nvPr/>
        </p:nvSpPr>
        <p:spPr bwMode="auto">
          <a:xfrm>
            <a:off x="835335" y="2640565"/>
            <a:ext cx="12576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dirty="0">
                <a:solidFill>
                  <a:srgbClr val="5C307E"/>
                </a:solidFill>
                <a:latin typeface="等线" panose="02010600030101010101" pitchFamily="2" charset="-122"/>
                <a:ea typeface="等线" panose="02010600030101010101" pitchFamily="2" charset="-122"/>
              </a:rPr>
              <a:t>正常情况</a:t>
            </a:r>
          </a:p>
        </p:txBody>
      </p:sp>
      <p:sp>
        <p:nvSpPr>
          <p:cNvPr id="29" name="Line 2"/>
          <p:cNvSpPr>
            <a:spLocks noChangeShapeType="1"/>
          </p:cNvSpPr>
          <p:nvPr/>
        </p:nvSpPr>
        <p:spPr bwMode="auto">
          <a:xfrm>
            <a:off x="3267425" y="4019066"/>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pic>
        <p:nvPicPr>
          <p:cNvPr id="44"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51194" y="3738815"/>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42726" y="3759705"/>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70319" y="3733558"/>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文本框 46">
            <a:extLst>
              <a:ext uri="{FF2B5EF4-FFF2-40B4-BE49-F238E27FC236}">
                <a16:creationId xmlns:a16="http://schemas.microsoft.com/office/drawing/2014/main" id="{19570BD0-A1DE-4C6C-8D91-9749980155A1}"/>
              </a:ext>
            </a:extLst>
          </p:cNvPr>
          <p:cNvSpPr txBox="1"/>
          <p:nvPr/>
        </p:nvSpPr>
        <p:spPr>
          <a:xfrm>
            <a:off x="2796856" y="3849321"/>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sp>
        <p:nvSpPr>
          <p:cNvPr id="48" name="文本框 47">
            <a:extLst>
              <a:ext uri="{FF2B5EF4-FFF2-40B4-BE49-F238E27FC236}">
                <a16:creationId xmlns:a16="http://schemas.microsoft.com/office/drawing/2014/main" id="{19570BD0-A1DE-4C6C-8D91-9749980155A1}"/>
              </a:ext>
            </a:extLst>
          </p:cNvPr>
          <p:cNvSpPr txBox="1"/>
          <p:nvPr/>
        </p:nvSpPr>
        <p:spPr>
          <a:xfrm>
            <a:off x="5145897" y="3806333"/>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sp>
        <p:nvSpPr>
          <p:cNvPr id="49" name="文本框 48">
            <a:extLst>
              <a:ext uri="{FF2B5EF4-FFF2-40B4-BE49-F238E27FC236}">
                <a16:creationId xmlns:a16="http://schemas.microsoft.com/office/drawing/2014/main" id="{19570BD0-A1DE-4C6C-8D91-9749980155A1}"/>
              </a:ext>
            </a:extLst>
          </p:cNvPr>
          <p:cNvSpPr txBox="1"/>
          <p:nvPr/>
        </p:nvSpPr>
        <p:spPr>
          <a:xfrm>
            <a:off x="7561625" y="3825693"/>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sp>
        <p:nvSpPr>
          <p:cNvPr id="50" name="Text Box 101"/>
          <p:cNvSpPr txBox="1">
            <a:spLocks noChangeArrowheads="1"/>
          </p:cNvSpPr>
          <p:nvPr/>
        </p:nvSpPr>
        <p:spPr bwMode="auto">
          <a:xfrm>
            <a:off x="347524" y="3767114"/>
            <a:ext cx="26188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kumimoji="1" lang="en-US" altLang="zh-CN" sz="2000" dirty="0">
                <a:solidFill>
                  <a:srgbClr val="5C307E"/>
                </a:solidFill>
                <a:latin typeface="等线" panose="02010600030101010101" pitchFamily="2" charset="-122"/>
                <a:ea typeface="等线" panose="02010600030101010101" pitchFamily="2" charset="-122"/>
              </a:rPr>
              <a:t>net1</a:t>
            </a:r>
            <a:r>
              <a:rPr kumimoji="1" lang="zh-CN" altLang="en-US" sz="2000" dirty="0">
                <a:solidFill>
                  <a:srgbClr val="5C307E"/>
                </a:solidFill>
                <a:latin typeface="等线" panose="02010600030101010101" pitchFamily="2" charset="-122"/>
                <a:ea typeface="等线" panose="02010600030101010101" pitchFamily="2" charset="-122"/>
              </a:rPr>
              <a:t>出了故障情况</a:t>
            </a:r>
          </a:p>
        </p:txBody>
      </p:sp>
      <p:sp>
        <p:nvSpPr>
          <p:cNvPr id="51" name="Line 98"/>
          <p:cNvSpPr>
            <a:spLocks noChangeShapeType="1"/>
          </p:cNvSpPr>
          <p:nvPr/>
        </p:nvSpPr>
        <p:spPr bwMode="auto">
          <a:xfrm>
            <a:off x="2676433" y="3687586"/>
            <a:ext cx="795786" cy="595441"/>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sp>
        <p:nvSpPr>
          <p:cNvPr id="52" name="Line 99"/>
          <p:cNvSpPr>
            <a:spLocks noChangeShapeType="1"/>
          </p:cNvSpPr>
          <p:nvPr/>
        </p:nvSpPr>
        <p:spPr bwMode="auto">
          <a:xfrm flipH="1">
            <a:off x="2676433" y="3687586"/>
            <a:ext cx="795786" cy="595441"/>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sp>
        <p:nvSpPr>
          <p:cNvPr id="53" name="Text Box 120"/>
          <p:cNvSpPr txBox="1">
            <a:spLocks noChangeArrowheads="1"/>
          </p:cNvSpPr>
          <p:nvPr/>
        </p:nvSpPr>
        <p:spPr bwMode="auto">
          <a:xfrm>
            <a:off x="5640087" y="5309243"/>
            <a:ext cx="5505708" cy="707886"/>
          </a:xfrm>
          <a:prstGeom prst="rect">
            <a:avLst/>
          </a:prstGeom>
          <a:solidFill>
            <a:schemeClr val="accent6">
              <a:lumMod val="60000"/>
              <a:lumOff val="40000"/>
            </a:schemeClr>
          </a:solidFill>
          <a:ln w="9525">
            <a:solidFill>
              <a:schemeClr val="tx2"/>
            </a:solidFill>
            <a:miter lim="800000"/>
            <a:headEnd/>
            <a:tailEnd/>
          </a:ln>
          <a:effectLst/>
        </p:spPr>
        <p:txBody>
          <a:bodyPr wrap="square">
            <a:spAutoFit/>
          </a:bodyPr>
          <a:lstStyle/>
          <a:p>
            <a:r>
              <a:rPr kumimoji="1" lang="zh-CN" altLang="en-US" sz="2000" dirty="0">
                <a:latin typeface="等线" panose="02010600030101010101" pitchFamily="2" charset="-122"/>
                <a:ea typeface="等线" panose="02010600030101010101" pitchFamily="2" charset="-122"/>
              </a:rPr>
              <a:t>但 </a:t>
            </a:r>
            <a:r>
              <a:rPr kumimoji="1" lang="en-US" altLang="zh-CN" sz="2000" dirty="0">
                <a:latin typeface="等线" panose="02010600030101010101" pitchFamily="2" charset="-122"/>
                <a:ea typeface="等线" panose="02010600030101010101" pitchFamily="2" charset="-122"/>
              </a:rPr>
              <a:t>R2 </a:t>
            </a:r>
            <a:r>
              <a:rPr kumimoji="1" lang="zh-CN" altLang="en-US" sz="2000" dirty="0">
                <a:latin typeface="等线" panose="02010600030101010101" pitchFamily="2" charset="-122"/>
                <a:ea typeface="等线" panose="02010600030101010101" pitchFamily="2" charset="-122"/>
              </a:rPr>
              <a:t>在收到 </a:t>
            </a:r>
            <a:r>
              <a:rPr kumimoji="1" lang="en-US" altLang="zh-CN" sz="2000" dirty="0">
                <a:latin typeface="等线" panose="02010600030101010101" pitchFamily="2" charset="-122"/>
                <a:ea typeface="等线" panose="02010600030101010101" pitchFamily="2" charset="-122"/>
              </a:rPr>
              <a:t>R1</a:t>
            </a:r>
            <a:r>
              <a:rPr kumimoji="1" lang="en-US" altLang="zh-CN" sz="2000" baseline="-25000" dirty="0">
                <a:latin typeface="等线" panose="02010600030101010101" pitchFamily="2" charset="-122"/>
                <a:ea typeface="等线" panose="02010600030101010101" pitchFamily="2" charset="-122"/>
              </a:rPr>
              <a:t> </a:t>
            </a:r>
            <a:r>
              <a:rPr kumimoji="1" lang="zh-CN" altLang="en-US" sz="2000" dirty="0">
                <a:latin typeface="等线" panose="02010600030101010101" pitchFamily="2" charset="-122"/>
                <a:ea typeface="等线" panose="02010600030101010101" pitchFamily="2" charset="-122"/>
              </a:rPr>
              <a:t>的更新报文之前，还发送原来的报文，因为这时 </a:t>
            </a:r>
            <a:r>
              <a:rPr kumimoji="1" lang="en-US" altLang="zh-CN" sz="2000" dirty="0">
                <a:latin typeface="等线" panose="02010600030101010101" pitchFamily="2" charset="-122"/>
                <a:ea typeface="等线" panose="02010600030101010101" pitchFamily="2" charset="-122"/>
              </a:rPr>
              <a:t>R2</a:t>
            </a:r>
            <a:r>
              <a:rPr kumimoji="1" lang="en-US" altLang="zh-CN" sz="2000" baseline="-25000" dirty="0">
                <a:latin typeface="等线" panose="02010600030101010101" pitchFamily="2" charset="-122"/>
                <a:ea typeface="等线" panose="02010600030101010101" pitchFamily="2" charset="-122"/>
              </a:rPr>
              <a:t> </a:t>
            </a:r>
            <a:r>
              <a:rPr kumimoji="1" lang="zh-CN" altLang="en-US" sz="2000" dirty="0">
                <a:latin typeface="等线" panose="02010600030101010101" pitchFamily="2" charset="-122"/>
                <a:ea typeface="等线" panose="02010600030101010101" pitchFamily="2" charset="-122"/>
              </a:rPr>
              <a:t>并不知道</a:t>
            </a:r>
            <a:r>
              <a:rPr kumimoji="1" lang="en-US" altLang="zh-CN" sz="2000" dirty="0">
                <a:latin typeface="等线" panose="02010600030101010101" pitchFamily="2" charset="-122"/>
                <a:ea typeface="等线" panose="02010600030101010101" pitchFamily="2" charset="-122"/>
              </a:rPr>
              <a:t>net1</a:t>
            </a:r>
            <a:r>
              <a:rPr kumimoji="1" lang="zh-CN" altLang="en-US" sz="2000" dirty="0">
                <a:latin typeface="等线" panose="02010600030101010101" pitchFamily="2" charset="-122"/>
                <a:ea typeface="等线" panose="02010600030101010101" pitchFamily="2" charset="-122"/>
              </a:rPr>
              <a:t>出了故障。</a:t>
            </a:r>
          </a:p>
        </p:txBody>
      </p:sp>
      <p:sp>
        <p:nvSpPr>
          <p:cNvPr id="63" name="Text Box 120"/>
          <p:cNvSpPr txBox="1">
            <a:spLocks noChangeArrowheads="1"/>
          </p:cNvSpPr>
          <p:nvPr/>
        </p:nvSpPr>
        <p:spPr bwMode="auto">
          <a:xfrm>
            <a:off x="926561" y="4718977"/>
            <a:ext cx="4079541" cy="707886"/>
          </a:xfrm>
          <a:prstGeom prst="rect">
            <a:avLst/>
          </a:prstGeom>
          <a:solidFill>
            <a:schemeClr val="accent5">
              <a:lumMod val="60000"/>
              <a:lumOff val="40000"/>
            </a:schemeClr>
          </a:solidFill>
          <a:ln w="9525">
            <a:solidFill>
              <a:schemeClr val="tx2"/>
            </a:solidFill>
            <a:miter lim="800000"/>
            <a:headEnd/>
            <a:tailEnd/>
          </a:ln>
          <a:effectLst/>
        </p:spPr>
        <p:txBody>
          <a:bodyPr wrap="square">
            <a:spAutoFit/>
          </a:bodyPr>
          <a:lstStyle/>
          <a:p>
            <a:r>
              <a:rPr kumimoji="1" lang="en-US" altLang="zh-CN" sz="2000" dirty="0">
                <a:latin typeface="等线" panose="02010600030101010101" pitchFamily="2" charset="-122"/>
                <a:ea typeface="等线" panose="02010600030101010101" pitchFamily="2" charset="-122"/>
              </a:rPr>
              <a:t>R1 </a:t>
            </a:r>
            <a:r>
              <a:rPr kumimoji="1" lang="zh-CN" altLang="en-US" sz="2000" dirty="0">
                <a:latin typeface="等线" panose="02010600030101010101" pitchFamily="2" charset="-122"/>
                <a:ea typeface="等线" panose="02010600030101010101" pitchFamily="2" charset="-122"/>
              </a:rPr>
              <a:t>说：“我到</a:t>
            </a:r>
            <a:r>
              <a:rPr kumimoji="1" lang="en-US" altLang="zh-CN" sz="2000" dirty="0">
                <a:latin typeface="等线" panose="02010600030101010101" pitchFamily="2" charset="-122"/>
                <a:ea typeface="等线" panose="02010600030101010101" pitchFamily="2" charset="-122"/>
              </a:rPr>
              <a:t>net1 </a:t>
            </a:r>
            <a:r>
              <a:rPr kumimoji="1" lang="zh-CN" altLang="en-US" sz="2000" dirty="0">
                <a:latin typeface="等线" panose="02010600030101010101" pitchFamily="2" charset="-122"/>
                <a:ea typeface="等线" panose="02010600030101010101" pitchFamily="2" charset="-122"/>
              </a:rPr>
              <a:t>的距离是 </a:t>
            </a:r>
            <a:r>
              <a:rPr kumimoji="1" lang="en-US" altLang="zh-CN" sz="2000" dirty="0">
                <a:latin typeface="等线" panose="02010600030101010101" pitchFamily="2" charset="-122"/>
                <a:ea typeface="等线" panose="02010600030101010101" pitchFamily="2" charset="-122"/>
              </a:rPr>
              <a:t>16 </a:t>
            </a:r>
            <a:r>
              <a:rPr kumimoji="1" lang="zh-CN" altLang="en-US" sz="2000" dirty="0">
                <a:latin typeface="等线" panose="02010600030101010101" pitchFamily="2" charset="-122"/>
                <a:ea typeface="等线" panose="02010600030101010101" pitchFamily="2" charset="-122"/>
              </a:rPr>
              <a:t>（表示无法到达），是直接交付。”</a:t>
            </a:r>
          </a:p>
        </p:txBody>
      </p:sp>
      <p:grpSp>
        <p:nvGrpSpPr>
          <p:cNvPr id="5" name="组合 75"/>
          <p:cNvGrpSpPr/>
          <p:nvPr/>
        </p:nvGrpSpPr>
        <p:grpSpPr>
          <a:xfrm>
            <a:off x="3406811" y="2256444"/>
            <a:ext cx="1831097" cy="344184"/>
            <a:chOff x="3009761" y="2442912"/>
            <a:chExt cx="1831097" cy="344184"/>
          </a:xfrm>
        </p:grpSpPr>
        <p:grpSp>
          <p:nvGrpSpPr>
            <p:cNvPr id="7"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64"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65"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62"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0 -- </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0" name="组合 76"/>
          <p:cNvGrpSpPr/>
          <p:nvPr/>
        </p:nvGrpSpPr>
        <p:grpSpPr>
          <a:xfrm>
            <a:off x="5996632" y="2219155"/>
            <a:ext cx="1713657" cy="369304"/>
            <a:chOff x="5987294" y="2424341"/>
            <a:chExt cx="1781296" cy="403018"/>
          </a:xfrm>
          <a:solidFill>
            <a:schemeClr val="accent6">
              <a:lumMod val="60000"/>
              <a:lumOff val="40000"/>
            </a:schemeClr>
          </a:solidFill>
        </p:grpSpPr>
        <p:grpSp>
          <p:nvGrpSpPr>
            <p:cNvPr id="11" name="Group 111"/>
            <p:cNvGrpSpPr>
              <a:grpSpLocks/>
            </p:cNvGrpSpPr>
            <p:nvPr/>
          </p:nvGrpSpPr>
          <p:grpSpPr bwMode="auto">
            <a:xfrm flipH="1">
              <a:off x="5987294" y="2424341"/>
              <a:ext cx="1781296" cy="341718"/>
              <a:chOff x="1209" y="157"/>
              <a:chExt cx="1135" cy="328"/>
            </a:xfrm>
            <a:grpFill/>
          </p:grpSpPr>
          <p:sp>
            <p:nvSpPr>
              <p:cNvPr id="77"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78"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76"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2" name="组合 75"/>
          <p:cNvGrpSpPr/>
          <p:nvPr/>
        </p:nvGrpSpPr>
        <p:grpSpPr>
          <a:xfrm>
            <a:off x="3429525" y="3434536"/>
            <a:ext cx="1831097" cy="344184"/>
            <a:chOff x="3009761" y="2442912"/>
            <a:chExt cx="1831097" cy="344184"/>
          </a:xfrm>
        </p:grpSpPr>
        <p:grpSp>
          <p:nvGrpSpPr>
            <p:cNvPr id="13"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83"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84"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82"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16 -- </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4" name="组合 76"/>
          <p:cNvGrpSpPr/>
          <p:nvPr/>
        </p:nvGrpSpPr>
        <p:grpSpPr>
          <a:xfrm>
            <a:off x="6019346" y="3397247"/>
            <a:ext cx="1713657" cy="369304"/>
            <a:chOff x="5987294" y="2424341"/>
            <a:chExt cx="1781296" cy="403018"/>
          </a:xfrm>
          <a:solidFill>
            <a:schemeClr val="accent6">
              <a:lumMod val="60000"/>
              <a:lumOff val="40000"/>
            </a:schemeClr>
          </a:solidFill>
        </p:grpSpPr>
        <p:grpSp>
          <p:nvGrpSpPr>
            <p:cNvPr id="15" name="Group 111"/>
            <p:cNvGrpSpPr>
              <a:grpSpLocks/>
            </p:cNvGrpSpPr>
            <p:nvPr/>
          </p:nvGrpSpPr>
          <p:grpSpPr bwMode="auto">
            <a:xfrm flipH="1">
              <a:off x="5987294" y="2424341"/>
              <a:ext cx="1781296" cy="341718"/>
              <a:chOff x="1209" y="157"/>
              <a:chExt cx="1135" cy="328"/>
            </a:xfrm>
            <a:grpFill/>
          </p:grpSpPr>
          <p:sp>
            <p:nvSpPr>
              <p:cNvPr id="88"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89"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87"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pic>
        <p:nvPicPr>
          <p:cNvPr id="90"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66753" y="2630485"/>
            <a:ext cx="561215" cy="398265"/>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7697" y="2648260"/>
            <a:ext cx="561215" cy="398265"/>
          </a:xfrm>
          <a:prstGeom prst="rect">
            <a:avLst/>
          </a:prstGeom>
          <a:noFill/>
          <a:extLst>
            <a:ext uri="{909E8E84-426E-40DD-AFC4-6F175D3DCCD1}">
              <a14:hiddenFill xmlns:a14="http://schemas.microsoft.com/office/drawing/2010/main">
                <a:solidFill>
                  <a:srgbClr val="FFFFFF"/>
                </a:solidFill>
              </a14:hiddenFill>
            </a:ext>
          </a:extLst>
        </p:spPr>
      </p:pic>
      <p:sp>
        <p:nvSpPr>
          <p:cNvPr id="92" name="Text Box 4"/>
          <p:cNvSpPr txBox="1">
            <a:spLocks noChangeArrowheads="1"/>
          </p:cNvSpPr>
          <p:nvPr/>
        </p:nvSpPr>
        <p:spPr bwMode="auto">
          <a:xfrm>
            <a:off x="6428096" y="4194239"/>
            <a:ext cx="4667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sp>
        <p:nvSpPr>
          <p:cNvPr id="93" name="Text Box 5"/>
          <p:cNvSpPr txBox="1">
            <a:spLocks noChangeArrowheads="1"/>
          </p:cNvSpPr>
          <p:nvPr/>
        </p:nvSpPr>
        <p:spPr bwMode="auto">
          <a:xfrm>
            <a:off x="4003457" y="4169375"/>
            <a:ext cx="6126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pic>
        <p:nvPicPr>
          <p:cNvPr id="94"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8512" y="3833212"/>
            <a:ext cx="561215" cy="398265"/>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456" y="3850987"/>
            <a:ext cx="561215" cy="398265"/>
          </a:xfrm>
          <a:prstGeom prst="rect">
            <a:avLst/>
          </a:prstGeom>
          <a:noFill/>
          <a:extLst>
            <a:ext uri="{909E8E84-426E-40DD-AFC4-6F175D3DCCD1}">
              <a14:hiddenFill xmlns:a14="http://schemas.microsoft.com/office/drawing/2010/main">
                <a:solidFill>
                  <a:srgbClr val="FFFFFF"/>
                </a:solidFill>
              </a14:hiddenFill>
            </a:ext>
          </a:extLst>
        </p:spPr>
      </p:pic>
      <p:sp>
        <p:nvSpPr>
          <p:cNvPr id="55"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5.3.3 </a:t>
            </a:r>
            <a:r>
              <a:rPr kumimoji="1" lang="zh-CN" altLang="en-US" dirty="0">
                <a:latin typeface="DengXian" panose="02010600030101010101" pitchFamily="2" charset="-122"/>
                <a:ea typeface="DengXian" panose="02010600030101010101" pitchFamily="2" charset="-122"/>
              </a:rPr>
              <a:t>距离向量路由</a:t>
            </a:r>
          </a:p>
        </p:txBody>
      </p:sp>
    </p:spTree>
    <p:extLst>
      <p:ext uri="{BB962C8B-B14F-4D97-AF65-F5344CB8AC3E}">
        <p14:creationId xmlns:p14="http://schemas.microsoft.com/office/powerpoint/2010/main" val="27421257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animBg="1"/>
      <p:bldP spid="6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距离向量路由</a:t>
            </a:r>
            <a:endParaRPr lang="zh-CN" altLang="en-US" dirty="0"/>
          </a:p>
        </p:txBody>
      </p:sp>
      <p:sp>
        <p:nvSpPr>
          <p:cNvPr id="3" name="内容占位符 2"/>
          <p:cNvSpPr>
            <a:spLocks noGrp="1"/>
          </p:cNvSpPr>
          <p:nvPr>
            <p:ph idx="1"/>
          </p:nvPr>
        </p:nvSpPr>
        <p:spPr/>
        <p:txBody>
          <a:bodyPr/>
          <a:lstStyle/>
          <a:p>
            <a:r>
              <a:rPr lang="zh-CN" altLang="en-US" dirty="0">
                <a:latin typeface="等线" panose="02010600030101010101" pitchFamily="2" charset="-122"/>
                <a:ea typeface="等线" panose="02010600030101010101" pitchFamily="2" charset="-122"/>
                <a:cs typeface="Times New Roman" panose="02020603050405020304" pitchFamily="18" charset="0"/>
              </a:rPr>
              <a:t>计数到无穷问题（</a:t>
            </a:r>
            <a:r>
              <a:rPr lang="en-US" altLang="zh-CN" dirty="0">
                <a:latin typeface="等线" panose="02010600030101010101" pitchFamily="2" charset="-122"/>
                <a:ea typeface="等线" panose="02010600030101010101" pitchFamily="2" charset="-122"/>
                <a:cs typeface="Times New Roman" panose="02020603050405020304" pitchFamily="18" charset="0"/>
              </a:rPr>
              <a:t>The Count-to-Infinity Problem</a:t>
            </a:r>
            <a:r>
              <a:rPr lang="zh-CN" altLang="en-US" dirty="0">
                <a:latin typeface="等线" panose="02010600030101010101" pitchFamily="2" charset="-122"/>
                <a:ea typeface="等线" panose="02010600030101010101" pitchFamily="2" charset="-122"/>
                <a:cs typeface="Times New Roman" panose="02020603050405020304" pitchFamily="18" charset="0"/>
              </a:rPr>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66</a:t>
            </a:fld>
            <a:endParaRPr kumimoji="1" lang="zh-CN" altLang="en-US" dirty="0"/>
          </a:p>
        </p:txBody>
      </p:sp>
      <p:sp>
        <p:nvSpPr>
          <p:cNvPr id="6" name="Line 2"/>
          <p:cNvSpPr>
            <a:spLocks noChangeShapeType="1"/>
          </p:cNvSpPr>
          <p:nvPr/>
        </p:nvSpPr>
        <p:spPr bwMode="auto">
          <a:xfrm>
            <a:off x="3283843" y="2841633"/>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sp>
        <p:nvSpPr>
          <p:cNvPr id="8" name="Text Box 4"/>
          <p:cNvSpPr txBox="1">
            <a:spLocks noChangeArrowheads="1"/>
          </p:cNvSpPr>
          <p:nvPr/>
        </p:nvSpPr>
        <p:spPr bwMode="auto">
          <a:xfrm>
            <a:off x="6436337" y="2991512"/>
            <a:ext cx="4667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sp>
        <p:nvSpPr>
          <p:cNvPr id="9" name="Text Box 5"/>
          <p:cNvSpPr txBox="1">
            <a:spLocks noChangeArrowheads="1"/>
          </p:cNvSpPr>
          <p:nvPr/>
        </p:nvSpPr>
        <p:spPr bwMode="auto">
          <a:xfrm>
            <a:off x="4011698" y="2966648"/>
            <a:ext cx="6126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pic>
        <p:nvPicPr>
          <p:cNvPr id="68"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67612" y="2561382"/>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9"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59144" y="2582272"/>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86737" y="2556125"/>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3" name="文本框 72">
            <a:extLst>
              <a:ext uri="{FF2B5EF4-FFF2-40B4-BE49-F238E27FC236}">
                <a16:creationId xmlns:a16="http://schemas.microsoft.com/office/drawing/2014/main" id="{19570BD0-A1DE-4C6C-8D91-9749980155A1}"/>
              </a:ext>
            </a:extLst>
          </p:cNvPr>
          <p:cNvSpPr txBox="1"/>
          <p:nvPr/>
        </p:nvSpPr>
        <p:spPr>
          <a:xfrm>
            <a:off x="2813274" y="2671888"/>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sp>
        <p:nvSpPr>
          <p:cNvPr id="74" name="文本框 73">
            <a:extLst>
              <a:ext uri="{FF2B5EF4-FFF2-40B4-BE49-F238E27FC236}">
                <a16:creationId xmlns:a16="http://schemas.microsoft.com/office/drawing/2014/main" id="{19570BD0-A1DE-4C6C-8D91-9749980155A1}"/>
              </a:ext>
            </a:extLst>
          </p:cNvPr>
          <p:cNvSpPr txBox="1"/>
          <p:nvPr/>
        </p:nvSpPr>
        <p:spPr>
          <a:xfrm>
            <a:off x="5162315" y="2628900"/>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sp>
        <p:nvSpPr>
          <p:cNvPr id="75" name="文本框 74">
            <a:extLst>
              <a:ext uri="{FF2B5EF4-FFF2-40B4-BE49-F238E27FC236}">
                <a16:creationId xmlns:a16="http://schemas.microsoft.com/office/drawing/2014/main" id="{19570BD0-A1DE-4C6C-8D91-9749980155A1}"/>
              </a:ext>
            </a:extLst>
          </p:cNvPr>
          <p:cNvSpPr txBox="1"/>
          <p:nvPr/>
        </p:nvSpPr>
        <p:spPr>
          <a:xfrm>
            <a:off x="7578043" y="2648260"/>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sp>
        <p:nvSpPr>
          <p:cNvPr id="79" name="Text Box 101"/>
          <p:cNvSpPr txBox="1">
            <a:spLocks noChangeArrowheads="1"/>
          </p:cNvSpPr>
          <p:nvPr/>
        </p:nvSpPr>
        <p:spPr bwMode="auto">
          <a:xfrm>
            <a:off x="835335" y="2640565"/>
            <a:ext cx="12576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dirty="0">
                <a:solidFill>
                  <a:srgbClr val="5C307E"/>
                </a:solidFill>
                <a:latin typeface="等线" panose="02010600030101010101" pitchFamily="2" charset="-122"/>
                <a:ea typeface="等线" panose="02010600030101010101" pitchFamily="2" charset="-122"/>
              </a:rPr>
              <a:t>正常情况</a:t>
            </a:r>
          </a:p>
        </p:txBody>
      </p:sp>
      <p:sp>
        <p:nvSpPr>
          <p:cNvPr id="29" name="Line 2"/>
          <p:cNvSpPr>
            <a:spLocks noChangeShapeType="1"/>
          </p:cNvSpPr>
          <p:nvPr/>
        </p:nvSpPr>
        <p:spPr bwMode="auto">
          <a:xfrm>
            <a:off x="3267425" y="4019066"/>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pic>
        <p:nvPicPr>
          <p:cNvPr id="44"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651194" y="3738815"/>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42726" y="3759705"/>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6"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470319" y="3733558"/>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 name="文本框 46">
            <a:extLst>
              <a:ext uri="{FF2B5EF4-FFF2-40B4-BE49-F238E27FC236}">
                <a16:creationId xmlns:a16="http://schemas.microsoft.com/office/drawing/2014/main" id="{19570BD0-A1DE-4C6C-8D91-9749980155A1}"/>
              </a:ext>
            </a:extLst>
          </p:cNvPr>
          <p:cNvSpPr txBox="1"/>
          <p:nvPr/>
        </p:nvSpPr>
        <p:spPr>
          <a:xfrm>
            <a:off x="2796856" y="3849321"/>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sp>
        <p:nvSpPr>
          <p:cNvPr id="48" name="文本框 47">
            <a:extLst>
              <a:ext uri="{FF2B5EF4-FFF2-40B4-BE49-F238E27FC236}">
                <a16:creationId xmlns:a16="http://schemas.microsoft.com/office/drawing/2014/main" id="{19570BD0-A1DE-4C6C-8D91-9749980155A1}"/>
              </a:ext>
            </a:extLst>
          </p:cNvPr>
          <p:cNvSpPr txBox="1"/>
          <p:nvPr/>
        </p:nvSpPr>
        <p:spPr>
          <a:xfrm>
            <a:off x="5145897" y="3806333"/>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sp>
        <p:nvSpPr>
          <p:cNvPr id="49" name="文本框 48">
            <a:extLst>
              <a:ext uri="{FF2B5EF4-FFF2-40B4-BE49-F238E27FC236}">
                <a16:creationId xmlns:a16="http://schemas.microsoft.com/office/drawing/2014/main" id="{19570BD0-A1DE-4C6C-8D91-9749980155A1}"/>
              </a:ext>
            </a:extLst>
          </p:cNvPr>
          <p:cNvSpPr txBox="1"/>
          <p:nvPr/>
        </p:nvSpPr>
        <p:spPr>
          <a:xfrm>
            <a:off x="7561625" y="3825693"/>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sp>
        <p:nvSpPr>
          <p:cNvPr id="50" name="Text Box 101"/>
          <p:cNvSpPr txBox="1">
            <a:spLocks noChangeArrowheads="1"/>
          </p:cNvSpPr>
          <p:nvPr/>
        </p:nvSpPr>
        <p:spPr bwMode="auto">
          <a:xfrm>
            <a:off x="347524" y="3767114"/>
            <a:ext cx="26188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kumimoji="1" lang="en-US" altLang="zh-CN" sz="2000" dirty="0">
                <a:solidFill>
                  <a:srgbClr val="5C307E"/>
                </a:solidFill>
                <a:latin typeface="等线" panose="02010600030101010101" pitchFamily="2" charset="-122"/>
                <a:ea typeface="等线" panose="02010600030101010101" pitchFamily="2" charset="-122"/>
              </a:rPr>
              <a:t>net1</a:t>
            </a:r>
            <a:r>
              <a:rPr kumimoji="1" lang="zh-CN" altLang="en-US" sz="2000" dirty="0">
                <a:solidFill>
                  <a:srgbClr val="5C307E"/>
                </a:solidFill>
                <a:latin typeface="等线" panose="02010600030101010101" pitchFamily="2" charset="-122"/>
                <a:ea typeface="等线" panose="02010600030101010101" pitchFamily="2" charset="-122"/>
              </a:rPr>
              <a:t>出了故障情况</a:t>
            </a:r>
          </a:p>
        </p:txBody>
      </p:sp>
      <p:sp>
        <p:nvSpPr>
          <p:cNvPr id="51" name="Line 98"/>
          <p:cNvSpPr>
            <a:spLocks noChangeShapeType="1"/>
          </p:cNvSpPr>
          <p:nvPr/>
        </p:nvSpPr>
        <p:spPr bwMode="auto">
          <a:xfrm>
            <a:off x="2676433" y="3687586"/>
            <a:ext cx="795786" cy="595441"/>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sp>
        <p:nvSpPr>
          <p:cNvPr id="52" name="Line 99"/>
          <p:cNvSpPr>
            <a:spLocks noChangeShapeType="1"/>
          </p:cNvSpPr>
          <p:nvPr/>
        </p:nvSpPr>
        <p:spPr bwMode="auto">
          <a:xfrm flipH="1">
            <a:off x="2676433" y="3687586"/>
            <a:ext cx="795786" cy="595441"/>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grpSp>
        <p:nvGrpSpPr>
          <p:cNvPr id="5" name="组合 75"/>
          <p:cNvGrpSpPr/>
          <p:nvPr/>
        </p:nvGrpSpPr>
        <p:grpSpPr>
          <a:xfrm>
            <a:off x="3406811" y="2256444"/>
            <a:ext cx="1831097" cy="344184"/>
            <a:chOff x="3009761" y="2442912"/>
            <a:chExt cx="1831097" cy="344184"/>
          </a:xfrm>
        </p:grpSpPr>
        <p:grpSp>
          <p:nvGrpSpPr>
            <p:cNvPr id="7"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64"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65"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62"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0 -- </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0" name="组合 76"/>
          <p:cNvGrpSpPr/>
          <p:nvPr/>
        </p:nvGrpSpPr>
        <p:grpSpPr>
          <a:xfrm>
            <a:off x="5996632" y="2219155"/>
            <a:ext cx="1713657" cy="369304"/>
            <a:chOff x="5987294" y="2424341"/>
            <a:chExt cx="1781296" cy="403018"/>
          </a:xfrm>
          <a:solidFill>
            <a:schemeClr val="accent6">
              <a:lumMod val="60000"/>
              <a:lumOff val="40000"/>
            </a:schemeClr>
          </a:solidFill>
        </p:grpSpPr>
        <p:grpSp>
          <p:nvGrpSpPr>
            <p:cNvPr id="11" name="Group 111"/>
            <p:cNvGrpSpPr>
              <a:grpSpLocks/>
            </p:cNvGrpSpPr>
            <p:nvPr/>
          </p:nvGrpSpPr>
          <p:grpSpPr bwMode="auto">
            <a:xfrm flipH="1">
              <a:off x="5987294" y="2424341"/>
              <a:ext cx="1781296" cy="341718"/>
              <a:chOff x="1209" y="157"/>
              <a:chExt cx="1135" cy="328"/>
            </a:xfrm>
            <a:grpFill/>
          </p:grpSpPr>
          <p:sp>
            <p:nvSpPr>
              <p:cNvPr id="77"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78"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76"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2" name="组合 75"/>
          <p:cNvGrpSpPr/>
          <p:nvPr/>
        </p:nvGrpSpPr>
        <p:grpSpPr>
          <a:xfrm>
            <a:off x="3429525" y="4781425"/>
            <a:ext cx="1831097" cy="344184"/>
            <a:chOff x="3009761" y="2442912"/>
            <a:chExt cx="1831097" cy="344184"/>
          </a:xfrm>
        </p:grpSpPr>
        <p:grpSp>
          <p:nvGrpSpPr>
            <p:cNvPr id="13"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83"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84"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82"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16 -- </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4" name="组合 76"/>
          <p:cNvGrpSpPr/>
          <p:nvPr/>
        </p:nvGrpSpPr>
        <p:grpSpPr>
          <a:xfrm>
            <a:off x="6019346" y="4744136"/>
            <a:ext cx="1713657" cy="369304"/>
            <a:chOff x="5987294" y="2424341"/>
            <a:chExt cx="1781296" cy="403018"/>
          </a:xfrm>
          <a:solidFill>
            <a:schemeClr val="accent6">
              <a:lumMod val="60000"/>
              <a:lumOff val="40000"/>
            </a:schemeClr>
          </a:solidFill>
        </p:grpSpPr>
        <p:grpSp>
          <p:nvGrpSpPr>
            <p:cNvPr id="15" name="Group 111"/>
            <p:cNvGrpSpPr>
              <a:grpSpLocks/>
            </p:cNvGrpSpPr>
            <p:nvPr/>
          </p:nvGrpSpPr>
          <p:grpSpPr bwMode="auto">
            <a:xfrm flipH="1">
              <a:off x="5987294" y="2424341"/>
              <a:ext cx="1781296" cy="341718"/>
              <a:chOff x="1209" y="157"/>
              <a:chExt cx="1135" cy="328"/>
            </a:xfrm>
            <a:grpFill/>
          </p:grpSpPr>
          <p:sp>
            <p:nvSpPr>
              <p:cNvPr id="88"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89"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87"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pic>
        <p:nvPicPr>
          <p:cNvPr id="90"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6753" y="2630485"/>
            <a:ext cx="561215" cy="398265"/>
          </a:xfrm>
          <a:prstGeom prst="rect">
            <a:avLst/>
          </a:prstGeom>
          <a:noFill/>
          <a:extLst>
            <a:ext uri="{909E8E84-426E-40DD-AFC4-6F175D3DCCD1}">
              <a14:hiddenFill xmlns:a14="http://schemas.microsoft.com/office/drawing/2010/main">
                <a:solidFill>
                  <a:srgbClr val="FFFFFF"/>
                </a:solidFill>
              </a14:hiddenFill>
            </a:ext>
          </a:extLst>
        </p:spPr>
      </p:pic>
      <p:pic>
        <p:nvPicPr>
          <p:cNvPr id="91"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27697" y="2648260"/>
            <a:ext cx="561215" cy="398265"/>
          </a:xfrm>
          <a:prstGeom prst="rect">
            <a:avLst/>
          </a:prstGeom>
          <a:noFill/>
          <a:extLst>
            <a:ext uri="{909E8E84-426E-40DD-AFC4-6F175D3DCCD1}">
              <a14:hiddenFill xmlns:a14="http://schemas.microsoft.com/office/drawing/2010/main">
                <a:solidFill>
                  <a:srgbClr val="FFFFFF"/>
                </a:solidFill>
              </a14:hiddenFill>
            </a:ext>
          </a:extLst>
        </p:spPr>
      </p:pic>
      <p:sp>
        <p:nvSpPr>
          <p:cNvPr id="92" name="Text Box 4"/>
          <p:cNvSpPr txBox="1">
            <a:spLocks noChangeArrowheads="1"/>
          </p:cNvSpPr>
          <p:nvPr/>
        </p:nvSpPr>
        <p:spPr bwMode="auto">
          <a:xfrm>
            <a:off x="6428096" y="4194239"/>
            <a:ext cx="4667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sp>
        <p:nvSpPr>
          <p:cNvPr id="93" name="Text Box 5"/>
          <p:cNvSpPr txBox="1">
            <a:spLocks noChangeArrowheads="1"/>
          </p:cNvSpPr>
          <p:nvPr/>
        </p:nvSpPr>
        <p:spPr bwMode="auto">
          <a:xfrm>
            <a:off x="4003457" y="4169375"/>
            <a:ext cx="6126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pic>
        <p:nvPicPr>
          <p:cNvPr id="94"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8512" y="3833212"/>
            <a:ext cx="561215" cy="398265"/>
          </a:xfrm>
          <a:prstGeom prst="rect">
            <a:avLst/>
          </a:prstGeom>
          <a:noFill/>
          <a:extLst>
            <a:ext uri="{909E8E84-426E-40DD-AFC4-6F175D3DCCD1}">
              <a14:hiddenFill xmlns:a14="http://schemas.microsoft.com/office/drawing/2010/main">
                <a:solidFill>
                  <a:srgbClr val="FFFFFF"/>
                </a:solidFill>
              </a14:hiddenFill>
            </a:ext>
          </a:extLst>
        </p:spPr>
      </p:pic>
      <p:pic>
        <p:nvPicPr>
          <p:cNvPr id="95"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456" y="3850987"/>
            <a:ext cx="561215" cy="398265"/>
          </a:xfrm>
          <a:prstGeom prst="rect">
            <a:avLst/>
          </a:prstGeom>
          <a:noFill/>
          <a:extLst>
            <a:ext uri="{909E8E84-426E-40DD-AFC4-6F175D3DCCD1}">
              <a14:hiddenFill xmlns:a14="http://schemas.microsoft.com/office/drawing/2010/main">
                <a:solidFill>
                  <a:srgbClr val="FFFFFF"/>
                </a:solidFill>
              </a14:hiddenFill>
            </a:ext>
          </a:extLst>
        </p:spPr>
      </p:pic>
      <p:sp>
        <p:nvSpPr>
          <p:cNvPr id="98" name="Text Box 120"/>
          <p:cNvSpPr txBox="1">
            <a:spLocks noChangeArrowheads="1"/>
          </p:cNvSpPr>
          <p:nvPr/>
        </p:nvSpPr>
        <p:spPr bwMode="auto">
          <a:xfrm>
            <a:off x="3789988" y="5728713"/>
            <a:ext cx="5836632" cy="707886"/>
          </a:xfrm>
          <a:prstGeom prst="rect">
            <a:avLst/>
          </a:prstGeom>
          <a:solidFill>
            <a:schemeClr val="accent6">
              <a:lumMod val="60000"/>
              <a:lumOff val="40000"/>
            </a:schemeClr>
          </a:solidFill>
          <a:ln w="9525">
            <a:solidFill>
              <a:schemeClr val="tx2"/>
            </a:solidFill>
            <a:miter lim="800000"/>
            <a:headEnd/>
            <a:tailEnd/>
          </a:ln>
          <a:effectLst/>
        </p:spPr>
        <p:txBody>
          <a:bodyPr wrap="square">
            <a:spAutoFit/>
          </a:bodyPr>
          <a:lstStyle/>
          <a:p>
            <a:r>
              <a:rPr kumimoji="1" lang="en-US" altLang="zh-CN" sz="2000" dirty="0">
                <a:latin typeface="等线" panose="02010600030101010101" pitchFamily="2" charset="-122"/>
                <a:ea typeface="等线" panose="02010600030101010101" pitchFamily="2" charset="-122"/>
              </a:rPr>
              <a:t>R2 </a:t>
            </a:r>
            <a:r>
              <a:rPr kumimoji="1" lang="zh-CN" altLang="en-US" sz="2000" dirty="0">
                <a:latin typeface="等线" panose="02010600030101010101" pitchFamily="2" charset="-122"/>
                <a:ea typeface="等线" panose="02010600030101010101" pitchFamily="2" charset="-122"/>
              </a:rPr>
              <a:t>以后又更新自己的路由表为“</a:t>
            </a:r>
            <a:r>
              <a:rPr kumimoji="1" lang="en-US" altLang="zh-CN" sz="2000" dirty="0">
                <a:latin typeface="等线" panose="02010600030101010101" pitchFamily="2" charset="-122"/>
                <a:ea typeface="等线" panose="02010600030101010101" pitchFamily="2" charset="-122"/>
              </a:rPr>
              <a:t>net1, 3, R1”</a:t>
            </a:r>
            <a:r>
              <a:rPr kumimoji="1" lang="zh-CN" altLang="en-US" sz="2000" dirty="0">
                <a:latin typeface="等线" panose="02010600030101010101" pitchFamily="2" charset="-122"/>
                <a:ea typeface="等线" panose="02010600030101010101" pitchFamily="2" charset="-122"/>
              </a:rPr>
              <a:t>，表明 “我到</a:t>
            </a:r>
            <a:r>
              <a:rPr kumimoji="1" lang="en-US" altLang="zh-CN" sz="2000" dirty="0">
                <a:latin typeface="等线" panose="02010600030101010101" pitchFamily="2" charset="-122"/>
                <a:ea typeface="等线" panose="02010600030101010101" pitchFamily="2" charset="-122"/>
              </a:rPr>
              <a:t>net</a:t>
            </a:r>
            <a:r>
              <a:rPr kumimoji="1" lang="zh-CN" altLang="en-US" sz="2000" dirty="0">
                <a:latin typeface="等线" panose="02010600030101010101" pitchFamily="2" charset="-122"/>
                <a:ea typeface="等线" panose="02010600030101010101" pitchFamily="2" charset="-122"/>
              </a:rPr>
              <a:t> </a:t>
            </a:r>
            <a:r>
              <a:rPr kumimoji="1" lang="en-US" altLang="zh-CN" sz="2000" dirty="0">
                <a:latin typeface="等线" panose="02010600030101010101" pitchFamily="2" charset="-122"/>
                <a:ea typeface="等线" panose="02010600030101010101" pitchFamily="2" charset="-122"/>
              </a:rPr>
              <a:t>1 </a:t>
            </a:r>
            <a:r>
              <a:rPr kumimoji="1" lang="zh-CN" altLang="en-US" sz="2000" dirty="0">
                <a:latin typeface="等线" panose="02010600030101010101" pitchFamily="2" charset="-122"/>
                <a:ea typeface="等线" panose="02010600030101010101" pitchFamily="2" charset="-122"/>
              </a:rPr>
              <a:t>距离是 </a:t>
            </a:r>
            <a:r>
              <a:rPr kumimoji="1" lang="en-US" altLang="zh-CN" sz="2000" dirty="0">
                <a:latin typeface="等线" panose="02010600030101010101" pitchFamily="2" charset="-122"/>
                <a:ea typeface="等线" panose="02010600030101010101" pitchFamily="2" charset="-122"/>
              </a:rPr>
              <a:t>3</a:t>
            </a:r>
            <a:r>
              <a:rPr kumimoji="1" lang="zh-CN" altLang="en-US" sz="2000" dirty="0">
                <a:latin typeface="等线" panose="02010600030101010101" pitchFamily="2" charset="-122"/>
                <a:ea typeface="等线" panose="02010600030101010101" pitchFamily="2" charset="-122"/>
              </a:rPr>
              <a:t>，下一跳经过 </a:t>
            </a:r>
            <a:r>
              <a:rPr kumimoji="1" lang="en-US" altLang="zh-CN" sz="2000" dirty="0">
                <a:latin typeface="等线" panose="02010600030101010101" pitchFamily="2" charset="-122"/>
                <a:ea typeface="等线" panose="02010600030101010101" pitchFamily="2" charset="-122"/>
              </a:rPr>
              <a:t>R1”</a:t>
            </a:r>
            <a:r>
              <a:rPr kumimoji="1" lang="zh-CN" altLang="en-US" sz="2000" dirty="0">
                <a:latin typeface="等线" panose="02010600030101010101" pitchFamily="2" charset="-122"/>
                <a:ea typeface="等线" panose="02010600030101010101" pitchFamily="2" charset="-122"/>
              </a:rPr>
              <a:t>。 </a:t>
            </a:r>
          </a:p>
        </p:txBody>
      </p:sp>
      <p:grpSp>
        <p:nvGrpSpPr>
          <p:cNvPr id="16" name="组合 75"/>
          <p:cNvGrpSpPr/>
          <p:nvPr/>
        </p:nvGrpSpPr>
        <p:grpSpPr>
          <a:xfrm>
            <a:off x="3445998" y="5156250"/>
            <a:ext cx="1831097" cy="344184"/>
            <a:chOff x="3009761" y="2442912"/>
            <a:chExt cx="1831097" cy="344184"/>
          </a:xfrm>
        </p:grpSpPr>
        <p:grpSp>
          <p:nvGrpSpPr>
            <p:cNvPr id="17"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122"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123"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121" name="Text Box 105"/>
            <p:cNvSpPr txBox="1">
              <a:spLocks noChangeArrowheads="1"/>
            </p:cNvSpPr>
            <p:nvPr/>
          </p:nvSpPr>
          <p:spPr bwMode="auto">
            <a:xfrm>
              <a:off x="3020118"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2  R2 </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8" name="组合 76"/>
          <p:cNvGrpSpPr/>
          <p:nvPr/>
        </p:nvGrpSpPr>
        <p:grpSpPr>
          <a:xfrm>
            <a:off x="6035819" y="5118961"/>
            <a:ext cx="1713657" cy="369304"/>
            <a:chOff x="5987294" y="2424341"/>
            <a:chExt cx="1781296" cy="403018"/>
          </a:xfrm>
          <a:solidFill>
            <a:schemeClr val="accent6">
              <a:lumMod val="60000"/>
              <a:lumOff val="40000"/>
            </a:schemeClr>
          </a:solidFill>
        </p:grpSpPr>
        <p:grpSp>
          <p:nvGrpSpPr>
            <p:cNvPr id="19" name="Group 111"/>
            <p:cNvGrpSpPr>
              <a:grpSpLocks/>
            </p:cNvGrpSpPr>
            <p:nvPr/>
          </p:nvGrpSpPr>
          <p:grpSpPr bwMode="auto">
            <a:xfrm flipH="1">
              <a:off x="5987294" y="2424341"/>
              <a:ext cx="1781296" cy="341718"/>
              <a:chOff x="1209" y="157"/>
              <a:chExt cx="1135" cy="328"/>
            </a:xfrm>
            <a:grpFill/>
          </p:grpSpPr>
          <p:sp>
            <p:nvSpPr>
              <p:cNvPr id="127"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128"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126"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3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sp>
        <p:nvSpPr>
          <p:cNvPr id="66"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5.3.3 </a:t>
            </a:r>
            <a:r>
              <a:rPr kumimoji="1" lang="zh-CN" altLang="en-US" dirty="0">
                <a:latin typeface="DengXian" panose="02010600030101010101" pitchFamily="2" charset="-122"/>
                <a:ea typeface="DengXian" panose="02010600030101010101" pitchFamily="2" charset="-122"/>
              </a:rPr>
              <a:t>距离向量路由</a:t>
            </a:r>
          </a:p>
        </p:txBody>
      </p:sp>
    </p:spTree>
    <p:extLst>
      <p:ext uri="{BB962C8B-B14F-4D97-AF65-F5344CB8AC3E}">
        <p14:creationId xmlns:p14="http://schemas.microsoft.com/office/powerpoint/2010/main" val="21887220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距离向量路由</a:t>
            </a:r>
            <a:endParaRPr lang="zh-CN" altLang="en-US" dirty="0"/>
          </a:p>
        </p:txBody>
      </p:sp>
      <p:sp>
        <p:nvSpPr>
          <p:cNvPr id="3" name="内容占位符 2"/>
          <p:cNvSpPr>
            <a:spLocks noGrp="1"/>
          </p:cNvSpPr>
          <p:nvPr>
            <p:ph idx="1"/>
          </p:nvPr>
        </p:nvSpPr>
        <p:spPr/>
        <p:txBody>
          <a:bodyPr/>
          <a:lstStyle/>
          <a:p>
            <a:r>
              <a:rPr lang="zh-CN" altLang="en-US" dirty="0">
                <a:latin typeface="等线" panose="02010600030101010101" pitchFamily="2" charset="-122"/>
                <a:ea typeface="等线" panose="02010600030101010101" pitchFamily="2" charset="-122"/>
                <a:cs typeface="Times New Roman" panose="02020603050405020304" pitchFamily="18" charset="0"/>
              </a:rPr>
              <a:t>计数到无穷问题（</a:t>
            </a:r>
            <a:r>
              <a:rPr lang="en-US" altLang="zh-CN" dirty="0">
                <a:latin typeface="等线" panose="02010600030101010101" pitchFamily="2" charset="-122"/>
                <a:ea typeface="等线" panose="02010600030101010101" pitchFamily="2" charset="-122"/>
                <a:cs typeface="Times New Roman" panose="02020603050405020304" pitchFamily="18" charset="0"/>
              </a:rPr>
              <a:t>The Count-to-Infinity Problem</a:t>
            </a:r>
            <a:r>
              <a:rPr lang="zh-CN" altLang="en-US" dirty="0">
                <a:latin typeface="等线" panose="02010600030101010101" pitchFamily="2" charset="-122"/>
                <a:ea typeface="等线" panose="02010600030101010101" pitchFamily="2" charset="-122"/>
                <a:cs typeface="Times New Roman" panose="02020603050405020304" pitchFamily="18" charset="0"/>
              </a:rPr>
              <a:t>）</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67</a:t>
            </a:fld>
            <a:endParaRPr kumimoji="1" lang="zh-CN" altLang="en-US" dirty="0"/>
          </a:p>
        </p:txBody>
      </p:sp>
      <p:sp>
        <p:nvSpPr>
          <p:cNvPr id="102" name="Text Box 4"/>
          <p:cNvSpPr txBox="1">
            <a:spLocks noChangeArrowheads="1"/>
          </p:cNvSpPr>
          <p:nvPr/>
        </p:nvSpPr>
        <p:spPr bwMode="auto">
          <a:xfrm>
            <a:off x="6942438" y="3505998"/>
            <a:ext cx="4667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sp>
        <p:nvSpPr>
          <p:cNvPr id="155" name="Text Box 142"/>
          <p:cNvSpPr txBox="1">
            <a:spLocks noChangeArrowheads="1"/>
          </p:cNvSpPr>
          <p:nvPr/>
        </p:nvSpPr>
        <p:spPr bwMode="auto">
          <a:xfrm rot="5400000">
            <a:off x="4057687" y="5003527"/>
            <a:ext cx="364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dirty="0">
                <a:latin typeface="+mn-lt"/>
                <a:ea typeface="黑体" pitchFamily="2" charset="-122"/>
              </a:rPr>
              <a:t>…</a:t>
            </a:r>
          </a:p>
        </p:txBody>
      </p:sp>
      <p:sp>
        <p:nvSpPr>
          <p:cNvPr id="156" name="Text Box 120"/>
          <p:cNvSpPr txBox="1">
            <a:spLocks noChangeArrowheads="1"/>
          </p:cNvSpPr>
          <p:nvPr/>
        </p:nvSpPr>
        <p:spPr bwMode="auto">
          <a:xfrm>
            <a:off x="8215845" y="3758463"/>
            <a:ext cx="3721243" cy="1323439"/>
          </a:xfrm>
          <a:prstGeom prst="rect">
            <a:avLst/>
          </a:prstGeom>
          <a:solidFill>
            <a:srgbClr val="FAF4FF"/>
          </a:solidFill>
          <a:ln w="9525">
            <a:solidFill>
              <a:schemeClr val="tx2"/>
            </a:solidFill>
            <a:miter lim="800000"/>
            <a:headEnd/>
            <a:tailEnd/>
          </a:ln>
          <a:effectLst/>
        </p:spPr>
        <p:txBody>
          <a:bodyPr wrap="square">
            <a:spAutoFit/>
          </a:bodyPr>
          <a:lstStyle/>
          <a:p>
            <a:r>
              <a:rPr kumimoji="1" lang="zh-CN" altLang="en-US" sz="2000" dirty="0">
                <a:latin typeface="等线" panose="02010600030101010101" pitchFamily="2" charset="-122"/>
                <a:ea typeface="等线" panose="02010600030101010101" pitchFamily="2" charset="-122"/>
              </a:rPr>
              <a:t>这样不断更新下去，直到 </a:t>
            </a:r>
            <a:r>
              <a:rPr kumimoji="1" lang="en-US" altLang="zh-CN" sz="2000" dirty="0">
                <a:latin typeface="等线" panose="02010600030101010101" pitchFamily="2" charset="-122"/>
                <a:ea typeface="等线" panose="02010600030101010101" pitchFamily="2" charset="-122"/>
              </a:rPr>
              <a:t>R1 </a:t>
            </a:r>
            <a:r>
              <a:rPr kumimoji="1" lang="zh-CN" altLang="en-US" sz="2000" dirty="0">
                <a:latin typeface="等线" panose="02010600030101010101" pitchFamily="2" charset="-122"/>
                <a:ea typeface="等线" panose="02010600030101010101" pitchFamily="2" charset="-122"/>
              </a:rPr>
              <a:t>和 </a:t>
            </a:r>
            <a:r>
              <a:rPr kumimoji="1" lang="en-US" altLang="zh-CN" sz="2000" dirty="0">
                <a:latin typeface="等线" panose="02010600030101010101" pitchFamily="2" charset="-122"/>
                <a:ea typeface="等线" panose="02010600030101010101" pitchFamily="2" charset="-122"/>
              </a:rPr>
              <a:t>R2</a:t>
            </a:r>
            <a:r>
              <a:rPr kumimoji="1" lang="en-US" altLang="zh-CN" sz="2000" baseline="-25000" dirty="0">
                <a:latin typeface="等线" panose="02010600030101010101" pitchFamily="2" charset="-122"/>
                <a:ea typeface="等线" panose="02010600030101010101" pitchFamily="2" charset="-122"/>
              </a:rPr>
              <a:t> </a:t>
            </a:r>
            <a:r>
              <a:rPr kumimoji="1" lang="zh-CN" altLang="en-US" sz="2000" dirty="0">
                <a:latin typeface="等线" panose="02010600030101010101" pitchFamily="2" charset="-122"/>
                <a:ea typeface="等线" panose="02010600030101010101" pitchFamily="2" charset="-122"/>
              </a:rPr>
              <a:t>到</a:t>
            </a:r>
            <a:r>
              <a:rPr kumimoji="1" lang="en-US" altLang="zh-CN" sz="2000" dirty="0">
                <a:latin typeface="等线" panose="02010600030101010101" pitchFamily="2" charset="-122"/>
                <a:ea typeface="等线" panose="02010600030101010101" pitchFamily="2" charset="-122"/>
              </a:rPr>
              <a:t>net</a:t>
            </a:r>
            <a:r>
              <a:rPr kumimoji="1" lang="zh-CN" altLang="en-US" sz="2000" dirty="0">
                <a:latin typeface="等线" panose="02010600030101010101" pitchFamily="2" charset="-122"/>
                <a:ea typeface="等线" panose="02010600030101010101" pitchFamily="2" charset="-122"/>
              </a:rPr>
              <a:t> </a:t>
            </a:r>
            <a:r>
              <a:rPr kumimoji="1" lang="en-US" altLang="zh-CN" sz="2000" dirty="0">
                <a:latin typeface="等线" panose="02010600030101010101" pitchFamily="2" charset="-122"/>
                <a:ea typeface="等线" panose="02010600030101010101" pitchFamily="2" charset="-122"/>
              </a:rPr>
              <a:t>1 </a:t>
            </a:r>
            <a:r>
              <a:rPr kumimoji="1" lang="zh-CN" altLang="en-US" sz="2000" dirty="0">
                <a:latin typeface="等线" panose="02010600030101010101" pitchFamily="2" charset="-122"/>
                <a:ea typeface="等线" panose="02010600030101010101" pitchFamily="2" charset="-122"/>
              </a:rPr>
              <a:t>的距离都增大到</a:t>
            </a:r>
            <a:r>
              <a:rPr kumimoji="1" lang="en-US" altLang="zh-CN" sz="2000" dirty="0">
                <a:latin typeface="等线" panose="02010600030101010101" pitchFamily="2" charset="-122"/>
                <a:ea typeface="等线" panose="02010600030101010101" pitchFamily="2" charset="-122"/>
              </a:rPr>
              <a:t>16 </a:t>
            </a:r>
            <a:r>
              <a:rPr kumimoji="1" lang="zh-CN" altLang="en-US" sz="2000" dirty="0">
                <a:latin typeface="等线" panose="02010600030101010101" pitchFamily="2" charset="-122"/>
                <a:ea typeface="等线" panose="02010600030101010101" pitchFamily="2" charset="-122"/>
              </a:rPr>
              <a:t>时，</a:t>
            </a:r>
            <a:r>
              <a:rPr kumimoji="1" lang="en-US" altLang="zh-CN" sz="2000" dirty="0">
                <a:latin typeface="等线" panose="02010600030101010101" pitchFamily="2" charset="-122"/>
                <a:ea typeface="等线" panose="02010600030101010101" pitchFamily="2" charset="-122"/>
              </a:rPr>
              <a:t> R1 </a:t>
            </a:r>
            <a:r>
              <a:rPr kumimoji="1" lang="zh-CN" altLang="en-US" sz="2000" dirty="0">
                <a:latin typeface="等线" panose="02010600030101010101" pitchFamily="2" charset="-122"/>
                <a:ea typeface="等线" panose="02010600030101010101" pitchFamily="2" charset="-122"/>
              </a:rPr>
              <a:t>和 </a:t>
            </a:r>
            <a:r>
              <a:rPr kumimoji="1" lang="en-US" altLang="zh-CN" sz="2000" dirty="0">
                <a:latin typeface="等线" panose="02010600030101010101" pitchFamily="2" charset="-122"/>
                <a:ea typeface="等线" panose="02010600030101010101" pitchFamily="2" charset="-122"/>
              </a:rPr>
              <a:t>R2</a:t>
            </a:r>
            <a:r>
              <a:rPr kumimoji="1" lang="zh-CN" altLang="en-US" sz="2000" dirty="0">
                <a:latin typeface="等线" panose="02010600030101010101" pitchFamily="2" charset="-122"/>
                <a:ea typeface="等线" panose="02010600030101010101" pitchFamily="2" charset="-122"/>
              </a:rPr>
              <a:t>才知道</a:t>
            </a:r>
            <a:r>
              <a:rPr kumimoji="1" lang="en-US" altLang="zh-CN" sz="2000" dirty="0">
                <a:latin typeface="等线" panose="02010600030101010101" pitchFamily="2" charset="-122"/>
                <a:ea typeface="等线" panose="02010600030101010101" pitchFamily="2" charset="-122"/>
              </a:rPr>
              <a:t>net</a:t>
            </a:r>
            <a:r>
              <a:rPr kumimoji="1" lang="zh-CN" altLang="en-US" sz="2000" dirty="0">
                <a:latin typeface="等线" panose="02010600030101010101" pitchFamily="2" charset="-122"/>
                <a:ea typeface="等线" panose="02010600030101010101" pitchFamily="2" charset="-122"/>
              </a:rPr>
              <a:t> </a:t>
            </a:r>
            <a:r>
              <a:rPr kumimoji="1" lang="en-US" altLang="zh-CN" sz="2000" dirty="0">
                <a:latin typeface="等线" panose="02010600030101010101" pitchFamily="2" charset="-122"/>
                <a:ea typeface="等线" panose="02010600030101010101" pitchFamily="2" charset="-122"/>
              </a:rPr>
              <a:t>1 </a:t>
            </a:r>
            <a:r>
              <a:rPr kumimoji="1" lang="zh-CN" altLang="en-US" sz="2000" dirty="0">
                <a:latin typeface="等线" panose="02010600030101010101" pitchFamily="2" charset="-122"/>
                <a:ea typeface="等线" panose="02010600030101010101" pitchFamily="2" charset="-122"/>
              </a:rPr>
              <a:t>是不可达的。 </a:t>
            </a:r>
          </a:p>
        </p:txBody>
      </p:sp>
      <p:sp>
        <p:nvSpPr>
          <p:cNvPr id="157" name="矩形 156"/>
          <p:cNvSpPr/>
          <p:nvPr/>
        </p:nvSpPr>
        <p:spPr>
          <a:xfrm>
            <a:off x="715798" y="5952825"/>
            <a:ext cx="10964635" cy="523220"/>
          </a:xfrm>
          <a:prstGeom prst="rect">
            <a:avLst/>
          </a:prstGeom>
        </p:spPr>
        <p:txBody>
          <a:bodyPr wrap="square">
            <a:spAutoFit/>
          </a:bodyPr>
          <a:lstStyle/>
          <a:p>
            <a:pPr marL="228600" indent="-228600">
              <a:spcBef>
                <a:spcPts val="600"/>
              </a:spcBef>
              <a:buFont typeface="Wingdings" pitchFamily="2" charset="2"/>
              <a:buChar char="Ø"/>
            </a:pPr>
            <a:r>
              <a:rPr lang="zh-CN" altLang="en-US" sz="2800" dirty="0">
                <a:latin typeface="等线" panose="02010600030101010101" pitchFamily="2" charset="-122"/>
                <a:ea typeface="等线" panose="02010600030101010101" pitchFamily="2" charset="-122"/>
                <a:cs typeface="Times New Roman" panose="02020603050405020304" pitchFamily="18" charset="0"/>
              </a:rPr>
              <a:t>好消息传播快，坏消息传播慢，是距离向量路由的一个主要缺点 </a:t>
            </a:r>
          </a:p>
        </p:txBody>
      </p:sp>
      <p:sp>
        <p:nvSpPr>
          <p:cNvPr id="84" name="Line 2"/>
          <p:cNvSpPr>
            <a:spLocks noChangeShapeType="1"/>
          </p:cNvSpPr>
          <p:nvPr/>
        </p:nvSpPr>
        <p:spPr bwMode="auto">
          <a:xfrm>
            <a:off x="3333271" y="2779848"/>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sp>
        <p:nvSpPr>
          <p:cNvPr id="158" name="Text Box 4"/>
          <p:cNvSpPr txBox="1">
            <a:spLocks noChangeArrowheads="1"/>
          </p:cNvSpPr>
          <p:nvPr/>
        </p:nvSpPr>
        <p:spPr bwMode="auto">
          <a:xfrm>
            <a:off x="6485765" y="2929727"/>
            <a:ext cx="4667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sp>
        <p:nvSpPr>
          <p:cNvPr id="159" name="Text Box 5"/>
          <p:cNvSpPr txBox="1">
            <a:spLocks noChangeArrowheads="1"/>
          </p:cNvSpPr>
          <p:nvPr/>
        </p:nvSpPr>
        <p:spPr bwMode="auto">
          <a:xfrm>
            <a:off x="4061126" y="2904863"/>
            <a:ext cx="6126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pic>
        <p:nvPicPr>
          <p:cNvPr id="160"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17040" y="2499597"/>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1"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108572" y="2520487"/>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2"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36165" y="2494340"/>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3" name="文本框 162">
            <a:extLst>
              <a:ext uri="{FF2B5EF4-FFF2-40B4-BE49-F238E27FC236}">
                <a16:creationId xmlns:a16="http://schemas.microsoft.com/office/drawing/2014/main" id="{19570BD0-A1DE-4C6C-8D91-9749980155A1}"/>
              </a:ext>
            </a:extLst>
          </p:cNvPr>
          <p:cNvSpPr txBox="1"/>
          <p:nvPr/>
        </p:nvSpPr>
        <p:spPr>
          <a:xfrm>
            <a:off x="2862702" y="2610103"/>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sp>
        <p:nvSpPr>
          <p:cNvPr id="164" name="文本框 163">
            <a:extLst>
              <a:ext uri="{FF2B5EF4-FFF2-40B4-BE49-F238E27FC236}">
                <a16:creationId xmlns:a16="http://schemas.microsoft.com/office/drawing/2014/main" id="{19570BD0-A1DE-4C6C-8D91-9749980155A1}"/>
              </a:ext>
            </a:extLst>
          </p:cNvPr>
          <p:cNvSpPr txBox="1"/>
          <p:nvPr/>
        </p:nvSpPr>
        <p:spPr>
          <a:xfrm>
            <a:off x="5211743" y="2567115"/>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sp>
        <p:nvSpPr>
          <p:cNvPr id="165" name="文本框 164">
            <a:extLst>
              <a:ext uri="{FF2B5EF4-FFF2-40B4-BE49-F238E27FC236}">
                <a16:creationId xmlns:a16="http://schemas.microsoft.com/office/drawing/2014/main" id="{19570BD0-A1DE-4C6C-8D91-9749980155A1}"/>
              </a:ext>
            </a:extLst>
          </p:cNvPr>
          <p:cNvSpPr txBox="1"/>
          <p:nvPr/>
        </p:nvSpPr>
        <p:spPr>
          <a:xfrm>
            <a:off x="7627471" y="2586475"/>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sp>
        <p:nvSpPr>
          <p:cNvPr id="166" name="Text Box 101"/>
          <p:cNvSpPr txBox="1">
            <a:spLocks noChangeArrowheads="1"/>
          </p:cNvSpPr>
          <p:nvPr/>
        </p:nvSpPr>
        <p:spPr bwMode="auto">
          <a:xfrm>
            <a:off x="884763" y="2578780"/>
            <a:ext cx="125763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zh-CN" altLang="en-US" sz="2000" dirty="0">
                <a:solidFill>
                  <a:srgbClr val="5C307E"/>
                </a:solidFill>
                <a:latin typeface="等线" panose="02010600030101010101" pitchFamily="2" charset="-122"/>
                <a:ea typeface="等线" panose="02010600030101010101" pitchFamily="2" charset="-122"/>
              </a:rPr>
              <a:t>正常情况</a:t>
            </a:r>
          </a:p>
        </p:txBody>
      </p:sp>
      <p:sp>
        <p:nvSpPr>
          <p:cNvPr id="167" name="Line 2"/>
          <p:cNvSpPr>
            <a:spLocks noChangeShapeType="1"/>
          </p:cNvSpPr>
          <p:nvPr/>
        </p:nvSpPr>
        <p:spPr bwMode="auto">
          <a:xfrm>
            <a:off x="3316853" y="3524788"/>
            <a:ext cx="429724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pic>
        <p:nvPicPr>
          <p:cNvPr id="168"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700622" y="3244537"/>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9"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092154" y="3265427"/>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70" name="Picture 14">
            <a:extLst>
              <a:ext uri="{FF2B5EF4-FFF2-40B4-BE49-F238E27FC236}">
                <a16:creationId xmlns:a16="http://schemas.microsoft.com/office/drawing/2014/main" id="{1F0082C8-E1D0-4631-AFFC-26FD52012009}"/>
              </a:ext>
            </a:extLst>
          </p:cNvPr>
          <p:cNvPicPr>
            <a:picLocks noChangeArrowheads="1"/>
          </p:cNvPicPr>
          <p:nvPr/>
        </p:nvPicPr>
        <p:blipFill>
          <a:blip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519747" y="3239280"/>
            <a:ext cx="804607" cy="533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1" name="文本框 170">
            <a:extLst>
              <a:ext uri="{FF2B5EF4-FFF2-40B4-BE49-F238E27FC236}">
                <a16:creationId xmlns:a16="http://schemas.microsoft.com/office/drawing/2014/main" id="{19570BD0-A1DE-4C6C-8D91-9749980155A1}"/>
              </a:ext>
            </a:extLst>
          </p:cNvPr>
          <p:cNvSpPr txBox="1"/>
          <p:nvPr/>
        </p:nvSpPr>
        <p:spPr>
          <a:xfrm>
            <a:off x="2846284" y="3355043"/>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sp>
        <p:nvSpPr>
          <p:cNvPr id="172" name="文本框 171">
            <a:extLst>
              <a:ext uri="{FF2B5EF4-FFF2-40B4-BE49-F238E27FC236}">
                <a16:creationId xmlns:a16="http://schemas.microsoft.com/office/drawing/2014/main" id="{19570BD0-A1DE-4C6C-8D91-9749980155A1}"/>
              </a:ext>
            </a:extLst>
          </p:cNvPr>
          <p:cNvSpPr txBox="1"/>
          <p:nvPr/>
        </p:nvSpPr>
        <p:spPr>
          <a:xfrm>
            <a:off x="5195325" y="3312055"/>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sp>
        <p:nvSpPr>
          <p:cNvPr id="173" name="文本框 172">
            <a:extLst>
              <a:ext uri="{FF2B5EF4-FFF2-40B4-BE49-F238E27FC236}">
                <a16:creationId xmlns:a16="http://schemas.microsoft.com/office/drawing/2014/main" id="{19570BD0-A1DE-4C6C-8D91-9749980155A1}"/>
              </a:ext>
            </a:extLst>
          </p:cNvPr>
          <p:cNvSpPr txBox="1"/>
          <p:nvPr/>
        </p:nvSpPr>
        <p:spPr>
          <a:xfrm>
            <a:off x="7611053" y="3331415"/>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sp>
        <p:nvSpPr>
          <p:cNvPr id="174" name="Text Box 101"/>
          <p:cNvSpPr txBox="1">
            <a:spLocks noChangeArrowheads="1"/>
          </p:cNvSpPr>
          <p:nvPr/>
        </p:nvSpPr>
        <p:spPr bwMode="auto">
          <a:xfrm>
            <a:off x="396952" y="3272836"/>
            <a:ext cx="261880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90000"/>
              </a:lnSpc>
            </a:pPr>
            <a:r>
              <a:rPr kumimoji="1" lang="en-US" altLang="zh-CN" sz="2000" dirty="0">
                <a:solidFill>
                  <a:srgbClr val="5C307E"/>
                </a:solidFill>
                <a:latin typeface="等线" panose="02010600030101010101" pitchFamily="2" charset="-122"/>
                <a:ea typeface="等线" panose="02010600030101010101" pitchFamily="2" charset="-122"/>
              </a:rPr>
              <a:t>net1</a:t>
            </a:r>
            <a:r>
              <a:rPr kumimoji="1" lang="zh-CN" altLang="en-US" sz="2000" dirty="0">
                <a:solidFill>
                  <a:srgbClr val="5C307E"/>
                </a:solidFill>
                <a:latin typeface="等线" panose="02010600030101010101" pitchFamily="2" charset="-122"/>
                <a:ea typeface="等线" panose="02010600030101010101" pitchFamily="2" charset="-122"/>
              </a:rPr>
              <a:t>出了故障情况</a:t>
            </a:r>
          </a:p>
        </p:txBody>
      </p:sp>
      <p:sp>
        <p:nvSpPr>
          <p:cNvPr id="175" name="Line 98"/>
          <p:cNvSpPr>
            <a:spLocks noChangeShapeType="1"/>
          </p:cNvSpPr>
          <p:nvPr/>
        </p:nvSpPr>
        <p:spPr bwMode="auto">
          <a:xfrm>
            <a:off x="2725861" y="3193308"/>
            <a:ext cx="795786" cy="595441"/>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sp>
        <p:nvSpPr>
          <p:cNvPr id="176" name="Line 99"/>
          <p:cNvSpPr>
            <a:spLocks noChangeShapeType="1"/>
          </p:cNvSpPr>
          <p:nvPr/>
        </p:nvSpPr>
        <p:spPr bwMode="auto">
          <a:xfrm flipH="1">
            <a:off x="2725861" y="3193308"/>
            <a:ext cx="795786" cy="595441"/>
          </a:xfrm>
          <a:prstGeom prst="line">
            <a:avLst/>
          </a:prstGeom>
          <a:noFill/>
          <a:ln w="571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dirty="0">
              <a:latin typeface="等线" panose="02010600030101010101" pitchFamily="2" charset="-122"/>
              <a:ea typeface="等线" panose="02010600030101010101" pitchFamily="2" charset="-122"/>
            </a:endParaRPr>
          </a:p>
        </p:txBody>
      </p:sp>
      <p:grpSp>
        <p:nvGrpSpPr>
          <p:cNvPr id="5" name="组合 75"/>
          <p:cNvGrpSpPr/>
          <p:nvPr/>
        </p:nvGrpSpPr>
        <p:grpSpPr>
          <a:xfrm>
            <a:off x="3456239" y="2194659"/>
            <a:ext cx="1831097" cy="344184"/>
            <a:chOff x="3009761" y="2442912"/>
            <a:chExt cx="1831097" cy="344184"/>
          </a:xfrm>
        </p:grpSpPr>
        <p:grpSp>
          <p:nvGrpSpPr>
            <p:cNvPr id="6"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180"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181"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179"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1 -- </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7" name="组合 76"/>
          <p:cNvGrpSpPr/>
          <p:nvPr/>
        </p:nvGrpSpPr>
        <p:grpSpPr>
          <a:xfrm>
            <a:off x="6046060" y="2157370"/>
            <a:ext cx="1713657" cy="369304"/>
            <a:chOff x="5987294" y="2424341"/>
            <a:chExt cx="1781296" cy="403018"/>
          </a:xfrm>
          <a:solidFill>
            <a:schemeClr val="accent6">
              <a:lumMod val="60000"/>
              <a:lumOff val="40000"/>
            </a:schemeClr>
          </a:solidFill>
        </p:grpSpPr>
        <p:grpSp>
          <p:nvGrpSpPr>
            <p:cNvPr id="8" name="Group 111"/>
            <p:cNvGrpSpPr>
              <a:grpSpLocks/>
            </p:cNvGrpSpPr>
            <p:nvPr/>
          </p:nvGrpSpPr>
          <p:grpSpPr bwMode="auto">
            <a:xfrm flipH="1">
              <a:off x="5987294" y="2424341"/>
              <a:ext cx="1781296" cy="341718"/>
              <a:chOff x="1209" y="157"/>
              <a:chExt cx="1135" cy="328"/>
            </a:xfrm>
            <a:grpFill/>
          </p:grpSpPr>
          <p:sp>
            <p:nvSpPr>
              <p:cNvPr id="185"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186"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184"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2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pic>
        <p:nvPicPr>
          <p:cNvPr id="187"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16181" y="2568700"/>
            <a:ext cx="561215" cy="398265"/>
          </a:xfrm>
          <a:prstGeom prst="rect">
            <a:avLst/>
          </a:prstGeom>
          <a:noFill/>
          <a:extLst>
            <a:ext uri="{909E8E84-426E-40DD-AFC4-6F175D3DCCD1}">
              <a14:hiddenFill xmlns:a14="http://schemas.microsoft.com/office/drawing/2010/main">
                <a:solidFill>
                  <a:srgbClr val="FFFFFF"/>
                </a:solidFill>
              </a14:hiddenFill>
            </a:ext>
          </a:extLst>
        </p:spPr>
      </p:pic>
      <p:pic>
        <p:nvPicPr>
          <p:cNvPr id="188"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125" y="2586475"/>
            <a:ext cx="561215" cy="398265"/>
          </a:xfrm>
          <a:prstGeom prst="rect">
            <a:avLst/>
          </a:prstGeom>
          <a:noFill/>
          <a:extLst>
            <a:ext uri="{909E8E84-426E-40DD-AFC4-6F175D3DCCD1}">
              <a14:hiddenFill xmlns:a14="http://schemas.microsoft.com/office/drawing/2010/main">
                <a:solidFill>
                  <a:srgbClr val="FFFFFF"/>
                </a:solidFill>
              </a14:hiddenFill>
            </a:ext>
          </a:extLst>
        </p:spPr>
      </p:pic>
      <p:sp>
        <p:nvSpPr>
          <p:cNvPr id="190" name="Text Box 5"/>
          <p:cNvSpPr txBox="1">
            <a:spLocks noChangeArrowheads="1"/>
          </p:cNvSpPr>
          <p:nvPr/>
        </p:nvSpPr>
        <p:spPr bwMode="auto">
          <a:xfrm>
            <a:off x="4473013" y="3488936"/>
            <a:ext cx="61269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pic>
        <p:nvPicPr>
          <p:cNvPr id="191"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07940" y="3338934"/>
            <a:ext cx="561215" cy="398265"/>
          </a:xfrm>
          <a:prstGeom prst="rect">
            <a:avLst/>
          </a:prstGeom>
          <a:noFill/>
          <a:extLst>
            <a:ext uri="{909E8E84-426E-40DD-AFC4-6F175D3DCCD1}">
              <a14:hiddenFill xmlns:a14="http://schemas.microsoft.com/office/drawing/2010/main">
                <a:solidFill>
                  <a:srgbClr val="FFFFFF"/>
                </a:solidFill>
              </a14:hiddenFill>
            </a:ext>
          </a:extLst>
        </p:spPr>
      </p:pic>
      <p:pic>
        <p:nvPicPr>
          <p:cNvPr id="192"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68884" y="3356709"/>
            <a:ext cx="561215" cy="398265"/>
          </a:xfrm>
          <a:prstGeom prst="rect">
            <a:avLst/>
          </a:prstGeom>
          <a:noFill/>
          <a:extLst>
            <a:ext uri="{909E8E84-426E-40DD-AFC4-6F175D3DCCD1}">
              <a14:hiddenFill xmlns:a14="http://schemas.microsoft.com/office/drawing/2010/main">
                <a:solidFill>
                  <a:srgbClr val="FFFFFF"/>
                </a:solidFill>
              </a14:hiddenFill>
            </a:ext>
          </a:extLst>
        </p:spPr>
      </p:pic>
      <p:grpSp>
        <p:nvGrpSpPr>
          <p:cNvPr id="9" name="组合 75"/>
          <p:cNvGrpSpPr/>
          <p:nvPr/>
        </p:nvGrpSpPr>
        <p:grpSpPr>
          <a:xfrm>
            <a:off x="3497029" y="3866850"/>
            <a:ext cx="1831097" cy="344184"/>
            <a:chOff x="3009761" y="2442912"/>
            <a:chExt cx="1831097" cy="344184"/>
          </a:xfrm>
        </p:grpSpPr>
        <p:grpSp>
          <p:nvGrpSpPr>
            <p:cNvPr id="10"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196"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197"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195"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16 -- </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1" name="组合 76"/>
          <p:cNvGrpSpPr/>
          <p:nvPr/>
        </p:nvGrpSpPr>
        <p:grpSpPr>
          <a:xfrm>
            <a:off x="6086850" y="3829561"/>
            <a:ext cx="1713657" cy="369304"/>
            <a:chOff x="5987294" y="2424341"/>
            <a:chExt cx="1781296" cy="403018"/>
          </a:xfrm>
          <a:solidFill>
            <a:schemeClr val="accent6">
              <a:lumMod val="60000"/>
              <a:lumOff val="40000"/>
            </a:schemeClr>
          </a:solidFill>
        </p:grpSpPr>
        <p:grpSp>
          <p:nvGrpSpPr>
            <p:cNvPr id="12" name="Group 111"/>
            <p:cNvGrpSpPr>
              <a:grpSpLocks/>
            </p:cNvGrpSpPr>
            <p:nvPr/>
          </p:nvGrpSpPr>
          <p:grpSpPr bwMode="auto">
            <a:xfrm flipH="1">
              <a:off x="5987294" y="2424341"/>
              <a:ext cx="1781296" cy="341718"/>
              <a:chOff x="1209" y="157"/>
              <a:chExt cx="1135" cy="328"/>
            </a:xfrm>
            <a:grpFill/>
          </p:grpSpPr>
          <p:sp>
            <p:nvSpPr>
              <p:cNvPr id="201"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202"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200"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3" name="组合 75"/>
          <p:cNvGrpSpPr/>
          <p:nvPr/>
        </p:nvGrpSpPr>
        <p:grpSpPr>
          <a:xfrm>
            <a:off x="3501203" y="4279449"/>
            <a:ext cx="1831097" cy="344184"/>
            <a:chOff x="3009761" y="2442912"/>
            <a:chExt cx="1831097" cy="344184"/>
          </a:xfrm>
        </p:grpSpPr>
        <p:grpSp>
          <p:nvGrpSpPr>
            <p:cNvPr id="14"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206"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207"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205"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2  R2</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5" name="组合 76"/>
          <p:cNvGrpSpPr/>
          <p:nvPr/>
        </p:nvGrpSpPr>
        <p:grpSpPr>
          <a:xfrm>
            <a:off x="6091024" y="4242160"/>
            <a:ext cx="1713657" cy="369304"/>
            <a:chOff x="5987294" y="2424341"/>
            <a:chExt cx="1781296" cy="403018"/>
          </a:xfrm>
          <a:solidFill>
            <a:schemeClr val="accent6">
              <a:lumMod val="60000"/>
              <a:lumOff val="40000"/>
            </a:schemeClr>
          </a:solidFill>
        </p:grpSpPr>
        <p:grpSp>
          <p:nvGrpSpPr>
            <p:cNvPr id="16" name="Group 111"/>
            <p:cNvGrpSpPr>
              <a:grpSpLocks/>
            </p:cNvGrpSpPr>
            <p:nvPr/>
          </p:nvGrpSpPr>
          <p:grpSpPr bwMode="auto">
            <a:xfrm flipH="1">
              <a:off x="5987294" y="2424341"/>
              <a:ext cx="1781296" cy="341718"/>
              <a:chOff x="1209" y="157"/>
              <a:chExt cx="1135" cy="328"/>
            </a:xfrm>
            <a:grpFill/>
          </p:grpSpPr>
          <p:sp>
            <p:nvSpPr>
              <p:cNvPr id="211"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212"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210"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3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7" name="组合 75"/>
          <p:cNvGrpSpPr/>
          <p:nvPr/>
        </p:nvGrpSpPr>
        <p:grpSpPr>
          <a:xfrm>
            <a:off x="3501203" y="4674312"/>
            <a:ext cx="1831097" cy="344184"/>
            <a:chOff x="3009761" y="2442912"/>
            <a:chExt cx="1831097" cy="344184"/>
          </a:xfrm>
        </p:grpSpPr>
        <p:grpSp>
          <p:nvGrpSpPr>
            <p:cNvPr id="18"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226"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227"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225"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4  R2</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19" name="组合 76"/>
          <p:cNvGrpSpPr/>
          <p:nvPr/>
        </p:nvGrpSpPr>
        <p:grpSpPr>
          <a:xfrm>
            <a:off x="6091024" y="4637023"/>
            <a:ext cx="1713657" cy="369304"/>
            <a:chOff x="5987294" y="2424341"/>
            <a:chExt cx="1781296" cy="403018"/>
          </a:xfrm>
          <a:solidFill>
            <a:schemeClr val="accent6">
              <a:lumMod val="60000"/>
              <a:lumOff val="40000"/>
            </a:schemeClr>
          </a:solidFill>
        </p:grpSpPr>
        <p:grpSp>
          <p:nvGrpSpPr>
            <p:cNvPr id="20" name="Group 111"/>
            <p:cNvGrpSpPr>
              <a:grpSpLocks/>
            </p:cNvGrpSpPr>
            <p:nvPr/>
          </p:nvGrpSpPr>
          <p:grpSpPr bwMode="auto">
            <a:xfrm flipH="1">
              <a:off x="5987294" y="2424341"/>
              <a:ext cx="1781296" cy="341718"/>
              <a:chOff x="1209" y="157"/>
              <a:chExt cx="1135" cy="328"/>
            </a:xfrm>
            <a:grpFill/>
          </p:grpSpPr>
          <p:sp>
            <p:nvSpPr>
              <p:cNvPr id="231"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232"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230" name="Text Box 114"/>
            <p:cNvSpPr txBox="1">
              <a:spLocks noChangeArrowheads="1"/>
            </p:cNvSpPr>
            <p:nvPr/>
          </p:nvSpPr>
          <p:spPr bwMode="auto">
            <a:xfrm>
              <a:off x="6290909" y="2525913"/>
              <a:ext cx="1426665"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5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21" name="组合 75"/>
          <p:cNvGrpSpPr/>
          <p:nvPr/>
        </p:nvGrpSpPr>
        <p:grpSpPr>
          <a:xfrm>
            <a:off x="3478953" y="5439767"/>
            <a:ext cx="1831097" cy="344184"/>
            <a:chOff x="3009761" y="2442912"/>
            <a:chExt cx="1831097" cy="344184"/>
          </a:xfrm>
        </p:grpSpPr>
        <p:grpSp>
          <p:nvGrpSpPr>
            <p:cNvPr id="22" name="Group 102"/>
            <p:cNvGrpSpPr>
              <a:grpSpLocks/>
            </p:cNvGrpSpPr>
            <p:nvPr/>
          </p:nvGrpSpPr>
          <p:grpSpPr bwMode="auto">
            <a:xfrm>
              <a:off x="3009761" y="2442912"/>
              <a:ext cx="1831097" cy="266393"/>
              <a:chOff x="1173" y="212"/>
              <a:chExt cx="1171" cy="262"/>
            </a:xfrm>
            <a:solidFill>
              <a:schemeClr val="accent5">
                <a:lumMod val="40000"/>
                <a:lumOff val="60000"/>
              </a:schemeClr>
            </a:solidFill>
          </p:grpSpPr>
          <p:sp>
            <p:nvSpPr>
              <p:cNvPr id="236" name="AutoShape 103"/>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237" name="Rectangle 104"/>
              <p:cNvSpPr>
                <a:spLocks noChangeArrowheads="1"/>
              </p:cNvSpPr>
              <p:nvPr/>
            </p:nvSpPr>
            <p:spPr bwMode="auto">
              <a:xfrm>
                <a:off x="1173" y="212"/>
                <a:ext cx="950" cy="262"/>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235" name="Text Box 105"/>
            <p:cNvSpPr txBox="1">
              <a:spLocks noChangeArrowheads="1"/>
            </p:cNvSpPr>
            <p:nvPr/>
          </p:nvSpPr>
          <p:spPr bwMode="auto">
            <a:xfrm>
              <a:off x="3032475" y="2510802"/>
              <a:ext cx="1610643" cy="27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16 R2 </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grpSp>
        <p:nvGrpSpPr>
          <p:cNvPr id="23" name="组合 76"/>
          <p:cNvGrpSpPr/>
          <p:nvPr/>
        </p:nvGrpSpPr>
        <p:grpSpPr>
          <a:xfrm>
            <a:off x="6068775" y="5402478"/>
            <a:ext cx="1713657" cy="369304"/>
            <a:chOff x="5987294" y="2424341"/>
            <a:chExt cx="1781296" cy="403018"/>
          </a:xfrm>
          <a:solidFill>
            <a:schemeClr val="accent6">
              <a:lumMod val="60000"/>
              <a:lumOff val="40000"/>
            </a:schemeClr>
          </a:solidFill>
        </p:grpSpPr>
        <p:grpSp>
          <p:nvGrpSpPr>
            <p:cNvPr id="24" name="Group 111"/>
            <p:cNvGrpSpPr>
              <a:grpSpLocks/>
            </p:cNvGrpSpPr>
            <p:nvPr/>
          </p:nvGrpSpPr>
          <p:grpSpPr bwMode="auto">
            <a:xfrm flipH="1">
              <a:off x="5987294" y="2424341"/>
              <a:ext cx="1781296" cy="341718"/>
              <a:chOff x="1209" y="157"/>
              <a:chExt cx="1135" cy="328"/>
            </a:xfrm>
            <a:grpFill/>
          </p:grpSpPr>
          <p:sp>
            <p:nvSpPr>
              <p:cNvPr id="241" name="AutoShape 112"/>
              <p:cNvSpPr>
                <a:spLocks noChangeArrowheads="1"/>
              </p:cNvSpPr>
              <p:nvPr/>
            </p:nvSpPr>
            <p:spPr bwMode="auto">
              <a:xfrm>
                <a:off x="2089" y="271"/>
                <a:ext cx="255" cy="122"/>
              </a:xfrm>
              <a:prstGeom prst="rightArrow">
                <a:avLst>
                  <a:gd name="adj1" fmla="val 50000"/>
                  <a:gd name="adj2" fmla="val 52254"/>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sp>
            <p:nvSpPr>
              <p:cNvPr id="242" name="Rectangle 113"/>
              <p:cNvSpPr>
                <a:spLocks noChangeArrowheads="1"/>
              </p:cNvSpPr>
              <p:nvPr/>
            </p:nvSpPr>
            <p:spPr bwMode="auto">
              <a:xfrm>
                <a:off x="1209" y="157"/>
                <a:ext cx="914" cy="328"/>
              </a:xfrm>
              <a:prstGeom prst="rect">
                <a:avLst/>
              </a:prstGeom>
              <a:grpFill/>
              <a:ln w="9525">
                <a:solidFill>
                  <a:schemeClr val="tx1"/>
                </a:solidFill>
                <a:miter lim="800000"/>
                <a:headEnd/>
                <a:tailEnd/>
              </a:ln>
              <a:effectLst/>
              <a:extLst>
                <a:ext uri="{AF507438-7753-43E0-B8FC-AC1667EBCBE1}">
                  <a14:hiddenEffects xmlns:a14="http://schemas.microsoft.com/office/drawing/2010/main">
                    <a:effectLst>
                      <a:outerShdw dist="45791" dir="2021404" algn="ctr" rotWithShape="0">
                        <a:schemeClr val="bg2"/>
                      </a:outerShdw>
                    </a:effectLst>
                  </a14:hiddenEffects>
                </a:ext>
              </a:extLst>
            </p:spPr>
            <p:txBody>
              <a:bodyPr wrap="none" anchor="ctr"/>
              <a:lstStyle/>
              <a:p>
                <a:endParaRPr lang="zh-CN" altLang="en-US" sz="2000" dirty="0">
                  <a:latin typeface="等线" panose="02010600030101010101" pitchFamily="2" charset="-122"/>
                  <a:ea typeface="等线" panose="02010600030101010101" pitchFamily="2" charset="-122"/>
                </a:endParaRPr>
              </a:p>
            </p:txBody>
          </p:sp>
        </p:grpSp>
        <p:sp>
          <p:nvSpPr>
            <p:cNvPr id="240" name="Text Box 114"/>
            <p:cNvSpPr txBox="1">
              <a:spLocks noChangeArrowheads="1"/>
            </p:cNvSpPr>
            <p:nvPr/>
          </p:nvSpPr>
          <p:spPr bwMode="auto">
            <a:xfrm>
              <a:off x="6290909" y="2525913"/>
              <a:ext cx="1420000" cy="301446"/>
            </a:xfrm>
            <a:prstGeom prst="rect">
              <a:avLst/>
            </a:prstGeom>
            <a:noFill/>
            <a:ln>
              <a:noFill/>
            </a:ln>
            <a:effectLst/>
          </p:spPr>
          <p:txBody>
            <a:bodyPr wrap="none">
              <a:spAutoFit/>
            </a:bodyPr>
            <a:lstStyle/>
            <a:p>
              <a:pPr>
                <a:lnSpc>
                  <a:spcPct val="50000"/>
                </a:lnSpc>
              </a:pPr>
              <a:r>
                <a:rPr kumimoji="1" lang="en-US" altLang="zh-CN" sz="2000" dirty="0">
                  <a:latin typeface="等线" panose="02010600030101010101" pitchFamily="2" charset="-122"/>
                  <a:ea typeface="等线" panose="02010600030101010101" pitchFamily="2" charset="-122"/>
                </a:rPr>
                <a:t>net1 16 </a:t>
              </a:r>
              <a:r>
                <a:rPr kumimoji="1" lang="en-US" altLang="zh-CN" sz="2000" dirty="0">
                  <a:latin typeface="等线" panose="02010600030101010101" pitchFamily="2" charset="-122"/>
                  <a:ea typeface="等线" panose="02010600030101010101" pitchFamily="2" charset="-122"/>
                  <a:sym typeface="Symbol" pitchFamily="18" charset="2"/>
                </a:rPr>
                <a:t>R1</a:t>
              </a:r>
              <a:endParaRPr kumimoji="1" lang="en-US" altLang="zh-CN" sz="2000" baseline="-25000" dirty="0">
                <a:latin typeface="等线" panose="02010600030101010101" pitchFamily="2" charset="-122"/>
                <a:ea typeface="等线" panose="02010600030101010101" pitchFamily="2" charset="-122"/>
                <a:sym typeface="Symbol" pitchFamily="18" charset="2"/>
              </a:endParaRPr>
            </a:p>
          </p:txBody>
        </p:sp>
      </p:grpSp>
      <p:sp>
        <p:nvSpPr>
          <p:cNvPr id="85"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5.3.3 </a:t>
            </a:r>
            <a:r>
              <a:rPr kumimoji="1" lang="zh-CN" altLang="en-US" dirty="0">
                <a:latin typeface="DengXian" panose="02010600030101010101" pitchFamily="2" charset="-122"/>
                <a:ea typeface="DengXian" panose="02010600030101010101" pitchFamily="2" charset="-122"/>
              </a:rPr>
              <a:t>距离向量路由</a:t>
            </a:r>
          </a:p>
        </p:txBody>
      </p:sp>
      <p:sp>
        <p:nvSpPr>
          <p:cNvPr id="86" name="Text Box 142">
            <a:extLst>
              <a:ext uri="{FF2B5EF4-FFF2-40B4-BE49-F238E27FC236}">
                <a16:creationId xmlns:a16="http://schemas.microsoft.com/office/drawing/2014/main" id="{C05DF17B-7F4C-8047-B5FA-395828B437C4}"/>
              </a:ext>
            </a:extLst>
          </p:cNvPr>
          <p:cNvSpPr txBox="1">
            <a:spLocks noChangeArrowheads="1"/>
          </p:cNvSpPr>
          <p:nvPr/>
        </p:nvSpPr>
        <p:spPr bwMode="auto">
          <a:xfrm rot="5400000">
            <a:off x="6993734" y="5007830"/>
            <a:ext cx="364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sz="2000" dirty="0">
                <a:latin typeface="+mn-lt"/>
                <a:ea typeface="黑体" pitchFamily="2" charset="-122"/>
              </a:rPr>
              <a:t>…</a:t>
            </a:r>
          </a:p>
        </p:txBody>
      </p:sp>
    </p:spTree>
    <p:extLst>
      <p:ext uri="{BB962C8B-B14F-4D97-AF65-F5344CB8AC3E}">
        <p14:creationId xmlns:p14="http://schemas.microsoft.com/office/powerpoint/2010/main" val="4158759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 grpId="0" animBg="1"/>
      <p:bldP spid="157"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链路状态路由</a:t>
            </a:r>
            <a:endParaRPr lang="zh-CN" altLang="en-US" dirty="0"/>
          </a:p>
        </p:txBody>
      </p:sp>
      <p:sp>
        <p:nvSpPr>
          <p:cNvPr id="3" name="内容占位符 2"/>
          <p:cNvSpPr>
            <a:spLocks noGrp="1"/>
          </p:cNvSpPr>
          <p:nvPr>
            <p:ph idx="1"/>
          </p:nvPr>
        </p:nvSpPr>
        <p:spPr/>
        <p:txBody>
          <a:bodyPr/>
          <a:lstStyle/>
          <a:p>
            <a:r>
              <a:rPr kumimoji="1" lang="zh-CN" altLang="en-US" dirty="0"/>
              <a:t>链路状态（</a:t>
            </a:r>
            <a:r>
              <a:rPr kumimoji="1" lang="en-US" altLang="zh-CN" dirty="0"/>
              <a:t>Link State</a:t>
            </a:r>
            <a:r>
              <a:rPr kumimoji="1" lang="zh-CN" altLang="en-US" dirty="0"/>
              <a:t>）路由可分为五个部分：</a:t>
            </a:r>
            <a:endParaRPr lang="en-US" altLang="zh-CN" dirty="0"/>
          </a:p>
          <a:p>
            <a:pPr lvl="1"/>
            <a:r>
              <a:rPr lang="en-US" altLang="zh-CN" dirty="0"/>
              <a:t>1. </a:t>
            </a:r>
            <a:r>
              <a:rPr lang="zh-CN" altLang="en-US" dirty="0"/>
              <a:t>发现邻居，了解他们的网络地址；</a:t>
            </a:r>
          </a:p>
          <a:p>
            <a:pPr lvl="1"/>
            <a:r>
              <a:rPr lang="en-US" altLang="zh-CN" dirty="0"/>
              <a:t>2. </a:t>
            </a:r>
            <a:r>
              <a:rPr lang="zh-CN" altLang="en-US" dirty="0"/>
              <a:t>设置到每个邻居的成本度量；</a:t>
            </a:r>
          </a:p>
          <a:p>
            <a:pPr lvl="1"/>
            <a:r>
              <a:rPr lang="en-US" altLang="zh-CN" dirty="0"/>
              <a:t>3. </a:t>
            </a:r>
            <a:r>
              <a:rPr lang="zh-CN" altLang="en-US" dirty="0"/>
              <a:t>构造一个数据包，数据包中包含刚收到的所有信息；</a:t>
            </a:r>
          </a:p>
          <a:p>
            <a:pPr lvl="1"/>
            <a:r>
              <a:rPr lang="en-US" altLang="zh-CN" dirty="0"/>
              <a:t>4. </a:t>
            </a:r>
            <a:r>
              <a:rPr lang="zh-CN" altLang="en-US" dirty="0"/>
              <a:t>将此数据包发送给其他的路由器；</a:t>
            </a:r>
          </a:p>
          <a:p>
            <a:pPr lvl="1"/>
            <a:r>
              <a:rPr lang="en-US" altLang="zh-CN" dirty="0"/>
              <a:t>5. </a:t>
            </a:r>
            <a:r>
              <a:rPr lang="zh-CN" altLang="en-US" dirty="0"/>
              <a:t>计算到其他路由器的最短路径。</a:t>
            </a:r>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68</a:t>
            </a:fld>
            <a:endParaRPr kumimoji="1" lang="zh-CN" altLang="en-US" dirty="0"/>
          </a:p>
        </p:txBody>
      </p:sp>
      <p:sp>
        <p:nvSpPr>
          <p:cNvPr id="7"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5.3.4 </a:t>
            </a:r>
            <a:r>
              <a:rPr kumimoji="1" lang="zh-CN" altLang="en-US" dirty="0">
                <a:latin typeface="DengXian" panose="02010600030101010101" pitchFamily="2" charset="-122"/>
                <a:ea typeface="DengXian" panose="02010600030101010101" pitchFamily="2" charset="-122"/>
              </a:rPr>
              <a:t>链路状态路由</a:t>
            </a:r>
          </a:p>
        </p:txBody>
      </p:sp>
    </p:spTree>
    <p:extLst>
      <p:ext uri="{BB962C8B-B14F-4D97-AF65-F5344CB8AC3E}">
        <p14:creationId xmlns:p14="http://schemas.microsoft.com/office/powerpoint/2010/main" val="17242505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链路状态路由</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solidFill>
                  <a:srgbClr val="5C307E"/>
                </a:solidFill>
              </a:rPr>
              <a:t>发现</a:t>
            </a:r>
            <a:r>
              <a:rPr lang="zh-CN" altLang="en-US" dirty="0"/>
              <a:t>邻居，了解他们的网络地址</a:t>
            </a:r>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pPr/>
              <a:t>69</a:t>
            </a:fld>
            <a:endParaRPr kumimoji="1" lang="zh-CN" altLang="en-US" dirty="0"/>
          </a:p>
        </p:txBody>
      </p:sp>
      <p:grpSp>
        <p:nvGrpSpPr>
          <p:cNvPr id="5" name="组合 5"/>
          <p:cNvGrpSpPr/>
          <p:nvPr/>
        </p:nvGrpSpPr>
        <p:grpSpPr>
          <a:xfrm>
            <a:off x="1477797" y="2331187"/>
            <a:ext cx="8485251" cy="2055338"/>
            <a:chOff x="226899" y="3749508"/>
            <a:chExt cx="8485251" cy="2055338"/>
          </a:xfrm>
        </p:grpSpPr>
        <p:sp>
          <p:nvSpPr>
            <p:cNvPr id="8" name="文本框 7">
              <a:extLst>
                <a:ext uri="{FF2B5EF4-FFF2-40B4-BE49-F238E27FC236}">
                  <a16:creationId xmlns:a16="http://schemas.microsoft.com/office/drawing/2014/main" id="{75A86B75-EE45-4975-B050-5021B14CDFE8}"/>
                </a:ext>
              </a:extLst>
            </p:cNvPr>
            <p:cNvSpPr txBox="1"/>
            <p:nvPr/>
          </p:nvSpPr>
          <p:spPr>
            <a:xfrm>
              <a:off x="4700774" y="4621720"/>
              <a:ext cx="466794"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grpSp>
          <p:nvGrpSpPr>
            <p:cNvPr id="6" name="组合 8">
              <a:extLst>
                <a:ext uri="{FF2B5EF4-FFF2-40B4-BE49-F238E27FC236}">
                  <a16:creationId xmlns:a16="http://schemas.microsoft.com/office/drawing/2014/main" id="{E6F260F7-0E2B-4ABA-A8F6-D4966681030D}"/>
                </a:ext>
              </a:extLst>
            </p:cNvPr>
            <p:cNvGrpSpPr/>
            <p:nvPr/>
          </p:nvGrpSpPr>
          <p:grpSpPr>
            <a:xfrm>
              <a:off x="1375352" y="5050776"/>
              <a:ext cx="4728978" cy="499779"/>
              <a:chOff x="1126538" y="2159007"/>
              <a:chExt cx="4728978" cy="499779"/>
            </a:xfrm>
          </p:grpSpPr>
          <p:cxnSp>
            <p:nvCxnSpPr>
              <p:cNvPr id="28" name="直接连接符 27">
                <a:extLst>
                  <a:ext uri="{FF2B5EF4-FFF2-40B4-BE49-F238E27FC236}">
                    <a16:creationId xmlns:a16="http://schemas.microsoft.com/office/drawing/2014/main" id="{3628D4EC-0370-4825-851B-D0565AE7D8CE}"/>
                  </a:ext>
                </a:extLst>
              </p:cNvPr>
              <p:cNvCxnSpPr>
                <a:cxnSpLocks/>
              </p:cNvCxnSpPr>
              <p:nvPr/>
            </p:nvCxnSpPr>
            <p:spPr>
              <a:xfrm>
                <a:off x="2955901" y="2339641"/>
                <a:ext cx="2899615" cy="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29"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6538" y="2159007"/>
                <a:ext cx="678086" cy="49977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组合 9">
              <a:extLst>
                <a:ext uri="{FF2B5EF4-FFF2-40B4-BE49-F238E27FC236}">
                  <a16:creationId xmlns:a16="http://schemas.microsoft.com/office/drawing/2014/main" id="{E3FB6F0E-FD32-40AB-90A7-0C7D39E2B023}"/>
                </a:ext>
              </a:extLst>
            </p:cNvPr>
            <p:cNvGrpSpPr/>
            <p:nvPr/>
          </p:nvGrpSpPr>
          <p:grpSpPr>
            <a:xfrm>
              <a:off x="6969466" y="3749508"/>
              <a:ext cx="1651004" cy="1481902"/>
              <a:chOff x="7402009" y="532714"/>
              <a:chExt cx="2779727" cy="1816458"/>
            </a:xfrm>
          </p:grpSpPr>
          <p:cxnSp>
            <p:nvCxnSpPr>
              <p:cNvPr id="24" name="直接连接符 23">
                <a:extLst>
                  <a:ext uri="{FF2B5EF4-FFF2-40B4-BE49-F238E27FC236}">
                    <a16:creationId xmlns:a16="http://schemas.microsoft.com/office/drawing/2014/main" id="{EDE78263-89CB-4EDD-93F1-65AD573E59F2}"/>
                  </a:ext>
                </a:extLst>
              </p:cNvPr>
              <p:cNvCxnSpPr>
                <a:cxnSpLocks/>
              </p:cNvCxnSpPr>
              <p:nvPr/>
            </p:nvCxnSpPr>
            <p:spPr>
              <a:xfrm flipV="1">
                <a:off x="8238057" y="2339641"/>
                <a:ext cx="1032996" cy="953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5" name="文本框 24">
                <a:extLst>
                  <a:ext uri="{FF2B5EF4-FFF2-40B4-BE49-F238E27FC236}">
                    <a16:creationId xmlns:a16="http://schemas.microsoft.com/office/drawing/2014/main" id="{C9D2448E-4DF6-4F3D-94D3-4044F9D944E6}"/>
                  </a:ext>
                </a:extLst>
              </p:cNvPr>
              <p:cNvSpPr txBox="1"/>
              <p:nvPr/>
            </p:nvSpPr>
            <p:spPr>
              <a:xfrm>
                <a:off x="9395814" y="1718278"/>
                <a:ext cx="785922" cy="490439"/>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R3</a:t>
                </a:r>
                <a:endParaRPr lang="zh-CN" altLang="en-US" sz="2000" dirty="0">
                  <a:latin typeface="等线" panose="02010600030101010101" pitchFamily="2" charset="-122"/>
                  <a:ea typeface="等线" panose="02010600030101010101" pitchFamily="2" charset="-122"/>
                </a:endParaRPr>
              </a:p>
            </p:txBody>
          </p:sp>
          <p:pic>
            <p:nvPicPr>
              <p:cNvPr id="26" name="Picture 14">
                <a:extLst>
                  <a:ext uri="{FF2B5EF4-FFF2-40B4-BE49-F238E27FC236}">
                    <a16:creationId xmlns:a16="http://schemas.microsoft.com/office/drawing/2014/main" id="{3C71C7CB-AEB0-40F0-9649-C11E9F5992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2009" y="532714"/>
                <a:ext cx="2665674" cy="93353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 name="文本框 26">
                <a:extLst>
                  <a:ext uri="{FF2B5EF4-FFF2-40B4-BE49-F238E27FC236}">
                    <a16:creationId xmlns:a16="http://schemas.microsoft.com/office/drawing/2014/main" id="{0D4EC4C3-F2D0-4F3E-A7FD-03A7DC507C18}"/>
                  </a:ext>
                </a:extLst>
              </p:cNvPr>
              <p:cNvSpPr txBox="1"/>
              <p:nvPr/>
            </p:nvSpPr>
            <p:spPr>
              <a:xfrm>
                <a:off x="8238058" y="693598"/>
                <a:ext cx="1296563" cy="490439"/>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net3</a:t>
                </a:r>
                <a:endParaRPr lang="zh-CN" altLang="en-US" sz="2000" dirty="0">
                  <a:latin typeface="等线" panose="02010600030101010101" pitchFamily="2" charset="-122"/>
                  <a:ea typeface="等线" panose="02010600030101010101" pitchFamily="2" charset="-122"/>
                </a:endParaRPr>
              </a:p>
            </p:txBody>
          </p:sp>
        </p:grpSp>
        <p:pic>
          <p:nvPicPr>
            <p:cNvPr id="11"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23436" y="4971990"/>
              <a:ext cx="678086" cy="499779"/>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直接连接符 11">
              <a:extLst>
                <a:ext uri="{FF2B5EF4-FFF2-40B4-BE49-F238E27FC236}">
                  <a16:creationId xmlns:a16="http://schemas.microsoft.com/office/drawing/2014/main" id="{6371D84A-E35B-4B3D-923C-05925905383F}"/>
                </a:ext>
              </a:extLst>
            </p:cNvPr>
            <p:cNvCxnSpPr>
              <a:cxnSpLocks/>
              <a:stCxn id="26" idx="2"/>
            </p:cNvCxnSpPr>
            <p:nvPr/>
          </p:nvCxnSpPr>
          <p:spPr>
            <a:xfrm>
              <a:off x="7761099" y="4511102"/>
              <a:ext cx="475021" cy="58845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13"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34064" y="5026522"/>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4">
              <a:extLst>
                <a:ext uri="{FF2B5EF4-FFF2-40B4-BE49-F238E27FC236}">
                  <a16:creationId xmlns:a16="http://schemas.microsoft.com/office/drawing/2014/main" id="{3C71C7CB-AEB0-40F0-9649-C11E9F5992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9308" y="4778425"/>
              <a:ext cx="1457605" cy="86815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5" name="文本框 14">
              <a:extLst>
                <a:ext uri="{FF2B5EF4-FFF2-40B4-BE49-F238E27FC236}">
                  <a16:creationId xmlns:a16="http://schemas.microsoft.com/office/drawing/2014/main" id="{0D4EC4C3-F2D0-4F3E-A7FD-03A7DC507C18}"/>
                </a:ext>
              </a:extLst>
            </p:cNvPr>
            <p:cNvSpPr txBox="1"/>
            <p:nvPr/>
          </p:nvSpPr>
          <p:spPr>
            <a:xfrm>
              <a:off x="6383444" y="5046684"/>
              <a:ext cx="736322" cy="400110"/>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net2</a:t>
              </a:r>
              <a:endParaRPr lang="zh-CN" altLang="en-US" sz="2000" dirty="0">
                <a:latin typeface="等线" panose="02010600030101010101" pitchFamily="2" charset="-122"/>
                <a:ea typeface="等线" panose="02010600030101010101" pitchFamily="2" charset="-122"/>
              </a:endParaRPr>
            </a:p>
          </p:txBody>
        </p:sp>
        <p:cxnSp>
          <p:nvCxnSpPr>
            <p:cNvPr id="16" name="直接连接符 15">
              <a:extLst>
                <a:ext uri="{FF2B5EF4-FFF2-40B4-BE49-F238E27FC236}">
                  <a16:creationId xmlns:a16="http://schemas.microsoft.com/office/drawing/2014/main" id="{3628D4EC-0370-4825-851B-D0565AE7D8CE}"/>
                </a:ext>
              </a:extLst>
            </p:cNvPr>
            <p:cNvCxnSpPr>
              <a:cxnSpLocks/>
            </p:cNvCxnSpPr>
            <p:nvPr/>
          </p:nvCxnSpPr>
          <p:spPr>
            <a:xfrm>
              <a:off x="2053438" y="5265808"/>
              <a:ext cx="69185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17"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399364" y="4686630"/>
              <a:ext cx="1395087" cy="1118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 name="文本框 17">
              <a:extLst>
                <a:ext uri="{FF2B5EF4-FFF2-40B4-BE49-F238E27FC236}">
                  <a16:creationId xmlns:a16="http://schemas.microsoft.com/office/drawing/2014/main" id="{19570BD0-A1DE-4C6C-8D91-9749980155A1}"/>
                </a:ext>
              </a:extLst>
            </p:cNvPr>
            <p:cNvSpPr txBox="1"/>
            <p:nvPr/>
          </p:nvSpPr>
          <p:spPr>
            <a:xfrm>
              <a:off x="2757342" y="5038968"/>
              <a:ext cx="673582" cy="400110"/>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net1</a:t>
              </a:r>
              <a:endParaRPr lang="zh-CN" altLang="en-US" sz="2000" dirty="0">
                <a:latin typeface="等线" panose="02010600030101010101" pitchFamily="2" charset="-122"/>
                <a:ea typeface="等线" panose="02010600030101010101" pitchFamily="2" charset="-122"/>
              </a:endParaRPr>
            </a:p>
          </p:txBody>
        </p:sp>
        <p:grpSp>
          <p:nvGrpSpPr>
            <p:cNvPr id="10" name="组合 18">
              <a:extLst>
                <a:ext uri="{FF2B5EF4-FFF2-40B4-BE49-F238E27FC236}">
                  <a16:creationId xmlns:a16="http://schemas.microsoft.com/office/drawing/2014/main" id="{E3FB6F0E-FD32-40AB-90A7-0C7D39E2B023}"/>
                </a:ext>
              </a:extLst>
            </p:cNvPr>
            <p:cNvGrpSpPr/>
            <p:nvPr/>
          </p:nvGrpSpPr>
          <p:grpSpPr>
            <a:xfrm>
              <a:off x="226899" y="4000559"/>
              <a:ext cx="1651003" cy="1106090"/>
              <a:chOff x="7402009" y="852917"/>
              <a:chExt cx="2779724" cy="1355798"/>
            </a:xfrm>
          </p:grpSpPr>
          <p:sp>
            <p:nvSpPr>
              <p:cNvPr id="21" name="文本框 20">
                <a:extLst>
                  <a:ext uri="{FF2B5EF4-FFF2-40B4-BE49-F238E27FC236}">
                    <a16:creationId xmlns:a16="http://schemas.microsoft.com/office/drawing/2014/main" id="{C9D2448E-4DF6-4F3D-94D3-4044F9D944E6}"/>
                  </a:ext>
                </a:extLst>
              </p:cNvPr>
              <p:cNvSpPr txBox="1"/>
              <p:nvPr/>
            </p:nvSpPr>
            <p:spPr>
              <a:xfrm>
                <a:off x="9395812" y="1718277"/>
                <a:ext cx="785921" cy="490438"/>
              </a:xfrm>
              <a:prstGeom prst="rect">
                <a:avLst/>
              </a:prstGeom>
              <a:noFill/>
            </p:spPr>
            <p:txBody>
              <a:bodyPr wrap="none" rtlCol="0">
                <a:spAutoFit/>
              </a:bodyPr>
              <a:lstStyle/>
              <a:p>
                <a:r>
                  <a:rPr lang="en-US" altLang="zh-CN" sz="2000" dirty="0">
                    <a:latin typeface="等线" panose="02010600030101010101" pitchFamily="2" charset="-122"/>
                    <a:ea typeface="等线" panose="02010600030101010101" pitchFamily="2" charset="-122"/>
                  </a:rPr>
                  <a:t>R2</a:t>
                </a:r>
                <a:endParaRPr lang="zh-CN" altLang="en-US" sz="2000" dirty="0">
                  <a:latin typeface="等线" panose="02010600030101010101" pitchFamily="2" charset="-122"/>
                  <a:ea typeface="等线" panose="02010600030101010101" pitchFamily="2" charset="-122"/>
                </a:endParaRPr>
              </a:p>
            </p:txBody>
          </p:sp>
          <p:pic>
            <p:nvPicPr>
              <p:cNvPr id="22" name="Picture 14">
                <a:extLst>
                  <a:ext uri="{FF2B5EF4-FFF2-40B4-BE49-F238E27FC236}">
                    <a16:creationId xmlns:a16="http://schemas.microsoft.com/office/drawing/2014/main" id="{3C71C7CB-AEB0-40F0-9649-C11E9F5992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02009" y="852917"/>
                <a:ext cx="2665673" cy="8386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3" name="文本框 22">
                <a:extLst>
                  <a:ext uri="{FF2B5EF4-FFF2-40B4-BE49-F238E27FC236}">
                    <a16:creationId xmlns:a16="http://schemas.microsoft.com/office/drawing/2014/main" id="{0D4EC4C3-F2D0-4F3E-A7FD-03A7DC507C18}"/>
                  </a:ext>
                </a:extLst>
              </p:cNvPr>
              <p:cNvSpPr txBox="1"/>
              <p:nvPr/>
            </p:nvSpPr>
            <p:spPr>
              <a:xfrm>
                <a:off x="8275237" y="1060601"/>
                <a:ext cx="1296563" cy="490438"/>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net4</a:t>
                </a:r>
                <a:endParaRPr lang="zh-CN" altLang="en-US" sz="2000" dirty="0">
                  <a:latin typeface="等线" panose="02010600030101010101" pitchFamily="2" charset="-122"/>
                  <a:ea typeface="等线" panose="02010600030101010101" pitchFamily="2" charset="-122"/>
                </a:endParaRPr>
              </a:p>
            </p:txBody>
          </p:sp>
        </p:grpSp>
        <p:cxnSp>
          <p:nvCxnSpPr>
            <p:cNvPr id="20" name="直接连接符 19">
              <a:extLst>
                <a:ext uri="{FF2B5EF4-FFF2-40B4-BE49-F238E27FC236}">
                  <a16:creationId xmlns:a16="http://schemas.microsoft.com/office/drawing/2014/main" id="{6371D84A-E35B-4B3D-923C-05925905383F}"/>
                </a:ext>
              </a:extLst>
            </p:cNvPr>
            <p:cNvCxnSpPr>
              <a:cxnSpLocks/>
            </p:cNvCxnSpPr>
            <p:nvPr/>
          </p:nvCxnSpPr>
          <p:spPr>
            <a:xfrm>
              <a:off x="1018530" y="4647451"/>
              <a:ext cx="392577" cy="48009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p:grpSp>
        <p:nvGrpSpPr>
          <p:cNvPr id="19" name="Group 9"/>
          <p:cNvGrpSpPr>
            <a:grpSpLocks/>
          </p:cNvGrpSpPr>
          <p:nvPr/>
        </p:nvGrpSpPr>
        <p:grpSpPr bwMode="auto">
          <a:xfrm>
            <a:off x="3061059" y="4382845"/>
            <a:ext cx="2906003" cy="399633"/>
            <a:chOff x="2056" y="1394"/>
            <a:chExt cx="2450" cy="365"/>
          </a:xfrm>
        </p:grpSpPr>
        <p:sp>
          <p:nvSpPr>
            <p:cNvPr id="34" name="Text Box 10"/>
            <p:cNvSpPr txBox="1">
              <a:spLocks noChangeArrowheads="1"/>
            </p:cNvSpPr>
            <p:nvPr/>
          </p:nvSpPr>
          <p:spPr bwMode="auto">
            <a:xfrm>
              <a:off x="2991" y="1394"/>
              <a:ext cx="5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latin typeface="等线" panose="02010600030101010101" pitchFamily="2" charset="-122"/>
                  <a:ea typeface="等线" panose="02010600030101010101" pitchFamily="2" charset="-122"/>
                </a:rPr>
                <a:t>问候</a:t>
              </a:r>
            </a:p>
          </p:txBody>
        </p:sp>
        <p:sp>
          <p:nvSpPr>
            <p:cNvPr id="35" name="Line 11"/>
            <p:cNvSpPr>
              <a:spLocks noChangeShapeType="1"/>
            </p:cNvSpPr>
            <p:nvPr/>
          </p:nvSpPr>
          <p:spPr bwMode="auto">
            <a:xfrm>
              <a:off x="2056" y="1731"/>
              <a:ext cx="2450" cy="0"/>
            </a:xfrm>
            <a:prstGeom prst="line">
              <a:avLst/>
            </a:prstGeom>
            <a:noFill/>
            <a:ln w="28575">
              <a:solidFill>
                <a:srgbClr val="5C6CAB"/>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dirty="0">
                <a:solidFill>
                  <a:srgbClr val="0000CC"/>
                </a:solidFill>
                <a:latin typeface="等线" panose="02010600030101010101" pitchFamily="2" charset="-122"/>
                <a:ea typeface="等线" panose="02010600030101010101" pitchFamily="2" charset="-122"/>
              </a:endParaRPr>
            </a:p>
          </p:txBody>
        </p:sp>
      </p:grpSp>
      <p:grpSp>
        <p:nvGrpSpPr>
          <p:cNvPr id="30" name="Group 12"/>
          <p:cNvGrpSpPr>
            <a:grpSpLocks/>
          </p:cNvGrpSpPr>
          <p:nvPr/>
        </p:nvGrpSpPr>
        <p:grpSpPr bwMode="auto">
          <a:xfrm>
            <a:off x="3061059" y="4764277"/>
            <a:ext cx="2906003" cy="399632"/>
            <a:chOff x="2056" y="1668"/>
            <a:chExt cx="2450" cy="365"/>
          </a:xfrm>
        </p:grpSpPr>
        <p:sp>
          <p:nvSpPr>
            <p:cNvPr id="37" name="Line 13"/>
            <p:cNvSpPr>
              <a:spLocks noChangeShapeType="1"/>
            </p:cNvSpPr>
            <p:nvPr/>
          </p:nvSpPr>
          <p:spPr bwMode="auto">
            <a:xfrm flipH="1">
              <a:off x="2056" y="1980"/>
              <a:ext cx="2450" cy="0"/>
            </a:xfrm>
            <a:prstGeom prst="line">
              <a:avLst/>
            </a:prstGeom>
            <a:noFill/>
            <a:ln w="28575">
              <a:solidFill>
                <a:srgbClr val="5C6CAB"/>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dirty="0">
                <a:solidFill>
                  <a:srgbClr val="0000CC"/>
                </a:solidFill>
                <a:latin typeface="等线" panose="02010600030101010101" pitchFamily="2" charset="-122"/>
                <a:ea typeface="等线" panose="02010600030101010101" pitchFamily="2" charset="-122"/>
              </a:endParaRPr>
            </a:p>
          </p:txBody>
        </p:sp>
        <p:sp>
          <p:nvSpPr>
            <p:cNvPr id="38" name="Text Box 14"/>
            <p:cNvSpPr txBox="1">
              <a:spLocks noChangeArrowheads="1"/>
            </p:cNvSpPr>
            <p:nvPr/>
          </p:nvSpPr>
          <p:spPr bwMode="auto">
            <a:xfrm>
              <a:off x="2987" y="1668"/>
              <a:ext cx="5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latin typeface="等线" panose="02010600030101010101" pitchFamily="2" charset="-122"/>
                  <a:ea typeface="等线" panose="02010600030101010101" pitchFamily="2" charset="-122"/>
                </a:rPr>
                <a:t>问候</a:t>
              </a:r>
            </a:p>
          </p:txBody>
        </p:sp>
      </p:grpSp>
      <p:grpSp>
        <p:nvGrpSpPr>
          <p:cNvPr id="31" name="Group 9"/>
          <p:cNvGrpSpPr>
            <a:grpSpLocks/>
          </p:cNvGrpSpPr>
          <p:nvPr/>
        </p:nvGrpSpPr>
        <p:grpSpPr bwMode="auto">
          <a:xfrm>
            <a:off x="6576485" y="4339665"/>
            <a:ext cx="2906003" cy="399633"/>
            <a:chOff x="2056" y="1394"/>
            <a:chExt cx="2450" cy="365"/>
          </a:xfrm>
        </p:grpSpPr>
        <p:sp>
          <p:nvSpPr>
            <p:cNvPr id="40" name="Text Box 10"/>
            <p:cNvSpPr txBox="1">
              <a:spLocks noChangeArrowheads="1"/>
            </p:cNvSpPr>
            <p:nvPr/>
          </p:nvSpPr>
          <p:spPr bwMode="auto">
            <a:xfrm>
              <a:off x="2991" y="1394"/>
              <a:ext cx="5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latin typeface="等线" panose="02010600030101010101" pitchFamily="2" charset="-122"/>
                  <a:ea typeface="等线" panose="02010600030101010101" pitchFamily="2" charset="-122"/>
                </a:rPr>
                <a:t>问候</a:t>
              </a:r>
            </a:p>
          </p:txBody>
        </p:sp>
        <p:sp>
          <p:nvSpPr>
            <p:cNvPr id="41" name="Line 11"/>
            <p:cNvSpPr>
              <a:spLocks noChangeShapeType="1"/>
            </p:cNvSpPr>
            <p:nvPr/>
          </p:nvSpPr>
          <p:spPr bwMode="auto">
            <a:xfrm>
              <a:off x="2056" y="1731"/>
              <a:ext cx="2450" cy="0"/>
            </a:xfrm>
            <a:prstGeom prst="line">
              <a:avLst/>
            </a:prstGeom>
            <a:noFill/>
            <a:ln w="28575">
              <a:solidFill>
                <a:srgbClr val="5C6CAB"/>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dirty="0">
                <a:solidFill>
                  <a:srgbClr val="0000CC"/>
                </a:solidFill>
                <a:latin typeface="等线" panose="02010600030101010101" pitchFamily="2" charset="-122"/>
                <a:ea typeface="等线" panose="02010600030101010101" pitchFamily="2" charset="-122"/>
              </a:endParaRPr>
            </a:p>
          </p:txBody>
        </p:sp>
      </p:grpSp>
      <p:grpSp>
        <p:nvGrpSpPr>
          <p:cNvPr id="32" name="Group 12"/>
          <p:cNvGrpSpPr>
            <a:grpSpLocks/>
          </p:cNvGrpSpPr>
          <p:nvPr/>
        </p:nvGrpSpPr>
        <p:grpSpPr bwMode="auto">
          <a:xfrm>
            <a:off x="6552420" y="4734966"/>
            <a:ext cx="2906003" cy="399632"/>
            <a:chOff x="2056" y="1657"/>
            <a:chExt cx="2450" cy="365"/>
          </a:xfrm>
        </p:grpSpPr>
        <p:sp>
          <p:nvSpPr>
            <p:cNvPr id="43" name="Line 13"/>
            <p:cNvSpPr>
              <a:spLocks noChangeShapeType="1"/>
            </p:cNvSpPr>
            <p:nvPr/>
          </p:nvSpPr>
          <p:spPr bwMode="auto">
            <a:xfrm flipH="1">
              <a:off x="2056" y="1980"/>
              <a:ext cx="2450" cy="0"/>
            </a:xfrm>
            <a:prstGeom prst="line">
              <a:avLst/>
            </a:prstGeom>
            <a:noFill/>
            <a:ln w="28575">
              <a:solidFill>
                <a:srgbClr val="5C6CAB"/>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b="1" dirty="0">
                <a:solidFill>
                  <a:srgbClr val="0000CC"/>
                </a:solidFill>
                <a:latin typeface="等线" panose="02010600030101010101" pitchFamily="2" charset="-122"/>
                <a:ea typeface="等线" panose="02010600030101010101" pitchFamily="2" charset="-122"/>
              </a:endParaRPr>
            </a:p>
          </p:txBody>
        </p:sp>
        <p:sp>
          <p:nvSpPr>
            <p:cNvPr id="44" name="Text Box 14"/>
            <p:cNvSpPr txBox="1">
              <a:spLocks noChangeArrowheads="1"/>
            </p:cNvSpPr>
            <p:nvPr/>
          </p:nvSpPr>
          <p:spPr bwMode="auto">
            <a:xfrm>
              <a:off x="2997" y="1657"/>
              <a:ext cx="58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zh-CN" altLang="en-US" sz="2000" b="1" dirty="0">
                  <a:latin typeface="等线" panose="02010600030101010101" pitchFamily="2" charset="-122"/>
                  <a:ea typeface="等线" panose="02010600030101010101" pitchFamily="2" charset="-122"/>
                </a:rPr>
                <a:t>问候</a:t>
              </a:r>
            </a:p>
          </p:txBody>
        </p:sp>
      </p:grpSp>
      <p:grpSp>
        <p:nvGrpSpPr>
          <p:cNvPr id="33" name="组合 55"/>
          <p:cNvGrpSpPr/>
          <p:nvPr/>
        </p:nvGrpSpPr>
        <p:grpSpPr>
          <a:xfrm>
            <a:off x="1684477" y="5402937"/>
            <a:ext cx="2670757" cy="1299350"/>
            <a:chOff x="1063691" y="5417690"/>
            <a:chExt cx="1669396" cy="1039025"/>
          </a:xfrm>
        </p:grpSpPr>
        <p:sp>
          <p:nvSpPr>
            <p:cNvPr id="51" name="椭圆形标注 50"/>
            <p:cNvSpPr/>
            <p:nvPr/>
          </p:nvSpPr>
          <p:spPr>
            <a:xfrm>
              <a:off x="1063691" y="5417690"/>
              <a:ext cx="1562560" cy="1039025"/>
            </a:xfrm>
            <a:prstGeom prst="wedgeEllipseCallout">
              <a:avLst>
                <a:gd name="adj1" fmla="val 36819"/>
                <a:gd name="adj2" fmla="val -89554"/>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0D4EC4C3-F2D0-4F3E-A7FD-03A7DC507C18}"/>
                </a:ext>
              </a:extLst>
            </p:cNvPr>
            <p:cNvSpPr txBox="1"/>
            <p:nvPr/>
          </p:nvSpPr>
          <p:spPr>
            <a:xfrm>
              <a:off x="1170204" y="5630464"/>
              <a:ext cx="1562883" cy="566061"/>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R2</a:t>
              </a:r>
              <a:r>
                <a:rPr lang="zh-CN" altLang="en-US" sz="2000" dirty="0">
                  <a:latin typeface="等线" panose="02010600030101010101" pitchFamily="2" charset="-122"/>
                  <a:ea typeface="等线" panose="02010600030101010101" pitchFamily="2" charset="-122"/>
                </a:rPr>
                <a:t>学习到通过</a:t>
              </a:r>
              <a:r>
                <a:rPr lang="en-US" altLang="zh-CN" sz="2000" dirty="0">
                  <a:latin typeface="等线" panose="02010600030101010101" pitchFamily="2" charset="-122"/>
                  <a:ea typeface="等线" panose="02010600030101010101" pitchFamily="2" charset="-122"/>
                </a:rPr>
                <a:t>net1</a:t>
              </a:r>
              <a:r>
                <a:rPr lang="zh-CN" altLang="en-US" sz="2000" dirty="0">
                  <a:latin typeface="等线" panose="02010600030101010101" pitchFamily="2" charset="-122"/>
                  <a:ea typeface="等线" panose="02010600030101010101" pitchFamily="2" charset="-122"/>
                </a:rPr>
                <a:t>连接到邻居</a:t>
              </a:r>
              <a:r>
                <a:rPr lang="en-US" altLang="zh-CN" sz="2000" dirty="0">
                  <a:latin typeface="等线" panose="02010600030101010101" pitchFamily="2" charset="-122"/>
                  <a:ea typeface="等线" panose="02010600030101010101" pitchFamily="2" charset="-122"/>
                </a:rPr>
                <a:t>R1</a:t>
              </a:r>
              <a:endParaRPr lang="zh-CN" altLang="en-US" sz="2000" dirty="0">
                <a:latin typeface="等线" panose="02010600030101010101" pitchFamily="2" charset="-122"/>
                <a:ea typeface="等线" panose="02010600030101010101" pitchFamily="2" charset="-122"/>
              </a:endParaRPr>
            </a:p>
          </p:txBody>
        </p:sp>
      </p:grpSp>
      <p:grpSp>
        <p:nvGrpSpPr>
          <p:cNvPr id="36" name="组合 54"/>
          <p:cNvGrpSpPr/>
          <p:nvPr/>
        </p:nvGrpSpPr>
        <p:grpSpPr>
          <a:xfrm>
            <a:off x="5157957" y="5296152"/>
            <a:ext cx="3427928" cy="1499673"/>
            <a:chOff x="5176451" y="5267481"/>
            <a:chExt cx="2541125" cy="1771777"/>
          </a:xfrm>
        </p:grpSpPr>
        <p:sp>
          <p:nvSpPr>
            <p:cNvPr id="53" name="椭圆形标注 52"/>
            <p:cNvSpPr/>
            <p:nvPr/>
          </p:nvSpPr>
          <p:spPr>
            <a:xfrm>
              <a:off x="5176451" y="5267481"/>
              <a:ext cx="2541125" cy="1771777"/>
            </a:xfrm>
            <a:prstGeom prst="wedgeEllipseCallout">
              <a:avLst>
                <a:gd name="adj1" fmla="val -19835"/>
                <a:gd name="adj2" fmla="val -7637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文本框 53">
              <a:extLst>
                <a:ext uri="{FF2B5EF4-FFF2-40B4-BE49-F238E27FC236}">
                  <a16:creationId xmlns:a16="http://schemas.microsoft.com/office/drawing/2014/main" id="{0D4EC4C3-F2D0-4F3E-A7FD-03A7DC507C18}"/>
                </a:ext>
              </a:extLst>
            </p:cNvPr>
            <p:cNvSpPr txBox="1"/>
            <p:nvPr/>
          </p:nvSpPr>
          <p:spPr>
            <a:xfrm>
              <a:off x="5365156" y="5630939"/>
              <a:ext cx="2316165" cy="1199947"/>
            </a:xfrm>
            <a:prstGeom prst="rect">
              <a:avLst/>
            </a:prstGeom>
            <a:noFill/>
          </p:spPr>
          <p:txBody>
            <a:bodyPr wrap="square" rtlCol="0">
              <a:spAutoFit/>
            </a:bodyPr>
            <a:lstStyle/>
            <a:p>
              <a:r>
                <a:rPr lang="en-US" altLang="zh-CN" sz="2000" dirty="0">
                  <a:latin typeface="等线" panose="02010600030101010101" pitchFamily="2" charset="-122"/>
                  <a:ea typeface="等线" panose="02010600030101010101" pitchFamily="2" charset="-122"/>
                </a:rPr>
                <a:t>R1</a:t>
              </a:r>
              <a:r>
                <a:rPr lang="zh-CN" altLang="en-US" sz="2000" dirty="0">
                  <a:latin typeface="等线" panose="02010600030101010101" pitchFamily="2" charset="-122"/>
                  <a:ea typeface="等线" panose="02010600030101010101" pitchFamily="2" charset="-122"/>
                </a:rPr>
                <a:t>学习到通过</a:t>
              </a:r>
              <a:r>
                <a:rPr lang="en-US" altLang="zh-CN" sz="2000" dirty="0">
                  <a:latin typeface="等线" panose="02010600030101010101" pitchFamily="2" charset="-122"/>
                  <a:ea typeface="等线" panose="02010600030101010101" pitchFamily="2" charset="-122"/>
                </a:rPr>
                <a:t>net1</a:t>
              </a:r>
              <a:r>
                <a:rPr lang="zh-CN" altLang="en-US" sz="2000" dirty="0">
                  <a:latin typeface="等线" panose="02010600030101010101" pitchFamily="2" charset="-122"/>
                  <a:ea typeface="等线" panose="02010600030101010101" pitchFamily="2" charset="-122"/>
                </a:rPr>
                <a:t>连接到邻居</a:t>
              </a:r>
              <a:r>
                <a:rPr lang="en-US" altLang="zh-CN" sz="2000" dirty="0">
                  <a:latin typeface="等线" panose="02010600030101010101" pitchFamily="2" charset="-122"/>
                  <a:ea typeface="等线" panose="02010600030101010101" pitchFamily="2" charset="-122"/>
                </a:rPr>
                <a:t>R2</a:t>
              </a:r>
              <a:r>
                <a:rPr lang="zh-CN" altLang="en-US" sz="2000" dirty="0">
                  <a:latin typeface="等线" panose="02010600030101010101" pitchFamily="2" charset="-122"/>
                  <a:ea typeface="等线" panose="02010600030101010101" pitchFamily="2" charset="-122"/>
                </a:rPr>
                <a:t>；通过</a:t>
              </a:r>
              <a:r>
                <a:rPr lang="en-US" altLang="zh-CN" sz="2000" dirty="0">
                  <a:latin typeface="等线" panose="02010600030101010101" pitchFamily="2" charset="-122"/>
                  <a:ea typeface="等线" panose="02010600030101010101" pitchFamily="2" charset="-122"/>
                </a:rPr>
                <a:t>net2</a:t>
              </a:r>
              <a:r>
                <a:rPr lang="zh-CN" altLang="en-US" sz="2000" dirty="0">
                  <a:latin typeface="等线" panose="02010600030101010101" pitchFamily="2" charset="-122"/>
                  <a:ea typeface="等线" panose="02010600030101010101" pitchFamily="2" charset="-122"/>
                </a:rPr>
                <a:t>连接到邻居</a:t>
              </a:r>
              <a:r>
                <a:rPr lang="en-US" altLang="zh-CN" sz="2000" dirty="0">
                  <a:latin typeface="等线" panose="02010600030101010101" pitchFamily="2" charset="-122"/>
                  <a:ea typeface="等线" panose="02010600030101010101" pitchFamily="2" charset="-122"/>
                </a:rPr>
                <a:t>R3</a:t>
              </a:r>
              <a:endParaRPr lang="zh-CN" altLang="en-US" sz="2000" dirty="0">
                <a:latin typeface="等线" panose="02010600030101010101" pitchFamily="2" charset="-122"/>
                <a:ea typeface="等线" panose="02010600030101010101" pitchFamily="2" charset="-122"/>
              </a:endParaRPr>
            </a:p>
          </p:txBody>
        </p:sp>
      </p:grpSp>
      <p:sp>
        <p:nvSpPr>
          <p:cNvPr id="47"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5.3.4 </a:t>
            </a:r>
            <a:r>
              <a:rPr kumimoji="1" lang="zh-CN" altLang="en-US" dirty="0">
                <a:latin typeface="DengXian" panose="02010600030101010101" pitchFamily="2" charset="-122"/>
                <a:ea typeface="DengXian" panose="02010600030101010101" pitchFamily="2" charset="-122"/>
              </a:rPr>
              <a:t>链路状态路由</a:t>
            </a:r>
          </a:p>
        </p:txBody>
      </p:sp>
    </p:spTree>
    <p:extLst>
      <p:ext uri="{BB962C8B-B14F-4D97-AF65-F5344CB8AC3E}">
        <p14:creationId xmlns:p14="http://schemas.microsoft.com/office/powerpoint/2010/main" val="1253705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right)">
                                      <p:cBhvr>
                                        <p:cTn id="12" dur="20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wipe(left)">
                                      <p:cBhvr>
                                        <p:cTn id="21" dur="2000"/>
                                        <p:tgtEl>
                                          <p:spTgt spid="3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wipe(right)">
                                      <p:cBhvr>
                                        <p:cTn id="26" dur="2000"/>
                                        <p:tgtEl>
                                          <p:spTgt spid="32"/>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链路状态路由</a:t>
            </a:r>
            <a:endParaRPr lang="zh-CN" altLang="en-US" dirty="0"/>
          </a:p>
        </p:txBody>
      </p:sp>
      <p:sp>
        <p:nvSpPr>
          <p:cNvPr id="3" name="内容占位符 2"/>
          <p:cNvSpPr>
            <a:spLocks noGrp="1"/>
          </p:cNvSpPr>
          <p:nvPr>
            <p:ph idx="1"/>
          </p:nvPr>
        </p:nvSpPr>
        <p:spPr/>
        <p:txBody>
          <a:bodyPr/>
          <a:lstStyle/>
          <a:p>
            <a:r>
              <a:rPr lang="en-US" altLang="zh-CN" dirty="0"/>
              <a:t>2.</a:t>
            </a:r>
            <a:r>
              <a:rPr lang="zh-CN" altLang="en-US" dirty="0">
                <a:solidFill>
                  <a:srgbClr val="5C307E"/>
                </a:solidFill>
              </a:rPr>
              <a:t>设置</a:t>
            </a:r>
            <a:r>
              <a:rPr lang="zh-CN" altLang="en-US" dirty="0"/>
              <a:t>到每个邻居的成本度量</a:t>
            </a:r>
            <a:endParaRPr lang="en-US" altLang="zh-CN" dirty="0"/>
          </a:p>
          <a:p>
            <a:pPr lvl="1"/>
            <a:r>
              <a:rPr lang="zh-CN" altLang="en-US" dirty="0"/>
              <a:t>开销</a:t>
            </a:r>
            <a:r>
              <a:rPr lang="en-US" altLang="zh-CN" dirty="0"/>
              <a:t>/</a:t>
            </a:r>
            <a:r>
              <a:rPr lang="zh-CN" altLang="en-US" dirty="0"/>
              <a:t>度量</a:t>
            </a:r>
            <a:r>
              <a:rPr lang="en-US" altLang="zh-CN" dirty="0"/>
              <a:t>/</a:t>
            </a:r>
            <a:r>
              <a:rPr lang="zh-CN" altLang="en-US" dirty="0"/>
              <a:t>代价：</a:t>
            </a:r>
            <a:endParaRPr lang="en-US" altLang="zh-CN" dirty="0"/>
          </a:p>
          <a:p>
            <a:pPr lvl="2"/>
            <a:r>
              <a:rPr lang="zh-CN" altLang="en-US" dirty="0"/>
              <a:t>自动发现设置或人工配置</a:t>
            </a:r>
            <a:endParaRPr lang="en-US" altLang="zh-CN" dirty="0"/>
          </a:p>
          <a:p>
            <a:pPr lvl="2"/>
            <a:r>
              <a:rPr lang="zh-CN" altLang="en-US" dirty="0"/>
              <a:t>度量：带宽、跳数、延迟、负载、可靠性等</a:t>
            </a:r>
            <a:endParaRPr lang="en-US" altLang="zh-CN" dirty="0"/>
          </a:p>
          <a:p>
            <a:pPr lvl="1"/>
            <a:r>
              <a:rPr lang="zh-CN" altLang="en-US" dirty="0"/>
              <a:t>常用度量：链路带宽（反比）</a:t>
            </a:r>
            <a:endParaRPr lang="en-US" altLang="zh-CN" dirty="0"/>
          </a:p>
          <a:p>
            <a:pPr lvl="2"/>
            <a:r>
              <a:rPr lang="zh-CN" altLang="en-US" dirty="0"/>
              <a:t>例如：</a:t>
            </a:r>
            <a:r>
              <a:rPr lang="en-US" altLang="zh-CN" dirty="0"/>
              <a:t>1-Gbps</a:t>
            </a:r>
            <a:r>
              <a:rPr lang="zh-CN" altLang="en-US" dirty="0"/>
              <a:t>以太网的代价为</a:t>
            </a:r>
            <a:r>
              <a:rPr lang="en-US" altLang="zh-CN" dirty="0"/>
              <a:t>1</a:t>
            </a:r>
            <a:r>
              <a:rPr lang="zh-CN" altLang="en-US" dirty="0"/>
              <a:t>，</a:t>
            </a:r>
            <a:r>
              <a:rPr lang="en-US" altLang="zh-CN" dirty="0"/>
              <a:t>100-Mbps</a:t>
            </a:r>
            <a:r>
              <a:rPr lang="zh-CN" altLang="en-US" dirty="0"/>
              <a:t>以太网的代价为</a:t>
            </a:r>
            <a:r>
              <a:rPr lang="en-US" altLang="zh-CN" dirty="0"/>
              <a:t>10</a:t>
            </a:r>
          </a:p>
          <a:p>
            <a:pPr lvl="1"/>
            <a:r>
              <a:rPr lang="zh-CN" altLang="en-US" dirty="0"/>
              <a:t>可选度量：延迟</a:t>
            </a:r>
            <a:endParaRPr lang="en-US" altLang="zh-CN" dirty="0"/>
          </a:p>
          <a:p>
            <a:pPr lvl="2"/>
            <a:r>
              <a:rPr lang="zh-CN" altLang="en-US" dirty="0"/>
              <a:t>发送一个</a:t>
            </a:r>
            <a:r>
              <a:rPr lang="en-US" altLang="zh-CN" dirty="0"/>
              <a:t>echo</a:t>
            </a:r>
            <a:r>
              <a:rPr lang="zh-CN" altLang="en-US" dirty="0"/>
              <a:t>包，另一端立即回送一个应答</a:t>
            </a:r>
            <a:endParaRPr lang="en-US" altLang="zh-CN" dirty="0"/>
          </a:p>
          <a:p>
            <a:pPr lvl="2"/>
            <a:r>
              <a:rPr lang="zh-CN" altLang="en-US" dirty="0"/>
              <a:t>通过测量往返时间</a:t>
            </a:r>
            <a:r>
              <a:rPr lang="en-US" altLang="zh-CN" dirty="0"/>
              <a:t>RTT</a:t>
            </a:r>
            <a:r>
              <a:rPr lang="zh-CN" altLang="en-US" dirty="0"/>
              <a:t>，可以获得一个合理的延迟估计值</a:t>
            </a:r>
          </a:p>
          <a:p>
            <a:pPr lvl="7"/>
            <a:endParaRPr lang="zh-CN" altLang="en-US" dirty="0"/>
          </a:p>
        </p:txBody>
      </p:sp>
      <p:sp>
        <p:nvSpPr>
          <p:cNvPr id="5"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5.3.4 </a:t>
            </a:r>
            <a:r>
              <a:rPr kumimoji="1" lang="zh-CN" altLang="en-US" dirty="0">
                <a:latin typeface="DengXian" panose="02010600030101010101" pitchFamily="2" charset="-122"/>
                <a:ea typeface="DengXian" panose="02010600030101010101" pitchFamily="2" charset="-122"/>
              </a:rPr>
              <a:t>链路状态路由</a:t>
            </a:r>
          </a:p>
        </p:txBody>
      </p:sp>
      <p:sp>
        <p:nvSpPr>
          <p:cNvPr id="6" name="灯片编号占位符 3">
            <a:extLst>
              <a:ext uri="{FF2B5EF4-FFF2-40B4-BE49-F238E27FC236}">
                <a16:creationId xmlns:a16="http://schemas.microsoft.com/office/drawing/2014/main" id="{63BC0E52-558D-DA43-BE0C-839415FD372E}"/>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70</a:t>
            </a:fld>
            <a:endParaRPr kumimoji="1" lang="zh-CN" altLang="en-US" dirty="0"/>
          </a:p>
        </p:txBody>
      </p:sp>
    </p:spTree>
    <p:extLst>
      <p:ext uri="{BB962C8B-B14F-4D97-AF65-F5344CB8AC3E}">
        <p14:creationId xmlns:p14="http://schemas.microsoft.com/office/powerpoint/2010/main" val="41351614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链路状态路由</a:t>
            </a:r>
            <a:endParaRPr lang="zh-CN" altLang="en-US" dirty="0"/>
          </a:p>
        </p:txBody>
      </p:sp>
      <p:sp>
        <p:nvSpPr>
          <p:cNvPr id="3" name="内容占位符 2"/>
          <p:cNvSpPr>
            <a:spLocks noGrp="1"/>
          </p:cNvSpPr>
          <p:nvPr>
            <p:ph idx="1"/>
          </p:nvPr>
        </p:nvSpPr>
        <p:spPr/>
        <p:txBody>
          <a:bodyPr/>
          <a:lstStyle/>
          <a:p>
            <a:r>
              <a:rPr lang="en-US" altLang="zh-CN" dirty="0"/>
              <a:t>3.</a:t>
            </a:r>
            <a:r>
              <a:rPr lang="zh-CN" altLang="en-US" dirty="0">
                <a:solidFill>
                  <a:srgbClr val="5C307E"/>
                </a:solidFill>
              </a:rPr>
              <a:t>构造</a:t>
            </a:r>
            <a:r>
              <a:rPr lang="zh-CN" altLang="en-US" dirty="0"/>
              <a:t>一个数据包，数据包中包含刚收到的所有信息</a:t>
            </a:r>
            <a:endParaRPr lang="en-US" altLang="zh-CN" dirty="0"/>
          </a:p>
          <a:p>
            <a:pPr lvl="1"/>
            <a:r>
              <a:rPr lang="zh-CN" altLang="en-US" dirty="0"/>
              <a:t>构造链路状态数据包（</a:t>
            </a:r>
            <a:r>
              <a:rPr lang="en-US" altLang="zh-CN" dirty="0"/>
              <a:t>link state packet</a:t>
            </a:r>
            <a:r>
              <a:rPr lang="zh-CN" altLang="en-US" dirty="0"/>
              <a:t>，</a:t>
            </a:r>
            <a:r>
              <a:rPr lang="en-US" altLang="zh-CN" dirty="0"/>
              <a:t>LSP</a:t>
            </a:r>
            <a:r>
              <a:rPr lang="zh-CN" altLang="en-US" dirty="0"/>
              <a:t>）</a:t>
            </a:r>
            <a:endParaRPr lang="en-US" altLang="zh-CN" dirty="0"/>
          </a:p>
          <a:p>
            <a:pPr lvl="2"/>
            <a:r>
              <a:rPr lang="zh-CN" altLang="en-US" dirty="0"/>
              <a:t>发送方标识</a:t>
            </a:r>
            <a:endParaRPr lang="en-US" altLang="zh-CN" dirty="0"/>
          </a:p>
          <a:p>
            <a:pPr lvl="2"/>
            <a:r>
              <a:rPr lang="zh-CN" altLang="en-US" dirty="0"/>
              <a:t>序列号</a:t>
            </a:r>
            <a:endParaRPr lang="en-US" altLang="zh-CN" dirty="0"/>
          </a:p>
          <a:p>
            <a:pPr lvl="2"/>
            <a:r>
              <a:rPr lang="zh-CN" altLang="en-US"/>
              <a:t>生存期</a:t>
            </a:r>
            <a:endParaRPr lang="en-US" altLang="zh-CN" dirty="0"/>
          </a:p>
          <a:p>
            <a:pPr lvl="2"/>
            <a:r>
              <a:rPr lang="zh-CN" altLang="en-US" dirty="0"/>
              <a:t>邻居列表</a:t>
            </a:r>
            <a:endParaRPr lang="en-US" altLang="zh-CN" dirty="0"/>
          </a:p>
        </p:txBody>
      </p:sp>
      <p:graphicFrame>
        <p:nvGraphicFramePr>
          <p:cNvPr id="32" name="表格 31"/>
          <p:cNvGraphicFramePr>
            <a:graphicFrameLocks noGrp="1"/>
          </p:cNvGraphicFramePr>
          <p:nvPr/>
        </p:nvGraphicFramePr>
        <p:xfrm>
          <a:off x="5645241" y="3863671"/>
          <a:ext cx="791766" cy="2194560"/>
        </p:xfrm>
        <a:graphic>
          <a:graphicData uri="http://schemas.openxmlformats.org/drawingml/2006/table">
            <a:tbl>
              <a:tblPr firstRow="1" bandRow="1">
                <a:tableStyleId>{5C22544A-7EE6-4342-B048-85BDC9FD1C3A}</a:tableStyleId>
              </a:tblPr>
              <a:tblGrid>
                <a:gridCol w="455918">
                  <a:extLst>
                    <a:ext uri="{9D8B030D-6E8A-4147-A177-3AD203B41FA5}">
                      <a16:colId xmlns:a16="http://schemas.microsoft.com/office/drawing/2014/main" val="3668216324"/>
                    </a:ext>
                  </a:extLst>
                </a:gridCol>
                <a:gridCol w="335848">
                  <a:extLst>
                    <a:ext uri="{9D8B030D-6E8A-4147-A177-3AD203B41FA5}">
                      <a16:colId xmlns:a16="http://schemas.microsoft.com/office/drawing/2014/main" val="2242425082"/>
                    </a:ext>
                  </a:extLst>
                </a:gridCol>
              </a:tblGrid>
              <a:tr h="333261">
                <a:tc gridSpan="2">
                  <a:txBody>
                    <a:bodyPr/>
                    <a:lstStyle/>
                    <a:p>
                      <a:pPr algn="ctr"/>
                      <a:r>
                        <a:rPr lang="en-US" altLang="zh-CN" dirty="0">
                          <a:solidFill>
                            <a:schemeClr val="bg1"/>
                          </a:solidFill>
                        </a:rPr>
                        <a:t>u</a:t>
                      </a:r>
                      <a:endParaRPr lang="zh-CN" altLang="en-US" dirty="0">
                        <a:solidFill>
                          <a:schemeClr val="bg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1611289476"/>
                  </a:ext>
                </a:extLst>
              </a:tr>
              <a:tr h="337890">
                <a:tc gridSpan="2">
                  <a:txBody>
                    <a:bodyPr/>
                    <a:lstStyle/>
                    <a:p>
                      <a:pPr algn="ctr"/>
                      <a:r>
                        <a:rPr lang="en-US" altLang="zh-CN" dirty="0"/>
                        <a:t>Seq.</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03963192"/>
                  </a:ext>
                </a:extLst>
              </a:tr>
              <a:tr h="337890">
                <a:tc gridSpan="2">
                  <a:txBody>
                    <a:bodyPr/>
                    <a:lstStyle/>
                    <a:p>
                      <a:pPr algn="ctr"/>
                      <a:r>
                        <a:rPr lang="en-US" altLang="zh-CN" dirty="0"/>
                        <a:t>Age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3910417"/>
                  </a:ext>
                </a:extLst>
              </a:tr>
              <a:tr h="337890">
                <a:tc>
                  <a:txBody>
                    <a:bodyPr/>
                    <a:lstStyle/>
                    <a:p>
                      <a:pPr algn="ctr"/>
                      <a:r>
                        <a:rPr lang="en-US" altLang="zh-CN" dirty="0"/>
                        <a:t>v</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154610"/>
                  </a:ext>
                </a:extLst>
              </a:tr>
              <a:tr h="182880">
                <a:tc>
                  <a:txBody>
                    <a:bodyPr/>
                    <a:lstStyle/>
                    <a:p>
                      <a:pPr algn="ctr"/>
                      <a:r>
                        <a:rPr lang="en-US" altLang="zh-CN" dirty="0"/>
                        <a:t>x</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725734"/>
                  </a:ext>
                </a:extLst>
              </a:tr>
              <a:tr h="182880">
                <a:tc>
                  <a:txBody>
                    <a:bodyPr/>
                    <a:lstStyle/>
                    <a:p>
                      <a:pPr algn="ctr"/>
                      <a:r>
                        <a:rPr lang="en-US" altLang="zh-CN" dirty="0"/>
                        <a:t>w</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1590640"/>
                  </a:ext>
                </a:extLst>
              </a:tr>
            </a:tbl>
          </a:graphicData>
        </a:graphic>
      </p:graphicFrame>
      <p:graphicFrame>
        <p:nvGraphicFramePr>
          <p:cNvPr id="130" name="表格 129"/>
          <p:cNvGraphicFramePr>
            <a:graphicFrameLocks noGrp="1"/>
          </p:cNvGraphicFramePr>
          <p:nvPr/>
        </p:nvGraphicFramePr>
        <p:xfrm>
          <a:off x="6663326" y="3855251"/>
          <a:ext cx="791766" cy="2194560"/>
        </p:xfrm>
        <a:graphic>
          <a:graphicData uri="http://schemas.openxmlformats.org/drawingml/2006/table">
            <a:tbl>
              <a:tblPr firstRow="1" bandRow="1">
                <a:tableStyleId>{5C22544A-7EE6-4342-B048-85BDC9FD1C3A}</a:tableStyleId>
              </a:tblPr>
              <a:tblGrid>
                <a:gridCol w="455918">
                  <a:extLst>
                    <a:ext uri="{9D8B030D-6E8A-4147-A177-3AD203B41FA5}">
                      <a16:colId xmlns:a16="http://schemas.microsoft.com/office/drawing/2014/main" val="3668216324"/>
                    </a:ext>
                  </a:extLst>
                </a:gridCol>
                <a:gridCol w="335848">
                  <a:extLst>
                    <a:ext uri="{9D8B030D-6E8A-4147-A177-3AD203B41FA5}">
                      <a16:colId xmlns:a16="http://schemas.microsoft.com/office/drawing/2014/main" val="2242425082"/>
                    </a:ext>
                  </a:extLst>
                </a:gridCol>
              </a:tblGrid>
              <a:tr h="333261">
                <a:tc gridSpan="2">
                  <a:txBody>
                    <a:bodyPr/>
                    <a:lstStyle/>
                    <a:p>
                      <a:pPr algn="ctr"/>
                      <a:r>
                        <a:rPr lang="en-US" altLang="zh-CN" dirty="0"/>
                        <a:t>v</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1611289476"/>
                  </a:ext>
                </a:extLst>
              </a:tr>
              <a:tr h="337890">
                <a:tc gridSpan="2">
                  <a:txBody>
                    <a:bodyPr/>
                    <a:lstStyle/>
                    <a:p>
                      <a:pPr algn="ctr"/>
                      <a:r>
                        <a:rPr lang="en-US" altLang="zh-CN" dirty="0"/>
                        <a:t>Seq.</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03963192"/>
                  </a:ext>
                </a:extLst>
              </a:tr>
              <a:tr h="337890">
                <a:tc gridSpan="2">
                  <a:txBody>
                    <a:bodyPr/>
                    <a:lstStyle/>
                    <a:p>
                      <a:pPr algn="ctr"/>
                      <a:r>
                        <a:rPr lang="en-US" altLang="zh-CN" dirty="0"/>
                        <a:t>Age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3910417"/>
                  </a:ext>
                </a:extLst>
              </a:tr>
              <a:tr h="337890">
                <a:tc>
                  <a:txBody>
                    <a:bodyPr/>
                    <a:lstStyle/>
                    <a:p>
                      <a:pPr algn="ctr"/>
                      <a:r>
                        <a:rPr lang="en-US" altLang="zh-CN" dirty="0"/>
                        <a:t>u</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154610"/>
                  </a:ext>
                </a:extLst>
              </a:tr>
              <a:tr h="182880">
                <a:tc>
                  <a:txBody>
                    <a:bodyPr/>
                    <a:lstStyle/>
                    <a:p>
                      <a:pPr algn="ctr"/>
                      <a:r>
                        <a:rPr lang="en-US" altLang="zh-CN" dirty="0"/>
                        <a:t>x</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725734"/>
                  </a:ext>
                </a:extLst>
              </a:tr>
              <a:tr h="182880">
                <a:tc>
                  <a:txBody>
                    <a:bodyPr/>
                    <a:lstStyle/>
                    <a:p>
                      <a:pPr algn="ctr"/>
                      <a:r>
                        <a:rPr lang="en-US" altLang="zh-CN" dirty="0"/>
                        <a:t>w</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84819210"/>
                  </a:ext>
                </a:extLst>
              </a:tr>
            </a:tbl>
          </a:graphicData>
        </a:graphic>
      </p:graphicFrame>
      <p:graphicFrame>
        <p:nvGraphicFramePr>
          <p:cNvPr id="131" name="表格 130"/>
          <p:cNvGraphicFramePr>
            <a:graphicFrameLocks noGrp="1"/>
          </p:cNvGraphicFramePr>
          <p:nvPr/>
        </p:nvGraphicFramePr>
        <p:xfrm>
          <a:off x="7772042" y="3859109"/>
          <a:ext cx="791766" cy="2560320"/>
        </p:xfrm>
        <a:graphic>
          <a:graphicData uri="http://schemas.openxmlformats.org/drawingml/2006/table">
            <a:tbl>
              <a:tblPr firstRow="1" bandRow="1">
                <a:tableStyleId>{5C22544A-7EE6-4342-B048-85BDC9FD1C3A}</a:tableStyleId>
              </a:tblPr>
              <a:tblGrid>
                <a:gridCol w="455918">
                  <a:extLst>
                    <a:ext uri="{9D8B030D-6E8A-4147-A177-3AD203B41FA5}">
                      <a16:colId xmlns:a16="http://schemas.microsoft.com/office/drawing/2014/main" val="3668216324"/>
                    </a:ext>
                  </a:extLst>
                </a:gridCol>
                <a:gridCol w="335848">
                  <a:extLst>
                    <a:ext uri="{9D8B030D-6E8A-4147-A177-3AD203B41FA5}">
                      <a16:colId xmlns:a16="http://schemas.microsoft.com/office/drawing/2014/main" val="2242425082"/>
                    </a:ext>
                  </a:extLst>
                </a:gridCol>
              </a:tblGrid>
              <a:tr h="333261">
                <a:tc gridSpan="2">
                  <a:txBody>
                    <a:bodyPr/>
                    <a:lstStyle/>
                    <a:p>
                      <a:pPr algn="ctr"/>
                      <a:r>
                        <a:rPr lang="en-US" altLang="zh-CN" dirty="0"/>
                        <a:t>x</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1611289476"/>
                  </a:ext>
                </a:extLst>
              </a:tr>
              <a:tr h="337890">
                <a:tc gridSpan="2">
                  <a:txBody>
                    <a:bodyPr/>
                    <a:lstStyle/>
                    <a:p>
                      <a:pPr algn="ctr"/>
                      <a:r>
                        <a:rPr lang="en-US" altLang="zh-CN" dirty="0"/>
                        <a:t>Seq.</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03963192"/>
                  </a:ext>
                </a:extLst>
              </a:tr>
              <a:tr h="337890">
                <a:tc gridSpan="2">
                  <a:txBody>
                    <a:bodyPr/>
                    <a:lstStyle/>
                    <a:p>
                      <a:pPr algn="ctr"/>
                      <a:r>
                        <a:rPr lang="en-US" altLang="zh-CN" dirty="0"/>
                        <a:t>Age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3910417"/>
                  </a:ext>
                </a:extLst>
              </a:tr>
              <a:tr h="337890">
                <a:tc>
                  <a:txBody>
                    <a:bodyPr/>
                    <a:lstStyle/>
                    <a:p>
                      <a:pPr algn="ctr"/>
                      <a:r>
                        <a:rPr lang="en-US" altLang="zh-CN" dirty="0"/>
                        <a:t>u</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154610"/>
                  </a:ext>
                </a:extLst>
              </a:tr>
              <a:tr h="121920">
                <a:tc>
                  <a:txBody>
                    <a:bodyPr/>
                    <a:lstStyle/>
                    <a:p>
                      <a:pPr algn="ctr"/>
                      <a:r>
                        <a:rPr lang="en-US" altLang="zh-CN"/>
                        <a:t>v</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725734"/>
                  </a:ext>
                </a:extLst>
              </a:tr>
              <a:tr h="243840">
                <a:tc>
                  <a:txBody>
                    <a:bodyPr/>
                    <a:lstStyle/>
                    <a:p>
                      <a:pPr algn="ctr"/>
                      <a:r>
                        <a:rPr lang="en-US" altLang="zh-CN" dirty="0"/>
                        <a:t>w</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9127519"/>
                  </a:ext>
                </a:extLst>
              </a:tr>
              <a:tr h="121920">
                <a:tc>
                  <a:txBody>
                    <a:bodyPr/>
                    <a:lstStyle/>
                    <a:p>
                      <a:pPr algn="ctr"/>
                      <a:r>
                        <a:rPr lang="en-US" altLang="zh-CN" dirty="0"/>
                        <a:t>y</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20429735"/>
                  </a:ext>
                </a:extLst>
              </a:tr>
            </a:tbl>
          </a:graphicData>
        </a:graphic>
      </p:graphicFrame>
      <p:graphicFrame>
        <p:nvGraphicFramePr>
          <p:cNvPr id="132" name="表格 131"/>
          <p:cNvGraphicFramePr>
            <a:graphicFrameLocks noGrp="1"/>
          </p:cNvGraphicFramePr>
          <p:nvPr/>
        </p:nvGraphicFramePr>
        <p:xfrm>
          <a:off x="8880758" y="3839599"/>
          <a:ext cx="791766" cy="2194560"/>
        </p:xfrm>
        <a:graphic>
          <a:graphicData uri="http://schemas.openxmlformats.org/drawingml/2006/table">
            <a:tbl>
              <a:tblPr firstRow="1" bandRow="1">
                <a:tableStyleId>{5C22544A-7EE6-4342-B048-85BDC9FD1C3A}</a:tableStyleId>
              </a:tblPr>
              <a:tblGrid>
                <a:gridCol w="455918">
                  <a:extLst>
                    <a:ext uri="{9D8B030D-6E8A-4147-A177-3AD203B41FA5}">
                      <a16:colId xmlns:a16="http://schemas.microsoft.com/office/drawing/2014/main" val="3668216324"/>
                    </a:ext>
                  </a:extLst>
                </a:gridCol>
                <a:gridCol w="335848">
                  <a:extLst>
                    <a:ext uri="{9D8B030D-6E8A-4147-A177-3AD203B41FA5}">
                      <a16:colId xmlns:a16="http://schemas.microsoft.com/office/drawing/2014/main" val="2242425082"/>
                    </a:ext>
                  </a:extLst>
                </a:gridCol>
              </a:tblGrid>
              <a:tr h="333261">
                <a:tc gridSpan="2">
                  <a:txBody>
                    <a:bodyPr/>
                    <a:lstStyle/>
                    <a:p>
                      <a:pPr algn="ctr"/>
                      <a:r>
                        <a:rPr lang="en-US" altLang="zh-CN" dirty="0"/>
                        <a:t>y</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1611289476"/>
                  </a:ext>
                </a:extLst>
              </a:tr>
              <a:tr h="337890">
                <a:tc gridSpan="2">
                  <a:txBody>
                    <a:bodyPr/>
                    <a:lstStyle/>
                    <a:p>
                      <a:pPr algn="ctr"/>
                      <a:r>
                        <a:rPr lang="en-US" altLang="zh-CN" dirty="0"/>
                        <a:t>Seq.</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03963192"/>
                  </a:ext>
                </a:extLst>
              </a:tr>
              <a:tr h="337890">
                <a:tc gridSpan="2">
                  <a:txBody>
                    <a:bodyPr/>
                    <a:lstStyle/>
                    <a:p>
                      <a:pPr algn="ctr"/>
                      <a:r>
                        <a:rPr lang="en-US" altLang="zh-CN" dirty="0"/>
                        <a:t>Age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3910417"/>
                  </a:ext>
                </a:extLst>
              </a:tr>
              <a:tr h="337890">
                <a:tc>
                  <a:txBody>
                    <a:bodyPr/>
                    <a:lstStyle/>
                    <a:p>
                      <a:pPr algn="ctr"/>
                      <a:r>
                        <a:rPr lang="en-US" altLang="zh-CN" dirty="0"/>
                        <a:t>x</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154610"/>
                  </a:ext>
                </a:extLst>
              </a:tr>
              <a:tr h="182880">
                <a:tc>
                  <a:txBody>
                    <a:bodyPr/>
                    <a:lstStyle/>
                    <a:p>
                      <a:pPr algn="ctr"/>
                      <a:r>
                        <a:rPr lang="en-US" altLang="zh-CN" dirty="0"/>
                        <a:t>w</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725734"/>
                  </a:ext>
                </a:extLst>
              </a:tr>
              <a:tr h="182880">
                <a:tc>
                  <a:txBody>
                    <a:bodyPr/>
                    <a:lstStyle/>
                    <a:p>
                      <a:pPr algn="ctr"/>
                      <a:r>
                        <a:rPr lang="en-US" altLang="zh-CN" dirty="0"/>
                        <a:t>z</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3449950"/>
                  </a:ext>
                </a:extLst>
              </a:tr>
            </a:tbl>
          </a:graphicData>
        </a:graphic>
      </p:graphicFrame>
      <p:graphicFrame>
        <p:nvGraphicFramePr>
          <p:cNvPr id="133" name="表格 132"/>
          <p:cNvGraphicFramePr>
            <a:graphicFrameLocks noGrp="1"/>
          </p:cNvGraphicFramePr>
          <p:nvPr/>
        </p:nvGraphicFramePr>
        <p:xfrm>
          <a:off x="9989474" y="3839599"/>
          <a:ext cx="791766" cy="2926080"/>
        </p:xfrm>
        <a:graphic>
          <a:graphicData uri="http://schemas.openxmlformats.org/drawingml/2006/table">
            <a:tbl>
              <a:tblPr firstRow="1" bandRow="1">
                <a:tableStyleId>{5C22544A-7EE6-4342-B048-85BDC9FD1C3A}</a:tableStyleId>
              </a:tblPr>
              <a:tblGrid>
                <a:gridCol w="455918">
                  <a:extLst>
                    <a:ext uri="{9D8B030D-6E8A-4147-A177-3AD203B41FA5}">
                      <a16:colId xmlns:a16="http://schemas.microsoft.com/office/drawing/2014/main" val="3668216324"/>
                    </a:ext>
                  </a:extLst>
                </a:gridCol>
                <a:gridCol w="335848">
                  <a:extLst>
                    <a:ext uri="{9D8B030D-6E8A-4147-A177-3AD203B41FA5}">
                      <a16:colId xmlns:a16="http://schemas.microsoft.com/office/drawing/2014/main" val="2242425082"/>
                    </a:ext>
                  </a:extLst>
                </a:gridCol>
              </a:tblGrid>
              <a:tr h="333261">
                <a:tc gridSpan="2">
                  <a:txBody>
                    <a:bodyPr/>
                    <a:lstStyle/>
                    <a:p>
                      <a:pPr algn="ctr"/>
                      <a:r>
                        <a:rPr lang="en-US" altLang="zh-CN" dirty="0"/>
                        <a:t>w</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1611289476"/>
                  </a:ext>
                </a:extLst>
              </a:tr>
              <a:tr h="337890">
                <a:tc gridSpan="2">
                  <a:txBody>
                    <a:bodyPr/>
                    <a:lstStyle/>
                    <a:p>
                      <a:pPr algn="ctr"/>
                      <a:r>
                        <a:rPr lang="en-US" altLang="zh-CN" dirty="0"/>
                        <a:t>Seq.</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03963192"/>
                  </a:ext>
                </a:extLst>
              </a:tr>
              <a:tr h="337890">
                <a:tc gridSpan="2">
                  <a:txBody>
                    <a:bodyPr/>
                    <a:lstStyle/>
                    <a:p>
                      <a:pPr algn="ctr"/>
                      <a:r>
                        <a:rPr lang="en-US" altLang="zh-CN" dirty="0"/>
                        <a:t>Age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3910417"/>
                  </a:ext>
                </a:extLst>
              </a:tr>
              <a:tr h="337890">
                <a:tc>
                  <a:txBody>
                    <a:bodyPr/>
                    <a:lstStyle/>
                    <a:p>
                      <a:pPr algn="ctr"/>
                      <a:r>
                        <a:rPr lang="en-US" altLang="zh-CN" dirty="0"/>
                        <a:t>u</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154610"/>
                  </a:ext>
                </a:extLst>
              </a:tr>
              <a:tr h="0">
                <a:tc>
                  <a:txBody>
                    <a:bodyPr/>
                    <a:lstStyle/>
                    <a:p>
                      <a:pPr algn="ctr"/>
                      <a:r>
                        <a:rPr lang="en-US" altLang="zh-CN" dirty="0"/>
                        <a:t>v</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725734"/>
                  </a:ext>
                </a:extLst>
              </a:tr>
              <a:tr h="274320">
                <a:tc>
                  <a:txBody>
                    <a:bodyPr/>
                    <a:lstStyle/>
                    <a:p>
                      <a:pPr algn="ctr"/>
                      <a:r>
                        <a:rPr lang="en-US" altLang="zh-CN" dirty="0"/>
                        <a:t>x</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3</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8368547"/>
                  </a:ext>
                </a:extLst>
              </a:tr>
              <a:tr h="182880">
                <a:tc>
                  <a:txBody>
                    <a:bodyPr/>
                    <a:lstStyle/>
                    <a:p>
                      <a:pPr algn="ctr"/>
                      <a:r>
                        <a:rPr lang="en-US" altLang="zh-CN" dirty="0"/>
                        <a:t>y</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1</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2586880"/>
                  </a:ext>
                </a:extLst>
              </a:tr>
              <a:tr h="0">
                <a:tc>
                  <a:txBody>
                    <a:bodyPr/>
                    <a:lstStyle/>
                    <a:p>
                      <a:pPr algn="ctr"/>
                      <a:r>
                        <a:rPr lang="en-US" altLang="zh-CN" dirty="0"/>
                        <a:t>z</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2939242"/>
                  </a:ext>
                </a:extLst>
              </a:tr>
            </a:tbl>
          </a:graphicData>
        </a:graphic>
      </p:graphicFrame>
      <p:grpSp>
        <p:nvGrpSpPr>
          <p:cNvPr id="4" name="组合 81">
            <a:extLst>
              <a:ext uri="{FF2B5EF4-FFF2-40B4-BE49-F238E27FC236}">
                <a16:creationId xmlns:a16="http://schemas.microsoft.com/office/drawing/2014/main" id="{1CDCC7D2-5A58-40F6-A980-4F5687D50887}"/>
              </a:ext>
            </a:extLst>
          </p:cNvPr>
          <p:cNvGrpSpPr>
            <a:grpSpLocks/>
          </p:cNvGrpSpPr>
          <p:nvPr/>
        </p:nvGrpSpPr>
        <p:grpSpPr bwMode="auto">
          <a:xfrm>
            <a:off x="2395936" y="3972650"/>
            <a:ext cx="3093647" cy="1766001"/>
            <a:chOff x="5019675" y="1700213"/>
            <a:chExt cx="3571875" cy="2241707"/>
          </a:xfrm>
        </p:grpSpPr>
        <p:sp>
          <p:nvSpPr>
            <p:cNvPr id="135" name="Freeform 9">
              <a:extLst>
                <a:ext uri="{FF2B5EF4-FFF2-40B4-BE49-F238E27FC236}">
                  <a16:creationId xmlns:a16="http://schemas.microsoft.com/office/drawing/2014/main" id="{9563830B-C2F9-4BBC-BA91-BAF438E67F1A}"/>
                </a:ext>
              </a:extLst>
            </p:cNvPr>
            <p:cNvSpPr>
              <a:spLocks/>
            </p:cNvSpPr>
            <p:nvPr/>
          </p:nvSpPr>
          <p:spPr bwMode="auto">
            <a:xfrm>
              <a:off x="5019675" y="1700213"/>
              <a:ext cx="3571875" cy="2236787"/>
            </a:xfrm>
            <a:custGeom>
              <a:avLst/>
              <a:gdLst>
                <a:gd name="T0" fmla="*/ 0 w 2250"/>
                <a:gd name="T1" fmla="*/ 2147483646 h 1409"/>
                <a:gd name="T2" fmla="*/ 2147483646 w 2250"/>
                <a:gd name="T3" fmla="*/ 2147483646 h 1409"/>
                <a:gd name="T4" fmla="*/ 2147483646 w 2250"/>
                <a:gd name="T5" fmla="*/ 2147483646 h 1409"/>
                <a:gd name="T6" fmla="*/ 2147483646 w 2250"/>
                <a:gd name="T7" fmla="*/ 2147483646 h 1409"/>
                <a:gd name="T8" fmla="*/ 2147483646 w 2250"/>
                <a:gd name="T9" fmla="*/ 2147483646 h 1409"/>
                <a:gd name="T10" fmla="*/ 2147483646 w 2250"/>
                <a:gd name="T11" fmla="*/ 2147483646 h 1409"/>
                <a:gd name="T12" fmla="*/ 2147483646 w 2250"/>
                <a:gd name="T13" fmla="*/ 2147483646 h 1409"/>
                <a:gd name="T14" fmla="*/ 2147483646 w 2250"/>
                <a:gd name="T15" fmla="*/ 2147483646 h 1409"/>
                <a:gd name="T16" fmla="*/ 2147483646 w 2250"/>
                <a:gd name="T17" fmla="*/ 2147483646 h 1409"/>
                <a:gd name="T18" fmla="*/ 2147483646 w 2250"/>
                <a:gd name="T19" fmla="*/ 2147483646 h 1409"/>
                <a:gd name="T20" fmla="*/ 0 w 2250"/>
                <a:gd name="T21" fmla="*/ 2147483646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sz="1400">
                <a:solidFill>
                  <a:schemeClr val="bg1"/>
                </a:solidFill>
              </a:endParaRPr>
            </a:p>
          </p:txBody>
        </p:sp>
        <p:sp>
          <p:nvSpPr>
            <p:cNvPr id="136" name="Freeform 10">
              <a:extLst>
                <a:ext uri="{FF2B5EF4-FFF2-40B4-BE49-F238E27FC236}">
                  <a16:creationId xmlns:a16="http://schemas.microsoft.com/office/drawing/2014/main" id="{63DAD518-4AE3-4C07-B0E2-2D78C597B388}"/>
                </a:ext>
              </a:extLst>
            </p:cNvPr>
            <p:cNvSpPr>
              <a:spLocks/>
            </p:cNvSpPr>
            <p:nvPr/>
          </p:nvSpPr>
          <p:spPr bwMode="auto">
            <a:xfrm>
              <a:off x="5553075" y="2571750"/>
              <a:ext cx="542925" cy="295275"/>
            </a:xfrm>
            <a:custGeom>
              <a:avLst/>
              <a:gdLst>
                <a:gd name="T0" fmla="*/ 0 w 342"/>
                <a:gd name="T1" fmla="*/ 2147483646 h 186"/>
                <a:gd name="T2" fmla="*/ 2147483646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sp>
          <p:nvSpPr>
            <p:cNvPr id="137" name="Oval 11">
              <a:extLst>
                <a:ext uri="{FF2B5EF4-FFF2-40B4-BE49-F238E27FC236}">
                  <a16:creationId xmlns:a16="http://schemas.microsoft.com/office/drawing/2014/main" id="{8D8F1EC7-B064-4198-969D-56D1E2A57601}"/>
                </a:ext>
              </a:extLst>
            </p:cNvPr>
            <p:cNvSpPr>
              <a:spLocks noChangeArrowheads="1"/>
            </p:cNvSpPr>
            <p:nvPr/>
          </p:nvSpPr>
          <p:spPr bwMode="auto">
            <a:xfrm>
              <a:off x="5140325" y="2955925"/>
              <a:ext cx="496888" cy="128588"/>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38" name="Line 12">
              <a:extLst>
                <a:ext uri="{FF2B5EF4-FFF2-40B4-BE49-F238E27FC236}">
                  <a16:creationId xmlns:a16="http://schemas.microsoft.com/office/drawing/2014/main" id="{29B86103-C7DA-4D84-B8BC-157FFDEC2439}"/>
                </a:ext>
              </a:extLst>
            </p:cNvPr>
            <p:cNvSpPr>
              <a:spLocks noChangeShapeType="1"/>
            </p:cNvSpPr>
            <p:nvPr/>
          </p:nvSpPr>
          <p:spPr bwMode="auto">
            <a:xfrm>
              <a:off x="5140325" y="29448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39" name="Line 13">
              <a:extLst>
                <a:ext uri="{FF2B5EF4-FFF2-40B4-BE49-F238E27FC236}">
                  <a16:creationId xmlns:a16="http://schemas.microsoft.com/office/drawing/2014/main" id="{6384D352-D754-4707-B5FB-4F3D53FD5205}"/>
                </a:ext>
              </a:extLst>
            </p:cNvPr>
            <p:cNvSpPr>
              <a:spLocks noChangeShapeType="1"/>
            </p:cNvSpPr>
            <p:nvPr/>
          </p:nvSpPr>
          <p:spPr bwMode="auto">
            <a:xfrm>
              <a:off x="5637213" y="29448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40" name="Rectangle 14">
              <a:extLst>
                <a:ext uri="{FF2B5EF4-FFF2-40B4-BE49-F238E27FC236}">
                  <a16:creationId xmlns:a16="http://schemas.microsoft.com/office/drawing/2014/main" id="{8694A2B7-A797-40E9-B900-A6C3A44D2714}"/>
                </a:ext>
              </a:extLst>
            </p:cNvPr>
            <p:cNvSpPr>
              <a:spLocks noChangeArrowheads="1"/>
            </p:cNvSpPr>
            <p:nvPr/>
          </p:nvSpPr>
          <p:spPr bwMode="auto">
            <a:xfrm>
              <a:off x="5140325" y="29448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1400">
                <a:solidFill>
                  <a:schemeClr val="bg1"/>
                </a:solidFill>
              </a:endParaRPr>
            </a:p>
          </p:txBody>
        </p:sp>
        <p:sp>
          <p:nvSpPr>
            <p:cNvPr id="141" name="Oval 15">
              <a:extLst>
                <a:ext uri="{FF2B5EF4-FFF2-40B4-BE49-F238E27FC236}">
                  <a16:creationId xmlns:a16="http://schemas.microsoft.com/office/drawing/2014/main" id="{8FB79A0A-8387-4B36-A488-E0CE7269228F}"/>
                </a:ext>
              </a:extLst>
            </p:cNvPr>
            <p:cNvSpPr>
              <a:spLocks noChangeArrowheads="1"/>
            </p:cNvSpPr>
            <p:nvPr/>
          </p:nvSpPr>
          <p:spPr bwMode="auto">
            <a:xfrm>
              <a:off x="5135563" y="2851150"/>
              <a:ext cx="496887" cy="1508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42" name="Oval 16">
              <a:extLst>
                <a:ext uri="{FF2B5EF4-FFF2-40B4-BE49-F238E27FC236}">
                  <a16:creationId xmlns:a16="http://schemas.microsoft.com/office/drawing/2014/main" id="{615F623D-47A6-44FF-8A6C-167590C80B63}"/>
                </a:ext>
              </a:extLst>
            </p:cNvPr>
            <p:cNvSpPr>
              <a:spLocks noChangeArrowheads="1"/>
            </p:cNvSpPr>
            <p:nvPr/>
          </p:nvSpPr>
          <p:spPr bwMode="auto">
            <a:xfrm>
              <a:off x="5892800" y="3570288"/>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43" name="Line 17">
              <a:extLst>
                <a:ext uri="{FF2B5EF4-FFF2-40B4-BE49-F238E27FC236}">
                  <a16:creationId xmlns:a16="http://schemas.microsoft.com/office/drawing/2014/main" id="{CF88C94D-F1DB-4D5D-9E49-2DADBC088987}"/>
                </a:ext>
              </a:extLst>
            </p:cNvPr>
            <p:cNvSpPr>
              <a:spLocks noChangeShapeType="1"/>
            </p:cNvSpPr>
            <p:nvPr/>
          </p:nvSpPr>
          <p:spPr bwMode="auto">
            <a:xfrm>
              <a:off x="5892800" y="35591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44" name="Line 18">
              <a:extLst>
                <a:ext uri="{FF2B5EF4-FFF2-40B4-BE49-F238E27FC236}">
                  <a16:creationId xmlns:a16="http://schemas.microsoft.com/office/drawing/2014/main" id="{DEC070C4-BA2A-4C7A-A971-3C19B7EA1615}"/>
                </a:ext>
              </a:extLst>
            </p:cNvPr>
            <p:cNvSpPr>
              <a:spLocks noChangeShapeType="1"/>
            </p:cNvSpPr>
            <p:nvPr/>
          </p:nvSpPr>
          <p:spPr bwMode="auto">
            <a:xfrm>
              <a:off x="6389688" y="35591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45" name="Rectangle 19">
              <a:extLst>
                <a:ext uri="{FF2B5EF4-FFF2-40B4-BE49-F238E27FC236}">
                  <a16:creationId xmlns:a16="http://schemas.microsoft.com/office/drawing/2014/main" id="{92CD3760-C7ED-40C1-BB5C-B4353D11DD42}"/>
                </a:ext>
              </a:extLst>
            </p:cNvPr>
            <p:cNvSpPr>
              <a:spLocks noChangeArrowheads="1"/>
            </p:cNvSpPr>
            <p:nvPr/>
          </p:nvSpPr>
          <p:spPr bwMode="auto">
            <a:xfrm>
              <a:off x="5892800" y="3559175"/>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1400">
                <a:solidFill>
                  <a:schemeClr val="bg1"/>
                </a:solidFill>
              </a:endParaRPr>
            </a:p>
          </p:txBody>
        </p:sp>
        <p:sp>
          <p:nvSpPr>
            <p:cNvPr id="146" name="Oval 20">
              <a:extLst>
                <a:ext uri="{FF2B5EF4-FFF2-40B4-BE49-F238E27FC236}">
                  <a16:creationId xmlns:a16="http://schemas.microsoft.com/office/drawing/2014/main" id="{C4A3CF8F-BB0F-42F3-82FC-4A51D745EA9F}"/>
                </a:ext>
              </a:extLst>
            </p:cNvPr>
            <p:cNvSpPr>
              <a:spLocks noChangeArrowheads="1"/>
            </p:cNvSpPr>
            <p:nvPr/>
          </p:nvSpPr>
          <p:spPr bwMode="auto">
            <a:xfrm>
              <a:off x="5888038" y="3465513"/>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47" name="Oval 21">
              <a:extLst>
                <a:ext uri="{FF2B5EF4-FFF2-40B4-BE49-F238E27FC236}">
                  <a16:creationId xmlns:a16="http://schemas.microsoft.com/office/drawing/2014/main" id="{D7A00CFF-9B28-4F20-9782-35912710014F}"/>
                </a:ext>
              </a:extLst>
            </p:cNvPr>
            <p:cNvSpPr>
              <a:spLocks noChangeArrowheads="1"/>
            </p:cNvSpPr>
            <p:nvPr/>
          </p:nvSpPr>
          <p:spPr bwMode="auto">
            <a:xfrm>
              <a:off x="5886450" y="2474913"/>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48" name="Line 22">
              <a:extLst>
                <a:ext uri="{FF2B5EF4-FFF2-40B4-BE49-F238E27FC236}">
                  <a16:creationId xmlns:a16="http://schemas.microsoft.com/office/drawing/2014/main" id="{77F15A57-C991-41FC-9B02-0F89C36A2D0F}"/>
                </a:ext>
              </a:extLst>
            </p:cNvPr>
            <p:cNvSpPr>
              <a:spLocks noChangeShapeType="1"/>
            </p:cNvSpPr>
            <p:nvPr/>
          </p:nvSpPr>
          <p:spPr bwMode="auto">
            <a:xfrm>
              <a:off x="5886450" y="246380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49" name="Line 23">
              <a:extLst>
                <a:ext uri="{FF2B5EF4-FFF2-40B4-BE49-F238E27FC236}">
                  <a16:creationId xmlns:a16="http://schemas.microsoft.com/office/drawing/2014/main" id="{9F7FB95F-699C-42D3-B0BD-738FE1008E8B}"/>
                </a:ext>
              </a:extLst>
            </p:cNvPr>
            <p:cNvSpPr>
              <a:spLocks noChangeShapeType="1"/>
            </p:cNvSpPr>
            <p:nvPr/>
          </p:nvSpPr>
          <p:spPr bwMode="auto">
            <a:xfrm>
              <a:off x="6383338" y="246380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50" name="Rectangle 24">
              <a:extLst>
                <a:ext uri="{FF2B5EF4-FFF2-40B4-BE49-F238E27FC236}">
                  <a16:creationId xmlns:a16="http://schemas.microsoft.com/office/drawing/2014/main" id="{10BE7DA2-3226-4259-9427-0218C3E21FD9}"/>
                </a:ext>
              </a:extLst>
            </p:cNvPr>
            <p:cNvSpPr>
              <a:spLocks noChangeArrowheads="1"/>
            </p:cNvSpPr>
            <p:nvPr/>
          </p:nvSpPr>
          <p:spPr bwMode="auto">
            <a:xfrm>
              <a:off x="5886450" y="2463800"/>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1400">
                <a:solidFill>
                  <a:schemeClr val="bg1"/>
                </a:solidFill>
              </a:endParaRPr>
            </a:p>
          </p:txBody>
        </p:sp>
        <p:sp>
          <p:nvSpPr>
            <p:cNvPr id="151" name="Oval 25">
              <a:extLst>
                <a:ext uri="{FF2B5EF4-FFF2-40B4-BE49-F238E27FC236}">
                  <a16:creationId xmlns:a16="http://schemas.microsoft.com/office/drawing/2014/main" id="{35EF89BB-D26B-49DA-BF9C-0794954F26D9}"/>
                </a:ext>
              </a:extLst>
            </p:cNvPr>
            <p:cNvSpPr>
              <a:spLocks noChangeArrowheads="1"/>
            </p:cNvSpPr>
            <p:nvPr/>
          </p:nvSpPr>
          <p:spPr bwMode="auto">
            <a:xfrm>
              <a:off x="5881688" y="2370138"/>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52" name="Oval 26">
              <a:extLst>
                <a:ext uri="{FF2B5EF4-FFF2-40B4-BE49-F238E27FC236}">
                  <a16:creationId xmlns:a16="http://schemas.microsoft.com/office/drawing/2014/main" id="{BF10A536-A17F-4858-999A-15D6E0DDD1A4}"/>
                </a:ext>
              </a:extLst>
            </p:cNvPr>
            <p:cNvSpPr>
              <a:spLocks noChangeArrowheads="1"/>
            </p:cNvSpPr>
            <p:nvPr/>
          </p:nvSpPr>
          <p:spPr bwMode="auto">
            <a:xfrm>
              <a:off x="6970713" y="2468563"/>
              <a:ext cx="495300"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53" name="Line 27">
              <a:extLst>
                <a:ext uri="{FF2B5EF4-FFF2-40B4-BE49-F238E27FC236}">
                  <a16:creationId xmlns:a16="http://schemas.microsoft.com/office/drawing/2014/main" id="{EC40F1C8-6CEF-4D96-9774-AECB2B202FAD}"/>
                </a:ext>
              </a:extLst>
            </p:cNvPr>
            <p:cNvSpPr>
              <a:spLocks noChangeShapeType="1"/>
            </p:cNvSpPr>
            <p:nvPr/>
          </p:nvSpPr>
          <p:spPr bwMode="auto">
            <a:xfrm>
              <a:off x="6970713" y="245745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54" name="Line 28">
              <a:extLst>
                <a:ext uri="{FF2B5EF4-FFF2-40B4-BE49-F238E27FC236}">
                  <a16:creationId xmlns:a16="http://schemas.microsoft.com/office/drawing/2014/main" id="{28B94BA9-B139-4E94-B9D0-BE551636EA38}"/>
                </a:ext>
              </a:extLst>
            </p:cNvPr>
            <p:cNvSpPr>
              <a:spLocks noChangeShapeType="1"/>
            </p:cNvSpPr>
            <p:nvPr/>
          </p:nvSpPr>
          <p:spPr bwMode="auto">
            <a:xfrm>
              <a:off x="7466013" y="245745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55" name="Rectangle 29">
              <a:extLst>
                <a:ext uri="{FF2B5EF4-FFF2-40B4-BE49-F238E27FC236}">
                  <a16:creationId xmlns:a16="http://schemas.microsoft.com/office/drawing/2014/main" id="{F3329844-0B9E-4C95-8CA2-CE86E0E1DF70}"/>
                </a:ext>
              </a:extLst>
            </p:cNvPr>
            <p:cNvSpPr>
              <a:spLocks noChangeArrowheads="1"/>
            </p:cNvSpPr>
            <p:nvPr/>
          </p:nvSpPr>
          <p:spPr bwMode="auto">
            <a:xfrm>
              <a:off x="6970713" y="2457450"/>
              <a:ext cx="490537"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1400">
                <a:solidFill>
                  <a:schemeClr val="bg1"/>
                </a:solidFill>
              </a:endParaRPr>
            </a:p>
          </p:txBody>
        </p:sp>
        <p:sp>
          <p:nvSpPr>
            <p:cNvPr id="156" name="Oval 30">
              <a:extLst>
                <a:ext uri="{FF2B5EF4-FFF2-40B4-BE49-F238E27FC236}">
                  <a16:creationId xmlns:a16="http://schemas.microsoft.com/office/drawing/2014/main" id="{6903EED8-378B-4F56-9323-E807AFF75244}"/>
                </a:ext>
              </a:extLst>
            </p:cNvPr>
            <p:cNvSpPr>
              <a:spLocks noChangeArrowheads="1"/>
            </p:cNvSpPr>
            <p:nvPr/>
          </p:nvSpPr>
          <p:spPr bwMode="auto">
            <a:xfrm>
              <a:off x="6975475" y="2368550"/>
              <a:ext cx="495300" cy="1508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57" name="Oval 31">
              <a:extLst>
                <a:ext uri="{FF2B5EF4-FFF2-40B4-BE49-F238E27FC236}">
                  <a16:creationId xmlns:a16="http://schemas.microsoft.com/office/drawing/2014/main" id="{AB47FD70-D305-4538-8EEC-92FD26C3510A}"/>
                </a:ext>
              </a:extLst>
            </p:cNvPr>
            <p:cNvSpPr>
              <a:spLocks noChangeArrowheads="1"/>
            </p:cNvSpPr>
            <p:nvPr/>
          </p:nvSpPr>
          <p:spPr bwMode="auto">
            <a:xfrm>
              <a:off x="6986588" y="3565525"/>
              <a:ext cx="496887" cy="128588"/>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58" name="Line 32">
              <a:extLst>
                <a:ext uri="{FF2B5EF4-FFF2-40B4-BE49-F238E27FC236}">
                  <a16:creationId xmlns:a16="http://schemas.microsoft.com/office/drawing/2014/main" id="{CD546D9D-AA06-4E51-A3E5-29383E451071}"/>
                </a:ext>
              </a:extLst>
            </p:cNvPr>
            <p:cNvSpPr>
              <a:spLocks noChangeShapeType="1"/>
            </p:cNvSpPr>
            <p:nvPr/>
          </p:nvSpPr>
          <p:spPr bwMode="auto">
            <a:xfrm>
              <a:off x="6986588" y="35544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59" name="Line 33">
              <a:extLst>
                <a:ext uri="{FF2B5EF4-FFF2-40B4-BE49-F238E27FC236}">
                  <a16:creationId xmlns:a16="http://schemas.microsoft.com/office/drawing/2014/main" id="{3930AF53-574B-470D-847E-7BD79F74E27D}"/>
                </a:ext>
              </a:extLst>
            </p:cNvPr>
            <p:cNvSpPr>
              <a:spLocks noChangeShapeType="1"/>
            </p:cNvSpPr>
            <p:nvPr/>
          </p:nvSpPr>
          <p:spPr bwMode="auto">
            <a:xfrm>
              <a:off x="7483475" y="35544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60" name="Rectangle 34">
              <a:extLst>
                <a:ext uri="{FF2B5EF4-FFF2-40B4-BE49-F238E27FC236}">
                  <a16:creationId xmlns:a16="http://schemas.microsoft.com/office/drawing/2014/main" id="{C3673E88-9A20-4D7D-A692-ECFFAF59F687}"/>
                </a:ext>
              </a:extLst>
            </p:cNvPr>
            <p:cNvSpPr>
              <a:spLocks noChangeArrowheads="1"/>
            </p:cNvSpPr>
            <p:nvPr/>
          </p:nvSpPr>
          <p:spPr bwMode="auto">
            <a:xfrm>
              <a:off x="6986588" y="35544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1400">
                <a:solidFill>
                  <a:schemeClr val="bg1"/>
                </a:solidFill>
              </a:endParaRPr>
            </a:p>
          </p:txBody>
        </p:sp>
        <p:sp>
          <p:nvSpPr>
            <p:cNvPr id="161" name="Oval 35">
              <a:extLst>
                <a:ext uri="{FF2B5EF4-FFF2-40B4-BE49-F238E27FC236}">
                  <a16:creationId xmlns:a16="http://schemas.microsoft.com/office/drawing/2014/main" id="{CA06EEF7-783A-4648-916F-A56112ECA512}"/>
                </a:ext>
              </a:extLst>
            </p:cNvPr>
            <p:cNvSpPr>
              <a:spLocks noChangeArrowheads="1"/>
            </p:cNvSpPr>
            <p:nvPr/>
          </p:nvSpPr>
          <p:spPr bwMode="auto">
            <a:xfrm>
              <a:off x="6981825" y="3460750"/>
              <a:ext cx="496888" cy="1508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62" name="Oval 36">
              <a:extLst>
                <a:ext uri="{FF2B5EF4-FFF2-40B4-BE49-F238E27FC236}">
                  <a16:creationId xmlns:a16="http://schemas.microsoft.com/office/drawing/2014/main" id="{D6ADA16F-A52C-4A45-884C-12B7405609E6}"/>
                </a:ext>
              </a:extLst>
            </p:cNvPr>
            <p:cNvSpPr>
              <a:spLocks noChangeArrowheads="1"/>
            </p:cNvSpPr>
            <p:nvPr/>
          </p:nvSpPr>
          <p:spPr bwMode="auto">
            <a:xfrm>
              <a:off x="7883525" y="3024188"/>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63" name="Line 37">
              <a:extLst>
                <a:ext uri="{FF2B5EF4-FFF2-40B4-BE49-F238E27FC236}">
                  <a16:creationId xmlns:a16="http://schemas.microsoft.com/office/drawing/2014/main" id="{1E5104F5-B91F-4CBD-9841-C8508C7DC589}"/>
                </a:ext>
              </a:extLst>
            </p:cNvPr>
            <p:cNvSpPr>
              <a:spLocks noChangeShapeType="1"/>
            </p:cNvSpPr>
            <p:nvPr/>
          </p:nvSpPr>
          <p:spPr bwMode="auto">
            <a:xfrm>
              <a:off x="7883525" y="30130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64" name="Line 38">
              <a:extLst>
                <a:ext uri="{FF2B5EF4-FFF2-40B4-BE49-F238E27FC236}">
                  <a16:creationId xmlns:a16="http://schemas.microsoft.com/office/drawing/2014/main" id="{5AA58719-243D-4635-899F-3BE89D775617}"/>
                </a:ext>
              </a:extLst>
            </p:cNvPr>
            <p:cNvSpPr>
              <a:spLocks noChangeShapeType="1"/>
            </p:cNvSpPr>
            <p:nvPr/>
          </p:nvSpPr>
          <p:spPr bwMode="auto">
            <a:xfrm>
              <a:off x="8380413" y="30130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sz="1400">
                <a:solidFill>
                  <a:schemeClr val="bg1"/>
                </a:solidFill>
              </a:endParaRPr>
            </a:p>
          </p:txBody>
        </p:sp>
        <p:sp>
          <p:nvSpPr>
            <p:cNvPr id="165" name="Rectangle 39">
              <a:extLst>
                <a:ext uri="{FF2B5EF4-FFF2-40B4-BE49-F238E27FC236}">
                  <a16:creationId xmlns:a16="http://schemas.microsoft.com/office/drawing/2014/main" id="{3C103B56-D680-4284-87BA-48B1AE7108D2}"/>
                </a:ext>
              </a:extLst>
            </p:cNvPr>
            <p:cNvSpPr>
              <a:spLocks noChangeArrowheads="1"/>
            </p:cNvSpPr>
            <p:nvPr/>
          </p:nvSpPr>
          <p:spPr bwMode="auto">
            <a:xfrm>
              <a:off x="7883525" y="3013075"/>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1400">
                <a:solidFill>
                  <a:schemeClr val="bg1"/>
                </a:solidFill>
              </a:endParaRPr>
            </a:p>
          </p:txBody>
        </p:sp>
        <p:sp>
          <p:nvSpPr>
            <p:cNvPr id="166" name="Oval 40">
              <a:extLst>
                <a:ext uri="{FF2B5EF4-FFF2-40B4-BE49-F238E27FC236}">
                  <a16:creationId xmlns:a16="http://schemas.microsoft.com/office/drawing/2014/main" id="{E4478978-19E3-4596-9465-18A7A02734E3}"/>
                </a:ext>
              </a:extLst>
            </p:cNvPr>
            <p:cNvSpPr>
              <a:spLocks noChangeArrowheads="1"/>
            </p:cNvSpPr>
            <p:nvPr/>
          </p:nvSpPr>
          <p:spPr bwMode="auto">
            <a:xfrm>
              <a:off x="7878763" y="2919413"/>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67" name="Freeform 41">
              <a:extLst>
                <a:ext uri="{FF2B5EF4-FFF2-40B4-BE49-F238E27FC236}">
                  <a16:creationId xmlns:a16="http://schemas.microsoft.com/office/drawing/2014/main" id="{0EDDEAEA-14FB-46F8-8AF6-E3AB5F4CA15F}"/>
                </a:ext>
              </a:extLst>
            </p:cNvPr>
            <p:cNvSpPr>
              <a:spLocks/>
            </p:cNvSpPr>
            <p:nvPr/>
          </p:nvSpPr>
          <p:spPr bwMode="auto">
            <a:xfrm>
              <a:off x="7234238" y="2614613"/>
              <a:ext cx="1587" cy="828675"/>
            </a:xfrm>
            <a:custGeom>
              <a:avLst/>
              <a:gdLst>
                <a:gd name="T0" fmla="*/ 0 w 1"/>
                <a:gd name="T1" fmla="*/ 0 h 522"/>
                <a:gd name="T2" fmla="*/ 0 w 1"/>
                <a:gd name="T3" fmla="*/ 2147483646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sp>
          <p:nvSpPr>
            <p:cNvPr id="168" name="Freeform 42">
              <a:extLst>
                <a:ext uri="{FF2B5EF4-FFF2-40B4-BE49-F238E27FC236}">
                  <a16:creationId xmlns:a16="http://schemas.microsoft.com/office/drawing/2014/main" id="{FFAE69DE-E4FD-4BA3-A633-82A2333BE715}"/>
                </a:ext>
              </a:extLst>
            </p:cNvPr>
            <p:cNvSpPr>
              <a:spLocks/>
            </p:cNvSpPr>
            <p:nvPr/>
          </p:nvSpPr>
          <p:spPr bwMode="auto">
            <a:xfrm>
              <a:off x="6134100" y="2624138"/>
              <a:ext cx="1588" cy="852487"/>
            </a:xfrm>
            <a:custGeom>
              <a:avLst/>
              <a:gdLst>
                <a:gd name="T0" fmla="*/ 0 w 1"/>
                <a:gd name="T1" fmla="*/ 0 h 537"/>
                <a:gd name="T2" fmla="*/ 0 w 1"/>
                <a:gd name="T3" fmla="*/ 2147483646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sp>
          <p:nvSpPr>
            <p:cNvPr id="169" name="Freeform 43">
              <a:extLst>
                <a:ext uri="{FF2B5EF4-FFF2-40B4-BE49-F238E27FC236}">
                  <a16:creationId xmlns:a16="http://schemas.microsoft.com/office/drawing/2014/main" id="{F179F000-C297-416A-9EEC-0CA76441C48A}"/>
                </a:ext>
              </a:extLst>
            </p:cNvPr>
            <p:cNvSpPr>
              <a:spLocks/>
            </p:cNvSpPr>
            <p:nvPr/>
          </p:nvSpPr>
          <p:spPr bwMode="auto">
            <a:xfrm>
              <a:off x="6396038" y="2600325"/>
              <a:ext cx="800100" cy="952500"/>
            </a:xfrm>
            <a:custGeom>
              <a:avLst/>
              <a:gdLst>
                <a:gd name="T0" fmla="*/ 0 w 378"/>
                <a:gd name="T1" fmla="*/ 2147483646 h 174"/>
                <a:gd name="T2" fmla="*/ 214748364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sp>
          <p:nvSpPr>
            <p:cNvPr id="170" name="Freeform 44">
              <a:extLst>
                <a:ext uri="{FF2B5EF4-FFF2-40B4-BE49-F238E27FC236}">
                  <a16:creationId xmlns:a16="http://schemas.microsoft.com/office/drawing/2014/main" id="{FB84210E-76CC-4D73-86D4-3F92606C11C8}"/>
                </a:ext>
              </a:extLst>
            </p:cNvPr>
            <p:cNvSpPr>
              <a:spLocks/>
            </p:cNvSpPr>
            <p:nvPr/>
          </p:nvSpPr>
          <p:spPr bwMode="auto">
            <a:xfrm>
              <a:off x="7486650" y="3152775"/>
              <a:ext cx="581025" cy="428625"/>
            </a:xfrm>
            <a:custGeom>
              <a:avLst/>
              <a:gdLst>
                <a:gd name="T0" fmla="*/ 0 w 366"/>
                <a:gd name="T1" fmla="*/ 2147483646 h 270"/>
                <a:gd name="T2" fmla="*/ 214748364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sp>
          <p:nvSpPr>
            <p:cNvPr id="171" name="Freeform 45">
              <a:extLst>
                <a:ext uri="{FF2B5EF4-FFF2-40B4-BE49-F238E27FC236}">
                  <a16:creationId xmlns:a16="http://schemas.microsoft.com/office/drawing/2014/main" id="{D4068205-CA0D-4DC0-A5D7-922F26FCFA7D}"/>
                </a:ext>
              </a:extLst>
            </p:cNvPr>
            <p:cNvSpPr>
              <a:spLocks/>
            </p:cNvSpPr>
            <p:nvPr/>
          </p:nvSpPr>
          <p:spPr bwMode="auto">
            <a:xfrm>
              <a:off x="6405563" y="3600450"/>
              <a:ext cx="581025" cy="1588"/>
            </a:xfrm>
            <a:custGeom>
              <a:avLst/>
              <a:gdLst>
                <a:gd name="T0" fmla="*/ 214748364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sp>
          <p:nvSpPr>
            <p:cNvPr id="172" name="Freeform 46">
              <a:extLst>
                <a:ext uri="{FF2B5EF4-FFF2-40B4-BE49-F238E27FC236}">
                  <a16:creationId xmlns:a16="http://schemas.microsoft.com/office/drawing/2014/main" id="{D16452AD-7E57-4722-9319-1A4E00893358}"/>
                </a:ext>
              </a:extLst>
            </p:cNvPr>
            <p:cNvSpPr>
              <a:spLocks/>
            </p:cNvSpPr>
            <p:nvPr/>
          </p:nvSpPr>
          <p:spPr bwMode="auto">
            <a:xfrm>
              <a:off x="5467350" y="3086100"/>
              <a:ext cx="438150" cy="419100"/>
            </a:xfrm>
            <a:custGeom>
              <a:avLst/>
              <a:gdLst>
                <a:gd name="T0" fmla="*/ 2147483646 w 276"/>
                <a:gd name="T1" fmla="*/ 2147483646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sp>
          <p:nvSpPr>
            <p:cNvPr id="173" name="Freeform 47">
              <a:extLst>
                <a:ext uri="{FF2B5EF4-FFF2-40B4-BE49-F238E27FC236}">
                  <a16:creationId xmlns:a16="http://schemas.microsoft.com/office/drawing/2014/main" id="{A22BF8C7-2B36-4B75-AF60-86957496869C}"/>
                </a:ext>
              </a:extLst>
            </p:cNvPr>
            <p:cNvSpPr>
              <a:spLocks/>
            </p:cNvSpPr>
            <p:nvPr/>
          </p:nvSpPr>
          <p:spPr bwMode="auto">
            <a:xfrm>
              <a:off x="6396038" y="2505075"/>
              <a:ext cx="581025" cy="1588"/>
            </a:xfrm>
            <a:custGeom>
              <a:avLst/>
              <a:gdLst>
                <a:gd name="T0" fmla="*/ 214748364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sp>
          <p:nvSpPr>
            <p:cNvPr id="174" name="Freeform 48">
              <a:extLst>
                <a:ext uri="{FF2B5EF4-FFF2-40B4-BE49-F238E27FC236}">
                  <a16:creationId xmlns:a16="http://schemas.microsoft.com/office/drawing/2014/main" id="{C2C23B97-8BE2-46AE-B61C-745DBCFE79AD}"/>
                </a:ext>
              </a:extLst>
            </p:cNvPr>
            <p:cNvSpPr>
              <a:spLocks/>
            </p:cNvSpPr>
            <p:nvPr/>
          </p:nvSpPr>
          <p:spPr bwMode="auto">
            <a:xfrm>
              <a:off x="7467600" y="2500313"/>
              <a:ext cx="628650" cy="423862"/>
            </a:xfrm>
            <a:custGeom>
              <a:avLst/>
              <a:gdLst>
                <a:gd name="T0" fmla="*/ 2147483646 w 396"/>
                <a:gd name="T1" fmla="*/ 2147483646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sp>
          <p:nvSpPr>
            <p:cNvPr id="175" name="Freeform 49">
              <a:extLst>
                <a:ext uri="{FF2B5EF4-FFF2-40B4-BE49-F238E27FC236}">
                  <a16:creationId xmlns:a16="http://schemas.microsoft.com/office/drawing/2014/main" id="{ABC6106E-DC27-4587-A237-9A91969B89FC}"/>
                </a:ext>
              </a:extLst>
            </p:cNvPr>
            <p:cNvSpPr>
              <a:spLocks/>
            </p:cNvSpPr>
            <p:nvPr/>
          </p:nvSpPr>
          <p:spPr bwMode="auto">
            <a:xfrm>
              <a:off x="5376863" y="1819275"/>
              <a:ext cx="1762125" cy="1023938"/>
            </a:xfrm>
            <a:custGeom>
              <a:avLst/>
              <a:gdLst>
                <a:gd name="T0" fmla="*/ 2147483646 w 1110"/>
                <a:gd name="T1" fmla="*/ 2147483646 h 645"/>
                <a:gd name="T2" fmla="*/ 0 w 1110"/>
                <a:gd name="T3" fmla="*/ 2147483646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1400">
                <a:solidFill>
                  <a:schemeClr val="bg1"/>
                </a:solidFill>
              </a:endParaRPr>
            </a:p>
          </p:txBody>
        </p:sp>
        <p:grpSp>
          <p:nvGrpSpPr>
            <p:cNvPr id="5" name="Group 50">
              <a:extLst>
                <a:ext uri="{FF2B5EF4-FFF2-40B4-BE49-F238E27FC236}">
                  <a16:creationId xmlns:a16="http://schemas.microsoft.com/office/drawing/2014/main" id="{6C60B116-B7CA-414D-8048-91B0420E4641}"/>
                </a:ext>
              </a:extLst>
            </p:cNvPr>
            <p:cNvGrpSpPr>
              <a:grpSpLocks/>
            </p:cNvGrpSpPr>
            <p:nvPr/>
          </p:nvGrpSpPr>
          <p:grpSpPr bwMode="auto">
            <a:xfrm>
              <a:off x="5222539" y="2774952"/>
              <a:ext cx="318166" cy="400050"/>
              <a:chOff x="2957" y="2429"/>
              <a:chExt cx="203" cy="252"/>
            </a:xfrm>
          </p:grpSpPr>
          <p:sp>
            <p:nvSpPr>
              <p:cNvPr id="202" name="Rectangle 51">
                <a:extLst>
                  <a:ext uri="{FF2B5EF4-FFF2-40B4-BE49-F238E27FC236}">
                    <a16:creationId xmlns:a16="http://schemas.microsoft.com/office/drawing/2014/main" id="{F31A6421-F347-4DFA-A977-F8A3ABD6EABA}"/>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203" name="Text Box 52">
                <a:extLst>
                  <a:ext uri="{FF2B5EF4-FFF2-40B4-BE49-F238E27FC236}">
                    <a16:creationId xmlns:a16="http://schemas.microsoft.com/office/drawing/2014/main" id="{46F821B5-0AA5-4606-9EBB-96D91A6DDADA}"/>
                  </a:ext>
                </a:extLst>
              </p:cNvPr>
              <p:cNvSpPr txBox="1">
                <a:spLocks noChangeArrowheads="1"/>
              </p:cNvSpPr>
              <p:nvPr/>
            </p:nvSpPr>
            <p:spPr bwMode="auto">
              <a:xfrm>
                <a:off x="2957" y="2429"/>
                <a:ext cx="20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u</a:t>
                </a:r>
                <a:endParaRPr lang="en-US" altLang="zh-CN" sz="1400">
                  <a:solidFill>
                    <a:schemeClr val="bg1"/>
                  </a:solidFill>
                </a:endParaRPr>
              </a:p>
            </p:txBody>
          </p:sp>
        </p:grpSp>
        <p:grpSp>
          <p:nvGrpSpPr>
            <p:cNvPr id="6" name="Group 53">
              <a:extLst>
                <a:ext uri="{FF2B5EF4-FFF2-40B4-BE49-F238E27FC236}">
                  <a16:creationId xmlns:a16="http://schemas.microsoft.com/office/drawing/2014/main" id="{8F5AC420-0F68-4C80-A553-1BFE54D18228}"/>
                </a:ext>
              </a:extLst>
            </p:cNvPr>
            <p:cNvGrpSpPr>
              <a:grpSpLocks/>
            </p:cNvGrpSpPr>
            <p:nvPr/>
          </p:nvGrpSpPr>
          <p:grpSpPr bwMode="auto">
            <a:xfrm>
              <a:off x="7078475" y="3340104"/>
              <a:ext cx="317847" cy="400050"/>
              <a:chOff x="2956" y="2401"/>
              <a:chExt cx="203" cy="252"/>
            </a:xfrm>
          </p:grpSpPr>
          <p:sp>
            <p:nvSpPr>
              <p:cNvPr id="200" name="Rectangle 54">
                <a:extLst>
                  <a:ext uri="{FF2B5EF4-FFF2-40B4-BE49-F238E27FC236}">
                    <a16:creationId xmlns:a16="http://schemas.microsoft.com/office/drawing/2014/main" id="{213B0733-1919-4E59-9647-E6F471CCBF31}"/>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201" name="Text Box 55">
                <a:extLst>
                  <a:ext uri="{FF2B5EF4-FFF2-40B4-BE49-F238E27FC236}">
                    <a16:creationId xmlns:a16="http://schemas.microsoft.com/office/drawing/2014/main" id="{70AD052B-10FE-403F-87A9-327BC18C2D9B}"/>
                  </a:ext>
                </a:extLst>
              </p:cNvPr>
              <p:cNvSpPr txBox="1">
                <a:spLocks noChangeArrowheads="1"/>
              </p:cNvSpPr>
              <p:nvPr/>
            </p:nvSpPr>
            <p:spPr bwMode="auto">
              <a:xfrm>
                <a:off x="2956" y="2401"/>
                <a:ext cx="20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dirty="0">
                    <a:solidFill>
                      <a:schemeClr val="bg1"/>
                    </a:solidFill>
                    <a:latin typeface="Comic Sans MS" panose="030F0702030302020204" pitchFamily="66" charset="0"/>
                  </a:rPr>
                  <a:t>y</a:t>
                </a:r>
                <a:endParaRPr lang="en-US" altLang="zh-CN" sz="1400" dirty="0">
                  <a:solidFill>
                    <a:schemeClr val="bg1"/>
                  </a:solidFill>
                </a:endParaRPr>
              </a:p>
            </p:txBody>
          </p:sp>
        </p:grpSp>
        <p:grpSp>
          <p:nvGrpSpPr>
            <p:cNvPr id="7" name="Group 56">
              <a:extLst>
                <a:ext uri="{FF2B5EF4-FFF2-40B4-BE49-F238E27FC236}">
                  <a16:creationId xmlns:a16="http://schemas.microsoft.com/office/drawing/2014/main" id="{617A1D96-D053-4DFF-ACC3-A0927F5B3D5C}"/>
                </a:ext>
              </a:extLst>
            </p:cNvPr>
            <p:cNvGrpSpPr>
              <a:grpSpLocks/>
            </p:cNvGrpSpPr>
            <p:nvPr/>
          </p:nvGrpSpPr>
          <p:grpSpPr bwMode="auto">
            <a:xfrm>
              <a:off x="5989434" y="3379790"/>
              <a:ext cx="335369" cy="400050"/>
              <a:chOff x="2951" y="2429"/>
              <a:chExt cx="214" cy="252"/>
            </a:xfrm>
          </p:grpSpPr>
          <p:sp>
            <p:nvSpPr>
              <p:cNvPr id="198" name="Rectangle 57">
                <a:extLst>
                  <a:ext uri="{FF2B5EF4-FFF2-40B4-BE49-F238E27FC236}">
                    <a16:creationId xmlns:a16="http://schemas.microsoft.com/office/drawing/2014/main" id="{387B831A-994A-4F54-8F1C-34C3403788E7}"/>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99" name="Text Box 58">
                <a:extLst>
                  <a:ext uri="{FF2B5EF4-FFF2-40B4-BE49-F238E27FC236}">
                    <a16:creationId xmlns:a16="http://schemas.microsoft.com/office/drawing/2014/main" id="{2976F1F3-3647-48A2-9089-E4417C4A6F57}"/>
                  </a:ext>
                </a:extLst>
              </p:cNvPr>
              <p:cNvSpPr txBox="1">
                <a:spLocks noChangeArrowheads="1"/>
              </p:cNvSpPr>
              <p:nvPr/>
            </p:nvSpPr>
            <p:spPr bwMode="auto">
              <a:xfrm>
                <a:off x="2951" y="2429"/>
                <a:ext cx="2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x</a:t>
                </a:r>
                <a:endParaRPr lang="en-US" altLang="zh-CN" sz="1400">
                  <a:solidFill>
                    <a:schemeClr val="bg1"/>
                  </a:solidFill>
                </a:endParaRPr>
              </a:p>
            </p:txBody>
          </p:sp>
        </p:grpSp>
        <p:grpSp>
          <p:nvGrpSpPr>
            <p:cNvPr id="8" name="Group 59">
              <a:extLst>
                <a:ext uri="{FF2B5EF4-FFF2-40B4-BE49-F238E27FC236}">
                  <a16:creationId xmlns:a16="http://schemas.microsoft.com/office/drawing/2014/main" id="{7912A066-2DFD-4595-979F-62E41AE77344}"/>
                </a:ext>
              </a:extLst>
            </p:cNvPr>
            <p:cNvGrpSpPr>
              <a:grpSpLocks/>
            </p:cNvGrpSpPr>
            <p:nvPr/>
          </p:nvGrpSpPr>
          <p:grpSpPr bwMode="auto">
            <a:xfrm>
              <a:off x="7048652" y="2289177"/>
              <a:ext cx="360030" cy="400050"/>
              <a:chOff x="2943" y="2429"/>
              <a:chExt cx="230" cy="252"/>
            </a:xfrm>
          </p:grpSpPr>
          <p:sp>
            <p:nvSpPr>
              <p:cNvPr id="196" name="Rectangle 60">
                <a:extLst>
                  <a:ext uri="{FF2B5EF4-FFF2-40B4-BE49-F238E27FC236}">
                    <a16:creationId xmlns:a16="http://schemas.microsoft.com/office/drawing/2014/main" id="{D34E4AF4-FEAF-4F75-A9EF-B659A9B33F3E}"/>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97" name="Text Box 61">
                <a:extLst>
                  <a:ext uri="{FF2B5EF4-FFF2-40B4-BE49-F238E27FC236}">
                    <a16:creationId xmlns:a16="http://schemas.microsoft.com/office/drawing/2014/main" id="{CDD12471-0FC1-437C-8274-6D6FC89600A0}"/>
                  </a:ext>
                </a:extLst>
              </p:cNvPr>
              <p:cNvSpPr txBox="1">
                <a:spLocks noChangeArrowheads="1"/>
              </p:cNvSpPr>
              <p:nvPr/>
            </p:nvSpPr>
            <p:spPr bwMode="auto">
              <a:xfrm>
                <a:off x="2943" y="2429"/>
                <a:ext cx="23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w</a:t>
                </a:r>
                <a:endParaRPr lang="en-US" altLang="zh-CN" sz="1400">
                  <a:solidFill>
                    <a:schemeClr val="bg1"/>
                  </a:solidFill>
                </a:endParaRPr>
              </a:p>
            </p:txBody>
          </p:sp>
        </p:grpSp>
        <p:grpSp>
          <p:nvGrpSpPr>
            <p:cNvPr id="9" name="Group 62">
              <a:extLst>
                <a:ext uri="{FF2B5EF4-FFF2-40B4-BE49-F238E27FC236}">
                  <a16:creationId xmlns:a16="http://schemas.microsoft.com/office/drawing/2014/main" id="{03DE8D17-C117-4FEF-A2AB-2CC1EDA5C10E}"/>
                </a:ext>
              </a:extLst>
            </p:cNvPr>
            <p:cNvGrpSpPr>
              <a:grpSpLocks/>
            </p:cNvGrpSpPr>
            <p:nvPr/>
          </p:nvGrpSpPr>
          <p:grpSpPr bwMode="auto">
            <a:xfrm>
              <a:off x="5986247" y="2289177"/>
              <a:ext cx="313170" cy="390525"/>
              <a:chOff x="2958" y="2429"/>
              <a:chExt cx="200" cy="246"/>
            </a:xfrm>
          </p:grpSpPr>
          <p:sp>
            <p:nvSpPr>
              <p:cNvPr id="194" name="Rectangle 63">
                <a:extLst>
                  <a:ext uri="{FF2B5EF4-FFF2-40B4-BE49-F238E27FC236}">
                    <a16:creationId xmlns:a16="http://schemas.microsoft.com/office/drawing/2014/main" id="{11636535-9CC8-4E71-ADE8-3A6FD31DEC25}"/>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95" name="Text Box 64">
                <a:extLst>
                  <a:ext uri="{FF2B5EF4-FFF2-40B4-BE49-F238E27FC236}">
                    <a16:creationId xmlns:a16="http://schemas.microsoft.com/office/drawing/2014/main" id="{74143581-A4D5-4932-87DA-E4DCF197B642}"/>
                  </a:ext>
                </a:extLst>
              </p:cNvPr>
              <p:cNvSpPr txBox="1">
                <a:spLocks noChangeArrowheads="1"/>
              </p:cNvSpPr>
              <p:nvPr/>
            </p:nvSpPr>
            <p:spPr bwMode="auto">
              <a:xfrm>
                <a:off x="2958" y="2429"/>
                <a:ext cx="200"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v</a:t>
                </a:r>
                <a:endParaRPr lang="en-US" altLang="zh-CN" sz="1400">
                  <a:solidFill>
                    <a:schemeClr val="bg1"/>
                  </a:solidFill>
                </a:endParaRPr>
              </a:p>
            </p:txBody>
          </p:sp>
        </p:grpSp>
        <p:grpSp>
          <p:nvGrpSpPr>
            <p:cNvPr id="10" name="Group 65">
              <a:extLst>
                <a:ext uri="{FF2B5EF4-FFF2-40B4-BE49-F238E27FC236}">
                  <a16:creationId xmlns:a16="http://schemas.microsoft.com/office/drawing/2014/main" id="{FCB2FC21-27BB-4645-AE15-B52E5C0921A3}"/>
                </a:ext>
              </a:extLst>
            </p:cNvPr>
            <p:cNvGrpSpPr>
              <a:grpSpLocks/>
            </p:cNvGrpSpPr>
            <p:nvPr/>
          </p:nvGrpSpPr>
          <p:grpSpPr bwMode="auto">
            <a:xfrm>
              <a:off x="7985023" y="2841627"/>
              <a:ext cx="322483" cy="400050"/>
              <a:chOff x="2954" y="2429"/>
              <a:chExt cx="206" cy="252"/>
            </a:xfrm>
          </p:grpSpPr>
          <p:sp>
            <p:nvSpPr>
              <p:cNvPr id="192" name="Rectangle 66">
                <a:extLst>
                  <a:ext uri="{FF2B5EF4-FFF2-40B4-BE49-F238E27FC236}">
                    <a16:creationId xmlns:a16="http://schemas.microsoft.com/office/drawing/2014/main" id="{41F4D477-57AA-4007-AA45-4D53B66AE60F}"/>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sz="1400">
                  <a:solidFill>
                    <a:schemeClr val="bg1"/>
                  </a:solidFill>
                  <a:latin typeface="Comic Sans MS" panose="030F0702030302020204" pitchFamily="66" charset="0"/>
                  <a:ea typeface="楷体_GB2312" pitchFamily="49" charset="-122"/>
                </a:endParaRPr>
              </a:p>
            </p:txBody>
          </p:sp>
          <p:sp>
            <p:nvSpPr>
              <p:cNvPr id="193" name="Text Box 67">
                <a:extLst>
                  <a:ext uri="{FF2B5EF4-FFF2-40B4-BE49-F238E27FC236}">
                    <a16:creationId xmlns:a16="http://schemas.microsoft.com/office/drawing/2014/main" id="{413CD95E-5735-49C2-BB43-205FDADB9244}"/>
                  </a:ext>
                </a:extLst>
              </p:cNvPr>
              <p:cNvSpPr txBox="1">
                <a:spLocks noChangeArrowheads="1"/>
              </p:cNvSpPr>
              <p:nvPr/>
            </p:nvSpPr>
            <p:spPr bwMode="auto">
              <a:xfrm>
                <a:off x="2954" y="2429"/>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z</a:t>
                </a:r>
                <a:endParaRPr lang="en-US" altLang="zh-CN" sz="1400">
                  <a:solidFill>
                    <a:schemeClr val="bg1"/>
                  </a:solidFill>
                </a:endParaRPr>
              </a:p>
            </p:txBody>
          </p:sp>
        </p:grpSp>
        <p:sp>
          <p:nvSpPr>
            <p:cNvPr id="182" name="Text Box 68">
              <a:extLst>
                <a:ext uri="{FF2B5EF4-FFF2-40B4-BE49-F238E27FC236}">
                  <a16:creationId xmlns:a16="http://schemas.microsoft.com/office/drawing/2014/main" id="{21B24430-5A71-443C-8BD3-1A8E29A90A6A}"/>
                </a:ext>
              </a:extLst>
            </p:cNvPr>
            <p:cNvSpPr txBox="1">
              <a:spLocks noChangeArrowheads="1"/>
            </p:cNvSpPr>
            <p:nvPr/>
          </p:nvSpPr>
          <p:spPr bwMode="auto">
            <a:xfrm>
              <a:off x="5531179" y="2493963"/>
              <a:ext cx="339068"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2</a:t>
              </a:r>
              <a:endParaRPr lang="en-US" altLang="zh-CN" sz="1400">
                <a:solidFill>
                  <a:schemeClr val="bg1"/>
                </a:solidFill>
              </a:endParaRPr>
            </a:p>
          </p:txBody>
        </p:sp>
        <p:sp>
          <p:nvSpPr>
            <p:cNvPr id="183" name="Text Box 69">
              <a:extLst>
                <a:ext uri="{FF2B5EF4-FFF2-40B4-BE49-F238E27FC236}">
                  <a16:creationId xmlns:a16="http://schemas.microsoft.com/office/drawing/2014/main" id="{9CC5AA13-8D59-424B-B595-D44AEB640BEA}"/>
                </a:ext>
              </a:extLst>
            </p:cNvPr>
            <p:cNvSpPr txBox="1">
              <a:spLocks noChangeArrowheads="1"/>
            </p:cNvSpPr>
            <p:nvPr/>
          </p:nvSpPr>
          <p:spPr bwMode="auto">
            <a:xfrm>
              <a:off x="6083630" y="2841625"/>
              <a:ext cx="339068"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2</a:t>
              </a:r>
              <a:endParaRPr lang="en-US" altLang="zh-CN" sz="1400">
                <a:solidFill>
                  <a:schemeClr val="bg1"/>
                </a:solidFill>
              </a:endParaRPr>
            </a:p>
          </p:txBody>
        </p:sp>
        <p:sp>
          <p:nvSpPr>
            <p:cNvPr id="184" name="Text Box 70">
              <a:extLst>
                <a:ext uri="{FF2B5EF4-FFF2-40B4-BE49-F238E27FC236}">
                  <a16:creationId xmlns:a16="http://schemas.microsoft.com/office/drawing/2014/main" id="{A66D1709-F8BC-49B2-99A1-5B39EA92039A}"/>
                </a:ext>
              </a:extLst>
            </p:cNvPr>
            <p:cNvSpPr txBox="1">
              <a:spLocks noChangeArrowheads="1"/>
            </p:cNvSpPr>
            <p:nvPr/>
          </p:nvSpPr>
          <p:spPr bwMode="auto">
            <a:xfrm>
              <a:off x="5408930" y="3179763"/>
              <a:ext cx="305752"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1</a:t>
              </a:r>
              <a:endParaRPr lang="en-US" altLang="zh-CN" sz="1400">
                <a:solidFill>
                  <a:schemeClr val="bg1"/>
                </a:solidFill>
              </a:endParaRPr>
            </a:p>
          </p:txBody>
        </p:sp>
        <p:sp>
          <p:nvSpPr>
            <p:cNvPr id="185" name="Text Box 71">
              <a:extLst>
                <a:ext uri="{FF2B5EF4-FFF2-40B4-BE49-F238E27FC236}">
                  <a16:creationId xmlns:a16="http://schemas.microsoft.com/office/drawing/2014/main" id="{FC1A2C86-6D4D-4DDD-B94C-B79C2072E751}"/>
                </a:ext>
              </a:extLst>
            </p:cNvPr>
            <p:cNvSpPr txBox="1">
              <a:spLocks noChangeArrowheads="1"/>
            </p:cNvSpPr>
            <p:nvPr/>
          </p:nvSpPr>
          <p:spPr bwMode="auto">
            <a:xfrm>
              <a:off x="6693229" y="2989262"/>
              <a:ext cx="339068"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dirty="0">
                  <a:solidFill>
                    <a:schemeClr val="bg1"/>
                  </a:solidFill>
                  <a:latin typeface="Comic Sans MS" panose="030F0702030302020204" pitchFamily="66" charset="0"/>
                </a:rPr>
                <a:t>3</a:t>
              </a:r>
              <a:endParaRPr lang="en-US" altLang="zh-CN" sz="1400" dirty="0">
                <a:solidFill>
                  <a:schemeClr val="bg1"/>
                </a:solidFill>
              </a:endParaRPr>
            </a:p>
          </p:txBody>
        </p:sp>
        <p:sp>
          <p:nvSpPr>
            <p:cNvPr id="186" name="Text Box 72">
              <a:extLst>
                <a:ext uri="{FF2B5EF4-FFF2-40B4-BE49-F238E27FC236}">
                  <a16:creationId xmlns:a16="http://schemas.microsoft.com/office/drawing/2014/main" id="{BFA8A0D1-A893-4EDB-A226-559241FB9EBE}"/>
                </a:ext>
              </a:extLst>
            </p:cNvPr>
            <p:cNvSpPr txBox="1">
              <a:spLocks noChangeArrowheads="1"/>
            </p:cNvSpPr>
            <p:nvPr/>
          </p:nvSpPr>
          <p:spPr bwMode="auto">
            <a:xfrm>
              <a:off x="6609080" y="3551237"/>
              <a:ext cx="305752"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1</a:t>
              </a:r>
              <a:endParaRPr lang="en-US" altLang="zh-CN" sz="1400">
                <a:solidFill>
                  <a:schemeClr val="bg1"/>
                </a:solidFill>
              </a:endParaRPr>
            </a:p>
          </p:txBody>
        </p:sp>
        <p:sp>
          <p:nvSpPr>
            <p:cNvPr id="187" name="Text Box 73">
              <a:extLst>
                <a:ext uri="{FF2B5EF4-FFF2-40B4-BE49-F238E27FC236}">
                  <a16:creationId xmlns:a16="http://schemas.microsoft.com/office/drawing/2014/main" id="{C8E699B2-F953-4B70-9CF0-4BEC45657DF5}"/>
                </a:ext>
              </a:extLst>
            </p:cNvPr>
            <p:cNvSpPr txBox="1">
              <a:spLocks noChangeArrowheads="1"/>
            </p:cNvSpPr>
            <p:nvPr/>
          </p:nvSpPr>
          <p:spPr bwMode="auto">
            <a:xfrm>
              <a:off x="7180580" y="2870201"/>
              <a:ext cx="305752"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1</a:t>
              </a:r>
              <a:endParaRPr lang="en-US" altLang="zh-CN" sz="1400">
                <a:solidFill>
                  <a:schemeClr val="bg1"/>
                </a:solidFill>
              </a:endParaRPr>
            </a:p>
          </p:txBody>
        </p:sp>
        <p:sp>
          <p:nvSpPr>
            <p:cNvPr id="188" name="Text Box 74">
              <a:extLst>
                <a:ext uri="{FF2B5EF4-FFF2-40B4-BE49-F238E27FC236}">
                  <a16:creationId xmlns:a16="http://schemas.microsoft.com/office/drawing/2014/main" id="{3A7ED065-26A5-4C45-A614-ADE2E35342F1}"/>
                </a:ext>
              </a:extLst>
            </p:cNvPr>
            <p:cNvSpPr txBox="1">
              <a:spLocks noChangeArrowheads="1"/>
            </p:cNvSpPr>
            <p:nvPr/>
          </p:nvSpPr>
          <p:spPr bwMode="auto">
            <a:xfrm>
              <a:off x="7736216" y="3289301"/>
              <a:ext cx="339068"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2</a:t>
              </a:r>
              <a:endParaRPr lang="en-US" altLang="zh-CN" sz="1400">
                <a:solidFill>
                  <a:schemeClr val="bg1"/>
                </a:solidFill>
              </a:endParaRPr>
            </a:p>
          </p:txBody>
        </p:sp>
        <p:sp>
          <p:nvSpPr>
            <p:cNvPr id="189" name="Text Box 75">
              <a:extLst>
                <a:ext uri="{FF2B5EF4-FFF2-40B4-BE49-F238E27FC236}">
                  <a16:creationId xmlns:a16="http://schemas.microsoft.com/office/drawing/2014/main" id="{E961B420-12E9-46DD-B78A-D64BA416B219}"/>
                </a:ext>
              </a:extLst>
            </p:cNvPr>
            <p:cNvSpPr txBox="1">
              <a:spLocks noChangeArrowheads="1"/>
            </p:cNvSpPr>
            <p:nvPr/>
          </p:nvSpPr>
          <p:spPr bwMode="auto">
            <a:xfrm>
              <a:off x="7693354" y="2436813"/>
              <a:ext cx="339068"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5</a:t>
              </a:r>
              <a:endParaRPr lang="en-US" altLang="zh-CN" sz="1400">
                <a:solidFill>
                  <a:schemeClr val="bg1"/>
                </a:solidFill>
              </a:endParaRPr>
            </a:p>
          </p:txBody>
        </p:sp>
        <p:sp>
          <p:nvSpPr>
            <p:cNvPr id="190" name="Text Box 76">
              <a:extLst>
                <a:ext uri="{FF2B5EF4-FFF2-40B4-BE49-F238E27FC236}">
                  <a16:creationId xmlns:a16="http://schemas.microsoft.com/office/drawing/2014/main" id="{AB2489FE-0AC0-4872-9189-FA17CA6E6B01}"/>
                </a:ext>
              </a:extLst>
            </p:cNvPr>
            <p:cNvSpPr txBox="1">
              <a:spLocks noChangeArrowheads="1"/>
            </p:cNvSpPr>
            <p:nvPr/>
          </p:nvSpPr>
          <p:spPr bwMode="auto">
            <a:xfrm>
              <a:off x="6526541" y="2198688"/>
              <a:ext cx="339068"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3</a:t>
              </a:r>
              <a:endParaRPr lang="en-US" altLang="zh-CN" sz="1400">
                <a:solidFill>
                  <a:schemeClr val="bg1"/>
                </a:solidFill>
              </a:endParaRPr>
            </a:p>
          </p:txBody>
        </p:sp>
        <p:sp>
          <p:nvSpPr>
            <p:cNvPr id="191" name="Text Box 77">
              <a:extLst>
                <a:ext uri="{FF2B5EF4-FFF2-40B4-BE49-F238E27FC236}">
                  <a16:creationId xmlns:a16="http://schemas.microsoft.com/office/drawing/2014/main" id="{6FB0D252-BEA4-46FF-911D-CE3EA4920AF0}"/>
                </a:ext>
              </a:extLst>
            </p:cNvPr>
            <p:cNvSpPr txBox="1">
              <a:spLocks noChangeArrowheads="1"/>
            </p:cNvSpPr>
            <p:nvPr/>
          </p:nvSpPr>
          <p:spPr bwMode="auto">
            <a:xfrm>
              <a:off x="5969329" y="1774825"/>
              <a:ext cx="339068" cy="3906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400">
                  <a:solidFill>
                    <a:schemeClr val="bg1"/>
                  </a:solidFill>
                  <a:latin typeface="Comic Sans MS" panose="030F0702030302020204" pitchFamily="66" charset="0"/>
                </a:rPr>
                <a:t>5</a:t>
              </a:r>
              <a:endParaRPr lang="en-US" altLang="zh-CN" sz="1400">
                <a:solidFill>
                  <a:schemeClr val="bg1"/>
                </a:solidFill>
              </a:endParaRPr>
            </a:p>
          </p:txBody>
        </p:sp>
      </p:grpSp>
      <p:graphicFrame>
        <p:nvGraphicFramePr>
          <p:cNvPr id="204" name="表格 203"/>
          <p:cNvGraphicFramePr>
            <a:graphicFrameLocks noGrp="1"/>
          </p:cNvGraphicFramePr>
          <p:nvPr/>
        </p:nvGraphicFramePr>
        <p:xfrm>
          <a:off x="11130852" y="3845505"/>
          <a:ext cx="791766" cy="1828800"/>
        </p:xfrm>
        <a:graphic>
          <a:graphicData uri="http://schemas.openxmlformats.org/drawingml/2006/table">
            <a:tbl>
              <a:tblPr firstRow="1" bandRow="1">
                <a:tableStyleId>{5C22544A-7EE6-4342-B048-85BDC9FD1C3A}</a:tableStyleId>
              </a:tblPr>
              <a:tblGrid>
                <a:gridCol w="455918">
                  <a:extLst>
                    <a:ext uri="{9D8B030D-6E8A-4147-A177-3AD203B41FA5}">
                      <a16:colId xmlns:a16="http://schemas.microsoft.com/office/drawing/2014/main" val="3668216324"/>
                    </a:ext>
                  </a:extLst>
                </a:gridCol>
                <a:gridCol w="335848">
                  <a:extLst>
                    <a:ext uri="{9D8B030D-6E8A-4147-A177-3AD203B41FA5}">
                      <a16:colId xmlns:a16="http://schemas.microsoft.com/office/drawing/2014/main" val="2242425082"/>
                    </a:ext>
                  </a:extLst>
                </a:gridCol>
              </a:tblGrid>
              <a:tr h="333261">
                <a:tc gridSpan="2">
                  <a:txBody>
                    <a:bodyPr/>
                    <a:lstStyle/>
                    <a:p>
                      <a:pPr algn="ctr"/>
                      <a:r>
                        <a:rPr lang="en-US" altLang="zh-CN" dirty="0"/>
                        <a:t>z</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1611289476"/>
                  </a:ext>
                </a:extLst>
              </a:tr>
              <a:tr h="337890">
                <a:tc gridSpan="2">
                  <a:txBody>
                    <a:bodyPr/>
                    <a:lstStyle/>
                    <a:p>
                      <a:pPr algn="ctr"/>
                      <a:r>
                        <a:rPr lang="en-US" altLang="zh-CN" dirty="0"/>
                        <a:t>Seq.</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03963192"/>
                  </a:ext>
                </a:extLst>
              </a:tr>
              <a:tr h="337890">
                <a:tc gridSpan="2">
                  <a:txBody>
                    <a:bodyPr/>
                    <a:lstStyle/>
                    <a:p>
                      <a:pPr algn="ctr"/>
                      <a:r>
                        <a:rPr lang="en-US" altLang="zh-CN" dirty="0"/>
                        <a:t>Age </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dirty="0"/>
                    </a:p>
                  </a:txBody>
                  <a:tcPr/>
                </a:tc>
                <a:extLst>
                  <a:ext uri="{0D108BD9-81ED-4DB2-BD59-A6C34878D82A}">
                    <a16:rowId xmlns:a16="http://schemas.microsoft.com/office/drawing/2014/main" val="213910417"/>
                  </a:ext>
                </a:extLst>
              </a:tr>
              <a:tr h="337890">
                <a:tc>
                  <a:txBody>
                    <a:bodyPr/>
                    <a:lstStyle/>
                    <a:p>
                      <a:pPr algn="ctr"/>
                      <a:r>
                        <a:rPr lang="en-US" altLang="zh-CN" dirty="0"/>
                        <a:t>w</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5</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7154610"/>
                  </a:ext>
                </a:extLst>
              </a:tr>
              <a:tr h="337890">
                <a:tc>
                  <a:txBody>
                    <a:bodyPr/>
                    <a:lstStyle/>
                    <a:p>
                      <a:pPr algn="ctr"/>
                      <a:r>
                        <a:rPr lang="en-US" altLang="zh-CN" dirty="0"/>
                        <a:t>y</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dirty="0"/>
                        <a:t>2</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4725734"/>
                  </a:ext>
                </a:extLst>
              </a:tr>
            </a:tbl>
          </a:graphicData>
        </a:graphic>
      </p:graphicFrame>
      <p:sp>
        <p:nvSpPr>
          <p:cNvPr id="81"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5.3.4 </a:t>
            </a:r>
            <a:r>
              <a:rPr kumimoji="1" lang="zh-CN" altLang="en-US" dirty="0">
                <a:latin typeface="DengXian" panose="02010600030101010101" pitchFamily="2" charset="-122"/>
                <a:ea typeface="DengXian" panose="02010600030101010101" pitchFamily="2" charset="-122"/>
              </a:rPr>
              <a:t>链路状态路由</a:t>
            </a:r>
          </a:p>
        </p:txBody>
      </p:sp>
      <p:sp>
        <p:nvSpPr>
          <p:cNvPr id="82" name="灯片编号占位符 3">
            <a:extLst>
              <a:ext uri="{FF2B5EF4-FFF2-40B4-BE49-F238E27FC236}">
                <a16:creationId xmlns:a16="http://schemas.microsoft.com/office/drawing/2014/main" id="{8C9D3AE5-31C3-2C4F-BCE5-0661C3EEAD7D}"/>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71</a:t>
            </a:fld>
            <a:endParaRPr kumimoji="1" lang="zh-CN" altLang="en-US" dirty="0"/>
          </a:p>
        </p:txBody>
      </p:sp>
    </p:spTree>
    <p:extLst>
      <p:ext uri="{BB962C8B-B14F-4D97-AF65-F5344CB8AC3E}">
        <p14:creationId xmlns:p14="http://schemas.microsoft.com/office/powerpoint/2010/main" val="1091104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链路状态路由</a:t>
            </a:r>
            <a:endParaRPr lang="zh-CN" altLang="en-US" dirty="0"/>
          </a:p>
        </p:txBody>
      </p:sp>
      <p:sp>
        <p:nvSpPr>
          <p:cNvPr id="3" name="内容占位符 2"/>
          <p:cNvSpPr>
            <a:spLocks noGrp="1"/>
          </p:cNvSpPr>
          <p:nvPr>
            <p:ph idx="1"/>
          </p:nvPr>
        </p:nvSpPr>
        <p:spPr/>
        <p:txBody>
          <a:bodyPr/>
          <a:lstStyle/>
          <a:p>
            <a:r>
              <a:rPr lang="en-US" altLang="zh-CN" dirty="0"/>
              <a:t>4.</a:t>
            </a:r>
            <a:r>
              <a:rPr lang="zh-CN" altLang="en-US" dirty="0"/>
              <a:t>将</a:t>
            </a:r>
            <a:r>
              <a:rPr lang="en-US" altLang="zh-CN" dirty="0"/>
              <a:t>LSP</a:t>
            </a:r>
            <a:r>
              <a:rPr lang="zh-CN" altLang="en-US" dirty="0"/>
              <a:t>数据包</a:t>
            </a:r>
            <a:r>
              <a:rPr lang="zh-CN" altLang="en-US" dirty="0">
                <a:solidFill>
                  <a:srgbClr val="5C307E"/>
                </a:solidFill>
              </a:rPr>
              <a:t>发送</a:t>
            </a:r>
            <a:r>
              <a:rPr lang="zh-CN" altLang="en-US" dirty="0"/>
              <a:t>给其他的路由器</a:t>
            </a:r>
            <a:endParaRPr lang="en-US" altLang="zh-CN" dirty="0"/>
          </a:p>
          <a:p>
            <a:pPr lvl="1"/>
            <a:r>
              <a:rPr lang="zh-CN" altLang="en-US" dirty="0"/>
              <a:t>每个</a:t>
            </a:r>
            <a:r>
              <a:rPr lang="en-US" altLang="zh-CN" dirty="0"/>
              <a:t>LSP</a:t>
            </a:r>
            <a:r>
              <a:rPr lang="zh-CN" altLang="en-US" dirty="0"/>
              <a:t>数据包包含一个序列号，且递增</a:t>
            </a:r>
            <a:endParaRPr lang="en-US" altLang="zh-CN" dirty="0"/>
          </a:p>
          <a:p>
            <a:pPr lvl="1"/>
            <a:r>
              <a:rPr lang="zh-CN" altLang="en-US" dirty="0"/>
              <a:t>路由器记录所收到的所有（源路由器、序列号）对</a:t>
            </a:r>
            <a:endParaRPr lang="en-US" altLang="zh-CN" dirty="0"/>
          </a:p>
          <a:p>
            <a:pPr lvl="1"/>
            <a:r>
              <a:rPr lang="zh-CN" altLang="en-US" dirty="0"/>
              <a:t>当一个新数据包到达时，路由器根据记录判断：</a:t>
            </a:r>
            <a:endParaRPr lang="en-US" altLang="zh-CN" dirty="0"/>
          </a:p>
          <a:p>
            <a:pPr lvl="2"/>
            <a:r>
              <a:rPr lang="zh-CN" altLang="en-US" dirty="0"/>
              <a:t>如果是新数据包，洪泛广播</a:t>
            </a:r>
            <a:endParaRPr lang="en-US" altLang="zh-CN" dirty="0"/>
          </a:p>
          <a:p>
            <a:pPr lvl="2"/>
            <a:r>
              <a:rPr lang="zh-CN" altLang="en-US" dirty="0"/>
              <a:t>如果是重复数据包，丢弃</a:t>
            </a:r>
            <a:endParaRPr lang="en-US" altLang="zh-CN" dirty="0"/>
          </a:p>
          <a:p>
            <a:pPr lvl="2"/>
            <a:r>
              <a:rPr lang="zh-CN" altLang="en-US" dirty="0"/>
              <a:t>如果是过时数据包，拒绝</a:t>
            </a:r>
            <a:endParaRPr lang="en-US" altLang="zh-CN" dirty="0"/>
          </a:p>
        </p:txBody>
      </p:sp>
      <p:sp>
        <p:nvSpPr>
          <p:cNvPr id="5"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5.3.4 </a:t>
            </a:r>
            <a:r>
              <a:rPr kumimoji="1" lang="zh-CN" altLang="en-US" dirty="0">
                <a:latin typeface="DengXian" panose="02010600030101010101" pitchFamily="2" charset="-122"/>
                <a:ea typeface="DengXian" panose="02010600030101010101" pitchFamily="2" charset="-122"/>
              </a:rPr>
              <a:t>链路状态路由</a:t>
            </a:r>
          </a:p>
        </p:txBody>
      </p:sp>
      <p:sp>
        <p:nvSpPr>
          <p:cNvPr id="6" name="灯片编号占位符 3">
            <a:extLst>
              <a:ext uri="{FF2B5EF4-FFF2-40B4-BE49-F238E27FC236}">
                <a16:creationId xmlns:a16="http://schemas.microsoft.com/office/drawing/2014/main" id="{48479EA1-9744-0E4D-A0C1-3B380A09A020}"/>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72</a:t>
            </a:fld>
            <a:endParaRPr kumimoji="1" lang="zh-CN" altLang="en-US" dirty="0"/>
          </a:p>
        </p:txBody>
      </p:sp>
    </p:spTree>
    <p:extLst>
      <p:ext uri="{BB962C8B-B14F-4D97-AF65-F5344CB8AC3E}">
        <p14:creationId xmlns:p14="http://schemas.microsoft.com/office/powerpoint/2010/main" val="1610042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链路状态路由</a:t>
            </a:r>
            <a:endParaRPr lang="zh-CN" altLang="en-US" dirty="0"/>
          </a:p>
        </p:txBody>
      </p:sp>
      <p:sp>
        <p:nvSpPr>
          <p:cNvPr id="3" name="内容占位符 2"/>
          <p:cNvSpPr>
            <a:spLocks noGrp="1"/>
          </p:cNvSpPr>
          <p:nvPr>
            <p:ph idx="1"/>
          </p:nvPr>
        </p:nvSpPr>
        <p:spPr/>
        <p:txBody>
          <a:bodyPr/>
          <a:lstStyle/>
          <a:p>
            <a:r>
              <a:rPr lang="en-US" altLang="zh-CN" dirty="0"/>
              <a:t>5.</a:t>
            </a:r>
            <a:r>
              <a:rPr lang="zh-CN" altLang="en-US" dirty="0">
                <a:solidFill>
                  <a:srgbClr val="7030A0"/>
                </a:solidFill>
              </a:rPr>
              <a:t>计算</a:t>
            </a:r>
            <a:r>
              <a:rPr lang="zh-CN" altLang="en-US" dirty="0"/>
              <a:t>到其他路由器的最短路径：</a:t>
            </a:r>
            <a:r>
              <a:rPr lang="en-US" altLang="zh-CN" dirty="0" err="1">
                <a:latin typeface="Times New Roman" panose="02020603050405020304" pitchFamily="18" charset="0"/>
                <a:ea typeface="黑体" panose="02010609060101010101" pitchFamily="49" charset="-122"/>
                <a:cs typeface="Times New Roman" panose="02020603050405020304" pitchFamily="18" charset="0"/>
              </a:rPr>
              <a:t>Dijkstra</a:t>
            </a:r>
            <a:r>
              <a:rPr lang="zh-CN" altLang="en-US" dirty="0">
                <a:latin typeface="Times New Roman" panose="02020603050405020304" pitchFamily="18" charset="0"/>
                <a:ea typeface="黑体" panose="02010609060101010101" pitchFamily="49" charset="-122"/>
                <a:cs typeface="Times New Roman" panose="02020603050405020304" pitchFamily="18" charset="0"/>
              </a:rPr>
              <a:t>算法示例</a:t>
            </a:r>
            <a:endParaRPr lang="en-US" altLang="zh-CN" dirty="0">
              <a:latin typeface="Times New Roman" panose="02020603050405020304" pitchFamily="18" charset="0"/>
              <a:ea typeface="黑体" panose="02010609060101010101" pitchFamily="49" charset="-122"/>
              <a:cs typeface="Times New Roman" panose="02020603050405020304" pitchFamily="18" charset="0"/>
            </a:endParaRPr>
          </a:p>
          <a:p>
            <a:pPr lvl="2"/>
            <a:r>
              <a:rPr lang="en-US" altLang="zh-CN" sz="2000" dirty="0"/>
              <a:t>D(k)</a:t>
            </a:r>
            <a:r>
              <a:rPr lang="zh-CN" altLang="en-US" sz="2000" dirty="0"/>
              <a:t>：从计算节点</a:t>
            </a:r>
            <a:r>
              <a:rPr lang="zh-CN" altLang="en-US" sz="2000" dirty="0">
                <a:cs typeface="Times New Roman" panose="02020603050405020304" pitchFamily="18" charset="0"/>
              </a:rPr>
              <a:t>到目的节点</a:t>
            </a:r>
            <a:r>
              <a:rPr lang="en-US" altLang="zh-CN" sz="2000" dirty="0">
                <a:cs typeface="Times New Roman" panose="02020603050405020304" pitchFamily="18" charset="0"/>
              </a:rPr>
              <a:t>k</a:t>
            </a:r>
            <a:r>
              <a:rPr lang="zh-CN" altLang="en-US" sz="2000" dirty="0">
                <a:cs typeface="Times New Roman" panose="02020603050405020304" pitchFamily="18" charset="0"/>
              </a:rPr>
              <a:t>当前路径代价</a:t>
            </a:r>
            <a:endParaRPr lang="en-US" altLang="zh-CN" sz="2000" dirty="0">
              <a:cs typeface="Times New Roman" panose="02020603050405020304" pitchFamily="18" charset="0"/>
            </a:endParaRPr>
          </a:p>
          <a:p>
            <a:pPr lvl="2"/>
            <a:r>
              <a:rPr lang="en-US" altLang="zh-CN" sz="2000" dirty="0">
                <a:cs typeface="Times New Roman" panose="02020603050405020304" pitchFamily="18" charset="0"/>
              </a:rPr>
              <a:t>p(k)</a:t>
            </a:r>
            <a:r>
              <a:rPr lang="zh-CN" altLang="en-US" sz="2000" dirty="0">
                <a:cs typeface="Times New Roman" panose="02020603050405020304" pitchFamily="18" charset="0"/>
              </a:rPr>
              <a:t>：从计算节点到目的节点</a:t>
            </a:r>
            <a:r>
              <a:rPr lang="en-US" altLang="zh-CN" sz="2000" dirty="0">
                <a:cs typeface="Times New Roman" panose="02020603050405020304" pitchFamily="18" charset="0"/>
              </a:rPr>
              <a:t>k</a:t>
            </a:r>
            <a:r>
              <a:rPr lang="zh-CN" altLang="en-US" sz="2000" dirty="0">
                <a:cs typeface="Times New Roman" panose="02020603050405020304" pitchFamily="18" charset="0"/>
              </a:rPr>
              <a:t>的路径中</a:t>
            </a:r>
            <a:r>
              <a:rPr lang="en-US" altLang="zh-CN" sz="2000" dirty="0">
                <a:cs typeface="Times New Roman" panose="02020603050405020304" pitchFamily="18" charset="0"/>
              </a:rPr>
              <a:t>k</a:t>
            </a:r>
            <a:r>
              <a:rPr lang="zh-CN" altLang="en-US" sz="2000" dirty="0">
                <a:cs typeface="Times New Roman" panose="02020603050405020304" pitchFamily="18" charset="0"/>
              </a:rPr>
              <a:t>节点的前继节点</a:t>
            </a:r>
            <a:endParaRPr lang="en-US" altLang="zh-CN" sz="2000" dirty="0">
              <a:cs typeface="Times New Roman" panose="02020603050405020304" pitchFamily="18" charset="0"/>
            </a:endParaRPr>
          </a:p>
          <a:p>
            <a:pPr lvl="2"/>
            <a:endParaRPr lang="en-US" altLang="zh-CN" dirty="0"/>
          </a:p>
        </p:txBody>
      </p:sp>
      <p:sp>
        <p:nvSpPr>
          <p:cNvPr id="6" name="Text Box 3">
            <a:extLst>
              <a:ext uri="{FF2B5EF4-FFF2-40B4-BE49-F238E27FC236}">
                <a16:creationId xmlns:a16="http://schemas.microsoft.com/office/drawing/2014/main" id="{57637DA9-370D-46DE-8A9D-23CF7D5BBCEE}"/>
              </a:ext>
            </a:extLst>
          </p:cNvPr>
          <p:cNvSpPr txBox="1">
            <a:spLocks noChangeArrowheads="1"/>
          </p:cNvSpPr>
          <p:nvPr/>
        </p:nvSpPr>
        <p:spPr bwMode="auto">
          <a:xfrm>
            <a:off x="1408623" y="2742779"/>
            <a:ext cx="697627"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r">
              <a:spcBef>
                <a:spcPct val="0"/>
              </a:spcBef>
              <a:buFontTx/>
              <a:buNone/>
            </a:pPr>
            <a:r>
              <a:rPr lang="zh-CN" altLang="en-US" sz="2000" dirty="0">
                <a:cs typeface="Times New Roman" panose="02020603050405020304" pitchFamily="18" charset="0"/>
              </a:rPr>
              <a:t>步骤</a:t>
            </a:r>
            <a:endParaRPr lang="en-US" altLang="zh-CN" sz="2000" dirty="0">
              <a:cs typeface="Times New Roman" panose="02020603050405020304" pitchFamily="18" charset="0"/>
            </a:endParaRPr>
          </a:p>
          <a:p>
            <a:pPr algn="r">
              <a:spcBef>
                <a:spcPct val="0"/>
              </a:spcBef>
              <a:buFontTx/>
              <a:buNone/>
            </a:pPr>
            <a:r>
              <a:rPr lang="en-US" altLang="zh-CN" sz="2000" dirty="0">
                <a:cs typeface="Times New Roman" panose="02020603050405020304" pitchFamily="18" charset="0"/>
              </a:rPr>
              <a:t>0</a:t>
            </a:r>
          </a:p>
          <a:p>
            <a:pPr algn="r">
              <a:spcBef>
                <a:spcPct val="0"/>
              </a:spcBef>
              <a:buFontTx/>
              <a:buNone/>
            </a:pPr>
            <a:r>
              <a:rPr lang="en-US" altLang="zh-CN" sz="2000" dirty="0">
                <a:cs typeface="Times New Roman" panose="02020603050405020304" pitchFamily="18" charset="0"/>
              </a:rPr>
              <a:t>1</a:t>
            </a:r>
          </a:p>
          <a:p>
            <a:pPr algn="r">
              <a:spcBef>
                <a:spcPct val="0"/>
              </a:spcBef>
              <a:buFontTx/>
              <a:buNone/>
            </a:pPr>
            <a:r>
              <a:rPr lang="en-US" altLang="zh-CN" sz="2000" dirty="0">
                <a:cs typeface="Times New Roman" panose="02020603050405020304" pitchFamily="18" charset="0"/>
              </a:rPr>
              <a:t>2</a:t>
            </a:r>
          </a:p>
          <a:p>
            <a:pPr algn="r">
              <a:spcBef>
                <a:spcPct val="0"/>
              </a:spcBef>
              <a:buFontTx/>
              <a:buNone/>
            </a:pPr>
            <a:r>
              <a:rPr lang="en-US" altLang="zh-CN" sz="2000" dirty="0">
                <a:cs typeface="Times New Roman" panose="02020603050405020304" pitchFamily="18" charset="0"/>
              </a:rPr>
              <a:t>3</a:t>
            </a:r>
          </a:p>
          <a:p>
            <a:pPr algn="r">
              <a:spcBef>
                <a:spcPct val="0"/>
              </a:spcBef>
              <a:buFontTx/>
              <a:buNone/>
            </a:pPr>
            <a:r>
              <a:rPr lang="en-US" altLang="zh-CN" sz="2000" dirty="0">
                <a:cs typeface="Times New Roman" panose="02020603050405020304" pitchFamily="18" charset="0"/>
              </a:rPr>
              <a:t>4</a:t>
            </a:r>
          </a:p>
          <a:p>
            <a:pPr algn="r">
              <a:spcBef>
                <a:spcPct val="0"/>
              </a:spcBef>
              <a:buFontTx/>
              <a:buNone/>
            </a:pPr>
            <a:r>
              <a:rPr lang="en-US" altLang="zh-CN" sz="2000" dirty="0">
                <a:cs typeface="Times New Roman" panose="02020603050405020304" pitchFamily="18" charset="0"/>
              </a:rPr>
              <a:t>5</a:t>
            </a:r>
          </a:p>
        </p:txBody>
      </p:sp>
      <p:sp>
        <p:nvSpPr>
          <p:cNvPr id="7" name="Text Box 4">
            <a:extLst>
              <a:ext uri="{FF2B5EF4-FFF2-40B4-BE49-F238E27FC236}">
                <a16:creationId xmlns:a16="http://schemas.microsoft.com/office/drawing/2014/main" id="{F1DD3A2E-8536-4D45-BFAA-2ADFE6665062}"/>
              </a:ext>
            </a:extLst>
          </p:cNvPr>
          <p:cNvSpPr txBox="1">
            <a:spLocks noChangeArrowheads="1"/>
          </p:cNvSpPr>
          <p:nvPr/>
        </p:nvSpPr>
        <p:spPr bwMode="auto">
          <a:xfrm>
            <a:off x="2403982" y="2752304"/>
            <a:ext cx="1026243"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r">
              <a:spcBef>
                <a:spcPct val="0"/>
              </a:spcBef>
              <a:buFontTx/>
              <a:buNone/>
            </a:pPr>
            <a:r>
              <a:rPr lang="zh-CN" altLang="en-US" sz="2000" dirty="0">
                <a:cs typeface="Times New Roman" panose="02020603050405020304" pitchFamily="18" charset="0"/>
              </a:rPr>
              <a:t>集合</a:t>
            </a:r>
            <a:r>
              <a:rPr lang="en-US" altLang="zh-CN" sz="2000" dirty="0">
                <a:cs typeface="Times New Roman" panose="02020603050405020304" pitchFamily="18" charset="0"/>
              </a:rPr>
              <a:t>N</a:t>
            </a:r>
          </a:p>
          <a:p>
            <a:pPr algn="r">
              <a:spcBef>
                <a:spcPct val="0"/>
              </a:spcBef>
              <a:buFontTx/>
              <a:buNone/>
            </a:pPr>
            <a:r>
              <a:rPr lang="en-US" altLang="zh-CN" sz="2000" dirty="0">
                <a:cs typeface="Times New Roman" panose="02020603050405020304" pitchFamily="18" charset="0"/>
              </a:rPr>
              <a:t>u</a:t>
            </a:r>
          </a:p>
          <a:p>
            <a:pPr algn="r">
              <a:spcBef>
                <a:spcPct val="0"/>
              </a:spcBef>
              <a:buFontTx/>
              <a:buNone/>
            </a:pPr>
            <a:r>
              <a:rPr lang="en-US" altLang="zh-CN" sz="2000" dirty="0" err="1">
                <a:cs typeface="Times New Roman" panose="02020603050405020304" pitchFamily="18" charset="0"/>
              </a:rPr>
              <a:t>ux</a:t>
            </a:r>
            <a:endParaRPr lang="en-US" altLang="zh-CN" sz="2000" dirty="0">
              <a:cs typeface="Times New Roman" panose="02020603050405020304" pitchFamily="18" charset="0"/>
            </a:endParaRPr>
          </a:p>
          <a:p>
            <a:pPr algn="r">
              <a:spcBef>
                <a:spcPct val="0"/>
              </a:spcBef>
              <a:buFontTx/>
              <a:buNone/>
            </a:pPr>
            <a:r>
              <a:rPr lang="en-US" altLang="zh-CN" sz="2000" dirty="0" err="1">
                <a:cs typeface="Times New Roman" panose="02020603050405020304" pitchFamily="18" charset="0"/>
              </a:rPr>
              <a:t>uxy</a:t>
            </a:r>
            <a:endParaRPr lang="en-US" altLang="zh-CN" sz="2000" dirty="0">
              <a:cs typeface="Times New Roman" panose="02020603050405020304" pitchFamily="18" charset="0"/>
            </a:endParaRPr>
          </a:p>
          <a:p>
            <a:pPr algn="r">
              <a:spcBef>
                <a:spcPct val="0"/>
              </a:spcBef>
              <a:buFontTx/>
              <a:buNone/>
            </a:pPr>
            <a:r>
              <a:rPr lang="en-US" altLang="zh-CN" sz="2000" dirty="0" err="1">
                <a:cs typeface="Times New Roman" panose="02020603050405020304" pitchFamily="18" charset="0"/>
              </a:rPr>
              <a:t>uxyv</a:t>
            </a:r>
            <a:endParaRPr lang="en-US" altLang="zh-CN" sz="2000" dirty="0">
              <a:cs typeface="Times New Roman" panose="02020603050405020304" pitchFamily="18" charset="0"/>
            </a:endParaRPr>
          </a:p>
          <a:p>
            <a:pPr algn="r">
              <a:spcBef>
                <a:spcPct val="0"/>
              </a:spcBef>
              <a:buFontTx/>
              <a:buNone/>
            </a:pPr>
            <a:r>
              <a:rPr lang="en-US" altLang="zh-CN" sz="2000" dirty="0" err="1">
                <a:cs typeface="Times New Roman" panose="02020603050405020304" pitchFamily="18" charset="0"/>
              </a:rPr>
              <a:t>uxyvw</a:t>
            </a:r>
            <a:endParaRPr lang="en-US" altLang="zh-CN" sz="2000" dirty="0">
              <a:cs typeface="Times New Roman" panose="02020603050405020304" pitchFamily="18" charset="0"/>
            </a:endParaRPr>
          </a:p>
          <a:p>
            <a:pPr algn="r">
              <a:spcBef>
                <a:spcPct val="0"/>
              </a:spcBef>
              <a:buFontTx/>
              <a:buNone/>
            </a:pPr>
            <a:r>
              <a:rPr lang="en-US" altLang="zh-CN" sz="2000" dirty="0" err="1">
                <a:cs typeface="Times New Roman" panose="02020603050405020304" pitchFamily="18" charset="0"/>
              </a:rPr>
              <a:t>uxyvwz</a:t>
            </a:r>
            <a:endParaRPr lang="en-US" altLang="zh-CN" sz="2000" dirty="0">
              <a:cs typeface="Times New Roman" panose="02020603050405020304" pitchFamily="18" charset="0"/>
            </a:endParaRPr>
          </a:p>
        </p:txBody>
      </p:sp>
      <p:sp>
        <p:nvSpPr>
          <p:cNvPr id="8" name="Text Box 5">
            <a:extLst>
              <a:ext uri="{FF2B5EF4-FFF2-40B4-BE49-F238E27FC236}">
                <a16:creationId xmlns:a16="http://schemas.microsoft.com/office/drawing/2014/main" id="{280AF11B-FFF1-4452-AF51-1FFC1E95E0F2}"/>
              </a:ext>
            </a:extLst>
          </p:cNvPr>
          <p:cNvSpPr txBox="1">
            <a:spLocks noChangeArrowheads="1"/>
          </p:cNvSpPr>
          <p:nvPr/>
        </p:nvSpPr>
        <p:spPr bwMode="auto">
          <a:xfrm>
            <a:off x="3612478" y="2733254"/>
            <a:ext cx="118013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cs typeface="Times New Roman" panose="02020603050405020304" pitchFamily="18" charset="0"/>
              </a:rPr>
              <a:t>D(v),p(v)</a:t>
            </a:r>
          </a:p>
          <a:p>
            <a:pPr algn="ctr">
              <a:spcBef>
                <a:spcPct val="0"/>
              </a:spcBef>
              <a:buFontTx/>
              <a:buNone/>
            </a:pPr>
            <a:r>
              <a:rPr lang="en-US" altLang="zh-CN" sz="2000" dirty="0">
                <a:cs typeface="Times New Roman" panose="02020603050405020304" pitchFamily="18" charset="0"/>
              </a:rPr>
              <a:t>2,u</a:t>
            </a:r>
          </a:p>
          <a:p>
            <a:pPr algn="ctr">
              <a:spcBef>
                <a:spcPct val="0"/>
              </a:spcBef>
              <a:buFontTx/>
              <a:buNone/>
            </a:pPr>
            <a:r>
              <a:rPr lang="en-US" altLang="zh-CN" sz="2000" dirty="0">
                <a:cs typeface="Times New Roman" panose="02020603050405020304" pitchFamily="18" charset="0"/>
              </a:rPr>
              <a:t>2,u</a:t>
            </a:r>
          </a:p>
          <a:p>
            <a:pPr algn="ctr">
              <a:spcBef>
                <a:spcPct val="0"/>
              </a:spcBef>
              <a:buFontTx/>
              <a:buNone/>
            </a:pPr>
            <a:r>
              <a:rPr lang="en-US" altLang="zh-CN" sz="2000" dirty="0">
                <a:cs typeface="Times New Roman" panose="02020603050405020304" pitchFamily="18" charset="0"/>
              </a:rPr>
              <a:t>2,u</a:t>
            </a:r>
          </a:p>
        </p:txBody>
      </p:sp>
      <p:sp>
        <p:nvSpPr>
          <p:cNvPr id="9" name="Text Box 6">
            <a:extLst>
              <a:ext uri="{FF2B5EF4-FFF2-40B4-BE49-F238E27FC236}">
                <a16:creationId xmlns:a16="http://schemas.microsoft.com/office/drawing/2014/main" id="{928E51DB-3308-49EC-981F-BAEB70F98B5B}"/>
              </a:ext>
            </a:extLst>
          </p:cNvPr>
          <p:cNvSpPr txBox="1">
            <a:spLocks noChangeArrowheads="1"/>
          </p:cNvSpPr>
          <p:nvPr/>
        </p:nvSpPr>
        <p:spPr bwMode="auto">
          <a:xfrm>
            <a:off x="4827224" y="2738016"/>
            <a:ext cx="1284288"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cs typeface="Times New Roman" panose="02020603050405020304" pitchFamily="18" charset="0"/>
              </a:rPr>
              <a:t>D(w),p(w)</a:t>
            </a:r>
          </a:p>
          <a:p>
            <a:pPr algn="ctr">
              <a:spcBef>
                <a:spcPct val="0"/>
              </a:spcBef>
              <a:buFontTx/>
              <a:buNone/>
            </a:pPr>
            <a:r>
              <a:rPr lang="en-US" altLang="zh-CN" sz="2000" dirty="0">
                <a:cs typeface="Times New Roman" panose="02020603050405020304" pitchFamily="18" charset="0"/>
              </a:rPr>
              <a:t>5,u</a:t>
            </a:r>
          </a:p>
          <a:p>
            <a:pPr algn="ctr">
              <a:spcBef>
                <a:spcPct val="0"/>
              </a:spcBef>
              <a:buFontTx/>
              <a:buNone/>
            </a:pPr>
            <a:r>
              <a:rPr lang="en-US" altLang="zh-CN" sz="2000" dirty="0">
                <a:cs typeface="Times New Roman" panose="02020603050405020304" pitchFamily="18" charset="0"/>
              </a:rPr>
              <a:t>4,x</a:t>
            </a:r>
          </a:p>
          <a:p>
            <a:pPr algn="ctr">
              <a:spcBef>
                <a:spcPct val="0"/>
              </a:spcBef>
              <a:buFontTx/>
              <a:buNone/>
            </a:pPr>
            <a:r>
              <a:rPr lang="en-US" altLang="zh-CN" sz="2000" dirty="0">
                <a:cs typeface="Times New Roman" panose="02020603050405020304" pitchFamily="18" charset="0"/>
              </a:rPr>
              <a:t>3,y</a:t>
            </a:r>
          </a:p>
          <a:p>
            <a:pPr algn="ctr">
              <a:spcBef>
                <a:spcPct val="0"/>
              </a:spcBef>
              <a:buFontTx/>
              <a:buNone/>
            </a:pPr>
            <a:r>
              <a:rPr lang="en-US" altLang="zh-CN" sz="2000" dirty="0">
                <a:cs typeface="Times New Roman" panose="02020603050405020304" pitchFamily="18" charset="0"/>
              </a:rPr>
              <a:t>3,y</a:t>
            </a:r>
          </a:p>
        </p:txBody>
      </p:sp>
      <p:sp>
        <p:nvSpPr>
          <p:cNvPr id="10" name="Text Box 7">
            <a:extLst>
              <a:ext uri="{FF2B5EF4-FFF2-40B4-BE49-F238E27FC236}">
                <a16:creationId xmlns:a16="http://schemas.microsoft.com/office/drawing/2014/main" id="{3EF53485-B7D7-405F-8105-D14BF8039A9E}"/>
              </a:ext>
            </a:extLst>
          </p:cNvPr>
          <p:cNvSpPr txBox="1">
            <a:spLocks noChangeArrowheads="1"/>
          </p:cNvSpPr>
          <p:nvPr/>
        </p:nvSpPr>
        <p:spPr bwMode="auto">
          <a:xfrm>
            <a:off x="6155653" y="2733253"/>
            <a:ext cx="118013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cs typeface="Times New Roman" panose="02020603050405020304" pitchFamily="18" charset="0"/>
              </a:rPr>
              <a:t>D(x),p(x)</a:t>
            </a:r>
          </a:p>
          <a:p>
            <a:pPr algn="ctr">
              <a:spcBef>
                <a:spcPct val="0"/>
              </a:spcBef>
              <a:buFontTx/>
              <a:buNone/>
            </a:pPr>
            <a:r>
              <a:rPr lang="en-US" altLang="zh-CN" sz="2000" dirty="0">
                <a:cs typeface="Times New Roman" panose="02020603050405020304" pitchFamily="18" charset="0"/>
              </a:rPr>
              <a:t>1,u</a:t>
            </a:r>
          </a:p>
        </p:txBody>
      </p:sp>
      <p:sp>
        <p:nvSpPr>
          <p:cNvPr id="11" name="Text Box 8">
            <a:extLst>
              <a:ext uri="{FF2B5EF4-FFF2-40B4-BE49-F238E27FC236}">
                <a16:creationId xmlns:a16="http://schemas.microsoft.com/office/drawing/2014/main" id="{733644C7-2FE0-49B0-8F5A-C735BD17D14E}"/>
              </a:ext>
            </a:extLst>
          </p:cNvPr>
          <p:cNvSpPr txBox="1">
            <a:spLocks noChangeArrowheads="1"/>
          </p:cNvSpPr>
          <p:nvPr/>
        </p:nvSpPr>
        <p:spPr bwMode="auto">
          <a:xfrm>
            <a:off x="7465341" y="2738016"/>
            <a:ext cx="118013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cs typeface="Times New Roman" panose="02020603050405020304" pitchFamily="18" charset="0"/>
              </a:rPr>
              <a:t>D(y),p(y)</a:t>
            </a:r>
          </a:p>
          <a:p>
            <a:pPr algn="ctr">
              <a:spcBef>
                <a:spcPct val="0"/>
              </a:spcBef>
              <a:buFontTx/>
              <a:buNone/>
            </a:pPr>
            <a:r>
              <a:rPr lang="en-US" altLang="zh-CN" sz="2000" dirty="0">
                <a:cs typeface="Times New Roman" panose="02020603050405020304" pitchFamily="18" charset="0"/>
              </a:rPr>
              <a:t>∞</a:t>
            </a:r>
          </a:p>
          <a:p>
            <a:pPr algn="ctr">
              <a:spcBef>
                <a:spcPct val="0"/>
              </a:spcBef>
              <a:buFontTx/>
              <a:buNone/>
            </a:pPr>
            <a:r>
              <a:rPr lang="en-US" altLang="zh-CN" sz="2000" dirty="0">
                <a:cs typeface="Times New Roman" panose="02020603050405020304" pitchFamily="18" charset="0"/>
              </a:rPr>
              <a:t>2,x</a:t>
            </a:r>
          </a:p>
        </p:txBody>
      </p:sp>
      <p:sp>
        <p:nvSpPr>
          <p:cNvPr id="12" name="Text Box 9">
            <a:extLst>
              <a:ext uri="{FF2B5EF4-FFF2-40B4-BE49-F238E27FC236}">
                <a16:creationId xmlns:a16="http://schemas.microsoft.com/office/drawing/2014/main" id="{5734FBAE-F4AF-468A-90BB-BFB89A718F0F}"/>
              </a:ext>
            </a:extLst>
          </p:cNvPr>
          <p:cNvSpPr txBox="1">
            <a:spLocks noChangeArrowheads="1"/>
          </p:cNvSpPr>
          <p:nvPr/>
        </p:nvSpPr>
        <p:spPr bwMode="auto">
          <a:xfrm>
            <a:off x="8757011" y="2752303"/>
            <a:ext cx="1130438"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cs typeface="Times New Roman" panose="02020603050405020304" pitchFamily="18" charset="0"/>
              </a:rPr>
              <a:t>D(z),p(z)</a:t>
            </a:r>
          </a:p>
          <a:p>
            <a:pPr algn="ctr">
              <a:spcBef>
                <a:spcPct val="0"/>
              </a:spcBef>
              <a:buFontTx/>
              <a:buNone/>
            </a:pPr>
            <a:r>
              <a:rPr lang="en-US" altLang="zh-CN" sz="2000" dirty="0">
                <a:cs typeface="Times New Roman" panose="02020603050405020304" pitchFamily="18" charset="0"/>
              </a:rPr>
              <a:t>∞</a:t>
            </a:r>
          </a:p>
          <a:p>
            <a:pPr algn="ctr">
              <a:spcBef>
                <a:spcPct val="0"/>
              </a:spcBef>
              <a:buFontTx/>
              <a:buNone/>
            </a:pPr>
            <a:r>
              <a:rPr lang="en-US" altLang="zh-CN" sz="2000" dirty="0">
                <a:cs typeface="Times New Roman" panose="02020603050405020304" pitchFamily="18" charset="0"/>
              </a:rPr>
              <a:t>∞</a:t>
            </a:r>
          </a:p>
          <a:p>
            <a:pPr algn="ctr">
              <a:spcBef>
                <a:spcPct val="0"/>
              </a:spcBef>
              <a:buFontTx/>
              <a:buNone/>
            </a:pPr>
            <a:r>
              <a:rPr lang="en-US" altLang="zh-CN" sz="2000" dirty="0">
                <a:cs typeface="Times New Roman" panose="02020603050405020304" pitchFamily="18" charset="0"/>
              </a:rPr>
              <a:t>4,y</a:t>
            </a:r>
          </a:p>
          <a:p>
            <a:pPr algn="ctr">
              <a:spcBef>
                <a:spcPct val="0"/>
              </a:spcBef>
              <a:buFontTx/>
              <a:buNone/>
            </a:pPr>
            <a:r>
              <a:rPr lang="en-US" altLang="zh-CN" sz="2000" dirty="0">
                <a:cs typeface="Times New Roman" panose="02020603050405020304" pitchFamily="18" charset="0"/>
              </a:rPr>
              <a:t>4,y</a:t>
            </a:r>
          </a:p>
          <a:p>
            <a:pPr algn="ctr">
              <a:spcBef>
                <a:spcPct val="0"/>
              </a:spcBef>
              <a:buFontTx/>
              <a:buNone/>
            </a:pPr>
            <a:r>
              <a:rPr lang="en-US" altLang="zh-CN" sz="2000" dirty="0">
                <a:cs typeface="Times New Roman" panose="02020603050405020304" pitchFamily="18" charset="0"/>
              </a:rPr>
              <a:t>4,y</a:t>
            </a:r>
          </a:p>
        </p:txBody>
      </p:sp>
      <p:sp>
        <p:nvSpPr>
          <p:cNvPr id="13" name="Line 10">
            <a:extLst>
              <a:ext uri="{FF2B5EF4-FFF2-40B4-BE49-F238E27FC236}">
                <a16:creationId xmlns:a16="http://schemas.microsoft.com/office/drawing/2014/main" id="{62433592-201C-4BBC-9F87-EDCA9D70CB51}"/>
              </a:ext>
            </a:extLst>
          </p:cNvPr>
          <p:cNvSpPr>
            <a:spLocks noChangeShapeType="1"/>
          </p:cNvSpPr>
          <p:nvPr/>
        </p:nvSpPr>
        <p:spPr bwMode="auto">
          <a:xfrm>
            <a:off x="1522050" y="3093616"/>
            <a:ext cx="8505825" cy="9525"/>
          </a:xfrm>
          <a:prstGeom prst="line">
            <a:avLst/>
          </a:prstGeom>
          <a:noFill/>
          <a:ln w="28575">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4" name="Line 11">
            <a:extLst>
              <a:ext uri="{FF2B5EF4-FFF2-40B4-BE49-F238E27FC236}">
                <a16:creationId xmlns:a16="http://schemas.microsoft.com/office/drawing/2014/main" id="{840570FE-71C4-4DB1-AA66-ED2B9A7D603E}"/>
              </a:ext>
            </a:extLst>
          </p:cNvPr>
          <p:cNvSpPr>
            <a:spLocks noChangeShapeType="1"/>
          </p:cNvSpPr>
          <p:nvPr/>
        </p:nvSpPr>
        <p:spPr bwMode="auto">
          <a:xfrm>
            <a:off x="1679213" y="3398415"/>
            <a:ext cx="8296275" cy="0"/>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marL="285750" indent="-285750">
              <a:buFont typeface="Arial" panose="020B0604020202020204" pitchFamily="34" charset="0"/>
              <a:buChar char="•"/>
            </a:pPr>
            <a:endParaRPr lang="zh-CN" altLang="en-US">
              <a:latin typeface="Times New Roman" panose="02020603050405020304" pitchFamily="18" charset="0"/>
              <a:cs typeface="Times New Roman" panose="02020603050405020304" pitchFamily="18" charset="0"/>
            </a:endParaRPr>
          </a:p>
        </p:txBody>
      </p:sp>
      <p:sp>
        <p:nvSpPr>
          <p:cNvPr id="15" name="Line 12">
            <a:extLst>
              <a:ext uri="{FF2B5EF4-FFF2-40B4-BE49-F238E27FC236}">
                <a16:creationId xmlns:a16="http://schemas.microsoft.com/office/drawing/2014/main" id="{39166758-DD1C-4874-956F-ADDC228BC362}"/>
              </a:ext>
            </a:extLst>
          </p:cNvPr>
          <p:cNvSpPr>
            <a:spLocks noChangeShapeType="1"/>
          </p:cNvSpPr>
          <p:nvPr/>
        </p:nvSpPr>
        <p:spPr bwMode="auto">
          <a:xfrm>
            <a:off x="1698262" y="3693691"/>
            <a:ext cx="8267700" cy="4763"/>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6" name="Line 13">
            <a:extLst>
              <a:ext uri="{FF2B5EF4-FFF2-40B4-BE49-F238E27FC236}">
                <a16:creationId xmlns:a16="http://schemas.microsoft.com/office/drawing/2014/main" id="{9197B964-0960-4D85-8C3D-4DFA6389C12C}"/>
              </a:ext>
            </a:extLst>
          </p:cNvPr>
          <p:cNvSpPr>
            <a:spLocks noChangeShapeType="1"/>
          </p:cNvSpPr>
          <p:nvPr/>
        </p:nvSpPr>
        <p:spPr bwMode="auto">
          <a:xfrm>
            <a:off x="1707787" y="4003254"/>
            <a:ext cx="8253412" cy="9525"/>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7" name="Line 14">
            <a:extLst>
              <a:ext uri="{FF2B5EF4-FFF2-40B4-BE49-F238E27FC236}">
                <a16:creationId xmlns:a16="http://schemas.microsoft.com/office/drawing/2014/main" id="{739F8781-D85C-4805-AE3F-ABFD1B2F05DD}"/>
              </a:ext>
            </a:extLst>
          </p:cNvPr>
          <p:cNvSpPr>
            <a:spLocks noChangeShapeType="1"/>
          </p:cNvSpPr>
          <p:nvPr/>
        </p:nvSpPr>
        <p:spPr bwMode="auto">
          <a:xfrm>
            <a:off x="1717312" y="4308054"/>
            <a:ext cx="8267700" cy="9525"/>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8" name="Line 15">
            <a:extLst>
              <a:ext uri="{FF2B5EF4-FFF2-40B4-BE49-F238E27FC236}">
                <a16:creationId xmlns:a16="http://schemas.microsoft.com/office/drawing/2014/main" id="{40C629F1-3F04-4F5C-8467-49589D42C6A7}"/>
              </a:ext>
            </a:extLst>
          </p:cNvPr>
          <p:cNvSpPr>
            <a:spLocks noChangeShapeType="1"/>
          </p:cNvSpPr>
          <p:nvPr/>
        </p:nvSpPr>
        <p:spPr bwMode="auto">
          <a:xfrm>
            <a:off x="1731599" y="4622378"/>
            <a:ext cx="8262938" cy="4762"/>
          </a:xfrm>
          <a:prstGeom prst="line">
            <a:avLst/>
          </a:prstGeom>
          <a:noFill/>
          <a:ln w="1905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19" name="Line 91">
            <a:extLst>
              <a:ext uri="{FF2B5EF4-FFF2-40B4-BE49-F238E27FC236}">
                <a16:creationId xmlns:a16="http://schemas.microsoft.com/office/drawing/2014/main" id="{F80D19C5-F9FB-4ABD-BD50-BBD0669AE00F}"/>
              </a:ext>
            </a:extLst>
          </p:cNvPr>
          <p:cNvSpPr>
            <a:spLocks noChangeShapeType="1"/>
          </p:cNvSpPr>
          <p:nvPr/>
        </p:nvSpPr>
        <p:spPr bwMode="auto">
          <a:xfrm>
            <a:off x="1331549" y="3815928"/>
            <a:ext cx="51435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0" name="Line 92">
            <a:extLst>
              <a:ext uri="{FF2B5EF4-FFF2-40B4-BE49-F238E27FC236}">
                <a16:creationId xmlns:a16="http://schemas.microsoft.com/office/drawing/2014/main" id="{6D2E99D2-6E61-4238-AC3C-3BEE1933758D}"/>
              </a:ext>
            </a:extLst>
          </p:cNvPr>
          <p:cNvSpPr>
            <a:spLocks noChangeShapeType="1"/>
          </p:cNvSpPr>
          <p:nvPr/>
        </p:nvSpPr>
        <p:spPr bwMode="auto">
          <a:xfrm>
            <a:off x="1322024" y="4149303"/>
            <a:ext cx="51435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1" name="Line 93">
            <a:extLst>
              <a:ext uri="{FF2B5EF4-FFF2-40B4-BE49-F238E27FC236}">
                <a16:creationId xmlns:a16="http://schemas.microsoft.com/office/drawing/2014/main" id="{2040DDF4-52AA-443D-9305-83ECCBB15530}"/>
              </a:ext>
            </a:extLst>
          </p:cNvPr>
          <p:cNvSpPr>
            <a:spLocks noChangeShapeType="1"/>
          </p:cNvSpPr>
          <p:nvPr/>
        </p:nvSpPr>
        <p:spPr bwMode="auto">
          <a:xfrm>
            <a:off x="1331549" y="4454103"/>
            <a:ext cx="51435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2" name="Line 94">
            <a:extLst>
              <a:ext uri="{FF2B5EF4-FFF2-40B4-BE49-F238E27FC236}">
                <a16:creationId xmlns:a16="http://schemas.microsoft.com/office/drawing/2014/main" id="{4809EE14-17F5-4565-846E-DB65063C3777}"/>
              </a:ext>
            </a:extLst>
          </p:cNvPr>
          <p:cNvSpPr>
            <a:spLocks noChangeShapeType="1"/>
          </p:cNvSpPr>
          <p:nvPr/>
        </p:nvSpPr>
        <p:spPr bwMode="auto">
          <a:xfrm>
            <a:off x="1341074" y="4758903"/>
            <a:ext cx="51435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3" name="椭圆 22">
            <a:extLst>
              <a:ext uri="{FF2B5EF4-FFF2-40B4-BE49-F238E27FC236}">
                <a16:creationId xmlns:a16="http://schemas.microsoft.com/office/drawing/2014/main" id="{F11BB639-D9AA-46BE-97FC-A43A4138246A}"/>
              </a:ext>
            </a:extLst>
          </p:cNvPr>
          <p:cNvSpPr/>
          <p:nvPr/>
        </p:nvSpPr>
        <p:spPr>
          <a:xfrm>
            <a:off x="6529024" y="3103140"/>
            <a:ext cx="510448" cy="293688"/>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4" name="椭圆 23">
            <a:extLst>
              <a:ext uri="{FF2B5EF4-FFF2-40B4-BE49-F238E27FC236}">
                <a16:creationId xmlns:a16="http://schemas.microsoft.com/office/drawing/2014/main" id="{179CAF25-CCB5-4E48-A604-8BADA9148641}"/>
              </a:ext>
            </a:extLst>
          </p:cNvPr>
          <p:cNvSpPr/>
          <p:nvPr/>
        </p:nvSpPr>
        <p:spPr>
          <a:xfrm>
            <a:off x="7800181" y="3407940"/>
            <a:ext cx="510448" cy="293688"/>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5" name="椭圆 24">
            <a:extLst>
              <a:ext uri="{FF2B5EF4-FFF2-40B4-BE49-F238E27FC236}">
                <a16:creationId xmlns:a16="http://schemas.microsoft.com/office/drawing/2014/main" id="{57CFF40F-1128-4346-9C3A-7502504D273A}"/>
              </a:ext>
            </a:extLst>
          </p:cNvPr>
          <p:cNvSpPr/>
          <p:nvPr/>
        </p:nvSpPr>
        <p:spPr>
          <a:xfrm>
            <a:off x="3945732" y="3712740"/>
            <a:ext cx="510448" cy="293688"/>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6" name="椭圆 25">
            <a:extLst>
              <a:ext uri="{FF2B5EF4-FFF2-40B4-BE49-F238E27FC236}">
                <a16:creationId xmlns:a16="http://schemas.microsoft.com/office/drawing/2014/main" id="{CE164C04-75C2-45B7-B4F8-A31B10F9D218}"/>
              </a:ext>
            </a:extLst>
          </p:cNvPr>
          <p:cNvSpPr/>
          <p:nvPr/>
        </p:nvSpPr>
        <p:spPr>
          <a:xfrm>
            <a:off x="5214144" y="4012778"/>
            <a:ext cx="510448" cy="293688"/>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7" name="椭圆 26">
            <a:extLst>
              <a:ext uri="{FF2B5EF4-FFF2-40B4-BE49-F238E27FC236}">
                <a16:creationId xmlns:a16="http://schemas.microsoft.com/office/drawing/2014/main" id="{4E73A568-8F9A-4C8B-804C-8958ED004C36}"/>
              </a:ext>
            </a:extLst>
          </p:cNvPr>
          <p:cNvSpPr/>
          <p:nvPr/>
        </p:nvSpPr>
        <p:spPr>
          <a:xfrm>
            <a:off x="9067006" y="4333452"/>
            <a:ext cx="510448" cy="293688"/>
          </a:xfrm>
          <a:prstGeom prst="ellipse">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sp>
        <p:nvSpPr>
          <p:cNvPr id="28" name="Line 91">
            <a:extLst>
              <a:ext uri="{FF2B5EF4-FFF2-40B4-BE49-F238E27FC236}">
                <a16:creationId xmlns:a16="http://schemas.microsoft.com/office/drawing/2014/main" id="{F80D19C5-F9FB-4ABD-BD50-BBD0669AE00F}"/>
              </a:ext>
            </a:extLst>
          </p:cNvPr>
          <p:cNvSpPr>
            <a:spLocks noChangeShapeType="1"/>
          </p:cNvSpPr>
          <p:nvPr/>
        </p:nvSpPr>
        <p:spPr bwMode="auto">
          <a:xfrm>
            <a:off x="1325621" y="3546053"/>
            <a:ext cx="514350" cy="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latin typeface="Times New Roman" panose="02020603050405020304" pitchFamily="18" charset="0"/>
              <a:cs typeface="Times New Roman" panose="02020603050405020304" pitchFamily="18" charset="0"/>
            </a:endParaRPr>
          </a:p>
        </p:txBody>
      </p:sp>
      <p:sp>
        <p:nvSpPr>
          <p:cNvPr id="29" name="矩形 28"/>
          <p:cNvSpPr/>
          <p:nvPr/>
        </p:nvSpPr>
        <p:spPr>
          <a:xfrm>
            <a:off x="869907" y="5289108"/>
            <a:ext cx="6941554" cy="353238"/>
          </a:xfrm>
          <a:prstGeom prst="rect">
            <a:avLst/>
          </a:prstGeom>
        </p:spPr>
        <p:txBody>
          <a:bodyPr wrap="square">
            <a:spAutoFit/>
          </a:bodyPr>
          <a:lstStyle/>
          <a:p>
            <a:pPr algn="just">
              <a:lnSpc>
                <a:spcPts val="2000"/>
              </a:lnSpc>
              <a:spcBef>
                <a:spcPts val="600"/>
              </a:spcBef>
            </a:pPr>
            <a:r>
              <a:rPr lang="zh-CN" altLang="en-US" sz="2000" dirty="0">
                <a:latin typeface="等线" panose="02010600030101010101" pitchFamily="2" charset="-122"/>
                <a:ea typeface="等线" panose="02010600030101010101" pitchFamily="2" charset="-122"/>
                <a:cs typeface="Times New Roman" panose="02020603050405020304" pitchFamily="18" charset="0"/>
              </a:rPr>
              <a:t>生成最短路径树</a:t>
            </a:r>
            <a:endParaRPr lang="en-US" altLang="zh-CN" sz="2000" dirty="0">
              <a:latin typeface="等线" panose="02010600030101010101" pitchFamily="2" charset="-122"/>
              <a:ea typeface="等线" panose="02010600030101010101" pitchFamily="2" charset="-122"/>
              <a:cs typeface="Times New Roman" panose="02020603050405020304" pitchFamily="18" charset="0"/>
            </a:endParaRPr>
          </a:p>
        </p:txBody>
      </p:sp>
      <p:sp>
        <p:nvSpPr>
          <p:cNvPr id="30" name="矩形 29"/>
          <p:cNvSpPr/>
          <p:nvPr/>
        </p:nvSpPr>
        <p:spPr>
          <a:xfrm>
            <a:off x="6271616" y="5212956"/>
            <a:ext cx="1773570" cy="353238"/>
          </a:xfrm>
          <a:prstGeom prst="rect">
            <a:avLst/>
          </a:prstGeom>
        </p:spPr>
        <p:txBody>
          <a:bodyPr wrap="square">
            <a:spAutoFit/>
          </a:bodyPr>
          <a:lstStyle/>
          <a:p>
            <a:pPr algn="just">
              <a:lnSpc>
                <a:spcPts val="2000"/>
              </a:lnSpc>
              <a:spcBef>
                <a:spcPts val="600"/>
              </a:spcBef>
            </a:pPr>
            <a:r>
              <a:rPr lang="zh-CN" altLang="en-US" sz="2000" dirty="0">
                <a:latin typeface="等线" panose="02010600030101010101" pitchFamily="2" charset="-122"/>
                <a:ea typeface="等线" panose="02010600030101010101" pitchFamily="2" charset="-122"/>
                <a:cs typeface="Times New Roman" panose="02020603050405020304" pitchFamily="18" charset="0"/>
              </a:rPr>
              <a:t>生成路由表</a:t>
            </a:r>
            <a:endParaRPr lang="en-US" altLang="zh-CN" sz="2000" dirty="0">
              <a:latin typeface="等线" panose="02010600030101010101" pitchFamily="2" charset="-122"/>
              <a:ea typeface="等线" panose="02010600030101010101" pitchFamily="2" charset="-122"/>
              <a:cs typeface="Times New Roman" panose="02020603050405020304" pitchFamily="18" charset="0"/>
            </a:endParaRPr>
          </a:p>
        </p:txBody>
      </p:sp>
      <p:grpSp>
        <p:nvGrpSpPr>
          <p:cNvPr id="32" name="组合 81">
            <a:extLst>
              <a:ext uri="{FF2B5EF4-FFF2-40B4-BE49-F238E27FC236}">
                <a16:creationId xmlns:a16="http://schemas.microsoft.com/office/drawing/2014/main" id="{79D33922-FD4F-4DBF-8FCD-FC4771069C82}"/>
              </a:ext>
            </a:extLst>
          </p:cNvPr>
          <p:cNvGrpSpPr>
            <a:grpSpLocks/>
          </p:cNvGrpSpPr>
          <p:nvPr/>
        </p:nvGrpSpPr>
        <p:grpSpPr bwMode="auto">
          <a:xfrm>
            <a:off x="3010000" y="4652139"/>
            <a:ext cx="3571875" cy="2236787"/>
            <a:chOff x="5019675" y="1700213"/>
            <a:chExt cx="3571875" cy="2236787"/>
          </a:xfrm>
        </p:grpSpPr>
        <p:sp>
          <p:nvSpPr>
            <p:cNvPr id="33" name="Freeform 9">
              <a:extLst>
                <a:ext uri="{FF2B5EF4-FFF2-40B4-BE49-F238E27FC236}">
                  <a16:creationId xmlns:a16="http://schemas.microsoft.com/office/drawing/2014/main" id="{93E5FACA-5D8D-4D70-B430-FA43E09FFD13}"/>
                </a:ext>
              </a:extLst>
            </p:cNvPr>
            <p:cNvSpPr>
              <a:spLocks/>
            </p:cNvSpPr>
            <p:nvPr/>
          </p:nvSpPr>
          <p:spPr bwMode="auto">
            <a:xfrm>
              <a:off x="5019675" y="1700213"/>
              <a:ext cx="3571875" cy="2236787"/>
            </a:xfrm>
            <a:custGeom>
              <a:avLst/>
              <a:gdLst>
                <a:gd name="T0" fmla="*/ 0 w 2250"/>
                <a:gd name="T1" fmla="*/ 2147483646 h 1409"/>
                <a:gd name="T2" fmla="*/ 2147483646 w 2250"/>
                <a:gd name="T3" fmla="*/ 2147483646 h 1409"/>
                <a:gd name="T4" fmla="*/ 2147483646 w 2250"/>
                <a:gd name="T5" fmla="*/ 2147483646 h 1409"/>
                <a:gd name="T6" fmla="*/ 2147483646 w 2250"/>
                <a:gd name="T7" fmla="*/ 2147483646 h 1409"/>
                <a:gd name="T8" fmla="*/ 2147483646 w 2250"/>
                <a:gd name="T9" fmla="*/ 2147483646 h 1409"/>
                <a:gd name="T10" fmla="*/ 2147483646 w 2250"/>
                <a:gd name="T11" fmla="*/ 2147483646 h 1409"/>
                <a:gd name="T12" fmla="*/ 2147483646 w 2250"/>
                <a:gd name="T13" fmla="*/ 2147483646 h 1409"/>
                <a:gd name="T14" fmla="*/ 2147483646 w 2250"/>
                <a:gd name="T15" fmla="*/ 2147483646 h 1409"/>
                <a:gd name="T16" fmla="*/ 2147483646 w 2250"/>
                <a:gd name="T17" fmla="*/ 2147483646 h 1409"/>
                <a:gd name="T18" fmla="*/ 2147483646 w 2250"/>
                <a:gd name="T19" fmla="*/ 2147483646 h 1409"/>
                <a:gd name="T20" fmla="*/ 0 w 2250"/>
                <a:gd name="T21" fmla="*/ 2147483646 h 140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2250"/>
                <a:gd name="T34" fmla="*/ 0 h 1409"/>
                <a:gd name="T35" fmla="*/ 2250 w 2250"/>
                <a:gd name="T36" fmla="*/ 1409 h 140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2250" h="1409">
                  <a:moveTo>
                    <a:pt x="0" y="624"/>
                  </a:moveTo>
                  <a:cubicBezTo>
                    <a:pt x="5" y="506"/>
                    <a:pt x="131" y="419"/>
                    <a:pt x="219" y="321"/>
                  </a:cubicBezTo>
                  <a:cubicBezTo>
                    <a:pt x="307" y="223"/>
                    <a:pt x="307" y="70"/>
                    <a:pt x="529" y="35"/>
                  </a:cubicBezTo>
                  <a:cubicBezTo>
                    <a:pt x="751" y="0"/>
                    <a:pt x="1311" y="36"/>
                    <a:pt x="1551" y="111"/>
                  </a:cubicBezTo>
                  <a:cubicBezTo>
                    <a:pt x="1791" y="186"/>
                    <a:pt x="1860" y="351"/>
                    <a:pt x="1968" y="483"/>
                  </a:cubicBezTo>
                  <a:cubicBezTo>
                    <a:pt x="2076" y="615"/>
                    <a:pt x="2250" y="767"/>
                    <a:pt x="2199" y="906"/>
                  </a:cubicBezTo>
                  <a:cubicBezTo>
                    <a:pt x="2148" y="1045"/>
                    <a:pt x="1860" y="1234"/>
                    <a:pt x="1659" y="1314"/>
                  </a:cubicBezTo>
                  <a:cubicBezTo>
                    <a:pt x="1458" y="1394"/>
                    <a:pt x="1192" y="1379"/>
                    <a:pt x="993" y="1386"/>
                  </a:cubicBezTo>
                  <a:cubicBezTo>
                    <a:pt x="794" y="1393"/>
                    <a:pt x="613" y="1409"/>
                    <a:pt x="465" y="1356"/>
                  </a:cubicBezTo>
                  <a:cubicBezTo>
                    <a:pt x="317" y="1303"/>
                    <a:pt x="180" y="1190"/>
                    <a:pt x="102" y="1068"/>
                  </a:cubicBezTo>
                  <a:cubicBezTo>
                    <a:pt x="24" y="946"/>
                    <a:pt x="21" y="716"/>
                    <a:pt x="0" y="624"/>
                  </a:cubicBezTo>
                  <a:close/>
                </a:path>
              </a:pathLst>
            </a:custGeom>
            <a:solidFill>
              <a:srgbClr val="99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zh-CN" altLang="en-US">
                <a:solidFill>
                  <a:schemeClr val="bg1"/>
                </a:solidFill>
              </a:endParaRPr>
            </a:p>
          </p:txBody>
        </p:sp>
        <p:sp>
          <p:nvSpPr>
            <p:cNvPr id="34" name="Freeform 10">
              <a:extLst>
                <a:ext uri="{FF2B5EF4-FFF2-40B4-BE49-F238E27FC236}">
                  <a16:creationId xmlns:a16="http://schemas.microsoft.com/office/drawing/2014/main" id="{BA9942DD-BBFD-47AE-A1E8-9D8C97F10E3A}"/>
                </a:ext>
              </a:extLst>
            </p:cNvPr>
            <p:cNvSpPr>
              <a:spLocks/>
            </p:cNvSpPr>
            <p:nvPr/>
          </p:nvSpPr>
          <p:spPr bwMode="auto">
            <a:xfrm>
              <a:off x="5553075" y="2571750"/>
              <a:ext cx="542925" cy="295275"/>
            </a:xfrm>
            <a:custGeom>
              <a:avLst/>
              <a:gdLst>
                <a:gd name="T0" fmla="*/ 0 w 342"/>
                <a:gd name="T1" fmla="*/ 2147483646 h 186"/>
                <a:gd name="T2" fmla="*/ 2147483646 w 342"/>
                <a:gd name="T3" fmla="*/ 0 h 186"/>
                <a:gd name="T4" fmla="*/ 0 60000 65536"/>
                <a:gd name="T5" fmla="*/ 0 60000 65536"/>
                <a:gd name="T6" fmla="*/ 0 w 342"/>
                <a:gd name="T7" fmla="*/ 0 h 186"/>
                <a:gd name="T8" fmla="*/ 342 w 342"/>
                <a:gd name="T9" fmla="*/ 186 h 186"/>
              </a:gdLst>
              <a:ahLst/>
              <a:cxnLst>
                <a:cxn ang="T4">
                  <a:pos x="T0" y="T1"/>
                </a:cxn>
                <a:cxn ang="T5">
                  <a:pos x="T2" y="T3"/>
                </a:cxn>
              </a:cxnLst>
              <a:rect l="T6" t="T7" r="T8" b="T9"/>
              <a:pathLst>
                <a:path w="342" h="186">
                  <a:moveTo>
                    <a:pt x="0" y="186"/>
                  </a:moveTo>
                  <a:lnTo>
                    <a:pt x="342"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35" name="Oval 11">
              <a:extLst>
                <a:ext uri="{FF2B5EF4-FFF2-40B4-BE49-F238E27FC236}">
                  <a16:creationId xmlns:a16="http://schemas.microsoft.com/office/drawing/2014/main" id="{F68369F7-FF67-42B1-B1C0-AD5A6EC4E2E1}"/>
                </a:ext>
              </a:extLst>
            </p:cNvPr>
            <p:cNvSpPr>
              <a:spLocks noChangeArrowheads="1"/>
            </p:cNvSpPr>
            <p:nvPr/>
          </p:nvSpPr>
          <p:spPr bwMode="auto">
            <a:xfrm>
              <a:off x="5140325" y="2955925"/>
              <a:ext cx="496888" cy="128588"/>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36" name="Line 12">
              <a:extLst>
                <a:ext uri="{FF2B5EF4-FFF2-40B4-BE49-F238E27FC236}">
                  <a16:creationId xmlns:a16="http://schemas.microsoft.com/office/drawing/2014/main" id="{DAF4E475-5BDF-4986-BDCD-204E48BA0024}"/>
                </a:ext>
              </a:extLst>
            </p:cNvPr>
            <p:cNvSpPr>
              <a:spLocks noChangeShapeType="1"/>
            </p:cNvSpPr>
            <p:nvPr/>
          </p:nvSpPr>
          <p:spPr bwMode="auto">
            <a:xfrm>
              <a:off x="5140325" y="29448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37" name="Line 13">
              <a:extLst>
                <a:ext uri="{FF2B5EF4-FFF2-40B4-BE49-F238E27FC236}">
                  <a16:creationId xmlns:a16="http://schemas.microsoft.com/office/drawing/2014/main" id="{80FC5B65-207D-48F2-8D5D-D827580A8100}"/>
                </a:ext>
              </a:extLst>
            </p:cNvPr>
            <p:cNvSpPr>
              <a:spLocks noChangeShapeType="1"/>
            </p:cNvSpPr>
            <p:nvPr/>
          </p:nvSpPr>
          <p:spPr bwMode="auto">
            <a:xfrm>
              <a:off x="5637213" y="29448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38" name="Rectangle 14">
              <a:extLst>
                <a:ext uri="{FF2B5EF4-FFF2-40B4-BE49-F238E27FC236}">
                  <a16:creationId xmlns:a16="http://schemas.microsoft.com/office/drawing/2014/main" id="{F1C12A32-F35C-4C32-A980-6FBC0A06DD10}"/>
                </a:ext>
              </a:extLst>
            </p:cNvPr>
            <p:cNvSpPr>
              <a:spLocks noChangeArrowheads="1"/>
            </p:cNvSpPr>
            <p:nvPr/>
          </p:nvSpPr>
          <p:spPr bwMode="auto">
            <a:xfrm>
              <a:off x="5140325" y="29448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a:solidFill>
                  <a:schemeClr val="bg1"/>
                </a:solidFill>
              </a:endParaRPr>
            </a:p>
          </p:txBody>
        </p:sp>
        <p:sp>
          <p:nvSpPr>
            <p:cNvPr id="39" name="Oval 15">
              <a:extLst>
                <a:ext uri="{FF2B5EF4-FFF2-40B4-BE49-F238E27FC236}">
                  <a16:creationId xmlns:a16="http://schemas.microsoft.com/office/drawing/2014/main" id="{FFBC4EC8-5B17-49AD-A9A9-92FB285B8A32}"/>
                </a:ext>
              </a:extLst>
            </p:cNvPr>
            <p:cNvSpPr>
              <a:spLocks noChangeArrowheads="1"/>
            </p:cNvSpPr>
            <p:nvPr/>
          </p:nvSpPr>
          <p:spPr bwMode="auto">
            <a:xfrm>
              <a:off x="5135563" y="2851150"/>
              <a:ext cx="496887" cy="1508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40" name="Oval 16">
              <a:extLst>
                <a:ext uri="{FF2B5EF4-FFF2-40B4-BE49-F238E27FC236}">
                  <a16:creationId xmlns:a16="http://schemas.microsoft.com/office/drawing/2014/main" id="{92F8F21A-A012-4FEC-A595-AFE19A1BFC20}"/>
                </a:ext>
              </a:extLst>
            </p:cNvPr>
            <p:cNvSpPr>
              <a:spLocks noChangeArrowheads="1"/>
            </p:cNvSpPr>
            <p:nvPr/>
          </p:nvSpPr>
          <p:spPr bwMode="auto">
            <a:xfrm>
              <a:off x="5892800" y="3570288"/>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41" name="Line 17">
              <a:extLst>
                <a:ext uri="{FF2B5EF4-FFF2-40B4-BE49-F238E27FC236}">
                  <a16:creationId xmlns:a16="http://schemas.microsoft.com/office/drawing/2014/main" id="{6413BBB4-F083-4BC0-9A3B-D7D6DEAA3258}"/>
                </a:ext>
              </a:extLst>
            </p:cNvPr>
            <p:cNvSpPr>
              <a:spLocks noChangeShapeType="1"/>
            </p:cNvSpPr>
            <p:nvPr/>
          </p:nvSpPr>
          <p:spPr bwMode="auto">
            <a:xfrm>
              <a:off x="5892800" y="35591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42" name="Line 18">
              <a:extLst>
                <a:ext uri="{FF2B5EF4-FFF2-40B4-BE49-F238E27FC236}">
                  <a16:creationId xmlns:a16="http://schemas.microsoft.com/office/drawing/2014/main" id="{2989400C-0DFF-4FE5-83EC-2770A8F96BBF}"/>
                </a:ext>
              </a:extLst>
            </p:cNvPr>
            <p:cNvSpPr>
              <a:spLocks noChangeShapeType="1"/>
            </p:cNvSpPr>
            <p:nvPr/>
          </p:nvSpPr>
          <p:spPr bwMode="auto">
            <a:xfrm>
              <a:off x="6389688" y="35591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43" name="Rectangle 19">
              <a:extLst>
                <a:ext uri="{FF2B5EF4-FFF2-40B4-BE49-F238E27FC236}">
                  <a16:creationId xmlns:a16="http://schemas.microsoft.com/office/drawing/2014/main" id="{1719CB1E-50F8-4207-BC6F-2AEC6C71175D}"/>
                </a:ext>
              </a:extLst>
            </p:cNvPr>
            <p:cNvSpPr>
              <a:spLocks noChangeArrowheads="1"/>
            </p:cNvSpPr>
            <p:nvPr/>
          </p:nvSpPr>
          <p:spPr bwMode="auto">
            <a:xfrm>
              <a:off x="5892800" y="3559175"/>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a:solidFill>
                  <a:schemeClr val="bg1"/>
                </a:solidFill>
              </a:endParaRPr>
            </a:p>
          </p:txBody>
        </p:sp>
        <p:sp>
          <p:nvSpPr>
            <p:cNvPr id="44" name="Oval 20">
              <a:extLst>
                <a:ext uri="{FF2B5EF4-FFF2-40B4-BE49-F238E27FC236}">
                  <a16:creationId xmlns:a16="http://schemas.microsoft.com/office/drawing/2014/main" id="{848EC9BE-DA48-4513-81F5-5AE0CBF5A251}"/>
                </a:ext>
              </a:extLst>
            </p:cNvPr>
            <p:cNvSpPr>
              <a:spLocks noChangeArrowheads="1"/>
            </p:cNvSpPr>
            <p:nvPr/>
          </p:nvSpPr>
          <p:spPr bwMode="auto">
            <a:xfrm>
              <a:off x="5888038" y="3465513"/>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45" name="Oval 21">
              <a:extLst>
                <a:ext uri="{FF2B5EF4-FFF2-40B4-BE49-F238E27FC236}">
                  <a16:creationId xmlns:a16="http://schemas.microsoft.com/office/drawing/2014/main" id="{84831477-6FDC-49EB-8CFD-94127EF6013C}"/>
                </a:ext>
              </a:extLst>
            </p:cNvPr>
            <p:cNvSpPr>
              <a:spLocks noChangeArrowheads="1"/>
            </p:cNvSpPr>
            <p:nvPr/>
          </p:nvSpPr>
          <p:spPr bwMode="auto">
            <a:xfrm>
              <a:off x="5886450" y="2474913"/>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46" name="Line 22">
              <a:extLst>
                <a:ext uri="{FF2B5EF4-FFF2-40B4-BE49-F238E27FC236}">
                  <a16:creationId xmlns:a16="http://schemas.microsoft.com/office/drawing/2014/main" id="{24BC2C98-F752-40B6-AC5A-68AD975654F1}"/>
                </a:ext>
              </a:extLst>
            </p:cNvPr>
            <p:cNvSpPr>
              <a:spLocks noChangeShapeType="1"/>
            </p:cNvSpPr>
            <p:nvPr/>
          </p:nvSpPr>
          <p:spPr bwMode="auto">
            <a:xfrm>
              <a:off x="5886450" y="246380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47" name="Line 23">
              <a:extLst>
                <a:ext uri="{FF2B5EF4-FFF2-40B4-BE49-F238E27FC236}">
                  <a16:creationId xmlns:a16="http://schemas.microsoft.com/office/drawing/2014/main" id="{4A5D3A68-4855-4553-9162-FD2289148957}"/>
                </a:ext>
              </a:extLst>
            </p:cNvPr>
            <p:cNvSpPr>
              <a:spLocks noChangeShapeType="1"/>
            </p:cNvSpPr>
            <p:nvPr/>
          </p:nvSpPr>
          <p:spPr bwMode="auto">
            <a:xfrm>
              <a:off x="6383338" y="246380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48" name="Rectangle 24">
              <a:extLst>
                <a:ext uri="{FF2B5EF4-FFF2-40B4-BE49-F238E27FC236}">
                  <a16:creationId xmlns:a16="http://schemas.microsoft.com/office/drawing/2014/main" id="{59B4BB1F-371A-4B8B-884D-BC690326987C}"/>
                </a:ext>
              </a:extLst>
            </p:cNvPr>
            <p:cNvSpPr>
              <a:spLocks noChangeArrowheads="1"/>
            </p:cNvSpPr>
            <p:nvPr/>
          </p:nvSpPr>
          <p:spPr bwMode="auto">
            <a:xfrm>
              <a:off x="5886450" y="2463800"/>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a:solidFill>
                  <a:schemeClr val="bg1"/>
                </a:solidFill>
              </a:endParaRPr>
            </a:p>
          </p:txBody>
        </p:sp>
        <p:sp>
          <p:nvSpPr>
            <p:cNvPr id="49" name="Oval 25">
              <a:extLst>
                <a:ext uri="{FF2B5EF4-FFF2-40B4-BE49-F238E27FC236}">
                  <a16:creationId xmlns:a16="http://schemas.microsoft.com/office/drawing/2014/main" id="{1FC6C4B4-6160-4DC4-98A8-F2A25ED9392C}"/>
                </a:ext>
              </a:extLst>
            </p:cNvPr>
            <p:cNvSpPr>
              <a:spLocks noChangeArrowheads="1"/>
            </p:cNvSpPr>
            <p:nvPr/>
          </p:nvSpPr>
          <p:spPr bwMode="auto">
            <a:xfrm>
              <a:off x="5881688" y="2370138"/>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50" name="Oval 26">
              <a:extLst>
                <a:ext uri="{FF2B5EF4-FFF2-40B4-BE49-F238E27FC236}">
                  <a16:creationId xmlns:a16="http://schemas.microsoft.com/office/drawing/2014/main" id="{C6DC24EA-7249-4F17-BB98-D3AE71094C02}"/>
                </a:ext>
              </a:extLst>
            </p:cNvPr>
            <p:cNvSpPr>
              <a:spLocks noChangeArrowheads="1"/>
            </p:cNvSpPr>
            <p:nvPr/>
          </p:nvSpPr>
          <p:spPr bwMode="auto">
            <a:xfrm>
              <a:off x="6970713" y="2468563"/>
              <a:ext cx="495300"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51" name="Line 27">
              <a:extLst>
                <a:ext uri="{FF2B5EF4-FFF2-40B4-BE49-F238E27FC236}">
                  <a16:creationId xmlns:a16="http://schemas.microsoft.com/office/drawing/2014/main" id="{3D31DE0E-A252-419A-BF77-0FD9AA7D3012}"/>
                </a:ext>
              </a:extLst>
            </p:cNvPr>
            <p:cNvSpPr>
              <a:spLocks noChangeShapeType="1"/>
            </p:cNvSpPr>
            <p:nvPr/>
          </p:nvSpPr>
          <p:spPr bwMode="auto">
            <a:xfrm>
              <a:off x="6970713" y="245745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52" name="Line 28">
              <a:extLst>
                <a:ext uri="{FF2B5EF4-FFF2-40B4-BE49-F238E27FC236}">
                  <a16:creationId xmlns:a16="http://schemas.microsoft.com/office/drawing/2014/main" id="{A955DB02-1DE6-48C3-AFFB-FF34DED78DE6}"/>
                </a:ext>
              </a:extLst>
            </p:cNvPr>
            <p:cNvSpPr>
              <a:spLocks noChangeShapeType="1"/>
            </p:cNvSpPr>
            <p:nvPr/>
          </p:nvSpPr>
          <p:spPr bwMode="auto">
            <a:xfrm>
              <a:off x="7466013" y="2457450"/>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53" name="Rectangle 29">
              <a:extLst>
                <a:ext uri="{FF2B5EF4-FFF2-40B4-BE49-F238E27FC236}">
                  <a16:creationId xmlns:a16="http://schemas.microsoft.com/office/drawing/2014/main" id="{AF29FB01-AF33-4B4A-9C04-1A18A1DAA89B}"/>
                </a:ext>
              </a:extLst>
            </p:cNvPr>
            <p:cNvSpPr>
              <a:spLocks noChangeArrowheads="1"/>
            </p:cNvSpPr>
            <p:nvPr/>
          </p:nvSpPr>
          <p:spPr bwMode="auto">
            <a:xfrm>
              <a:off x="6970713" y="2457450"/>
              <a:ext cx="490537"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a:solidFill>
                  <a:schemeClr val="bg1"/>
                </a:solidFill>
              </a:endParaRPr>
            </a:p>
          </p:txBody>
        </p:sp>
        <p:sp>
          <p:nvSpPr>
            <p:cNvPr id="54" name="Oval 30">
              <a:extLst>
                <a:ext uri="{FF2B5EF4-FFF2-40B4-BE49-F238E27FC236}">
                  <a16:creationId xmlns:a16="http://schemas.microsoft.com/office/drawing/2014/main" id="{A6ADF587-FA62-483A-A5F4-32C7C54D5EB5}"/>
                </a:ext>
              </a:extLst>
            </p:cNvPr>
            <p:cNvSpPr>
              <a:spLocks noChangeArrowheads="1"/>
            </p:cNvSpPr>
            <p:nvPr/>
          </p:nvSpPr>
          <p:spPr bwMode="auto">
            <a:xfrm>
              <a:off x="6975475" y="2368550"/>
              <a:ext cx="495300" cy="1508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55" name="Oval 31">
              <a:extLst>
                <a:ext uri="{FF2B5EF4-FFF2-40B4-BE49-F238E27FC236}">
                  <a16:creationId xmlns:a16="http://schemas.microsoft.com/office/drawing/2014/main" id="{0EF6D55F-9354-41E7-913F-7ACB5D5C84D8}"/>
                </a:ext>
              </a:extLst>
            </p:cNvPr>
            <p:cNvSpPr>
              <a:spLocks noChangeArrowheads="1"/>
            </p:cNvSpPr>
            <p:nvPr/>
          </p:nvSpPr>
          <p:spPr bwMode="auto">
            <a:xfrm>
              <a:off x="6986588" y="3565525"/>
              <a:ext cx="496887" cy="128588"/>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56" name="Line 32">
              <a:extLst>
                <a:ext uri="{FF2B5EF4-FFF2-40B4-BE49-F238E27FC236}">
                  <a16:creationId xmlns:a16="http://schemas.microsoft.com/office/drawing/2014/main" id="{1B67B26C-EA46-4521-9FCC-CCF322760872}"/>
                </a:ext>
              </a:extLst>
            </p:cNvPr>
            <p:cNvSpPr>
              <a:spLocks noChangeShapeType="1"/>
            </p:cNvSpPr>
            <p:nvPr/>
          </p:nvSpPr>
          <p:spPr bwMode="auto">
            <a:xfrm>
              <a:off x="6986588" y="35544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57" name="Line 33">
              <a:extLst>
                <a:ext uri="{FF2B5EF4-FFF2-40B4-BE49-F238E27FC236}">
                  <a16:creationId xmlns:a16="http://schemas.microsoft.com/office/drawing/2014/main" id="{1E770749-8F2E-4821-819C-307659493271}"/>
                </a:ext>
              </a:extLst>
            </p:cNvPr>
            <p:cNvSpPr>
              <a:spLocks noChangeShapeType="1"/>
            </p:cNvSpPr>
            <p:nvPr/>
          </p:nvSpPr>
          <p:spPr bwMode="auto">
            <a:xfrm>
              <a:off x="7483475" y="3554413"/>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58" name="Rectangle 34">
              <a:extLst>
                <a:ext uri="{FF2B5EF4-FFF2-40B4-BE49-F238E27FC236}">
                  <a16:creationId xmlns:a16="http://schemas.microsoft.com/office/drawing/2014/main" id="{76E6B993-0493-4C30-B9F3-FA44419EF5DF}"/>
                </a:ext>
              </a:extLst>
            </p:cNvPr>
            <p:cNvSpPr>
              <a:spLocks noChangeArrowheads="1"/>
            </p:cNvSpPr>
            <p:nvPr/>
          </p:nvSpPr>
          <p:spPr bwMode="auto">
            <a:xfrm>
              <a:off x="6986588" y="3554413"/>
              <a:ext cx="492125" cy="77787"/>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a:solidFill>
                  <a:schemeClr val="bg1"/>
                </a:solidFill>
              </a:endParaRPr>
            </a:p>
          </p:txBody>
        </p:sp>
        <p:sp>
          <p:nvSpPr>
            <p:cNvPr id="59" name="Oval 35">
              <a:extLst>
                <a:ext uri="{FF2B5EF4-FFF2-40B4-BE49-F238E27FC236}">
                  <a16:creationId xmlns:a16="http://schemas.microsoft.com/office/drawing/2014/main" id="{7239A330-D1E8-4E95-A0EC-AB19CDE26B91}"/>
                </a:ext>
              </a:extLst>
            </p:cNvPr>
            <p:cNvSpPr>
              <a:spLocks noChangeArrowheads="1"/>
            </p:cNvSpPr>
            <p:nvPr/>
          </p:nvSpPr>
          <p:spPr bwMode="auto">
            <a:xfrm>
              <a:off x="6981825" y="3460750"/>
              <a:ext cx="496888" cy="150813"/>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60" name="Oval 36">
              <a:extLst>
                <a:ext uri="{FF2B5EF4-FFF2-40B4-BE49-F238E27FC236}">
                  <a16:creationId xmlns:a16="http://schemas.microsoft.com/office/drawing/2014/main" id="{CE37D2A8-75B0-46D2-8EB4-4DE255F29901}"/>
                </a:ext>
              </a:extLst>
            </p:cNvPr>
            <p:cNvSpPr>
              <a:spLocks noChangeArrowheads="1"/>
            </p:cNvSpPr>
            <p:nvPr/>
          </p:nvSpPr>
          <p:spPr bwMode="auto">
            <a:xfrm>
              <a:off x="7883525" y="3024188"/>
              <a:ext cx="496888" cy="128587"/>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61" name="Line 37">
              <a:extLst>
                <a:ext uri="{FF2B5EF4-FFF2-40B4-BE49-F238E27FC236}">
                  <a16:creationId xmlns:a16="http://schemas.microsoft.com/office/drawing/2014/main" id="{D9D170FC-29DE-46D2-9C45-86226B4BDD4F}"/>
                </a:ext>
              </a:extLst>
            </p:cNvPr>
            <p:cNvSpPr>
              <a:spLocks noChangeShapeType="1"/>
            </p:cNvSpPr>
            <p:nvPr/>
          </p:nvSpPr>
          <p:spPr bwMode="auto">
            <a:xfrm>
              <a:off x="7883525" y="30130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62" name="Line 38">
              <a:extLst>
                <a:ext uri="{FF2B5EF4-FFF2-40B4-BE49-F238E27FC236}">
                  <a16:creationId xmlns:a16="http://schemas.microsoft.com/office/drawing/2014/main" id="{9C57E905-902C-4012-979C-43D22FD7EA7F}"/>
                </a:ext>
              </a:extLst>
            </p:cNvPr>
            <p:cNvSpPr>
              <a:spLocks noChangeShapeType="1"/>
            </p:cNvSpPr>
            <p:nvPr/>
          </p:nvSpPr>
          <p:spPr bwMode="auto">
            <a:xfrm>
              <a:off x="8380413" y="3013075"/>
              <a:ext cx="0" cy="793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solidFill>
                  <a:schemeClr val="bg1"/>
                </a:solidFill>
              </a:endParaRPr>
            </a:p>
          </p:txBody>
        </p:sp>
        <p:sp>
          <p:nvSpPr>
            <p:cNvPr id="63" name="Rectangle 39">
              <a:extLst>
                <a:ext uri="{FF2B5EF4-FFF2-40B4-BE49-F238E27FC236}">
                  <a16:creationId xmlns:a16="http://schemas.microsoft.com/office/drawing/2014/main" id="{466DF771-30A7-4D55-BC24-F90EDD160EF5}"/>
                </a:ext>
              </a:extLst>
            </p:cNvPr>
            <p:cNvSpPr>
              <a:spLocks noChangeArrowheads="1"/>
            </p:cNvSpPr>
            <p:nvPr/>
          </p:nvSpPr>
          <p:spPr bwMode="auto">
            <a:xfrm>
              <a:off x="7883525" y="3013075"/>
              <a:ext cx="492125" cy="77788"/>
            </a:xfrm>
            <a:prstGeom prst="rect">
              <a:avLst/>
            </a:prstGeom>
            <a:solidFill>
              <a:schemeClr val="hlink"/>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endParaRPr lang="zh-CN" altLang="zh-CN" sz="2400">
                <a:solidFill>
                  <a:schemeClr val="bg1"/>
                </a:solidFill>
              </a:endParaRPr>
            </a:p>
          </p:txBody>
        </p:sp>
        <p:sp>
          <p:nvSpPr>
            <p:cNvPr id="64" name="Oval 40">
              <a:extLst>
                <a:ext uri="{FF2B5EF4-FFF2-40B4-BE49-F238E27FC236}">
                  <a16:creationId xmlns:a16="http://schemas.microsoft.com/office/drawing/2014/main" id="{CC6A6EB8-D46A-4486-8281-894EA68CF80C}"/>
                </a:ext>
              </a:extLst>
            </p:cNvPr>
            <p:cNvSpPr>
              <a:spLocks noChangeArrowheads="1"/>
            </p:cNvSpPr>
            <p:nvPr/>
          </p:nvSpPr>
          <p:spPr bwMode="auto">
            <a:xfrm>
              <a:off x="7878763" y="2919413"/>
              <a:ext cx="496887" cy="150812"/>
            </a:xfrm>
            <a:prstGeom prst="ellipse">
              <a:avLst/>
            </a:prstGeom>
            <a:solidFill>
              <a:schemeClr val="hlink"/>
            </a:solidFill>
            <a:ln w="12700">
              <a:solidFill>
                <a:schemeClr val="tx1"/>
              </a:solidFill>
              <a:round/>
              <a:headEnd/>
              <a:tailEnd/>
            </a:ln>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65" name="Freeform 41">
              <a:extLst>
                <a:ext uri="{FF2B5EF4-FFF2-40B4-BE49-F238E27FC236}">
                  <a16:creationId xmlns:a16="http://schemas.microsoft.com/office/drawing/2014/main" id="{7DBFAA54-E5A7-48C2-AFF4-0FCD860311CE}"/>
                </a:ext>
              </a:extLst>
            </p:cNvPr>
            <p:cNvSpPr>
              <a:spLocks/>
            </p:cNvSpPr>
            <p:nvPr/>
          </p:nvSpPr>
          <p:spPr bwMode="auto">
            <a:xfrm>
              <a:off x="7234238" y="2614613"/>
              <a:ext cx="1587" cy="828675"/>
            </a:xfrm>
            <a:custGeom>
              <a:avLst/>
              <a:gdLst>
                <a:gd name="T0" fmla="*/ 0 w 1"/>
                <a:gd name="T1" fmla="*/ 0 h 522"/>
                <a:gd name="T2" fmla="*/ 0 w 1"/>
                <a:gd name="T3" fmla="*/ 2147483646 h 522"/>
                <a:gd name="T4" fmla="*/ 0 60000 65536"/>
                <a:gd name="T5" fmla="*/ 0 60000 65536"/>
                <a:gd name="T6" fmla="*/ 0 w 1"/>
                <a:gd name="T7" fmla="*/ 0 h 522"/>
                <a:gd name="T8" fmla="*/ 1 w 1"/>
                <a:gd name="T9" fmla="*/ 522 h 522"/>
              </a:gdLst>
              <a:ahLst/>
              <a:cxnLst>
                <a:cxn ang="T4">
                  <a:pos x="T0" y="T1"/>
                </a:cxn>
                <a:cxn ang="T5">
                  <a:pos x="T2" y="T3"/>
                </a:cxn>
              </a:cxnLst>
              <a:rect l="T6" t="T7" r="T8" b="T9"/>
              <a:pathLst>
                <a:path w="1" h="522">
                  <a:moveTo>
                    <a:pt x="0" y="0"/>
                  </a:moveTo>
                  <a:lnTo>
                    <a:pt x="0" y="52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66" name="Freeform 42">
              <a:extLst>
                <a:ext uri="{FF2B5EF4-FFF2-40B4-BE49-F238E27FC236}">
                  <a16:creationId xmlns:a16="http://schemas.microsoft.com/office/drawing/2014/main" id="{A7923170-D193-4FB2-A1D7-BDE432069F01}"/>
                </a:ext>
              </a:extLst>
            </p:cNvPr>
            <p:cNvSpPr>
              <a:spLocks/>
            </p:cNvSpPr>
            <p:nvPr/>
          </p:nvSpPr>
          <p:spPr bwMode="auto">
            <a:xfrm>
              <a:off x="6134100" y="2624138"/>
              <a:ext cx="1588" cy="852487"/>
            </a:xfrm>
            <a:custGeom>
              <a:avLst/>
              <a:gdLst>
                <a:gd name="T0" fmla="*/ 0 w 1"/>
                <a:gd name="T1" fmla="*/ 0 h 537"/>
                <a:gd name="T2" fmla="*/ 0 w 1"/>
                <a:gd name="T3" fmla="*/ 2147483646 h 537"/>
                <a:gd name="T4" fmla="*/ 0 60000 65536"/>
                <a:gd name="T5" fmla="*/ 0 60000 65536"/>
                <a:gd name="T6" fmla="*/ 0 w 1"/>
                <a:gd name="T7" fmla="*/ 0 h 537"/>
                <a:gd name="T8" fmla="*/ 1 w 1"/>
                <a:gd name="T9" fmla="*/ 537 h 537"/>
              </a:gdLst>
              <a:ahLst/>
              <a:cxnLst>
                <a:cxn ang="T4">
                  <a:pos x="T0" y="T1"/>
                </a:cxn>
                <a:cxn ang="T5">
                  <a:pos x="T2" y="T3"/>
                </a:cxn>
              </a:cxnLst>
              <a:rect l="T6" t="T7" r="T8" b="T9"/>
              <a:pathLst>
                <a:path w="1" h="537">
                  <a:moveTo>
                    <a:pt x="0" y="0"/>
                  </a:moveTo>
                  <a:lnTo>
                    <a:pt x="0" y="537"/>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67" name="Freeform 43">
              <a:extLst>
                <a:ext uri="{FF2B5EF4-FFF2-40B4-BE49-F238E27FC236}">
                  <a16:creationId xmlns:a16="http://schemas.microsoft.com/office/drawing/2014/main" id="{811E664E-20AD-4E2B-BC9F-E1E6772484FE}"/>
                </a:ext>
              </a:extLst>
            </p:cNvPr>
            <p:cNvSpPr>
              <a:spLocks/>
            </p:cNvSpPr>
            <p:nvPr/>
          </p:nvSpPr>
          <p:spPr bwMode="auto">
            <a:xfrm>
              <a:off x="6396038" y="2600325"/>
              <a:ext cx="800100" cy="952500"/>
            </a:xfrm>
            <a:custGeom>
              <a:avLst/>
              <a:gdLst>
                <a:gd name="T0" fmla="*/ 0 w 378"/>
                <a:gd name="T1" fmla="*/ 2147483646 h 174"/>
                <a:gd name="T2" fmla="*/ 2147483646 w 378"/>
                <a:gd name="T3" fmla="*/ 0 h 174"/>
                <a:gd name="T4" fmla="*/ 0 60000 65536"/>
                <a:gd name="T5" fmla="*/ 0 60000 65536"/>
                <a:gd name="T6" fmla="*/ 0 w 378"/>
                <a:gd name="T7" fmla="*/ 0 h 174"/>
                <a:gd name="T8" fmla="*/ 378 w 378"/>
                <a:gd name="T9" fmla="*/ 174 h 174"/>
              </a:gdLst>
              <a:ahLst/>
              <a:cxnLst>
                <a:cxn ang="T4">
                  <a:pos x="T0" y="T1"/>
                </a:cxn>
                <a:cxn ang="T5">
                  <a:pos x="T2" y="T3"/>
                </a:cxn>
              </a:cxnLst>
              <a:rect l="T6" t="T7" r="T8" b="T9"/>
              <a:pathLst>
                <a:path w="378" h="174">
                  <a:moveTo>
                    <a:pt x="0" y="174"/>
                  </a:moveTo>
                  <a:lnTo>
                    <a:pt x="378"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68" name="Freeform 44">
              <a:extLst>
                <a:ext uri="{FF2B5EF4-FFF2-40B4-BE49-F238E27FC236}">
                  <a16:creationId xmlns:a16="http://schemas.microsoft.com/office/drawing/2014/main" id="{5556081C-C034-4E42-AF53-1A930941C7E4}"/>
                </a:ext>
              </a:extLst>
            </p:cNvPr>
            <p:cNvSpPr>
              <a:spLocks/>
            </p:cNvSpPr>
            <p:nvPr/>
          </p:nvSpPr>
          <p:spPr bwMode="auto">
            <a:xfrm>
              <a:off x="7486650" y="3152775"/>
              <a:ext cx="581025" cy="428625"/>
            </a:xfrm>
            <a:custGeom>
              <a:avLst/>
              <a:gdLst>
                <a:gd name="T0" fmla="*/ 0 w 366"/>
                <a:gd name="T1" fmla="*/ 2147483646 h 270"/>
                <a:gd name="T2" fmla="*/ 2147483646 w 366"/>
                <a:gd name="T3" fmla="*/ 0 h 270"/>
                <a:gd name="T4" fmla="*/ 0 60000 65536"/>
                <a:gd name="T5" fmla="*/ 0 60000 65536"/>
                <a:gd name="T6" fmla="*/ 0 w 366"/>
                <a:gd name="T7" fmla="*/ 0 h 270"/>
                <a:gd name="T8" fmla="*/ 366 w 366"/>
                <a:gd name="T9" fmla="*/ 270 h 270"/>
              </a:gdLst>
              <a:ahLst/>
              <a:cxnLst>
                <a:cxn ang="T4">
                  <a:pos x="T0" y="T1"/>
                </a:cxn>
                <a:cxn ang="T5">
                  <a:pos x="T2" y="T3"/>
                </a:cxn>
              </a:cxnLst>
              <a:rect l="T6" t="T7" r="T8" b="T9"/>
              <a:pathLst>
                <a:path w="366" h="270">
                  <a:moveTo>
                    <a:pt x="0" y="270"/>
                  </a:moveTo>
                  <a:lnTo>
                    <a:pt x="366"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69" name="Freeform 45">
              <a:extLst>
                <a:ext uri="{FF2B5EF4-FFF2-40B4-BE49-F238E27FC236}">
                  <a16:creationId xmlns:a16="http://schemas.microsoft.com/office/drawing/2014/main" id="{70A643E8-F350-4213-A54F-F05D191FD402}"/>
                </a:ext>
              </a:extLst>
            </p:cNvPr>
            <p:cNvSpPr>
              <a:spLocks/>
            </p:cNvSpPr>
            <p:nvPr/>
          </p:nvSpPr>
          <p:spPr bwMode="auto">
            <a:xfrm>
              <a:off x="6405563" y="3600450"/>
              <a:ext cx="581025" cy="1588"/>
            </a:xfrm>
            <a:custGeom>
              <a:avLst/>
              <a:gdLst>
                <a:gd name="T0" fmla="*/ 214748364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70" name="Freeform 46">
              <a:extLst>
                <a:ext uri="{FF2B5EF4-FFF2-40B4-BE49-F238E27FC236}">
                  <a16:creationId xmlns:a16="http://schemas.microsoft.com/office/drawing/2014/main" id="{9245BE02-A2BB-47B4-B9CB-2FF6DC672863}"/>
                </a:ext>
              </a:extLst>
            </p:cNvPr>
            <p:cNvSpPr>
              <a:spLocks/>
            </p:cNvSpPr>
            <p:nvPr/>
          </p:nvSpPr>
          <p:spPr bwMode="auto">
            <a:xfrm>
              <a:off x="5467350" y="3086100"/>
              <a:ext cx="438150" cy="419100"/>
            </a:xfrm>
            <a:custGeom>
              <a:avLst/>
              <a:gdLst>
                <a:gd name="T0" fmla="*/ 2147483646 w 276"/>
                <a:gd name="T1" fmla="*/ 2147483646 h 264"/>
                <a:gd name="T2" fmla="*/ 0 w 276"/>
                <a:gd name="T3" fmla="*/ 0 h 264"/>
                <a:gd name="T4" fmla="*/ 0 60000 65536"/>
                <a:gd name="T5" fmla="*/ 0 60000 65536"/>
                <a:gd name="T6" fmla="*/ 0 w 276"/>
                <a:gd name="T7" fmla="*/ 0 h 264"/>
                <a:gd name="T8" fmla="*/ 276 w 276"/>
                <a:gd name="T9" fmla="*/ 264 h 264"/>
              </a:gdLst>
              <a:ahLst/>
              <a:cxnLst>
                <a:cxn ang="T4">
                  <a:pos x="T0" y="T1"/>
                </a:cxn>
                <a:cxn ang="T5">
                  <a:pos x="T2" y="T3"/>
                </a:cxn>
              </a:cxnLst>
              <a:rect l="T6" t="T7" r="T8" b="T9"/>
              <a:pathLst>
                <a:path w="276" h="264">
                  <a:moveTo>
                    <a:pt x="276" y="264"/>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71" name="Freeform 47">
              <a:extLst>
                <a:ext uri="{FF2B5EF4-FFF2-40B4-BE49-F238E27FC236}">
                  <a16:creationId xmlns:a16="http://schemas.microsoft.com/office/drawing/2014/main" id="{311714BE-147F-4B96-B665-BDBF6FC5F834}"/>
                </a:ext>
              </a:extLst>
            </p:cNvPr>
            <p:cNvSpPr>
              <a:spLocks/>
            </p:cNvSpPr>
            <p:nvPr/>
          </p:nvSpPr>
          <p:spPr bwMode="auto">
            <a:xfrm>
              <a:off x="6396038" y="2505075"/>
              <a:ext cx="581025" cy="1588"/>
            </a:xfrm>
            <a:custGeom>
              <a:avLst/>
              <a:gdLst>
                <a:gd name="T0" fmla="*/ 2147483646 w 366"/>
                <a:gd name="T1" fmla="*/ 0 h 1"/>
                <a:gd name="T2" fmla="*/ 0 w 366"/>
                <a:gd name="T3" fmla="*/ 0 h 1"/>
                <a:gd name="T4" fmla="*/ 0 60000 65536"/>
                <a:gd name="T5" fmla="*/ 0 60000 65536"/>
                <a:gd name="T6" fmla="*/ 0 w 366"/>
                <a:gd name="T7" fmla="*/ 0 h 1"/>
                <a:gd name="T8" fmla="*/ 366 w 366"/>
                <a:gd name="T9" fmla="*/ 1 h 1"/>
              </a:gdLst>
              <a:ahLst/>
              <a:cxnLst>
                <a:cxn ang="T4">
                  <a:pos x="T0" y="T1"/>
                </a:cxn>
                <a:cxn ang="T5">
                  <a:pos x="T2" y="T3"/>
                </a:cxn>
              </a:cxnLst>
              <a:rect l="T6" t="T7" r="T8" b="T9"/>
              <a:pathLst>
                <a:path w="366" h="1">
                  <a:moveTo>
                    <a:pt x="366" y="0"/>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72" name="Freeform 48">
              <a:extLst>
                <a:ext uri="{FF2B5EF4-FFF2-40B4-BE49-F238E27FC236}">
                  <a16:creationId xmlns:a16="http://schemas.microsoft.com/office/drawing/2014/main" id="{C28B7FE7-05BA-4786-9441-65AACD32666E}"/>
                </a:ext>
              </a:extLst>
            </p:cNvPr>
            <p:cNvSpPr>
              <a:spLocks/>
            </p:cNvSpPr>
            <p:nvPr/>
          </p:nvSpPr>
          <p:spPr bwMode="auto">
            <a:xfrm>
              <a:off x="7467600" y="2500313"/>
              <a:ext cx="628650" cy="423862"/>
            </a:xfrm>
            <a:custGeom>
              <a:avLst/>
              <a:gdLst>
                <a:gd name="T0" fmla="*/ 2147483646 w 396"/>
                <a:gd name="T1" fmla="*/ 2147483646 h 267"/>
                <a:gd name="T2" fmla="*/ 0 w 396"/>
                <a:gd name="T3" fmla="*/ 0 h 267"/>
                <a:gd name="T4" fmla="*/ 0 60000 65536"/>
                <a:gd name="T5" fmla="*/ 0 60000 65536"/>
                <a:gd name="T6" fmla="*/ 0 w 396"/>
                <a:gd name="T7" fmla="*/ 0 h 267"/>
                <a:gd name="T8" fmla="*/ 396 w 396"/>
                <a:gd name="T9" fmla="*/ 267 h 267"/>
              </a:gdLst>
              <a:ahLst/>
              <a:cxnLst>
                <a:cxn ang="T4">
                  <a:pos x="T0" y="T1"/>
                </a:cxn>
                <a:cxn ang="T5">
                  <a:pos x="T2" y="T3"/>
                </a:cxn>
              </a:cxnLst>
              <a:rect l="T6" t="T7" r="T8" b="T9"/>
              <a:pathLst>
                <a:path w="396" h="267">
                  <a:moveTo>
                    <a:pt x="396" y="267"/>
                  </a:moveTo>
                  <a:lnTo>
                    <a:pt x="0" y="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sp>
          <p:nvSpPr>
            <p:cNvPr id="73" name="Freeform 49">
              <a:extLst>
                <a:ext uri="{FF2B5EF4-FFF2-40B4-BE49-F238E27FC236}">
                  <a16:creationId xmlns:a16="http://schemas.microsoft.com/office/drawing/2014/main" id="{6378996C-0283-48B0-9355-90E50349D0DA}"/>
                </a:ext>
              </a:extLst>
            </p:cNvPr>
            <p:cNvSpPr>
              <a:spLocks/>
            </p:cNvSpPr>
            <p:nvPr/>
          </p:nvSpPr>
          <p:spPr bwMode="auto">
            <a:xfrm>
              <a:off x="5376863" y="1819275"/>
              <a:ext cx="1762125" cy="1023938"/>
            </a:xfrm>
            <a:custGeom>
              <a:avLst/>
              <a:gdLst>
                <a:gd name="T0" fmla="*/ 2147483646 w 1110"/>
                <a:gd name="T1" fmla="*/ 2147483646 h 645"/>
                <a:gd name="T2" fmla="*/ 0 w 1110"/>
                <a:gd name="T3" fmla="*/ 2147483646 h 645"/>
                <a:gd name="T4" fmla="*/ 0 60000 65536"/>
                <a:gd name="T5" fmla="*/ 0 60000 65536"/>
                <a:gd name="T6" fmla="*/ 0 w 1110"/>
                <a:gd name="T7" fmla="*/ 0 h 645"/>
                <a:gd name="T8" fmla="*/ 1110 w 1110"/>
                <a:gd name="T9" fmla="*/ 645 h 645"/>
              </a:gdLst>
              <a:ahLst/>
              <a:cxnLst>
                <a:cxn ang="T4">
                  <a:pos x="T0" y="T1"/>
                </a:cxn>
                <a:cxn ang="T5">
                  <a:pos x="T2" y="T3"/>
                </a:cxn>
              </a:cxnLst>
              <a:rect l="T6" t="T7" r="T8" b="T9"/>
              <a:pathLst>
                <a:path w="1110" h="645">
                  <a:moveTo>
                    <a:pt x="1110" y="342"/>
                  </a:moveTo>
                  <a:cubicBezTo>
                    <a:pt x="1104" y="0"/>
                    <a:pt x="21" y="63"/>
                    <a:pt x="0" y="645"/>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solidFill>
                  <a:schemeClr val="bg1"/>
                </a:solidFill>
              </a:endParaRPr>
            </a:p>
          </p:txBody>
        </p:sp>
        <p:grpSp>
          <p:nvGrpSpPr>
            <p:cNvPr id="74" name="Group 50">
              <a:extLst>
                <a:ext uri="{FF2B5EF4-FFF2-40B4-BE49-F238E27FC236}">
                  <a16:creationId xmlns:a16="http://schemas.microsoft.com/office/drawing/2014/main" id="{E4B0932F-507D-45D3-A3BE-5762BD18F74A}"/>
                </a:ext>
              </a:extLst>
            </p:cNvPr>
            <p:cNvGrpSpPr>
              <a:grpSpLocks/>
            </p:cNvGrpSpPr>
            <p:nvPr/>
          </p:nvGrpSpPr>
          <p:grpSpPr bwMode="auto">
            <a:xfrm>
              <a:off x="5222539" y="2774954"/>
              <a:ext cx="318166" cy="400050"/>
              <a:chOff x="2957" y="2429"/>
              <a:chExt cx="203" cy="252"/>
            </a:xfrm>
          </p:grpSpPr>
          <p:sp>
            <p:nvSpPr>
              <p:cNvPr id="100" name="Rectangle 51">
                <a:extLst>
                  <a:ext uri="{FF2B5EF4-FFF2-40B4-BE49-F238E27FC236}">
                    <a16:creationId xmlns:a16="http://schemas.microsoft.com/office/drawing/2014/main" id="{B105C829-B7C5-49BE-809E-06A435172BCD}"/>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101" name="Text Box 52">
                <a:extLst>
                  <a:ext uri="{FF2B5EF4-FFF2-40B4-BE49-F238E27FC236}">
                    <a16:creationId xmlns:a16="http://schemas.microsoft.com/office/drawing/2014/main" id="{BEFAF1C9-8AF2-4022-A991-44277463095C}"/>
                  </a:ext>
                </a:extLst>
              </p:cNvPr>
              <p:cNvSpPr txBox="1">
                <a:spLocks noChangeArrowheads="1"/>
              </p:cNvSpPr>
              <p:nvPr/>
            </p:nvSpPr>
            <p:spPr bwMode="auto">
              <a:xfrm>
                <a:off x="2957" y="2429"/>
                <a:ext cx="20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solidFill>
                      <a:srgbClr val="FF0000"/>
                    </a:solidFill>
                    <a:latin typeface="Comic Sans MS" panose="030F0702030302020204" pitchFamily="66" charset="0"/>
                  </a:rPr>
                  <a:t>u</a:t>
                </a:r>
                <a:endParaRPr lang="en-US" altLang="zh-CN" sz="2400" dirty="0">
                  <a:solidFill>
                    <a:srgbClr val="FF0000"/>
                  </a:solidFill>
                </a:endParaRPr>
              </a:p>
            </p:txBody>
          </p:sp>
        </p:grpSp>
        <p:grpSp>
          <p:nvGrpSpPr>
            <p:cNvPr id="75" name="Group 53">
              <a:extLst>
                <a:ext uri="{FF2B5EF4-FFF2-40B4-BE49-F238E27FC236}">
                  <a16:creationId xmlns:a16="http://schemas.microsoft.com/office/drawing/2014/main" id="{D777D57E-AD70-4548-BDF1-A1DC974FA0EA}"/>
                </a:ext>
              </a:extLst>
            </p:cNvPr>
            <p:cNvGrpSpPr>
              <a:grpSpLocks/>
            </p:cNvGrpSpPr>
            <p:nvPr/>
          </p:nvGrpSpPr>
          <p:grpSpPr bwMode="auto">
            <a:xfrm>
              <a:off x="7078475" y="3340106"/>
              <a:ext cx="317847" cy="400050"/>
              <a:chOff x="2956" y="2401"/>
              <a:chExt cx="203" cy="252"/>
            </a:xfrm>
          </p:grpSpPr>
          <p:sp>
            <p:nvSpPr>
              <p:cNvPr id="98" name="Rectangle 54">
                <a:extLst>
                  <a:ext uri="{FF2B5EF4-FFF2-40B4-BE49-F238E27FC236}">
                    <a16:creationId xmlns:a16="http://schemas.microsoft.com/office/drawing/2014/main" id="{ED05DFD7-3101-4FF2-834B-A1282C4E9617}"/>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99" name="Text Box 55">
                <a:extLst>
                  <a:ext uri="{FF2B5EF4-FFF2-40B4-BE49-F238E27FC236}">
                    <a16:creationId xmlns:a16="http://schemas.microsoft.com/office/drawing/2014/main" id="{44C16620-2F9A-4F0B-B447-4BE8A4450A60}"/>
                  </a:ext>
                </a:extLst>
              </p:cNvPr>
              <p:cNvSpPr txBox="1">
                <a:spLocks noChangeArrowheads="1"/>
              </p:cNvSpPr>
              <p:nvPr/>
            </p:nvSpPr>
            <p:spPr bwMode="auto">
              <a:xfrm>
                <a:off x="2956" y="2401"/>
                <a:ext cx="203"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solidFill>
                      <a:schemeClr val="bg1"/>
                    </a:solidFill>
                    <a:latin typeface="Comic Sans MS" panose="030F0702030302020204" pitchFamily="66" charset="0"/>
                  </a:rPr>
                  <a:t>y</a:t>
                </a:r>
                <a:endParaRPr lang="en-US" altLang="zh-CN" sz="2400" dirty="0">
                  <a:solidFill>
                    <a:schemeClr val="bg1"/>
                  </a:solidFill>
                </a:endParaRPr>
              </a:p>
            </p:txBody>
          </p:sp>
        </p:grpSp>
        <p:grpSp>
          <p:nvGrpSpPr>
            <p:cNvPr id="76" name="Group 56">
              <a:extLst>
                <a:ext uri="{FF2B5EF4-FFF2-40B4-BE49-F238E27FC236}">
                  <a16:creationId xmlns:a16="http://schemas.microsoft.com/office/drawing/2014/main" id="{B5D7E311-1ED8-4E57-ADD8-F0F4B04BC7FE}"/>
                </a:ext>
              </a:extLst>
            </p:cNvPr>
            <p:cNvGrpSpPr>
              <a:grpSpLocks/>
            </p:cNvGrpSpPr>
            <p:nvPr/>
          </p:nvGrpSpPr>
          <p:grpSpPr bwMode="auto">
            <a:xfrm>
              <a:off x="5989434" y="3379792"/>
              <a:ext cx="335369" cy="400050"/>
              <a:chOff x="2951" y="2429"/>
              <a:chExt cx="214" cy="252"/>
            </a:xfrm>
          </p:grpSpPr>
          <p:sp>
            <p:nvSpPr>
              <p:cNvPr id="96" name="Rectangle 57">
                <a:extLst>
                  <a:ext uri="{FF2B5EF4-FFF2-40B4-BE49-F238E27FC236}">
                    <a16:creationId xmlns:a16="http://schemas.microsoft.com/office/drawing/2014/main" id="{87627CB1-91DF-4D4C-B59B-F917BC1852E2}"/>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97" name="Text Box 58">
                <a:extLst>
                  <a:ext uri="{FF2B5EF4-FFF2-40B4-BE49-F238E27FC236}">
                    <a16:creationId xmlns:a16="http://schemas.microsoft.com/office/drawing/2014/main" id="{09FAA24C-01A2-4469-BE6F-5331EB46E4BA}"/>
                  </a:ext>
                </a:extLst>
              </p:cNvPr>
              <p:cNvSpPr txBox="1">
                <a:spLocks noChangeArrowheads="1"/>
              </p:cNvSpPr>
              <p:nvPr/>
            </p:nvSpPr>
            <p:spPr bwMode="auto">
              <a:xfrm>
                <a:off x="2951" y="2429"/>
                <a:ext cx="2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solidFill>
                      <a:schemeClr val="bg1"/>
                    </a:solidFill>
                    <a:latin typeface="Comic Sans MS" panose="030F0702030302020204" pitchFamily="66" charset="0"/>
                  </a:rPr>
                  <a:t>x</a:t>
                </a:r>
                <a:endParaRPr lang="en-US" altLang="zh-CN" sz="2400" dirty="0">
                  <a:solidFill>
                    <a:schemeClr val="bg1"/>
                  </a:solidFill>
                </a:endParaRPr>
              </a:p>
            </p:txBody>
          </p:sp>
        </p:grpSp>
        <p:grpSp>
          <p:nvGrpSpPr>
            <p:cNvPr id="77" name="Group 59">
              <a:extLst>
                <a:ext uri="{FF2B5EF4-FFF2-40B4-BE49-F238E27FC236}">
                  <a16:creationId xmlns:a16="http://schemas.microsoft.com/office/drawing/2014/main" id="{FC63E3A1-DBB1-4E00-9583-EB4A681D0EEE}"/>
                </a:ext>
              </a:extLst>
            </p:cNvPr>
            <p:cNvGrpSpPr>
              <a:grpSpLocks/>
            </p:cNvGrpSpPr>
            <p:nvPr/>
          </p:nvGrpSpPr>
          <p:grpSpPr bwMode="auto">
            <a:xfrm>
              <a:off x="7048652" y="2289179"/>
              <a:ext cx="360030" cy="400050"/>
              <a:chOff x="2943" y="2429"/>
              <a:chExt cx="230" cy="252"/>
            </a:xfrm>
          </p:grpSpPr>
          <p:sp>
            <p:nvSpPr>
              <p:cNvPr id="94" name="Rectangle 60">
                <a:extLst>
                  <a:ext uri="{FF2B5EF4-FFF2-40B4-BE49-F238E27FC236}">
                    <a16:creationId xmlns:a16="http://schemas.microsoft.com/office/drawing/2014/main" id="{8215A74A-A1DB-4583-8DCB-875AF7449590}"/>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95" name="Text Box 61">
                <a:extLst>
                  <a:ext uri="{FF2B5EF4-FFF2-40B4-BE49-F238E27FC236}">
                    <a16:creationId xmlns:a16="http://schemas.microsoft.com/office/drawing/2014/main" id="{457603CD-FDC5-469F-9F35-DA0569E96A09}"/>
                  </a:ext>
                </a:extLst>
              </p:cNvPr>
              <p:cNvSpPr txBox="1">
                <a:spLocks noChangeArrowheads="1"/>
              </p:cNvSpPr>
              <p:nvPr/>
            </p:nvSpPr>
            <p:spPr bwMode="auto">
              <a:xfrm>
                <a:off x="2943" y="2429"/>
                <a:ext cx="23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solidFill>
                      <a:schemeClr val="bg1"/>
                    </a:solidFill>
                    <a:latin typeface="Comic Sans MS" panose="030F0702030302020204" pitchFamily="66" charset="0"/>
                  </a:rPr>
                  <a:t>w</a:t>
                </a:r>
                <a:endParaRPr lang="en-US" altLang="zh-CN" sz="2400" dirty="0">
                  <a:solidFill>
                    <a:schemeClr val="bg1"/>
                  </a:solidFill>
                </a:endParaRPr>
              </a:p>
            </p:txBody>
          </p:sp>
        </p:grpSp>
        <p:grpSp>
          <p:nvGrpSpPr>
            <p:cNvPr id="78" name="Group 62">
              <a:extLst>
                <a:ext uri="{FF2B5EF4-FFF2-40B4-BE49-F238E27FC236}">
                  <a16:creationId xmlns:a16="http://schemas.microsoft.com/office/drawing/2014/main" id="{1C1896C1-0A3D-4FA9-ADED-B1D4CC227414}"/>
                </a:ext>
              </a:extLst>
            </p:cNvPr>
            <p:cNvGrpSpPr>
              <a:grpSpLocks/>
            </p:cNvGrpSpPr>
            <p:nvPr/>
          </p:nvGrpSpPr>
          <p:grpSpPr bwMode="auto">
            <a:xfrm>
              <a:off x="5987808" y="2289179"/>
              <a:ext cx="310038" cy="400050"/>
              <a:chOff x="2959" y="2429"/>
              <a:chExt cx="198" cy="252"/>
            </a:xfrm>
          </p:grpSpPr>
          <p:sp>
            <p:nvSpPr>
              <p:cNvPr id="92" name="Rectangle 63">
                <a:extLst>
                  <a:ext uri="{FF2B5EF4-FFF2-40B4-BE49-F238E27FC236}">
                    <a16:creationId xmlns:a16="http://schemas.microsoft.com/office/drawing/2014/main" id="{7624E6E0-429C-4B10-B1C4-EB84B08C486A}"/>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93" name="Text Box 64">
                <a:extLst>
                  <a:ext uri="{FF2B5EF4-FFF2-40B4-BE49-F238E27FC236}">
                    <a16:creationId xmlns:a16="http://schemas.microsoft.com/office/drawing/2014/main" id="{B15ACE6F-CA1E-440A-9B6A-160425C5DB00}"/>
                  </a:ext>
                </a:extLst>
              </p:cNvPr>
              <p:cNvSpPr txBox="1">
                <a:spLocks noChangeArrowheads="1"/>
              </p:cNvSpPr>
              <p:nvPr/>
            </p:nvSpPr>
            <p:spPr bwMode="auto">
              <a:xfrm>
                <a:off x="2959" y="242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dirty="0">
                    <a:solidFill>
                      <a:schemeClr val="bg1"/>
                    </a:solidFill>
                    <a:latin typeface="Comic Sans MS" panose="030F0702030302020204" pitchFamily="66" charset="0"/>
                  </a:rPr>
                  <a:t>v</a:t>
                </a:r>
                <a:endParaRPr lang="en-US" altLang="zh-CN" sz="2400" dirty="0">
                  <a:solidFill>
                    <a:schemeClr val="bg1"/>
                  </a:solidFill>
                </a:endParaRPr>
              </a:p>
            </p:txBody>
          </p:sp>
        </p:grpSp>
        <p:grpSp>
          <p:nvGrpSpPr>
            <p:cNvPr id="79" name="Group 65">
              <a:extLst>
                <a:ext uri="{FF2B5EF4-FFF2-40B4-BE49-F238E27FC236}">
                  <a16:creationId xmlns:a16="http://schemas.microsoft.com/office/drawing/2014/main" id="{96CD1D53-3908-49C2-80A5-1795BA395CCA}"/>
                </a:ext>
              </a:extLst>
            </p:cNvPr>
            <p:cNvGrpSpPr>
              <a:grpSpLocks/>
            </p:cNvGrpSpPr>
            <p:nvPr/>
          </p:nvGrpSpPr>
          <p:grpSpPr bwMode="auto">
            <a:xfrm>
              <a:off x="7985023" y="2841629"/>
              <a:ext cx="322483" cy="400050"/>
              <a:chOff x="2954" y="2429"/>
              <a:chExt cx="206" cy="252"/>
            </a:xfrm>
          </p:grpSpPr>
          <p:sp>
            <p:nvSpPr>
              <p:cNvPr id="90" name="Rectangle 66">
                <a:extLst>
                  <a:ext uri="{FF2B5EF4-FFF2-40B4-BE49-F238E27FC236}">
                    <a16:creationId xmlns:a16="http://schemas.microsoft.com/office/drawing/2014/main" id="{B7002B82-D510-41CE-9976-D56452583114}"/>
                  </a:ext>
                </a:extLst>
              </p:cNvPr>
              <p:cNvSpPr>
                <a:spLocks noChangeArrowheads="1"/>
              </p:cNvSpPr>
              <p:nvPr/>
            </p:nvSpPr>
            <p:spPr bwMode="auto">
              <a:xfrm>
                <a:off x="2982" y="2490"/>
                <a:ext cx="144" cy="132"/>
              </a:xfrm>
              <a:prstGeom prst="rect">
                <a:avLst/>
              </a:pr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eaLnBrk="1" hangingPunct="1">
                  <a:lnSpc>
                    <a:spcPct val="120000"/>
                  </a:lnSpc>
                  <a:spcBef>
                    <a:spcPct val="10000"/>
                  </a:spcBef>
                  <a:buClr>
                    <a:schemeClr val="tx1"/>
                  </a:buClr>
                  <a:buFont typeface="Symbol" panose="05050102010706020507" pitchFamily="18" charset="2"/>
                  <a:buChar char="¾"/>
                </a:pPr>
                <a:endParaRPr lang="zh-CN" altLang="en-US">
                  <a:solidFill>
                    <a:schemeClr val="bg1"/>
                  </a:solidFill>
                  <a:latin typeface="Comic Sans MS" panose="030F0702030302020204" pitchFamily="66" charset="0"/>
                  <a:ea typeface="楷体_GB2312" pitchFamily="49" charset="-122"/>
                </a:endParaRPr>
              </a:p>
            </p:txBody>
          </p:sp>
          <p:sp>
            <p:nvSpPr>
              <p:cNvPr id="91" name="Text Box 67">
                <a:extLst>
                  <a:ext uri="{FF2B5EF4-FFF2-40B4-BE49-F238E27FC236}">
                    <a16:creationId xmlns:a16="http://schemas.microsoft.com/office/drawing/2014/main" id="{9B9FE3E4-994C-4820-BEAF-70C9DB5AAE78}"/>
                  </a:ext>
                </a:extLst>
              </p:cNvPr>
              <p:cNvSpPr txBox="1">
                <a:spLocks noChangeArrowheads="1"/>
              </p:cNvSpPr>
              <p:nvPr/>
            </p:nvSpPr>
            <p:spPr bwMode="auto">
              <a:xfrm>
                <a:off x="2954" y="2429"/>
                <a:ext cx="20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2000">
                    <a:solidFill>
                      <a:schemeClr val="bg1"/>
                    </a:solidFill>
                    <a:latin typeface="Comic Sans MS" panose="030F0702030302020204" pitchFamily="66" charset="0"/>
                  </a:rPr>
                  <a:t>z</a:t>
                </a:r>
                <a:endParaRPr lang="en-US" altLang="zh-CN" sz="2400">
                  <a:solidFill>
                    <a:schemeClr val="bg1"/>
                  </a:solidFill>
                </a:endParaRPr>
              </a:p>
            </p:txBody>
          </p:sp>
        </p:grpSp>
        <p:sp>
          <p:nvSpPr>
            <p:cNvPr id="80" name="Text Box 68">
              <a:extLst>
                <a:ext uri="{FF2B5EF4-FFF2-40B4-BE49-F238E27FC236}">
                  <a16:creationId xmlns:a16="http://schemas.microsoft.com/office/drawing/2014/main" id="{FD45B472-EACF-4D2C-8F7E-5DF352C129C9}"/>
                </a:ext>
              </a:extLst>
            </p:cNvPr>
            <p:cNvSpPr txBox="1">
              <a:spLocks noChangeArrowheads="1"/>
            </p:cNvSpPr>
            <p:nvPr/>
          </p:nvSpPr>
          <p:spPr bwMode="auto">
            <a:xfrm>
              <a:off x="5538788" y="2493963"/>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a:solidFill>
                    <a:schemeClr val="bg1"/>
                  </a:solidFill>
                  <a:latin typeface="Comic Sans MS" panose="030F0702030302020204" pitchFamily="66" charset="0"/>
                </a:rPr>
                <a:t>2</a:t>
              </a:r>
              <a:endParaRPr lang="en-US" altLang="zh-CN" sz="2400">
                <a:solidFill>
                  <a:schemeClr val="bg1"/>
                </a:solidFill>
              </a:endParaRPr>
            </a:p>
          </p:txBody>
        </p:sp>
        <p:sp>
          <p:nvSpPr>
            <p:cNvPr id="81" name="Text Box 69">
              <a:extLst>
                <a:ext uri="{FF2B5EF4-FFF2-40B4-BE49-F238E27FC236}">
                  <a16:creationId xmlns:a16="http://schemas.microsoft.com/office/drawing/2014/main" id="{1C41DC3D-C184-4FEB-81AA-A3A4E186AAB8}"/>
                </a:ext>
              </a:extLst>
            </p:cNvPr>
            <p:cNvSpPr txBox="1">
              <a:spLocks noChangeArrowheads="1"/>
            </p:cNvSpPr>
            <p:nvPr/>
          </p:nvSpPr>
          <p:spPr bwMode="auto">
            <a:xfrm>
              <a:off x="6091238" y="2841625"/>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dirty="0">
                  <a:solidFill>
                    <a:schemeClr val="bg1"/>
                  </a:solidFill>
                  <a:latin typeface="Comic Sans MS" panose="030F0702030302020204" pitchFamily="66" charset="0"/>
                </a:rPr>
                <a:t>2</a:t>
              </a:r>
              <a:endParaRPr lang="en-US" altLang="zh-CN" sz="2400" dirty="0">
                <a:solidFill>
                  <a:schemeClr val="bg1"/>
                </a:solidFill>
              </a:endParaRPr>
            </a:p>
          </p:txBody>
        </p:sp>
        <p:sp>
          <p:nvSpPr>
            <p:cNvPr id="82" name="Text Box 70">
              <a:extLst>
                <a:ext uri="{FF2B5EF4-FFF2-40B4-BE49-F238E27FC236}">
                  <a16:creationId xmlns:a16="http://schemas.microsoft.com/office/drawing/2014/main" id="{F8E58552-0E44-4AB5-A8A8-0139F413730D}"/>
                </a:ext>
              </a:extLst>
            </p:cNvPr>
            <p:cNvSpPr txBox="1">
              <a:spLocks noChangeArrowheads="1"/>
            </p:cNvSpPr>
            <p:nvPr/>
          </p:nvSpPr>
          <p:spPr bwMode="auto">
            <a:xfrm>
              <a:off x="5418138" y="3179763"/>
              <a:ext cx="287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a:solidFill>
                    <a:schemeClr val="bg1"/>
                  </a:solidFill>
                  <a:latin typeface="Comic Sans MS" panose="030F0702030302020204" pitchFamily="66" charset="0"/>
                </a:rPr>
                <a:t>1</a:t>
              </a:r>
              <a:endParaRPr lang="en-US" altLang="zh-CN" sz="2400">
                <a:solidFill>
                  <a:schemeClr val="bg1"/>
                </a:solidFill>
              </a:endParaRPr>
            </a:p>
          </p:txBody>
        </p:sp>
        <p:sp>
          <p:nvSpPr>
            <p:cNvPr id="83" name="Text Box 71">
              <a:extLst>
                <a:ext uri="{FF2B5EF4-FFF2-40B4-BE49-F238E27FC236}">
                  <a16:creationId xmlns:a16="http://schemas.microsoft.com/office/drawing/2014/main" id="{AB816B49-DE70-4251-AB6E-C0B2CB8B3F81}"/>
                </a:ext>
              </a:extLst>
            </p:cNvPr>
            <p:cNvSpPr txBox="1">
              <a:spLocks noChangeArrowheads="1"/>
            </p:cNvSpPr>
            <p:nvPr/>
          </p:nvSpPr>
          <p:spPr bwMode="auto">
            <a:xfrm>
              <a:off x="6700838" y="2989263"/>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dirty="0">
                  <a:solidFill>
                    <a:schemeClr val="bg1"/>
                  </a:solidFill>
                  <a:latin typeface="Comic Sans MS" panose="030F0702030302020204" pitchFamily="66" charset="0"/>
                </a:rPr>
                <a:t>3</a:t>
              </a:r>
              <a:endParaRPr lang="en-US" altLang="zh-CN" sz="2400" dirty="0">
                <a:solidFill>
                  <a:schemeClr val="bg1"/>
                </a:solidFill>
              </a:endParaRPr>
            </a:p>
          </p:txBody>
        </p:sp>
        <p:sp>
          <p:nvSpPr>
            <p:cNvPr id="84" name="Text Box 72">
              <a:extLst>
                <a:ext uri="{FF2B5EF4-FFF2-40B4-BE49-F238E27FC236}">
                  <a16:creationId xmlns:a16="http://schemas.microsoft.com/office/drawing/2014/main" id="{35AD4A1B-1549-4DC7-9E5B-AE33956B1B94}"/>
                </a:ext>
              </a:extLst>
            </p:cNvPr>
            <p:cNvSpPr txBox="1">
              <a:spLocks noChangeArrowheads="1"/>
            </p:cNvSpPr>
            <p:nvPr/>
          </p:nvSpPr>
          <p:spPr bwMode="auto">
            <a:xfrm>
              <a:off x="6618288" y="3551238"/>
              <a:ext cx="287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a:solidFill>
                    <a:schemeClr val="bg1"/>
                  </a:solidFill>
                  <a:latin typeface="Comic Sans MS" panose="030F0702030302020204" pitchFamily="66" charset="0"/>
                </a:rPr>
                <a:t>1</a:t>
              </a:r>
              <a:endParaRPr lang="en-US" altLang="zh-CN" sz="2400">
                <a:solidFill>
                  <a:schemeClr val="bg1"/>
                </a:solidFill>
              </a:endParaRPr>
            </a:p>
          </p:txBody>
        </p:sp>
        <p:sp>
          <p:nvSpPr>
            <p:cNvPr id="85" name="Text Box 73">
              <a:extLst>
                <a:ext uri="{FF2B5EF4-FFF2-40B4-BE49-F238E27FC236}">
                  <a16:creationId xmlns:a16="http://schemas.microsoft.com/office/drawing/2014/main" id="{FEA1AB5B-4E91-4BFA-9B1F-FB7CFABB7F74}"/>
                </a:ext>
              </a:extLst>
            </p:cNvPr>
            <p:cNvSpPr txBox="1">
              <a:spLocks noChangeArrowheads="1"/>
            </p:cNvSpPr>
            <p:nvPr/>
          </p:nvSpPr>
          <p:spPr bwMode="auto">
            <a:xfrm>
              <a:off x="7189788" y="2870200"/>
              <a:ext cx="2873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a:solidFill>
                    <a:schemeClr val="bg1"/>
                  </a:solidFill>
                  <a:latin typeface="Comic Sans MS" panose="030F0702030302020204" pitchFamily="66" charset="0"/>
                </a:rPr>
                <a:t>1</a:t>
              </a:r>
              <a:endParaRPr lang="en-US" altLang="zh-CN" sz="2400">
                <a:solidFill>
                  <a:schemeClr val="bg1"/>
                </a:solidFill>
              </a:endParaRPr>
            </a:p>
          </p:txBody>
        </p:sp>
        <p:sp>
          <p:nvSpPr>
            <p:cNvPr id="86" name="Text Box 74">
              <a:extLst>
                <a:ext uri="{FF2B5EF4-FFF2-40B4-BE49-F238E27FC236}">
                  <a16:creationId xmlns:a16="http://schemas.microsoft.com/office/drawing/2014/main" id="{F9B46E04-2F4B-4858-84D9-C75A972EC449}"/>
                </a:ext>
              </a:extLst>
            </p:cNvPr>
            <p:cNvSpPr txBox="1">
              <a:spLocks noChangeArrowheads="1"/>
            </p:cNvSpPr>
            <p:nvPr/>
          </p:nvSpPr>
          <p:spPr bwMode="auto">
            <a:xfrm>
              <a:off x="7743825" y="3289300"/>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a:solidFill>
                    <a:schemeClr val="bg1"/>
                  </a:solidFill>
                  <a:latin typeface="Comic Sans MS" panose="030F0702030302020204" pitchFamily="66" charset="0"/>
                </a:rPr>
                <a:t>2</a:t>
              </a:r>
              <a:endParaRPr lang="en-US" altLang="zh-CN" sz="2400">
                <a:solidFill>
                  <a:schemeClr val="bg1"/>
                </a:solidFill>
              </a:endParaRPr>
            </a:p>
          </p:txBody>
        </p:sp>
        <p:sp>
          <p:nvSpPr>
            <p:cNvPr id="87" name="Text Box 75">
              <a:extLst>
                <a:ext uri="{FF2B5EF4-FFF2-40B4-BE49-F238E27FC236}">
                  <a16:creationId xmlns:a16="http://schemas.microsoft.com/office/drawing/2014/main" id="{828AB44C-5A08-4B42-A930-797846A54835}"/>
                </a:ext>
              </a:extLst>
            </p:cNvPr>
            <p:cNvSpPr txBox="1">
              <a:spLocks noChangeArrowheads="1"/>
            </p:cNvSpPr>
            <p:nvPr/>
          </p:nvSpPr>
          <p:spPr bwMode="auto">
            <a:xfrm>
              <a:off x="7700963" y="2436813"/>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a:solidFill>
                    <a:schemeClr val="bg1"/>
                  </a:solidFill>
                  <a:latin typeface="Comic Sans MS" panose="030F0702030302020204" pitchFamily="66" charset="0"/>
                </a:rPr>
                <a:t>5</a:t>
              </a:r>
              <a:endParaRPr lang="en-US" altLang="zh-CN" sz="2400">
                <a:solidFill>
                  <a:schemeClr val="bg1"/>
                </a:solidFill>
              </a:endParaRPr>
            </a:p>
          </p:txBody>
        </p:sp>
        <p:sp>
          <p:nvSpPr>
            <p:cNvPr id="88" name="Text Box 76">
              <a:extLst>
                <a:ext uri="{FF2B5EF4-FFF2-40B4-BE49-F238E27FC236}">
                  <a16:creationId xmlns:a16="http://schemas.microsoft.com/office/drawing/2014/main" id="{5B013C5C-63A0-4EB5-ACD9-2C2998C5BF42}"/>
                </a:ext>
              </a:extLst>
            </p:cNvPr>
            <p:cNvSpPr txBox="1">
              <a:spLocks noChangeArrowheads="1"/>
            </p:cNvSpPr>
            <p:nvPr/>
          </p:nvSpPr>
          <p:spPr bwMode="auto">
            <a:xfrm>
              <a:off x="6534150" y="2198688"/>
              <a:ext cx="3238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a:solidFill>
                    <a:schemeClr val="bg1"/>
                  </a:solidFill>
                  <a:latin typeface="Comic Sans MS" panose="030F0702030302020204" pitchFamily="66" charset="0"/>
                </a:rPr>
                <a:t>3</a:t>
              </a:r>
              <a:endParaRPr lang="en-US" altLang="zh-CN" sz="2400">
                <a:solidFill>
                  <a:schemeClr val="bg1"/>
                </a:solidFill>
              </a:endParaRPr>
            </a:p>
          </p:txBody>
        </p:sp>
        <p:sp>
          <p:nvSpPr>
            <p:cNvPr id="89" name="Text Box 77">
              <a:extLst>
                <a:ext uri="{FF2B5EF4-FFF2-40B4-BE49-F238E27FC236}">
                  <a16:creationId xmlns:a16="http://schemas.microsoft.com/office/drawing/2014/main" id="{473AA0D9-6334-4B0D-9FE9-F553FA55379A}"/>
                </a:ext>
              </a:extLst>
            </p:cNvPr>
            <p:cNvSpPr txBox="1">
              <a:spLocks noChangeArrowheads="1"/>
            </p:cNvSpPr>
            <p:nvPr/>
          </p:nvSpPr>
          <p:spPr bwMode="auto">
            <a:xfrm>
              <a:off x="5976938" y="1774825"/>
              <a:ext cx="3238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2"/>
                </a:buBlip>
                <a:defRPr sz="28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Blip>
                  <a:blip r:embed="rId3"/>
                </a:buBlip>
                <a:defRPr sz="24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Font typeface="Times New Roman" panose="02020603050405020304" pitchFamily="18" charset="0"/>
                <a:buChar char="•"/>
                <a:defRPr sz="2000">
                  <a:solidFill>
                    <a:schemeClr val="tx1"/>
                  </a:solidFill>
                  <a:latin typeface="Times New Roman" panose="02020603050405020304" pitchFamily="18" charset="0"/>
                  <a:ea typeface="굴림" panose="020B0600000101010101" pitchFamily="34" charset="-127"/>
                </a:defRPr>
              </a:lvl4pPr>
              <a:lvl5pPr marL="2057400" indent="-228600">
                <a:spcBef>
                  <a:spcPct val="20000"/>
                </a:spcBef>
                <a:buChar char="»"/>
                <a:defRPr sz="2000">
                  <a:solidFill>
                    <a:schemeClr val="tx1"/>
                  </a:solidFill>
                  <a:latin typeface="Times New Roman" panose="02020603050405020304" pitchFamily="18" charset="0"/>
                  <a:ea typeface="굴림" panose="020B0600000101010101" pitchFamily="34" charset="-127"/>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굴림" panose="020B0600000101010101" pitchFamily="34" charset="-127"/>
                </a:defRPr>
              </a:lvl9pPr>
            </a:lstStyle>
            <a:p>
              <a:pPr algn="ctr">
                <a:spcBef>
                  <a:spcPct val="0"/>
                </a:spcBef>
                <a:buFontTx/>
                <a:buNone/>
              </a:pPr>
              <a:r>
                <a:rPr lang="en-US" altLang="zh-CN" sz="1800">
                  <a:solidFill>
                    <a:schemeClr val="bg1"/>
                  </a:solidFill>
                  <a:latin typeface="Comic Sans MS" panose="030F0702030302020204" pitchFamily="66" charset="0"/>
                </a:rPr>
                <a:t>5</a:t>
              </a:r>
              <a:endParaRPr lang="en-US" altLang="zh-CN" sz="2400">
                <a:solidFill>
                  <a:schemeClr val="bg1"/>
                </a:solidFill>
              </a:endParaRPr>
            </a:p>
          </p:txBody>
        </p:sp>
      </p:grpSp>
      <p:sp>
        <p:nvSpPr>
          <p:cNvPr id="103" name="Line 85">
            <a:extLst>
              <a:ext uri="{FF2B5EF4-FFF2-40B4-BE49-F238E27FC236}">
                <a16:creationId xmlns:a16="http://schemas.microsoft.com/office/drawing/2014/main" id="{2E34D558-ACFA-4288-BCED-91EC834079FE}"/>
              </a:ext>
            </a:extLst>
          </p:cNvPr>
          <p:cNvSpPr>
            <a:spLocks noChangeShapeType="1"/>
          </p:cNvSpPr>
          <p:nvPr/>
        </p:nvSpPr>
        <p:spPr bwMode="auto">
          <a:xfrm>
            <a:off x="3477519" y="6057532"/>
            <a:ext cx="447675" cy="447675"/>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4" name="Line 86">
            <a:extLst>
              <a:ext uri="{FF2B5EF4-FFF2-40B4-BE49-F238E27FC236}">
                <a16:creationId xmlns:a16="http://schemas.microsoft.com/office/drawing/2014/main" id="{B365A72B-BCD8-4349-BD59-8D8E77FACF86}"/>
              </a:ext>
            </a:extLst>
          </p:cNvPr>
          <p:cNvSpPr>
            <a:spLocks noChangeShapeType="1"/>
          </p:cNvSpPr>
          <p:nvPr/>
        </p:nvSpPr>
        <p:spPr bwMode="auto">
          <a:xfrm flipV="1">
            <a:off x="4383634" y="6582714"/>
            <a:ext cx="581025" cy="9525"/>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5" name="Line 87">
            <a:extLst>
              <a:ext uri="{FF2B5EF4-FFF2-40B4-BE49-F238E27FC236}">
                <a16:creationId xmlns:a16="http://schemas.microsoft.com/office/drawing/2014/main" id="{9D439D86-A545-4C9D-8CC3-CF74509B82D5}"/>
              </a:ext>
            </a:extLst>
          </p:cNvPr>
          <p:cNvSpPr>
            <a:spLocks noChangeShapeType="1"/>
          </p:cNvSpPr>
          <p:nvPr/>
        </p:nvSpPr>
        <p:spPr bwMode="auto">
          <a:xfrm flipV="1">
            <a:off x="3576556" y="5549074"/>
            <a:ext cx="495300" cy="257175"/>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6" name="Line 88">
            <a:extLst>
              <a:ext uri="{FF2B5EF4-FFF2-40B4-BE49-F238E27FC236}">
                <a16:creationId xmlns:a16="http://schemas.microsoft.com/office/drawing/2014/main" id="{C50262DE-6490-4D9A-A295-AC84A2425FB8}"/>
              </a:ext>
            </a:extLst>
          </p:cNvPr>
          <p:cNvSpPr>
            <a:spLocks noChangeShapeType="1"/>
          </p:cNvSpPr>
          <p:nvPr/>
        </p:nvSpPr>
        <p:spPr bwMode="auto">
          <a:xfrm flipV="1">
            <a:off x="5227722" y="5564951"/>
            <a:ext cx="0" cy="847725"/>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7" name="Line 89">
            <a:extLst>
              <a:ext uri="{FF2B5EF4-FFF2-40B4-BE49-F238E27FC236}">
                <a16:creationId xmlns:a16="http://schemas.microsoft.com/office/drawing/2014/main" id="{2E5D4B3F-CBA4-41B9-8126-F52EA78C5815}"/>
              </a:ext>
            </a:extLst>
          </p:cNvPr>
          <p:cNvSpPr>
            <a:spLocks noChangeShapeType="1"/>
          </p:cNvSpPr>
          <p:nvPr/>
        </p:nvSpPr>
        <p:spPr bwMode="auto">
          <a:xfrm flipV="1">
            <a:off x="5490563" y="6125338"/>
            <a:ext cx="567437" cy="413543"/>
          </a:xfrm>
          <a:prstGeom prst="line">
            <a:avLst/>
          </a:prstGeom>
          <a:noFill/>
          <a:ln w="57150">
            <a:solidFill>
              <a:srgbClr val="FF0000"/>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10" name="组合 127"/>
          <p:cNvGrpSpPr/>
          <p:nvPr/>
        </p:nvGrpSpPr>
        <p:grpSpPr>
          <a:xfrm>
            <a:off x="7837224" y="4607782"/>
            <a:ext cx="3441699" cy="2295337"/>
            <a:chOff x="6769732" y="4328661"/>
            <a:chExt cx="3441699" cy="2295337"/>
          </a:xfrm>
        </p:grpSpPr>
        <p:grpSp>
          <p:nvGrpSpPr>
            <p:cNvPr id="111" name="Group 58">
              <a:extLst>
                <a:ext uri="{FF2B5EF4-FFF2-40B4-BE49-F238E27FC236}">
                  <a16:creationId xmlns:a16="http://schemas.microsoft.com/office/drawing/2014/main" id="{3F9CEECA-9A02-4C6F-994D-21BBFBF5E768}"/>
                </a:ext>
              </a:extLst>
            </p:cNvPr>
            <p:cNvGrpSpPr>
              <a:grpSpLocks/>
            </p:cNvGrpSpPr>
            <p:nvPr/>
          </p:nvGrpSpPr>
          <p:grpSpPr bwMode="auto">
            <a:xfrm>
              <a:off x="6769664" y="4328665"/>
              <a:ext cx="3441339" cy="2274891"/>
              <a:chOff x="410" y="2768"/>
              <a:chExt cx="2168" cy="1433"/>
            </a:xfrm>
          </p:grpSpPr>
          <p:sp>
            <p:nvSpPr>
              <p:cNvPr id="119" name="Line 59">
                <a:extLst>
                  <a:ext uri="{FF2B5EF4-FFF2-40B4-BE49-F238E27FC236}">
                    <a16:creationId xmlns:a16="http://schemas.microsoft.com/office/drawing/2014/main" id="{541B13AC-0FEC-424C-AA01-318D90DEAA78}"/>
                  </a:ext>
                </a:extLst>
              </p:cNvPr>
              <p:cNvSpPr>
                <a:spLocks noChangeShapeType="1"/>
              </p:cNvSpPr>
              <p:nvPr/>
            </p:nvSpPr>
            <p:spPr bwMode="auto">
              <a:xfrm>
                <a:off x="1026" y="2819"/>
                <a:ext cx="3" cy="132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sz="2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0" name="Line 60">
                <a:extLst>
                  <a:ext uri="{FF2B5EF4-FFF2-40B4-BE49-F238E27FC236}">
                    <a16:creationId xmlns:a16="http://schemas.microsoft.com/office/drawing/2014/main" id="{8FD07D92-30EC-4AAA-AA44-78CB0DC7F50B}"/>
                  </a:ext>
                </a:extLst>
              </p:cNvPr>
              <p:cNvSpPr>
                <a:spLocks noChangeShapeType="1"/>
              </p:cNvSpPr>
              <p:nvPr/>
            </p:nvSpPr>
            <p:spPr bwMode="auto">
              <a:xfrm flipV="1">
                <a:off x="410" y="3044"/>
                <a:ext cx="2168" cy="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sz="2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1" name="Text Box 61">
                <a:extLst>
                  <a:ext uri="{FF2B5EF4-FFF2-40B4-BE49-F238E27FC236}">
                    <a16:creationId xmlns:a16="http://schemas.microsoft.com/office/drawing/2014/main" id="{16F32822-BBF0-42B0-A758-C50BAD82F2D2}"/>
                  </a:ext>
                </a:extLst>
              </p:cNvPr>
              <p:cNvSpPr txBox="1">
                <a:spLocks noChangeArrowheads="1"/>
              </p:cNvSpPr>
              <p:nvPr/>
            </p:nvSpPr>
            <p:spPr bwMode="auto">
              <a:xfrm>
                <a:off x="637" y="3060"/>
                <a:ext cx="197"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altLang="zh-CN" sz="2000" dirty="0">
                    <a:latin typeface="Times New Roman" panose="02020603050405020304" pitchFamily="18" charset="0"/>
                    <a:ea typeface="宋体" panose="02010600030101010101" pitchFamily="2" charset="-122"/>
                    <a:cs typeface="Times New Roman" panose="02020603050405020304" pitchFamily="18" charset="0"/>
                  </a:rPr>
                  <a:t>v</a:t>
                </a:r>
                <a:endParaRPr lang="en-US" sz="20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22" name="Text Box 62">
                <a:extLst>
                  <a:ext uri="{FF2B5EF4-FFF2-40B4-BE49-F238E27FC236}">
                    <a16:creationId xmlns:a16="http://schemas.microsoft.com/office/drawing/2014/main" id="{5E0C90F9-9C25-4FE8-82E9-7C9BD38F25FE}"/>
                  </a:ext>
                </a:extLst>
              </p:cNvPr>
              <p:cNvSpPr txBox="1">
                <a:spLocks noChangeArrowheads="1"/>
              </p:cNvSpPr>
              <p:nvPr/>
            </p:nvSpPr>
            <p:spPr bwMode="auto">
              <a:xfrm>
                <a:off x="630" y="3247"/>
                <a:ext cx="233"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w</a:t>
                </a:r>
              </a:p>
            </p:txBody>
          </p:sp>
          <p:sp>
            <p:nvSpPr>
              <p:cNvPr id="123" name="Text Box 63">
                <a:extLst>
                  <a:ext uri="{FF2B5EF4-FFF2-40B4-BE49-F238E27FC236}">
                    <a16:creationId xmlns:a16="http://schemas.microsoft.com/office/drawing/2014/main" id="{68435106-1882-49DA-A4D2-9E1C79CB34CE}"/>
                  </a:ext>
                </a:extLst>
              </p:cNvPr>
              <p:cNvSpPr txBox="1">
                <a:spLocks noChangeArrowheads="1"/>
              </p:cNvSpPr>
              <p:nvPr/>
            </p:nvSpPr>
            <p:spPr bwMode="auto">
              <a:xfrm>
                <a:off x="629" y="3469"/>
                <a:ext cx="197"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x</a:t>
                </a:r>
              </a:p>
            </p:txBody>
          </p:sp>
          <p:sp>
            <p:nvSpPr>
              <p:cNvPr id="124" name="Text Box 64">
                <a:extLst>
                  <a:ext uri="{FF2B5EF4-FFF2-40B4-BE49-F238E27FC236}">
                    <a16:creationId xmlns:a16="http://schemas.microsoft.com/office/drawing/2014/main" id="{7BC88D33-67C2-48BC-91EB-DE739A6397F5}"/>
                  </a:ext>
                </a:extLst>
              </p:cNvPr>
              <p:cNvSpPr txBox="1">
                <a:spLocks noChangeArrowheads="1"/>
              </p:cNvSpPr>
              <p:nvPr/>
            </p:nvSpPr>
            <p:spPr bwMode="auto">
              <a:xfrm>
                <a:off x="629" y="3717"/>
                <a:ext cx="197"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y</a:t>
                </a:r>
              </a:p>
            </p:txBody>
          </p:sp>
          <p:sp>
            <p:nvSpPr>
              <p:cNvPr id="125" name="Text Box 65">
                <a:extLst>
                  <a:ext uri="{FF2B5EF4-FFF2-40B4-BE49-F238E27FC236}">
                    <a16:creationId xmlns:a16="http://schemas.microsoft.com/office/drawing/2014/main" id="{7CC30D77-31E3-4127-9AD9-6F0718558F8B}"/>
                  </a:ext>
                </a:extLst>
              </p:cNvPr>
              <p:cNvSpPr txBox="1">
                <a:spLocks noChangeArrowheads="1"/>
              </p:cNvSpPr>
              <p:nvPr/>
            </p:nvSpPr>
            <p:spPr bwMode="auto">
              <a:xfrm>
                <a:off x="638" y="3943"/>
                <a:ext cx="188"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z</a:t>
                </a:r>
              </a:p>
            </p:txBody>
          </p:sp>
          <p:sp>
            <p:nvSpPr>
              <p:cNvPr id="126" name="Text Box 66">
                <a:extLst>
                  <a:ext uri="{FF2B5EF4-FFF2-40B4-BE49-F238E27FC236}">
                    <a16:creationId xmlns:a16="http://schemas.microsoft.com/office/drawing/2014/main" id="{47536634-56F5-4907-A2A3-D511F5EB92E1}"/>
                  </a:ext>
                </a:extLst>
              </p:cNvPr>
              <p:cNvSpPr txBox="1">
                <a:spLocks noChangeArrowheads="1"/>
              </p:cNvSpPr>
              <p:nvPr/>
            </p:nvSpPr>
            <p:spPr bwMode="auto">
              <a:xfrm>
                <a:off x="1333" y="3044"/>
                <a:ext cx="197"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v</a:t>
                </a:r>
              </a:p>
            </p:txBody>
          </p:sp>
          <p:sp>
            <p:nvSpPr>
              <p:cNvPr id="127" name="Text Box 67">
                <a:extLst>
                  <a:ext uri="{FF2B5EF4-FFF2-40B4-BE49-F238E27FC236}">
                    <a16:creationId xmlns:a16="http://schemas.microsoft.com/office/drawing/2014/main" id="{33C0141E-DACA-4E45-9FE6-9F29C08CAFE4}"/>
                  </a:ext>
                </a:extLst>
              </p:cNvPr>
              <p:cNvSpPr txBox="1">
                <a:spLocks noChangeArrowheads="1"/>
              </p:cNvSpPr>
              <p:nvPr/>
            </p:nvSpPr>
            <p:spPr bwMode="auto">
              <a:xfrm>
                <a:off x="1334" y="3246"/>
                <a:ext cx="197"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x</a:t>
                </a:r>
              </a:p>
            </p:txBody>
          </p:sp>
          <p:sp>
            <p:nvSpPr>
              <p:cNvPr id="128" name="Text Box 68">
                <a:extLst>
                  <a:ext uri="{FF2B5EF4-FFF2-40B4-BE49-F238E27FC236}">
                    <a16:creationId xmlns:a16="http://schemas.microsoft.com/office/drawing/2014/main" id="{E8CA7F13-3AB3-43F2-9F33-5D0FABCAD56F}"/>
                  </a:ext>
                </a:extLst>
              </p:cNvPr>
              <p:cNvSpPr txBox="1">
                <a:spLocks noChangeArrowheads="1"/>
              </p:cNvSpPr>
              <p:nvPr/>
            </p:nvSpPr>
            <p:spPr bwMode="auto">
              <a:xfrm>
                <a:off x="1334" y="3481"/>
                <a:ext cx="197"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x</a:t>
                </a:r>
              </a:p>
            </p:txBody>
          </p:sp>
          <p:sp>
            <p:nvSpPr>
              <p:cNvPr id="129" name="Text Box 69">
                <a:extLst>
                  <a:ext uri="{FF2B5EF4-FFF2-40B4-BE49-F238E27FC236}">
                    <a16:creationId xmlns:a16="http://schemas.microsoft.com/office/drawing/2014/main" id="{C09F8FA2-81F4-479A-9FBA-E484621E99F0}"/>
                  </a:ext>
                </a:extLst>
              </p:cNvPr>
              <p:cNvSpPr txBox="1">
                <a:spLocks noChangeArrowheads="1"/>
              </p:cNvSpPr>
              <p:nvPr/>
            </p:nvSpPr>
            <p:spPr bwMode="auto">
              <a:xfrm>
                <a:off x="1335" y="3714"/>
                <a:ext cx="197"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x</a:t>
                </a:r>
              </a:p>
            </p:txBody>
          </p:sp>
          <p:sp>
            <p:nvSpPr>
              <p:cNvPr id="130" name="Text Box 70">
                <a:extLst>
                  <a:ext uri="{FF2B5EF4-FFF2-40B4-BE49-F238E27FC236}">
                    <a16:creationId xmlns:a16="http://schemas.microsoft.com/office/drawing/2014/main" id="{3C4B2D42-D396-4D4B-AB1A-BE029B99E331}"/>
                  </a:ext>
                </a:extLst>
              </p:cNvPr>
              <p:cNvSpPr txBox="1">
                <a:spLocks noChangeArrowheads="1"/>
              </p:cNvSpPr>
              <p:nvPr/>
            </p:nvSpPr>
            <p:spPr bwMode="auto">
              <a:xfrm>
                <a:off x="1339" y="3949"/>
                <a:ext cx="197"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x</a:t>
                </a:r>
              </a:p>
            </p:txBody>
          </p:sp>
          <p:sp>
            <p:nvSpPr>
              <p:cNvPr id="131" name="Text Box 71">
                <a:extLst>
                  <a:ext uri="{FF2B5EF4-FFF2-40B4-BE49-F238E27FC236}">
                    <a16:creationId xmlns:a16="http://schemas.microsoft.com/office/drawing/2014/main" id="{7EEDB1A5-B31B-4C03-8A39-2CE1515E9DBD}"/>
                  </a:ext>
                </a:extLst>
              </p:cNvPr>
              <p:cNvSpPr txBox="1">
                <a:spLocks noChangeArrowheads="1"/>
              </p:cNvSpPr>
              <p:nvPr/>
            </p:nvSpPr>
            <p:spPr bwMode="auto">
              <a:xfrm>
                <a:off x="520" y="2775"/>
                <a:ext cx="439"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zh-CN" altLang="en-US" sz="2000" dirty="0">
                    <a:latin typeface="等线" panose="02010600030101010101" pitchFamily="2" charset="-122"/>
                    <a:ea typeface="等线" panose="02010600030101010101" pitchFamily="2" charset="-122"/>
                    <a:cs typeface="Times New Roman" panose="02020603050405020304" pitchFamily="18" charset="0"/>
                  </a:rPr>
                  <a:t>目的</a:t>
                </a:r>
                <a:endParaRPr lang="en-US" sz="2000" dirty="0">
                  <a:latin typeface="等线" panose="02010600030101010101" pitchFamily="2" charset="-122"/>
                  <a:ea typeface="等线" panose="02010600030101010101" pitchFamily="2" charset="-122"/>
                  <a:cs typeface="Times New Roman" panose="02020603050405020304" pitchFamily="18" charset="0"/>
                </a:endParaRPr>
              </a:p>
            </p:txBody>
          </p:sp>
          <p:sp>
            <p:nvSpPr>
              <p:cNvPr id="132" name="Text Box 72">
                <a:extLst>
                  <a:ext uri="{FF2B5EF4-FFF2-40B4-BE49-F238E27FC236}">
                    <a16:creationId xmlns:a16="http://schemas.microsoft.com/office/drawing/2014/main" id="{A2051A04-D50A-4FB7-97F4-B36E49FAB165}"/>
                  </a:ext>
                </a:extLst>
              </p:cNvPr>
              <p:cNvSpPr txBox="1">
                <a:spLocks noChangeArrowheads="1"/>
              </p:cNvSpPr>
              <p:nvPr/>
            </p:nvSpPr>
            <p:spPr bwMode="auto">
              <a:xfrm>
                <a:off x="1145" y="2768"/>
                <a:ext cx="601" cy="25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zh-CN" altLang="en-US" sz="2000" dirty="0">
                    <a:latin typeface="等线" panose="02010600030101010101" pitchFamily="2" charset="-122"/>
                    <a:ea typeface="等线" panose="02010600030101010101" pitchFamily="2" charset="-122"/>
                    <a:cs typeface="Times New Roman" panose="02020603050405020304" pitchFamily="18" charset="0"/>
                  </a:rPr>
                  <a:t>下一跳</a:t>
                </a:r>
                <a:endParaRPr lang="en-US" sz="2000" dirty="0">
                  <a:latin typeface="等线" panose="02010600030101010101" pitchFamily="2" charset="-122"/>
                  <a:ea typeface="等线" panose="02010600030101010101" pitchFamily="2" charset="-122"/>
                  <a:cs typeface="Times New Roman" panose="02020603050405020304" pitchFamily="18" charset="0"/>
                </a:endParaRPr>
              </a:p>
            </p:txBody>
          </p:sp>
        </p:grpSp>
        <p:sp>
          <p:nvSpPr>
            <p:cNvPr id="112" name="Line 59">
              <a:extLst>
                <a:ext uri="{FF2B5EF4-FFF2-40B4-BE49-F238E27FC236}">
                  <a16:creationId xmlns:a16="http://schemas.microsoft.com/office/drawing/2014/main" id="{541B13AC-0FEC-424C-AA01-318D90DEAA78}"/>
                </a:ext>
              </a:extLst>
            </p:cNvPr>
            <p:cNvSpPr>
              <a:spLocks noChangeShapeType="1"/>
            </p:cNvSpPr>
            <p:nvPr/>
          </p:nvSpPr>
          <p:spPr bwMode="auto">
            <a:xfrm>
              <a:off x="9060710" y="4457919"/>
              <a:ext cx="9840" cy="2077249"/>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lstStyle/>
            <a:p>
              <a:endParaRPr lang="en-US" sz="200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3" name="Text Box 61">
              <a:extLst>
                <a:ext uri="{FF2B5EF4-FFF2-40B4-BE49-F238E27FC236}">
                  <a16:creationId xmlns:a16="http://schemas.microsoft.com/office/drawing/2014/main" id="{16F32822-BBF0-42B0-A758-C50BAD82F2D2}"/>
                </a:ext>
              </a:extLst>
            </p:cNvPr>
            <p:cNvSpPr txBox="1">
              <a:spLocks noChangeArrowheads="1"/>
            </p:cNvSpPr>
            <p:nvPr/>
          </p:nvSpPr>
          <p:spPr bwMode="auto">
            <a:xfrm>
              <a:off x="9418374" y="4810249"/>
              <a:ext cx="312906"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14" name="Text Box 62">
              <a:extLst>
                <a:ext uri="{FF2B5EF4-FFF2-40B4-BE49-F238E27FC236}">
                  <a16:creationId xmlns:a16="http://schemas.microsoft.com/office/drawing/2014/main" id="{5E0C90F9-9C25-4FE8-82E9-7C9BD38F25FE}"/>
                </a:ext>
              </a:extLst>
            </p:cNvPr>
            <p:cNvSpPr txBox="1">
              <a:spLocks noChangeArrowheads="1"/>
            </p:cNvSpPr>
            <p:nvPr/>
          </p:nvSpPr>
          <p:spPr bwMode="auto">
            <a:xfrm>
              <a:off x="9407262" y="5118987"/>
              <a:ext cx="312906"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115" name="Text Box 63">
              <a:extLst>
                <a:ext uri="{FF2B5EF4-FFF2-40B4-BE49-F238E27FC236}">
                  <a16:creationId xmlns:a16="http://schemas.microsoft.com/office/drawing/2014/main" id="{68435106-1882-49DA-A4D2-9E1C79CB34CE}"/>
                </a:ext>
              </a:extLst>
            </p:cNvPr>
            <p:cNvSpPr txBox="1">
              <a:spLocks noChangeArrowheads="1"/>
            </p:cNvSpPr>
            <p:nvPr/>
          </p:nvSpPr>
          <p:spPr bwMode="auto">
            <a:xfrm>
              <a:off x="9405674" y="5471412"/>
              <a:ext cx="312906"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116" name="Text Box 64">
              <a:extLst>
                <a:ext uri="{FF2B5EF4-FFF2-40B4-BE49-F238E27FC236}">
                  <a16:creationId xmlns:a16="http://schemas.microsoft.com/office/drawing/2014/main" id="{7BC88D33-67C2-48BC-91EB-DE739A6397F5}"/>
                </a:ext>
              </a:extLst>
            </p:cNvPr>
            <p:cNvSpPr txBox="1">
              <a:spLocks noChangeArrowheads="1"/>
            </p:cNvSpPr>
            <p:nvPr/>
          </p:nvSpPr>
          <p:spPr bwMode="auto">
            <a:xfrm>
              <a:off x="9405674" y="5865113"/>
              <a:ext cx="312906"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117" name="Text Box 65">
              <a:extLst>
                <a:ext uri="{FF2B5EF4-FFF2-40B4-BE49-F238E27FC236}">
                  <a16:creationId xmlns:a16="http://schemas.microsoft.com/office/drawing/2014/main" id="{7CC30D77-31E3-4127-9AD9-6F0718558F8B}"/>
                </a:ext>
              </a:extLst>
            </p:cNvPr>
            <p:cNvSpPr txBox="1">
              <a:spLocks noChangeArrowheads="1"/>
            </p:cNvSpPr>
            <p:nvPr/>
          </p:nvSpPr>
          <p:spPr bwMode="auto">
            <a:xfrm>
              <a:off x="9419962" y="6223888"/>
              <a:ext cx="312906"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en-US" sz="2000" dirty="0">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118" name="Text Box 71">
              <a:extLst>
                <a:ext uri="{FF2B5EF4-FFF2-40B4-BE49-F238E27FC236}">
                  <a16:creationId xmlns:a16="http://schemas.microsoft.com/office/drawing/2014/main" id="{7EEDB1A5-B31B-4C03-8A39-2CE1515E9DBD}"/>
                </a:ext>
              </a:extLst>
            </p:cNvPr>
            <p:cNvSpPr txBox="1">
              <a:spLocks noChangeArrowheads="1"/>
            </p:cNvSpPr>
            <p:nvPr/>
          </p:nvSpPr>
          <p:spPr bwMode="auto">
            <a:xfrm>
              <a:off x="9179030" y="4362840"/>
              <a:ext cx="697627" cy="4001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r>
                <a:rPr lang="zh-CN" altLang="en-US" sz="2000" dirty="0">
                  <a:latin typeface="等线" panose="02010600030101010101" pitchFamily="2" charset="-122"/>
                  <a:ea typeface="等线" panose="02010600030101010101" pitchFamily="2" charset="-122"/>
                  <a:cs typeface="Times New Roman" panose="02020603050405020304" pitchFamily="18" charset="0"/>
                </a:rPr>
                <a:t>代价</a:t>
              </a:r>
              <a:endParaRPr lang="en-US" sz="2000" dirty="0">
                <a:latin typeface="等线" panose="02010600030101010101" pitchFamily="2" charset="-122"/>
                <a:ea typeface="等线" panose="02010600030101010101" pitchFamily="2" charset="-122"/>
                <a:cs typeface="Times New Roman" panose="02020603050405020304" pitchFamily="18" charset="0"/>
              </a:endParaRPr>
            </a:p>
          </p:txBody>
        </p:sp>
      </p:grpSp>
      <p:sp>
        <p:nvSpPr>
          <p:cNvPr id="134"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5.3.4 </a:t>
            </a:r>
            <a:r>
              <a:rPr kumimoji="1" lang="zh-CN" altLang="en-US" dirty="0">
                <a:latin typeface="DengXian" panose="02010600030101010101" pitchFamily="2" charset="-122"/>
                <a:ea typeface="DengXian" panose="02010600030101010101" pitchFamily="2" charset="-122"/>
              </a:rPr>
              <a:t>链路状态路由</a:t>
            </a:r>
          </a:p>
        </p:txBody>
      </p:sp>
      <p:sp>
        <p:nvSpPr>
          <p:cNvPr id="133" name="灯片编号占位符 3">
            <a:extLst>
              <a:ext uri="{FF2B5EF4-FFF2-40B4-BE49-F238E27FC236}">
                <a16:creationId xmlns:a16="http://schemas.microsoft.com/office/drawing/2014/main" id="{4E311600-56F9-9C4F-A358-FD58492A7709}"/>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73</a:t>
            </a:fld>
            <a:endParaRPr kumimoji="1" lang="zh-CN" altLang="en-US" dirty="0"/>
          </a:p>
        </p:txBody>
      </p:sp>
    </p:spTree>
    <p:extLst>
      <p:ext uri="{BB962C8B-B14F-4D97-AF65-F5344CB8AC3E}">
        <p14:creationId xmlns:p14="http://schemas.microsoft.com/office/powerpoint/2010/main" val="39918393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2" end="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1">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8"/>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
                                            <p:txEl>
                                              <p:pRg st="3" end="3"/>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
                                            <p:txEl>
                                              <p:pRg st="3" end="3"/>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2">
                                            <p:txEl>
                                              <p:pRg st="3" end="3"/>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7">
                                            <p:txEl>
                                              <p:pRg st="4" end="4"/>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6">
                                            <p:txEl>
                                              <p:pRg st="4" end="4"/>
                                            </p:txEl>
                                          </p:spTgt>
                                        </p:tgtEl>
                                        <p:attrNameLst>
                                          <p:attrName>style.visibility</p:attrName>
                                        </p:attrNameLst>
                                      </p:cBhvr>
                                      <p:to>
                                        <p:strVal val="visible"/>
                                      </p:to>
                                    </p:set>
                                  </p:childTnLst>
                                </p:cTn>
                              </p:par>
                              <p:par>
                                <p:cTn id="63" presetID="1" presetClass="exit" presetSubtype="0" fill="hold" grpId="1" nodeType="withEffect">
                                  <p:stCondLst>
                                    <p:cond delay="0"/>
                                  </p:stCondLst>
                                  <p:childTnLst>
                                    <p:set>
                                      <p:cBhvr>
                                        <p:cTn id="64" dur="1" fill="hold">
                                          <p:stCondLst>
                                            <p:cond delay="0"/>
                                          </p:stCondLst>
                                        </p:cTn>
                                        <p:tgtEl>
                                          <p:spTgt spid="19"/>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9">
                                            <p:txEl>
                                              <p:pRg st="4" end="4"/>
                                            </p:txEl>
                                          </p:spTgt>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2">
                                            <p:txEl>
                                              <p:pRg st="4" end="4"/>
                                            </p:txEl>
                                          </p:spTgt>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20"/>
                                        </p:tgtEl>
                                        <p:attrNameLst>
                                          <p:attrName>style.visibility</p:attrName>
                                        </p:attrNameLst>
                                      </p:cBhvr>
                                      <p:to>
                                        <p:strVal val="hidden"/>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1"/>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7">
                                            <p:txEl>
                                              <p:pRg st="5" end="5"/>
                                            </p:txEl>
                                          </p:spTgt>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12">
                                            <p:txEl>
                                              <p:pRg st="5" end="5"/>
                                            </p:txEl>
                                          </p:spTgt>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7"/>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grpId="1" nodeType="clickEffect">
                                  <p:stCondLst>
                                    <p:cond delay="0"/>
                                  </p:stCondLst>
                                  <p:childTnLst>
                                    <p:set>
                                      <p:cBhvr>
                                        <p:cTn id="96" dur="1" fill="hold">
                                          <p:stCondLst>
                                            <p:cond delay="0"/>
                                          </p:stCondLst>
                                        </p:cTn>
                                        <p:tgtEl>
                                          <p:spTgt spid="21"/>
                                        </p:tgtEl>
                                        <p:attrNameLst>
                                          <p:attrName>style.visibility</p:attrName>
                                        </p:attrNameLst>
                                      </p:cBhvr>
                                      <p:to>
                                        <p:strVal val="hidden"/>
                                      </p:to>
                                    </p:set>
                                  </p:childTnLst>
                                </p:cTn>
                              </p:par>
                            </p:childTnLst>
                          </p:cTn>
                        </p:par>
                        <p:par>
                          <p:cTn id="97" fill="hold">
                            <p:stCondLst>
                              <p:cond delay="0"/>
                            </p:stCondLst>
                            <p:childTnLst>
                              <p:par>
                                <p:cTn id="98" presetID="2" presetClass="entr" presetSubtype="8" fill="hold" nodeType="afterEffect">
                                  <p:stCondLst>
                                    <p:cond delay="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500" fill="hold"/>
                                        <p:tgtEl>
                                          <p:spTgt spid="22"/>
                                        </p:tgtEl>
                                        <p:attrNameLst>
                                          <p:attrName>ppt_x</p:attrName>
                                        </p:attrNameLst>
                                      </p:cBhvr>
                                      <p:tavLst>
                                        <p:tav tm="0">
                                          <p:val>
                                            <p:strVal val="0-#ppt_w/2"/>
                                          </p:val>
                                        </p:tav>
                                        <p:tav tm="100000">
                                          <p:val>
                                            <p:strVal val="#ppt_x"/>
                                          </p:val>
                                        </p:tav>
                                      </p:tavLst>
                                    </p:anim>
                                    <p:anim calcmode="lin" valueType="num">
                                      <p:cBhvr additive="base">
                                        <p:cTn id="101" dur="500" fill="hold"/>
                                        <p:tgtEl>
                                          <p:spTgt spid="22"/>
                                        </p:tgtEl>
                                        <p:attrNameLst>
                                          <p:attrName>ppt_y</p:attrName>
                                        </p:attrNameLst>
                                      </p:cBhvr>
                                      <p:tavLst>
                                        <p:tav tm="0">
                                          <p:val>
                                            <p:strVal val="#ppt_y"/>
                                          </p:val>
                                        </p:tav>
                                        <p:tav tm="100000">
                                          <p:val>
                                            <p:strVal val="#ppt_y"/>
                                          </p:val>
                                        </p:tav>
                                      </p:tavLst>
                                    </p:anim>
                                  </p:childTnLst>
                                  <p:subTnLst>
                                    <p:set>
                                      <p:cBhvr override="childStyle">
                                        <p:cTn dur="1" fill="hold" display="0" masterRel="nextClick" afterEffect="1"/>
                                        <p:tgtEl>
                                          <p:spTgt spid="22"/>
                                        </p:tgtEl>
                                        <p:attrNameLst>
                                          <p:attrName>style.visibility</p:attrName>
                                        </p:attrNameLst>
                                      </p:cBhvr>
                                      <p:to>
                                        <p:strVal val="hidden"/>
                                      </p:to>
                                    </p:set>
                                  </p:subTnLst>
                                </p:cTn>
                              </p:par>
                              <p:par>
                                <p:cTn id="102" presetID="1" presetClass="entr" presetSubtype="0" fill="hold" nodeType="withEffect">
                                  <p:stCondLst>
                                    <p:cond delay="0"/>
                                  </p:stCondLst>
                                  <p:childTnLst>
                                    <p:set>
                                      <p:cBhvr>
                                        <p:cTn id="103" dur="1" fill="hold">
                                          <p:stCondLst>
                                            <p:cond delay="0"/>
                                          </p:stCondLst>
                                        </p:cTn>
                                        <p:tgtEl>
                                          <p:spTgt spid="7">
                                            <p:txEl>
                                              <p:pRg st="6" end="6"/>
                                            </p:txEl>
                                          </p:spTgt>
                                        </p:tgtEl>
                                        <p:attrNameLst>
                                          <p:attrName>style.visibility</p:attrName>
                                        </p:attrNameLst>
                                      </p:cBhvr>
                                      <p:to>
                                        <p:strVal val="visible"/>
                                      </p:to>
                                    </p:set>
                                  </p:childTnLst>
                                </p:cTn>
                              </p:par>
                              <p:par>
                                <p:cTn id="104" presetID="1" presetClass="entr" presetSubtype="0" fill="hold" nodeType="withEffect">
                                  <p:stCondLst>
                                    <p:cond delay="0"/>
                                  </p:stCondLst>
                                  <p:childTnLst>
                                    <p:set>
                                      <p:cBhvr>
                                        <p:cTn id="105"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29"/>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9" presetClass="entr" presetSubtype="0" fill="hold" nodeType="clickEffect">
                                  <p:stCondLst>
                                    <p:cond delay="0"/>
                                  </p:stCondLst>
                                  <p:childTnLst>
                                    <p:set>
                                      <p:cBhvr>
                                        <p:cTn id="113" dur="1" fill="hold">
                                          <p:stCondLst>
                                            <p:cond delay="0"/>
                                          </p:stCondLst>
                                        </p:cTn>
                                        <p:tgtEl>
                                          <p:spTgt spid="103"/>
                                        </p:tgtEl>
                                        <p:attrNameLst>
                                          <p:attrName>style.visibility</p:attrName>
                                        </p:attrNameLst>
                                      </p:cBhvr>
                                      <p:to>
                                        <p:strVal val="visible"/>
                                      </p:to>
                                    </p:set>
                                    <p:animEffect transition="in" filter="dissolve">
                                      <p:cBhvr>
                                        <p:cTn id="114" dur="500"/>
                                        <p:tgtEl>
                                          <p:spTgt spid="103"/>
                                        </p:tgtEl>
                                      </p:cBhvr>
                                    </p:animEffect>
                                  </p:childTnLst>
                                </p:cTn>
                              </p:par>
                            </p:childTnLst>
                          </p:cTn>
                        </p:par>
                      </p:childTnLst>
                    </p:cTn>
                  </p:par>
                  <p:par>
                    <p:cTn id="115" fill="hold">
                      <p:stCondLst>
                        <p:cond delay="indefinite"/>
                      </p:stCondLst>
                      <p:childTnLst>
                        <p:par>
                          <p:cTn id="116" fill="hold">
                            <p:stCondLst>
                              <p:cond delay="0"/>
                            </p:stCondLst>
                            <p:childTnLst>
                              <p:par>
                                <p:cTn id="117" presetID="9" presetClass="entr" presetSubtype="0" fill="hold" nodeType="clickEffect">
                                  <p:stCondLst>
                                    <p:cond delay="0"/>
                                  </p:stCondLst>
                                  <p:childTnLst>
                                    <p:set>
                                      <p:cBhvr>
                                        <p:cTn id="118" dur="1" fill="hold">
                                          <p:stCondLst>
                                            <p:cond delay="0"/>
                                          </p:stCondLst>
                                        </p:cTn>
                                        <p:tgtEl>
                                          <p:spTgt spid="104"/>
                                        </p:tgtEl>
                                        <p:attrNameLst>
                                          <p:attrName>style.visibility</p:attrName>
                                        </p:attrNameLst>
                                      </p:cBhvr>
                                      <p:to>
                                        <p:strVal val="visible"/>
                                      </p:to>
                                    </p:set>
                                    <p:animEffect transition="in" filter="dissolve">
                                      <p:cBhvr>
                                        <p:cTn id="119" dur="500"/>
                                        <p:tgtEl>
                                          <p:spTgt spid="104"/>
                                        </p:tgtEl>
                                      </p:cBhvr>
                                    </p:animEffect>
                                  </p:childTnLst>
                                </p:cTn>
                              </p:par>
                            </p:childTnLst>
                          </p:cTn>
                        </p:par>
                      </p:childTnLst>
                    </p:cTn>
                  </p:par>
                  <p:par>
                    <p:cTn id="120" fill="hold">
                      <p:stCondLst>
                        <p:cond delay="indefinite"/>
                      </p:stCondLst>
                      <p:childTnLst>
                        <p:par>
                          <p:cTn id="121" fill="hold">
                            <p:stCondLst>
                              <p:cond delay="0"/>
                            </p:stCondLst>
                            <p:childTnLst>
                              <p:par>
                                <p:cTn id="122" presetID="9" presetClass="entr" presetSubtype="0" fill="hold" nodeType="clickEffect">
                                  <p:stCondLst>
                                    <p:cond delay="0"/>
                                  </p:stCondLst>
                                  <p:childTnLst>
                                    <p:set>
                                      <p:cBhvr>
                                        <p:cTn id="123" dur="1" fill="hold">
                                          <p:stCondLst>
                                            <p:cond delay="0"/>
                                          </p:stCondLst>
                                        </p:cTn>
                                        <p:tgtEl>
                                          <p:spTgt spid="105"/>
                                        </p:tgtEl>
                                        <p:attrNameLst>
                                          <p:attrName>style.visibility</p:attrName>
                                        </p:attrNameLst>
                                      </p:cBhvr>
                                      <p:to>
                                        <p:strVal val="visible"/>
                                      </p:to>
                                    </p:set>
                                    <p:animEffect transition="in" filter="dissolve">
                                      <p:cBhvr>
                                        <p:cTn id="124" dur="500"/>
                                        <p:tgtEl>
                                          <p:spTgt spid="105"/>
                                        </p:tgtEl>
                                      </p:cBhvr>
                                    </p:animEffect>
                                  </p:childTnLst>
                                </p:cTn>
                              </p:par>
                            </p:childTnLst>
                          </p:cTn>
                        </p:par>
                      </p:childTnLst>
                    </p:cTn>
                  </p:par>
                  <p:par>
                    <p:cTn id="125" fill="hold">
                      <p:stCondLst>
                        <p:cond delay="indefinite"/>
                      </p:stCondLst>
                      <p:childTnLst>
                        <p:par>
                          <p:cTn id="126" fill="hold">
                            <p:stCondLst>
                              <p:cond delay="0"/>
                            </p:stCondLst>
                            <p:childTnLst>
                              <p:par>
                                <p:cTn id="127" presetID="9" presetClass="entr" presetSubtype="0" fill="hold" nodeType="clickEffect">
                                  <p:stCondLst>
                                    <p:cond delay="0"/>
                                  </p:stCondLst>
                                  <p:childTnLst>
                                    <p:set>
                                      <p:cBhvr>
                                        <p:cTn id="128" dur="1" fill="hold">
                                          <p:stCondLst>
                                            <p:cond delay="0"/>
                                          </p:stCondLst>
                                        </p:cTn>
                                        <p:tgtEl>
                                          <p:spTgt spid="106"/>
                                        </p:tgtEl>
                                        <p:attrNameLst>
                                          <p:attrName>style.visibility</p:attrName>
                                        </p:attrNameLst>
                                      </p:cBhvr>
                                      <p:to>
                                        <p:strVal val="visible"/>
                                      </p:to>
                                    </p:set>
                                    <p:animEffect transition="in" filter="dissolve">
                                      <p:cBhvr>
                                        <p:cTn id="129" dur="500"/>
                                        <p:tgtEl>
                                          <p:spTgt spid="106"/>
                                        </p:tgtEl>
                                      </p:cBhvr>
                                    </p:animEffect>
                                  </p:childTnLst>
                                </p:cTn>
                              </p:par>
                            </p:childTnLst>
                          </p:cTn>
                        </p:par>
                      </p:childTnLst>
                    </p:cTn>
                  </p:par>
                  <p:par>
                    <p:cTn id="130" fill="hold">
                      <p:stCondLst>
                        <p:cond delay="indefinite"/>
                      </p:stCondLst>
                      <p:childTnLst>
                        <p:par>
                          <p:cTn id="131" fill="hold">
                            <p:stCondLst>
                              <p:cond delay="0"/>
                            </p:stCondLst>
                            <p:childTnLst>
                              <p:par>
                                <p:cTn id="132" presetID="9" presetClass="entr" presetSubtype="0" fill="hold" nodeType="clickEffect">
                                  <p:stCondLst>
                                    <p:cond delay="0"/>
                                  </p:stCondLst>
                                  <p:childTnLst>
                                    <p:set>
                                      <p:cBhvr>
                                        <p:cTn id="133" dur="1" fill="hold">
                                          <p:stCondLst>
                                            <p:cond delay="0"/>
                                          </p:stCondLst>
                                        </p:cTn>
                                        <p:tgtEl>
                                          <p:spTgt spid="107"/>
                                        </p:tgtEl>
                                        <p:attrNameLst>
                                          <p:attrName>style.visibility</p:attrName>
                                        </p:attrNameLst>
                                      </p:cBhvr>
                                      <p:to>
                                        <p:strVal val="visible"/>
                                      </p:to>
                                    </p:set>
                                    <p:animEffect transition="in" filter="dissolve">
                                      <p:cBhvr>
                                        <p:cTn id="134" dur="500"/>
                                        <p:tgtEl>
                                          <p:spTgt spid="107"/>
                                        </p:tgtEl>
                                      </p:cBhvr>
                                    </p:animEffec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30"/>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0" grpId="0" animBg="1"/>
      <p:bldP spid="20" grpId="1" animBg="1"/>
      <p:bldP spid="21" grpId="0" animBg="1"/>
      <p:bldP spid="21" grpId="1" animBg="1"/>
      <p:bldP spid="23" grpId="0" animBg="1"/>
      <p:bldP spid="24" grpId="0" animBg="1"/>
      <p:bldP spid="25" grpId="0" animBg="1"/>
      <p:bldP spid="26" grpId="0" animBg="1"/>
      <p:bldP spid="27" grpId="0" animBg="1"/>
      <p:bldP spid="28" grpId="0" animBg="1"/>
      <p:bldP spid="28" grpId="1" animBg="1"/>
      <p:bldP spid="29" grpId="0"/>
      <p:bldP spid="30"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链路状态路由</a:t>
            </a:r>
            <a:endParaRPr lang="zh-CN" altLang="en-US" dirty="0"/>
          </a:p>
        </p:txBody>
      </p:sp>
      <p:sp>
        <p:nvSpPr>
          <p:cNvPr id="3" name="内容占位符 2"/>
          <p:cNvSpPr>
            <a:spLocks noGrp="1"/>
          </p:cNvSpPr>
          <p:nvPr>
            <p:ph idx="1"/>
          </p:nvPr>
        </p:nvSpPr>
        <p:spPr>
          <a:xfrm>
            <a:off x="838200" y="1510758"/>
            <a:ext cx="10515600" cy="4858144"/>
          </a:xfrm>
        </p:spPr>
        <p:txBody>
          <a:bodyPr numCol="2">
            <a:noAutofit/>
          </a:bodyPr>
          <a:lstStyle/>
          <a:p>
            <a:r>
              <a:rPr lang="zh-CN" altLang="en-US" dirty="0">
                <a:latin typeface="等线" panose="02010600030101010101" pitchFamily="2" charset="-122"/>
                <a:ea typeface="等线" panose="02010600030101010101" pitchFamily="2" charset="-122"/>
              </a:rPr>
              <a:t>距离向量和链路状态算法比较：</a:t>
            </a:r>
            <a:endParaRPr lang="en-US" altLang="zh-CN" dirty="0">
              <a:latin typeface="等线" panose="02010600030101010101" pitchFamily="2" charset="-122"/>
              <a:ea typeface="等线" panose="02010600030101010101" pitchFamily="2" charset="-122"/>
            </a:endParaRPr>
          </a:p>
          <a:p>
            <a:pPr lvl="1"/>
            <a:r>
              <a:rPr lang="zh-CN" altLang="zh-CN" dirty="0"/>
              <a:t>网络状态信息交换的范围</a:t>
            </a:r>
            <a:endParaRPr lang="en-US" altLang="zh-CN" dirty="0"/>
          </a:p>
          <a:p>
            <a:pPr lvl="2"/>
            <a:r>
              <a:rPr lang="zh-CN" altLang="en-US" dirty="0">
                <a:latin typeface="等线" panose="02010600030101010101" pitchFamily="2" charset="-122"/>
                <a:ea typeface="等线" panose="02010600030101010101" pitchFamily="2" charset="-122"/>
              </a:rPr>
              <a:t>距离向量算法：</a:t>
            </a:r>
            <a:r>
              <a:rPr lang="zh-CN" altLang="zh-CN" dirty="0"/>
              <a:t>邻居间交换</a:t>
            </a:r>
            <a:r>
              <a:rPr lang="en-US" altLang="zh-CN" dirty="0"/>
              <a:t>  </a:t>
            </a:r>
          </a:p>
          <a:p>
            <a:pPr lvl="2"/>
            <a:r>
              <a:rPr lang="zh-CN" altLang="en-US" dirty="0">
                <a:latin typeface="等线" panose="02010600030101010101" pitchFamily="2" charset="-122"/>
                <a:ea typeface="等线" panose="02010600030101010101" pitchFamily="2" charset="-122"/>
              </a:rPr>
              <a:t>链路状态算法：</a:t>
            </a:r>
            <a:r>
              <a:rPr lang="zh-CN" altLang="zh-CN" dirty="0"/>
              <a:t>全网扩散 </a:t>
            </a:r>
            <a:endParaRPr lang="en-US" altLang="zh-CN" dirty="0"/>
          </a:p>
          <a:p>
            <a:pPr lvl="1"/>
            <a:r>
              <a:rPr lang="zh-CN" altLang="zh-CN" dirty="0"/>
              <a:t>网络状态信息的可靠性</a:t>
            </a:r>
            <a:endParaRPr lang="en-US" altLang="zh-CN" dirty="0"/>
          </a:p>
          <a:p>
            <a:pPr lvl="2"/>
            <a:r>
              <a:rPr lang="zh-CN" altLang="en-US" dirty="0">
                <a:latin typeface="等线" panose="02010600030101010101" pitchFamily="2" charset="-122"/>
                <a:ea typeface="等线" panose="02010600030101010101" pitchFamily="2" charset="-122"/>
              </a:rPr>
              <a:t>距离向量算法：</a:t>
            </a:r>
            <a:r>
              <a:rPr lang="zh-CN" altLang="zh-CN" dirty="0"/>
              <a:t>部分道听途说</a:t>
            </a:r>
            <a:r>
              <a:rPr lang="en-US" altLang="zh-CN" dirty="0"/>
              <a:t> </a:t>
            </a:r>
          </a:p>
          <a:p>
            <a:pPr lvl="2"/>
            <a:r>
              <a:rPr lang="zh-CN" altLang="en-US" dirty="0">
                <a:latin typeface="等线" panose="02010600030101010101" pitchFamily="2" charset="-122"/>
                <a:ea typeface="等线" panose="02010600030101010101" pitchFamily="2" charset="-122"/>
              </a:rPr>
              <a:t>链路状态算法：</a:t>
            </a:r>
            <a:r>
              <a:rPr lang="zh-CN" altLang="zh-CN" dirty="0"/>
              <a:t>自己测量</a:t>
            </a:r>
            <a:endParaRPr lang="en-US" altLang="zh-CN" dirty="0">
              <a:latin typeface="等线" panose="02010600030101010101" pitchFamily="2" charset="-122"/>
              <a:ea typeface="等线" panose="02010600030101010101" pitchFamily="2" charset="-122"/>
            </a:endParaRPr>
          </a:p>
          <a:p>
            <a:pPr lvl="1"/>
            <a:endParaRPr lang="en-US" altLang="zh-CN" dirty="0">
              <a:latin typeface="等线" panose="02010600030101010101" pitchFamily="2" charset="-122"/>
              <a:ea typeface="等线" panose="02010600030101010101" pitchFamily="2" charset="-122"/>
            </a:endParaRPr>
          </a:p>
          <a:p>
            <a:pPr lvl="1"/>
            <a:endParaRPr lang="en-US" altLang="zh-CN" dirty="0">
              <a:latin typeface="等线" panose="02010600030101010101" pitchFamily="2" charset="-122"/>
              <a:ea typeface="等线" panose="02010600030101010101" pitchFamily="2" charset="-122"/>
            </a:endParaRPr>
          </a:p>
          <a:p>
            <a:pPr lvl="1"/>
            <a:endParaRPr lang="en-US" altLang="zh-CN" dirty="0">
              <a:latin typeface="等线" panose="02010600030101010101" pitchFamily="2" charset="-122"/>
              <a:ea typeface="等线" panose="02010600030101010101" pitchFamily="2" charset="-122"/>
            </a:endParaRPr>
          </a:p>
          <a:p>
            <a:pPr lvl="1"/>
            <a:endParaRPr lang="en-US" altLang="zh-CN" dirty="0">
              <a:latin typeface="等线" panose="02010600030101010101" pitchFamily="2" charset="-122"/>
              <a:ea typeface="等线" panose="02010600030101010101" pitchFamily="2" charset="-122"/>
            </a:endParaRPr>
          </a:p>
          <a:p>
            <a:pPr lvl="1"/>
            <a:endParaRPr lang="en-US" altLang="zh-CN" dirty="0">
              <a:latin typeface="等线" panose="02010600030101010101" pitchFamily="2" charset="-122"/>
              <a:ea typeface="等线" panose="02010600030101010101" pitchFamily="2" charset="-122"/>
            </a:endParaRPr>
          </a:p>
          <a:p>
            <a:pPr lvl="1"/>
            <a:r>
              <a:rPr lang="zh-CN" altLang="en-US" dirty="0">
                <a:latin typeface="等线" panose="02010600030101010101" pitchFamily="2" charset="-122"/>
                <a:ea typeface="等线" panose="02010600030101010101" pitchFamily="2" charset="-122"/>
              </a:rPr>
              <a:t>健壮性</a:t>
            </a:r>
            <a:r>
              <a:rPr lang="en-US" altLang="zh-CN" dirty="0">
                <a:latin typeface="等线" panose="02010600030101010101" pitchFamily="2" charset="-122"/>
                <a:ea typeface="等线" panose="02010600030101010101" pitchFamily="2" charset="-122"/>
              </a:rPr>
              <a:t>:</a:t>
            </a:r>
          </a:p>
          <a:p>
            <a:pPr lvl="2">
              <a:defRPr/>
            </a:pPr>
            <a:r>
              <a:rPr lang="zh-CN" altLang="en-US" dirty="0">
                <a:latin typeface="等线" panose="02010600030101010101" pitchFamily="2" charset="-122"/>
                <a:ea typeface="等线" panose="02010600030101010101" pitchFamily="2" charset="-122"/>
              </a:rPr>
              <a:t>距离向量算法：计算结果传递，健壮性差 </a:t>
            </a:r>
            <a:endParaRPr lang="en-US" altLang="zh-CN" dirty="0">
              <a:latin typeface="等线" panose="02010600030101010101" pitchFamily="2" charset="-122"/>
              <a:ea typeface="等线" panose="02010600030101010101" pitchFamily="2" charset="-122"/>
            </a:endParaRPr>
          </a:p>
          <a:p>
            <a:pPr lvl="2">
              <a:defRPr/>
            </a:pPr>
            <a:r>
              <a:rPr lang="zh-CN" altLang="en-US" dirty="0">
                <a:latin typeface="等线" panose="02010600030101010101" pitchFamily="2" charset="-122"/>
                <a:ea typeface="等线" panose="02010600030101010101" pitchFamily="2" charset="-122"/>
              </a:rPr>
              <a:t>链路状态算法：</a:t>
            </a:r>
            <a:r>
              <a:rPr lang="en-US" altLang="zh-CN" dirty="0">
                <a:latin typeface="等线" panose="02010600030101010101" pitchFamily="2" charset="-122"/>
                <a:ea typeface="等线" panose="02010600030101010101" pitchFamily="2" charset="-122"/>
              </a:rPr>
              <a:t> </a:t>
            </a:r>
            <a:r>
              <a:rPr lang="zh-CN" altLang="en-US" dirty="0">
                <a:latin typeface="等线" panose="02010600030101010101" pitchFamily="2" charset="-122"/>
                <a:ea typeface="等线" panose="02010600030101010101" pitchFamily="2" charset="-122"/>
              </a:rPr>
              <a:t>各自计算，健壮性好</a:t>
            </a:r>
            <a:endParaRPr lang="en-US" altLang="zh-CN" sz="3600" dirty="0">
              <a:latin typeface="等线" panose="02010600030101010101" pitchFamily="2" charset="-122"/>
              <a:ea typeface="等线" panose="02010600030101010101" pitchFamily="2" charset="-122"/>
            </a:endParaRPr>
          </a:p>
          <a:p>
            <a:pPr lvl="1"/>
            <a:r>
              <a:rPr lang="zh-CN" altLang="en-US" dirty="0">
                <a:latin typeface="等线" panose="02010600030101010101" pitchFamily="2" charset="-122"/>
                <a:ea typeface="等线" panose="02010600030101010101" pitchFamily="2" charset="-122"/>
              </a:rPr>
              <a:t>收敛速度：</a:t>
            </a:r>
            <a:endParaRPr lang="en-US" altLang="zh-CN" dirty="0">
              <a:latin typeface="等线" panose="02010600030101010101" pitchFamily="2" charset="-122"/>
              <a:ea typeface="等线" panose="02010600030101010101" pitchFamily="2" charset="-122"/>
            </a:endParaRPr>
          </a:p>
          <a:p>
            <a:pPr lvl="2"/>
            <a:r>
              <a:rPr lang="zh-CN" altLang="en-US" dirty="0">
                <a:latin typeface="等线" panose="02010600030101010101" pitchFamily="2" charset="-122"/>
                <a:ea typeface="等线" panose="02010600030101010101" pitchFamily="2" charset="-122"/>
              </a:rPr>
              <a:t>距离向量算法：</a:t>
            </a:r>
            <a:r>
              <a:rPr lang="en-US" altLang="zh-CN" dirty="0">
                <a:latin typeface="等线" panose="02010600030101010101" pitchFamily="2" charset="-122"/>
                <a:ea typeface="等线" panose="02010600030101010101" pitchFamily="2" charset="-122"/>
              </a:rPr>
              <a:t>  </a:t>
            </a:r>
            <a:r>
              <a:rPr lang="zh-CN" altLang="en-US" dirty="0">
                <a:latin typeface="等线" panose="02010600030101010101" pitchFamily="2" charset="-122"/>
                <a:ea typeface="等线" panose="02010600030101010101" pitchFamily="2" charset="-122"/>
              </a:rPr>
              <a:t>慢</a:t>
            </a:r>
            <a:r>
              <a:rPr lang="en-US" altLang="zh-CN" dirty="0">
                <a:latin typeface="等线" panose="02010600030101010101" pitchFamily="2" charset="-122"/>
                <a:ea typeface="等线" panose="02010600030101010101" pitchFamily="2" charset="-122"/>
              </a:rPr>
              <a:t>,</a:t>
            </a:r>
            <a:r>
              <a:rPr lang="zh-CN" altLang="en-US" dirty="0">
                <a:latin typeface="等线" panose="02010600030101010101" pitchFamily="2" charset="-122"/>
                <a:ea typeface="等线" panose="02010600030101010101" pitchFamily="2" charset="-122"/>
              </a:rPr>
              <a:t>可能有计数到无穷问题 </a:t>
            </a:r>
            <a:endParaRPr lang="en-US" altLang="zh-CN" dirty="0">
              <a:latin typeface="等线" panose="02010600030101010101" pitchFamily="2" charset="-122"/>
              <a:ea typeface="等线" panose="02010600030101010101" pitchFamily="2" charset="-122"/>
            </a:endParaRPr>
          </a:p>
          <a:p>
            <a:pPr lvl="2"/>
            <a:r>
              <a:rPr lang="zh-CN" altLang="en-US" dirty="0">
                <a:latin typeface="等线" panose="02010600030101010101" pitchFamily="2" charset="-122"/>
                <a:ea typeface="等线" panose="02010600030101010101" pitchFamily="2" charset="-122"/>
              </a:rPr>
              <a:t>链路状态算法：</a:t>
            </a:r>
            <a:r>
              <a:rPr lang="en-US" altLang="zh-CN" dirty="0">
                <a:latin typeface="等线" panose="02010600030101010101" pitchFamily="2" charset="-122"/>
                <a:ea typeface="等线" panose="02010600030101010101" pitchFamily="2" charset="-122"/>
              </a:rPr>
              <a:t>  </a:t>
            </a:r>
            <a:r>
              <a:rPr lang="zh-CN" altLang="en-US" dirty="0">
                <a:latin typeface="等线" panose="02010600030101010101" pitchFamily="2" charset="-122"/>
                <a:ea typeface="等线" panose="02010600030101010101" pitchFamily="2" charset="-122"/>
              </a:rPr>
              <a:t>快</a:t>
            </a:r>
            <a:endParaRPr lang="en-US" altLang="zh-CN" dirty="0">
              <a:latin typeface="等线" panose="02010600030101010101" pitchFamily="2" charset="-122"/>
              <a:ea typeface="等线" panose="02010600030101010101" pitchFamily="2" charset="-122"/>
            </a:endParaRPr>
          </a:p>
        </p:txBody>
      </p:sp>
      <p:sp>
        <p:nvSpPr>
          <p:cNvPr id="6" name="日期占位符 9">
            <a:extLst>
              <a:ext uri="{FF2B5EF4-FFF2-40B4-BE49-F238E27FC236}">
                <a16:creationId xmlns:a16="http://schemas.microsoft.com/office/drawing/2014/main" id="{AFF201CE-ADE0-4645-86CF-F812218BDA7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5.3.4 </a:t>
            </a:r>
            <a:r>
              <a:rPr kumimoji="1" lang="zh-CN" altLang="en-US" dirty="0">
                <a:latin typeface="DengXian" panose="02010600030101010101" pitchFamily="2" charset="-122"/>
                <a:ea typeface="DengXian" panose="02010600030101010101" pitchFamily="2" charset="-122"/>
              </a:rPr>
              <a:t>链路状态路由</a:t>
            </a:r>
          </a:p>
        </p:txBody>
      </p:sp>
      <p:sp>
        <p:nvSpPr>
          <p:cNvPr id="5" name="灯片编号占位符 3">
            <a:extLst>
              <a:ext uri="{FF2B5EF4-FFF2-40B4-BE49-F238E27FC236}">
                <a16:creationId xmlns:a16="http://schemas.microsoft.com/office/drawing/2014/main" id="{566D74CB-15E9-1B41-8B4C-18AF5BE31B3C}"/>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74</a:t>
            </a:fld>
            <a:endParaRPr kumimoji="1" lang="zh-CN" altLang="en-US" dirty="0"/>
          </a:p>
        </p:txBody>
      </p:sp>
    </p:spTree>
    <p:extLst>
      <p:ext uri="{BB962C8B-B14F-4D97-AF65-F5344CB8AC3E}">
        <p14:creationId xmlns:p14="http://schemas.microsoft.com/office/powerpoint/2010/main" val="7286487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组合 66">
            <a:extLst>
              <a:ext uri="{FF2B5EF4-FFF2-40B4-BE49-F238E27FC236}">
                <a16:creationId xmlns:a16="http://schemas.microsoft.com/office/drawing/2014/main" id="{D06FBD46-35D9-4CBD-978C-11CC366A2C2B}"/>
              </a:ext>
            </a:extLst>
          </p:cNvPr>
          <p:cNvGrpSpPr/>
          <p:nvPr/>
        </p:nvGrpSpPr>
        <p:grpSpPr>
          <a:xfrm>
            <a:off x="8700439" y="2144917"/>
            <a:ext cx="2675669" cy="2930008"/>
            <a:chOff x="8700439" y="2349111"/>
            <a:chExt cx="2675669" cy="2930008"/>
          </a:xfrm>
        </p:grpSpPr>
        <p:cxnSp>
          <p:nvCxnSpPr>
            <p:cNvPr id="47" name="直接连接符 46">
              <a:extLst>
                <a:ext uri="{FF2B5EF4-FFF2-40B4-BE49-F238E27FC236}">
                  <a16:creationId xmlns:a16="http://schemas.microsoft.com/office/drawing/2014/main" id="{6371D84A-E35B-4B3D-923C-05925905383F}"/>
                </a:ext>
              </a:extLst>
            </p:cNvPr>
            <p:cNvCxnSpPr>
              <a:cxnSpLocks/>
            </p:cNvCxnSpPr>
            <p:nvPr/>
          </p:nvCxnSpPr>
          <p:spPr>
            <a:xfrm>
              <a:off x="9528320" y="2349111"/>
              <a:ext cx="0" cy="128242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57" name="Picture 14">
              <a:extLst>
                <a:ext uri="{FF2B5EF4-FFF2-40B4-BE49-F238E27FC236}">
                  <a16:creationId xmlns:a16="http://schemas.microsoft.com/office/drawing/2014/main" id="{E88506D7-2C2C-44F8-B596-A4F461F43A1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0439" y="3713025"/>
              <a:ext cx="2205669" cy="156609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9" descr="服务器终端">
              <a:extLst>
                <a:ext uri="{FF2B5EF4-FFF2-40B4-BE49-F238E27FC236}">
                  <a16:creationId xmlns:a16="http://schemas.microsoft.com/office/drawing/2014/main" id="{0BD55A19-7E12-4E4A-9DD2-AEB516CE7A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09066" y="3668346"/>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59" name="文本框 58">
              <a:extLst>
                <a:ext uri="{FF2B5EF4-FFF2-40B4-BE49-F238E27FC236}">
                  <a16:creationId xmlns:a16="http://schemas.microsoft.com/office/drawing/2014/main" id="{7007F99C-3847-42F4-B809-65917853AE65}"/>
                </a:ext>
              </a:extLst>
            </p:cNvPr>
            <p:cNvSpPr txBox="1"/>
            <p:nvPr/>
          </p:nvSpPr>
          <p:spPr>
            <a:xfrm>
              <a:off x="9925823" y="4184722"/>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PC7</a:t>
              </a:r>
              <a:endParaRPr lang="zh-CN" altLang="en-US" dirty="0">
                <a:latin typeface="等线" panose="02010600030101010101" pitchFamily="2" charset="-122"/>
                <a:ea typeface="等线" panose="02010600030101010101" pitchFamily="2" charset="-122"/>
              </a:endParaRPr>
            </a:p>
          </p:txBody>
        </p:sp>
        <p:pic>
          <p:nvPicPr>
            <p:cNvPr id="60" name="Picture 9" descr="服务器终端">
              <a:extLst>
                <a:ext uri="{FF2B5EF4-FFF2-40B4-BE49-F238E27FC236}">
                  <a16:creationId xmlns:a16="http://schemas.microsoft.com/office/drawing/2014/main" id="{193D9D8D-3B95-43A0-9721-9C697BB10D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81309" y="4271820"/>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61" name="文本框 60">
              <a:extLst>
                <a:ext uri="{FF2B5EF4-FFF2-40B4-BE49-F238E27FC236}">
                  <a16:creationId xmlns:a16="http://schemas.microsoft.com/office/drawing/2014/main" id="{7EA40BF5-0C52-47CC-BBDC-D295C38076D3}"/>
                </a:ext>
              </a:extLst>
            </p:cNvPr>
            <p:cNvSpPr txBox="1"/>
            <p:nvPr/>
          </p:nvSpPr>
          <p:spPr>
            <a:xfrm>
              <a:off x="10516061" y="4734750"/>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PC8</a:t>
              </a:r>
              <a:endParaRPr lang="zh-CN" altLang="en-US" dirty="0">
                <a:latin typeface="等线" panose="02010600030101010101" pitchFamily="2" charset="-122"/>
                <a:ea typeface="等线" panose="02010600030101010101" pitchFamily="2" charset="-122"/>
              </a:endParaRPr>
            </a:p>
          </p:txBody>
        </p:sp>
        <p:pic>
          <p:nvPicPr>
            <p:cNvPr id="43" name="Picture 57" descr="通用路由器">
              <a:extLst>
                <a:ext uri="{FF2B5EF4-FFF2-40B4-BE49-F238E27FC236}">
                  <a16:creationId xmlns:a16="http://schemas.microsoft.com/office/drawing/2014/main" id="{E136FAC0-5C01-40D1-8E4D-DC03FD9017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3730" y="3479118"/>
              <a:ext cx="678086" cy="499779"/>
            </a:xfrm>
            <a:prstGeom prst="rect">
              <a:avLst/>
            </a:prstGeom>
            <a:noFill/>
            <a:extLst>
              <a:ext uri="{909E8E84-426E-40DD-AFC4-6F175D3DCCD1}">
                <a14:hiddenFill xmlns:a14="http://schemas.microsoft.com/office/drawing/2010/main">
                  <a:solidFill>
                    <a:srgbClr val="FFFFFF"/>
                  </a:solidFill>
                </a14:hiddenFill>
              </a:ext>
            </a:extLst>
          </p:spPr>
        </p:pic>
        <p:sp>
          <p:nvSpPr>
            <p:cNvPr id="63" name="文本框 62">
              <a:extLst>
                <a:ext uri="{FF2B5EF4-FFF2-40B4-BE49-F238E27FC236}">
                  <a16:creationId xmlns:a16="http://schemas.microsoft.com/office/drawing/2014/main" id="{9C20B3F8-D3A4-4D64-B252-DA3D70B17F4D}"/>
                </a:ext>
              </a:extLst>
            </p:cNvPr>
            <p:cNvSpPr txBox="1"/>
            <p:nvPr/>
          </p:nvSpPr>
          <p:spPr>
            <a:xfrm>
              <a:off x="8700439" y="3483680"/>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R5</a:t>
              </a:r>
              <a:endParaRPr lang="zh-CN" altLang="en-US" dirty="0">
                <a:latin typeface="等线" panose="02010600030101010101" pitchFamily="2" charset="-122"/>
                <a:ea typeface="等线" panose="02010600030101010101" pitchFamily="2" charset="-122"/>
              </a:endParaRPr>
            </a:p>
          </p:txBody>
        </p:sp>
      </p:grpSp>
      <p:sp>
        <p:nvSpPr>
          <p:cNvPr id="40" name="等腰三角形 39">
            <a:extLst>
              <a:ext uri="{FF2B5EF4-FFF2-40B4-BE49-F238E27FC236}">
                <a16:creationId xmlns:a16="http://schemas.microsoft.com/office/drawing/2014/main" id="{76275D96-F6C9-4116-B972-EF65266DA46A}"/>
              </a:ext>
            </a:extLst>
          </p:cNvPr>
          <p:cNvSpPr/>
          <p:nvPr/>
        </p:nvSpPr>
        <p:spPr>
          <a:xfrm>
            <a:off x="5109536" y="2238533"/>
            <a:ext cx="1818282" cy="512310"/>
          </a:xfrm>
          <a:prstGeom prst="triangle">
            <a:avLst/>
          </a:prstGeom>
          <a:solidFill>
            <a:srgbClr val="FAF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1F5347C6-9CCA-468E-8F96-EEF09429C69D}"/>
              </a:ext>
            </a:extLst>
          </p:cNvPr>
          <p:cNvSpPr>
            <a:spLocks noGrp="1"/>
          </p:cNvSpPr>
          <p:nvPr>
            <p:ph type="title"/>
          </p:nvPr>
        </p:nvSpPr>
        <p:spPr>
          <a:xfrm>
            <a:off x="1307508" y="365126"/>
            <a:ext cx="8220812" cy="879086"/>
          </a:xfrm>
        </p:spPr>
        <p:txBody>
          <a:bodyPr>
            <a:normAutofit/>
          </a:bodyPr>
          <a:lstStyle/>
          <a:p>
            <a:r>
              <a:rPr lang="zh-CN" altLang="en-US" dirty="0"/>
              <a:t>层次路由</a:t>
            </a:r>
            <a:r>
              <a:rPr lang="en-US" altLang="zh-CN" dirty="0"/>
              <a:t>-</a:t>
            </a:r>
            <a:r>
              <a:rPr lang="zh-CN" altLang="en-US" dirty="0"/>
              <a:t>产生原因</a:t>
            </a:r>
          </a:p>
        </p:txBody>
      </p:sp>
      <p:sp>
        <p:nvSpPr>
          <p:cNvPr id="8" name="文本框 7">
            <a:extLst>
              <a:ext uri="{FF2B5EF4-FFF2-40B4-BE49-F238E27FC236}">
                <a16:creationId xmlns:a16="http://schemas.microsoft.com/office/drawing/2014/main" id="{75A86B75-EE45-4975-B050-5021B14CDFE8}"/>
              </a:ext>
            </a:extLst>
          </p:cNvPr>
          <p:cNvSpPr txBox="1"/>
          <p:nvPr/>
        </p:nvSpPr>
        <p:spPr>
          <a:xfrm>
            <a:off x="5762875" y="1573836"/>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R1</a:t>
            </a:r>
            <a:endParaRPr lang="zh-CN" altLang="en-US" dirty="0">
              <a:latin typeface="等线" panose="02010600030101010101" pitchFamily="2" charset="-122"/>
              <a:ea typeface="等线" panose="02010600030101010101" pitchFamily="2" charset="-122"/>
            </a:endParaRPr>
          </a:p>
        </p:txBody>
      </p:sp>
      <p:grpSp>
        <p:nvGrpSpPr>
          <p:cNvPr id="70" name="组合 69">
            <a:extLst>
              <a:ext uri="{FF2B5EF4-FFF2-40B4-BE49-F238E27FC236}">
                <a16:creationId xmlns:a16="http://schemas.microsoft.com/office/drawing/2014/main" id="{E6F260F7-0E2B-4ABA-A8F6-D4966681030D}"/>
              </a:ext>
            </a:extLst>
          </p:cNvPr>
          <p:cNvGrpSpPr/>
          <p:nvPr/>
        </p:nvGrpSpPr>
        <p:grpSpPr>
          <a:xfrm>
            <a:off x="402961" y="1319927"/>
            <a:ext cx="5452555" cy="1686213"/>
            <a:chOff x="402961" y="1524121"/>
            <a:chExt cx="5452555" cy="1686213"/>
          </a:xfrm>
        </p:grpSpPr>
        <p:cxnSp>
          <p:nvCxnSpPr>
            <p:cNvPr id="26" name="直接连接符 25">
              <a:extLst>
                <a:ext uri="{FF2B5EF4-FFF2-40B4-BE49-F238E27FC236}">
                  <a16:creationId xmlns:a16="http://schemas.microsoft.com/office/drawing/2014/main" id="{3628D4EC-0370-4825-851B-D0565AE7D8CE}"/>
                </a:ext>
              </a:extLst>
            </p:cNvPr>
            <p:cNvCxnSpPr>
              <a:cxnSpLocks/>
            </p:cNvCxnSpPr>
            <p:nvPr/>
          </p:nvCxnSpPr>
          <p:spPr>
            <a:xfrm>
              <a:off x="2955901" y="2339641"/>
              <a:ext cx="2899615" cy="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17"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402961" y="1644240"/>
              <a:ext cx="2205669" cy="1566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3499" y="2108692"/>
              <a:ext cx="678086" cy="499779"/>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1C7A9F64-702E-4C57-9267-EDC628E382F9}"/>
                </a:ext>
              </a:extLst>
            </p:cNvPr>
            <p:cNvSpPr txBox="1"/>
            <p:nvPr/>
          </p:nvSpPr>
          <p:spPr>
            <a:xfrm>
              <a:off x="2627434" y="1770528"/>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R2</a:t>
              </a:r>
              <a:endParaRPr lang="zh-CN" altLang="en-US" dirty="0">
                <a:latin typeface="等线" panose="02010600030101010101" pitchFamily="2" charset="-122"/>
                <a:ea typeface="等线" panose="02010600030101010101" pitchFamily="2" charset="-122"/>
              </a:endParaRPr>
            </a:p>
          </p:txBody>
        </p:sp>
        <p:pic>
          <p:nvPicPr>
            <p:cNvPr id="11" name="Picture 9" descr="服务器终端">
              <a:extLst>
                <a:ext uri="{FF2B5EF4-FFF2-40B4-BE49-F238E27FC236}">
                  <a16:creationId xmlns:a16="http://schemas.microsoft.com/office/drawing/2014/main" id="{576B6BF2-238B-45BE-B34A-916A96DF33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948" y="1524121"/>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10B061DE-D8E2-4070-BB52-28341085A384}"/>
                </a:ext>
              </a:extLst>
            </p:cNvPr>
            <p:cNvSpPr txBox="1"/>
            <p:nvPr/>
          </p:nvSpPr>
          <p:spPr>
            <a:xfrm>
              <a:off x="764812" y="1970309"/>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PC1</a:t>
              </a:r>
              <a:endParaRPr lang="zh-CN" altLang="en-US" dirty="0">
                <a:latin typeface="等线" panose="02010600030101010101" pitchFamily="2" charset="-122"/>
                <a:ea typeface="等线" panose="02010600030101010101" pitchFamily="2" charset="-122"/>
              </a:endParaRPr>
            </a:p>
          </p:txBody>
        </p:sp>
        <p:pic>
          <p:nvPicPr>
            <p:cNvPr id="13" name="Picture 9" descr="服务器终端">
              <a:extLst>
                <a:ext uri="{FF2B5EF4-FFF2-40B4-BE49-F238E27FC236}">
                  <a16:creationId xmlns:a16="http://schemas.microsoft.com/office/drawing/2014/main" id="{FDC0EB5C-041E-416E-BE6E-45C17AB843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7113" y="2031402"/>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19570BD0-A1DE-4C6C-8D91-9749980155A1}"/>
                </a:ext>
              </a:extLst>
            </p:cNvPr>
            <p:cNvSpPr txBox="1"/>
            <p:nvPr/>
          </p:nvSpPr>
          <p:spPr>
            <a:xfrm>
              <a:off x="1505795" y="2531181"/>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PC2</a:t>
              </a:r>
              <a:endParaRPr lang="zh-CN" altLang="en-US" dirty="0">
                <a:latin typeface="等线" panose="02010600030101010101" pitchFamily="2" charset="-122"/>
                <a:ea typeface="等线" panose="02010600030101010101" pitchFamily="2" charset="-122"/>
              </a:endParaRPr>
            </a:p>
          </p:txBody>
        </p:sp>
      </p:grpSp>
      <p:grpSp>
        <p:nvGrpSpPr>
          <p:cNvPr id="65" name="组合 64">
            <a:extLst>
              <a:ext uri="{FF2B5EF4-FFF2-40B4-BE49-F238E27FC236}">
                <a16:creationId xmlns:a16="http://schemas.microsoft.com/office/drawing/2014/main" id="{E3FB6F0E-FD32-40AB-90A7-0C7D39E2B023}"/>
              </a:ext>
            </a:extLst>
          </p:cNvPr>
          <p:cNvGrpSpPr/>
          <p:nvPr/>
        </p:nvGrpSpPr>
        <p:grpSpPr>
          <a:xfrm>
            <a:off x="6182103" y="1251221"/>
            <a:ext cx="5774120" cy="1686213"/>
            <a:chOff x="6182103" y="1455415"/>
            <a:chExt cx="5774120" cy="1686213"/>
          </a:xfrm>
        </p:grpSpPr>
        <p:cxnSp>
          <p:nvCxnSpPr>
            <p:cNvPr id="36" name="直接连接符 35">
              <a:extLst>
                <a:ext uri="{FF2B5EF4-FFF2-40B4-BE49-F238E27FC236}">
                  <a16:creationId xmlns:a16="http://schemas.microsoft.com/office/drawing/2014/main" id="{EDE78263-89CB-4EDD-93F1-65AD573E59F2}"/>
                </a:ext>
              </a:extLst>
            </p:cNvPr>
            <p:cNvCxnSpPr>
              <a:cxnSpLocks/>
            </p:cNvCxnSpPr>
            <p:nvPr/>
          </p:nvCxnSpPr>
          <p:spPr>
            <a:xfrm flipV="1">
              <a:off x="6182103" y="2339641"/>
              <a:ext cx="3088950" cy="947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0" name="文本框 9">
              <a:extLst>
                <a:ext uri="{FF2B5EF4-FFF2-40B4-BE49-F238E27FC236}">
                  <a16:creationId xmlns:a16="http://schemas.microsoft.com/office/drawing/2014/main" id="{C9D2448E-4DF6-4F3D-94D3-4044F9D944E6}"/>
                </a:ext>
              </a:extLst>
            </p:cNvPr>
            <p:cNvSpPr txBox="1"/>
            <p:nvPr/>
          </p:nvSpPr>
          <p:spPr>
            <a:xfrm>
              <a:off x="9271053" y="1804103"/>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R3</a:t>
              </a:r>
              <a:endParaRPr lang="zh-CN" altLang="en-US" dirty="0">
                <a:latin typeface="等线" panose="02010600030101010101" pitchFamily="2" charset="-122"/>
                <a:ea typeface="等线" panose="02010600030101010101" pitchFamily="2" charset="-122"/>
              </a:endParaRPr>
            </a:p>
          </p:txBody>
        </p:sp>
        <p:pic>
          <p:nvPicPr>
            <p:cNvPr id="18" name="Picture 14">
              <a:extLst>
                <a:ext uri="{FF2B5EF4-FFF2-40B4-BE49-F238E27FC236}">
                  <a16:creationId xmlns:a16="http://schemas.microsoft.com/office/drawing/2014/main" id="{3C71C7CB-AEB0-40F0-9649-C11E9F5992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0554" y="1575534"/>
              <a:ext cx="2205669" cy="156609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9" descr="服务器终端">
              <a:extLst>
                <a:ext uri="{FF2B5EF4-FFF2-40B4-BE49-F238E27FC236}">
                  <a16:creationId xmlns:a16="http://schemas.microsoft.com/office/drawing/2014/main" id="{2EF45FB8-A68A-428C-B8D6-DE24DB7677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9541" y="1455415"/>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F5BD26AB-AC1F-4200-9CFF-40B5088651F3}"/>
                </a:ext>
              </a:extLst>
            </p:cNvPr>
            <p:cNvSpPr txBox="1"/>
            <p:nvPr/>
          </p:nvSpPr>
          <p:spPr>
            <a:xfrm>
              <a:off x="10112405" y="1901603"/>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PC4</a:t>
              </a:r>
              <a:endParaRPr lang="zh-CN" altLang="en-US" dirty="0">
                <a:latin typeface="等线" panose="02010600030101010101" pitchFamily="2" charset="-122"/>
                <a:ea typeface="等线" panose="02010600030101010101" pitchFamily="2" charset="-122"/>
              </a:endParaRPr>
            </a:p>
          </p:txBody>
        </p:sp>
        <p:pic>
          <p:nvPicPr>
            <p:cNvPr id="21" name="Picture 9" descr="服务器终端">
              <a:extLst>
                <a:ext uri="{FF2B5EF4-FFF2-40B4-BE49-F238E27FC236}">
                  <a16:creationId xmlns:a16="http://schemas.microsoft.com/office/drawing/2014/main" id="{9E6C5389-FADB-48A7-89B5-7B1C4DB79B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64706" y="1962696"/>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0D4EC4C3-F2D0-4F3E-A7FD-03A7DC507C18}"/>
                </a:ext>
              </a:extLst>
            </p:cNvPr>
            <p:cNvSpPr txBox="1"/>
            <p:nvPr/>
          </p:nvSpPr>
          <p:spPr>
            <a:xfrm>
              <a:off x="10853388" y="2462475"/>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PC3</a:t>
              </a:r>
              <a:endParaRPr lang="zh-CN" altLang="en-US" dirty="0">
                <a:latin typeface="等线" panose="02010600030101010101" pitchFamily="2" charset="-122"/>
                <a:ea typeface="等线" panose="02010600030101010101" pitchFamily="2" charset="-122"/>
              </a:endParaRPr>
            </a:p>
          </p:txBody>
        </p:sp>
        <p:pic>
          <p:nvPicPr>
            <p:cNvPr id="7" name="Picture 57" descr="通用路由器">
              <a:extLst>
                <a:ext uri="{FF2B5EF4-FFF2-40B4-BE49-F238E27FC236}">
                  <a16:creationId xmlns:a16="http://schemas.microsoft.com/office/drawing/2014/main" id="{E480C355-65E3-43FB-9825-C472AF9546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5606" y="2133800"/>
              <a:ext cx="678086" cy="499779"/>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41" name="表格 40">
            <a:extLst>
              <a:ext uri="{FF2B5EF4-FFF2-40B4-BE49-F238E27FC236}">
                <a16:creationId xmlns:a16="http://schemas.microsoft.com/office/drawing/2014/main" id="{CCCAF80D-D057-4354-B876-C6A2A9AB4651}"/>
              </a:ext>
            </a:extLst>
          </p:cNvPr>
          <p:cNvGraphicFramePr>
            <a:graphicFrameLocks noGrp="1"/>
          </p:cNvGraphicFramePr>
          <p:nvPr/>
        </p:nvGraphicFramePr>
        <p:xfrm>
          <a:off x="5109536" y="2750843"/>
          <a:ext cx="1818282" cy="3352800"/>
        </p:xfrm>
        <a:graphic>
          <a:graphicData uri="http://schemas.openxmlformats.org/drawingml/2006/table">
            <a:tbl>
              <a:tblPr firstRow="1" bandRow="1">
                <a:tableStyleId>{5C22544A-7EE6-4342-B048-85BDC9FD1C3A}</a:tableStyleId>
              </a:tblPr>
              <a:tblGrid>
                <a:gridCol w="909141">
                  <a:extLst>
                    <a:ext uri="{9D8B030D-6E8A-4147-A177-3AD203B41FA5}">
                      <a16:colId xmlns:a16="http://schemas.microsoft.com/office/drawing/2014/main" val="900945486"/>
                    </a:ext>
                  </a:extLst>
                </a:gridCol>
                <a:gridCol w="909141">
                  <a:extLst>
                    <a:ext uri="{9D8B030D-6E8A-4147-A177-3AD203B41FA5}">
                      <a16:colId xmlns:a16="http://schemas.microsoft.com/office/drawing/2014/main" val="2179439050"/>
                    </a:ext>
                  </a:extLst>
                </a:gridCol>
              </a:tblGrid>
              <a:tr h="259891">
                <a:tc>
                  <a:txBody>
                    <a:bodyPr/>
                    <a:lstStyle/>
                    <a:p>
                      <a:pPr algn="ctr"/>
                      <a:r>
                        <a:rPr lang="zh-CN" altLang="en-US" sz="1600" dirty="0">
                          <a:solidFill>
                            <a:schemeClr val="tx1"/>
                          </a:solidFill>
                          <a:latin typeface="等线" panose="02010600030101010101" pitchFamily="2" charset="-122"/>
                          <a:ea typeface="等线" panose="02010600030101010101" pitchFamily="2" charset="-122"/>
                        </a:rPr>
                        <a:t>目的地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4FF"/>
                    </a:solidFill>
                  </a:tcPr>
                </a:tc>
                <a:tc>
                  <a:txBody>
                    <a:bodyPr/>
                    <a:lstStyle/>
                    <a:p>
                      <a:pPr algn="ctr"/>
                      <a:r>
                        <a:rPr lang="zh-CN" altLang="en-US" sz="1600" dirty="0">
                          <a:solidFill>
                            <a:schemeClr val="tx1"/>
                          </a:solidFill>
                          <a:latin typeface="等线" panose="02010600030101010101" pitchFamily="2" charset="-122"/>
                          <a:ea typeface="等线" panose="02010600030101010101" pitchFamily="2" charset="-122"/>
                        </a:rPr>
                        <a:t>下一跳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4FF"/>
                    </a:solidFill>
                  </a:tcPr>
                </a:tc>
                <a:extLst>
                  <a:ext uri="{0D108BD9-81ED-4DB2-BD59-A6C34878D82A}">
                    <a16:rowId xmlns:a16="http://schemas.microsoft.com/office/drawing/2014/main" val="1912889480"/>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PC1</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R2</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8380967"/>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R2</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3619522"/>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PC3</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R3</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8454529"/>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PC4</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R3</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1184111"/>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PC5</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R4</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96465759"/>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PC6</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R4</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4329233"/>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PC7</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R3</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4822547"/>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PC8</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R3</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6890604"/>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44532406"/>
                  </a:ext>
                </a:extLst>
              </a:tr>
            </a:tbl>
          </a:graphicData>
        </a:graphic>
      </p:graphicFrame>
      <p:grpSp>
        <p:nvGrpSpPr>
          <p:cNvPr id="66" name="组合 65">
            <a:extLst>
              <a:ext uri="{FF2B5EF4-FFF2-40B4-BE49-F238E27FC236}">
                <a16:creationId xmlns:a16="http://schemas.microsoft.com/office/drawing/2014/main" id="{31C2AFB2-40E3-48A9-AE0C-AF177BC29C83}"/>
              </a:ext>
            </a:extLst>
          </p:cNvPr>
          <p:cNvGrpSpPr/>
          <p:nvPr/>
        </p:nvGrpSpPr>
        <p:grpSpPr>
          <a:xfrm>
            <a:off x="1224348" y="2174117"/>
            <a:ext cx="4621162" cy="2880129"/>
            <a:chOff x="1224348" y="2378311"/>
            <a:chExt cx="4621162" cy="2880129"/>
          </a:xfrm>
        </p:grpSpPr>
        <p:cxnSp>
          <p:nvCxnSpPr>
            <p:cNvPr id="44" name="直接连接符 43">
              <a:extLst>
                <a:ext uri="{FF2B5EF4-FFF2-40B4-BE49-F238E27FC236}">
                  <a16:creationId xmlns:a16="http://schemas.microsoft.com/office/drawing/2014/main" id="{28ABFF36-C6E8-459A-9605-5000A9F36A94}"/>
                </a:ext>
              </a:extLst>
            </p:cNvPr>
            <p:cNvCxnSpPr>
              <a:cxnSpLocks/>
            </p:cNvCxnSpPr>
            <p:nvPr/>
          </p:nvCxnSpPr>
          <p:spPr>
            <a:xfrm flipV="1">
              <a:off x="3354736" y="2378311"/>
              <a:ext cx="2490774" cy="14534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50" name="Picture 14">
              <a:extLst>
                <a:ext uri="{FF2B5EF4-FFF2-40B4-BE49-F238E27FC236}">
                  <a16:creationId xmlns:a16="http://schemas.microsoft.com/office/drawing/2014/main" id="{72733195-C140-4B00-B975-2FE053C0BBF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4348" y="3692346"/>
              <a:ext cx="2205669" cy="156609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 name="Picture 9" descr="服务器终端">
              <a:extLst>
                <a:ext uri="{FF2B5EF4-FFF2-40B4-BE49-F238E27FC236}">
                  <a16:creationId xmlns:a16="http://schemas.microsoft.com/office/drawing/2014/main" id="{4821B128-B96F-423E-8851-133227CD04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374" y="3647667"/>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52" name="文本框 51">
              <a:extLst>
                <a:ext uri="{FF2B5EF4-FFF2-40B4-BE49-F238E27FC236}">
                  <a16:creationId xmlns:a16="http://schemas.microsoft.com/office/drawing/2014/main" id="{D66FDE15-4DBD-4D17-99D3-5FE1B3AEBC5B}"/>
                </a:ext>
              </a:extLst>
            </p:cNvPr>
            <p:cNvSpPr txBox="1"/>
            <p:nvPr/>
          </p:nvSpPr>
          <p:spPr>
            <a:xfrm>
              <a:off x="1704223" y="4175724"/>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PC5</a:t>
              </a:r>
              <a:endParaRPr lang="zh-CN" altLang="en-US" dirty="0">
                <a:latin typeface="等线" panose="02010600030101010101" pitchFamily="2" charset="-122"/>
                <a:ea typeface="等线" panose="02010600030101010101" pitchFamily="2" charset="-122"/>
              </a:endParaRPr>
            </a:p>
          </p:txBody>
        </p:sp>
        <p:pic>
          <p:nvPicPr>
            <p:cNvPr id="53" name="Picture 9" descr="服务器终端">
              <a:extLst>
                <a:ext uri="{FF2B5EF4-FFF2-40B4-BE49-F238E27FC236}">
                  <a16:creationId xmlns:a16="http://schemas.microsoft.com/office/drawing/2014/main" id="{8EF58131-96E7-4574-B35C-13F8F7AAC8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1288" y="4214292"/>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54" name="文本框 53">
              <a:extLst>
                <a:ext uri="{FF2B5EF4-FFF2-40B4-BE49-F238E27FC236}">
                  <a16:creationId xmlns:a16="http://schemas.microsoft.com/office/drawing/2014/main" id="{E2E7AF18-85DB-429F-82DC-4CC11F8B1991}"/>
                </a:ext>
              </a:extLst>
            </p:cNvPr>
            <p:cNvSpPr txBox="1"/>
            <p:nvPr/>
          </p:nvSpPr>
          <p:spPr>
            <a:xfrm>
              <a:off x="2569970" y="4714071"/>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PC6</a:t>
              </a:r>
              <a:endParaRPr lang="zh-CN" altLang="en-US" dirty="0">
                <a:latin typeface="等线" panose="02010600030101010101" pitchFamily="2" charset="-122"/>
                <a:ea typeface="等线" panose="02010600030101010101" pitchFamily="2" charset="-122"/>
              </a:endParaRPr>
            </a:p>
          </p:txBody>
        </p:sp>
        <p:pic>
          <p:nvPicPr>
            <p:cNvPr id="42" name="Picture 57" descr="通用路由器">
              <a:extLst>
                <a:ext uri="{FF2B5EF4-FFF2-40B4-BE49-F238E27FC236}">
                  <a16:creationId xmlns:a16="http://schemas.microsoft.com/office/drawing/2014/main" id="{642EF410-9478-41CB-B998-391C22AE48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4942" y="3539476"/>
              <a:ext cx="678086" cy="499779"/>
            </a:xfrm>
            <a:prstGeom prst="rect">
              <a:avLst/>
            </a:prstGeom>
            <a:noFill/>
            <a:extLst>
              <a:ext uri="{909E8E84-426E-40DD-AFC4-6F175D3DCCD1}">
                <a14:hiddenFill xmlns:a14="http://schemas.microsoft.com/office/drawing/2010/main">
                  <a:solidFill>
                    <a:srgbClr val="FFFFFF"/>
                  </a:solidFill>
                </a14:hiddenFill>
              </a:ext>
            </a:extLst>
          </p:spPr>
        </p:pic>
        <p:sp>
          <p:nvSpPr>
            <p:cNvPr id="62" name="文本框 61">
              <a:extLst>
                <a:ext uri="{FF2B5EF4-FFF2-40B4-BE49-F238E27FC236}">
                  <a16:creationId xmlns:a16="http://schemas.microsoft.com/office/drawing/2014/main" id="{84B90324-2A36-4F5C-AB74-674A238048E3}"/>
                </a:ext>
              </a:extLst>
            </p:cNvPr>
            <p:cNvSpPr txBox="1"/>
            <p:nvPr/>
          </p:nvSpPr>
          <p:spPr>
            <a:xfrm>
              <a:off x="3089713" y="3176701"/>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R4</a:t>
              </a:r>
              <a:endParaRPr lang="zh-CN" altLang="en-US" dirty="0">
                <a:latin typeface="等线" panose="02010600030101010101" pitchFamily="2" charset="-122"/>
                <a:ea typeface="等线" panose="02010600030101010101" pitchFamily="2" charset="-122"/>
              </a:endParaRPr>
            </a:p>
          </p:txBody>
        </p:sp>
      </p:grpSp>
      <p:pic>
        <p:nvPicPr>
          <p:cNvPr id="5"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6239" y="1927998"/>
            <a:ext cx="678086" cy="499779"/>
          </a:xfrm>
          <a:prstGeom prst="rect">
            <a:avLst/>
          </a:prstGeom>
          <a:noFill/>
          <a:extLst>
            <a:ext uri="{909E8E84-426E-40DD-AFC4-6F175D3DCCD1}">
              <a14:hiddenFill xmlns:a14="http://schemas.microsoft.com/office/drawing/2010/main">
                <a:solidFill>
                  <a:srgbClr val="FFFFFF"/>
                </a:solidFill>
              </a14:hiddenFill>
            </a:ext>
          </a:extLst>
        </p:spPr>
      </p:pic>
      <p:sp>
        <p:nvSpPr>
          <p:cNvPr id="68" name="矩形 67">
            <a:extLst>
              <a:ext uri="{FF2B5EF4-FFF2-40B4-BE49-F238E27FC236}">
                <a16:creationId xmlns:a16="http://schemas.microsoft.com/office/drawing/2014/main" id="{ED481C46-EA9D-4115-8341-883DE39B8F9B}"/>
              </a:ext>
            </a:extLst>
          </p:cNvPr>
          <p:cNvSpPr/>
          <p:nvPr/>
        </p:nvSpPr>
        <p:spPr>
          <a:xfrm>
            <a:off x="4869874" y="4437855"/>
            <a:ext cx="2192784" cy="720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68">
            <a:extLst>
              <a:ext uri="{FF2B5EF4-FFF2-40B4-BE49-F238E27FC236}">
                <a16:creationId xmlns:a16="http://schemas.microsoft.com/office/drawing/2014/main" id="{7BBEC833-B54B-40CD-965B-6F0FA3BBB5C1}"/>
              </a:ext>
            </a:extLst>
          </p:cNvPr>
          <p:cNvSpPr/>
          <p:nvPr/>
        </p:nvSpPr>
        <p:spPr>
          <a:xfrm>
            <a:off x="4896656" y="5103297"/>
            <a:ext cx="2192784" cy="7202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64A5F5CF-C498-4777-9CC8-9B582131BA2C}"/>
              </a:ext>
            </a:extLst>
          </p:cNvPr>
          <p:cNvSpPr/>
          <p:nvPr/>
        </p:nvSpPr>
        <p:spPr>
          <a:xfrm>
            <a:off x="4909889" y="5773305"/>
            <a:ext cx="2192784" cy="3651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a:extLst>
              <a:ext uri="{FF2B5EF4-FFF2-40B4-BE49-F238E27FC236}">
                <a16:creationId xmlns:a16="http://schemas.microsoft.com/office/drawing/2014/main" id="{23206CA5-A963-4FA0-9FD2-BFEDD34A96A2}"/>
              </a:ext>
            </a:extLst>
          </p:cNvPr>
          <p:cNvSpPr txBox="1"/>
          <p:nvPr/>
        </p:nvSpPr>
        <p:spPr>
          <a:xfrm>
            <a:off x="1270795" y="5580198"/>
            <a:ext cx="508473"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a:t>
            </a:r>
            <a:endParaRPr lang="zh-CN" altLang="en-US" dirty="0">
              <a:latin typeface="等线" panose="02010600030101010101" pitchFamily="2" charset="-122"/>
              <a:ea typeface="等线" panose="02010600030101010101" pitchFamily="2" charset="-122"/>
            </a:endParaRPr>
          </a:p>
        </p:txBody>
      </p:sp>
      <p:sp>
        <p:nvSpPr>
          <p:cNvPr id="73" name="文本框 72">
            <a:extLst>
              <a:ext uri="{FF2B5EF4-FFF2-40B4-BE49-F238E27FC236}">
                <a16:creationId xmlns:a16="http://schemas.microsoft.com/office/drawing/2014/main" id="{C2CEF8AA-3ADF-4796-95D1-2AAF710C758A}"/>
              </a:ext>
            </a:extLst>
          </p:cNvPr>
          <p:cNvSpPr txBox="1"/>
          <p:nvPr/>
        </p:nvSpPr>
        <p:spPr>
          <a:xfrm>
            <a:off x="10236176" y="5609506"/>
            <a:ext cx="508473"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a:t>
            </a:r>
            <a:endParaRPr lang="zh-CN" altLang="en-US" dirty="0">
              <a:latin typeface="等线" panose="02010600030101010101" pitchFamily="2" charset="-122"/>
              <a:ea typeface="等线" panose="02010600030101010101" pitchFamily="2" charset="-122"/>
            </a:endParaRPr>
          </a:p>
        </p:txBody>
      </p:sp>
      <p:sp>
        <p:nvSpPr>
          <p:cNvPr id="74" name="爆炸形: 8 pt  73">
            <a:extLst>
              <a:ext uri="{FF2B5EF4-FFF2-40B4-BE49-F238E27FC236}">
                <a16:creationId xmlns:a16="http://schemas.microsoft.com/office/drawing/2014/main" id="{BC71B8ED-9196-4FA2-8A97-127CD6873ACE}"/>
              </a:ext>
            </a:extLst>
          </p:cNvPr>
          <p:cNvSpPr/>
          <p:nvPr/>
        </p:nvSpPr>
        <p:spPr>
          <a:xfrm>
            <a:off x="6219442" y="4575427"/>
            <a:ext cx="1861288" cy="1376363"/>
          </a:xfrm>
          <a:prstGeom prst="irregularSeal1">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a:extLst>
              <a:ext uri="{FF2B5EF4-FFF2-40B4-BE49-F238E27FC236}">
                <a16:creationId xmlns:a16="http://schemas.microsoft.com/office/drawing/2014/main" id="{4703C8BD-2BF9-4334-BE4B-30B94D1917F1}"/>
              </a:ext>
            </a:extLst>
          </p:cNvPr>
          <p:cNvSpPr txBox="1"/>
          <p:nvPr/>
        </p:nvSpPr>
        <p:spPr>
          <a:xfrm>
            <a:off x="2806296" y="6289248"/>
            <a:ext cx="6596678" cy="400110"/>
          </a:xfrm>
          <a:prstGeom prst="rect">
            <a:avLst/>
          </a:prstGeom>
          <a:noFill/>
          <a:ln>
            <a:solidFill>
              <a:srgbClr val="5B307E"/>
            </a:solidFill>
          </a:ln>
        </p:spPr>
        <p:txBody>
          <a:bodyPr wrap="none" rtlCol="0">
            <a:spAutoFit/>
          </a:bodyPr>
          <a:lstStyle/>
          <a:p>
            <a:r>
              <a:rPr lang="zh-CN" altLang="en-US" sz="2000" dirty="0">
                <a:latin typeface="等线" panose="02010600030101010101" pitchFamily="2" charset="-122"/>
                <a:ea typeface="等线" panose="02010600030101010101" pitchFamily="2" charset="-122"/>
              </a:rPr>
              <a:t>过于庞大的路由表存储、查找困难，路由信息交互开销高</a:t>
            </a:r>
          </a:p>
        </p:txBody>
      </p:sp>
      <p:sp>
        <p:nvSpPr>
          <p:cNvPr id="55" name="日期占位符 4">
            <a:extLst>
              <a:ext uri="{FF2B5EF4-FFF2-40B4-BE49-F238E27FC236}">
                <a16:creationId xmlns:a16="http://schemas.microsoft.com/office/drawing/2014/main" id="{1ADED64C-BCC9-4512-BAF4-F9E2E09B6B5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5.3.5 </a:t>
            </a:r>
            <a:r>
              <a:rPr kumimoji="1" lang="zh-CN" altLang="en-US" dirty="0">
                <a:latin typeface="DengXian" panose="02010600030101010101" pitchFamily="2" charset="-122"/>
                <a:ea typeface="DengXian" panose="02010600030101010101" pitchFamily="2" charset="-122"/>
              </a:rPr>
              <a:t>层次路由</a:t>
            </a:r>
          </a:p>
        </p:txBody>
      </p:sp>
      <p:sp>
        <p:nvSpPr>
          <p:cNvPr id="56" name="灯片编号占位符 3">
            <a:extLst>
              <a:ext uri="{FF2B5EF4-FFF2-40B4-BE49-F238E27FC236}">
                <a16:creationId xmlns:a16="http://schemas.microsoft.com/office/drawing/2014/main" id="{FCC1336A-C9C8-654E-936F-2251120CC6C7}"/>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75</a:t>
            </a:fld>
            <a:endParaRPr kumimoji="1" lang="zh-CN" altLang="en-US" dirty="0"/>
          </a:p>
        </p:txBody>
      </p:sp>
    </p:spTree>
    <p:extLst>
      <p:ext uri="{BB962C8B-B14F-4D97-AF65-F5344CB8AC3E}">
        <p14:creationId xmlns:p14="http://schemas.microsoft.com/office/powerpoint/2010/main" val="14908264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right)">
                                      <p:cBhvr>
                                        <p:cTn id="7" dur="500"/>
                                        <p:tgtEl>
                                          <p:spTgt spid="70"/>
                                        </p:tgtEl>
                                      </p:cBhvr>
                                    </p:animEffect>
                                  </p:childTnLst>
                                </p:cTn>
                              </p:par>
                              <p:par>
                                <p:cTn id="8" presetID="22" presetClass="entr" presetSubtype="8" fill="hold" nodeType="withEffect">
                                  <p:stCondLst>
                                    <p:cond delay="0"/>
                                  </p:stCondLst>
                                  <p:childTnLst>
                                    <p:set>
                                      <p:cBhvr>
                                        <p:cTn id="9" dur="1" fill="hold">
                                          <p:stCondLst>
                                            <p:cond delay="0"/>
                                          </p:stCondLst>
                                        </p:cTn>
                                        <p:tgtEl>
                                          <p:spTgt spid="65"/>
                                        </p:tgtEl>
                                        <p:attrNameLst>
                                          <p:attrName>style.visibility</p:attrName>
                                        </p:attrNameLst>
                                      </p:cBhvr>
                                      <p:to>
                                        <p:strVal val="visible"/>
                                      </p:to>
                                    </p:set>
                                    <p:animEffect transition="in" filter="wipe(left)">
                                      <p:cBhvr>
                                        <p:cTn id="10" dur="500"/>
                                        <p:tgtEl>
                                          <p:spTgt spid="65"/>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wipe(up)">
                                      <p:cBhvr>
                                        <p:cTn id="14" dur="500"/>
                                        <p:tgtEl>
                                          <p:spTgt spid="40"/>
                                        </p:tgtEl>
                                      </p:cBhvr>
                                    </p:animEffect>
                                  </p:childTnLst>
                                </p:cTn>
                              </p:par>
                            </p:childTnLst>
                          </p:cTn>
                        </p:par>
                        <p:par>
                          <p:cTn id="15" fill="hold">
                            <p:stCondLst>
                              <p:cond delay="1000"/>
                            </p:stCondLst>
                            <p:childTnLst>
                              <p:par>
                                <p:cTn id="16" presetID="22" presetClass="entr" presetSubtype="1" fill="hold" nodeType="afterEffect">
                                  <p:stCondLst>
                                    <p:cond delay="0"/>
                                  </p:stCondLst>
                                  <p:childTnLst>
                                    <p:set>
                                      <p:cBhvr>
                                        <p:cTn id="17" dur="1" fill="hold">
                                          <p:stCondLst>
                                            <p:cond delay="0"/>
                                          </p:stCondLst>
                                        </p:cTn>
                                        <p:tgtEl>
                                          <p:spTgt spid="41"/>
                                        </p:tgtEl>
                                        <p:attrNameLst>
                                          <p:attrName>style.visibility</p:attrName>
                                        </p:attrNameLst>
                                      </p:cBhvr>
                                      <p:to>
                                        <p:strVal val="visible"/>
                                      </p:to>
                                    </p:set>
                                    <p:animEffect transition="in" filter="wipe(up)">
                                      <p:cBhvr>
                                        <p:cTn id="18" dur="500"/>
                                        <p:tgtEl>
                                          <p:spTgt spid="41"/>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66"/>
                                        </p:tgtEl>
                                        <p:attrNameLst>
                                          <p:attrName>style.visibility</p:attrName>
                                        </p:attrNameLst>
                                      </p:cBhvr>
                                      <p:to>
                                        <p:strVal val="visible"/>
                                      </p:to>
                                    </p:set>
                                    <p:animEffect transition="in" filter="wipe(right)">
                                      <p:cBhvr>
                                        <p:cTn id="23" dur="500"/>
                                        <p:tgtEl>
                                          <p:spTgt spid="66"/>
                                        </p:tgtEl>
                                      </p:cBhvr>
                                    </p:animEffect>
                                  </p:childTnLst>
                                </p:cTn>
                              </p:par>
                            </p:childTnLst>
                          </p:cTn>
                        </p:par>
                        <p:par>
                          <p:cTn id="24" fill="hold">
                            <p:stCondLst>
                              <p:cond delay="500"/>
                            </p:stCondLst>
                            <p:childTnLst>
                              <p:par>
                                <p:cTn id="25" presetID="22" presetClass="exit" presetSubtype="1" fill="hold" grpId="0" nodeType="afterEffect">
                                  <p:stCondLst>
                                    <p:cond delay="0"/>
                                  </p:stCondLst>
                                  <p:childTnLst>
                                    <p:animEffect transition="out" filter="wipe(up)">
                                      <p:cBhvr>
                                        <p:cTn id="26" dur="500"/>
                                        <p:tgtEl>
                                          <p:spTgt spid="68"/>
                                        </p:tgtEl>
                                      </p:cBhvr>
                                    </p:animEffect>
                                    <p:set>
                                      <p:cBhvr>
                                        <p:cTn id="27" dur="1" fill="hold">
                                          <p:stCondLst>
                                            <p:cond delay="499"/>
                                          </p:stCondLst>
                                        </p:cTn>
                                        <p:tgtEl>
                                          <p:spTgt spid="68"/>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67"/>
                                        </p:tgtEl>
                                        <p:attrNameLst>
                                          <p:attrName>style.visibility</p:attrName>
                                        </p:attrNameLst>
                                      </p:cBhvr>
                                      <p:to>
                                        <p:strVal val="visible"/>
                                      </p:to>
                                    </p:set>
                                    <p:animEffect transition="in" filter="wipe(up)">
                                      <p:cBhvr>
                                        <p:cTn id="32" dur="500"/>
                                        <p:tgtEl>
                                          <p:spTgt spid="67"/>
                                        </p:tgtEl>
                                      </p:cBhvr>
                                    </p:animEffect>
                                  </p:childTnLst>
                                </p:cTn>
                              </p:par>
                            </p:childTnLst>
                          </p:cTn>
                        </p:par>
                        <p:par>
                          <p:cTn id="33" fill="hold">
                            <p:stCondLst>
                              <p:cond delay="500"/>
                            </p:stCondLst>
                            <p:childTnLst>
                              <p:par>
                                <p:cTn id="34" presetID="22" presetClass="exit" presetSubtype="1" fill="hold" grpId="0" nodeType="afterEffect">
                                  <p:stCondLst>
                                    <p:cond delay="0"/>
                                  </p:stCondLst>
                                  <p:childTnLst>
                                    <p:animEffect transition="out" filter="wipe(up)">
                                      <p:cBhvr>
                                        <p:cTn id="35" dur="500"/>
                                        <p:tgtEl>
                                          <p:spTgt spid="69"/>
                                        </p:tgtEl>
                                      </p:cBhvr>
                                    </p:animEffect>
                                    <p:set>
                                      <p:cBhvr>
                                        <p:cTn id="36" dur="1" fill="hold">
                                          <p:stCondLst>
                                            <p:cond delay="499"/>
                                          </p:stCondLst>
                                        </p:cTn>
                                        <p:tgtEl>
                                          <p:spTgt spid="69"/>
                                        </p:tgtEl>
                                        <p:attrNameLst>
                                          <p:attrName>style.visibility</p:attrName>
                                        </p:attrNameLst>
                                      </p:cBhvr>
                                      <p:to>
                                        <p:strVal val="hidden"/>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3"/>
                                        </p:tgtEl>
                                        <p:attrNameLst>
                                          <p:attrName>style.visibility</p:attrName>
                                        </p:attrNameLst>
                                      </p:cBhvr>
                                      <p:to>
                                        <p:strVal val="visible"/>
                                      </p:to>
                                    </p:set>
                                  </p:childTnLst>
                                </p:cTn>
                              </p:par>
                            </p:childTnLst>
                          </p:cTn>
                        </p:par>
                        <p:par>
                          <p:cTn id="43" fill="hold">
                            <p:stCondLst>
                              <p:cond delay="0"/>
                            </p:stCondLst>
                            <p:childTnLst>
                              <p:par>
                                <p:cTn id="44" presetID="22" presetClass="exit" presetSubtype="1" fill="hold" grpId="0" nodeType="afterEffect">
                                  <p:stCondLst>
                                    <p:cond delay="0"/>
                                  </p:stCondLst>
                                  <p:childTnLst>
                                    <p:animEffect transition="out" filter="wipe(up)">
                                      <p:cBhvr>
                                        <p:cTn id="45" dur="500"/>
                                        <p:tgtEl>
                                          <p:spTgt spid="71"/>
                                        </p:tgtEl>
                                      </p:cBhvr>
                                    </p:animEffect>
                                    <p:set>
                                      <p:cBhvr>
                                        <p:cTn id="46" dur="1" fill="hold">
                                          <p:stCondLst>
                                            <p:cond delay="499"/>
                                          </p:stCondLst>
                                        </p:cTn>
                                        <p:tgtEl>
                                          <p:spTgt spid="71"/>
                                        </p:tgtEl>
                                        <p:attrNameLst>
                                          <p:attrName>style.visibility</p:attrName>
                                        </p:attrNameLst>
                                      </p:cBhvr>
                                      <p:to>
                                        <p:strVal val="hidden"/>
                                      </p:to>
                                    </p:set>
                                  </p:childTnLst>
                                </p:cTn>
                              </p:par>
                            </p:childTnLst>
                          </p:cTn>
                        </p:par>
                        <p:par>
                          <p:cTn id="47" fill="hold">
                            <p:stCondLst>
                              <p:cond delay="500"/>
                            </p:stCondLst>
                            <p:childTnLst>
                              <p:par>
                                <p:cTn id="48" presetID="53" presetClass="entr" presetSubtype="16" fill="hold" grpId="0" nodeType="afterEffect">
                                  <p:stCondLst>
                                    <p:cond delay="0"/>
                                  </p:stCondLst>
                                  <p:childTnLst>
                                    <p:set>
                                      <p:cBhvr>
                                        <p:cTn id="49" dur="1" fill="hold">
                                          <p:stCondLst>
                                            <p:cond delay="0"/>
                                          </p:stCondLst>
                                        </p:cTn>
                                        <p:tgtEl>
                                          <p:spTgt spid="74"/>
                                        </p:tgtEl>
                                        <p:attrNameLst>
                                          <p:attrName>style.visibility</p:attrName>
                                        </p:attrNameLst>
                                      </p:cBhvr>
                                      <p:to>
                                        <p:strVal val="visible"/>
                                      </p:to>
                                    </p:set>
                                    <p:anim calcmode="lin" valueType="num">
                                      <p:cBhvr>
                                        <p:cTn id="50" dur="500" fill="hold"/>
                                        <p:tgtEl>
                                          <p:spTgt spid="74"/>
                                        </p:tgtEl>
                                        <p:attrNameLst>
                                          <p:attrName>ppt_w</p:attrName>
                                        </p:attrNameLst>
                                      </p:cBhvr>
                                      <p:tavLst>
                                        <p:tav tm="0">
                                          <p:val>
                                            <p:fltVal val="0"/>
                                          </p:val>
                                        </p:tav>
                                        <p:tav tm="100000">
                                          <p:val>
                                            <p:strVal val="#ppt_w"/>
                                          </p:val>
                                        </p:tav>
                                      </p:tavLst>
                                    </p:anim>
                                    <p:anim calcmode="lin" valueType="num">
                                      <p:cBhvr>
                                        <p:cTn id="51" dur="500" fill="hold"/>
                                        <p:tgtEl>
                                          <p:spTgt spid="74"/>
                                        </p:tgtEl>
                                        <p:attrNameLst>
                                          <p:attrName>ppt_h</p:attrName>
                                        </p:attrNameLst>
                                      </p:cBhvr>
                                      <p:tavLst>
                                        <p:tav tm="0">
                                          <p:val>
                                            <p:fltVal val="0"/>
                                          </p:val>
                                        </p:tav>
                                        <p:tav tm="100000">
                                          <p:val>
                                            <p:strVal val="#ppt_h"/>
                                          </p:val>
                                        </p:tav>
                                      </p:tavLst>
                                    </p:anim>
                                    <p:animEffect transition="in" filter="fade">
                                      <p:cBhvr>
                                        <p:cTn id="52" dur="500"/>
                                        <p:tgtEl>
                                          <p:spTgt spid="74"/>
                                        </p:tgtEl>
                                      </p:cBhvr>
                                    </p:animEffect>
                                  </p:childTnLst>
                                </p:cTn>
                              </p:par>
                              <p:par>
                                <p:cTn id="53" presetID="1" presetClass="entr" presetSubtype="0" fill="hold" grpId="0" nodeType="withEffect">
                                  <p:stCondLst>
                                    <p:cond delay="0"/>
                                  </p:stCondLst>
                                  <p:childTnLst>
                                    <p:set>
                                      <p:cBhvr>
                                        <p:cTn id="54"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68" grpId="0" animBg="1"/>
      <p:bldP spid="69" grpId="0" animBg="1"/>
      <p:bldP spid="71" grpId="0" animBg="1"/>
      <p:bldP spid="72" grpId="0"/>
      <p:bldP spid="73" grpId="0"/>
      <p:bldP spid="74" grpId="0" animBg="1"/>
      <p:bldP spid="75"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7" name="组合 66">
            <a:extLst>
              <a:ext uri="{FF2B5EF4-FFF2-40B4-BE49-F238E27FC236}">
                <a16:creationId xmlns:a16="http://schemas.microsoft.com/office/drawing/2014/main" id="{D06FBD46-35D9-4CBD-978C-11CC366A2C2B}"/>
              </a:ext>
            </a:extLst>
          </p:cNvPr>
          <p:cNvGrpSpPr/>
          <p:nvPr/>
        </p:nvGrpSpPr>
        <p:grpSpPr>
          <a:xfrm>
            <a:off x="8700439" y="2144917"/>
            <a:ext cx="2675669" cy="2930008"/>
            <a:chOff x="8700439" y="2349111"/>
            <a:chExt cx="2675669" cy="2930008"/>
          </a:xfrm>
        </p:grpSpPr>
        <p:cxnSp>
          <p:nvCxnSpPr>
            <p:cNvPr id="47" name="直接连接符 46">
              <a:extLst>
                <a:ext uri="{FF2B5EF4-FFF2-40B4-BE49-F238E27FC236}">
                  <a16:creationId xmlns:a16="http://schemas.microsoft.com/office/drawing/2014/main" id="{6371D84A-E35B-4B3D-923C-05925905383F}"/>
                </a:ext>
              </a:extLst>
            </p:cNvPr>
            <p:cNvCxnSpPr>
              <a:cxnSpLocks/>
            </p:cNvCxnSpPr>
            <p:nvPr/>
          </p:nvCxnSpPr>
          <p:spPr>
            <a:xfrm>
              <a:off x="9528320" y="2349111"/>
              <a:ext cx="0" cy="128242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57" name="Picture 14">
              <a:extLst>
                <a:ext uri="{FF2B5EF4-FFF2-40B4-BE49-F238E27FC236}">
                  <a16:creationId xmlns:a16="http://schemas.microsoft.com/office/drawing/2014/main" id="{E88506D7-2C2C-44F8-B596-A4F461F43A1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70439" y="3713025"/>
              <a:ext cx="2205669" cy="156609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9" descr="服务器终端">
              <a:extLst>
                <a:ext uri="{FF2B5EF4-FFF2-40B4-BE49-F238E27FC236}">
                  <a16:creationId xmlns:a16="http://schemas.microsoft.com/office/drawing/2014/main" id="{0BD55A19-7E12-4E4A-9DD2-AEB516CE7A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09066" y="3668346"/>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59" name="文本框 58">
              <a:extLst>
                <a:ext uri="{FF2B5EF4-FFF2-40B4-BE49-F238E27FC236}">
                  <a16:creationId xmlns:a16="http://schemas.microsoft.com/office/drawing/2014/main" id="{7007F99C-3847-42F4-B809-65917853AE65}"/>
                </a:ext>
              </a:extLst>
            </p:cNvPr>
            <p:cNvSpPr txBox="1"/>
            <p:nvPr/>
          </p:nvSpPr>
          <p:spPr>
            <a:xfrm>
              <a:off x="9925823" y="4184722"/>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PC9</a:t>
              </a:r>
              <a:endParaRPr lang="zh-CN" altLang="en-US" dirty="0">
                <a:latin typeface="等线" panose="02010600030101010101" pitchFamily="2" charset="-122"/>
                <a:ea typeface="等线" panose="02010600030101010101" pitchFamily="2" charset="-122"/>
              </a:endParaRPr>
            </a:p>
          </p:txBody>
        </p:sp>
        <p:pic>
          <p:nvPicPr>
            <p:cNvPr id="60" name="Picture 9" descr="服务器终端">
              <a:extLst>
                <a:ext uri="{FF2B5EF4-FFF2-40B4-BE49-F238E27FC236}">
                  <a16:creationId xmlns:a16="http://schemas.microsoft.com/office/drawing/2014/main" id="{193D9D8D-3B95-43A0-9721-9C697BB10D3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81309" y="4271820"/>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61" name="文本框 60">
              <a:extLst>
                <a:ext uri="{FF2B5EF4-FFF2-40B4-BE49-F238E27FC236}">
                  <a16:creationId xmlns:a16="http://schemas.microsoft.com/office/drawing/2014/main" id="{7EA40BF5-0C52-47CC-BBDC-D295C38076D3}"/>
                </a:ext>
              </a:extLst>
            </p:cNvPr>
            <p:cNvSpPr txBox="1"/>
            <p:nvPr/>
          </p:nvSpPr>
          <p:spPr>
            <a:xfrm>
              <a:off x="10516061" y="4734750"/>
              <a:ext cx="697627"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PC10</a:t>
              </a:r>
              <a:endParaRPr lang="zh-CN" altLang="en-US" dirty="0">
                <a:latin typeface="等线" panose="02010600030101010101" pitchFamily="2" charset="-122"/>
                <a:ea typeface="等线" panose="02010600030101010101" pitchFamily="2" charset="-122"/>
              </a:endParaRPr>
            </a:p>
          </p:txBody>
        </p:sp>
        <p:pic>
          <p:nvPicPr>
            <p:cNvPr id="43" name="Picture 57" descr="通用路由器">
              <a:extLst>
                <a:ext uri="{FF2B5EF4-FFF2-40B4-BE49-F238E27FC236}">
                  <a16:creationId xmlns:a16="http://schemas.microsoft.com/office/drawing/2014/main" id="{E136FAC0-5C01-40D1-8E4D-DC03FD9017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3730" y="3479118"/>
              <a:ext cx="678086" cy="499779"/>
            </a:xfrm>
            <a:prstGeom prst="rect">
              <a:avLst/>
            </a:prstGeom>
            <a:noFill/>
            <a:extLst>
              <a:ext uri="{909E8E84-426E-40DD-AFC4-6F175D3DCCD1}">
                <a14:hiddenFill xmlns:a14="http://schemas.microsoft.com/office/drawing/2010/main">
                  <a:solidFill>
                    <a:srgbClr val="FFFFFF"/>
                  </a:solidFill>
                </a14:hiddenFill>
              </a:ext>
            </a:extLst>
          </p:spPr>
        </p:pic>
        <p:sp>
          <p:nvSpPr>
            <p:cNvPr id="63" name="文本框 62">
              <a:extLst>
                <a:ext uri="{FF2B5EF4-FFF2-40B4-BE49-F238E27FC236}">
                  <a16:creationId xmlns:a16="http://schemas.microsoft.com/office/drawing/2014/main" id="{9C20B3F8-D3A4-4D64-B252-DA3D70B17F4D}"/>
                </a:ext>
              </a:extLst>
            </p:cNvPr>
            <p:cNvSpPr txBox="1"/>
            <p:nvPr/>
          </p:nvSpPr>
          <p:spPr>
            <a:xfrm>
              <a:off x="8700439" y="3483680"/>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R5</a:t>
              </a:r>
              <a:endParaRPr lang="zh-CN" altLang="en-US" dirty="0">
                <a:latin typeface="等线" panose="02010600030101010101" pitchFamily="2" charset="-122"/>
                <a:ea typeface="等线" panose="02010600030101010101" pitchFamily="2" charset="-122"/>
              </a:endParaRPr>
            </a:p>
          </p:txBody>
        </p:sp>
      </p:grpSp>
      <p:sp>
        <p:nvSpPr>
          <p:cNvPr id="40" name="等腰三角形 39">
            <a:extLst>
              <a:ext uri="{FF2B5EF4-FFF2-40B4-BE49-F238E27FC236}">
                <a16:creationId xmlns:a16="http://schemas.microsoft.com/office/drawing/2014/main" id="{76275D96-F6C9-4116-B972-EF65266DA46A}"/>
              </a:ext>
            </a:extLst>
          </p:cNvPr>
          <p:cNvSpPr/>
          <p:nvPr/>
        </p:nvSpPr>
        <p:spPr>
          <a:xfrm>
            <a:off x="5109536" y="2238533"/>
            <a:ext cx="1818282" cy="512310"/>
          </a:xfrm>
          <a:prstGeom prst="triangle">
            <a:avLst/>
          </a:prstGeom>
          <a:solidFill>
            <a:srgbClr val="FAF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1F5347C6-9CCA-468E-8F96-EEF09429C69D}"/>
              </a:ext>
            </a:extLst>
          </p:cNvPr>
          <p:cNvSpPr>
            <a:spLocks noGrp="1"/>
          </p:cNvSpPr>
          <p:nvPr>
            <p:ph type="title"/>
          </p:nvPr>
        </p:nvSpPr>
        <p:spPr>
          <a:xfrm>
            <a:off x="1307508" y="365126"/>
            <a:ext cx="8220812" cy="879086"/>
          </a:xfrm>
        </p:spPr>
        <p:txBody>
          <a:bodyPr/>
          <a:lstStyle/>
          <a:p>
            <a:r>
              <a:rPr lang="zh-CN" altLang="en-US" dirty="0"/>
              <a:t>层次路由</a:t>
            </a:r>
            <a:r>
              <a:rPr lang="en-US" altLang="zh-CN" dirty="0"/>
              <a:t>-</a:t>
            </a:r>
            <a:r>
              <a:rPr lang="zh-CN" altLang="en-US" dirty="0"/>
              <a:t>产生原因</a:t>
            </a:r>
          </a:p>
        </p:txBody>
      </p:sp>
      <p:sp>
        <p:nvSpPr>
          <p:cNvPr id="8" name="文本框 7">
            <a:extLst>
              <a:ext uri="{FF2B5EF4-FFF2-40B4-BE49-F238E27FC236}">
                <a16:creationId xmlns:a16="http://schemas.microsoft.com/office/drawing/2014/main" id="{75A86B75-EE45-4975-B050-5021B14CDFE8}"/>
              </a:ext>
            </a:extLst>
          </p:cNvPr>
          <p:cNvSpPr txBox="1"/>
          <p:nvPr/>
        </p:nvSpPr>
        <p:spPr>
          <a:xfrm>
            <a:off x="5762875" y="1573836"/>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R1</a:t>
            </a:r>
            <a:endParaRPr lang="zh-CN" altLang="en-US" dirty="0">
              <a:latin typeface="等线" panose="02010600030101010101" pitchFamily="2" charset="-122"/>
              <a:ea typeface="等线" panose="02010600030101010101" pitchFamily="2" charset="-122"/>
            </a:endParaRPr>
          </a:p>
        </p:txBody>
      </p:sp>
      <p:grpSp>
        <p:nvGrpSpPr>
          <p:cNvPr id="70" name="组合 69">
            <a:extLst>
              <a:ext uri="{FF2B5EF4-FFF2-40B4-BE49-F238E27FC236}">
                <a16:creationId xmlns:a16="http://schemas.microsoft.com/office/drawing/2014/main" id="{E6F260F7-0E2B-4ABA-A8F6-D4966681030D}"/>
              </a:ext>
            </a:extLst>
          </p:cNvPr>
          <p:cNvGrpSpPr/>
          <p:nvPr/>
        </p:nvGrpSpPr>
        <p:grpSpPr>
          <a:xfrm>
            <a:off x="402961" y="1319927"/>
            <a:ext cx="5452555" cy="1686213"/>
            <a:chOff x="402961" y="1524121"/>
            <a:chExt cx="5452555" cy="1686213"/>
          </a:xfrm>
        </p:grpSpPr>
        <p:cxnSp>
          <p:nvCxnSpPr>
            <p:cNvPr id="26" name="直接连接符 25">
              <a:extLst>
                <a:ext uri="{FF2B5EF4-FFF2-40B4-BE49-F238E27FC236}">
                  <a16:creationId xmlns:a16="http://schemas.microsoft.com/office/drawing/2014/main" id="{3628D4EC-0370-4825-851B-D0565AE7D8CE}"/>
                </a:ext>
              </a:extLst>
            </p:cNvPr>
            <p:cNvCxnSpPr>
              <a:cxnSpLocks/>
            </p:cNvCxnSpPr>
            <p:nvPr/>
          </p:nvCxnSpPr>
          <p:spPr>
            <a:xfrm>
              <a:off x="2955901" y="2339641"/>
              <a:ext cx="2899615" cy="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17" name="Picture 14">
              <a:extLst>
                <a:ext uri="{FF2B5EF4-FFF2-40B4-BE49-F238E27FC236}">
                  <a16:creationId xmlns:a16="http://schemas.microsoft.com/office/drawing/2014/main" id="{1F0082C8-E1D0-4631-AFFC-26FD5201200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961" y="1644240"/>
              <a:ext cx="2205669" cy="156609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7" descr="通用路由器">
              <a:extLst>
                <a:ext uri="{FF2B5EF4-FFF2-40B4-BE49-F238E27FC236}">
                  <a16:creationId xmlns:a16="http://schemas.microsoft.com/office/drawing/2014/main" id="{1CC6DEBC-BB1D-46BC-9BB8-D44DFD3D7FA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3499" y="2108692"/>
              <a:ext cx="678086" cy="499779"/>
            </a:xfrm>
            <a:prstGeom prst="rect">
              <a:avLst/>
            </a:prstGeom>
            <a:noFill/>
            <a:extLst>
              <a:ext uri="{909E8E84-426E-40DD-AFC4-6F175D3DCCD1}">
                <a14:hiddenFill xmlns:a14="http://schemas.microsoft.com/office/drawing/2010/main">
                  <a:solidFill>
                    <a:srgbClr val="FFFFFF"/>
                  </a:solidFill>
                </a14:hiddenFill>
              </a:ext>
            </a:extLst>
          </p:spPr>
        </p:pic>
        <p:sp>
          <p:nvSpPr>
            <p:cNvPr id="9" name="文本框 8">
              <a:extLst>
                <a:ext uri="{FF2B5EF4-FFF2-40B4-BE49-F238E27FC236}">
                  <a16:creationId xmlns:a16="http://schemas.microsoft.com/office/drawing/2014/main" id="{1C7A9F64-702E-4C57-9267-EDC628E382F9}"/>
                </a:ext>
              </a:extLst>
            </p:cNvPr>
            <p:cNvSpPr txBox="1"/>
            <p:nvPr/>
          </p:nvSpPr>
          <p:spPr>
            <a:xfrm>
              <a:off x="2627434" y="1770528"/>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R2</a:t>
              </a:r>
              <a:endParaRPr lang="zh-CN" altLang="en-US" dirty="0">
                <a:latin typeface="等线" panose="02010600030101010101" pitchFamily="2" charset="-122"/>
                <a:ea typeface="等线" panose="02010600030101010101" pitchFamily="2" charset="-122"/>
              </a:endParaRPr>
            </a:p>
          </p:txBody>
        </p:sp>
        <p:pic>
          <p:nvPicPr>
            <p:cNvPr id="11" name="Picture 9" descr="服务器终端">
              <a:extLst>
                <a:ext uri="{FF2B5EF4-FFF2-40B4-BE49-F238E27FC236}">
                  <a16:creationId xmlns:a16="http://schemas.microsoft.com/office/drawing/2014/main" id="{576B6BF2-238B-45BE-B34A-916A96DF33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1948" y="1524121"/>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10B061DE-D8E2-4070-BB52-28341085A384}"/>
                </a:ext>
              </a:extLst>
            </p:cNvPr>
            <p:cNvSpPr txBox="1"/>
            <p:nvPr/>
          </p:nvSpPr>
          <p:spPr>
            <a:xfrm>
              <a:off x="764812" y="1970309"/>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PC1</a:t>
              </a:r>
              <a:endParaRPr lang="zh-CN" altLang="en-US" dirty="0">
                <a:latin typeface="等线" panose="02010600030101010101" pitchFamily="2" charset="-122"/>
                <a:ea typeface="等线" panose="02010600030101010101" pitchFamily="2" charset="-122"/>
              </a:endParaRPr>
            </a:p>
          </p:txBody>
        </p:sp>
        <p:pic>
          <p:nvPicPr>
            <p:cNvPr id="13" name="Picture 9" descr="服务器终端">
              <a:extLst>
                <a:ext uri="{FF2B5EF4-FFF2-40B4-BE49-F238E27FC236}">
                  <a16:creationId xmlns:a16="http://schemas.microsoft.com/office/drawing/2014/main" id="{FDC0EB5C-041E-416E-BE6E-45C17AB843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7113" y="2031402"/>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19570BD0-A1DE-4C6C-8D91-9749980155A1}"/>
                </a:ext>
              </a:extLst>
            </p:cNvPr>
            <p:cNvSpPr txBox="1"/>
            <p:nvPr/>
          </p:nvSpPr>
          <p:spPr>
            <a:xfrm>
              <a:off x="1505795" y="2531181"/>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PC2</a:t>
              </a:r>
              <a:endParaRPr lang="zh-CN" altLang="en-US" dirty="0">
                <a:latin typeface="等线" panose="02010600030101010101" pitchFamily="2" charset="-122"/>
                <a:ea typeface="等线" panose="02010600030101010101" pitchFamily="2" charset="-122"/>
              </a:endParaRPr>
            </a:p>
          </p:txBody>
        </p:sp>
      </p:grpSp>
      <p:grpSp>
        <p:nvGrpSpPr>
          <p:cNvPr id="65" name="组合 64">
            <a:extLst>
              <a:ext uri="{FF2B5EF4-FFF2-40B4-BE49-F238E27FC236}">
                <a16:creationId xmlns:a16="http://schemas.microsoft.com/office/drawing/2014/main" id="{E3FB6F0E-FD32-40AB-90A7-0C7D39E2B023}"/>
              </a:ext>
            </a:extLst>
          </p:cNvPr>
          <p:cNvGrpSpPr/>
          <p:nvPr/>
        </p:nvGrpSpPr>
        <p:grpSpPr>
          <a:xfrm>
            <a:off x="6182103" y="1251221"/>
            <a:ext cx="5774120" cy="1686213"/>
            <a:chOff x="6182103" y="1455415"/>
            <a:chExt cx="5774120" cy="1686213"/>
          </a:xfrm>
        </p:grpSpPr>
        <p:cxnSp>
          <p:nvCxnSpPr>
            <p:cNvPr id="36" name="直接连接符 35">
              <a:extLst>
                <a:ext uri="{FF2B5EF4-FFF2-40B4-BE49-F238E27FC236}">
                  <a16:creationId xmlns:a16="http://schemas.microsoft.com/office/drawing/2014/main" id="{EDE78263-89CB-4EDD-93F1-65AD573E59F2}"/>
                </a:ext>
              </a:extLst>
            </p:cNvPr>
            <p:cNvCxnSpPr>
              <a:cxnSpLocks/>
            </p:cNvCxnSpPr>
            <p:nvPr/>
          </p:nvCxnSpPr>
          <p:spPr>
            <a:xfrm flipV="1">
              <a:off x="6182103" y="2339641"/>
              <a:ext cx="3088950" cy="947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0" name="文本框 9">
              <a:extLst>
                <a:ext uri="{FF2B5EF4-FFF2-40B4-BE49-F238E27FC236}">
                  <a16:creationId xmlns:a16="http://schemas.microsoft.com/office/drawing/2014/main" id="{C9D2448E-4DF6-4F3D-94D3-4044F9D944E6}"/>
                </a:ext>
              </a:extLst>
            </p:cNvPr>
            <p:cNvSpPr txBox="1"/>
            <p:nvPr/>
          </p:nvSpPr>
          <p:spPr>
            <a:xfrm>
              <a:off x="9271053" y="1804103"/>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R3</a:t>
              </a:r>
              <a:endParaRPr lang="zh-CN" altLang="en-US" dirty="0">
                <a:latin typeface="等线" panose="02010600030101010101" pitchFamily="2" charset="-122"/>
                <a:ea typeface="等线" panose="02010600030101010101" pitchFamily="2" charset="-122"/>
              </a:endParaRPr>
            </a:p>
          </p:txBody>
        </p:sp>
        <p:pic>
          <p:nvPicPr>
            <p:cNvPr id="18" name="Picture 14">
              <a:extLst>
                <a:ext uri="{FF2B5EF4-FFF2-40B4-BE49-F238E27FC236}">
                  <a16:creationId xmlns:a16="http://schemas.microsoft.com/office/drawing/2014/main" id="{3C71C7CB-AEB0-40F0-9649-C11E9F5992F3}"/>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0554" y="1575534"/>
              <a:ext cx="2205669" cy="156609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9" name="Picture 9" descr="服务器终端">
              <a:extLst>
                <a:ext uri="{FF2B5EF4-FFF2-40B4-BE49-F238E27FC236}">
                  <a16:creationId xmlns:a16="http://schemas.microsoft.com/office/drawing/2014/main" id="{2EF45FB8-A68A-428C-B8D6-DE24DB7677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19541" y="1455415"/>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20" name="文本框 19">
              <a:extLst>
                <a:ext uri="{FF2B5EF4-FFF2-40B4-BE49-F238E27FC236}">
                  <a16:creationId xmlns:a16="http://schemas.microsoft.com/office/drawing/2014/main" id="{F5BD26AB-AC1F-4200-9CFF-40B5088651F3}"/>
                </a:ext>
              </a:extLst>
            </p:cNvPr>
            <p:cNvSpPr txBox="1"/>
            <p:nvPr/>
          </p:nvSpPr>
          <p:spPr>
            <a:xfrm>
              <a:off x="10112405" y="1901603"/>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PC4</a:t>
              </a:r>
              <a:endParaRPr lang="zh-CN" altLang="en-US" dirty="0">
                <a:latin typeface="等线" panose="02010600030101010101" pitchFamily="2" charset="-122"/>
                <a:ea typeface="等线" panose="02010600030101010101" pitchFamily="2" charset="-122"/>
              </a:endParaRPr>
            </a:p>
          </p:txBody>
        </p:sp>
        <p:pic>
          <p:nvPicPr>
            <p:cNvPr id="21" name="Picture 9" descr="服务器终端">
              <a:extLst>
                <a:ext uri="{FF2B5EF4-FFF2-40B4-BE49-F238E27FC236}">
                  <a16:creationId xmlns:a16="http://schemas.microsoft.com/office/drawing/2014/main" id="{9E6C5389-FADB-48A7-89B5-7B1C4DB79B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964706" y="1962696"/>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0D4EC4C3-F2D0-4F3E-A7FD-03A7DC507C18}"/>
                </a:ext>
              </a:extLst>
            </p:cNvPr>
            <p:cNvSpPr txBox="1"/>
            <p:nvPr/>
          </p:nvSpPr>
          <p:spPr>
            <a:xfrm>
              <a:off x="10853388" y="2462475"/>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PC3</a:t>
              </a:r>
              <a:endParaRPr lang="zh-CN" altLang="en-US" dirty="0">
                <a:latin typeface="等线" panose="02010600030101010101" pitchFamily="2" charset="-122"/>
                <a:ea typeface="等线" panose="02010600030101010101" pitchFamily="2" charset="-122"/>
              </a:endParaRPr>
            </a:p>
          </p:txBody>
        </p:sp>
        <p:pic>
          <p:nvPicPr>
            <p:cNvPr id="7" name="Picture 57" descr="通用路由器">
              <a:extLst>
                <a:ext uri="{FF2B5EF4-FFF2-40B4-BE49-F238E27FC236}">
                  <a16:creationId xmlns:a16="http://schemas.microsoft.com/office/drawing/2014/main" id="{E480C355-65E3-43FB-9825-C472AF9546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55606" y="2133800"/>
              <a:ext cx="678086" cy="499779"/>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41" name="表格 40">
            <a:extLst>
              <a:ext uri="{FF2B5EF4-FFF2-40B4-BE49-F238E27FC236}">
                <a16:creationId xmlns:a16="http://schemas.microsoft.com/office/drawing/2014/main" id="{CCCAF80D-D057-4354-B876-C6A2A9AB4651}"/>
              </a:ext>
            </a:extLst>
          </p:cNvPr>
          <p:cNvGraphicFramePr>
            <a:graphicFrameLocks noGrp="1"/>
          </p:cNvGraphicFramePr>
          <p:nvPr/>
        </p:nvGraphicFramePr>
        <p:xfrm>
          <a:off x="5109536" y="2750843"/>
          <a:ext cx="1818282" cy="2011680"/>
        </p:xfrm>
        <a:graphic>
          <a:graphicData uri="http://schemas.openxmlformats.org/drawingml/2006/table">
            <a:tbl>
              <a:tblPr firstRow="1" bandRow="1">
                <a:tableStyleId>{5C22544A-7EE6-4342-B048-85BDC9FD1C3A}</a:tableStyleId>
              </a:tblPr>
              <a:tblGrid>
                <a:gridCol w="909141">
                  <a:extLst>
                    <a:ext uri="{9D8B030D-6E8A-4147-A177-3AD203B41FA5}">
                      <a16:colId xmlns:a16="http://schemas.microsoft.com/office/drawing/2014/main" val="900945486"/>
                    </a:ext>
                  </a:extLst>
                </a:gridCol>
                <a:gridCol w="909141">
                  <a:extLst>
                    <a:ext uri="{9D8B030D-6E8A-4147-A177-3AD203B41FA5}">
                      <a16:colId xmlns:a16="http://schemas.microsoft.com/office/drawing/2014/main" val="2179439050"/>
                    </a:ext>
                  </a:extLst>
                </a:gridCol>
              </a:tblGrid>
              <a:tr h="259891">
                <a:tc>
                  <a:txBody>
                    <a:bodyPr/>
                    <a:lstStyle/>
                    <a:p>
                      <a:pPr algn="ctr"/>
                      <a:r>
                        <a:rPr lang="zh-CN" altLang="en-US" sz="1600" dirty="0">
                          <a:solidFill>
                            <a:schemeClr val="tx1"/>
                          </a:solidFill>
                          <a:latin typeface="等线" panose="02010600030101010101" pitchFamily="2" charset="-122"/>
                          <a:ea typeface="等线" panose="02010600030101010101" pitchFamily="2" charset="-122"/>
                        </a:rPr>
                        <a:t>目的地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4FF"/>
                    </a:solidFill>
                  </a:tcPr>
                </a:tc>
                <a:tc>
                  <a:txBody>
                    <a:bodyPr/>
                    <a:lstStyle/>
                    <a:p>
                      <a:pPr algn="ctr"/>
                      <a:r>
                        <a:rPr lang="zh-CN" altLang="en-US" sz="1600" dirty="0">
                          <a:solidFill>
                            <a:schemeClr val="tx1"/>
                          </a:solidFill>
                          <a:latin typeface="等线" panose="02010600030101010101" pitchFamily="2" charset="-122"/>
                          <a:ea typeface="等线" panose="02010600030101010101" pitchFamily="2" charset="-122"/>
                        </a:rPr>
                        <a:t>下一跳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4FF"/>
                    </a:solidFill>
                  </a:tcPr>
                </a:tc>
                <a:extLst>
                  <a:ext uri="{0D108BD9-81ED-4DB2-BD59-A6C34878D82A}">
                    <a16:rowId xmlns:a16="http://schemas.microsoft.com/office/drawing/2014/main" val="1912889480"/>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PC1</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R2</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8380967"/>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R2</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3619522"/>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PC5</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R4</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448454529"/>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PC6</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R4</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1184111"/>
                  </a:ext>
                </a:extLst>
              </a:tr>
              <a:tr h="259891">
                <a:tc>
                  <a:txBody>
                    <a:bodyPr/>
                    <a:lstStyle/>
                    <a:p>
                      <a:pPr algn="ctr"/>
                      <a:r>
                        <a:rPr lang="zh-CN" altLang="en-US" sz="1600" dirty="0">
                          <a:solidFill>
                            <a:schemeClr val="tx1"/>
                          </a:solidFill>
                          <a:latin typeface="等线" panose="02010600030101010101" pitchFamily="2" charset="-122"/>
                          <a:ea typeface="等线" panose="02010600030101010101" pitchFamily="2" charset="-122"/>
                        </a:rPr>
                        <a:t>其他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R3</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4329233"/>
                  </a:ext>
                </a:extLst>
              </a:tr>
            </a:tbl>
          </a:graphicData>
        </a:graphic>
      </p:graphicFrame>
      <p:grpSp>
        <p:nvGrpSpPr>
          <p:cNvPr id="66" name="组合 65">
            <a:extLst>
              <a:ext uri="{FF2B5EF4-FFF2-40B4-BE49-F238E27FC236}">
                <a16:creationId xmlns:a16="http://schemas.microsoft.com/office/drawing/2014/main" id="{31C2AFB2-40E3-48A9-AE0C-AF177BC29C83}"/>
              </a:ext>
            </a:extLst>
          </p:cNvPr>
          <p:cNvGrpSpPr/>
          <p:nvPr/>
        </p:nvGrpSpPr>
        <p:grpSpPr>
          <a:xfrm>
            <a:off x="1224348" y="2174117"/>
            <a:ext cx="4621162" cy="2880129"/>
            <a:chOff x="1224348" y="2378311"/>
            <a:chExt cx="4621162" cy="2880129"/>
          </a:xfrm>
        </p:grpSpPr>
        <p:cxnSp>
          <p:nvCxnSpPr>
            <p:cNvPr id="44" name="直接连接符 43">
              <a:extLst>
                <a:ext uri="{FF2B5EF4-FFF2-40B4-BE49-F238E27FC236}">
                  <a16:creationId xmlns:a16="http://schemas.microsoft.com/office/drawing/2014/main" id="{28ABFF36-C6E8-459A-9605-5000A9F36A94}"/>
                </a:ext>
              </a:extLst>
            </p:cNvPr>
            <p:cNvCxnSpPr>
              <a:cxnSpLocks/>
            </p:cNvCxnSpPr>
            <p:nvPr/>
          </p:nvCxnSpPr>
          <p:spPr>
            <a:xfrm flipV="1">
              <a:off x="3354736" y="2378311"/>
              <a:ext cx="2490774" cy="14534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50" name="Picture 14">
              <a:extLst>
                <a:ext uri="{FF2B5EF4-FFF2-40B4-BE49-F238E27FC236}">
                  <a16:creationId xmlns:a16="http://schemas.microsoft.com/office/drawing/2014/main" id="{72733195-C140-4B00-B975-2FE053C0BBF8}"/>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4348" y="3692346"/>
              <a:ext cx="2205669" cy="156609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 name="Picture 9" descr="服务器终端">
              <a:extLst>
                <a:ext uri="{FF2B5EF4-FFF2-40B4-BE49-F238E27FC236}">
                  <a16:creationId xmlns:a16="http://schemas.microsoft.com/office/drawing/2014/main" id="{4821B128-B96F-423E-8851-133227CD04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7374" y="3647667"/>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52" name="文本框 51">
              <a:extLst>
                <a:ext uri="{FF2B5EF4-FFF2-40B4-BE49-F238E27FC236}">
                  <a16:creationId xmlns:a16="http://schemas.microsoft.com/office/drawing/2014/main" id="{D66FDE15-4DBD-4D17-99D3-5FE1B3AEBC5B}"/>
                </a:ext>
              </a:extLst>
            </p:cNvPr>
            <p:cNvSpPr txBox="1"/>
            <p:nvPr/>
          </p:nvSpPr>
          <p:spPr>
            <a:xfrm>
              <a:off x="1704223" y="4175724"/>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PC5</a:t>
              </a:r>
              <a:endParaRPr lang="zh-CN" altLang="en-US" dirty="0">
                <a:latin typeface="等线" panose="02010600030101010101" pitchFamily="2" charset="-122"/>
                <a:ea typeface="等线" panose="02010600030101010101" pitchFamily="2" charset="-122"/>
              </a:endParaRPr>
            </a:p>
          </p:txBody>
        </p:sp>
        <p:pic>
          <p:nvPicPr>
            <p:cNvPr id="53" name="Picture 9" descr="服务器终端">
              <a:extLst>
                <a:ext uri="{FF2B5EF4-FFF2-40B4-BE49-F238E27FC236}">
                  <a16:creationId xmlns:a16="http://schemas.microsoft.com/office/drawing/2014/main" id="{8EF58131-96E7-4574-B35C-13F8F7AAC8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1288" y="4214292"/>
              <a:ext cx="471120" cy="499779"/>
            </a:xfrm>
            <a:prstGeom prst="rect">
              <a:avLst/>
            </a:prstGeom>
            <a:noFill/>
            <a:extLst>
              <a:ext uri="{909E8E84-426E-40DD-AFC4-6F175D3DCCD1}">
                <a14:hiddenFill xmlns:a14="http://schemas.microsoft.com/office/drawing/2010/main">
                  <a:solidFill>
                    <a:srgbClr val="FFFFFF"/>
                  </a:solidFill>
                </a14:hiddenFill>
              </a:ext>
            </a:extLst>
          </p:spPr>
        </p:pic>
        <p:sp>
          <p:nvSpPr>
            <p:cNvPr id="54" name="文本框 53">
              <a:extLst>
                <a:ext uri="{FF2B5EF4-FFF2-40B4-BE49-F238E27FC236}">
                  <a16:creationId xmlns:a16="http://schemas.microsoft.com/office/drawing/2014/main" id="{E2E7AF18-85DB-429F-82DC-4CC11F8B1991}"/>
                </a:ext>
              </a:extLst>
            </p:cNvPr>
            <p:cNvSpPr txBox="1"/>
            <p:nvPr/>
          </p:nvSpPr>
          <p:spPr>
            <a:xfrm>
              <a:off x="2569970" y="4714071"/>
              <a:ext cx="575799"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PC6</a:t>
              </a:r>
              <a:endParaRPr lang="zh-CN" altLang="en-US" dirty="0">
                <a:latin typeface="等线" panose="02010600030101010101" pitchFamily="2" charset="-122"/>
                <a:ea typeface="等线" panose="02010600030101010101" pitchFamily="2" charset="-122"/>
              </a:endParaRPr>
            </a:p>
          </p:txBody>
        </p:sp>
        <p:pic>
          <p:nvPicPr>
            <p:cNvPr id="42" name="Picture 57" descr="通用路由器">
              <a:extLst>
                <a:ext uri="{FF2B5EF4-FFF2-40B4-BE49-F238E27FC236}">
                  <a16:creationId xmlns:a16="http://schemas.microsoft.com/office/drawing/2014/main" id="{642EF410-9478-41CB-B998-391C22AE48F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24942" y="3539476"/>
              <a:ext cx="678086" cy="499779"/>
            </a:xfrm>
            <a:prstGeom prst="rect">
              <a:avLst/>
            </a:prstGeom>
            <a:noFill/>
            <a:extLst>
              <a:ext uri="{909E8E84-426E-40DD-AFC4-6F175D3DCCD1}">
                <a14:hiddenFill xmlns:a14="http://schemas.microsoft.com/office/drawing/2010/main">
                  <a:solidFill>
                    <a:srgbClr val="FFFFFF"/>
                  </a:solidFill>
                </a14:hiddenFill>
              </a:ext>
            </a:extLst>
          </p:spPr>
        </p:pic>
        <p:sp>
          <p:nvSpPr>
            <p:cNvPr id="62" name="文本框 61">
              <a:extLst>
                <a:ext uri="{FF2B5EF4-FFF2-40B4-BE49-F238E27FC236}">
                  <a16:creationId xmlns:a16="http://schemas.microsoft.com/office/drawing/2014/main" id="{84B90324-2A36-4F5C-AB74-674A238048E3}"/>
                </a:ext>
              </a:extLst>
            </p:cNvPr>
            <p:cNvSpPr txBox="1"/>
            <p:nvPr/>
          </p:nvSpPr>
          <p:spPr>
            <a:xfrm>
              <a:off x="3089713" y="3176701"/>
              <a:ext cx="439544"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R4</a:t>
              </a:r>
              <a:endParaRPr lang="zh-CN" altLang="en-US" dirty="0">
                <a:latin typeface="等线" panose="02010600030101010101" pitchFamily="2" charset="-122"/>
                <a:ea typeface="等线" panose="02010600030101010101" pitchFamily="2" charset="-122"/>
              </a:endParaRPr>
            </a:p>
          </p:txBody>
        </p:sp>
      </p:grpSp>
      <p:sp>
        <p:nvSpPr>
          <p:cNvPr id="72" name="文本框 71">
            <a:extLst>
              <a:ext uri="{FF2B5EF4-FFF2-40B4-BE49-F238E27FC236}">
                <a16:creationId xmlns:a16="http://schemas.microsoft.com/office/drawing/2014/main" id="{23206CA5-A963-4FA0-9FD2-BFEDD34A96A2}"/>
              </a:ext>
            </a:extLst>
          </p:cNvPr>
          <p:cNvSpPr txBox="1"/>
          <p:nvPr/>
        </p:nvSpPr>
        <p:spPr>
          <a:xfrm>
            <a:off x="1270795" y="5580198"/>
            <a:ext cx="508473"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a:t>
            </a:r>
            <a:endParaRPr lang="zh-CN" altLang="en-US" dirty="0">
              <a:latin typeface="等线" panose="02010600030101010101" pitchFamily="2" charset="-122"/>
              <a:ea typeface="等线" panose="02010600030101010101" pitchFamily="2" charset="-122"/>
            </a:endParaRPr>
          </a:p>
        </p:txBody>
      </p:sp>
      <p:sp>
        <p:nvSpPr>
          <p:cNvPr id="73" name="文本框 72">
            <a:extLst>
              <a:ext uri="{FF2B5EF4-FFF2-40B4-BE49-F238E27FC236}">
                <a16:creationId xmlns:a16="http://schemas.microsoft.com/office/drawing/2014/main" id="{C2CEF8AA-3ADF-4796-95D1-2AAF710C758A}"/>
              </a:ext>
            </a:extLst>
          </p:cNvPr>
          <p:cNvSpPr txBox="1"/>
          <p:nvPr/>
        </p:nvSpPr>
        <p:spPr>
          <a:xfrm>
            <a:off x="10236176" y="5609506"/>
            <a:ext cx="508473" cy="369332"/>
          </a:xfrm>
          <a:prstGeom prst="rect">
            <a:avLst/>
          </a:prstGeom>
          <a:noFill/>
        </p:spPr>
        <p:txBody>
          <a:bodyPr wrap="none" rtlCol="0">
            <a:spAutoFit/>
          </a:bodyPr>
          <a:lstStyle/>
          <a:p>
            <a:r>
              <a:rPr lang="en-US" altLang="zh-CN" dirty="0">
                <a:latin typeface="等线" panose="02010600030101010101" pitchFamily="2" charset="-122"/>
                <a:ea typeface="等线" panose="02010600030101010101" pitchFamily="2" charset="-122"/>
              </a:rPr>
              <a:t>……</a:t>
            </a:r>
            <a:endParaRPr lang="zh-CN" altLang="en-US" dirty="0">
              <a:latin typeface="等线" panose="02010600030101010101" pitchFamily="2" charset="-122"/>
              <a:ea typeface="等线" panose="02010600030101010101" pitchFamily="2" charset="-122"/>
            </a:endParaRPr>
          </a:p>
        </p:txBody>
      </p:sp>
      <p:sp>
        <p:nvSpPr>
          <p:cNvPr id="3" name="箭头: 右 2">
            <a:extLst>
              <a:ext uri="{FF2B5EF4-FFF2-40B4-BE49-F238E27FC236}">
                <a16:creationId xmlns:a16="http://schemas.microsoft.com/office/drawing/2014/main" id="{62E76F40-E3AC-4D92-97B6-FB7707B1016F}"/>
              </a:ext>
            </a:extLst>
          </p:cNvPr>
          <p:cNvSpPr/>
          <p:nvPr/>
        </p:nvSpPr>
        <p:spPr>
          <a:xfrm>
            <a:off x="4325292" y="4538226"/>
            <a:ext cx="701620" cy="175037"/>
          </a:xfrm>
          <a:prstGeom prst="rightArrow">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034B834E-D660-4E0F-B72B-C19D20BF1864}"/>
              </a:ext>
            </a:extLst>
          </p:cNvPr>
          <p:cNvSpPr txBox="1"/>
          <p:nvPr/>
        </p:nvSpPr>
        <p:spPr>
          <a:xfrm>
            <a:off x="4606124" y="5090130"/>
            <a:ext cx="2749471" cy="1015663"/>
          </a:xfrm>
          <a:prstGeom prst="rect">
            <a:avLst/>
          </a:prstGeom>
          <a:noFill/>
          <a:ln>
            <a:solidFill>
              <a:srgbClr val="5B307E"/>
            </a:solidFill>
          </a:ln>
        </p:spPr>
        <p:txBody>
          <a:bodyPr wrap="none" rtlCol="0">
            <a:spAutoFit/>
          </a:bodyPr>
          <a:lstStyle/>
          <a:p>
            <a:pPr algn="ctr"/>
            <a:r>
              <a:rPr lang="zh-CN" altLang="en-US" sz="2000" dirty="0">
                <a:latin typeface="等线" panose="02010600030101010101" pitchFamily="2" charset="-122"/>
                <a:ea typeface="等线" panose="02010600030101010101" pitchFamily="2" charset="-122"/>
              </a:rPr>
              <a:t>为提高路由器查表速度</a:t>
            </a:r>
            <a:endParaRPr lang="en-US" altLang="zh-CN" sz="2000" dirty="0">
              <a:latin typeface="等线" panose="02010600030101010101" pitchFamily="2" charset="-122"/>
              <a:ea typeface="等线" panose="02010600030101010101" pitchFamily="2" charset="-122"/>
            </a:endParaRPr>
          </a:p>
          <a:p>
            <a:pPr algn="ctr"/>
            <a:r>
              <a:rPr lang="zh-CN" altLang="en-US" sz="2000" dirty="0">
                <a:latin typeface="等线" panose="02010600030101010101" pitchFamily="2" charset="-122"/>
                <a:ea typeface="等线" panose="02010600030101010101" pitchFamily="2" charset="-122"/>
              </a:rPr>
              <a:t>减少路由表存储空间</a:t>
            </a:r>
            <a:endParaRPr lang="en-US" altLang="zh-CN" sz="2000" dirty="0">
              <a:latin typeface="等线" panose="02010600030101010101" pitchFamily="2" charset="-122"/>
              <a:ea typeface="等线" panose="02010600030101010101" pitchFamily="2" charset="-122"/>
            </a:endParaRPr>
          </a:p>
          <a:p>
            <a:pPr algn="ctr"/>
            <a:r>
              <a:rPr lang="zh-CN" altLang="en-US" sz="2000" dirty="0">
                <a:latin typeface="等线" panose="02010600030101010101" pitchFamily="2" charset="-122"/>
                <a:ea typeface="等线" panose="02010600030101010101" pitchFamily="2" charset="-122"/>
              </a:rPr>
              <a:t>需要缩减路由条目</a:t>
            </a:r>
          </a:p>
        </p:txBody>
      </p:sp>
      <p:sp>
        <p:nvSpPr>
          <p:cNvPr id="49" name="等腰三角形 48">
            <a:extLst>
              <a:ext uri="{FF2B5EF4-FFF2-40B4-BE49-F238E27FC236}">
                <a16:creationId xmlns:a16="http://schemas.microsoft.com/office/drawing/2014/main" id="{8094F6B2-2D67-4D96-8C06-05B68DC5785D}"/>
              </a:ext>
            </a:extLst>
          </p:cNvPr>
          <p:cNvSpPr/>
          <p:nvPr/>
        </p:nvSpPr>
        <p:spPr>
          <a:xfrm>
            <a:off x="5109536" y="2238533"/>
            <a:ext cx="1818282" cy="512310"/>
          </a:xfrm>
          <a:prstGeom prst="triangle">
            <a:avLst/>
          </a:prstGeom>
          <a:solidFill>
            <a:srgbClr val="FAF4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5" name="表格 54">
            <a:extLst>
              <a:ext uri="{FF2B5EF4-FFF2-40B4-BE49-F238E27FC236}">
                <a16:creationId xmlns:a16="http://schemas.microsoft.com/office/drawing/2014/main" id="{58F240D0-A84F-435F-BF73-95EBCEB157A0}"/>
              </a:ext>
            </a:extLst>
          </p:cNvPr>
          <p:cNvGraphicFramePr>
            <a:graphicFrameLocks noGrp="1"/>
          </p:cNvGraphicFramePr>
          <p:nvPr/>
        </p:nvGraphicFramePr>
        <p:xfrm>
          <a:off x="5109536" y="2750843"/>
          <a:ext cx="1818282" cy="1341120"/>
        </p:xfrm>
        <a:graphic>
          <a:graphicData uri="http://schemas.openxmlformats.org/drawingml/2006/table">
            <a:tbl>
              <a:tblPr firstRow="1" bandRow="1">
                <a:tableStyleId>{5C22544A-7EE6-4342-B048-85BDC9FD1C3A}</a:tableStyleId>
              </a:tblPr>
              <a:tblGrid>
                <a:gridCol w="909141">
                  <a:extLst>
                    <a:ext uri="{9D8B030D-6E8A-4147-A177-3AD203B41FA5}">
                      <a16:colId xmlns:a16="http://schemas.microsoft.com/office/drawing/2014/main" val="900945486"/>
                    </a:ext>
                  </a:extLst>
                </a:gridCol>
                <a:gridCol w="909141">
                  <a:extLst>
                    <a:ext uri="{9D8B030D-6E8A-4147-A177-3AD203B41FA5}">
                      <a16:colId xmlns:a16="http://schemas.microsoft.com/office/drawing/2014/main" val="2179439050"/>
                    </a:ext>
                  </a:extLst>
                </a:gridCol>
              </a:tblGrid>
              <a:tr h="259891">
                <a:tc>
                  <a:txBody>
                    <a:bodyPr/>
                    <a:lstStyle/>
                    <a:p>
                      <a:pPr algn="ctr"/>
                      <a:r>
                        <a:rPr lang="zh-CN" altLang="en-US" sz="1600" dirty="0">
                          <a:solidFill>
                            <a:schemeClr val="tx1"/>
                          </a:solidFill>
                          <a:latin typeface="等线" panose="02010600030101010101" pitchFamily="2" charset="-122"/>
                          <a:ea typeface="等线" panose="02010600030101010101" pitchFamily="2" charset="-122"/>
                        </a:rPr>
                        <a:t>目的地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4FF"/>
                    </a:solidFill>
                  </a:tcPr>
                </a:tc>
                <a:tc>
                  <a:txBody>
                    <a:bodyPr/>
                    <a:lstStyle/>
                    <a:p>
                      <a:pPr algn="ctr"/>
                      <a:r>
                        <a:rPr lang="zh-CN" altLang="en-US" sz="1600" dirty="0">
                          <a:solidFill>
                            <a:schemeClr val="tx1"/>
                          </a:solidFill>
                          <a:latin typeface="等线" panose="02010600030101010101" pitchFamily="2" charset="-122"/>
                          <a:ea typeface="等线" panose="02010600030101010101" pitchFamily="2" charset="-122"/>
                        </a:rPr>
                        <a:t>下一跳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4FF"/>
                    </a:solidFill>
                  </a:tcPr>
                </a:tc>
                <a:extLst>
                  <a:ext uri="{0D108BD9-81ED-4DB2-BD59-A6C34878D82A}">
                    <a16:rowId xmlns:a16="http://schemas.microsoft.com/office/drawing/2014/main" val="1912889480"/>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PC1-2</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R2</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8380967"/>
                  </a:ext>
                </a:extLst>
              </a:tr>
              <a:tr h="259891">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PC5-6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R4</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3619522"/>
                  </a:ext>
                </a:extLst>
              </a:tr>
              <a:tr h="259891">
                <a:tc>
                  <a:txBody>
                    <a:bodyPr/>
                    <a:lstStyle/>
                    <a:p>
                      <a:pPr algn="ctr"/>
                      <a:r>
                        <a:rPr lang="zh-CN" altLang="en-US" sz="1600" dirty="0">
                          <a:solidFill>
                            <a:schemeClr val="tx1"/>
                          </a:solidFill>
                          <a:latin typeface="等线" panose="02010600030101010101" pitchFamily="2" charset="-122"/>
                          <a:ea typeface="等线" panose="02010600030101010101" pitchFamily="2" charset="-122"/>
                        </a:rPr>
                        <a:t>其他</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1600" dirty="0">
                          <a:solidFill>
                            <a:schemeClr val="tx1"/>
                          </a:solidFill>
                          <a:latin typeface="等线" panose="02010600030101010101" pitchFamily="2" charset="-122"/>
                          <a:ea typeface="等线" panose="02010600030101010101" pitchFamily="2" charset="-122"/>
                        </a:rPr>
                        <a:t>R3</a:t>
                      </a:r>
                      <a:endParaRPr lang="zh-CN" altLang="en-US" sz="16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4329233"/>
                  </a:ext>
                </a:extLst>
              </a:tr>
            </a:tbl>
          </a:graphicData>
        </a:graphic>
      </p:graphicFrame>
      <p:sp>
        <p:nvSpPr>
          <p:cNvPr id="56" name="文本框 55">
            <a:extLst>
              <a:ext uri="{FF2B5EF4-FFF2-40B4-BE49-F238E27FC236}">
                <a16:creationId xmlns:a16="http://schemas.microsoft.com/office/drawing/2014/main" id="{96EF6A19-DC42-4215-9B33-A87FDB4A18AA}"/>
              </a:ext>
            </a:extLst>
          </p:cNvPr>
          <p:cNvSpPr txBox="1"/>
          <p:nvPr/>
        </p:nvSpPr>
        <p:spPr>
          <a:xfrm>
            <a:off x="3746260" y="4415029"/>
            <a:ext cx="4544834" cy="400110"/>
          </a:xfrm>
          <a:prstGeom prst="rect">
            <a:avLst/>
          </a:prstGeom>
          <a:noFill/>
          <a:ln>
            <a:solidFill>
              <a:srgbClr val="5B307E"/>
            </a:solidFill>
          </a:ln>
        </p:spPr>
        <p:txBody>
          <a:bodyPr wrap="none" rtlCol="0">
            <a:spAutoFit/>
          </a:bodyPr>
          <a:lstStyle/>
          <a:p>
            <a:r>
              <a:rPr lang="zh-CN" altLang="en-US" sz="2000" dirty="0">
                <a:latin typeface="等线" panose="02010600030101010101" pitchFamily="2" charset="-122"/>
                <a:ea typeface="等线" panose="02010600030101010101" pitchFamily="2" charset="-122"/>
              </a:rPr>
              <a:t>可以通过路由聚合进一步缩减路由条目</a:t>
            </a:r>
          </a:p>
        </p:txBody>
      </p:sp>
      <p:sp>
        <p:nvSpPr>
          <p:cNvPr id="64" name="文本框 63">
            <a:extLst>
              <a:ext uri="{FF2B5EF4-FFF2-40B4-BE49-F238E27FC236}">
                <a16:creationId xmlns:a16="http://schemas.microsoft.com/office/drawing/2014/main" id="{489B2976-8AB5-4C02-93F8-5E9289E3319B}"/>
              </a:ext>
            </a:extLst>
          </p:cNvPr>
          <p:cNvSpPr txBox="1"/>
          <p:nvPr/>
        </p:nvSpPr>
        <p:spPr>
          <a:xfrm>
            <a:off x="3489779" y="5102221"/>
            <a:ext cx="5057795" cy="400110"/>
          </a:xfrm>
          <a:prstGeom prst="rect">
            <a:avLst/>
          </a:prstGeom>
          <a:noFill/>
        </p:spPr>
        <p:txBody>
          <a:bodyPr wrap="none" rtlCol="0">
            <a:spAutoFit/>
          </a:bodyPr>
          <a:lstStyle/>
          <a:p>
            <a:r>
              <a:rPr lang="zh-CN" altLang="en-US" sz="2000" dirty="0">
                <a:latin typeface="等线" panose="02010600030101010101" pitchFamily="2" charset="-122"/>
                <a:ea typeface="等线" panose="02010600030101010101" pitchFamily="2" charset="-122"/>
              </a:rPr>
              <a:t>路由聚合依赖于连续的地址分配及拓扑结构</a:t>
            </a:r>
            <a:endParaRPr lang="en-US" altLang="zh-CN" sz="2000" dirty="0">
              <a:latin typeface="等线" panose="02010600030101010101" pitchFamily="2" charset="-122"/>
              <a:ea typeface="等线" panose="02010600030101010101" pitchFamily="2" charset="-122"/>
            </a:endParaRPr>
          </a:p>
        </p:txBody>
      </p:sp>
      <p:pic>
        <p:nvPicPr>
          <p:cNvPr id="5" name="Picture 57" descr="通用路由器">
            <a:extLst>
              <a:ext uri="{FF2B5EF4-FFF2-40B4-BE49-F238E27FC236}">
                <a16:creationId xmlns:a16="http://schemas.microsoft.com/office/drawing/2014/main" id="{23E08EE2-3288-4702-B82B-EA4923011B5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6239" y="1927998"/>
            <a:ext cx="678086" cy="499779"/>
          </a:xfrm>
          <a:prstGeom prst="rect">
            <a:avLst/>
          </a:prstGeom>
          <a:noFill/>
          <a:extLst>
            <a:ext uri="{909E8E84-426E-40DD-AFC4-6F175D3DCCD1}">
              <a14:hiddenFill xmlns:a14="http://schemas.microsoft.com/office/drawing/2010/main">
                <a:solidFill>
                  <a:srgbClr val="FFFFFF"/>
                </a:solidFill>
              </a14:hiddenFill>
            </a:ext>
          </a:extLst>
        </p:spPr>
      </p:pic>
      <p:sp>
        <p:nvSpPr>
          <p:cNvPr id="69" name="日期占位符 4">
            <a:extLst>
              <a:ext uri="{FF2B5EF4-FFF2-40B4-BE49-F238E27FC236}">
                <a16:creationId xmlns:a16="http://schemas.microsoft.com/office/drawing/2014/main" id="{1ADED64C-BCC9-4512-BAF4-F9E2E09B6B5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5.3.5 </a:t>
            </a:r>
            <a:r>
              <a:rPr kumimoji="1" lang="zh-CN" altLang="en-US" dirty="0">
                <a:latin typeface="DengXian" panose="02010600030101010101" pitchFamily="2" charset="-122"/>
                <a:ea typeface="DengXian" panose="02010600030101010101" pitchFamily="2" charset="-122"/>
              </a:rPr>
              <a:t>层次路由</a:t>
            </a:r>
          </a:p>
        </p:txBody>
      </p:sp>
      <p:sp>
        <p:nvSpPr>
          <p:cNvPr id="68" name="灯片编号占位符 3">
            <a:extLst>
              <a:ext uri="{FF2B5EF4-FFF2-40B4-BE49-F238E27FC236}">
                <a16:creationId xmlns:a16="http://schemas.microsoft.com/office/drawing/2014/main" id="{771C695F-FF06-DE44-B3DB-5924A5A369B1}"/>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76</a:t>
            </a:fld>
            <a:endParaRPr kumimoji="1" lang="zh-CN" altLang="en-US" dirty="0"/>
          </a:p>
        </p:txBody>
      </p:sp>
    </p:spTree>
    <p:extLst>
      <p:ext uri="{BB962C8B-B14F-4D97-AF65-F5344CB8AC3E}">
        <p14:creationId xmlns:p14="http://schemas.microsoft.com/office/powerpoint/2010/main" val="1882753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1"/>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hidden"/>
                                      </p:to>
                                    </p:set>
                                  </p:childTnLst>
                                </p:cTn>
                              </p:par>
                            </p:childTnLst>
                          </p:cTn>
                        </p:par>
                        <p:par>
                          <p:cTn id="13" fill="hold">
                            <p:stCondLst>
                              <p:cond delay="0"/>
                            </p:stCondLst>
                            <p:childTnLst>
                              <p:par>
                                <p:cTn id="14" presetID="10" presetClass="entr" presetSubtype="0" fill="hold" grpId="0" nodeType="afterEffect">
                                  <p:stCondLst>
                                    <p:cond delay="0"/>
                                  </p:stCondLst>
                                  <p:childTnLst>
                                    <p:set>
                                      <p:cBhvr>
                                        <p:cTn id="15" dur="1" fill="hold">
                                          <p:stCondLst>
                                            <p:cond delay="0"/>
                                          </p:stCondLst>
                                        </p:cTn>
                                        <p:tgtEl>
                                          <p:spTgt spid="49"/>
                                        </p:tgtEl>
                                        <p:attrNameLst>
                                          <p:attrName>style.visibility</p:attrName>
                                        </p:attrNameLst>
                                      </p:cBhvr>
                                      <p:to>
                                        <p:strVal val="visible"/>
                                      </p:to>
                                    </p:set>
                                    <p:animEffect transition="in" filter="fade">
                                      <p:cBhvr>
                                        <p:cTn id="16" dur="500"/>
                                        <p:tgtEl>
                                          <p:spTgt spid="49"/>
                                        </p:tgtEl>
                                      </p:cBhvr>
                                    </p:animEffect>
                                  </p:childTnLst>
                                </p:cTn>
                              </p:par>
                              <p:par>
                                <p:cTn id="17" presetID="10" presetClass="entr" presetSubtype="0" fill="hold" nodeType="withEffect">
                                  <p:stCondLst>
                                    <p:cond delay="0"/>
                                  </p:stCondLst>
                                  <p:childTnLst>
                                    <p:set>
                                      <p:cBhvr>
                                        <p:cTn id="18" dur="1" fill="hold">
                                          <p:stCondLst>
                                            <p:cond delay="0"/>
                                          </p:stCondLst>
                                        </p:cTn>
                                        <p:tgtEl>
                                          <p:spTgt spid="55"/>
                                        </p:tgtEl>
                                        <p:attrNameLst>
                                          <p:attrName>style.visibility</p:attrName>
                                        </p:attrNameLst>
                                      </p:cBhvr>
                                      <p:to>
                                        <p:strVal val="visible"/>
                                      </p:to>
                                    </p:set>
                                    <p:animEffect transition="in" filter="fade">
                                      <p:cBhvr>
                                        <p:cTn id="19" dur="500"/>
                                        <p:tgtEl>
                                          <p:spTgt spid="5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6"/>
                                        </p:tgtEl>
                                        <p:attrNameLst>
                                          <p:attrName>style.visibility</p:attrName>
                                        </p:attrNameLst>
                                      </p:cBhvr>
                                      <p:to>
                                        <p:strVal val="visible"/>
                                      </p:to>
                                    </p:set>
                                    <p:animEffect transition="in" filter="fade">
                                      <p:cBhvr>
                                        <p:cTn id="22" dur="500"/>
                                        <p:tgtEl>
                                          <p:spTgt spid="5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4"/>
                                        </p:tgtEl>
                                        <p:attrNameLst>
                                          <p:attrName>style.visibility</p:attrName>
                                        </p:attrNameLst>
                                      </p:cBhvr>
                                      <p:to>
                                        <p:strVal val="visible"/>
                                      </p:to>
                                    </p:set>
                                    <p:animEffect transition="in" filter="fade">
                                      <p:cBhvr>
                                        <p:cTn id="25"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3" grpId="0" animBg="1"/>
      <p:bldP spid="25" grpId="0" animBg="1"/>
      <p:bldP spid="49" grpId="0" animBg="1"/>
      <p:bldP spid="56" grpId="0" animBg="1"/>
      <p:bldP spid="64"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813927-39D7-4F87-81BE-18635A97322B}"/>
              </a:ext>
            </a:extLst>
          </p:cNvPr>
          <p:cNvSpPr>
            <a:spLocks noGrp="1"/>
          </p:cNvSpPr>
          <p:nvPr>
            <p:ph type="title"/>
          </p:nvPr>
        </p:nvSpPr>
        <p:spPr/>
        <p:txBody>
          <a:bodyPr/>
          <a:lstStyle/>
          <a:p>
            <a:r>
              <a:rPr lang="zh-CN" altLang="en-US" dirty="0"/>
              <a:t>层次路由</a:t>
            </a:r>
            <a:r>
              <a:rPr lang="en-US" altLang="zh-CN" dirty="0"/>
              <a:t>-</a:t>
            </a:r>
            <a:r>
              <a:rPr lang="zh-CN" altLang="en-US" dirty="0"/>
              <a:t>产生原因</a:t>
            </a:r>
          </a:p>
        </p:txBody>
      </p:sp>
      <p:sp>
        <p:nvSpPr>
          <p:cNvPr id="3" name="内容占位符 2">
            <a:extLst>
              <a:ext uri="{FF2B5EF4-FFF2-40B4-BE49-F238E27FC236}">
                <a16:creationId xmlns:a16="http://schemas.microsoft.com/office/drawing/2014/main" id="{4D85A4A8-0540-444E-974C-13E7E78F421F}"/>
              </a:ext>
            </a:extLst>
          </p:cNvPr>
          <p:cNvSpPr>
            <a:spLocks noGrp="1"/>
          </p:cNvSpPr>
          <p:nvPr>
            <p:ph idx="1"/>
          </p:nvPr>
        </p:nvSpPr>
        <p:spPr>
          <a:xfrm>
            <a:off x="838200" y="1510757"/>
            <a:ext cx="10515600" cy="5210717"/>
          </a:xfrm>
        </p:spPr>
        <p:txBody>
          <a:bodyPr>
            <a:normAutofit/>
          </a:bodyPr>
          <a:lstStyle/>
          <a:p>
            <a:pPr>
              <a:lnSpc>
                <a:spcPct val="130000"/>
              </a:lnSpc>
            </a:pPr>
            <a:r>
              <a:rPr lang="zh-CN" altLang="en-US" sz="2400" dirty="0">
                <a:latin typeface="等线" panose="02010600030101010101" pitchFamily="2" charset="-122"/>
                <a:ea typeface="等线" panose="02010600030101010101" pitchFamily="2" charset="-122"/>
              </a:rPr>
              <a:t>现实情况：</a:t>
            </a:r>
            <a:endParaRPr lang="en-US" altLang="zh-CN" sz="2400" dirty="0">
              <a:latin typeface="等线" panose="02010600030101010101" pitchFamily="2" charset="-122"/>
              <a:ea typeface="等线" panose="02010600030101010101" pitchFamily="2" charset="-122"/>
            </a:endParaRPr>
          </a:p>
          <a:p>
            <a:pPr lvl="1">
              <a:lnSpc>
                <a:spcPct val="130000"/>
              </a:lnSpc>
            </a:pPr>
            <a:r>
              <a:rPr lang="zh-CN" altLang="en-US" sz="2000" dirty="0">
                <a:latin typeface="等线" panose="02010600030101010101" pitchFamily="2" charset="-122"/>
                <a:ea typeface="等线" panose="02010600030101010101" pitchFamily="2" charset="-122"/>
              </a:rPr>
              <a:t>地址分配往往是随机的，难以进行高效的路由聚合</a:t>
            </a:r>
            <a:endParaRPr lang="en-US" altLang="zh-CN" sz="2000" dirty="0">
              <a:latin typeface="等线" panose="02010600030101010101" pitchFamily="2" charset="-122"/>
              <a:ea typeface="等线" panose="02010600030101010101" pitchFamily="2" charset="-122"/>
            </a:endParaRPr>
          </a:p>
          <a:p>
            <a:pPr lvl="1">
              <a:lnSpc>
                <a:spcPct val="130000"/>
              </a:lnSpc>
            </a:pPr>
            <a:r>
              <a:rPr lang="zh-CN" altLang="en-US" sz="2000" dirty="0"/>
              <a:t>每个网络的网络管理员有自己的管理方法和思路，并不希望每个路由器都干涉本网络内部的地址分配等问题</a:t>
            </a:r>
            <a:endParaRPr lang="en-US" altLang="zh-CN" sz="2000" dirty="0"/>
          </a:p>
          <a:p>
            <a:pPr>
              <a:lnSpc>
                <a:spcPct val="130000"/>
              </a:lnSpc>
            </a:pPr>
            <a:r>
              <a:rPr lang="zh-CN" altLang="en-US" sz="2400" dirty="0"/>
              <a:t>层次路由可以解决：</a:t>
            </a:r>
            <a:endParaRPr lang="en-US" altLang="zh-CN" sz="2400" dirty="0"/>
          </a:p>
          <a:p>
            <a:pPr lvl="1">
              <a:lnSpc>
                <a:spcPct val="130000"/>
              </a:lnSpc>
            </a:pPr>
            <a:r>
              <a:rPr lang="zh-CN" altLang="en-US" sz="2000" dirty="0"/>
              <a:t>网络扩展性问题：当网络扩大时，控制路由表条目和路由表存储空间的增长</a:t>
            </a:r>
            <a:endParaRPr lang="en-US" altLang="zh-CN" sz="2000" dirty="0"/>
          </a:p>
          <a:p>
            <a:pPr lvl="1">
              <a:lnSpc>
                <a:spcPct val="130000"/>
              </a:lnSpc>
            </a:pPr>
            <a:r>
              <a:rPr lang="zh-CN" altLang="en-US" sz="2000" dirty="0"/>
              <a:t>管理的自治问题：网络管理员可以控制和管理自己网络的路由</a:t>
            </a:r>
            <a:endParaRPr lang="en-US" altLang="zh-CN" sz="2000" dirty="0"/>
          </a:p>
        </p:txBody>
      </p:sp>
      <p:sp>
        <p:nvSpPr>
          <p:cNvPr id="4" name="灯片编号占位符 3">
            <a:extLst>
              <a:ext uri="{FF2B5EF4-FFF2-40B4-BE49-F238E27FC236}">
                <a16:creationId xmlns:a16="http://schemas.microsoft.com/office/drawing/2014/main" id="{02CBAC82-E6B8-4C6A-90F7-A9DA8F16F96F}"/>
              </a:ext>
            </a:extLst>
          </p:cNvPr>
          <p:cNvSpPr>
            <a:spLocks noGrp="1"/>
          </p:cNvSpPr>
          <p:nvPr>
            <p:ph type="sldNum" sz="quarter" idx="12"/>
          </p:nvPr>
        </p:nvSpPr>
        <p:spPr/>
        <p:txBody>
          <a:bodyPr/>
          <a:lstStyle/>
          <a:p>
            <a:fld id="{8D4D1E41-7A09-AB4A-A4E1-09765ADA2698}" type="slidenum">
              <a:rPr kumimoji="1" lang="zh-CN" altLang="en-US" smtClean="0"/>
              <a:pPr/>
              <a:t>77</a:t>
            </a:fld>
            <a:endParaRPr kumimoji="1" lang="zh-CN" altLang="en-US" dirty="0"/>
          </a:p>
        </p:txBody>
      </p:sp>
      <p:sp>
        <p:nvSpPr>
          <p:cNvPr id="6" name="日期占位符 4">
            <a:extLst>
              <a:ext uri="{FF2B5EF4-FFF2-40B4-BE49-F238E27FC236}">
                <a16:creationId xmlns:a16="http://schemas.microsoft.com/office/drawing/2014/main" id="{1ADED64C-BCC9-4512-BAF4-F9E2E09B6B5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5.3.5 </a:t>
            </a:r>
            <a:r>
              <a:rPr kumimoji="1" lang="zh-CN" altLang="en-US" dirty="0">
                <a:latin typeface="DengXian" panose="02010600030101010101" pitchFamily="2" charset="-122"/>
                <a:ea typeface="DengXian" panose="02010600030101010101" pitchFamily="2" charset="-122"/>
              </a:rPr>
              <a:t>层次路由</a:t>
            </a:r>
          </a:p>
        </p:txBody>
      </p:sp>
    </p:spTree>
    <p:extLst>
      <p:ext uri="{BB962C8B-B14F-4D97-AF65-F5344CB8AC3E}">
        <p14:creationId xmlns:p14="http://schemas.microsoft.com/office/powerpoint/2010/main" val="24696676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内容占位符 2">
            <a:extLst>
              <a:ext uri="{FF2B5EF4-FFF2-40B4-BE49-F238E27FC236}">
                <a16:creationId xmlns:a16="http://schemas.microsoft.com/office/drawing/2014/main" id="{BDC5C69A-528D-4518-9731-8B122AB25F68}"/>
              </a:ext>
            </a:extLst>
          </p:cNvPr>
          <p:cNvSpPr>
            <a:spLocks noGrp="1"/>
          </p:cNvSpPr>
          <p:nvPr>
            <p:ph idx="1"/>
          </p:nvPr>
        </p:nvSpPr>
        <p:spPr>
          <a:xfrm>
            <a:off x="838200" y="1510757"/>
            <a:ext cx="10515600" cy="5210717"/>
          </a:xfrm>
        </p:spPr>
        <p:txBody>
          <a:bodyPr>
            <a:normAutofit/>
          </a:bodyPr>
          <a:lstStyle/>
          <a:p>
            <a:pPr marL="342900" indent="-342900">
              <a:lnSpc>
                <a:spcPct val="130000"/>
              </a:lnSpc>
            </a:pPr>
            <a:r>
              <a:rPr lang="zh-CN" altLang="en-US" sz="2400" dirty="0">
                <a:solidFill>
                  <a:srgbClr val="C00000"/>
                </a:solidFill>
              </a:rPr>
              <a:t>互联网由大量不同的网络互连，每个管理机构控制的网络是自治的</a:t>
            </a:r>
            <a:endParaRPr lang="en-US" altLang="zh-CN" sz="2400" dirty="0">
              <a:latin typeface="等线" panose="02010600030101010101" pitchFamily="2" charset="-122"/>
              <a:ea typeface="等线" panose="02010600030101010101" pitchFamily="2" charset="-122"/>
            </a:endParaRPr>
          </a:p>
          <a:p>
            <a:pPr marL="342900" indent="-342900">
              <a:lnSpc>
                <a:spcPct val="130000"/>
              </a:lnSpc>
            </a:pPr>
            <a:r>
              <a:rPr lang="zh-CN" altLang="en-US" sz="2400" dirty="0">
                <a:latin typeface="等线" panose="02010600030101010101" pitchFamily="2" charset="-122"/>
                <a:ea typeface="等线" panose="02010600030101010101" pitchFamily="2" charset="-122"/>
              </a:rPr>
              <a:t>自治系统（</a:t>
            </a:r>
            <a:r>
              <a:rPr lang="en-US" altLang="zh-CN" sz="2400" dirty="0">
                <a:latin typeface="等线" panose="02010600030101010101" pitchFamily="2" charset="-122"/>
                <a:ea typeface="等线" panose="02010600030101010101" pitchFamily="2" charset="-122"/>
              </a:rPr>
              <a:t>AS</a:t>
            </a:r>
            <a:r>
              <a:rPr lang="zh-CN" altLang="en-US" sz="2400" dirty="0">
                <a:latin typeface="等线" panose="02010600030101010101" pitchFamily="2" charset="-122"/>
                <a:ea typeface="等线" panose="02010600030101010101" pitchFamily="2" charset="-122"/>
              </a:rPr>
              <a:t>，</a:t>
            </a:r>
            <a:r>
              <a:rPr lang="en-US" altLang="zh-CN" sz="2400" dirty="0">
                <a:latin typeface="等线" panose="02010600030101010101" pitchFamily="2" charset="-122"/>
                <a:ea typeface="等线" panose="02010600030101010101" pitchFamily="2" charset="-122"/>
              </a:rPr>
              <a:t>Autonomous System</a:t>
            </a:r>
            <a:r>
              <a:rPr lang="zh-CN" altLang="en-US" sz="2400" dirty="0">
                <a:latin typeface="等线" panose="02010600030101010101" pitchFamily="2" charset="-122"/>
                <a:ea typeface="等线" panose="02010600030101010101" pitchFamily="2" charset="-122"/>
              </a:rPr>
              <a:t>）</a:t>
            </a:r>
            <a:endParaRPr lang="en-US" altLang="zh-CN" sz="2400" dirty="0">
              <a:latin typeface="等线" panose="02010600030101010101" pitchFamily="2" charset="-122"/>
              <a:ea typeface="等线" panose="02010600030101010101" pitchFamily="2" charset="-122"/>
            </a:endParaRPr>
          </a:p>
          <a:p>
            <a:pPr lvl="1"/>
            <a:r>
              <a:rPr lang="zh-CN" altLang="en-US" sz="2200" dirty="0"/>
              <a:t>一个管理机构控制之下的网络</a:t>
            </a:r>
            <a:endParaRPr lang="en-US" altLang="zh-CN" sz="2200" dirty="0"/>
          </a:p>
          <a:p>
            <a:pPr lvl="1"/>
            <a:r>
              <a:rPr lang="zh-CN" altLang="en-US" sz="2200" dirty="0"/>
              <a:t>一个</a:t>
            </a:r>
            <a:r>
              <a:rPr lang="en-US" altLang="zh-CN" sz="2200" dirty="0"/>
              <a:t>AS</a:t>
            </a:r>
            <a:r>
              <a:rPr lang="zh-CN" altLang="en-US" sz="2200" dirty="0"/>
              <a:t>内部通常使用相同的路由算法</a:t>
            </a:r>
            <a:r>
              <a:rPr lang="en-US" altLang="zh-CN" sz="2200" dirty="0"/>
              <a:t>/</a:t>
            </a:r>
            <a:r>
              <a:rPr lang="zh-CN" altLang="en-US" sz="2200" dirty="0"/>
              <a:t>路由协议，使用统一的路由度量（跳数、带宽、时延 </a:t>
            </a:r>
            <a:r>
              <a:rPr lang="en-US" altLang="zh-CN" sz="2200" dirty="0"/>
              <a:t>…</a:t>
            </a:r>
            <a:r>
              <a:rPr lang="zh-CN" altLang="en-US" sz="2200" dirty="0"/>
              <a:t>）</a:t>
            </a:r>
            <a:endParaRPr lang="en-US" altLang="zh-CN" sz="2200" dirty="0"/>
          </a:p>
          <a:p>
            <a:pPr lvl="1"/>
            <a:r>
              <a:rPr lang="zh-CN" altLang="en-US" sz="2200" dirty="0"/>
              <a:t>不同的</a:t>
            </a:r>
            <a:r>
              <a:rPr lang="en-US" altLang="zh-CN" sz="2200" dirty="0"/>
              <a:t>AS</a:t>
            </a:r>
            <a:r>
              <a:rPr lang="zh-CN" altLang="en-US" sz="2200" dirty="0"/>
              <a:t>可以使用不同的路由算法</a:t>
            </a:r>
            <a:r>
              <a:rPr lang="en-US" altLang="zh-CN" sz="2200" dirty="0"/>
              <a:t>/</a:t>
            </a:r>
            <a:r>
              <a:rPr lang="zh-CN" altLang="en-US" sz="2200" dirty="0"/>
              <a:t>路由协议</a:t>
            </a:r>
            <a:endParaRPr lang="en-US" altLang="zh-CN" sz="2200" dirty="0"/>
          </a:p>
          <a:p>
            <a:pPr lvl="1"/>
            <a:r>
              <a:rPr lang="zh-CN" altLang="en-US" sz="2200" dirty="0"/>
              <a:t>每个</a:t>
            </a:r>
            <a:r>
              <a:rPr lang="en-US" altLang="zh-CN" sz="2200" dirty="0"/>
              <a:t>AS</a:t>
            </a:r>
            <a:r>
              <a:rPr lang="zh-CN" altLang="en-US" sz="2200" dirty="0"/>
              <a:t>有一个全球唯一的</a:t>
            </a:r>
            <a:r>
              <a:rPr lang="en-US" altLang="zh-CN" sz="2200" dirty="0"/>
              <a:t>ID</a:t>
            </a:r>
            <a:r>
              <a:rPr lang="zh-CN" altLang="en-US" sz="2200" dirty="0"/>
              <a:t>号：</a:t>
            </a:r>
            <a:r>
              <a:rPr lang="en-US" altLang="zh-CN" sz="2200" dirty="0"/>
              <a:t>AS ID</a:t>
            </a:r>
            <a:endParaRPr lang="en-US" altLang="zh-CN" sz="2400" dirty="0">
              <a:latin typeface="等线" panose="02010600030101010101" pitchFamily="2" charset="-122"/>
              <a:ea typeface="等线" panose="02010600030101010101" pitchFamily="2" charset="-122"/>
            </a:endParaRPr>
          </a:p>
          <a:p>
            <a:pPr marL="342900" indent="-342900">
              <a:lnSpc>
                <a:spcPct val="130000"/>
              </a:lnSpc>
            </a:pPr>
            <a:r>
              <a:rPr lang="zh-CN" altLang="en-US" sz="2400" dirty="0">
                <a:latin typeface="等线" panose="02010600030101010101" pitchFamily="2" charset="-122"/>
                <a:ea typeface="等线" panose="02010600030101010101" pitchFamily="2" charset="-122"/>
              </a:rPr>
              <a:t>自治系统内还可以进一步划分层次：私有自治系统或区域</a:t>
            </a:r>
            <a:endParaRPr lang="en-US" altLang="zh-CN" sz="2000" dirty="0">
              <a:latin typeface="等线" panose="02010600030101010101" pitchFamily="2" charset="-122"/>
              <a:ea typeface="等线" panose="02010600030101010101" pitchFamily="2" charset="-122"/>
            </a:endParaRPr>
          </a:p>
          <a:p>
            <a:pPr marL="800100" lvl="1" indent="-342900">
              <a:lnSpc>
                <a:spcPct val="130000"/>
              </a:lnSpc>
            </a:pPr>
            <a:endParaRPr lang="en-US" altLang="zh-CN" sz="2000" dirty="0">
              <a:latin typeface="等线" panose="02010600030101010101" pitchFamily="2" charset="-122"/>
              <a:ea typeface="等线" panose="02010600030101010101" pitchFamily="2" charset="-122"/>
            </a:endParaRPr>
          </a:p>
          <a:p>
            <a:pPr marL="342900" indent="-342900">
              <a:lnSpc>
                <a:spcPct val="130000"/>
              </a:lnSpc>
            </a:pPr>
            <a:endParaRPr lang="en-US" altLang="zh-CN" sz="2400" dirty="0">
              <a:latin typeface="等线" panose="02010600030101010101" pitchFamily="2" charset="-122"/>
              <a:ea typeface="等线" panose="02010600030101010101" pitchFamily="2" charset="-122"/>
            </a:endParaRPr>
          </a:p>
          <a:p>
            <a:pPr marL="342900" indent="-342900">
              <a:lnSpc>
                <a:spcPct val="130000"/>
              </a:lnSpc>
            </a:pPr>
            <a:endParaRPr lang="en-US" altLang="zh-CN" sz="2400" dirty="0">
              <a:latin typeface="等线" panose="02010600030101010101" pitchFamily="2" charset="-122"/>
              <a:ea typeface="等线" panose="02010600030101010101" pitchFamily="2" charset="-122"/>
            </a:endParaRPr>
          </a:p>
        </p:txBody>
      </p:sp>
      <p:sp>
        <p:nvSpPr>
          <p:cNvPr id="2" name="标题 1">
            <a:extLst>
              <a:ext uri="{FF2B5EF4-FFF2-40B4-BE49-F238E27FC236}">
                <a16:creationId xmlns:a16="http://schemas.microsoft.com/office/drawing/2014/main" id="{3ECEE202-F158-4E3B-99FB-124599D6CE0F}"/>
              </a:ext>
            </a:extLst>
          </p:cNvPr>
          <p:cNvSpPr>
            <a:spLocks noGrp="1"/>
          </p:cNvSpPr>
          <p:nvPr>
            <p:ph type="title"/>
          </p:nvPr>
        </p:nvSpPr>
        <p:spPr/>
        <p:txBody>
          <a:bodyPr/>
          <a:lstStyle/>
          <a:p>
            <a:r>
              <a:rPr lang="zh-CN" altLang="en-US" dirty="0"/>
              <a:t>层次路由</a:t>
            </a:r>
            <a:r>
              <a:rPr lang="en-US" altLang="zh-CN" dirty="0"/>
              <a:t>-</a:t>
            </a:r>
            <a:r>
              <a:rPr lang="zh-CN" altLang="en-US" dirty="0"/>
              <a:t>基本思路</a:t>
            </a:r>
          </a:p>
        </p:txBody>
      </p:sp>
      <p:sp>
        <p:nvSpPr>
          <p:cNvPr id="4" name="灯片编号占位符 3">
            <a:extLst>
              <a:ext uri="{FF2B5EF4-FFF2-40B4-BE49-F238E27FC236}">
                <a16:creationId xmlns:a16="http://schemas.microsoft.com/office/drawing/2014/main" id="{9D970978-6276-4740-89C6-9141050F4ED8}"/>
              </a:ext>
            </a:extLst>
          </p:cNvPr>
          <p:cNvSpPr>
            <a:spLocks noGrp="1"/>
          </p:cNvSpPr>
          <p:nvPr>
            <p:ph type="sldNum" sz="quarter" idx="12"/>
          </p:nvPr>
        </p:nvSpPr>
        <p:spPr/>
        <p:txBody>
          <a:bodyPr/>
          <a:lstStyle/>
          <a:p>
            <a:fld id="{8D4D1E41-7A09-AB4A-A4E1-09765ADA2698}" type="slidenum">
              <a:rPr kumimoji="1" lang="zh-CN" altLang="en-US" smtClean="0"/>
              <a:pPr/>
              <a:t>78</a:t>
            </a:fld>
            <a:endParaRPr kumimoji="1" lang="zh-CN" altLang="en-US" dirty="0"/>
          </a:p>
        </p:txBody>
      </p:sp>
      <p:sp>
        <p:nvSpPr>
          <p:cNvPr id="6" name="日期占位符 4">
            <a:extLst>
              <a:ext uri="{FF2B5EF4-FFF2-40B4-BE49-F238E27FC236}">
                <a16:creationId xmlns:a16="http://schemas.microsoft.com/office/drawing/2014/main" id="{1ADED64C-BCC9-4512-BAF4-F9E2E09B6B5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5.3.5 </a:t>
            </a:r>
            <a:r>
              <a:rPr kumimoji="1" lang="zh-CN" altLang="en-US" dirty="0">
                <a:latin typeface="DengXian" panose="02010600030101010101" pitchFamily="2" charset="-122"/>
                <a:ea typeface="DengXian" panose="02010600030101010101" pitchFamily="2" charset="-122"/>
              </a:rPr>
              <a:t>层次路由</a:t>
            </a:r>
          </a:p>
        </p:txBody>
      </p:sp>
    </p:spTree>
    <p:extLst>
      <p:ext uri="{BB962C8B-B14F-4D97-AF65-F5344CB8AC3E}">
        <p14:creationId xmlns:p14="http://schemas.microsoft.com/office/powerpoint/2010/main" val="26769147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内容占位符 2">
            <a:extLst>
              <a:ext uri="{FF2B5EF4-FFF2-40B4-BE49-F238E27FC236}">
                <a16:creationId xmlns:a16="http://schemas.microsoft.com/office/drawing/2014/main" id="{BDC5C69A-528D-4518-9731-8B122AB25F68}"/>
              </a:ext>
            </a:extLst>
          </p:cNvPr>
          <p:cNvSpPr>
            <a:spLocks noGrp="1"/>
          </p:cNvSpPr>
          <p:nvPr>
            <p:ph idx="1"/>
          </p:nvPr>
        </p:nvSpPr>
        <p:spPr>
          <a:xfrm>
            <a:off x="838200" y="1510757"/>
            <a:ext cx="10515600" cy="5210717"/>
          </a:xfrm>
        </p:spPr>
        <p:txBody>
          <a:bodyPr>
            <a:normAutofit/>
          </a:bodyPr>
          <a:lstStyle/>
          <a:p>
            <a:pPr marL="342900" indent="-342900">
              <a:lnSpc>
                <a:spcPct val="130000"/>
              </a:lnSpc>
            </a:pPr>
            <a:r>
              <a:rPr lang="zh-CN" altLang="en-US" sz="2400" dirty="0">
                <a:latin typeface="等线" panose="02010600030101010101" pitchFamily="2" charset="-122"/>
                <a:ea typeface="等线" panose="02010600030101010101" pitchFamily="2" charset="-122"/>
              </a:rPr>
              <a:t>自治系统内部</a:t>
            </a:r>
            <a:r>
              <a:rPr lang="zh-CN" altLang="en-US" sz="2400" dirty="0"/>
              <a:t>使用内部网关路由协议，</a:t>
            </a:r>
            <a:r>
              <a:rPr lang="en-US" altLang="zh-CN" sz="2400" dirty="0"/>
              <a:t>Interior Gateway Protocols (IGP)</a:t>
            </a:r>
          </a:p>
          <a:p>
            <a:pPr marL="800100" lvl="1" indent="-342900">
              <a:lnSpc>
                <a:spcPct val="130000"/>
              </a:lnSpc>
            </a:pPr>
            <a:r>
              <a:rPr lang="zh-CN" altLang="en-US" sz="2000" dirty="0">
                <a:latin typeface="等线" panose="02010600030101010101" pitchFamily="2" charset="-122"/>
                <a:ea typeface="等线" panose="02010600030101010101" pitchFamily="2" charset="-122"/>
              </a:rPr>
              <a:t>每个自治系统域内路由算法可不同</a:t>
            </a:r>
            <a:endParaRPr lang="en-US" altLang="zh-CN" sz="2000" dirty="0">
              <a:latin typeface="等线" panose="02010600030101010101" pitchFamily="2" charset="-122"/>
              <a:ea typeface="等线" panose="02010600030101010101" pitchFamily="2" charset="-122"/>
            </a:endParaRPr>
          </a:p>
          <a:p>
            <a:pPr marL="800100" lvl="1" indent="-342900">
              <a:lnSpc>
                <a:spcPct val="130000"/>
              </a:lnSpc>
            </a:pPr>
            <a:r>
              <a:rPr lang="zh-CN" altLang="en-US" sz="2000" dirty="0">
                <a:latin typeface="等线" panose="02010600030101010101" pitchFamily="2" charset="-122"/>
                <a:ea typeface="等线" panose="02010600030101010101" pitchFamily="2" charset="-122"/>
              </a:rPr>
              <a:t>典型</a:t>
            </a:r>
            <a:r>
              <a:rPr lang="en-US" altLang="zh-CN" sz="2000" dirty="0">
                <a:latin typeface="等线" panose="02010600030101010101" pitchFamily="2" charset="-122"/>
                <a:ea typeface="等线" panose="02010600030101010101" pitchFamily="2" charset="-122"/>
              </a:rPr>
              <a:t>IGP</a:t>
            </a:r>
            <a:r>
              <a:rPr lang="zh-CN" altLang="en-US" sz="2000" dirty="0">
                <a:latin typeface="等线" panose="02010600030101010101" pitchFamily="2" charset="-122"/>
                <a:ea typeface="等线" panose="02010600030101010101" pitchFamily="2" charset="-122"/>
              </a:rPr>
              <a:t>协议：</a:t>
            </a:r>
            <a:r>
              <a:rPr lang="en-US" altLang="zh-CN" sz="2000" dirty="0">
                <a:latin typeface="等线" panose="02010600030101010101" pitchFamily="2" charset="-122"/>
                <a:ea typeface="等线" panose="02010600030101010101" pitchFamily="2" charset="-122"/>
              </a:rPr>
              <a:t>OSPF</a:t>
            </a:r>
            <a:r>
              <a:rPr lang="zh-CN" altLang="en-US" sz="2000" dirty="0">
                <a:latin typeface="等线" panose="02010600030101010101" pitchFamily="2" charset="-122"/>
                <a:ea typeface="等线" panose="02010600030101010101" pitchFamily="2" charset="-122"/>
              </a:rPr>
              <a:t>，</a:t>
            </a:r>
            <a:r>
              <a:rPr lang="en-US" altLang="zh-CN" sz="2000" dirty="0">
                <a:latin typeface="等线" panose="02010600030101010101" pitchFamily="2" charset="-122"/>
                <a:ea typeface="等线" panose="02010600030101010101" pitchFamily="2" charset="-122"/>
              </a:rPr>
              <a:t>RIP</a:t>
            </a:r>
            <a:r>
              <a:rPr lang="zh-CN" altLang="en-US" sz="2000" dirty="0">
                <a:latin typeface="等线" panose="02010600030101010101" pitchFamily="2" charset="-122"/>
                <a:ea typeface="等线" panose="02010600030101010101" pitchFamily="2" charset="-122"/>
              </a:rPr>
              <a:t>，</a:t>
            </a:r>
            <a:r>
              <a:rPr lang="en-US" altLang="zh-CN" sz="2000" dirty="0">
                <a:latin typeface="等线" panose="02010600030101010101" pitchFamily="2" charset="-122"/>
                <a:ea typeface="等线" panose="02010600030101010101" pitchFamily="2" charset="-122"/>
              </a:rPr>
              <a:t>IS-IS</a:t>
            </a:r>
            <a:r>
              <a:rPr lang="zh-CN" altLang="en-US" sz="2000" dirty="0">
                <a:latin typeface="等线" panose="02010600030101010101" pitchFamily="2" charset="-122"/>
                <a:ea typeface="等线" panose="02010600030101010101" pitchFamily="2" charset="-122"/>
              </a:rPr>
              <a:t>，</a:t>
            </a:r>
            <a:r>
              <a:rPr lang="en-US" altLang="zh-CN" sz="2000" dirty="0">
                <a:latin typeface="等线" panose="02010600030101010101" pitchFamily="2" charset="-122"/>
                <a:ea typeface="等线" panose="02010600030101010101" pitchFamily="2" charset="-122"/>
              </a:rPr>
              <a:t>IGRP</a:t>
            </a:r>
            <a:r>
              <a:rPr lang="zh-CN" altLang="en-US" sz="2000" dirty="0">
                <a:latin typeface="等线" panose="02010600030101010101" pitchFamily="2" charset="-122"/>
                <a:ea typeface="等线" panose="02010600030101010101" pitchFamily="2" charset="-122"/>
              </a:rPr>
              <a:t>，</a:t>
            </a:r>
            <a:r>
              <a:rPr lang="en-US" altLang="zh-CN" sz="2000" dirty="0">
                <a:latin typeface="等线" panose="02010600030101010101" pitchFamily="2" charset="-122"/>
                <a:ea typeface="等线" panose="02010600030101010101" pitchFamily="2" charset="-122"/>
              </a:rPr>
              <a:t>EIGRP……</a:t>
            </a:r>
          </a:p>
          <a:p>
            <a:r>
              <a:rPr lang="zh-CN" altLang="en-US" sz="2400" dirty="0">
                <a:latin typeface="等线" panose="02010600030101010101" pitchFamily="2" charset="-122"/>
                <a:ea typeface="等线" panose="02010600030101010101" pitchFamily="2" charset="-122"/>
              </a:rPr>
              <a:t>自治系统之间</a:t>
            </a:r>
            <a:r>
              <a:rPr lang="zh-CN" altLang="en-US" sz="2400" dirty="0"/>
              <a:t>之间使用外部网关路由协议，</a:t>
            </a:r>
            <a:r>
              <a:rPr lang="en-US" altLang="zh-CN" sz="2400" dirty="0"/>
              <a:t>Exterior Gateway Protocols (EGP)</a:t>
            </a:r>
          </a:p>
          <a:p>
            <a:pPr marL="800100" lvl="1" indent="-342900">
              <a:lnSpc>
                <a:spcPct val="130000"/>
              </a:lnSpc>
            </a:pPr>
            <a:r>
              <a:rPr lang="zh-CN" altLang="en-US" sz="2000" dirty="0">
                <a:latin typeface="等线" panose="02010600030101010101" pitchFamily="2" charset="-122"/>
                <a:ea typeface="等线" panose="02010600030101010101" pitchFamily="2" charset="-122"/>
              </a:rPr>
              <a:t>各自治系统域之间的路由需统一</a:t>
            </a:r>
            <a:endParaRPr lang="en-US" altLang="zh-CN" sz="2000" dirty="0">
              <a:latin typeface="等线" panose="02010600030101010101" pitchFamily="2" charset="-122"/>
              <a:ea typeface="等线" panose="02010600030101010101" pitchFamily="2" charset="-122"/>
            </a:endParaRPr>
          </a:p>
          <a:p>
            <a:pPr marL="800100" lvl="1" indent="-342900">
              <a:lnSpc>
                <a:spcPct val="130000"/>
              </a:lnSpc>
            </a:pPr>
            <a:r>
              <a:rPr lang="zh-CN" altLang="en-US" sz="2000" dirty="0">
                <a:latin typeface="等线" panose="02010600030101010101" pitchFamily="2" charset="-122"/>
                <a:ea typeface="等线" panose="02010600030101010101" pitchFamily="2" charset="-122"/>
              </a:rPr>
              <a:t>典型</a:t>
            </a:r>
            <a:r>
              <a:rPr lang="en-US" altLang="zh-CN" sz="2000" dirty="0">
                <a:latin typeface="等线" panose="02010600030101010101" pitchFamily="2" charset="-122"/>
                <a:ea typeface="等线" panose="02010600030101010101" pitchFamily="2" charset="-122"/>
              </a:rPr>
              <a:t>EGP</a:t>
            </a:r>
            <a:r>
              <a:rPr lang="zh-CN" altLang="en-US" sz="2000" dirty="0">
                <a:latin typeface="等线" panose="02010600030101010101" pitchFamily="2" charset="-122"/>
                <a:ea typeface="等线" panose="02010600030101010101" pitchFamily="2" charset="-122"/>
              </a:rPr>
              <a:t>协议：</a:t>
            </a:r>
            <a:r>
              <a:rPr lang="en-US" altLang="zh-CN" sz="2000" dirty="0">
                <a:latin typeface="等线" panose="02010600030101010101" pitchFamily="2" charset="-122"/>
                <a:ea typeface="等线" panose="02010600030101010101" pitchFamily="2" charset="-122"/>
              </a:rPr>
              <a:t>BGP</a:t>
            </a:r>
          </a:p>
          <a:p>
            <a:pPr marL="342900" indent="-342900">
              <a:lnSpc>
                <a:spcPct val="130000"/>
              </a:lnSpc>
            </a:pPr>
            <a:endParaRPr lang="en-US" altLang="zh-CN" sz="2400" dirty="0">
              <a:latin typeface="等线" panose="02010600030101010101" pitchFamily="2" charset="-122"/>
              <a:ea typeface="等线" panose="02010600030101010101" pitchFamily="2" charset="-122"/>
            </a:endParaRPr>
          </a:p>
          <a:p>
            <a:pPr marL="800100" lvl="1" indent="-342900">
              <a:lnSpc>
                <a:spcPct val="130000"/>
              </a:lnSpc>
            </a:pPr>
            <a:endParaRPr lang="en-US" altLang="zh-CN" sz="2000" dirty="0">
              <a:latin typeface="等线" panose="02010600030101010101" pitchFamily="2" charset="-122"/>
              <a:ea typeface="等线" panose="02010600030101010101" pitchFamily="2" charset="-122"/>
            </a:endParaRPr>
          </a:p>
          <a:p>
            <a:pPr marL="800100" lvl="1" indent="-342900">
              <a:lnSpc>
                <a:spcPct val="130000"/>
              </a:lnSpc>
            </a:pPr>
            <a:endParaRPr lang="en-US" altLang="zh-CN" sz="2000" dirty="0">
              <a:latin typeface="等线" panose="02010600030101010101" pitchFamily="2" charset="-122"/>
              <a:ea typeface="等线" panose="02010600030101010101" pitchFamily="2" charset="-122"/>
            </a:endParaRPr>
          </a:p>
          <a:p>
            <a:pPr marL="342900" indent="-342900">
              <a:lnSpc>
                <a:spcPct val="130000"/>
              </a:lnSpc>
            </a:pPr>
            <a:endParaRPr lang="en-US" altLang="zh-CN" sz="2400" dirty="0">
              <a:latin typeface="等线" panose="02010600030101010101" pitchFamily="2" charset="-122"/>
              <a:ea typeface="等线" panose="02010600030101010101" pitchFamily="2" charset="-122"/>
            </a:endParaRPr>
          </a:p>
          <a:p>
            <a:pPr marL="342900" indent="-342900">
              <a:lnSpc>
                <a:spcPct val="130000"/>
              </a:lnSpc>
            </a:pPr>
            <a:endParaRPr lang="en-US" altLang="zh-CN" sz="2400" dirty="0">
              <a:latin typeface="等线" panose="02010600030101010101" pitchFamily="2" charset="-122"/>
              <a:ea typeface="等线" panose="02010600030101010101" pitchFamily="2" charset="-122"/>
            </a:endParaRPr>
          </a:p>
        </p:txBody>
      </p:sp>
      <p:pic>
        <p:nvPicPr>
          <p:cNvPr id="58" name="Picture 14">
            <a:extLst>
              <a:ext uri="{FF2B5EF4-FFF2-40B4-BE49-F238E27FC236}">
                <a16:creationId xmlns:a16="http://schemas.microsoft.com/office/drawing/2014/main" id="{228563CD-07EA-4FB8-ACD8-C6C6EA296B24}"/>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9006" y="4051319"/>
            <a:ext cx="2512292" cy="229248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2" name="Picture 14">
            <a:extLst>
              <a:ext uri="{FF2B5EF4-FFF2-40B4-BE49-F238E27FC236}">
                <a16:creationId xmlns:a16="http://schemas.microsoft.com/office/drawing/2014/main" id="{B369F798-9C2C-4C68-AC69-619ED4466E65}"/>
              </a:ext>
            </a:extLst>
          </p:cNvPr>
          <p:cNvPicPr>
            <a:picLocks noChangeArrowheads="1"/>
          </p:cNvPicPr>
          <p:nvPr/>
        </p:nvPicPr>
        <p:blipFill>
          <a:blip r:embed="rId3">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rot="3431351">
            <a:off x="6018218" y="5097852"/>
            <a:ext cx="1384635" cy="93934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8" name="Picture 14">
            <a:extLst>
              <a:ext uri="{FF2B5EF4-FFF2-40B4-BE49-F238E27FC236}">
                <a16:creationId xmlns:a16="http://schemas.microsoft.com/office/drawing/2014/main" id="{9BE6F056-395B-4331-AFF6-7EF6C5F02333}"/>
              </a:ext>
            </a:extLst>
          </p:cNvPr>
          <p:cNvPicPr>
            <a:picLocks noChangeArrowheads="1"/>
          </p:cNvPicPr>
          <p:nvPr/>
        </p:nvPicPr>
        <p:blipFill>
          <a:blip r:embed="rId3">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rot="20781248">
            <a:off x="5878453" y="4155410"/>
            <a:ext cx="1357981" cy="7177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0" name="Picture 14">
            <a:extLst>
              <a:ext uri="{FF2B5EF4-FFF2-40B4-BE49-F238E27FC236}">
                <a16:creationId xmlns:a16="http://schemas.microsoft.com/office/drawing/2014/main" id="{EBB429CF-313C-494F-8207-1A2E998CE56C}"/>
              </a:ext>
            </a:extLst>
          </p:cNvPr>
          <p:cNvPicPr>
            <a:picLocks noChangeArrowheads="1"/>
          </p:cNvPicPr>
          <p:nvPr/>
        </p:nvPicPr>
        <p:blipFill>
          <a:blip r:embed="rId3">
            <a:duotone>
              <a:prstClr val="black"/>
              <a:srgbClr val="D9C3A5">
                <a:tint val="50000"/>
                <a:satMod val="180000"/>
              </a:srgbClr>
            </a:duotone>
            <a:extLst>
              <a:ext uri="{28A0092B-C50C-407E-A947-70E740481C1C}">
                <a14:useLocalDpi xmlns:a14="http://schemas.microsoft.com/office/drawing/2010/main" val="0"/>
              </a:ext>
            </a:extLst>
          </a:blip>
          <a:srcRect/>
          <a:stretch>
            <a:fillRect/>
          </a:stretch>
        </p:blipFill>
        <p:spPr bwMode="auto">
          <a:xfrm rot="5400000">
            <a:off x="7029184" y="4766960"/>
            <a:ext cx="1429616" cy="92259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0" name="Picture 14">
            <a:extLst>
              <a:ext uri="{FF2B5EF4-FFF2-40B4-BE49-F238E27FC236}">
                <a16:creationId xmlns:a16="http://schemas.microsoft.com/office/drawing/2014/main" id="{EE91EDE3-5F94-4A8E-97A4-33EC5A43079D}"/>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9493" y="5018087"/>
            <a:ext cx="2278176" cy="159103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14">
            <a:extLst>
              <a:ext uri="{FF2B5EF4-FFF2-40B4-BE49-F238E27FC236}">
                <a16:creationId xmlns:a16="http://schemas.microsoft.com/office/drawing/2014/main" id="{30FAC658-A22D-42B9-B152-2CF057F4C2E2}"/>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63101" y="3687792"/>
            <a:ext cx="2512292" cy="1234734"/>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标题 1">
            <a:extLst>
              <a:ext uri="{FF2B5EF4-FFF2-40B4-BE49-F238E27FC236}">
                <a16:creationId xmlns:a16="http://schemas.microsoft.com/office/drawing/2014/main" id="{3ECEE202-F158-4E3B-99FB-124599D6CE0F}"/>
              </a:ext>
            </a:extLst>
          </p:cNvPr>
          <p:cNvSpPr>
            <a:spLocks noGrp="1"/>
          </p:cNvSpPr>
          <p:nvPr>
            <p:ph type="title"/>
          </p:nvPr>
        </p:nvSpPr>
        <p:spPr/>
        <p:txBody>
          <a:bodyPr/>
          <a:lstStyle/>
          <a:p>
            <a:r>
              <a:rPr lang="zh-CN" altLang="en-US" dirty="0"/>
              <a:t>层次路由</a:t>
            </a:r>
            <a:r>
              <a:rPr lang="en-US" altLang="zh-CN" dirty="0"/>
              <a:t>-</a:t>
            </a:r>
            <a:r>
              <a:rPr lang="zh-CN" altLang="en-US" dirty="0"/>
              <a:t>基本思路</a:t>
            </a:r>
          </a:p>
        </p:txBody>
      </p:sp>
      <p:sp>
        <p:nvSpPr>
          <p:cNvPr id="4" name="灯片编号占位符 3">
            <a:extLst>
              <a:ext uri="{FF2B5EF4-FFF2-40B4-BE49-F238E27FC236}">
                <a16:creationId xmlns:a16="http://schemas.microsoft.com/office/drawing/2014/main" id="{9D970978-6276-4740-89C6-9141050F4ED8}"/>
              </a:ext>
            </a:extLst>
          </p:cNvPr>
          <p:cNvSpPr>
            <a:spLocks noGrp="1"/>
          </p:cNvSpPr>
          <p:nvPr>
            <p:ph type="sldNum" sz="quarter" idx="12"/>
          </p:nvPr>
        </p:nvSpPr>
        <p:spPr/>
        <p:txBody>
          <a:bodyPr/>
          <a:lstStyle/>
          <a:p>
            <a:fld id="{8D4D1E41-7A09-AB4A-A4E1-09765ADA2698}" type="slidenum">
              <a:rPr kumimoji="1" lang="zh-CN" altLang="en-US" smtClean="0"/>
              <a:pPr/>
              <a:t>79</a:t>
            </a:fld>
            <a:endParaRPr kumimoji="1" lang="zh-CN" altLang="en-US" dirty="0"/>
          </a:p>
        </p:txBody>
      </p:sp>
      <p:grpSp>
        <p:nvGrpSpPr>
          <p:cNvPr id="62" name="组合 61">
            <a:extLst>
              <a:ext uri="{FF2B5EF4-FFF2-40B4-BE49-F238E27FC236}">
                <a16:creationId xmlns:a16="http://schemas.microsoft.com/office/drawing/2014/main" id="{2766DB70-5478-408F-96E2-FB05D2278CDE}"/>
              </a:ext>
            </a:extLst>
          </p:cNvPr>
          <p:cNvGrpSpPr/>
          <p:nvPr/>
        </p:nvGrpSpPr>
        <p:grpSpPr>
          <a:xfrm>
            <a:off x="5953916" y="3768329"/>
            <a:ext cx="5049328" cy="2600646"/>
            <a:chOff x="1221926" y="1904290"/>
            <a:chExt cx="9035239" cy="4276788"/>
          </a:xfrm>
        </p:grpSpPr>
        <p:grpSp>
          <p:nvGrpSpPr>
            <p:cNvPr id="61" name="组合 60">
              <a:extLst>
                <a:ext uri="{FF2B5EF4-FFF2-40B4-BE49-F238E27FC236}">
                  <a16:creationId xmlns:a16="http://schemas.microsoft.com/office/drawing/2014/main" id="{24D2701D-07F3-4EAC-AA80-5C0E3C1D0374}"/>
                </a:ext>
              </a:extLst>
            </p:cNvPr>
            <p:cNvGrpSpPr/>
            <p:nvPr/>
          </p:nvGrpSpPr>
          <p:grpSpPr>
            <a:xfrm>
              <a:off x="1610738" y="2244677"/>
              <a:ext cx="8103626" cy="3761298"/>
              <a:chOff x="1610738" y="2244677"/>
              <a:chExt cx="8103626" cy="3761298"/>
            </a:xfrm>
          </p:grpSpPr>
          <p:cxnSp>
            <p:nvCxnSpPr>
              <p:cNvPr id="22" name="直接连接符 21">
                <a:extLst>
                  <a:ext uri="{FF2B5EF4-FFF2-40B4-BE49-F238E27FC236}">
                    <a16:creationId xmlns:a16="http://schemas.microsoft.com/office/drawing/2014/main" id="{D1B4869B-069D-4DBF-8C9C-3D73BA62FC55}"/>
                  </a:ext>
                </a:extLst>
              </p:cNvPr>
              <p:cNvCxnSpPr>
                <a:cxnSpLocks/>
              </p:cNvCxnSpPr>
              <p:nvPr/>
            </p:nvCxnSpPr>
            <p:spPr>
              <a:xfrm flipV="1">
                <a:off x="1610738" y="2940306"/>
                <a:ext cx="1289148" cy="31040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4" name="直接连接符 23">
                <a:extLst>
                  <a:ext uri="{FF2B5EF4-FFF2-40B4-BE49-F238E27FC236}">
                    <a16:creationId xmlns:a16="http://schemas.microsoft.com/office/drawing/2014/main" id="{D869F41F-BB41-4732-9F7D-8A32C08BCAAE}"/>
                  </a:ext>
                </a:extLst>
              </p:cNvPr>
              <p:cNvCxnSpPr>
                <a:cxnSpLocks/>
              </p:cNvCxnSpPr>
              <p:nvPr/>
            </p:nvCxnSpPr>
            <p:spPr>
              <a:xfrm flipV="1">
                <a:off x="2214356" y="3687662"/>
                <a:ext cx="2061592" cy="46081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951C0C7C-1A4C-4A5D-8889-72521C97F906}"/>
                  </a:ext>
                </a:extLst>
              </p:cNvPr>
              <p:cNvCxnSpPr>
                <a:cxnSpLocks/>
              </p:cNvCxnSpPr>
              <p:nvPr/>
            </p:nvCxnSpPr>
            <p:spPr>
              <a:xfrm flipV="1">
                <a:off x="6978166" y="2244677"/>
                <a:ext cx="1462200" cy="24998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9" name="直接连接符 28">
                <a:extLst>
                  <a:ext uri="{FF2B5EF4-FFF2-40B4-BE49-F238E27FC236}">
                    <a16:creationId xmlns:a16="http://schemas.microsoft.com/office/drawing/2014/main" id="{BC10E669-7CF3-4C6C-9635-04DD21E3E2E3}"/>
                  </a:ext>
                </a:extLst>
              </p:cNvPr>
              <p:cNvCxnSpPr>
                <a:cxnSpLocks/>
              </p:cNvCxnSpPr>
              <p:nvPr/>
            </p:nvCxnSpPr>
            <p:spPr>
              <a:xfrm>
                <a:off x="4492934" y="3702778"/>
                <a:ext cx="122057" cy="120476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1C866B58-A540-40D6-9D37-171BEFBE4F4A}"/>
                  </a:ext>
                </a:extLst>
              </p:cNvPr>
              <p:cNvCxnSpPr>
                <a:cxnSpLocks/>
              </p:cNvCxnSpPr>
              <p:nvPr/>
            </p:nvCxnSpPr>
            <p:spPr>
              <a:xfrm flipH="1" flipV="1">
                <a:off x="2121100" y="4216589"/>
                <a:ext cx="705040" cy="154866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929F935D-DEBA-4FDE-9F4E-19C78379EC13}"/>
                  </a:ext>
                </a:extLst>
              </p:cNvPr>
              <p:cNvCxnSpPr>
                <a:cxnSpLocks/>
              </p:cNvCxnSpPr>
              <p:nvPr/>
            </p:nvCxnSpPr>
            <p:spPr>
              <a:xfrm>
                <a:off x="3082673" y="2884035"/>
                <a:ext cx="1251748" cy="66389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E723D622-1D00-432C-8473-68D1A75006AC}"/>
                  </a:ext>
                </a:extLst>
              </p:cNvPr>
              <p:cNvCxnSpPr>
                <a:cxnSpLocks/>
              </p:cNvCxnSpPr>
              <p:nvPr/>
            </p:nvCxnSpPr>
            <p:spPr>
              <a:xfrm flipH="1">
                <a:off x="6629098" y="2553052"/>
                <a:ext cx="349068" cy="83689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14D7552D-9B41-4C24-B6F3-FC4D50B75009}"/>
                  </a:ext>
                </a:extLst>
              </p:cNvPr>
              <p:cNvCxnSpPr>
                <a:cxnSpLocks/>
              </p:cNvCxnSpPr>
              <p:nvPr/>
            </p:nvCxnSpPr>
            <p:spPr>
              <a:xfrm flipV="1">
                <a:off x="4624603" y="3452888"/>
                <a:ext cx="2090388" cy="151656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24A0BC98-1DAB-4FB4-AA7C-F10E11EF11EB}"/>
                  </a:ext>
                </a:extLst>
              </p:cNvPr>
              <p:cNvCxnSpPr>
                <a:cxnSpLocks/>
              </p:cNvCxnSpPr>
              <p:nvPr/>
            </p:nvCxnSpPr>
            <p:spPr>
              <a:xfrm>
                <a:off x="7054715" y="4926348"/>
                <a:ext cx="2659649" cy="64298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217C8D9A-0E56-4779-8DD3-B9A9BD2CB284}"/>
                  </a:ext>
                </a:extLst>
              </p:cNvPr>
              <p:cNvCxnSpPr>
                <a:cxnSpLocks/>
              </p:cNvCxnSpPr>
              <p:nvPr/>
            </p:nvCxnSpPr>
            <p:spPr>
              <a:xfrm flipV="1">
                <a:off x="7359939" y="5681299"/>
                <a:ext cx="2249858" cy="14957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3" name="直接连接符 42">
                <a:extLst>
                  <a:ext uri="{FF2B5EF4-FFF2-40B4-BE49-F238E27FC236}">
                    <a16:creationId xmlns:a16="http://schemas.microsoft.com/office/drawing/2014/main" id="{D4FADF70-048F-4A83-BAFC-19193E6CE950}"/>
                  </a:ext>
                </a:extLst>
              </p:cNvPr>
              <p:cNvCxnSpPr>
                <a:cxnSpLocks/>
              </p:cNvCxnSpPr>
              <p:nvPr/>
            </p:nvCxnSpPr>
            <p:spPr>
              <a:xfrm>
                <a:off x="6934731" y="4885087"/>
                <a:ext cx="484155" cy="112088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5" name="直接连接符 44">
                <a:extLst>
                  <a:ext uri="{FF2B5EF4-FFF2-40B4-BE49-F238E27FC236}">
                    <a16:creationId xmlns:a16="http://schemas.microsoft.com/office/drawing/2014/main" id="{A57A902E-D439-4778-B191-9FC1373BB2BF}"/>
                  </a:ext>
                </a:extLst>
              </p:cNvPr>
              <p:cNvCxnSpPr>
                <a:cxnSpLocks/>
              </p:cNvCxnSpPr>
              <p:nvPr/>
            </p:nvCxnSpPr>
            <p:spPr>
              <a:xfrm>
                <a:off x="9443794" y="4566339"/>
                <a:ext cx="270570" cy="939858"/>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7" name="直接连接符 46">
                <a:extLst>
                  <a:ext uri="{FF2B5EF4-FFF2-40B4-BE49-F238E27FC236}">
                    <a16:creationId xmlns:a16="http://schemas.microsoft.com/office/drawing/2014/main" id="{E6A6754F-1546-4765-9786-2B36BC787BF2}"/>
                  </a:ext>
                </a:extLst>
              </p:cNvPr>
              <p:cNvCxnSpPr>
                <a:cxnSpLocks/>
              </p:cNvCxnSpPr>
              <p:nvPr/>
            </p:nvCxnSpPr>
            <p:spPr>
              <a:xfrm flipV="1">
                <a:off x="6919181" y="3029564"/>
                <a:ext cx="1465358" cy="36037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9" name="直接连接符 48">
                <a:extLst>
                  <a:ext uri="{FF2B5EF4-FFF2-40B4-BE49-F238E27FC236}">
                    <a16:creationId xmlns:a16="http://schemas.microsoft.com/office/drawing/2014/main" id="{C0D37C6D-C4A1-471D-A4B9-232EB45DECCA}"/>
                  </a:ext>
                </a:extLst>
              </p:cNvPr>
              <p:cNvCxnSpPr>
                <a:cxnSpLocks/>
              </p:cNvCxnSpPr>
              <p:nvPr/>
            </p:nvCxnSpPr>
            <p:spPr>
              <a:xfrm>
                <a:off x="8602424" y="3090547"/>
                <a:ext cx="841370" cy="129977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E8C139D4-93B2-487C-B9F2-B1C5C343D149}"/>
                  </a:ext>
                </a:extLst>
              </p:cNvPr>
              <p:cNvCxnSpPr>
                <a:cxnSpLocks/>
              </p:cNvCxnSpPr>
              <p:nvPr/>
            </p:nvCxnSpPr>
            <p:spPr>
              <a:xfrm flipV="1">
                <a:off x="8676095" y="2791874"/>
                <a:ext cx="959073" cy="18432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pSp>
        <p:grpSp>
          <p:nvGrpSpPr>
            <p:cNvPr id="25" name="组合 24">
              <a:extLst>
                <a:ext uri="{FF2B5EF4-FFF2-40B4-BE49-F238E27FC236}">
                  <a16:creationId xmlns:a16="http://schemas.microsoft.com/office/drawing/2014/main" id="{83AB1734-BEA7-4959-93E7-45BF86EBAE2D}"/>
                </a:ext>
              </a:extLst>
            </p:cNvPr>
            <p:cNvGrpSpPr/>
            <p:nvPr/>
          </p:nvGrpSpPr>
          <p:grpSpPr>
            <a:xfrm>
              <a:off x="1221926" y="1904290"/>
              <a:ext cx="9035239" cy="4276788"/>
              <a:chOff x="1140449" y="1324871"/>
              <a:chExt cx="9035239" cy="4276788"/>
            </a:xfrm>
          </p:grpSpPr>
          <p:pic>
            <p:nvPicPr>
              <p:cNvPr id="7" name="Picture 57" descr="通用路由器">
                <a:extLst>
                  <a:ext uri="{FF2B5EF4-FFF2-40B4-BE49-F238E27FC236}">
                    <a16:creationId xmlns:a16="http://schemas.microsoft.com/office/drawing/2014/main" id="{BDA8EEB1-0A11-4A90-83E2-5CC3D5D516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3499" y="2110998"/>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57" descr="通用路由器">
                <a:extLst>
                  <a:ext uri="{FF2B5EF4-FFF2-40B4-BE49-F238E27FC236}">
                    <a16:creationId xmlns:a16="http://schemas.microsoft.com/office/drawing/2014/main" id="{490C26C1-39A6-473E-9047-70B642E7C5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89277" y="4850143"/>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57" descr="通用路由器">
                <a:extLst>
                  <a:ext uri="{FF2B5EF4-FFF2-40B4-BE49-F238E27FC236}">
                    <a16:creationId xmlns:a16="http://schemas.microsoft.com/office/drawing/2014/main" id="{251970BA-8353-49B1-96C5-9830AB41E0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1491" y="1324871"/>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57" descr="通用路由器">
                <a:extLst>
                  <a:ext uri="{FF2B5EF4-FFF2-40B4-BE49-F238E27FC236}">
                    <a16:creationId xmlns:a16="http://schemas.microsoft.com/office/drawing/2014/main" id="{5076DE86-9511-46C4-8F4E-394FD3CBE80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5428" y="2828786"/>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57" descr="通用路由器">
                <a:extLst>
                  <a:ext uri="{FF2B5EF4-FFF2-40B4-BE49-F238E27FC236}">
                    <a16:creationId xmlns:a16="http://schemas.microsoft.com/office/drawing/2014/main" id="{5A21A533-D1AA-4F7E-94B9-066C9DD760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0570" y="1723744"/>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57" descr="通用路由器">
                <a:extLst>
                  <a:ext uri="{FF2B5EF4-FFF2-40B4-BE49-F238E27FC236}">
                    <a16:creationId xmlns:a16="http://schemas.microsoft.com/office/drawing/2014/main" id="{951C5E65-89D8-466F-A28E-6D6AF6FE5F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0449" y="2459712"/>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57" descr="通用路由器">
                <a:extLst>
                  <a:ext uri="{FF2B5EF4-FFF2-40B4-BE49-F238E27FC236}">
                    <a16:creationId xmlns:a16="http://schemas.microsoft.com/office/drawing/2014/main" id="{733BD76C-ABD9-4DB6-A540-AB01F026BC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9048" y="3442904"/>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57" descr="通用路由器">
                <a:extLst>
                  <a:ext uri="{FF2B5EF4-FFF2-40B4-BE49-F238E27FC236}">
                    <a16:creationId xmlns:a16="http://schemas.microsoft.com/office/drawing/2014/main" id="{05923E33-7A47-4BF4-B383-7BB971641ED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5985" y="4186273"/>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57" descr="通用路由器">
                <a:extLst>
                  <a:ext uri="{FF2B5EF4-FFF2-40B4-BE49-F238E27FC236}">
                    <a16:creationId xmlns:a16="http://schemas.microsoft.com/office/drawing/2014/main" id="{62E43DF4-C686-4B7F-8B9F-D380C06DA3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3499" y="4853423"/>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57" descr="通用路由器">
                <a:extLst>
                  <a:ext uri="{FF2B5EF4-FFF2-40B4-BE49-F238E27FC236}">
                    <a16:creationId xmlns:a16="http://schemas.microsoft.com/office/drawing/2014/main" id="{42175F92-21DA-4F93-9EB2-9B45F8B472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2569" y="2501234"/>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57" descr="通用路由器">
                <a:extLst>
                  <a:ext uri="{FF2B5EF4-FFF2-40B4-BE49-F238E27FC236}">
                    <a16:creationId xmlns:a16="http://schemas.microsoft.com/office/drawing/2014/main" id="{B9372013-DC96-40D9-9781-322B10067B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00376" y="4078233"/>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57" descr="通用路由器">
                <a:extLst>
                  <a:ext uri="{FF2B5EF4-FFF2-40B4-BE49-F238E27FC236}">
                    <a16:creationId xmlns:a16="http://schemas.microsoft.com/office/drawing/2014/main" id="{211B1081-550E-4D07-A0CE-44A77D754D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8366" y="5101880"/>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57" descr="通用路由器">
                <a:extLst>
                  <a:ext uri="{FF2B5EF4-FFF2-40B4-BE49-F238E27FC236}">
                    <a16:creationId xmlns:a16="http://schemas.microsoft.com/office/drawing/2014/main" id="{85F56D1E-D903-4110-AFA7-9E70D55A4AE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81904" y="2242791"/>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57" descr="通用路由器">
                <a:extLst>
                  <a:ext uri="{FF2B5EF4-FFF2-40B4-BE49-F238E27FC236}">
                    <a16:creationId xmlns:a16="http://schemas.microsoft.com/office/drawing/2014/main" id="{CB908C73-B4A5-4967-9FF8-0658A346FD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4888" y="3686494"/>
                <a:ext cx="678086" cy="49977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57" descr="通用路由器">
                <a:extLst>
                  <a:ext uri="{FF2B5EF4-FFF2-40B4-BE49-F238E27FC236}">
                    <a16:creationId xmlns:a16="http://schemas.microsoft.com/office/drawing/2014/main" id="{B1DEAC94-AD1B-402F-A547-9BF7A618386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97602" y="1926555"/>
                <a:ext cx="678086" cy="499779"/>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5" name="组合 4">
            <a:extLst>
              <a:ext uri="{FF2B5EF4-FFF2-40B4-BE49-F238E27FC236}">
                <a16:creationId xmlns:a16="http://schemas.microsoft.com/office/drawing/2014/main" id="{A1BA3990-CFD4-486A-93EA-247BD7044F2C}"/>
              </a:ext>
            </a:extLst>
          </p:cNvPr>
          <p:cNvGrpSpPr/>
          <p:nvPr/>
        </p:nvGrpSpPr>
        <p:grpSpPr>
          <a:xfrm>
            <a:off x="6176839" y="3975312"/>
            <a:ext cx="4528698" cy="2180709"/>
            <a:chOff x="2792614" y="4678134"/>
            <a:chExt cx="4528698" cy="2180709"/>
          </a:xfrm>
        </p:grpSpPr>
        <p:cxnSp>
          <p:nvCxnSpPr>
            <p:cNvPr id="54" name="直接连接符 53">
              <a:extLst>
                <a:ext uri="{FF2B5EF4-FFF2-40B4-BE49-F238E27FC236}">
                  <a16:creationId xmlns:a16="http://schemas.microsoft.com/office/drawing/2014/main" id="{DF8541EE-7436-455C-9282-8C5AF09E1021}"/>
                </a:ext>
              </a:extLst>
            </p:cNvPr>
            <p:cNvCxnSpPr>
              <a:cxnSpLocks/>
            </p:cNvCxnSpPr>
            <p:nvPr/>
          </p:nvCxnSpPr>
          <p:spPr>
            <a:xfrm flipV="1">
              <a:off x="2792614" y="5101135"/>
              <a:ext cx="720438" cy="188754"/>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55" name="直接连接符 54">
              <a:extLst>
                <a:ext uri="{FF2B5EF4-FFF2-40B4-BE49-F238E27FC236}">
                  <a16:creationId xmlns:a16="http://schemas.microsoft.com/office/drawing/2014/main" id="{3CFB1237-44BA-4252-91DE-F809FD10BFAB}"/>
                </a:ext>
              </a:extLst>
            </p:cNvPr>
            <p:cNvCxnSpPr>
              <a:cxnSpLocks/>
            </p:cNvCxnSpPr>
            <p:nvPr/>
          </p:nvCxnSpPr>
          <p:spPr>
            <a:xfrm flipV="1">
              <a:off x="3129945" y="5555590"/>
              <a:ext cx="1152117" cy="280217"/>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720E10F9-3603-4893-BF5B-0452365DB73F}"/>
                </a:ext>
              </a:extLst>
            </p:cNvPr>
            <p:cNvCxnSpPr>
              <a:cxnSpLocks/>
            </p:cNvCxnSpPr>
            <p:nvPr/>
          </p:nvCxnSpPr>
          <p:spPr>
            <a:xfrm flipV="1">
              <a:off x="5792192" y="4678134"/>
              <a:ext cx="817148" cy="152012"/>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63" name="直接连接符 62">
              <a:extLst>
                <a:ext uri="{FF2B5EF4-FFF2-40B4-BE49-F238E27FC236}">
                  <a16:creationId xmlns:a16="http://schemas.microsoft.com/office/drawing/2014/main" id="{5541810C-C832-4754-B7F1-B23342355994}"/>
                </a:ext>
              </a:extLst>
            </p:cNvPr>
            <p:cNvCxnSpPr>
              <a:cxnSpLocks/>
            </p:cNvCxnSpPr>
            <p:nvPr/>
          </p:nvCxnSpPr>
          <p:spPr>
            <a:xfrm>
              <a:off x="4403324" y="5564782"/>
              <a:ext cx="68211" cy="732597"/>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7AABB282-7BD3-475B-8D05-4EE3B42A8C3E}"/>
                </a:ext>
              </a:extLst>
            </p:cNvPr>
            <p:cNvCxnSpPr>
              <a:cxnSpLocks/>
            </p:cNvCxnSpPr>
            <p:nvPr/>
          </p:nvCxnSpPr>
          <p:spPr>
            <a:xfrm flipH="1" flipV="1">
              <a:off x="3077829" y="5877222"/>
              <a:ext cx="394010" cy="941715"/>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66" name="直接连接符 65">
              <a:extLst>
                <a:ext uri="{FF2B5EF4-FFF2-40B4-BE49-F238E27FC236}">
                  <a16:creationId xmlns:a16="http://schemas.microsoft.com/office/drawing/2014/main" id="{441D9BF9-A77E-4A74-BDB7-5E165B09E0BC}"/>
                </a:ext>
              </a:extLst>
            </p:cNvPr>
            <p:cNvCxnSpPr>
              <a:cxnSpLocks/>
            </p:cNvCxnSpPr>
            <p:nvPr/>
          </p:nvCxnSpPr>
          <p:spPr>
            <a:xfrm>
              <a:off x="3615202" y="5066917"/>
              <a:ext cx="699537" cy="403706"/>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67" name="直接连接符 66">
              <a:extLst>
                <a:ext uri="{FF2B5EF4-FFF2-40B4-BE49-F238E27FC236}">
                  <a16:creationId xmlns:a16="http://schemas.microsoft.com/office/drawing/2014/main" id="{77B21828-27F7-43CE-9114-EC935A508062}"/>
                </a:ext>
              </a:extLst>
            </p:cNvPr>
            <p:cNvCxnSpPr>
              <a:cxnSpLocks/>
            </p:cNvCxnSpPr>
            <p:nvPr/>
          </p:nvCxnSpPr>
          <p:spPr>
            <a:xfrm flipH="1">
              <a:off x="5597116" y="4865652"/>
              <a:ext cx="195076" cy="508899"/>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ED244B34-E598-4971-8853-1EBD1CCF59CD}"/>
                </a:ext>
              </a:extLst>
            </p:cNvPr>
            <p:cNvCxnSpPr>
              <a:cxnSpLocks/>
            </p:cNvCxnSpPr>
            <p:nvPr/>
          </p:nvCxnSpPr>
          <p:spPr>
            <a:xfrm>
              <a:off x="5834972" y="6308815"/>
              <a:ext cx="1486340" cy="390988"/>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74" name="直接连接符 73">
              <a:extLst>
                <a:ext uri="{FF2B5EF4-FFF2-40B4-BE49-F238E27FC236}">
                  <a16:creationId xmlns:a16="http://schemas.microsoft.com/office/drawing/2014/main" id="{133B7E0F-7EBF-4066-9135-4D1B6A2F841E}"/>
                </a:ext>
              </a:extLst>
            </p:cNvPr>
            <p:cNvCxnSpPr>
              <a:cxnSpLocks/>
            </p:cNvCxnSpPr>
            <p:nvPr/>
          </p:nvCxnSpPr>
          <p:spPr>
            <a:xfrm flipV="1">
              <a:off x="6005545" y="6767889"/>
              <a:ext cx="1257329" cy="90954"/>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75" name="直接连接符 74">
              <a:extLst>
                <a:ext uri="{FF2B5EF4-FFF2-40B4-BE49-F238E27FC236}">
                  <a16:creationId xmlns:a16="http://schemas.microsoft.com/office/drawing/2014/main" id="{CBBDCB34-70A1-4599-9B08-325D6CD0CD53}"/>
                </a:ext>
              </a:extLst>
            </p:cNvPr>
            <p:cNvCxnSpPr>
              <a:cxnSpLocks/>
            </p:cNvCxnSpPr>
            <p:nvPr/>
          </p:nvCxnSpPr>
          <p:spPr>
            <a:xfrm>
              <a:off x="5767919" y="6283725"/>
              <a:ext cx="190756" cy="464608"/>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76" name="直接连接符 75">
              <a:extLst>
                <a:ext uri="{FF2B5EF4-FFF2-40B4-BE49-F238E27FC236}">
                  <a16:creationId xmlns:a16="http://schemas.microsoft.com/office/drawing/2014/main" id="{E979F76B-1E03-4B1F-ACD6-034F849083AE}"/>
                </a:ext>
              </a:extLst>
            </p:cNvPr>
            <p:cNvCxnSpPr>
              <a:cxnSpLocks/>
            </p:cNvCxnSpPr>
            <p:nvPr/>
          </p:nvCxnSpPr>
          <p:spPr>
            <a:xfrm>
              <a:off x="7170104" y="6089899"/>
              <a:ext cx="151208" cy="571513"/>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8C2368A7-32F1-40F3-AB7E-0B794BB79B16}"/>
                </a:ext>
              </a:extLst>
            </p:cNvPr>
            <p:cNvCxnSpPr>
              <a:cxnSpLocks/>
            </p:cNvCxnSpPr>
            <p:nvPr/>
          </p:nvCxnSpPr>
          <p:spPr>
            <a:xfrm flipV="1">
              <a:off x="5759229" y="5155411"/>
              <a:ext cx="818913" cy="219141"/>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78" name="直接连接符 77">
              <a:extLst>
                <a:ext uri="{FF2B5EF4-FFF2-40B4-BE49-F238E27FC236}">
                  <a16:creationId xmlns:a16="http://schemas.microsoft.com/office/drawing/2014/main" id="{F5F73FC3-586B-40BF-ABBF-71C5EB5E6CA9}"/>
                </a:ext>
              </a:extLst>
            </p:cNvPr>
            <p:cNvCxnSpPr>
              <a:cxnSpLocks/>
            </p:cNvCxnSpPr>
            <p:nvPr/>
          </p:nvCxnSpPr>
          <p:spPr>
            <a:xfrm flipV="1">
              <a:off x="6741077" y="5010876"/>
              <a:ext cx="535976" cy="112084"/>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grpSp>
      <p:grpSp>
        <p:nvGrpSpPr>
          <p:cNvPr id="28" name="组合 27">
            <a:extLst>
              <a:ext uri="{FF2B5EF4-FFF2-40B4-BE49-F238E27FC236}">
                <a16:creationId xmlns:a16="http://schemas.microsoft.com/office/drawing/2014/main" id="{8D209DCB-EF32-427A-BA9D-50F737C48476}"/>
              </a:ext>
            </a:extLst>
          </p:cNvPr>
          <p:cNvGrpSpPr/>
          <p:nvPr/>
        </p:nvGrpSpPr>
        <p:grpSpPr>
          <a:xfrm>
            <a:off x="7872598" y="4496754"/>
            <a:ext cx="2693197" cy="1142533"/>
            <a:chOff x="8508656" y="4421067"/>
            <a:chExt cx="2693197" cy="1142533"/>
          </a:xfrm>
        </p:grpSpPr>
        <p:cxnSp>
          <p:nvCxnSpPr>
            <p:cNvPr id="79" name="直接连接符 78">
              <a:extLst>
                <a:ext uri="{FF2B5EF4-FFF2-40B4-BE49-F238E27FC236}">
                  <a16:creationId xmlns:a16="http://schemas.microsoft.com/office/drawing/2014/main" id="{B76DE4B5-0958-4FCE-86E5-D2ABE5F060E0}"/>
                </a:ext>
              </a:extLst>
            </p:cNvPr>
            <p:cNvCxnSpPr>
              <a:cxnSpLocks/>
            </p:cNvCxnSpPr>
            <p:nvPr/>
          </p:nvCxnSpPr>
          <p:spPr>
            <a:xfrm flipV="1">
              <a:off x="8508656" y="4641401"/>
              <a:ext cx="1168210" cy="922199"/>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cxnSp>
          <p:nvCxnSpPr>
            <p:cNvPr id="80" name="直接连接符 79">
              <a:extLst>
                <a:ext uri="{FF2B5EF4-FFF2-40B4-BE49-F238E27FC236}">
                  <a16:creationId xmlns:a16="http://schemas.microsoft.com/office/drawing/2014/main" id="{9D1CFE1E-A64D-4F57-9C4E-7695213576C6}"/>
                </a:ext>
              </a:extLst>
            </p:cNvPr>
            <p:cNvCxnSpPr>
              <a:cxnSpLocks/>
            </p:cNvCxnSpPr>
            <p:nvPr/>
          </p:nvCxnSpPr>
          <p:spPr>
            <a:xfrm>
              <a:off x="10731655" y="4421067"/>
              <a:ext cx="470198" cy="790370"/>
            </a:xfrm>
            <a:prstGeom prst="line">
              <a:avLst/>
            </a:prstGeom>
            <a:ln w="38100">
              <a:solidFill>
                <a:srgbClr val="C00000"/>
              </a:solidFill>
            </a:ln>
          </p:spPr>
          <p:style>
            <a:lnRef idx="1">
              <a:schemeClr val="dk1"/>
            </a:lnRef>
            <a:fillRef idx="0">
              <a:schemeClr val="dk1"/>
            </a:fillRef>
            <a:effectRef idx="0">
              <a:schemeClr val="dk1"/>
            </a:effectRef>
            <a:fontRef idx="minor">
              <a:schemeClr val="tx1"/>
            </a:fontRef>
          </p:style>
        </p:cxnSp>
      </p:grpSp>
      <p:sp>
        <p:nvSpPr>
          <p:cNvPr id="72" name="内容占位符 2">
            <a:extLst>
              <a:ext uri="{FF2B5EF4-FFF2-40B4-BE49-F238E27FC236}">
                <a16:creationId xmlns:a16="http://schemas.microsoft.com/office/drawing/2014/main" id="{9A7BC474-E47F-4929-ACEF-BCCCD2C46D5A}"/>
              </a:ext>
            </a:extLst>
          </p:cNvPr>
          <p:cNvSpPr txBox="1">
            <a:spLocks/>
          </p:cNvSpPr>
          <p:nvPr/>
        </p:nvSpPr>
        <p:spPr>
          <a:xfrm>
            <a:off x="9379081" y="5359576"/>
            <a:ext cx="1112399" cy="39851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US" altLang="zh-CN" dirty="0">
                <a:solidFill>
                  <a:srgbClr val="0000FF"/>
                </a:solidFill>
                <a:latin typeface="DengXian" panose="02010600030101010101" pitchFamily="2" charset="-122"/>
                <a:ea typeface="DengXian" panose="02010600030101010101" pitchFamily="2" charset="-122"/>
              </a:rPr>
              <a:t>RIP</a:t>
            </a:r>
          </a:p>
        </p:txBody>
      </p:sp>
      <p:sp>
        <p:nvSpPr>
          <p:cNvPr id="73" name="内容占位符 2">
            <a:extLst>
              <a:ext uri="{FF2B5EF4-FFF2-40B4-BE49-F238E27FC236}">
                <a16:creationId xmlns:a16="http://schemas.microsoft.com/office/drawing/2014/main" id="{FC05620A-551B-40BB-A5FE-91A9B9ABD938}"/>
              </a:ext>
            </a:extLst>
          </p:cNvPr>
          <p:cNvSpPr txBox="1">
            <a:spLocks/>
          </p:cNvSpPr>
          <p:nvPr/>
        </p:nvSpPr>
        <p:spPr>
          <a:xfrm>
            <a:off x="5222369" y="5318844"/>
            <a:ext cx="1112399" cy="39851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US" altLang="zh-CN" dirty="0">
                <a:solidFill>
                  <a:srgbClr val="0000FF"/>
                </a:solidFill>
                <a:latin typeface="DengXian" panose="02010600030101010101" pitchFamily="2" charset="-122"/>
                <a:ea typeface="DengXian" panose="02010600030101010101" pitchFamily="2" charset="-122"/>
              </a:rPr>
              <a:t>OSPF</a:t>
            </a:r>
          </a:p>
        </p:txBody>
      </p:sp>
      <p:sp>
        <p:nvSpPr>
          <p:cNvPr id="81" name="内容占位符 2">
            <a:extLst>
              <a:ext uri="{FF2B5EF4-FFF2-40B4-BE49-F238E27FC236}">
                <a16:creationId xmlns:a16="http://schemas.microsoft.com/office/drawing/2014/main" id="{C718A621-FB05-4E49-8BBC-ADB19C390BC9}"/>
              </a:ext>
            </a:extLst>
          </p:cNvPr>
          <p:cNvSpPr txBox="1">
            <a:spLocks/>
          </p:cNvSpPr>
          <p:nvPr/>
        </p:nvSpPr>
        <p:spPr>
          <a:xfrm>
            <a:off x="10159320" y="3791486"/>
            <a:ext cx="1112399" cy="398516"/>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US" altLang="zh-CN" dirty="0">
                <a:solidFill>
                  <a:srgbClr val="0000FF"/>
                </a:solidFill>
                <a:latin typeface="DengXian" panose="02010600030101010101" pitchFamily="2" charset="-122"/>
                <a:ea typeface="DengXian" panose="02010600030101010101" pitchFamily="2" charset="-122"/>
              </a:rPr>
              <a:t>IS-IS</a:t>
            </a:r>
          </a:p>
        </p:txBody>
      </p:sp>
      <p:sp>
        <p:nvSpPr>
          <p:cNvPr id="82" name="内容占位符 2">
            <a:extLst>
              <a:ext uri="{FF2B5EF4-FFF2-40B4-BE49-F238E27FC236}">
                <a16:creationId xmlns:a16="http://schemas.microsoft.com/office/drawing/2014/main" id="{A9938705-6A65-4C0F-9D10-EEC3D383EDCF}"/>
              </a:ext>
            </a:extLst>
          </p:cNvPr>
          <p:cNvSpPr txBox="1">
            <a:spLocks/>
          </p:cNvSpPr>
          <p:nvPr/>
        </p:nvSpPr>
        <p:spPr>
          <a:xfrm>
            <a:off x="8044167" y="4724261"/>
            <a:ext cx="870348" cy="38724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US" altLang="zh-CN" dirty="0">
                <a:solidFill>
                  <a:srgbClr val="C00000"/>
                </a:solidFill>
                <a:latin typeface="DengXian" panose="02010600030101010101" pitchFamily="2" charset="-122"/>
                <a:ea typeface="DengXian" panose="02010600030101010101" pitchFamily="2" charset="-122"/>
              </a:rPr>
              <a:t>BGP</a:t>
            </a:r>
          </a:p>
        </p:txBody>
      </p:sp>
      <p:sp>
        <p:nvSpPr>
          <p:cNvPr id="84" name="内容占位符 2">
            <a:extLst>
              <a:ext uri="{FF2B5EF4-FFF2-40B4-BE49-F238E27FC236}">
                <a16:creationId xmlns:a16="http://schemas.microsoft.com/office/drawing/2014/main" id="{A4096896-13A8-4F9B-ABB8-1A9E84C60CA6}"/>
              </a:ext>
            </a:extLst>
          </p:cNvPr>
          <p:cNvSpPr txBox="1">
            <a:spLocks/>
          </p:cNvSpPr>
          <p:nvPr/>
        </p:nvSpPr>
        <p:spPr>
          <a:xfrm>
            <a:off x="10303706" y="4757684"/>
            <a:ext cx="870348" cy="387244"/>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defRPr/>
            </a:pPr>
            <a:r>
              <a:rPr lang="en-US" altLang="zh-CN" dirty="0">
                <a:solidFill>
                  <a:srgbClr val="C00000"/>
                </a:solidFill>
                <a:latin typeface="DengXian" panose="02010600030101010101" pitchFamily="2" charset="-122"/>
                <a:ea typeface="DengXian" panose="02010600030101010101" pitchFamily="2" charset="-122"/>
              </a:rPr>
              <a:t>BGP</a:t>
            </a:r>
          </a:p>
        </p:txBody>
      </p:sp>
      <p:sp>
        <p:nvSpPr>
          <p:cNvPr id="70" name="日期占位符 4">
            <a:extLst>
              <a:ext uri="{FF2B5EF4-FFF2-40B4-BE49-F238E27FC236}">
                <a16:creationId xmlns:a16="http://schemas.microsoft.com/office/drawing/2014/main" id="{1ADED64C-BCC9-4512-BAF4-F9E2E09B6B5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5.3.5 </a:t>
            </a:r>
            <a:r>
              <a:rPr kumimoji="1" lang="zh-CN" altLang="en-US" dirty="0">
                <a:latin typeface="DengXian" panose="02010600030101010101" pitchFamily="2" charset="-122"/>
                <a:ea typeface="DengXian" panose="02010600030101010101" pitchFamily="2" charset="-122"/>
              </a:rPr>
              <a:t>层次路由</a:t>
            </a:r>
          </a:p>
        </p:txBody>
      </p:sp>
    </p:spTree>
    <p:extLst>
      <p:ext uri="{BB962C8B-B14F-4D97-AF65-F5344CB8AC3E}">
        <p14:creationId xmlns:p14="http://schemas.microsoft.com/office/powerpoint/2010/main" val="2949601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
                                            <p:txEl>
                                              <p:pRg st="0" end="0"/>
                                            </p:txEl>
                                          </p:spTgt>
                                        </p:tgtEl>
                                        <p:attrNameLst>
                                          <p:attrName>style.visibility</p:attrName>
                                        </p:attrNameLst>
                                      </p:cBhvr>
                                      <p:to>
                                        <p:strVal val="visible"/>
                                      </p:to>
                                    </p:set>
                                    <p:animEffect transition="in" filter="blinds(horizontal)">
                                      <p:cBhvr>
                                        <p:cTn id="7" dur="500"/>
                                        <p:tgtEl>
                                          <p:spTgt spid="53">
                                            <p:txEl>
                                              <p:pRg st="0" end="0"/>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53">
                                            <p:txEl>
                                              <p:pRg st="1" end="1"/>
                                            </p:txEl>
                                          </p:spTgt>
                                        </p:tgtEl>
                                        <p:attrNameLst>
                                          <p:attrName>style.visibility</p:attrName>
                                        </p:attrNameLst>
                                      </p:cBhvr>
                                      <p:to>
                                        <p:strVal val="visible"/>
                                      </p:to>
                                    </p:set>
                                    <p:animEffect transition="in" filter="blinds(horizontal)">
                                      <p:cBhvr>
                                        <p:cTn id="10" dur="500"/>
                                        <p:tgtEl>
                                          <p:spTgt spid="53">
                                            <p:txEl>
                                              <p:pRg st="1" end="1"/>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53">
                                            <p:txEl>
                                              <p:pRg st="2" end="2"/>
                                            </p:txEl>
                                          </p:spTgt>
                                        </p:tgtEl>
                                        <p:attrNameLst>
                                          <p:attrName>style.visibility</p:attrName>
                                        </p:attrNameLst>
                                      </p:cBhvr>
                                      <p:to>
                                        <p:strVal val="visible"/>
                                      </p:to>
                                    </p:set>
                                    <p:animEffect transition="in" filter="blinds(horizontal)">
                                      <p:cBhvr>
                                        <p:cTn id="13" dur="500"/>
                                        <p:tgtEl>
                                          <p:spTgt spid="5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500"/>
                                        <p:tgtEl>
                                          <p:spTgt spid="58"/>
                                        </p:tgtEl>
                                      </p:cBhvr>
                                    </p:animEffect>
                                  </p:childTnLst>
                                </p:cTn>
                              </p:par>
                              <p:par>
                                <p:cTn id="19" presetID="10" presetClass="entr" presetSubtype="0" fill="hold" nodeType="withEffect">
                                  <p:stCondLst>
                                    <p:cond delay="0"/>
                                  </p:stCondLst>
                                  <p:childTnLst>
                                    <p:set>
                                      <p:cBhvr>
                                        <p:cTn id="20" dur="1" fill="hold">
                                          <p:stCondLst>
                                            <p:cond delay="0"/>
                                          </p:stCondLst>
                                        </p:cTn>
                                        <p:tgtEl>
                                          <p:spTgt spid="59"/>
                                        </p:tgtEl>
                                        <p:attrNameLst>
                                          <p:attrName>style.visibility</p:attrName>
                                        </p:attrNameLst>
                                      </p:cBhvr>
                                      <p:to>
                                        <p:strVal val="visible"/>
                                      </p:to>
                                    </p:set>
                                    <p:animEffect transition="in" filter="fade">
                                      <p:cBhvr>
                                        <p:cTn id="21" dur="500"/>
                                        <p:tgtEl>
                                          <p:spTgt spid="59"/>
                                        </p:tgtEl>
                                      </p:cBhvr>
                                    </p:animEffect>
                                  </p:childTnLst>
                                </p:cTn>
                              </p:par>
                              <p:par>
                                <p:cTn id="22" presetID="10" presetClass="entr" presetSubtype="0" fill="hold" nodeType="withEffect">
                                  <p:stCondLst>
                                    <p:cond delay="0"/>
                                  </p:stCondLst>
                                  <p:childTnLst>
                                    <p:set>
                                      <p:cBhvr>
                                        <p:cTn id="23" dur="1" fill="hold">
                                          <p:stCondLst>
                                            <p:cond delay="0"/>
                                          </p:stCondLst>
                                        </p:cTn>
                                        <p:tgtEl>
                                          <p:spTgt spid="60"/>
                                        </p:tgtEl>
                                        <p:attrNameLst>
                                          <p:attrName>style.visibility</p:attrName>
                                        </p:attrNameLst>
                                      </p:cBhvr>
                                      <p:to>
                                        <p:strVal val="visible"/>
                                      </p:to>
                                    </p:set>
                                    <p:animEffect transition="in" filter="fade">
                                      <p:cBhvr>
                                        <p:cTn id="24" dur="500"/>
                                        <p:tgtEl>
                                          <p:spTgt spid="60"/>
                                        </p:tgtEl>
                                      </p:cBhvr>
                                    </p:animEffect>
                                  </p:childTnLst>
                                </p:cTn>
                              </p:par>
                            </p:childTnLst>
                          </p:cTn>
                        </p:par>
                        <p:par>
                          <p:cTn id="25" fill="hold">
                            <p:stCondLst>
                              <p:cond delay="500"/>
                            </p:stCondLst>
                            <p:childTnLst>
                              <p:par>
                                <p:cTn id="26" presetID="10" presetClass="entr" presetSubtype="0" fill="hold" grpId="0" nodeType="afterEffect">
                                  <p:stCondLst>
                                    <p:cond delay="0"/>
                                  </p:stCondLst>
                                  <p:childTnLst>
                                    <p:set>
                                      <p:cBhvr>
                                        <p:cTn id="27" dur="1" fill="hold">
                                          <p:stCondLst>
                                            <p:cond delay="0"/>
                                          </p:stCondLst>
                                        </p:cTn>
                                        <p:tgtEl>
                                          <p:spTgt spid="73"/>
                                        </p:tgtEl>
                                        <p:attrNameLst>
                                          <p:attrName>style.visibility</p:attrName>
                                        </p:attrNameLst>
                                      </p:cBhvr>
                                      <p:to>
                                        <p:strVal val="visible"/>
                                      </p:to>
                                    </p:set>
                                    <p:animEffect transition="in" filter="fade">
                                      <p:cBhvr>
                                        <p:cTn id="28" dur="500"/>
                                        <p:tgtEl>
                                          <p:spTgt spid="7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81"/>
                                        </p:tgtEl>
                                        <p:attrNameLst>
                                          <p:attrName>style.visibility</p:attrName>
                                        </p:attrNameLst>
                                      </p:cBhvr>
                                      <p:to>
                                        <p:strVal val="visible"/>
                                      </p:to>
                                    </p:set>
                                    <p:animEffect transition="in" filter="fade">
                                      <p:cBhvr>
                                        <p:cTn id="31" dur="500"/>
                                        <p:tgtEl>
                                          <p:spTgt spid="8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72"/>
                                        </p:tgtEl>
                                        <p:attrNameLst>
                                          <p:attrName>style.visibility</p:attrName>
                                        </p:attrNameLst>
                                      </p:cBhvr>
                                      <p:to>
                                        <p:strVal val="visible"/>
                                      </p:to>
                                    </p:set>
                                    <p:animEffect transition="in" filter="fade">
                                      <p:cBhvr>
                                        <p:cTn id="34" dur="500"/>
                                        <p:tgtEl>
                                          <p:spTgt spid="72"/>
                                        </p:tgtEl>
                                      </p:cBhvr>
                                    </p:animEffect>
                                  </p:childTnLst>
                                </p:cTn>
                              </p:par>
                            </p:childTnLst>
                          </p:cTn>
                        </p:par>
                        <p:par>
                          <p:cTn id="35" fill="hold">
                            <p:stCondLst>
                              <p:cond delay="1000"/>
                            </p:stCondLst>
                            <p:childTnLst>
                              <p:par>
                                <p:cTn id="36" presetID="10" presetClass="entr" presetSubtype="0" fill="hold" nodeType="after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fade">
                                      <p:cBhvr>
                                        <p:cTn id="38" dur="500"/>
                                        <p:tgtEl>
                                          <p:spTgt spid="48"/>
                                        </p:tgtEl>
                                      </p:cBhvr>
                                    </p:animEffect>
                                  </p:childTnLst>
                                </p:cTn>
                              </p:par>
                              <p:par>
                                <p:cTn id="39" presetID="10"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500"/>
                                        <p:tgtEl>
                                          <p:spTgt spid="50"/>
                                        </p:tgtEl>
                                      </p:cBhvr>
                                    </p:animEffect>
                                  </p:childTnLst>
                                </p:cTn>
                              </p:par>
                              <p:par>
                                <p:cTn id="42" presetID="10" presetClass="entr" presetSubtype="0" fill="hold" nodeType="withEffect">
                                  <p:stCondLst>
                                    <p:cond delay="0"/>
                                  </p:stCondLst>
                                  <p:childTnLst>
                                    <p:set>
                                      <p:cBhvr>
                                        <p:cTn id="43" dur="1" fill="hold">
                                          <p:stCondLst>
                                            <p:cond delay="0"/>
                                          </p:stCondLst>
                                        </p:cTn>
                                        <p:tgtEl>
                                          <p:spTgt spid="52"/>
                                        </p:tgtEl>
                                        <p:attrNameLst>
                                          <p:attrName>style.visibility</p:attrName>
                                        </p:attrNameLst>
                                      </p:cBhvr>
                                      <p:to>
                                        <p:strVal val="visible"/>
                                      </p:to>
                                    </p:set>
                                    <p:animEffect transition="in" filter="fade">
                                      <p:cBhvr>
                                        <p:cTn id="44" dur="500"/>
                                        <p:tgtEl>
                                          <p:spTgt spid="52"/>
                                        </p:tgtEl>
                                      </p:cBhvr>
                                    </p:animEffect>
                                  </p:childTnLst>
                                </p:cTn>
                              </p:par>
                              <p:par>
                                <p:cTn id="45" presetID="10" presetClass="entr" presetSubtype="0" fill="hold" nodeType="with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nodeType="clickEffect">
                                  <p:stCondLst>
                                    <p:cond delay="0"/>
                                  </p:stCondLst>
                                  <p:childTnLst>
                                    <p:set>
                                      <p:cBhvr>
                                        <p:cTn id="51" dur="1" fill="hold">
                                          <p:stCondLst>
                                            <p:cond delay="0"/>
                                          </p:stCondLst>
                                        </p:cTn>
                                        <p:tgtEl>
                                          <p:spTgt spid="5"/>
                                        </p:tgtEl>
                                        <p:attrNameLst>
                                          <p:attrName>style.visibility</p:attrName>
                                        </p:attrNameLst>
                                      </p:cBhvr>
                                      <p:to>
                                        <p:strVal val="hidden"/>
                                      </p:to>
                                    </p:set>
                                  </p:childTnLst>
                                </p:cTn>
                              </p:par>
                              <p:par>
                                <p:cTn id="52" presetID="3" presetClass="entr" presetSubtype="10" fill="hold" nodeType="withEffect">
                                  <p:stCondLst>
                                    <p:cond delay="0"/>
                                  </p:stCondLst>
                                  <p:childTnLst>
                                    <p:set>
                                      <p:cBhvr>
                                        <p:cTn id="53" dur="1" fill="hold">
                                          <p:stCondLst>
                                            <p:cond delay="0"/>
                                          </p:stCondLst>
                                        </p:cTn>
                                        <p:tgtEl>
                                          <p:spTgt spid="53">
                                            <p:txEl>
                                              <p:pRg st="3" end="3"/>
                                            </p:txEl>
                                          </p:spTgt>
                                        </p:tgtEl>
                                        <p:attrNameLst>
                                          <p:attrName>style.visibility</p:attrName>
                                        </p:attrNameLst>
                                      </p:cBhvr>
                                      <p:to>
                                        <p:strVal val="visible"/>
                                      </p:to>
                                    </p:set>
                                    <p:animEffect transition="in" filter="blinds(horizontal)">
                                      <p:cBhvr>
                                        <p:cTn id="54" dur="500"/>
                                        <p:tgtEl>
                                          <p:spTgt spid="53">
                                            <p:txEl>
                                              <p:pRg st="3" end="3"/>
                                            </p:txEl>
                                          </p:spTgt>
                                        </p:tgtEl>
                                      </p:cBhvr>
                                    </p:animEffect>
                                  </p:childTnLst>
                                </p:cTn>
                              </p:par>
                              <p:par>
                                <p:cTn id="55" presetID="3" presetClass="entr" presetSubtype="10" fill="hold" nodeType="withEffect">
                                  <p:stCondLst>
                                    <p:cond delay="0"/>
                                  </p:stCondLst>
                                  <p:childTnLst>
                                    <p:set>
                                      <p:cBhvr>
                                        <p:cTn id="56" dur="1" fill="hold">
                                          <p:stCondLst>
                                            <p:cond delay="0"/>
                                          </p:stCondLst>
                                        </p:cTn>
                                        <p:tgtEl>
                                          <p:spTgt spid="53">
                                            <p:txEl>
                                              <p:pRg st="4" end="4"/>
                                            </p:txEl>
                                          </p:spTgt>
                                        </p:tgtEl>
                                        <p:attrNameLst>
                                          <p:attrName>style.visibility</p:attrName>
                                        </p:attrNameLst>
                                      </p:cBhvr>
                                      <p:to>
                                        <p:strVal val="visible"/>
                                      </p:to>
                                    </p:set>
                                    <p:animEffect transition="in" filter="blinds(horizontal)">
                                      <p:cBhvr>
                                        <p:cTn id="57" dur="500"/>
                                        <p:tgtEl>
                                          <p:spTgt spid="53">
                                            <p:txEl>
                                              <p:pRg st="4" end="4"/>
                                            </p:txEl>
                                          </p:spTgt>
                                        </p:tgtEl>
                                      </p:cBhvr>
                                    </p:animEffect>
                                  </p:childTnLst>
                                </p:cTn>
                              </p:par>
                              <p:par>
                                <p:cTn id="58" presetID="3" presetClass="entr" presetSubtype="10" fill="hold" nodeType="withEffect">
                                  <p:stCondLst>
                                    <p:cond delay="0"/>
                                  </p:stCondLst>
                                  <p:childTnLst>
                                    <p:set>
                                      <p:cBhvr>
                                        <p:cTn id="59" dur="1" fill="hold">
                                          <p:stCondLst>
                                            <p:cond delay="0"/>
                                          </p:stCondLst>
                                        </p:cTn>
                                        <p:tgtEl>
                                          <p:spTgt spid="53">
                                            <p:txEl>
                                              <p:pRg st="5" end="5"/>
                                            </p:txEl>
                                          </p:spTgt>
                                        </p:tgtEl>
                                        <p:attrNameLst>
                                          <p:attrName>style.visibility</p:attrName>
                                        </p:attrNameLst>
                                      </p:cBhvr>
                                      <p:to>
                                        <p:strVal val="visible"/>
                                      </p:to>
                                    </p:set>
                                    <p:animEffect transition="in" filter="blinds(horizontal)">
                                      <p:cBhvr>
                                        <p:cTn id="60" dur="500"/>
                                        <p:tgtEl>
                                          <p:spTgt spid="53">
                                            <p:txEl>
                                              <p:pRg st="5" end="5"/>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fade">
                                      <p:cBhvr>
                                        <p:cTn id="65" dur="500"/>
                                        <p:tgtEl>
                                          <p:spTgt spid="8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82"/>
                                        </p:tgtEl>
                                        <p:attrNameLst>
                                          <p:attrName>style.visibility</p:attrName>
                                        </p:attrNameLst>
                                      </p:cBhvr>
                                      <p:to>
                                        <p:strVal val="visible"/>
                                      </p:to>
                                    </p:set>
                                    <p:animEffect transition="in" filter="fade">
                                      <p:cBhvr>
                                        <p:cTn id="68" dur="500"/>
                                        <p:tgtEl>
                                          <p:spTgt spid="82"/>
                                        </p:tgtEl>
                                      </p:cBhvr>
                                    </p:animEffect>
                                  </p:childTnLst>
                                </p:cTn>
                              </p:par>
                              <p:par>
                                <p:cTn id="69" presetID="10" presetClass="entr" presetSubtype="0" fill="hold" nodeType="withEffect">
                                  <p:stCondLst>
                                    <p:cond delay="0"/>
                                  </p:stCondLst>
                                  <p:childTnLst>
                                    <p:set>
                                      <p:cBhvr>
                                        <p:cTn id="70" dur="1" fill="hold">
                                          <p:stCondLst>
                                            <p:cond delay="0"/>
                                          </p:stCondLst>
                                        </p:cTn>
                                        <p:tgtEl>
                                          <p:spTgt spid="28"/>
                                        </p:tgtEl>
                                        <p:attrNameLst>
                                          <p:attrName>style.visibility</p:attrName>
                                        </p:attrNameLst>
                                      </p:cBhvr>
                                      <p:to>
                                        <p:strVal val="visible"/>
                                      </p:to>
                                    </p:set>
                                    <p:animEffect transition="in" filter="fade">
                                      <p:cBhvr>
                                        <p:cTn id="7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81" grpId="0"/>
      <p:bldP spid="82" grpId="0"/>
      <p:bldP spid="8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a:extLst>
              <a:ext uri="{FF2B5EF4-FFF2-40B4-BE49-F238E27FC236}">
                <a16:creationId xmlns:a16="http://schemas.microsoft.com/office/drawing/2014/main" id="{B5174843-26EC-4FAF-89EE-EC11AC643685}"/>
              </a:ext>
            </a:extLst>
          </p:cNvPr>
          <p:cNvGrpSpPr/>
          <p:nvPr/>
        </p:nvGrpSpPr>
        <p:grpSpPr>
          <a:xfrm>
            <a:off x="6373894" y="1360838"/>
            <a:ext cx="5544839" cy="4624798"/>
            <a:chOff x="6041155" y="1349090"/>
            <a:chExt cx="5544839" cy="4624798"/>
          </a:xfrm>
        </p:grpSpPr>
        <p:pic>
          <p:nvPicPr>
            <p:cNvPr id="58" name="Picture 14">
              <a:extLst>
                <a:ext uri="{FF2B5EF4-FFF2-40B4-BE49-F238E27FC236}">
                  <a16:creationId xmlns:a16="http://schemas.microsoft.com/office/drawing/2014/main" id="{FC5533D8-E489-4F3B-BE32-FE89C42A63B7}"/>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8456674" y="4194537"/>
              <a:ext cx="2307142" cy="1779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Picture 14">
              <a:extLst>
                <a:ext uri="{FF2B5EF4-FFF2-40B4-BE49-F238E27FC236}">
                  <a16:creationId xmlns:a16="http://schemas.microsoft.com/office/drawing/2014/main" id="{FE785418-A555-4F38-B5AD-6CB027CD6904}"/>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41155" y="1349090"/>
              <a:ext cx="2424154" cy="21625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1" name="Picture 14">
              <a:extLst>
                <a:ext uri="{FF2B5EF4-FFF2-40B4-BE49-F238E27FC236}">
                  <a16:creationId xmlns:a16="http://schemas.microsoft.com/office/drawing/2014/main" id="{562F0F55-4D3F-4B79-9F18-FCF360AB212E}"/>
                </a:ext>
              </a:extLst>
            </p:cNvPr>
            <p:cNvPicPr>
              <a:picLocks noChangeArrowheads="1"/>
            </p:cNvPicPr>
            <p:nvPr/>
          </p:nvPicPr>
          <p:blipFill>
            <a:blip r:embed="rId3">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066693" y="1804404"/>
              <a:ext cx="2519301" cy="21979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2" name="文本框 61">
              <a:extLst>
                <a:ext uri="{FF2B5EF4-FFF2-40B4-BE49-F238E27FC236}">
                  <a16:creationId xmlns:a16="http://schemas.microsoft.com/office/drawing/2014/main" id="{4394B444-C7E2-4AFE-A4E8-3BC3E29702A8}"/>
                </a:ext>
              </a:extLst>
            </p:cNvPr>
            <p:cNvSpPr txBox="1"/>
            <p:nvPr/>
          </p:nvSpPr>
          <p:spPr>
            <a:xfrm>
              <a:off x="7898410" y="1477682"/>
              <a:ext cx="765073" cy="400110"/>
            </a:xfrm>
            <a:prstGeom prst="rect">
              <a:avLst/>
            </a:prstGeom>
            <a:solidFill>
              <a:srgbClr val="5B307E"/>
            </a:solidFill>
          </p:spPr>
          <p:txBody>
            <a:bodyPr wrap="square" rtlCol="0">
              <a:spAutoFit/>
            </a:bodyPr>
            <a:lstStyle/>
            <a:p>
              <a:pPr algn="ctr"/>
              <a:r>
                <a:rPr lang="en-US" altLang="zh-CN" sz="2000" dirty="0">
                  <a:solidFill>
                    <a:schemeClr val="bg1"/>
                  </a:solidFill>
                  <a:latin typeface="等线" panose="02010600030101010101" pitchFamily="2" charset="-122"/>
                  <a:ea typeface="等线" panose="02010600030101010101" pitchFamily="2" charset="-122"/>
                </a:rPr>
                <a:t>AS1</a:t>
              </a:r>
              <a:endParaRPr lang="zh-CN" altLang="en-US" sz="2000" dirty="0">
                <a:solidFill>
                  <a:schemeClr val="bg1"/>
                </a:solidFill>
                <a:latin typeface="等线" panose="02010600030101010101" pitchFamily="2" charset="-122"/>
                <a:ea typeface="等线" panose="02010600030101010101" pitchFamily="2" charset="-122"/>
              </a:endParaRPr>
            </a:p>
          </p:txBody>
        </p:sp>
        <p:sp>
          <p:nvSpPr>
            <p:cNvPr id="63" name="文本框 62">
              <a:extLst>
                <a:ext uri="{FF2B5EF4-FFF2-40B4-BE49-F238E27FC236}">
                  <a16:creationId xmlns:a16="http://schemas.microsoft.com/office/drawing/2014/main" id="{EBDFDEF2-9D2A-4720-9E9B-32B1435F72A8}"/>
                </a:ext>
              </a:extLst>
            </p:cNvPr>
            <p:cNvSpPr txBox="1"/>
            <p:nvPr/>
          </p:nvSpPr>
          <p:spPr>
            <a:xfrm>
              <a:off x="9858967" y="1491394"/>
              <a:ext cx="755718" cy="400110"/>
            </a:xfrm>
            <a:prstGeom prst="rect">
              <a:avLst/>
            </a:prstGeom>
            <a:solidFill>
              <a:srgbClr val="5B307E"/>
            </a:solidFill>
          </p:spPr>
          <p:txBody>
            <a:bodyPr wrap="square" rtlCol="0">
              <a:spAutoFit/>
            </a:bodyPr>
            <a:lstStyle>
              <a:defPPr>
                <a:defRPr lang="zh-CN"/>
              </a:defPPr>
              <a:lvl1pPr algn="ctr">
                <a:defRPr sz="2000">
                  <a:solidFill>
                    <a:schemeClr val="bg1"/>
                  </a:solidFill>
                  <a:latin typeface="微软雅黑" panose="020B0503020204020204" pitchFamily="34" charset="-122"/>
                  <a:ea typeface="微软雅黑" panose="020B0503020204020204" pitchFamily="34" charset="-122"/>
                </a:defRPr>
              </a:lvl1pPr>
            </a:lstStyle>
            <a:p>
              <a:r>
                <a:rPr lang="en-US" altLang="zh-CN" dirty="0">
                  <a:latin typeface="等线" panose="02010600030101010101" pitchFamily="2" charset="-122"/>
                  <a:ea typeface="等线" panose="02010600030101010101" pitchFamily="2" charset="-122"/>
                </a:rPr>
                <a:t>AS2</a:t>
              </a:r>
              <a:endParaRPr lang="zh-CN" altLang="en-US" dirty="0">
                <a:latin typeface="等线" panose="02010600030101010101" pitchFamily="2" charset="-122"/>
                <a:ea typeface="等线" panose="02010600030101010101" pitchFamily="2" charset="-122"/>
              </a:endParaRPr>
            </a:p>
          </p:txBody>
        </p:sp>
        <p:sp>
          <p:nvSpPr>
            <p:cNvPr id="64" name="文本框 61">
              <a:extLst>
                <a:ext uri="{FF2B5EF4-FFF2-40B4-BE49-F238E27FC236}">
                  <a16:creationId xmlns:a16="http://schemas.microsoft.com/office/drawing/2014/main" id="{4394B444-C7E2-4AFE-A4E8-3BC3E29702A8}"/>
                </a:ext>
              </a:extLst>
            </p:cNvPr>
            <p:cNvSpPr txBox="1"/>
            <p:nvPr/>
          </p:nvSpPr>
          <p:spPr>
            <a:xfrm>
              <a:off x="10611732" y="5507365"/>
              <a:ext cx="779765" cy="400110"/>
            </a:xfrm>
            <a:prstGeom prst="rect">
              <a:avLst/>
            </a:prstGeom>
            <a:solidFill>
              <a:srgbClr val="5B307E"/>
            </a:solidFill>
          </p:spPr>
          <p:txBody>
            <a:bodyPr wrap="square" rtlCol="0">
              <a:spAutoFit/>
            </a:bodyPr>
            <a:lstStyle>
              <a:defPPr>
                <a:defRPr lang="zh-CN"/>
              </a:defPPr>
              <a:lvl1pPr algn="ctr">
                <a:defRPr sz="2000">
                  <a:solidFill>
                    <a:schemeClr val="bg1"/>
                  </a:solidFill>
                  <a:latin typeface="微软雅黑" panose="020B0503020204020204" pitchFamily="34" charset="-122"/>
                  <a:ea typeface="微软雅黑" panose="020B0503020204020204" pitchFamily="34" charset="-122"/>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等线" panose="02010600030101010101" pitchFamily="2" charset="-122"/>
                  <a:ea typeface="等线" panose="02010600030101010101" pitchFamily="2" charset="-122"/>
                </a:rPr>
                <a:t>AS3</a:t>
              </a:r>
              <a:endParaRPr lang="zh-CN" altLang="en-US" dirty="0">
                <a:latin typeface="等线" panose="02010600030101010101" pitchFamily="2" charset="-122"/>
                <a:ea typeface="等线" panose="02010600030101010101" pitchFamily="2" charset="-122"/>
              </a:endParaRPr>
            </a:p>
          </p:txBody>
        </p:sp>
      </p:grpSp>
      <p:sp>
        <p:nvSpPr>
          <p:cNvPr id="2" name="标题 1">
            <a:extLst>
              <a:ext uri="{FF2B5EF4-FFF2-40B4-BE49-F238E27FC236}">
                <a16:creationId xmlns:a16="http://schemas.microsoft.com/office/drawing/2014/main" id="{DD2DBD97-4939-44A8-B217-00F3A14EC49A}"/>
              </a:ext>
            </a:extLst>
          </p:cNvPr>
          <p:cNvSpPr>
            <a:spLocks noGrp="1"/>
          </p:cNvSpPr>
          <p:nvPr>
            <p:ph type="title"/>
          </p:nvPr>
        </p:nvSpPr>
        <p:spPr/>
        <p:txBody>
          <a:bodyPr/>
          <a:lstStyle/>
          <a:p>
            <a:r>
              <a:rPr lang="zh-CN" altLang="en-US" dirty="0"/>
              <a:t>层次路由</a:t>
            </a:r>
            <a:r>
              <a:rPr lang="en-US" altLang="zh-CN" dirty="0"/>
              <a:t>-</a:t>
            </a:r>
            <a:r>
              <a:rPr lang="zh-CN" altLang="en-US" dirty="0"/>
              <a:t>效果</a:t>
            </a:r>
          </a:p>
        </p:txBody>
      </p:sp>
      <p:sp>
        <p:nvSpPr>
          <p:cNvPr id="4" name="灯片编号占位符 3">
            <a:extLst>
              <a:ext uri="{FF2B5EF4-FFF2-40B4-BE49-F238E27FC236}">
                <a16:creationId xmlns:a16="http://schemas.microsoft.com/office/drawing/2014/main" id="{250DB378-8AFF-4455-B446-EB7FC9400454}"/>
              </a:ext>
            </a:extLst>
          </p:cNvPr>
          <p:cNvSpPr>
            <a:spLocks noGrp="1"/>
          </p:cNvSpPr>
          <p:nvPr>
            <p:ph type="sldNum" sz="quarter" idx="12"/>
          </p:nvPr>
        </p:nvSpPr>
        <p:spPr/>
        <p:txBody>
          <a:bodyPr/>
          <a:lstStyle/>
          <a:p>
            <a:fld id="{8D4D1E41-7A09-AB4A-A4E1-09765ADA2698}" type="slidenum">
              <a:rPr kumimoji="1" lang="zh-CN" altLang="en-US" smtClean="0"/>
              <a:pPr/>
              <a:t>80</a:t>
            </a:fld>
            <a:endParaRPr kumimoji="1" lang="zh-CN" altLang="en-US" dirty="0"/>
          </a:p>
        </p:txBody>
      </p:sp>
      <p:sp>
        <p:nvSpPr>
          <p:cNvPr id="6" name="文本框 5">
            <a:extLst>
              <a:ext uri="{FF2B5EF4-FFF2-40B4-BE49-F238E27FC236}">
                <a16:creationId xmlns:a16="http://schemas.microsoft.com/office/drawing/2014/main" id="{7694E64A-8A92-4B3F-92CC-17D30A04134A}"/>
              </a:ext>
            </a:extLst>
          </p:cNvPr>
          <p:cNvSpPr txBox="1"/>
          <p:nvPr/>
        </p:nvSpPr>
        <p:spPr>
          <a:xfrm>
            <a:off x="8142694" y="1885752"/>
            <a:ext cx="470000" cy="369332"/>
          </a:xfrm>
          <a:prstGeom prst="rect">
            <a:avLst/>
          </a:prstGeom>
          <a:noFill/>
        </p:spPr>
        <p:txBody>
          <a:bodyPr wrap="square" rtlCol="0">
            <a:spAutoFit/>
          </a:bodyPr>
          <a:lstStyle/>
          <a:p>
            <a:r>
              <a:rPr lang="en-US" altLang="zh-CN" dirty="0">
                <a:latin typeface="等线" panose="02010600030101010101" pitchFamily="2" charset="-122"/>
                <a:ea typeface="等线" panose="02010600030101010101" pitchFamily="2" charset="-122"/>
              </a:rPr>
              <a:t>R1</a:t>
            </a:r>
            <a:endParaRPr lang="zh-CN" altLang="en-US" dirty="0">
              <a:latin typeface="等线" panose="02010600030101010101" pitchFamily="2" charset="-122"/>
              <a:ea typeface="等线" panose="02010600030101010101" pitchFamily="2" charset="-122"/>
            </a:endParaRPr>
          </a:p>
        </p:txBody>
      </p:sp>
      <p:graphicFrame>
        <p:nvGraphicFramePr>
          <p:cNvPr id="7" name="表格 6">
            <a:extLst>
              <a:ext uri="{FF2B5EF4-FFF2-40B4-BE49-F238E27FC236}">
                <a16:creationId xmlns:a16="http://schemas.microsoft.com/office/drawing/2014/main" id="{9F10A187-AF22-45AD-A3B3-1AD0F6367215}"/>
              </a:ext>
            </a:extLst>
          </p:cNvPr>
          <p:cNvGraphicFramePr>
            <a:graphicFrameLocks noGrp="1"/>
          </p:cNvGraphicFramePr>
          <p:nvPr/>
        </p:nvGraphicFramePr>
        <p:xfrm>
          <a:off x="3484811" y="3741927"/>
          <a:ext cx="3900220" cy="2377440"/>
        </p:xfrm>
        <a:graphic>
          <a:graphicData uri="http://schemas.openxmlformats.org/drawingml/2006/table">
            <a:tbl>
              <a:tblPr firstRow="1" bandRow="1">
                <a:tableStyleId>{5C22544A-7EE6-4342-B048-85BDC9FD1C3A}</a:tableStyleId>
              </a:tblPr>
              <a:tblGrid>
                <a:gridCol w="2410784">
                  <a:extLst>
                    <a:ext uri="{9D8B030D-6E8A-4147-A177-3AD203B41FA5}">
                      <a16:colId xmlns:a16="http://schemas.microsoft.com/office/drawing/2014/main" val="900945486"/>
                    </a:ext>
                  </a:extLst>
                </a:gridCol>
                <a:gridCol w="1489436">
                  <a:extLst>
                    <a:ext uri="{9D8B030D-6E8A-4147-A177-3AD203B41FA5}">
                      <a16:colId xmlns:a16="http://schemas.microsoft.com/office/drawing/2014/main" val="2179439050"/>
                    </a:ext>
                  </a:extLst>
                </a:gridCol>
              </a:tblGrid>
              <a:tr h="259891">
                <a:tc>
                  <a:txBody>
                    <a:bodyPr/>
                    <a:lstStyle/>
                    <a:p>
                      <a:pPr algn="ctr"/>
                      <a:r>
                        <a:rPr lang="zh-CN" altLang="en-US" sz="2000" dirty="0">
                          <a:solidFill>
                            <a:schemeClr val="tx1"/>
                          </a:solidFill>
                          <a:latin typeface="等线" panose="02010600030101010101" pitchFamily="2" charset="-122"/>
                          <a:ea typeface="等线" panose="02010600030101010101" pitchFamily="2" charset="-122"/>
                        </a:rPr>
                        <a:t>目的地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tc>
                  <a:txBody>
                    <a:bodyPr/>
                    <a:lstStyle/>
                    <a:p>
                      <a:pPr algn="ctr"/>
                      <a:r>
                        <a:rPr lang="zh-CN" altLang="en-US" sz="2000" dirty="0">
                          <a:solidFill>
                            <a:schemeClr val="tx1"/>
                          </a:solidFill>
                          <a:latin typeface="等线" panose="02010600030101010101" pitchFamily="2" charset="-122"/>
                          <a:ea typeface="等线" panose="02010600030101010101" pitchFamily="2" charset="-122"/>
                        </a:rPr>
                        <a:t>下一跳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extLst>
                  <a:ext uri="{0D108BD9-81ED-4DB2-BD59-A6C34878D82A}">
                    <a16:rowId xmlns:a16="http://schemas.microsoft.com/office/drawing/2014/main" val="1912889480"/>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8380967"/>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R2</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3619522"/>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N3</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R2</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1165606"/>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AS2</a:t>
                      </a:r>
                      <a:r>
                        <a:rPr lang="zh-CN" altLang="en-US" sz="2000" dirty="0">
                          <a:solidFill>
                            <a:schemeClr val="tx1"/>
                          </a:solidFill>
                          <a:latin typeface="等线" panose="02010600030101010101" pitchFamily="2" charset="-122"/>
                          <a:ea typeface="等线" panose="02010600030101010101" pitchFamily="2" charset="-122"/>
                        </a:rPr>
                        <a:t>内的所有网络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54329233"/>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AS3</a:t>
                      </a:r>
                      <a:r>
                        <a:rPr lang="zh-CN" altLang="en-US" sz="2000" dirty="0">
                          <a:solidFill>
                            <a:schemeClr val="tx1"/>
                          </a:solidFill>
                          <a:latin typeface="等线" panose="02010600030101010101" pitchFamily="2" charset="-122"/>
                          <a:ea typeface="等线" panose="02010600030101010101" pitchFamily="2" charset="-122"/>
                        </a:rPr>
                        <a:t>内的所有网络</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79415169"/>
                  </a:ext>
                </a:extLst>
              </a:tr>
            </a:tbl>
          </a:graphicData>
        </a:graphic>
      </p:graphicFrame>
      <p:cxnSp>
        <p:nvCxnSpPr>
          <p:cNvPr id="11" name="直接连接符 10">
            <a:extLst>
              <a:ext uri="{FF2B5EF4-FFF2-40B4-BE49-F238E27FC236}">
                <a16:creationId xmlns:a16="http://schemas.microsoft.com/office/drawing/2014/main" id="{4A456758-A134-4F20-BCEE-41DB24B64FC9}"/>
              </a:ext>
            </a:extLst>
          </p:cNvPr>
          <p:cNvCxnSpPr>
            <a:cxnSpLocks/>
          </p:cNvCxnSpPr>
          <p:nvPr/>
        </p:nvCxnSpPr>
        <p:spPr>
          <a:xfrm>
            <a:off x="9957089" y="2798664"/>
            <a:ext cx="802603" cy="66564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18" name="文本框 17">
            <a:extLst>
              <a:ext uri="{FF2B5EF4-FFF2-40B4-BE49-F238E27FC236}">
                <a16:creationId xmlns:a16="http://schemas.microsoft.com/office/drawing/2014/main" id="{430BC5FB-4AF5-4789-BFD4-9D1761F4C05C}"/>
              </a:ext>
            </a:extLst>
          </p:cNvPr>
          <p:cNvSpPr txBox="1"/>
          <p:nvPr/>
        </p:nvSpPr>
        <p:spPr>
          <a:xfrm>
            <a:off x="10804552" y="2986596"/>
            <a:ext cx="678086" cy="369332"/>
          </a:xfrm>
          <a:prstGeom prst="rect">
            <a:avLst/>
          </a:prstGeom>
          <a:noFill/>
        </p:spPr>
        <p:txBody>
          <a:bodyPr wrap="square" rtlCol="0">
            <a:spAutoFit/>
          </a:bodyPr>
          <a:lstStyle/>
          <a:p>
            <a:r>
              <a:rPr lang="en-US" altLang="zh-CN" dirty="0">
                <a:latin typeface="等线" panose="02010600030101010101" pitchFamily="2" charset="-122"/>
                <a:ea typeface="等线" panose="02010600030101010101" pitchFamily="2" charset="-122"/>
              </a:rPr>
              <a:t>R5</a:t>
            </a:r>
            <a:endParaRPr lang="zh-CN" altLang="en-US" dirty="0">
              <a:latin typeface="等线" panose="02010600030101010101" pitchFamily="2" charset="-122"/>
              <a:ea typeface="等线" panose="02010600030101010101" pitchFamily="2" charset="-122"/>
            </a:endParaRPr>
          </a:p>
        </p:txBody>
      </p:sp>
      <p:cxnSp>
        <p:nvCxnSpPr>
          <p:cNvPr id="20" name="直接连接符 19">
            <a:extLst>
              <a:ext uri="{FF2B5EF4-FFF2-40B4-BE49-F238E27FC236}">
                <a16:creationId xmlns:a16="http://schemas.microsoft.com/office/drawing/2014/main" id="{BC080B23-6717-4C75-B73E-E3A618C666F9}"/>
              </a:ext>
            </a:extLst>
          </p:cNvPr>
          <p:cNvCxnSpPr>
            <a:cxnSpLocks/>
          </p:cNvCxnSpPr>
          <p:nvPr/>
        </p:nvCxnSpPr>
        <p:spPr>
          <a:xfrm>
            <a:off x="7010728" y="2094303"/>
            <a:ext cx="1276740" cy="30346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23" name="文本框 22">
            <a:extLst>
              <a:ext uri="{FF2B5EF4-FFF2-40B4-BE49-F238E27FC236}">
                <a16:creationId xmlns:a16="http://schemas.microsoft.com/office/drawing/2014/main" id="{62DCD93C-1521-437D-8D94-3C6AAA27436A}"/>
              </a:ext>
            </a:extLst>
          </p:cNvPr>
          <p:cNvSpPr txBox="1"/>
          <p:nvPr/>
        </p:nvSpPr>
        <p:spPr>
          <a:xfrm>
            <a:off x="6868748" y="1590503"/>
            <a:ext cx="470000" cy="369332"/>
          </a:xfrm>
          <a:prstGeom prst="rect">
            <a:avLst/>
          </a:prstGeom>
          <a:noFill/>
        </p:spPr>
        <p:txBody>
          <a:bodyPr wrap="square" rtlCol="0">
            <a:spAutoFit/>
          </a:bodyPr>
          <a:lstStyle/>
          <a:p>
            <a:r>
              <a:rPr lang="en-US" altLang="zh-CN" dirty="0">
                <a:latin typeface="等线" panose="02010600030101010101" pitchFamily="2" charset="-122"/>
                <a:ea typeface="等线" panose="02010600030101010101" pitchFamily="2" charset="-122"/>
              </a:rPr>
              <a:t>R2</a:t>
            </a:r>
            <a:endParaRPr lang="zh-CN" altLang="en-US" dirty="0">
              <a:latin typeface="等线" panose="02010600030101010101" pitchFamily="2" charset="-122"/>
              <a:ea typeface="等线" panose="02010600030101010101" pitchFamily="2" charset="-122"/>
            </a:endParaRPr>
          </a:p>
        </p:txBody>
      </p:sp>
      <p:cxnSp>
        <p:nvCxnSpPr>
          <p:cNvPr id="29" name="直接连接符 28">
            <a:extLst>
              <a:ext uri="{FF2B5EF4-FFF2-40B4-BE49-F238E27FC236}">
                <a16:creationId xmlns:a16="http://schemas.microsoft.com/office/drawing/2014/main" id="{2F5F3861-9044-408A-9051-57EFB04A58C4}"/>
              </a:ext>
            </a:extLst>
          </p:cNvPr>
          <p:cNvCxnSpPr>
            <a:cxnSpLocks/>
          </p:cNvCxnSpPr>
          <p:nvPr/>
        </p:nvCxnSpPr>
        <p:spPr>
          <a:xfrm>
            <a:off x="8475665" y="2461480"/>
            <a:ext cx="1441134" cy="27900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0" name="文本框 29">
            <a:extLst>
              <a:ext uri="{FF2B5EF4-FFF2-40B4-BE49-F238E27FC236}">
                <a16:creationId xmlns:a16="http://schemas.microsoft.com/office/drawing/2014/main" id="{6D187782-2089-4070-96E3-646FA056E0A6}"/>
              </a:ext>
            </a:extLst>
          </p:cNvPr>
          <p:cNvSpPr txBox="1"/>
          <p:nvPr/>
        </p:nvSpPr>
        <p:spPr>
          <a:xfrm>
            <a:off x="9707198" y="2907291"/>
            <a:ext cx="470000" cy="369332"/>
          </a:xfrm>
          <a:prstGeom prst="rect">
            <a:avLst/>
          </a:prstGeom>
          <a:noFill/>
        </p:spPr>
        <p:txBody>
          <a:bodyPr wrap="square" rtlCol="0">
            <a:spAutoFit/>
          </a:bodyPr>
          <a:lstStyle/>
          <a:p>
            <a:r>
              <a:rPr lang="en-US" altLang="zh-CN" dirty="0">
                <a:latin typeface="等线" panose="02010600030101010101" pitchFamily="2" charset="-122"/>
                <a:ea typeface="等线" panose="02010600030101010101" pitchFamily="2" charset="-122"/>
              </a:rPr>
              <a:t>R3</a:t>
            </a:r>
            <a:endParaRPr lang="zh-CN" altLang="en-US" dirty="0">
              <a:latin typeface="等线" panose="02010600030101010101" pitchFamily="2" charset="-122"/>
              <a:ea typeface="等线" panose="02010600030101010101" pitchFamily="2" charset="-122"/>
            </a:endParaRPr>
          </a:p>
        </p:txBody>
      </p:sp>
      <p:cxnSp>
        <p:nvCxnSpPr>
          <p:cNvPr id="38" name="直接连接符 37">
            <a:extLst>
              <a:ext uri="{FF2B5EF4-FFF2-40B4-BE49-F238E27FC236}">
                <a16:creationId xmlns:a16="http://schemas.microsoft.com/office/drawing/2014/main" id="{9D6FF6C8-7CB2-4B8D-B235-E9CF18AC6297}"/>
              </a:ext>
            </a:extLst>
          </p:cNvPr>
          <p:cNvCxnSpPr>
            <a:cxnSpLocks/>
          </p:cNvCxnSpPr>
          <p:nvPr/>
        </p:nvCxnSpPr>
        <p:spPr>
          <a:xfrm flipV="1">
            <a:off x="7863665" y="2421652"/>
            <a:ext cx="536700" cy="53426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5" name="文本框 44">
            <a:extLst>
              <a:ext uri="{FF2B5EF4-FFF2-40B4-BE49-F238E27FC236}">
                <a16:creationId xmlns:a16="http://schemas.microsoft.com/office/drawing/2014/main" id="{C225483C-BFB4-4064-B28C-EB3DD2BF577F}"/>
              </a:ext>
            </a:extLst>
          </p:cNvPr>
          <p:cNvSpPr txBox="1"/>
          <p:nvPr/>
        </p:nvSpPr>
        <p:spPr>
          <a:xfrm>
            <a:off x="7515075" y="3177563"/>
            <a:ext cx="616940" cy="369332"/>
          </a:xfrm>
          <a:prstGeom prst="rect">
            <a:avLst/>
          </a:prstGeom>
          <a:noFill/>
        </p:spPr>
        <p:txBody>
          <a:bodyPr wrap="square" rtlCol="0">
            <a:spAutoFit/>
          </a:bodyPr>
          <a:lstStyle/>
          <a:p>
            <a:r>
              <a:rPr lang="en-US" altLang="zh-CN" b="1" dirty="0">
                <a:solidFill>
                  <a:srgbClr val="C00000"/>
                </a:solidFill>
                <a:latin typeface="等线" panose="02010600030101010101" pitchFamily="2" charset="-122"/>
                <a:ea typeface="等线" panose="02010600030101010101" pitchFamily="2" charset="-122"/>
              </a:rPr>
              <a:t>R4</a:t>
            </a:r>
            <a:endParaRPr lang="zh-CN" altLang="en-US" b="1" dirty="0">
              <a:solidFill>
                <a:srgbClr val="C00000"/>
              </a:solidFill>
              <a:latin typeface="等线" panose="02010600030101010101" pitchFamily="2" charset="-122"/>
              <a:ea typeface="等线" panose="02010600030101010101" pitchFamily="2" charset="-122"/>
            </a:endParaRPr>
          </a:p>
        </p:txBody>
      </p:sp>
      <p:pic>
        <p:nvPicPr>
          <p:cNvPr id="46" name="Picture 57" descr="通用路由器">
            <a:extLst>
              <a:ext uri="{FF2B5EF4-FFF2-40B4-BE49-F238E27FC236}">
                <a16:creationId xmlns:a16="http://schemas.microsoft.com/office/drawing/2014/main" id="{B64D3245-8F64-478F-921A-6A29621979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90712" y="2186095"/>
            <a:ext cx="542859" cy="400111"/>
          </a:xfrm>
          <a:prstGeom prst="rect">
            <a:avLst/>
          </a:prstGeom>
          <a:noFill/>
          <a:extLst>
            <a:ext uri="{909E8E84-426E-40DD-AFC4-6F175D3DCCD1}">
              <a14:hiddenFill xmlns:a14="http://schemas.microsoft.com/office/drawing/2010/main">
                <a:solidFill>
                  <a:srgbClr val="FFFFFF"/>
                </a:solidFill>
              </a14:hiddenFill>
            </a:ext>
          </a:extLst>
        </p:spPr>
      </p:pic>
      <p:cxnSp>
        <p:nvCxnSpPr>
          <p:cNvPr id="52" name="直接连接符 51">
            <a:extLst>
              <a:ext uri="{FF2B5EF4-FFF2-40B4-BE49-F238E27FC236}">
                <a16:creationId xmlns:a16="http://schemas.microsoft.com/office/drawing/2014/main" id="{394881C2-34CE-4C5A-B022-42E5E735E905}"/>
              </a:ext>
            </a:extLst>
          </p:cNvPr>
          <p:cNvCxnSpPr>
            <a:cxnSpLocks/>
          </p:cNvCxnSpPr>
          <p:nvPr/>
        </p:nvCxnSpPr>
        <p:spPr>
          <a:xfrm flipV="1">
            <a:off x="10220740" y="3482042"/>
            <a:ext cx="840804" cy="103220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56" name="直接连接符 55">
            <a:extLst>
              <a:ext uri="{FF2B5EF4-FFF2-40B4-BE49-F238E27FC236}">
                <a16:creationId xmlns:a16="http://schemas.microsoft.com/office/drawing/2014/main" id="{E229A0A2-066D-4F53-B08C-0C68C1D0D8EB}"/>
              </a:ext>
            </a:extLst>
          </p:cNvPr>
          <p:cNvCxnSpPr>
            <a:cxnSpLocks/>
          </p:cNvCxnSpPr>
          <p:nvPr/>
        </p:nvCxnSpPr>
        <p:spPr>
          <a:xfrm flipH="1">
            <a:off x="9585609" y="4445513"/>
            <a:ext cx="410954" cy="65513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48" name="Picture 57" descr="通用路由器">
            <a:extLst>
              <a:ext uri="{FF2B5EF4-FFF2-40B4-BE49-F238E27FC236}">
                <a16:creationId xmlns:a16="http://schemas.microsoft.com/office/drawing/2014/main" id="{8F9D2846-6819-4385-8C0D-B12586E473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14366" y="4377005"/>
            <a:ext cx="542859" cy="400111"/>
          </a:xfrm>
          <a:prstGeom prst="rect">
            <a:avLst/>
          </a:prstGeom>
          <a:noFill/>
          <a:extLst>
            <a:ext uri="{909E8E84-426E-40DD-AFC4-6F175D3DCCD1}">
              <a14:hiddenFill xmlns:a14="http://schemas.microsoft.com/office/drawing/2010/main">
                <a:solidFill>
                  <a:srgbClr val="FFFFFF"/>
                </a:solidFill>
              </a14:hiddenFill>
            </a:ext>
          </a:extLst>
        </p:spPr>
      </p:pic>
      <p:sp>
        <p:nvSpPr>
          <p:cNvPr id="59" name="文本框 58">
            <a:extLst>
              <a:ext uri="{FF2B5EF4-FFF2-40B4-BE49-F238E27FC236}">
                <a16:creationId xmlns:a16="http://schemas.microsoft.com/office/drawing/2014/main" id="{E14C59CA-B9F1-47DA-9366-D1B458531D87}"/>
              </a:ext>
            </a:extLst>
          </p:cNvPr>
          <p:cNvSpPr txBox="1"/>
          <p:nvPr/>
        </p:nvSpPr>
        <p:spPr>
          <a:xfrm>
            <a:off x="10271904" y="4481105"/>
            <a:ext cx="470000" cy="369332"/>
          </a:xfrm>
          <a:prstGeom prst="rect">
            <a:avLst/>
          </a:prstGeom>
          <a:noFill/>
        </p:spPr>
        <p:txBody>
          <a:bodyPr wrap="square" rtlCol="0">
            <a:spAutoFit/>
          </a:bodyPr>
          <a:lstStyle/>
          <a:p>
            <a:r>
              <a:rPr lang="en-US" altLang="zh-CN" dirty="0">
                <a:latin typeface="等线" panose="02010600030101010101" pitchFamily="2" charset="-122"/>
                <a:ea typeface="等线" panose="02010600030101010101" pitchFamily="2" charset="-122"/>
              </a:rPr>
              <a:t>R7</a:t>
            </a:r>
            <a:endParaRPr lang="zh-CN" altLang="en-US" dirty="0">
              <a:latin typeface="等线" panose="02010600030101010101" pitchFamily="2" charset="-122"/>
              <a:ea typeface="等线" panose="02010600030101010101" pitchFamily="2" charset="-122"/>
            </a:endParaRPr>
          </a:p>
        </p:txBody>
      </p:sp>
      <p:sp>
        <p:nvSpPr>
          <p:cNvPr id="61" name="文本框 60">
            <a:extLst>
              <a:ext uri="{FF2B5EF4-FFF2-40B4-BE49-F238E27FC236}">
                <a16:creationId xmlns:a16="http://schemas.microsoft.com/office/drawing/2014/main" id="{4E8DCEB8-63F1-4452-8564-820BCA455C0D}"/>
              </a:ext>
            </a:extLst>
          </p:cNvPr>
          <p:cNvSpPr txBox="1"/>
          <p:nvPr/>
        </p:nvSpPr>
        <p:spPr>
          <a:xfrm>
            <a:off x="9240043" y="5373673"/>
            <a:ext cx="470000" cy="369332"/>
          </a:xfrm>
          <a:prstGeom prst="rect">
            <a:avLst/>
          </a:prstGeom>
          <a:noFill/>
        </p:spPr>
        <p:txBody>
          <a:bodyPr wrap="square" rtlCol="0">
            <a:spAutoFit/>
          </a:bodyPr>
          <a:lstStyle/>
          <a:p>
            <a:r>
              <a:rPr lang="en-US" altLang="zh-CN" dirty="0">
                <a:latin typeface="等线" panose="02010600030101010101" pitchFamily="2" charset="-122"/>
                <a:ea typeface="等线" panose="02010600030101010101" pitchFamily="2" charset="-122"/>
              </a:rPr>
              <a:t>R8</a:t>
            </a:r>
            <a:endParaRPr lang="zh-CN" altLang="en-US" dirty="0">
              <a:latin typeface="等线" panose="02010600030101010101" pitchFamily="2" charset="-122"/>
              <a:ea typeface="等线" panose="02010600030101010101" pitchFamily="2" charset="-122"/>
            </a:endParaRPr>
          </a:p>
        </p:txBody>
      </p:sp>
      <p:cxnSp>
        <p:nvCxnSpPr>
          <p:cNvPr id="65" name="直接连接符 64">
            <a:extLst>
              <a:ext uri="{FF2B5EF4-FFF2-40B4-BE49-F238E27FC236}">
                <a16:creationId xmlns:a16="http://schemas.microsoft.com/office/drawing/2014/main" id="{9DB14F80-4B5E-4A53-9BDE-5447302C54AA}"/>
              </a:ext>
            </a:extLst>
          </p:cNvPr>
          <p:cNvCxnSpPr>
            <a:cxnSpLocks/>
          </p:cNvCxnSpPr>
          <p:nvPr/>
        </p:nvCxnSpPr>
        <p:spPr>
          <a:xfrm flipH="1" flipV="1">
            <a:off x="7036982" y="2131584"/>
            <a:ext cx="718680" cy="82937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44" name="Picture 57" descr="通用路由器">
            <a:extLst>
              <a:ext uri="{FF2B5EF4-FFF2-40B4-BE49-F238E27FC236}">
                <a16:creationId xmlns:a16="http://schemas.microsoft.com/office/drawing/2014/main" id="{CBF6B37D-1D8C-4BF8-94D6-EFBBD8CD2F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93199" y="2810798"/>
            <a:ext cx="542859" cy="400111"/>
          </a:xfrm>
          <a:prstGeom prst="rect">
            <a:avLst/>
          </a:prstGeom>
          <a:noFill/>
          <a:extLst>
            <a:ext uri="{909E8E84-426E-40DD-AFC4-6F175D3DCCD1}">
              <a14:hiddenFill xmlns:a14="http://schemas.microsoft.com/office/drawing/2010/main">
                <a:solidFill>
                  <a:srgbClr val="FFFFFF"/>
                </a:solidFill>
              </a14:hiddenFill>
            </a:ext>
          </a:extLst>
        </p:spPr>
      </p:pic>
      <p:sp>
        <p:nvSpPr>
          <p:cNvPr id="69" name="文本框 68">
            <a:extLst>
              <a:ext uri="{FF2B5EF4-FFF2-40B4-BE49-F238E27FC236}">
                <a16:creationId xmlns:a16="http://schemas.microsoft.com/office/drawing/2014/main" id="{FE92C12E-0DC0-484D-8EE0-8FB13A6569F0}"/>
              </a:ext>
            </a:extLst>
          </p:cNvPr>
          <p:cNvSpPr txBox="1"/>
          <p:nvPr/>
        </p:nvSpPr>
        <p:spPr>
          <a:xfrm>
            <a:off x="4863965" y="3228945"/>
            <a:ext cx="1527982" cy="400110"/>
          </a:xfrm>
          <a:prstGeom prst="rect">
            <a:avLst/>
          </a:prstGeom>
          <a:noFill/>
        </p:spPr>
        <p:txBody>
          <a:bodyPr wrap="none" rtlCol="0">
            <a:spAutoFit/>
          </a:bodyPr>
          <a:lstStyle/>
          <a:p>
            <a:r>
              <a:rPr lang="en-US" altLang="zh-CN" sz="2000" dirty="0">
                <a:solidFill>
                  <a:srgbClr val="C00000"/>
                </a:solidFill>
                <a:latin typeface="等线" panose="02010600030101010101" pitchFamily="2" charset="-122"/>
                <a:ea typeface="等线" panose="02010600030101010101" pitchFamily="2" charset="-122"/>
              </a:rPr>
              <a:t>R4</a:t>
            </a:r>
            <a:r>
              <a:rPr lang="zh-CN" altLang="en-US" sz="2000" dirty="0">
                <a:solidFill>
                  <a:srgbClr val="C00000"/>
                </a:solidFill>
                <a:latin typeface="等线" panose="02010600030101010101" pitchFamily="2" charset="-122"/>
                <a:ea typeface="等线" panose="02010600030101010101" pitchFamily="2" charset="-122"/>
              </a:rPr>
              <a:t>的层次表</a:t>
            </a:r>
          </a:p>
        </p:txBody>
      </p:sp>
      <p:graphicFrame>
        <p:nvGraphicFramePr>
          <p:cNvPr id="78" name="表格 77">
            <a:extLst>
              <a:ext uri="{FF2B5EF4-FFF2-40B4-BE49-F238E27FC236}">
                <a16:creationId xmlns:a16="http://schemas.microsoft.com/office/drawing/2014/main" id="{A2A39912-A1D7-45FB-AE3C-C7BD180AFA3D}"/>
              </a:ext>
            </a:extLst>
          </p:cNvPr>
          <p:cNvGraphicFramePr>
            <a:graphicFrameLocks noGrp="1"/>
          </p:cNvGraphicFramePr>
          <p:nvPr/>
        </p:nvGraphicFramePr>
        <p:xfrm>
          <a:off x="1191545" y="2556849"/>
          <a:ext cx="2072368" cy="3566160"/>
        </p:xfrm>
        <a:graphic>
          <a:graphicData uri="http://schemas.openxmlformats.org/drawingml/2006/table">
            <a:tbl>
              <a:tblPr firstRow="1" bandRow="1">
                <a:tableStyleId>{5C22544A-7EE6-4342-B048-85BDC9FD1C3A}</a:tableStyleId>
              </a:tblPr>
              <a:tblGrid>
                <a:gridCol w="1036184">
                  <a:extLst>
                    <a:ext uri="{9D8B030D-6E8A-4147-A177-3AD203B41FA5}">
                      <a16:colId xmlns:a16="http://schemas.microsoft.com/office/drawing/2014/main" val="900945486"/>
                    </a:ext>
                  </a:extLst>
                </a:gridCol>
                <a:gridCol w="1036184">
                  <a:extLst>
                    <a:ext uri="{9D8B030D-6E8A-4147-A177-3AD203B41FA5}">
                      <a16:colId xmlns:a16="http://schemas.microsoft.com/office/drawing/2014/main" val="2179439050"/>
                    </a:ext>
                  </a:extLst>
                </a:gridCol>
              </a:tblGrid>
              <a:tr h="259891">
                <a:tc>
                  <a:txBody>
                    <a:bodyPr/>
                    <a:lstStyle/>
                    <a:p>
                      <a:pPr algn="ctr"/>
                      <a:r>
                        <a:rPr lang="zh-CN" altLang="en-US" sz="2000" dirty="0">
                          <a:solidFill>
                            <a:schemeClr val="tx1"/>
                          </a:solidFill>
                          <a:latin typeface="等线" panose="02010600030101010101" pitchFamily="2" charset="-122"/>
                          <a:ea typeface="等线" panose="02010600030101010101" pitchFamily="2" charset="-122"/>
                        </a:rPr>
                        <a:t>目的地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tc>
                  <a:txBody>
                    <a:bodyPr/>
                    <a:lstStyle/>
                    <a:p>
                      <a:pPr algn="ctr"/>
                      <a:r>
                        <a:rPr lang="zh-CN" altLang="en-US" sz="2000" dirty="0">
                          <a:solidFill>
                            <a:schemeClr val="tx1"/>
                          </a:solidFill>
                          <a:latin typeface="等线" panose="02010600030101010101" pitchFamily="2" charset="-122"/>
                          <a:ea typeface="等线" panose="02010600030101010101" pitchFamily="2" charset="-122"/>
                        </a:rPr>
                        <a:t>下一跳</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7D1E7"/>
                    </a:solidFill>
                  </a:tcPr>
                </a:tc>
                <a:extLst>
                  <a:ext uri="{0D108BD9-81ED-4DB2-BD59-A6C34878D82A}">
                    <a16:rowId xmlns:a16="http://schemas.microsoft.com/office/drawing/2014/main" val="1912889480"/>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8380967"/>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R2</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3619522"/>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N3</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R2</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754329233"/>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N4</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solidFill>
                            <a:schemeClr val="tx1"/>
                          </a:solidFill>
                          <a:latin typeface="等线" panose="02010600030101010101" pitchFamily="2" charset="-122"/>
                          <a:ea typeface="等线" panose="02010600030101010101" pitchFamily="2" charset="-122"/>
                        </a:rPr>
                        <a:t>R1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79415169"/>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N5</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7630344"/>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N6</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14574204"/>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N7</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221641"/>
                  </a:ext>
                </a:extLst>
              </a:tr>
              <a:tr h="259891">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N8</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2000" dirty="0">
                          <a:solidFill>
                            <a:schemeClr val="tx1"/>
                          </a:solidFill>
                          <a:latin typeface="等线" panose="02010600030101010101" pitchFamily="2" charset="-122"/>
                          <a:ea typeface="等线" panose="02010600030101010101" pitchFamily="2" charset="-122"/>
                        </a:rPr>
                        <a:t>R1</a:t>
                      </a:r>
                      <a:endParaRPr lang="zh-CN" altLang="en-US" sz="2000" dirty="0">
                        <a:solidFill>
                          <a:schemeClr val="tx1"/>
                        </a:solidFill>
                        <a:latin typeface="等线" panose="02010600030101010101" pitchFamily="2" charset="-122"/>
                        <a:ea typeface="等线" panose="02010600030101010101" pitchFamily="2" charset="-122"/>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23416028"/>
                  </a:ext>
                </a:extLst>
              </a:tr>
            </a:tbl>
          </a:graphicData>
        </a:graphic>
      </p:graphicFrame>
      <p:sp>
        <p:nvSpPr>
          <p:cNvPr id="79" name="文本框 78">
            <a:extLst>
              <a:ext uri="{FF2B5EF4-FFF2-40B4-BE49-F238E27FC236}">
                <a16:creationId xmlns:a16="http://schemas.microsoft.com/office/drawing/2014/main" id="{B197A831-9515-42F5-B2EC-E72EC35359F0}"/>
              </a:ext>
            </a:extLst>
          </p:cNvPr>
          <p:cNvSpPr txBox="1"/>
          <p:nvPr/>
        </p:nvSpPr>
        <p:spPr>
          <a:xfrm>
            <a:off x="981234" y="1742584"/>
            <a:ext cx="2492990" cy="707886"/>
          </a:xfrm>
          <a:prstGeom prst="rect">
            <a:avLst/>
          </a:prstGeom>
          <a:noFill/>
        </p:spPr>
        <p:txBody>
          <a:bodyPr wrap="none" rtlCol="0">
            <a:spAutoFit/>
          </a:bodyPr>
          <a:lstStyle/>
          <a:p>
            <a:pPr algn="ctr"/>
            <a:r>
              <a:rPr lang="zh-CN" altLang="en-US" sz="2000" dirty="0">
                <a:solidFill>
                  <a:srgbClr val="C00000"/>
                </a:solidFill>
                <a:latin typeface="等线" panose="02010600030101010101" pitchFamily="2" charset="-122"/>
                <a:ea typeface="等线" panose="02010600030101010101" pitchFamily="2" charset="-122"/>
              </a:rPr>
              <a:t>路由不分层的情况下</a:t>
            </a:r>
            <a:endParaRPr lang="en-US" altLang="zh-CN" sz="2000" dirty="0">
              <a:solidFill>
                <a:srgbClr val="C00000"/>
              </a:solidFill>
              <a:latin typeface="等线" panose="02010600030101010101" pitchFamily="2" charset="-122"/>
              <a:ea typeface="等线" panose="02010600030101010101" pitchFamily="2" charset="-122"/>
            </a:endParaRPr>
          </a:p>
          <a:p>
            <a:pPr algn="ctr"/>
            <a:r>
              <a:rPr lang="en-US" altLang="zh-CN" sz="2000" dirty="0">
                <a:solidFill>
                  <a:srgbClr val="C00000"/>
                </a:solidFill>
                <a:latin typeface="等线" panose="02010600030101010101" pitchFamily="2" charset="-122"/>
                <a:ea typeface="等线" panose="02010600030101010101" pitchFamily="2" charset="-122"/>
              </a:rPr>
              <a:t>R4</a:t>
            </a:r>
            <a:r>
              <a:rPr lang="zh-CN" altLang="en-US" sz="2000" dirty="0">
                <a:solidFill>
                  <a:srgbClr val="C00000"/>
                </a:solidFill>
                <a:latin typeface="等线" panose="02010600030101010101" pitchFamily="2" charset="-122"/>
                <a:ea typeface="等线" panose="02010600030101010101" pitchFamily="2" charset="-122"/>
              </a:rPr>
              <a:t>的路由表</a:t>
            </a:r>
          </a:p>
        </p:txBody>
      </p:sp>
      <p:cxnSp>
        <p:nvCxnSpPr>
          <p:cNvPr id="85" name="直接连接符 84">
            <a:extLst>
              <a:ext uri="{FF2B5EF4-FFF2-40B4-BE49-F238E27FC236}">
                <a16:creationId xmlns:a16="http://schemas.microsoft.com/office/drawing/2014/main" id="{36E4FA73-296F-4FCC-A564-3B57DFAC39FF}"/>
              </a:ext>
            </a:extLst>
          </p:cNvPr>
          <p:cNvCxnSpPr>
            <a:cxnSpLocks/>
          </p:cNvCxnSpPr>
          <p:nvPr/>
        </p:nvCxnSpPr>
        <p:spPr>
          <a:xfrm flipV="1">
            <a:off x="9585609" y="5257560"/>
            <a:ext cx="806225" cy="34995"/>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7" name="直接连接符 86">
            <a:extLst>
              <a:ext uri="{FF2B5EF4-FFF2-40B4-BE49-F238E27FC236}">
                <a16:creationId xmlns:a16="http://schemas.microsoft.com/office/drawing/2014/main" id="{E02745AF-A645-46E2-8E6E-7283804F9DDA}"/>
              </a:ext>
            </a:extLst>
          </p:cNvPr>
          <p:cNvCxnSpPr>
            <a:cxnSpLocks/>
          </p:cNvCxnSpPr>
          <p:nvPr/>
        </p:nvCxnSpPr>
        <p:spPr>
          <a:xfrm flipV="1">
            <a:off x="10033039" y="2260121"/>
            <a:ext cx="952802" cy="418577"/>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89" name="文本框 88">
            <a:extLst>
              <a:ext uri="{FF2B5EF4-FFF2-40B4-BE49-F238E27FC236}">
                <a16:creationId xmlns:a16="http://schemas.microsoft.com/office/drawing/2014/main" id="{505B9931-0B38-4959-B94A-772CB915EA52}"/>
              </a:ext>
            </a:extLst>
          </p:cNvPr>
          <p:cNvSpPr txBox="1"/>
          <p:nvPr/>
        </p:nvSpPr>
        <p:spPr>
          <a:xfrm>
            <a:off x="10824695" y="2364222"/>
            <a:ext cx="678086" cy="369332"/>
          </a:xfrm>
          <a:prstGeom prst="rect">
            <a:avLst/>
          </a:prstGeom>
          <a:noFill/>
        </p:spPr>
        <p:txBody>
          <a:bodyPr wrap="square" rtlCol="0">
            <a:spAutoFit/>
          </a:bodyPr>
          <a:lstStyle/>
          <a:p>
            <a:r>
              <a:rPr lang="en-US" altLang="zh-CN" dirty="0">
                <a:latin typeface="等线" panose="02010600030101010101" pitchFamily="2" charset="-122"/>
                <a:ea typeface="等线" panose="02010600030101010101" pitchFamily="2" charset="-122"/>
              </a:rPr>
              <a:t>R6</a:t>
            </a:r>
            <a:endParaRPr lang="zh-CN" altLang="en-US" dirty="0">
              <a:latin typeface="等线" panose="02010600030101010101" pitchFamily="2" charset="-122"/>
              <a:ea typeface="等线" panose="02010600030101010101" pitchFamily="2" charset="-122"/>
            </a:endParaRPr>
          </a:p>
        </p:txBody>
      </p:sp>
      <p:sp>
        <p:nvSpPr>
          <p:cNvPr id="90" name="文本框 89">
            <a:extLst>
              <a:ext uri="{FF2B5EF4-FFF2-40B4-BE49-F238E27FC236}">
                <a16:creationId xmlns:a16="http://schemas.microsoft.com/office/drawing/2014/main" id="{73822E21-2288-4F44-9510-4F3B51848484}"/>
              </a:ext>
            </a:extLst>
          </p:cNvPr>
          <p:cNvSpPr txBox="1"/>
          <p:nvPr/>
        </p:nvSpPr>
        <p:spPr>
          <a:xfrm>
            <a:off x="10418469" y="5354259"/>
            <a:ext cx="678086" cy="369332"/>
          </a:xfrm>
          <a:prstGeom prst="rect">
            <a:avLst/>
          </a:prstGeom>
          <a:noFill/>
        </p:spPr>
        <p:txBody>
          <a:bodyPr wrap="square" rtlCol="0">
            <a:spAutoFit/>
          </a:bodyPr>
          <a:lstStyle/>
          <a:p>
            <a:r>
              <a:rPr lang="en-US" altLang="zh-CN" dirty="0">
                <a:latin typeface="等线" panose="02010600030101010101" pitchFamily="2" charset="-122"/>
                <a:ea typeface="等线" panose="02010600030101010101" pitchFamily="2" charset="-122"/>
              </a:rPr>
              <a:t>R9</a:t>
            </a:r>
            <a:endParaRPr lang="zh-CN" altLang="en-US" dirty="0">
              <a:latin typeface="等线" panose="02010600030101010101" pitchFamily="2" charset="-122"/>
              <a:ea typeface="等线" panose="02010600030101010101" pitchFamily="2" charset="-122"/>
            </a:endParaRPr>
          </a:p>
        </p:txBody>
      </p:sp>
      <p:pic>
        <p:nvPicPr>
          <p:cNvPr id="36" name="Picture 57" descr="通用路由器">
            <a:extLst>
              <a:ext uri="{FF2B5EF4-FFF2-40B4-BE49-F238E27FC236}">
                <a16:creationId xmlns:a16="http://schemas.microsoft.com/office/drawing/2014/main" id="{A118A1AA-E1CE-474F-BA06-86E85855A3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8460" y="2530775"/>
            <a:ext cx="542859" cy="400111"/>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57" descr="通用路由器">
            <a:extLst>
              <a:ext uri="{FF2B5EF4-FFF2-40B4-BE49-F238E27FC236}">
                <a16:creationId xmlns:a16="http://schemas.microsoft.com/office/drawing/2014/main" id="{9C363818-A1CB-4AE5-B3C8-5C8C417847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97282" y="5020948"/>
            <a:ext cx="542859" cy="400111"/>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57" descr="通用路由器">
            <a:extLst>
              <a:ext uri="{FF2B5EF4-FFF2-40B4-BE49-F238E27FC236}">
                <a16:creationId xmlns:a16="http://schemas.microsoft.com/office/drawing/2014/main" id="{9C363818-A1CB-4AE5-B3C8-5C8C417847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7256" y="4980444"/>
            <a:ext cx="542859" cy="400111"/>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4AB26043-C5A1-4603-9F87-A8B59E81BC90}"/>
              </a:ext>
            </a:extLst>
          </p:cNvPr>
          <p:cNvSpPr txBox="1"/>
          <p:nvPr/>
        </p:nvSpPr>
        <p:spPr>
          <a:xfrm>
            <a:off x="8924250" y="2275378"/>
            <a:ext cx="506870" cy="369332"/>
          </a:xfrm>
          <a:prstGeom prst="rect">
            <a:avLst/>
          </a:prstGeom>
          <a:noFill/>
        </p:spPr>
        <p:txBody>
          <a:bodyPr wrap="square" rtlCol="0">
            <a:spAutoFit/>
          </a:bodyPr>
          <a:lstStyle/>
          <a:p>
            <a:r>
              <a:rPr lang="en-US" altLang="zh-CN" dirty="0">
                <a:solidFill>
                  <a:srgbClr val="B348FF"/>
                </a:solidFill>
                <a:latin typeface="等线" panose="02010600030101010101" pitchFamily="2" charset="-122"/>
                <a:ea typeface="等线" panose="02010600030101010101" pitchFamily="2" charset="-122"/>
              </a:rPr>
              <a:t>N1</a:t>
            </a:r>
            <a:endParaRPr lang="zh-CN" altLang="en-US" dirty="0">
              <a:solidFill>
                <a:srgbClr val="B348FF"/>
              </a:solidFill>
              <a:latin typeface="等线" panose="02010600030101010101" pitchFamily="2" charset="-122"/>
              <a:ea typeface="等线" panose="02010600030101010101" pitchFamily="2" charset="-122"/>
            </a:endParaRPr>
          </a:p>
        </p:txBody>
      </p:sp>
      <p:sp>
        <p:nvSpPr>
          <p:cNvPr id="53" name="文本框 52">
            <a:extLst>
              <a:ext uri="{FF2B5EF4-FFF2-40B4-BE49-F238E27FC236}">
                <a16:creationId xmlns:a16="http://schemas.microsoft.com/office/drawing/2014/main" id="{8B454146-66B1-4579-B06B-28921D32C6BE}"/>
              </a:ext>
            </a:extLst>
          </p:cNvPr>
          <p:cNvSpPr txBox="1"/>
          <p:nvPr/>
        </p:nvSpPr>
        <p:spPr>
          <a:xfrm>
            <a:off x="7448887" y="1944415"/>
            <a:ext cx="522900" cy="369332"/>
          </a:xfrm>
          <a:prstGeom prst="rect">
            <a:avLst/>
          </a:prstGeom>
          <a:noFill/>
        </p:spPr>
        <p:txBody>
          <a:bodyPr wrap="square" rtlCol="0">
            <a:spAutoFit/>
          </a:bodyPr>
          <a:lstStyle/>
          <a:p>
            <a:r>
              <a:rPr lang="en-US" altLang="zh-CN" dirty="0">
                <a:solidFill>
                  <a:srgbClr val="B348FF"/>
                </a:solidFill>
                <a:latin typeface="等线" panose="02010600030101010101" pitchFamily="2" charset="-122"/>
                <a:ea typeface="等线" panose="02010600030101010101" pitchFamily="2" charset="-122"/>
              </a:rPr>
              <a:t>N2</a:t>
            </a:r>
            <a:endParaRPr lang="zh-CN" altLang="en-US" dirty="0">
              <a:solidFill>
                <a:srgbClr val="B348FF"/>
              </a:solidFill>
              <a:latin typeface="等线" panose="02010600030101010101" pitchFamily="2" charset="-122"/>
              <a:ea typeface="等线" panose="02010600030101010101" pitchFamily="2" charset="-122"/>
            </a:endParaRPr>
          </a:p>
        </p:txBody>
      </p:sp>
      <p:sp>
        <p:nvSpPr>
          <p:cNvPr id="54" name="文本框 53">
            <a:extLst>
              <a:ext uri="{FF2B5EF4-FFF2-40B4-BE49-F238E27FC236}">
                <a16:creationId xmlns:a16="http://schemas.microsoft.com/office/drawing/2014/main" id="{080A32B2-B135-4965-ADA9-8FAD8B05DE95}"/>
              </a:ext>
            </a:extLst>
          </p:cNvPr>
          <p:cNvSpPr txBox="1"/>
          <p:nvPr/>
        </p:nvSpPr>
        <p:spPr>
          <a:xfrm>
            <a:off x="10080848" y="2201343"/>
            <a:ext cx="506870" cy="369332"/>
          </a:xfrm>
          <a:prstGeom prst="rect">
            <a:avLst/>
          </a:prstGeom>
          <a:noFill/>
        </p:spPr>
        <p:txBody>
          <a:bodyPr wrap="square" rtlCol="0">
            <a:spAutoFit/>
          </a:bodyPr>
          <a:lstStyle>
            <a:defPPr>
              <a:defRPr lang="zh-CN"/>
            </a:defPPr>
            <a:lvl1pPr>
              <a:defRPr>
                <a:solidFill>
                  <a:srgbClr val="B348FF"/>
                </a:solidFill>
                <a:latin typeface="微软雅黑" panose="020B0503020204020204" pitchFamily="34" charset="-122"/>
                <a:ea typeface="微软雅黑" panose="020B0503020204020204" pitchFamily="34" charset="-122"/>
              </a:defRPr>
            </a:lvl1pPr>
          </a:lstStyle>
          <a:p>
            <a:r>
              <a:rPr lang="en-US" altLang="zh-CN" dirty="0">
                <a:latin typeface="等线" panose="02010600030101010101" pitchFamily="2" charset="-122"/>
                <a:ea typeface="等线" panose="02010600030101010101" pitchFamily="2" charset="-122"/>
              </a:rPr>
              <a:t>N4</a:t>
            </a:r>
            <a:endParaRPr lang="zh-CN" altLang="en-US" dirty="0">
              <a:latin typeface="等线" panose="02010600030101010101" pitchFamily="2" charset="-122"/>
              <a:ea typeface="等线" panose="02010600030101010101" pitchFamily="2" charset="-122"/>
            </a:endParaRPr>
          </a:p>
        </p:txBody>
      </p:sp>
      <p:sp>
        <p:nvSpPr>
          <p:cNvPr id="55" name="文本框 54">
            <a:extLst>
              <a:ext uri="{FF2B5EF4-FFF2-40B4-BE49-F238E27FC236}">
                <a16:creationId xmlns:a16="http://schemas.microsoft.com/office/drawing/2014/main" id="{50150E23-9DBF-472F-BC26-23826F9DB3FD}"/>
              </a:ext>
            </a:extLst>
          </p:cNvPr>
          <p:cNvSpPr txBox="1"/>
          <p:nvPr/>
        </p:nvSpPr>
        <p:spPr>
          <a:xfrm>
            <a:off x="10094495" y="3171262"/>
            <a:ext cx="506870" cy="369332"/>
          </a:xfrm>
          <a:prstGeom prst="rect">
            <a:avLst/>
          </a:prstGeom>
          <a:noFill/>
        </p:spPr>
        <p:txBody>
          <a:bodyPr wrap="square" rtlCol="0">
            <a:spAutoFit/>
          </a:bodyPr>
          <a:lstStyle>
            <a:defPPr>
              <a:defRPr lang="zh-CN"/>
            </a:defPPr>
            <a:lvl1pPr>
              <a:defRPr>
                <a:solidFill>
                  <a:srgbClr val="B348FF"/>
                </a:solidFill>
                <a:latin typeface="微软雅黑" panose="020B0503020204020204" pitchFamily="34" charset="-122"/>
                <a:ea typeface="微软雅黑" panose="020B0503020204020204" pitchFamily="34" charset="-122"/>
              </a:defRPr>
            </a:lvl1pPr>
          </a:lstStyle>
          <a:p>
            <a:r>
              <a:rPr lang="en-US" altLang="zh-CN" dirty="0">
                <a:latin typeface="等线" panose="02010600030101010101" pitchFamily="2" charset="-122"/>
                <a:ea typeface="等线" panose="02010600030101010101" pitchFamily="2" charset="-122"/>
              </a:rPr>
              <a:t>N5</a:t>
            </a:r>
            <a:endParaRPr lang="zh-CN" altLang="en-US" dirty="0">
              <a:latin typeface="等线" panose="02010600030101010101" pitchFamily="2" charset="-122"/>
              <a:ea typeface="等线" panose="02010600030101010101" pitchFamily="2" charset="-122"/>
            </a:endParaRPr>
          </a:p>
        </p:txBody>
      </p:sp>
      <p:sp>
        <p:nvSpPr>
          <p:cNvPr id="57" name="文本框 56">
            <a:extLst>
              <a:ext uri="{FF2B5EF4-FFF2-40B4-BE49-F238E27FC236}">
                <a16:creationId xmlns:a16="http://schemas.microsoft.com/office/drawing/2014/main" id="{7B4FF826-047D-4063-9E9F-1ED8E50A4468}"/>
              </a:ext>
            </a:extLst>
          </p:cNvPr>
          <p:cNvSpPr txBox="1"/>
          <p:nvPr/>
        </p:nvSpPr>
        <p:spPr>
          <a:xfrm>
            <a:off x="10543326" y="3988108"/>
            <a:ext cx="506870" cy="369332"/>
          </a:xfrm>
          <a:prstGeom prst="rect">
            <a:avLst/>
          </a:prstGeom>
          <a:noFill/>
        </p:spPr>
        <p:txBody>
          <a:bodyPr wrap="square" rtlCol="0">
            <a:spAutoFit/>
          </a:bodyPr>
          <a:lstStyle/>
          <a:p>
            <a:r>
              <a:rPr lang="en-US" altLang="zh-CN" dirty="0">
                <a:solidFill>
                  <a:srgbClr val="B348FF"/>
                </a:solidFill>
                <a:latin typeface="等线" panose="02010600030101010101" pitchFamily="2" charset="-122"/>
                <a:ea typeface="等线" panose="02010600030101010101" pitchFamily="2" charset="-122"/>
              </a:rPr>
              <a:t>N6</a:t>
            </a:r>
            <a:endParaRPr lang="zh-CN" altLang="en-US" dirty="0">
              <a:solidFill>
                <a:srgbClr val="B348FF"/>
              </a:solidFill>
              <a:latin typeface="等线" panose="02010600030101010101" pitchFamily="2" charset="-122"/>
              <a:ea typeface="等线" panose="02010600030101010101" pitchFamily="2" charset="-122"/>
            </a:endParaRPr>
          </a:p>
        </p:txBody>
      </p:sp>
      <p:sp>
        <p:nvSpPr>
          <p:cNvPr id="67" name="文本框 66">
            <a:extLst>
              <a:ext uri="{FF2B5EF4-FFF2-40B4-BE49-F238E27FC236}">
                <a16:creationId xmlns:a16="http://schemas.microsoft.com/office/drawing/2014/main" id="{D2D9B5AC-97D1-422D-9112-60FF7AF35B78}"/>
              </a:ext>
            </a:extLst>
          </p:cNvPr>
          <p:cNvSpPr txBox="1"/>
          <p:nvPr/>
        </p:nvSpPr>
        <p:spPr>
          <a:xfrm>
            <a:off x="6593493" y="2433626"/>
            <a:ext cx="506870" cy="369332"/>
          </a:xfrm>
          <a:prstGeom prst="rect">
            <a:avLst/>
          </a:prstGeom>
          <a:noFill/>
        </p:spPr>
        <p:txBody>
          <a:bodyPr wrap="square" rtlCol="0">
            <a:spAutoFit/>
          </a:bodyPr>
          <a:lstStyle/>
          <a:p>
            <a:r>
              <a:rPr lang="en-US" altLang="zh-CN" dirty="0">
                <a:solidFill>
                  <a:srgbClr val="B348FF"/>
                </a:solidFill>
                <a:latin typeface="等线" panose="02010600030101010101" pitchFamily="2" charset="-122"/>
                <a:ea typeface="等线" panose="02010600030101010101" pitchFamily="2" charset="-122"/>
              </a:rPr>
              <a:t>N3</a:t>
            </a:r>
            <a:endParaRPr lang="zh-CN" altLang="en-US" dirty="0">
              <a:solidFill>
                <a:srgbClr val="B348FF"/>
              </a:solidFill>
              <a:latin typeface="等线" panose="02010600030101010101" pitchFamily="2" charset="-122"/>
              <a:ea typeface="等线" panose="02010600030101010101" pitchFamily="2" charset="-122"/>
            </a:endParaRPr>
          </a:p>
        </p:txBody>
      </p:sp>
      <p:cxnSp>
        <p:nvCxnSpPr>
          <p:cNvPr id="68" name="直接连接符 67">
            <a:extLst>
              <a:ext uri="{FF2B5EF4-FFF2-40B4-BE49-F238E27FC236}">
                <a16:creationId xmlns:a16="http://schemas.microsoft.com/office/drawing/2014/main" id="{442C846E-F78C-4B5B-BF3F-4485F7D422B4}"/>
              </a:ext>
            </a:extLst>
          </p:cNvPr>
          <p:cNvCxnSpPr>
            <a:cxnSpLocks/>
          </p:cNvCxnSpPr>
          <p:nvPr/>
        </p:nvCxnSpPr>
        <p:spPr>
          <a:xfrm flipV="1">
            <a:off x="6854649" y="2109109"/>
            <a:ext cx="98388" cy="35886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pic>
        <p:nvPicPr>
          <p:cNvPr id="22" name="Picture 57" descr="通用路由器">
            <a:extLst>
              <a:ext uri="{FF2B5EF4-FFF2-40B4-BE49-F238E27FC236}">
                <a16:creationId xmlns:a16="http://schemas.microsoft.com/office/drawing/2014/main" id="{0C6D8C20-7695-4257-8A9A-212CA0B35A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58535" y="1897534"/>
            <a:ext cx="542859" cy="400111"/>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57" descr="通用路由器">
            <a:extLst>
              <a:ext uri="{FF2B5EF4-FFF2-40B4-BE49-F238E27FC236}">
                <a16:creationId xmlns:a16="http://schemas.microsoft.com/office/drawing/2014/main" id="{DA72A45E-8296-4C42-858C-F305EA132C0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88207" y="3263787"/>
            <a:ext cx="542859" cy="400111"/>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57" descr="通用路由器">
            <a:extLst>
              <a:ext uri="{FF2B5EF4-FFF2-40B4-BE49-F238E27FC236}">
                <a16:creationId xmlns:a16="http://schemas.microsoft.com/office/drawing/2014/main" id="{FE51900C-6D0D-4BEF-944B-122FD84287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55529" y="2010231"/>
            <a:ext cx="542859" cy="400111"/>
          </a:xfrm>
          <a:prstGeom prst="rect">
            <a:avLst/>
          </a:prstGeom>
          <a:noFill/>
          <a:extLst>
            <a:ext uri="{909E8E84-426E-40DD-AFC4-6F175D3DCCD1}">
              <a14:hiddenFill xmlns:a14="http://schemas.microsoft.com/office/drawing/2010/main">
                <a:solidFill>
                  <a:srgbClr val="FFFFFF"/>
                </a:solidFill>
              </a14:hiddenFill>
            </a:ext>
          </a:extLst>
        </p:spPr>
      </p:pic>
      <p:sp>
        <p:nvSpPr>
          <p:cNvPr id="76" name="文本框 75">
            <a:extLst>
              <a:ext uri="{FF2B5EF4-FFF2-40B4-BE49-F238E27FC236}">
                <a16:creationId xmlns:a16="http://schemas.microsoft.com/office/drawing/2014/main" id="{17D3A325-9801-4238-9A48-48F67F086644}"/>
              </a:ext>
            </a:extLst>
          </p:cNvPr>
          <p:cNvSpPr txBox="1"/>
          <p:nvPr/>
        </p:nvSpPr>
        <p:spPr>
          <a:xfrm>
            <a:off x="9336065" y="4623560"/>
            <a:ext cx="506870" cy="369332"/>
          </a:xfrm>
          <a:prstGeom prst="rect">
            <a:avLst/>
          </a:prstGeom>
          <a:noFill/>
        </p:spPr>
        <p:txBody>
          <a:bodyPr wrap="square" rtlCol="0">
            <a:spAutoFit/>
          </a:bodyPr>
          <a:lstStyle/>
          <a:p>
            <a:r>
              <a:rPr lang="en-US" altLang="zh-CN" dirty="0">
                <a:solidFill>
                  <a:srgbClr val="B348FF"/>
                </a:solidFill>
                <a:latin typeface="等线" panose="02010600030101010101" pitchFamily="2" charset="-122"/>
                <a:ea typeface="等线" panose="02010600030101010101" pitchFamily="2" charset="-122"/>
              </a:rPr>
              <a:t>N7</a:t>
            </a:r>
            <a:endParaRPr lang="zh-CN" altLang="en-US" dirty="0">
              <a:solidFill>
                <a:srgbClr val="B348FF"/>
              </a:solidFill>
              <a:latin typeface="等线" panose="02010600030101010101" pitchFamily="2" charset="-122"/>
              <a:ea typeface="等线" panose="02010600030101010101" pitchFamily="2" charset="-122"/>
            </a:endParaRPr>
          </a:p>
        </p:txBody>
      </p:sp>
      <p:sp>
        <p:nvSpPr>
          <p:cNvPr id="77" name="文本框 76">
            <a:extLst>
              <a:ext uri="{FF2B5EF4-FFF2-40B4-BE49-F238E27FC236}">
                <a16:creationId xmlns:a16="http://schemas.microsoft.com/office/drawing/2014/main" id="{BFA42311-3B48-4DB4-AACF-2BD5578F9EF1}"/>
              </a:ext>
            </a:extLst>
          </p:cNvPr>
          <p:cNvSpPr txBox="1"/>
          <p:nvPr/>
        </p:nvSpPr>
        <p:spPr>
          <a:xfrm>
            <a:off x="9786816" y="5266629"/>
            <a:ext cx="506870" cy="369332"/>
          </a:xfrm>
          <a:prstGeom prst="rect">
            <a:avLst/>
          </a:prstGeom>
          <a:noFill/>
        </p:spPr>
        <p:txBody>
          <a:bodyPr wrap="square" rtlCol="0">
            <a:spAutoFit/>
          </a:bodyPr>
          <a:lstStyle/>
          <a:p>
            <a:r>
              <a:rPr lang="en-US" altLang="zh-CN" dirty="0">
                <a:solidFill>
                  <a:srgbClr val="B348FF"/>
                </a:solidFill>
                <a:latin typeface="等线" panose="02010600030101010101" pitchFamily="2" charset="-122"/>
                <a:ea typeface="等线" panose="02010600030101010101" pitchFamily="2" charset="-122"/>
              </a:rPr>
              <a:t>N8</a:t>
            </a:r>
            <a:endParaRPr lang="zh-CN" altLang="en-US" dirty="0">
              <a:solidFill>
                <a:srgbClr val="B348FF"/>
              </a:solidFill>
              <a:latin typeface="等线" panose="02010600030101010101" pitchFamily="2" charset="-122"/>
              <a:ea typeface="等线" panose="02010600030101010101" pitchFamily="2" charset="-122"/>
            </a:endParaRPr>
          </a:p>
        </p:txBody>
      </p:sp>
      <p:sp>
        <p:nvSpPr>
          <p:cNvPr id="60" name="日期占位符 4">
            <a:extLst>
              <a:ext uri="{FF2B5EF4-FFF2-40B4-BE49-F238E27FC236}">
                <a16:creationId xmlns:a16="http://schemas.microsoft.com/office/drawing/2014/main" id="{1ADED64C-BCC9-4512-BAF4-F9E2E09B6B55}"/>
              </a:ext>
            </a:extLst>
          </p:cNvPr>
          <p:cNvSpPr>
            <a:spLocks noGrp="1"/>
          </p:cNvSpPr>
          <p:nvPr>
            <p:ph type="dt" sz="half" idx="10"/>
          </p:nvPr>
        </p:nvSpPr>
        <p:spPr>
          <a:xfrm>
            <a:off x="197335" y="6489303"/>
            <a:ext cx="2743200" cy="365125"/>
          </a:xfrm>
        </p:spPr>
        <p:txBody>
          <a:bodyPr/>
          <a:lstStyle/>
          <a:p>
            <a:r>
              <a:rPr kumimoji="1" lang="en-US" altLang="zh-CN" dirty="0">
                <a:latin typeface="DengXian" panose="02010600030101010101" pitchFamily="2" charset="-122"/>
                <a:ea typeface="DengXian" panose="02010600030101010101" pitchFamily="2" charset="-122"/>
              </a:rPr>
              <a:t>5.3.5 </a:t>
            </a:r>
            <a:r>
              <a:rPr kumimoji="1" lang="zh-CN" altLang="en-US" dirty="0">
                <a:latin typeface="DengXian" panose="02010600030101010101" pitchFamily="2" charset="-122"/>
                <a:ea typeface="DengXian" panose="02010600030101010101" pitchFamily="2" charset="-122"/>
              </a:rPr>
              <a:t>层次路由</a:t>
            </a:r>
          </a:p>
        </p:txBody>
      </p:sp>
    </p:spTree>
    <p:extLst>
      <p:ext uri="{BB962C8B-B14F-4D97-AF65-F5344CB8AC3E}">
        <p14:creationId xmlns:p14="http://schemas.microsoft.com/office/powerpoint/2010/main" val="31695150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blinds(horizontal)">
                                      <p:cBhvr>
                                        <p:cTn id="7" dur="500"/>
                                        <p:tgtEl>
                                          <p:spTgt spid="79"/>
                                        </p:tgtEl>
                                      </p:cBhvr>
                                    </p:animEffect>
                                  </p:childTnLst>
                                </p:cTn>
                              </p:par>
                              <p:par>
                                <p:cTn id="8" presetID="3" presetClass="entr" presetSubtype="10" fill="hold" nodeType="withEffect">
                                  <p:stCondLst>
                                    <p:cond delay="0"/>
                                  </p:stCondLst>
                                  <p:childTnLst>
                                    <p:set>
                                      <p:cBhvr>
                                        <p:cTn id="9" dur="1" fill="hold">
                                          <p:stCondLst>
                                            <p:cond delay="0"/>
                                          </p:stCondLst>
                                        </p:cTn>
                                        <p:tgtEl>
                                          <p:spTgt spid="78"/>
                                        </p:tgtEl>
                                        <p:attrNameLst>
                                          <p:attrName>style.visibility</p:attrName>
                                        </p:attrNameLst>
                                      </p:cBhvr>
                                      <p:to>
                                        <p:strVal val="visible"/>
                                      </p:to>
                                    </p:set>
                                    <p:animEffect transition="in" filter="blinds(horizontal)">
                                      <p:cBhvr>
                                        <p:cTn id="10" dur="500"/>
                                        <p:tgtEl>
                                          <p:spTgt spid="7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fade">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69"/>
                                        </p:tgtEl>
                                        <p:attrNameLst>
                                          <p:attrName>style.visibility</p:attrName>
                                        </p:attrNameLst>
                                      </p:cBhvr>
                                      <p:to>
                                        <p:strVal val="visible"/>
                                      </p:to>
                                    </p:set>
                                    <p:animEffect transition="in" filter="blinds(horizontal)">
                                      <p:cBhvr>
                                        <p:cTn id="20" dur="500"/>
                                        <p:tgtEl>
                                          <p:spTgt spid="69"/>
                                        </p:tgtEl>
                                      </p:cBhvr>
                                    </p:animEffect>
                                  </p:childTnLst>
                                </p:cTn>
                              </p:par>
                              <p:par>
                                <p:cTn id="21" presetID="3" presetClass="entr" presetSubtype="1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9"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510758"/>
            <a:ext cx="10046292" cy="5183956"/>
          </a:xfrm>
        </p:spPr>
        <p:txBody>
          <a:bodyPr>
            <a:normAutofit/>
          </a:bodyPr>
          <a:lstStyle/>
          <a:p>
            <a:pPr marL="0" indent="0">
              <a:lnSpc>
                <a:spcPct val="130000"/>
              </a:lnSpc>
              <a:buNone/>
            </a:pPr>
            <a:r>
              <a:rPr lang="en-US" altLang="zh-CN" dirty="0"/>
              <a:t>5.1 </a:t>
            </a:r>
            <a:r>
              <a:rPr lang="zh-CN" altLang="zh-CN" dirty="0">
                <a:sym typeface="+mn-ea"/>
              </a:rPr>
              <a:t>网络层服务</a:t>
            </a:r>
            <a:endParaRPr kumimoji="1" lang="zh-CN" altLang="en-US" dirty="0"/>
          </a:p>
          <a:p>
            <a:pPr marL="0" indent="0">
              <a:lnSpc>
                <a:spcPct val="130000"/>
              </a:lnSpc>
              <a:buNone/>
            </a:pPr>
            <a:r>
              <a:rPr kumimoji="1" lang="en-US" altLang="zh-CN" dirty="0">
                <a:sym typeface="+mn-ea"/>
              </a:rPr>
              <a:t>5.2</a:t>
            </a:r>
            <a:r>
              <a:rPr kumimoji="1" lang="zh-CN" altLang="en-US" dirty="0">
                <a:sym typeface="+mn-ea"/>
              </a:rPr>
              <a:t> </a:t>
            </a:r>
            <a:r>
              <a:rPr kumimoji="1" lang="en-US" altLang="zh-CN" dirty="0">
                <a:sym typeface="+mn-ea"/>
              </a:rPr>
              <a:t>Internet</a:t>
            </a:r>
            <a:r>
              <a:rPr kumimoji="1" lang="zh-CN" altLang="en-US" dirty="0">
                <a:sym typeface="+mn-ea"/>
              </a:rPr>
              <a:t>网际协议</a:t>
            </a:r>
            <a:endParaRPr kumimoji="1" lang="en-US" altLang="zh-CN" dirty="0"/>
          </a:p>
          <a:p>
            <a:pPr marL="0" indent="0">
              <a:lnSpc>
                <a:spcPct val="130000"/>
              </a:lnSpc>
              <a:buNone/>
            </a:pPr>
            <a:r>
              <a:rPr kumimoji="1" lang="en-US" altLang="zh-CN" dirty="0">
                <a:sym typeface="+mn-ea"/>
              </a:rPr>
              <a:t>5.3</a:t>
            </a:r>
            <a:r>
              <a:rPr kumimoji="1" lang="zh-CN" altLang="en-US" dirty="0">
                <a:sym typeface="+mn-ea"/>
              </a:rPr>
              <a:t> 路由算法</a:t>
            </a:r>
            <a:endParaRPr kumimoji="1" lang="en-US" altLang="zh-CN" dirty="0"/>
          </a:p>
          <a:p>
            <a:pPr marL="0" indent="0">
              <a:lnSpc>
                <a:spcPct val="130000"/>
              </a:lnSpc>
              <a:buNone/>
            </a:pPr>
            <a:r>
              <a:rPr kumimoji="1" lang="en-US" altLang="zh-CN" dirty="0">
                <a:solidFill>
                  <a:srgbClr val="C00000"/>
                </a:solidFill>
                <a:sym typeface="+mn-ea"/>
              </a:rPr>
              <a:t>5.4</a:t>
            </a:r>
            <a:r>
              <a:rPr kumimoji="1" lang="zh-CN" altLang="en-US" dirty="0">
                <a:solidFill>
                  <a:srgbClr val="C00000"/>
                </a:solidFill>
                <a:sym typeface="+mn-ea"/>
              </a:rPr>
              <a:t> </a:t>
            </a:r>
            <a:r>
              <a:rPr kumimoji="1" lang="en-US" altLang="zh-CN" dirty="0">
                <a:solidFill>
                  <a:srgbClr val="C00000"/>
                </a:solidFill>
                <a:sym typeface="+mn-ea"/>
              </a:rPr>
              <a:t>Internet</a:t>
            </a:r>
            <a:r>
              <a:rPr kumimoji="1" lang="zh-CN" altLang="en-US" dirty="0">
                <a:solidFill>
                  <a:srgbClr val="C00000"/>
                </a:solidFill>
                <a:sym typeface="+mn-ea"/>
              </a:rPr>
              <a:t>路由协议</a:t>
            </a:r>
            <a:endParaRPr kumimoji="1" lang="en-US" altLang="zh-CN" dirty="0">
              <a:solidFill>
                <a:srgbClr val="C00000"/>
              </a:solidFill>
            </a:endParaRPr>
          </a:p>
          <a:p>
            <a:pPr marL="0" indent="0">
              <a:lnSpc>
                <a:spcPct val="130000"/>
              </a:lnSpc>
              <a:buNone/>
            </a:pPr>
            <a:r>
              <a:rPr kumimoji="1" lang="en-US" altLang="zh-CN" dirty="0">
                <a:sym typeface="+mn-ea"/>
              </a:rPr>
              <a:t>5.5</a:t>
            </a:r>
            <a:r>
              <a:rPr kumimoji="1" lang="zh-CN" altLang="en-US" dirty="0">
                <a:sym typeface="+mn-ea"/>
              </a:rPr>
              <a:t> 路由器工作原理</a:t>
            </a:r>
            <a:endParaRPr kumimoji="1" lang="en-US" altLang="zh-CN" dirty="0"/>
          </a:p>
        </p:txBody>
      </p:sp>
      <p:sp>
        <p:nvSpPr>
          <p:cNvPr id="10" name="灯片编号占位符 9">
            <a:extLst>
              <a:ext uri="{FF2B5EF4-FFF2-40B4-BE49-F238E27FC236}">
                <a16:creationId xmlns:a16="http://schemas.microsoft.com/office/drawing/2014/main" id="{81955D56-458B-2941-A60C-A60B6824D7F3}"/>
              </a:ext>
            </a:extLst>
          </p:cNvPr>
          <p:cNvSpPr>
            <a:spLocks noGrp="1"/>
          </p:cNvSpPr>
          <p:nvPr>
            <p:ph type="sldNum" sz="quarter" idx="12"/>
          </p:nvPr>
        </p:nvSpPr>
        <p:spPr/>
        <p:txBody>
          <a:bodyPr/>
          <a:lstStyle/>
          <a:p>
            <a:fld id="{8D4D1E41-7A09-AB4A-A4E1-09765ADA2698}" type="slidenum">
              <a:rPr kumimoji="1" lang="zh-CN" altLang="en-US" smtClean="0"/>
              <a:t>81</a:t>
            </a:fld>
            <a:endParaRPr kumimoji="1" lang="zh-CN" altLang="en-US" dirty="0"/>
          </a:p>
        </p:txBody>
      </p:sp>
      <p:sp>
        <p:nvSpPr>
          <p:cNvPr id="7" name="矩形标注 6">
            <a:extLst>
              <a:ext uri="{FF2B5EF4-FFF2-40B4-BE49-F238E27FC236}">
                <a16:creationId xmlns:a16="http://schemas.microsoft.com/office/drawing/2014/main" id="{981187B3-3584-BA4E-A14C-4B26773516C6}"/>
              </a:ext>
            </a:extLst>
          </p:cNvPr>
          <p:cNvSpPr/>
          <p:nvPr/>
        </p:nvSpPr>
        <p:spPr>
          <a:xfrm>
            <a:off x="6422185" y="2431881"/>
            <a:ext cx="4168895" cy="2318794"/>
          </a:xfrm>
          <a:prstGeom prst="wedgeRectCallout">
            <a:avLst>
              <a:gd name="adj1" fmla="val -92845"/>
              <a:gd name="adj2" fmla="val -4058"/>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en-US" altLang="zh-CN" sz="2400" dirty="0">
                <a:solidFill>
                  <a:prstClr val="black"/>
                </a:solidFill>
                <a:latin typeface="DengXian" panose="02010600030101010101" pitchFamily="2" charset="-122"/>
                <a:ea typeface="DengXian" panose="02010600030101010101" pitchFamily="2" charset="-122"/>
              </a:rPr>
              <a:t>OPSF-</a:t>
            </a:r>
            <a:r>
              <a:rPr kumimoji="1" lang="zh-CN" altLang="en-US" sz="2400" dirty="0">
                <a:solidFill>
                  <a:prstClr val="black"/>
                </a:solidFill>
                <a:latin typeface="DengXian" panose="02010600030101010101" pitchFamily="2" charset="-122"/>
                <a:ea typeface="DengXian" panose="02010600030101010101" pitchFamily="2" charset="-122"/>
              </a:rPr>
              <a:t>内部网关路由协议</a:t>
            </a:r>
            <a:endParaRPr kumimoji="1" lang="en-US" altLang="zh-CN" sz="2400" dirty="0">
              <a:solidFill>
                <a:prstClr val="black"/>
              </a:solidFill>
              <a:latin typeface="DengXian" panose="02010600030101010101" pitchFamily="2" charset="-122"/>
              <a:ea typeface="DengXian" panose="02010600030101010101" pitchFamily="2"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DengXian" panose="02010600030101010101" pitchFamily="2" charset="-122"/>
                <a:ea typeface="DengXian" panose="02010600030101010101" pitchFamily="2" charset="-122"/>
              </a:rPr>
              <a:t>RIP-</a:t>
            </a:r>
            <a:r>
              <a:rPr kumimoji="1" lang="zh-CN" altLang="en-US" sz="2400" dirty="0">
                <a:solidFill>
                  <a:prstClr val="black"/>
                </a:solidFill>
                <a:latin typeface="DengXian" panose="02010600030101010101" pitchFamily="2" charset="-122"/>
                <a:ea typeface="DengXian" panose="02010600030101010101" pitchFamily="2" charset="-122"/>
              </a:rPr>
              <a:t>内部网关路由协议</a:t>
            </a:r>
            <a:endParaRPr kumimoji="1" lang="en-US" altLang="zh-CN" sz="2400" dirty="0">
              <a:solidFill>
                <a:prstClr val="black"/>
              </a:solidFill>
              <a:latin typeface="DengXian" panose="02010600030101010101" pitchFamily="2" charset="-122"/>
              <a:ea typeface="DengXian" panose="02010600030101010101" pitchFamily="2" charset="-122"/>
            </a:endParaRPr>
          </a:p>
          <a:p>
            <a:pPr marL="587375" indent="-438150">
              <a:lnSpc>
                <a:spcPct val="130000"/>
              </a:lnSpc>
              <a:spcBef>
                <a:spcPts val="600"/>
              </a:spcBef>
              <a:buFont typeface="+mj-lt"/>
              <a:buAutoNum type="arabicPeriod"/>
            </a:pPr>
            <a:r>
              <a:rPr kumimoji="1" lang="en-US" altLang="zh-CN" sz="2400" dirty="0">
                <a:solidFill>
                  <a:prstClr val="black"/>
                </a:solidFill>
                <a:latin typeface="DengXian" panose="02010600030101010101" pitchFamily="2" charset="-122"/>
                <a:ea typeface="DengXian" panose="02010600030101010101" pitchFamily="2" charset="-122"/>
              </a:rPr>
              <a:t>BGP-</a:t>
            </a:r>
            <a:r>
              <a:rPr kumimoji="1" lang="zh-CN" altLang="en-US" sz="2400" dirty="0">
                <a:solidFill>
                  <a:prstClr val="black"/>
                </a:solidFill>
                <a:latin typeface="DengXian" panose="02010600030101010101" pitchFamily="2" charset="-122"/>
                <a:ea typeface="DengXian" panose="02010600030101010101" pitchFamily="2" charset="-122"/>
              </a:rPr>
              <a:t>外部网关路由协议</a:t>
            </a:r>
            <a:endParaRPr kumimoji="1" lang="en-US" altLang="zh-CN" sz="2400" dirty="0">
              <a:solidFill>
                <a:prstClr val="black"/>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1145616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lang="en-US" altLang="zh-CN" dirty="0"/>
              <a:t>OSPF-</a:t>
            </a:r>
            <a:r>
              <a:rPr lang="zh-CN" altLang="en-US" dirty="0"/>
              <a:t>概述</a:t>
            </a:r>
            <a:endParaRPr kumimoji="1" lang="zh-CN" altLang="en-US" dirty="0"/>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5131205"/>
          </a:xfrm>
        </p:spPr>
        <p:txBody>
          <a:bodyPr>
            <a:normAutofit/>
          </a:bodyPr>
          <a:lstStyle/>
          <a:p>
            <a:pPr>
              <a:spcBef>
                <a:spcPts val="1200"/>
              </a:spcBef>
            </a:pPr>
            <a:r>
              <a:rPr lang="en-US" altLang="zh-CN" dirty="0"/>
              <a:t>OSPF</a:t>
            </a:r>
            <a:r>
              <a:rPr lang="zh-CN" altLang="en-US" dirty="0"/>
              <a:t>（</a:t>
            </a:r>
            <a:r>
              <a:rPr lang="en-US" altLang="zh-CN" dirty="0"/>
              <a:t>Open Shortest Path First</a:t>
            </a:r>
            <a:r>
              <a:rPr lang="zh-CN" altLang="en-US" dirty="0"/>
              <a:t>）</a:t>
            </a:r>
            <a:r>
              <a:rPr lang="zh-CN" altLang="zh-CN" dirty="0"/>
              <a:t>开放最短路径优先</a:t>
            </a:r>
            <a:r>
              <a:rPr lang="zh-CN" altLang="en-US" dirty="0"/>
              <a:t>协议于</a:t>
            </a:r>
            <a:r>
              <a:rPr lang="en-US" altLang="zh-CN" dirty="0"/>
              <a:t>1989 </a:t>
            </a:r>
            <a:r>
              <a:rPr lang="zh-CN" altLang="zh-CN" dirty="0"/>
              <a:t>年开发</a:t>
            </a:r>
            <a:endParaRPr lang="en-US" altLang="zh-CN" dirty="0"/>
          </a:p>
          <a:p>
            <a:pPr>
              <a:spcBef>
                <a:spcPts val="1200"/>
              </a:spcBef>
            </a:pPr>
            <a:r>
              <a:rPr lang="zh-CN" altLang="en-US" dirty="0"/>
              <a:t>采用</a:t>
            </a:r>
            <a:r>
              <a:rPr lang="zh-CN" altLang="en-US" dirty="0">
                <a:solidFill>
                  <a:srgbClr val="C00000"/>
                </a:solidFill>
              </a:rPr>
              <a:t>分布式的链路状态</a:t>
            </a:r>
            <a:r>
              <a:rPr lang="zh-CN" altLang="en-US" dirty="0"/>
              <a:t>算法 </a:t>
            </a:r>
            <a:endParaRPr lang="en-US" altLang="zh-CN" dirty="0"/>
          </a:p>
          <a:p>
            <a:pPr>
              <a:lnSpc>
                <a:spcPct val="150000"/>
              </a:lnSpc>
            </a:pPr>
            <a:r>
              <a:rPr kumimoji="1" lang="en-US" altLang="zh-CN" dirty="0"/>
              <a:t>OSPF</a:t>
            </a:r>
            <a:r>
              <a:rPr kumimoji="1" lang="zh-CN" altLang="en-US" dirty="0"/>
              <a:t>协议的基本思想</a:t>
            </a:r>
          </a:p>
          <a:p>
            <a:pPr lvl="1">
              <a:lnSpc>
                <a:spcPct val="150000"/>
              </a:lnSpc>
            </a:pPr>
            <a:r>
              <a:rPr lang="zh-CN" altLang="en-US" dirty="0"/>
              <a:t>向本自治系统中所有路由器</a:t>
            </a:r>
            <a:r>
              <a:rPr lang="zh-CN" altLang="en-US" dirty="0">
                <a:solidFill>
                  <a:srgbClr val="C00000"/>
                </a:solidFill>
              </a:rPr>
              <a:t>洪泛</a:t>
            </a:r>
            <a:r>
              <a:rPr lang="zh-CN" altLang="en-US" dirty="0"/>
              <a:t>信息</a:t>
            </a:r>
            <a:endParaRPr lang="en-US" altLang="zh-CN" dirty="0"/>
          </a:p>
          <a:p>
            <a:pPr lvl="1">
              <a:lnSpc>
                <a:spcPct val="150000"/>
              </a:lnSpc>
            </a:pPr>
            <a:r>
              <a:rPr lang="zh-CN" altLang="en-US" dirty="0"/>
              <a:t>发送的信息就是与本路由器</a:t>
            </a:r>
            <a:r>
              <a:rPr lang="zh-CN" altLang="en-US" dirty="0">
                <a:solidFill>
                  <a:srgbClr val="C00000"/>
                </a:solidFill>
              </a:rPr>
              <a:t>相邻</a:t>
            </a:r>
            <a:r>
              <a:rPr lang="zh-CN" altLang="en-US" dirty="0"/>
              <a:t>的所有路由器的链路状态</a:t>
            </a:r>
            <a:endParaRPr lang="en-US" altLang="zh-CN" dirty="0">
              <a:solidFill>
                <a:srgbClr val="FF0000"/>
              </a:solidFill>
            </a:endParaRPr>
          </a:p>
          <a:p>
            <a:pPr lvl="1">
              <a:lnSpc>
                <a:spcPct val="150000"/>
              </a:lnSpc>
            </a:pPr>
            <a:r>
              <a:rPr lang="zh-CN" altLang="en-US" dirty="0"/>
              <a:t>只有</a:t>
            </a:r>
            <a:r>
              <a:rPr lang="zh-CN" altLang="en-US" dirty="0">
                <a:solidFill>
                  <a:srgbClr val="C00000"/>
                </a:solidFill>
              </a:rPr>
              <a:t>当链路状态发生变化时</a:t>
            </a:r>
            <a:r>
              <a:rPr lang="zh-CN" altLang="en-US" dirty="0"/>
              <a:t>路由器才用洪泛法发送此信息</a:t>
            </a:r>
          </a:p>
          <a:p>
            <a:pPr marL="0" indent="0">
              <a:lnSpc>
                <a:spcPct val="120000"/>
              </a:lnSpc>
              <a:buNone/>
            </a:pPr>
            <a:endParaRPr kumimoji="1" lang="zh-CN" altLang="en-US" dirty="0"/>
          </a:p>
        </p:txBody>
      </p:sp>
      <p:sp>
        <p:nvSpPr>
          <p:cNvPr id="1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4" y="6489303"/>
            <a:ext cx="3013225" cy="365125"/>
          </a:xfrm>
        </p:spPr>
        <p:txBody>
          <a:bodyPr/>
          <a:lstStyle/>
          <a:p>
            <a:r>
              <a:rPr kumimoji="1" lang="en-US" altLang="zh-CN" dirty="0">
                <a:latin typeface="DengXian" panose="02010600030101010101" pitchFamily="2" charset="-122"/>
                <a:ea typeface="DengXian" panose="02010600030101010101" pitchFamily="2" charset="-122"/>
              </a:rPr>
              <a:t>5.4.1 OSPF-</a:t>
            </a:r>
            <a:r>
              <a:rPr kumimoji="1" lang="zh-CN" altLang="en-US" dirty="0">
                <a:latin typeface="DengXian" panose="02010600030101010101" pitchFamily="2" charset="-122"/>
                <a:ea typeface="DengXian" panose="02010600030101010101" pitchFamily="2" charset="-122"/>
              </a:rPr>
              <a:t>内部网关路由协议</a:t>
            </a:r>
          </a:p>
        </p:txBody>
      </p:sp>
      <p:sp>
        <p:nvSpPr>
          <p:cNvPr id="12"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p:txBody>
          <a:bodyPr/>
          <a:lstStyle/>
          <a:p>
            <a:fld id="{8D4D1E41-7A09-AB4A-A4E1-09765ADA2698}" type="slidenum">
              <a:rPr kumimoji="1" lang="zh-CN" altLang="en-US" smtClean="0"/>
              <a:t>82</a:t>
            </a:fld>
            <a:endParaRPr kumimoji="1" lang="zh-CN" altLang="en-US" dirty="0"/>
          </a:p>
        </p:txBody>
      </p:sp>
    </p:spTree>
    <p:extLst>
      <p:ext uri="{BB962C8B-B14F-4D97-AF65-F5344CB8AC3E}">
        <p14:creationId xmlns:p14="http://schemas.microsoft.com/office/powerpoint/2010/main" val="37144802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lang="en-US" altLang="zh-CN" dirty="0"/>
              <a:t>OSPF-</a:t>
            </a:r>
            <a:r>
              <a:rPr lang="zh-CN" altLang="en-US" dirty="0"/>
              <a:t>链路状态</a:t>
            </a:r>
            <a:endParaRPr kumimoji="1" lang="zh-CN" altLang="en-US" dirty="0"/>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515600" cy="5131205"/>
          </a:xfrm>
        </p:spPr>
        <p:txBody>
          <a:bodyPr>
            <a:normAutofit/>
          </a:bodyPr>
          <a:lstStyle/>
          <a:p>
            <a:pPr>
              <a:lnSpc>
                <a:spcPct val="120000"/>
              </a:lnSpc>
            </a:pPr>
            <a:r>
              <a:rPr lang="zh-CN" altLang="en-US" dirty="0">
                <a:latin typeface="Arial" charset="0"/>
              </a:rPr>
              <a:t>“链路状态”就是说明本路由器都和哪些路由器相邻，以及该链路的“度量”</a:t>
            </a:r>
            <a:r>
              <a:rPr lang="en-US" altLang="zh-CN" dirty="0">
                <a:latin typeface="Arial" charset="0"/>
              </a:rPr>
              <a:t>(metric)</a:t>
            </a:r>
            <a:r>
              <a:rPr lang="zh-CN" altLang="en-US" dirty="0"/>
              <a:t> </a:t>
            </a:r>
          </a:p>
          <a:p>
            <a:pPr lvl="1" algn="just">
              <a:lnSpc>
                <a:spcPct val="120000"/>
              </a:lnSpc>
            </a:pPr>
            <a:r>
              <a:rPr lang="en-US" altLang="zh-CN" dirty="0"/>
              <a:t>OSPF</a:t>
            </a:r>
            <a:r>
              <a:rPr lang="zh-CN" altLang="en-US" dirty="0"/>
              <a:t>度量值一般包括</a:t>
            </a:r>
            <a:r>
              <a:rPr lang="zh-CN" altLang="en-US" dirty="0">
                <a:solidFill>
                  <a:srgbClr val="C00000"/>
                </a:solidFill>
              </a:rPr>
              <a:t>费用、距离、时延、带宽</a:t>
            </a:r>
            <a:r>
              <a:rPr lang="zh-CN" altLang="en-US" dirty="0"/>
              <a:t>等</a:t>
            </a:r>
            <a:endParaRPr lang="en-US" altLang="zh-CN" dirty="0"/>
          </a:p>
          <a:p>
            <a:pPr>
              <a:lnSpc>
                <a:spcPct val="130000"/>
              </a:lnSpc>
            </a:pPr>
            <a:r>
              <a:rPr lang="zh-CN" altLang="en-US" dirty="0"/>
              <a:t>由于各路由器之间频繁地交换链路状态信息，因此所有的路由器最终都能建立一个</a:t>
            </a:r>
            <a:r>
              <a:rPr lang="zh-CN" altLang="en-US" dirty="0">
                <a:solidFill>
                  <a:srgbClr val="C00000"/>
                </a:solidFill>
              </a:rPr>
              <a:t>链路状态数据库</a:t>
            </a:r>
            <a:r>
              <a:rPr lang="en-US" altLang="zh-CN" dirty="0">
                <a:solidFill>
                  <a:srgbClr val="C00000"/>
                </a:solidFill>
              </a:rPr>
              <a:t>LSDB</a:t>
            </a:r>
            <a:endParaRPr lang="zh-CN" altLang="en-US" dirty="0"/>
          </a:p>
          <a:p>
            <a:pPr>
              <a:lnSpc>
                <a:spcPct val="130000"/>
              </a:lnSpc>
            </a:pPr>
            <a:r>
              <a:rPr lang="zh-CN" altLang="en-US" dirty="0"/>
              <a:t>这个数据库实际上就是</a:t>
            </a:r>
            <a:r>
              <a:rPr lang="zh-CN" altLang="en-US" dirty="0">
                <a:solidFill>
                  <a:srgbClr val="C00000"/>
                </a:solidFill>
              </a:rPr>
              <a:t>区域内的拓扑结构图，它在区域内是一致的</a:t>
            </a:r>
            <a:r>
              <a:rPr lang="zh-CN" altLang="en-US" dirty="0"/>
              <a:t>（这称为链路状态数据库的同步）</a:t>
            </a:r>
          </a:p>
          <a:p>
            <a:pPr marL="0" indent="0">
              <a:lnSpc>
                <a:spcPct val="120000"/>
              </a:lnSpc>
              <a:buNone/>
            </a:pPr>
            <a:endParaRPr kumimoji="1" lang="zh-CN" altLang="en-US" dirty="0"/>
          </a:p>
        </p:txBody>
      </p:sp>
      <p:sp>
        <p:nvSpPr>
          <p:cNvPr id="1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3121598" cy="365125"/>
          </a:xfrm>
        </p:spPr>
        <p:txBody>
          <a:bodyPr/>
          <a:lstStyle/>
          <a:p>
            <a:r>
              <a:rPr kumimoji="1" lang="en-US" altLang="zh-CN" dirty="0">
                <a:latin typeface="DengXian" panose="02010600030101010101" pitchFamily="2" charset="-122"/>
                <a:ea typeface="DengXian" panose="02010600030101010101" pitchFamily="2" charset="-122"/>
              </a:rPr>
              <a:t>5.4.1 OSPF-</a:t>
            </a:r>
            <a:r>
              <a:rPr kumimoji="1" lang="zh-CN" altLang="en-US" dirty="0">
                <a:latin typeface="DengXian" panose="02010600030101010101" pitchFamily="2" charset="-122"/>
                <a:ea typeface="DengXian" panose="02010600030101010101" pitchFamily="2" charset="-122"/>
              </a:rPr>
              <a:t>内部网关路由协议</a:t>
            </a:r>
          </a:p>
        </p:txBody>
      </p:sp>
      <p:sp>
        <p:nvSpPr>
          <p:cNvPr id="12"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p:txBody>
          <a:bodyPr/>
          <a:lstStyle/>
          <a:p>
            <a:fld id="{8D4D1E41-7A09-AB4A-A4E1-09765ADA2698}" type="slidenum">
              <a:rPr kumimoji="1" lang="zh-CN" altLang="en-US" smtClean="0"/>
              <a:t>83</a:t>
            </a:fld>
            <a:endParaRPr kumimoji="1" lang="zh-CN" altLang="en-US" dirty="0"/>
          </a:p>
        </p:txBody>
      </p:sp>
    </p:spTree>
    <p:extLst>
      <p:ext uri="{BB962C8B-B14F-4D97-AF65-F5344CB8AC3E}">
        <p14:creationId xmlns:p14="http://schemas.microsoft.com/office/powerpoint/2010/main" val="1206612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lang="en-US" altLang="zh-CN" dirty="0"/>
              <a:t>OSPF-</a:t>
            </a:r>
            <a:r>
              <a:rPr lang="zh-CN" altLang="en-US" dirty="0"/>
              <a:t>区域的概念</a:t>
            </a:r>
            <a:endParaRPr kumimoji="1" lang="zh-CN" altLang="en-US" dirty="0"/>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10188787" cy="5131205"/>
          </a:xfrm>
        </p:spPr>
        <p:txBody>
          <a:bodyPr>
            <a:normAutofit/>
          </a:bodyPr>
          <a:lstStyle/>
          <a:p>
            <a:pPr algn="just">
              <a:lnSpc>
                <a:spcPct val="120000"/>
              </a:lnSpc>
            </a:pPr>
            <a:r>
              <a:rPr lang="en-US" altLang="zh-CN" dirty="0"/>
              <a:t>OSPF</a:t>
            </a:r>
            <a:r>
              <a:rPr lang="zh-CN" altLang="en-US" dirty="0"/>
              <a:t>支持将一组网段组合在一起，称为一个区域</a:t>
            </a:r>
          </a:p>
          <a:p>
            <a:pPr algn="just">
              <a:lnSpc>
                <a:spcPct val="120000"/>
              </a:lnSpc>
            </a:pPr>
            <a:r>
              <a:rPr lang="zh-CN" altLang="en-US" dirty="0">
                <a:latin typeface="Arial" panose="020B0604020202020204" pitchFamily="34" charset="0"/>
              </a:rPr>
              <a:t>详细描述拓扑结构的链路状态信息仅在区域内传递</a:t>
            </a:r>
            <a:endParaRPr lang="en-US" altLang="zh-CN" dirty="0">
              <a:latin typeface="Arial" panose="020B0604020202020204" pitchFamily="34" charset="0"/>
            </a:endParaRPr>
          </a:p>
          <a:p>
            <a:pPr algn="just">
              <a:lnSpc>
                <a:spcPct val="120000"/>
              </a:lnSpc>
            </a:pPr>
            <a:r>
              <a:rPr lang="zh-CN" altLang="en-US" dirty="0"/>
              <a:t>使用</a:t>
            </a:r>
            <a:r>
              <a:rPr lang="zh-CN" altLang="en-US" dirty="0">
                <a:solidFill>
                  <a:srgbClr val="C00000"/>
                </a:solidFill>
              </a:rPr>
              <a:t>层次结构的区域划分</a:t>
            </a:r>
            <a:r>
              <a:rPr lang="zh-CN" altLang="en-US" dirty="0"/>
              <a:t>，上层的区域叫做</a:t>
            </a:r>
            <a:r>
              <a:rPr lang="zh-CN" altLang="en-US" dirty="0">
                <a:solidFill>
                  <a:srgbClr val="C00000"/>
                </a:solidFill>
              </a:rPr>
              <a:t>主干区域 </a:t>
            </a:r>
            <a:r>
              <a:rPr lang="en-US" altLang="zh-CN" dirty="0"/>
              <a:t>(backbone area)</a:t>
            </a:r>
            <a:r>
              <a:rPr lang="zh-CN" altLang="en-US" dirty="0"/>
              <a:t>，其他区域都必须与主干区域相连</a:t>
            </a:r>
            <a:endParaRPr lang="en-US" altLang="zh-CN" dirty="0"/>
          </a:p>
          <a:p>
            <a:pPr algn="just">
              <a:lnSpc>
                <a:spcPct val="120000"/>
              </a:lnSpc>
            </a:pPr>
            <a:r>
              <a:rPr lang="zh-CN" altLang="en-US" dirty="0"/>
              <a:t>非主干区域之间不允许直接发布区域间路由信息</a:t>
            </a:r>
            <a:endParaRPr lang="en-US" altLang="zh-CN" dirty="0"/>
          </a:p>
          <a:p>
            <a:pPr algn="just">
              <a:lnSpc>
                <a:spcPct val="120000"/>
              </a:lnSpc>
            </a:pPr>
            <a:r>
              <a:rPr lang="zh-CN" altLang="en-US" dirty="0"/>
              <a:t>区域也不能太大，在一个区域内的路由器最好不超过 </a:t>
            </a:r>
            <a:r>
              <a:rPr lang="en-US" altLang="zh-CN" dirty="0"/>
              <a:t>200 </a:t>
            </a:r>
            <a:r>
              <a:rPr lang="zh-CN" altLang="en-US" dirty="0"/>
              <a:t>个</a:t>
            </a:r>
            <a:endParaRPr lang="en-US" altLang="zh-CN" dirty="0"/>
          </a:p>
          <a:p>
            <a:pPr algn="just">
              <a:lnSpc>
                <a:spcPct val="120000"/>
              </a:lnSpc>
            </a:pPr>
            <a:r>
              <a:rPr lang="zh-CN" altLang="en-US" dirty="0"/>
              <a:t>划分区域可以缩小</a:t>
            </a:r>
            <a:r>
              <a:rPr lang="en-US" altLang="zh-CN" dirty="0"/>
              <a:t>LSDB (link state database)</a:t>
            </a:r>
            <a:r>
              <a:rPr lang="zh-CN" altLang="en-US" dirty="0"/>
              <a:t>规模，减少网络流量</a:t>
            </a:r>
            <a:endParaRPr lang="en-US" altLang="zh-CN" dirty="0"/>
          </a:p>
          <a:p>
            <a:pPr marL="0" indent="0">
              <a:lnSpc>
                <a:spcPct val="120000"/>
              </a:lnSpc>
              <a:buNone/>
            </a:pPr>
            <a:endParaRPr kumimoji="1" lang="en-US" altLang="zh-CN" dirty="0"/>
          </a:p>
          <a:p>
            <a:pPr>
              <a:lnSpc>
                <a:spcPct val="120000"/>
              </a:lnSpc>
            </a:pPr>
            <a:endParaRPr kumimoji="1" lang="en-US" altLang="zh-CN" dirty="0"/>
          </a:p>
          <a:p>
            <a:pPr marL="196850" indent="-252413" defTabSz="801688">
              <a:lnSpc>
                <a:spcPct val="120000"/>
              </a:lnSpc>
              <a:spcBef>
                <a:spcPct val="30000"/>
              </a:spcBef>
              <a:buSzPct val="80000"/>
              <a:buFont typeface="Wingdings" pitchFamily="2" charset="2"/>
              <a:buChar char="l"/>
              <a:defRPr/>
            </a:pPr>
            <a:endParaRPr lang="en-US" altLang="zh-CN" dirty="0">
              <a:solidFill>
                <a:prstClr val="black"/>
              </a:solidFill>
              <a:cs typeface="Arial" charset="0"/>
            </a:endParaRPr>
          </a:p>
          <a:p>
            <a:pPr marL="0" indent="0" defTabSz="801688">
              <a:lnSpc>
                <a:spcPct val="120000"/>
              </a:lnSpc>
              <a:spcBef>
                <a:spcPct val="30000"/>
              </a:spcBef>
              <a:buSzPct val="80000"/>
              <a:buNone/>
              <a:defRPr/>
            </a:pPr>
            <a:endParaRPr kumimoji="1" lang="zh-CN" altLang="en-US" dirty="0"/>
          </a:p>
        </p:txBody>
      </p:sp>
      <p:sp>
        <p:nvSpPr>
          <p:cNvPr id="1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3243518" cy="365125"/>
          </a:xfrm>
        </p:spPr>
        <p:txBody>
          <a:bodyPr/>
          <a:lstStyle/>
          <a:p>
            <a:r>
              <a:rPr kumimoji="1" lang="en-US" altLang="zh-CN" dirty="0">
                <a:latin typeface="DengXian" panose="02010600030101010101" pitchFamily="2" charset="-122"/>
                <a:ea typeface="DengXian" panose="02010600030101010101" pitchFamily="2" charset="-122"/>
              </a:rPr>
              <a:t>5.4.1 OSPF-</a:t>
            </a:r>
            <a:r>
              <a:rPr kumimoji="1" lang="zh-CN" altLang="en-US" dirty="0">
                <a:latin typeface="DengXian" panose="02010600030101010101" pitchFamily="2" charset="-122"/>
                <a:ea typeface="DengXian" panose="02010600030101010101" pitchFamily="2" charset="-122"/>
              </a:rPr>
              <a:t>内部网关路由协议</a:t>
            </a:r>
          </a:p>
        </p:txBody>
      </p:sp>
      <p:sp>
        <p:nvSpPr>
          <p:cNvPr id="12"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p:txBody>
          <a:bodyPr/>
          <a:lstStyle/>
          <a:p>
            <a:fld id="{8D4D1E41-7A09-AB4A-A4E1-09765ADA2698}" type="slidenum">
              <a:rPr kumimoji="1" lang="zh-CN" altLang="en-US" smtClean="0"/>
              <a:t>84</a:t>
            </a:fld>
            <a:endParaRPr kumimoji="1" lang="zh-CN" altLang="en-US" dirty="0"/>
          </a:p>
        </p:txBody>
      </p:sp>
      <p:sp>
        <p:nvSpPr>
          <p:cNvPr id="23" name="内容占位符 2"/>
          <p:cNvSpPr txBox="1">
            <a:spLocks/>
          </p:cNvSpPr>
          <p:nvPr/>
        </p:nvSpPr>
        <p:spPr>
          <a:xfrm>
            <a:off x="838200" y="1510758"/>
            <a:ext cx="10515600" cy="4586694"/>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anose="05000000000000000000"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60363" marR="0" lvl="0" indent="-360363"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endParaRPr kumimoji="0" lang="zh-CN" altLang="en-US" sz="2800" u="none" strike="noStrike" kern="1200" cap="none" spc="0" normalizeH="0" baseline="0" noProof="0" dirty="0">
              <a:ln>
                <a:noFill/>
              </a:ln>
              <a:solidFill>
                <a:sysClr val="windowText" lastClr="000000"/>
              </a:solidFill>
              <a:effectLst/>
              <a:uLnTx/>
              <a:uFillTx/>
              <a:latin typeface="DengXian" panose="02010600030101010101" pitchFamily="2" charset="-122"/>
              <a:ea typeface="DengXian" panose="02010600030101010101" pitchFamily="2" charset="-122"/>
              <a:cs typeface="+mn-cs"/>
            </a:endParaRPr>
          </a:p>
        </p:txBody>
      </p:sp>
      <p:sp>
        <p:nvSpPr>
          <p:cNvPr id="24"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zh-CN" altLang="en-US" sz="4000" u="none" strike="noStrike" kern="1200" cap="none" spc="0" normalizeH="0" baseline="0" noProof="0" dirty="0">
              <a:ln>
                <a:noFill/>
              </a:ln>
              <a:solidFill>
                <a:prstClr val="black"/>
              </a:solidFill>
              <a:effectLst/>
              <a:uLnTx/>
              <a:uFillTx/>
              <a:latin typeface="DengXian" panose="02010600030101010101" pitchFamily="2" charset="-122"/>
              <a:ea typeface="DengXian" panose="02010600030101010101" pitchFamily="2" charset="-122"/>
              <a:cs typeface="+mj-cs"/>
            </a:endParaRPr>
          </a:p>
        </p:txBody>
      </p:sp>
      <p:sp>
        <p:nvSpPr>
          <p:cNvPr id="67" name="Rectangle 3"/>
          <p:cNvSpPr txBox="1">
            <a:spLocks noChangeArrowheads="1"/>
          </p:cNvSpPr>
          <p:nvPr/>
        </p:nvSpPr>
        <p:spPr bwMode="auto">
          <a:xfrm>
            <a:off x="5715471" y="5414033"/>
            <a:ext cx="4415873" cy="1366837"/>
          </a:xfrm>
          <a:prstGeom prst="rect">
            <a:avLst/>
          </a:prstGeom>
          <a:noFill/>
          <a:ln w="9525">
            <a:noFill/>
            <a:miter lim="800000"/>
            <a:headEnd/>
            <a:tailEnd/>
          </a:ln>
        </p:spPr>
        <p:txBody>
          <a:bodyPr/>
          <a:lstStyle/>
          <a:p>
            <a:pPr marL="196850" marR="0" lvl="0" indent="-252413" defTabSz="801688" eaLnBrk="1" fontAlgn="auto" latinLnBrk="0" hangingPunct="1">
              <a:lnSpc>
                <a:spcPct val="120000"/>
              </a:lnSpc>
              <a:spcBef>
                <a:spcPct val="30000"/>
              </a:spcBef>
              <a:spcAft>
                <a:spcPts val="0"/>
              </a:spcAft>
              <a:buClrTx/>
              <a:buSzPct val="80000"/>
              <a:buFont typeface="Wingdings" pitchFamily="2" charset="2"/>
              <a:buChar char="l"/>
              <a:tabLst/>
              <a:defRPr/>
            </a:pPr>
            <a:endParaRPr kumimoji="0" lang="en-US" altLang="zh-CN" sz="1800" b="0" i="0" u="none" strike="noStrike" kern="0" cap="none" spc="0" normalizeH="0" baseline="0" noProof="0" dirty="0">
              <a:ln>
                <a:noFill/>
              </a:ln>
              <a:solidFill>
                <a:prstClr val="black"/>
              </a:solidFill>
              <a:effectLst/>
              <a:uLnTx/>
              <a:uFillTx/>
              <a:cs typeface="Arial" charset="0"/>
            </a:endParaRPr>
          </a:p>
        </p:txBody>
      </p:sp>
    </p:spTree>
    <p:extLst>
      <p:ext uri="{BB962C8B-B14F-4D97-AF65-F5344CB8AC3E}">
        <p14:creationId xmlns:p14="http://schemas.microsoft.com/office/powerpoint/2010/main" val="36806304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lang="en-US" altLang="zh-CN" dirty="0"/>
              <a:t>OSPF-</a:t>
            </a:r>
            <a:r>
              <a:rPr lang="zh-CN" altLang="en-US" dirty="0"/>
              <a:t>区域的概念</a:t>
            </a:r>
            <a:endParaRPr kumimoji="1" lang="zh-CN" altLang="en-US" dirty="0"/>
          </a:p>
        </p:txBody>
      </p:sp>
      <p:sp>
        <p:nvSpPr>
          <p:cNvPr id="1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3243518" cy="365125"/>
          </a:xfrm>
        </p:spPr>
        <p:txBody>
          <a:bodyPr/>
          <a:lstStyle/>
          <a:p>
            <a:r>
              <a:rPr kumimoji="1" lang="en-US" altLang="zh-CN" dirty="0">
                <a:latin typeface="DengXian" panose="02010600030101010101" pitchFamily="2" charset="-122"/>
                <a:ea typeface="DengXian" panose="02010600030101010101" pitchFamily="2" charset="-122"/>
              </a:rPr>
              <a:t>5.4.1 OSPF-</a:t>
            </a:r>
            <a:r>
              <a:rPr kumimoji="1" lang="zh-CN" altLang="en-US" dirty="0">
                <a:latin typeface="DengXian" panose="02010600030101010101" pitchFamily="2" charset="-122"/>
                <a:ea typeface="DengXian" panose="02010600030101010101" pitchFamily="2" charset="-122"/>
              </a:rPr>
              <a:t>内部网关路由协议</a:t>
            </a:r>
          </a:p>
        </p:txBody>
      </p:sp>
      <p:sp>
        <p:nvSpPr>
          <p:cNvPr id="12"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p:txBody>
          <a:bodyPr/>
          <a:lstStyle/>
          <a:p>
            <a:fld id="{8D4D1E41-7A09-AB4A-A4E1-09765ADA2698}" type="slidenum">
              <a:rPr kumimoji="1" lang="zh-CN" altLang="en-US" smtClean="0"/>
              <a:t>85</a:t>
            </a:fld>
            <a:endParaRPr kumimoji="1" lang="zh-CN" altLang="en-US" dirty="0"/>
          </a:p>
        </p:txBody>
      </p:sp>
      <p:sp>
        <p:nvSpPr>
          <p:cNvPr id="23" name="内容占位符 2"/>
          <p:cNvSpPr txBox="1">
            <a:spLocks/>
          </p:cNvSpPr>
          <p:nvPr/>
        </p:nvSpPr>
        <p:spPr>
          <a:xfrm>
            <a:off x="838200" y="1510758"/>
            <a:ext cx="10515600" cy="4586694"/>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anose="05000000000000000000"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60363" marR="0" lvl="0" indent="-360363"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endParaRPr kumimoji="0" lang="zh-CN" altLang="en-US" sz="2800" u="none" strike="noStrike" kern="1200" cap="none" spc="0" normalizeH="0" baseline="0" noProof="0" dirty="0">
              <a:ln>
                <a:noFill/>
              </a:ln>
              <a:solidFill>
                <a:sysClr val="windowText" lastClr="000000"/>
              </a:solidFill>
              <a:effectLst/>
              <a:uLnTx/>
              <a:uFillTx/>
              <a:latin typeface="DengXian" panose="02010600030101010101" pitchFamily="2" charset="-122"/>
              <a:ea typeface="DengXian" panose="02010600030101010101" pitchFamily="2" charset="-122"/>
              <a:cs typeface="+mn-cs"/>
            </a:endParaRPr>
          </a:p>
        </p:txBody>
      </p:sp>
      <p:sp>
        <p:nvSpPr>
          <p:cNvPr id="24"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zh-CN" altLang="en-US" sz="4000" u="none" strike="noStrike" kern="1200" cap="none" spc="0" normalizeH="0" baseline="0" noProof="0" dirty="0">
              <a:ln>
                <a:noFill/>
              </a:ln>
              <a:solidFill>
                <a:prstClr val="black"/>
              </a:solidFill>
              <a:effectLst/>
              <a:uLnTx/>
              <a:uFillTx/>
              <a:latin typeface="DengXian" panose="02010600030101010101" pitchFamily="2" charset="-122"/>
              <a:ea typeface="DengXian" panose="02010600030101010101" pitchFamily="2" charset="-122"/>
              <a:cs typeface="+mj-cs"/>
            </a:endParaRPr>
          </a:p>
        </p:txBody>
      </p:sp>
      <p:sp>
        <p:nvSpPr>
          <p:cNvPr id="67" name="Rectangle 3"/>
          <p:cNvSpPr txBox="1">
            <a:spLocks noChangeArrowheads="1"/>
          </p:cNvSpPr>
          <p:nvPr/>
        </p:nvSpPr>
        <p:spPr bwMode="auto">
          <a:xfrm>
            <a:off x="5715471" y="5414033"/>
            <a:ext cx="4415873" cy="1366837"/>
          </a:xfrm>
          <a:prstGeom prst="rect">
            <a:avLst/>
          </a:prstGeom>
          <a:noFill/>
          <a:ln w="9525">
            <a:noFill/>
            <a:miter lim="800000"/>
            <a:headEnd/>
            <a:tailEnd/>
          </a:ln>
        </p:spPr>
        <p:txBody>
          <a:bodyPr/>
          <a:lstStyle/>
          <a:p>
            <a:pPr marL="196850" marR="0" lvl="0" indent="-252413" defTabSz="801688" eaLnBrk="1" fontAlgn="auto" latinLnBrk="0" hangingPunct="1">
              <a:lnSpc>
                <a:spcPct val="120000"/>
              </a:lnSpc>
              <a:spcBef>
                <a:spcPct val="30000"/>
              </a:spcBef>
              <a:spcAft>
                <a:spcPts val="0"/>
              </a:spcAft>
              <a:buClrTx/>
              <a:buSzPct val="80000"/>
              <a:buFont typeface="Wingdings" pitchFamily="2" charset="2"/>
              <a:buChar char="l"/>
              <a:tabLst/>
              <a:defRPr/>
            </a:pPr>
            <a:endParaRPr kumimoji="0" lang="en-US" altLang="zh-CN" sz="1800" b="0" i="0" u="none" strike="noStrike" kern="0" cap="none" spc="0" normalizeH="0" baseline="0" noProof="0" dirty="0">
              <a:ln>
                <a:noFill/>
              </a:ln>
              <a:solidFill>
                <a:prstClr val="black"/>
              </a:solidFill>
              <a:effectLst/>
              <a:uLnTx/>
              <a:uFillTx/>
              <a:cs typeface="Arial" charset="0"/>
            </a:endParaRPr>
          </a:p>
        </p:txBody>
      </p:sp>
      <p:sp>
        <p:nvSpPr>
          <p:cNvPr id="11" name="内容占位符 2"/>
          <p:cNvSpPr txBox="1">
            <a:spLocks/>
          </p:cNvSpPr>
          <p:nvPr/>
        </p:nvSpPr>
        <p:spPr>
          <a:xfrm>
            <a:off x="838197" y="1510758"/>
            <a:ext cx="4420334" cy="4586694"/>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altLang="zh-CN" dirty="0">
                <a:latin typeface="DengXian" panose="02010600030101010101" pitchFamily="2" charset="-122"/>
                <a:ea typeface="DengXian" panose="02010600030101010101" pitchFamily="2" charset="-122"/>
              </a:rPr>
              <a:t>OSPF</a:t>
            </a:r>
            <a:r>
              <a:rPr lang="zh-CN" altLang="en-US" dirty="0">
                <a:latin typeface="DengXian" panose="02010600030101010101" pitchFamily="2" charset="-122"/>
                <a:ea typeface="DengXian" panose="02010600030101010101" pitchFamily="2" charset="-122"/>
              </a:rPr>
              <a:t>的区域</a:t>
            </a:r>
            <a:endParaRPr lang="en-US" altLang="zh-CN" dirty="0">
              <a:latin typeface="DengXian" panose="02010600030101010101" pitchFamily="2" charset="-122"/>
              <a:ea typeface="DengXian" panose="02010600030101010101" pitchFamily="2" charset="-122"/>
            </a:endParaRPr>
          </a:p>
          <a:p>
            <a:pPr lvl="1" algn="just"/>
            <a:r>
              <a:rPr lang="zh-CN" altLang="en-US" dirty="0">
                <a:latin typeface="DengXian" panose="02010600030101010101" pitchFamily="2" charset="-122"/>
                <a:ea typeface="DengXian" panose="02010600030101010101" pitchFamily="2" charset="-122"/>
              </a:rPr>
              <a:t>主干区域</a:t>
            </a:r>
            <a:endParaRPr lang="en-US" altLang="zh-CN" dirty="0">
              <a:latin typeface="DengXian" panose="02010600030101010101" pitchFamily="2" charset="-122"/>
              <a:ea typeface="DengXian" panose="02010600030101010101" pitchFamily="2" charset="-122"/>
            </a:endParaRPr>
          </a:p>
          <a:p>
            <a:pPr lvl="1" algn="just"/>
            <a:r>
              <a:rPr lang="zh-CN" altLang="en-US" dirty="0">
                <a:latin typeface="DengXian" panose="02010600030101010101" pitchFamily="2" charset="-122"/>
                <a:ea typeface="DengXian" panose="02010600030101010101" pitchFamily="2" charset="-122"/>
              </a:rPr>
              <a:t>非主干区域</a:t>
            </a:r>
            <a:endParaRPr lang="en-US" altLang="zh-CN" dirty="0">
              <a:latin typeface="DengXian" panose="02010600030101010101" pitchFamily="2" charset="-122"/>
              <a:ea typeface="DengXian" panose="02010600030101010101" pitchFamily="2" charset="-122"/>
            </a:endParaRPr>
          </a:p>
          <a:p>
            <a:pPr algn="just"/>
            <a:r>
              <a:rPr lang="zh-CN" altLang="en-US" dirty="0">
                <a:latin typeface="DengXian" panose="02010600030101010101" pitchFamily="2" charset="-122"/>
                <a:ea typeface="DengXian" panose="02010600030101010101" pitchFamily="2" charset="-122"/>
              </a:rPr>
              <a:t>路由器角色</a:t>
            </a:r>
            <a:endParaRPr lang="en-US" altLang="zh-CN" dirty="0">
              <a:latin typeface="DengXian" panose="02010600030101010101" pitchFamily="2" charset="-122"/>
              <a:ea typeface="DengXian" panose="02010600030101010101" pitchFamily="2" charset="-122"/>
            </a:endParaRPr>
          </a:p>
          <a:p>
            <a:pPr lvl="1" algn="just"/>
            <a:r>
              <a:rPr lang="zh-CN" altLang="en-US" dirty="0">
                <a:latin typeface="DengXian" panose="02010600030101010101" pitchFamily="2" charset="-122"/>
                <a:ea typeface="DengXian" panose="02010600030101010101" pitchFamily="2" charset="-122"/>
              </a:rPr>
              <a:t>内部路由器</a:t>
            </a:r>
            <a:r>
              <a:rPr lang="en-US" altLang="zh-CN" dirty="0">
                <a:latin typeface="DengXian" panose="02010600030101010101" pitchFamily="2" charset="-122"/>
                <a:ea typeface="DengXian" panose="02010600030101010101" pitchFamily="2" charset="-122"/>
              </a:rPr>
              <a:t>(Internal Router</a:t>
            </a:r>
            <a:r>
              <a:rPr lang="zh-CN" altLang="en-US" dirty="0">
                <a:latin typeface="DengXian" panose="02010600030101010101" pitchFamily="2" charset="-122"/>
                <a:ea typeface="DengXian" panose="02010600030101010101" pitchFamily="2" charset="-122"/>
              </a:rPr>
              <a:t>，</a:t>
            </a:r>
            <a:r>
              <a:rPr lang="en-US" altLang="zh-CN" dirty="0">
                <a:latin typeface="DengXian" panose="02010600030101010101" pitchFamily="2" charset="-122"/>
                <a:ea typeface="DengXian" panose="02010600030101010101" pitchFamily="2" charset="-122"/>
              </a:rPr>
              <a:t>IR)</a:t>
            </a:r>
          </a:p>
          <a:p>
            <a:pPr lvl="1" algn="just"/>
            <a:r>
              <a:rPr lang="zh-CN" altLang="en-US" dirty="0">
                <a:latin typeface="DengXian" panose="02010600030101010101" pitchFamily="2" charset="-122"/>
                <a:ea typeface="DengXian" panose="02010600030101010101" pitchFamily="2" charset="-122"/>
              </a:rPr>
              <a:t>区域边界路由器</a:t>
            </a:r>
            <a:r>
              <a:rPr lang="en-US" altLang="zh-CN" dirty="0">
                <a:latin typeface="DengXian" panose="02010600030101010101" pitchFamily="2" charset="-122"/>
                <a:ea typeface="DengXian" panose="02010600030101010101" pitchFamily="2" charset="-122"/>
              </a:rPr>
              <a:t>(Area Bounder</a:t>
            </a:r>
            <a:r>
              <a:rPr lang="zh-CN" altLang="en-US" dirty="0">
                <a:latin typeface="DengXian" panose="02010600030101010101" pitchFamily="2" charset="-122"/>
                <a:ea typeface="DengXian" panose="02010600030101010101" pitchFamily="2" charset="-122"/>
              </a:rPr>
              <a:t> </a:t>
            </a:r>
            <a:r>
              <a:rPr lang="en-US" altLang="zh-CN" dirty="0">
                <a:latin typeface="DengXian" panose="02010600030101010101" pitchFamily="2" charset="-122"/>
                <a:ea typeface="DengXian" panose="02010600030101010101" pitchFamily="2" charset="-122"/>
              </a:rPr>
              <a:t>Router</a:t>
            </a:r>
            <a:r>
              <a:rPr lang="zh-CN" altLang="en-US" dirty="0">
                <a:latin typeface="DengXian" panose="02010600030101010101" pitchFamily="2" charset="-122"/>
                <a:ea typeface="DengXian" panose="02010600030101010101" pitchFamily="2" charset="-122"/>
              </a:rPr>
              <a:t>，</a:t>
            </a:r>
            <a:r>
              <a:rPr lang="en-US" altLang="zh-CN" dirty="0">
                <a:latin typeface="DengXian" panose="02010600030101010101" pitchFamily="2" charset="-122"/>
                <a:ea typeface="DengXian" panose="02010600030101010101" pitchFamily="2" charset="-122"/>
              </a:rPr>
              <a:t>ABR)</a:t>
            </a:r>
          </a:p>
          <a:p>
            <a:pPr lvl="1" algn="just"/>
            <a:r>
              <a:rPr lang="zh-CN" altLang="en-US" dirty="0">
                <a:latin typeface="DengXian" panose="02010600030101010101" pitchFamily="2" charset="-122"/>
                <a:ea typeface="DengXian" panose="02010600030101010101" pitchFamily="2" charset="-122"/>
              </a:rPr>
              <a:t>自治系统边界路由器</a:t>
            </a:r>
            <a:r>
              <a:rPr lang="en-US" altLang="zh-CN" dirty="0">
                <a:latin typeface="DengXian" panose="02010600030101010101" pitchFamily="2" charset="-122"/>
                <a:ea typeface="DengXian" panose="02010600030101010101" pitchFamily="2" charset="-122"/>
              </a:rPr>
              <a:t>(AS Bounder Router, ASBR)</a:t>
            </a:r>
          </a:p>
        </p:txBody>
      </p:sp>
      <p:sp>
        <p:nvSpPr>
          <p:cNvPr id="13" name="AutoShape 33"/>
          <p:cNvSpPr>
            <a:spLocks noChangeArrowheads="1"/>
          </p:cNvSpPr>
          <p:nvPr/>
        </p:nvSpPr>
        <p:spPr bwMode="auto">
          <a:xfrm>
            <a:off x="8231595" y="1613391"/>
            <a:ext cx="2376487" cy="1081088"/>
          </a:xfrm>
          <a:prstGeom prst="wedgeRectCallout">
            <a:avLst>
              <a:gd name="adj1" fmla="val -23397"/>
              <a:gd name="adj2" fmla="val 79313"/>
            </a:avLst>
          </a:prstGeom>
          <a:solidFill>
            <a:schemeClr val="bg1"/>
          </a:solidFill>
          <a:ln w="3175" algn="ctr">
            <a:solidFill>
              <a:srgbClr val="999999"/>
            </a:solidFill>
            <a:miter lim="800000"/>
            <a:headEnd/>
            <a:tailEnd/>
          </a:ln>
        </p:spPr>
        <p:txBody>
          <a:bodyPr lIns="0" tIns="0" rIns="0" bIns="0" anchor="ctr" anchorCtr="1"/>
          <a:lstStyle>
            <a:lvl1pPr eaLnBrk="0" hangingPunct="0">
              <a:defRPr>
                <a:solidFill>
                  <a:schemeClr val="tx1"/>
                </a:solidFill>
                <a:latin typeface="Arial" panose="020B0604020202020204" pitchFamily="34" charset="0"/>
                <a:ea typeface="华文细黑" panose="02010600040101010101" pitchFamily="2" charset="-122"/>
              </a:defRPr>
            </a:lvl1pPr>
            <a:lvl2pPr marL="742950" indent="-285750" eaLnBrk="0" hangingPunct="0">
              <a:defRPr>
                <a:solidFill>
                  <a:schemeClr val="tx1"/>
                </a:solidFill>
                <a:latin typeface="Arial" panose="020B0604020202020204" pitchFamily="34" charset="0"/>
                <a:ea typeface="华文细黑" panose="02010600040101010101" pitchFamily="2" charset="-122"/>
              </a:defRPr>
            </a:lvl2pPr>
            <a:lvl3pPr marL="1143000" indent="-228600" eaLnBrk="0" hangingPunct="0">
              <a:defRPr>
                <a:solidFill>
                  <a:schemeClr val="tx1"/>
                </a:solidFill>
                <a:latin typeface="Arial" panose="020B0604020202020204" pitchFamily="34" charset="0"/>
                <a:ea typeface="华文细黑" panose="02010600040101010101" pitchFamily="2" charset="-122"/>
              </a:defRPr>
            </a:lvl3pPr>
            <a:lvl4pPr marL="1600200" indent="-228600" eaLnBrk="0" hangingPunct="0">
              <a:defRPr>
                <a:solidFill>
                  <a:schemeClr val="tx1"/>
                </a:solidFill>
                <a:latin typeface="Arial" panose="020B0604020202020204" pitchFamily="34" charset="0"/>
                <a:ea typeface="华文细黑" panose="02010600040101010101" pitchFamily="2" charset="-122"/>
              </a:defRPr>
            </a:lvl4pPr>
            <a:lvl5pPr marL="2057400" indent="-228600" eaLnBrk="0" hangingPunct="0">
              <a:defRPr>
                <a:solidFill>
                  <a:schemeClr val="tx1"/>
                </a:solidFill>
                <a:latin typeface="Arial" panose="020B0604020202020204" pitchFamily="34" charset="0"/>
                <a:ea typeface="华文细黑" panose="02010600040101010101" pitchFamily="2" charset="-122"/>
              </a:defRPr>
            </a:lvl5pPr>
            <a:lvl6pPr marL="2514600" indent="-228600" eaLnBrk="0" fontAlgn="t"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6pPr>
            <a:lvl7pPr marL="2971800" indent="-228600" eaLnBrk="0" fontAlgn="t"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7pPr>
            <a:lvl8pPr marL="3429000" indent="-228600" eaLnBrk="0" fontAlgn="t"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8pPr>
            <a:lvl9pPr marL="3886200" indent="-228600" eaLnBrk="0" fontAlgn="t" hangingPunct="0">
              <a:spcBef>
                <a:spcPct val="0"/>
              </a:spcBef>
              <a:spcAft>
                <a:spcPct val="0"/>
              </a:spcAft>
              <a:defRPr>
                <a:solidFill>
                  <a:schemeClr val="tx1"/>
                </a:solidFill>
                <a:latin typeface="Arial" panose="020B0604020202020204" pitchFamily="34" charset="0"/>
                <a:ea typeface="华文细黑" panose="02010600040101010101" pitchFamily="2" charset="-122"/>
              </a:defRPr>
            </a:lvl9pPr>
          </a:lstStyle>
          <a:p>
            <a:pPr algn="ctr" eaLnBrk="1" fontAlgn="base" hangingPunct="1">
              <a:spcBef>
                <a:spcPct val="20000"/>
              </a:spcBef>
              <a:buClr>
                <a:srgbClr val="A50021"/>
              </a:buClr>
              <a:buSzPct val="80000"/>
              <a:buFont typeface="Wingdings" panose="05000000000000000000" pitchFamily="2" charset="2"/>
              <a:buNone/>
            </a:pPr>
            <a:r>
              <a:rPr lang="en-US" altLang="zh-CN" dirty="0"/>
              <a:t>Area 0</a:t>
            </a:r>
            <a:r>
              <a:rPr lang="zh-CN" altLang="en-US" dirty="0"/>
              <a:t>为主干区域，所有</a:t>
            </a:r>
            <a:r>
              <a:rPr lang="en-US" altLang="zh-CN" dirty="0"/>
              <a:t>ABR</a:t>
            </a:r>
            <a:r>
              <a:rPr lang="zh-CN" altLang="en-US" dirty="0"/>
              <a:t>都至少有一个接口属于</a:t>
            </a:r>
            <a:r>
              <a:rPr lang="en-US" altLang="zh-CN" dirty="0"/>
              <a:t>Area 0</a:t>
            </a:r>
          </a:p>
        </p:txBody>
      </p:sp>
      <p:sp>
        <p:nvSpPr>
          <p:cNvPr id="14" name="Oval 3"/>
          <p:cNvSpPr>
            <a:spLocks noChangeArrowheads="1"/>
          </p:cNvSpPr>
          <p:nvPr/>
        </p:nvSpPr>
        <p:spPr bwMode="auto">
          <a:xfrm>
            <a:off x="6914715" y="3064187"/>
            <a:ext cx="961464" cy="936104"/>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p>
        </p:txBody>
      </p:sp>
      <p:sp>
        <p:nvSpPr>
          <p:cNvPr id="15" name="Oval 3"/>
          <p:cNvSpPr>
            <a:spLocks noChangeArrowheads="1"/>
          </p:cNvSpPr>
          <p:nvPr/>
        </p:nvSpPr>
        <p:spPr bwMode="auto">
          <a:xfrm>
            <a:off x="9820395" y="2920171"/>
            <a:ext cx="1080120" cy="864096"/>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p>
        </p:txBody>
      </p:sp>
      <p:sp>
        <p:nvSpPr>
          <p:cNvPr id="16" name="Oval 3"/>
          <p:cNvSpPr>
            <a:spLocks noChangeArrowheads="1"/>
          </p:cNvSpPr>
          <p:nvPr/>
        </p:nvSpPr>
        <p:spPr bwMode="auto">
          <a:xfrm>
            <a:off x="6292003" y="4432339"/>
            <a:ext cx="1872208" cy="1440160"/>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p>
        </p:txBody>
      </p:sp>
      <p:sp>
        <p:nvSpPr>
          <p:cNvPr id="17" name="Oval 3"/>
          <p:cNvSpPr>
            <a:spLocks noChangeArrowheads="1"/>
          </p:cNvSpPr>
          <p:nvPr/>
        </p:nvSpPr>
        <p:spPr bwMode="auto">
          <a:xfrm>
            <a:off x="9316339" y="4648363"/>
            <a:ext cx="2088232" cy="1296144"/>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a:p>
        </p:txBody>
      </p:sp>
      <p:sp>
        <p:nvSpPr>
          <p:cNvPr id="18" name="Oval 3"/>
          <p:cNvSpPr>
            <a:spLocks noChangeArrowheads="1"/>
          </p:cNvSpPr>
          <p:nvPr/>
        </p:nvSpPr>
        <p:spPr bwMode="auto">
          <a:xfrm>
            <a:off x="7804171" y="3064187"/>
            <a:ext cx="2160240" cy="2016224"/>
          </a:xfrm>
          <a:prstGeom prst="ellipse">
            <a:avLst/>
          </a:prstGeom>
          <a:solidFill>
            <a:schemeClr val="bg1">
              <a:alpha val="39999"/>
            </a:schemeClr>
          </a:solidFill>
          <a:ln w="12700" algn="ctr">
            <a:solidFill>
              <a:srgbClr val="009999"/>
            </a:solidFill>
            <a:prstDash val="dash"/>
            <a:round/>
            <a:headEnd/>
            <a:tailEnd/>
          </a:ln>
        </p:spPr>
        <p:txBody>
          <a:bodyPr wrap="none" anchor="ctr"/>
          <a:lstStyle/>
          <a:p>
            <a:endParaRPr lang="zh-CN" altLang="en-US" dirty="0"/>
          </a:p>
        </p:txBody>
      </p:sp>
      <p:pic>
        <p:nvPicPr>
          <p:cNvPr id="19" name="Picture 3"/>
          <p:cNvPicPr>
            <a:picLocks noChangeAspect="1" noChangeArrowheads="1"/>
          </p:cNvPicPr>
          <p:nvPr/>
        </p:nvPicPr>
        <p:blipFill>
          <a:blip r:embed="rId3" cstate="print"/>
          <a:srcRect/>
          <a:stretch>
            <a:fillRect/>
          </a:stretch>
        </p:blipFill>
        <p:spPr bwMode="auto">
          <a:xfrm>
            <a:off x="8308227" y="3640252"/>
            <a:ext cx="432048" cy="288032"/>
          </a:xfrm>
          <a:prstGeom prst="rect">
            <a:avLst/>
          </a:prstGeom>
          <a:noFill/>
          <a:ln w="9525">
            <a:noFill/>
            <a:miter lim="800000"/>
            <a:headEnd/>
            <a:tailEnd/>
          </a:ln>
        </p:spPr>
      </p:pic>
      <p:pic>
        <p:nvPicPr>
          <p:cNvPr id="20" name="Picture 3"/>
          <p:cNvPicPr>
            <a:picLocks noChangeAspect="1" noChangeArrowheads="1"/>
          </p:cNvPicPr>
          <p:nvPr/>
        </p:nvPicPr>
        <p:blipFill>
          <a:blip r:embed="rId3" cstate="print"/>
          <a:srcRect/>
          <a:stretch>
            <a:fillRect/>
          </a:stretch>
        </p:blipFill>
        <p:spPr bwMode="auto">
          <a:xfrm>
            <a:off x="9100315" y="3640251"/>
            <a:ext cx="432048" cy="288032"/>
          </a:xfrm>
          <a:prstGeom prst="rect">
            <a:avLst/>
          </a:prstGeom>
          <a:noFill/>
          <a:ln w="9525">
            <a:noFill/>
            <a:miter lim="800000"/>
            <a:headEnd/>
            <a:tailEnd/>
          </a:ln>
        </p:spPr>
      </p:pic>
      <p:pic>
        <p:nvPicPr>
          <p:cNvPr id="21" name="Picture 3"/>
          <p:cNvPicPr>
            <a:picLocks noChangeAspect="1" noChangeArrowheads="1"/>
          </p:cNvPicPr>
          <p:nvPr/>
        </p:nvPicPr>
        <p:blipFill>
          <a:blip r:embed="rId3" cstate="print"/>
          <a:srcRect/>
          <a:stretch>
            <a:fillRect/>
          </a:stretch>
        </p:blipFill>
        <p:spPr bwMode="auto">
          <a:xfrm>
            <a:off x="9676379" y="3352219"/>
            <a:ext cx="432048" cy="288032"/>
          </a:xfrm>
          <a:prstGeom prst="rect">
            <a:avLst/>
          </a:prstGeom>
          <a:noFill/>
          <a:ln w="9525">
            <a:noFill/>
            <a:miter lim="800000"/>
            <a:headEnd/>
            <a:tailEnd/>
          </a:ln>
        </p:spPr>
      </p:pic>
      <p:pic>
        <p:nvPicPr>
          <p:cNvPr id="22" name="Picture 3"/>
          <p:cNvPicPr>
            <a:picLocks noChangeAspect="1" noChangeArrowheads="1"/>
          </p:cNvPicPr>
          <p:nvPr/>
        </p:nvPicPr>
        <p:blipFill>
          <a:blip r:embed="rId3" cstate="print"/>
          <a:srcRect/>
          <a:stretch>
            <a:fillRect/>
          </a:stretch>
        </p:blipFill>
        <p:spPr bwMode="auto">
          <a:xfrm>
            <a:off x="9100315" y="4288323"/>
            <a:ext cx="432048" cy="288032"/>
          </a:xfrm>
          <a:prstGeom prst="rect">
            <a:avLst/>
          </a:prstGeom>
          <a:noFill/>
          <a:ln w="9525">
            <a:noFill/>
            <a:miter lim="800000"/>
            <a:headEnd/>
            <a:tailEnd/>
          </a:ln>
        </p:spPr>
      </p:pic>
      <p:pic>
        <p:nvPicPr>
          <p:cNvPr id="25" name="Picture 3"/>
          <p:cNvPicPr>
            <a:picLocks noChangeAspect="1" noChangeArrowheads="1"/>
          </p:cNvPicPr>
          <p:nvPr/>
        </p:nvPicPr>
        <p:blipFill>
          <a:blip r:embed="rId3" cstate="print"/>
          <a:srcRect/>
          <a:stretch>
            <a:fillRect/>
          </a:stretch>
        </p:blipFill>
        <p:spPr bwMode="auto">
          <a:xfrm>
            <a:off x="7732163" y="4648363"/>
            <a:ext cx="432048" cy="288032"/>
          </a:xfrm>
          <a:prstGeom prst="rect">
            <a:avLst/>
          </a:prstGeom>
          <a:noFill/>
          <a:ln w="9525">
            <a:noFill/>
            <a:miter lim="800000"/>
            <a:headEnd/>
            <a:tailEnd/>
          </a:ln>
        </p:spPr>
      </p:pic>
      <p:pic>
        <p:nvPicPr>
          <p:cNvPr id="26" name="Picture 3"/>
          <p:cNvPicPr>
            <a:picLocks noChangeAspect="1" noChangeArrowheads="1"/>
          </p:cNvPicPr>
          <p:nvPr/>
        </p:nvPicPr>
        <p:blipFill>
          <a:blip r:embed="rId3" cstate="print"/>
          <a:srcRect/>
          <a:stretch>
            <a:fillRect/>
          </a:stretch>
        </p:blipFill>
        <p:spPr bwMode="auto">
          <a:xfrm>
            <a:off x="6868067" y="4648363"/>
            <a:ext cx="432048" cy="288032"/>
          </a:xfrm>
          <a:prstGeom prst="rect">
            <a:avLst/>
          </a:prstGeom>
          <a:noFill/>
          <a:ln w="9525">
            <a:noFill/>
            <a:miter lim="800000"/>
            <a:headEnd/>
            <a:tailEnd/>
          </a:ln>
        </p:spPr>
      </p:pic>
      <p:pic>
        <p:nvPicPr>
          <p:cNvPr id="27" name="Picture 3"/>
          <p:cNvPicPr>
            <a:picLocks noChangeAspect="1" noChangeArrowheads="1"/>
          </p:cNvPicPr>
          <p:nvPr/>
        </p:nvPicPr>
        <p:blipFill>
          <a:blip r:embed="rId3" cstate="print"/>
          <a:srcRect/>
          <a:stretch>
            <a:fillRect/>
          </a:stretch>
        </p:blipFill>
        <p:spPr bwMode="auto">
          <a:xfrm>
            <a:off x="7650908" y="3352219"/>
            <a:ext cx="432048" cy="288032"/>
          </a:xfrm>
          <a:prstGeom prst="rect">
            <a:avLst/>
          </a:prstGeom>
          <a:noFill/>
          <a:ln w="9525">
            <a:noFill/>
            <a:miter lim="800000"/>
            <a:headEnd/>
            <a:tailEnd/>
          </a:ln>
        </p:spPr>
      </p:pic>
      <p:pic>
        <p:nvPicPr>
          <p:cNvPr id="28" name="Picture 3"/>
          <p:cNvPicPr>
            <a:picLocks noChangeAspect="1" noChangeArrowheads="1"/>
          </p:cNvPicPr>
          <p:nvPr/>
        </p:nvPicPr>
        <p:blipFill>
          <a:blip r:embed="rId3" cstate="print"/>
          <a:srcRect/>
          <a:stretch>
            <a:fillRect/>
          </a:stretch>
        </p:blipFill>
        <p:spPr bwMode="auto">
          <a:xfrm>
            <a:off x="6868067" y="3208203"/>
            <a:ext cx="432048" cy="288032"/>
          </a:xfrm>
          <a:prstGeom prst="rect">
            <a:avLst/>
          </a:prstGeom>
          <a:noFill/>
          <a:ln w="9525">
            <a:noFill/>
            <a:miter lim="800000"/>
            <a:headEnd/>
            <a:tailEnd/>
          </a:ln>
        </p:spPr>
      </p:pic>
      <p:pic>
        <p:nvPicPr>
          <p:cNvPr id="29" name="Picture 3"/>
          <p:cNvPicPr>
            <a:picLocks noChangeAspect="1" noChangeArrowheads="1"/>
          </p:cNvPicPr>
          <p:nvPr/>
        </p:nvPicPr>
        <p:blipFill>
          <a:blip r:embed="rId3" cstate="print"/>
          <a:srcRect/>
          <a:stretch>
            <a:fillRect/>
          </a:stretch>
        </p:blipFill>
        <p:spPr bwMode="auto">
          <a:xfrm>
            <a:off x="7156099" y="5224427"/>
            <a:ext cx="432048" cy="288032"/>
          </a:xfrm>
          <a:prstGeom prst="rect">
            <a:avLst/>
          </a:prstGeom>
          <a:noFill/>
          <a:ln w="9525">
            <a:noFill/>
            <a:miter lim="800000"/>
            <a:headEnd/>
            <a:tailEnd/>
          </a:ln>
        </p:spPr>
      </p:pic>
      <p:pic>
        <p:nvPicPr>
          <p:cNvPr id="30" name="Picture 3"/>
          <p:cNvPicPr>
            <a:picLocks noChangeAspect="1" noChangeArrowheads="1"/>
          </p:cNvPicPr>
          <p:nvPr/>
        </p:nvPicPr>
        <p:blipFill>
          <a:blip r:embed="rId3" cstate="print"/>
          <a:srcRect/>
          <a:stretch>
            <a:fillRect/>
          </a:stretch>
        </p:blipFill>
        <p:spPr bwMode="auto">
          <a:xfrm>
            <a:off x="10324451" y="4720371"/>
            <a:ext cx="432048" cy="288032"/>
          </a:xfrm>
          <a:prstGeom prst="rect">
            <a:avLst/>
          </a:prstGeom>
          <a:noFill/>
          <a:ln w="9525">
            <a:noFill/>
            <a:miter lim="800000"/>
            <a:headEnd/>
            <a:tailEnd/>
          </a:ln>
        </p:spPr>
      </p:pic>
      <p:pic>
        <p:nvPicPr>
          <p:cNvPr id="31" name="Picture 3"/>
          <p:cNvPicPr>
            <a:picLocks noChangeAspect="1" noChangeArrowheads="1"/>
          </p:cNvPicPr>
          <p:nvPr/>
        </p:nvPicPr>
        <p:blipFill>
          <a:blip r:embed="rId3" cstate="print"/>
          <a:srcRect/>
          <a:stretch>
            <a:fillRect/>
          </a:stretch>
        </p:blipFill>
        <p:spPr bwMode="auto">
          <a:xfrm>
            <a:off x="9532363" y="4728755"/>
            <a:ext cx="432048" cy="288032"/>
          </a:xfrm>
          <a:prstGeom prst="rect">
            <a:avLst/>
          </a:prstGeom>
          <a:noFill/>
          <a:ln w="9525">
            <a:noFill/>
            <a:miter lim="800000"/>
            <a:headEnd/>
            <a:tailEnd/>
          </a:ln>
        </p:spPr>
      </p:pic>
      <p:pic>
        <p:nvPicPr>
          <p:cNvPr id="32" name="Picture 3"/>
          <p:cNvPicPr>
            <a:picLocks noChangeAspect="1" noChangeArrowheads="1"/>
          </p:cNvPicPr>
          <p:nvPr/>
        </p:nvPicPr>
        <p:blipFill>
          <a:blip r:embed="rId3" cstate="print"/>
          <a:srcRect/>
          <a:stretch>
            <a:fillRect/>
          </a:stretch>
        </p:blipFill>
        <p:spPr bwMode="auto">
          <a:xfrm>
            <a:off x="9532363" y="5368443"/>
            <a:ext cx="432048" cy="288032"/>
          </a:xfrm>
          <a:prstGeom prst="rect">
            <a:avLst/>
          </a:prstGeom>
          <a:noFill/>
          <a:ln w="9525">
            <a:noFill/>
            <a:miter lim="800000"/>
            <a:headEnd/>
            <a:tailEnd/>
          </a:ln>
        </p:spPr>
      </p:pic>
      <p:pic>
        <p:nvPicPr>
          <p:cNvPr id="33" name="Picture 3"/>
          <p:cNvPicPr>
            <a:picLocks noChangeAspect="1" noChangeArrowheads="1"/>
          </p:cNvPicPr>
          <p:nvPr/>
        </p:nvPicPr>
        <p:blipFill>
          <a:blip r:embed="rId3" cstate="print"/>
          <a:srcRect/>
          <a:stretch>
            <a:fillRect/>
          </a:stretch>
        </p:blipFill>
        <p:spPr bwMode="auto">
          <a:xfrm>
            <a:off x="10324451" y="5368443"/>
            <a:ext cx="432048" cy="288032"/>
          </a:xfrm>
          <a:prstGeom prst="rect">
            <a:avLst/>
          </a:prstGeom>
          <a:noFill/>
          <a:ln w="9525">
            <a:noFill/>
            <a:miter lim="800000"/>
            <a:headEnd/>
            <a:tailEnd/>
          </a:ln>
        </p:spPr>
      </p:pic>
      <p:cxnSp>
        <p:nvCxnSpPr>
          <p:cNvPr id="34" name="直接连接符 33"/>
          <p:cNvCxnSpPr>
            <a:stCxn id="19" idx="3"/>
          </p:cNvCxnSpPr>
          <p:nvPr/>
        </p:nvCxnSpPr>
        <p:spPr bwMode="auto">
          <a:xfrm flipV="1">
            <a:off x="8740275" y="3784267"/>
            <a:ext cx="360040" cy="1"/>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5" name="直接连接符 34"/>
          <p:cNvCxnSpPr>
            <a:stCxn id="19" idx="2"/>
          </p:cNvCxnSpPr>
          <p:nvPr/>
        </p:nvCxnSpPr>
        <p:spPr bwMode="auto">
          <a:xfrm>
            <a:off x="8524251" y="3928284"/>
            <a:ext cx="0" cy="360039"/>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6" name="直接连接符 35"/>
          <p:cNvCxnSpPr>
            <a:stCxn id="20" idx="2"/>
          </p:cNvCxnSpPr>
          <p:nvPr/>
        </p:nvCxnSpPr>
        <p:spPr bwMode="auto">
          <a:xfrm>
            <a:off x="9316339" y="3928283"/>
            <a:ext cx="0" cy="360040"/>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7" name="直接连接符 36"/>
          <p:cNvCxnSpPr>
            <a:stCxn id="27" idx="1"/>
          </p:cNvCxnSpPr>
          <p:nvPr/>
        </p:nvCxnSpPr>
        <p:spPr bwMode="auto">
          <a:xfrm flipH="1" flipV="1">
            <a:off x="7290868" y="3424227"/>
            <a:ext cx="360040" cy="72008"/>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8" name="直接连接符 37"/>
          <p:cNvCxnSpPr>
            <a:stCxn id="25" idx="1"/>
            <a:endCxn id="26" idx="3"/>
          </p:cNvCxnSpPr>
          <p:nvPr/>
        </p:nvCxnSpPr>
        <p:spPr bwMode="auto">
          <a:xfrm flipH="1">
            <a:off x="7300115" y="4792379"/>
            <a:ext cx="432048" cy="0"/>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39" name="直接连接符 38"/>
          <p:cNvCxnSpPr/>
          <p:nvPr/>
        </p:nvCxnSpPr>
        <p:spPr bwMode="auto">
          <a:xfrm flipH="1">
            <a:off x="7516139" y="4936395"/>
            <a:ext cx="216024" cy="288032"/>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0" name="直接连接符 39"/>
          <p:cNvCxnSpPr>
            <a:stCxn id="31" idx="2"/>
          </p:cNvCxnSpPr>
          <p:nvPr/>
        </p:nvCxnSpPr>
        <p:spPr bwMode="auto">
          <a:xfrm>
            <a:off x="9748387" y="5016787"/>
            <a:ext cx="0" cy="351656"/>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1" name="直接连接符 40"/>
          <p:cNvCxnSpPr>
            <a:stCxn id="32" idx="3"/>
            <a:endCxn id="33" idx="1"/>
          </p:cNvCxnSpPr>
          <p:nvPr/>
        </p:nvCxnSpPr>
        <p:spPr bwMode="auto">
          <a:xfrm>
            <a:off x="9964411" y="5512459"/>
            <a:ext cx="360040" cy="0"/>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2" name="直接连接符 41"/>
          <p:cNvCxnSpPr>
            <a:stCxn id="30" idx="2"/>
            <a:endCxn id="33" idx="0"/>
          </p:cNvCxnSpPr>
          <p:nvPr/>
        </p:nvCxnSpPr>
        <p:spPr bwMode="auto">
          <a:xfrm>
            <a:off x="10540475" y="5008403"/>
            <a:ext cx="0" cy="360040"/>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43" name="直接连接符 42"/>
          <p:cNvCxnSpPr>
            <a:stCxn id="31" idx="3"/>
          </p:cNvCxnSpPr>
          <p:nvPr/>
        </p:nvCxnSpPr>
        <p:spPr bwMode="auto">
          <a:xfrm flipV="1">
            <a:off x="9964411" y="4864387"/>
            <a:ext cx="360040" cy="8384"/>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44" name="TextBox 200"/>
          <p:cNvSpPr txBox="1"/>
          <p:nvPr/>
        </p:nvSpPr>
        <p:spPr>
          <a:xfrm>
            <a:off x="8452243" y="4648363"/>
            <a:ext cx="708848" cy="307777"/>
          </a:xfrm>
          <a:prstGeom prst="rect">
            <a:avLst/>
          </a:prstGeom>
          <a:noFill/>
        </p:spPr>
        <p:txBody>
          <a:bodyPr wrap="none" rtlCol="0">
            <a:spAutoFit/>
          </a:bodyPr>
          <a:lstStyle/>
          <a:p>
            <a:r>
              <a:rPr lang="en-US" altLang="zh-CN" sz="1400" b="1" dirty="0">
                <a:latin typeface="等线" panose="02010600030101010101" pitchFamily="2" charset="-122"/>
                <a:ea typeface="等线" panose="02010600030101010101" pitchFamily="2" charset="-122"/>
              </a:rPr>
              <a:t>Area 0</a:t>
            </a:r>
            <a:endParaRPr lang="zh-CN" altLang="en-US" sz="1400" b="1" dirty="0">
              <a:latin typeface="等线" panose="02010600030101010101" pitchFamily="2" charset="-122"/>
              <a:ea typeface="等线" panose="02010600030101010101" pitchFamily="2" charset="-122"/>
            </a:endParaRPr>
          </a:p>
        </p:txBody>
      </p:sp>
      <p:sp>
        <p:nvSpPr>
          <p:cNvPr id="45" name="TextBox 201"/>
          <p:cNvSpPr txBox="1"/>
          <p:nvPr/>
        </p:nvSpPr>
        <p:spPr>
          <a:xfrm>
            <a:off x="6995970" y="3574340"/>
            <a:ext cx="854849" cy="307777"/>
          </a:xfrm>
          <a:prstGeom prst="rect">
            <a:avLst/>
          </a:prstGeom>
          <a:noFill/>
        </p:spPr>
        <p:txBody>
          <a:bodyPr wrap="square" rtlCol="0">
            <a:spAutoFit/>
          </a:bodyPr>
          <a:lstStyle/>
          <a:p>
            <a:r>
              <a:rPr lang="en-US" altLang="zh-CN" sz="1400" b="1" dirty="0">
                <a:latin typeface="等线" panose="02010600030101010101" pitchFamily="2" charset="-122"/>
                <a:ea typeface="等线" panose="02010600030101010101" pitchFamily="2" charset="-122"/>
              </a:rPr>
              <a:t>Area 1</a:t>
            </a:r>
            <a:endParaRPr lang="zh-CN" altLang="en-US" sz="1400" b="1" dirty="0">
              <a:latin typeface="等线" panose="02010600030101010101" pitchFamily="2" charset="-122"/>
              <a:ea typeface="等线" panose="02010600030101010101" pitchFamily="2" charset="-122"/>
            </a:endParaRPr>
          </a:p>
        </p:txBody>
      </p:sp>
      <p:sp>
        <p:nvSpPr>
          <p:cNvPr id="46" name="TextBox 202"/>
          <p:cNvSpPr txBox="1"/>
          <p:nvPr/>
        </p:nvSpPr>
        <p:spPr>
          <a:xfrm>
            <a:off x="6364011" y="5008403"/>
            <a:ext cx="708848" cy="307777"/>
          </a:xfrm>
          <a:prstGeom prst="rect">
            <a:avLst/>
          </a:prstGeom>
          <a:noFill/>
        </p:spPr>
        <p:txBody>
          <a:bodyPr wrap="none" rtlCol="0">
            <a:spAutoFit/>
          </a:bodyPr>
          <a:lstStyle/>
          <a:p>
            <a:r>
              <a:rPr lang="en-US" altLang="zh-CN" sz="1400" b="1" dirty="0">
                <a:latin typeface="等线" panose="02010600030101010101" pitchFamily="2" charset="-122"/>
                <a:ea typeface="等线" panose="02010600030101010101" pitchFamily="2" charset="-122"/>
              </a:rPr>
              <a:t>Area 2</a:t>
            </a:r>
            <a:endParaRPr lang="zh-CN" altLang="en-US" sz="1400" b="1" dirty="0">
              <a:latin typeface="等线" panose="02010600030101010101" pitchFamily="2" charset="-122"/>
              <a:ea typeface="等线" panose="02010600030101010101" pitchFamily="2" charset="-122"/>
            </a:endParaRPr>
          </a:p>
        </p:txBody>
      </p:sp>
      <p:sp>
        <p:nvSpPr>
          <p:cNvPr id="47" name="TextBox 203"/>
          <p:cNvSpPr txBox="1"/>
          <p:nvPr/>
        </p:nvSpPr>
        <p:spPr>
          <a:xfrm>
            <a:off x="9964411" y="2992179"/>
            <a:ext cx="708848" cy="307777"/>
          </a:xfrm>
          <a:prstGeom prst="rect">
            <a:avLst/>
          </a:prstGeom>
          <a:noFill/>
        </p:spPr>
        <p:txBody>
          <a:bodyPr wrap="none" rtlCol="0">
            <a:spAutoFit/>
          </a:bodyPr>
          <a:lstStyle/>
          <a:p>
            <a:r>
              <a:rPr lang="en-US" altLang="zh-CN" sz="1400" b="1" dirty="0">
                <a:latin typeface="等线" panose="02010600030101010101" pitchFamily="2" charset="-122"/>
                <a:ea typeface="等线" panose="02010600030101010101" pitchFamily="2" charset="-122"/>
              </a:rPr>
              <a:t>Area 3</a:t>
            </a:r>
            <a:endParaRPr lang="zh-CN" altLang="en-US" sz="1400" b="1" dirty="0">
              <a:latin typeface="等线" panose="02010600030101010101" pitchFamily="2" charset="-122"/>
              <a:ea typeface="等线" panose="02010600030101010101" pitchFamily="2" charset="-122"/>
            </a:endParaRPr>
          </a:p>
        </p:txBody>
      </p:sp>
      <p:sp>
        <p:nvSpPr>
          <p:cNvPr id="48" name="TextBox 204"/>
          <p:cNvSpPr txBox="1"/>
          <p:nvPr/>
        </p:nvSpPr>
        <p:spPr>
          <a:xfrm>
            <a:off x="10540475" y="5008403"/>
            <a:ext cx="708848" cy="307777"/>
          </a:xfrm>
          <a:prstGeom prst="rect">
            <a:avLst/>
          </a:prstGeom>
          <a:noFill/>
        </p:spPr>
        <p:txBody>
          <a:bodyPr wrap="none" rtlCol="0">
            <a:spAutoFit/>
          </a:bodyPr>
          <a:lstStyle/>
          <a:p>
            <a:r>
              <a:rPr lang="en-US" altLang="zh-CN" sz="1400" b="1" dirty="0">
                <a:latin typeface="等线" panose="02010600030101010101" pitchFamily="2" charset="-122"/>
                <a:ea typeface="等线" panose="02010600030101010101" pitchFamily="2" charset="-122"/>
              </a:rPr>
              <a:t>Area 4</a:t>
            </a:r>
            <a:endParaRPr lang="zh-CN" altLang="en-US" sz="1400" b="1" dirty="0">
              <a:latin typeface="等线" panose="02010600030101010101" pitchFamily="2" charset="-122"/>
              <a:ea typeface="等线" panose="02010600030101010101" pitchFamily="2" charset="-122"/>
            </a:endParaRPr>
          </a:p>
        </p:txBody>
      </p:sp>
      <p:cxnSp>
        <p:nvCxnSpPr>
          <p:cNvPr id="49" name="直接连接符 48"/>
          <p:cNvCxnSpPr/>
          <p:nvPr/>
        </p:nvCxnSpPr>
        <p:spPr bwMode="auto">
          <a:xfrm flipV="1">
            <a:off x="8740275" y="4432338"/>
            <a:ext cx="360040" cy="1"/>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0" name="直接连接符 49"/>
          <p:cNvCxnSpPr>
            <a:stCxn id="27" idx="3"/>
          </p:cNvCxnSpPr>
          <p:nvPr/>
        </p:nvCxnSpPr>
        <p:spPr bwMode="auto">
          <a:xfrm>
            <a:off x="8082956" y="3496235"/>
            <a:ext cx="297279" cy="144016"/>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1" name="直接连接符 50"/>
          <p:cNvCxnSpPr>
            <a:endCxn id="21" idx="1"/>
          </p:cNvCxnSpPr>
          <p:nvPr/>
        </p:nvCxnSpPr>
        <p:spPr bwMode="auto">
          <a:xfrm flipV="1">
            <a:off x="9532363" y="3496235"/>
            <a:ext cx="144016" cy="144016"/>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2" name="直接连接符 51"/>
          <p:cNvCxnSpPr/>
          <p:nvPr/>
        </p:nvCxnSpPr>
        <p:spPr bwMode="auto">
          <a:xfrm flipV="1">
            <a:off x="8092203" y="4504347"/>
            <a:ext cx="288032" cy="144016"/>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pic>
        <p:nvPicPr>
          <p:cNvPr id="53" name="Picture 3"/>
          <p:cNvPicPr>
            <a:picLocks noChangeAspect="1" noChangeArrowheads="1"/>
          </p:cNvPicPr>
          <p:nvPr/>
        </p:nvPicPr>
        <p:blipFill>
          <a:blip r:embed="rId3" cstate="print"/>
          <a:srcRect/>
          <a:stretch>
            <a:fillRect/>
          </a:stretch>
        </p:blipFill>
        <p:spPr bwMode="auto">
          <a:xfrm>
            <a:off x="8308227" y="4288323"/>
            <a:ext cx="432048" cy="288032"/>
          </a:xfrm>
          <a:prstGeom prst="rect">
            <a:avLst/>
          </a:prstGeom>
          <a:noFill/>
          <a:ln w="9525">
            <a:noFill/>
            <a:miter lim="800000"/>
            <a:headEnd/>
            <a:tailEnd/>
          </a:ln>
        </p:spPr>
      </p:pic>
      <p:cxnSp>
        <p:nvCxnSpPr>
          <p:cNvPr id="54" name="直接连接符 53"/>
          <p:cNvCxnSpPr/>
          <p:nvPr/>
        </p:nvCxnSpPr>
        <p:spPr bwMode="auto">
          <a:xfrm>
            <a:off x="9460355" y="4576355"/>
            <a:ext cx="216024" cy="144016"/>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5" name="TextBox 104"/>
          <p:cNvSpPr txBox="1"/>
          <p:nvPr/>
        </p:nvSpPr>
        <p:spPr>
          <a:xfrm>
            <a:off x="6154016" y="4000291"/>
            <a:ext cx="385042" cy="353943"/>
          </a:xfrm>
          <a:prstGeom prst="rect">
            <a:avLst/>
          </a:prstGeom>
          <a:noFill/>
        </p:spPr>
        <p:txBody>
          <a:bodyPr wrap="none" rtlCol="0">
            <a:spAutoFit/>
          </a:bodyPr>
          <a:lstStyle/>
          <a:p>
            <a:r>
              <a:rPr lang="en-US" altLang="zh-CN" sz="1700" b="1" dirty="0">
                <a:solidFill>
                  <a:srgbClr val="C00000"/>
                </a:solidFill>
                <a:latin typeface="等线" panose="02010600030101010101" pitchFamily="2" charset="-122"/>
                <a:ea typeface="等线" panose="02010600030101010101" pitchFamily="2" charset="-122"/>
              </a:rPr>
              <a:t>IR</a:t>
            </a:r>
            <a:endParaRPr lang="zh-CN" altLang="en-US" sz="1700" b="1" dirty="0">
              <a:solidFill>
                <a:srgbClr val="C00000"/>
              </a:solidFill>
              <a:latin typeface="等线" panose="02010600030101010101" pitchFamily="2" charset="-122"/>
              <a:ea typeface="等线" panose="02010600030101010101" pitchFamily="2" charset="-122"/>
            </a:endParaRPr>
          </a:p>
        </p:txBody>
      </p:sp>
      <p:cxnSp>
        <p:nvCxnSpPr>
          <p:cNvPr id="56" name="直接箭头连接符 55"/>
          <p:cNvCxnSpPr/>
          <p:nvPr/>
        </p:nvCxnSpPr>
        <p:spPr bwMode="auto">
          <a:xfrm flipH="1">
            <a:off x="7130739" y="2704147"/>
            <a:ext cx="216024" cy="432048"/>
          </a:xfrm>
          <a:prstGeom prst="straightConnector1">
            <a:avLst/>
          </a:prstGeom>
          <a:ln>
            <a:prstDash val="dash"/>
            <a:tailEnd type="arrow"/>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7" name="直接箭头连接符 56"/>
          <p:cNvCxnSpPr/>
          <p:nvPr/>
        </p:nvCxnSpPr>
        <p:spPr bwMode="auto">
          <a:xfrm>
            <a:off x="7084091" y="4216315"/>
            <a:ext cx="0" cy="360040"/>
          </a:xfrm>
          <a:prstGeom prst="straightConnector1">
            <a:avLst/>
          </a:prstGeom>
          <a:ln>
            <a:prstDash val="dash"/>
            <a:tailEnd type="arrow"/>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58" name="直接箭头连接符 57"/>
          <p:cNvCxnSpPr/>
          <p:nvPr/>
        </p:nvCxnSpPr>
        <p:spPr bwMode="auto">
          <a:xfrm>
            <a:off x="6626683" y="4202886"/>
            <a:ext cx="1636923" cy="91534"/>
          </a:xfrm>
          <a:prstGeom prst="straightConnector1">
            <a:avLst/>
          </a:prstGeom>
          <a:ln>
            <a:prstDash val="dash"/>
            <a:tailEnd type="arrow"/>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59" name="TextBox 113"/>
          <p:cNvSpPr txBox="1"/>
          <p:nvPr/>
        </p:nvSpPr>
        <p:spPr>
          <a:xfrm>
            <a:off x="7202747" y="2416115"/>
            <a:ext cx="716863" cy="353943"/>
          </a:xfrm>
          <a:prstGeom prst="rect">
            <a:avLst/>
          </a:prstGeom>
          <a:noFill/>
        </p:spPr>
        <p:txBody>
          <a:bodyPr wrap="none" rtlCol="0">
            <a:spAutoFit/>
          </a:bodyPr>
          <a:lstStyle/>
          <a:p>
            <a:r>
              <a:rPr lang="en-US" altLang="zh-CN" sz="1700" b="1" dirty="0">
                <a:solidFill>
                  <a:srgbClr val="C00000"/>
                </a:solidFill>
                <a:latin typeface="等线" panose="02010600030101010101" pitchFamily="2" charset="-122"/>
                <a:ea typeface="等线" panose="02010600030101010101" pitchFamily="2" charset="-122"/>
              </a:rPr>
              <a:t>ASBR</a:t>
            </a:r>
            <a:endParaRPr lang="zh-CN" altLang="en-US" sz="1700" b="1" dirty="0">
              <a:solidFill>
                <a:srgbClr val="C00000"/>
              </a:solidFill>
              <a:latin typeface="等线" panose="02010600030101010101" pitchFamily="2" charset="-122"/>
              <a:ea typeface="等线" panose="02010600030101010101" pitchFamily="2" charset="-122"/>
            </a:endParaRPr>
          </a:p>
        </p:txBody>
      </p:sp>
      <p:sp>
        <p:nvSpPr>
          <p:cNvPr id="60" name="TextBox 115"/>
          <p:cNvSpPr txBox="1"/>
          <p:nvPr/>
        </p:nvSpPr>
        <p:spPr>
          <a:xfrm>
            <a:off x="8452243" y="5296435"/>
            <a:ext cx="598241" cy="353943"/>
          </a:xfrm>
          <a:prstGeom prst="rect">
            <a:avLst/>
          </a:prstGeom>
          <a:noFill/>
        </p:spPr>
        <p:txBody>
          <a:bodyPr wrap="none" rtlCol="0">
            <a:spAutoFit/>
          </a:bodyPr>
          <a:lstStyle/>
          <a:p>
            <a:r>
              <a:rPr lang="en-US" altLang="zh-CN" sz="1700" b="1" dirty="0">
                <a:solidFill>
                  <a:srgbClr val="C00000"/>
                </a:solidFill>
                <a:latin typeface="等线" panose="02010600030101010101" pitchFamily="2" charset="-122"/>
                <a:ea typeface="等线" panose="02010600030101010101" pitchFamily="2" charset="-122"/>
              </a:rPr>
              <a:t>ABR</a:t>
            </a:r>
            <a:endParaRPr lang="zh-CN" altLang="en-US" sz="1700" b="1" dirty="0">
              <a:solidFill>
                <a:srgbClr val="C00000"/>
              </a:solidFill>
              <a:latin typeface="等线" panose="02010600030101010101" pitchFamily="2" charset="-122"/>
              <a:ea typeface="等线" panose="02010600030101010101" pitchFamily="2" charset="-122"/>
            </a:endParaRPr>
          </a:p>
        </p:txBody>
      </p:sp>
      <p:pic>
        <p:nvPicPr>
          <p:cNvPr id="61" name="Picture 2"/>
          <p:cNvPicPr>
            <a:picLocks noChangeAspect="1" noChangeArrowheads="1"/>
          </p:cNvPicPr>
          <p:nvPr/>
        </p:nvPicPr>
        <p:blipFill>
          <a:blip r:embed="rId4" cstate="print"/>
          <a:srcRect/>
          <a:stretch>
            <a:fillRect/>
          </a:stretch>
        </p:blipFill>
        <p:spPr bwMode="auto">
          <a:xfrm>
            <a:off x="5258531" y="1696035"/>
            <a:ext cx="1380280" cy="1152128"/>
          </a:xfrm>
          <a:prstGeom prst="rect">
            <a:avLst/>
          </a:prstGeom>
          <a:noFill/>
          <a:ln w="9525">
            <a:noFill/>
            <a:miter lim="800000"/>
            <a:headEnd/>
            <a:tailEnd/>
          </a:ln>
        </p:spPr>
      </p:pic>
      <p:cxnSp>
        <p:nvCxnSpPr>
          <p:cNvPr id="62" name="直接连接符 61"/>
          <p:cNvCxnSpPr/>
          <p:nvPr/>
        </p:nvCxnSpPr>
        <p:spPr bwMode="auto">
          <a:xfrm>
            <a:off x="6410659" y="2704147"/>
            <a:ext cx="432048" cy="576065"/>
          </a:xfrm>
          <a:prstGeom prst="line">
            <a:avLst/>
          </a:prstGeom>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
        <p:nvSpPr>
          <p:cNvPr id="63" name="TextBox 119"/>
          <p:cNvSpPr txBox="1"/>
          <p:nvPr/>
        </p:nvSpPr>
        <p:spPr>
          <a:xfrm>
            <a:off x="5665219" y="2056075"/>
            <a:ext cx="620683" cy="353943"/>
          </a:xfrm>
          <a:prstGeom prst="rect">
            <a:avLst/>
          </a:prstGeom>
          <a:noFill/>
        </p:spPr>
        <p:txBody>
          <a:bodyPr wrap="none" rtlCol="0">
            <a:spAutoFit/>
          </a:bodyPr>
          <a:lstStyle/>
          <a:p>
            <a:r>
              <a:rPr lang="en-US" altLang="zh-CN" sz="1700" dirty="0">
                <a:latin typeface="等线" panose="02010600030101010101" pitchFamily="2" charset="-122"/>
                <a:ea typeface="等线" panose="02010600030101010101" pitchFamily="2" charset="-122"/>
              </a:rPr>
              <a:t>AS X</a:t>
            </a:r>
            <a:endParaRPr lang="zh-CN" altLang="en-US" sz="1700" dirty="0">
              <a:latin typeface="等线" panose="02010600030101010101" pitchFamily="2" charset="-122"/>
              <a:ea typeface="等线" panose="02010600030101010101" pitchFamily="2" charset="-122"/>
            </a:endParaRPr>
          </a:p>
        </p:txBody>
      </p:sp>
      <p:cxnSp>
        <p:nvCxnSpPr>
          <p:cNvPr id="64" name="直接箭头连接符 63"/>
          <p:cNvCxnSpPr/>
          <p:nvPr/>
        </p:nvCxnSpPr>
        <p:spPr bwMode="auto">
          <a:xfrm flipH="1" flipV="1">
            <a:off x="8164211" y="4936395"/>
            <a:ext cx="360040" cy="432048"/>
          </a:xfrm>
          <a:prstGeom prst="straightConnector1">
            <a:avLst/>
          </a:prstGeom>
          <a:ln>
            <a:prstDash val="dash"/>
            <a:tailEnd type="arrow"/>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cxnSp>
        <p:nvCxnSpPr>
          <p:cNvPr id="65" name="直接箭头连接符 64"/>
          <p:cNvCxnSpPr/>
          <p:nvPr/>
        </p:nvCxnSpPr>
        <p:spPr bwMode="auto">
          <a:xfrm flipV="1">
            <a:off x="9028307" y="5008403"/>
            <a:ext cx="504056" cy="360040"/>
          </a:xfrm>
          <a:prstGeom prst="straightConnector1">
            <a:avLst/>
          </a:prstGeom>
          <a:ln>
            <a:prstDash val="dash"/>
            <a:tailEnd type="arrow"/>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896772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lang="en-US" altLang="zh-CN" dirty="0"/>
              <a:t>OSPF-</a:t>
            </a:r>
            <a:r>
              <a:rPr lang="zh-CN" altLang="en-US" dirty="0"/>
              <a:t>报文格式</a:t>
            </a:r>
            <a:endParaRPr kumimoji="1" lang="zh-CN" altLang="en-US" dirty="0"/>
          </a:p>
        </p:txBody>
      </p:sp>
      <p:sp>
        <p:nvSpPr>
          <p:cNvPr id="3" name="内容占位符 2">
            <a:extLst>
              <a:ext uri="{FF2B5EF4-FFF2-40B4-BE49-F238E27FC236}">
                <a16:creationId xmlns:a16="http://schemas.microsoft.com/office/drawing/2014/main" id="{F94632E6-2D1A-4745-B0F4-BE23638BE196}"/>
              </a:ext>
            </a:extLst>
          </p:cNvPr>
          <p:cNvSpPr>
            <a:spLocks noGrp="1"/>
          </p:cNvSpPr>
          <p:nvPr>
            <p:ph idx="1"/>
          </p:nvPr>
        </p:nvSpPr>
        <p:spPr>
          <a:xfrm>
            <a:off x="838200" y="1417272"/>
            <a:ext cx="4579714" cy="5131205"/>
          </a:xfrm>
        </p:spPr>
        <p:txBody>
          <a:bodyPr>
            <a:normAutofit fontScale="92500"/>
          </a:bodyPr>
          <a:lstStyle/>
          <a:p>
            <a:pPr>
              <a:lnSpc>
                <a:spcPct val="120000"/>
              </a:lnSpc>
            </a:pPr>
            <a:r>
              <a:rPr kumimoji="1" lang="zh-CN" altLang="en-US" dirty="0"/>
              <a:t>协议封装</a:t>
            </a:r>
            <a:endParaRPr kumimoji="1" lang="en-US" altLang="zh-CN" dirty="0"/>
          </a:p>
          <a:p>
            <a:pPr marL="522287" lvl="1" indent="-252413" defTabSz="801688">
              <a:lnSpc>
                <a:spcPct val="120000"/>
              </a:lnSpc>
              <a:spcBef>
                <a:spcPct val="30000"/>
              </a:spcBef>
              <a:buSzPct val="80000"/>
              <a:buFont typeface="Wingdings" pitchFamily="2" charset="2"/>
              <a:buChar char="l"/>
              <a:defRPr/>
            </a:pPr>
            <a:r>
              <a:rPr lang="zh-CN" altLang="en-US" dirty="0">
                <a:solidFill>
                  <a:prstClr val="black"/>
                </a:solidFill>
                <a:cs typeface="Arial" charset="0"/>
              </a:rPr>
              <a:t>运行于</a:t>
            </a:r>
            <a:r>
              <a:rPr lang="en-US" altLang="zh-CN" dirty="0">
                <a:solidFill>
                  <a:prstClr val="black"/>
                </a:solidFill>
                <a:cs typeface="Arial" charset="0"/>
              </a:rPr>
              <a:t>IP</a:t>
            </a:r>
            <a:r>
              <a:rPr lang="zh-CN" altLang="en-US" dirty="0">
                <a:solidFill>
                  <a:prstClr val="black"/>
                </a:solidFill>
                <a:cs typeface="Arial" charset="0"/>
              </a:rPr>
              <a:t>协议之上，协议号</a:t>
            </a:r>
            <a:r>
              <a:rPr lang="en-US" altLang="zh-CN" dirty="0">
                <a:solidFill>
                  <a:prstClr val="black"/>
                </a:solidFill>
                <a:cs typeface="Arial" charset="0"/>
              </a:rPr>
              <a:t>89</a:t>
            </a:r>
          </a:p>
          <a:p>
            <a:pPr>
              <a:lnSpc>
                <a:spcPct val="130000"/>
              </a:lnSpc>
              <a:buSzPct val="80000"/>
              <a:defRPr/>
            </a:pPr>
            <a:r>
              <a:rPr kumimoji="1" lang="zh-CN" altLang="en-US" dirty="0"/>
              <a:t>路由器标识符</a:t>
            </a:r>
            <a:endParaRPr kumimoji="1" lang="en-US" altLang="zh-CN" dirty="0"/>
          </a:p>
          <a:p>
            <a:pPr marL="522287" lvl="1" indent="-252413" defTabSz="801688">
              <a:lnSpc>
                <a:spcPct val="120000"/>
              </a:lnSpc>
              <a:spcBef>
                <a:spcPct val="30000"/>
              </a:spcBef>
              <a:buSzPct val="80000"/>
              <a:buFont typeface="Wingdings" pitchFamily="2" charset="2"/>
              <a:buChar char="l"/>
              <a:defRPr/>
            </a:pPr>
            <a:r>
              <a:rPr lang="zh-CN" altLang="en-US" kern="0" dirty="0">
                <a:solidFill>
                  <a:prstClr val="black"/>
                </a:solidFill>
              </a:rPr>
              <a:t>一个</a:t>
            </a:r>
            <a:r>
              <a:rPr lang="en-US" altLang="zh-CN" kern="0" dirty="0">
                <a:solidFill>
                  <a:prstClr val="black"/>
                </a:solidFill>
              </a:rPr>
              <a:t>32</a:t>
            </a:r>
            <a:r>
              <a:rPr lang="zh-CN" altLang="en-US" kern="0" dirty="0">
                <a:solidFill>
                  <a:prstClr val="black"/>
                </a:solidFill>
              </a:rPr>
              <a:t>位的值，</a:t>
            </a:r>
            <a:r>
              <a:rPr lang="zh-CN" altLang="en-US" dirty="0"/>
              <a:t>唯一</a:t>
            </a:r>
            <a:r>
              <a:rPr lang="zh-CN" altLang="zh-CN" dirty="0"/>
              <a:t>标识一个自治系统内的路由器</a:t>
            </a:r>
            <a:endParaRPr lang="en-US" altLang="zh-CN" dirty="0"/>
          </a:p>
          <a:p>
            <a:pPr>
              <a:lnSpc>
                <a:spcPct val="130000"/>
              </a:lnSpc>
              <a:buSzPct val="80000"/>
              <a:defRPr/>
            </a:pPr>
            <a:r>
              <a:rPr kumimoji="1" lang="zh-CN" altLang="en-US" dirty="0"/>
              <a:t>区域标识符</a:t>
            </a:r>
            <a:endParaRPr kumimoji="1" lang="en-US" altLang="zh-CN" dirty="0"/>
          </a:p>
          <a:p>
            <a:pPr lvl="1">
              <a:lnSpc>
                <a:spcPct val="130000"/>
              </a:lnSpc>
              <a:buSzPct val="80000"/>
              <a:defRPr/>
            </a:pPr>
            <a:r>
              <a:rPr lang="zh-CN" altLang="en-US" dirty="0"/>
              <a:t>每一个区域都有一个 </a:t>
            </a:r>
            <a:r>
              <a:rPr lang="en-US" altLang="zh-CN" dirty="0"/>
              <a:t>32 </a:t>
            </a:r>
            <a:r>
              <a:rPr lang="zh-CN" altLang="en-US" dirty="0"/>
              <a:t>位的标识符（用点分十进制表示）</a:t>
            </a:r>
            <a:endParaRPr lang="en-US" altLang="zh-CN" dirty="0"/>
          </a:p>
          <a:p>
            <a:pPr lvl="1">
              <a:lnSpc>
                <a:spcPct val="130000"/>
              </a:lnSpc>
              <a:buSzPct val="80000"/>
              <a:defRPr/>
            </a:pPr>
            <a:r>
              <a:rPr lang="zh-CN" altLang="en-US" dirty="0"/>
              <a:t>主干区域为</a:t>
            </a:r>
            <a:r>
              <a:rPr lang="en-US" altLang="zh-CN" dirty="0"/>
              <a:t>0.0.0.0</a:t>
            </a:r>
            <a:endParaRPr lang="zh-CN" altLang="en-US" dirty="0"/>
          </a:p>
          <a:p>
            <a:pPr>
              <a:lnSpc>
                <a:spcPct val="130000"/>
              </a:lnSpc>
              <a:buSzPct val="80000"/>
              <a:defRPr/>
            </a:pPr>
            <a:endParaRPr kumimoji="1" lang="en-US" altLang="zh-CN" dirty="0"/>
          </a:p>
          <a:p>
            <a:pPr lvl="1">
              <a:lnSpc>
                <a:spcPct val="130000"/>
              </a:lnSpc>
              <a:buSzPct val="80000"/>
              <a:defRPr/>
            </a:pPr>
            <a:endParaRPr kumimoji="1" lang="en-US" altLang="zh-CN" dirty="0"/>
          </a:p>
          <a:p>
            <a:pPr>
              <a:lnSpc>
                <a:spcPct val="120000"/>
              </a:lnSpc>
            </a:pPr>
            <a:endParaRPr kumimoji="1" lang="en-US" altLang="zh-CN" dirty="0"/>
          </a:p>
          <a:p>
            <a:pPr marL="196850" indent="-252413" defTabSz="801688">
              <a:lnSpc>
                <a:spcPct val="120000"/>
              </a:lnSpc>
              <a:spcBef>
                <a:spcPct val="30000"/>
              </a:spcBef>
              <a:buSzPct val="80000"/>
              <a:buFont typeface="Wingdings" pitchFamily="2" charset="2"/>
              <a:buChar char="l"/>
              <a:defRPr/>
            </a:pPr>
            <a:endParaRPr lang="en-US" altLang="zh-CN" dirty="0">
              <a:solidFill>
                <a:prstClr val="black"/>
              </a:solidFill>
              <a:cs typeface="Arial" charset="0"/>
            </a:endParaRPr>
          </a:p>
          <a:p>
            <a:pPr marL="0" indent="0" defTabSz="801688">
              <a:lnSpc>
                <a:spcPct val="120000"/>
              </a:lnSpc>
              <a:spcBef>
                <a:spcPct val="30000"/>
              </a:spcBef>
              <a:buSzPct val="80000"/>
              <a:buNone/>
              <a:defRPr/>
            </a:pPr>
            <a:endParaRPr kumimoji="1" lang="zh-CN" altLang="en-US" dirty="0"/>
          </a:p>
        </p:txBody>
      </p:sp>
      <p:sp>
        <p:nvSpPr>
          <p:cNvPr id="1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3243518" cy="365125"/>
          </a:xfrm>
        </p:spPr>
        <p:txBody>
          <a:bodyPr/>
          <a:lstStyle/>
          <a:p>
            <a:r>
              <a:rPr kumimoji="1" lang="en-US" altLang="zh-CN" dirty="0">
                <a:latin typeface="DengXian" panose="02010600030101010101" pitchFamily="2" charset="-122"/>
                <a:ea typeface="DengXian" panose="02010600030101010101" pitchFamily="2" charset="-122"/>
              </a:rPr>
              <a:t>5.4.1 OSPF-</a:t>
            </a:r>
            <a:r>
              <a:rPr kumimoji="1" lang="zh-CN" altLang="en-US" dirty="0">
                <a:latin typeface="DengXian" panose="02010600030101010101" pitchFamily="2" charset="-122"/>
                <a:ea typeface="DengXian" panose="02010600030101010101" pitchFamily="2" charset="-122"/>
              </a:rPr>
              <a:t>内部网关路由协议</a:t>
            </a:r>
          </a:p>
        </p:txBody>
      </p:sp>
      <p:sp>
        <p:nvSpPr>
          <p:cNvPr id="12"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p:txBody>
          <a:bodyPr/>
          <a:lstStyle/>
          <a:p>
            <a:fld id="{8D4D1E41-7A09-AB4A-A4E1-09765ADA2698}" type="slidenum">
              <a:rPr kumimoji="1" lang="zh-CN" altLang="en-US" smtClean="0"/>
              <a:t>86</a:t>
            </a:fld>
            <a:endParaRPr kumimoji="1" lang="zh-CN" altLang="en-US" dirty="0"/>
          </a:p>
        </p:txBody>
      </p:sp>
      <p:sp>
        <p:nvSpPr>
          <p:cNvPr id="23" name="内容占位符 2"/>
          <p:cNvSpPr txBox="1">
            <a:spLocks/>
          </p:cNvSpPr>
          <p:nvPr/>
        </p:nvSpPr>
        <p:spPr>
          <a:xfrm>
            <a:off x="838200" y="1510758"/>
            <a:ext cx="10515600" cy="4586694"/>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anose="05000000000000000000"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360363" marR="0" lvl="0" indent="-360363"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endParaRPr kumimoji="0" lang="zh-CN" altLang="en-US" sz="2800" u="none" strike="noStrike" kern="1200" cap="none" spc="0" normalizeH="0" baseline="0" noProof="0" dirty="0">
              <a:ln>
                <a:noFill/>
              </a:ln>
              <a:solidFill>
                <a:sysClr val="windowText" lastClr="000000"/>
              </a:solidFill>
              <a:effectLst/>
              <a:uLnTx/>
              <a:uFillTx/>
              <a:latin typeface="DengXian" panose="02010600030101010101" pitchFamily="2" charset="-122"/>
              <a:ea typeface="DengXian" panose="02010600030101010101" pitchFamily="2" charset="-122"/>
              <a:cs typeface="+mn-cs"/>
            </a:endParaRPr>
          </a:p>
        </p:txBody>
      </p:sp>
      <p:sp>
        <p:nvSpPr>
          <p:cNvPr id="24"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zh-CN" altLang="en-US" sz="4000" u="none" strike="noStrike" kern="1200" cap="none" spc="0" normalizeH="0" baseline="0" noProof="0" dirty="0">
              <a:ln>
                <a:noFill/>
              </a:ln>
              <a:solidFill>
                <a:prstClr val="black"/>
              </a:solidFill>
              <a:effectLst/>
              <a:uLnTx/>
              <a:uFillTx/>
              <a:latin typeface="DengXian" panose="02010600030101010101" pitchFamily="2" charset="-122"/>
              <a:ea typeface="DengXian" panose="02010600030101010101" pitchFamily="2" charset="-122"/>
              <a:cs typeface="+mj-cs"/>
            </a:endParaRPr>
          </a:p>
        </p:txBody>
      </p:sp>
      <p:sp>
        <p:nvSpPr>
          <p:cNvPr id="67" name="Rectangle 3"/>
          <p:cNvSpPr txBox="1">
            <a:spLocks noChangeArrowheads="1"/>
          </p:cNvSpPr>
          <p:nvPr/>
        </p:nvSpPr>
        <p:spPr bwMode="auto">
          <a:xfrm>
            <a:off x="5715471" y="5414033"/>
            <a:ext cx="4415873" cy="1366837"/>
          </a:xfrm>
          <a:prstGeom prst="rect">
            <a:avLst/>
          </a:prstGeom>
          <a:noFill/>
          <a:ln w="9525">
            <a:noFill/>
            <a:miter lim="800000"/>
            <a:headEnd/>
            <a:tailEnd/>
          </a:ln>
        </p:spPr>
        <p:txBody>
          <a:bodyPr/>
          <a:lstStyle/>
          <a:p>
            <a:pPr marL="196850" marR="0" lvl="0" indent="-252413" defTabSz="801688" eaLnBrk="1" fontAlgn="auto" latinLnBrk="0" hangingPunct="1">
              <a:lnSpc>
                <a:spcPct val="120000"/>
              </a:lnSpc>
              <a:spcBef>
                <a:spcPct val="30000"/>
              </a:spcBef>
              <a:spcAft>
                <a:spcPts val="0"/>
              </a:spcAft>
              <a:buClrTx/>
              <a:buSzPct val="80000"/>
              <a:buFont typeface="Wingdings" pitchFamily="2" charset="2"/>
              <a:buChar char="l"/>
              <a:tabLst/>
              <a:defRPr/>
            </a:pPr>
            <a:endParaRPr kumimoji="0" lang="en-US" altLang="zh-CN" sz="1800" b="0" i="0" u="none" strike="noStrike" kern="0" cap="none" spc="0" normalizeH="0" baseline="0" noProof="0" dirty="0">
              <a:ln>
                <a:noFill/>
              </a:ln>
              <a:solidFill>
                <a:prstClr val="black"/>
              </a:solidFill>
              <a:effectLst/>
              <a:uLnTx/>
              <a:uFillTx/>
              <a:cs typeface="Arial"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7550" y="1510758"/>
            <a:ext cx="6927844" cy="4292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1353250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lang="en-US" altLang="zh-CN" dirty="0"/>
              <a:t>RIP-</a:t>
            </a:r>
            <a:r>
              <a:rPr lang="zh-CN" altLang="en-US" dirty="0"/>
              <a:t>概述</a:t>
            </a:r>
            <a:endParaRPr kumimoji="1" lang="zh-CN" altLang="en-US" dirty="0"/>
          </a:p>
        </p:txBody>
      </p:sp>
      <p:sp>
        <p:nvSpPr>
          <p:cNvPr id="1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3243518" cy="365125"/>
          </a:xfrm>
        </p:spPr>
        <p:txBody>
          <a:bodyPr/>
          <a:lstStyle/>
          <a:p>
            <a:r>
              <a:rPr kumimoji="1" lang="en-US" altLang="zh-CN" dirty="0">
                <a:latin typeface="DengXian" panose="02010600030101010101" pitchFamily="2" charset="-122"/>
                <a:ea typeface="DengXian" panose="02010600030101010101" pitchFamily="2" charset="-122"/>
              </a:rPr>
              <a:t>5.4.2 </a:t>
            </a:r>
            <a:r>
              <a:rPr lang="en-US" altLang="zh-CN" dirty="0">
                <a:latin typeface="DengXian" panose="02010600030101010101" pitchFamily="2" charset="-122"/>
                <a:ea typeface="DengXian" panose="02010600030101010101" pitchFamily="2" charset="-122"/>
              </a:rPr>
              <a:t>RIP-</a:t>
            </a:r>
            <a:r>
              <a:rPr lang="zh-CN" altLang="zh-CN" dirty="0">
                <a:latin typeface="DengXian" panose="02010600030101010101" pitchFamily="2" charset="-122"/>
                <a:ea typeface="DengXian" panose="02010600030101010101" pitchFamily="2" charset="-122"/>
              </a:rPr>
              <a:t>内部网关路由协议</a:t>
            </a:r>
            <a:endParaRPr kumimoji="1" lang="zh-CN" altLang="en-US" dirty="0">
              <a:latin typeface="DengXian" panose="02010600030101010101" pitchFamily="2" charset="-122"/>
              <a:ea typeface="DengXian" panose="02010600030101010101" pitchFamily="2" charset="-122"/>
            </a:endParaRPr>
          </a:p>
        </p:txBody>
      </p:sp>
      <p:sp>
        <p:nvSpPr>
          <p:cNvPr id="12"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p:txBody>
          <a:bodyPr/>
          <a:lstStyle/>
          <a:p>
            <a:fld id="{8D4D1E41-7A09-AB4A-A4E1-09765ADA2698}" type="slidenum">
              <a:rPr kumimoji="1" lang="zh-CN" altLang="en-US" smtClean="0"/>
              <a:t>87</a:t>
            </a:fld>
            <a:endParaRPr kumimoji="1" lang="zh-CN" altLang="en-US" dirty="0"/>
          </a:p>
        </p:txBody>
      </p:sp>
      <p:sp>
        <p:nvSpPr>
          <p:cNvPr id="24"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zh-CN" altLang="en-US" sz="4000" u="none" strike="noStrike" kern="1200" cap="none" spc="0" normalizeH="0" baseline="0" noProof="0" dirty="0">
              <a:ln>
                <a:noFill/>
              </a:ln>
              <a:solidFill>
                <a:prstClr val="black"/>
              </a:solidFill>
              <a:effectLst/>
              <a:uLnTx/>
              <a:uFillTx/>
              <a:latin typeface="DengXian" panose="02010600030101010101" pitchFamily="2" charset="-122"/>
              <a:ea typeface="DengXian" panose="02010600030101010101" pitchFamily="2" charset="-122"/>
              <a:cs typeface="+mj-cs"/>
            </a:endParaRPr>
          </a:p>
        </p:txBody>
      </p:sp>
      <p:sp>
        <p:nvSpPr>
          <p:cNvPr id="67" name="Rectangle 3"/>
          <p:cNvSpPr txBox="1">
            <a:spLocks noChangeArrowheads="1"/>
          </p:cNvSpPr>
          <p:nvPr/>
        </p:nvSpPr>
        <p:spPr bwMode="auto">
          <a:xfrm>
            <a:off x="5715471" y="5414033"/>
            <a:ext cx="4415873" cy="1366837"/>
          </a:xfrm>
          <a:prstGeom prst="rect">
            <a:avLst/>
          </a:prstGeom>
          <a:noFill/>
          <a:ln w="9525">
            <a:noFill/>
            <a:miter lim="800000"/>
            <a:headEnd/>
            <a:tailEnd/>
          </a:ln>
        </p:spPr>
        <p:txBody>
          <a:bodyPr/>
          <a:lstStyle/>
          <a:p>
            <a:pPr marL="196850" marR="0" lvl="0" indent="-252413" defTabSz="801688" eaLnBrk="1" fontAlgn="auto" latinLnBrk="0" hangingPunct="1">
              <a:lnSpc>
                <a:spcPct val="120000"/>
              </a:lnSpc>
              <a:spcBef>
                <a:spcPct val="30000"/>
              </a:spcBef>
              <a:spcAft>
                <a:spcPts val="0"/>
              </a:spcAft>
              <a:buClrTx/>
              <a:buSzPct val="80000"/>
              <a:buFont typeface="Wingdings" pitchFamily="2" charset="2"/>
              <a:buChar char="l"/>
              <a:tabLst/>
              <a:defRPr/>
            </a:pPr>
            <a:endParaRPr kumimoji="0" lang="en-US" altLang="zh-CN" sz="1800" b="0" i="0" u="none" strike="noStrike" kern="0" cap="none" spc="0" normalizeH="0" baseline="0" noProof="0" dirty="0">
              <a:ln>
                <a:noFill/>
              </a:ln>
              <a:solidFill>
                <a:prstClr val="black"/>
              </a:solidFill>
              <a:effectLst/>
              <a:uLnTx/>
              <a:uFillTx/>
              <a:cs typeface="Arial" charset="0"/>
            </a:endParaRPr>
          </a:p>
        </p:txBody>
      </p:sp>
      <p:sp>
        <p:nvSpPr>
          <p:cNvPr id="66" name="内容占位符 2"/>
          <p:cNvSpPr>
            <a:spLocks noGrp="1"/>
          </p:cNvSpPr>
          <p:nvPr>
            <p:ph idx="1"/>
          </p:nvPr>
        </p:nvSpPr>
        <p:spPr>
          <a:xfrm>
            <a:off x="838200" y="1429482"/>
            <a:ext cx="10432627" cy="4586694"/>
          </a:xfrm>
        </p:spPr>
        <p:txBody>
          <a:bodyPr>
            <a:normAutofit fontScale="92500" lnSpcReduction="10000"/>
          </a:bodyPr>
          <a:lstStyle/>
          <a:p>
            <a:pPr>
              <a:lnSpc>
                <a:spcPct val="125000"/>
              </a:lnSpc>
            </a:pPr>
            <a:r>
              <a:rPr lang="zh-CN" altLang="en-US" dirty="0"/>
              <a:t>路由选择协议</a:t>
            </a:r>
            <a:r>
              <a:rPr lang="en-US" altLang="zh-CN" dirty="0"/>
              <a:t>RIP</a:t>
            </a:r>
            <a:r>
              <a:rPr lang="zh-CN" altLang="en-US" dirty="0"/>
              <a:t>（</a:t>
            </a:r>
            <a:r>
              <a:rPr lang="en-US" altLang="zh-CN" dirty="0"/>
              <a:t> Routing Information Protocol</a:t>
            </a:r>
            <a:r>
              <a:rPr lang="zh-CN" altLang="en-US" dirty="0"/>
              <a:t>）是基于距离矢量算法的协议</a:t>
            </a:r>
            <a:endParaRPr lang="en-US" altLang="zh-CN" dirty="0"/>
          </a:p>
          <a:p>
            <a:pPr>
              <a:lnSpc>
                <a:spcPct val="125000"/>
              </a:lnSpc>
            </a:pPr>
            <a:r>
              <a:rPr kumimoji="1" lang="zh-CN" altLang="en-US" dirty="0"/>
              <a:t>使用</a:t>
            </a:r>
            <a:r>
              <a:rPr kumimoji="1" lang="zh-CN" altLang="en-US" dirty="0">
                <a:solidFill>
                  <a:srgbClr val="C00000"/>
                </a:solidFill>
              </a:rPr>
              <a:t>跳数</a:t>
            </a:r>
            <a:r>
              <a:rPr kumimoji="1" lang="zh-CN" altLang="en-US" dirty="0"/>
              <a:t>衡量到达目的网络的距离</a:t>
            </a:r>
            <a:endParaRPr kumimoji="1" lang="en-US" altLang="zh-CN" dirty="0"/>
          </a:p>
          <a:p>
            <a:pPr lvl="1" algn="just">
              <a:lnSpc>
                <a:spcPct val="120000"/>
              </a:lnSpc>
            </a:pPr>
            <a:r>
              <a:rPr lang="en-US" altLang="zh-CN" dirty="0"/>
              <a:t>RIP </a:t>
            </a:r>
            <a:r>
              <a:rPr lang="zh-CN" altLang="en-US" dirty="0"/>
              <a:t>认为一个</a:t>
            </a:r>
            <a:r>
              <a:rPr lang="zh-CN" altLang="en-US" dirty="0">
                <a:solidFill>
                  <a:srgbClr val="C00000"/>
                </a:solidFill>
              </a:rPr>
              <a:t>好的路由</a:t>
            </a:r>
            <a:r>
              <a:rPr lang="zh-CN" altLang="en-US" dirty="0"/>
              <a:t>就是它通过的路由器的数目少，即“</a:t>
            </a:r>
            <a:r>
              <a:rPr lang="zh-CN" altLang="en-US" dirty="0">
                <a:solidFill>
                  <a:srgbClr val="C00000"/>
                </a:solidFill>
              </a:rPr>
              <a:t>距离短</a:t>
            </a:r>
            <a:r>
              <a:rPr lang="zh-CN" altLang="en-US" dirty="0"/>
              <a:t>”</a:t>
            </a:r>
          </a:p>
          <a:p>
            <a:pPr lvl="1" algn="just">
              <a:lnSpc>
                <a:spcPct val="120000"/>
              </a:lnSpc>
            </a:pPr>
            <a:r>
              <a:rPr lang="en-US" altLang="zh-CN" dirty="0"/>
              <a:t>RIP </a:t>
            </a:r>
            <a:r>
              <a:rPr lang="zh-CN" altLang="en-US" dirty="0"/>
              <a:t>允许一条路径最多只能包含 </a:t>
            </a:r>
            <a:r>
              <a:rPr lang="en-US" altLang="zh-CN" dirty="0"/>
              <a:t>15 </a:t>
            </a:r>
            <a:r>
              <a:rPr lang="zh-CN" altLang="en-US" dirty="0"/>
              <a:t>个路由器</a:t>
            </a:r>
          </a:p>
          <a:p>
            <a:pPr>
              <a:lnSpc>
                <a:spcPct val="120000"/>
              </a:lnSpc>
            </a:pPr>
            <a:r>
              <a:rPr kumimoji="1" lang="en-US" altLang="zh-CN" dirty="0"/>
              <a:t>RIP</a:t>
            </a:r>
            <a:r>
              <a:rPr kumimoji="1" lang="zh-CN" altLang="en-US" dirty="0"/>
              <a:t>协议的基本思想</a:t>
            </a:r>
          </a:p>
          <a:p>
            <a:pPr lvl="1">
              <a:lnSpc>
                <a:spcPct val="150000"/>
              </a:lnSpc>
            </a:pPr>
            <a:r>
              <a:rPr lang="zh-CN" altLang="en-US" dirty="0"/>
              <a:t>仅和</a:t>
            </a:r>
            <a:r>
              <a:rPr lang="zh-CN" altLang="en-US" dirty="0">
                <a:solidFill>
                  <a:srgbClr val="C00000"/>
                </a:solidFill>
              </a:rPr>
              <a:t>相邻路由器</a:t>
            </a:r>
            <a:r>
              <a:rPr lang="zh-CN" altLang="en-US" dirty="0"/>
              <a:t>交换信息</a:t>
            </a:r>
            <a:endParaRPr lang="en-US" altLang="zh-CN" dirty="0"/>
          </a:p>
          <a:p>
            <a:pPr lvl="1">
              <a:lnSpc>
                <a:spcPct val="150000"/>
              </a:lnSpc>
            </a:pPr>
            <a:r>
              <a:rPr lang="zh-CN" altLang="en-US" dirty="0"/>
              <a:t>路由器交换的内容是自己的</a:t>
            </a:r>
            <a:r>
              <a:rPr lang="zh-CN" altLang="en-US" dirty="0">
                <a:solidFill>
                  <a:srgbClr val="C00000"/>
                </a:solidFill>
              </a:rPr>
              <a:t>路由表</a:t>
            </a:r>
            <a:endParaRPr lang="en-US" altLang="zh-CN" dirty="0">
              <a:solidFill>
                <a:srgbClr val="C00000"/>
              </a:solidFill>
            </a:endParaRPr>
          </a:p>
          <a:p>
            <a:pPr lvl="1">
              <a:lnSpc>
                <a:spcPct val="150000"/>
              </a:lnSpc>
            </a:pPr>
            <a:r>
              <a:rPr lang="zh-CN" altLang="en-US" dirty="0"/>
              <a:t>周期性更新：</a:t>
            </a:r>
            <a:r>
              <a:rPr lang="en-US" altLang="zh-CN" dirty="0">
                <a:solidFill>
                  <a:srgbClr val="C00000"/>
                </a:solidFill>
              </a:rPr>
              <a:t>30s</a:t>
            </a:r>
          </a:p>
        </p:txBody>
      </p:sp>
    </p:spTree>
    <p:extLst>
      <p:ext uri="{BB962C8B-B14F-4D97-AF65-F5344CB8AC3E}">
        <p14:creationId xmlns:p14="http://schemas.microsoft.com/office/powerpoint/2010/main" val="1500192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lang="en-US" altLang="zh-CN" dirty="0"/>
              <a:t>RIP-</a:t>
            </a:r>
            <a:r>
              <a:rPr lang="zh-CN" altLang="en-US" dirty="0"/>
              <a:t>工作过程</a:t>
            </a:r>
            <a:endParaRPr kumimoji="1" lang="zh-CN" altLang="en-US" dirty="0"/>
          </a:p>
        </p:txBody>
      </p:sp>
      <p:sp>
        <p:nvSpPr>
          <p:cNvPr id="1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3243518" cy="365125"/>
          </a:xfrm>
        </p:spPr>
        <p:txBody>
          <a:bodyPr/>
          <a:lstStyle/>
          <a:p>
            <a:r>
              <a:rPr kumimoji="1" lang="en-US" altLang="zh-CN" dirty="0">
                <a:latin typeface="DengXian" panose="02010600030101010101" pitchFamily="2" charset="-122"/>
                <a:ea typeface="DengXian" panose="02010600030101010101" pitchFamily="2" charset="-122"/>
              </a:rPr>
              <a:t>5.4.2 </a:t>
            </a:r>
            <a:r>
              <a:rPr lang="en-US" altLang="zh-CN" dirty="0">
                <a:latin typeface="DengXian" panose="02010600030101010101" pitchFamily="2" charset="-122"/>
                <a:ea typeface="DengXian" panose="02010600030101010101" pitchFamily="2" charset="-122"/>
              </a:rPr>
              <a:t>RIP-</a:t>
            </a:r>
            <a:r>
              <a:rPr lang="zh-CN" altLang="zh-CN" dirty="0">
                <a:latin typeface="DengXian" panose="02010600030101010101" pitchFamily="2" charset="-122"/>
                <a:ea typeface="DengXian" panose="02010600030101010101" pitchFamily="2" charset="-122"/>
              </a:rPr>
              <a:t>内部网关路由协议</a:t>
            </a:r>
            <a:endParaRPr kumimoji="1" lang="zh-CN" altLang="en-US" dirty="0">
              <a:latin typeface="DengXian" panose="02010600030101010101" pitchFamily="2" charset="-122"/>
              <a:ea typeface="DengXian" panose="02010600030101010101" pitchFamily="2" charset="-122"/>
            </a:endParaRPr>
          </a:p>
        </p:txBody>
      </p:sp>
      <p:sp>
        <p:nvSpPr>
          <p:cNvPr id="12"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p:txBody>
          <a:bodyPr/>
          <a:lstStyle/>
          <a:p>
            <a:fld id="{8D4D1E41-7A09-AB4A-A4E1-09765ADA2698}" type="slidenum">
              <a:rPr kumimoji="1" lang="zh-CN" altLang="en-US" smtClean="0"/>
              <a:t>88</a:t>
            </a:fld>
            <a:endParaRPr kumimoji="1" lang="zh-CN" altLang="en-US" dirty="0"/>
          </a:p>
        </p:txBody>
      </p:sp>
      <p:sp>
        <p:nvSpPr>
          <p:cNvPr id="24"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zh-CN" altLang="en-US" sz="4000" u="none" strike="noStrike" kern="1200" cap="none" spc="0" normalizeH="0" baseline="0" noProof="0" dirty="0">
              <a:ln>
                <a:noFill/>
              </a:ln>
              <a:solidFill>
                <a:prstClr val="black"/>
              </a:solidFill>
              <a:effectLst/>
              <a:uLnTx/>
              <a:uFillTx/>
              <a:latin typeface="DengXian" panose="02010600030101010101" pitchFamily="2" charset="-122"/>
              <a:ea typeface="DengXian" panose="02010600030101010101" pitchFamily="2" charset="-122"/>
              <a:cs typeface="+mj-cs"/>
            </a:endParaRPr>
          </a:p>
        </p:txBody>
      </p:sp>
      <p:sp>
        <p:nvSpPr>
          <p:cNvPr id="66" name="内容占位符 2"/>
          <p:cNvSpPr>
            <a:spLocks noGrp="1"/>
          </p:cNvSpPr>
          <p:nvPr>
            <p:ph idx="1"/>
          </p:nvPr>
        </p:nvSpPr>
        <p:spPr>
          <a:xfrm>
            <a:off x="838200" y="1429482"/>
            <a:ext cx="10574867" cy="4586694"/>
          </a:xfrm>
        </p:spPr>
        <p:txBody>
          <a:bodyPr>
            <a:normAutofit/>
          </a:bodyPr>
          <a:lstStyle/>
          <a:p>
            <a:pPr>
              <a:lnSpc>
                <a:spcPct val="120000"/>
              </a:lnSpc>
              <a:spcBef>
                <a:spcPct val="0"/>
              </a:spcBef>
            </a:pPr>
            <a:r>
              <a:rPr lang="zh-CN" altLang="en-US" dirty="0"/>
              <a:t>初始化</a:t>
            </a:r>
          </a:p>
        </p:txBody>
      </p:sp>
      <p:sp>
        <p:nvSpPr>
          <p:cNvPr id="9"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endParaRPr kumimoji="1" lang="zh-CN" altLang="en-US" dirty="0">
              <a:latin typeface="DengXian" panose="02010600030101010101" pitchFamily="2" charset="-122"/>
              <a:ea typeface="DengXian" panose="02010600030101010101" pitchFamily="2" charset="-122"/>
            </a:endParaRPr>
          </a:p>
        </p:txBody>
      </p:sp>
      <p:sp>
        <p:nvSpPr>
          <p:cNvPr id="16" name="Line 64"/>
          <p:cNvSpPr>
            <a:spLocks noChangeShapeType="1"/>
          </p:cNvSpPr>
          <p:nvPr/>
        </p:nvSpPr>
        <p:spPr bwMode="auto">
          <a:xfrm>
            <a:off x="1591733" y="3327401"/>
            <a:ext cx="14405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17" name="Text Box 65"/>
          <p:cNvSpPr txBox="1">
            <a:spLocks noChangeArrowheads="1"/>
          </p:cNvSpPr>
          <p:nvPr/>
        </p:nvSpPr>
        <p:spPr bwMode="auto">
          <a:xfrm>
            <a:off x="1366348" y="2995615"/>
            <a:ext cx="15584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10.1.1.0/30</a:t>
            </a:r>
          </a:p>
        </p:txBody>
      </p:sp>
      <p:sp>
        <p:nvSpPr>
          <p:cNvPr id="18" name="Text Box 66"/>
          <p:cNvSpPr txBox="1">
            <a:spLocks noChangeArrowheads="1"/>
          </p:cNvSpPr>
          <p:nvPr/>
        </p:nvSpPr>
        <p:spPr bwMode="auto">
          <a:xfrm>
            <a:off x="4040333" y="2931319"/>
            <a:ext cx="16437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10.1.2.0/30</a:t>
            </a:r>
          </a:p>
        </p:txBody>
      </p:sp>
      <p:sp>
        <p:nvSpPr>
          <p:cNvPr id="19" name="Text Box 67"/>
          <p:cNvSpPr txBox="1">
            <a:spLocks noChangeArrowheads="1"/>
          </p:cNvSpPr>
          <p:nvPr/>
        </p:nvSpPr>
        <p:spPr bwMode="auto">
          <a:xfrm>
            <a:off x="6408763" y="2932167"/>
            <a:ext cx="19446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10.1.3.0/30</a:t>
            </a:r>
          </a:p>
        </p:txBody>
      </p:sp>
      <p:sp>
        <p:nvSpPr>
          <p:cNvPr id="20" name="Text Box 68"/>
          <p:cNvSpPr txBox="1">
            <a:spLocks noChangeArrowheads="1"/>
          </p:cNvSpPr>
          <p:nvPr/>
        </p:nvSpPr>
        <p:spPr bwMode="auto">
          <a:xfrm>
            <a:off x="9077240" y="2919623"/>
            <a:ext cx="18549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10.1.4.0/30</a:t>
            </a:r>
          </a:p>
        </p:txBody>
      </p:sp>
      <p:sp>
        <p:nvSpPr>
          <p:cNvPr id="21" name="Line 69"/>
          <p:cNvSpPr>
            <a:spLocks noChangeShapeType="1"/>
          </p:cNvSpPr>
          <p:nvPr/>
        </p:nvSpPr>
        <p:spPr bwMode="auto">
          <a:xfrm>
            <a:off x="3897458" y="3324225"/>
            <a:ext cx="1872456"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2" name="Line 70"/>
          <p:cNvSpPr>
            <a:spLocks noChangeShapeType="1"/>
          </p:cNvSpPr>
          <p:nvPr/>
        </p:nvSpPr>
        <p:spPr bwMode="auto">
          <a:xfrm>
            <a:off x="6129482" y="3325814"/>
            <a:ext cx="2089151" cy="56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3" name="Line 71"/>
          <p:cNvSpPr>
            <a:spLocks noChangeShapeType="1"/>
          </p:cNvSpPr>
          <p:nvPr/>
        </p:nvSpPr>
        <p:spPr bwMode="auto">
          <a:xfrm>
            <a:off x="8290069" y="3325812"/>
            <a:ext cx="2526943" cy="56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25" name="Text Box 72"/>
          <p:cNvSpPr txBox="1">
            <a:spLocks noChangeArrowheads="1"/>
          </p:cNvSpPr>
          <p:nvPr/>
        </p:nvSpPr>
        <p:spPr bwMode="auto">
          <a:xfrm>
            <a:off x="2673495" y="3309939"/>
            <a:ext cx="5032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a:ea typeface="MS PGothic" pitchFamily="34" charset="-128"/>
              </a:rPr>
              <a:t>.2</a:t>
            </a:r>
          </a:p>
        </p:txBody>
      </p:sp>
      <p:sp>
        <p:nvSpPr>
          <p:cNvPr id="26" name="Text Box 73"/>
          <p:cNvSpPr txBox="1">
            <a:spLocks noChangeArrowheads="1"/>
          </p:cNvSpPr>
          <p:nvPr/>
        </p:nvSpPr>
        <p:spPr bwMode="auto">
          <a:xfrm>
            <a:off x="3897458" y="3309939"/>
            <a:ext cx="5032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a:ea typeface="MS PGothic" pitchFamily="34" charset="-128"/>
              </a:rPr>
              <a:t>.1</a:t>
            </a:r>
          </a:p>
        </p:txBody>
      </p:sp>
      <p:sp>
        <p:nvSpPr>
          <p:cNvPr id="27" name="Text Box 74"/>
          <p:cNvSpPr txBox="1">
            <a:spLocks noChangeArrowheads="1"/>
          </p:cNvSpPr>
          <p:nvPr/>
        </p:nvSpPr>
        <p:spPr bwMode="auto">
          <a:xfrm>
            <a:off x="5166295" y="3323372"/>
            <a:ext cx="5032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.2</a:t>
            </a:r>
          </a:p>
        </p:txBody>
      </p:sp>
      <p:sp>
        <p:nvSpPr>
          <p:cNvPr id="28" name="Text Box 75"/>
          <p:cNvSpPr txBox="1">
            <a:spLocks noChangeArrowheads="1"/>
          </p:cNvSpPr>
          <p:nvPr/>
        </p:nvSpPr>
        <p:spPr bwMode="auto">
          <a:xfrm>
            <a:off x="6492173" y="3338331"/>
            <a:ext cx="5032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a:t>
            </a:r>
          </a:p>
        </p:txBody>
      </p:sp>
      <p:sp>
        <p:nvSpPr>
          <p:cNvPr id="29" name="Text Box 76"/>
          <p:cNvSpPr txBox="1">
            <a:spLocks noChangeArrowheads="1"/>
          </p:cNvSpPr>
          <p:nvPr/>
        </p:nvSpPr>
        <p:spPr bwMode="auto">
          <a:xfrm>
            <a:off x="7616453" y="3322576"/>
            <a:ext cx="5032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.2</a:t>
            </a:r>
          </a:p>
        </p:txBody>
      </p:sp>
      <p:sp>
        <p:nvSpPr>
          <p:cNvPr id="30" name="Text Box 77"/>
          <p:cNvSpPr txBox="1">
            <a:spLocks noChangeArrowheads="1"/>
          </p:cNvSpPr>
          <p:nvPr/>
        </p:nvSpPr>
        <p:spPr bwMode="auto">
          <a:xfrm>
            <a:off x="8914048" y="3345086"/>
            <a:ext cx="5032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a:t>
            </a:r>
          </a:p>
        </p:txBody>
      </p:sp>
      <p:sp>
        <p:nvSpPr>
          <p:cNvPr id="31" name="Text Box 78"/>
          <p:cNvSpPr txBox="1">
            <a:spLocks noChangeArrowheads="1"/>
          </p:cNvSpPr>
          <p:nvPr/>
        </p:nvSpPr>
        <p:spPr bwMode="auto">
          <a:xfrm>
            <a:off x="3032270" y="2605188"/>
            <a:ext cx="1008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solidFill>
                  <a:srgbClr val="006699"/>
                </a:solidFill>
              </a:rPr>
              <a:t>RTA</a:t>
            </a:r>
          </a:p>
        </p:txBody>
      </p:sp>
      <p:sp>
        <p:nvSpPr>
          <p:cNvPr id="32" name="Text Box 79"/>
          <p:cNvSpPr txBox="1">
            <a:spLocks noChangeArrowheads="1"/>
          </p:cNvSpPr>
          <p:nvPr/>
        </p:nvSpPr>
        <p:spPr bwMode="auto">
          <a:xfrm>
            <a:off x="5555548" y="2605187"/>
            <a:ext cx="10080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solidFill>
                  <a:srgbClr val="006699"/>
                </a:solidFill>
              </a:rPr>
              <a:t>RTB</a:t>
            </a:r>
          </a:p>
        </p:txBody>
      </p:sp>
      <p:sp>
        <p:nvSpPr>
          <p:cNvPr id="33" name="Text Box 80"/>
          <p:cNvSpPr txBox="1">
            <a:spLocks noChangeArrowheads="1"/>
          </p:cNvSpPr>
          <p:nvPr/>
        </p:nvSpPr>
        <p:spPr bwMode="auto">
          <a:xfrm>
            <a:off x="7941704" y="2615857"/>
            <a:ext cx="10080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solidFill>
                  <a:srgbClr val="006699"/>
                </a:solidFill>
              </a:rPr>
              <a:t>RTC</a:t>
            </a:r>
          </a:p>
        </p:txBody>
      </p:sp>
      <p:pic>
        <p:nvPicPr>
          <p:cNvPr id="34" name="Picture 81" descr="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32270" y="2917826"/>
            <a:ext cx="9366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 name="Picture 82" descr="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5548" y="2923634"/>
            <a:ext cx="9366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83" descr="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7423" y="2928756"/>
            <a:ext cx="9366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152" y="4034074"/>
            <a:ext cx="3316287" cy="162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53794" y="4034074"/>
            <a:ext cx="3309937" cy="162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18633" y="4034074"/>
            <a:ext cx="3309937" cy="162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18713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lang="en-US" altLang="zh-CN" dirty="0"/>
              <a:t>RIP-</a:t>
            </a:r>
            <a:r>
              <a:rPr lang="zh-CN" altLang="en-US" dirty="0"/>
              <a:t>工作过程</a:t>
            </a:r>
            <a:endParaRPr kumimoji="1" lang="zh-CN" altLang="en-US" dirty="0"/>
          </a:p>
        </p:txBody>
      </p:sp>
      <p:sp>
        <p:nvSpPr>
          <p:cNvPr id="1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3243518" cy="365125"/>
          </a:xfrm>
        </p:spPr>
        <p:txBody>
          <a:bodyPr/>
          <a:lstStyle/>
          <a:p>
            <a:r>
              <a:rPr kumimoji="1" lang="en-US" altLang="zh-CN" dirty="0">
                <a:latin typeface="DengXian" panose="02010600030101010101" pitchFamily="2" charset="-122"/>
                <a:ea typeface="DengXian" panose="02010600030101010101" pitchFamily="2" charset="-122"/>
              </a:rPr>
              <a:t>5.4.2 </a:t>
            </a:r>
            <a:r>
              <a:rPr lang="en-US" altLang="zh-CN" dirty="0">
                <a:latin typeface="DengXian" panose="02010600030101010101" pitchFamily="2" charset="-122"/>
                <a:ea typeface="DengXian" panose="02010600030101010101" pitchFamily="2" charset="-122"/>
              </a:rPr>
              <a:t>RIP-</a:t>
            </a:r>
            <a:r>
              <a:rPr lang="zh-CN" altLang="zh-CN" dirty="0">
                <a:latin typeface="DengXian" panose="02010600030101010101" pitchFamily="2" charset="-122"/>
                <a:ea typeface="DengXian" panose="02010600030101010101" pitchFamily="2" charset="-122"/>
              </a:rPr>
              <a:t>内部网关路由协议</a:t>
            </a:r>
            <a:endParaRPr kumimoji="1" lang="zh-CN" altLang="en-US" dirty="0">
              <a:latin typeface="DengXian" panose="02010600030101010101" pitchFamily="2" charset="-122"/>
              <a:ea typeface="DengXian" panose="02010600030101010101" pitchFamily="2" charset="-122"/>
            </a:endParaRPr>
          </a:p>
        </p:txBody>
      </p:sp>
      <p:sp>
        <p:nvSpPr>
          <p:cNvPr id="12"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p:txBody>
          <a:bodyPr/>
          <a:lstStyle/>
          <a:p>
            <a:fld id="{8D4D1E41-7A09-AB4A-A4E1-09765ADA2698}" type="slidenum">
              <a:rPr kumimoji="1" lang="zh-CN" altLang="en-US" smtClean="0"/>
              <a:t>89</a:t>
            </a:fld>
            <a:endParaRPr kumimoji="1" lang="zh-CN" altLang="en-US" dirty="0"/>
          </a:p>
        </p:txBody>
      </p:sp>
      <p:sp>
        <p:nvSpPr>
          <p:cNvPr id="24"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zh-CN" altLang="en-US" sz="4000" u="none" strike="noStrike" kern="1200" cap="none" spc="0" normalizeH="0" baseline="0" noProof="0" dirty="0">
              <a:ln>
                <a:noFill/>
              </a:ln>
              <a:solidFill>
                <a:prstClr val="black"/>
              </a:solidFill>
              <a:effectLst/>
              <a:uLnTx/>
              <a:uFillTx/>
              <a:latin typeface="DengXian" panose="02010600030101010101" pitchFamily="2" charset="-122"/>
              <a:ea typeface="DengXian" panose="02010600030101010101" pitchFamily="2" charset="-122"/>
              <a:cs typeface="+mj-cs"/>
            </a:endParaRPr>
          </a:p>
        </p:txBody>
      </p:sp>
      <p:sp>
        <p:nvSpPr>
          <p:cNvPr id="66" name="内容占位符 2"/>
          <p:cNvSpPr>
            <a:spLocks noGrp="1"/>
          </p:cNvSpPr>
          <p:nvPr>
            <p:ph idx="1"/>
          </p:nvPr>
        </p:nvSpPr>
        <p:spPr>
          <a:xfrm>
            <a:off x="838200" y="1429482"/>
            <a:ext cx="10574867" cy="4586694"/>
          </a:xfrm>
        </p:spPr>
        <p:txBody>
          <a:bodyPr>
            <a:normAutofit/>
          </a:bodyPr>
          <a:lstStyle/>
          <a:p>
            <a:pPr>
              <a:lnSpc>
                <a:spcPct val="120000"/>
              </a:lnSpc>
              <a:spcBef>
                <a:spcPct val="0"/>
              </a:spcBef>
            </a:pPr>
            <a:r>
              <a:rPr lang="zh-CN" altLang="en-US" dirty="0"/>
              <a:t>周期性更新</a:t>
            </a:r>
          </a:p>
        </p:txBody>
      </p:sp>
      <p:sp>
        <p:nvSpPr>
          <p:cNvPr id="9"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endParaRPr kumimoji="1" lang="zh-CN" altLang="en-US" dirty="0">
              <a:latin typeface="DengXian" panose="02010600030101010101" pitchFamily="2" charset="-122"/>
              <a:ea typeface="DengXian" panose="02010600030101010101" pitchFamily="2" charset="-122"/>
            </a:endParaRPr>
          </a:p>
        </p:txBody>
      </p:sp>
      <p:sp>
        <p:nvSpPr>
          <p:cNvPr id="41" name="Line 64"/>
          <p:cNvSpPr>
            <a:spLocks noChangeShapeType="1"/>
          </p:cNvSpPr>
          <p:nvPr/>
        </p:nvSpPr>
        <p:spPr bwMode="auto">
          <a:xfrm>
            <a:off x="1700476" y="2841724"/>
            <a:ext cx="14405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2" name="Text Box 65"/>
          <p:cNvSpPr txBox="1">
            <a:spLocks noChangeArrowheads="1"/>
          </p:cNvSpPr>
          <p:nvPr/>
        </p:nvSpPr>
        <p:spPr bwMode="auto">
          <a:xfrm>
            <a:off x="1475091" y="2509938"/>
            <a:ext cx="15584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10.1.1.0/30</a:t>
            </a:r>
          </a:p>
        </p:txBody>
      </p:sp>
      <p:sp>
        <p:nvSpPr>
          <p:cNvPr id="43" name="Text Box 66"/>
          <p:cNvSpPr txBox="1">
            <a:spLocks noChangeArrowheads="1"/>
          </p:cNvSpPr>
          <p:nvPr/>
        </p:nvSpPr>
        <p:spPr bwMode="auto">
          <a:xfrm>
            <a:off x="4149076" y="2445642"/>
            <a:ext cx="164376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10.1.2.0/30</a:t>
            </a:r>
          </a:p>
        </p:txBody>
      </p:sp>
      <p:sp>
        <p:nvSpPr>
          <p:cNvPr id="44" name="Text Box 67"/>
          <p:cNvSpPr txBox="1">
            <a:spLocks noChangeArrowheads="1"/>
          </p:cNvSpPr>
          <p:nvPr/>
        </p:nvSpPr>
        <p:spPr bwMode="auto">
          <a:xfrm>
            <a:off x="6517506" y="2446490"/>
            <a:ext cx="19446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10.1.3.0/30</a:t>
            </a:r>
          </a:p>
        </p:txBody>
      </p:sp>
      <p:sp>
        <p:nvSpPr>
          <p:cNvPr id="45" name="Text Box 68"/>
          <p:cNvSpPr txBox="1">
            <a:spLocks noChangeArrowheads="1"/>
          </p:cNvSpPr>
          <p:nvPr/>
        </p:nvSpPr>
        <p:spPr bwMode="auto">
          <a:xfrm>
            <a:off x="9185983" y="2433946"/>
            <a:ext cx="185492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10.1.4.0/30</a:t>
            </a:r>
          </a:p>
        </p:txBody>
      </p:sp>
      <p:sp>
        <p:nvSpPr>
          <p:cNvPr id="46" name="Line 69"/>
          <p:cNvSpPr>
            <a:spLocks noChangeShapeType="1"/>
          </p:cNvSpPr>
          <p:nvPr/>
        </p:nvSpPr>
        <p:spPr bwMode="auto">
          <a:xfrm>
            <a:off x="4006201" y="2838548"/>
            <a:ext cx="1872456" cy="31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7" name="Line 70"/>
          <p:cNvSpPr>
            <a:spLocks noChangeShapeType="1"/>
          </p:cNvSpPr>
          <p:nvPr/>
        </p:nvSpPr>
        <p:spPr bwMode="auto">
          <a:xfrm>
            <a:off x="6238225" y="2840137"/>
            <a:ext cx="2089151" cy="56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8" name="Line 71"/>
          <p:cNvSpPr>
            <a:spLocks noChangeShapeType="1"/>
          </p:cNvSpPr>
          <p:nvPr/>
        </p:nvSpPr>
        <p:spPr bwMode="auto">
          <a:xfrm>
            <a:off x="8398812" y="2840135"/>
            <a:ext cx="2526943" cy="561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sz="2000"/>
          </a:p>
        </p:txBody>
      </p:sp>
      <p:sp>
        <p:nvSpPr>
          <p:cNvPr id="49" name="Text Box 72"/>
          <p:cNvSpPr txBox="1">
            <a:spLocks noChangeArrowheads="1"/>
          </p:cNvSpPr>
          <p:nvPr/>
        </p:nvSpPr>
        <p:spPr bwMode="auto">
          <a:xfrm>
            <a:off x="2782238" y="2824262"/>
            <a:ext cx="5032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a:ea typeface="MS PGothic" pitchFamily="34" charset="-128"/>
              </a:rPr>
              <a:t>.2</a:t>
            </a:r>
          </a:p>
        </p:txBody>
      </p:sp>
      <p:sp>
        <p:nvSpPr>
          <p:cNvPr id="50" name="Text Box 73"/>
          <p:cNvSpPr txBox="1">
            <a:spLocks noChangeArrowheads="1"/>
          </p:cNvSpPr>
          <p:nvPr/>
        </p:nvSpPr>
        <p:spPr bwMode="auto">
          <a:xfrm>
            <a:off x="4006201" y="2824262"/>
            <a:ext cx="5032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a:ea typeface="MS PGothic" pitchFamily="34" charset="-128"/>
              </a:rPr>
              <a:t>.1</a:t>
            </a:r>
          </a:p>
        </p:txBody>
      </p:sp>
      <p:sp>
        <p:nvSpPr>
          <p:cNvPr id="51" name="Text Box 74"/>
          <p:cNvSpPr txBox="1">
            <a:spLocks noChangeArrowheads="1"/>
          </p:cNvSpPr>
          <p:nvPr/>
        </p:nvSpPr>
        <p:spPr bwMode="auto">
          <a:xfrm>
            <a:off x="5275038" y="2837695"/>
            <a:ext cx="5032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.2</a:t>
            </a:r>
          </a:p>
        </p:txBody>
      </p:sp>
      <p:sp>
        <p:nvSpPr>
          <p:cNvPr id="52" name="Text Box 75"/>
          <p:cNvSpPr txBox="1">
            <a:spLocks noChangeArrowheads="1"/>
          </p:cNvSpPr>
          <p:nvPr/>
        </p:nvSpPr>
        <p:spPr bwMode="auto">
          <a:xfrm>
            <a:off x="6600916" y="2852654"/>
            <a:ext cx="5032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a:t>
            </a:r>
          </a:p>
        </p:txBody>
      </p:sp>
      <p:sp>
        <p:nvSpPr>
          <p:cNvPr id="53" name="Text Box 76"/>
          <p:cNvSpPr txBox="1">
            <a:spLocks noChangeArrowheads="1"/>
          </p:cNvSpPr>
          <p:nvPr/>
        </p:nvSpPr>
        <p:spPr bwMode="auto">
          <a:xfrm>
            <a:off x="7824138" y="2824202"/>
            <a:ext cx="5032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.2</a:t>
            </a:r>
          </a:p>
        </p:txBody>
      </p:sp>
      <p:sp>
        <p:nvSpPr>
          <p:cNvPr id="54" name="Text Box 77"/>
          <p:cNvSpPr txBox="1">
            <a:spLocks noChangeArrowheads="1"/>
          </p:cNvSpPr>
          <p:nvPr/>
        </p:nvSpPr>
        <p:spPr bwMode="auto">
          <a:xfrm>
            <a:off x="9022791" y="2859409"/>
            <a:ext cx="5032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784225">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defTabSz="784225">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defTabSz="784225">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defTabSz="784225">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defTabSz="784225">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defTabSz="784225"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ea typeface="MS PGothic" pitchFamily="34" charset="-128"/>
              </a:rPr>
              <a:t>.1</a:t>
            </a:r>
          </a:p>
        </p:txBody>
      </p:sp>
      <p:sp>
        <p:nvSpPr>
          <p:cNvPr id="55" name="Text Box 78"/>
          <p:cNvSpPr txBox="1">
            <a:spLocks noChangeArrowheads="1"/>
          </p:cNvSpPr>
          <p:nvPr/>
        </p:nvSpPr>
        <p:spPr bwMode="auto">
          <a:xfrm>
            <a:off x="3141013" y="2119511"/>
            <a:ext cx="100806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a:solidFill>
                  <a:srgbClr val="006699"/>
                </a:solidFill>
              </a:rPr>
              <a:t>RTA</a:t>
            </a:r>
          </a:p>
        </p:txBody>
      </p:sp>
      <p:sp>
        <p:nvSpPr>
          <p:cNvPr id="56" name="Text Box 79"/>
          <p:cNvSpPr txBox="1">
            <a:spLocks noChangeArrowheads="1"/>
          </p:cNvSpPr>
          <p:nvPr/>
        </p:nvSpPr>
        <p:spPr bwMode="auto">
          <a:xfrm>
            <a:off x="5664291" y="2119510"/>
            <a:ext cx="10080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solidFill>
                  <a:srgbClr val="006699"/>
                </a:solidFill>
              </a:rPr>
              <a:t>RTB</a:t>
            </a:r>
          </a:p>
        </p:txBody>
      </p:sp>
      <p:sp>
        <p:nvSpPr>
          <p:cNvPr id="57" name="Text Box 80"/>
          <p:cNvSpPr txBox="1">
            <a:spLocks noChangeArrowheads="1"/>
          </p:cNvSpPr>
          <p:nvPr/>
        </p:nvSpPr>
        <p:spPr bwMode="auto">
          <a:xfrm>
            <a:off x="8050447" y="2130180"/>
            <a:ext cx="100806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a:spcBef>
                <a:spcPct val="20000"/>
              </a:spcBef>
              <a:buClr>
                <a:schemeClr val="accent1"/>
              </a:buClr>
              <a:buSzPct val="70000"/>
              <a:buFont typeface="Wingdings" pitchFamily="2" charset="2"/>
              <a:buChar char="n"/>
              <a:defRPr sz="3200">
                <a:solidFill>
                  <a:schemeClr val="tx1"/>
                </a:solidFill>
                <a:latin typeface="Arial" pitchFamily="34" charset="0"/>
                <a:ea typeface="宋体" pitchFamily="2" charset="-122"/>
              </a:defRPr>
            </a:lvl1pPr>
            <a:lvl2pPr marL="742950" indent="-285750">
              <a:spcBef>
                <a:spcPct val="20000"/>
              </a:spcBef>
              <a:buClr>
                <a:schemeClr val="hlink"/>
              </a:buClr>
              <a:buSzPct val="65000"/>
              <a:buFont typeface="Wingdings" pitchFamily="2" charset="2"/>
              <a:buChar char="¡"/>
              <a:defRPr sz="2800">
                <a:solidFill>
                  <a:schemeClr val="tx1"/>
                </a:solidFill>
                <a:latin typeface="Arial" pitchFamily="34" charset="0"/>
                <a:ea typeface="宋体" pitchFamily="2" charset="-122"/>
              </a:defRPr>
            </a:lvl2pPr>
            <a:lvl3pPr marL="1143000" indent="-228600">
              <a:spcBef>
                <a:spcPct val="20000"/>
              </a:spcBef>
              <a:buClr>
                <a:schemeClr val="accent1"/>
              </a:buClr>
              <a:buSzPct val="70000"/>
              <a:buFont typeface="Wingdings" pitchFamily="2" charset="2"/>
              <a:buChar char="n"/>
              <a:defRPr sz="2400">
                <a:solidFill>
                  <a:schemeClr val="tx1"/>
                </a:solidFill>
                <a:latin typeface="Arial" pitchFamily="34" charset="0"/>
                <a:ea typeface="宋体" pitchFamily="2" charset="-122"/>
              </a:defRPr>
            </a:lvl3pPr>
            <a:lvl4pPr marL="1600200" indent="-228600">
              <a:spcBef>
                <a:spcPct val="20000"/>
              </a:spcBef>
              <a:buClr>
                <a:schemeClr val="hlink"/>
              </a:buClr>
              <a:buSzPct val="75000"/>
              <a:buFont typeface="Wingdings" pitchFamily="2" charset="2"/>
              <a:buChar char="¡"/>
              <a:defRPr sz="2000">
                <a:solidFill>
                  <a:schemeClr val="tx1"/>
                </a:solidFill>
                <a:latin typeface="Arial" pitchFamily="34" charset="0"/>
                <a:ea typeface="宋体" pitchFamily="2" charset="-122"/>
              </a:defRPr>
            </a:lvl4pPr>
            <a:lvl5pPr marL="2057400" indent="-228600">
              <a:spcBef>
                <a:spcPct val="20000"/>
              </a:spcBef>
              <a:buClr>
                <a:schemeClr val="accent1"/>
              </a:buClr>
              <a:buSzPct val="70000"/>
              <a:buFont typeface="Wingdings" pitchFamily="2" charset="2"/>
              <a:buChar char="n"/>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lr>
                <a:schemeClr val="accent1"/>
              </a:buClr>
              <a:buSzPct val="70000"/>
              <a:buFont typeface="Wingdings" pitchFamily="2" charset="2"/>
              <a:buChar char="n"/>
              <a:defRPr sz="2000">
                <a:solidFill>
                  <a:schemeClr val="tx1"/>
                </a:solidFill>
                <a:latin typeface="Arial" pitchFamily="34" charset="0"/>
                <a:ea typeface="宋体" pitchFamily="2" charset="-122"/>
              </a:defRPr>
            </a:lvl9pPr>
          </a:lstStyle>
          <a:p>
            <a:pPr eaLnBrk="1" hangingPunct="1">
              <a:spcBef>
                <a:spcPct val="50000"/>
              </a:spcBef>
              <a:buClrTx/>
              <a:buSzTx/>
              <a:buFontTx/>
              <a:buNone/>
            </a:pPr>
            <a:r>
              <a:rPr kumimoji="1" lang="en-US" altLang="zh-CN" sz="2000" b="1" dirty="0">
                <a:solidFill>
                  <a:srgbClr val="006699"/>
                </a:solidFill>
              </a:rPr>
              <a:t>RTC</a:t>
            </a:r>
          </a:p>
        </p:txBody>
      </p:sp>
      <p:pic>
        <p:nvPicPr>
          <p:cNvPr id="58" name="Picture 81" descr="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1013" y="2432149"/>
            <a:ext cx="9366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 name="Picture 82" descr="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4291" y="2437957"/>
            <a:ext cx="9366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Picture 83" descr="0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6166" y="2443079"/>
            <a:ext cx="936625" cy="79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01228" y="3548397"/>
            <a:ext cx="3316287" cy="162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23870" y="3548397"/>
            <a:ext cx="3309937" cy="162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988709" y="3548397"/>
            <a:ext cx="3309937" cy="1622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5" name="Line 97"/>
          <p:cNvSpPr>
            <a:spLocks noChangeShapeType="1"/>
          </p:cNvSpPr>
          <p:nvPr/>
        </p:nvSpPr>
        <p:spPr bwMode="auto">
          <a:xfrm flipH="1">
            <a:off x="2828325" y="3355756"/>
            <a:ext cx="7207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 name="Line 98"/>
          <p:cNvSpPr>
            <a:spLocks noChangeShapeType="1"/>
          </p:cNvSpPr>
          <p:nvPr/>
        </p:nvSpPr>
        <p:spPr bwMode="auto">
          <a:xfrm flipH="1">
            <a:off x="5259262" y="3355756"/>
            <a:ext cx="7921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8" name="Line 99"/>
          <p:cNvSpPr>
            <a:spLocks noChangeShapeType="1"/>
          </p:cNvSpPr>
          <p:nvPr/>
        </p:nvSpPr>
        <p:spPr bwMode="auto">
          <a:xfrm flipH="1">
            <a:off x="7740980" y="3355756"/>
            <a:ext cx="792163"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 name="Line 100"/>
          <p:cNvSpPr>
            <a:spLocks noChangeShapeType="1"/>
          </p:cNvSpPr>
          <p:nvPr/>
        </p:nvSpPr>
        <p:spPr bwMode="auto">
          <a:xfrm flipH="1">
            <a:off x="3693512" y="3355756"/>
            <a:ext cx="647700"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101"/>
          <p:cNvSpPr>
            <a:spLocks noChangeShapeType="1"/>
          </p:cNvSpPr>
          <p:nvPr/>
        </p:nvSpPr>
        <p:spPr bwMode="auto">
          <a:xfrm flipH="1">
            <a:off x="6201745" y="3355756"/>
            <a:ext cx="719137"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102"/>
          <p:cNvSpPr>
            <a:spLocks noChangeShapeType="1"/>
          </p:cNvSpPr>
          <p:nvPr/>
        </p:nvSpPr>
        <p:spPr bwMode="auto">
          <a:xfrm flipH="1">
            <a:off x="8677605" y="3355756"/>
            <a:ext cx="792163" cy="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pic>
        <p:nvPicPr>
          <p:cNvPr id="72"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65343" y="5093222"/>
            <a:ext cx="32496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3" name="Picture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3197" y="5093222"/>
            <a:ext cx="32496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4" name="Picture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32416" y="5099995"/>
            <a:ext cx="32496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5"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65343" y="5611775"/>
            <a:ext cx="32496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6"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140928" y="5611775"/>
            <a:ext cx="32496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7"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32416" y="5611775"/>
            <a:ext cx="3249613" cy="592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a:extLst>
              <a:ext uri="{FF2B5EF4-FFF2-40B4-BE49-F238E27FC236}">
                <a16:creationId xmlns:a16="http://schemas.microsoft.com/office/drawing/2014/main" id="{13320AFD-56DE-6D97-EF8F-ADB6BF3E3BA2}"/>
              </a:ext>
            </a:extLst>
          </p:cNvPr>
          <p:cNvSpPr/>
          <p:nvPr/>
        </p:nvSpPr>
        <p:spPr>
          <a:xfrm>
            <a:off x="9453439" y="5692133"/>
            <a:ext cx="876877" cy="33770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a:p>
        </p:txBody>
      </p:sp>
      <p:pic>
        <p:nvPicPr>
          <p:cNvPr id="3" name="Picture 4">
            <a:extLst>
              <a:ext uri="{FF2B5EF4-FFF2-40B4-BE49-F238E27FC236}">
                <a16:creationId xmlns:a16="http://schemas.microsoft.com/office/drawing/2014/main" id="{F205DE90-D9D7-CCFC-ABB2-FFF92BA7048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40957" t="-13446" r="28823"/>
          <a:stretch/>
        </p:blipFill>
        <p:spPr bwMode="auto">
          <a:xfrm>
            <a:off x="9400870" y="5536919"/>
            <a:ext cx="982013" cy="671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74684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wipe(down)">
                                      <p:cBhvr>
                                        <p:cTn id="7" dur="500"/>
                                        <p:tgtEl>
                                          <p:spTgt spid="65"/>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7"/>
                                        </p:tgtEl>
                                        <p:attrNameLst>
                                          <p:attrName>style.visibility</p:attrName>
                                        </p:attrNameLst>
                                      </p:cBhvr>
                                      <p:to>
                                        <p:strVal val="visible"/>
                                      </p:to>
                                    </p:set>
                                    <p:animEffect transition="in" filter="wipe(down)">
                                      <p:cBhvr>
                                        <p:cTn id="10" dur="500"/>
                                        <p:tgtEl>
                                          <p:spTgt spid="67"/>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70"/>
                                        </p:tgtEl>
                                        <p:attrNameLst>
                                          <p:attrName>style.visibility</p:attrName>
                                        </p:attrNameLst>
                                      </p:cBhvr>
                                      <p:to>
                                        <p:strVal val="visible"/>
                                      </p:to>
                                    </p:set>
                                    <p:animEffect transition="in" filter="wipe(down)">
                                      <p:cBhvr>
                                        <p:cTn id="13" dur="500"/>
                                        <p:tgtEl>
                                          <p:spTgt spid="70"/>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69"/>
                                        </p:tgtEl>
                                        <p:attrNameLst>
                                          <p:attrName>style.visibility</p:attrName>
                                        </p:attrNameLst>
                                      </p:cBhvr>
                                      <p:to>
                                        <p:strVal val="visible"/>
                                      </p:to>
                                    </p:set>
                                    <p:animEffect transition="in" filter="wipe(down)">
                                      <p:cBhvr>
                                        <p:cTn id="16" dur="500"/>
                                        <p:tgtEl>
                                          <p:spTgt spid="69"/>
                                        </p:tgtEl>
                                      </p:cBhvr>
                                    </p:animEffect>
                                  </p:childTnLst>
                                </p:cTn>
                              </p:par>
                              <p:par>
                                <p:cTn id="17" presetID="22" presetClass="entr" presetSubtype="4" fill="hold" grpId="0" nodeType="with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wipe(down)">
                                      <p:cBhvr>
                                        <p:cTn id="19" dur="500"/>
                                        <p:tgtEl>
                                          <p:spTgt spid="68"/>
                                        </p:tgtEl>
                                      </p:cBhvr>
                                    </p:animEffect>
                                  </p:childTnLst>
                                </p:cTn>
                              </p:par>
                              <p:par>
                                <p:cTn id="20" presetID="22" presetClass="entr" presetSubtype="4" fill="hold" grpId="0" nodeType="withEffect">
                                  <p:stCondLst>
                                    <p:cond delay="0"/>
                                  </p:stCondLst>
                                  <p:childTnLst>
                                    <p:set>
                                      <p:cBhvr>
                                        <p:cTn id="21" dur="1" fill="hold">
                                          <p:stCondLst>
                                            <p:cond delay="0"/>
                                          </p:stCondLst>
                                        </p:cTn>
                                        <p:tgtEl>
                                          <p:spTgt spid="71"/>
                                        </p:tgtEl>
                                        <p:attrNameLst>
                                          <p:attrName>style.visibility</p:attrName>
                                        </p:attrNameLst>
                                      </p:cBhvr>
                                      <p:to>
                                        <p:strVal val="visible"/>
                                      </p:to>
                                    </p:set>
                                    <p:animEffect transition="in" filter="wipe(down)">
                                      <p:cBhvr>
                                        <p:cTn id="22" dur="500"/>
                                        <p:tgtEl>
                                          <p:spTgt spid="7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73"/>
                                        </p:tgtEl>
                                        <p:attrNameLst>
                                          <p:attrName>style.visibility</p:attrName>
                                        </p:attrNameLst>
                                      </p:cBhvr>
                                      <p:to>
                                        <p:strVal val="visible"/>
                                      </p:to>
                                    </p:set>
                                    <p:animEffect transition="in" filter="wipe(down)">
                                      <p:cBhvr>
                                        <p:cTn id="27" dur="500"/>
                                        <p:tgtEl>
                                          <p:spTgt spid="7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72"/>
                                        </p:tgtEl>
                                        <p:attrNameLst>
                                          <p:attrName>style.visibility</p:attrName>
                                        </p:attrNameLst>
                                      </p:cBhvr>
                                      <p:to>
                                        <p:strVal val="visible"/>
                                      </p:to>
                                    </p:set>
                                    <p:animEffect transition="in" filter="wipe(down)">
                                      <p:cBhvr>
                                        <p:cTn id="32" dur="500"/>
                                        <p:tgtEl>
                                          <p:spTgt spid="7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74"/>
                                        </p:tgtEl>
                                        <p:attrNameLst>
                                          <p:attrName>style.visibility</p:attrName>
                                        </p:attrNameLst>
                                      </p:cBhvr>
                                      <p:to>
                                        <p:strVal val="visible"/>
                                      </p:to>
                                    </p:set>
                                    <p:animEffect transition="in" filter="wipe(down)">
                                      <p:cBhvr>
                                        <p:cTn id="37" dur="500"/>
                                        <p:tgtEl>
                                          <p:spTgt spid="7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75"/>
                                        </p:tgtEl>
                                        <p:attrNameLst>
                                          <p:attrName>style.visibility</p:attrName>
                                        </p:attrNameLst>
                                      </p:cBhvr>
                                      <p:to>
                                        <p:strVal val="visible"/>
                                      </p:to>
                                    </p:set>
                                    <p:animEffect transition="in" filter="wipe(down)">
                                      <p:cBhvr>
                                        <p:cTn id="42" dur="500"/>
                                        <p:tgtEl>
                                          <p:spTgt spid="7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1" nodeType="clickEffect">
                                  <p:stCondLst>
                                    <p:cond delay="0"/>
                                  </p:stCondLst>
                                  <p:childTnLst>
                                    <p:set>
                                      <p:cBhvr>
                                        <p:cTn id="46" dur="1" fill="hold">
                                          <p:stCondLst>
                                            <p:cond delay="0"/>
                                          </p:stCondLst>
                                        </p:cTn>
                                        <p:tgtEl>
                                          <p:spTgt spid="65"/>
                                        </p:tgtEl>
                                        <p:attrNameLst>
                                          <p:attrName>style.visibility</p:attrName>
                                        </p:attrNameLst>
                                      </p:cBhvr>
                                      <p:to>
                                        <p:strVal val="visible"/>
                                      </p:to>
                                    </p:set>
                                    <p:animEffect transition="in" filter="wipe(down)">
                                      <p:cBhvr>
                                        <p:cTn id="47" dur="500"/>
                                        <p:tgtEl>
                                          <p:spTgt spid="65"/>
                                        </p:tgtEl>
                                      </p:cBhvr>
                                    </p:animEffect>
                                  </p:childTnLst>
                                </p:cTn>
                              </p:par>
                              <p:par>
                                <p:cTn id="48" presetID="22" presetClass="entr" presetSubtype="4" fill="hold" grpId="1" nodeType="withEffect">
                                  <p:stCondLst>
                                    <p:cond delay="0"/>
                                  </p:stCondLst>
                                  <p:childTnLst>
                                    <p:set>
                                      <p:cBhvr>
                                        <p:cTn id="49" dur="1" fill="hold">
                                          <p:stCondLst>
                                            <p:cond delay="0"/>
                                          </p:stCondLst>
                                        </p:cTn>
                                        <p:tgtEl>
                                          <p:spTgt spid="67"/>
                                        </p:tgtEl>
                                        <p:attrNameLst>
                                          <p:attrName>style.visibility</p:attrName>
                                        </p:attrNameLst>
                                      </p:cBhvr>
                                      <p:to>
                                        <p:strVal val="visible"/>
                                      </p:to>
                                    </p:set>
                                    <p:animEffect transition="in" filter="wipe(down)">
                                      <p:cBhvr>
                                        <p:cTn id="50" dur="500"/>
                                        <p:tgtEl>
                                          <p:spTgt spid="67"/>
                                        </p:tgtEl>
                                      </p:cBhvr>
                                    </p:animEffect>
                                  </p:childTnLst>
                                </p:cTn>
                              </p:par>
                              <p:par>
                                <p:cTn id="51" presetID="22" presetClass="entr" presetSubtype="4" fill="hold" grpId="1" nodeType="withEffect">
                                  <p:stCondLst>
                                    <p:cond delay="0"/>
                                  </p:stCondLst>
                                  <p:childTnLst>
                                    <p:set>
                                      <p:cBhvr>
                                        <p:cTn id="52" dur="1" fill="hold">
                                          <p:stCondLst>
                                            <p:cond delay="0"/>
                                          </p:stCondLst>
                                        </p:cTn>
                                        <p:tgtEl>
                                          <p:spTgt spid="70"/>
                                        </p:tgtEl>
                                        <p:attrNameLst>
                                          <p:attrName>style.visibility</p:attrName>
                                        </p:attrNameLst>
                                      </p:cBhvr>
                                      <p:to>
                                        <p:strVal val="visible"/>
                                      </p:to>
                                    </p:set>
                                    <p:animEffect transition="in" filter="wipe(down)">
                                      <p:cBhvr>
                                        <p:cTn id="53" dur="500"/>
                                        <p:tgtEl>
                                          <p:spTgt spid="70"/>
                                        </p:tgtEl>
                                      </p:cBhvr>
                                    </p:animEffect>
                                  </p:childTnLst>
                                </p:cTn>
                              </p:par>
                              <p:par>
                                <p:cTn id="54" presetID="22" presetClass="entr" presetSubtype="4" fill="hold" grpId="1" nodeType="withEffect">
                                  <p:stCondLst>
                                    <p:cond delay="0"/>
                                  </p:stCondLst>
                                  <p:childTnLst>
                                    <p:set>
                                      <p:cBhvr>
                                        <p:cTn id="55" dur="1" fill="hold">
                                          <p:stCondLst>
                                            <p:cond delay="0"/>
                                          </p:stCondLst>
                                        </p:cTn>
                                        <p:tgtEl>
                                          <p:spTgt spid="69"/>
                                        </p:tgtEl>
                                        <p:attrNameLst>
                                          <p:attrName>style.visibility</p:attrName>
                                        </p:attrNameLst>
                                      </p:cBhvr>
                                      <p:to>
                                        <p:strVal val="visible"/>
                                      </p:to>
                                    </p:set>
                                    <p:animEffect transition="in" filter="wipe(down)">
                                      <p:cBhvr>
                                        <p:cTn id="56" dur="500"/>
                                        <p:tgtEl>
                                          <p:spTgt spid="69"/>
                                        </p:tgtEl>
                                      </p:cBhvr>
                                    </p:animEffect>
                                  </p:childTnLst>
                                </p:cTn>
                              </p:par>
                              <p:par>
                                <p:cTn id="57" presetID="22" presetClass="entr" presetSubtype="4" fill="hold" grpId="1" nodeType="withEffect">
                                  <p:stCondLst>
                                    <p:cond delay="0"/>
                                  </p:stCondLst>
                                  <p:childTnLst>
                                    <p:set>
                                      <p:cBhvr>
                                        <p:cTn id="58" dur="1" fill="hold">
                                          <p:stCondLst>
                                            <p:cond delay="0"/>
                                          </p:stCondLst>
                                        </p:cTn>
                                        <p:tgtEl>
                                          <p:spTgt spid="68"/>
                                        </p:tgtEl>
                                        <p:attrNameLst>
                                          <p:attrName>style.visibility</p:attrName>
                                        </p:attrNameLst>
                                      </p:cBhvr>
                                      <p:to>
                                        <p:strVal val="visible"/>
                                      </p:to>
                                    </p:set>
                                    <p:animEffect transition="in" filter="wipe(down)">
                                      <p:cBhvr>
                                        <p:cTn id="59" dur="500"/>
                                        <p:tgtEl>
                                          <p:spTgt spid="68"/>
                                        </p:tgtEl>
                                      </p:cBhvr>
                                    </p:animEffect>
                                  </p:childTnLst>
                                </p:cTn>
                              </p:par>
                              <p:par>
                                <p:cTn id="60" presetID="22" presetClass="entr" presetSubtype="4" fill="hold" grpId="1" nodeType="withEffect">
                                  <p:stCondLst>
                                    <p:cond delay="0"/>
                                  </p:stCondLst>
                                  <p:childTnLst>
                                    <p:set>
                                      <p:cBhvr>
                                        <p:cTn id="61" dur="1" fill="hold">
                                          <p:stCondLst>
                                            <p:cond delay="0"/>
                                          </p:stCondLst>
                                        </p:cTn>
                                        <p:tgtEl>
                                          <p:spTgt spid="71"/>
                                        </p:tgtEl>
                                        <p:attrNameLst>
                                          <p:attrName>style.visibility</p:attrName>
                                        </p:attrNameLst>
                                      </p:cBhvr>
                                      <p:to>
                                        <p:strVal val="visible"/>
                                      </p:to>
                                    </p:set>
                                    <p:animEffect transition="in" filter="wipe(down)">
                                      <p:cBhvr>
                                        <p:cTn id="62" dur="500"/>
                                        <p:tgtEl>
                                          <p:spTgt spid="71"/>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76"/>
                                        </p:tgtEl>
                                        <p:attrNameLst>
                                          <p:attrName>style.visibility</p:attrName>
                                        </p:attrNameLst>
                                      </p:cBhvr>
                                      <p:to>
                                        <p:strVal val="visible"/>
                                      </p:to>
                                    </p:set>
                                    <p:animEffect transition="in" filter="wipe(down)">
                                      <p:cBhvr>
                                        <p:cTn id="67" dur="500"/>
                                        <p:tgtEl>
                                          <p:spTgt spid="7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nodeType="clickEffect">
                                  <p:stCondLst>
                                    <p:cond delay="0"/>
                                  </p:stCondLst>
                                  <p:childTnLst>
                                    <p:set>
                                      <p:cBhvr>
                                        <p:cTn id="71" dur="1" fill="hold">
                                          <p:stCondLst>
                                            <p:cond delay="0"/>
                                          </p:stCondLst>
                                        </p:cTn>
                                        <p:tgtEl>
                                          <p:spTgt spid="77"/>
                                        </p:tgtEl>
                                        <p:attrNameLst>
                                          <p:attrName>style.visibility</p:attrName>
                                        </p:attrNameLst>
                                      </p:cBhvr>
                                      <p:to>
                                        <p:strVal val="visible"/>
                                      </p:to>
                                    </p:set>
                                    <p:animEffect transition="in" filter="wipe(down)">
                                      <p:cBhvr>
                                        <p:cTn id="72" dur="500"/>
                                        <p:tgtEl>
                                          <p:spTgt spid="7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3"/>
                                        </p:tgtEl>
                                        <p:attrNameLst>
                                          <p:attrName>style.visibility</p:attrName>
                                        </p:attrNameLst>
                                      </p:cBhvr>
                                      <p:to>
                                        <p:strVal val="visible"/>
                                      </p:to>
                                    </p:set>
                                    <p:animEffect transition="in" filter="wipe(down)">
                                      <p:cBhvr>
                                        <p:cTn id="7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5" grpId="1" animBg="1"/>
      <p:bldP spid="67" grpId="0" animBg="1"/>
      <p:bldP spid="67" grpId="1" animBg="1"/>
      <p:bldP spid="68" grpId="0" animBg="1"/>
      <p:bldP spid="68" grpId="1" animBg="1"/>
      <p:bldP spid="69" grpId="0" animBg="1"/>
      <p:bldP spid="69" grpId="1" animBg="1"/>
      <p:bldP spid="70" grpId="0" animBg="1"/>
      <p:bldP spid="70" grpId="1" animBg="1"/>
      <p:bldP spid="71" grpId="0" animBg="1"/>
      <p:bldP spid="71" grpId="1"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5B5E7D-8FD9-434B-BAC9-4A5D465A85EA}"/>
              </a:ext>
            </a:extLst>
          </p:cNvPr>
          <p:cNvSpPr>
            <a:spLocks noGrp="1"/>
          </p:cNvSpPr>
          <p:nvPr>
            <p:ph type="title"/>
          </p:nvPr>
        </p:nvSpPr>
        <p:spPr/>
        <p:txBody>
          <a:bodyPr/>
          <a:lstStyle/>
          <a:p>
            <a:r>
              <a:rPr lang="en-US" altLang="zh-CN" dirty="0"/>
              <a:t>RIP</a:t>
            </a:r>
            <a:r>
              <a:rPr lang="zh-CN" altLang="en-US" dirty="0"/>
              <a:t>协议特点</a:t>
            </a:r>
            <a:endParaRPr kumimoji="1" lang="zh-CN" altLang="en-US" dirty="0"/>
          </a:p>
        </p:txBody>
      </p:sp>
      <p:sp>
        <p:nvSpPr>
          <p:cNvPr id="10" name="日期占位符 9">
            <a:extLst>
              <a:ext uri="{FF2B5EF4-FFF2-40B4-BE49-F238E27FC236}">
                <a16:creationId xmlns:a16="http://schemas.microsoft.com/office/drawing/2014/main" id="{BE8FACEC-799E-DE40-96E7-A30323ECFA92}"/>
              </a:ext>
            </a:extLst>
          </p:cNvPr>
          <p:cNvSpPr>
            <a:spLocks noGrp="1"/>
          </p:cNvSpPr>
          <p:nvPr>
            <p:ph type="dt" sz="half" idx="10"/>
          </p:nvPr>
        </p:nvSpPr>
        <p:spPr>
          <a:xfrm>
            <a:off x="197335" y="6489303"/>
            <a:ext cx="3243518" cy="365125"/>
          </a:xfrm>
        </p:spPr>
        <p:txBody>
          <a:bodyPr/>
          <a:lstStyle/>
          <a:p>
            <a:r>
              <a:rPr kumimoji="1" lang="en-US" altLang="zh-CN" dirty="0">
                <a:latin typeface="DengXian" panose="02010600030101010101" pitchFamily="2" charset="-122"/>
                <a:ea typeface="DengXian" panose="02010600030101010101" pitchFamily="2" charset="-122"/>
              </a:rPr>
              <a:t>5.4.2 </a:t>
            </a:r>
            <a:r>
              <a:rPr lang="en-US" altLang="zh-CN" dirty="0">
                <a:latin typeface="DengXian" panose="02010600030101010101" pitchFamily="2" charset="-122"/>
                <a:ea typeface="DengXian" panose="02010600030101010101" pitchFamily="2" charset="-122"/>
              </a:rPr>
              <a:t>RIP-</a:t>
            </a:r>
            <a:r>
              <a:rPr lang="zh-CN" altLang="zh-CN" dirty="0">
                <a:latin typeface="DengXian" panose="02010600030101010101" pitchFamily="2" charset="-122"/>
                <a:ea typeface="DengXian" panose="02010600030101010101" pitchFamily="2" charset="-122"/>
              </a:rPr>
              <a:t>内部网关路由协议</a:t>
            </a:r>
            <a:endParaRPr kumimoji="1" lang="zh-CN" altLang="en-US" dirty="0">
              <a:latin typeface="DengXian" panose="02010600030101010101" pitchFamily="2" charset="-122"/>
              <a:ea typeface="DengXian" panose="02010600030101010101" pitchFamily="2" charset="-122"/>
            </a:endParaRPr>
          </a:p>
        </p:txBody>
      </p:sp>
      <p:sp>
        <p:nvSpPr>
          <p:cNvPr id="12" name="灯片编号占位符 11">
            <a:extLst>
              <a:ext uri="{FF2B5EF4-FFF2-40B4-BE49-F238E27FC236}">
                <a16:creationId xmlns:a16="http://schemas.microsoft.com/office/drawing/2014/main" id="{550ED307-254A-0A44-A386-B21B3DA050E4}"/>
              </a:ext>
            </a:extLst>
          </p:cNvPr>
          <p:cNvSpPr>
            <a:spLocks noGrp="1"/>
          </p:cNvSpPr>
          <p:nvPr>
            <p:ph type="sldNum" sz="quarter" idx="12"/>
          </p:nvPr>
        </p:nvSpPr>
        <p:spPr/>
        <p:txBody>
          <a:bodyPr/>
          <a:lstStyle/>
          <a:p>
            <a:fld id="{8D4D1E41-7A09-AB4A-A4E1-09765ADA2698}" type="slidenum">
              <a:rPr kumimoji="1" lang="zh-CN" altLang="en-US" smtClean="0"/>
              <a:t>90</a:t>
            </a:fld>
            <a:endParaRPr kumimoji="1" lang="zh-CN" altLang="en-US" dirty="0"/>
          </a:p>
        </p:txBody>
      </p:sp>
      <p:sp>
        <p:nvSpPr>
          <p:cNvPr id="24"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1" lang="zh-CN" altLang="en-US" sz="4000" u="none" strike="noStrike" kern="1200" cap="none" spc="0" normalizeH="0" baseline="0" noProof="0" dirty="0">
              <a:ln>
                <a:noFill/>
              </a:ln>
              <a:solidFill>
                <a:prstClr val="black"/>
              </a:solidFill>
              <a:effectLst/>
              <a:uLnTx/>
              <a:uFillTx/>
              <a:latin typeface="DengXian" panose="02010600030101010101" pitchFamily="2" charset="-122"/>
              <a:ea typeface="DengXian" panose="02010600030101010101" pitchFamily="2" charset="-122"/>
              <a:cs typeface="+mj-cs"/>
            </a:endParaRPr>
          </a:p>
        </p:txBody>
      </p:sp>
      <p:sp>
        <p:nvSpPr>
          <p:cNvPr id="9" name="标题 1"/>
          <p:cNvSpPr txBox="1">
            <a:spLocks/>
          </p:cNvSpPr>
          <p:nvPr/>
        </p:nvSpPr>
        <p:spPr>
          <a:xfrm>
            <a:off x="1307508" y="1548202"/>
            <a:ext cx="8220812" cy="8790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000" kern="1200">
                <a:solidFill>
                  <a:schemeClr val="tx1"/>
                </a:solidFill>
                <a:latin typeface="Microsoft YaHei" panose="020B0503020204020204" pitchFamily="34" charset="-122"/>
                <a:ea typeface="Microsoft YaHei" panose="020B0503020204020204" pitchFamily="34" charset="-122"/>
                <a:cs typeface="+mj-cs"/>
              </a:defRPr>
            </a:lvl1pPr>
          </a:lstStyle>
          <a:p>
            <a:endParaRPr kumimoji="1" lang="zh-CN" altLang="en-US" dirty="0">
              <a:latin typeface="DengXian" panose="02010600030101010101" pitchFamily="2" charset="-122"/>
              <a:ea typeface="DengXian" panose="02010600030101010101" pitchFamily="2" charset="-122"/>
            </a:endParaRPr>
          </a:p>
        </p:txBody>
      </p:sp>
      <p:sp>
        <p:nvSpPr>
          <p:cNvPr id="13" name="内容占位符 2"/>
          <p:cNvSpPr txBox="1">
            <a:spLocks/>
          </p:cNvSpPr>
          <p:nvPr/>
        </p:nvSpPr>
        <p:spPr>
          <a:xfrm>
            <a:off x="843081" y="1375628"/>
            <a:ext cx="5257800" cy="4586694"/>
          </a:xfrm>
          <a:prstGeom prst="rect">
            <a:avLst/>
          </a:prstGeom>
        </p:spPr>
        <p:txBody>
          <a:bodyPr vert="horz" lIns="91440" tIns="45720" rIns="91440" bIns="45720" rtlCol="0">
            <a:normAutofit/>
          </a:bodyPr>
          <a:lstStyle>
            <a:lvl1pPr marL="360363" indent="-360363" algn="l" defTabSz="914400" rtl="0" eaLnBrk="1" latinLnBrk="0" hangingPunct="1">
              <a:lnSpc>
                <a:spcPct val="100000"/>
              </a:lnSpc>
              <a:spcBef>
                <a:spcPts val="600"/>
              </a:spcBef>
              <a:buFont typeface="Wingdings" panose="05000000000000000000" pitchFamily="2" charset="2"/>
              <a:buChar char="Ø"/>
              <a:tabLst/>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9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9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9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nSpc>
                <a:spcPct val="150000"/>
              </a:lnSpc>
            </a:pPr>
            <a:r>
              <a:rPr lang="en-US" altLang="zh-CN" dirty="0">
                <a:latin typeface="DengXian" panose="02010600030101010101" pitchFamily="2" charset="-122"/>
                <a:ea typeface="DengXian" panose="02010600030101010101" pitchFamily="2" charset="-122"/>
              </a:rPr>
              <a:t>RIP</a:t>
            </a:r>
            <a:r>
              <a:rPr lang="zh-CN" altLang="en-US" dirty="0">
                <a:latin typeface="DengXian" panose="02010600030101010101" pitchFamily="2" charset="-122"/>
                <a:ea typeface="DengXian" panose="02010600030101010101" pitchFamily="2" charset="-122"/>
              </a:rPr>
              <a:t>协议的特点</a:t>
            </a:r>
            <a:endParaRPr lang="en-US" altLang="zh-CN" dirty="0">
              <a:latin typeface="DengXian" panose="02010600030101010101" pitchFamily="2" charset="-122"/>
              <a:ea typeface="DengXian" panose="02010600030101010101" pitchFamily="2" charset="-122"/>
            </a:endParaRPr>
          </a:p>
          <a:p>
            <a:pPr lvl="1">
              <a:lnSpc>
                <a:spcPct val="150000"/>
              </a:lnSpc>
            </a:pPr>
            <a:r>
              <a:rPr lang="zh-CN" altLang="en-US" sz="2800" dirty="0">
                <a:latin typeface="DengXian" panose="02010600030101010101" pitchFamily="2" charset="-122"/>
                <a:ea typeface="DengXian" panose="02010600030101010101" pitchFamily="2" charset="-122"/>
              </a:rPr>
              <a:t>算法简单，易于实现</a:t>
            </a:r>
            <a:endParaRPr lang="en-US" altLang="zh-CN" sz="2800" dirty="0">
              <a:latin typeface="DengXian" panose="02010600030101010101" pitchFamily="2" charset="-122"/>
              <a:ea typeface="DengXian" panose="02010600030101010101" pitchFamily="2" charset="-122"/>
            </a:endParaRPr>
          </a:p>
          <a:p>
            <a:pPr lvl="1">
              <a:lnSpc>
                <a:spcPct val="150000"/>
              </a:lnSpc>
            </a:pPr>
            <a:r>
              <a:rPr lang="zh-CN" altLang="en-US" sz="2800" dirty="0">
                <a:latin typeface="DengXian" panose="02010600030101010101" pitchFamily="2" charset="-122"/>
                <a:ea typeface="DengXian" panose="02010600030101010101" pitchFamily="2" charset="-122"/>
              </a:rPr>
              <a:t>收敛慢</a:t>
            </a:r>
            <a:endParaRPr lang="en-US" altLang="zh-CN" sz="2800" dirty="0">
              <a:latin typeface="DengXian" panose="02010600030101010101" pitchFamily="2" charset="-122"/>
              <a:ea typeface="DengXian" panose="02010600030101010101" pitchFamily="2" charset="-122"/>
            </a:endParaRPr>
          </a:p>
          <a:p>
            <a:pPr lvl="1">
              <a:lnSpc>
                <a:spcPct val="150000"/>
              </a:lnSpc>
            </a:pPr>
            <a:r>
              <a:rPr lang="zh-CN" altLang="en-US" sz="2800" dirty="0">
                <a:latin typeface="DengXian" panose="02010600030101010101" pitchFamily="2" charset="-122"/>
                <a:ea typeface="DengXian" panose="02010600030101010101" pitchFamily="2" charset="-122"/>
              </a:rPr>
              <a:t>需要交换的信息量较大</a:t>
            </a:r>
            <a:endParaRPr lang="en-US" altLang="zh-CN" sz="2800" dirty="0">
              <a:latin typeface="DengXian" panose="02010600030101010101" pitchFamily="2" charset="-122"/>
              <a:ea typeface="DengXian" panose="02010600030101010101" pitchFamily="2" charset="-122"/>
            </a:endParaRPr>
          </a:p>
          <a:p>
            <a:pPr>
              <a:lnSpc>
                <a:spcPct val="150000"/>
              </a:lnSpc>
            </a:pPr>
            <a:r>
              <a:rPr lang="en-US" altLang="zh-CN" dirty="0">
                <a:latin typeface="DengXian" panose="02010600030101010101" pitchFamily="2" charset="-122"/>
                <a:ea typeface="DengXian" panose="02010600030101010101" pitchFamily="2" charset="-122"/>
              </a:rPr>
              <a:t>RIP</a:t>
            </a:r>
            <a:r>
              <a:rPr lang="zh-CN" altLang="en-US" dirty="0">
                <a:latin typeface="DengXian" panose="02010600030101010101" pitchFamily="2" charset="-122"/>
                <a:ea typeface="DengXian" panose="02010600030101010101" pitchFamily="2" charset="-122"/>
              </a:rPr>
              <a:t>协议的适用场合</a:t>
            </a:r>
            <a:endParaRPr lang="en-US" altLang="zh-CN" dirty="0">
              <a:latin typeface="DengXian" panose="02010600030101010101" pitchFamily="2" charset="-122"/>
              <a:ea typeface="DengXian" panose="02010600030101010101" pitchFamily="2" charset="-122"/>
            </a:endParaRPr>
          </a:p>
          <a:p>
            <a:pPr lvl="1">
              <a:lnSpc>
                <a:spcPct val="150000"/>
              </a:lnSpc>
            </a:pPr>
            <a:r>
              <a:rPr lang="zh-CN" altLang="en-US" sz="2800" dirty="0">
                <a:latin typeface="DengXian" panose="02010600030101010101" pitchFamily="2" charset="-122"/>
                <a:ea typeface="DengXian" panose="02010600030101010101" pitchFamily="2" charset="-122"/>
              </a:rPr>
              <a:t>中小型网络</a:t>
            </a:r>
            <a:endParaRPr lang="en-US" altLang="zh-CN" sz="2800" dirty="0">
              <a:latin typeface="DengXian" panose="02010600030101010101" pitchFamily="2" charset="-122"/>
              <a:ea typeface="DengXian" panose="02010600030101010101" pitchFamily="2" charset="-122"/>
            </a:endParaRPr>
          </a:p>
          <a:p>
            <a:endParaRPr lang="zh-CN" altLang="en-US" dirty="0">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1377146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t>BGP-</a:t>
            </a:r>
            <a:r>
              <a:rPr lang="zh-CN" altLang="zh-CN" dirty="0"/>
              <a:t>外部网关路由协议</a:t>
            </a:r>
            <a:endParaRPr lang="zh-CN" altLang="en-US" dirty="0"/>
          </a:p>
        </p:txBody>
      </p:sp>
      <p:sp>
        <p:nvSpPr>
          <p:cNvPr id="3" name="内容占位符 2"/>
          <p:cNvSpPr>
            <a:spLocks noGrp="1"/>
          </p:cNvSpPr>
          <p:nvPr>
            <p:ph idx="1"/>
          </p:nvPr>
        </p:nvSpPr>
        <p:spPr/>
        <p:txBody>
          <a:bodyPr>
            <a:normAutofit fontScale="92500" lnSpcReduction="10000"/>
          </a:bodyPr>
          <a:lstStyle/>
          <a:p>
            <a:pPr>
              <a:lnSpc>
                <a:spcPct val="130000"/>
              </a:lnSpc>
              <a:defRPr/>
            </a:pPr>
            <a:r>
              <a:rPr lang="zh-CN" altLang="en-US" dirty="0">
                <a:latin typeface="等线" panose="02010600030101010101" pitchFamily="2" charset="-122"/>
                <a:ea typeface="等线" panose="02010600030101010101" pitchFamily="2" charset="-122"/>
                <a:cs typeface="Times New Roman" panose="02020603050405020304" pitchFamily="18" charset="0"/>
              </a:rPr>
              <a:t>路由协议</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lvl="1">
              <a:lnSpc>
                <a:spcPct val="130000"/>
              </a:lnSpc>
              <a:defRPr/>
            </a:pPr>
            <a:r>
              <a:rPr kumimoji="1" lang="zh-CN" altLang="en-US" dirty="0"/>
              <a:t>内部网关协议 </a:t>
            </a:r>
            <a:r>
              <a:rPr kumimoji="1" lang="en-US" altLang="zh-CN" dirty="0"/>
              <a:t>IGP</a:t>
            </a:r>
            <a:r>
              <a:rPr kumimoji="1" lang="zh-CN" altLang="en-US" dirty="0"/>
              <a:t>： 有 </a:t>
            </a:r>
            <a:r>
              <a:rPr kumimoji="1" lang="en-US" altLang="zh-CN" dirty="0"/>
              <a:t>RIP</a:t>
            </a:r>
            <a:r>
              <a:rPr kumimoji="1" lang="zh-CN" altLang="en-US" dirty="0"/>
              <a:t>、</a:t>
            </a:r>
            <a:r>
              <a:rPr kumimoji="1" lang="en-US" altLang="zh-CN" dirty="0"/>
              <a:t>OSPF</a:t>
            </a:r>
            <a:r>
              <a:rPr kumimoji="1" lang="zh-CN" altLang="en-US" dirty="0"/>
              <a:t>、</a:t>
            </a:r>
            <a:r>
              <a:rPr kumimoji="1" lang="en-US" altLang="zh-CN" dirty="0"/>
              <a:t>ISIS </a:t>
            </a:r>
            <a:r>
              <a:rPr kumimoji="1" lang="zh-CN" altLang="en-US" dirty="0"/>
              <a:t>等多种具体的协议</a:t>
            </a:r>
          </a:p>
          <a:p>
            <a:pPr lvl="1">
              <a:lnSpc>
                <a:spcPct val="130000"/>
              </a:lnSpc>
              <a:defRPr/>
            </a:pPr>
            <a:r>
              <a:rPr kumimoji="1" lang="zh-CN" altLang="en-US" dirty="0"/>
              <a:t>外部网关协议 </a:t>
            </a:r>
            <a:r>
              <a:rPr kumimoji="1" lang="en-US" altLang="zh-CN" dirty="0"/>
              <a:t>EGP</a:t>
            </a:r>
            <a:r>
              <a:rPr kumimoji="1" lang="zh-CN" altLang="en-US" dirty="0"/>
              <a:t>：目前使用的协议就是 </a:t>
            </a:r>
            <a:r>
              <a:rPr kumimoji="1" lang="en-US" altLang="zh-CN" dirty="0"/>
              <a:t>BGP</a:t>
            </a:r>
          </a:p>
          <a:p>
            <a:pPr>
              <a:lnSpc>
                <a:spcPct val="130000"/>
              </a:lnSpc>
              <a:defRPr/>
            </a:pPr>
            <a:r>
              <a:rPr lang="zh-CN" altLang="en-US" dirty="0">
                <a:latin typeface="等线" panose="02010600030101010101" pitchFamily="2" charset="-122"/>
                <a:ea typeface="等线" panose="02010600030101010101" pitchFamily="2" charset="-122"/>
                <a:cs typeface="Times New Roman" panose="02020603050405020304" pitchFamily="18" charset="0"/>
              </a:rPr>
              <a:t>边界网关协议</a:t>
            </a:r>
            <a:r>
              <a:rPr lang="en-US" altLang="zh-CN" dirty="0">
                <a:solidFill>
                  <a:srgbClr val="C00000"/>
                </a:solidFill>
                <a:latin typeface="等线" panose="02010600030101010101" pitchFamily="2" charset="-122"/>
                <a:ea typeface="等线" panose="02010600030101010101" pitchFamily="2" charset="-122"/>
                <a:cs typeface="Times New Roman" panose="02020603050405020304" pitchFamily="18" charset="0"/>
              </a:rPr>
              <a:t>BGP (Border Gateway Protocol) </a:t>
            </a:r>
          </a:p>
          <a:p>
            <a:pPr lvl="1">
              <a:lnSpc>
                <a:spcPct val="130000"/>
              </a:lnSpc>
              <a:defRPr/>
            </a:pPr>
            <a:r>
              <a:rPr kumimoji="1" lang="zh-CN" altLang="en-US" dirty="0"/>
              <a:t>目前互联网中唯一实际运行的自治域间的路由协议</a:t>
            </a:r>
            <a:endParaRPr kumimoji="1" lang="en-US" altLang="zh-CN" dirty="0"/>
          </a:p>
          <a:p>
            <a:pPr>
              <a:lnSpc>
                <a:spcPct val="130000"/>
              </a:lnSpc>
              <a:defRPr/>
            </a:pPr>
            <a:r>
              <a:rPr lang="en-US" altLang="zh-CN" dirty="0">
                <a:latin typeface="等线" panose="02010600030101010101" pitchFamily="2" charset="-122"/>
                <a:ea typeface="等线" panose="02010600030101010101" pitchFamily="2" charset="-122"/>
                <a:cs typeface="Times New Roman" panose="02020603050405020304" pitchFamily="18" charset="0"/>
              </a:rPr>
              <a:t>BGP</a:t>
            </a:r>
            <a:r>
              <a:rPr lang="zh-CN" altLang="en-US" dirty="0">
                <a:latin typeface="等线" panose="02010600030101010101" pitchFamily="2" charset="-122"/>
                <a:ea typeface="等线" panose="02010600030101010101" pitchFamily="2" charset="-122"/>
                <a:cs typeface="Times New Roman" panose="02020603050405020304" pitchFamily="18" charset="0"/>
              </a:rPr>
              <a:t>功能</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pPr lvl="1">
              <a:lnSpc>
                <a:spcPct val="130000"/>
              </a:lnSpc>
              <a:defRPr/>
            </a:pPr>
            <a:r>
              <a:rPr kumimoji="1" lang="en-US" altLang="zh-CN" dirty="0" err="1"/>
              <a:t>eBGP</a:t>
            </a:r>
            <a:r>
              <a:rPr kumimoji="1" lang="zh-CN" altLang="en-US" dirty="0"/>
              <a:t>：从相邻的</a:t>
            </a:r>
            <a:r>
              <a:rPr kumimoji="1" lang="en-US" altLang="zh-CN" dirty="0"/>
              <a:t>AS</a:t>
            </a:r>
            <a:r>
              <a:rPr kumimoji="1" lang="zh-CN" altLang="en-US" dirty="0"/>
              <a:t>获得网络可达信息</a:t>
            </a:r>
            <a:endParaRPr kumimoji="1" lang="en-US" altLang="zh-CN" dirty="0"/>
          </a:p>
          <a:p>
            <a:pPr lvl="1">
              <a:lnSpc>
                <a:spcPct val="130000"/>
              </a:lnSpc>
              <a:defRPr/>
            </a:pPr>
            <a:r>
              <a:rPr kumimoji="1" lang="en-US" altLang="zh-CN" dirty="0" err="1"/>
              <a:t>iBGP</a:t>
            </a:r>
            <a:r>
              <a:rPr kumimoji="1" lang="zh-CN" altLang="en-US" dirty="0"/>
              <a:t>： 将网络可达信息传播给</a:t>
            </a:r>
            <a:r>
              <a:rPr kumimoji="1" lang="en-US" altLang="zh-CN" dirty="0"/>
              <a:t>AS</a:t>
            </a:r>
            <a:r>
              <a:rPr kumimoji="1" lang="zh-CN" altLang="en-US" dirty="0"/>
              <a:t>内的路由器</a:t>
            </a:r>
            <a:endParaRPr kumimoji="1" lang="en-US" altLang="zh-CN" dirty="0"/>
          </a:p>
          <a:p>
            <a:pPr lvl="1">
              <a:lnSpc>
                <a:spcPct val="130000"/>
              </a:lnSpc>
              <a:defRPr/>
            </a:pPr>
            <a:r>
              <a:rPr kumimoji="1" lang="zh-CN" altLang="en-US" dirty="0"/>
              <a:t>基于网络可达信息和策略决定到其他网络的“最优”路由</a:t>
            </a:r>
            <a:endParaRPr kumimoji="1" lang="en-US" altLang="zh-CN" dirty="0"/>
          </a:p>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91</a:t>
            </a:fld>
            <a:endParaRPr kumimoji="1" lang="zh-CN" altLang="en-US" dirty="0"/>
          </a:p>
        </p:txBody>
      </p:sp>
      <p:sp>
        <p:nvSpPr>
          <p:cNvPr id="6" name="日期占位符 5"/>
          <p:cNvSpPr>
            <a:spLocks noGrp="1"/>
          </p:cNvSpPr>
          <p:nvPr>
            <p:ph type="dt" sz="half" idx="10"/>
          </p:nvPr>
        </p:nvSpPr>
        <p:spPr>
          <a:xfrm>
            <a:off x="197335" y="6489303"/>
            <a:ext cx="2894208" cy="365125"/>
          </a:xfrm>
        </p:spPr>
        <p:txBody>
          <a:bodyPr/>
          <a:lstStyle/>
          <a:p>
            <a:r>
              <a:rPr kumimoji="1" lang="en-US" altLang="zh-CN" dirty="0">
                <a:latin typeface="DengXian" panose="02010600030101010101" pitchFamily="2" charset="-122"/>
                <a:ea typeface="DengXian" panose="02010600030101010101" pitchFamily="2" charset="-122"/>
              </a:rPr>
              <a:t>5.4.3 BGP-</a:t>
            </a:r>
            <a:r>
              <a:rPr kumimoji="1" lang="zh-CN" altLang="en-US" dirty="0">
                <a:latin typeface="DengXian" panose="02010600030101010101" pitchFamily="2" charset="-122"/>
                <a:ea typeface="DengXian" panose="02010600030101010101" pitchFamily="2" charset="-122"/>
              </a:rPr>
              <a:t>外部网关路由协议</a:t>
            </a:r>
          </a:p>
        </p:txBody>
      </p:sp>
    </p:spTree>
    <p:extLst>
      <p:ext uri="{BB962C8B-B14F-4D97-AF65-F5344CB8AC3E}">
        <p14:creationId xmlns:p14="http://schemas.microsoft.com/office/powerpoint/2010/main" val="799143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600" dirty="0" err="1">
                <a:latin typeface="等线" panose="02010600030101010101" pitchFamily="2" charset="-122"/>
                <a:ea typeface="等线" panose="02010600030101010101" pitchFamily="2" charset="-122"/>
                <a:cs typeface="Times New Roman" panose="02020603050405020304" pitchFamily="18" charset="0"/>
              </a:rPr>
              <a:t>eBGP&amp;iBGP</a:t>
            </a:r>
            <a:r>
              <a:rPr lang="zh-CN" altLang="en-US" sz="3600" dirty="0">
                <a:latin typeface="等线" panose="02010600030101010101" pitchFamily="2" charset="-122"/>
                <a:ea typeface="等线" panose="02010600030101010101" pitchFamily="2" charset="-122"/>
                <a:cs typeface="Times New Roman" panose="02020603050405020304" pitchFamily="18" charset="0"/>
              </a:rPr>
              <a:t>连接</a:t>
            </a:r>
            <a:endParaRPr lang="zh-CN" altLang="en-US" sz="3600" dirty="0"/>
          </a:p>
        </p:txBody>
      </p:sp>
      <p:sp>
        <p:nvSpPr>
          <p:cNvPr id="3" name="内容占位符 2"/>
          <p:cNvSpPr>
            <a:spLocks noGrp="1"/>
          </p:cNvSpPr>
          <p:nvPr>
            <p:ph idx="1"/>
          </p:nvPr>
        </p:nvSpPr>
        <p:spPr/>
        <p:txBody>
          <a:bodyPr/>
          <a:lstStyle/>
          <a:p>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92</a:t>
            </a:fld>
            <a:endParaRPr kumimoji="1" lang="zh-CN" altLang="en-US" dirty="0"/>
          </a:p>
        </p:txBody>
      </p:sp>
      <p:cxnSp>
        <p:nvCxnSpPr>
          <p:cNvPr id="6" name="Straight Connector 272"/>
          <p:cNvCxnSpPr/>
          <p:nvPr/>
        </p:nvCxnSpPr>
        <p:spPr bwMode="auto">
          <a:xfrm flipH="1" flipV="1">
            <a:off x="4357999" y="4521673"/>
            <a:ext cx="1029600" cy="0"/>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 name="Straight Connector 273"/>
          <p:cNvCxnSpPr/>
          <p:nvPr/>
        </p:nvCxnSpPr>
        <p:spPr bwMode="auto">
          <a:xfrm>
            <a:off x="4379265" y="4856689"/>
            <a:ext cx="1030119" cy="0"/>
          </a:xfrm>
          <a:prstGeom prst="line">
            <a:avLst/>
          </a:prstGeom>
          <a:solidFill>
            <a:schemeClr val="accent1"/>
          </a:solidFill>
          <a:ln w="19050" cap="flat" cmpd="sng" algn="ctr">
            <a:solidFill>
              <a:srgbClr val="2A09B7"/>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8" name="TextBox 7"/>
          <p:cNvSpPr txBox="1"/>
          <p:nvPr/>
        </p:nvSpPr>
        <p:spPr>
          <a:xfrm>
            <a:off x="5496376" y="4315492"/>
            <a:ext cx="1069524" cy="338554"/>
          </a:xfrm>
          <a:prstGeom prst="rect">
            <a:avLst/>
          </a:prstGeom>
          <a:noFill/>
        </p:spPr>
        <p:txBody>
          <a:bodyPr wrap="none" rtlCol="0">
            <a:spAutoFit/>
          </a:bodyPr>
          <a:lstStyle/>
          <a:p>
            <a:r>
              <a:rPr lang="en-US" sz="1600" dirty="0" err="1">
                <a:solidFill>
                  <a:srgbClr val="CC0000"/>
                </a:solidFill>
                <a:latin typeface="等线" panose="02010600030101010101" pitchFamily="2" charset="-122"/>
                <a:ea typeface="等线" panose="02010600030101010101" pitchFamily="2" charset="-122"/>
                <a:cs typeface="Times New Roman" panose="02020603050405020304" pitchFamily="18" charset="0"/>
              </a:rPr>
              <a:t>eBGP</a:t>
            </a:r>
            <a:r>
              <a:rPr lang="zh-CN" altLang="en-US" sz="1600" dirty="0">
                <a:solidFill>
                  <a:srgbClr val="CC0000"/>
                </a:solidFill>
                <a:latin typeface="等线" panose="02010600030101010101" pitchFamily="2" charset="-122"/>
                <a:ea typeface="等线" panose="02010600030101010101" pitchFamily="2" charset="-122"/>
                <a:cs typeface="Times New Roman" panose="02020603050405020304" pitchFamily="18" charset="0"/>
              </a:rPr>
              <a:t>连接</a:t>
            </a:r>
            <a:endParaRPr lang="en-US" sz="1600" dirty="0">
              <a:solidFill>
                <a:srgbClr val="CC0000"/>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9" name="TextBox 8"/>
          <p:cNvSpPr txBox="1"/>
          <p:nvPr/>
        </p:nvSpPr>
        <p:spPr>
          <a:xfrm>
            <a:off x="5533636" y="4654046"/>
            <a:ext cx="1050288" cy="338554"/>
          </a:xfrm>
          <a:prstGeom prst="rect">
            <a:avLst/>
          </a:prstGeom>
          <a:noFill/>
        </p:spPr>
        <p:txBody>
          <a:bodyPr wrap="none" rtlCol="0">
            <a:spAutoFit/>
          </a:bodyPr>
          <a:lstStyle/>
          <a:p>
            <a:r>
              <a:rPr lang="en-US" sz="1600" dirty="0" err="1">
                <a:solidFill>
                  <a:srgbClr val="2A09B7"/>
                </a:solidFill>
                <a:latin typeface="等线" panose="02010600030101010101" pitchFamily="2" charset="-122"/>
                <a:ea typeface="等线" panose="02010600030101010101" pitchFamily="2" charset="-122"/>
                <a:cs typeface="Times New Roman" panose="02020603050405020304" pitchFamily="18" charset="0"/>
              </a:rPr>
              <a:t>iBGP</a:t>
            </a:r>
            <a:r>
              <a:rPr lang="zh-CN" altLang="en-US" sz="1600" dirty="0">
                <a:solidFill>
                  <a:srgbClr val="2A09B7"/>
                </a:solidFill>
                <a:latin typeface="等线" panose="02010600030101010101" pitchFamily="2" charset="-122"/>
                <a:ea typeface="等线" panose="02010600030101010101" pitchFamily="2" charset="-122"/>
                <a:cs typeface="Times New Roman" panose="02020603050405020304" pitchFamily="18" charset="0"/>
              </a:rPr>
              <a:t>连接</a:t>
            </a:r>
            <a:endParaRPr lang="en-US" sz="1600" dirty="0">
              <a:solidFill>
                <a:srgbClr val="2A09B7"/>
              </a:solidFill>
              <a:latin typeface="等线" panose="02010600030101010101" pitchFamily="2" charset="-122"/>
              <a:ea typeface="等线" panose="02010600030101010101" pitchFamily="2" charset="-122"/>
              <a:cs typeface="Times New Roman" panose="02020603050405020304" pitchFamily="18" charset="0"/>
            </a:endParaRPr>
          </a:p>
        </p:txBody>
      </p:sp>
      <p:sp>
        <p:nvSpPr>
          <p:cNvPr id="10" name="Freeform 2"/>
          <p:cNvSpPr>
            <a:spLocks/>
          </p:cNvSpPr>
          <p:nvPr/>
        </p:nvSpPr>
        <p:spPr bwMode="auto">
          <a:xfrm>
            <a:off x="838199" y="2392317"/>
            <a:ext cx="3382319"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1" name="Group 72"/>
          <p:cNvGrpSpPr/>
          <p:nvPr/>
        </p:nvGrpSpPr>
        <p:grpSpPr>
          <a:xfrm>
            <a:off x="2121023" y="2543179"/>
            <a:ext cx="753533" cy="369332"/>
            <a:chOff x="1736090" y="2873352"/>
            <a:chExt cx="565150" cy="369332"/>
          </a:xfrm>
        </p:grpSpPr>
        <p:grpSp>
          <p:nvGrpSpPr>
            <p:cNvPr id="12" name="Group 327"/>
            <p:cNvGrpSpPr>
              <a:grpSpLocks/>
            </p:cNvGrpSpPr>
            <p:nvPr/>
          </p:nvGrpSpPr>
          <p:grpSpPr bwMode="auto">
            <a:xfrm>
              <a:off x="1736090" y="2893762"/>
              <a:ext cx="565150" cy="292100"/>
              <a:chOff x="1871277" y="1576300"/>
              <a:chExt cx="1128371" cy="437861"/>
            </a:xfrm>
          </p:grpSpPr>
          <p:sp>
            <p:nvSpPr>
              <p:cNvPr id="16" name="Oval 26"/>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7" name="Rectangle 27"/>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 name="Oval 28"/>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9" name="Freeform 29"/>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0" name="Freeform 30"/>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 name="Freeform 31"/>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2" name="Freeform 32"/>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23" name="Straight Connector 33"/>
              <p:cNvCxnSpPr>
                <a:endCxn id="18"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4" name="Straight Connector 34"/>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3" name="Group 71"/>
            <p:cNvGrpSpPr/>
            <p:nvPr/>
          </p:nvGrpSpPr>
          <p:grpSpPr>
            <a:xfrm>
              <a:off x="1770362" y="2873352"/>
              <a:ext cx="414737" cy="369332"/>
              <a:chOff x="667045" y="1708643"/>
              <a:chExt cx="414737" cy="369332"/>
            </a:xfrm>
          </p:grpSpPr>
          <p:sp>
            <p:nvSpPr>
              <p:cNvPr id="14" name="Oval 68"/>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 name="TextBox 14"/>
              <p:cNvSpPr txBox="1"/>
              <p:nvPr/>
            </p:nvSpPr>
            <p:spPr>
              <a:xfrm>
                <a:off x="667045" y="1708643"/>
                <a:ext cx="329658" cy="369332"/>
              </a:xfrm>
              <a:prstGeom prst="rect">
                <a:avLst/>
              </a:prstGeom>
              <a:noFill/>
            </p:spPr>
            <p:txBody>
              <a:bodyPr wrap="none" rtlCol="0">
                <a:spAutoFit/>
              </a:bodyPr>
              <a:lstStyle/>
              <a:p>
                <a:r>
                  <a:rPr lang="en-US" dirty="0"/>
                  <a:t>1b</a:t>
                </a:r>
              </a:p>
            </p:txBody>
          </p:sp>
        </p:grpSp>
      </p:grpSp>
      <p:grpSp>
        <p:nvGrpSpPr>
          <p:cNvPr id="25" name="Group 73"/>
          <p:cNvGrpSpPr/>
          <p:nvPr/>
        </p:nvGrpSpPr>
        <p:grpSpPr>
          <a:xfrm>
            <a:off x="2126663" y="3764496"/>
            <a:ext cx="753533" cy="369332"/>
            <a:chOff x="1736090" y="2873352"/>
            <a:chExt cx="565150" cy="369332"/>
          </a:xfrm>
        </p:grpSpPr>
        <p:grpSp>
          <p:nvGrpSpPr>
            <p:cNvPr id="26" name="Group 327"/>
            <p:cNvGrpSpPr>
              <a:grpSpLocks/>
            </p:cNvGrpSpPr>
            <p:nvPr/>
          </p:nvGrpSpPr>
          <p:grpSpPr bwMode="auto">
            <a:xfrm>
              <a:off x="1736090" y="2893762"/>
              <a:ext cx="565150" cy="292100"/>
              <a:chOff x="1871277" y="1576300"/>
              <a:chExt cx="1128371" cy="437861"/>
            </a:xfrm>
          </p:grpSpPr>
          <p:sp>
            <p:nvSpPr>
              <p:cNvPr id="30" name="Oval 78"/>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31" name="Rectangle 79"/>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2" name="Oval 80"/>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33" name="Freeform 81"/>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4" name="Freeform 82"/>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5" name="Freeform 83"/>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6" name="Freeform 84"/>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37" name="Straight Connector 85"/>
              <p:cNvCxnSpPr>
                <a:endCxn id="32"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8" name="Straight Connector 86"/>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27" name="Group 75"/>
            <p:cNvGrpSpPr/>
            <p:nvPr/>
          </p:nvGrpSpPr>
          <p:grpSpPr>
            <a:xfrm>
              <a:off x="1770362" y="2873352"/>
              <a:ext cx="414737" cy="369332"/>
              <a:chOff x="667045" y="1708643"/>
              <a:chExt cx="414737" cy="369332"/>
            </a:xfrm>
          </p:grpSpPr>
          <p:sp>
            <p:nvSpPr>
              <p:cNvPr id="28" name="Oval 76"/>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9" name="TextBox 28"/>
              <p:cNvSpPr txBox="1"/>
              <p:nvPr/>
            </p:nvSpPr>
            <p:spPr>
              <a:xfrm>
                <a:off x="667045" y="1708643"/>
                <a:ext cx="329658" cy="369332"/>
              </a:xfrm>
              <a:prstGeom prst="rect">
                <a:avLst/>
              </a:prstGeom>
              <a:noFill/>
            </p:spPr>
            <p:txBody>
              <a:bodyPr wrap="none" rtlCol="0">
                <a:spAutoFit/>
              </a:bodyPr>
              <a:lstStyle/>
              <a:p>
                <a:r>
                  <a:rPr lang="en-US" dirty="0"/>
                  <a:t>1d</a:t>
                </a:r>
              </a:p>
            </p:txBody>
          </p:sp>
        </p:grpSp>
      </p:grpSp>
      <p:grpSp>
        <p:nvGrpSpPr>
          <p:cNvPr id="39" name="Group 87"/>
          <p:cNvGrpSpPr/>
          <p:nvPr/>
        </p:nvGrpSpPr>
        <p:grpSpPr>
          <a:xfrm>
            <a:off x="3275311" y="3154899"/>
            <a:ext cx="753533" cy="369332"/>
            <a:chOff x="1736090" y="2873352"/>
            <a:chExt cx="565150" cy="369332"/>
          </a:xfrm>
        </p:grpSpPr>
        <p:grpSp>
          <p:nvGrpSpPr>
            <p:cNvPr id="40" name="Group 327"/>
            <p:cNvGrpSpPr>
              <a:grpSpLocks/>
            </p:cNvGrpSpPr>
            <p:nvPr/>
          </p:nvGrpSpPr>
          <p:grpSpPr bwMode="auto">
            <a:xfrm>
              <a:off x="1736090" y="2893762"/>
              <a:ext cx="565150" cy="292100"/>
              <a:chOff x="1871277" y="1576300"/>
              <a:chExt cx="1128371" cy="437861"/>
            </a:xfrm>
          </p:grpSpPr>
          <p:sp>
            <p:nvSpPr>
              <p:cNvPr id="44" name="Oval 92"/>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45" name="Rectangle 93"/>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6" name="Oval 94"/>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47" name="Freeform 95"/>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8" name="Freeform 96"/>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9" name="Freeform 97"/>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0" name="Freeform 98"/>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51" name="Straight Connector 99"/>
              <p:cNvCxnSpPr>
                <a:endCxn id="46"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2" name="Straight Connector 100"/>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41" name="Group 89"/>
            <p:cNvGrpSpPr/>
            <p:nvPr/>
          </p:nvGrpSpPr>
          <p:grpSpPr>
            <a:xfrm>
              <a:off x="1770362" y="2873352"/>
              <a:ext cx="414737" cy="369332"/>
              <a:chOff x="667045" y="1708643"/>
              <a:chExt cx="414737" cy="369332"/>
            </a:xfrm>
          </p:grpSpPr>
          <p:sp>
            <p:nvSpPr>
              <p:cNvPr id="42" name="Oval 90"/>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3" name="TextBox 42"/>
              <p:cNvSpPr txBox="1"/>
              <p:nvPr/>
            </p:nvSpPr>
            <p:spPr>
              <a:xfrm>
                <a:off x="667045" y="1708643"/>
                <a:ext cx="308018" cy="369332"/>
              </a:xfrm>
              <a:prstGeom prst="rect">
                <a:avLst/>
              </a:prstGeom>
              <a:noFill/>
            </p:spPr>
            <p:txBody>
              <a:bodyPr wrap="none" rtlCol="0">
                <a:spAutoFit/>
              </a:bodyPr>
              <a:lstStyle/>
              <a:p>
                <a:r>
                  <a:rPr lang="en-US" dirty="0"/>
                  <a:t>1c</a:t>
                </a:r>
              </a:p>
            </p:txBody>
          </p:sp>
        </p:grpSp>
      </p:grpSp>
      <p:grpSp>
        <p:nvGrpSpPr>
          <p:cNvPr id="53" name="Group 101"/>
          <p:cNvGrpSpPr/>
          <p:nvPr/>
        </p:nvGrpSpPr>
        <p:grpSpPr>
          <a:xfrm>
            <a:off x="917344" y="3148546"/>
            <a:ext cx="753533" cy="369332"/>
            <a:chOff x="1736090" y="2873352"/>
            <a:chExt cx="565150" cy="369332"/>
          </a:xfrm>
        </p:grpSpPr>
        <p:grpSp>
          <p:nvGrpSpPr>
            <p:cNvPr id="54" name="Group 327"/>
            <p:cNvGrpSpPr>
              <a:grpSpLocks/>
            </p:cNvGrpSpPr>
            <p:nvPr/>
          </p:nvGrpSpPr>
          <p:grpSpPr bwMode="auto">
            <a:xfrm>
              <a:off x="1736090" y="2893762"/>
              <a:ext cx="565150" cy="292100"/>
              <a:chOff x="1871277" y="1576300"/>
              <a:chExt cx="1128371" cy="437861"/>
            </a:xfrm>
          </p:grpSpPr>
          <p:sp>
            <p:nvSpPr>
              <p:cNvPr id="58" name="Oval 106"/>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59" name="Rectangle 107"/>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0" name="Oval 108"/>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61" name="Freeform 109"/>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2" name="Freeform 110"/>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3" name="Freeform 111"/>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4" name="Freeform 112"/>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65" name="Straight Connector 113"/>
              <p:cNvCxnSpPr>
                <a:endCxn id="60"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66" name="Straight Connector 114"/>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55" name="Group 103"/>
            <p:cNvGrpSpPr/>
            <p:nvPr/>
          </p:nvGrpSpPr>
          <p:grpSpPr>
            <a:xfrm>
              <a:off x="1770362" y="2873352"/>
              <a:ext cx="414737" cy="369332"/>
              <a:chOff x="667045" y="1708643"/>
              <a:chExt cx="414737" cy="369332"/>
            </a:xfrm>
          </p:grpSpPr>
          <p:sp>
            <p:nvSpPr>
              <p:cNvPr id="56" name="Oval 104"/>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57" name="TextBox 56"/>
              <p:cNvSpPr txBox="1"/>
              <p:nvPr/>
            </p:nvSpPr>
            <p:spPr>
              <a:xfrm>
                <a:off x="667045" y="1708643"/>
                <a:ext cx="316433" cy="369332"/>
              </a:xfrm>
              <a:prstGeom prst="rect">
                <a:avLst/>
              </a:prstGeom>
              <a:noFill/>
            </p:spPr>
            <p:txBody>
              <a:bodyPr wrap="none" rtlCol="0">
                <a:spAutoFit/>
              </a:bodyPr>
              <a:lstStyle/>
              <a:p>
                <a:r>
                  <a:rPr lang="en-US" dirty="0"/>
                  <a:t>1a</a:t>
                </a:r>
              </a:p>
            </p:txBody>
          </p:sp>
        </p:grpSp>
      </p:grpSp>
      <p:cxnSp>
        <p:nvCxnSpPr>
          <p:cNvPr id="67" name="Straight Connector 116"/>
          <p:cNvCxnSpPr>
            <a:stCxn id="15" idx="2"/>
            <a:endCxn id="29" idx="0"/>
          </p:cNvCxnSpPr>
          <p:nvPr/>
        </p:nvCxnSpPr>
        <p:spPr bwMode="auto">
          <a:xfrm>
            <a:off x="2386491" y="2912511"/>
            <a:ext cx="5640" cy="851985"/>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8" name="Straight Connector 117"/>
          <p:cNvCxnSpPr/>
          <p:nvPr/>
        </p:nvCxnSpPr>
        <p:spPr bwMode="auto">
          <a:xfrm>
            <a:off x="1682873" y="3318449"/>
            <a:ext cx="1606551"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69" name="Straight Connector 120"/>
          <p:cNvCxnSpPr>
            <a:stCxn id="16" idx="7"/>
          </p:cNvCxnSpPr>
          <p:nvPr/>
        </p:nvCxnSpPr>
        <p:spPr bwMode="auto">
          <a:xfrm>
            <a:off x="2764513" y="2824305"/>
            <a:ext cx="640056"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0" name="Straight Connector 123"/>
          <p:cNvCxnSpPr/>
          <p:nvPr/>
        </p:nvCxnSpPr>
        <p:spPr bwMode="auto">
          <a:xfrm>
            <a:off x="1539667" y="3456131"/>
            <a:ext cx="637236"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1" name="Straight Connector 128"/>
          <p:cNvCxnSpPr/>
          <p:nvPr/>
        </p:nvCxnSpPr>
        <p:spPr bwMode="auto">
          <a:xfrm flipH="1">
            <a:off x="2734292" y="3453369"/>
            <a:ext cx="677336"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2" name="Straight Connector 132"/>
          <p:cNvCxnSpPr/>
          <p:nvPr/>
        </p:nvCxnSpPr>
        <p:spPr bwMode="auto">
          <a:xfrm flipH="1">
            <a:off x="1522973" y="2836773"/>
            <a:ext cx="677336"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73" name="Group 136"/>
          <p:cNvGrpSpPr/>
          <p:nvPr/>
        </p:nvGrpSpPr>
        <p:grpSpPr>
          <a:xfrm>
            <a:off x="4081931" y="1607760"/>
            <a:ext cx="3617044" cy="1853712"/>
            <a:chOff x="-2170772" y="2784954"/>
            <a:chExt cx="2712783" cy="1853712"/>
          </a:xfrm>
        </p:grpSpPr>
        <p:sp>
          <p:nvSpPr>
            <p:cNvPr id="74" name="Freeform 2"/>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5" name="Group 138"/>
            <p:cNvGrpSpPr/>
            <p:nvPr/>
          </p:nvGrpSpPr>
          <p:grpSpPr>
            <a:xfrm>
              <a:off x="-1935370" y="2935816"/>
              <a:ext cx="2333625" cy="1590649"/>
              <a:chOff x="833331" y="2873352"/>
              <a:chExt cx="2333625" cy="1590649"/>
            </a:xfrm>
          </p:grpSpPr>
          <p:grpSp>
            <p:nvGrpSpPr>
              <p:cNvPr id="76" name="Group 139"/>
              <p:cNvGrpSpPr/>
              <p:nvPr/>
            </p:nvGrpSpPr>
            <p:grpSpPr>
              <a:xfrm>
                <a:off x="1736090" y="2873352"/>
                <a:ext cx="565150" cy="369332"/>
                <a:chOff x="1736090" y="2873352"/>
                <a:chExt cx="565150" cy="369332"/>
              </a:xfrm>
            </p:grpSpPr>
            <p:grpSp>
              <p:nvGrpSpPr>
                <p:cNvPr id="125" name="Group 327"/>
                <p:cNvGrpSpPr>
                  <a:grpSpLocks/>
                </p:cNvGrpSpPr>
                <p:nvPr/>
              </p:nvGrpSpPr>
              <p:grpSpPr bwMode="auto">
                <a:xfrm>
                  <a:off x="1736090" y="2893762"/>
                  <a:ext cx="565150" cy="292100"/>
                  <a:chOff x="1871277" y="1576300"/>
                  <a:chExt cx="1128371" cy="437861"/>
                </a:xfrm>
              </p:grpSpPr>
              <p:sp>
                <p:nvSpPr>
                  <p:cNvPr id="129" name="Oval 192"/>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30" name="Rectangle 193"/>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1" name="Oval 194"/>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32" name="Freeform 195"/>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3" name="Freeform 196"/>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4" name="Freeform 197"/>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5" name="Freeform 198"/>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36" name="Straight Connector 199"/>
                  <p:cNvCxnSpPr>
                    <a:endCxn id="131"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37" name="Straight Connector 200"/>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26" name="Group 189"/>
                <p:cNvGrpSpPr/>
                <p:nvPr/>
              </p:nvGrpSpPr>
              <p:grpSpPr>
                <a:xfrm>
                  <a:off x="1770362" y="2873352"/>
                  <a:ext cx="414737" cy="369332"/>
                  <a:chOff x="667045" y="1708643"/>
                  <a:chExt cx="414737" cy="369332"/>
                </a:xfrm>
              </p:grpSpPr>
              <p:sp>
                <p:nvSpPr>
                  <p:cNvPr id="127" name="Oval 190"/>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8" name="TextBox 127"/>
                  <p:cNvSpPr txBox="1"/>
                  <p:nvPr/>
                </p:nvSpPr>
                <p:spPr>
                  <a:xfrm>
                    <a:off x="667045" y="1708643"/>
                    <a:ext cx="329658" cy="369332"/>
                  </a:xfrm>
                  <a:prstGeom prst="rect">
                    <a:avLst/>
                  </a:prstGeom>
                  <a:noFill/>
                </p:spPr>
                <p:txBody>
                  <a:bodyPr wrap="none" rtlCol="0">
                    <a:spAutoFit/>
                  </a:bodyPr>
                  <a:lstStyle/>
                  <a:p>
                    <a:r>
                      <a:rPr lang="en-US" dirty="0"/>
                      <a:t>2b</a:t>
                    </a:r>
                  </a:p>
                </p:txBody>
              </p:sp>
            </p:grpSp>
          </p:grpSp>
          <p:grpSp>
            <p:nvGrpSpPr>
              <p:cNvPr id="77" name="Group 140"/>
              <p:cNvGrpSpPr/>
              <p:nvPr/>
            </p:nvGrpSpPr>
            <p:grpSpPr>
              <a:xfrm>
                <a:off x="1740320" y="4094669"/>
                <a:ext cx="565150" cy="369332"/>
                <a:chOff x="1736090" y="2873352"/>
                <a:chExt cx="565150" cy="369332"/>
              </a:xfrm>
            </p:grpSpPr>
            <p:grpSp>
              <p:nvGrpSpPr>
                <p:cNvPr id="112" name="Group 327"/>
                <p:cNvGrpSpPr>
                  <a:grpSpLocks/>
                </p:cNvGrpSpPr>
                <p:nvPr/>
              </p:nvGrpSpPr>
              <p:grpSpPr bwMode="auto">
                <a:xfrm>
                  <a:off x="1736090" y="2893762"/>
                  <a:ext cx="565150" cy="292100"/>
                  <a:chOff x="1871277" y="1576300"/>
                  <a:chExt cx="1128371" cy="437861"/>
                </a:xfrm>
              </p:grpSpPr>
              <p:sp>
                <p:nvSpPr>
                  <p:cNvPr id="116" name="Oval 179"/>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17" name="Rectangle 180"/>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8" name="Oval 181"/>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19" name="Freeform 182"/>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0" name="Freeform 183"/>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1" name="Freeform 184"/>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2" name="Freeform 185"/>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23" name="Straight Connector 186"/>
                  <p:cNvCxnSpPr>
                    <a:endCxn id="118"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24" name="Straight Connector 187"/>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13" name="Group 176"/>
                <p:cNvGrpSpPr/>
                <p:nvPr/>
              </p:nvGrpSpPr>
              <p:grpSpPr>
                <a:xfrm>
                  <a:off x="1770362" y="2873352"/>
                  <a:ext cx="414737" cy="369332"/>
                  <a:chOff x="667045" y="1708643"/>
                  <a:chExt cx="414737" cy="369332"/>
                </a:xfrm>
              </p:grpSpPr>
              <p:sp>
                <p:nvSpPr>
                  <p:cNvPr id="114" name="Oval 177"/>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5" name="TextBox 114"/>
                  <p:cNvSpPr txBox="1"/>
                  <p:nvPr/>
                </p:nvSpPr>
                <p:spPr>
                  <a:xfrm>
                    <a:off x="667045" y="1708643"/>
                    <a:ext cx="329658" cy="369332"/>
                  </a:xfrm>
                  <a:prstGeom prst="rect">
                    <a:avLst/>
                  </a:prstGeom>
                  <a:noFill/>
                </p:spPr>
                <p:txBody>
                  <a:bodyPr wrap="none" rtlCol="0">
                    <a:spAutoFit/>
                  </a:bodyPr>
                  <a:lstStyle/>
                  <a:p>
                    <a:r>
                      <a:rPr lang="en-US" dirty="0"/>
                      <a:t>2d</a:t>
                    </a:r>
                  </a:p>
                </p:txBody>
              </p:sp>
            </p:grpSp>
          </p:grpSp>
          <p:grpSp>
            <p:nvGrpSpPr>
              <p:cNvPr id="78" name="Group 141"/>
              <p:cNvGrpSpPr/>
              <p:nvPr/>
            </p:nvGrpSpPr>
            <p:grpSpPr>
              <a:xfrm>
                <a:off x="2601806" y="3485072"/>
                <a:ext cx="565150" cy="369332"/>
                <a:chOff x="1736090" y="2873352"/>
                <a:chExt cx="565150" cy="369332"/>
              </a:xfrm>
            </p:grpSpPr>
            <p:grpSp>
              <p:nvGrpSpPr>
                <p:cNvPr id="99" name="Group 327"/>
                <p:cNvGrpSpPr>
                  <a:grpSpLocks/>
                </p:cNvGrpSpPr>
                <p:nvPr/>
              </p:nvGrpSpPr>
              <p:grpSpPr bwMode="auto">
                <a:xfrm>
                  <a:off x="1736090" y="2893762"/>
                  <a:ext cx="565150" cy="292100"/>
                  <a:chOff x="1871277" y="1576300"/>
                  <a:chExt cx="1128371" cy="437861"/>
                </a:xfrm>
              </p:grpSpPr>
              <p:sp>
                <p:nvSpPr>
                  <p:cNvPr id="103" name="Oval 166"/>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04" name="Rectangle 167"/>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5" name="Oval 168"/>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06" name="Freeform 169"/>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7" name="Freeform 170"/>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8" name="Freeform 171"/>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9" name="Freeform 172"/>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10" name="Straight Connector 173"/>
                  <p:cNvCxnSpPr>
                    <a:endCxn id="105"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11" name="Straight Connector 174"/>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00" name="Group 163"/>
                <p:cNvGrpSpPr/>
                <p:nvPr/>
              </p:nvGrpSpPr>
              <p:grpSpPr>
                <a:xfrm>
                  <a:off x="1770362" y="2873352"/>
                  <a:ext cx="414737" cy="369332"/>
                  <a:chOff x="667045" y="1708643"/>
                  <a:chExt cx="414737" cy="369332"/>
                </a:xfrm>
              </p:grpSpPr>
              <p:sp>
                <p:nvSpPr>
                  <p:cNvPr id="101" name="Oval 164"/>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2" name="TextBox 101"/>
                  <p:cNvSpPr txBox="1"/>
                  <p:nvPr/>
                </p:nvSpPr>
                <p:spPr>
                  <a:xfrm>
                    <a:off x="667045" y="1708643"/>
                    <a:ext cx="308018" cy="369332"/>
                  </a:xfrm>
                  <a:prstGeom prst="rect">
                    <a:avLst/>
                  </a:prstGeom>
                  <a:noFill/>
                </p:spPr>
                <p:txBody>
                  <a:bodyPr wrap="none" rtlCol="0">
                    <a:spAutoFit/>
                  </a:bodyPr>
                  <a:lstStyle/>
                  <a:p>
                    <a:r>
                      <a:rPr lang="en-US" dirty="0"/>
                      <a:t>2c</a:t>
                    </a:r>
                  </a:p>
                </p:txBody>
              </p:sp>
            </p:grpSp>
          </p:grpSp>
          <p:grpSp>
            <p:nvGrpSpPr>
              <p:cNvPr id="79" name="Group 142"/>
              <p:cNvGrpSpPr/>
              <p:nvPr/>
            </p:nvGrpSpPr>
            <p:grpSpPr>
              <a:xfrm>
                <a:off x="833331" y="3478719"/>
                <a:ext cx="565150" cy="369332"/>
                <a:chOff x="1736090" y="2873352"/>
                <a:chExt cx="565150" cy="369332"/>
              </a:xfrm>
            </p:grpSpPr>
            <p:grpSp>
              <p:nvGrpSpPr>
                <p:cNvPr id="86" name="Group 327"/>
                <p:cNvGrpSpPr>
                  <a:grpSpLocks/>
                </p:cNvGrpSpPr>
                <p:nvPr/>
              </p:nvGrpSpPr>
              <p:grpSpPr bwMode="auto">
                <a:xfrm>
                  <a:off x="1736090" y="2893762"/>
                  <a:ext cx="565150" cy="292100"/>
                  <a:chOff x="1871277" y="1576300"/>
                  <a:chExt cx="1128371" cy="437861"/>
                </a:xfrm>
              </p:grpSpPr>
              <p:sp>
                <p:nvSpPr>
                  <p:cNvPr id="90" name="Oval 153"/>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91" name="Rectangle 154"/>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2" name="Oval 155"/>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93" name="Freeform 156"/>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4" name="Freeform 157"/>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5" name="Freeform 158"/>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6" name="Freeform 159"/>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97" name="Straight Connector 160"/>
                  <p:cNvCxnSpPr>
                    <a:endCxn id="92"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8" name="Straight Connector 161"/>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7" name="Group 150"/>
                <p:cNvGrpSpPr/>
                <p:nvPr/>
              </p:nvGrpSpPr>
              <p:grpSpPr>
                <a:xfrm>
                  <a:off x="1770362" y="2873352"/>
                  <a:ext cx="414737" cy="369332"/>
                  <a:chOff x="667045" y="1708643"/>
                  <a:chExt cx="414737" cy="369332"/>
                </a:xfrm>
              </p:grpSpPr>
              <p:sp>
                <p:nvSpPr>
                  <p:cNvPr id="88" name="Oval 151"/>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9" name="TextBox 88"/>
                  <p:cNvSpPr txBox="1"/>
                  <p:nvPr/>
                </p:nvSpPr>
                <p:spPr>
                  <a:xfrm>
                    <a:off x="667045" y="1708643"/>
                    <a:ext cx="316433" cy="369332"/>
                  </a:xfrm>
                  <a:prstGeom prst="rect">
                    <a:avLst/>
                  </a:prstGeom>
                  <a:noFill/>
                </p:spPr>
                <p:txBody>
                  <a:bodyPr wrap="none" rtlCol="0">
                    <a:spAutoFit/>
                  </a:bodyPr>
                  <a:lstStyle/>
                  <a:p>
                    <a:r>
                      <a:rPr lang="en-US" dirty="0"/>
                      <a:t>2a</a:t>
                    </a:r>
                  </a:p>
                </p:txBody>
              </p:sp>
            </p:grpSp>
          </p:grpSp>
          <p:cxnSp>
            <p:nvCxnSpPr>
              <p:cNvPr id="80" name="Straight Connector 143"/>
              <p:cNvCxnSpPr>
                <a:stCxn id="128" idx="2"/>
                <a:endCxn id="115" idx="0"/>
              </p:cNvCxnSpPr>
              <p:nvPr/>
            </p:nvCxnSpPr>
            <p:spPr bwMode="auto">
              <a:xfrm>
                <a:off x="1935191" y="3242684"/>
                <a:ext cx="4230" cy="851985"/>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Straight Connector 144"/>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Straight Connector 145"/>
              <p:cNvCxnSpPr>
                <a:stCxn id="129"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3" name="Straight Connector 146"/>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4" name="Straight Connector 147"/>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5" name="Straight Connector 148"/>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138" name="Group 201"/>
          <p:cNvGrpSpPr/>
          <p:nvPr/>
        </p:nvGrpSpPr>
        <p:grpSpPr>
          <a:xfrm>
            <a:off x="7643657" y="2426439"/>
            <a:ext cx="3617044" cy="1853712"/>
            <a:chOff x="-2170772" y="2784954"/>
            <a:chExt cx="2712783" cy="1853712"/>
          </a:xfrm>
        </p:grpSpPr>
        <p:sp>
          <p:nvSpPr>
            <p:cNvPr id="139" name="Freeform 2"/>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40" name="Group 203"/>
            <p:cNvGrpSpPr/>
            <p:nvPr/>
          </p:nvGrpSpPr>
          <p:grpSpPr>
            <a:xfrm>
              <a:off x="-1935370" y="2935816"/>
              <a:ext cx="2333625" cy="1590649"/>
              <a:chOff x="833331" y="2873352"/>
              <a:chExt cx="2333625" cy="1590649"/>
            </a:xfrm>
          </p:grpSpPr>
          <p:grpSp>
            <p:nvGrpSpPr>
              <p:cNvPr id="141" name="Group 204"/>
              <p:cNvGrpSpPr/>
              <p:nvPr/>
            </p:nvGrpSpPr>
            <p:grpSpPr>
              <a:xfrm>
                <a:off x="1736090" y="2873352"/>
                <a:ext cx="565150" cy="369332"/>
                <a:chOff x="1736090" y="2873352"/>
                <a:chExt cx="565150" cy="369332"/>
              </a:xfrm>
            </p:grpSpPr>
            <p:grpSp>
              <p:nvGrpSpPr>
                <p:cNvPr id="190" name="Group 327"/>
                <p:cNvGrpSpPr>
                  <a:grpSpLocks/>
                </p:cNvGrpSpPr>
                <p:nvPr/>
              </p:nvGrpSpPr>
              <p:grpSpPr bwMode="auto">
                <a:xfrm>
                  <a:off x="1736090" y="2893762"/>
                  <a:ext cx="565150" cy="292100"/>
                  <a:chOff x="1871277" y="1576300"/>
                  <a:chExt cx="1128371" cy="437861"/>
                </a:xfrm>
              </p:grpSpPr>
              <p:sp>
                <p:nvSpPr>
                  <p:cNvPr id="194" name="Oval 257"/>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95" name="Rectangle 258"/>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6" name="Oval 259"/>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97" name="Freeform 260"/>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8" name="Freeform 261"/>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9" name="Freeform 262"/>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00" name="Freeform 263"/>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201" name="Straight Connector 264"/>
                  <p:cNvCxnSpPr>
                    <a:endCxn id="196"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02" name="Straight Connector 265"/>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91" name="Group 254"/>
                <p:cNvGrpSpPr/>
                <p:nvPr/>
              </p:nvGrpSpPr>
              <p:grpSpPr>
                <a:xfrm>
                  <a:off x="1770362" y="2873352"/>
                  <a:ext cx="414737" cy="369332"/>
                  <a:chOff x="667045" y="1708643"/>
                  <a:chExt cx="414737" cy="369332"/>
                </a:xfrm>
              </p:grpSpPr>
              <p:sp>
                <p:nvSpPr>
                  <p:cNvPr id="192" name="Oval 255"/>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3" name="TextBox 192"/>
                  <p:cNvSpPr txBox="1"/>
                  <p:nvPr/>
                </p:nvSpPr>
                <p:spPr>
                  <a:xfrm>
                    <a:off x="667045" y="1708643"/>
                    <a:ext cx="329658" cy="369332"/>
                  </a:xfrm>
                  <a:prstGeom prst="rect">
                    <a:avLst/>
                  </a:prstGeom>
                  <a:noFill/>
                </p:spPr>
                <p:txBody>
                  <a:bodyPr wrap="none" rtlCol="0">
                    <a:spAutoFit/>
                  </a:bodyPr>
                  <a:lstStyle/>
                  <a:p>
                    <a:r>
                      <a:rPr lang="en-US" dirty="0"/>
                      <a:t>3b</a:t>
                    </a:r>
                  </a:p>
                </p:txBody>
              </p:sp>
            </p:grpSp>
          </p:grpSp>
          <p:grpSp>
            <p:nvGrpSpPr>
              <p:cNvPr id="142" name="Group 205"/>
              <p:cNvGrpSpPr/>
              <p:nvPr/>
            </p:nvGrpSpPr>
            <p:grpSpPr>
              <a:xfrm>
                <a:off x="1740320" y="4094669"/>
                <a:ext cx="565150" cy="369332"/>
                <a:chOff x="1736090" y="2873352"/>
                <a:chExt cx="565150" cy="369332"/>
              </a:xfrm>
            </p:grpSpPr>
            <p:grpSp>
              <p:nvGrpSpPr>
                <p:cNvPr id="177" name="Group 327"/>
                <p:cNvGrpSpPr>
                  <a:grpSpLocks/>
                </p:cNvGrpSpPr>
                <p:nvPr/>
              </p:nvGrpSpPr>
              <p:grpSpPr bwMode="auto">
                <a:xfrm>
                  <a:off x="1736090" y="2893762"/>
                  <a:ext cx="565150" cy="292100"/>
                  <a:chOff x="1871277" y="1576300"/>
                  <a:chExt cx="1128371" cy="437861"/>
                </a:xfrm>
              </p:grpSpPr>
              <p:sp>
                <p:nvSpPr>
                  <p:cNvPr id="181" name="Oval 244"/>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82" name="Rectangle 245"/>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3" name="Oval 246"/>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84" name="Freeform 247"/>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5" name="Freeform 248"/>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6" name="Freeform 249"/>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7" name="Freeform 250"/>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88" name="Straight Connector 251"/>
                  <p:cNvCxnSpPr>
                    <a:endCxn id="183"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89" name="Straight Connector 252"/>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78" name="Group 241"/>
                <p:cNvGrpSpPr/>
                <p:nvPr/>
              </p:nvGrpSpPr>
              <p:grpSpPr>
                <a:xfrm>
                  <a:off x="1770362" y="2873352"/>
                  <a:ext cx="414737" cy="369332"/>
                  <a:chOff x="667045" y="1708643"/>
                  <a:chExt cx="414737" cy="369332"/>
                </a:xfrm>
              </p:grpSpPr>
              <p:sp>
                <p:nvSpPr>
                  <p:cNvPr id="179" name="Oval 242"/>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0" name="TextBox 179"/>
                  <p:cNvSpPr txBox="1"/>
                  <p:nvPr/>
                </p:nvSpPr>
                <p:spPr>
                  <a:xfrm>
                    <a:off x="667045" y="1708643"/>
                    <a:ext cx="329658" cy="369332"/>
                  </a:xfrm>
                  <a:prstGeom prst="rect">
                    <a:avLst/>
                  </a:prstGeom>
                  <a:noFill/>
                </p:spPr>
                <p:txBody>
                  <a:bodyPr wrap="none" rtlCol="0">
                    <a:spAutoFit/>
                  </a:bodyPr>
                  <a:lstStyle/>
                  <a:p>
                    <a:r>
                      <a:rPr lang="en-US" dirty="0"/>
                      <a:t>3d</a:t>
                    </a:r>
                  </a:p>
                </p:txBody>
              </p:sp>
            </p:grpSp>
          </p:grpSp>
          <p:grpSp>
            <p:nvGrpSpPr>
              <p:cNvPr id="143" name="Group 206"/>
              <p:cNvGrpSpPr/>
              <p:nvPr/>
            </p:nvGrpSpPr>
            <p:grpSpPr>
              <a:xfrm>
                <a:off x="2601806" y="3485072"/>
                <a:ext cx="565150" cy="369332"/>
                <a:chOff x="1736090" y="2873352"/>
                <a:chExt cx="565150" cy="369332"/>
              </a:xfrm>
            </p:grpSpPr>
            <p:grpSp>
              <p:nvGrpSpPr>
                <p:cNvPr id="164" name="Group 327"/>
                <p:cNvGrpSpPr>
                  <a:grpSpLocks/>
                </p:cNvGrpSpPr>
                <p:nvPr/>
              </p:nvGrpSpPr>
              <p:grpSpPr bwMode="auto">
                <a:xfrm>
                  <a:off x="1736090" y="2893762"/>
                  <a:ext cx="565150" cy="292100"/>
                  <a:chOff x="1871277" y="1576300"/>
                  <a:chExt cx="1128371" cy="437861"/>
                </a:xfrm>
              </p:grpSpPr>
              <p:sp>
                <p:nvSpPr>
                  <p:cNvPr id="168" name="Oval 231"/>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69" name="Rectangle 232"/>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0" name="Oval 233"/>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71" name="Freeform 234"/>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2" name="Freeform 235"/>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3" name="Freeform 236"/>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4" name="Freeform 237"/>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75" name="Straight Connector 238"/>
                  <p:cNvCxnSpPr>
                    <a:endCxn id="170"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76" name="Straight Connector 239"/>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65" name="Group 228"/>
                <p:cNvGrpSpPr/>
                <p:nvPr/>
              </p:nvGrpSpPr>
              <p:grpSpPr>
                <a:xfrm>
                  <a:off x="1770362" y="2873352"/>
                  <a:ext cx="414737" cy="369332"/>
                  <a:chOff x="667045" y="1708643"/>
                  <a:chExt cx="414737" cy="369332"/>
                </a:xfrm>
              </p:grpSpPr>
              <p:sp>
                <p:nvSpPr>
                  <p:cNvPr id="166" name="Oval 229"/>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7" name="TextBox 166"/>
                  <p:cNvSpPr txBox="1"/>
                  <p:nvPr/>
                </p:nvSpPr>
                <p:spPr>
                  <a:xfrm>
                    <a:off x="667045" y="1708643"/>
                    <a:ext cx="308018" cy="369332"/>
                  </a:xfrm>
                  <a:prstGeom prst="rect">
                    <a:avLst/>
                  </a:prstGeom>
                  <a:noFill/>
                </p:spPr>
                <p:txBody>
                  <a:bodyPr wrap="none" rtlCol="0">
                    <a:spAutoFit/>
                  </a:bodyPr>
                  <a:lstStyle/>
                  <a:p>
                    <a:r>
                      <a:rPr lang="en-US" dirty="0"/>
                      <a:t>3c</a:t>
                    </a:r>
                  </a:p>
                </p:txBody>
              </p:sp>
            </p:grpSp>
          </p:grpSp>
          <p:grpSp>
            <p:nvGrpSpPr>
              <p:cNvPr id="144" name="Group 207"/>
              <p:cNvGrpSpPr/>
              <p:nvPr/>
            </p:nvGrpSpPr>
            <p:grpSpPr>
              <a:xfrm>
                <a:off x="833331" y="3478719"/>
                <a:ext cx="565150" cy="369332"/>
                <a:chOff x="1736090" y="2873352"/>
                <a:chExt cx="565150" cy="369332"/>
              </a:xfrm>
            </p:grpSpPr>
            <p:grpSp>
              <p:nvGrpSpPr>
                <p:cNvPr id="151" name="Group 327"/>
                <p:cNvGrpSpPr>
                  <a:grpSpLocks/>
                </p:cNvGrpSpPr>
                <p:nvPr/>
              </p:nvGrpSpPr>
              <p:grpSpPr bwMode="auto">
                <a:xfrm>
                  <a:off x="1736090" y="2893762"/>
                  <a:ext cx="565150" cy="292100"/>
                  <a:chOff x="1871277" y="1576300"/>
                  <a:chExt cx="1128371" cy="437861"/>
                </a:xfrm>
              </p:grpSpPr>
              <p:sp>
                <p:nvSpPr>
                  <p:cNvPr id="155" name="Oval 218"/>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6" name="Rectangle 219"/>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7" name="Oval 220"/>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8" name="Freeform 221"/>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9" name="Freeform 222"/>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0" name="Freeform 223"/>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1" name="Freeform 224"/>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62" name="Straight Connector 225"/>
                  <p:cNvCxnSpPr>
                    <a:endCxn id="157"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63" name="Straight Connector 226"/>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52" name="Group 215"/>
                <p:cNvGrpSpPr/>
                <p:nvPr/>
              </p:nvGrpSpPr>
              <p:grpSpPr>
                <a:xfrm>
                  <a:off x="1770362" y="2873352"/>
                  <a:ext cx="414737" cy="369332"/>
                  <a:chOff x="667045" y="1708643"/>
                  <a:chExt cx="414737" cy="369332"/>
                </a:xfrm>
              </p:grpSpPr>
              <p:sp>
                <p:nvSpPr>
                  <p:cNvPr id="153" name="Oval 216"/>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4" name="TextBox 153"/>
                  <p:cNvSpPr txBox="1"/>
                  <p:nvPr/>
                </p:nvSpPr>
                <p:spPr>
                  <a:xfrm>
                    <a:off x="667045" y="1708643"/>
                    <a:ext cx="316433" cy="369332"/>
                  </a:xfrm>
                  <a:prstGeom prst="rect">
                    <a:avLst/>
                  </a:prstGeom>
                  <a:noFill/>
                </p:spPr>
                <p:txBody>
                  <a:bodyPr wrap="none" rtlCol="0">
                    <a:spAutoFit/>
                  </a:bodyPr>
                  <a:lstStyle/>
                  <a:p>
                    <a:r>
                      <a:rPr lang="en-US" dirty="0"/>
                      <a:t>3a</a:t>
                    </a:r>
                  </a:p>
                </p:txBody>
              </p:sp>
            </p:grpSp>
          </p:grpSp>
          <p:cxnSp>
            <p:nvCxnSpPr>
              <p:cNvPr id="145" name="Straight Connector 208"/>
              <p:cNvCxnSpPr>
                <a:stCxn id="193" idx="2"/>
                <a:endCxn id="180" idx="0"/>
              </p:cNvCxnSpPr>
              <p:nvPr/>
            </p:nvCxnSpPr>
            <p:spPr bwMode="auto">
              <a:xfrm>
                <a:off x="1935191" y="3242684"/>
                <a:ext cx="4230" cy="851985"/>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Straight Connector 209"/>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7" name="Straight Connector 210"/>
              <p:cNvCxnSpPr>
                <a:stCxn id="194"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8" name="Straight Connector 211"/>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9" name="Straight Connector 212"/>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0" name="Straight Connector 213"/>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cxnSp>
        <p:nvCxnSpPr>
          <p:cNvPr id="203" name="Straight Connector 267"/>
          <p:cNvCxnSpPr/>
          <p:nvPr/>
        </p:nvCxnSpPr>
        <p:spPr bwMode="auto">
          <a:xfrm flipH="1">
            <a:off x="3886201" y="2667267"/>
            <a:ext cx="660617" cy="495451"/>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4" name="Straight Connector 269"/>
          <p:cNvCxnSpPr>
            <a:endCxn id="103" idx="7"/>
          </p:cNvCxnSpPr>
          <p:nvPr/>
        </p:nvCxnSpPr>
        <p:spPr bwMode="auto">
          <a:xfrm flipH="1" flipV="1">
            <a:off x="7397258" y="2651468"/>
            <a:ext cx="665261" cy="573893"/>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5" name="TextBox 204"/>
          <p:cNvSpPr txBox="1"/>
          <p:nvPr/>
        </p:nvSpPr>
        <p:spPr>
          <a:xfrm>
            <a:off x="5533636" y="3456813"/>
            <a:ext cx="684803" cy="400110"/>
          </a:xfrm>
          <a:prstGeom prst="rect">
            <a:avLst/>
          </a:prstGeom>
          <a:noFill/>
        </p:spPr>
        <p:txBody>
          <a:bodyPr wrap="none" rtlCol="0">
            <a:spAutoFit/>
          </a:bodyPr>
          <a:lstStyle/>
          <a:p>
            <a:r>
              <a:rPr lang="en-US" sz="2000" dirty="0">
                <a:solidFill>
                  <a:srgbClr val="000090"/>
                </a:solidFill>
              </a:rPr>
              <a:t>AS 2</a:t>
            </a:r>
          </a:p>
        </p:txBody>
      </p:sp>
      <p:sp>
        <p:nvSpPr>
          <p:cNvPr id="206" name="TextBox 205"/>
          <p:cNvSpPr txBox="1"/>
          <p:nvPr/>
        </p:nvSpPr>
        <p:spPr>
          <a:xfrm>
            <a:off x="9103350" y="4303400"/>
            <a:ext cx="684803" cy="400110"/>
          </a:xfrm>
          <a:prstGeom prst="rect">
            <a:avLst/>
          </a:prstGeom>
          <a:noFill/>
        </p:spPr>
        <p:txBody>
          <a:bodyPr wrap="none" rtlCol="0">
            <a:spAutoFit/>
          </a:bodyPr>
          <a:lstStyle/>
          <a:p>
            <a:r>
              <a:rPr lang="en-US" sz="2000" dirty="0"/>
              <a:t>AS 3</a:t>
            </a:r>
          </a:p>
        </p:txBody>
      </p:sp>
      <p:sp>
        <p:nvSpPr>
          <p:cNvPr id="207" name="TextBox 206"/>
          <p:cNvSpPr txBox="1"/>
          <p:nvPr/>
        </p:nvSpPr>
        <p:spPr>
          <a:xfrm>
            <a:off x="2163948" y="4287998"/>
            <a:ext cx="684803" cy="400110"/>
          </a:xfrm>
          <a:prstGeom prst="rect">
            <a:avLst/>
          </a:prstGeom>
          <a:noFill/>
        </p:spPr>
        <p:txBody>
          <a:bodyPr wrap="none" rtlCol="0">
            <a:spAutoFit/>
          </a:bodyPr>
          <a:lstStyle/>
          <a:p>
            <a:r>
              <a:rPr lang="en-US" sz="2000" dirty="0">
                <a:solidFill>
                  <a:srgbClr val="000090"/>
                </a:solidFill>
              </a:rPr>
              <a:t>AS 1</a:t>
            </a:r>
          </a:p>
        </p:txBody>
      </p:sp>
      <p:grpSp>
        <p:nvGrpSpPr>
          <p:cNvPr id="208" name="Group 5"/>
          <p:cNvGrpSpPr/>
          <p:nvPr/>
        </p:nvGrpSpPr>
        <p:grpSpPr>
          <a:xfrm>
            <a:off x="1218778" y="2105413"/>
            <a:ext cx="7645767" cy="3959125"/>
            <a:chOff x="1020408" y="2368720"/>
            <a:chExt cx="5734325" cy="3959125"/>
          </a:xfrm>
        </p:grpSpPr>
        <p:grpSp>
          <p:nvGrpSpPr>
            <p:cNvPr id="209" name="Group 3"/>
            <p:cNvGrpSpPr/>
            <p:nvPr/>
          </p:nvGrpSpPr>
          <p:grpSpPr>
            <a:xfrm>
              <a:off x="1020408" y="2368720"/>
              <a:ext cx="5734325" cy="3959125"/>
              <a:chOff x="1020408" y="2368720"/>
              <a:chExt cx="5734325" cy="3959125"/>
            </a:xfrm>
          </p:grpSpPr>
          <p:grpSp>
            <p:nvGrpSpPr>
              <p:cNvPr id="211" name="Group 270"/>
              <p:cNvGrpSpPr/>
              <p:nvPr/>
            </p:nvGrpSpPr>
            <p:grpSpPr>
              <a:xfrm>
                <a:off x="1146544" y="5725901"/>
                <a:ext cx="565150" cy="400110"/>
                <a:chOff x="1736090" y="2873352"/>
                <a:chExt cx="565150" cy="400110"/>
              </a:xfrm>
            </p:grpSpPr>
            <p:grpSp>
              <p:nvGrpSpPr>
                <p:cNvPr id="217" name="Group 327"/>
                <p:cNvGrpSpPr>
                  <a:grpSpLocks/>
                </p:cNvGrpSpPr>
                <p:nvPr/>
              </p:nvGrpSpPr>
              <p:grpSpPr bwMode="auto">
                <a:xfrm>
                  <a:off x="1736090" y="2893762"/>
                  <a:ext cx="565150" cy="292100"/>
                  <a:chOff x="1871277" y="1576300"/>
                  <a:chExt cx="1128371" cy="437861"/>
                </a:xfrm>
              </p:grpSpPr>
              <p:sp>
                <p:nvSpPr>
                  <p:cNvPr id="221" name="Oval 279"/>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000" dirty="0">
                      <a:ln>
                        <a:solidFill>
                          <a:schemeClr val="tx1"/>
                        </a:solidFill>
                      </a:ln>
                    </a:endParaRPr>
                  </a:p>
                </p:txBody>
              </p:sp>
              <p:sp>
                <p:nvSpPr>
                  <p:cNvPr id="222" name="Rectangle 286"/>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000"/>
                  </a:p>
                </p:txBody>
              </p:sp>
              <p:sp>
                <p:nvSpPr>
                  <p:cNvPr id="223" name="Oval 287"/>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000" dirty="0">
                      <a:ln>
                        <a:solidFill>
                          <a:schemeClr val="tx1"/>
                        </a:solidFill>
                      </a:ln>
                    </a:endParaRPr>
                  </a:p>
                </p:txBody>
              </p:sp>
              <p:sp>
                <p:nvSpPr>
                  <p:cNvPr id="224" name="Freeform 288"/>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000"/>
                  </a:p>
                </p:txBody>
              </p:sp>
              <p:sp>
                <p:nvSpPr>
                  <p:cNvPr id="225" name="Freeform 289"/>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000"/>
                  </a:p>
                </p:txBody>
              </p:sp>
              <p:sp>
                <p:nvSpPr>
                  <p:cNvPr id="226" name="Freeform 290"/>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000"/>
                  </a:p>
                </p:txBody>
              </p:sp>
              <p:sp>
                <p:nvSpPr>
                  <p:cNvPr id="227" name="Freeform 291"/>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2000"/>
                  </a:p>
                </p:txBody>
              </p:sp>
              <p:cxnSp>
                <p:nvCxnSpPr>
                  <p:cNvPr id="228" name="Straight Connector 292"/>
                  <p:cNvCxnSpPr>
                    <a:endCxn id="223"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29" name="Straight Connector 293"/>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218" name="Group 274"/>
                <p:cNvGrpSpPr/>
                <p:nvPr/>
              </p:nvGrpSpPr>
              <p:grpSpPr>
                <a:xfrm>
                  <a:off x="1770362" y="2873352"/>
                  <a:ext cx="414737" cy="400110"/>
                  <a:chOff x="667045" y="1708643"/>
                  <a:chExt cx="414737" cy="400110"/>
                </a:xfrm>
              </p:grpSpPr>
              <p:sp>
                <p:nvSpPr>
                  <p:cNvPr id="219" name="Oval 276"/>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dirty="0"/>
                  </a:p>
                </p:txBody>
              </p:sp>
              <p:sp>
                <p:nvSpPr>
                  <p:cNvPr id="220" name="TextBox 219"/>
                  <p:cNvSpPr txBox="1"/>
                  <p:nvPr/>
                </p:nvSpPr>
                <p:spPr>
                  <a:xfrm>
                    <a:off x="667045" y="1708643"/>
                    <a:ext cx="326051" cy="400110"/>
                  </a:xfrm>
                  <a:prstGeom prst="rect">
                    <a:avLst/>
                  </a:prstGeom>
                  <a:noFill/>
                </p:spPr>
                <p:txBody>
                  <a:bodyPr wrap="none" rtlCol="0">
                    <a:spAutoFit/>
                  </a:bodyPr>
                  <a:lstStyle/>
                  <a:p>
                    <a:r>
                      <a:rPr lang="en-US" sz="2000" dirty="0"/>
                      <a:t>1c</a:t>
                    </a:r>
                  </a:p>
                </p:txBody>
              </p:sp>
            </p:grpSp>
          </p:grpSp>
          <p:sp>
            <p:nvSpPr>
              <p:cNvPr id="212" name="Oval 2"/>
              <p:cNvSpPr/>
              <p:nvPr/>
            </p:nvSpPr>
            <p:spPr bwMode="auto">
              <a:xfrm>
                <a:off x="1020408" y="5511349"/>
                <a:ext cx="839004" cy="816496"/>
              </a:xfrm>
              <a:prstGeom prst="ellipse">
                <a:avLst/>
              </a:prstGeom>
              <a:no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dirty="0"/>
              </a:p>
            </p:txBody>
          </p:sp>
          <p:sp>
            <p:nvSpPr>
              <p:cNvPr id="213" name="Oval 294"/>
              <p:cNvSpPr/>
              <p:nvPr/>
            </p:nvSpPr>
            <p:spPr bwMode="auto">
              <a:xfrm>
                <a:off x="2442651" y="3191580"/>
                <a:ext cx="839004" cy="816496"/>
              </a:xfrm>
              <a:prstGeom prst="ellipse">
                <a:avLst/>
              </a:prstGeom>
              <a:no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dirty="0"/>
              </a:p>
            </p:txBody>
          </p:sp>
          <p:sp>
            <p:nvSpPr>
              <p:cNvPr id="214" name="Oval 295"/>
              <p:cNvSpPr/>
              <p:nvPr/>
            </p:nvSpPr>
            <p:spPr bwMode="auto">
              <a:xfrm>
                <a:off x="3252649" y="2368720"/>
                <a:ext cx="839004" cy="816496"/>
              </a:xfrm>
              <a:prstGeom prst="ellipse">
                <a:avLst/>
              </a:prstGeom>
              <a:no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dirty="0"/>
              </a:p>
            </p:txBody>
          </p:sp>
          <p:sp>
            <p:nvSpPr>
              <p:cNvPr id="215" name="Oval 296"/>
              <p:cNvSpPr/>
              <p:nvPr/>
            </p:nvSpPr>
            <p:spPr bwMode="auto">
              <a:xfrm>
                <a:off x="5037704" y="2453079"/>
                <a:ext cx="839004" cy="816496"/>
              </a:xfrm>
              <a:prstGeom prst="ellipse">
                <a:avLst/>
              </a:prstGeom>
              <a:no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dirty="0"/>
              </a:p>
            </p:txBody>
          </p:sp>
          <p:sp>
            <p:nvSpPr>
              <p:cNvPr id="216" name="Oval 297"/>
              <p:cNvSpPr/>
              <p:nvPr/>
            </p:nvSpPr>
            <p:spPr bwMode="auto">
              <a:xfrm>
                <a:off x="5915729" y="3217852"/>
                <a:ext cx="839004" cy="816496"/>
              </a:xfrm>
              <a:prstGeom prst="ellipse">
                <a:avLst/>
              </a:prstGeom>
              <a:noFill/>
              <a:ln w="190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000" dirty="0"/>
              </a:p>
            </p:txBody>
          </p:sp>
        </p:grpSp>
        <p:sp>
          <p:nvSpPr>
            <p:cNvPr id="210" name="TextBox 209"/>
            <p:cNvSpPr txBox="1"/>
            <p:nvPr/>
          </p:nvSpPr>
          <p:spPr>
            <a:xfrm>
              <a:off x="2018144" y="5692792"/>
              <a:ext cx="4430502" cy="400110"/>
            </a:xfrm>
            <a:prstGeom prst="rect">
              <a:avLst/>
            </a:prstGeom>
            <a:noFill/>
          </p:spPr>
          <p:txBody>
            <a:bodyPr wrap="square" rtlCol="0">
              <a:spAutoFit/>
            </a:bodyPr>
            <a:lstStyle/>
            <a:p>
              <a:r>
                <a:rPr lang="zh-CN" altLang="en-US" sz="2000" dirty="0">
                  <a:latin typeface="等线" panose="02010600030101010101" pitchFamily="2" charset="-122"/>
                  <a:ea typeface="等线" panose="02010600030101010101" pitchFamily="2" charset="-122"/>
                  <a:cs typeface="Times New Roman" panose="02020603050405020304" pitchFamily="18" charset="0"/>
                </a:rPr>
                <a:t>运行</a:t>
              </a:r>
              <a:r>
                <a:rPr lang="en-US" sz="2000" dirty="0" err="1">
                  <a:latin typeface="等线" panose="02010600030101010101" pitchFamily="2" charset="-122"/>
                  <a:ea typeface="等线" panose="02010600030101010101" pitchFamily="2" charset="-122"/>
                  <a:cs typeface="Times New Roman" panose="02020603050405020304" pitchFamily="18" charset="0"/>
                </a:rPr>
                <a:t>eBGP</a:t>
              </a:r>
              <a:r>
                <a:rPr lang="en-US" sz="2000" dirty="0">
                  <a:latin typeface="等线" panose="02010600030101010101" pitchFamily="2" charset="-122"/>
                  <a:ea typeface="等线" panose="02010600030101010101" pitchFamily="2" charset="-122"/>
                  <a:cs typeface="Times New Roman" panose="02020603050405020304" pitchFamily="18" charset="0"/>
                </a:rPr>
                <a:t>, </a:t>
              </a:r>
              <a:r>
                <a:rPr lang="en-US" sz="2000" dirty="0" err="1">
                  <a:latin typeface="等线" panose="02010600030101010101" pitchFamily="2" charset="-122"/>
                  <a:ea typeface="等线" panose="02010600030101010101" pitchFamily="2" charset="-122"/>
                  <a:cs typeface="Times New Roman" panose="02020603050405020304" pitchFamily="18" charset="0"/>
                </a:rPr>
                <a:t>iBGP</a:t>
              </a:r>
              <a:r>
                <a:rPr lang="zh-CN" altLang="en-US" sz="2000" dirty="0">
                  <a:latin typeface="等线" panose="02010600030101010101" pitchFamily="2" charset="-122"/>
                  <a:ea typeface="等线" panose="02010600030101010101" pitchFamily="2" charset="-122"/>
                  <a:cs typeface="Times New Roman" panose="02020603050405020304" pitchFamily="18" charset="0"/>
                </a:rPr>
                <a:t>协议和</a:t>
              </a:r>
              <a:r>
                <a:rPr lang="en-US" sz="2000" dirty="0">
                  <a:latin typeface="等线" panose="02010600030101010101" pitchFamily="2" charset="-122"/>
                  <a:ea typeface="等线" panose="02010600030101010101" pitchFamily="2" charset="-122"/>
                  <a:cs typeface="Times New Roman" panose="02020603050405020304" pitchFamily="18" charset="0"/>
                </a:rPr>
                <a:t>IGP</a:t>
              </a:r>
              <a:r>
                <a:rPr lang="zh-CN" altLang="en-US" sz="2000" dirty="0">
                  <a:latin typeface="等线" panose="02010600030101010101" pitchFamily="2" charset="-122"/>
                  <a:ea typeface="等线" panose="02010600030101010101" pitchFamily="2" charset="-122"/>
                  <a:cs typeface="Times New Roman" panose="02020603050405020304" pitchFamily="18" charset="0"/>
                </a:rPr>
                <a:t>的路由器</a:t>
              </a:r>
              <a:endParaRPr lang="en-US" sz="2000" dirty="0">
                <a:latin typeface="等线" panose="02010600030101010101" pitchFamily="2" charset="-122"/>
                <a:ea typeface="等线" panose="02010600030101010101" pitchFamily="2" charset="-122"/>
                <a:cs typeface="Times New Roman" panose="02020603050405020304" pitchFamily="18" charset="0"/>
              </a:endParaRPr>
            </a:p>
          </p:txBody>
        </p:sp>
      </p:grpSp>
      <p:sp>
        <p:nvSpPr>
          <p:cNvPr id="230" name="日期占位符 229"/>
          <p:cNvSpPr>
            <a:spLocks noGrp="1"/>
          </p:cNvSpPr>
          <p:nvPr>
            <p:ph type="dt" sz="half" idx="10"/>
          </p:nvPr>
        </p:nvSpPr>
        <p:spPr>
          <a:xfrm>
            <a:off x="197334" y="6489303"/>
            <a:ext cx="2875625" cy="365125"/>
          </a:xfrm>
        </p:spPr>
        <p:txBody>
          <a:bodyPr/>
          <a:lstStyle/>
          <a:p>
            <a:r>
              <a:rPr kumimoji="1" lang="en-US" altLang="zh-CN" dirty="0">
                <a:latin typeface="DengXian" panose="02010600030101010101" pitchFamily="2" charset="-122"/>
                <a:ea typeface="DengXian" panose="02010600030101010101" pitchFamily="2" charset="-122"/>
              </a:rPr>
              <a:t>5.4.3 BGP-</a:t>
            </a:r>
            <a:r>
              <a:rPr kumimoji="1" lang="zh-CN" altLang="en-US" dirty="0">
                <a:latin typeface="DengXian" panose="02010600030101010101" pitchFamily="2" charset="-122"/>
                <a:ea typeface="DengXian" panose="02010600030101010101" pitchFamily="2" charset="-122"/>
              </a:rPr>
              <a:t>外部网关路由协议</a:t>
            </a:r>
          </a:p>
        </p:txBody>
      </p:sp>
    </p:spTree>
    <p:extLst>
      <p:ext uri="{BB962C8B-B14F-4D97-AF65-F5344CB8AC3E}">
        <p14:creationId xmlns:p14="http://schemas.microsoft.com/office/powerpoint/2010/main" val="1617428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dissolve">
                                      <p:cBhvr>
                                        <p:cTn id="7" dur="500"/>
                                        <p:tgtEl>
                                          <p:spTgt spid="2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等线" panose="02010600030101010101" pitchFamily="2" charset="-122"/>
                <a:ea typeface="等线" panose="02010600030101010101" pitchFamily="2" charset="-122"/>
                <a:cs typeface="Times New Roman" panose="02020603050405020304" pitchFamily="18" charset="0"/>
              </a:rPr>
              <a:t>BGP</a:t>
            </a:r>
            <a:r>
              <a:rPr lang="zh-CN" altLang="en-US" dirty="0">
                <a:latin typeface="等线" panose="02010600030101010101" pitchFamily="2" charset="-122"/>
                <a:ea typeface="等线" panose="02010600030101010101" pitchFamily="2" charset="-122"/>
                <a:cs typeface="Times New Roman" panose="02020603050405020304" pitchFamily="18" charset="0"/>
              </a:rPr>
              <a:t>基础</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93</a:t>
            </a:fld>
            <a:endParaRPr kumimoji="1" lang="zh-CN" altLang="en-US" dirty="0"/>
          </a:p>
        </p:txBody>
      </p:sp>
      <p:sp>
        <p:nvSpPr>
          <p:cNvPr id="5" name="Rectangle 116"/>
          <p:cNvSpPr>
            <a:spLocks noChangeArrowheads="1"/>
          </p:cNvSpPr>
          <p:nvPr/>
        </p:nvSpPr>
        <p:spPr bwMode="auto">
          <a:xfrm>
            <a:off x="837083" y="1516518"/>
            <a:ext cx="10516717" cy="2049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120000"/>
              </a:lnSpc>
              <a:spcBef>
                <a:spcPts val="600"/>
              </a:spcBef>
              <a:buFont typeface="Wingdings" pitchFamily="2" charset="2"/>
              <a:buChar char="Ø"/>
              <a:defRPr/>
            </a:pPr>
            <a:r>
              <a:rPr lang="en-US" altLang="zh-CN" sz="2400" dirty="0">
                <a:latin typeface="等线" panose="02010600030101010101" pitchFamily="2" charset="-122"/>
                <a:ea typeface="等线" panose="02010600030101010101" pitchFamily="2" charset="-122"/>
                <a:cs typeface="Times New Roman" panose="02020603050405020304" pitchFamily="18" charset="0"/>
              </a:rPr>
              <a:t>BGP</a:t>
            </a:r>
            <a:r>
              <a:rPr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会话</a:t>
            </a:r>
            <a:r>
              <a:rPr lang="en-US" altLang="zh-CN" sz="2400" dirty="0">
                <a:solidFill>
                  <a:srgbClr val="CC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2400" dirty="0">
                <a:solidFill>
                  <a:srgbClr val="FF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两个</a:t>
            </a:r>
            <a:r>
              <a:rPr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BGP</a:t>
            </a:r>
            <a:r>
              <a:rPr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路由器通过</a:t>
            </a:r>
            <a:r>
              <a:rPr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TCP</a:t>
            </a:r>
            <a:r>
              <a:rPr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连接交换</a:t>
            </a:r>
            <a:r>
              <a:rPr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BGP</a:t>
            </a:r>
            <a:r>
              <a:rPr lang="zh-CN" altLang="en-US" sz="2400" dirty="0">
                <a:solidFill>
                  <a:srgbClr val="C00000"/>
                </a:solidFill>
                <a:latin typeface="等线" panose="02010600030101010101" pitchFamily="2" charset="-122"/>
                <a:ea typeface="等线" panose="02010600030101010101" pitchFamily="2" charset="-122"/>
                <a:cs typeface="Times New Roman" panose="02020603050405020304" pitchFamily="18" charset="0"/>
              </a:rPr>
              <a:t>报文</a:t>
            </a:r>
            <a:endParaRPr lang="en-US" altLang="zh-CN" sz="2400" dirty="0">
              <a:solidFill>
                <a:srgbClr val="C00000"/>
              </a:solidFill>
              <a:latin typeface="等线" panose="02010600030101010101" pitchFamily="2" charset="-122"/>
              <a:ea typeface="等线" panose="02010600030101010101" pitchFamily="2" charset="-122"/>
              <a:cs typeface="Times New Roman" panose="02020603050405020304" pitchFamily="18" charset="0"/>
            </a:endParaRPr>
          </a:p>
          <a:p>
            <a:pPr marL="800100" lvl="1" indent="-342900">
              <a:lnSpc>
                <a:spcPct val="120000"/>
              </a:lnSpc>
              <a:spcBef>
                <a:spcPts val="600"/>
              </a:spcBef>
              <a:buFont typeface="Arial" pitchFamily="34" charset="0"/>
              <a:buChar char="•"/>
              <a:defRPr/>
            </a:pPr>
            <a:r>
              <a:rPr lang="zh-CN" altLang="en-US" sz="2200" dirty="0">
                <a:latin typeface="等线" panose="02010600030101010101" pitchFamily="2" charset="-122"/>
                <a:ea typeface="等线" panose="02010600030101010101" pitchFamily="2" charset="-122"/>
                <a:cs typeface="Times New Roman" panose="02020603050405020304" pitchFamily="18" charset="0"/>
              </a:rPr>
              <a:t>通告到不同网络前缀的路径，即路径向量协议</a:t>
            </a:r>
            <a:endParaRPr lang="en-US" altLang="zh-CN" sz="2200" dirty="0">
              <a:latin typeface="等线" panose="02010600030101010101" pitchFamily="2" charset="-122"/>
              <a:ea typeface="等线" panose="02010600030101010101" pitchFamily="2" charset="-122"/>
              <a:cs typeface="Times New Roman" panose="02020603050405020304" pitchFamily="18" charset="0"/>
            </a:endParaRPr>
          </a:p>
          <a:p>
            <a:pPr marL="342900" indent="-342900">
              <a:lnSpc>
                <a:spcPct val="120000"/>
              </a:lnSpc>
              <a:spcBef>
                <a:spcPts val="600"/>
              </a:spcBef>
              <a:buFont typeface="Wingdings" pitchFamily="2" charset="2"/>
              <a:buChar char="Ø"/>
              <a:defRPr/>
            </a:pPr>
            <a:r>
              <a:rPr lang="zh-CN" altLang="en-US" sz="2400" dirty="0">
                <a:latin typeface="等线" panose="02010600030101010101" pitchFamily="2" charset="-122"/>
                <a:ea typeface="等线" panose="02010600030101010101" pitchFamily="2" charset="-122"/>
                <a:cs typeface="Times New Roman" panose="02020603050405020304" pitchFamily="18" charset="0"/>
              </a:rPr>
              <a:t>例</a:t>
            </a:r>
            <a:r>
              <a:rPr lang="zh-CN" altLang="en-US" sz="2400" dirty="0">
                <a:solidFill>
                  <a:srgbClr val="CC0000"/>
                </a:solidFill>
                <a:latin typeface="等线" panose="02010600030101010101" pitchFamily="2" charset="-122"/>
                <a:ea typeface="等线" panose="02010600030101010101" pitchFamily="2" charset="-122"/>
                <a:cs typeface="Times New Roman" panose="02020603050405020304" pitchFamily="18" charset="0"/>
              </a:rPr>
              <a:t>：</a:t>
            </a:r>
            <a:r>
              <a:rPr lang="zh-CN" altLang="en-US" sz="2400" dirty="0">
                <a:latin typeface="等线" panose="02010600030101010101" pitchFamily="2" charset="-122"/>
                <a:ea typeface="等线" panose="02010600030101010101" pitchFamily="2" charset="-122"/>
                <a:cs typeface="Times New Roman" panose="02020603050405020304" pitchFamily="18" charset="0"/>
              </a:rPr>
              <a:t>当</a:t>
            </a:r>
            <a:r>
              <a:rPr lang="en-US" altLang="zh-CN" sz="2400" dirty="0">
                <a:latin typeface="等线" panose="02010600030101010101" pitchFamily="2" charset="-122"/>
                <a:ea typeface="等线" panose="02010600030101010101" pitchFamily="2" charset="-122"/>
                <a:cs typeface="Times New Roman" panose="02020603050405020304" pitchFamily="18" charset="0"/>
              </a:rPr>
              <a:t>AS3</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3a</a:t>
            </a:r>
            <a:r>
              <a:rPr lang="zh-CN" altLang="en-US" sz="2400" dirty="0">
                <a:latin typeface="等线" panose="02010600030101010101" pitchFamily="2" charset="-122"/>
                <a:ea typeface="等线" panose="02010600030101010101" pitchFamily="2" charset="-122"/>
                <a:cs typeface="Times New Roman" panose="02020603050405020304" pitchFamily="18" charset="0"/>
              </a:rPr>
              <a:t>向</a:t>
            </a:r>
            <a:r>
              <a:rPr lang="en-US" altLang="zh-CN" sz="2400" dirty="0">
                <a:latin typeface="等线" panose="02010600030101010101" pitchFamily="2" charset="-122"/>
                <a:ea typeface="等线" panose="02010600030101010101" pitchFamily="2" charset="-122"/>
                <a:cs typeface="Times New Roman" panose="02020603050405020304" pitchFamily="18" charset="0"/>
              </a:rPr>
              <a:t>AS2</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2c</a:t>
            </a:r>
            <a:r>
              <a:rPr lang="zh-CN" altLang="en-US" sz="2400" dirty="0">
                <a:latin typeface="等线" panose="02010600030101010101" pitchFamily="2" charset="-122"/>
                <a:ea typeface="等线" panose="02010600030101010101" pitchFamily="2" charset="-122"/>
                <a:cs typeface="Times New Roman" panose="02020603050405020304" pitchFamily="18" charset="0"/>
              </a:rPr>
              <a:t>通告路径</a:t>
            </a:r>
            <a:r>
              <a:rPr lang="en-US" altLang="zh-CN" sz="2400" dirty="0">
                <a:latin typeface="等线" panose="02010600030101010101" pitchFamily="2" charset="-122"/>
                <a:ea typeface="等线" panose="02010600030101010101" pitchFamily="2" charset="-122"/>
                <a:cs typeface="Times New Roman" panose="02020603050405020304" pitchFamily="18" charset="0"/>
              </a:rPr>
              <a:t>AS3, X</a:t>
            </a:r>
            <a:r>
              <a:rPr lang="zh-CN" altLang="en-US" sz="2400" dirty="0">
                <a:latin typeface="等线" panose="02010600030101010101" pitchFamily="2" charset="-122"/>
                <a:ea typeface="等线" panose="02010600030101010101" pitchFamily="2" charset="-122"/>
                <a:cs typeface="Times New Roman" panose="02020603050405020304" pitchFamily="18" charset="0"/>
              </a:rPr>
              <a:t>时，</a:t>
            </a:r>
            <a:r>
              <a:rPr lang="en-US" altLang="zh-CN" sz="2400" dirty="0">
                <a:latin typeface="等线" panose="02010600030101010101" pitchFamily="2" charset="-122"/>
                <a:ea typeface="等线" panose="02010600030101010101" pitchFamily="2" charset="-122"/>
                <a:cs typeface="Times New Roman" panose="02020603050405020304" pitchFamily="18" charset="0"/>
              </a:rPr>
              <a:t>AS3</a:t>
            </a:r>
            <a:r>
              <a:rPr lang="zh-CN" altLang="en-US" sz="2400" dirty="0">
                <a:latin typeface="等线" panose="02010600030101010101" pitchFamily="2" charset="-122"/>
                <a:ea typeface="等线" panose="02010600030101010101" pitchFamily="2" charset="-122"/>
                <a:cs typeface="Times New Roman" panose="02020603050405020304" pitchFamily="18" charset="0"/>
              </a:rPr>
              <a:t>向</a:t>
            </a:r>
            <a:r>
              <a:rPr lang="en-US" altLang="zh-CN" sz="2400" dirty="0">
                <a:latin typeface="等线" panose="02010600030101010101" pitchFamily="2" charset="-122"/>
                <a:ea typeface="等线" panose="02010600030101010101" pitchFamily="2" charset="-122"/>
                <a:cs typeface="Times New Roman" panose="02020603050405020304" pitchFamily="18" charset="0"/>
              </a:rPr>
              <a:t>AS2</a:t>
            </a:r>
            <a:r>
              <a:rPr lang="zh-CN" altLang="en-US" sz="2400" dirty="0">
                <a:latin typeface="等线" panose="02010600030101010101" pitchFamily="2" charset="-122"/>
                <a:ea typeface="等线" panose="02010600030101010101" pitchFamily="2" charset="-122"/>
                <a:cs typeface="Times New Roman" panose="02020603050405020304" pitchFamily="18" charset="0"/>
              </a:rPr>
              <a:t>承诺它会向</a:t>
            </a:r>
            <a:r>
              <a:rPr lang="en-US" altLang="zh-CN" sz="2400" dirty="0">
                <a:latin typeface="等线" panose="02010600030101010101" pitchFamily="2" charset="-122"/>
                <a:ea typeface="等线" panose="02010600030101010101" pitchFamily="2" charset="-122"/>
                <a:cs typeface="Times New Roman" panose="02020603050405020304" pitchFamily="18" charset="0"/>
              </a:rPr>
              <a:t>X</a:t>
            </a:r>
            <a:r>
              <a:rPr lang="zh-CN" altLang="en-US" sz="2400" dirty="0">
                <a:latin typeface="等线" panose="02010600030101010101" pitchFamily="2" charset="-122"/>
                <a:ea typeface="等线" panose="02010600030101010101" pitchFamily="2" charset="-122"/>
                <a:cs typeface="Times New Roman" panose="02020603050405020304" pitchFamily="18" charset="0"/>
              </a:rPr>
              <a:t>转发数据包</a:t>
            </a:r>
            <a:endParaRPr lang="en-US" altLang="zh-CN" sz="2400" dirty="0">
              <a:latin typeface="等线" panose="02010600030101010101" pitchFamily="2" charset="-122"/>
              <a:ea typeface="等线" panose="02010600030101010101" pitchFamily="2" charset="-122"/>
              <a:cs typeface="Times New Roman" panose="02020603050405020304" pitchFamily="18" charset="0"/>
            </a:endParaRPr>
          </a:p>
        </p:txBody>
      </p:sp>
      <p:grpSp>
        <p:nvGrpSpPr>
          <p:cNvPr id="6" name="组合 5">
            <a:extLst>
              <a:ext uri="{FF2B5EF4-FFF2-40B4-BE49-F238E27FC236}">
                <a16:creationId xmlns:a16="http://schemas.microsoft.com/office/drawing/2014/main" id="{0F439463-5425-40AD-91AC-68AD1428AC23}"/>
              </a:ext>
            </a:extLst>
          </p:cNvPr>
          <p:cNvGrpSpPr/>
          <p:nvPr/>
        </p:nvGrpSpPr>
        <p:grpSpPr>
          <a:xfrm>
            <a:off x="854641" y="4016971"/>
            <a:ext cx="10363840" cy="2385178"/>
            <a:chOff x="624887" y="3798835"/>
            <a:chExt cx="8147674" cy="2788793"/>
          </a:xfrm>
        </p:grpSpPr>
        <p:grpSp>
          <p:nvGrpSpPr>
            <p:cNvPr id="7" name="Group 124"/>
            <p:cNvGrpSpPr/>
            <p:nvPr/>
          </p:nvGrpSpPr>
          <p:grpSpPr>
            <a:xfrm>
              <a:off x="624887" y="3939922"/>
              <a:ext cx="2557336" cy="1719017"/>
              <a:chOff x="-2170772" y="2784954"/>
              <a:chExt cx="2712783" cy="1853712"/>
            </a:xfrm>
          </p:grpSpPr>
          <p:sp>
            <p:nvSpPr>
              <p:cNvPr id="162" name="Freeform 2"/>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63" name="Group 261"/>
              <p:cNvGrpSpPr/>
              <p:nvPr/>
            </p:nvGrpSpPr>
            <p:grpSpPr>
              <a:xfrm>
                <a:off x="-1935370" y="2935816"/>
                <a:ext cx="2333625" cy="1686983"/>
                <a:chOff x="833331" y="2873352"/>
                <a:chExt cx="2333625" cy="1686983"/>
              </a:xfrm>
            </p:grpSpPr>
            <p:grpSp>
              <p:nvGrpSpPr>
                <p:cNvPr id="164" name="Group 262"/>
                <p:cNvGrpSpPr/>
                <p:nvPr/>
              </p:nvGrpSpPr>
              <p:grpSpPr>
                <a:xfrm>
                  <a:off x="1736090" y="2873352"/>
                  <a:ext cx="565150" cy="465666"/>
                  <a:chOff x="1736090" y="2873352"/>
                  <a:chExt cx="565150" cy="465666"/>
                </a:xfrm>
              </p:grpSpPr>
              <p:grpSp>
                <p:nvGrpSpPr>
                  <p:cNvPr id="213" name="Group 327"/>
                  <p:cNvGrpSpPr>
                    <a:grpSpLocks/>
                  </p:cNvGrpSpPr>
                  <p:nvPr/>
                </p:nvGrpSpPr>
                <p:grpSpPr bwMode="auto">
                  <a:xfrm>
                    <a:off x="1736090" y="2893762"/>
                    <a:ext cx="565150" cy="292100"/>
                    <a:chOff x="1871277" y="1576300"/>
                    <a:chExt cx="1128371" cy="437861"/>
                  </a:xfrm>
                </p:grpSpPr>
                <p:sp>
                  <p:nvSpPr>
                    <p:cNvPr id="217" name="Oval 315"/>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18" name="Rectangle 316"/>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9" name="Oval 317"/>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20" name="Freeform 318"/>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21" name="Freeform 319"/>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22" name="Freeform 320"/>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23" name="Freeform 321"/>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224" name="Straight Connector 322"/>
                    <p:cNvCxnSpPr>
                      <a:endCxn id="219"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25" name="Straight Connector 323"/>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214" name="Group 312"/>
                  <p:cNvGrpSpPr/>
                  <p:nvPr/>
                </p:nvGrpSpPr>
                <p:grpSpPr>
                  <a:xfrm>
                    <a:off x="1770362" y="2873352"/>
                    <a:ext cx="414737" cy="465666"/>
                    <a:chOff x="667045" y="1708643"/>
                    <a:chExt cx="414737" cy="465666"/>
                  </a:xfrm>
                </p:grpSpPr>
                <p:sp>
                  <p:nvSpPr>
                    <p:cNvPr id="215" name="Oval 313"/>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6" name="TextBox 215"/>
                    <p:cNvSpPr txBox="1"/>
                    <p:nvPr/>
                  </p:nvSpPr>
                  <p:spPr>
                    <a:xfrm>
                      <a:off x="667045" y="1708643"/>
                      <a:ext cx="366558" cy="465666"/>
                    </a:xfrm>
                    <a:prstGeom prst="rect">
                      <a:avLst/>
                    </a:prstGeom>
                    <a:noFill/>
                  </p:spPr>
                  <p:txBody>
                    <a:bodyPr wrap="none" rtlCol="0">
                      <a:spAutoFit/>
                    </a:bodyPr>
                    <a:lstStyle/>
                    <a:p>
                      <a:r>
                        <a:rPr lang="en-US" dirty="0"/>
                        <a:t>1b</a:t>
                      </a:r>
                    </a:p>
                  </p:txBody>
                </p:sp>
              </p:grpSp>
            </p:grpSp>
            <p:grpSp>
              <p:nvGrpSpPr>
                <p:cNvPr id="165" name="Group 263"/>
                <p:cNvGrpSpPr/>
                <p:nvPr/>
              </p:nvGrpSpPr>
              <p:grpSpPr>
                <a:xfrm>
                  <a:off x="1740320" y="4094669"/>
                  <a:ext cx="565150" cy="465666"/>
                  <a:chOff x="1736090" y="2873352"/>
                  <a:chExt cx="565150" cy="465666"/>
                </a:xfrm>
              </p:grpSpPr>
              <p:grpSp>
                <p:nvGrpSpPr>
                  <p:cNvPr id="200" name="Group 327"/>
                  <p:cNvGrpSpPr>
                    <a:grpSpLocks/>
                  </p:cNvGrpSpPr>
                  <p:nvPr/>
                </p:nvGrpSpPr>
                <p:grpSpPr bwMode="auto">
                  <a:xfrm>
                    <a:off x="1736090" y="2893762"/>
                    <a:ext cx="565150" cy="292100"/>
                    <a:chOff x="1871277" y="1576300"/>
                    <a:chExt cx="1128371" cy="437861"/>
                  </a:xfrm>
                </p:grpSpPr>
                <p:sp>
                  <p:nvSpPr>
                    <p:cNvPr id="204" name="Oval 302"/>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05" name="Rectangle 303"/>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06" name="Oval 304"/>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07" name="Freeform 305"/>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08" name="Freeform 306"/>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09" name="Freeform 307"/>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0" name="Freeform 308"/>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211" name="Straight Connector 309"/>
                    <p:cNvCxnSpPr>
                      <a:endCxn id="206"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12" name="Straight Connector 310"/>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201" name="Group 299"/>
                  <p:cNvGrpSpPr/>
                  <p:nvPr/>
                </p:nvGrpSpPr>
                <p:grpSpPr>
                  <a:xfrm>
                    <a:off x="1770362" y="2873352"/>
                    <a:ext cx="414737" cy="465666"/>
                    <a:chOff x="667045" y="1708643"/>
                    <a:chExt cx="414737" cy="465666"/>
                  </a:xfrm>
                </p:grpSpPr>
                <p:sp>
                  <p:nvSpPr>
                    <p:cNvPr id="202" name="Oval 300"/>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03" name="TextBox 202"/>
                    <p:cNvSpPr txBox="1"/>
                    <p:nvPr/>
                  </p:nvSpPr>
                  <p:spPr>
                    <a:xfrm>
                      <a:off x="667045" y="1708643"/>
                      <a:ext cx="366558" cy="465666"/>
                    </a:xfrm>
                    <a:prstGeom prst="rect">
                      <a:avLst/>
                    </a:prstGeom>
                    <a:noFill/>
                  </p:spPr>
                  <p:txBody>
                    <a:bodyPr wrap="none" rtlCol="0">
                      <a:spAutoFit/>
                    </a:bodyPr>
                    <a:lstStyle/>
                    <a:p>
                      <a:r>
                        <a:rPr lang="en-US" dirty="0"/>
                        <a:t>1d</a:t>
                      </a:r>
                    </a:p>
                  </p:txBody>
                </p:sp>
              </p:grpSp>
            </p:grpSp>
            <p:grpSp>
              <p:nvGrpSpPr>
                <p:cNvPr id="166" name="Group 264"/>
                <p:cNvGrpSpPr/>
                <p:nvPr/>
              </p:nvGrpSpPr>
              <p:grpSpPr>
                <a:xfrm>
                  <a:off x="2601806" y="3485072"/>
                  <a:ext cx="565150" cy="465666"/>
                  <a:chOff x="1736090" y="2873352"/>
                  <a:chExt cx="565150" cy="465666"/>
                </a:xfrm>
              </p:grpSpPr>
              <p:grpSp>
                <p:nvGrpSpPr>
                  <p:cNvPr id="187" name="Group 327"/>
                  <p:cNvGrpSpPr>
                    <a:grpSpLocks/>
                  </p:cNvGrpSpPr>
                  <p:nvPr/>
                </p:nvGrpSpPr>
                <p:grpSpPr bwMode="auto">
                  <a:xfrm>
                    <a:off x="1736090" y="2893762"/>
                    <a:ext cx="565150" cy="292100"/>
                    <a:chOff x="1871277" y="1576300"/>
                    <a:chExt cx="1128371" cy="437861"/>
                  </a:xfrm>
                </p:grpSpPr>
                <p:sp>
                  <p:nvSpPr>
                    <p:cNvPr id="191" name="Oval 289"/>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92" name="Rectangle 290"/>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3" name="Oval 291"/>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94" name="Freeform 292"/>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5" name="Freeform 293"/>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6" name="Freeform 294"/>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7" name="Freeform 295"/>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98" name="Straight Connector 296"/>
                    <p:cNvCxnSpPr>
                      <a:endCxn id="193"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99" name="Straight Connector 297"/>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88" name="Group 286"/>
                  <p:cNvGrpSpPr/>
                  <p:nvPr/>
                </p:nvGrpSpPr>
                <p:grpSpPr>
                  <a:xfrm>
                    <a:off x="1770362" y="2873352"/>
                    <a:ext cx="414737" cy="465666"/>
                    <a:chOff x="667045" y="1708643"/>
                    <a:chExt cx="414737" cy="465666"/>
                  </a:xfrm>
                </p:grpSpPr>
                <p:sp>
                  <p:nvSpPr>
                    <p:cNvPr id="189" name="Oval 287"/>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90" name="TextBox 189"/>
                    <p:cNvSpPr txBox="1"/>
                    <p:nvPr/>
                  </p:nvSpPr>
                  <p:spPr>
                    <a:xfrm>
                      <a:off x="667045" y="1708643"/>
                      <a:ext cx="342495" cy="465666"/>
                    </a:xfrm>
                    <a:prstGeom prst="rect">
                      <a:avLst/>
                    </a:prstGeom>
                    <a:noFill/>
                  </p:spPr>
                  <p:txBody>
                    <a:bodyPr wrap="none" rtlCol="0">
                      <a:spAutoFit/>
                    </a:bodyPr>
                    <a:lstStyle/>
                    <a:p>
                      <a:r>
                        <a:rPr lang="en-US" dirty="0"/>
                        <a:t>1c</a:t>
                      </a:r>
                    </a:p>
                  </p:txBody>
                </p:sp>
              </p:grpSp>
            </p:grpSp>
            <p:grpSp>
              <p:nvGrpSpPr>
                <p:cNvPr id="167" name="Group 265"/>
                <p:cNvGrpSpPr/>
                <p:nvPr/>
              </p:nvGrpSpPr>
              <p:grpSpPr>
                <a:xfrm>
                  <a:off x="833331" y="3478719"/>
                  <a:ext cx="565150" cy="465666"/>
                  <a:chOff x="1736090" y="2873352"/>
                  <a:chExt cx="565150" cy="465666"/>
                </a:xfrm>
              </p:grpSpPr>
              <p:grpSp>
                <p:nvGrpSpPr>
                  <p:cNvPr id="174" name="Group 327"/>
                  <p:cNvGrpSpPr>
                    <a:grpSpLocks/>
                  </p:cNvGrpSpPr>
                  <p:nvPr/>
                </p:nvGrpSpPr>
                <p:grpSpPr bwMode="auto">
                  <a:xfrm>
                    <a:off x="1736090" y="2893762"/>
                    <a:ext cx="565150" cy="292100"/>
                    <a:chOff x="1871277" y="1576300"/>
                    <a:chExt cx="1128371" cy="437861"/>
                  </a:xfrm>
                </p:grpSpPr>
                <p:sp>
                  <p:nvSpPr>
                    <p:cNvPr id="178" name="Oval 276"/>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79" name="Rectangle 277"/>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0" name="Oval 278"/>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81" name="Freeform 279"/>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2" name="Freeform 280"/>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3" name="Freeform 281"/>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4" name="Freeform 282"/>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85" name="Straight Connector 283"/>
                    <p:cNvCxnSpPr>
                      <a:endCxn id="180"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86" name="Straight Connector 284"/>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75" name="Group 273"/>
                  <p:cNvGrpSpPr/>
                  <p:nvPr/>
                </p:nvGrpSpPr>
                <p:grpSpPr>
                  <a:xfrm>
                    <a:off x="1770362" y="2873352"/>
                    <a:ext cx="414737" cy="465666"/>
                    <a:chOff x="667045" y="1708643"/>
                    <a:chExt cx="414737" cy="465666"/>
                  </a:xfrm>
                </p:grpSpPr>
                <p:sp>
                  <p:nvSpPr>
                    <p:cNvPr id="176" name="Oval 274"/>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7" name="TextBox 176"/>
                    <p:cNvSpPr txBox="1"/>
                    <p:nvPr/>
                  </p:nvSpPr>
                  <p:spPr>
                    <a:xfrm>
                      <a:off x="667045" y="1708643"/>
                      <a:ext cx="351852" cy="465666"/>
                    </a:xfrm>
                    <a:prstGeom prst="rect">
                      <a:avLst/>
                    </a:prstGeom>
                    <a:noFill/>
                  </p:spPr>
                  <p:txBody>
                    <a:bodyPr wrap="none" rtlCol="0">
                      <a:spAutoFit/>
                    </a:bodyPr>
                    <a:lstStyle/>
                    <a:p>
                      <a:r>
                        <a:rPr lang="en-US" dirty="0"/>
                        <a:t>1a</a:t>
                      </a:r>
                    </a:p>
                  </p:txBody>
                </p:sp>
              </p:grpSp>
            </p:grpSp>
            <p:cxnSp>
              <p:nvCxnSpPr>
                <p:cNvPr id="168" name="Straight Connector 266"/>
                <p:cNvCxnSpPr>
                  <a:stCxn id="216" idx="2"/>
                  <a:endCxn id="203" idx="0"/>
                </p:cNvCxnSpPr>
                <p:nvPr/>
              </p:nvCxnSpPr>
              <p:spPr bwMode="auto">
                <a:xfrm>
                  <a:off x="1953641" y="3339018"/>
                  <a:ext cx="4230" cy="75565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9" name="Straight Connector 267"/>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0" name="Straight Connector 268"/>
                <p:cNvCxnSpPr>
                  <a:stCxn id="217"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1" name="Straight Connector 269"/>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2" name="Straight Connector 270"/>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3" name="Straight Connector 271"/>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8" name="Group 125"/>
            <p:cNvGrpSpPr/>
            <p:nvPr/>
          </p:nvGrpSpPr>
          <p:grpSpPr>
            <a:xfrm>
              <a:off x="3285692" y="4867093"/>
              <a:ext cx="2545688" cy="1720535"/>
              <a:chOff x="-2170772" y="2784954"/>
              <a:chExt cx="2712783" cy="1853712"/>
            </a:xfrm>
          </p:grpSpPr>
          <p:sp>
            <p:nvSpPr>
              <p:cNvPr id="98" name="Freeform 2"/>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99" name="Group 197"/>
              <p:cNvGrpSpPr/>
              <p:nvPr/>
            </p:nvGrpSpPr>
            <p:grpSpPr>
              <a:xfrm>
                <a:off x="-1935370" y="2935816"/>
                <a:ext cx="2333625" cy="1686572"/>
                <a:chOff x="833331" y="2873352"/>
                <a:chExt cx="2333625" cy="1686572"/>
              </a:xfrm>
            </p:grpSpPr>
            <p:grpSp>
              <p:nvGrpSpPr>
                <p:cNvPr id="100" name="Group 198"/>
                <p:cNvGrpSpPr/>
                <p:nvPr/>
              </p:nvGrpSpPr>
              <p:grpSpPr>
                <a:xfrm>
                  <a:off x="1736090" y="2873352"/>
                  <a:ext cx="565150" cy="465255"/>
                  <a:chOff x="1736090" y="2873352"/>
                  <a:chExt cx="565150" cy="465255"/>
                </a:xfrm>
              </p:grpSpPr>
              <p:grpSp>
                <p:nvGrpSpPr>
                  <p:cNvPr id="149" name="Group 327"/>
                  <p:cNvGrpSpPr>
                    <a:grpSpLocks/>
                  </p:cNvGrpSpPr>
                  <p:nvPr/>
                </p:nvGrpSpPr>
                <p:grpSpPr bwMode="auto">
                  <a:xfrm>
                    <a:off x="1736090" y="2893762"/>
                    <a:ext cx="565150" cy="292100"/>
                    <a:chOff x="1871277" y="1576300"/>
                    <a:chExt cx="1128371" cy="437861"/>
                  </a:xfrm>
                </p:grpSpPr>
                <p:sp>
                  <p:nvSpPr>
                    <p:cNvPr id="153" name="Oval 251"/>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4" name="Rectangle 252"/>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5" name="Oval 253"/>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6" name="Freeform 254"/>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7" name="Freeform 255"/>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8" name="Freeform 256"/>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9" name="Freeform 257"/>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60" name="Straight Connector 258"/>
                    <p:cNvCxnSpPr>
                      <a:endCxn id="155"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61" name="Straight Connector 259"/>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50" name="Group 248"/>
                  <p:cNvGrpSpPr/>
                  <p:nvPr/>
                </p:nvGrpSpPr>
                <p:grpSpPr>
                  <a:xfrm>
                    <a:off x="1770362" y="2873352"/>
                    <a:ext cx="414737" cy="465255"/>
                    <a:chOff x="667045" y="1708643"/>
                    <a:chExt cx="414737" cy="465255"/>
                  </a:xfrm>
                </p:grpSpPr>
                <p:sp>
                  <p:nvSpPr>
                    <p:cNvPr id="151" name="Oval 249"/>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2" name="TextBox 151"/>
                    <p:cNvSpPr txBox="1"/>
                    <p:nvPr/>
                  </p:nvSpPr>
                  <p:spPr>
                    <a:xfrm>
                      <a:off x="667045" y="1708643"/>
                      <a:ext cx="368235" cy="465255"/>
                    </a:xfrm>
                    <a:prstGeom prst="rect">
                      <a:avLst/>
                    </a:prstGeom>
                    <a:noFill/>
                  </p:spPr>
                  <p:txBody>
                    <a:bodyPr wrap="none" rtlCol="0">
                      <a:spAutoFit/>
                    </a:bodyPr>
                    <a:lstStyle/>
                    <a:p>
                      <a:r>
                        <a:rPr lang="en-US" dirty="0"/>
                        <a:t>2b</a:t>
                      </a:r>
                    </a:p>
                  </p:txBody>
                </p:sp>
              </p:grpSp>
            </p:grpSp>
            <p:grpSp>
              <p:nvGrpSpPr>
                <p:cNvPr id="101" name="Group 199"/>
                <p:cNvGrpSpPr/>
                <p:nvPr/>
              </p:nvGrpSpPr>
              <p:grpSpPr>
                <a:xfrm>
                  <a:off x="1740320" y="4094669"/>
                  <a:ext cx="565150" cy="465255"/>
                  <a:chOff x="1736090" y="2873352"/>
                  <a:chExt cx="565150" cy="465255"/>
                </a:xfrm>
              </p:grpSpPr>
              <p:grpSp>
                <p:nvGrpSpPr>
                  <p:cNvPr id="136" name="Group 327"/>
                  <p:cNvGrpSpPr>
                    <a:grpSpLocks/>
                  </p:cNvGrpSpPr>
                  <p:nvPr/>
                </p:nvGrpSpPr>
                <p:grpSpPr bwMode="auto">
                  <a:xfrm>
                    <a:off x="1736090" y="2893762"/>
                    <a:ext cx="565150" cy="292100"/>
                    <a:chOff x="1871277" y="1576300"/>
                    <a:chExt cx="1128371" cy="437861"/>
                  </a:xfrm>
                </p:grpSpPr>
                <p:sp>
                  <p:nvSpPr>
                    <p:cNvPr id="140" name="Oval 238"/>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41" name="Rectangle 239"/>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2" name="Oval 240"/>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43" name="Freeform 241"/>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4" name="Freeform 242"/>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5" name="Freeform 243"/>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46" name="Freeform 244"/>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47" name="Straight Connector 245"/>
                    <p:cNvCxnSpPr>
                      <a:endCxn id="142"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48" name="Straight Connector 246"/>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37" name="Group 235"/>
                  <p:cNvGrpSpPr/>
                  <p:nvPr/>
                </p:nvGrpSpPr>
                <p:grpSpPr>
                  <a:xfrm>
                    <a:off x="1770362" y="2873352"/>
                    <a:ext cx="414737" cy="465255"/>
                    <a:chOff x="667045" y="1708643"/>
                    <a:chExt cx="414737" cy="465255"/>
                  </a:xfrm>
                </p:grpSpPr>
                <p:sp>
                  <p:nvSpPr>
                    <p:cNvPr id="138" name="Oval 236"/>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9" name="TextBox 138"/>
                    <p:cNvSpPr txBox="1"/>
                    <p:nvPr/>
                  </p:nvSpPr>
                  <p:spPr>
                    <a:xfrm>
                      <a:off x="667045" y="1708643"/>
                      <a:ext cx="368235" cy="465255"/>
                    </a:xfrm>
                    <a:prstGeom prst="rect">
                      <a:avLst/>
                    </a:prstGeom>
                    <a:noFill/>
                  </p:spPr>
                  <p:txBody>
                    <a:bodyPr wrap="none" rtlCol="0">
                      <a:spAutoFit/>
                    </a:bodyPr>
                    <a:lstStyle/>
                    <a:p>
                      <a:r>
                        <a:rPr lang="en-US" dirty="0"/>
                        <a:t>2d</a:t>
                      </a:r>
                    </a:p>
                  </p:txBody>
                </p:sp>
              </p:grpSp>
            </p:grpSp>
            <p:grpSp>
              <p:nvGrpSpPr>
                <p:cNvPr id="102" name="Group 200"/>
                <p:cNvGrpSpPr/>
                <p:nvPr/>
              </p:nvGrpSpPr>
              <p:grpSpPr>
                <a:xfrm>
                  <a:off x="2601806" y="3485072"/>
                  <a:ext cx="565150" cy="465255"/>
                  <a:chOff x="1736090" y="2873352"/>
                  <a:chExt cx="565150" cy="465255"/>
                </a:xfrm>
              </p:grpSpPr>
              <p:grpSp>
                <p:nvGrpSpPr>
                  <p:cNvPr id="123" name="Group 327"/>
                  <p:cNvGrpSpPr>
                    <a:grpSpLocks/>
                  </p:cNvGrpSpPr>
                  <p:nvPr/>
                </p:nvGrpSpPr>
                <p:grpSpPr bwMode="auto">
                  <a:xfrm>
                    <a:off x="1736090" y="2893762"/>
                    <a:ext cx="565150" cy="292100"/>
                    <a:chOff x="1871277" y="1576300"/>
                    <a:chExt cx="1128371" cy="437861"/>
                  </a:xfrm>
                </p:grpSpPr>
                <p:sp>
                  <p:nvSpPr>
                    <p:cNvPr id="127" name="Oval 225"/>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28" name="Rectangle 226"/>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9" name="Oval 227"/>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30" name="Freeform 228"/>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1" name="Freeform 229"/>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2" name="Freeform 230"/>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3" name="Freeform 231"/>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34" name="Straight Connector 232"/>
                    <p:cNvCxnSpPr>
                      <a:endCxn id="129"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35" name="Straight Connector 233"/>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24" name="Group 222"/>
                  <p:cNvGrpSpPr/>
                  <p:nvPr/>
                </p:nvGrpSpPr>
                <p:grpSpPr>
                  <a:xfrm>
                    <a:off x="1770362" y="2873352"/>
                    <a:ext cx="414737" cy="465255"/>
                    <a:chOff x="667045" y="1708643"/>
                    <a:chExt cx="414737" cy="465255"/>
                  </a:xfrm>
                </p:grpSpPr>
                <p:sp>
                  <p:nvSpPr>
                    <p:cNvPr id="125" name="Oval 223"/>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6" name="TextBox 125"/>
                    <p:cNvSpPr txBox="1"/>
                    <p:nvPr/>
                  </p:nvSpPr>
                  <p:spPr>
                    <a:xfrm>
                      <a:off x="667045" y="1708643"/>
                      <a:ext cx="344062" cy="465255"/>
                    </a:xfrm>
                    <a:prstGeom prst="rect">
                      <a:avLst/>
                    </a:prstGeom>
                    <a:noFill/>
                  </p:spPr>
                  <p:txBody>
                    <a:bodyPr wrap="none" rtlCol="0">
                      <a:spAutoFit/>
                    </a:bodyPr>
                    <a:lstStyle/>
                    <a:p>
                      <a:r>
                        <a:rPr lang="en-US" dirty="0"/>
                        <a:t>2c</a:t>
                      </a:r>
                    </a:p>
                  </p:txBody>
                </p:sp>
              </p:grpSp>
            </p:grpSp>
            <p:grpSp>
              <p:nvGrpSpPr>
                <p:cNvPr id="103" name="Group 201"/>
                <p:cNvGrpSpPr/>
                <p:nvPr/>
              </p:nvGrpSpPr>
              <p:grpSpPr>
                <a:xfrm>
                  <a:off x="833331" y="3478719"/>
                  <a:ext cx="565150" cy="465255"/>
                  <a:chOff x="1736090" y="2873352"/>
                  <a:chExt cx="565150" cy="465255"/>
                </a:xfrm>
              </p:grpSpPr>
              <p:grpSp>
                <p:nvGrpSpPr>
                  <p:cNvPr id="110" name="Group 327"/>
                  <p:cNvGrpSpPr>
                    <a:grpSpLocks/>
                  </p:cNvGrpSpPr>
                  <p:nvPr/>
                </p:nvGrpSpPr>
                <p:grpSpPr bwMode="auto">
                  <a:xfrm>
                    <a:off x="1736090" y="2893762"/>
                    <a:ext cx="565150" cy="292100"/>
                    <a:chOff x="1871277" y="1576300"/>
                    <a:chExt cx="1128371" cy="437861"/>
                  </a:xfrm>
                </p:grpSpPr>
                <p:sp>
                  <p:nvSpPr>
                    <p:cNvPr id="114" name="Oval 212"/>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15" name="Rectangle 213"/>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6" name="Oval 214"/>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17" name="Freeform 215"/>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8" name="Freeform 216"/>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9" name="Freeform 217"/>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0" name="Freeform 218"/>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21" name="Straight Connector 219"/>
                    <p:cNvCxnSpPr>
                      <a:endCxn id="116"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22" name="Straight Connector 220"/>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11" name="Group 209"/>
                  <p:cNvGrpSpPr/>
                  <p:nvPr/>
                </p:nvGrpSpPr>
                <p:grpSpPr>
                  <a:xfrm>
                    <a:off x="1770362" y="2873352"/>
                    <a:ext cx="414737" cy="465255"/>
                    <a:chOff x="667045" y="1708643"/>
                    <a:chExt cx="414737" cy="465255"/>
                  </a:xfrm>
                </p:grpSpPr>
                <p:sp>
                  <p:nvSpPr>
                    <p:cNvPr id="112" name="Oval 210"/>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3" name="TextBox 112"/>
                    <p:cNvSpPr txBox="1"/>
                    <p:nvPr/>
                  </p:nvSpPr>
                  <p:spPr>
                    <a:xfrm>
                      <a:off x="667045" y="1708643"/>
                      <a:ext cx="353462" cy="465255"/>
                    </a:xfrm>
                    <a:prstGeom prst="rect">
                      <a:avLst/>
                    </a:prstGeom>
                    <a:noFill/>
                  </p:spPr>
                  <p:txBody>
                    <a:bodyPr wrap="none" rtlCol="0">
                      <a:spAutoFit/>
                    </a:bodyPr>
                    <a:lstStyle/>
                    <a:p>
                      <a:r>
                        <a:rPr lang="en-US" dirty="0"/>
                        <a:t>2a</a:t>
                      </a:r>
                    </a:p>
                  </p:txBody>
                </p:sp>
              </p:grpSp>
            </p:grpSp>
            <p:cxnSp>
              <p:nvCxnSpPr>
                <p:cNvPr id="104" name="Straight Connector 202"/>
                <p:cNvCxnSpPr>
                  <a:stCxn id="152" idx="2"/>
                  <a:endCxn id="139" idx="0"/>
                </p:cNvCxnSpPr>
                <p:nvPr/>
              </p:nvCxnSpPr>
              <p:spPr bwMode="auto">
                <a:xfrm>
                  <a:off x="1954480" y="3338607"/>
                  <a:ext cx="4230" cy="756062"/>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5" name="Straight Connector 203"/>
                <p:cNvCxnSpPr/>
                <p:nvPr/>
              </p:nvCxnSpPr>
              <p:spPr bwMode="auto">
                <a:xfrm>
                  <a:off x="1407477" y="3648621"/>
                  <a:ext cx="1204913" cy="6353"/>
                </a:xfrm>
                <a:prstGeom prst="line">
                  <a:avLst/>
                </a:prstGeom>
                <a:solidFill>
                  <a:schemeClr val="accent1"/>
                </a:solidFill>
                <a:ln w="19050" cap="flat" cmpd="sng" algn="ctr">
                  <a:solidFill>
                    <a:srgbClr val="7E0C6E"/>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6" name="Straight Connector 204"/>
                <p:cNvCxnSpPr>
                  <a:stCxn id="153"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7" name="Straight Connector 205"/>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8" name="Straight Connector 206"/>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9" name="Straight Connector 207"/>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9" name="Freeform 2"/>
            <p:cNvSpPr>
              <a:spLocks/>
            </p:cNvSpPr>
            <p:nvPr/>
          </p:nvSpPr>
          <p:spPr bwMode="auto">
            <a:xfrm>
              <a:off x="5507686" y="3798835"/>
              <a:ext cx="2575521"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0" name="Group 133"/>
            <p:cNvGrpSpPr/>
            <p:nvPr/>
          </p:nvGrpSpPr>
          <p:grpSpPr>
            <a:xfrm>
              <a:off x="5731177" y="3934951"/>
              <a:ext cx="2215548" cy="1533766"/>
              <a:chOff x="833331" y="2873352"/>
              <a:chExt cx="2333625" cy="1699930"/>
            </a:xfrm>
          </p:grpSpPr>
          <p:grpSp>
            <p:nvGrpSpPr>
              <p:cNvPr id="36" name="Group 134"/>
              <p:cNvGrpSpPr/>
              <p:nvPr/>
            </p:nvGrpSpPr>
            <p:grpSpPr>
              <a:xfrm>
                <a:off x="1736090" y="2873352"/>
                <a:ext cx="565150" cy="478613"/>
                <a:chOff x="1736090" y="2873352"/>
                <a:chExt cx="565150" cy="478613"/>
              </a:xfrm>
            </p:grpSpPr>
            <p:grpSp>
              <p:nvGrpSpPr>
                <p:cNvPr id="85" name="Group 327"/>
                <p:cNvGrpSpPr>
                  <a:grpSpLocks/>
                </p:cNvGrpSpPr>
                <p:nvPr/>
              </p:nvGrpSpPr>
              <p:grpSpPr bwMode="auto">
                <a:xfrm>
                  <a:off x="1736090" y="2893762"/>
                  <a:ext cx="565150" cy="292100"/>
                  <a:chOff x="1871277" y="1576300"/>
                  <a:chExt cx="1128371" cy="437861"/>
                </a:xfrm>
              </p:grpSpPr>
              <p:sp>
                <p:nvSpPr>
                  <p:cNvPr id="89" name="Oval 187"/>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90" name="Rectangle 188"/>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1" name="Oval 189"/>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92" name="Freeform 190"/>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3" name="Freeform 191"/>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4" name="Freeform 192"/>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5" name="Freeform 193"/>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96" name="Straight Connector 194"/>
                  <p:cNvCxnSpPr>
                    <a:endCxn id="91"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7" name="Straight Connector 195"/>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6" name="Group 184"/>
                <p:cNvGrpSpPr/>
                <p:nvPr/>
              </p:nvGrpSpPr>
              <p:grpSpPr>
                <a:xfrm>
                  <a:off x="1770362" y="2873352"/>
                  <a:ext cx="414737" cy="478613"/>
                  <a:chOff x="667045" y="1708643"/>
                  <a:chExt cx="414737" cy="478613"/>
                </a:xfrm>
              </p:grpSpPr>
              <p:sp>
                <p:nvSpPr>
                  <p:cNvPr id="87" name="Oval 185"/>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8" name="TextBox 87"/>
                  <p:cNvSpPr txBox="1"/>
                  <p:nvPr/>
                </p:nvSpPr>
                <p:spPr>
                  <a:xfrm>
                    <a:off x="667045" y="1708643"/>
                    <a:ext cx="363970" cy="478613"/>
                  </a:xfrm>
                  <a:prstGeom prst="rect">
                    <a:avLst/>
                  </a:prstGeom>
                  <a:noFill/>
                </p:spPr>
                <p:txBody>
                  <a:bodyPr wrap="none" rtlCol="0">
                    <a:spAutoFit/>
                  </a:bodyPr>
                  <a:lstStyle/>
                  <a:p>
                    <a:r>
                      <a:rPr lang="en-US" dirty="0"/>
                      <a:t>3b</a:t>
                    </a:r>
                  </a:p>
                </p:txBody>
              </p:sp>
            </p:grpSp>
          </p:grpSp>
          <p:grpSp>
            <p:nvGrpSpPr>
              <p:cNvPr id="37" name="Group 135"/>
              <p:cNvGrpSpPr/>
              <p:nvPr/>
            </p:nvGrpSpPr>
            <p:grpSpPr>
              <a:xfrm>
                <a:off x="1740320" y="4094669"/>
                <a:ext cx="565150" cy="478613"/>
                <a:chOff x="1736090" y="2873352"/>
                <a:chExt cx="565150" cy="478613"/>
              </a:xfrm>
            </p:grpSpPr>
            <p:grpSp>
              <p:nvGrpSpPr>
                <p:cNvPr id="72" name="Group 327"/>
                <p:cNvGrpSpPr>
                  <a:grpSpLocks/>
                </p:cNvGrpSpPr>
                <p:nvPr/>
              </p:nvGrpSpPr>
              <p:grpSpPr bwMode="auto">
                <a:xfrm>
                  <a:off x="1736090" y="2893762"/>
                  <a:ext cx="565150" cy="292100"/>
                  <a:chOff x="1871277" y="1576300"/>
                  <a:chExt cx="1128371" cy="437861"/>
                </a:xfrm>
              </p:grpSpPr>
              <p:sp>
                <p:nvSpPr>
                  <p:cNvPr id="76" name="Oval 174"/>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77" name="Rectangle 175"/>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78" name="Oval 176"/>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79" name="Freeform 177"/>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0" name="Freeform 178"/>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1" name="Freeform 179"/>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2" name="Freeform 180"/>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83" name="Straight Connector 181"/>
                  <p:cNvCxnSpPr>
                    <a:endCxn id="78"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84" name="Straight Connector 182"/>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73" name="Group 171"/>
                <p:cNvGrpSpPr/>
                <p:nvPr/>
              </p:nvGrpSpPr>
              <p:grpSpPr>
                <a:xfrm>
                  <a:off x="1770362" y="2873352"/>
                  <a:ext cx="414737" cy="478613"/>
                  <a:chOff x="667045" y="1708643"/>
                  <a:chExt cx="414737" cy="478613"/>
                </a:xfrm>
              </p:grpSpPr>
              <p:sp>
                <p:nvSpPr>
                  <p:cNvPr id="74" name="Oval 172"/>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75" name="TextBox 74"/>
                  <p:cNvSpPr txBox="1"/>
                  <p:nvPr/>
                </p:nvSpPr>
                <p:spPr>
                  <a:xfrm>
                    <a:off x="667045" y="1708643"/>
                    <a:ext cx="363970" cy="478613"/>
                  </a:xfrm>
                  <a:prstGeom prst="rect">
                    <a:avLst/>
                  </a:prstGeom>
                  <a:noFill/>
                </p:spPr>
                <p:txBody>
                  <a:bodyPr wrap="none" rtlCol="0">
                    <a:spAutoFit/>
                  </a:bodyPr>
                  <a:lstStyle/>
                  <a:p>
                    <a:r>
                      <a:rPr lang="en-US" dirty="0"/>
                      <a:t>3d</a:t>
                    </a:r>
                  </a:p>
                </p:txBody>
              </p:sp>
            </p:grpSp>
          </p:grpSp>
          <p:grpSp>
            <p:nvGrpSpPr>
              <p:cNvPr id="38" name="Group 136"/>
              <p:cNvGrpSpPr/>
              <p:nvPr/>
            </p:nvGrpSpPr>
            <p:grpSpPr>
              <a:xfrm>
                <a:off x="2601806" y="3485072"/>
                <a:ext cx="565150" cy="478613"/>
                <a:chOff x="1736090" y="2873352"/>
                <a:chExt cx="565150" cy="478613"/>
              </a:xfrm>
            </p:grpSpPr>
            <p:grpSp>
              <p:nvGrpSpPr>
                <p:cNvPr id="59" name="Group 327"/>
                <p:cNvGrpSpPr>
                  <a:grpSpLocks/>
                </p:cNvGrpSpPr>
                <p:nvPr/>
              </p:nvGrpSpPr>
              <p:grpSpPr bwMode="auto">
                <a:xfrm>
                  <a:off x="1736090" y="2893762"/>
                  <a:ext cx="565150" cy="292100"/>
                  <a:chOff x="1871277" y="1576300"/>
                  <a:chExt cx="1128371" cy="437861"/>
                </a:xfrm>
              </p:grpSpPr>
              <p:sp>
                <p:nvSpPr>
                  <p:cNvPr id="63" name="Oval 161"/>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64" name="Rectangle 162"/>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5" name="Oval 163"/>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66" name="Freeform 164"/>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7" name="Freeform 165"/>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8" name="Freeform 166"/>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9" name="Freeform 167"/>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70" name="Straight Connector 168"/>
                  <p:cNvCxnSpPr>
                    <a:endCxn id="65"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71" name="Straight Connector 169"/>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60" name="Group 158"/>
                <p:cNvGrpSpPr/>
                <p:nvPr/>
              </p:nvGrpSpPr>
              <p:grpSpPr>
                <a:xfrm>
                  <a:off x="1770362" y="2873352"/>
                  <a:ext cx="414737" cy="478613"/>
                  <a:chOff x="667045" y="1708643"/>
                  <a:chExt cx="414737" cy="478613"/>
                </a:xfrm>
              </p:grpSpPr>
              <p:sp>
                <p:nvSpPr>
                  <p:cNvPr id="61" name="Oval 159"/>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2" name="TextBox 61"/>
                  <p:cNvSpPr txBox="1"/>
                  <p:nvPr/>
                </p:nvSpPr>
                <p:spPr>
                  <a:xfrm>
                    <a:off x="667045" y="1708643"/>
                    <a:ext cx="340077" cy="478613"/>
                  </a:xfrm>
                  <a:prstGeom prst="rect">
                    <a:avLst/>
                  </a:prstGeom>
                  <a:noFill/>
                </p:spPr>
                <p:txBody>
                  <a:bodyPr wrap="none" rtlCol="0">
                    <a:spAutoFit/>
                  </a:bodyPr>
                  <a:lstStyle/>
                  <a:p>
                    <a:r>
                      <a:rPr lang="en-US" dirty="0"/>
                      <a:t>3c</a:t>
                    </a:r>
                  </a:p>
                </p:txBody>
              </p:sp>
            </p:grpSp>
          </p:grpSp>
          <p:grpSp>
            <p:nvGrpSpPr>
              <p:cNvPr id="39" name="Group 137"/>
              <p:cNvGrpSpPr/>
              <p:nvPr/>
            </p:nvGrpSpPr>
            <p:grpSpPr>
              <a:xfrm>
                <a:off x="833331" y="3478719"/>
                <a:ext cx="565150" cy="478613"/>
                <a:chOff x="1736090" y="2873352"/>
                <a:chExt cx="565150" cy="478613"/>
              </a:xfrm>
            </p:grpSpPr>
            <p:grpSp>
              <p:nvGrpSpPr>
                <p:cNvPr id="46" name="Group 327"/>
                <p:cNvGrpSpPr>
                  <a:grpSpLocks/>
                </p:cNvGrpSpPr>
                <p:nvPr/>
              </p:nvGrpSpPr>
              <p:grpSpPr bwMode="auto">
                <a:xfrm>
                  <a:off x="1736090" y="2893762"/>
                  <a:ext cx="565150" cy="292100"/>
                  <a:chOff x="1871277" y="1576300"/>
                  <a:chExt cx="1128371" cy="437861"/>
                </a:xfrm>
              </p:grpSpPr>
              <p:sp>
                <p:nvSpPr>
                  <p:cNvPr id="50" name="Oval 148"/>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51" name="Rectangle 149"/>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2" name="Oval 150"/>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53" name="Freeform 151"/>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4" name="Freeform 152"/>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5" name="Freeform 153"/>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6" name="Freeform 154"/>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57" name="Straight Connector 155"/>
                  <p:cNvCxnSpPr>
                    <a:endCxn id="52"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8" name="Straight Connector 156"/>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47" name="Group 145"/>
                <p:cNvGrpSpPr/>
                <p:nvPr/>
              </p:nvGrpSpPr>
              <p:grpSpPr>
                <a:xfrm>
                  <a:off x="1770362" y="2873352"/>
                  <a:ext cx="414737" cy="478613"/>
                  <a:chOff x="667045" y="1708643"/>
                  <a:chExt cx="414737" cy="478613"/>
                </a:xfrm>
              </p:grpSpPr>
              <p:sp>
                <p:nvSpPr>
                  <p:cNvPr id="48" name="Oval 146"/>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9" name="TextBox 48"/>
                  <p:cNvSpPr txBox="1"/>
                  <p:nvPr/>
                </p:nvSpPr>
                <p:spPr>
                  <a:xfrm>
                    <a:off x="667045" y="1708643"/>
                    <a:ext cx="349368" cy="478613"/>
                  </a:xfrm>
                  <a:prstGeom prst="rect">
                    <a:avLst/>
                  </a:prstGeom>
                  <a:noFill/>
                </p:spPr>
                <p:txBody>
                  <a:bodyPr wrap="none" rtlCol="0">
                    <a:spAutoFit/>
                  </a:bodyPr>
                  <a:lstStyle/>
                  <a:p>
                    <a:r>
                      <a:rPr lang="en-US" dirty="0"/>
                      <a:t>3a</a:t>
                    </a:r>
                  </a:p>
                </p:txBody>
              </p:sp>
            </p:grpSp>
          </p:grpSp>
          <p:cxnSp>
            <p:nvCxnSpPr>
              <p:cNvPr id="40" name="Straight Connector 138"/>
              <p:cNvCxnSpPr>
                <a:stCxn id="88" idx="2"/>
                <a:endCxn id="75" idx="0"/>
              </p:cNvCxnSpPr>
              <p:nvPr/>
            </p:nvCxnSpPr>
            <p:spPr bwMode="auto">
              <a:xfrm>
                <a:off x="1952347" y="3351965"/>
                <a:ext cx="4230" cy="742704"/>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Straight Connector 139"/>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2" name="Straight Connector 140"/>
              <p:cNvCxnSpPr>
                <a:stCxn id="89"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Straight Connector 141"/>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Straight Connector 142"/>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Straight Connector 143"/>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1" name="Straight Connector 127"/>
            <p:cNvCxnSpPr/>
            <p:nvPr/>
          </p:nvCxnSpPr>
          <p:spPr bwMode="auto">
            <a:xfrm flipH="1" flipV="1">
              <a:off x="3046706" y="4828455"/>
              <a:ext cx="480877" cy="744090"/>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Straight Connector 128"/>
            <p:cNvCxnSpPr/>
            <p:nvPr/>
          </p:nvCxnSpPr>
          <p:spPr bwMode="auto">
            <a:xfrm flipV="1">
              <a:off x="5523188" y="4769573"/>
              <a:ext cx="337735" cy="823128"/>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Box 12"/>
            <p:cNvSpPr txBox="1"/>
            <p:nvPr/>
          </p:nvSpPr>
          <p:spPr>
            <a:xfrm>
              <a:off x="3493291" y="4926777"/>
              <a:ext cx="538367" cy="467816"/>
            </a:xfrm>
            <a:prstGeom prst="rect">
              <a:avLst/>
            </a:prstGeom>
            <a:noFill/>
          </p:spPr>
          <p:txBody>
            <a:bodyPr wrap="none" rtlCol="0">
              <a:spAutoFit/>
            </a:bodyPr>
            <a:lstStyle/>
            <a:p>
              <a:r>
                <a:rPr lang="en-US" sz="2000" dirty="0"/>
                <a:t>AS 2</a:t>
              </a:r>
            </a:p>
          </p:txBody>
        </p:sp>
        <p:sp>
          <p:nvSpPr>
            <p:cNvPr id="14" name="TextBox 13"/>
            <p:cNvSpPr txBox="1"/>
            <p:nvPr/>
          </p:nvSpPr>
          <p:spPr>
            <a:xfrm>
              <a:off x="5543950" y="3840074"/>
              <a:ext cx="538367" cy="467816"/>
            </a:xfrm>
            <a:prstGeom prst="rect">
              <a:avLst/>
            </a:prstGeom>
            <a:noFill/>
          </p:spPr>
          <p:txBody>
            <a:bodyPr wrap="none" rtlCol="0">
              <a:spAutoFit/>
            </a:bodyPr>
            <a:lstStyle/>
            <a:p>
              <a:r>
                <a:rPr lang="en-US" sz="2000" dirty="0"/>
                <a:t>AS 3</a:t>
              </a:r>
            </a:p>
          </p:txBody>
        </p:sp>
        <p:sp>
          <p:nvSpPr>
            <p:cNvPr id="15" name="TextBox 14"/>
            <p:cNvSpPr txBox="1"/>
            <p:nvPr/>
          </p:nvSpPr>
          <p:spPr>
            <a:xfrm>
              <a:off x="629020" y="4050751"/>
              <a:ext cx="538367" cy="467816"/>
            </a:xfrm>
            <a:prstGeom prst="rect">
              <a:avLst/>
            </a:prstGeom>
            <a:noFill/>
          </p:spPr>
          <p:txBody>
            <a:bodyPr wrap="none" rtlCol="0">
              <a:spAutoFit/>
            </a:bodyPr>
            <a:lstStyle/>
            <a:p>
              <a:r>
                <a:rPr lang="en-US" sz="2000" dirty="0"/>
                <a:t>AS 1</a:t>
              </a:r>
            </a:p>
          </p:txBody>
        </p:sp>
        <p:grpSp>
          <p:nvGrpSpPr>
            <p:cNvPr id="16" name="Group 10"/>
            <p:cNvGrpSpPr/>
            <p:nvPr/>
          </p:nvGrpSpPr>
          <p:grpSpPr>
            <a:xfrm>
              <a:off x="7070827" y="4901682"/>
              <a:ext cx="1701734" cy="616172"/>
              <a:chOff x="7073692" y="5469792"/>
              <a:chExt cx="1701734" cy="616172"/>
            </a:xfrm>
          </p:grpSpPr>
          <p:grpSp>
            <p:nvGrpSpPr>
              <p:cNvPr id="20" name="Group 9"/>
              <p:cNvGrpSpPr/>
              <p:nvPr/>
            </p:nvGrpSpPr>
            <p:grpSpPr>
              <a:xfrm>
                <a:off x="7073692" y="5469792"/>
                <a:ext cx="1701734" cy="616172"/>
                <a:chOff x="6946249" y="5096269"/>
                <a:chExt cx="1701734" cy="616172"/>
              </a:xfrm>
            </p:grpSpPr>
            <p:sp>
              <p:nvSpPr>
                <p:cNvPr id="22" name="Freeform 2"/>
                <p:cNvSpPr>
                  <a:spLocks/>
                </p:cNvSpPr>
                <p:nvPr/>
              </p:nvSpPr>
              <p:spPr bwMode="auto">
                <a:xfrm>
                  <a:off x="6946249" y="5096269"/>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23" name="Group 327"/>
                <p:cNvGrpSpPr>
                  <a:grpSpLocks/>
                </p:cNvGrpSpPr>
                <p:nvPr/>
              </p:nvGrpSpPr>
              <p:grpSpPr bwMode="auto">
                <a:xfrm>
                  <a:off x="7908175" y="5241780"/>
                  <a:ext cx="536554" cy="263548"/>
                  <a:chOff x="1871277" y="1576300"/>
                  <a:chExt cx="1128371" cy="437861"/>
                </a:xfrm>
              </p:grpSpPr>
              <p:sp>
                <p:nvSpPr>
                  <p:cNvPr id="27" name="Oval 373"/>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8" name="Rectangle 374"/>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9" name="Oval 375"/>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30" name="Freeform 376"/>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1" name="Freeform 377"/>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2" name="Freeform 378"/>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3" name="Freeform 379"/>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34" name="Straight Connector 380"/>
                  <p:cNvCxnSpPr>
                    <a:endCxn id="29"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5" name="Straight Connector 381"/>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24" name="Group 370"/>
                <p:cNvGrpSpPr/>
                <p:nvPr/>
              </p:nvGrpSpPr>
              <p:grpSpPr>
                <a:xfrm>
                  <a:off x="7935991" y="5223364"/>
                  <a:ext cx="398474" cy="431829"/>
                  <a:chOff x="662071" y="1708643"/>
                  <a:chExt cx="419711" cy="478612"/>
                </a:xfrm>
              </p:grpSpPr>
              <p:sp>
                <p:nvSpPr>
                  <p:cNvPr id="25" name="Oval 371"/>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6" name="TextBox 25"/>
                  <p:cNvSpPr txBox="1"/>
                  <p:nvPr/>
                </p:nvSpPr>
                <p:spPr>
                  <a:xfrm>
                    <a:off x="662071" y="1708643"/>
                    <a:ext cx="366625" cy="478612"/>
                  </a:xfrm>
                  <a:prstGeom prst="rect">
                    <a:avLst/>
                  </a:prstGeom>
                  <a:noFill/>
                </p:spPr>
                <p:txBody>
                  <a:bodyPr wrap="none" rtlCol="0">
                    <a:spAutoFit/>
                  </a:bodyPr>
                  <a:lstStyle/>
                  <a:p>
                    <a:pPr algn="ctr"/>
                    <a:r>
                      <a:rPr lang="en-US" dirty="0"/>
                      <a:t>  X</a:t>
                    </a:r>
                  </a:p>
                </p:txBody>
              </p:sp>
            </p:grpSp>
          </p:grpSp>
          <p:cxnSp>
            <p:nvCxnSpPr>
              <p:cNvPr id="21" name="Straight Connector 401"/>
              <p:cNvCxnSpPr/>
              <p:nvPr/>
            </p:nvCxnSpPr>
            <p:spPr bwMode="auto">
              <a:xfrm flipH="1">
                <a:off x="7133690" y="5764030"/>
                <a:ext cx="870024" cy="9999"/>
              </a:xfrm>
              <a:prstGeom prst="line">
                <a:avLst/>
              </a:prstGeom>
              <a:solidFill>
                <a:schemeClr val="accent1"/>
              </a:solidFill>
              <a:ln w="19050" cap="flat" cmpd="sng" algn="ctr">
                <a:solidFill>
                  <a:srgbClr val="00B05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17" name="Group 117"/>
            <p:cNvGrpSpPr>
              <a:grpSpLocks/>
            </p:cNvGrpSpPr>
            <p:nvPr/>
          </p:nvGrpSpPr>
          <p:grpSpPr bwMode="auto">
            <a:xfrm>
              <a:off x="5713440" y="4867676"/>
              <a:ext cx="2590803" cy="1196975"/>
              <a:chOff x="2244" y="2236"/>
              <a:chExt cx="1632" cy="754"/>
            </a:xfrm>
          </p:grpSpPr>
          <p:sp>
            <p:nvSpPr>
              <p:cNvPr id="18" name="AutoShape 118"/>
              <p:cNvSpPr>
                <a:spLocks noChangeArrowheads="1"/>
              </p:cNvSpPr>
              <p:nvPr/>
            </p:nvSpPr>
            <p:spPr bwMode="auto">
              <a:xfrm rot="17597965">
                <a:off x="2089" y="2391"/>
                <a:ext cx="484" cy="174"/>
              </a:xfrm>
              <a:prstGeom prst="leftArrow">
                <a:avLst>
                  <a:gd name="adj1" fmla="val 50000"/>
                  <a:gd name="adj2" fmla="val 69540"/>
                </a:avLst>
              </a:prstGeom>
              <a:gradFill rotWithShape="1">
                <a:gsLst>
                  <a:gs pos="0">
                    <a:srgbClr val="FF0000"/>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19" name="Text Box 119"/>
              <p:cNvSpPr txBox="1">
                <a:spLocks noChangeArrowheads="1"/>
              </p:cNvSpPr>
              <p:nvPr/>
            </p:nvSpPr>
            <p:spPr bwMode="auto">
              <a:xfrm>
                <a:off x="2325" y="2614"/>
                <a:ext cx="155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85000"/>
                  </a:lnSpc>
                </a:pPr>
                <a:r>
                  <a:rPr lang="en-US" sz="1600" i="1" dirty="0">
                    <a:solidFill>
                      <a:srgbClr val="CC0000"/>
                    </a:solidFill>
                  </a:rPr>
                  <a:t>BGP</a:t>
                </a:r>
                <a:r>
                  <a:rPr lang="zh-CN" altLang="en-US" sz="1600" i="1" dirty="0">
                    <a:solidFill>
                      <a:srgbClr val="CC0000"/>
                    </a:solidFill>
                  </a:rPr>
                  <a:t>通告</a:t>
                </a:r>
                <a:r>
                  <a:rPr lang="en-US" sz="1600" i="1" dirty="0">
                    <a:solidFill>
                      <a:srgbClr val="CC0000"/>
                    </a:solidFill>
                  </a:rPr>
                  <a:t>:</a:t>
                </a:r>
              </a:p>
              <a:p>
                <a:pPr>
                  <a:lnSpc>
                    <a:spcPct val="85000"/>
                  </a:lnSpc>
                </a:pPr>
                <a:r>
                  <a:rPr lang="en-US" sz="1600" i="1" dirty="0">
                    <a:solidFill>
                      <a:srgbClr val="CC0000"/>
                    </a:solidFill>
                  </a:rPr>
                  <a:t>AS3, X</a:t>
                </a:r>
              </a:p>
            </p:txBody>
          </p:sp>
        </p:grpSp>
      </p:grpSp>
      <p:sp>
        <p:nvSpPr>
          <p:cNvPr id="3" name="日期占位符 2"/>
          <p:cNvSpPr>
            <a:spLocks noGrp="1"/>
          </p:cNvSpPr>
          <p:nvPr>
            <p:ph type="dt" sz="half" idx="10"/>
          </p:nvPr>
        </p:nvSpPr>
        <p:spPr>
          <a:xfrm>
            <a:off x="197334" y="6489303"/>
            <a:ext cx="2878197" cy="365125"/>
          </a:xfrm>
        </p:spPr>
        <p:txBody>
          <a:bodyPr/>
          <a:lstStyle/>
          <a:p>
            <a:r>
              <a:rPr kumimoji="1" lang="en-US" altLang="zh-CN" dirty="0">
                <a:latin typeface="DengXian" panose="02010600030101010101" pitchFamily="2" charset="-122"/>
                <a:ea typeface="DengXian" panose="02010600030101010101" pitchFamily="2" charset="-122"/>
              </a:rPr>
              <a:t>5.4.3 BGP-</a:t>
            </a:r>
            <a:r>
              <a:rPr kumimoji="1" lang="zh-CN" altLang="en-US" dirty="0">
                <a:latin typeface="DengXian" panose="02010600030101010101" pitchFamily="2" charset="-122"/>
                <a:ea typeface="DengXian" panose="02010600030101010101" pitchFamily="2" charset="-122"/>
              </a:rPr>
              <a:t>外部网关路由协议</a:t>
            </a:r>
          </a:p>
        </p:txBody>
      </p:sp>
    </p:spTree>
    <p:extLst>
      <p:ext uri="{BB962C8B-B14F-4D97-AF65-F5344CB8AC3E}">
        <p14:creationId xmlns:p14="http://schemas.microsoft.com/office/powerpoint/2010/main" val="353233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等线" panose="02010600030101010101" pitchFamily="2" charset="-122"/>
                <a:ea typeface="等线" panose="02010600030101010101" pitchFamily="2" charset="-122"/>
                <a:cs typeface="Times New Roman" panose="02020603050405020304" pitchFamily="18" charset="0"/>
              </a:rPr>
              <a:t>BGP</a:t>
            </a:r>
            <a:r>
              <a:rPr lang="zh-CN" altLang="en-US" dirty="0">
                <a:latin typeface="等线" panose="02010600030101010101" pitchFamily="2" charset="-122"/>
                <a:ea typeface="等线" panose="02010600030101010101" pitchFamily="2" charset="-122"/>
                <a:cs typeface="Times New Roman" panose="02020603050405020304" pitchFamily="18" charset="0"/>
              </a:rPr>
              <a:t>路径通告</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94</a:t>
            </a:fld>
            <a:endParaRPr kumimoji="1" lang="zh-CN" altLang="en-US" dirty="0"/>
          </a:p>
        </p:txBody>
      </p:sp>
      <p:grpSp>
        <p:nvGrpSpPr>
          <p:cNvPr id="5" name="Group 124">
            <a:extLst>
              <a:ext uri="{FF2B5EF4-FFF2-40B4-BE49-F238E27FC236}">
                <a16:creationId xmlns:a16="http://schemas.microsoft.com/office/drawing/2014/main" id="{8E243271-FCAD-4A06-A095-215FCD89DF10}"/>
              </a:ext>
            </a:extLst>
          </p:cNvPr>
          <p:cNvGrpSpPr/>
          <p:nvPr/>
        </p:nvGrpSpPr>
        <p:grpSpPr>
          <a:xfrm>
            <a:off x="833183" y="1451515"/>
            <a:ext cx="3409781" cy="1719017"/>
            <a:chOff x="-2170772" y="2784954"/>
            <a:chExt cx="2712783" cy="1853712"/>
          </a:xfrm>
        </p:grpSpPr>
        <p:sp>
          <p:nvSpPr>
            <p:cNvPr id="6" name="Freeform 2">
              <a:extLst>
                <a:ext uri="{FF2B5EF4-FFF2-40B4-BE49-F238E27FC236}">
                  <a16:creationId xmlns:a16="http://schemas.microsoft.com/office/drawing/2014/main" id="{3D1AD124-A1DE-4699-8C4B-AFCCF34CCA49}"/>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 name="Group 261">
              <a:extLst>
                <a:ext uri="{FF2B5EF4-FFF2-40B4-BE49-F238E27FC236}">
                  <a16:creationId xmlns:a16="http://schemas.microsoft.com/office/drawing/2014/main" id="{7A1FA48E-BB7C-4A82-A1B6-C59B7F2B0C4F}"/>
                </a:ext>
              </a:extLst>
            </p:cNvPr>
            <p:cNvGrpSpPr/>
            <p:nvPr/>
          </p:nvGrpSpPr>
          <p:grpSpPr>
            <a:xfrm>
              <a:off x="-1935370" y="2935816"/>
              <a:ext cx="2333625" cy="1619588"/>
              <a:chOff x="833331" y="2873352"/>
              <a:chExt cx="2333625" cy="1619588"/>
            </a:xfrm>
          </p:grpSpPr>
          <p:grpSp>
            <p:nvGrpSpPr>
              <p:cNvPr id="8" name="Group 262">
                <a:extLst>
                  <a:ext uri="{FF2B5EF4-FFF2-40B4-BE49-F238E27FC236}">
                    <a16:creationId xmlns:a16="http://schemas.microsoft.com/office/drawing/2014/main" id="{3E9CCDE4-B2FD-4D8C-B69B-2D6174866AF2}"/>
                  </a:ext>
                </a:extLst>
              </p:cNvPr>
              <p:cNvGrpSpPr/>
              <p:nvPr/>
            </p:nvGrpSpPr>
            <p:grpSpPr>
              <a:xfrm>
                <a:off x="1736090" y="2873352"/>
                <a:ext cx="565150" cy="398271"/>
                <a:chOff x="1736090" y="2873352"/>
                <a:chExt cx="565150" cy="398271"/>
              </a:xfrm>
            </p:grpSpPr>
            <p:grpSp>
              <p:nvGrpSpPr>
                <p:cNvPr id="57" name="Group 327">
                  <a:extLst>
                    <a:ext uri="{FF2B5EF4-FFF2-40B4-BE49-F238E27FC236}">
                      <a16:creationId xmlns:a16="http://schemas.microsoft.com/office/drawing/2014/main" id="{D5D9DC54-F1D8-4B39-B710-C61B7A9B9B8F}"/>
                    </a:ext>
                  </a:extLst>
                </p:cNvPr>
                <p:cNvGrpSpPr>
                  <a:grpSpLocks/>
                </p:cNvGrpSpPr>
                <p:nvPr/>
              </p:nvGrpSpPr>
              <p:grpSpPr bwMode="auto">
                <a:xfrm>
                  <a:off x="1736090" y="2893762"/>
                  <a:ext cx="565150" cy="292100"/>
                  <a:chOff x="1871277" y="1576300"/>
                  <a:chExt cx="1128371" cy="437861"/>
                </a:xfrm>
              </p:grpSpPr>
              <p:sp>
                <p:nvSpPr>
                  <p:cNvPr id="61" name="Oval 315">
                    <a:extLst>
                      <a:ext uri="{FF2B5EF4-FFF2-40B4-BE49-F238E27FC236}">
                        <a16:creationId xmlns:a16="http://schemas.microsoft.com/office/drawing/2014/main" id="{635F822A-97F8-4171-B458-902782D830D3}"/>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62" name="Rectangle 316">
                    <a:extLst>
                      <a:ext uri="{FF2B5EF4-FFF2-40B4-BE49-F238E27FC236}">
                        <a16:creationId xmlns:a16="http://schemas.microsoft.com/office/drawing/2014/main" id="{22FE2C29-63F4-4F1E-904E-A8CCCC2E6419}"/>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3" name="Oval 317">
                    <a:extLst>
                      <a:ext uri="{FF2B5EF4-FFF2-40B4-BE49-F238E27FC236}">
                        <a16:creationId xmlns:a16="http://schemas.microsoft.com/office/drawing/2014/main" id="{58FB9D14-2B53-44C9-8789-E5E87A07DB0E}"/>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64" name="Freeform 318">
                    <a:extLst>
                      <a:ext uri="{FF2B5EF4-FFF2-40B4-BE49-F238E27FC236}">
                        <a16:creationId xmlns:a16="http://schemas.microsoft.com/office/drawing/2014/main" id="{032EFED9-1A87-4F91-A157-30EAEA0F78B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5" name="Freeform 319">
                    <a:extLst>
                      <a:ext uri="{FF2B5EF4-FFF2-40B4-BE49-F238E27FC236}">
                        <a16:creationId xmlns:a16="http://schemas.microsoft.com/office/drawing/2014/main" id="{1C60E8E8-358F-489B-96F9-58925A2B8BF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6" name="Freeform 320">
                    <a:extLst>
                      <a:ext uri="{FF2B5EF4-FFF2-40B4-BE49-F238E27FC236}">
                        <a16:creationId xmlns:a16="http://schemas.microsoft.com/office/drawing/2014/main" id="{614F92EA-5F9F-4D01-96A8-79AB32A0976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7" name="Freeform 321">
                    <a:extLst>
                      <a:ext uri="{FF2B5EF4-FFF2-40B4-BE49-F238E27FC236}">
                        <a16:creationId xmlns:a16="http://schemas.microsoft.com/office/drawing/2014/main" id="{E23062E0-EB90-4FBD-A4CA-B168E36250A5}"/>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68" name="Straight Connector 322">
                    <a:extLst>
                      <a:ext uri="{FF2B5EF4-FFF2-40B4-BE49-F238E27FC236}">
                        <a16:creationId xmlns:a16="http://schemas.microsoft.com/office/drawing/2014/main" id="{CCE02CE0-6C42-4650-B964-BCDEE063B6A8}"/>
                      </a:ext>
                    </a:extLst>
                  </p:cNvPr>
                  <p:cNvCxnSpPr>
                    <a:endCxn id="63"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69" name="Straight Connector 323">
                    <a:extLst>
                      <a:ext uri="{FF2B5EF4-FFF2-40B4-BE49-F238E27FC236}">
                        <a16:creationId xmlns:a16="http://schemas.microsoft.com/office/drawing/2014/main" id="{C93379E0-59DA-4C9B-AE05-525251D14B2B}"/>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58" name="Group 312">
                  <a:extLst>
                    <a:ext uri="{FF2B5EF4-FFF2-40B4-BE49-F238E27FC236}">
                      <a16:creationId xmlns:a16="http://schemas.microsoft.com/office/drawing/2014/main" id="{D718B12A-F749-4A85-99ED-DE5C44CCBFEB}"/>
                    </a:ext>
                  </a:extLst>
                </p:cNvPr>
                <p:cNvGrpSpPr/>
                <p:nvPr/>
              </p:nvGrpSpPr>
              <p:grpSpPr>
                <a:xfrm>
                  <a:off x="1770362" y="2873352"/>
                  <a:ext cx="414737" cy="398271"/>
                  <a:chOff x="667045" y="1708643"/>
                  <a:chExt cx="414737" cy="398271"/>
                </a:xfrm>
              </p:grpSpPr>
              <p:sp>
                <p:nvSpPr>
                  <p:cNvPr id="59" name="Oval 313">
                    <a:extLst>
                      <a:ext uri="{FF2B5EF4-FFF2-40B4-BE49-F238E27FC236}">
                        <a16:creationId xmlns:a16="http://schemas.microsoft.com/office/drawing/2014/main" id="{66C5C0D8-2419-487D-A5E5-93BC3CDC8882}"/>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0" name="TextBox 314">
                    <a:extLst>
                      <a:ext uri="{FF2B5EF4-FFF2-40B4-BE49-F238E27FC236}">
                        <a16:creationId xmlns:a16="http://schemas.microsoft.com/office/drawing/2014/main" id="{14344A99-C5D9-4E6A-BB9C-EB51AF9180BA}"/>
                      </a:ext>
                    </a:extLst>
                  </p:cNvPr>
                  <p:cNvSpPr txBox="1"/>
                  <p:nvPr/>
                </p:nvSpPr>
                <p:spPr>
                  <a:xfrm>
                    <a:off x="667045" y="1708643"/>
                    <a:ext cx="349696" cy="398271"/>
                  </a:xfrm>
                  <a:prstGeom prst="rect">
                    <a:avLst/>
                  </a:prstGeom>
                  <a:noFill/>
                </p:spPr>
                <p:txBody>
                  <a:bodyPr wrap="none" rtlCol="0">
                    <a:spAutoFit/>
                  </a:bodyPr>
                  <a:lstStyle/>
                  <a:p>
                    <a:r>
                      <a:rPr lang="en-US" dirty="0"/>
                      <a:t>1b</a:t>
                    </a:r>
                  </a:p>
                </p:txBody>
              </p:sp>
            </p:grpSp>
          </p:grpSp>
          <p:grpSp>
            <p:nvGrpSpPr>
              <p:cNvPr id="9" name="Group 263">
                <a:extLst>
                  <a:ext uri="{FF2B5EF4-FFF2-40B4-BE49-F238E27FC236}">
                    <a16:creationId xmlns:a16="http://schemas.microsoft.com/office/drawing/2014/main" id="{0D7D0D45-C8F0-4C9A-94DF-9DB4C1246096}"/>
                  </a:ext>
                </a:extLst>
              </p:cNvPr>
              <p:cNvGrpSpPr/>
              <p:nvPr/>
            </p:nvGrpSpPr>
            <p:grpSpPr>
              <a:xfrm>
                <a:off x="1740320" y="4094669"/>
                <a:ext cx="565150" cy="398271"/>
                <a:chOff x="1736090" y="2873352"/>
                <a:chExt cx="565150" cy="398271"/>
              </a:xfrm>
            </p:grpSpPr>
            <p:grpSp>
              <p:nvGrpSpPr>
                <p:cNvPr id="44" name="Group 327">
                  <a:extLst>
                    <a:ext uri="{FF2B5EF4-FFF2-40B4-BE49-F238E27FC236}">
                      <a16:creationId xmlns:a16="http://schemas.microsoft.com/office/drawing/2014/main" id="{EDC4B541-73F4-402C-8AE7-F03BBE2C2031}"/>
                    </a:ext>
                  </a:extLst>
                </p:cNvPr>
                <p:cNvGrpSpPr>
                  <a:grpSpLocks/>
                </p:cNvGrpSpPr>
                <p:nvPr/>
              </p:nvGrpSpPr>
              <p:grpSpPr bwMode="auto">
                <a:xfrm>
                  <a:off x="1736090" y="2893762"/>
                  <a:ext cx="565150" cy="292100"/>
                  <a:chOff x="1871277" y="1576300"/>
                  <a:chExt cx="1128371" cy="437861"/>
                </a:xfrm>
              </p:grpSpPr>
              <p:sp>
                <p:nvSpPr>
                  <p:cNvPr id="48" name="Oval 302">
                    <a:extLst>
                      <a:ext uri="{FF2B5EF4-FFF2-40B4-BE49-F238E27FC236}">
                        <a16:creationId xmlns:a16="http://schemas.microsoft.com/office/drawing/2014/main" id="{6575C45E-CE84-4A85-9CD6-E5B9EA8624B3}"/>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49" name="Rectangle 303">
                    <a:extLst>
                      <a:ext uri="{FF2B5EF4-FFF2-40B4-BE49-F238E27FC236}">
                        <a16:creationId xmlns:a16="http://schemas.microsoft.com/office/drawing/2014/main" id="{0F6881C9-32B0-454E-96EC-1FFDCF82E6B3}"/>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0" name="Oval 304">
                    <a:extLst>
                      <a:ext uri="{FF2B5EF4-FFF2-40B4-BE49-F238E27FC236}">
                        <a16:creationId xmlns:a16="http://schemas.microsoft.com/office/drawing/2014/main" id="{EF7E02AF-4266-46A8-A2D3-E9ECB6F8218A}"/>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51" name="Freeform 305">
                    <a:extLst>
                      <a:ext uri="{FF2B5EF4-FFF2-40B4-BE49-F238E27FC236}">
                        <a16:creationId xmlns:a16="http://schemas.microsoft.com/office/drawing/2014/main" id="{1DF365C1-1197-4A62-9317-851E93B4C2C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2" name="Freeform 306">
                    <a:extLst>
                      <a:ext uri="{FF2B5EF4-FFF2-40B4-BE49-F238E27FC236}">
                        <a16:creationId xmlns:a16="http://schemas.microsoft.com/office/drawing/2014/main" id="{F614E0D3-98BE-4358-BA67-1D55AA93F960}"/>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3" name="Freeform 307">
                    <a:extLst>
                      <a:ext uri="{FF2B5EF4-FFF2-40B4-BE49-F238E27FC236}">
                        <a16:creationId xmlns:a16="http://schemas.microsoft.com/office/drawing/2014/main" id="{92207DF6-8CFA-41D5-91A4-3F80F9DAE5A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4" name="Freeform 308">
                    <a:extLst>
                      <a:ext uri="{FF2B5EF4-FFF2-40B4-BE49-F238E27FC236}">
                        <a16:creationId xmlns:a16="http://schemas.microsoft.com/office/drawing/2014/main" id="{75403068-9DF0-496F-B78B-41FF69F5256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55" name="Straight Connector 309">
                    <a:extLst>
                      <a:ext uri="{FF2B5EF4-FFF2-40B4-BE49-F238E27FC236}">
                        <a16:creationId xmlns:a16="http://schemas.microsoft.com/office/drawing/2014/main" id="{F3FFCD59-CF14-495E-B15E-3EC934A56072}"/>
                      </a:ext>
                    </a:extLst>
                  </p:cNvPr>
                  <p:cNvCxnSpPr>
                    <a:endCxn id="50"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6" name="Straight Connector 310">
                    <a:extLst>
                      <a:ext uri="{FF2B5EF4-FFF2-40B4-BE49-F238E27FC236}">
                        <a16:creationId xmlns:a16="http://schemas.microsoft.com/office/drawing/2014/main" id="{BDEC469E-B3A5-441A-8407-4270DE7A44D6}"/>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45" name="Group 299">
                  <a:extLst>
                    <a:ext uri="{FF2B5EF4-FFF2-40B4-BE49-F238E27FC236}">
                      <a16:creationId xmlns:a16="http://schemas.microsoft.com/office/drawing/2014/main" id="{E5223405-5D5F-4C6E-A410-91817390B6B0}"/>
                    </a:ext>
                  </a:extLst>
                </p:cNvPr>
                <p:cNvGrpSpPr/>
                <p:nvPr/>
              </p:nvGrpSpPr>
              <p:grpSpPr>
                <a:xfrm>
                  <a:off x="1770362" y="2873352"/>
                  <a:ext cx="414737" cy="398271"/>
                  <a:chOff x="667045" y="1708643"/>
                  <a:chExt cx="414737" cy="398271"/>
                </a:xfrm>
              </p:grpSpPr>
              <p:sp>
                <p:nvSpPr>
                  <p:cNvPr id="46" name="Oval 300">
                    <a:extLst>
                      <a:ext uri="{FF2B5EF4-FFF2-40B4-BE49-F238E27FC236}">
                        <a16:creationId xmlns:a16="http://schemas.microsoft.com/office/drawing/2014/main" id="{97B069AC-07ED-4251-A846-FC160586A477}"/>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TextBox 301">
                    <a:extLst>
                      <a:ext uri="{FF2B5EF4-FFF2-40B4-BE49-F238E27FC236}">
                        <a16:creationId xmlns:a16="http://schemas.microsoft.com/office/drawing/2014/main" id="{6093F40C-81EA-4D6B-B174-55E935D6BB79}"/>
                      </a:ext>
                    </a:extLst>
                  </p:cNvPr>
                  <p:cNvSpPr txBox="1"/>
                  <p:nvPr/>
                </p:nvSpPr>
                <p:spPr>
                  <a:xfrm>
                    <a:off x="667045" y="1708643"/>
                    <a:ext cx="349696" cy="398271"/>
                  </a:xfrm>
                  <a:prstGeom prst="rect">
                    <a:avLst/>
                  </a:prstGeom>
                  <a:noFill/>
                </p:spPr>
                <p:txBody>
                  <a:bodyPr wrap="none" rtlCol="0">
                    <a:spAutoFit/>
                  </a:bodyPr>
                  <a:lstStyle/>
                  <a:p>
                    <a:r>
                      <a:rPr lang="en-US" dirty="0"/>
                      <a:t>1d</a:t>
                    </a:r>
                  </a:p>
                </p:txBody>
              </p:sp>
            </p:grpSp>
          </p:grpSp>
          <p:grpSp>
            <p:nvGrpSpPr>
              <p:cNvPr id="10" name="Group 264">
                <a:extLst>
                  <a:ext uri="{FF2B5EF4-FFF2-40B4-BE49-F238E27FC236}">
                    <a16:creationId xmlns:a16="http://schemas.microsoft.com/office/drawing/2014/main" id="{B695FCC5-E95A-474C-91F2-6CA69137EF85}"/>
                  </a:ext>
                </a:extLst>
              </p:cNvPr>
              <p:cNvGrpSpPr/>
              <p:nvPr/>
            </p:nvGrpSpPr>
            <p:grpSpPr>
              <a:xfrm>
                <a:off x="2601806" y="3485072"/>
                <a:ext cx="565150" cy="398272"/>
                <a:chOff x="1736090" y="2873352"/>
                <a:chExt cx="565150" cy="398272"/>
              </a:xfrm>
            </p:grpSpPr>
            <p:grpSp>
              <p:nvGrpSpPr>
                <p:cNvPr id="31" name="Group 327">
                  <a:extLst>
                    <a:ext uri="{FF2B5EF4-FFF2-40B4-BE49-F238E27FC236}">
                      <a16:creationId xmlns:a16="http://schemas.microsoft.com/office/drawing/2014/main" id="{E56F39D2-932E-4AA8-8B71-BE47E407935E}"/>
                    </a:ext>
                  </a:extLst>
                </p:cNvPr>
                <p:cNvGrpSpPr>
                  <a:grpSpLocks/>
                </p:cNvGrpSpPr>
                <p:nvPr/>
              </p:nvGrpSpPr>
              <p:grpSpPr bwMode="auto">
                <a:xfrm>
                  <a:off x="1736090" y="2893762"/>
                  <a:ext cx="565150" cy="292100"/>
                  <a:chOff x="1871277" y="1576300"/>
                  <a:chExt cx="1128371" cy="437861"/>
                </a:xfrm>
              </p:grpSpPr>
              <p:sp>
                <p:nvSpPr>
                  <p:cNvPr id="35" name="Oval 289">
                    <a:extLst>
                      <a:ext uri="{FF2B5EF4-FFF2-40B4-BE49-F238E27FC236}">
                        <a16:creationId xmlns:a16="http://schemas.microsoft.com/office/drawing/2014/main" id="{8116B638-5253-4721-AF47-EE506273F8B3}"/>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36" name="Rectangle 290">
                    <a:extLst>
                      <a:ext uri="{FF2B5EF4-FFF2-40B4-BE49-F238E27FC236}">
                        <a16:creationId xmlns:a16="http://schemas.microsoft.com/office/drawing/2014/main" id="{7190B1A1-66EB-4424-96DD-BEFD54A3D294}"/>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7" name="Oval 291">
                    <a:extLst>
                      <a:ext uri="{FF2B5EF4-FFF2-40B4-BE49-F238E27FC236}">
                        <a16:creationId xmlns:a16="http://schemas.microsoft.com/office/drawing/2014/main" id="{21EE1F48-04A3-4BD6-A235-A37D8E3ED366}"/>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38" name="Freeform 292">
                    <a:extLst>
                      <a:ext uri="{FF2B5EF4-FFF2-40B4-BE49-F238E27FC236}">
                        <a16:creationId xmlns:a16="http://schemas.microsoft.com/office/drawing/2014/main" id="{56786DD1-6786-4775-966F-7B70FA1DB6EF}"/>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9" name="Freeform 293">
                    <a:extLst>
                      <a:ext uri="{FF2B5EF4-FFF2-40B4-BE49-F238E27FC236}">
                        <a16:creationId xmlns:a16="http://schemas.microsoft.com/office/drawing/2014/main" id="{9A262D8B-FBEA-4D31-9660-5435B78E6223}"/>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0" name="Freeform 294">
                    <a:extLst>
                      <a:ext uri="{FF2B5EF4-FFF2-40B4-BE49-F238E27FC236}">
                        <a16:creationId xmlns:a16="http://schemas.microsoft.com/office/drawing/2014/main" id="{5718FD2F-96B2-4AEC-A9BC-71537CF06FA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1" name="Freeform 295">
                    <a:extLst>
                      <a:ext uri="{FF2B5EF4-FFF2-40B4-BE49-F238E27FC236}">
                        <a16:creationId xmlns:a16="http://schemas.microsoft.com/office/drawing/2014/main" id="{766CEFAA-064A-4495-B358-04E05E33E6F4}"/>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42" name="Straight Connector 296">
                    <a:extLst>
                      <a:ext uri="{FF2B5EF4-FFF2-40B4-BE49-F238E27FC236}">
                        <a16:creationId xmlns:a16="http://schemas.microsoft.com/office/drawing/2014/main" id="{4D75F3C6-F6CC-48B9-9A24-6ECDB8326ADF}"/>
                      </a:ext>
                    </a:extLst>
                  </p:cNvPr>
                  <p:cNvCxnSpPr>
                    <a:endCxn id="37"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Connector 297">
                    <a:extLst>
                      <a:ext uri="{FF2B5EF4-FFF2-40B4-BE49-F238E27FC236}">
                        <a16:creationId xmlns:a16="http://schemas.microsoft.com/office/drawing/2014/main" id="{692D4D37-13F7-401D-89CF-68D4165FF30C}"/>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32" name="Group 286">
                  <a:extLst>
                    <a:ext uri="{FF2B5EF4-FFF2-40B4-BE49-F238E27FC236}">
                      <a16:creationId xmlns:a16="http://schemas.microsoft.com/office/drawing/2014/main" id="{FC8467E2-329F-4021-929F-5378C9BB6D46}"/>
                    </a:ext>
                  </a:extLst>
                </p:cNvPr>
                <p:cNvGrpSpPr/>
                <p:nvPr/>
              </p:nvGrpSpPr>
              <p:grpSpPr>
                <a:xfrm>
                  <a:off x="1770362" y="2873352"/>
                  <a:ext cx="414737" cy="398272"/>
                  <a:chOff x="667045" y="1708643"/>
                  <a:chExt cx="414737" cy="398272"/>
                </a:xfrm>
              </p:grpSpPr>
              <p:sp>
                <p:nvSpPr>
                  <p:cNvPr id="33" name="Oval 287">
                    <a:extLst>
                      <a:ext uri="{FF2B5EF4-FFF2-40B4-BE49-F238E27FC236}">
                        <a16:creationId xmlns:a16="http://schemas.microsoft.com/office/drawing/2014/main" id="{8CE3E897-69A4-44D5-AA2C-CEED2AFEAF2F}"/>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TextBox 288">
                    <a:extLst>
                      <a:ext uri="{FF2B5EF4-FFF2-40B4-BE49-F238E27FC236}">
                        <a16:creationId xmlns:a16="http://schemas.microsoft.com/office/drawing/2014/main" id="{69D62433-C835-417C-A8D7-91BC91CCFE36}"/>
                      </a:ext>
                    </a:extLst>
                  </p:cNvPr>
                  <p:cNvSpPr txBox="1"/>
                  <p:nvPr/>
                </p:nvSpPr>
                <p:spPr>
                  <a:xfrm>
                    <a:off x="667045" y="1708643"/>
                    <a:ext cx="326740" cy="398272"/>
                  </a:xfrm>
                  <a:prstGeom prst="rect">
                    <a:avLst/>
                  </a:prstGeom>
                  <a:noFill/>
                </p:spPr>
                <p:txBody>
                  <a:bodyPr wrap="none" rtlCol="0">
                    <a:spAutoFit/>
                  </a:bodyPr>
                  <a:lstStyle/>
                  <a:p>
                    <a:r>
                      <a:rPr lang="en-US" dirty="0"/>
                      <a:t>1c</a:t>
                    </a:r>
                  </a:p>
                </p:txBody>
              </p:sp>
            </p:grpSp>
          </p:grpSp>
          <p:grpSp>
            <p:nvGrpSpPr>
              <p:cNvPr id="11" name="Group 265">
                <a:extLst>
                  <a:ext uri="{FF2B5EF4-FFF2-40B4-BE49-F238E27FC236}">
                    <a16:creationId xmlns:a16="http://schemas.microsoft.com/office/drawing/2014/main" id="{46128659-E78B-4483-A374-507589742B0D}"/>
                  </a:ext>
                </a:extLst>
              </p:cNvPr>
              <p:cNvGrpSpPr/>
              <p:nvPr/>
            </p:nvGrpSpPr>
            <p:grpSpPr>
              <a:xfrm>
                <a:off x="833331" y="3478719"/>
                <a:ext cx="565150" cy="398272"/>
                <a:chOff x="1736090" y="2873352"/>
                <a:chExt cx="565150" cy="398272"/>
              </a:xfrm>
            </p:grpSpPr>
            <p:grpSp>
              <p:nvGrpSpPr>
                <p:cNvPr id="18" name="Group 327">
                  <a:extLst>
                    <a:ext uri="{FF2B5EF4-FFF2-40B4-BE49-F238E27FC236}">
                      <a16:creationId xmlns:a16="http://schemas.microsoft.com/office/drawing/2014/main" id="{98852D64-5E90-44A5-B1C3-91DD57E87B86}"/>
                    </a:ext>
                  </a:extLst>
                </p:cNvPr>
                <p:cNvGrpSpPr>
                  <a:grpSpLocks/>
                </p:cNvGrpSpPr>
                <p:nvPr/>
              </p:nvGrpSpPr>
              <p:grpSpPr bwMode="auto">
                <a:xfrm>
                  <a:off x="1736090" y="2893762"/>
                  <a:ext cx="565150" cy="292100"/>
                  <a:chOff x="1871277" y="1576300"/>
                  <a:chExt cx="1128371" cy="437861"/>
                </a:xfrm>
              </p:grpSpPr>
              <p:sp>
                <p:nvSpPr>
                  <p:cNvPr id="22" name="Oval 276">
                    <a:extLst>
                      <a:ext uri="{FF2B5EF4-FFF2-40B4-BE49-F238E27FC236}">
                        <a16:creationId xmlns:a16="http://schemas.microsoft.com/office/drawing/2014/main" id="{48DA2822-C33A-4B18-83CC-8F0024783011}"/>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3" name="Rectangle 277">
                    <a:extLst>
                      <a:ext uri="{FF2B5EF4-FFF2-40B4-BE49-F238E27FC236}">
                        <a16:creationId xmlns:a16="http://schemas.microsoft.com/office/drawing/2014/main" id="{17C7743C-39FD-4369-B3DE-F01002660AFF}"/>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4" name="Oval 278">
                    <a:extLst>
                      <a:ext uri="{FF2B5EF4-FFF2-40B4-BE49-F238E27FC236}">
                        <a16:creationId xmlns:a16="http://schemas.microsoft.com/office/drawing/2014/main" id="{2DDD0674-1A22-4F01-A88E-1F5A0CC7B7ED}"/>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5" name="Freeform 279">
                    <a:extLst>
                      <a:ext uri="{FF2B5EF4-FFF2-40B4-BE49-F238E27FC236}">
                        <a16:creationId xmlns:a16="http://schemas.microsoft.com/office/drawing/2014/main" id="{045FE85B-3C27-4525-BB0A-DDF0880337DC}"/>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6" name="Freeform 280">
                    <a:extLst>
                      <a:ext uri="{FF2B5EF4-FFF2-40B4-BE49-F238E27FC236}">
                        <a16:creationId xmlns:a16="http://schemas.microsoft.com/office/drawing/2014/main" id="{5D16138A-24B2-45C0-886E-25665A550184}"/>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7" name="Freeform 281">
                    <a:extLst>
                      <a:ext uri="{FF2B5EF4-FFF2-40B4-BE49-F238E27FC236}">
                        <a16:creationId xmlns:a16="http://schemas.microsoft.com/office/drawing/2014/main" id="{F39EF364-A408-450A-B72B-F4D3E72EDC94}"/>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8" name="Freeform 282">
                    <a:extLst>
                      <a:ext uri="{FF2B5EF4-FFF2-40B4-BE49-F238E27FC236}">
                        <a16:creationId xmlns:a16="http://schemas.microsoft.com/office/drawing/2014/main" id="{B3517B7D-1080-4C79-A740-1D961009E91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29" name="Straight Connector 283">
                    <a:extLst>
                      <a:ext uri="{FF2B5EF4-FFF2-40B4-BE49-F238E27FC236}">
                        <a16:creationId xmlns:a16="http://schemas.microsoft.com/office/drawing/2014/main" id="{A84B3B45-C82B-4DDC-9EDD-7A75E07D4BEB}"/>
                      </a:ext>
                    </a:extLst>
                  </p:cNvPr>
                  <p:cNvCxnSpPr>
                    <a:endCxn id="24"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0" name="Straight Connector 284">
                    <a:extLst>
                      <a:ext uri="{FF2B5EF4-FFF2-40B4-BE49-F238E27FC236}">
                        <a16:creationId xmlns:a16="http://schemas.microsoft.com/office/drawing/2014/main" id="{188A357D-46DB-4FAE-9B27-7086B0E89FEF}"/>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9" name="Group 273">
                  <a:extLst>
                    <a:ext uri="{FF2B5EF4-FFF2-40B4-BE49-F238E27FC236}">
                      <a16:creationId xmlns:a16="http://schemas.microsoft.com/office/drawing/2014/main" id="{4FD0FC09-6DAC-4C4B-AB06-31C93E896FF5}"/>
                    </a:ext>
                  </a:extLst>
                </p:cNvPr>
                <p:cNvGrpSpPr/>
                <p:nvPr/>
              </p:nvGrpSpPr>
              <p:grpSpPr>
                <a:xfrm>
                  <a:off x="1770362" y="2873352"/>
                  <a:ext cx="414737" cy="398272"/>
                  <a:chOff x="667045" y="1708643"/>
                  <a:chExt cx="414737" cy="398272"/>
                </a:xfrm>
              </p:grpSpPr>
              <p:sp>
                <p:nvSpPr>
                  <p:cNvPr id="20" name="Oval 274">
                    <a:extLst>
                      <a:ext uri="{FF2B5EF4-FFF2-40B4-BE49-F238E27FC236}">
                        <a16:creationId xmlns:a16="http://schemas.microsoft.com/office/drawing/2014/main" id="{55649870-0F6C-4F68-A3AB-6D23762E1298}"/>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TextBox 275">
                    <a:extLst>
                      <a:ext uri="{FF2B5EF4-FFF2-40B4-BE49-F238E27FC236}">
                        <a16:creationId xmlns:a16="http://schemas.microsoft.com/office/drawing/2014/main" id="{702E50EA-7EFB-4013-9A2E-945CDFD69F3A}"/>
                      </a:ext>
                    </a:extLst>
                  </p:cNvPr>
                  <p:cNvSpPr txBox="1"/>
                  <p:nvPr/>
                </p:nvSpPr>
                <p:spPr>
                  <a:xfrm>
                    <a:off x="667045" y="1708643"/>
                    <a:ext cx="335667" cy="398272"/>
                  </a:xfrm>
                  <a:prstGeom prst="rect">
                    <a:avLst/>
                  </a:prstGeom>
                  <a:noFill/>
                </p:spPr>
                <p:txBody>
                  <a:bodyPr wrap="none" rtlCol="0">
                    <a:spAutoFit/>
                  </a:bodyPr>
                  <a:lstStyle/>
                  <a:p>
                    <a:r>
                      <a:rPr lang="en-US" dirty="0"/>
                      <a:t>1a</a:t>
                    </a:r>
                  </a:p>
                </p:txBody>
              </p:sp>
            </p:grpSp>
          </p:grpSp>
          <p:cxnSp>
            <p:nvCxnSpPr>
              <p:cNvPr id="12" name="Straight Connector 266">
                <a:extLst>
                  <a:ext uri="{FF2B5EF4-FFF2-40B4-BE49-F238E27FC236}">
                    <a16:creationId xmlns:a16="http://schemas.microsoft.com/office/drawing/2014/main" id="{B69B125B-47E2-43F9-BECB-D16A2E58CD29}"/>
                  </a:ext>
                </a:extLst>
              </p:cNvPr>
              <p:cNvCxnSpPr>
                <a:stCxn id="60" idx="2"/>
                <a:endCxn id="47" idx="0"/>
              </p:cNvCxnSpPr>
              <p:nvPr/>
            </p:nvCxnSpPr>
            <p:spPr bwMode="auto">
              <a:xfrm>
                <a:off x="1945210" y="3271623"/>
                <a:ext cx="4230" cy="823045"/>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267">
                <a:extLst>
                  <a:ext uri="{FF2B5EF4-FFF2-40B4-BE49-F238E27FC236}">
                    <a16:creationId xmlns:a16="http://schemas.microsoft.com/office/drawing/2014/main" id="{02803CF2-01D4-4FB1-9A0E-98BB7CD08539}"/>
                  </a:ext>
                </a:extLst>
              </p:cNvPr>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268">
                <a:extLst>
                  <a:ext uri="{FF2B5EF4-FFF2-40B4-BE49-F238E27FC236}">
                    <a16:creationId xmlns:a16="http://schemas.microsoft.com/office/drawing/2014/main" id="{A0300267-5A93-4EC2-A68B-7C50037DD3B1}"/>
                  </a:ext>
                </a:extLst>
              </p:cNvPr>
              <p:cNvCxnSpPr>
                <a:stCxn id="61"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269">
                <a:extLst>
                  <a:ext uri="{FF2B5EF4-FFF2-40B4-BE49-F238E27FC236}">
                    <a16:creationId xmlns:a16="http://schemas.microsoft.com/office/drawing/2014/main" id="{6EBB88D2-6EF7-4C7D-87A6-1F7CF11F2C67}"/>
                  </a:ext>
                </a:extLst>
              </p:cNvPr>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270">
                <a:extLst>
                  <a:ext uri="{FF2B5EF4-FFF2-40B4-BE49-F238E27FC236}">
                    <a16:creationId xmlns:a16="http://schemas.microsoft.com/office/drawing/2014/main" id="{5170768E-55E0-4BA9-B156-369400021E89}"/>
                  </a:ext>
                </a:extLst>
              </p:cNvPr>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271">
                <a:extLst>
                  <a:ext uri="{FF2B5EF4-FFF2-40B4-BE49-F238E27FC236}">
                    <a16:creationId xmlns:a16="http://schemas.microsoft.com/office/drawing/2014/main" id="{7372B774-295C-4C93-9AB1-F9D7C0FB33A9}"/>
                  </a:ext>
                </a:extLst>
              </p:cNvPr>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70" name="Group 125">
            <a:extLst>
              <a:ext uri="{FF2B5EF4-FFF2-40B4-BE49-F238E27FC236}">
                <a16:creationId xmlns:a16="http://schemas.microsoft.com/office/drawing/2014/main" id="{4DD5DBE8-2308-45FC-BE4F-10624ADA8E8A}"/>
              </a:ext>
            </a:extLst>
          </p:cNvPr>
          <p:cNvGrpSpPr/>
          <p:nvPr/>
        </p:nvGrpSpPr>
        <p:grpSpPr>
          <a:xfrm>
            <a:off x="4394016" y="2282358"/>
            <a:ext cx="3394251" cy="1720535"/>
            <a:chOff x="-2170772" y="2784954"/>
            <a:chExt cx="2712783" cy="1853712"/>
          </a:xfrm>
        </p:grpSpPr>
        <p:sp>
          <p:nvSpPr>
            <p:cNvPr id="71" name="Freeform 2">
              <a:extLst>
                <a:ext uri="{FF2B5EF4-FFF2-40B4-BE49-F238E27FC236}">
                  <a16:creationId xmlns:a16="http://schemas.microsoft.com/office/drawing/2014/main" id="{24CCDDA4-C967-4CAC-85A1-889EF9C8C2EA}"/>
                </a:ext>
              </a:extLst>
            </p:cNvPr>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2" name="Group 197">
              <a:extLst>
                <a:ext uri="{FF2B5EF4-FFF2-40B4-BE49-F238E27FC236}">
                  <a16:creationId xmlns:a16="http://schemas.microsoft.com/office/drawing/2014/main" id="{AFFBC324-6EC9-4045-AA9B-923EF87E7780}"/>
                </a:ext>
              </a:extLst>
            </p:cNvPr>
            <p:cNvGrpSpPr/>
            <p:nvPr/>
          </p:nvGrpSpPr>
          <p:grpSpPr>
            <a:xfrm>
              <a:off x="-1935370" y="2935816"/>
              <a:ext cx="2333625" cy="1619237"/>
              <a:chOff x="833331" y="2873352"/>
              <a:chExt cx="2333625" cy="1619237"/>
            </a:xfrm>
          </p:grpSpPr>
          <p:grpSp>
            <p:nvGrpSpPr>
              <p:cNvPr id="73" name="Group 198">
                <a:extLst>
                  <a:ext uri="{FF2B5EF4-FFF2-40B4-BE49-F238E27FC236}">
                    <a16:creationId xmlns:a16="http://schemas.microsoft.com/office/drawing/2014/main" id="{3A70A2C0-477C-4C40-95D5-091D37A27F39}"/>
                  </a:ext>
                </a:extLst>
              </p:cNvPr>
              <p:cNvGrpSpPr/>
              <p:nvPr/>
            </p:nvGrpSpPr>
            <p:grpSpPr>
              <a:xfrm>
                <a:off x="1736090" y="2873352"/>
                <a:ext cx="565150" cy="397920"/>
                <a:chOff x="1736090" y="2873352"/>
                <a:chExt cx="565150" cy="397920"/>
              </a:xfrm>
            </p:grpSpPr>
            <p:grpSp>
              <p:nvGrpSpPr>
                <p:cNvPr id="122" name="Group 327">
                  <a:extLst>
                    <a:ext uri="{FF2B5EF4-FFF2-40B4-BE49-F238E27FC236}">
                      <a16:creationId xmlns:a16="http://schemas.microsoft.com/office/drawing/2014/main" id="{839745E5-45C3-488E-848B-ED60ED79B1E6}"/>
                    </a:ext>
                  </a:extLst>
                </p:cNvPr>
                <p:cNvGrpSpPr>
                  <a:grpSpLocks/>
                </p:cNvGrpSpPr>
                <p:nvPr/>
              </p:nvGrpSpPr>
              <p:grpSpPr bwMode="auto">
                <a:xfrm>
                  <a:off x="1736090" y="2893762"/>
                  <a:ext cx="565150" cy="292100"/>
                  <a:chOff x="1871277" y="1576300"/>
                  <a:chExt cx="1128371" cy="437861"/>
                </a:xfrm>
              </p:grpSpPr>
              <p:sp>
                <p:nvSpPr>
                  <p:cNvPr id="126" name="Oval 251">
                    <a:extLst>
                      <a:ext uri="{FF2B5EF4-FFF2-40B4-BE49-F238E27FC236}">
                        <a16:creationId xmlns:a16="http://schemas.microsoft.com/office/drawing/2014/main" id="{9B0099F0-C66E-4E68-B89C-9A44B5E99730}"/>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27" name="Rectangle 252">
                    <a:extLst>
                      <a:ext uri="{FF2B5EF4-FFF2-40B4-BE49-F238E27FC236}">
                        <a16:creationId xmlns:a16="http://schemas.microsoft.com/office/drawing/2014/main" id="{0AD75D57-448D-4EF6-8B2F-4E2AA7B88C7F}"/>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8" name="Oval 253">
                    <a:extLst>
                      <a:ext uri="{FF2B5EF4-FFF2-40B4-BE49-F238E27FC236}">
                        <a16:creationId xmlns:a16="http://schemas.microsoft.com/office/drawing/2014/main" id="{A98E2850-3D64-4BB4-BFDD-0438330B5455}"/>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29" name="Freeform 254">
                    <a:extLst>
                      <a:ext uri="{FF2B5EF4-FFF2-40B4-BE49-F238E27FC236}">
                        <a16:creationId xmlns:a16="http://schemas.microsoft.com/office/drawing/2014/main" id="{A12C904F-AFC9-471B-9ED0-75A2F17799F2}"/>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0" name="Freeform 255">
                    <a:extLst>
                      <a:ext uri="{FF2B5EF4-FFF2-40B4-BE49-F238E27FC236}">
                        <a16:creationId xmlns:a16="http://schemas.microsoft.com/office/drawing/2014/main" id="{D21B9973-5C60-4DFE-A160-103B9F77229C}"/>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1" name="Freeform 256">
                    <a:extLst>
                      <a:ext uri="{FF2B5EF4-FFF2-40B4-BE49-F238E27FC236}">
                        <a16:creationId xmlns:a16="http://schemas.microsoft.com/office/drawing/2014/main" id="{99DDF9C3-AB7A-4AA1-90D1-C3D9619258B1}"/>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2" name="Freeform 257">
                    <a:extLst>
                      <a:ext uri="{FF2B5EF4-FFF2-40B4-BE49-F238E27FC236}">
                        <a16:creationId xmlns:a16="http://schemas.microsoft.com/office/drawing/2014/main" id="{ACDFCE31-52ED-4019-B0C8-91CE95A6B3A8}"/>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33" name="Straight Connector 258">
                    <a:extLst>
                      <a:ext uri="{FF2B5EF4-FFF2-40B4-BE49-F238E27FC236}">
                        <a16:creationId xmlns:a16="http://schemas.microsoft.com/office/drawing/2014/main" id="{592345DC-F8BF-443F-BAE7-2CC7F67C5622}"/>
                      </a:ext>
                    </a:extLst>
                  </p:cNvPr>
                  <p:cNvCxnSpPr>
                    <a:endCxn id="128"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34" name="Straight Connector 259">
                    <a:extLst>
                      <a:ext uri="{FF2B5EF4-FFF2-40B4-BE49-F238E27FC236}">
                        <a16:creationId xmlns:a16="http://schemas.microsoft.com/office/drawing/2014/main" id="{B874AFD1-6954-4D37-8F7B-E255A7FCC285}"/>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23" name="Group 248">
                  <a:extLst>
                    <a:ext uri="{FF2B5EF4-FFF2-40B4-BE49-F238E27FC236}">
                      <a16:creationId xmlns:a16="http://schemas.microsoft.com/office/drawing/2014/main" id="{F92DD4BA-9C4F-4278-9D85-D27FE869E1C1}"/>
                    </a:ext>
                  </a:extLst>
                </p:cNvPr>
                <p:cNvGrpSpPr/>
                <p:nvPr/>
              </p:nvGrpSpPr>
              <p:grpSpPr>
                <a:xfrm>
                  <a:off x="1770362" y="2873352"/>
                  <a:ext cx="414737" cy="397920"/>
                  <a:chOff x="667045" y="1708643"/>
                  <a:chExt cx="414737" cy="397920"/>
                </a:xfrm>
              </p:grpSpPr>
              <p:sp>
                <p:nvSpPr>
                  <p:cNvPr id="124" name="Oval 249">
                    <a:extLst>
                      <a:ext uri="{FF2B5EF4-FFF2-40B4-BE49-F238E27FC236}">
                        <a16:creationId xmlns:a16="http://schemas.microsoft.com/office/drawing/2014/main" id="{926AE3B0-0F2F-4002-A557-C30A1A9D30A4}"/>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5" name="TextBox 250">
                    <a:extLst>
                      <a:ext uri="{FF2B5EF4-FFF2-40B4-BE49-F238E27FC236}">
                        <a16:creationId xmlns:a16="http://schemas.microsoft.com/office/drawing/2014/main" id="{72F17ECF-928B-44AD-8666-3468F744DC97}"/>
                      </a:ext>
                    </a:extLst>
                  </p:cNvPr>
                  <p:cNvSpPr txBox="1"/>
                  <p:nvPr/>
                </p:nvSpPr>
                <p:spPr>
                  <a:xfrm>
                    <a:off x="667045" y="1708643"/>
                    <a:ext cx="351296" cy="397920"/>
                  </a:xfrm>
                  <a:prstGeom prst="rect">
                    <a:avLst/>
                  </a:prstGeom>
                  <a:noFill/>
                </p:spPr>
                <p:txBody>
                  <a:bodyPr wrap="none" rtlCol="0">
                    <a:spAutoFit/>
                  </a:bodyPr>
                  <a:lstStyle/>
                  <a:p>
                    <a:r>
                      <a:rPr lang="en-US" dirty="0"/>
                      <a:t>2b</a:t>
                    </a:r>
                  </a:p>
                </p:txBody>
              </p:sp>
            </p:grpSp>
          </p:grpSp>
          <p:grpSp>
            <p:nvGrpSpPr>
              <p:cNvPr id="74" name="Group 199">
                <a:extLst>
                  <a:ext uri="{FF2B5EF4-FFF2-40B4-BE49-F238E27FC236}">
                    <a16:creationId xmlns:a16="http://schemas.microsoft.com/office/drawing/2014/main" id="{600D5D11-0DF0-407A-82B9-E5CC5595C0B8}"/>
                  </a:ext>
                </a:extLst>
              </p:cNvPr>
              <p:cNvGrpSpPr/>
              <p:nvPr/>
            </p:nvGrpSpPr>
            <p:grpSpPr>
              <a:xfrm>
                <a:off x="1740320" y="4094669"/>
                <a:ext cx="565150" cy="397920"/>
                <a:chOff x="1736090" y="2873352"/>
                <a:chExt cx="565150" cy="397920"/>
              </a:xfrm>
            </p:grpSpPr>
            <p:grpSp>
              <p:nvGrpSpPr>
                <p:cNvPr id="109" name="Group 327">
                  <a:extLst>
                    <a:ext uri="{FF2B5EF4-FFF2-40B4-BE49-F238E27FC236}">
                      <a16:creationId xmlns:a16="http://schemas.microsoft.com/office/drawing/2014/main" id="{90662939-8008-4CD0-952E-D0A29C93338D}"/>
                    </a:ext>
                  </a:extLst>
                </p:cNvPr>
                <p:cNvGrpSpPr>
                  <a:grpSpLocks/>
                </p:cNvGrpSpPr>
                <p:nvPr/>
              </p:nvGrpSpPr>
              <p:grpSpPr bwMode="auto">
                <a:xfrm>
                  <a:off x="1736090" y="2893762"/>
                  <a:ext cx="565150" cy="292100"/>
                  <a:chOff x="1871277" y="1576300"/>
                  <a:chExt cx="1128371" cy="437861"/>
                </a:xfrm>
              </p:grpSpPr>
              <p:sp>
                <p:nvSpPr>
                  <p:cNvPr id="113" name="Oval 238">
                    <a:extLst>
                      <a:ext uri="{FF2B5EF4-FFF2-40B4-BE49-F238E27FC236}">
                        <a16:creationId xmlns:a16="http://schemas.microsoft.com/office/drawing/2014/main" id="{609F747E-2A19-4B54-92F1-0F5C24DD8DE4}"/>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14" name="Rectangle 239">
                    <a:extLst>
                      <a:ext uri="{FF2B5EF4-FFF2-40B4-BE49-F238E27FC236}">
                        <a16:creationId xmlns:a16="http://schemas.microsoft.com/office/drawing/2014/main" id="{6A827180-568A-46D5-83CE-A3E62205FC30}"/>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5" name="Oval 240">
                    <a:extLst>
                      <a:ext uri="{FF2B5EF4-FFF2-40B4-BE49-F238E27FC236}">
                        <a16:creationId xmlns:a16="http://schemas.microsoft.com/office/drawing/2014/main" id="{FB19D6A8-FD6E-4469-A59A-1C1CCCC7B773}"/>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16" name="Freeform 241">
                    <a:extLst>
                      <a:ext uri="{FF2B5EF4-FFF2-40B4-BE49-F238E27FC236}">
                        <a16:creationId xmlns:a16="http://schemas.microsoft.com/office/drawing/2014/main" id="{47BA6689-2F73-4929-9896-3D6A78CD7A0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7" name="Freeform 242">
                    <a:extLst>
                      <a:ext uri="{FF2B5EF4-FFF2-40B4-BE49-F238E27FC236}">
                        <a16:creationId xmlns:a16="http://schemas.microsoft.com/office/drawing/2014/main" id="{C7BEA0F2-3D9C-4444-A22C-8F8E984CC2FD}"/>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8" name="Freeform 243">
                    <a:extLst>
                      <a:ext uri="{FF2B5EF4-FFF2-40B4-BE49-F238E27FC236}">
                        <a16:creationId xmlns:a16="http://schemas.microsoft.com/office/drawing/2014/main" id="{5A67555E-4DE3-4F3F-901E-00B938E575DD}"/>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9" name="Freeform 244">
                    <a:extLst>
                      <a:ext uri="{FF2B5EF4-FFF2-40B4-BE49-F238E27FC236}">
                        <a16:creationId xmlns:a16="http://schemas.microsoft.com/office/drawing/2014/main" id="{898CE87C-22FD-4EE0-BCC1-B78064F7B52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20" name="Straight Connector 245">
                    <a:extLst>
                      <a:ext uri="{FF2B5EF4-FFF2-40B4-BE49-F238E27FC236}">
                        <a16:creationId xmlns:a16="http://schemas.microsoft.com/office/drawing/2014/main" id="{D27AFA2C-7A9C-4249-8323-13AC839E83A0}"/>
                      </a:ext>
                    </a:extLst>
                  </p:cNvPr>
                  <p:cNvCxnSpPr>
                    <a:endCxn id="115"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21" name="Straight Connector 246">
                    <a:extLst>
                      <a:ext uri="{FF2B5EF4-FFF2-40B4-BE49-F238E27FC236}">
                        <a16:creationId xmlns:a16="http://schemas.microsoft.com/office/drawing/2014/main" id="{9141B5BB-31AC-47C9-B57E-75B33C34BA05}"/>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10" name="Group 235">
                  <a:extLst>
                    <a:ext uri="{FF2B5EF4-FFF2-40B4-BE49-F238E27FC236}">
                      <a16:creationId xmlns:a16="http://schemas.microsoft.com/office/drawing/2014/main" id="{E34C0925-6CC8-4536-A95F-3EADB3F4EFBF}"/>
                    </a:ext>
                  </a:extLst>
                </p:cNvPr>
                <p:cNvGrpSpPr/>
                <p:nvPr/>
              </p:nvGrpSpPr>
              <p:grpSpPr>
                <a:xfrm>
                  <a:off x="1770362" y="2873352"/>
                  <a:ext cx="414737" cy="397920"/>
                  <a:chOff x="667045" y="1708643"/>
                  <a:chExt cx="414737" cy="397920"/>
                </a:xfrm>
              </p:grpSpPr>
              <p:sp>
                <p:nvSpPr>
                  <p:cNvPr id="111" name="Oval 236">
                    <a:extLst>
                      <a:ext uri="{FF2B5EF4-FFF2-40B4-BE49-F238E27FC236}">
                        <a16:creationId xmlns:a16="http://schemas.microsoft.com/office/drawing/2014/main" id="{8CFD5670-0C06-4E37-89D5-5F16884F3E2C}"/>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TextBox 237">
                    <a:extLst>
                      <a:ext uri="{FF2B5EF4-FFF2-40B4-BE49-F238E27FC236}">
                        <a16:creationId xmlns:a16="http://schemas.microsoft.com/office/drawing/2014/main" id="{50EB4CB8-18EA-4E67-8CB7-849470C9DBAD}"/>
                      </a:ext>
                    </a:extLst>
                  </p:cNvPr>
                  <p:cNvSpPr txBox="1"/>
                  <p:nvPr/>
                </p:nvSpPr>
                <p:spPr>
                  <a:xfrm>
                    <a:off x="667045" y="1708643"/>
                    <a:ext cx="351296" cy="397920"/>
                  </a:xfrm>
                  <a:prstGeom prst="rect">
                    <a:avLst/>
                  </a:prstGeom>
                  <a:noFill/>
                </p:spPr>
                <p:txBody>
                  <a:bodyPr wrap="none" rtlCol="0">
                    <a:spAutoFit/>
                  </a:bodyPr>
                  <a:lstStyle/>
                  <a:p>
                    <a:r>
                      <a:rPr lang="en-US" dirty="0"/>
                      <a:t>2d</a:t>
                    </a:r>
                  </a:p>
                </p:txBody>
              </p:sp>
            </p:grpSp>
          </p:grpSp>
          <p:grpSp>
            <p:nvGrpSpPr>
              <p:cNvPr id="75" name="Group 200">
                <a:extLst>
                  <a:ext uri="{FF2B5EF4-FFF2-40B4-BE49-F238E27FC236}">
                    <a16:creationId xmlns:a16="http://schemas.microsoft.com/office/drawing/2014/main" id="{7AB271CC-BC22-4B69-A91E-17124573C629}"/>
                  </a:ext>
                </a:extLst>
              </p:cNvPr>
              <p:cNvGrpSpPr/>
              <p:nvPr/>
            </p:nvGrpSpPr>
            <p:grpSpPr>
              <a:xfrm>
                <a:off x="2601806" y="3485072"/>
                <a:ext cx="565150" cy="397920"/>
                <a:chOff x="1736090" y="2873352"/>
                <a:chExt cx="565150" cy="397920"/>
              </a:xfrm>
            </p:grpSpPr>
            <p:grpSp>
              <p:nvGrpSpPr>
                <p:cNvPr id="96" name="Group 327">
                  <a:extLst>
                    <a:ext uri="{FF2B5EF4-FFF2-40B4-BE49-F238E27FC236}">
                      <a16:creationId xmlns:a16="http://schemas.microsoft.com/office/drawing/2014/main" id="{3C0BE5D5-64E5-4B4A-A784-7DDEC5E9A368}"/>
                    </a:ext>
                  </a:extLst>
                </p:cNvPr>
                <p:cNvGrpSpPr>
                  <a:grpSpLocks/>
                </p:cNvGrpSpPr>
                <p:nvPr/>
              </p:nvGrpSpPr>
              <p:grpSpPr bwMode="auto">
                <a:xfrm>
                  <a:off x="1736090" y="2893762"/>
                  <a:ext cx="565150" cy="292100"/>
                  <a:chOff x="1871277" y="1576300"/>
                  <a:chExt cx="1128371" cy="437861"/>
                </a:xfrm>
              </p:grpSpPr>
              <p:sp>
                <p:nvSpPr>
                  <p:cNvPr id="100" name="Oval 225">
                    <a:extLst>
                      <a:ext uri="{FF2B5EF4-FFF2-40B4-BE49-F238E27FC236}">
                        <a16:creationId xmlns:a16="http://schemas.microsoft.com/office/drawing/2014/main" id="{9A59BFDE-DD4C-4679-BF54-41211F2C3BBF}"/>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01" name="Rectangle 226">
                    <a:extLst>
                      <a:ext uri="{FF2B5EF4-FFF2-40B4-BE49-F238E27FC236}">
                        <a16:creationId xmlns:a16="http://schemas.microsoft.com/office/drawing/2014/main" id="{2366F756-78C4-4692-8212-6B309E09580B}"/>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2" name="Oval 227">
                    <a:extLst>
                      <a:ext uri="{FF2B5EF4-FFF2-40B4-BE49-F238E27FC236}">
                        <a16:creationId xmlns:a16="http://schemas.microsoft.com/office/drawing/2014/main" id="{78306CF3-E644-4A61-B0CE-72D448D5315E}"/>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03" name="Freeform 228">
                    <a:extLst>
                      <a:ext uri="{FF2B5EF4-FFF2-40B4-BE49-F238E27FC236}">
                        <a16:creationId xmlns:a16="http://schemas.microsoft.com/office/drawing/2014/main" id="{68444D18-9D94-4C22-864C-EDEC96EDC71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4" name="Freeform 229">
                    <a:extLst>
                      <a:ext uri="{FF2B5EF4-FFF2-40B4-BE49-F238E27FC236}">
                        <a16:creationId xmlns:a16="http://schemas.microsoft.com/office/drawing/2014/main" id="{A2F7B164-A20F-4CB1-89D2-92254146184B}"/>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5" name="Freeform 230">
                    <a:extLst>
                      <a:ext uri="{FF2B5EF4-FFF2-40B4-BE49-F238E27FC236}">
                        <a16:creationId xmlns:a16="http://schemas.microsoft.com/office/drawing/2014/main" id="{DCD42F82-F184-4F8C-A511-727CBA46FE90}"/>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6" name="Freeform 231">
                    <a:extLst>
                      <a:ext uri="{FF2B5EF4-FFF2-40B4-BE49-F238E27FC236}">
                        <a16:creationId xmlns:a16="http://schemas.microsoft.com/office/drawing/2014/main" id="{FEBCF7EB-091F-426B-9462-8A1F0F207C16}"/>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07" name="Straight Connector 232">
                    <a:extLst>
                      <a:ext uri="{FF2B5EF4-FFF2-40B4-BE49-F238E27FC236}">
                        <a16:creationId xmlns:a16="http://schemas.microsoft.com/office/drawing/2014/main" id="{75B1F53A-DC92-42B8-92F3-F58B697421EC}"/>
                      </a:ext>
                    </a:extLst>
                  </p:cNvPr>
                  <p:cNvCxnSpPr>
                    <a:endCxn id="102"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08" name="Straight Connector 233">
                    <a:extLst>
                      <a:ext uri="{FF2B5EF4-FFF2-40B4-BE49-F238E27FC236}">
                        <a16:creationId xmlns:a16="http://schemas.microsoft.com/office/drawing/2014/main" id="{4300AFA5-0EA7-44C8-B2C8-B9635D88666F}"/>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97" name="Group 222">
                  <a:extLst>
                    <a:ext uri="{FF2B5EF4-FFF2-40B4-BE49-F238E27FC236}">
                      <a16:creationId xmlns:a16="http://schemas.microsoft.com/office/drawing/2014/main" id="{C1400C6D-2D1A-46D3-B93C-B12C969EB7F4}"/>
                    </a:ext>
                  </a:extLst>
                </p:cNvPr>
                <p:cNvGrpSpPr/>
                <p:nvPr/>
              </p:nvGrpSpPr>
              <p:grpSpPr>
                <a:xfrm>
                  <a:off x="1770362" y="2873352"/>
                  <a:ext cx="414737" cy="397920"/>
                  <a:chOff x="667045" y="1708643"/>
                  <a:chExt cx="414737" cy="397920"/>
                </a:xfrm>
              </p:grpSpPr>
              <p:sp>
                <p:nvSpPr>
                  <p:cNvPr id="98" name="Oval 223">
                    <a:extLst>
                      <a:ext uri="{FF2B5EF4-FFF2-40B4-BE49-F238E27FC236}">
                        <a16:creationId xmlns:a16="http://schemas.microsoft.com/office/drawing/2014/main" id="{DD762FFF-7924-4195-99A2-B44F63AE26F0}"/>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9" name="TextBox 224">
                    <a:extLst>
                      <a:ext uri="{FF2B5EF4-FFF2-40B4-BE49-F238E27FC236}">
                        <a16:creationId xmlns:a16="http://schemas.microsoft.com/office/drawing/2014/main" id="{260837C8-095E-4B41-AC47-031BA7809668}"/>
                      </a:ext>
                    </a:extLst>
                  </p:cNvPr>
                  <p:cNvSpPr txBox="1"/>
                  <p:nvPr/>
                </p:nvSpPr>
                <p:spPr>
                  <a:xfrm>
                    <a:off x="667045" y="1708643"/>
                    <a:ext cx="328235" cy="397920"/>
                  </a:xfrm>
                  <a:prstGeom prst="rect">
                    <a:avLst/>
                  </a:prstGeom>
                  <a:noFill/>
                </p:spPr>
                <p:txBody>
                  <a:bodyPr wrap="none" rtlCol="0">
                    <a:spAutoFit/>
                  </a:bodyPr>
                  <a:lstStyle/>
                  <a:p>
                    <a:r>
                      <a:rPr lang="en-US" dirty="0"/>
                      <a:t>2c</a:t>
                    </a:r>
                  </a:p>
                </p:txBody>
              </p:sp>
            </p:grpSp>
          </p:grpSp>
          <p:grpSp>
            <p:nvGrpSpPr>
              <p:cNvPr id="76" name="Group 201">
                <a:extLst>
                  <a:ext uri="{FF2B5EF4-FFF2-40B4-BE49-F238E27FC236}">
                    <a16:creationId xmlns:a16="http://schemas.microsoft.com/office/drawing/2014/main" id="{F5D6BCB7-4CBE-450F-A228-EA8CB2E46888}"/>
                  </a:ext>
                </a:extLst>
              </p:cNvPr>
              <p:cNvGrpSpPr/>
              <p:nvPr/>
            </p:nvGrpSpPr>
            <p:grpSpPr>
              <a:xfrm>
                <a:off x="833331" y="3478719"/>
                <a:ext cx="565150" cy="397920"/>
                <a:chOff x="1736090" y="2873352"/>
                <a:chExt cx="565150" cy="397920"/>
              </a:xfrm>
            </p:grpSpPr>
            <p:grpSp>
              <p:nvGrpSpPr>
                <p:cNvPr id="83" name="Group 327">
                  <a:extLst>
                    <a:ext uri="{FF2B5EF4-FFF2-40B4-BE49-F238E27FC236}">
                      <a16:creationId xmlns:a16="http://schemas.microsoft.com/office/drawing/2014/main" id="{ADEAB2ED-819C-4A36-B5A6-4DE0FA9B9F00}"/>
                    </a:ext>
                  </a:extLst>
                </p:cNvPr>
                <p:cNvGrpSpPr>
                  <a:grpSpLocks/>
                </p:cNvGrpSpPr>
                <p:nvPr/>
              </p:nvGrpSpPr>
              <p:grpSpPr bwMode="auto">
                <a:xfrm>
                  <a:off x="1736090" y="2893762"/>
                  <a:ext cx="565150" cy="292100"/>
                  <a:chOff x="1871277" y="1576300"/>
                  <a:chExt cx="1128371" cy="437861"/>
                </a:xfrm>
              </p:grpSpPr>
              <p:sp>
                <p:nvSpPr>
                  <p:cNvPr id="87" name="Oval 212">
                    <a:extLst>
                      <a:ext uri="{FF2B5EF4-FFF2-40B4-BE49-F238E27FC236}">
                        <a16:creationId xmlns:a16="http://schemas.microsoft.com/office/drawing/2014/main" id="{233C67D6-D7D3-4255-8155-FC3DF7178A82}"/>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88" name="Rectangle 213">
                    <a:extLst>
                      <a:ext uri="{FF2B5EF4-FFF2-40B4-BE49-F238E27FC236}">
                        <a16:creationId xmlns:a16="http://schemas.microsoft.com/office/drawing/2014/main" id="{6E70B082-B251-4F95-9F99-4CCD2EB60DF0}"/>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9" name="Oval 214">
                    <a:extLst>
                      <a:ext uri="{FF2B5EF4-FFF2-40B4-BE49-F238E27FC236}">
                        <a16:creationId xmlns:a16="http://schemas.microsoft.com/office/drawing/2014/main" id="{95702A55-217E-4D46-BD08-56B02266EDEE}"/>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90" name="Freeform 215">
                    <a:extLst>
                      <a:ext uri="{FF2B5EF4-FFF2-40B4-BE49-F238E27FC236}">
                        <a16:creationId xmlns:a16="http://schemas.microsoft.com/office/drawing/2014/main" id="{75AE8FF0-534A-4684-BAF4-ECDD8803CFA4}"/>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1" name="Freeform 216">
                    <a:extLst>
                      <a:ext uri="{FF2B5EF4-FFF2-40B4-BE49-F238E27FC236}">
                        <a16:creationId xmlns:a16="http://schemas.microsoft.com/office/drawing/2014/main" id="{E408F6C1-134B-4776-8FF4-59AC920CCBB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2" name="Freeform 217">
                    <a:extLst>
                      <a:ext uri="{FF2B5EF4-FFF2-40B4-BE49-F238E27FC236}">
                        <a16:creationId xmlns:a16="http://schemas.microsoft.com/office/drawing/2014/main" id="{D283536D-AEFC-4328-8FE0-4203DC05EA06}"/>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3" name="Freeform 218">
                    <a:extLst>
                      <a:ext uri="{FF2B5EF4-FFF2-40B4-BE49-F238E27FC236}">
                        <a16:creationId xmlns:a16="http://schemas.microsoft.com/office/drawing/2014/main" id="{875B43F1-25BC-4173-B82F-3BEBC25AF242}"/>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94" name="Straight Connector 219">
                    <a:extLst>
                      <a:ext uri="{FF2B5EF4-FFF2-40B4-BE49-F238E27FC236}">
                        <a16:creationId xmlns:a16="http://schemas.microsoft.com/office/drawing/2014/main" id="{D4692E5F-FC8F-4B6B-91E0-4B1A0BA21B0B}"/>
                      </a:ext>
                    </a:extLst>
                  </p:cNvPr>
                  <p:cNvCxnSpPr>
                    <a:endCxn id="89"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5" name="Straight Connector 220">
                    <a:extLst>
                      <a:ext uri="{FF2B5EF4-FFF2-40B4-BE49-F238E27FC236}">
                        <a16:creationId xmlns:a16="http://schemas.microsoft.com/office/drawing/2014/main" id="{7B0ADC35-88AA-46C1-B33B-DBE50A1A20B4}"/>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4" name="Group 209">
                  <a:extLst>
                    <a:ext uri="{FF2B5EF4-FFF2-40B4-BE49-F238E27FC236}">
                      <a16:creationId xmlns:a16="http://schemas.microsoft.com/office/drawing/2014/main" id="{3FFF1934-3C1B-470E-A3B1-4B7D41BE08C0}"/>
                    </a:ext>
                  </a:extLst>
                </p:cNvPr>
                <p:cNvGrpSpPr/>
                <p:nvPr/>
              </p:nvGrpSpPr>
              <p:grpSpPr>
                <a:xfrm>
                  <a:off x="1770362" y="2873352"/>
                  <a:ext cx="414737" cy="397920"/>
                  <a:chOff x="667045" y="1708643"/>
                  <a:chExt cx="414737" cy="397920"/>
                </a:xfrm>
              </p:grpSpPr>
              <p:sp>
                <p:nvSpPr>
                  <p:cNvPr id="85" name="Oval 210">
                    <a:extLst>
                      <a:ext uri="{FF2B5EF4-FFF2-40B4-BE49-F238E27FC236}">
                        <a16:creationId xmlns:a16="http://schemas.microsoft.com/office/drawing/2014/main" id="{12897A1D-CAD3-4A17-BBB4-3B0160B263C8}"/>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6" name="TextBox 211">
                    <a:extLst>
                      <a:ext uri="{FF2B5EF4-FFF2-40B4-BE49-F238E27FC236}">
                        <a16:creationId xmlns:a16="http://schemas.microsoft.com/office/drawing/2014/main" id="{CCDCA0F9-0FEA-4EAD-B0DB-6167F28BCC0A}"/>
                      </a:ext>
                    </a:extLst>
                  </p:cNvPr>
                  <p:cNvSpPr txBox="1"/>
                  <p:nvPr/>
                </p:nvSpPr>
                <p:spPr>
                  <a:xfrm>
                    <a:off x="667045" y="1708643"/>
                    <a:ext cx="337203" cy="397920"/>
                  </a:xfrm>
                  <a:prstGeom prst="rect">
                    <a:avLst/>
                  </a:prstGeom>
                  <a:noFill/>
                </p:spPr>
                <p:txBody>
                  <a:bodyPr wrap="none" rtlCol="0">
                    <a:spAutoFit/>
                  </a:bodyPr>
                  <a:lstStyle/>
                  <a:p>
                    <a:r>
                      <a:rPr lang="en-US" dirty="0"/>
                      <a:t>2a</a:t>
                    </a:r>
                  </a:p>
                </p:txBody>
              </p:sp>
            </p:grpSp>
          </p:grpSp>
          <p:cxnSp>
            <p:nvCxnSpPr>
              <p:cNvPr id="77" name="Straight Connector 202">
                <a:extLst>
                  <a:ext uri="{FF2B5EF4-FFF2-40B4-BE49-F238E27FC236}">
                    <a16:creationId xmlns:a16="http://schemas.microsoft.com/office/drawing/2014/main" id="{26F635CB-BF5A-4C46-9E21-06A94201C914}"/>
                  </a:ext>
                </a:extLst>
              </p:cNvPr>
              <p:cNvCxnSpPr>
                <a:stCxn id="125" idx="2"/>
                <a:endCxn id="112" idx="0"/>
              </p:cNvCxnSpPr>
              <p:nvPr/>
            </p:nvCxnSpPr>
            <p:spPr bwMode="auto">
              <a:xfrm>
                <a:off x="1946010" y="3271272"/>
                <a:ext cx="4230" cy="823397"/>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Straight Connector 203">
                <a:extLst>
                  <a:ext uri="{FF2B5EF4-FFF2-40B4-BE49-F238E27FC236}">
                    <a16:creationId xmlns:a16="http://schemas.microsoft.com/office/drawing/2014/main" id="{33FAA388-A0E6-4ACF-A57B-C84AD7B70C5F}"/>
                  </a:ext>
                </a:extLst>
              </p:cNvPr>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Straight Connector 204">
                <a:extLst>
                  <a:ext uri="{FF2B5EF4-FFF2-40B4-BE49-F238E27FC236}">
                    <a16:creationId xmlns:a16="http://schemas.microsoft.com/office/drawing/2014/main" id="{1D10ACD0-00B8-4E3B-8E89-F8953A7CC0AA}"/>
                  </a:ext>
                </a:extLst>
              </p:cNvPr>
              <p:cNvCxnSpPr>
                <a:stCxn id="126"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Straight Connector 205">
                <a:extLst>
                  <a:ext uri="{FF2B5EF4-FFF2-40B4-BE49-F238E27FC236}">
                    <a16:creationId xmlns:a16="http://schemas.microsoft.com/office/drawing/2014/main" id="{73C827B3-2CE1-4AE7-9CA9-17C92185ADBE}"/>
                  </a:ext>
                </a:extLst>
              </p:cNvPr>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Straight Connector 206">
                <a:extLst>
                  <a:ext uri="{FF2B5EF4-FFF2-40B4-BE49-F238E27FC236}">
                    <a16:creationId xmlns:a16="http://schemas.microsoft.com/office/drawing/2014/main" id="{87E4330A-34AF-43C0-B984-1A6BD1352C2E}"/>
                  </a:ext>
                </a:extLst>
              </p:cNvPr>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Straight Connector 207">
                <a:extLst>
                  <a:ext uri="{FF2B5EF4-FFF2-40B4-BE49-F238E27FC236}">
                    <a16:creationId xmlns:a16="http://schemas.microsoft.com/office/drawing/2014/main" id="{1B720955-D314-47BC-8EC1-1CD87A06CBFA}"/>
                  </a:ext>
                </a:extLst>
              </p:cNvPr>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35" name="Freeform 2">
            <a:extLst>
              <a:ext uri="{FF2B5EF4-FFF2-40B4-BE49-F238E27FC236}">
                <a16:creationId xmlns:a16="http://schemas.microsoft.com/office/drawing/2014/main" id="{D9D5EC03-DB1D-47E7-B99D-77CDA609FCF3}"/>
              </a:ext>
            </a:extLst>
          </p:cNvPr>
          <p:cNvSpPr>
            <a:spLocks/>
          </p:cNvSpPr>
          <p:nvPr/>
        </p:nvSpPr>
        <p:spPr bwMode="auto">
          <a:xfrm>
            <a:off x="7343582" y="1310427"/>
            <a:ext cx="3434028"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36" name="Group 133">
            <a:extLst>
              <a:ext uri="{FF2B5EF4-FFF2-40B4-BE49-F238E27FC236}">
                <a16:creationId xmlns:a16="http://schemas.microsoft.com/office/drawing/2014/main" id="{49C633EB-57A1-4453-A397-C03F942428E7}"/>
              </a:ext>
            </a:extLst>
          </p:cNvPr>
          <p:cNvGrpSpPr/>
          <p:nvPr/>
        </p:nvGrpSpPr>
        <p:grpSpPr>
          <a:xfrm>
            <a:off x="7641569" y="1446544"/>
            <a:ext cx="2954064" cy="1471268"/>
            <a:chOff x="833331" y="2873352"/>
            <a:chExt cx="2333625" cy="1630661"/>
          </a:xfrm>
        </p:grpSpPr>
        <p:grpSp>
          <p:nvGrpSpPr>
            <p:cNvPr id="137" name="Group 134">
              <a:extLst>
                <a:ext uri="{FF2B5EF4-FFF2-40B4-BE49-F238E27FC236}">
                  <a16:creationId xmlns:a16="http://schemas.microsoft.com/office/drawing/2014/main" id="{57BDE72C-E564-423C-B32B-9F78ED81BB6E}"/>
                </a:ext>
              </a:extLst>
            </p:cNvPr>
            <p:cNvGrpSpPr/>
            <p:nvPr/>
          </p:nvGrpSpPr>
          <p:grpSpPr>
            <a:xfrm>
              <a:off x="1736090" y="2873352"/>
              <a:ext cx="565150" cy="409344"/>
              <a:chOff x="1736090" y="2873352"/>
              <a:chExt cx="565150" cy="409344"/>
            </a:xfrm>
          </p:grpSpPr>
          <p:grpSp>
            <p:nvGrpSpPr>
              <p:cNvPr id="186" name="Group 327">
                <a:extLst>
                  <a:ext uri="{FF2B5EF4-FFF2-40B4-BE49-F238E27FC236}">
                    <a16:creationId xmlns:a16="http://schemas.microsoft.com/office/drawing/2014/main" id="{426AD483-0F94-48FD-984B-31F9769D9D57}"/>
                  </a:ext>
                </a:extLst>
              </p:cNvPr>
              <p:cNvGrpSpPr>
                <a:grpSpLocks/>
              </p:cNvGrpSpPr>
              <p:nvPr/>
            </p:nvGrpSpPr>
            <p:grpSpPr bwMode="auto">
              <a:xfrm>
                <a:off x="1736090" y="2893762"/>
                <a:ext cx="565150" cy="292100"/>
                <a:chOff x="1871277" y="1576300"/>
                <a:chExt cx="1128371" cy="437861"/>
              </a:xfrm>
            </p:grpSpPr>
            <p:sp>
              <p:nvSpPr>
                <p:cNvPr id="190" name="Oval 187">
                  <a:extLst>
                    <a:ext uri="{FF2B5EF4-FFF2-40B4-BE49-F238E27FC236}">
                      <a16:creationId xmlns:a16="http://schemas.microsoft.com/office/drawing/2014/main" id="{A4E9CC77-0C0A-4DE9-BDE2-B6D7847627C2}"/>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91" name="Rectangle 188">
                  <a:extLst>
                    <a:ext uri="{FF2B5EF4-FFF2-40B4-BE49-F238E27FC236}">
                      <a16:creationId xmlns:a16="http://schemas.microsoft.com/office/drawing/2014/main" id="{1E3A49FA-2858-458D-AC55-396E66C2D005}"/>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2" name="Oval 189">
                  <a:extLst>
                    <a:ext uri="{FF2B5EF4-FFF2-40B4-BE49-F238E27FC236}">
                      <a16:creationId xmlns:a16="http://schemas.microsoft.com/office/drawing/2014/main" id="{534A3E6C-91F3-40AF-A596-DD13D31F47BC}"/>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93" name="Freeform 190">
                  <a:extLst>
                    <a:ext uri="{FF2B5EF4-FFF2-40B4-BE49-F238E27FC236}">
                      <a16:creationId xmlns:a16="http://schemas.microsoft.com/office/drawing/2014/main" id="{4F0291F4-6EDE-4F8C-941A-1DABA53E00F3}"/>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4" name="Freeform 191">
                  <a:extLst>
                    <a:ext uri="{FF2B5EF4-FFF2-40B4-BE49-F238E27FC236}">
                      <a16:creationId xmlns:a16="http://schemas.microsoft.com/office/drawing/2014/main" id="{2D8CC994-DC77-405C-A0F7-7E13CD0550B1}"/>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5" name="Freeform 192">
                  <a:extLst>
                    <a:ext uri="{FF2B5EF4-FFF2-40B4-BE49-F238E27FC236}">
                      <a16:creationId xmlns:a16="http://schemas.microsoft.com/office/drawing/2014/main" id="{FA302BB4-E144-4F21-9126-BDB0D3ABDEB2}"/>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6" name="Freeform 193">
                  <a:extLst>
                    <a:ext uri="{FF2B5EF4-FFF2-40B4-BE49-F238E27FC236}">
                      <a16:creationId xmlns:a16="http://schemas.microsoft.com/office/drawing/2014/main" id="{DB997E19-6C06-4C5F-AFBF-608269E71EDD}"/>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97" name="Straight Connector 194">
                  <a:extLst>
                    <a:ext uri="{FF2B5EF4-FFF2-40B4-BE49-F238E27FC236}">
                      <a16:creationId xmlns:a16="http://schemas.microsoft.com/office/drawing/2014/main" id="{8BF24306-9E6E-4F16-A6CD-F2C10F71676B}"/>
                    </a:ext>
                  </a:extLst>
                </p:cNvPr>
                <p:cNvCxnSpPr>
                  <a:endCxn id="192"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98" name="Straight Connector 195">
                  <a:extLst>
                    <a:ext uri="{FF2B5EF4-FFF2-40B4-BE49-F238E27FC236}">
                      <a16:creationId xmlns:a16="http://schemas.microsoft.com/office/drawing/2014/main" id="{52215AF4-8AB9-441C-966A-2F259DCC9DC7}"/>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87" name="Group 184">
                <a:extLst>
                  <a:ext uri="{FF2B5EF4-FFF2-40B4-BE49-F238E27FC236}">
                    <a16:creationId xmlns:a16="http://schemas.microsoft.com/office/drawing/2014/main" id="{A67A0322-A158-4E31-B666-9E1F92C6E421}"/>
                  </a:ext>
                </a:extLst>
              </p:cNvPr>
              <p:cNvGrpSpPr/>
              <p:nvPr/>
            </p:nvGrpSpPr>
            <p:grpSpPr>
              <a:xfrm>
                <a:off x="1770362" y="2873352"/>
                <a:ext cx="414737" cy="409344"/>
                <a:chOff x="667045" y="1708643"/>
                <a:chExt cx="414737" cy="409344"/>
              </a:xfrm>
            </p:grpSpPr>
            <p:sp>
              <p:nvSpPr>
                <p:cNvPr id="188" name="Oval 185">
                  <a:extLst>
                    <a:ext uri="{FF2B5EF4-FFF2-40B4-BE49-F238E27FC236}">
                      <a16:creationId xmlns:a16="http://schemas.microsoft.com/office/drawing/2014/main" id="{2542CAA7-D193-45A6-BBDF-419D92035CB6}"/>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9" name="TextBox 186">
                  <a:extLst>
                    <a:ext uri="{FF2B5EF4-FFF2-40B4-BE49-F238E27FC236}">
                      <a16:creationId xmlns:a16="http://schemas.microsoft.com/office/drawing/2014/main" id="{D19B2666-3821-440D-BE1F-48E482AFE4A4}"/>
                    </a:ext>
                  </a:extLst>
                </p:cNvPr>
                <p:cNvSpPr txBox="1"/>
                <p:nvPr/>
              </p:nvSpPr>
              <p:spPr>
                <a:xfrm>
                  <a:off x="667045" y="1708643"/>
                  <a:ext cx="347227" cy="409344"/>
                </a:xfrm>
                <a:prstGeom prst="rect">
                  <a:avLst/>
                </a:prstGeom>
                <a:noFill/>
              </p:spPr>
              <p:txBody>
                <a:bodyPr wrap="none" rtlCol="0">
                  <a:spAutoFit/>
                </a:bodyPr>
                <a:lstStyle/>
                <a:p>
                  <a:r>
                    <a:rPr lang="en-US" dirty="0"/>
                    <a:t>3b</a:t>
                  </a:r>
                </a:p>
              </p:txBody>
            </p:sp>
          </p:grpSp>
        </p:grpSp>
        <p:grpSp>
          <p:nvGrpSpPr>
            <p:cNvPr id="138" name="Group 135">
              <a:extLst>
                <a:ext uri="{FF2B5EF4-FFF2-40B4-BE49-F238E27FC236}">
                  <a16:creationId xmlns:a16="http://schemas.microsoft.com/office/drawing/2014/main" id="{10A8B178-D0B8-4EC5-8F9F-997D6718D44F}"/>
                </a:ext>
              </a:extLst>
            </p:cNvPr>
            <p:cNvGrpSpPr/>
            <p:nvPr/>
          </p:nvGrpSpPr>
          <p:grpSpPr>
            <a:xfrm>
              <a:off x="1740320" y="4094669"/>
              <a:ext cx="565150" cy="409344"/>
              <a:chOff x="1736090" y="2873352"/>
              <a:chExt cx="565150" cy="409344"/>
            </a:xfrm>
          </p:grpSpPr>
          <p:grpSp>
            <p:nvGrpSpPr>
              <p:cNvPr id="173" name="Group 327">
                <a:extLst>
                  <a:ext uri="{FF2B5EF4-FFF2-40B4-BE49-F238E27FC236}">
                    <a16:creationId xmlns:a16="http://schemas.microsoft.com/office/drawing/2014/main" id="{B49B8EC0-B4AF-4620-9CD3-5266EE6BCCF6}"/>
                  </a:ext>
                </a:extLst>
              </p:cNvPr>
              <p:cNvGrpSpPr>
                <a:grpSpLocks/>
              </p:cNvGrpSpPr>
              <p:nvPr/>
            </p:nvGrpSpPr>
            <p:grpSpPr bwMode="auto">
              <a:xfrm>
                <a:off x="1736090" y="2893762"/>
                <a:ext cx="565150" cy="292100"/>
                <a:chOff x="1871277" y="1576300"/>
                <a:chExt cx="1128371" cy="437861"/>
              </a:xfrm>
            </p:grpSpPr>
            <p:sp>
              <p:nvSpPr>
                <p:cNvPr id="177" name="Oval 174">
                  <a:extLst>
                    <a:ext uri="{FF2B5EF4-FFF2-40B4-BE49-F238E27FC236}">
                      <a16:creationId xmlns:a16="http://schemas.microsoft.com/office/drawing/2014/main" id="{5D3A03DC-C6CF-4C8F-93CF-41D6C6D5142A}"/>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78" name="Rectangle 175">
                  <a:extLst>
                    <a:ext uri="{FF2B5EF4-FFF2-40B4-BE49-F238E27FC236}">
                      <a16:creationId xmlns:a16="http://schemas.microsoft.com/office/drawing/2014/main" id="{8E820247-59AC-44F2-9D09-F15C739894D8}"/>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9" name="Oval 176">
                  <a:extLst>
                    <a:ext uri="{FF2B5EF4-FFF2-40B4-BE49-F238E27FC236}">
                      <a16:creationId xmlns:a16="http://schemas.microsoft.com/office/drawing/2014/main" id="{91E51956-5DBA-41E6-BB95-AD32468CA7F1}"/>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80" name="Freeform 177">
                  <a:extLst>
                    <a:ext uri="{FF2B5EF4-FFF2-40B4-BE49-F238E27FC236}">
                      <a16:creationId xmlns:a16="http://schemas.microsoft.com/office/drawing/2014/main" id="{2DF0AA55-C726-4869-A456-EA63E170D90A}"/>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1" name="Freeform 178">
                  <a:extLst>
                    <a:ext uri="{FF2B5EF4-FFF2-40B4-BE49-F238E27FC236}">
                      <a16:creationId xmlns:a16="http://schemas.microsoft.com/office/drawing/2014/main" id="{198A0ACE-F1BF-4B61-8968-8F08B8C3817E}"/>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2" name="Freeform 179">
                  <a:extLst>
                    <a:ext uri="{FF2B5EF4-FFF2-40B4-BE49-F238E27FC236}">
                      <a16:creationId xmlns:a16="http://schemas.microsoft.com/office/drawing/2014/main" id="{CB30307D-6FCE-4533-B378-7DA4CAA56439}"/>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3" name="Freeform 180">
                  <a:extLst>
                    <a:ext uri="{FF2B5EF4-FFF2-40B4-BE49-F238E27FC236}">
                      <a16:creationId xmlns:a16="http://schemas.microsoft.com/office/drawing/2014/main" id="{719F7ACD-8B63-4D28-8D04-8E5B1E1B6B31}"/>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84" name="Straight Connector 181">
                  <a:extLst>
                    <a:ext uri="{FF2B5EF4-FFF2-40B4-BE49-F238E27FC236}">
                      <a16:creationId xmlns:a16="http://schemas.microsoft.com/office/drawing/2014/main" id="{85261DFE-80F8-4C17-ADA3-7C454EC663EE}"/>
                    </a:ext>
                  </a:extLst>
                </p:cNvPr>
                <p:cNvCxnSpPr>
                  <a:endCxn id="179"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85" name="Straight Connector 182">
                  <a:extLst>
                    <a:ext uri="{FF2B5EF4-FFF2-40B4-BE49-F238E27FC236}">
                      <a16:creationId xmlns:a16="http://schemas.microsoft.com/office/drawing/2014/main" id="{D1DDAC83-B6AA-42DF-8EC4-AE67F2D0CB58}"/>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74" name="Group 171">
                <a:extLst>
                  <a:ext uri="{FF2B5EF4-FFF2-40B4-BE49-F238E27FC236}">
                    <a16:creationId xmlns:a16="http://schemas.microsoft.com/office/drawing/2014/main" id="{ABAC08A1-622A-4973-8AE3-BD8C9FE9AF89}"/>
                  </a:ext>
                </a:extLst>
              </p:cNvPr>
              <p:cNvGrpSpPr/>
              <p:nvPr/>
            </p:nvGrpSpPr>
            <p:grpSpPr>
              <a:xfrm>
                <a:off x="1770362" y="2873352"/>
                <a:ext cx="414737" cy="409344"/>
                <a:chOff x="667045" y="1708643"/>
                <a:chExt cx="414737" cy="409344"/>
              </a:xfrm>
            </p:grpSpPr>
            <p:sp>
              <p:nvSpPr>
                <p:cNvPr id="175" name="Oval 172">
                  <a:extLst>
                    <a:ext uri="{FF2B5EF4-FFF2-40B4-BE49-F238E27FC236}">
                      <a16:creationId xmlns:a16="http://schemas.microsoft.com/office/drawing/2014/main" id="{4DE3686C-CBC4-48E8-850E-BB85A20C4B73}"/>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6" name="TextBox 173">
                  <a:extLst>
                    <a:ext uri="{FF2B5EF4-FFF2-40B4-BE49-F238E27FC236}">
                      <a16:creationId xmlns:a16="http://schemas.microsoft.com/office/drawing/2014/main" id="{8D445158-8025-455D-B763-4BEB04F2FFF3}"/>
                    </a:ext>
                  </a:extLst>
                </p:cNvPr>
                <p:cNvSpPr txBox="1"/>
                <p:nvPr/>
              </p:nvSpPr>
              <p:spPr>
                <a:xfrm>
                  <a:off x="667045" y="1708643"/>
                  <a:ext cx="347227" cy="409344"/>
                </a:xfrm>
                <a:prstGeom prst="rect">
                  <a:avLst/>
                </a:prstGeom>
                <a:noFill/>
              </p:spPr>
              <p:txBody>
                <a:bodyPr wrap="none" rtlCol="0">
                  <a:spAutoFit/>
                </a:bodyPr>
                <a:lstStyle/>
                <a:p>
                  <a:r>
                    <a:rPr lang="en-US" dirty="0"/>
                    <a:t>3d</a:t>
                  </a:r>
                </a:p>
              </p:txBody>
            </p:sp>
          </p:grpSp>
        </p:grpSp>
        <p:grpSp>
          <p:nvGrpSpPr>
            <p:cNvPr id="139" name="Group 136">
              <a:extLst>
                <a:ext uri="{FF2B5EF4-FFF2-40B4-BE49-F238E27FC236}">
                  <a16:creationId xmlns:a16="http://schemas.microsoft.com/office/drawing/2014/main" id="{8C37F8F7-31CE-422A-82D0-2C0A668F9DD9}"/>
                </a:ext>
              </a:extLst>
            </p:cNvPr>
            <p:cNvGrpSpPr/>
            <p:nvPr/>
          </p:nvGrpSpPr>
          <p:grpSpPr>
            <a:xfrm>
              <a:off x="2601806" y="3485072"/>
              <a:ext cx="565150" cy="409344"/>
              <a:chOff x="1736090" y="2873352"/>
              <a:chExt cx="565150" cy="409344"/>
            </a:xfrm>
          </p:grpSpPr>
          <p:grpSp>
            <p:nvGrpSpPr>
              <p:cNvPr id="160" name="Group 327">
                <a:extLst>
                  <a:ext uri="{FF2B5EF4-FFF2-40B4-BE49-F238E27FC236}">
                    <a16:creationId xmlns:a16="http://schemas.microsoft.com/office/drawing/2014/main" id="{669651B5-50BF-49A1-9858-2C2B20E308D6}"/>
                  </a:ext>
                </a:extLst>
              </p:cNvPr>
              <p:cNvGrpSpPr>
                <a:grpSpLocks/>
              </p:cNvGrpSpPr>
              <p:nvPr/>
            </p:nvGrpSpPr>
            <p:grpSpPr bwMode="auto">
              <a:xfrm>
                <a:off x="1736090" y="2893762"/>
                <a:ext cx="565150" cy="292100"/>
                <a:chOff x="1871277" y="1576300"/>
                <a:chExt cx="1128371" cy="437861"/>
              </a:xfrm>
            </p:grpSpPr>
            <p:sp>
              <p:nvSpPr>
                <p:cNvPr id="164" name="Oval 161">
                  <a:extLst>
                    <a:ext uri="{FF2B5EF4-FFF2-40B4-BE49-F238E27FC236}">
                      <a16:creationId xmlns:a16="http://schemas.microsoft.com/office/drawing/2014/main" id="{15D48EF5-9F82-4EF3-8DA4-5220308D56BE}"/>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65" name="Rectangle 162">
                  <a:extLst>
                    <a:ext uri="{FF2B5EF4-FFF2-40B4-BE49-F238E27FC236}">
                      <a16:creationId xmlns:a16="http://schemas.microsoft.com/office/drawing/2014/main" id="{CFE42D98-C84A-4DD0-8107-661245BBAF4A}"/>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6" name="Oval 163">
                  <a:extLst>
                    <a:ext uri="{FF2B5EF4-FFF2-40B4-BE49-F238E27FC236}">
                      <a16:creationId xmlns:a16="http://schemas.microsoft.com/office/drawing/2014/main" id="{AB410277-FDC8-41F2-8724-5D0E831E61AB}"/>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67" name="Freeform 164">
                  <a:extLst>
                    <a:ext uri="{FF2B5EF4-FFF2-40B4-BE49-F238E27FC236}">
                      <a16:creationId xmlns:a16="http://schemas.microsoft.com/office/drawing/2014/main" id="{A4E1B118-790C-406E-B6AE-D0F78891EEBB}"/>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8" name="Freeform 165">
                  <a:extLst>
                    <a:ext uri="{FF2B5EF4-FFF2-40B4-BE49-F238E27FC236}">
                      <a16:creationId xmlns:a16="http://schemas.microsoft.com/office/drawing/2014/main" id="{44FE5946-2939-41CC-9CC5-70667FA59869}"/>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9" name="Freeform 166">
                  <a:extLst>
                    <a:ext uri="{FF2B5EF4-FFF2-40B4-BE49-F238E27FC236}">
                      <a16:creationId xmlns:a16="http://schemas.microsoft.com/office/drawing/2014/main" id="{D6483547-5BEB-4F35-9C1F-F85763BA969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0" name="Freeform 167">
                  <a:extLst>
                    <a:ext uri="{FF2B5EF4-FFF2-40B4-BE49-F238E27FC236}">
                      <a16:creationId xmlns:a16="http://schemas.microsoft.com/office/drawing/2014/main" id="{0316C6A5-5DA6-4EFF-9A35-F6D101EC9ECC}"/>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71" name="Straight Connector 168">
                  <a:extLst>
                    <a:ext uri="{FF2B5EF4-FFF2-40B4-BE49-F238E27FC236}">
                      <a16:creationId xmlns:a16="http://schemas.microsoft.com/office/drawing/2014/main" id="{3EE06378-12EE-4F53-9F8F-F19FB61DC08F}"/>
                    </a:ext>
                  </a:extLst>
                </p:cNvPr>
                <p:cNvCxnSpPr>
                  <a:endCxn id="166"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72" name="Straight Connector 169">
                  <a:extLst>
                    <a:ext uri="{FF2B5EF4-FFF2-40B4-BE49-F238E27FC236}">
                      <a16:creationId xmlns:a16="http://schemas.microsoft.com/office/drawing/2014/main" id="{80702C99-3E94-4BEB-9B5D-0154D2D1A1E3}"/>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61" name="Group 158">
                <a:extLst>
                  <a:ext uri="{FF2B5EF4-FFF2-40B4-BE49-F238E27FC236}">
                    <a16:creationId xmlns:a16="http://schemas.microsoft.com/office/drawing/2014/main" id="{593D7EB8-675C-4478-8BB1-B4573DCD1E7D}"/>
                  </a:ext>
                </a:extLst>
              </p:cNvPr>
              <p:cNvGrpSpPr/>
              <p:nvPr/>
            </p:nvGrpSpPr>
            <p:grpSpPr>
              <a:xfrm>
                <a:off x="1770362" y="2873352"/>
                <a:ext cx="414737" cy="409344"/>
                <a:chOff x="667045" y="1708643"/>
                <a:chExt cx="414737" cy="409344"/>
              </a:xfrm>
            </p:grpSpPr>
            <p:sp>
              <p:nvSpPr>
                <p:cNvPr id="162" name="Oval 159">
                  <a:extLst>
                    <a:ext uri="{FF2B5EF4-FFF2-40B4-BE49-F238E27FC236}">
                      <a16:creationId xmlns:a16="http://schemas.microsoft.com/office/drawing/2014/main" id="{E5AC5E4C-009F-46F0-B51B-0130191762E8}"/>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3" name="TextBox 160">
                  <a:extLst>
                    <a:ext uri="{FF2B5EF4-FFF2-40B4-BE49-F238E27FC236}">
                      <a16:creationId xmlns:a16="http://schemas.microsoft.com/office/drawing/2014/main" id="{F81BCED0-CFE1-4F98-8BEB-40DF72179384}"/>
                    </a:ext>
                  </a:extLst>
                </p:cNvPr>
                <p:cNvSpPr txBox="1"/>
                <p:nvPr/>
              </p:nvSpPr>
              <p:spPr>
                <a:xfrm>
                  <a:off x="667045" y="1708643"/>
                  <a:ext cx="324433" cy="409344"/>
                </a:xfrm>
                <a:prstGeom prst="rect">
                  <a:avLst/>
                </a:prstGeom>
                <a:noFill/>
              </p:spPr>
              <p:txBody>
                <a:bodyPr wrap="none" rtlCol="0">
                  <a:spAutoFit/>
                </a:bodyPr>
                <a:lstStyle/>
                <a:p>
                  <a:r>
                    <a:rPr lang="en-US" dirty="0"/>
                    <a:t>3c</a:t>
                  </a:r>
                </a:p>
              </p:txBody>
            </p:sp>
          </p:grpSp>
        </p:grpSp>
        <p:grpSp>
          <p:nvGrpSpPr>
            <p:cNvPr id="140" name="Group 137">
              <a:extLst>
                <a:ext uri="{FF2B5EF4-FFF2-40B4-BE49-F238E27FC236}">
                  <a16:creationId xmlns:a16="http://schemas.microsoft.com/office/drawing/2014/main" id="{FB95A796-F221-4EA8-9F4F-197F5D15DB06}"/>
                </a:ext>
              </a:extLst>
            </p:cNvPr>
            <p:cNvGrpSpPr/>
            <p:nvPr/>
          </p:nvGrpSpPr>
          <p:grpSpPr>
            <a:xfrm>
              <a:off x="833331" y="3478719"/>
              <a:ext cx="565150" cy="409344"/>
              <a:chOff x="1736090" y="2873352"/>
              <a:chExt cx="565150" cy="409344"/>
            </a:xfrm>
          </p:grpSpPr>
          <p:grpSp>
            <p:nvGrpSpPr>
              <p:cNvPr id="147" name="Group 327">
                <a:extLst>
                  <a:ext uri="{FF2B5EF4-FFF2-40B4-BE49-F238E27FC236}">
                    <a16:creationId xmlns:a16="http://schemas.microsoft.com/office/drawing/2014/main" id="{F7B50A7D-080C-4360-9A5A-D5E2C8FB0251}"/>
                  </a:ext>
                </a:extLst>
              </p:cNvPr>
              <p:cNvGrpSpPr>
                <a:grpSpLocks/>
              </p:cNvGrpSpPr>
              <p:nvPr/>
            </p:nvGrpSpPr>
            <p:grpSpPr bwMode="auto">
              <a:xfrm>
                <a:off x="1736090" y="2893762"/>
                <a:ext cx="565150" cy="292100"/>
                <a:chOff x="1871277" y="1576300"/>
                <a:chExt cx="1128371" cy="437861"/>
              </a:xfrm>
            </p:grpSpPr>
            <p:sp>
              <p:nvSpPr>
                <p:cNvPr id="151" name="Oval 148">
                  <a:extLst>
                    <a:ext uri="{FF2B5EF4-FFF2-40B4-BE49-F238E27FC236}">
                      <a16:creationId xmlns:a16="http://schemas.microsoft.com/office/drawing/2014/main" id="{B9DE22B0-2136-4568-9488-8E4258A7CF4C}"/>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2" name="Rectangle 149">
                  <a:extLst>
                    <a:ext uri="{FF2B5EF4-FFF2-40B4-BE49-F238E27FC236}">
                      <a16:creationId xmlns:a16="http://schemas.microsoft.com/office/drawing/2014/main" id="{7C238734-7A51-476C-AB48-047A59069F41}"/>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3" name="Oval 150">
                  <a:extLst>
                    <a:ext uri="{FF2B5EF4-FFF2-40B4-BE49-F238E27FC236}">
                      <a16:creationId xmlns:a16="http://schemas.microsoft.com/office/drawing/2014/main" id="{92F32E6F-81FA-45D9-A6B7-D727A1B2D0C8}"/>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4" name="Freeform 151">
                  <a:extLst>
                    <a:ext uri="{FF2B5EF4-FFF2-40B4-BE49-F238E27FC236}">
                      <a16:creationId xmlns:a16="http://schemas.microsoft.com/office/drawing/2014/main" id="{4AD1EAE3-EF54-46C9-A795-83A0554E2C77}"/>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5" name="Freeform 152">
                  <a:extLst>
                    <a:ext uri="{FF2B5EF4-FFF2-40B4-BE49-F238E27FC236}">
                      <a16:creationId xmlns:a16="http://schemas.microsoft.com/office/drawing/2014/main" id="{87297A12-1FE0-41E6-92C2-F4ABC3D6BFAA}"/>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6" name="Freeform 153">
                  <a:extLst>
                    <a:ext uri="{FF2B5EF4-FFF2-40B4-BE49-F238E27FC236}">
                      <a16:creationId xmlns:a16="http://schemas.microsoft.com/office/drawing/2014/main" id="{2A0D4CB9-1C1F-4125-A69A-3181FAABEA9B}"/>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7" name="Freeform 154">
                  <a:extLst>
                    <a:ext uri="{FF2B5EF4-FFF2-40B4-BE49-F238E27FC236}">
                      <a16:creationId xmlns:a16="http://schemas.microsoft.com/office/drawing/2014/main" id="{54E18C22-4979-4D70-961B-0C414F0B7587}"/>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58" name="Straight Connector 155">
                  <a:extLst>
                    <a:ext uri="{FF2B5EF4-FFF2-40B4-BE49-F238E27FC236}">
                      <a16:creationId xmlns:a16="http://schemas.microsoft.com/office/drawing/2014/main" id="{372005EE-AB71-454A-9C68-84E74D7C3252}"/>
                    </a:ext>
                  </a:extLst>
                </p:cNvPr>
                <p:cNvCxnSpPr>
                  <a:endCxn id="153"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59" name="Straight Connector 156">
                  <a:extLst>
                    <a:ext uri="{FF2B5EF4-FFF2-40B4-BE49-F238E27FC236}">
                      <a16:creationId xmlns:a16="http://schemas.microsoft.com/office/drawing/2014/main" id="{87172178-4496-4DB1-BDFB-90ECF24ABC9D}"/>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48" name="Group 145">
                <a:extLst>
                  <a:ext uri="{FF2B5EF4-FFF2-40B4-BE49-F238E27FC236}">
                    <a16:creationId xmlns:a16="http://schemas.microsoft.com/office/drawing/2014/main" id="{35A32F1D-70F8-4427-B30D-1FB77098F913}"/>
                  </a:ext>
                </a:extLst>
              </p:cNvPr>
              <p:cNvGrpSpPr/>
              <p:nvPr/>
            </p:nvGrpSpPr>
            <p:grpSpPr>
              <a:xfrm>
                <a:off x="1770362" y="2873352"/>
                <a:ext cx="414737" cy="409344"/>
                <a:chOff x="667045" y="1708643"/>
                <a:chExt cx="414737" cy="409344"/>
              </a:xfrm>
            </p:grpSpPr>
            <p:sp>
              <p:nvSpPr>
                <p:cNvPr id="149" name="Oval 146">
                  <a:extLst>
                    <a:ext uri="{FF2B5EF4-FFF2-40B4-BE49-F238E27FC236}">
                      <a16:creationId xmlns:a16="http://schemas.microsoft.com/office/drawing/2014/main" id="{DC5415A4-B695-4950-B66C-FECB9918A3A2}"/>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0" name="TextBox 147">
                  <a:extLst>
                    <a:ext uri="{FF2B5EF4-FFF2-40B4-BE49-F238E27FC236}">
                      <a16:creationId xmlns:a16="http://schemas.microsoft.com/office/drawing/2014/main" id="{12E69F42-525D-43F9-9742-223A324E77BD}"/>
                    </a:ext>
                  </a:extLst>
                </p:cNvPr>
                <p:cNvSpPr txBox="1"/>
                <p:nvPr/>
              </p:nvSpPr>
              <p:spPr>
                <a:xfrm>
                  <a:off x="667045" y="1708643"/>
                  <a:ext cx="333296" cy="409344"/>
                </a:xfrm>
                <a:prstGeom prst="rect">
                  <a:avLst/>
                </a:prstGeom>
                <a:noFill/>
              </p:spPr>
              <p:txBody>
                <a:bodyPr wrap="none" rtlCol="0">
                  <a:spAutoFit/>
                </a:bodyPr>
                <a:lstStyle/>
                <a:p>
                  <a:r>
                    <a:rPr lang="en-US" dirty="0"/>
                    <a:t>3a</a:t>
                  </a:r>
                </a:p>
              </p:txBody>
            </p:sp>
          </p:grpSp>
        </p:grpSp>
        <p:cxnSp>
          <p:nvCxnSpPr>
            <p:cNvPr id="141" name="Straight Connector 138">
              <a:extLst>
                <a:ext uri="{FF2B5EF4-FFF2-40B4-BE49-F238E27FC236}">
                  <a16:creationId xmlns:a16="http://schemas.microsoft.com/office/drawing/2014/main" id="{4DF8575A-6524-4B9A-90E2-1E07A955C4D2}"/>
                </a:ext>
              </a:extLst>
            </p:cNvPr>
            <p:cNvCxnSpPr>
              <a:stCxn id="189" idx="2"/>
              <a:endCxn id="176" idx="0"/>
            </p:cNvCxnSpPr>
            <p:nvPr/>
          </p:nvCxnSpPr>
          <p:spPr bwMode="auto">
            <a:xfrm>
              <a:off x="1943976" y="3282696"/>
              <a:ext cx="4230" cy="811972"/>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Straight Connector 139">
              <a:extLst>
                <a:ext uri="{FF2B5EF4-FFF2-40B4-BE49-F238E27FC236}">
                  <a16:creationId xmlns:a16="http://schemas.microsoft.com/office/drawing/2014/main" id="{FF133C52-7FAC-4182-B375-A70CDE8D0C41}"/>
                </a:ext>
              </a:extLst>
            </p:cNvPr>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Straight Connector 140">
              <a:extLst>
                <a:ext uri="{FF2B5EF4-FFF2-40B4-BE49-F238E27FC236}">
                  <a16:creationId xmlns:a16="http://schemas.microsoft.com/office/drawing/2014/main" id="{AF240801-E9BB-40CF-803F-0700BA6EE34A}"/>
                </a:ext>
              </a:extLst>
            </p:cNvPr>
            <p:cNvCxnSpPr>
              <a:stCxn id="190"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Straight Connector 141">
              <a:extLst>
                <a:ext uri="{FF2B5EF4-FFF2-40B4-BE49-F238E27FC236}">
                  <a16:creationId xmlns:a16="http://schemas.microsoft.com/office/drawing/2014/main" id="{78D89EB6-7EA5-4F6D-A728-36C347FAC92A}"/>
                </a:ext>
              </a:extLst>
            </p:cNvPr>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Straight Connector 142">
              <a:extLst>
                <a:ext uri="{FF2B5EF4-FFF2-40B4-BE49-F238E27FC236}">
                  <a16:creationId xmlns:a16="http://schemas.microsoft.com/office/drawing/2014/main" id="{47D6AB3B-16AF-4BE7-8B44-E9C47A63E2CD}"/>
                </a:ext>
              </a:extLst>
            </p:cNvPr>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Straight Connector 143">
              <a:extLst>
                <a:ext uri="{FF2B5EF4-FFF2-40B4-BE49-F238E27FC236}">
                  <a16:creationId xmlns:a16="http://schemas.microsoft.com/office/drawing/2014/main" id="{8AED2036-F6A7-46FE-8194-ACDE34E38B73}"/>
                </a:ext>
              </a:extLst>
            </p:cNvPr>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99" name="Straight Connector 127">
            <a:extLst>
              <a:ext uri="{FF2B5EF4-FFF2-40B4-BE49-F238E27FC236}">
                <a16:creationId xmlns:a16="http://schemas.microsoft.com/office/drawing/2014/main" id="{4ECC9970-1E79-42D6-9832-D0561940F099}"/>
              </a:ext>
            </a:extLst>
          </p:cNvPr>
          <p:cNvCxnSpPr/>
          <p:nvPr/>
        </p:nvCxnSpPr>
        <p:spPr bwMode="auto">
          <a:xfrm flipH="1" flipV="1">
            <a:off x="4062275" y="2340047"/>
            <a:ext cx="641169" cy="744090"/>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0" name="Straight Connector 128">
            <a:extLst>
              <a:ext uri="{FF2B5EF4-FFF2-40B4-BE49-F238E27FC236}">
                <a16:creationId xmlns:a16="http://schemas.microsoft.com/office/drawing/2014/main" id="{652B788C-AD36-4E7A-8446-FAF8ACCBA845}"/>
              </a:ext>
            </a:extLst>
          </p:cNvPr>
          <p:cNvCxnSpPr/>
          <p:nvPr/>
        </p:nvCxnSpPr>
        <p:spPr bwMode="auto">
          <a:xfrm flipV="1">
            <a:off x="7364252" y="2281165"/>
            <a:ext cx="450313" cy="823128"/>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1" name="TextBox 129">
            <a:extLst>
              <a:ext uri="{FF2B5EF4-FFF2-40B4-BE49-F238E27FC236}">
                <a16:creationId xmlns:a16="http://schemas.microsoft.com/office/drawing/2014/main" id="{649BA2DD-C43B-4050-AD6D-AFED6E3D462C}"/>
              </a:ext>
            </a:extLst>
          </p:cNvPr>
          <p:cNvSpPr txBox="1"/>
          <p:nvPr/>
        </p:nvSpPr>
        <p:spPr>
          <a:xfrm>
            <a:off x="4657722" y="2438369"/>
            <a:ext cx="614271" cy="400110"/>
          </a:xfrm>
          <a:prstGeom prst="rect">
            <a:avLst/>
          </a:prstGeom>
          <a:noFill/>
        </p:spPr>
        <p:txBody>
          <a:bodyPr wrap="none" rtlCol="0">
            <a:spAutoFit/>
          </a:bodyPr>
          <a:lstStyle/>
          <a:p>
            <a:r>
              <a:rPr lang="en-US" sz="2000" dirty="0"/>
              <a:t>AS2</a:t>
            </a:r>
          </a:p>
        </p:txBody>
      </p:sp>
      <p:sp>
        <p:nvSpPr>
          <p:cNvPr id="202" name="TextBox 130">
            <a:extLst>
              <a:ext uri="{FF2B5EF4-FFF2-40B4-BE49-F238E27FC236}">
                <a16:creationId xmlns:a16="http://schemas.microsoft.com/office/drawing/2014/main" id="{2A92A894-A4E3-48C2-A532-7F514CB6EA12}"/>
              </a:ext>
            </a:extLst>
          </p:cNvPr>
          <p:cNvSpPr txBox="1"/>
          <p:nvPr/>
        </p:nvSpPr>
        <p:spPr>
          <a:xfrm>
            <a:off x="7391934" y="1351667"/>
            <a:ext cx="614271" cy="400110"/>
          </a:xfrm>
          <a:prstGeom prst="rect">
            <a:avLst/>
          </a:prstGeom>
          <a:noFill/>
        </p:spPr>
        <p:txBody>
          <a:bodyPr wrap="none" rtlCol="0">
            <a:spAutoFit/>
          </a:bodyPr>
          <a:lstStyle/>
          <a:p>
            <a:r>
              <a:rPr lang="en-US" sz="2000" dirty="0"/>
              <a:t>AS3</a:t>
            </a:r>
          </a:p>
        </p:txBody>
      </p:sp>
      <p:sp>
        <p:nvSpPr>
          <p:cNvPr id="203" name="TextBox 131">
            <a:extLst>
              <a:ext uri="{FF2B5EF4-FFF2-40B4-BE49-F238E27FC236}">
                <a16:creationId xmlns:a16="http://schemas.microsoft.com/office/drawing/2014/main" id="{9D0C6CD6-316D-4364-84EB-4F5129816653}"/>
              </a:ext>
            </a:extLst>
          </p:cNvPr>
          <p:cNvSpPr txBox="1"/>
          <p:nvPr/>
        </p:nvSpPr>
        <p:spPr>
          <a:xfrm>
            <a:off x="942897" y="1562343"/>
            <a:ext cx="614271" cy="400110"/>
          </a:xfrm>
          <a:prstGeom prst="rect">
            <a:avLst/>
          </a:prstGeom>
          <a:noFill/>
        </p:spPr>
        <p:txBody>
          <a:bodyPr wrap="none" rtlCol="0">
            <a:spAutoFit/>
          </a:bodyPr>
          <a:lstStyle/>
          <a:p>
            <a:r>
              <a:rPr lang="en-US" sz="2000" dirty="0"/>
              <a:t>AS1</a:t>
            </a:r>
          </a:p>
        </p:txBody>
      </p:sp>
      <p:grpSp>
        <p:nvGrpSpPr>
          <p:cNvPr id="204" name="Group 10">
            <a:extLst>
              <a:ext uri="{FF2B5EF4-FFF2-40B4-BE49-F238E27FC236}">
                <a16:creationId xmlns:a16="http://schemas.microsoft.com/office/drawing/2014/main" id="{A50B52BD-D0F5-42A7-8F62-C2A9E2E66021}"/>
              </a:ext>
            </a:extLst>
          </p:cNvPr>
          <p:cNvGrpSpPr/>
          <p:nvPr/>
        </p:nvGrpSpPr>
        <p:grpSpPr>
          <a:xfrm>
            <a:off x="9427769" y="2413274"/>
            <a:ext cx="2268979" cy="616172"/>
            <a:chOff x="7073692" y="5469792"/>
            <a:chExt cx="1701734" cy="616172"/>
          </a:xfrm>
        </p:grpSpPr>
        <p:grpSp>
          <p:nvGrpSpPr>
            <p:cNvPr id="205" name="Group 9">
              <a:extLst>
                <a:ext uri="{FF2B5EF4-FFF2-40B4-BE49-F238E27FC236}">
                  <a16:creationId xmlns:a16="http://schemas.microsoft.com/office/drawing/2014/main" id="{16FB1842-DC37-45C3-AFE3-E280F91AB9B6}"/>
                </a:ext>
              </a:extLst>
            </p:cNvPr>
            <p:cNvGrpSpPr/>
            <p:nvPr/>
          </p:nvGrpSpPr>
          <p:grpSpPr>
            <a:xfrm>
              <a:off x="7073692" y="5469792"/>
              <a:ext cx="1701734" cy="616172"/>
              <a:chOff x="6946249" y="5096269"/>
              <a:chExt cx="1701734" cy="616172"/>
            </a:xfrm>
          </p:grpSpPr>
          <p:sp>
            <p:nvSpPr>
              <p:cNvPr id="207" name="Freeform 2">
                <a:extLst>
                  <a:ext uri="{FF2B5EF4-FFF2-40B4-BE49-F238E27FC236}">
                    <a16:creationId xmlns:a16="http://schemas.microsoft.com/office/drawing/2014/main" id="{35870175-7904-4816-999D-71627936E3D8}"/>
                  </a:ext>
                </a:extLst>
              </p:cNvPr>
              <p:cNvSpPr>
                <a:spLocks/>
              </p:cNvSpPr>
              <p:nvPr/>
            </p:nvSpPr>
            <p:spPr bwMode="auto">
              <a:xfrm>
                <a:off x="6946249" y="5096269"/>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208" name="Group 327">
                <a:extLst>
                  <a:ext uri="{FF2B5EF4-FFF2-40B4-BE49-F238E27FC236}">
                    <a16:creationId xmlns:a16="http://schemas.microsoft.com/office/drawing/2014/main" id="{FF5411F4-57D5-4A3E-9918-C7A615D15068}"/>
                  </a:ext>
                </a:extLst>
              </p:cNvPr>
              <p:cNvGrpSpPr>
                <a:grpSpLocks/>
              </p:cNvGrpSpPr>
              <p:nvPr/>
            </p:nvGrpSpPr>
            <p:grpSpPr bwMode="auto">
              <a:xfrm>
                <a:off x="7908175" y="5241780"/>
                <a:ext cx="536554" cy="263548"/>
                <a:chOff x="1871277" y="1576300"/>
                <a:chExt cx="1128371" cy="437861"/>
              </a:xfrm>
            </p:grpSpPr>
            <p:sp>
              <p:nvSpPr>
                <p:cNvPr id="212" name="Oval 373">
                  <a:extLst>
                    <a:ext uri="{FF2B5EF4-FFF2-40B4-BE49-F238E27FC236}">
                      <a16:creationId xmlns:a16="http://schemas.microsoft.com/office/drawing/2014/main" id="{7CD66CB6-5C1D-42CB-B704-E5937EC0142D}"/>
                    </a:ext>
                  </a:extLst>
                </p:cNvPr>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13" name="Rectangle 374">
                  <a:extLst>
                    <a:ext uri="{FF2B5EF4-FFF2-40B4-BE49-F238E27FC236}">
                      <a16:creationId xmlns:a16="http://schemas.microsoft.com/office/drawing/2014/main" id="{6B0896D0-5378-4666-BA3A-760CC3FC63E7}"/>
                    </a:ext>
                  </a:extLst>
                </p:cNvPr>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4" name="Oval 375">
                  <a:extLst>
                    <a:ext uri="{FF2B5EF4-FFF2-40B4-BE49-F238E27FC236}">
                      <a16:creationId xmlns:a16="http://schemas.microsoft.com/office/drawing/2014/main" id="{4BD558E6-2120-4A07-B6C5-C560BE62EF1B}"/>
                    </a:ext>
                  </a:extLst>
                </p:cNvPr>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15" name="Freeform 376">
                  <a:extLst>
                    <a:ext uri="{FF2B5EF4-FFF2-40B4-BE49-F238E27FC236}">
                      <a16:creationId xmlns:a16="http://schemas.microsoft.com/office/drawing/2014/main" id="{A3560340-6192-4F5B-9F45-23FA18F03276}"/>
                    </a:ext>
                  </a:extLst>
                </p:cNvPr>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6" name="Freeform 377">
                  <a:extLst>
                    <a:ext uri="{FF2B5EF4-FFF2-40B4-BE49-F238E27FC236}">
                      <a16:creationId xmlns:a16="http://schemas.microsoft.com/office/drawing/2014/main" id="{8D8F57A4-251E-4A35-ABDC-879CD08F8305}"/>
                    </a:ext>
                  </a:extLst>
                </p:cNvPr>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7" name="Freeform 378">
                  <a:extLst>
                    <a:ext uri="{FF2B5EF4-FFF2-40B4-BE49-F238E27FC236}">
                      <a16:creationId xmlns:a16="http://schemas.microsoft.com/office/drawing/2014/main" id="{F617CD2C-0E88-4869-8F60-8874D3A7B2B7}"/>
                    </a:ext>
                  </a:extLst>
                </p:cNvPr>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8" name="Freeform 379">
                  <a:extLst>
                    <a:ext uri="{FF2B5EF4-FFF2-40B4-BE49-F238E27FC236}">
                      <a16:creationId xmlns:a16="http://schemas.microsoft.com/office/drawing/2014/main" id="{BC15E283-2CBD-42F7-B116-39BE48594B1A}"/>
                    </a:ext>
                  </a:extLst>
                </p:cNvPr>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219" name="Straight Connector 380">
                  <a:extLst>
                    <a:ext uri="{FF2B5EF4-FFF2-40B4-BE49-F238E27FC236}">
                      <a16:creationId xmlns:a16="http://schemas.microsoft.com/office/drawing/2014/main" id="{D6C34D1F-DA5D-4F7E-8A0F-E29030A278BA}"/>
                    </a:ext>
                  </a:extLst>
                </p:cNvPr>
                <p:cNvCxnSpPr>
                  <a:endCxn id="214"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20" name="Straight Connector 381">
                  <a:extLst>
                    <a:ext uri="{FF2B5EF4-FFF2-40B4-BE49-F238E27FC236}">
                      <a16:creationId xmlns:a16="http://schemas.microsoft.com/office/drawing/2014/main" id="{E0253CD4-B445-478F-9067-93ECBAD69FF9}"/>
                    </a:ext>
                  </a:extLst>
                </p:cNvPr>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209" name="Group 370">
                <a:extLst>
                  <a:ext uri="{FF2B5EF4-FFF2-40B4-BE49-F238E27FC236}">
                    <a16:creationId xmlns:a16="http://schemas.microsoft.com/office/drawing/2014/main" id="{3BB03EF0-C8DD-4167-ACF6-472A61D69AF7}"/>
                  </a:ext>
                </a:extLst>
              </p:cNvPr>
              <p:cNvGrpSpPr/>
              <p:nvPr/>
            </p:nvGrpSpPr>
            <p:grpSpPr>
              <a:xfrm>
                <a:off x="7943996" y="5223365"/>
                <a:ext cx="390467" cy="369332"/>
                <a:chOff x="670504" y="1708643"/>
                <a:chExt cx="411278" cy="409344"/>
              </a:xfrm>
            </p:grpSpPr>
            <p:sp>
              <p:nvSpPr>
                <p:cNvPr id="210" name="Oval 371">
                  <a:extLst>
                    <a:ext uri="{FF2B5EF4-FFF2-40B4-BE49-F238E27FC236}">
                      <a16:creationId xmlns:a16="http://schemas.microsoft.com/office/drawing/2014/main" id="{698D74C0-064A-482F-BC4D-D794E415915E}"/>
                    </a:ext>
                  </a:extLst>
                </p:cNvPr>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1" name="TextBox 372">
                  <a:extLst>
                    <a:ext uri="{FF2B5EF4-FFF2-40B4-BE49-F238E27FC236}">
                      <a16:creationId xmlns:a16="http://schemas.microsoft.com/office/drawing/2014/main" id="{01839195-BBF8-4FAA-97EB-972FF9AB8262}"/>
                    </a:ext>
                  </a:extLst>
                </p:cNvPr>
                <p:cNvSpPr txBox="1"/>
                <p:nvPr/>
              </p:nvSpPr>
              <p:spPr>
                <a:xfrm>
                  <a:off x="670504" y="1708643"/>
                  <a:ext cx="349760" cy="409344"/>
                </a:xfrm>
                <a:prstGeom prst="rect">
                  <a:avLst/>
                </a:prstGeom>
                <a:noFill/>
              </p:spPr>
              <p:txBody>
                <a:bodyPr wrap="none" rtlCol="0">
                  <a:spAutoFit/>
                </a:bodyPr>
                <a:lstStyle/>
                <a:p>
                  <a:pPr algn="ctr"/>
                  <a:r>
                    <a:rPr lang="en-US" dirty="0"/>
                    <a:t>  X</a:t>
                  </a:r>
                </a:p>
              </p:txBody>
            </p:sp>
          </p:grpSp>
        </p:grpSp>
        <p:cxnSp>
          <p:nvCxnSpPr>
            <p:cNvPr id="206" name="Straight Connector 401">
              <a:extLst>
                <a:ext uri="{FF2B5EF4-FFF2-40B4-BE49-F238E27FC236}">
                  <a16:creationId xmlns:a16="http://schemas.microsoft.com/office/drawing/2014/main" id="{E76917DC-0E67-4BB7-A713-F512DA3791F6}"/>
                </a:ext>
              </a:extLst>
            </p:cNvPr>
            <p:cNvCxnSpPr/>
            <p:nvPr/>
          </p:nvCxnSpPr>
          <p:spPr bwMode="auto">
            <a:xfrm flipH="1">
              <a:off x="7133690" y="5764030"/>
              <a:ext cx="870024" cy="9999"/>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21" name="Group 6">
            <a:extLst>
              <a:ext uri="{FF2B5EF4-FFF2-40B4-BE49-F238E27FC236}">
                <a16:creationId xmlns:a16="http://schemas.microsoft.com/office/drawing/2014/main" id="{3420648A-AACF-4A08-A58D-88F1EE963B89}"/>
              </a:ext>
            </a:extLst>
          </p:cNvPr>
          <p:cNvGrpSpPr/>
          <p:nvPr/>
        </p:nvGrpSpPr>
        <p:grpSpPr>
          <a:xfrm>
            <a:off x="7617925" y="2379268"/>
            <a:ext cx="1080508" cy="768350"/>
            <a:chOff x="5713444" y="2379268"/>
            <a:chExt cx="810381" cy="768350"/>
          </a:xfrm>
        </p:grpSpPr>
        <p:sp>
          <p:nvSpPr>
            <p:cNvPr id="222" name="AutoShape 118">
              <a:extLst>
                <a:ext uri="{FF2B5EF4-FFF2-40B4-BE49-F238E27FC236}">
                  <a16:creationId xmlns:a16="http://schemas.microsoft.com/office/drawing/2014/main" id="{74D56AAF-6D21-4A0F-9AA5-26B810A55462}"/>
                </a:ext>
              </a:extLst>
            </p:cNvPr>
            <p:cNvSpPr>
              <a:spLocks noChangeArrowheads="1"/>
            </p:cNvSpPr>
            <p:nvPr/>
          </p:nvSpPr>
          <p:spPr bwMode="auto">
            <a:xfrm rot="17597965">
              <a:off x="5467382" y="2625330"/>
              <a:ext cx="768350" cy="276226"/>
            </a:xfrm>
            <a:prstGeom prst="leftArrow">
              <a:avLst>
                <a:gd name="adj1" fmla="val 50000"/>
                <a:gd name="adj2" fmla="val 69540"/>
              </a:avLst>
            </a:prstGeom>
            <a:gradFill rotWithShape="1">
              <a:gsLst>
                <a:gs pos="0">
                  <a:srgbClr val="FF0000"/>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23" name="Text Box 119">
              <a:extLst>
                <a:ext uri="{FF2B5EF4-FFF2-40B4-BE49-F238E27FC236}">
                  <a16:creationId xmlns:a16="http://schemas.microsoft.com/office/drawing/2014/main" id="{473944EF-7D42-4A54-83CB-B48B24F5E219}"/>
                </a:ext>
              </a:extLst>
            </p:cNvPr>
            <p:cNvSpPr txBox="1">
              <a:spLocks noChangeArrowheads="1"/>
            </p:cNvSpPr>
            <p:nvPr/>
          </p:nvSpPr>
          <p:spPr bwMode="auto">
            <a:xfrm>
              <a:off x="5906829" y="2784958"/>
              <a:ext cx="616996" cy="3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85000"/>
                </a:lnSpc>
              </a:pPr>
              <a:r>
                <a:rPr lang="en-US" sz="1600" i="1" dirty="0">
                  <a:solidFill>
                    <a:srgbClr val="CC0000"/>
                  </a:solidFill>
                </a:rPr>
                <a:t>AS3,X </a:t>
              </a:r>
            </a:p>
          </p:txBody>
        </p:sp>
      </p:grpSp>
      <p:grpSp>
        <p:nvGrpSpPr>
          <p:cNvPr id="224" name="Group 5">
            <a:extLst>
              <a:ext uri="{FF2B5EF4-FFF2-40B4-BE49-F238E27FC236}">
                <a16:creationId xmlns:a16="http://schemas.microsoft.com/office/drawing/2014/main" id="{A0874893-F5BB-4401-8FD1-3A7C876E5000}"/>
              </a:ext>
            </a:extLst>
          </p:cNvPr>
          <p:cNvGrpSpPr/>
          <p:nvPr/>
        </p:nvGrpSpPr>
        <p:grpSpPr>
          <a:xfrm>
            <a:off x="2705105" y="2438605"/>
            <a:ext cx="1637764" cy="882449"/>
            <a:chOff x="2028828" y="2438604"/>
            <a:chExt cx="1228323" cy="882449"/>
          </a:xfrm>
        </p:grpSpPr>
        <p:sp>
          <p:nvSpPr>
            <p:cNvPr id="225" name="Text Box 119">
              <a:extLst>
                <a:ext uri="{FF2B5EF4-FFF2-40B4-BE49-F238E27FC236}">
                  <a16:creationId xmlns:a16="http://schemas.microsoft.com/office/drawing/2014/main" id="{E71483B2-F81E-4D03-9E0B-24B8BD399945}"/>
                </a:ext>
              </a:extLst>
            </p:cNvPr>
            <p:cNvSpPr txBox="1">
              <a:spLocks noChangeArrowheads="1"/>
            </p:cNvSpPr>
            <p:nvPr/>
          </p:nvSpPr>
          <p:spPr bwMode="auto">
            <a:xfrm>
              <a:off x="2028828" y="3019432"/>
              <a:ext cx="950020" cy="3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85000"/>
                </a:lnSpc>
              </a:pPr>
              <a:r>
                <a:rPr lang="en-US" sz="1600" i="1" dirty="0">
                  <a:solidFill>
                    <a:srgbClr val="CC0000"/>
                  </a:solidFill>
                </a:rPr>
                <a:t>AS2,AS3,X </a:t>
              </a:r>
            </a:p>
          </p:txBody>
        </p:sp>
        <p:sp>
          <p:nvSpPr>
            <p:cNvPr id="226" name="AutoShape 118">
              <a:extLst>
                <a:ext uri="{FF2B5EF4-FFF2-40B4-BE49-F238E27FC236}">
                  <a16:creationId xmlns:a16="http://schemas.microsoft.com/office/drawing/2014/main" id="{8D4FEC0F-9D63-4001-A375-B0410E6ACACB}"/>
                </a:ext>
              </a:extLst>
            </p:cNvPr>
            <p:cNvSpPr>
              <a:spLocks noChangeArrowheads="1"/>
            </p:cNvSpPr>
            <p:nvPr/>
          </p:nvSpPr>
          <p:spPr bwMode="auto">
            <a:xfrm rot="3445218">
              <a:off x="2734864" y="2684666"/>
              <a:ext cx="768350" cy="276225"/>
            </a:xfrm>
            <a:prstGeom prst="leftArrow">
              <a:avLst>
                <a:gd name="adj1" fmla="val 50000"/>
                <a:gd name="adj2" fmla="val 69540"/>
              </a:avLst>
            </a:prstGeom>
            <a:gradFill rotWithShape="1">
              <a:gsLst>
                <a:gs pos="0">
                  <a:srgbClr val="FF0000"/>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grpSp>
        <p:nvGrpSpPr>
          <p:cNvPr id="227" name="Group 4">
            <a:extLst>
              <a:ext uri="{FF2B5EF4-FFF2-40B4-BE49-F238E27FC236}">
                <a16:creationId xmlns:a16="http://schemas.microsoft.com/office/drawing/2014/main" id="{58E16E1A-1CFC-4A9E-AD1D-CDB52839DA65}"/>
              </a:ext>
            </a:extLst>
          </p:cNvPr>
          <p:cNvGrpSpPr/>
          <p:nvPr/>
        </p:nvGrpSpPr>
        <p:grpSpPr>
          <a:xfrm>
            <a:off x="5402667" y="2820740"/>
            <a:ext cx="1491783" cy="826267"/>
            <a:chOff x="4052000" y="2820739"/>
            <a:chExt cx="1118837" cy="826267"/>
          </a:xfrm>
        </p:grpSpPr>
        <p:cxnSp>
          <p:nvCxnSpPr>
            <p:cNvPr id="228" name="Straight Arrow Connector 2">
              <a:extLst>
                <a:ext uri="{FF2B5EF4-FFF2-40B4-BE49-F238E27FC236}">
                  <a16:creationId xmlns:a16="http://schemas.microsoft.com/office/drawing/2014/main" id="{E72D3B77-72EB-4ED8-B839-BE83F7028815}"/>
                </a:ext>
              </a:extLst>
            </p:cNvPr>
            <p:cNvCxnSpPr/>
            <p:nvPr/>
          </p:nvCxnSpPr>
          <p:spPr bwMode="auto">
            <a:xfrm flipH="1" flipV="1">
              <a:off x="4769093"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9" name="Straight Arrow Connector 329">
              <a:extLst>
                <a:ext uri="{FF2B5EF4-FFF2-40B4-BE49-F238E27FC236}">
                  <a16:creationId xmlns:a16="http://schemas.microsoft.com/office/drawing/2014/main" id="{39E35DFA-4CF6-4BD2-9F18-7BD4D8822C18}"/>
                </a:ext>
              </a:extLst>
            </p:cNvPr>
            <p:cNvCxnSpPr/>
            <p:nvPr/>
          </p:nvCxnSpPr>
          <p:spPr bwMode="auto">
            <a:xfrm flipH="1" flipV="1">
              <a:off x="4052000" y="3192229"/>
              <a:ext cx="1059565" cy="1417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Straight Arrow Connector 330">
              <a:extLst>
                <a:ext uri="{FF2B5EF4-FFF2-40B4-BE49-F238E27FC236}">
                  <a16:creationId xmlns:a16="http://schemas.microsoft.com/office/drawing/2014/main" id="{7B83DE7B-7033-4B02-A2DA-5C950C8400D2}"/>
                </a:ext>
              </a:extLst>
            </p:cNvPr>
            <p:cNvCxnSpPr/>
            <p:nvPr/>
          </p:nvCxnSpPr>
          <p:spPr bwMode="auto">
            <a:xfrm flipH="1">
              <a:off x="4748700" y="3344630"/>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31" name="内容占位符 2"/>
          <p:cNvSpPr txBox="1">
            <a:spLocks/>
          </p:cNvSpPr>
          <p:nvPr/>
        </p:nvSpPr>
        <p:spPr>
          <a:xfrm>
            <a:off x="838200" y="4002894"/>
            <a:ext cx="10515600" cy="2353456"/>
          </a:xfrm>
          <a:prstGeom prst="rect">
            <a:avLst/>
          </a:prstGeom>
        </p:spPr>
        <p:txBody>
          <a:bodyPr vert="horz" lIns="91440" tIns="45720" rIns="91440" bIns="45720" rtlCol="0">
            <a:normAutofit/>
          </a:bodyPr>
          <a:lstStyle>
            <a:lvl1pPr marL="228600" indent="-228600" algn="l" defTabSz="914400" rtl="0" eaLnBrk="1" latinLnBrk="0" hangingPunct="1">
              <a:lnSpc>
                <a:spcPct val="100000"/>
              </a:lnSpc>
              <a:spcBef>
                <a:spcPts val="600"/>
              </a:spcBef>
              <a:buFont typeface="Wingdings" pitchFamily="2" charset="2"/>
              <a:buChar char="Ø"/>
              <a:defRPr sz="2800" kern="1200">
                <a:solidFill>
                  <a:schemeClr val="tx1"/>
                </a:solidFill>
                <a:latin typeface="Microsoft YaHei" panose="020B0503020204020204" pitchFamily="34" charset="-122"/>
                <a:ea typeface="Microsoft YaHei" panose="020B0503020204020204" pitchFamily="34" charset="-122"/>
                <a:cs typeface="+mn-cs"/>
              </a:defRPr>
            </a:lvl1pPr>
            <a:lvl2pPr marL="685800" indent="-228600" algn="l" defTabSz="914400" rtl="0" eaLnBrk="1" latinLnBrk="0" hangingPunct="1">
              <a:lnSpc>
                <a:spcPct val="100000"/>
              </a:lnSpc>
              <a:spcBef>
                <a:spcPts val="600"/>
              </a:spcBef>
              <a:buFont typeface="Arial" panose="020B0604020202020204" pitchFamily="34" charset="0"/>
              <a:buChar char="•"/>
              <a:defRPr sz="2400" kern="1200">
                <a:solidFill>
                  <a:schemeClr val="tx1"/>
                </a:solidFill>
                <a:latin typeface="Microsoft YaHei" panose="020B0503020204020204" pitchFamily="34" charset="-122"/>
                <a:ea typeface="Microsoft YaHei" panose="020B0503020204020204" pitchFamily="34" charset="-122"/>
                <a:cs typeface="+mn-cs"/>
              </a:defRPr>
            </a:lvl2pPr>
            <a:lvl3pPr marL="1143000" indent="-228600" algn="l" defTabSz="914400" rtl="0" eaLnBrk="1" latinLnBrk="0" hangingPunct="1">
              <a:lnSpc>
                <a:spcPct val="100000"/>
              </a:lnSpc>
              <a:spcBef>
                <a:spcPts val="600"/>
              </a:spcBef>
              <a:buFont typeface="Arial" panose="020B0604020202020204" pitchFamily="34" charset="0"/>
              <a:buChar char="•"/>
              <a:defRPr sz="2000" kern="1200">
                <a:solidFill>
                  <a:schemeClr val="tx1"/>
                </a:solidFill>
                <a:latin typeface="Microsoft YaHei" panose="020B0503020204020204" pitchFamily="34" charset="-122"/>
                <a:ea typeface="Microsoft YaHei" panose="020B0503020204020204" pitchFamily="34" charset="-122"/>
                <a:cs typeface="+mn-cs"/>
              </a:defRPr>
            </a:lvl3pPr>
            <a:lvl4pPr marL="16002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4pPr>
            <a:lvl5pPr marL="2057400" indent="-228600" algn="l" defTabSz="914400" rtl="0" eaLnBrk="1" latinLnBrk="0" hangingPunct="1">
              <a:lnSpc>
                <a:spcPct val="100000"/>
              </a:lnSpc>
              <a:spcBef>
                <a:spcPts val="600"/>
              </a:spcBef>
              <a:buFont typeface="Arial" panose="020B0604020202020204" pitchFamily="34" charset="0"/>
              <a:buChar char="•"/>
              <a:defRPr sz="1800" kern="1200">
                <a:solidFill>
                  <a:schemeClr val="tx1"/>
                </a:solidFill>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pPr>
            <a:r>
              <a:rPr lang="en-US" altLang="zh-CN" sz="2400" dirty="0">
                <a:latin typeface="等线" panose="02010600030101010101" pitchFamily="2" charset="-122"/>
                <a:ea typeface="等线" panose="02010600030101010101" pitchFamily="2" charset="-122"/>
                <a:cs typeface="Times New Roman" panose="02020603050405020304" pitchFamily="18" charset="0"/>
              </a:rPr>
              <a:t>AS2</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2c</a:t>
            </a:r>
            <a:r>
              <a:rPr lang="zh-CN" altLang="en-US" sz="2400" dirty="0">
                <a:latin typeface="等线" panose="02010600030101010101" pitchFamily="2" charset="-122"/>
                <a:ea typeface="等线" panose="02010600030101010101" pitchFamily="2" charset="-122"/>
                <a:cs typeface="Times New Roman" panose="02020603050405020304" pitchFamily="18" charset="0"/>
              </a:rPr>
              <a:t>从</a:t>
            </a:r>
            <a:r>
              <a:rPr lang="en-US" altLang="zh-CN" sz="2400" dirty="0">
                <a:latin typeface="等线" panose="02010600030101010101" pitchFamily="2" charset="-122"/>
                <a:ea typeface="等线" panose="02010600030101010101" pitchFamily="2" charset="-122"/>
                <a:cs typeface="Times New Roman" panose="02020603050405020304" pitchFamily="18" charset="0"/>
              </a:rPr>
              <a:t>AS3</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3a</a:t>
            </a:r>
            <a:r>
              <a:rPr lang="zh-CN" altLang="en-US" sz="2400" dirty="0">
                <a:latin typeface="等线" panose="02010600030101010101" pitchFamily="2" charset="-122"/>
                <a:ea typeface="等线" panose="02010600030101010101" pitchFamily="2" charset="-122"/>
                <a:cs typeface="Times New Roman" panose="02020603050405020304" pitchFamily="18" charset="0"/>
              </a:rPr>
              <a:t>接收到路径</a:t>
            </a:r>
            <a:r>
              <a:rPr lang="en-US" altLang="zh-CN" sz="2400" dirty="0">
                <a:solidFill>
                  <a:srgbClr val="CC0000"/>
                </a:solidFill>
                <a:latin typeface="等线" panose="02010600030101010101" pitchFamily="2" charset="-122"/>
                <a:ea typeface="等线" panose="02010600030101010101" pitchFamily="2" charset="-122"/>
                <a:cs typeface="Times New Roman" panose="02020603050405020304" pitchFamily="18" charset="0"/>
              </a:rPr>
              <a:t>AS3, X</a:t>
            </a:r>
            <a:endParaRPr lang="en-US" altLang="zh-CN" sz="2400" dirty="0">
              <a:latin typeface="等线" panose="02010600030101010101" pitchFamily="2" charset="-122"/>
              <a:ea typeface="等线" panose="02010600030101010101" pitchFamily="2" charset="-122"/>
              <a:cs typeface="Times New Roman" panose="02020603050405020304" pitchFamily="18" charset="0"/>
            </a:endParaRPr>
          </a:p>
          <a:p>
            <a:pPr>
              <a:lnSpc>
                <a:spcPct val="110000"/>
              </a:lnSpc>
            </a:pPr>
            <a:r>
              <a:rPr lang="zh-CN" altLang="en-US" sz="2400" dirty="0">
                <a:latin typeface="等线" panose="02010600030101010101" pitchFamily="2" charset="-122"/>
                <a:ea typeface="等线" panose="02010600030101010101" pitchFamily="2" charset="-122"/>
                <a:cs typeface="Times New Roman" panose="02020603050405020304" pitchFamily="18" charset="0"/>
              </a:rPr>
              <a:t>根据</a:t>
            </a:r>
            <a:r>
              <a:rPr lang="en-US" altLang="zh-CN" sz="2400" dirty="0">
                <a:latin typeface="等线" panose="02010600030101010101" pitchFamily="2" charset="-122"/>
                <a:ea typeface="等线" panose="02010600030101010101" pitchFamily="2" charset="-122"/>
                <a:cs typeface="Times New Roman" panose="02020603050405020304" pitchFamily="18" charset="0"/>
              </a:rPr>
              <a:t>AS2</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的策略，</a:t>
            </a:r>
            <a:r>
              <a:rPr lang="en-US" altLang="zh-CN" sz="2400" dirty="0">
                <a:latin typeface="等线" panose="02010600030101010101" pitchFamily="2" charset="-122"/>
                <a:ea typeface="等线" panose="02010600030101010101" pitchFamily="2" charset="-122"/>
                <a:cs typeface="Times New Roman" panose="02020603050405020304" pitchFamily="18" charset="0"/>
              </a:rPr>
              <a:t>AS2</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2c</a:t>
            </a:r>
            <a:r>
              <a:rPr lang="zh-CN" altLang="en-US" sz="2400" dirty="0">
                <a:latin typeface="等线" panose="02010600030101010101" pitchFamily="2" charset="-122"/>
                <a:ea typeface="等线" panose="02010600030101010101" pitchFamily="2" charset="-122"/>
                <a:cs typeface="Times New Roman" panose="02020603050405020304" pitchFamily="18" charset="0"/>
              </a:rPr>
              <a:t>接受路径</a:t>
            </a:r>
            <a:r>
              <a:rPr lang="en-US" altLang="zh-CN" sz="2400" dirty="0">
                <a:latin typeface="等线" panose="02010600030101010101" pitchFamily="2" charset="-122"/>
                <a:ea typeface="等线" panose="02010600030101010101" pitchFamily="2" charset="-122"/>
                <a:cs typeface="Times New Roman" panose="02020603050405020304" pitchFamily="18" charset="0"/>
              </a:rPr>
              <a:t>AS3, X</a:t>
            </a:r>
            <a:r>
              <a:rPr lang="zh-CN" altLang="en-US" sz="2400" dirty="0">
                <a:latin typeface="等线" panose="02010600030101010101" pitchFamily="2" charset="-122"/>
                <a:ea typeface="等线" panose="02010600030101010101" pitchFamily="2" charset="-122"/>
                <a:cs typeface="Times New Roman" panose="02020603050405020304" pitchFamily="18" charset="0"/>
              </a:rPr>
              <a:t>，通过</a:t>
            </a:r>
            <a:r>
              <a:rPr lang="en-US" altLang="zh-CN" sz="2400" dirty="0" err="1">
                <a:latin typeface="等线" panose="02010600030101010101" pitchFamily="2" charset="-122"/>
                <a:ea typeface="等线" panose="02010600030101010101" pitchFamily="2" charset="-122"/>
                <a:cs typeface="Times New Roman" panose="02020603050405020304" pitchFamily="18" charset="0"/>
              </a:rPr>
              <a:t>iBGP</a:t>
            </a:r>
            <a:r>
              <a:rPr lang="zh-CN" altLang="en-US" sz="2400" dirty="0">
                <a:latin typeface="等线" panose="02010600030101010101" pitchFamily="2" charset="-122"/>
                <a:ea typeface="等线" panose="02010600030101010101" pitchFamily="2" charset="-122"/>
                <a:cs typeface="Times New Roman" panose="02020603050405020304" pitchFamily="18" charset="0"/>
              </a:rPr>
              <a:t>传播给</a:t>
            </a:r>
            <a:r>
              <a:rPr lang="en-US" altLang="zh-CN" sz="2400" dirty="0">
                <a:latin typeface="等线" panose="02010600030101010101" pitchFamily="2" charset="-122"/>
                <a:ea typeface="等线" panose="02010600030101010101" pitchFamily="2" charset="-122"/>
                <a:cs typeface="Times New Roman" panose="02020603050405020304" pitchFamily="18" charset="0"/>
              </a:rPr>
              <a:t>AS2</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的所有路由器</a:t>
            </a:r>
            <a:endParaRPr lang="en-US" altLang="zh-CN" sz="2400" dirty="0">
              <a:latin typeface="等线" panose="02010600030101010101" pitchFamily="2" charset="-122"/>
              <a:ea typeface="等线" panose="02010600030101010101" pitchFamily="2" charset="-122"/>
              <a:cs typeface="Times New Roman" panose="02020603050405020304" pitchFamily="18" charset="0"/>
            </a:endParaRPr>
          </a:p>
          <a:p>
            <a:pPr>
              <a:lnSpc>
                <a:spcPct val="110000"/>
              </a:lnSpc>
            </a:pPr>
            <a:r>
              <a:rPr lang="zh-CN" altLang="en-US" sz="2400" dirty="0">
                <a:latin typeface="等线" panose="02010600030101010101" pitchFamily="2" charset="-122"/>
                <a:ea typeface="等线" panose="02010600030101010101" pitchFamily="2" charset="-122"/>
                <a:cs typeface="Times New Roman" panose="02020603050405020304" pitchFamily="18" charset="0"/>
              </a:rPr>
              <a:t>根据</a:t>
            </a:r>
            <a:r>
              <a:rPr lang="en-US" altLang="zh-CN" sz="2400" dirty="0">
                <a:latin typeface="等线" panose="02010600030101010101" pitchFamily="2" charset="-122"/>
                <a:ea typeface="等线" panose="02010600030101010101" pitchFamily="2" charset="-122"/>
                <a:cs typeface="Times New Roman" panose="02020603050405020304" pitchFamily="18" charset="0"/>
              </a:rPr>
              <a:t>AS2</a:t>
            </a:r>
            <a:r>
              <a:rPr lang="zh-CN" altLang="en-US" sz="2400" dirty="0">
                <a:latin typeface="等线" panose="02010600030101010101" pitchFamily="2" charset="-122"/>
                <a:ea typeface="等线" panose="02010600030101010101" pitchFamily="2" charset="-122"/>
                <a:cs typeface="Times New Roman" panose="02020603050405020304" pitchFamily="18" charset="0"/>
              </a:rPr>
              <a:t>策略，</a:t>
            </a:r>
            <a:r>
              <a:rPr lang="en-US" altLang="zh-CN" sz="2400" dirty="0">
                <a:latin typeface="等线" panose="02010600030101010101" pitchFamily="2" charset="-122"/>
                <a:ea typeface="等线" panose="02010600030101010101" pitchFamily="2" charset="-122"/>
                <a:cs typeface="Times New Roman" panose="02020603050405020304" pitchFamily="18" charset="0"/>
              </a:rPr>
              <a:t>AS2</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2a</a:t>
            </a:r>
            <a:r>
              <a:rPr lang="zh-CN" altLang="en-US" sz="2400" dirty="0">
                <a:latin typeface="等线" panose="02010600030101010101" pitchFamily="2" charset="-122"/>
                <a:ea typeface="等线" panose="02010600030101010101" pitchFamily="2" charset="-122"/>
                <a:cs typeface="Times New Roman" panose="02020603050405020304" pitchFamily="18" charset="0"/>
              </a:rPr>
              <a:t>通过</a:t>
            </a:r>
            <a:r>
              <a:rPr lang="en-US" altLang="zh-CN" sz="2400" dirty="0" err="1">
                <a:latin typeface="等线" panose="02010600030101010101" pitchFamily="2" charset="-122"/>
                <a:ea typeface="等线" panose="02010600030101010101" pitchFamily="2" charset="-122"/>
                <a:cs typeface="Times New Roman" panose="02020603050405020304" pitchFamily="18" charset="0"/>
              </a:rPr>
              <a:t>eBGP</a:t>
            </a:r>
            <a:r>
              <a:rPr lang="zh-CN" altLang="en-US" sz="2400" dirty="0">
                <a:latin typeface="等线" panose="02010600030101010101" pitchFamily="2" charset="-122"/>
                <a:ea typeface="等线" panose="02010600030101010101" pitchFamily="2" charset="-122"/>
                <a:cs typeface="Times New Roman" panose="02020603050405020304" pitchFamily="18" charset="0"/>
              </a:rPr>
              <a:t>向</a:t>
            </a:r>
            <a:r>
              <a:rPr lang="en-US" altLang="zh-CN" sz="2400" dirty="0">
                <a:latin typeface="等线" panose="02010600030101010101" pitchFamily="2" charset="-122"/>
                <a:ea typeface="等线" panose="02010600030101010101" pitchFamily="2" charset="-122"/>
                <a:cs typeface="Times New Roman" panose="02020603050405020304" pitchFamily="18" charset="0"/>
              </a:rPr>
              <a:t>AS1</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1c</a:t>
            </a:r>
            <a:r>
              <a:rPr lang="zh-CN" altLang="en-US" sz="2400" dirty="0">
                <a:latin typeface="等线" panose="02010600030101010101" pitchFamily="2" charset="-122"/>
                <a:ea typeface="等线" panose="02010600030101010101" pitchFamily="2" charset="-122"/>
                <a:cs typeface="Times New Roman" panose="02020603050405020304" pitchFamily="18" charset="0"/>
              </a:rPr>
              <a:t>，通告从</a:t>
            </a:r>
            <a:r>
              <a:rPr lang="en-US" altLang="zh-CN" sz="2400" dirty="0">
                <a:latin typeface="等线" panose="02010600030101010101" pitchFamily="2" charset="-122"/>
                <a:ea typeface="等线" panose="02010600030101010101" pitchFamily="2" charset="-122"/>
                <a:cs typeface="Times New Roman" panose="02020603050405020304" pitchFamily="18" charset="0"/>
              </a:rPr>
              <a:t>AS3</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3a</a:t>
            </a:r>
            <a:r>
              <a:rPr lang="zh-CN" altLang="en-US" sz="2400" dirty="0">
                <a:latin typeface="等线" panose="02010600030101010101" pitchFamily="2" charset="-122"/>
                <a:ea typeface="等线" panose="02010600030101010101" pitchFamily="2" charset="-122"/>
                <a:cs typeface="Times New Roman" panose="02020603050405020304" pitchFamily="18" charset="0"/>
              </a:rPr>
              <a:t>接收到路径</a:t>
            </a:r>
            <a:r>
              <a:rPr lang="en-US" altLang="zh-CN" sz="2400" dirty="0">
                <a:solidFill>
                  <a:srgbClr val="FF0000"/>
                </a:solidFill>
                <a:latin typeface="等线" panose="02010600030101010101" pitchFamily="2" charset="-122"/>
                <a:ea typeface="等线" panose="02010600030101010101" pitchFamily="2" charset="-122"/>
                <a:cs typeface="Times New Roman" panose="02020603050405020304" pitchFamily="18" charset="0"/>
              </a:rPr>
              <a:t>AS2, AS3, X</a:t>
            </a:r>
            <a:endParaRPr lang="en-US" altLang="zh-CN" dirty="0">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latin typeface="DengXian" panose="02010600030101010101" pitchFamily="2" charset="-122"/>
              <a:ea typeface="DengXian" panose="02010600030101010101" pitchFamily="2" charset="-122"/>
            </a:endParaRPr>
          </a:p>
        </p:txBody>
      </p:sp>
      <p:sp>
        <p:nvSpPr>
          <p:cNvPr id="3" name="日期占位符 2"/>
          <p:cNvSpPr>
            <a:spLocks noGrp="1"/>
          </p:cNvSpPr>
          <p:nvPr>
            <p:ph type="dt" sz="half" idx="10"/>
          </p:nvPr>
        </p:nvSpPr>
        <p:spPr>
          <a:xfrm>
            <a:off x="197335" y="6489303"/>
            <a:ext cx="3494994" cy="365125"/>
          </a:xfrm>
        </p:spPr>
        <p:txBody>
          <a:bodyPr/>
          <a:lstStyle/>
          <a:p>
            <a:r>
              <a:rPr kumimoji="1" lang="en-US" altLang="zh-CN" dirty="0">
                <a:latin typeface="DengXian" panose="02010600030101010101" pitchFamily="2" charset="-122"/>
                <a:ea typeface="DengXian" panose="02010600030101010101" pitchFamily="2" charset="-122"/>
              </a:rPr>
              <a:t>5.4.3 BGP-</a:t>
            </a:r>
            <a:r>
              <a:rPr kumimoji="1" lang="zh-CN" altLang="en-US" dirty="0">
                <a:latin typeface="DengXian" panose="02010600030101010101" pitchFamily="2" charset="-122"/>
                <a:ea typeface="DengXian" panose="02010600030101010101" pitchFamily="2" charset="-122"/>
              </a:rPr>
              <a:t>外部网关路由协议</a:t>
            </a:r>
          </a:p>
        </p:txBody>
      </p:sp>
    </p:spTree>
    <p:extLst>
      <p:ext uri="{BB962C8B-B14F-4D97-AF65-F5344CB8AC3E}">
        <p14:creationId xmlns:p14="http://schemas.microsoft.com/office/powerpoint/2010/main" val="2187356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wipe(up)">
                                      <p:cBhvr>
                                        <p:cTn id="7" dur="500"/>
                                        <p:tgtEl>
                                          <p:spTgt spid="221"/>
                                        </p:tgtEl>
                                      </p:cBhvr>
                                    </p:animEffect>
                                  </p:childTnLst>
                                </p:cTn>
                              </p:par>
                              <p:par>
                                <p:cTn id="8" presetID="1" presetClass="entr" presetSubtype="0" fill="hold" nodeType="withEffect">
                                  <p:stCondLst>
                                    <p:cond delay="0"/>
                                  </p:stCondLst>
                                  <p:childTnLst>
                                    <p:set>
                                      <p:cBhvr>
                                        <p:cTn id="9" dur="1" fill="hold">
                                          <p:stCondLst>
                                            <p:cond delay="0"/>
                                          </p:stCondLst>
                                        </p:cTn>
                                        <p:tgtEl>
                                          <p:spTgt spid="231">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22" presetClass="entr" presetSubtype="2" fill="hold" nodeType="clickEffect">
                                  <p:stCondLst>
                                    <p:cond delay="0"/>
                                  </p:stCondLst>
                                  <p:childTnLst>
                                    <p:set>
                                      <p:cBhvr>
                                        <p:cTn id="13" dur="1" fill="hold">
                                          <p:stCondLst>
                                            <p:cond delay="0"/>
                                          </p:stCondLst>
                                        </p:cTn>
                                        <p:tgtEl>
                                          <p:spTgt spid="227"/>
                                        </p:tgtEl>
                                        <p:attrNameLst>
                                          <p:attrName>style.visibility</p:attrName>
                                        </p:attrNameLst>
                                      </p:cBhvr>
                                      <p:to>
                                        <p:strVal val="visible"/>
                                      </p:to>
                                    </p:set>
                                    <p:animEffect transition="in" filter="wipe(right)">
                                      <p:cBhvr>
                                        <p:cTn id="14" dur="500"/>
                                        <p:tgtEl>
                                          <p:spTgt spid="227"/>
                                        </p:tgtEl>
                                      </p:cBhvr>
                                    </p:animEffect>
                                  </p:childTnLst>
                                </p:cTn>
                              </p:par>
                              <p:par>
                                <p:cTn id="15" presetID="1" presetClass="entr" presetSubtype="0" fill="hold" nodeType="withEffect">
                                  <p:stCondLst>
                                    <p:cond delay="0"/>
                                  </p:stCondLst>
                                  <p:childTnLst>
                                    <p:set>
                                      <p:cBhvr>
                                        <p:cTn id="16" dur="1" fill="hold">
                                          <p:stCondLst>
                                            <p:cond delay="0"/>
                                          </p:stCondLst>
                                        </p:cTn>
                                        <p:tgtEl>
                                          <p:spTgt spid="231">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224"/>
                                        </p:tgtEl>
                                        <p:attrNameLst>
                                          <p:attrName>style.visibility</p:attrName>
                                        </p:attrNameLst>
                                      </p:cBhvr>
                                      <p:to>
                                        <p:strVal val="visible"/>
                                      </p:to>
                                    </p:set>
                                    <p:animEffect transition="in" filter="wipe(down)">
                                      <p:cBhvr>
                                        <p:cTn id="21" dur="500"/>
                                        <p:tgtEl>
                                          <p:spTgt spid="224"/>
                                        </p:tgtEl>
                                      </p:cBhvr>
                                    </p:animEffect>
                                  </p:childTnLst>
                                </p:cTn>
                              </p:par>
                              <p:par>
                                <p:cTn id="22" presetID="1" presetClass="entr" presetSubtype="0" fill="hold" nodeType="withEffect">
                                  <p:stCondLst>
                                    <p:cond delay="0"/>
                                  </p:stCondLst>
                                  <p:childTnLst>
                                    <p:set>
                                      <p:cBhvr>
                                        <p:cTn id="23" dur="1" fill="hold">
                                          <p:stCondLst>
                                            <p:cond delay="0"/>
                                          </p:stCondLst>
                                        </p:cTn>
                                        <p:tgtEl>
                                          <p:spTgt spid="2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等线" panose="02010600030101010101" pitchFamily="2" charset="-122"/>
                <a:ea typeface="等线" panose="02010600030101010101" pitchFamily="2" charset="-122"/>
                <a:cs typeface="Times New Roman" panose="02020603050405020304" pitchFamily="18" charset="0"/>
              </a:rPr>
              <a:t>BGP</a:t>
            </a:r>
            <a:r>
              <a:rPr lang="zh-CN" altLang="en-US" dirty="0">
                <a:latin typeface="等线" panose="02010600030101010101" pitchFamily="2" charset="-122"/>
                <a:ea typeface="等线" panose="02010600030101010101" pitchFamily="2" charset="-122"/>
                <a:cs typeface="Times New Roman" panose="02020603050405020304" pitchFamily="18" charset="0"/>
              </a:rPr>
              <a:t>路径通告</a:t>
            </a: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95</a:t>
            </a:fld>
            <a:endParaRPr kumimoji="1" lang="zh-CN" altLang="en-US" dirty="0"/>
          </a:p>
        </p:txBody>
      </p:sp>
      <p:grpSp>
        <p:nvGrpSpPr>
          <p:cNvPr id="5" name="Group 124"/>
          <p:cNvGrpSpPr/>
          <p:nvPr/>
        </p:nvGrpSpPr>
        <p:grpSpPr>
          <a:xfrm>
            <a:off x="833183" y="1451515"/>
            <a:ext cx="3409781" cy="1719017"/>
            <a:chOff x="-2170772" y="2784954"/>
            <a:chExt cx="2712783" cy="1853712"/>
          </a:xfrm>
        </p:grpSpPr>
        <p:sp>
          <p:nvSpPr>
            <p:cNvPr id="6" name="Freeform 2"/>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 name="Group 261"/>
            <p:cNvGrpSpPr/>
            <p:nvPr/>
          </p:nvGrpSpPr>
          <p:grpSpPr>
            <a:xfrm>
              <a:off x="-1935370" y="2935816"/>
              <a:ext cx="2333625" cy="1619588"/>
              <a:chOff x="833331" y="2873352"/>
              <a:chExt cx="2333625" cy="1619588"/>
            </a:xfrm>
          </p:grpSpPr>
          <p:grpSp>
            <p:nvGrpSpPr>
              <p:cNvPr id="8" name="Group 262"/>
              <p:cNvGrpSpPr/>
              <p:nvPr/>
            </p:nvGrpSpPr>
            <p:grpSpPr>
              <a:xfrm>
                <a:off x="1736090" y="2873352"/>
                <a:ext cx="565150" cy="398271"/>
                <a:chOff x="1736090" y="2873352"/>
                <a:chExt cx="565150" cy="398271"/>
              </a:xfrm>
            </p:grpSpPr>
            <p:grpSp>
              <p:nvGrpSpPr>
                <p:cNvPr id="57" name="Group 327"/>
                <p:cNvGrpSpPr>
                  <a:grpSpLocks/>
                </p:cNvGrpSpPr>
                <p:nvPr/>
              </p:nvGrpSpPr>
              <p:grpSpPr bwMode="auto">
                <a:xfrm>
                  <a:off x="1736090" y="2893762"/>
                  <a:ext cx="565150" cy="292100"/>
                  <a:chOff x="1871277" y="1576300"/>
                  <a:chExt cx="1128371" cy="437861"/>
                </a:xfrm>
              </p:grpSpPr>
              <p:sp>
                <p:nvSpPr>
                  <p:cNvPr id="61" name="Oval 315"/>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62" name="Rectangle 316"/>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3" name="Oval 317"/>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64" name="Freeform 318"/>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5" name="Freeform 319"/>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6" name="Freeform 320"/>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67" name="Freeform 321"/>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68" name="Straight Connector 322"/>
                  <p:cNvCxnSpPr>
                    <a:endCxn id="63"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69" name="Straight Connector 323"/>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58" name="Group 312"/>
                <p:cNvGrpSpPr/>
                <p:nvPr/>
              </p:nvGrpSpPr>
              <p:grpSpPr>
                <a:xfrm>
                  <a:off x="1770362" y="2873352"/>
                  <a:ext cx="414737" cy="398271"/>
                  <a:chOff x="667045" y="1708643"/>
                  <a:chExt cx="414737" cy="398271"/>
                </a:xfrm>
              </p:grpSpPr>
              <p:sp>
                <p:nvSpPr>
                  <p:cNvPr id="59" name="Oval 313"/>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60" name="TextBox 59"/>
                  <p:cNvSpPr txBox="1"/>
                  <p:nvPr/>
                </p:nvSpPr>
                <p:spPr>
                  <a:xfrm>
                    <a:off x="667045" y="1708643"/>
                    <a:ext cx="349696" cy="398271"/>
                  </a:xfrm>
                  <a:prstGeom prst="rect">
                    <a:avLst/>
                  </a:prstGeom>
                  <a:noFill/>
                </p:spPr>
                <p:txBody>
                  <a:bodyPr wrap="none" rtlCol="0">
                    <a:spAutoFit/>
                  </a:bodyPr>
                  <a:lstStyle/>
                  <a:p>
                    <a:r>
                      <a:rPr lang="en-US" dirty="0"/>
                      <a:t>1b</a:t>
                    </a:r>
                  </a:p>
                </p:txBody>
              </p:sp>
            </p:grpSp>
          </p:grpSp>
          <p:grpSp>
            <p:nvGrpSpPr>
              <p:cNvPr id="9" name="Group 263"/>
              <p:cNvGrpSpPr/>
              <p:nvPr/>
            </p:nvGrpSpPr>
            <p:grpSpPr>
              <a:xfrm>
                <a:off x="1740320" y="4094669"/>
                <a:ext cx="565150" cy="398271"/>
                <a:chOff x="1736090" y="2873352"/>
                <a:chExt cx="565150" cy="398271"/>
              </a:xfrm>
            </p:grpSpPr>
            <p:grpSp>
              <p:nvGrpSpPr>
                <p:cNvPr id="44" name="Group 327"/>
                <p:cNvGrpSpPr>
                  <a:grpSpLocks/>
                </p:cNvGrpSpPr>
                <p:nvPr/>
              </p:nvGrpSpPr>
              <p:grpSpPr bwMode="auto">
                <a:xfrm>
                  <a:off x="1736090" y="2893762"/>
                  <a:ext cx="565150" cy="292100"/>
                  <a:chOff x="1871277" y="1576300"/>
                  <a:chExt cx="1128371" cy="437861"/>
                </a:xfrm>
              </p:grpSpPr>
              <p:sp>
                <p:nvSpPr>
                  <p:cNvPr id="48" name="Oval 302"/>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49" name="Rectangle 303"/>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0" name="Oval 304"/>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51" name="Freeform 305"/>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2" name="Freeform 306"/>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3" name="Freeform 307"/>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54" name="Freeform 308"/>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55" name="Straight Connector 309"/>
                  <p:cNvCxnSpPr>
                    <a:endCxn id="50"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56" name="Straight Connector 310"/>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45" name="Group 299"/>
                <p:cNvGrpSpPr/>
                <p:nvPr/>
              </p:nvGrpSpPr>
              <p:grpSpPr>
                <a:xfrm>
                  <a:off x="1770362" y="2873352"/>
                  <a:ext cx="414737" cy="398271"/>
                  <a:chOff x="667045" y="1708643"/>
                  <a:chExt cx="414737" cy="398271"/>
                </a:xfrm>
              </p:grpSpPr>
              <p:sp>
                <p:nvSpPr>
                  <p:cNvPr id="46" name="Oval 300"/>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47" name="TextBox 46"/>
                  <p:cNvSpPr txBox="1"/>
                  <p:nvPr/>
                </p:nvSpPr>
                <p:spPr>
                  <a:xfrm>
                    <a:off x="667045" y="1708643"/>
                    <a:ext cx="349696" cy="398271"/>
                  </a:xfrm>
                  <a:prstGeom prst="rect">
                    <a:avLst/>
                  </a:prstGeom>
                  <a:noFill/>
                </p:spPr>
                <p:txBody>
                  <a:bodyPr wrap="none" rtlCol="0">
                    <a:spAutoFit/>
                  </a:bodyPr>
                  <a:lstStyle/>
                  <a:p>
                    <a:r>
                      <a:rPr lang="en-US" dirty="0"/>
                      <a:t>1d</a:t>
                    </a:r>
                  </a:p>
                </p:txBody>
              </p:sp>
            </p:grpSp>
          </p:grpSp>
          <p:grpSp>
            <p:nvGrpSpPr>
              <p:cNvPr id="10" name="Group 264"/>
              <p:cNvGrpSpPr/>
              <p:nvPr/>
            </p:nvGrpSpPr>
            <p:grpSpPr>
              <a:xfrm>
                <a:off x="2601806" y="3485072"/>
                <a:ext cx="565150" cy="398272"/>
                <a:chOff x="1736090" y="2873352"/>
                <a:chExt cx="565150" cy="398272"/>
              </a:xfrm>
            </p:grpSpPr>
            <p:grpSp>
              <p:nvGrpSpPr>
                <p:cNvPr id="31" name="Group 327"/>
                <p:cNvGrpSpPr>
                  <a:grpSpLocks/>
                </p:cNvGrpSpPr>
                <p:nvPr/>
              </p:nvGrpSpPr>
              <p:grpSpPr bwMode="auto">
                <a:xfrm>
                  <a:off x="1736090" y="2893762"/>
                  <a:ext cx="565150" cy="292100"/>
                  <a:chOff x="1871277" y="1576300"/>
                  <a:chExt cx="1128371" cy="437861"/>
                </a:xfrm>
              </p:grpSpPr>
              <p:sp>
                <p:nvSpPr>
                  <p:cNvPr id="35" name="Oval 289"/>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36" name="Rectangle 290"/>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7" name="Oval 291"/>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38" name="Freeform 292"/>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39" name="Freeform 293"/>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0" name="Freeform 294"/>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41" name="Freeform 295"/>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42" name="Straight Connector 296"/>
                  <p:cNvCxnSpPr>
                    <a:endCxn id="37"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43" name="Straight Connector 297"/>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32" name="Group 286"/>
                <p:cNvGrpSpPr/>
                <p:nvPr/>
              </p:nvGrpSpPr>
              <p:grpSpPr>
                <a:xfrm>
                  <a:off x="1770362" y="2873352"/>
                  <a:ext cx="414737" cy="398272"/>
                  <a:chOff x="667045" y="1708643"/>
                  <a:chExt cx="414737" cy="398272"/>
                </a:xfrm>
              </p:grpSpPr>
              <p:sp>
                <p:nvSpPr>
                  <p:cNvPr id="33" name="Oval 287"/>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4" name="TextBox 33"/>
                  <p:cNvSpPr txBox="1"/>
                  <p:nvPr/>
                </p:nvSpPr>
                <p:spPr>
                  <a:xfrm>
                    <a:off x="667045" y="1708643"/>
                    <a:ext cx="326740" cy="398272"/>
                  </a:xfrm>
                  <a:prstGeom prst="rect">
                    <a:avLst/>
                  </a:prstGeom>
                  <a:noFill/>
                </p:spPr>
                <p:txBody>
                  <a:bodyPr wrap="none" rtlCol="0">
                    <a:spAutoFit/>
                  </a:bodyPr>
                  <a:lstStyle/>
                  <a:p>
                    <a:r>
                      <a:rPr lang="en-US" dirty="0"/>
                      <a:t>1c</a:t>
                    </a:r>
                  </a:p>
                </p:txBody>
              </p:sp>
            </p:grpSp>
          </p:grpSp>
          <p:grpSp>
            <p:nvGrpSpPr>
              <p:cNvPr id="11" name="Group 265"/>
              <p:cNvGrpSpPr/>
              <p:nvPr/>
            </p:nvGrpSpPr>
            <p:grpSpPr>
              <a:xfrm>
                <a:off x="833331" y="3478719"/>
                <a:ext cx="565150" cy="398272"/>
                <a:chOff x="1736090" y="2873352"/>
                <a:chExt cx="565150" cy="398272"/>
              </a:xfrm>
            </p:grpSpPr>
            <p:grpSp>
              <p:nvGrpSpPr>
                <p:cNvPr id="18" name="Group 327"/>
                <p:cNvGrpSpPr>
                  <a:grpSpLocks/>
                </p:cNvGrpSpPr>
                <p:nvPr/>
              </p:nvGrpSpPr>
              <p:grpSpPr bwMode="auto">
                <a:xfrm>
                  <a:off x="1736090" y="2893762"/>
                  <a:ext cx="565150" cy="292100"/>
                  <a:chOff x="1871277" y="1576300"/>
                  <a:chExt cx="1128371" cy="437861"/>
                </a:xfrm>
              </p:grpSpPr>
              <p:sp>
                <p:nvSpPr>
                  <p:cNvPr id="22" name="Oval 276"/>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3" name="Rectangle 277"/>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4" name="Oval 278"/>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5" name="Freeform 279"/>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6" name="Freeform 280"/>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7" name="Freeform 281"/>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8" name="Freeform 282"/>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29" name="Straight Connector 283"/>
                  <p:cNvCxnSpPr>
                    <a:endCxn id="24"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30" name="Straight Connector 284"/>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9" name="Group 273"/>
                <p:cNvGrpSpPr/>
                <p:nvPr/>
              </p:nvGrpSpPr>
              <p:grpSpPr>
                <a:xfrm>
                  <a:off x="1770362" y="2873352"/>
                  <a:ext cx="414737" cy="398272"/>
                  <a:chOff x="667045" y="1708643"/>
                  <a:chExt cx="414737" cy="398272"/>
                </a:xfrm>
              </p:grpSpPr>
              <p:sp>
                <p:nvSpPr>
                  <p:cNvPr id="20" name="Oval 274"/>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 name="TextBox 20"/>
                  <p:cNvSpPr txBox="1"/>
                  <p:nvPr/>
                </p:nvSpPr>
                <p:spPr>
                  <a:xfrm>
                    <a:off x="667045" y="1708643"/>
                    <a:ext cx="335667" cy="398272"/>
                  </a:xfrm>
                  <a:prstGeom prst="rect">
                    <a:avLst/>
                  </a:prstGeom>
                  <a:noFill/>
                </p:spPr>
                <p:txBody>
                  <a:bodyPr wrap="none" rtlCol="0">
                    <a:spAutoFit/>
                  </a:bodyPr>
                  <a:lstStyle/>
                  <a:p>
                    <a:r>
                      <a:rPr lang="en-US" dirty="0"/>
                      <a:t>1a</a:t>
                    </a:r>
                  </a:p>
                </p:txBody>
              </p:sp>
            </p:grpSp>
          </p:grpSp>
          <p:cxnSp>
            <p:nvCxnSpPr>
              <p:cNvPr id="12" name="Straight Connector 266"/>
              <p:cNvCxnSpPr>
                <a:stCxn id="60" idx="2"/>
                <a:endCxn id="47" idx="0"/>
              </p:cNvCxnSpPr>
              <p:nvPr/>
            </p:nvCxnSpPr>
            <p:spPr bwMode="auto">
              <a:xfrm>
                <a:off x="1945210" y="3271623"/>
                <a:ext cx="4230" cy="823045"/>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Straight Connector 267"/>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Straight Connector 268"/>
              <p:cNvCxnSpPr>
                <a:stCxn id="61"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Straight Connector 269"/>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Straight Connector 270"/>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Straight Connector 271"/>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grpSp>
        <p:nvGrpSpPr>
          <p:cNvPr id="70" name="Group 125"/>
          <p:cNvGrpSpPr/>
          <p:nvPr/>
        </p:nvGrpSpPr>
        <p:grpSpPr>
          <a:xfrm>
            <a:off x="4380923" y="2378686"/>
            <a:ext cx="3394251" cy="1720535"/>
            <a:chOff x="-2170772" y="2784954"/>
            <a:chExt cx="2712783" cy="1853712"/>
          </a:xfrm>
        </p:grpSpPr>
        <p:sp>
          <p:nvSpPr>
            <p:cNvPr id="71" name="Freeform 2"/>
            <p:cNvSpPr>
              <a:spLocks/>
            </p:cNvSpPr>
            <p:nvPr/>
          </p:nvSpPr>
          <p:spPr bwMode="auto">
            <a:xfrm>
              <a:off x="-2170772" y="2784954"/>
              <a:ext cx="2712783" cy="185371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72" name="Group 197"/>
            <p:cNvGrpSpPr/>
            <p:nvPr/>
          </p:nvGrpSpPr>
          <p:grpSpPr>
            <a:xfrm>
              <a:off x="-1935370" y="2935816"/>
              <a:ext cx="2333625" cy="1619237"/>
              <a:chOff x="833331" y="2873352"/>
              <a:chExt cx="2333625" cy="1619237"/>
            </a:xfrm>
          </p:grpSpPr>
          <p:grpSp>
            <p:nvGrpSpPr>
              <p:cNvPr id="73" name="Group 198"/>
              <p:cNvGrpSpPr/>
              <p:nvPr/>
            </p:nvGrpSpPr>
            <p:grpSpPr>
              <a:xfrm>
                <a:off x="1736090" y="2873352"/>
                <a:ext cx="565150" cy="397920"/>
                <a:chOff x="1736090" y="2873352"/>
                <a:chExt cx="565150" cy="397920"/>
              </a:xfrm>
            </p:grpSpPr>
            <p:grpSp>
              <p:nvGrpSpPr>
                <p:cNvPr id="122" name="Group 327"/>
                <p:cNvGrpSpPr>
                  <a:grpSpLocks/>
                </p:cNvGrpSpPr>
                <p:nvPr/>
              </p:nvGrpSpPr>
              <p:grpSpPr bwMode="auto">
                <a:xfrm>
                  <a:off x="1736090" y="2893762"/>
                  <a:ext cx="565150" cy="292100"/>
                  <a:chOff x="1871277" y="1576300"/>
                  <a:chExt cx="1128371" cy="437861"/>
                </a:xfrm>
              </p:grpSpPr>
              <p:sp>
                <p:nvSpPr>
                  <p:cNvPr id="126" name="Oval 251"/>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27" name="Rectangle 252"/>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28" name="Oval 253"/>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29" name="Freeform 254"/>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0" name="Freeform 255"/>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1" name="Freeform 256"/>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32" name="Freeform 257"/>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33" name="Straight Connector 258"/>
                  <p:cNvCxnSpPr>
                    <a:endCxn id="128"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34" name="Straight Connector 259"/>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23" name="Group 248"/>
                <p:cNvGrpSpPr/>
                <p:nvPr/>
              </p:nvGrpSpPr>
              <p:grpSpPr>
                <a:xfrm>
                  <a:off x="1770362" y="2873352"/>
                  <a:ext cx="414737" cy="397920"/>
                  <a:chOff x="667045" y="1708643"/>
                  <a:chExt cx="414737" cy="397920"/>
                </a:xfrm>
              </p:grpSpPr>
              <p:sp>
                <p:nvSpPr>
                  <p:cNvPr id="124" name="Oval 249"/>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25" name="TextBox 124"/>
                  <p:cNvSpPr txBox="1"/>
                  <p:nvPr/>
                </p:nvSpPr>
                <p:spPr>
                  <a:xfrm>
                    <a:off x="667045" y="1708643"/>
                    <a:ext cx="351296" cy="397920"/>
                  </a:xfrm>
                  <a:prstGeom prst="rect">
                    <a:avLst/>
                  </a:prstGeom>
                  <a:noFill/>
                </p:spPr>
                <p:txBody>
                  <a:bodyPr wrap="none" rtlCol="0">
                    <a:spAutoFit/>
                  </a:bodyPr>
                  <a:lstStyle/>
                  <a:p>
                    <a:r>
                      <a:rPr lang="en-US" dirty="0"/>
                      <a:t>2b</a:t>
                    </a:r>
                  </a:p>
                </p:txBody>
              </p:sp>
            </p:grpSp>
          </p:grpSp>
          <p:grpSp>
            <p:nvGrpSpPr>
              <p:cNvPr id="74" name="Group 199"/>
              <p:cNvGrpSpPr/>
              <p:nvPr/>
            </p:nvGrpSpPr>
            <p:grpSpPr>
              <a:xfrm>
                <a:off x="1740320" y="4094669"/>
                <a:ext cx="565150" cy="397920"/>
                <a:chOff x="1736090" y="2873352"/>
                <a:chExt cx="565150" cy="397920"/>
              </a:xfrm>
            </p:grpSpPr>
            <p:grpSp>
              <p:nvGrpSpPr>
                <p:cNvPr id="109" name="Group 327"/>
                <p:cNvGrpSpPr>
                  <a:grpSpLocks/>
                </p:cNvGrpSpPr>
                <p:nvPr/>
              </p:nvGrpSpPr>
              <p:grpSpPr bwMode="auto">
                <a:xfrm>
                  <a:off x="1736090" y="2893762"/>
                  <a:ext cx="565150" cy="292100"/>
                  <a:chOff x="1871277" y="1576300"/>
                  <a:chExt cx="1128371" cy="437861"/>
                </a:xfrm>
              </p:grpSpPr>
              <p:sp>
                <p:nvSpPr>
                  <p:cNvPr id="113" name="Oval 238"/>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14" name="Rectangle 239"/>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5" name="Oval 240"/>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16" name="Freeform 241"/>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7" name="Freeform 242"/>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8" name="Freeform 243"/>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19" name="Freeform 244"/>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20" name="Straight Connector 245"/>
                  <p:cNvCxnSpPr>
                    <a:endCxn id="115"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21" name="Straight Connector 246"/>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10" name="Group 235"/>
                <p:cNvGrpSpPr/>
                <p:nvPr/>
              </p:nvGrpSpPr>
              <p:grpSpPr>
                <a:xfrm>
                  <a:off x="1770362" y="2873352"/>
                  <a:ext cx="414737" cy="397920"/>
                  <a:chOff x="667045" y="1708643"/>
                  <a:chExt cx="414737" cy="397920"/>
                </a:xfrm>
              </p:grpSpPr>
              <p:sp>
                <p:nvSpPr>
                  <p:cNvPr id="111" name="Oval 236"/>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2" name="TextBox 111"/>
                  <p:cNvSpPr txBox="1"/>
                  <p:nvPr/>
                </p:nvSpPr>
                <p:spPr>
                  <a:xfrm>
                    <a:off x="667045" y="1708643"/>
                    <a:ext cx="351296" cy="397920"/>
                  </a:xfrm>
                  <a:prstGeom prst="rect">
                    <a:avLst/>
                  </a:prstGeom>
                  <a:noFill/>
                </p:spPr>
                <p:txBody>
                  <a:bodyPr wrap="none" rtlCol="0">
                    <a:spAutoFit/>
                  </a:bodyPr>
                  <a:lstStyle/>
                  <a:p>
                    <a:r>
                      <a:rPr lang="en-US" dirty="0"/>
                      <a:t>2d</a:t>
                    </a:r>
                  </a:p>
                </p:txBody>
              </p:sp>
            </p:grpSp>
          </p:grpSp>
          <p:grpSp>
            <p:nvGrpSpPr>
              <p:cNvPr id="75" name="Group 200"/>
              <p:cNvGrpSpPr/>
              <p:nvPr/>
            </p:nvGrpSpPr>
            <p:grpSpPr>
              <a:xfrm>
                <a:off x="2601806" y="3485072"/>
                <a:ext cx="565150" cy="397920"/>
                <a:chOff x="1736090" y="2873352"/>
                <a:chExt cx="565150" cy="397920"/>
              </a:xfrm>
            </p:grpSpPr>
            <p:grpSp>
              <p:nvGrpSpPr>
                <p:cNvPr id="96" name="Group 327"/>
                <p:cNvGrpSpPr>
                  <a:grpSpLocks/>
                </p:cNvGrpSpPr>
                <p:nvPr/>
              </p:nvGrpSpPr>
              <p:grpSpPr bwMode="auto">
                <a:xfrm>
                  <a:off x="1736090" y="2893762"/>
                  <a:ext cx="565150" cy="292100"/>
                  <a:chOff x="1871277" y="1576300"/>
                  <a:chExt cx="1128371" cy="437861"/>
                </a:xfrm>
              </p:grpSpPr>
              <p:sp>
                <p:nvSpPr>
                  <p:cNvPr id="100" name="Oval 225"/>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01" name="Rectangle 226"/>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2" name="Oval 227"/>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03" name="Freeform 228"/>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4" name="Freeform 229"/>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5" name="Freeform 230"/>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06" name="Freeform 231"/>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07" name="Straight Connector 232"/>
                  <p:cNvCxnSpPr>
                    <a:endCxn id="102"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08" name="Straight Connector 233"/>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97" name="Group 222"/>
                <p:cNvGrpSpPr/>
                <p:nvPr/>
              </p:nvGrpSpPr>
              <p:grpSpPr>
                <a:xfrm>
                  <a:off x="1770362" y="2873352"/>
                  <a:ext cx="414737" cy="397920"/>
                  <a:chOff x="667045" y="1708643"/>
                  <a:chExt cx="414737" cy="397920"/>
                </a:xfrm>
              </p:grpSpPr>
              <p:sp>
                <p:nvSpPr>
                  <p:cNvPr id="98" name="Oval 223"/>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99" name="TextBox 98"/>
                  <p:cNvSpPr txBox="1"/>
                  <p:nvPr/>
                </p:nvSpPr>
                <p:spPr>
                  <a:xfrm>
                    <a:off x="667045" y="1708643"/>
                    <a:ext cx="328235" cy="397920"/>
                  </a:xfrm>
                  <a:prstGeom prst="rect">
                    <a:avLst/>
                  </a:prstGeom>
                  <a:noFill/>
                </p:spPr>
                <p:txBody>
                  <a:bodyPr wrap="none" rtlCol="0">
                    <a:spAutoFit/>
                  </a:bodyPr>
                  <a:lstStyle/>
                  <a:p>
                    <a:r>
                      <a:rPr lang="en-US" dirty="0"/>
                      <a:t>2c</a:t>
                    </a:r>
                  </a:p>
                </p:txBody>
              </p:sp>
            </p:grpSp>
          </p:grpSp>
          <p:grpSp>
            <p:nvGrpSpPr>
              <p:cNvPr id="76" name="Group 201"/>
              <p:cNvGrpSpPr/>
              <p:nvPr/>
            </p:nvGrpSpPr>
            <p:grpSpPr>
              <a:xfrm>
                <a:off x="833331" y="3478719"/>
                <a:ext cx="565150" cy="397920"/>
                <a:chOff x="1736090" y="2873352"/>
                <a:chExt cx="565150" cy="397920"/>
              </a:xfrm>
            </p:grpSpPr>
            <p:grpSp>
              <p:nvGrpSpPr>
                <p:cNvPr id="83" name="Group 327"/>
                <p:cNvGrpSpPr>
                  <a:grpSpLocks/>
                </p:cNvGrpSpPr>
                <p:nvPr/>
              </p:nvGrpSpPr>
              <p:grpSpPr bwMode="auto">
                <a:xfrm>
                  <a:off x="1736090" y="2893762"/>
                  <a:ext cx="565150" cy="292100"/>
                  <a:chOff x="1871277" y="1576300"/>
                  <a:chExt cx="1128371" cy="437861"/>
                </a:xfrm>
              </p:grpSpPr>
              <p:sp>
                <p:nvSpPr>
                  <p:cNvPr id="87" name="Oval 212"/>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88" name="Rectangle 213"/>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89" name="Oval 214"/>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90" name="Freeform 215"/>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1" name="Freeform 216"/>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2" name="Freeform 217"/>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93" name="Freeform 218"/>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94" name="Straight Connector 219"/>
                  <p:cNvCxnSpPr>
                    <a:endCxn id="89"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95" name="Straight Connector 220"/>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84" name="Group 209"/>
                <p:cNvGrpSpPr/>
                <p:nvPr/>
              </p:nvGrpSpPr>
              <p:grpSpPr>
                <a:xfrm>
                  <a:off x="1770362" y="2873352"/>
                  <a:ext cx="414737" cy="397920"/>
                  <a:chOff x="667045" y="1708643"/>
                  <a:chExt cx="414737" cy="397920"/>
                </a:xfrm>
              </p:grpSpPr>
              <p:sp>
                <p:nvSpPr>
                  <p:cNvPr id="85" name="Oval 210"/>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6" name="TextBox 85"/>
                  <p:cNvSpPr txBox="1"/>
                  <p:nvPr/>
                </p:nvSpPr>
                <p:spPr>
                  <a:xfrm>
                    <a:off x="667045" y="1708643"/>
                    <a:ext cx="337203" cy="397920"/>
                  </a:xfrm>
                  <a:prstGeom prst="rect">
                    <a:avLst/>
                  </a:prstGeom>
                  <a:noFill/>
                </p:spPr>
                <p:txBody>
                  <a:bodyPr wrap="none" rtlCol="0">
                    <a:spAutoFit/>
                  </a:bodyPr>
                  <a:lstStyle/>
                  <a:p>
                    <a:r>
                      <a:rPr lang="en-US" dirty="0"/>
                      <a:t>2a</a:t>
                    </a:r>
                  </a:p>
                </p:txBody>
              </p:sp>
            </p:grpSp>
          </p:grpSp>
          <p:cxnSp>
            <p:nvCxnSpPr>
              <p:cNvPr id="77" name="Straight Connector 202"/>
              <p:cNvCxnSpPr>
                <a:stCxn id="125" idx="2"/>
                <a:endCxn id="112" idx="0"/>
              </p:cNvCxnSpPr>
              <p:nvPr/>
            </p:nvCxnSpPr>
            <p:spPr bwMode="auto">
              <a:xfrm>
                <a:off x="1946010" y="3271272"/>
                <a:ext cx="4230" cy="823397"/>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8" name="Straight Connector 203"/>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79" name="Straight Connector 204"/>
              <p:cNvCxnSpPr>
                <a:stCxn id="126"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0" name="Straight Connector 205"/>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1" name="Straight Connector 206"/>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2" name="Straight Connector 207"/>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sp>
        <p:nvSpPr>
          <p:cNvPr id="135" name="Freeform 2"/>
          <p:cNvSpPr>
            <a:spLocks/>
          </p:cNvSpPr>
          <p:nvPr/>
        </p:nvSpPr>
        <p:spPr bwMode="auto">
          <a:xfrm>
            <a:off x="7343582" y="1310427"/>
            <a:ext cx="3434028" cy="1672516"/>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795">
                <a:moveTo>
                  <a:pt x="45" y="5036"/>
                </a:moveTo>
                <a:cubicBezTo>
                  <a:pt x="272" y="4277"/>
                  <a:pt x="1931" y="3650"/>
                  <a:pt x="2738" y="2811"/>
                </a:cubicBezTo>
                <a:cubicBezTo>
                  <a:pt x="3545" y="1972"/>
                  <a:pt x="3352" y="117"/>
                  <a:pt x="4886" y="4"/>
                </a:cubicBezTo>
                <a:cubicBezTo>
                  <a:pt x="6420" y="-109"/>
                  <a:pt x="7216" y="1912"/>
                  <a:pt x="8068" y="2813"/>
                </a:cubicBezTo>
                <a:cubicBezTo>
                  <a:pt x="8920" y="3715"/>
                  <a:pt x="9928" y="3420"/>
                  <a:pt x="9996" y="5413"/>
                </a:cubicBezTo>
                <a:cubicBezTo>
                  <a:pt x="10064" y="7406"/>
                  <a:pt x="9275" y="6409"/>
                  <a:pt x="8476" y="7306"/>
                </a:cubicBezTo>
                <a:cubicBezTo>
                  <a:pt x="7677" y="8203"/>
                  <a:pt x="7086" y="10770"/>
                  <a:pt x="5202" y="10795"/>
                </a:cubicBezTo>
                <a:cubicBezTo>
                  <a:pt x="3318" y="10820"/>
                  <a:pt x="3391" y="8255"/>
                  <a:pt x="2753" y="7683"/>
                </a:cubicBezTo>
                <a:cubicBezTo>
                  <a:pt x="2115" y="7111"/>
                  <a:pt x="2326" y="7496"/>
                  <a:pt x="1375" y="7365"/>
                </a:cubicBezTo>
                <a:cubicBezTo>
                  <a:pt x="493" y="6773"/>
                  <a:pt x="-182" y="5795"/>
                  <a:pt x="45" y="5036"/>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136" name="Group 133"/>
          <p:cNvGrpSpPr/>
          <p:nvPr/>
        </p:nvGrpSpPr>
        <p:grpSpPr>
          <a:xfrm>
            <a:off x="7641569" y="1446544"/>
            <a:ext cx="2954064" cy="1471268"/>
            <a:chOff x="833331" y="2873352"/>
            <a:chExt cx="2333625" cy="1630661"/>
          </a:xfrm>
        </p:grpSpPr>
        <p:grpSp>
          <p:nvGrpSpPr>
            <p:cNvPr id="137" name="Group 134"/>
            <p:cNvGrpSpPr/>
            <p:nvPr/>
          </p:nvGrpSpPr>
          <p:grpSpPr>
            <a:xfrm>
              <a:off x="1736090" y="2873352"/>
              <a:ext cx="565150" cy="409344"/>
              <a:chOff x="1736090" y="2873352"/>
              <a:chExt cx="565150" cy="409344"/>
            </a:xfrm>
          </p:grpSpPr>
          <p:grpSp>
            <p:nvGrpSpPr>
              <p:cNvPr id="186" name="Group 327"/>
              <p:cNvGrpSpPr>
                <a:grpSpLocks/>
              </p:cNvGrpSpPr>
              <p:nvPr/>
            </p:nvGrpSpPr>
            <p:grpSpPr bwMode="auto">
              <a:xfrm>
                <a:off x="1736090" y="2893762"/>
                <a:ext cx="565150" cy="292100"/>
                <a:chOff x="1871277" y="1576300"/>
                <a:chExt cx="1128371" cy="437861"/>
              </a:xfrm>
            </p:grpSpPr>
            <p:sp>
              <p:nvSpPr>
                <p:cNvPr id="190" name="Oval 187"/>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91" name="Rectangle 188"/>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2" name="Oval 189"/>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93" name="Freeform 190"/>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4" name="Freeform 191"/>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5" name="Freeform 192"/>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96" name="Freeform 193"/>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97" name="Straight Connector 194"/>
                <p:cNvCxnSpPr>
                  <a:endCxn id="192"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98" name="Straight Connector 195"/>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87" name="Group 184"/>
              <p:cNvGrpSpPr/>
              <p:nvPr/>
            </p:nvGrpSpPr>
            <p:grpSpPr>
              <a:xfrm>
                <a:off x="1770362" y="2873352"/>
                <a:ext cx="414737" cy="409344"/>
                <a:chOff x="667045" y="1708643"/>
                <a:chExt cx="414737" cy="409344"/>
              </a:xfrm>
            </p:grpSpPr>
            <p:sp>
              <p:nvSpPr>
                <p:cNvPr id="188" name="Oval 185"/>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89" name="TextBox 188"/>
                <p:cNvSpPr txBox="1"/>
                <p:nvPr/>
              </p:nvSpPr>
              <p:spPr>
                <a:xfrm>
                  <a:off x="667045" y="1708643"/>
                  <a:ext cx="347227" cy="409344"/>
                </a:xfrm>
                <a:prstGeom prst="rect">
                  <a:avLst/>
                </a:prstGeom>
                <a:noFill/>
              </p:spPr>
              <p:txBody>
                <a:bodyPr wrap="none" rtlCol="0">
                  <a:spAutoFit/>
                </a:bodyPr>
                <a:lstStyle/>
                <a:p>
                  <a:r>
                    <a:rPr lang="en-US" dirty="0"/>
                    <a:t>3b</a:t>
                  </a:r>
                </a:p>
              </p:txBody>
            </p:sp>
          </p:grpSp>
        </p:grpSp>
        <p:grpSp>
          <p:nvGrpSpPr>
            <p:cNvPr id="138" name="Group 135"/>
            <p:cNvGrpSpPr/>
            <p:nvPr/>
          </p:nvGrpSpPr>
          <p:grpSpPr>
            <a:xfrm>
              <a:off x="1740320" y="4094669"/>
              <a:ext cx="565150" cy="409344"/>
              <a:chOff x="1736090" y="2873352"/>
              <a:chExt cx="565150" cy="409344"/>
            </a:xfrm>
          </p:grpSpPr>
          <p:grpSp>
            <p:nvGrpSpPr>
              <p:cNvPr id="173" name="Group 327"/>
              <p:cNvGrpSpPr>
                <a:grpSpLocks/>
              </p:cNvGrpSpPr>
              <p:nvPr/>
            </p:nvGrpSpPr>
            <p:grpSpPr bwMode="auto">
              <a:xfrm>
                <a:off x="1736090" y="2893762"/>
                <a:ext cx="565150" cy="292100"/>
                <a:chOff x="1871277" y="1576300"/>
                <a:chExt cx="1128371" cy="437861"/>
              </a:xfrm>
            </p:grpSpPr>
            <p:sp>
              <p:nvSpPr>
                <p:cNvPr id="177" name="Oval 174"/>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78" name="Rectangle 175"/>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9" name="Oval 176"/>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80" name="Freeform 177"/>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1" name="Freeform 178"/>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2" name="Freeform 179"/>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83" name="Freeform 180"/>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84" name="Straight Connector 181"/>
                <p:cNvCxnSpPr>
                  <a:endCxn id="179"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85" name="Straight Connector 182"/>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74" name="Group 171"/>
              <p:cNvGrpSpPr/>
              <p:nvPr/>
            </p:nvGrpSpPr>
            <p:grpSpPr>
              <a:xfrm>
                <a:off x="1770362" y="2873352"/>
                <a:ext cx="414737" cy="409344"/>
                <a:chOff x="667045" y="1708643"/>
                <a:chExt cx="414737" cy="409344"/>
              </a:xfrm>
            </p:grpSpPr>
            <p:sp>
              <p:nvSpPr>
                <p:cNvPr id="175" name="Oval 172"/>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6" name="TextBox 175"/>
                <p:cNvSpPr txBox="1"/>
                <p:nvPr/>
              </p:nvSpPr>
              <p:spPr>
                <a:xfrm>
                  <a:off x="667045" y="1708643"/>
                  <a:ext cx="347227" cy="409344"/>
                </a:xfrm>
                <a:prstGeom prst="rect">
                  <a:avLst/>
                </a:prstGeom>
                <a:noFill/>
              </p:spPr>
              <p:txBody>
                <a:bodyPr wrap="none" rtlCol="0">
                  <a:spAutoFit/>
                </a:bodyPr>
                <a:lstStyle/>
                <a:p>
                  <a:r>
                    <a:rPr lang="en-US" dirty="0"/>
                    <a:t>3d</a:t>
                  </a:r>
                </a:p>
              </p:txBody>
            </p:sp>
          </p:grpSp>
        </p:grpSp>
        <p:grpSp>
          <p:nvGrpSpPr>
            <p:cNvPr id="139" name="Group 136"/>
            <p:cNvGrpSpPr/>
            <p:nvPr/>
          </p:nvGrpSpPr>
          <p:grpSpPr>
            <a:xfrm>
              <a:off x="2601806" y="3485072"/>
              <a:ext cx="565150" cy="409344"/>
              <a:chOff x="1736090" y="2873352"/>
              <a:chExt cx="565150" cy="409344"/>
            </a:xfrm>
          </p:grpSpPr>
          <p:grpSp>
            <p:nvGrpSpPr>
              <p:cNvPr id="160" name="Group 327"/>
              <p:cNvGrpSpPr>
                <a:grpSpLocks/>
              </p:cNvGrpSpPr>
              <p:nvPr/>
            </p:nvGrpSpPr>
            <p:grpSpPr bwMode="auto">
              <a:xfrm>
                <a:off x="1736090" y="2893762"/>
                <a:ext cx="565150" cy="292100"/>
                <a:chOff x="1871277" y="1576300"/>
                <a:chExt cx="1128371" cy="437861"/>
              </a:xfrm>
            </p:grpSpPr>
            <p:sp>
              <p:nvSpPr>
                <p:cNvPr id="164" name="Oval 161"/>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65" name="Rectangle 162"/>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6" name="Oval 163"/>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67" name="Freeform 164"/>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8" name="Freeform 165"/>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69" name="Freeform 166"/>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70" name="Freeform 167"/>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71" name="Straight Connector 168"/>
                <p:cNvCxnSpPr>
                  <a:endCxn id="166"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72" name="Straight Connector 169"/>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61" name="Group 158"/>
              <p:cNvGrpSpPr/>
              <p:nvPr/>
            </p:nvGrpSpPr>
            <p:grpSpPr>
              <a:xfrm>
                <a:off x="1770362" y="2873352"/>
                <a:ext cx="414737" cy="409344"/>
                <a:chOff x="667045" y="1708643"/>
                <a:chExt cx="414737" cy="409344"/>
              </a:xfrm>
            </p:grpSpPr>
            <p:sp>
              <p:nvSpPr>
                <p:cNvPr id="162" name="Oval 159"/>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63" name="TextBox 162"/>
                <p:cNvSpPr txBox="1"/>
                <p:nvPr/>
              </p:nvSpPr>
              <p:spPr>
                <a:xfrm>
                  <a:off x="667045" y="1708643"/>
                  <a:ext cx="324433" cy="409344"/>
                </a:xfrm>
                <a:prstGeom prst="rect">
                  <a:avLst/>
                </a:prstGeom>
                <a:noFill/>
              </p:spPr>
              <p:txBody>
                <a:bodyPr wrap="none" rtlCol="0">
                  <a:spAutoFit/>
                </a:bodyPr>
                <a:lstStyle/>
                <a:p>
                  <a:r>
                    <a:rPr lang="en-US" dirty="0"/>
                    <a:t>3c</a:t>
                  </a:r>
                </a:p>
              </p:txBody>
            </p:sp>
          </p:grpSp>
        </p:grpSp>
        <p:grpSp>
          <p:nvGrpSpPr>
            <p:cNvPr id="140" name="Group 137"/>
            <p:cNvGrpSpPr/>
            <p:nvPr/>
          </p:nvGrpSpPr>
          <p:grpSpPr>
            <a:xfrm>
              <a:off x="833331" y="3478719"/>
              <a:ext cx="565150" cy="409344"/>
              <a:chOff x="1736090" y="2873352"/>
              <a:chExt cx="565150" cy="409344"/>
            </a:xfrm>
          </p:grpSpPr>
          <p:grpSp>
            <p:nvGrpSpPr>
              <p:cNvPr id="147" name="Group 327"/>
              <p:cNvGrpSpPr>
                <a:grpSpLocks/>
              </p:cNvGrpSpPr>
              <p:nvPr/>
            </p:nvGrpSpPr>
            <p:grpSpPr bwMode="auto">
              <a:xfrm>
                <a:off x="1736090" y="2893762"/>
                <a:ext cx="565150" cy="292100"/>
                <a:chOff x="1871277" y="1576300"/>
                <a:chExt cx="1128371" cy="437861"/>
              </a:xfrm>
            </p:grpSpPr>
            <p:sp>
              <p:nvSpPr>
                <p:cNvPr id="151" name="Oval 148"/>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2" name="Rectangle 149"/>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3" name="Oval 150"/>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154" name="Freeform 151"/>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5" name="Freeform 152"/>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6" name="Freeform 153"/>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157" name="Freeform 154"/>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158" name="Straight Connector 155"/>
                <p:cNvCxnSpPr>
                  <a:endCxn id="153"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159" name="Straight Connector 156"/>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148" name="Group 145"/>
              <p:cNvGrpSpPr/>
              <p:nvPr/>
            </p:nvGrpSpPr>
            <p:grpSpPr>
              <a:xfrm>
                <a:off x="1770362" y="2873352"/>
                <a:ext cx="414737" cy="409344"/>
                <a:chOff x="667045" y="1708643"/>
                <a:chExt cx="414737" cy="409344"/>
              </a:xfrm>
            </p:grpSpPr>
            <p:sp>
              <p:nvSpPr>
                <p:cNvPr id="149" name="Oval 146"/>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50" name="TextBox 149"/>
                <p:cNvSpPr txBox="1"/>
                <p:nvPr/>
              </p:nvSpPr>
              <p:spPr>
                <a:xfrm>
                  <a:off x="667045" y="1708643"/>
                  <a:ext cx="333296" cy="409344"/>
                </a:xfrm>
                <a:prstGeom prst="rect">
                  <a:avLst/>
                </a:prstGeom>
                <a:noFill/>
              </p:spPr>
              <p:txBody>
                <a:bodyPr wrap="none" rtlCol="0">
                  <a:spAutoFit/>
                </a:bodyPr>
                <a:lstStyle/>
                <a:p>
                  <a:r>
                    <a:rPr lang="en-US" dirty="0"/>
                    <a:t>3a</a:t>
                  </a:r>
                </a:p>
              </p:txBody>
            </p:sp>
          </p:grpSp>
        </p:grpSp>
        <p:cxnSp>
          <p:nvCxnSpPr>
            <p:cNvPr id="141" name="Straight Connector 138"/>
            <p:cNvCxnSpPr>
              <a:stCxn id="189" idx="2"/>
              <a:endCxn id="176" idx="0"/>
            </p:cNvCxnSpPr>
            <p:nvPr/>
          </p:nvCxnSpPr>
          <p:spPr bwMode="auto">
            <a:xfrm>
              <a:off x="1943976" y="3282696"/>
              <a:ext cx="4230" cy="811972"/>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2" name="Straight Connector 139"/>
            <p:cNvCxnSpPr/>
            <p:nvPr/>
          </p:nvCxnSpPr>
          <p:spPr bwMode="auto">
            <a:xfrm>
              <a:off x="1407477" y="3648621"/>
              <a:ext cx="1204913" cy="635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 name="Straight Connector 140"/>
            <p:cNvCxnSpPr>
              <a:stCxn id="190" idx="7"/>
            </p:cNvCxnSpPr>
            <p:nvPr/>
          </p:nvCxnSpPr>
          <p:spPr bwMode="auto">
            <a:xfrm>
              <a:off x="2218708" y="3154477"/>
              <a:ext cx="480042" cy="369773"/>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4" name="Straight Connector 141"/>
            <p:cNvCxnSpPr/>
            <p:nvPr/>
          </p:nvCxnSpPr>
          <p:spPr bwMode="auto">
            <a:xfrm>
              <a:off x="1300073" y="3786304"/>
              <a:ext cx="477927" cy="357071"/>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5" name="Straight Connector 142"/>
            <p:cNvCxnSpPr/>
            <p:nvPr/>
          </p:nvCxnSpPr>
          <p:spPr bwMode="auto">
            <a:xfrm flipH="1">
              <a:off x="2196042" y="3783542"/>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6" name="Straight Connector 143"/>
            <p:cNvCxnSpPr/>
            <p:nvPr/>
          </p:nvCxnSpPr>
          <p:spPr bwMode="auto">
            <a:xfrm flipH="1">
              <a:off x="1287553" y="3166946"/>
              <a:ext cx="508002" cy="349250"/>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199" name="Straight Connector 127"/>
          <p:cNvCxnSpPr/>
          <p:nvPr/>
        </p:nvCxnSpPr>
        <p:spPr bwMode="auto">
          <a:xfrm flipH="1" flipV="1">
            <a:off x="4062275" y="2340047"/>
            <a:ext cx="641169" cy="744090"/>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0" name="Straight Connector 128"/>
          <p:cNvCxnSpPr/>
          <p:nvPr/>
        </p:nvCxnSpPr>
        <p:spPr bwMode="auto">
          <a:xfrm flipV="1">
            <a:off x="7364252" y="2281165"/>
            <a:ext cx="450313" cy="823128"/>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01" name="TextBox 200"/>
          <p:cNvSpPr txBox="1"/>
          <p:nvPr/>
        </p:nvSpPr>
        <p:spPr>
          <a:xfrm>
            <a:off x="4657722" y="2438369"/>
            <a:ext cx="614271" cy="400110"/>
          </a:xfrm>
          <a:prstGeom prst="rect">
            <a:avLst/>
          </a:prstGeom>
          <a:noFill/>
        </p:spPr>
        <p:txBody>
          <a:bodyPr wrap="none" rtlCol="0">
            <a:spAutoFit/>
          </a:bodyPr>
          <a:lstStyle/>
          <a:p>
            <a:r>
              <a:rPr lang="en-US" sz="2000" dirty="0">
                <a:solidFill>
                  <a:srgbClr val="000090"/>
                </a:solidFill>
              </a:rPr>
              <a:t>AS2</a:t>
            </a:r>
          </a:p>
        </p:txBody>
      </p:sp>
      <p:sp>
        <p:nvSpPr>
          <p:cNvPr id="202" name="TextBox 201"/>
          <p:cNvSpPr txBox="1"/>
          <p:nvPr/>
        </p:nvSpPr>
        <p:spPr>
          <a:xfrm>
            <a:off x="7391934" y="1351667"/>
            <a:ext cx="614271" cy="400110"/>
          </a:xfrm>
          <a:prstGeom prst="rect">
            <a:avLst/>
          </a:prstGeom>
          <a:noFill/>
        </p:spPr>
        <p:txBody>
          <a:bodyPr wrap="none" rtlCol="0">
            <a:spAutoFit/>
          </a:bodyPr>
          <a:lstStyle/>
          <a:p>
            <a:r>
              <a:rPr lang="en-US" sz="2000" dirty="0">
                <a:solidFill>
                  <a:srgbClr val="000090"/>
                </a:solidFill>
              </a:rPr>
              <a:t>AS3</a:t>
            </a:r>
          </a:p>
        </p:txBody>
      </p:sp>
      <p:sp>
        <p:nvSpPr>
          <p:cNvPr id="203" name="TextBox 202"/>
          <p:cNvSpPr txBox="1"/>
          <p:nvPr/>
        </p:nvSpPr>
        <p:spPr>
          <a:xfrm>
            <a:off x="942897" y="1562343"/>
            <a:ext cx="614271" cy="400110"/>
          </a:xfrm>
          <a:prstGeom prst="rect">
            <a:avLst/>
          </a:prstGeom>
          <a:noFill/>
        </p:spPr>
        <p:txBody>
          <a:bodyPr wrap="none" rtlCol="0">
            <a:spAutoFit/>
          </a:bodyPr>
          <a:lstStyle/>
          <a:p>
            <a:r>
              <a:rPr lang="en-US" sz="2000" dirty="0">
                <a:solidFill>
                  <a:srgbClr val="000090"/>
                </a:solidFill>
              </a:rPr>
              <a:t>AS1</a:t>
            </a:r>
          </a:p>
        </p:txBody>
      </p:sp>
      <p:grpSp>
        <p:nvGrpSpPr>
          <p:cNvPr id="204" name="Group 10"/>
          <p:cNvGrpSpPr/>
          <p:nvPr/>
        </p:nvGrpSpPr>
        <p:grpSpPr>
          <a:xfrm>
            <a:off x="9427769" y="2413274"/>
            <a:ext cx="2268979" cy="616172"/>
            <a:chOff x="7073692" y="5469792"/>
            <a:chExt cx="1701734" cy="616172"/>
          </a:xfrm>
        </p:grpSpPr>
        <p:grpSp>
          <p:nvGrpSpPr>
            <p:cNvPr id="205" name="Group 9"/>
            <p:cNvGrpSpPr/>
            <p:nvPr/>
          </p:nvGrpSpPr>
          <p:grpSpPr>
            <a:xfrm>
              <a:off x="7073692" y="5469792"/>
              <a:ext cx="1701734" cy="616172"/>
              <a:chOff x="6946249" y="5096269"/>
              <a:chExt cx="1701734" cy="616172"/>
            </a:xfrm>
          </p:grpSpPr>
          <p:sp>
            <p:nvSpPr>
              <p:cNvPr id="207" name="Freeform 2"/>
              <p:cNvSpPr>
                <a:spLocks/>
              </p:cNvSpPr>
              <p:nvPr/>
            </p:nvSpPr>
            <p:spPr bwMode="auto">
              <a:xfrm>
                <a:off x="6946249" y="5096269"/>
                <a:ext cx="1701734" cy="616172"/>
              </a:xfrm>
              <a:custGeom>
                <a:avLst/>
                <a:gdLst>
                  <a:gd name="T0" fmla="*/ 648763 w 10001"/>
                  <a:gd name="T1" fmla="*/ 34777612 h 10125"/>
                  <a:gd name="T2" fmla="*/ 115976403 w 10001"/>
                  <a:gd name="T3" fmla="*/ 13733703 h 10125"/>
                  <a:gd name="T4" fmla="*/ 507700960 w 10001"/>
                  <a:gd name="T5" fmla="*/ 8662125 h 10125"/>
                  <a:gd name="T6" fmla="*/ 810212713 w 10001"/>
                  <a:gd name="T7" fmla="*/ 0 h 10125"/>
                  <a:gd name="T8" fmla="*/ 1090015738 w 10001"/>
                  <a:gd name="T9" fmla="*/ 8687929 h 10125"/>
                  <a:gd name="T10" fmla="*/ 1310938763 w 10001"/>
                  <a:gd name="T11" fmla="*/ 4279362 h 10125"/>
                  <a:gd name="T12" fmla="*/ 1620263134 w 10001"/>
                  <a:gd name="T13" fmla="*/ 25736690 h 10125"/>
                  <a:gd name="T14" fmla="*/ 1394798364 w 10001"/>
                  <a:gd name="T15" fmla="*/ 58525268 h 10125"/>
                  <a:gd name="T16" fmla="*/ 1134622140 w 10001"/>
                  <a:gd name="T17" fmla="*/ 80266624 h 10125"/>
                  <a:gd name="T18" fmla="*/ 860820276 w 10001"/>
                  <a:gd name="T19" fmla="*/ 76142271 h 10125"/>
                  <a:gd name="T20" fmla="*/ 708996782 w 10001"/>
                  <a:gd name="T21" fmla="*/ 85346835 h 10125"/>
                  <a:gd name="T22" fmla="*/ 509322667 w 10001"/>
                  <a:gd name="T23" fmla="*/ 86268164 h 10125"/>
                  <a:gd name="T24" fmla="*/ 353443899 w 10001"/>
                  <a:gd name="T25" fmla="*/ 67979516 h 10125"/>
                  <a:gd name="T26" fmla="*/ 192536914 w 10001"/>
                  <a:gd name="T27" fmla="*/ 64535347 h 10125"/>
                  <a:gd name="T28" fmla="*/ 648763 w 10001"/>
                  <a:gd name="T29" fmla="*/ 34777612 h 1012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connsiteX0" fmla="*/ 4 w 10040"/>
                  <a:gd name="connsiteY0" fmla="*/ 4039 h 10125"/>
                  <a:gd name="connsiteX1" fmla="*/ 715 w 10040"/>
                  <a:gd name="connsiteY1" fmla="*/ 1595 h 10125"/>
                  <a:gd name="connsiteX2" fmla="*/ 3130 w 10040"/>
                  <a:gd name="connsiteY2" fmla="*/ 1006 h 10125"/>
                  <a:gd name="connsiteX3" fmla="*/ 4995 w 10040"/>
                  <a:gd name="connsiteY3" fmla="*/ 0 h 10125"/>
                  <a:gd name="connsiteX4" fmla="*/ 6720 w 10040"/>
                  <a:gd name="connsiteY4" fmla="*/ 1009 h 10125"/>
                  <a:gd name="connsiteX5" fmla="*/ 9989 w 10040"/>
                  <a:gd name="connsiteY5" fmla="*/ 2989 h 10125"/>
                  <a:gd name="connsiteX6" fmla="*/ 8599 w 10040"/>
                  <a:gd name="connsiteY6" fmla="*/ 6797 h 10125"/>
                  <a:gd name="connsiteX7" fmla="*/ 6995 w 10040"/>
                  <a:gd name="connsiteY7" fmla="*/ 9322 h 10125"/>
                  <a:gd name="connsiteX8" fmla="*/ 5307 w 10040"/>
                  <a:gd name="connsiteY8" fmla="*/ 8843 h 10125"/>
                  <a:gd name="connsiteX9" fmla="*/ 4371 w 10040"/>
                  <a:gd name="connsiteY9" fmla="*/ 9912 h 10125"/>
                  <a:gd name="connsiteX10" fmla="*/ 3140 w 10040"/>
                  <a:gd name="connsiteY10" fmla="*/ 10019 h 10125"/>
                  <a:gd name="connsiteX11" fmla="*/ 2179 w 10040"/>
                  <a:gd name="connsiteY11" fmla="*/ 7895 h 10125"/>
                  <a:gd name="connsiteX12" fmla="*/ 1187 w 10040"/>
                  <a:gd name="connsiteY12" fmla="*/ 7495 h 10125"/>
                  <a:gd name="connsiteX13" fmla="*/ 4 w 10040"/>
                  <a:gd name="connsiteY13" fmla="*/ 4039 h 10125"/>
                  <a:gd name="connsiteX0" fmla="*/ 4 w 8600"/>
                  <a:gd name="connsiteY0" fmla="*/ 4042 h 10128"/>
                  <a:gd name="connsiteX1" fmla="*/ 715 w 8600"/>
                  <a:gd name="connsiteY1" fmla="*/ 1598 h 10128"/>
                  <a:gd name="connsiteX2" fmla="*/ 3130 w 8600"/>
                  <a:gd name="connsiteY2" fmla="*/ 1009 h 10128"/>
                  <a:gd name="connsiteX3" fmla="*/ 4995 w 8600"/>
                  <a:gd name="connsiteY3" fmla="*/ 3 h 10128"/>
                  <a:gd name="connsiteX4" fmla="*/ 6720 w 8600"/>
                  <a:gd name="connsiteY4" fmla="*/ 1012 h 10128"/>
                  <a:gd name="connsiteX5" fmla="*/ 8599 w 8600"/>
                  <a:gd name="connsiteY5" fmla="*/ 6800 h 10128"/>
                  <a:gd name="connsiteX6" fmla="*/ 6995 w 8600"/>
                  <a:gd name="connsiteY6" fmla="*/ 9325 h 10128"/>
                  <a:gd name="connsiteX7" fmla="*/ 5307 w 8600"/>
                  <a:gd name="connsiteY7" fmla="*/ 8846 h 10128"/>
                  <a:gd name="connsiteX8" fmla="*/ 4371 w 8600"/>
                  <a:gd name="connsiteY8" fmla="*/ 9915 h 10128"/>
                  <a:gd name="connsiteX9" fmla="*/ 3140 w 8600"/>
                  <a:gd name="connsiteY9" fmla="*/ 10022 h 10128"/>
                  <a:gd name="connsiteX10" fmla="*/ 2179 w 8600"/>
                  <a:gd name="connsiteY10" fmla="*/ 7898 h 10128"/>
                  <a:gd name="connsiteX11" fmla="*/ 1187 w 8600"/>
                  <a:gd name="connsiteY11" fmla="*/ 7498 h 10128"/>
                  <a:gd name="connsiteX12" fmla="*/ 4 w 8600"/>
                  <a:gd name="connsiteY12" fmla="*/ 4042 h 10128"/>
                  <a:gd name="connsiteX0" fmla="*/ 4 w 9326"/>
                  <a:gd name="connsiteY0" fmla="*/ 3988 h 9997"/>
                  <a:gd name="connsiteX1" fmla="*/ 830 w 9326"/>
                  <a:gd name="connsiteY1" fmla="*/ 1575 h 9997"/>
                  <a:gd name="connsiteX2" fmla="*/ 3639 w 9326"/>
                  <a:gd name="connsiteY2" fmla="*/ 993 h 9997"/>
                  <a:gd name="connsiteX3" fmla="*/ 5807 w 9326"/>
                  <a:gd name="connsiteY3" fmla="*/ 0 h 9997"/>
                  <a:gd name="connsiteX4" fmla="*/ 7813 w 9326"/>
                  <a:gd name="connsiteY4" fmla="*/ 996 h 9997"/>
                  <a:gd name="connsiteX5" fmla="*/ 9324 w 9326"/>
                  <a:gd name="connsiteY5" fmla="*/ 5746 h 9997"/>
                  <a:gd name="connsiteX6" fmla="*/ 8133 w 9326"/>
                  <a:gd name="connsiteY6" fmla="*/ 9204 h 9997"/>
                  <a:gd name="connsiteX7" fmla="*/ 6170 w 9326"/>
                  <a:gd name="connsiteY7" fmla="*/ 8731 h 9997"/>
                  <a:gd name="connsiteX8" fmla="*/ 5082 w 9326"/>
                  <a:gd name="connsiteY8" fmla="*/ 9787 h 9997"/>
                  <a:gd name="connsiteX9" fmla="*/ 3650 w 9326"/>
                  <a:gd name="connsiteY9" fmla="*/ 9892 h 9997"/>
                  <a:gd name="connsiteX10" fmla="*/ 2533 w 9326"/>
                  <a:gd name="connsiteY10" fmla="*/ 7795 h 9997"/>
                  <a:gd name="connsiteX11" fmla="*/ 1379 w 9326"/>
                  <a:gd name="connsiteY11" fmla="*/ 7400 h 9997"/>
                  <a:gd name="connsiteX12" fmla="*/ 4 w 9326"/>
                  <a:gd name="connsiteY12" fmla="*/ 3988 h 9997"/>
                  <a:gd name="connsiteX0" fmla="*/ 4 w 10001"/>
                  <a:gd name="connsiteY0" fmla="*/ 3989 h 10041"/>
                  <a:gd name="connsiteX1" fmla="*/ 890 w 10001"/>
                  <a:gd name="connsiteY1" fmla="*/ 1575 h 10041"/>
                  <a:gd name="connsiteX2" fmla="*/ 3902 w 10001"/>
                  <a:gd name="connsiteY2" fmla="*/ 993 h 10041"/>
                  <a:gd name="connsiteX3" fmla="*/ 6227 w 10001"/>
                  <a:gd name="connsiteY3" fmla="*/ 0 h 10041"/>
                  <a:gd name="connsiteX4" fmla="*/ 8378 w 10001"/>
                  <a:gd name="connsiteY4" fmla="*/ 996 h 10041"/>
                  <a:gd name="connsiteX5" fmla="*/ 9998 w 10001"/>
                  <a:gd name="connsiteY5" fmla="*/ 5748 h 10041"/>
                  <a:gd name="connsiteX6" fmla="*/ 8721 w 10001"/>
                  <a:gd name="connsiteY6" fmla="*/ 9207 h 10041"/>
                  <a:gd name="connsiteX7" fmla="*/ 5449 w 10001"/>
                  <a:gd name="connsiteY7" fmla="*/ 9790 h 10041"/>
                  <a:gd name="connsiteX8" fmla="*/ 3914 w 10001"/>
                  <a:gd name="connsiteY8" fmla="*/ 9895 h 10041"/>
                  <a:gd name="connsiteX9" fmla="*/ 2716 w 10001"/>
                  <a:gd name="connsiteY9" fmla="*/ 7797 h 10041"/>
                  <a:gd name="connsiteX10" fmla="*/ 1479 w 10001"/>
                  <a:gd name="connsiteY10" fmla="*/ 7402 h 10041"/>
                  <a:gd name="connsiteX11" fmla="*/ 4 w 10001"/>
                  <a:gd name="connsiteY11" fmla="*/ 3989 h 10041"/>
                  <a:gd name="connsiteX0" fmla="*/ 4 w 10001"/>
                  <a:gd name="connsiteY0" fmla="*/ 3989 h 14825"/>
                  <a:gd name="connsiteX1" fmla="*/ 890 w 10001"/>
                  <a:gd name="connsiteY1" fmla="*/ 1575 h 14825"/>
                  <a:gd name="connsiteX2" fmla="*/ 3902 w 10001"/>
                  <a:gd name="connsiteY2" fmla="*/ 993 h 14825"/>
                  <a:gd name="connsiteX3" fmla="*/ 6227 w 10001"/>
                  <a:gd name="connsiteY3" fmla="*/ 0 h 14825"/>
                  <a:gd name="connsiteX4" fmla="*/ 8378 w 10001"/>
                  <a:gd name="connsiteY4" fmla="*/ 996 h 14825"/>
                  <a:gd name="connsiteX5" fmla="*/ 9998 w 10001"/>
                  <a:gd name="connsiteY5" fmla="*/ 5748 h 14825"/>
                  <a:gd name="connsiteX6" fmla="*/ 8721 w 10001"/>
                  <a:gd name="connsiteY6" fmla="*/ 9207 h 14825"/>
                  <a:gd name="connsiteX7" fmla="*/ 6011 w 10001"/>
                  <a:gd name="connsiteY7" fmla="*/ 14823 h 14825"/>
                  <a:gd name="connsiteX8" fmla="*/ 3914 w 10001"/>
                  <a:gd name="connsiteY8" fmla="*/ 9895 h 14825"/>
                  <a:gd name="connsiteX9" fmla="*/ 2716 w 10001"/>
                  <a:gd name="connsiteY9" fmla="*/ 7797 h 14825"/>
                  <a:gd name="connsiteX10" fmla="*/ 1479 w 10001"/>
                  <a:gd name="connsiteY10" fmla="*/ 7402 h 14825"/>
                  <a:gd name="connsiteX11" fmla="*/ 4 w 10001"/>
                  <a:gd name="connsiteY11" fmla="*/ 3989 h 14825"/>
                  <a:gd name="connsiteX0" fmla="*/ 4 w 10001"/>
                  <a:gd name="connsiteY0" fmla="*/ 7436 h 18272"/>
                  <a:gd name="connsiteX1" fmla="*/ 890 w 10001"/>
                  <a:gd name="connsiteY1" fmla="*/ 5022 h 18272"/>
                  <a:gd name="connsiteX2" fmla="*/ 3902 w 10001"/>
                  <a:gd name="connsiteY2" fmla="*/ 4440 h 18272"/>
                  <a:gd name="connsiteX3" fmla="*/ 6026 w 10001"/>
                  <a:gd name="connsiteY3" fmla="*/ 0 h 18272"/>
                  <a:gd name="connsiteX4" fmla="*/ 8378 w 10001"/>
                  <a:gd name="connsiteY4" fmla="*/ 4443 h 18272"/>
                  <a:gd name="connsiteX5" fmla="*/ 9998 w 10001"/>
                  <a:gd name="connsiteY5" fmla="*/ 9195 h 18272"/>
                  <a:gd name="connsiteX6" fmla="*/ 8721 w 10001"/>
                  <a:gd name="connsiteY6" fmla="*/ 12654 h 18272"/>
                  <a:gd name="connsiteX7" fmla="*/ 6011 w 10001"/>
                  <a:gd name="connsiteY7" fmla="*/ 18270 h 18272"/>
                  <a:gd name="connsiteX8" fmla="*/ 3914 w 10001"/>
                  <a:gd name="connsiteY8" fmla="*/ 13342 h 18272"/>
                  <a:gd name="connsiteX9" fmla="*/ 2716 w 10001"/>
                  <a:gd name="connsiteY9" fmla="*/ 11244 h 18272"/>
                  <a:gd name="connsiteX10" fmla="*/ 1479 w 10001"/>
                  <a:gd name="connsiteY10" fmla="*/ 10849 h 18272"/>
                  <a:gd name="connsiteX11" fmla="*/ 4 w 10001"/>
                  <a:gd name="connsiteY11" fmla="*/ 7436 h 18272"/>
                  <a:gd name="connsiteX0" fmla="*/ 1 w 9998"/>
                  <a:gd name="connsiteY0" fmla="*/ 7436 h 18272"/>
                  <a:gd name="connsiteX1" fmla="*/ 3899 w 9998"/>
                  <a:gd name="connsiteY1" fmla="*/ 4440 h 18272"/>
                  <a:gd name="connsiteX2" fmla="*/ 6023 w 9998"/>
                  <a:gd name="connsiteY2" fmla="*/ 0 h 18272"/>
                  <a:gd name="connsiteX3" fmla="*/ 8375 w 9998"/>
                  <a:gd name="connsiteY3" fmla="*/ 4443 h 18272"/>
                  <a:gd name="connsiteX4" fmla="*/ 9995 w 9998"/>
                  <a:gd name="connsiteY4" fmla="*/ 9195 h 18272"/>
                  <a:gd name="connsiteX5" fmla="*/ 8718 w 9998"/>
                  <a:gd name="connsiteY5" fmla="*/ 12654 h 18272"/>
                  <a:gd name="connsiteX6" fmla="*/ 6008 w 9998"/>
                  <a:gd name="connsiteY6" fmla="*/ 18270 h 18272"/>
                  <a:gd name="connsiteX7" fmla="*/ 3911 w 9998"/>
                  <a:gd name="connsiteY7" fmla="*/ 13342 h 18272"/>
                  <a:gd name="connsiteX8" fmla="*/ 2713 w 9998"/>
                  <a:gd name="connsiteY8" fmla="*/ 11244 h 18272"/>
                  <a:gd name="connsiteX9" fmla="*/ 1476 w 9998"/>
                  <a:gd name="connsiteY9" fmla="*/ 10849 h 18272"/>
                  <a:gd name="connsiteX10" fmla="*/ 1 w 9998"/>
                  <a:gd name="connsiteY10" fmla="*/ 7436 h 18272"/>
                  <a:gd name="connsiteX0" fmla="*/ 35 w 8559"/>
                  <a:gd name="connsiteY0" fmla="*/ 5938 h 10000"/>
                  <a:gd name="connsiteX1" fmla="*/ 2459 w 8559"/>
                  <a:gd name="connsiteY1" fmla="*/ 2430 h 10000"/>
                  <a:gd name="connsiteX2" fmla="*/ 4583 w 8559"/>
                  <a:gd name="connsiteY2" fmla="*/ 0 h 10000"/>
                  <a:gd name="connsiteX3" fmla="*/ 6936 w 8559"/>
                  <a:gd name="connsiteY3" fmla="*/ 2432 h 10000"/>
                  <a:gd name="connsiteX4" fmla="*/ 8556 w 8559"/>
                  <a:gd name="connsiteY4" fmla="*/ 5032 h 10000"/>
                  <a:gd name="connsiteX5" fmla="*/ 7279 w 8559"/>
                  <a:gd name="connsiteY5" fmla="*/ 6925 h 10000"/>
                  <a:gd name="connsiteX6" fmla="*/ 4568 w 8559"/>
                  <a:gd name="connsiteY6" fmla="*/ 9999 h 10000"/>
                  <a:gd name="connsiteX7" fmla="*/ 2471 w 8559"/>
                  <a:gd name="connsiteY7" fmla="*/ 7302 h 10000"/>
                  <a:gd name="connsiteX8" fmla="*/ 1273 w 8559"/>
                  <a:gd name="connsiteY8" fmla="*/ 6154 h 10000"/>
                  <a:gd name="connsiteX9" fmla="*/ 35 w 8559"/>
                  <a:gd name="connsiteY9" fmla="*/ 5938 h 10000"/>
                  <a:gd name="connsiteX0" fmla="*/ 49 w 9820"/>
                  <a:gd name="connsiteY0" fmla="*/ 4655 h 10000"/>
                  <a:gd name="connsiteX1" fmla="*/ 2693 w 9820"/>
                  <a:gd name="connsiteY1" fmla="*/ 2430 h 10000"/>
                  <a:gd name="connsiteX2" fmla="*/ 5175 w 9820"/>
                  <a:gd name="connsiteY2" fmla="*/ 0 h 10000"/>
                  <a:gd name="connsiteX3" fmla="*/ 7924 w 9820"/>
                  <a:gd name="connsiteY3" fmla="*/ 2432 h 10000"/>
                  <a:gd name="connsiteX4" fmla="*/ 9816 w 9820"/>
                  <a:gd name="connsiteY4" fmla="*/ 5032 h 10000"/>
                  <a:gd name="connsiteX5" fmla="*/ 8324 w 9820"/>
                  <a:gd name="connsiteY5" fmla="*/ 6925 h 10000"/>
                  <a:gd name="connsiteX6" fmla="*/ 5157 w 9820"/>
                  <a:gd name="connsiteY6" fmla="*/ 9999 h 10000"/>
                  <a:gd name="connsiteX7" fmla="*/ 2707 w 9820"/>
                  <a:gd name="connsiteY7" fmla="*/ 7302 h 10000"/>
                  <a:gd name="connsiteX8" fmla="*/ 1307 w 9820"/>
                  <a:gd name="connsiteY8" fmla="*/ 6154 h 10000"/>
                  <a:gd name="connsiteX9" fmla="*/ 49 w 9820"/>
                  <a:gd name="connsiteY9" fmla="*/ 4655 h 10000"/>
                  <a:gd name="connsiteX0" fmla="*/ 45 w 9995"/>
                  <a:gd name="connsiteY0" fmla="*/ 4655 h 10000"/>
                  <a:gd name="connsiteX1" fmla="*/ 2737 w 9995"/>
                  <a:gd name="connsiteY1" fmla="*/ 2430 h 10000"/>
                  <a:gd name="connsiteX2" fmla="*/ 5265 w 9995"/>
                  <a:gd name="connsiteY2" fmla="*/ 0 h 10000"/>
                  <a:gd name="connsiteX3" fmla="*/ 8064 w 9995"/>
                  <a:gd name="connsiteY3" fmla="*/ 2432 h 10000"/>
                  <a:gd name="connsiteX4" fmla="*/ 9991 w 9995"/>
                  <a:gd name="connsiteY4" fmla="*/ 5032 h 10000"/>
                  <a:gd name="connsiteX5" fmla="*/ 8472 w 9995"/>
                  <a:gd name="connsiteY5" fmla="*/ 6925 h 10000"/>
                  <a:gd name="connsiteX6" fmla="*/ 5247 w 9995"/>
                  <a:gd name="connsiteY6" fmla="*/ 9999 h 10000"/>
                  <a:gd name="connsiteX7" fmla="*/ 2752 w 9995"/>
                  <a:gd name="connsiteY7" fmla="*/ 7302 h 10000"/>
                  <a:gd name="connsiteX8" fmla="*/ 1374 w 9995"/>
                  <a:gd name="connsiteY8" fmla="*/ 6984 h 10000"/>
                  <a:gd name="connsiteX9" fmla="*/ 45 w 9995"/>
                  <a:gd name="connsiteY9" fmla="*/ 4655 h 10000"/>
                  <a:gd name="connsiteX0" fmla="*/ 45 w 10000"/>
                  <a:gd name="connsiteY0" fmla="*/ 5032 h 10377"/>
                  <a:gd name="connsiteX1" fmla="*/ 2738 w 10000"/>
                  <a:gd name="connsiteY1" fmla="*/ 2807 h 10377"/>
                  <a:gd name="connsiteX2" fmla="*/ 4886 w 10000"/>
                  <a:gd name="connsiteY2" fmla="*/ 0 h 10377"/>
                  <a:gd name="connsiteX3" fmla="*/ 8068 w 10000"/>
                  <a:gd name="connsiteY3" fmla="*/ 2809 h 10377"/>
                  <a:gd name="connsiteX4" fmla="*/ 9996 w 10000"/>
                  <a:gd name="connsiteY4" fmla="*/ 5409 h 10377"/>
                  <a:gd name="connsiteX5" fmla="*/ 8476 w 10000"/>
                  <a:gd name="connsiteY5" fmla="*/ 7302 h 10377"/>
                  <a:gd name="connsiteX6" fmla="*/ 5250 w 10000"/>
                  <a:gd name="connsiteY6" fmla="*/ 10376 h 10377"/>
                  <a:gd name="connsiteX7" fmla="*/ 2753 w 10000"/>
                  <a:gd name="connsiteY7" fmla="*/ 7679 h 10377"/>
                  <a:gd name="connsiteX8" fmla="*/ 1375 w 10000"/>
                  <a:gd name="connsiteY8" fmla="*/ 7361 h 10377"/>
                  <a:gd name="connsiteX9" fmla="*/ 45 w 10000"/>
                  <a:gd name="connsiteY9" fmla="*/ 5032 h 10377"/>
                  <a:gd name="connsiteX0" fmla="*/ 45 w 10000"/>
                  <a:gd name="connsiteY0" fmla="*/ 5036 h 10381"/>
                  <a:gd name="connsiteX1" fmla="*/ 2738 w 10000"/>
                  <a:gd name="connsiteY1" fmla="*/ 2811 h 10381"/>
                  <a:gd name="connsiteX2" fmla="*/ 4886 w 10000"/>
                  <a:gd name="connsiteY2" fmla="*/ 4 h 10381"/>
                  <a:gd name="connsiteX3" fmla="*/ 8068 w 10000"/>
                  <a:gd name="connsiteY3" fmla="*/ 2813 h 10381"/>
                  <a:gd name="connsiteX4" fmla="*/ 9996 w 10000"/>
                  <a:gd name="connsiteY4" fmla="*/ 5413 h 10381"/>
                  <a:gd name="connsiteX5" fmla="*/ 8476 w 10000"/>
                  <a:gd name="connsiteY5" fmla="*/ 7306 h 10381"/>
                  <a:gd name="connsiteX6" fmla="*/ 5250 w 10000"/>
                  <a:gd name="connsiteY6" fmla="*/ 10380 h 10381"/>
                  <a:gd name="connsiteX7" fmla="*/ 2753 w 10000"/>
                  <a:gd name="connsiteY7" fmla="*/ 7683 h 10381"/>
                  <a:gd name="connsiteX8" fmla="*/ 1375 w 10000"/>
                  <a:gd name="connsiteY8" fmla="*/ 7365 h 10381"/>
                  <a:gd name="connsiteX9" fmla="*/ 45 w 10000"/>
                  <a:gd name="connsiteY9" fmla="*/ 5036 h 10381"/>
                  <a:gd name="connsiteX0" fmla="*/ 45 w 10000"/>
                  <a:gd name="connsiteY0" fmla="*/ 5036 h 10796"/>
                  <a:gd name="connsiteX1" fmla="*/ 2738 w 10000"/>
                  <a:gd name="connsiteY1" fmla="*/ 2811 h 10796"/>
                  <a:gd name="connsiteX2" fmla="*/ 4886 w 10000"/>
                  <a:gd name="connsiteY2" fmla="*/ 4 h 10796"/>
                  <a:gd name="connsiteX3" fmla="*/ 8068 w 10000"/>
                  <a:gd name="connsiteY3" fmla="*/ 2813 h 10796"/>
                  <a:gd name="connsiteX4" fmla="*/ 9996 w 10000"/>
                  <a:gd name="connsiteY4" fmla="*/ 5413 h 10796"/>
                  <a:gd name="connsiteX5" fmla="*/ 8476 w 10000"/>
                  <a:gd name="connsiteY5" fmla="*/ 7306 h 10796"/>
                  <a:gd name="connsiteX6" fmla="*/ 5202 w 10000"/>
                  <a:gd name="connsiteY6" fmla="*/ 10795 h 10796"/>
                  <a:gd name="connsiteX7" fmla="*/ 2753 w 10000"/>
                  <a:gd name="connsiteY7" fmla="*/ 7683 h 10796"/>
                  <a:gd name="connsiteX8" fmla="*/ 1375 w 10000"/>
                  <a:gd name="connsiteY8" fmla="*/ 7365 h 10796"/>
                  <a:gd name="connsiteX9" fmla="*/ 45 w 10000"/>
                  <a:gd name="connsiteY9" fmla="*/ 5036 h 10796"/>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5 w 10000"/>
                  <a:gd name="connsiteY0" fmla="*/ 5036 h 10795"/>
                  <a:gd name="connsiteX1" fmla="*/ 2738 w 10000"/>
                  <a:gd name="connsiteY1" fmla="*/ 2811 h 10795"/>
                  <a:gd name="connsiteX2" fmla="*/ 4886 w 10000"/>
                  <a:gd name="connsiteY2" fmla="*/ 4 h 10795"/>
                  <a:gd name="connsiteX3" fmla="*/ 8068 w 10000"/>
                  <a:gd name="connsiteY3" fmla="*/ 2813 h 10795"/>
                  <a:gd name="connsiteX4" fmla="*/ 9996 w 10000"/>
                  <a:gd name="connsiteY4" fmla="*/ 5413 h 10795"/>
                  <a:gd name="connsiteX5" fmla="*/ 8476 w 10000"/>
                  <a:gd name="connsiteY5" fmla="*/ 7306 h 10795"/>
                  <a:gd name="connsiteX6" fmla="*/ 5202 w 10000"/>
                  <a:gd name="connsiteY6" fmla="*/ 10795 h 10795"/>
                  <a:gd name="connsiteX7" fmla="*/ 2753 w 10000"/>
                  <a:gd name="connsiteY7" fmla="*/ 7683 h 10795"/>
                  <a:gd name="connsiteX8" fmla="*/ 1375 w 10000"/>
                  <a:gd name="connsiteY8" fmla="*/ 7365 h 10795"/>
                  <a:gd name="connsiteX9" fmla="*/ 45 w 10000"/>
                  <a:gd name="connsiteY9" fmla="*/ 5036 h 10795"/>
                  <a:gd name="connsiteX0" fmla="*/ 4 w 9959"/>
                  <a:gd name="connsiteY0" fmla="*/ 5593 h 11352"/>
                  <a:gd name="connsiteX1" fmla="*/ 1089 w 9959"/>
                  <a:gd name="connsiteY1" fmla="*/ 469 h 11352"/>
                  <a:gd name="connsiteX2" fmla="*/ 4845 w 9959"/>
                  <a:gd name="connsiteY2" fmla="*/ 561 h 11352"/>
                  <a:gd name="connsiteX3" fmla="*/ 8027 w 9959"/>
                  <a:gd name="connsiteY3" fmla="*/ 3370 h 11352"/>
                  <a:gd name="connsiteX4" fmla="*/ 9955 w 9959"/>
                  <a:gd name="connsiteY4" fmla="*/ 5970 h 11352"/>
                  <a:gd name="connsiteX5" fmla="*/ 8435 w 9959"/>
                  <a:gd name="connsiteY5" fmla="*/ 7863 h 11352"/>
                  <a:gd name="connsiteX6" fmla="*/ 5161 w 9959"/>
                  <a:gd name="connsiteY6" fmla="*/ 11352 h 11352"/>
                  <a:gd name="connsiteX7" fmla="*/ 2712 w 9959"/>
                  <a:gd name="connsiteY7" fmla="*/ 8240 h 11352"/>
                  <a:gd name="connsiteX8" fmla="*/ 1334 w 9959"/>
                  <a:gd name="connsiteY8" fmla="*/ 7922 h 11352"/>
                  <a:gd name="connsiteX9" fmla="*/ 4 w 9959"/>
                  <a:gd name="connsiteY9" fmla="*/ 5593 h 11352"/>
                  <a:gd name="connsiteX0" fmla="*/ 0 w 11223"/>
                  <a:gd name="connsiteY0" fmla="*/ 3835 h 9929"/>
                  <a:gd name="connsiteX1" fmla="*/ 2316 w 11223"/>
                  <a:gd name="connsiteY1" fmla="*/ 342 h 9929"/>
                  <a:gd name="connsiteX2" fmla="*/ 6088 w 11223"/>
                  <a:gd name="connsiteY2" fmla="*/ 423 h 9929"/>
                  <a:gd name="connsiteX3" fmla="*/ 9283 w 11223"/>
                  <a:gd name="connsiteY3" fmla="*/ 2898 h 9929"/>
                  <a:gd name="connsiteX4" fmla="*/ 11219 w 11223"/>
                  <a:gd name="connsiteY4" fmla="*/ 5188 h 9929"/>
                  <a:gd name="connsiteX5" fmla="*/ 9693 w 11223"/>
                  <a:gd name="connsiteY5" fmla="*/ 6856 h 9929"/>
                  <a:gd name="connsiteX6" fmla="*/ 6405 w 11223"/>
                  <a:gd name="connsiteY6" fmla="*/ 9929 h 9929"/>
                  <a:gd name="connsiteX7" fmla="*/ 3946 w 11223"/>
                  <a:gd name="connsiteY7" fmla="*/ 7188 h 9929"/>
                  <a:gd name="connsiteX8" fmla="*/ 2562 w 11223"/>
                  <a:gd name="connsiteY8" fmla="*/ 6908 h 9929"/>
                  <a:gd name="connsiteX9" fmla="*/ 0 w 11223"/>
                  <a:gd name="connsiteY9" fmla="*/ 3835 h 9929"/>
                  <a:gd name="connsiteX0" fmla="*/ 0 w 9999"/>
                  <a:gd name="connsiteY0" fmla="*/ 3862 h 10000"/>
                  <a:gd name="connsiteX1" fmla="*/ 2064 w 9999"/>
                  <a:gd name="connsiteY1" fmla="*/ 344 h 10000"/>
                  <a:gd name="connsiteX2" fmla="*/ 5425 w 9999"/>
                  <a:gd name="connsiteY2" fmla="*/ 426 h 10000"/>
                  <a:gd name="connsiteX3" fmla="*/ 8271 w 9999"/>
                  <a:gd name="connsiteY3" fmla="*/ 2919 h 10000"/>
                  <a:gd name="connsiteX4" fmla="*/ 9996 w 9999"/>
                  <a:gd name="connsiteY4" fmla="*/ 5225 h 10000"/>
                  <a:gd name="connsiteX5" fmla="*/ 8637 w 9999"/>
                  <a:gd name="connsiteY5" fmla="*/ 6905 h 10000"/>
                  <a:gd name="connsiteX6" fmla="*/ 5707 w 9999"/>
                  <a:gd name="connsiteY6" fmla="*/ 10000 h 10000"/>
                  <a:gd name="connsiteX7" fmla="*/ 2283 w 9999"/>
                  <a:gd name="connsiteY7" fmla="*/ 6957 h 10000"/>
                  <a:gd name="connsiteX8" fmla="*/ 0 w 9999"/>
                  <a:gd name="connsiteY8" fmla="*/ 3862 h 10000"/>
                  <a:gd name="connsiteX0" fmla="*/ 124 w 10124"/>
                  <a:gd name="connsiteY0" fmla="*/ 3862 h 10000"/>
                  <a:gd name="connsiteX1" fmla="*/ 2188 w 10124"/>
                  <a:gd name="connsiteY1" fmla="*/ 344 h 10000"/>
                  <a:gd name="connsiteX2" fmla="*/ 5550 w 10124"/>
                  <a:gd name="connsiteY2" fmla="*/ 426 h 10000"/>
                  <a:gd name="connsiteX3" fmla="*/ 8396 w 10124"/>
                  <a:gd name="connsiteY3" fmla="*/ 2919 h 10000"/>
                  <a:gd name="connsiteX4" fmla="*/ 10121 w 10124"/>
                  <a:gd name="connsiteY4" fmla="*/ 5225 h 10000"/>
                  <a:gd name="connsiteX5" fmla="*/ 8762 w 10124"/>
                  <a:gd name="connsiteY5" fmla="*/ 6905 h 10000"/>
                  <a:gd name="connsiteX6" fmla="*/ 5832 w 10124"/>
                  <a:gd name="connsiteY6" fmla="*/ 10000 h 10000"/>
                  <a:gd name="connsiteX7" fmla="*/ 124 w 10124"/>
                  <a:gd name="connsiteY7" fmla="*/ 3862 h 10000"/>
                  <a:gd name="connsiteX0" fmla="*/ 43 w 10045"/>
                  <a:gd name="connsiteY0" fmla="*/ 3862 h 6912"/>
                  <a:gd name="connsiteX1" fmla="*/ 2107 w 10045"/>
                  <a:gd name="connsiteY1" fmla="*/ 344 h 6912"/>
                  <a:gd name="connsiteX2" fmla="*/ 5469 w 10045"/>
                  <a:gd name="connsiteY2" fmla="*/ 426 h 6912"/>
                  <a:gd name="connsiteX3" fmla="*/ 8315 w 10045"/>
                  <a:gd name="connsiteY3" fmla="*/ 2919 h 6912"/>
                  <a:gd name="connsiteX4" fmla="*/ 10040 w 10045"/>
                  <a:gd name="connsiteY4" fmla="*/ 5225 h 6912"/>
                  <a:gd name="connsiteX5" fmla="*/ 8681 w 10045"/>
                  <a:gd name="connsiteY5" fmla="*/ 6905 h 6912"/>
                  <a:gd name="connsiteX6" fmla="*/ 3967 w 10045"/>
                  <a:gd name="connsiteY6" fmla="*/ 5885 h 6912"/>
                  <a:gd name="connsiteX7" fmla="*/ 43 w 10045"/>
                  <a:gd name="connsiteY7" fmla="*/ 3862 h 6912"/>
                  <a:gd name="connsiteX0" fmla="*/ 47 w 10004"/>
                  <a:gd name="connsiteY0" fmla="*/ 5106 h 9519"/>
                  <a:gd name="connsiteX1" fmla="*/ 2102 w 10004"/>
                  <a:gd name="connsiteY1" fmla="*/ 17 h 9519"/>
                  <a:gd name="connsiteX2" fmla="*/ 6651 w 10004"/>
                  <a:gd name="connsiteY2" fmla="*/ 3484 h 9519"/>
                  <a:gd name="connsiteX3" fmla="*/ 8282 w 10004"/>
                  <a:gd name="connsiteY3" fmla="*/ 3742 h 9519"/>
                  <a:gd name="connsiteX4" fmla="*/ 9999 w 10004"/>
                  <a:gd name="connsiteY4" fmla="*/ 7078 h 9519"/>
                  <a:gd name="connsiteX5" fmla="*/ 8646 w 10004"/>
                  <a:gd name="connsiteY5" fmla="*/ 9509 h 9519"/>
                  <a:gd name="connsiteX6" fmla="*/ 3953 w 10004"/>
                  <a:gd name="connsiteY6" fmla="*/ 8033 h 9519"/>
                  <a:gd name="connsiteX7" fmla="*/ 47 w 10004"/>
                  <a:gd name="connsiteY7" fmla="*/ 5106 h 9519"/>
                  <a:gd name="connsiteX0" fmla="*/ 43 w 9996"/>
                  <a:gd name="connsiteY0" fmla="*/ 6232 h 10868"/>
                  <a:gd name="connsiteX1" fmla="*/ 2097 w 9996"/>
                  <a:gd name="connsiteY1" fmla="*/ 886 h 10868"/>
                  <a:gd name="connsiteX2" fmla="*/ 5642 w 9996"/>
                  <a:gd name="connsiteY2" fmla="*/ 385 h 10868"/>
                  <a:gd name="connsiteX3" fmla="*/ 8275 w 9996"/>
                  <a:gd name="connsiteY3" fmla="*/ 4799 h 10868"/>
                  <a:gd name="connsiteX4" fmla="*/ 9991 w 9996"/>
                  <a:gd name="connsiteY4" fmla="*/ 8304 h 10868"/>
                  <a:gd name="connsiteX5" fmla="*/ 8639 w 9996"/>
                  <a:gd name="connsiteY5" fmla="*/ 10857 h 10868"/>
                  <a:gd name="connsiteX6" fmla="*/ 3947 w 9996"/>
                  <a:gd name="connsiteY6" fmla="*/ 9307 h 10868"/>
                  <a:gd name="connsiteX7" fmla="*/ 43 w 9996"/>
                  <a:gd name="connsiteY7" fmla="*/ 6232 h 10868"/>
                  <a:gd name="connsiteX0" fmla="*/ 43 w 10004"/>
                  <a:gd name="connsiteY0" fmla="*/ 5543 h 9809"/>
                  <a:gd name="connsiteX1" fmla="*/ 2098 w 10004"/>
                  <a:gd name="connsiteY1" fmla="*/ 624 h 9809"/>
                  <a:gd name="connsiteX2" fmla="*/ 5644 w 10004"/>
                  <a:gd name="connsiteY2" fmla="*/ 163 h 9809"/>
                  <a:gd name="connsiteX3" fmla="*/ 8163 w 10004"/>
                  <a:gd name="connsiteY3" fmla="*/ 1492 h 9809"/>
                  <a:gd name="connsiteX4" fmla="*/ 9995 w 10004"/>
                  <a:gd name="connsiteY4" fmla="*/ 7450 h 9809"/>
                  <a:gd name="connsiteX5" fmla="*/ 8642 w 10004"/>
                  <a:gd name="connsiteY5" fmla="*/ 9799 h 9809"/>
                  <a:gd name="connsiteX6" fmla="*/ 3949 w 10004"/>
                  <a:gd name="connsiteY6" fmla="*/ 8373 h 9809"/>
                  <a:gd name="connsiteX7" fmla="*/ 43 w 10004"/>
                  <a:gd name="connsiteY7" fmla="*/ 5543 h 9809"/>
                  <a:gd name="connsiteX0" fmla="*/ 43 w 8950"/>
                  <a:gd name="connsiteY0" fmla="*/ 5651 h 10081"/>
                  <a:gd name="connsiteX1" fmla="*/ 2097 w 8950"/>
                  <a:gd name="connsiteY1" fmla="*/ 636 h 10081"/>
                  <a:gd name="connsiteX2" fmla="*/ 5642 w 8950"/>
                  <a:gd name="connsiteY2" fmla="*/ 166 h 10081"/>
                  <a:gd name="connsiteX3" fmla="*/ 8160 w 8950"/>
                  <a:gd name="connsiteY3" fmla="*/ 1521 h 10081"/>
                  <a:gd name="connsiteX4" fmla="*/ 8473 w 8950"/>
                  <a:gd name="connsiteY4" fmla="*/ 5322 h 10081"/>
                  <a:gd name="connsiteX5" fmla="*/ 8639 w 8950"/>
                  <a:gd name="connsiteY5" fmla="*/ 9990 h 10081"/>
                  <a:gd name="connsiteX6" fmla="*/ 3947 w 8950"/>
                  <a:gd name="connsiteY6" fmla="*/ 8536 h 10081"/>
                  <a:gd name="connsiteX7" fmla="*/ 43 w 8950"/>
                  <a:gd name="connsiteY7" fmla="*/ 5651 h 10081"/>
                  <a:gd name="connsiteX0" fmla="*/ 48 w 9651"/>
                  <a:gd name="connsiteY0" fmla="*/ 5606 h 8648"/>
                  <a:gd name="connsiteX1" fmla="*/ 2343 w 9651"/>
                  <a:gd name="connsiteY1" fmla="*/ 631 h 8648"/>
                  <a:gd name="connsiteX2" fmla="*/ 6304 w 9651"/>
                  <a:gd name="connsiteY2" fmla="*/ 165 h 8648"/>
                  <a:gd name="connsiteX3" fmla="*/ 9117 w 9651"/>
                  <a:gd name="connsiteY3" fmla="*/ 1509 h 8648"/>
                  <a:gd name="connsiteX4" fmla="*/ 9467 w 9651"/>
                  <a:gd name="connsiteY4" fmla="*/ 5279 h 8648"/>
                  <a:gd name="connsiteX5" fmla="*/ 6997 w 9651"/>
                  <a:gd name="connsiteY5" fmla="*/ 8019 h 8648"/>
                  <a:gd name="connsiteX6" fmla="*/ 4410 w 9651"/>
                  <a:gd name="connsiteY6" fmla="*/ 8467 h 8648"/>
                  <a:gd name="connsiteX7" fmla="*/ 48 w 9651"/>
                  <a:gd name="connsiteY7" fmla="*/ 5606 h 8648"/>
                  <a:gd name="connsiteX0" fmla="*/ 41 w 9991"/>
                  <a:gd name="connsiteY0" fmla="*/ 6482 h 9316"/>
                  <a:gd name="connsiteX1" fmla="*/ 2419 w 9991"/>
                  <a:gd name="connsiteY1" fmla="*/ 730 h 9316"/>
                  <a:gd name="connsiteX2" fmla="*/ 6523 w 9991"/>
                  <a:gd name="connsiteY2" fmla="*/ 191 h 9316"/>
                  <a:gd name="connsiteX3" fmla="*/ 9438 w 9991"/>
                  <a:gd name="connsiteY3" fmla="*/ 1745 h 9316"/>
                  <a:gd name="connsiteX4" fmla="*/ 9800 w 9991"/>
                  <a:gd name="connsiteY4" fmla="*/ 6104 h 9316"/>
                  <a:gd name="connsiteX5" fmla="*/ 7241 w 9991"/>
                  <a:gd name="connsiteY5" fmla="*/ 9273 h 9316"/>
                  <a:gd name="connsiteX6" fmla="*/ 1411 w 9991"/>
                  <a:gd name="connsiteY6" fmla="*/ 7856 h 9316"/>
                  <a:gd name="connsiteX7" fmla="*/ 41 w 9991"/>
                  <a:gd name="connsiteY7" fmla="*/ 6482 h 9316"/>
                  <a:gd name="connsiteX0" fmla="*/ 19 w 10708"/>
                  <a:gd name="connsiteY0" fmla="*/ 7721 h 10038"/>
                  <a:gd name="connsiteX1" fmla="*/ 3129 w 10708"/>
                  <a:gd name="connsiteY1" fmla="*/ 825 h 10038"/>
                  <a:gd name="connsiteX2" fmla="*/ 7237 w 10708"/>
                  <a:gd name="connsiteY2" fmla="*/ 246 h 10038"/>
                  <a:gd name="connsiteX3" fmla="*/ 10155 w 10708"/>
                  <a:gd name="connsiteY3" fmla="*/ 1914 h 10038"/>
                  <a:gd name="connsiteX4" fmla="*/ 10517 w 10708"/>
                  <a:gd name="connsiteY4" fmla="*/ 6593 h 10038"/>
                  <a:gd name="connsiteX5" fmla="*/ 7956 w 10708"/>
                  <a:gd name="connsiteY5" fmla="*/ 9995 h 10038"/>
                  <a:gd name="connsiteX6" fmla="*/ 2120 w 10708"/>
                  <a:gd name="connsiteY6" fmla="*/ 8474 h 10038"/>
                  <a:gd name="connsiteX7" fmla="*/ 19 w 10708"/>
                  <a:gd name="connsiteY7" fmla="*/ 7721 h 10038"/>
                  <a:gd name="connsiteX0" fmla="*/ 359 w 11048"/>
                  <a:gd name="connsiteY0" fmla="*/ 7721 h 10038"/>
                  <a:gd name="connsiteX1" fmla="*/ 3469 w 11048"/>
                  <a:gd name="connsiteY1" fmla="*/ 825 h 10038"/>
                  <a:gd name="connsiteX2" fmla="*/ 7577 w 11048"/>
                  <a:gd name="connsiteY2" fmla="*/ 246 h 10038"/>
                  <a:gd name="connsiteX3" fmla="*/ 10495 w 11048"/>
                  <a:gd name="connsiteY3" fmla="*/ 1914 h 10038"/>
                  <a:gd name="connsiteX4" fmla="*/ 10857 w 11048"/>
                  <a:gd name="connsiteY4" fmla="*/ 6593 h 10038"/>
                  <a:gd name="connsiteX5" fmla="*/ 8296 w 11048"/>
                  <a:gd name="connsiteY5" fmla="*/ 9995 h 10038"/>
                  <a:gd name="connsiteX6" fmla="*/ 2460 w 11048"/>
                  <a:gd name="connsiteY6" fmla="*/ 8474 h 10038"/>
                  <a:gd name="connsiteX7" fmla="*/ 359 w 11048"/>
                  <a:gd name="connsiteY7" fmla="*/ 7721 h 10038"/>
                  <a:gd name="connsiteX0" fmla="*/ 359 w 11048"/>
                  <a:gd name="connsiteY0" fmla="*/ 8392 h 10075"/>
                  <a:gd name="connsiteX1" fmla="*/ 3469 w 11048"/>
                  <a:gd name="connsiteY1" fmla="*/ 864 h 10075"/>
                  <a:gd name="connsiteX2" fmla="*/ 7577 w 11048"/>
                  <a:gd name="connsiteY2" fmla="*/ 285 h 10075"/>
                  <a:gd name="connsiteX3" fmla="*/ 10495 w 11048"/>
                  <a:gd name="connsiteY3" fmla="*/ 1953 h 10075"/>
                  <a:gd name="connsiteX4" fmla="*/ 10857 w 11048"/>
                  <a:gd name="connsiteY4" fmla="*/ 6632 h 10075"/>
                  <a:gd name="connsiteX5" fmla="*/ 8296 w 11048"/>
                  <a:gd name="connsiteY5" fmla="*/ 10034 h 10075"/>
                  <a:gd name="connsiteX6" fmla="*/ 2460 w 11048"/>
                  <a:gd name="connsiteY6" fmla="*/ 8513 h 10075"/>
                  <a:gd name="connsiteX7" fmla="*/ 359 w 11048"/>
                  <a:gd name="connsiteY7" fmla="*/ 8392 h 10075"/>
                  <a:gd name="connsiteX0" fmla="*/ 371 w 11060"/>
                  <a:gd name="connsiteY0" fmla="*/ 8392 h 10075"/>
                  <a:gd name="connsiteX1" fmla="*/ 3481 w 11060"/>
                  <a:gd name="connsiteY1" fmla="*/ 864 h 10075"/>
                  <a:gd name="connsiteX2" fmla="*/ 7589 w 11060"/>
                  <a:gd name="connsiteY2" fmla="*/ 285 h 10075"/>
                  <a:gd name="connsiteX3" fmla="*/ 10507 w 11060"/>
                  <a:gd name="connsiteY3" fmla="*/ 1953 h 10075"/>
                  <a:gd name="connsiteX4" fmla="*/ 10869 w 11060"/>
                  <a:gd name="connsiteY4" fmla="*/ 6632 h 10075"/>
                  <a:gd name="connsiteX5" fmla="*/ 8308 w 11060"/>
                  <a:gd name="connsiteY5" fmla="*/ 10034 h 10075"/>
                  <a:gd name="connsiteX6" fmla="*/ 2472 w 11060"/>
                  <a:gd name="connsiteY6" fmla="*/ 8513 h 10075"/>
                  <a:gd name="connsiteX7" fmla="*/ 371 w 11060"/>
                  <a:gd name="connsiteY7" fmla="*/ 8392 h 10075"/>
                  <a:gd name="connsiteX0" fmla="*/ 54 w 10743"/>
                  <a:gd name="connsiteY0" fmla="*/ 9468 h 11151"/>
                  <a:gd name="connsiteX1" fmla="*/ 4027 w 10743"/>
                  <a:gd name="connsiteY1" fmla="*/ 495 h 11151"/>
                  <a:gd name="connsiteX2" fmla="*/ 7272 w 10743"/>
                  <a:gd name="connsiteY2" fmla="*/ 1361 h 11151"/>
                  <a:gd name="connsiteX3" fmla="*/ 10190 w 10743"/>
                  <a:gd name="connsiteY3" fmla="*/ 3029 h 11151"/>
                  <a:gd name="connsiteX4" fmla="*/ 10552 w 10743"/>
                  <a:gd name="connsiteY4" fmla="*/ 7708 h 11151"/>
                  <a:gd name="connsiteX5" fmla="*/ 7991 w 10743"/>
                  <a:gd name="connsiteY5" fmla="*/ 11110 h 11151"/>
                  <a:gd name="connsiteX6" fmla="*/ 2155 w 10743"/>
                  <a:gd name="connsiteY6" fmla="*/ 9589 h 11151"/>
                  <a:gd name="connsiteX7" fmla="*/ 54 w 10743"/>
                  <a:gd name="connsiteY7" fmla="*/ 9468 h 11151"/>
                  <a:gd name="connsiteX0" fmla="*/ 54 w 10743"/>
                  <a:gd name="connsiteY0" fmla="*/ 9506 h 11189"/>
                  <a:gd name="connsiteX1" fmla="*/ 4027 w 10743"/>
                  <a:gd name="connsiteY1" fmla="*/ 533 h 11189"/>
                  <a:gd name="connsiteX2" fmla="*/ 7272 w 10743"/>
                  <a:gd name="connsiteY2" fmla="*/ 1399 h 11189"/>
                  <a:gd name="connsiteX3" fmla="*/ 10190 w 10743"/>
                  <a:gd name="connsiteY3" fmla="*/ 3067 h 11189"/>
                  <a:gd name="connsiteX4" fmla="*/ 10552 w 10743"/>
                  <a:gd name="connsiteY4" fmla="*/ 7746 h 11189"/>
                  <a:gd name="connsiteX5" fmla="*/ 7991 w 10743"/>
                  <a:gd name="connsiteY5" fmla="*/ 11148 h 11189"/>
                  <a:gd name="connsiteX6" fmla="*/ 2155 w 10743"/>
                  <a:gd name="connsiteY6" fmla="*/ 9627 h 11189"/>
                  <a:gd name="connsiteX7" fmla="*/ 54 w 10743"/>
                  <a:gd name="connsiteY7" fmla="*/ 9506 h 11189"/>
                  <a:gd name="connsiteX0" fmla="*/ 40 w 11293"/>
                  <a:gd name="connsiteY0" fmla="*/ 9082 h 11127"/>
                  <a:gd name="connsiteX1" fmla="*/ 4577 w 11293"/>
                  <a:gd name="connsiteY1" fmla="*/ 470 h 11127"/>
                  <a:gd name="connsiteX2" fmla="*/ 7822 w 11293"/>
                  <a:gd name="connsiteY2" fmla="*/ 1336 h 11127"/>
                  <a:gd name="connsiteX3" fmla="*/ 10740 w 11293"/>
                  <a:gd name="connsiteY3" fmla="*/ 3004 h 11127"/>
                  <a:gd name="connsiteX4" fmla="*/ 11102 w 11293"/>
                  <a:gd name="connsiteY4" fmla="*/ 7683 h 11127"/>
                  <a:gd name="connsiteX5" fmla="*/ 8541 w 11293"/>
                  <a:gd name="connsiteY5" fmla="*/ 11085 h 11127"/>
                  <a:gd name="connsiteX6" fmla="*/ 2705 w 11293"/>
                  <a:gd name="connsiteY6" fmla="*/ 9564 h 11127"/>
                  <a:gd name="connsiteX7" fmla="*/ 40 w 11293"/>
                  <a:gd name="connsiteY7" fmla="*/ 9082 h 1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293" h="11127">
                    <a:moveTo>
                      <a:pt x="40" y="9082"/>
                    </a:moveTo>
                    <a:cubicBezTo>
                      <a:pt x="352" y="7566"/>
                      <a:pt x="3280" y="1761"/>
                      <a:pt x="4577" y="470"/>
                    </a:cubicBezTo>
                    <a:cubicBezTo>
                      <a:pt x="5874" y="-821"/>
                      <a:pt x="6795" y="914"/>
                      <a:pt x="7822" y="1336"/>
                    </a:cubicBezTo>
                    <a:cubicBezTo>
                      <a:pt x="8849" y="1758"/>
                      <a:pt x="10193" y="1947"/>
                      <a:pt x="10740" y="3004"/>
                    </a:cubicBezTo>
                    <a:cubicBezTo>
                      <a:pt x="11287" y="4061"/>
                      <a:pt x="11468" y="6337"/>
                      <a:pt x="11102" y="7683"/>
                    </a:cubicBezTo>
                    <a:cubicBezTo>
                      <a:pt x="10736" y="9030"/>
                      <a:pt x="9940" y="10771"/>
                      <a:pt x="8541" y="11085"/>
                    </a:cubicBezTo>
                    <a:cubicBezTo>
                      <a:pt x="7141" y="11398"/>
                      <a:pt x="4122" y="9898"/>
                      <a:pt x="2705" y="9564"/>
                    </a:cubicBezTo>
                    <a:cubicBezTo>
                      <a:pt x="1288" y="9230"/>
                      <a:pt x="-272" y="10598"/>
                      <a:pt x="40" y="9082"/>
                    </a:cubicBez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p>
            </p:txBody>
          </p:sp>
          <p:grpSp>
            <p:nvGrpSpPr>
              <p:cNvPr id="208" name="Group 327"/>
              <p:cNvGrpSpPr>
                <a:grpSpLocks/>
              </p:cNvGrpSpPr>
              <p:nvPr/>
            </p:nvGrpSpPr>
            <p:grpSpPr bwMode="auto">
              <a:xfrm>
                <a:off x="7908175" y="5241780"/>
                <a:ext cx="536554" cy="263548"/>
                <a:chOff x="1871277" y="1576300"/>
                <a:chExt cx="1128371" cy="437861"/>
              </a:xfrm>
            </p:grpSpPr>
            <p:sp>
              <p:nvSpPr>
                <p:cNvPr id="212" name="Oval 373"/>
                <p:cNvSpPr/>
                <p:nvPr/>
              </p:nvSpPr>
              <p:spPr bwMode="auto">
                <a:xfrm flipV="1">
                  <a:off x="1874446" y="1692905"/>
                  <a:ext cx="1125202" cy="321256"/>
                </a:xfrm>
                <a:prstGeom prst="ellipse">
                  <a:avLst/>
                </a:prstGeom>
                <a:gradFill flip="none" rotWithShape="1">
                  <a:gsLst>
                    <a:gs pos="0">
                      <a:schemeClr val="accent2">
                        <a:lumMod val="75000"/>
                      </a:schemeClr>
                    </a:gs>
                    <a:gs pos="53000">
                      <a:schemeClr val="accent2">
                        <a:lumMod val="60000"/>
                        <a:lumOff val="40000"/>
                      </a:schemeClr>
                    </a:gs>
                    <a:gs pos="100000">
                      <a:schemeClr val="accent2">
                        <a:lumMod val="75000"/>
                      </a:schemeClr>
                    </a:gs>
                  </a:gsLst>
                  <a:lin ang="0" scaled="1"/>
                  <a:tileRect/>
                </a:gra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13" name="Rectangle 374"/>
                <p:cNvSpPr/>
                <p:nvPr/>
              </p:nvSpPr>
              <p:spPr bwMode="auto">
                <a:xfrm>
                  <a:off x="1871277" y="1740499"/>
                  <a:ext cx="1128371" cy="114225"/>
                </a:xfrm>
                <a:prstGeom prst="rect">
                  <a:avLst/>
                </a:prstGeom>
                <a:gradFill>
                  <a:gsLst>
                    <a:gs pos="0">
                      <a:schemeClr val="accent2">
                        <a:lumMod val="75000"/>
                      </a:schemeClr>
                    </a:gs>
                    <a:gs pos="53000">
                      <a:schemeClr val="accent2">
                        <a:lumMod val="60000"/>
                        <a:lumOff val="40000"/>
                      </a:schemeClr>
                    </a:gs>
                    <a:gs pos="100000">
                      <a:schemeClr val="accent2">
                        <a:lumMod val="75000"/>
                      </a:schemeClr>
                    </a:gs>
                  </a:gsLst>
                  <a:lin ang="10800000" scaled="0"/>
                </a:gradFill>
                <a:ln w="25400">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4" name="Oval 375"/>
                <p:cNvSpPr/>
                <p:nvPr/>
              </p:nvSpPr>
              <p:spPr bwMode="auto">
                <a:xfrm flipV="1">
                  <a:off x="1871277" y="1576300"/>
                  <a:ext cx="1125200" cy="321257"/>
                </a:xfrm>
                <a:prstGeom prst="ellipse">
                  <a:avLst/>
                </a:prstGeom>
                <a:solidFill>
                  <a:schemeClr val="bg1">
                    <a:lumMod val="75000"/>
                  </a:schemeClr>
                </a:solidFill>
                <a:ln w="6350" cmpd="sng">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ln>
                      <a:solidFill>
                        <a:schemeClr val="tx1"/>
                      </a:solidFill>
                    </a:ln>
                  </a:endParaRPr>
                </a:p>
              </p:txBody>
            </p:sp>
            <p:sp>
              <p:nvSpPr>
                <p:cNvPr id="215" name="Freeform 376"/>
                <p:cNvSpPr/>
                <p:nvPr/>
              </p:nvSpPr>
              <p:spPr bwMode="auto">
                <a:xfrm>
                  <a:off x="2159708" y="1673868"/>
                  <a:ext cx="548339" cy="159438"/>
                </a:xfrm>
                <a:custGeom>
                  <a:avLst/>
                  <a:gdLst>
                    <a:gd name="connsiteX0" fmla="*/ 1486231 w 2944854"/>
                    <a:gd name="connsiteY0" fmla="*/ 727041 h 1302232"/>
                    <a:gd name="connsiteX1" fmla="*/ 257675 w 2944854"/>
                    <a:gd name="connsiteY1" fmla="*/ 1302232 h 1302232"/>
                    <a:gd name="connsiteX2" fmla="*/ 0 w 2944854"/>
                    <a:gd name="connsiteY2" fmla="*/ 1228607 h 1302232"/>
                    <a:gd name="connsiteX3" fmla="*/ 911064 w 2944854"/>
                    <a:gd name="connsiteY3" fmla="*/ 837478 h 1302232"/>
                    <a:gd name="connsiteX4" fmla="*/ 883456 w 2944854"/>
                    <a:gd name="connsiteY4" fmla="*/ 450949 h 1302232"/>
                    <a:gd name="connsiteX5" fmla="*/ 161047 w 2944854"/>
                    <a:gd name="connsiteY5" fmla="*/ 119640 h 1302232"/>
                    <a:gd name="connsiteX6" fmla="*/ 404917 w 2944854"/>
                    <a:gd name="connsiteY6" fmla="*/ 50617 h 1302232"/>
                    <a:gd name="connsiteX7" fmla="*/ 1477028 w 2944854"/>
                    <a:gd name="connsiteY7" fmla="*/ 501566 h 1302232"/>
                    <a:gd name="connsiteX8" fmla="*/ 2572146 w 2944854"/>
                    <a:gd name="connsiteY8" fmla="*/ 0 h 1302232"/>
                    <a:gd name="connsiteX9" fmla="*/ 2875834 w 2944854"/>
                    <a:gd name="connsiteY9" fmla="*/ 96632 h 1302232"/>
                    <a:gd name="connsiteX10" fmla="*/ 2079803 w 2944854"/>
                    <a:gd name="connsiteY10" fmla="*/ 432543 h 1302232"/>
                    <a:gd name="connsiteX11" fmla="*/ 2240850 w 2944854"/>
                    <a:gd name="connsiteY11" fmla="*/ 920305 h 1302232"/>
                    <a:gd name="connsiteX12" fmla="*/ 2944854 w 2944854"/>
                    <a:gd name="connsiteY12" fmla="*/ 1228607 h 1302232"/>
                    <a:gd name="connsiteX13" fmla="*/ 2733192 w 2944854"/>
                    <a:gd name="connsiteY13" fmla="*/ 1297630 h 1302232"/>
                    <a:gd name="connsiteX14" fmla="*/ 1486231 w 2944854"/>
                    <a:gd name="connsiteY14" fmla="*/ 727041 h 1302232"/>
                    <a:gd name="connsiteX0" fmla="*/ 1486231 w 2944854"/>
                    <a:gd name="connsiteY0" fmla="*/ 727041 h 1316375"/>
                    <a:gd name="connsiteX1" fmla="*/ 257675 w 2944854"/>
                    <a:gd name="connsiteY1" fmla="*/ 1302232 h 1316375"/>
                    <a:gd name="connsiteX2" fmla="*/ 0 w 2944854"/>
                    <a:gd name="connsiteY2" fmla="*/ 1228607 h 1316375"/>
                    <a:gd name="connsiteX3" fmla="*/ 911064 w 2944854"/>
                    <a:gd name="connsiteY3" fmla="*/ 837478 h 1316375"/>
                    <a:gd name="connsiteX4" fmla="*/ 883456 w 2944854"/>
                    <a:gd name="connsiteY4" fmla="*/ 450949 h 1316375"/>
                    <a:gd name="connsiteX5" fmla="*/ 161047 w 2944854"/>
                    <a:gd name="connsiteY5" fmla="*/ 119640 h 1316375"/>
                    <a:gd name="connsiteX6" fmla="*/ 404917 w 2944854"/>
                    <a:gd name="connsiteY6" fmla="*/ 50617 h 1316375"/>
                    <a:gd name="connsiteX7" fmla="*/ 1477028 w 2944854"/>
                    <a:gd name="connsiteY7" fmla="*/ 501566 h 1316375"/>
                    <a:gd name="connsiteX8" fmla="*/ 2572146 w 2944854"/>
                    <a:gd name="connsiteY8" fmla="*/ 0 h 1316375"/>
                    <a:gd name="connsiteX9" fmla="*/ 2875834 w 2944854"/>
                    <a:gd name="connsiteY9" fmla="*/ 96632 h 1316375"/>
                    <a:gd name="connsiteX10" fmla="*/ 2079803 w 2944854"/>
                    <a:gd name="connsiteY10" fmla="*/ 432543 h 1316375"/>
                    <a:gd name="connsiteX11" fmla="*/ 2240850 w 2944854"/>
                    <a:gd name="connsiteY11" fmla="*/ 920305 h 1316375"/>
                    <a:gd name="connsiteX12" fmla="*/ 2944854 w 2944854"/>
                    <a:gd name="connsiteY12" fmla="*/ 1228607 h 1316375"/>
                    <a:gd name="connsiteX13" fmla="*/ 2756623 w 2944854"/>
                    <a:gd name="connsiteY13" fmla="*/ 1316375 h 1316375"/>
                    <a:gd name="connsiteX14" fmla="*/ 1486231 w 2944854"/>
                    <a:gd name="connsiteY14" fmla="*/ 727041 h 1316375"/>
                    <a:gd name="connsiteX0" fmla="*/ 1486231 w 3024520"/>
                    <a:gd name="connsiteY0" fmla="*/ 727041 h 1316375"/>
                    <a:gd name="connsiteX1" fmla="*/ 257675 w 3024520"/>
                    <a:gd name="connsiteY1" fmla="*/ 1302232 h 1316375"/>
                    <a:gd name="connsiteX2" fmla="*/ 0 w 3024520"/>
                    <a:gd name="connsiteY2" fmla="*/ 1228607 h 1316375"/>
                    <a:gd name="connsiteX3" fmla="*/ 911064 w 3024520"/>
                    <a:gd name="connsiteY3" fmla="*/ 837478 h 1316375"/>
                    <a:gd name="connsiteX4" fmla="*/ 883456 w 3024520"/>
                    <a:gd name="connsiteY4" fmla="*/ 450949 h 1316375"/>
                    <a:gd name="connsiteX5" fmla="*/ 161047 w 3024520"/>
                    <a:gd name="connsiteY5" fmla="*/ 119640 h 1316375"/>
                    <a:gd name="connsiteX6" fmla="*/ 404917 w 3024520"/>
                    <a:gd name="connsiteY6" fmla="*/ 50617 h 1316375"/>
                    <a:gd name="connsiteX7" fmla="*/ 1477028 w 3024520"/>
                    <a:gd name="connsiteY7" fmla="*/ 501566 h 1316375"/>
                    <a:gd name="connsiteX8" fmla="*/ 2572146 w 3024520"/>
                    <a:gd name="connsiteY8" fmla="*/ 0 h 1316375"/>
                    <a:gd name="connsiteX9" fmla="*/ 2875834 w 3024520"/>
                    <a:gd name="connsiteY9" fmla="*/ 96632 h 1316375"/>
                    <a:gd name="connsiteX10" fmla="*/ 2079803 w 3024520"/>
                    <a:gd name="connsiteY10" fmla="*/ 432543 h 1316375"/>
                    <a:gd name="connsiteX11" fmla="*/ 2240850 w 3024520"/>
                    <a:gd name="connsiteY11" fmla="*/ 920305 h 1316375"/>
                    <a:gd name="connsiteX12" fmla="*/ 3024520 w 3024520"/>
                    <a:gd name="connsiteY12" fmla="*/ 1228607 h 1316375"/>
                    <a:gd name="connsiteX13" fmla="*/ 2756623 w 3024520"/>
                    <a:gd name="connsiteY13" fmla="*/ 1316375 h 1316375"/>
                    <a:gd name="connsiteX14" fmla="*/ 1486231 w 3024520"/>
                    <a:gd name="connsiteY14" fmla="*/ 727041 h 1316375"/>
                    <a:gd name="connsiteX0" fmla="*/ 1537780 w 3076069"/>
                    <a:gd name="connsiteY0" fmla="*/ 727041 h 1316375"/>
                    <a:gd name="connsiteX1" fmla="*/ 309224 w 3076069"/>
                    <a:gd name="connsiteY1" fmla="*/ 1302232 h 1316375"/>
                    <a:gd name="connsiteX2" fmla="*/ 0 w 3076069"/>
                    <a:gd name="connsiteY2" fmla="*/ 1228607 h 1316375"/>
                    <a:gd name="connsiteX3" fmla="*/ 962613 w 3076069"/>
                    <a:gd name="connsiteY3" fmla="*/ 837478 h 1316375"/>
                    <a:gd name="connsiteX4" fmla="*/ 935005 w 3076069"/>
                    <a:gd name="connsiteY4" fmla="*/ 450949 h 1316375"/>
                    <a:gd name="connsiteX5" fmla="*/ 212596 w 3076069"/>
                    <a:gd name="connsiteY5" fmla="*/ 119640 h 1316375"/>
                    <a:gd name="connsiteX6" fmla="*/ 456466 w 3076069"/>
                    <a:gd name="connsiteY6" fmla="*/ 50617 h 1316375"/>
                    <a:gd name="connsiteX7" fmla="*/ 1528577 w 3076069"/>
                    <a:gd name="connsiteY7" fmla="*/ 501566 h 1316375"/>
                    <a:gd name="connsiteX8" fmla="*/ 2623695 w 3076069"/>
                    <a:gd name="connsiteY8" fmla="*/ 0 h 1316375"/>
                    <a:gd name="connsiteX9" fmla="*/ 2927383 w 3076069"/>
                    <a:gd name="connsiteY9" fmla="*/ 96632 h 1316375"/>
                    <a:gd name="connsiteX10" fmla="*/ 2131352 w 3076069"/>
                    <a:gd name="connsiteY10" fmla="*/ 432543 h 1316375"/>
                    <a:gd name="connsiteX11" fmla="*/ 2292399 w 3076069"/>
                    <a:gd name="connsiteY11" fmla="*/ 920305 h 1316375"/>
                    <a:gd name="connsiteX12" fmla="*/ 3076069 w 3076069"/>
                    <a:gd name="connsiteY12" fmla="*/ 1228607 h 1316375"/>
                    <a:gd name="connsiteX13" fmla="*/ 2808172 w 3076069"/>
                    <a:gd name="connsiteY13" fmla="*/ 1316375 h 1316375"/>
                    <a:gd name="connsiteX14" fmla="*/ 1537780 w 3076069"/>
                    <a:gd name="connsiteY14" fmla="*/ 727041 h 1316375"/>
                    <a:gd name="connsiteX0" fmla="*/ 1537780 w 3076069"/>
                    <a:gd name="connsiteY0" fmla="*/ 727041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27041 h 1321259"/>
                    <a:gd name="connsiteX0" fmla="*/ 1537780 w 3076069"/>
                    <a:gd name="connsiteY0" fmla="*/ 750825 h 1321259"/>
                    <a:gd name="connsiteX1" fmla="*/ 313981 w 3076069"/>
                    <a:gd name="connsiteY1" fmla="*/ 1321259 h 1321259"/>
                    <a:gd name="connsiteX2" fmla="*/ 0 w 3076069"/>
                    <a:gd name="connsiteY2" fmla="*/ 1228607 h 1321259"/>
                    <a:gd name="connsiteX3" fmla="*/ 962613 w 3076069"/>
                    <a:gd name="connsiteY3" fmla="*/ 837478 h 1321259"/>
                    <a:gd name="connsiteX4" fmla="*/ 935005 w 3076069"/>
                    <a:gd name="connsiteY4" fmla="*/ 450949 h 1321259"/>
                    <a:gd name="connsiteX5" fmla="*/ 212596 w 3076069"/>
                    <a:gd name="connsiteY5" fmla="*/ 119640 h 1321259"/>
                    <a:gd name="connsiteX6" fmla="*/ 456466 w 3076069"/>
                    <a:gd name="connsiteY6" fmla="*/ 50617 h 1321259"/>
                    <a:gd name="connsiteX7" fmla="*/ 1528577 w 3076069"/>
                    <a:gd name="connsiteY7" fmla="*/ 501566 h 1321259"/>
                    <a:gd name="connsiteX8" fmla="*/ 2623695 w 3076069"/>
                    <a:gd name="connsiteY8" fmla="*/ 0 h 1321259"/>
                    <a:gd name="connsiteX9" fmla="*/ 2927383 w 3076069"/>
                    <a:gd name="connsiteY9" fmla="*/ 96632 h 1321259"/>
                    <a:gd name="connsiteX10" fmla="*/ 2131352 w 3076069"/>
                    <a:gd name="connsiteY10" fmla="*/ 432543 h 1321259"/>
                    <a:gd name="connsiteX11" fmla="*/ 2292399 w 3076069"/>
                    <a:gd name="connsiteY11" fmla="*/ 920305 h 1321259"/>
                    <a:gd name="connsiteX12" fmla="*/ 3076069 w 3076069"/>
                    <a:gd name="connsiteY12" fmla="*/ 1228607 h 1321259"/>
                    <a:gd name="connsiteX13" fmla="*/ 2808172 w 3076069"/>
                    <a:gd name="connsiteY13" fmla="*/ 1316375 h 1321259"/>
                    <a:gd name="connsiteX14" fmla="*/ 1537780 w 3076069"/>
                    <a:gd name="connsiteY14" fmla="*/ 750825 h 1321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076069" h="1321259">
                      <a:moveTo>
                        <a:pt x="1537780" y="750825"/>
                      </a:moveTo>
                      <a:lnTo>
                        <a:pt x="313981" y="1321259"/>
                      </a:lnTo>
                      <a:lnTo>
                        <a:pt x="0" y="1228607"/>
                      </a:lnTo>
                      <a:lnTo>
                        <a:pt x="962613" y="837478"/>
                      </a:lnTo>
                      <a:lnTo>
                        <a:pt x="935005" y="450949"/>
                      </a:lnTo>
                      <a:lnTo>
                        <a:pt x="212596" y="119640"/>
                      </a:lnTo>
                      <a:lnTo>
                        <a:pt x="456466" y="50617"/>
                      </a:lnTo>
                      <a:lnTo>
                        <a:pt x="1528577" y="501566"/>
                      </a:lnTo>
                      <a:lnTo>
                        <a:pt x="2623695" y="0"/>
                      </a:lnTo>
                      <a:lnTo>
                        <a:pt x="2927383" y="96632"/>
                      </a:lnTo>
                      <a:lnTo>
                        <a:pt x="2131352" y="432543"/>
                      </a:lnTo>
                      <a:lnTo>
                        <a:pt x="2292399" y="920305"/>
                      </a:lnTo>
                      <a:lnTo>
                        <a:pt x="3076069" y="1228607"/>
                      </a:lnTo>
                      <a:lnTo>
                        <a:pt x="2808172" y="1316375"/>
                      </a:lnTo>
                      <a:lnTo>
                        <a:pt x="1537780" y="750825"/>
                      </a:lnTo>
                      <a:close/>
                    </a:path>
                  </a:pathLst>
                </a:custGeom>
                <a:solidFill>
                  <a:schemeClr val="accent2">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6" name="Freeform 377"/>
                <p:cNvSpPr/>
                <p:nvPr/>
              </p:nvSpPr>
              <p:spPr bwMode="auto">
                <a:xfrm>
                  <a:off x="2102655" y="1633412"/>
                  <a:ext cx="662444" cy="111846"/>
                </a:xfrm>
                <a:custGeom>
                  <a:avLst/>
                  <a:gdLst>
                    <a:gd name="connsiteX0" fmla="*/ 0 w 3645229"/>
                    <a:gd name="connsiteY0" fmla="*/ 214441 h 923747"/>
                    <a:gd name="connsiteX1" fmla="*/ 659770 w 3645229"/>
                    <a:gd name="connsiteY1" fmla="*/ 16495 h 923747"/>
                    <a:gd name="connsiteX2" fmla="*/ 1814367 w 3645229"/>
                    <a:gd name="connsiteY2" fmla="*/ 511360 h 923747"/>
                    <a:gd name="connsiteX3" fmla="*/ 2968965 w 3645229"/>
                    <a:gd name="connsiteY3" fmla="*/ 0 h 923747"/>
                    <a:gd name="connsiteX4" fmla="*/ 3645229 w 3645229"/>
                    <a:gd name="connsiteY4" fmla="*/ 197946 h 923747"/>
                    <a:gd name="connsiteX5" fmla="*/ 3199884 w 3645229"/>
                    <a:gd name="connsiteY5" fmla="*/ 461874 h 923747"/>
                    <a:gd name="connsiteX6" fmla="*/ 2985459 w 3645229"/>
                    <a:gd name="connsiteY6" fmla="*/ 379396 h 923747"/>
                    <a:gd name="connsiteX7" fmla="*/ 1830861 w 3645229"/>
                    <a:gd name="connsiteY7" fmla="*/ 923747 h 923747"/>
                    <a:gd name="connsiteX8" fmla="*/ 676264 w 3645229"/>
                    <a:gd name="connsiteY8" fmla="*/ 412387 h 923747"/>
                    <a:gd name="connsiteX9" fmla="*/ 527816 w 3645229"/>
                    <a:gd name="connsiteY9" fmla="*/ 478369 h 923747"/>
                    <a:gd name="connsiteX10" fmla="*/ 0 w 3645229"/>
                    <a:gd name="connsiteY10" fmla="*/ 21444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78369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71662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23747"/>
                    <a:gd name="connsiteX1" fmla="*/ 655168 w 3640627"/>
                    <a:gd name="connsiteY1" fmla="*/ 16495 h 923747"/>
                    <a:gd name="connsiteX2" fmla="*/ 1809765 w 3640627"/>
                    <a:gd name="connsiteY2" fmla="*/ 511360 h 923747"/>
                    <a:gd name="connsiteX3" fmla="*/ 2964363 w 3640627"/>
                    <a:gd name="connsiteY3" fmla="*/ 0 h 923747"/>
                    <a:gd name="connsiteX4" fmla="*/ 3640627 w 3640627"/>
                    <a:gd name="connsiteY4" fmla="*/ 197946 h 923747"/>
                    <a:gd name="connsiteX5" fmla="*/ 3195282 w 3640627"/>
                    <a:gd name="connsiteY5" fmla="*/ 461874 h 923747"/>
                    <a:gd name="connsiteX6" fmla="*/ 2980857 w 3640627"/>
                    <a:gd name="connsiteY6" fmla="*/ 379396 h 923747"/>
                    <a:gd name="connsiteX7" fmla="*/ 1826259 w 3640627"/>
                    <a:gd name="connsiteY7" fmla="*/ 923747 h 923747"/>
                    <a:gd name="connsiteX8" fmla="*/ 690067 w 3640627"/>
                    <a:gd name="connsiteY8" fmla="*/ 412387 h 923747"/>
                    <a:gd name="connsiteX9" fmla="*/ 523214 w 3640627"/>
                    <a:gd name="connsiteY9" fmla="*/ 482971 h 923747"/>
                    <a:gd name="connsiteX10" fmla="*/ 0 w 3640627"/>
                    <a:gd name="connsiteY10" fmla="*/ 242051 h 923747"/>
                    <a:gd name="connsiteX0" fmla="*/ 0 w 3640627"/>
                    <a:gd name="connsiteY0" fmla="*/ 242051 h 946755"/>
                    <a:gd name="connsiteX1" fmla="*/ 655168 w 3640627"/>
                    <a:gd name="connsiteY1" fmla="*/ 16495 h 946755"/>
                    <a:gd name="connsiteX2" fmla="*/ 1809765 w 3640627"/>
                    <a:gd name="connsiteY2" fmla="*/ 511360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2980857 w 3640627"/>
                    <a:gd name="connsiteY6" fmla="*/ 379396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640627"/>
                    <a:gd name="connsiteY0" fmla="*/ 242051 h 946755"/>
                    <a:gd name="connsiteX1" fmla="*/ 655168 w 3640627"/>
                    <a:gd name="connsiteY1" fmla="*/ 16495 h 946755"/>
                    <a:gd name="connsiteX2" fmla="*/ 1855778 w 3640627"/>
                    <a:gd name="connsiteY2" fmla="*/ 534367 h 946755"/>
                    <a:gd name="connsiteX3" fmla="*/ 2964363 w 3640627"/>
                    <a:gd name="connsiteY3" fmla="*/ 0 h 946755"/>
                    <a:gd name="connsiteX4" fmla="*/ 3640627 w 3640627"/>
                    <a:gd name="connsiteY4" fmla="*/ 197946 h 946755"/>
                    <a:gd name="connsiteX5" fmla="*/ 3195282 w 3640627"/>
                    <a:gd name="connsiteY5" fmla="*/ 461874 h 946755"/>
                    <a:gd name="connsiteX6" fmla="*/ 3008465 w 3640627"/>
                    <a:gd name="connsiteY6" fmla="*/ 402404 h 946755"/>
                    <a:gd name="connsiteX7" fmla="*/ 1876873 w 3640627"/>
                    <a:gd name="connsiteY7" fmla="*/ 946755 h 946755"/>
                    <a:gd name="connsiteX8" fmla="*/ 690067 w 3640627"/>
                    <a:gd name="connsiteY8" fmla="*/ 412387 h 946755"/>
                    <a:gd name="connsiteX9" fmla="*/ 523214 w 3640627"/>
                    <a:gd name="connsiteY9" fmla="*/ 482971 h 946755"/>
                    <a:gd name="connsiteX10" fmla="*/ 0 w 3640627"/>
                    <a:gd name="connsiteY10" fmla="*/ 242051 h 946755"/>
                    <a:gd name="connsiteX0" fmla="*/ 0 w 3723451"/>
                    <a:gd name="connsiteY0" fmla="*/ 242051 h 946755"/>
                    <a:gd name="connsiteX1" fmla="*/ 655168 w 3723451"/>
                    <a:gd name="connsiteY1" fmla="*/ 16495 h 946755"/>
                    <a:gd name="connsiteX2" fmla="*/ 1855778 w 3723451"/>
                    <a:gd name="connsiteY2" fmla="*/ 534367 h 946755"/>
                    <a:gd name="connsiteX3" fmla="*/ 2964363 w 3723451"/>
                    <a:gd name="connsiteY3" fmla="*/ 0 h 946755"/>
                    <a:gd name="connsiteX4" fmla="*/ 3723451 w 3723451"/>
                    <a:gd name="connsiteY4" fmla="*/ 220954 h 946755"/>
                    <a:gd name="connsiteX5" fmla="*/ 3195282 w 3723451"/>
                    <a:gd name="connsiteY5" fmla="*/ 461874 h 946755"/>
                    <a:gd name="connsiteX6" fmla="*/ 3008465 w 3723451"/>
                    <a:gd name="connsiteY6" fmla="*/ 402404 h 946755"/>
                    <a:gd name="connsiteX7" fmla="*/ 1876873 w 3723451"/>
                    <a:gd name="connsiteY7" fmla="*/ 946755 h 946755"/>
                    <a:gd name="connsiteX8" fmla="*/ 690067 w 3723451"/>
                    <a:gd name="connsiteY8" fmla="*/ 412387 h 946755"/>
                    <a:gd name="connsiteX9" fmla="*/ 523214 w 3723451"/>
                    <a:gd name="connsiteY9" fmla="*/ 482971 h 946755"/>
                    <a:gd name="connsiteX10" fmla="*/ 0 w 3723451"/>
                    <a:gd name="connsiteY10" fmla="*/ 242051 h 946755"/>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08465 w 3723451"/>
                    <a:gd name="connsiteY6" fmla="*/ 388599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95282 w 3723451"/>
                    <a:gd name="connsiteY5" fmla="*/ 448069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690067 w 3723451"/>
                    <a:gd name="connsiteY8" fmla="*/ 398582 h 932950"/>
                    <a:gd name="connsiteX9" fmla="*/ 523214 w 3723451"/>
                    <a:gd name="connsiteY9" fmla="*/ 469166 h 932950"/>
                    <a:gd name="connsiteX10" fmla="*/ 0 w 3723451"/>
                    <a:gd name="connsiteY10" fmla="*/ 228246 h 932950"/>
                    <a:gd name="connsiteX0" fmla="*/ 0 w 3723451"/>
                    <a:gd name="connsiteY0" fmla="*/ 228246 h 932950"/>
                    <a:gd name="connsiteX1" fmla="*/ 655168 w 3723451"/>
                    <a:gd name="connsiteY1" fmla="*/ 2690 h 932950"/>
                    <a:gd name="connsiteX2" fmla="*/ 1855778 w 3723451"/>
                    <a:gd name="connsiteY2" fmla="*/ 520562 h 932950"/>
                    <a:gd name="connsiteX3" fmla="*/ 3001174 w 3723451"/>
                    <a:gd name="connsiteY3" fmla="*/ 0 h 932950"/>
                    <a:gd name="connsiteX4" fmla="*/ 3723451 w 3723451"/>
                    <a:gd name="connsiteY4" fmla="*/ 207149 h 932950"/>
                    <a:gd name="connsiteX5" fmla="*/ 3186079 w 3723451"/>
                    <a:gd name="connsiteY5" fmla="*/ 461874 h 932950"/>
                    <a:gd name="connsiteX6" fmla="*/ 3013067 w 3723451"/>
                    <a:gd name="connsiteY6" fmla="*/ 393200 h 932950"/>
                    <a:gd name="connsiteX7" fmla="*/ 1876873 w 3723451"/>
                    <a:gd name="connsiteY7" fmla="*/ 932950 h 932950"/>
                    <a:gd name="connsiteX8" fmla="*/ 711613 w 3723451"/>
                    <a:gd name="connsiteY8" fmla="*/ 413055 h 932950"/>
                    <a:gd name="connsiteX9" fmla="*/ 523214 w 3723451"/>
                    <a:gd name="connsiteY9" fmla="*/ 469166 h 932950"/>
                    <a:gd name="connsiteX10" fmla="*/ 0 w 3723451"/>
                    <a:gd name="connsiteY10" fmla="*/ 228246 h 932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723451" h="932950">
                      <a:moveTo>
                        <a:pt x="0" y="228246"/>
                      </a:moveTo>
                      <a:lnTo>
                        <a:pt x="655168" y="2690"/>
                      </a:lnTo>
                      <a:lnTo>
                        <a:pt x="1855778" y="520562"/>
                      </a:lnTo>
                      <a:lnTo>
                        <a:pt x="3001174" y="0"/>
                      </a:lnTo>
                      <a:lnTo>
                        <a:pt x="3723451" y="207149"/>
                      </a:lnTo>
                      <a:lnTo>
                        <a:pt x="3186079" y="461874"/>
                      </a:lnTo>
                      <a:lnTo>
                        <a:pt x="3013067" y="393200"/>
                      </a:lnTo>
                      <a:lnTo>
                        <a:pt x="1876873" y="932950"/>
                      </a:lnTo>
                      <a:lnTo>
                        <a:pt x="711613" y="413055"/>
                      </a:lnTo>
                      <a:lnTo>
                        <a:pt x="523214" y="469166"/>
                      </a:lnTo>
                      <a:lnTo>
                        <a:pt x="0" y="228246"/>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7" name="Freeform 378"/>
                <p:cNvSpPr/>
                <p:nvPr/>
              </p:nvSpPr>
              <p:spPr bwMode="auto">
                <a:xfrm>
                  <a:off x="2536889" y="1728599"/>
                  <a:ext cx="244057" cy="97568"/>
                </a:xfrm>
                <a:custGeom>
                  <a:avLst/>
                  <a:gdLst>
                    <a:gd name="connsiteX0" fmla="*/ 55216 w 1421812"/>
                    <a:gd name="connsiteY0" fmla="*/ 0 h 800665"/>
                    <a:gd name="connsiteX1" fmla="*/ 1421812 w 1421812"/>
                    <a:gd name="connsiteY1" fmla="*/ 625807 h 800665"/>
                    <a:gd name="connsiteX2" fmla="*/ 947874 w 1421812"/>
                    <a:gd name="connsiteY2" fmla="*/ 800665 h 800665"/>
                    <a:gd name="connsiteX3" fmla="*/ 50614 w 1421812"/>
                    <a:gd name="connsiteY3" fmla="*/ 404934 h 800665"/>
                    <a:gd name="connsiteX4" fmla="*/ 0 w 1421812"/>
                    <a:gd name="connsiteY4" fmla="*/ 404934 h 800665"/>
                    <a:gd name="connsiteX5" fmla="*/ 55216 w 1421812"/>
                    <a:gd name="connsiteY5" fmla="*/ 0 h 800665"/>
                    <a:gd name="connsiteX0" fmla="*/ 4602 w 1371198"/>
                    <a:gd name="connsiteY0" fmla="*/ 0 h 800665"/>
                    <a:gd name="connsiteX1" fmla="*/ 1371198 w 1371198"/>
                    <a:gd name="connsiteY1" fmla="*/ 625807 h 800665"/>
                    <a:gd name="connsiteX2" fmla="*/ 897260 w 1371198"/>
                    <a:gd name="connsiteY2" fmla="*/ 800665 h 800665"/>
                    <a:gd name="connsiteX3" fmla="*/ 0 w 1371198"/>
                    <a:gd name="connsiteY3" fmla="*/ 404934 h 800665"/>
                    <a:gd name="connsiteX4" fmla="*/ 4602 w 1371198"/>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0665"/>
                    <a:gd name="connsiteX1" fmla="*/ 1366596 w 1366596"/>
                    <a:gd name="connsiteY1" fmla="*/ 625807 h 800665"/>
                    <a:gd name="connsiteX2" fmla="*/ 892658 w 1366596"/>
                    <a:gd name="connsiteY2" fmla="*/ 800665 h 800665"/>
                    <a:gd name="connsiteX3" fmla="*/ 4601 w 1366596"/>
                    <a:gd name="connsiteY3" fmla="*/ 427942 h 800665"/>
                    <a:gd name="connsiteX4" fmla="*/ 0 w 1366596"/>
                    <a:gd name="connsiteY4" fmla="*/ 0 h 800665"/>
                    <a:gd name="connsiteX0" fmla="*/ 0 w 1366596"/>
                    <a:gd name="connsiteY0" fmla="*/ 0 h 809868"/>
                    <a:gd name="connsiteX1" fmla="*/ 1366596 w 1366596"/>
                    <a:gd name="connsiteY1" fmla="*/ 625807 h 809868"/>
                    <a:gd name="connsiteX2" fmla="*/ 865050 w 1366596"/>
                    <a:gd name="connsiteY2" fmla="*/ 809868 h 809868"/>
                    <a:gd name="connsiteX3" fmla="*/ 4601 w 1366596"/>
                    <a:gd name="connsiteY3" fmla="*/ 427942 h 809868"/>
                    <a:gd name="connsiteX4" fmla="*/ 0 w 1366596"/>
                    <a:gd name="connsiteY4" fmla="*/ 0 h 809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6596" h="809868">
                      <a:moveTo>
                        <a:pt x="0" y="0"/>
                      </a:moveTo>
                      <a:lnTo>
                        <a:pt x="1366596" y="625807"/>
                      </a:lnTo>
                      <a:lnTo>
                        <a:pt x="865050" y="809868"/>
                      </a:lnTo>
                      <a:lnTo>
                        <a:pt x="4601" y="427942"/>
                      </a:lnTo>
                      <a:cubicBezTo>
                        <a:pt x="-1535" y="105836"/>
                        <a:pt x="1534" y="142647"/>
                        <a:pt x="0" y="0"/>
                      </a:cubicBez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
              <p:nvSpPr>
                <p:cNvPr id="218" name="Freeform 379"/>
                <p:cNvSpPr/>
                <p:nvPr/>
              </p:nvSpPr>
              <p:spPr bwMode="auto">
                <a:xfrm>
                  <a:off x="2089977" y="1730980"/>
                  <a:ext cx="240888" cy="95187"/>
                </a:xfrm>
                <a:custGeom>
                  <a:avLst/>
                  <a:gdLst>
                    <a:gd name="connsiteX0" fmla="*/ 1329786 w 1348191"/>
                    <a:gd name="connsiteY0" fmla="*/ 0 h 809869"/>
                    <a:gd name="connsiteX1" fmla="*/ 1348191 w 1348191"/>
                    <a:gd name="connsiteY1" fmla="*/ 400333 h 809869"/>
                    <a:gd name="connsiteX2" fmla="*/ 487742 w 1348191"/>
                    <a:gd name="connsiteY2" fmla="*/ 809869 h 809869"/>
                    <a:gd name="connsiteX3" fmla="*/ 0 w 1348191"/>
                    <a:gd name="connsiteY3" fmla="*/ 630409 h 809869"/>
                    <a:gd name="connsiteX4" fmla="*/ 1329786 w 1348191"/>
                    <a:gd name="connsiteY4" fmla="*/ 0 h 809869"/>
                    <a:gd name="connsiteX0" fmla="*/ 1329786 w 1348191"/>
                    <a:gd name="connsiteY0" fmla="*/ 0 h 791462"/>
                    <a:gd name="connsiteX1" fmla="*/ 1348191 w 1348191"/>
                    <a:gd name="connsiteY1" fmla="*/ 381926 h 791462"/>
                    <a:gd name="connsiteX2" fmla="*/ 487742 w 1348191"/>
                    <a:gd name="connsiteY2" fmla="*/ 791462 h 791462"/>
                    <a:gd name="connsiteX3" fmla="*/ 0 w 1348191"/>
                    <a:gd name="connsiteY3" fmla="*/ 612002 h 791462"/>
                    <a:gd name="connsiteX4" fmla="*/ 1329786 w 1348191"/>
                    <a:gd name="connsiteY4" fmla="*/ 0 h 791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48191" h="791462">
                      <a:moveTo>
                        <a:pt x="1329786" y="0"/>
                      </a:moveTo>
                      <a:lnTo>
                        <a:pt x="1348191" y="381926"/>
                      </a:lnTo>
                      <a:lnTo>
                        <a:pt x="487742" y="791462"/>
                      </a:lnTo>
                      <a:lnTo>
                        <a:pt x="0" y="612002"/>
                      </a:lnTo>
                      <a:lnTo>
                        <a:pt x="1329786" y="0"/>
                      </a:lnTo>
                      <a:close/>
                    </a:path>
                  </a:pathLst>
                </a:custGeom>
                <a:solidFill>
                  <a:schemeClr val="accent2">
                    <a:lumMod val="75000"/>
                  </a:schemeClr>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cxnSp>
              <p:nvCxnSpPr>
                <p:cNvPr id="219" name="Straight Connector 380"/>
                <p:cNvCxnSpPr>
                  <a:endCxn id="214" idx="2"/>
                </p:cNvCxnSpPr>
                <p:nvPr/>
              </p:nvCxnSpPr>
              <p:spPr bwMode="auto">
                <a:xfrm flipH="1" flipV="1">
                  <a:off x="1871277" y="1735739"/>
                  <a:ext cx="3169"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cxnSp>
              <p:nvCxnSpPr>
                <p:cNvPr id="220" name="Straight Connector 381"/>
                <p:cNvCxnSpPr/>
                <p:nvPr/>
              </p:nvCxnSpPr>
              <p:spPr bwMode="auto">
                <a:xfrm flipH="1" flipV="1">
                  <a:off x="2996477" y="1733359"/>
                  <a:ext cx="3171" cy="123743"/>
                </a:xfrm>
                <a:prstGeom prst="line">
                  <a:avLst/>
                </a:prstGeom>
                <a:ln w="6350" cmpd="sng">
                  <a:solidFill>
                    <a:schemeClr val="tx1"/>
                  </a:solidFill>
                </a:ln>
                <a:effectLst>
                  <a:outerShdw blurRad="40005" dist="19939" dir="5400000" algn="tl" rotWithShape="0">
                    <a:srgbClr val="000000">
                      <a:alpha val="38000"/>
                    </a:srgbClr>
                  </a:outerShdw>
                </a:effectLst>
              </p:spPr>
              <p:style>
                <a:lnRef idx="2">
                  <a:schemeClr val="accent1"/>
                </a:lnRef>
                <a:fillRef idx="0">
                  <a:schemeClr val="accent1"/>
                </a:fillRef>
                <a:effectRef idx="1">
                  <a:schemeClr val="accent1"/>
                </a:effectRef>
                <a:fontRef idx="minor">
                  <a:schemeClr val="tx1"/>
                </a:fontRef>
              </p:style>
            </p:cxnSp>
          </p:grpSp>
          <p:grpSp>
            <p:nvGrpSpPr>
              <p:cNvPr id="209" name="Group 370"/>
              <p:cNvGrpSpPr/>
              <p:nvPr/>
            </p:nvGrpSpPr>
            <p:grpSpPr>
              <a:xfrm>
                <a:off x="7943996" y="5223365"/>
                <a:ext cx="390467" cy="369332"/>
                <a:chOff x="670504" y="1708643"/>
                <a:chExt cx="411278" cy="409344"/>
              </a:xfrm>
            </p:grpSpPr>
            <p:sp>
              <p:nvSpPr>
                <p:cNvPr id="210" name="Oval 371"/>
                <p:cNvSpPr/>
                <p:nvPr/>
              </p:nvSpPr>
              <p:spPr bwMode="auto">
                <a:xfrm>
                  <a:off x="725417" y="1787240"/>
                  <a:ext cx="356365" cy="231962"/>
                </a:xfrm>
                <a:prstGeom prst="ellipse">
                  <a:avLst/>
                </a:prstGeom>
                <a:solidFill>
                  <a:schemeClr val="bg1">
                    <a:alpha val="76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11" name="TextBox 210"/>
                <p:cNvSpPr txBox="1"/>
                <p:nvPr/>
              </p:nvSpPr>
              <p:spPr>
                <a:xfrm>
                  <a:off x="670504" y="1708643"/>
                  <a:ext cx="349760" cy="409344"/>
                </a:xfrm>
                <a:prstGeom prst="rect">
                  <a:avLst/>
                </a:prstGeom>
                <a:noFill/>
              </p:spPr>
              <p:txBody>
                <a:bodyPr wrap="none" rtlCol="0">
                  <a:spAutoFit/>
                </a:bodyPr>
                <a:lstStyle/>
                <a:p>
                  <a:pPr algn="ctr"/>
                  <a:r>
                    <a:rPr lang="en-US" dirty="0"/>
                    <a:t>  X</a:t>
                  </a:r>
                </a:p>
              </p:txBody>
            </p:sp>
          </p:grpSp>
        </p:grpSp>
        <p:cxnSp>
          <p:nvCxnSpPr>
            <p:cNvPr id="206" name="Straight Connector 401"/>
            <p:cNvCxnSpPr/>
            <p:nvPr/>
          </p:nvCxnSpPr>
          <p:spPr bwMode="auto">
            <a:xfrm flipH="1">
              <a:off x="7133690" y="5764030"/>
              <a:ext cx="870024" cy="9999"/>
            </a:xfrm>
            <a:prstGeom prst="line">
              <a:avLst/>
            </a:prstGeom>
            <a:solidFill>
              <a:schemeClr val="accent1"/>
            </a:solidFill>
            <a:ln w="19050" cap="flat" cmpd="sng" algn="ctr">
              <a:solidFill>
                <a:srgbClr val="00009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21" name="Group 6"/>
          <p:cNvGrpSpPr/>
          <p:nvPr/>
        </p:nvGrpSpPr>
        <p:grpSpPr>
          <a:xfrm>
            <a:off x="7617925" y="2379268"/>
            <a:ext cx="1080508" cy="768350"/>
            <a:chOff x="5713444" y="2379268"/>
            <a:chExt cx="810381" cy="768350"/>
          </a:xfrm>
        </p:grpSpPr>
        <p:sp>
          <p:nvSpPr>
            <p:cNvPr id="222" name="AutoShape 118"/>
            <p:cNvSpPr>
              <a:spLocks noChangeArrowheads="1"/>
            </p:cNvSpPr>
            <p:nvPr/>
          </p:nvSpPr>
          <p:spPr bwMode="auto">
            <a:xfrm rot="17597965">
              <a:off x="5467382" y="2625330"/>
              <a:ext cx="768350" cy="276226"/>
            </a:xfrm>
            <a:prstGeom prst="leftArrow">
              <a:avLst>
                <a:gd name="adj1" fmla="val 50000"/>
                <a:gd name="adj2" fmla="val 69540"/>
              </a:avLst>
            </a:prstGeom>
            <a:gradFill rotWithShape="1">
              <a:gsLst>
                <a:gs pos="0">
                  <a:srgbClr val="FF0000"/>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23" name="Text Box 119"/>
            <p:cNvSpPr txBox="1">
              <a:spLocks noChangeArrowheads="1"/>
            </p:cNvSpPr>
            <p:nvPr/>
          </p:nvSpPr>
          <p:spPr bwMode="auto">
            <a:xfrm>
              <a:off x="5906829" y="2784958"/>
              <a:ext cx="616996" cy="3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85000"/>
                </a:lnSpc>
              </a:pPr>
              <a:r>
                <a:rPr lang="en-US" sz="1600" i="1" dirty="0">
                  <a:solidFill>
                    <a:srgbClr val="CC0000"/>
                  </a:solidFill>
                </a:rPr>
                <a:t>AS3,X </a:t>
              </a:r>
            </a:p>
          </p:txBody>
        </p:sp>
      </p:grpSp>
      <p:grpSp>
        <p:nvGrpSpPr>
          <p:cNvPr id="224" name="Group 5"/>
          <p:cNvGrpSpPr/>
          <p:nvPr/>
        </p:nvGrpSpPr>
        <p:grpSpPr>
          <a:xfrm>
            <a:off x="2705105" y="2438605"/>
            <a:ext cx="1637764" cy="882449"/>
            <a:chOff x="2028828" y="2438604"/>
            <a:chExt cx="1228323" cy="882449"/>
          </a:xfrm>
        </p:grpSpPr>
        <p:sp>
          <p:nvSpPr>
            <p:cNvPr id="225" name="Text Box 119"/>
            <p:cNvSpPr txBox="1">
              <a:spLocks noChangeArrowheads="1"/>
            </p:cNvSpPr>
            <p:nvPr/>
          </p:nvSpPr>
          <p:spPr bwMode="auto">
            <a:xfrm>
              <a:off x="2028828" y="3019432"/>
              <a:ext cx="950020" cy="301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charset="0"/>
                  <a:ea typeface="ＭＳ Ｐゴシック" charset="0"/>
                  <a:cs typeface="ＭＳ Ｐゴシック" charset="0"/>
                </a:defRPr>
              </a:lvl1pPr>
              <a:lvl2pPr marL="742950" indent="-285750">
                <a:defRPr sz="2400">
                  <a:solidFill>
                    <a:schemeClr val="tx1"/>
                  </a:solidFill>
                  <a:latin typeface="Arial" charset="0"/>
                  <a:ea typeface="ＭＳ Ｐゴシック" charset="0"/>
                </a:defRPr>
              </a:lvl2pPr>
              <a:lvl3pPr marL="1143000" indent="-228600">
                <a:defRPr sz="2400">
                  <a:solidFill>
                    <a:schemeClr val="tx1"/>
                  </a:solidFill>
                  <a:latin typeface="Arial" charset="0"/>
                  <a:ea typeface="ＭＳ Ｐゴシック" charset="0"/>
                </a:defRPr>
              </a:lvl3pPr>
              <a:lvl4pPr marL="1600200" indent="-228600">
                <a:defRPr sz="2400">
                  <a:solidFill>
                    <a:schemeClr val="tx1"/>
                  </a:solidFill>
                  <a:latin typeface="Arial" charset="0"/>
                  <a:ea typeface="ＭＳ Ｐゴシック" charset="0"/>
                </a:defRPr>
              </a:lvl4pPr>
              <a:lvl5pPr marL="2057400" indent="-22860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a:lnSpc>
                  <a:spcPct val="85000"/>
                </a:lnSpc>
              </a:pPr>
              <a:r>
                <a:rPr lang="en-US" sz="1600" i="1" dirty="0">
                  <a:solidFill>
                    <a:srgbClr val="CC0000"/>
                  </a:solidFill>
                </a:rPr>
                <a:t>AS2,AS3,X </a:t>
              </a:r>
            </a:p>
          </p:txBody>
        </p:sp>
        <p:sp>
          <p:nvSpPr>
            <p:cNvPr id="226" name="AutoShape 118"/>
            <p:cNvSpPr>
              <a:spLocks noChangeArrowheads="1"/>
            </p:cNvSpPr>
            <p:nvPr/>
          </p:nvSpPr>
          <p:spPr bwMode="auto">
            <a:xfrm rot="3445218">
              <a:off x="2734864" y="2684666"/>
              <a:ext cx="768350" cy="276225"/>
            </a:xfrm>
            <a:prstGeom prst="leftArrow">
              <a:avLst>
                <a:gd name="adj1" fmla="val 50000"/>
                <a:gd name="adj2" fmla="val 69540"/>
              </a:avLst>
            </a:prstGeom>
            <a:gradFill rotWithShape="1">
              <a:gsLst>
                <a:gs pos="0">
                  <a:srgbClr val="FF0000"/>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grpSp>
      <p:sp>
        <p:nvSpPr>
          <p:cNvPr id="227" name="Rectangle 4"/>
          <p:cNvSpPr txBox="1">
            <a:spLocks noChangeArrowheads="1"/>
          </p:cNvSpPr>
          <p:nvPr/>
        </p:nvSpPr>
        <p:spPr bwMode="auto">
          <a:xfrm>
            <a:off x="838200" y="4246362"/>
            <a:ext cx="10515600" cy="2175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lnSpc>
                <a:spcPct val="85000"/>
              </a:lnSpc>
              <a:spcBef>
                <a:spcPct val="20000"/>
              </a:spcBef>
              <a:spcAft>
                <a:spcPct val="0"/>
              </a:spcAft>
              <a:buClr>
                <a:srgbClr val="000099"/>
              </a:buClr>
              <a:buSzPct val="100000"/>
              <a:buFont typeface="Wingdings" charset="2"/>
              <a:buChar char="§"/>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Arial"/>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Comic Sans MS" pitchFamily="66" charset="0"/>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0" indent="0">
              <a:lnSpc>
                <a:spcPts val="2140"/>
              </a:lnSpc>
              <a:buNone/>
            </a:pPr>
            <a:r>
              <a:rPr lang="zh-CN" altLang="en-US" dirty="0">
                <a:solidFill>
                  <a:srgbClr val="C00000"/>
                </a:solidFill>
                <a:latin typeface="等线" panose="02010600030101010101" pitchFamily="2" charset="-122"/>
                <a:ea typeface="等线" panose="02010600030101010101" pitchFamily="2" charset="-122"/>
                <a:cs typeface="Times New Roman" panose="02020603050405020304" pitchFamily="18" charset="0"/>
              </a:rPr>
              <a:t>路由器可能会学到多条到目的网络的路径</a:t>
            </a:r>
            <a:r>
              <a:rPr lang="en-US" dirty="0">
                <a:solidFill>
                  <a:srgbClr val="C00000"/>
                </a:solidFill>
                <a:latin typeface="等线" panose="02010600030101010101" pitchFamily="2" charset="-122"/>
                <a:ea typeface="等线" panose="02010600030101010101" pitchFamily="2" charset="-122"/>
                <a:cs typeface="Times New Roman" panose="02020603050405020304" pitchFamily="18" charset="0"/>
              </a:rPr>
              <a:t>:</a:t>
            </a:r>
          </a:p>
          <a:p>
            <a:pPr>
              <a:lnSpc>
                <a:spcPct val="120000"/>
              </a:lnSpc>
              <a:spcBef>
                <a:spcPts val="600"/>
              </a:spcBef>
              <a:buClrTx/>
              <a:buFont typeface="Wingdings" pitchFamily="2" charset="2"/>
              <a:buChar char="Ø"/>
            </a:pPr>
            <a:r>
              <a:rPr lang="en-US" altLang="zh-CN" sz="2400" dirty="0">
                <a:latin typeface="等线" panose="02010600030101010101" pitchFamily="2" charset="-122"/>
                <a:ea typeface="等线" panose="02010600030101010101" pitchFamily="2" charset="-122"/>
                <a:cs typeface="Times New Roman" panose="02020603050405020304" pitchFamily="18" charset="0"/>
              </a:rPr>
              <a:t>AS1</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1c</a:t>
            </a:r>
            <a:r>
              <a:rPr lang="zh-CN" altLang="en-US" sz="2400" dirty="0">
                <a:latin typeface="等线" panose="02010600030101010101" pitchFamily="2" charset="-122"/>
                <a:ea typeface="等线" panose="02010600030101010101" pitchFamily="2" charset="-122"/>
                <a:cs typeface="Times New Roman" panose="02020603050405020304" pitchFamily="18" charset="0"/>
              </a:rPr>
              <a:t>从</a:t>
            </a:r>
            <a:r>
              <a:rPr lang="en-US" altLang="zh-CN" sz="2400" dirty="0">
                <a:latin typeface="等线" panose="02010600030101010101" pitchFamily="2" charset="-122"/>
                <a:ea typeface="等线" panose="02010600030101010101" pitchFamily="2" charset="-122"/>
                <a:cs typeface="Times New Roman" panose="02020603050405020304" pitchFamily="18" charset="0"/>
              </a:rPr>
              <a:t>2a</a:t>
            </a:r>
            <a:r>
              <a:rPr lang="zh-CN" altLang="en-US" sz="2400" dirty="0">
                <a:latin typeface="等线" panose="02010600030101010101" pitchFamily="2" charset="-122"/>
                <a:ea typeface="等线" panose="02010600030101010101" pitchFamily="2" charset="-122"/>
                <a:cs typeface="Times New Roman" panose="02020603050405020304" pitchFamily="18" charset="0"/>
              </a:rPr>
              <a:t>学到路径</a:t>
            </a:r>
            <a:r>
              <a:rPr lang="en-US" altLang="zh-CN" sz="2400" i="1" dirty="0">
                <a:solidFill>
                  <a:srgbClr val="C00000"/>
                </a:solidFill>
                <a:latin typeface="等线" panose="02010600030101010101" pitchFamily="2" charset="-122"/>
                <a:ea typeface="等线" panose="02010600030101010101" pitchFamily="2" charset="-122"/>
                <a:cs typeface="Times New Roman" panose="02020603050405020304" pitchFamily="18" charset="0"/>
              </a:rPr>
              <a:t>AS2,  AS3, X</a:t>
            </a:r>
          </a:p>
          <a:p>
            <a:pPr>
              <a:lnSpc>
                <a:spcPct val="120000"/>
              </a:lnSpc>
              <a:spcBef>
                <a:spcPts val="600"/>
              </a:spcBef>
              <a:buClrTx/>
              <a:buFont typeface="Wingdings" pitchFamily="2" charset="2"/>
              <a:buChar char="Ø"/>
            </a:pPr>
            <a:r>
              <a:rPr lang="en-US" altLang="zh-CN" sz="2400" dirty="0">
                <a:latin typeface="等线" panose="02010600030101010101" pitchFamily="2" charset="-122"/>
                <a:ea typeface="等线" panose="02010600030101010101" pitchFamily="2" charset="-122"/>
                <a:cs typeface="Times New Roman" panose="02020603050405020304" pitchFamily="18" charset="0"/>
              </a:rPr>
              <a:t>AS1</a:t>
            </a:r>
            <a:r>
              <a:rPr lang="zh-CN" altLang="en-US" sz="2400" dirty="0">
                <a:latin typeface="等线" panose="02010600030101010101" pitchFamily="2" charset="-122"/>
                <a:ea typeface="等线" panose="02010600030101010101" pitchFamily="2" charset="-122"/>
                <a:cs typeface="Times New Roman" panose="02020603050405020304" pitchFamily="18" charset="0"/>
              </a:rPr>
              <a:t>的路由器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1c</a:t>
            </a:r>
            <a:r>
              <a:rPr lang="zh-CN" altLang="en-US" sz="2400" dirty="0">
                <a:latin typeface="等线" panose="02010600030101010101" pitchFamily="2" charset="-122"/>
                <a:ea typeface="等线" panose="02010600030101010101" pitchFamily="2" charset="-122"/>
                <a:cs typeface="Times New Roman" panose="02020603050405020304" pitchFamily="18" charset="0"/>
              </a:rPr>
              <a:t>从</a:t>
            </a:r>
            <a:r>
              <a:rPr lang="en-US" altLang="zh-CN" sz="2400" dirty="0">
                <a:latin typeface="等线" panose="02010600030101010101" pitchFamily="2" charset="-122"/>
                <a:ea typeface="等线" panose="02010600030101010101" pitchFamily="2" charset="-122"/>
                <a:cs typeface="Times New Roman" panose="02020603050405020304" pitchFamily="18" charset="0"/>
              </a:rPr>
              <a:t>3a</a:t>
            </a:r>
            <a:r>
              <a:rPr lang="zh-CN" altLang="en-US" sz="2400" dirty="0">
                <a:latin typeface="等线" panose="02010600030101010101" pitchFamily="2" charset="-122"/>
                <a:ea typeface="等线" panose="02010600030101010101" pitchFamily="2" charset="-122"/>
                <a:cs typeface="Times New Roman" panose="02020603050405020304" pitchFamily="18" charset="0"/>
              </a:rPr>
              <a:t>学到路径</a:t>
            </a:r>
            <a:r>
              <a:rPr lang="en-US" altLang="zh-CN" sz="2400" i="1" dirty="0">
                <a:solidFill>
                  <a:srgbClr val="C00000"/>
                </a:solidFill>
                <a:latin typeface="等线" panose="02010600030101010101" pitchFamily="2" charset="-122"/>
                <a:ea typeface="等线" panose="02010600030101010101" pitchFamily="2" charset="-122"/>
                <a:cs typeface="Times New Roman" panose="02020603050405020304" pitchFamily="18" charset="0"/>
              </a:rPr>
              <a:t>AS3, X</a:t>
            </a:r>
          </a:p>
          <a:p>
            <a:pPr>
              <a:lnSpc>
                <a:spcPct val="120000"/>
              </a:lnSpc>
              <a:spcBef>
                <a:spcPts val="600"/>
              </a:spcBef>
              <a:buClrTx/>
              <a:buFont typeface="Wingdings" pitchFamily="2" charset="2"/>
              <a:buChar char="Ø"/>
            </a:pPr>
            <a:r>
              <a:rPr lang="en-US" altLang="zh-CN" sz="2400" dirty="0">
                <a:latin typeface="等线" panose="02010600030101010101" pitchFamily="2" charset="-122"/>
                <a:ea typeface="等线" panose="02010600030101010101" pitchFamily="2" charset="-122"/>
                <a:cs typeface="Times New Roman" panose="02020603050405020304" pitchFamily="18" charset="0"/>
              </a:rPr>
              <a:t>AS1</a:t>
            </a:r>
            <a:r>
              <a:rPr lang="zh-CN" altLang="en-US" sz="2400" dirty="0">
                <a:latin typeface="等线" panose="02010600030101010101" pitchFamily="2" charset="-122"/>
                <a:ea typeface="等线" panose="02010600030101010101" pitchFamily="2" charset="-122"/>
                <a:cs typeface="Times New Roman" panose="02020603050405020304" pitchFamily="18" charset="0"/>
              </a:rPr>
              <a:t>路由器</a:t>
            </a:r>
            <a:r>
              <a:rPr lang="en-US" altLang="zh-CN" sz="2400" dirty="0">
                <a:latin typeface="等线" panose="02010600030101010101" pitchFamily="2" charset="-122"/>
                <a:ea typeface="等线" panose="02010600030101010101" pitchFamily="2" charset="-122"/>
                <a:cs typeface="Times New Roman" panose="02020603050405020304" pitchFamily="18" charset="0"/>
              </a:rPr>
              <a:t>1c</a:t>
            </a:r>
            <a:r>
              <a:rPr lang="zh-CN" altLang="en-US" sz="2400" dirty="0">
                <a:latin typeface="等线" panose="02010600030101010101" pitchFamily="2" charset="-122"/>
                <a:ea typeface="等线" panose="02010600030101010101" pitchFamily="2" charset="-122"/>
                <a:cs typeface="Times New Roman" panose="02020603050405020304" pitchFamily="18" charset="0"/>
              </a:rPr>
              <a:t>可能选择路径</a:t>
            </a:r>
            <a:r>
              <a:rPr lang="en-US" altLang="zh-CN" sz="2400" i="1" dirty="0">
                <a:solidFill>
                  <a:srgbClr val="C00000"/>
                </a:solidFill>
                <a:latin typeface="等线" panose="02010600030101010101" pitchFamily="2" charset="-122"/>
                <a:ea typeface="等线" panose="02010600030101010101" pitchFamily="2" charset="-122"/>
                <a:cs typeface="Times New Roman" panose="02020603050405020304" pitchFamily="18" charset="0"/>
              </a:rPr>
              <a:t>AS3, X</a:t>
            </a:r>
            <a:r>
              <a:rPr lang="zh-CN" altLang="en-US" sz="2400" i="1" dirty="0">
                <a:solidFill>
                  <a:srgbClr val="CC0000"/>
                </a:solidFill>
                <a:latin typeface="等线" panose="02010600030101010101" pitchFamily="2" charset="-122"/>
                <a:ea typeface="等线" panose="02010600030101010101" pitchFamily="2" charset="-122"/>
                <a:cs typeface="Times New Roman" panose="02020603050405020304" pitchFamily="18" charset="0"/>
              </a:rPr>
              <a:t>，</a:t>
            </a:r>
            <a:r>
              <a:rPr lang="en-US" altLang="zh-CN" sz="2400" i="1" dirty="0">
                <a:solidFill>
                  <a:srgbClr val="CC0000"/>
                </a:solidFill>
                <a:latin typeface="等线" panose="02010600030101010101" pitchFamily="2" charset="-122"/>
                <a:ea typeface="等线" panose="02010600030101010101" pitchFamily="2" charset="-122"/>
                <a:cs typeface="Times New Roman" panose="02020603050405020304" pitchFamily="18" charset="0"/>
              </a:rPr>
              <a:t> </a:t>
            </a:r>
            <a:r>
              <a:rPr lang="zh-CN" altLang="en-US" sz="2400" dirty="0">
                <a:latin typeface="等线" panose="02010600030101010101" pitchFamily="2" charset="-122"/>
                <a:ea typeface="等线" panose="02010600030101010101" pitchFamily="2" charset="-122"/>
                <a:cs typeface="Times New Roman" panose="02020603050405020304" pitchFamily="18" charset="0"/>
              </a:rPr>
              <a:t>并在</a:t>
            </a:r>
            <a:r>
              <a:rPr lang="en-US" altLang="zh-CN" sz="2400" dirty="0">
                <a:latin typeface="等线" panose="02010600030101010101" pitchFamily="2" charset="-122"/>
                <a:ea typeface="等线" panose="02010600030101010101" pitchFamily="2" charset="-122"/>
                <a:cs typeface="Times New Roman" panose="02020603050405020304" pitchFamily="18" charset="0"/>
              </a:rPr>
              <a:t>AS1</a:t>
            </a:r>
            <a:r>
              <a:rPr lang="zh-CN" altLang="en-US" sz="2400" dirty="0">
                <a:latin typeface="等线" panose="02010600030101010101" pitchFamily="2" charset="-122"/>
                <a:ea typeface="等线" panose="02010600030101010101" pitchFamily="2" charset="-122"/>
                <a:cs typeface="Times New Roman" panose="02020603050405020304" pitchFamily="18" charset="0"/>
              </a:rPr>
              <a:t>中通过</a:t>
            </a:r>
            <a:r>
              <a:rPr lang="en-US" altLang="zh-CN" sz="2400" dirty="0" err="1">
                <a:latin typeface="等线" panose="02010600030101010101" pitchFamily="2" charset="-122"/>
                <a:ea typeface="等线" panose="02010600030101010101" pitchFamily="2" charset="-122"/>
                <a:cs typeface="Times New Roman" panose="02020603050405020304" pitchFamily="18" charset="0"/>
              </a:rPr>
              <a:t>iBGP</a:t>
            </a:r>
            <a:r>
              <a:rPr lang="zh-CN" altLang="en-US" sz="2400" dirty="0">
                <a:latin typeface="等线" panose="02010600030101010101" pitchFamily="2" charset="-122"/>
                <a:ea typeface="等线" panose="02010600030101010101" pitchFamily="2" charset="-122"/>
                <a:cs typeface="Times New Roman" panose="02020603050405020304" pitchFamily="18" charset="0"/>
              </a:rPr>
              <a:t>通告路径</a:t>
            </a:r>
            <a:endParaRPr lang="en-US" altLang="zh-CN" sz="2400" dirty="0">
              <a:latin typeface="等线" panose="02010600030101010101" pitchFamily="2" charset="-122"/>
              <a:ea typeface="等线" panose="02010600030101010101" pitchFamily="2" charset="-122"/>
              <a:cs typeface="Times New Roman" panose="02020603050405020304" pitchFamily="18" charset="0"/>
            </a:endParaRPr>
          </a:p>
          <a:p>
            <a:pPr>
              <a:lnSpc>
                <a:spcPts val="2140"/>
              </a:lnSpc>
              <a:buFont typeface="Wingdings" pitchFamily="2" charset="2"/>
              <a:buChar char="Ø"/>
            </a:pPr>
            <a:endParaRPr lang="en-US" b="1" dirty="0">
              <a:solidFill>
                <a:srgbClr val="FF0000"/>
              </a:solidFill>
              <a:latin typeface="等线" panose="02010600030101010101" pitchFamily="2" charset="-122"/>
              <a:ea typeface="等线" panose="02010600030101010101" pitchFamily="2" charset="-122"/>
              <a:cs typeface="Times New Roman" panose="02020603050405020304" pitchFamily="18" charset="0"/>
            </a:endParaRPr>
          </a:p>
        </p:txBody>
      </p:sp>
      <p:grpSp>
        <p:nvGrpSpPr>
          <p:cNvPr id="228" name="Group 4"/>
          <p:cNvGrpSpPr/>
          <p:nvPr/>
        </p:nvGrpSpPr>
        <p:grpSpPr>
          <a:xfrm>
            <a:off x="1859693" y="1902432"/>
            <a:ext cx="1491783" cy="826267"/>
            <a:chOff x="4052000" y="2820739"/>
            <a:chExt cx="1118837" cy="826267"/>
          </a:xfrm>
        </p:grpSpPr>
        <p:cxnSp>
          <p:nvCxnSpPr>
            <p:cNvPr id="229" name="Straight Arrow Connector 2"/>
            <p:cNvCxnSpPr/>
            <p:nvPr/>
          </p:nvCxnSpPr>
          <p:spPr bwMode="auto">
            <a:xfrm flipH="1" flipV="1">
              <a:off x="4769093" y="2820739"/>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0" name="Straight Arrow Connector 329"/>
            <p:cNvCxnSpPr/>
            <p:nvPr/>
          </p:nvCxnSpPr>
          <p:spPr bwMode="auto">
            <a:xfrm flipH="1" flipV="1">
              <a:off x="4052000" y="3192229"/>
              <a:ext cx="1059565" cy="14171"/>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1" name="Straight Arrow Connector 330"/>
            <p:cNvCxnSpPr/>
            <p:nvPr/>
          </p:nvCxnSpPr>
          <p:spPr bwMode="auto">
            <a:xfrm flipH="1">
              <a:off x="4748700" y="3344630"/>
              <a:ext cx="401744" cy="302376"/>
            </a:xfrm>
            <a:prstGeom prst="straightConnector1">
              <a:avLst/>
            </a:prstGeom>
            <a:solidFill>
              <a:schemeClr val="accent1"/>
            </a:solidFill>
            <a:ln w="25400" cap="flat" cmpd="sng" algn="ctr">
              <a:solidFill>
                <a:srgbClr val="CC0000"/>
              </a:solidFill>
              <a:prstDash val="solid"/>
              <a:round/>
              <a:headEnd type="none" w="med" len="med"/>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cxnSp>
        <p:nvCxnSpPr>
          <p:cNvPr id="232" name="Straight Connector 324"/>
          <p:cNvCxnSpPr/>
          <p:nvPr/>
        </p:nvCxnSpPr>
        <p:spPr bwMode="auto">
          <a:xfrm flipH="1">
            <a:off x="4189498" y="2168220"/>
            <a:ext cx="3379604" cy="145211"/>
          </a:xfrm>
          <a:prstGeom prst="line">
            <a:avLst/>
          </a:prstGeom>
          <a:solidFill>
            <a:schemeClr val="accent1"/>
          </a:solidFill>
          <a:ln w="38100" cap="flat" cmpd="sng" algn="ctr">
            <a:solidFill>
              <a:srgbClr val="CC0000"/>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33" name="Group 3"/>
          <p:cNvGrpSpPr/>
          <p:nvPr/>
        </p:nvGrpSpPr>
        <p:grpSpPr>
          <a:xfrm>
            <a:off x="5453646" y="1649335"/>
            <a:ext cx="1092933" cy="547957"/>
            <a:chOff x="4617960" y="1621326"/>
            <a:chExt cx="819700" cy="547957"/>
          </a:xfrm>
        </p:grpSpPr>
        <p:sp>
          <p:nvSpPr>
            <p:cNvPr id="234" name="AutoShape 118"/>
            <p:cNvSpPr>
              <a:spLocks noChangeArrowheads="1"/>
            </p:cNvSpPr>
            <p:nvPr/>
          </p:nvSpPr>
          <p:spPr bwMode="auto">
            <a:xfrm rot="21413181">
              <a:off x="4617960" y="1893058"/>
              <a:ext cx="768350" cy="276225"/>
            </a:xfrm>
            <a:prstGeom prst="leftArrow">
              <a:avLst>
                <a:gd name="adj1" fmla="val 50000"/>
                <a:gd name="adj2" fmla="val 69540"/>
              </a:avLst>
            </a:prstGeom>
            <a:gradFill rotWithShape="1">
              <a:gsLst>
                <a:gs pos="0">
                  <a:srgbClr val="FF0000"/>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p>
          </p:txBody>
        </p:sp>
        <p:sp>
          <p:nvSpPr>
            <p:cNvPr id="235" name="TextBox 234"/>
            <p:cNvSpPr txBox="1"/>
            <p:nvPr/>
          </p:nvSpPr>
          <p:spPr>
            <a:xfrm rot="21418560">
              <a:off x="4919249" y="1621326"/>
              <a:ext cx="518411" cy="338554"/>
            </a:xfrm>
            <a:prstGeom prst="rect">
              <a:avLst/>
            </a:prstGeom>
            <a:noFill/>
          </p:spPr>
          <p:txBody>
            <a:bodyPr wrap="none" rtlCol="0">
              <a:spAutoFit/>
            </a:bodyPr>
            <a:lstStyle/>
            <a:p>
              <a:r>
                <a:rPr lang="en-US" sz="1600" i="1" dirty="0">
                  <a:solidFill>
                    <a:srgbClr val="CC0000"/>
                  </a:solidFill>
                </a:rPr>
                <a:t>AS3,X</a:t>
              </a:r>
            </a:p>
          </p:txBody>
        </p:sp>
      </p:grpSp>
      <p:sp>
        <p:nvSpPr>
          <p:cNvPr id="3" name="日期占位符 2"/>
          <p:cNvSpPr>
            <a:spLocks noGrp="1"/>
          </p:cNvSpPr>
          <p:nvPr>
            <p:ph type="dt" sz="half" idx="10"/>
          </p:nvPr>
        </p:nvSpPr>
        <p:spPr>
          <a:xfrm>
            <a:off x="197334" y="6489303"/>
            <a:ext cx="3230539" cy="365125"/>
          </a:xfrm>
        </p:spPr>
        <p:txBody>
          <a:bodyPr/>
          <a:lstStyle/>
          <a:p>
            <a:r>
              <a:rPr kumimoji="1" lang="en-US" altLang="zh-CN" dirty="0">
                <a:latin typeface="DengXian" panose="02010600030101010101" pitchFamily="2" charset="-122"/>
                <a:ea typeface="DengXian" panose="02010600030101010101" pitchFamily="2" charset="-122"/>
              </a:rPr>
              <a:t>5.4.3 BGP-</a:t>
            </a:r>
            <a:r>
              <a:rPr kumimoji="1" lang="zh-CN" altLang="en-US" dirty="0">
                <a:latin typeface="DengXian" panose="02010600030101010101" pitchFamily="2" charset="-122"/>
                <a:ea typeface="DengXian" panose="02010600030101010101" pitchFamily="2" charset="-122"/>
              </a:rPr>
              <a:t>外部网关路由协议</a:t>
            </a:r>
          </a:p>
        </p:txBody>
      </p:sp>
    </p:spTree>
    <p:extLst>
      <p:ext uri="{BB962C8B-B14F-4D97-AF65-F5344CB8AC3E}">
        <p14:creationId xmlns:p14="http://schemas.microsoft.com/office/powerpoint/2010/main" val="1886770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1"/>
                                        </p:tgtEl>
                                        <p:attrNameLst>
                                          <p:attrName>style.visibility</p:attrName>
                                        </p:attrNameLst>
                                      </p:cBhvr>
                                      <p:to>
                                        <p:strVal val="visible"/>
                                      </p:to>
                                    </p:set>
                                    <p:animEffect transition="in" filter="wipe(up)">
                                      <p:cBhvr>
                                        <p:cTn id="7" dur="500"/>
                                        <p:tgtEl>
                                          <p:spTgt spid="221"/>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224"/>
                                        </p:tgtEl>
                                        <p:attrNameLst>
                                          <p:attrName>style.visibility</p:attrName>
                                        </p:attrNameLst>
                                      </p:cBhvr>
                                      <p:to>
                                        <p:strVal val="visible"/>
                                      </p:to>
                                    </p:set>
                                    <p:animEffect transition="in" filter="wipe(down)">
                                      <p:cBhvr>
                                        <p:cTn id="11" dur="500"/>
                                        <p:tgtEl>
                                          <p:spTgt spid="224"/>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227">
                                            <p:txEl>
                                              <p:pRg st="1" end="1"/>
                                            </p:txEl>
                                          </p:spTgt>
                                        </p:tgtEl>
                                        <p:attrNameLst>
                                          <p:attrName>style.visibility</p:attrName>
                                        </p:attrNameLst>
                                      </p:cBhvr>
                                      <p:to>
                                        <p:strVal val="visible"/>
                                      </p:to>
                                    </p:set>
                                    <p:animEffect transition="in" filter="dissolve">
                                      <p:cBhvr>
                                        <p:cTn id="15" dur="500"/>
                                        <p:tgtEl>
                                          <p:spTgt spid="227">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2" fill="hold" nodeType="clickEffect">
                                  <p:stCondLst>
                                    <p:cond delay="0"/>
                                  </p:stCondLst>
                                  <p:childTnLst>
                                    <p:set>
                                      <p:cBhvr>
                                        <p:cTn id="19" dur="1" fill="hold">
                                          <p:stCondLst>
                                            <p:cond delay="0"/>
                                          </p:stCondLst>
                                        </p:cTn>
                                        <p:tgtEl>
                                          <p:spTgt spid="233"/>
                                        </p:tgtEl>
                                        <p:attrNameLst>
                                          <p:attrName>style.visibility</p:attrName>
                                        </p:attrNameLst>
                                      </p:cBhvr>
                                      <p:to>
                                        <p:strVal val="visible"/>
                                      </p:to>
                                    </p:set>
                                    <p:animEffect transition="in" filter="wipe(right)">
                                      <p:cBhvr>
                                        <p:cTn id="20" dur="500"/>
                                        <p:tgtEl>
                                          <p:spTgt spid="233"/>
                                        </p:tgtEl>
                                      </p:cBhvr>
                                    </p:animEffect>
                                  </p:childTnLst>
                                </p:cTn>
                              </p:par>
                            </p:childTnLst>
                          </p:cTn>
                        </p:par>
                        <p:par>
                          <p:cTn id="21" fill="hold">
                            <p:stCondLst>
                              <p:cond delay="500"/>
                            </p:stCondLst>
                            <p:childTnLst>
                              <p:par>
                                <p:cTn id="22" presetID="9" presetClass="entr" presetSubtype="0" fill="hold" nodeType="afterEffect">
                                  <p:stCondLst>
                                    <p:cond delay="0"/>
                                  </p:stCondLst>
                                  <p:childTnLst>
                                    <p:set>
                                      <p:cBhvr>
                                        <p:cTn id="23" dur="1" fill="hold">
                                          <p:stCondLst>
                                            <p:cond delay="0"/>
                                          </p:stCondLst>
                                        </p:cTn>
                                        <p:tgtEl>
                                          <p:spTgt spid="227">
                                            <p:txEl>
                                              <p:pRg st="2" end="2"/>
                                            </p:txEl>
                                          </p:spTgt>
                                        </p:tgtEl>
                                        <p:attrNameLst>
                                          <p:attrName>style.visibility</p:attrName>
                                        </p:attrNameLst>
                                      </p:cBhvr>
                                      <p:to>
                                        <p:strVal val="visible"/>
                                      </p:to>
                                    </p:set>
                                    <p:animEffect transition="in" filter="dissolve">
                                      <p:cBhvr>
                                        <p:cTn id="24" dur="500"/>
                                        <p:tgtEl>
                                          <p:spTgt spid="22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227">
                                            <p:txEl>
                                              <p:pRg st="3" end="3"/>
                                            </p:txEl>
                                          </p:spTgt>
                                        </p:tgtEl>
                                        <p:attrNameLst>
                                          <p:attrName>style.visibility</p:attrName>
                                        </p:attrNameLst>
                                      </p:cBhvr>
                                      <p:to>
                                        <p:strVal val="visible"/>
                                      </p:to>
                                    </p:set>
                                    <p:animEffect transition="in" filter="dissolve">
                                      <p:cBhvr>
                                        <p:cTn id="29" dur="500"/>
                                        <p:tgtEl>
                                          <p:spTgt spid="227">
                                            <p:txEl>
                                              <p:pRg st="3" end="3"/>
                                            </p:txEl>
                                          </p:spTgt>
                                        </p:tgtEl>
                                      </p:cBhvr>
                                    </p:animEffect>
                                  </p:childTnLst>
                                </p:cTn>
                              </p:par>
                            </p:childTnLst>
                          </p:cTn>
                        </p:par>
                        <p:par>
                          <p:cTn id="30" fill="hold">
                            <p:stCondLst>
                              <p:cond delay="500"/>
                            </p:stCondLst>
                            <p:childTnLst>
                              <p:par>
                                <p:cTn id="31" presetID="22" presetClass="entr" presetSubtype="2" fill="hold" nodeType="afterEffect">
                                  <p:stCondLst>
                                    <p:cond delay="0"/>
                                  </p:stCondLst>
                                  <p:childTnLst>
                                    <p:set>
                                      <p:cBhvr>
                                        <p:cTn id="32" dur="1" fill="hold">
                                          <p:stCondLst>
                                            <p:cond delay="0"/>
                                          </p:stCondLst>
                                        </p:cTn>
                                        <p:tgtEl>
                                          <p:spTgt spid="228"/>
                                        </p:tgtEl>
                                        <p:attrNameLst>
                                          <p:attrName>style.visibility</p:attrName>
                                        </p:attrNameLst>
                                      </p:cBhvr>
                                      <p:to>
                                        <p:strVal val="visible"/>
                                      </p:to>
                                    </p:set>
                                    <p:animEffect transition="in" filter="wipe(right)">
                                      <p:cBhvr>
                                        <p:cTn id="33" dur="500"/>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等线" panose="02010600030101010101" pitchFamily="2" charset="-122"/>
                <a:ea typeface="等线" panose="02010600030101010101" pitchFamily="2" charset="-122"/>
              </a:rPr>
              <a:t>BGP</a:t>
            </a:r>
            <a:r>
              <a:rPr lang="zh-CN" altLang="en-US" dirty="0">
                <a:latin typeface="等线" panose="02010600030101010101" pitchFamily="2" charset="-122"/>
                <a:ea typeface="等线" panose="02010600030101010101" pitchFamily="2" charset="-122"/>
              </a:rPr>
              <a:t>协议的特点</a:t>
            </a:r>
            <a:endParaRPr lang="zh-CN" altLang="en-US" sz="3200" dirty="0"/>
          </a:p>
        </p:txBody>
      </p:sp>
      <p:sp>
        <p:nvSpPr>
          <p:cNvPr id="3" name="内容占位符 2"/>
          <p:cNvSpPr>
            <a:spLocks noGrp="1"/>
          </p:cNvSpPr>
          <p:nvPr>
            <p:ph idx="1"/>
          </p:nvPr>
        </p:nvSpPr>
        <p:spPr/>
        <p:txBody>
          <a:bodyPr/>
          <a:lstStyle/>
          <a:p>
            <a:pPr>
              <a:lnSpc>
                <a:spcPct val="120000"/>
              </a:lnSpc>
            </a:pPr>
            <a:r>
              <a:rPr lang="en-US" altLang="zh-CN" sz="2600" dirty="0">
                <a:latin typeface="等线" panose="02010600030101010101" pitchFamily="2" charset="-122"/>
                <a:ea typeface="等线" panose="02010600030101010101" pitchFamily="2" charset="-122"/>
              </a:rPr>
              <a:t>BGP </a:t>
            </a:r>
            <a:r>
              <a:rPr lang="zh-CN" altLang="en-US" sz="2600" dirty="0">
                <a:latin typeface="等线" panose="02010600030101010101" pitchFamily="2" charset="-122"/>
                <a:ea typeface="等线" panose="02010600030101010101" pitchFamily="2" charset="-122"/>
              </a:rPr>
              <a:t>协议交换路由信息的节点数量级是</a:t>
            </a:r>
            <a:r>
              <a:rPr lang="zh-CN" altLang="en-US" sz="2600" dirty="0">
                <a:solidFill>
                  <a:srgbClr val="C00000"/>
                </a:solidFill>
                <a:latin typeface="等线" panose="02010600030101010101" pitchFamily="2" charset="-122"/>
                <a:ea typeface="等线" panose="02010600030101010101" pitchFamily="2" charset="-122"/>
              </a:rPr>
              <a:t>自治系统数的量级</a:t>
            </a:r>
            <a:endParaRPr lang="en-US" altLang="zh-CN" sz="2600" dirty="0">
              <a:solidFill>
                <a:srgbClr val="C00000"/>
              </a:solidFill>
              <a:latin typeface="等线" panose="02010600030101010101" pitchFamily="2" charset="-122"/>
              <a:ea typeface="等线" panose="02010600030101010101" pitchFamily="2" charset="-122"/>
            </a:endParaRPr>
          </a:p>
          <a:p>
            <a:pPr>
              <a:lnSpc>
                <a:spcPct val="120000"/>
              </a:lnSpc>
            </a:pPr>
            <a:r>
              <a:rPr lang="zh-CN" altLang="en-US" sz="2600" dirty="0">
                <a:latin typeface="等线" panose="02010600030101010101" pitchFamily="2" charset="-122"/>
                <a:ea typeface="等线" panose="02010600030101010101" pitchFamily="2" charset="-122"/>
              </a:rPr>
              <a:t>每一个自治系统边界路由器的数目是很少的</a:t>
            </a:r>
            <a:endParaRPr lang="en-US" altLang="zh-CN" sz="2600" dirty="0">
              <a:latin typeface="等线" panose="02010600030101010101" pitchFamily="2" charset="-122"/>
              <a:ea typeface="等线" panose="02010600030101010101" pitchFamily="2" charset="-122"/>
            </a:endParaRPr>
          </a:p>
          <a:p>
            <a:pPr>
              <a:lnSpc>
                <a:spcPct val="120000"/>
              </a:lnSpc>
            </a:pPr>
            <a:r>
              <a:rPr lang="zh-CN" altLang="en-US" sz="2600" dirty="0">
                <a:latin typeface="等线" panose="02010600030101010101" pitchFamily="2" charset="-122"/>
                <a:ea typeface="等线" panose="02010600030101010101" pitchFamily="2" charset="-122"/>
              </a:rPr>
              <a:t>在 </a:t>
            </a:r>
            <a:r>
              <a:rPr lang="en-US" altLang="zh-CN" sz="2600" dirty="0">
                <a:latin typeface="等线" panose="02010600030101010101" pitchFamily="2" charset="-122"/>
                <a:ea typeface="等线" panose="02010600030101010101" pitchFamily="2" charset="-122"/>
              </a:rPr>
              <a:t>BGP </a:t>
            </a:r>
            <a:r>
              <a:rPr lang="zh-CN" altLang="en-US" sz="2600" dirty="0">
                <a:latin typeface="等线" panose="02010600030101010101" pitchFamily="2" charset="-122"/>
                <a:ea typeface="等线" panose="02010600030101010101" pitchFamily="2" charset="-122"/>
              </a:rPr>
              <a:t>刚刚运行时，</a:t>
            </a:r>
            <a:r>
              <a:rPr lang="en-US" altLang="zh-CN" sz="2600" dirty="0">
                <a:latin typeface="等线" panose="02010600030101010101" pitchFamily="2" charset="-122"/>
                <a:ea typeface="等线" panose="02010600030101010101" pitchFamily="2" charset="-122"/>
              </a:rPr>
              <a:t>BGP </a:t>
            </a:r>
            <a:r>
              <a:rPr lang="zh-CN" altLang="en-US" sz="2600" dirty="0">
                <a:latin typeface="等线" panose="02010600030101010101" pitchFamily="2" charset="-122"/>
                <a:ea typeface="等线" panose="02010600030101010101" pitchFamily="2" charset="-122"/>
              </a:rPr>
              <a:t>的邻站交换整个的 </a:t>
            </a:r>
            <a:r>
              <a:rPr lang="en-US" altLang="zh-CN" sz="2600" dirty="0">
                <a:latin typeface="等线" panose="02010600030101010101" pitchFamily="2" charset="-122"/>
                <a:ea typeface="等线" panose="02010600030101010101" pitchFamily="2" charset="-122"/>
              </a:rPr>
              <a:t>BGP </a:t>
            </a:r>
            <a:r>
              <a:rPr lang="zh-CN" altLang="en-US" sz="2600" dirty="0">
                <a:latin typeface="等线" panose="02010600030101010101" pitchFamily="2" charset="-122"/>
                <a:ea typeface="等线" panose="02010600030101010101" pitchFamily="2" charset="-122"/>
              </a:rPr>
              <a:t>路由表；以后只需要在发生变化时</a:t>
            </a:r>
            <a:r>
              <a:rPr lang="zh-CN" altLang="en-US" sz="2600" dirty="0">
                <a:solidFill>
                  <a:srgbClr val="C00000"/>
                </a:solidFill>
                <a:latin typeface="等线" panose="02010600030101010101" pitchFamily="2" charset="-122"/>
                <a:ea typeface="等线" panose="02010600030101010101" pitchFamily="2" charset="-122"/>
              </a:rPr>
              <a:t>更新有变化的部分</a:t>
            </a:r>
            <a:endParaRPr lang="en-US" altLang="zh-CN" sz="2600" dirty="0">
              <a:solidFill>
                <a:srgbClr val="C00000"/>
              </a:solidFill>
              <a:latin typeface="等线" panose="02010600030101010101" pitchFamily="2" charset="-122"/>
              <a:ea typeface="等线" panose="02010600030101010101" pitchFamily="2" charset="-122"/>
            </a:endParaRPr>
          </a:p>
          <a:p>
            <a:pPr marL="228600" lvl="1">
              <a:lnSpc>
                <a:spcPct val="120000"/>
              </a:lnSpc>
              <a:buFont typeface="Wingdings" pitchFamily="2" charset="2"/>
              <a:buChar char="Ø"/>
            </a:pPr>
            <a:r>
              <a:rPr lang="en-US" altLang="zh-CN" sz="2600" dirty="0">
                <a:latin typeface="等线" panose="02010600030101010101" pitchFamily="2" charset="-122"/>
                <a:ea typeface="等线" panose="02010600030101010101" pitchFamily="2" charset="-122"/>
              </a:rPr>
              <a:t>BGP</a:t>
            </a:r>
            <a:r>
              <a:rPr lang="zh-CN" altLang="en-US" sz="2600" dirty="0">
                <a:latin typeface="等线" panose="02010600030101010101" pitchFamily="2" charset="-122"/>
                <a:ea typeface="等线" panose="02010600030101010101" pitchFamily="2" charset="-122"/>
              </a:rPr>
              <a:t>为每个</a:t>
            </a:r>
            <a:r>
              <a:rPr lang="en-US" altLang="zh-CN" sz="2600" dirty="0">
                <a:latin typeface="等线" panose="02010600030101010101" pitchFamily="2" charset="-122"/>
                <a:ea typeface="等线" panose="02010600030101010101" pitchFamily="2" charset="-122"/>
              </a:rPr>
              <a:t>AS</a:t>
            </a:r>
            <a:r>
              <a:rPr lang="zh-CN" altLang="en-US" sz="2600" dirty="0">
                <a:latin typeface="等线" panose="02010600030101010101" pitchFamily="2" charset="-122"/>
                <a:ea typeface="等线" panose="02010600030101010101" pitchFamily="2" charset="-122"/>
              </a:rPr>
              <a:t>提供：</a:t>
            </a:r>
            <a:endParaRPr lang="en-US" altLang="zh-CN" sz="2600" dirty="0">
              <a:latin typeface="等线" panose="02010600030101010101" pitchFamily="2" charset="-122"/>
              <a:ea typeface="等线" panose="02010600030101010101" pitchFamily="2" charset="-122"/>
            </a:endParaRPr>
          </a:p>
          <a:p>
            <a:pPr lvl="1">
              <a:lnSpc>
                <a:spcPct val="120000"/>
              </a:lnSpc>
              <a:defRPr/>
            </a:pPr>
            <a:r>
              <a:rPr lang="zh-CN" altLang="en-US" kern="0" dirty="0">
                <a:latin typeface="等线" panose="02010600030101010101" pitchFamily="2" charset="-122"/>
                <a:ea typeface="等线" panose="02010600030101010101" pitchFamily="2" charset="-122"/>
              </a:rPr>
              <a:t>从邻居</a:t>
            </a:r>
            <a:r>
              <a:rPr lang="en-US" altLang="zh-CN" kern="0" dirty="0">
                <a:latin typeface="等线" panose="02010600030101010101" pitchFamily="2" charset="-122"/>
                <a:ea typeface="等线" panose="02010600030101010101" pitchFamily="2" charset="-122"/>
              </a:rPr>
              <a:t>AS</a:t>
            </a:r>
            <a:r>
              <a:rPr lang="zh-CN" altLang="en-US" kern="0" dirty="0">
                <a:latin typeface="等线" panose="02010600030101010101" pitchFamily="2" charset="-122"/>
                <a:ea typeface="等线" panose="02010600030101010101" pitchFamily="2" charset="-122"/>
              </a:rPr>
              <a:t>获取网络可达信息 </a:t>
            </a:r>
            <a:r>
              <a:rPr lang="en-US" altLang="zh-CN" kern="0" dirty="0">
                <a:latin typeface="等线" panose="02010600030101010101" pitchFamily="2" charset="-122"/>
                <a:ea typeface="等线" panose="02010600030101010101" pitchFamily="2" charset="-122"/>
              </a:rPr>
              <a:t>( </a:t>
            </a:r>
            <a:r>
              <a:rPr lang="en-US" altLang="zh-CN" kern="0" dirty="0" err="1">
                <a:latin typeface="等线" panose="02010600030101010101" pitchFamily="2" charset="-122"/>
                <a:ea typeface="等线" panose="02010600030101010101" pitchFamily="2" charset="-122"/>
              </a:rPr>
              <a:t>eBGP</a:t>
            </a:r>
            <a:r>
              <a:rPr lang="zh-CN" altLang="en-US" kern="0" dirty="0">
                <a:latin typeface="等线" panose="02010600030101010101" pitchFamily="2" charset="-122"/>
                <a:ea typeface="等线" panose="02010600030101010101" pitchFamily="2" charset="-122"/>
              </a:rPr>
              <a:t>协议</a:t>
            </a:r>
            <a:r>
              <a:rPr lang="en-US" altLang="zh-CN" kern="0" dirty="0">
                <a:latin typeface="等线" panose="02010600030101010101" pitchFamily="2" charset="-122"/>
                <a:ea typeface="等线" panose="02010600030101010101" pitchFamily="2" charset="-122"/>
              </a:rPr>
              <a:t> )</a:t>
            </a:r>
          </a:p>
          <a:p>
            <a:pPr lvl="1">
              <a:lnSpc>
                <a:spcPct val="120000"/>
              </a:lnSpc>
              <a:defRPr/>
            </a:pPr>
            <a:r>
              <a:rPr lang="zh-CN" altLang="en-US" kern="0" dirty="0">
                <a:latin typeface="等线" panose="02010600030101010101" pitchFamily="2" charset="-122"/>
                <a:ea typeface="等线" panose="02010600030101010101" pitchFamily="2" charset="-122"/>
              </a:rPr>
              <a:t>传播可达信息给所有的域内路由器 </a:t>
            </a:r>
            <a:r>
              <a:rPr lang="en-US" altLang="zh-CN" kern="0" dirty="0">
                <a:latin typeface="等线" panose="02010600030101010101" pitchFamily="2" charset="-122"/>
                <a:ea typeface="等线" panose="02010600030101010101" pitchFamily="2" charset="-122"/>
              </a:rPr>
              <a:t>( </a:t>
            </a:r>
            <a:r>
              <a:rPr lang="en-US" altLang="zh-CN" kern="0" dirty="0" err="1">
                <a:latin typeface="等线" panose="02010600030101010101" pitchFamily="2" charset="-122"/>
                <a:ea typeface="等线" panose="02010600030101010101" pitchFamily="2" charset="-122"/>
              </a:rPr>
              <a:t>iBGP</a:t>
            </a:r>
            <a:r>
              <a:rPr lang="zh-CN" altLang="en-US" kern="0" dirty="0">
                <a:latin typeface="等线" panose="02010600030101010101" pitchFamily="2" charset="-122"/>
                <a:ea typeface="等线" panose="02010600030101010101" pitchFamily="2" charset="-122"/>
              </a:rPr>
              <a:t>协议</a:t>
            </a:r>
            <a:r>
              <a:rPr lang="en-US" altLang="zh-CN" kern="0" dirty="0">
                <a:latin typeface="等线" panose="02010600030101010101" pitchFamily="2" charset="-122"/>
                <a:ea typeface="等线" panose="02010600030101010101" pitchFamily="2" charset="-122"/>
              </a:rPr>
              <a:t> )</a:t>
            </a:r>
          </a:p>
          <a:p>
            <a:pPr lvl="1">
              <a:lnSpc>
                <a:spcPct val="120000"/>
              </a:lnSpc>
              <a:defRPr/>
            </a:pPr>
            <a:r>
              <a:rPr lang="zh-CN" altLang="en-US" kern="0" dirty="0">
                <a:latin typeface="等线" panose="02010600030101010101" pitchFamily="2" charset="-122"/>
                <a:ea typeface="等线" panose="02010600030101010101" pitchFamily="2" charset="-122"/>
              </a:rPr>
              <a:t>根据“可达信息”和“策略”决定路由</a:t>
            </a:r>
            <a:endParaRPr lang="en-US" altLang="zh-CN" kern="0" dirty="0">
              <a:latin typeface="等线" panose="02010600030101010101" pitchFamily="2" charset="-122"/>
              <a:ea typeface="等线" panose="02010600030101010101" pitchFamily="2" charset="-122"/>
            </a:endParaRPr>
          </a:p>
          <a:p>
            <a:pPr marL="0" indent="0">
              <a:buNone/>
            </a:pPr>
            <a:endParaRPr lang="zh-CN" altLang="en-US" dirty="0"/>
          </a:p>
        </p:txBody>
      </p:sp>
      <p:sp>
        <p:nvSpPr>
          <p:cNvPr id="4" name="灯片编号占位符 3"/>
          <p:cNvSpPr>
            <a:spLocks noGrp="1"/>
          </p:cNvSpPr>
          <p:nvPr>
            <p:ph type="sldNum" sz="quarter" idx="12"/>
          </p:nvPr>
        </p:nvSpPr>
        <p:spPr/>
        <p:txBody>
          <a:bodyPr/>
          <a:lstStyle/>
          <a:p>
            <a:fld id="{8D4D1E41-7A09-AB4A-A4E1-09765ADA2698}" type="slidenum">
              <a:rPr kumimoji="1" lang="zh-CN" altLang="en-US" smtClean="0"/>
              <a:t>96</a:t>
            </a:fld>
            <a:endParaRPr kumimoji="1" lang="zh-CN" altLang="en-US" dirty="0"/>
          </a:p>
        </p:txBody>
      </p:sp>
      <p:sp>
        <p:nvSpPr>
          <p:cNvPr id="6" name="日期占位符 5"/>
          <p:cNvSpPr>
            <a:spLocks noGrp="1"/>
          </p:cNvSpPr>
          <p:nvPr>
            <p:ph type="dt" sz="half" idx="10"/>
          </p:nvPr>
        </p:nvSpPr>
        <p:spPr>
          <a:xfrm>
            <a:off x="197334" y="6489303"/>
            <a:ext cx="2839779" cy="365125"/>
          </a:xfrm>
        </p:spPr>
        <p:txBody>
          <a:bodyPr/>
          <a:lstStyle/>
          <a:p>
            <a:r>
              <a:rPr kumimoji="1" lang="en-US" altLang="zh-CN" dirty="0">
                <a:latin typeface="DengXian" panose="02010600030101010101" pitchFamily="2" charset="-122"/>
                <a:ea typeface="DengXian" panose="02010600030101010101" pitchFamily="2" charset="-122"/>
              </a:rPr>
              <a:t>5.4.3 BGP-</a:t>
            </a:r>
            <a:r>
              <a:rPr kumimoji="1" lang="zh-CN" altLang="en-US" dirty="0">
                <a:latin typeface="DengXian" panose="02010600030101010101" pitchFamily="2" charset="-122"/>
                <a:ea typeface="DengXian" panose="02010600030101010101" pitchFamily="2" charset="-122"/>
              </a:rPr>
              <a:t>外部网关路由协议</a:t>
            </a:r>
          </a:p>
        </p:txBody>
      </p:sp>
    </p:spTree>
    <p:extLst>
      <p:ext uri="{BB962C8B-B14F-4D97-AF65-F5344CB8AC3E}">
        <p14:creationId xmlns:p14="http://schemas.microsoft.com/office/powerpoint/2010/main" val="36896542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lstStyle/>
          <a:p>
            <a:r>
              <a:rPr kumimoji="1" lang="zh-CN" altLang="en-US" dirty="0"/>
              <a:t>本章内容</a:t>
            </a:r>
          </a:p>
        </p:txBody>
      </p:sp>
      <p:sp>
        <p:nvSpPr>
          <p:cNvPr id="5" name="内容占位符 4">
            <a:extLst>
              <a:ext uri="{FF2B5EF4-FFF2-40B4-BE49-F238E27FC236}">
                <a16:creationId xmlns:a16="http://schemas.microsoft.com/office/drawing/2014/main" id="{EAE97F77-16B3-2043-B14E-0B774467C142}"/>
              </a:ext>
            </a:extLst>
          </p:cNvPr>
          <p:cNvSpPr>
            <a:spLocks noGrp="1"/>
          </p:cNvSpPr>
          <p:nvPr>
            <p:ph idx="1"/>
          </p:nvPr>
        </p:nvSpPr>
        <p:spPr>
          <a:xfrm>
            <a:off x="1307508" y="1510758"/>
            <a:ext cx="10046292" cy="5183956"/>
          </a:xfrm>
        </p:spPr>
        <p:txBody>
          <a:bodyPr>
            <a:normAutofit/>
          </a:bodyPr>
          <a:lstStyle/>
          <a:p>
            <a:pPr marL="0" indent="0">
              <a:lnSpc>
                <a:spcPct val="130000"/>
              </a:lnSpc>
              <a:buNone/>
            </a:pPr>
            <a:r>
              <a:rPr lang="en-US" altLang="zh-CN" dirty="0"/>
              <a:t>5.1 </a:t>
            </a:r>
            <a:r>
              <a:rPr lang="zh-CN" altLang="zh-CN" dirty="0">
                <a:sym typeface="+mn-ea"/>
              </a:rPr>
              <a:t>网络层服务</a:t>
            </a:r>
            <a:endParaRPr kumimoji="1" lang="zh-CN" altLang="en-US" dirty="0"/>
          </a:p>
          <a:p>
            <a:pPr marL="0" indent="0">
              <a:lnSpc>
                <a:spcPct val="130000"/>
              </a:lnSpc>
              <a:buNone/>
            </a:pPr>
            <a:r>
              <a:rPr kumimoji="1" lang="en-US" altLang="zh-CN" dirty="0">
                <a:sym typeface="+mn-ea"/>
              </a:rPr>
              <a:t>5.2</a:t>
            </a:r>
            <a:r>
              <a:rPr kumimoji="1" lang="zh-CN" altLang="en-US" dirty="0">
                <a:sym typeface="+mn-ea"/>
              </a:rPr>
              <a:t> </a:t>
            </a:r>
            <a:r>
              <a:rPr kumimoji="1" lang="en-US" altLang="zh-CN" dirty="0">
                <a:sym typeface="+mn-ea"/>
              </a:rPr>
              <a:t>Internet</a:t>
            </a:r>
            <a:r>
              <a:rPr kumimoji="1" lang="zh-CN" altLang="en-US" dirty="0">
                <a:sym typeface="+mn-ea"/>
              </a:rPr>
              <a:t>网际协议</a:t>
            </a:r>
            <a:endParaRPr kumimoji="1" lang="en-US" altLang="zh-CN" dirty="0"/>
          </a:p>
          <a:p>
            <a:pPr marL="0" indent="0">
              <a:lnSpc>
                <a:spcPct val="130000"/>
              </a:lnSpc>
              <a:buNone/>
            </a:pPr>
            <a:r>
              <a:rPr kumimoji="1" lang="en-US" altLang="zh-CN" dirty="0">
                <a:sym typeface="+mn-ea"/>
              </a:rPr>
              <a:t>5.3</a:t>
            </a:r>
            <a:r>
              <a:rPr kumimoji="1" lang="zh-CN" altLang="en-US" dirty="0">
                <a:sym typeface="+mn-ea"/>
              </a:rPr>
              <a:t> 路由算法</a:t>
            </a:r>
            <a:endParaRPr kumimoji="1" lang="en-US" altLang="zh-CN" dirty="0"/>
          </a:p>
          <a:p>
            <a:pPr marL="0" indent="0">
              <a:lnSpc>
                <a:spcPct val="130000"/>
              </a:lnSpc>
              <a:buNone/>
            </a:pPr>
            <a:r>
              <a:rPr kumimoji="1" lang="en-US" altLang="zh-CN" dirty="0">
                <a:sym typeface="+mn-ea"/>
              </a:rPr>
              <a:t>5.4</a:t>
            </a:r>
            <a:r>
              <a:rPr kumimoji="1" lang="zh-CN" altLang="en-US" dirty="0">
                <a:sym typeface="+mn-ea"/>
              </a:rPr>
              <a:t> </a:t>
            </a:r>
            <a:r>
              <a:rPr kumimoji="1" lang="en-US" altLang="zh-CN" dirty="0">
                <a:sym typeface="+mn-ea"/>
              </a:rPr>
              <a:t>Internet</a:t>
            </a:r>
            <a:r>
              <a:rPr kumimoji="1" lang="zh-CN" altLang="en-US" dirty="0">
                <a:sym typeface="+mn-ea"/>
              </a:rPr>
              <a:t>路由协议</a:t>
            </a:r>
            <a:endParaRPr kumimoji="1" lang="en-US" altLang="zh-CN" dirty="0"/>
          </a:p>
          <a:p>
            <a:pPr marL="0" indent="0">
              <a:lnSpc>
                <a:spcPct val="130000"/>
              </a:lnSpc>
              <a:buNone/>
            </a:pPr>
            <a:r>
              <a:rPr kumimoji="1" lang="en-US" altLang="zh-CN" dirty="0">
                <a:solidFill>
                  <a:srgbClr val="C00000"/>
                </a:solidFill>
                <a:sym typeface="+mn-ea"/>
              </a:rPr>
              <a:t>5.5</a:t>
            </a:r>
            <a:r>
              <a:rPr kumimoji="1" lang="zh-CN" altLang="en-US" dirty="0">
                <a:solidFill>
                  <a:srgbClr val="C00000"/>
                </a:solidFill>
                <a:sym typeface="+mn-ea"/>
              </a:rPr>
              <a:t> 路由器工作原理</a:t>
            </a:r>
            <a:endParaRPr kumimoji="1" lang="en-US" altLang="zh-CN" dirty="0">
              <a:solidFill>
                <a:srgbClr val="C00000"/>
              </a:solidFill>
            </a:endParaRPr>
          </a:p>
        </p:txBody>
      </p:sp>
      <p:sp>
        <p:nvSpPr>
          <p:cNvPr id="10" name="灯片编号占位符 9">
            <a:extLst>
              <a:ext uri="{FF2B5EF4-FFF2-40B4-BE49-F238E27FC236}">
                <a16:creationId xmlns:a16="http://schemas.microsoft.com/office/drawing/2014/main" id="{81955D56-458B-2941-A60C-A60B6824D7F3}"/>
              </a:ext>
            </a:extLst>
          </p:cNvPr>
          <p:cNvSpPr>
            <a:spLocks noGrp="1"/>
          </p:cNvSpPr>
          <p:nvPr>
            <p:ph type="sldNum" sz="quarter" idx="12"/>
          </p:nvPr>
        </p:nvSpPr>
        <p:spPr/>
        <p:txBody>
          <a:bodyPr/>
          <a:lstStyle/>
          <a:p>
            <a:fld id="{8D4D1E41-7A09-AB4A-A4E1-09765ADA2698}" type="slidenum">
              <a:rPr kumimoji="1" lang="zh-CN" altLang="en-US" smtClean="0"/>
              <a:t>97</a:t>
            </a:fld>
            <a:endParaRPr kumimoji="1" lang="zh-CN" altLang="en-US" dirty="0"/>
          </a:p>
        </p:txBody>
      </p:sp>
      <p:sp>
        <p:nvSpPr>
          <p:cNvPr id="6" name="矩形标注 5">
            <a:extLst>
              <a:ext uri="{FF2B5EF4-FFF2-40B4-BE49-F238E27FC236}">
                <a16:creationId xmlns:a16="http://schemas.microsoft.com/office/drawing/2014/main" id="{981187B3-3584-BA4E-A14C-4B26773516C6}"/>
              </a:ext>
            </a:extLst>
          </p:cNvPr>
          <p:cNvSpPr/>
          <p:nvPr/>
        </p:nvSpPr>
        <p:spPr>
          <a:xfrm>
            <a:off x="6004083" y="1908624"/>
            <a:ext cx="3061824" cy="2376670"/>
          </a:xfrm>
          <a:prstGeom prst="wedgeRectCallout">
            <a:avLst>
              <a:gd name="adj1" fmla="val -102432"/>
              <a:gd name="adj2" fmla="val 39042"/>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87375" indent="-438150">
              <a:lnSpc>
                <a:spcPct val="130000"/>
              </a:lnSpc>
              <a:spcBef>
                <a:spcPts val="600"/>
              </a:spcBef>
              <a:buFont typeface="+mj-lt"/>
              <a:buAutoNum type="arabicPeriod"/>
            </a:pPr>
            <a:r>
              <a:rPr kumimoji="1" lang="zh-CN" altLang="en-US" sz="2400" dirty="0">
                <a:solidFill>
                  <a:schemeClr val="tx1"/>
                </a:solidFill>
                <a:latin typeface="DengXian" panose="02010600030101010101" pitchFamily="2" charset="-122"/>
                <a:ea typeface="DengXian" panose="02010600030101010101" pitchFamily="2" charset="-122"/>
              </a:rPr>
              <a:t>路由器概述</a:t>
            </a:r>
            <a:endParaRPr kumimoji="1" lang="en-US" altLang="zh-CN" sz="2400" dirty="0">
              <a:solidFill>
                <a:schemeClr val="tx1"/>
              </a:solidFill>
              <a:latin typeface="DengXian" panose="02010600030101010101" pitchFamily="2" charset="-122"/>
              <a:ea typeface="DengXian" panose="02010600030101010101" pitchFamily="2"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DengXian" panose="02010600030101010101" pitchFamily="2" charset="-122"/>
                <a:ea typeface="DengXian" panose="02010600030101010101" pitchFamily="2" charset="-122"/>
              </a:rPr>
              <a:t>路由器控制层</a:t>
            </a:r>
            <a:endParaRPr kumimoji="1" lang="en-US" altLang="zh-CN" sz="2400" dirty="0">
              <a:solidFill>
                <a:schemeClr val="tx1"/>
              </a:solidFill>
              <a:latin typeface="DengXian" panose="02010600030101010101" pitchFamily="2" charset="-122"/>
              <a:ea typeface="DengXian" panose="02010600030101010101" pitchFamily="2" charset="-122"/>
            </a:endParaRPr>
          </a:p>
          <a:p>
            <a:pPr marL="587375" indent="-438150">
              <a:lnSpc>
                <a:spcPct val="130000"/>
              </a:lnSpc>
              <a:spcBef>
                <a:spcPts val="600"/>
              </a:spcBef>
              <a:buFont typeface="+mj-lt"/>
              <a:buAutoNum type="arabicPeriod"/>
            </a:pPr>
            <a:r>
              <a:rPr kumimoji="1" lang="zh-CN" altLang="en-US" sz="2400" dirty="0">
                <a:solidFill>
                  <a:schemeClr val="tx1"/>
                </a:solidFill>
                <a:latin typeface="DengXian" panose="02010600030101010101" pitchFamily="2" charset="-122"/>
                <a:ea typeface="DengXian" panose="02010600030101010101" pitchFamily="2" charset="-122"/>
              </a:rPr>
              <a:t>路由器数据层</a:t>
            </a:r>
            <a:endParaRPr kumimoji="1" lang="en-US" altLang="zh-CN" sz="2400" dirty="0">
              <a:solidFill>
                <a:schemeClr val="tx1"/>
              </a:solidFill>
              <a:latin typeface="DengXian" panose="02010600030101010101" pitchFamily="2" charset="-122"/>
              <a:ea typeface="DengXian" panose="02010600030101010101" pitchFamily="2" charset="-122"/>
            </a:endParaRPr>
          </a:p>
        </p:txBody>
      </p:sp>
    </p:spTree>
    <p:extLst>
      <p:ext uri="{BB962C8B-B14F-4D97-AF65-F5344CB8AC3E}">
        <p14:creationId xmlns:p14="http://schemas.microsoft.com/office/powerpoint/2010/main" val="2982506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normAutofit/>
          </a:bodyPr>
          <a:lstStyle/>
          <a:p>
            <a:r>
              <a:rPr kumimoji="1" lang="zh-CN" altLang="en-US" dirty="0"/>
              <a:t>路由器概述</a:t>
            </a:r>
          </a:p>
        </p:txBody>
      </p:sp>
      <p:sp>
        <p:nvSpPr>
          <p:cNvPr id="6" name="日期占位符 5"/>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5.6 </a:t>
            </a:r>
            <a:r>
              <a:rPr kumimoji="1" lang="zh-CN" altLang="en-US" dirty="0">
                <a:latin typeface="DengXian" panose="02010600030101010101" pitchFamily="2" charset="-122"/>
                <a:ea typeface="DengXian" panose="02010600030101010101" pitchFamily="2" charset="-122"/>
              </a:rPr>
              <a:t>路由器工作原理</a:t>
            </a:r>
          </a:p>
        </p:txBody>
      </p:sp>
      <p:grpSp>
        <p:nvGrpSpPr>
          <p:cNvPr id="337" name="Group 4"/>
          <p:cNvGrpSpPr>
            <a:grpSpLocks/>
          </p:cNvGrpSpPr>
          <p:nvPr/>
        </p:nvGrpSpPr>
        <p:grpSpPr bwMode="auto">
          <a:xfrm>
            <a:off x="1827369" y="2700606"/>
            <a:ext cx="8207375" cy="3846026"/>
            <a:chOff x="86" y="1270"/>
            <a:chExt cx="5394" cy="2289"/>
          </a:xfrm>
        </p:grpSpPr>
        <p:sp>
          <p:nvSpPr>
            <p:cNvPr id="338" name="Line 5"/>
            <p:cNvSpPr>
              <a:spLocks noChangeShapeType="1"/>
            </p:cNvSpPr>
            <p:nvPr/>
          </p:nvSpPr>
          <p:spPr bwMode="auto">
            <a:xfrm flipV="1">
              <a:off x="1920" y="1520"/>
              <a:ext cx="720" cy="121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39" name="Line 6"/>
            <p:cNvSpPr>
              <a:spLocks noChangeShapeType="1"/>
            </p:cNvSpPr>
            <p:nvPr/>
          </p:nvSpPr>
          <p:spPr bwMode="auto">
            <a:xfrm flipH="1" flipV="1">
              <a:off x="2640" y="1507"/>
              <a:ext cx="1104" cy="127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0" name="Line 7"/>
            <p:cNvSpPr>
              <a:spLocks noChangeShapeType="1"/>
            </p:cNvSpPr>
            <p:nvPr/>
          </p:nvSpPr>
          <p:spPr bwMode="auto">
            <a:xfrm flipH="1" flipV="1">
              <a:off x="2640" y="1503"/>
              <a:ext cx="1248" cy="41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1" name="Line 8"/>
            <p:cNvSpPr>
              <a:spLocks noChangeShapeType="1"/>
            </p:cNvSpPr>
            <p:nvPr/>
          </p:nvSpPr>
          <p:spPr bwMode="auto">
            <a:xfrm flipV="1">
              <a:off x="1776" y="1539"/>
              <a:ext cx="912" cy="28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2" name="Line 9"/>
            <p:cNvSpPr>
              <a:spLocks noChangeShapeType="1"/>
            </p:cNvSpPr>
            <p:nvPr/>
          </p:nvSpPr>
          <p:spPr bwMode="auto">
            <a:xfrm>
              <a:off x="1774" y="1915"/>
              <a:ext cx="154" cy="82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3" name="Line 10"/>
            <p:cNvSpPr>
              <a:spLocks noChangeShapeType="1"/>
            </p:cNvSpPr>
            <p:nvPr/>
          </p:nvSpPr>
          <p:spPr bwMode="auto">
            <a:xfrm>
              <a:off x="1872" y="2733"/>
              <a:ext cx="1920" cy="19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4" name="Line 11"/>
            <p:cNvSpPr>
              <a:spLocks noChangeShapeType="1"/>
            </p:cNvSpPr>
            <p:nvPr/>
          </p:nvSpPr>
          <p:spPr bwMode="auto">
            <a:xfrm flipV="1">
              <a:off x="3842" y="1840"/>
              <a:ext cx="41" cy="1065"/>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5" name="Line 12"/>
            <p:cNvSpPr>
              <a:spLocks noChangeShapeType="1"/>
            </p:cNvSpPr>
            <p:nvPr/>
          </p:nvSpPr>
          <p:spPr bwMode="auto">
            <a:xfrm>
              <a:off x="462" y="1620"/>
              <a:ext cx="1314" cy="20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6" name="Line 13"/>
            <p:cNvSpPr>
              <a:spLocks noChangeShapeType="1"/>
            </p:cNvSpPr>
            <p:nvPr/>
          </p:nvSpPr>
          <p:spPr bwMode="auto">
            <a:xfrm flipV="1">
              <a:off x="462" y="1824"/>
              <a:ext cx="1266" cy="59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7" name="Line 14"/>
            <p:cNvSpPr>
              <a:spLocks noChangeShapeType="1"/>
            </p:cNvSpPr>
            <p:nvPr/>
          </p:nvSpPr>
          <p:spPr bwMode="auto">
            <a:xfrm flipV="1">
              <a:off x="3840" y="1620"/>
              <a:ext cx="1127" cy="29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8" name="Line 15"/>
            <p:cNvSpPr>
              <a:spLocks noChangeShapeType="1"/>
            </p:cNvSpPr>
            <p:nvPr/>
          </p:nvSpPr>
          <p:spPr bwMode="auto">
            <a:xfrm>
              <a:off x="3840" y="1917"/>
              <a:ext cx="1279" cy="65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49" name="Line 16"/>
            <p:cNvSpPr>
              <a:spLocks noChangeShapeType="1"/>
            </p:cNvSpPr>
            <p:nvPr/>
          </p:nvSpPr>
          <p:spPr bwMode="auto">
            <a:xfrm flipV="1">
              <a:off x="576" y="2685"/>
              <a:ext cx="1344" cy="38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50" name="Line 17"/>
            <p:cNvSpPr>
              <a:spLocks noChangeShapeType="1"/>
            </p:cNvSpPr>
            <p:nvPr/>
          </p:nvSpPr>
          <p:spPr bwMode="auto">
            <a:xfrm>
              <a:off x="3840" y="2877"/>
              <a:ext cx="1030" cy="384"/>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nvGrpSpPr>
            <p:cNvPr id="351" name="Group 18"/>
            <p:cNvGrpSpPr>
              <a:grpSpLocks/>
            </p:cNvGrpSpPr>
            <p:nvPr/>
          </p:nvGrpSpPr>
          <p:grpSpPr bwMode="auto">
            <a:xfrm>
              <a:off x="288" y="1485"/>
              <a:ext cx="475" cy="442"/>
              <a:chOff x="192" y="1632"/>
              <a:chExt cx="475" cy="442"/>
            </a:xfrm>
          </p:grpSpPr>
          <p:sp>
            <p:nvSpPr>
              <p:cNvPr id="568" name="Rectangle 19"/>
              <p:cNvSpPr>
                <a:spLocks noChangeArrowheads="1"/>
              </p:cNvSpPr>
              <p:nvPr/>
            </p:nvSpPr>
            <p:spPr bwMode="auto">
              <a:xfrm>
                <a:off x="278" y="1654"/>
                <a:ext cx="288" cy="240"/>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569" name="Rectangle 20"/>
              <p:cNvSpPr>
                <a:spLocks noChangeArrowheads="1"/>
              </p:cNvSpPr>
              <p:nvPr/>
            </p:nvSpPr>
            <p:spPr bwMode="auto">
              <a:xfrm>
                <a:off x="220" y="1956"/>
                <a:ext cx="418" cy="96"/>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70" name="Group 21"/>
              <p:cNvGrpSpPr>
                <a:grpSpLocks/>
              </p:cNvGrpSpPr>
              <p:nvPr/>
            </p:nvGrpSpPr>
            <p:grpSpPr bwMode="auto">
              <a:xfrm>
                <a:off x="192" y="1632"/>
                <a:ext cx="475" cy="442"/>
                <a:chOff x="5285" y="1536"/>
                <a:chExt cx="475" cy="442"/>
              </a:xfrm>
            </p:grpSpPr>
            <p:sp>
              <p:nvSpPr>
                <p:cNvPr id="571" name="Rectangle 22"/>
                <p:cNvSpPr>
                  <a:spLocks noChangeArrowheads="1"/>
                </p:cNvSpPr>
                <p:nvPr/>
              </p:nvSpPr>
              <p:spPr bwMode="auto">
                <a:xfrm>
                  <a:off x="5424" y="1612"/>
                  <a:ext cx="192" cy="144"/>
                </a:xfrm>
                <a:prstGeom prst="rect">
                  <a:avLst/>
                </a:prstGeom>
                <a:solidFill>
                  <a:srgbClr val="3333CC"/>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72" name="Group 23"/>
                <p:cNvGrpSpPr>
                  <a:grpSpLocks/>
                </p:cNvGrpSpPr>
                <p:nvPr/>
              </p:nvGrpSpPr>
              <p:grpSpPr bwMode="auto">
                <a:xfrm>
                  <a:off x="5285" y="1536"/>
                  <a:ext cx="475" cy="442"/>
                  <a:chOff x="5285" y="1536"/>
                  <a:chExt cx="475" cy="442"/>
                </a:xfrm>
              </p:grpSpPr>
              <p:sp>
                <p:nvSpPr>
                  <p:cNvPr id="573" name="Freeform 24"/>
                  <p:cNvSpPr>
                    <a:spLocks/>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4" name="Freeform 25"/>
                  <p:cNvSpPr>
                    <a:spLocks/>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5" name="Freeform 26"/>
                  <p:cNvSpPr>
                    <a:spLocks/>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6" name="Freeform 27"/>
                  <p:cNvSpPr>
                    <a:spLocks/>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7" name="Freeform 28"/>
                  <p:cNvSpPr>
                    <a:spLocks/>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8" name="Freeform 29"/>
                  <p:cNvSpPr>
                    <a:spLocks/>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79" name="Freeform 30"/>
                  <p:cNvSpPr>
                    <a:spLocks/>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0" name="Freeform 31"/>
                  <p:cNvSpPr>
                    <a:spLocks/>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1" name="Freeform 32"/>
                  <p:cNvSpPr>
                    <a:spLocks/>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2" name="Freeform 33"/>
                  <p:cNvSpPr>
                    <a:spLocks/>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3" name="Freeform 34"/>
                  <p:cNvSpPr>
                    <a:spLocks/>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4" name="Freeform 35"/>
                  <p:cNvSpPr>
                    <a:spLocks/>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5" name="Freeform 36"/>
                  <p:cNvSpPr>
                    <a:spLocks/>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6" name="Freeform 37"/>
                  <p:cNvSpPr>
                    <a:spLocks/>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7" name="Freeform 38"/>
                  <p:cNvSpPr>
                    <a:spLocks/>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8" name="Freeform 39"/>
                  <p:cNvSpPr>
                    <a:spLocks/>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89" name="Freeform 40"/>
                  <p:cNvSpPr>
                    <a:spLocks/>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0" name="Freeform 41"/>
                  <p:cNvSpPr>
                    <a:spLocks/>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1" name="Freeform 42"/>
                  <p:cNvSpPr>
                    <a:spLocks/>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2" name="Freeform 43"/>
                  <p:cNvSpPr>
                    <a:spLocks/>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3" name="Freeform 44"/>
                  <p:cNvSpPr>
                    <a:spLocks/>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4" name="Freeform 45"/>
                  <p:cNvSpPr>
                    <a:spLocks/>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5" name="Freeform 46"/>
                  <p:cNvSpPr>
                    <a:spLocks/>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6" name="Freeform 47"/>
                  <p:cNvSpPr>
                    <a:spLocks/>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7" name="Freeform 48"/>
                  <p:cNvSpPr>
                    <a:spLocks/>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8" name="Freeform 49"/>
                  <p:cNvSpPr>
                    <a:spLocks/>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99" name="Freeform 50"/>
                  <p:cNvSpPr>
                    <a:spLocks/>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600" name="Freeform 51"/>
                  <p:cNvSpPr>
                    <a:spLocks/>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601" name="Freeform 52"/>
                  <p:cNvSpPr>
                    <a:spLocks/>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602" name="Freeform 53"/>
                  <p:cNvSpPr>
                    <a:spLocks/>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52" name="Group 54"/>
            <p:cNvGrpSpPr>
              <a:grpSpLocks/>
            </p:cNvGrpSpPr>
            <p:nvPr/>
          </p:nvGrpSpPr>
          <p:grpSpPr bwMode="auto">
            <a:xfrm>
              <a:off x="1701" y="2493"/>
              <a:ext cx="363" cy="369"/>
              <a:chOff x="1884" y="1812"/>
              <a:chExt cx="363" cy="369"/>
            </a:xfrm>
          </p:grpSpPr>
          <p:sp>
            <p:nvSpPr>
              <p:cNvPr id="564" name="AutoShape 55"/>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65" name="Group 56"/>
              <p:cNvGrpSpPr>
                <a:grpSpLocks/>
              </p:cNvGrpSpPr>
              <p:nvPr/>
            </p:nvGrpSpPr>
            <p:grpSpPr bwMode="auto">
              <a:xfrm>
                <a:off x="1932" y="1863"/>
                <a:ext cx="279" cy="81"/>
                <a:chOff x="1470" y="1821"/>
                <a:chExt cx="279" cy="93"/>
              </a:xfrm>
            </p:grpSpPr>
            <p:sp>
              <p:nvSpPr>
                <p:cNvPr id="566" name="Freeform 57"/>
                <p:cNvSpPr>
                  <a:spLocks/>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67" name="Freeform 58"/>
                <p:cNvSpPr>
                  <a:spLocks/>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nvGrpSpPr>
            <p:cNvPr id="353" name="Group 59"/>
            <p:cNvGrpSpPr>
              <a:grpSpLocks/>
            </p:cNvGrpSpPr>
            <p:nvPr/>
          </p:nvGrpSpPr>
          <p:grpSpPr bwMode="auto">
            <a:xfrm>
              <a:off x="1584" y="1584"/>
              <a:ext cx="363" cy="369"/>
              <a:chOff x="1884" y="1812"/>
              <a:chExt cx="363" cy="369"/>
            </a:xfrm>
          </p:grpSpPr>
          <p:sp>
            <p:nvSpPr>
              <p:cNvPr id="560" name="AutoShape 60"/>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61" name="Group 61"/>
              <p:cNvGrpSpPr>
                <a:grpSpLocks/>
              </p:cNvGrpSpPr>
              <p:nvPr/>
            </p:nvGrpSpPr>
            <p:grpSpPr bwMode="auto">
              <a:xfrm>
                <a:off x="1932" y="1863"/>
                <a:ext cx="279" cy="81"/>
                <a:chOff x="1470" y="1821"/>
                <a:chExt cx="279" cy="93"/>
              </a:xfrm>
            </p:grpSpPr>
            <p:sp>
              <p:nvSpPr>
                <p:cNvPr id="562" name="Freeform 62"/>
                <p:cNvSpPr>
                  <a:spLocks/>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63" name="Freeform 63"/>
                <p:cNvSpPr>
                  <a:spLocks/>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nvGrpSpPr>
            <p:cNvPr id="354" name="Group 64"/>
            <p:cNvGrpSpPr>
              <a:grpSpLocks/>
            </p:cNvGrpSpPr>
            <p:nvPr/>
          </p:nvGrpSpPr>
          <p:grpSpPr bwMode="auto">
            <a:xfrm>
              <a:off x="3648" y="1725"/>
              <a:ext cx="363" cy="369"/>
              <a:chOff x="1884" y="1812"/>
              <a:chExt cx="363" cy="369"/>
            </a:xfrm>
          </p:grpSpPr>
          <p:sp>
            <p:nvSpPr>
              <p:cNvPr id="556" name="AutoShape 65"/>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57" name="Group 66"/>
              <p:cNvGrpSpPr>
                <a:grpSpLocks/>
              </p:cNvGrpSpPr>
              <p:nvPr/>
            </p:nvGrpSpPr>
            <p:grpSpPr bwMode="auto">
              <a:xfrm>
                <a:off x="1932" y="1863"/>
                <a:ext cx="279" cy="81"/>
                <a:chOff x="1470" y="1821"/>
                <a:chExt cx="279" cy="93"/>
              </a:xfrm>
            </p:grpSpPr>
            <p:sp>
              <p:nvSpPr>
                <p:cNvPr id="558" name="Freeform 67"/>
                <p:cNvSpPr>
                  <a:spLocks/>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59" name="Freeform 68"/>
                <p:cNvSpPr>
                  <a:spLocks/>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nvGrpSpPr>
            <p:cNvPr id="355" name="Group 69"/>
            <p:cNvGrpSpPr>
              <a:grpSpLocks/>
            </p:cNvGrpSpPr>
            <p:nvPr/>
          </p:nvGrpSpPr>
          <p:grpSpPr bwMode="auto">
            <a:xfrm>
              <a:off x="3648" y="2733"/>
              <a:ext cx="363" cy="369"/>
              <a:chOff x="1884" y="1812"/>
              <a:chExt cx="363" cy="369"/>
            </a:xfrm>
          </p:grpSpPr>
          <p:sp>
            <p:nvSpPr>
              <p:cNvPr id="552" name="AutoShape 70"/>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53" name="Group 71"/>
              <p:cNvGrpSpPr>
                <a:grpSpLocks/>
              </p:cNvGrpSpPr>
              <p:nvPr/>
            </p:nvGrpSpPr>
            <p:grpSpPr bwMode="auto">
              <a:xfrm>
                <a:off x="1932" y="1863"/>
                <a:ext cx="279" cy="81"/>
                <a:chOff x="1470" y="1821"/>
                <a:chExt cx="279" cy="93"/>
              </a:xfrm>
            </p:grpSpPr>
            <p:sp>
              <p:nvSpPr>
                <p:cNvPr id="554" name="Freeform 72"/>
                <p:cNvSpPr>
                  <a:spLocks/>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55" name="Freeform 73"/>
                <p:cNvSpPr>
                  <a:spLocks/>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nvGrpSpPr>
            <p:cNvPr id="356" name="Group 74"/>
            <p:cNvGrpSpPr>
              <a:grpSpLocks/>
            </p:cNvGrpSpPr>
            <p:nvPr/>
          </p:nvGrpSpPr>
          <p:grpSpPr bwMode="auto">
            <a:xfrm>
              <a:off x="287" y="2253"/>
              <a:ext cx="475" cy="442"/>
              <a:chOff x="287" y="2253"/>
              <a:chExt cx="475" cy="442"/>
            </a:xfrm>
          </p:grpSpPr>
          <p:sp>
            <p:nvSpPr>
              <p:cNvPr id="517" name="Rectangle 75"/>
              <p:cNvSpPr>
                <a:spLocks noChangeArrowheads="1"/>
              </p:cNvSpPr>
              <p:nvPr/>
            </p:nvSpPr>
            <p:spPr bwMode="auto">
              <a:xfrm>
                <a:off x="373" y="2275"/>
                <a:ext cx="288" cy="240"/>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518" name="Rectangle 76"/>
              <p:cNvSpPr>
                <a:spLocks noChangeArrowheads="1"/>
              </p:cNvSpPr>
              <p:nvPr/>
            </p:nvSpPr>
            <p:spPr bwMode="auto">
              <a:xfrm>
                <a:off x="315" y="2577"/>
                <a:ext cx="418" cy="96"/>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19" name="Group 77"/>
              <p:cNvGrpSpPr>
                <a:grpSpLocks/>
              </p:cNvGrpSpPr>
              <p:nvPr/>
            </p:nvGrpSpPr>
            <p:grpSpPr bwMode="auto">
              <a:xfrm>
                <a:off x="287" y="2253"/>
                <a:ext cx="475" cy="442"/>
                <a:chOff x="287" y="2253"/>
                <a:chExt cx="475" cy="442"/>
              </a:xfrm>
            </p:grpSpPr>
            <p:sp>
              <p:nvSpPr>
                <p:cNvPr id="520" name="Rectangle 78"/>
                <p:cNvSpPr>
                  <a:spLocks noChangeArrowheads="1"/>
                </p:cNvSpPr>
                <p:nvPr/>
              </p:nvSpPr>
              <p:spPr bwMode="auto">
                <a:xfrm>
                  <a:off x="426" y="2329"/>
                  <a:ext cx="192" cy="144"/>
                </a:xfrm>
                <a:prstGeom prst="rect">
                  <a:avLst/>
                </a:prstGeom>
                <a:solidFill>
                  <a:srgbClr val="FF0000"/>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521" name="Group 79"/>
                <p:cNvGrpSpPr>
                  <a:grpSpLocks/>
                </p:cNvGrpSpPr>
                <p:nvPr/>
              </p:nvGrpSpPr>
              <p:grpSpPr bwMode="auto">
                <a:xfrm>
                  <a:off x="287" y="2253"/>
                  <a:ext cx="475" cy="442"/>
                  <a:chOff x="5285" y="1536"/>
                  <a:chExt cx="475" cy="442"/>
                </a:xfrm>
              </p:grpSpPr>
              <p:sp>
                <p:nvSpPr>
                  <p:cNvPr id="522" name="Freeform 80"/>
                  <p:cNvSpPr>
                    <a:spLocks/>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3" name="Freeform 81"/>
                  <p:cNvSpPr>
                    <a:spLocks/>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4" name="Freeform 82"/>
                  <p:cNvSpPr>
                    <a:spLocks/>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5" name="Freeform 83"/>
                  <p:cNvSpPr>
                    <a:spLocks/>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6" name="Freeform 84"/>
                  <p:cNvSpPr>
                    <a:spLocks/>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7" name="Freeform 85"/>
                  <p:cNvSpPr>
                    <a:spLocks/>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8" name="Freeform 86"/>
                  <p:cNvSpPr>
                    <a:spLocks/>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29" name="Freeform 87"/>
                  <p:cNvSpPr>
                    <a:spLocks/>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0" name="Freeform 88"/>
                  <p:cNvSpPr>
                    <a:spLocks/>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1" name="Freeform 89"/>
                  <p:cNvSpPr>
                    <a:spLocks/>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2" name="Freeform 90"/>
                  <p:cNvSpPr>
                    <a:spLocks/>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3" name="Freeform 91"/>
                  <p:cNvSpPr>
                    <a:spLocks/>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4" name="Freeform 92"/>
                  <p:cNvSpPr>
                    <a:spLocks/>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5" name="Freeform 93"/>
                  <p:cNvSpPr>
                    <a:spLocks/>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6" name="Freeform 94"/>
                  <p:cNvSpPr>
                    <a:spLocks/>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7" name="Freeform 95"/>
                  <p:cNvSpPr>
                    <a:spLocks/>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8" name="Freeform 96"/>
                  <p:cNvSpPr>
                    <a:spLocks/>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39" name="Freeform 97"/>
                  <p:cNvSpPr>
                    <a:spLocks/>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0" name="Freeform 98"/>
                  <p:cNvSpPr>
                    <a:spLocks/>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1" name="Freeform 99"/>
                  <p:cNvSpPr>
                    <a:spLocks/>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2" name="Freeform 100"/>
                  <p:cNvSpPr>
                    <a:spLocks/>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3" name="Freeform 101"/>
                  <p:cNvSpPr>
                    <a:spLocks/>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4" name="Freeform 102"/>
                  <p:cNvSpPr>
                    <a:spLocks/>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5" name="Freeform 103"/>
                  <p:cNvSpPr>
                    <a:spLocks/>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6" name="Freeform 104"/>
                  <p:cNvSpPr>
                    <a:spLocks/>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7" name="Freeform 105"/>
                  <p:cNvSpPr>
                    <a:spLocks/>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8" name="Freeform 106"/>
                  <p:cNvSpPr>
                    <a:spLocks/>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49" name="Freeform 107"/>
                  <p:cNvSpPr>
                    <a:spLocks/>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50" name="Freeform 108"/>
                  <p:cNvSpPr>
                    <a:spLocks/>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51" name="Freeform 109"/>
                  <p:cNvSpPr>
                    <a:spLocks/>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57" name="Group 110"/>
            <p:cNvGrpSpPr>
              <a:grpSpLocks/>
            </p:cNvGrpSpPr>
            <p:nvPr/>
          </p:nvGrpSpPr>
          <p:grpSpPr bwMode="auto">
            <a:xfrm>
              <a:off x="4656" y="3117"/>
              <a:ext cx="475" cy="442"/>
              <a:chOff x="4656" y="3117"/>
              <a:chExt cx="475" cy="442"/>
            </a:xfrm>
          </p:grpSpPr>
          <p:sp>
            <p:nvSpPr>
              <p:cNvPr id="482" name="Rectangle 111"/>
              <p:cNvSpPr>
                <a:spLocks noChangeArrowheads="1"/>
              </p:cNvSpPr>
              <p:nvPr/>
            </p:nvSpPr>
            <p:spPr bwMode="auto">
              <a:xfrm>
                <a:off x="4742" y="3139"/>
                <a:ext cx="288" cy="240"/>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483" name="Rectangle 112"/>
              <p:cNvSpPr>
                <a:spLocks noChangeArrowheads="1"/>
              </p:cNvSpPr>
              <p:nvPr/>
            </p:nvSpPr>
            <p:spPr bwMode="auto">
              <a:xfrm>
                <a:off x="4684" y="3441"/>
                <a:ext cx="418" cy="96"/>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84" name="Group 113"/>
              <p:cNvGrpSpPr>
                <a:grpSpLocks/>
              </p:cNvGrpSpPr>
              <p:nvPr/>
            </p:nvGrpSpPr>
            <p:grpSpPr bwMode="auto">
              <a:xfrm>
                <a:off x="4656" y="3117"/>
                <a:ext cx="475" cy="442"/>
                <a:chOff x="4656" y="3117"/>
                <a:chExt cx="475" cy="442"/>
              </a:xfrm>
            </p:grpSpPr>
            <p:sp>
              <p:nvSpPr>
                <p:cNvPr id="485" name="Rectangle 114"/>
                <p:cNvSpPr>
                  <a:spLocks noChangeArrowheads="1"/>
                </p:cNvSpPr>
                <p:nvPr/>
              </p:nvSpPr>
              <p:spPr bwMode="auto">
                <a:xfrm>
                  <a:off x="4795" y="3193"/>
                  <a:ext cx="192" cy="144"/>
                </a:xfrm>
                <a:prstGeom prst="rect">
                  <a:avLst/>
                </a:prstGeom>
                <a:solidFill>
                  <a:srgbClr val="FF0000"/>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86" name="Group 115"/>
                <p:cNvGrpSpPr>
                  <a:grpSpLocks/>
                </p:cNvGrpSpPr>
                <p:nvPr/>
              </p:nvGrpSpPr>
              <p:grpSpPr bwMode="auto">
                <a:xfrm>
                  <a:off x="4656" y="3117"/>
                  <a:ext cx="475" cy="442"/>
                  <a:chOff x="5285" y="1536"/>
                  <a:chExt cx="475" cy="442"/>
                </a:xfrm>
              </p:grpSpPr>
              <p:sp>
                <p:nvSpPr>
                  <p:cNvPr id="487" name="Freeform 116"/>
                  <p:cNvSpPr>
                    <a:spLocks/>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88" name="Freeform 117"/>
                  <p:cNvSpPr>
                    <a:spLocks/>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89" name="Freeform 118"/>
                  <p:cNvSpPr>
                    <a:spLocks/>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0" name="Freeform 119"/>
                  <p:cNvSpPr>
                    <a:spLocks/>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1" name="Freeform 120"/>
                  <p:cNvSpPr>
                    <a:spLocks/>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2" name="Freeform 121"/>
                  <p:cNvSpPr>
                    <a:spLocks/>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3" name="Freeform 122"/>
                  <p:cNvSpPr>
                    <a:spLocks/>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4" name="Freeform 123"/>
                  <p:cNvSpPr>
                    <a:spLocks/>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5" name="Freeform 124"/>
                  <p:cNvSpPr>
                    <a:spLocks/>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6" name="Freeform 125"/>
                  <p:cNvSpPr>
                    <a:spLocks/>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7" name="Freeform 126"/>
                  <p:cNvSpPr>
                    <a:spLocks/>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8" name="Freeform 127"/>
                  <p:cNvSpPr>
                    <a:spLocks/>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99" name="Freeform 128"/>
                  <p:cNvSpPr>
                    <a:spLocks/>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0" name="Freeform 129"/>
                  <p:cNvSpPr>
                    <a:spLocks/>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1" name="Freeform 130"/>
                  <p:cNvSpPr>
                    <a:spLocks/>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2" name="Freeform 131"/>
                  <p:cNvSpPr>
                    <a:spLocks/>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3" name="Freeform 132"/>
                  <p:cNvSpPr>
                    <a:spLocks/>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4" name="Freeform 133"/>
                  <p:cNvSpPr>
                    <a:spLocks/>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5" name="Freeform 134"/>
                  <p:cNvSpPr>
                    <a:spLocks/>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6" name="Freeform 135"/>
                  <p:cNvSpPr>
                    <a:spLocks/>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7" name="Freeform 136"/>
                  <p:cNvSpPr>
                    <a:spLocks/>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8" name="Freeform 137"/>
                  <p:cNvSpPr>
                    <a:spLocks/>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09" name="Freeform 138"/>
                  <p:cNvSpPr>
                    <a:spLocks/>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0" name="Freeform 139"/>
                  <p:cNvSpPr>
                    <a:spLocks/>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1" name="Freeform 140"/>
                  <p:cNvSpPr>
                    <a:spLocks/>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2" name="Freeform 141"/>
                  <p:cNvSpPr>
                    <a:spLocks/>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3" name="Freeform 142"/>
                  <p:cNvSpPr>
                    <a:spLocks/>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4" name="Freeform 143"/>
                  <p:cNvSpPr>
                    <a:spLocks/>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5" name="Freeform 144"/>
                  <p:cNvSpPr>
                    <a:spLocks/>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516" name="Freeform 145"/>
                  <p:cNvSpPr>
                    <a:spLocks/>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58" name="Group 146"/>
            <p:cNvGrpSpPr>
              <a:grpSpLocks/>
            </p:cNvGrpSpPr>
            <p:nvPr/>
          </p:nvGrpSpPr>
          <p:grpSpPr bwMode="auto">
            <a:xfrm>
              <a:off x="4752" y="2301"/>
              <a:ext cx="475" cy="442"/>
              <a:chOff x="192" y="1632"/>
              <a:chExt cx="475" cy="442"/>
            </a:xfrm>
          </p:grpSpPr>
          <p:sp>
            <p:nvSpPr>
              <p:cNvPr id="447" name="Rectangle 147"/>
              <p:cNvSpPr>
                <a:spLocks noChangeArrowheads="1"/>
              </p:cNvSpPr>
              <p:nvPr/>
            </p:nvSpPr>
            <p:spPr bwMode="auto">
              <a:xfrm>
                <a:off x="278" y="1654"/>
                <a:ext cx="288" cy="240"/>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448" name="Rectangle 148"/>
              <p:cNvSpPr>
                <a:spLocks noChangeArrowheads="1"/>
              </p:cNvSpPr>
              <p:nvPr/>
            </p:nvSpPr>
            <p:spPr bwMode="auto">
              <a:xfrm>
                <a:off x="220" y="1956"/>
                <a:ext cx="418" cy="96"/>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49" name="Group 149"/>
              <p:cNvGrpSpPr>
                <a:grpSpLocks/>
              </p:cNvGrpSpPr>
              <p:nvPr/>
            </p:nvGrpSpPr>
            <p:grpSpPr bwMode="auto">
              <a:xfrm>
                <a:off x="192" y="1632"/>
                <a:ext cx="475" cy="442"/>
                <a:chOff x="5285" y="1536"/>
                <a:chExt cx="475" cy="442"/>
              </a:xfrm>
            </p:grpSpPr>
            <p:sp>
              <p:nvSpPr>
                <p:cNvPr id="450" name="Rectangle 150"/>
                <p:cNvSpPr>
                  <a:spLocks noChangeArrowheads="1"/>
                </p:cNvSpPr>
                <p:nvPr/>
              </p:nvSpPr>
              <p:spPr bwMode="auto">
                <a:xfrm>
                  <a:off x="5424" y="1612"/>
                  <a:ext cx="192" cy="144"/>
                </a:xfrm>
                <a:prstGeom prst="rect">
                  <a:avLst/>
                </a:prstGeom>
                <a:solidFill>
                  <a:srgbClr val="3333CC"/>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51" name="Group 151"/>
                <p:cNvGrpSpPr>
                  <a:grpSpLocks/>
                </p:cNvGrpSpPr>
                <p:nvPr/>
              </p:nvGrpSpPr>
              <p:grpSpPr bwMode="auto">
                <a:xfrm>
                  <a:off x="5285" y="1536"/>
                  <a:ext cx="475" cy="442"/>
                  <a:chOff x="5285" y="1536"/>
                  <a:chExt cx="475" cy="442"/>
                </a:xfrm>
              </p:grpSpPr>
              <p:sp>
                <p:nvSpPr>
                  <p:cNvPr id="452" name="Freeform 152"/>
                  <p:cNvSpPr>
                    <a:spLocks/>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3" name="Freeform 153"/>
                  <p:cNvSpPr>
                    <a:spLocks/>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4" name="Freeform 154"/>
                  <p:cNvSpPr>
                    <a:spLocks/>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5" name="Freeform 155"/>
                  <p:cNvSpPr>
                    <a:spLocks/>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6" name="Freeform 156"/>
                  <p:cNvSpPr>
                    <a:spLocks/>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7" name="Freeform 157"/>
                  <p:cNvSpPr>
                    <a:spLocks/>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8" name="Freeform 158"/>
                  <p:cNvSpPr>
                    <a:spLocks/>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59" name="Freeform 159"/>
                  <p:cNvSpPr>
                    <a:spLocks/>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0" name="Freeform 160"/>
                  <p:cNvSpPr>
                    <a:spLocks/>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1" name="Freeform 161"/>
                  <p:cNvSpPr>
                    <a:spLocks/>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2" name="Freeform 162"/>
                  <p:cNvSpPr>
                    <a:spLocks/>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3" name="Freeform 163"/>
                  <p:cNvSpPr>
                    <a:spLocks/>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4" name="Freeform 164"/>
                  <p:cNvSpPr>
                    <a:spLocks/>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5" name="Freeform 165"/>
                  <p:cNvSpPr>
                    <a:spLocks/>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6" name="Freeform 166"/>
                  <p:cNvSpPr>
                    <a:spLocks/>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7" name="Freeform 167"/>
                  <p:cNvSpPr>
                    <a:spLocks/>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8" name="Freeform 168"/>
                  <p:cNvSpPr>
                    <a:spLocks/>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69" name="Freeform 169"/>
                  <p:cNvSpPr>
                    <a:spLocks/>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0" name="Freeform 170"/>
                  <p:cNvSpPr>
                    <a:spLocks/>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1" name="Freeform 171"/>
                  <p:cNvSpPr>
                    <a:spLocks/>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2" name="Freeform 172"/>
                  <p:cNvSpPr>
                    <a:spLocks/>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3" name="Freeform 173"/>
                  <p:cNvSpPr>
                    <a:spLocks/>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4" name="Freeform 174"/>
                  <p:cNvSpPr>
                    <a:spLocks/>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5" name="Freeform 175"/>
                  <p:cNvSpPr>
                    <a:spLocks/>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6" name="Freeform 176"/>
                  <p:cNvSpPr>
                    <a:spLocks/>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7" name="Freeform 177"/>
                  <p:cNvSpPr>
                    <a:spLocks/>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8" name="Freeform 178"/>
                  <p:cNvSpPr>
                    <a:spLocks/>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79" name="Freeform 179"/>
                  <p:cNvSpPr>
                    <a:spLocks/>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80" name="Freeform 180"/>
                  <p:cNvSpPr>
                    <a:spLocks/>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81" name="Freeform 181"/>
                  <p:cNvSpPr>
                    <a:spLocks/>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59" name="Group 182"/>
            <p:cNvGrpSpPr>
              <a:grpSpLocks/>
            </p:cNvGrpSpPr>
            <p:nvPr/>
          </p:nvGrpSpPr>
          <p:grpSpPr bwMode="auto">
            <a:xfrm>
              <a:off x="4752" y="1437"/>
              <a:ext cx="475" cy="442"/>
              <a:chOff x="4752" y="1437"/>
              <a:chExt cx="475" cy="442"/>
            </a:xfrm>
          </p:grpSpPr>
          <p:sp>
            <p:nvSpPr>
              <p:cNvPr id="412" name="Rectangle 183"/>
              <p:cNvSpPr>
                <a:spLocks noChangeArrowheads="1"/>
              </p:cNvSpPr>
              <p:nvPr/>
            </p:nvSpPr>
            <p:spPr bwMode="auto">
              <a:xfrm>
                <a:off x="4838" y="1459"/>
                <a:ext cx="288" cy="240"/>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413" name="Rectangle 184"/>
              <p:cNvSpPr>
                <a:spLocks noChangeArrowheads="1"/>
              </p:cNvSpPr>
              <p:nvPr/>
            </p:nvSpPr>
            <p:spPr bwMode="auto">
              <a:xfrm>
                <a:off x="4780" y="1761"/>
                <a:ext cx="418" cy="96"/>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14" name="Group 185"/>
              <p:cNvGrpSpPr>
                <a:grpSpLocks/>
              </p:cNvGrpSpPr>
              <p:nvPr/>
            </p:nvGrpSpPr>
            <p:grpSpPr bwMode="auto">
              <a:xfrm>
                <a:off x="4752" y="1437"/>
                <a:ext cx="475" cy="442"/>
                <a:chOff x="4752" y="1437"/>
                <a:chExt cx="475" cy="442"/>
              </a:xfrm>
            </p:grpSpPr>
            <p:sp>
              <p:nvSpPr>
                <p:cNvPr id="415" name="Rectangle 186"/>
                <p:cNvSpPr>
                  <a:spLocks noChangeArrowheads="1"/>
                </p:cNvSpPr>
                <p:nvPr/>
              </p:nvSpPr>
              <p:spPr bwMode="auto">
                <a:xfrm>
                  <a:off x="4891" y="1513"/>
                  <a:ext cx="192" cy="144"/>
                </a:xfrm>
                <a:prstGeom prst="rect">
                  <a:avLst/>
                </a:prstGeom>
                <a:solidFill>
                  <a:srgbClr val="00CC99"/>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416" name="Group 187"/>
                <p:cNvGrpSpPr>
                  <a:grpSpLocks/>
                </p:cNvGrpSpPr>
                <p:nvPr/>
              </p:nvGrpSpPr>
              <p:grpSpPr bwMode="auto">
                <a:xfrm>
                  <a:off x="4752" y="1437"/>
                  <a:ext cx="475" cy="442"/>
                  <a:chOff x="5285" y="1536"/>
                  <a:chExt cx="475" cy="442"/>
                </a:xfrm>
              </p:grpSpPr>
              <p:sp>
                <p:nvSpPr>
                  <p:cNvPr id="417" name="Freeform 188"/>
                  <p:cNvSpPr>
                    <a:spLocks/>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18" name="Freeform 189"/>
                  <p:cNvSpPr>
                    <a:spLocks/>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19" name="Freeform 190"/>
                  <p:cNvSpPr>
                    <a:spLocks/>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0" name="Freeform 191"/>
                  <p:cNvSpPr>
                    <a:spLocks/>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1" name="Freeform 192"/>
                  <p:cNvSpPr>
                    <a:spLocks/>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2" name="Freeform 193"/>
                  <p:cNvSpPr>
                    <a:spLocks/>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3" name="Freeform 194"/>
                  <p:cNvSpPr>
                    <a:spLocks/>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4" name="Freeform 195"/>
                  <p:cNvSpPr>
                    <a:spLocks/>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5" name="Freeform 196"/>
                  <p:cNvSpPr>
                    <a:spLocks/>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6" name="Freeform 197"/>
                  <p:cNvSpPr>
                    <a:spLocks/>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7" name="Freeform 198"/>
                  <p:cNvSpPr>
                    <a:spLocks/>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8" name="Freeform 199"/>
                  <p:cNvSpPr>
                    <a:spLocks/>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29" name="Freeform 200"/>
                  <p:cNvSpPr>
                    <a:spLocks/>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0" name="Freeform 201"/>
                  <p:cNvSpPr>
                    <a:spLocks/>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1" name="Freeform 202"/>
                  <p:cNvSpPr>
                    <a:spLocks/>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2" name="Freeform 203"/>
                  <p:cNvSpPr>
                    <a:spLocks/>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3" name="Freeform 204"/>
                  <p:cNvSpPr>
                    <a:spLocks/>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4" name="Freeform 205"/>
                  <p:cNvSpPr>
                    <a:spLocks/>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5" name="Freeform 206"/>
                  <p:cNvSpPr>
                    <a:spLocks/>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6" name="Freeform 207"/>
                  <p:cNvSpPr>
                    <a:spLocks/>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7" name="Freeform 208"/>
                  <p:cNvSpPr>
                    <a:spLocks/>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8" name="Freeform 209"/>
                  <p:cNvSpPr>
                    <a:spLocks/>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39" name="Freeform 210"/>
                  <p:cNvSpPr>
                    <a:spLocks/>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0" name="Freeform 211"/>
                  <p:cNvSpPr>
                    <a:spLocks/>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1" name="Freeform 212"/>
                  <p:cNvSpPr>
                    <a:spLocks/>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2" name="Freeform 213"/>
                  <p:cNvSpPr>
                    <a:spLocks/>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3" name="Freeform 214"/>
                  <p:cNvSpPr>
                    <a:spLocks/>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4" name="Freeform 215"/>
                  <p:cNvSpPr>
                    <a:spLocks/>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5" name="Freeform 216"/>
                  <p:cNvSpPr>
                    <a:spLocks/>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46" name="Freeform 217"/>
                  <p:cNvSpPr>
                    <a:spLocks/>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60" name="Group 218"/>
            <p:cNvGrpSpPr>
              <a:grpSpLocks/>
            </p:cNvGrpSpPr>
            <p:nvPr/>
          </p:nvGrpSpPr>
          <p:grpSpPr bwMode="auto">
            <a:xfrm>
              <a:off x="288" y="2925"/>
              <a:ext cx="475" cy="442"/>
              <a:chOff x="288" y="2925"/>
              <a:chExt cx="475" cy="442"/>
            </a:xfrm>
          </p:grpSpPr>
          <p:sp>
            <p:nvSpPr>
              <p:cNvPr id="377" name="Rectangle 219"/>
              <p:cNvSpPr>
                <a:spLocks noChangeArrowheads="1"/>
              </p:cNvSpPr>
              <p:nvPr/>
            </p:nvSpPr>
            <p:spPr bwMode="auto">
              <a:xfrm>
                <a:off x="374" y="2947"/>
                <a:ext cx="288" cy="240"/>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78" name="Rectangle 220"/>
              <p:cNvSpPr>
                <a:spLocks noChangeArrowheads="1"/>
              </p:cNvSpPr>
              <p:nvPr/>
            </p:nvSpPr>
            <p:spPr bwMode="auto">
              <a:xfrm>
                <a:off x="316" y="3249"/>
                <a:ext cx="418" cy="96"/>
              </a:xfrm>
              <a:prstGeom prst="rect">
                <a:avLst/>
              </a:prstGeom>
              <a:solidFill>
                <a:srgbClr val="B2B2B2"/>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379" name="Group 221"/>
              <p:cNvGrpSpPr>
                <a:grpSpLocks/>
              </p:cNvGrpSpPr>
              <p:nvPr/>
            </p:nvGrpSpPr>
            <p:grpSpPr bwMode="auto">
              <a:xfrm>
                <a:off x="288" y="2925"/>
                <a:ext cx="475" cy="442"/>
                <a:chOff x="288" y="2925"/>
                <a:chExt cx="475" cy="442"/>
              </a:xfrm>
            </p:grpSpPr>
            <p:sp>
              <p:nvSpPr>
                <p:cNvPr id="380" name="Rectangle 222"/>
                <p:cNvSpPr>
                  <a:spLocks noChangeArrowheads="1"/>
                </p:cNvSpPr>
                <p:nvPr/>
              </p:nvSpPr>
              <p:spPr bwMode="auto">
                <a:xfrm>
                  <a:off x="427" y="3001"/>
                  <a:ext cx="192" cy="144"/>
                </a:xfrm>
                <a:prstGeom prst="rect">
                  <a:avLst/>
                </a:prstGeom>
                <a:solidFill>
                  <a:srgbClr val="00CC99"/>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381" name="Group 223"/>
                <p:cNvGrpSpPr>
                  <a:grpSpLocks/>
                </p:cNvGrpSpPr>
                <p:nvPr/>
              </p:nvGrpSpPr>
              <p:grpSpPr bwMode="auto">
                <a:xfrm>
                  <a:off x="288" y="2925"/>
                  <a:ext cx="475" cy="442"/>
                  <a:chOff x="5285" y="1536"/>
                  <a:chExt cx="475" cy="442"/>
                </a:xfrm>
              </p:grpSpPr>
              <p:sp>
                <p:nvSpPr>
                  <p:cNvPr id="382" name="Freeform 224"/>
                  <p:cNvSpPr>
                    <a:spLocks/>
                  </p:cNvSpPr>
                  <p:nvPr/>
                </p:nvSpPr>
                <p:spPr bwMode="auto">
                  <a:xfrm>
                    <a:off x="5365" y="1943"/>
                    <a:ext cx="369" cy="35"/>
                  </a:xfrm>
                  <a:custGeom>
                    <a:avLst/>
                    <a:gdLst>
                      <a:gd name="T0" fmla="*/ 0 w 1105"/>
                      <a:gd name="T1" fmla="*/ 0 h 104"/>
                      <a:gd name="T2" fmla="*/ 0 w 1105"/>
                      <a:gd name="T3" fmla="*/ 0 h 104"/>
                      <a:gd name="T4" fmla="*/ 0 w 1105"/>
                      <a:gd name="T5" fmla="*/ 0 h 104"/>
                      <a:gd name="T6" fmla="*/ 0 w 1105"/>
                      <a:gd name="T7" fmla="*/ 0 h 104"/>
                      <a:gd name="T8" fmla="*/ 0 w 1105"/>
                      <a:gd name="T9" fmla="*/ 0 h 104"/>
                      <a:gd name="T10" fmla="*/ 0 w 1105"/>
                      <a:gd name="T11" fmla="*/ 0 h 104"/>
                      <a:gd name="T12" fmla="*/ 0 w 1105"/>
                      <a:gd name="T13" fmla="*/ 0 h 104"/>
                      <a:gd name="T14" fmla="*/ 0 w 1105"/>
                      <a:gd name="T15" fmla="*/ 0 h 104"/>
                      <a:gd name="T16" fmla="*/ 0 w 1105"/>
                      <a:gd name="T17" fmla="*/ 0 h 104"/>
                      <a:gd name="T18" fmla="*/ 0 w 1105"/>
                      <a:gd name="T19" fmla="*/ 0 h 104"/>
                      <a:gd name="T20" fmla="*/ 0 w 1105"/>
                      <a:gd name="T21" fmla="*/ 0 h 104"/>
                      <a:gd name="T22" fmla="*/ 0 w 1105"/>
                      <a:gd name="T23" fmla="*/ 0 h 104"/>
                      <a:gd name="T24" fmla="*/ 0 w 1105"/>
                      <a:gd name="T25" fmla="*/ 0 h 104"/>
                      <a:gd name="T26" fmla="*/ 0 w 1105"/>
                      <a:gd name="T27" fmla="*/ 0 h 104"/>
                      <a:gd name="T28" fmla="*/ 0 w 1105"/>
                      <a:gd name="T29" fmla="*/ 0 h 104"/>
                      <a:gd name="T30" fmla="*/ 0 w 1105"/>
                      <a:gd name="T31" fmla="*/ 0 h 104"/>
                      <a:gd name="T32" fmla="*/ 0 w 1105"/>
                      <a:gd name="T33" fmla="*/ 0 h 104"/>
                      <a:gd name="T34" fmla="*/ 0 w 1105"/>
                      <a:gd name="T35" fmla="*/ 0 h 104"/>
                      <a:gd name="T36" fmla="*/ 0 w 1105"/>
                      <a:gd name="T37" fmla="*/ 0 h 104"/>
                      <a:gd name="T38" fmla="*/ 0 w 1105"/>
                      <a:gd name="T39" fmla="*/ 0 h 104"/>
                      <a:gd name="T40" fmla="*/ 0 w 1105"/>
                      <a:gd name="T41" fmla="*/ 0 h 104"/>
                      <a:gd name="T42" fmla="*/ 0 w 1105"/>
                      <a:gd name="T43" fmla="*/ 0 h 104"/>
                      <a:gd name="T44" fmla="*/ 0 w 1105"/>
                      <a:gd name="T45" fmla="*/ 0 h 104"/>
                      <a:gd name="T46" fmla="*/ 0 w 1105"/>
                      <a:gd name="T47" fmla="*/ 0 h 104"/>
                      <a:gd name="T48" fmla="*/ 0 w 1105"/>
                      <a:gd name="T49" fmla="*/ 0 h 104"/>
                      <a:gd name="T50" fmla="*/ 0 w 1105"/>
                      <a:gd name="T51" fmla="*/ 0 h 104"/>
                      <a:gd name="T52" fmla="*/ 0 w 1105"/>
                      <a:gd name="T53" fmla="*/ 0 h 104"/>
                      <a:gd name="T54" fmla="*/ 0 w 1105"/>
                      <a:gd name="T55" fmla="*/ 0 h 104"/>
                      <a:gd name="T56" fmla="*/ 0 w 1105"/>
                      <a:gd name="T57" fmla="*/ 0 h 104"/>
                      <a:gd name="T58" fmla="*/ 0 w 1105"/>
                      <a:gd name="T59" fmla="*/ 0 h 104"/>
                      <a:gd name="T60" fmla="*/ 0 w 1105"/>
                      <a:gd name="T61" fmla="*/ 0 h 104"/>
                      <a:gd name="T62" fmla="*/ 0 w 1105"/>
                      <a:gd name="T63" fmla="*/ 0 h 104"/>
                      <a:gd name="T64" fmla="*/ 0 w 1105"/>
                      <a:gd name="T65" fmla="*/ 0 h 104"/>
                      <a:gd name="T66" fmla="*/ 0 w 1105"/>
                      <a:gd name="T67" fmla="*/ 0 h 104"/>
                      <a:gd name="T68" fmla="*/ 0 w 1105"/>
                      <a:gd name="T69" fmla="*/ 0 h 104"/>
                      <a:gd name="T70" fmla="*/ 0 w 1105"/>
                      <a:gd name="T71" fmla="*/ 0 h 104"/>
                      <a:gd name="T72" fmla="*/ 0 w 1105"/>
                      <a:gd name="T73" fmla="*/ 0 h 104"/>
                      <a:gd name="T74" fmla="*/ 0 w 1105"/>
                      <a:gd name="T75" fmla="*/ 0 h 104"/>
                      <a:gd name="T76" fmla="*/ 0 w 1105"/>
                      <a:gd name="T77" fmla="*/ 0 h 104"/>
                      <a:gd name="T78" fmla="*/ 0 w 1105"/>
                      <a:gd name="T79" fmla="*/ 0 h 104"/>
                      <a:gd name="T80" fmla="*/ 0 w 1105"/>
                      <a:gd name="T81" fmla="*/ 0 h 104"/>
                      <a:gd name="T82" fmla="*/ 0 w 1105"/>
                      <a:gd name="T83" fmla="*/ 0 h 104"/>
                      <a:gd name="T84" fmla="*/ 0 w 1105"/>
                      <a:gd name="T85" fmla="*/ 0 h 104"/>
                      <a:gd name="T86" fmla="*/ 0 w 1105"/>
                      <a:gd name="T87" fmla="*/ 0 h 104"/>
                      <a:gd name="T88" fmla="*/ 0 w 1105"/>
                      <a:gd name="T89" fmla="*/ 0 h 104"/>
                      <a:gd name="T90" fmla="*/ 0 w 1105"/>
                      <a:gd name="T91" fmla="*/ 0 h 104"/>
                      <a:gd name="T92" fmla="*/ 0 w 1105"/>
                      <a:gd name="T93" fmla="*/ 0 h 104"/>
                      <a:gd name="T94" fmla="*/ 0 w 1105"/>
                      <a:gd name="T95" fmla="*/ 0 h 104"/>
                      <a:gd name="T96" fmla="*/ 0 w 1105"/>
                      <a:gd name="T97" fmla="*/ 0 h 104"/>
                      <a:gd name="T98" fmla="*/ 0 w 1105"/>
                      <a:gd name="T99" fmla="*/ 0 h 104"/>
                      <a:gd name="T100" fmla="*/ 0 w 1105"/>
                      <a:gd name="T101" fmla="*/ 0 h 104"/>
                      <a:gd name="T102" fmla="*/ 0 w 1105"/>
                      <a:gd name="T103" fmla="*/ 0 h 104"/>
                      <a:gd name="T104" fmla="*/ 0 w 1105"/>
                      <a:gd name="T105" fmla="*/ 0 h 104"/>
                      <a:gd name="T106" fmla="*/ 0 w 1105"/>
                      <a:gd name="T107" fmla="*/ 0 h 104"/>
                      <a:gd name="T108" fmla="*/ 0 w 1105"/>
                      <a:gd name="T109" fmla="*/ 0 h 104"/>
                      <a:gd name="T110" fmla="*/ 0 w 1105"/>
                      <a:gd name="T111" fmla="*/ 0 h 104"/>
                      <a:gd name="T112" fmla="*/ 0 w 1105"/>
                      <a:gd name="T113" fmla="*/ 0 h 104"/>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105"/>
                      <a:gd name="T172" fmla="*/ 0 h 104"/>
                      <a:gd name="T173" fmla="*/ 1105 w 1105"/>
                      <a:gd name="T174" fmla="*/ 104 h 104"/>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105" h="104">
                        <a:moveTo>
                          <a:pt x="872" y="13"/>
                        </a:moveTo>
                        <a:lnTo>
                          <a:pt x="876" y="13"/>
                        </a:lnTo>
                        <a:lnTo>
                          <a:pt x="879" y="13"/>
                        </a:lnTo>
                        <a:lnTo>
                          <a:pt x="883" y="13"/>
                        </a:lnTo>
                        <a:lnTo>
                          <a:pt x="886" y="13"/>
                        </a:lnTo>
                        <a:lnTo>
                          <a:pt x="890" y="13"/>
                        </a:lnTo>
                        <a:lnTo>
                          <a:pt x="893" y="13"/>
                        </a:lnTo>
                        <a:lnTo>
                          <a:pt x="897" y="13"/>
                        </a:lnTo>
                        <a:lnTo>
                          <a:pt x="900" y="13"/>
                        </a:lnTo>
                        <a:lnTo>
                          <a:pt x="904" y="13"/>
                        </a:lnTo>
                        <a:lnTo>
                          <a:pt x="909" y="13"/>
                        </a:lnTo>
                        <a:lnTo>
                          <a:pt x="911" y="13"/>
                        </a:lnTo>
                        <a:lnTo>
                          <a:pt x="916" y="13"/>
                        </a:lnTo>
                        <a:lnTo>
                          <a:pt x="918" y="11"/>
                        </a:lnTo>
                        <a:lnTo>
                          <a:pt x="923" y="11"/>
                        </a:lnTo>
                        <a:lnTo>
                          <a:pt x="927" y="11"/>
                        </a:lnTo>
                        <a:lnTo>
                          <a:pt x="930" y="11"/>
                        </a:lnTo>
                        <a:lnTo>
                          <a:pt x="932" y="10"/>
                        </a:lnTo>
                        <a:lnTo>
                          <a:pt x="936" y="10"/>
                        </a:lnTo>
                        <a:lnTo>
                          <a:pt x="940" y="10"/>
                        </a:lnTo>
                        <a:lnTo>
                          <a:pt x="943" y="10"/>
                        </a:lnTo>
                        <a:lnTo>
                          <a:pt x="947" y="9"/>
                        </a:lnTo>
                        <a:lnTo>
                          <a:pt x="950" y="9"/>
                        </a:lnTo>
                        <a:lnTo>
                          <a:pt x="954" y="8"/>
                        </a:lnTo>
                        <a:lnTo>
                          <a:pt x="957" y="8"/>
                        </a:lnTo>
                        <a:lnTo>
                          <a:pt x="960" y="8"/>
                        </a:lnTo>
                        <a:lnTo>
                          <a:pt x="964" y="8"/>
                        </a:lnTo>
                        <a:lnTo>
                          <a:pt x="967" y="7"/>
                        </a:lnTo>
                        <a:lnTo>
                          <a:pt x="972" y="7"/>
                        </a:lnTo>
                        <a:lnTo>
                          <a:pt x="974" y="5"/>
                        </a:lnTo>
                        <a:lnTo>
                          <a:pt x="978" y="5"/>
                        </a:lnTo>
                        <a:lnTo>
                          <a:pt x="981" y="5"/>
                        </a:lnTo>
                        <a:lnTo>
                          <a:pt x="985" y="5"/>
                        </a:lnTo>
                        <a:lnTo>
                          <a:pt x="988" y="4"/>
                        </a:lnTo>
                        <a:lnTo>
                          <a:pt x="992" y="3"/>
                        </a:lnTo>
                        <a:lnTo>
                          <a:pt x="994" y="3"/>
                        </a:lnTo>
                        <a:lnTo>
                          <a:pt x="998" y="3"/>
                        </a:lnTo>
                        <a:lnTo>
                          <a:pt x="1001" y="3"/>
                        </a:lnTo>
                        <a:lnTo>
                          <a:pt x="1005" y="2"/>
                        </a:lnTo>
                        <a:lnTo>
                          <a:pt x="1007" y="2"/>
                        </a:lnTo>
                        <a:lnTo>
                          <a:pt x="1012" y="2"/>
                        </a:lnTo>
                        <a:lnTo>
                          <a:pt x="1014" y="1"/>
                        </a:lnTo>
                        <a:lnTo>
                          <a:pt x="1018" y="1"/>
                        </a:lnTo>
                        <a:lnTo>
                          <a:pt x="1021" y="1"/>
                        </a:lnTo>
                        <a:lnTo>
                          <a:pt x="1025" y="1"/>
                        </a:lnTo>
                        <a:lnTo>
                          <a:pt x="1029" y="1"/>
                        </a:lnTo>
                        <a:lnTo>
                          <a:pt x="1032" y="1"/>
                        </a:lnTo>
                        <a:lnTo>
                          <a:pt x="1034" y="1"/>
                        </a:lnTo>
                        <a:lnTo>
                          <a:pt x="1039" y="1"/>
                        </a:lnTo>
                        <a:lnTo>
                          <a:pt x="1042" y="0"/>
                        </a:lnTo>
                        <a:lnTo>
                          <a:pt x="1045" y="0"/>
                        </a:lnTo>
                        <a:lnTo>
                          <a:pt x="1048" y="0"/>
                        </a:lnTo>
                        <a:lnTo>
                          <a:pt x="1052" y="0"/>
                        </a:lnTo>
                        <a:lnTo>
                          <a:pt x="1055" y="0"/>
                        </a:lnTo>
                        <a:lnTo>
                          <a:pt x="1058" y="1"/>
                        </a:lnTo>
                        <a:lnTo>
                          <a:pt x="1062" y="1"/>
                        </a:lnTo>
                        <a:lnTo>
                          <a:pt x="1065" y="1"/>
                        </a:lnTo>
                        <a:lnTo>
                          <a:pt x="1068" y="1"/>
                        </a:lnTo>
                        <a:lnTo>
                          <a:pt x="1072" y="2"/>
                        </a:lnTo>
                        <a:lnTo>
                          <a:pt x="1075" y="2"/>
                        </a:lnTo>
                        <a:lnTo>
                          <a:pt x="1078" y="3"/>
                        </a:lnTo>
                        <a:lnTo>
                          <a:pt x="1082" y="3"/>
                        </a:lnTo>
                        <a:lnTo>
                          <a:pt x="1086" y="4"/>
                        </a:lnTo>
                        <a:lnTo>
                          <a:pt x="1089" y="5"/>
                        </a:lnTo>
                        <a:lnTo>
                          <a:pt x="1093" y="7"/>
                        </a:lnTo>
                        <a:lnTo>
                          <a:pt x="1093" y="9"/>
                        </a:lnTo>
                        <a:lnTo>
                          <a:pt x="1094" y="11"/>
                        </a:lnTo>
                        <a:lnTo>
                          <a:pt x="1095" y="14"/>
                        </a:lnTo>
                        <a:lnTo>
                          <a:pt x="1095" y="17"/>
                        </a:lnTo>
                        <a:lnTo>
                          <a:pt x="1096" y="20"/>
                        </a:lnTo>
                        <a:lnTo>
                          <a:pt x="1097" y="22"/>
                        </a:lnTo>
                        <a:lnTo>
                          <a:pt x="1097" y="24"/>
                        </a:lnTo>
                        <a:lnTo>
                          <a:pt x="1099" y="28"/>
                        </a:lnTo>
                        <a:lnTo>
                          <a:pt x="1099" y="30"/>
                        </a:lnTo>
                        <a:lnTo>
                          <a:pt x="1100" y="33"/>
                        </a:lnTo>
                        <a:lnTo>
                          <a:pt x="1101" y="35"/>
                        </a:lnTo>
                        <a:lnTo>
                          <a:pt x="1101" y="39"/>
                        </a:lnTo>
                        <a:lnTo>
                          <a:pt x="1102" y="41"/>
                        </a:lnTo>
                        <a:lnTo>
                          <a:pt x="1103" y="43"/>
                        </a:lnTo>
                        <a:lnTo>
                          <a:pt x="1103" y="46"/>
                        </a:lnTo>
                        <a:lnTo>
                          <a:pt x="1105" y="49"/>
                        </a:lnTo>
                        <a:lnTo>
                          <a:pt x="1099" y="53"/>
                        </a:lnTo>
                        <a:lnTo>
                          <a:pt x="1093" y="57"/>
                        </a:lnTo>
                        <a:lnTo>
                          <a:pt x="1086" y="60"/>
                        </a:lnTo>
                        <a:lnTo>
                          <a:pt x="1077" y="64"/>
                        </a:lnTo>
                        <a:lnTo>
                          <a:pt x="1068" y="66"/>
                        </a:lnTo>
                        <a:lnTo>
                          <a:pt x="1057" y="68"/>
                        </a:lnTo>
                        <a:lnTo>
                          <a:pt x="1048" y="72"/>
                        </a:lnTo>
                        <a:lnTo>
                          <a:pt x="1036" y="76"/>
                        </a:lnTo>
                        <a:lnTo>
                          <a:pt x="1024" y="78"/>
                        </a:lnTo>
                        <a:lnTo>
                          <a:pt x="1011" y="80"/>
                        </a:lnTo>
                        <a:lnTo>
                          <a:pt x="997" y="81"/>
                        </a:lnTo>
                        <a:lnTo>
                          <a:pt x="982" y="84"/>
                        </a:lnTo>
                        <a:lnTo>
                          <a:pt x="968" y="86"/>
                        </a:lnTo>
                        <a:lnTo>
                          <a:pt x="953" y="89"/>
                        </a:lnTo>
                        <a:lnTo>
                          <a:pt x="936" y="90"/>
                        </a:lnTo>
                        <a:lnTo>
                          <a:pt x="921" y="92"/>
                        </a:lnTo>
                        <a:lnTo>
                          <a:pt x="903" y="92"/>
                        </a:lnTo>
                        <a:lnTo>
                          <a:pt x="885" y="95"/>
                        </a:lnTo>
                        <a:lnTo>
                          <a:pt x="866" y="96"/>
                        </a:lnTo>
                        <a:lnTo>
                          <a:pt x="847" y="97"/>
                        </a:lnTo>
                        <a:lnTo>
                          <a:pt x="829" y="98"/>
                        </a:lnTo>
                        <a:lnTo>
                          <a:pt x="809" y="99"/>
                        </a:lnTo>
                        <a:lnTo>
                          <a:pt x="790" y="99"/>
                        </a:lnTo>
                        <a:lnTo>
                          <a:pt x="770" y="102"/>
                        </a:lnTo>
                        <a:lnTo>
                          <a:pt x="750" y="102"/>
                        </a:lnTo>
                        <a:lnTo>
                          <a:pt x="728" y="102"/>
                        </a:lnTo>
                        <a:lnTo>
                          <a:pt x="708" y="102"/>
                        </a:lnTo>
                        <a:lnTo>
                          <a:pt x="688" y="104"/>
                        </a:lnTo>
                        <a:lnTo>
                          <a:pt x="665" y="104"/>
                        </a:lnTo>
                        <a:lnTo>
                          <a:pt x="645" y="104"/>
                        </a:lnTo>
                        <a:lnTo>
                          <a:pt x="623" y="104"/>
                        </a:lnTo>
                        <a:lnTo>
                          <a:pt x="601" y="104"/>
                        </a:lnTo>
                        <a:lnTo>
                          <a:pt x="580" y="104"/>
                        </a:lnTo>
                        <a:lnTo>
                          <a:pt x="558" y="104"/>
                        </a:lnTo>
                        <a:lnTo>
                          <a:pt x="536" y="104"/>
                        </a:lnTo>
                        <a:lnTo>
                          <a:pt x="514" y="104"/>
                        </a:lnTo>
                        <a:lnTo>
                          <a:pt x="492" y="104"/>
                        </a:lnTo>
                        <a:lnTo>
                          <a:pt x="471" y="104"/>
                        </a:lnTo>
                        <a:lnTo>
                          <a:pt x="450" y="104"/>
                        </a:lnTo>
                        <a:lnTo>
                          <a:pt x="427" y="104"/>
                        </a:lnTo>
                        <a:lnTo>
                          <a:pt x="407" y="104"/>
                        </a:lnTo>
                        <a:lnTo>
                          <a:pt x="384" y="104"/>
                        </a:lnTo>
                        <a:lnTo>
                          <a:pt x="363" y="103"/>
                        </a:lnTo>
                        <a:lnTo>
                          <a:pt x="343" y="103"/>
                        </a:lnTo>
                        <a:lnTo>
                          <a:pt x="321" y="102"/>
                        </a:lnTo>
                        <a:lnTo>
                          <a:pt x="301" y="102"/>
                        </a:lnTo>
                        <a:lnTo>
                          <a:pt x="282" y="102"/>
                        </a:lnTo>
                        <a:lnTo>
                          <a:pt x="263" y="102"/>
                        </a:lnTo>
                        <a:lnTo>
                          <a:pt x="243" y="102"/>
                        </a:lnTo>
                        <a:lnTo>
                          <a:pt x="224" y="102"/>
                        </a:lnTo>
                        <a:lnTo>
                          <a:pt x="205" y="100"/>
                        </a:lnTo>
                        <a:lnTo>
                          <a:pt x="187" y="100"/>
                        </a:lnTo>
                        <a:lnTo>
                          <a:pt x="170" y="99"/>
                        </a:lnTo>
                        <a:lnTo>
                          <a:pt x="153" y="99"/>
                        </a:lnTo>
                        <a:lnTo>
                          <a:pt x="136" y="99"/>
                        </a:lnTo>
                        <a:lnTo>
                          <a:pt x="120" y="99"/>
                        </a:lnTo>
                        <a:lnTo>
                          <a:pt x="104" y="99"/>
                        </a:lnTo>
                        <a:lnTo>
                          <a:pt x="89" y="99"/>
                        </a:lnTo>
                        <a:lnTo>
                          <a:pt x="76" y="99"/>
                        </a:lnTo>
                        <a:lnTo>
                          <a:pt x="63" y="99"/>
                        </a:lnTo>
                        <a:lnTo>
                          <a:pt x="49" y="99"/>
                        </a:lnTo>
                        <a:lnTo>
                          <a:pt x="37" y="99"/>
                        </a:lnTo>
                        <a:lnTo>
                          <a:pt x="25" y="99"/>
                        </a:lnTo>
                        <a:lnTo>
                          <a:pt x="15" y="99"/>
                        </a:lnTo>
                        <a:lnTo>
                          <a:pt x="14" y="97"/>
                        </a:lnTo>
                        <a:lnTo>
                          <a:pt x="12" y="93"/>
                        </a:lnTo>
                        <a:lnTo>
                          <a:pt x="11" y="91"/>
                        </a:lnTo>
                        <a:lnTo>
                          <a:pt x="9" y="89"/>
                        </a:lnTo>
                        <a:lnTo>
                          <a:pt x="7" y="83"/>
                        </a:lnTo>
                        <a:lnTo>
                          <a:pt x="6" y="78"/>
                        </a:lnTo>
                        <a:lnTo>
                          <a:pt x="5" y="76"/>
                        </a:lnTo>
                        <a:lnTo>
                          <a:pt x="5" y="73"/>
                        </a:lnTo>
                        <a:lnTo>
                          <a:pt x="3" y="70"/>
                        </a:lnTo>
                        <a:lnTo>
                          <a:pt x="2" y="67"/>
                        </a:lnTo>
                        <a:lnTo>
                          <a:pt x="2" y="65"/>
                        </a:lnTo>
                        <a:lnTo>
                          <a:pt x="2" y="62"/>
                        </a:lnTo>
                        <a:lnTo>
                          <a:pt x="0" y="59"/>
                        </a:lnTo>
                        <a:lnTo>
                          <a:pt x="0" y="57"/>
                        </a:lnTo>
                        <a:lnTo>
                          <a:pt x="2" y="54"/>
                        </a:lnTo>
                        <a:lnTo>
                          <a:pt x="7" y="51"/>
                        </a:lnTo>
                        <a:lnTo>
                          <a:pt x="9" y="48"/>
                        </a:lnTo>
                        <a:lnTo>
                          <a:pt x="14" y="46"/>
                        </a:lnTo>
                        <a:lnTo>
                          <a:pt x="18" y="42"/>
                        </a:lnTo>
                        <a:lnTo>
                          <a:pt x="21" y="41"/>
                        </a:lnTo>
                        <a:lnTo>
                          <a:pt x="25" y="39"/>
                        </a:lnTo>
                        <a:lnTo>
                          <a:pt x="28" y="36"/>
                        </a:lnTo>
                        <a:lnTo>
                          <a:pt x="32" y="35"/>
                        </a:lnTo>
                        <a:lnTo>
                          <a:pt x="35" y="33"/>
                        </a:lnTo>
                        <a:lnTo>
                          <a:pt x="40" y="32"/>
                        </a:lnTo>
                        <a:lnTo>
                          <a:pt x="44" y="30"/>
                        </a:lnTo>
                        <a:lnTo>
                          <a:pt x="47" y="29"/>
                        </a:lnTo>
                        <a:lnTo>
                          <a:pt x="52" y="28"/>
                        </a:lnTo>
                        <a:lnTo>
                          <a:pt x="57" y="27"/>
                        </a:lnTo>
                        <a:lnTo>
                          <a:pt x="60" y="26"/>
                        </a:lnTo>
                        <a:lnTo>
                          <a:pt x="65" y="24"/>
                        </a:lnTo>
                        <a:lnTo>
                          <a:pt x="69" y="23"/>
                        </a:lnTo>
                        <a:lnTo>
                          <a:pt x="73" y="23"/>
                        </a:lnTo>
                        <a:lnTo>
                          <a:pt x="78" y="23"/>
                        </a:lnTo>
                        <a:lnTo>
                          <a:pt x="82" y="22"/>
                        </a:lnTo>
                        <a:lnTo>
                          <a:pt x="85" y="21"/>
                        </a:lnTo>
                        <a:lnTo>
                          <a:pt x="91" y="21"/>
                        </a:lnTo>
                        <a:lnTo>
                          <a:pt x="95" y="21"/>
                        </a:lnTo>
                        <a:lnTo>
                          <a:pt x="98" y="21"/>
                        </a:lnTo>
                        <a:lnTo>
                          <a:pt x="103" y="21"/>
                        </a:lnTo>
                        <a:lnTo>
                          <a:pt x="108" y="21"/>
                        </a:lnTo>
                        <a:lnTo>
                          <a:pt x="113" y="21"/>
                        </a:lnTo>
                        <a:lnTo>
                          <a:pt x="116" y="21"/>
                        </a:lnTo>
                        <a:lnTo>
                          <a:pt x="121" y="21"/>
                        </a:lnTo>
                        <a:lnTo>
                          <a:pt x="126" y="21"/>
                        </a:lnTo>
                        <a:lnTo>
                          <a:pt x="130" y="21"/>
                        </a:lnTo>
                        <a:lnTo>
                          <a:pt x="135" y="21"/>
                        </a:lnTo>
                        <a:lnTo>
                          <a:pt x="139" y="21"/>
                        </a:lnTo>
                        <a:lnTo>
                          <a:pt x="143" y="21"/>
                        </a:lnTo>
                        <a:lnTo>
                          <a:pt x="148" y="21"/>
                        </a:lnTo>
                        <a:lnTo>
                          <a:pt x="153" y="21"/>
                        </a:lnTo>
                        <a:lnTo>
                          <a:pt x="158" y="22"/>
                        </a:lnTo>
                        <a:lnTo>
                          <a:pt x="161" y="22"/>
                        </a:lnTo>
                        <a:lnTo>
                          <a:pt x="167" y="23"/>
                        </a:lnTo>
                        <a:lnTo>
                          <a:pt x="171" y="23"/>
                        </a:lnTo>
                        <a:lnTo>
                          <a:pt x="175" y="23"/>
                        </a:lnTo>
                        <a:lnTo>
                          <a:pt x="179" y="23"/>
                        </a:lnTo>
                        <a:lnTo>
                          <a:pt x="184" y="23"/>
                        </a:lnTo>
                        <a:lnTo>
                          <a:pt x="190" y="23"/>
                        </a:lnTo>
                        <a:lnTo>
                          <a:pt x="194" y="23"/>
                        </a:lnTo>
                        <a:lnTo>
                          <a:pt x="199" y="23"/>
                        </a:lnTo>
                        <a:lnTo>
                          <a:pt x="203" y="24"/>
                        </a:lnTo>
                        <a:lnTo>
                          <a:pt x="208" y="23"/>
                        </a:lnTo>
                        <a:lnTo>
                          <a:pt x="212" y="23"/>
                        </a:lnTo>
                        <a:lnTo>
                          <a:pt x="216" y="23"/>
                        </a:lnTo>
                        <a:lnTo>
                          <a:pt x="221" y="23"/>
                        </a:lnTo>
                        <a:lnTo>
                          <a:pt x="225" y="23"/>
                        </a:lnTo>
                        <a:lnTo>
                          <a:pt x="230" y="23"/>
                        </a:lnTo>
                        <a:lnTo>
                          <a:pt x="234" y="23"/>
                        </a:lnTo>
                        <a:lnTo>
                          <a:pt x="238" y="23"/>
                        </a:lnTo>
                        <a:lnTo>
                          <a:pt x="243" y="22"/>
                        </a:lnTo>
                        <a:lnTo>
                          <a:pt x="248" y="22"/>
                        </a:lnTo>
                        <a:lnTo>
                          <a:pt x="251" y="21"/>
                        </a:lnTo>
                        <a:lnTo>
                          <a:pt x="256" y="21"/>
                        </a:lnTo>
                        <a:lnTo>
                          <a:pt x="260" y="21"/>
                        </a:lnTo>
                        <a:lnTo>
                          <a:pt x="264" y="20"/>
                        </a:lnTo>
                        <a:lnTo>
                          <a:pt x="269" y="19"/>
                        </a:lnTo>
                        <a:lnTo>
                          <a:pt x="273" y="19"/>
                        </a:lnTo>
                        <a:lnTo>
                          <a:pt x="282" y="17"/>
                        </a:lnTo>
                        <a:lnTo>
                          <a:pt x="291" y="17"/>
                        </a:lnTo>
                        <a:lnTo>
                          <a:pt x="300" y="17"/>
                        </a:lnTo>
                        <a:lnTo>
                          <a:pt x="310" y="17"/>
                        </a:lnTo>
                        <a:lnTo>
                          <a:pt x="319" y="16"/>
                        </a:lnTo>
                        <a:lnTo>
                          <a:pt x="329" y="16"/>
                        </a:lnTo>
                        <a:lnTo>
                          <a:pt x="337" y="16"/>
                        </a:lnTo>
                        <a:lnTo>
                          <a:pt x="346" y="16"/>
                        </a:lnTo>
                        <a:lnTo>
                          <a:pt x="356" y="16"/>
                        </a:lnTo>
                        <a:lnTo>
                          <a:pt x="365" y="16"/>
                        </a:lnTo>
                        <a:lnTo>
                          <a:pt x="374" y="16"/>
                        </a:lnTo>
                        <a:lnTo>
                          <a:pt x="384" y="16"/>
                        </a:lnTo>
                        <a:lnTo>
                          <a:pt x="394" y="16"/>
                        </a:lnTo>
                        <a:lnTo>
                          <a:pt x="402" y="16"/>
                        </a:lnTo>
                        <a:lnTo>
                          <a:pt x="412" y="16"/>
                        </a:lnTo>
                        <a:lnTo>
                          <a:pt x="422" y="17"/>
                        </a:lnTo>
                        <a:lnTo>
                          <a:pt x="431" y="17"/>
                        </a:lnTo>
                        <a:lnTo>
                          <a:pt x="440" y="17"/>
                        </a:lnTo>
                        <a:lnTo>
                          <a:pt x="450" y="17"/>
                        </a:lnTo>
                        <a:lnTo>
                          <a:pt x="459" y="17"/>
                        </a:lnTo>
                        <a:lnTo>
                          <a:pt x="469" y="17"/>
                        </a:lnTo>
                        <a:lnTo>
                          <a:pt x="478" y="17"/>
                        </a:lnTo>
                        <a:lnTo>
                          <a:pt x="488" y="17"/>
                        </a:lnTo>
                        <a:lnTo>
                          <a:pt x="498" y="17"/>
                        </a:lnTo>
                        <a:lnTo>
                          <a:pt x="507" y="17"/>
                        </a:lnTo>
                        <a:lnTo>
                          <a:pt x="516" y="17"/>
                        </a:lnTo>
                        <a:lnTo>
                          <a:pt x="525" y="17"/>
                        </a:lnTo>
                        <a:lnTo>
                          <a:pt x="536" y="17"/>
                        </a:lnTo>
                        <a:lnTo>
                          <a:pt x="544" y="17"/>
                        </a:lnTo>
                        <a:lnTo>
                          <a:pt x="554" y="17"/>
                        </a:lnTo>
                        <a:lnTo>
                          <a:pt x="563" y="17"/>
                        </a:lnTo>
                        <a:lnTo>
                          <a:pt x="574" y="19"/>
                        </a:lnTo>
                        <a:lnTo>
                          <a:pt x="582" y="17"/>
                        </a:lnTo>
                        <a:lnTo>
                          <a:pt x="592" y="17"/>
                        </a:lnTo>
                        <a:lnTo>
                          <a:pt x="601" y="17"/>
                        </a:lnTo>
                        <a:lnTo>
                          <a:pt x="611" y="17"/>
                        </a:lnTo>
                        <a:lnTo>
                          <a:pt x="619" y="17"/>
                        </a:lnTo>
                        <a:lnTo>
                          <a:pt x="630" y="17"/>
                        </a:lnTo>
                        <a:lnTo>
                          <a:pt x="639" y="17"/>
                        </a:lnTo>
                        <a:lnTo>
                          <a:pt x="649" y="17"/>
                        </a:lnTo>
                        <a:lnTo>
                          <a:pt x="657" y="17"/>
                        </a:lnTo>
                        <a:lnTo>
                          <a:pt x="668" y="17"/>
                        </a:lnTo>
                        <a:lnTo>
                          <a:pt x="677" y="17"/>
                        </a:lnTo>
                        <a:lnTo>
                          <a:pt x="687" y="17"/>
                        </a:lnTo>
                        <a:lnTo>
                          <a:pt x="695" y="17"/>
                        </a:lnTo>
                        <a:lnTo>
                          <a:pt x="706" y="17"/>
                        </a:lnTo>
                        <a:lnTo>
                          <a:pt x="715" y="17"/>
                        </a:lnTo>
                        <a:lnTo>
                          <a:pt x="724" y="17"/>
                        </a:lnTo>
                        <a:lnTo>
                          <a:pt x="733" y="16"/>
                        </a:lnTo>
                        <a:lnTo>
                          <a:pt x="743" y="16"/>
                        </a:lnTo>
                        <a:lnTo>
                          <a:pt x="751" y="16"/>
                        </a:lnTo>
                        <a:lnTo>
                          <a:pt x="762" y="16"/>
                        </a:lnTo>
                        <a:lnTo>
                          <a:pt x="770" y="16"/>
                        </a:lnTo>
                        <a:lnTo>
                          <a:pt x="779" y="16"/>
                        </a:lnTo>
                        <a:lnTo>
                          <a:pt x="789" y="15"/>
                        </a:lnTo>
                        <a:lnTo>
                          <a:pt x="798" y="15"/>
                        </a:lnTo>
                        <a:lnTo>
                          <a:pt x="807" y="15"/>
                        </a:lnTo>
                        <a:lnTo>
                          <a:pt x="817" y="14"/>
                        </a:lnTo>
                        <a:lnTo>
                          <a:pt x="824" y="14"/>
                        </a:lnTo>
                        <a:lnTo>
                          <a:pt x="835" y="14"/>
                        </a:lnTo>
                        <a:lnTo>
                          <a:pt x="843" y="13"/>
                        </a:lnTo>
                        <a:lnTo>
                          <a:pt x="853" y="13"/>
                        </a:lnTo>
                        <a:lnTo>
                          <a:pt x="862" y="13"/>
                        </a:lnTo>
                        <a:lnTo>
                          <a:pt x="872"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3" name="Freeform 225"/>
                  <p:cNvSpPr>
                    <a:spLocks/>
                  </p:cNvSpPr>
                  <p:nvPr/>
                </p:nvSpPr>
                <p:spPr bwMode="auto">
                  <a:xfrm>
                    <a:off x="5365" y="1536"/>
                    <a:ext cx="315" cy="39"/>
                  </a:xfrm>
                  <a:custGeom>
                    <a:avLst/>
                    <a:gdLst>
                      <a:gd name="T0" fmla="*/ 0 w 943"/>
                      <a:gd name="T1" fmla="*/ 0 h 116"/>
                      <a:gd name="T2" fmla="*/ 0 w 943"/>
                      <a:gd name="T3" fmla="*/ 0 h 116"/>
                      <a:gd name="T4" fmla="*/ 0 w 943"/>
                      <a:gd name="T5" fmla="*/ 0 h 116"/>
                      <a:gd name="T6" fmla="*/ 0 w 943"/>
                      <a:gd name="T7" fmla="*/ 0 h 116"/>
                      <a:gd name="T8" fmla="*/ 0 w 943"/>
                      <a:gd name="T9" fmla="*/ 0 h 116"/>
                      <a:gd name="T10" fmla="*/ 0 w 943"/>
                      <a:gd name="T11" fmla="*/ 0 h 116"/>
                      <a:gd name="T12" fmla="*/ 0 w 943"/>
                      <a:gd name="T13" fmla="*/ 0 h 116"/>
                      <a:gd name="T14" fmla="*/ 0 w 943"/>
                      <a:gd name="T15" fmla="*/ 0 h 116"/>
                      <a:gd name="T16" fmla="*/ 0 w 943"/>
                      <a:gd name="T17" fmla="*/ 0 h 116"/>
                      <a:gd name="T18" fmla="*/ 0 w 943"/>
                      <a:gd name="T19" fmla="*/ 0 h 116"/>
                      <a:gd name="T20" fmla="*/ 0 w 943"/>
                      <a:gd name="T21" fmla="*/ 0 h 116"/>
                      <a:gd name="T22" fmla="*/ 0 w 943"/>
                      <a:gd name="T23" fmla="*/ 0 h 116"/>
                      <a:gd name="T24" fmla="*/ 0 w 943"/>
                      <a:gd name="T25" fmla="*/ 0 h 116"/>
                      <a:gd name="T26" fmla="*/ 0 w 943"/>
                      <a:gd name="T27" fmla="*/ 0 h 116"/>
                      <a:gd name="T28" fmla="*/ 0 w 943"/>
                      <a:gd name="T29" fmla="*/ 0 h 116"/>
                      <a:gd name="T30" fmla="*/ 0 w 943"/>
                      <a:gd name="T31" fmla="*/ 0 h 116"/>
                      <a:gd name="T32" fmla="*/ 0 w 943"/>
                      <a:gd name="T33" fmla="*/ 0 h 116"/>
                      <a:gd name="T34" fmla="*/ 0 w 943"/>
                      <a:gd name="T35" fmla="*/ 0 h 116"/>
                      <a:gd name="T36" fmla="*/ 0 w 943"/>
                      <a:gd name="T37" fmla="*/ 0 h 116"/>
                      <a:gd name="T38" fmla="*/ 0 w 943"/>
                      <a:gd name="T39" fmla="*/ 0 h 116"/>
                      <a:gd name="T40" fmla="*/ 0 w 943"/>
                      <a:gd name="T41" fmla="*/ 0 h 116"/>
                      <a:gd name="T42" fmla="*/ 0 w 943"/>
                      <a:gd name="T43" fmla="*/ 0 h 116"/>
                      <a:gd name="T44" fmla="*/ 0 w 943"/>
                      <a:gd name="T45" fmla="*/ 0 h 116"/>
                      <a:gd name="T46" fmla="*/ 0 w 943"/>
                      <a:gd name="T47" fmla="*/ 0 h 116"/>
                      <a:gd name="T48" fmla="*/ 0 w 943"/>
                      <a:gd name="T49" fmla="*/ 0 h 116"/>
                      <a:gd name="T50" fmla="*/ 0 w 943"/>
                      <a:gd name="T51" fmla="*/ 0 h 116"/>
                      <a:gd name="T52" fmla="*/ 0 w 943"/>
                      <a:gd name="T53" fmla="*/ 0 h 116"/>
                      <a:gd name="T54" fmla="*/ 0 w 943"/>
                      <a:gd name="T55" fmla="*/ 0 h 116"/>
                      <a:gd name="T56" fmla="*/ 0 w 943"/>
                      <a:gd name="T57" fmla="*/ 0 h 116"/>
                      <a:gd name="T58" fmla="*/ 0 w 943"/>
                      <a:gd name="T59" fmla="*/ 0 h 116"/>
                      <a:gd name="T60" fmla="*/ 0 w 943"/>
                      <a:gd name="T61" fmla="*/ 0 h 116"/>
                      <a:gd name="T62" fmla="*/ 0 w 943"/>
                      <a:gd name="T63" fmla="*/ 0 h 116"/>
                      <a:gd name="T64" fmla="*/ 0 w 943"/>
                      <a:gd name="T65" fmla="*/ 0 h 116"/>
                      <a:gd name="T66" fmla="*/ 0 w 943"/>
                      <a:gd name="T67" fmla="*/ 0 h 116"/>
                      <a:gd name="T68" fmla="*/ 0 w 943"/>
                      <a:gd name="T69" fmla="*/ 0 h 116"/>
                      <a:gd name="T70" fmla="*/ 0 w 943"/>
                      <a:gd name="T71" fmla="*/ 0 h 116"/>
                      <a:gd name="T72" fmla="*/ 0 w 943"/>
                      <a:gd name="T73" fmla="*/ 0 h 116"/>
                      <a:gd name="T74" fmla="*/ 0 w 943"/>
                      <a:gd name="T75" fmla="*/ 0 h 116"/>
                      <a:gd name="T76" fmla="*/ 0 w 943"/>
                      <a:gd name="T77" fmla="*/ 0 h 116"/>
                      <a:gd name="T78" fmla="*/ 0 w 943"/>
                      <a:gd name="T79" fmla="*/ 0 h 116"/>
                      <a:gd name="T80" fmla="*/ 0 w 943"/>
                      <a:gd name="T81" fmla="*/ 0 h 116"/>
                      <a:gd name="T82" fmla="*/ 0 w 943"/>
                      <a:gd name="T83" fmla="*/ 0 h 116"/>
                      <a:gd name="T84" fmla="*/ 0 w 943"/>
                      <a:gd name="T85" fmla="*/ 0 h 116"/>
                      <a:gd name="T86" fmla="*/ 0 w 943"/>
                      <a:gd name="T87" fmla="*/ 0 h 116"/>
                      <a:gd name="T88" fmla="*/ 0 w 943"/>
                      <a:gd name="T89" fmla="*/ 0 h 116"/>
                      <a:gd name="T90" fmla="*/ 0 w 943"/>
                      <a:gd name="T91" fmla="*/ 0 h 116"/>
                      <a:gd name="T92" fmla="*/ 0 w 943"/>
                      <a:gd name="T93" fmla="*/ 0 h 116"/>
                      <a:gd name="T94" fmla="*/ 0 w 943"/>
                      <a:gd name="T95" fmla="*/ 0 h 116"/>
                      <a:gd name="T96" fmla="*/ 0 w 943"/>
                      <a:gd name="T97" fmla="*/ 0 h 116"/>
                      <a:gd name="T98" fmla="*/ 0 w 943"/>
                      <a:gd name="T99" fmla="*/ 0 h 116"/>
                      <a:gd name="T100" fmla="*/ 0 w 943"/>
                      <a:gd name="T101" fmla="*/ 0 h 116"/>
                      <a:gd name="T102" fmla="*/ 0 w 943"/>
                      <a:gd name="T103" fmla="*/ 0 h 116"/>
                      <a:gd name="T104" fmla="*/ 0 w 943"/>
                      <a:gd name="T105" fmla="*/ 0 h 116"/>
                      <a:gd name="T106" fmla="*/ 0 w 943"/>
                      <a:gd name="T107" fmla="*/ 0 h 116"/>
                      <a:gd name="T108" fmla="*/ 0 w 943"/>
                      <a:gd name="T109" fmla="*/ 0 h 116"/>
                      <a:gd name="T110" fmla="*/ 0 w 943"/>
                      <a:gd name="T111" fmla="*/ 0 h 1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43"/>
                      <a:gd name="T169" fmla="*/ 0 h 116"/>
                      <a:gd name="T170" fmla="*/ 943 w 943"/>
                      <a:gd name="T171" fmla="*/ 116 h 1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43" h="116">
                        <a:moveTo>
                          <a:pt x="435" y="0"/>
                        </a:moveTo>
                        <a:lnTo>
                          <a:pt x="442" y="0"/>
                        </a:lnTo>
                        <a:lnTo>
                          <a:pt x="450" y="1"/>
                        </a:lnTo>
                        <a:lnTo>
                          <a:pt x="458" y="1"/>
                        </a:lnTo>
                        <a:lnTo>
                          <a:pt x="465" y="1"/>
                        </a:lnTo>
                        <a:lnTo>
                          <a:pt x="472" y="1"/>
                        </a:lnTo>
                        <a:lnTo>
                          <a:pt x="480" y="1"/>
                        </a:lnTo>
                        <a:lnTo>
                          <a:pt x="488" y="1"/>
                        </a:lnTo>
                        <a:lnTo>
                          <a:pt x="496" y="2"/>
                        </a:lnTo>
                        <a:lnTo>
                          <a:pt x="503" y="2"/>
                        </a:lnTo>
                        <a:lnTo>
                          <a:pt x="510" y="2"/>
                        </a:lnTo>
                        <a:lnTo>
                          <a:pt x="518" y="2"/>
                        </a:lnTo>
                        <a:lnTo>
                          <a:pt x="525" y="4"/>
                        </a:lnTo>
                        <a:lnTo>
                          <a:pt x="533" y="4"/>
                        </a:lnTo>
                        <a:lnTo>
                          <a:pt x="540" y="5"/>
                        </a:lnTo>
                        <a:lnTo>
                          <a:pt x="548" y="5"/>
                        </a:lnTo>
                        <a:lnTo>
                          <a:pt x="555" y="5"/>
                        </a:lnTo>
                        <a:lnTo>
                          <a:pt x="562" y="5"/>
                        </a:lnTo>
                        <a:lnTo>
                          <a:pt x="571" y="5"/>
                        </a:lnTo>
                        <a:lnTo>
                          <a:pt x="578" y="5"/>
                        </a:lnTo>
                        <a:lnTo>
                          <a:pt x="586" y="5"/>
                        </a:lnTo>
                        <a:lnTo>
                          <a:pt x="593" y="5"/>
                        </a:lnTo>
                        <a:lnTo>
                          <a:pt x="600" y="6"/>
                        </a:lnTo>
                        <a:lnTo>
                          <a:pt x="609" y="6"/>
                        </a:lnTo>
                        <a:lnTo>
                          <a:pt x="616" y="7"/>
                        </a:lnTo>
                        <a:lnTo>
                          <a:pt x="623" y="7"/>
                        </a:lnTo>
                        <a:lnTo>
                          <a:pt x="630" y="7"/>
                        </a:lnTo>
                        <a:lnTo>
                          <a:pt x="638" y="7"/>
                        </a:lnTo>
                        <a:lnTo>
                          <a:pt x="645" y="7"/>
                        </a:lnTo>
                        <a:lnTo>
                          <a:pt x="652" y="7"/>
                        </a:lnTo>
                        <a:lnTo>
                          <a:pt x="661" y="8"/>
                        </a:lnTo>
                        <a:lnTo>
                          <a:pt x="668" y="9"/>
                        </a:lnTo>
                        <a:lnTo>
                          <a:pt x="676" y="9"/>
                        </a:lnTo>
                        <a:lnTo>
                          <a:pt x="683" y="9"/>
                        </a:lnTo>
                        <a:lnTo>
                          <a:pt x="690" y="9"/>
                        </a:lnTo>
                        <a:lnTo>
                          <a:pt x="699" y="9"/>
                        </a:lnTo>
                        <a:lnTo>
                          <a:pt x="706" y="11"/>
                        </a:lnTo>
                        <a:lnTo>
                          <a:pt x="713" y="11"/>
                        </a:lnTo>
                        <a:lnTo>
                          <a:pt x="720" y="12"/>
                        </a:lnTo>
                        <a:lnTo>
                          <a:pt x="728" y="12"/>
                        </a:lnTo>
                        <a:lnTo>
                          <a:pt x="735" y="12"/>
                        </a:lnTo>
                        <a:lnTo>
                          <a:pt x="743" y="12"/>
                        </a:lnTo>
                        <a:lnTo>
                          <a:pt x="750" y="13"/>
                        </a:lnTo>
                        <a:lnTo>
                          <a:pt x="757" y="14"/>
                        </a:lnTo>
                        <a:lnTo>
                          <a:pt x="765" y="14"/>
                        </a:lnTo>
                        <a:lnTo>
                          <a:pt x="772" y="15"/>
                        </a:lnTo>
                        <a:lnTo>
                          <a:pt x="779" y="17"/>
                        </a:lnTo>
                        <a:lnTo>
                          <a:pt x="787" y="17"/>
                        </a:lnTo>
                        <a:lnTo>
                          <a:pt x="795" y="18"/>
                        </a:lnTo>
                        <a:lnTo>
                          <a:pt x="802" y="18"/>
                        </a:lnTo>
                        <a:lnTo>
                          <a:pt x="809" y="19"/>
                        </a:lnTo>
                        <a:lnTo>
                          <a:pt x="816" y="19"/>
                        </a:lnTo>
                        <a:lnTo>
                          <a:pt x="824" y="20"/>
                        </a:lnTo>
                        <a:lnTo>
                          <a:pt x="832" y="23"/>
                        </a:lnTo>
                        <a:lnTo>
                          <a:pt x="839" y="23"/>
                        </a:lnTo>
                        <a:lnTo>
                          <a:pt x="846" y="24"/>
                        </a:lnTo>
                        <a:lnTo>
                          <a:pt x="853" y="25"/>
                        </a:lnTo>
                        <a:lnTo>
                          <a:pt x="860" y="26"/>
                        </a:lnTo>
                        <a:lnTo>
                          <a:pt x="867" y="27"/>
                        </a:lnTo>
                        <a:lnTo>
                          <a:pt x="876" y="28"/>
                        </a:lnTo>
                        <a:lnTo>
                          <a:pt x="883" y="30"/>
                        </a:lnTo>
                        <a:lnTo>
                          <a:pt x="890" y="31"/>
                        </a:lnTo>
                        <a:lnTo>
                          <a:pt x="897" y="32"/>
                        </a:lnTo>
                        <a:lnTo>
                          <a:pt x="904" y="34"/>
                        </a:lnTo>
                        <a:lnTo>
                          <a:pt x="912" y="36"/>
                        </a:lnTo>
                        <a:lnTo>
                          <a:pt x="916" y="39"/>
                        </a:lnTo>
                        <a:lnTo>
                          <a:pt x="919" y="44"/>
                        </a:lnTo>
                        <a:lnTo>
                          <a:pt x="923" y="49"/>
                        </a:lnTo>
                        <a:lnTo>
                          <a:pt x="928" y="52"/>
                        </a:lnTo>
                        <a:lnTo>
                          <a:pt x="931" y="57"/>
                        </a:lnTo>
                        <a:lnTo>
                          <a:pt x="934" y="62"/>
                        </a:lnTo>
                        <a:lnTo>
                          <a:pt x="938" y="65"/>
                        </a:lnTo>
                        <a:lnTo>
                          <a:pt x="943" y="70"/>
                        </a:lnTo>
                        <a:lnTo>
                          <a:pt x="940" y="75"/>
                        </a:lnTo>
                        <a:lnTo>
                          <a:pt x="936" y="78"/>
                        </a:lnTo>
                        <a:lnTo>
                          <a:pt x="934" y="83"/>
                        </a:lnTo>
                        <a:lnTo>
                          <a:pt x="931" y="88"/>
                        </a:lnTo>
                        <a:lnTo>
                          <a:pt x="929" y="91"/>
                        </a:lnTo>
                        <a:lnTo>
                          <a:pt x="927" y="95"/>
                        </a:lnTo>
                        <a:lnTo>
                          <a:pt x="925" y="101"/>
                        </a:lnTo>
                        <a:lnTo>
                          <a:pt x="923" y="106"/>
                        </a:lnTo>
                        <a:lnTo>
                          <a:pt x="918" y="106"/>
                        </a:lnTo>
                        <a:lnTo>
                          <a:pt x="915" y="106"/>
                        </a:lnTo>
                        <a:lnTo>
                          <a:pt x="911" y="106"/>
                        </a:lnTo>
                        <a:lnTo>
                          <a:pt x="906" y="106"/>
                        </a:lnTo>
                        <a:lnTo>
                          <a:pt x="902" y="106"/>
                        </a:lnTo>
                        <a:lnTo>
                          <a:pt x="898" y="106"/>
                        </a:lnTo>
                        <a:lnTo>
                          <a:pt x="893" y="106"/>
                        </a:lnTo>
                        <a:lnTo>
                          <a:pt x="889" y="106"/>
                        </a:lnTo>
                        <a:lnTo>
                          <a:pt x="885" y="106"/>
                        </a:lnTo>
                        <a:lnTo>
                          <a:pt x="880" y="106"/>
                        </a:lnTo>
                        <a:lnTo>
                          <a:pt x="876" y="106"/>
                        </a:lnTo>
                        <a:lnTo>
                          <a:pt x="872" y="106"/>
                        </a:lnTo>
                        <a:lnTo>
                          <a:pt x="867" y="106"/>
                        </a:lnTo>
                        <a:lnTo>
                          <a:pt x="864" y="106"/>
                        </a:lnTo>
                        <a:lnTo>
                          <a:pt x="859" y="106"/>
                        </a:lnTo>
                        <a:lnTo>
                          <a:pt x="855" y="106"/>
                        </a:lnTo>
                        <a:lnTo>
                          <a:pt x="851" y="104"/>
                        </a:lnTo>
                        <a:lnTo>
                          <a:pt x="847" y="104"/>
                        </a:lnTo>
                        <a:lnTo>
                          <a:pt x="842" y="103"/>
                        </a:lnTo>
                        <a:lnTo>
                          <a:pt x="838" y="103"/>
                        </a:lnTo>
                        <a:lnTo>
                          <a:pt x="834" y="103"/>
                        </a:lnTo>
                        <a:lnTo>
                          <a:pt x="829" y="102"/>
                        </a:lnTo>
                        <a:lnTo>
                          <a:pt x="826" y="102"/>
                        </a:lnTo>
                        <a:lnTo>
                          <a:pt x="822" y="102"/>
                        </a:lnTo>
                        <a:lnTo>
                          <a:pt x="817" y="101"/>
                        </a:lnTo>
                        <a:lnTo>
                          <a:pt x="814" y="101"/>
                        </a:lnTo>
                        <a:lnTo>
                          <a:pt x="809" y="100"/>
                        </a:lnTo>
                        <a:lnTo>
                          <a:pt x="806" y="100"/>
                        </a:lnTo>
                        <a:lnTo>
                          <a:pt x="801" y="100"/>
                        </a:lnTo>
                        <a:lnTo>
                          <a:pt x="797" y="99"/>
                        </a:lnTo>
                        <a:lnTo>
                          <a:pt x="792" y="99"/>
                        </a:lnTo>
                        <a:lnTo>
                          <a:pt x="789" y="99"/>
                        </a:lnTo>
                        <a:lnTo>
                          <a:pt x="784" y="97"/>
                        </a:lnTo>
                        <a:lnTo>
                          <a:pt x="781" y="97"/>
                        </a:lnTo>
                        <a:lnTo>
                          <a:pt x="776" y="96"/>
                        </a:lnTo>
                        <a:lnTo>
                          <a:pt x="772" y="95"/>
                        </a:lnTo>
                        <a:lnTo>
                          <a:pt x="768" y="95"/>
                        </a:lnTo>
                        <a:lnTo>
                          <a:pt x="764" y="95"/>
                        </a:lnTo>
                        <a:lnTo>
                          <a:pt x="759" y="94"/>
                        </a:lnTo>
                        <a:lnTo>
                          <a:pt x="756" y="94"/>
                        </a:lnTo>
                        <a:lnTo>
                          <a:pt x="751" y="93"/>
                        </a:lnTo>
                        <a:lnTo>
                          <a:pt x="746" y="93"/>
                        </a:lnTo>
                        <a:lnTo>
                          <a:pt x="743" y="93"/>
                        </a:lnTo>
                        <a:lnTo>
                          <a:pt x="739" y="93"/>
                        </a:lnTo>
                        <a:lnTo>
                          <a:pt x="734" y="91"/>
                        </a:lnTo>
                        <a:lnTo>
                          <a:pt x="731" y="91"/>
                        </a:lnTo>
                        <a:lnTo>
                          <a:pt x="726" y="91"/>
                        </a:lnTo>
                        <a:lnTo>
                          <a:pt x="722" y="91"/>
                        </a:lnTo>
                        <a:lnTo>
                          <a:pt x="719" y="90"/>
                        </a:lnTo>
                        <a:lnTo>
                          <a:pt x="713" y="90"/>
                        </a:lnTo>
                        <a:lnTo>
                          <a:pt x="709" y="90"/>
                        </a:lnTo>
                        <a:lnTo>
                          <a:pt x="706" y="90"/>
                        </a:lnTo>
                        <a:lnTo>
                          <a:pt x="701" y="89"/>
                        </a:lnTo>
                        <a:lnTo>
                          <a:pt x="696" y="89"/>
                        </a:lnTo>
                        <a:lnTo>
                          <a:pt x="693" y="89"/>
                        </a:lnTo>
                        <a:lnTo>
                          <a:pt x="688" y="89"/>
                        </a:lnTo>
                        <a:lnTo>
                          <a:pt x="684" y="89"/>
                        </a:lnTo>
                        <a:lnTo>
                          <a:pt x="680" y="89"/>
                        </a:lnTo>
                        <a:lnTo>
                          <a:pt x="675" y="89"/>
                        </a:lnTo>
                        <a:lnTo>
                          <a:pt x="671" y="89"/>
                        </a:lnTo>
                        <a:lnTo>
                          <a:pt x="667" y="89"/>
                        </a:lnTo>
                        <a:lnTo>
                          <a:pt x="663" y="89"/>
                        </a:lnTo>
                        <a:lnTo>
                          <a:pt x="658" y="89"/>
                        </a:lnTo>
                        <a:lnTo>
                          <a:pt x="655" y="90"/>
                        </a:lnTo>
                        <a:lnTo>
                          <a:pt x="650" y="89"/>
                        </a:lnTo>
                        <a:lnTo>
                          <a:pt x="645" y="88"/>
                        </a:lnTo>
                        <a:lnTo>
                          <a:pt x="641" y="88"/>
                        </a:lnTo>
                        <a:lnTo>
                          <a:pt x="636" y="88"/>
                        </a:lnTo>
                        <a:lnTo>
                          <a:pt x="632" y="87"/>
                        </a:lnTo>
                        <a:lnTo>
                          <a:pt x="628" y="87"/>
                        </a:lnTo>
                        <a:lnTo>
                          <a:pt x="623" y="85"/>
                        </a:lnTo>
                        <a:lnTo>
                          <a:pt x="619" y="85"/>
                        </a:lnTo>
                        <a:lnTo>
                          <a:pt x="614" y="85"/>
                        </a:lnTo>
                        <a:lnTo>
                          <a:pt x="610" y="84"/>
                        </a:lnTo>
                        <a:lnTo>
                          <a:pt x="605" y="84"/>
                        </a:lnTo>
                        <a:lnTo>
                          <a:pt x="600" y="84"/>
                        </a:lnTo>
                        <a:lnTo>
                          <a:pt x="595" y="83"/>
                        </a:lnTo>
                        <a:lnTo>
                          <a:pt x="592" y="83"/>
                        </a:lnTo>
                        <a:lnTo>
                          <a:pt x="587" y="83"/>
                        </a:lnTo>
                        <a:lnTo>
                          <a:pt x="582" y="83"/>
                        </a:lnTo>
                        <a:lnTo>
                          <a:pt x="578" y="82"/>
                        </a:lnTo>
                        <a:lnTo>
                          <a:pt x="573" y="82"/>
                        </a:lnTo>
                        <a:lnTo>
                          <a:pt x="568" y="81"/>
                        </a:lnTo>
                        <a:lnTo>
                          <a:pt x="563" y="81"/>
                        </a:lnTo>
                        <a:lnTo>
                          <a:pt x="559" y="81"/>
                        </a:lnTo>
                        <a:lnTo>
                          <a:pt x="554" y="81"/>
                        </a:lnTo>
                        <a:lnTo>
                          <a:pt x="549" y="81"/>
                        </a:lnTo>
                        <a:lnTo>
                          <a:pt x="544" y="81"/>
                        </a:lnTo>
                        <a:lnTo>
                          <a:pt x="540" y="81"/>
                        </a:lnTo>
                        <a:lnTo>
                          <a:pt x="536" y="81"/>
                        </a:lnTo>
                        <a:lnTo>
                          <a:pt x="531" y="81"/>
                        </a:lnTo>
                        <a:lnTo>
                          <a:pt x="525" y="81"/>
                        </a:lnTo>
                        <a:lnTo>
                          <a:pt x="521" y="81"/>
                        </a:lnTo>
                        <a:lnTo>
                          <a:pt x="516" y="81"/>
                        </a:lnTo>
                        <a:lnTo>
                          <a:pt x="512" y="81"/>
                        </a:lnTo>
                        <a:lnTo>
                          <a:pt x="508" y="82"/>
                        </a:lnTo>
                        <a:lnTo>
                          <a:pt x="501" y="81"/>
                        </a:lnTo>
                        <a:lnTo>
                          <a:pt x="493" y="81"/>
                        </a:lnTo>
                        <a:lnTo>
                          <a:pt x="485" y="81"/>
                        </a:lnTo>
                        <a:lnTo>
                          <a:pt x="479" y="81"/>
                        </a:lnTo>
                        <a:lnTo>
                          <a:pt x="472" y="80"/>
                        </a:lnTo>
                        <a:lnTo>
                          <a:pt x="465" y="80"/>
                        </a:lnTo>
                        <a:lnTo>
                          <a:pt x="458" y="80"/>
                        </a:lnTo>
                        <a:lnTo>
                          <a:pt x="451" y="80"/>
                        </a:lnTo>
                        <a:lnTo>
                          <a:pt x="444" y="78"/>
                        </a:lnTo>
                        <a:lnTo>
                          <a:pt x="438" y="78"/>
                        </a:lnTo>
                        <a:lnTo>
                          <a:pt x="429" y="78"/>
                        </a:lnTo>
                        <a:lnTo>
                          <a:pt x="422" y="78"/>
                        </a:lnTo>
                        <a:lnTo>
                          <a:pt x="415" y="78"/>
                        </a:lnTo>
                        <a:lnTo>
                          <a:pt x="409" y="78"/>
                        </a:lnTo>
                        <a:lnTo>
                          <a:pt x="402" y="78"/>
                        </a:lnTo>
                        <a:lnTo>
                          <a:pt x="395" y="78"/>
                        </a:lnTo>
                        <a:lnTo>
                          <a:pt x="387" y="78"/>
                        </a:lnTo>
                        <a:lnTo>
                          <a:pt x="381" y="78"/>
                        </a:lnTo>
                        <a:lnTo>
                          <a:pt x="374" y="78"/>
                        </a:lnTo>
                        <a:lnTo>
                          <a:pt x="366" y="78"/>
                        </a:lnTo>
                        <a:lnTo>
                          <a:pt x="359" y="78"/>
                        </a:lnTo>
                        <a:lnTo>
                          <a:pt x="352" y="78"/>
                        </a:lnTo>
                        <a:lnTo>
                          <a:pt x="345" y="80"/>
                        </a:lnTo>
                        <a:lnTo>
                          <a:pt x="339" y="80"/>
                        </a:lnTo>
                        <a:lnTo>
                          <a:pt x="331" y="80"/>
                        </a:lnTo>
                        <a:lnTo>
                          <a:pt x="325" y="80"/>
                        </a:lnTo>
                        <a:lnTo>
                          <a:pt x="318" y="81"/>
                        </a:lnTo>
                        <a:lnTo>
                          <a:pt x="311" y="81"/>
                        </a:lnTo>
                        <a:lnTo>
                          <a:pt x="304" y="81"/>
                        </a:lnTo>
                        <a:lnTo>
                          <a:pt x="298" y="82"/>
                        </a:lnTo>
                        <a:lnTo>
                          <a:pt x="291" y="82"/>
                        </a:lnTo>
                        <a:lnTo>
                          <a:pt x="283" y="83"/>
                        </a:lnTo>
                        <a:lnTo>
                          <a:pt x="276" y="83"/>
                        </a:lnTo>
                        <a:lnTo>
                          <a:pt x="269" y="83"/>
                        </a:lnTo>
                        <a:lnTo>
                          <a:pt x="263" y="84"/>
                        </a:lnTo>
                        <a:lnTo>
                          <a:pt x="256" y="84"/>
                        </a:lnTo>
                        <a:lnTo>
                          <a:pt x="249" y="85"/>
                        </a:lnTo>
                        <a:lnTo>
                          <a:pt x="242" y="85"/>
                        </a:lnTo>
                        <a:lnTo>
                          <a:pt x="235" y="87"/>
                        </a:lnTo>
                        <a:lnTo>
                          <a:pt x="229" y="88"/>
                        </a:lnTo>
                        <a:lnTo>
                          <a:pt x="222" y="88"/>
                        </a:lnTo>
                        <a:lnTo>
                          <a:pt x="215" y="89"/>
                        </a:lnTo>
                        <a:lnTo>
                          <a:pt x="208" y="90"/>
                        </a:lnTo>
                        <a:lnTo>
                          <a:pt x="202" y="90"/>
                        </a:lnTo>
                        <a:lnTo>
                          <a:pt x="194" y="91"/>
                        </a:lnTo>
                        <a:lnTo>
                          <a:pt x="187" y="93"/>
                        </a:lnTo>
                        <a:lnTo>
                          <a:pt x="181" y="94"/>
                        </a:lnTo>
                        <a:lnTo>
                          <a:pt x="174" y="95"/>
                        </a:lnTo>
                        <a:lnTo>
                          <a:pt x="167" y="95"/>
                        </a:lnTo>
                        <a:lnTo>
                          <a:pt x="161" y="96"/>
                        </a:lnTo>
                        <a:lnTo>
                          <a:pt x="154" y="97"/>
                        </a:lnTo>
                        <a:lnTo>
                          <a:pt x="147" y="99"/>
                        </a:lnTo>
                        <a:lnTo>
                          <a:pt x="141" y="100"/>
                        </a:lnTo>
                        <a:lnTo>
                          <a:pt x="134" y="101"/>
                        </a:lnTo>
                        <a:lnTo>
                          <a:pt x="127" y="103"/>
                        </a:lnTo>
                        <a:lnTo>
                          <a:pt x="121" y="104"/>
                        </a:lnTo>
                        <a:lnTo>
                          <a:pt x="114" y="106"/>
                        </a:lnTo>
                        <a:lnTo>
                          <a:pt x="108" y="107"/>
                        </a:lnTo>
                        <a:lnTo>
                          <a:pt x="101" y="108"/>
                        </a:lnTo>
                        <a:lnTo>
                          <a:pt x="95" y="110"/>
                        </a:lnTo>
                        <a:lnTo>
                          <a:pt x="88" y="112"/>
                        </a:lnTo>
                        <a:lnTo>
                          <a:pt x="82" y="113"/>
                        </a:lnTo>
                        <a:lnTo>
                          <a:pt x="76" y="115"/>
                        </a:lnTo>
                        <a:lnTo>
                          <a:pt x="69" y="116"/>
                        </a:lnTo>
                        <a:lnTo>
                          <a:pt x="65" y="115"/>
                        </a:lnTo>
                        <a:lnTo>
                          <a:pt x="62" y="115"/>
                        </a:lnTo>
                        <a:lnTo>
                          <a:pt x="58" y="114"/>
                        </a:lnTo>
                        <a:lnTo>
                          <a:pt x="56" y="114"/>
                        </a:lnTo>
                        <a:lnTo>
                          <a:pt x="52" y="113"/>
                        </a:lnTo>
                        <a:lnTo>
                          <a:pt x="49" y="113"/>
                        </a:lnTo>
                        <a:lnTo>
                          <a:pt x="45" y="113"/>
                        </a:lnTo>
                        <a:lnTo>
                          <a:pt x="43" y="113"/>
                        </a:lnTo>
                        <a:lnTo>
                          <a:pt x="39" y="113"/>
                        </a:lnTo>
                        <a:lnTo>
                          <a:pt x="37" y="113"/>
                        </a:lnTo>
                        <a:lnTo>
                          <a:pt x="33" y="113"/>
                        </a:lnTo>
                        <a:lnTo>
                          <a:pt x="31" y="113"/>
                        </a:lnTo>
                        <a:lnTo>
                          <a:pt x="27" y="113"/>
                        </a:lnTo>
                        <a:lnTo>
                          <a:pt x="25" y="113"/>
                        </a:lnTo>
                        <a:lnTo>
                          <a:pt x="22" y="113"/>
                        </a:lnTo>
                        <a:lnTo>
                          <a:pt x="19" y="113"/>
                        </a:lnTo>
                        <a:lnTo>
                          <a:pt x="18" y="109"/>
                        </a:lnTo>
                        <a:lnTo>
                          <a:pt x="16" y="107"/>
                        </a:lnTo>
                        <a:lnTo>
                          <a:pt x="15" y="103"/>
                        </a:lnTo>
                        <a:lnTo>
                          <a:pt x="14" y="101"/>
                        </a:lnTo>
                        <a:lnTo>
                          <a:pt x="12" y="95"/>
                        </a:lnTo>
                        <a:lnTo>
                          <a:pt x="9" y="91"/>
                        </a:lnTo>
                        <a:lnTo>
                          <a:pt x="7" y="87"/>
                        </a:lnTo>
                        <a:lnTo>
                          <a:pt x="5" y="83"/>
                        </a:lnTo>
                        <a:lnTo>
                          <a:pt x="2" y="78"/>
                        </a:lnTo>
                        <a:lnTo>
                          <a:pt x="0" y="75"/>
                        </a:lnTo>
                        <a:lnTo>
                          <a:pt x="2" y="70"/>
                        </a:lnTo>
                        <a:lnTo>
                          <a:pt x="6" y="68"/>
                        </a:lnTo>
                        <a:lnTo>
                          <a:pt x="8" y="64"/>
                        </a:lnTo>
                        <a:lnTo>
                          <a:pt x="12" y="61"/>
                        </a:lnTo>
                        <a:lnTo>
                          <a:pt x="14" y="58"/>
                        </a:lnTo>
                        <a:lnTo>
                          <a:pt x="18" y="55"/>
                        </a:lnTo>
                        <a:lnTo>
                          <a:pt x="21" y="52"/>
                        </a:lnTo>
                        <a:lnTo>
                          <a:pt x="25" y="51"/>
                        </a:lnTo>
                        <a:lnTo>
                          <a:pt x="27" y="49"/>
                        </a:lnTo>
                        <a:lnTo>
                          <a:pt x="31" y="46"/>
                        </a:lnTo>
                        <a:lnTo>
                          <a:pt x="34" y="44"/>
                        </a:lnTo>
                        <a:lnTo>
                          <a:pt x="38" y="43"/>
                        </a:lnTo>
                        <a:lnTo>
                          <a:pt x="41" y="40"/>
                        </a:lnTo>
                        <a:lnTo>
                          <a:pt x="45" y="39"/>
                        </a:lnTo>
                        <a:lnTo>
                          <a:pt x="49" y="38"/>
                        </a:lnTo>
                        <a:lnTo>
                          <a:pt x="53" y="37"/>
                        </a:lnTo>
                        <a:lnTo>
                          <a:pt x="56" y="34"/>
                        </a:lnTo>
                        <a:lnTo>
                          <a:pt x="60" y="33"/>
                        </a:lnTo>
                        <a:lnTo>
                          <a:pt x="64" y="32"/>
                        </a:lnTo>
                        <a:lnTo>
                          <a:pt x="67" y="31"/>
                        </a:lnTo>
                        <a:lnTo>
                          <a:pt x="71" y="30"/>
                        </a:lnTo>
                        <a:lnTo>
                          <a:pt x="76" y="30"/>
                        </a:lnTo>
                        <a:lnTo>
                          <a:pt x="79" y="28"/>
                        </a:lnTo>
                        <a:lnTo>
                          <a:pt x="83" y="27"/>
                        </a:lnTo>
                        <a:lnTo>
                          <a:pt x="88" y="27"/>
                        </a:lnTo>
                        <a:lnTo>
                          <a:pt x="91" y="26"/>
                        </a:lnTo>
                        <a:lnTo>
                          <a:pt x="95" y="25"/>
                        </a:lnTo>
                        <a:lnTo>
                          <a:pt x="98" y="25"/>
                        </a:lnTo>
                        <a:lnTo>
                          <a:pt x="103" y="25"/>
                        </a:lnTo>
                        <a:lnTo>
                          <a:pt x="107" y="25"/>
                        </a:lnTo>
                        <a:lnTo>
                          <a:pt x="111" y="24"/>
                        </a:lnTo>
                        <a:lnTo>
                          <a:pt x="116" y="24"/>
                        </a:lnTo>
                        <a:lnTo>
                          <a:pt x="120" y="23"/>
                        </a:lnTo>
                        <a:lnTo>
                          <a:pt x="123" y="23"/>
                        </a:lnTo>
                        <a:lnTo>
                          <a:pt x="127" y="23"/>
                        </a:lnTo>
                        <a:lnTo>
                          <a:pt x="132" y="23"/>
                        </a:lnTo>
                        <a:lnTo>
                          <a:pt x="135" y="23"/>
                        </a:lnTo>
                        <a:lnTo>
                          <a:pt x="140" y="21"/>
                        </a:lnTo>
                        <a:lnTo>
                          <a:pt x="143" y="21"/>
                        </a:lnTo>
                        <a:lnTo>
                          <a:pt x="148" y="21"/>
                        </a:lnTo>
                        <a:lnTo>
                          <a:pt x="152" y="20"/>
                        </a:lnTo>
                        <a:lnTo>
                          <a:pt x="156" y="20"/>
                        </a:lnTo>
                        <a:lnTo>
                          <a:pt x="161" y="20"/>
                        </a:lnTo>
                        <a:lnTo>
                          <a:pt x="165" y="20"/>
                        </a:lnTo>
                        <a:lnTo>
                          <a:pt x="170" y="19"/>
                        </a:lnTo>
                        <a:lnTo>
                          <a:pt x="173" y="19"/>
                        </a:lnTo>
                        <a:lnTo>
                          <a:pt x="177" y="19"/>
                        </a:lnTo>
                        <a:lnTo>
                          <a:pt x="181" y="19"/>
                        </a:lnTo>
                        <a:lnTo>
                          <a:pt x="186" y="19"/>
                        </a:lnTo>
                        <a:lnTo>
                          <a:pt x="190" y="19"/>
                        </a:lnTo>
                        <a:lnTo>
                          <a:pt x="194" y="18"/>
                        </a:lnTo>
                        <a:lnTo>
                          <a:pt x="198" y="18"/>
                        </a:lnTo>
                        <a:lnTo>
                          <a:pt x="202" y="17"/>
                        </a:lnTo>
                        <a:lnTo>
                          <a:pt x="206" y="17"/>
                        </a:lnTo>
                        <a:lnTo>
                          <a:pt x="210" y="15"/>
                        </a:lnTo>
                        <a:lnTo>
                          <a:pt x="215" y="15"/>
                        </a:lnTo>
                        <a:lnTo>
                          <a:pt x="218" y="14"/>
                        </a:lnTo>
                        <a:lnTo>
                          <a:pt x="222" y="14"/>
                        </a:lnTo>
                        <a:lnTo>
                          <a:pt x="225" y="13"/>
                        </a:lnTo>
                        <a:lnTo>
                          <a:pt x="230" y="12"/>
                        </a:lnTo>
                        <a:lnTo>
                          <a:pt x="234" y="12"/>
                        </a:lnTo>
                        <a:lnTo>
                          <a:pt x="237" y="11"/>
                        </a:lnTo>
                        <a:lnTo>
                          <a:pt x="242" y="9"/>
                        </a:lnTo>
                        <a:lnTo>
                          <a:pt x="245" y="9"/>
                        </a:lnTo>
                        <a:lnTo>
                          <a:pt x="249" y="7"/>
                        </a:lnTo>
                        <a:lnTo>
                          <a:pt x="251" y="7"/>
                        </a:lnTo>
                        <a:lnTo>
                          <a:pt x="255" y="7"/>
                        </a:lnTo>
                        <a:lnTo>
                          <a:pt x="257" y="7"/>
                        </a:lnTo>
                        <a:lnTo>
                          <a:pt x="260" y="7"/>
                        </a:lnTo>
                        <a:lnTo>
                          <a:pt x="263" y="6"/>
                        </a:lnTo>
                        <a:lnTo>
                          <a:pt x="266" y="6"/>
                        </a:lnTo>
                        <a:lnTo>
                          <a:pt x="269" y="6"/>
                        </a:lnTo>
                        <a:lnTo>
                          <a:pt x="272" y="5"/>
                        </a:lnTo>
                        <a:lnTo>
                          <a:pt x="275" y="5"/>
                        </a:lnTo>
                        <a:lnTo>
                          <a:pt x="278" y="5"/>
                        </a:lnTo>
                        <a:lnTo>
                          <a:pt x="281" y="5"/>
                        </a:lnTo>
                        <a:lnTo>
                          <a:pt x="283" y="5"/>
                        </a:lnTo>
                        <a:lnTo>
                          <a:pt x="287" y="5"/>
                        </a:lnTo>
                        <a:lnTo>
                          <a:pt x="289" y="5"/>
                        </a:lnTo>
                        <a:lnTo>
                          <a:pt x="293" y="5"/>
                        </a:lnTo>
                        <a:lnTo>
                          <a:pt x="295" y="5"/>
                        </a:lnTo>
                        <a:lnTo>
                          <a:pt x="298" y="5"/>
                        </a:lnTo>
                        <a:lnTo>
                          <a:pt x="301" y="5"/>
                        </a:lnTo>
                        <a:lnTo>
                          <a:pt x="304" y="5"/>
                        </a:lnTo>
                        <a:lnTo>
                          <a:pt x="307" y="5"/>
                        </a:lnTo>
                        <a:lnTo>
                          <a:pt x="311" y="5"/>
                        </a:lnTo>
                        <a:lnTo>
                          <a:pt x="313" y="5"/>
                        </a:lnTo>
                        <a:lnTo>
                          <a:pt x="315" y="5"/>
                        </a:lnTo>
                        <a:lnTo>
                          <a:pt x="319" y="5"/>
                        </a:lnTo>
                        <a:lnTo>
                          <a:pt x="321" y="5"/>
                        </a:lnTo>
                        <a:lnTo>
                          <a:pt x="325" y="5"/>
                        </a:lnTo>
                        <a:lnTo>
                          <a:pt x="329" y="5"/>
                        </a:lnTo>
                        <a:lnTo>
                          <a:pt x="331" y="5"/>
                        </a:lnTo>
                        <a:lnTo>
                          <a:pt x="333" y="5"/>
                        </a:lnTo>
                        <a:lnTo>
                          <a:pt x="337" y="5"/>
                        </a:lnTo>
                        <a:lnTo>
                          <a:pt x="340" y="6"/>
                        </a:lnTo>
                        <a:lnTo>
                          <a:pt x="343" y="5"/>
                        </a:lnTo>
                        <a:lnTo>
                          <a:pt x="346" y="5"/>
                        </a:lnTo>
                        <a:lnTo>
                          <a:pt x="349" y="5"/>
                        </a:lnTo>
                        <a:lnTo>
                          <a:pt x="351" y="5"/>
                        </a:lnTo>
                        <a:lnTo>
                          <a:pt x="355" y="5"/>
                        </a:lnTo>
                        <a:lnTo>
                          <a:pt x="357" y="5"/>
                        </a:lnTo>
                        <a:lnTo>
                          <a:pt x="361" y="5"/>
                        </a:lnTo>
                        <a:lnTo>
                          <a:pt x="364" y="5"/>
                        </a:lnTo>
                        <a:lnTo>
                          <a:pt x="366" y="5"/>
                        </a:lnTo>
                        <a:lnTo>
                          <a:pt x="369" y="5"/>
                        </a:lnTo>
                        <a:lnTo>
                          <a:pt x="371" y="5"/>
                        </a:lnTo>
                        <a:lnTo>
                          <a:pt x="376" y="5"/>
                        </a:lnTo>
                        <a:lnTo>
                          <a:pt x="378" y="5"/>
                        </a:lnTo>
                        <a:lnTo>
                          <a:pt x="382" y="5"/>
                        </a:lnTo>
                        <a:lnTo>
                          <a:pt x="384" y="5"/>
                        </a:lnTo>
                        <a:lnTo>
                          <a:pt x="387" y="5"/>
                        </a:lnTo>
                        <a:lnTo>
                          <a:pt x="390" y="5"/>
                        </a:lnTo>
                        <a:lnTo>
                          <a:pt x="394" y="5"/>
                        </a:lnTo>
                        <a:lnTo>
                          <a:pt x="396" y="5"/>
                        </a:lnTo>
                        <a:lnTo>
                          <a:pt x="400" y="5"/>
                        </a:lnTo>
                        <a:lnTo>
                          <a:pt x="402" y="5"/>
                        </a:lnTo>
                        <a:lnTo>
                          <a:pt x="404" y="5"/>
                        </a:lnTo>
                        <a:lnTo>
                          <a:pt x="407" y="4"/>
                        </a:lnTo>
                        <a:lnTo>
                          <a:pt x="410" y="4"/>
                        </a:lnTo>
                        <a:lnTo>
                          <a:pt x="414" y="2"/>
                        </a:lnTo>
                        <a:lnTo>
                          <a:pt x="418" y="2"/>
                        </a:lnTo>
                        <a:lnTo>
                          <a:pt x="420" y="1"/>
                        </a:lnTo>
                        <a:lnTo>
                          <a:pt x="422" y="1"/>
                        </a:lnTo>
                        <a:lnTo>
                          <a:pt x="426" y="1"/>
                        </a:lnTo>
                        <a:lnTo>
                          <a:pt x="428" y="1"/>
                        </a:lnTo>
                        <a:lnTo>
                          <a:pt x="432" y="0"/>
                        </a:lnTo>
                        <a:lnTo>
                          <a:pt x="435"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4" name="Freeform 226"/>
                  <p:cNvSpPr>
                    <a:spLocks/>
                  </p:cNvSpPr>
                  <p:nvPr/>
                </p:nvSpPr>
                <p:spPr bwMode="auto">
                  <a:xfrm>
                    <a:off x="5406" y="1602"/>
                    <a:ext cx="36" cy="166"/>
                  </a:xfrm>
                  <a:custGeom>
                    <a:avLst/>
                    <a:gdLst>
                      <a:gd name="T0" fmla="*/ 0 w 107"/>
                      <a:gd name="T1" fmla="*/ 0 h 499"/>
                      <a:gd name="T2" fmla="*/ 0 w 107"/>
                      <a:gd name="T3" fmla="*/ 0 h 499"/>
                      <a:gd name="T4" fmla="*/ 0 w 107"/>
                      <a:gd name="T5" fmla="*/ 0 h 499"/>
                      <a:gd name="T6" fmla="*/ 0 w 107"/>
                      <a:gd name="T7" fmla="*/ 0 h 499"/>
                      <a:gd name="T8" fmla="*/ 0 w 107"/>
                      <a:gd name="T9" fmla="*/ 0 h 499"/>
                      <a:gd name="T10" fmla="*/ 0 w 107"/>
                      <a:gd name="T11" fmla="*/ 0 h 499"/>
                      <a:gd name="T12" fmla="*/ 0 w 107"/>
                      <a:gd name="T13" fmla="*/ 0 h 499"/>
                      <a:gd name="T14" fmla="*/ 0 w 107"/>
                      <a:gd name="T15" fmla="*/ 0 h 499"/>
                      <a:gd name="T16" fmla="*/ 0 w 107"/>
                      <a:gd name="T17" fmla="*/ 0 h 499"/>
                      <a:gd name="T18" fmla="*/ 0 w 107"/>
                      <a:gd name="T19" fmla="*/ 0 h 499"/>
                      <a:gd name="T20" fmla="*/ 0 w 107"/>
                      <a:gd name="T21" fmla="*/ 0 h 499"/>
                      <a:gd name="T22" fmla="*/ 0 w 107"/>
                      <a:gd name="T23" fmla="*/ 0 h 499"/>
                      <a:gd name="T24" fmla="*/ 0 w 107"/>
                      <a:gd name="T25" fmla="*/ 0 h 499"/>
                      <a:gd name="T26" fmla="*/ 0 w 107"/>
                      <a:gd name="T27" fmla="*/ 0 h 499"/>
                      <a:gd name="T28" fmla="*/ 0 w 107"/>
                      <a:gd name="T29" fmla="*/ 0 h 499"/>
                      <a:gd name="T30" fmla="*/ 0 w 107"/>
                      <a:gd name="T31" fmla="*/ 0 h 499"/>
                      <a:gd name="T32" fmla="*/ 0 w 107"/>
                      <a:gd name="T33" fmla="*/ 0 h 499"/>
                      <a:gd name="T34" fmla="*/ 0 w 107"/>
                      <a:gd name="T35" fmla="*/ 0 h 499"/>
                      <a:gd name="T36" fmla="*/ 0 w 107"/>
                      <a:gd name="T37" fmla="*/ 0 h 499"/>
                      <a:gd name="T38" fmla="*/ 0 w 107"/>
                      <a:gd name="T39" fmla="*/ 0 h 499"/>
                      <a:gd name="T40" fmla="*/ 0 w 107"/>
                      <a:gd name="T41" fmla="*/ 0 h 499"/>
                      <a:gd name="T42" fmla="*/ 0 w 107"/>
                      <a:gd name="T43" fmla="*/ 0 h 499"/>
                      <a:gd name="T44" fmla="*/ 0 w 107"/>
                      <a:gd name="T45" fmla="*/ 0 h 499"/>
                      <a:gd name="T46" fmla="*/ 0 w 107"/>
                      <a:gd name="T47" fmla="*/ 0 h 499"/>
                      <a:gd name="T48" fmla="*/ 0 w 107"/>
                      <a:gd name="T49" fmla="*/ 0 h 499"/>
                      <a:gd name="T50" fmla="*/ 0 w 107"/>
                      <a:gd name="T51" fmla="*/ 0 h 499"/>
                      <a:gd name="T52" fmla="*/ 0 w 107"/>
                      <a:gd name="T53" fmla="*/ 0 h 499"/>
                      <a:gd name="T54" fmla="*/ 0 w 107"/>
                      <a:gd name="T55" fmla="*/ 0 h 499"/>
                      <a:gd name="T56" fmla="*/ 0 w 107"/>
                      <a:gd name="T57" fmla="*/ 0 h 499"/>
                      <a:gd name="T58" fmla="*/ 0 w 107"/>
                      <a:gd name="T59" fmla="*/ 0 h 499"/>
                      <a:gd name="T60" fmla="*/ 0 w 107"/>
                      <a:gd name="T61" fmla="*/ 0 h 499"/>
                      <a:gd name="T62" fmla="*/ 0 w 107"/>
                      <a:gd name="T63" fmla="*/ 0 h 499"/>
                      <a:gd name="T64" fmla="*/ 0 w 107"/>
                      <a:gd name="T65" fmla="*/ 0 h 499"/>
                      <a:gd name="T66" fmla="*/ 0 w 107"/>
                      <a:gd name="T67" fmla="*/ 0 h 499"/>
                      <a:gd name="T68" fmla="*/ 0 w 107"/>
                      <a:gd name="T69" fmla="*/ 0 h 499"/>
                      <a:gd name="T70" fmla="*/ 0 w 107"/>
                      <a:gd name="T71" fmla="*/ 0 h 499"/>
                      <a:gd name="T72" fmla="*/ 0 w 107"/>
                      <a:gd name="T73" fmla="*/ 0 h 499"/>
                      <a:gd name="T74" fmla="*/ 0 w 107"/>
                      <a:gd name="T75" fmla="*/ 0 h 499"/>
                      <a:gd name="T76" fmla="*/ 0 w 107"/>
                      <a:gd name="T77" fmla="*/ 0 h 499"/>
                      <a:gd name="T78" fmla="*/ 0 w 107"/>
                      <a:gd name="T79" fmla="*/ 0 h 499"/>
                      <a:gd name="T80" fmla="*/ 0 w 107"/>
                      <a:gd name="T81" fmla="*/ 0 h 499"/>
                      <a:gd name="T82" fmla="*/ 0 w 107"/>
                      <a:gd name="T83" fmla="*/ 0 h 499"/>
                      <a:gd name="T84" fmla="*/ 0 w 107"/>
                      <a:gd name="T85" fmla="*/ 0 h 499"/>
                      <a:gd name="T86" fmla="*/ 0 w 107"/>
                      <a:gd name="T87" fmla="*/ 0 h 499"/>
                      <a:gd name="T88" fmla="*/ 0 w 107"/>
                      <a:gd name="T89" fmla="*/ 0 h 499"/>
                      <a:gd name="T90" fmla="*/ 0 w 107"/>
                      <a:gd name="T91" fmla="*/ 0 h 499"/>
                      <a:gd name="T92" fmla="*/ 0 w 107"/>
                      <a:gd name="T93" fmla="*/ 0 h 499"/>
                      <a:gd name="T94" fmla="*/ 0 w 107"/>
                      <a:gd name="T95" fmla="*/ 0 h 499"/>
                      <a:gd name="T96" fmla="*/ 0 w 107"/>
                      <a:gd name="T97" fmla="*/ 0 h 499"/>
                      <a:gd name="T98" fmla="*/ 0 w 107"/>
                      <a:gd name="T99" fmla="*/ 0 h 499"/>
                      <a:gd name="T100" fmla="*/ 0 w 107"/>
                      <a:gd name="T101" fmla="*/ 0 h 499"/>
                      <a:gd name="T102" fmla="*/ 0 w 107"/>
                      <a:gd name="T103" fmla="*/ 0 h 499"/>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07"/>
                      <a:gd name="T157" fmla="*/ 0 h 499"/>
                      <a:gd name="T158" fmla="*/ 107 w 107"/>
                      <a:gd name="T159" fmla="*/ 499 h 499"/>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07" h="499">
                        <a:moveTo>
                          <a:pt x="54" y="0"/>
                        </a:moveTo>
                        <a:lnTo>
                          <a:pt x="57" y="2"/>
                        </a:lnTo>
                        <a:lnTo>
                          <a:pt x="61" y="4"/>
                        </a:lnTo>
                        <a:lnTo>
                          <a:pt x="64" y="5"/>
                        </a:lnTo>
                        <a:lnTo>
                          <a:pt x="69" y="7"/>
                        </a:lnTo>
                        <a:lnTo>
                          <a:pt x="71" y="8"/>
                        </a:lnTo>
                        <a:lnTo>
                          <a:pt x="74" y="11"/>
                        </a:lnTo>
                        <a:lnTo>
                          <a:pt x="76" y="12"/>
                        </a:lnTo>
                        <a:lnTo>
                          <a:pt x="80" y="15"/>
                        </a:lnTo>
                        <a:lnTo>
                          <a:pt x="85" y="19"/>
                        </a:lnTo>
                        <a:lnTo>
                          <a:pt x="88" y="24"/>
                        </a:lnTo>
                        <a:lnTo>
                          <a:pt x="89" y="26"/>
                        </a:lnTo>
                        <a:lnTo>
                          <a:pt x="92" y="30"/>
                        </a:lnTo>
                        <a:lnTo>
                          <a:pt x="92" y="32"/>
                        </a:lnTo>
                        <a:lnTo>
                          <a:pt x="94" y="36"/>
                        </a:lnTo>
                        <a:lnTo>
                          <a:pt x="94" y="38"/>
                        </a:lnTo>
                        <a:lnTo>
                          <a:pt x="95" y="40"/>
                        </a:lnTo>
                        <a:lnTo>
                          <a:pt x="95" y="44"/>
                        </a:lnTo>
                        <a:lnTo>
                          <a:pt x="96" y="46"/>
                        </a:lnTo>
                        <a:lnTo>
                          <a:pt x="96" y="50"/>
                        </a:lnTo>
                        <a:lnTo>
                          <a:pt x="96" y="53"/>
                        </a:lnTo>
                        <a:lnTo>
                          <a:pt x="96" y="56"/>
                        </a:lnTo>
                        <a:lnTo>
                          <a:pt x="98" y="59"/>
                        </a:lnTo>
                        <a:lnTo>
                          <a:pt x="96" y="63"/>
                        </a:lnTo>
                        <a:lnTo>
                          <a:pt x="96" y="65"/>
                        </a:lnTo>
                        <a:lnTo>
                          <a:pt x="96" y="69"/>
                        </a:lnTo>
                        <a:lnTo>
                          <a:pt x="96" y="74"/>
                        </a:lnTo>
                        <a:lnTo>
                          <a:pt x="95" y="76"/>
                        </a:lnTo>
                        <a:lnTo>
                          <a:pt x="95" y="81"/>
                        </a:lnTo>
                        <a:lnTo>
                          <a:pt x="94" y="83"/>
                        </a:lnTo>
                        <a:lnTo>
                          <a:pt x="94" y="88"/>
                        </a:lnTo>
                        <a:lnTo>
                          <a:pt x="93" y="90"/>
                        </a:lnTo>
                        <a:lnTo>
                          <a:pt x="92" y="94"/>
                        </a:lnTo>
                        <a:lnTo>
                          <a:pt x="92" y="97"/>
                        </a:lnTo>
                        <a:lnTo>
                          <a:pt x="90" y="101"/>
                        </a:lnTo>
                        <a:lnTo>
                          <a:pt x="89" y="105"/>
                        </a:lnTo>
                        <a:lnTo>
                          <a:pt x="89" y="108"/>
                        </a:lnTo>
                        <a:lnTo>
                          <a:pt x="87" y="112"/>
                        </a:lnTo>
                        <a:lnTo>
                          <a:pt x="87" y="116"/>
                        </a:lnTo>
                        <a:lnTo>
                          <a:pt x="86" y="119"/>
                        </a:lnTo>
                        <a:lnTo>
                          <a:pt x="85" y="122"/>
                        </a:lnTo>
                        <a:lnTo>
                          <a:pt x="85" y="126"/>
                        </a:lnTo>
                        <a:lnTo>
                          <a:pt x="83" y="129"/>
                        </a:lnTo>
                        <a:lnTo>
                          <a:pt x="82" y="133"/>
                        </a:lnTo>
                        <a:lnTo>
                          <a:pt x="82" y="137"/>
                        </a:lnTo>
                        <a:lnTo>
                          <a:pt x="80" y="140"/>
                        </a:lnTo>
                        <a:lnTo>
                          <a:pt x="80" y="144"/>
                        </a:lnTo>
                        <a:lnTo>
                          <a:pt x="79" y="147"/>
                        </a:lnTo>
                        <a:lnTo>
                          <a:pt x="77" y="151"/>
                        </a:lnTo>
                        <a:lnTo>
                          <a:pt x="76" y="154"/>
                        </a:lnTo>
                        <a:lnTo>
                          <a:pt x="76" y="158"/>
                        </a:lnTo>
                        <a:lnTo>
                          <a:pt x="76" y="162"/>
                        </a:lnTo>
                        <a:lnTo>
                          <a:pt x="76" y="165"/>
                        </a:lnTo>
                        <a:lnTo>
                          <a:pt x="75" y="169"/>
                        </a:lnTo>
                        <a:lnTo>
                          <a:pt x="75" y="172"/>
                        </a:lnTo>
                        <a:lnTo>
                          <a:pt x="74" y="175"/>
                        </a:lnTo>
                        <a:lnTo>
                          <a:pt x="74" y="178"/>
                        </a:lnTo>
                        <a:lnTo>
                          <a:pt x="74" y="182"/>
                        </a:lnTo>
                        <a:lnTo>
                          <a:pt x="75" y="184"/>
                        </a:lnTo>
                        <a:lnTo>
                          <a:pt x="75" y="188"/>
                        </a:lnTo>
                        <a:lnTo>
                          <a:pt x="76" y="191"/>
                        </a:lnTo>
                        <a:lnTo>
                          <a:pt x="76" y="195"/>
                        </a:lnTo>
                        <a:lnTo>
                          <a:pt x="77" y="197"/>
                        </a:lnTo>
                        <a:lnTo>
                          <a:pt x="76" y="202"/>
                        </a:lnTo>
                        <a:lnTo>
                          <a:pt x="76" y="207"/>
                        </a:lnTo>
                        <a:lnTo>
                          <a:pt x="76" y="210"/>
                        </a:lnTo>
                        <a:lnTo>
                          <a:pt x="76" y="215"/>
                        </a:lnTo>
                        <a:lnTo>
                          <a:pt x="75" y="220"/>
                        </a:lnTo>
                        <a:lnTo>
                          <a:pt x="74" y="224"/>
                        </a:lnTo>
                        <a:lnTo>
                          <a:pt x="74" y="228"/>
                        </a:lnTo>
                        <a:lnTo>
                          <a:pt x="74" y="233"/>
                        </a:lnTo>
                        <a:lnTo>
                          <a:pt x="74" y="237"/>
                        </a:lnTo>
                        <a:lnTo>
                          <a:pt x="74" y="241"/>
                        </a:lnTo>
                        <a:lnTo>
                          <a:pt x="74" y="246"/>
                        </a:lnTo>
                        <a:lnTo>
                          <a:pt x="74" y="251"/>
                        </a:lnTo>
                        <a:lnTo>
                          <a:pt x="74" y="255"/>
                        </a:lnTo>
                        <a:lnTo>
                          <a:pt x="74" y="259"/>
                        </a:lnTo>
                        <a:lnTo>
                          <a:pt x="74" y="264"/>
                        </a:lnTo>
                        <a:lnTo>
                          <a:pt x="74" y="268"/>
                        </a:lnTo>
                        <a:lnTo>
                          <a:pt x="74" y="272"/>
                        </a:lnTo>
                        <a:lnTo>
                          <a:pt x="74" y="277"/>
                        </a:lnTo>
                        <a:lnTo>
                          <a:pt x="74" y="281"/>
                        </a:lnTo>
                        <a:lnTo>
                          <a:pt x="74" y="285"/>
                        </a:lnTo>
                        <a:lnTo>
                          <a:pt x="74" y="290"/>
                        </a:lnTo>
                        <a:lnTo>
                          <a:pt x="75" y="293"/>
                        </a:lnTo>
                        <a:lnTo>
                          <a:pt x="76" y="298"/>
                        </a:lnTo>
                        <a:lnTo>
                          <a:pt x="76" y="303"/>
                        </a:lnTo>
                        <a:lnTo>
                          <a:pt x="76" y="306"/>
                        </a:lnTo>
                        <a:lnTo>
                          <a:pt x="76" y="311"/>
                        </a:lnTo>
                        <a:lnTo>
                          <a:pt x="76" y="316"/>
                        </a:lnTo>
                        <a:lnTo>
                          <a:pt x="76" y="319"/>
                        </a:lnTo>
                        <a:lnTo>
                          <a:pt x="77" y="324"/>
                        </a:lnTo>
                        <a:lnTo>
                          <a:pt x="77" y="329"/>
                        </a:lnTo>
                        <a:lnTo>
                          <a:pt x="79" y="332"/>
                        </a:lnTo>
                        <a:lnTo>
                          <a:pt x="79" y="336"/>
                        </a:lnTo>
                        <a:lnTo>
                          <a:pt x="79" y="341"/>
                        </a:lnTo>
                        <a:lnTo>
                          <a:pt x="80" y="346"/>
                        </a:lnTo>
                        <a:lnTo>
                          <a:pt x="80" y="349"/>
                        </a:lnTo>
                        <a:lnTo>
                          <a:pt x="81" y="354"/>
                        </a:lnTo>
                        <a:lnTo>
                          <a:pt x="82" y="357"/>
                        </a:lnTo>
                        <a:lnTo>
                          <a:pt x="82" y="362"/>
                        </a:lnTo>
                        <a:lnTo>
                          <a:pt x="82" y="366"/>
                        </a:lnTo>
                        <a:lnTo>
                          <a:pt x="85" y="369"/>
                        </a:lnTo>
                        <a:lnTo>
                          <a:pt x="85" y="374"/>
                        </a:lnTo>
                        <a:lnTo>
                          <a:pt x="85" y="378"/>
                        </a:lnTo>
                        <a:lnTo>
                          <a:pt x="86" y="382"/>
                        </a:lnTo>
                        <a:lnTo>
                          <a:pt x="87" y="387"/>
                        </a:lnTo>
                        <a:lnTo>
                          <a:pt x="87" y="391"/>
                        </a:lnTo>
                        <a:lnTo>
                          <a:pt x="89" y="395"/>
                        </a:lnTo>
                        <a:lnTo>
                          <a:pt x="89" y="400"/>
                        </a:lnTo>
                        <a:lnTo>
                          <a:pt x="90" y="404"/>
                        </a:lnTo>
                        <a:lnTo>
                          <a:pt x="92" y="407"/>
                        </a:lnTo>
                        <a:lnTo>
                          <a:pt x="92" y="412"/>
                        </a:lnTo>
                        <a:lnTo>
                          <a:pt x="93" y="416"/>
                        </a:lnTo>
                        <a:lnTo>
                          <a:pt x="94" y="420"/>
                        </a:lnTo>
                        <a:lnTo>
                          <a:pt x="94" y="424"/>
                        </a:lnTo>
                        <a:lnTo>
                          <a:pt x="95" y="429"/>
                        </a:lnTo>
                        <a:lnTo>
                          <a:pt x="96" y="433"/>
                        </a:lnTo>
                        <a:lnTo>
                          <a:pt x="98" y="437"/>
                        </a:lnTo>
                        <a:lnTo>
                          <a:pt x="99" y="440"/>
                        </a:lnTo>
                        <a:lnTo>
                          <a:pt x="100" y="445"/>
                        </a:lnTo>
                        <a:lnTo>
                          <a:pt x="101" y="449"/>
                        </a:lnTo>
                        <a:lnTo>
                          <a:pt x="102" y="454"/>
                        </a:lnTo>
                        <a:lnTo>
                          <a:pt x="103" y="458"/>
                        </a:lnTo>
                        <a:lnTo>
                          <a:pt x="105" y="462"/>
                        </a:lnTo>
                        <a:lnTo>
                          <a:pt x="106" y="467"/>
                        </a:lnTo>
                        <a:lnTo>
                          <a:pt x="107" y="471"/>
                        </a:lnTo>
                        <a:lnTo>
                          <a:pt x="103" y="474"/>
                        </a:lnTo>
                        <a:lnTo>
                          <a:pt x="99" y="477"/>
                        </a:lnTo>
                        <a:lnTo>
                          <a:pt x="94" y="481"/>
                        </a:lnTo>
                        <a:lnTo>
                          <a:pt x="90" y="484"/>
                        </a:lnTo>
                        <a:lnTo>
                          <a:pt x="87" y="488"/>
                        </a:lnTo>
                        <a:lnTo>
                          <a:pt x="82" y="492"/>
                        </a:lnTo>
                        <a:lnTo>
                          <a:pt x="77" y="494"/>
                        </a:lnTo>
                        <a:lnTo>
                          <a:pt x="74" y="499"/>
                        </a:lnTo>
                        <a:lnTo>
                          <a:pt x="68" y="495"/>
                        </a:lnTo>
                        <a:lnTo>
                          <a:pt x="64" y="493"/>
                        </a:lnTo>
                        <a:lnTo>
                          <a:pt x="58" y="489"/>
                        </a:lnTo>
                        <a:lnTo>
                          <a:pt x="55" y="487"/>
                        </a:lnTo>
                        <a:lnTo>
                          <a:pt x="51" y="483"/>
                        </a:lnTo>
                        <a:lnTo>
                          <a:pt x="48" y="481"/>
                        </a:lnTo>
                        <a:lnTo>
                          <a:pt x="44" y="477"/>
                        </a:lnTo>
                        <a:lnTo>
                          <a:pt x="41" y="475"/>
                        </a:lnTo>
                        <a:lnTo>
                          <a:pt x="37" y="471"/>
                        </a:lnTo>
                        <a:lnTo>
                          <a:pt x="33" y="467"/>
                        </a:lnTo>
                        <a:lnTo>
                          <a:pt x="31" y="463"/>
                        </a:lnTo>
                        <a:lnTo>
                          <a:pt x="29" y="459"/>
                        </a:lnTo>
                        <a:lnTo>
                          <a:pt x="26" y="456"/>
                        </a:lnTo>
                        <a:lnTo>
                          <a:pt x="23" y="451"/>
                        </a:lnTo>
                        <a:lnTo>
                          <a:pt x="20" y="448"/>
                        </a:lnTo>
                        <a:lnTo>
                          <a:pt x="19" y="444"/>
                        </a:lnTo>
                        <a:lnTo>
                          <a:pt x="17" y="439"/>
                        </a:lnTo>
                        <a:lnTo>
                          <a:pt x="16" y="435"/>
                        </a:lnTo>
                        <a:lnTo>
                          <a:pt x="13" y="430"/>
                        </a:lnTo>
                        <a:lnTo>
                          <a:pt x="12" y="426"/>
                        </a:lnTo>
                        <a:lnTo>
                          <a:pt x="11" y="421"/>
                        </a:lnTo>
                        <a:lnTo>
                          <a:pt x="9" y="417"/>
                        </a:lnTo>
                        <a:lnTo>
                          <a:pt x="9" y="412"/>
                        </a:lnTo>
                        <a:lnTo>
                          <a:pt x="7" y="407"/>
                        </a:lnTo>
                        <a:lnTo>
                          <a:pt x="6" y="402"/>
                        </a:lnTo>
                        <a:lnTo>
                          <a:pt x="5" y="398"/>
                        </a:lnTo>
                        <a:lnTo>
                          <a:pt x="4" y="392"/>
                        </a:lnTo>
                        <a:lnTo>
                          <a:pt x="4" y="387"/>
                        </a:lnTo>
                        <a:lnTo>
                          <a:pt x="3" y="382"/>
                        </a:lnTo>
                        <a:lnTo>
                          <a:pt x="3" y="378"/>
                        </a:lnTo>
                        <a:lnTo>
                          <a:pt x="1" y="372"/>
                        </a:lnTo>
                        <a:lnTo>
                          <a:pt x="1" y="367"/>
                        </a:lnTo>
                        <a:lnTo>
                          <a:pt x="1" y="362"/>
                        </a:lnTo>
                        <a:lnTo>
                          <a:pt x="0" y="357"/>
                        </a:lnTo>
                        <a:lnTo>
                          <a:pt x="0" y="351"/>
                        </a:lnTo>
                        <a:lnTo>
                          <a:pt x="0" y="347"/>
                        </a:lnTo>
                        <a:lnTo>
                          <a:pt x="0" y="341"/>
                        </a:lnTo>
                        <a:lnTo>
                          <a:pt x="0" y="336"/>
                        </a:lnTo>
                        <a:lnTo>
                          <a:pt x="0" y="330"/>
                        </a:lnTo>
                        <a:lnTo>
                          <a:pt x="0" y="325"/>
                        </a:lnTo>
                        <a:lnTo>
                          <a:pt x="0" y="319"/>
                        </a:lnTo>
                        <a:lnTo>
                          <a:pt x="0" y="313"/>
                        </a:lnTo>
                        <a:lnTo>
                          <a:pt x="0" y="309"/>
                        </a:lnTo>
                        <a:lnTo>
                          <a:pt x="0" y="304"/>
                        </a:lnTo>
                        <a:lnTo>
                          <a:pt x="0" y="298"/>
                        </a:lnTo>
                        <a:lnTo>
                          <a:pt x="0" y="292"/>
                        </a:lnTo>
                        <a:lnTo>
                          <a:pt x="0" y="287"/>
                        </a:lnTo>
                        <a:lnTo>
                          <a:pt x="1" y="281"/>
                        </a:lnTo>
                        <a:lnTo>
                          <a:pt x="1" y="275"/>
                        </a:lnTo>
                        <a:lnTo>
                          <a:pt x="1" y="271"/>
                        </a:lnTo>
                        <a:lnTo>
                          <a:pt x="1" y="266"/>
                        </a:lnTo>
                        <a:lnTo>
                          <a:pt x="1" y="260"/>
                        </a:lnTo>
                        <a:lnTo>
                          <a:pt x="1" y="255"/>
                        </a:lnTo>
                        <a:lnTo>
                          <a:pt x="1" y="251"/>
                        </a:lnTo>
                        <a:lnTo>
                          <a:pt x="1" y="245"/>
                        </a:lnTo>
                        <a:lnTo>
                          <a:pt x="1" y="240"/>
                        </a:lnTo>
                        <a:lnTo>
                          <a:pt x="1" y="235"/>
                        </a:lnTo>
                        <a:lnTo>
                          <a:pt x="1" y="230"/>
                        </a:lnTo>
                        <a:lnTo>
                          <a:pt x="1" y="224"/>
                        </a:lnTo>
                        <a:lnTo>
                          <a:pt x="1" y="220"/>
                        </a:lnTo>
                        <a:lnTo>
                          <a:pt x="0" y="215"/>
                        </a:lnTo>
                        <a:lnTo>
                          <a:pt x="0" y="210"/>
                        </a:lnTo>
                        <a:lnTo>
                          <a:pt x="0" y="205"/>
                        </a:lnTo>
                        <a:lnTo>
                          <a:pt x="0" y="201"/>
                        </a:lnTo>
                        <a:lnTo>
                          <a:pt x="0" y="197"/>
                        </a:lnTo>
                        <a:lnTo>
                          <a:pt x="0" y="194"/>
                        </a:lnTo>
                        <a:lnTo>
                          <a:pt x="0" y="190"/>
                        </a:lnTo>
                        <a:lnTo>
                          <a:pt x="0" y="188"/>
                        </a:lnTo>
                        <a:lnTo>
                          <a:pt x="0" y="183"/>
                        </a:lnTo>
                        <a:lnTo>
                          <a:pt x="1" y="181"/>
                        </a:lnTo>
                        <a:lnTo>
                          <a:pt x="1" y="177"/>
                        </a:lnTo>
                        <a:lnTo>
                          <a:pt x="1" y="173"/>
                        </a:lnTo>
                        <a:lnTo>
                          <a:pt x="1" y="170"/>
                        </a:lnTo>
                        <a:lnTo>
                          <a:pt x="1" y="166"/>
                        </a:lnTo>
                        <a:lnTo>
                          <a:pt x="1" y="163"/>
                        </a:lnTo>
                        <a:lnTo>
                          <a:pt x="3" y="159"/>
                        </a:lnTo>
                        <a:lnTo>
                          <a:pt x="3" y="156"/>
                        </a:lnTo>
                        <a:lnTo>
                          <a:pt x="3" y="153"/>
                        </a:lnTo>
                        <a:lnTo>
                          <a:pt x="3" y="150"/>
                        </a:lnTo>
                        <a:lnTo>
                          <a:pt x="3" y="146"/>
                        </a:lnTo>
                        <a:lnTo>
                          <a:pt x="3" y="143"/>
                        </a:lnTo>
                        <a:lnTo>
                          <a:pt x="3" y="139"/>
                        </a:lnTo>
                        <a:lnTo>
                          <a:pt x="3" y="135"/>
                        </a:lnTo>
                        <a:lnTo>
                          <a:pt x="4" y="132"/>
                        </a:lnTo>
                        <a:lnTo>
                          <a:pt x="4" y="129"/>
                        </a:lnTo>
                        <a:lnTo>
                          <a:pt x="4" y="126"/>
                        </a:lnTo>
                        <a:lnTo>
                          <a:pt x="4" y="121"/>
                        </a:lnTo>
                        <a:lnTo>
                          <a:pt x="5" y="119"/>
                        </a:lnTo>
                        <a:lnTo>
                          <a:pt x="5" y="115"/>
                        </a:lnTo>
                        <a:lnTo>
                          <a:pt x="5" y="112"/>
                        </a:lnTo>
                        <a:lnTo>
                          <a:pt x="6" y="108"/>
                        </a:lnTo>
                        <a:lnTo>
                          <a:pt x="6" y="106"/>
                        </a:lnTo>
                        <a:lnTo>
                          <a:pt x="6" y="101"/>
                        </a:lnTo>
                        <a:lnTo>
                          <a:pt x="6" y="99"/>
                        </a:lnTo>
                        <a:lnTo>
                          <a:pt x="7" y="95"/>
                        </a:lnTo>
                        <a:lnTo>
                          <a:pt x="9" y="91"/>
                        </a:lnTo>
                        <a:lnTo>
                          <a:pt x="9" y="88"/>
                        </a:lnTo>
                        <a:lnTo>
                          <a:pt x="9" y="86"/>
                        </a:lnTo>
                        <a:lnTo>
                          <a:pt x="9" y="81"/>
                        </a:lnTo>
                        <a:lnTo>
                          <a:pt x="10" y="78"/>
                        </a:lnTo>
                        <a:lnTo>
                          <a:pt x="11" y="75"/>
                        </a:lnTo>
                        <a:lnTo>
                          <a:pt x="11" y="71"/>
                        </a:lnTo>
                        <a:lnTo>
                          <a:pt x="12" y="68"/>
                        </a:lnTo>
                        <a:lnTo>
                          <a:pt x="13" y="65"/>
                        </a:lnTo>
                        <a:lnTo>
                          <a:pt x="13" y="62"/>
                        </a:lnTo>
                        <a:lnTo>
                          <a:pt x="14" y="59"/>
                        </a:lnTo>
                        <a:lnTo>
                          <a:pt x="16" y="56"/>
                        </a:lnTo>
                        <a:lnTo>
                          <a:pt x="17" y="53"/>
                        </a:lnTo>
                        <a:lnTo>
                          <a:pt x="18" y="50"/>
                        </a:lnTo>
                        <a:lnTo>
                          <a:pt x="19" y="48"/>
                        </a:lnTo>
                        <a:lnTo>
                          <a:pt x="20" y="44"/>
                        </a:lnTo>
                        <a:lnTo>
                          <a:pt x="22" y="42"/>
                        </a:lnTo>
                        <a:lnTo>
                          <a:pt x="23" y="38"/>
                        </a:lnTo>
                        <a:lnTo>
                          <a:pt x="24" y="36"/>
                        </a:lnTo>
                        <a:lnTo>
                          <a:pt x="26" y="32"/>
                        </a:lnTo>
                        <a:lnTo>
                          <a:pt x="28" y="30"/>
                        </a:lnTo>
                        <a:lnTo>
                          <a:pt x="29" y="27"/>
                        </a:lnTo>
                        <a:lnTo>
                          <a:pt x="31" y="24"/>
                        </a:lnTo>
                        <a:lnTo>
                          <a:pt x="32" y="21"/>
                        </a:lnTo>
                        <a:lnTo>
                          <a:pt x="35" y="19"/>
                        </a:lnTo>
                        <a:lnTo>
                          <a:pt x="38" y="14"/>
                        </a:lnTo>
                        <a:lnTo>
                          <a:pt x="44" y="10"/>
                        </a:lnTo>
                        <a:lnTo>
                          <a:pt x="45" y="7"/>
                        </a:lnTo>
                        <a:lnTo>
                          <a:pt x="48" y="5"/>
                        </a:lnTo>
                        <a:lnTo>
                          <a:pt x="51" y="2"/>
                        </a:lnTo>
                        <a:lnTo>
                          <a:pt x="5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5" name="Freeform 227"/>
                  <p:cNvSpPr>
                    <a:spLocks/>
                  </p:cNvSpPr>
                  <p:nvPr/>
                </p:nvSpPr>
                <p:spPr bwMode="auto">
                  <a:xfrm>
                    <a:off x="5636" y="1551"/>
                    <a:ext cx="53" cy="264"/>
                  </a:xfrm>
                  <a:custGeom>
                    <a:avLst/>
                    <a:gdLst>
                      <a:gd name="T0" fmla="*/ 0 w 159"/>
                      <a:gd name="T1" fmla="*/ 0 h 792"/>
                      <a:gd name="T2" fmla="*/ 0 w 159"/>
                      <a:gd name="T3" fmla="*/ 0 h 792"/>
                      <a:gd name="T4" fmla="*/ 0 w 159"/>
                      <a:gd name="T5" fmla="*/ 0 h 792"/>
                      <a:gd name="T6" fmla="*/ 0 w 159"/>
                      <a:gd name="T7" fmla="*/ 0 h 792"/>
                      <a:gd name="T8" fmla="*/ 0 w 159"/>
                      <a:gd name="T9" fmla="*/ 0 h 792"/>
                      <a:gd name="T10" fmla="*/ 0 w 159"/>
                      <a:gd name="T11" fmla="*/ 0 h 792"/>
                      <a:gd name="T12" fmla="*/ 0 w 159"/>
                      <a:gd name="T13" fmla="*/ 0 h 792"/>
                      <a:gd name="T14" fmla="*/ 0 w 159"/>
                      <a:gd name="T15" fmla="*/ 0 h 792"/>
                      <a:gd name="T16" fmla="*/ 0 w 159"/>
                      <a:gd name="T17" fmla="*/ 0 h 792"/>
                      <a:gd name="T18" fmla="*/ 0 w 159"/>
                      <a:gd name="T19" fmla="*/ 0 h 792"/>
                      <a:gd name="T20" fmla="*/ 0 w 159"/>
                      <a:gd name="T21" fmla="*/ 0 h 792"/>
                      <a:gd name="T22" fmla="*/ 0 w 159"/>
                      <a:gd name="T23" fmla="*/ 0 h 792"/>
                      <a:gd name="T24" fmla="*/ 0 w 159"/>
                      <a:gd name="T25" fmla="*/ 0 h 792"/>
                      <a:gd name="T26" fmla="*/ 0 w 159"/>
                      <a:gd name="T27" fmla="*/ 0 h 792"/>
                      <a:gd name="T28" fmla="*/ 0 w 159"/>
                      <a:gd name="T29" fmla="*/ 0 h 792"/>
                      <a:gd name="T30" fmla="*/ 0 w 159"/>
                      <a:gd name="T31" fmla="*/ 0 h 792"/>
                      <a:gd name="T32" fmla="*/ 0 w 159"/>
                      <a:gd name="T33" fmla="*/ 0 h 792"/>
                      <a:gd name="T34" fmla="*/ 0 w 159"/>
                      <a:gd name="T35" fmla="*/ 0 h 792"/>
                      <a:gd name="T36" fmla="*/ 0 w 159"/>
                      <a:gd name="T37" fmla="*/ 0 h 792"/>
                      <a:gd name="T38" fmla="*/ 0 w 159"/>
                      <a:gd name="T39" fmla="*/ 0 h 792"/>
                      <a:gd name="T40" fmla="*/ 0 w 159"/>
                      <a:gd name="T41" fmla="*/ 0 h 792"/>
                      <a:gd name="T42" fmla="*/ 0 w 159"/>
                      <a:gd name="T43" fmla="*/ 0 h 792"/>
                      <a:gd name="T44" fmla="*/ 0 w 159"/>
                      <a:gd name="T45" fmla="*/ 0 h 792"/>
                      <a:gd name="T46" fmla="*/ 0 w 159"/>
                      <a:gd name="T47" fmla="*/ 0 h 792"/>
                      <a:gd name="T48" fmla="*/ 0 w 159"/>
                      <a:gd name="T49" fmla="*/ 0 h 792"/>
                      <a:gd name="T50" fmla="*/ 0 w 159"/>
                      <a:gd name="T51" fmla="*/ 0 h 792"/>
                      <a:gd name="T52" fmla="*/ 0 w 159"/>
                      <a:gd name="T53" fmla="*/ 0 h 792"/>
                      <a:gd name="T54" fmla="*/ 0 w 159"/>
                      <a:gd name="T55" fmla="*/ 0 h 792"/>
                      <a:gd name="T56" fmla="*/ 0 w 159"/>
                      <a:gd name="T57" fmla="*/ 0 h 792"/>
                      <a:gd name="T58" fmla="*/ 0 w 159"/>
                      <a:gd name="T59" fmla="*/ 0 h 792"/>
                      <a:gd name="T60" fmla="*/ 0 w 159"/>
                      <a:gd name="T61" fmla="*/ 0 h 792"/>
                      <a:gd name="T62" fmla="*/ 0 w 159"/>
                      <a:gd name="T63" fmla="*/ 0 h 792"/>
                      <a:gd name="T64" fmla="*/ 0 w 159"/>
                      <a:gd name="T65" fmla="*/ 0 h 792"/>
                      <a:gd name="T66" fmla="*/ 0 w 159"/>
                      <a:gd name="T67" fmla="*/ 0 h 792"/>
                      <a:gd name="T68" fmla="*/ 0 w 159"/>
                      <a:gd name="T69" fmla="*/ 0 h 792"/>
                      <a:gd name="T70" fmla="*/ 0 w 159"/>
                      <a:gd name="T71" fmla="*/ 0 h 792"/>
                      <a:gd name="T72" fmla="*/ 0 w 159"/>
                      <a:gd name="T73" fmla="*/ 0 h 792"/>
                      <a:gd name="T74" fmla="*/ 0 w 159"/>
                      <a:gd name="T75" fmla="*/ 0 h 792"/>
                      <a:gd name="T76" fmla="*/ 0 w 159"/>
                      <a:gd name="T77" fmla="*/ 0 h 792"/>
                      <a:gd name="T78" fmla="*/ 0 w 159"/>
                      <a:gd name="T79" fmla="*/ 0 h 792"/>
                      <a:gd name="T80" fmla="*/ 0 w 159"/>
                      <a:gd name="T81" fmla="*/ 0 h 792"/>
                      <a:gd name="T82" fmla="*/ 0 w 159"/>
                      <a:gd name="T83" fmla="*/ 0 h 792"/>
                      <a:gd name="T84" fmla="*/ 0 w 159"/>
                      <a:gd name="T85" fmla="*/ 0 h 792"/>
                      <a:gd name="T86" fmla="*/ 0 w 159"/>
                      <a:gd name="T87" fmla="*/ 0 h 7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59"/>
                      <a:gd name="T133" fmla="*/ 0 h 792"/>
                      <a:gd name="T134" fmla="*/ 159 w 159"/>
                      <a:gd name="T135" fmla="*/ 792 h 7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59" h="792">
                        <a:moveTo>
                          <a:pt x="144" y="0"/>
                        </a:moveTo>
                        <a:lnTo>
                          <a:pt x="58" y="8"/>
                        </a:lnTo>
                        <a:lnTo>
                          <a:pt x="60" y="23"/>
                        </a:lnTo>
                        <a:lnTo>
                          <a:pt x="60" y="38"/>
                        </a:lnTo>
                        <a:lnTo>
                          <a:pt x="63" y="52"/>
                        </a:lnTo>
                        <a:lnTo>
                          <a:pt x="64" y="67"/>
                        </a:lnTo>
                        <a:lnTo>
                          <a:pt x="65" y="81"/>
                        </a:lnTo>
                        <a:lnTo>
                          <a:pt x="65" y="95"/>
                        </a:lnTo>
                        <a:lnTo>
                          <a:pt x="66" y="109"/>
                        </a:lnTo>
                        <a:lnTo>
                          <a:pt x="67" y="124"/>
                        </a:lnTo>
                        <a:lnTo>
                          <a:pt x="68" y="137"/>
                        </a:lnTo>
                        <a:lnTo>
                          <a:pt x="70" y="151"/>
                        </a:lnTo>
                        <a:lnTo>
                          <a:pt x="70" y="165"/>
                        </a:lnTo>
                        <a:lnTo>
                          <a:pt x="71" y="179"/>
                        </a:lnTo>
                        <a:lnTo>
                          <a:pt x="71" y="192"/>
                        </a:lnTo>
                        <a:lnTo>
                          <a:pt x="72" y="205"/>
                        </a:lnTo>
                        <a:lnTo>
                          <a:pt x="72" y="219"/>
                        </a:lnTo>
                        <a:lnTo>
                          <a:pt x="73" y="233"/>
                        </a:lnTo>
                        <a:lnTo>
                          <a:pt x="73" y="246"/>
                        </a:lnTo>
                        <a:lnTo>
                          <a:pt x="73" y="258"/>
                        </a:lnTo>
                        <a:lnTo>
                          <a:pt x="73" y="271"/>
                        </a:lnTo>
                        <a:lnTo>
                          <a:pt x="73" y="284"/>
                        </a:lnTo>
                        <a:lnTo>
                          <a:pt x="73" y="297"/>
                        </a:lnTo>
                        <a:lnTo>
                          <a:pt x="73" y="310"/>
                        </a:lnTo>
                        <a:lnTo>
                          <a:pt x="73" y="322"/>
                        </a:lnTo>
                        <a:lnTo>
                          <a:pt x="73" y="335"/>
                        </a:lnTo>
                        <a:lnTo>
                          <a:pt x="72" y="347"/>
                        </a:lnTo>
                        <a:lnTo>
                          <a:pt x="72" y="360"/>
                        </a:lnTo>
                        <a:lnTo>
                          <a:pt x="71" y="372"/>
                        </a:lnTo>
                        <a:lnTo>
                          <a:pt x="71" y="385"/>
                        </a:lnTo>
                        <a:lnTo>
                          <a:pt x="70" y="395"/>
                        </a:lnTo>
                        <a:lnTo>
                          <a:pt x="70" y="407"/>
                        </a:lnTo>
                        <a:lnTo>
                          <a:pt x="68" y="420"/>
                        </a:lnTo>
                        <a:lnTo>
                          <a:pt x="68" y="432"/>
                        </a:lnTo>
                        <a:lnTo>
                          <a:pt x="67" y="443"/>
                        </a:lnTo>
                        <a:lnTo>
                          <a:pt x="66" y="455"/>
                        </a:lnTo>
                        <a:lnTo>
                          <a:pt x="65" y="467"/>
                        </a:lnTo>
                        <a:lnTo>
                          <a:pt x="64" y="479"/>
                        </a:lnTo>
                        <a:lnTo>
                          <a:pt x="63" y="488"/>
                        </a:lnTo>
                        <a:lnTo>
                          <a:pt x="61" y="500"/>
                        </a:lnTo>
                        <a:lnTo>
                          <a:pt x="60" y="512"/>
                        </a:lnTo>
                        <a:lnTo>
                          <a:pt x="58" y="522"/>
                        </a:lnTo>
                        <a:lnTo>
                          <a:pt x="57" y="533"/>
                        </a:lnTo>
                        <a:lnTo>
                          <a:pt x="54" y="544"/>
                        </a:lnTo>
                        <a:lnTo>
                          <a:pt x="53" y="554"/>
                        </a:lnTo>
                        <a:lnTo>
                          <a:pt x="52" y="565"/>
                        </a:lnTo>
                        <a:lnTo>
                          <a:pt x="49" y="576"/>
                        </a:lnTo>
                        <a:lnTo>
                          <a:pt x="47" y="587"/>
                        </a:lnTo>
                        <a:lnTo>
                          <a:pt x="46" y="597"/>
                        </a:lnTo>
                        <a:lnTo>
                          <a:pt x="45" y="608"/>
                        </a:lnTo>
                        <a:lnTo>
                          <a:pt x="42" y="617"/>
                        </a:lnTo>
                        <a:lnTo>
                          <a:pt x="40" y="628"/>
                        </a:lnTo>
                        <a:lnTo>
                          <a:pt x="38" y="638"/>
                        </a:lnTo>
                        <a:lnTo>
                          <a:pt x="34" y="648"/>
                        </a:lnTo>
                        <a:lnTo>
                          <a:pt x="32" y="658"/>
                        </a:lnTo>
                        <a:lnTo>
                          <a:pt x="29" y="667"/>
                        </a:lnTo>
                        <a:lnTo>
                          <a:pt x="27" y="677"/>
                        </a:lnTo>
                        <a:lnTo>
                          <a:pt x="25" y="686"/>
                        </a:lnTo>
                        <a:lnTo>
                          <a:pt x="21" y="696"/>
                        </a:lnTo>
                        <a:lnTo>
                          <a:pt x="19" y="706"/>
                        </a:lnTo>
                        <a:lnTo>
                          <a:pt x="15" y="715"/>
                        </a:lnTo>
                        <a:lnTo>
                          <a:pt x="11" y="724"/>
                        </a:lnTo>
                        <a:lnTo>
                          <a:pt x="9" y="734"/>
                        </a:lnTo>
                        <a:lnTo>
                          <a:pt x="6" y="743"/>
                        </a:lnTo>
                        <a:lnTo>
                          <a:pt x="2" y="752"/>
                        </a:lnTo>
                        <a:lnTo>
                          <a:pt x="0" y="762"/>
                        </a:lnTo>
                        <a:lnTo>
                          <a:pt x="80" y="792"/>
                        </a:lnTo>
                        <a:lnTo>
                          <a:pt x="83" y="782"/>
                        </a:lnTo>
                        <a:lnTo>
                          <a:pt x="86" y="773"/>
                        </a:lnTo>
                        <a:lnTo>
                          <a:pt x="90" y="763"/>
                        </a:lnTo>
                        <a:lnTo>
                          <a:pt x="93" y="754"/>
                        </a:lnTo>
                        <a:lnTo>
                          <a:pt x="96" y="743"/>
                        </a:lnTo>
                        <a:lnTo>
                          <a:pt x="99" y="734"/>
                        </a:lnTo>
                        <a:lnTo>
                          <a:pt x="103" y="723"/>
                        </a:lnTo>
                        <a:lnTo>
                          <a:pt x="105" y="714"/>
                        </a:lnTo>
                        <a:lnTo>
                          <a:pt x="108" y="703"/>
                        </a:lnTo>
                        <a:lnTo>
                          <a:pt x="111" y="692"/>
                        </a:lnTo>
                        <a:lnTo>
                          <a:pt x="115" y="682"/>
                        </a:lnTo>
                        <a:lnTo>
                          <a:pt x="117" y="671"/>
                        </a:lnTo>
                        <a:lnTo>
                          <a:pt x="119" y="661"/>
                        </a:lnTo>
                        <a:lnTo>
                          <a:pt x="122" y="651"/>
                        </a:lnTo>
                        <a:lnTo>
                          <a:pt x="124" y="640"/>
                        </a:lnTo>
                        <a:lnTo>
                          <a:pt x="128" y="629"/>
                        </a:lnTo>
                        <a:lnTo>
                          <a:pt x="129" y="617"/>
                        </a:lnTo>
                        <a:lnTo>
                          <a:pt x="131" y="607"/>
                        </a:lnTo>
                        <a:lnTo>
                          <a:pt x="134" y="595"/>
                        </a:lnTo>
                        <a:lnTo>
                          <a:pt x="136" y="584"/>
                        </a:lnTo>
                        <a:lnTo>
                          <a:pt x="137" y="572"/>
                        </a:lnTo>
                        <a:lnTo>
                          <a:pt x="138" y="562"/>
                        </a:lnTo>
                        <a:lnTo>
                          <a:pt x="141" y="550"/>
                        </a:lnTo>
                        <a:lnTo>
                          <a:pt x="143" y="539"/>
                        </a:lnTo>
                        <a:lnTo>
                          <a:pt x="144" y="526"/>
                        </a:lnTo>
                        <a:lnTo>
                          <a:pt x="146" y="515"/>
                        </a:lnTo>
                        <a:lnTo>
                          <a:pt x="147" y="503"/>
                        </a:lnTo>
                        <a:lnTo>
                          <a:pt x="149" y="492"/>
                        </a:lnTo>
                        <a:lnTo>
                          <a:pt x="150" y="480"/>
                        </a:lnTo>
                        <a:lnTo>
                          <a:pt x="151" y="468"/>
                        </a:lnTo>
                        <a:lnTo>
                          <a:pt x="153" y="456"/>
                        </a:lnTo>
                        <a:lnTo>
                          <a:pt x="154" y="443"/>
                        </a:lnTo>
                        <a:lnTo>
                          <a:pt x="154" y="430"/>
                        </a:lnTo>
                        <a:lnTo>
                          <a:pt x="156" y="418"/>
                        </a:lnTo>
                        <a:lnTo>
                          <a:pt x="156" y="405"/>
                        </a:lnTo>
                        <a:lnTo>
                          <a:pt x="156" y="393"/>
                        </a:lnTo>
                        <a:lnTo>
                          <a:pt x="157" y="380"/>
                        </a:lnTo>
                        <a:lnTo>
                          <a:pt x="157" y="367"/>
                        </a:lnTo>
                        <a:lnTo>
                          <a:pt x="159" y="354"/>
                        </a:lnTo>
                        <a:lnTo>
                          <a:pt x="159" y="342"/>
                        </a:lnTo>
                        <a:lnTo>
                          <a:pt x="159" y="328"/>
                        </a:lnTo>
                        <a:lnTo>
                          <a:pt x="159" y="315"/>
                        </a:lnTo>
                        <a:lnTo>
                          <a:pt x="159" y="302"/>
                        </a:lnTo>
                        <a:lnTo>
                          <a:pt x="159" y="289"/>
                        </a:lnTo>
                        <a:lnTo>
                          <a:pt x="159" y="274"/>
                        </a:lnTo>
                        <a:lnTo>
                          <a:pt x="159" y="260"/>
                        </a:lnTo>
                        <a:lnTo>
                          <a:pt x="159" y="248"/>
                        </a:lnTo>
                        <a:lnTo>
                          <a:pt x="159" y="234"/>
                        </a:lnTo>
                        <a:lnTo>
                          <a:pt x="159" y="220"/>
                        </a:lnTo>
                        <a:lnTo>
                          <a:pt x="159" y="205"/>
                        </a:lnTo>
                        <a:lnTo>
                          <a:pt x="157" y="191"/>
                        </a:lnTo>
                        <a:lnTo>
                          <a:pt x="157" y="177"/>
                        </a:lnTo>
                        <a:lnTo>
                          <a:pt x="156" y="163"/>
                        </a:lnTo>
                        <a:lnTo>
                          <a:pt x="156" y="148"/>
                        </a:lnTo>
                        <a:lnTo>
                          <a:pt x="154" y="134"/>
                        </a:lnTo>
                        <a:lnTo>
                          <a:pt x="154" y="120"/>
                        </a:lnTo>
                        <a:lnTo>
                          <a:pt x="153" y="105"/>
                        </a:lnTo>
                        <a:lnTo>
                          <a:pt x="151" y="90"/>
                        </a:lnTo>
                        <a:lnTo>
                          <a:pt x="151" y="76"/>
                        </a:lnTo>
                        <a:lnTo>
                          <a:pt x="149" y="61"/>
                        </a:lnTo>
                        <a:lnTo>
                          <a:pt x="148" y="45"/>
                        </a:lnTo>
                        <a:lnTo>
                          <a:pt x="147" y="30"/>
                        </a:lnTo>
                        <a:lnTo>
                          <a:pt x="146" y="16"/>
                        </a:lnTo>
                        <a:lnTo>
                          <a:pt x="14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6" name="Freeform 228"/>
                  <p:cNvSpPr>
                    <a:spLocks/>
                  </p:cNvSpPr>
                  <p:nvPr/>
                </p:nvSpPr>
                <p:spPr bwMode="auto">
                  <a:xfrm>
                    <a:off x="5345" y="1557"/>
                    <a:ext cx="318" cy="269"/>
                  </a:xfrm>
                  <a:custGeom>
                    <a:avLst/>
                    <a:gdLst>
                      <a:gd name="T0" fmla="*/ 0 w 954"/>
                      <a:gd name="T1" fmla="*/ 0 h 808"/>
                      <a:gd name="T2" fmla="*/ 0 w 954"/>
                      <a:gd name="T3" fmla="*/ 0 h 808"/>
                      <a:gd name="T4" fmla="*/ 0 w 954"/>
                      <a:gd name="T5" fmla="*/ 0 h 808"/>
                      <a:gd name="T6" fmla="*/ 0 w 954"/>
                      <a:gd name="T7" fmla="*/ 0 h 808"/>
                      <a:gd name="T8" fmla="*/ 0 w 954"/>
                      <a:gd name="T9" fmla="*/ 0 h 808"/>
                      <a:gd name="T10" fmla="*/ 0 w 954"/>
                      <a:gd name="T11" fmla="*/ 0 h 808"/>
                      <a:gd name="T12" fmla="*/ 0 w 954"/>
                      <a:gd name="T13" fmla="*/ 0 h 808"/>
                      <a:gd name="T14" fmla="*/ 0 w 954"/>
                      <a:gd name="T15" fmla="*/ 0 h 808"/>
                      <a:gd name="T16" fmla="*/ 0 w 954"/>
                      <a:gd name="T17" fmla="*/ 0 h 808"/>
                      <a:gd name="T18" fmla="*/ 0 w 954"/>
                      <a:gd name="T19" fmla="*/ 0 h 808"/>
                      <a:gd name="T20" fmla="*/ 0 w 954"/>
                      <a:gd name="T21" fmla="*/ 0 h 808"/>
                      <a:gd name="T22" fmla="*/ 0 w 954"/>
                      <a:gd name="T23" fmla="*/ 0 h 808"/>
                      <a:gd name="T24" fmla="*/ 0 w 954"/>
                      <a:gd name="T25" fmla="*/ 0 h 808"/>
                      <a:gd name="T26" fmla="*/ 0 w 954"/>
                      <a:gd name="T27" fmla="*/ 0 h 808"/>
                      <a:gd name="T28" fmla="*/ 0 w 954"/>
                      <a:gd name="T29" fmla="*/ 0 h 808"/>
                      <a:gd name="T30" fmla="*/ 0 w 954"/>
                      <a:gd name="T31" fmla="*/ 0 h 808"/>
                      <a:gd name="T32" fmla="*/ 0 w 954"/>
                      <a:gd name="T33" fmla="*/ 0 h 808"/>
                      <a:gd name="T34" fmla="*/ 0 w 954"/>
                      <a:gd name="T35" fmla="*/ 0 h 808"/>
                      <a:gd name="T36" fmla="*/ 0 w 954"/>
                      <a:gd name="T37" fmla="*/ 0 h 808"/>
                      <a:gd name="T38" fmla="*/ 0 w 954"/>
                      <a:gd name="T39" fmla="*/ 0 h 808"/>
                      <a:gd name="T40" fmla="*/ 0 w 954"/>
                      <a:gd name="T41" fmla="*/ 0 h 808"/>
                      <a:gd name="T42" fmla="*/ 0 w 954"/>
                      <a:gd name="T43" fmla="*/ 0 h 808"/>
                      <a:gd name="T44" fmla="*/ 0 w 954"/>
                      <a:gd name="T45" fmla="*/ 0 h 808"/>
                      <a:gd name="T46" fmla="*/ 0 w 954"/>
                      <a:gd name="T47" fmla="*/ 0 h 808"/>
                      <a:gd name="T48" fmla="*/ 0 w 954"/>
                      <a:gd name="T49" fmla="*/ 0 h 808"/>
                      <a:gd name="T50" fmla="*/ 0 w 954"/>
                      <a:gd name="T51" fmla="*/ 0 h 808"/>
                      <a:gd name="T52" fmla="*/ 0 w 954"/>
                      <a:gd name="T53" fmla="*/ 0 h 808"/>
                      <a:gd name="T54" fmla="*/ 0 w 954"/>
                      <a:gd name="T55" fmla="*/ 0 h 808"/>
                      <a:gd name="T56" fmla="*/ 0 w 954"/>
                      <a:gd name="T57" fmla="*/ 0 h 808"/>
                      <a:gd name="T58" fmla="*/ 0 w 954"/>
                      <a:gd name="T59" fmla="*/ 0 h 808"/>
                      <a:gd name="T60" fmla="*/ 0 w 954"/>
                      <a:gd name="T61" fmla="*/ 0 h 808"/>
                      <a:gd name="T62" fmla="*/ 0 w 954"/>
                      <a:gd name="T63" fmla="*/ 0 h 808"/>
                      <a:gd name="T64" fmla="*/ 0 w 954"/>
                      <a:gd name="T65" fmla="*/ 0 h 808"/>
                      <a:gd name="T66" fmla="*/ 0 w 954"/>
                      <a:gd name="T67" fmla="*/ 0 h 808"/>
                      <a:gd name="T68" fmla="*/ 0 w 954"/>
                      <a:gd name="T69" fmla="*/ 0 h 808"/>
                      <a:gd name="T70" fmla="*/ 0 w 954"/>
                      <a:gd name="T71" fmla="*/ 0 h 808"/>
                      <a:gd name="T72" fmla="*/ 0 w 954"/>
                      <a:gd name="T73" fmla="*/ 0 h 808"/>
                      <a:gd name="T74" fmla="*/ 0 w 954"/>
                      <a:gd name="T75" fmla="*/ 0 h 808"/>
                      <a:gd name="T76" fmla="*/ 0 w 954"/>
                      <a:gd name="T77" fmla="*/ 0 h 808"/>
                      <a:gd name="T78" fmla="*/ 0 w 954"/>
                      <a:gd name="T79" fmla="*/ 0 h 808"/>
                      <a:gd name="T80" fmla="*/ 0 w 954"/>
                      <a:gd name="T81" fmla="*/ 0 h 808"/>
                      <a:gd name="T82" fmla="*/ 0 w 954"/>
                      <a:gd name="T83" fmla="*/ 0 h 808"/>
                      <a:gd name="T84" fmla="*/ 0 w 954"/>
                      <a:gd name="T85" fmla="*/ 0 h 808"/>
                      <a:gd name="T86" fmla="*/ 0 w 954"/>
                      <a:gd name="T87" fmla="*/ 0 h 808"/>
                      <a:gd name="T88" fmla="*/ 0 w 954"/>
                      <a:gd name="T89" fmla="*/ 0 h 808"/>
                      <a:gd name="T90" fmla="*/ 0 w 954"/>
                      <a:gd name="T91" fmla="*/ 0 h 808"/>
                      <a:gd name="T92" fmla="*/ 0 w 954"/>
                      <a:gd name="T93" fmla="*/ 0 h 808"/>
                      <a:gd name="T94" fmla="*/ 0 w 954"/>
                      <a:gd name="T95" fmla="*/ 0 h 808"/>
                      <a:gd name="T96" fmla="*/ 0 w 954"/>
                      <a:gd name="T97" fmla="*/ 0 h 808"/>
                      <a:gd name="T98" fmla="*/ 0 w 954"/>
                      <a:gd name="T99" fmla="*/ 0 h 808"/>
                      <a:gd name="T100" fmla="*/ 0 w 954"/>
                      <a:gd name="T101" fmla="*/ 0 h 808"/>
                      <a:gd name="T102" fmla="*/ 0 w 954"/>
                      <a:gd name="T103" fmla="*/ 0 h 808"/>
                      <a:gd name="T104" fmla="*/ 0 w 954"/>
                      <a:gd name="T105" fmla="*/ 0 h 808"/>
                      <a:gd name="T106" fmla="*/ 0 w 954"/>
                      <a:gd name="T107" fmla="*/ 0 h 808"/>
                      <a:gd name="T108" fmla="*/ 0 w 954"/>
                      <a:gd name="T109" fmla="*/ 0 h 808"/>
                      <a:gd name="T110" fmla="*/ 0 w 954"/>
                      <a:gd name="T111" fmla="*/ 0 h 808"/>
                      <a:gd name="T112" fmla="*/ 0 w 954"/>
                      <a:gd name="T113" fmla="*/ 0 h 808"/>
                      <a:gd name="T114" fmla="*/ 0 w 954"/>
                      <a:gd name="T115" fmla="*/ 0 h 80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954"/>
                      <a:gd name="T175" fmla="*/ 0 h 808"/>
                      <a:gd name="T176" fmla="*/ 954 w 954"/>
                      <a:gd name="T177" fmla="*/ 808 h 80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954" h="808">
                        <a:moveTo>
                          <a:pt x="932" y="710"/>
                        </a:moveTo>
                        <a:lnTo>
                          <a:pt x="916" y="711"/>
                        </a:lnTo>
                        <a:lnTo>
                          <a:pt x="899" y="711"/>
                        </a:lnTo>
                        <a:lnTo>
                          <a:pt x="882" y="712"/>
                        </a:lnTo>
                        <a:lnTo>
                          <a:pt x="865" y="712"/>
                        </a:lnTo>
                        <a:lnTo>
                          <a:pt x="849" y="713"/>
                        </a:lnTo>
                        <a:lnTo>
                          <a:pt x="832" y="714"/>
                        </a:lnTo>
                        <a:lnTo>
                          <a:pt x="814" y="714"/>
                        </a:lnTo>
                        <a:lnTo>
                          <a:pt x="799" y="716"/>
                        </a:lnTo>
                        <a:lnTo>
                          <a:pt x="782" y="716"/>
                        </a:lnTo>
                        <a:lnTo>
                          <a:pt x="764" y="717"/>
                        </a:lnTo>
                        <a:lnTo>
                          <a:pt x="748" y="717"/>
                        </a:lnTo>
                        <a:lnTo>
                          <a:pt x="731" y="717"/>
                        </a:lnTo>
                        <a:lnTo>
                          <a:pt x="715" y="717"/>
                        </a:lnTo>
                        <a:lnTo>
                          <a:pt x="698" y="718"/>
                        </a:lnTo>
                        <a:lnTo>
                          <a:pt x="681" y="718"/>
                        </a:lnTo>
                        <a:lnTo>
                          <a:pt x="666" y="719"/>
                        </a:lnTo>
                        <a:lnTo>
                          <a:pt x="648" y="719"/>
                        </a:lnTo>
                        <a:lnTo>
                          <a:pt x="633" y="720"/>
                        </a:lnTo>
                        <a:lnTo>
                          <a:pt x="615" y="720"/>
                        </a:lnTo>
                        <a:lnTo>
                          <a:pt x="600" y="720"/>
                        </a:lnTo>
                        <a:lnTo>
                          <a:pt x="583" y="720"/>
                        </a:lnTo>
                        <a:lnTo>
                          <a:pt x="566" y="720"/>
                        </a:lnTo>
                        <a:lnTo>
                          <a:pt x="552" y="720"/>
                        </a:lnTo>
                        <a:lnTo>
                          <a:pt x="535" y="721"/>
                        </a:lnTo>
                        <a:lnTo>
                          <a:pt x="520" y="721"/>
                        </a:lnTo>
                        <a:lnTo>
                          <a:pt x="503" y="721"/>
                        </a:lnTo>
                        <a:lnTo>
                          <a:pt x="488" y="721"/>
                        </a:lnTo>
                        <a:lnTo>
                          <a:pt x="474" y="721"/>
                        </a:lnTo>
                        <a:lnTo>
                          <a:pt x="458" y="721"/>
                        </a:lnTo>
                        <a:lnTo>
                          <a:pt x="444" y="721"/>
                        </a:lnTo>
                        <a:lnTo>
                          <a:pt x="430" y="721"/>
                        </a:lnTo>
                        <a:lnTo>
                          <a:pt x="414" y="721"/>
                        </a:lnTo>
                        <a:lnTo>
                          <a:pt x="400" y="721"/>
                        </a:lnTo>
                        <a:lnTo>
                          <a:pt x="387" y="720"/>
                        </a:lnTo>
                        <a:lnTo>
                          <a:pt x="372" y="720"/>
                        </a:lnTo>
                        <a:lnTo>
                          <a:pt x="359" y="720"/>
                        </a:lnTo>
                        <a:lnTo>
                          <a:pt x="346" y="720"/>
                        </a:lnTo>
                        <a:lnTo>
                          <a:pt x="333" y="719"/>
                        </a:lnTo>
                        <a:lnTo>
                          <a:pt x="320" y="719"/>
                        </a:lnTo>
                        <a:lnTo>
                          <a:pt x="308" y="719"/>
                        </a:lnTo>
                        <a:lnTo>
                          <a:pt x="295" y="718"/>
                        </a:lnTo>
                        <a:lnTo>
                          <a:pt x="283" y="717"/>
                        </a:lnTo>
                        <a:lnTo>
                          <a:pt x="271" y="717"/>
                        </a:lnTo>
                        <a:lnTo>
                          <a:pt x="260" y="717"/>
                        </a:lnTo>
                        <a:lnTo>
                          <a:pt x="248" y="716"/>
                        </a:lnTo>
                        <a:lnTo>
                          <a:pt x="238" y="714"/>
                        </a:lnTo>
                        <a:lnTo>
                          <a:pt x="228" y="714"/>
                        </a:lnTo>
                        <a:lnTo>
                          <a:pt x="219" y="714"/>
                        </a:lnTo>
                        <a:lnTo>
                          <a:pt x="208" y="713"/>
                        </a:lnTo>
                        <a:lnTo>
                          <a:pt x="200" y="712"/>
                        </a:lnTo>
                        <a:lnTo>
                          <a:pt x="190" y="711"/>
                        </a:lnTo>
                        <a:lnTo>
                          <a:pt x="182" y="711"/>
                        </a:lnTo>
                        <a:lnTo>
                          <a:pt x="174" y="710"/>
                        </a:lnTo>
                        <a:lnTo>
                          <a:pt x="166" y="708"/>
                        </a:lnTo>
                        <a:lnTo>
                          <a:pt x="159" y="707"/>
                        </a:lnTo>
                        <a:lnTo>
                          <a:pt x="152" y="707"/>
                        </a:lnTo>
                        <a:lnTo>
                          <a:pt x="145" y="705"/>
                        </a:lnTo>
                        <a:lnTo>
                          <a:pt x="139" y="705"/>
                        </a:lnTo>
                        <a:lnTo>
                          <a:pt x="134" y="702"/>
                        </a:lnTo>
                        <a:lnTo>
                          <a:pt x="128" y="702"/>
                        </a:lnTo>
                        <a:lnTo>
                          <a:pt x="125" y="700"/>
                        </a:lnTo>
                        <a:lnTo>
                          <a:pt x="120" y="699"/>
                        </a:lnTo>
                        <a:lnTo>
                          <a:pt x="117" y="698"/>
                        </a:lnTo>
                        <a:lnTo>
                          <a:pt x="114" y="697"/>
                        </a:lnTo>
                        <a:lnTo>
                          <a:pt x="113" y="693"/>
                        </a:lnTo>
                        <a:lnTo>
                          <a:pt x="111" y="689"/>
                        </a:lnTo>
                        <a:lnTo>
                          <a:pt x="110" y="687"/>
                        </a:lnTo>
                        <a:lnTo>
                          <a:pt x="108" y="682"/>
                        </a:lnTo>
                        <a:lnTo>
                          <a:pt x="107" y="678"/>
                        </a:lnTo>
                        <a:lnTo>
                          <a:pt x="106" y="674"/>
                        </a:lnTo>
                        <a:lnTo>
                          <a:pt x="105" y="668"/>
                        </a:lnTo>
                        <a:lnTo>
                          <a:pt x="104" y="663"/>
                        </a:lnTo>
                        <a:lnTo>
                          <a:pt x="102" y="656"/>
                        </a:lnTo>
                        <a:lnTo>
                          <a:pt x="101" y="650"/>
                        </a:lnTo>
                        <a:lnTo>
                          <a:pt x="101" y="644"/>
                        </a:lnTo>
                        <a:lnTo>
                          <a:pt x="100" y="636"/>
                        </a:lnTo>
                        <a:lnTo>
                          <a:pt x="99" y="629"/>
                        </a:lnTo>
                        <a:lnTo>
                          <a:pt x="99" y="622"/>
                        </a:lnTo>
                        <a:lnTo>
                          <a:pt x="98" y="613"/>
                        </a:lnTo>
                        <a:lnTo>
                          <a:pt x="96" y="606"/>
                        </a:lnTo>
                        <a:lnTo>
                          <a:pt x="95" y="597"/>
                        </a:lnTo>
                        <a:lnTo>
                          <a:pt x="95" y="589"/>
                        </a:lnTo>
                        <a:lnTo>
                          <a:pt x="94" y="578"/>
                        </a:lnTo>
                        <a:lnTo>
                          <a:pt x="93" y="570"/>
                        </a:lnTo>
                        <a:lnTo>
                          <a:pt x="93" y="559"/>
                        </a:lnTo>
                        <a:lnTo>
                          <a:pt x="92" y="549"/>
                        </a:lnTo>
                        <a:lnTo>
                          <a:pt x="91" y="540"/>
                        </a:lnTo>
                        <a:lnTo>
                          <a:pt x="91" y="529"/>
                        </a:lnTo>
                        <a:lnTo>
                          <a:pt x="91" y="517"/>
                        </a:lnTo>
                        <a:lnTo>
                          <a:pt x="89" y="507"/>
                        </a:lnTo>
                        <a:lnTo>
                          <a:pt x="89" y="496"/>
                        </a:lnTo>
                        <a:lnTo>
                          <a:pt x="89" y="484"/>
                        </a:lnTo>
                        <a:lnTo>
                          <a:pt x="88" y="473"/>
                        </a:lnTo>
                        <a:lnTo>
                          <a:pt x="88" y="462"/>
                        </a:lnTo>
                        <a:lnTo>
                          <a:pt x="88" y="450"/>
                        </a:lnTo>
                        <a:lnTo>
                          <a:pt x="88" y="438"/>
                        </a:lnTo>
                        <a:lnTo>
                          <a:pt x="87" y="425"/>
                        </a:lnTo>
                        <a:lnTo>
                          <a:pt x="87" y="413"/>
                        </a:lnTo>
                        <a:lnTo>
                          <a:pt x="86" y="400"/>
                        </a:lnTo>
                        <a:lnTo>
                          <a:pt x="86" y="388"/>
                        </a:lnTo>
                        <a:lnTo>
                          <a:pt x="86" y="374"/>
                        </a:lnTo>
                        <a:lnTo>
                          <a:pt x="86" y="361"/>
                        </a:lnTo>
                        <a:lnTo>
                          <a:pt x="86" y="348"/>
                        </a:lnTo>
                        <a:lnTo>
                          <a:pt x="86" y="334"/>
                        </a:lnTo>
                        <a:lnTo>
                          <a:pt x="85" y="320"/>
                        </a:lnTo>
                        <a:lnTo>
                          <a:pt x="85" y="307"/>
                        </a:lnTo>
                        <a:lnTo>
                          <a:pt x="85" y="294"/>
                        </a:lnTo>
                        <a:lnTo>
                          <a:pt x="85" y="280"/>
                        </a:lnTo>
                        <a:lnTo>
                          <a:pt x="85" y="267"/>
                        </a:lnTo>
                        <a:lnTo>
                          <a:pt x="85" y="253"/>
                        </a:lnTo>
                        <a:lnTo>
                          <a:pt x="85" y="238"/>
                        </a:lnTo>
                        <a:lnTo>
                          <a:pt x="86" y="226"/>
                        </a:lnTo>
                        <a:lnTo>
                          <a:pt x="86" y="211"/>
                        </a:lnTo>
                        <a:lnTo>
                          <a:pt x="86" y="198"/>
                        </a:lnTo>
                        <a:lnTo>
                          <a:pt x="86" y="184"/>
                        </a:lnTo>
                        <a:lnTo>
                          <a:pt x="86" y="169"/>
                        </a:lnTo>
                        <a:lnTo>
                          <a:pt x="86" y="155"/>
                        </a:lnTo>
                        <a:lnTo>
                          <a:pt x="86" y="141"/>
                        </a:lnTo>
                        <a:lnTo>
                          <a:pt x="86" y="127"/>
                        </a:lnTo>
                        <a:lnTo>
                          <a:pt x="87" y="114"/>
                        </a:lnTo>
                        <a:lnTo>
                          <a:pt x="87" y="99"/>
                        </a:lnTo>
                        <a:lnTo>
                          <a:pt x="87" y="85"/>
                        </a:lnTo>
                        <a:lnTo>
                          <a:pt x="87" y="71"/>
                        </a:lnTo>
                        <a:lnTo>
                          <a:pt x="88" y="58"/>
                        </a:lnTo>
                        <a:lnTo>
                          <a:pt x="88" y="44"/>
                        </a:lnTo>
                        <a:lnTo>
                          <a:pt x="88" y="31"/>
                        </a:lnTo>
                        <a:lnTo>
                          <a:pt x="89" y="18"/>
                        </a:lnTo>
                        <a:lnTo>
                          <a:pt x="91" y="4"/>
                        </a:lnTo>
                        <a:lnTo>
                          <a:pt x="88" y="2"/>
                        </a:lnTo>
                        <a:lnTo>
                          <a:pt x="86" y="1"/>
                        </a:lnTo>
                        <a:lnTo>
                          <a:pt x="83" y="1"/>
                        </a:lnTo>
                        <a:lnTo>
                          <a:pt x="81" y="1"/>
                        </a:lnTo>
                        <a:lnTo>
                          <a:pt x="79" y="1"/>
                        </a:lnTo>
                        <a:lnTo>
                          <a:pt x="76" y="1"/>
                        </a:lnTo>
                        <a:lnTo>
                          <a:pt x="73" y="0"/>
                        </a:lnTo>
                        <a:lnTo>
                          <a:pt x="69" y="0"/>
                        </a:lnTo>
                        <a:lnTo>
                          <a:pt x="66" y="0"/>
                        </a:lnTo>
                        <a:lnTo>
                          <a:pt x="63" y="0"/>
                        </a:lnTo>
                        <a:lnTo>
                          <a:pt x="58" y="0"/>
                        </a:lnTo>
                        <a:lnTo>
                          <a:pt x="55" y="1"/>
                        </a:lnTo>
                        <a:lnTo>
                          <a:pt x="50" y="1"/>
                        </a:lnTo>
                        <a:lnTo>
                          <a:pt x="48" y="1"/>
                        </a:lnTo>
                        <a:lnTo>
                          <a:pt x="43" y="1"/>
                        </a:lnTo>
                        <a:lnTo>
                          <a:pt x="38" y="1"/>
                        </a:lnTo>
                        <a:lnTo>
                          <a:pt x="35" y="2"/>
                        </a:lnTo>
                        <a:lnTo>
                          <a:pt x="30" y="2"/>
                        </a:lnTo>
                        <a:lnTo>
                          <a:pt x="28" y="2"/>
                        </a:lnTo>
                        <a:lnTo>
                          <a:pt x="24" y="3"/>
                        </a:lnTo>
                        <a:lnTo>
                          <a:pt x="21" y="3"/>
                        </a:lnTo>
                        <a:lnTo>
                          <a:pt x="17" y="4"/>
                        </a:lnTo>
                        <a:lnTo>
                          <a:pt x="15" y="4"/>
                        </a:lnTo>
                        <a:lnTo>
                          <a:pt x="12" y="6"/>
                        </a:lnTo>
                        <a:lnTo>
                          <a:pt x="9" y="6"/>
                        </a:lnTo>
                        <a:lnTo>
                          <a:pt x="7" y="6"/>
                        </a:lnTo>
                        <a:lnTo>
                          <a:pt x="5" y="7"/>
                        </a:lnTo>
                        <a:lnTo>
                          <a:pt x="4" y="8"/>
                        </a:lnTo>
                        <a:lnTo>
                          <a:pt x="4" y="10"/>
                        </a:lnTo>
                        <a:lnTo>
                          <a:pt x="4" y="13"/>
                        </a:lnTo>
                        <a:lnTo>
                          <a:pt x="4" y="16"/>
                        </a:lnTo>
                        <a:lnTo>
                          <a:pt x="3" y="20"/>
                        </a:lnTo>
                        <a:lnTo>
                          <a:pt x="3" y="26"/>
                        </a:lnTo>
                        <a:lnTo>
                          <a:pt x="3" y="28"/>
                        </a:lnTo>
                        <a:lnTo>
                          <a:pt x="3" y="31"/>
                        </a:lnTo>
                        <a:lnTo>
                          <a:pt x="3" y="34"/>
                        </a:lnTo>
                        <a:lnTo>
                          <a:pt x="3" y="39"/>
                        </a:lnTo>
                        <a:lnTo>
                          <a:pt x="3" y="41"/>
                        </a:lnTo>
                        <a:lnTo>
                          <a:pt x="3" y="46"/>
                        </a:lnTo>
                        <a:lnTo>
                          <a:pt x="3" y="50"/>
                        </a:lnTo>
                        <a:lnTo>
                          <a:pt x="3" y="53"/>
                        </a:lnTo>
                        <a:lnTo>
                          <a:pt x="3" y="58"/>
                        </a:lnTo>
                        <a:lnTo>
                          <a:pt x="3" y="61"/>
                        </a:lnTo>
                        <a:lnTo>
                          <a:pt x="3" y="66"/>
                        </a:lnTo>
                        <a:lnTo>
                          <a:pt x="3" y="72"/>
                        </a:lnTo>
                        <a:lnTo>
                          <a:pt x="2" y="77"/>
                        </a:lnTo>
                        <a:lnTo>
                          <a:pt x="2" y="82"/>
                        </a:lnTo>
                        <a:lnTo>
                          <a:pt x="2" y="86"/>
                        </a:lnTo>
                        <a:lnTo>
                          <a:pt x="2" y="92"/>
                        </a:lnTo>
                        <a:lnTo>
                          <a:pt x="2" y="98"/>
                        </a:lnTo>
                        <a:lnTo>
                          <a:pt x="2" y="104"/>
                        </a:lnTo>
                        <a:lnTo>
                          <a:pt x="2" y="110"/>
                        </a:lnTo>
                        <a:lnTo>
                          <a:pt x="2" y="117"/>
                        </a:lnTo>
                        <a:lnTo>
                          <a:pt x="0" y="122"/>
                        </a:lnTo>
                        <a:lnTo>
                          <a:pt x="0" y="128"/>
                        </a:lnTo>
                        <a:lnTo>
                          <a:pt x="0" y="134"/>
                        </a:lnTo>
                        <a:lnTo>
                          <a:pt x="0" y="141"/>
                        </a:lnTo>
                        <a:lnTo>
                          <a:pt x="0" y="147"/>
                        </a:lnTo>
                        <a:lnTo>
                          <a:pt x="0" y="154"/>
                        </a:lnTo>
                        <a:lnTo>
                          <a:pt x="0" y="160"/>
                        </a:lnTo>
                        <a:lnTo>
                          <a:pt x="0" y="167"/>
                        </a:lnTo>
                        <a:lnTo>
                          <a:pt x="0" y="174"/>
                        </a:lnTo>
                        <a:lnTo>
                          <a:pt x="0" y="181"/>
                        </a:lnTo>
                        <a:lnTo>
                          <a:pt x="0" y="188"/>
                        </a:lnTo>
                        <a:lnTo>
                          <a:pt x="0" y="196"/>
                        </a:lnTo>
                        <a:lnTo>
                          <a:pt x="0" y="203"/>
                        </a:lnTo>
                        <a:lnTo>
                          <a:pt x="0" y="210"/>
                        </a:lnTo>
                        <a:lnTo>
                          <a:pt x="0" y="218"/>
                        </a:lnTo>
                        <a:lnTo>
                          <a:pt x="0" y="225"/>
                        </a:lnTo>
                        <a:lnTo>
                          <a:pt x="0" y="232"/>
                        </a:lnTo>
                        <a:lnTo>
                          <a:pt x="0" y="240"/>
                        </a:lnTo>
                        <a:lnTo>
                          <a:pt x="0" y="247"/>
                        </a:lnTo>
                        <a:lnTo>
                          <a:pt x="0" y="255"/>
                        </a:lnTo>
                        <a:lnTo>
                          <a:pt x="0" y="262"/>
                        </a:lnTo>
                        <a:lnTo>
                          <a:pt x="0" y="269"/>
                        </a:lnTo>
                        <a:lnTo>
                          <a:pt x="0" y="278"/>
                        </a:lnTo>
                        <a:lnTo>
                          <a:pt x="0" y="286"/>
                        </a:lnTo>
                        <a:lnTo>
                          <a:pt x="0" y="293"/>
                        </a:lnTo>
                        <a:lnTo>
                          <a:pt x="0" y="301"/>
                        </a:lnTo>
                        <a:lnTo>
                          <a:pt x="0" y="308"/>
                        </a:lnTo>
                        <a:lnTo>
                          <a:pt x="0" y="317"/>
                        </a:lnTo>
                        <a:lnTo>
                          <a:pt x="0" y="325"/>
                        </a:lnTo>
                        <a:lnTo>
                          <a:pt x="0" y="332"/>
                        </a:lnTo>
                        <a:lnTo>
                          <a:pt x="0" y="340"/>
                        </a:lnTo>
                        <a:lnTo>
                          <a:pt x="0" y="349"/>
                        </a:lnTo>
                        <a:lnTo>
                          <a:pt x="0" y="364"/>
                        </a:lnTo>
                        <a:lnTo>
                          <a:pt x="0" y="381"/>
                        </a:lnTo>
                        <a:lnTo>
                          <a:pt x="0" y="395"/>
                        </a:lnTo>
                        <a:lnTo>
                          <a:pt x="0" y="410"/>
                        </a:lnTo>
                        <a:lnTo>
                          <a:pt x="0" y="424"/>
                        </a:lnTo>
                        <a:lnTo>
                          <a:pt x="2" y="439"/>
                        </a:lnTo>
                        <a:lnTo>
                          <a:pt x="2" y="452"/>
                        </a:lnTo>
                        <a:lnTo>
                          <a:pt x="3" y="465"/>
                        </a:lnTo>
                        <a:lnTo>
                          <a:pt x="3" y="478"/>
                        </a:lnTo>
                        <a:lnTo>
                          <a:pt x="3" y="490"/>
                        </a:lnTo>
                        <a:lnTo>
                          <a:pt x="3" y="502"/>
                        </a:lnTo>
                        <a:lnTo>
                          <a:pt x="4" y="514"/>
                        </a:lnTo>
                        <a:lnTo>
                          <a:pt x="4" y="524"/>
                        </a:lnTo>
                        <a:lnTo>
                          <a:pt x="5" y="535"/>
                        </a:lnTo>
                        <a:lnTo>
                          <a:pt x="5" y="546"/>
                        </a:lnTo>
                        <a:lnTo>
                          <a:pt x="6" y="556"/>
                        </a:lnTo>
                        <a:lnTo>
                          <a:pt x="6" y="565"/>
                        </a:lnTo>
                        <a:lnTo>
                          <a:pt x="7" y="575"/>
                        </a:lnTo>
                        <a:lnTo>
                          <a:pt x="7" y="584"/>
                        </a:lnTo>
                        <a:lnTo>
                          <a:pt x="9" y="593"/>
                        </a:lnTo>
                        <a:lnTo>
                          <a:pt x="10" y="600"/>
                        </a:lnTo>
                        <a:lnTo>
                          <a:pt x="10" y="609"/>
                        </a:lnTo>
                        <a:lnTo>
                          <a:pt x="11" y="617"/>
                        </a:lnTo>
                        <a:lnTo>
                          <a:pt x="12" y="625"/>
                        </a:lnTo>
                        <a:lnTo>
                          <a:pt x="12" y="631"/>
                        </a:lnTo>
                        <a:lnTo>
                          <a:pt x="13" y="638"/>
                        </a:lnTo>
                        <a:lnTo>
                          <a:pt x="15" y="646"/>
                        </a:lnTo>
                        <a:lnTo>
                          <a:pt x="15" y="651"/>
                        </a:lnTo>
                        <a:lnTo>
                          <a:pt x="16" y="657"/>
                        </a:lnTo>
                        <a:lnTo>
                          <a:pt x="17" y="663"/>
                        </a:lnTo>
                        <a:lnTo>
                          <a:pt x="17" y="669"/>
                        </a:lnTo>
                        <a:lnTo>
                          <a:pt x="19" y="674"/>
                        </a:lnTo>
                        <a:lnTo>
                          <a:pt x="21" y="679"/>
                        </a:lnTo>
                        <a:lnTo>
                          <a:pt x="21" y="685"/>
                        </a:lnTo>
                        <a:lnTo>
                          <a:pt x="22" y="689"/>
                        </a:lnTo>
                        <a:lnTo>
                          <a:pt x="23" y="693"/>
                        </a:lnTo>
                        <a:lnTo>
                          <a:pt x="23" y="697"/>
                        </a:lnTo>
                        <a:lnTo>
                          <a:pt x="25" y="701"/>
                        </a:lnTo>
                        <a:lnTo>
                          <a:pt x="25" y="705"/>
                        </a:lnTo>
                        <a:lnTo>
                          <a:pt x="26" y="708"/>
                        </a:lnTo>
                        <a:lnTo>
                          <a:pt x="28" y="712"/>
                        </a:lnTo>
                        <a:lnTo>
                          <a:pt x="28" y="714"/>
                        </a:lnTo>
                        <a:lnTo>
                          <a:pt x="29" y="718"/>
                        </a:lnTo>
                        <a:lnTo>
                          <a:pt x="30" y="720"/>
                        </a:lnTo>
                        <a:lnTo>
                          <a:pt x="30" y="723"/>
                        </a:lnTo>
                        <a:lnTo>
                          <a:pt x="32" y="726"/>
                        </a:lnTo>
                        <a:lnTo>
                          <a:pt x="32" y="729"/>
                        </a:lnTo>
                        <a:lnTo>
                          <a:pt x="34" y="731"/>
                        </a:lnTo>
                        <a:lnTo>
                          <a:pt x="35" y="735"/>
                        </a:lnTo>
                        <a:lnTo>
                          <a:pt x="37" y="738"/>
                        </a:lnTo>
                        <a:lnTo>
                          <a:pt x="38" y="740"/>
                        </a:lnTo>
                        <a:lnTo>
                          <a:pt x="41" y="744"/>
                        </a:lnTo>
                        <a:lnTo>
                          <a:pt x="43" y="749"/>
                        </a:lnTo>
                        <a:lnTo>
                          <a:pt x="48" y="752"/>
                        </a:lnTo>
                        <a:lnTo>
                          <a:pt x="50" y="757"/>
                        </a:lnTo>
                        <a:lnTo>
                          <a:pt x="55" y="762"/>
                        </a:lnTo>
                        <a:lnTo>
                          <a:pt x="56" y="763"/>
                        </a:lnTo>
                        <a:lnTo>
                          <a:pt x="61" y="765"/>
                        </a:lnTo>
                        <a:lnTo>
                          <a:pt x="63" y="768"/>
                        </a:lnTo>
                        <a:lnTo>
                          <a:pt x="68" y="771"/>
                        </a:lnTo>
                        <a:lnTo>
                          <a:pt x="70" y="773"/>
                        </a:lnTo>
                        <a:lnTo>
                          <a:pt x="73" y="774"/>
                        </a:lnTo>
                        <a:lnTo>
                          <a:pt x="75" y="775"/>
                        </a:lnTo>
                        <a:lnTo>
                          <a:pt x="79" y="775"/>
                        </a:lnTo>
                        <a:lnTo>
                          <a:pt x="81" y="777"/>
                        </a:lnTo>
                        <a:lnTo>
                          <a:pt x="85" y="778"/>
                        </a:lnTo>
                        <a:lnTo>
                          <a:pt x="88" y="780"/>
                        </a:lnTo>
                        <a:lnTo>
                          <a:pt x="92" y="781"/>
                        </a:lnTo>
                        <a:lnTo>
                          <a:pt x="96" y="782"/>
                        </a:lnTo>
                        <a:lnTo>
                          <a:pt x="100" y="783"/>
                        </a:lnTo>
                        <a:lnTo>
                          <a:pt x="105" y="784"/>
                        </a:lnTo>
                        <a:lnTo>
                          <a:pt x="110" y="786"/>
                        </a:lnTo>
                        <a:lnTo>
                          <a:pt x="114" y="786"/>
                        </a:lnTo>
                        <a:lnTo>
                          <a:pt x="119" y="788"/>
                        </a:lnTo>
                        <a:lnTo>
                          <a:pt x="125" y="788"/>
                        </a:lnTo>
                        <a:lnTo>
                          <a:pt x="131" y="790"/>
                        </a:lnTo>
                        <a:lnTo>
                          <a:pt x="137" y="790"/>
                        </a:lnTo>
                        <a:lnTo>
                          <a:pt x="144" y="793"/>
                        </a:lnTo>
                        <a:lnTo>
                          <a:pt x="150" y="793"/>
                        </a:lnTo>
                        <a:lnTo>
                          <a:pt x="157" y="794"/>
                        </a:lnTo>
                        <a:lnTo>
                          <a:pt x="164" y="795"/>
                        </a:lnTo>
                        <a:lnTo>
                          <a:pt x="172" y="796"/>
                        </a:lnTo>
                        <a:lnTo>
                          <a:pt x="181" y="796"/>
                        </a:lnTo>
                        <a:lnTo>
                          <a:pt x="190" y="799"/>
                        </a:lnTo>
                        <a:lnTo>
                          <a:pt x="198" y="799"/>
                        </a:lnTo>
                        <a:lnTo>
                          <a:pt x="208" y="800"/>
                        </a:lnTo>
                        <a:lnTo>
                          <a:pt x="217" y="800"/>
                        </a:lnTo>
                        <a:lnTo>
                          <a:pt x="228" y="801"/>
                        </a:lnTo>
                        <a:lnTo>
                          <a:pt x="238" y="801"/>
                        </a:lnTo>
                        <a:lnTo>
                          <a:pt x="250" y="802"/>
                        </a:lnTo>
                        <a:lnTo>
                          <a:pt x="260" y="803"/>
                        </a:lnTo>
                        <a:lnTo>
                          <a:pt x="273" y="803"/>
                        </a:lnTo>
                        <a:lnTo>
                          <a:pt x="284" y="803"/>
                        </a:lnTo>
                        <a:lnTo>
                          <a:pt x="297" y="805"/>
                        </a:lnTo>
                        <a:lnTo>
                          <a:pt x="310" y="806"/>
                        </a:lnTo>
                        <a:lnTo>
                          <a:pt x="324" y="806"/>
                        </a:lnTo>
                        <a:lnTo>
                          <a:pt x="339" y="806"/>
                        </a:lnTo>
                        <a:lnTo>
                          <a:pt x="352" y="806"/>
                        </a:lnTo>
                        <a:lnTo>
                          <a:pt x="367" y="807"/>
                        </a:lnTo>
                        <a:lnTo>
                          <a:pt x="384" y="808"/>
                        </a:lnTo>
                        <a:lnTo>
                          <a:pt x="399" y="808"/>
                        </a:lnTo>
                        <a:lnTo>
                          <a:pt x="416" y="808"/>
                        </a:lnTo>
                        <a:lnTo>
                          <a:pt x="432" y="808"/>
                        </a:lnTo>
                        <a:lnTo>
                          <a:pt x="451" y="808"/>
                        </a:lnTo>
                        <a:lnTo>
                          <a:pt x="470" y="808"/>
                        </a:lnTo>
                        <a:lnTo>
                          <a:pt x="488" y="808"/>
                        </a:lnTo>
                        <a:lnTo>
                          <a:pt x="508" y="808"/>
                        </a:lnTo>
                        <a:lnTo>
                          <a:pt x="528" y="808"/>
                        </a:lnTo>
                        <a:lnTo>
                          <a:pt x="538" y="808"/>
                        </a:lnTo>
                        <a:lnTo>
                          <a:pt x="546" y="808"/>
                        </a:lnTo>
                        <a:lnTo>
                          <a:pt x="557" y="807"/>
                        </a:lnTo>
                        <a:lnTo>
                          <a:pt x="566" y="807"/>
                        </a:lnTo>
                        <a:lnTo>
                          <a:pt x="575" y="806"/>
                        </a:lnTo>
                        <a:lnTo>
                          <a:pt x="585" y="806"/>
                        </a:lnTo>
                        <a:lnTo>
                          <a:pt x="595" y="806"/>
                        </a:lnTo>
                        <a:lnTo>
                          <a:pt x="604" y="806"/>
                        </a:lnTo>
                        <a:lnTo>
                          <a:pt x="614" y="806"/>
                        </a:lnTo>
                        <a:lnTo>
                          <a:pt x="622" y="806"/>
                        </a:lnTo>
                        <a:lnTo>
                          <a:pt x="632" y="806"/>
                        </a:lnTo>
                        <a:lnTo>
                          <a:pt x="641" y="806"/>
                        </a:lnTo>
                        <a:lnTo>
                          <a:pt x="651" y="806"/>
                        </a:lnTo>
                        <a:lnTo>
                          <a:pt x="660" y="806"/>
                        </a:lnTo>
                        <a:lnTo>
                          <a:pt x="668" y="806"/>
                        </a:lnTo>
                        <a:lnTo>
                          <a:pt x="678" y="806"/>
                        </a:lnTo>
                        <a:lnTo>
                          <a:pt x="686" y="805"/>
                        </a:lnTo>
                        <a:lnTo>
                          <a:pt x="696" y="803"/>
                        </a:lnTo>
                        <a:lnTo>
                          <a:pt x="704" y="803"/>
                        </a:lnTo>
                        <a:lnTo>
                          <a:pt x="713" y="803"/>
                        </a:lnTo>
                        <a:lnTo>
                          <a:pt x="722" y="803"/>
                        </a:lnTo>
                        <a:lnTo>
                          <a:pt x="730" y="803"/>
                        </a:lnTo>
                        <a:lnTo>
                          <a:pt x="738" y="803"/>
                        </a:lnTo>
                        <a:lnTo>
                          <a:pt x="747" y="803"/>
                        </a:lnTo>
                        <a:lnTo>
                          <a:pt x="755" y="802"/>
                        </a:lnTo>
                        <a:lnTo>
                          <a:pt x="763" y="801"/>
                        </a:lnTo>
                        <a:lnTo>
                          <a:pt x="772" y="801"/>
                        </a:lnTo>
                        <a:lnTo>
                          <a:pt x="780" y="801"/>
                        </a:lnTo>
                        <a:lnTo>
                          <a:pt x="787" y="801"/>
                        </a:lnTo>
                        <a:lnTo>
                          <a:pt x="794" y="801"/>
                        </a:lnTo>
                        <a:lnTo>
                          <a:pt x="802" y="801"/>
                        </a:lnTo>
                        <a:lnTo>
                          <a:pt x="810" y="801"/>
                        </a:lnTo>
                        <a:lnTo>
                          <a:pt x="817" y="801"/>
                        </a:lnTo>
                        <a:lnTo>
                          <a:pt x="824" y="800"/>
                        </a:lnTo>
                        <a:lnTo>
                          <a:pt x="830" y="800"/>
                        </a:lnTo>
                        <a:lnTo>
                          <a:pt x="838" y="800"/>
                        </a:lnTo>
                        <a:lnTo>
                          <a:pt x="844" y="799"/>
                        </a:lnTo>
                        <a:lnTo>
                          <a:pt x="850" y="799"/>
                        </a:lnTo>
                        <a:lnTo>
                          <a:pt x="856" y="799"/>
                        </a:lnTo>
                        <a:lnTo>
                          <a:pt x="863" y="799"/>
                        </a:lnTo>
                        <a:lnTo>
                          <a:pt x="868" y="797"/>
                        </a:lnTo>
                        <a:lnTo>
                          <a:pt x="875" y="797"/>
                        </a:lnTo>
                        <a:lnTo>
                          <a:pt x="881" y="797"/>
                        </a:lnTo>
                        <a:lnTo>
                          <a:pt x="885" y="797"/>
                        </a:lnTo>
                        <a:lnTo>
                          <a:pt x="890" y="796"/>
                        </a:lnTo>
                        <a:lnTo>
                          <a:pt x="896" y="796"/>
                        </a:lnTo>
                        <a:lnTo>
                          <a:pt x="901" y="796"/>
                        </a:lnTo>
                        <a:lnTo>
                          <a:pt x="906" y="796"/>
                        </a:lnTo>
                        <a:lnTo>
                          <a:pt x="909" y="796"/>
                        </a:lnTo>
                        <a:lnTo>
                          <a:pt x="914" y="795"/>
                        </a:lnTo>
                        <a:lnTo>
                          <a:pt x="919" y="795"/>
                        </a:lnTo>
                        <a:lnTo>
                          <a:pt x="921" y="795"/>
                        </a:lnTo>
                        <a:lnTo>
                          <a:pt x="925" y="794"/>
                        </a:lnTo>
                        <a:lnTo>
                          <a:pt x="928" y="794"/>
                        </a:lnTo>
                        <a:lnTo>
                          <a:pt x="932" y="794"/>
                        </a:lnTo>
                        <a:lnTo>
                          <a:pt x="935" y="794"/>
                        </a:lnTo>
                        <a:lnTo>
                          <a:pt x="940" y="794"/>
                        </a:lnTo>
                        <a:lnTo>
                          <a:pt x="944" y="794"/>
                        </a:lnTo>
                        <a:lnTo>
                          <a:pt x="947" y="794"/>
                        </a:lnTo>
                        <a:lnTo>
                          <a:pt x="950" y="794"/>
                        </a:lnTo>
                        <a:lnTo>
                          <a:pt x="952" y="793"/>
                        </a:lnTo>
                        <a:lnTo>
                          <a:pt x="954" y="790"/>
                        </a:lnTo>
                        <a:lnTo>
                          <a:pt x="954" y="788"/>
                        </a:lnTo>
                        <a:lnTo>
                          <a:pt x="954" y="786"/>
                        </a:lnTo>
                        <a:lnTo>
                          <a:pt x="954" y="783"/>
                        </a:lnTo>
                        <a:lnTo>
                          <a:pt x="954" y="781"/>
                        </a:lnTo>
                        <a:lnTo>
                          <a:pt x="954" y="777"/>
                        </a:lnTo>
                        <a:lnTo>
                          <a:pt x="953" y="774"/>
                        </a:lnTo>
                        <a:lnTo>
                          <a:pt x="952" y="770"/>
                        </a:lnTo>
                        <a:lnTo>
                          <a:pt x="952" y="767"/>
                        </a:lnTo>
                        <a:lnTo>
                          <a:pt x="951" y="763"/>
                        </a:lnTo>
                        <a:lnTo>
                          <a:pt x="950" y="759"/>
                        </a:lnTo>
                        <a:lnTo>
                          <a:pt x="950" y="755"/>
                        </a:lnTo>
                        <a:lnTo>
                          <a:pt x="948" y="751"/>
                        </a:lnTo>
                        <a:lnTo>
                          <a:pt x="946" y="748"/>
                        </a:lnTo>
                        <a:lnTo>
                          <a:pt x="945" y="743"/>
                        </a:lnTo>
                        <a:lnTo>
                          <a:pt x="944" y="739"/>
                        </a:lnTo>
                        <a:lnTo>
                          <a:pt x="942" y="736"/>
                        </a:lnTo>
                        <a:lnTo>
                          <a:pt x="941" y="732"/>
                        </a:lnTo>
                        <a:lnTo>
                          <a:pt x="939" y="729"/>
                        </a:lnTo>
                        <a:lnTo>
                          <a:pt x="939" y="725"/>
                        </a:lnTo>
                        <a:lnTo>
                          <a:pt x="938" y="723"/>
                        </a:lnTo>
                        <a:lnTo>
                          <a:pt x="937" y="720"/>
                        </a:lnTo>
                        <a:lnTo>
                          <a:pt x="934" y="717"/>
                        </a:lnTo>
                        <a:lnTo>
                          <a:pt x="934" y="714"/>
                        </a:lnTo>
                        <a:lnTo>
                          <a:pt x="934" y="713"/>
                        </a:lnTo>
                        <a:lnTo>
                          <a:pt x="932" y="711"/>
                        </a:lnTo>
                        <a:lnTo>
                          <a:pt x="932" y="71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7" name="Freeform 229"/>
                  <p:cNvSpPr>
                    <a:spLocks/>
                  </p:cNvSpPr>
                  <p:nvPr/>
                </p:nvSpPr>
                <p:spPr bwMode="auto">
                  <a:xfrm>
                    <a:off x="5409" y="1590"/>
                    <a:ext cx="202" cy="39"/>
                  </a:xfrm>
                  <a:custGeom>
                    <a:avLst/>
                    <a:gdLst>
                      <a:gd name="T0" fmla="*/ 0 w 605"/>
                      <a:gd name="T1" fmla="*/ 0 h 119"/>
                      <a:gd name="T2" fmla="*/ 0 w 605"/>
                      <a:gd name="T3" fmla="*/ 0 h 119"/>
                      <a:gd name="T4" fmla="*/ 0 w 605"/>
                      <a:gd name="T5" fmla="*/ 0 h 119"/>
                      <a:gd name="T6" fmla="*/ 0 w 605"/>
                      <a:gd name="T7" fmla="*/ 0 h 119"/>
                      <a:gd name="T8" fmla="*/ 0 w 605"/>
                      <a:gd name="T9" fmla="*/ 0 h 119"/>
                      <a:gd name="T10" fmla="*/ 0 w 605"/>
                      <a:gd name="T11" fmla="*/ 0 h 119"/>
                      <a:gd name="T12" fmla="*/ 0 w 605"/>
                      <a:gd name="T13" fmla="*/ 0 h 119"/>
                      <a:gd name="T14" fmla="*/ 0 w 605"/>
                      <a:gd name="T15" fmla="*/ 0 h 119"/>
                      <a:gd name="T16" fmla="*/ 0 w 605"/>
                      <a:gd name="T17" fmla="*/ 0 h 119"/>
                      <a:gd name="T18" fmla="*/ 0 w 605"/>
                      <a:gd name="T19" fmla="*/ 0 h 119"/>
                      <a:gd name="T20" fmla="*/ 0 w 605"/>
                      <a:gd name="T21" fmla="*/ 0 h 119"/>
                      <a:gd name="T22" fmla="*/ 0 w 605"/>
                      <a:gd name="T23" fmla="*/ 0 h 119"/>
                      <a:gd name="T24" fmla="*/ 0 w 605"/>
                      <a:gd name="T25" fmla="*/ 0 h 119"/>
                      <a:gd name="T26" fmla="*/ 0 w 605"/>
                      <a:gd name="T27" fmla="*/ 0 h 119"/>
                      <a:gd name="T28" fmla="*/ 0 w 605"/>
                      <a:gd name="T29" fmla="*/ 0 h 119"/>
                      <a:gd name="T30" fmla="*/ 0 w 605"/>
                      <a:gd name="T31" fmla="*/ 0 h 119"/>
                      <a:gd name="T32" fmla="*/ 0 w 605"/>
                      <a:gd name="T33" fmla="*/ 0 h 119"/>
                      <a:gd name="T34" fmla="*/ 0 w 605"/>
                      <a:gd name="T35" fmla="*/ 0 h 119"/>
                      <a:gd name="T36" fmla="*/ 0 w 605"/>
                      <a:gd name="T37" fmla="*/ 0 h 119"/>
                      <a:gd name="T38" fmla="*/ 0 w 605"/>
                      <a:gd name="T39" fmla="*/ 0 h 119"/>
                      <a:gd name="T40" fmla="*/ 0 w 605"/>
                      <a:gd name="T41" fmla="*/ 0 h 119"/>
                      <a:gd name="T42" fmla="*/ 0 w 605"/>
                      <a:gd name="T43" fmla="*/ 0 h 119"/>
                      <a:gd name="T44" fmla="*/ 0 w 605"/>
                      <a:gd name="T45" fmla="*/ 0 h 119"/>
                      <a:gd name="T46" fmla="*/ 0 w 605"/>
                      <a:gd name="T47" fmla="*/ 0 h 119"/>
                      <a:gd name="T48" fmla="*/ 0 w 605"/>
                      <a:gd name="T49" fmla="*/ 0 h 119"/>
                      <a:gd name="T50" fmla="*/ 0 w 605"/>
                      <a:gd name="T51" fmla="*/ 0 h 119"/>
                      <a:gd name="T52" fmla="*/ 0 w 605"/>
                      <a:gd name="T53" fmla="*/ 0 h 119"/>
                      <a:gd name="T54" fmla="*/ 0 w 605"/>
                      <a:gd name="T55" fmla="*/ 0 h 119"/>
                      <a:gd name="T56" fmla="*/ 0 w 605"/>
                      <a:gd name="T57" fmla="*/ 0 h 119"/>
                      <a:gd name="T58" fmla="*/ 0 w 605"/>
                      <a:gd name="T59" fmla="*/ 0 h 119"/>
                      <a:gd name="T60" fmla="*/ 0 w 605"/>
                      <a:gd name="T61" fmla="*/ 0 h 119"/>
                      <a:gd name="T62" fmla="*/ 0 w 605"/>
                      <a:gd name="T63" fmla="*/ 0 h 119"/>
                      <a:gd name="T64" fmla="*/ 0 w 605"/>
                      <a:gd name="T65" fmla="*/ 0 h 119"/>
                      <a:gd name="T66" fmla="*/ 0 w 605"/>
                      <a:gd name="T67" fmla="*/ 0 h 119"/>
                      <a:gd name="T68" fmla="*/ 0 w 605"/>
                      <a:gd name="T69" fmla="*/ 0 h 119"/>
                      <a:gd name="T70" fmla="*/ 0 w 605"/>
                      <a:gd name="T71" fmla="*/ 0 h 119"/>
                      <a:gd name="T72" fmla="*/ 0 w 605"/>
                      <a:gd name="T73" fmla="*/ 0 h 119"/>
                      <a:gd name="T74" fmla="*/ 0 w 605"/>
                      <a:gd name="T75" fmla="*/ 0 h 119"/>
                      <a:gd name="T76" fmla="*/ 0 w 605"/>
                      <a:gd name="T77" fmla="*/ 0 h 119"/>
                      <a:gd name="T78" fmla="*/ 0 w 605"/>
                      <a:gd name="T79" fmla="*/ 0 h 119"/>
                      <a:gd name="T80" fmla="*/ 0 w 605"/>
                      <a:gd name="T81" fmla="*/ 0 h 119"/>
                      <a:gd name="T82" fmla="*/ 0 w 605"/>
                      <a:gd name="T83" fmla="*/ 0 h 119"/>
                      <a:gd name="T84" fmla="*/ 0 w 605"/>
                      <a:gd name="T85" fmla="*/ 0 h 119"/>
                      <a:gd name="T86" fmla="*/ 0 w 605"/>
                      <a:gd name="T87" fmla="*/ 0 h 11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605"/>
                      <a:gd name="T133" fmla="*/ 0 h 119"/>
                      <a:gd name="T134" fmla="*/ 605 w 605"/>
                      <a:gd name="T135" fmla="*/ 119 h 11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605" h="119">
                        <a:moveTo>
                          <a:pt x="0" y="34"/>
                        </a:moveTo>
                        <a:lnTo>
                          <a:pt x="14" y="119"/>
                        </a:lnTo>
                        <a:lnTo>
                          <a:pt x="23" y="117"/>
                        </a:lnTo>
                        <a:lnTo>
                          <a:pt x="34" y="114"/>
                        </a:lnTo>
                        <a:lnTo>
                          <a:pt x="42" y="112"/>
                        </a:lnTo>
                        <a:lnTo>
                          <a:pt x="52" y="111"/>
                        </a:lnTo>
                        <a:lnTo>
                          <a:pt x="62" y="110"/>
                        </a:lnTo>
                        <a:lnTo>
                          <a:pt x="72" y="108"/>
                        </a:lnTo>
                        <a:lnTo>
                          <a:pt x="80" y="106"/>
                        </a:lnTo>
                        <a:lnTo>
                          <a:pt x="91" y="105"/>
                        </a:lnTo>
                        <a:lnTo>
                          <a:pt x="100" y="104"/>
                        </a:lnTo>
                        <a:lnTo>
                          <a:pt x="110" y="101"/>
                        </a:lnTo>
                        <a:lnTo>
                          <a:pt x="119" y="101"/>
                        </a:lnTo>
                        <a:lnTo>
                          <a:pt x="129" y="99"/>
                        </a:lnTo>
                        <a:lnTo>
                          <a:pt x="138" y="98"/>
                        </a:lnTo>
                        <a:lnTo>
                          <a:pt x="148" y="97"/>
                        </a:lnTo>
                        <a:lnTo>
                          <a:pt x="156" y="97"/>
                        </a:lnTo>
                        <a:lnTo>
                          <a:pt x="166" y="95"/>
                        </a:lnTo>
                        <a:lnTo>
                          <a:pt x="176" y="94"/>
                        </a:lnTo>
                        <a:lnTo>
                          <a:pt x="185" y="94"/>
                        </a:lnTo>
                        <a:lnTo>
                          <a:pt x="194" y="93"/>
                        </a:lnTo>
                        <a:lnTo>
                          <a:pt x="204" y="92"/>
                        </a:lnTo>
                        <a:lnTo>
                          <a:pt x="212" y="92"/>
                        </a:lnTo>
                        <a:lnTo>
                          <a:pt x="221" y="91"/>
                        </a:lnTo>
                        <a:lnTo>
                          <a:pt x="231" y="89"/>
                        </a:lnTo>
                        <a:lnTo>
                          <a:pt x="239" y="89"/>
                        </a:lnTo>
                        <a:lnTo>
                          <a:pt x="249" y="89"/>
                        </a:lnTo>
                        <a:lnTo>
                          <a:pt x="257" y="88"/>
                        </a:lnTo>
                        <a:lnTo>
                          <a:pt x="268" y="88"/>
                        </a:lnTo>
                        <a:lnTo>
                          <a:pt x="276" y="88"/>
                        </a:lnTo>
                        <a:lnTo>
                          <a:pt x="286" y="87"/>
                        </a:lnTo>
                        <a:lnTo>
                          <a:pt x="294" y="87"/>
                        </a:lnTo>
                        <a:lnTo>
                          <a:pt x="303" y="87"/>
                        </a:lnTo>
                        <a:lnTo>
                          <a:pt x="313" y="87"/>
                        </a:lnTo>
                        <a:lnTo>
                          <a:pt x="321" y="86"/>
                        </a:lnTo>
                        <a:lnTo>
                          <a:pt x="329" y="86"/>
                        </a:lnTo>
                        <a:lnTo>
                          <a:pt x="339" y="86"/>
                        </a:lnTo>
                        <a:lnTo>
                          <a:pt x="347" y="86"/>
                        </a:lnTo>
                        <a:lnTo>
                          <a:pt x="356" y="86"/>
                        </a:lnTo>
                        <a:lnTo>
                          <a:pt x="365" y="86"/>
                        </a:lnTo>
                        <a:lnTo>
                          <a:pt x="373" y="86"/>
                        </a:lnTo>
                        <a:lnTo>
                          <a:pt x="383" y="87"/>
                        </a:lnTo>
                        <a:lnTo>
                          <a:pt x="391" y="87"/>
                        </a:lnTo>
                        <a:lnTo>
                          <a:pt x="399" y="88"/>
                        </a:lnTo>
                        <a:lnTo>
                          <a:pt x="409" y="88"/>
                        </a:lnTo>
                        <a:lnTo>
                          <a:pt x="417" y="89"/>
                        </a:lnTo>
                        <a:lnTo>
                          <a:pt x="427" y="89"/>
                        </a:lnTo>
                        <a:lnTo>
                          <a:pt x="435" y="91"/>
                        </a:lnTo>
                        <a:lnTo>
                          <a:pt x="443" y="91"/>
                        </a:lnTo>
                        <a:lnTo>
                          <a:pt x="453" y="92"/>
                        </a:lnTo>
                        <a:lnTo>
                          <a:pt x="461" y="92"/>
                        </a:lnTo>
                        <a:lnTo>
                          <a:pt x="469" y="93"/>
                        </a:lnTo>
                        <a:lnTo>
                          <a:pt x="478" y="94"/>
                        </a:lnTo>
                        <a:lnTo>
                          <a:pt x="487" y="95"/>
                        </a:lnTo>
                        <a:lnTo>
                          <a:pt x="496" y="97"/>
                        </a:lnTo>
                        <a:lnTo>
                          <a:pt x="503" y="97"/>
                        </a:lnTo>
                        <a:lnTo>
                          <a:pt x="512" y="98"/>
                        </a:lnTo>
                        <a:lnTo>
                          <a:pt x="520" y="99"/>
                        </a:lnTo>
                        <a:lnTo>
                          <a:pt x="529" y="100"/>
                        </a:lnTo>
                        <a:lnTo>
                          <a:pt x="537" y="101"/>
                        </a:lnTo>
                        <a:lnTo>
                          <a:pt x="545" y="104"/>
                        </a:lnTo>
                        <a:lnTo>
                          <a:pt x="555" y="104"/>
                        </a:lnTo>
                        <a:lnTo>
                          <a:pt x="563" y="106"/>
                        </a:lnTo>
                        <a:lnTo>
                          <a:pt x="571" y="107"/>
                        </a:lnTo>
                        <a:lnTo>
                          <a:pt x="580" y="110"/>
                        </a:lnTo>
                        <a:lnTo>
                          <a:pt x="589" y="111"/>
                        </a:lnTo>
                        <a:lnTo>
                          <a:pt x="605" y="25"/>
                        </a:lnTo>
                        <a:lnTo>
                          <a:pt x="594" y="23"/>
                        </a:lnTo>
                        <a:lnTo>
                          <a:pt x="586" y="22"/>
                        </a:lnTo>
                        <a:lnTo>
                          <a:pt x="576" y="21"/>
                        </a:lnTo>
                        <a:lnTo>
                          <a:pt x="568" y="18"/>
                        </a:lnTo>
                        <a:lnTo>
                          <a:pt x="558" y="18"/>
                        </a:lnTo>
                        <a:lnTo>
                          <a:pt x="550" y="16"/>
                        </a:lnTo>
                        <a:lnTo>
                          <a:pt x="541" y="15"/>
                        </a:lnTo>
                        <a:lnTo>
                          <a:pt x="532" y="14"/>
                        </a:lnTo>
                        <a:lnTo>
                          <a:pt x="523" y="12"/>
                        </a:lnTo>
                        <a:lnTo>
                          <a:pt x="513" y="11"/>
                        </a:lnTo>
                        <a:lnTo>
                          <a:pt x="505" y="10"/>
                        </a:lnTo>
                        <a:lnTo>
                          <a:pt x="496" y="9"/>
                        </a:lnTo>
                        <a:lnTo>
                          <a:pt x="487" y="8"/>
                        </a:lnTo>
                        <a:lnTo>
                          <a:pt x="478" y="8"/>
                        </a:lnTo>
                        <a:lnTo>
                          <a:pt x="468" y="6"/>
                        </a:lnTo>
                        <a:lnTo>
                          <a:pt x="460" y="5"/>
                        </a:lnTo>
                        <a:lnTo>
                          <a:pt x="450" y="4"/>
                        </a:lnTo>
                        <a:lnTo>
                          <a:pt x="441" y="4"/>
                        </a:lnTo>
                        <a:lnTo>
                          <a:pt x="431" y="3"/>
                        </a:lnTo>
                        <a:lnTo>
                          <a:pt x="423" y="3"/>
                        </a:lnTo>
                        <a:lnTo>
                          <a:pt x="414" y="2"/>
                        </a:lnTo>
                        <a:lnTo>
                          <a:pt x="404" y="2"/>
                        </a:lnTo>
                        <a:lnTo>
                          <a:pt x="395" y="0"/>
                        </a:lnTo>
                        <a:lnTo>
                          <a:pt x="386" y="0"/>
                        </a:lnTo>
                        <a:lnTo>
                          <a:pt x="377" y="0"/>
                        </a:lnTo>
                        <a:lnTo>
                          <a:pt x="369" y="0"/>
                        </a:lnTo>
                        <a:lnTo>
                          <a:pt x="359" y="0"/>
                        </a:lnTo>
                        <a:lnTo>
                          <a:pt x="350" y="0"/>
                        </a:lnTo>
                        <a:lnTo>
                          <a:pt x="340" y="0"/>
                        </a:lnTo>
                        <a:lnTo>
                          <a:pt x="331" y="0"/>
                        </a:lnTo>
                        <a:lnTo>
                          <a:pt x="321" y="0"/>
                        </a:lnTo>
                        <a:lnTo>
                          <a:pt x="312" y="0"/>
                        </a:lnTo>
                        <a:lnTo>
                          <a:pt x="302" y="0"/>
                        </a:lnTo>
                        <a:lnTo>
                          <a:pt x="293" y="0"/>
                        </a:lnTo>
                        <a:lnTo>
                          <a:pt x="283" y="0"/>
                        </a:lnTo>
                        <a:lnTo>
                          <a:pt x="274" y="0"/>
                        </a:lnTo>
                        <a:lnTo>
                          <a:pt x="264" y="0"/>
                        </a:lnTo>
                        <a:lnTo>
                          <a:pt x="255" y="2"/>
                        </a:lnTo>
                        <a:lnTo>
                          <a:pt x="245" y="2"/>
                        </a:lnTo>
                        <a:lnTo>
                          <a:pt x="236" y="3"/>
                        </a:lnTo>
                        <a:lnTo>
                          <a:pt x="226" y="3"/>
                        </a:lnTo>
                        <a:lnTo>
                          <a:pt x="217" y="4"/>
                        </a:lnTo>
                        <a:lnTo>
                          <a:pt x="207" y="5"/>
                        </a:lnTo>
                        <a:lnTo>
                          <a:pt x="197" y="5"/>
                        </a:lnTo>
                        <a:lnTo>
                          <a:pt x="187" y="6"/>
                        </a:lnTo>
                        <a:lnTo>
                          <a:pt x="178" y="8"/>
                        </a:lnTo>
                        <a:lnTo>
                          <a:pt x="168" y="8"/>
                        </a:lnTo>
                        <a:lnTo>
                          <a:pt x="159" y="10"/>
                        </a:lnTo>
                        <a:lnTo>
                          <a:pt x="149" y="10"/>
                        </a:lnTo>
                        <a:lnTo>
                          <a:pt x="138" y="11"/>
                        </a:lnTo>
                        <a:lnTo>
                          <a:pt x="128" y="14"/>
                        </a:lnTo>
                        <a:lnTo>
                          <a:pt x="118" y="14"/>
                        </a:lnTo>
                        <a:lnTo>
                          <a:pt x="109" y="16"/>
                        </a:lnTo>
                        <a:lnTo>
                          <a:pt x="99" y="17"/>
                        </a:lnTo>
                        <a:lnTo>
                          <a:pt x="89" y="18"/>
                        </a:lnTo>
                        <a:lnTo>
                          <a:pt x="80" y="19"/>
                        </a:lnTo>
                        <a:lnTo>
                          <a:pt x="70" y="21"/>
                        </a:lnTo>
                        <a:lnTo>
                          <a:pt x="60" y="23"/>
                        </a:lnTo>
                        <a:lnTo>
                          <a:pt x="49" y="24"/>
                        </a:lnTo>
                        <a:lnTo>
                          <a:pt x="40" y="25"/>
                        </a:lnTo>
                        <a:lnTo>
                          <a:pt x="29" y="28"/>
                        </a:lnTo>
                        <a:lnTo>
                          <a:pt x="20" y="29"/>
                        </a:lnTo>
                        <a:lnTo>
                          <a:pt x="9" y="31"/>
                        </a:lnTo>
                        <a:lnTo>
                          <a:pt x="0" y="3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8" name="Freeform 230"/>
                  <p:cNvSpPr>
                    <a:spLocks/>
                  </p:cNvSpPr>
                  <p:nvPr/>
                </p:nvSpPr>
                <p:spPr bwMode="auto">
                  <a:xfrm>
                    <a:off x="5338" y="1833"/>
                    <a:ext cx="380" cy="33"/>
                  </a:xfrm>
                  <a:custGeom>
                    <a:avLst/>
                    <a:gdLst>
                      <a:gd name="T0" fmla="*/ 0 w 1140"/>
                      <a:gd name="T1" fmla="*/ 0 h 99"/>
                      <a:gd name="T2" fmla="*/ 0 w 1140"/>
                      <a:gd name="T3" fmla="*/ 0 h 99"/>
                      <a:gd name="T4" fmla="*/ 0 w 1140"/>
                      <a:gd name="T5" fmla="*/ 0 h 99"/>
                      <a:gd name="T6" fmla="*/ 0 w 1140"/>
                      <a:gd name="T7" fmla="*/ 0 h 99"/>
                      <a:gd name="T8" fmla="*/ 0 w 1140"/>
                      <a:gd name="T9" fmla="*/ 0 h 99"/>
                      <a:gd name="T10" fmla="*/ 0 w 1140"/>
                      <a:gd name="T11" fmla="*/ 0 h 99"/>
                      <a:gd name="T12" fmla="*/ 0 w 1140"/>
                      <a:gd name="T13" fmla="*/ 0 h 99"/>
                      <a:gd name="T14" fmla="*/ 0 w 1140"/>
                      <a:gd name="T15" fmla="*/ 0 h 99"/>
                      <a:gd name="T16" fmla="*/ 0 w 1140"/>
                      <a:gd name="T17" fmla="*/ 0 h 99"/>
                      <a:gd name="T18" fmla="*/ 0 w 1140"/>
                      <a:gd name="T19" fmla="*/ 0 h 99"/>
                      <a:gd name="T20" fmla="*/ 0 w 1140"/>
                      <a:gd name="T21" fmla="*/ 0 h 99"/>
                      <a:gd name="T22" fmla="*/ 0 w 1140"/>
                      <a:gd name="T23" fmla="*/ 0 h 99"/>
                      <a:gd name="T24" fmla="*/ 0 w 1140"/>
                      <a:gd name="T25" fmla="*/ 0 h 99"/>
                      <a:gd name="T26" fmla="*/ 0 w 1140"/>
                      <a:gd name="T27" fmla="*/ 0 h 99"/>
                      <a:gd name="T28" fmla="*/ 0 w 1140"/>
                      <a:gd name="T29" fmla="*/ 0 h 99"/>
                      <a:gd name="T30" fmla="*/ 0 w 1140"/>
                      <a:gd name="T31" fmla="*/ 0 h 99"/>
                      <a:gd name="T32" fmla="*/ 0 w 1140"/>
                      <a:gd name="T33" fmla="*/ 0 h 99"/>
                      <a:gd name="T34" fmla="*/ 0 w 1140"/>
                      <a:gd name="T35" fmla="*/ 0 h 99"/>
                      <a:gd name="T36" fmla="*/ 0 w 1140"/>
                      <a:gd name="T37" fmla="*/ 0 h 99"/>
                      <a:gd name="T38" fmla="*/ 0 w 1140"/>
                      <a:gd name="T39" fmla="*/ 0 h 99"/>
                      <a:gd name="T40" fmla="*/ 0 w 1140"/>
                      <a:gd name="T41" fmla="*/ 0 h 99"/>
                      <a:gd name="T42" fmla="*/ 0 w 1140"/>
                      <a:gd name="T43" fmla="*/ 0 h 99"/>
                      <a:gd name="T44" fmla="*/ 0 w 1140"/>
                      <a:gd name="T45" fmla="*/ 0 h 99"/>
                      <a:gd name="T46" fmla="*/ 0 w 1140"/>
                      <a:gd name="T47" fmla="*/ 0 h 99"/>
                      <a:gd name="T48" fmla="*/ 0 w 1140"/>
                      <a:gd name="T49" fmla="*/ 0 h 99"/>
                      <a:gd name="T50" fmla="*/ 0 w 1140"/>
                      <a:gd name="T51" fmla="*/ 0 h 99"/>
                      <a:gd name="T52" fmla="*/ 0 w 1140"/>
                      <a:gd name="T53" fmla="*/ 0 h 99"/>
                      <a:gd name="T54" fmla="*/ 0 w 1140"/>
                      <a:gd name="T55" fmla="*/ 0 h 99"/>
                      <a:gd name="T56" fmla="*/ 0 w 1140"/>
                      <a:gd name="T57" fmla="*/ 0 h 99"/>
                      <a:gd name="T58" fmla="*/ 0 w 1140"/>
                      <a:gd name="T59" fmla="*/ 0 h 99"/>
                      <a:gd name="T60" fmla="*/ 0 w 1140"/>
                      <a:gd name="T61" fmla="*/ 0 h 99"/>
                      <a:gd name="T62" fmla="*/ 0 w 1140"/>
                      <a:gd name="T63" fmla="*/ 0 h 99"/>
                      <a:gd name="T64" fmla="*/ 0 w 1140"/>
                      <a:gd name="T65" fmla="*/ 0 h 99"/>
                      <a:gd name="T66" fmla="*/ 0 w 1140"/>
                      <a:gd name="T67" fmla="*/ 0 h 99"/>
                      <a:gd name="T68" fmla="*/ 0 w 1140"/>
                      <a:gd name="T69" fmla="*/ 0 h 99"/>
                      <a:gd name="T70" fmla="*/ 0 w 1140"/>
                      <a:gd name="T71" fmla="*/ 0 h 99"/>
                      <a:gd name="T72" fmla="*/ 0 w 1140"/>
                      <a:gd name="T73" fmla="*/ 0 h 99"/>
                      <a:gd name="T74" fmla="*/ 0 w 1140"/>
                      <a:gd name="T75" fmla="*/ 0 h 99"/>
                      <a:gd name="T76" fmla="*/ 0 w 1140"/>
                      <a:gd name="T77" fmla="*/ 0 h 99"/>
                      <a:gd name="T78" fmla="*/ 0 w 1140"/>
                      <a:gd name="T79" fmla="*/ 0 h 99"/>
                      <a:gd name="T80" fmla="*/ 0 w 1140"/>
                      <a:gd name="T81" fmla="*/ 0 h 99"/>
                      <a:gd name="T82" fmla="*/ 0 w 1140"/>
                      <a:gd name="T83" fmla="*/ 0 h 99"/>
                      <a:gd name="T84" fmla="*/ 0 w 1140"/>
                      <a:gd name="T85" fmla="*/ 0 h 99"/>
                      <a:gd name="T86" fmla="*/ 0 w 1140"/>
                      <a:gd name="T87" fmla="*/ 0 h 99"/>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140"/>
                      <a:gd name="T133" fmla="*/ 0 h 99"/>
                      <a:gd name="T134" fmla="*/ 1140 w 1140"/>
                      <a:gd name="T135" fmla="*/ 99 h 99"/>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140" h="99">
                        <a:moveTo>
                          <a:pt x="0" y="13"/>
                        </a:moveTo>
                        <a:lnTo>
                          <a:pt x="3" y="99"/>
                        </a:lnTo>
                        <a:lnTo>
                          <a:pt x="19" y="97"/>
                        </a:lnTo>
                        <a:lnTo>
                          <a:pt x="35" y="97"/>
                        </a:lnTo>
                        <a:lnTo>
                          <a:pt x="52" y="97"/>
                        </a:lnTo>
                        <a:lnTo>
                          <a:pt x="69" y="96"/>
                        </a:lnTo>
                        <a:lnTo>
                          <a:pt x="86" y="94"/>
                        </a:lnTo>
                        <a:lnTo>
                          <a:pt x="102" y="94"/>
                        </a:lnTo>
                        <a:lnTo>
                          <a:pt x="120" y="94"/>
                        </a:lnTo>
                        <a:lnTo>
                          <a:pt x="137" y="94"/>
                        </a:lnTo>
                        <a:lnTo>
                          <a:pt x="154" y="93"/>
                        </a:lnTo>
                        <a:lnTo>
                          <a:pt x="171" y="92"/>
                        </a:lnTo>
                        <a:lnTo>
                          <a:pt x="188" y="92"/>
                        </a:lnTo>
                        <a:lnTo>
                          <a:pt x="204" y="92"/>
                        </a:lnTo>
                        <a:lnTo>
                          <a:pt x="222" y="92"/>
                        </a:lnTo>
                        <a:lnTo>
                          <a:pt x="240" y="91"/>
                        </a:lnTo>
                        <a:lnTo>
                          <a:pt x="256" y="91"/>
                        </a:lnTo>
                        <a:lnTo>
                          <a:pt x="274" y="91"/>
                        </a:lnTo>
                        <a:lnTo>
                          <a:pt x="291" y="90"/>
                        </a:lnTo>
                        <a:lnTo>
                          <a:pt x="309" y="90"/>
                        </a:lnTo>
                        <a:lnTo>
                          <a:pt x="326" y="90"/>
                        </a:lnTo>
                        <a:lnTo>
                          <a:pt x="343" y="90"/>
                        </a:lnTo>
                        <a:lnTo>
                          <a:pt x="361" y="89"/>
                        </a:lnTo>
                        <a:lnTo>
                          <a:pt x="379" y="89"/>
                        </a:lnTo>
                        <a:lnTo>
                          <a:pt x="395" y="87"/>
                        </a:lnTo>
                        <a:lnTo>
                          <a:pt x="413" y="87"/>
                        </a:lnTo>
                        <a:lnTo>
                          <a:pt x="430" y="87"/>
                        </a:lnTo>
                        <a:lnTo>
                          <a:pt x="447" y="87"/>
                        </a:lnTo>
                        <a:lnTo>
                          <a:pt x="465" y="87"/>
                        </a:lnTo>
                        <a:lnTo>
                          <a:pt x="483" y="87"/>
                        </a:lnTo>
                        <a:lnTo>
                          <a:pt x="501" y="87"/>
                        </a:lnTo>
                        <a:lnTo>
                          <a:pt x="519" y="87"/>
                        </a:lnTo>
                        <a:lnTo>
                          <a:pt x="536" y="87"/>
                        </a:lnTo>
                        <a:lnTo>
                          <a:pt x="554" y="87"/>
                        </a:lnTo>
                        <a:lnTo>
                          <a:pt x="572" y="86"/>
                        </a:lnTo>
                        <a:lnTo>
                          <a:pt x="590" y="86"/>
                        </a:lnTo>
                        <a:lnTo>
                          <a:pt x="606" y="86"/>
                        </a:lnTo>
                        <a:lnTo>
                          <a:pt x="625" y="86"/>
                        </a:lnTo>
                        <a:lnTo>
                          <a:pt x="643" y="86"/>
                        </a:lnTo>
                        <a:lnTo>
                          <a:pt x="661" y="86"/>
                        </a:lnTo>
                        <a:lnTo>
                          <a:pt x="679" y="86"/>
                        </a:lnTo>
                        <a:lnTo>
                          <a:pt x="698" y="87"/>
                        </a:lnTo>
                        <a:lnTo>
                          <a:pt x="714" y="87"/>
                        </a:lnTo>
                        <a:lnTo>
                          <a:pt x="733" y="87"/>
                        </a:lnTo>
                        <a:lnTo>
                          <a:pt x="751" y="87"/>
                        </a:lnTo>
                        <a:lnTo>
                          <a:pt x="769" y="87"/>
                        </a:lnTo>
                        <a:lnTo>
                          <a:pt x="787" y="87"/>
                        </a:lnTo>
                        <a:lnTo>
                          <a:pt x="805" y="87"/>
                        </a:lnTo>
                        <a:lnTo>
                          <a:pt x="824" y="87"/>
                        </a:lnTo>
                        <a:lnTo>
                          <a:pt x="843" y="89"/>
                        </a:lnTo>
                        <a:lnTo>
                          <a:pt x="860" y="89"/>
                        </a:lnTo>
                        <a:lnTo>
                          <a:pt x="878" y="89"/>
                        </a:lnTo>
                        <a:lnTo>
                          <a:pt x="896" y="90"/>
                        </a:lnTo>
                        <a:lnTo>
                          <a:pt x="915" y="90"/>
                        </a:lnTo>
                        <a:lnTo>
                          <a:pt x="934" y="90"/>
                        </a:lnTo>
                        <a:lnTo>
                          <a:pt x="952" y="91"/>
                        </a:lnTo>
                        <a:lnTo>
                          <a:pt x="970" y="91"/>
                        </a:lnTo>
                        <a:lnTo>
                          <a:pt x="989" y="92"/>
                        </a:lnTo>
                        <a:lnTo>
                          <a:pt x="1006" y="92"/>
                        </a:lnTo>
                        <a:lnTo>
                          <a:pt x="1024" y="93"/>
                        </a:lnTo>
                        <a:lnTo>
                          <a:pt x="1043" y="94"/>
                        </a:lnTo>
                        <a:lnTo>
                          <a:pt x="1062" y="94"/>
                        </a:lnTo>
                        <a:lnTo>
                          <a:pt x="1080" y="96"/>
                        </a:lnTo>
                        <a:lnTo>
                          <a:pt x="1099" y="97"/>
                        </a:lnTo>
                        <a:lnTo>
                          <a:pt x="1118" y="97"/>
                        </a:lnTo>
                        <a:lnTo>
                          <a:pt x="1136" y="99"/>
                        </a:lnTo>
                        <a:lnTo>
                          <a:pt x="1140" y="13"/>
                        </a:lnTo>
                        <a:lnTo>
                          <a:pt x="1121" y="11"/>
                        </a:lnTo>
                        <a:lnTo>
                          <a:pt x="1102" y="10"/>
                        </a:lnTo>
                        <a:lnTo>
                          <a:pt x="1083" y="9"/>
                        </a:lnTo>
                        <a:lnTo>
                          <a:pt x="1066" y="9"/>
                        </a:lnTo>
                        <a:lnTo>
                          <a:pt x="1047" y="8"/>
                        </a:lnTo>
                        <a:lnTo>
                          <a:pt x="1028" y="7"/>
                        </a:lnTo>
                        <a:lnTo>
                          <a:pt x="1010" y="7"/>
                        </a:lnTo>
                        <a:lnTo>
                          <a:pt x="991" y="7"/>
                        </a:lnTo>
                        <a:lnTo>
                          <a:pt x="972" y="4"/>
                        </a:lnTo>
                        <a:lnTo>
                          <a:pt x="954" y="4"/>
                        </a:lnTo>
                        <a:lnTo>
                          <a:pt x="936" y="4"/>
                        </a:lnTo>
                        <a:lnTo>
                          <a:pt x="917" y="4"/>
                        </a:lnTo>
                        <a:lnTo>
                          <a:pt x="898" y="3"/>
                        </a:lnTo>
                        <a:lnTo>
                          <a:pt x="881" y="2"/>
                        </a:lnTo>
                        <a:lnTo>
                          <a:pt x="863" y="2"/>
                        </a:lnTo>
                        <a:lnTo>
                          <a:pt x="844" y="2"/>
                        </a:lnTo>
                        <a:lnTo>
                          <a:pt x="825" y="1"/>
                        </a:lnTo>
                        <a:lnTo>
                          <a:pt x="807" y="1"/>
                        </a:lnTo>
                        <a:lnTo>
                          <a:pt x="789" y="1"/>
                        </a:lnTo>
                        <a:lnTo>
                          <a:pt x="771" y="1"/>
                        </a:lnTo>
                        <a:lnTo>
                          <a:pt x="752" y="1"/>
                        </a:lnTo>
                        <a:lnTo>
                          <a:pt x="733" y="1"/>
                        </a:lnTo>
                        <a:lnTo>
                          <a:pt x="716" y="1"/>
                        </a:lnTo>
                        <a:lnTo>
                          <a:pt x="698" y="1"/>
                        </a:lnTo>
                        <a:lnTo>
                          <a:pt x="680" y="0"/>
                        </a:lnTo>
                        <a:lnTo>
                          <a:pt x="662" y="0"/>
                        </a:lnTo>
                        <a:lnTo>
                          <a:pt x="643" y="0"/>
                        </a:lnTo>
                        <a:lnTo>
                          <a:pt x="625" y="0"/>
                        </a:lnTo>
                        <a:lnTo>
                          <a:pt x="608" y="0"/>
                        </a:lnTo>
                        <a:lnTo>
                          <a:pt x="590" y="0"/>
                        </a:lnTo>
                        <a:lnTo>
                          <a:pt x="572" y="0"/>
                        </a:lnTo>
                        <a:lnTo>
                          <a:pt x="554" y="1"/>
                        </a:lnTo>
                        <a:lnTo>
                          <a:pt x="536" y="1"/>
                        </a:lnTo>
                        <a:lnTo>
                          <a:pt x="519" y="1"/>
                        </a:lnTo>
                        <a:lnTo>
                          <a:pt x="501" y="1"/>
                        </a:lnTo>
                        <a:lnTo>
                          <a:pt x="483" y="1"/>
                        </a:lnTo>
                        <a:lnTo>
                          <a:pt x="465" y="1"/>
                        </a:lnTo>
                        <a:lnTo>
                          <a:pt x="447" y="1"/>
                        </a:lnTo>
                        <a:lnTo>
                          <a:pt x="430" y="1"/>
                        </a:lnTo>
                        <a:lnTo>
                          <a:pt x="412" y="1"/>
                        </a:lnTo>
                        <a:lnTo>
                          <a:pt x="394" y="1"/>
                        </a:lnTo>
                        <a:lnTo>
                          <a:pt x="376" y="2"/>
                        </a:lnTo>
                        <a:lnTo>
                          <a:pt x="359" y="2"/>
                        </a:lnTo>
                        <a:lnTo>
                          <a:pt x="342" y="3"/>
                        </a:lnTo>
                        <a:lnTo>
                          <a:pt x="324" y="3"/>
                        </a:lnTo>
                        <a:lnTo>
                          <a:pt x="307" y="4"/>
                        </a:lnTo>
                        <a:lnTo>
                          <a:pt x="291" y="4"/>
                        </a:lnTo>
                        <a:lnTo>
                          <a:pt x="273" y="4"/>
                        </a:lnTo>
                        <a:lnTo>
                          <a:pt x="255" y="4"/>
                        </a:lnTo>
                        <a:lnTo>
                          <a:pt x="237" y="4"/>
                        </a:lnTo>
                        <a:lnTo>
                          <a:pt x="221" y="5"/>
                        </a:lnTo>
                        <a:lnTo>
                          <a:pt x="203" y="7"/>
                        </a:lnTo>
                        <a:lnTo>
                          <a:pt x="186" y="7"/>
                        </a:lnTo>
                        <a:lnTo>
                          <a:pt x="169" y="7"/>
                        </a:lnTo>
                        <a:lnTo>
                          <a:pt x="151" y="7"/>
                        </a:lnTo>
                        <a:lnTo>
                          <a:pt x="135" y="8"/>
                        </a:lnTo>
                        <a:lnTo>
                          <a:pt x="118" y="8"/>
                        </a:lnTo>
                        <a:lnTo>
                          <a:pt x="101" y="9"/>
                        </a:lnTo>
                        <a:lnTo>
                          <a:pt x="83" y="9"/>
                        </a:lnTo>
                        <a:lnTo>
                          <a:pt x="68" y="9"/>
                        </a:lnTo>
                        <a:lnTo>
                          <a:pt x="50" y="10"/>
                        </a:lnTo>
                        <a:lnTo>
                          <a:pt x="33" y="11"/>
                        </a:lnTo>
                        <a:lnTo>
                          <a:pt x="17" y="11"/>
                        </a:lnTo>
                        <a:lnTo>
                          <a:pt x="0" y="13"/>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89" name="Freeform 231"/>
                  <p:cNvSpPr>
                    <a:spLocks/>
                  </p:cNvSpPr>
                  <p:nvPr/>
                </p:nvSpPr>
                <p:spPr bwMode="auto">
                  <a:xfrm>
                    <a:off x="5285" y="1836"/>
                    <a:ext cx="67" cy="128"/>
                  </a:xfrm>
                  <a:custGeom>
                    <a:avLst/>
                    <a:gdLst>
                      <a:gd name="T0" fmla="*/ 0 w 202"/>
                      <a:gd name="T1" fmla="*/ 0 h 383"/>
                      <a:gd name="T2" fmla="*/ 0 w 202"/>
                      <a:gd name="T3" fmla="*/ 0 h 383"/>
                      <a:gd name="T4" fmla="*/ 0 w 202"/>
                      <a:gd name="T5" fmla="*/ 0 h 383"/>
                      <a:gd name="T6" fmla="*/ 0 w 202"/>
                      <a:gd name="T7" fmla="*/ 0 h 383"/>
                      <a:gd name="T8" fmla="*/ 0 w 202"/>
                      <a:gd name="T9" fmla="*/ 0 h 383"/>
                      <a:gd name="T10" fmla="*/ 0 w 202"/>
                      <a:gd name="T11" fmla="*/ 0 h 383"/>
                      <a:gd name="T12" fmla="*/ 0 w 202"/>
                      <a:gd name="T13" fmla="*/ 0 h 383"/>
                      <a:gd name="T14" fmla="*/ 0 w 202"/>
                      <a:gd name="T15" fmla="*/ 0 h 383"/>
                      <a:gd name="T16" fmla="*/ 0 w 202"/>
                      <a:gd name="T17" fmla="*/ 0 h 383"/>
                      <a:gd name="T18" fmla="*/ 0 w 202"/>
                      <a:gd name="T19" fmla="*/ 0 h 383"/>
                      <a:gd name="T20" fmla="*/ 0 w 202"/>
                      <a:gd name="T21" fmla="*/ 0 h 383"/>
                      <a:gd name="T22" fmla="*/ 0 w 202"/>
                      <a:gd name="T23" fmla="*/ 0 h 383"/>
                      <a:gd name="T24" fmla="*/ 0 w 202"/>
                      <a:gd name="T25" fmla="*/ 0 h 383"/>
                      <a:gd name="T26" fmla="*/ 0 w 202"/>
                      <a:gd name="T27" fmla="*/ 0 h 383"/>
                      <a:gd name="T28" fmla="*/ 0 w 202"/>
                      <a:gd name="T29" fmla="*/ 0 h 383"/>
                      <a:gd name="T30" fmla="*/ 0 w 202"/>
                      <a:gd name="T31" fmla="*/ 0 h 383"/>
                      <a:gd name="T32" fmla="*/ 0 w 202"/>
                      <a:gd name="T33" fmla="*/ 0 h 383"/>
                      <a:gd name="T34" fmla="*/ 0 w 202"/>
                      <a:gd name="T35" fmla="*/ 0 h 383"/>
                      <a:gd name="T36" fmla="*/ 0 w 202"/>
                      <a:gd name="T37" fmla="*/ 0 h 383"/>
                      <a:gd name="T38" fmla="*/ 0 w 202"/>
                      <a:gd name="T39" fmla="*/ 0 h 383"/>
                      <a:gd name="T40" fmla="*/ 0 w 202"/>
                      <a:gd name="T41" fmla="*/ 0 h 383"/>
                      <a:gd name="T42" fmla="*/ 0 w 202"/>
                      <a:gd name="T43" fmla="*/ 0 h 383"/>
                      <a:gd name="T44" fmla="*/ 0 w 202"/>
                      <a:gd name="T45" fmla="*/ 0 h 383"/>
                      <a:gd name="T46" fmla="*/ 0 w 202"/>
                      <a:gd name="T47" fmla="*/ 0 h 383"/>
                      <a:gd name="T48" fmla="*/ 0 w 202"/>
                      <a:gd name="T49" fmla="*/ 0 h 383"/>
                      <a:gd name="T50" fmla="*/ 0 w 202"/>
                      <a:gd name="T51" fmla="*/ 0 h 383"/>
                      <a:gd name="T52" fmla="*/ 0 w 202"/>
                      <a:gd name="T53" fmla="*/ 0 h 383"/>
                      <a:gd name="T54" fmla="*/ 0 w 202"/>
                      <a:gd name="T55" fmla="*/ 0 h 383"/>
                      <a:gd name="T56" fmla="*/ 0 w 202"/>
                      <a:gd name="T57" fmla="*/ 0 h 383"/>
                      <a:gd name="T58" fmla="*/ 0 w 202"/>
                      <a:gd name="T59" fmla="*/ 0 h 383"/>
                      <a:gd name="T60" fmla="*/ 0 w 202"/>
                      <a:gd name="T61" fmla="*/ 0 h 383"/>
                      <a:gd name="T62" fmla="*/ 0 w 202"/>
                      <a:gd name="T63" fmla="*/ 0 h 383"/>
                      <a:gd name="T64" fmla="*/ 0 w 202"/>
                      <a:gd name="T65" fmla="*/ 0 h 383"/>
                      <a:gd name="T66" fmla="*/ 0 w 202"/>
                      <a:gd name="T67" fmla="*/ 0 h 383"/>
                      <a:gd name="T68" fmla="*/ 0 w 202"/>
                      <a:gd name="T69" fmla="*/ 0 h 383"/>
                      <a:gd name="T70" fmla="*/ 0 w 202"/>
                      <a:gd name="T71" fmla="*/ 0 h 383"/>
                      <a:gd name="T72" fmla="*/ 0 w 202"/>
                      <a:gd name="T73" fmla="*/ 0 h 383"/>
                      <a:gd name="T74" fmla="*/ 0 w 202"/>
                      <a:gd name="T75" fmla="*/ 0 h 383"/>
                      <a:gd name="T76" fmla="*/ 0 w 202"/>
                      <a:gd name="T77" fmla="*/ 0 h 383"/>
                      <a:gd name="T78" fmla="*/ 0 w 202"/>
                      <a:gd name="T79" fmla="*/ 0 h 383"/>
                      <a:gd name="T80" fmla="*/ 0 w 202"/>
                      <a:gd name="T81" fmla="*/ 0 h 383"/>
                      <a:gd name="T82" fmla="*/ 0 w 202"/>
                      <a:gd name="T83" fmla="*/ 0 h 383"/>
                      <a:gd name="T84" fmla="*/ 0 w 202"/>
                      <a:gd name="T85" fmla="*/ 0 h 383"/>
                      <a:gd name="T86" fmla="*/ 0 w 202"/>
                      <a:gd name="T87" fmla="*/ 0 h 38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02"/>
                      <a:gd name="T133" fmla="*/ 0 h 383"/>
                      <a:gd name="T134" fmla="*/ 202 w 202"/>
                      <a:gd name="T135" fmla="*/ 383 h 38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02" h="383">
                        <a:moveTo>
                          <a:pt x="109" y="6"/>
                        </a:moveTo>
                        <a:lnTo>
                          <a:pt x="104" y="13"/>
                        </a:lnTo>
                        <a:lnTo>
                          <a:pt x="101" y="20"/>
                        </a:lnTo>
                        <a:lnTo>
                          <a:pt x="98" y="27"/>
                        </a:lnTo>
                        <a:lnTo>
                          <a:pt x="96" y="34"/>
                        </a:lnTo>
                        <a:lnTo>
                          <a:pt x="94" y="42"/>
                        </a:lnTo>
                        <a:lnTo>
                          <a:pt x="90" y="49"/>
                        </a:lnTo>
                        <a:lnTo>
                          <a:pt x="88" y="56"/>
                        </a:lnTo>
                        <a:lnTo>
                          <a:pt x="85" y="63"/>
                        </a:lnTo>
                        <a:lnTo>
                          <a:pt x="82" y="69"/>
                        </a:lnTo>
                        <a:lnTo>
                          <a:pt x="79" y="76"/>
                        </a:lnTo>
                        <a:lnTo>
                          <a:pt x="77" y="82"/>
                        </a:lnTo>
                        <a:lnTo>
                          <a:pt x="75" y="88"/>
                        </a:lnTo>
                        <a:lnTo>
                          <a:pt x="72" y="95"/>
                        </a:lnTo>
                        <a:lnTo>
                          <a:pt x="70" y="101"/>
                        </a:lnTo>
                        <a:lnTo>
                          <a:pt x="68" y="108"/>
                        </a:lnTo>
                        <a:lnTo>
                          <a:pt x="65" y="114"/>
                        </a:lnTo>
                        <a:lnTo>
                          <a:pt x="63" y="121"/>
                        </a:lnTo>
                        <a:lnTo>
                          <a:pt x="61" y="126"/>
                        </a:lnTo>
                        <a:lnTo>
                          <a:pt x="58" y="133"/>
                        </a:lnTo>
                        <a:lnTo>
                          <a:pt x="56" y="139"/>
                        </a:lnTo>
                        <a:lnTo>
                          <a:pt x="53" y="145"/>
                        </a:lnTo>
                        <a:lnTo>
                          <a:pt x="52" y="152"/>
                        </a:lnTo>
                        <a:lnTo>
                          <a:pt x="50" y="157"/>
                        </a:lnTo>
                        <a:lnTo>
                          <a:pt x="49" y="164"/>
                        </a:lnTo>
                        <a:lnTo>
                          <a:pt x="46" y="170"/>
                        </a:lnTo>
                        <a:lnTo>
                          <a:pt x="45" y="175"/>
                        </a:lnTo>
                        <a:lnTo>
                          <a:pt x="43" y="180"/>
                        </a:lnTo>
                        <a:lnTo>
                          <a:pt x="42" y="186"/>
                        </a:lnTo>
                        <a:lnTo>
                          <a:pt x="39" y="192"/>
                        </a:lnTo>
                        <a:lnTo>
                          <a:pt x="38" y="198"/>
                        </a:lnTo>
                        <a:lnTo>
                          <a:pt x="37" y="204"/>
                        </a:lnTo>
                        <a:lnTo>
                          <a:pt x="36" y="210"/>
                        </a:lnTo>
                        <a:lnTo>
                          <a:pt x="33" y="215"/>
                        </a:lnTo>
                        <a:lnTo>
                          <a:pt x="32" y="221"/>
                        </a:lnTo>
                        <a:lnTo>
                          <a:pt x="31" y="226"/>
                        </a:lnTo>
                        <a:lnTo>
                          <a:pt x="28" y="232"/>
                        </a:lnTo>
                        <a:lnTo>
                          <a:pt x="28" y="237"/>
                        </a:lnTo>
                        <a:lnTo>
                          <a:pt x="26" y="243"/>
                        </a:lnTo>
                        <a:lnTo>
                          <a:pt x="25" y="248"/>
                        </a:lnTo>
                        <a:lnTo>
                          <a:pt x="23" y="253"/>
                        </a:lnTo>
                        <a:lnTo>
                          <a:pt x="21" y="259"/>
                        </a:lnTo>
                        <a:lnTo>
                          <a:pt x="20" y="264"/>
                        </a:lnTo>
                        <a:lnTo>
                          <a:pt x="20" y="269"/>
                        </a:lnTo>
                        <a:lnTo>
                          <a:pt x="18" y="275"/>
                        </a:lnTo>
                        <a:lnTo>
                          <a:pt x="18" y="281"/>
                        </a:lnTo>
                        <a:lnTo>
                          <a:pt x="15" y="286"/>
                        </a:lnTo>
                        <a:lnTo>
                          <a:pt x="15" y="291"/>
                        </a:lnTo>
                        <a:lnTo>
                          <a:pt x="14" y="297"/>
                        </a:lnTo>
                        <a:lnTo>
                          <a:pt x="13" y="302"/>
                        </a:lnTo>
                        <a:lnTo>
                          <a:pt x="12" y="307"/>
                        </a:lnTo>
                        <a:lnTo>
                          <a:pt x="11" y="312"/>
                        </a:lnTo>
                        <a:lnTo>
                          <a:pt x="11" y="319"/>
                        </a:lnTo>
                        <a:lnTo>
                          <a:pt x="8" y="324"/>
                        </a:lnTo>
                        <a:lnTo>
                          <a:pt x="7" y="329"/>
                        </a:lnTo>
                        <a:lnTo>
                          <a:pt x="7" y="334"/>
                        </a:lnTo>
                        <a:lnTo>
                          <a:pt x="7" y="340"/>
                        </a:lnTo>
                        <a:lnTo>
                          <a:pt x="5" y="345"/>
                        </a:lnTo>
                        <a:lnTo>
                          <a:pt x="5" y="350"/>
                        </a:lnTo>
                        <a:lnTo>
                          <a:pt x="5" y="356"/>
                        </a:lnTo>
                        <a:lnTo>
                          <a:pt x="4" y="362"/>
                        </a:lnTo>
                        <a:lnTo>
                          <a:pt x="2" y="367"/>
                        </a:lnTo>
                        <a:lnTo>
                          <a:pt x="2" y="372"/>
                        </a:lnTo>
                        <a:lnTo>
                          <a:pt x="1" y="378"/>
                        </a:lnTo>
                        <a:lnTo>
                          <a:pt x="0" y="383"/>
                        </a:lnTo>
                        <a:lnTo>
                          <a:pt x="93" y="383"/>
                        </a:lnTo>
                        <a:lnTo>
                          <a:pt x="93" y="378"/>
                        </a:lnTo>
                        <a:lnTo>
                          <a:pt x="94" y="372"/>
                        </a:lnTo>
                        <a:lnTo>
                          <a:pt x="94" y="367"/>
                        </a:lnTo>
                        <a:lnTo>
                          <a:pt x="95" y="362"/>
                        </a:lnTo>
                        <a:lnTo>
                          <a:pt x="96" y="357"/>
                        </a:lnTo>
                        <a:lnTo>
                          <a:pt x="96" y="351"/>
                        </a:lnTo>
                        <a:lnTo>
                          <a:pt x="98" y="347"/>
                        </a:lnTo>
                        <a:lnTo>
                          <a:pt x="98" y="342"/>
                        </a:lnTo>
                        <a:lnTo>
                          <a:pt x="100" y="336"/>
                        </a:lnTo>
                        <a:lnTo>
                          <a:pt x="101" y="331"/>
                        </a:lnTo>
                        <a:lnTo>
                          <a:pt x="101" y="325"/>
                        </a:lnTo>
                        <a:lnTo>
                          <a:pt x="103" y="321"/>
                        </a:lnTo>
                        <a:lnTo>
                          <a:pt x="104" y="315"/>
                        </a:lnTo>
                        <a:lnTo>
                          <a:pt x="107" y="310"/>
                        </a:lnTo>
                        <a:lnTo>
                          <a:pt x="107" y="304"/>
                        </a:lnTo>
                        <a:lnTo>
                          <a:pt x="109" y="299"/>
                        </a:lnTo>
                        <a:lnTo>
                          <a:pt x="109" y="293"/>
                        </a:lnTo>
                        <a:lnTo>
                          <a:pt x="112" y="288"/>
                        </a:lnTo>
                        <a:lnTo>
                          <a:pt x="113" y="284"/>
                        </a:lnTo>
                        <a:lnTo>
                          <a:pt x="114" y="278"/>
                        </a:lnTo>
                        <a:lnTo>
                          <a:pt x="116" y="272"/>
                        </a:lnTo>
                        <a:lnTo>
                          <a:pt x="117" y="266"/>
                        </a:lnTo>
                        <a:lnTo>
                          <a:pt x="119" y="261"/>
                        </a:lnTo>
                        <a:lnTo>
                          <a:pt x="121" y="255"/>
                        </a:lnTo>
                        <a:lnTo>
                          <a:pt x="122" y="249"/>
                        </a:lnTo>
                        <a:lnTo>
                          <a:pt x="125" y="243"/>
                        </a:lnTo>
                        <a:lnTo>
                          <a:pt x="126" y="237"/>
                        </a:lnTo>
                        <a:lnTo>
                          <a:pt x="127" y="233"/>
                        </a:lnTo>
                        <a:lnTo>
                          <a:pt x="129" y="227"/>
                        </a:lnTo>
                        <a:lnTo>
                          <a:pt x="132" y="221"/>
                        </a:lnTo>
                        <a:lnTo>
                          <a:pt x="133" y="215"/>
                        </a:lnTo>
                        <a:lnTo>
                          <a:pt x="134" y="209"/>
                        </a:lnTo>
                        <a:lnTo>
                          <a:pt x="136" y="203"/>
                        </a:lnTo>
                        <a:lnTo>
                          <a:pt x="138" y="197"/>
                        </a:lnTo>
                        <a:lnTo>
                          <a:pt x="140" y="190"/>
                        </a:lnTo>
                        <a:lnTo>
                          <a:pt x="142" y="185"/>
                        </a:lnTo>
                        <a:lnTo>
                          <a:pt x="144" y="178"/>
                        </a:lnTo>
                        <a:lnTo>
                          <a:pt x="145" y="172"/>
                        </a:lnTo>
                        <a:lnTo>
                          <a:pt x="147" y="166"/>
                        </a:lnTo>
                        <a:lnTo>
                          <a:pt x="150" y="160"/>
                        </a:lnTo>
                        <a:lnTo>
                          <a:pt x="152" y="154"/>
                        </a:lnTo>
                        <a:lnTo>
                          <a:pt x="153" y="147"/>
                        </a:lnTo>
                        <a:lnTo>
                          <a:pt x="155" y="141"/>
                        </a:lnTo>
                        <a:lnTo>
                          <a:pt x="158" y="134"/>
                        </a:lnTo>
                        <a:lnTo>
                          <a:pt x="159" y="128"/>
                        </a:lnTo>
                        <a:lnTo>
                          <a:pt x="163" y="121"/>
                        </a:lnTo>
                        <a:lnTo>
                          <a:pt x="164" y="116"/>
                        </a:lnTo>
                        <a:lnTo>
                          <a:pt x="166" y="109"/>
                        </a:lnTo>
                        <a:lnTo>
                          <a:pt x="168" y="103"/>
                        </a:lnTo>
                        <a:lnTo>
                          <a:pt x="171" y="96"/>
                        </a:lnTo>
                        <a:lnTo>
                          <a:pt x="172" y="89"/>
                        </a:lnTo>
                        <a:lnTo>
                          <a:pt x="174" y="83"/>
                        </a:lnTo>
                        <a:lnTo>
                          <a:pt x="177" y="76"/>
                        </a:lnTo>
                        <a:lnTo>
                          <a:pt x="179" y="70"/>
                        </a:lnTo>
                        <a:lnTo>
                          <a:pt x="182" y="63"/>
                        </a:lnTo>
                        <a:lnTo>
                          <a:pt x="184" y="56"/>
                        </a:lnTo>
                        <a:lnTo>
                          <a:pt x="185" y="49"/>
                        </a:lnTo>
                        <a:lnTo>
                          <a:pt x="187" y="43"/>
                        </a:lnTo>
                        <a:lnTo>
                          <a:pt x="190" y="36"/>
                        </a:lnTo>
                        <a:lnTo>
                          <a:pt x="192" y="29"/>
                        </a:lnTo>
                        <a:lnTo>
                          <a:pt x="195" y="21"/>
                        </a:lnTo>
                        <a:lnTo>
                          <a:pt x="197" y="15"/>
                        </a:lnTo>
                        <a:lnTo>
                          <a:pt x="198" y="7"/>
                        </a:lnTo>
                        <a:lnTo>
                          <a:pt x="202" y="0"/>
                        </a:lnTo>
                        <a:lnTo>
                          <a:pt x="109"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0" name="Freeform 232"/>
                  <p:cNvSpPr>
                    <a:spLocks/>
                  </p:cNvSpPr>
                  <p:nvPr/>
                </p:nvSpPr>
                <p:spPr bwMode="auto">
                  <a:xfrm>
                    <a:off x="5695" y="1837"/>
                    <a:ext cx="64" cy="124"/>
                  </a:xfrm>
                  <a:custGeom>
                    <a:avLst/>
                    <a:gdLst>
                      <a:gd name="T0" fmla="*/ 0 w 193"/>
                      <a:gd name="T1" fmla="*/ 0 h 372"/>
                      <a:gd name="T2" fmla="*/ 0 w 193"/>
                      <a:gd name="T3" fmla="*/ 0 h 372"/>
                      <a:gd name="T4" fmla="*/ 0 w 193"/>
                      <a:gd name="T5" fmla="*/ 0 h 372"/>
                      <a:gd name="T6" fmla="*/ 0 w 193"/>
                      <a:gd name="T7" fmla="*/ 0 h 372"/>
                      <a:gd name="T8" fmla="*/ 0 w 193"/>
                      <a:gd name="T9" fmla="*/ 0 h 372"/>
                      <a:gd name="T10" fmla="*/ 0 w 193"/>
                      <a:gd name="T11" fmla="*/ 0 h 372"/>
                      <a:gd name="T12" fmla="*/ 0 w 193"/>
                      <a:gd name="T13" fmla="*/ 0 h 372"/>
                      <a:gd name="T14" fmla="*/ 0 w 193"/>
                      <a:gd name="T15" fmla="*/ 0 h 372"/>
                      <a:gd name="T16" fmla="*/ 0 w 193"/>
                      <a:gd name="T17" fmla="*/ 0 h 372"/>
                      <a:gd name="T18" fmla="*/ 0 w 193"/>
                      <a:gd name="T19" fmla="*/ 0 h 372"/>
                      <a:gd name="T20" fmla="*/ 0 w 193"/>
                      <a:gd name="T21" fmla="*/ 0 h 372"/>
                      <a:gd name="T22" fmla="*/ 0 w 193"/>
                      <a:gd name="T23" fmla="*/ 0 h 372"/>
                      <a:gd name="T24" fmla="*/ 0 w 193"/>
                      <a:gd name="T25" fmla="*/ 0 h 372"/>
                      <a:gd name="T26" fmla="*/ 0 w 193"/>
                      <a:gd name="T27" fmla="*/ 0 h 372"/>
                      <a:gd name="T28" fmla="*/ 0 w 193"/>
                      <a:gd name="T29" fmla="*/ 0 h 372"/>
                      <a:gd name="T30" fmla="*/ 0 w 193"/>
                      <a:gd name="T31" fmla="*/ 0 h 372"/>
                      <a:gd name="T32" fmla="*/ 0 w 193"/>
                      <a:gd name="T33" fmla="*/ 0 h 372"/>
                      <a:gd name="T34" fmla="*/ 0 w 193"/>
                      <a:gd name="T35" fmla="*/ 0 h 372"/>
                      <a:gd name="T36" fmla="*/ 0 w 193"/>
                      <a:gd name="T37" fmla="*/ 0 h 372"/>
                      <a:gd name="T38" fmla="*/ 0 w 193"/>
                      <a:gd name="T39" fmla="*/ 0 h 372"/>
                      <a:gd name="T40" fmla="*/ 0 w 193"/>
                      <a:gd name="T41" fmla="*/ 0 h 372"/>
                      <a:gd name="T42" fmla="*/ 0 w 193"/>
                      <a:gd name="T43" fmla="*/ 0 h 372"/>
                      <a:gd name="T44" fmla="*/ 0 w 193"/>
                      <a:gd name="T45" fmla="*/ 0 h 372"/>
                      <a:gd name="T46" fmla="*/ 0 w 193"/>
                      <a:gd name="T47" fmla="*/ 0 h 372"/>
                      <a:gd name="T48" fmla="*/ 0 w 193"/>
                      <a:gd name="T49" fmla="*/ 0 h 372"/>
                      <a:gd name="T50" fmla="*/ 0 w 193"/>
                      <a:gd name="T51" fmla="*/ 0 h 372"/>
                      <a:gd name="T52" fmla="*/ 0 w 193"/>
                      <a:gd name="T53" fmla="*/ 0 h 372"/>
                      <a:gd name="T54" fmla="*/ 0 w 193"/>
                      <a:gd name="T55" fmla="*/ 0 h 372"/>
                      <a:gd name="T56" fmla="*/ 0 w 193"/>
                      <a:gd name="T57" fmla="*/ 0 h 372"/>
                      <a:gd name="T58" fmla="*/ 0 w 193"/>
                      <a:gd name="T59" fmla="*/ 0 h 372"/>
                      <a:gd name="T60" fmla="*/ 0 w 193"/>
                      <a:gd name="T61" fmla="*/ 0 h 372"/>
                      <a:gd name="T62" fmla="*/ 0 w 193"/>
                      <a:gd name="T63" fmla="*/ 0 h 372"/>
                      <a:gd name="T64" fmla="*/ 0 w 193"/>
                      <a:gd name="T65" fmla="*/ 0 h 372"/>
                      <a:gd name="T66" fmla="*/ 0 w 193"/>
                      <a:gd name="T67" fmla="*/ 0 h 372"/>
                      <a:gd name="T68" fmla="*/ 0 w 193"/>
                      <a:gd name="T69" fmla="*/ 0 h 372"/>
                      <a:gd name="T70" fmla="*/ 0 w 193"/>
                      <a:gd name="T71" fmla="*/ 0 h 372"/>
                      <a:gd name="T72" fmla="*/ 0 w 193"/>
                      <a:gd name="T73" fmla="*/ 0 h 372"/>
                      <a:gd name="T74" fmla="*/ 0 w 193"/>
                      <a:gd name="T75" fmla="*/ 0 h 372"/>
                      <a:gd name="T76" fmla="*/ 0 w 193"/>
                      <a:gd name="T77" fmla="*/ 0 h 372"/>
                      <a:gd name="T78" fmla="*/ 0 w 193"/>
                      <a:gd name="T79" fmla="*/ 0 h 372"/>
                      <a:gd name="T80" fmla="*/ 0 w 193"/>
                      <a:gd name="T81" fmla="*/ 0 h 372"/>
                      <a:gd name="T82" fmla="*/ 0 w 193"/>
                      <a:gd name="T83" fmla="*/ 0 h 372"/>
                      <a:gd name="T84" fmla="*/ 0 w 193"/>
                      <a:gd name="T85" fmla="*/ 0 h 372"/>
                      <a:gd name="T86" fmla="*/ 0 w 193"/>
                      <a:gd name="T87" fmla="*/ 0 h 3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93"/>
                      <a:gd name="T133" fmla="*/ 0 h 372"/>
                      <a:gd name="T134" fmla="*/ 193 w 193"/>
                      <a:gd name="T135" fmla="*/ 372 h 3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93" h="372">
                        <a:moveTo>
                          <a:pt x="74" y="0"/>
                        </a:moveTo>
                        <a:lnTo>
                          <a:pt x="0" y="49"/>
                        </a:lnTo>
                        <a:lnTo>
                          <a:pt x="3" y="54"/>
                        </a:lnTo>
                        <a:lnTo>
                          <a:pt x="5" y="60"/>
                        </a:lnTo>
                        <a:lnTo>
                          <a:pt x="9" y="66"/>
                        </a:lnTo>
                        <a:lnTo>
                          <a:pt x="11" y="72"/>
                        </a:lnTo>
                        <a:lnTo>
                          <a:pt x="15" y="76"/>
                        </a:lnTo>
                        <a:lnTo>
                          <a:pt x="17" y="82"/>
                        </a:lnTo>
                        <a:lnTo>
                          <a:pt x="21" y="88"/>
                        </a:lnTo>
                        <a:lnTo>
                          <a:pt x="23" y="94"/>
                        </a:lnTo>
                        <a:lnTo>
                          <a:pt x="25" y="99"/>
                        </a:lnTo>
                        <a:lnTo>
                          <a:pt x="28" y="104"/>
                        </a:lnTo>
                        <a:lnTo>
                          <a:pt x="30" y="110"/>
                        </a:lnTo>
                        <a:lnTo>
                          <a:pt x="34" y="114"/>
                        </a:lnTo>
                        <a:lnTo>
                          <a:pt x="36" y="120"/>
                        </a:lnTo>
                        <a:lnTo>
                          <a:pt x="38" y="126"/>
                        </a:lnTo>
                        <a:lnTo>
                          <a:pt x="41" y="131"/>
                        </a:lnTo>
                        <a:lnTo>
                          <a:pt x="43" y="137"/>
                        </a:lnTo>
                        <a:lnTo>
                          <a:pt x="45" y="142"/>
                        </a:lnTo>
                        <a:lnTo>
                          <a:pt x="48" y="148"/>
                        </a:lnTo>
                        <a:lnTo>
                          <a:pt x="50" y="152"/>
                        </a:lnTo>
                        <a:lnTo>
                          <a:pt x="53" y="157"/>
                        </a:lnTo>
                        <a:lnTo>
                          <a:pt x="54" y="162"/>
                        </a:lnTo>
                        <a:lnTo>
                          <a:pt x="56" y="168"/>
                        </a:lnTo>
                        <a:lnTo>
                          <a:pt x="59" y="173"/>
                        </a:lnTo>
                        <a:lnTo>
                          <a:pt x="61" y="178"/>
                        </a:lnTo>
                        <a:lnTo>
                          <a:pt x="63" y="183"/>
                        </a:lnTo>
                        <a:lnTo>
                          <a:pt x="64" y="188"/>
                        </a:lnTo>
                        <a:lnTo>
                          <a:pt x="66" y="194"/>
                        </a:lnTo>
                        <a:lnTo>
                          <a:pt x="68" y="199"/>
                        </a:lnTo>
                        <a:lnTo>
                          <a:pt x="70" y="203"/>
                        </a:lnTo>
                        <a:lnTo>
                          <a:pt x="72" y="209"/>
                        </a:lnTo>
                        <a:lnTo>
                          <a:pt x="74" y="214"/>
                        </a:lnTo>
                        <a:lnTo>
                          <a:pt x="76" y="220"/>
                        </a:lnTo>
                        <a:lnTo>
                          <a:pt x="78" y="225"/>
                        </a:lnTo>
                        <a:lnTo>
                          <a:pt x="79" y="230"/>
                        </a:lnTo>
                        <a:lnTo>
                          <a:pt x="80" y="234"/>
                        </a:lnTo>
                        <a:lnTo>
                          <a:pt x="81" y="239"/>
                        </a:lnTo>
                        <a:lnTo>
                          <a:pt x="83" y="244"/>
                        </a:lnTo>
                        <a:lnTo>
                          <a:pt x="85" y="248"/>
                        </a:lnTo>
                        <a:lnTo>
                          <a:pt x="86" y="253"/>
                        </a:lnTo>
                        <a:lnTo>
                          <a:pt x="87" y="259"/>
                        </a:lnTo>
                        <a:lnTo>
                          <a:pt x="89" y="264"/>
                        </a:lnTo>
                        <a:lnTo>
                          <a:pt x="89" y="269"/>
                        </a:lnTo>
                        <a:lnTo>
                          <a:pt x="92" y="273"/>
                        </a:lnTo>
                        <a:lnTo>
                          <a:pt x="92" y="278"/>
                        </a:lnTo>
                        <a:lnTo>
                          <a:pt x="93" y="283"/>
                        </a:lnTo>
                        <a:lnTo>
                          <a:pt x="94" y="288"/>
                        </a:lnTo>
                        <a:lnTo>
                          <a:pt x="95" y="292"/>
                        </a:lnTo>
                        <a:lnTo>
                          <a:pt x="97" y="297"/>
                        </a:lnTo>
                        <a:lnTo>
                          <a:pt x="97" y="302"/>
                        </a:lnTo>
                        <a:lnTo>
                          <a:pt x="98" y="307"/>
                        </a:lnTo>
                        <a:lnTo>
                          <a:pt x="99" y="311"/>
                        </a:lnTo>
                        <a:lnTo>
                          <a:pt x="99" y="316"/>
                        </a:lnTo>
                        <a:lnTo>
                          <a:pt x="100" y="320"/>
                        </a:lnTo>
                        <a:lnTo>
                          <a:pt x="101" y="324"/>
                        </a:lnTo>
                        <a:lnTo>
                          <a:pt x="101" y="329"/>
                        </a:lnTo>
                        <a:lnTo>
                          <a:pt x="102" y="335"/>
                        </a:lnTo>
                        <a:lnTo>
                          <a:pt x="102" y="339"/>
                        </a:lnTo>
                        <a:lnTo>
                          <a:pt x="104" y="343"/>
                        </a:lnTo>
                        <a:lnTo>
                          <a:pt x="104" y="348"/>
                        </a:lnTo>
                        <a:lnTo>
                          <a:pt x="104" y="353"/>
                        </a:lnTo>
                        <a:lnTo>
                          <a:pt x="105" y="358"/>
                        </a:lnTo>
                        <a:lnTo>
                          <a:pt x="105" y="362"/>
                        </a:lnTo>
                        <a:lnTo>
                          <a:pt x="106" y="367"/>
                        </a:lnTo>
                        <a:lnTo>
                          <a:pt x="106" y="372"/>
                        </a:lnTo>
                        <a:lnTo>
                          <a:pt x="193" y="366"/>
                        </a:lnTo>
                        <a:lnTo>
                          <a:pt x="191" y="360"/>
                        </a:lnTo>
                        <a:lnTo>
                          <a:pt x="191" y="355"/>
                        </a:lnTo>
                        <a:lnTo>
                          <a:pt x="190" y="349"/>
                        </a:lnTo>
                        <a:lnTo>
                          <a:pt x="190" y="345"/>
                        </a:lnTo>
                        <a:lnTo>
                          <a:pt x="190" y="340"/>
                        </a:lnTo>
                        <a:lnTo>
                          <a:pt x="189" y="334"/>
                        </a:lnTo>
                        <a:lnTo>
                          <a:pt x="188" y="329"/>
                        </a:lnTo>
                        <a:lnTo>
                          <a:pt x="188" y="323"/>
                        </a:lnTo>
                        <a:lnTo>
                          <a:pt x="188" y="317"/>
                        </a:lnTo>
                        <a:lnTo>
                          <a:pt x="186" y="313"/>
                        </a:lnTo>
                        <a:lnTo>
                          <a:pt x="186" y="307"/>
                        </a:lnTo>
                        <a:lnTo>
                          <a:pt x="186" y="302"/>
                        </a:lnTo>
                        <a:lnTo>
                          <a:pt x="183" y="297"/>
                        </a:lnTo>
                        <a:lnTo>
                          <a:pt x="182" y="291"/>
                        </a:lnTo>
                        <a:lnTo>
                          <a:pt x="182" y="286"/>
                        </a:lnTo>
                        <a:lnTo>
                          <a:pt x="182" y="282"/>
                        </a:lnTo>
                        <a:lnTo>
                          <a:pt x="180" y="276"/>
                        </a:lnTo>
                        <a:lnTo>
                          <a:pt x="180" y="269"/>
                        </a:lnTo>
                        <a:lnTo>
                          <a:pt x="177" y="264"/>
                        </a:lnTo>
                        <a:lnTo>
                          <a:pt x="177" y="259"/>
                        </a:lnTo>
                        <a:lnTo>
                          <a:pt x="175" y="253"/>
                        </a:lnTo>
                        <a:lnTo>
                          <a:pt x="174" y="247"/>
                        </a:lnTo>
                        <a:lnTo>
                          <a:pt x="172" y="241"/>
                        </a:lnTo>
                        <a:lnTo>
                          <a:pt x="171" y="235"/>
                        </a:lnTo>
                        <a:lnTo>
                          <a:pt x="170" y="231"/>
                        </a:lnTo>
                        <a:lnTo>
                          <a:pt x="168" y="225"/>
                        </a:lnTo>
                        <a:lnTo>
                          <a:pt x="167" y="219"/>
                        </a:lnTo>
                        <a:lnTo>
                          <a:pt x="165" y="214"/>
                        </a:lnTo>
                        <a:lnTo>
                          <a:pt x="163" y="208"/>
                        </a:lnTo>
                        <a:lnTo>
                          <a:pt x="162" y="203"/>
                        </a:lnTo>
                        <a:lnTo>
                          <a:pt x="159" y="197"/>
                        </a:lnTo>
                        <a:lnTo>
                          <a:pt x="158" y="192"/>
                        </a:lnTo>
                        <a:lnTo>
                          <a:pt x="156" y="186"/>
                        </a:lnTo>
                        <a:lnTo>
                          <a:pt x="155" y="180"/>
                        </a:lnTo>
                        <a:lnTo>
                          <a:pt x="152" y="175"/>
                        </a:lnTo>
                        <a:lnTo>
                          <a:pt x="150" y="169"/>
                        </a:lnTo>
                        <a:lnTo>
                          <a:pt x="148" y="163"/>
                        </a:lnTo>
                        <a:lnTo>
                          <a:pt x="146" y="157"/>
                        </a:lnTo>
                        <a:lnTo>
                          <a:pt x="144" y="152"/>
                        </a:lnTo>
                        <a:lnTo>
                          <a:pt x="142" y="145"/>
                        </a:lnTo>
                        <a:lnTo>
                          <a:pt x="139" y="139"/>
                        </a:lnTo>
                        <a:lnTo>
                          <a:pt x="137" y="135"/>
                        </a:lnTo>
                        <a:lnTo>
                          <a:pt x="134" y="127"/>
                        </a:lnTo>
                        <a:lnTo>
                          <a:pt x="132" y="121"/>
                        </a:lnTo>
                        <a:lnTo>
                          <a:pt x="130" y="116"/>
                        </a:lnTo>
                        <a:lnTo>
                          <a:pt x="127" y="110"/>
                        </a:lnTo>
                        <a:lnTo>
                          <a:pt x="125" y="104"/>
                        </a:lnTo>
                        <a:lnTo>
                          <a:pt x="123" y="99"/>
                        </a:lnTo>
                        <a:lnTo>
                          <a:pt x="119" y="92"/>
                        </a:lnTo>
                        <a:lnTo>
                          <a:pt x="117" y="86"/>
                        </a:lnTo>
                        <a:lnTo>
                          <a:pt x="114" y="80"/>
                        </a:lnTo>
                        <a:lnTo>
                          <a:pt x="111" y="74"/>
                        </a:lnTo>
                        <a:lnTo>
                          <a:pt x="108" y="68"/>
                        </a:lnTo>
                        <a:lnTo>
                          <a:pt x="105" y="62"/>
                        </a:lnTo>
                        <a:lnTo>
                          <a:pt x="102" y="56"/>
                        </a:lnTo>
                        <a:lnTo>
                          <a:pt x="99" y="50"/>
                        </a:lnTo>
                        <a:lnTo>
                          <a:pt x="97" y="43"/>
                        </a:lnTo>
                        <a:lnTo>
                          <a:pt x="93" y="37"/>
                        </a:lnTo>
                        <a:lnTo>
                          <a:pt x="89" y="31"/>
                        </a:lnTo>
                        <a:lnTo>
                          <a:pt x="86" y="25"/>
                        </a:lnTo>
                        <a:lnTo>
                          <a:pt x="83" y="18"/>
                        </a:lnTo>
                        <a:lnTo>
                          <a:pt x="80" y="12"/>
                        </a:lnTo>
                        <a:lnTo>
                          <a:pt x="76" y="5"/>
                        </a:lnTo>
                        <a:lnTo>
                          <a:pt x="74"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1" name="Freeform 233"/>
                  <p:cNvSpPr>
                    <a:spLocks/>
                  </p:cNvSpPr>
                  <p:nvPr/>
                </p:nvSpPr>
                <p:spPr bwMode="auto">
                  <a:xfrm>
                    <a:off x="5361" y="1875"/>
                    <a:ext cx="25" cy="26"/>
                  </a:xfrm>
                  <a:custGeom>
                    <a:avLst/>
                    <a:gdLst>
                      <a:gd name="T0" fmla="*/ 0 w 77"/>
                      <a:gd name="T1" fmla="*/ 0 h 79"/>
                      <a:gd name="T2" fmla="*/ 0 w 77"/>
                      <a:gd name="T3" fmla="*/ 0 h 79"/>
                      <a:gd name="T4" fmla="*/ 0 w 77"/>
                      <a:gd name="T5" fmla="*/ 0 h 79"/>
                      <a:gd name="T6" fmla="*/ 0 w 77"/>
                      <a:gd name="T7" fmla="*/ 0 h 79"/>
                      <a:gd name="T8" fmla="*/ 0 w 77"/>
                      <a:gd name="T9" fmla="*/ 0 h 79"/>
                      <a:gd name="T10" fmla="*/ 0 w 77"/>
                      <a:gd name="T11" fmla="*/ 0 h 79"/>
                      <a:gd name="T12" fmla="*/ 0 w 77"/>
                      <a:gd name="T13" fmla="*/ 0 h 79"/>
                      <a:gd name="T14" fmla="*/ 0 w 77"/>
                      <a:gd name="T15" fmla="*/ 0 h 79"/>
                      <a:gd name="T16" fmla="*/ 0 w 77"/>
                      <a:gd name="T17" fmla="*/ 0 h 79"/>
                      <a:gd name="T18" fmla="*/ 0 w 77"/>
                      <a:gd name="T19" fmla="*/ 0 h 79"/>
                      <a:gd name="T20" fmla="*/ 0 w 77"/>
                      <a:gd name="T21" fmla="*/ 0 h 79"/>
                      <a:gd name="T22" fmla="*/ 0 w 77"/>
                      <a:gd name="T23" fmla="*/ 0 h 79"/>
                      <a:gd name="T24" fmla="*/ 0 w 77"/>
                      <a:gd name="T25" fmla="*/ 0 h 79"/>
                      <a:gd name="T26" fmla="*/ 0 w 77"/>
                      <a:gd name="T27" fmla="*/ 0 h 79"/>
                      <a:gd name="T28" fmla="*/ 0 w 77"/>
                      <a:gd name="T29" fmla="*/ 0 h 79"/>
                      <a:gd name="T30" fmla="*/ 0 w 77"/>
                      <a:gd name="T31" fmla="*/ 0 h 79"/>
                      <a:gd name="T32" fmla="*/ 0 w 77"/>
                      <a:gd name="T33" fmla="*/ 0 h 79"/>
                      <a:gd name="T34" fmla="*/ 0 w 77"/>
                      <a:gd name="T35" fmla="*/ 0 h 79"/>
                      <a:gd name="T36" fmla="*/ 0 w 77"/>
                      <a:gd name="T37" fmla="*/ 0 h 79"/>
                      <a:gd name="T38" fmla="*/ 0 w 77"/>
                      <a:gd name="T39" fmla="*/ 0 h 79"/>
                      <a:gd name="T40" fmla="*/ 0 w 77"/>
                      <a:gd name="T41" fmla="*/ 0 h 79"/>
                      <a:gd name="T42" fmla="*/ 0 w 77"/>
                      <a:gd name="T43" fmla="*/ 0 h 79"/>
                      <a:gd name="T44" fmla="*/ 0 w 77"/>
                      <a:gd name="T45" fmla="*/ 0 h 79"/>
                      <a:gd name="T46" fmla="*/ 0 w 77"/>
                      <a:gd name="T47" fmla="*/ 0 h 79"/>
                      <a:gd name="T48" fmla="*/ 0 w 77"/>
                      <a:gd name="T49" fmla="*/ 0 h 79"/>
                      <a:gd name="T50" fmla="*/ 0 w 77"/>
                      <a:gd name="T51" fmla="*/ 0 h 79"/>
                      <a:gd name="T52" fmla="*/ 0 w 77"/>
                      <a:gd name="T53" fmla="*/ 0 h 79"/>
                      <a:gd name="T54" fmla="*/ 0 w 77"/>
                      <a:gd name="T55" fmla="*/ 0 h 79"/>
                      <a:gd name="T56" fmla="*/ 0 w 77"/>
                      <a:gd name="T57" fmla="*/ 0 h 79"/>
                      <a:gd name="T58" fmla="*/ 0 w 77"/>
                      <a:gd name="T59" fmla="*/ 0 h 79"/>
                      <a:gd name="T60" fmla="*/ 0 w 77"/>
                      <a:gd name="T61" fmla="*/ 0 h 79"/>
                      <a:gd name="T62" fmla="*/ 0 w 77"/>
                      <a:gd name="T63" fmla="*/ 0 h 79"/>
                      <a:gd name="T64" fmla="*/ 0 w 77"/>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9"/>
                      <a:gd name="T101" fmla="*/ 77 w 77"/>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9">
                        <a:moveTo>
                          <a:pt x="38" y="79"/>
                        </a:moveTo>
                        <a:lnTo>
                          <a:pt x="41" y="78"/>
                        </a:lnTo>
                        <a:lnTo>
                          <a:pt x="45" y="78"/>
                        </a:lnTo>
                        <a:lnTo>
                          <a:pt x="49" y="76"/>
                        </a:lnTo>
                        <a:lnTo>
                          <a:pt x="53" y="75"/>
                        </a:lnTo>
                        <a:lnTo>
                          <a:pt x="57" y="73"/>
                        </a:lnTo>
                        <a:lnTo>
                          <a:pt x="59" y="72"/>
                        </a:lnTo>
                        <a:lnTo>
                          <a:pt x="63" y="69"/>
                        </a:lnTo>
                        <a:lnTo>
                          <a:pt x="65" y="67"/>
                        </a:lnTo>
                        <a:lnTo>
                          <a:pt x="67" y="63"/>
                        </a:lnTo>
                        <a:lnTo>
                          <a:pt x="70" y="61"/>
                        </a:lnTo>
                        <a:lnTo>
                          <a:pt x="72" y="57"/>
                        </a:lnTo>
                        <a:lnTo>
                          <a:pt x="74" y="55"/>
                        </a:lnTo>
                        <a:lnTo>
                          <a:pt x="74" y="51"/>
                        </a:lnTo>
                        <a:lnTo>
                          <a:pt x="77" y="47"/>
                        </a:lnTo>
                        <a:lnTo>
                          <a:pt x="77" y="43"/>
                        </a:lnTo>
                        <a:lnTo>
                          <a:pt x="77" y="40"/>
                        </a:lnTo>
                        <a:lnTo>
                          <a:pt x="77" y="36"/>
                        </a:lnTo>
                        <a:lnTo>
                          <a:pt x="77" y="31"/>
                        </a:lnTo>
                        <a:lnTo>
                          <a:pt x="74" y="28"/>
                        </a:lnTo>
                        <a:lnTo>
                          <a:pt x="74" y="24"/>
                        </a:lnTo>
                        <a:lnTo>
                          <a:pt x="72" y="21"/>
                        </a:lnTo>
                        <a:lnTo>
                          <a:pt x="70" y="18"/>
                        </a:lnTo>
                        <a:lnTo>
                          <a:pt x="67" y="15"/>
                        </a:lnTo>
                        <a:lnTo>
                          <a:pt x="65" y="12"/>
                        </a:lnTo>
                        <a:lnTo>
                          <a:pt x="63" y="10"/>
                        </a:lnTo>
                        <a:lnTo>
                          <a:pt x="59" y="7"/>
                        </a:lnTo>
                        <a:lnTo>
                          <a:pt x="57" y="5"/>
                        </a:lnTo>
                        <a:lnTo>
                          <a:pt x="53" y="3"/>
                        </a:lnTo>
                        <a:lnTo>
                          <a:pt x="49" y="3"/>
                        </a:lnTo>
                        <a:lnTo>
                          <a:pt x="45" y="0"/>
                        </a:lnTo>
                        <a:lnTo>
                          <a:pt x="41" y="0"/>
                        </a:lnTo>
                        <a:lnTo>
                          <a:pt x="38" y="0"/>
                        </a:lnTo>
                        <a:lnTo>
                          <a:pt x="34" y="0"/>
                        </a:lnTo>
                        <a:lnTo>
                          <a:pt x="29" y="0"/>
                        </a:lnTo>
                        <a:lnTo>
                          <a:pt x="26" y="3"/>
                        </a:lnTo>
                        <a:lnTo>
                          <a:pt x="22" y="3"/>
                        </a:lnTo>
                        <a:lnTo>
                          <a:pt x="19" y="5"/>
                        </a:lnTo>
                        <a:lnTo>
                          <a:pt x="16" y="7"/>
                        </a:lnTo>
                        <a:lnTo>
                          <a:pt x="14" y="10"/>
                        </a:lnTo>
                        <a:lnTo>
                          <a:pt x="11" y="12"/>
                        </a:lnTo>
                        <a:lnTo>
                          <a:pt x="8" y="15"/>
                        </a:lnTo>
                        <a:lnTo>
                          <a:pt x="6" y="18"/>
                        </a:lnTo>
                        <a:lnTo>
                          <a:pt x="3" y="21"/>
                        </a:lnTo>
                        <a:lnTo>
                          <a:pt x="3" y="24"/>
                        </a:lnTo>
                        <a:lnTo>
                          <a:pt x="1" y="28"/>
                        </a:lnTo>
                        <a:lnTo>
                          <a:pt x="1" y="31"/>
                        </a:lnTo>
                        <a:lnTo>
                          <a:pt x="0" y="36"/>
                        </a:lnTo>
                        <a:lnTo>
                          <a:pt x="0" y="40"/>
                        </a:lnTo>
                        <a:lnTo>
                          <a:pt x="0" y="43"/>
                        </a:lnTo>
                        <a:lnTo>
                          <a:pt x="1" y="47"/>
                        </a:lnTo>
                        <a:lnTo>
                          <a:pt x="1" y="51"/>
                        </a:lnTo>
                        <a:lnTo>
                          <a:pt x="3" y="55"/>
                        </a:lnTo>
                        <a:lnTo>
                          <a:pt x="3" y="57"/>
                        </a:lnTo>
                        <a:lnTo>
                          <a:pt x="6" y="61"/>
                        </a:lnTo>
                        <a:lnTo>
                          <a:pt x="8" y="63"/>
                        </a:lnTo>
                        <a:lnTo>
                          <a:pt x="11" y="67"/>
                        </a:lnTo>
                        <a:lnTo>
                          <a:pt x="14" y="69"/>
                        </a:lnTo>
                        <a:lnTo>
                          <a:pt x="16" y="72"/>
                        </a:lnTo>
                        <a:lnTo>
                          <a:pt x="19" y="73"/>
                        </a:lnTo>
                        <a:lnTo>
                          <a:pt x="22" y="75"/>
                        </a:lnTo>
                        <a:lnTo>
                          <a:pt x="26" y="76"/>
                        </a:lnTo>
                        <a:lnTo>
                          <a:pt x="29" y="78"/>
                        </a:lnTo>
                        <a:lnTo>
                          <a:pt x="34" y="78"/>
                        </a:lnTo>
                        <a:lnTo>
                          <a:pt x="38"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2" name="Freeform 234"/>
                  <p:cNvSpPr>
                    <a:spLocks/>
                  </p:cNvSpPr>
                  <p:nvPr/>
                </p:nvSpPr>
                <p:spPr bwMode="auto">
                  <a:xfrm>
                    <a:off x="5412" y="1877"/>
                    <a:ext cx="26"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3" y="76"/>
                        </a:lnTo>
                        <a:lnTo>
                          <a:pt x="46" y="76"/>
                        </a:lnTo>
                        <a:lnTo>
                          <a:pt x="50" y="75"/>
                        </a:lnTo>
                        <a:lnTo>
                          <a:pt x="53" y="74"/>
                        </a:lnTo>
                        <a:lnTo>
                          <a:pt x="56" y="71"/>
                        </a:lnTo>
                        <a:lnTo>
                          <a:pt x="59" y="70"/>
                        </a:lnTo>
                        <a:lnTo>
                          <a:pt x="63" y="68"/>
                        </a:lnTo>
                        <a:lnTo>
                          <a:pt x="67" y="65"/>
                        </a:lnTo>
                        <a:lnTo>
                          <a:pt x="69" y="62"/>
                        </a:lnTo>
                        <a:lnTo>
                          <a:pt x="71" y="59"/>
                        </a:lnTo>
                        <a:lnTo>
                          <a:pt x="72" y="56"/>
                        </a:lnTo>
                        <a:lnTo>
                          <a:pt x="74" y="54"/>
                        </a:lnTo>
                        <a:lnTo>
                          <a:pt x="75" y="49"/>
                        </a:lnTo>
                        <a:lnTo>
                          <a:pt x="76" y="46"/>
                        </a:lnTo>
                        <a:lnTo>
                          <a:pt x="77" y="42"/>
                        </a:lnTo>
                        <a:lnTo>
                          <a:pt x="77" y="38"/>
                        </a:lnTo>
                        <a:lnTo>
                          <a:pt x="77" y="33"/>
                        </a:lnTo>
                        <a:lnTo>
                          <a:pt x="76" y="31"/>
                        </a:lnTo>
                        <a:lnTo>
                          <a:pt x="75" y="26"/>
                        </a:lnTo>
                        <a:lnTo>
                          <a:pt x="74" y="23"/>
                        </a:lnTo>
                        <a:lnTo>
                          <a:pt x="72" y="19"/>
                        </a:lnTo>
                        <a:lnTo>
                          <a:pt x="71" y="16"/>
                        </a:lnTo>
                        <a:lnTo>
                          <a:pt x="69" y="13"/>
                        </a:lnTo>
                        <a:lnTo>
                          <a:pt x="67" y="11"/>
                        </a:lnTo>
                        <a:lnTo>
                          <a:pt x="63" y="8"/>
                        </a:lnTo>
                        <a:lnTo>
                          <a:pt x="59" y="6"/>
                        </a:lnTo>
                        <a:lnTo>
                          <a:pt x="56" y="5"/>
                        </a:lnTo>
                        <a:lnTo>
                          <a:pt x="53" y="2"/>
                        </a:lnTo>
                        <a:lnTo>
                          <a:pt x="50" y="1"/>
                        </a:lnTo>
                        <a:lnTo>
                          <a:pt x="46" y="0"/>
                        </a:lnTo>
                        <a:lnTo>
                          <a:pt x="43" y="0"/>
                        </a:lnTo>
                        <a:lnTo>
                          <a:pt x="38" y="0"/>
                        </a:lnTo>
                        <a:lnTo>
                          <a:pt x="34" y="0"/>
                        </a:lnTo>
                        <a:lnTo>
                          <a:pt x="31" y="0"/>
                        </a:lnTo>
                        <a:lnTo>
                          <a:pt x="26" y="1"/>
                        </a:lnTo>
                        <a:lnTo>
                          <a:pt x="23" y="2"/>
                        </a:lnTo>
                        <a:lnTo>
                          <a:pt x="20" y="5"/>
                        </a:lnTo>
                        <a:lnTo>
                          <a:pt x="17" y="6"/>
                        </a:lnTo>
                        <a:lnTo>
                          <a:pt x="13" y="8"/>
                        </a:lnTo>
                        <a:lnTo>
                          <a:pt x="11" y="11"/>
                        </a:lnTo>
                        <a:lnTo>
                          <a:pt x="8" y="13"/>
                        </a:lnTo>
                        <a:lnTo>
                          <a:pt x="6" y="16"/>
                        </a:lnTo>
                        <a:lnTo>
                          <a:pt x="5" y="19"/>
                        </a:lnTo>
                        <a:lnTo>
                          <a:pt x="2" y="23"/>
                        </a:lnTo>
                        <a:lnTo>
                          <a:pt x="1" y="26"/>
                        </a:lnTo>
                        <a:lnTo>
                          <a:pt x="0" y="31"/>
                        </a:lnTo>
                        <a:lnTo>
                          <a:pt x="0" y="33"/>
                        </a:lnTo>
                        <a:lnTo>
                          <a:pt x="0" y="38"/>
                        </a:lnTo>
                        <a:lnTo>
                          <a:pt x="0" y="42"/>
                        </a:lnTo>
                        <a:lnTo>
                          <a:pt x="0" y="46"/>
                        </a:lnTo>
                        <a:lnTo>
                          <a:pt x="1" y="49"/>
                        </a:lnTo>
                        <a:lnTo>
                          <a:pt x="2" y="54"/>
                        </a:lnTo>
                        <a:lnTo>
                          <a:pt x="5" y="56"/>
                        </a:lnTo>
                        <a:lnTo>
                          <a:pt x="6" y="59"/>
                        </a:lnTo>
                        <a:lnTo>
                          <a:pt x="8" y="62"/>
                        </a:lnTo>
                        <a:lnTo>
                          <a:pt x="11" y="65"/>
                        </a:lnTo>
                        <a:lnTo>
                          <a:pt x="13" y="68"/>
                        </a:lnTo>
                        <a:lnTo>
                          <a:pt x="17" y="70"/>
                        </a:lnTo>
                        <a:lnTo>
                          <a:pt x="20" y="71"/>
                        </a:lnTo>
                        <a:lnTo>
                          <a:pt x="23" y="74"/>
                        </a:lnTo>
                        <a:lnTo>
                          <a:pt x="26" y="75"/>
                        </a:lnTo>
                        <a:lnTo>
                          <a:pt x="31" y="76"/>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3" name="Freeform 235"/>
                  <p:cNvSpPr>
                    <a:spLocks/>
                  </p:cNvSpPr>
                  <p:nvPr/>
                </p:nvSpPr>
                <p:spPr bwMode="auto">
                  <a:xfrm>
                    <a:off x="5461" y="187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41" y="77"/>
                        </a:moveTo>
                        <a:lnTo>
                          <a:pt x="43" y="76"/>
                        </a:lnTo>
                        <a:lnTo>
                          <a:pt x="48" y="76"/>
                        </a:lnTo>
                        <a:lnTo>
                          <a:pt x="51" y="75"/>
                        </a:lnTo>
                        <a:lnTo>
                          <a:pt x="55" y="73"/>
                        </a:lnTo>
                        <a:lnTo>
                          <a:pt x="57" y="71"/>
                        </a:lnTo>
                        <a:lnTo>
                          <a:pt x="61" y="70"/>
                        </a:lnTo>
                        <a:lnTo>
                          <a:pt x="63" y="67"/>
                        </a:lnTo>
                        <a:lnTo>
                          <a:pt x="67" y="65"/>
                        </a:lnTo>
                        <a:lnTo>
                          <a:pt x="69" y="61"/>
                        </a:lnTo>
                        <a:lnTo>
                          <a:pt x="71" y="59"/>
                        </a:lnTo>
                        <a:lnTo>
                          <a:pt x="74" y="56"/>
                        </a:lnTo>
                        <a:lnTo>
                          <a:pt x="75" y="53"/>
                        </a:lnTo>
                        <a:lnTo>
                          <a:pt x="76" y="48"/>
                        </a:lnTo>
                        <a:lnTo>
                          <a:pt x="77" y="45"/>
                        </a:lnTo>
                        <a:lnTo>
                          <a:pt x="78" y="41"/>
                        </a:lnTo>
                        <a:lnTo>
                          <a:pt x="78" y="38"/>
                        </a:lnTo>
                        <a:lnTo>
                          <a:pt x="78" y="34"/>
                        </a:lnTo>
                        <a:lnTo>
                          <a:pt x="77" y="31"/>
                        </a:lnTo>
                        <a:lnTo>
                          <a:pt x="76" y="26"/>
                        </a:lnTo>
                        <a:lnTo>
                          <a:pt x="75" y="22"/>
                        </a:lnTo>
                        <a:lnTo>
                          <a:pt x="74" y="19"/>
                        </a:lnTo>
                        <a:lnTo>
                          <a:pt x="71" y="15"/>
                        </a:lnTo>
                        <a:lnTo>
                          <a:pt x="69" y="13"/>
                        </a:lnTo>
                        <a:lnTo>
                          <a:pt x="67" y="10"/>
                        </a:lnTo>
                        <a:lnTo>
                          <a:pt x="63" y="7"/>
                        </a:lnTo>
                        <a:lnTo>
                          <a:pt x="61" y="4"/>
                        </a:lnTo>
                        <a:lnTo>
                          <a:pt x="57" y="3"/>
                        </a:lnTo>
                        <a:lnTo>
                          <a:pt x="55" y="2"/>
                        </a:lnTo>
                        <a:lnTo>
                          <a:pt x="51" y="0"/>
                        </a:lnTo>
                        <a:lnTo>
                          <a:pt x="48" y="0"/>
                        </a:lnTo>
                        <a:lnTo>
                          <a:pt x="43" y="0"/>
                        </a:lnTo>
                        <a:lnTo>
                          <a:pt x="41" y="0"/>
                        </a:lnTo>
                        <a:lnTo>
                          <a:pt x="36" y="0"/>
                        </a:lnTo>
                        <a:lnTo>
                          <a:pt x="31" y="0"/>
                        </a:lnTo>
                        <a:lnTo>
                          <a:pt x="27" y="0"/>
                        </a:lnTo>
                        <a:lnTo>
                          <a:pt x="25" y="2"/>
                        </a:lnTo>
                        <a:lnTo>
                          <a:pt x="20" y="3"/>
                        </a:lnTo>
                        <a:lnTo>
                          <a:pt x="18" y="4"/>
                        </a:lnTo>
                        <a:lnTo>
                          <a:pt x="16" y="7"/>
                        </a:lnTo>
                        <a:lnTo>
                          <a:pt x="13" y="10"/>
                        </a:lnTo>
                        <a:lnTo>
                          <a:pt x="10" y="13"/>
                        </a:lnTo>
                        <a:lnTo>
                          <a:pt x="7" y="15"/>
                        </a:lnTo>
                        <a:lnTo>
                          <a:pt x="5" y="19"/>
                        </a:lnTo>
                        <a:lnTo>
                          <a:pt x="4" y="22"/>
                        </a:lnTo>
                        <a:lnTo>
                          <a:pt x="3" y="26"/>
                        </a:lnTo>
                        <a:lnTo>
                          <a:pt x="1" y="31"/>
                        </a:lnTo>
                        <a:lnTo>
                          <a:pt x="0" y="34"/>
                        </a:lnTo>
                        <a:lnTo>
                          <a:pt x="0" y="38"/>
                        </a:lnTo>
                        <a:lnTo>
                          <a:pt x="0" y="41"/>
                        </a:lnTo>
                        <a:lnTo>
                          <a:pt x="1" y="45"/>
                        </a:lnTo>
                        <a:lnTo>
                          <a:pt x="3" y="48"/>
                        </a:lnTo>
                        <a:lnTo>
                          <a:pt x="4" y="53"/>
                        </a:lnTo>
                        <a:lnTo>
                          <a:pt x="5" y="56"/>
                        </a:lnTo>
                        <a:lnTo>
                          <a:pt x="7" y="59"/>
                        </a:lnTo>
                        <a:lnTo>
                          <a:pt x="10" y="61"/>
                        </a:lnTo>
                        <a:lnTo>
                          <a:pt x="13" y="65"/>
                        </a:lnTo>
                        <a:lnTo>
                          <a:pt x="16" y="67"/>
                        </a:lnTo>
                        <a:lnTo>
                          <a:pt x="18" y="70"/>
                        </a:lnTo>
                        <a:lnTo>
                          <a:pt x="20" y="71"/>
                        </a:lnTo>
                        <a:lnTo>
                          <a:pt x="25" y="73"/>
                        </a:lnTo>
                        <a:lnTo>
                          <a:pt x="27" y="75"/>
                        </a:lnTo>
                        <a:lnTo>
                          <a:pt x="31" y="76"/>
                        </a:lnTo>
                        <a:lnTo>
                          <a:pt x="36" y="76"/>
                        </a:lnTo>
                        <a:lnTo>
                          <a:pt x="41"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4" name="Freeform 236"/>
                  <p:cNvSpPr>
                    <a:spLocks/>
                  </p:cNvSpPr>
                  <p:nvPr/>
                </p:nvSpPr>
                <p:spPr bwMode="auto">
                  <a:xfrm>
                    <a:off x="5511" y="1877"/>
                    <a:ext cx="26" cy="26"/>
                  </a:xfrm>
                  <a:custGeom>
                    <a:avLst/>
                    <a:gdLst>
                      <a:gd name="T0" fmla="*/ 0 w 76"/>
                      <a:gd name="T1" fmla="*/ 0 h 78"/>
                      <a:gd name="T2" fmla="*/ 0 w 76"/>
                      <a:gd name="T3" fmla="*/ 0 h 78"/>
                      <a:gd name="T4" fmla="*/ 0 w 76"/>
                      <a:gd name="T5" fmla="*/ 0 h 78"/>
                      <a:gd name="T6" fmla="*/ 0 w 76"/>
                      <a:gd name="T7" fmla="*/ 0 h 78"/>
                      <a:gd name="T8" fmla="*/ 0 w 76"/>
                      <a:gd name="T9" fmla="*/ 0 h 78"/>
                      <a:gd name="T10" fmla="*/ 0 w 76"/>
                      <a:gd name="T11" fmla="*/ 0 h 78"/>
                      <a:gd name="T12" fmla="*/ 0 w 76"/>
                      <a:gd name="T13" fmla="*/ 0 h 78"/>
                      <a:gd name="T14" fmla="*/ 0 w 76"/>
                      <a:gd name="T15" fmla="*/ 0 h 78"/>
                      <a:gd name="T16" fmla="*/ 0 w 76"/>
                      <a:gd name="T17" fmla="*/ 0 h 78"/>
                      <a:gd name="T18" fmla="*/ 0 w 76"/>
                      <a:gd name="T19" fmla="*/ 0 h 78"/>
                      <a:gd name="T20" fmla="*/ 0 w 76"/>
                      <a:gd name="T21" fmla="*/ 0 h 78"/>
                      <a:gd name="T22" fmla="*/ 0 w 76"/>
                      <a:gd name="T23" fmla="*/ 0 h 78"/>
                      <a:gd name="T24" fmla="*/ 0 w 76"/>
                      <a:gd name="T25" fmla="*/ 0 h 78"/>
                      <a:gd name="T26" fmla="*/ 0 w 76"/>
                      <a:gd name="T27" fmla="*/ 0 h 78"/>
                      <a:gd name="T28" fmla="*/ 0 w 76"/>
                      <a:gd name="T29" fmla="*/ 0 h 78"/>
                      <a:gd name="T30" fmla="*/ 0 w 76"/>
                      <a:gd name="T31" fmla="*/ 0 h 78"/>
                      <a:gd name="T32" fmla="*/ 0 w 76"/>
                      <a:gd name="T33" fmla="*/ 0 h 78"/>
                      <a:gd name="T34" fmla="*/ 0 w 76"/>
                      <a:gd name="T35" fmla="*/ 0 h 78"/>
                      <a:gd name="T36" fmla="*/ 0 w 76"/>
                      <a:gd name="T37" fmla="*/ 0 h 78"/>
                      <a:gd name="T38" fmla="*/ 0 w 76"/>
                      <a:gd name="T39" fmla="*/ 0 h 78"/>
                      <a:gd name="T40" fmla="*/ 0 w 76"/>
                      <a:gd name="T41" fmla="*/ 0 h 78"/>
                      <a:gd name="T42" fmla="*/ 0 w 76"/>
                      <a:gd name="T43" fmla="*/ 0 h 78"/>
                      <a:gd name="T44" fmla="*/ 0 w 76"/>
                      <a:gd name="T45" fmla="*/ 0 h 78"/>
                      <a:gd name="T46" fmla="*/ 0 w 76"/>
                      <a:gd name="T47" fmla="*/ 0 h 78"/>
                      <a:gd name="T48" fmla="*/ 0 w 76"/>
                      <a:gd name="T49" fmla="*/ 0 h 78"/>
                      <a:gd name="T50" fmla="*/ 0 w 76"/>
                      <a:gd name="T51" fmla="*/ 0 h 78"/>
                      <a:gd name="T52" fmla="*/ 0 w 76"/>
                      <a:gd name="T53" fmla="*/ 0 h 78"/>
                      <a:gd name="T54" fmla="*/ 0 w 76"/>
                      <a:gd name="T55" fmla="*/ 0 h 78"/>
                      <a:gd name="T56" fmla="*/ 0 w 76"/>
                      <a:gd name="T57" fmla="*/ 0 h 78"/>
                      <a:gd name="T58" fmla="*/ 0 w 76"/>
                      <a:gd name="T59" fmla="*/ 0 h 78"/>
                      <a:gd name="T60" fmla="*/ 0 w 76"/>
                      <a:gd name="T61" fmla="*/ 0 h 78"/>
                      <a:gd name="T62" fmla="*/ 0 w 76"/>
                      <a:gd name="T63" fmla="*/ 0 h 78"/>
                      <a:gd name="T64" fmla="*/ 0 w 76"/>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6"/>
                      <a:gd name="T100" fmla="*/ 0 h 78"/>
                      <a:gd name="T101" fmla="*/ 76 w 76"/>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6" h="78">
                        <a:moveTo>
                          <a:pt x="38" y="78"/>
                        </a:moveTo>
                        <a:lnTo>
                          <a:pt x="41" y="77"/>
                        </a:lnTo>
                        <a:lnTo>
                          <a:pt x="45" y="77"/>
                        </a:lnTo>
                        <a:lnTo>
                          <a:pt x="50" y="76"/>
                        </a:lnTo>
                        <a:lnTo>
                          <a:pt x="53" y="75"/>
                        </a:lnTo>
                        <a:lnTo>
                          <a:pt x="55" y="73"/>
                        </a:lnTo>
                        <a:lnTo>
                          <a:pt x="59" y="71"/>
                        </a:lnTo>
                        <a:lnTo>
                          <a:pt x="63" y="69"/>
                        </a:lnTo>
                        <a:lnTo>
                          <a:pt x="65" y="67"/>
                        </a:lnTo>
                        <a:lnTo>
                          <a:pt x="67" y="64"/>
                        </a:lnTo>
                        <a:lnTo>
                          <a:pt x="70" y="61"/>
                        </a:lnTo>
                        <a:lnTo>
                          <a:pt x="71" y="57"/>
                        </a:lnTo>
                        <a:lnTo>
                          <a:pt x="73" y="55"/>
                        </a:lnTo>
                        <a:lnTo>
                          <a:pt x="74" y="51"/>
                        </a:lnTo>
                        <a:lnTo>
                          <a:pt x="76" y="46"/>
                        </a:lnTo>
                        <a:lnTo>
                          <a:pt x="76" y="43"/>
                        </a:lnTo>
                        <a:lnTo>
                          <a:pt x="76" y="39"/>
                        </a:lnTo>
                        <a:lnTo>
                          <a:pt x="76" y="36"/>
                        </a:lnTo>
                        <a:lnTo>
                          <a:pt x="76" y="31"/>
                        </a:lnTo>
                        <a:lnTo>
                          <a:pt x="74" y="27"/>
                        </a:lnTo>
                        <a:lnTo>
                          <a:pt x="73" y="24"/>
                        </a:lnTo>
                        <a:lnTo>
                          <a:pt x="71" y="20"/>
                        </a:lnTo>
                        <a:lnTo>
                          <a:pt x="70" y="17"/>
                        </a:lnTo>
                        <a:lnTo>
                          <a:pt x="67" y="14"/>
                        </a:lnTo>
                        <a:lnTo>
                          <a:pt x="65" y="12"/>
                        </a:lnTo>
                        <a:lnTo>
                          <a:pt x="63" y="8"/>
                        </a:lnTo>
                        <a:lnTo>
                          <a:pt x="59" y="7"/>
                        </a:lnTo>
                        <a:lnTo>
                          <a:pt x="55" y="5"/>
                        </a:lnTo>
                        <a:lnTo>
                          <a:pt x="53" y="2"/>
                        </a:lnTo>
                        <a:lnTo>
                          <a:pt x="50" y="2"/>
                        </a:lnTo>
                        <a:lnTo>
                          <a:pt x="45" y="0"/>
                        </a:lnTo>
                        <a:lnTo>
                          <a:pt x="41" y="0"/>
                        </a:lnTo>
                        <a:lnTo>
                          <a:pt x="38" y="0"/>
                        </a:lnTo>
                        <a:lnTo>
                          <a:pt x="34" y="0"/>
                        </a:lnTo>
                        <a:lnTo>
                          <a:pt x="29" y="0"/>
                        </a:lnTo>
                        <a:lnTo>
                          <a:pt x="26" y="2"/>
                        </a:lnTo>
                        <a:lnTo>
                          <a:pt x="22" y="2"/>
                        </a:lnTo>
                        <a:lnTo>
                          <a:pt x="19" y="5"/>
                        </a:lnTo>
                        <a:lnTo>
                          <a:pt x="15" y="7"/>
                        </a:lnTo>
                        <a:lnTo>
                          <a:pt x="13" y="8"/>
                        </a:lnTo>
                        <a:lnTo>
                          <a:pt x="10" y="12"/>
                        </a:lnTo>
                        <a:lnTo>
                          <a:pt x="7" y="14"/>
                        </a:lnTo>
                        <a:lnTo>
                          <a:pt x="6" y="17"/>
                        </a:lnTo>
                        <a:lnTo>
                          <a:pt x="3" y="20"/>
                        </a:lnTo>
                        <a:lnTo>
                          <a:pt x="2" y="24"/>
                        </a:lnTo>
                        <a:lnTo>
                          <a:pt x="1" y="27"/>
                        </a:lnTo>
                        <a:lnTo>
                          <a:pt x="0" y="31"/>
                        </a:lnTo>
                        <a:lnTo>
                          <a:pt x="0" y="36"/>
                        </a:lnTo>
                        <a:lnTo>
                          <a:pt x="0" y="39"/>
                        </a:lnTo>
                        <a:lnTo>
                          <a:pt x="0" y="43"/>
                        </a:lnTo>
                        <a:lnTo>
                          <a:pt x="0" y="46"/>
                        </a:lnTo>
                        <a:lnTo>
                          <a:pt x="1" y="51"/>
                        </a:lnTo>
                        <a:lnTo>
                          <a:pt x="2" y="55"/>
                        </a:lnTo>
                        <a:lnTo>
                          <a:pt x="3" y="57"/>
                        </a:lnTo>
                        <a:lnTo>
                          <a:pt x="6" y="61"/>
                        </a:lnTo>
                        <a:lnTo>
                          <a:pt x="7" y="64"/>
                        </a:lnTo>
                        <a:lnTo>
                          <a:pt x="10" y="67"/>
                        </a:lnTo>
                        <a:lnTo>
                          <a:pt x="13" y="69"/>
                        </a:lnTo>
                        <a:lnTo>
                          <a:pt x="15" y="71"/>
                        </a:lnTo>
                        <a:lnTo>
                          <a:pt x="19" y="73"/>
                        </a:lnTo>
                        <a:lnTo>
                          <a:pt x="22" y="75"/>
                        </a:lnTo>
                        <a:lnTo>
                          <a:pt x="26" y="76"/>
                        </a:lnTo>
                        <a:lnTo>
                          <a:pt x="29" y="77"/>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5" name="Freeform 237"/>
                  <p:cNvSpPr>
                    <a:spLocks/>
                  </p:cNvSpPr>
                  <p:nvPr/>
                </p:nvSpPr>
                <p:spPr bwMode="auto">
                  <a:xfrm>
                    <a:off x="5560" y="1876"/>
                    <a:ext cx="26" cy="26"/>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9" y="77"/>
                        </a:moveTo>
                        <a:lnTo>
                          <a:pt x="42" y="76"/>
                        </a:lnTo>
                        <a:lnTo>
                          <a:pt x="46" y="76"/>
                        </a:lnTo>
                        <a:lnTo>
                          <a:pt x="49" y="75"/>
                        </a:lnTo>
                        <a:lnTo>
                          <a:pt x="53" y="73"/>
                        </a:lnTo>
                        <a:lnTo>
                          <a:pt x="55" y="71"/>
                        </a:lnTo>
                        <a:lnTo>
                          <a:pt x="59" y="70"/>
                        </a:lnTo>
                        <a:lnTo>
                          <a:pt x="63" y="67"/>
                        </a:lnTo>
                        <a:lnTo>
                          <a:pt x="66" y="65"/>
                        </a:lnTo>
                        <a:lnTo>
                          <a:pt x="67" y="61"/>
                        </a:lnTo>
                        <a:lnTo>
                          <a:pt x="70" y="59"/>
                        </a:lnTo>
                        <a:lnTo>
                          <a:pt x="72" y="56"/>
                        </a:lnTo>
                        <a:lnTo>
                          <a:pt x="73" y="53"/>
                        </a:lnTo>
                        <a:lnTo>
                          <a:pt x="74" y="48"/>
                        </a:lnTo>
                        <a:lnTo>
                          <a:pt x="77" y="45"/>
                        </a:lnTo>
                        <a:lnTo>
                          <a:pt x="77" y="41"/>
                        </a:lnTo>
                        <a:lnTo>
                          <a:pt x="77" y="38"/>
                        </a:lnTo>
                        <a:lnTo>
                          <a:pt x="77" y="34"/>
                        </a:lnTo>
                        <a:lnTo>
                          <a:pt x="77" y="31"/>
                        </a:lnTo>
                        <a:lnTo>
                          <a:pt x="74" y="26"/>
                        </a:lnTo>
                        <a:lnTo>
                          <a:pt x="73" y="22"/>
                        </a:lnTo>
                        <a:lnTo>
                          <a:pt x="72" y="19"/>
                        </a:lnTo>
                        <a:lnTo>
                          <a:pt x="70" y="15"/>
                        </a:lnTo>
                        <a:lnTo>
                          <a:pt x="67" y="13"/>
                        </a:lnTo>
                        <a:lnTo>
                          <a:pt x="66" y="10"/>
                        </a:lnTo>
                        <a:lnTo>
                          <a:pt x="63" y="7"/>
                        </a:lnTo>
                        <a:lnTo>
                          <a:pt x="59" y="4"/>
                        </a:lnTo>
                        <a:lnTo>
                          <a:pt x="55" y="3"/>
                        </a:lnTo>
                        <a:lnTo>
                          <a:pt x="53" y="2"/>
                        </a:lnTo>
                        <a:lnTo>
                          <a:pt x="49" y="0"/>
                        </a:lnTo>
                        <a:lnTo>
                          <a:pt x="46" y="0"/>
                        </a:lnTo>
                        <a:lnTo>
                          <a:pt x="42" y="0"/>
                        </a:lnTo>
                        <a:lnTo>
                          <a:pt x="39" y="0"/>
                        </a:lnTo>
                        <a:lnTo>
                          <a:pt x="35" y="0"/>
                        </a:lnTo>
                        <a:lnTo>
                          <a:pt x="30" y="0"/>
                        </a:lnTo>
                        <a:lnTo>
                          <a:pt x="27" y="0"/>
                        </a:lnTo>
                        <a:lnTo>
                          <a:pt x="23" y="2"/>
                        </a:lnTo>
                        <a:lnTo>
                          <a:pt x="20" y="3"/>
                        </a:lnTo>
                        <a:lnTo>
                          <a:pt x="16" y="4"/>
                        </a:lnTo>
                        <a:lnTo>
                          <a:pt x="13" y="7"/>
                        </a:lnTo>
                        <a:lnTo>
                          <a:pt x="11" y="10"/>
                        </a:lnTo>
                        <a:lnTo>
                          <a:pt x="8" y="13"/>
                        </a:lnTo>
                        <a:lnTo>
                          <a:pt x="6" y="15"/>
                        </a:lnTo>
                        <a:lnTo>
                          <a:pt x="4" y="19"/>
                        </a:lnTo>
                        <a:lnTo>
                          <a:pt x="3" y="22"/>
                        </a:lnTo>
                        <a:lnTo>
                          <a:pt x="1" y="26"/>
                        </a:lnTo>
                        <a:lnTo>
                          <a:pt x="1" y="31"/>
                        </a:lnTo>
                        <a:lnTo>
                          <a:pt x="0" y="34"/>
                        </a:lnTo>
                        <a:lnTo>
                          <a:pt x="0" y="38"/>
                        </a:lnTo>
                        <a:lnTo>
                          <a:pt x="0" y="41"/>
                        </a:lnTo>
                        <a:lnTo>
                          <a:pt x="1" y="45"/>
                        </a:lnTo>
                        <a:lnTo>
                          <a:pt x="1" y="48"/>
                        </a:lnTo>
                        <a:lnTo>
                          <a:pt x="3" y="53"/>
                        </a:lnTo>
                        <a:lnTo>
                          <a:pt x="4" y="56"/>
                        </a:lnTo>
                        <a:lnTo>
                          <a:pt x="6" y="59"/>
                        </a:lnTo>
                        <a:lnTo>
                          <a:pt x="8" y="61"/>
                        </a:lnTo>
                        <a:lnTo>
                          <a:pt x="11" y="65"/>
                        </a:lnTo>
                        <a:lnTo>
                          <a:pt x="13" y="67"/>
                        </a:lnTo>
                        <a:lnTo>
                          <a:pt x="16" y="70"/>
                        </a:lnTo>
                        <a:lnTo>
                          <a:pt x="20" y="71"/>
                        </a:lnTo>
                        <a:lnTo>
                          <a:pt x="23" y="73"/>
                        </a:lnTo>
                        <a:lnTo>
                          <a:pt x="27" y="75"/>
                        </a:lnTo>
                        <a:lnTo>
                          <a:pt x="30" y="76"/>
                        </a:lnTo>
                        <a:lnTo>
                          <a:pt x="35" y="76"/>
                        </a:lnTo>
                        <a:lnTo>
                          <a:pt x="39"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6" name="Freeform 238"/>
                  <p:cNvSpPr>
                    <a:spLocks/>
                  </p:cNvSpPr>
                  <p:nvPr/>
                </p:nvSpPr>
                <p:spPr bwMode="auto">
                  <a:xfrm>
                    <a:off x="5612" y="1877"/>
                    <a:ext cx="26" cy="26"/>
                  </a:xfrm>
                  <a:custGeom>
                    <a:avLst/>
                    <a:gdLst>
                      <a:gd name="T0" fmla="*/ 0 w 78"/>
                      <a:gd name="T1" fmla="*/ 0 h 78"/>
                      <a:gd name="T2" fmla="*/ 0 w 78"/>
                      <a:gd name="T3" fmla="*/ 0 h 78"/>
                      <a:gd name="T4" fmla="*/ 0 w 78"/>
                      <a:gd name="T5" fmla="*/ 0 h 78"/>
                      <a:gd name="T6" fmla="*/ 0 w 78"/>
                      <a:gd name="T7" fmla="*/ 0 h 78"/>
                      <a:gd name="T8" fmla="*/ 0 w 78"/>
                      <a:gd name="T9" fmla="*/ 0 h 78"/>
                      <a:gd name="T10" fmla="*/ 0 w 78"/>
                      <a:gd name="T11" fmla="*/ 0 h 78"/>
                      <a:gd name="T12" fmla="*/ 0 w 78"/>
                      <a:gd name="T13" fmla="*/ 0 h 78"/>
                      <a:gd name="T14" fmla="*/ 0 w 78"/>
                      <a:gd name="T15" fmla="*/ 0 h 78"/>
                      <a:gd name="T16" fmla="*/ 0 w 78"/>
                      <a:gd name="T17" fmla="*/ 0 h 78"/>
                      <a:gd name="T18" fmla="*/ 0 w 78"/>
                      <a:gd name="T19" fmla="*/ 0 h 78"/>
                      <a:gd name="T20" fmla="*/ 0 w 78"/>
                      <a:gd name="T21" fmla="*/ 0 h 78"/>
                      <a:gd name="T22" fmla="*/ 0 w 78"/>
                      <a:gd name="T23" fmla="*/ 0 h 78"/>
                      <a:gd name="T24" fmla="*/ 0 w 78"/>
                      <a:gd name="T25" fmla="*/ 0 h 78"/>
                      <a:gd name="T26" fmla="*/ 0 w 78"/>
                      <a:gd name="T27" fmla="*/ 0 h 78"/>
                      <a:gd name="T28" fmla="*/ 0 w 78"/>
                      <a:gd name="T29" fmla="*/ 0 h 78"/>
                      <a:gd name="T30" fmla="*/ 0 w 78"/>
                      <a:gd name="T31" fmla="*/ 0 h 78"/>
                      <a:gd name="T32" fmla="*/ 0 w 78"/>
                      <a:gd name="T33" fmla="*/ 0 h 78"/>
                      <a:gd name="T34" fmla="*/ 0 w 78"/>
                      <a:gd name="T35" fmla="*/ 0 h 78"/>
                      <a:gd name="T36" fmla="*/ 0 w 78"/>
                      <a:gd name="T37" fmla="*/ 0 h 78"/>
                      <a:gd name="T38" fmla="*/ 0 w 78"/>
                      <a:gd name="T39" fmla="*/ 0 h 78"/>
                      <a:gd name="T40" fmla="*/ 0 w 78"/>
                      <a:gd name="T41" fmla="*/ 0 h 78"/>
                      <a:gd name="T42" fmla="*/ 0 w 78"/>
                      <a:gd name="T43" fmla="*/ 0 h 78"/>
                      <a:gd name="T44" fmla="*/ 0 w 78"/>
                      <a:gd name="T45" fmla="*/ 0 h 78"/>
                      <a:gd name="T46" fmla="*/ 0 w 78"/>
                      <a:gd name="T47" fmla="*/ 0 h 78"/>
                      <a:gd name="T48" fmla="*/ 0 w 78"/>
                      <a:gd name="T49" fmla="*/ 0 h 78"/>
                      <a:gd name="T50" fmla="*/ 0 w 78"/>
                      <a:gd name="T51" fmla="*/ 0 h 78"/>
                      <a:gd name="T52" fmla="*/ 0 w 78"/>
                      <a:gd name="T53" fmla="*/ 0 h 78"/>
                      <a:gd name="T54" fmla="*/ 0 w 78"/>
                      <a:gd name="T55" fmla="*/ 0 h 78"/>
                      <a:gd name="T56" fmla="*/ 0 w 78"/>
                      <a:gd name="T57" fmla="*/ 0 h 78"/>
                      <a:gd name="T58" fmla="*/ 0 w 78"/>
                      <a:gd name="T59" fmla="*/ 0 h 78"/>
                      <a:gd name="T60" fmla="*/ 0 w 78"/>
                      <a:gd name="T61" fmla="*/ 0 h 78"/>
                      <a:gd name="T62" fmla="*/ 0 w 78"/>
                      <a:gd name="T63" fmla="*/ 0 h 78"/>
                      <a:gd name="T64" fmla="*/ 0 w 78"/>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8"/>
                      <a:gd name="T101" fmla="*/ 78 w 78"/>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8">
                        <a:moveTo>
                          <a:pt x="39" y="78"/>
                        </a:moveTo>
                        <a:lnTo>
                          <a:pt x="43" y="77"/>
                        </a:lnTo>
                        <a:lnTo>
                          <a:pt x="46" y="77"/>
                        </a:lnTo>
                        <a:lnTo>
                          <a:pt x="50" y="76"/>
                        </a:lnTo>
                        <a:lnTo>
                          <a:pt x="55" y="75"/>
                        </a:lnTo>
                        <a:lnTo>
                          <a:pt x="57" y="73"/>
                        </a:lnTo>
                        <a:lnTo>
                          <a:pt x="61" y="71"/>
                        </a:lnTo>
                        <a:lnTo>
                          <a:pt x="63" y="69"/>
                        </a:lnTo>
                        <a:lnTo>
                          <a:pt x="67" y="67"/>
                        </a:lnTo>
                        <a:lnTo>
                          <a:pt x="68" y="64"/>
                        </a:lnTo>
                        <a:lnTo>
                          <a:pt x="70" y="61"/>
                        </a:lnTo>
                        <a:lnTo>
                          <a:pt x="74" y="57"/>
                        </a:lnTo>
                        <a:lnTo>
                          <a:pt x="75" y="55"/>
                        </a:lnTo>
                        <a:lnTo>
                          <a:pt x="76" y="51"/>
                        </a:lnTo>
                        <a:lnTo>
                          <a:pt x="77" y="46"/>
                        </a:lnTo>
                        <a:lnTo>
                          <a:pt x="78" y="43"/>
                        </a:lnTo>
                        <a:lnTo>
                          <a:pt x="78" y="39"/>
                        </a:lnTo>
                        <a:lnTo>
                          <a:pt x="78" y="36"/>
                        </a:lnTo>
                        <a:lnTo>
                          <a:pt x="77" y="31"/>
                        </a:lnTo>
                        <a:lnTo>
                          <a:pt x="76" y="27"/>
                        </a:lnTo>
                        <a:lnTo>
                          <a:pt x="75" y="24"/>
                        </a:lnTo>
                        <a:lnTo>
                          <a:pt x="74" y="20"/>
                        </a:lnTo>
                        <a:lnTo>
                          <a:pt x="70" y="17"/>
                        </a:lnTo>
                        <a:lnTo>
                          <a:pt x="68" y="14"/>
                        </a:lnTo>
                        <a:lnTo>
                          <a:pt x="67" y="12"/>
                        </a:lnTo>
                        <a:lnTo>
                          <a:pt x="63" y="8"/>
                        </a:lnTo>
                        <a:lnTo>
                          <a:pt x="61" y="7"/>
                        </a:lnTo>
                        <a:lnTo>
                          <a:pt x="57" y="5"/>
                        </a:lnTo>
                        <a:lnTo>
                          <a:pt x="55" y="2"/>
                        </a:lnTo>
                        <a:lnTo>
                          <a:pt x="50" y="2"/>
                        </a:lnTo>
                        <a:lnTo>
                          <a:pt x="46" y="0"/>
                        </a:lnTo>
                        <a:lnTo>
                          <a:pt x="43" y="0"/>
                        </a:lnTo>
                        <a:lnTo>
                          <a:pt x="39" y="0"/>
                        </a:lnTo>
                        <a:lnTo>
                          <a:pt x="36" y="0"/>
                        </a:lnTo>
                        <a:lnTo>
                          <a:pt x="31" y="0"/>
                        </a:lnTo>
                        <a:lnTo>
                          <a:pt x="27" y="2"/>
                        </a:lnTo>
                        <a:lnTo>
                          <a:pt x="24" y="2"/>
                        </a:lnTo>
                        <a:lnTo>
                          <a:pt x="20" y="5"/>
                        </a:lnTo>
                        <a:lnTo>
                          <a:pt x="18" y="7"/>
                        </a:lnTo>
                        <a:lnTo>
                          <a:pt x="14" y="8"/>
                        </a:lnTo>
                        <a:lnTo>
                          <a:pt x="12" y="12"/>
                        </a:lnTo>
                        <a:lnTo>
                          <a:pt x="8" y="14"/>
                        </a:lnTo>
                        <a:lnTo>
                          <a:pt x="7" y="17"/>
                        </a:lnTo>
                        <a:lnTo>
                          <a:pt x="5" y="20"/>
                        </a:lnTo>
                        <a:lnTo>
                          <a:pt x="4" y="24"/>
                        </a:lnTo>
                        <a:lnTo>
                          <a:pt x="2" y="27"/>
                        </a:lnTo>
                        <a:lnTo>
                          <a:pt x="1" y="31"/>
                        </a:lnTo>
                        <a:lnTo>
                          <a:pt x="0" y="36"/>
                        </a:lnTo>
                        <a:lnTo>
                          <a:pt x="0" y="39"/>
                        </a:lnTo>
                        <a:lnTo>
                          <a:pt x="0" y="43"/>
                        </a:lnTo>
                        <a:lnTo>
                          <a:pt x="1" y="46"/>
                        </a:lnTo>
                        <a:lnTo>
                          <a:pt x="2" y="51"/>
                        </a:lnTo>
                        <a:lnTo>
                          <a:pt x="4" y="55"/>
                        </a:lnTo>
                        <a:lnTo>
                          <a:pt x="5" y="57"/>
                        </a:lnTo>
                        <a:lnTo>
                          <a:pt x="7" y="61"/>
                        </a:lnTo>
                        <a:lnTo>
                          <a:pt x="8" y="64"/>
                        </a:lnTo>
                        <a:lnTo>
                          <a:pt x="12" y="67"/>
                        </a:lnTo>
                        <a:lnTo>
                          <a:pt x="14" y="69"/>
                        </a:lnTo>
                        <a:lnTo>
                          <a:pt x="18" y="71"/>
                        </a:lnTo>
                        <a:lnTo>
                          <a:pt x="20" y="73"/>
                        </a:lnTo>
                        <a:lnTo>
                          <a:pt x="24" y="75"/>
                        </a:lnTo>
                        <a:lnTo>
                          <a:pt x="27" y="76"/>
                        </a:lnTo>
                        <a:lnTo>
                          <a:pt x="31" y="77"/>
                        </a:lnTo>
                        <a:lnTo>
                          <a:pt x="36" y="77"/>
                        </a:lnTo>
                        <a:lnTo>
                          <a:pt x="39"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7" name="Freeform 239"/>
                  <p:cNvSpPr>
                    <a:spLocks/>
                  </p:cNvSpPr>
                  <p:nvPr/>
                </p:nvSpPr>
                <p:spPr bwMode="auto">
                  <a:xfrm>
                    <a:off x="5662" y="1876"/>
                    <a:ext cx="25" cy="26"/>
                  </a:xfrm>
                  <a:custGeom>
                    <a:avLst/>
                    <a:gdLst>
                      <a:gd name="T0" fmla="*/ 0 w 75"/>
                      <a:gd name="T1" fmla="*/ 0 h 78"/>
                      <a:gd name="T2" fmla="*/ 0 w 75"/>
                      <a:gd name="T3" fmla="*/ 0 h 78"/>
                      <a:gd name="T4" fmla="*/ 0 w 75"/>
                      <a:gd name="T5" fmla="*/ 0 h 78"/>
                      <a:gd name="T6" fmla="*/ 0 w 75"/>
                      <a:gd name="T7" fmla="*/ 0 h 78"/>
                      <a:gd name="T8" fmla="*/ 0 w 75"/>
                      <a:gd name="T9" fmla="*/ 0 h 78"/>
                      <a:gd name="T10" fmla="*/ 0 w 75"/>
                      <a:gd name="T11" fmla="*/ 0 h 78"/>
                      <a:gd name="T12" fmla="*/ 0 w 75"/>
                      <a:gd name="T13" fmla="*/ 0 h 78"/>
                      <a:gd name="T14" fmla="*/ 0 w 75"/>
                      <a:gd name="T15" fmla="*/ 0 h 78"/>
                      <a:gd name="T16" fmla="*/ 0 w 75"/>
                      <a:gd name="T17" fmla="*/ 0 h 78"/>
                      <a:gd name="T18" fmla="*/ 0 w 75"/>
                      <a:gd name="T19" fmla="*/ 0 h 78"/>
                      <a:gd name="T20" fmla="*/ 0 w 75"/>
                      <a:gd name="T21" fmla="*/ 0 h 78"/>
                      <a:gd name="T22" fmla="*/ 0 w 75"/>
                      <a:gd name="T23" fmla="*/ 0 h 78"/>
                      <a:gd name="T24" fmla="*/ 0 w 75"/>
                      <a:gd name="T25" fmla="*/ 0 h 78"/>
                      <a:gd name="T26" fmla="*/ 0 w 75"/>
                      <a:gd name="T27" fmla="*/ 0 h 78"/>
                      <a:gd name="T28" fmla="*/ 0 w 75"/>
                      <a:gd name="T29" fmla="*/ 0 h 78"/>
                      <a:gd name="T30" fmla="*/ 0 w 75"/>
                      <a:gd name="T31" fmla="*/ 0 h 78"/>
                      <a:gd name="T32" fmla="*/ 0 w 75"/>
                      <a:gd name="T33" fmla="*/ 0 h 78"/>
                      <a:gd name="T34" fmla="*/ 0 w 75"/>
                      <a:gd name="T35" fmla="*/ 0 h 78"/>
                      <a:gd name="T36" fmla="*/ 0 w 75"/>
                      <a:gd name="T37" fmla="*/ 0 h 78"/>
                      <a:gd name="T38" fmla="*/ 0 w 75"/>
                      <a:gd name="T39" fmla="*/ 0 h 78"/>
                      <a:gd name="T40" fmla="*/ 0 w 75"/>
                      <a:gd name="T41" fmla="*/ 0 h 78"/>
                      <a:gd name="T42" fmla="*/ 0 w 75"/>
                      <a:gd name="T43" fmla="*/ 0 h 78"/>
                      <a:gd name="T44" fmla="*/ 0 w 75"/>
                      <a:gd name="T45" fmla="*/ 0 h 78"/>
                      <a:gd name="T46" fmla="*/ 0 w 75"/>
                      <a:gd name="T47" fmla="*/ 0 h 78"/>
                      <a:gd name="T48" fmla="*/ 0 w 75"/>
                      <a:gd name="T49" fmla="*/ 0 h 78"/>
                      <a:gd name="T50" fmla="*/ 0 w 75"/>
                      <a:gd name="T51" fmla="*/ 0 h 78"/>
                      <a:gd name="T52" fmla="*/ 0 w 75"/>
                      <a:gd name="T53" fmla="*/ 0 h 78"/>
                      <a:gd name="T54" fmla="*/ 0 w 75"/>
                      <a:gd name="T55" fmla="*/ 0 h 78"/>
                      <a:gd name="T56" fmla="*/ 0 w 75"/>
                      <a:gd name="T57" fmla="*/ 0 h 78"/>
                      <a:gd name="T58" fmla="*/ 0 w 75"/>
                      <a:gd name="T59" fmla="*/ 0 h 78"/>
                      <a:gd name="T60" fmla="*/ 0 w 75"/>
                      <a:gd name="T61" fmla="*/ 0 h 78"/>
                      <a:gd name="T62" fmla="*/ 0 w 75"/>
                      <a:gd name="T63" fmla="*/ 0 h 78"/>
                      <a:gd name="T64" fmla="*/ 0 w 75"/>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5"/>
                      <a:gd name="T100" fmla="*/ 0 h 78"/>
                      <a:gd name="T101" fmla="*/ 75 w 75"/>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5" h="78">
                        <a:moveTo>
                          <a:pt x="38" y="78"/>
                        </a:moveTo>
                        <a:lnTo>
                          <a:pt x="41" y="78"/>
                        </a:lnTo>
                        <a:lnTo>
                          <a:pt x="45" y="77"/>
                        </a:lnTo>
                        <a:lnTo>
                          <a:pt x="48" y="76"/>
                        </a:lnTo>
                        <a:lnTo>
                          <a:pt x="52" y="75"/>
                        </a:lnTo>
                        <a:lnTo>
                          <a:pt x="54" y="72"/>
                        </a:lnTo>
                        <a:lnTo>
                          <a:pt x="58" y="71"/>
                        </a:lnTo>
                        <a:lnTo>
                          <a:pt x="61" y="69"/>
                        </a:lnTo>
                        <a:lnTo>
                          <a:pt x="65" y="66"/>
                        </a:lnTo>
                        <a:lnTo>
                          <a:pt x="66" y="63"/>
                        </a:lnTo>
                        <a:lnTo>
                          <a:pt x="68" y="60"/>
                        </a:lnTo>
                        <a:lnTo>
                          <a:pt x="70" y="57"/>
                        </a:lnTo>
                        <a:lnTo>
                          <a:pt x="72" y="53"/>
                        </a:lnTo>
                        <a:lnTo>
                          <a:pt x="73" y="51"/>
                        </a:lnTo>
                        <a:lnTo>
                          <a:pt x="75" y="46"/>
                        </a:lnTo>
                        <a:lnTo>
                          <a:pt x="75" y="42"/>
                        </a:lnTo>
                        <a:lnTo>
                          <a:pt x="75" y="39"/>
                        </a:lnTo>
                        <a:lnTo>
                          <a:pt x="75" y="35"/>
                        </a:lnTo>
                        <a:lnTo>
                          <a:pt x="75" y="31"/>
                        </a:lnTo>
                        <a:lnTo>
                          <a:pt x="73" y="26"/>
                        </a:lnTo>
                        <a:lnTo>
                          <a:pt x="72" y="23"/>
                        </a:lnTo>
                        <a:lnTo>
                          <a:pt x="70" y="20"/>
                        </a:lnTo>
                        <a:lnTo>
                          <a:pt x="68" y="18"/>
                        </a:lnTo>
                        <a:lnTo>
                          <a:pt x="66" y="14"/>
                        </a:lnTo>
                        <a:lnTo>
                          <a:pt x="65" y="12"/>
                        </a:lnTo>
                        <a:lnTo>
                          <a:pt x="61" y="9"/>
                        </a:lnTo>
                        <a:lnTo>
                          <a:pt x="58" y="7"/>
                        </a:lnTo>
                        <a:lnTo>
                          <a:pt x="54" y="4"/>
                        </a:lnTo>
                        <a:lnTo>
                          <a:pt x="52" y="2"/>
                        </a:lnTo>
                        <a:lnTo>
                          <a:pt x="48" y="2"/>
                        </a:lnTo>
                        <a:lnTo>
                          <a:pt x="45" y="1"/>
                        </a:lnTo>
                        <a:lnTo>
                          <a:pt x="41" y="0"/>
                        </a:lnTo>
                        <a:lnTo>
                          <a:pt x="38" y="0"/>
                        </a:lnTo>
                        <a:lnTo>
                          <a:pt x="33" y="0"/>
                        </a:lnTo>
                        <a:lnTo>
                          <a:pt x="29" y="1"/>
                        </a:lnTo>
                        <a:lnTo>
                          <a:pt x="24" y="2"/>
                        </a:lnTo>
                        <a:lnTo>
                          <a:pt x="22" y="2"/>
                        </a:lnTo>
                        <a:lnTo>
                          <a:pt x="19" y="4"/>
                        </a:lnTo>
                        <a:lnTo>
                          <a:pt x="15" y="7"/>
                        </a:lnTo>
                        <a:lnTo>
                          <a:pt x="13" y="9"/>
                        </a:lnTo>
                        <a:lnTo>
                          <a:pt x="10" y="12"/>
                        </a:lnTo>
                        <a:lnTo>
                          <a:pt x="7" y="14"/>
                        </a:lnTo>
                        <a:lnTo>
                          <a:pt x="4" y="18"/>
                        </a:lnTo>
                        <a:lnTo>
                          <a:pt x="3" y="20"/>
                        </a:lnTo>
                        <a:lnTo>
                          <a:pt x="2" y="23"/>
                        </a:lnTo>
                        <a:lnTo>
                          <a:pt x="0" y="26"/>
                        </a:lnTo>
                        <a:lnTo>
                          <a:pt x="0" y="31"/>
                        </a:lnTo>
                        <a:lnTo>
                          <a:pt x="0" y="35"/>
                        </a:lnTo>
                        <a:lnTo>
                          <a:pt x="0" y="39"/>
                        </a:lnTo>
                        <a:lnTo>
                          <a:pt x="0" y="42"/>
                        </a:lnTo>
                        <a:lnTo>
                          <a:pt x="0" y="46"/>
                        </a:lnTo>
                        <a:lnTo>
                          <a:pt x="0" y="51"/>
                        </a:lnTo>
                        <a:lnTo>
                          <a:pt x="2" y="53"/>
                        </a:lnTo>
                        <a:lnTo>
                          <a:pt x="3" y="57"/>
                        </a:lnTo>
                        <a:lnTo>
                          <a:pt x="4" y="60"/>
                        </a:lnTo>
                        <a:lnTo>
                          <a:pt x="7" y="63"/>
                        </a:lnTo>
                        <a:lnTo>
                          <a:pt x="10" y="66"/>
                        </a:lnTo>
                        <a:lnTo>
                          <a:pt x="13" y="69"/>
                        </a:lnTo>
                        <a:lnTo>
                          <a:pt x="15" y="71"/>
                        </a:lnTo>
                        <a:lnTo>
                          <a:pt x="19" y="72"/>
                        </a:lnTo>
                        <a:lnTo>
                          <a:pt x="22" y="75"/>
                        </a:lnTo>
                        <a:lnTo>
                          <a:pt x="24" y="76"/>
                        </a:lnTo>
                        <a:lnTo>
                          <a:pt x="29" y="77"/>
                        </a:lnTo>
                        <a:lnTo>
                          <a:pt x="33" y="78"/>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8" name="Freeform 240"/>
                  <p:cNvSpPr>
                    <a:spLocks/>
                  </p:cNvSpPr>
                  <p:nvPr/>
                </p:nvSpPr>
                <p:spPr bwMode="auto">
                  <a:xfrm>
                    <a:off x="5386" y="1906"/>
                    <a:ext cx="26" cy="26"/>
                  </a:xfrm>
                  <a:custGeom>
                    <a:avLst/>
                    <a:gdLst>
                      <a:gd name="T0" fmla="*/ 0 w 77"/>
                      <a:gd name="T1" fmla="*/ 0 h 78"/>
                      <a:gd name="T2" fmla="*/ 0 w 77"/>
                      <a:gd name="T3" fmla="*/ 0 h 78"/>
                      <a:gd name="T4" fmla="*/ 0 w 77"/>
                      <a:gd name="T5" fmla="*/ 0 h 78"/>
                      <a:gd name="T6" fmla="*/ 0 w 77"/>
                      <a:gd name="T7" fmla="*/ 0 h 78"/>
                      <a:gd name="T8" fmla="*/ 0 w 77"/>
                      <a:gd name="T9" fmla="*/ 0 h 78"/>
                      <a:gd name="T10" fmla="*/ 0 w 77"/>
                      <a:gd name="T11" fmla="*/ 0 h 78"/>
                      <a:gd name="T12" fmla="*/ 0 w 77"/>
                      <a:gd name="T13" fmla="*/ 0 h 78"/>
                      <a:gd name="T14" fmla="*/ 0 w 77"/>
                      <a:gd name="T15" fmla="*/ 0 h 78"/>
                      <a:gd name="T16" fmla="*/ 0 w 77"/>
                      <a:gd name="T17" fmla="*/ 0 h 78"/>
                      <a:gd name="T18" fmla="*/ 0 w 77"/>
                      <a:gd name="T19" fmla="*/ 0 h 78"/>
                      <a:gd name="T20" fmla="*/ 0 w 77"/>
                      <a:gd name="T21" fmla="*/ 0 h 78"/>
                      <a:gd name="T22" fmla="*/ 0 w 77"/>
                      <a:gd name="T23" fmla="*/ 0 h 78"/>
                      <a:gd name="T24" fmla="*/ 0 w 77"/>
                      <a:gd name="T25" fmla="*/ 0 h 78"/>
                      <a:gd name="T26" fmla="*/ 0 w 77"/>
                      <a:gd name="T27" fmla="*/ 0 h 78"/>
                      <a:gd name="T28" fmla="*/ 0 w 77"/>
                      <a:gd name="T29" fmla="*/ 0 h 78"/>
                      <a:gd name="T30" fmla="*/ 0 w 77"/>
                      <a:gd name="T31" fmla="*/ 0 h 78"/>
                      <a:gd name="T32" fmla="*/ 0 w 77"/>
                      <a:gd name="T33" fmla="*/ 0 h 78"/>
                      <a:gd name="T34" fmla="*/ 0 w 77"/>
                      <a:gd name="T35" fmla="*/ 0 h 78"/>
                      <a:gd name="T36" fmla="*/ 0 w 77"/>
                      <a:gd name="T37" fmla="*/ 0 h 78"/>
                      <a:gd name="T38" fmla="*/ 0 w 77"/>
                      <a:gd name="T39" fmla="*/ 0 h 78"/>
                      <a:gd name="T40" fmla="*/ 0 w 77"/>
                      <a:gd name="T41" fmla="*/ 0 h 78"/>
                      <a:gd name="T42" fmla="*/ 0 w 77"/>
                      <a:gd name="T43" fmla="*/ 0 h 78"/>
                      <a:gd name="T44" fmla="*/ 0 w 77"/>
                      <a:gd name="T45" fmla="*/ 0 h 78"/>
                      <a:gd name="T46" fmla="*/ 0 w 77"/>
                      <a:gd name="T47" fmla="*/ 0 h 78"/>
                      <a:gd name="T48" fmla="*/ 0 w 77"/>
                      <a:gd name="T49" fmla="*/ 0 h 78"/>
                      <a:gd name="T50" fmla="*/ 0 w 77"/>
                      <a:gd name="T51" fmla="*/ 0 h 78"/>
                      <a:gd name="T52" fmla="*/ 0 w 77"/>
                      <a:gd name="T53" fmla="*/ 0 h 78"/>
                      <a:gd name="T54" fmla="*/ 0 w 77"/>
                      <a:gd name="T55" fmla="*/ 0 h 78"/>
                      <a:gd name="T56" fmla="*/ 0 w 77"/>
                      <a:gd name="T57" fmla="*/ 0 h 78"/>
                      <a:gd name="T58" fmla="*/ 0 w 77"/>
                      <a:gd name="T59" fmla="*/ 0 h 78"/>
                      <a:gd name="T60" fmla="*/ 0 w 77"/>
                      <a:gd name="T61" fmla="*/ 0 h 78"/>
                      <a:gd name="T62" fmla="*/ 0 w 77"/>
                      <a:gd name="T63" fmla="*/ 0 h 78"/>
                      <a:gd name="T64" fmla="*/ 0 w 77"/>
                      <a:gd name="T65" fmla="*/ 0 h 7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8"/>
                      <a:gd name="T101" fmla="*/ 77 w 77"/>
                      <a:gd name="T102" fmla="*/ 78 h 7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8">
                        <a:moveTo>
                          <a:pt x="38" y="78"/>
                        </a:moveTo>
                        <a:lnTo>
                          <a:pt x="41" y="77"/>
                        </a:lnTo>
                        <a:lnTo>
                          <a:pt x="45" y="76"/>
                        </a:lnTo>
                        <a:lnTo>
                          <a:pt x="50" y="76"/>
                        </a:lnTo>
                        <a:lnTo>
                          <a:pt x="53" y="73"/>
                        </a:lnTo>
                        <a:lnTo>
                          <a:pt x="56" y="72"/>
                        </a:lnTo>
                        <a:lnTo>
                          <a:pt x="59" y="70"/>
                        </a:lnTo>
                        <a:lnTo>
                          <a:pt x="63" y="67"/>
                        </a:lnTo>
                        <a:lnTo>
                          <a:pt x="65" y="65"/>
                        </a:lnTo>
                        <a:lnTo>
                          <a:pt x="67" y="63"/>
                        </a:lnTo>
                        <a:lnTo>
                          <a:pt x="70" y="60"/>
                        </a:lnTo>
                        <a:lnTo>
                          <a:pt x="71" y="56"/>
                        </a:lnTo>
                        <a:lnTo>
                          <a:pt x="73" y="53"/>
                        </a:lnTo>
                        <a:lnTo>
                          <a:pt x="74" y="50"/>
                        </a:lnTo>
                        <a:lnTo>
                          <a:pt x="76" y="46"/>
                        </a:lnTo>
                        <a:lnTo>
                          <a:pt x="76" y="42"/>
                        </a:lnTo>
                        <a:lnTo>
                          <a:pt x="77" y="39"/>
                        </a:lnTo>
                        <a:lnTo>
                          <a:pt x="76" y="35"/>
                        </a:lnTo>
                        <a:lnTo>
                          <a:pt x="76" y="29"/>
                        </a:lnTo>
                        <a:lnTo>
                          <a:pt x="74" y="27"/>
                        </a:lnTo>
                        <a:lnTo>
                          <a:pt x="73" y="24"/>
                        </a:lnTo>
                        <a:lnTo>
                          <a:pt x="71" y="20"/>
                        </a:lnTo>
                        <a:lnTo>
                          <a:pt x="70" y="16"/>
                        </a:lnTo>
                        <a:lnTo>
                          <a:pt x="67" y="14"/>
                        </a:lnTo>
                        <a:lnTo>
                          <a:pt x="65" y="12"/>
                        </a:lnTo>
                        <a:lnTo>
                          <a:pt x="63" y="8"/>
                        </a:lnTo>
                        <a:lnTo>
                          <a:pt x="59" y="6"/>
                        </a:lnTo>
                        <a:lnTo>
                          <a:pt x="56" y="5"/>
                        </a:lnTo>
                        <a:lnTo>
                          <a:pt x="53" y="2"/>
                        </a:lnTo>
                        <a:lnTo>
                          <a:pt x="50" y="1"/>
                        </a:lnTo>
                        <a:lnTo>
                          <a:pt x="45" y="0"/>
                        </a:lnTo>
                        <a:lnTo>
                          <a:pt x="41" y="0"/>
                        </a:lnTo>
                        <a:lnTo>
                          <a:pt x="38" y="0"/>
                        </a:lnTo>
                        <a:lnTo>
                          <a:pt x="34" y="0"/>
                        </a:lnTo>
                        <a:lnTo>
                          <a:pt x="31" y="0"/>
                        </a:lnTo>
                        <a:lnTo>
                          <a:pt x="26" y="1"/>
                        </a:lnTo>
                        <a:lnTo>
                          <a:pt x="22" y="2"/>
                        </a:lnTo>
                        <a:lnTo>
                          <a:pt x="20" y="5"/>
                        </a:lnTo>
                        <a:lnTo>
                          <a:pt x="16" y="6"/>
                        </a:lnTo>
                        <a:lnTo>
                          <a:pt x="13" y="8"/>
                        </a:lnTo>
                        <a:lnTo>
                          <a:pt x="10" y="12"/>
                        </a:lnTo>
                        <a:lnTo>
                          <a:pt x="7" y="14"/>
                        </a:lnTo>
                        <a:lnTo>
                          <a:pt x="4" y="16"/>
                        </a:lnTo>
                        <a:lnTo>
                          <a:pt x="3" y="20"/>
                        </a:lnTo>
                        <a:lnTo>
                          <a:pt x="2" y="24"/>
                        </a:lnTo>
                        <a:lnTo>
                          <a:pt x="1" y="27"/>
                        </a:lnTo>
                        <a:lnTo>
                          <a:pt x="0" y="29"/>
                        </a:lnTo>
                        <a:lnTo>
                          <a:pt x="0" y="35"/>
                        </a:lnTo>
                        <a:lnTo>
                          <a:pt x="0" y="39"/>
                        </a:lnTo>
                        <a:lnTo>
                          <a:pt x="0" y="42"/>
                        </a:lnTo>
                        <a:lnTo>
                          <a:pt x="0" y="46"/>
                        </a:lnTo>
                        <a:lnTo>
                          <a:pt x="1" y="50"/>
                        </a:lnTo>
                        <a:lnTo>
                          <a:pt x="2" y="53"/>
                        </a:lnTo>
                        <a:lnTo>
                          <a:pt x="3" y="56"/>
                        </a:lnTo>
                        <a:lnTo>
                          <a:pt x="4" y="60"/>
                        </a:lnTo>
                        <a:lnTo>
                          <a:pt x="7" y="63"/>
                        </a:lnTo>
                        <a:lnTo>
                          <a:pt x="10" y="65"/>
                        </a:lnTo>
                        <a:lnTo>
                          <a:pt x="13" y="67"/>
                        </a:lnTo>
                        <a:lnTo>
                          <a:pt x="16" y="70"/>
                        </a:lnTo>
                        <a:lnTo>
                          <a:pt x="20" y="72"/>
                        </a:lnTo>
                        <a:lnTo>
                          <a:pt x="22" y="73"/>
                        </a:lnTo>
                        <a:lnTo>
                          <a:pt x="26" y="76"/>
                        </a:lnTo>
                        <a:lnTo>
                          <a:pt x="31" y="76"/>
                        </a:lnTo>
                        <a:lnTo>
                          <a:pt x="34" y="77"/>
                        </a:lnTo>
                        <a:lnTo>
                          <a:pt x="38" y="78"/>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99" name="Freeform 241"/>
                  <p:cNvSpPr>
                    <a:spLocks/>
                  </p:cNvSpPr>
                  <p:nvPr/>
                </p:nvSpPr>
                <p:spPr bwMode="auto">
                  <a:xfrm>
                    <a:off x="5438" y="1906"/>
                    <a:ext cx="27" cy="25"/>
                  </a:xfrm>
                  <a:custGeom>
                    <a:avLst/>
                    <a:gdLst>
                      <a:gd name="T0" fmla="*/ 0 w 79"/>
                      <a:gd name="T1" fmla="*/ 0 h 76"/>
                      <a:gd name="T2" fmla="*/ 0 w 79"/>
                      <a:gd name="T3" fmla="*/ 0 h 76"/>
                      <a:gd name="T4" fmla="*/ 0 w 79"/>
                      <a:gd name="T5" fmla="*/ 0 h 76"/>
                      <a:gd name="T6" fmla="*/ 0 w 79"/>
                      <a:gd name="T7" fmla="*/ 0 h 76"/>
                      <a:gd name="T8" fmla="*/ 0 w 79"/>
                      <a:gd name="T9" fmla="*/ 0 h 76"/>
                      <a:gd name="T10" fmla="*/ 0 w 79"/>
                      <a:gd name="T11" fmla="*/ 0 h 76"/>
                      <a:gd name="T12" fmla="*/ 0 w 79"/>
                      <a:gd name="T13" fmla="*/ 0 h 76"/>
                      <a:gd name="T14" fmla="*/ 0 w 79"/>
                      <a:gd name="T15" fmla="*/ 0 h 76"/>
                      <a:gd name="T16" fmla="*/ 0 w 79"/>
                      <a:gd name="T17" fmla="*/ 0 h 76"/>
                      <a:gd name="T18" fmla="*/ 0 w 79"/>
                      <a:gd name="T19" fmla="*/ 0 h 76"/>
                      <a:gd name="T20" fmla="*/ 0 w 79"/>
                      <a:gd name="T21" fmla="*/ 0 h 76"/>
                      <a:gd name="T22" fmla="*/ 0 w 79"/>
                      <a:gd name="T23" fmla="*/ 0 h 76"/>
                      <a:gd name="T24" fmla="*/ 0 w 79"/>
                      <a:gd name="T25" fmla="*/ 0 h 76"/>
                      <a:gd name="T26" fmla="*/ 0 w 79"/>
                      <a:gd name="T27" fmla="*/ 0 h 76"/>
                      <a:gd name="T28" fmla="*/ 0 w 79"/>
                      <a:gd name="T29" fmla="*/ 0 h 76"/>
                      <a:gd name="T30" fmla="*/ 0 w 79"/>
                      <a:gd name="T31" fmla="*/ 0 h 76"/>
                      <a:gd name="T32" fmla="*/ 0 w 79"/>
                      <a:gd name="T33" fmla="*/ 0 h 76"/>
                      <a:gd name="T34" fmla="*/ 0 w 79"/>
                      <a:gd name="T35" fmla="*/ 0 h 76"/>
                      <a:gd name="T36" fmla="*/ 0 w 79"/>
                      <a:gd name="T37" fmla="*/ 0 h 76"/>
                      <a:gd name="T38" fmla="*/ 0 w 79"/>
                      <a:gd name="T39" fmla="*/ 0 h 76"/>
                      <a:gd name="T40" fmla="*/ 0 w 79"/>
                      <a:gd name="T41" fmla="*/ 0 h 76"/>
                      <a:gd name="T42" fmla="*/ 0 w 79"/>
                      <a:gd name="T43" fmla="*/ 0 h 76"/>
                      <a:gd name="T44" fmla="*/ 0 w 79"/>
                      <a:gd name="T45" fmla="*/ 0 h 76"/>
                      <a:gd name="T46" fmla="*/ 0 w 79"/>
                      <a:gd name="T47" fmla="*/ 0 h 76"/>
                      <a:gd name="T48" fmla="*/ 0 w 79"/>
                      <a:gd name="T49" fmla="*/ 0 h 76"/>
                      <a:gd name="T50" fmla="*/ 0 w 79"/>
                      <a:gd name="T51" fmla="*/ 0 h 76"/>
                      <a:gd name="T52" fmla="*/ 0 w 79"/>
                      <a:gd name="T53" fmla="*/ 0 h 76"/>
                      <a:gd name="T54" fmla="*/ 0 w 79"/>
                      <a:gd name="T55" fmla="*/ 0 h 76"/>
                      <a:gd name="T56" fmla="*/ 0 w 79"/>
                      <a:gd name="T57" fmla="*/ 0 h 76"/>
                      <a:gd name="T58" fmla="*/ 0 w 79"/>
                      <a:gd name="T59" fmla="*/ 0 h 76"/>
                      <a:gd name="T60" fmla="*/ 0 w 79"/>
                      <a:gd name="T61" fmla="*/ 0 h 76"/>
                      <a:gd name="T62" fmla="*/ 0 w 79"/>
                      <a:gd name="T63" fmla="*/ 0 h 76"/>
                      <a:gd name="T64" fmla="*/ 0 w 79"/>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6"/>
                      <a:gd name="T101" fmla="*/ 79 w 79"/>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6">
                        <a:moveTo>
                          <a:pt x="40" y="76"/>
                        </a:moveTo>
                        <a:lnTo>
                          <a:pt x="43" y="76"/>
                        </a:lnTo>
                        <a:lnTo>
                          <a:pt x="47" y="76"/>
                        </a:lnTo>
                        <a:lnTo>
                          <a:pt x="50" y="73"/>
                        </a:lnTo>
                        <a:lnTo>
                          <a:pt x="54" y="73"/>
                        </a:lnTo>
                        <a:lnTo>
                          <a:pt x="56" y="71"/>
                        </a:lnTo>
                        <a:lnTo>
                          <a:pt x="61" y="70"/>
                        </a:lnTo>
                        <a:lnTo>
                          <a:pt x="63" y="67"/>
                        </a:lnTo>
                        <a:lnTo>
                          <a:pt x="67" y="65"/>
                        </a:lnTo>
                        <a:lnTo>
                          <a:pt x="69" y="61"/>
                        </a:lnTo>
                        <a:lnTo>
                          <a:pt x="72" y="58"/>
                        </a:lnTo>
                        <a:lnTo>
                          <a:pt x="73" y="56"/>
                        </a:lnTo>
                        <a:lnTo>
                          <a:pt x="74" y="53"/>
                        </a:lnTo>
                        <a:lnTo>
                          <a:pt x="76" y="48"/>
                        </a:lnTo>
                        <a:lnTo>
                          <a:pt x="76" y="45"/>
                        </a:lnTo>
                        <a:lnTo>
                          <a:pt x="77" y="40"/>
                        </a:lnTo>
                        <a:lnTo>
                          <a:pt x="79" y="38"/>
                        </a:lnTo>
                        <a:lnTo>
                          <a:pt x="77" y="33"/>
                        </a:lnTo>
                        <a:lnTo>
                          <a:pt x="76" y="29"/>
                        </a:lnTo>
                        <a:lnTo>
                          <a:pt x="76" y="25"/>
                        </a:lnTo>
                        <a:lnTo>
                          <a:pt x="74" y="22"/>
                        </a:lnTo>
                        <a:lnTo>
                          <a:pt x="73" y="19"/>
                        </a:lnTo>
                        <a:lnTo>
                          <a:pt x="72" y="15"/>
                        </a:lnTo>
                        <a:lnTo>
                          <a:pt x="69" y="13"/>
                        </a:lnTo>
                        <a:lnTo>
                          <a:pt x="67" y="10"/>
                        </a:lnTo>
                        <a:lnTo>
                          <a:pt x="63" y="7"/>
                        </a:lnTo>
                        <a:lnTo>
                          <a:pt x="61" y="5"/>
                        </a:lnTo>
                        <a:lnTo>
                          <a:pt x="56" y="3"/>
                        </a:lnTo>
                        <a:lnTo>
                          <a:pt x="54" y="2"/>
                        </a:lnTo>
                        <a:lnTo>
                          <a:pt x="50" y="0"/>
                        </a:lnTo>
                        <a:lnTo>
                          <a:pt x="47" y="0"/>
                        </a:lnTo>
                        <a:lnTo>
                          <a:pt x="43" y="0"/>
                        </a:lnTo>
                        <a:lnTo>
                          <a:pt x="40" y="0"/>
                        </a:lnTo>
                        <a:lnTo>
                          <a:pt x="35" y="0"/>
                        </a:lnTo>
                        <a:lnTo>
                          <a:pt x="31" y="0"/>
                        </a:lnTo>
                        <a:lnTo>
                          <a:pt x="28" y="0"/>
                        </a:lnTo>
                        <a:lnTo>
                          <a:pt x="24" y="2"/>
                        </a:lnTo>
                        <a:lnTo>
                          <a:pt x="21" y="3"/>
                        </a:lnTo>
                        <a:lnTo>
                          <a:pt x="17" y="5"/>
                        </a:lnTo>
                        <a:lnTo>
                          <a:pt x="15" y="7"/>
                        </a:lnTo>
                        <a:lnTo>
                          <a:pt x="12" y="10"/>
                        </a:lnTo>
                        <a:lnTo>
                          <a:pt x="9" y="13"/>
                        </a:lnTo>
                        <a:lnTo>
                          <a:pt x="6" y="15"/>
                        </a:lnTo>
                        <a:lnTo>
                          <a:pt x="5" y="19"/>
                        </a:lnTo>
                        <a:lnTo>
                          <a:pt x="3" y="22"/>
                        </a:lnTo>
                        <a:lnTo>
                          <a:pt x="2" y="25"/>
                        </a:lnTo>
                        <a:lnTo>
                          <a:pt x="0" y="29"/>
                        </a:lnTo>
                        <a:lnTo>
                          <a:pt x="0" y="33"/>
                        </a:lnTo>
                        <a:lnTo>
                          <a:pt x="0" y="38"/>
                        </a:lnTo>
                        <a:lnTo>
                          <a:pt x="0" y="40"/>
                        </a:lnTo>
                        <a:lnTo>
                          <a:pt x="0" y="45"/>
                        </a:lnTo>
                        <a:lnTo>
                          <a:pt x="2" y="48"/>
                        </a:lnTo>
                        <a:lnTo>
                          <a:pt x="3" y="53"/>
                        </a:lnTo>
                        <a:lnTo>
                          <a:pt x="5" y="56"/>
                        </a:lnTo>
                        <a:lnTo>
                          <a:pt x="6" y="58"/>
                        </a:lnTo>
                        <a:lnTo>
                          <a:pt x="9" y="61"/>
                        </a:lnTo>
                        <a:lnTo>
                          <a:pt x="12" y="65"/>
                        </a:lnTo>
                        <a:lnTo>
                          <a:pt x="15" y="67"/>
                        </a:lnTo>
                        <a:lnTo>
                          <a:pt x="17" y="70"/>
                        </a:lnTo>
                        <a:lnTo>
                          <a:pt x="21" y="71"/>
                        </a:lnTo>
                        <a:lnTo>
                          <a:pt x="24" y="73"/>
                        </a:lnTo>
                        <a:lnTo>
                          <a:pt x="28"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0" name="Freeform 242"/>
                  <p:cNvSpPr>
                    <a:spLocks/>
                  </p:cNvSpPr>
                  <p:nvPr/>
                </p:nvSpPr>
                <p:spPr bwMode="auto">
                  <a:xfrm>
                    <a:off x="5487" y="1905"/>
                    <a:ext cx="27" cy="26"/>
                  </a:xfrm>
                  <a:custGeom>
                    <a:avLst/>
                    <a:gdLst>
                      <a:gd name="T0" fmla="*/ 0 w 79"/>
                      <a:gd name="T1" fmla="*/ 0 h 79"/>
                      <a:gd name="T2" fmla="*/ 0 w 79"/>
                      <a:gd name="T3" fmla="*/ 0 h 79"/>
                      <a:gd name="T4" fmla="*/ 0 w 79"/>
                      <a:gd name="T5" fmla="*/ 0 h 79"/>
                      <a:gd name="T6" fmla="*/ 0 w 79"/>
                      <a:gd name="T7" fmla="*/ 0 h 79"/>
                      <a:gd name="T8" fmla="*/ 0 w 79"/>
                      <a:gd name="T9" fmla="*/ 0 h 79"/>
                      <a:gd name="T10" fmla="*/ 0 w 79"/>
                      <a:gd name="T11" fmla="*/ 0 h 79"/>
                      <a:gd name="T12" fmla="*/ 0 w 79"/>
                      <a:gd name="T13" fmla="*/ 0 h 79"/>
                      <a:gd name="T14" fmla="*/ 0 w 79"/>
                      <a:gd name="T15" fmla="*/ 0 h 79"/>
                      <a:gd name="T16" fmla="*/ 0 w 79"/>
                      <a:gd name="T17" fmla="*/ 0 h 79"/>
                      <a:gd name="T18" fmla="*/ 0 w 79"/>
                      <a:gd name="T19" fmla="*/ 0 h 79"/>
                      <a:gd name="T20" fmla="*/ 0 w 79"/>
                      <a:gd name="T21" fmla="*/ 0 h 79"/>
                      <a:gd name="T22" fmla="*/ 0 w 79"/>
                      <a:gd name="T23" fmla="*/ 0 h 79"/>
                      <a:gd name="T24" fmla="*/ 0 w 79"/>
                      <a:gd name="T25" fmla="*/ 0 h 79"/>
                      <a:gd name="T26" fmla="*/ 0 w 79"/>
                      <a:gd name="T27" fmla="*/ 0 h 79"/>
                      <a:gd name="T28" fmla="*/ 0 w 79"/>
                      <a:gd name="T29" fmla="*/ 0 h 79"/>
                      <a:gd name="T30" fmla="*/ 0 w 79"/>
                      <a:gd name="T31" fmla="*/ 0 h 79"/>
                      <a:gd name="T32" fmla="*/ 0 w 79"/>
                      <a:gd name="T33" fmla="*/ 0 h 79"/>
                      <a:gd name="T34" fmla="*/ 0 w 79"/>
                      <a:gd name="T35" fmla="*/ 0 h 79"/>
                      <a:gd name="T36" fmla="*/ 0 w 79"/>
                      <a:gd name="T37" fmla="*/ 0 h 79"/>
                      <a:gd name="T38" fmla="*/ 0 w 79"/>
                      <a:gd name="T39" fmla="*/ 0 h 79"/>
                      <a:gd name="T40" fmla="*/ 0 w 79"/>
                      <a:gd name="T41" fmla="*/ 0 h 79"/>
                      <a:gd name="T42" fmla="*/ 0 w 79"/>
                      <a:gd name="T43" fmla="*/ 0 h 79"/>
                      <a:gd name="T44" fmla="*/ 0 w 79"/>
                      <a:gd name="T45" fmla="*/ 0 h 79"/>
                      <a:gd name="T46" fmla="*/ 0 w 79"/>
                      <a:gd name="T47" fmla="*/ 0 h 79"/>
                      <a:gd name="T48" fmla="*/ 0 w 79"/>
                      <a:gd name="T49" fmla="*/ 0 h 79"/>
                      <a:gd name="T50" fmla="*/ 0 w 79"/>
                      <a:gd name="T51" fmla="*/ 0 h 79"/>
                      <a:gd name="T52" fmla="*/ 0 w 79"/>
                      <a:gd name="T53" fmla="*/ 0 h 79"/>
                      <a:gd name="T54" fmla="*/ 0 w 79"/>
                      <a:gd name="T55" fmla="*/ 0 h 79"/>
                      <a:gd name="T56" fmla="*/ 0 w 79"/>
                      <a:gd name="T57" fmla="*/ 0 h 79"/>
                      <a:gd name="T58" fmla="*/ 0 w 79"/>
                      <a:gd name="T59" fmla="*/ 0 h 79"/>
                      <a:gd name="T60" fmla="*/ 0 w 79"/>
                      <a:gd name="T61" fmla="*/ 0 h 79"/>
                      <a:gd name="T62" fmla="*/ 0 w 79"/>
                      <a:gd name="T63" fmla="*/ 0 h 79"/>
                      <a:gd name="T64" fmla="*/ 0 w 79"/>
                      <a:gd name="T65" fmla="*/ 0 h 7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9"/>
                      <a:gd name="T100" fmla="*/ 0 h 79"/>
                      <a:gd name="T101" fmla="*/ 79 w 79"/>
                      <a:gd name="T102" fmla="*/ 79 h 79"/>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9" h="79">
                        <a:moveTo>
                          <a:pt x="40" y="79"/>
                        </a:moveTo>
                        <a:lnTo>
                          <a:pt x="43" y="79"/>
                        </a:lnTo>
                        <a:lnTo>
                          <a:pt x="47" y="78"/>
                        </a:lnTo>
                        <a:lnTo>
                          <a:pt x="52" y="76"/>
                        </a:lnTo>
                        <a:lnTo>
                          <a:pt x="54" y="75"/>
                        </a:lnTo>
                        <a:lnTo>
                          <a:pt x="57" y="73"/>
                        </a:lnTo>
                        <a:lnTo>
                          <a:pt x="61" y="70"/>
                        </a:lnTo>
                        <a:lnTo>
                          <a:pt x="63" y="68"/>
                        </a:lnTo>
                        <a:lnTo>
                          <a:pt x="67" y="67"/>
                        </a:lnTo>
                        <a:lnTo>
                          <a:pt x="69" y="63"/>
                        </a:lnTo>
                        <a:lnTo>
                          <a:pt x="72" y="61"/>
                        </a:lnTo>
                        <a:lnTo>
                          <a:pt x="73" y="59"/>
                        </a:lnTo>
                        <a:lnTo>
                          <a:pt x="75" y="55"/>
                        </a:lnTo>
                        <a:lnTo>
                          <a:pt x="76" y="50"/>
                        </a:lnTo>
                        <a:lnTo>
                          <a:pt x="78" y="48"/>
                        </a:lnTo>
                        <a:lnTo>
                          <a:pt x="78" y="43"/>
                        </a:lnTo>
                        <a:lnTo>
                          <a:pt x="79" y="41"/>
                        </a:lnTo>
                        <a:lnTo>
                          <a:pt x="78" y="35"/>
                        </a:lnTo>
                        <a:lnTo>
                          <a:pt x="78" y="31"/>
                        </a:lnTo>
                        <a:lnTo>
                          <a:pt x="76" y="28"/>
                        </a:lnTo>
                        <a:lnTo>
                          <a:pt x="75" y="25"/>
                        </a:lnTo>
                        <a:lnTo>
                          <a:pt x="73" y="21"/>
                        </a:lnTo>
                        <a:lnTo>
                          <a:pt x="72" y="18"/>
                        </a:lnTo>
                        <a:lnTo>
                          <a:pt x="69" y="15"/>
                        </a:lnTo>
                        <a:lnTo>
                          <a:pt x="67" y="12"/>
                        </a:lnTo>
                        <a:lnTo>
                          <a:pt x="63" y="10"/>
                        </a:lnTo>
                        <a:lnTo>
                          <a:pt x="61" y="8"/>
                        </a:lnTo>
                        <a:lnTo>
                          <a:pt x="57" y="5"/>
                        </a:lnTo>
                        <a:lnTo>
                          <a:pt x="54" y="4"/>
                        </a:lnTo>
                        <a:lnTo>
                          <a:pt x="52" y="3"/>
                        </a:lnTo>
                        <a:lnTo>
                          <a:pt x="47" y="2"/>
                        </a:lnTo>
                        <a:lnTo>
                          <a:pt x="43" y="0"/>
                        </a:lnTo>
                        <a:lnTo>
                          <a:pt x="40" y="0"/>
                        </a:lnTo>
                        <a:lnTo>
                          <a:pt x="36" y="0"/>
                        </a:lnTo>
                        <a:lnTo>
                          <a:pt x="31" y="2"/>
                        </a:lnTo>
                        <a:lnTo>
                          <a:pt x="28" y="3"/>
                        </a:lnTo>
                        <a:lnTo>
                          <a:pt x="24" y="4"/>
                        </a:lnTo>
                        <a:lnTo>
                          <a:pt x="21" y="5"/>
                        </a:lnTo>
                        <a:lnTo>
                          <a:pt x="18" y="8"/>
                        </a:lnTo>
                        <a:lnTo>
                          <a:pt x="15" y="10"/>
                        </a:lnTo>
                        <a:lnTo>
                          <a:pt x="12" y="12"/>
                        </a:lnTo>
                        <a:lnTo>
                          <a:pt x="10" y="15"/>
                        </a:lnTo>
                        <a:lnTo>
                          <a:pt x="8" y="18"/>
                        </a:lnTo>
                        <a:lnTo>
                          <a:pt x="5" y="21"/>
                        </a:lnTo>
                        <a:lnTo>
                          <a:pt x="4" y="25"/>
                        </a:lnTo>
                        <a:lnTo>
                          <a:pt x="3" y="28"/>
                        </a:lnTo>
                        <a:lnTo>
                          <a:pt x="2" y="31"/>
                        </a:lnTo>
                        <a:lnTo>
                          <a:pt x="0" y="35"/>
                        </a:lnTo>
                        <a:lnTo>
                          <a:pt x="0" y="41"/>
                        </a:lnTo>
                        <a:lnTo>
                          <a:pt x="0" y="43"/>
                        </a:lnTo>
                        <a:lnTo>
                          <a:pt x="2" y="48"/>
                        </a:lnTo>
                        <a:lnTo>
                          <a:pt x="3" y="50"/>
                        </a:lnTo>
                        <a:lnTo>
                          <a:pt x="4" y="55"/>
                        </a:lnTo>
                        <a:lnTo>
                          <a:pt x="5" y="59"/>
                        </a:lnTo>
                        <a:lnTo>
                          <a:pt x="8" y="61"/>
                        </a:lnTo>
                        <a:lnTo>
                          <a:pt x="10" y="63"/>
                        </a:lnTo>
                        <a:lnTo>
                          <a:pt x="12" y="67"/>
                        </a:lnTo>
                        <a:lnTo>
                          <a:pt x="15" y="68"/>
                        </a:lnTo>
                        <a:lnTo>
                          <a:pt x="18" y="70"/>
                        </a:lnTo>
                        <a:lnTo>
                          <a:pt x="21" y="73"/>
                        </a:lnTo>
                        <a:lnTo>
                          <a:pt x="24" y="75"/>
                        </a:lnTo>
                        <a:lnTo>
                          <a:pt x="28" y="76"/>
                        </a:lnTo>
                        <a:lnTo>
                          <a:pt x="31" y="78"/>
                        </a:lnTo>
                        <a:lnTo>
                          <a:pt x="36" y="79"/>
                        </a:lnTo>
                        <a:lnTo>
                          <a:pt x="40" y="7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1" name="Freeform 243"/>
                  <p:cNvSpPr>
                    <a:spLocks/>
                  </p:cNvSpPr>
                  <p:nvPr/>
                </p:nvSpPr>
                <p:spPr bwMode="auto">
                  <a:xfrm>
                    <a:off x="5536" y="1906"/>
                    <a:ext cx="26" cy="25"/>
                  </a:xfrm>
                  <a:custGeom>
                    <a:avLst/>
                    <a:gdLst>
                      <a:gd name="T0" fmla="*/ 0 w 78"/>
                      <a:gd name="T1" fmla="*/ 0 h 76"/>
                      <a:gd name="T2" fmla="*/ 0 w 78"/>
                      <a:gd name="T3" fmla="*/ 0 h 76"/>
                      <a:gd name="T4" fmla="*/ 0 w 78"/>
                      <a:gd name="T5" fmla="*/ 0 h 76"/>
                      <a:gd name="T6" fmla="*/ 0 w 78"/>
                      <a:gd name="T7" fmla="*/ 0 h 76"/>
                      <a:gd name="T8" fmla="*/ 0 w 78"/>
                      <a:gd name="T9" fmla="*/ 0 h 76"/>
                      <a:gd name="T10" fmla="*/ 0 w 78"/>
                      <a:gd name="T11" fmla="*/ 0 h 76"/>
                      <a:gd name="T12" fmla="*/ 0 w 78"/>
                      <a:gd name="T13" fmla="*/ 0 h 76"/>
                      <a:gd name="T14" fmla="*/ 0 w 78"/>
                      <a:gd name="T15" fmla="*/ 0 h 76"/>
                      <a:gd name="T16" fmla="*/ 0 w 78"/>
                      <a:gd name="T17" fmla="*/ 0 h 76"/>
                      <a:gd name="T18" fmla="*/ 0 w 78"/>
                      <a:gd name="T19" fmla="*/ 0 h 76"/>
                      <a:gd name="T20" fmla="*/ 0 w 78"/>
                      <a:gd name="T21" fmla="*/ 0 h 76"/>
                      <a:gd name="T22" fmla="*/ 0 w 78"/>
                      <a:gd name="T23" fmla="*/ 0 h 76"/>
                      <a:gd name="T24" fmla="*/ 0 w 78"/>
                      <a:gd name="T25" fmla="*/ 0 h 76"/>
                      <a:gd name="T26" fmla="*/ 0 w 78"/>
                      <a:gd name="T27" fmla="*/ 0 h 76"/>
                      <a:gd name="T28" fmla="*/ 0 w 78"/>
                      <a:gd name="T29" fmla="*/ 0 h 76"/>
                      <a:gd name="T30" fmla="*/ 0 w 78"/>
                      <a:gd name="T31" fmla="*/ 0 h 76"/>
                      <a:gd name="T32" fmla="*/ 0 w 78"/>
                      <a:gd name="T33" fmla="*/ 0 h 76"/>
                      <a:gd name="T34" fmla="*/ 0 w 78"/>
                      <a:gd name="T35" fmla="*/ 0 h 76"/>
                      <a:gd name="T36" fmla="*/ 0 w 78"/>
                      <a:gd name="T37" fmla="*/ 0 h 76"/>
                      <a:gd name="T38" fmla="*/ 0 w 78"/>
                      <a:gd name="T39" fmla="*/ 0 h 76"/>
                      <a:gd name="T40" fmla="*/ 0 w 78"/>
                      <a:gd name="T41" fmla="*/ 0 h 76"/>
                      <a:gd name="T42" fmla="*/ 0 w 78"/>
                      <a:gd name="T43" fmla="*/ 0 h 76"/>
                      <a:gd name="T44" fmla="*/ 0 w 78"/>
                      <a:gd name="T45" fmla="*/ 0 h 76"/>
                      <a:gd name="T46" fmla="*/ 0 w 78"/>
                      <a:gd name="T47" fmla="*/ 0 h 76"/>
                      <a:gd name="T48" fmla="*/ 0 w 78"/>
                      <a:gd name="T49" fmla="*/ 0 h 76"/>
                      <a:gd name="T50" fmla="*/ 0 w 78"/>
                      <a:gd name="T51" fmla="*/ 0 h 76"/>
                      <a:gd name="T52" fmla="*/ 0 w 78"/>
                      <a:gd name="T53" fmla="*/ 0 h 76"/>
                      <a:gd name="T54" fmla="*/ 0 w 78"/>
                      <a:gd name="T55" fmla="*/ 0 h 76"/>
                      <a:gd name="T56" fmla="*/ 0 w 78"/>
                      <a:gd name="T57" fmla="*/ 0 h 76"/>
                      <a:gd name="T58" fmla="*/ 0 w 78"/>
                      <a:gd name="T59" fmla="*/ 0 h 76"/>
                      <a:gd name="T60" fmla="*/ 0 w 78"/>
                      <a:gd name="T61" fmla="*/ 0 h 76"/>
                      <a:gd name="T62" fmla="*/ 0 w 78"/>
                      <a:gd name="T63" fmla="*/ 0 h 76"/>
                      <a:gd name="T64" fmla="*/ 0 w 78"/>
                      <a:gd name="T65" fmla="*/ 0 h 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6"/>
                      <a:gd name="T101" fmla="*/ 78 w 78"/>
                      <a:gd name="T102" fmla="*/ 76 h 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6">
                        <a:moveTo>
                          <a:pt x="40" y="76"/>
                        </a:moveTo>
                        <a:lnTo>
                          <a:pt x="43" y="76"/>
                        </a:lnTo>
                        <a:lnTo>
                          <a:pt x="47" y="76"/>
                        </a:lnTo>
                        <a:lnTo>
                          <a:pt x="50" y="73"/>
                        </a:lnTo>
                        <a:lnTo>
                          <a:pt x="54" y="73"/>
                        </a:lnTo>
                        <a:lnTo>
                          <a:pt x="57" y="71"/>
                        </a:lnTo>
                        <a:lnTo>
                          <a:pt x="60" y="70"/>
                        </a:lnTo>
                        <a:lnTo>
                          <a:pt x="63" y="67"/>
                        </a:lnTo>
                        <a:lnTo>
                          <a:pt x="67" y="65"/>
                        </a:lnTo>
                        <a:lnTo>
                          <a:pt x="68" y="63"/>
                        </a:lnTo>
                        <a:lnTo>
                          <a:pt x="70" y="59"/>
                        </a:lnTo>
                        <a:lnTo>
                          <a:pt x="73" y="56"/>
                        </a:lnTo>
                        <a:lnTo>
                          <a:pt x="75" y="53"/>
                        </a:lnTo>
                        <a:lnTo>
                          <a:pt x="75" y="50"/>
                        </a:lnTo>
                        <a:lnTo>
                          <a:pt x="78" y="45"/>
                        </a:lnTo>
                        <a:lnTo>
                          <a:pt x="78" y="41"/>
                        </a:lnTo>
                        <a:lnTo>
                          <a:pt x="78" y="38"/>
                        </a:lnTo>
                        <a:lnTo>
                          <a:pt x="78" y="34"/>
                        </a:lnTo>
                        <a:lnTo>
                          <a:pt x="78" y="29"/>
                        </a:lnTo>
                        <a:lnTo>
                          <a:pt x="75" y="26"/>
                        </a:lnTo>
                        <a:lnTo>
                          <a:pt x="75" y="22"/>
                        </a:lnTo>
                        <a:lnTo>
                          <a:pt x="73" y="19"/>
                        </a:lnTo>
                        <a:lnTo>
                          <a:pt x="70" y="15"/>
                        </a:lnTo>
                        <a:lnTo>
                          <a:pt x="68" y="13"/>
                        </a:lnTo>
                        <a:lnTo>
                          <a:pt x="67" y="10"/>
                        </a:lnTo>
                        <a:lnTo>
                          <a:pt x="63" y="7"/>
                        </a:lnTo>
                        <a:lnTo>
                          <a:pt x="60" y="6"/>
                        </a:lnTo>
                        <a:lnTo>
                          <a:pt x="57" y="3"/>
                        </a:lnTo>
                        <a:lnTo>
                          <a:pt x="54" y="2"/>
                        </a:lnTo>
                        <a:lnTo>
                          <a:pt x="50" y="1"/>
                        </a:lnTo>
                        <a:lnTo>
                          <a:pt x="47" y="0"/>
                        </a:lnTo>
                        <a:lnTo>
                          <a:pt x="43" y="0"/>
                        </a:lnTo>
                        <a:lnTo>
                          <a:pt x="40" y="0"/>
                        </a:lnTo>
                        <a:lnTo>
                          <a:pt x="35" y="0"/>
                        </a:lnTo>
                        <a:lnTo>
                          <a:pt x="31" y="0"/>
                        </a:lnTo>
                        <a:lnTo>
                          <a:pt x="27" y="1"/>
                        </a:lnTo>
                        <a:lnTo>
                          <a:pt x="24" y="2"/>
                        </a:lnTo>
                        <a:lnTo>
                          <a:pt x="21" y="3"/>
                        </a:lnTo>
                        <a:lnTo>
                          <a:pt x="17" y="6"/>
                        </a:lnTo>
                        <a:lnTo>
                          <a:pt x="13" y="7"/>
                        </a:lnTo>
                        <a:lnTo>
                          <a:pt x="11" y="10"/>
                        </a:lnTo>
                        <a:lnTo>
                          <a:pt x="9" y="13"/>
                        </a:lnTo>
                        <a:lnTo>
                          <a:pt x="6" y="15"/>
                        </a:lnTo>
                        <a:lnTo>
                          <a:pt x="4" y="19"/>
                        </a:lnTo>
                        <a:lnTo>
                          <a:pt x="4" y="22"/>
                        </a:lnTo>
                        <a:lnTo>
                          <a:pt x="2" y="26"/>
                        </a:lnTo>
                        <a:lnTo>
                          <a:pt x="2" y="29"/>
                        </a:lnTo>
                        <a:lnTo>
                          <a:pt x="0" y="34"/>
                        </a:lnTo>
                        <a:lnTo>
                          <a:pt x="0" y="38"/>
                        </a:lnTo>
                        <a:lnTo>
                          <a:pt x="0" y="41"/>
                        </a:lnTo>
                        <a:lnTo>
                          <a:pt x="2" y="45"/>
                        </a:lnTo>
                        <a:lnTo>
                          <a:pt x="2" y="50"/>
                        </a:lnTo>
                        <a:lnTo>
                          <a:pt x="4" y="53"/>
                        </a:lnTo>
                        <a:lnTo>
                          <a:pt x="4" y="56"/>
                        </a:lnTo>
                        <a:lnTo>
                          <a:pt x="6" y="59"/>
                        </a:lnTo>
                        <a:lnTo>
                          <a:pt x="9" y="63"/>
                        </a:lnTo>
                        <a:lnTo>
                          <a:pt x="11" y="65"/>
                        </a:lnTo>
                        <a:lnTo>
                          <a:pt x="13" y="67"/>
                        </a:lnTo>
                        <a:lnTo>
                          <a:pt x="17" y="70"/>
                        </a:lnTo>
                        <a:lnTo>
                          <a:pt x="21" y="71"/>
                        </a:lnTo>
                        <a:lnTo>
                          <a:pt x="24" y="73"/>
                        </a:lnTo>
                        <a:lnTo>
                          <a:pt x="27" y="73"/>
                        </a:lnTo>
                        <a:lnTo>
                          <a:pt x="31" y="76"/>
                        </a:lnTo>
                        <a:lnTo>
                          <a:pt x="35" y="76"/>
                        </a:lnTo>
                        <a:lnTo>
                          <a:pt x="40" y="7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2" name="Freeform 244"/>
                  <p:cNvSpPr>
                    <a:spLocks/>
                  </p:cNvSpPr>
                  <p:nvPr/>
                </p:nvSpPr>
                <p:spPr bwMode="auto">
                  <a:xfrm>
                    <a:off x="5588" y="1906"/>
                    <a:ext cx="26" cy="26"/>
                  </a:xfrm>
                  <a:custGeom>
                    <a:avLst/>
                    <a:gdLst>
                      <a:gd name="T0" fmla="*/ 0 w 78"/>
                      <a:gd name="T1" fmla="*/ 0 h 77"/>
                      <a:gd name="T2" fmla="*/ 0 w 78"/>
                      <a:gd name="T3" fmla="*/ 0 h 77"/>
                      <a:gd name="T4" fmla="*/ 0 w 78"/>
                      <a:gd name="T5" fmla="*/ 0 h 77"/>
                      <a:gd name="T6" fmla="*/ 0 w 78"/>
                      <a:gd name="T7" fmla="*/ 0 h 77"/>
                      <a:gd name="T8" fmla="*/ 0 w 78"/>
                      <a:gd name="T9" fmla="*/ 0 h 77"/>
                      <a:gd name="T10" fmla="*/ 0 w 78"/>
                      <a:gd name="T11" fmla="*/ 0 h 77"/>
                      <a:gd name="T12" fmla="*/ 0 w 78"/>
                      <a:gd name="T13" fmla="*/ 0 h 77"/>
                      <a:gd name="T14" fmla="*/ 0 w 78"/>
                      <a:gd name="T15" fmla="*/ 0 h 77"/>
                      <a:gd name="T16" fmla="*/ 0 w 78"/>
                      <a:gd name="T17" fmla="*/ 0 h 77"/>
                      <a:gd name="T18" fmla="*/ 0 w 78"/>
                      <a:gd name="T19" fmla="*/ 0 h 77"/>
                      <a:gd name="T20" fmla="*/ 0 w 78"/>
                      <a:gd name="T21" fmla="*/ 0 h 77"/>
                      <a:gd name="T22" fmla="*/ 0 w 78"/>
                      <a:gd name="T23" fmla="*/ 0 h 77"/>
                      <a:gd name="T24" fmla="*/ 0 w 78"/>
                      <a:gd name="T25" fmla="*/ 0 h 77"/>
                      <a:gd name="T26" fmla="*/ 0 w 78"/>
                      <a:gd name="T27" fmla="*/ 0 h 77"/>
                      <a:gd name="T28" fmla="*/ 0 w 78"/>
                      <a:gd name="T29" fmla="*/ 0 h 77"/>
                      <a:gd name="T30" fmla="*/ 0 w 78"/>
                      <a:gd name="T31" fmla="*/ 0 h 77"/>
                      <a:gd name="T32" fmla="*/ 0 w 78"/>
                      <a:gd name="T33" fmla="*/ 0 h 77"/>
                      <a:gd name="T34" fmla="*/ 0 w 78"/>
                      <a:gd name="T35" fmla="*/ 0 h 77"/>
                      <a:gd name="T36" fmla="*/ 0 w 78"/>
                      <a:gd name="T37" fmla="*/ 0 h 77"/>
                      <a:gd name="T38" fmla="*/ 0 w 78"/>
                      <a:gd name="T39" fmla="*/ 0 h 77"/>
                      <a:gd name="T40" fmla="*/ 0 w 78"/>
                      <a:gd name="T41" fmla="*/ 0 h 77"/>
                      <a:gd name="T42" fmla="*/ 0 w 78"/>
                      <a:gd name="T43" fmla="*/ 0 h 77"/>
                      <a:gd name="T44" fmla="*/ 0 w 78"/>
                      <a:gd name="T45" fmla="*/ 0 h 77"/>
                      <a:gd name="T46" fmla="*/ 0 w 78"/>
                      <a:gd name="T47" fmla="*/ 0 h 77"/>
                      <a:gd name="T48" fmla="*/ 0 w 78"/>
                      <a:gd name="T49" fmla="*/ 0 h 77"/>
                      <a:gd name="T50" fmla="*/ 0 w 78"/>
                      <a:gd name="T51" fmla="*/ 0 h 77"/>
                      <a:gd name="T52" fmla="*/ 0 w 78"/>
                      <a:gd name="T53" fmla="*/ 0 h 77"/>
                      <a:gd name="T54" fmla="*/ 0 w 78"/>
                      <a:gd name="T55" fmla="*/ 0 h 77"/>
                      <a:gd name="T56" fmla="*/ 0 w 78"/>
                      <a:gd name="T57" fmla="*/ 0 h 77"/>
                      <a:gd name="T58" fmla="*/ 0 w 78"/>
                      <a:gd name="T59" fmla="*/ 0 h 77"/>
                      <a:gd name="T60" fmla="*/ 0 w 78"/>
                      <a:gd name="T61" fmla="*/ 0 h 77"/>
                      <a:gd name="T62" fmla="*/ 0 w 78"/>
                      <a:gd name="T63" fmla="*/ 0 h 77"/>
                      <a:gd name="T64" fmla="*/ 0 w 78"/>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8"/>
                      <a:gd name="T100" fmla="*/ 0 h 77"/>
                      <a:gd name="T101" fmla="*/ 78 w 78"/>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8" h="77">
                        <a:moveTo>
                          <a:pt x="38" y="77"/>
                        </a:moveTo>
                        <a:lnTo>
                          <a:pt x="41" y="76"/>
                        </a:lnTo>
                        <a:lnTo>
                          <a:pt x="45" y="75"/>
                        </a:lnTo>
                        <a:lnTo>
                          <a:pt x="50" y="75"/>
                        </a:lnTo>
                        <a:lnTo>
                          <a:pt x="53" y="72"/>
                        </a:lnTo>
                        <a:lnTo>
                          <a:pt x="56" y="71"/>
                        </a:lnTo>
                        <a:lnTo>
                          <a:pt x="60" y="69"/>
                        </a:lnTo>
                        <a:lnTo>
                          <a:pt x="63" y="66"/>
                        </a:lnTo>
                        <a:lnTo>
                          <a:pt x="65" y="64"/>
                        </a:lnTo>
                        <a:lnTo>
                          <a:pt x="67" y="62"/>
                        </a:lnTo>
                        <a:lnTo>
                          <a:pt x="70" y="59"/>
                        </a:lnTo>
                        <a:lnTo>
                          <a:pt x="71" y="56"/>
                        </a:lnTo>
                        <a:lnTo>
                          <a:pt x="73" y="53"/>
                        </a:lnTo>
                        <a:lnTo>
                          <a:pt x="76" y="49"/>
                        </a:lnTo>
                        <a:lnTo>
                          <a:pt x="76" y="45"/>
                        </a:lnTo>
                        <a:lnTo>
                          <a:pt x="77" y="41"/>
                        </a:lnTo>
                        <a:lnTo>
                          <a:pt x="78" y="38"/>
                        </a:lnTo>
                        <a:lnTo>
                          <a:pt x="77" y="34"/>
                        </a:lnTo>
                        <a:lnTo>
                          <a:pt x="76" y="28"/>
                        </a:lnTo>
                        <a:lnTo>
                          <a:pt x="76" y="26"/>
                        </a:lnTo>
                        <a:lnTo>
                          <a:pt x="73" y="23"/>
                        </a:lnTo>
                        <a:lnTo>
                          <a:pt x="71" y="19"/>
                        </a:lnTo>
                        <a:lnTo>
                          <a:pt x="70" y="17"/>
                        </a:lnTo>
                        <a:lnTo>
                          <a:pt x="67" y="13"/>
                        </a:lnTo>
                        <a:lnTo>
                          <a:pt x="65" y="11"/>
                        </a:lnTo>
                        <a:lnTo>
                          <a:pt x="63" y="8"/>
                        </a:lnTo>
                        <a:lnTo>
                          <a:pt x="60" y="6"/>
                        </a:lnTo>
                        <a:lnTo>
                          <a:pt x="56" y="4"/>
                        </a:lnTo>
                        <a:lnTo>
                          <a:pt x="53" y="2"/>
                        </a:lnTo>
                        <a:lnTo>
                          <a:pt x="50" y="1"/>
                        </a:lnTo>
                        <a:lnTo>
                          <a:pt x="45" y="0"/>
                        </a:lnTo>
                        <a:lnTo>
                          <a:pt x="41" y="0"/>
                        </a:lnTo>
                        <a:lnTo>
                          <a:pt x="38" y="0"/>
                        </a:lnTo>
                        <a:lnTo>
                          <a:pt x="34" y="0"/>
                        </a:lnTo>
                        <a:lnTo>
                          <a:pt x="31" y="0"/>
                        </a:lnTo>
                        <a:lnTo>
                          <a:pt x="26" y="1"/>
                        </a:lnTo>
                        <a:lnTo>
                          <a:pt x="22" y="2"/>
                        </a:lnTo>
                        <a:lnTo>
                          <a:pt x="20" y="4"/>
                        </a:lnTo>
                        <a:lnTo>
                          <a:pt x="16" y="6"/>
                        </a:lnTo>
                        <a:lnTo>
                          <a:pt x="13" y="8"/>
                        </a:lnTo>
                        <a:lnTo>
                          <a:pt x="11" y="11"/>
                        </a:lnTo>
                        <a:lnTo>
                          <a:pt x="8" y="13"/>
                        </a:lnTo>
                        <a:lnTo>
                          <a:pt x="6" y="17"/>
                        </a:lnTo>
                        <a:lnTo>
                          <a:pt x="5" y="19"/>
                        </a:lnTo>
                        <a:lnTo>
                          <a:pt x="2" y="23"/>
                        </a:lnTo>
                        <a:lnTo>
                          <a:pt x="1" y="26"/>
                        </a:lnTo>
                        <a:lnTo>
                          <a:pt x="0" y="28"/>
                        </a:lnTo>
                        <a:lnTo>
                          <a:pt x="0" y="34"/>
                        </a:lnTo>
                        <a:lnTo>
                          <a:pt x="0" y="38"/>
                        </a:lnTo>
                        <a:lnTo>
                          <a:pt x="0" y="41"/>
                        </a:lnTo>
                        <a:lnTo>
                          <a:pt x="0" y="45"/>
                        </a:lnTo>
                        <a:lnTo>
                          <a:pt x="1" y="49"/>
                        </a:lnTo>
                        <a:lnTo>
                          <a:pt x="2" y="53"/>
                        </a:lnTo>
                        <a:lnTo>
                          <a:pt x="5" y="56"/>
                        </a:lnTo>
                        <a:lnTo>
                          <a:pt x="6" y="59"/>
                        </a:lnTo>
                        <a:lnTo>
                          <a:pt x="8" y="62"/>
                        </a:lnTo>
                        <a:lnTo>
                          <a:pt x="11" y="64"/>
                        </a:lnTo>
                        <a:lnTo>
                          <a:pt x="13" y="66"/>
                        </a:lnTo>
                        <a:lnTo>
                          <a:pt x="16" y="69"/>
                        </a:lnTo>
                        <a:lnTo>
                          <a:pt x="20" y="71"/>
                        </a:lnTo>
                        <a:lnTo>
                          <a:pt x="22" y="72"/>
                        </a:lnTo>
                        <a:lnTo>
                          <a:pt x="26" y="75"/>
                        </a:lnTo>
                        <a:lnTo>
                          <a:pt x="31" y="75"/>
                        </a:lnTo>
                        <a:lnTo>
                          <a:pt x="34" y="76"/>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3" name="Freeform 245"/>
                  <p:cNvSpPr>
                    <a:spLocks/>
                  </p:cNvSpPr>
                  <p:nvPr/>
                </p:nvSpPr>
                <p:spPr bwMode="auto">
                  <a:xfrm>
                    <a:off x="5639" y="1907"/>
                    <a:ext cx="25" cy="25"/>
                  </a:xfrm>
                  <a:custGeom>
                    <a:avLst/>
                    <a:gdLst>
                      <a:gd name="T0" fmla="*/ 0 w 77"/>
                      <a:gd name="T1" fmla="*/ 0 h 77"/>
                      <a:gd name="T2" fmla="*/ 0 w 77"/>
                      <a:gd name="T3" fmla="*/ 0 h 77"/>
                      <a:gd name="T4" fmla="*/ 0 w 77"/>
                      <a:gd name="T5" fmla="*/ 0 h 77"/>
                      <a:gd name="T6" fmla="*/ 0 w 77"/>
                      <a:gd name="T7" fmla="*/ 0 h 77"/>
                      <a:gd name="T8" fmla="*/ 0 w 77"/>
                      <a:gd name="T9" fmla="*/ 0 h 77"/>
                      <a:gd name="T10" fmla="*/ 0 w 77"/>
                      <a:gd name="T11" fmla="*/ 0 h 77"/>
                      <a:gd name="T12" fmla="*/ 0 w 77"/>
                      <a:gd name="T13" fmla="*/ 0 h 77"/>
                      <a:gd name="T14" fmla="*/ 0 w 77"/>
                      <a:gd name="T15" fmla="*/ 0 h 77"/>
                      <a:gd name="T16" fmla="*/ 0 w 77"/>
                      <a:gd name="T17" fmla="*/ 0 h 77"/>
                      <a:gd name="T18" fmla="*/ 0 w 77"/>
                      <a:gd name="T19" fmla="*/ 0 h 77"/>
                      <a:gd name="T20" fmla="*/ 0 w 77"/>
                      <a:gd name="T21" fmla="*/ 0 h 77"/>
                      <a:gd name="T22" fmla="*/ 0 w 77"/>
                      <a:gd name="T23" fmla="*/ 0 h 77"/>
                      <a:gd name="T24" fmla="*/ 0 w 77"/>
                      <a:gd name="T25" fmla="*/ 0 h 77"/>
                      <a:gd name="T26" fmla="*/ 0 w 77"/>
                      <a:gd name="T27" fmla="*/ 0 h 77"/>
                      <a:gd name="T28" fmla="*/ 0 w 77"/>
                      <a:gd name="T29" fmla="*/ 0 h 77"/>
                      <a:gd name="T30" fmla="*/ 0 w 77"/>
                      <a:gd name="T31" fmla="*/ 0 h 77"/>
                      <a:gd name="T32" fmla="*/ 0 w 77"/>
                      <a:gd name="T33" fmla="*/ 0 h 77"/>
                      <a:gd name="T34" fmla="*/ 0 w 77"/>
                      <a:gd name="T35" fmla="*/ 0 h 77"/>
                      <a:gd name="T36" fmla="*/ 0 w 77"/>
                      <a:gd name="T37" fmla="*/ 0 h 77"/>
                      <a:gd name="T38" fmla="*/ 0 w 77"/>
                      <a:gd name="T39" fmla="*/ 0 h 77"/>
                      <a:gd name="T40" fmla="*/ 0 w 77"/>
                      <a:gd name="T41" fmla="*/ 0 h 77"/>
                      <a:gd name="T42" fmla="*/ 0 w 77"/>
                      <a:gd name="T43" fmla="*/ 0 h 77"/>
                      <a:gd name="T44" fmla="*/ 0 w 77"/>
                      <a:gd name="T45" fmla="*/ 0 h 77"/>
                      <a:gd name="T46" fmla="*/ 0 w 77"/>
                      <a:gd name="T47" fmla="*/ 0 h 77"/>
                      <a:gd name="T48" fmla="*/ 0 w 77"/>
                      <a:gd name="T49" fmla="*/ 0 h 77"/>
                      <a:gd name="T50" fmla="*/ 0 w 77"/>
                      <a:gd name="T51" fmla="*/ 0 h 77"/>
                      <a:gd name="T52" fmla="*/ 0 w 77"/>
                      <a:gd name="T53" fmla="*/ 0 h 77"/>
                      <a:gd name="T54" fmla="*/ 0 w 77"/>
                      <a:gd name="T55" fmla="*/ 0 h 77"/>
                      <a:gd name="T56" fmla="*/ 0 w 77"/>
                      <a:gd name="T57" fmla="*/ 0 h 77"/>
                      <a:gd name="T58" fmla="*/ 0 w 77"/>
                      <a:gd name="T59" fmla="*/ 0 h 77"/>
                      <a:gd name="T60" fmla="*/ 0 w 77"/>
                      <a:gd name="T61" fmla="*/ 0 h 77"/>
                      <a:gd name="T62" fmla="*/ 0 w 77"/>
                      <a:gd name="T63" fmla="*/ 0 h 77"/>
                      <a:gd name="T64" fmla="*/ 0 w 77"/>
                      <a:gd name="T65" fmla="*/ 0 h 7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7"/>
                      <a:gd name="T100" fmla="*/ 0 h 77"/>
                      <a:gd name="T101" fmla="*/ 77 w 77"/>
                      <a:gd name="T102" fmla="*/ 77 h 7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7" h="77">
                        <a:moveTo>
                          <a:pt x="38" y="77"/>
                        </a:moveTo>
                        <a:lnTo>
                          <a:pt x="41" y="77"/>
                        </a:lnTo>
                        <a:lnTo>
                          <a:pt x="45" y="76"/>
                        </a:lnTo>
                        <a:lnTo>
                          <a:pt x="48" y="75"/>
                        </a:lnTo>
                        <a:lnTo>
                          <a:pt x="53" y="75"/>
                        </a:lnTo>
                        <a:lnTo>
                          <a:pt x="56" y="73"/>
                        </a:lnTo>
                        <a:lnTo>
                          <a:pt x="59" y="70"/>
                        </a:lnTo>
                        <a:lnTo>
                          <a:pt x="61" y="67"/>
                        </a:lnTo>
                        <a:lnTo>
                          <a:pt x="65" y="66"/>
                        </a:lnTo>
                        <a:lnTo>
                          <a:pt x="67" y="62"/>
                        </a:lnTo>
                        <a:lnTo>
                          <a:pt x="70" y="60"/>
                        </a:lnTo>
                        <a:lnTo>
                          <a:pt x="71" y="57"/>
                        </a:lnTo>
                        <a:lnTo>
                          <a:pt x="73" y="53"/>
                        </a:lnTo>
                        <a:lnTo>
                          <a:pt x="74" y="50"/>
                        </a:lnTo>
                        <a:lnTo>
                          <a:pt x="76" y="45"/>
                        </a:lnTo>
                        <a:lnTo>
                          <a:pt x="76" y="42"/>
                        </a:lnTo>
                        <a:lnTo>
                          <a:pt x="77" y="38"/>
                        </a:lnTo>
                        <a:lnTo>
                          <a:pt x="76" y="35"/>
                        </a:lnTo>
                        <a:lnTo>
                          <a:pt x="76" y="30"/>
                        </a:lnTo>
                        <a:lnTo>
                          <a:pt x="74" y="26"/>
                        </a:lnTo>
                        <a:lnTo>
                          <a:pt x="73" y="23"/>
                        </a:lnTo>
                        <a:lnTo>
                          <a:pt x="71" y="19"/>
                        </a:lnTo>
                        <a:lnTo>
                          <a:pt x="70" y="17"/>
                        </a:lnTo>
                        <a:lnTo>
                          <a:pt x="67" y="13"/>
                        </a:lnTo>
                        <a:lnTo>
                          <a:pt x="65" y="11"/>
                        </a:lnTo>
                        <a:lnTo>
                          <a:pt x="61" y="9"/>
                        </a:lnTo>
                        <a:lnTo>
                          <a:pt x="59" y="6"/>
                        </a:lnTo>
                        <a:lnTo>
                          <a:pt x="56" y="4"/>
                        </a:lnTo>
                        <a:lnTo>
                          <a:pt x="53" y="3"/>
                        </a:lnTo>
                        <a:lnTo>
                          <a:pt x="48" y="2"/>
                        </a:lnTo>
                        <a:lnTo>
                          <a:pt x="45" y="0"/>
                        </a:lnTo>
                        <a:lnTo>
                          <a:pt x="41" y="0"/>
                        </a:lnTo>
                        <a:lnTo>
                          <a:pt x="38" y="0"/>
                        </a:lnTo>
                        <a:lnTo>
                          <a:pt x="33" y="0"/>
                        </a:lnTo>
                        <a:lnTo>
                          <a:pt x="31" y="0"/>
                        </a:lnTo>
                        <a:lnTo>
                          <a:pt x="26" y="2"/>
                        </a:lnTo>
                        <a:lnTo>
                          <a:pt x="22" y="3"/>
                        </a:lnTo>
                        <a:lnTo>
                          <a:pt x="19" y="4"/>
                        </a:lnTo>
                        <a:lnTo>
                          <a:pt x="15" y="6"/>
                        </a:lnTo>
                        <a:lnTo>
                          <a:pt x="13" y="9"/>
                        </a:lnTo>
                        <a:lnTo>
                          <a:pt x="10" y="11"/>
                        </a:lnTo>
                        <a:lnTo>
                          <a:pt x="7" y="13"/>
                        </a:lnTo>
                        <a:lnTo>
                          <a:pt x="4" y="17"/>
                        </a:lnTo>
                        <a:lnTo>
                          <a:pt x="3" y="19"/>
                        </a:lnTo>
                        <a:lnTo>
                          <a:pt x="2" y="23"/>
                        </a:lnTo>
                        <a:lnTo>
                          <a:pt x="0" y="26"/>
                        </a:lnTo>
                        <a:lnTo>
                          <a:pt x="0" y="30"/>
                        </a:lnTo>
                        <a:lnTo>
                          <a:pt x="0" y="35"/>
                        </a:lnTo>
                        <a:lnTo>
                          <a:pt x="0" y="38"/>
                        </a:lnTo>
                        <a:lnTo>
                          <a:pt x="0" y="42"/>
                        </a:lnTo>
                        <a:lnTo>
                          <a:pt x="0" y="45"/>
                        </a:lnTo>
                        <a:lnTo>
                          <a:pt x="0" y="50"/>
                        </a:lnTo>
                        <a:lnTo>
                          <a:pt x="2" y="53"/>
                        </a:lnTo>
                        <a:lnTo>
                          <a:pt x="3" y="57"/>
                        </a:lnTo>
                        <a:lnTo>
                          <a:pt x="4" y="60"/>
                        </a:lnTo>
                        <a:lnTo>
                          <a:pt x="7" y="62"/>
                        </a:lnTo>
                        <a:lnTo>
                          <a:pt x="10" y="66"/>
                        </a:lnTo>
                        <a:lnTo>
                          <a:pt x="13" y="67"/>
                        </a:lnTo>
                        <a:lnTo>
                          <a:pt x="15" y="70"/>
                        </a:lnTo>
                        <a:lnTo>
                          <a:pt x="19" y="73"/>
                        </a:lnTo>
                        <a:lnTo>
                          <a:pt x="22" y="75"/>
                        </a:lnTo>
                        <a:lnTo>
                          <a:pt x="26" y="75"/>
                        </a:lnTo>
                        <a:lnTo>
                          <a:pt x="31" y="76"/>
                        </a:lnTo>
                        <a:lnTo>
                          <a:pt x="33" y="77"/>
                        </a:lnTo>
                        <a:lnTo>
                          <a:pt x="38" y="77"/>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4" name="Freeform 246"/>
                  <p:cNvSpPr>
                    <a:spLocks/>
                  </p:cNvSpPr>
                  <p:nvPr/>
                </p:nvSpPr>
                <p:spPr bwMode="auto">
                  <a:xfrm>
                    <a:off x="5491" y="1538"/>
                    <a:ext cx="19" cy="9"/>
                  </a:xfrm>
                  <a:custGeom>
                    <a:avLst/>
                    <a:gdLst>
                      <a:gd name="T0" fmla="*/ 0 w 56"/>
                      <a:gd name="T1" fmla="*/ 0 h 27"/>
                      <a:gd name="T2" fmla="*/ 0 w 56"/>
                      <a:gd name="T3" fmla="*/ 0 h 27"/>
                      <a:gd name="T4" fmla="*/ 0 w 56"/>
                      <a:gd name="T5" fmla="*/ 0 h 27"/>
                      <a:gd name="T6" fmla="*/ 0 w 56"/>
                      <a:gd name="T7" fmla="*/ 0 h 27"/>
                      <a:gd name="T8" fmla="*/ 0 w 56"/>
                      <a:gd name="T9" fmla="*/ 0 h 27"/>
                      <a:gd name="T10" fmla="*/ 0 w 56"/>
                      <a:gd name="T11" fmla="*/ 0 h 27"/>
                      <a:gd name="T12" fmla="*/ 0 w 56"/>
                      <a:gd name="T13" fmla="*/ 0 h 27"/>
                      <a:gd name="T14" fmla="*/ 0 w 56"/>
                      <a:gd name="T15" fmla="*/ 0 h 27"/>
                      <a:gd name="T16" fmla="*/ 0 w 56"/>
                      <a:gd name="T17" fmla="*/ 0 h 27"/>
                      <a:gd name="T18" fmla="*/ 0 w 56"/>
                      <a:gd name="T19" fmla="*/ 0 h 27"/>
                      <a:gd name="T20" fmla="*/ 0 w 56"/>
                      <a:gd name="T21" fmla="*/ 0 h 27"/>
                      <a:gd name="T22" fmla="*/ 0 w 56"/>
                      <a:gd name="T23" fmla="*/ 0 h 27"/>
                      <a:gd name="T24" fmla="*/ 0 w 56"/>
                      <a:gd name="T25" fmla="*/ 0 h 27"/>
                      <a:gd name="T26" fmla="*/ 0 w 56"/>
                      <a:gd name="T27" fmla="*/ 0 h 27"/>
                      <a:gd name="T28" fmla="*/ 0 w 56"/>
                      <a:gd name="T29" fmla="*/ 0 h 27"/>
                      <a:gd name="T30" fmla="*/ 0 w 56"/>
                      <a:gd name="T31" fmla="*/ 0 h 27"/>
                      <a:gd name="T32" fmla="*/ 0 w 56"/>
                      <a:gd name="T33" fmla="*/ 0 h 27"/>
                      <a:gd name="T34" fmla="*/ 0 w 56"/>
                      <a:gd name="T35" fmla="*/ 0 h 27"/>
                      <a:gd name="T36" fmla="*/ 0 w 56"/>
                      <a:gd name="T37" fmla="*/ 0 h 27"/>
                      <a:gd name="T38" fmla="*/ 0 w 56"/>
                      <a:gd name="T39" fmla="*/ 0 h 27"/>
                      <a:gd name="T40" fmla="*/ 0 w 56"/>
                      <a:gd name="T41" fmla="*/ 0 h 27"/>
                      <a:gd name="T42" fmla="*/ 0 w 56"/>
                      <a:gd name="T43" fmla="*/ 0 h 27"/>
                      <a:gd name="T44" fmla="*/ 0 w 56"/>
                      <a:gd name="T45" fmla="*/ 0 h 27"/>
                      <a:gd name="T46" fmla="*/ 0 w 56"/>
                      <a:gd name="T47" fmla="*/ 0 h 27"/>
                      <a:gd name="T48" fmla="*/ 0 w 56"/>
                      <a:gd name="T49" fmla="*/ 0 h 27"/>
                      <a:gd name="T50" fmla="*/ 0 w 56"/>
                      <a:gd name="T51" fmla="*/ 0 h 27"/>
                      <a:gd name="T52" fmla="*/ 0 w 56"/>
                      <a:gd name="T53" fmla="*/ 0 h 27"/>
                      <a:gd name="T54" fmla="*/ 0 w 56"/>
                      <a:gd name="T55" fmla="*/ 0 h 27"/>
                      <a:gd name="T56" fmla="*/ 0 w 56"/>
                      <a:gd name="T57" fmla="*/ 0 h 27"/>
                      <a:gd name="T58" fmla="*/ 0 w 56"/>
                      <a:gd name="T59" fmla="*/ 0 h 27"/>
                      <a:gd name="T60" fmla="*/ 0 w 56"/>
                      <a:gd name="T61" fmla="*/ 0 h 27"/>
                      <a:gd name="T62" fmla="*/ 0 w 56"/>
                      <a:gd name="T63" fmla="*/ 0 h 27"/>
                      <a:gd name="T64" fmla="*/ 0 w 56"/>
                      <a:gd name="T65" fmla="*/ 0 h 27"/>
                      <a:gd name="T66" fmla="*/ 0 w 56"/>
                      <a:gd name="T67" fmla="*/ 0 h 27"/>
                      <a:gd name="T68" fmla="*/ 0 w 56"/>
                      <a:gd name="T69" fmla="*/ 0 h 27"/>
                      <a:gd name="T70" fmla="*/ 0 w 56"/>
                      <a:gd name="T71" fmla="*/ 0 h 27"/>
                      <a:gd name="T72" fmla="*/ 0 w 56"/>
                      <a:gd name="T73" fmla="*/ 0 h 27"/>
                      <a:gd name="T74" fmla="*/ 0 w 56"/>
                      <a:gd name="T75" fmla="*/ 0 h 27"/>
                      <a:gd name="T76" fmla="*/ 0 w 56"/>
                      <a:gd name="T77" fmla="*/ 0 h 27"/>
                      <a:gd name="T78" fmla="*/ 0 w 56"/>
                      <a:gd name="T79" fmla="*/ 0 h 27"/>
                      <a:gd name="T80" fmla="*/ 0 w 56"/>
                      <a:gd name="T81" fmla="*/ 0 h 27"/>
                      <a:gd name="T82" fmla="*/ 0 w 56"/>
                      <a:gd name="T83" fmla="*/ 0 h 27"/>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56"/>
                      <a:gd name="T127" fmla="*/ 0 h 27"/>
                      <a:gd name="T128" fmla="*/ 56 w 56"/>
                      <a:gd name="T129" fmla="*/ 27 h 27"/>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56" h="27">
                        <a:moveTo>
                          <a:pt x="51" y="0"/>
                        </a:moveTo>
                        <a:lnTo>
                          <a:pt x="51" y="4"/>
                        </a:lnTo>
                        <a:lnTo>
                          <a:pt x="51" y="8"/>
                        </a:lnTo>
                        <a:lnTo>
                          <a:pt x="51" y="12"/>
                        </a:lnTo>
                        <a:lnTo>
                          <a:pt x="53" y="15"/>
                        </a:lnTo>
                        <a:lnTo>
                          <a:pt x="53" y="19"/>
                        </a:lnTo>
                        <a:lnTo>
                          <a:pt x="54" y="22"/>
                        </a:lnTo>
                        <a:lnTo>
                          <a:pt x="55" y="25"/>
                        </a:lnTo>
                        <a:lnTo>
                          <a:pt x="56" y="27"/>
                        </a:lnTo>
                        <a:lnTo>
                          <a:pt x="51" y="27"/>
                        </a:lnTo>
                        <a:lnTo>
                          <a:pt x="48" y="27"/>
                        </a:lnTo>
                        <a:lnTo>
                          <a:pt x="44" y="27"/>
                        </a:lnTo>
                        <a:lnTo>
                          <a:pt x="41" y="27"/>
                        </a:lnTo>
                        <a:lnTo>
                          <a:pt x="37" y="26"/>
                        </a:lnTo>
                        <a:lnTo>
                          <a:pt x="34" y="25"/>
                        </a:lnTo>
                        <a:lnTo>
                          <a:pt x="29" y="23"/>
                        </a:lnTo>
                        <a:lnTo>
                          <a:pt x="26" y="22"/>
                        </a:lnTo>
                        <a:lnTo>
                          <a:pt x="23" y="20"/>
                        </a:lnTo>
                        <a:lnTo>
                          <a:pt x="19" y="18"/>
                        </a:lnTo>
                        <a:lnTo>
                          <a:pt x="16" y="14"/>
                        </a:lnTo>
                        <a:lnTo>
                          <a:pt x="13" y="12"/>
                        </a:lnTo>
                        <a:lnTo>
                          <a:pt x="9" y="9"/>
                        </a:lnTo>
                        <a:lnTo>
                          <a:pt x="6" y="7"/>
                        </a:lnTo>
                        <a:lnTo>
                          <a:pt x="3" y="4"/>
                        </a:lnTo>
                        <a:lnTo>
                          <a:pt x="0" y="2"/>
                        </a:lnTo>
                        <a:lnTo>
                          <a:pt x="3" y="1"/>
                        </a:lnTo>
                        <a:lnTo>
                          <a:pt x="6" y="1"/>
                        </a:lnTo>
                        <a:lnTo>
                          <a:pt x="9" y="1"/>
                        </a:lnTo>
                        <a:lnTo>
                          <a:pt x="13" y="1"/>
                        </a:lnTo>
                        <a:lnTo>
                          <a:pt x="16" y="1"/>
                        </a:lnTo>
                        <a:lnTo>
                          <a:pt x="19" y="1"/>
                        </a:lnTo>
                        <a:lnTo>
                          <a:pt x="23" y="1"/>
                        </a:lnTo>
                        <a:lnTo>
                          <a:pt x="26" y="1"/>
                        </a:lnTo>
                        <a:lnTo>
                          <a:pt x="29" y="0"/>
                        </a:lnTo>
                        <a:lnTo>
                          <a:pt x="31" y="0"/>
                        </a:lnTo>
                        <a:lnTo>
                          <a:pt x="35" y="0"/>
                        </a:lnTo>
                        <a:lnTo>
                          <a:pt x="40" y="0"/>
                        </a:lnTo>
                        <a:lnTo>
                          <a:pt x="42" y="0"/>
                        </a:lnTo>
                        <a:lnTo>
                          <a:pt x="44" y="0"/>
                        </a:lnTo>
                        <a:lnTo>
                          <a:pt x="48" y="0"/>
                        </a:lnTo>
                        <a:lnTo>
                          <a:pt x="51"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5" name="Freeform 247"/>
                  <p:cNvSpPr>
                    <a:spLocks/>
                  </p:cNvSpPr>
                  <p:nvPr/>
                </p:nvSpPr>
                <p:spPr bwMode="auto">
                  <a:xfrm>
                    <a:off x="5354" y="1538"/>
                    <a:ext cx="326" cy="47"/>
                  </a:xfrm>
                  <a:custGeom>
                    <a:avLst/>
                    <a:gdLst>
                      <a:gd name="T0" fmla="*/ 0 w 976"/>
                      <a:gd name="T1" fmla="*/ 0 h 139"/>
                      <a:gd name="T2" fmla="*/ 0 w 976"/>
                      <a:gd name="T3" fmla="*/ 0 h 139"/>
                      <a:gd name="T4" fmla="*/ 0 w 976"/>
                      <a:gd name="T5" fmla="*/ 0 h 139"/>
                      <a:gd name="T6" fmla="*/ 0 w 976"/>
                      <a:gd name="T7" fmla="*/ 0 h 139"/>
                      <a:gd name="T8" fmla="*/ 0 w 976"/>
                      <a:gd name="T9" fmla="*/ 0 h 139"/>
                      <a:gd name="T10" fmla="*/ 0 w 976"/>
                      <a:gd name="T11" fmla="*/ 0 h 139"/>
                      <a:gd name="T12" fmla="*/ 0 w 976"/>
                      <a:gd name="T13" fmla="*/ 0 h 139"/>
                      <a:gd name="T14" fmla="*/ 0 w 976"/>
                      <a:gd name="T15" fmla="*/ 0 h 139"/>
                      <a:gd name="T16" fmla="*/ 0 w 976"/>
                      <a:gd name="T17" fmla="*/ 0 h 139"/>
                      <a:gd name="T18" fmla="*/ 0 w 976"/>
                      <a:gd name="T19" fmla="*/ 0 h 139"/>
                      <a:gd name="T20" fmla="*/ 0 w 976"/>
                      <a:gd name="T21" fmla="*/ 0 h 139"/>
                      <a:gd name="T22" fmla="*/ 0 w 976"/>
                      <a:gd name="T23" fmla="*/ 0 h 139"/>
                      <a:gd name="T24" fmla="*/ 0 w 976"/>
                      <a:gd name="T25" fmla="*/ 0 h 139"/>
                      <a:gd name="T26" fmla="*/ 0 w 976"/>
                      <a:gd name="T27" fmla="*/ 0 h 139"/>
                      <a:gd name="T28" fmla="*/ 0 w 976"/>
                      <a:gd name="T29" fmla="*/ 0 h 139"/>
                      <a:gd name="T30" fmla="*/ 0 w 976"/>
                      <a:gd name="T31" fmla="*/ 0 h 139"/>
                      <a:gd name="T32" fmla="*/ 0 w 976"/>
                      <a:gd name="T33" fmla="*/ 0 h 139"/>
                      <a:gd name="T34" fmla="*/ 0 w 976"/>
                      <a:gd name="T35" fmla="*/ 0 h 139"/>
                      <a:gd name="T36" fmla="*/ 0 w 976"/>
                      <a:gd name="T37" fmla="*/ 0 h 139"/>
                      <a:gd name="T38" fmla="*/ 0 w 976"/>
                      <a:gd name="T39" fmla="*/ 0 h 139"/>
                      <a:gd name="T40" fmla="*/ 0 w 976"/>
                      <a:gd name="T41" fmla="*/ 0 h 139"/>
                      <a:gd name="T42" fmla="*/ 0 w 976"/>
                      <a:gd name="T43" fmla="*/ 0 h 139"/>
                      <a:gd name="T44" fmla="*/ 0 w 976"/>
                      <a:gd name="T45" fmla="*/ 0 h 139"/>
                      <a:gd name="T46" fmla="*/ 0 w 976"/>
                      <a:gd name="T47" fmla="*/ 0 h 139"/>
                      <a:gd name="T48" fmla="*/ 0 w 976"/>
                      <a:gd name="T49" fmla="*/ 0 h 139"/>
                      <a:gd name="T50" fmla="*/ 0 w 976"/>
                      <a:gd name="T51" fmla="*/ 0 h 139"/>
                      <a:gd name="T52" fmla="*/ 0 w 976"/>
                      <a:gd name="T53" fmla="*/ 0 h 139"/>
                      <a:gd name="T54" fmla="*/ 0 w 976"/>
                      <a:gd name="T55" fmla="*/ 0 h 139"/>
                      <a:gd name="T56" fmla="*/ 0 w 976"/>
                      <a:gd name="T57" fmla="*/ 0 h 139"/>
                      <a:gd name="T58" fmla="*/ 0 w 976"/>
                      <a:gd name="T59" fmla="*/ 0 h 139"/>
                      <a:gd name="T60" fmla="*/ 0 w 976"/>
                      <a:gd name="T61" fmla="*/ 0 h 139"/>
                      <a:gd name="T62" fmla="*/ 0 w 976"/>
                      <a:gd name="T63" fmla="*/ 0 h 139"/>
                      <a:gd name="T64" fmla="*/ 0 w 976"/>
                      <a:gd name="T65" fmla="*/ 0 h 139"/>
                      <a:gd name="T66" fmla="*/ 0 w 976"/>
                      <a:gd name="T67" fmla="*/ 0 h 139"/>
                      <a:gd name="T68" fmla="*/ 0 w 976"/>
                      <a:gd name="T69" fmla="*/ 0 h 139"/>
                      <a:gd name="T70" fmla="*/ 0 w 976"/>
                      <a:gd name="T71" fmla="*/ 0 h 139"/>
                      <a:gd name="T72" fmla="*/ 0 w 976"/>
                      <a:gd name="T73" fmla="*/ 0 h 139"/>
                      <a:gd name="T74" fmla="*/ 0 w 976"/>
                      <a:gd name="T75" fmla="*/ 0 h 139"/>
                      <a:gd name="T76" fmla="*/ 0 w 976"/>
                      <a:gd name="T77" fmla="*/ 0 h 139"/>
                      <a:gd name="T78" fmla="*/ 0 w 976"/>
                      <a:gd name="T79" fmla="*/ 0 h 139"/>
                      <a:gd name="T80" fmla="*/ 0 w 976"/>
                      <a:gd name="T81" fmla="*/ 0 h 139"/>
                      <a:gd name="T82" fmla="*/ 0 w 976"/>
                      <a:gd name="T83" fmla="*/ 0 h 139"/>
                      <a:gd name="T84" fmla="*/ 0 w 976"/>
                      <a:gd name="T85" fmla="*/ 0 h 139"/>
                      <a:gd name="T86" fmla="*/ 0 w 976"/>
                      <a:gd name="T87" fmla="*/ 0 h 139"/>
                      <a:gd name="T88" fmla="*/ 0 w 976"/>
                      <a:gd name="T89" fmla="*/ 0 h 139"/>
                      <a:gd name="T90" fmla="*/ 0 w 976"/>
                      <a:gd name="T91" fmla="*/ 0 h 139"/>
                      <a:gd name="T92" fmla="*/ 0 w 976"/>
                      <a:gd name="T93" fmla="*/ 0 h 139"/>
                      <a:gd name="T94" fmla="*/ 0 w 976"/>
                      <a:gd name="T95" fmla="*/ 0 h 139"/>
                      <a:gd name="T96" fmla="*/ 0 w 976"/>
                      <a:gd name="T97" fmla="*/ 0 h 139"/>
                      <a:gd name="T98" fmla="*/ 0 w 976"/>
                      <a:gd name="T99" fmla="*/ 0 h 139"/>
                      <a:gd name="T100" fmla="*/ 0 w 976"/>
                      <a:gd name="T101" fmla="*/ 0 h 139"/>
                      <a:gd name="T102" fmla="*/ 0 w 976"/>
                      <a:gd name="T103" fmla="*/ 0 h 139"/>
                      <a:gd name="T104" fmla="*/ 0 w 976"/>
                      <a:gd name="T105" fmla="*/ 0 h 139"/>
                      <a:gd name="T106" fmla="*/ 0 w 976"/>
                      <a:gd name="T107" fmla="*/ 0 h 139"/>
                      <a:gd name="T108" fmla="*/ 0 w 976"/>
                      <a:gd name="T109" fmla="*/ 0 h 139"/>
                      <a:gd name="T110" fmla="*/ 0 w 976"/>
                      <a:gd name="T111" fmla="*/ 0 h 139"/>
                      <a:gd name="T112" fmla="*/ 0 w 976"/>
                      <a:gd name="T113" fmla="*/ 0 h 139"/>
                      <a:gd name="T114" fmla="*/ 0 w 976"/>
                      <a:gd name="T115" fmla="*/ 0 h 139"/>
                      <a:gd name="T116" fmla="*/ 0 w 976"/>
                      <a:gd name="T117" fmla="*/ 0 h 139"/>
                      <a:gd name="T118" fmla="*/ 0 w 976"/>
                      <a:gd name="T119" fmla="*/ 0 h 139"/>
                      <a:gd name="T120" fmla="*/ 0 w 976"/>
                      <a:gd name="T121" fmla="*/ 0 h 139"/>
                      <a:gd name="T122" fmla="*/ 0 w 976"/>
                      <a:gd name="T123" fmla="*/ 0 h 13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976"/>
                      <a:gd name="T187" fmla="*/ 0 h 139"/>
                      <a:gd name="T188" fmla="*/ 976 w 976"/>
                      <a:gd name="T189" fmla="*/ 139 h 13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976" h="139">
                        <a:moveTo>
                          <a:pt x="811" y="11"/>
                        </a:moveTo>
                        <a:lnTo>
                          <a:pt x="812" y="11"/>
                        </a:lnTo>
                        <a:lnTo>
                          <a:pt x="816" y="11"/>
                        </a:lnTo>
                        <a:lnTo>
                          <a:pt x="818" y="11"/>
                        </a:lnTo>
                        <a:lnTo>
                          <a:pt x="822" y="12"/>
                        </a:lnTo>
                        <a:lnTo>
                          <a:pt x="824" y="12"/>
                        </a:lnTo>
                        <a:lnTo>
                          <a:pt x="829" y="12"/>
                        </a:lnTo>
                        <a:lnTo>
                          <a:pt x="827" y="13"/>
                        </a:lnTo>
                        <a:lnTo>
                          <a:pt x="824" y="14"/>
                        </a:lnTo>
                        <a:lnTo>
                          <a:pt x="821" y="16"/>
                        </a:lnTo>
                        <a:lnTo>
                          <a:pt x="818" y="18"/>
                        </a:lnTo>
                        <a:lnTo>
                          <a:pt x="816" y="18"/>
                        </a:lnTo>
                        <a:lnTo>
                          <a:pt x="812" y="20"/>
                        </a:lnTo>
                        <a:lnTo>
                          <a:pt x="810" y="21"/>
                        </a:lnTo>
                        <a:lnTo>
                          <a:pt x="808" y="23"/>
                        </a:lnTo>
                        <a:lnTo>
                          <a:pt x="804" y="24"/>
                        </a:lnTo>
                        <a:lnTo>
                          <a:pt x="802" y="25"/>
                        </a:lnTo>
                        <a:lnTo>
                          <a:pt x="798" y="26"/>
                        </a:lnTo>
                        <a:lnTo>
                          <a:pt x="795" y="27"/>
                        </a:lnTo>
                        <a:lnTo>
                          <a:pt x="792" y="29"/>
                        </a:lnTo>
                        <a:lnTo>
                          <a:pt x="790" y="30"/>
                        </a:lnTo>
                        <a:lnTo>
                          <a:pt x="785" y="31"/>
                        </a:lnTo>
                        <a:lnTo>
                          <a:pt x="783" y="32"/>
                        </a:lnTo>
                        <a:lnTo>
                          <a:pt x="779" y="33"/>
                        </a:lnTo>
                        <a:lnTo>
                          <a:pt x="777" y="33"/>
                        </a:lnTo>
                        <a:lnTo>
                          <a:pt x="772" y="35"/>
                        </a:lnTo>
                        <a:lnTo>
                          <a:pt x="770" y="36"/>
                        </a:lnTo>
                        <a:lnTo>
                          <a:pt x="766" y="36"/>
                        </a:lnTo>
                        <a:lnTo>
                          <a:pt x="764" y="36"/>
                        </a:lnTo>
                        <a:lnTo>
                          <a:pt x="761" y="36"/>
                        </a:lnTo>
                        <a:lnTo>
                          <a:pt x="758" y="36"/>
                        </a:lnTo>
                        <a:lnTo>
                          <a:pt x="755" y="35"/>
                        </a:lnTo>
                        <a:lnTo>
                          <a:pt x="752" y="33"/>
                        </a:lnTo>
                        <a:lnTo>
                          <a:pt x="750" y="32"/>
                        </a:lnTo>
                        <a:lnTo>
                          <a:pt x="748" y="31"/>
                        </a:lnTo>
                        <a:lnTo>
                          <a:pt x="746" y="29"/>
                        </a:lnTo>
                        <a:lnTo>
                          <a:pt x="744" y="26"/>
                        </a:lnTo>
                        <a:lnTo>
                          <a:pt x="741" y="24"/>
                        </a:lnTo>
                        <a:lnTo>
                          <a:pt x="740" y="21"/>
                        </a:lnTo>
                        <a:lnTo>
                          <a:pt x="735" y="24"/>
                        </a:lnTo>
                        <a:lnTo>
                          <a:pt x="732" y="25"/>
                        </a:lnTo>
                        <a:lnTo>
                          <a:pt x="727" y="27"/>
                        </a:lnTo>
                        <a:lnTo>
                          <a:pt x="723" y="30"/>
                        </a:lnTo>
                        <a:lnTo>
                          <a:pt x="721" y="32"/>
                        </a:lnTo>
                        <a:lnTo>
                          <a:pt x="719" y="33"/>
                        </a:lnTo>
                        <a:lnTo>
                          <a:pt x="716" y="36"/>
                        </a:lnTo>
                        <a:lnTo>
                          <a:pt x="715" y="38"/>
                        </a:lnTo>
                        <a:lnTo>
                          <a:pt x="712" y="40"/>
                        </a:lnTo>
                        <a:lnTo>
                          <a:pt x="710" y="43"/>
                        </a:lnTo>
                        <a:lnTo>
                          <a:pt x="708" y="45"/>
                        </a:lnTo>
                        <a:lnTo>
                          <a:pt x="707" y="46"/>
                        </a:lnTo>
                        <a:lnTo>
                          <a:pt x="704" y="46"/>
                        </a:lnTo>
                        <a:lnTo>
                          <a:pt x="702" y="46"/>
                        </a:lnTo>
                        <a:lnTo>
                          <a:pt x="698" y="44"/>
                        </a:lnTo>
                        <a:lnTo>
                          <a:pt x="695" y="42"/>
                        </a:lnTo>
                        <a:lnTo>
                          <a:pt x="691" y="39"/>
                        </a:lnTo>
                        <a:lnTo>
                          <a:pt x="688" y="38"/>
                        </a:lnTo>
                        <a:lnTo>
                          <a:pt x="684" y="36"/>
                        </a:lnTo>
                        <a:lnTo>
                          <a:pt x="681" y="32"/>
                        </a:lnTo>
                        <a:lnTo>
                          <a:pt x="678" y="31"/>
                        </a:lnTo>
                        <a:lnTo>
                          <a:pt x="676" y="30"/>
                        </a:lnTo>
                        <a:lnTo>
                          <a:pt x="672" y="27"/>
                        </a:lnTo>
                        <a:lnTo>
                          <a:pt x="670" y="26"/>
                        </a:lnTo>
                        <a:lnTo>
                          <a:pt x="666" y="24"/>
                        </a:lnTo>
                        <a:lnTo>
                          <a:pt x="664" y="23"/>
                        </a:lnTo>
                        <a:lnTo>
                          <a:pt x="661" y="20"/>
                        </a:lnTo>
                        <a:lnTo>
                          <a:pt x="658" y="18"/>
                        </a:lnTo>
                        <a:lnTo>
                          <a:pt x="656" y="23"/>
                        </a:lnTo>
                        <a:lnTo>
                          <a:pt x="653" y="29"/>
                        </a:lnTo>
                        <a:lnTo>
                          <a:pt x="652" y="32"/>
                        </a:lnTo>
                        <a:lnTo>
                          <a:pt x="650" y="38"/>
                        </a:lnTo>
                        <a:lnTo>
                          <a:pt x="650" y="42"/>
                        </a:lnTo>
                        <a:lnTo>
                          <a:pt x="649" y="45"/>
                        </a:lnTo>
                        <a:lnTo>
                          <a:pt x="647" y="49"/>
                        </a:lnTo>
                        <a:lnTo>
                          <a:pt x="647" y="52"/>
                        </a:lnTo>
                        <a:lnTo>
                          <a:pt x="647" y="55"/>
                        </a:lnTo>
                        <a:lnTo>
                          <a:pt x="647" y="58"/>
                        </a:lnTo>
                        <a:lnTo>
                          <a:pt x="647" y="61"/>
                        </a:lnTo>
                        <a:lnTo>
                          <a:pt x="650" y="63"/>
                        </a:lnTo>
                        <a:lnTo>
                          <a:pt x="650" y="67"/>
                        </a:lnTo>
                        <a:lnTo>
                          <a:pt x="653" y="70"/>
                        </a:lnTo>
                        <a:lnTo>
                          <a:pt x="657" y="71"/>
                        </a:lnTo>
                        <a:lnTo>
                          <a:pt x="661" y="74"/>
                        </a:lnTo>
                        <a:lnTo>
                          <a:pt x="664" y="74"/>
                        </a:lnTo>
                        <a:lnTo>
                          <a:pt x="669" y="74"/>
                        </a:lnTo>
                        <a:lnTo>
                          <a:pt x="671" y="74"/>
                        </a:lnTo>
                        <a:lnTo>
                          <a:pt x="674" y="74"/>
                        </a:lnTo>
                        <a:lnTo>
                          <a:pt x="677" y="74"/>
                        </a:lnTo>
                        <a:lnTo>
                          <a:pt x="681" y="74"/>
                        </a:lnTo>
                        <a:lnTo>
                          <a:pt x="683" y="73"/>
                        </a:lnTo>
                        <a:lnTo>
                          <a:pt x="685" y="73"/>
                        </a:lnTo>
                        <a:lnTo>
                          <a:pt x="688" y="71"/>
                        </a:lnTo>
                        <a:lnTo>
                          <a:pt x="691" y="71"/>
                        </a:lnTo>
                        <a:lnTo>
                          <a:pt x="695" y="70"/>
                        </a:lnTo>
                        <a:lnTo>
                          <a:pt x="697" y="69"/>
                        </a:lnTo>
                        <a:lnTo>
                          <a:pt x="701" y="68"/>
                        </a:lnTo>
                        <a:lnTo>
                          <a:pt x="704" y="67"/>
                        </a:lnTo>
                        <a:lnTo>
                          <a:pt x="707" y="65"/>
                        </a:lnTo>
                        <a:lnTo>
                          <a:pt x="710" y="65"/>
                        </a:lnTo>
                        <a:lnTo>
                          <a:pt x="714" y="64"/>
                        </a:lnTo>
                        <a:lnTo>
                          <a:pt x="717" y="63"/>
                        </a:lnTo>
                        <a:lnTo>
                          <a:pt x="720" y="62"/>
                        </a:lnTo>
                        <a:lnTo>
                          <a:pt x="723" y="61"/>
                        </a:lnTo>
                        <a:lnTo>
                          <a:pt x="726" y="59"/>
                        </a:lnTo>
                        <a:lnTo>
                          <a:pt x="729" y="58"/>
                        </a:lnTo>
                        <a:lnTo>
                          <a:pt x="733" y="58"/>
                        </a:lnTo>
                        <a:lnTo>
                          <a:pt x="736" y="57"/>
                        </a:lnTo>
                        <a:lnTo>
                          <a:pt x="739" y="56"/>
                        </a:lnTo>
                        <a:lnTo>
                          <a:pt x="741" y="56"/>
                        </a:lnTo>
                        <a:lnTo>
                          <a:pt x="744" y="55"/>
                        </a:lnTo>
                        <a:lnTo>
                          <a:pt x="747" y="55"/>
                        </a:lnTo>
                        <a:lnTo>
                          <a:pt x="751" y="54"/>
                        </a:lnTo>
                        <a:lnTo>
                          <a:pt x="753" y="54"/>
                        </a:lnTo>
                        <a:lnTo>
                          <a:pt x="758" y="52"/>
                        </a:lnTo>
                        <a:lnTo>
                          <a:pt x="763" y="54"/>
                        </a:lnTo>
                        <a:lnTo>
                          <a:pt x="766" y="54"/>
                        </a:lnTo>
                        <a:lnTo>
                          <a:pt x="770" y="55"/>
                        </a:lnTo>
                        <a:lnTo>
                          <a:pt x="772" y="56"/>
                        </a:lnTo>
                        <a:lnTo>
                          <a:pt x="774" y="59"/>
                        </a:lnTo>
                        <a:lnTo>
                          <a:pt x="774" y="63"/>
                        </a:lnTo>
                        <a:lnTo>
                          <a:pt x="777" y="65"/>
                        </a:lnTo>
                        <a:lnTo>
                          <a:pt x="777" y="68"/>
                        </a:lnTo>
                        <a:lnTo>
                          <a:pt x="779" y="71"/>
                        </a:lnTo>
                        <a:lnTo>
                          <a:pt x="780" y="74"/>
                        </a:lnTo>
                        <a:lnTo>
                          <a:pt x="782" y="77"/>
                        </a:lnTo>
                        <a:lnTo>
                          <a:pt x="784" y="80"/>
                        </a:lnTo>
                        <a:lnTo>
                          <a:pt x="786" y="82"/>
                        </a:lnTo>
                        <a:lnTo>
                          <a:pt x="790" y="83"/>
                        </a:lnTo>
                        <a:lnTo>
                          <a:pt x="792" y="86"/>
                        </a:lnTo>
                        <a:lnTo>
                          <a:pt x="795" y="87"/>
                        </a:lnTo>
                        <a:lnTo>
                          <a:pt x="798" y="88"/>
                        </a:lnTo>
                        <a:lnTo>
                          <a:pt x="801" y="88"/>
                        </a:lnTo>
                        <a:lnTo>
                          <a:pt x="804" y="90"/>
                        </a:lnTo>
                        <a:lnTo>
                          <a:pt x="808" y="90"/>
                        </a:lnTo>
                        <a:lnTo>
                          <a:pt x="812" y="92"/>
                        </a:lnTo>
                        <a:lnTo>
                          <a:pt x="816" y="92"/>
                        </a:lnTo>
                        <a:lnTo>
                          <a:pt x="820" y="92"/>
                        </a:lnTo>
                        <a:lnTo>
                          <a:pt x="823" y="90"/>
                        </a:lnTo>
                        <a:lnTo>
                          <a:pt x="828" y="89"/>
                        </a:lnTo>
                        <a:lnTo>
                          <a:pt x="831" y="88"/>
                        </a:lnTo>
                        <a:lnTo>
                          <a:pt x="836" y="86"/>
                        </a:lnTo>
                        <a:lnTo>
                          <a:pt x="840" y="83"/>
                        </a:lnTo>
                        <a:lnTo>
                          <a:pt x="846" y="82"/>
                        </a:lnTo>
                        <a:lnTo>
                          <a:pt x="849" y="78"/>
                        </a:lnTo>
                        <a:lnTo>
                          <a:pt x="853" y="76"/>
                        </a:lnTo>
                        <a:lnTo>
                          <a:pt x="857" y="71"/>
                        </a:lnTo>
                        <a:lnTo>
                          <a:pt x="862" y="68"/>
                        </a:lnTo>
                        <a:lnTo>
                          <a:pt x="867" y="63"/>
                        </a:lnTo>
                        <a:lnTo>
                          <a:pt x="871" y="58"/>
                        </a:lnTo>
                        <a:lnTo>
                          <a:pt x="873" y="56"/>
                        </a:lnTo>
                        <a:lnTo>
                          <a:pt x="875" y="54"/>
                        </a:lnTo>
                        <a:lnTo>
                          <a:pt x="878" y="50"/>
                        </a:lnTo>
                        <a:lnTo>
                          <a:pt x="880" y="48"/>
                        </a:lnTo>
                        <a:lnTo>
                          <a:pt x="878" y="45"/>
                        </a:lnTo>
                        <a:lnTo>
                          <a:pt x="875" y="44"/>
                        </a:lnTo>
                        <a:lnTo>
                          <a:pt x="873" y="43"/>
                        </a:lnTo>
                        <a:lnTo>
                          <a:pt x="868" y="43"/>
                        </a:lnTo>
                        <a:lnTo>
                          <a:pt x="865" y="43"/>
                        </a:lnTo>
                        <a:lnTo>
                          <a:pt x="860" y="43"/>
                        </a:lnTo>
                        <a:lnTo>
                          <a:pt x="855" y="43"/>
                        </a:lnTo>
                        <a:lnTo>
                          <a:pt x="850" y="43"/>
                        </a:lnTo>
                        <a:lnTo>
                          <a:pt x="847" y="43"/>
                        </a:lnTo>
                        <a:lnTo>
                          <a:pt x="844" y="43"/>
                        </a:lnTo>
                        <a:lnTo>
                          <a:pt x="842" y="43"/>
                        </a:lnTo>
                        <a:lnTo>
                          <a:pt x="840" y="44"/>
                        </a:lnTo>
                        <a:lnTo>
                          <a:pt x="835" y="44"/>
                        </a:lnTo>
                        <a:lnTo>
                          <a:pt x="830" y="44"/>
                        </a:lnTo>
                        <a:lnTo>
                          <a:pt x="825" y="43"/>
                        </a:lnTo>
                        <a:lnTo>
                          <a:pt x="823" y="43"/>
                        </a:lnTo>
                        <a:lnTo>
                          <a:pt x="820" y="40"/>
                        </a:lnTo>
                        <a:lnTo>
                          <a:pt x="820" y="39"/>
                        </a:lnTo>
                        <a:lnTo>
                          <a:pt x="821" y="37"/>
                        </a:lnTo>
                        <a:lnTo>
                          <a:pt x="822" y="33"/>
                        </a:lnTo>
                        <a:lnTo>
                          <a:pt x="824" y="31"/>
                        </a:lnTo>
                        <a:lnTo>
                          <a:pt x="827" y="30"/>
                        </a:lnTo>
                        <a:lnTo>
                          <a:pt x="829" y="25"/>
                        </a:lnTo>
                        <a:lnTo>
                          <a:pt x="833" y="23"/>
                        </a:lnTo>
                        <a:lnTo>
                          <a:pt x="834" y="19"/>
                        </a:lnTo>
                        <a:lnTo>
                          <a:pt x="836" y="17"/>
                        </a:lnTo>
                        <a:lnTo>
                          <a:pt x="837" y="14"/>
                        </a:lnTo>
                        <a:lnTo>
                          <a:pt x="839" y="12"/>
                        </a:lnTo>
                        <a:lnTo>
                          <a:pt x="842" y="12"/>
                        </a:lnTo>
                        <a:lnTo>
                          <a:pt x="847" y="12"/>
                        </a:lnTo>
                        <a:lnTo>
                          <a:pt x="852" y="12"/>
                        </a:lnTo>
                        <a:lnTo>
                          <a:pt x="857" y="13"/>
                        </a:lnTo>
                        <a:lnTo>
                          <a:pt x="860" y="13"/>
                        </a:lnTo>
                        <a:lnTo>
                          <a:pt x="862" y="13"/>
                        </a:lnTo>
                        <a:lnTo>
                          <a:pt x="865" y="13"/>
                        </a:lnTo>
                        <a:lnTo>
                          <a:pt x="868" y="13"/>
                        </a:lnTo>
                        <a:lnTo>
                          <a:pt x="871" y="13"/>
                        </a:lnTo>
                        <a:lnTo>
                          <a:pt x="873" y="14"/>
                        </a:lnTo>
                        <a:lnTo>
                          <a:pt x="875" y="14"/>
                        </a:lnTo>
                        <a:lnTo>
                          <a:pt x="879" y="16"/>
                        </a:lnTo>
                        <a:lnTo>
                          <a:pt x="881" y="16"/>
                        </a:lnTo>
                        <a:lnTo>
                          <a:pt x="885" y="16"/>
                        </a:lnTo>
                        <a:lnTo>
                          <a:pt x="888" y="16"/>
                        </a:lnTo>
                        <a:lnTo>
                          <a:pt x="891" y="16"/>
                        </a:lnTo>
                        <a:lnTo>
                          <a:pt x="893" y="16"/>
                        </a:lnTo>
                        <a:lnTo>
                          <a:pt x="895" y="16"/>
                        </a:lnTo>
                        <a:lnTo>
                          <a:pt x="899" y="16"/>
                        </a:lnTo>
                        <a:lnTo>
                          <a:pt x="901" y="16"/>
                        </a:lnTo>
                        <a:lnTo>
                          <a:pt x="904" y="16"/>
                        </a:lnTo>
                        <a:lnTo>
                          <a:pt x="907" y="16"/>
                        </a:lnTo>
                        <a:lnTo>
                          <a:pt x="910" y="16"/>
                        </a:lnTo>
                        <a:lnTo>
                          <a:pt x="913" y="16"/>
                        </a:lnTo>
                        <a:lnTo>
                          <a:pt x="916" y="16"/>
                        </a:lnTo>
                        <a:lnTo>
                          <a:pt x="918" y="17"/>
                        </a:lnTo>
                        <a:lnTo>
                          <a:pt x="922" y="17"/>
                        </a:lnTo>
                        <a:lnTo>
                          <a:pt x="924" y="18"/>
                        </a:lnTo>
                        <a:lnTo>
                          <a:pt x="929" y="18"/>
                        </a:lnTo>
                        <a:lnTo>
                          <a:pt x="935" y="18"/>
                        </a:lnTo>
                        <a:lnTo>
                          <a:pt x="939" y="18"/>
                        </a:lnTo>
                        <a:lnTo>
                          <a:pt x="944" y="18"/>
                        </a:lnTo>
                        <a:lnTo>
                          <a:pt x="949" y="18"/>
                        </a:lnTo>
                        <a:lnTo>
                          <a:pt x="954" y="18"/>
                        </a:lnTo>
                        <a:lnTo>
                          <a:pt x="956" y="18"/>
                        </a:lnTo>
                        <a:lnTo>
                          <a:pt x="961" y="19"/>
                        </a:lnTo>
                        <a:lnTo>
                          <a:pt x="964" y="19"/>
                        </a:lnTo>
                        <a:lnTo>
                          <a:pt x="967" y="19"/>
                        </a:lnTo>
                        <a:lnTo>
                          <a:pt x="969" y="19"/>
                        </a:lnTo>
                        <a:lnTo>
                          <a:pt x="971" y="20"/>
                        </a:lnTo>
                        <a:lnTo>
                          <a:pt x="974" y="20"/>
                        </a:lnTo>
                        <a:lnTo>
                          <a:pt x="976" y="20"/>
                        </a:lnTo>
                        <a:lnTo>
                          <a:pt x="973" y="106"/>
                        </a:lnTo>
                        <a:lnTo>
                          <a:pt x="806" y="97"/>
                        </a:lnTo>
                        <a:lnTo>
                          <a:pt x="793" y="96"/>
                        </a:lnTo>
                        <a:lnTo>
                          <a:pt x="782" y="96"/>
                        </a:lnTo>
                        <a:lnTo>
                          <a:pt x="770" y="95"/>
                        </a:lnTo>
                        <a:lnTo>
                          <a:pt x="757" y="95"/>
                        </a:lnTo>
                        <a:lnTo>
                          <a:pt x="744" y="94"/>
                        </a:lnTo>
                        <a:lnTo>
                          <a:pt x="732" y="94"/>
                        </a:lnTo>
                        <a:lnTo>
                          <a:pt x="719" y="93"/>
                        </a:lnTo>
                        <a:lnTo>
                          <a:pt x="706" y="92"/>
                        </a:lnTo>
                        <a:lnTo>
                          <a:pt x="694" y="92"/>
                        </a:lnTo>
                        <a:lnTo>
                          <a:pt x="681" y="90"/>
                        </a:lnTo>
                        <a:lnTo>
                          <a:pt x="668" y="89"/>
                        </a:lnTo>
                        <a:lnTo>
                          <a:pt x="656" y="88"/>
                        </a:lnTo>
                        <a:lnTo>
                          <a:pt x="643" y="88"/>
                        </a:lnTo>
                        <a:lnTo>
                          <a:pt x="630" y="88"/>
                        </a:lnTo>
                        <a:lnTo>
                          <a:pt x="618" y="87"/>
                        </a:lnTo>
                        <a:lnTo>
                          <a:pt x="606" y="87"/>
                        </a:lnTo>
                        <a:lnTo>
                          <a:pt x="593" y="86"/>
                        </a:lnTo>
                        <a:lnTo>
                          <a:pt x="580" y="86"/>
                        </a:lnTo>
                        <a:lnTo>
                          <a:pt x="568" y="86"/>
                        </a:lnTo>
                        <a:lnTo>
                          <a:pt x="555" y="86"/>
                        </a:lnTo>
                        <a:lnTo>
                          <a:pt x="543" y="84"/>
                        </a:lnTo>
                        <a:lnTo>
                          <a:pt x="530" y="84"/>
                        </a:lnTo>
                        <a:lnTo>
                          <a:pt x="518" y="84"/>
                        </a:lnTo>
                        <a:lnTo>
                          <a:pt x="505" y="84"/>
                        </a:lnTo>
                        <a:lnTo>
                          <a:pt x="492" y="84"/>
                        </a:lnTo>
                        <a:lnTo>
                          <a:pt x="480" y="84"/>
                        </a:lnTo>
                        <a:lnTo>
                          <a:pt x="468" y="84"/>
                        </a:lnTo>
                        <a:lnTo>
                          <a:pt x="455" y="84"/>
                        </a:lnTo>
                        <a:lnTo>
                          <a:pt x="442" y="84"/>
                        </a:lnTo>
                        <a:lnTo>
                          <a:pt x="430" y="84"/>
                        </a:lnTo>
                        <a:lnTo>
                          <a:pt x="418" y="86"/>
                        </a:lnTo>
                        <a:lnTo>
                          <a:pt x="407" y="86"/>
                        </a:lnTo>
                        <a:lnTo>
                          <a:pt x="394" y="86"/>
                        </a:lnTo>
                        <a:lnTo>
                          <a:pt x="382" y="86"/>
                        </a:lnTo>
                        <a:lnTo>
                          <a:pt x="369" y="86"/>
                        </a:lnTo>
                        <a:lnTo>
                          <a:pt x="357" y="87"/>
                        </a:lnTo>
                        <a:lnTo>
                          <a:pt x="344" y="87"/>
                        </a:lnTo>
                        <a:lnTo>
                          <a:pt x="332" y="88"/>
                        </a:lnTo>
                        <a:lnTo>
                          <a:pt x="320" y="88"/>
                        </a:lnTo>
                        <a:lnTo>
                          <a:pt x="308" y="90"/>
                        </a:lnTo>
                        <a:lnTo>
                          <a:pt x="295" y="90"/>
                        </a:lnTo>
                        <a:lnTo>
                          <a:pt x="283" y="92"/>
                        </a:lnTo>
                        <a:lnTo>
                          <a:pt x="270" y="93"/>
                        </a:lnTo>
                        <a:lnTo>
                          <a:pt x="258" y="94"/>
                        </a:lnTo>
                        <a:lnTo>
                          <a:pt x="245" y="95"/>
                        </a:lnTo>
                        <a:lnTo>
                          <a:pt x="235" y="96"/>
                        </a:lnTo>
                        <a:lnTo>
                          <a:pt x="223" y="99"/>
                        </a:lnTo>
                        <a:lnTo>
                          <a:pt x="210" y="100"/>
                        </a:lnTo>
                        <a:lnTo>
                          <a:pt x="198" y="101"/>
                        </a:lnTo>
                        <a:lnTo>
                          <a:pt x="186" y="103"/>
                        </a:lnTo>
                        <a:lnTo>
                          <a:pt x="174" y="105"/>
                        </a:lnTo>
                        <a:lnTo>
                          <a:pt x="162" y="106"/>
                        </a:lnTo>
                        <a:lnTo>
                          <a:pt x="150" y="108"/>
                        </a:lnTo>
                        <a:lnTo>
                          <a:pt x="138" y="111"/>
                        </a:lnTo>
                        <a:lnTo>
                          <a:pt x="127" y="113"/>
                        </a:lnTo>
                        <a:lnTo>
                          <a:pt x="116" y="115"/>
                        </a:lnTo>
                        <a:lnTo>
                          <a:pt x="103" y="118"/>
                        </a:lnTo>
                        <a:lnTo>
                          <a:pt x="92" y="120"/>
                        </a:lnTo>
                        <a:lnTo>
                          <a:pt x="80" y="124"/>
                        </a:lnTo>
                        <a:lnTo>
                          <a:pt x="70" y="126"/>
                        </a:lnTo>
                        <a:lnTo>
                          <a:pt x="58" y="130"/>
                        </a:lnTo>
                        <a:lnTo>
                          <a:pt x="46" y="132"/>
                        </a:lnTo>
                        <a:lnTo>
                          <a:pt x="35" y="134"/>
                        </a:lnTo>
                        <a:lnTo>
                          <a:pt x="23" y="139"/>
                        </a:lnTo>
                        <a:lnTo>
                          <a:pt x="0" y="56"/>
                        </a:lnTo>
                        <a:lnTo>
                          <a:pt x="4" y="54"/>
                        </a:lnTo>
                        <a:lnTo>
                          <a:pt x="10" y="52"/>
                        </a:lnTo>
                        <a:lnTo>
                          <a:pt x="13" y="51"/>
                        </a:lnTo>
                        <a:lnTo>
                          <a:pt x="15" y="50"/>
                        </a:lnTo>
                        <a:lnTo>
                          <a:pt x="17" y="50"/>
                        </a:lnTo>
                        <a:lnTo>
                          <a:pt x="21" y="49"/>
                        </a:lnTo>
                        <a:lnTo>
                          <a:pt x="26" y="48"/>
                        </a:lnTo>
                        <a:lnTo>
                          <a:pt x="30" y="46"/>
                        </a:lnTo>
                        <a:lnTo>
                          <a:pt x="33" y="45"/>
                        </a:lnTo>
                        <a:lnTo>
                          <a:pt x="36" y="45"/>
                        </a:lnTo>
                        <a:lnTo>
                          <a:pt x="39" y="44"/>
                        </a:lnTo>
                        <a:lnTo>
                          <a:pt x="42" y="44"/>
                        </a:lnTo>
                        <a:lnTo>
                          <a:pt x="45" y="43"/>
                        </a:lnTo>
                        <a:lnTo>
                          <a:pt x="47" y="43"/>
                        </a:lnTo>
                        <a:lnTo>
                          <a:pt x="49" y="42"/>
                        </a:lnTo>
                        <a:lnTo>
                          <a:pt x="53" y="40"/>
                        </a:lnTo>
                        <a:lnTo>
                          <a:pt x="55" y="40"/>
                        </a:lnTo>
                        <a:lnTo>
                          <a:pt x="58" y="39"/>
                        </a:lnTo>
                        <a:lnTo>
                          <a:pt x="60" y="38"/>
                        </a:lnTo>
                        <a:lnTo>
                          <a:pt x="64" y="38"/>
                        </a:lnTo>
                        <a:lnTo>
                          <a:pt x="66" y="37"/>
                        </a:lnTo>
                        <a:lnTo>
                          <a:pt x="68" y="37"/>
                        </a:lnTo>
                        <a:lnTo>
                          <a:pt x="71" y="36"/>
                        </a:lnTo>
                        <a:lnTo>
                          <a:pt x="74" y="36"/>
                        </a:lnTo>
                        <a:lnTo>
                          <a:pt x="77" y="35"/>
                        </a:lnTo>
                        <a:lnTo>
                          <a:pt x="80" y="35"/>
                        </a:lnTo>
                        <a:lnTo>
                          <a:pt x="83" y="33"/>
                        </a:lnTo>
                        <a:lnTo>
                          <a:pt x="86" y="33"/>
                        </a:lnTo>
                        <a:lnTo>
                          <a:pt x="89" y="32"/>
                        </a:lnTo>
                        <a:lnTo>
                          <a:pt x="91" y="32"/>
                        </a:lnTo>
                        <a:lnTo>
                          <a:pt x="93" y="31"/>
                        </a:lnTo>
                        <a:lnTo>
                          <a:pt x="96" y="31"/>
                        </a:lnTo>
                        <a:lnTo>
                          <a:pt x="98" y="30"/>
                        </a:lnTo>
                        <a:lnTo>
                          <a:pt x="100" y="30"/>
                        </a:lnTo>
                        <a:lnTo>
                          <a:pt x="104" y="29"/>
                        </a:lnTo>
                        <a:lnTo>
                          <a:pt x="108" y="29"/>
                        </a:lnTo>
                        <a:lnTo>
                          <a:pt x="110" y="27"/>
                        </a:lnTo>
                        <a:lnTo>
                          <a:pt x="112" y="27"/>
                        </a:lnTo>
                        <a:lnTo>
                          <a:pt x="115" y="27"/>
                        </a:lnTo>
                        <a:lnTo>
                          <a:pt x="118" y="26"/>
                        </a:lnTo>
                        <a:lnTo>
                          <a:pt x="121" y="26"/>
                        </a:lnTo>
                        <a:lnTo>
                          <a:pt x="123" y="25"/>
                        </a:lnTo>
                        <a:lnTo>
                          <a:pt x="127" y="25"/>
                        </a:lnTo>
                        <a:lnTo>
                          <a:pt x="129" y="25"/>
                        </a:lnTo>
                        <a:lnTo>
                          <a:pt x="131" y="24"/>
                        </a:lnTo>
                        <a:lnTo>
                          <a:pt x="134" y="24"/>
                        </a:lnTo>
                        <a:lnTo>
                          <a:pt x="136" y="23"/>
                        </a:lnTo>
                        <a:lnTo>
                          <a:pt x="140" y="23"/>
                        </a:lnTo>
                        <a:lnTo>
                          <a:pt x="142" y="21"/>
                        </a:lnTo>
                        <a:lnTo>
                          <a:pt x="144" y="21"/>
                        </a:lnTo>
                        <a:lnTo>
                          <a:pt x="148" y="20"/>
                        </a:lnTo>
                        <a:lnTo>
                          <a:pt x="150" y="20"/>
                        </a:lnTo>
                        <a:lnTo>
                          <a:pt x="153" y="20"/>
                        </a:lnTo>
                        <a:lnTo>
                          <a:pt x="156" y="20"/>
                        </a:lnTo>
                        <a:lnTo>
                          <a:pt x="159" y="20"/>
                        </a:lnTo>
                        <a:lnTo>
                          <a:pt x="162" y="20"/>
                        </a:lnTo>
                        <a:lnTo>
                          <a:pt x="165" y="19"/>
                        </a:lnTo>
                        <a:lnTo>
                          <a:pt x="167" y="18"/>
                        </a:lnTo>
                        <a:lnTo>
                          <a:pt x="170" y="18"/>
                        </a:lnTo>
                        <a:lnTo>
                          <a:pt x="173" y="18"/>
                        </a:lnTo>
                        <a:lnTo>
                          <a:pt x="173" y="20"/>
                        </a:lnTo>
                        <a:lnTo>
                          <a:pt x="174" y="24"/>
                        </a:lnTo>
                        <a:lnTo>
                          <a:pt x="175" y="26"/>
                        </a:lnTo>
                        <a:lnTo>
                          <a:pt x="176" y="30"/>
                        </a:lnTo>
                        <a:lnTo>
                          <a:pt x="176" y="32"/>
                        </a:lnTo>
                        <a:lnTo>
                          <a:pt x="178" y="36"/>
                        </a:lnTo>
                        <a:lnTo>
                          <a:pt x="179" y="38"/>
                        </a:lnTo>
                        <a:lnTo>
                          <a:pt x="179" y="43"/>
                        </a:lnTo>
                        <a:lnTo>
                          <a:pt x="184" y="43"/>
                        </a:lnTo>
                        <a:lnTo>
                          <a:pt x="187" y="43"/>
                        </a:lnTo>
                        <a:lnTo>
                          <a:pt x="192" y="43"/>
                        </a:lnTo>
                        <a:lnTo>
                          <a:pt x="197" y="43"/>
                        </a:lnTo>
                        <a:lnTo>
                          <a:pt x="200" y="43"/>
                        </a:lnTo>
                        <a:lnTo>
                          <a:pt x="205" y="43"/>
                        </a:lnTo>
                        <a:lnTo>
                          <a:pt x="210" y="43"/>
                        </a:lnTo>
                        <a:lnTo>
                          <a:pt x="214" y="43"/>
                        </a:lnTo>
                        <a:lnTo>
                          <a:pt x="214" y="39"/>
                        </a:lnTo>
                        <a:lnTo>
                          <a:pt x="217" y="36"/>
                        </a:lnTo>
                        <a:lnTo>
                          <a:pt x="219" y="33"/>
                        </a:lnTo>
                        <a:lnTo>
                          <a:pt x="220" y="32"/>
                        </a:lnTo>
                        <a:lnTo>
                          <a:pt x="224" y="27"/>
                        </a:lnTo>
                        <a:lnTo>
                          <a:pt x="227" y="25"/>
                        </a:lnTo>
                        <a:lnTo>
                          <a:pt x="230" y="24"/>
                        </a:lnTo>
                        <a:lnTo>
                          <a:pt x="233" y="23"/>
                        </a:lnTo>
                        <a:lnTo>
                          <a:pt x="237" y="23"/>
                        </a:lnTo>
                        <a:lnTo>
                          <a:pt x="241" y="23"/>
                        </a:lnTo>
                        <a:lnTo>
                          <a:pt x="243" y="23"/>
                        </a:lnTo>
                        <a:lnTo>
                          <a:pt x="245" y="25"/>
                        </a:lnTo>
                        <a:lnTo>
                          <a:pt x="248" y="26"/>
                        </a:lnTo>
                        <a:lnTo>
                          <a:pt x="250" y="30"/>
                        </a:lnTo>
                        <a:lnTo>
                          <a:pt x="252" y="32"/>
                        </a:lnTo>
                        <a:lnTo>
                          <a:pt x="256" y="36"/>
                        </a:lnTo>
                        <a:lnTo>
                          <a:pt x="258" y="38"/>
                        </a:lnTo>
                        <a:lnTo>
                          <a:pt x="262" y="43"/>
                        </a:lnTo>
                        <a:lnTo>
                          <a:pt x="264" y="46"/>
                        </a:lnTo>
                        <a:lnTo>
                          <a:pt x="267" y="50"/>
                        </a:lnTo>
                        <a:lnTo>
                          <a:pt x="269" y="54"/>
                        </a:lnTo>
                        <a:lnTo>
                          <a:pt x="273" y="58"/>
                        </a:lnTo>
                        <a:lnTo>
                          <a:pt x="275" y="62"/>
                        </a:lnTo>
                        <a:lnTo>
                          <a:pt x="277" y="65"/>
                        </a:lnTo>
                        <a:lnTo>
                          <a:pt x="281" y="69"/>
                        </a:lnTo>
                        <a:lnTo>
                          <a:pt x="284" y="73"/>
                        </a:lnTo>
                        <a:lnTo>
                          <a:pt x="287" y="75"/>
                        </a:lnTo>
                        <a:lnTo>
                          <a:pt x="290" y="78"/>
                        </a:lnTo>
                        <a:lnTo>
                          <a:pt x="293" y="81"/>
                        </a:lnTo>
                        <a:lnTo>
                          <a:pt x="297" y="82"/>
                        </a:lnTo>
                        <a:lnTo>
                          <a:pt x="301" y="83"/>
                        </a:lnTo>
                        <a:lnTo>
                          <a:pt x="305" y="83"/>
                        </a:lnTo>
                        <a:lnTo>
                          <a:pt x="308" y="83"/>
                        </a:lnTo>
                        <a:lnTo>
                          <a:pt x="314" y="83"/>
                        </a:lnTo>
                        <a:lnTo>
                          <a:pt x="315" y="81"/>
                        </a:lnTo>
                        <a:lnTo>
                          <a:pt x="316" y="77"/>
                        </a:lnTo>
                        <a:lnTo>
                          <a:pt x="319" y="75"/>
                        </a:lnTo>
                        <a:lnTo>
                          <a:pt x="320" y="73"/>
                        </a:lnTo>
                        <a:lnTo>
                          <a:pt x="321" y="70"/>
                        </a:lnTo>
                        <a:lnTo>
                          <a:pt x="321" y="67"/>
                        </a:lnTo>
                        <a:lnTo>
                          <a:pt x="322" y="64"/>
                        </a:lnTo>
                        <a:lnTo>
                          <a:pt x="324" y="62"/>
                        </a:lnTo>
                        <a:lnTo>
                          <a:pt x="324" y="59"/>
                        </a:lnTo>
                        <a:lnTo>
                          <a:pt x="324" y="57"/>
                        </a:lnTo>
                        <a:lnTo>
                          <a:pt x="324" y="54"/>
                        </a:lnTo>
                        <a:lnTo>
                          <a:pt x="324" y="51"/>
                        </a:lnTo>
                        <a:lnTo>
                          <a:pt x="324" y="46"/>
                        </a:lnTo>
                        <a:lnTo>
                          <a:pt x="324" y="42"/>
                        </a:lnTo>
                        <a:lnTo>
                          <a:pt x="321" y="36"/>
                        </a:lnTo>
                        <a:lnTo>
                          <a:pt x="320" y="31"/>
                        </a:lnTo>
                        <a:lnTo>
                          <a:pt x="318" y="26"/>
                        </a:lnTo>
                        <a:lnTo>
                          <a:pt x="315" y="21"/>
                        </a:lnTo>
                        <a:lnTo>
                          <a:pt x="311" y="18"/>
                        </a:lnTo>
                        <a:lnTo>
                          <a:pt x="308" y="12"/>
                        </a:lnTo>
                        <a:lnTo>
                          <a:pt x="303" y="8"/>
                        </a:lnTo>
                        <a:lnTo>
                          <a:pt x="300" y="5"/>
                        </a:lnTo>
                        <a:lnTo>
                          <a:pt x="303" y="5"/>
                        </a:lnTo>
                        <a:lnTo>
                          <a:pt x="307" y="4"/>
                        </a:lnTo>
                        <a:lnTo>
                          <a:pt x="309" y="2"/>
                        </a:lnTo>
                        <a:lnTo>
                          <a:pt x="314" y="2"/>
                        </a:lnTo>
                        <a:lnTo>
                          <a:pt x="316" y="2"/>
                        </a:lnTo>
                        <a:lnTo>
                          <a:pt x="320" y="2"/>
                        </a:lnTo>
                        <a:lnTo>
                          <a:pt x="324" y="2"/>
                        </a:lnTo>
                        <a:lnTo>
                          <a:pt x="327" y="2"/>
                        </a:lnTo>
                        <a:lnTo>
                          <a:pt x="331" y="2"/>
                        </a:lnTo>
                        <a:lnTo>
                          <a:pt x="334" y="2"/>
                        </a:lnTo>
                        <a:lnTo>
                          <a:pt x="337" y="1"/>
                        </a:lnTo>
                        <a:lnTo>
                          <a:pt x="341" y="1"/>
                        </a:lnTo>
                        <a:lnTo>
                          <a:pt x="344" y="1"/>
                        </a:lnTo>
                        <a:lnTo>
                          <a:pt x="347" y="1"/>
                        </a:lnTo>
                        <a:lnTo>
                          <a:pt x="351" y="1"/>
                        </a:lnTo>
                        <a:lnTo>
                          <a:pt x="354" y="1"/>
                        </a:lnTo>
                        <a:lnTo>
                          <a:pt x="353" y="4"/>
                        </a:lnTo>
                        <a:lnTo>
                          <a:pt x="352" y="6"/>
                        </a:lnTo>
                        <a:lnTo>
                          <a:pt x="350" y="10"/>
                        </a:lnTo>
                        <a:lnTo>
                          <a:pt x="348" y="13"/>
                        </a:lnTo>
                        <a:lnTo>
                          <a:pt x="353" y="16"/>
                        </a:lnTo>
                        <a:lnTo>
                          <a:pt x="357" y="18"/>
                        </a:lnTo>
                        <a:lnTo>
                          <a:pt x="360" y="19"/>
                        </a:lnTo>
                        <a:lnTo>
                          <a:pt x="364" y="21"/>
                        </a:lnTo>
                        <a:lnTo>
                          <a:pt x="366" y="23"/>
                        </a:lnTo>
                        <a:lnTo>
                          <a:pt x="370" y="26"/>
                        </a:lnTo>
                        <a:lnTo>
                          <a:pt x="373" y="27"/>
                        </a:lnTo>
                        <a:lnTo>
                          <a:pt x="378" y="31"/>
                        </a:lnTo>
                        <a:lnTo>
                          <a:pt x="379" y="33"/>
                        </a:lnTo>
                        <a:lnTo>
                          <a:pt x="382" y="37"/>
                        </a:lnTo>
                        <a:lnTo>
                          <a:pt x="384" y="39"/>
                        </a:lnTo>
                        <a:lnTo>
                          <a:pt x="386" y="43"/>
                        </a:lnTo>
                        <a:lnTo>
                          <a:pt x="391" y="48"/>
                        </a:lnTo>
                        <a:lnTo>
                          <a:pt x="396" y="52"/>
                        </a:lnTo>
                        <a:lnTo>
                          <a:pt x="401" y="56"/>
                        </a:lnTo>
                        <a:lnTo>
                          <a:pt x="407" y="58"/>
                        </a:lnTo>
                        <a:lnTo>
                          <a:pt x="409" y="59"/>
                        </a:lnTo>
                        <a:lnTo>
                          <a:pt x="411" y="61"/>
                        </a:lnTo>
                        <a:lnTo>
                          <a:pt x="415" y="62"/>
                        </a:lnTo>
                        <a:lnTo>
                          <a:pt x="417" y="63"/>
                        </a:lnTo>
                        <a:lnTo>
                          <a:pt x="420" y="63"/>
                        </a:lnTo>
                        <a:lnTo>
                          <a:pt x="422" y="64"/>
                        </a:lnTo>
                        <a:lnTo>
                          <a:pt x="424" y="64"/>
                        </a:lnTo>
                        <a:lnTo>
                          <a:pt x="428" y="64"/>
                        </a:lnTo>
                        <a:lnTo>
                          <a:pt x="430" y="64"/>
                        </a:lnTo>
                        <a:lnTo>
                          <a:pt x="434" y="64"/>
                        </a:lnTo>
                        <a:lnTo>
                          <a:pt x="436" y="64"/>
                        </a:lnTo>
                        <a:lnTo>
                          <a:pt x="440" y="65"/>
                        </a:lnTo>
                        <a:lnTo>
                          <a:pt x="442" y="64"/>
                        </a:lnTo>
                        <a:lnTo>
                          <a:pt x="445" y="64"/>
                        </a:lnTo>
                        <a:lnTo>
                          <a:pt x="448" y="63"/>
                        </a:lnTo>
                        <a:lnTo>
                          <a:pt x="451" y="63"/>
                        </a:lnTo>
                        <a:lnTo>
                          <a:pt x="453" y="62"/>
                        </a:lnTo>
                        <a:lnTo>
                          <a:pt x="455" y="62"/>
                        </a:lnTo>
                        <a:lnTo>
                          <a:pt x="458" y="61"/>
                        </a:lnTo>
                        <a:lnTo>
                          <a:pt x="461" y="61"/>
                        </a:lnTo>
                        <a:lnTo>
                          <a:pt x="466" y="57"/>
                        </a:lnTo>
                        <a:lnTo>
                          <a:pt x="471" y="55"/>
                        </a:lnTo>
                        <a:lnTo>
                          <a:pt x="475" y="52"/>
                        </a:lnTo>
                        <a:lnTo>
                          <a:pt x="480" y="49"/>
                        </a:lnTo>
                        <a:lnTo>
                          <a:pt x="485" y="45"/>
                        </a:lnTo>
                        <a:lnTo>
                          <a:pt x="488" y="42"/>
                        </a:lnTo>
                        <a:lnTo>
                          <a:pt x="493" y="38"/>
                        </a:lnTo>
                        <a:lnTo>
                          <a:pt x="497" y="35"/>
                        </a:lnTo>
                        <a:lnTo>
                          <a:pt x="499" y="30"/>
                        </a:lnTo>
                        <a:lnTo>
                          <a:pt x="503" y="25"/>
                        </a:lnTo>
                        <a:lnTo>
                          <a:pt x="505" y="21"/>
                        </a:lnTo>
                        <a:lnTo>
                          <a:pt x="507" y="18"/>
                        </a:lnTo>
                        <a:lnTo>
                          <a:pt x="509" y="12"/>
                        </a:lnTo>
                        <a:lnTo>
                          <a:pt x="510" y="7"/>
                        </a:lnTo>
                        <a:lnTo>
                          <a:pt x="511" y="4"/>
                        </a:lnTo>
                        <a:lnTo>
                          <a:pt x="511" y="0"/>
                        </a:lnTo>
                        <a:lnTo>
                          <a:pt x="515" y="0"/>
                        </a:lnTo>
                        <a:lnTo>
                          <a:pt x="518" y="0"/>
                        </a:lnTo>
                        <a:lnTo>
                          <a:pt x="523" y="0"/>
                        </a:lnTo>
                        <a:lnTo>
                          <a:pt x="528" y="0"/>
                        </a:lnTo>
                        <a:lnTo>
                          <a:pt x="531" y="0"/>
                        </a:lnTo>
                        <a:lnTo>
                          <a:pt x="535" y="0"/>
                        </a:lnTo>
                        <a:lnTo>
                          <a:pt x="538" y="0"/>
                        </a:lnTo>
                        <a:lnTo>
                          <a:pt x="544" y="0"/>
                        </a:lnTo>
                        <a:lnTo>
                          <a:pt x="538" y="2"/>
                        </a:lnTo>
                        <a:lnTo>
                          <a:pt x="536" y="5"/>
                        </a:lnTo>
                        <a:lnTo>
                          <a:pt x="534" y="7"/>
                        </a:lnTo>
                        <a:lnTo>
                          <a:pt x="531" y="10"/>
                        </a:lnTo>
                        <a:lnTo>
                          <a:pt x="526" y="16"/>
                        </a:lnTo>
                        <a:lnTo>
                          <a:pt x="522" y="20"/>
                        </a:lnTo>
                        <a:lnTo>
                          <a:pt x="518" y="24"/>
                        </a:lnTo>
                        <a:lnTo>
                          <a:pt x="517" y="29"/>
                        </a:lnTo>
                        <a:lnTo>
                          <a:pt x="516" y="33"/>
                        </a:lnTo>
                        <a:lnTo>
                          <a:pt x="516" y="38"/>
                        </a:lnTo>
                        <a:lnTo>
                          <a:pt x="516" y="40"/>
                        </a:lnTo>
                        <a:lnTo>
                          <a:pt x="516" y="45"/>
                        </a:lnTo>
                        <a:lnTo>
                          <a:pt x="518" y="48"/>
                        </a:lnTo>
                        <a:lnTo>
                          <a:pt x="521" y="51"/>
                        </a:lnTo>
                        <a:lnTo>
                          <a:pt x="523" y="54"/>
                        </a:lnTo>
                        <a:lnTo>
                          <a:pt x="525" y="57"/>
                        </a:lnTo>
                        <a:lnTo>
                          <a:pt x="529" y="59"/>
                        </a:lnTo>
                        <a:lnTo>
                          <a:pt x="534" y="62"/>
                        </a:lnTo>
                        <a:lnTo>
                          <a:pt x="536" y="63"/>
                        </a:lnTo>
                        <a:lnTo>
                          <a:pt x="541" y="65"/>
                        </a:lnTo>
                        <a:lnTo>
                          <a:pt x="545" y="67"/>
                        </a:lnTo>
                        <a:lnTo>
                          <a:pt x="549" y="68"/>
                        </a:lnTo>
                        <a:lnTo>
                          <a:pt x="554" y="69"/>
                        </a:lnTo>
                        <a:lnTo>
                          <a:pt x="558" y="70"/>
                        </a:lnTo>
                        <a:lnTo>
                          <a:pt x="564" y="70"/>
                        </a:lnTo>
                        <a:lnTo>
                          <a:pt x="569" y="71"/>
                        </a:lnTo>
                        <a:lnTo>
                          <a:pt x="573" y="71"/>
                        </a:lnTo>
                        <a:lnTo>
                          <a:pt x="577" y="71"/>
                        </a:lnTo>
                        <a:lnTo>
                          <a:pt x="582" y="71"/>
                        </a:lnTo>
                        <a:lnTo>
                          <a:pt x="586" y="71"/>
                        </a:lnTo>
                        <a:lnTo>
                          <a:pt x="589" y="70"/>
                        </a:lnTo>
                        <a:lnTo>
                          <a:pt x="593" y="70"/>
                        </a:lnTo>
                        <a:lnTo>
                          <a:pt x="595" y="69"/>
                        </a:lnTo>
                        <a:lnTo>
                          <a:pt x="599" y="68"/>
                        </a:lnTo>
                        <a:lnTo>
                          <a:pt x="598" y="64"/>
                        </a:lnTo>
                        <a:lnTo>
                          <a:pt x="596" y="61"/>
                        </a:lnTo>
                        <a:lnTo>
                          <a:pt x="596" y="58"/>
                        </a:lnTo>
                        <a:lnTo>
                          <a:pt x="596" y="56"/>
                        </a:lnTo>
                        <a:lnTo>
                          <a:pt x="595" y="52"/>
                        </a:lnTo>
                        <a:lnTo>
                          <a:pt x="595" y="50"/>
                        </a:lnTo>
                        <a:lnTo>
                          <a:pt x="594" y="48"/>
                        </a:lnTo>
                        <a:lnTo>
                          <a:pt x="594" y="45"/>
                        </a:lnTo>
                        <a:lnTo>
                          <a:pt x="593" y="40"/>
                        </a:lnTo>
                        <a:lnTo>
                          <a:pt x="592" y="37"/>
                        </a:lnTo>
                        <a:lnTo>
                          <a:pt x="591" y="33"/>
                        </a:lnTo>
                        <a:lnTo>
                          <a:pt x="591" y="31"/>
                        </a:lnTo>
                        <a:lnTo>
                          <a:pt x="589" y="27"/>
                        </a:lnTo>
                        <a:lnTo>
                          <a:pt x="588" y="26"/>
                        </a:lnTo>
                        <a:lnTo>
                          <a:pt x="587" y="24"/>
                        </a:lnTo>
                        <a:lnTo>
                          <a:pt x="586" y="23"/>
                        </a:lnTo>
                        <a:lnTo>
                          <a:pt x="583" y="20"/>
                        </a:lnTo>
                        <a:lnTo>
                          <a:pt x="582" y="19"/>
                        </a:lnTo>
                        <a:lnTo>
                          <a:pt x="577" y="18"/>
                        </a:lnTo>
                        <a:lnTo>
                          <a:pt x="575" y="17"/>
                        </a:lnTo>
                        <a:lnTo>
                          <a:pt x="572" y="16"/>
                        </a:lnTo>
                        <a:lnTo>
                          <a:pt x="569" y="14"/>
                        </a:lnTo>
                        <a:lnTo>
                          <a:pt x="564" y="12"/>
                        </a:lnTo>
                        <a:lnTo>
                          <a:pt x="562" y="8"/>
                        </a:lnTo>
                        <a:lnTo>
                          <a:pt x="558" y="6"/>
                        </a:lnTo>
                        <a:lnTo>
                          <a:pt x="556" y="5"/>
                        </a:lnTo>
                        <a:lnTo>
                          <a:pt x="554" y="2"/>
                        </a:lnTo>
                        <a:lnTo>
                          <a:pt x="551" y="0"/>
                        </a:lnTo>
                        <a:lnTo>
                          <a:pt x="556" y="0"/>
                        </a:lnTo>
                        <a:lnTo>
                          <a:pt x="560" y="0"/>
                        </a:lnTo>
                        <a:lnTo>
                          <a:pt x="564" y="0"/>
                        </a:lnTo>
                        <a:lnTo>
                          <a:pt x="568" y="0"/>
                        </a:lnTo>
                        <a:lnTo>
                          <a:pt x="572" y="0"/>
                        </a:lnTo>
                        <a:lnTo>
                          <a:pt x="576" y="0"/>
                        </a:lnTo>
                        <a:lnTo>
                          <a:pt x="580" y="0"/>
                        </a:lnTo>
                        <a:lnTo>
                          <a:pt x="585" y="0"/>
                        </a:lnTo>
                        <a:lnTo>
                          <a:pt x="588" y="0"/>
                        </a:lnTo>
                        <a:lnTo>
                          <a:pt x="592" y="0"/>
                        </a:lnTo>
                        <a:lnTo>
                          <a:pt x="596" y="0"/>
                        </a:lnTo>
                        <a:lnTo>
                          <a:pt x="600" y="0"/>
                        </a:lnTo>
                        <a:lnTo>
                          <a:pt x="605" y="0"/>
                        </a:lnTo>
                        <a:lnTo>
                          <a:pt x="608" y="0"/>
                        </a:lnTo>
                        <a:lnTo>
                          <a:pt x="612" y="0"/>
                        </a:lnTo>
                        <a:lnTo>
                          <a:pt x="617" y="1"/>
                        </a:lnTo>
                        <a:lnTo>
                          <a:pt x="620" y="1"/>
                        </a:lnTo>
                        <a:lnTo>
                          <a:pt x="625" y="1"/>
                        </a:lnTo>
                        <a:lnTo>
                          <a:pt x="628" y="1"/>
                        </a:lnTo>
                        <a:lnTo>
                          <a:pt x="632" y="2"/>
                        </a:lnTo>
                        <a:lnTo>
                          <a:pt x="637" y="2"/>
                        </a:lnTo>
                        <a:lnTo>
                          <a:pt x="640" y="2"/>
                        </a:lnTo>
                        <a:lnTo>
                          <a:pt x="645" y="2"/>
                        </a:lnTo>
                        <a:lnTo>
                          <a:pt x="650" y="2"/>
                        </a:lnTo>
                        <a:lnTo>
                          <a:pt x="652" y="2"/>
                        </a:lnTo>
                        <a:lnTo>
                          <a:pt x="657" y="2"/>
                        </a:lnTo>
                        <a:lnTo>
                          <a:pt x="661" y="2"/>
                        </a:lnTo>
                        <a:lnTo>
                          <a:pt x="665" y="2"/>
                        </a:lnTo>
                        <a:lnTo>
                          <a:pt x="669" y="2"/>
                        </a:lnTo>
                        <a:lnTo>
                          <a:pt x="672" y="4"/>
                        </a:lnTo>
                        <a:lnTo>
                          <a:pt x="678" y="4"/>
                        </a:lnTo>
                        <a:lnTo>
                          <a:pt x="682" y="5"/>
                        </a:lnTo>
                        <a:lnTo>
                          <a:pt x="685" y="5"/>
                        </a:lnTo>
                        <a:lnTo>
                          <a:pt x="689" y="5"/>
                        </a:lnTo>
                        <a:lnTo>
                          <a:pt x="694" y="5"/>
                        </a:lnTo>
                        <a:lnTo>
                          <a:pt x="697" y="5"/>
                        </a:lnTo>
                        <a:lnTo>
                          <a:pt x="701" y="5"/>
                        </a:lnTo>
                        <a:lnTo>
                          <a:pt x="706" y="5"/>
                        </a:lnTo>
                        <a:lnTo>
                          <a:pt x="709" y="5"/>
                        </a:lnTo>
                        <a:lnTo>
                          <a:pt x="714" y="5"/>
                        </a:lnTo>
                        <a:lnTo>
                          <a:pt x="717" y="5"/>
                        </a:lnTo>
                        <a:lnTo>
                          <a:pt x="721" y="5"/>
                        </a:lnTo>
                        <a:lnTo>
                          <a:pt x="726" y="6"/>
                        </a:lnTo>
                        <a:lnTo>
                          <a:pt x="731" y="6"/>
                        </a:lnTo>
                        <a:lnTo>
                          <a:pt x="734" y="6"/>
                        </a:lnTo>
                        <a:lnTo>
                          <a:pt x="738" y="6"/>
                        </a:lnTo>
                        <a:lnTo>
                          <a:pt x="741" y="7"/>
                        </a:lnTo>
                        <a:lnTo>
                          <a:pt x="746" y="7"/>
                        </a:lnTo>
                        <a:lnTo>
                          <a:pt x="751" y="7"/>
                        </a:lnTo>
                        <a:lnTo>
                          <a:pt x="754" y="7"/>
                        </a:lnTo>
                        <a:lnTo>
                          <a:pt x="759" y="7"/>
                        </a:lnTo>
                        <a:lnTo>
                          <a:pt x="763" y="7"/>
                        </a:lnTo>
                        <a:lnTo>
                          <a:pt x="766" y="7"/>
                        </a:lnTo>
                        <a:lnTo>
                          <a:pt x="770" y="8"/>
                        </a:lnTo>
                        <a:lnTo>
                          <a:pt x="774" y="8"/>
                        </a:lnTo>
                        <a:lnTo>
                          <a:pt x="779" y="10"/>
                        </a:lnTo>
                        <a:lnTo>
                          <a:pt x="783" y="10"/>
                        </a:lnTo>
                        <a:lnTo>
                          <a:pt x="786" y="10"/>
                        </a:lnTo>
                        <a:lnTo>
                          <a:pt x="791" y="10"/>
                        </a:lnTo>
                        <a:lnTo>
                          <a:pt x="795" y="10"/>
                        </a:lnTo>
                        <a:lnTo>
                          <a:pt x="799" y="10"/>
                        </a:lnTo>
                        <a:lnTo>
                          <a:pt x="803" y="10"/>
                        </a:lnTo>
                        <a:lnTo>
                          <a:pt x="808" y="11"/>
                        </a:lnTo>
                        <a:lnTo>
                          <a:pt x="811" y="1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6" name="Freeform 248"/>
                  <p:cNvSpPr>
                    <a:spLocks/>
                  </p:cNvSpPr>
                  <p:nvPr/>
                </p:nvSpPr>
                <p:spPr bwMode="auto">
                  <a:xfrm>
                    <a:off x="5620" y="1690"/>
                    <a:ext cx="4" cy="4"/>
                  </a:xfrm>
                  <a:custGeom>
                    <a:avLst/>
                    <a:gdLst>
                      <a:gd name="T0" fmla="*/ 0 w 13"/>
                      <a:gd name="T1" fmla="*/ 0 h 14"/>
                      <a:gd name="T2" fmla="*/ 0 w 13"/>
                      <a:gd name="T3" fmla="*/ 0 h 14"/>
                      <a:gd name="T4" fmla="*/ 0 w 13"/>
                      <a:gd name="T5" fmla="*/ 0 h 14"/>
                      <a:gd name="T6" fmla="*/ 0 w 13"/>
                      <a:gd name="T7" fmla="*/ 0 h 14"/>
                      <a:gd name="T8" fmla="*/ 0 w 13"/>
                      <a:gd name="T9" fmla="*/ 0 h 14"/>
                      <a:gd name="T10" fmla="*/ 0 w 13"/>
                      <a:gd name="T11" fmla="*/ 0 h 14"/>
                      <a:gd name="T12" fmla="*/ 0 w 13"/>
                      <a:gd name="T13" fmla="*/ 0 h 14"/>
                      <a:gd name="T14" fmla="*/ 0 w 13"/>
                      <a:gd name="T15" fmla="*/ 0 h 14"/>
                      <a:gd name="T16" fmla="*/ 0 w 13"/>
                      <a:gd name="T17" fmla="*/ 0 h 14"/>
                      <a:gd name="T18" fmla="*/ 0 w 13"/>
                      <a:gd name="T19" fmla="*/ 0 h 14"/>
                      <a:gd name="T20" fmla="*/ 0 w 13"/>
                      <a:gd name="T21" fmla="*/ 0 h 14"/>
                      <a:gd name="T22" fmla="*/ 0 w 13"/>
                      <a:gd name="T23" fmla="*/ 0 h 14"/>
                      <a:gd name="T24" fmla="*/ 0 w 13"/>
                      <a:gd name="T25" fmla="*/ 0 h 14"/>
                      <a:gd name="T26" fmla="*/ 0 w 13"/>
                      <a:gd name="T27" fmla="*/ 0 h 1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
                      <a:gd name="T43" fmla="*/ 0 h 14"/>
                      <a:gd name="T44" fmla="*/ 13 w 13"/>
                      <a:gd name="T45" fmla="*/ 14 h 1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 h="14">
                        <a:moveTo>
                          <a:pt x="13" y="14"/>
                        </a:moveTo>
                        <a:lnTo>
                          <a:pt x="8" y="11"/>
                        </a:lnTo>
                        <a:lnTo>
                          <a:pt x="5" y="8"/>
                        </a:lnTo>
                        <a:lnTo>
                          <a:pt x="1" y="4"/>
                        </a:lnTo>
                        <a:lnTo>
                          <a:pt x="0" y="3"/>
                        </a:lnTo>
                        <a:lnTo>
                          <a:pt x="2" y="2"/>
                        </a:lnTo>
                        <a:lnTo>
                          <a:pt x="6" y="1"/>
                        </a:lnTo>
                        <a:lnTo>
                          <a:pt x="9" y="0"/>
                        </a:lnTo>
                        <a:lnTo>
                          <a:pt x="13" y="0"/>
                        </a:lnTo>
                        <a:lnTo>
                          <a:pt x="13" y="2"/>
                        </a:lnTo>
                        <a:lnTo>
                          <a:pt x="13" y="7"/>
                        </a:lnTo>
                        <a:lnTo>
                          <a:pt x="13" y="10"/>
                        </a:lnTo>
                        <a:lnTo>
                          <a:pt x="13" y="1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7" name="Freeform 249"/>
                  <p:cNvSpPr>
                    <a:spLocks/>
                  </p:cNvSpPr>
                  <p:nvPr/>
                </p:nvSpPr>
                <p:spPr bwMode="auto">
                  <a:xfrm>
                    <a:off x="5285" y="1942"/>
                    <a:ext cx="475" cy="36"/>
                  </a:xfrm>
                  <a:custGeom>
                    <a:avLst/>
                    <a:gdLst>
                      <a:gd name="T0" fmla="*/ 0 w 1425"/>
                      <a:gd name="T1" fmla="*/ 0 h 109"/>
                      <a:gd name="T2" fmla="*/ 0 w 1425"/>
                      <a:gd name="T3" fmla="*/ 0 h 109"/>
                      <a:gd name="T4" fmla="*/ 0 w 1425"/>
                      <a:gd name="T5" fmla="*/ 0 h 109"/>
                      <a:gd name="T6" fmla="*/ 0 w 1425"/>
                      <a:gd name="T7" fmla="*/ 0 h 109"/>
                      <a:gd name="T8" fmla="*/ 0 w 1425"/>
                      <a:gd name="T9" fmla="*/ 0 h 109"/>
                      <a:gd name="T10" fmla="*/ 0 w 1425"/>
                      <a:gd name="T11" fmla="*/ 0 h 109"/>
                      <a:gd name="T12" fmla="*/ 0 w 1425"/>
                      <a:gd name="T13" fmla="*/ 0 h 109"/>
                      <a:gd name="T14" fmla="*/ 0 w 1425"/>
                      <a:gd name="T15" fmla="*/ 0 h 109"/>
                      <a:gd name="T16" fmla="*/ 0 w 1425"/>
                      <a:gd name="T17" fmla="*/ 0 h 109"/>
                      <a:gd name="T18" fmla="*/ 0 w 1425"/>
                      <a:gd name="T19" fmla="*/ 0 h 109"/>
                      <a:gd name="T20" fmla="*/ 0 w 1425"/>
                      <a:gd name="T21" fmla="*/ 0 h 109"/>
                      <a:gd name="T22" fmla="*/ 0 w 1425"/>
                      <a:gd name="T23" fmla="*/ 0 h 109"/>
                      <a:gd name="T24" fmla="*/ 0 w 1425"/>
                      <a:gd name="T25" fmla="*/ 0 h 109"/>
                      <a:gd name="T26" fmla="*/ 0 w 1425"/>
                      <a:gd name="T27" fmla="*/ 0 h 109"/>
                      <a:gd name="T28" fmla="*/ 0 w 1425"/>
                      <a:gd name="T29" fmla="*/ 0 h 109"/>
                      <a:gd name="T30" fmla="*/ 0 w 1425"/>
                      <a:gd name="T31" fmla="*/ 0 h 109"/>
                      <a:gd name="T32" fmla="*/ 0 w 1425"/>
                      <a:gd name="T33" fmla="*/ 0 h 109"/>
                      <a:gd name="T34" fmla="*/ 0 w 1425"/>
                      <a:gd name="T35" fmla="*/ 0 h 109"/>
                      <a:gd name="T36" fmla="*/ 0 w 1425"/>
                      <a:gd name="T37" fmla="*/ 0 h 109"/>
                      <a:gd name="T38" fmla="*/ 0 w 1425"/>
                      <a:gd name="T39" fmla="*/ 0 h 109"/>
                      <a:gd name="T40" fmla="*/ 0 w 1425"/>
                      <a:gd name="T41" fmla="*/ 0 h 109"/>
                      <a:gd name="T42" fmla="*/ 0 w 1425"/>
                      <a:gd name="T43" fmla="*/ 0 h 109"/>
                      <a:gd name="T44" fmla="*/ 0 w 1425"/>
                      <a:gd name="T45" fmla="*/ 0 h 109"/>
                      <a:gd name="T46" fmla="*/ 0 w 1425"/>
                      <a:gd name="T47" fmla="*/ 0 h 109"/>
                      <a:gd name="T48" fmla="*/ 0 w 1425"/>
                      <a:gd name="T49" fmla="*/ 0 h 109"/>
                      <a:gd name="T50" fmla="*/ 0 w 1425"/>
                      <a:gd name="T51" fmla="*/ 0 h 109"/>
                      <a:gd name="T52" fmla="*/ 0 w 1425"/>
                      <a:gd name="T53" fmla="*/ 0 h 109"/>
                      <a:gd name="T54" fmla="*/ 0 w 1425"/>
                      <a:gd name="T55" fmla="*/ 0 h 109"/>
                      <a:gd name="T56" fmla="*/ 0 w 1425"/>
                      <a:gd name="T57" fmla="*/ 0 h 109"/>
                      <a:gd name="T58" fmla="*/ 0 w 1425"/>
                      <a:gd name="T59" fmla="*/ 0 h 109"/>
                      <a:gd name="T60" fmla="*/ 0 w 1425"/>
                      <a:gd name="T61" fmla="*/ 0 h 109"/>
                      <a:gd name="T62" fmla="*/ 0 w 1425"/>
                      <a:gd name="T63" fmla="*/ 0 h 109"/>
                      <a:gd name="T64" fmla="*/ 0 w 1425"/>
                      <a:gd name="T65" fmla="*/ 0 h 109"/>
                      <a:gd name="T66" fmla="*/ 0 w 1425"/>
                      <a:gd name="T67" fmla="*/ 0 h 109"/>
                      <a:gd name="T68" fmla="*/ 0 w 1425"/>
                      <a:gd name="T69" fmla="*/ 0 h 109"/>
                      <a:gd name="T70" fmla="*/ 0 w 1425"/>
                      <a:gd name="T71" fmla="*/ 0 h 109"/>
                      <a:gd name="T72" fmla="*/ 0 w 1425"/>
                      <a:gd name="T73" fmla="*/ 0 h 109"/>
                      <a:gd name="T74" fmla="*/ 0 w 1425"/>
                      <a:gd name="T75" fmla="*/ 0 h 109"/>
                      <a:gd name="T76" fmla="*/ 0 w 1425"/>
                      <a:gd name="T77" fmla="*/ 0 h 109"/>
                      <a:gd name="T78" fmla="*/ 0 w 1425"/>
                      <a:gd name="T79" fmla="*/ 0 h 109"/>
                      <a:gd name="T80" fmla="*/ 0 w 1425"/>
                      <a:gd name="T81" fmla="*/ 0 h 109"/>
                      <a:gd name="T82" fmla="*/ 0 w 1425"/>
                      <a:gd name="T83" fmla="*/ 0 h 109"/>
                      <a:gd name="T84" fmla="*/ 0 w 1425"/>
                      <a:gd name="T85" fmla="*/ 0 h 109"/>
                      <a:gd name="T86" fmla="*/ 0 w 1425"/>
                      <a:gd name="T87" fmla="*/ 0 h 109"/>
                      <a:gd name="T88" fmla="*/ 0 w 1425"/>
                      <a:gd name="T89" fmla="*/ 0 h 109"/>
                      <a:gd name="T90" fmla="*/ 0 w 1425"/>
                      <a:gd name="T91" fmla="*/ 0 h 109"/>
                      <a:gd name="T92" fmla="*/ 0 w 1425"/>
                      <a:gd name="T93" fmla="*/ 0 h 109"/>
                      <a:gd name="T94" fmla="*/ 0 w 1425"/>
                      <a:gd name="T95" fmla="*/ 0 h 109"/>
                      <a:gd name="T96" fmla="*/ 0 w 1425"/>
                      <a:gd name="T97" fmla="*/ 0 h 109"/>
                      <a:gd name="T98" fmla="*/ 0 w 1425"/>
                      <a:gd name="T99" fmla="*/ 0 h 109"/>
                      <a:gd name="T100" fmla="*/ 0 w 1425"/>
                      <a:gd name="T101" fmla="*/ 0 h 109"/>
                      <a:gd name="T102" fmla="*/ 0 w 1425"/>
                      <a:gd name="T103" fmla="*/ 0 h 109"/>
                      <a:gd name="T104" fmla="*/ 0 w 1425"/>
                      <a:gd name="T105" fmla="*/ 0 h 109"/>
                      <a:gd name="T106" fmla="*/ 0 w 1425"/>
                      <a:gd name="T107" fmla="*/ 0 h 109"/>
                      <a:gd name="T108" fmla="*/ 0 w 1425"/>
                      <a:gd name="T109" fmla="*/ 0 h 109"/>
                      <a:gd name="T110" fmla="*/ 0 w 1425"/>
                      <a:gd name="T111" fmla="*/ 0 h 109"/>
                      <a:gd name="T112" fmla="*/ 0 w 1425"/>
                      <a:gd name="T113" fmla="*/ 0 h 109"/>
                      <a:gd name="T114" fmla="*/ 0 w 1425"/>
                      <a:gd name="T115" fmla="*/ 0 h 109"/>
                      <a:gd name="T116" fmla="*/ 0 w 1425"/>
                      <a:gd name="T117" fmla="*/ 0 h 109"/>
                      <a:gd name="T118" fmla="*/ 0 w 1425"/>
                      <a:gd name="T119" fmla="*/ 0 h 109"/>
                      <a:gd name="T120" fmla="*/ 0 w 1425"/>
                      <a:gd name="T121" fmla="*/ 0 h 109"/>
                      <a:gd name="T122" fmla="*/ 0 w 1425"/>
                      <a:gd name="T123" fmla="*/ 0 h 10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425"/>
                      <a:gd name="T187" fmla="*/ 0 h 109"/>
                      <a:gd name="T188" fmla="*/ 1425 w 1425"/>
                      <a:gd name="T189" fmla="*/ 109 h 109"/>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425" h="109">
                        <a:moveTo>
                          <a:pt x="13" y="6"/>
                        </a:moveTo>
                        <a:lnTo>
                          <a:pt x="14" y="6"/>
                        </a:lnTo>
                        <a:lnTo>
                          <a:pt x="17" y="6"/>
                        </a:lnTo>
                        <a:lnTo>
                          <a:pt x="20" y="6"/>
                        </a:lnTo>
                        <a:lnTo>
                          <a:pt x="24" y="6"/>
                        </a:lnTo>
                        <a:lnTo>
                          <a:pt x="28" y="7"/>
                        </a:lnTo>
                        <a:lnTo>
                          <a:pt x="31" y="7"/>
                        </a:lnTo>
                        <a:lnTo>
                          <a:pt x="34" y="8"/>
                        </a:lnTo>
                        <a:lnTo>
                          <a:pt x="37" y="8"/>
                        </a:lnTo>
                        <a:lnTo>
                          <a:pt x="40" y="8"/>
                        </a:lnTo>
                        <a:lnTo>
                          <a:pt x="44" y="8"/>
                        </a:lnTo>
                        <a:lnTo>
                          <a:pt x="47" y="9"/>
                        </a:lnTo>
                        <a:lnTo>
                          <a:pt x="51" y="9"/>
                        </a:lnTo>
                        <a:lnTo>
                          <a:pt x="55" y="10"/>
                        </a:lnTo>
                        <a:lnTo>
                          <a:pt x="58" y="10"/>
                        </a:lnTo>
                        <a:lnTo>
                          <a:pt x="63" y="10"/>
                        </a:lnTo>
                        <a:lnTo>
                          <a:pt x="68" y="10"/>
                        </a:lnTo>
                        <a:lnTo>
                          <a:pt x="71" y="12"/>
                        </a:lnTo>
                        <a:lnTo>
                          <a:pt x="76" y="12"/>
                        </a:lnTo>
                        <a:lnTo>
                          <a:pt x="81" y="13"/>
                        </a:lnTo>
                        <a:lnTo>
                          <a:pt x="85" y="13"/>
                        </a:lnTo>
                        <a:lnTo>
                          <a:pt x="90" y="13"/>
                        </a:lnTo>
                        <a:lnTo>
                          <a:pt x="95" y="14"/>
                        </a:lnTo>
                        <a:lnTo>
                          <a:pt x="101" y="14"/>
                        </a:lnTo>
                        <a:lnTo>
                          <a:pt x="104" y="15"/>
                        </a:lnTo>
                        <a:lnTo>
                          <a:pt x="112" y="15"/>
                        </a:lnTo>
                        <a:lnTo>
                          <a:pt x="116" y="15"/>
                        </a:lnTo>
                        <a:lnTo>
                          <a:pt x="121" y="16"/>
                        </a:lnTo>
                        <a:lnTo>
                          <a:pt x="126" y="16"/>
                        </a:lnTo>
                        <a:lnTo>
                          <a:pt x="132" y="18"/>
                        </a:lnTo>
                        <a:lnTo>
                          <a:pt x="136" y="18"/>
                        </a:lnTo>
                        <a:lnTo>
                          <a:pt x="142" y="18"/>
                        </a:lnTo>
                        <a:lnTo>
                          <a:pt x="147" y="18"/>
                        </a:lnTo>
                        <a:lnTo>
                          <a:pt x="153" y="19"/>
                        </a:lnTo>
                        <a:lnTo>
                          <a:pt x="159" y="19"/>
                        </a:lnTo>
                        <a:lnTo>
                          <a:pt x="165" y="19"/>
                        </a:lnTo>
                        <a:lnTo>
                          <a:pt x="170" y="20"/>
                        </a:lnTo>
                        <a:lnTo>
                          <a:pt x="176" y="20"/>
                        </a:lnTo>
                        <a:lnTo>
                          <a:pt x="182" y="20"/>
                        </a:lnTo>
                        <a:lnTo>
                          <a:pt x="187" y="21"/>
                        </a:lnTo>
                        <a:lnTo>
                          <a:pt x="193" y="21"/>
                        </a:lnTo>
                        <a:lnTo>
                          <a:pt x="199" y="21"/>
                        </a:lnTo>
                        <a:lnTo>
                          <a:pt x="204" y="21"/>
                        </a:lnTo>
                        <a:lnTo>
                          <a:pt x="210" y="21"/>
                        </a:lnTo>
                        <a:lnTo>
                          <a:pt x="215" y="21"/>
                        </a:lnTo>
                        <a:lnTo>
                          <a:pt x="221" y="22"/>
                        </a:lnTo>
                        <a:lnTo>
                          <a:pt x="225" y="22"/>
                        </a:lnTo>
                        <a:lnTo>
                          <a:pt x="231" y="22"/>
                        </a:lnTo>
                        <a:lnTo>
                          <a:pt x="237" y="22"/>
                        </a:lnTo>
                        <a:lnTo>
                          <a:pt x="243" y="22"/>
                        </a:lnTo>
                        <a:lnTo>
                          <a:pt x="248" y="22"/>
                        </a:lnTo>
                        <a:lnTo>
                          <a:pt x="253" y="22"/>
                        </a:lnTo>
                        <a:lnTo>
                          <a:pt x="259" y="22"/>
                        </a:lnTo>
                        <a:lnTo>
                          <a:pt x="263" y="22"/>
                        </a:lnTo>
                        <a:lnTo>
                          <a:pt x="268" y="22"/>
                        </a:lnTo>
                        <a:lnTo>
                          <a:pt x="274" y="22"/>
                        </a:lnTo>
                        <a:lnTo>
                          <a:pt x="279" y="22"/>
                        </a:lnTo>
                        <a:lnTo>
                          <a:pt x="284" y="22"/>
                        </a:lnTo>
                        <a:lnTo>
                          <a:pt x="288" y="21"/>
                        </a:lnTo>
                        <a:lnTo>
                          <a:pt x="292" y="21"/>
                        </a:lnTo>
                        <a:lnTo>
                          <a:pt x="294" y="21"/>
                        </a:lnTo>
                        <a:lnTo>
                          <a:pt x="297" y="21"/>
                        </a:lnTo>
                        <a:lnTo>
                          <a:pt x="299" y="21"/>
                        </a:lnTo>
                        <a:lnTo>
                          <a:pt x="303" y="21"/>
                        </a:lnTo>
                        <a:lnTo>
                          <a:pt x="305" y="20"/>
                        </a:lnTo>
                        <a:lnTo>
                          <a:pt x="306" y="20"/>
                        </a:lnTo>
                        <a:lnTo>
                          <a:pt x="310" y="20"/>
                        </a:lnTo>
                        <a:lnTo>
                          <a:pt x="313" y="20"/>
                        </a:lnTo>
                        <a:lnTo>
                          <a:pt x="316" y="20"/>
                        </a:lnTo>
                        <a:lnTo>
                          <a:pt x="319" y="20"/>
                        </a:lnTo>
                        <a:lnTo>
                          <a:pt x="322" y="20"/>
                        </a:lnTo>
                        <a:lnTo>
                          <a:pt x="324" y="20"/>
                        </a:lnTo>
                        <a:lnTo>
                          <a:pt x="327" y="19"/>
                        </a:lnTo>
                        <a:lnTo>
                          <a:pt x="330" y="19"/>
                        </a:lnTo>
                        <a:lnTo>
                          <a:pt x="335" y="19"/>
                        </a:lnTo>
                        <a:lnTo>
                          <a:pt x="337" y="19"/>
                        </a:lnTo>
                        <a:lnTo>
                          <a:pt x="339" y="19"/>
                        </a:lnTo>
                        <a:lnTo>
                          <a:pt x="344" y="19"/>
                        </a:lnTo>
                        <a:lnTo>
                          <a:pt x="346" y="19"/>
                        </a:lnTo>
                        <a:lnTo>
                          <a:pt x="351" y="19"/>
                        </a:lnTo>
                        <a:lnTo>
                          <a:pt x="355" y="18"/>
                        </a:lnTo>
                        <a:lnTo>
                          <a:pt x="357" y="18"/>
                        </a:lnTo>
                        <a:lnTo>
                          <a:pt x="361" y="18"/>
                        </a:lnTo>
                        <a:lnTo>
                          <a:pt x="364" y="18"/>
                        </a:lnTo>
                        <a:lnTo>
                          <a:pt x="369" y="18"/>
                        </a:lnTo>
                        <a:lnTo>
                          <a:pt x="373" y="18"/>
                        </a:lnTo>
                        <a:lnTo>
                          <a:pt x="376" y="18"/>
                        </a:lnTo>
                        <a:lnTo>
                          <a:pt x="381" y="18"/>
                        </a:lnTo>
                        <a:lnTo>
                          <a:pt x="384" y="18"/>
                        </a:lnTo>
                        <a:lnTo>
                          <a:pt x="388" y="18"/>
                        </a:lnTo>
                        <a:lnTo>
                          <a:pt x="392" y="18"/>
                        </a:lnTo>
                        <a:lnTo>
                          <a:pt x="396" y="18"/>
                        </a:lnTo>
                        <a:lnTo>
                          <a:pt x="400" y="16"/>
                        </a:lnTo>
                        <a:lnTo>
                          <a:pt x="403" y="16"/>
                        </a:lnTo>
                        <a:lnTo>
                          <a:pt x="408" y="16"/>
                        </a:lnTo>
                        <a:lnTo>
                          <a:pt x="412" y="16"/>
                        </a:lnTo>
                        <a:lnTo>
                          <a:pt x="415" y="16"/>
                        </a:lnTo>
                        <a:lnTo>
                          <a:pt x="420" y="16"/>
                        </a:lnTo>
                        <a:lnTo>
                          <a:pt x="425" y="16"/>
                        </a:lnTo>
                        <a:lnTo>
                          <a:pt x="428" y="16"/>
                        </a:lnTo>
                        <a:lnTo>
                          <a:pt x="433" y="16"/>
                        </a:lnTo>
                        <a:lnTo>
                          <a:pt x="438" y="16"/>
                        </a:lnTo>
                        <a:lnTo>
                          <a:pt x="441" y="16"/>
                        </a:lnTo>
                        <a:lnTo>
                          <a:pt x="446" y="16"/>
                        </a:lnTo>
                        <a:lnTo>
                          <a:pt x="451" y="15"/>
                        </a:lnTo>
                        <a:lnTo>
                          <a:pt x="456" y="15"/>
                        </a:lnTo>
                        <a:lnTo>
                          <a:pt x="459" y="15"/>
                        </a:lnTo>
                        <a:lnTo>
                          <a:pt x="463" y="15"/>
                        </a:lnTo>
                        <a:lnTo>
                          <a:pt x="469" y="15"/>
                        </a:lnTo>
                        <a:lnTo>
                          <a:pt x="472" y="15"/>
                        </a:lnTo>
                        <a:lnTo>
                          <a:pt x="477" y="15"/>
                        </a:lnTo>
                        <a:lnTo>
                          <a:pt x="482" y="15"/>
                        </a:lnTo>
                        <a:lnTo>
                          <a:pt x="486" y="15"/>
                        </a:lnTo>
                        <a:lnTo>
                          <a:pt x="490" y="15"/>
                        </a:lnTo>
                        <a:lnTo>
                          <a:pt x="495" y="15"/>
                        </a:lnTo>
                        <a:lnTo>
                          <a:pt x="500" y="15"/>
                        </a:lnTo>
                        <a:lnTo>
                          <a:pt x="504" y="15"/>
                        </a:lnTo>
                        <a:lnTo>
                          <a:pt x="509" y="15"/>
                        </a:lnTo>
                        <a:lnTo>
                          <a:pt x="514" y="15"/>
                        </a:lnTo>
                        <a:lnTo>
                          <a:pt x="519" y="15"/>
                        </a:lnTo>
                        <a:lnTo>
                          <a:pt x="516" y="16"/>
                        </a:lnTo>
                        <a:lnTo>
                          <a:pt x="513" y="18"/>
                        </a:lnTo>
                        <a:lnTo>
                          <a:pt x="510" y="18"/>
                        </a:lnTo>
                        <a:lnTo>
                          <a:pt x="507" y="20"/>
                        </a:lnTo>
                        <a:lnTo>
                          <a:pt x="504" y="21"/>
                        </a:lnTo>
                        <a:lnTo>
                          <a:pt x="501" y="21"/>
                        </a:lnTo>
                        <a:lnTo>
                          <a:pt x="498" y="24"/>
                        </a:lnTo>
                        <a:lnTo>
                          <a:pt x="497" y="25"/>
                        </a:lnTo>
                        <a:lnTo>
                          <a:pt x="491" y="27"/>
                        </a:lnTo>
                        <a:lnTo>
                          <a:pt x="488" y="29"/>
                        </a:lnTo>
                        <a:lnTo>
                          <a:pt x="483" y="33"/>
                        </a:lnTo>
                        <a:lnTo>
                          <a:pt x="479" y="37"/>
                        </a:lnTo>
                        <a:lnTo>
                          <a:pt x="476" y="40"/>
                        </a:lnTo>
                        <a:lnTo>
                          <a:pt x="473" y="45"/>
                        </a:lnTo>
                        <a:lnTo>
                          <a:pt x="471" y="46"/>
                        </a:lnTo>
                        <a:lnTo>
                          <a:pt x="471" y="48"/>
                        </a:lnTo>
                        <a:lnTo>
                          <a:pt x="470" y="51"/>
                        </a:lnTo>
                        <a:lnTo>
                          <a:pt x="469" y="54"/>
                        </a:lnTo>
                        <a:lnTo>
                          <a:pt x="469" y="56"/>
                        </a:lnTo>
                        <a:lnTo>
                          <a:pt x="469" y="59"/>
                        </a:lnTo>
                        <a:lnTo>
                          <a:pt x="467" y="62"/>
                        </a:lnTo>
                        <a:lnTo>
                          <a:pt x="467" y="65"/>
                        </a:lnTo>
                        <a:lnTo>
                          <a:pt x="467" y="69"/>
                        </a:lnTo>
                        <a:lnTo>
                          <a:pt x="467" y="71"/>
                        </a:lnTo>
                        <a:lnTo>
                          <a:pt x="469" y="75"/>
                        </a:lnTo>
                        <a:lnTo>
                          <a:pt x="469" y="79"/>
                        </a:lnTo>
                        <a:lnTo>
                          <a:pt x="471" y="78"/>
                        </a:lnTo>
                        <a:lnTo>
                          <a:pt x="473" y="78"/>
                        </a:lnTo>
                        <a:lnTo>
                          <a:pt x="476" y="77"/>
                        </a:lnTo>
                        <a:lnTo>
                          <a:pt x="479" y="77"/>
                        </a:lnTo>
                        <a:lnTo>
                          <a:pt x="482" y="76"/>
                        </a:lnTo>
                        <a:lnTo>
                          <a:pt x="484" y="76"/>
                        </a:lnTo>
                        <a:lnTo>
                          <a:pt x="486" y="76"/>
                        </a:lnTo>
                        <a:lnTo>
                          <a:pt x="490" y="75"/>
                        </a:lnTo>
                        <a:lnTo>
                          <a:pt x="495" y="73"/>
                        </a:lnTo>
                        <a:lnTo>
                          <a:pt x="500" y="71"/>
                        </a:lnTo>
                        <a:lnTo>
                          <a:pt x="504" y="71"/>
                        </a:lnTo>
                        <a:lnTo>
                          <a:pt x="510" y="70"/>
                        </a:lnTo>
                        <a:lnTo>
                          <a:pt x="515" y="67"/>
                        </a:lnTo>
                        <a:lnTo>
                          <a:pt x="519" y="66"/>
                        </a:lnTo>
                        <a:lnTo>
                          <a:pt x="524" y="64"/>
                        </a:lnTo>
                        <a:lnTo>
                          <a:pt x="529" y="63"/>
                        </a:lnTo>
                        <a:lnTo>
                          <a:pt x="534" y="60"/>
                        </a:lnTo>
                        <a:lnTo>
                          <a:pt x="539" y="59"/>
                        </a:lnTo>
                        <a:lnTo>
                          <a:pt x="543" y="56"/>
                        </a:lnTo>
                        <a:lnTo>
                          <a:pt x="548" y="54"/>
                        </a:lnTo>
                        <a:lnTo>
                          <a:pt x="552" y="52"/>
                        </a:lnTo>
                        <a:lnTo>
                          <a:pt x="556" y="51"/>
                        </a:lnTo>
                        <a:lnTo>
                          <a:pt x="562" y="48"/>
                        </a:lnTo>
                        <a:lnTo>
                          <a:pt x="567" y="46"/>
                        </a:lnTo>
                        <a:lnTo>
                          <a:pt x="571" y="44"/>
                        </a:lnTo>
                        <a:lnTo>
                          <a:pt x="577" y="41"/>
                        </a:lnTo>
                        <a:lnTo>
                          <a:pt x="581" y="39"/>
                        </a:lnTo>
                        <a:lnTo>
                          <a:pt x="586" y="38"/>
                        </a:lnTo>
                        <a:lnTo>
                          <a:pt x="591" y="35"/>
                        </a:lnTo>
                        <a:lnTo>
                          <a:pt x="596" y="34"/>
                        </a:lnTo>
                        <a:lnTo>
                          <a:pt x="600" y="33"/>
                        </a:lnTo>
                        <a:lnTo>
                          <a:pt x="606" y="31"/>
                        </a:lnTo>
                        <a:lnTo>
                          <a:pt x="611" y="29"/>
                        </a:lnTo>
                        <a:lnTo>
                          <a:pt x="616" y="28"/>
                        </a:lnTo>
                        <a:lnTo>
                          <a:pt x="619" y="27"/>
                        </a:lnTo>
                        <a:lnTo>
                          <a:pt x="622" y="27"/>
                        </a:lnTo>
                        <a:lnTo>
                          <a:pt x="625" y="26"/>
                        </a:lnTo>
                        <a:lnTo>
                          <a:pt x="628" y="26"/>
                        </a:lnTo>
                        <a:lnTo>
                          <a:pt x="625" y="24"/>
                        </a:lnTo>
                        <a:lnTo>
                          <a:pt x="624" y="21"/>
                        </a:lnTo>
                        <a:lnTo>
                          <a:pt x="621" y="18"/>
                        </a:lnTo>
                        <a:lnTo>
                          <a:pt x="618" y="14"/>
                        </a:lnTo>
                        <a:lnTo>
                          <a:pt x="621" y="13"/>
                        </a:lnTo>
                        <a:lnTo>
                          <a:pt x="625" y="13"/>
                        </a:lnTo>
                        <a:lnTo>
                          <a:pt x="628" y="13"/>
                        </a:lnTo>
                        <a:lnTo>
                          <a:pt x="632" y="13"/>
                        </a:lnTo>
                        <a:lnTo>
                          <a:pt x="637" y="13"/>
                        </a:lnTo>
                        <a:lnTo>
                          <a:pt x="641" y="13"/>
                        </a:lnTo>
                        <a:lnTo>
                          <a:pt x="644" y="13"/>
                        </a:lnTo>
                        <a:lnTo>
                          <a:pt x="648" y="13"/>
                        </a:lnTo>
                        <a:lnTo>
                          <a:pt x="651" y="13"/>
                        </a:lnTo>
                        <a:lnTo>
                          <a:pt x="656" y="13"/>
                        </a:lnTo>
                        <a:lnTo>
                          <a:pt x="660" y="13"/>
                        </a:lnTo>
                        <a:lnTo>
                          <a:pt x="663" y="13"/>
                        </a:lnTo>
                        <a:lnTo>
                          <a:pt x="667" y="13"/>
                        </a:lnTo>
                        <a:lnTo>
                          <a:pt x="670" y="13"/>
                        </a:lnTo>
                        <a:lnTo>
                          <a:pt x="674" y="13"/>
                        </a:lnTo>
                        <a:lnTo>
                          <a:pt x="679" y="13"/>
                        </a:lnTo>
                        <a:lnTo>
                          <a:pt x="682" y="13"/>
                        </a:lnTo>
                        <a:lnTo>
                          <a:pt x="686" y="13"/>
                        </a:lnTo>
                        <a:lnTo>
                          <a:pt x="689" y="13"/>
                        </a:lnTo>
                        <a:lnTo>
                          <a:pt x="693" y="13"/>
                        </a:lnTo>
                        <a:lnTo>
                          <a:pt x="696" y="13"/>
                        </a:lnTo>
                        <a:lnTo>
                          <a:pt x="700" y="13"/>
                        </a:lnTo>
                        <a:lnTo>
                          <a:pt x="704" y="13"/>
                        </a:lnTo>
                        <a:lnTo>
                          <a:pt x="707" y="13"/>
                        </a:lnTo>
                        <a:lnTo>
                          <a:pt x="711" y="13"/>
                        </a:lnTo>
                        <a:lnTo>
                          <a:pt x="714" y="13"/>
                        </a:lnTo>
                        <a:lnTo>
                          <a:pt x="718" y="13"/>
                        </a:lnTo>
                        <a:lnTo>
                          <a:pt x="721" y="13"/>
                        </a:lnTo>
                        <a:lnTo>
                          <a:pt x="724" y="13"/>
                        </a:lnTo>
                        <a:lnTo>
                          <a:pt x="729" y="13"/>
                        </a:lnTo>
                        <a:lnTo>
                          <a:pt x="731" y="13"/>
                        </a:lnTo>
                        <a:lnTo>
                          <a:pt x="734" y="14"/>
                        </a:lnTo>
                        <a:lnTo>
                          <a:pt x="738" y="14"/>
                        </a:lnTo>
                        <a:lnTo>
                          <a:pt x="742" y="14"/>
                        </a:lnTo>
                        <a:lnTo>
                          <a:pt x="744" y="14"/>
                        </a:lnTo>
                        <a:lnTo>
                          <a:pt x="746" y="14"/>
                        </a:lnTo>
                        <a:lnTo>
                          <a:pt x="750" y="14"/>
                        </a:lnTo>
                        <a:lnTo>
                          <a:pt x="753" y="14"/>
                        </a:lnTo>
                        <a:lnTo>
                          <a:pt x="756" y="14"/>
                        </a:lnTo>
                        <a:lnTo>
                          <a:pt x="759" y="14"/>
                        </a:lnTo>
                        <a:lnTo>
                          <a:pt x="762" y="14"/>
                        </a:lnTo>
                        <a:lnTo>
                          <a:pt x="764" y="14"/>
                        </a:lnTo>
                        <a:lnTo>
                          <a:pt x="766" y="14"/>
                        </a:lnTo>
                        <a:lnTo>
                          <a:pt x="770" y="15"/>
                        </a:lnTo>
                        <a:lnTo>
                          <a:pt x="772" y="15"/>
                        </a:lnTo>
                        <a:lnTo>
                          <a:pt x="775" y="15"/>
                        </a:lnTo>
                        <a:lnTo>
                          <a:pt x="778" y="15"/>
                        </a:lnTo>
                        <a:lnTo>
                          <a:pt x="781" y="15"/>
                        </a:lnTo>
                        <a:lnTo>
                          <a:pt x="785" y="15"/>
                        </a:lnTo>
                        <a:lnTo>
                          <a:pt x="790" y="15"/>
                        </a:lnTo>
                        <a:lnTo>
                          <a:pt x="795" y="15"/>
                        </a:lnTo>
                        <a:lnTo>
                          <a:pt x="800" y="16"/>
                        </a:lnTo>
                        <a:lnTo>
                          <a:pt x="804" y="16"/>
                        </a:lnTo>
                        <a:lnTo>
                          <a:pt x="808" y="16"/>
                        </a:lnTo>
                        <a:lnTo>
                          <a:pt x="813" y="18"/>
                        </a:lnTo>
                        <a:lnTo>
                          <a:pt x="816" y="18"/>
                        </a:lnTo>
                        <a:lnTo>
                          <a:pt x="815" y="21"/>
                        </a:lnTo>
                        <a:lnTo>
                          <a:pt x="816" y="25"/>
                        </a:lnTo>
                        <a:lnTo>
                          <a:pt x="816" y="28"/>
                        </a:lnTo>
                        <a:lnTo>
                          <a:pt x="818" y="33"/>
                        </a:lnTo>
                        <a:lnTo>
                          <a:pt x="820" y="37"/>
                        </a:lnTo>
                        <a:lnTo>
                          <a:pt x="821" y="41"/>
                        </a:lnTo>
                        <a:lnTo>
                          <a:pt x="823" y="45"/>
                        </a:lnTo>
                        <a:lnTo>
                          <a:pt x="827" y="48"/>
                        </a:lnTo>
                        <a:lnTo>
                          <a:pt x="829" y="52"/>
                        </a:lnTo>
                        <a:lnTo>
                          <a:pt x="833" y="56"/>
                        </a:lnTo>
                        <a:lnTo>
                          <a:pt x="835" y="59"/>
                        </a:lnTo>
                        <a:lnTo>
                          <a:pt x="840" y="64"/>
                        </a:lnTo>
                        <a:lnTo>
                          <a:pt x="842" y="66"/>
                        </a:lnTo>
                        <a:lnTo>
                          <a:pt x="847" y="70"/>
                        </a:lnTo>
                        <a:lnTo>
                          <a:pt x="852" y="73"/>
                        </a:lnTo>
                        <a:lnTo>
                          <a:pt x="855" y="76"/>
                        </a:lnTo>
                        <a:lnTo>
                          <a:pt x="860" y="79"/>
                        </a:lnTo>
                        <a:lnTo>
                          <a:pt x="865" y="82"/>
                        </a:lnTo>
                        <a:lnTo>
                          <a:pt x="870" y="83"/>
                        </a:lnTo>
                        <a:lnTo>
                          <a:pt x="874" y="85"/>
                        </a:lnTo>
                        <a:lnTo>
                          <a:pt x="878" y="86"/>
                        </a:lnTo>
                        <a:lnTo>
                          <a:pt x="884" y="89"/>
                        </a:lnTo>
                        <a:lnTo>
                          <a:pt x="889" y="89"/>
                        </a:lnTo>
                        <a:lnTo>
                          <a:pt x="893" y="91"/>
                        </a:lnTo>
                        <a:lnTo>
                          <a:pt x="898" y="91"/>
                        </a:lnTo>
                        <a:lnTo>
                          <a:pt x="902" y="91"/>
                        </a:lnTo>
                        <a:lnTo>
                          <a:pt x="906" y="91"/>
                        </a:lnTo>
                        <a:lnTo>
                          <a:pt x="911" y="91"/>
                        </a:lnTo>
                        <a:lnTo>
                          <a:pt x="915" y="89"/>
                        </a:lnTo>
                        <a:lnTo>
                          <a:pt x="920" y="89"/>
                        </a:lnTo>
                        <a:lnTo>
                          <a:pt x="923" y="86"/>
                        </a:lnTo>
                        <a:lnTo>
                          <a:pt x="927" y="85"/>
                        </a:lnTo>
                        <a:lnTo>
                          <a:pt x="925" y="83"/>
                        </a:lnTo>
                        <a:lnTo>
                          <a:pt x="924" y="79"/>
                        </a:lnTo>
                        <a:lnTo>
                          <a:pt x="923" y="77"/>
                        </a:lnTo>
                        <a:lnTo>
                          <a:pt x="922" y="75"/>
                        </a:lnTo>
                        <a:lnTo>
                          <a:pt x="920" y="70"/>
                        </a:lnTo>
                        <a:lnTo>
                          <a:pt x="917" y="65"/>
                        </a:lnTo>
                        <a:lnTo>
                          <a:pt x="915" y="62"/>
                        </a:lnTo>
                        <a:lnTo>
                          <a:pt x="911" y="56"/>
                        </a:lnTo>
                        <a:lnTo>
                          <a:pt x="909" y="52"/>
                        </a:lnTo>
                        <a:lnTo>
                          <a:pt x="906" y="48"/>
                        </a:lnTo>
                        <a:lnTo>
                          <a:pt x="902" y="44"/>
                        </a:lnTo>
                        <a:lnTo>
                          <a:pt x="898" y="40"/>
                        </a:lnTo>
                        <a:lnTo>
                          <a:pt x="895" y="37"/>
                        </a:lnTo>
                        <a:lnTo>
                          <a:pt x="891" y="33"/>
                        </a:lnTo>
                        <a:lnTo>
                          <a:pt x="889" y="31"/>
                        </a:lnTo>
                        <a:lnTo>
                          <a:pt x="884" y="27"/>
                        </a:lnTo>
                        <a:lnTo>
                          <a:pt x="879" y="25"/>
                        </a:lnTo>
                        <a:lnTo>
                          <a:pt x="876" y="22"/>
                        </a:lnTo>
                        <a:lnTo>
                          <a:pt x="878" y="22"/>
                        </a:lnTo>
                        <a:lnTo>
                          <a:pt x="880" y="22"/>
                        </a:lnTo>
                        <a:lnTo>
                          <a:pt x="884" y="22"/>
                        </a:lnTo>
                        <a:lnTo>
                          <a:pt x="886" y="22"/>
                        </a:lnTo>
                        <a:lnTo>
                          <a:pt x="890" y="22"/>
                        </a:lnTo>
                        <a:lnTo>
                          <a:pt x="892" y="22"/>
                        </a:lnTo>
                        <a:lnTo>
                          <a:pt x="896" y="22"/>
                        </a:lnTo>
                        <a:lnTo>
                          <a:pt x="898" y="22"/>
                        </a:lnTo>
                        <a:lnTo>
                          <a:pt x="902" y="22"/>
                        </a:lnTo>
                        <a:lnTo>
                          <a:pt x="904" y="22"/>
                        </a:lnTo>
                        <a:lnTo>
                          <a:pt x="908" y="22"/>
                        </a:lnTo>
                        <a:lnTo>
                          <a:pt x="911" y="22"/>
                        </a:lnTo>
                        <a:lnTo>
                          <a:pt x="915" y="22"/>
                        </a:lnTo>
                        <a:lnTo>
                          <a:pt x="918" y="22"/>
                        </a:lnTo>
                        <a:lnTo>
                          <a:pt x="922" y="22"/>
                        </a:lnTo>
                        <a:lnTo>
                          <a:pt x="925" y="22"/>
                        </a:lnTo>
                        <a:lnTo>
                          <a:pt x="928" y="21"/>
                        </a:lnTo>
                        <a:lnTo>
                          <a:pt x="931" y="21"/>
                        </a:lnTo>
                        <a:lnTo>
                          <a:pt x="935" y="21"/>
                        </a:lnTo>
                        <a:lnTo>
                          <a:pt x="940" y="21"/>
                        </a:lnTo>
                        <a:lnTo>
                          <a:pt x="942" y="21"/>
                        </a:lnTo>
                        <a:lnTo>
                          <a:pt x="947" y="21"/>
                        </a:lnTo>
                        <a:lnTo>
                          <a:pt x="949" y="21"/>
                        </a:lnTo>
                        <a:lnTo>
                          <a:pt x="954" y="21"/>
                        </a:lnTo>
                        <a:lnTo>
                          <a:pt x="956" y="21"/>
                        </a:lnTo>
                        <a:lnTo>
                          <a:pt x="961" y="21"/>
                        </a:lnTo>
                        <a:lnTo>
                          <a:pt x="965" y="21"/>
                        </a:lnTo>
                        <a:lnTo>
                          <a:pt x="969" y="21"/>
                        </a:lnTo>
                        <a:lnTo>
                          <a:pt x="972" y="21"/>
                        </a:lnTo>
                        <a:lnTo>
                          <a:pt x="976" y="21"/>
                        </a:lnTo>
                        <a:lnTo>
                          <a:pt x="980" y="21"/>
                        </a:lnTo>
                        <a:lnTo>
                          <a:pt x="985" y="21"/>
                        </a:lnTo>
                        <a:lnTo>
                          <a:pt x="988" y="21"/>
                        </a:lnTo>
                        <a:lnTo>
                          <a:pt x="992" y="21"/>
                        </a:lnTo>
                        <a:lnTo>
                          <a:pt x="995" y="21"/>
                        </a:lnTo>
                        <a:lnTo>
                          <a:pt x="1000" y="21"/>
                        </a:lnTo>
                        <a:lnTo>
                          <a:pt x="1004" y="20"/>
                        </a:lnTo>
                        <a:lnTo>
                          <a:pt x="1007" y="20"/>
                        </a:lnTo>
                        <a:lnTo>
                          <a:pt x="1012" y="20"/>
                        </a:lnTo>
                        <a:lnTo>
                          <a:pt x="1017" y="20"/>
                        </a:lnTo>
                        <a:lnTo>
                          <a:pt x="1020" y="20"/>
                        </a:lnTo>
                        <a:lnTo>
                          <a:pt x="1025" y="20"/>
                        </a:lnTo>
                        <a:lnTo>
                          <a:pt x="1029" y="20"/>
                        </a:lnTo>
                        <a:lnTo>
                          <a:pt x="1033" y="20"/>
                        </a:lnTo>
                        <a:lnTo>
                          <a:pt x="1038" y="20"/>
                        </a:lnTo>
                        <a:lnTo>
                          <a:pt x="1042" y="20"/>
                        </a:lnTo>
                        <a:lnTo>
                          <a:pt x="1047" y="20"/>
                        </a:lnTo>
                        <a:lnTo>
                          <a:pt x="1050" y="20"/>
                        </a:lnTo>
                        <a:lnTo>
                          <a:pt x="1055" y="19"/>
                        </a:lnTo>
                        <a:lnTo>
                          <a:pt x="1060" y="19"/>
                        </a:lnTo>
                        <a:lnTo>
                          <a:pt x="1063" y="19"/>
                        </a:lnTo>
                        <a:lnTo>
                          <a:pt x="1068" y="19"/>
                        </a:lnTo>
                        <a:lnTo>
                          <a:pt x="1073" y="19"/>
                        </a:lnTo>
                        <a:lnTo>
                          <a:pt x="1076" y="19"/>
                        </a:lnTo>
                        <a:lnTo>
                          <a:pt x="1081" y="19"/>
                        </a:lnTo>
                        <a:lnTo>
                          <a:pt x="1084" y="19"/>
                        </a:lnTo>
                        <a:lnTo>
                          <a:pt x="1089" y="18"/>
                        </a:lnTo>
                        <a:lnTo>
                          <a:pt x="1094" y="18"/>
                        </a:lnTo>
                        <a:lnTo>
                          <a:pt x="1099" y="18"/>
                        </a:lnTo>
                        <a:lnTo>
                          <a:pt x="1102" y="18"/>
                        </a:lnTo>
                        <a:lnTo>
                          <a:pt x="1107" y="18"/>
                        </a:lnTo>
                        <a:lnTo>
                          <a:pt x="1112" y="18"/>
                        </a:lnTo>
                        <a:lnTo>
                          <a:pt x="1115" y="18"/>
                        </a:lnTo>
                        <a:lnTo>
                          <a:pt x="1120" y="18"/>
                        </a:lnTo>
                        <a:lnTo>
                          <a:pt x="1118" y="21"/>
                        </a:lnTo>
                        <a:lnTo>
                          <a:pt x="1115" y="24"/>
                        </a:lnTo>
                        <a:lnTo>
                          <a:pt x="1113" y="27"/>
                        </a:lnTo>
                        <a:lnTo>
                          <a:pt x="1112" y="31"/>
                        </a:lnTo>
                        <a:lnTo>
                          <a:pt x="1108" y="34"/>
                        </a:lnTo>
                        <a:lnTo>
                          <a:pt x="1106" y="38"/>
                        </a:lnTo>
                        <a:lnTo>
                          <a:pt x="1103" y="41"/>
                        </a:lnTo>
                        <a:lnTo>
                          <a:pt x="1103" y="44"/>
                        </a:lnTo>
                        <a:lnTo>
                          <a:pt x="1107" y="44"/>
                        </a:lnTo>
                        <a:lnTo>
                          <a:pt x="1113" y="45"/>
                        </a:lnTo>
                        <a:lnTo>
                          <a:pt x="1117" y="46"/>
                        </a:lnTo>
                        <a:lnTo>
                          <a:pt x="1122" y="47"/>
                        </a:lnTo>
                        <a:lnTo>
                          <a:pt x="1127" y="48"/>
                        </a:lnTo>
                        <a:lnTo>
                          <a:pt x="1132" y="50"/>
                        </a:lnTo>
                        <a:lnTo>
                          <a:pt x="1137" y="52"/>
                        </a:lnTo>
                        <a:lnTo>
                          <a:pt x="1141" y="54"/>
                        </a:lnTo>
                        <a:lnTo>
                          <a:pt x="1146" y="56"/>
                        </a:lnTo>
                        <a:lnTo>
                          <a:pt x="1151" y="59"/>
                        </a:lnTo>
                        <a:lnTo>
                          <a:pt x="1156" y="60"/>
                        </a:lnTo>
                        <a:lnTo>
                          <a:pt x="1160" y="64"/>
                        </a:lnTo>
                        <a:lnTo>
                          <a:pt x="1164" y="66"/>
                        </a:lnTo>
                        <a:lnTo>
                          <a:pt x="1170" y="69"/>
                        </a:lnTo>
                        <a:lnTo>
                          <a:pt x="1175" y="71"/>
                        </a:lnTo>
                        <a:lnTo>
                          <a:pt x="1179" y="73"/>
                        </a:lnTo>
                        <a:lnTo>
                          <a:pt x="1184" y="75"/>
                        </a:lnTo>
                        <a:lnTo>
                          <a:pt x="1189" y="76"/>
                        </a:lnTo>
                        <a:lnTo>
                          <a:pt x="1194" y="78"/>
                        </a:lnTo>
                        <a:lnTo>
                          <a:pt x="1198" y="81"/>
                        </a:lnTo>
                        <a:lnTo>
                          <a:pt x="1202" y="82"/>
                        </a:lnTo>
                        <a:lnTo>
                          <a:pt x="1208" y="82"/>
                        </a:lnTo>
                        <a:lnTo>
                          <a:pt x="1213" y="83"/>
                        </a:lnTo>
                        <a:lnTo>
                          <a:pt x="1217" y="83"/>
                        </a:lnTo>
                        <a:lnTo>
                          <a:pt x="1221" y="83"/>
                        </a:lnTo>
                        <a:lnTo>
                          <a:pt x="1227" y="82"/>
                        </a:lnTo>
                        <a:lnTo>
                          <a:pt x="1230" y="81"/>
                        </a:lnTo>
                        <a:lnTo>
                          <a:pt x="1236" y="79"/>
                        </a:lnTo>
                        <a:lnTo>
                          <a:pt x="1241" y="76"/>
                        </a:lnTo>
                        <a:lnTo>
                          <a:pt x="1246" y="73"/>
                        </a:lnTo>
                        <a:lnTo>
                          <a:pt x="1251" y="71"/>
                        </a:lnTo>
                        <a:lnTo>
                          <a:pt x="1257" y="67"/>
                        </a:lnTo>
                        <a:lnTo>
                          <a:pt x="1251" y="64"/>
                        </a:lnTo>
                        <a:lnTo>
                          <a:pt x="1246" y="59"/>
                        </a:lnTo>
                        <a:lnTo>
                          <a:pt x="1241" y="56"/>
                        </a:lnTo>
                        <a:lnTo>
                          <a:pt x="1236" y="52"/>
                        </a:lnTo>
                        <a:lnTo>
                          <a:pt x="1232" y="48"/>
                        </a:lnTo>
                        <a:lnTo>
                          <a:pt x="1227" y="45"/>
                        </a:lnTo>
                        <a:lnTo>
                          <a:pt x="1222" y="41"/>
                        </a:lnTo>
                        <a:lnTo>
                          <a:pt x="1217" y="38"/>
                        </a:lnTo>
                        <a:lnTo>
                          <a:pt x="1213" y="34"/>
                        </a:lnTo>
                        <a:lnTo>
                          <a:pt x="1208" y="31"/>
                        </a:lnTo>
                        <a:lnTo>
                          <a:pt x="1202" y="28"/>
                        </a:lnTo>
                        <a:lnTo>
                          <a:pt x="1197" y="26"/>
                        </a:lnTo>
                        <a:lnTo>
                          <a:pt x="1192" y="22"/>
                        </a:lnTo>
                        <a:lnTo>
                          <a:pt x="1188" y="20"/>
                        </a:lnTo>
                        <a:lnTo>
                          <a:pt x="1182" y="18"/>
                        </a:lnTo>
                        <a:lnTo>
                          <a:pt x="1177" y="15"/>
                        </a:lnTo>
                        <a:lnTo>
                          <a:pt x="1182" y="15"/>
                        </a:lnTo>
                        <a:lnTo>
                          <a:pt x="1187" y="15"/>
                        </a:lnTo>
                        <a:lnTo>
                          <a:pt x="1190" y="14"/>
                        </a:lnTo>
                        <a:lnTo>
                          <a:pt x="1195" y="14"/>
                        </a:lnTo>
                        <a:lnTo>
                          <a:pt x="1200" y="14"/>
                        </a:lnTo>
                        <a:lnTo>
                          <a:pt x="1203" y="14"/>
                        </a:lnTo>
                        <a:lnTo>
                          <a:pt x="1208" y="13"/>
                        </a:lnTo>
                        <a:lnTo>
                          <a:pt x="1213" y="13"/>
                        </a:lnTo>
                        <a:lnTo>
                          <a:pt x="1217" y="13"/>
                        </a:lnTo>
                        <a:lnTo>
                          <a:pt x="1221" y="13"/>
                        </a:lnTo>
                        <a:lnTo>
                          <a:pt x="1226" y="13"/>
                        </a:lnTo>
                        <a:lnTo>
                          <a:pt x="1230" y="13"/>
                        </a:lnTo>
                        <a:lnTo>
                          <a:pt x="1234" y="12"/>
                        </a:lnTo>
                        <a:lnTo>
                          <a:pt x="1239" y="12"/>
                        </a:lnTo>
                        <a:lnTo>
                          <a:pt x="1243" y="12"/>
                        </a:lnTo>
                        <a:lnTo>
                          <a:pt x="1247" y="12"/>
                        </a:lnTo>
                        <a:lnTo>
                          <a:pt x="1251" y="12"/>
                        </a:lnTo>
                        <a:lnTo>
                          <a:pt x="1255" y="10"/>
                        </a:lnTo>
                        <a:lnTo>
                          <a:pt x="1260" y="10"/>
                        </a:lnTo>
                        <a:lnTo>
                          <a:pt x="1264" y="10"/>
                        </a:lnTo>
                        <a:lnTo>
                          <a:pt x="1268" y="10"/>
                        </a:lnTo>
                        <a:lnTo>
                          <a:pt x="1272" y="10"/>
                        </a:lnTo>
                        <a:lnTo>
                          <a:pt x="1275" y="9"/>
                        </a:lnTo>
                        <a:lnTo>
                          <a:pt x="1280" y="9"/>
                        </a:lnTo>
                        <a:lnTo>
                          <a:pt x="1284" y="9"/>
                        </a:lnTo>
                        <a:lnTo>
                          <a:pt x="1289" y="9"/>
                        </a:lnTo>
                        <a:lnTo>
                          <a:pt x="1291" y="8"/>
                        </a:lnTo>
                        <a:lnTo>
                          <a:pt x="1296" y="8"/>
                        </a:lnTo>
                        <a:lnTo>
                          <a:pt x="1300" y="8"/>
                        </a:lnTo>
                        <a:lnTo>
                          <a:pt x="1304" y="8"/>
                        </a:lnTo>
                        <a:lnTo>
                          <a:pt x="1309" y="8"/>
                        </a:lnTo>
                        <a:lnTo>
                          <a:pt x="1312" y="8"/>
                        </a:lnTo>
                        <a:lnTo>
                          <a:pt x="1316" y="8"/>
                        </a:lnTo>
                        <a:lnTo>
                          <a:pt x="1319" y="7"/>
                        </a:lnTo>
                        <a:lnTo>
                          <a:pt x="1323" y="7"/>
                        </a:lnTo>
                        <a:lnTo>
                          <a:pt x="1327" y="7"/>
                        </a:lnTo>
                        <a:lnTo>
                          <a:pt x="1330" y="6"/>
                        </a:lnTo>
                        <a:lnTo>
                          <a:pt x="1334" y="6"/>
                        </a:lnTo>
                        <a:lnTo>
                          <a:pt x="1338" y="6"/>
                        </a:lnTo>
                        <a:lnTo>
                          <a:pt x="1342" y="6"/>
                        </a:lnTo>
                        <a:lnTo>
                          <a:pt x="1346" y="6"/>
                        </a:lnTo>
                        <a:lnTo>
                          <a:pt x="1349" y="5"/>
                        </a:lnTo>
                        <a:lnTo>
                          <a:pt x="1351" y="5"/>
                        </a:lnTo>
                        <a:lnTo>
                          <a:pt x="1356" y="5"/>
                        </a:lnTo>
                        <a:lnTo>
                          <a:pt x="1359" y="5"/>
                        </a:lnTo>
                        <a:lnTo>
                          <a:pt x="1362" y="3"/>
                        </a:lnTo>
                        <a:lnTo>
                          <a:pt x="1366" y="3"/>
                        </a:lnTo>
                        <a:lnTo>
                          <a:pt x="1369" y="3"/>
                        </a:lnTo>
                        <a:lnTo>
                          <a:pt x="1372" y="3"/>
                        </a:lnTo>
                        <a:lnTo>
                          <a:pt x="1375" y="3"/>
                        </a:lnTo>
                        <a:lnTo>
                          <a:pt x="1379" y="3"/>
                        </a:lnTo>
                        <a:lnTo>
                          <a:pt x="1382" y="3"/>
                        </a:lnTo>
                        <a:lnTo>
                          <a:pt x="1385" y="2"/>
                        </a:lnTo>
                        <a:lnTo>
                          <a:pt x="1387" y="2"/>
                        </a:lnTo>
                        <a:lnTo>
                          <a:pt x="1389" y="1"/>
                        </a:lnTo>
                        <a:lnTo>
                          <a:pt x="1393" y="1"/>
                        </a:lnTo>
                        <a:lnTo>
                          <a:pt x="1395" y="1"/>
                        </a:lnTo>
                        <a:lnTo>
                          <a:pt x="1398" y="0"/>
                        </a:lnTo>
                        <a:lnTo>
                          <a:pt x="1401" y="0"/>
                        </a:lnTo>
                        <a:lnTo>
                          <a:pt x="1405" y="0"/>
                        </a:lnTo>
                        <a:lnTo>
                          <a:pt x="1407" y="0"/>
                        </a:lnTo>
                        <a:lnTo>
                          <a:pt x="1410" y="0"/>
                        </a:lnTo>
                        <a:lnTo>
                          <a:pt x="1412" y="0"/>
                        </a:lnTo>
                        <a:lnTo>
                          <a:pt x="1416" y="0"/>
                        </a:lnTo>
                        <a:lnTo>
                          <a:pt x="1425" y="84"/>
                        </a:lnTo>
                        <a:lnTo>
                          <a:pt x="1424" y="84"/>
                        </a:lnTo>
                        <a:lnTo>
                          <a:pt x="1421" y="84"/>
                        </a:lnTo>
                        <a:lnTo>
                          <a:pt x="1420" y="84"/>
                        </a:lnTo>
                        <a:lnTo>
                          <a:pt x="1416" y="84"/>
                        </a:lnTo>
                        <a:lnTo>
                          <a:pt x="1412" y="85"/>
                        </a:lnTo>
                        <a:lnTo>
                          <a:pt x="1407" y="85"/>
                        </a:lnTo>
                        <a:lnTo>
                          <a:pt x="1402" y="86"/>
                        </a:lnTo>
                        <a:lnTo>
                          <a:pt x="1400" y="86"/>
                        </a:lnTo>
                        <a:lnTo>
                          <a:pt x="1397" y="86"/>
                        </a:lnTo>
                        <a:lnTo>
                          <a:pt x="1393" y="86"/>
                        </a:lnTo>
                        <a:lnTo>
                          <a:pt x="1389" y="88"/>
                        </a:lnTo>
                        <a:lnTo>
                          <a:pt x="1387" y="88"/>
                        </a:lnTo>
                        <a:lnTo>
                          <a:pt x="1383" y="89"/>
                        </a:lnTo>
                        <a:lnTo>
                          <a:pt x="1380" y="89"/>
                        </a:lnTo>
                        <a:lnTo>
                          <a:pt x="1376" y="89"/>
                        </a:lnTo>
                        <a:lnTo>
                          <a:pt x="1372" y="89"/>
                        </a:lnTo>
                        <a:lnTo>
                          <a:pt x="1368" y="90"/>
                        </a:lnTo>
                        <a:lnTo>
                          <a:pt x="1363" y="90"/>
                        </a:lnTo>
                        <a:lnTo>
                          <a:pt x="1360" y="91"/>
                        </a:lnTo>
                        <a:lnTo>
                          <a:pt x="1354" y="91"/>
                        </a:lnTo>
                        <a:lnTo>
                          <a:pt x="1350" y="91"/>
                        </a:lnTo>
                        <a:lnTo>
                          <a:pt x="1346" y="92"/>
                        </a:lnTo>
                        <a:lnTo>
                          <a:pt x="1341" y="94"/>
                        </a:lnTo>
                        <a:lnTo>
                          <a:pt x="1335" y="94"/>
                        </a:lnTo>
                        <a:lnTo>
                          <a:pt x="1329" y="94"/>
                        </a:lnTo>
                        <a:lnTo>
                          <a:pt x="1324" y="94"/>
                        </a:lnTo>
                        <a:lnTo>
                          <a:pt x="1319" y="95"/>
                        </a:lnTo>
                        <a:lnTo>
                          <a:pt x="1312" y="96"/>
                        </a:lnTo>
                        <a:lnTo>
                          <a:pt x="1306" y="96"/>
                        </a:lnTo>
                        <a:lnTo>
                          <a:pt x="1302" y="97"/>
                        </a:lnTo>
                        <a:lnTo>
                          <a:pt x="1296" y="97"/>
                        </a:lnTo>
                        <a:lnTo>
                          <a:pt x="1289" y="97"/>
                        </a:lnTo>
                        <a:lnTo>
                          <a:pt x="1283" y="97"/>
                        </a:lnTo>
                        <a:lnTo>
                          <a:pt x="1275" y="98"/>
                        </a:lnTo>
                        <a:lnTo>
                          <a:pt x="1270" y="100"/>
                        </a:lnTo>
                        <a:lnTo>
                          <a:pt x="1262" y="100"/>
                        </a:lnTo>
                        <a:lnTo>
                          <a:pt x="1255" y="100"/>
                        </a:lnTo>
                        <a:lnTo>
                          <a:pt x="1249" y="100"/>
                        </a:lnTo>
                        <a:lnTo>
                          <a:pt x="1242" y="102"/>
                        </a:lnTo>
                        <a:lnTo>
                          <a:pt x="1235" y="102"/>
                        </a:lnTo>
                        <a:lnTo>
                          <a:pt x="1228" y="102"/>
                        </a:lnTo>
                        <a:lnTo>
                          <a:pt x="1220" y="102"/>
                        </a:lnTo>
                        <a:lnTo>
                          <a:pt x="1213" y="102"/>
                        </a:lnTo>
                        <a:lnTo>
                          <a:pt x="1205" y="103"/>
                        </a:lnTo>
                        <a:lnTo>
                          <a:pt x="1197" y="104"/>
                        </a:lnTo>
                        <a:lnTo>
                          <a:pt x="1190" y="104"/>
                        </a:lnTo>
                        <a:lnTo>
                          <a:pt x="1182" y="104"/>
                        </a:lnTo>
                        <a:lnTo>
                          <a:pt x="1173" y="104"/>
                        </a:lnTo>
                        <a:lnTo>
                          <a:pt x="1165" y="104"/>
                        </a:lnTo>
                        <a:lnTo>
                          <a:pt x="1157" y="105"/>
                        </a:lnTo>
                        <a:lnTo>
                          <a:pt x="1149" y="107"/>
                        </a:lnTo>
                        <a:lnTo>
                          <a:pt x="1140" y="107"/>
                        </a:lnTo>
                        <a:lnTo>
                          <a:pt x="1132" y="107"/>
                        </a:lnTo>
                        <a:lnTo>
                          <a:pt x="1122" y="107"/>
                        </a:lnTo>
                        <a:lnTo>
                          <a:pt x="1114" y="107"/>
                        </a:lnTo>
                        <a:lnTo>
                          <a:pt x="1112" y="103"/>
                        </a:lnTo>
                        <a:lnTo>
                          <a:pt x="1108" y="100"/>
                        </a:lnTo>
                        <a:lnTo>
                          <a:pt x="1106" y="95"/>
                        </a:lnTo>
                        <a:lnTo>
                          <a:pt x="1102" y="91"/>
                        </a:lnTo>
                        <a:lnTo>
                          <a:pt x="1099" y="89"/>
                        </a:lnTo>
                        <a:lnTo>
                          <a:pt x="1096" y="85"/>
                        </a:lnTo>
                        <a:lnTo>
                          <a:pt x="1094" y="82"/>
                        </a:lnTo>
                        <a:lnTo>
                          <a:pt x="1090" y="79"/>
                        </a:lnTo>
                        <a:lnTo>
                          <a:pt x="1086" y="76"/>
                        </a:lnTo>
                        <a:lnTo>
                          <a:pt x="1083" y="73"/>
                        </a:lnTo>
                        <a:lnTo>
                          <a:pt x="1080" y="71"/>
                        </a:lnTo>
                        <a:lnTo>
                          <a:pt x="1076" y="70"/>
                        </a:lnTo>
                        <a:lnTo>
                          <a:pt x="1074" y="67"/>
                        </a:lnTo>
                        <a:lnTo>
                          <a:pt x="1070" y="65"/>
                        </a:lnTo>
                        <a:lnTo>
                          <a:pt x="1065" y="64"/>
                        </a:lnTo>
                        <a:lnTo>
                          <a:pt x="1063" y="62"/>
                        </a:lnTo>
                        <a:lnTo>
                          <a:pt x="1060" y="60"/>
                        </a:lnTo>
                        <a:lnTo>
                          <a:pt x="1056" y="58"/>
                        </a:lnTo>
                        <a:lnTo>
                          <a:pt x="1051" y="56"/>
                        </a:lnTo>
                        <a:lnTo>
                          <a:pt x="1048" y="56"/>
                        </a:lnTo>
                        <a:lnTo>
                          <a:pt x="1044" y="53"/>
                        </a:lnTo>
                        <a:lnTo>
                          <a:pt x="1041" y="52"/>
                        </a:lnTo>
                        <a:lnTo>
                          <a:pt x="1037" y="51"/>
                        </a:lnTo>
                        <a:lnTo>
                          <a:pt x="1033" y="50"/>
                        </a:lnTo>
                        <a:lnTo>
                          <a:pt x="1030" y="48"/>
                        </a:lnTo>
                        <a:lnTo>
                          <a:pt x="1026" y="46"/>
                        </a:lnTo>
                        <a:lnTo>
                          <a:pt x="1022" y="45"/>
                        </a:lnTo>
                        <a:lnTo>
                          <a:pt x="1018" y="44"/>
                        </a:lnTo>
                        <a:lnTo>
                          <a:pt x="1014" y="43"/>
                        </a:lnTo>
                        <a:lnTo>
                          <a:pt x="1011" y="41"/>
                        </a:lnTo>
                        <a:lnTo>
                          <a:pt x="1007" y="39"/>
                        </a:lnTo>
                        <a:lnTo>
                          <a:pt x="1004" y="38"/>
                        </a:lnTo>
                        <a:lnTo>
                          <a:pt x="1001" y="38"/>
                        </a:lnTo>
                        <a:lnTo>
                          <a:pt x="1000" y="39"/>
                        </a:lnTo>
                        <a:lnTo>
                          <a:pt x="998" y="40"/>
                        </a:lnTo>
                        <a:lnTo>
                          <a:pt x="994" y="41"/>
                        </a:lnTo>
                        <a:lnTo>
                          <a:pt x="990" y="43"/>
                        </a:lnTo>
                        <a:lnTo>
                          <a:pt x="987" y="45"/>
                        </a:lnTo>
                        <a:lnTo>
                          <a:pt x="982" y="47"/>
                        </a:lnTo>
                        <a:lnTo>
                          <a:pt x="980" y="51"/>
                        </a:lnTo>
                        <a:lnTo>
                          <a:pt x="974" y="53"/>
                        </a:lnTo>
                        <a:lnTo>
                          <a:pt x="971" y="56"/>
                        </a:lnTo>
                        <a:lnTo>
                          <a:pt x="967" y="58"/>
                        </a:lnTo>
                        <a:lnTo>
                          <a:pt x="962" y="60"/>
                        </a:lnTo>
                        <a:lnTo>
                          <a:pt x="959" y="62"/>
                        </a:lnTo>
                        <a:lnTo>
                          <a:pt x="956" y="64"/>
                        </a:lnTo>
                        <a:lnTo>
                          <a:pt x="952" y="65"/>
                        </a:lnTo>
                        <a:lnTo>
                          <a:pt x="950" y="67"/>
                        </a:lnTo>
                        <a:lnTo>
                          <a:pt x="952" y="69"/>
                        </a:lnTo>
                        <a:lnTo>
                          <a:pt x="955" y="71"/>
                        </a:lnTo>
                        <a:lnTo>
                          <a:pt x="959" y="76"/>
                        </a:lnTo>
                        <a:lnTo>
                          <a:pt x="962" y="79"/>
                        </a:lnTo>
                        <a:lnTo>
                          <a:pt x="965" y="82"/>
                        </a:lnTo>
                        <a:lnTo>
                          <a:pt x="969" y="85"/>
                        </a:lnTo>
                        <a:lnTo>
                          <a:pt x="972" y="88"/>
                        </a:lnTo>
                        <a:lnTo>
                          <a:pt x="974" y="91"/>
                        </a:lnTo>
                        <a:lnTo>
                          <a:pt x="976" y="89"/>
                        </a:lnTo>
                        <a:lnTo>
                          <a:pt x="980" y="86"/>
                        </a:lnTo>
                        <a:lnTo>
                          <a:pt x="982" y="85"/>
                        </a:lnTo>
                        <a:lnTo>
                          <a:pt x="985" y="84"/>
                        </a:lnTo>
                        <a:lnTo>
                          <a:pt x="987" y="83"/>
                        </a:lnTo>
                        <a:lnTo>
                          <a:pt x="990" y="83"/>
                        </a:lnTo>
                        <a:lnTo>
                          <a:pt x="992" y="82"/>
                        </a:lnTo>
                        <a:lnTo>
                          <a:pt x="995" y="82"/>
                        </a:lnTo>
                        <a:lnTo>
                          <a:pt x="1000" y="82"/>
                        </a:lnTo>
                        <a:lnTo>
                          <a:pt x="1005" y="83"/>
                        </a:lnTo>
                        <a:lnTo>
                          <a:pt x="1010" y="84"/>
                        </a:lnTo>
                        <a:lnTo>
                          <a:pt x="1014" y="85"/>
                        </a:lnTo>
                        <a:lnTo>
                          <a:pt x="1018" y="86"/>
                        </a:lnTo>
                        <a:lnTo>
                          <a:pt x="1023" y="89"/>
                        </a:lnTo>
                        <a:lnTo>
                          <a:pt x="1026" y="91"/>
                        </a:lnTo>
                        <a:lnTo>
                          <a:pt x="1031" y="96"/>
                        </a:lnTo>
                        <a:lnTo>
                          <a:pt x="1035" y="98"/>
                        </a:lnTo>
                        <a:lnTo>
                          <a:pt x="1038" y="102"/>
                        </a:lnTo>
                        <a:lnTo>
                          <a:pt x="1043" y="104"/>
                        </a:lnTo>
                        <a:lnTo>
                          <a:pt x="1047" y="109"/>
                        </a:lnTo>
                        <a:lnTo>
                          <a:pt x="1042" y="109"/>
                        </a:lnTo>
                        <a:lnTo>
                          <a:pt x="1037" y="109"/>
                        </a:lnTo>
                        <a:lnTo>
                          <a:pt x="1032" y="109"/>
                        </a:lnTo>
                        <a:lnTo>
                          <a:pt x="1028" y="109"/>
                        </a:lnTo>
                        <a:lnTo>
                          <a:pt x="1022" y="109"/>
                        </a:lnTo>
                        <a:lnTo>
                          <a:pt x="1018" y="109"/>
                        </a:lnTo>
                        <a:lnTo>
                          <a:pt x="1012" y="109"/>
                        </a:lnTo>
                        <a:lnTo>
                          <a:pt x="1007" y="109"/>
                        </a:lnTo>
                        <a:lnTo>
                          <a:pt x="1003" y="108"/>
                        </a:lnTo>
                        <a:lnTo>
                          <a:pt x="998" y="108"/>
                        </a:lnTo>
                        <a:lnTo>
                          <a:pt x="992" y="108"/>
                        </a:lnTo>
                        <a:lnTo>
                          <a:pt x="987" y="108"/>
                        </a:lnTo>
                        <a:lnTo>
                          <a:pt x="982" y="108"/>
                        </a:lnTo>
                        <a:lnTo>
                          <a:pt x="978" y="108"/>
                        </a:lnTo>
                        <a:lnTo>
                          <a:pt x="973" y="108"/>
                        </a:lnTo>
                        <a:lnTo>
                          <a:pt x="968" y="108"/>
                        </a:lnTo>
                        <a:lnTo>
                          <a:pt x="965" y="107"/>
                        </a:lnTo>
                        <a:lnTo>
                          <a:pt x="962" y="107"/>
                        </a:lnTo>
                        <a:lnTo>
                          <a:pt x="960" y="107"/>
                        </a:lnTo>
                        <a:lnTo>
                          <a:pt x="958" y="107"/>
                        </a:lnTo>
                        <a:lnTo>
                          <a:pt x="954" y="107"/>
                        </a:lnTo>
                        <a:lnTo>
                          <a:pt x="952" y="107"/>
                        </a:lnTo>
                        <a:lnTo>
                          <a:pt x="949" y="107"/>
                        </a:lnTo>
                        <a:lnTo>
                          <a:pt x="947" y="107"/>
                        </a:lnTo>
                        <a:lnTo>
                          <a:pt x="944" y="107"/>
                        </a:lnTo>
                        <a:lnTo>
                          <a:pt x="942" y="107"/>
                        </a:lnTo>
                        <a:lnTo>
                          <a:pt x="940" y="107"/>
                        </a:lnTo>
                        <a:lnTo>
                          <a:pt x="936" y="107"/>
                        </a:lnTo>
                        <a:lnTo>
                          <a:pt x="931" y="107"/>
                        </a:lnTo>
                        <a:lnTo>
                          <a:pt x="927" y="107"/>
                        </a:lnTo>
                        <a:lnTo>
                          <a:pt x="924" y="107"/>
                        </a:lnTo>
                        <a:lnTo>
                          <a:pt x="921" y="107"/>
                        </a:lnTo>
                        <a:lnTo>
                          <a:pt x="918" y="107"/>
                        </a:lnTo>
                        <a:lnTo>
                          <a:pt x="916" y="107"/>
                        </a:lnTo>
                        <a:lnTo>
                          <a:pt x="914" y="107"/>
                        </a:lnTo>
                        <a:lnTo>
                          <a:pt x="910" y="107"/>
                        </a:lnTo>
                        <a:lnTo>
                          <a:pt x="908" y="107"/>
                        </a:lnTo>
                        <a:lnTo>
                          <a:pt x="905" y="107"/>
                        </a:lnTo>
                        <a:lnTo>
                          <a:pt x="903" y="105"/>
                        </a:lnTo>
                        <a:lnTo>
                          <a:pt x="899" y="105"/>
                        </a:lnTo>
                        <a:lnTo>
                          <a:pt x="897" y="105"/>
                        </a:lnTo>
                        <a:lnTo>
                          <a:pt x="895" y="105"/>
                        </a:lnTo>
                        <a:lnTo>
                          <a:pt x="892" y="105"/>
                        </a:lnTo>
                        <a:lnTo>
                          <a:pt x="889" y="105"/>
                        </a:lnTo>
                        <a:lnTo>
                          <a:pt x="886" y="105"/>
                        </a:lnTo>
                        <a:lnTo>
                          <a:pt x="884" y="105"/>
                        </a:lnTo>
                        <a:lnTo>
                          <a:pt x="880" y="104"/>
                        </a:lnTo>
                        <a:lnTo>
                          <a:pt x="877" y="104"/>
                        </a:lnTo>
                        <a:lnTo>
                          <a:pt x="873" y="104"/>
                        </a:lnTo>
                        <a:lnTo>
                          <a:pt x="870" y="104"/>
                        </a:lnTo>
                        <a:lnTo>
                          <a:pt x="866" y="104"/>
                        </a:lnTo>
                        <a:lnTo>
                          <a:pt x="863" y="104"/>
                        </a:lnTo>
                        <a:lnTo>
                          <a:pt x="858" y="104"/>
                        </a:lnTo>
                        <a:lnTo>
                          <a:pt x="855" y="104"/>
                        </a:lnTo>
                        <a:lnTo>
                          <a:pt x="852" y="104"/>
                        </a:lnTo>
                        <a:lnTo>
                          <a:pt x="848" y="104"/>
                        </a:lnTo>
                        <a:lnTo>
                          <a:pt x="845" y="104"/>
                        </a:lnTo>
                        <a:lnTo>
                          <a:pt x="840" y="104"/>
                        </a:lnTo>
                        <a:lnTo>
                          <a:pt x="838" y="104"/>
                        </a:lnTo>
                        <a:lnTo>
                          <a:pt x="834" y="104"/>
                        </a:lnTo>
                        <a:lnTo>
                          <a:pt x="831" y="104"/>
                        </a:lnTo>
                        <a:lnTo>
                          <a:pt x="827" y="104"/>
                        </a:lnTo>
                        <a:lnTo>
                          <a:pt x="826" y="100"/>
                        </a:lnTo>
                        <a:lnTo>
                          <a:pt x="826" y="96"/>
                        </a:lnTo>
                        <a:lnTo>
                          <a:pt x="825" y="91"/>
                        </a:lnTo>
                        <a:lnTo>
                          <a:pt x="823" y="89"/>
                        </a:lnTo>
                        <a:lnTo>
                          <a:pt x="822" y="84"/>
                        </a:lnTo>
                        <a:lnTo>
                          <a:pt x="822" y="81"/>
                        </a:lnTo>
                        <a:lnTo>
                          <a:pt x="821" y="76"/>
                        </a:lnTo>
                        <a:lnTo>
                          <a:pt x="821" y="73"/>
                        </a:lnTo>
                        <a:lnTo>
                          <a:pt x="818" y="73"/>
                        </a:lnTo>
                        <a:lnTo>
                          <a:pt x="814" y="76"/>
                        </a:lnTo>
                        <a:lnTo>
                          <a:pt x="810" y="76"/>
                        </a:lnTo>
                        <a:lnTo>
                          <a:pt x="807" y="78"/>
                        </a:lnTo>
                        <a:lnTo>
                          <a:pt x="803" y="78"/>
                        </a:lnTo>
                        <a:lnTo>
                          <a:pt x="800" y="78"/>
                        </a:lnTo>
                        <a:lnTo>
                          <a:pt x="797" y="76"/>
                        </a:lnTo>
                        <a:lnTo>
                          <a:pt x="795" y="76"/>
                        </a:lnTo>
                        <a:lnTo>
                          <a:pt x="793" y="75"/>
                        </a:lnTo>
                        <a:lnTo>
                          <a:pt x="790" y="73"/>
                        </a:lnTo>
                        <a:lnTo>
                          <a:pt x="787" y="71"/>
                        </a:lnTo>
                        <a:lnTo>
                          <a:pt x="784" y="70"/>
                        </a:lnTo>
                        <a:lnTo>
                          <a:pt x="780" y="66"/>
                        </a:lnTo>
                        <a:lnTo>
                          <a:pt x="775" y="62"/>
                        </a:lnTo>
                        <a:lnTo>
                          <a:pt x="772" y="59"/>
                        </a:lnTo>
                        <a:lnTo>
                          <a:pt x="770" y="56"/>
                        </a:lnTo>
                        <a:lnTo>
                          <a:pt x="766" y="53"/>
                        </a:lnTo>
                        <a:lnTo>
                          <a:pt x="765" y="51"/>
                        </a:lnTo>
                        <a:lnTo>
                          <a:pt x="761" y="46"/>
                        </a:lnTo>
                        <a:lnTo>
                          <a:pt x="756" y="41"/>
                        </a:lnTo>
                        <a:lnTo>
                          <a:pt x="753" y="39"/>
                        </a:lnTo>
                        <a:lnTo>
                          <a:pt x="751" y="38"/>
                        </a:lnTo>
                        <a:lnTo>
                          <a:pt x="748" y="35"/>
                        </a:lnTo>
                        <a:lnTo>
                          <a:pt x="745" y="34"/>
                        </a:lnTo>
                        <a:lnTo>
                          <a:pt x="742" y="33"/>
                        </a:lnTo>
                        <a:lnTo>
                          <a:pt x="739" y="33"/>
                        </a:lnTo>
                        <a:lnTo>
                          <a:pt x="737" y="32"/>
                        </a:lnTo>
                        <a:lnTo>
                          <a:pt x="733" y="32"/>
                        </a:lnTo>
                        <a:lnTo>
                          <a:pt x="729" y="37"/>
                        </a:lnTo>
                        <a:lnTo>
                          <a:pt x="726" y="41"/>
                        </a:lnTo>
                        <a:lnTo>
                          <a:pt x="724" y="46"/>
                        </a:lnTo>
                        <a:lnTo>
                          <a:pt x="721" y="52"/>
                        </a:lnTo>
                        <a:lnTo>
                          <a:pt x="720" y="56"/>
                        </a:lnTo>
                        <a:lnTo>
                          <a:pt x="720" y="62"/>
                        </a:lnTo>
                        <a:lnTo>
                          <a:pt x="721" y="66"/>
                        </a:lnTo>
                        <a:lnTo>
                          <a:pt x="723" y="71"/>
                        </a:lnTo>
                        <a:lnTo>
                          <a:pt x="724" y="73"/>
                        </a:lnTo>
                        <a:lnTo>
                          <a:pt x="726" y="79"/>
                        </a:lnTo>
                        <a:lnTo>
                          <a:pt x="729" y="83"/>
                        </a:lnTo>
                        <a:lnTo>
                          <a:pt x="732" y="86"/>
                        </a:lnTo>
                        <a:lnTo>
                          <a:pt x="734" y="91"/>
                        </a:lnTo>
                        <a:lnTo>
                          <a:pt x="739" y="94"/>
                        </a:lnTo>
                        <a:lnTo>
                          <a:pt x="744" y="97"/>
                        </a:lnTo>
                        <a:lnTo>
                          <a:pt x="749" y="102"/>
                        </a:lnTo>
                        <a:lnTo>
                          <a:pt x="744" y="102"/>
                        </a:lnTo>
                        <a:lnTo>
                          <a:pt x="742" y="102"/>
                        </a:lnTo>
                        <a:lnTo>
                          <a:pt x="739" y="102"/>
                        </a:lnTo>
                        <a:lnTo>
                          <a:pt x="737" y="102"/>
                        </a:lnTo>
                        <a:lnTo>
                          <a:pt x="733" y="101"/>
                        </a:lnTo>
                        <a:lnTo>
                          <a:pt x="730" y="101"/>
                        </a:lnTo>
                        <a:lnTo>
                          <a:pt x="726" y="101"/>
                        </a:lnTo>
                        <a:lnTo>
                          <a:pt x="724" y="101"/>
                        </a:lnTo>
                        <a:lnTo>
                          <a:pt x="721" y="101"/>
                        </a:lnTo>
                        <a:lnTo>
                          <a:pt x="719" y="101"/>
                        </a:lnTo>
                        <a:lnTo>
                          <a:pt x="715" y="101"/>
                        </a:lnTo>
                        <a:lnTo>
                          <a:pt x="713" y="101"/>
                        </a:lnTo>
                        <a:lnTo>
                          <a:pt x="710" y="101"/>
                        </a:lnTo>
                        <a:lnTo>
                          <a:pt x="707" y="101"/>
                        </a:lnTo>
                        <a:lnTo>
                          <a:pt x="704" y="101"/>
                        </a:lnTo>
                        <a:lnTo>
                          <a:pt x="701" y="101"/>
                        </a:lnTo>
                        <a:lnTo>
                          <a:pt x="699" y="100"/>
                        </a:lnTo>
                        <a:lnTo>
                          <a:pt x="695" y="100"/>
                        </a:lnTo>
                        <a:lnTo>
                          <a:pt x="693" y="100"/>
                        </a:lnTo>
                        <a:lnTo>
                          <a:pt x="689" y="100"/>
                        </a:lnTo>
                        <a:lnTo>
                          <a:pt x="687" y="100"/>
                        </a:lnTo>
                        <a:lnTo>
                          <a:pt x="683" y="100"/>
                        </a:lnTo>
                        <a:lnTo>
                          <a:pt x="681" y="100"/>
                        </a:lnTo>
                        <a:lnTo>
                          <a:pt x="679" y="100"/>
                        </a:lnTo>
                        <a:lnTo>
                          <a:pt x="676" y="100"/>
                        </a:lnTo>
                        <a:lnTo>
                          <a:pt x="673" y="100"/>
                        </a:lnTo>
                        <a:lnTo>
                          <a:pt x="669" y="100"/>
                        </a:lnTo>
                        <a:lnTo>
                          <a:pt x="667" y="100"/>
                        </a:lnTo>
                        <a:lnTo>
                          <a:pt x="664" y="100"/>
                        </a:lnTo>
                        <a:lnTo>
                          <a:pt x="662" y="100"/>
                        </a:lnTo>
                        <a:lnTo>
                          <a:pt x="659" y="100"/>
                        </a:lnTo>
                        <a:lnTo>
                          <a:pt x="656" y="100"/>
                        </a:lnTo>
                        <a:lnTo>
                          <a:pt x="661" y="96"/>
                        </a:lnTo>
                        <a:lnTo>
                          <a:pt x="666" y="91"/>
                        </a:lnTo>
                        <a:lnTo>
                          <a:pt x="670" y="86"/>
                        </a:lnTo>
                        <a:lnTo>
                          <a:pt x="675" y="82"/>
                        </a:lnTo>
                        <a:lnTo>
                          <a:pt x="676" y="79"/>
                        </a:lnTo>
                        <a:lnTo>
                          <a:pt x="679" y="76"/>
                        </a:lnTo>
                        <a:lnTo>
                          <a:pt x="679" y="72"/>
                        </a:lnTo>
                        <a:lnTo>
                          <a:pt x="681" y="70"/>
                        </a:lnTo>
                        <a:lnTo>
                          <a:pt x="682" y="66"/>
                        </a:lnTo>
                        <a:lnTo>
                          <a:pt x="683" y="63"/>
                        </a:lnTo>
                        <a:lnTo>
                          <a:pt x="685" y="59"/>
                        </a:lnTo>
                        <a:lnTo>
                          <a:pt x="686" y="56"/>
                        </a:lnTo>
                        <a:lnTo>
                          <a:pt x="683" y="53"/>
                        </a:lnTo>
                        <a:lnTo>
                          <a:pt x="680" y="52"/>
                        </a:lnTo>
                        <a:lnTo>
                          <a:pt x="677" y="51"/>
                        </a:lnTo>
                        <a:lnTo>
                          <a:pt x="674" y="51"/>
                        </a:lnTo>
                        <a:lnTo>
                          <a:pt x="670" y="50"/>
                        </a:lnTo>
                        <a:lnTo>
                          <a:pt x="668" y="50"/>
                        </a:lnTo>
                        <a:lnTo>
                          <a:pt x="664" y="50"/>
                        </a:lnTo>
                        <a:lnTo>
                          <a:pt x="662" y="50"/>
                        </a:lnTo>
                        <a:lnTo>
                          <a:pt x="659" y="48"/>
                        </a:lnTo>
                        <a:lnTo>
                          <a:pt x="656" y="48"/>
                        </a:lnTo>
                        <a:lnTo>
                          <a:pt x="651" y="50"/>
                        </a:lnTo>
                        <a:lnTo>
                          <a:pt x="649" y="50"/>
                        </a:lnTo>
                        <a:lnTo>
                          <a:pt x="645" y="50"/>
                        </a:lnTo>
                        <a:lnTo>
                          <a:pt x="643" y="51"/>
                        </a:lnTo>
                        <a:lnTo>
                          <a:pt x="640" y="51"/>
                        </a:lnTo>
                        <a:lnTo>
                          <a:pt x="636" y="52"/>
                        </a:lnTo>
                        <a:lnTo>
                          <a:pt x="632" y="52"/>
                        </a:lnTo>
                        <a:lnTo>
                          <a:pt x="630" y="52"/>
                        </a:lnTo>
                        <a:lnTo>
                          <a:pt x="625" y="52"/>
                        </a:lnTo>
                        <a:lnTo>
                          <a:pt x="623" y="53"/>
                        </a:lnTo>
                        <a:lnTo>
                          <a:pt x="619" y="53"/>
                        </a:lnTo>
                        <a:lnTo>
                          <a:pt x="616" y="53"/>
                        </a:lnTo>
                        <a:lnTo>
                          <a:pt x="612" y="53"/>
                        </a:lnTo>
                        <a:lnTo>
                          <a:pt x="610" y="53"/>
                        </a:lnTo>
                        <a:lnTo>
                          <a:pt x="607" y="52"/>
                        </a:lnTo>
                        <a:lnTo>
                          <a:pt x="604" y="52"/>
                        </a:lnTo>
                        <a:lnTo>
                          <a:pt x="600" y="51"/>
                        </a:lnTo>
                        <a:lnTo>
                          <a:pt x="598" y="51"/>
                        </a:lnTo>
                        <a:lnTo>
                          <a:pt x="594" y="48"/>
                        </a:lnTo>
                        <a:lnTo>
                          <a:pt x="592" y="47"/>
                        </a:lnTo>
                        <a:lnTo>
                          <a:pt x="589" y="46"/>
                        </a:lnTo>
                        <a:lnTo>
                          <a:pt x="586" y="44"/>
                        </a:lnTo>
                        <a:lnTo>
                          <a:pt x="585" y="46"/>
                        </a:lnTo>
                        <a:lnTo>
                          <a:pt x="585" y="48"/>
                        </a:lnTo>
                        <a:lnTo>
                          <a:pt x="584" y="51"/>
                        </a:lnTo>
                        <a:lnTo>
                          <a:pt x="583" y="53"/>
                        </a:lnTo>
                        <a:lnTo>
                          <a:pt x="583" y="56"/>
                        </a:lnTo>
                        <a:lnTo>
                          <a:pt x="581" y="60"/>
                        </a:lnTo>
                        <a:lnTo>
                          <a:pt x="580" y="64"/>
                        </a:lnTo>
                        <a:lnTo>
                          <a:pt x="580" y="69"/>
                        </a:lnTo>
                        <a:lnTo>
                          <a:pt x="579" y="72"/>
                        </a:lnTo>
                        <a:lnTo>
                          <a:pt x="579" y="76"/>
                        </a:lnTo>
                        <a:lnTo>
                          <a:pt x="578" y="81"/>
                        </a:lnTo>
                        <a:lnTo>
                          <a:pt x="577" y="85"/>
                        </a:lnTo>
                        <a:lnTo>
                          <a:pt x="577" y="89"/>
                        </a:lnTo>
                        <a:lnTo>
                          <a:pt x="577" y="92"/>
                        </a:lnTo>
                        <a:lnTo>
                          <a:pt x="575" y="97"/>
                        </a:lnTo>
                        <a:lnTo>
                          <a:pt x="575" y="101"/>
                        </a:lnTo>
                        <a:lnTo>
                          <a:pt x="572" y="101"/>
                        </a:lnTo>
                        <a:lnTo>
                          <a:pt x="570" y="101"/>
                        </a:lnTo>
                        <a:lnTo>
                          <a:pt x="567" y="101"/>
                        </a:lnTo>
                        <a:lnTo>
                          <a:pt x="564" y="101"/>
                        </a:lnTo>
                        <a:lnTo>
                          <a:pt x="560" y="101"/>
                        </a:lnTo>
                        <a:lnTo>
                          <a:pt x="556" y="101"/>
                        </a:lnTo>
                        <a:lnTo>
                          <a:pt x="554" y="101"/>
                        </a:lnTo>
                        <a:lnTo>
                          <a:pt x="552" y="101"/>
                        </a:lnTo>
                        <a:lnTo>
                          <a:pt x="549" y="101"/>
                        </a:lnTo>
                        <a:lnTo>
                          <a:pt x="546" y="101"/>
                        </a:lnTo>
                        <a:lnTo>
                          <a:pt x="542" y="101"/>
                        </a:lnTo>
                        <a:lnTo>
                          <a:pt x="540" y="101"/>
                        </a:lnTo>
                        <a:lnTo>
                          <a:pt x="536" y="101"/>
                        </a:lnTo>
                        <a:lnTo>
                          <a:pt x="534" y="101"/>
                        </a:lnTo>
                        <a:lnTo>
                          <a:pt x="532" y="101"/>
                        </a:lnTo>
                        <a:lnTo>
                          <a:pt x="529" y="101"/>
                        </a:lnTo>
                        <a:lnTo>
                          <a:pt x="526" y="101"/>
                        </a:lnTo>
                        <a:lnTo>
                          <a:pt x="523" y="101"/>
                        </a:lnTo>
                        <a:lnTo>
                          <a:pt x="520" y="101"/>
                        </a:lnTo>
                        <a:lnTo>
                          <a:pt x="516" y="101"/>
                        </a:lnTo>
                        <a:lnTo>
                          <a:pt x="514" y="101"/>
                        </a:lnTo>
                        <a:lnTo>
                          <a:pt x="511" y="101"/>
                        </a:lnTo>
                        <a:lnTo>
                          <a:pt x="509" y="101"/>
                        </a:lnTo>
                        <a:lnTo>
                          <a:pt x="507" y="101"/>
                        </a:lnTo>
                        <a:lnTo>
                          <a:pt x="503" y="101"/>
                        </a:lnTo>
                        <a:lnTo>
                          <a:pt x="501" y="101"/>
                        </a:lnTo>
                        <a:lnTo>
                          <a:pt x="497" y="101"/>
                        </a:lnTo>
                        <a:lnTo>
                          <a:pt x="495" y="101"/>
                        </a:lnTo>
                        <a:lnTo>
                          <a:pt x="492" y="101"/>
                        </a:lnTo>
                        <a:lnTo>
                          <a:pt x="490" y="101"/>
                        </a:lnTo>
                        <a:lnTo>
                          <a:pt x="486" y="101"/>
                        </a:lnTo>
                        <a:lnTo>
                          <a:pt x="484" y="102"/>
                        </a:lnTo>
                        <a:lnTo>
                          <a:pt x="482" y="102"/>
                        </a:lnTo>
                        <a:lnTo>
                          <a:pt x="478" y="102"/>
                        </a:lnTo>
                        <a:lnTo>
                          <a:pt x="476" y="102"/>
                        </a:lnTo>
                        <a:lnTo>
                          <a:pt x="473" y="102"/>
                        </a:lnTo>
                        <a:lnTo>
                          <a:pt x="471" y="102"/>
                        </a:lnTo>
                        <a:lnTo>
                          <a:pt x="469" y="102"/>
                        </a:lnTo>
                        <a:lnTo>
                          <a:pt x="466" y="102"/>
                        </a:lnTo>
                        <a:lnTo>
                          <a:pt x="463" y="102"/>
                        </a:lnTo>
                        <a:lnTo>
                          <a:pt x="460" y="102"/>
                        </a:lnTo>
                        <a:lnTo>
                          <a:pt x="457" y="102"/>
                        </a:lnTo>
                        <a:lnTo>
                          <a:pt x="456" y="102"/>
                        </a:lnTo>
                        <a:lnTo>
                          <a:pt x="453" y="102"/>
                        </a:lnTo>
                        <a:lnTo>
                          <a:pt x="447" y="102"/>
                        </a:lnTo>
                        <a:lnTo>
                          <a:pt x="443" y="102"/>
                        </a:lnTo>
                        <a:lnTo>
                          <a:pt x="440" y="102"/>
                        </a:lnTo>
                        <a:lnTo>
                          <a:pt x="437" y="102"/>
                        </a:lnTo>
                        <a:lnTo>
                          <a:pt x="434" y="102"/>
                        </a:lnTo>
                        <a:lnTo>
                          <a:pt x="432" y="102"/>
                        </a:lnTo>
                        <a:lnTo>
                          <a:pt x="427" y="102"/>
                        </a:lnTo>
                        <a:lnTo>
                          <a:pt x="422" y="102"/>
                        </a:lnTo>
                        <a:lnTo>
                          <a:pt x="416" y="102"/>
                        </a:lnTo>
                        <a:lnTo>
                          <a:pt x="413" y="103"/>
                        </a:lnTo>
                        <a:lnTo>
                          <a:pt x="407" y="103"/>
                        </a:lnTo>
                        <a:lnTo>
                          <a:pt x="402" y="104"/>
                        </a:lnTo>
                        <a:lnTo>
                          <a:pt x="405" y="100"/>
                        </a:lnTo>
                        <a:lnTo>
                          <a:pt x="405" y="97"/>
                        </a:lnTo>
                        <a:lnTo>
                          <a:pt x="407" y="94"/>
                        </a:lnTo>
                        <a:lnTo>
                          <a:pt x="408" y="91"/>
                        </a:lnTo>
                        <a:lnTo>
                          <a:pt x="408" y="86"/>
                        </a:lnTo>
                        <a:lnTo>
                          <a:pt x="409" y="84"/>
                        </a:lnTo>
                        <a:lnTo>
                          <a:pt x="408" y="82"/>
                        </a:lnTo>
                        <a:lnTo>
                          <a:pt x="408" y="78"/>
                        </a:lnTo>
                        <a:lnTo>
                          <a:pt x="407" y="76"/>
                        </a:lnTo>
                        <a:lnTo>
                          <a:pt x="405" y="73"/>
                        </a:lnTo>
                        <a:lnTo>
                          <a:pt x="403" y="71"/>
                        </a:lnTo>
                        <a:lnTo>
                          <a:pt x="402" y="69"/>
                        </a:lnTo>
                        <a:lnTo>
                          <a:pt x="399" y="67"/>
                        </a:lnTo>
                        <a:lnTo>
                          <a:pt x="395" y="66"/>
                        </a:lnTo>
                        <a:lnTo>
                          <a:pt x="392" y="66"/>
                        </a:lnTo>
                        <a:lnTo>
                          <a:pt x="387" y="67"/>
                        </a:lnTo>
                        <a:lnTo>
                          <a:pt x="383" y="71"/>
                        </a:lnTo>
                        <a:lnTo>
                          <a:pt x="381" y="73"/>
                        </a:lnTo>
                        <a:lnTo>
                          <a:pt x="378" y="76"/>
                        </a:lnTo>
                        <a:lnTo>
                          <a:pt x="375" y="79"/>
                        </a:lnTo>
                        <a:lnTo>
                          <a:pt x="375" y="83"/>
                        </a:lnTo>
                        <a:lnTo>
                          <a:pt x="375" y="86"/>
                        </a:lnTo>
                        <a:lnTo>
                          <a:pt x="375" y="89"/>
                        </a:lnTo>
                        <a:lnTo>
                          <a:pt x="375" y="94"/>
                        </a:lnTo>
                        <a:lnTo>
                          <a:pt x="375" y="96"/>
                        </a:lnTo>
                        <a:lnTo>
                          <a:pt x="375" y="100"/>
                        </a:lnTo>
                        <a:lnTo>
                          <a:pt x="375" y="102"/>
                        </a:lnTo>
                        <a:lnTo>
                          <a:pt x="376" y="104"/>
                        </a:lnTo>
                        <a:lnTo>
                          <a:pt x="373" y="104"/>
                        </a:lnTo>
                        <a:lnTo>
                          <a:pt x="369" y="104"/>
                        </a:lnTo>
                        <a:lnTo>
                          <a:pt x="365" y="104"/>
                        </a:lnTo>
                        <a:lnTo>
                          <a:pt x="363" y="104"/>
                        </a:lnTo>
                        <a:lnTo>
                          <a:pt x="360" y="104"/>
                        </a:lnTo>
                        <a:lnTo>
                          <a:pt x="357" y="104"/>
                        </a:lnTo>
                        <a:lnTo>
                          <a:pt x="355" y="104"/>
                        </a:lnTo>
                        <a:lnTo>
                          <a:pt x="351" y="104"/>
                        </a:lnTo>
                        <a:lnTo>
                          <a:pt x="348" y="104"/>
                        </a:lnTo>
                        <a:lnTo>
                          <a:pt x="344" y="104"/>
                        </a:lnTo>
                        <a:lnTo>
                          <a:pt x="342" y="104"/>
                        </a:lnTo>
                        <a:lnTo>
                          <a:pt x="339" y="104"/>
                        </a:lnTo>
                        <a:lnTo>
                          <a:pt x="337" y="104"/>
                        </a:lnTo>
                        <a:lnTo>
                          <a:pt x="333" y="104"/>
                        </a:lnTo>
                        <a:lnTo>
                          <a:pt x="330" y="104"/>
                        </a:lnTo>
                        <a:lnTo>
                          <a:pt x="327" y="104"/>
                        </a:lnTo>
                        <a:lnTo>
                          <a:pt x="324" y="104"/>
                        </a:lnTo>
                        <a:lnTo>
                          <a:pt x="322" y="104"/>
                        </a:lnTo>
                        <a:lnTo>
                          <a:pt x="319" y="104"/>
                        </a:lnTo>
                        <a:lnTo>
                          <a:pt x="317" y="104"/>
                        </a:lnTo>
                        <a:lnTo>
                          <a:pt x="313" y="104"/>
                        </a:lnTo>
                        <a:lnTo>
                          <a:pt x="311" y="104"/>
                        </a:lnTo>
                        <a:lnTo>
                          <a:pt x="307" y="104"/>
                        </a:lnTo>
                        <a:lnTo>
                          <a:pt x="305" y="104"/>
                        </a:lnTo>
                        <a:lnTo>
                          <a:pt x="303" y="104"/>
                        </a:lnTo>
                        <a:lnTo>
                          <a:pt x="299" y="104"/>
                        </a:lnTo>
                        <a:lnTo>
                          <a:pt x="297" y="104"/>
                        </a:lnTo>
                        <a:lnTo>
                          <a:pt x="294" y="104"/>
                        </a:lnTo>
                        <a:lnTo>
                          <a:pt x="288" y="104"/>
                        </a:lnTo>
                        <a:lnTo>
                          <a:pt x="284" y="105"/>
                        </a:lnTo>
                        <a:lnTo>
                          <a:pt x="281" y="105"/>
                        </a:lnTo>
                        <a:lnTo>
                          <a:pt x="279" y="105"/>
                        </a:lnTo>
                        <a:lnTo>
                          <a:pt x="276" y="105"/>
                        </a:lnTo>
                        <a:lnTo>
                          <a:pt x="273" y="105"/>
                        </a:lnTo>
                        <a:lnTo>
                          <a:pt x="268" y="105"/>
                        </a:lnTo>
                        <a:lnTo>
                          <a:pt x="263" y="105"/>
                        </a:lnTo>
                        <a:lnTo>
                          <a:pt x="259" y="105"/>
                        </a:lnTo>
                        <a:lnTo>
                          <a:pt x="253" y="105"/>
                        </a:lnTo>
                        <a:lnTo>
                          <a:pt x="249" y="105"/>
                        </a:lnTo>
                        <a:lnTo>
                          <a:pt x="246" y="105"/>
                        </a:lnTo>
                        <a:lnTo>
                          <a:pt x="241" y="105"/>
                        </a:lnTo>
                        <a:lnTo>
                          <a:pt x="235" y="105"/>
                        </a:lnTo>
                        <a:lnTo>
                          <a:pt x="230" y="105"/>
                        </a:lnTo>
                        <a:lnTo>
                          <a:pt x="227" y="105"/>
                        </a:lnTo>
                        <a:lnTo>
                          <a:pt x="223" y="105"/>
                        </a:lnTo>
                        <a:lnTo>
                          <a:pt x="218" y="105"/>
                        </a:lnTo>
                        <a:lnTo>
                          <a:pt x="215" y="105"/>
                        </a:lnTo>
                        <a:lnTo>
                          <a:pt x="210" y="105"/>
                        </a:lnTo>
                        <a:lnTo>
                          <a:pt x="204" y="104"/>
                        </a:lnTo>
                        <a:lnTo>
                          <a:pt x="198" y="104"/>
                        </a:lnTo>
                        <a:lnTo>
                          <a:pt x="192" y="104"/>
                        </a:lnTo>
                        <a:lnTo>
                          <a:pt x="187" y="104"/>
                        </a:lnTo>
                        <a:lnTo>
                          <a:pt x="182" y="104"/>
                        </a:lnTo>
                        <a:lnTo>
                          <a:pt x="176" y="104"/>
                        </a:lnTo>
                        <a:lnTo>
                          <a:pt x="170" y="104"/>
                        </a:lnTo>
                        <a:lnTo>
                          <a:pt x="165" y="104"/>
                        </a:lnTo>
                        <a:lnTo>
                          <a:pt x="159" y="103"/>
                        </a:lnTo>
                        <a:lnTo>
                          <a:pt x="153" y="102"/>
                        </a:lnTo>
                        <a:lnTo>
                          <a:pt x="148" y="102"/>
                        </a:lnTo>
                        <a:lnTo>
                          <a:pt x="144" y="102"/>
                        </a:lnTo>
                        <a:lnTo>
                          <a:pt x="138" y="102"/>
                        </a:lnTo>
                        <a:lnTo>
                          <a:pt x="134" y="102"/>
                        </a:lnTo>
                        <a:lnTo>
                          <a:pt x="128" y="102"/>
                        </a:lnTo>
                        <a:lnTo>
                          <a:pt x="125" y="102"/>
                        </a:lnTo>
                        <a:lnTo>
                          <a:pt x="119" y="102"/>
                        </a:lnTo>
                        <a:lnTo>
                          <a:pt x="114" y="101"/>
                        </a:lnTo>
                        <a:lnTo>
                          <a:pt x="109" y="100"/>
                        </a:lnTo>
                        <a:lnTo>
                          <a:pt x="104" y="100"/>
                        </a:lnTo>
                        <a:lnTo>
                          <a:pt x="100" y="100"/>
                        </a:lnTo>
                        <a:lnTo>
                          <a:pt x="96" y="100"/>
                        </a:lnTo>
                        <a:lnTo>
                          <a:pt x="91" y="100"/>
                        </a:lnTo>
                        <a:lnTo>
                          <a:pt x="88" y="100"/>
                        </a:lnTo>
                        <a:lnTo>
                          <a:pt x="83" y="100"/>
                        </a:lnTo>
                        <a:lnTo>
                          <a:pt x="78" y="98"/>
                        </a:lnTo>
                        <a:lnTo>
                          <a:pt x="75" y="97"/>
                        </a:lnTo>
                        <a:lnTo>
                          <a:pt x="71" y="97"/>
                        </a:lnTo>
                        <a:lnTo>
                          <a:pt x="68" y="97"/>
                        </a:lnTo>
                        <a:lnTo>
                          <a:pt x="64" y="97"/>
                        </a:lnTo>
                        <a:lnTo>
                          <a:pt x="61" y="97"/>
                        </a:lnTo>
                        <a:lnTo>
                          <a:pt x="57" y="97"/>
                        </a:lnTo>
                        <a:lnTo>
                          <a:pt x="53" y="97"/>
                        </a:lnTo>
                        <a:lnTo>
                          <a:pt x="50" y="96"/>
                        </a:lnTo>
                        <a:lnTo>
                          <a:pt x="46" y="96"/>
                        </a:lnTo>
                        <a:lnTo>
                          <a:pt x="44" y="96"/>
                        </a:lnTo>
                        <a:lnTo>
                          <a:pt x="40" y="95"/>
                        </a:lnTo>
                        <a:lnTo>
                          <a:pt x="38" y="94"/>
                        </a:lnTo>
                        <a:lnTo>
                          <a:pt x="34" y="94"/>
                        </a:lnTo>
                        <a:lnTo>
                          <a:pt x="33" y="94"/>
                        </a:lnTo>
                        <a:lnTo>
                          <a:pt x="30" y="94"/>
                        </a:lnTo>
                        <a:lnTo>
                          <a:pt x="26" y="94"/>
                        </a:lnTo>
                        <a:lnTo>
                          <a:pt x="24" y="94"/>
                        </a:lnTo>
                        <a:lnTo>
                          <a:pt x="23" y="94"/>
                        </a:lnTo>
                        <a:lnTo>
                          <a:pt x="18" y="91"/>
                        </a:lnTo>
                        <a:lnTo>
                          <a:pt x="14" y="91"/>
                        </a:lnTo>
                        <a:lnTo>
                          <a:pt x="11" y="91"/>
                        </a:lnTo>
                        <a:lnTo>
                          <a:pt x="7" y="91"/>
                        </a:lnTo>
                        <a:lnTo>
                          <a:pt x="5" y="91"/>
                        </a:lnTo>
                        <a:lnTo>
                          <a:pt x="2" y="91"/>
                        </a:lnTo>
                        <a:lnTo>
                          <a:pt x="0" y="91"/>
                        </a:lnTo>
                        <a:lnTo>
                          <a:pt x="13" y="6"/>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8" name="Freeform 250"/>
                  <p:cNvSpPr>
                    <a:spLocks/>
                  </p:cNvSpPr>
                  <p:nvPr/>
                </p:nvSpPr>
                <p:spPr bwMode="auto">
                  <a:xfrm>
                    <a:off x="5420" y="1680"/>
                    <a:ext cx="12" cy="31"/>
                  </a:xfrm>
                  <a:custGeom>
                    <a:avLst/>
                    <a:gdLst>
                      <a:gd name="T0" fmla="*/ 0 w 36"/>
                      <a:gd name="T1" fmla="*/ 0 h 91"/>
                      <a:gd name="T2" fmla="*/ 0 w 36"/>
                      <a:gd name="T3" fmla="*/ 0 h 91"/>
                      <a:gd name="T4" fmla="*/ 0 w 36"/>
                      <a:gd name="T5" fmla="*/ 0 h 91"/>
                      <a:gd name="T6" fmla="*/ 0 w 36"/>
                      <a:gd name="T7" fmla="*/ 0 h 91"/>
                      <a:gd name="T8" fmla="*/ 0 w 36"/>
                      <a:gd name="T9" fmla="*/ 0 h 91"/>
                      <a:gd name="T10" fmla="*/ 0 w 36"/>
                      <a:gd name="T11" fmla="*/ 0 h 91"/>
                      <a:gd name="T12" fmla="*/ 0 w 36"/>
                      <a:gd name="T13" fmla="*/ 0 h 91"/>
                      <a:gd name="T14" fmla="*/ 0 w 36"/>
                      <a:gd name="T15" fmla="*/ 0 h 91"/>
                      <a:gd name="T16" fmla="*/ 0 w 36"/>
                      <a:gd name="T17" fmla="*/ 0 h 91"/>
                      <a:gd name="T18" fmla="*/ 0 w 36"/>
                      <a:gd name="T19" fmla="*/ 0 h 91"/>
                      <a:gd name="T20" fmla="*/ 0 w 36"/>
                      <a:gd name="T21" fmla="*/ 0 h 91"/>
                      <a:gd name="T22" fmla="*/ 0 w 36"/>
                      <a:gd name="T23" fmla="*/ 0 h 91"/>
                      <a:gd name="T24" fmla="*/ 0 w 36"/>
                      <a:gd name="T25" fmla="*/ 0 h 91"/>
                      <a:gd name="T26" fmla="*/ 0 w 36"/>
                      <a:gd name="T27" fmla="*/ 0 h 91"/>
                      <a:gd name="T28" fmla="*/ 0 w 36"/>
                      <a:gd name="T29" fmla="*/ 0 h 91"/>
                      <a:gd name="T30" fmla="*/ 0 w 36"/>
                      <a:gd name="T31" fmla="*/ 0 h 91"/>
                      <a:gd name="T32" fmla="*/ 0 w 36"/>
                      <a:gd name="T33" fmla="*/ 0 h 91"/>
                      <a:gd name="T34" fmla="*/ 0 w 36"/>
                      <a:gd name="T35" fmla="*/ 0 h 91"/>
                      <a:gd name="T36" fmla="*/ 0 w 36"/>
                      <a:gd name="T37" fmla="*/ 0 h 91"/>
                      <a:gd name="T38" fmla="*/ 0 w 36"/>
                      <a:gd name="T39" fmla="*/ 0 h 91"/>
                      <a:gd name="T40" fmla="*/ 0 w 36"/>
                      <a:gd name="T41" fmla="*/ 0 h 91"/>
                      <a:gd name="T42" fmla="*/ 0 w 36"/>
                      <a:gd name="T43" fmla="*/ 0 h 91"/>
                      <a:gd name="T44" fmla="*/ 0 w 36"/>
                      <a:gd name="T45" fmla="*/ 0 h 91"/>
                      <a:gd name="T46" fmla="*/ 0 w 36"/>
                      <a:gd name="T47" fmla="*/ 0 h 91"/>
                      <a:gd name="T48" fmla="*/ 0 w 36"/>
                      <a:gd name="T49" fmla="*/ 0 h 91"/>
                      <a:gd name="T50" fmla="*/ 0 w 36"/>
                      <a:gd name="T51" fmla="*/ 0 h 91"/>
                      <a:gd name="T52" fmla="*/ 0 w 36"/>
                      <a:gd name="T53" fmla="*/ 0 h 91"/>
                      <a:gd name="T54" fmla="*/ 0 w 36"/>
                      <a:gd name="T55" fmla="*/ 0 h 91"/>
                      <a:gd name="T56" fmla="*/ 0 w 36"/>
                      <a:gd name="T57" fmla="*/ 0 h 91"/>
                      <a:gd name="T58" fmla="*/ 0 w 36"/>
                      <a:gd name="T59" fmla="*/ 0 h 91"/>
                      <a:gd name="T60" fmla="*/ 0 w 36"/>
                      <a:gd name="T61" fmla="*/ 0 h 91"/>
                      <a:gd name="T62" fmla="*/ 0 w 36"/>
                      <a:gd name="T63" fmla="*/ 0 h 91"/>
                      <a:gd name="T64" fmla="*/ 0 w 36"/>
                      <a:gd name="T65" fmla="*/ 0 h 9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36"/>
                      <a:gd name="T100" fmla="*/ 0 h 91"/>
                      <a:gd name="T101" fmla="*/ 36 w 36"/>
                      <a:gd name="T102" fmla="*/ 91 h 91"/>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36" h="91">
                        <a:moveTo>
                          <a:pt x="36" y="91"/>
                        </a:moveTo>
                        <a:lnTo>
                          <a:pt x="33" y="91"/>
                        </a:lnTo>
                        <a:lnTo>
                          <a:pt x="29" y="91"/>
                        </a:lnTo>
                        <a:lnTo>
                          <a:pt x="27" y="89"/>
                        </a:lnTo>
                        <a:lnTo>
                          <a:pt x="23" y="89"/>
                        </a:lnTo>
                        <a:lnTo>
                          <a:pt x="17" y="88"/>
                        </a:lnTo>
                        <a:lnTo>
                          <a:pt x="15" y="87"/>
                        </a:lnTo>
                        <a:lnTo>
                          <a:pt x="10" y="85"/>
                        </a:lnTo>
                        <a:lnTo>
                          <a:pt x="8" y="83"/>
                        </a:lnTo>
                        <a:lnTo>
                          <a:pt x="4" y="81"/>
                        </a:lnTo>
                        <a:lnTo>
                          <a:pt x="3" y="80"/>
                        </a:lnTo>
                        <a:lnTo>
                          <a:pt x="0" y="75"/>
                        </a:lnTo>
                        <a:lnTo>
                          <a:pt x="0" y="70"/>
                        </a:lnTo>
                        <a:lnTo>
                          <a:pt x="0" y="67"/>
                        </a:lnTo>
                        <a:lnTo>
                          <a:pt x="0" y="64"/>
                        </a:lnTo>
                        <a:lnTo>
                          <a:pt x="1" y="61"/>
                        </a:lnTo>
                        <a:lnTo>
                          <a:pt x="3" y="58"/>
                        </a:lnTo>
                        <a:lnTo>
                          <a:pt x="3" y="55"/>
                        </a:lnTo>
                        <a:lnTo>
                          <a:pt x="6" y="51"/>
                        </a:lnTo>
                        <a:lnTo>
                          <a:pt x="7" y="48"/>
                        </a:lnTo>
                        <a:lnTo>
                          <a:pt x="9" y="45"/>
                        </a:lnTo>
                        <a:lnTo>
                          <a:pt x="11" y="41"/>
                        </a:lnTo>
                        <a:lnTo>
                          <a:pt x="13" y="37"/>
                        </a:lnTo>
                        <a:lnTo>
                          <a:pt x="15" y="34"/>
                        </a:lnTo>
                        <a:lnTo>
                          <a:pt x="19" y="30"/>
                        </a:lnTo>
                        <a:lnTo>
                          <a:pt x="20" y="26"/>
                        </a:lnTo>
                        <a:lnTo>
                          <a:pt x="23" y="23"/>
                        </a:lnTo>
                        <a:lnTo>
                          <a:pt x="26" y="19"/>
                        </a:lnTo>
                        <a:lnTo>
                          <a:pt x="28" y="15"/>
                        </a:lnTo>
                        <a:lnTo>
                          <a:pt x="30" y="12"/>
                        </a:lnTo>
                        <a:lnTo>
                          <a:pt x="32" y="7"/>
                        </a:lnTo>
                        <a:lnTo>
                          <a:pt x="33" y="4"/>
                        </a:lnTo>
                        <a:lnTo>
                          <a:pt x="35" y="0"/>
                        </a:lnTo>
                        <a:lnTo>
                          <a:pt x="35" y="4"/>
                        </a:lnTo>
                        <a:lnTo>
                          <a:pt x="35" y="6"/>
                        </a:lnTo>
                        <a:lnTo>
                          <a:pt x="35" y="10"/>
                        </a:lnTo>
                        <a:lnTo>
                          <a:pt x="35" y="12"/>
                        </a:lnTo>
                        <a:lnTo>
                          <a:pt x="35" y="15"/>
                        </a:lnTo>
                        <a:lnTo>
                          <a:pt x="35" y="17"/>
                        </a:lnTo>
                        <a:lnTo>
                          <a:pt x="35" y="20"/>
                        </a:lnTo>
                        <a:lnTo>
                          <a:pt x="35" y="23"/>
                        </a:lnTo>
                        <a:lnTo>
                          <a:pt x="35" y="26"/>
                        </a:lnTo>
                        <a:lnTo>
                          <a:pt x="35" y="30"/>
                        </a:lnTo>
                        <a:lnTo>
                          <a:pt x="35" y="32"/>
                        </a:lnTo>
                        <a:lnTo>
                          <a:pt x="35" y="35"/>
                        </a:lnTo>
                        <a:lnTo>
                          <a:pt x="35" y="37"/>
                        </a:lnTo>
                        <a:lnTo>
                          <a:pt x="35" y="41"/>
                        </a:lnTo>
                        <a:lnTo>
                          <a:pt x="35" y="43"/>
                        </a:lnTo>
                        <a:lnTo>
                          <a:pt x="35" y="47"/>
                        </a:lnTo>
                        <a:lnTo>
                          <a:pt x="35" y="49"/>
                        </a:lnTo>
                        <a:lnTo>
                          <a:pt x="35" y="53"/>
                        </a:lnTo>
                        <a:lnTo>
                          <a:pt x="35" y="55"/>
                        </a:lnTo>
                        <a:lnTo>
                          <a:pt x="35" y="57"/>
                        </a:lnTo>
                        <a:lnTo>
                          <a:pt x="35" y="61"/>
                        </a:lnTo>
                        <a:lnTo>
                          <a:pt x="35" y="63"/>
                        </a:lnTo>
                        <a:lnTo>
                          <a:pt x="35" y="67"/>
                        </a:lnTo>
                        <a:lnTo>
                          <a:pt x="35" y="69"/>
                        </a:lnTo>
                        <a:lnTo>
                          <a:pt x="35" y="72"/>
                        </a:lnTo>
                        <a:lnTo>
                          <a:pt x="35" y="75"/>
                        </a:lnTo>
                        <a:lnTo>
                          <a:pt x="35" y="77"/>
                        </a:lnTo>
                        <a:lnTo>
                          <a:pt x="35" y="80"/>
                        </a:lnTo>
                        <a:lnTo>
                          <a:pt x="35" y="82"/>
                        </a:lnTo>
                        <a:lnTo>
                          <a:pt x="35" y="86"/>
                        </a:lnTo>
                        <a:lnTo>
                          <a:pt x="35" y="88"/>
                        </a:lnTo>
                        <a:lnTo>
                          <a:pt x="36" y="91"/>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09" name="Freeform 251"/>
                  <p:cNvSpPr>
                    <a:spLocks/>
                  </p:cNvSpPr>
                  <p:nvPr/>
                </p:nvSpPr>
                <p:spPr bwMode="auto">
                  <a:xfrm>
                    <a:off x="5402" y="1599"/>
                    <a:ext cx="223" cy="177"/>
                  </a:xfrm>
                  <a:custGeom>
                    <a:avLst/>
                    <a:gdLst>
                      <a:gd name="T0" fmla="*/ 0 w 667"/>
                      <a:gd name="T1" fmla="*/ 0 h 531"/>
                      <a:gd name="T2" fmla="*/ 0 w 667"/>
                      <a:gd name="T3" fmla="*/ 0 h 531"/>
                      <a:gd name="T4" fmla="*/ 0 w 667"/>
                      <a:gd name="T5" fmla="*/ 0 h 531"/>
                      <a:gd name="T6" fmla="*/ 0 w 667"/>
                      <a:gd name="T7" fmla="*/ 0 h 531"/>
                      <a:gd name="T8" fmla="*/ 0 w 667"/>
                      <a:gd name="T9" fmla="*/ 0 h 531"/>
                      <a:gd name="T10" fmla="*/ 0 w 667"/>
                      <a:gd name="T11" fmla="*/ 0 h 531"/>
                      <a:gd name="T12" fmla="*/ 0 w 667"/>
                      <a:gd name="T13" fmla="*/ 0 h 531"/>
                      <a:gd name="T14" fmla="*/ 0 w 667"/>
                      <a:gd name="T15" fmla="*/ 0 h 531"/>
                      <a:gd name="T16" fmla="*/ 0 w 667"/>
                      <a:gd name="T17" fmla="*/ 0 h 531"/>
                      <a:gd name="T18" fmla="*/ 0 w 667"/>
                      <a:gd name="T19" fmla="*/ 0 h 531"/>
                      <a:gd name="T20" fmla="*/ 0 w 667"/>
                      <a:gd name="T21" fmla="*/ 0 h 531"/>
                      <a:gd name="T22" fmla="*/ 0 w 667"/>
                      <a:gd name="T23" fmla="*/ 0 h 531"/>
                      <a:gd name="T24" fmla="*/ 0 w 667"/>
                      <a:gd name="T25" fmla="*/ 0 h 531"/>
                      <a:gd name="T26" fmla="*/ 0 w 667"/>
                      <a:gd name="T27" fmla="*/ 0 h 531"/>
                      <a:gd name="T28" fmla="*/ 0 w 667"/>
                      <a:gd name="T29" fmla="*/ 0 h 531"/>
                      <a:gd name="T30" fmla="*/ 0 w 667"/>
                      <a:gd name="T31" fmla="*/ 0 h 531"/>
                      <a:gd name="T32" fmla="*/ 0 w 667"/>
                      <a:gd name="T33" fmla="*/ 0 h 531"/>
                      <a:gd name="T34" fmla="*/ 0 w 667"/>
                      <a:gd name="T35" fmla="*/ 0 h 531"/>
                      <a:gd name="T36" fmla="*/ 0 w 667"/>
                      <a:gd name="T37" fmla="*/ 0 h 531"/>
                      <a:gd name="T38" fmla="*/ 0 w 667"/>
                      <a:gd name="T39" fmla="*/ 0 h 531"/>
                      <a:gd name="T40" fmla="*/ 0 w 667"/>
                      <a:gd name="T41" fmla="*/ 0 h 531"/>
                      <a:gd name="T42" fmla="*/ 0 w 667"/>
                      <a:gd name="T43" fmla="*/ 0 h 531"/>
                      <a:gd name="T44" fmla="*/ 0 w 667"/>
                      <a:gd name="T45" fmla="*/ 0 h 531"/>
                      <a:gd name="T46" fmla="*/ 0 w 667"/>
                      <a:gd name="T47" fmla="*/ 0 h 531"/>
                      <a:gd name="T48" fmla="*/ 0 w 667"/>
                      <a:gd name="T49" fmla="*/ 0 h 531"/>
                      <a:gd name="T50" fmla="*/ 0 w 667"/>
                      <a:gd name="T51" fmla="*/ 0 h 531"/>
                      <a:gd name="T52" fmla="*/ 0 w 667"/>
                      <a:gd name="T53" fmla="*/ 0 h 531"/>
                      <a:gd name="T54" fmla="*/ 0 w 667"/>
                      <a:gd name="T55" fmla="*/ 0 h 531"/>
                      <a:gd name="T56" fmla="*/ 0 w 667"/>
                      <a:gd name="T57" fmla="*/ 0 h 531"/>
                      <a:gd name="T58" fmla="*/ 0 w 667"/>
                      <a:gd name="T59" fmla="*/ 0 h 531"/>
                      <a:gd name="T60" fmla="*/ 0 w 667"/>
                      <a:gd name="T61" fmla="*/ 0 h 531"/>
                      <a:gd name="T62" fmla="*/ 0 w 667"/>
                      <a:gd name="T63" fmla="*/ 0 h 531"/>
                      <a:gd name="T64" fmla="*/ 0 w 667"/>
                      <a:gd name="T65" fmla="*/ 0 h 531"/>
                      <a:gd name="T66" fmla="*/ 0 w 667"/>
                      <a:gd name="T67" fmla="*/ 0 h 531"/>
                      <a:gd name="T68" fmla="*/ 0 w 667"/>
                      <a:gd name="T69" fmla="*/ 0 h 531"/>
                      <a:gd name="T70" fmla="*/ 0 w 667"/>
                      <a:gd name="T71" fmla="*/ 0 h 531"/>
                      <a:gd name="T72" fmla="*/ 0 w 667"/>
                      <a:gd name="T73" fmla="*/ 0 h 531"/>
                      <a:gd name="T74" fmla="*/ 0 w 667"/>
                      <a:gd name="T75" fmla="*/ 0 h 531"/>
                      <a:gd name="T76" fmla="*/ 0 w 667"/>
                      <a:gd name="T77" fmla="*/ 0 h 531"/>
                      <a:gd name="T78" fmla="*/ 0 w 667"/>
                      <a:gd name="T79" fmla="*/ 0 h 531"/>
                      <a:gd name="T80" fmla="*/ 0 w 667"/>
                      <a:gd name="T81" fmla="*/ 0 h 531"/>
                      <a:gd name="T82" fmla="*/ 0 w 667"/>
                      <a:gd name="T83" fmla="*/ 0 h 531"/>
                      <a:gd name="T84" fmla="*/ 0 w 667"/>
                      <a:gd name="T85" fmla="*/ 0 h 531"/>
                      <a:gd name="T86" fmla="*/ 0 w 667"/>
                      <a:gd name="T87" fmla="*/ 0 h 531"/>
                      <a:gd name="T88" fmla="*/ 0 w 667"/>
                      <a:gd name="T89" fmla="*/ 0 h 531"/>
                      <a:gd name="T90" fmla="*/ 0 w 667"/>
                      <a:gd name="T91" fmla="*/ 0 h 531"/>
                      <a:gd name="T92" fmla="*/ 0 w 667"/>
                      <a:gd name="T93" fmla="*/ 0 h 531"/>
                      <a:gd name="T94" fmla="*/ 0 w 667"/>
                      <a:gd name="T95" fmla="*/ 0 h 531"/>
                      <a:gd name="T96" fmla="*/ 0 w 667"/>
                      <a:gd name="T97" fmla="*/ 0 h 531"/>
                      <a:gd name="T98" fmla="*/ 0 w 667"/>
                      <a:gd name="T99" fmla="*/ 0 h 531"/>
                      <a:gd name="T100" fmla="*/ 0 w 667"/>
                      <a:gd name="T101" fmla="*/ 0 h 531"/>
                      <a:gd name="T102" fmla="*/ 0 w 667"/>
                      <a:gd name="T103" fmla="*/ 0 h 531"/>
                      <a:gd name="T104" fmla="*/ 0 w 667"/>
                      <a:gd name="T105" fmla="*/ 0 h 531"/>
                      <a:gd name="T106" fmla="*/ 0 w 667"/>
                      <a:gd name="T107" fmla="*/ 0 h 531"/>
                      <a:gd name="T108" fmla="*/ 0 w 667"/>
                      <a:gd name="T109" fmla="*/ 0 h 531"/>
                      <a:gd name="T110" fmla="*/ 0 w 667"/>
                      <a:gd name="T111" fmla="*/ 0 h 531"/>
                      <a:gd name="T112" fmla="*/ 0 w 667"/>
                      <a:gd name="T113" fmla="*/ 0 h 531"/>
                      <a:gd name="T114" fmla="*/ 0 w 667"/>
                      <a:gd name="T115" fmla="*/ 0 h 531"/>
                      <a:gd name="T116" fmla="*/ 0 w 667"/>
                      <a:gd name="T117" fmla="*/ 0 h 531"/>
                      <a:gd name="T118" fmla="*/ 0 w 667"/>
                      <a:gd name="T119" fmla="*/ 0 h 531"/>
                      <a:gd name="T120" fmla="*/ 0 w 667"/>
                      <a:gd name="T121" fmla="*/ 0 h 531"/>
                      <a:gd name="T122" fmla="*/ 0 w 667"/>
                      <a:gd name="T123" fmla="*/ 0 h 531"/>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67"/>
                      <a:gd name="T187" fmla="*/ 0 h 531"/>
                      <a:gd name="T188" fmla="*/ 667 w 667"/>
                      <a:gd name="T189" fmla="*/ 531 h 531"/>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67" h="531">
                        <a:moveTo>
                          <a:pt x="22" y="4"/>
                        </a:moveTo>
                        <a:lnTo>
                          <a:pt x="105" y="26"/>
                        </a:lnTo>
                        <a:lnTo>
                          <a:pt x="105" y="27"/>
                        </a:lnTo>
                        <a:lnTo>
                          <a:pt x="105" y="29"/>
                        </a:lnTo>
                        <a:lnTo>
                          <a:pt x="104" y="30"/>
                        </a:lnTo>
                        <a:lnTo>
                          <a:pt x="104" y="33"/>
                        </a:lnTo>
                        <a:lnTo>
                          <a:pt x="104" y="35"/>
                        </a:lnTo>
                        <a:lnTo>
                          <a:pt x="104" y="38"/>
                        </a:lnTo>
                        <a:lnTo>
                          <a:pt x="104" y="41"/>
                        </a:lnTo>
                        <a:lnTo>
                          <a:pt x="104" y="45"/>
                        </a:lnTo>
                        <a:lnTo>
                          <a:pt x="102" y="48"/>
                        </a:lnTo>
                        <a:lnTo>
                          <a:pt x="101" y="53"/>
                        </a:lnTo>
                        <a:lnTo>
                          <a:pt x="101" y="54"/>
                        </a:lnTo>
                        <a:lnTo>
                          <a:pt x="101" y="57"/>
                        </a:lnTo>
                        <a:lnTo>
                          <a:pt x="101" y="59"/>
                        </a:lnTo>
                        <a:lnTo>
                          <a:pt x="101" y="62"/>
                        </a:lnTo>
                        <a:lnTo>
                          <a:pt x="101" y="65"/>
                        </a:lnTo>
                        <a:lnTo>
                          <a:pt x="101" y="67"/>
                        </a:lnTo>
                        <a:lnTo>
                          <a:pt x="101" y="71"/>
                        </a:lnTo>
                        <a:lnTo>
                          <a:pt x="101" y="73"/>
                        </a:lnTo>
                        <a:lnTo>
                          <a:pt x="100" y="76"/>
                        </a:lnTo>
                        <a:lnTo>
                          <a:pt x="99" y="79"/>
                        </a:lnTo>
                        <a:lnTo>
                          <a:pt x="99" y="81"/>
                        </a:lnTo>
                        <a:lnTo>
                          <a:pt x="99" y="85"/>
                        </a:lnTo>
                        <a:lnTo>
                          <a:pt x="99" y="87"/>
                        </a:lnTo>
                        <a:lnTo>
                          <a:pt x="99" y="90"/>
                        </a:lnTo>
                        <a:lnTo>
                          <a:pt x="99" y="95"/>
                        </a:lnTo>
                        <a:lnTo>
                          <a:pt x="99" y="97"/>
                        </a:lnTo>
                        <a:lnTo>
                          <a:pt x="98" y="100"/>
                        </a:lnTo>
                        <a:lnTo>
                          <a:pt x="97" y="105"/>
                        </a:lnTo>
                        <a:lnTo>
                          <a:pt x="97" y="108"/>
                        </a:lnTo>
                        <a:lnTo>
                          <a:pt x="97" y="112"/>
                        </a:lnTo>
                        <a:lnTo>
                          <a:pt x="97" y="115"/>
                        </a:lnTo>
                        <a:lnTo>
                          <a:pt x="97" y="119"/>
                        </a:lnTo>
                        <a:lnTo>
                          <a:pt x="97" y="123"/>
                        </a:lnTo>
                        <a:lnTo>
                          <a:pt x="97" y="128"/>
                        </a:lnTo>
                        <a:lnTo>
                          <a:pt x="95" y="131"/>
                        </a:lnTo>
                        <a:lnTo>
                          <a:pt x="94" y="135"/>
                        </a:lnTo>
                        <a:lnTo>
                          <a:pt x="94" y="138"/>
                        </a:lnTo>
                        <a:lnTo>
                          <a:pt x="94" y="143"/>
                        </a:lnTo>
                        <a:lnTo>
                          <a:pt x="94" y="148"/>
                        </a:lnTo>
                        <a:lnTo>
                          <a:pt x="94" y="152"/>
                        </a:lnTo>
                        <a:lnTo>
                          <a:pt x="93" y="156"/>
                        </a:lnTo>
                        <a:lnTo>
                          <a:pt x="93" y="161"/>
                        </a:lnTo>
                        <a:lnTo>
                          <a:pt x="92" y="165"/>
                        </a:lnTo>
                        <a:lnTo>
                          <a:pt x="92" y="169"/>
                        </a:lnTo>
                        <a:lnTo>
                          <a:pt x="91" y="173"/>
                        </a:lnTo>
                        <a:lnTo>
                          <a:pt x="91" y="179"/>
                        </a:lnTo>
                        <a:lnTo>
                          <a:pt x="91" y="182"/>
                        </a:lnTo>
                        <a:lnTo>
                          <a:pt x="91" y="187"/>
                        </a:lnTo>
                        <a:lnTo>
                          <a:pt x="91" y="192"/>
                        </a:lnTo>
                        <a:lnTo>
                          <a:pt x="91" y="198"/>
                        </a:lnTo>
                        <a:lnTo>
                          <a:pt x="89" y="201"/>
                        </a:lnTo>
                        <a:lnTo>
                          <a:pt x="89" y="207"/>
                        </a:lnTo>
                        <a:lnTo>
                          <a:pt x="89" y="211"/>
                        </a:lnTo>
                        <a:lnTo>
                          <a:pt x="89" y="217"/>
                        </a:lnTo>
                        <a:lnTo>
                          <a:pt x="88" y="214"/>
                        </a:lnTo>
                        <a:lnTo>
                          <a:pt x="86" y="211"/>
                        </a:lnTo>
                        <a:lnTo>
                          <a:pt x="83" y="207"/>
                        </a:lnTo>
                        <a:lnTo>
                          <a:pt x="80" y="205"/>
                        </a:lnTo>
                        <a:lnTo>
                          <a:pt x="76" y="201"/>
                        </a:lnTo>
                        <a:lnTo>
                          <a:pt x="70" y="199"/>
                        </a:lnTo>
                        <a:lnTo>
                          <a:pt x="68" y="198"/>
                        </a:lnTo>
                        <a:lnTo>
                          <a:pt x="66" y="197"/>
                        </a:lnTo>
                        <a:lnTo>
                          <a:pt x="63" y="197"/>
                        </a:lnTo>
                        <a:lnTo>
                          <a:pt x="61" y="195"/>
                        </a:lnTo>
                        <a:lnTo>
                          <a:pt x="60" y="197"/>
                        </a:lnTo>
                        <a:lnTo>
                          <a:pt x="59" y="199"/>
                        </a:lnTo>
                        <a:lnTo>
                          <a:pt x="59" y="201"/>
                        </a:lnTo>
                        <a:lnTo>
                          <a:pt x="57" y="206"/>
                        </a:lnTo>
                        <a:lnTo>
                          <a:pt x="56" y="208"/>
                        </a:lnTo>
                        <a:lnTo>
                          <a:pt x="55" y="213"/>
                        </a:lnTo>
                        <a:lnTo>
                          <a:pt x="54" y="218"/>
                        </a:lnTo>
                        <a:lnTo>
                          <a:pt x="54" y="222"/>
                        </a:lnTo>
                        <a:lnTo>
                          <a:pt x="53" y="226"/>
                        </a:lnTo>
                        <a:lnTo>
                          <a:pt x="53" y="231"/>
                        </a:lnTo>
                        <a:lnTo>
                          <a:pt x="53" y="235"/>
                        </a:lnTo>
                        <a:lnTo>
                          <a:pt x="53" y="239"/>
                        </a:lnTo>
                        <a:lnTo>
                          <a:pt x="53" y="243"/>
                        </a:lnTo>
                        <a:lnTo>
                          <a:pt x="53" y="246"/>
                        </a:lnTo>
                        <a:lnTo>
                          <a:pt x="54" y="250"/>
                        </a:lnTo>
                        <a:lnTo>
                          <a:pt x="56" y="254"/>
                        </a:lnTo>
                        <a:lnTo>
                          <a:pt x="51" y="255"/>
                        </a:lnTo>
                        <a:lnTo>
                          <a:pt x="48" y="257"/>
                        </a:lnTo>
                        <a:lnTo>
                          <a:pt x="44" y="257"/>
                        </a:lnTo>
                        <a:lnTo>
                          <a:pt x="41" y="260"/>
                        </a:lnTo>
                        <a:lnTo>
                          <a:pt x="38" y="262"/>
                        </a:lnTo>
                        <a:lnTo>
                          <a:pt x="35" y="263"/>
                        </a:lnTo>
                        <a:lnTo>
                          <a:pt x="32" y="264"/>
                        </a:lnTo>
                        <a:lnTo>
                          <a:pt x="30" y="267"/>
                        </a:lnTo>
                        <a:lnTo>
                          <a:pt x="25" y="271"/>
                        </a:lnTo>
                        <a:lnTo>
                          <a:pt x="22" y="275"/>
                        </a:lnTo>
                        <a:lnTo>
                          <a:pt x="19" y="280"/>
                        </a:lnTo>
                        <a:lnTo>
                          <a:pt x="17" y="284"/>
                        </a:lnTo>
                        <a:lnTo>
                          <a:pt x="15" y="289"/>
                        </a:lnTo>
                        <a:lnTo>
                          <a:pt x="13" y="294"/>
                        </a:lnTo>
                        <a:lnTo>
                          <a:pt x="12" y="299"/>
                        </a:lnTo>
                        <a:lnTo>
                          <a:pt x="12" y="303"/>
                        </a:lnTo>
                        <a:lnTo>
                          <a:pt x="12" y="306"/>
                        </a:lnTo>
                        <a:lnTo>
                          <a:pt x="12" y="308"/>
                        </a:lnTo>
                        <a:lnTo>
                          <a:pt x="12" y="312"/>
                        </a:lnTo>
                        <a:lnTo>
                          <a:pt x="13" y="314"/>
                        </a:lnTo>
                        <a:lnTo>
                          <a:pt x="13" y="317"/>
                        </a:lnTo>
                        <a:lnTo>
                          <a:pt x="15" y="319"/>
                        </a:lnTo>
                        <a:lnTo>
                          <a:pt x="15" y="322"/>
                        </a:lnTo>
                        <a:lnTo>
                          <a:pt x="17" y="325"/>
                        </a:lnTo>
                        <a:lnTo>
                          <a:pt x="18" y="330"/>
                        </a:lnTo>
                        <a:lnTo>
                          <a:pt x="21" y="336"/>
                        </a:lnTo>
                        <a:lnTo>
                          <a:pt x="21" y="338"/>
                        </a:lnTo>
                        <a:lnTo>
                          <a:pt x="23" y="340"/>
                        </a:lnTo>
                        <a:lnTo>
                          <a:pt x="24" y="343"/>
                        </a:lnTo>
                        <a:lnTo>
                          <a:pt x="25" y="345"/>
                        </a:lnTo>
                        <a:lnTo>
                          <a:pt x="28" y="351"/>
                        </a:lnTo>
                        <a:lnTo>
                          <a:pt x="31" y="356"/>
                        </a:lnTo>
                        <a:lnTo>
                          <a:pt x="32" y="358"/>
                        </a:lnTo>
                        <a:lnTo>
                          <a:pt x="35" y="360"/>
                        </a:lnTo>
                        <a:lnTo>
                          <a:pt x="36" y="364"/>
                        </a:lnTo>
                        <a:lnTo>
                          <a:pt x="38" y="368"/>
                        </a:lnTo>
                        <a:lnTo>
                          <a:pt x="42" y="372"/>
                        </a:lnTo>
                        <a:lnTo>
                          <a:pt x="45" y="376"/>
                        </a:lnTo>
                        <a:lnTo>
                          <a:pt x="49" y="381"/>
                        </a:lnTo>
                        <a:lnTo>
                          <a:pt x="53" y="387"/>
                        </a:lnTo>
                        <a:lnTo>
                          <a:pt x="56" y="391"/>
                        </a:lnTo>
                        <a:lnTo>
                          <a:pt x="60" y="396"/>
                        </a:lnTo>
                        <a:lnTo>
                          <a:pt x="63" y="400"/>
                        </a:lnTo>
                        <a:lnTo>
                          <a:pt x="67" y="404"/>
                        </a:lnTo>
                        <a:lnTo>
                          <a:pt x="68" y="401"/>
                        </a:lnTo>
                        <a:lnTo>
                          <a:pt x="70" y="396"/>
                        </a:lnTo>
                        <a:lnTo>
                          <a:pt x="73" y="394"/>
                        </a:lnTo>
                        <a:lnTo>
                          <a:pt x="74" y="391"/>
                        </a:lnTo>
                        <a:lnTo>
                          <a:pt x="76" y="388"/>
                        </a:lnTo>
                        <a:lnTo>
                          <a:pt x="78" y="384"/>
                        </a:lnTo>
                        <a:lnTo>
                          <a:pt x="79" y="381"/>
                        </a:lnTo>
                        <a:lnTo>
                          <a:pt x="81" y="378"/>
                        </a:lnTo>
                        <a:lnTo>
                          <a:pt x="81" y="374"/>
                        </a:lnTo>
                        <a:lnTo>
                          <a:pt x="83" y="371"/>
                        </a:lnTo>
                        <a:lnTo>
                          <a:pt x="86" y="366"/>
                        </a:lnTo>
                        <a:lnTo>
                          <a:pt x="87" y="363"/>
                        </a:lnTo>
                        <a:lnTo>
                          <a:pt x="88" y="358"/>
                        </a:lnTo>
                        <a:lnTo>
                          <a:pt x="91" y="356"/>
                        </a:lnTo>
                        <a:lnTo>
                          <a:pt x="91" y="359"/>
                        </a:lnTo>
                        <a:lnTo>
                          <a:pt x="91" y="363"/>
                        </a:lnTo>
                        <a:lnTo>
                          <a:pt x="91" y="366"/>
                        </a:lnTo>
                        <a:lnTo>
                          <a:pt x="91" y="370"/>
                        </a:lnTo>
                        <a:lnTo>
                          <a:pt x="91" y="374"/>
                        </a:lnTo>
                        <a:lnTo>
                          <a:pt x="91" y="376"/>
                        </a:lnTo>
                        <a:lnTo>
                          <a:pt x="92" y="379"/>
                        </a:lnTo>
                        <a:lnTo>
                          <a:pt x="92" y="383"/>
                        </a:lnTo>
                        <a:lnTo>
                          <a:pt x="92" y="387"/>
                        </a:lnTo>
                        <a:lnTo>
                          <a:pt x="93" y="389"/>
                        </a:lnTo>
                        <a:lnTo>
                          <a:pt x="94" y="391"/>
                        </a:lnTo>
                        <a:lnTo>
                          <a:pt x="94" y="396"/>
                        </a:lnTo>
                        <a:lnTo>
                          <a:pt x="94" y="398"/>
                        </a:lnTo>
                        <a:lnTo>
                          <a:pt x="94" y="401"/>
                        </a:lnTo>
                        <a:lnTo>
                          <a:pt x="94" y="404"/>
                        </a:lnTo>
                        <a:lnTo>
                          <a:pt x="95" y="407"/>
                        </a:lnTo>
                        <a:lnTo>
                          <a:pt x="92" y="408"/>
                        </a:lnTo>
                        <a:lnTo>
                          <a:pt x="88" y="409"/>
                        </a:lnTo>
                        <a:lnTo>
                          <a:pt x="83" y="411"/>
                        </a:lnTo>
                        <a:lnTo>
                          <a:pt x="81" y="414"/>
                        </a:lnTo>
                        <a:lnTo>
                          <a:pt x="76" y="416"/>
                        </a:lnTo>
                        <a:lnTo>
                          <a:pt x="70" y="419"/>
                        </a:lnTo>
                        <a:lnTo>
                          <a:pt x="66" y="421"/>
                        </a:lnTo>
                        <a:lnTo>
                          <a:pt x="62" y="425"/>
                        </a:lnTo>
                        <a:lnTo>
                          <a:pt x="57" y="427"/>
                        </a:lnTo>
                        <a:lnTo>
                          <a:pt x="53" y="429"/>
                        </a:lnTo>
                        <a:lnTo>
                          <a:pt x="48" y="432"/>
                        </a:lnTo>
                        <a:lnTo>
                          <a:pt x="44" y="435"/>
                        </a:lnTo>
                        <a:lnTo>
                          <a:pt x="40" y="438"/>
                        </a:lnTo>
                        <a:lnTo>
                          <a:pt x="37" y="440"/>
                        </a:lnTo>
                        <a:lnTo>
                          <a:pt x="34" y="442"/>
                        </a:lnTo>
                        <a:lnTo>
                          <a:pt x="32" y="445"/>
                        </a:lnTo>
                        <a:lnTo>
                          <a:pt x="36" y="445"/>
                        </a:lnTo>
                        <a:lnTo>
                          <a:pt x="41" y="445"/>
                        </a:lnTo>
                        <a:lnTo>
                          <a:pt x="44" y="445"/>
                        </a:lnTo>
                        <a:lnTo>
                          <a:pt x="48" y="445"/>
                        </a:lnTo>
                        <a:lnTo>
                          <a:pt x="53" y="445"/>
                        </a:lnTo>
                        <a:lnTo>
                          <a:pt x="56" y="445"/>
                        </a:lnTo>
                        <a:lnTo>
                          <a:pt x="61" y="445"/>
                        </a:lnTo>
                        <a:lnTo>
                          <a:pt x="66" y="445"/>
                        </a:lnTo>
                        <a:lnTo>
                          <a:pt x="66" y="447"/>
                        </a:lnTo>
                        <a:lnTo>
                          <a:pt x="68" y="449"/>
                        </a:lnTo>
                        <a:lnTo>
                          <a:pt x="69" y="452"/>
                        </a:lnTo>
                        <a:lnTo>
                          <a:pt x="70" y="454"/>
                        </a:lnTo>
                        <a:lnTo>
                          <a:pt x="74" y="457"/>
                        </a:lnTo>
                        <a:lnTo>
                          <a:pt x="78" y="460"/>
                        </a:lnTo>
                        <a:lnTo>
                          <a:pt x="81" y="461"/>
                        </a:lnTo>
                        <a:lnTo>
                          <a:pt x="85" y="463"/>
                        </a:lnTo>
                        <a:lnTo>
                          <a:pt x="88" y="463"/>
                        </a:lnTo>
                        <a:lnTo>
                          <a:pt x="92" y="463"/>
                        </a:lnTo>
                        <a:lnTo>
                          <a:pt x="94" y="461"/>
                        </a:lnTo>
                        <a:lnTo>
                          <a:pt x="99" y="459"/>
                        </a:lnTo>
                        <a:lnTo>
                          <a:pt x="101" y="458"/>
                        </a:lnTo>
                        <a:lnTo>
                          <a:pt x="104" y="455"/>
                        </a:lnTo>
                        <a:lnTo>
                          <a:pt x="107" y="452"/>
                        </a:lnTo>
                        <a:lnTo>
                          <a:pt x="110" y="449"/>
                        </a:lnTo>
                        <a:lnTo>
                          <a:pt x="112" y="446"/>
                        </a:lnTo>
                        <a:lnTo>
                          <a:pt x="114" y="442"/>
                        </a:lnTo>
                        <a:lnTo>
                          <a:pt x="117" y="442"/>
                        </a:lnTo>
                        <a:lnTo>
                          <a:pt x="121" y="444"/>
                        </a:lnTo>
                        <a:lnTo>
                          <a:pt x="125" y="445"/>
                        </a:lnTo>
                        <a:lnTo>
                          <a:pt x="130" y="446"/>
                        </a:lnTo>
                        <a:lnTo>
                          <a:pt x="133" y="446"/>
                        </a:lnTo>
                        <a:lnTo>
                          <a:pt x="138" y="446"/>
                        </a:lnTo>
                        <a:lnTo>
                          <a:pt x="142" y="446"/>
                        </a:lnTo>
                        <a:lnTo>
                          <a:pt x="146" y="447"/>
                        </a:lnTo>
                        <a:lnTo>
                          <a:pt x="149" y="446"/>
                        </a:lnTo>
                        <a:lnTo>
                          <a:pt x="152" y="446"/>
                        </a:lnTo>
                        <a:lnTo>
                          <a:pt x="156" y="446"/>
                        </a:lnTo>
                        <a:lnTo>
                          <a:pt x="158" y="446"/>
                        </a:lnTo>
                        <a:lnTo>
                          <a:pt x="162" y="446"/>
                        </a:lnTo>
                        <a:lnTo>
                          <a:pt x="164" y="446"/>
                        </a:lnTo>
                        <a:lnTo>
                          <a:pt x="175" y="446"/>
                        </a:lnTo>
                        <a:lnTo>
                          <a:pt x="184" y="447"/>
                        </a:lnTo>
                        <a:lnTo>
                          <a:pt x="195" y="447"/>
                        </a:lnTo>
                        <a:lnTo>
                          <a:pt x="204" y="447"/>
                        </a:lnTo>
                        <a:lnTo>
                          <a:pt x="215" y="447"/>
                        </a:lnTo>
                        <a:lnTo>
                          <a:pt x="225" y="447"/>
                        </a:lnTo>
                        <a:lnTo>
                          <a:pt x="235" y="447"/>
                        </a:lnTo>
                        <a:lnTo>
                          <a:pt x="246" y="447"/>
                        </a:lnTo>
                        <a:lnTo>
                          <a:pt x="255" y="447"/>
                        </a:lnTo>
                        <a:lnTo>
                          <a:pt x="265" y="447"/>
                        </a:lnTo>
                        <a:lnTo>
                          <a:pt x="274" y="447"/>
                        </a:lnTo>
                        <a:lnTo>
                          <a:pt x="285" y="447"/>
                        </a:lnTo>
                        <a:lnTo>
                          <a:pt x="293" y="447"/>
                        </a:lnTo>
                        <a:lnTo>
                          <a:pt x="304" y="447"/>
                        </a:lnTo>
                        <a:lnTo>
                          <a:pt x="314" y="447"/>
                        </a:lnTo>
                        <a:lnTo>
                          <a:pt x="323" y="447"/>
                        </a:lnTo>
                        <a:lnTo>
                          <a:pt x="331" y="447"/>
                        </a:lnTo>
                        <a:lnTo>
                          <a:pt x="341" y="446"/>
                        </a:lnTo>
                        <a:lnTo>
                          <a:pt x="349" y="446"/>
                        </a:lnTo>
                        <a:lnTo>
                          <a:pt x="359" y="446"/>
                        </a:lnTo>
                        <a:lnTo>
                          <a:pt x="367" y="445"/>
                        </a:lnTo>
                        <a:lnTo>
                          <a:pt x="377" y="445"/>
                        </a:lnTo>
                        <a:lnTo>
                          <a:pt x="385" y="445"/>
                        </a:lnTo>
                        <a:lnTo>
                          <a:pt x="393" y="445"/>
                        </a:lnTo>
                        <a:lnTo>
                          <a:pt x="401" y="445"/>
                        </a:lnTo>
                        <a:lnTo>
                          <a:pt x="410" y="444"/>
                        </a:lnTo>
                        <a:lnTo>
                          <a:pt x="417" y="444"/>
                        </a:lnTo>
                        <a:lnTo>
                          <a:pt x="425" y="444"/>
                        </a:lnTo>
                        <a:lnTo>
                          <a:pt x="432" y="442"/>
                        </a:lnTo>
                        <a:lnTo>
                          <a:pt x="441" y="442"/>
                        </a:lnTo>
                        <a:lnTo>
                          <a:pt x="448" y="442"/>
                        </a:lnTo>
                        <a:lnTo>
                          <a:pt x="455" y="442"/>
                        </a:lnTo>
                        <a:lnTo>
                          <a:pt x="462" y="441"/>
                        </a:lnTo>
                        <a:lnTo>
                          <a:pt x="468" y="441"/>
                        </a:lnTo>
                        <a:lnTo>
                          <a:pt x="475" y="440"/>
                        </a:lnTo>
                        <a:lnTo>
                          <a:pt x="482" y="440"/>
                        </a:lnTo>
                        <a:lnTo>
                          <a:pt x="488" y="439"/>
                        </a:lnTo>
                        <a:lnTo>
                          <a:pt x="494" y="439"/>
                        </a:lnTo>
                        <a:lnTo>
                          <a:pt x="500" y="439"/>
                        </a:lnTo>
                        <a:lnTo>
                          <a:pt x="506" y="439"/>
                        </a:lnTo>
                        <a:lnTo>
                          <a:pt x="512" y="438"/>
                        </a:lnTo>
                        <a:lnTo>
                          <a:pt x="517" y="438"/>
                        </a:lnTo>
                        <a:lnTo>
                          <a:pt x="521" y="436"/>
                        </a:lnTo>
                        <a:lnTo>
                          <a:pt x="526" y="436"/>
                        </a:lnTo>
                        <a:lnTo>
                          <a:pt x="532" y="436"/>
                        </a:lnTo>
                        <a:lnTo>
                          <a:pt x="537" y="436"/>
                        </a:lnTo>
                        <a:lnTo>
                          <a:pt x="540" y="435"/>
                        </a:lnTo>
                        <a:lnTo>
                          <a:pt x="545" y="435"/>
                        </a:lnTo>
                        <a:lnTo>
                          <a:pt x="549" y="435"/>
                        </a:lnTo>
                        <a:lnTo>
                          <a:pt x="552" y="434"/>
                        </a:lnTo>
                        <a:lnTo>
                          <a:pt x="556" y="434"/>
                        </a:lnTo>
                        <a:lnTo>
                          <a:pt x="559" y="434"/>
                        </a:lnTo>
                        <a:lnTo>
                          <a:pt x="562" y="434"/>
                        </a:lnTo>
                        <a:lnTo>
                          <a:pt x="564" y="433"/>
                        </a:lnTo>
                        <a:lnTo>
                          <a:pt x="566" y="433"/>
                        </a:lnTo>
                        <a:lnTo>
                          <a:pt x="570" y="433"/>
                        </a:lnTo>
                        <a:lnTo>
                          <a:pt x="572" y="433"/>
                        </a:lnTo>
                        <a:lnTo>
                          <a:pt x="576" y="433"/>
                        </a:lnTo>
                        <a:lnTo>
                          <a:pt x="577" y="433"/>
                        </a:lnTo>
                        <a:lnTo>
                          <a:pt x="578" y="433"/>
                        </a:lnTo>
                        <a:lnTo>
                          <a:pt x="578" y="432"/>
                        </a:lnTo>
                        <a:lnTo>
                          <a:pt x="578" y="428"/>
                        </a:lnTo>
                        <a:lnTo>
                          <a:pt x="578" y="425"/>
                        </a:lnTo>
                        <a:lnTo>
                          <a:pt x="578" y="422"/>
                        </a:lnTo>
                        <a:lnTo>
                          <a:pt x="578" y="419"/>
                        </a:lnTo>
                        <a:lnTo>
                          <a:pt x="578" y="415"/>
                        </a:lnTo>
                        <a:lnTo>
                          <a:pt x="578" y="410"/>
                        </a:lnTo>
                        <a:lnTo>
                          <a:pt x="578" y="406"/>
                        </a:lnTo>
                        <a:lnTo>
                          <a:pt x="578" y="402"/>
                        </a:lnTo>
                        <a:lnTo>
                          <a:pt x="578" y="400"/>
                        </a:lnTo>
                        <a:lnTo>
                          <a:pt x="578" y="397"/>
                        </a:lnTo>
                        <a:lnTo>
                          <a:pt x="578" y="395"/>
                        </a:lnTo>
                        <a:lnTo>
                          <a:pt x="578" y="391"/>
                        </a:lnTo>
                        <a:lnTo>
                          <a:pt x="578" y="389"/>
                        </a:lnTo>
                        <a:lnTo>
                          <a:pt x="578" y="385"/>
                        </a:lnTo>
                        <a:lnTo>
                          <a:pt x="578" y="383"/>
                        </a:lnTo>
                        <a:lnTo>
                          <a:pt x="578" y="378"/>
                        </a:lnTo>
                        <a:lnTo>
                          <a:pt x="578" y="376"/>
                        </a:lnTo>
                        <a:lnTo>
                          <a:pt x="578" y="372"/>
                        </a:lnTo>
                        <a:lnTo>
                          <a:pt x="579" y="369"/>
                        </a:lnTo>
                        <a:lnTo>
                          <a:pt x="578" y="364"/>
                        </a:lnTo>
                        <a:lnTo>
                          <a:pt x="578" y="360"/>
                        </a:lnTo>
                        <a:lnTo>
                          <a:pt x="578" y="357"/>
                        </a:lnTo>
                        <a:lnTo>
                          <a:pt x="578" y="353"/>
                        </a:lnTo>
                        <a:lnTo>
                          <a:pt x="578" y="349"/>
                        </a:lnTo>
                        <a:lnTo>
                          <a:pt x="578" y="344"/>
                        </a:lnTo>
                        <a:lnTo>
                          <a:pt x="578" y="340"/>
                        </a:lnTo>
                        <a:lnTo>
                          <a:pt x="578" y="336"/>
                        </a:lnTo>
                        <a:lnTo>
                          <a:pt x="578" y="331"/>
                        </a:lnTo>
                        <a:lnTo>
                          <a:pt x="578" y="327"/>
                        </a:lnTo>
                        <a:lnTo>
                          <a:pt x="578" y="322"/>
                        </a:lnTo>
                        <a:lnTo>
                          <a:pt x="578" y="318"/>
                        </a:lnTo>
                        <a:lnTo>
                          <a:pt x="578" y="313"/>
                        </a:lnTo>
                        <a:lnTo>
                          <a:pt x="578" y="308"/>
                        </a:lnTo>
                        <a:lnTo>
                          <a:pt x="578" y="303"/>
                        </a:lnTo>
                        <a:lnTo>
                          <a:pt x="578" y="300"/>
                        </a:lnTo>
                        <a:lnTo>
                          <a:pt x="578" y="294"/>
                        </a:lnTo>
                        <a:lnTo>
                          <a:pt x="578" y="290"/>
                        </a:lnTo>
                        <a:lnTo>
                          <a:pt x="578" y="284"/>
                        </a:lnTo>
                        <a:lnTo>
                          <a:pt x="578" y="280"/>
                        </a:lnTo>
                        <a:lnTo>
                          <a:pt x="578" y="275"/>
                        </a:lnTo>
                        <a:lnTo>
                          <a:pt x="578" y="269"/>
                        </a:lnTo>
                        <a:lnTo>
                          <a:pt x="578" y="264"/>
                        </a:lnTo>
                        <a:lnTo>
                          <a:pt x="578" y="260"/>
                        </a:lnTo>
                        <a:lnTo>
                          <a:pt x="578" y="254"/>
                        </a:lnTo>
                        <a:lnTo>
                          <a:pt x="578" y="249"/>
                        </a:lnTo>
                        <a:lnTo>
                          <a:pt x="578" y="243"/>
                        </a:lnTo>
                        <a:lnTo>
                          <a:pt x="578" y="237"/>
                        </a:lnTo>
                        <a:lnTo>
                          <a:pt x="578" y="232"/>
                        </a:lnTo>
                        <a:lnTo>
                          <a:pt x="578" y="226"/>
                        </a:lnTo>
                        <a:lnTo>
                          <a:pt x="578" y="222"/>
                        </a:lnTo>
                        <a:lnTo>
                          <a:pt x="578" y="217"/>
                        </a:lnTo>
                        <a:lnTo>
                          <a:pt x="578" y="211"/>
                        </a:lnTo>
                        <a:lnTo>
                          <a:pt x="578" y="205"/>
                        </a:lnTo>
                        <a:lnTo>
                          <a:pt x="577" y="200"/>
                        </a:lnTo>
                        <a:lnTo>
                          <a:pt x="577" y="195"/>
                        </a:lnTo>
                        <a:lnTo>
                          <a:pt x="577" y="190"/>
                        </a:lnTo>
                        <a:lnTo>
                          <a:pt x="577" y="185"/>
                        </a:lnTo>
                        <a:lnTo>
                          <a:pt x="577" y="180"/>
                        </a:lnTo>
                        <a:lnTo>
                          <a:pt x="577" y="176"/>
                        </a:lnTo>
                        <a:lnTo>
                          <a:pt x="576" y="171"/>
                        </a:lnTo>
                        <a:lnTo>
                          <a:pt x="576" y="166"/>
                        </a:lnTo>
                        <a:lnTo>
                          <a:pt x="575" y="162"/>
                        </a:lnTo>
                        <a:lnTo>
                          <a:pt x="575" y="159"/>
                        </a:lnTo>
                        <a:lnTo>
                          <a:pt x="575" y="154"/>
                        </a:lnTo>
                        <a:lnTo>
                          <a:pt x="575" y="150"/>
                        </a:lnTo>
                        <a:lnTo>
                          <a:pt x="575" y="146"/>
                        </a:lnTo>
                        <a:lnTo>
                          <a:pt x="575" y="143"/>
                        </a:lnTo>
                        <a:lnTo>
                          <a:pt x="573" y="138"/>
                        </a:lnTo>
                        <a:lnTo>
                          <a:pt x="573" y="135"/>
                        </a:lnTo>
                        <a:lnTo>
                          <a:pt x="572" y="131"/>
                        </a:lnTo>
                        <a:lnTo>
                          <a:pt x="572" y="128"/>
                        </a:lnTo>
                        <a:lnTo>
                          <a:pt x="571" y="125"/>
                        </a:lnTo>
                        <a:lnTo>
                          <a:pt x="571" y="122"/>
                        </a:lnTo>
                        <a:lnTo>
                          <a:pt x="570" y="118"/>
                        </a:lnTo>
                        <a:lnTo>
                          <a:pt x="570" y="116"/>
                        </a:lnTo>
                        <a:lnTo>
                          <a:pt x="570" y="112"/>
                        </a:lnTo>
                        <a:lnTo>
                          <a:pt x="570" y="110"/>
                        </a:lnTo>
                        <a:lnTo>
                          <a:pt x="569" y="108"/>
                        </a:lnTo>
                        <a:lnTo>
                          <a:pt x="569" y="105"/>
                        </a:lnTo>
                        <a:lnTo>
                          <a:pt x="568" y="100"/>
                        </a:lnTo>
                        <a:lnTo>
                          <a:pt x="566" y="95"/>
                        </a:lnTo>
                        <a:lnTo>
                          <a:pt x="565" y="90"/>
                        </a:lnTo>
                        <a:lnTo>
                          <a:pt x="565" y="87"/>
                        </a:lnTo>
                        <a:lnTo>
                          <a:pt x="564" y="83"/>
                        </a:lnTo>
                        <a:lnTo>
                          <a:pt x="563" y="79"/>
                        </a:lnTo>
                        <a:lnTo>
                          <a:pt x="562" y="77"/>
                        </a:lnTo>
                        <a:lnTo>
                          <a:pt x="562" y="74"/>
                        </a:lnTo>
                        <a:lnTo>
                          <a:pt x="560" y="71"/>
                        </a:lnTo>
                        <a:lnTo>
                          <a:pt x="560" y="70"/>
                        </a:lnTo>
                        <a:lnTo>
                          <a:pt x="559" y="66"/>
                        </a:lnTo>
                        <a:lnTo>
                          <a:pt x="558" y="64"/>
                        </a:lnTo>
                        <a:lnTo>
                          <a:pt x="557" y="62"/>
                        </a:lnTo>
                        <a:lnTo>
                          <a:pt x="626" y="0"/>
                        </a:lnTo>
                        <a:lnTo>
                          <a:pt x="628" y="3"/>
                        </a:lnTo>
                        <a:lnTo>
                          <a:pt x="633" y="8"/>
                        </a:lnTo>
                        <a:lnTo>
                          <a:pt x="634" y="10"/>
                        </a:lnTo>
                        <a:lnTo>
                          <a:pt x="635" y="13"/>
                        </a:lnTo>
                        <a:lnTo>
                          <a:pt x="638" y="16"/>
                        </a:lnTo>
                        <a:lnTo>
                          <a:pt x="640" y="19"/>
                        </a:lnTo>
                        <a:lnTo>
                          <a:pt x="640" y="21"/>
                        </a:lnTo>
                        <a:lnTo>
                          <a:pt x="642" y="24"/>
                        </a:lnTo>
                        <a:lnTo>
                          <a:pt x="643" y="28"/>
                        </a:lnTo>
                        <a:lnTo>
                          <a:pt x="646" y="32"/>
                        </a:lnTo>
                        <a:lnTo>
                          <a:pt x="646" y="34"/>
                        </a:lnTo>
                        <a:lnTo>
                          <a:pt x="648" y="39"/>
                        </a:lnTo>
                        <a:lnTo>
                          <a:pt x="648" y="41"/>
                        </a:lnTo>
                        <a:lnTo>
                          <a:pt x="651" y="46"/>
                        </a:lnTo>
                        <a:lnTo>
                          <a:pt x="651" y="49"/>
                        </a:lnTo>
                        <a:lnTo>
                          <a:pt x="652" y="53"/>
                        </a:lnTo>
                        <a:lnTo>
                          <a:pt x="653" y="58"/>
                        </a:lnTo>
                        <a:lnTo>
                          <a:pt x="653" y="62"/>
                        </a:lnTo>
                        <a:lnTo>
                          <a:pt x="654" y="66"/>
                        </a:lnTo>
                        <a:lnTo>
                          <a:pt x="655" y="71"/>
                        </a:lnTo>
                        <a:lnTo>
                          <a:pt x="655" y="74"/>
                        </a:lnTo>
                        <a:lnTo>
                          <a:pt x="657" y="79"/>
                        </a:lnTo>
                        <a:lnTo>
                          <a:pt x="658" y="83"/>
                        </a:lnTo>
                        <a:lnTo>
                          <a:pt x="658" y="87"/>
                        </a:lnTo>
                        <a:lnTo>
                          <a:pt x="658" y="92"/>
                        </a:lnTo>
                        <a:lnTo>
                          <a:pt x="659" y="97"/>
                        </a:lnTo>
                        <a:lnTo>
                          <a:pt x="660" y="100"/>
                        </a:lnTo>
                        <a:lnTo>
                          <a:pt x="660" y="105"/>
                        </a:lnTo>
                        <a:lnTo>
                          <a:pt x="660" y="110"/>
                        </a:lnTo>
                        <a:lnTo>
                          <a:pt x="661" y="115"/>
                        </a:lnTo>
                        <a:lnTo>
                          <a:pt x="661" y="121"/>
                        </a:lnTo>
                        <a:lnTo>
                          <a:pt x="662" y="124"/>
                        </a:lnTo>
                        <a:lnTo>
                          <a:pt x="662" y="129"/>
                        </a:lnTo>
                        <a:lnTo>
                          <a:pt x="662" y="134"/>
                        </a:lnTo>
                        <a:lnTo>
                          <a:pt x="662" y="138"/>
                        </a:lnTo>
                        <a:lnTo>
                          <a:pt x="664" y="142"/>
                        </a:lnTo>
                        <a:lnTo>
                          <a:pt x="664" y="147"/>
                        </a:lnTo>
                        <a:lnTo>
                          <a:pt x="664" y="152"/>
                        </a:lnTo>
                        <a:lnTo>
                          <a:pt x="664" y="156"/>
                        </a:lnTo>
                        <a:lnTo>
                          <a:pt x="664" y="161"/>
                        </a:lnTo>
                        <a:lnTo>
                          <a:pt x="664" y="165"/>
                        </a:lnTo>
                        <a:lnTo>
                          <a:pt x="664" y="169"/>
                        </a:lnTo>
                        <a:lnTo>
                          <a:pt x="664" y="173"/>
                        </a:lnTo>
                        <a:lnTo>
                          <a:pt x="664" y="178"/>
                        </a:lnTo>
                        <a:lnTo>
                          <a:pt x="664" y="182"/>
                        </a:lnTo>
                        <a:lnTo>
                          <a:pt x="665" y="186"/>
                        </a:lnTo>
                        <a:lnTo>
                          <a:pt x="665" y="191"/>
                        </a:lnTo>
                        <a:lnTo>
                          <a:pt x="665" y="193"/>
                        </a:lnTo>
                        <a:lnTo>
                          <a:pt x="665" y="198"/>
                        </a:lnTo>
                        <a:lnTo>
                          <a:pt x="665" y="201"/>
                        </a:lnTo>
                        <a:lnTo>
                          <a:pt x="665" y="205"/>
                        </a:lnTo>
                        <a:lnTo>
                          <a:pt x="665" y="208"/>
                        </a:lnTo>
                        <a:lnTo>
                          <a:pt x="665" y="212"/>
                        </a:lnTo>
                        <a:lnTo>
                          <a:pt x="665" y="217"/>
                        </a:lnTo>
                        <a:lnTo>
                          <a:pt x="665" y="219"/>
                        </a:lnTo>
                        <a:lnTo>
                          <a:pt x="665" y="222"/>
                        </a:lnTo>
                        <a:lnTo>
                          <a:pt x="665" y="224"/>
                        </a:lnTo>
                        <a:lnTo>
                          <a:pt x="666" y="229"/>
                        </a:lnTo>
                        <a:lnTo>
                          <a:pt x="666" y="231"/>
                        </a:lnTo>
                        <a:lnTo>
                          <a:pt x="666" y="233"/>
                        </a:lnTo>
                        <a:lnTo>
                          <a:pt x="666" y="236"/>
                        </a:lnTo>
                        <a:lnTo>
                          <a:pt x="666" y="239"/>
                        </a:lnTo>
                        <a:lnTo>
                          <a:pt x="666" y="241"/>
                        </a:lnTo>
                        <a:lnTo>
                          <a:pt x="666" y="243"/>
                        </a:lnTo>
                        <a:lnTo>
                          <a:pt x="666" y="246"/>
                        </a:lnTo>
                        <a:lnTo>
                          <a:pt x="666" y="249"/>
                        </a:lnTo>
                        <a:lnTo>
                          <a:pt x="666" y="252"/>
                        </a:lnTo>
                        <a:lnTo>
                          <a:pt x="666" y="256"/>
                        </a:lnTo>
                        <a:lnTo>
                          <a:pt x="666" y="260"/>
                        </a:lnTo>
                        <a:lnTo>
                          <a:pt x="666" y="264"/>
                        </a:lnTo>
                        <a:lnTo>
                          <a:pt x="666" y="267"/>
                        </a:lnTo>
                        <a:lnTo>
                          <a:pt x="666" y="273"/>
                        </a:lnTo>
                        <a:lnTo>
                          <a:pt x="666" y="276"/>
                        </a:lnTo>
                        <a:lnTo>
                          <a:pt x="666" y="281"/>
                        </a:lnTo>
                        <a:lnTo>
                          <a:pt x="666" y="284"/>
                        </a:lnTo>
                        <a:lnTo>
                          <a:pt x="666" y="290"/>
                        </a:lnTo>
                        <a:lnTo>
                          <a:pt x="666" y="295"/>
                        </a:lnTo>
                        <a:lnTo>
                          <a:pt x="667" y="301"/>
                        </a:lnTo>
                        <a:lnTo>
                          <a:pt x="666" y="306"/>
                        </a:lnTo>
                        <a:lnTo>
                          <a:pt x="666" y="311"/>
                        </a:lnTo>
                        <a:lnTo>
                          <a:pt x="666" y="317"/>
                        </a:lnTo>
                        <a:lnTo>
                          <a:pt x="666" y="322"/>
                        </a:lnTo>
                        <a:lnTo>
                          <a:pt x="666" y="328"/>
                        </a:lnTo>
                        <a:lnTo>
                          <a:pt x="666" y="334"/>
                        </a:lnTo>
                        <a:lnTo>
                          <a:pt x="666" y="340"/>
                        </a:lnTo>
                        <a:lnTo>
                          <a:pt x="666" y="345"/>
                        </a:lnTo>
                        <a:lnTo>
                          <a:pt x="666" y="351"/>
                        </a:lnTo>
                        <a:lnTo>
                          <a:pt x="666" y="357"/>
                        </a:lnTo>
                        <a:lnTo>
                          <a:pt x="666" y="363"/>
                        </a:lnTo>
                        <a:lnTo>
                          <a:pt x="666" y="370"/>
                        </a:lnTo>
                        <a:lnTo>
                          <a:pt x="666" y="376"/>
                        </a:lnTo>
                        <a:lnTo>
                          <a:pt x="666" y="381"/>
                        </a:lnTo>
                        <a:lnTo>
                          <a:pt x="666" y="387"/>
                        </a:lnTo>
                        <a:lnTo>
                          <a:pt x="666" y="394"/>
                        </a:lnTo>
                        <a:lnTo>
                          <a:pt x="665" y="398"/>
                        </a:lnTo>
                        <a:lnTo>
                          <a:pt x="665" y="404"/>
                        </a:lnTo>
                        <a:lnTo>
                          <a:pt x="665" y="411"/>
                        </a:lnTo>
                        <a:lnTo>
                          <a:pt x="665" y="416"/>
                        </a:lnTo>
                        <a:lnTo>
                          <a:pt x="665" y="421"/>
                        </a:lnTo>
                        <a:lnTo>
                          <a:pt x="665" y="427"/>
                        </a:lnTo>
                        <a:lnTo>
                          <a:pt x="665" y="433"/>
                        </a:lnTo>
                        <a:lnTo>
                          <a:pt x="665" y="439"/>
                        </a:lnTo>
                        <a:lnTo>
                          <a:pt x="664" y="444"/>
                        </a:lnTo>
                        <a:lnTo>
                          <a:pt x="664" y="448"/>
                        </a:lnTo>
                        <a:lnTo>
                          <a:pt x="664" y="453"/>
                        </a:lnTo>
                        <a:lnTo>
                          <a:pt x="664" y="459"/>
                        </a:lnTo>
                        <a:lnTo>
                          <a:pt x="664" y="464"/>
                        </a:lnTo>
                        <a:lnTo>
                          <a:pt x="664" y="468"/>
                        </a:lnTo>
                        <a:lnTo>
                          <a:pt x="664" y="472"/>
                        </a:lnTo>
                        <a:lnTo>
                          <a:pt x="664" y="477"/>
                        </a:lnTo>
                        <a:lnTo>
                          <a:pt x="664" y="482"/>
                        </a:lnTo>
                        <a:lnTo>
                          <a:pt x="664" y="485"/>
                        </a:lnTo>
                        <a:lnTo>
                          <a:pt x="664" y="489"/>
                        </a:lnTo>
                        <a:lnTo>
                          <a:pt x="664" y="492"/>
                        </a:lnTo>
                        <a:lnTo>
                          <a:pt x="664" y="495"/>
                        </a:lnTo>
                        <a:lnTo>
                          <a:pt x="664" y="498"/>
                        </a:lnTo>
                        <a:lnTo>
                          <a:pt x="664" y="501"/>
                        </a:lnTo>
                        <a:lnTo>
                          <a:pt x="664" y="504"/>
                        </a:lnTo>
                        <a:lnTo>
                          <a:pt x="664" y="508"/>
                        </a:lnTo>
                        <a:lnTo>
                          <a:pt x="664" y="510"/>
                        </a:lnTo>
                        <a:lnTo>
                          <a:pt x="664" y="512"/>
                        </a:lnTo>
                        <a:lnTo>
                          <a:pt x="664" y="514"/>
                        </a:lnTo>
                        <a:lnTo>
                          <a:pt x="659" y="515"/>
                        </a:lnTo>
                        <a:lnTo>
                          <a:pt x="655" y="515"/>
                        </a:lnTo>
                        <a:lnTo>
                          <a:pt x="652" y="515"/>
                        </a:lnTo>
                        <a:lnTo>
                          <a:pt x="649" y="516"/>
                        </a:lnTo>
                        <a:lnTo>
                          <a:pt x="647" y="517"/>
                        </a:lnTo>
                        <a:lnTo>
                          <a:pt x="645" y="518"/>
                        </a:lnTo>
                        <a:lnTo>
                          <a:pt x="641" y="518"/>
                        </a:lnTo>
                        <a:lnTo>
                          <a:pt x="638" y="518"/>
                        </a:lnTo>
                        <a:lnTo>
                          <a:pt x="635" y="518"/>
                        </a:lnTo>
                        <a:lnTo>
                          <a:pt x="632" y="520"/>
                        </a:lnTo>
                        <a:lnTo>
                          <a:pt x="628" y="520"/>
                        </a:lnTo>
                        <a:lnTo>
                          <a:pt x="624" y="521"/>
                        </a:lnTo>
                        <a:lnTo>
                          <a:pt x="620" y="521"/>
                        </a:lnTo>
                        <a:lnTo>
                          <a:pt x="617" y="521"/>
                        </a:lnTo>
                        <a:lnTo>
                          <a:pt x="613" y="521"/>
                        </a:lnTo>
                        <a:lnTo>
                          <a:pt x="608" y="522"/>
                        </a:lnTo>
                        <a:lnTo>
                          <a:pt x="604" y="522"/>
                        </a:lnTo>
                        <a:lnTo>
                          <a:pt x="600" y="523"/>
                        </a:lnTo>
                        <a:lnTo>
                          <a:pt x="596" y="523"/>
                        </a:lnTo>
                        <a:lnTo>
                          <a:pt x="591" y="523"/>
                        </a:lnTo>
                        <a:lnTo>
                          <a:pt x="588" y="523"/>
                        </a:lnTo>
                        <a:lnTo>
                          <a:pt x="583" y="524"/>
                        </a:lnTo>
                        <a:lnTo>
                          <a:pt x="578" y="524"/>
                        </a:lnTo>
                        <a:lnTo>
                          <a:pt x="575" y="524"/>
                        </a:lnTo>
                        <a:lnTo>
                          <a:pt x="570" y="524"/>
                        </a:lnTo>
                        <a:lnTo>
                          <a:pt x="565" y="525"/>
                        </a:lnTo>
                        <a:lnTo>
                          <a:pt x="560" y="525"/>
                        </a:lnTo>
                        <a:lnTo>
                          <a:pt x="556" y="525"/>
                        </a:lnTo>
                        <a:lnTo>
                          <a:pt x="552" y="525"/>
                        </a:lnTo>
                        <a:lnTo>
                          <a:pt x="547" y="525"/>
                        </a:lnTo>
                        <a:lnTo>
                          <a:pt x="543" y="525"/>
                        </a:lnTo>
                        <a:lnTo>
                          <a:pt x="538" y="525"/>
                        </a:lnTo>
                        <a:lnTo>
                          <a:pt x="534" y="525"/>
                        </a:lnTo>
                        <a:lnTo>
                          <a:pt x="528" y="527"/>
                        </a:lnTo>
                        <a:lnTo>
                          <a:pt x="525" y="527"/>
                        </a:lnTo>
                        <a:lnTo>
                          <a:pt x="521" y="527"/>
                        </a:lnTo>
                        <a:lnTo>
                          <a:pt x="517" y="527"/>
                        </a:lnTo>
                        <a:lnTo>
                          <a:pt x="513" y="528"/>
                        </a:lnTo>
                        <a:lnTo>
                          <a:pt x="508" y="528"/>
                        </a:lnTo>
                        <a:lnTo>
                          <a:pt x="503" y="528"/>
                        </a:lnTo>
                        <a:lnTo>
                          <a:pt x="501" y="528"/>
                        </a:lnTo>
                        <a:lnTo>
                          <a:pt x="498" y="528"/>
                        </a:lnTo>
                        <a:lnTo>
                          <a:pt x="494" y="528"/>
                        </a:lnTo>
                        <a:lnTo>
                          <a:pt x="490" y="528"/>
                        </a:lnTo>
                        <a:lnTo>
                          <a:pt x="486" y="528"/>
                        </a:lnTo>
                        <a:lnTo>
                          <a:pt x="483" y="528"/>
                        </a:lnTo>
                        <a:lnTo>
                          <a:pt x="481" y="528"/>
                        </a:lnTo>
                        <a:lnTo>
                          <a:pt x="477" y="528"/>
                        </a:lnTo>
                        <a:lnTo>
                          <a:pt x="475" y="528"/>
                        </a:lnTo>
                        <a:lnTo>
                          <a:pt x="473" y="529"/>
                        </a:lnTo>
                        <a:lnTo>
                          <a:pt x="468" y="529"/>
                        </a:lnTo>
                        <a:lnTo>
                          <a:pt x="463" y="530"/>
                        </a:lnTo>
                        <a:lnTo>
                          <a:pt x="461" y="530"/>
                        </a:lnTo>
                        <a:lnTo>
                          <a:pt x="458" y="530"/>
                        </a:lnTo>
                        <a:lnTo>
                          <a:pt x="456" y="530"/>
                        </a:lnTo>
                        <a:lnTo>
                          <a:pt x="445" y="530"/>
                        </a:lnTo>
                        <a:lnTo>
                          <a:pt x="436" y="530"/>
                        </a:lnTo>
                        <a:lnTo>
                          <a:pt x="425" y="530"/>
                        </a:lnTo>
                        <a:lnTo>
                          <a:pt x="414" y="530"/>
                        </a:lnTo>
                        <a:lnTo>
                          <a:pt x="405" y="530"/>
                        </a:lnTo>
                        <a:lnTo>
                          <a:pt x="394" y="530"/>
                        </a:lnTo>
                        <a:lnTo>
                          <a:pt x="385" y="530"/>
                        </a:lnTo>
                        <a:lnTo>
                          <a:pt x="374" y="531"/>
                        </a:lnTo>
                        <a:lnTo>
                          <a:pt x="365" y="530"/>
                        </a:lnTo>
                        <a:lnTo>
                          <a:pt x="354" y="530"/>
                        </a:lnTo>
                        <a:lnTo>
                          <a:pt x="344" y="530"/>
                        </a:lnTo>
                        <a:lnTo>
                          <a:pt x="336" y="530"/>
                        </a:lnTo>
                        <a:lnTo>
                          <a:pt x="327" y="530"/>
                        </a:lnTo>
                        <a:lnTo>
                          <a:pt x="317" y="530"/>
                        </a:lnTo>
                        <a:lnTo>
                          <a:pt x="309" y="530"/>
                        </a:lnTo>
                        <a:lnTo>
                          <a:pt x="299" y="530"/>
                        </a:lnTo>
                        <a:lnTo>
                          <a:pt x="291" y="530"/>
                        </a:lnTo>
                        <a:lnTo>
                          <a:pt x="280" y="530"/>
                        </a:lnTo>
                        <a:lnTo>
                          <a:pt x="273" y="529"/>
                        </a:lnTo>
                        <a:lnTo>
                          <a:pt x="264" y="529"/>
                        </a:lnTo>
                        <a:lnTo>
                          <a:pt x="255" y="528"/>
                        </a:lnTo>
                        <a:lnTo>
                          <a:pt x="247" y="528"/>
                        </a:lnTo>
                        <a:lnTo>
                          <a:pt x="239" y="528"/>
                        </a:lnTo>
                        <a:lnTo>
                          <a:pt x="232" y="528"/>
                        </a:lnTo>
                        <a:lnTo>
                          <a:pt x="223" y="527"/>
                        </a:lnTo>
                        <a:lnTo>
                          <a:pt x="215" y="527"/>
                        </a:lnTo>
                        <a:lnTo>
                          <a:pt x="208" y="525"/>
                        </a:lnTo>
                        <a:lnTo>
                          <a:pt x="201" y="525"/>
                        </a:lnTo>
                        <a:lnTo>
                          <a:pt x="194" y="525"/>
                        </a:lnTo>
                        <a:lnTo>
                          <a:pt x="187" y="525"/>
                        </a:lnTo>
                        <a:lnTo>
                          <a:pt x="180" y="524"/>
                        </a:lnTo>
                        <a:lnTo>
                          <a:pt x="174" y="524"/>
                        </a:lnTo>
                        <a:lnTo>
                          <a:pt x="167" y="523"/>
                        </a:lnTo>
                        <a:lnTo>
                          <a:pt x="161" y="523"/>
                        </a:lnTo>
                        <a:lnTo>
                          <a:pt x="155" y="522"/>
                        </a:lnTo>
                        <a:lnTo>
                          <a:pt x="149" y="522"/>
                        </a:lnTo>
                        <a:lnTo>
                          <a:pt x="142" y="521"/>
                        </a:lnTo>
                        <a:lnTo>
                          <a:pt x="137" y="521"/>
                        </a:lnTo>
                        <a:lnTo>
                          <a:pt x="131" y="520"/>
                        </a:lnTo>
                        <a:lnTo>
                          <a:pt x="126" y="520"/>
                        </a:lnTo>
                        <a:lnTo>
                          <a:pt x="120" y="518"/>
                        </a:lnTo>
                        <a:lnTo>
                          <a:pt x="115" y="518"/>
                        </a:lnTo>
                        <a:lnTo>
                          <a:pt x="110" y="518"/>
                        </a:lnTo>
                        <a:lnTo>
                          <a:pt x="106" y="518"/>
                        </a:lnTo>
                        <a:lnTo>
                          <a:pt x="101" y="517"/>
                        </a:lnTo>
                        <a:lnTo>
                          <a:pt x="97" y="517"/>
                        </a:lnTo>
                        <a:lnTo>
                          <a:pt x="94" y="516"/>
                        </a:lnTo>
                        <a:lnTo>
                          <a:pt x="89" y="516"/>
                        </a:lnTo>
                        <a:lnTo>
                          <a:pt x="86" y="515"/>
                        </a:lnTo>
                        <a:lnTo>
                          <a:pt x="82" y="515"/>
                        </a:lnTo>
                        <a:lnTo>
                          <a:pt x="80" y="515"/>
                        </a:lnTo>
                        <a:lnTo>
                          <a:pt x="76" y="515"/>
                        </a:lnTo>
                        <a:lnTo>
                          <a:pt x="73" y="514"/>
                        </a:lnTo>
                        <a:lnTo>
                          <a:pt x="70" y="512"/>
                        </a:lnTo>
                        <a:lnTo>
                          <a:pt x="68" y="512"/>
                        </a:lnTo>
                        <a:lnTo>
                          <a:pt x="63" y="512"/>
                        </a:lnTo>
                        <a:lnTo>
                          <a:pt x="61" y="512"/>
                        </a:lnTo>
                        <a:lnTo>
                          <a:pt x="60" y="512"/>
                        </a:lnTo>
                        <a:lnTo>
                          <a:pt x="56" y="509"/>
                        </a:lnTo>
                        <a:lnTo>
                          <a:pt x="51" y="506"/>
                        </a:lnTo>
                        <a:lnTo>
                          <a:pt x="48" y="503"/>
                        </a:lnTo>
                        <a:lnTo>
                          <a:pt x="44" y="499"/>
                        </a:lnTo>
                        <a:lnTo>
                          <a:pt x="41" y="495"/>
                        </a:lnTo>
                        <a:lnTo>
                          <a:pt x="37" y="490"/>
                        </a:lnTo>
                        <a:lnTo>
                          <a:pt x="34" y="485"/>
                        </a:lnTo>
                        <a:lnTo>
                          <a:pt x="31" y="480"/>
                        </a:lnTo>
                        <a:lnTo>
                          <a:pt x="30" y="477"/>
                        </a:lnTo>
                        <a:lnTo>
                          <a:pt x="28" y="473"/>
                        </a:lnTo>
                        <a:lnTo>
                          <a:pt x="26" y="470"/>
                        </a:lnTo>
                        <a:lnTo>
                          <a:pt x="25" y="467"/>
                        </a:lnTo>
                        <a:lnTo>
                          <a:pt x="24" y="464"/>
                        </a:lnTo>
                        <a:lnTo>
                          <a:pt x="23" y="460"/>
                        </a:lnTo>
                        <a:lnTo>
                          <a:pt x="22" y="457"/>
                        </a:lnTo>
                        <a:lnTo>
                          <a:pt x="21" y="454"/>
                        </a:lnTo>
                        <a:lnTo>
                          <a:pt x="19" y="451"/>
                        </a:lnTo>
                        <a:lnTo>
                          <a:pt x="18" y="447"/>
                        </a:lnTo>
                        <a:lnTo>
                          <a:pt x="17" y="444"/>
                        </a:lnTo>
                        <a:lnTo>
                          <a:pt x="16" y="440"/>
                        </a:lnTo>
                        <a:lnTo>
                          <a:pt x="15" y="436"/>
                        </a:lnTo>
                        <a:lnTo>
                          <a:pt x="15" y="433"/>
                        </a:lnTo>
                        <a:lnTo>
                          <a:pt x="13" y="429"/>
                        </a:lnTo>
                        <a:lnTo>
                          <a:pt x="12" y="426"/>
                        </a:lnTo>
                        <a:lnTo>
                          <a:pt x="11" y="421"/>
                        </a:lnTo>
                        <a:lnTo>
                          <a:pt x="11" y="417"/>
                        </a:lnTo>
                        <a:lnTo>
                          <a:pt x="10" y="414"/>
                        </a:lnTo>
                        <a:lnTo>
                          <a:pt x="9" y="409"/>
                        </a:lnTo>
                        <a:lnTo>
                          <a:pt x="8" y="404"/>
                        </a:lnTo>
                        <a:lnTo>
                          <a:pt x="8" y="401"/>
                        </a:lnTo>
                        <a:lnTo>
                          <a:pt x="6" y="397"/>
                        </a:lnTo>
                        <a:lnTo>
                          <a:pt x="6" y="394"/>
                        </a:lnTo>
                        <a:lnTo>
                          <a:pt x="5" y="389"/>
                        </a:lnTo>
                        <a:lnTo>
                          <a:pt x="5" y="384"/>
                        </a:lnTo>
                        <a:lnTo>
                          <a:pt x="5" y="381"/>
                        </a:lnTo>
                        <a:lnTo>
                          <a:pt x="5" y="376"/>
                        </a:lnTo>
                        <a:lnTo>
                          <a:pt x="4" y="372"/>
                        </a:lnTo>
                        <a:lnTo>
                          <a:pt x="3" y="369"/>
                        </a:lnTo>
                        <a:lnTo>
                          <a:pt x="3" y="363"/>
                        </a:lnTo>
                        <a:lnTo>
                          <a:pt x="3" y="360"/>
                        </a:lnTo>
                        <a:lnTo>
                          <a:pt x="3" y="356"/>
                        </a:lnTo>
                        <a:lnTo>
                          <a:pt x="2" y="351"/>
                        </a:lnTo>
                        <a:lnTo>
                          <a:pt x="0" y="347"/>
                        </a:lnTo>
                        <a:lnTo>
                          <a:pt x="0" y="343"/>
                        </a:lnTo>
                        <a:lnTo>
                          <a:pt x="0" y="338"/>
                        </a:lnTo>
                        <a:lnTo>
                          <a:pt x="0" y="334"/>
                        </a:lnTo>
                        <a:lnTo>
                          <a:pt x="0" y="330"/>
                        </a:lnTo>
                        <a:lnTo>
                          <a:pt x="0" y="325"/>
                        </a:lnTo>
                        <a:lnTo>
                          <a:pt x="0" y="321"/>
                        </a:lnTo>
                        <a:lnTo>
                          <a:pt x="0" y="317"/>
                        </a:lnTo>
                        <a:lnTo>
                          <a:pt x="0" y="313"/>
                        </a:lnTo>
                        <a:lnTo>
                          <a:pt x="0" y="308"/>
                        </a:lnTo>
                        <a:lnTo>
                          <a:pt x="0" y="303"/>
                        </a:lnTo>
                        <a:lnTo>
                          <a:pt x="0" y="300"/>
                        </a:lnTo>
                        <a:lnTo>
                          <a:pt x="0" y="295"/>
                        </a:lnTo>
                        <a:lnTo>
                          <a:pt x="0" y="292"/>
                        </a:lnTo>
                        <a:lnTo>
                          <a:pt x="0" y="287"/>
                        </a:lnTo>
                        <a:lnTo>
                          <a:pt x="0" y="282"/>
                        </a:lnTo>
                        <a:lnTo>
                          <a:pt x="3" y="281"/>
                        </a:lnTo>
                        <a:lnTo>
                          <a:pt x="6" y="280"/>
                        </a:lnTo>
                        <a:lnTo>
                          <a:pt x="10" y="277"/>
                        </a:lnTo>
                        <a:lnTo>
                          <a:pt x="15" y="275"/>
                        </a:lnTo>
                        <a:lnTo>
                          <a:pt x="18" y="271"/>
                        </a:lnTo>
                        <a:lnTo>
                          <a:pt x="22" y="268"/>
                        </a:lnTo>
                        <a:lnTo>
                          <a:pt x="24" y="264"/>
                        </a:lnTo>
                        <a:lnTo>
                          <a:pt x="28" y="260"/>
                        </a:lnTo>
                        <a:lnTo>
                          <a:pt x="30" y="255"/>
                        </a:lnTo>
                        <a:lnTo>
                          <a:pt x="31" y="250"/>
                        </a:lnTo>
                        <a:lnTo>
                          <a:pt x="32" y="246"/>
                        </a:lnTo>
                        <a:lnTo>
                          <a:pt x="32" y="242"/>
                        </a:lnTo>
                        <a:lnTo>
                          <a:pt x="31" y="238"/>
                        </a:lnTo>
                        <a:lnTo>
                          <a:pt x="29" y="235"/>
                        </a:lnTo>
                        <a:lnTo>
                          <a:pt x="26" y="233"/>
                        </a:lnTo>
                        <a:lnTo>
                          <a:pt x="25" y="231"/>
                        </a:lnTo>
                        <a:lnTo>
                          <a:pt x="23" y="231"/>
                        </a:lnTo>
                        <a:lnTo>
                          <a:pt x="21" y="230"/>
                        </a:lnTo>
                        <a:lnTo>
                          <a:pt x="16" y="235"/>
                        </a:lnTo>
                        <a:lnTo>
                          <a:pt x="11" y="239"/>
                        </a:lnTo>
                        <a:lnTo>
                          <a:pt x="8" y="242"/>
                        </a:lnTo>
                        <a:lnTo>
                          <a:pt x="5" y="244"/>
                        </a:lnTo>
                        <a:lnTo>
                          <a:pt x="3" y="246"/>
                        </a:lnTo>
                        <a:lnTo>
                          <a:pt x="0" y="249"/>
                        </a:lnTo>
                        <a:lnTo>
                          <a:pt x="0" y="246"/>
                        </a:lnTo>
                        <a:lnTo>
                          <a:pt x="0" y="244"/>
                        </a:lnTo>
                        <a:lnTo>
                          <a:pt x="0" y="242"/>
                        </a:lnTo>
                        <a:lnTo>
                          <a:pt x="0" y="239"/>
                        </a:lnTo>
                        <a:lnTo>
                          <a:pt x="0" y="236"/>
                        </a:lnTo>
                        <a:lnTo>
                          <a:pt x="0" y="233"/>
                        </a:lnTo>
                        <a:lnTo>
                          <a:pt x="0" y="231"/>
                        </a:lnTo>
                        <a:lnTo>
                          <a:pt x="2" y="229"/>
                        </a:lnTo>
                        <a:lnTo>
                          <a:pt x="2" y="225"/>
                        </a:lnTo>
                        <a:lnTo>
                          <a:pt x="2" y="223"/>
                        </a:lnTo>
                        <a:lnTo>
                          <a:pt x="2" y="219"/>
                        </a:lnTo>
                        <a:lnTo>
                          <a:pt x="3" y="217"/>
                        </a:lnTo>
                        <a:lnTo>
                          <a:pt x="3" y="214"/>
                        </a:lnTo>
                        <a:lnTo>
                          <a:pt x="3" y="211"/>
                        </a:lnTo>
                        <a:lnTo>
                          <a:pt x="3" y="208"/>
                        </a:lnTo>
                        <a:lnTo>
                          <a:pt x="3" y="206"/>
                        </a:lnTo>
                        <a:lnTo>
                          <a:pt x="3" y="204"/>
                        </a:lnTo>
                        <a:lnTo>
                          <a:pt x="3" y="201"/>
                        </a:lnTo>
                        <a:lnTo>
                          <a:pt x="3" y="198"/>
                        </a:lnTo>
                        <a:lnTo>
                          <a:pt x="3" y="195"/>
                        </a:lnTo>
                        <a:lnTo>
                          <a:pt x="3" y="192"/>
                        </a:lnTo>
                        <a:lnTo>
                          <a:pt x="4" y="190"/>
                        </a:lnTo>
                        <a:lnTo>
                          <a:pt x="5" y="186"/>
                        </a:lnTo>
                        <a:lnTo>
                          <a:pt x="5" y="184"/>
                        </a:lnTo>
                        <a:lnTo>
                          <a:pt x="5" y="181"/>
                        </a:lnTo>
                        <a:lnTo>
                          <a:pt x="5" y="178"/>
                        </a:lnTo>
                        <a:lnTo>
                          <a:pt x="5" y="175"/>
                        </a:lnTo>
                        <a:lnTo>
                          <a:pt x="5" y="172"/>
                        </a:lnTo>
                        <a:lnTo>
                          <a:pt x="5" y="169"/>
                        </a:lnTo>
                        <a:lnTo>
                          <a:pt x="5" y="166"/>
                        </a:lnTo>
                        <a:lnTo>
                          <a:pt x="6" y="163"/>
                        </a:lnTo>
                        <a:lnTo>
                          <a:pt x="6" y="161"/>
                        </a:lnTo>
                        <a:lnTo>
                          <a:pt x="8" y="165"/>
                        </a:lnTo>
                        <a:lnTo>
                          <a:pt x="11" y="167"/>
                        </a:lnTo>
                        <a:lnTo>
                          <a:pt x="13" y="167"/>
                        </a:lnTo>
                        <a:lnTo>
                          <a:pt x="16" y="168"/>
                        </a:lnTo>
                        <a:lnTo>
                          <a:pt x="19" y="168"/>
                        </a:lnTo>
                        <a:lnTo>
                          <a:pt x="23" y="168"/>
                        </a:lnTo>
                        <a:lnTo>
                          <a:pt x="25" y="166"/>
                        </a:lnTo>
                        <a:lnTo>
                          <a:pt x="29" y="166"/>
                        </a:lnTo>
                        <a:lnTo>
                          <a:pt x="32" y="163"/>
                        </a:lnTo>
                        <a:lnTo>
                          <a:pt x="36" y="162"/>
                        </a:lnTo>
                        <a:lnTo>
                          <a:pt x="40" y="160"/>
                        </a:lnTo>
                        <a:lnTo>
                          <a:pt x="43" y="159"/>
                        </a:lnTo>
                        <a:lnTo>
                          <a:pt x="47" y="155"/>
                        </a:lnTo>
                        <a:lnTo>
                          <a:pt x="50" y="153"/>
                        </a:lnTo>
                        <a:lnTo>
                          <a:pt x="53" y="150"/>
                        </a:lnTo>
                        <a:lnTo>
                          <a:pt x="56" y="147"/>
                        </a:lnTo>
                        <a:lnTo>
                          <a:pt x="59" y="143"/>
                        </a:lnTo>
                        <a:lnTo>
                          <a:pt x="61" y="141"/>
                        </a:lnTo>
                        <a:lnTo>
                          <a:pt x="62" y="136"/>
                        </a:lnTo>
                        <a:lnTo>
                          <a:pt x="64" y="133"/>
                        </a:lnTo>
                        <a:lnTo>
                          <a:pt x="66" y="129"/>
                        </a:lnTo>
                        <a:lnTo>
                          <a:pt x="66" y="125"/>
                        </a:lnTo>
                        <a:lnTo>
                          <a:pt x="66" y="122"/>
                        </a:lnTo>
                        <a:lnTo>
                          <a:pt x="66" y="117"/>
                        </a:lnTo>
                        <a:lnTo>
                          <a:pt x="63" y="114"/>
                        </a:lnTo>
                        <a:lnTo>
                          <a:pt x="62" y="110"/>
                        </a:lnTo>
                        <a:lnTo>
                          <a:pt x="59" y="105"/>
                        </a:lnTo>
                        <a:lnTo>
                          <a:pt x="56" y="102"/>
                        </a:lnTo>
                        <a:lnTo>
                          <a:pt x="51" y="97"/>
                        </a:lnTo>
                        <a:lnTo>
                          <a:pt x="47" y="95"/>
                        </a:lnTo>
                        <a:lnTo>
                          <a:pt x="44" y="97"/>
                        </a:lnTo>
                        <a:lnTo>
                          <a:pt x="42" y="99"/>
                        </a:lnTo>
                        <a:lnTo>
                          <a:pt x="40" y="103"/>
                        </a:lnTo>
                        <a:lnTo>
                          <a:pt x="38" y="105"/>
                        </a:lnTo>
                        <a:lnTo>
                          <a:pt x="35" y="110"/>
                        </a:lnTo>
                        <a:lnTo>
                          <a:pt x="32" y="112"/>
                        </a:lnTo>
                        <a:lnTo>
                          <a:pt x="30" y="115"/>
                        </a:lnTo>
                        <a:lnTo>
                          <a:pt x="29" y="117"/>
                        </a:lnTo>
                        <a:lnTo>
                          <a:pt x="25" y="121"/>
                        </a:lnTo>
                        <a:lnTo>
                          <a:pt x="24" y="123"/>
                        </a:lnTo>
                        <a:lnTo>
                          <a:pt x="22" y="125"/>
                        </a:lnTo>
                        <a:lnTo>
                          <a:pt x="19" y="129"/>
                        </a:lnTo>
                        <a:lnTo>
                          <a:pt x="16" y="134"/>
                        </a:lnTo>
                        <a:lnTo>
                          <a:pt x="13" y="138"/>
                        </a:lnTo>
                        <a:lnTo>
                          <a:pt x="10" y="142"/>
                        </a:lnTo>
                        <a:lnTo>
                          <a:pt x="9" y="147"/>
                        </a:lnTo>
                        <a:lnTo>
                          <a:pt x="8" y="150"/>
                        </a:lnTo>
                        <a:lnTo>
                          <a:pt x="8" y="154"/>
                        </a:lnTo>
                        <a:lnTo>
                          <a:pt x="8" y="150"/>
                        </a:lnTo>
                        <a:lnTo>
                          <a:pt x="8" y="147"/>
                        </a:lnTo>
                        <a:lnTo>
                          <a:pt x="8" y="143"/>
                        </a:lnTo>
                        <a:lnTo>
                          <a:pt x="8" y="140"/>
                        </a:lnTo>
                        <a:lnTo>
                          <a:pt x="8" y="135"/>
                        </a:lnTo>
                        <a:lnTo>
                          <a:pt x="9" y="133"/>
                        </a:lnTo>
                        <a:lnTo>
                          <a:pt x="9" y="128"/>
                        </a:lnTo>
                        <a:lnTo>
                          <a:pt x="10" y="125"/>
                        </a:lnTo>
                        <a:lnTo>
                          <a:pt x="10" y="121"/>
                        </a:lnTo>
                        <a:lnTo>
                          <a:pt x="10" y="117"/>
                        </a:lnTo>
                        <a:lnTo>
                          <a:pt x="10" y="115"/>
                        </a:lnTo>
                        <a:lnTo>
                          <a:pt x="10" y="110"/>
                        </a:lnTo>
                        <a:lnTo>
                          <a:pt x="10" y="108"/>
                        </a:lnTo>
                        <a:lnTo>
                          <a:pt x="11" y="104"/>
                        </a:lnTo>
                        <a:lnTo>
                          <a:pt x="11" y="100"/>
                        </a:lnTo>
                        <a:lnTo>
                          <a:pt x="12" y="97"/>
                        </a:lnTo>
                        <a:lnTo>
                          <a:pt x="12" y="95"/>
                        </a:lnTo>
                        <a:lnTo>
                          <a:pt x="12" y="91"/>
                        </a:lnTo>
                        <a:lnTo>
                          <a:pt x="12" y="87"/>
                        </a:lnTo>
                        <a:lnTo>
                          <a:pt x="12" y="85"/>
                        </a:lnTo>
                        <a:lnTo>
                          <a:pt x="12" y="81"/>
                        </a:lnTo>
                        <a:lnTo>
                          <a:pt x="13" y="78"/>
                        </a:lnTo>
                        <a:lnTo>
                          <a:pt x="13" y="74"/>
                        </a:lnTo>
                        <a:lnTo>
                          <a:pt x="15" y="72"/>
                        </a:lnTo>
                        <a:lnTo>
                          <a:pt x="15" y="70"/>
                        </a:lnTo>
                        <a:lnTo>
                          <a:pt x="15" y="67"/>
                        </a:lnTo>
                        <a:lnTo>
                          <a:pt x="15" y="64"/>
                        </a:lnTo>
                        <a:lnTo>
                          <a:pt x="15" y="61"/>
                        </a:lnTo>
                        <a:lnTo>
                          <a:pt x="15" y="58"/>
                        </a:lnTo>
                        <a:lnTo>
                          <a:pt x="16" y="55"/>
                        </a:lnTo>
                        <a:lnTo>
                          <a:pt x="16" y="53"/>
                        </a:lnTo>
                        <a:lnTo>
                          <a:pt x="17" y="51"/>
                        </a:lnTo>
                        <a:lnTo>
                          <a:pt x="17" y="47"/>
                        </a:lnTo>
                        <a:lnTo>
                          <a:pt x="17" y="45"/>
                        </a:lnTo>
                        <a:lnTo>
                          <a:pt x="17" y="41"/>
                        </a:lnTo>
                        <a:lnTo>
                          <a:pt x="17" y="40"/>
                        </a:lnTo>
                        <a:lnTo>
                          <a:pt x="18" y="35"/>
                        </a:lnTo>
                        <a:lnTo>
                          <a:pt x="18" y="32"/>
                        </a:lnTo>
                        <a:lnTo>
                          <a:pt x="18" y="27"/>
                        </a:lnTo>
                        <a:lnTo>
                          <a:pt x="19" y="23"/>
                        </a:lnTo>
                        <a:lnTo>
                          <a:pt x="19" y="20"/>
                        </a:lnTo>
                        <a:lnTo>
                          <a:pt x="21" y="16"/>
                        </a:lnTo>
                        <a:lnTo>
                          <a:pt x="21" y="14"/>
                        </a:lnTo>
                        <a:lnTo>
                          <a:pt x="21" y="11"/>
                        </a:lnTo>
                        <a:lnTo>
                          <a:pt x="21" y="9"/>
                        </a:lnTo>
                        <a:lnTo>
                          <a:pt x="21" y="8"/>
                        </a:lnTo>
                        <a:lnTo>
                          <a:pt x="21" y="5"/>
                        </a:lnTo>
                        <a:lnTo>
                          <a:pt x="22" y="4"/>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10" name="Freeform 252"/>
                  <p:cNvSpPr>
                    <a:spLocks/>
                  </p:cNvSpPr>
                  <p:nvPr/>
                </p:nvSpPr>
                <p:spPr bwMode="auto">
                  <a:xfrm>
                    <a:off x="5458" y="1947"/>
                    <a:ext cx="14" cy="10"/>
                  </a:xfrm>
                  <a:custGeom>
                    <a:avLst/>
                    <a:gdLst>
                      <a:gd name="T0" fmla="*/ 0 w 43"/>
                      <a:gd name="T1" fmla="*/ 0 h 31"/>
                      <a:gd name="T2" fmla="*/ 0 w 43"/>
                      <a:gd name="T3" fmla="*/ 0 h 31"/>
                      <a:gd name="T4" fmla="*/ 0 w 43"/>
                      <a:gd name="T5" fmla="*/ 0 h 31"/>
                      <a:gd name="T6" fmla="*/ 0 w 43"/>
                      <a:gd name="T7" fmla="*/ 0 h 31"/>
                      <a:gd name="T8" fmla="*/ 0 w 43"/>
                      <a:gd name="T9" fmla="*/ 0 h 31"/>
                      <a:gd name="T10" fmla="*/ 0 w 43"/>
                      <a:gd name="T11" fmla="*/ 0 h 31"/>
                      <a:gd name="T12" fmla="*/ 0 w 43"/>
                      <a:gd name="T13" fmla="*/ 0 h 31"/>
                      <a:gd name="T14" fmla="*/ 0 w 43"/>
                      <a:gd name="T15" fmla="*/ 0 h 31"/>
                      <a:gd name="T16" fmla="*/ 0 w 43"/>
                      <a:gd name="T17" fmla="*/ 0 h 31"/>
                      <a:gd name="T18" fmla="*/ 0 w 43"/>
                      <a:gd name="T19" fmla="*/ 0 h 31"/>
                      <a:gd name="T20" fmla="*/ 0 w 43"/>
                      <a:gd name="T21" fmla="*/ 0 h 31"/>
                      <a:gd name="T22" fmla="*/ 0 w 43"/>
                      <a:gd name="T23" fmla="*/ 0 h 31"/>
                      <a:gd name="T24" fmla="*/ 0 w 43"/>
                      <a:gd name="T25" fmla="*/ 0 h 31"/>
                      <a:gd name="T26" fmla="*/ 0 w 43"/>
                      <a:gd name="T27" fmla="*/ 0 h 31"/>
                      <a:gd name="T28" fmla="*/ 0 w 43"/>
                      <a:gd name="T29" fmla="*/ 0 h 31"/>
                      <a:gd name="T30" fmla="*/ 0 w 43"/>
                      <a:gd name="T31" fmla="*/ 0 h 31"/>
                      <a:gd name="T32" fmla="*/ 0 w 43"/>
                      <a:gd name="T33" fmla="*/ 0 h 31"/>
                      <a:gd name="T34" fmla="*/ 0 w 43"/>
                      <a:gd name="T35" fmla="*/ 0 h 31"/>
                      <a:gd name="T36" fmla="*/ 0 w 43"/>
                      <a:gd name="T37" fmla="*/ 0 h 31"/>
                      <a:gd name="T38" fmla="*/ 0 w 43"/>
                      <a:gd name="T39" fmla="*/ 0 h 31"/>
                      <a:gd name="T40" fmla="*/ 0 w 43"/>
                      <a:gd name="T41" fmla="*/ 0 h 31"/>
                      <a:gd name="T42" fmla="*/ 0 w 43"/>
                      <a:gd name="T43" fmla="*/ 0 h 31"/>
                      <a:gd name="T44" fmla="*/ 0 w 43"/>
                      <a:gd name="T45" fmla="*/ 0 h 31"/>
                      <a:gd name="T46" fmla="*/ 0 w 43"/>
                      <a:gd name="T47" fmla="*/ 0 h 3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43"/>
                      <a:gd name="T73" fmla="*/ 0 h 31"/>
                      <a:gd name="T74" fmla="*/ 43 w 43"/>
                      <a:gd name="T75" fmla="*/ 31 h 31"/>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43" h="31">
                        <a:moveTo>
                          <a:pt x="0" y="0"/>
                        </a:moveTo>
                        <a:lnTo>
                          <a:pt x="43" y="3"/>
                        </a:lnTo>
                        <a:lnTo>
                          <a:pt x="42" y="6"/>
                        </a:lnTo>
                        <a:lnTo>
                          <a:pt x="41" y="9"/>
                        </a:lnTo>
                        <a:lnTo>
                          <a:pt x="40" y="11"/>
                        </a:lnTo>
                        <a:lnTo>
                          <a:pt x="37" y="13"/>
                        </a:lnTo>
                        <a:lnTo>
                          <a:pt x="37" y="16"/>
                        </a:lnTo>
                        <a:lnTo>
                          <a:pt x="35" y="18"/>
                        </a:lnTo>
                        <a:lnTo>
                          <a:pt x="33" y="20"/>
                        </a:lnTo>
                        <a:lnTo>
                          <a:pt x="32" y="23"/>
                        </a:lnTo>
                        <a:lnTo>
                          <a:pt x="30" y="26"/>
                        </a:lnTo>
                        <a:lnTo>
                          <a:pt x="26" y="29"/>
                        </a:lnTo>
                        <a:lnTo>
                          <a:pt x="20" y="31"/>
                        </a:lnTo>
                        <a:lnTo>
                          <a:pt x="16" y="30"/>
                        </a:lnTo>
                        <a:lnTo>
                          <a:pt x="13" y="28"/>
                        </a:lnTo>
                        <a:lnTo>
                          <a:pt x="13" y="24"/>
                        </a:lnTo>
                        <a:lnTo>
                          <a:pt x="13" y="20"/>
                        </a:lnTo>
                        <a:lnTo>
                          <a:pt x="13" y="17"/>
                        </a:lnTo>
                        <a:lnTo>
                          <a:pt x="13" y="13"/>
                        </a:lnTo>
                        <a:lnTo>
                          <a:pt x="14" y="11"/>
                        </a:lnTo>
                        <a:lnTo>
                          <a:pt x="15" y="11"/>
                        </a:lnTo>
                        <a:lnTo>
                          <a:pt x="0" y="0"/>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411" name="Freeform 253"/>
                  <p:cNvSpPr>
                    <a:spLocks/>
                  </p:cNvSpPr>
                  <p:nvPr/>
                </p:nvSpPr>
                <p:spPr bwMode="auto">
                  <a:xfrm>
                    <a:off x="5487" y="1968"/>
                    <a:ext cx="19" cy="7"/>
                  </a:xfrm>
                  <a:custGeom>
                    <a:avLst/>
                    <a:gdLst>
                      <a:gd name="T0" fmla="*/ 0 w 57"/>
                      <a:gd name="T1" fmla="*/ 0 h 22"/>
                      <a:gd name="T2" fmla="*/ 0 w 57"/>
                      <a:gd name="T3" fmla="*/ 0 h 22"/>
                      <a:gd name="T4" fmla="*/ 0 w 57"/>
                      <a:gd name="T5" fmla="*/ 0 h 22"/>
                      <a:gd name="T6" fmla="*/ 0 w 57"/>
                      <a:gd name="T7" fmla="*/ 0 h 22"/>
                      <a:gd name="T8" fmla="*/ 0 w 57"/>
                      <a:gd name="T9" fmla="*/ 0 h 22"/>
                      <a:gd name="T10" fmla="*/ 0 w 57"/>
                      <a:gd name="T11" fmla="*/ 0 h 22"/>
                      <a:gd name="T12" fmla="*/ 0 w 57"/>
                      <a:gd name="T13" fmla="*/ 0 h 22"/>
                      <a:gd name="T14" fmla="*/ 0 w 57"/>
                      <a:gd name="T15" fmla="*/ 0 h 22"/>
                      <a:gd name="T16" fmla="*/ 0 w 57"/>
                      <a:gd name="T17" fmla="*/ 0 h 22"/>
                      <a:gd name="T18" fmla="*/ 0 w 57"/>
                      <a:gd name="T19" fmla="*/ 0 h 22"/>
                      <a:gd name="T20" fmla="*/ 0 w 57"/>
                      <a:gd name="T21" fmla="*/ 0 h 22"/>
                      <a:gd name="T22" fmla="*/ 0 w 57"/>
                      <a:gd name="T23" fmla="*/ 0 h 22"/>
                      <a:gd name="T24" fmla="*/ 0 w 57"/>
                      <a:gd name="T25" fmla="*/ 0 h 22"/>
                      <a:gd name="T26" fmla="*/ 0 w 57"/>
                      <a:gd name="T27" fmla="*/ 0 h 22"/>
                      <a:gd name="T28" fmla="*/ 0 w 57"/>
                      <a:gd name="T29" fmla="*/ 0 h 22"/>
                      <a:gd name="T30" fmla="*/ 0 w 57"/>
                      <a:gd name="T31" fmla="*/ 0 h 2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7"/>
                      <a:gd name="T49" fmla="*/ 0 h 22"/>
                      <a:gd name="T50" fmla="*/ 57 w 57"/>
                      <a:gd name="T51" fmla="*/ 22 h 2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7" h="22">
                        <a:moveTo>
                          <a:pt x="57" y="19"/>
                        </a:moveTo>
                        <a:lnTo>
                          <a:pt x="0" y="22"/>
                        </a:lnTo>
                        <a:lnTo>
                          <a:pt x="20" y="0"/>
                        </a:lnTo>
                        <a:lnTo>
                          <a:pt x="23" y="0"/>
                        </a:lnTo>
                        <a:lnTo>
                          <a:pt x="26" y="3"/>
                        </a:lnTo>
                        <a:lnTo>
                          <a:pt x="29" y="4"/>
                        </a:lnTo>
                        <a:lnTo>
                          <a:pt x="32" y="6"/>
                        </a:lnTo>
                        <a:lnTo>
                          <a:pt x="36" y="7"/>
                        </a:lnTo>
                        <a:lnTo>
                          <a:pt x="39" y="8"/>
                        </a:lnTo>
                        <a:lnTo>
                          <a:pt x="43" y="11"/>
                        </a:lnTo>
                        <a:lnTo>
                          <a:pt x="45" y="13"/>
                        </a:lnTo>
                        <a:lnTo>
                          <a:pt x="49" y="13"/>
                        </a:lnTo>
                        <a:lnTo>
                          <a:pt x="51" y="16"/>
                        </a:lnTo>
                        <a:lnTo>
                          <a:pt x="56" y="18"/>
                        </a:lnTo>
                        <a:lnTo>
                          <a:pt x="57" y="19"/>
                        </a:lnTo>
                        <a:close/>
                      </a:path>
                    </a:pathLst>
                  </a:custGeom>
                  <a:solidFill>
                    <a:srgbClr val="00CC99"/>
                  </a:solidFill>
                  <a:ln w="9525">
                    <a:solidFill>
                      <a:srgbClr val="000000"/>
                    </a:solidFill>
                    <a:round/>
                    <a:headEnd/>
                    <a:tailEnd/>
                  </a:ln>
                </p:spPr>
                <p:txBody>
                  <a:body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grpSp>
        <p:grpSp>
          <p:nvGrpSpPr>
            <p:cNvPr id="361" name="Group 254"/>
            <p:cNvGrpSpPr>
              <a:grpSpLocks/>
            </p:cNvGrpSpPr>
            <p:nvPr/>
          </p:nvGrpSpPr>
          <p:grpSpPr bwMode="auto">
            <a:xfrm>
              <a:off x="2506" y="1293"/>
              <a:ext cx="363" cy="369"/>
              <a:chOff x="1884" y="1812"/>
              <a:chExt cx="363" cy="369"/>
            </a:xfrm>
          </p:grpSpPr>
          <p:sp>
            <p:nvSpPr>
              <p:cNvPr id="373" name="AutoShape 255"/>
              <p:cNvSpPr>
                <a:spLocks noChangeArrowheads="1"/>
              </p:cNvSpPr>
              <p:nvPr/>
            </p:nvSpPr>
            <p:spPr bwMode="auto">
              <a:xfrm>
                <a:off x="1884" y="1812"/>
                <a:ext cx="363" cy="369"/>
              </a:xfrm>
              <a:prstGeom prst="can">
                <a:avLst>
                  <a:gd name="adj" fmla="val 50826"/>
                </a:avLst>
              </a:prstGeom>
              <a:gradFill rotWithShape="0">
                <a:gsLst>
                  <a:gs pos="0">
                    <a:srgbClr val="764801"/>
                  </a:gs>
                  <a:gs pos="100000">
                    <a:srgbClr val="FE9B03"/>
                  </a:gs>
                </a:gsLst>
                <a:lin ang="5400000" scaled="1"/>
              </a:gradFill>
              <a:ln w="12700">
                <a:solidFill>
                  <a:srgbClr val="000000"/>
                </a:solidFill>
                <a:round/>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nvGrpSpPr>
              <p:cNvPr id="374" name="Group 256"/>
              <p:cNvGrpSpPr>
                <a:grpSpLocks/>
              </p:cNvGrpSpPr>
              <p:nvPr/>
            </p:nvGrpSpPr>
            <p:grpSpPr bwMode="auto">
              <a:xfrm>
                <a:off x="1932" y="1863"/>
                <a:ext cx="279" cy="81"/>
                <a:chOff x="1470" y="1821"/>
                <a:chExt cx="279" cy="93"/>
              </a:xfrm>
            </p:grpSpPr>
            <p:sp>
              <p:nvSpPr>
                <p:cNvPr id="375" name="Freeform 257"/>
                <p:cNvSpPr>
                  <a:spLocks/>
                </p:cNvSpPr>
                <p:nvPr/>
              </p:nvSpPr>
              <p:spPr bwMode="auto">
                <a:xfrm>
                  <a:off x="1476" y="1821"/>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sp>
              <p:nvSpPr>
                <p:cNvPr id="376" name="Freeform 258"/>
                <p:cNvSpPr>
                  <a:spLocks/>
                </p:cNvSpPr>
                <p:nvPr/>
              </p:nvSpPr>
              <p:spPr bwMode="auto">
                <a:xfrm flipV="1">
                  <a:off x="1470" y="1824"/>
                  <a:ext cx="273" cy="90"/>
                </a:xfrm>
                <a:custGeom>
                  <a:avLst/>
                  <a:gdLst>
                    <a:gd name="T0" fmla="*/ 0 w 273"/>
                    <a:gd name="T1" fmla="*/ 0 h 90"/>
                    <a:gd name="T2" fmla="*/ 60 w 273"/>
                    <a:gd name="T3" fmla="*/ 0 h 90"/>
                    <a:gd name="T4" fmla="*/ 198 w 273"/>
                    <a:gd name="T5" fmla="*/ 90 h 90"/>
                    <a:gd name="T6" fmla="*/ 273 w 273"/>
                    <a:gd name="T7" fmla="*/ 90 h 90"/>
                    <a:gd name="T8" fmla="*/ 0 60000 65536"/>
                    <a:gd name="T9" fmla="*/ 0 60000 65536"/>
                    <a:gd name="T10" fmla="*/ 0 60000 65536"/>
                    <a:gd name="T11" fmla="*/ 0 60000 65536"/>
                    <a:gd name="T12" fmla="*/ 0 w 273"/>
                    <a:gd name="T13" fmla="*/ 0 h 90"/>
                    <a:gd name="T14" fmla="*/ 273 w 273"/>
                    <a:gd name="T15" fmla="*/ 90 h 90"/>
                  </a:gdLst>
                  <a:ahLst/>
                  <a:cxnLst>
                    <a:cxn ang="T8">
                      <a:pos x="T0" y="T1"/>
                    </a:cxn>
                    <a:cxn ang="T9">
                      <a:pos x="T2" y="T3"/>
                    </a:cxn>
                    <a:cxn ang="T10">
                      <a:pos x="T4" y="T5"/>
                    </a:cxn>
                    <a:cxn ang="T11">
                      <a:pos x="T6" y="T7"/>
                    </a:cxn>
                  </a:cxnLst>
                  <a:rect l="T12" t="T13" r="T14" b="T15"/>
                  <a:pathLst>
                    <a:path w="273" h="90">
                      <a:moveTo>
                        <a:pt x="0" y="0"/>
                      </a:moveTo>
                      <a:lnTo>
                        <a:pt x="60" y="0"/>
                      </a:lnTo>
                      <a:lnTo>
                        <a:pt x="198" y="90"/>
                      </a:lnTo>
                      <a:lnTo>
                        <a:pt x="273" y="90"/>
                      </a:lnTo>
                    </a:path>
                  </a:pathLst>
                </a:custGeom>
                <a:gradFill rotWithShape="0">
                  <a:gsLst>
                    <a:gs pos="0">
                      <a:srgbClr val="764801"/>
                    </a:gs>
                    <a:gs pos="100000">
                      <a:srgbClr val="FE9B03"/>
                    </a:gs>
                  </a:gsLst>
                  <a:lin ang="5400000" scaled="1"/>
                </a:gradFill>
                <a:ln w="9525" cap="flat" cmpd="sng">
                  <a:solidFill>
                    <a:srgbClr val="FFFFFF"/>
                  </a:solidFill>
                  <a:prstDash val="solid"/>
                  <a:round/>
                  <a:headEnd type="triangle" w="med" len="med"/>
                  <a:tailEnd type="triangle" w="med" len="med"/>
                </a:ln>
              </p:spPr>
              <p:txBody>
                <a:bodyPr wrap="none" anchor="ct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ndParaRPr>
                </a:p>
              </p:txBody>
            </p:sp>
          </p:grpSp>
        </p:grpSp>
        <p:sp>
          <p:nvSpPr>
            <p:cNvPr id="362" name="Text Box 259"/>
            <p:cNvSpPr txBox="1">
              <a:spLocks noChangeArrowheads="1"/>
            </p:cNvSpPr>
            <p:nvPr/>
          </p:nvSpPr>
          <p:spPr bwMode="auto">
            <a:xfrm>
              <a:off x="86" y="1488"/>
              <a:ext cx="269"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A</a:t>
              </a:r>
            </a:p>
          </p:txBody>
        </p:sp>
        <p:sp>
          <p:nvSpPr>
            <p:cNvPr id="363" name="Text Box 260"/>
            <p:cNvSpPr txBox="1">
              <a:spLocks noChangeArrowheads="1"/>
            </p:cNvSpPr>
            <p:nvPr/>
          </p:nvSpPr>
          <p:spPr bwMode="auto">
            <a:xfrm>
              <a:off x="86" y="2282"/>
              <a:ext cx="249"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B</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4" name="Text Box 261"/>
            <p:cNvSpPr txBox="1">
              <a:spLocks noChangeArrowheads="1"/>
            </p:cNvSpPr>
            <p:nvPr/>
          </p:nvSpPr>
          <p:spPr bwMode="auto">
            <a:xfrm>
              <a:off x="86" y="2928"/>
              <a:ext cx="244"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C</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5" name="Text Box 262"/>
            <p:cNvSpPr txBox="1">
              <a:spLocks noChangeArrowheads="1"/>
            </p:cNvSpPr>
            <p:nvPr/>
          </p:nvSpPr>
          <p:spPr bwMode="auto">
            <a:xfrm>
              <a:off x="1622" y="1390"/>
              <a:ext cx="285"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R1</a:t>
              </a:r>
              <a:endParaRPr kumimoji="0" lang="en-U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6" name="Text Box 263"/>
            <p:cNvSpPr txBox="1">
              <a:spLocks noChangeArrowheads="1"/>
            </p:cNvSpPr>
            <p:nvPr/>
          </p:nvSpPr>
          <p:spPr bwMode="auto">
            <a:xfrm>
              <a:off x="1729" y="2832"/>
              <a:ext cx="30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R2</a:t>
              </a:r>
              <a:endParaRPr kumimoji="0" lang="en-U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7" name="Text Box 264"/>
            <p:cNvSpPr txBox="1">
              <a:spLocks noChangeArrowheads="1"/>
            </p:cNvSpPr>
            <p:nvPr/>
          </p:nvSpPr>
          <p:spPr bwMode="auto">
            <a:xfrm>
              <a:off x="2230" y="1270"/>
              <a:ext cx="37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rPr>
                <a:t>R3</a:t>
              </a:r>
              <a:endParaRPr kumimoji="0" lang="en-US" altLang="zh-CN" sz="1800" b="0" i="0" u="none" strike="noStrike" kern="0" cap="none" spc="0" normalizeH="0" baseline="0" noProof="0" dirty="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8" name="Text Box 265"/>
            <p:cNvSpPr txBox="1">
              <a:spLocks noChangeArrowheads="1"/>
            </p:cNvSpPr>
            <p:nvPr/>
          </p:nvSpPr>
          <p:spPr bwMode="auto">
            <a:xfrm>
              <a:off x="3654" y="1479"/>
              <a:ext cx="40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R4</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69" name="Text Box 266"/>
            <p:cNvSpPr txBox="1">
              <a:spLocks noChangeArrowheads="1"/>
            </p:cNvSpPr>
            <p:nvPr/>
          </p:nvSpPr>
          <p:spPr bwMode="auto">
            <a:xfrm>
              <a:off x="5184" y="1440"/>
              <a:ext cx="26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D</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70" name="Text Box 267"/>
            <p:cNvSpPr txBox="1">
              <a:spLocks noChangeArrowheads="1"/>
            </p:cNvSpPr>
            <p:nvPr/>
          </p:nvSpPr>
          <p:spPr bwMode="auto">
            <a:xfrm>
              <a:off x="5232" y="2304"/>
              <a:ext cx="248"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E</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71" name="Text Box 268"/>
            <p:cNvSpPr txBox="1">
              <a:spLocks noChangeArrowheads="1"/>
            </p:cNvSpPr>
            <p:nvPr/>
          </p:nvSpPr>
          <p:spPr bwMode="auto">
            <a:xfrm>
              <a:off x="5136" y="3168"/>
              <a:ext cx="24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F</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372" name="Text Box 269"/>
            <p:cNvSpPr txBox="1">
              <a:spLocks noChangeArrowheads="1"/>
            </p:cNvSpPr>
            <p:nvPr/>
          </p:nvSpPr>
          <p:spPr bwMode="auto">
            <a:xfrm>
              <a:off x="3696" y="3069"/>
              <a:ext cx="372"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r>
                <a:rPr kumimoji="0" lang="es-E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rPr>
                <a:t>R5</a:t>
              </a:r>
              <a:endParaRPr kumimoji="0" lang="en-US" altLang="zh-CN"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03" name="Group 271"/>
          <p:cNvGrpSpPr>
            <a:grpSpLocks/>
          </p:cNvGrpSpPr>
          <p:nvPr/>
        </p:nvGrpSpPr>
        <p:grpSpPr bwMode="auto">
          <a:xfrm rot="-919250">
            <a:off x="2489356" y="5240134"/>
            <a:ext cx="771525" cy="241300"/>
            <a:chOff x="1776" y="3840"/>
            <a:chExt cx="720" cy="144"/>
          </a:xfrm>
        </p:grpSpPr>
        <p:sp>
          <p:nvSpPr>
            <p:cNvPr id="604" name="Rectangle 272"/>
            <p:cNvSpPr>
              <a:spLocks noChangeArrowheads="1"/>
            </p:cNvSpPr>
            <p:nvPr/>
          </p:nvSpPr>
          <p:spPr bwMode="auto">
            <a:xfrm>
              <a:off x="1776" y="3840"/>
              <a:ext cx="576" cy="144"/>
            </a:xfrm>
            <a:prstGeom prst="rect">
              <a:avLst/>
            </a:prstGeom>
            <a:solidFill>
              <a:srgbClr val="00CC99"/>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05" name="Rectangle 273" descr="Wide upward diagonal"/>
            <p:cNvSpPr>
              <a:spLocks noChangeArrowheads="1"/>
            </p:cNvSpPr>
            <p:nvPr/>
          </p:nvSpPr>
          <p:spPr bwMode="auto">
            <a:xfrm>
              <a:off x="2352" y="3840"/>
              <a:ext cx="144" cy="144"/>
            </a:xfrm>
            <a:prstGeom prst="rect">
              <a:avLst/>
            </a:prstGeom>
            <a:pattFill prst="wdUpDiag">
              <a:fgClr>
                <a:srgbClr val="00CC99"/>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06" name="Group 274"/>
          <p:cNvGrpSpPr>
            <a:grpSpLocks/>
          </p:cNvGrpSpPr>
          <p:nvPr/>
        </p:nvGrpSpPr>
        <p:grpSpPr bwMode="auto">
          <a:xfrm rot="483778">
            <a:off x="2597306" y="3123996"/>
            <a:ext cx="519113" cy="241300"/>
            <a:chOff x="244" y="1056"/>
            <a:chExt cx="341" cy="144"/>
          </a:xfrm>
        </p:grpSpPr>
        <p:sp>
          <p:nvSpPr>
            <p:cNvPr id="607" name="Rectangle 275"/>
            <p:cNvSpPr>
              <a:spLocks noChangeArrowheads="1"/>
            </p:cNvSpPr>
            <p:nvPr/>
          </p:nvSpPr>
          <p:spPr bwMode="auto">
            <a:xfrm>
              <a:off x="244" y="1056"/>
              <a:ext cx="240" cy="144"/>
            </a:xfrm>
            <a:prstGeom prst="rect">
              <a:avLst/>
            </a:prstGeom>
            <a:solidFill>
              <a:srgbClr val="3333CC"/>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08" name="Rectangle 276" descr="Wide upward diagonal"/>
            <p:cNvSpPr>
              <a:spLocks noChangeArrowheads="1"/>
            </p:cNvSpPr>
            <p:nvPr/>
          </p:nvSpPr>
          <p:spPr bwMode="auto">
            <a:xfrm>
              <a:off x="484" y="1056"/>
              <a:ext cx="101" cy="144"/>
            </a:xfrm>
            <a:prstGeom prst="rect">
              <a:avLst/>
            </a:prstGeom>
            <a:pattFill prst="wdUpDiag">
              <a:fgClr>
                <a:srgbClr val="3333CC"/>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09" name="Group 277"/>
          <p:cNvGrpSpPr>
            <a:grpSpLocks/>
          </p:cNvGrpSpPr>
          <p:nvPr/>
        </p:nvGrpSpPr>
        <p:grpSpPr bwMode="auto">
          <a:xfrm rot="-1446465">
            <a:off x="2538569" y="3957434"/>
            <a:ext cx="669925" cy="241300"/>
            <a:chOff x="144" y="1252"/>
            <a:chExt cx="441" cy="144"/>
          </a:xfrm>
        </p:grpSpPr>
        <p:sp>
          <p:nvSpPr>
            <p:cNvPr id="610" name="Rectangle 278"/>
            <p:cNvSpPr>
              <a:spLocks noChangeArrowheads="1"/>
            </p:cNvSpPr>
            <p:nvPr/>
          </p:nvSpPr>
          <p:spPr bwMode="auto">
            <a:xfrm>
              <a:off x="144" y="1252"/>
              <a:ext cx="340" cy="144"/>
            </a:xfrm>
            <a:prstGeom prst="rect">
              <a:avLst/>
            </a:prstGeom>
            <a:solidFill>
              <a:srgbClr val="FF0000"/>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11" name="Rectangle 279" descr="Wide upward diagonal"/>
            <p:cNvSpPr>
              <a:spLocks noChangeArrowheads="1"/>
            </p:cNvSpPr>
            <p:nvPr/>
          </p:nvSpPr>
          <p:spPr bwMode="auto">
            <a:xfrm>
              <a:off x="484" y="1252"/>
              <a:ext cx="101" cy="144"/>
            </a:xfrm>
            <a:prstGeom prst="rect">
              <a:avLst/>
            </a:prstGeom>
            <a:pattFill prst="wdUpDiag">
              <a:fgClr>
                <a:srgbClr val="FF0000"/>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12" name="Group 281"/>
          <p:cNvGrpSpPr>
            <a:grpSpLocks/>
          </p:cNvGrpSpPr>
          <p:nvPr/>
        </p:nvGrpSpPr>
        <p:grpSpPr bwMode="auto">
          <a:xfrm rot="-3488662">
            <a:off x="4343557" y="4084433"/>
            <a:ext cx="850900" cy="219075"/>
            <a:chOff x="1776" y="3840"/>
            <a:chExt cx="720" cy="144"/>
          </a:xfrm>
        </p:grpSpPr>
        <p:sp>
          <p:nvSpPr>
            <p:cNvPr id="613" name="Rectangle 282"/>
            <p:cNvSpPr>
              <a:spLocks noChangeArrowheads="1"/>
            </p:cNvSpPr>
            <p:nvPr/>
          </p:nvSpPr>
          <p:spPr bwMode="auto">
            <a:xfrm>
              <a:off x="1776" y="3840"/>
              <a:ext cx="576" cy="144"/>
            </a:xfrm>
            <a:prstGeom prst="rect">
              <a:avLst/>
            </a:prstGeom>
            <a:solidFill>
              <a:srgbClr val="00CC99"/>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14" name="Rectangle 283" descr="Wide upward diagonal"/>
            <p:cNvSpPr>
              <a:spLocks noChangeArrowheads="1"/>
            </p:cNvSpPr>
            <p:nvPr/>
          </p:nvSpPr>
          <p:spPr bwMode="auto">
            <a:xfrm>
              <a:off x="2352" y="3840"/>
              <a:ext cx="144" cy="144"/>
            </a:xfrm>
            <a:prstGeom prst="rect">
              <a:avLst/>
            </a:prstGeom>
            <a:pattFill prst="wdUpDiag">
              <a:fgClr>
                <a:srgbClr val="00CC99"/>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15" name="Group 284"/>
          <p:cNvGrpSpPr>
            <a:grpSpLocks/>
          </p:cNvGrpSpPr>
          <p:nvPr/>
        </p:nvGrpSpPr>
        <p:grpSpPr bwMode="auto">
          <a:xfrm rot="-987679">
            <a:off x="4586444" y="3155746"/>
            <a:ext cx="519112" cy="241300"/>
            <a:chOff x="244" y="1056"/>
            <a:chExt cx="341" cy="144"/>
          </a:xfrm>
        </p:grpSpPr>
        <p:sp>
          <p:nvSpPr>
            <p:cNvPr id="616" name="Rectangle 285"/>
            <p:cNvSpPr>
              <a:spLocks noChangeArrowheads="1"/>
            </p:cNvSpPr>
            <p:nvPr/>
          </p:nvSpPr>
          <p:spPr bwMode="auto">
            <a:xfrm>
              <a:off x="244" y="1056"/>
              <a:ext cx="240" cy="144"/>
            </a:xfrm>
            <a:prstGeom prst="rect">
              <a:avLst/>
            </a:prstGeom>
            <a:solidFill>
              <a:srgbClr val="3333CC"/>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17" name="Rectangle 286" descr="Wide upward diagonal"/>
            <p:cNvSpPr>
              <a:spLocks noChangeArrowheads="1"/>
            </p:cNvSpPr>
            <p:nvPr/>
          </p:nvSpPr>
          <p:spPr bwMode="auto">
            <a:xfrm>
              <a:off x="484" y="1056"/>
              <a:ext cx="101" cy="144"/>
            </a:xfrm>
            <a:prstGeom prst="rect">
              <a:avLst/>
            </a:prstGeom>
            <a:pattFill prst="wdUpDiag">
              <a:fgClr>
                <a:srgbClr val="3333CC"/>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18" name="Group 287"/>
          <p:cNvGrpSpPr>
            <a:grpSpLocks/>
          </p:cNvGrpSpPr>
          <p:nvPr/>
        </p:nvGrpSpPr>
        <p:grpSpPr bwMode="auto">
          <a:xfrm rot="4879582">
            <a:off x="3744276" y="4326527"/>
            <a:ext cx="741362" cy="219075"/>
            <a:chOff x="144" y="1252"/>
            <a:chExt cx="441" cy="144"/>
          </a:xfrm>
        </p:grpSpPr>
        <p:sp>
          <p:nvSpPr>
            <p:cNvPr id="619" name="Rectangle 288"/>
            <p:cNvSpPr>
              <a:spLocks noChangeArrowheads="1"/>
            </p:cNvSpPr>
            <p:nvPr/>
          </p:nvSpPr>
          <p:spPr bwMode="auto">
            <a:xfrm>
              <a:off x="144" y="1252"/>
              <a:ext cx="340" cy="144"/>
            </a:xfrm>
            <a:prstGeom prst="rect">
              <a:avLst/>
            </a:prstGeom>
            <a:solidFill>
              <a:srgbClr val="FF0000"/>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20" name="Rectangle 289" descr="Wide upward diagonal"/>
            <p:cNvSpPr>
              <a:spLocks noChangeArrowheads="1"/>
            </p:cNvSpPr>
            <p:nvPr/>
          </p:nvSpPr>
          <p:spPr bwMode="auto">
            <a:xfrm>
              <a:off x="484" y="1252"/>
              <a:ext cx="101" cy="144"/>
            </a:xfrm>
            <a:prstGeom prst="rect">
              <a:avLst/>
            </a:prstGeom>
            <a:pattFill prst="wdUpDiag">
              <a:fgClr>
                <a:srgbClr val="FF0000"/>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21" name="Group 291"/>
          <p:cNvGrpSpPr>
            <a:grpSpLocks/>
          </p:cNvGrpSpPr>
          <p:nvPr/>
        </p:nvGrpSpPr>
        <p:grpSpPr bwMode="auto">
          <a:xfrm rot="1001747">
            <a:off x="5877081" y="3035096"/>
            <a:ext cx="771525" cy="241300"/>
            <a:chOff x="1776" y="3840"/>
            <a:chExt cx="720" cy="144"/>
          </a:xfrm>
        </p:grpSpPr>
        <p:sp>
          <p:nvSpPr>
            <p:cNvPr id="622" name="Rectangle 292"/>
            <p:cNvSpPr>
              <a:spLocks noChangeArrowheads="1"/>
            </p:cNvSpPr>
            <p:nvPr/>
          </p:nvSpPr>
          <p:spPr bwMode="auto">
            <a:xfrm>
              <a:off x="1776" y="3840"/>
              <a:ext cx="576" cy="144"/>
            </a:xfrm>
            <a:prstGeom prst="rect">
              <a:avLst/>
            </a:prstGeom>
            <a:solidFill>
              <a:srgbClr val="00CC99"/>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23" name="Rectangle 293" descr="Wide upward diagonal"/>
            <p:cNvSpPr>
              <a:spLocks noChangeArrowheads="1"/>
            </p:cNvSpPr>
            <p:nvPr/>
          </p:nvSpPr>
          <p:spPr bwMode="auto">
            <a:xfrm>
              <a:off x="2352" y="3840"/>
              <a:ext cx="144" cy="144"/>
            </a:xfrm>
            <a:prstGeom prst="rect">
              <a:avLst/>
            </a:prstGeom>
            <a:pattFill prst="wdUpDiag">
              <a:fgClr>
                <a:srgbClr val="00CC99"/>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24" name="Group 294"/>
          <p:cNvGrpSpPr>
            <a:grpSpLocks/>
          </p:cNvGrpSpPr>
          <p:nvPr/>
        </p:nvGrpSpPr>
        <p:grpSpPr bwMode="auto">
          <a:xfrm rot="946197">
            <a:off x="6626381" y="3243059"/>
            <a:ext cx="519113" cy="242887"/>
            <a:chOff x="244" y="1056"/>
            <a:chExt cx="341" cy="144"/>
          </a:xfrm>
        </p:grpSpPr>
        <p:sp>
          <p:nvSpPr>
            <p:cNvPr id="625" name="Rectangle 295"/>
            <p:cNvSpPr>
              <a:spLocks noChangeArrowheads="1"/>
            </p:cNvSpPr>
            <p:nvPr/>
          </p:nvSpPr>
          <p:spPr bwMode="auto">
            <a:xfrm>
              <a:off x="244" y="1056"/>
              <a:ext cx="240" cy="144"/>
            </a:xfrm>
            <a:prstGeom prst="rect">
              <a:avLst/>
            </a:prstGeom>
            <a:solidFill>
              <a:srgbClr val="3333CC"/>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26" name="Rectangle 296" descr="Wide upward diagonal"/>
            <p:cNvSpPr>
              <a:spLocks noChangeArrowheads="1"/>
            </p:cNvSpPr>
            <p:nvPr/>
          </p:nvSpPr>
          <p:spPr bwMode="auto">
            <a:xfrm>
              <a:off x="484" y="1056"/>
              <a:ext cx="101" cy="144"/>
            </a:xfrm>
            <a:prstGeom prst="rect">
              <a:avLst/>
            </a:prstGeom>
            <a:pattFill prst="wdUpDiag">
              <a:fgClr>
                <a:srgbClr val="3333CC"/>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27" name="Group 297"/>
          <p:cNvGrpSpPr>
            <a:grpSpLocks/>
          </p:cNvGrpSpPr>
          <p:nvPr/>
        </p:nvGrpSpPr>
        <p:grpSpPr bwMode="auto">
          <a:xfrm rot="406491">
            <a:off x="5362731" y="5022646"/>
            <a:ext cx="671513" cy="241300"/>
            <a:chOff x="144" y="1252"/>
            <a:chExt cx="441" cy="144"/>
          </a:xfrm>
        </p:grpSpPr>
        <p:sp>
          <p:nvSpPr>
            <p:cNvPr id="628" name="Rectangle 298"/>
            <p:cNvSpPr>
              <a:spLocks noChangeArrowheads="1"/>
            </p:cNvSpPr>
            <p:nvPr/>
          </p:nvSpPr>
          <p:spPr bwMode="auto">
            <a:xfrm>
              <a:off x="144" y="1252"/>
              <a:ext cx="340" cy="144"/>
            </a:xfrm>
            <a:prstGeom prst="rect">
              <a:avLst/>
            </a:prstGeom>
            <a:solidFill>
              <a:srgbClr val="FF0000"/>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29" name="Rectangle 299" descr="Wide upward diagonal"/>
            <p:cNvSpPr>
              <a:spLocks noChangeArrowheads="1"/>
            </p:cNvSpPr>
            <p:nvPr/>
          </p:nvSpPr>
          <p:spPr bwMode="auto">
            <a:xfrm>
              <a:off x="484" y="1252"/>
              <a:ext cx="101" cy="144"/>
            </a:xfrm>
            <a:prstGeom prst="rect">
              <a:avLst/>
            </a:prstGeom>
            <a:pattFill prst="wdUpDiag">
              <a:fgClr>
                <a:srgbClr val="FF0000"/>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30" name="Group 301"/>
          <p:cNvGrpSpPr>
            <a:grpSpLocks/>
          </p:cNvGrpSpPr>
          <p:nvPr/>
        </p:nvGrpSpPr>
        <p:grpSpPr bwMode="auto">
          <a:xfrm rot="-932719">
            <a:off x="7643969" y="3304971"/>
            <a:ext cx="771525" cy="241300"/>
            <a:chOff x="1776" y="3840"/>
            <a:chExt cx="720" cy="144"/>
          </a:xfrm>
        </p:grpSpPr>
        <p:sp>
          <p:nvSpPr>
            <p:cNvPr id="631" name="Rectangle 302"/>
            <p:cNvSpPr>
              <a:spLocks noChangeArrowheads="1"/>
            </p:cNvSpPr>
            <p:nvPr/>
          </p:nvSpPr>
          <p:spPr bwMode="auto">
            <a:xfrm>
              <a:off x="1776" y="3840"/>
              <a:ext cx="576" cy="144"/>
            </a:xfrm>
            <a:prstGeom prst="rect">
              <a:avLst/>
            </a:prstGeom>
            <a:solidFill>
              <a:srgbClr val="00CC99"/>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32" name="Rectangle 303" descr="Wide upward diagonal"/>
            <p:cNvSpPr>
              <a:spLocks noChangeArrowheads="1"/>
            </p:cNvSpPr>
            <p:nvPr/>
          </p:nvSpPr>
          <p:spPr bwMode="auto">
            <a:xfrm>
              <a:off x="2352" y="3840"/>
              <a:ext cx="144" cy="144"/>
            </a:xfrm>
            <a:prstGeom prst="rect">
              <a:avLst/>
            </a:prstGeom>
            <a:pattFill prst="wdUpDiag">
              <a:fgClr>
                <a:srgbClr val="00CC99"/>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33" name="Group 304"/>
          <p:cNvGrpSpPr>
            <a:grpSpLocks/>
          </p:cNvGrpSpPr>
          <p:nvPr/>
        </p:nvGrpSpPr>
        <p:grpSpPr bwMode="auto">
          <a:xfrm rot="1715192">
            <a:off x="7896381" y="3973309"/>
            <a:ext cx="519113" cy="242887"/>
            <a:chOff x="244" y="1056"/>
            <a:chExt cx="341" cy="144"/>
          </a:xfrm>
        </p:grpSpPr>
        <p:sp>
          <p:nvSpPr>
            <p:cNvPr id="634" name="Rectangle 305"/>
            <p:cNvSpPr>
              <a:spLocks noChangeArrowheads="1"/>
            </p:cNvSpPr>
            <p:nvPr/>
          </p:nvSpPr>
          <p:spPr bwMode="auto">
            <a:xfrm>
              <a:off x="244" y="1056"/>
              <a:ext cx="240" cy="144"/>
            </a:xfrm>
            <a:prstGeom prst="rect">
              <a:avLst/>
            </a:prstGeom>
            <a:solidFill>
              <a:srgbClr val="3333CC"/>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35" name="Rectangle 306" descr="Wide upward diagonal"/>
            <p:cNvSpPr>
              <a:spLocks noChangeArrowheads="1"/>
            </p:cNvSpPr>
            <p:nvPr/>
          </p:nvSpPr>
          <p:spPr bwMode="auto">
            <a:xfrm>
              <a:off x="484" y="1056"/>
              <a:ext cx="101" cy="144"/>
            </a:xfrm>
            <a:prstGeom prst="rect">
              <a:avLst/>
            </a:prstGeom>
            <a:pattFill prst="wdUpDiag">
              <a:fgClr>
                <a:srgbClr val="3333CC"/>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grpSp>
        <p:nvGrpSpPr>
          <p:cNvPr id="636" name="Group 307"/>
          <p:cNvGrpSpPr>
            <a:grpSpLocks/>
          </p:cNvGrpSpPr>
          <p:nvPr/>
        </p:nvGrpSpPr>
        <p:grpSpPr bwMode="auto">
          <a:xfrm rot="1243891">
            <a:off x="7743981" y="5425871"/>
            <a:ext cx="671513" cy="241300"/>
            <a:chOff x="144" y="1252"/>
            <a:chExt cx="441" cy="144"/>
          </a:xfrm>
        </p:grpSpPr>
        <p:sp>
          <p:nvSpPr>
            <p:cNvPr id="637" name="Rectangle 308"/>
            <p:cNvSpPr>
              <a:spLocks noChangeArrowheads="1"/>
            </p:cNvSpPr>
            <p:nvPr/>
          </p:nvSpPr>
          <p:spPr bwMode="auto">
            <a:xfrm>
              <a:off x="144" y="1252"/>
              <a:ext cx="340" cy="144"/>
            </a:xfrm>
            <a:prstGeom prst="rect">
              <a:avLst/>
            </a:prstGeom>
            <a:solidFill>
              <a:srgbClr val="FF0000"/>
            </a:solid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sp>
          <p:nvSpPr>
            <p:cNvPr id="638" name="Rectangle 309" descr="Wide upward diagonal"/>
            <p:cNvSpPr>
              <a:spLocks noChangeArrowheads="1"/>
            </p:cNvSpPr>
            <p:nvPr/>
          </p:nvSpPr>
          <p:spPr bwMode="auto">
            <a:xfrm>
              <a:off x="484" y="1252"/>
              <a:ext cx="101" cy="144"/>
            </a:xfrm>
            <a:prstGeom prst="rect">
              <a:avLst/>
            </a:prstGeom>
            <a:pattFill prst="wdUpDiag">
              <a:fgClr>
                <a:srgbClr val="FF0000"/>
              </a:fgClr>
              <a:bgClr>
                <a:srgbClr val="FFFFFF"/>
              </a:bgClr>
            </a:pattFill>
            <a:ln w="9525">
              <a:solidFill>
                <a:srgbClr val="000000"/>
              </a:solidFill>
              <a:miter lim="800000"/>
              <a:headEnd/>
              <a:tailEnd/>
            </a:ln>
          </p:spPr>
          <p:txBody>
            <a:bodyPr wrap="none" anchor="ctr"/>
            <a:lstStyle>
              <a:lvl1pPr>
                <a:spcBef>
                  <a:spcPct val="20000"/>
                </a:spcBef>
                <a:buClr>
                  <a:schemeClr val="accent2"/>
                </a:buClr>
                <a:buSzPct val="85000"/>
                <a:buFont typeface="ZapfDingbats" pitchFamily="82" charset="2"/>
                <a:buChar char="r"/>
                <a:defRPr sz="2800">
                  <a:solidFill>
                    <a:schemeClr val="tx1"/>
                  </a:solidFill>
                  <a:latin typeface="Comic Sans MS" panose="030F0702030302020204" pitchFamily="66" charset="0"/>
                </a:defRPr>
              </a:lvl1pPr>
              <a:lvl2pPr marL="742950" indent="-285750">
                <a:spcBef>
                  <a:spcPct val="20000"/>
                </a:spcBef>
                <a:buClr>
                  <a:schemeClr val="accent2"/>
                </a:buClr>
                <a:buSzPct val="75000"/>
                <a:buFont typeface="ZapfDingbats" pitchFamily="82" charset="2"/>
                <a:buChar char="m"/>
                <a:defRPr sz="2400">
                  <a:solidFill>
                    <a:schemeClr val="tx1"/>
                  </a:solidFill>
                  <a:latin typeface="Comic Sans MS" panose="030F0702030302020204" pitchFamily="66" charset="0"/>
                </a:defRPr>
              </a:lvl2pPr>
              <a:lvl3pPr marL="1143000" indent="-228600">
                <a:spcBef>
                  <a:spcPct val="20000"/>
                </a:spcBef>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marL="0" marR="0" lvl="0" indent="0" defTabSz="914400" eaLnBrk="0" fontAlgn="base" latinLnBrk="0" hangingPunct="0">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000000"/>
                </a:solidFill>
                <a:effectLst/>
                <a:uLnTx/>
                <a:uFillTx/>
                <a:latin typeface="Comic Sans MS" panose="030F0702030302020204" pitchFamily="66" charset="0"/>
                <a:ea typeface="宋体" panose="02010600030101010101" pitchFamily="2" charset="-122"/>
              </a:endParaRPr>
            </a:p>
          </p:txBody>
        </p:sp>
      </p:grpSp>
      <p:sp>
        <p:nvSpPr>
          <p:cNvPr id="639" name="TextBox 312"/>
          <p:cNvSpPr txBox="1"/>
          <p:nvPr/>
        </p:nvSpPr>
        <p:spPr>
          <a:xfrm>
            <a:off x="3380468" y="5740126"/>
            <a:ext cx="3385505" cy="400110"/>
          </a:xfrm>
          <a:prstGeom prst="rect">
            <a:avLst/>
          </a:prstGeom>
          <a:solidFill>
            <a:srgbClr val="5B307E"/>
          </a:solidFill>
        </p:spPr>
        <p:txBody>
          <a:bodyPr wrap="square">
            <a:sp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chemeClr val="bg1"/>
                </a:solidFill>
                <a:effectLst/>
                <a:uLnTx/>
                <a:uFillTx/>
                <a:latin typeface="等线" panose="02010600030101010101" pitchFamily="2" charset="-122"/>
                <a:ea typeface="等线" panose="02010600030101010101" pitchFamily="2" charset="-122"/>
              </a:rPr>
              <a:t>将不同报文转发到不同链路</a:t>
            </a:r>
            <a:endParaRPr kumimoji="0" lang="en-GB" sz="2000" b="1" i="0" u="none" strike="noStrike" kern="0" cap="none" spc="0" normalizeH="0" baseline="0" noProof="0" dirty="0">
              <a:ln>
                <a:noFill/>
              </a:ln>
              <a:solidFill>
                <a:schemeClr val="bg1"/>
              </a:solidFill>
              <a:effectLst/>
              <a:uLnTx/>
              <a:uFillTx/>
              <a:latin typeface="等线" panose="02010600030101010101" pitchFamily="2" charset="-122"/>
              <a:ea typeface="等线" panose="02010600030101010101" pitchFamily="2" charset="-122"/>
            </a:endParaRPr>
          </a:p>
        </p:txBody>
      </p:sp>
      <p:sp>
        <p:nvSpPr>
          <p:cNvPr id="312" name="内容占位符 2">
            <a:extLst>
              <a:ext uri="{FF2B5EF4-FFF2-40B4-BE49-F238E27FC236}">
                <a16:creationId xmlns:a16="http://schemas.microsoft.com/office/drawing/2014/main" id="{DB830B1C-0706-7E41-AE1A-DEBBD115D846}"/>
              </a:ext>
            </a:extLst>
          </p:cNvPr>
          <p:cNvSpPr>
            <a:spLocks noGrp="1"/>
          </p:cNvSpPr>
          <p:nvPr>
            <p:ph idx="1"/>
          </p:nvPr>
        </p:nvSpPr>
        <p:spPr>
          <a:xfrm>
            <a:off x="756745" y="1440447"/>
            <a:ext cx="10804634" cy="1416636"/>
          </a:xfrm>
        </p:spPr>
        <p:txBody>
          <a:bodyPr>
            <a:normAutofit/>
          </a:bodyPr>
          <a:lstStyle/>
          <a:p>
            <a:r>
              <a:rPr lang="zh-CN" altLang="en-US" sz="2400" dirty="0"/>
              <a:t>路由器是互联网最主要的网络设备，包含</a:t>
            </a:r>
            <a:r>
              <a:rPr lang="en-US" altLang="zh-CN" sz="2400" dirty="0"/>
              <a:t>2</a:t>
            </a:r>
            <a:r>
              <a:rPr lang="zh-CN" altLang="en-US" sz="2400" dirty="0"/>
              <a:t>个核心功能</a:t>
            </a:r>
            <a:endParaRPr lang="en-US" altLang="zh-CN" sz="2400" dirty="0"/>
          </a:p>
          <a:p>
            <a:pPr lvl="1"/>
            <a:r>
              <a:rPr lang="zh-CN" altLang="en-US" sz="2000" dirty="0">
                <a:solidFill>
                  <a:srgbClr val="C00000"/>
                </a:solidFill>
              </a:rPr>
              <a:t>控制层：</a:t>
            </a:r>
            <a:r>
              <a:rPr lang="zh-CN" altLang="en-US" sz="2000" dirty="0"/>
              <a:t>运行各种路由协议：</a:t>
            </a:r>
            <a:r>
              <a:rPr lang="en-US" altLang="zh-CN" sz="2000" dirty="0"/>
              <a:t>BGP</a:t>
            </a:r>
            <a:r>
              <a:rPr lang="zh-CN" altLang="en-US" sz="2000" dirty="0"/>
              <a:t>、</a:t>
            </a:r>
            <a:r>
              <a:rPr lang="en-US" altLang="zh-CN" sz="2000" dirty="0"/>
              <a:t>OSPF</a:t>
            </a:r>
            <a:r>
              <a:rPr lang="zh-CN" altLang="en-US" sz="2000" dirty="0"/>
              <a:t>、</a:t>
            </a:r>
            <a:r>
              <a:rPr lang="en-US" altLang="zh-CN" sz="2000" dirty="0"/>
              <a:t>RIP</a:t>
            </a:r>
            <a:r>
              <a:rPr lang="zh-CN" altLang="en-US" sz="2000" dirty="0"/>
              <a:t>，学习去往不同目的的转发路径：路由表</a:t>
            </a:r>
            <a:endParaRPr lang="en-US" altLang="zh-CN" sz="2000" dirty="0"/>
          </a:p>
          <a:p>
            <a:pPr lvl="1"/>
            <a:r>
              <a:rPr lang="zh-CN" altLang="en-US" sz="2000" dirty="0">
                <a:solidFill>
                  <a:srgbClr val="C00000"/>
                </a:solidFill>
              </a:rPr>
              <a:t>数据层：</a:t>
            </a:r>
            <a:r>
              <a:rPr lang="zh-CN" altLang="en-US" sz="2000" dirty="0"/>
              <a:t>根据上述路由表，将收到的</a:t>
            </a:r>
            <a:r>
              <a:rPr lang="en-US" altLang="zh-CN" sz="2000" dirty="0"/>
              <a:t>IP</a:t>
            </a:r>
            <a:r>
              <a:rPr lang="zh-CN" altLang="en-US" sz="2000" dirty="0"/>
              <a:t>数据包转发到正确的下一跳链路</a:t>
            </a:r>
            <a:endParaRPr lang="en-US" altLang="zh-CN" sz="2000" dirty="0"/>
          </a:p>
        </p:txBody>
      </p:sp>
      <p:sp>
        <p:nvSpPr>
          <p:cNvPr id="309" name="灯片编号占位符 3">
            <a:extLst>
              <a:ext uri="{FF2B5EF4-FFF2-40B4-BE49-F238E27FC236}">
                <a16:creationId xmlns:a16="http://schemas.microsoft.com/office/drawing/2014/main" id="{A62951EF-BB43-D848-A67E-C8665859AC31}"/>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98</a:t>
            </a:fld>
            <a:endParaRPr kumimoji="1" lang="zh-CN" altLang="en-US" dirty="0"/>
          </a:p>
        </p:txBody>
      </p:sp>
    </p:spTree>
    <p:extLst>
      <p:ext uri="{BB962C8B-B14F-4D97-AF65-F5344CB8AC3E}">
        <p14:creationId xmlns:p14="http://schemas.microsoft.com/office/powerpoint/2010/main" val="20022464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9"/>
                                        </p:tgtEl>
                                        <p:attrNameLst>
                                          <p:attrName>style.visibility</p:attrName>
                                        </p:attrNameLst>
                                      </p:cBhvr>
                                      <p:to>
                                        <p:strVal val="visible"/>
                                      </p:to>
                                    </p:set>
                                    <p:animEffect transition="in" filter="blinds(horizontal)">
                                      <p:cBhvr>
                                        <p:cTn id="7" dur="500"/>
                                        <p:tgtEl>
                                          <p:spTgt spid="609"/>
                                        </p:tgtEl>
                                      </p:cBhvr>
                                    </p:animEffect>
                                  </p:childTnLst>
                                </p:cTn>
                              </p:par>
                              <p:par>
                                <p:cTn id="8" presetID="3" presetClass="entr" presetSubtype="10" fill="hold" nodeType="withEffect">
                                  <p:stCondLst>
                                    <p:cond delay="0"/>
                                  </p:stCondLst>
                                  <p:childTnLst>
                                    <p:set>
                                      <p:cBhvr>
                                        <p:cTn id="9" dur="1" fill="hold">
                                          <p:stCondLst>
                                            <p:cond delay="0"/>
                                          </p:stCondLst>
                                        </p:cTn>
                                        <p:tgtEl>
                                          <p:spTgt spid="618"/>
                                        </p:tgtEl>
                                        <p:attrNameLst>
                                          <p:attrName>style.visibility</p:attrName>
                                        </p:attrNameLst>
                                      </p:cBhvr>
                                      <p:to>
                                        <p:strVal val="visible"/>
                                      </p:to>
                                    </p:set>
                                    <p:animEffect transition="in" filter="blinds(horizontal)">
                                      <p:cBhvr>
                                        <p:cTn id="10" dur="500"/>
                                        <p:tgtEl>
                                          <p:spTgt spid="618"/>
                                        </p:tgtEl>
                                      </p:cBhvr>
                                    </p:animEffect>
                                  </p:childTnLst>
                                </p:cTn>
                              </p:par>
                              <p:par>
                                <p:cTn id="11" presetID="3" presetClass="entr" presetSubtype="10" fill="hold" nodeType="withEffect">
                                  <p:stCondLst>
                                    <p:cond delay="0"/>
                                  </p:stCondLst>
                                  <p:childTnLst>
                                    <p:set>
                                      <p:cBhvr>
                                        <p:cTn id="12" dur="1" fill="hold">
                                          <p:stCondLst>
                                            <p:cond delay="0"/>
                                          </p:stCondLst>
                                        </p:cTn>
                                        <p:tgtEl>
                                          <p:spTgt spid="627"/>
                                        </p:tgtEl>
                                        <p:attrNameLst>
                                          <p:attrName>style.visibility</p:attrName>
                                        </p:attrNameLst>
                                      </p:cBhvr>
                                      <p:to>
                                        <p:strVal val="visible"/>
                                      </p:to>
                                    </p:set>
                                    <p:animEffect transition="in" filter="blinds(horizontal)">
                                      <p:cBhvr>
                                        <p:cTn id="13" dur="500"/>
                                        <p:tgtEl>
                                          <p:spTgt spid="627"/>
                                        </p:tgtEl>
                                      </p:cBhvr>
                                    </p:animEffect>
                                  </p:childTnLst>
                                </p:cTn>
                              </p:par>
                              <p:par>
                                <p:cTn id="14" presetID="3" presetClass="entr" presetSubtype="10" fill="hold" nodeType="withEffect">
                                  <p:stCondLst>
                                    <p:cond delay="0"/>
                                  </p:stCondLst>
                                  <p:childTnLst>
                                    <p:set>
                                      <p:cBhvr>
                                        <p:cTn id="15" dur="1" fill="hold">
                                          <p:stCondLst>
                                            <p:cond delay="0"/>
                                          </p:stCondLst>
                                        </p:cTn>
                                        <p:tgtEl>
                                          <p:spTgt spid="636"/>
                                        </p:tgtEl>
                                        <p:attrNameLst>
                                          <p:attrName>style.visibility</p:attrName>
                                        </p:attrNameLst>
                                      </p:cBhvr>
                                      <p:to>
                                        <p:strVal val="visible"/>
                                      </p:to>
                                    </p:set>
                                    <p:animEffect transition="in" filter="blinds(horizontal)">
                                      <p:cBhvr>
                                        <p:cTn id="16" dur="500"/>
                                        <p:tgtEl>
                                          <p:spTgt spid="63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606"/>
                                        </p:tgtEl>
                                        <p:attrNameLst>
                                          <p:attrName>style.visibility</p:attrName>
                                        </p:attrNameLst>
                                      </p:cBhvr>
                                      <p:to>
                                        <p:strVal val="visible"/>
                                      </p:to>
                                    </p:set>
                                    <p:animEffect transition="in" filter="blinds(horizontal)">
                                      <p:cBhvr>
                                        <p:cTn id="21" dur="500"/>
                                        <p:tgtEl>
                                          <p:spTgt spid="606"/>
                                        </p:tgtEl>
                                      </p:cBhvr>
                                    </p:animEffect>
                                  </p:childTnLst>
                                </p:cTn>
                              </p:par>
                              <p:par>
                                <p:cTn id="22" presetID="3" presetClass="entr" presetSubtype="10" fill="hold" nodeType="withEffect">
                                  <p:stCondLst>
                                    <p:cond delay="0"/>
                                  </p:stCondLst>
                                  <p:childTnLst>
                                    <p:set>
                                      <p:cBhvr>
                                        <p:cTn id="23" dur="1" fill="hold">
                                          <p:stCondLst>
                                            <p:cond delay="0"/>
                                          </p:stCondLst>
                                        </p:cTn>
                                        <p:tgtEl>
                                          <p:spTgt spid="615"/>
                                        </p:tgtEl>
                                        <p:attrNameLst>
                                          <p:attrName>style.visibility</p:attrName>
                                        </p:attrNameLst>
                                      </p:cBhvr>
                                      <p:to>
                                        <p:strVal val="visible"/>
                                      </p:to>
                                    </p:set>
                                    <p:animEffect transition="in" filter="blinds(horizontal)">
                                      <p:cBhvr>
                                        <p:cTn id="24" dur="500"/>
                                        <p:tgtEl>
                                          <p:spTgt spid="615"/>
                                        </p:tgtEl>
                                      </p:cBhvr>
                                    </p:animEffect>
                                  </p:childTnLst>
                                </p:cTn>
                              </p:par>
                              <p:par>
                                <p:cTn id="25" presetID="3" presetClass="entr" presetSubtype="10" fill="hold" nodeType="withEffect">
                                  <p:stCondLst>
                                    <p:cond delay="0"/>
                                  </p:stCondLst>
                                  <p:childTnLst>
                                    <p:set>
                                      <p:cBhvr>
                                        <p:cTn id="26" dur="1" fill="hold">
                                          <p:stCondLst>
                                            <p:cond delay="0"/>
                                          </p:stCondLst>
                                        </p:cTn>
                                        <p:tgtEl>
                                          <p:spTgt spid="624"/>
                                        </p:tgtEl>
                                        <p:attrNameLst>
                                          <p:attrName>style.visibility</p:attrName>
                                        </p:attrNameLst>
                                      </p:cBhvr>
                                      <p:to>
                                        <p:strVal val="visible"/>
                                      </p:to>
                                    </p:set>
                                    <p:animEffect transition="in" filter="blinds(horizontal)">
                                      <p:cBhvr>
                                        <p:cTn id="27" dur="500"/>
                                        <p:tgtEl>
                                          <p:spTgt spid="624"/>
                                        </p:tgtEl>
                                      </p:cBhvr>
                                    </p:animEffect>
                                  </p:childTnLst>
                                </p:cTn>
                              </p:par>
                              <p:par>
                                <p:cTn id="28" presetID="3" presetClass="entr" presetSubtype="10" fill="hold" nodeType="withEffect">
                                  <p:stCondLst>
                                    <p:cond delay="0"/>
                                  </p:stCondLst>
                                  <p:childTnLst>
                                    <p:set>
                                      <p:cBhvr>
                                        <p:cTn id="29" dur="1" fill="hold">
                                          <p:stCondLst>
                                            <p:cond delay="0"/>
                                          </p:stCondLst>
                                        </p:cTn>
                                        <p:tgtEl>
                                          <p:spTgt spid="633"/>
                                        </p:tgtEl>
                                        <p:attrNameLst>
                                          <p:attrName>style.visibility</p:attrName>
                                        </p:attrNameLst>
                                      </p:cBhvr>
                                      <p:to>
                                        <p:strVal val="visible"/>
                                      </p:to>
                                    </p:set>
                                    <p:animEffect transition="in" filter="blinds(horizontal)">
                                      <p:cBhvr>
                                        <p:cTn id="30" dur="500"/>
                                        <p:tgtEl>
                                          <p:spTgt spid="633"/>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603"/>
                                        </p:tgtEl>
                                        <p:attrNameLst>
                                          <p:attrName>style.visibility</p:attrName>
                                        </p:attrNameLst>
                                      </p:cBhvr>
                                      <p:to>
                                        <p:strVal val="visible"/>
                                      </p:to>
                                    </p:set>
                                    <p:animEffect transition="in" filter="blinds(horizontal)">
                                      <p:cBhvr>
                                        <p:cTn id="35" dur="500"/>
                                        <p:tgtEl>
                                          <p:spTgt spid="603"/>
                                        </p:tgtEl>
                                      </p:cBhvr>
                                    </p:animEffect>
                                  </p:childTnLst>
                                </p:cTn>
                              </p:par>
                              <p:par>
                                <p:cTn id="36" presetID="3" presetClass="entr" presetSubtype="10" fill="hold" nodeType="withEffect">
                                  <p:stCondLst>
                                    <p:cond delay="0"/>
                                  </p:stCondLst>
                                  <p:childTnLst>
                                    <p:set>
                                      <p:cBhvr>
                                        <p:cTn id="37" dur="1" fill="hold">
                                          <p:stCondLst>
                                            <p:cond delay="0"/>
                                          </p:stCondLst>
                                        </p:cTn>
                                        <p:tgtEl>
                                          <p:spTgt spid="612"/>
                                        </p:tgtEl>
                                        <p:attrNameLst>
                                          <p:attrName>style.visibility</p:attrName>
                                        </p:attrNameLst>
                                      </p:cBhvr>
                                      <p:to>
                                        <p:strVal val="visible"/>
                                      </p:to>
                                    </p:set>
                                    <p:animEffect transition="in" filter="blinds(horizontal)">
                                      <p:cBhvr>
                                        <p:cTn id="38" dur="500"/>
                                        <p:tgtEl>
                                          <p:spTgt spid="612"/>
                                        </p:tgtEl>
                                      </p:cBhvr>
                                    </p:animEffect>
                                  </p:childTnLst>
                                </p:cTn>
                              </p:par>
                              <p:par>
                                <p:cTn id="39" presetID="3" presetClass="entr" presetSubtype="10" fill="hold" nodeType="withEffect">
                                  <p:stCondLst>
                                    <p:cond delay="0"/>
                                  </p:stCondLst>
                                  <p:childTnLst>
                                    <p:set>
                                      <p:cBhvr>
                                        <p:cTn id="40" dur="1" fill="hold">
                                          <p:stCondLst>
                                            <p:cond delay="0"/>
                                          </p:stCondLst>
                                        </p:cTn>
                                        <p:tgtEl>
                                          <p:spTgt spid="621"/>
                                        </p:tgtEl>
                                        <p:attrNameLst>
                                          <p:attrName>style.visibility</p:attrName>
                                        </p:attrNameLst>
                                      </p:cBhvr>
                                      <p:to>
                                        <p:strVal val="visible"/>
                                      </p:to>
                                    </p:set>
                                    <p:animEffect transition="in" filter="blinds(horizontal)">
                                      <p:cBhvr>
                                        <p:cTn id="41" dur="500"/>
                                        <p:tgtEl>
                                          <p:spTgt spid="621"/>
                                        </p:tgtEl>
                                      </p:cBhvr>
                                    </p:animEffect>
                                  </p:childTnLst>
                                </p:cTn>
                              </p:par>
                              <p:par>
                                <p:cTn id="42" presetID="3" presetClass="entr" presetSubtype="10" fill="hold" nodeType="withEffect">
                                  <p:stCondLst>
                                    <p:cond delay="0"/>
                                  </p:stCondLst>
                                  <p:childTnLst>
                                    <p:set>
                                      <p:cBhvr>
                                        <p:cTn id="43" dur="1" fill="hold">
                                          <p:stCondLst>
                                            <p:cond delay="0"/>
                                          </p:stCondLst>
                                        </p:cTn>
                                        <p:tgtEl>
                                          <p:spTgt spid="630"/>
                                        </p:tgtEl>
                                        <p:attrNameLst>
                                          <p:attrName>style.visibility</p:attrName>
                                        </p:attrNameLst>
                                      </p:cBhvr>
                                      <p:to>
                                        <p:strVal val="visible"/>
                                      </p:to>
                                    </p:set>
                                    <p:animEffect transition="in" filter="blinds(horizontal)">
                                      <p:cBhvr>
                                        <p:cTn id="44" dur="500"/>
                                        <p:tgtEl>
                                          <p:spTgt spid="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normAutofit/>
          </a:bodyPr>
          <a:lstStyle/>
          <a:p>
            <a:r>
              <a:rPr kumimoji="1" lang="zh-CN" altLang="en-US" dirty="0"/>
              <a:t>路由器控制层</a:t>
            </a:r>
          </a:p>
        </p:txBody>
      </p:sp>
      <p:sp>
        <p:nvSpPr>
          <p:cNvPr id="6" name="日期占位符 5"/>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5.5 </a:t>
            </a:r>
            <a:r>
              <a:rPr kumimoji="1" lang="zh-CN" altLang="en-US" dirty="0">
                <a:latin typeface="DengXian" panose="02010600030101010101" pitchFamily="2" charset="-122"/>
                <a:ea typeface="DengXian" panose="02010600030101010101" pitchFamily="2" charset="-122"/>
              </a:rPr>
              <a:t>路由器工作原理</a:t>
            </a:r>
          </a:p>
        </p:txBody>
      </p:sp>
      <p:sp>
        <p:nvSpPr>
          <p:cNvPr id="5" name="内容占位符 4"/>
          <p:cNvSpPr>
            <a:spLocks noGrp="1"/>
          </p:cNvSpPr>
          <p:nvPr>
            <p:ph idx="1"/>
          </p:nvPr>
        </p:nvSpPr>
        <p:spPr>
          <a:xfrm>
            <a:off x="674557" y="1744049"/>
            <a:ext cx="5535680" cy="4455923"/>
          </a:xfrm>
        </p:spPr>
        <p:txBody>
          <a:bodyPr>
            <a:normAutofit/>
          </a:bodyPr>
          <a:lstStyle/>
          <a:p>
            <a:pPr marL="360363" lvl="1" indent="-360363" algn="just">
              <a:spcBef>
                <a:spcPts val="1800"/>
              </a:spcBef>
              <a:buFont typeface="Wingdings" pitchFamily="2" charset="2"/>
              <a:buChar char="Ø"/>
            </a:pPr>
            <a:r>
              <a:rPr lang="zh-CN" altLang="en-US" sz="2800" dirty="0"/>
              <a:t>路由器可同时运行多个路由协议</a:t>
            </a:r>
            <a:endParaRPr lang="en-US" altLang="zh-CN" sz="2800" dirty="0"/>
          </a:p>
          <a:p>
            <a:pPr marL="360363" lvl="1" indent="-360363" algn="just">
              <a:spcBef>
                <a:spcPts val="1800"/>
              </a:spcBef>
              <a:buFont typeface="Wingdings" pitchFamily="2" charset="2"/>
              <a:buChar char="Ø"/>
            </a:pPr>
            <a:r>
              <a:rPr lang="zh-CN" altLang="en-US" sz="2800" dirty="0"/>
              <a:t>路由器也可不运行任何路由协议，只使用静态路由和直连路由</a:t>
            </a:r>
            <a:endParaRPr lang="en-US" altLang="zh-CN" sz="2800" dirty="0"/>
          </a:p>
          <a:p>
            <a:pPr marL="360363" lvl="1" indent="-360363" algn="just">
              <a:spcBef>
                <a:spcPts val="1800"/>
              </a:spcBef>
              <a:buFont typeface="Wingdings" pitchFamily="2" charset="2"/>
              <a:buChar char="Ø"/>
            </a:pPr>
            <a:r>
              <a:rPr lang="zh-CN" altLang="en-US" sz="2800" dirty="0"/>
              <a:t>路由管理根据路由优先级，选择最佳路由，形成核心路由表</a:t>
            </a:r>
            <a:endParaRPr lang="en-US" altLang="zh-CN" sz="2800" dirty="0"/>
          </a:p>
          <a:p>
            <a:pPr marL="360363" lvl="1" indent="-360363" algn="just">
              <a:spcBef>
                <a:spcPts val="1800"/>
              </a:spcBef>
              <a:buFont typeface="Wingdings" pitchFamily="2" charset="2"/>
              <a:buChar char="Ø"/>
            </a:pPr>
            <a:r>
              <a:rPr lang="zh-CN" altLang="en-US" sz="2800" dirty="0"/>
              <a:t>控制层将核心路由表下发到数据层，形成转发表（</a:t>
            </a:r>
            <a:r>
              <a:rPr lang="en-US" altLang="zh-CN" sz="2800" dirty="0"/>
              <a:t>FIB</a:t>
            </a:r>
            <a:r>
              <a:rPr lang="zh-CN" altLang="en-US" sz="2800" dirty="0"/>
              <a:t>）</a:t>
            </a:r>
            <a:endParaRPr lang="en-US" altLang="zh-CN" dirty="0"/>
          </a:p>
          <a:p>
            <a:pPr lvl="1" algn="just">
              <a:spcBef>
                <a:spcPts val="1800"/>
              </a:spcBef>
            </a:pPr>
            <a:endParaRPr lang="zh-CN" altLang="en-US" dirty="0"/>
          </a:p>
        </p:txBody>
      </p:sp>
      <p:grpSp>
        <p:nvGrpSpPr>
          <p:cNvPr id="42" name="组合 41"/>
          <p:cNvGrpSpPr/>
          <p:nvPr/>
        </p:nvGrpSpPr>
        <p:grpSpPr>
          <a:xfrm>
            <a:off x="6541227" y="1743381"/>
            <a:ext cx="5277080" cy="4418540"/>
            <a:chOff x="6544019" y="1830835"/>
            <a:chExt cx="5277080" cy="4418540"/>
          </a:xfrm>
        </p:grpSpPr>
        <p:sp>
          <p:nvSpPr>
            <p:cNvPr id="8" name="文本框 7"/>
            <p:cNvSpPr txBox="1"/>
            <p:nvPr/>
          </p:nvSpPr>
          <p:spPr>
            <a:xfrm>
              <a:off x="6753339" y="1993435"/>
              <a:ext cx="900000" cy="400110"/>
            </a:xfrm>
            <a:prstGeom prst="rect">
              <a:avLst/>
            </a:prstGeom>
            <a:solidFill>
              <a:schemeClr val="bg1"/>
            </a:solidFill>
            <a:ln w="19050">
              <a:solidFill>
                <a:srgbClr val="C00000"/>
              </a:solidFill>
            </a:ln>
          </p:spPr>
          <p:txBody>
            <a:bodyPr wrap="square" rtlCol="0">
              <a:spAutoFit/>
            </a:bodyPr>
            <a:lstStyle/>
            <a:p>
              <a:pPr algn="ctr"/>
              <a:r>
                <a:rPr lang="en-US" altLang="zh-CN" sz="2000" dirty="0">
                  <a:latin typeface="等线" panose="02010600030101010101" pitchFamily="2" charset="-122"/>
                  <a:ea typeface="等线" panose="02010600030101010101" pitchFamily="2" charset="-122"/>
                </a:rPr>
                <a:t>OSPF</a:t>
              </a:r>
              <a:endParaRPr lang="zh-CN" altLang="en-US" sz="2000" dirty="0">
                <a:latin typeface="等线" panose="02010600030101010101" pitchFamily="2" charset="-122"/>
                <a:ea typeface="等线" panose="02010600030101010101" pitchFamily="2" charset="-122"/>
              </a:endParaRPr>
            </a:p>
          </p:txBody>
        </p:sp>
        <p:sp>
          <p:nvSpPr>
            <p:cNvPr id="314" name="文本框 313"/>
            <p:cNvSpPr txBox="1"/>
            <p:nvPr/>
          </p:nvSpPr>
          <p:spPr>
            <a:xfrm>
              <a:off x="7743019" y="1993435"/>
              <a:ext cx="900000" cy="400110"/>
            </a:xfrm>
            <a:prstGeom prst="rect">
              <a:avLst/>
            </a:prstGeom>
            <a:solidFill>
              <a:schemeClr val="bg1"/>
            </a:solidFill>
            <a:ln w="19050">
              <a:solidFill>
                <a:srgbClr val="C00000"/>
              </a:solidFill>
            </a:ln>
          </p:spPr>
          <p:txBody>
            <a:bodyPr wrap="square" rtlCol="0">
              <a:spAutoFit/>
            </a:bodyPr>
            <a:lstStyle/>
            <a:p>
              <a:pPr algn="ctr"/>
              <a:r>
                <a:rPr lang="en-US" altLang="zh-CN" sz="2000" dirty="0">
                  <a:latin typeface="等线" panose="02010600030101010101" pitchFamily="2" charset="-122"/>
                  <a:ea typeface="等线" panose="02010600030101010101" pitchFamily="2" charset="-122"/>
                </a:rPr>
                <a:t>BGP</a:t>
              </a:r>
              <a:endParaRPr lang="zh-CN" altLang="en-US" sz="2000" dirty="0">
                <a:latin typeface="等线" panose="02010600030101010101" pitchFamily="2" charset="-122"/>
                <a:ea typeface="等线" panose="02010600030101010101" pitchFamily="2" charset="-122"/>
              </a:endParaRPr>
            </a:p>
          </p:txBody>
        </p:sp>
        <p:sp>
          <p:nvSpPr>
            <p:cNvPr id="315" name="文本框 314"/>
            <p:cNvSpPr txBox="1"/>
            <p:nvPr/>
          </p:nvSpPr>
          <p:spPr>
            <a:xfrm>
              <a:off x="9294913" y="1993435"/>
              <a:ext cx="1224000" cy="400110"/>
            </a:xfrm>
            <a:prstGeom prst="rect">
              <a:avLst/>
            </a:prstGeom>
            <a:solidFill>
              <a:schemeClr val="bg1"/>
            </a:solidFill>
            <a:ln w="19050">
              <a:solidFill>
                <a:srgbClr val="C00000"/>
              </a:solidFill>
            </a:ln>
          </p:spPr>
          <p:txBody>
            <a:bodyPr wrap="square" rtlCol="0">
              <a:spAutoFit/>
            </a:bodyPr>
            <a:lstStyle/>
            <a:p>
              <a:pPr algn="ctr"/>
              <a:r>
                <a:rPr lang="zh-CN" altLang="en-US" sz="2000" dirty="0">
                  <a:latin typeface="等线" panose="02010600030101010101" pitchFamily="2" charset="-122"/>
                  <a:ea typeface="等线" panose="02010600030101010101" pitchFamily="2" charset="-122"/>
                </a:rPr>
                <a:t>静态路由</a:t>
              </a:r>
            </a:p>
          </p:txBody>
        </p:sp>
        <p:sp>
          <p:nvSpPr>
            <p:cNvPr id="316" name="文本框 315"/>
            <p:cNvSpPr txBox="1"/>
            <p:nvPr/>
          </p:nvSpPr>
          <p:spPr>
            <a:xfrm>
              <a:off x="7844010" y="3148652"/>
              <a:ext cx="2996588" cy="400110"/>
            </a:xfrm>
            <a:prstGeom prst="rect">
              <a:avLst/>
            </a:prstGeom>
            <a:solidFill>
              <a:schemeClr val="bg1"/>
            </a:solidFill>
            <a:ln w="19050">
              <a:noFill/>
            </a:ln>
          </p:spPr>
          <p:txBody>
            <a:bodyPr wrap="square" rtlCol="0">
              <a:spAutoFit/>
            </a:bodyPr>
            <a:lstStyle/>
            <a:p>
              <a:pPr algn="ctr"/>
              <a:r>
                <a:rPr lang="zh-CN" altLang="en-US" sz="2000" dirty="0">
                  <a:latin typeface="等线" panose="02010600030101010101" pitchFamily="2" charset="-122"/>
                  <a:ea typeface="等线" panose="02010600030101010101" pitchFamily="2" charset="-122"/>
                </a:rPr>
                <a:t>路由管理</a:t>
              </a:r>
            </a:p>
          </p:txBody>
        </p:sp>
        <p:sp>
          <p:nvSpPr>
            <p:cNvPr id="9" name="椭圆 8"/>
            <p:cNvSpPr/>
            <p:nvPr/>
          </p:nvSpPr>
          <p:spPr>
            <a:xfrm>
              <a:off x="8064020" y="3587590"/>
              <a:ext cx="2528884" cy="572877"/>
            </a:xfrm>
            <a:prstGeom prst="ellipse">
              <a:avLst/>
            </a:prstGeom>
            <a:solidFill>
              <a:schemeClr val="bg1"/>
            </a:solidFill>
            <a:ln w="28575">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核心路由表</a:t>
              </a:r>
            </a:p>
          </p:txBody>
        </p:sp>
        <p:sp>
          <p:nvSpPr>
            <p:cNvPr id="10" name="矩形 9"/>
            <p:cNvSpPr/>
            <p:nvPr/>
          </p:nvSpPr>
          <p:spPr>
            <a:xfrm>
              <a:off x="7844010" y="3029481"/>
              <a:ext cx="2996588" cy="131782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 name="直接连接符 11"/>
            <p:cNvCxnSpPr/>
            <p:nvPr/>
          </p:nvCxnSpPr>
          <p:spPr>
            <a:xfrm>
              <a:off x="6544019" y="4622729"/>
              <a:ext cx="5277080" cy="0"/>
            </a:xfrm>
            <a:prstGeom prst="line">
              <a:avLst/>
            </a:prstGeom>
            <a:ln w="285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24" name="文本框 323"/>
            <p:cNvSpPr txBox="1"/>
            <p:nvPr/>
          </p:nvSpPr>
          <p:spPr>
            <a:xfrm>
              <a:off x="7844010" y="5799862"/>
              <a:ext cx="2996588" cy="400110"/>
            </a:xfrm>
            <a:prstGeom prst="rect">
              <a:avLst/>
            </a:prstGeom>
            <a:solidFill>
              <a:schemeClr val="bg1"/>
            </a:solidFill>
            <a:ln w="19050">
              <a:noFill/>
            </a:ln>
          </p:spPr>
          <p:txBody>
            <a:bodyPr wrap="square" rtlCol="0">
              <a:spAutoFit/>
            </a:bodyPr>
            <a:lstStyle/>
            <a:p>
              <a:pPr algn="ctr"/>
              <a:r>
                <a:rPr lang="zh-CN" altLang="en-US" sz="2000" dirty="0">
                  <a:latin typeface="等线" panose="02010600030101010101" pitchFamily="2" charset="-122"/>
                  <a:ea typeface="等线" panose="02010600030101010101" pitchFamily="2" charset="-122"/>
                </a:rPr>
                <a:t>转发引擎</a:t>
              </a:r>
            </a:p>
          </p:txBody>
        </p:sp>
        <p:sp>
          <p:nvSpPr>
            <p:cNvPr id="325" name="椭圆 324"/>
            <p:cNvSpPr/>
            <p:nvPr/>
          </p:nvSpPr>
          <p:spPr>
            <a:xfrm>
              <a:off x="7997917" y="5126097"/>
              <a:ext cx="2688443" cy="572877"/>
            </a:xfrm>
            <a:prstGeom prst="ellipse">
              <a:avLst/>
            </a:prstGeom>
            <a:solidFill>
              <a:schemeClr val="bg1"/>
            </a:solidFill>
            <a:ln w="28575">
              <a:solidFill>
                <a:srgbClr val="5B307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chemeClr val="tx1"/>
                  </a:solidFill>
                </a:rPr>
                <a:t>转发表</a:t>
              </a:r>
              <a:r>
                <a:rPr lang="en-US" altLang="zh-CN" sz="2000" dirty="0">
                  <a:solidFill>
                    <a:schemeClr val="tx1"/>
                  </a:solidFill>
                </a:rPr>
                <a:t>(FIB)</a:t>
              </a:r>
              <a:endParaRPr lang="zh-CN" altLang="en-US" sz="2000" dirty="0">
                <a:solidFill>
                  <a:schemeClr val="tx1"/>
                </a:solidFill>
              </a:endParaRPr>
            </a:p>
          </p:txBody>
        </p:sp>
        <p:sp>
          <p:nvSpPr>
            <p:cNvPr id="326" name="矩形 325"/>
            <p:cNvSpPr/>
            <p:nvPr/>
          </p:nvSpPr>
          <p:spPr>
            <a:xfrm>
              <a:off x="7844010" y="4931548"/>
              <a:ext cx="2996588" cy="1317827"/>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箭头连接符 16"/>
            <p:cNvCxnSpPr>
              <a:stCxn id="8" idx="2"/>
            </p:cNvCxnSpPr>
            <p:nvPr/>
          </p:nvCxnSpPr>
          <p:spPr>
            <a:xfrm>
              <a:off x="7203339" y="2393545"/>
              <a:ext cx="1223678" cy="62116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329" name="直接箭头连接符 328"/>
            <p:cNvCxnSpPr>
              <a:stCxn id="314" idx="2"/>
            </p:cNvCxnSpPr>
            <p:nvPr/>
          </p:nvCxnSpPr>
          <p:spPr>
            <a:xfrm>
              <a:off x="8193019" y="2393545"/>
              <a:ext cx="799642" cy="64321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cxnSp>
          <p:nvCxnSpPr>
            <p:cNvPr id="332" name="直接箭头连接符 331"/>
            <p:cNvCxnSpPr/>
            <p:nvPr/>
          </p:nvCxnSpPr>
          <p:spPr>
            <a:xfrm flipH="1">
              <a:off x="9528320" y="2400827"/>
              <a:ext cx="407956" cy="628654"/>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sp>
          <p:nvSpPr>
            <p:cNvPr id="336" name="文本框 335"/>
            <p:cNvSpPr txBox="1"/>
            <p:nvPr/>
          </p:nvSpPr>
          <p:spPr>
            <a:xfrm>
              <a:off x="8346162" y="1830835"/>
              <a:ext cx="1292999" cy="523220"/>
            </a:xfrm>
            <a:prstGeom prst="rect">
              <a:avLst/>
            </a:prstGeom>
            <a:noFill/>
            <a:ln w="19050">
              <a:noFill/>
            </a:ln>
          </p:spPr>
          <p:txBody>
            <a:bodyPr wrap="square" rtlCol="0">
              <a:spAutoFit/>
            </a:bodyPr>
            <a:lstStyle/>
            <a:p>
              <a:pPr algn="ctr"/>
              <a:r>
                <a:rPr lang="en-US" altLang="zh-CN" sz="2800" dirty="0">
                  <a:latin typeface="等线" panose="02010600030101010101" pitchFamily="2" charset="-122"/>
                  <a:ea typeface="等线" panose="02010600030101010101" pitchFamily="2" charset="-122"/>
                </a:rPr>
                <a:t>. . .</a:t>
              </a:r>
              <a:endParaRPr lang="zh-CN" altLang="en-US" sz="2800" dirty="0">
                <a:latin typeface="等线" panose="02010600030101010101" pitchFamily="2" charset="-122"/>
                <a:ea typeface="等线" panose="02010600030101010101" pitchFamily="2" charset="-122"/>
              </a:endParaRPr>
            </a:p>
          </p:txBody>
        </p:sp>
        <p:sp>
          <p:nvSpPr>
            <p:cNvPr id="642" name="文本框 641"/>
            <p:cNvSpPr txBox="1"/>
            <p:nvPr/>
          </p:nvSpPr>
          <p:spPr>
            <a:xfrm>
              <a:off x="6720289" y="3431330"/>
              <a:ext cx="1123721" cy="461665"/>
            </a:xfrm>
            <a:prstGeom prst="rect">
              <a:avLst/>
            </a:prstGeom>
            <a:noFill/>
            <a:ln w="19050">
              <a:noFill/>
            </a:ln>
          </p:spPr>
          <p:txBody>
            <a:bodyPr wrap="square" rtlCol="0">
              <a:spAutoFit/>
            </a:bodyPr>
            <a:lstStyle/>
            <a:p>
              <a:pPr algn="ctr"/>
              <a:r>
                <a:rPr lang="zh-CN" altLang="en-US" sz="2400" dirty="0">
                  <a:latin typeface="等线" panose="02010600030101010101" pitchFamily="2" charset="-122"/>
                  <a:ea typeface="等线" panose="02010600030101010101" pitchFamily="2" charset="-122"/>
                </a:rPr>
                <a:t>控制层</a:t>
              </a:r>
            </a:p>
          </p:txBody>
        </p:sp>
        <p:sp>
          <p:nvSpPr>
            <p:cNvPr id="643" name="文本框 642"/>
            <p:cNvSpPr txBox="1"/>
            <p:nvPr/>
          </p:nvSpPr>
          <p:spPr>
            <a:xfrm>
              <a:off x="6720289" y="5251816"/>
              <a:ext cx="1142258" cy="461665"/>
            </a:xfrm>
            <a:prstGeom prst="rect">
              <a:avLst/>
            </a:prstGeom>
            <a:noFill/>
            <a:ln w="19050">
              <a:noFill/>
            </a:ln>
          </p:spPr>
          <p:txBody>
            <a:bodyPr wrap="square" rtlCol="0">
              <a:spAutoFit/>
            </a:bodyPr>
            <a:lstStyle/>
            <a:p>
              <a:pPr algn="ctr"/>
              <a:r>
                <a:rPr lang="zh-CN" altLang="en-US" sz="2400" dirty="0">
                  <a:latin typeface="等线" panose="02010600030101010101" pitchFamily="2" charset="-122"/>
                  <a:ea typeface="等线" panose="02010600030101010101" pitchFamily="2" charset="-122"/>
                </a:rPr>
                <a:t>数据层</a:t>
              </a:r>
            </a:p>
          </p:txBody>
        </p:sp>
        <p:cxnSp>
          <p:nvCxnSpPr>
            <p:cNvPr id="644" name="直接箭头连接符 643"/>
            <p:cNvCxnSpPr>
              <a:stCxn id="9" idx="4"/>
              <a:endCxn id="325" idx="0"/>
            </p:cNvCxnSpPr>
            <p:nvPr/>
          </p:nvCxnSpPr>
          <p:spPr>
            <a:xfrm>
              <a:off x="9328462" y="4160467"/>
              <a:ext cx="13677" cy="965630"/>
            </a:xfrm>
            <a:prstGeom prst="straightConnector1">
              <a:avLst/>
            </a:prstGeom>
            <a:ln w="57150">
              <a:tailEnd type="triangle" w="lg" len="lg"/>
            </a:ln>
          </p:spPr>
          <p:style>
            <a:lnRef idx="1">
              <a:schemeClr val="accent1"/>
            </a:lnRef>
            <a:fillRef idx="0">
              <a:schemeClr val="accent1"/>
            </a:fillRef>
            <a:effectRef idx="0">
              <a:schemeClr val="accent1"/>
            </a:effectRef>
            <a:fontRef idx="minor">
              <a:schemeClr val="tx1"/>
            </a:fontRef>
          </p:style>
        </p:cxnSp>
        <p:sp>
          <p:nvSpPr>
            <p:cNvPr id="645" name="文本框 644"/>
            <p:cNvSpPr txBox="1"/>
            <p:nvPr/>
          </p:nvSpPr>
          <p:spPr>
            <a:xfrm>
              <a:off x="10594307" y="1993435"/>
              <a:ext cx="1224000" cy="400110"/>
            </a:xfrm>
            <a:prstGeom prst="rect">
              <a:avLst/>
            </a:prstGeom>
            <a:solidFill>
              <a:schemeClr val="bg1"/>
            </a:solidFill>
            <a:ln w="19050">
              <a:solidFill>
                <a:srgbClr val="C00000"/>
              </a:solidFill>
            </a:ln>
          </p:spPr>
          <p:txBody>
            <a:bodyPr wrap="square" rtlCol="0">
              <a:spAutoFit/>
            </a:bodyPr>
            <a:lstStyle/>
            <a:p>
              <a:pPr algn="ctr"/>
              <a:r>
                <a:rPr lang="zh-CN" altLang="en-US" sz="2000" dirty="0">
                  <a:latin typeface="等线" panose="02010600030101010101" pitchFamily="2" charset="-122"/>
                  <a:ea typeface="等线" panose="02010600030101010101" pitchFamily="2" charset="-122"/>
                </a:rPr>
                <a:t>直连路由</a:t>
              </a:r>
            </a:p>
          </p:txBody>
        </p:sp>
        <p:cxnSp>
          <p:nvCxnSpPr>
            <p:cNvPr id="646" name="直接箭头连接符 645"/>
            <p:cNvCxnSpPr>
              <a:stCxn id="645" idx="2"/>
            </p:cNvCxnSpPr>
            <p:nvPr/>
          </p:nvCxnSpPr>
          <p:spPr>
            <a:xfrm flipH="1">
              <a:off x="10007437" y="2393545"/>
              <a:ext cx="1198870" cy="635936"/>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grpSp>
      <p:sp>
        <p:nvSpPr>
          <p:cNvPr id="26" name="灯片编号占位符 3">
            <a:extLst>
              <a:ext uri="{FF2B5EF4-FFF2-40B4-BE49-F238E27FC236}">
                <a16:creationId xmlns:a16="http://schemas.microsoft.com/office/drawing/2014/main" id="{2966C84A-7FE1-4D4E-B225-6B9233BAE991}"/>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99</a:t>
            </a:fld>
            <a:endParaRPr kumimoji="1" lang="zh-CN" altLang="en-US" dirty="0"/>
          </a:p>
        </p:txBody>
      </p:sp>
    </p:spTree>
    <p:extLst>
      <p:ext uri="{BB962C8B-B14F-4D97-AF65-F5344CB8AC3E}">
        <p14:creationId xmlns:p14="http://schemas.microsoft.com/office/powerpoint/2010/main" val="4266121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normAutofit/>
          </a:bodyPr>
          <a:lstStyle/>
          <a:p>
            <a:r>
              <a:rPr kumimoji="1" lang="zh-CN" altLang="en-US" dirty="0"/>
              <a:t>路由器控制层</a:t>
            </a:r>
          </a:p>
        </p:txBody>
      </p:sp>
      <p:sp>
        <p:nvSpPr>
          <p:cNvPr id="3" name="内容占位符 2">
            <a:extLst>
              <a:ext uri="{FF2B5EF4-FFF2-40B4-BE49-F238E27FC236}">
                <a16:creationId xmlns:a16="http://schemas.microsoft.com/office/drawing/2014/main" id="{DB830B1C-0706-7E41-AE1A-DEBBD115D846}"/>
              </a:ext>
            </a:extLst>
          </p:cNvPr>
          <p:cNvSpPr>
            <a:spLocks noGrp="1"/>
          </p:cNvSpPr>
          <p:nvPr>
            <p:ph idx="1"/>
          </p:nvPr>
        </p:nvSpPr>
        <p:spPr>
          <a:xfrm>
            <a:off x="1270063" y="1415661"/>
            <a:ext cx="9765799" cy="1839589"/>
          </a:xfrm>
        </p:spPr>
        <p:txBody>
          <a:bodyPr>
            <a:normAutofit/>
          </a:bodyPr>
          <a:lstStyle/>
          <a:p>
            <a:pPr marL="360363" lvl="1" indent="-360363" algn="just">
              <a:spcBef>
                <a:spcPts val="1800"/>
              </a:spcBef>
              <a:buFont typeface="Wingdings" pitchFamily="2" charset="2"/>
              <a:buChar char="Ø"/>
            </a:pPr>
            <a:r>
              <a:rPr lang="zh-CN" altLang="en-US" sz="2800" dirty="0"/>
              <a:t>若存在多个“去往同一目的</a:t>
            </a:r>
            <a:r>
              <a:rPr lang="en-US" altLang="zh-CN" sz="2800" dirty="0"/>
              <a:t>IP</a:t>
            </a:r>
            <a:r>
              <a:rPr lang="zh-CN" altLang="en-US" sz="2800" dirty="0"/>
              <a:t>前缀”的不同类型路由，路由器根据优先级选择最佳路由</a:t>
            </a:r>
            <a:endParaRPr lang="en-US" altLang="zh-CN" sz="2800" dirty="0"/>
          </a:p>
          <a:p>
            <a:pPr marL="360363" lvl="1" indent="-360363" algn="just">
              <a:spcBef>
                <a:spcPts val="1800"/>
              </a:spcBef>
              <a:buFont typeface="Wingdings" pitchFamily="2" charset="2"/>
              <a:buChar char="Ø"/>
            </a:pPr>
            <a:r>
              <a:rPr lang="zh-CN" altLang="en-US" sz="2800" dirty="0"/>
              <a:t>优先级数值越小，优先级越高</a:t>
            </a:r>
            <a:endParaRPr lang="en-US" altLang="zh-CN" sz="2000" dirty="0"/>
          </a:p>
          <a:p>
            <a:pPr lvl="1">
              <a:spcBef>
                <a:spcPts val="1800"/>
              </a:spcBef>
            </a:pPr>
            <a:endParaRPr lang="en-US" altLang="zh-CN" sz="2000" dirty="0"/>
          </a:p>
          <a:p>
            <a:pPr lvl="1">
              <a:spcBef>
                <a:spcPts val="1800"/>
              </a:spcBef>
            </a:pPr>
            <a:endParaRPr lang="en-US" altLang="zh-CN" sz="2000" dirty="0"/>
          </a:p>
          <a:p>
            <a:pPr lvl="1">
              <a:spcBef>
                <a:spcPts val="1800"/>
              </a:spcBef>
            </a:pPr>
            <a:endParaRPr lang="en-US" altLang="zh-CN" sz="2000" dirty="0"/>
          </a:p>
          <a:p>
            <a:pPr lvl="1">
              <a:spcBef>
                <a:spcPts val="1800"/>
              </a:spcBef>
            </a:pPr>
            <a:endParaRPr lang="en-US" altLang="zh-CN" sz="2000" dirty="0"/>
          </a:p>
          <a:p>
            <a:pPr lvl="1">
              <a:spcBef>
                <a:spcPts val="1800"/>
              </a:spcBef>
            </a:pPr>
            <a:endParaRPr lang="en-US" altLang="zh-CN" sz="2000" dirty="0"/>
          </a:p>
          <a:p>
            <a:pPr marL="457200" lvl="1" indent="0">
              <a:spcBef>
                <a:spcPts val="1800"/>
              </a:spcBef>
              <a:buNone/>
            </a:pPr>
            <a:endParaRPr lang="en-US" altLang="zh-CN" sz="2000" dirty="0"/>
          </a:p>
        </p:txBody>
      </p:sp>
      <p:sp>
        <p:nvSpPr>
          <p:cNvPr id="6" name="日期占位符 5"/>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5.5 </a:t>
            </a:r>
            <a:r>
              <a:rPr kumimoji="1" lang="zh-CN" altLang="en-US" dirty="0">
                <a:latin typeface="DengXian" panose="02010600030101010101" pitchFamily="2" charset="-122"/>
                <a:ea typeface="DengXian" panose="02010600030101010101" pitchFamily="2" charset="-122"/>
              </a:rPr>
              <a:t>路由器工作原理</a:t>
            </a:r>
          </a:p>
        </p:txBody>
      </p:sp>
      <p:graphicFrame>
        <p:nvGraphicFramePr>
          <p:cNvPr id="5" name="表格 4"/>
          <p:cNvGraphicFramePr>
            <a:graphicFrameLocks noGrp="1"/>
          </p:cNvGraphicFramePr>
          <p:nvPr/>
        </p:nvGraphicFramePr>
        <p:xfrm>
          <a:off x="1733406" y="3163598"/>
          <a:ext cx="8030704" cy="3200400"/>
        </p:xfrm>
        <a:graphic>
          <a:graphicData uri="http://schemas.openxmlformats.org/drawingml/2006/table">
            <a:tbl>
              <a:tblPr firstRow="1" bandRow="1">
                <a:tableStyleId>{5C22544A-7EE6-4342-B048-85BDC9FD1C3A}</a:tableStyleId>
              </a:tblPr>
              <a:tblGrid>
                <a:gridCol w="4015352">
                  <a:extLst>
                    <a:ext uri="{9D8B030D-6E8A-4147-A177-3AD203B41FA5}">
                      <a16:colId xmlns:a16="http://schemas.microsoft.com/office/drawing/2014/main" val="2610972709"/>
                    </a:ext>
                  </a:extLst>
                </a:gridCol>
                <a:gridCol w="4015352">
                  <a:extLst>
                    <a:ext uri="{9D8B030D-6E8A-4147-A177-3AD203B41FA5}">
                      <a16:colId xmlns:a16="http://schemas.microsoft.com/office/drawing/2014/main" val="1218477464"/>
                    </a:ext>
                  </a:extLst>
                </a:gridCol>
              </a:tblGrid>
              <a:tr h="0">
                <a:tc>
                  <a:txBody>
                    <a:bodyPr/>
                    <a:lstStyle/>
                    <a:p>
                      <a:pPr algn="ctr"/>
                      <a:r>
                        <a:rPr lang="zh-CN" altLang="en-US" sz="2400" dirty="0"/>
                        <a:t>路由种类</a:t>
                      </a:r>
                    </a:p>
                  </a:txBody>
                  <a:tcPr/>
                </a:tc>
                <a:tc>
                  <a:txBody>
                    <a:bodyPr/>
                    <a:lstStyle/>
                    <a:p>
                      <a:pPr algn="ctr"/>
                      <a:r>
                        <a:rPr lang="zh-CN" altLang="en-US" sz="2400" dirty="0"/>
                        <a:t>路由优先级</a:t>
                      </a:r>
                    </a:p>
                  </a:txBody>
                  <a:tcPr/>
                </a:tc>
                <a:extLst>
                  <a:ext uri="{0D108BD9-81ED-4DB2-BD59-A6C34878D82A}">
                    <a16:rowId xmlns:a16="http://schemas.microsoft.com/office/drawing/2014/main" val="1401361891"/>
                  </a:ext>
                </a:extLst>
              </a:tr>
              <a:tr h="350592">
                <a:tc>
                  <a:txBody>
                    <a:bodyPr/>
                    <a:lstStyle/>
                    <a:p>
                      <a:pPr algn="ctr"/>
                      <a:r>
                        <a:rPr lang="zh-CN" altLang="en-US" sz="2400" dirty="0">
                          <a:latin typeface="等线" panose="02010600030101010101" pitchFamily="2" charset="-122"/>
                          <a:ea typeface="等线" panose="02010600030101010101" pitchFamily="2" charset="-122"/>
                        </a:rPr>
                        <a:t>直连路由</a:t>
                      </a:r>
                    </a:p>
                  </a:txBody>
                  <a:tcPr/>
                </a:tc>
                <a:tc>
                  <a:txBody>
                    <a:bodyPr/>
                    <a:lstStyle/>
                    <a:p>
                      <a:pPr algn="ctr"/>
                      <a:r>
                        <a:rPr lang="en-US" altLang="zh-CN" sz="2400" dirty="0">
                          <a:latin typeface="等线" panose="02010600030101010101" pitchFamily="2" charset="-122"/>
                          <a:ea typeface="等线" panose="02010600030101010101" pitchFamily="2" charset="-122"/>
                        </a:rPr>
                        <a:t>0</a:t>
                      </a:r>
                      <a:endParaRPr lang="zh-CN" altLang="en-US" sz="24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3944623521"/>
                  </a:ext>
                </a:extLst>
              </a:tr>
              <a:tr h="350592">
                <a:tc>
                  <a:txBody>
                    <a:bodyPr/>
                    <a:lstStyle/>
                    <a:p>
                      <a:pPr algn="ctr"/>
                      <a:r>
                        <a:rPr lang="zh-CN" altLang="en-US" sz="2400" dirty="0">
                          <a:latin typeface="等线" panose="02010600030101010101" pitchFamily="2" charset="-122"/>
                          <a:ea typeface="等线" panose="02010600030101010101" pitchFamily="2" charset="-122"/>
                        </a:rPr>
                        <a:t>静态路由</a:t>
                      </a:r>
                    </a:p>
                  </a:txBody>
                  <a:tcPr/>
                </a:tc>
                <a:tc>
                  <a:txBody>
                    <a:bodyPr/>
                    <a:lstStyle/>
                    <a:p>
                      <a:pPr algn="ctr"/>
                      <a:r>
                        <a:rPr lang="en-US" altLang="zh-CN" sz="2400" dirty="0">
                          <a:latin typeface="等线" panose="02010600030101010101" pitchFamily="2" charset="-122"/>
                          <a:ea typeface="等线" panose="02010600030101010101" pitchFamily="2" charset="-122"/>
                        </a:rPr>
                        <a:t>1</a:t>
                      </a:r>
                      <a:endParaRPr lang="zh-CN" altLang="en-US" sz="24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2546780747"/>
                  </a:ext>
                </a:extLst>
              </a:tr>
              <a:tr h="350592">
                <a:tc>
                  <a:txBody>
                    <a:bodyPr/>
                    <a:lstStyle/>
                    <a:p>
                      <a:pPr algn="ctr"/>
                      <a:r>
                        <a:rPr lang="en-US" altLang="zh-CN" sz="2400" dirty="0" err="1">
                          <a:latin typeface="等线" panose="02010600030101010101" pitchFamily="2" charset="-122"/>
                          <a:ea typeface="等线" panose="02010600030101010101" pitchFamily="2" charset="-122"/>
                        </a:rPr>
                        <a:t>eBGP</a:t>
                      </a:r>
                      <a:r>
                        <a:rPr lang="zh-CN" altLang="en-US" sz="2400" dirty="0">
                          <a:latin typeface="等线" panose="02010600030101010101" pitchFamily="2" charset="-122"/>
                          <a:ea typeface="等线" panose="02010600030101010101" pitchFamily="2" charset="-122"/>
                        </a:rPr>
                        <a:t>路由</a:t>
                      </a:r>
                    </a:p>
                  </a:txBody>
                  <a:tcPr/>
                </a:tc>
                <a:tc>
                  <a:txBody>
                    <a:bodyPr/>
                    <a:lstStyle/>
                    <a:p>
                      <a:pPr algn="ctr"/>
                      <a:r>
                        <a:rPr lang="en-US" altLang="zh-CN" sz="2400" dirty="0">
                          <a:latin typeface="等线" panose="02010600030101010101" pitchFamily="2" charset="-122"/>
                          <a:ea typeface="等线" panose="02010600030101010101" pitchFamily="2" charset="-122"/>
                        </a:rPr>
                        <a:t>20</a:t>
                      </a:r>
                      <a:endParaRPr lang="zh-CN" altLang="en-US" sz="24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2212337131"/>
                  </a:ext>
                </a:extLst>
              </a:tr>
              <a:tr h="350592">
                <a:tc>
                  <a:txBody>
                    <a:bodyPr/>
                    <a:lstStyle/>
                    <a:p>
                      <a:pPr algn="ctr"/>
                      <a:r>
                        <a:rPr lang="en-US" altLang="zh-CN" sz="2400" dirty="0">
                          <a:latin typeface="等线" panose="02010600030101010101" pitchFamily="2" charset="-122"/>
                          <a:ea typeface="等线" panose="02010600030101010101" pitchFamily="2" charset="-122"/>
                        </a:rPr>
                        <a:t>OSPF</a:t>
                      </a:r>
                      <a:r>
                        <a:rPr lang="zh-CN" altLang="en-US" sz="2400" dirty="0">
                          <a:latin typeface="等线" panose="02010600030101010101" pitchFamily="2" charset="-122"/>
                          <a:ea typeface="等线" panose="02010600030101010101" pitchFamily="2" charset="-122"/>
                        </a:rPr>
                        <a:t>路由</a:t>
                      </a:r>
                    </a:p>
                  </a:txBody>
                  <a:tcPr/>
                </a:tc>
                <a:tc>
                  <a:txBody>
                    <a:bodyPr/>
                    <a:lstStyle/>
                    <a:p>
                      <a:pPr algn="ctr"/>
                      <a:r>
                        <a:rPr lang="en-US" altLang="zh-CN" sz="2400" dirty="0">
                          <a:latin typeface="等线" panose="02010600030101010101" pitchFamily="2" charset="-122"/>
                          <a:ea typeface="等线" panose="02010600030101010101" pitchFamily="2" charset="-122"/>
                        </a:rPr>
                        <a:t>110</a:t>
                      </a:r>
                      <a:endParaRPr lang="zh-CN" altLang="en-US" sz="24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1910183013"/>
                  </a:ext>
                </a:extLst>
              </a:tr>
              <a:tr h="350592">
                <a:tc>
                  <a:txBody>
                    <a:bodyPr/>
                    <a:lstStyle/>
                    <a:p>
                      <a:pPr algn="ctr"/>
                      <a:r>
                        <a:rPr lang="en-US" altLang="zh-CN" sz="2400" dirty="0">
                          <a:latin typeface="等线" panose="02010600030101010101" pitchFamily="2" charset="-122"/>
                          <a:ea typeface="等线" panose="02010600030101010101" pitchFamily="2" charset="-122"/>
                        </a:rPr>
                        <a:t>RIP</a:t>
                      </a:r>
                      <a:r>
                        <a:rPr lang="zh-CN" altLang="en-US" sz="2400" dirty="0">
                          <a:latin typeface="等线" panose="02010600030101010101" pitchFamily="2" charset="-122"/>
                          <a:ea typeface="等线" panose="02010600030101010101" pitchFamily="2" charset="-122"/>
                        </a:rPr>
                        <a:t>路由</a:t>
                      </a:r>
                    </a:p>
                  </a:txBody>
                  <a:tcPr/>
                </a:tc>
                <a:tc>
                  <a:txBody>
                    <a:bodyPr/>
                    <a:lstStyle/>
                    <a:p>
                      <a:pPr algn="ctr"/>
                      <a:r>
                        <a:rPr lang="en-US" altLang="zh-CN" sz="2400" dirty="0">
                          <a:latin typeface="等线" panose="02010600030101010101" pitchFamily="2" charset="-122"/>
                          <a:ea typeface="等线" panose="02010600030101010101" pitchFamily="2" charset="-122"/>
                        </a:rPr>
                        <a:t>120</a:t>
                      </a:r>
                      <a:endParaRPr lang="zh-CN" altLang="en-US" sz="24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1491618129"/>
                  </a:ext>
                </a:extLst>
              </a:tr>
              <a:tr h="3505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400" dirty="0" err="1">
                          <a:latin typeface="等线" panose="02010600030101010101" pitchFamily="2" charset="-122"/>
                          <a:ea typeface="等线" panose="02010600030101010101" pitchFamily="2" charset="-122"/>
                        </a:rPr>
                        <a:t>iBGP</a:t>
                      </a:r>
                      <a:r>
                        <a:rPr lang="zh-CN" altLang="en-US" sz="2400" dirty="0">
                          <a:latin typeface="等线" panose="02010600030101010101" pitchFamily="2" charset="-122"/>
                          <a:ea typeface="等线" panose="02010600030101010101" pitchFamily="2" charset="-122"/>
                        </a:rPr>
                        <a:t>路由</a:t>
                      </a:r>
                    </a:p>
                  </a:txBody>
                  <a:tcPr/>
                </a:tc>
                <a:tc>
                  <a:txBody>
                    <a:bodyPr/>
                    <a:lstStyle/>
                    <a:p>
                      <a:pPr algn="ctr"/>
                      <a:r>
                        <a:rPr lang="en-US" altLang="zh-CN" sz="2400" dirty="0">
                          <a:latin typeface="等线" panose="02010600030101010101" pitchFamily="2" charset="-122"/>
                          <a:ea typeface="等线" panose="02010600030101010101" pitchFamily="2" charset="-122"/>
                        </a:rPr>
                        <a:t>200</a:t>
                      </a:r>
                      <a:endParaRPr lang="zh-CN" altLang="en-US" sz="2400" dirty="0">
                        <a:latin typeface="等线" panose="02010600030101010101" pitchFamily="2" charset="-122"/>
                        <a:ea typeface="等线" panose="02010600030101010101" pitchFamily="2" charset="-122"/>
                      </a:endParaRPr>
                    </a:p>
                  </a:txBody>
                  <a:tcPr/>
                </a:tc>
                <a:extLst>
                  <a:ext uri="{0D108BD9-81ED-4DB2-BD59-A6C34878D82A}">
                    <a16:rowId xmlns:a16="http://schemas.microsoft.com/office/drawing/2014/main" val="1209783376"/>
                  </a:ext>
                </a:extLst>
              </a:tr>
            </a:tbl>
          </a:graphicData>
        </a:graphic>
      </p:graphicFrame>
      <p:sp>
        <p:nvSpPr>
          <p:cNvPr id="7" name="灯片编号占位符 3">
            <a:extLst>
              <a:ext uri="{FF2B5EF4-FFF2-40B4-BE49-F238E27FC236}">
                <a16:creationId xmlns:a16="http://schemas.microsoft.com/office/drawing/2014/main" id="{0C32A49F-BD7C-9140-B80D-E5451967667F}"/>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100</a:t>
            </a:fld>
            <a:endParaRPr kumimoji="1" lang="zh-CN" altLang="en-US" dirty="0"/>
          </a:p>
        </p:txBody>
      </p:sp>
    </p:spTree>
    <p:extLst>
      <p:ext uri="{BB962C8B-B14F-4D97-AF65-F5344CB8AC3E}">
        <p14:creationId xmlns:p14="http://schemas.microsoft.com/office/powerpoint/2010/main" val="13097700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normAutofit/>
          </a:bodyPr>
          <a:lstStyle/>
          <a:p>
            <a:r>
              <a:rPr kumimoji="1" lang="zh-CN" altLang="en-US" dirty="0"/>
              <a:t>路由器数据层</a:t>
            </a:r>
          </a:p>
        </p:txBody>
      </p:sp>
      <p:sp>
        <p:nvSpPr>
          <p:cNvPr id="6" name="日期占位符 5"/>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5.5 </a:t>
            </a:r>
            <a:r>
              <a:rPr kumimoji="1" lang="zh-CN" altLang="en-US" dirty="0">
                <a:latin typeface="DengXian" panose="02010600030101010101" pitchFamily="2" charset="-122"/>
                <a:ea typeface="DengXian" panose="02010600030101010101" pitchFamily="2" charset="-122"/>
              </a:rPr>
              <a:t>路由器工作原理</a:t>
            </a:r>
          </a:p>
        </p:txBody>
      </p:sp>
      <p:sp>
        <p:nvSpPr>
          <p:cNvPr id="8" name="内容占位符 2">
            <a:extLst>
              <a:ext uri="{FF2B5EF4-FFF2-40B4-BE49-F238E27FC236}">
                <a16:creationId xmlns:a16="http://schemas.microsoft.com/office/drawing/2014/main" id="{DB830B1C-0706-7E41-AE1A-DEBBD115D846}"/>
              </a:ext>
            </a:extLst>
          </p:cNvPr>
          <p:cNvSpPr>
            <a:spLocks noGrp="1"/>
          </p:cNvSpPr>
          <p:nvPr>
            <p:ph idx="1"/>
          </p:nvPr>
        </p:nvSpPr>
        <p:spPr>
          <a:xfrm>
            <a:off x="573609" y="1430455"/>
            <a:ext cx="10390506" cy="5163371"/>
          </a:xfrm>
        </p:spPr>
        <p:txBody>
          <a:bodyPr>
            <a:normAutofit lnSpcReduction="10000"/>
          </a:bodyPr>
          <a:lstStyle/>
          <a:p>
            <a:r>
              <a:rPr lang="zh-CN" altLang="en-US" dirty="0"/>
              <a:t>路由器中</a:t>
            </a:r>
            <a:r>
              <a:rPr lang="en-US" altLang="zh-CN" dirty="0"/>
              <a:t>IP</a:t>
            </a:r>
            <a:r>
              <a:rPr lang="zh-CN" altLang="en-US" dirty="0"/>
              <a:t>报文转发核心功能</a:t>
            </a:r>
            <a:endParaRPr lang="en-US" altLang="zh-CN" dirty="0"/>
          </a:p>
          <a:p>
            <a:pPr lvl="1"/>
            <a:r>
              <a:rPr lang="zh-CN" altLang="en-US" dirty="0"/>
              <a:t>链路层解封装，</a:t>
            </a:r>
            <a:r>
              <a:rPr lang="en-US" altLang="zh-CN" dirty="0"/>
              <a:t>IP</a:t>
            </a:r>
            <a:r>
              <a:rPr lang="zh-CN" altLang="en-US" dirty="0"/>
              <a:t>头部校验</a:t>
            </a:r>
            <a:endParaRPr lang="en-US" altLang="zh-CN" dirty="0"/>
          </a:p>
          <a:p>
            <a:pPr lvl="1"/>
            <a:r>
              <a:rPr lang="zh-CN" altLang="en-US" dirty="0"/>
              <a:t>获取报文目的</a:t>
            </a:r>
            <a:r>
              <a:rPr lang="en-US" altLang="zh-CN" dirty="0"/>
              <a:t>IP</a:t>
            </a:r>
            <a:r>
              <a:rPr lang="zh-CN" altLang="en-US" dirty="0"/>
              <a:t>地址</a:t>
            </a:r>
            <a:endParaRPr lang="en-US" altLang="zh-CN" dirty="0"/>
          </a:p>
          <a:p>
            <a:pPr lvl="1"/>
            <a:r>
              <a:rPr lang="zh-CN" altLang="en-US" dirty="0"/>
              <a:t>用目的</a:t>
            </a:r>
            <a:r>
              <a:rPr lang="en-US" altLang="zh-CN" dirty="0"/>
              <a:t>IP</a:t>
            </a:r>
            <a:r>
              <a:rPr lang="zh-CN" altLang="en-US" dirty="0"/>
              <a:t>地址，基于最长前缀匹配规则查询转发表</a:t>
            </a:r>
            <a:endParaRPr lang="en-US" altLang="zh-CN" dirty="0"/>
          </a:p>
          <a:p>
            <a:pPr lvl="1"/>
            <a:r>
              <a:rPr lang="zh-CN" altLang="en-US" dirty="0"/>
              <a:t>查询失败，丢弃报文</a:t>
            </a:r>
            <a:endParaRPr lang="en-US" altLang="zh-CN" dirty="0"/>
          </a:p>
          <a:p>
            <a:pPr lvl="1"/>
            <a:r>
              <a:rPr lang="zh-CN" altLang="en-US" dirty="0"/>
              <a:t>查询成功</a:t>
            </a:r>
            <a:endParaRPr lang="en-US" altLang="zh-CN" dirty="0"/>
          </a:p>
          <a:p>
            <a:pPr lvl="2"/>
            <a:r>
              <a:rPr lang="zh-CN" altLang="en-US" dirty="0"/>
              <a:t>获取转发出接口和下一跳</a:t>
            </a:r>
            <a:r>
              <a:rPr lang="en-US" altLang="zh-CN" dirty="0"/>
              <a:t>IP</a:t>
            </a:r>
            <a:r>
              <a:rPr lang="zh-CN" altLang="en-US" dirty="0"/>
              <a:t>地址</a:t>
            </a:r>
            <a:endParaRPr lang="en-US" altLang="zh-CN" dirty="0"/>
          </a:p>
          <a:p>
            <a:pPr lvl="2"/>
            <a:r>
              <a:rPr lang="en-US" altLang="zh-CN" dirty="0"/>
              <a:t>IP</a:t>
            </a:r>
            <a:r>
              <a:rPr lang="zh-CN" altLang="en-US" dirty="0"/>
              <a:t>头部“</a:t>
            </a:r>
            <a:r>
              <a:rPr lang="en-US" altLang="zh-CN" dirty="0"/>
              <a:t>TTL</a:t>
            </a:r>
            <a:r>
              <a:rPr lang="zh-CN" altLang="en-US" dirty="0"/>
              <a:t>”字段值减</a:t>
            </a:r>
            <a:r>
              <a:rPr lang="en-US" altLang="zh-CN" dirty="0"/>
              <a:t>1</a:t>
            </a:r>
            <a:r>
              <a:rPr lang="zh-CN" altLang="en-US" dirty="0"/>
              <a:t>，重新计算</a:t>
            </a:r>
            <a:r>
              <a:rPr lang="en-US" altLang="zh-CN" dirty="0"/>
              <a:t>IP</a:t>
            </a:r>
            <a:r>
              <a:rPr lang="zh-CN" altLang="en-US" dirty="0"/>
              <a:t>头部“校验和”</a:t>
            </a:r>
            <a:endParaRPr lang="en-US" altLang="zh-CN" dirty="0"/>
          </a:p>
          <a:p>
            <a:pPr lvl="2"/>
            <a:r>
              <a:rPr lang="zh-CN" altLang="en-US" dirty="0"/>
              <a:t>重新进行链路层封装，发送报文</a:t>
            </a:r>
            <a:endParaRPr lang="en-US" altLang="zh-CN" sz="2400" dirty="0"/>
          </a:p>
          <a:p>
            <a:pPr marL="457200" lvl="1" indent="0">
              <a:spcBef>
                <a:spcPts val="1200"/>
              </a:spcBef>
              <a:buNone/>
            </a:pPr>
            <a:r>
              <a:rPr lang="zh-CN" altLang="en-US" i="1" dirty="0">
                <a:solidFill>
                  <a:srgbClr val="C00000"/>
                </a:solidFill>
              </a:rPr>
              <a:t>注：普通</a:t>
            </a:r>
            <a:r>
              <a:rPr lang="en-US" altLang="zh-CN" i="1" dirty="0">
                <a:solidFill>
                  <a:srgbClr val="C00000"/>
                </a:solidFill>
              </a:rPr>
              <a:t>IP</a:t>
            </a:r>
            <a:r>
              <a:rPr lang="zh-CN" altLang="en-US" i="1" dirty="0">
                <a:solidFill>
                  <a:srgbClr val="C00000"/>
                </a:solidFill>
              </a:rPr>
              <a:t>报文转发过程中，路由器不查看传输层及以上层协议的内容</a:t>
            </a:r>
            <a:endParaRPr lang="en-US" altLang="zh-CN" i="1" dirty="0">
              <a:solidFill>
                <a:srgbClr val="C00000"/>
              </a:solidFill>
            </a:endParaRPr>
          </a:p>
          <a:p>
            <a:pPr lvl="0">
              <a:spcBef>
                <a:spcPts val="1200"/>
              </a:spcBef>
            </a:pPr>
            <a:r>
              <a:rPr lang="en-US" altLang="zh-CN" sz="2800" dirty="0"/>
              <a:t>IP</a:t>
            </a:r>
            <a:r>
              <a:rPr lang="zh-CN" altLang="en-US" dirty="0"/>
              <a:t>报文在路由器转发</a:t>
            </a:r>
            <a:r>
              <a:rPr lang="zh-CN" altLang="en-US" sz="2800" dirty="0"/>
              <a:t>前后的变化</a:t>
            </a:r>
            <a:endParaRPr lang="en-US" altLang="zh-CN" sz="2800" dirty="0"/>
          </a:p>
          <a:p>
            <a:pPr lvl="1"/>
            <a:r>
              <a:rPr lang="zh-CN" altLang="en-US" dirty="0">
                <a:solidFill>
                  <a:srgbClr val="C00000"/>
                </a:solidFill>
              </a:rPr>
              <a:t>链路层封装更新，</a:t>
            </a:r>
            <a:r>
              <a:rPr lang="en-US" altLang="zh-CN" dirty="0">
                <a:solidFill>
                  <a:srgbClr val="C00000"/>
                </a:solidFill>
              </a:rPr>
              <a:t>IP</a:t>
            </a:r>
            <a:r>
              <a:rPr lang="zh-CN" altLang="en-US" dirty="0">
                <a:solidFill>
                  <a:srgbClr val="C00000"/>
                </a:solidFill>
              </a:rPr>
              <a:t>头部“</a:t>
            </a:r>
            <a:r>
              <a:rPr lang="en-US" altLang="zh-CN" dirty="0">
                <a:solidFill>
                  <a:srgbClr val="C00000"/>
                </a:solidFill>
              </a:rPr>
              <a:t>TTL”</a:t>
            </a:r>
            <a:r>
              <a:rPr lang="zh-CN" altLang="en-US" dirty="0">
                <a:solidFill>
                  <a:srgbClr val="C00000"/>
                </a:solidFill>
              </a:rPr>
              <a:t>减</a:t>
            </a:r>
            <a:r>
              <a:rPr lang="en-US" altLang="zh-CN" dirty="0">
                <a:solidFill>
                  <a:srgbClr val="C00000"/>
                </a:solidFill>
              </a:rPr>
              <a:t>1</a:t>
            </a:r>
            <a:r>
              <a:rPr lang="zh-CN" altLang="en-US" dirty="0">
                <a:solidFill>
                  <a:srgbClr val="C00000"/>
                </a:solidFill>
              </a:rPr>
              <a:t>，</a:t>
            </a:r>
            <a:r>
              <a:rPr lang="en-US" altLang="zh-CN" dirty="0">
                <a:solidFill>
                  <a:srgbClr val="C00000"/>
                </a:solidFill>
              </a:rPr>
              <a:t>IP</a:t>
            </a:r>
            <a:r>
              <a:rPr lang="zh-CN" altLang="en-US" dirty="0">
                <a:solidFill>
                  <a:srgbClr val="C00000"/>
                </a:solidFill>
              </a:rPr>
              <a:t>头部“校验和”更新</a:t>
            </a:r>
          </a:p>
        </p:txBody>
      </p:sp>
      <p:sp>
        <p:nvSpPr>
          <p:cNvPr id="7" name="灯片编号占位符 3">
            <a:extLst>
              <a:ext uri="{FF2B5EF4-FFF2-40B4-BE49-F238E27FC236}">
                <a16:creationId xmlns:a16="http://schemas.microsoft.com/office/drawing/2014/main" id="{6C28D299-754C-0E44-B70A-56FDE26100F7}"/>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101</a:t>
            </a:fld>
            <a:endParaRPr kumimoji="1" lang="zh-CN" altLang="en-US" dirty="0"/>
          </a:p>
        </p:txBody>
      </p:sp>
    </p:spTree>
    <p:extLst>
      <p:ext uri="{BB962C8B-B14F-4D97-AF65-F5344CB8AC3E}">
        <p14:creationId xmlns:p14="http://schemas.microsoft.com/office/powerpoint/2010/main" val="41748628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8582930" y="1999392"/>
            <a:ext cx="1443910" cy="3381905"/>
            <a:chOff x="8684279" y="2674360"/>
            <a:chExt cx="1229845" cy="1518745"/>
          </a:xfrm>
        </p:grpSpPr>
        <p:sp>
          <p:nvSpPr>
            <p:cNvPr id="9" name="矩形 8"/>
            <p:cNvSpPr/>
            <p:nvPr/>
          </p:nvSpPr>
          <p:spPr>
            <a:xfrm>
              <a:off x="8778734" y="2674360"/>
              <a:ext cx="1135390" cy="1429406"/>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8684279" y="2763699"/>
              <a:ext cx="1135390" cy="1429406"/>
            </a:xfrm>
            <a:prstGeom prst="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a:extLst>
              <a:ext uri="{FF2B5EF4-FFF2-40B4-BE49-F238E27FC236}">
                <a16:creationId xmlns:a16="http://schemas.microsoft.com/office/drawing/2014/main" id="{2F09B8FE-3A08-AB44-8FD5-4884CABBBF45}"/>
              </a:ext>
            </a:extLst>
          </p:cNvPr>
          <p:cNvSpPr>
            <a:spLocks noGrp="1"/>
          </p:cNvSpPr>
          <p:nvPr>
            <p:ph type="title"/>
          </p:nvPr>
        </p:nvSpPr>
        <p:spPr/>
        <p:txBody>
          <a:bodyPr>
            <a:normAutofit/>
          </a:bodyPr>
          <a:lstStyle/>
          <a:p>
            <a:r>
              <a:rPr kumimoji="1" lang="zh-CN" altLang="en-US" dirty="0"/>
              <a:t>路由器数据层</a:t>
            </a:r>
          </a:p>
        </p:txBody>
      </p:sp>
      <p:sp>
        <p:nvSpPr>
          <p:cNvPr id="6" name="日期占位符 5"/>
          <p:cNvSpPr>
            <a:spLocks noGrp="1"/>
          </p:cNvSpPr>
          <p:nvPr>
            <p:ph type="dt" sz="half" idx="10"/>
          </p:nvPr>
        </p:nvSpPr>
        <p:spPr/>
        <p:txBody>
          <a:bodyPr/>
          <a:lstStyle/>
          <a:p>
            <a:r>
              <a:rPr kumimoji="1" lang="en-US" altLang="zh-CN" dirty="0">
                <a:latin typeface="DengXian" panose="02010600030101010101" pitchFamily="2" charset="-122"/>
                <a:ea typeface="DengXian" panose="02010600030101010101" pitchFamily="2" charset="-122"/>
              </a:rPr>
              <a:t>5.5 </a:t>
            </a:r>
            <a:r>
              <a:rPr kumimoji="1" lang="zh-CN" altLang="en-US" dirty="0">
                <a:latin typeface="DengXian" panose="02010600030101010101" pitchFamily="2" charset="-122"/>
                <a:ea typeface="DengXian" panose="02010600030101010101" pitchFamily="2" charset="-122"/>
              </a:rPr>
              <a:t>路由器工作原理</a:t>
            </a:r>
          </a:p>
        </p:txBody>
      </p:sp>
      <p:sp>
        <p:nvSpPr>
          <p:cNvPr id="8" name="内容占位符 2">
            <a:extLst>
              <a:ext uri="{FF2B5EF4-FFF2-40B4-BE49-F238E27FC236}">
                <a16:creationId xmlns:a16="http://schemas.microsoft.com/office/drawing/2014/main" id="{DB830B1C-0706-7E41-AE1A-DEBBD115D846}"/>
              </a:ext>
            </a:extLst>
          </p:cNvPr>
          <p:cNvSpPr>
            <a:spLocks noGrp="1"/>
          </p:cNvSpPr>
          <p:nvPr>
            <p:ph idx="1"/>
          </p:nvPr>
        </p:nvSpPr>
        <p:spPr>
          <a:xfrm>
            <a:off x="655367" y="1421393"/>
            <a:ext cx="5932618" cy="5307730"/>
          </a:xfrm>
        </p:spPr>
        <p:txBody>
          <a:bodyPr>
            <a:normAutofit/>
          </a:bodyPr>
          <a:lstStyle/>
          <a:p>
            <a:r>
              <a:rPr lang="zh-CN" altLang="en-US" dirty="0"/>
              <a:t>数据包在不同硬件单元的处理</a:t>
            </a:r>
            <a:endParaRPr lang="en-US" altLang="zh-CN" dirty="0"/>
          </a:p>
          <a:p>
            <a:pPr lvl="1"/>
            <a:r>
              <a:rPr lang="zh-CN" altLang="en-US" dirty="0"/>
              <a:t>报文输入的接口卡</a:t>
            </a:r>
            <a:endParaRPr lang="en-US" altLang="zh-CN" dirty="0"/>
          </a:p>
          <a:p>
            <a:pPr lvl="2"/>
            <a:r>
              <a:rPr lang="zh-CN" altLang="en-US" dirty="0"/>
              <a:t>链路层解封装</a:t>
            </a:r>
            <a:endParaRPr lang="en-US" altLang="zh-CN" dirty="0"/>
          </a:p>
          <a:p>
            <a:pPr lvl="2"/>
            <a:r>
              <a:rPr lang="zh-CN" altLang="en-US" dirty="0"/>
              <a:t>转发表查询</a:t>
            </a:r>
            <a:r>
              <a:rPr lang="zh-CN" altLang="en-US" dirty="0">
                <a:solidFill>
                  <a:srgbClr val="C00000"/>
                </a:solidFill>
              </a:rPr>
              <a:t>（该工作在输入接口卡处理）</a:t>
            </a:r>
            <a:endParaRPr lang="en-US" altLang="zh-CN" dirty="0">
              <a:solidFill>
                <a:srgbClr val="C00000"/>
              </a:solidFill>
            </a:endParaRPr>
          </a:p>
          <a:p>
            <a:pPr lvl="2"/>
            <a:r>
              <a:rPr lang="zh-CN" altLang="en-US" dirty="0"/>
              <a:t>通过交换结构将报文排队发往目的接口卡（发送过快将产生拥塞）</a:t>
            </a:r>
            <a:endParaRPr lang="en-US" altLang="zh-CN" dirty="0"/>
          </a:p>
          <a:p>
            <a:pPr lvl="1"/>
            <a:r>
              <a:rPr lang="zh-CN" altLang="en-US" dirty="0"/>
              <a:t>交换结构</a:t>
            </a:r>
            <a:endParaRPr lang="en-US" altLang="zh-CN" dirty="0"/>
          </a:p>
          <a:p>
            <a:pPr lvl="2"/>
            <a:r>
              <a:rPr lang="zh-CN" altLang="en-US" dirty="0"/>
              <a:t>从输入接口卡发往输出接口卡</a:t>
            </a:r>
            <a:endParaRPr lang="en-US" altLang="zh-CN" dirty="0"/>
          </a:p>
          <a:p>
            <a:pPr lvl="1"/>
            <a:r>
              <a:rPr lang="zh-CN" altLang="en-US" dirty="0"/>
              <a:t>报文输出的接口卡</a:t>
            </a:r>
            <a:endParaRPr lang="en-US" altLang="zh-CN" dirty="0"/>
          </a:p>
          <a:p>
            <a:pPr lvl="2"/>
            <a:r>
              <a:rPr lang="zh-CN" altLang="en-US" dirty="0"/>
              <a:t>从交换结构接收报文（排队进行后续处理，到达太快将产生拥塞）</a:t>
            </a:r>
            <a:endParaRPr lang="en-US" altLang="zh-CN" dirty="0"/>
          </a:p>
          <a:p>
            <a:pPr lvl="2"/>
            <a:r>
              <a:rPr lang="zh-CN" altLang="en-US" dirty="0"/>
              <a:t>链路层封装</a:t>
            </a:r>
            <a:endParaRPr lang="en-US" altLang="zh-CN" dirty="0"/>
          </a:p>
          <a:p>
            <a:pPr lvl="2"/>
            <a:r>
              <a:rPr lang="zh-CN" altLang="en-US" dirty="0"/>
              <a:t>从输出接口发送报文</a:t>
            </a:r>
            <a:endParaRPr lang="en-US" altLang="zh-CN" dirty="0"/>
          </a:p>
        </p:txBody>
      </p:sp>
      <p:grpSp>
        <p:nvGrpSpPr>
          <p:cNvPr id="54" name="组合 53"/>
          <p:cNvGrpSpPr/>
          <p:nvPr/>
        </p:nvGrpSpPr>
        <p:grpSpPr>
          <a:xfrm>
            <a:off x="7099716" y="4408508"/>
            <a:ext cx="1531907" cy="378372"/>
            <a:chOff x="6479110" y="3089395"/>
            <a:chExt cx="1531907" cy="378372"/>
          </a:xfrm>
        </p:grpSpPr>
        <p:sp>
          <p:nvSpPr>
            <p:cNvPr id="23" name="矩形 22"/>
            <p:cNvSpPr/>
            <p:nvPr/>
          </p:nvSpPr>
          <p:spPr>
            <a:xfrm>
              <a:off x="6836417" y="3089395"/>
              <a:ext cx="864991" cy="3783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7326583" y="3147202"/>
              <a:ext cx="243309" cy="262756"/>
              <a:chOff x="6961534" y="2888927"/>
              <a:chExt cx="243309" cy="262756"/>
            </a:xfrm>
          </p:grpSpPr>
          <p:sp>
            <p:nvSpPr>
              <p:cNvPr id="25" name="矩形 24"/>
              <p:cNvSpPr/>
              <p:nvPr/>
            </p:nvSpPr>
            <p:spPr>
              <a:xfrm>
                <a:off x="6998319" y="2888927"/>
                <a:ext cx="206524" cy="2259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6961534" y="2925711"/>
                <a:ext cx="206524" cy="2259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6904775" y="3163614"/>
              <a:ext cx="327353" cy="229933"/>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8" name="直接箭头连接符 27"/>
            <p:cNvCxnSpPr/>
            <p:nvPr/>
          </p:nvCxnSpPr>
          <p:spPr>
            <a:xfrm flipV="1">
              <a:off x="7651017" y="3296972"/>
              <a:ext cx="360000" cy="1"/>
            </a:xfrm>
            <a:prstGeom prst="straightConnector1">
              <a:avLst/>
            </a:prstGeom>
            <a:ln w="349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6479110" y="3302232"/>
              <a:ext cx="360000" cy="1"/>
            </a:xfrm>
            <a:prstGeom prst="straightConnector1">
              <a:avLst/>
            </a:prstGeom>
            <a:ln w="349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9917965" y="4402749"/>
            <a:ext cx="1531907" cy="378372"/>
            <a:chOff x="9297359" y="3062311"/>
            <a:chExt cx="1531907" cy="378372"/>
          </a:xfrm>
        </p:grpSpPr>
        <p:sp>
          <p:nvSpPr>
            <p:cNvPr id="44" name="矩形 43"/>
            <p:cNvSpPr/>
            <p:nvPr/>
          </p:nvSpPr>
          <p:spPr>
            <a:xfrm>
              <a:off x="9654666" y="3062311"/>
              <a:ext cx="864991" cy="3783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p:cNvGrpSpPr/>
            <p:nvPr/>
          </p:nvGrpSpPr>
          <p:grpSpPr>
            <a:xfrm>
              <a:off x="9734933" y="3120118"/>
              <a:ext cx="243309" cy="262756"/>
              <a:chOff x="6961534" y="2888927"/>
              <a:chExt cx="243309" cy="262756"/>
            </a:xfrm>
          </p:grpSpPr>
          <p:sp>
            <p:nvSpPr>
              <p:cNvPr id="46" name="矩形 45"/>
              <p:cNvSpPr/>
              <p:nvPr/>
            </p:nvSpPr>
            <p:spPr>
              <a:xfrm>
                <a:off x="6998319" y="2888927"/>
                <a:ext cx="206524" cy="2259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p:nvSpPr>
            <p:spPr>
              <a:xfrm>
                <a:off x="6961534" y="2925711"/>
                <a:ext cx="206524" cy="2259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矩形 47"/>
            <p:cNvSpPr/>
            <p:nvPr/>
          </p:nvSpPr>
          <p:spPr>
            <a:xfrm>
              <a:off x="10090887" y="3136530"/>
              <a:ext cx="327353" cy="229933"/>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9" name="直接箭头连接符 48"/>
            <p:cNvCxnSpPr/>
            <p:nvPr/>
          </p:nvCxnSpPr>
          <p:spPr>
            <a:xfrm flipV="1">
              <a:off x="10469266" y="3269888"/>
              <a:ext cx="360000" cy="1"/>
            </a:xfrm>
            <a:prstGeom prst="straightConnector1">
              <a:avLst/>
            </a:prstGeom>
            <a:ln w="349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p:cNvCxnSpPr/>
            <p:nvPr/>
          </p:nvCxnSpPr>
          <p:spPr>
            <a:xfrm flipV="1">
              <a:off x="9297359" y="3275148"/>
              <a:ext cx="360000" cy="1"/>
            </a:xfrm>
            <a:prstGeom prst="straightConnector1">
              <a:avLst/>
            </a:prstGeom>
            <a:ln w="349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51" name="文本框 50"/>
          <p:cNvSpPr txBox="1"/>
          <p:nvPr/>
        </p:nvSpPr>
        <p:spPr>
          <a:xfrm>
            <a:off x="7426767" y="4776115"/>
            <a:ext cx="954107" cy="400110"/>
          </a:xfrm>
          <a:prstGeom prst="rect">
            <a:avLst/>
          </a:prstGeom>
          <a:noFill/>
        </p:spPr>
        <p:txBody>
          <a:bodyPr wrap="none" rtlCol="0">
            <a:spAutoFit/>
          </a:bodyPr>
          <a:lstStyle/>
          <a:p>
            <a:r>
              <a:rPr lang="zh-CN" altLang="en-US" sz="2000" dirty="0"/>
              <a:t>接口卡</a:t>
            </a:r>
          </a:p>
        </p:txBody>
      </p:sp>
      <p:sp>
        <p:nvSpPr>
          <p:cNvPr id="52" name="文本框 51"/>
          <p:cNvSpPr txBox="1"/>
          <p:nvPr/>
        </p:nvSpPr>
        <p:spPr>
          <a:xfrm>
            <a:off x="10302193" y="4776115"/>
            <a:ext cx="954107" cy="400110"/>
          </a:xfrm>
          <a:prstGeom prst="rect">
            <a:avLst/>
          </a:prstGeom>
          <a:noFill/>
        </p:spPr>
        <p:txBody>
          <a:bodyPr wrap="none" rtlCol="0">
            <a:spAutoFit/>
          </a:bodyPr>
          <a:lstStyle/>
          <a:p>
            <a:r>
              <a:rPr lang="zh-CN" altLang="en-US" sz="2000" dirty="0"/>
              <a:t>接口卡</a:t>
            </a:r>
          </a:p>
        </p:txBody>
      </p:sp>
      <p:grpSp>
        <p:nvGrpSpPr>
          <p:cNvPr id="55" name="组合 54"/>
          <p:cNvGrpSpPr/>
          <p:nvPr/>
        </p:nvGrpSpPr>
        <p:grpSpPr>
          <a:xfrm>
            <a:off x="7099716" y="2450668"/>
            <a:ext cx="1531907" cy="378372"/>
            <a:chOff x="6479110" y="3089395"/>
            <a:chExt cx="1531907" cy="378372"/>
          </a:xfrm>
        </p:grpSpPr>
        <p:sp>
          <p:nvSpPr>
            <p:cNvPr id="56" name="矩形 55"/>
            <p:cNvSpPr/>
            <p:nvPr/>
          </p:nvSpPr>
          <p:spPr>
            <a:xfrm>
              <a:off x="6836417" y="3089395"/>
              <a:ext cx="864991" cy="3783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p:cNvGrpSpPr/>
            <p:nvPr/>
          </p:nvGrpSpPr>
          <p:grpSpPr>
            <a:xfrm>
              <a:off x="7326583" y="3147202"/>
              <a:ext cx="243309" cy="262756"/>
              <a:chOff x="6961534" y="2888927"/>
              <a:chExt cx="243309" cy="262756"/>
            </a:xfrm>
          </p:grpSpPr>
          <p:sp>
            <p:nvSpPr>
              <p:cNvPr id="61" name="矩形 60"/>
              <p:cNvSpPr/>
              <p:nvPr/>
            </p:nvSpPr>
            <p:spPr>
              <a:xfrm>
                <a:off x="6998319" y="2888927"/>
                <a:ext cx="206524" cy="2259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矩形 61"/>
              <p:cNvSpPr/>
              <p:nvPr/>
            </p:nvSpPr>
            <p:spPr>
              <a:xfrm>
                <a:off x="6961534" y="2925711"/>
                <a:ext cx="206524" cy="2259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8" name="矩形 57"/>
            <p:cNvSpPr/>
            <p:nvPr/>
          </p:nvSpPr>
          <p:spPr>
            <a:xfrm>
              <a:off x="6904775" y="3163614"/>
              <a:ext cx="327353" cy="229933"/>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9" name="直接箭头连接符 58"/>
            <p:cNvCxnSpPr/>
            <p:nvPr/>
          </p:nvCxnSpPr>
          <p:spPr>
            <a:xfrm flipV="1">
              <a:off x="7651017" y="3296972"/>
              <a:ext cx="360000" cy="1"/>
            </a:xfrm>
            <a:prstGeom prst="straightConnector1">
              <a:avLst/>
            </a:prstGeom>
            <a:ln w="349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p:cNvCxnSpPr/>
            <p:nvPr/>
          </p:nvCxnSpPr>
          <p:spPr>
            <a:xfrm flipV="1">
              <a:off x="6479110" y="3302232"/>
              <a:ext cx="360000" cy="1"/>
            </a:xfrm>
            <a:prstGeom prst="straightConnector1">
              <a:avLst/>
            </a:prstGeom>
            <a:ln w="349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63" name="组合 62"/>
          <p:cNvGrpSpPr/>
          <p:nvPr/>
        </p:nvGrpSpPr>
        <p:grpSpPr>
          <a:xfrm>
            <a:off x="9917965" y="2444909"/>
            <a:ext cx="1531907" cy="378372"/>
            <a:chOff x="9297359" y="3062311"/>
            <a:chExt cx="1531907" cy="378372"/>
          </a:xfrm>
        </p:grpSpPr>
        <p:sp>
          <p:nvSpPr>
            <p:cNvPr id="64" name="矩形 63"/>
            <p:cNvSpPr/>
            <p:nvPr/>
          </p:nvSpPr>
          <p:spPr>
            <a:xfrm>
              <a:off x="9654666" y="3062311"/>
              <a:ext cx="864991" cy="3783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5" name="组合 64"/>
            <p:cNvGrpSpPr/>
            <p:nvPr/>
          </p:nvGrpSpPr>
          <p:grpSpPr>
            <a:xfrm>
              <a:off x="9734933" y="3120118"/>
              <a:ext cx="243309" cy="262756"/>
              <a:chOff x="6961534" y="2888927"/>
              <a:chExt cx="243309" cy="262756"/>
            </a:xfrm>
          </p:grpSpPr>
          <p:sp>
            <p:nvSpPr>
              <p:cNvPr id="69" name="矩形 68"/>
              <p:cNvSpPr/>
              <p:nvPr/>
            </p:nvSpPr>
            <p:spPr>
              <a:xfrm>
                <a:off x="6998319" y="2888927"/>
                <a:ext cx="206524" cy="225972"/>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69"/>
              <p:cNvSpPr/>
              <p:nvPr/>
            </p:nvSpPr>
            <p:spPr>
              <a:xfrm>
                <a:off x="6961534" y="2925711"/>
                <a:ext cx="206524" cy="22597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6" name="矩形 65"/>
            <p:cNvSpPr/>
            <p:nvPr/>
          </p:nvSpPr>
          <p:spPr>
            <a:xfrm>
              <a:off x="10090887" y="3136530"/>
              <a:ext cx="327353" cy="229933"/>
            </a:xfrm>
            <a:prstGeom prst="rect">
              <a:avLst/>
            </a:prstGeom>
            <a:solidFill>
              <a:srgbClr val="5B307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箭头连接符 66"/>
            <p:cNvCxnSpPr/>
            <p:nvPr/>
          </p:nvCxnSpPr>
          <p:spPr>
            <a:xfrm flipV="1">
              <a:off x="10469266" y="3269888"/>
              <a:ext cx="360000" cy="1"/>
            </a:xfrm>
            <a:prstGeom prst="straightConnector1">
              <a:avLst/>
            </a:prstGeom>
            <a:ln w="349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a:xfrm flipV="1">
              <a:off x="9297359" y="3275148"/>
              <a:ext cx="360000" cy="1"/>
            </a:xfrm>
            <a:prstGeom prst="straightConnector1">
              <a:avLst/>
            </a:prstGeom>
            <a:ln w="34925">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71" name="文本框 70"/>
          <p:cNvSpPr txBox="1"/>
          <p:nvPr/>
        </p:nvSpPr>
        <p:spPr>
          <a:xfrm>
            <a:off x="7426767" y="2818275"/>
            <a:ext cx="954107" cy="400110"/>
          </a:xfrm>
          <a:prstGeom prst="rect">
            <a:avLst/>
          </a:prstGeom>
          <a:noFill/>
        </p:spPr>
        <p:txBody>
          <a:bodyPr wrap="none" rtlCol="0">
            <a:spAutoFit/>
          </a:bodyPr>
          <a:lstStyle/>
          <a:p>
            <a:r>
              <a:rPr lang="zh-CN" altLang="en-US" sz="2000" dirty="0"/>
              <a:t>接口卡</a:t>
            </a:r>
          </a:p>
        </p:txBody>
      </p:sp>
      <p:sp>
        <p:nvSpPr>
          <p:cNvPr id="72" name="文本框 71"/>
          <p:cNvSpPr txBox="1"/>
          <p:nvPr/>
        </p:nvSpPr>
        <p:spPr>
          <a:xfrm>
            <a:off x="10302193" y="2818275"/>
            <a:ext cx="954107" cy="400110"/>
          </a:xfrm>
          <a:prstGeom prst="rect">
            <a:avLst/>
          </a:prstGeom>
          <a:noFill/>
        </p:spPr>
        <p:txBody>
          <a:bodyPr wrap="none" rtlCol="0">
            <a:spAutoFit/>
          </a:bodyPr>
          <a:lstStyle/>
          <a:p>
            <a:r>
              <a:rPr lang="zh-CN" altLang="en-US" sz="2000" dirty="0"/>
              <a:t>接口卡</a:t>
            </a:r>
          </a:p>
        </p:txBody>
      </p:sp>
      <p:sp>
        <p:nvSpPr>
          <p:cNvPr id="73" name="文本框 72"/>
          <p:cNvSpPr txBox="1"/>
          <p:nvPr/>
        </p:nvSpPr>
        <p:spPr>
          <a:xfrm>
            <a:off x="8580909" y="3019440"/>
            <a:ext cx="1317990" cy="1323439"/>
          </a:xfrm>
          <a:prstGeom prst="rect">
            <a:avLst/>
          </a:prstGeom>
          <a:noFill/>
        </p:spPr>
        <p:txBody>
          <a:bodyPr wrap="none" rtlCol="0">
            <a:spAutoFit/>
          </a:bodyPr>
          <a:lstStyle/>
          <a:p>
            <a:pPr algn="ctr"/>
            <a:r>
              <a:rPr lang="zh-CN" altLang="en-US" sz="2000" b="1" dirty="0"/>
              <a:t>交换结构</a:t>
            </a:r>
            <a:endParaRPr lang="en-US" altLang="zh-CN" sz="2000" b="1" dirty="0"/>
          </a:p>
          <a:p>
            <a:pPr algn="ctr"/>
            <a:endParaRPr lang="en-US" altLang="zh-CN" sz="2000" b="1" dirty="0"/>
          </a:p>
          <a:p>
            <a:pPr algn="ctr"/>
            <a:r>
              <a:rPr lang="en-US" altLang="zh-CN" sz="2000" b="1" dirty="0"/>
              <a:t>Switching</a:t>
            </a:r>
          </a:p>
          <a:p>
            <a:pPr algn="ctr"/>
            <a:r>
              <a:rPr lang="en-US" altLang="zh-CN" sz="2000" b="1" dirty="0"/>
              <a:t>Fabric</a:t>
            </a:r>
            <a:endParaRPr lang="zh-CN" altLang="en-US" sz="2000" b="1" dirty="0"/>
          </a:p>
        </p:txBody>
      </p:sp>
      <p:sp>
        <p:nvSpPr>
          <p:cNvPr id="74" name="文本框 73"/>
          <p:cNvSpPr txBox="1"/>
          <p:nvPr/>
        </p:nvSpPr>
        <p:spPr>
          <a:xfrm>
            <a:off x="7547372" y="3401350"/>
            <a:ext cx="643126" cy="523220"/>
          </a:xfrm>
          <a:prstGeom prst="rect">
            <a:avLst/>
          </a:prstGeom>
          <a:noFill/>
        </p:spPr>
        <p:txBody>
          <a:bodyPr wrap="none" rtlCol="0">
            <a:spAutoFit/>
          </a:bodyPr>
          <a:lstStyle/>
          <a:p>
            <a:pPr algn="ctr"/>
            <a:r>
              <a:rPr lang="en-US" altLang="zh-CN" sz="2800" b="1" dirty="0"/>
              <a:t>. . .</a:t>
            </a:r>
            <a:endParaRPr lang="zh-CN" altLang="en-US" sz="2800" b="1" dirty="0"/>
          </a:p>
        </p:txBody>
      </p:sp>
      <p:sp>
        <p:nvSpPr>
          <p:cNvPr id="75" name="文本框 74"/>
          <p:cNvSpPr txBox="1"/>
          <p:nvPr/>
        </p:nvSpPr>
        <p:spPr>
          <a:xfrm>
            <a:off x="10401549" y="3407480"/>
            <a:ext cx="643126" cy="523220"/>
          </a:xfrm>
          <a:prstGeom prst="rect">
            <a:avLst/>
          </a:prstGeom>
          <a:noFill/>
        </p:spPr>
        <p:txBody>
          <a:bodyPr wrap="none" rtlCol="0">
            <a:spAutoFit/>
          </a:bodyPr>
          <a:lstStyle/>
          <a:p>
            <a:pPr algn="ctr"/>
            <a:r>
              <a:rPr lang="en-US" altLang="zh-CN" sz="2800" b="1" dirty="0"/>
              <a:t>. . .</a:t>
            </a:r>
            <a:endParaRPr lang="zh-CN" altLang="en-US" sz="2800" b="1" dirty="0"/>
          </a:p>
        </p:txBody>
      </p:sp>
      <p:sp>
        <p:nvSpPr>
          <p:cNvPr id="76" name="灯片编号占位符 3">
            <a:extLst>
              <a:ext uri="{FF2B5EF4-FFF2-40B4-BE49-F238E27FC236}">
                <a16:creationId xmlns:a16="http://schemas.microsoft.com/office/drawing/2014/main" id="{D295E6D8-AA8A-9142-99CF-F405F87B5E1B}"/>
              </a:ext>
            </a:extLst>
          </p:cNvPr>
          <p:cNvSpPr>
            <a:spLocks noGrp="1"/>
          </p:cNvSpPr>
          <p:nvPr>
            <p:ph type="sldNum" sz="quarter" idx="12"/>
          </p:nvPr>
        </p:nvSpPr>
        <p:spPr>
          <a:xfrm>
            <a:off x="8686810" y="6489303"/>
            <a:ext cx="3319670" cy="365125"/>
          </a:xfrm>
        </p:spPr>
        <p:txBody>
          <a:bodyPr/>
          <a:lstStyle/>
          <a:p>
            <a:fld id="{339BF64F-B44A-4670-AF2C-07375CE66113}" type="slidenum">
              <a:rPr kumimoji="1" lang="zh-CN" altLang="en-US" smtClean="0"/>
              <a:t>102</a:t>
            </a:fld>
            <a:endParaRPr kumimoji="1" lang="zh-CN" altLang="en-US" dirty="0"/>
          </a:p>
        </p:txBody>
      </p:sp>
    </p:spTree>
    <p:extLst>
      <p:ext uri="{BB962C8B-B14F-4D97-AF65-F5344CB8AC3E}">
        <p14:creationId xmlns:p14="http://schemas.microsoft.com/office/powerpoint/2010/main" val="38716304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CC7AC-475E-1E4C-8CD6-1AECBEC28035}"/>
              </a:ext>
            </a:extLst>
          </p:cNvPr>
          <p:cNvSpPr>
            <a:spLocks noGrp="1"/>
          </p:cNvSpPr>
          <p:nvPr>
            <p:ph type="title"/>
          </p:nvPr>
        </p:nvSpPr>
        <p:spPr/>
        <p:txBody>
          <a:bodyPr/>
          <a:lstStyle/>
          <a:p>
            <a:r>
              <a:rPr kumimoji="1" lang="zh-CN" altLang="en-US"/>
              <a:t>总结</a:t>
            </a:r>
            <a:endParaRPr kumimoji="1" lang="zh-CN" altLang="en-US" dirty="0"/>
          </a:p>
        </p:txBody>
      </p:sp>
      <p:sp>
        <p:nvSpPr>
          <p:cNvPr id="3" name="内容占位符 2">
            <a:extLst>
              <a:ext uri="{FF2B5EF4-FFF2-40B4-BE49-F238E27FC236}">
                <a16:creationId xmlns:a16="http://schemas.microsoft.com/office/drawing/2014/main" id="{ED1732F0-50F7-8947-81D6-CBBAE8232DE9}"/>
              </a:ext>
            </a:extLst>
          </p:cNvPr>
          <p:cNvSpPr>
            <a:spLocks noGrp="1"/>
          </p:cNvSpPr>
          <p:nvPr>
            <p:ph idx="1"/>
          </p:nvPr>
        </p:nvSpPr>
        <p:spPr>
          <a:xfrm>
            <a:off x="838200" y="1510758"/>
            <a:ext cx="10515600" cy="5079228"/>
          </a:xfrm>
        </p:spPr>
        <p:txBody>
          <a:bodyPr>
            <a:normAutofit/>
          </a:bodyPr>
          <a:lstStyle/>
          <a:p>
            <a:pPr marL="514350" indent="-514350">
              <a:lnSpc>
                <a:spcPct val="120000"/>
              </a:lnSpc>
              <a:buFont typeface="+mj-lt"/>
              <a:buAutoNum type="arabicPeriod"/>
            </a:pPr>
            <a:r>
              <a:rPr kumimoji="1" lang="zh-CN" altLang="en-US" dirty="0"/>
              <a:t>学习网络层服务：</a:t>
            </a:r>
            <a:r>
              <a:rPr kumimoji="1" lang="zh-CN" altLang="en-US" dirty="0">
                <a:solidFill>
                  <a:srgbClr val="C00000"/>
                </a:solidFill>
              </a:rPr>
              <a:t>无连接和面向连接服务</a:t>
            </a:r>
            <a:r>
              <a:rPr kumimoji="1" lang="zh-CN" altLang="en-US" dirty="0"/>
              <a:t>，数据包和虚电路网络</a:t>
            </a:r>
            <a:endParaRPr kumimoji="1" lang="en-US" altLang="zh-CN" dirty="0"/>
          </a:p>
          <a:p>
            <a:pPr marL="514350" indent="-514350">
              <a:lnSpc>
                <a:spcPct val="120000"/>
              </a:lnSpc>
              <a:buFont typeface="+mj-lt"/>
              <a:buAutoNum type="arabicPeriod"/>
            </a:pPr>
            <a:r>
              <a:rPr kumimoji="1" lang="zh-CN" altLang="en-US" dirty="0"/>
              <a:t>学习</a:t>
            </a:r>
            <a:r>
              <a:rPr kumimoji="1" lang="en-US" altLang="zh-CN" dirty="0"/>
              <a:t>Internet</a:t>
            </a:r>
            <a:r>
              <a:rPr kumimoji="1" lang="zh-CN" altLang="en-US" dirty="0"/>
              <a:t>网络层协议：</a:t>
            </a:r>
            <a:r>
              <a:rPr kumimoji="1" lang="en-US" altLang="zh-CN" dirty="0">
                <a:solidFill>
                  <a:srgbClr val="C00000"/>
                </a:solidFill>
              </a:rPr>
              <a:t>IPv4/IPv6, ICMP, DHCP, NAT, ARP</a:t>
            </a:r>
          </a:p>
          <a:p>
            <a:pPr marL="514350" indent="-514350">
              <a:lnSpc>
                <a:spcPct val="120000"/>
              </a:lnSpc>
              <a:buFont typeface="+mj-lt"/>
              <a:buAutoNum type="arabicPeriod"/>
            </a:pPr>
            <a:r>
              <a:rPr kumimoji="1" lang="zh-CN" altLang="en-US" dirty="0"/>
              <a:t>掌握</a:t>
            </a:r>
            <a:r>
              <a:rPr kumimoji="1" lang="zh-CN" altLang="en-US" dirty="0">
                <a:solidFill>
                  <a:srgbClr val="C00000"/>
                </a:solidFill>
              </a:rPr>
              <a:t>链路状态、距离矢量</a:t>
            </a:r>
            <a:r>
              <a:rPr kumimoji="1" lang="zh-CN" altLang="en-US" dirty="0"/>
              <a:t>等路由算法，了解层次路由结构</a:t>
            </a:r>
            <a:endParaRPr kumimoji="1" lang="en-US" altLang="zh-CN" dirty="0"/>
          </a:p>
          <a:p>
            <a:pPr marL="514350" indent="-514350">
              <a:lnSpc>
                <a:spcPct val="120000"/>
              </a:lnSpc>
              <a:buFont typeface="+mj-lt"/>
              <a:buAutoNum type="arabicPeriod"/>
            </a:pPr>
            <a:r>
              <a:rPr kumimoji="1" lang="zh-CN" altLang="en-US" dirty="0"/>
              <a:t>掌握</a:t>
            </a:r>
            <a:r>
              <a:rPr kumimoji="1" lang="en-US" altLang="zh-CN" dirty="0"/>
              <a:t>Internet</a:t>
            </a:r>
            <a:r>
              <a:rPr kumimoji="1" lang="zh-CN" altLang="en-US" dirty="0"/>
              <a:t>路由协议：</a:t>
            </a:r>
            <a:r>
              <a:rPr kumimoji="1" lang="en-US" altLang="zh-CN" dirty="0">
                <a:solidFill>
                  <a:srgbClr val="C00000"/>
                </a:solidFill>
              </a:rPr>
              <a:t>OSPF</a:t>
            </a:r>
            <a:r>
              <a:rPr kumimoji="1" lang="zh-CN" altLang="en-US" dirty="0">
                <a:solidFill>
                  <a:srgbClr val="C00000"/>
                </a:solidFill>
              </a:rPr>
              <a:t>、</a:t>
            </a:r>
            <a:r>
              <a:rPr kumimoji="1" lang="en-US" altLang="zh-CN" dirty="0">
                <a:solidFill>
                  <a:srgbClr val="C00000"/>
                </a:solidFill>
              </a:rPr>
              <a:t>RIP</a:t>
            </a:r>
            <a:r>
              <a:rPr kumimoji="1" lang="zh-CN" altLang="en-US" dirty="0">
                <a:solidFill>
                  <a:srgbClr val="C00000"/>
                </a:solidFill>
              </a:rPr>
              <a:t>、</a:t>
            </a:r>
            <a:r>
              <a:rPr kumimoji="1" lang="en-US" altLang="zh-CN" dirty="0">
                <a:solidFill>
                  <a:srgbClr val="C00000"/>
                </a:solidFill>
              </a:rPr>
              <a:t>BGP</a:t>
            </a:r>
            <a:endParaRPr kumimoji="1" lang="zh-CN" altLang="en-US" dirty="0"/>
          </a:p>
          <a:p>
            <a:pPr marL="514350" indent="-514350">
              <a:lnSpc>
                <a:spcPct val="120000"/>
              </a:lnSpc>
              <a:buFont typeface="+mj-lt"/>
              <a:buAutoNum type="arabicPeriod"/>
            </a:pPr>
            <a:r>
              <a:rPr kumimoji="1" lang="zh-CN" altLang="en-US" dirty="0"/>
              <a:t>了解路由器工作原理：控制层和数据层，报文转发机制，交换结构</a:t>
            </a:r>
          </a:p>
        </p:txBody>
      </p:sp>
      <p:sp>
        <p:nvSpPr>
          <p:cNvPr id="10" name="灯片编号占位符 9">
            <a:extLst>
              <a:ext uri="{FF2B5EF4-FFF2-40B4-BE49-F238E27FC236}">
                <a16:creationId xmlns:a16="http://schemas.microsoft.com/office/drawing/2014/main" id="{E4DA8857-A0B9-004B-97F3-80764C9D31C3}"/>
              </a:ext>
            </a:extLst>
          </p:cNvPr>
          <p:cNvSpPr>
            <a:spLocks noGrp="1"/>
          </p:cNvSpPr>
          <p:nvPr>
            <p:ph type="sldNum" sz="quarter" idx="12"/>
          </p:nvPr>
        </p:nvSpPr>
        <p:spPr/>
        <p:txBody>
          <a:bodyPr/>
          <a:lstStyle/>
          <a:p>
            <a:fld id="{8D4D1E41-7A09-AB4A-A4E1-09765ADA2698}" type="slidenum">
              <a:rPr kumimoji="1" lang="zh-CN" altLang="en-US" smtClean="0"/>
              <a:t>103</a:t>
            </a:fld>
            <a:endParaRPr kumimoji="1" lang="zh-CN" altLang="en-US" dirty="0"/>
          </a:p>
        </p:txBody>
      </p:sp>
    </p:spTree>
    <p:extLst>
      <p:ext uri="{BB962C8B-B14F-4D97-AF65-F5344CB8AC3E}">
        <p14:creationId xmlns:p14="http://schemas.microsoft.com/office/powerpoint/2010/main" val="3530375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B974C4A-3803-A646-908A-19B86B9240F8}"/>
              </a:ext>
            </a:extLst>
          </p:cNvPr>
          <p:cNvSpPr>
            <a:spLocks noGrp="1"/>
          </p:cNvSpPr>
          <p:nvPr>
            <p:ph type="ctrTitle"/>
          </p:nvPr>
        </p:nvSpPr>
        <p:spPr/>
        <p:txBody>
          <a:bodyPr/>
          <a:lstStyle/>
          <a:p>
            <a:r>
              <a:rPr lang="en-CN" dirty="0"/>
              <a:t>谢谢</a:t>
            </a:r>
            <a:r>
              <a:rPr lang="zh-CN" altLang="en-US" dirty="0"/>
              <a:t>！</a:t>
            </a:r>
            <a:endParaRPr lang="en-CN" dirty="0"/>
          </a:p>
        </p:txBody>
      </p:sp>
      <p:sp>
        <p:nvSpPr>
          <p:cNvPr id="4" name="Date Placeholder 3">
            <a:extLst>
              <a:ext uri="{FF2B5EF4-FFF2-40B4-BE49-F238E27FC236}">
                <a16:creationId xmlns:a16="http://schemas.microsoft.com/office/drawing/2014/main" id="{29FA6052-4ED0-DA40-9CED-49C287B1D233}"/>
              </a:ext>
            </a:extLst>
          </p:cNvPr>
          <p:cNvSpPr>
            <a:spLocks noGrp="1"/>
          </p:cNvSpPr>
          <p:nvPr>
            <p:ph type="dt" sz="half" idx="4294967295"/>
          </p:nvPr>
        </p:nvSpPr>
        <p:spPr>
          <a:xfrm>
            <a:off x="0" y="6489700"/>
            <a:ext cx="2743200" cy="365125"/>
          </a:xfrm>
        </p:spPr>
        <p:txBody>
          <a:bodyPr/>
          <a:lstStyle/>
          <a:p>
            <a:r>
              <a:rPr kumimoji="1" lang="en-US" altLang="zh-CN">
                <a:latin typeface="DengXian" panose="02010600030101010101" pitchFamily="2" charset="-122"/>
                <a:ea typeface="DengXian" panose="02010600030101010101" pitchFamily="2" charset="-122"/>
              </a:rPr>
              <a:t>5.3 </a:t>
            </a:r>
            <a:r>
              <a:rPr kumimoji="1" lang="zh-CN" altLang="en-US">
                <a:latin typeface="DengXian" panose="02010600030101010101" pitchFamily="2" charset="-122"/>
                <a:ea typeface="DengXian" panose="02010600030101010101" pitchFamily="2" charset="-122"/>
              </a:rPr>
              <a:t>网络互联</a:t>
            </a:r>
            <a:endParaRPr kumimoji="1" lang="zh-CN" altLang="en-US" dirty="0">
              <a:latin typeface="DengXian" panose="02010600030101010101" pitchFamily="2" charset="-122"/>
              <a:ea typeface="DengXian" panose="02010600030101010101" pitchFamily="2" charset="-122"/>
            </a:endParaRPr>
          </a:p>
        </p:txBody>
      </p:sp>
      <p:sp>
        <p:nvSpPr>
          <p:cNvPr id="5" name="Slide Number Placeholder 4">
            <a:extLst>
              <a:ext uri="{FF2B5EF4-FFF2-40B4-BE49-F238E27FC236}">
                <a16:creationId xmlns:a16="http://schemas.microsoft.com/office/drawing/2014/main" id="{CD7C8ECD-F109-6244-8669-CCF725DB1413}"/>
              </a:ext>
            </a:extLst>
          </p:cNvPr>
          <p:cNvSpPr>
            <a:spLocks noGrp="1"/>
          </p:cNvSpPr>
          <p:nvPr>
            <p:ph type="sldNum" sz="quarter" idx="4294967295"/>
          </p:nvPr>
        </p:nvSpPr>
        <p:spPr>
          <a:xfrm>
            <a:off x="8872538" y="6489700"/>
            <a:ext cx="3319462" cy="365125"/>
          </a:xfrm>
        </p:spPr>
        <p:txBody>
          <a:bodyPr/>
          <a:lstStyle/>
          <a:p>
            <a:fld id="{8D4D1E41-7A09-AB4A-A4E1-09765ADA2698}" type="slidenum">
              <a:rPr kumimoji="1" lang="zh-CN" altLang="en-US" smtClean="0"/>
              <a:t>104</a:t>
            </a:fld>
            <a:endParaRPr kumimoji="1" lang="zh-CN" altLang="en-US" dirty="0"/>
          </a:p>
        </p:txBody>
      </p:sp>
    </p:spTree>
    <p:extLst>
      <p:ext uri="{BB962C8B-B14F-4D97-AF65-F5344CB8AC3E}">
        <p14:creationId xmlns:p14="http://schemas.microsoft.com/office/powerpoint/2010/main" val="2832209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27954</TotalTime>
  <Words>9233</Words>
  <Application>Microsoft Office PowerPoint</Application>
  <PresentationFormat>宽屏</PresentationFormat>
  <Paragraphs>2303</Paragraphs>
  <Slides>104</Slides>
  <Notes>46</Notes>
  <HiddenSlides>0</HiddenSlides>
  <MMClips>0</MMClips>
  <ScaleCrop>false</ScaleCrop>
  <HeadingPairs>
    <vt:vector size="10" baseType="variant">
      <vt:variant>
        <vt:lpstr>已用的字体</vt:lpstr>
      </vt:variant>
      <vt:variant>
        <vt:i4>17</vt:i4>
      </vt:variant>
      <vt:variant>
        <vt:lpstr>主题</vt:lpstr>
      </vt:variant>
      <vt:variant>
        <vt:i4>1</vt:i4>
      </vt:variant>
      <vt:variant>
        <vt:lpstr>链接</vt:lpstr>
      </vt:variant>
      <vt:variant>
        <vt:i4>7</vt:i4>
      </vt:variant>
      <vt:variant>
        <vt:lpstr>嵌入 OLE 服务器</vt:lpstr>
      </vt:variant>
      <vt:variant>
        <vt:i4>2</vt:i4>
      </vt:variant>
      <vt:variant>
        <vt:lpstr>幻灯片标题</vt:lpstr>
      </vt:variant>
      <vt:variant>
        <vt:i4>104</vt:i4>
      </vt:variant>
    </vt:vector>
  </HeadingPairs>
  <TitlesOfParts>
    <vt:vector size="131" baseType="lpstr">
      <vt:lpstr>Arial Unicode MS</vt:lpstr>
      <vt:lpstr>MS PGothic</vt:lpstr>
      <vt:lpstr>ZapfDingbats</vt:lpstr>
      <vt:lpstr>Arial</vt:lpstr>
      <vt:lpstr>Cambria Math</vt:lpstr>
      <vt:lpstr>Comic Sans MS</vt:lpstr>
      <vt:lpstr>Helvetica</vt:lpstr>
      <vt:lpstr>Symbol</vt:lpstr>
      <vt:lpstr>Tahoma</vt:lpstr>
      <vt:lpstr>Times</vt:lpstr>
      <vt:lpstr>Times New Roman</vt:lpstr>
      <vt:lpstr>Wingdings</vt:lpstr>
      <vt:lpstr>等线</vt:lpstr>
      <vt:lpstr>等线</vt:lpstr>
      <vt:lpstr>黑体</vt:lpstr>
      <vt:lpstr>黑体</vt:lpstr>
      <vt:lpstr>宋体</vt:lpstr>
      <vt:lpstr>Office 主题​​</vt:lpstr>
      <vt:lpstr>???</vt:lpstr>
      <vt:lpstr>???</vt:lpstr>
      <vt:lpstr>???</vt:lpstr>
      <vt:lpstr>???</vt:lpstr>
      <vt:lpstr>???</vt:lpstr>
      <vt:lpstr>???</vt:lpstr>
      <vt:lpstr>???</vt:lpstr>
      <vt:lpstr>Visio</vt:lpstr>
      <vt:lpstr>Clip</vt:lpstr>
      <vt:lpstr>第五章 网络层</vt:lpstr>
      <vt:lpstr>本章目标</vt:lpstr>
      <vt:lpstr>本章内容</vt:lpstr>
      <vt:lpstr>本章内容</vt:lpstr>
      <vt:lpstr>网络层服务概述</vt:lpstr>
      <vt:lpstr>网络层服务的实现</vt:lpstr>
      <vt:lpstr>网络层关键功能</vt:lpstr>
      <vt:lpstr>提供给传输层的服务</vt:lpstr>
      <vt:lpstr>无连接服务的实现</vt:lpstr>
      <vt:lpstr>无连接服务的实现</vt:lpstr>
      <vt:lpstr>无连接的数据包</vt:lpstr>
      <vt:lpstr>数据包的转发策略</vt:lpstr>
      <vt:lpstr>面向连接服务的实现</vt:lpstr>
      <vt:lpstr>虚电路与数据包网络的发展历史</vt:lpstr>
      <vt:lpstr>本章内容</vt:lpstr>
      <vt:lpstr>IPv4协议</vt:lpstr>
      <vt:lpstr>IPv4数据包格式</vt:lpstr>
      <vt:lpstr>IPv4数据包格式</vt:lpstr>
      <vt:lpstr>数据包分片</vt:lpstr>
      <vt:lpstr>数据包分片</vt:lpstr>
      <vt:lpstr>数据包分片</vt:lpstr>
      <vt:lpstr>IP协议功能及报头字段总结</vt:lpstr>
      <vt:lpstr>IP地址</vt:lpstr>
      <vt:lpstr>IP地址</vt:lpstr>
      <vt:lpstr>分类的IP地址</vt:lpstr>
      <vt:lpstr>IP特殊地址</vt:lpstr>
      <vt:lpstr>子网划分</vt:lpstr>
      <vt:lpstr>子网划分</vt:lpstr>
      <vt:lpstr>无类域间路由</vt:lpstr>
      <vt:lpstr>最长前缀匹配</vt:lpstr>
      <vt:lpstr>IP 与 MAC地址</vt:lpstr>
      <vt:lpstr>ARP地址解析协议</vt:lpstr>
      <vt:lpstr>ARP地址解析协议</vt:lpstr>
      <vt:lpstr>ARP协议工作过程</vt:lpstr>
      <vt:lpstr>IP包转发</vt:lpstr>
      <vt:lpstr>IP包转发</vt:lpstr>
      <vt:lpstr>路由到另一个局域网</vt:lpstr>
      <vt:lpstr>IP包转发</vt:lpstr>
      <vt:lpstr>网络地址转换</vt:lpstr>
      <vt:lpstr>NAT工作机制</vt:lpstr>
      <vt:lpstr>NAT工作机制</vt:lpstr>
      <vt:lpstr>NAT工作机制</vt:lpstr>
      <vt:lpstr>网络地址转换</vt:lpstr>
      <vt:lpstr>IPv4地址如何获取</vt:lpstr>
      <vt:lpstr>DHCP动态主机配置协议</vt:lpstr>
      <vt:lpstr>DHCP 工作过程式</vt:lpstr>
      <vt:lpstr>DHCP 工作过程</vt:lpstr>
      <vt:lpstr>ICMP协议</vt:lpstr>
      <vt:lpstr>PowerPoint 演示文稿</vt:lpstr>
      <vt:lpstr>ICMP报文类型及功能</vt:lpstr>
      <vt:lpstr>Ping和ICMP</vt:lpstr>
      <vt:lpstr>Traceroute和ICMP</vt:lpstr>
      <vt:lpstr>Traceroute和ICMP</vt:lpstr>
      <vt:lpstr>本章内容</vt:lpstr>
      <vt:lpstr>路由算法</vt:lpstr>
      <vt:lpstr>优化原则</vt:lpstr>
      <vt:lpstr>最短路径算法</vt:lpstr>
      <vt:lpstr>最短路径算法</vt:lpstr>
      <vt:lpstr>距离向量路由</vt:lpstr>
      <vt:lpstr>距离向量路由</vt:lpstr>
      <vt:lpstr>距离向量路由</vt:lpstr>
      <vt:lpstr>距离向量路由</vt:lpstr>
      <vt:lpstr>距离向量路由</vt:lpstr>
      <vt:lpstr>距离向量路由</vt:lpstr>
      <vt:lpstr>距离向量路由</vt:lpstr>
      <vt:lpstr>距离向量路由</vt:lpstr>
      <vt:lpstr>距离向量路由</vt:lpstr>
      <vt:lpstr>链路状态路由</vt:lpstr>
      <vt:lpstr>链路状态路由</vt:lpstr>
      <vt:lpstr>链路状态路由</vt:lpstr>
      <vt:lpstr>链路状态路由</vt:lpstr>
      <vt:lpstr>链路状态路由</vt:lpstr>
      <vt:lpstr>链路状态路由</vt:lpstr>
      <vt:lpstr>链路状态路由</vt:lpstr>
      <vt:lpstr>层次路由-产生原因</vt:lpstr>
      <vt:lpstr>层次路由-产生原因</vt:lpstr>
      <vt:lpstr>层次路由-产生原因</vt:lpstr>
      <vt:lpstr>层次路由-基本思路</vt:lpstr>
      <vt:lpstr>层次路由-基本思路</vt:lpstr>
      <vt:lpstr>层次路由-效果</vt:lpstr>
      <vt:lpstr>本章内容</vt:lpstr>
      <vt:lpstr>OSPF-概述</vt:lpstr>
      <vt:lpstr>OSPF-链路状态</vt:lpstr>
      <vt:lpstr>OSPF-区域的概念</vt:lpstr>
      <vt:lpstr>OSPF-区域的概念</vt:lpstr>
      <vt:lpstr>OSPF-报文格式</vt:lpstr>
      <vt:lpstr>RIP-概述</vt:lpstr>
      <vt:lpstr>RIP-工作过程</vt:lpstr>
      <vt:lpstr>RIP-工作过程</vt:lpstr>
      <vt:lpstr>RIP协议特点</vt:lpstr>
      <vt:lpstr>BGP-外部网关路由协议</vt:lpstr>
      <vt:lpstr>eBGP&amp;iBGP连接</vt:lpstr>
      <vt:lpstr>BGP基础</vt:lpstr>
      <vt:lpstr>BGP路径通告</vt:lpstr>
      <vt:lpstr>BGP路径通告</vt:lpstr>
      <vt:lpstr>BGP协议的特点</vt:lpstr>
      <vt:lpstr>本章内容</vt:lpstr>
      <vt:lpstr>路由器概述</vt:lpstr>
      <vt:lpstr>路由器控制层</vt:lpstr>
      <vt:lpstr>路由器控制层</vt:lpstr>
      <vt:lpstr>路由器数据层</vt:lpstr>
      <vt:lpstr>路由器数据层</vt:lpstr>
      <vt:lpstr>总结</vt:lpstr>
      <vt:lpstr>谢谢！</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Yong Cui</dc:creator>
  <cp:lastModifiedBy>文蔚 辜</cp:lastModifiedBy>
  <cp:revision>1207</cp:revision>
  <dcterms:created xsi:type="dcterms:W3CDTF">2021-01-06T05:35:51Z</dcterms:created>
  <dcterms:modified xsi:type="dcterms:W3CDTF">2025-10-19T14:05:56Z</dcterms:modified>
</cp:coreProperties>
</file>